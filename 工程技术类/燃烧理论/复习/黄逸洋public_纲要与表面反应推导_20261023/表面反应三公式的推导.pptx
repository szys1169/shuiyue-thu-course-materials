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Override PartName="/ppt/notesSlides/notesSlide2.xml" ContentType="application/vnd.openxmlformats-officedocument.presentationml.notesSlide+xml"/>
  <Default Extension="png" ContentType="image/png"/>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6.xml" ContentType="application/vnd.openxmlformats-officedocument.presentationml.notes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4" d="100"/>
          <a:sy n="84" d="100"/>
        </p:scale>
        <p:origin x="-1152" y="-7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3.wmf"/><Relationship Id="rId7" Type="http://schemas.openxmlformats.org/officeDocument/2006/relationships/image" Target="../media/image17.wmf"/><Relationship Id="rId2" Type="http://schemas.openxmlformats.org/officeDocument/2006/relationships/image" Target="../media/image10.wmf"/><Relationship Id="rId1" Type="http://schemas.openxmlformats.org/officeDocument/2006/relationships/image" Target="../media/image12.wmf"/><Relationship Id="rId6" Type="http://schemas.openxmlformats.org/officeDocument/2006/relationships/image" Target="../media/image16.wmf"/><Relationship Id="rId5" Type="http://schemas.openxmlformats.org/officeDocument/2006/relationships/image" Target="../media/image15.wmf"/><Relationship Id="rId10" Type="http://schemas.openxmlformats.org/officeDocument/2006/relationships/image" Target="../media/image2.wmf"/><Relationship Id="rId4" Type="http://schemas.openxmlformats.org/officeDocument/2006/relationships/image" Target="../media/image14.wmf"/><Relationship Id="rId9"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4.wmf"/><Relationship Id="rId3" Type="http://schemas.openxmlformats.org/officeDocument/2006/relationships/image" Target="../media/image21.wmf"/><Relationship Id="rId7" Type="http://schemas.openxmlformats.org/officeDocument/2006/relationships/image" Target="../media/image23.wmf"/><Relationship Id="rId2" Type="http://schemas.openxmlformats.org/officeDocument/2006/relationships/image" Target="../media/image10.wmf"/><Relationship Id="rId1" Type="http://schemas.openxmlformats.org/officeDocument/2006/relationships/image" Target="../media/image20.wmf"/><Relationship Id="rId6" Type="http://schemas.openxmlformats.org/officeDocument/2006/relationships/image" Target="../media/image16.wmf"/><Relationship Id="rId11" Type="http://schemas.openxmlformats.org/officeDocument/2006/relationships/image" Target="../media/image1.wmf"/><Relationship Id="rId5" Type="http://schemas.openxmlformats.org/officeDocument/2006/relationships/image" Target="../media/image22.wmf"/><Relationship Id="rId10" Type="http://schemas.openxmlformats.org/officeDocument/2006/relationships/image" Target="../media/image26.wmf"/><Relationship Id="rId4" Type="http://schemas.openxmlformats.org/officeDocument/2006/relationships/image" Target="../media/image14.wmf"/><Relationship Id="rId9"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49C5B5-D572-4D94-A2A5-4A595F1C74FD}" type="datetimeFigureOut">
              <a:rPr lang="zh-CN" altLang="en-US" smtClean="0"/>
              <a:t>2011/6/10</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25196D-F208-4BC4-8014-023EEF6702D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p>
            <a:fld id="{A68B6A85-0C78-49A5-8840-988C27D70C22}" type="slidenum">
              <a:rPr lang="en-US" altLang="zh-CN" smtClean="0">
                <a:latin typeface="Arial" charset="0"/>
                <a:ea typeface="宋体" charset="-122"/>
              </a:rPr>
              <a:pPr/>
              <a:t>1</a:t>
            </a:fld>
            <a:endParaRPr lang="en-US" altLang="zh-CN" smtClean="0">
              <a:latin typeface="Arial" charset="0"/>
              <a:ea typeface="宋体" charset="-122"/>
            </a:endParaRPr>
          </a:p>
        </p:txBody>
      </p:sp>
      <p:sp>
        <p:nvSpPr>
          <p:cNvPr id="168963" name="Rectangle 2"/>
          <p:cNvSpPr>
            <a:spLocks noRot="1" noChangeArrowheads="1" noTextEdit="1"/>
          </p:cNvSpPr>
          <p:nvPr>
            <p:ph type="sldImg"/>
          </p:nvPr>
        </p:nvSpPr>
        <p:spPr>
          <a:ln/>
        </p:spPr>
      </p:sp>
      <p:sp>
        <p:nvSpPr>
          <p:cNvPr id="168964" name="Rectangle 3"/>
          <p:cNvSpPr>
            <a:spLocks noGrp="1" noChangeArrowheads="1"/>
          </p:cNvSpPr>
          <p:nvPr>
            <p:ph type="body" idx="1"/>
          </p:nvPr>
        </p:nvSpPr>
        <p:spPr>
          <a:xfrm>
            <a:off x="914400" y="4343400"/>
            <a:ext cx="5029200" cy="4114800"/>
          </a:xfrm>
          <a:noFill/>
          <a:ln/>
        </p:spPr>
        <p:txBody>
          <a:bodyPr/>
          <a:lstStyle/>
          <a:p>
            <a:pPr eaLnBrk="1" hangingPunct="1"/>
            <a:endParaRPr lang="zh-CN" altLang="zh-CN" smtClean="0">
              <a:latin typeface="Arial" charset="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BE59B2C6-AECC-41D1-BBC2-C1ED4BFD767D}" type="slidenum">
              <a:rPr lang="en-US" altLang="zh-CN" smtClean="0">
                <a:latin typeface="Arial" charset="0"/>
                <a:ea typeface="宋体" charset="-122"/>
              </a:rPr>
              <a:pPr/>
              <a:t>2</a:t>
            </a:fld>
            <a:endParaRPr lang="en-US" altLang="zh-CN" smtClean="0">
              <a:latin typeface="Arial" charset="0"/>
              <a:ea typeface="宋体" charset="-122"/>
            </a:endParaRPr>
          </a:p>
        </p:txBody>
      </p:sp>
      <p:sp>
        <p:nvSpPr>
          <p:cNvPr id="172035" name="Rectangle 2"/>
          <p:cNvSpPr>
            <a:spLocks noRot="1" noChangeArrowheads="1" noTextEdit="1"/>
          </p:cNvSpPr>
          <p:nvPr>
            <p:ph type="sldImg"/>
          </p:nvPr>
        </p:nvSpPr>
        <p:spPr>
          <a:ln/>
        </p:spPr>
      </p:sp>
      <p:sp>
        <p:nvSpPr>
          <p:cNvPr id="172036" name="Rectangle 3"/>
          <p:cNvSpPr>
            <a:spLocks noGrp="1" noChangeArrowheads="1"/>
          </p:cNvSpPr>
          <p:nvPr>
            <p:ph type="body" idx="1"/>
          </p:nvPr>
        </p:nvSpPr>
        <p:spPr>
          <a:noFill/>
          <a:ln/>
        </p:spPr>
        <p:txBody>
          <a:bodyPr/>
          <a:lstStyle/>
          <a:p>
            <a:pPr eaLnBrk="1" hangingPunct="1"/>
            <a:endParaRPr lang="zh-CN" altLang="zh-CN" smtClean="0">
              <a:latin typeface="Arial" charset="0"/>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p>
            <a:fld id="{8D04FD6D-10F0-445B-A8D0-C3C861EF2694}" type="slidenum">
              <a:rPr lang="en-US" altLang="zh-CN" smtClean="0">
                <a:latin typeface="Arial" charset="0"/>
                <a:ea typeface="宋体" charset="-122"/>
              </a:rPr>
              <a:pPr/>
              <a:t>3</a:t>
            </a:fld>
            <a:endParaRPr lang="en-US" altLang="zh-CN" smtClean="0">
              <a:latin typeface="Arial" charset="0"/>
              <a:ea typeface="宋体" charset="-122"/>
            </a:endParaRPr>
          </a:p>
        </p:txBody>
      </p:sp>
      <p:sp>
        <p:nvSpPr>
          <p:cNvPr id="173059" name="Rectangle 2"/>
          <p:cNvSpPr>
            <a:spLocks noRot="1" noChangeArrowheads="1" noTextEdit="1"/>
          </p:cNvSpPr>
          <p:nvPr>
            <p:ph type="sldImg"/>
          </p:nvPr>
        </p:nvSpPr>
        <p:spPr>
          <a:ln/>
        </p:spPr>
      </p:sp>
      <p:sp>
        <p:nvSpPr>
          <p:cNvPr id="173060" name="Rectangle 3"/>
          <p:cNvSpPr>
            <a:spLocks noGrp="1" noChangeArrowheads="1"/>
          </p:cNvSpPr>
          <p:nvPr>
            <p:ph type="body" idx="1"/>
          </p:nvPr>
        </p:nvSpPr>
        <p:spPr>
          <a:noFill/>
          <a:ln/>
        </p:spPr>
        <p:txBody>
          <a:bodyPr/>
          <a:lstStyle/>
          <a:p>
            <a:pPr eaLnBrk="1" hangingPunct="1"/>
            <a:endParaRPr lang="zh-CN" altLang="zh-CN" smtClean="0">
              <a:latin typeface="Arial" charset="0"/>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p>
            <a:fld id="{1499C46F-78A7-4789-9C07-65526464B2E7}" type="slidenum">
              <a:rPr lang="en-US" altLang="zh-CN" smtClean="0">
                <a:latin typeface="Arial" charset="0"/>
                <a:ea typeface="宋体" charset="-122"/>
              </a:rPr>
              <a:pPr/>
              <a:t>4</a:t>
            </a:fld>
            <a:endParaRPr lang="en-US" altLang="zh-CN" smtClean="0">
              <a:latin typeface="Arial" charset="0"/>
              <a:ea typeface="宋体" charset="-122"/>
            </a:endParaRPr>
          </a:p>
        </p:txBody>
      </p:sp>
      <p:sp>
        <p:nvSpPr>
          <p:cNvPr id="174083" name="Rectangle 2"/>
          <p:cNvSpPr>
            <a:spLocks noRot="1" noChangeArrowheads="1" noTextEdit="1"/>
          </p:cNvSpPr>
          <p:nvPr>
            <p:ph type="sldImg"/>
          </p:nvPr>
        </p:nvSpPr>
        <p:spPr>
          <a:ln/>
        </p:spPr>
      </p:sp>
      <p:sp>
        <p:nvSpPr>
          <p:cNvPr id="174084" name="Rectangle 3"/>
          <p:cNvSpPr>
            <a:spLocks noGrp="1" noChangeArrowheads="1"/>
          </p:cNvSpPr>
          <p:nvPr>
            <p:ph type="body" idx="1"/>
          </p:nvPr>
        </p:nvSpPr>
        <p:spPr>
          <a:noFill/>
          <a:ln/>
        </p:spPr>
        <p:txBody>
          <a:bodyPr/>
          <a:lstStyle/>
          <a:p>
            <a:pPr eaLnBrk="1" hangingPunct="1"/>
            <a:endParaRPr lang="zh-CN" altLang="zh-CN" smtClean="0">
              <a:latin typeface="Arial" charset="0"/>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9CB801A1-4320-4E02-8863-3068C847B24D}" type="slidenum">
              <a:rPr lang="en-US" altLang="zh-CN" smtClean="0">
                <a:latin typeface="Arial" charset="0"/>
                <a:ea typeface="宋体" charset="-122"/>
              </a:rPr>
              <a:pPr/>
              <a:t>5</a:t>
            </a:fld>
            <a:endParaRPr lang="en-US" altLang="zh-CN" smtClean="0">
              <a:latin typeface="Arial" charset="0"/>
              <a:ea typeface="宋体" charset="-122"/>
            </a:endParaRPr>
          </a:p>
        </p:txBody>
      </p:sp>
      <p:sp>
        <p:nvSpPr>
          <p:cNvPr id="175107" name="Rectangle 2"/>
          <p:cNvSpPr>
            <a:spLocks noRot="1" noChangeArrowheads="1" noTextEdit="1"/>
          </p:cNvSpPr>
          <p:nvPr>
            <p:ph type="sldImg"/>
          </p:nvPr>
        </p:nvSpPr>
        <p:spPr>
          <a:ln/>
        </p:spPr>
      </p:sp>
      <p:sp>
        <p:nvSpPr>
          <p:cNvPr id="175108" name="Rectangle 3"/>
          <p:cNvSpPr>
            <a:spLocks noGrp="1" noChangeArrowheads="1"/>
          </p:cNvSpPr>
          <p:nvPr>
            <p:ph type="body" idx="1"/>
          </p:nvPr>
        </p:nvSpPr>
        <p:spPr>
          <a:noFill/>
          <a:ln/>
        </p:spPr>
        <p:txBody>
          <a:bodyPr/>
          <a:lstStyle/>
          <a:p>
            <a:pPr eaLnBrk="1" hangingPunct="1"/>
            <a:endParaRPr lang="zh-CN" altLang="zh-CN" smtClean="0">
              <a:latin typeface="Arial" charset="0"/>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D2D1186C-5EA1-4045-9096-395C9593FCC1}" type="slidenum">
              <a:rPr lang="en-US" altLang="zh-CN" smtClean="0">
                <a:latin typeface="Arial" charset="0"/>
                <a:ea typeface="宋体" charset="-122"/>
              </a:rPr>
              <a:pPr/>
              <a:t>6</a:t>
            </a:fld>
            <a:endParaRPr lang="en-US" altLang="zh-CN" smtClean="0">
              <a:latin typeface="Arial" charset="0"/>
              <a:ea typeface="宋体" charset="-122"/>
            </a:endParaRPr>
          </a:p>
        </p:txBody>
      </p:sp>
      <p:sp>
        <p:nvSpPr>
          <p:cNvPr id="176131" name="Rectangle 2"/>
          <p:cNvSpPr>
            <a:spLocks noRo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pPr eaLnBrk="1" hangingPunct="1"/>
            <a:endParaRPr lang="zh-CN" altLang="zh-CN" smtClean="0">
              <a:latin typeface="Arial" charset="0"/>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2011/6/10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2011/6/10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2011/6/10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2011/6/10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2011/6/10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2011/6/10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2011/6/10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2011/6/10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2011/6/10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2011/6/10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2011/6/10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7787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E5F3A4B8-2BBF-4B15-89DE-52D9F9BC161C}" type="slidenum">
              <a:rPr lang="en-US" altLang="zh-CN"/>
              <a:pPr>
                <a:defRPr/>
              </a:pPr>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777875"/>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1ABFAE5C-95B8-4EF5-BF32-6FBAFAE7187E}" type="slidenum">
              <a:rPr lang="en-US" altLang="zh-CN"/>
              <a:pPr>
                <a:defRPr/>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77875"/>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59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38588"/>
            <a:ext cx="4038600" cy="21875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ln/>
        </p:spPr>
        <p:txBody>
          <a:bodyPr/>
          <a:lstStyle>
            <a:lvl1pPr>
              <a:defRPr/>
            </a:lvl1pPr>
          </a:lstStyle>
          <a:p>
            <a:pPr>
              <a:defRPr/>
            </a:pPr>
            <a:fld id="{ABF90B84-BE49-495A-B446-967029139CF3}"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2011/6/10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11.png"/><Relationship Id="rId5" Type="http://schemas.openxmlformats.org/officeDocument/2006/relationships/oleObject" Target="../embeddings/oleObject5.bin"/><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oleObject" Target="../embeddings/oleObject15.bin"/><Relationship Id="rId3" Type="http://schemas.openxmlformats.org/officeDocument/2006/relationships/notesSlide" Target="../notesSlides/notesSlide4.xml"/><Relationship Id="rId7" Type="http://schemas.openxmlformats.org/officeDocument/2006/relationships/oleObject" Target="../embeddings/oleObject9.bin"/><Relationship Id="rId12" Type="http://schemas.openxmlformats.org/officeDocument/2006/relationships/oleObject" Target="../embeddings/oleObject14.bin"/><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oleObject" Target="../embeddings/oleObject8.bin"/><Relationship Id="rId11" Type="http://schemas.openxmlformats.org/officeDocument/2006/relationships/oleObject" Target="../embeddings/oleObject13.bin"/><Relationship Id="rId5" Type="http://schemas.openxmlformats.org/officeDocument/2006/relationships/oleObject" Target="../embeddings/oleObject7.bin"/><Relationship Id="rId10" Type="http://schemas.openxmlformats.org/officeDocument/2006/relationships/oleObject" Target="../embeddings/oleObject12.bin"/><Relationship Id="rId4" Type="http://schemas.openxmlformats.org/officeDocument/2006/relationships/oleObject" Target="../embeddings/oleObject6.bin"/><Relationship Id="rId9"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oleObject" Target="../embeddings/oleObject25.bin"/><Relationship Id="rId3" Type="http://schemas.openxmlformats.org/officeDocument/2006/relationships/notesSlide" Target="../notesSlides/notesSlide5.xml"/><Relationship Id="rId7" Type="http://schemas.openxmlformats.org/officeDocument/2006/relationships/oleObject" Target="../embeddings/oleObject19.bin"/><Relationship Id="rId12" Type="http://schemas.openxmlformats.org/officeDocument/2006/relationships/oleObject" Target="../embeddings/oleObject24.bin"/><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oleObject" Target="../embeddings/oleObject18.bin"/><Relationship Id="rId11" Type="http://schemas.openxmlformats.org/officeDocument/2006/relationships/oleObject" Target="../embeddings/oleObject23.bin"/><Relationship Id="rId5" Type="http://schemas.openxmlformats.org/officeDocument/2006/relationships/oleObject" Target="../embeddings/oleObject17.bin"/><Relationship Id="rId10" Type="http://schemas.openxmlformats.org/officeDocument/2006/relationships/oleObject" Target="../embeddings/oleObject22.bin"/><Relationship Id="rId4" Type="http://schemas.openxmlformats.org/officeDocument/2006/relationships/oleObject" Target="../embeddings/oleObject16.bin"/><Relationship Id="rId9" Type="http://schemas.openxmlformats.org/officeDocument/2006/relationships/oleObject" Target="../embeddings/oleObject21.bin"/><Relationship Id="rId14" Type="http://schemas.openxmlformats.org/officeDocument/2006/relationships/oleObject" Target="../embeddings/oleObject26.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oleObject" Target="../embeddings/oleObject29.bin"/><Relationship Id="rId2" Type="http://schemas.openxmlformats.org/officeDocument/2006/relationships/slideLayout" Target="../slideLayouts/slideLayout14.xml"/><Relationship Id="rId1" Type="http://schemas.openxmlformats.org/officeDocument/2006/relationships/vmlDrawing" Target="../drawings/vmlDrawing5.vml"/><Relationship Id="rId6" Type="http://schemas.openxmlformats.org/officeDocument/2006/relationships/image" Target="../media/image7.png"/><Relationship Id="rId5" Type="http://schemas.openxmlformats.org/officeDocument/2006/relationships/oleObject" Target="../embeddings/oleObject28.bin"/><Relationship Id="rId4" Type="http://schemas.openxmlformats.org/officeDocument/2006/relationships/oleObject" Target="../embeddings/oleObject2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body" sz="half" idx="1"/>
          </p:nvPr>
        </p:nvSpPr>
        <p:spPr>
          <a:xfrm>
            <a:off x="250825" y="1196975"/>
            <a:ext cx="8507413" cy="4525963"/>
          </a:xfrm>
        </p:spPr>
        <p:txBody>
          <a:bodyPr/>
          <a:lstStyle/>
          <a:p>
            <a:pPr eaLnBrk="1" hangingPunct="1">
              <a:buFontTx/>
              <a:buNone/>
            </a:pPr>
            <a:r>
              <a:rPr lang="zh-CN" altLang="en-US" sz="2400" smtClean="0"/>
              <a:t>首先，如果反应物分子</a:t>
            </a:r>
            <a:r>
              <a:rPr lang="en-US" altLang="zh-CN" sz="2400" smtClean="0"/>
              <a:t>A</a:t>
            </a:r>
            <a:r>
              <a:rPr lang="zh-CN" altLang="en-US" sz="2400" smtClean="0"/>
              <a:t>吸附能力较弱，那么反应速率，</a:t>
            </a:r>
            <a:r>
              <a:rPr lang="en-US" altLang="zh-CN" sz="2400" smtClean="0"/>
              <a:t>R</a:t>
            </a:r>
            <a:r>
              <a:rPr lang="zh-CN" altLang="en-US" sz="2400" smtClean="0"/>
              <a:t>，与接近表面的</a:t>
            </a:r>
            <a:r>
              <a:rPr lang="en-US" altLang="zh-CN" sz="2400" smtClean="0"/>
              <a:t>A</a:t>
            </a:r>
            <a:r>
              <a:rPr lang="zh-CN" altLang="en-US" sz="2400" smtClean="0"/>
              <a:t>气体的浓度成正比：</a:t>
            </a:r>
            <a:r>
              <a:rPr lang="zh-CN" altLang="en-US" sz="2800" smtClean="0"/>
              <a:t> </a:t>
            </a:r>
          </a:p>
          <a:p>
            <a:pPr eaLnBrk="1" hangingPunct="1"/>
            <a:endParaRPr lang="zh-CN" altLang="en-US" sz="2800" smtClean="0"/>
          </a:p>
          <a:p>
            <a:pPr eaLnBrk="1" hangingPunct="1">
              <a:buFontTx/>
              <a:buNone/>
            </a:pPr>
            <a:endParaRPr lang="zh-CN" altLang="en-US" sz="2400" smtClean="0"/>
          </a:p>
          <a:p>
            <a:pPr eaLnBrk="1" hangingPunct="1">
              <a:buFontTx/>
              <a:buNone/>
            </a:pPr>
            <a:r>
              <a:rPr lang="zh-CN" altLang="en-US" sz="2400" smtClean="0"/>
              <a:t>第二，如果</a:t>
            </a:r>
            <a:r>
              <a:rPr lang="en-US" altLang="zh-CN" sz="2400" smtClean="0"/>
              <a:t>A</a:t>
            </a:r>
            <a:r>
              <a:rPr lang="zh-CN" altLang="en-US" sz="2400" smtClean="0"/>
              <a:t>强吸附，那么反应速率与</a:t>
            </a:r>
            <a:r>
              <a:rPr lang="en-US" altLang="zh-CN" sz="2400" smtClean="0"/>
              <a:t>A</a:t>
            </a:r>
            <a:r>
              <a:rPr lang="zh-CN" altLang="en-US" sz="2400" smtClean="0"/>
              <a:t>的气相浓度无关，也就是：</a:t>
            </a:r>
          </a:p>
        </p:txBody>
      </p:sp>
      <p:graphicFrame>
        <p:nvGraphicFramePr>
          <p:cNvPr id="2050" name="Object 5"/>
          <p:cNvGraphicFramePr>
            <a:graphicFrameLocks noChangeAspect="1"/>
          </p:cNvGraphicFramePr>
          <p:nvPr>
            <p:ph sz="quarter" idx="2"/>
          </p:nvPr>
        </p:nvGraphicFramePr>
        <p:xfrm>
          <a:off x="4067175" y="3536950"/>
          <a:ext cx="1944688" cy="677863"/>
        </p:xfrm>
        <a:graphic>
          <a:graphicData uri="http://schemas.openxmlformats.org/presentationml/2006/ole">
            <p:oleObj spid="_x0000_s1026" name="Equation" r:id="rId4" imgW="545760" imgH="190440" progId="Equation.DSMT4">
              <p:embed/>
            </p:oleObj>
          </a:graphicData>
        </a:graphic>
      </p:graphicFrame>
      <p:graphicFrame>
        <p:nvGraphicFramePr>
          <p:cNvPr id="2051" name="Object 3"/>
          <p:cNvGraphicFramePr>
            <a:graphicFrameLocks noChangeAspect="1"/>
          </p:cNvGraphicFramePr>
          <p:nvPr/>
        </p:nvGraphicFramePr>
        <p:xfrm>
          <a:off x="2641600" y="2176463"/>
          <a:ext cx="2419350" cy="644525"/>
        </p:xfrm>
        <a:graphic>
          <a:graphicData uri="http://schemas.openxmlformats.org/presentationml/2006/ole">
            <p:oleObj spid="_x0000_s1027" name="Equation" r:id="rId5" imgW="711000" imgH="190440" progId="Equation.DSMT4">
              <p:embed/>
            </p:oleObj>
          </a:graphicData>
        </a:graphic>
      </p:graphicFrame>
      <p:sp>
        <p:nvSpPr>
          <p:cNvPr id="2054" name="Text Box 4"/>
          <p:cNvSpPr txBox="1">
            <a:spLocks noChangeArrowheads="1"/>
          </p:cNvSpPr>
          <p:nvPr/>
        </p:nvSpPr>
        <p:spPr bwMode="auto">
          <a:xfrm>
            <a:off x="0" y="333375"/>
            <a:ext cx="8604250" cy="579438"/>
          </a:xfrm>
          <a:prstGeom prst="rect">
            <a:avLst/>
          </a:prstGeom>
          <a:noFill/>
          <a:ln w="9525">
            <a:noFill/>
            <a:miter lim="800000"/>
            <a:headEnd/>
            <a:tailEnd/>
          </a:ln>
        </p:spPr>
        <p:txBody>
          <a:bodyPr>
            <a:spAutoFit/>
          </a:bodyPr>
          <a:lstStyle/>
          <a:p>
            <a:pPr>
              <a:spcBef>
                <a:spcPct val="50000"/>
              </a:spcBef>
            </a:pPr>
            <a:r>
              <a:rPr lang="en-US" altLang="zh-CN" sz="3200">
                <a:solidFill>
                  <a:schemeClr val="accent2"/>
                </a:solidFill>
                <a:ea typeface="黑体" pitchFamily="49" charset="-122"/>
              </a:rPr>
              <a:t>4.1 Turns</a:t>
            </a:r>
            <a:r>
              <a:rPr lang="zh-CN" altLang="en-US" sz="3200">
                <a:solidFill>
                  <a:schemeClr val="accent2"/>
                </a:solidFill>
                <a:ea typeface="黑体" pitchFamily="49" charset="-122"/>
              </a:rPr>
              <a:t>教材上提供的</a:t>
            </a:r>
            <a:r>
              <a:rPr lang="en-US" altLang="zh-CN" sz="3200">
                <a:solidFill>
                  <a:schemeClr val="accent2"/>
                </a:solidFill>
                <a:ea typeface="黑体" pitchFamily="49" charset="-122"/>
              </a:rPr>
              <a:t>3</a:t>
            </a:r>
            <a:r>
              <a:rPr lang="zh-CN" altLang="en-US" sz="3200">
                <a:solidFill>
                  <a:schemeClr val="accent2"/>
                </a:solidFill>
                <a:ea typeface="黑体" pitchFamily="49" charset="-122"/>
              </a:rPr>
              <a:t>个表面反应的结论</a:t>
            </a:r>
          </a:p>
        </p:txBody>
      </p:sp>
      <p:sp>
        <p:nvSpPr>
          <p:cNvPr id="2055" name="Rectangle 8"/>
          <p:cNvSpPr>
            <a:spLocks noChangeArrowheads="1"/>
          </p:cNvSpPr>
          <p:nvPr/>
        </p:nvSpPr>
        <p:spPr bwMode="auto">
          <a:xfrm>
            <a:off x="250825" y="4437063"/>
            <a:ext cx="8424863" cy="822325"/>
          </a:xfrm>
          <a:prstGeom prst="rect">
            <a:avLst/>
          </a:prstGeom>
          <a:noFill/>
          <a:ln w="9525">
            <a:noFill/>
            <a:miter lim="800000"/>
            <a:headEnd/>
            <a:tailEnd/>
          </a:ln>
        </p:spPr>
        <p:txBody>
          <a:bodyPr>
            <a:spAutoFit/>
          </a:bodyPr>
          <a:lstStyle/>
          <a:p>
            <a:r>
              <a:rPr lang="zh-CN" altLang="en-US" sz="2400">
                <a:ea typeface="黑体" pitchFamily="49" charset="-122"/>
              </a:rPr>
              <a:t>最后，我们考虑当反应物</a:t>
            </a:r>
            <a:r>
              <a:rPr lang="en-US" altLang="zh-CN" sz="2400">
                <a:ea typeface="黑体" pitchFamily="49" charset="-122"/>
              </a:rPr>
              <a:t>A</a:t>
            </a:r>
            <a:r>
              <a:rPr lang="zh-CN" altLang="en-US" sz="2400">
                <a:ea typeface="黑体" pitchFamily="49" charset="-122"/>
              </a:rPr>
              <a:t>弱吸附然而产物分子</a:t>
            </a:r>
            <a:r>
              <a:rPr lang="en-US" altLang="zh-CN" sz="2400">
                <a:ea typeface="黑体" pitchFamily="49" charset="-122"/>
              </a:rPr>
              <a:t>B</a:t>
            </a:r>
            <a:r>
              <a:rPr lang="zh-CN" altLang="en-US" sz="2400">
                <a:ea typeface="黑体" pitchFamily="49" charset="-122"/>
              </a:rPr>
              <a:t>强吸附的情况。在此情况下：</a:t>
            </a:r>
          </a:p>
        </p:txBody>
      </p:sp>
      <p:graphicFrame>
        <p:nvGraphicFramePr>
          <p:cNvPr id="2052" name="Object 9"/>
          <p:cNvGraphicFramePr>
            <a:graphicFrameLocks noChangeAspect="1"/>
          </p:cNvGraphicFramePr>
          <p:nvPr>
            <p:ph sz="quarter" idx="3"/>
          </p:nvPr>
        </p:nvGraphicFramePr>
        <p:xfrm>
          <a:off x="4859338" y="5043488"/>
          <a:ext cx="2376487" cy="1112837"/>
        </p:xfrm>
        <a:graphic>
          <a:graphicData uri="http://schemas.openxmlformats.org/presentationml/2006/ole">
            <p:oleObj spid="_x0000_s1028" name="Equation" r:id="rId6" imgW="787320" imgH="368280" progId="Equation.DSMT4">
              <p:embed/>
            </p:oleObj>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ChangeArrowheads="1"/>
          </p:cNvSpPr>
          <p:nvPr/>
        </p:nvSpPr>
        <p:spPr bwMode="auto">
          <a:xfrm>
            <a:off x="250825" y="4724400"/>
            <a:ext cx="8893175" cy="701675"/>
          </a:xfrm>
          <a:prstGeom prst="rect">
            <a:avLst/>
          </a:prstGeom>
          <a:noFill/>
          <a:ln w="9525">
            <a:noFill/>
            <a:miter lim="800000"/>
            <a:headEnd/>
            <a:tailEnd/>
          </a:ln>
        </p:spPr>
        <p:txBody>
          <a:bodyPr>
            <a:spAutoFit/>
          </a:bodyPr>
          <a:lstStyle/>
          <a:p>
            <a:r>
              <a:rPr lang="zh-CN" altLang="en-US" sz="2000"/>
              <a:t>式中 </a:t>
            </a:r>
            <a:r>
              <a:rPr lang="en-US" altLang="zh-CN" sz="2000"/>
              <a:t>k</a:t>
            </a:r>
            <a:r>
              <a:rPr lang="en-US" altLang="zh-CN" sz="2000" baseline="-25000"/>
              <a:t>a</a:t>
            </a:r>
            <a:r>
              <a:rPr lang="en-US" altLang="zh-CN" sz="2000"/>
              <a:t> </a:t>
            </a:r>
            <a:r>
              <a:rPr lang="zh-CN" altLang="en-US" sz="2000"/>
              <a:t>和 </a:t>
            </a:r>
            <a:r>
              <a:rPr lang="en-US" altLang="zh-CN" sz="2000"/>
              <a:t>k</a:t>
            </a:r>
            <a:r>
              <a:rPr lang="en-US" altLang="zh-CN" sz="2000" baseline="-25000"/>
              <a:t>d </a:t>
            </a:r>
            <a:r>
              <a:rPr lang="zh-CN" altLang="en-US" sz="2000"/>
              <a:t>分别为吸附和脱附速率常数。</a:t>
            </a:r>
            <a:r>
              <a:rPr lang="zh-CN" altLang="en-US" sz="2000">
                <a:solidFill>
                  <a:srgbClr val="FF3300"/>
                </a:solidFill>
              </a:rPr>
              <a:t>若设 </a:t>
            </a:r>
            <a:r>
              <a:rPr lang="en-US" altLang="zh-CN" sz="2000">
                <a:solidFill>
                  <a:srgbClr val="FF3300"/>
                </a:solidFill>
              </a:rPr>
              <a:t>θ </a:t>
            </a:r>
            <a:r>
              <a:rPr lang="zh-CN" altLang="en-US" sz="2000">
                <a:solidFill>
                  <a:srgbClr val="FF3300"/>
                </a:solidFill>
              </a:rPr>
              <a:t>表示表面被覆盖的分数</a:t>
            </a:r>
            <a:r>
              <a:rPr lang="zh-CN" altLang="en-US" sz="2000"/>
              <a:t>，</a:t>
            </a:r>
            <a:r>
              <a:rPr lang="en-US" altLang="zh-CN" sz="2000"/>
              <a:t>(1-θ)</a:t>
            </a:r>
            <a:r>
              <a:rPr lang="zh-CN" altLang="en-US" sz="2000"/>
              <a:t>为未被覆盖部分所占的分数，则吸附速率 </a:t>
            </a:r>
            <a:r>
              <a:rPr lang="en-US" altLang="zh-CN" sz="2000"/>
              <a:t>r</a:t>
            </a:r>
            <a:r>
              <a:rPr lang="en-US" altLang="zh-CN" sz="2000" baseline="-25000"/>
              <a:t>a</a:t>
            </a:r>
            <a:r>
              <a:rPr lang="en-US" altLang="zh-CN" sz="2000"/>
              <a:t> </a:t>
            </a:r>
            <a:r>
              <a:rPr lang="zh-CN" altLang="en-US" sz="2000"/>
              <a:t>和脱附速率 </a:t>
            </a:r>
            <a:r>
              <a:rPr lang="en-US" altLang="zh-CN" sz="2000"/>
              <a:t>r</a:t>
            </a:r>
            <a:r>
              <a:rPr lang="en-US" altLang="zh-CN" sz="2000" baseline="-25000"/>
              <a:t>d</a:t>
            </a:r>
            <a:r>
              <a:rPr lang="en-US" altLang="zh-CN" sz="2000"/>
              <a:t> </a:t>
            </a:r>
            <a:r>
              <a:rPr lang="zh-CN" altLang="en-US" sz="2000"/>
              <a:t>分别为 </a:t>
            </a:r>
          </a:p>
        </p:txBody>
      </p:sp>
      <p:sp>
        <p:nvSpPr>
          <p:cNvPr id="107523" name="Text Box 8"/>
          <p:cNvSpPr txBox="1">
            <a:spLocks noChangeArrowheads="1"/>
          </p:cNvSpPr>
          <p:nvPr/>
        </p:nvSpPr>
        <p:spPr bwMode="auto">
          <a:xfrm>
            <a:off x="0" y="333375"/>
            <a:ext cx="7777163" cy="579438"/>
          </a:xfrm>
          <a:prstGeom prst="rect">
            <a:avLst/>
          </a:prstGeom>
          <a:noFill/>
          <a:ln w="9525">
            <a:noFill/>
            <a:miter lim="800000"/>
            <a:headEnd/>
            <a:tailEnd/>
          </a:ln>
        </p:spPr>
        <p:txBody>
          <a:bodyPr>
            <a:spAutoFit/>
          </a:bodyPr>
          <a:lstStyle/>
          <a:p>
            <a:pPr>
              <a:spcBef>
                <a:spcPct val="50000"/>
              </a:spcBef>
            </a:pPr>
            <a:r>
              <a:rPr lang="en-US" altLang="zh-CN" sz="3200">
                <a:solidFill>
                  <a:schemeClr val="accent2"/>
                </a:solidFill>
                <a:ea typeface="黑体" pitchFamily="49" charset="-122"/>
              </a:rPr>
              <a:t>4.4 Langmuir</a:t>
            </a:r>
            <a:r>
              <a:rPr lang="zh-CN" altLang="en-US" sz="3200">
                <a:solidFill>
                  <a:schemeClr val="accent2"/>
                </a:solidFill>
                <a:ea typeface="黑体" pitchFamily="49" charset="-122"/>
              </a:rPr>
              <a:t>吸附等温式</a:t>
            </a:r>
          </a:p>
        </p:txBody>
      </p:sp>
      <p:pic>
        <p:nvPicPr>
          <p:cNvPr id="107524" name="Picture 10" descr="10-2"/>
          <p:cNvPicPr>
            <a:picLocks noChangeAspect="1" noChangeArrowheads="1"/>
          </p:cNvPicPr>
          <p:nvPr/>
        </p:nvPicPr>
        <p:blipFill>
          <a:blip r:embed="rId3"/>
          <a:srcRect/>
          <a:stretch>
            <a:fillRect/>
          </a:stretch>
        </p:blipFill>
        <p:spPr bwMode="auto">
          <a:xfrm>
            <a:off x="1547813" y="3284538"/>
            <a:ext cx="5256212" cy="1254125"/>
          </a:xfrm>
          <a:prstGeom prst="rect">
            <a:avLst/>
          </a:prstGeom>
          <a:noFill/>
          <a:ln w="9525">
            <a:noFill/>
            <a:miter lim="800000"/>
            <a:headEnd/>
            <a:tailEnd/>
          </a:ln>
        </p:spPr>
      </p:pic>
      <p:sp>
        <p:nvSpPr>
          <p:cNvPr id="107525" name="Text Box 13"/>
          <p:cNvSpPr txBox="1">
            <a:spLocks noChangeArrowheads="1"/>
          </p:cNvSpPr>
          <p:nvPr/>
        </p:nvSpPr>
        <p:spPr bwMode="auto">
          <a:xfrm>
            <a:off x="0" y="1268413"/>
            <a:ext cx="8893175" cy="2063750"/>
          </a:xfrm>
          <a:prstGeom prst="rect">
            <a:avLst/>
          </a:prstGeom>
          <a:noFill/>
          <a:ln w="9525">
            <a:noFill/>
            <a:miter lim="800000"/>
            <a:headEnd/>
            <a:tailEnd/>
          </a:ln>
        </p:spPr>
        <p:txBody>
          <a:bodyPr>
            <a:spAutoFit/>
          </a:bodyPr>
          <a:lstStyle/>
          <a:p>
            <a:pPr>
              <a:spcBef>
                <a:spcPct val="10000"/>
              </a:spcBef>
            </a:pPr>
            <a:r>
              <a:rPr lang="en-US" altLang="zh-CN" sz="2400"/>
              <a:t>Langmuir</a:t>
            </a:r>
            <a:r>
              <a:rPr lang="zh-CN" altLang="en-US" sz="2400"/>
              <a:t>理想吸附模型基本假设：</a:t>
            </a:r>
          </a:p>
          <a:p>
            <a:pPr>
              <a:spcBef>
                <a:spcPct val="10000"/>
              </a:spcBef>
            </a:pPr>
            <a:r>
              <a:rPr lang="en-US" altLang="zh-CN" sz="2400"/>
              <a:t>(1)</a:t>
            </a:r>
            <a:r>
              <a:rPr lang="zh-CN" altLang="en-US" sz="2400"/>
              <a:t>对于一定的吸附质，吸附剂表面含有一定数目的吸附部位；</a:t>
            </a:r>
          </a:p>
          <a:p>
            <a:pPr>
              <a:spcBef>
                <a:spcPct val="10000"/>
              </a:spcBef>
            </a:pPr>
            <a:r>
              <a:rPr lang="en-US" altLang="zh-CN" sz="2400"/>
              <a:t>(2)</a:t>
            </a:r>
            <a:r>
              <a:rPr lang="zh-CN" altLang="en-US" sz="2400"/>
              <a:t>每个吸附部位只能束缚一个吸附质分子</a:t>
            </a:r>
            <a:r>
              <a:rPr lang="en-US" altLang="zh-CN" sz="2400"/>
              <a:t>(</a:t>
            </a:r>
            <a:r>
              <a:rPr lang="zh-CN" altLang="en-US" sz="2400"/>
              <a:t>即固定的单分子层</a:t>
            </a:r>
            <a:r>
              <a:rPr lang="en-US" altLang="zh-CN" sz="2400"/>
              <a:t>)</a:t>
            </a:r>
            <a:r>
              <a:rPr lang="zh-CN" altLang="en-US" sz="2400"/>
              <a:t>；</a:t>
            </a:r>
          </a:p>
          <a:p>
            <a:pPr>
              <a:spcBef>
                <a:spcPct val="10000"/>
              </a:spcBef>
            </a:pPr>
            <a:r>
              <a:rPr lang="en-US" altLang="zh-CN" sz="2400"/>
              <a:t>(3)</a:t>
            </a:r>
            <a:r>
              <a:rPr lang="zh-CN" altLang="en-US" sz="2400"/>
              <a:t>所有部位上的相互作用能都相等（即吸附活化能为常数）；</a:t>
            </a:r>
          </a:p>
          <a:p>
            <a:pPr>
              <a:spcBef>
                <a:spcPct val="10000"/>
              </a:spcBef>
            </a:pPr>
            <a:r>
              <a:rPr lang="en-US" altLang="zh-CN" sz="2400"/>
              <a:t>(4)</a:t>
            </a:r>
            <a:r>
              <a:rPr lang="zh-CN" altLang="en-US" sz="2400"/>
              <a:t>假设没有离解发生。</a:t>
            </a:r>
            <a:r>
              <a:rPr lang="zh-CN" altLang="en-US"/>
              <a:t> </a:t>
            </a:r>
          </a:p>
        </p:txBody>
      </p:sp>
      <p:pic>
        <p:nvPicPr>
          <p:cNvPr id="107526" name="Picture 15" descr="11.gif"/>
          <p:cNvPicPr>
            <a:picLocks noChangeAspect="1" noChangeArrowheads="1"/>
          </p:cNvPicPr>
          <p:nvPr/>
        </p:nvPicPr>
        <p:blipFill>
          <a:blip r:embed="rId4"/>
          <a:srcRect/>
          <a:stretch>
            <a:fillRect/>
          </a:stretch>
        </p:blipFill>
        <p:spPr bwMode="auto">
          <a:xfrm>
            <a:off x="0" y="5445125"/>
            <a:ext cx="2736850" cy="1123950"/>
          </a:xfrm>
          <a:prstGeom prst="rect">
            <a:avLst/>
          </a:prstGeom>
          <a:noFill/>
          <a:ln w="9525">
            <a:noFill/>
            <a:miter lim="800000"/>
            <a:headEnd/>
            <a:tailEnd/>
          </a:ln>
        </p:spPr>
      </p:pic>
      <p:pic>
        <p:nvPicPr>
          <p:cNvPr id="107527" name="Picture 17" descr="10-114.gif"/>
          <p:cNvPicPr>
            <a:picLocks noChangeAspect="1" noChangeArrowheads="1"/>
          </p:cNvPicPr>
          <p:nvPr/>
        </p:nvPicPr>
        <p:blipFill>
          <a:blip r:embed="rId5"/>
          <a:srcRect/>
          <a:stretch>
            <a:fillRect/>
          </a:stretch>
        </p:blipFill>
        <p:spPr bwMode="auto">
          <a:xfrm>
            <a:off x="3132138" y="5661025"/>
            <a:ext cx="3384550" cy="976313"/>
          </a:xfrm>
          <a:prstGeom prst="rect">
            <a:avLst/>
          </a:prstGeom>
          <a:noFill/>
          <a:ln w="9525">
            <a:noFill/>
            <a:miter lim="800000"/>
            <a:headEnd/>
            <a:tailEnd/>
          </a:ln>
        </p:spPr>
      </p:pic>
      <p:sp>
        <p:nvSpPr>
          <p:cNvPr id="107528" name="AutoShape 18"/>
          <p:cNvSpPr>
            <a:spLocks noChangeArrowheads="1"/>
          </p:cNvSpPr>
          <p:nvPr/>
        </p:nvSpPr>
        <p:spPr bwMode="auto">
          <a:xfrm>
            <a:off x="2268538" y="5949950"/>
            <a:ext cx="865187" cy="215900"/>
          </a:xfrm>
          <a:prstGeom prst="rightArrow">
            <a:avLst>
              <a:gd name="adj1" fmla="val 50000"/>
              <a:gd name="adj2" fmla="val 100184"/>
            </a:avLst>
          </a:prstGeom>
          <a:solidFill>
            <a:srgbClr val="FF0000"/>
          </a:solidFill>
          <a:ln w="9525">
            <a:solidFill>
              <a:schemeClr val="tx1"/>
            </a:solidFill>
            <a:miter lim="800000"/>
            <a:headEnd/>
            <a:tailEnd/>
          </a:ln>
        </p:spPr>
        <p:txBody>
          <a:bodyPr wrap="none" anchor="ctr"/>
          <a:lstStyle/>
          <a:p>
            <a:endParaRPr lang="zh-CN" altLang="en-US"/>
          </a:p>
        </p:txBody>
      </p:sp>
      <p:pic>
        <p:nvPicPr>
          <p:cNvPr id="107529" name="Picture 20" descr="10-116.gif"/>
          <p:cNvPicPr>
            <a:picLocks noChangeAspect="1" noChangeArrowheads="1"/>
          </p:cNvPicPr>
          <p:nvPr/>
        </p:nvPicPr>
        <p:blipFill>
          <a:blip r:embed="rId6"/>
          <a:srcRect/>
          <a:stretch>
            <a:fillRect/>
          </a:stretch>
        </p:blipFill>
        <p:spPr bwMode="auto">
          <a:xfrm>
            <a:off x="7235825" y="5589588"/>
            <a:ext cx="1768475" cy="1060450"/>
          </a:xfrm>
          <a:prstGeom prst="rect">
            <a:avLst/>
          </a:prstGeom>
          <a:noFill/>
          <a:ln w="9525">
            <a:solidFill>
              <a:srgbClr val="FF0000"/>
            </a:solidFill>
            <a:miter lim="800000"/>
            <a:headEnd/>
            <a:tailEnd/>
          </a:ln>
        </p:spPr>
      </p:pic>
      <p:pic>
        <p:nvPicPr>
          <p:cNvPr id="107530" name="Picture 21" descr="IMG_3614"/>
          <p:cNvPicPr>
            <a:picLocks noChangeAspect="1" noChangeArrowheads="1"/>
          </p:cNvPicPr>
          <p:nvPr/>
        </p:nvPicPr>
        <p:blipFill>
          <a:blip r:embed="rId7">
            <a:lum contrast="-6000"/>
            <a:grayscl/>
          </a:blip>
          <a:srcRect l="25700" t="51764" r="42023" b="39479"/>
          <a:stretch>
            <a:fillRect/>
          </a:stretch>
        </p:blipFill>
        <p:spPr bwMode="auto">
          <a:xfrm>
            <a:off x="4583113" y="163513"/>
            <a:ext cx="4537075" cy="923925"/>
          </a:xfrm>
          <a:prstGeom prst="rect">
            <a:avLst/>
          </a:prstGeom>
          <a:noFill/>
          <a:ln w="9525">
            <a:solidFill>
              <a:srgbClr val="0000FF"/>
            </a:solid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ChangeArrowheads="1"/>
          </p:cNvSpPr>
          <p:nvPr/>
        </p:nvSpPr>
        <p:spPr bwMode="auto">
          <a:xfrm>
            <a:off x="250825" y="1341438"/>
            <a:ext cx="8693150" cy="1738312"/>
          </a:xfrm>
          <a:prstGeom prst="rect">
            <a:avLst/>
          </a:prstGeom>
          <a:noFill/>
          <a:ln w="9525">
            <a:noFill/>
            <a:miter lim="800000"/>
            <a:headEnd/>
            <a:tailEnd/>
          </a:ln>
        </p:spPr>
        <p:txBody>
          <a:bodyPr wrap="none" anchor="ctr">
            <a:spAutoFit/>
          </a:bodyPr>
          <a:lstStyle/>
          <a:p>
            <a:r>
              <a:rPr lang="en-US" altLang="zh-CN" sz="2800">
                <a:solidFill>
                  <a:srgbClr val="FF3300"/>
                </a:solidFill>
                <a:ea typeface="黑体" pitchFamily="49" charset="-122"/>
              </a:rPr>
              <a:t>Langmuir-Hinshelwood</a:t>
            </a:r>
            <a:r>
              <a:rPr lang="zh-CN" altLang="en-US" sz="2800">
                <a:solidFill>
                  <a:srgbClr val="FF3300"/>
                </a:solidFill>
                <a:ea typeface="黑体" pitchFamily="49" charset="-122"/>
              </a:rPr>
              <a:t>分析</a:t>
            </a:r>
          </a:p>
          <a:p>
            <a:endParaRPr lang="zh-CN" altLang="en-US" sz="2000">
              <a:latin typeface="黑体" pitchFamily="49" charset="-122"/>
              <a:ea typeface="黑体" pitchFamily="49" charset="-122"/>
            </a:endParaRPr>
          </a:p>
          <a:p>
            <a:r>
              <a:rPr lang="en-US" altLang="zh-CN" sz="2000">
                <a:latin typeface="黑体" pitchFamily="49" charset="-122"/>
                <a:ea typeface="黑体" pitchFamily="49" charset="-122"/>
              </a:rPr>
              <a:t>(1)</a:t>
            </a:r>
            <a:r>
              <a:rPr lang="zh-CN" altLang="en-US" sz="2000">
                <a:latin typeface="黑体" pitchFamily="49" charset="-122"/>
                <a:ea typeface="黑体" pitchFamily="49" charset="-122"/>
              </a:rPr>
              <a:t>表面是理想的； </a:t>
            </a:r>
          </a:p>
          <a:p>
            <a:r>
              <a:rPr lang="en-US" altLang="zh-CN" sz="2000">
                <a:latin typeface="黑体" pitchFamily="49" charset="-122"/>
                <a:ea typeface="黑体" pitchFamily="49" charset="-122"/>
              </a:rPr>
              <a:t>(2)</a:t>
            </a:r>
            <a:r>
              <a:rPr lang="zh-CN" altLang="en-US" sz="2000">
                <a:latin typeface="黑体" pitchFamily="49" charset="-122"/>
                <a:ea typeface="黑体" pitchFamily="49" charset="-122"/>
              </a:rPr>
              <a:t>所有被吸附的气体分子在表面上的吸附平衡都满足</a:t>
            </a:r>
            <a:r>
              <a:rPr lang="en-US" altLang="zh-CN" sz="2000">
                <a:latin typeface="黑体" pitchFamily="49" charset="-122"/>
                <a:ea typeface="黑体" pitchFamily="49" charset="-122"/>
              </a:rPr>
              <a:t>Langmuir</a:t>
            </a:r>
            <a:r>
              <a:rPr lang="zh-CN" altLang="en-US" sz="2000">
                <a:latin typeface="黑体" pitchFamily="49" charset="-122"/>
                <a:ea typeface="黑体" pitchFamily="49" charset="-122"/>
              </a:rPr>
              <a:t>吸附等温式；</a:t>
            </a:r>
          </a:p>
          <a:p>
            <a:r>
              <a:rPr lang="en-US" altLang="zh-CN" sz="2000">
                <a:latin typeface="黑体" pitchFamily="49" charset="-122"/>
                <a:ea typeface="黑体" pitchFamily="49" charset="-122"/>
              </a:rPr>
              <a:t>(3)</a:t>
            </a:r>
            <a:r>
              <a:rPr lang="zh-CN" altLang="en-US" sz="2000">
                <a:latin typeface="黑体" pitchFamily="49" charset="-122"/>
                <a:ea typeface="黑体" pitchFamily="49" charset="-122"/>
              </a:rPr>
              <a:t>在反应速率的讨论中对吸附过程亦可引用平衡近似和稳态近似处理法。</a:t>
            </a:r>
          </a:p>
        </p:txBody>
      </p:sp>
      <p:sp>
        <p:nvSpPr>
          <p:cNvPr id="4101" name="Text Box 3"/>
          <p:cNvSpPr txBox="1">
            <a:spLocks noChangeArrowheads="1"/>
          </p:cNvSpPr>
          <p:nvPr/>
        </p:nvSpPr>
        <p:spPr bwMode="auto">
          <a:xfrm>
            <a:off x="0" y="0"/>
            <a:ext cx="8964613" cy="1066800"/>
          </a:xfrm>
          <a:prstGeom prst="rect">
            <a:avLst/>
          </a:prstGeom>
          <a:noFill/>
          <a:ln w="9525">
            <a:noFill/>
            <a:miter lim="800000"/>
            <a:headEnd/>
            <a:tailEnd/>
          </a:ln>
        </p:spPr>
        <p:txBody>
          <a:bodyPr>
            <a:spAutoFit/>
          </a:bodyPr>
          <a:lstStyle/>
          <a:p>
            <a:pPr>
              <a:spcBef>
                <a:spcPct val="50000"/>
              </a:spcBef>
            </a:pPr>
            <a:r>
              <a:rPr lang="en-US" altLang="zh-CN" sz="3200">
                <a:solidFill>
                  <a:schemeClr val="accent2"/>
                </a:solidFill>
                <a:ea typeface="黑体" pitchFamily="49" charset="-122"/>
              </a:rPr>
              <a:t>4.5 </a:t>
            </a:r>
            <a:r>
              <a:rPr lang="zh-CN" altLang="en-US" sz="3200">
                <a:solidFill>
                  <a:schemeClr val="accent2"/>
                </a:solidFill>
                <a:ea typeface="黑体" pitchFamily="49" charset="-122"/>
              </a:rPr>
              <a:t>碳反应的半总包机理反应</a:t>
            </a:r>
          </a:p>
          <a:p>
            <a:r>
              <a:rPr lang="zh-CN" altLang="en-US" sz="3200">
                <a:solidFill>
                  <a:schemeClr val="accent2"/>
                </a:solidFill>
                <a:ea typeface="黑体" pitchFamily="49" charset="-122"/>
              </a:rPr>
              <a:t>    </a:t>
            </a:r>
            <a:r>
              <a:rPr lang="en-US" altLang="zh-CN" sz="3200">
                <a:solidFill>
                  <a:schemeClr val="accent2"/>
                </a:solidFill>
                <a:ea typeface="黑体" pitchFamily="49" charset="-122"/>
              </a:rPr>
              <a:t>Semi-Global    Intrinsic Kinetics </a:t>
            </a:r>
          </a:p>
        </p:txBody>
      </p:sp>
      <p:graphicFrame>
        <p:nvGraphicFramePr>
          <p:cNvPr id="4098" name="Object 4"/>
          <p:cNvGraphicFramePr>
            <a:graphicFrameLocks noChangeAspect="1"/>
          </p:cNvGraphicFramePr>
          <p:nvPr>
            <p:ph sz="half" idx="1"/>
          </p:nvPr>
        </p:nvGraphicFramePr>
        <p:xfrm>
          <a:off x="342900" y="3644900"/>
          <a:ext cx="3805238" cy="715963"/>
        </p:xfrm>
        <a:graphic>
          <a:graphicData uri="http://schemas.openxmlformats.org/presentationml/2006/ole">
            <p:oleObj spid="_x0000_s2050" name="Equation" r:id="rId4" imgW="1282680" imgH="241200" progId="Equation.DSMT4">
              <p:embed/>
            </p:oleObj>
          </a:graphicData>
        </a:graphic>
      </p:graphicFrame>
      <p:graphicFrame>
        <p:nvGraphicFramePr>
          <p:cNvPr id="4099" name="Object 6"/>
          <p:cNvGraphicFramePr>
            <a:graphicFrameLocks noChangeAspect="1"/>
          </p:cNvGraphicFramePr>
          <p:nvPr>
            <p:ph sz="half" idx="2"/>
          </p:nvPr>
        </p:nvGraphicFramePr>
        <p:xfrm>
          <a:off x="250825" y="4868863"/>
          <a:ext cx="3249613" cy="649287"/>
        </p:xfrm>
        <a:graphic>
          <a:graphicData uri="http://schemas.openxmlformats.org/presentationml/2006/ole">
            <p:oleObj spid="_x0000_s2051" name="Equation" r:id="rId5" imgW="1079280" imgH="215640" progId="Equation.DSMT4">
              <p:embed/>
            </p:oleObj>
          </a:graphicData>
        </a:graphic>
      </p:graphicFrame>
      <p:pic>
        <p:nvPicPr>
          <p:cNvPr id="4102" name="Picture 9" descr="2003112783426546"/>
          <p:cNvPicPr>
            <a:picLocks noChangeAspect="1" noChangeArrowheads="1"/>
          </p:cNvPicPr>
          <p:nvPr/>
        </p:nvPicPr>
        <p:blipFill>
          <a:blip r:embed="rId6"/>
          <a:srcRect l="16605" r="14745" b="17059"/>
          <a:stretch>
            <a:fillRect/>
          </a:stretch>
        </p:blipFill>
        <p:spPr bwMode="auto">
          <a:xfrm>
            <a:off x="5435600" y="3357563"/>
            <a:ext cx="3275013" cy="2824162"/>
          </a:xfrm>
          <a:prstGeom prst="rect">
            <a:avLst/>
          </a:prstGeom>
          <a:noFill/>
          <a:ln w="9525">
            <a:noFill/>
            <a:miter lim="800000"/>
            <a:headEnd/>
            <a:tailEnd/>
          </a:ln>
        </p:spPr>
      </p:pic>
      <p:grpSp>
        <p:nvGrpSpPr>
          <p:cNvPr id="2" name="Group 15"/>
          <p:cNvGrpSpPr>
            <a:grpSpLocks/>
          </p:cNvGrpSpPr>
          <p:nvPr/>
        </p:nvGrpSpPr>
        <p:grpSpPr bwMode="auto">
          <a:xfrm>
            <a:off x="5483225" y="3352800"/>
            <a:ext cx="374650" cy="423863"/>
            <a:chOff x="3454" y="2112"/>
            <a:chExt cx="236" cy="267"/>
          </a:xfrm>
        </p:grpSpPr>
        <p:sp>
          <p:nvSpPr>
            <p:cNvPr id="4111" name="Oval 10"/>
            <p:cNvSpPr>
              <a:spLocks noChangeAspect="1" noChangeArrowheads="1"/>
            </p:cNvSpPr>
            <p:nvPr/>
          </p:nvSpPr>
          <p:spPr bwMode="auto">
            <a:xfrm>
              <a:off x="3622" y="2112"/>
              <a:ext cx="68" cy="68"/>
            </a:xfrm>
            <a:prstGeom prst="ellipse">
              <a:avLst/>
            </a:prstGeom>
            <a:solidFill>
              <a:srgbClr val="FF0000"/>
            </a:solidFill>
            <a:ln w="9525">
              <a:solidFill>
                <a:srgbClr val="FF0000"/>
              </a:solidFill>
              <a:round/>
              <a:headEnd/>
              <a:tailEnd/>
            </a:ln>
          </p:spPr>
          <p:txBody>
            <a:bodyPr wrap="none" anchor="ctr"/>
            <a:lstStyle/>
            <a:p>
              <a:endParaRPr lang="zh-CN" altLang="en-US"/>
            </a:p>
          </p:txBody>
        </p:sp>
        <p:sp>
          <p:nvSpPr>
            <p:cNvPr id="4112" name="Line 11"/>
            <p:cNvSpPr>
              <a:spLocks noChangeShapeType="1"/>
            </p:cNvSpPr>
            <p:nvPr/>
          </p:nvSpPr>
          <p:spPr bwMode="auto">
            <a:xfrm rot="3078415" flipV="1">
              <a:off x="3455" y="2265"/>
              <a:ext cx="182" cy="45"/>
            </a:xfrm>
            <a:prstGeom prst="line">
              <a:avLst/>
            </a:prstGeom>
            <a:noFill/>
            <a:ln w="9525">
              <a:solidFill>
                <a:srgbClr val="FF0000"/>
              </a:solidFill>
              <a:round/>
              <a:headEnd/>
              <a:tailEnd type="triangle" w="med" len="med"/>
            </a:ln>
          </p:spPr>
          <p:txBody>
            <a:bodyPr/>
            <a:lstStyle/>
            <a:p>
              <a:endParaRPr lang="zh-CN" altLang="en-US"/>
            </a:p>
          </p:txBody>
        </p:sp>
        <p:sp>
          <p:nvSpPr>
            <p:cNvPr id="4113" name="Oval 12"/>
            <p:cNvSpPr>
              <a:spLocks noChangeAspect="1" noChangeArrowheads="1"/>
            </p:cNvSpPr>
            <p:nvPr/>
          </p:nvSpPr>
          <p:spPr bwMode="auto">
            <a:xfrm>
              <a:off x="3454" y="2197"/>
              <a:ext cx="68" cy="68"/>
            </a:xfrm>
            <a:prstGeom prst="ellipse">
              <a:avLst/>
            </a:prstGeom>
            <a:solidFill>
              <a:srgbClr val="FF0000"/>
            </a:solidFill>
            <a:ln w="9525">
              <a:solidFill>
                <a:srgbClr val="FF0000"/>
              </a:solidFill>
              <a:round/>
              <a:headEnd/>
              <a:tailEnd/>
            </a:ln>
          </p:spPr>
          <p:txBody>
            <a:bodyPr wrap="none" anchor="ctr"/>
            <a:lstStyle/>
            <a:p>
              <a:endParaRPr lang="zh-CN" altLang="en-US"/>
            </a:p>
          </p:txBody>
        </p:sp>
        <p:sp>
          <p:nvSpPr>
            <p:cNvPr id="4114" name="Line 13"/>
            <p:cNvSpPr>
              <a:spLocks noChangeShapeType="1"/>
            </p:cNvSpPr>
            <p:nvPr/>
          </p:nvSpPr>
          <p:spPr bwMode="auto">
            <a:xfrm>
              <a:off x="3651" y="2160"/>
              <a:ext cx="0" cy="136"/>
            </a:xfrm>
            <a:prstGeom prst="line">
              <a:avLst/>
            </a:prstGeom>
            <a:noFill/>
            <a:ln w="9525">
              <a:solidFill>
                <a:srgbClr val="FF0000"/>
              </a:solidFill>
              <a:round/>
              <a:headEnd/>
              <a:tailEnd type="stealth" w="med" len="med"/>
            </a:ln>
          </p:spPr>
          <p:txBody>
            <a:bodyPr/>
            <a:lstStyle/>
            <a:p>
              <a:endParaRPr lang="zh-CN" altLang="en-US"/>
            </a:p>
          </p:txBody>
        </p:sp>
        <p:sp>
          <p:nvSpPr>
            <p:cNvPr id="4115" name="Line 14"/>
            <p:cNvSpPr>
              <a:spLocks noChangeShapeType="1"/>
            </p:cNvSpPr>
            <p:nvPr/>
          </p:nvSpPr>
          <p:spPr bwMode="auto">
            <a:xfrm flipV="1">
              <a:off x="3470" y="2160"/>
              <a:ext cx="181" cy="91"/>
            </a:xfrm>
            <a:prstGeom prst="line">
              <a:avLst/>
            </a:prstGeom>
            <a:noFill/>
            <a:ln w="9525">
              <a:solidFill>
                <a:srgbClr val="FF0000"/>
              </a:solidFill>
              <a:round/>
              <a:headEnd/>
              <a:tailEnd/>
            </a:ln>
          </p:spPr>
          <p:txBody>
            <a:bodyPr/>
            <a:lstStyle/>
            <a:p>
              <a:endParaRPr lang="zh-CN" altLang="en-US"/>
            </a:p>
          </p:txBody>
        </p:sp>
      </p:grpSp>
      <p:sp>
        <p:nvSpPr>
          <p:cNvPr id="4104" name="Text Box 16"/>
          <p:cNvSpPr txBox="1">
            <a:spLocks noChangeArrowheads="1"/>
          </p:cNvSpPr>
          <p:nvPr/>
        </p:nvSpPr>
        <p:spPr bwMode="auto">
          <a:xfrm>
            <a:off x="1116013" y="5661025"/>
            <a:ext cx="1584325" cy="366713"/>
          </a:xfrm>
          <a:prstGeom prst="rect">
            <a:avLst/>
          </a:prstGeom>
          <a:noFill/>
          <a:ln w="9525">
            <a:noFill/>
            <a:miter lim="800000"/>
            <a:headEnd/>
            <a:tailEnd/>
          </a:ln>
        </p:spPr>
        <p:txBody>
          <a:bodyPr>
            <a:spAutoFit/>
          </a:bodyPr>
          <a:lstStyle/>
          <a:p>
            <a:pPr>
              <a:spcBef>
                <a:spcPct val="50000"/>
              </a:spcBef>
            </a:pPr>
            <a:r>
              <a:rPr lang="zh-CN" altLang="en-US">
                <a:solidFill>
                  <a:srgbClr val="FF3300"/>
                </a:solidFill>
              </a:rPr>
              <a:t>推导过程</a:t>
            </a:r>
          </a:p>
        </p:txBody>
      </p:sp>
      <p:grpSp>
        <p:nvGrpSpPr>
          <p:cNvPr id="3" name="Group 17"/>
          <p:cNvGrpSpPr>
            <a:grpSpLocks/>
          </p:cNvGrpSpPr>
          <p:nvPr/>
        </p:nvGrpSpPr>
        <p:grpSpPr bwMode="auto">
          <a:xfrm>
            <a:off x="7113588" y="3246438"/>
            <a:ext cx="374650" cy="423862"/>
            <a:chOff x="3454" y="2112"/>
            <a:chExt cx="236" cy="267"/>
          </a:xfrm>
        </p:grpSpPr>
        <p:sp>
          <p:nvSpPr>
            <p:cNvPr id="4106" name="Oval 18"/>
            <p:cNvSpPr>
              <a:spLocks noChangeAspect="1" noChangeArrowheads="1"/>
            </p:cNvSpPr>
            <p:nvPr/>
          </p:nvSpPr>
          <p:spPr bwMode="auto">
            <a:xfrm>
              <a:off x="3622" y="2112"/>
              <a:ext cx="68" cy="68"/>
            </a:xfrm>
            <a:prstGeom prst="ellipse">
              <a:avLst/>
            </a:prstGeom>
            <a:solidFill>
              <a:srgbClr val="FF0000"/>
            </a:solidFill>
            <a:ln w="9525">
              <a:solidFill>
                <a:srgbClr val="FF0000"/>
              </a:solidFill>
              <a:round/>
              <a:headEnd/>
              <a:tailEnd/>
            </a:ln>
          </p:spPr>
          <p:txBody>
            <a:bodyPr wrap="none" anchor="ctr"/>
            <a:lstStyle/>
            <a:p>
              <a:endParaRPr lang="zh-CN" altLang="en-US"/>
            </a:p>
          </p:txBody>
        </p:sp>
        <p:sp>
          <p:nvSpPr>
            <p:cNvPr id="4107" name="Line 19"/>
            <p:cNvSpPr>
              <a:spLocks noChangeShapeType="1"/>
            </p:cNvSpPr>
            <p:nvPr/>
          </p:nvSpPr>
          <p:spPr bwMode="auto">
            <a:xfrm rot="3078415" flipV="1">
              <a:off x="3455" y="2265"/>
              <a:ext cx="182" cy="45"/>
            </a:xfrm>
            <a:prstGeom prst="line">
              <a:avLst/>
            </a:prstGeom>
            <a:noFill/>
            <a:ln w="9525">
              <a:solidFill>
                <a:srgbClr val="FF0000"/>
              </a:solidFill>
              <a:round/>
              <a:headEnd/>
              <a:tailEnd type="triangle" w="med" len="med"/>
            </a:ln>
          </p:spPr>
          <p:txBody>
            <a:bodyPr/>
            <a:lstStyle/>
            <a:p>
              <a:endParaRPr lang="zh-CN" altLang="en-US"/>
            </a:p>
          </p:txBody>
        </p:sp>
        <p:sp>
          <p:nvSpPr>
            <p:cNvPr id="4108" name="Oval 20"/>
            <p:cNvSpPr>
              <a:spLocks noChangeAspect="1" noChangeArrowheads="1"/>
            </p:cNvSpPr>
            <p:nvPr/>
          </p:nvSpPr>
          <p:spPr bwMode="auto">
            <a:xfrm>
              <a:off x="3454" y="2197"/>
              <a:ext cx="68" cy="68"/>
            </a:xfrm>
            <a:prstGeom prst="ellipse">
              <a:avLst/>
            </a:prstGeom>
            <a:solidFill>
              <a:srgbClr val="FF0000"/>
            </a:solidFill>
            <a:ln w="9525">
              <a:solidFill>
                <a:srgbClr val="FF0000"/>
              </a:solidFill>
              <a:round/>
              <a:headEnd/>
              <a:tailEnd/>
            </a:ln>
          </p:spPr>
          <p:txBody>
            <a:bodyPr wrap="none" anchor="ctr"/>
            <a:lstStyle/>
            <a:p>
              <a:endParaRPr lang="zh-CN" altLang="en-US"/>
            </a:p>
          </p:txBody>
        </p:sp>
        <p:sp>
          <p:nvSpPr>
            <p:cNvPr id="4109" name="Line 21"/>
            <p:cNvSpPr>
              <a:spLocks noChangeShapeType="1"/>
            </p:cNvSpPr>
            <p:nvPr/>
          </p:nvSpPr>
          <p:spPr bwMode="auto">
            <a:xfrm>
              <a:off x="3651" y="2160"/>
              <a:ext cx="0" cy="136"/>
            </a:xfrm>
            <a:prstGeom prst="line">
              <a:avLst/>
            </a:prstGeom>
            <a:noFill/>
            <a:ln w="9525">
              <a:solidFill>
                <a:srgbClr val="FF0000"/>
              </a:solidFill>
              <a:round/>
              <a:headEnd/>
              <a:tailEnd type="stealth" w="med" len="med"/>
            </a:ln>
          </p:spPr>
          <p:txBody>
            <a:bodyPr/>
            <a:lstStyle/>
            <a:p>
              <a:endParaRPr lang="zh-CN" altLang="en-US"/>
            </a:p>
          </p:txBody>
        </p:sp>
        <p:sp>
          <p:nvSpPr>
            <p:cNvPr id="4110" name="Line 22"/>
            <p:cNvSpPr>
              <a:spLocks noChangeShapeType="1"/>
            </p:cNvSpPr>
            <p:nvPr/>
          </p:nvSpPr>
          <p:spPr bwMode="auto">
            <a:xfrm flipV="1">
              <a:off x="3470" y="2160"/>
              <a:ext cx="181" cy="91"/>
            </a:xfrm>
            <a:prstGeom prst="line">
              <a:avLst/>
            </a:prstGeom>
            <a:noFill/>
            <a:ln w="9525">
              <a:solidFill>
                <a:srgbClr val="FF0000"/>
              </a:solidFill>
              <a:round/>
              <a:headEnd/>
              <a:tailEnd/>
            </a:ln>
          </p:spPr>
          <p:txBody>
            <a:bodyPr/>
            <a:lstStyle/>
            <a:p>
              <a:endParaRPr lang="zh-CN" altLang="en-US"/>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2" name="Text Box 4"/>
          <p:cNvSpPr txBox="1">
            <a:spLocks noChangeArrowheads="1"/>
          </p:cNvSpPr>
          <p:nvPr/>
        </p:nvSpPr>
        <p:spPr bwMode="auto">
          <a:xfrm>
            <a:off x="539750" y="1412875"/>
            <a:ext cx="7848600" cy="519113"/>
          </a:xfrm>
          <a:prstGeom prst="rect">
            <a:avLst/>
          </a:prstGeom>
          <a:noFill/>
          <a:ln w="9525">
            <a:noFill/>
            <a:miter lim="800000"/>
            <a:headEnd/>
            <a:tailEnd/>
          </a:ln>
        </p:spPr>
        <p:txBody>
          <a:bodyPr>
            <a:spAutoFit/>
          </a:bodyPr>
          <a:lstStyle/>
          <a:p>
            <a:pPr>
              <a:spcBef>
                <a:spcPct val="50000"/>
              </a:spcBef>
            </a:pPr>
            <a:r>
              <a:rPr lang="en-US" altLang="zh-CN" sz="2800"/>
              <a:t>K</a:t>
            </a:r>
            <a:r>
              <a:rPr lang="en-US" altLang="zh-CN" sz="2800" baseline="-25000"/>
              <a:t>2</a:t>
            </a:r>
            <a:r>
              <a:rPr lang="zh-CN" altLang="en-US" sz="2800"/>
              <a:t>反应特别快</a:t>
            </a:r>
            <a:r>
              <a:rPr lang="en-US" altLang="zh-CN" sz="2800"/>
              <a:t>, K</a:t>
            </a:r>
            <a:r>
              <a:rPr lang="en-US" altLang="zh-CN" sz="2800" baseline="-25000"/>
              <a:t>-1</a:t>
            </a:r>
            <a:r>
              <a:rPr lang="zh-CN" altLang="en-US" sz="2800"/>
              <a:t>则可忽略，采用稳态近似</a:t>
            </a:r>
          </a:p>
        </p:txBody>
      </p:sp>
      <p:graphicFrame>
        <p:nvGraphicFramePr>
          <p:cNvPr id="5122" name="Object 5"/>
          <p:cNvGraphicFramePr>
            <a:graphicFrameLocks noChangeAspect="1"/>
          </p:cNvGraphicFramePr>
          <p:nvPr/>
        </p:nvGraphicFramePr>
        <p:xfrm>
          <a:off x="611188" y="549275"/>
          <a:ext cx="3730625" cy="639763"/>
        </p:xfrm>
        <a:graphic>
          <a:graphicData uri="http://schemas.openxmlformats.org/presentationml/2006/ole">
            <p:oleObj spid="_x0000_s3074" name="Equation" r:id="rId4" imgW="1257120" imgH="215640" progId="Equation.DSMT4">
              <p:embed/>
            </p:oleObj>
          </a:graphicData>
        </a:graphic>
      </p:graphicFrame>
      <p:graphicFrame>
        <p:nvGraphicFramePr>
          <p:cNvPr id="5123" name="Object 6"/>
          <p:cNvGraphicFramePr>
            <a:graphicFrameLocks noChangeAspect="1"/>
          </p:cNvGraphicFramePr>
          <p:nvPr/>
        </p:nvGraphicFramePr>
        <p:xfrm>
          <a:off x="5219700" y="549275"/>
          <a:ext cx="3249613" cy="649288"/>
        </p:xfrm>
        <a:graphic>
          <a:graphicData uri="http://schemas.openxmlformats.org/presentationml/2006/ole">
            <p:oleObj spid="_x0000_s3075" name="Equation" r:id="rId5" imgW="1079280" imgH="215640" progId="Equation.DSMT4">
              <p:embed/>
            </p:oleObj>
          </a:graphicData>
        </a:graphic>
      </p:graphicFrame>
      <p:graphicFrame>
        <p:nvGraphicFramePr>
          <p:cNvPr id="5124" name="Object 7"/>
          <p:cNvGraphicFramePr>
            <a:graphicFrameLocks noChangeAspect="1"/>
          </p:cNvGraphicFramePr>
          <p:nvPr>
            <p:ph sz="quarter" idx="1"/>
          </p:nvPr>
        </p:nvGraphicFramePr>
        <p:xfrm>
          <a:off x="755650" y="2636838"/>
          <a:ext cx="5075238" cy="1036637"/>
        </p:xfrm>
        <a:graphic>
          <a:graphicData uri="http://schemas.openxmlformats.org/presentationml/2006/ole">
            <p:oleObj spid="_x0000_s3076" name="Equation" r:id="rId6" imgW="1803240" imgH="368280" progId="Equation.DSMT4">
              <p:embed/>
            </p:oleObj>
          </a:graphicData>
        </a:graphic>
      </p:graphicFrame>
      <p:graphicFrame>
        <p:nvGraphicFramePr>
          <p:cNvPr id="5125" name="Object 9"/>
          <p:cNvGraphicFramePr>
            <a:graphicFrameLocks noChangeAspect="1"/>
          </p:cNvGraphicFramePr>
          <p:nvPr>
            <p:ph sz="quarter" idx="2"/>
          </p:nvPr>
        </p:nvGraphicFramePr>
        <p:xfrm>
          <a:off x="5292725" y="1989138"/>
          <a:ext cx="1441450" cy="517525"/>
        </p:xfrm>
        <a:graphic>
          <a:graphicData uri="http://schemas.openxmlformats.org/presentationml/2006/ole">
            <p:oleObj spid="_x0000_s3077" name="Equation" r:id="rId7" imgW="533160" imgH="190440" progId="Equation.DSMT4">
              <p:embed/>
            </p:oleObj>
          </a:graphicData>
        </a:graphic>
      </p:graphicFrame>
      <p:graphicFrame>
        <p:nvGraphicFramePr>
          <p:cNvPr id="5126" name="Object 12"/>
          <p:cNvGraphicFramePr>
            <a:graphicFrameLocks noChangeAspect="1"/>
          </p:cNvGraphicFramePr>
          <p:nvPr>
            <p:ph sz="quarter" idx="3"/>
          </p:nvPr>
        </p:nvGraphicFramePr>
        <p:xfrm>
          <a:off x="1250950" y="3965575"/>
          <a:ext cx="3976688" cy="971550"/>
        </p:xfrm>
        <a:graphic>
          <a:graphicData uri="http://schemas.openxmlformats.org/presentationml/2006/ole">
            <p:oleObj spid="_x0000_s3078" name="Equation" r:id="rId8" imgW="1663560" imgH="406080" progId="Equation.DSMT4">
              <p:embed/>
            </p:oleObj>
          </a:graphicData>
        </a:graphic>
      </p:graphicFrame>
      <p:graphicFrame>
        <p:nvGraphicFramePr>
          <p:cNvPr id="5127" name="Object 18"/>
          <p:cNvGraphicFramePr>
            <a:graphicFrameLocks noChangeAspect="1"/>
          </p:cNvGraphicFramePr>
          <p:nvPr/>
        </p:nvGraphicFramePr>
        <p:xfrm>
          <a:off x="971550" y="2060575"/>
          <a:ext cx="2552700" cy="641350"/>
        </p:xfrm>
        <a:graphic>
          <a:graphicData uri="http://schemas.openxmlformats.org/presentationml/2006/ole">
            <p:oleObj spid="_x0000_s3079" name="Equation" r:id="rId9" imgW="863280" imgH="215640" progId="Equation.DSMT4">
              <p:embed/>
            </p:oleObj>
          </a:graphicData>
        </a:graphic>
      </p:graphicFrame>
      <p:graphicFrame>
        <p:nvGraphicFramePr>
          <p:cNvPr id="5128" name="Object 19"/>
          <p:cNvGraphicFramePr>
            <a:graphicFrameLocks noChangeAspect="1"/>
          </p:cNvGraphicFramePr>
          <p:nvPr/>
        </p:nvGraphicFramePr>
        <p:xfrm>
          <a:off x="6516688" y="3429000"/>
          <a:ext cx="1458912" cy="790575"/>
        </p:xfrm>
        <a:graphic>
          <a:graphicData uri="http://schemas.openxmlformats.org/presentationml/2006/ole">
            <p:oleObj spid="_x0000_s3080" name="Equation" r:id="rId10" imgW="749160" imgH="406080" progId="Equation.DSMT4">
              <p:embed/>
            </p:oleObj>
          </a:graphicData>
        </a:graphic>
      </p:graphicFrame>
      <p:sp>
        <p:nvSpPr>
          <p:cNvPr id="5133" name="Line 21"/>
          <p:cNvSpPr>
            <a:spLocks noChangeShapeType="1"/>
          </p:cNvSpPr>
          <p:nvPr/>
        </p:nvSpPr>
        <p:spPr bwMode="auto">
          <a:xfrm>
            <a:off x="5867400" y="3141663"/>
            <a:ext cx="649288" cy="431800"/>
          </a:xfrm>
          <a:prstGeom prst="line">
            <a:avLst/>
          </a:prstGeom>
          <a:noFill/>
          <a:ln w="9525">
            <a:solidFill>
              <a:schemeClr val="tx1"/>
            </a:solidFill>
            <a:round/>
            <a:headEnd/>
            <a:tailEnd type="triangle" w="med" len="med"/>
          </a:ln>
        </p:spPr>
        <p:txBody>
          <a:bodyPr/>
          <a:lstStyle/>
          <a:p>
            <a:endParaRPr lang="zh-CN" altLang="en-US"/>
          </a:p>
        </p:txBody>
      </p:sp>
      <p:sp>
        <p:nvSpPr>
          <p:cNvPr id="5134" name="Line 22"/>
          <p:cNvSpPr>
            <a:spLocks noChangeShapeType="1"/>
          </p:cNvSpPr>
          <p:nvPr/>
        </p:nvSpPr>
        <p:spPr bwMode="auto">
          <a:xfrm flipH="1">
            <a:off x="5364163" y="3860800"/>
            <a:ext cx="1008062" cy="503238"/>
          </a:xfrm>
          <a:prstGeom prst="line">
            <a:avLst/>
          </a:prstGeom>
          <a:noFill/>
          <a:ln w="9525">
            <a:solidFill>
              <a:schemeClr val="tx1"/>
            </a:solidFill>
            <a:round/>
            <a:headEnd/>
            <a:tailEnd type="triangle" w="med" len="med"/>
          </a:ln>
        </p:spPr>
        <p:txBody>
          <a:bodyPr/>
          <a:lstStyle/>
          <a:p>
            <a:endParaRPr lang="zh-CN" altLang="en-US"/>
          </a:p>
        </p:txBody>
      </p:sp>
      <p:graphicFrame>
        <p:nvGraphicFramePr>
          <p:cNvPr id="5129" name="Object 25"/>
          <p:cNvGraphicFramePr>
            <a:graphicFrameLocks noChangeAspect="1"/>
          </p:cNvGraphicFramePr>
          <p:nvPr>
            <p:ph sz="quarter" idx="4"/>
          </p:nvPr>
        </p:nvGraphicFramePr>
        <p:xfrm>
          <a:off x="755650" y="5295900"/>
          <a:ext cx="1368425" cy="495300"/>
        </p:xfrm>
        <a:graphic>
          <a:graphicData uri="http://schemas.openxmlformats.org/presentationml/2006/ole">
            <p:oleObj spid="_x0000_s3081" name="Equation" r:id="rId11" imgW="596880" imgH="215640" progId="Equation.DSMT4">
              <p:embed/>
            </p:oleObj>
          </a:graphicData>
        </a:graphic>
      </p:graphicFrame>
      <p:graphicFrame>
        <p:nvGraphicFramePr>
          <p:cNvPr id="5130" name="Object 28"/>
          <p:cNvGraphicFramePr>
            <a:graphicFrameLocks noChangeAspect="1"/>
          </p:cNvGraphicFramePr>
          <p:nvPr/>
        </p:nvGraphicFramePr>
        <p:xfrm>
          <a:off x="2771775" y="5157788"/>
          <a:ext cx="2232025" cy="881062"/>
        </p:xfrm>
        <a:graphic>
          <a:graphicData uri="http://schemas.openxmlformats.org/presentationml/2006/ole">
            <p:oleObj spid="_x0000_s3082" name="Equation" r:id="rId12" imgW="545760" imgH="215640" progId="Equation.DSMT4">
              <p:embed/>
            </p:oleObj>
          </a:graphicData>
        </a:graphic>
      </p:graphicFrame>
      <p:sp>
        <p:nvSpPr>
          <p:cNvPr id="5135" name="Text Box 29"/>
          <p:cNvSpPr txBox="1">
            <a:spLocks noChangeArrowheads="1"/>
          </p:cNvSpPr>
          <p:nvPr/>
        </p:nvSpPr>
        <p:spPr bwMode="auto">
          <a:xfrm>
            <a:off x="0" y="0"/>
            <a:ext cx="4787900" cy="1004888"/>
          </a:xfrm>
          <a:prstGeom prst="rect">
            <a:avLst/>
          </a:prstGeom>
          <a:noFill/>
          <a:ln w="9525">
            <a:noFill/>
            <a:miter lim="800000"/>
            <a:headEnd/>
            <a:tailEnd/>
          </a:ln>
        </p:spPr>
        <p:txBody>
          <a:bodyPr>
            <a:spAutoFit/>
          </a:bodyPr>
          <a:lstStyle/>
          <a:p>
            <a:pPr>
              <a:spcBef>
                <a:spcPct val="50000"/>
              </a:spcBef>
            </a:pPr>
            <a:r>
              <a:rPr lang="zh-CN" altLang="en-US" sz="2400">
                <a:solidFill>
                  <a:srgbClr val="FF3300"/>
                </a:solidFill>
                <a:ea typeface="黑体" pitchFamily="49" charset="-122"/>
              </a:rPr>
              <a:t>第一种情况 </a:t>
            </a:r>
            <a:r>
              <a:rPr lang="en-US" altLang="zh-CN" sz="2400">
                <a:solidFill>
                  <a:srgbClr val="FF3300"/>
                </a:solidFill>
              </a:rPr>
              <a:t>C(O)</a:t>
            </a:r>
            <a:r>
              <a:rPr lang="zh-CN" altLang="en-US" sz="2400">
                <a:solidFill>
                  <a:srgbClr val="FF3300"/>
                </a:solidFill>
              </a:rPr>
              <a:t>弱吸附</a:t>
            </a:r>
          </a:p>
          <a:p>
            <a:pPr>
              <a:spcBef>
                <a:spcPct val="50000"/>
              </a:spcBef>
            </a:pPr>
            <a:endParaRPr lang="en-US" altLang="zh-CN" sz="2400">
              <a:solidFill>
                <a:srgbClr val="FF3300"/>
              </a:solidFill>
              <a:ea typeface="黑体" pitchFamily="49" charset="-122"/>
            </a:endParaRPr>
          </a:p>
        </p:txBody>
      </p:sp>
      <p:graphicFrame>
        <p:nvGraphicFramePr>
          <p:cNvPr id="5131" name="Object 30"/>
          <p:cNvGraphicFramePr>
            <a:graphicFrameLocks noChangeAspect="1"/>
          </p:cNvGraphicFramePr>
          <p:nvPr/>
        </p:nvGraphicFramePr>
        <p:xfrm>
          <a:off x="6084888" y="5229225"/>
          <a:ext cx="2851150" cy="758825"/>
        </p:xfrm>
        <a:graphic>
          <a:graphicData uri="http://schemas.openxmlformats.org/presentationml/2006/ole">
            <p:oleObj spid="_x0000_s3083" name="Equation" r:id="rId13" imgW="711000" imgH="190440" progId="Equation.DSMT4">
              <p:embed/>
            </p:oleObj>
          </a:graphicData>
        </a:graphic>
      </p:graphicFrame>
      <p:sp>
        <p:nvSpPr>
          <p:cNvPr id="5136" name="Oval 31"/>
          <p:cNvSpPr>
            <a:spLocks noChangeArrowheads="1"/>
          </p:cNvSpPr>
          <p:nvPr/>
        </p:nvSpPr>
        <p:spPr bwMode="auto">
          <a:xfrm>
            <a:off x="179388" y="2781300"/>
            <a:ext cx="2232025" cy="719138"/>
          </a:xfrm>
          <a:prstGeom prst="ellipse">
            <a:avLst/>
          </a:prstGeom>
          <a:noFill/>
          <a:ln w="9525">
            <a:solidFill>
              <a:srgbClr val="FF0000"/>
            </a:solidFill>
            <a:round/>
            <a:headEnd/>
            <a:tailEnd/>
          </a:ln>
        </p:spPr>
        <p:txBody>
          <a:bodyPr wrap="none" anchor="ctr"/>
          <a:lstStyle/>
          <a:p>
            <a:endParaRPr lang="zh-CN" altLang="en-US"/>
          </a:p>
        </p:txBody>
      </p:sp>
      <p:sp>
        <p:nvSpPr>
          <p:cNvPr id="5137" name="Text Box 32"/>
          <p:cNvSpPr txBox="1">
            <a:spLocks noChangeArrowheads="1"/>
          </p:cNvSpPr>
          <p:nvPr/>
        </p:nvSpPr>
        <p:spPr bwMode="auto">
          <a:xfrm>
            <a:off x="-92075" y="3217863"/>
            <a:ext cx="992188" cy="366712"/>
          </a:xfrm>
          <a:prstGeom prst="rect">
            <a:avLst/>
          </a:prstGeom>
          <a:noFill/>
          <a:ln w="9525">
            <a:noFill/>
            <a:miter lim="800000"/>
            <a:headEnd/>
            <a:tailEnd/>
          </a:ln>
        </p:spPr>
        <p:txBody>
          <a:bodyPr>
            <a:spAutoFit/>
          </a:bodyPr>
          <a:lstStyle/>
          <a:p>
            <a:endParaRPr lang="zh-CN" altLang="zh-CN"/>
          </a:p>
        </p:txBody>
      </p:sp>
      <p:sp>
        <p:nvSpPr>
          <p:cNvPr id="5138" name="Text Box 33"/>
          <p:cNvSpPr txBox="1">
            <a:spLocks noChangeArrowheads="1"/>
          </p:cNvSpPr>
          <p:nvPr/>
        </p:nvSpPr>
        <p:spPr bwMode="auto">
          <a:xfrm>
            <a:off x="0" y="3429000"/>
            <a:ext cx="1331913" cy="366713"/>
          </a:xfrm>
          <a:prstGeom prst="rect">
            <a:avLst/>
          </a:prstGeom>
          <a:noFill/>
          <a:ln w="9525">
            <a:noFill/>
            <a:miter lim="800000"/>
            <a:headEnd/>
            <a:tailEnd/>
          </a:ln>
        </p:spPr>
        <p:txBody>
          <a:bodyPr>
            <a:spAutoFit/>
          </a:bodyPr>
          <a:lstStyle/>
          <a:p>
            <a:pPr>
              <a:spcBef>
                <a:spcPct val="50000"/>
              </a:spcBef>
            </a:pPr>
            <a:r>
              <a:rPr lang="zh-CN" altLang="en-US"/>
              <a:t>表面反应</a:t>
            </a:r>
          </a:p>
        </p:txBody>
      </p:sp>
      <p:sp>
        <p:nvSpPr>
          <p:cNvPr id="5139" name="AutoShape 34">
            <a:hlinkClick r:id="" action="ppaction://noaction" highlightClick="1"/>
          </p:cNvPr>
          <p:cNvSpPr>
            <a:spLocks noChangeArrowheads="1"/>
          </p:cNvSpPr>
          <p:nvPr/>
        </p:nvSpPr>
        <p:spPr bwMode="auto">
          <a:xfrm>
            <a:off x="5219700" y="5445125"/>
            <a:ext cx="576263" cy="288925"/>
          </a:xfrm>
          <a:prstGeom prst="actionButtonForwardNext">
            <a:avLst/>
          </a:prstGeom>
          <a:solidFill>
            <a:srgbClr val="00FF00"/>
          </a:solidFill>
          <a:ln w="9525">
            <a:noFill/>
            <a:miter lim="800000"/>
            <a:headEnd/>
            <a:tailEnd/>
          </a:ln>
        </p:spPr>
        <p:txBody>
          <a:bodyPr wrap="none" anchor="ctr"/>
          <a:lstStyle/>
          <a:p>
            <a:endParaRPr lang="zh-CN" altLang="en-US"/>
          </a:p>
        </p:txBody>
      </p:sp>
      <p:sp>
        <p:nvSpPr>
          <p:cNvPr id="22" name="矩形 21"/>
          <p:cNvSpPr/>
          <p:nvPr/>
        </p:nvSpPr>
        <p:spPr>
          <a:xfrm>
            <a:off x="714375" y="3000375"/>
            <a:ext cx="357188" cy="285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3"/>
          <p:cNvGraphicFramePr>
            <a:graphicFrameLocks noChangeAspect="1"/>
          </p:cNvGraphicFramePr>
          <p:nvPr/>
        </p:nvGraphicFramePr>
        <p:xfrm>
          <a:off x="539750" y="476250"/>
          <a:ext cx="3806825" cy="715963"/>
        </p:xfrm>
        <a:graphic>
          <a:graphicData uri="http://schemas.openxmlformats.org/presentationml/2006/ole">
            <p:oleObj spid="_x0000_s4098" name="Equation" r:id="rId4" imgW="1282680" imgH="241200" progId="Equation.DSMT4">
              <p:embed/>
            </p:oleObj>
          </a:graphicData>
        </a:graphic>
      </p:graphicFrame>
      <p:graphicFrame>
        <p:nvGraphicFramePr>
          <p:cNvPr id="6147" name="Object 4"/>
          <p:cNvGraphicFramePr>
            <a:graphicFrameLocks noChangeAspect="1"/>
          </p:cNvGraphicFramePr>
          <p:nvPr/>
        </p:nvGraphicFramePr>
        <p:xfrm>
          <a:off x="5219700" y="549275"/>
          <a:ext cx="3249613" cy="649288"/>
        </p:xfrm>
        <a:graphic>
          <a:graphicData uri="http://schemas.openxmlformats.org/presentationml/2006/ole">
            <p:oleObj spid="_x0000_s4099" name="Equation" r:id="rId5" imgW="1079280" imgH="215640" progId="Equation.DSMT4">
              <p:embed/>
            </p:oleObj>
          </a:graphicData>
        </a:graphic>
      </p:graphicFrame>
      <p:graphicFrame>
        <p:nvGraphicFramePr>
          <p:cNvPr id="6148" name="Object 5"/>
          <p:cNvGraphicFramePr>
            <a:graphicFrameLocks noChangeAspect="1"/>
          </p:cNvGraphicFramePr>
          <p:nvPr>
            <p:ph sz="quarter" idx="1"/>
          </p:nvPr>
        </p:nvGraphicFramePr>
        <p:xfrm>
          <a:off x="755650" y="2647950"/>
          <a:ext cx="5075238" cy="1014413"/>
        </p:xfrm>
        <a:graphic>
          <a:graphicData uri="http://schemas.openxmlformats.org/presentationml/2006/ole">
            <p:oleObj spid="_x0000_s4100" name="Equation" r:id="rId6" imgW="1841400" imgH="368280" progId="Equation.DSMT4">
              <p:embed/>
            </p:oleObj>
          </a:graphicData>
        </a:graphic>
      </p:graphicFrame>
      <p:graphicFrame>
        <p:nvGraphicFramePr>
          <p:cNvPr id="6149" name="Object 6"/>
          <p:cNvGraphicFramePr>
            <a:graphicFrameLocks noChangeAspect="1"/>
          </p:cNvGraphicFramePr>
          <p:nvPr>
            <p:ph sz="quarter" idx="2"/>
          </p:nvPr>
        </p:nvGraphicFramePr>
        <p:xfrm>
          <a:off x="6659563" y="2060575"/>
          <a:ext cx="1441450" cy="517525"/>
        </p:xfrm>
        <a:graphic>
          <a:graphicData uri="http://schemas.openxmlformats.org/presentationml/2006/ole">
            <p:oleObj spid="_x0000_s4101" name="Equation" r:id="rId7" imgW="533160" imgH="190440" progId="Equation.DSMT4">
              <p:embed/>
            </p:oleObj>
          </a:graphicData>
        </a:graphic>
      </p:graphicFrame>
      <p:graphicFrame>
        <p:nvGraphicFramePr>
          <p:cNvPr id="6150" name="Object 7"/>
          <p:cNvGraphicFramePr>
            <a:graphicFrameLocks noChangeAspect="1"/>
          </p:cNvGraphicFramePr>
          <p:nvPr>
            <p:ph sz="quarter" idx="3"/>
          </p:nvPr>
        </p:nvGraphicFramePr>
        <p:xfrm>
          <a:off x="1250950" y="3976688"/>
          <a:ext cx="3976688" cy="949325"/>
        </p:xfrm>
        <a:graphic>
          <a:graphicData uri="http://schemas.openxmlformats.org/presentationml/2006/ole">
            <p:oleObj spid="_x0000_s4102" name="Equation" r:id="rId8" imgW="1701720" imgH="406080" progId="Equation.DSMT4">
              <p:embed/>
            </p:oleObj>
          </a:graphicData>
        </a:graphic>
      </p:graphicFrame>
      <p:graphicFrame>
        <p:nvGraphicFramePr>
          <p:cNvPr id="6151" name="Object 8"/>
          <p:cNvGraphicFramePr>
            <a:graphicFrameLocks noChangeAspect="1"/>
          </p:cNvGraphicFramePr>
          <p:nvPr/>
        </p:nvGraphicFramePr>
        <p:xfrm>
          <a:off x="971550" y="2060575"/>
          <a:ext cx="2552700" cy="641350"/>
        </p:xfrm>
        <a:graphic>
          <a:graphicData uri="http://schemas.openxmlformats.org/presentationml/2006/ole">
            <p:oleObj spid="_x0000_s4103" name="Equation" r:id="rId9" imgW="863280" imgH="215640" progId="Equation.DSMT4">
              <p:embed/>
            </p:oleObj>
          </a:graphicData>
        </a:graphic>
      </p:graphicFrame>
      <p:graphicFrame>
        <p:nvGraphicFramePr>
          <p:cNvPr id="6152" name="Object 9"/>
          <p:cNvGraphicFramePr>
            <a:graphicFrameLocks noChangeAspect="1"/>
          </p:cNvGraphicFramePr>
          <p:nvPr/>
        </p:nvGraphicFramePr>
        <p:xfrm>
          <a:off x="6191250" y="3429000"/>
          <a:ext cx="1533525" cy="790575"/>
        </p:xfrm>
        <a:graphic>
          <a:graphicData uri="http://schemas.openxmlformats.org/presentationml/2006/ole">
            <p:oleObj spid="_x0000_s4104" name="Equation" r:id="rId10" imgW="787320" imgH="406080" progId="Equation.DSMT4">
              <p:embed/>
            </p:oleObj>
          </a:graphicData>
        </a:graphic>
      </p:graphicFrame>
      <p:sp>
        <p:nvSpPr>
          <p:cNvPr id="6157" name="Line 10"/>
          <p:cNvSpPr>
            <a:spLocks noChangeShapeType="1"/>
          </p:cNvSpPr>
          <p:nvPr/>
        </p:nvSpPr>
        <p:spPr bwMode="auto">
          <a:xfrm>
            <a:off x="5867400" y="3141663"/>
            <a:ext cx="649288" cy="431800"/>
          </a:xfrm>
          <a:prstGeom prst="line">
            <a:avLst/>
          </a:prstGeom>
          <a:noFill/>
          <a:ln w="9525">
            <a:solidFill>
              <a:schemeClr val="tx1"/>
            </a:solidFill>
            <a:round/>
            <a:headEnd/>
            <a:tailEnd type="triangle" w="med" len="med"/>
          </a:ln>
        </p:spPr>
        <p:txBody>
          <a:bodyPr/>
          <a:lstStyle/>
          <a:p>
            <a:endParaRPr lang="zh-CN" altLang="en-US"/>
          </a:p>
        </p:txBody>
      </p:sp>
      <p:sp>
        <p:nvSpPr>
          <p:cNvPr id="6158" name="Line 11"/>
          <p:cNvSpPr>
            <a:spLocks noChangeShapeType="1"/>
          </p:cNvSpPr>
          <p:nvPr/>
        </p:nvSpPr>
        <p:spPr bwMode="auto">
          <a:xfrm flipH="1">
            <a:off x="5364163" y="3860800"/>
            <a:ext cx="1008062" cy="503238"/>
          </a:xfrm>
          <a:prstGeom prst="line">
            <a:avLst/>
          </a:prstGeom>
          <a:noFill/>
          <a:ln w="9525">
            <a:solidFill>
              <a:schemeClr val="tx1"/>
            </a:solidFill>
            <a:round/>
            <a:headEnd/>
            <a:tailEnd type="triangle" w="med" len="med"/>
          </a:ln>
        </p:spPr>
        <p:txBody>
          <a:bodyPr/>
          <a:lstStyle/>
          <a:p>
            <a:endParaRPr lang="zh-CN" altLang="en-US"/>
          </a:p>
        </p:txBody>
      </p:sp>
      <p:graphicFrame>
        <p:nvGraphicFramePr>
          <p:cNvPr id="6153" name="Object 12"/>
          <p:cNvGraphicFramePr>
            <a:graphicFrameLocks noChangeAspect="1"/>
          </p:cNvGraphicFramePr>
          <p:nvPr>
            <p:ph sz="quarter" idx="4"/>
          </p:nvPr>
        </p:nvGraphicFramePr>
        <p:xfrm>
          <a:off x="539750" y="5373688"/>
          <a:ext cx="1368425" cy="465137"/>
        </p:xfrm>
        <a:graphic>
          <a:graphicData uri="http://schemas.openxmlformats.org/presentationml/2006/ole">
            <p:oleObj spid="_x0000_s4105" name="Equation" r:id="rId11" imgW="634680" imgH="215640" progId="Equation.DSMT4">
              <p:embed/>
            </p:oleObj>
          </a:graphicData>
        </a:graphic>
      </p:graphicFrame>
      <p:sp>
        <p:nvSpPr>
          <p:cNvPr id="6159" name="Text Box 13"/>
          <p:cNvSpPr txBox="1">
            <a:spLocks noChangeArrowheads="1"/>
          </p:cNvSpPr>
          <p:nvPr/>
        </p:nvSpPr>
        <p:spPr bwMode="auto">
          <a:xfrm>
            <a:off x="539750" y="1412875"/>
            <a:ext cx="7848600" cy="519113"/>
          </a:xfrm>
          <a:prstGeom prst="rect">
            <a:avLst/>
          </a:prstGeom>
          <a:noFill/>
          <a:ln w="9525">
            <a:noFill/>
            <a:miter lim="800000"/>
            <a:headEnd/>
            <a:tailEnd/>
          </a:ln>
        </p:spPr>
        <p:txBody>
          <a:bodyPr>
            <a:spAutoFit/>
          </a:bodyPr>
          <a:lstStyle/>
          <a:p>
            <a:pPr>
              <a:spcBef>
                <a:spcPct val="50000"/>
              </a:spcBef>
            </a:pPr>
            <a:r>
              <a:rPr lang="en-US" altLang="zh-CN" sz="2800">
                <a:solidFill>
                  <a:srgbClr val="FF3300"/>
                </a:solidFill>
              </a:rPr>
              <a:t>K</a:t>
            </a:r>
            <a:r>
              <a:rPr lang="en-US" altLang="zh-CN" sz="2800" baseline="-25000">
                <a:solidFill>
                  <a:srgbClr val="FF3300"/>
                </a:solidFill>
              </a:rPr>
              <a:t>2</a:t>
            </a:r>
            <a:r>
              <a:rPr lang="zh-CN" altLang="en-US" sz="2800">
                <a:solidFill>
                  <a:srgbClr val="FF3300"/>
                </a:solidFill>
              </a:rPr>
              <a:t>反应特别慢</a:t>
            </a:r>
            <a:r>
              <a:rPr lang="en-US" altLang="zh-CN" sz="2800">
                <a:solidFill>
                  <a:srgbClr val="FF3300"/>
                </a:solidFill>
              </a:rPr>
              <a:t>, K</a:t>
            </a:r>
            <a:r>
              <a:rPr lang="en-US" altLang="zh-CN" sz="2800" baseline="-25000">
                <a:solidFill>
                  <a:srgbClr val="FF3300"/>
                </a:solidFill>
              </a:rPr>
              <a:t>-1</a:t>
            </a:r>
            <a:r>
              <a:rPr lang="zh-CN" altLang="en-US" sz="2800">
                <a:solidFill>
                  <a:srgbClr val="FF3300"/>
                </a:solidFill>
              </a:rPr>
              <a:t>则不可忽略，采用平衡近似</a:t>
            </a:r>
          </a:p>
        </p:txBody>
      </p:sp>
      <p:graphicFrame>
        <p:nvGraphicFramePr>
          <p:cNvPr id="6154" name="Object 14"/>
          <p:cNvGraphicFramePr>
            <a:graphicFrameLocks noChangeAspect="1"/>
          </p:cNvGraphicFramePr>
          <p:nvPr/>
        </p:nvGraphicFramePr>
        <p:xfrm>
          <a:off x="3944938" y="2133600"/>
          <a:ext cx="1611312" cy="517525"/>
        </p:xfrm>
        <a:graphic>
          <a:graphicData uri="http://schemas.openxmlformats.org/presentationml/2006/ole">
            <p:oleObj spid="_x0000_s4106" name="Equation" r:id="rId12" imgW="596880" imgH="190440" progId="Equation.DSMT4">
              <p:embed/>
            </p:oleObj>
          </a:graphicData>
        </a:graphic>
      </p:graphicFrame>
      <p:graphicFrame>
        <p:nvGraphicFramePr>
          <p:cNvPr id="6155" name="Object 15"/>
          <p:cNvGraphicFramePr>
            <a:graphicFrameLocks noChangeAspect="1"/>
          </p:cNvGraphicFramePr>
          <p:nvPr/>
        </p:nvGraphicFramePr>
        <p:xfrm>
          <a:off x="3635375" y="5229225"/>
          <a:ext cx="2089150" cy="977900"/>
        </p:xfrm>
        <a:graphic>
          <a:graphicData uri="http://schemas.openxmlformats.org/presentationml/2006/ole">
            <p:oleObj spid="_x0000_s4107" name="Equation" r:id="rId13" imgW="406080" imgH="190440" progId="Equation.DSMT4">
              <p:embed/>
            </p:oleObj>
          </a:graphicData>
        </a:graphic>
      </p:graphicFrame>
      <p:sp>
        <p:nvSpPr>
          <p:cNvPr id="6160" name="Text Box 16"/>
          <p:cNvSpPr txBox="1">
            <a:spLocks noChangeArrowheads="1"/>
          </p:cNvSpPr>
          <p:nvPr/>
        </p:nvSpPr>
        <p:spPr bwMode="auto">
          <a:xfrm>
            <a:off x="0" y="0"/>
            <a:ext cx="5435600" cy="457200"/>
          </a:xfrm>
          <a:prstGeom prst="rect">
            <a:avLst/>
          </a:prstGeom>
          <a:noFill/>
          <a:ln w="9525">
            <a:noFill/>
            <a:miter lim="800000"/>
            <a:headEnd/>
            <a:tailEnd/>
          </a:ln>
        </p:spPr>
        <p:txBody>
          <a:bodyPr>
            <a:spAutoFit/>
          </a:bodyPr>
          <a:lstStyle/>
          <a:p>
            <a:pPr>
              <a:spcBef>
                <a:spcPct val="50000"/>
              </a:spcBef>
            </a:pPr>
            <a:r>
              <a:rPr lang="zh-CN" altLang="en-US" sz="2400">
                <a:solidFill>
                  <a:srgbClr val="FF3300"/>
                </a:solidFill>
                <a:ea typeface="黑体" pitchFamily="49" charset="-122"/>
              </a:rPr>
              <a:t>第二种情况证明，</a:t>
            </a:r>
            <a:r>
              <a:rPr lang="en-US" altLang="zh-CN" sz="2400">
                <a:solidFill>
                  <a:srgbClr val="FF3300"/>
                </a:solidFill>
                <a:ea typeface="黑体" pitchFamily="49" charset="-122"/>
              </a:rPr>
              <a:t>C(O)</a:t>
            </a:r>
            <a:r>
              <a:rPr lang="zh-CN" altLang="en-US" sz="2400">
                <a:solidFill>
                  <a:srgbClr val="FF3300"/>
                </a:solidFill>
                <a:ea typeface="黑体" pitchFamily="49" charset="-122"/>
              </a:rPr>
              <a:t>强吸附</a:t>
            </a:r>
          </a:p>
        </p:txBody>
      </p:sp>
      <p:graphicFrame>
        <p:nvGraphicFramePr>
          <p:cNvPr id="6156" name="Object 17"/>
          <p:cNvGraphicFramePr>
            <a:graphicFrameLocks noChangeAspect="1"/>
          </p:cNvGraphicFramePr>
          <p:nvPr/>
        </p:nvGraphicFramePr>
        <p:xfrm>
          <a:off x="6659563" y="5373688"/>
          <a:ext cx="1944687" cy="677862"/>
        </p:xfrm>
        <a:graphic>
          <a:graphicData uri="http://schemas.openxmlformats.org/presentationml/2006/ole">
            <p:oleObj spid="_x0000_s4108" name="Equation" r:id="rId14" imgW="545760" imgH="190440" progId="Equation.DSMT4">
              <p:embed/>
            </p:oleObj>
          </a:graphicData>
        </a:graphic>
      </p:graphicFrame>
      <p:sp>
        <p:nvSpPr>
          <p:cNvPr id="19" name="矩形 18"/>
          <p:cNvSpPr/>
          <p:nvPr/>
        </p:nvSpPr>
        <p:spPr>
          <a:xfrm>
            <a:off x="571500" y="2857500"/>
            <a:ext cx="500063" cy="714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2"/>
          <p:cNvGraphicFramePr>
            <a:graphicFrameLocks noChangeAspect="1"/>
          </p:cNvGraphicFramePr>
          <p:nvPr>
            <p:ph sz="half" idx="1"/>
          </p:nvPr>
        </p:nvGraphicFramePr>
        <p:xfrm>
          <a:off x="1187450" y="3284538"/>
          <a:ext cx="6251575" cy="995362"/>
        </p:xfrm>
        <a:graphic>
          <a:graphicData uri="http://schemas.openxmlformats.org/presentationml/2006/ole">
            <p:oleObj spid="_x0000_s5122" name="Equation" r:id="rId4" imgW="2552400" imgH="406080" progId="Equation.DSMT4">
              <p:embed/>
            </p:oleObj>
          </a:graphicData>
        </a:graphic>
      </p:graphicFrame>
      <p:graphicFrame>
        <p:nvGraphicFramePr>
          <p:cNvPr id="7171" name="Object 9"/>
          <p:cNvGraphicFramePr>
            <a:graphicFrameLocks noChangeAspect="1"/>
          </p:cNvGraphicFramePr>
          <p:nvPr>
            <p:ph sz="quarter" idx="2"/>
          </p:nvPr>
        </p:nvGraphicFramePr>
        <p:xfrm>
          <a:off x="7451725" y="2492375"/>
          <a:ext cx="1000125" cy="855663"/>
        </p:xfrm>
        <a:graphic>
          <a:graphicData uri="http://schemas.openxmlformats.org/presentationml/2006/ole">
            <p:oleObj spid="_x0000_s5123" name="Equation" r:id="rId5" imgW="444240" imgH="380880" progId="Equation.DSMT4">
              <p:embed/>
            </p:oleObj>
          </a:graphicData>
        </a:graphic>
      </p:graphicFrame>
      <p:sp>
        <p:nvSpPr>
          <p:cNvPr id="7173" name="Text Box 4"/>
          <p:cNvSpPr txBox="1">
            <a:spLocks noChangeArrowheads="1"/>
          </p:cNvSpPr>
          <p:nvPr/>
        </p:nvSpPr>
        <p:spPr bwMode="auto">
          <a:xfrm>
            <a:off x="0" y="260350"/>
            <a:ext cx="6804025" cy="457200"/>
          </a:xfrm>
          <a:prstGeom prst="rect">
            <a:avLst/>
          </a:prstGeom>
          <a:noFill/>
          <a:ln w="9525">
            <a:noFill/>
            <a:miter lim="800000"/>
            <a:headEnd/>
            <a:tailEnd/>
          </a:ln>
        </p:spPr>
        <p:txBody>
          <a:bodyPr>
            <a:spAutoFit/>
          </a:bodyPr>
          <a:lstStyle/>
          <a:p>
            <a:pPr>
              <a:spcBef>
                <a:spcPct val="50000"/>
              </a:spcBef>
            </a:pPr>
            <a:r>
              <a:rPr lang="zh-CN" altLang="en-US" sz="2400">
                <a:solidFill>
                  <a:srgbClr val="FF3300"/>
                </a:solidFill>
                <a:ea typeface="黑体" pitchFamily="49" charset="-122"/>
              </a:rPr>
              <a:t>第三种情况证明 假如</a:t>
            </a:r>
            <a:r>
              <a:rPr lang="en-US" altLang="zh-CN" sz="2400">
                <a:solidFill>
                  <a:srgbClr val="FF3300"/>
                </a:solidFill>
                <a:ea typeface="黑体" pitchFamily="49" charset="-122"/>
              </a:rPr>
              <a:t>CO</a:t>
            </a:r>
            <a:r>
              <a:rPr lang="zh-CN" altLang="en-US" sz="2400">
                <a:solidFill>
                  <a:srgbClr val="FF3300"/>
                </a:solidFill>
                <a:ea typeface="黑体" pitchFamily="49" charset="-122"/>
              </a:rPr>
              <a:t>强吸附（其实不可能）</a:t>
            </a:r>
          </a:p>
        </p:txBody>
      </p:sp>
      <p:pic>
        <p:nvPicPr>
          <p:cNvPr id="7174" name="Picture 5" descr="10-116.gif"/>
          <p:cNvPicPr>
            <a:picLocks noChangeAspect="1" noChangeArrowheads="1"/>
          </p:cNvPicPr>
          <p:nvPr/>
        </p:nvPicPr>
        <p:blipFill>
          <a:blip r:embed="rId6"/>
          <a:srcRect/>
          <a:stretch>
            <a:fillRect/>
          </a:stretch>
        </p:blipFill>
        <p:spPr bwMode="auto">
          <a:xfrm>
            <a:off x="1403350" y="1484313"/>
            <a:ext cx="2089150" cy="1252537"/>
          </a:xfrm>
          <a:prstGeom prst="rect">
            <a:avLst/>
          </a:prstGeom>
          <a:noFill/>
          <a:ln w="9525">
            <a:solidFill>
              <a:srgbClr val="FF0000"/>
            </a:solidFill>
            <a:miter lim="800000"/>
            <a:headEnd/>
            <a:tailEnd/>
          </a:ln>
        </p:spPr>
      </p:pic>
      <p:graphicFrame>
        <p:nvGraphicFramePr>
          <p:cNvPr id="7172" name="Object 12"/>
          <p:cNvGraphicFramePr>
            <a:graphicFrameLocks noChangeAspect="1"/>
          </p:cNvGraphicFramePr>
          <p:nvPr>
            <p:ph sz="quarter" idx="3"/>
          </p:nvPr>
        </p:nvGraphicFramePr>
        <p:xfrm>
          <a:off x="3059113" y="4797425"/>
          <a:ext cx="5675312" cy="903288"/>
        </p:xfrm>
        <a:graphic>
          <a:graphicData uri="http://schemas.openxmlformats.org/presentationml/2006/ole">
            <p:oleObj spid="_x0000_s5124" name="Equation" r:id="rId7" imgW="2552400" imgH="406080" progId="Equation.DSMT4">
              <p:embed/>
            </p:oleObj>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317</Words>
  <PresentationFormat>全屏显示(4:3)</PresentationFormat>
  <Paragraphs>33</Paragraphs>
  <Slides>6</Slides>
  <Notes>6</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6</vt:i4>
      </vt:variant>
    </vt:vector>
  </HeadingPairs>
  <TitlesOfParts>
    <vt:vector size="8" baseType="lpstr">
      <vt:lpstr>Office 主题</vt:lpstr>
      <vt:lpstr>MathType 5.0 Equation</vt:lpstr>
      <vt:lpstr>幻灯片 1</vt:lpstr>
      <vt:lpstr>幻灯片 2</vt:lpstr>
      <vt:lpstr>幻灯片 3</vt:lpstr>
      <vt:lpstr>幻灯片 4</vt:lpstr>
      <vt:lpstr>幻灯片 5</vt:lpstr>
      <vt:lpstr>幻灯片 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GuoZheng</dc:creator>
  <cp:lastModifiedBy>GuoZheng</cp:lastModifiedBy>
  <cp:revision>1</cp:revision>
  <dcterms:created xsi:type="dcterms:W3CDTF">2011-06-10T04:08:08Z</dcterms:created>
  <dcterms:modified xsi:type="dcterms:W3CDTF">2011-06-10T04:08:17Z</dcterms:modified>
</cp:coreProperties>
</file>