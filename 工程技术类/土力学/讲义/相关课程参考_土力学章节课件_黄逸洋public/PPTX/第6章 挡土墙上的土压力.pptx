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0" r:id="rId1"/>
    <p:sldMasterId id="2147483744" r:id="rId2"/>
  </p:sldMasterIdLst>
  <p:notesMasterIdLst>
    <p:notesMasterId r:id="rId98"/>
  </p:notesMasterIdLst>
  <p:handoutMasterIdLst>
    <p:handoutMasterId r:id="rId99"/>
  </p:handoutMasterIdLst>
  <p:sldIdLst>
    <p:sldId id="256" r:id="rId3"/>
    <p:sldId id="766" r:id="rId4"/>
    <p:sldId id="806" r:id="rId5"/>
    <p:sldId id="807" r:id="rId6"/>
    <p:sldId id="1173" r:id="rId7"/>
    <p:sldId id="713" r:id="rId8"/>
    <p:sldId id="1172" r:id="rId9"/>
    <p:sldId id="1171" r:id="rId10"/>
    <p:sldId id="1174" r:id="rId11"/>
    <p:sldId id="1175" r:id="rId12"/>
    <p:sldId id="1176" r:id="rId13"/>
    <p:sldId id="1177" r:id="rId14"/>
    <p:sldId id="1178" r:id="rId15"/>
    <p:sldId id="1180" r:id="rId16"/>
    <p:sldId id="1182" r:id="rId17"/>
    <p:sldId id="1181" r:id="rId18"/>
    <p:sldId id="1179" r:id="rId19"/>
    <p:sldId id="715" r:id="rId20"/>
    <p:sldId id="1183" r:id="rId21"/>
    <p:sldId id="1184" r:id="rId22"/>
    <p:sldId id="1185" r:id="rId23"/>
    <p:sldId id="1186" r:id="rId24"/>
    <p:sldId id="925" r:id="rId25"/>
    <p:sldId id="1187" r:id="rId26"/>
    <p:sldId id="1188" r:id="rId27"/>
    <p:sldId id="1189" r:id="rId28"/>
    <p:sldId id="1190" r:id="rId29"/>
    <p:sldId id="1191" r:id="rId30"/>
    <p:sldId id="926" r:id="rId31"/>
    <p:sldId id="1193" r:id="rId32"/>
    <p:sldId id="1194" r:id="rId33"/>
    <p:sldId id="1195" r:id="rId34"/>
    <p:sldId id="1196" r:id="rId35"/>
    <p:sldId id="1197" r:id="rId36"/>
    <p:sldId id="1200" r:id="rId37"/>
    <p:sldId id="1201" r:id="rId38"/>
    <p:sldId id="1203" r:id="rId39"/>
    <p:sldId id="1202" r:id="rId40"/>
    <p:sldId id="1204" r:id="rId41"/>
    <p:sldId id="1205" r:id="rId42"/>
    <p:sldId id="1206" r:id="rId43"/>
    <p:sldId id="1208" r:id="rId44"/>
    <p:sldId id="1209" r:id="rId45"/>
    <p:sldId id="1210" r:id="rId46"/>
    <p:sldId id="1211" r:id="rId47"/>
    <p:sldId id="1192" r:id="rId48"/>
    <p:sldId id="1212" r:id="rId49"/>
    <p:sldId id="1213" r:id="rId50"/>
    <p:sldId id="1214" r:id="rId51"/>
    <p:sldId id="1216" r:id="rId52"/>
    <p:sldId id="1215" r:id="rId53"/>
    <p:sldId id="1217" r:id="rId54"/>
    <p:sldId id="1218" r:id="rId55"/>
    <p:sldId id="1219" r:id="rId56"/>
    <p:sldId id="1222" r:id="rId57"/>
    <p:sldId id="1221" r:id="rId58"/>
    <p:sldId id="1224" r:id="rId59"/>
    <p:sldId id="1225" r:id="rId60"/>
    <p:sldId id="1237" r:id="rId61"/>
    <p:sldId id="1236" r:id="rId62"/>
    <p:sldId id="1220" r:id="rId63"/>
    <p:sldId id="1278" r:id="rId64"/>
    <p:sldId id="929" r:id="rId65"/>
    <p:sldId id="1226" r:id="rId66"/>
    <p:sldId id="1227" r:id="rId67"/>
    <p:sldId id="1228" r:id="rId68"/>
    <p:sldId id="1230" r:id="rId69"/>
    <p:sldId id="1231" r:id="rId70"/>
    <p:sldId id="1232" r:id="rId71"/>
    <p:sldId id="1238" r:id="rId72"/>
    <p:sldId id="1240" r:id="rId73"/>
    <p:sldId id="1239" r:id="rId74"/>
    <p:sldId id="1242" r:id="rId75"/>
    <p:sldId id="1243" r:id="rId76"/>
    <p:sldId id="1244" r:id="rId77"/>
    <p:sldId id="1245" r:id="rId78"/>
    <p:sldId id="1246" r:id="rId79"/>
    <p:sldId id="1264" r:id="rId80"/>
    <p:sldId id="1247" r:id="rId81"/>
    <p:sldId id="1248" r:id="rId82"/>
    <p:sldId id="1249" r:id="rId83"/>
    <p:sldId id="1251" r:id="rId84"/>
    <p:sldId id="1250" r:id="rId85"/>
    <p:sldId id="1265" r:id="rId86"/>
    <p:sldId id="1253" r:id="rId87"/>
    <p:sldId id="1252" r:id="rId88"/>
    <p:sldId id="1255" r:id="rId89"/>
    <p:sldId id="1256" r:id="rId90"/>
    <p:sldId id="1257" r:id="rId91"/>
    <p:sldId id="1258" r:id="rId92"/>
    <p:sldId id="1259" r:id="rId93"/>
    <p:sldId id="1260" r:id="rId94"/>
    <p:sldId id="1261" r:id="rId95"/>
    <p:sldId id="1262" r:id="rId96"/>
    <p:sldId id="1263" r:id="rId97"/>
  </p:sldIdLst>
  <p:sldSz cx="9144000" cy="6858000" type="screen4x3"/>
  <p:notesSz cx="6797675" cy="9928225"/>
  <p:defaultTex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5" pos="2744" userDrawn="1">
          <p15:clr>
            <a:srgbClr val="A4A3A4"/>
          </p15:clr>
        </p15:guide>
        <p15:guide id="16" orient="horz" pos="2863" userDrawn="1">
          <p15:clr>
            <a:srgbClr val="A4A3A4"/>
          </p15:clr>
        </p15:guide>
        <p15:guide id="17" pos="1020" userDrawn="1">
          <p15:clr>
            <a:srgbClr val="A4A3A4"/>
          </p15:clr>
        </p15:guide>
      </p15:sldGuideLst>
    </p:ext>
    <p:ext uri="{2D200454-40CA-4A62-9FC3-DE9A4176ACB9}">
      <p15:notesGuideLst xmlns:p15="http://schemas.microsoft.com/office/powerpoint/2012/main">
        <p15:guide id="1" orient="horz" pos="2329">
          <p15:clr>
            <a:srgbClr val="A4A3A4"/>
          </p15:clr>
        </p15:guide>
        <p15:guide id="2" pos="8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0066"/>
    <a:srgbClr val="6699FF"/>
    <a:srgbClr val="3366FF"/>
    <a:srgbClr val="006600"/>
    <a:srgbClr val="996600"/>
    <a:srgbClr val="0000FF"/>
    <a:srgbClr val="9966FF"/>
    <a:srgbClr val="CC99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5311" autoAdjust="0"/>
  </p:normalViewPr>
  <p:slideViewPr>
    <p:cSldViewPr snapToGrid="0" showGuides="1">
      <p:cViewPr>
        <p:scale>
          <a:sx n="50" d="100"/>
          <a:sy n="50" d="100"/>
        </p:scale>
        <p:origin x="1288" y="856"/>
      </p:cViewPr>
      <p:guideLst>
        <p:guide pos="2744"/>
        <p:guide orient="horz" pos="2863"/>
        <p:guide pos="10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603"/>
    </p:cViewPr>
  </p:sorterViewPr>
  <p:notesViewPr>
    <p:cSldViewPr snapToGrid="0" showGuides="1">
      <p:cViewPr varScale="1">
        <p:scale>
          <a:sx n="105" d="100"/>
          <a:sy n="105" d="100"/>
        </p:scale>
        <p:origin x="1950" y="132"/>
      </p:cViewPr>
      <p:guideLst>
        <p:guide orient="horz" pos="2329"/>
        <p:guide pos="88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5" Type="http://schemas.openxmlformats.org/officeDocument/2006/relationships/image" Target="../media/image67.wmf"/><Relationship Id="rId4" Type="http://schemas.openxmlformats.org/officeDocument/2006/relationships/image" Target="../media/image6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26627" name="Rectangle 3"/>
          <p:cNvSpPr>
            <a:spLocks noGrp="1" noChangeArrowheads="1"/>
          </p:cNvSpPr>
          <p:nvPr>
            <p:ph type="dt" sz="quarter" idx="1"/>
          </p:nvPr>
        </p:nvSpPr>
        <p:spPr bwMode="auto">
          <a:xfrm>
            <a:off x="3852016"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26628" name="Rectangle 4"/>
          <p:cNvSpPr>
            <a:spLocks noGrp="1" noChangeArrowheads="1"/>
          </p:cNvSpPr>
          <p:nvPr>
            <p:ph type="ftr" sz="quarter" idx="2"/>
          </p:nvPr>
        </p:nvSpPr>
        <p:spPr bwMode="auto">
          <a:xfrm>
            <a:off x="0" y="9431814"/>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26629" name="Rectangle 5"/>
          <p:cNvSpPr>
            <a:spLocks noGrp="1" noChangeArrowheads="1"/>
          </p:cNvSpPr>
          <p:nvPr>
            <p:ph type="sldNum" sz="quarter" idx="3"/>
          </p:nvPr>
        </p:nvSpPr>
        <p:spPr bwMode="auto">
          <a:xfrm>
            <a:off x="3852016" y="9431814"/>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kumimoji="1" sz="1200"/>
            </a:lvl1pPr>
          </a:lstStyle>
          <a:p>
            <a:fld id="{339075F8-9FF0-4A6B-9E58-ABCA6ADD104F}" type="slidenum">
              <a:rPr lang="zh-CN" altLang="en-US"/>
              <a:pPr/>
              <a:t>‹#›</a:t>
            </a:fld>
            <a:endParaRPr lang="en-US" altLang="zh-CN"/>
          </a:p>
        </p:txBody>
      </p:sp>
    </p:spTree>
    <p:extLst>
      <p:ext uri="{BB962C8B-B14F-4D97-AF65-F5344CB8AC3E}">
        <p14:creationId xmlns:p14="http://schemas.microsoft.com/office/powerpoint/2010/main" val="1572215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5154" name="Rectangle 2"/>
          <p:cNvSpPr>
            <a:spLocks noGrp="1" noChangeArrowheads="1"/>
          </p:cNvSpPr>
          <p:nvPr>
            <p:ph type="hdr" sz="quarter"/>
          </p:nvPr>
        </p:nvSpPr>
        <p:spPr bwMode="auto">
          <a:xfrm>
            <a:off x="0"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spcAft>
                <a:spcPct val="0"/>
              </a:spcAft>
              <a:defRPr kumimoji="1" sz="1200"/>
            </a:lvl1pPr>
          </a:lstStyle>
          <a:p>
            <a:endParaRPr lang="zh-CN" altLang="en-US"/>
          </a:p>
        </p:txBody>
      </p:sp>
      <p:sp>
        <p:nvSpPr>
          <p:cNvPr id="945155" name="Rectangle 3"/>
          <p:cNvSpPr>
            <a:spLocks noGrp="1" noChangeArrowheads="1"/>
          </p:cNvSpPr>
          <p:nvPr>
            <p:ph type="dt" idx="1"/>
          </p:nvPr>
        </p:nvSpPr>
        <p:spPr bwMode="auto">
          <a:xfrm>
            <a:off x="3850443"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spcAft>
                <a:spcPct val="0"/>
              </a:spcAft>
              <a:defRPr kumimoji="1" sz="1200"/>
            </a:lvl1pPr>
          </a:lstStyle>
          <a:p>
            <a:endParaRPr lang="en-US" altLang="zh-CN"/>
          </a:p>
        </p:txBody>
      </p:sp>
      <p:sp>
        <p:nvSpPr>
          <p:cNvPr id="94515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5157" name="Rectangle 5"/>
          <p:cNvSpPr>
            <a:spLocks noGrp="1" noChangeArrowheads="1"/>
          </p:cNvSpPr>
          <p:nvPr>
            <p:ph type="body" sz="quarter" idx="3"/>
          </p:nvPr>
        </p:nvSpPr>
        <p:spPr bwMode="auto">
          <a:xfrm>
            <a:off x="679768" y="4715907"/>
            <a:ext cx="543814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945158" name="Rectangle 6"/>
          <p:cNvSpPr>
            <a:spLocks noGrp="1" noChangeArrowheads="1"/>
          </p:cNvSpPr>
          <p:nvPr>
            <p:ph type="ftr" sz="quarter" idx="4"/>
          </p:nvPr>
        </p:nvSpPr>
        <p:spPr bwMode="auto">
          <a:xfrm>
            <a:off x="0"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spcAft>
                <a:spcPct val="0"/>
              </a:spcAft>
              <a:defRPr kumimoji="1" sz="1200"/>
            </a:lvl1pPr>
          </a:lstStyle>
          <a:p>
            <a:endParaRPr lang="en-US" altLang="zh-CN"/>
          </a:p>
        </p:txBody>
      </p:sp>
      <p:sp>
        <p:nvSpPr>
          <p:cNvPr id="945159" name="Rectangle 7"/>
          <p:cNvSpPr>
            <a:spLocks noGrp="1" noChangeArrowheads="1"/>
          </p:cNvSpPr>
          <p:nvPr>
            <p:ph type="sldNum" sz="quarter" idx="5"/>
          </p:nvPr>
        </p:nvSpPr>
        <p:spPr bwMode="auto">
          <a:xfrm>
            <a:off x="3850443"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spcAft>
                <a:spcPct val="0"/>
              </a:spcAft>
              <a:defRPr kumimoji="1" sz="1200"/>
            </a:lvl1pPr>
          </a:lstStyle>
          <a:p>
            <a:fld id="{E94BE428-8424-49AF-A984-F0E6574F9E05}" type="slidenum">
              <a:rPr lang="zh-CN" altLang="en-US"/>
              <a:pPr/>
              <a:t>‹#›</a:t>
            </a:fld>
            <a:endParaRPr lang="en-US" altLang="zh-CN"/>
          </a:p>
        </p:txBody>
      </p:sp>
    </p:spTree>
    <p:extLst>
      <p:ext uri="{BB962C8B-B14F-4D97-AF65-F5344CB8AC3E}">
        <p14:creationId xmlns:p14="http://schemas.microsoft.com/office/powerpoint/2010/main" val="20524150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slide" Target="../slides/slide48.xml"/><Relationship Id="rId2" Type="http://schemas.openxmlformats.org/officeDocument/2006/relationships/notesMaster" Target="../notesMasters/notesMaster1.xml"/><Relationship Id="rId1" Type="http://schemas.openxmlformats.org/officeDocument/2006/relationships/vmlDrawing" Target="../drawings/vmlDrawing11.vml"/><Relationship Id="rId5" Type="http://schemas.openxmlformats.org/officeDocument/2006/relationships/image" Target="../media/image48.wmf"/><Relationship Id="rId4" Type="http://schemas.openxmlformats.org/officeDocument/2006/relationships/oleObject" Target="../embeddings/oleObject32.bin"/></Relationships>
</file>

<file path=ppt/notesSlides/_rels/notesSlide49.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notesMaster" Target="../notesMasters/notesMaster1.xml"/><Relationship Id="rId1" Type="http://schemas.openxmlformats.org/officeDocument/2006/relationships/vmlDrawing" Target="../drawings/vmlDrawing12.vml"/><Relationship Id="rId5" Type="http://schemas.openxmlformats.org/officeDocument/2006/relationships/image" Target="../media/image48.wmf"/><Relationship Id="rId4" Type="http://schemas.openxmlformats.org/officeDocument/2006/relationships/oleObject" Target="../embeddings/oleObject33.bin"/></Relationships>
</file>

<file path=ppt/notesSlides/_rels/notesSlide50.xml.rels><?xml version="1.0" encoding="UTF-8" standalone="yes"?>
<Relationships xmlns="http://schemas.openxmlformats.org/package/2006/relationships"><Relationship Id="rId3" Type="http://schemas.openxmlformats.org/officeDocument/2006/relationships/slide" Target="../slides/slide50.xml"/><Relationship Id="rId2" Type="http://schemas.openxmlformats.org/officeDocument/2006/relationships/notesMaster" Target="../notesMasters/notesMaster1.xml"/><Relationship Id="rId1" Type="http://schemas.openxmlformats.org/officeDocument/2006/relationships/vmlDrawing" Target="../drawings/vmlDrawing14.vml"/><Relationship Id="rId5" Type="http://schemas.openxmlformats.org/officeDocument/2006/relationships/image" Target="../media/image48.wmf"/><Relationship Id="rId4" Type="http://schemas.openxmlformats.org/officeDocument/2006/relationships/oleObject" Target="../embeddings/oleObject35.bin"/></Relationships>
</file>

<file path=ppt/notesSlides/_rels/notesSlide51.xml.rels><?xml version="1.0" encoding="UTF-8" standalone="yes"?>
<Relationships xmlns="http://schemas.openxmlformats.org/package/2006/relationships"><Relationship Id="rId3" Type="http://schemas.openxmlformats.org/officeDocument/2006/relationships/slide" Target="../slides/slide51.xml"/><Relationship Id="rId2" Type="http://schemas.openxmlformats.org/officeDocument/2006/relationships/notesMaster" Target="../notesMasters/notesMaster1.xml"/><Relationship Id="rId1" Type="http://schemas.openxmlformats.org/officeDocument/2006/relationships/vmlDrawing" Target="../drawings/vmlDrawing16.vml"/><Relationship Id="rId5" Type="http://schemas.openxmlformats.org/officeDocument/2006/relationships/image" Target="../media/image48.wmf"/><Relationship Id="rId4" Type="http://schemas.openxmlformats.org/officeDocument/2006/relationships/oleObject" Target="../embeddings/oleObject39.bin"/></Relationships>
</file>

<file path=ppt/notesSlides/_rels/notesSlide52.xml.rels><?xml version="1.0" encoding="UTF-8" standalone="yes"?>
<Relationships xmlns="http://schemas.openxmlformats.org/package/2006/relationships"><Relationship Id="rId3" Type="http://schemas.openxmlformats.org/officeDocument/2006/relationships/slide" Target="../slides/slide52.xml"/><Relationship Id="rId2" Type="http://schemas.openxmlformats.org/officeDocument/2006/relationships/notesMaster" Target="../notesMasters/notesMaster1.xml"/><Relationship Id="rId1" Type="http://schemas.openxmlformats.org/officeDocument/2006/relationships/vmlDrawing" Target="../drawings/vmlDrawing18.vml"/><Relationship Id="rId5" Type="http://schemas.openxmlformats.org/officeDocument/2006/relationships/image" Target="../media/image48.wmf"/><Relationship Id="rId4" Type="http://schemas.openxmlformats.org/officeDocument/2006/relationships/oleObject" Target="../embeddings/oleObject42.bin"/></Relationships>
</file>

<file path=ppt/notesSlides/_rels/notesSlide53.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vmlDrawing" Target="../drawings/vmlDrawing20.vml"/><Relationship Id="rId5" Type="http://schemas.openxmlformats.org/officeDocument/2006/relationships/image" Target="../media/image48.wmf"/><Relationship Id="rId4" Type="http://schemas.openxmlformats.org/officeDocument/2006/relationships/oleObject" Target="../embeddings/oleObject45.bin"/></Relationships>
</file>

<file path=ppt/notesSlides/_rels/notesSlide54.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vmlDrawing" Target="../drawings/vmlDrawing21.vml"/><Relationship Id="rId5" Type="http://schemas.openxmlformats.org/officeDocument/2006/relationships/image" Target="../media/image48.wmf"/><Relationship Id="rId4" Type="http://schemas.openxmlformats.org/officeDocument/2006/relationships/oleObject" Target="../embeddings/oleObject46.bin"/></Relationships>
</file>

<file path=ppt/notesSlides/_rels/notesSlide55.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vmlDrawing" Target="../drawings/vmlDrawing22.vml"/><Relationship Id="rId5" Type="http://schemas.openxmlformats.org/officeDocument/2006/relationships/image" Target="../media/image48.wmf"/><Relationship Id="rId4" Type="http://schemas.openxmlformats.org/officeDocument/2006/relationships/oleObject" Target="../embeddings/oleObject47.bin"/></Relationships>
</file>

<file path=ppt/notesSlides/_rels/notesSlide56.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vmlDrawing" Target="../drawings/vmlDrawing23.vml"/><Relationship Id="rId5" Type="http://schemas.openxmlformats.org/officeDocument/2006/relationships/image" Target="../media/image48.wmf"/><Relationship Id="rId4" Type="http://schemas.openxmlformats.org/officeDocument/2006/relationships/oleObject" Target="../embeddings/oleObject48.bin"/></Relationships>
</file>

<file path=ppt/notesSlides/_rels/notesSlide57.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notesMaster" Target="../notesMasters/notesMaster1.xml"/><Relationship Id="rId1" Type="http://schemas.openxmlformats.org/officeDocument/2006/relationships/vmlDrawing" Target="../drawings/vmlDrawing24.vml"/><Relationship Id="rId5" Type="http://schemas.openxmlformats.org/officeDocument/2006/relationships/image" Target="../media/image48.wmf"/><Relationship Id="rId4" Type="http://schemas.openxmlformats.org/officeDocument/2006/relationships/oleObject" Target="../embeddings/oleObject49.bin"/></Relationships>
</file>

<file path=ppt/notesSlides/_rels/notesSlide58.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notesMaster" Target="../notesMasters/notesMaster1.xml"/><Relationship Id="rId1" Type="http://schemas.openxmlformats.org/officeDocument/2006/relationships/vmlDrawing" Target="../drawings/vmlDrawing26.vml"/><Relationship Id="rId5" Type="http://schemas.openxmlformats.org/officeDocument/2006/relationships/image" Target="../media/image48.wmf"/><Relationship Id="rId4" Type="http://schemas.openxmlformats.org/officeDocument/2006/relationships/oleObject" Target="../embeddings/oleObject51.bin"/></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slide" Target="../slides/slide61.xml"/><Relationship Id="rId2" Type="http://schemas.openxmlformats.org/officeDocument/2006/relationships/notesMaster" Target="../notesMasters/notesMaster1.xml"/><Relationship Id="rId1" Type="http://schemas.openxmlformats.org/officeDocument/2006/relationships/vmlDrawing" Target="../drawings/vmlDrawing27.vml"/><Relationship Id="rId5" Type="http://schemas.openxmlformats.org/officeDocument/2006/relationships/image" Target="../media/image48.wmf"/><Relationship Id="rId4" Type="http://schemas.openxmlformats.org/officeDocument/2006/relationships/oleObject" Target="../embeddings/oleObject52.bin"/></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slide" Target="../slides/slide71.xml"/><Relationship Id="rId2" Type="http://schemas.openxmlformats.org/officeDocument/2006/relationships/notesMaster" Target="../notesMasters/notesMaster1.xml"/><Relationship Id="rId1" Type="http://schemas.openxmlformats.org/officeDocument/2006/relationships/vmlDrawing" Target="../drawings/vmlDrawing28.vml"/><Relationship Id="rId5" Type="http://schemas.openxmlformats.org/officeDocument/2006/relationships/image" Target="../media/image48.wmf"/><Relationship Id="rId4" Type="http://schemas.openxmlformats.org/officeDocument/2006/relationships/oleObject" Target="../embeddings/oleObject53.bin"/></Relationships>
</file>

<file path=ppt/notesSlides/_rels/notesSlide71.xml.rels><?xml version="1.0" encoding="UTF-8" standalone="yes"?>
<Relationships xmlns="http://schemas.openxmlformats.org/package/2006/relationships"><Relationship Id="rId3" Type="http://schemas.openxmlformats.org/officeDocument/2006/relationships/slide" Target="../slides/slide72.xml"/><Relationship Id="rId2" Type="http://schemas.openxmlformats.org/officeDocument/2006/relationships/notesMaster" Target="../notesMasters/notesMaster1.xml"/><Relationship Id="rId1" Type="http://schemas.openxmlformats.org/officeDocument/2006/relationships/vmlDrawing" Target="../drawings/vmlDrawing29.vml"/><Relationship Id="rId5" Type="http://schemas.openxmlformats.org/officeDocument/2006/relationships/image" Target="../media/image48.wmf"/><Relationship Id="rId4" Type="http://schemas.openxmlformats.org/officeDocument/2006/relationships/oleObject" Target="../embeddings/oleObject54.bin"/></Relationships>
</file>

<file path=ppt/notesSlides/_rels/notesSlide72.xml.rels><?xml version="1.0" encoding="UTF-8" standalone="yes"?>
<Relationships xmlns="http://schemas.openxmlformats.org/package/2006/relationships"><Relationship Id="rId3" Type="http://schemas.openxmlformats.org/officeDocument/2006/relationships/slide" Target="../slides/slide73.xml"/><Relationship Id="rId2" Type="http://schemas.openxmlformats.org/officeDocument/2006/relationships/notesMaster" Target="../notesMasters/notesMaster1.xml"/><Relationship Id="rId1" Type="http://schemas.openxmlformats.org/officeDocument/2006/relationships/vmlDrawing" Target="../drawings/vmlDrawing30.vml"/><Relationship Id="rId5" Type="http://schemas.openxmlformats.org/officeDocument/2006/relationships/image" Target="../media/image48.wmf"/><Relationship Id="rId4" Type="http://schemas.openxmlformats.org/officeDocument/2006/relationships/oleObject" Target="../embeddings/oleObject55.bin"/></Relationships>
</file>

<file path=ppt/notesSlides/_rels/notesSlide73.xml.rels><?xml version="1.0" encoding="UTF-8" standalone="yes"?>
<Relationships xmlns="http://schemas.openxmlformats.org/package/2006/relationships"><Relationship Id="rId3" Type="http://schemas.openxmlformats.org/officeDocument/2006/relationships/slide" Target="../slides/slide74.xml"/><Relationship Id="rId2" Type="http://schemas.openxmlformats.org/officeDocument/2006/relationships/notesMaster" Target="../notesMasters/notesMaster1.xml"/><Relationship Id="rId1" Type="http://schemas.openxmlformats.org/officeDocument/2006/relationships/vmlDrawing" Target="../drawings/vmlDrawing32.vml"/><Relationship Id="rId5" Type="http://schemas.openxmlformats.org/officeDocument/2006/relationships/image" Target="../media/image48.wmf"/><Relationship Id="rId4" Type="http://schemas.openxmlformats.org/officeDocument/2006/relationships/oleObject" Target="../embeddings/oleObject58.bin"/></Relationships>
</file>

<file path=ppt/notesSlides/_rels/notesSlide74.xml.rels><?xml version="1.0" encoding="UTF-8" standalone="yes"?>
<Relationships xmlns="http://schemas.openxmlformats.org/package/2006/relationships"><Relationship Id="rId3" Type="http://schemas.openxmlformats.org/officeDocument/2006/relationships/slide" Target="../slides/slide75.xml"/><Relationship Id="rId2" Type="http://schemas.openxmlformats.org/officeDocument/2006/relationships/notesMaster" Target="../notesMasters/notesMaster1.xml"/><Relationship Id="rId1" Type="http://schemas.openxmlformats.org/officeDocument/2006/relationships/vmlDrawing" Target="../drawings/vmlDrawing33.vml"/><Relationship Id="rId5" Type="http://schemas.openxmlformats.org/officeDocument/2006/relationships/image" Target="../media/image48.wmf"/><Relationship Id="rId4" Type="http://schemas.openxmlformats.org/officeDocument/2006/relationships/oleObject" Target="../embeddings/oleObject59.bin"/></Relationships>
</file>

<file path=ppt/notesSlides/_rels/notesSlide75.xml.rels><?xml version="1.0" encoding="UTF-8" standalone="yes"?>
<Relationships xmlns="http://schemas.openxmlformats.org/package/2006/relationships"><Relationship Id="rId3" Type="http://schemas.openxmlformats.org/officeDocument/2006/relationships/slide" Target="../slides/slide76.xml"/><Relationship Id="rId2" Type="http://schemas.openxmlformats.org/officeDocument/2006/relationships/notesMaster" Target="../notesMasters/notesMaster1.xml"/><Relationship Id="rId1" Type="http://schemas.openxmlformats.org/officeDocument/2006/relationships/vmlDrawing" Target="../drawings/vmlDrawing35.vml"/><Relationship Id="rId5" Type="http://schemas.openxmlformats.org/officeDocument/2006/relationships/image" Target="../media/image48.wmf"/><Relationship Id="rId4" Type="http://schemas.openxmlformats.org/officeDocument/2006/relationships/oleObject" Target="../embeddings/oleObject62.bin"/></Relationships>
</file>

<file path=ppt/notesSlides/_rels/notesSlide76.xml.rels><?xml version="1.0" encoding="UTF-8" standalone="yes"?>
<Relationships xmlns="http://schemas.openxmlformats.org/package/2006/relationships"><Relationship Id="rId3" Type="http://schemas.openxmlformats.org/officeDocument/2006/relationships/slide" Target="../slides/slide77.xml"/><Relationship Id="rId2" Type="http://schemas.openxmlformats.org/officeDocument/2006/relationships/notesMaster" Target="../notesMasters/notesMaster1.xml"/><Relationship Id="rId1" Type="http://schemas.openxmlformats.org/officeDocument/2006/relationships/vmlDrawing" Target="../drawings/vmlDrawing37.vml"/><Relationship Id="rId5" Type="http://schemas.openxmlformats.org/officeDocument/2006/relationships/image" Target="../media/image48.wmf"/><Relationship Id="rId4" Type="http://schemas.openxmlformats.org/officeDocument/2006/relationships/oleObject" Target="../embeddings/oleObject68.bin"/></Relationships>
</file>

<file path=ppt/notesSlides/_rels/notesSlide77.xml.rels><?xml version="1.0" encoding="UTF-8" standalone="yes"?>
<Relationships xmlns="http://schemas.openxmlformats.org/package/2006/relationships"><Relationship Id="rId3" Type="http://schemas.openxmlformats.org/officeDocument/2006/relationships/slide" Target="../slides/slide78.xml"/><Relationship Id="rId2" Type="http://schemas.openxmlformats.org/officeDocument/2006/relationships/notesMaster" Target="../notesMasters/notesMaster1.xml"/><Relationship Id="rId1" Type="http://schemas.openxmlformats.org/officeDocument/2006/relationships/vmlDrawing" Target="../drawings/vmlDrawing39.vml"/><Relationship Id="rId5" Type="http://schemas.openxmlformats.org/officeDocument/2006/relationships/image" Target="../media/image48.wmf"/><Relationship Id="rId4" Type="http://schemas.openxmlformats.org/officeDocument/2006/relationships/oleObject" Target="../embeddings/oleObject75.bin"/></Relationships>
</file>

<file path=ppt/notesSlides/_rels/notesSlide78.xml.rels><?xml version="1.0" encoding="UTF-8" standalone="yes"?>
<Relationships xmlns="http://schemas.openxmlformats.org/package/2006/relationships"><Relationship Id="rId3" Type="http://schemas.openxmlformats.org/officeDocument/2006/relationships/slide" Target="../slides/slide79.xml"/><Relationship Id="rId2" Type="http://schemas.openxmlformats.org/officeDocument/2006/relationships/notesMaster" Target="../notesMasters/notesMaster1.xml"/><Relationship Id="rId1" Type="http://schemas.openxmlformats.org/officeDocument/2006/relationships/vmlDrawing" Target="../drawings/vmlDrawing40.vml"/><Relationship Id="rId5" Type="http://schemas.openxmlformats.org/officeDocument/2006/relationships/image" Target="../media/image48.wmf"/><Relationship Id="rId4" Type="http://schemas.openxmlformats.org/officeDocument/2006/relationships/oleObject" Target="../embeddings/oleObject76.bin"/></Relationships>
</file>

<file path=ppt/notesSlides/_rels/notesSlide79.xml.rels><?xml version="1.0" encoding="UTF-8" standalone="yes"?>
<Relationships xmlns="http://schemas.openxmlformats.org/package/2006/relationships"><Relationship Id="rId3" Type="http://schemas.openxmlformats.org/officeDocument/2006/relationships/slide" Target="../slides/slide80.xml"/><Relationship Id="rId2" Type="http://schemas.openxmlformats.org/officeDocument/2006/relationships/notesMaster" Target="../notesMasters/notesMaster1.xml"/><Relationship Id="rId1" Type="http://schemas.openxmlformats.org/officeDocument/2006/relationships/vmlDrawing" Target="../drawings/vmlDrawing41.vml"/><Relationship Id="rId5" Type="http://schemas.openxmlformats.org/officeDocument/2006/relationships/image" Target="../media/image48.wmf"/><Relationship Id="rId4" Type="http://schemas.openxmlformats.org/officeDocument/2006/relationships/oleObject" Target="../embeddings/oleObject77.bin"/></Relationships>
</file>

<file path=ppt/notesSlides/_rels/notesSlide80.xml.rels><?xml version="1.0" encoding="UTF-8" standalone="yes"?>
<Relationships xmlns="http://schemas.openxmlformats.org/package/2006/relationships"><Relationship Id="rId3" Type="http://schemas.openxmlformats.org/officeDocument/2006/relationships/slide" Target="../slides/slide81.xml"/><Relationship Id="rId2" Type="http://schemas.openxmlformats.org/officeDocument/2006/relationships/notesMaster" Target="../notesMasters/notesMaster1.xml"/><Relationship Id="rId1" Type="http://schemas.openxmlformats.org/officeDocument/2006/relationships/vmlDrawing" Target="../drawings/vmlDrawing42.vml"/><Relationship Id="rId5" Type="http://schemas.openxmlformats.org/officeDocument/2006/relationships/image" Target="../media/image48.wmf"/><Relationship Id="rId4" Type="http://schemas.openxmlformats.org/officeDocument/2006/relationships/oleObject" Target="../embeddings/oleObject78.bin"/></Relationships>
</file>

<file path=ppt/notesSlides/_rels/notesSlide81.xml.rels><?xml version="1.0" encoding="UTF-8" standalone="yes"?>
<Relationships xmlns="http://schemas.openxmlformats.org/package/2006/relationships"><Relationship Id="rId3" Type="http://schemas.openxmlformats.org/officeDocument/2006/relationships/slide" Target="../slides/slide82.xml"/><Relationship Id="rId2" Type="http://schemas.openxmlformats.org/officeDocument/2006/relationships/notesMaster" Target="../notesMasters/notesMaster1.xml"/><Relationship Id="rId1" Type="http://schemas.openxmlformats.org/officeDocument/2006/relationships/vmlDrawing" Target="../drawings/vmlDrawing44.vml"/><Relationship Id="rId5" Type="http://schemas.openxmlformats.org/officeDocument/2006/relationships/image" Target="../media/image48.wmf"/><Relationship Id="rId4" Type="http://schemas.openxmlformats.org/officeDocument/2006/relationships/oleObject" Target="../embeddings/oleObject80.bin"/></Relationships>
</file>

<file path=ppt/notesSlides/_rels/notesSlide82.xml.rels><?xml version="1.0" encoding="UTF-8" standalone="yes"?>
<Relationships xmlns="http://schemas.openxmlformats.org/package/2006/relationships"><Relationship Id="rId3" Type="http://schemas.openxmlformats.org/officeDocument/2006/relationships/slide" Target="../slides/slide83.xml"/><Relationship Id="rId2" Type="http://schemas.openxmlformats.org/officeDocument/2006/relationships/notesMaster" Target="../notesMasters/notesMaster1.xml"/><Relationship Id="rId1" Type="http://schemas.openxmlformats.org/officeDocument/2006/relationships/vmlDrawing" Target="../drawings/vmlDrawing45.vml"/><Relationship Id="rId5" Type="http://schemas.openxmlformats.org/officeDocument/2006/relationships/image" Target="../media/image48.wmf"/><Relationship Id="rId4" Type="http://schemas.openxmlformats.org/officeDocument/2006/relationships/oleObject" Target="../embeddings/oleObject81.bin"/></Relationships>
</file>

<file path=ppt/notesSlides/_rels/notesSlide83.xml.rels><?xml version="1.0" encoding="UTF-8" standalone="yes"?>
<Relationships xmlns="http://schemas.openxmlformats.org/package/2006/relationships"><Relationship Id="rId3" Type="http://schemas.openxmlformats.org/officeDocument/2006/relationships/slide" Target="../slides/slide84.xml"/><Relationship Id="rId2" Type="http://schemas.openxmlformats.org/officeDocument/2006/relationships/notesMaster" Target="../notesMasters/notesMaster1.xml"/><Relationship Id="rId1" Type="http://schemas.openxmlformats.org/officeDocument/2006/relationships/vmlDrawing" Target="../drawings/vmlDrawing47.vml"/><Relationship Id="rId5" Type="http://schemas.openxmlformats.org/officeDocument/2006/relationships/image" Target="../media/image48.wmf"/><Relationship Id="rId4" Type="http://schemas.openxmlformats.org/officeDocument/2006/relationships/oleObject" Target="../embeddings/oleObject83.bin"/></Relationships>
</file>

<file path=ppt/notesSlides/_rels/notesSlide84.xml.rels><?xml version="1.0" encoding="UTF-8" standalone="yes"?>
<Relationships xmlns="http://schemas.openxmlformats.org/package/2006/relationships"><Relationship Id="rId3" Type="http://schemas.openxmlformats.org/officeDocument/2006/relationships/slide" Target="../slides/slide85.xml"/><Relationship Id="rId2" Type="http://schemas.openxmlformats.org/officeDocument/2006/relationships/notesMaster" Target="../notesMasters/notesMaster1.xml"/><Relationship Id="rId1" Type="http://schemas.openxmlformats.org/officeDocument/2006/relationships/vmlDrawing" Target="../drawings/vmlDrawing48.vml"/><Relationship Id="rId5" Type="http://schemas.openxmlformats.org/officeDocument/2006/relationships/image" Target="../media/image48.wmf"/><Relationship Id="rId4" Type="http://schemas.openxmlformats.org/officeDocument/2006/relationships/oleObject" Target="../embeddings/oleObject84.bin"/></Relationships>
</file>

<file path=ppt/notesSlides/_rels/notesSlide85.xml.rels><?xml version="1.0" encoding="UTF-8" standalone="yes"?>
<Relationships xmlns="http://schemas.openxmlformats.org/package/2006/relationships"><Relationship Id="rId3" Type="http://schemas.openxmlformats.org/officeDocument/2006/relationships/slide" Target="../slides/slide86.xml"/><Relationship Id="rId2" Type="http://schemas.openxmlformats.org/officeDocument/2006/relationships/notesMaster" Target="../notesMasters/notesMaster1.xml"/><Relationship Id="rId1" Type="http://schemas.openxmlformats.org/officeDocument/2006/relationships/vmlDrawing" Target="../drawings/vmlDrawing50.vml"/><Relationship Id="rId5" Type="http://schemas.openxmlformats.org/officeDocument/2006/relationships/image" Target="../media/image48.wmf"/><Relationship Id="rId4" Type="http://schemas.openxmlformats.org/officeDocument/2006/relationships/oleObject" Target="../embeddings/oleObject86.bin"/></Relationships>
</file>

<file path=ppt/notesSlides/_rels/notesSlide86.xml.rels><?xml version="1.0" encoding="UTF-8" standalone="yes"?>
<Relationships xmlns="http://schemas.openxmlformats.org/package/2006/relationships"><Relationship Id="rId3" Type="http://schemas.openxmlformats.org/officeDocument/2006/relationships/slide" Target="../slides/slide87.xml"/><Relationship Id="rId2" Type="http://schemas.openxmlformats.org/officeDocument/2006/relationships/notesMaster" Target="../notesMasters/notesMaster1.xml"/><Relationship Id="rId1" Type="http://schemas.openxmlformats.org/officeDocument/2006/relationships/vmlDrawing" Target="../drawings/vmlDrawing51.vml"/><Relationship Id="rId5" Type="http://schemas.openxmlformats.org/officeDocument/2006/relationships/image" Target="../media/image48.wmf"/><Relationship Id="rId4" Type="http://schemas.openxmlformats.org/officeDocument/2006/relationships/oleObject" Target="../embeddings/oleObject87.bin"/></Relationships>
</file>

<file path=ppt/notesSlides/_rels/notesSlide87.xml.rels><?xml version="1.0" encoding="UTF-8" standalone="yes"?>
<Relationships xmlns="http://schemas.openxmlformats.org/package/2006/relationships"><Relationship Id="rId3" Type="http://schemas.openxmlformats.org/officeDocument/2006/relationships/slide" Target="../slides/slide88.xml"/><Relationship Id="rId2" Type="http://schemas.openxmlformats.org/officeDocument/2006/relationships/notesMaster" Target="../notesMasters/notesMaster1.xml"/><Relationship Id="rId1" Type="http://schemas.openxmlformats.org/officeDocument/2006/relationships/vmlDrawing" Target="../drawings/vmlDrawing52.vml"/><Relationship Id="rId5" Type="http://schemas.openxmlformats.org/officeDocument/2006/relationships/image" Target="../media/image48.wmf"/><Relationship Id="rId4" Type="http://schemas.openxmlformats.org/officeDocument/2006/relationships/oleObject" Target="../embeddings/oleObject88.bin"/></Relationships>
</file>

<file path=ppt/notesSlides/_rels/notesSlide88.xml.rels><?xml version="1.0" encoding="UTF-8" standalone="yes"?>
<Relationships xmlns="http://schemas.openxmlformats.org/package/2006/relationships"><Relationship Id="rId3" Type="http://schemas.openxmlformats.org/officeDocument/2006/relationships/slide" Target="../slides/slide89.xml"/><Relationship Id="rId2" Type="http://schemas.openxmlformats.org/officeDocument/2006/relationships/notesMaster" Target="../notesMasters/notesMaster1.xml"/><Relationship Id="rId1" Type="http://schemas.openxmlformats.org/officeDocument/2006/relationships/vmlDrawing" Target="../drawings/vmlDrawing53.vml"/><Relationship Id="rId5" Type="http://schemas.openxmlformats.org/officeDocument/2006/relationships/image" Target="../media/image48.wmf"/><Relationship Id="rId4" Type="http://schemas.openxmlformats.org/officeDocument/2006/relationships/oleObject" Target="../embeddings/oleObject89.bin"/></Relationships>
</file>

<file path=ppt/notesSlides/_rels/notesSlide89.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notesMaster" Target="../notesMasters/notesMaster1.xml"/><Relationship Id="rId1" Type="http://schemas.openxmlformats.org/officeDocument/2006/relationships/vmlDrawing" Target="../drawings/vmlDrawing54.vml"/><Relationship Id="rId5" Type="http://schemas.openxmlformats.org/officeDocument/2006/relationships/image" Target="../media/image48.wmf"/><Relationship Id="rId4" Type="http://schemas.openxmlformats.org/officeDocument/2006/relationships/oleObject" Target="../embeddings/oleObject90.bin"/></Relationships>
</file>

<file path=ppt/notesSlides/_rels/notesSlide90.xml.rels><?xml version="1.0" encoding="UTF-8" standalone="yes"?>
<Relationships xmlns="http://schemas.openxmlformats.org/package/2006/relationships"><Relationship Id="rId3" Type="http://schemas.openxmlformats.org/officeDocument/2006/relationships/slide" Target="../slides/slide91.xml"/><Relationship Id="rId2" Type="http://schemas.openxmlformats.org/officeDocument/2006/relationships/notesMaster" Target="../notesMasters/notesMaster1.xml"/><Relationship Id="rId1" Type="http://schemas.openxmlformats.org/officeDocument/2006/relationships/vmlDrawing" Target="../drawings/vmlDrawing55.vml"/><Relationship Id="rId5" Type="http://schemas.openxmlformats.org/officeDocument/2006/relationships/image" Target="../media/image48.wmf"/><Relationship Id="rId4" Type="http://schemas.openxmlformats.org/officeDocument/2006/relationships/oleObject" Target="../embeddings/oleObject91.bin"/></Relationships>
</file>

<file path=ppt/notesSlides/_rels/notesSlide91.xml.rels><?xml version="1.0" encoding="UTF-8" standalone="yes"?>
<Relationships xmlns="http://schemas.openxmlformats.org/package/2006/relationships"><Relationship Id="rId3" Type="http://schemas.openxmlformats.org/officeDocument/2006/relationships/slide" Target="../slides/slide92.xml"/><Relationship Id="rId2" Type="http://schemas.openxmlformats.org/officeDocument/2006/relationships/notesMaster" Target="../notesMasters/notesMaster1.xml"/><Relationship Id="rId1" Type="http://schemas.openxmlformats.org/officeDocument/2006/relationships/vmlDrawing" Target="../drawings/vmlDrawing56.vml"/><Relationship Id="rId5" Type="http://schemas.openxmlformats.org/officeDocument/2006/relationships/image" Target="../media/image48.wmf"/><Relationship Id="rId4" Type="http://schemas.openxmlformats.org/officeDocument/2006/relationships/oleObject" Target="../embeddings/oleObject92.bin"/></Relationships>
</file>

<file path=ppt/notesSlides/_rels/notesSlide92.xml.rels><?xml version="1.0" encoding="UTF-8" standalone="yes"?>
<Relationships xmlns="http://schemas.openxmlformats.org/package/2006/relationships"><Relationship Id="rId3" Type="http://schemas.openxmlformats.org/officeDocument/2006/relationships/slide" Target="../slides/slide93.xml"/><Relationship Id="rId2" Type="http://schemas.openxmlformats.org/officeDocument/2006/relationships/notesMaster" Target="../notesMasters/notesMaster1.xml"/><Relationship Id="rId1" Type="http://schemas.openxmlformats.org/officeDocument/2006/relationships/vmlDrawing" Target="../drawings/vmlDrawing57.vml"/><Relationship Id="rId5" Type="http://schemas.openxmlformats.org/officeDocument/2006/relationships/image" Target="../media/image48.wmf"/><Relationship Id="rId4" Type="http://schemas.openxmlformats.org/officeDocument/2006/relationships/oleObject" Target="../embeddings/oleObject93.bin"/></Relationships>
</file>

<file path=ppt/notesSlides/_rels/notesSlide93.xml.rels><?xml version="1.0" encoding="UTF-8" standalone="yes"?>
<Relationships xmlns="http://schemas.openxmlformats.org/package/2006/relationships"><Relationship Id="rId3" Type="http://schemas.openxmlformats.org/officeDocument/2006/relationships/slide" Target="../slides/slide94.xml"/><Relationship Id="rId2" Type="http://schemas.openxmlformats.org/officeDocument/2006/relationships/notesMaster" Target="../notesMasters/notesMaster1.xml"/><Relationship Id="rId1" Type="http://schemas.openxmlformats.org/officeDocument/2006/relationships/vmlDrawing" Target="../drawings/vmlDrawing58.vml"/><Relationship Id="rId5" Type="http://schemas.openxmlformats.org/officeDocument/2006/relationships/image" Target="../media/image48.wmf"/><Relationship Id="rId4" Type="http://schemas.openxmlformats.org/officeDocument/2006/relationships/oleObject" Target="../embeddings/oleObject94.bin"/></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34445-AC5B-4A45-92D7-7EB668A5D382}" type="slidenum">
              <a:rPr lang="zh-CN" altLang="en-US"/>
              <a:pPr/>
              <a:t>1</a:t>
            </a:fld>
            <a:endParaRPr lang="en-US" altLang="zh-CN"/>
          </a:p>
        </p:txBody>
      </p:sp>
      <p:sp>
        <p:nvSpPr>
          <p:cNvPr id="946178" name="Rectangle 2"/>
          <p:cNvSpPr>
            <a:spLocks noGrp="1" noRot="1" noChangeAspect="1" noChangeArrowheads="1" noTextEdit="1"/>
          </p:cNvSpPr>
          <p:nvPr>
            <p:ph type="sldImg"/>
          </p:nvPr>
        </p:nvSpPr>
        <p:spPr>
          <a:ln/>
        </p:spPr>
      </p:sp>
      <p:sp>
        <p:nvSpPr>
          <p:cNvPr id="946179"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a:t>
            </a:fld>
            <a:endParaRPr lang="en-US" altLang="zh-CN"/>
          </a:p>
        </p:txBody>
      </p:sp>
    </p:spTree>
    <p:extLst>
      <p:ext uri="{BB962C8B-B14F-4D97-AF65-F5344CB8AC3E}">
        <p14:creationId xmlns:p14="http://schemas.microsoft.com/office/powerpoint/2010/main" val="642557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a:t>
            </a:fld>
            <a:endParaRPr lang="en-US" altLang="zh-CN"/>
          </a:p>
        </p:txBody>
      </p:sp>
    </p:spTree>
    <p:extLst>
      <p:ext uri="{BB962C8B-B14F-4D97-AF65-F5344CB8AC3E}">
        <p14:creationId xmlns:p14="http://schemas.microsoft.com/office/powerpoint/2010/main" val="4044387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a:t>
            </a:fld>
            <a:endParaRPr lang="en-US" altLang="zh-CN"/>
          </a:p>
        </p:txBody>
      </p:sp>
    </p:spTree>
    <p:extLst>
      <p:ext uri="{BB962C8B-B14F-4D97-AF65-F5344CB8AC3E}">
        <p14:creationId xmlns:p14="http://schemas.microsoft.com/office/powerpoint/2010/main" val="1799476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fld id="{F62C1F3A-B05F-4840-890C-E1587E42AEC8}" type="slidenum">
              <a:rPr lang="zh-CN" altLang="en-US" sz="1200"/>
              <a:pPr eaLnBrk="1" hangingPunct="1"/>
              <a:t>5</a:t>
            </a:fld>
            <a:endParaRPr lang="en-US" altLang="zh-CN"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ea typeface="宋体" charset="-122"/>
            </a:endParaRPr>
          </a:p>
        </p:txBody>
      </p:sp>
    </p:spTree>
    <p:extLst>
      <p:ext uri="{BB962C8B-B14F-4D97-AF65-F5344CB8AC3E}">
        <p14:creationId xmlns:p14="http://schemas.microsoft.com/office/powerpoint/2010/main" val="1143476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a:t>
            </a:fld>
            <a:endParaRPr lang="en-US" altLang="zh-CN"/>
          </a:p>
        </p:txBody>
      </p:sp>
    </p:spTree>
    <p:extLst>
      <p:ext uri="{BB962C8B-B14F-4D97-AF65-F5344CB8AC3E}">
        <p14:creationId xmlns:p14="http://schemas.microsoft.com/office/powerpoint/2010/main" val="3406365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a:t>
            </a:fld>
            <a:endParaRPr lang="en-US" altLang="zh-CN"/>
          </a:p>
        </p:txBody>
      </p:sp>
    </p:spTree>
    <p:extLst>
      <p:ext uri="{BB962C8B-B14F-4D97-AF65-F5344CB8AC3E}">
        <p14:creationId xmlns:p14="http://schemas.microsoft.com/office/powerpoint/2010/main" val="298347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a:t>
            </a:fld>
            <a:endParaRPr lang="en-US" altLang="zh-CN"/>
          </a:p>
        </p:txBody>
      </p:sp>
    </p:spTree>
    <p:extLst>
      <p:ext uri="{BB962C8B-B14F-4D97-AF65-F5344CB8AC3E}">
        <p14:creationId xmlns:p14="http://schemas.microsoft.com/office/powerpoint/2010/main" val="298347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a:t>
            </a:fld>
            <a:endParaRPr lang="en-US" altLang="zh-CN"/>
          </a:p>
        </p:txBody>
      </p:sp>
    </p:spTree>
    <p:extLst>
      <p:ext uri="{BB962C8B-B14F-4D97-AF65-F5344CB8AC3E}">
        <p14:creationId xmlns:p14="http://schemas.microsoft.com/office/powerpoint/2010/main" val="298347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10</a:t>
            </a:fld>
            <a:endParaRPr lang="en-US" altLang="zh-CN"/>
          </a:p>
        </p:txBody>
      </p:sp>
    </p:spTree>
    <p:extLst>
      <p:ext uri="{BB962C8B-B14F-4D97-AF65-F5344CB8AC3E}">
        <p14:creationId xmlns:p14="http://schemas.microsoft.com/office/powerpoint/2010/main" val="3609599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11</a:t>
            </a:fld>
            <a:endParaRPr lang="en-US" altLang="zh-CN"/>
          </a:p>
        </p:txBody>
      </p:sp>
    </p:spTree>
    <p:extLst>
      <p:ext uri="{BB962C8B-B14F-4D97-AF65-F5344CB8AC3E}">
        <p14:creationId xmlns:p14="http://schemas.microsoft.com/office/powerpoint/2010/main" val="4165532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12</a:t>
            </a:fld>
            <a:endParaRPr lang="en-US" altLang="zh-CN"/>
          </a:p>
        </p:txBody>
      </p:sp>
    </p:spTree>
    <p:extLst>
      <p:ext uri="{BB962C8B-B14F-4D97-AF65-F5344CB8AC3E}">
        <p14:creationId xmlns:p14="http://schemas.microsoft.com/office/powerpoint/2010/main" val="3706652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13</a:t>
            </a:fld>
            <a:endParaRPr lang="en-US" altLang="zh-CN"/>
          </a:p>
        </p:txBody>
      </p:sp>
    </p:spTree>
    <p:extLst>
      <p:ext uri="{BB962C8B-B14F-4D97-AF65-F5344CB8AC3E}">
        <p14:creationId xmlns:p14="http://schemas.microsoft.com/office/powerpoint/2010/main" val="3432031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14</a:t>
            </a:fld>
            <a:endParaRPr lang="en-US" altLang="zh-CN"/>
          </a:p>
        </p:txBody>
      </p:sp>
    </p:spTree>
    <p:extLst>
      <p:ext uri="{BB962C8B-B14F-4D97-AF65-F5344CB8AC3E}">
        <p14:creationId xmlns:p14="http://schemas.microsoft.com/office/powerpoint/2010/main" val="291861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15</a:t>
            </a:fld>
            <a:endParaRPr lang="en-US" altLang="zh-CN"/>
          </a:p>
        </p:txBody>
      </p:sp>
    </p:spTree>
    <p:extLst>
      <p:ext uri="{BB962C8B-B14F-4D97-AF65-F5344CB8AC3E}">
        <p14:creationId xmlns:p14="http://schemas.microsoft.com/office/powerpoint/2010/main" val="291861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16</a:t>
            </a:fld>
            <a:endParaRPr lang="en-US" altLang="zh-CN"/>
          </a:p>
        </p:txBody>
      </p:sp>
    </p:spTree>
    <p:extLst>
      <p:ext uri="{BB962C8B-B14F-4D97-AF65-F5344CB8AC3E}">
        <p14:creationId xmlns:p14="http://schemas.microsoft.com/office/powerpoint/2010/main" val="16597611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17</a:t>
            </a:fld>
            <a:endParaRPr lang="en-US" altLang="zh-CN"/>
          </a:p>
        </p:txBody>
      </p:sp>
    </p:spTree>
    <p:extLst>
      <p:ext uri="{BB962C8B-B14F-4D97-AF65-F5344CB8AC3E}">
        <p14:creationId xmlns:p14="http://schemas.microsoft.com/office/powerpoint/2010/main" val="669359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18</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19</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20</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21</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22</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23</a:t>
            </a:fld>
            <a:endParaRPr lang="en-US" altLang="zh-CN"/>
          </a:p>
        </p:txBody>
      </p:sp>
    </p:spTree>
    <p:extLst>
      <p:ext uri="{BB962C8B-B14F-4D97-AF65-F5344CB8AC3E}">
        <p14:creationId xmlns:p14="http://schemas.microsoft.com/office/powerpoint/2010/main" val="649388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24</a:t>
            </a:fld>
            <a:endParaRPr lang="en-US" altLang="zh-CN"/>
          </a:p>
        </p:txBody>
      </p:sp>
    </p:spTree>
    <p:extLst>
      <p:ext uri="{BB962C8B-B14F-4D97-AF65-F5344CB8AC3E}">
        <p14:creationId xmlns:p14="http://schemas.microsoft.com/office/powerpoint/2010/main" val="1799476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25</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26</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27</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28</a:t>
            </a:fld>
            <a:endParaRPr lang="en-US" altLang="zh-CN"/>
          </a:p>
        </p:txBody>
      </p:sp>
    </p:spTree>
    <p:extLst>
      <p:ext uri="{BB962C8B-B14F-4D97-AF65-F5344CB8AC3E}">
        <p14:creationId xmlns:p14="http://schemas.microsoft.com/office/powerpoint/2010/main" val="1799476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29</a:t>
            </a:fld>
            <a:endParaRPr lang="en-US" altLang="zh-CN"/>
          </a:p>
        </p:txBody>
      </p:sp>
    </p:spTree>
    <p:extLst>
      <p:ext uri="{BB962C8B-B14F-4D97-AF65-F5344CB8AC3E}">
        <p14:creationId xmlns:p14="http://schemas.microsoft.com/office/powerpoint/2010/main" val="20494026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30</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31</a:t>
            </a:fld>
            <a:endParaRPr lang="en-US" altLang="zh-CN"/>
          </a:p>
        </p:txBody>
      </p:sp>
    </p:spTree>
    <p:extLst>
      <p:ext uri="{BB962C8B-B14F-4D97-AF65-F5344CB8AC3E}">
        <p14:creationId xmlns:p14="http://schemas.microsoft.com/office/powerpoint/2010/main" val="3483332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32</a:t>
            </a:fld>
            <a:endParaRPr lang="en-US" altLang="zh-CN"/>
          </a:p>
        </p:txBody>
      </p:sp>
    </p:spTree>
    <p:extLst>
      <p:ext uri="{BB962C8B-B14F-4D97-AF65-F5344CB8AC3E}">
        <p14:creationId xmlns:p14="http://schemas.microsoft.com/office/powerpoint/2010/main" val="4233286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33</a:t>
            </a:fld>
            <a:endParaRPr lang="en-US" altLang="zh-CN"/>
          </a:p>
        </p:txBody>
      </p:sp>
    </p:spTree>
    <p:extLst>
      <p:ext uri="{BB962C8B-B14F-4D97-AF65-F5344CB8AC3E}">
        <p14:creationId xmlns:p14="http://schemas.microsoft.com/office/powerpoint/2010/main" val="5329244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34</a:t>
            </a:fld>
            <a:endParaRPr lang="en-US" altLang="zh-CN"/>
          </a:p>
        </p:txBody>
      </p:sp>
    </p:spTree>
    <p:extLst>
      <p:ext uri="{BB962C8B-B14F-4D97-AF65-F5344CB8AC3E}">
        <p14:creationId xmlns:p14="http://schemas.microsoft.com/office/powerpoint/2010/main" val="666284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35</a:t>
            </a:fld>
            <a:endParaRPr lang="en-US" altLang="zh-CN"/>
          </a:p>
        </p:txBody>
      </p:sp>
    </p:spTree>
    <p:extLst>
      <p:ext uri="{BB962C8B-B14F-4D97-AF65-F5344CB8AC3E}">
        <p14:creationId xmlns:p14="http://schemas.microsoft.com/office/powerpoint/2010/main" val="666284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36</a:t>
            </a:fld>
            <a:endParaRPr lang="en-US" altLang="zh-CN"/>
          </a:p>
        </p:txBody>
      </p:sp>
    </p:spTree>
    <p:extLst>
      <p:ext uri="{BB962C8B-B14F-4D97-AF65-F5344CB8AC3E}">
        <p14:creationId xmlns:p14="http://schemas.microsoft.com/office/powerpoint/2010/main" val="6662843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37</a:t>
            </a:fld>
            <a:endParaRPr lang="en-US" altLang="zh-CN"/>
          </a:p>
        </p:txBody>
      </p:sp>
    </p:spTree>
    <p:extLst>
      <p:ext uri="{BB962C8B-B14F-4D97-AF65-F5344CB8AC3E}">
        <p14:creationId xmlns:p14="http://schemas.microsoft.com/office/powerpoint/2010/main" val="6662843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38</a:t>
            </a:fld>
            <a:endParaRPr lang="en-US" altLang="zh-CN"/>
          </a:p>
        </p:txBody>
      </p:sp>
    </p:spTree>
    <p:extLst>
      <p:ext uri="{BB962C8B-B14F-4D97-AF65-F5344CB8AC3E}">
        <p14:creationId xmlns:p14="http://schemas.microsoft.com/office/powerpoint/2010/main" val="6662843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39</a:t>
            </a:fld>
            <a:endParaRPr lang="en-US" altLang="zh-CN"/>
          </a:p>
        </p:txBody>
      </p:sp>
    </p:spTree>
    <p:extLst>
      <p:ext uri="{BB962C8B-B14F-4D97-AF65-F5344CB8AC3E}">
        <p14:creationId xmlns:p14="http://schemas.microsoft.com/office/powerpoint/2010/main" val="7922335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40</a:t>
            </a:fld>
            <a:endParaRPr lang="en-US" altLang="zh-CN"/>
          </a:p>
        </p:txBody>
      </p:sp>
    </p:spTree>
    <p:extLst>
      <p:ext uri="{BB962C8B-B14F-4D97-AF65-F5344CB8AC3E}">
        <p14:creationId xmlns:p14="http://schemas.microsoft.com/office/powerpoint/2010/main" val="8905307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41</a:t>
            </a:fld>
            <a:endParaRPr lang="en-US" altLang="zh-CN"/>
          </a:p>
        </p:txBody>
      </p:sp>
    </p:spTree>
    <p:extLst>
      <p:ext uri="{BB962C8B-B14F-4D97-AF65-F5344CB8AC3E}">
        <p14:creationId xmlns:p14="http://schemas.microsoft.com/office/powerpoint/2010/main" val="36998157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42</a:t>
            </a:fld>
            <a:endParaRPr lang="en-US" altLang="zh-CN"/>
          </a:p>
        </p:txBody>
      </p:sp>
    </p:spTree>
    <p:extLst>
      <p:ext uri="{BB962C8B-B14F-4D97-AF65-F5344CB8AC3E}">
        <p14:creationId xmlns:p14="http://schemas.microsoft.com/office/powerpoint/2010/main" val="6705926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43</a:t>
            </a:fld>
            <a:endParaRPr lang="en-US" altLang="zh-CN"/>
          </a:p>
        </p:txBody>
      </p:sp>
    </p:spTree>
    <p:extLst>
      <p:ext uri="{BB962C8B-B14F-4D97-AF65-F5344CB8AC3E}">
        <p14:creationId xmlns:p14="http://schemas.microsoft.com/office/powerpoint/2010/main" val="4956068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44</a:t>
            </a:fld>
            <a:endParaRPr lang="en-US" altLang="zh-CN"/>
          </a:p>
        </p:txBody>
      </p:sp>
    </p:spTree>
    <p:extLst>
      <p:ext uri="{BB962C8B-B14F-4D97-AF65-F5344CB8AC3E}">
        <p14:creationId xmlns:p14="http://schemas.microsoft.com/office/powerpoint/2010/main" val="1201078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45</a:t>
            </a:fld>
            <a:endParaRPr lang="en-US" altLang="zh-CN"/>
          </a:p>
        </p:txBody>
      </p:sp>
    </p:spTree>
    <p:extLst>
      <p:ext uri="{BB962C8B-B14F-4D97-AF65-F5344CB8AC3E}">
        <p14:creationId xmlns:p14="http://schemas.microsoft.com/office/powerpoint/2010/main" val="17796150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46</a:t>
            </a:fld>
            <a:endParaRPr lang="en-US" altLang="zh-CN"/>
          </a:p>
        </p:txBody>
      </p:sp>
    </p:spTree>
    <p:extLst>
      <p:ext uri="{BB962C8B-B14F-4D97-AF65-F5344CB8AC3E}">
        <p14:creationId xmlns:p14="http://schemas.microsoft.com/office/powerpoint/2010/main" val="20494026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smtClean="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47</a:t>
            </a:fld>
            <a:endParaRPr lang="en-US" altLang="zh-CN"/>
          </a:p>
        </p:txBody>
      </p:sp>
    </p:spTree>
    <p:extLst>
      <p:ext uri="{BB962C8B-B14F-4D97-AF65-F5344CB8AC3E}">
        <p14:creationId xmlns:p14="http://schemas.microsoft.com/office/powerpoint/2010/main" val="2523821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48</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0759"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49</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1782"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50</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5862"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51</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3823"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52</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7909"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53</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89956"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54</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0977"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55</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4043"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2763824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56</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3023"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57</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6085"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31734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58</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7109"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070025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59</a:t>
            </a:fld>
            <a:endParaRPr lang="en-US" altLang="zh-CN"/>
          </a:p>
        </p:txBody>
      </p:sp>
    </p:spTree>
    <p:extLst>
      <p:ext uri="{BB962C8B-B14F-4D97-AF65-F5344CB8AC3E}">
        <p14:creationId xmlns:p14="http://schemas.microsoft.com/office/powerpoint/2010/main" val="13937395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60</a:t>
            </a:fld>
            <a:endParaRPr lang="en-US" altLang="zh-CN"/>
          </a:p>
        </p:txBody>
      </p:sp>
    </p:spTree>
    <p:extLst>
      <p:ext uri="{BB962C8B-B14F-4D97-AF65-F5344CB8AC3E}">
        <p14:creationId xmlns:p14="http://schemas.microsoft.com/office/powerpoint/2010/main" val="16560458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61</a:t>
            </a:fld>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3479224682"/>
              </p:ext>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692000"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68023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63</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64</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65</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66</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67</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68</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767" y="4715907"/>
            <a:ext cx="5522062" cy="4467701"/>
          </a:xfrm>
        </p:spPr>
        <p:txBody>
          <a:bodyPr/>
          <a:lstStyle/>
          <a:p>
            <a:pPr>
              <a:lnSpc>
                <a:spcPct val="125000"/>
              </a:lnSpc>
            </a:pPr>
            <a:endParaRPr lang="zh-CN" altLang="en-US" sz="1400" dirty="0"/>
          </a:p>
          <a:p>
            <a:pPr>
              <a:lnSpc>
                <a:spcPct val="125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69</a:t>
            </a:fld>
            <a:endParaRPr lang="en-US" altLang="zh-CN"/>
          </a:p>
        </p:txBody>
      </p:sp>
    </p:spTree>
    <p:extLst>
      <p:ext uri="{BB962C8B-B14F-4D97-AF65-F5344CB8AC3E}">
        <p14:creationId xmlns:p14="http://schemas.microsoft.com/office/powerpoint/2010/main" val="25844260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70</a:t>
            </a:fld>
            <a:endParaRPr lang="en-US" altLang="zh-CN"/>
          </a:p>
        </p:txBody>
      </p:sp>
    </p:spTree>
    <p:extLst>
      <p:ext uri="{BB962C8B-B14F-4D97-AF65-F5344CB8AC3E}">
        <p14:creationId xmlns:p14="http://schemas.microsoft.com/office/powerpoint/2010/main" val="18813777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71</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02205"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218570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72</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01183"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6476605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73</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05274"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516962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74</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06297"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8465310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75</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09365"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7546489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76</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10384"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067303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77</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13452"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3028016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78</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41019"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922510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79</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15499"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437805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80</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16519"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6499742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81</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18564"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633918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82</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22648"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83</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20608"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84</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45057"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917808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85</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25718"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86</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24695"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87</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0836"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88</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1860"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89</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2883"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90</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3905" name="公式" r:id="rId4" imgW="939392" imgH="215806" progId="Equation.3">
                  <p:embed/>
                </p:oleObj>
              </mc:Choice>
              <mc:Fallback>
                <p:oleObj name="公式" r:id="rId4" imgW="939392" imgH="21580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32447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91</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4925"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9761681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92</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5949"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4281486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93</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6972"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6557694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94</a:t>
            </a:fld>
            <a:endParaRPr lang="en-US" altLang="zh-CN"/>
          </a:p>
        </p:txBody>
      </p:sp>
      <p:graphicFrame>
        <p:nvGraphicFramePr>
          <p:cNvPr id="5" name="对象 4"/>
          <p:cNvGraphicFramePr>
            <a:graphicFrameLocks noChangeAspect="1"/>
          </p:cNvGraphicFramePr>
          <p:nvPr>
            <p:extLst/>
          </p:nvPr>
        </p:nvGraphicFramePr>
        <p:xfrm>
          <a:off x="4510100" y="6692359"/>
          <a:ext cx="1207216" cy="303361"/>
        </p:xfrm>
        <a:graphic>
          <a:graphicData uri="http://schemas.openxmlformats.org/presentationml/2006/ole">
            <mc:AlternateContent xmlns:mc="http://schemas.openxmlformats.org/markup-compatibility/2006">
              <mc:Choice xmlns:v="urn:schemas-microsoft-com:vml" Requires="v">
                <p:oleObj spid="_x0000_s1737994" name="公式" r:id="rId4" imgW="939392" imgH="215806" progId="Equation.3">
                  <p:embed/>
                </p:oleObj>
              </mc:Choice>
              <mc:Fallback>
                <p:oleObj name="公式" r:id="rId4" imgW="939392" imgH="215806" progId="Equation.3">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0100" y="6692359"/>
                        <a:ext cx="1207216" cy="3033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7490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zh-CN" altLang="en-US" sz="1400" dirty="0"/>
          </a:p>
        </p:txBody>
      </p:sp>
      <p:sp>
        <p:nvSpPr>
          <p:cNvPr id="4" name="灯片编号占位符 3"/>
          <p:cNvSpPr>
            <a:spLocks noGrp="1"/>
          </p:cNvSpPr>
          <p:nvPr>
            <p:ph type="sldNum" sz="quarter" idx="10"/>
          </p:nvPr>
        </p:nvSpPr>
        <p:spPr/>
        <p:txBody>
          <a:bodyPr/>
          <a:lstStyle/>
          <a:p>
            <a:fld id="{E94BE428-8424-49AF-A984-F0E6574F9E05}" type="slidenum">
              <a:rPr lang="zh-CN" altLang="en-US" smtClean="0"/>
              <a:pPr/>
              <a:t>95</a:t>
            </a:fld>
            <a:endParaRPr lang="en-US" altLang="zh-CN"/>
          </a:p>
        </p:txBody>
      </p:sp>
    </p:spTree>
    <p:extLst>
      <p:ext uri="{BB962C8B-B14F-4D97-AF65-F5344CB8AC3E}">
        <p14:creationId xmlns:p14="http://schemas.microsoft.com/office/powerpoint/2010/main" val="2010106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783372692"/>
      </p:ext>
    </p:extLst>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38772675"/>
      </p:ext>
    </p:extLst>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181125163"/>
      </p:ext>
    </p:extLst>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58199108"/>
      </p:ext>
    </p:extLst>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88919340"/>
      </p:ext>
    </p:extLst>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8697565"/>
      </p:ext>
    </p:extLst>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13" descr="xbhs"/>
          <p:cNvPicPr>
            <a:picLocks noChangeAspect="1" noChangeArrowheads="1"/>
          </p:cNvPicPr>
          <p:nvPr userDrawn="1"/>
        </p:nvPicPr>
        <p:blipFill>
          <a:blip r:embed="rId2">
            <a:extLst>
              <a:ext uri="{28A0092B-C50C-407E-A947-70E740481C1C}">
                <a14:useLocalDpi xmlns:a14="http://schemas.microsoft.com/office/drawing/2010/main" val="0"/>
              </a:ext>
            </a:extLst>
          </a:blip>
          <a:srcRect r="53241" b="57249"/>
          <a:stretch>
            <a:fillRect/>
          </a:stretch>
        </p:blipFill>
        <p:spPr bwMode="auto">
          <a:xfrm>
            <a:off x="1158760" y="4278004"/>
            <a:ext cx="1557808" cy="15671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教学2012\清华校徽2.gif"/>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64561" y="776294"/>
            <a:ext cx="1343025"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536846"/>
      </p:ext>
    </p:extLst>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711705459"/>
      </p:ext>
    </p:extLst>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708553134"/>
      </p:ext>
    </p:extLst>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27350387"/>
      </p:ext>
    </p:extLst>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63023204"/>
      </p:ext>
    </p:extLst>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2880700952"/>
      </p:ext>
    </p:extLst>
  </p:cSld>
  <p:clrMapOvr>
    <a:masterClrMapping/>
  </p:clrMapOvr>
  <p:transition spd="med">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86356754"/>
      </p:ext>
    </p:extLst>
  </p:cSld>
  <p:clrMapOvr>
    <a:masterClrMapping/>
  </p:clrMapOvr>
  <p:transition spd="med">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167351839"/>
      </p:ext>
    </p:extLst>
  </p:cSld>
  <p:clrMapOvr>
    <a:masterClrMapping/>
  </p:clrMapOvr>
  <p:transition spd="med">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53499012"/>
      </p:ext>
    </p:extLst>
  </p:cSld>
  <p:clrMapOvr>
    <a:masterClrMapping/>
  </p:clrMapOvr>
  <p:transition spd="med">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00666435"/>
      </p:ext>
    </p:extLst>
  </p:cSld>
  <p:clrMapOvr>
    <a:masterClrMapping/>
  </p:clrMapOvr>
  <p:transition spd="med">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871402199"/>
      </p:ext>
    </p:extLst>
  </p:cSld>
  <p:clrMapOvr>
    <a:masterClrMapping/>
  </p:clrMapOvr>
  <p:transition spd="med">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20991"/>
      </p:ext>
    </p:extLst>
  </p:cSld>
  <p:clrMapOvr>
    <a:masterClrMapping/>
  </p:clrMapOvr>
  <p:transition spd="med">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528210542"/>
      </p:ext>
    </p:extLst>
  </p:cSld>
  <p:clrMapOvr>
    <a:masterClrMapping/>
  </p:clrMapOvr>
  <p:transition spd="med">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602478664"/>
      </p:ext>
    </p:extLst>
  </p:cSld>
  <p:clrMapOvr>
    <a:masterClrMapping/>
  </p:clrMapOvr>
  <p:transition spd="med">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14883718"/>
      </p:ext>
    </p:extLst>
  </p:cSld>
  <p:clrMapOvr>
    <a:masterClrMapping/>
  </p:clrMapOvr>
  <p:transition spd="med">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7591282"/>
      </p:ext>
    </p:extLst>
  </p:cSld>
  <p:clrMapOvr>
    <a:masterClrMapping/>
  </p:clrMapOvr>
  <p:transition spd="med">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01426419"/>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94068" name="Group 148"/>
          <p:cNvGrpSpPr>
            <a:grpSpLocks/>
          </p:cNvGrpSpPr>
          <p:nvPr userDrawn="1"/>
        </p:nvGrpSpPr>
        <p:grpSpPr bwMode="auto">
          <a:xfrm>
            <a:off x="8031163" y="5454650"/>
            <a:ext cx="533400" cy="492125"/>
            <a:chOff x="96" y="2784"/>
            <a:chExt cx="1062" cy="981"/>
          </a:xfrm>
        </p:grpSpPr>
        <p:sp>
          <p:nvSpPr>
            <p:cNvPr id="594069" name="Freeform 149"/>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0" name="Freeform 150"/>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1" name="Freeform 151"/>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2" name="Freeform 152"/>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3" name="Freeform 153"/>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4" name="Freeform 154"/>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5" name="Freeform 155"/>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6" name="Freeform 156"/>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7" name="Freeform 157"/>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8" name="Freeform 158"/>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79" name="Freeform 159"/>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0" name="Freeform 160"/>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1" name="Freeform 161"/>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99CC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82" name="Group 162"/>
          <p:cNvGrpSpPr>
            <a:grpSpLocks/>
          </p:cNvGrpSpPr>
          <p:nvPr userDrawn="1"/>
        </p:nvGrpSpPr>
        <p:grpSpPr bwMode="auto">
          <a:xfrm>
            <a:off x="5805488" y="2881313"/>
            <a:ext cx="533400" cy="492125"/>
            <a:chOff x="96" y="2784"/>
            <a:chExt cx="1062" cy="981"/>
          </a:xfrm>
        </p:grpSpPr>
        <p:sp>
          <p:nvSpPr>
            <p:cNvPr id="594083" name="Freeform 163"/>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4" name="Freeform 164"/>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5" name="Freeform 165"/>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6" name="Freeform 166"/>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7" name="Freeform 167"/>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8" name="Freeform 168"/>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89" name="Freeform 169"/>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0" name="Freeform 170"/>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1" name="Freeform 171"/>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2" name="Freeform 172"/>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3" name="Freeform 173"/>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4" name="Freeform 174"/>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5" name="Freeform 175"/>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096" name="Group 176"/>
          <p:cNvGrpSpPr>
            <a:grpSpLocks/>
          </p:cNvGrpSpPr>
          <p:nvPr userDrawn="1"/>
        </p:nvGrpSpPr>
        <p:grpSpPr bwMode="auto">
          <a:xfrm>
            <a:off x="1646238" y="4876800"/>
            <a:ext cx="533400" cy="492125"/>
            <a:chOff x="96" y="2784"/>
            <a:chExt cx="1062" cy="981"/>
          </a:xfrm>
        </p:grpSpPr>
        <p:sp>
          <p:nvSpPr>
            <p:cNvPr id="594097" name="Freeform 177"/>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8" name="Freeform 178"/>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099" name="Freeform 179"/>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0" name="Freeform 180"/>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1" name="Freeform 181"/>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2" name="Freeform 182"/>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3" name="Freeform 183"/>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4" name="Freeform 184"/>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5" name="Freeform 185"/>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6" name="Freeform 186"/>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7" name="Freeform 187"/>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8" name="Freeform 188"/>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09" name="Freeform 189"/>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CC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10" name="Group 190"/>
          <p:cNvGrpSpPr>
            <a:grpSpLocks/>
          </p:cNvGrpSpPr>
          <p:nvPr userDrawn="1"/>
        </p:nvGrpSpPr>
        <p:grpSpPr bwMode="auto">
          <a:xfrm>
            <a:off x="5046663" y="4525963"/>
            <a:ext cx="533400" cy="492125"/>
            <a:chOff x="96" y="2784"/>
            <a:chExt cx="1062" cy="981"/>
          </a:xfrm>
        </p:grpSpPr>
        <p:sp>
          <p:nvSpPr>
            <p:cNvPr id="594111" name="Freeform 191"/>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2" name="Freeform 192"/>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3" name="Freeform 193"/>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4" name="Freeform 194"/>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5" name="Freeform 195"/>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6" name="Freeform 196"/>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7" name="Freeform 197"/>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8" name="Freeform 198"/>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19" name="Freeform 199"/>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0" name="Freeform 200"/>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1" name="Freeform 201"/>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2" name="Freeform 202"/>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3" name="Freeform 203"/>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CCFFC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594124" name="Group 204"/>
          <p:cNvGrpSpPr>
            <a:grpSpLocks/>
          </p:cNvGrpSpPr>
          <p:nvPr userDrawn="1"/>
        </p:nvGrpSpPr>
        <p:grpSpPr bwMode="auto">
          <a:xfrm>
            <a:off x="1096963" y="2486025"/>
            <a:ext cx="533400" cy="492125"/>
            <a:chOff x="96" y="2784"/>
            <a:chExt cx="1062" cy="981"/>
          </a:xfrm>
        </p:grpSpPr>
        <p:sp>
          <p:nvSpPr>
            <p:cNvPr id="594125" name="Freeform 205"/>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6" name="Freeform 206"/>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7" name="Freeform 207"/>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8" name="Freeform 208"/>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29" name="Freeform 209"/>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0" name="Freeform 210"/>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1" name="Freeform 211"/>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2" name="Freeform 212"/>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3" name="Freeform 213"/>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4" name="Freeform 214"/>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5" name="Freeform 215"/>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6" name="Freeform 216"/>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594137" name="Freeform 217"/>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rgbClr val="FFFF99"/>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pic>
        <p:nvPicPr>
          <p:cNvPr id="594193" name="Picture 273" descr="校徽blue2"/>
          <p:cNvPicPr>
            <a:picLocks noChangeAspect="1" noChangeArrowheads="1"/>
          </p:cNvPicPr>
          <p:nvPr userDrawn="1"/>
        </p:nvPicPr>
        <p:blipFill>
          <a:blip r:embed="rId13">
            <a:lum bright="90000" contrast="-6000"/>
            <a:extLst>
              <a:ext uri="{28A0092B-C50C-407E-A947-70E740481C1C}">
                <a14:useLocalDpi xmlns:a14="http://schemas.microsoft.com/office/drawing/2010/main" val="0"/>
              </a:ext>
            </a:extLst>
          </a:blip>
          <a:srcRect/>
          <a:stretch>
            <a:fillRect/>
          </a:stretch>
        </p:blipFill>
        <p:spPr bwMode="auto">
          <a:xfrm>
            <a:off x="5505450" y="280988"/>
            <a:ext cx="3387725" cy="339248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wipe dir="d"/>
  </p:transition>
  <p:timing>
    <p:tnLst>
      <p:par>
        <p:cTn id="1" dur="indefinite" restart="never" nodeType="tmRoot"/>
      </p:par>
    </p:tnLst>
  </p:timing>
  <p:txStyles>
    <p:titleStyle>
      <a:lvl1pPr algn="ctr" rtl="0" fontAlgn="base">
        <a:spcBef>
          <a:spcPct val="0"/>
        </a:spcBef>
        <a:spcAft>
          <a:spcPct val="0"/>
        </a:spcAft>
        <a:defRPr sz="4000">
          <a:solidFill>
            <a:schemeClr val="tx1"/>
          </a:solidFill>
          <a:latin typeface="+mj-lt"/>
          <a:ea typeface="+mj-ea"/>
          <a:cs typeface="+mj-cs"/>
        </a:defRPr>
      </a:lvl1pPr>
      <a:lvl2pPr algn="ctr" rtl="0" fontAlgn="base">
        <a:spcBef>
          <a:spcPct val="0"/>
        </a:spcBef>
        <a:spcAft>
          <a:spcPct val="0"/>
        </a:spcAft>
        <a:defRPr sz="4000">
          <a:solidFill>
            <a:schemeClr val="tx1"/>
          </a:solidFill>
          <a:latin typeface="Arial" charset="0"/>
          <a:ea typeface="华文新魏" pitchFamily="2" charset="-122"/>
        </a:defRPr>
      </a:lvl2pPr>
      <a:lvl3pPr algn="ctr" rtl="0" fontAlgn="base">
        <a:spcBef>
          <a:spcPct val="0"/>
        </a:spcBef>
        <a:spcAft>
          <a:spcPct val="0"/>
        </a:spcAft>
        <a:defRPr sz="4000">
          <a:solidFill>
            <a:schemeClr val="tx1"/>
          </a:solidFill>
          <a:latin typeface="Arial" charset="0"/>
          <a:ea typeface="华文新魏" pitchFamily="2" charset="-122"/>
        </a:defRPr>
      </a:lvl3pPr>
      <a:lvl4pPr algn="ctr" rtl="0" fontAlgn="base">
        <a:spcBef>
          <a:spcPct val="0"/>
        </a:spcBef>
        <a:spcAft>
          <a:spcPct val="0"/>
        </a:spcAft>
        <a:defRPr sz="4000">
          <a:solidFill>
            <a:schemeClr val="tx1"/>
          </a:solidFill>
          <a:latin typeface="Arial" charset="0"/>
          <a:ea typeface="华文新魏" pitchFamily="2" charset="-122"/>
        </a:defRPr>
      </a:lvl4pPr>
      <a:lvl5pPr algn="ctr" rtl="0" fontAlgn="base">
        <a:spcBef>
          <a:spcPct val="0"/>
        </a:spcBef>
        <a:spcAft>
          <a:spcPct val="0"/>
        </a:spcAft>
        <a:defRPr sz="4000">
          <a:solidFill>
            <a:schemeClr val="tx1"/>
          </a:solidFill>
          <a:latin typeface="Arial" charset="0"/>
          <a:ea typeface="华文新魏" pitchFamily="2" charset="-122"/>
        </a:defRPr>
      </a:lvl5pPr>
      <a:lvl6pPr marL="457200" algn="ctr" rtl="0" fontAlgn="base">
        <a:spcBef>
          <a:spcPct val="0"/>
        </a:spcBef>
        <a:spcAft>
          <a:spcPct val="0"/>
        </a:spcAft>
        <a:defRPr sz="4000">
          <a:solidFill>
            <a:schemeClr val="tx1"/>
          </a:solidFill>
          <a:latin typeface="Arial" charset="0"/>
          <a:ea typeface="华文新魏" pitchFamily="2" charset="-122"/>
        </a:defRPr>
      </a:lvl6pPr>
      <a:lvl7pPr marL="914400" algn="ctr" rtl="0" fontAlgn="base">
        <a:spcBef>
          <a:spcPct val="0"/>
        </a:spcBef>
        <a:spcAft>
          <a:spcPct val="0"/>
        </a:spcAft>
        <a:defRPr sz="4000">
          <a:solidFill>
            <a:schemeClr val="tx1"/>
          </a:solidFill>
          <a:latin typeface="Arial" charset="0"/>
          <a:ea typeface="华文新魏" pitchFamily="2" charset="-122"/>
        </a:defRPr>
      </a:lvl7pPr>
      <a:lvl8pPr marL="1371600" algn="ctr" rtl="0" fontAlgn="base">
        <a:spcBef>
          <a:spcPct val="0"/>
        </a:spcBef>
        <a:spcAft>
          <a:spcPct val="0"/>
        </a:spcAft>
        <a:defRPr sz="4000">
          <a:solidFill>
            <a:schemeClr val="tx1"/>
          </a:solidFill>
          <a:latin typeface="Arial" charset="0"/>
          <a:ea typeface="华文新魏" pitchFamily="2" charset="-122"/>
        </a:defRPr>
      </a:lvl8pPr>
      <a:lvl9pPr marL="1828800" algn="ctr" rtl="0" fontAlgn="base">
        <a:spcBef>
          <a:spcPct val="0"/>
        </a:spcBef>
        <a:spcAft>
          <a:spcPct val="0"/>
        </a:spcAft>
        <a:defRPr sz="4000">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itchFamily="2" charset="2"/>
        <a:buChar char="Ø"/>
        <a:defRPr sz="2800">
          <a:solidFill>
            <a:schemeClr val="tx1"/>
          </a:solidFill>
          <a:latin typeface="+mn-lt"/>
          <a:ea typeface="+mn-ea"/>
        </a:defRPr>
      </a:lvl2pPr>
      <a:lvl3pPr marL="1143000" indent="-228600" algn="l" rtl="0" fontAlgn="base">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fontAlgn="base">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3B741-5216-414E-B74B-795A24EA3A0B}" type="slidenum">
              <a:rPr lang="zh-CN" altLang="en-US" smtClean="0"/>
              <a:t>‹#›</a:t>
            </a:fld>
            <a:endParaRPr lang="zh-CN" altLang="en-US" dirty="0"/>
          </a:p>
        </p:txBody>
      </p:sp>
      <p:pic>
        <p:nvPicPr>
          <p:cNvPr id="16" name="Picture 13" descr="xbhs"/>
          <p:cNvPicPr>
            <a:picLocks noChangeAspect="1" noChangeArrowheads="1"/>
          </p:cNvPicPr>
          <p:nvPr userDrawn="1"/>
        </p:nvPicPr>
        <p:blipFill>
          <a:blip r:embed="rId14">
            <a:extLst>
              <a:ext uri="{28A0092B-C50C-407E-A947-70E740481C1C}">
                <a14:useLocalDpi xmlns:a14="http://schemas.microsoft.com/office/drawing/2010/main" val="0"/>
              </a:ext>
            </a:extLst>
          </a:blip>
          <a:srcRect r="53241" b="57249"/>
          <a:stretch>
            <a:fillRect/>
          </a:stretch>
        </p:blipFill>
        <p:spPr bwMode="auto">
          <a:xfrm>
            <a:off x="423817" y="5489135"/>
            <a:ext cx="1174241" cy="1181247"/>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userDrawn="1"/>
        </p:nvSpPr>
        <p:spPr>
          <a:xfrm>
            <a:off x="7101555" y="491380"/>
            <a:ext cx="2042446" cy="115368"/>
          </a:xfrm>
          <a:prstGeom prst="rect">
            <a:avLst/>
          </a:prstGeom>
          <a:solidFill>
            <a:srgbClr val="A74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userDrawn="1"/>
        </p:nvSpPr>
        <p:spPr>
          <a:xfrm>
            <a:off x="7007545" y="59819"/>
            <a:ext cx="2159566" cy="446276"/>
          </a:xfrm>
          <a:prstGeom prst="rect">
            <a:avLst/>
          </a:prstGeom>
          <a:noFill/>
        </p:spPr>
        <p:txBody>
          <a:bodyPr wrap="none" rtlCol="0">
            <a:spAutoFit/>
          </a:bodyPr>
          <a:lstStyle/>
          <a:p>
            <a:r>
              <a:rPr lang="zh-CN" altLang="en-US" sz="2000" b="1" kern="1000" spc="-170" baseline="0" dirty="0" smtClean="0">
                <a:solidFill>
                  <a:srgbClr val="C00000"/>
                </a:solidFill>
              </a:rPr>
              <a:t>智者乐水  仁者乐山</a:t>
            </a:r>
            <a:endParaRPr lang="zh-CN" altLang="en-US" sz="2000" b="1" kern="1000" spc="-170" baseline="0" dirty="0">
              <a:solidFill>
                <a:srgbClr val="C00000"/>
              </a:solidFill>
            </a:endParaRP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transition spd="med">
    <p:wipe dir="d"/>
  </p:transition>
  <p:timing>
    <p:tnLst>
      <p:par>
        <p:cTn id="1" dur="indefinite" restart="never" nodeType="tmRoot"/>
      </p:par>
    </p:tnLst>
  </p:timing>
  <p:txStyles>
    <p:titleStyle>
      <a:lvl1pPr algn="l"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000" b="1">
          <a:solidFill>
            <a:schemeClr val="tx1"/>
          </a:solidFill>
          <a:latin typeface="Arial" charset="0"/>
          <a:ea typeface="华文新魏" pitchFamily="2" charset="-122"/>
        </a:defRPr>
      </a:lvl2pPr>
      <a:lvl3pPr algn="l" rtl="0" fontAlgn="base">
        <a:spcBef>
          <a:spcPct val="0"/>
        </a:spcBef>
        <a:spcAft>
          <a:spcPct val="0"/>
        </a:spcAft>
        <a:defRPr sz="4000" b="1">
          <a:solidFill>
            <a:schemeClr val="tx1"/>
          </a:solidFill>
          <a:latin typeface="Arial" charset="0"/>
          <a:ea typeface="华文新魏" pitchFamily="2" charset="-122"/>
        </a:defRPr>
      </a:lvl3pPr>
      <a:lvl4pPr algn="l" rtl="0" fontAlgn="base">
        <a:spcBef>
          <a:spcPct val="0"/>
        </a:spcBef>
        <a:spcAft>
          <a:spcPct val="0"/>
        </a:spcAft>
        <a:defRPr sz="4000" b="1">
          <a:solidFill>
            <a:schemeClr val="tx1"/>
          </a:solidFill>
          <a:latin typeface="Arial" charset="0"/>
          <a:ea typeface="华文新魏" pitchFamily="2" charset="-122"/>
        </a:defRPr>
      </a:lvl4pPr>
      <a:lvl5pPr algn="l" rtl="0" fontAlgn="base">
        <a:spcBef>
          <a:spcPct val="0"/>
        </a:spcBef>
        <a:spcAft>
          <a:spcPct val="0"/>
        </a:spcAft>
        <a:defRPr sz="4000" b="1">
          <a:solidFill>
            <a:schemeClr val="tx1"/>
          </a:solidFill>
          <a:latin typeface="Arial" charset="0"/>
          <a:ea typeface="华文新魏" pitchFamily="2" charset="-122"/>
        </a:defRPr>
      </a:lvl5pPr>
      <a:lvl6pPr marL="457200" algn="l" rtl="0" fontAlgn="base">
        <a:spcBef>
          <a:spcPct val="0"/>
        </a:spcBef>
        <a:spcAft>
          <a:spcPct val="0"/>
        </a:spcAft>
        <a:defRPr sz="4000" b="1">
          <a:solidFill>
            <a:schemeClr val="tx1"/>
          </a:solidFill>
          <a:latin typeface="Arial" charset="0"/>
          <a:ea typeface="华文新魏" pitchFamily="2" charset="-122"/>
        </a:defRPr>
      </a:lvl6pPr>
      <a:lvl7pPr marL="914400" algn="l" rtl="0" fontAlgn="base">
        <a:spcBef>
          <a:spcPct val="0"/>
        </a:spcBef>
        <a:spcAft>
          <a:spcPct val="0"/>
        </a:spcAft>
        <a:defRPr sz="4000" b="1">
          <a:solidFill>
            <a:schemeClr val="tx1"/>
          </a:solidFill>
          <a:latin typeface="Arial" charset="0"/>
          <a:ea typeface="华文新魏" pitchFamily="2" charset="-122"/>
        </a:defRPr>
      </a:lvl7pPr>
      <a:lvl8pPr marL="1371600" algn="l" rtl="0" fontAlgn="base">
        <a:spcBef>
          <a:spcPct val="0"/>
        </a:spcBef>
        <a:spcAft>
          <a:spcPct val="0"/>
        </a:spcAft>
        <a:defRPr sz="4000" b="1">
          <a:solidFill>
            <a:schemeClr val="tx1"/>
          </a:solidFill>
          <a:latin typeface="Arial" charset="0"/>
          <a:ea typeface="华文新魏" pitchFamily="2" charset="-122"/>
        </a:defRPr>
      </a:lvl8pPr>
      <a:lvl9pPr marL="1828800" algn="l" rtl="0" fontAlgn="base">
        <a:spcBef>
          <a:spcPct val="0"/>
        </a:spcBef>
        <a:spcAft>
          <a:spcPct val="0"/>
        </a:spcAft>
        <a:defRPr sz="4000" b="1">
          <a:solidFill>
            <a:schemeClr val="tx1"/>
          </a:solidFill>
          <a:latin typeface="Arial" charset="0"/>
          <a:ea typeface="华文新魏"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7.jpeg"/><Relationship Id="rId5" Type="http://schemas.openxmlformats.org/officeDocument/2006/relationships/image" Target="../media/image6.jpg"/><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6.xml"/><Relationship Id="rId7" Type="http://schemas.openxmlformats.org/officeDocument/2006/relationships/image" Target="../media/image16.wmf"/><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7.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3.wmf"/><Relationship Id="rId3" Type="http://schemas.openxmlformats.org/officeDocument/2006/relationships/notesSlide" Target="../notesSlides/notesSlide27.xml"/><Relationship Id="rId7" Type="http://schemas.openxmlformats.org/officeDocument/2006/relationships/image" Target="../media/image20.wmf"/><Relationship Id="rId12" Type="http://schemas.openxmlformats.org/officeDocument/2006/relationships/oleObject" Target="../embeddings/oleObject9.bin"/><Relationship Id="rId17" Type="http://schemas.openxmlformats.org/officeDocument/2006/relationships/image" Target="../media/image25.wmf"/><Relationship Id="rId2" Type="http://schemas.openxmlformats.org/officeDocument/2006/relationships/slideLayout" Target="../slideLayouts/slideLayout18.xml"/><Relationship Id="rId16" Type="http://schemas.openxmlformats.org/officeDocument/2006/relationships/oleObject" Target="../embeddings/oleObject11.bin"/><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21.wmf"/><Relationship Id="rId14"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26.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8.xml"/><Relationship Id="rId1" Type="http://schemas.openxmlformats.org/officeDocument/2006/relationships/vmlDrawing" Target="../drawings/vmlDrawing3.vml"/><Relationship Id="rId5" Type="http://schemas.openxmlformats.org/officeDocument/2006/relationships/image" Target="../media/image27.wmf"/><Relationship Id="rId4" Type="http://schemas.openxmlformats.org/officeDocument/2006/relationships/oleObject" Target="../embeddings/oleObject12.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8.xml"/><Relationship Id="rId1" Type="http://schemas.openxmlformats.org/officeDocument/2006/relationships/vmlDrawing" Target="../drawings/vmlDrawing4.vml"/><Relationship Id="rId5" Type="http://schemas.openxmlformats.org/officeDocument/2006/relationships/image" Target="../media/image28.wmf"/><Relationship Id="rId4" Type="http://schemas.openxmlformats.org/officeDocument/2006/relationships/oleObject" Target="../embeddings/oleObject13.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3.wmf"/><Relationship Id="rId3" Type="http://schemas.openxmlformats.org/officeDocument/2006/relationships/notesSlide" Target="../notesSlides/notesSlide37.xml"/><Relationship Id="rId7" Type="http://schemas.openxmlformats.org/officeDocument/2006/relationships/image" Target="../media/image30.wmf"/><Relationship Id="rId12" Type="http://schemas.openxmlformats.org/officeDocument/2006/relationships/oleObject" Target="../embeddings/oleObject18.bin"/><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31.wmf"/><Relationship Id="rId14" Type="http://schemas.openxmlformats.org/officeDocument/2006/relationships/oleObject" Target="../embeddings/oleObject19.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36.wmf"/><Relationship Id="rId2" Type="http://schemas.openxmlformats.org/officeDocument/2006/relationships/slideLayout" Target="../slideLayouts/slideLayout18.xml"/><Relationship Id="rId1" Type="http://schemas.openxmlformats.org/officeDocument/2006/relationships/vmlDrawing" Target="../drawings/vmlDrawing6.vml"/><Relationship Id="rId6" Type="http://schemas.openxmlformats.org/officeDocument/2006/relationships/oleObject" Target="../embeddings/oleObject21.bin"/><Relationship Id="rId5" Type="http://schemas.openxmlformats.org/officeDocument/2006/relationships/image" Target="../media/image35.wmf"/><Relationship Id="rId4" Type="http://schemas.openxmlformats.org/officeDocument/2006/relationships/oleObject" Target="../embeddings/oleObject20.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8.xml"/><Relationship Id="rId1" Type="http://schemas.openxmlformats.org/officeDocument/2006/relationships/vmlDrawing" Target="../drawings/vmlDrawing7.vml"/><Relationship Id="rId5" Type="http://schemas.openxmlformats.org/officeDocument/2006/relationships/image" Target="../media/image37.wmf"/><Relationship Id="rId4" Type="http://schemas.openxmlformats.org/officeDocument/2006/relationships/oleObject" Target="../embeddings/oleObject22.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8.xml"/><Relationship Id="rId1" Type="http://schemas.openxmlformats.org/officeDocument/2006/relationships/vmlDrawing" Target="../drawings/vmlDrawing8.vml"/><Relationship Id="rId5" Type="http://schemas.openxmlformats.org/officeDocument/2006/relationships/image" Target="../media/image38.wmf"/><Relationship Id="rId4" Type="http://schemas.openxmlformats.org/officeDocument/2006/relationships/oleObject" Target="../embeddings/oleObject2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42.xml"/><Relationship Id="rId7" Type="http://schemas.openxmlformats.org/officeDocument/2006/relationships/image" Target="../media/image40.wmf"/><Relationship Id="rId2" Type="http://schemas.openxmlformats.org/officeDocument/2006/relationships/slideLayout" Target="../slideLayouts/slideLayout18.xml"/><Relationship Id="rId1" Type="http://schemas.openxmlformats.org/officeDocument/2006/relationships/vmlDrawing" Target="../drawings/vmlDrawing9.vml"/><Relationship Id="rId6" Type="http://schemas.openxmlformats.org/officeDocument/2006/relationships/oleObject" Target="../embeddings/oleObject25.bin"/><Relationship Id="rId5" Type="http://schemas.openxmlformats.org/officeDocument/2006/relationships/image" Target="../media/image39.wmf"/><Relationship Id="rId4" Type="http://schemas.openxmlformats.org/officeDocument/2006/relationships/oleObject" Target="../embeddings/oleObject24.bin"/><Relationship Id="rId9" Type="http://schemas.openxmlformats.org/officeDocument/2006/relationships/image" Target="../media/image41.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6.wmf"/><Relationship Id="rId3" Type="http://schemas.openxmlformats.org/officeDocument/2006/relationships/notesSlide" Target="../notesSlides/notesSlide44.xml"/><Relationship Id="rId7" Type="http://schemas.openxmlformats.org/officeDocument/2006/relationships/image" Target="../media/image43.wmf"/><Relationship Id="rId12" Type="http://schemas.openxmlformats.org/officeDocument/2006/relationships/oleObject" Target="../embeddings/oleObject31.bin"/><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oleObject" Target="../embeddings/oleObject28.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4.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8.xml"/><Relationship Id="rId1" Type="http://schemas.openxmlformats.org/officeDocument/2006/relationships/vmlDrawing" Target="../drawings/vmlDrawing13.vml"/><Relationship Id="rId5" Type="http://schemas.openxmlformats.org/officeDocument/2006/relationships/image" Target="../media/image49.wmf"/><Relationship Id="rId4" Type="http://schemas.openxmlformats.org/officeDocument/2006/relationships/oleObject" Target="../embeddings/oleObject34.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51.xml"/><Relationship Id="rId7" Type="http://schemas.openxmlformats.org/officeDocument/2006/relationships/image" Target="../media/image51.wmf"/><Relationship Id="rId2" Type="http://schemas.openxmlformats.org/officeDocument/2006/relationships/slideLayout" Target="../slideLayouts/slideLayout18.xml"/><Relationship Id="rId1" Type="http://schemas.openxmlformats.org/officeDocument/2006/relationships/vmlDrawing" Target="../drawings/vmlDrawing15.vml"/><Relationship Id="rId6" Type="http://schemas.openxmlformats.org/officeDocument/2006/relationships/oleObject" Target="../embeddings/oleObject37.bin"/><Relationship Id="rId5" Type="http://schemas.openxmlformats.org/officeDocument/2006/relationships/image" Target="../media/image50.wmf"/><Relationship Id="rId4" Type="http://schemas.openxmlformats.org/officeDocument/2006/relationships/oleObject" Target="../embeddings/oleObject36.bin"/><Relationship Id="rId9" Type="http://schemas.openxmlformats.org/officeDocument/2006/relationships/image" Target="../media/image52.w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54.wmf"/><Relationship Id="rId2" Type="http://schemas.openxmlformats.org/officeDocument/2006/relationships/slideLayout" Target="../slideLayouts/slideLayout18.xml"/><Relationship Id="rId1" Type="http://schemas.openxmlformats.org/officeDocument/2006/relationships/vmlDrawing" Target="../drawings/vmlDrawing17.vml"/><Relationship Id="rId6" Type="http://schemas.openxmlformats.org/officeDocument/2006/relationships/oleObject" Target="../embeddings/oleObject41.bin"/><Relationship Id="rId5" Type="http://schemas.openxmlformats.org/officeDocument/2006/relationships/image" Target="../media/image53.wmf"/><Relationship Id="rId4" Type="http://schemas.openxmlformats.org/officeDocument/2006/relationships/oleObject" Target="../embeddings/oleObject40.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56.wmf"/><Relationship Id="rId2" Type="http://schemas.openxmlformats.org/officeDocument/2006/relationships/slideLayout" Target="../slideLayouts/slideLayout18.xml"/><Relationship Id="rId1" Type="http://schemas.openxmlformats.org/officeDocument/2006/relationships/vmlDrawing" Target="../drawings/vmlDrawing19.vml"/><Relationship Id="rId6" Type="http://schemas.openxmlformats.org/officeDocument/2006/relationships/oleObject" Target="../embeddings/oleObject44.bin"/><Relationship Id="rId5" Type="http://schemas.openxmlformats.org/officeDocument/2006/relationships/image" Target="../media/image55.wmf"/><Relationship Id="rId4" Type="http://schemas.openxmlformats.org/officeDocument/2006/relationships/oleObject" Target="../embeddings/oleObject43.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8.xml"/><Relationship Id="rId1" Type="http://schemas.openxmlformats.org/officeDocument/2006/relationships/vmlDrawing" Target="../drawings/vmlDrawing25.vml"/><Relationship Id="rId5" Type="http://schemas.openxmlformats.org/officeDocument/2006/relationships/image" Target="../media/image57.wmf"/><Relationship Id="rId4" Type="http://schemas.openxmlformats.org/officeDocument/2006/relationships/oleObject" Target="../embeddings/oleObject50.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7" Type="http://schemas.openxmlformats.org/officeDocument/2006/relationships/image" Target="../media/image60.wmf"/><Relationship Id="rId2" Type="http://schemas.openxmlformats.org/officeDocument/2006/relationships/slideLayout" Target="../slideLayouts/slideLayout18.xml"/><Relationship Id="rId1" Type="http://schemas.openxmlformats.org/officeDocument/2006/relationships/vmlDrawing" Target="../drawings/vmlDrawing31.vml"/><Relationship Id="rId6" Type="http://schemas.openxmlformats.org/officeDocument/2006/relationships/oleObject" Target="../embeddings/oleObject57.bin"/><Relationship Id="rId5" Type="http://schemas.openxmlformats.org/officeDocument/2006/relationships/image" Target="../media/image59.wmf"/><Relationship Id="rId4" Type="http://schemas.openxmlformats.org/officeDocument/2006/relationships/oleObject" Target="../embeddings/oleObject56.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7" Type="http://schemas.openxmlformats.org/officeDocument/2006/relationships/image" Target="../media/image62.wmf"/><Relationship Id="rId2" Type="http://schemas.openxmlformats.org/officeDocument/2006/relationships/slideLayout" Target="../slideLayouts/slideLayout18.xml"/><Relationship Id="rId1" Type="http://schemas.openxmlformats.org/officeDocument/2006/relationships/vmlDrawing" Target="../drawings/vmlDrawing34.vml"/><Relationship Id="rId6" Type="http://schemas.openxmlformats.org/officeDocument/2006/relationships/oleObject" Target="../embeddings/oleObject61.bin"/><Relationship Id="rId5" Type="http://schemas.openxmlformats.org/officeDocument/2006/relationships/image" Target="../media/image61.wmf"/><Relationship Id="rId4" Type="http://schemas.openxmlformats.org/officeDocument/2006/relationships/oleObject" Target="../embeddings/oleObject60.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67.wmf"/><Relationship Id="rId3" Type="http://schemas.openxmlformats.org/officeDocument/2006/relationships/notesSlide" Target="../notesSlides/notesSlide76.xml"/><Relationship Id="rId7" Type="http://schemas.openxmlformats.org/officeDocument/2006/relationships/image" Target="../media/image64.wmf"/><Relationship Id="rId12" Type="http://schemas.openxmlformats.org/officeDocument/2006/relationships/oleObject" Target="../embeddings/oleObject67.bin"/><Relationship Id="rId2" Type="http://schemas.openxmlformats.org/officeDocument/2006/relationships/slideLayout" Target="../slideLayouts/slideLayout18.xml"/><Relationship Id="rId1" Type="http://schemas.openxmlformats.org/officeDocument/2006/relationships/vmlDrawing" Target="../drawings/vmlDrawing36.vml"/><Relationship Id="rId6" Type="http://schemas.openxmlformats.org/officeDocument/2006/relationships/oleObject" Target="../embeddings/oleObject64.bin"/><Relationship Id="rId11" Type="http://schemas.openxmlformats.org/officeDocument/2006/relationships/image" Target="../media/image66.wmf"/><Relationship Id="rId5" Type="http://schemas.openxmlformats.org/officeDocument/2006/relationships/image" Target="../media/image63.wmf"/><Relationship Id="rId10" Type="http://schemas.openxmlformats.org/officeDocument/2006/relationships/oleObject" Target="../embeddings/oleObject66.bin"/><Relationship Id="rId4" Type="http://schemas.openxmlformats.org/officeDocument/2006/relationships/oleObject" Target="../embeddings/oleObject63.bin"/><Relationship Id="rId9" Type="http://schemas.openxmlformats.org/officeDocument/2006/relationships/image" Target="../media/image65.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2.wmf"/><Relationship Id="rId3" Type="http://schemas.openxmlformats.org/officeDocument/2006/relationships/notesSlide" Target="../notesSlides/notesSlide77.xml"/><Relationship Id="rId7" Type="http://schemas.openxmlformats.org/officeDocument/2006/relationships/image" Target="../media/image69.wmf"/><Relationship Id="rId12" Type="http://schemas.openxmlformats.org/officeDocument/2006/relationships/oleObject" Target="../embeddings/oleObject73.bin"/><Relationship Id="rId2" Type="http://schemas.openxmlformats.org/officeDocument/2006/relationships/slideLayout" Target="../slideLayouts/slideLayout18.xml"/><Relationship Id="rId1" Type="http://schemas.openxmlformats.org/officeDocument/2006/relationships/vmlDrawing" Target="../drawings/vmlDrawing38.vml"/><Relationship Id="rId6" Type="http://schemas.openxmlformats.org/officeDocument/2006/relationships/oleObject" Target="../embeddings/oleObject70.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70.wmf"/><Relationship Id="rId14" Type="http://schemas.openxmlformats.org/officeDocument/2006/relationships/oleObject" Target="../embeddings/oleObject74.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8.xml"/><Relationship Id="rId1" Type="http://schemas.openxmlformats.org/officeDocument/2006/relationships/vmlDrawing" Target="../drawings/vmlDrawing43.vml"/><Relationship Id="rId5" Type="http://schemas.openxmlformats.org/officeDocument/2006/relationships/image" Target="../media/image74.wmf"/><Relationship Id="rId4" Type="http://schemas.openxmlformats.org/officeDocument/2006/relationships/oleObject" Target="../embeddings/oleObject79.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8.xml"/><Relationship Id="rId1" Type="http://schemas.openxmlformats.org/officeDocument/2006/relationships/vmlDrawing" Target="../drawings/vmlDrawing46.vml"/><Relationship Id="rId5" Type="http://schemas.openxmlformats.org/officeDocument/2006/relationships/image" Target="../media/image75.wmf"/><Relationship Id="rId4" Type="http://schemas.openxmlformats.org/officeDocument/2006/relationships/oleObject" Target="../embeddings/oleObject82.bin"/></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8.xml"/><Relationship Id="rId1" Type="http://schemas.openxmlformats.org/officeDocument/2006/relationships/vmlDrawing" Target="../drawings/vmlDrawing49.vml"/><Relationship Id="rId5" Type="http://schemas.openxmlformats.org/officeDocument/2006/relationships/image" Target="../media/image76.wmf"/><Relationship Id="rId4" Type="http://schemas.openxmlformats.org/officeDocument/2006/relationships/oleObject" Target="../embeddings/oleObject85.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8.xml"/><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9.xml"/><Relationship Id="rId1" Type="http://schemas.openxmlformats.org/officeDocument/2006/relationships/slideLayout" Target="../slideLayouts/slideLayout18.xml"/><Relationship Id="rId5" Type="http://schemas.openxmlformats.org/officeDocument/2006/relationships/image" Target="../media/image78.png"/><Relationship Id="rId4" Type="http://schemas.openxmlformats.org/officeDocument/2006/relationships/image" Target="../media/image11.jpe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 name="Text Box 61"/>
          <p:cNvSpPr txBox="1">
            <a:spLocks noChangeArrowheads="1"/>
          </p:cNvSpPr>
          <p:nvPr/>
        </p:nvSpPr>
        <p:spPr bwMode="auto">
          <a:xfrm>
            <a:off x="1193800" y="1811338"/>
            <a:ext cx="69453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0"/>
              </a:spcBef>
              <a:spcAft>
                <a:spcPct val="0"/>
              </a:spcAft>
              <a:defRPr kumimoji="1" sz="2400">
                <a:solidFill>
                  <a:schemeClr val="tx1"/>
                </a:solidFill>
                <a:latin typeface="Times New Roman" pitchFamily="18" charset="0"/>
                <a:ea typeface="宋体" charset="-122"/>
              </a:defRPr>
            </a:lvl1pPr>
            <a:lvl2pPr marL="1431925">
              <a:spcBef>
                <a:spcPct val="0"/>
              </a:spcBef>
              <a:spcAft>
                <a:spcPct val="0"/>
              </a:spcAft>
              <a:defRPr kumimoji="1" sz="2400">
                <a:solidFill>
                  <a:schemeClr val="tx1"/>
                </a:solidFill>
                <a:latin typeface="Times New Roman" pitchFamily="18" charset="0"/>
                <a:ea typeface="宋体" charset="-122"/>
              </a:defRPr>
            </a:lvl2pPr>
            <a:lvl3pPr marL="1611313">
              <a:spcBef>
                <a:spcPct val="0"/>
              </a:spcBef>
              <a:spcAft>
                <a:spcPct val="0"/>
              </a:spcAft>
              <a:defRPr kumimoji="1" sz="2400">
                <a:solidFill>
                  <a:schemeClr val="tx1"/>
                </a:solidFill>
                <a:latin typeface="Times New Roman" pitchFamily="18" charset="0"/>
                <a:ea typeface="宋体" charset="-122"/>
              </a:defRPr>
            </a:lvl3pPr>
            <a:lvl4pPr marL="1790700">
              <a:spcBef>
                <a:spcPct val="0"/>
              </a:spcBef>
              <a:spcAft>
                <a:spcPct val="0"/>
              </a:spcAft>
              <a:defRPr kumimoji="1" sz="2400">
                <a:solidFill>
                  <a:schemeClr val="tx1"/>
                </a:solidFill>
                <a:latin typeface="Times New Roman" pitchFamily="18" charset="0"/>
                <a:ea typeface="宋体" charset="-122"/>
              </a:defRPr>
            </a:lvl4pPr>
            <a:lvl5pPr marL="1970088">
              <a:spcBef>
                <a:spcPct val="0"/>
              </a:spcBef>
              <a:spcAft>
                <a:spcPct val="0"/>
              </a:spcAft>
              <a:defRPr kumimoji="1" sz="2400">
                <a:solidFill>
                  <a:schemeClr val="tx1"/>
                </a:solidFill>
                <a:latin typeface="Times New Roman" pitchFamily="18" charset="0"/>
                <a:ea typeface="宋体" charset="-122"/>
              </a:defRPr>
            </a:lvl5pPr>
            <a:lvl6pPr marL="2427288" fontAlgn="base">
              <a:spcBef>
                <a:spcPct val="0"/>
              </a:spcBef>
              <a:spcAft>
                <a:spcPct val="0"/>
              </a:spcAft>
              <a:defRPr kumimoji="1" sz="2400">
                <a:solidFill>
                  <a:schemeClr val="tx1"/>
                </a:solidFill>
                <a:latin typeface="Times New Roman" pitchFamily="18" charset="0"/>
                <a:ea typeface="宋体" charset="-122"/>
              </a:defRPr>
            </a:lvl6pPr>
            <a:lvl7pPr marL="2884488" fontAlgn="base">
              <a:spcBef>
                <a:spcPct val="0"/>
              </a:spcBef>
              <a:spcAft>
                <a:spcPct val="0"/>
              </a:spcAft>
              <a:defRPr kumimoji="1" sz="2400">
                <a:solidFill>
                  <a:schemeClr val="tx1"/>
                </a:solidFill>
                <a:latin typeface="Times New Roman" pitchFamily="18" charset="0"/>
                <a:ea typeface="宋体" charset="-122"/>
              </a:defRPr>
            </a:lvl7pPr>
            <a:lvl8pPr marL="3341688" fontAlgn="base">
              <a:spcBef>
                <a:spcPct val="0"/>
              </a:spcBef>
              <a:spcAft>
                <a:spcPct val="0"/>
              </a:spcAft>
              <a:defRPr kumimoji="1" sz="2400">
                <a:solidFill>
                  <a:schemeClr val="tx1"/>
                </a:solidFill>
                <a:latin typeface="Times New Roman" pitchFamily="18" charset="0"/>
                <a:ea typeface="宋体" charset="-122"/>
              </a:defRPr>
            </a:lvl8pPr>
            <a:lvl9pPr marL="3798888" fontAlgn="base">
              <a:spcBef>
                <a:spcPct val="0"/>
              </a:spcBef>
              <a:spcAft>
                <a:spcPct val="0"/>
              </a:spcAft>
              <a:defRPr kumimoji="1" sz="2400">
                <a:solidFill>
                  <a:schemeClr val="tx1"/>
                </a:solidFill>
                <a:latin typeface="Times New Roman" pitchFamily="18" charset="0"/>
                <a:ea typeface="宋体" charset="-122"/>
              </a:defRPr>
            </a:lvl9pPr>
          </a:lstStyle>
          <a:p>
            <a:pPr algn="ctr">
              <a:lnSpc>
                <a:spcPct val="100000"/>
              </a:lnSpc>
            </a:pPr>
            <a:r>
              <a:rPr lang="zh-CN" altLang="en-US" sz="4400" b="1" dirty="0" smtClean="0">
                <a:solidFill>
                  <a:srgbClr val="000066"/>
                </a:solidFill>
                <a:latin typeface="黑体" pitchFamily="2" charset="-122"/>
                <a:ea typeface="黑体" pitchFamily="2" charset="-122"/>
                <a:sym typeface="Symbol" pitchFamily="18" charset="2"/>
              </a:rPr>
              <a:t>挡土墙</a:t>
            </a:r>
            <a:r>
              <a:rPr lang="zh-CN" altLang="en-US" sz="4400" b="1" dirty="0">
                <a:solidFill>
                  <a:srgbClr val="000066"/>
                </a:solidFill>
                <a:latin typeface="黑体" pitchFamily="2" charset="-122"/>
                <a:ea typeface="黑体" pitchFamily="2" charset="-122"/>
                <a:sym typeface="Symbol" pitchFamily="18" charset="2"/>
              </a:rPr>
              <a:t>上的土压力</a:t>
            </a:r>
            <a:endParaRPr kumimoji="0" lang="en-US" altLang="zh-CN" sz="4400" b="1" dirty="0">
              <a:solidFill>
                <a:srgbClr val="000066"/>
              </a:solidFill>
              <a:latin typeface="黑体" pitchFamily="2" charset="-122"/>
              <a:ea typeface="黑体" pitchFamily="2" charset="-122"/>
              <a:sym typeface="Symbol" pitchFamily="18" charset="2"/>
            </a:endParaRPr>
          </a:p>
        </p:txBody>
      </p:sp>
      <p:sp>
        <p:nvSpPr>
          <p:cNvPr id="21" name="Text Box 6"/>
          <p:cNvSpPr txBox="1">
            <a:spLocks noChangeArrowheads="1"/>
          </p:cNvSpPr>
          <p:nvPr/>
        </p:nvSpPr>
        <p:spPr bwMode="auto">
          <a:xfrm>
            <a:off x="3849688" y="3218503"/>
            <a:ext cx="2117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3200" b="1" dirty="0">
                <a:solidFill>
                  <a:srgbClr val="000066"/>
                </a:solidFill>
                <a:latin typeface="幼圆" pitchFamily="49" charset="-122"/>
                <a:ea typeface="幼圆" pitchFamily="49" charset="-122"/>
              </a:rPr>
              <a:t>张 丙 印</a:t>
            </a:r>
          </a:p>
        </p:txBody>
      </p:sp>
      <p:sp>
        <p:nvSpPr>
          <p:cNvPr id="22" name="Text Box 59"/>
          <p:cNvSpPr txBox="1">
            <a:spLocks noChangeArrowheads="1"/>
          </p:cNvSpPr>
          <p:nvPr/>
        </p:nvSpPr>
        <p:spPr bwMode="auto">
          <a:xfrm>
            <a:off x="2519465" y="822480"/>
            <a:ext cx="3187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en-US" altLang="zh-CN" sz="2400" b="1" dirty="0" smtClean="0">
                <a:solidFill>
                  <a:srgbClr val="990000"/>
                </a:solidFill>
                <a:latin typeface="黑体" pitchFamily="2" charset="-122"/>
                <a:ea typeface="黑体" pitchFamily="2" charset="-122"/>
              </a:rPr>
              <a:t>《</a:t>
            </a:r>
            <a:r>
              <a:rPr kumimoji="1" lang="zh-CN" altLang="en-US" sz="2400" b="1" dirty="0" smtClean="0">
                <a:solidFill>
                  <a:srgbClr val="990000"/>
                </a:solidFill>
                <a:latin typeface="黑体" pitchFamily="2" charset="-122"/>
                <a:ea typeface="黑体" pitchFamily="2" charset="-122"/>
              </a:rPr>
              <a:t>土力学</a:t>
            </a:r>
            <a:r>
              <a:rPr kumimoji="1" lang="en-US" altLang="zh-CN" sz="2400" b="1" dirty="0" smtClean="0">
                <a:solidFill>
                  <a:srgbClr val="990000"/>
                </a:solidFill>
                <a:latin typeface="黑体" pitchFamily="2" charset="-122"/>
                <a:ea typeface="黑体" pitchFamily="2" charset="-122"/>
              </a:rPr>
              <a:t>》</a:t>
            </a:r>
            <a:r>
              <a:rPr kumimoji="1" lang="zh-CN" altLang="en-US" sz="2400" b="1" dirty="0">
                <a:solidFill>
                  <a:srgbClr val="990000"/>
                </a:solidFill>
                <a:latin typeface="黑体" pitchFamily="2" charset="-122"/>
                <a:ea typeface="黑体" pitchFamily="2" charset="-122"/>
              </a:rPr>
              <a:t>之</a:t>
            </a:r>
            <a:r>
              <a:rPr kumimoji="1" lang="zh-CN" altLang="en-US" sz="2400" b="1" dirty="0" smtClean="0">
                <a:solidFill>
                  <a:srgbClr val="990000"/>
                </a:solidFill>
                <a:latin typeface="黑体" pitchFamily="2" charset="-122"/>
                <a:ea typeface="黑体" pitchFamily="2" charset="-122"/>
              </a:rPr>
              <a:t>第六章</a:t>
            </a:r>
            <a:endParaRPr kumimoji="1" lang="zh-CN" altLang="en-US" sz="2400" b="1" dirty="0">
              <a:solidFill>
                <a:srgbClr val="990000"/>
              </a:solidFill>
              <a:latin typeface="黑体" pitchFamily="2" charset="-122"/>
              <a:ea typeface="黑体" pitchFamily="2" charset="-122"/>
            </a:endParaRPr>
          </a:p>
        </p:txBody>
      </p:sp>
      <p:sp>
        <p:nvSpPr>
          <p:cNvPr id="23" name="Rectangle 2"/>
          <p:cNvSpPr>
            <a:spLocks noChangeArrowheads="1"/>
          </p:cNvSpPr>
          <p:nvPr/>
        </p:nvSpPr>
        <p:spPr bwMode="auto">
          <a:xfrm>
            <a:off x="1602555" y="4390958"/>
            <a:ext cx="64246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5000"/>
              </a:lnSpc>
              <a:spcBef>
                <a:spcPct val="0"/>
              </a:spcBef>
              <a:spcAft>
                <a:spcPct val="0"/>
              </a:spcAft>
              <a:tabLst>
                <a:tab pos="1620838" algn="l"/>
              </a:tabLst>
            </a:pPr>
            <a:r>
              <a:rPr kumimoji="1" lang="zh-CN" altLang="en-US" sz="2400" b="1" dirty="0">
                <a:solidFill>
                  <a:srgbClr val="660066"/>
                </a:solidFill>
                <a:latin typeface="幼圆" pitchFamily="49" charset="-122"/>
                <a:ea typeface="幼圆" pitchFamily="49" charset="-122"/>
              </a:rPr>
              <a:t>	</a:t>
            </a:r>
            <a:r>
              <a:rPr kumimoji="1" lang="zh-CN" altLang="en-US" sz="3200" b="1" dirty="0" smtClean="0">
                <a:solidFill>
                  <a:srgbClr val="660066"/>
                </a:solidFill>
                <a:latin typeface="黑体" pitchFamily="2" charset="-122"/>
                <a:ea typeface="黑体" pitchFamily="2" charset="-122"/>
              </a:rPr>
              <a:t>清华大学水利系      </a:t>
            </a:r>
            <a:endParaRPr kumimoji="1" lang="zh-CN" altLang="en-US" sz="3200" b="1" dirty="0">
              <a:solidFill>
                <a:srgbClr val="660066"/>
              </a:solidFill>
              <a:latin typeface="黑体" pitchFamily="2" charset="-122"/>
              <a:ea typeface="黑体" pitchFamily="2" charset="-122"/>
            </a:endParaRPr>
          </a:p>
          <a:p>
            <a:pPr>
              <a:lnSpc>
                <a:spcPct val="125000"/>
              </a:lnSpc>
              <a:spcBef>
                <a:spcPct val="0"/>
              </a:spcBef>
              <a:spcAft>
                <a:spcPct val="0"/>
              </a:spcAft>
              <a:tabLst>
                <a:tab pos="1620838" algn="l"/>
              </a:tabLst>
            </a:pPr>
            <a:r>
              <a:rPr kumimoji="1" lang="zh-CN" altLang="en-US" sz="3200" b="1" dirty="0">
                <a:solidFill>
                  <a:srgbClr val="660066"/>
                </a:solidFill>
                <a:latin typeface="黑体" pitchFamily="2" charset="-122"/>
                <a:ea typeface="黑体" pitchFamily="2" charset="-122"/>
              </a:rPr>
              <a:t>      	</a:t>
            </a:r>
            <a:r>
              <a:rPr kumimoji="1" lang="zh-CN" altLang="en-US" sz="3200" b="1" dirty="0" smtClean="0">
                <a:solidFill>
                  <a:srgbClr val="660066"/>
                </a:solidFill>
                <a:latin typeface="黑体" pitchFamily="2" charset="-122"/>
                <a:ea typeface="黑体" pitchFamily="2" charset="-122"/>
              </a:rPr>
              <a:t>岩土工程研究所</a:t>
            </a:r>
            <a:endParaRPr kumimoji="1" lang="zh-CN" altLang="en-US" sz="3200" b="1" dirty="0">
              <a:solidFill>
                <a:srgbClr val="660066"/>
              </a:solidFill>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0" y="0"/>
            <a:ext cx="368935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zh-CN" altLang="en-US" sz="2000" b="1" kern="900" spc="-140" dirty="0" smtClean="0">
                <a:solidFill>
                  <a:srgbClr val="C00000"/>
                </a:solidFill>
                <a:latin typeface="宋体" pitchFamily="2" charset="-122"/>
              </a:rPr>
              <a:t>第六章：本章概要</a:t>
            </a:r>
            <a:r>
              <a:rPr lang="zh-CN" altLang="en-US" sz="2000" kern="900" spc="-140" dirty="0" smtClean="0">
                <a:solidFill>
                  <a:srgbClr val="C00000"/>
                </a:solidFill>
                <a:latin typeface="宋体" pitchFamily="2" charset="-122"/>
              </a:rPr>
              <a:t> </a:t>
            </a:r>
            <a:endParaRPr lang="zh-CN" altLang="en-US" sz="2000" kern="900" spc="-140" dirty="0">
              <a:solidFill>
                <a:srgbClr val="C00000"/>
              </a:solidFill>
              <a:latin typeface="宋体" pitchFamily="2" charset="-122"/>
            </a:endParaRPr>
          </a:p>
        </p:txBody>
      </p:sp>
      <p:sp>
        <p:nvSpPr>
          <p:cNvPr id="8" name="Text Box 12"/>
          <p:cNvSpPr txBox="1">
            <a:spLocks noChangeArrowheads="1"/>
          </p:cNvSpPr>
          <p:nvPr/>
        </p:nvSpPr>
        <p:spPr bwMode="auto">
          <a:xfrm>
            <a:off x="1073150" y="2286000"/>
            <a:ext cx="2651125"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Font typeface="Wingdings" pitchFamily="2" charset="2"/>
              <a:buChar char="²"/>
            </a:pPr>
            <a:r>
              <a:rPr lang="zh-CN" altLang="en-US" sz="2800" b="1">
                <a:solidFill>
                  <a:srgbClr val="A50021"/>
                </a:solidFill>
                <a:latin typeface="幼圆" pitchFamily="49" charset="-122"/>
                <a:ea typeface="幼圆" pitchFamily="49" charset="-122"/>
              </a:rPr>
              <a:t> 本章提要</a:t>
            </a:r>
          </a:p>
          <a:p>
            <a:pPr eaLnBrk="1" hangingPunct="1">
              <a:lnSpc>
                <a:spcPct val="120000"/>
              </a:lnSpc>
              <a:spcBef>
                <a:spcPct val="45000"/>
              </a:spcBef>
              <a:spcAft>
                <a:spcPct val="110000"/>
              </a:spcAft>
              <a:buFont typeface="Wingdings" pitchFamily="2" charset="2"/>
              <a:buChar char="²"/>
            </a:pPr>
            <a:endParaRPr lang="zh-CN" altLang="en-US" sz="2400" b="1">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endParaRPr lang="zh-CN" altLang="en-US" sz="2400" b="1">
              <a:solidFill>
                <a:srgbClr val="A50021"/>
              </a:solidFill>
              <a:latin typeface="幼圆" pitchFamily="49" charset="-122"/>
              <a:ea typeface="幼圆" pitchFamily="49" charset="-122"/>
            </a:endParaRPr>
          </a:p>
          <a:p>
            <a:pPr eaLnBrk="1" hangingPunct="1">
              <a:lnSpc>
                <a:spcPct val="120000"/>
              </a:lnSpc>
              <a:spcBef>
                <a:spcPct val="0"/>
              </a:spcBef>
              <a:spcAft>
                <a:spcPct val="0"/>
              </a:spcAft>
              <a:buFont typeface="Wingdings" pitchFamily="2" charset="2"/>
              <a:buChar char="²"/>
            </a:pPr>
            <a:r>
              <a:rPr lang="zh-CN" altLang="en-US" sz="2800" b="1">
                <a:solidFill>
                  <a:srgbClr val="A50021"/>
                </a:solidFill>
                <a:latin typeface="幼圆" pitchFamily="49" charset="-122"/>
                <a:ea typeface="幼圆" pitchFamily="49" charset="-122"/>
              </a:rPr>
              <a:t> 学习难点</a:t>
            </a:r>
            <a:endParaRPr lang="en-US" altLang="zh-CN" sz="2400" b="1">
              <a:solidFill>
                <a:srgbClr val="A50021"/>
              </a:solidFill>
              <a:latin typeface="幼圆" pitchFamily="49" charset="-122"/>
              <a:ea typeface="幼圆" pitchFamily="49" charset="-122"/>
            </a:endParaRPr>
          </a:p>
        </p:txBody>
      </p:sp>
      <p:sp>
        <p:nvSpPr>
          <p:cNvPr id="9" name="Text Box 13"/>
          <p:cNvSpPr txBox="1">
            <a:spLocks noChangeArrowheads="1"/>
          </p:cNvSpPr>
          <p:nvPr/>
        </p:nvSpPr>
        <p:spPr bwMode="auto">
          <a:xfrm>
            <a:off x="1865313" y="954088"/>
            <a:ext cx="5356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200" b="1" dirty="0" smtClean="0">
                <a:solidFill>
                  <a:srgbClr val="000066"/>
                </a:solidFill>
                <a:latin typeface="黑体" pitchFamily="2" charset="-122"/>
                <a:ea typeface="黑体" pitchFamily="2" charset="-122"/>
              </a:rPr>
              <a:t>第六章</a:t>
            </a:r>
            <a:r>
              <a:rPr lang="zh-CN" altLang="en-US" sz="3200" b="1" dirty="0">
                <a:solidFill>
                  <a:srgbClr val="000066"/>
                </a:solidFill>
                <a:latin typeface="黑体" pitchFamily="2" charset="-122"/>
                <a:ea typeface="黑体" pitchFamily="2" charset="-122"/>
              </a:rPr>
              <a:t>： </a:t>
            </a:r>
            <a:r>
              <a:rPr lang="zh-CN" altLang="en-US" sz="3200" b="1" dirty="0" smtClean="0">
                <a:solidFill>
                  <a:srgbClr val="000066"/>
                </a:solidFill>
                <a:latin typeface="黑体" pitchFamily="2" charset="-122"/>
                <a:ea typeface="黑体" pitchFamily="2" charset="-122"/>
                <a:sym typeface="Symbol" pitchFamily="18" charset="2"/>
              </a:rPr>
              <a:t>挡土墙</a:t>
            </a:r>
            <a:r>
              <a:rPr lang="zh-CN" altLang="en-US" sz="3200" b="1" dirty="0">
                <a:solidFill>
                  <a:srgbClr val="000066"/>
                </a:solidFill>
                <a:latin typeface="黑体" pitchFamily="2" charset="-122"/>
                <a:ea typeface="黑体" pitchFamily="2" charset="-122"/>
                <a:sym typeface="Symbol" pitchFamily="18" charset="2"/>
              </a:rPr>
              <a:t>上的土压力</a:t>
            </a:r>
            <a:endParaRPr lang="en-US" altLang="zh-CN" sz="3200" b="1" dirty="0">
              <a:solidFill>
                <a:srgbClr val="000066"/>
              </a:solidFill>
              <a:latin typeface="黑体" pitchFamily="2" charset="-122"/>
              <a:ea typeface="黑体" pitchFamily="2" charset="-122"/>
            </a:endParaRPr>
          </a:p>
        </p:txBody>
      </p:sp>
      <p:sp>
        <p:nvSpPr>
          <p:cNvPr id="10" name="Text Box 14"/>
          <p:cNvSpPr txBox="1">
            <a:spLocks noChangeArrowheads="1"/>
          </p:cNvSpPr>
          <p:nvPr/>
        </p:nvSpPr>
        <p:spPr bwMode="auto">
          <a:xfrm>
            <a:off x="3379788" y="2081213"/>
            <a:ext cx="4948237"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朗肯土压力理论</a:t>
            </a: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cs typeface="Times New Roman" panose="02020603050405020304" pitchFamily="18" charset="0"/>
              </a:rPr>
              <a:t>  库仑土压力理论</a:t>
            </a:r>
            <a:endParaRPr kumimoji="1" lang="en-US" altLang="zh-CN" sz="2400" b="1" dirty="0" smtClean="0">
              <a:solidFill>
                <a:srgbClr val="000066"/>
              </a:solidFill>
              <a:ea typeface="幼圆" pitchFamily="49" charset="-122"/>
              <a:cs typeface="Times New Roman" panose="02020603050405020304" pitchFamily="18" charset="0"/>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常见</a:t>
            </a:r>
            <a:r>
              <a:rPr kumimoji="1" lang="zh-CN" altLang="en-US" sz="2400" b="1" dirty="0">
                <a:solidFill>
                  <a:srgbClr val="000066"/>
                </a:solidFill>
                <a:ea typeface="幼圆" pitchFamily="49" charset="-122"/>
              </a:rPr>
              <a:t>的主动土压力计算</a:t>
            </a:r>
          </a:p>
          <a:p>
            <a:pPr eaLnBrk="1" hangingPunct="1">
              <a:lnSpc>
                <a:spcPct val="120000"/>
              </a:lnSpc>
              <a:spcBef>
                <a:spcPct val="0"/>
              </a:spcBef>
              <a:spcAft>
                <a:spcPct val="0"/>
              </a:spcAft>
              <a:buClr>
                <a:srgbClr val="A50021"/>
              </a:buClr>
            </a:pP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三</a:t>
            </a:r>
            <a:r>
              <a:rPr kumimoji="1" lang="zh-CN" altLang="en-US" sz="2400" b="1" dirty="0">
                <a:solidFill>
                  <a:srgbClr val="000066"/>
                </a:solidFill>
                <a:ea typeface="幼圆" pitchFamily="49" charset="-122"/>
              </a:rPr>
              <a:t>种</a:t>
            </a:r>
            <a:r>
              <a:rPr kumimoji="1" lang="zh-CN" altLang="en-US" sz="2400" b="1" dirty="0" smtClean="0">
                <a:solidFill>
                  <a:srgbClr val="000066"/>
                </a:solidFill>
                <a:ea typeface="幼圆" pitchFamily="49" charset="-122"/>
              </a:rPr>
              <a:t>典型</a:t>
            </a:r>
            <a:r>
              <a:rPr kumimoji="1" lang="zh-CN" altLang="en-US" sz="2400" b="1" dirty="0">
                <a:solidFill>
                  <a:srgbClr val="000066"/>
                </a:solidFill>
                <a:ea typeface="幼圆" pitchFamily="49" charset="-122"/>
              </a:rPr>
              <a:t>土压力</a:t>
            </a:r>
            <a:r>
              <a:rPr kumimoji="1" lang="zh-CN" altLang="en-US" sz="2400" b="1" dirty="0" smtClean="0">
                <a:solidFill>
                  <a:srgbClr val="000066"/>
                </a:solidFill>
                <a:ea typeface="幼圆" pitchFamily="49" charset="-122"/>
              </a:rPr>
              <a:t>状态</a:t>
            </a:r>
            <a:endParaRPr lang="zh-CN" altLang="en-US" sz="2400" b="1" dirty="0">
              <a:solidFill>
                <a:srgbClr val="000066"/>
              </a:solidFill>
              <a:latin typeface="幼圆" pitchFamily="49" charset="-122"/>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朗肯和库伦土压力理论的本质</a:t>
            </a:r>
            <a:endParaRPr kumimoji="1" lang="zh-CN" altLang="en-US" sz="2400" b="1" dirty="0">
              <a:solidFill>
                <a:srgbClr val="000066"/>
              </a:solidFill>
              <a:ea typeface="幼圆" pitchFamily="49" charset="-122"/>
            </a:endParaRPr>
          </a:p>
          <a:p>
            <a:pPr eaLnBrk="1" hangingPunct="1">
              <a:lnSpc>
                <a:spcPct val="120000"/>
              </a:lnSpc>
              <a:spcBef>
                <a:spcPct val="0"/>
              </a:spcBef>
              <a:spcAft>
                <a:spcPct val="0"/>
              </a:spcAft>
              <a:buClr>
                <a:srgbClr val="A50021"/>
              </a:buClr>
              <a:buFontTx/>
              <a:buChar char="•"/>
            </a:pPr>
            <a:r>
              <a:rPr kumimoji="1" lang="zh-CN" altLang="en-US" sz="2400" b="1" dirty="0" smtClean="0">
                <a:solidFill>
                  <a:srgbClr val="000066"/>
                </a:solidFill>
                <a:ea typeface="幼圆" pitchFamily="49" charset="-122"/>
              </a:rPr>
              <a:t>  工程中常见的</a:t>
            </a:r>
            <a:r>
              <a:rPr kumimoji="1" lang="zh-CN" altLang="en-US" sz="2400" b="1" dirty="0">
                <a:solidFill>
                  <a:srgbClr val="000066"/>
                </a:solidFill>
                <a:ea typeface="幼圆" pitchFamily="49" charset="-122"/>
              </a:rPr>
              <a:t>主动土压力</a:t>
            </a:r>
            <a:r>
              <a:rPr kumimoji="1" lang="zh-CN" altLang="en-US" sz="2400" b="1" dirty="0" smtClean="0">
                <a:solidFill>
                  <a:srgbClr val="000066"/>
                </a:solidFill>
                <a:ea typeface="幼圆" pitchFamily="49" charset="-122"/>
              </a:rPr>
              <a:t>计算</a:t>
            </a:r>
            <a:endParaRPr kumimoji="1" lang="zh-CN" altLang="en-US" sz="2400" b="1" dirty="0">
              <a:solidFill>
                <a:srgbClr val="000066"/>
              </a:solidFill>
              <a:ea typeface="幼圆" pitchFamily="49" charset="-122"/>
            </a:endParaRPr>
          </a:p>
        </p:txBody>
      </p:sp>
      <p:sp>
        <p:nvSpPr>
          <p:cNvPr id="11"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a:t>
            </a:fld>
            <a:endParaRPr lang="zh-CN" altLang="en-US" dirty="0">
              <a:solidFill>
                <a:srgbClr val="C00000"/>
              </a:solidFill>
            </a:endParaRPr>
          </a:p>
        </p:txBody>
      </p:sp>
    </p:spTree>
  </p:cSld>
  <p:clrMapOvr>
    <a:masterClrMapping/>
  </p:clrMapOvr>
  <p:transition spd="med">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49275" y="679450"/>
            <a:ext cx="1423988" cy="1516063"/>
            <a:chOff x="6502400" y="546100"/>
            <a:chExt cx="1423988" cy="1516063"/>
          </a:xfrm>
        </p:grpSpPr>
        <p:sp>
          <p:nvSpPr>
            <p:cNvPr id="1447938" name="AutoShape 2"/>
            <p:cNvSpPr>
              <a:spLocks noChangeArrowheads="1"/>
            </p:cNvSpPr>
            <p:nvPr/>
          </p:nvSpPr>
          <p:spPr bwMode="auto">
            <a:xfrm>
              <a:off x="7008813" y="1212850"/>
              <a:ext cx="371475" cy="849313"/>
            </a:xfrm>
            <a:prstGeom prst="cube">
              <a:avLst>
                <a:gd name="adj" fmla="val 25000"/>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39" name="Freeform 3"/>
            <p:cNvSpPr>
              <a:spLocks/>
            </p:cNvSpPr>
            <p:nvPr/>
          </p:nvSpPr>
          <p:spPr bwMode="auto">
            <a:xfrm flipH="1">
              <a:off x="6502400" y="546100"/>
              <a:ext cx="1423988" cy="950913"/>
            </a:xfrm>
            <a:custGeom>
              <a:avLst/>
              <a:gdLst>
                <a:gd name="T0" fmla="*/ 130 w 783"/>
                <a:gd name="T1" fmla="*/ 133 h 551"/>
                <a:gd name="T2" fmla="*/ 293 w 783"/>
                <a:gd name="T3" fmla="*/ 108 h 551"/>
                <a:gd name="T4" fmla="*/ 520 w 783"/>
                <a:gd name="T5" fmla="*/ 56 h 551"/>
                <a:gd name="T6" fmla="*/ 686 w 783"/>
                <a:gd name="T7" fmla="*/ 12 h 551"/>
                <a:gd name="T8" fmla="*/ 763 w 783"/>
                <a:gd name="T9" fmla="*/ 130 h 551"/>
                <a:gd name="T10" fmla="*/ 779 w 783"/>
                <a:gd name="T11" fmla="*/ 338 h 551"/>
                <a:gd name="T12" fmla="*/ 738 w 783"/>
                <a:gd name="T13" fmla="*/ 504 h 551"/>
                <a:gd name="T14" fmla="*/ 507 w 783"/>
                <a:gd name="T15" fmla="*/ 546 h 551"/>
                <a:gd name="T16" fmla="*/ 238 w 783"/>
                <a:gd name="T17" fmla="*/ 533 h 551"/>
                <a:gd name="T18" fmla="*/ 37 w 783"/>
                <a:gd name="T19" fmla="*/ 469 h 551"/>
                <a:gd name="T20" fmla="*/ 14 w 783"/>
                <a:gd name="T21" fmla="*/ 296 h 551"/>
                <a:gd name="T22" fmla="*/ 46 w 783"/>
                <a:gd name="T23" fmla="*/ 178 h 551"/>
                <a:gd name="T24" fmla="*/ 130 w 783"/>
                <a:gd name="T25" fmla="*/ 133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3" h="551">
                  <a:moveTo>
                    <a:pt x="130" y="133"/>
                  </a:moveTo>
                  <a:cubicBezTo>
                    <a:pt x="171" y="121"/>
                    <a:pt x="228" y="121"/>
                    <a:pt x="293" y="108"/>
                  </a:cubicBezTo>
                  <a:cubicBezTo>
                    <a:pt x="358" y="95"/>
                    <a:pt x="455" y="72"/>
                    <a:pt x="520" y="56"/>
                  </a:cubicBezTo>
                  <a:cubicBezTo>
                    <a:pt x="585" y="40"/>
                    <a:pt x="646" y="0"/>
                    <a:pt x="686" y="12"/>
                  </a:cubicBezTo>
                  <a:cubicBezTo>
                    <a:pt x="726" y="24"/>
                    <a:pt x="748" y="76"/>
                    <a:pt x="763" y="130"/>
                  </a:cubicBezTo>
                  <a:cubicBezTo>
                    <a:pt x="778" y="184"/>
                    <a:pt x="783" y="276"/>
                    <a:pt x="779" y="338"/>
                  </a:cubicBezTo>
                  <a:cubicBezTo>
                    <a:pt x="775" y="400"/>
                    <a:pt x="783" y="469"/>
                    <a:pt x="738" y="504"/>
                  </a:cubicBezTo>
                  <a:cubicBezTo>
                    <a:pt x="693" y="539"/>
                    <a:pt x="590" y="541"/>
                    <a:pt x="507" y="546"/>
                  </a:cubicBezTo>
                  <a:cubicBezTo>
                    <a:pt x="424" y="551"/>
                    <a:pt x="316" y="546"/>
                    <a:pt x="238" y="533"/>
                  </a:cubicBezTo>
                  <a:cubicBezTo>
                    <a:pt x="160" y="520"/>
                    <a:pt x="74" y="508"/>
                    <a:pt x="37" y="469"/>
                  </a:cubicBezTo>
                  <a:cubicBezTo>
                    <a:pt x="0" y="430"/>
                    <a:pt x="13" y="344"/>
                    <a:pt x="14" y="296"/>
                  </a:cubicBezTo>
                  <a:cubicBezTo>
                    <a:pt x="15" y="248"/>
                    <a:pt x="27" y="205"/>
                    <a:pt x="46" y="178"/>
                  </a:cubicBezTo>
                  <a:cubicBezTo>
                    <a:pt x="65" y="151"/>
                    <a:pt x="89" y="145"/>
                    <a:pt x="130" y="133"/>
                  </a:cubicBezTo>
                  <a:close/>
                </a:path>
              </a:pathLst>
            </a:custGeom>
            <a:solidFill>
              <a:srgbClr val="DBC9FF"/>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47940" name="WordArt 4"/>
            <p:cNvSpPr>
              <a:spLocks noChangeArrowheads="1" noChangeShapeType="1" noTextEdit="1"/>
            </p:cNvSpPr>
            <p:nvPr/>
          </p:nvSpPr>
          <p:spPr bwMode="auto">
            <a:xfrm>
              <a:off x="6646863" y="566738"/>
              <a:ext cx="1065212" cy="822325"/>
            </a:xfrm>
            <a:prstGeom prst="rect">
              <a:avLst/>
            </a:prstGeom>
          </p:spPr>
          <p:txBody>
            <a:bodyPr wrap="none" fromWordArt="1">
              <a:prstTxWarp prst="textCurveDown">
                <a:avLst>
                  <a:gd name="adj" fmla="val 43477"/>
                </a:avLst>
              </a:prstTxWarp>
            </a:bodyPr>
            <a:lstStyle/>
            <a:p>
              <a:pPr algn="ctr"/>
              <a:r>
                <a:rPr lang="zh-CN" altLang="en-US" sz="3600" kern="10">
                  <a:ln w="12700">
                    <a:solidFill>
                      <a:srgbClr val="000000"/>
                    </a:solidFill>
                    <a:round/>
                    <a:headEnd/>
                    <a:tailEnd/>
                  </a:ln>
                  <a:solidFill>
                    <a:srgbClr val="FFCC00"/>
                  </a:solidFill>
                  <a:effectLst>
                    <a:outerShdw dist="45791" dir="2021404" algn="ctr" rotWithShape="0">
                      <a:srgbClr val="808080">
                        <a:alpha val="80000"/>
                      </a:srgbClr>
                    </a:outerShdw>
                  </a:effectLst>
                  <a:latin typeface="华文新魏"/>
                  <a:ea typeface="华文新魏"/>
                </a:rPr>
                <a:t>作业</a:t>
              </a:r>
            </a:p>
          </p:txBody>
        </p:sp>
      </p:grpSp>
      <p:sp>
        <p:nvSpPr>
          <p:cNvPr id="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a:t>
            </a:fld>
            <a:endParaRPr lang="zh-CN" altLang="en-US" dirty="0">
              <a:solidFill>
                <a:srgbClr val="C00000"/>
              </a:solidFill>
            </a:endParaRPr>
          </a:p>
        </p:txBody>
      </p:sp>
      <p:sp>
        <p:nvSpPr>
          <p:cNvPr id="9" name="Rectangle 6"/>
          <p:cNvSpPr>
            <a:spLocks noChangeArrowheads="1"/>
          </p:cNvSpPr>
          <p:nvPr/>
        </p:nvSpPr>
        <p:spPr bwMode="auto">
          <a:xfrm>
            <a:off x="3559175" y="5663553"/>
            <a:ext cx="2406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50000"/>
              </a:spcBef>
              <a:spcAft>
                <a:spcPct val="0"/>
              </a:spcAft>
              <a:buFont typeface="Wingdings" pitchFamily="2" charset="2"/>
              <a:buNone/>
            </a:pPr>
            <a:r>
              <a:rPr kumimoji="1" lang="zh-CN" altLang="en-US" sz="4000" b="1" dirty="0">
                <a:solidFill>
                  <a:srgbClr val="000066"/>
                </a:solidFill>
                <a:latin typeface="黑体" pitchFamily="2" charset="-122"/>
                <a:ea typeface="黑体" pitchFamily="2" charset="-122"/>
              </a:rPr>
              <a:t>本章作业</a:t>
            </a:r>
            <a:r>
              <a:rPr kumimoji="1" lang="en-US" altLang="zh-CN" sz="4000" b="1" dirty="0">
                <a:solidFill>
                  <a:srgbClr val="000066"/>
                </a:solidFill>
                <a:latin typeface="黑体" pitchFamily="2" charset="-122"/>
                <a:ea typeface="黑体" pitchFamily="2" charset="-122"/>
              </a:rPr>
              <a:t> </a:t>
            </a:r>
          </a:p>
        </p:txBody>
      </p:sp>
      <p:sp>
        <p:nvSpPr>
          <p:cNvPr id="10" name="Text Box 9"/>
          <p:cNvSpPr txBox="1">
            <a:spLocks noChangeArrowheads="1"/>
          </p:cNvSpPr>
          <p:nvPr/>
        </p:nvSpPr>
        <p:spPr bwMode="auto">
          <a:xfrm>
            <a:off x="3043521" y="2354092"/>
            <a:ext cx="1642327" cy="167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marL="990600" indent="-990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lang="en-US" altLang="zh-CN" sz="3200" b="1" dirty="0" smtClean="0">
                <a:solidFill>
                  <a:srgbClr val="000066"/>
                </a:solidFill>
                <a:latin typeface="幼圆" pitchFamily="49" charset="-122"/>
                <a:ea typeface="幼圆" pitchFamily="49" charset="-122"/>
              </a:rPr>
              <a:t>6-2</a:t>
            </a:r>
          </a:p>
          <a:p>
            <a:pPr eaLnBrk="1" hangingPunct="1">
              <a:lnSpc>
                <a:spcPct val="120000"/>
              </a:lnSpc>
              <a:spcBef>
                <a:spcPct val="0"/>
              </a:spcBef>
              <a:spcAft>
                <a:spcPct val="0"/>
              </a:spcAft>
            </a:pPr>
            <a:r>
              <a:rPr lang="en-US" altLang="zh-CN" sz="3200" b="1" dirty="0" smtClean="0">
                <a:solidFill>
                  <a:srgbClr val="000066"/>
                </a:solidFill>
                <a:latin typeface="幼圆" pitchFamily="49" charset="-122"/>
                <a:ea typeface="幼圆" pitchFamily="49" charset="-122"/>
              </a:rPr>
              <a:t>6-4</a:t>
            </a:r>
            <a:endParaRPr lang="en-US" altLang="zh-CN" sz="3200" b="1" dirty="0">
              <a:solidFill>
                <a:srgbClr val="000066"/>
              </a:solidFill>
              <a:latin typeface="幼圆" pitchFamily="49" charset="-122"/>
              <a:ea typeface="幼圆" pitchFamily="49" charset="-122"/>
            </a:endParaRPr>
          </a:p>
          <a:p>
            <a:pPr eaLnBrk="1" hangingPunct="1">
              <a:lnSpc>
                <a:spcPct val="100000"/>
              </a:lnSpc>
              <a:spcBef>
                <a:spcPct val="0"/>
              </a:spcBef>
              <a:spcAft>
                <a:spcPct val="0"/>
              </a:spcAft>
            </a:pPr>
            <a:r>
              <a:rPr lang="en-US" altLang="zh-CN" sz="3200" b="1" dirty="0" smtClean="0">
                <a:solidFill>
                  <a:srgbClr val="000066"/>
                </a:solidFill>
                <a:latin typeface="幼圆" pitchFamily="49" charset="-122"/>
                <a:ea typeface="幼圆" pitchFamily="49" charset="-122"/>
              </a:rPr>
              <a:t>6-5</a:t>
            </a:r>
            <a:endParaRPr lang="en-US" altLang="zh-CN" sz="3200" b="1" dirty="0">
              <a:solidFill>
                <a:srgbClr val="000066"/>
              </a:solidFill>
              <a:latin typeface="幼圆" pitchFamily="49" charset="-122"/>
              <a:ea typeface="幼圆" pitchFamily="49" charset="-122"/>
            </a:endParaRPr>
          </a:p>
        </p:txBody>
      </p:sp>
    </p:spTree>
  </p:cSld>
  <p:clrMapOvr>
    <a:masterClrMapping/>
  </p:clrMapOvr>
  <p:transition spd="med">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土结构物及土压力</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a:t>
            </a:r>
            <a:r>
              <a:rPr kumimoji="1" lang="zh-CN" altLang="en-US" sz="2800" b="1" dirty="0">
                <a:solidFill>
                  <a:srgbClr val="000066"/>
                </a:solidFill>
                <a:ea typeface="幼圆" pitchFamily="49" charset="-122"/>
                <a:cs typeface="Times New Roman" panose="02020603050405020304" pitchFamily="18" charset="0"/>
              </a:rPr>
              <a:t>土压力计算</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smtClean="0">
                <a:solidFill>
                  <a:srgbClr val="000066"/>
                </a:solidFill>
                <a:ea typeface="幼圆" pitchFamily="49" charset="-122"/>
                <a:cs typeface="Times New Roman" panose="02020603050405020304" pitchFamily="18" charset="0"/>
              </a:rPr>
              <a:t>两种</a:t>
            </a:r>
            <a:r>
              <a:rPr kumimoji="1" lang="zh-CN" altLang="en-US" sz="2800" b="1" dirty="0">
                <a:solidFill>
                  <a:srgbClr val="000066"/>
                </a:solidFill>
                <a:ea typeface="幼圆" pitchFamily="49" charset="-122"/>
                <a:cs typeface="Times New Roman" panose="02020603050405020304" pitchFamily="18" charset="0"/>
              </a:rPr>
              <a:t>土压力理论的比较</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smtClean="0">
                <a:solidFill>
                  <a:srgbClr val="000066"/>
                </a:solidFill>
                <a:ea typeface="幼圆" pitchFamily="49" charset="-122"/>
                <a:cs typeface="Times New Roman" panose="02020603050405020304" pitchFamily="18" charset="0"/>
              </a:rPr>
              <a:t>几种</a:t>
            </a:r>
            <a:r>
              <a:rPr kumimoji="1" lang="zh-CN" altLang="en-US" sz="2800" b="1" dirty="0">
                <a:solidFill>
                  <a:srgbClr val="000066"/>
                </a:solidFill>
                <a:ea typeface="幼圆" pitchFamily="49" charset="-122"/>
                <a:cs typeface="Times New Roman" panose="02020603050405020304" pitchFamily="18" charset="0"/>
              </a:rPr>
              <a:t>常见的主动土压力计算</a:t>
            </a:r>
          </a:p>
        </p:txBody>
      </p:sp>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smtClean="0">
                <a:solidFill>
                  <a:srgbClr val="000066"/>
                </a:solidFill>
                <a:latin typeface="黑体" pitchFamily="2" charset="-122"/>
                <a:ea typeface="黑体" pitchFamily="2" charset="-122"/>
              </a:rPr>
              <a:t>第六章</a:t>
            </a:r>
            <a:r>
              <a:rPr lang="zh-CN" altLang="en-US" sz="3600" b="1" dirty="0">
                <a:solidFill>
                  <a:srgbClr val="000066"/>
                </a:solidFill>
                <a:latin typeface="黑体" pitchFamily="2" charset="-122"/>
                <a:ea typeface="黑体" pitchFamily="2" charset="-122"/>
              </a:rPr>
              <a:t>：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a:t>
            </a:fld>
            <a:endParaRPr lang="zh-CN" altLang="en-US" dirty="0">
              <a:solidFill>
                <a:srgbClr val="C00000"/>
              </a:solidFill>
            </a:endParaRPr>
          </a:p>
        </p:txBody>
      </p:sp>
      <p:sp>
        <p:nvSpPr>
          <p:cNvPr id="8" name="Text Box 4"/>
          <p:cNvSpPr txBox="1">
            <a:spLocks noChangeArrowheads="1"/>
          </p:cNvSpPr>
          <p:nvPr/>
        </p:nvSpPr>
        <p:spPr bwMode="auto">
          <a:xfrm>
            <a:off x="1998003" y="1914892"/>
            <a:ext cx="5521178"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§6.1  </a:t>
            </a:r>
            <a:r>
              <a:rPr kumimoji="1" lang="zh-CN" altLang="en-US" sz="2800" b="1" dirty="0" smtClean="0">
                <a:solidFill>
                  <a:srgbClr val="003399"/>
                </a:solidFill>
                <a:ea typeface="幼圆" pitchFamily="49" charset="-122"/>
                <a:cs typeface="Times New Roman" panose="02020603050405020304" pitchFamily="18" charset="0"/>
              </a:rPr>
              <a:t>概述 </a:t>
            </a:r>
            <a:r>
              <a:rPr kumimoji="1" lang="en-US" altLang="zh-CN" sz="2800" b="1" dirty="0">
                <a:solidFill>
                  <a:srgbClr val="003399"/>
                </a:solidFill>
                <a:ea typeface="幼圆" pitchFamily="49" charset="-122"/>
                <a:cs typeface="Times New Roman" panose="02020603050405020304" pitchFamily="18" charset="0"/>
              </a:rPr>
              <a:t>- </a:t>
            </a:r>
            <a:r>
              <a:rPr kumimoji="1" lang="zh-CN" altLang="en-US" sz="2800" b="1" dirty="0">
                <a:solidFill>
                  <a:srgbClr val="003399"/>
                </a:solidFill>
                <a:ea typeface="幼圆" pitchFamily="49" charset="-122"/>
                <a:cs typeface="Times New Roman" panose="02020603050405020304" pitchFamily="18" charset="0"/>
              </a:rPr>
              <a:t>挡土结构物及土压力</a:t>
            </a: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134" name="Text Box 6"/>
          <p:cNvSpPr txBox="1">
            <a:spLocks noChangeArrowheads="1"/>
          </p:cNvSpPr>
          <p:nvPr/>
        </p:nvSpPr>
        <p:spPr bwMode="auto">
          <a:xfrm>
            <a:off x="2196545" y="1723848"/>
            <a:ext cx="4874736" cy="220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a:solidFill>
                  <a:srgbClr val="000066"/>
                </a:solidFill>
                <a:ea typeface="幼圆" pitchFamily="49" charset="-122"/>
              </a:rPr>
              <a:t>挡土墙</a:t>
            </a:r>
            <a:r>
              <a:rPr lang="zh-CN" altLang="en-US" sz="2800" b="1" dirty="0" smtClean="0">
                <a:solidFill>
                  <a:srgbClr val="000066"/>
                </a:solidFill>
                <a:ea typeface="幼圆" pitchFamily="49" charset="-122"/>
              </a:rPr>
              <a:t>及应用</a:t>
            </a:r>
            <a:endParaRPr lang="en-US" altLang="zh-CN" sz="2800" b="1" dirty="0" smtClean="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挡土墙类型及土压力分布</a:t>
            </a:r>
            <a:endParaRPr lang="en-US" altLang="zh-CN" sz="2800" b="1" dirty="0">
              <a:solidFill>
                <a:srgbClr val="000066"/>
              </a:solidFill>
              <a:ea typeface="幼圆" pitchFamily="49" charset="-122"/>
            </a:endParaRPr>
          </a:p>
          <a:p>
            <a:pPr eaLnBrk="1" hangingPunct="1">
              <a:lnSpc>
                <a:spcPct val="150000"/>
              </a:lnSpc>
              <a:spcBef>
                <a:spcPct val="10000"/>
              </a:spcBef>
              <a:spcAft>
                <a:spcPct val="10000"/>
              </a:spcAft>
              <a:buClr>
                <a:srgbClr val="A50021"/>
              </a:buClr>
              <a:buSzPct val="130000"/>
              <a:buFont typeface="+mj-lt"/>
              <a:buAutoNum type="arabicPeriod"/>
            </a:pPr>
            <a:r>
              <a:rPr lang="zh-CN" altLang="en-US" sz="2800" b="1" dirty="0" smtClean="0">
                <a:solidFill>
                  <a:srgbClr val="000066"/>
                </a:solidFill>
                <a:ea typeface="幼圆" pitchFamily="49" charset="-122"/>
              </a:rPr>
              <a:t>墙体位移与土压力状态</a:t>
            </a:r>
          </a:p>
        </p:txBody>
      </p:sp>
      <p:sp>
        <p:nvSpPr>
          <p:cNvPr id="46087" name="Text Box 7"/>
          <p:cNvSpPr txBox="1">
            <a:spLocks noChangeArrowheads="1"/>
          </p:cNvSpPr>
          <p:nvPr/>
        </p:nvSpPr>
        <p:spPr bwMode="auto">
          <a:xfrm>
            <a:off x="2611438" y="5730875"/>
            <a:ext cx="5356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4000" b="1" dirty="0">
                <a:solidFill>
                  <a:srgbClr val="000066"/>
                </a:solidFill>
                <a:ea typeface="黑体" pitchFamily="2" charset="-122"/>
              </a:rPr>
              <a:t>挡土结构物及土压力</a:t>
            </a: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a:t>
            </a:fld>
            <a:endParaRPr lang="zh-CN" altLang="en-US" dirty="0">
              <a:solidFill>
                <a:srgbClr val="C00000"/>
              </a:solidFill>
            </a:endParaRPr>
          </a:p>
        </p:txBody>
      </p:sp>
      <p:sp>
        <p:nvSpPr>
          <p:cNvPr id="6"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挡土结构物</a:t>
            </a:r>
            <a:r>
              <a:rPr lang="zh-CN" altLang="en-US" sz="1800" b="1" kern="900" spc="130" dirty="0" smtClean="0">
                <a:solidFill>
                  <a:srgbClr val="000066"/>
                </a:solidFill>
                <a:ea typeface="黑体" panose="02010609060101010101" pitchFamily="49" charset="-122"/>
                <a:cs typeface="Times New Roman" panose="02020603050405020304" pitchFamily="18" charset="0"/>
              </a:rPr>
              <a:t>及土压力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4985667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56134">
                                            <p:txEl>
                                              <p:pRg st="0" end="0"/>
                                            </p:txEl>
                                          </p:spTgt>
                                        </p:tgtEl>
                                        <p:attrNameLst>
                                          <p:attrName>style.visibility</p:attrName>
                                        </p:attrNameLst>
                                      </p:cBhvr>
                                      <p:to>
                                        <p:strVal val="visible"/>
                                      </p:to>
                                    </p:set>
                                    <p:anim calcmode="lin" valueType="num">
                                      <p:cBhvr additive="base">
                                        <p:cTn id="7" dur="500" fill="hold"/>
                                        <p:tgtEl>
                                          <p:spTgt spid="145613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5613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56134">
                                            <p:txEl>
                                              <p:pRg st="1" end="1"/>
                                            </p:txEl>
                                          </p:spTgt>
                                        </p:tgtEl>
                                        <p:attrNameLst>
                                          <p:attrName>style.visibility</p:attrName>
                                        </p:attrNameLst>
                                      </p:cBhvr>
                                      <p:to>
                                        <p:strVal val="visible"/>
                                      </p:to>
                                    </p:set>
                                    <p:anim calcmode="lin" valueType="num">
                                      <p:cBhvr additive="base">
                                        <p:cTn id="12" dur="500" fill="hold"/>
                                        <p:tgtEl>
                                          <p:spTgt spid="1456134">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56134">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456134">
                                            <p:txEl>
                                              <p:pRg st="2" end="2"/>
                                            </p:txEl>
                                          </p:spTgt>
                                        </p:tgtEl>
                                        <p:attrNameLst>
                                          <p:attrName>style.visibility</p:attrName>
                                        </p:attrNameLst>
                                      </p:cBhvr>
                                      <p:to>
                                        <p:strVal val="visible"/>
                                      </p:to>
                                    </p:set>
                                    <p:anim calcmode="lin" valueType="num">
                                      <p:cBhvr additive="base">
                                        <p:cTn id="17" dur="500" fill="hold"/>
                                        <p:tgtEl>
                                          <p:spTgt spid="1456134">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5613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134" grpId="0" uiExpand="1" build="p" advAuto="50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907263" y="3457066"/>
            <a:ext cx="3898900" cy="2171700"/>
            <a:chOff x="4907263" y="3457066"/>
            <a:chExt cx="3898900" cy="2171700"/>
          </a:xfrm>
        </p:grpSpPr>
        <p:sp>
          <p:nvSpPr>
            <p:cNvPr id="6" name="任意多边形 5"/>
            <p:cNvSpPr/>
            <p:nvPr/>
          </p:nvSpPr>
          <p:spPr bwMode="auto">
            <a:xfrm>
              <a:off x="4907263" y="3457066"/>
              <a:ext cx="3898900" cy="2171700"/>
            </a:xfrm>
            <a:custGeom>
              <a:avLst/>
              <a:gdLst>
                <a:gd name="connsiteX0" fmla="*/ 0 w 3860800"/>
                <a:gd name="connsiteY0" fmla="*/ 1971675 h 2171700"/>
                <a:gd name="connsiteX1" fmla="*/ 0 w 3860800"/>
                <a:gd name="connsiteY1" fmla="*/ 2155825 h 2171700"/>
                <a:gd name="connsiteX2" fmla="*/ 3860800 w 3860800"/>
                <a:gd name="connsiteY2" fmla="*/ 2171700 h 2171700"/>
                <a:gd name="connsiteX3" fmla="*/ 3860800 w 3860800"/>
                <a:gd name="connsiteY3" fmla="*/ 0 h 2171700"/>
                <a:gd name="connsiteX4" fmla="*/ 3508375 w 3860800"/>
                <a:gd name="connsiteY4" fmla="*/ 222250 h 2171700"/>
                <a:gd name="connsiteX5" fmla="*/ 3206750 w 3860800"/>
                <a:gd name="connsiteY5" fmla="*/ 314325 h 2171700"/>
                <a:gd name="connsiteX6" fmla="*/ 2936875 w 3860800"/>
                <a:gd name="connsiteY6" fmla="*/ 457200 h 2171700"/>
                <a:gd name="connsiteX7" fmla="*/ 2927350 w 3860800"/>
                <a:gd name="connsiteY7" fmla="*/ 2022475 h 2171700"/>
                <a:gd name="connsiteX8" fmla="*/ 2003425 w 3860800"/>
                <a:gd name="connsiteY8" fmla="*/ 2003425 h 2171700"/>
                <a:gd name="connsiteX9" fmla="*/ 2009775 w 3860800"/>
                <a:gd name="connsiteY9" fmla="*/ 1968500 h 2171700"/>
                <a:gd name="connsiteX10" fmla="*/ 0 w 3860800"/>
                <a:gd name="connsiteY10" fmla="*/ 1971675 h 21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60800" h="2171700">
                  <a:moveTo>
                    <a:pt x="0" y="1971675"/>
                  </a:moveTo>
                  <a:lnTo>
                    <a:pt x="0" y="2155825"/>
                  </a:lnTo>
                  <a:lnTo>
                    <a:pt x="3860800" y="2171700"/>
                  </a:lnTo>
                  <a:lnTo>
                    <a:pt x="3860800" y="0"/>
                  </a:lnTo>
                  <a:lnTo>
                    <a:pt x="3508375" y="222250"/>
                  </a:lnTo>
                  <a:lnTo>
                    <a:pt x="3206750" y="314325"/>
                  </a:lnTo>
                  <a:lnTo>
                    <a:pt x="2936875" y="457200"/>
                  </a:lnTo>
                  <a:lnTo>
                    <a:pt x="2927350" y="2022475"/>
                  </a:lnTo>
                  <a:lnTo>
                    <a:pt x="2003425" y="2003425"/>
                  </a:lnTo>
                  <a:lnTo>
                    <a:pt x="2009775" y="1968500"/>
                  </a:lnTo>
                  <a:lnTo>
                    <a:pt x="0" y="1971675"/>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4923138" y="5428741"/>
              <a:ext cx="209867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Freeform 7" descr="沙滩"/>
            <p:cNvSpPr>
              <a:spLocks/>
            </p:cNvSpPr>
            <p:nvPr/>
          </p:nvSpPr>
          <p:spPr bwMode="auto">
            <a:xfrm>
              <a:off x="6932244" y="3917441"/>
              <a:ext cx="924594" cy="1554888"/>
            </a:xfrm>
            <a:custGeom>
              <a:avLst/>
              <a:gdLst>
                <a:gd name="T0" fmla="*/ 640 w 640"/>
                <a:gd name="T1" fmla="*/ 1264 h 1264"/>
                <a:gd name="T2" fmla="*/ 640 w 640"/>
                <a:gd name="T3" fmla="*/ 0 h 1264"/>
                <a:gd name="T4" fmla="*/ 464 w 640"/>
                <a:gd name="T5" fmla="*/ 0 h 1264"/>
                <a:gd name="T6" fmla="*/ 0 w 640"/>
                <a:gd name="T7" fmla="*/ 1256 h 1264"/>
                <a:gd name="T8" fmla="*/ 440 w 640"/>
                <a:gd name="T9" fmla="*/ 1256 h 1264"/>
                <a:gd name="T10" fmla="*/ 640 w 640"/>
                <a:gd name="T11" fmla="*/ 1264 h 1264"/>
              </a:gdLst>
              <a:ahLst/>
              <a:cxnLst>
                <a:cxn ang="0">
                  <a:pos x="T0" y="T1"/>
                </a:cxn>
                <a:cxn ang="0">
                  <a:pos x="T2" y="T3"/>
                </a:cxn>
                <a:cxn ang="0">
                  <a:pos x="T4" y="T5"/>
                </a:cxn>
                <a:cxn ang="0">
                  <a:pos x="T6" y="T7"/>
                </a:cxn>
                <a:cxn ang="0">
                  <a:pos x="T8" y="T9"/>
                </a:cxn>
                <a:cxn ang="0">
                  <a:pos x="T10" y="T11"/>
                </a:cxn>
              </a:cxnLst>
              <a:rect l="0" t="0" r="r" b="b"/>
              <a:pathLst>
                <a:path w="640" h="1264">
                  <a:moveTo>
                    <a:pt x="640" y="1264"/>
                  </a:moveTo>
                  <a:lnTo>
                    <a:pt x="640" y="0"/>
                  </a:lnTo>
                  <a:lnTo>
                    <a:pt x="464" y="0"/>
                  </a:lnTo>
                  <a:lnTo>
                    <a:pt x="0" y="1256"/>
                  </a:lnTo>
                  <a:lnTo>
                    <a:pt x="440" y="1256"/>
                  </a:lnTo>
                  <a:lnTo>
                    <a:pt x="640" y="1264"/>
                  </a:lnTo>
                  <a:close/>
                </a:path>
              </a:pathLst>
            </a:custGeom>
            <a:pattFill prst="ltHorz">
              <a:fgClr>
                <a:srgbClr val="000066"/>
              </a:fgClr>
              <a:bgClr>
                <a:schemeClr val="bg1"/>
              </a:bgClr>
            </a:pattFill>
            <a:ln w="28575" cap="flat" cmpd="sng">
              <a:solidFill>
                <a:srgbClr val="800000"/>
              </a:solidFill>
              <a:prstDash val="solid"/>
              <a:round/>
              <a:headEnd/>
              <a:tailEnd/>
            </a:ln>
            <a:effectLst/>
            <a:extLst/>
          </p:spPr>
          <p:txBody>
            <a:bodyPr/>
            <a:lstStyle/>
            <a:p>
              <a:endParaRPr lang="zh-CN" altLang="en-US"/>
            </a:p>
          </p:txBody>
        </p:sp>
        <p:sp>
          <p:nvSpPr>
            <p:cNvPr id="23" name="Rectangle 9" descr="深色横线"/>
            <p:cNvSpPr>
              <a:spLocks noChangeArrowheads="1"/>
            </p:cNvSpPr>
            <p:nvPr/>
          </p:nvSpPr>
          <p:spPr bwMode="auto">
            <a:xfrm>
              <a:off x="5080965" y="5172893"/>
              <a:ext cx="1620173" cy="235935"/>
            </a:xfrm>
            <a:custGeom>
              <a:avLst/>
              <a:gdLst>
                <a:gd name="connsiteX0" fmla="*/ 0 w 1678898"/>
                <a:gd name="connsiteY0" fmla="*/ 0 h 228600"/>
                <a:gd name="connsiteX1" fmla="*/ 1678898 w 1678898"/>
                <a:gd name="connsiteY1" fmla="*/ 0 h 228600"/>
                <a:gd name="connsiteX2" fmla="*/ 1678898 w 1678898"/>
                <a:gd name="connsiteY2" fmla="*/ 228600 h 228600"/>
                <a:gd name="connsiteX3" fmla="*/ 0 w 1678898"/>
                <a:gd name="connsiteY3" fmla="*/ 228600 h 228600"/>
                <a:gd name="connsiteX4" fmla="*/ 0 w 1678898"/>
                <a:gd name="connsiteY4" fmla="*/ 0 h 228600"/>
                <a:gd name="connsiteX0" fmla="*/ 0 w 1678898"/>
                <a:gd name="connsiteY0" fmla="*/ 7335 h 235935"/>
                <a:gd name="connsiteX1" fmla="*/ 1488195 w 1678898"/>
                <a:gd name="connsiteY1" fmla="*/ 0 h 235935"/>
                <a:gd name="connsiteX2" fmla="*/ 1678898 w 1678898"/>
                <a:gd name="connsiteY2" fmla="*/ 235935 h 235935"/>
                <a:gd name="connsiteX3" fmla="*/ 0 w 1678898"/>
                <a:gd name="connsiteY3" fmla="*/ 235935 h 235935"/>
                <a:gd name="connsiteX4" fmla="*/ 0 w 1678898"/>
                <a:gd name="connsiteY4" fmla="*/ 7335 h 235935"/>
                <a:gd name="connsiteX0" fmla="*/ 210263 w 1678898"/>
                <a:gd name="connsiteY0" fmla="*/ 4890 h 235935"/>
                <a:gd name="connsiteX1" fmla="*/ 1488195 w 1678898"/>
                <a:gd name="connsiteY1" fmla="*/ 0 h 235935"/>
                <a:gd name="connsiteX2" fmla="*/ 1678898 w 1678898"/>
                <a:gd name="connsiteY2" fmla="*/ 235935 h 235935"/>
                <a:gd name="connsiteX3" fmla="*/ 0 w 1678898"/>
                <a:gd name="connsiteY3" fmla="*/ 235935 h 235935"/>
                <a:gd name="connsiteX4" fmla="*/ 210263 w 1678898"/>
                <a:gd name="connsiteY4" fmla="*/ 4890 h 235935"/>
                <a:gd name="connsiteX0" fmla="*/ 210263 w 1678898"/>
                <a:gd name="connsiteY0" fmla="*/ 4890 h 235935"/>
                <a:gd name="connsiteX1" fmla="*/ 1449076 w 1678898"/>
                <a:gd name="connsiteY1" fmla="*/ 0 h 235935"/>
                <a:gd name="connsiteX2" fmla="*/ 1678898 w 1678898"/>
                <a:gd name="connsiteY2" fmla="*/ 235935 h 235935"/>
                <a:gd name="connsiteX3" fmla="*/ 0 w 1678898"/>
                <a:gd name="connsiteY3" fmla="*/ 235935 h 235935"/>
                <a:gd name="connsiteX4" fmla="*/ 210263 w 1678898"/>
                <a:gd name="connsiteY4" fmla="*/ 4890 h 235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8898" h="235935">
                  <a:moveTo>
                    <a:pt x="210263" y="4890"/>
                  </a:moveTo>
                  <a:lnTo>
                    <a:pt x="1449076" y="0"/>
                  </a:lnTo>
                  <a:lnTo>
                    <a:pt x="1678898" y="235935"/>
                  </a:lnTo>
                  <a:lnTo>
                    <a:pt x="0" y="235935"/>
                  </a:lnTo>
                  <a:lnTo>
                    <a:pt x="210263" y="4890"/>
                  </a:lnTo>
                  <a:close/>
                </a:path>
              </a:pathLst>
            </a:custGeom>
            <a:pattFill prst="dkHorz">
              <a:fgClr>
                <a:srgbClr val="993300"/>
              </a:fgClr>
              <a:bgClr>
                <a:schemeClr val="bg1"/>
              </a:bgClr>
            </a:pattFill>
            <a:ln w="381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19"/>
            <p:cNvSpPr txBox="1">
              <a:spLocks noChangeArrowheads="1"/>
            </p:cNvSpPr>
            <p:nvPr/>
          </p:nvSpPr>
          <p:spPr bwMode="auto">
            <a:xfrm>
              <a:off x="8033239" y="3810581"/>
              <a:ext cx="725299" cy="65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3200" b="1" dirty="0">
                  <a:solidFill>
                    <a:srgbClr val="663300"/>
                  </a:solidFill>
                  <a:ea typeface="楷体_GB2312" pitchFamily="49" charset="-122"/>
                </a:rPr>
                <a:t>土</a:t>
              </a:r>
            </a:p>
          </p:txBody>
        </p:sp>
        <p:grpSp>
          <p:nvGrpSpPr>
            <p:cNvPr id="37" name="Group 35"/>
            <p:cNvGrpSpPr>
              <a:grpSpLocks/>
            </p:cNvGrpSpPr>
            <p:nvPr/>
          </p:nvGrpSpPr>
          <p:grpSpPr bwMode="auto">
            <a:xfrm>
              <a:off x="5494567" y="4117466"/>
              <a:ext cx="692222" cy="1040538"/>
              <a:chOff x="2662" y="1471"/>
              <a:chExt cx="580" cy="771"/>
            </a:xfrm>
          </p:grpSpPr>
          <p:sp>
            <p:nvSpPr>
              <p:cNvPr id="38" name="Line 36"/>
              <p:cNvSpPr>
                <a:spLocks noChangeShapeType="1"/>
              </p:cNvSpPr>
              <p:nvPr/>
            </p:nvSpPr>
            <p:spPr bwMode="auto">
              <a:xfrm>
                <a:off x="2662" y="2242"/>
                <a:ext cx="567"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9" name="Group 37"/>
              <p:cNvGrpSpPr>
                <a:grpSpLocks/>
              </p:cNvGrpSpPr>
              <p:nvPr/>
            </p:nvGrpSpPr>
            <p:grpSpPr bwMode="auto">
              <a:xfrm>
                <a:off x="2666" y="1471"/>
                <a:ext cx="576" cy="720"/>
                <a:chOff x="2657" y="1523"/>
                <a:chExt cx="576" cy="720"/>
              </a:xfrm>
            </p:grpSpPr>
            <p:sp>
              <p:nvSpPr>
                <p:cNvPr id="42" name="AutoShape 38"/>
                <p:cNvSpPr>
                  <a:spLocks noChangeArrowheads="1"/>
                </p:cNvSpPr>
                <p:nvPr/>
              </p:nvSpPr>
              <p:spPr bwMode="auto">
                <a:xfrm>
                  <a:off x="2657" y="1523"/>
                  <a:ext cx="576" cy="624"/>
                </a:xfrm>
                <a:prstGeom prst="roundRect">
                  <a:avLst>
                    <a:gd name="adj" fmla="val 16667"/>
                  </a:avLst>
                </a:prstGeom>
                <a:solidFill>
                  <a:srgbClr val="99CC00"/>
                </a:solidFill>
                <a:ln w="22225">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AutoShape 39"/>
                <p:cNvSpPr>
                  <a:spLocks noChangeArrowheads="1"/>
                </p:cNvSpPr>
                <p:nvPr/>
              </p:nvSpPr>
              <p:spPr bwMode="auto">
                <a:xfrm>
                  <a:off x="2681" y="1571"/>
                  <a:ext cx="256" cy="272"/>
                </a:xfrm>
                <a:prstGeom prst="roundRect">
                  <a:avLst>
                    <a:gd name="adj" fmla="val 16667"/>
                  </a:avLst>
                </a:prstGeom>
                <a:solidFill>
                  <a:srgbClr val="CCFFCC">
                    <a:alpha val="50000"/>
                  </a:srgbClr>
                </a:solidFill>
                <a:ln w="19050">
                  <a:solidFill>
                    <a:srgbClr val="33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AutoShape 40"/>
                <p:cNvSpPr>
                  <a:spLocks noChangeArrowheads="1"/>
                </p:cNvSpPr>
                <p:nvPr/>
              </p:nvSpPr>
              <p:spPr bwMode="auto">
                <a:xfrm>
                  <a:off x="2953" y="1571"/>
                  <a:ext cx="256" cy="272"/>
                </a:xfrm>
                <a:prstGeom prst="roundRect">
                  <a:avLst>
                    <a:gd name="adj" fmla="val 16667"/>
                  </a:avLst>
                </a:prstGeom>
                <a:solidFill>
                  <a:srgbClr val="CCFFCC">
                    <a:alpha val="50000"/>
                  </a:srgbClr>
                </a:solidFill>
                <a:ln w="19050">
                  <a:solidFill>
                    <a:srgbClr val="33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AutoShape 41"/>
                <p:cNvSpPr>
                  <a:spLocks noChangeArrowheads="1"/>
                </p:cNvSpPr>
                <p:nvPr/>
              </p:nvSpPr>
              <p:spPr bwMode="auto">
                <a:xfrm>
                  <a:off x="2721" y="2147"/>
                  <a:ext cx="64" cy="96"/>
                </a:xfrm>
                <a:prstGeom prst="roundRect">
                  <a:avLst>
                    <a:gd name="adj" fmla="val 16667"/>
                  </a:avLst>
                </a:prstGeom>
                <a:solidFill>
                  <a:srgbClr val="99CC00"/>
                </a:solidFill>
                <a:ln w="22225">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AutoShape 42"/>
                <p:cNvSpPr>
                  <a:spLocks noChangeArrowheads="1"/>
                </p:cNvSpPr>
                <p:nvPr/>
              </p:nvSpPr>
              <p:spPr bwMode="auto">
                <a:xfrm>
                  <a:off x="3089" y="2147"/>
                  <a:ext cx="64" cy="96"/>
                </a:xfrm>
                <a:prstGeom prst="roundRect">
                  <a:avLst>
                    <a:gd name="adj" fmla="val 16667"/>
                  </a:avLst>
                </a:prstGeom>
                <a:solidFill>
                  <a:srgbClr val="99CC00"/>
                </a:solidFill>
                <a:ln w="22225">
                  <a:solidFill>
                    <a:srgbClr val="00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AutoShape 43"/>
                <p:cNvSpPr>
                  <a:spLocks noChangeArrowheads="1"/>
                </p:cNvSpPr>
                <p:nvPr/>
              </p:nvSpPr>
              <p:spPr bwMode="auto">
                <a:xfrm>
                  <a:off x="2785" y="1843"/>
                  <a:ext cx="328" cy="82"/>
                </a:xfrm>
                <a:prstGeom prst="bevel">
                  <a:avLst>
                    <a:gd name="adj" fmla="val 12500"/>
                  </a:avLst>
                </a:prstGeom>
                <a:noFill/>
                <a:ln w="9525">
                  <a:solidFill>
                    <a:srgbClr val="15259D"/>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AutoShape 44"/>
                <p:cNvSpPr>
                  <a:spLocks noChangeArrowheads="1"/>
                </p:cNvSpPr>
                <p:nvPr/>
              </p:nvSpPr>
              <p:spPr bwMode="auto">
                <a:xfrm>
                  <a:off x="2785" y="1939"/>
                  <a:ext cx="328" cy="82"/>
                </a:xfrm>
                <a:prstGeom prst="bevel">
                  <a:avLst>
                    <a:gd name="adj" fmla="val 12500"/>
                  </a:avLst>
                </a:prstGeom>
                <a:noFill/>
                <a:ln w="9525">
                  <a:solidFill>
                    <a:srgbClr val="15259D"/>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Rectangle 45"/>
              <p:cNvSpPr>
                <a:spLocks noChangeArrowheads="1"/>
              </p:cNvSpPr>
              <p:nvPr/>
            </p:nvSpPr>
            <p:spPr bwMode="auto">
              <a:xfrm>
                <a:off x="2730" y="2191"/>
                <a:ext cx="68" cy="44"/>
              </a:xfrm>
              <a:prstGeom prst="rect">
                <a:avLst/>
              </a:prstGeom>
              <a:solidFill>
                <a:schemeClr val="accent1"/>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46"/>
              <p:cNvSpPr>
                <a:spLocks noChangeArrowheads="1"/>
              </p:cNvSpPr>
              <p:nvPr/>
            </p:nvSpPr>
            <p:spPr bwMode="auto">
              <a:xfrm>
                <a:off x="3093" y="2198"/>
                <a:ext cx="68" cy="44"/>
              </a:xfrm>
              <a:prstGeom prst="rect">
                <a:avLst/>
              </a:prstGeom>
              <a:solidFill>
                <a:schemeClr val="accent1"/>
              </a:solidFill>
              <a:ln w="571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任意多边形 4"/>
            <p:cNvSpPr/>
            <p:nvPr/>
          </p:nvSpPr>
          <p:spPr bwMode="auto">
            <a:xfrm>
              <a:off x="7856838" y="3479291"/>
              <a:ext cx="914400" cy="434975"/>
            </a:xfrm>
            <a:custGeom>
              <a:avLst/>
              <a:gdLst>
                <a:gd name="connsiteX0" fmla="*/ 0 w 879475"/>
                <a:gd name="connsiteY0" fmla="*/ 434975 h 434975"/>
                <a:gd name="connsiteX1" fmla="*/ 292100 w 879475"/>
                <a:gd name="connsiteY1" fmla="*/ 285750 h 434975"/>
                <a:gd name="connsiteX2" fmla="*/ 571500 w 879475"/>
                <a:gd name="connsiteY2" fmla="*/ 190500 h 434975"/>
                <a:gd name="connsiteX3" fmla="*/ 879475 w 879475"/>
                <a:gd name="connsiteY3" fmla="*/ 0 h 434975"/>
              </a:gdLst>
              <a:ahLst/>
              <a:cxnLst>
                <a:cxn ang="0">
                  <a:pos x="connsiteX0" y="connsiteY0"/>
                </a:cxn>
                <a:cxn ang="0">
                  <a:pos x="connsiteX1" y="connsiteY1"/>
                </a:cxn>
                <a:cxn ang="0">
                  <a:pos x="connsiteX2" y="connsiteY2"/>
                </a:cxn>
                <a:cxn ang="0">
                  <a:pos x="connsiteX3" y="connsiteY3"/>
                </a:cxn>
              </a:cxnLst>
              <a:rect l="l" t="t" r="r" b="b"/>
              <a:pathLst>
                <a:path w="879475" h="434975">
                  <a:moveTo>
                    <a:pt x="0" y="434975"/>
                  </a:moveTo>
                  <a:lnTo>
                    <a:pt x="292100" y="285750"/>
                  </a:lnTo>
                  <a:lnTo>
                    <a:pt x="571500" y="190500"/>
                  </a:lnTo>
                  <a:lnTo>
                    <a:pt x="879475"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a:t>
            </a:fld>
            <a:endParaRPr lang="zh-CN" altLang="en-US" dirty="0">
              <a:solidFill>
                <a:srgbClr val="C00000"/>
              </a:solidFill>
            </a:endParaRPr>
          </a:p>
        </p:txBody>
      </p:sp>
      <p:sp>
        <p:nvSpPr>
          <p:cNvPr id="9" name="Text Box 46"/>
          <p:cNvSpPr txBox="1">
            <a:spLocks noChangeArrowheads="1"/>
          </p:cNvSpPr>
          <p:nvPr/>
        </p:nvSpPr>
        <p:spPr bwMode="auto">
          <a:xfrm>
            <a:off x="384650" y="76060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挡</a:t>
            </a:r>
            <a:r>
              <a:rPr lang="zh-CN" altLang="en-US" sz="2800" b="1" dirty="0">
                <a:solidFill>
                  <a:srgbClr val="A50021"/>
                </a:solidFill>
                <a:latin typeface="微软雅黑" panose="020B0503020204020204" pitchFamily="34" charset="-122"/>
                <a:ea typeface="微软雅黑" panose="020B0503020204020204" pitchFamily="34" charset="-122"/>
              </a:rPr>
              <a:t>土结构物</a:t>
            </a:r>
            <a:r>
              <a:rPr lang="en-US" altLang="zh-CN" sz="2800" b="1" dirty="0">
                <a:solidFill>
                  <a:srgbClr val="A50021"/>
                </a:solidFill>
                <a:latin typeface="微软雅黑" panose="020B0503020204020204" pitchFamily="34" charset="-122"/>
                <a:ea typeface="微软雅黑" panose="020B0503020204020204" pitchFamily="34" charset="-122"/>
              </a:rPr>
              <a:t>(</a:t>
            </a:r>
            <a:r>
              <a:rPr lang="zh-CN" altLang="en-US" sz="2800" b="1" dirty="0">
                <a:solidFill>
                  <a:srgbClr val="A50021"/>
                </a:solidFill>
                <a:latin typeface="微软雅黑" panose="020B0503020204020204" pitchFamily="34" charset="-122"/>
                <a:ea typeface="微软雅黑" panose="020B0503020204020204" pitchFamily="34" charset="-122"/>
              </a:rPr>
              <a:t>挡土墙</a:t>
            </a:r>
            <a:r>
              <a:rPr lang="en-US" altLang="zh-CN" sz="2800" b="1" dirty="0" smtClean="0">
                <a:solidFill>
                  <a:srgbClr val="A50021"/>
                </a:solidFill>
                <a:latin typeface="微软雅黑" panose="020B0503020204020204" pitchFamily="34" charset="-122"/>
                <a:ea typeface="微软雅黑" panose="020B0503020204020204" pitchFamily="34" charset="-122"/>
              </a:rPr>
              <a:t>)</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2" name="矩形 1"/>
          <p:cNvSpPr/>
          <p:nvPr/>
        </p:nvSpPr>
        <p:spPr>
          <a:xfrm>
            <a:off x="872375" y="1391614"/>
            <a:ext cx="3697200" cy="1508105"/>
          </a:xfrm>
          <a:prstGeom prst="rect">
            <a:avLst/>
          </a:prstGeom>
        </p:spPr>
        <p:txBody>
          <a:bodyPr wrap="square">
            <a:spAutoFit/>
          </a:bodyPr>
          <a:lstStyle/>
          <a:p>
            <a:r>
              <a:rPr kumimoji="1" lang="zh-CN" altLang="en-US" sz="2000" b="1" dirty="0">
                <a:solidFill>
                  <a:srgbClr val="000066"/>
                </a:solidFill>
                <a:latin typeface="幼圆" panose="02010509060101010101" pitchFamily="49" charset="-122"/>
                <a:ea typeface="幼圆" panose="02010509060101010101" pitchFamily="49" charset="-122"/>
              </a:rPr>
              <a:t>用来支撑天然或人工斜坡不致坍塌以保持土体稳定性，或使部分侧向荷载传递分散到填土上的一种结构物</a:t>
            </a:r>
            <a:endParaRPr lang="zh-CN" altLang="en-US" sz="2000" dirty="0">
              <a:solidFill>
                <a:srgbClr val="000066"/>
              </a:solidFill>
              <a:latin typeface="幼圆" panose="02010509060101010101" pitchFamily="49" charset="-122"/>
              <a:ea typeface="幼圆" panose="02010509060101010101" pitchFamily="49" charset="-122"/>
            </a:endParaRPr>
          </a:p>
        </p:txBody>
      </p:sp>
      <p:sp>
        <p:nvSpPr>
          <p:cNvPr id="17" name="Text Box 46"/>
          <p:cNvSpPr txBox="1">
            <a:spLocks noChangeArrowheads="1"/>
          </p:cNvSpPr>
          <p:nvPr/>
        </p:nvSpPr>
        <p:spPr bwMode="auto">
          <a:xfrm>
            <a:off x="443450" y="3166600"/>
            <a:ext cx="4884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挡</a:t>
            </a:r>
            <a:r>
              <a:rPr lang="zh-CN" altLang="en-US" sz="2800" b="1" dirty="0">
                <a:solidFill>
                  <a:srgbClr val="A50021"/>
                </a:solidFill>
                <a:latin typeface="微软雅黑" panose="020B0503020204020204" pitchFamily="34" charset="-122"/>
                <a:ea typeface="微软雅黑" panose="020B0503020204020204" pitchFamily="34" charset="-122"/>
              </a:rPr>
              <a:t>土结构物上的土压力 </a:t>
            </a:r>
          </a:p>
        </p:txBody>
      </p:sp>
      <p:sp>
        <p:nvSpPr>
          <p:cNvPr id="18" name="矩形 17"/>
          <p:cNvSpPr/>
          <p:nvPr/>
        </p:nvSpPr>
        <p:spPr>
          <a:xfrm>
            <a:off x="887975" y="3825197"/>
            <a:ext cx="3697200" cy="1508105"/>
          </a:xfrm>
          <a:prstGeom prst="rect">
            <a:avLst/>
          </a:prstGeom>
        </p:spPr>
        <p:txBody>
          <a:bodyPr wrap="square">
            <a:spAutoFit/>
          </a:bodyPr>
          <a:lstStyle/>
          <a:p>
            <a:r>
              <a:rPr kumimoji="1" lang="zh-CN" altLang="en-US" sz="2000" b="1" dirty="0">
                <a:solidFill>
                  <a:srgbClr val="000066"/>
                </a:solidFill>
                <a:latin typeface="幼圆" panose="02010509060101010101" pitchFamily="49" charset="-122"/>
                <a:ea typeface="幼圆" panose="02010509060101010101" pitchFamily="49" charset="-122"/>
              </a:rPr>
              <a:t>由于土体自重、</a:t>
            </a:r>
            <a:r>
              <a:rPr kumimoji="1" lang="zh-CN" altLang="en-US" sz="2000" b="1" dirty="0" smtClean="0">
                <a:solidFill>
                  <a:srgbClr val="000066"/>
                </a:solidFill>
                <a:latin typeface="幼圆" panose="02010509060101010101" pitchFamily="49" charset="-122"/>
                <a:ea typeface="幼圆" panose="02010509060101010101" pitchFamily="49" charset="-122"/>
              </a:rPr>
              <a:t>土体上部荷载</a:t>
            </a:r>
            <a:r>
              <a:rPr kumimoji="1" lang="zh-CN" altLang="en-US" sz="2000" b="1" dirty="0">
                <a:solidFill>
                  <a:srgbClr val="000066"/>
                </a:solidFill>
                <a:latin typeface="幼圆" panose="02010509060101010101" pitchFamily="49" charset="-122"/>
                <a:ea typeface="幼圆" panose="02010509060101010101" pitchFamily="49" charset="-122"/>
              </a:rPr>
              <a:t>或结构物的侧向挤压作用，挡土结构物所承受的来自墙后填土的侧向压力</a:t>
            </a:r>
            <a:endParaRPr lang="zh-CN" altLang="en-US" sz="2000" dirty="0">
              <a:solidFill>
                <a:srgbClr val="000066"/>
              </a:solidFill>
              <a:latin typeface="幼圆" panose="02010509060101010101" pitchFamily="49" charset="-122"/>
              <a:ea typeface="幼圆" panose="02010509060101010101" pitchFamily="49" charset="-122"/>
            </a:endParaRPr>
          </a:p>
        </p:txBody>
      </p:sp>
      <p:grpSp>
        <p:nvGrpSpPr>
          <p:cNvPr id="11" name="组合 10"/>
          <p:cNvGrpSpPr/>
          <p:nvPr/>
        </p:nvGrpSpPr>
        <p:grpSpPr>
          <a:xfrm>
            <a:off x="7858198" y="4624251"/>
            <a:ext cx="1049565" cy="555093"/>
            <a:chOff x="7858198" y="4624251"/>
            <a:chExt cx="1049565" cy="555093"/>
          </a:xfrm>
        </p:grpSpPr>
        <p:sp>
          <p:nvSpPr>
            <p:cNvPr id="30" name="Line 16"/>
            <p:cNvSpPr>
              <a:spLocks noChangeShapeType="1"/>
            </p:cNvSpPr>
            <p:nvPr/>
          </p:nvSpPr>
          <p:spPr bwMode="auto">
            <a:xfrm flipV="1">
              <a:off x="7858198" y="4624251"/>
              <a:ext cx="676202" cy="105648"/>
            </a:xfrm>
            <a:prstGeom prst="line">
              <a:avLst/>
            </a:prstGeom>
            <a:noFill/>
            <a:ln w="57150">
              <a:solidFill>
                <a:srgbClr val="D4070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18"/>
            <p:cNvSpPr txBox="1">
              <a:spLocks noChangeArrowheads="1"/>
            </p:cNvSpPr>
            <p:nvPr/>
          </p:nvSpPr>
          <p:spPr bwMode="auto">
            <a:xfrm>
              <a:off x="7919572" y="4840790"/>
              <a:ext cx="9881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80000"/>
                </a:lnSpc>
              </a:pPr>
              <a:r>
                <a:rPr lang="zh-CN" altLang="en-US" sz="2000" b="1" dirty="0" smtClean="0">
                  <a:solidFill>
                    <a:srgbClr val="C00000"/>
                  </a:solidFill>
                  <a:latin typeface="黑体" panose="02010609060101010101" pitchFamily="49" charset="-122"/>
                  <a:ea typeface="黑体" panose="02010609060101010101" pitchFamily="49" charset="-122"/>
                </a:rPr>
                <a:t>土压力</a:t>
              </a:r>
              <a:endParaRPr lang="zh-CN" altLang="en-US" sz="2000" b="1" dirty="0">
                <a:solidFill>
                  <a:srgbClr val="C00000"/>
                </a:solidFill>
                <a:latin typeface="黑体" panose="02010609060101010101" pitchFamily="49" charset="-122"/>
                <a:ea typeface="黑体" panose="02010609060101010101" pitchFamily="49" charset="-122"/>
              </a:endParaRPr>
            </a:p>
          </p:txBody>
        </p:sp>
      </p:grpSp>
      <p:grpSp>
        <p:nvGrpSpPr>
          <p:cNvPr id="3" name="组合 2"/>
          <p:cNvGrpSpPr/>
          <p:nvPr/>
        </p:nvGrpSpPr>
        <p:grpSpPr>
          <a:xfrm>
            <a:off x="5354377" y="736227"/>
            <a:ext cx="3352301" cy="2380400"/>
            <a:chOff x="5354377" y="736227"/>
            <a:chExt cx="3352301" cy="2380400"/>
          </a:xfrm>
        </p:grpSpPr>
        <p:sp>
          <p:nvSpPr>
            <p:cNvPr id="33" name="Freeform 7"/>
            <p:cNvSpPr>
              <a:spLocks noChangeAspect="1"/>
            </p:cNvSpPr>
            <p:nvPr/>
          </p:nvSpPr>
          <p:spPr bwMode="auto">
            <a:xfrm>
              <a:off x="5360975" y="821562"/>
              <a:ext cx="3345703" cy="2295065"/>
            </a:xfrm>
            <a:custGeom>
              <a:avLst/>
              <a:gdLst>
                <a:gd name="T0" fmla="*/ 2388 w 4284"/>
                <a:gd name="T1" fmla="*/ 2466 h 3066"/>
                <a:gd name="T2" fmla="*/ 0 w 4284"/>
                <a:gd name="T3" fmla="*/ 2466 h 3066"/>
                <a:gd name="T4" fmla="*/ 0 w 4284"/>
                <a:gd name="T5" fmla="*/ 3066 h 3066"/>
                <a:gd name="T6" fmla="*/ 4284 w 4284"/>
                <a:gd name="T7" fmla="*/ 3066 h 3066"/>
                <a:gd name="T8" fmla="*/ 4284 w 4284"/>
                <a:gd name="T9" fmla="*/ 0 h 3066"/>
                <a:gd name="T10" fmla="*/ 4224 w 4284"/>
                <a:gd name="T11" fmla="*/ 36 h 3066"/>
                <a:gd name="T12" fmla="*/ 4164 w 4284"/>
                <a:gd name="T13" fmla="*/ 48 h 3066"/>
                <a:gd name="T14" fmla="*/ 4092 w 4284"/>
                <a:gd name="T15" fmla="*/ 66 h 3066"/>
                <a:gd name="T16" fmla="*/ 4074 w 4284"/>
                <a:gd name="T17" fmla="*/ 108 h 3066"/>
                <a:gd name="T18" fmla="*/ 4038 w 4284"/>
                <a:gd name="T19" fmla="*/ 84 h 3066"/>
                <a:gd name="T20" fmla="*/ 4002 w 4284"/>
                <a:gd name="T21" fmla="*/ 90 h 3066"/>
                <a:gd name="T22" fmla="*/ 3936 w 4284"/>
                <a:gd name="T23" fmla="*/ 120 h 3066"/>
                <a:gd name="T24" fmla="*/ 3846 w 4284"/>
                <a:gd name="T25" fmla="*/ 132 h 3066"/>
                <a:gd name="T26" fmla="*/ 3762 w 4284"/>
                <a:gd name="T27" fmla="*/ 138 h 3066"/>
                <a:gd name="T28" fmla="*/ 3630 w 4284"/>
                <a:gd name="T29" fmla="*/ 162 h 3066"/>
                <a:gd name="T30" fmla="*/ 3534 w 4284"/>
                <a:gd name="T31" fmla="*/ 186 h 3066"/>
                <a:gd name="T32" fmla="*/ 3468 w 4284"/>
                <a:gd name="T33" fmla="*/ 198 h 3066"/>
                <a:gd name="T34" fmla="*/ 3378 w 4284"/>
                <a:gd name="T35" fmla="*/ 222 h 3066"/>
                <a:gd name="T36" fmla="*/ 3300 w 4284"/>
                <a:gd name="T37" fmla="*/ 252 h 3066"/>
                <a:gd name="T38" fmla="*/ 3252 w 4284"/>
                <a:gd name="T39" fmla="*/ 288 h 3066"/>
                <a:gd name="T40" fmla="*/ 3216 w 4284"/>
                <a:gd name="T41" fmla="*/ 246 h 3066"/>
                <a:gd name="T42" fmla="*/ 3078 w 4284"/>
                <a:gd name="T43" fmla="*/ 288 h 3066"/>
                <a:gd name="T44" fmla="*/ 3000 w 4284"/>
                <a:gd name="T45" fmla="*/ 312 h 3066"/>
                <a:gd name="T46" fmla="*/ 2934 w 4284"/>
                <a:gd name="T47" fmla="*/ 318 h 3066"/>
                <a:gd name="T48" fmla="*/ 2826 w 4284"/>
                <a:gd name="T49" fmla="*/ 342 h 3066"/>
                <a:gd name="T50" fmla="*/ 2748 w 4284"/>
                <a:gd name="T51" fmla="*/ 354 h 3066"/>
                <a:gd name="T52" fmla="*/ 2670 w 4284"/>
                <a:gd name="T53" fmla="*/ 372 h 3066"/>
                <a:gd name="T54" fmla="*/ 2598 w 4284"/>
                <a:gd name="T55" fmla="*/ 396 h 3066"/>
                <a:gd name="T56" fmla="*/ 2448 w 4284"/>
                <a:gd name="T57" fmla="*/ 432 h 3066"/>
                <a:gd name="T58" fmla="*/ 2298 w 4284"/>
                <a:gd name="T59" fmla="*/ 462 h 3066"/>
                <a:gd name="T60" fmla="*/ 2238 w 4284"/>
                <a:gd name="T61" fmla="*/ 492 h 3066"/>
                <a:gd name="T62" fmla="*/ 2112 w 4284"/>
                <a:gd name="T63" fmla="*/ 498 h 3066"/>
                <a:gd name="T64" fmla="*/ 1986 w 4284"/>
                <a:gd name="T65" fmla="*/ 540 h 3066"/>
                <a:gd name="T66" fmla="*/ 1866 w 4284"/>
                <a:gd name="T67" fmla="*/ 570 h 3066"/>
                <a:gd name="T68" fmla="*/ 1812 w 4284"/>
                <a:gd name="T69" fmla="*/ 570 h 3066"/>
                <a:gd name="T70" fmla="*/ 2388 w 4284"/>
                <a:gd name="T71" fmla="*/ 2466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84" h="3066">
                  <a:moveTo>
                    <a:pt x="2388" y="2466"/>
                  </a:moveTo>
                  <a:lnTo>
                    <a:pt x="0" y="2466"/>
                  </a:lnTo>
                  <a:lnTo>
                    <a:pt x="0" y="3066"/>
                  </a:lnTo>
                  <a:lnTo>
                    <a:pt x="4284" y="3066"/>
                  </a:lnTo>
                  <a:lnTo>
                    <a:pt x="4284" y="0"/>
                  </a:lnTo>
                  <a:lnTo>
                    <a:pt x="4224" y="36"/>
                  </a:lnTo>
                  <a:lnTo>
                    <a:pt x="4164" y="48"/>
                  </a:lnTo>
                  <a:lnTo>
                    <a:pt x="4092" y="66"/>
                  </a:lnTo>
                  <a:lnTo>
                    <a:pt x="4074" y="108"/>
                  </a:lnTo>
                  <a:lnTo>
                    <a:pt x="4038" y="84"/>
                  </a:lnTo>
                  <a:lnTo>
                    <a:pt x="4002" y="90"/>
                  </a:lnTo>
                  <a:lnTo>
                    <a:pt x="3936" y="120"/>
                  </a:lnTo>
                  <a:lnTo>
                    <a:pt x="3846" y="132"/>
                  </a:lnTo>
                  <a:lnTo>
                    <a:pt x="3762" y="138"/>
                  </a:lnTo>
                  <a:lnTo>
                    <a:pt x="3630" y="162"/>
                  </a:lnTo>
                  <a:lnTo>
                    <a:pt x="3534" y="186"/>
                  </a:lnTo>
                  <a:lnTo>
                    <a:pt x="3468" y="198"/>
                  </a:lnTo>
                  <a:lnTo>
                    <a:pt x="3378" y="222"/>
                  </a:lnTo>
                  <a:lnTo>
                    <a:pt x="3300" y="252"/>
                  </a:lnTo>
                  <a:lnTo>
                    <a:pt x="3252" y="288"/>
                  </a:lnTo>
                  <a:lnTo>
                    <a:pt x="3216" y="246"/>
                  </a:lnTo>
                  <a:lnTo>
                    <a:pt x="3078" y="288"/>
                  </a:lnTo>
                  <a:lnTo>
                    <a:pt x="3000" y="312"/>
                  </a:lnTo>
                  <a:lnTo>
                    <a:pt x="2934" y="318"/>
                  </a:lnTo>
                  <a:lnTo>
                    <a:pt x="2826" y="342"/>
                  </a:lnTo>
                  <a:lnTo>
                    <a:pt x="2748" y="354"/>
                  </a:lnTo>
                  <a:lnTo>
                    <a:pt x="2670" y="372"/>
                  </a:lnTo>
                  <a:lnTo>
                    <a:pt x="2598" y="396"/>
                  </a:lnTo>
                  <a:lnTo>
                    <a:pt x="2448" y="432"/>
                  </a:lnTo>
                  <a:lnTo>
                    <a:pt x="2298" y="462"/>
                  </a:lnTo>
                  <a:lnTo>
                    <a:pt x="2238" y="492"/>
                  </a:lnTo>
                  <a:lnTo>
                    <a:pt x="2112" y="498"/>
                  </a:lnTo>
                  <a:lnTo>
                    <a:pt x="1986" y="540"/>
                  </a:lnTo>
                  <a:lnTo>
                    <a:pt x="1866" y="570"/>
                  </a:lnTo>
                  <a:lnTo>
                    <a:pt x="1812" y="570"/>
                  </a:lnTo>
                  <a:lnTo>
                    <a:pt x="2388" y="2466"/>
                  </a:lnTo>
                  <a:close/>
                </a:path>
              </a:pathLst>
            </a:custGeom>
            <a:pattFill prst="pct5">
              <a:fgClr>
                <a:schemeClr val="tx1"/>
              </a:fgClr>
              <a:bgClr>
                <a:srgbClr val="F5D0AB"/>
              </a:bgClr>
            </a:pattFill>
            <a:ln>
              <a:noFill/>
            </a:ln>
            <a:effectLst/>
            <a:extLst/>
          </p:spPr>
          <p:txBody>
            <a:bodyPr/>
            <a:lstStyle/>
            <a:p>
              <a:endParaRPr lang="zh-CN" altLang="en-US" sz="2600" b="1">
                <a:latin typeface="微软雅黑" panose="020B0503020204020204" pitchFamily="34" charset="-122"/>
                <a:ea typeface="微软雅黑" panose="020B0503020204020204" pitchFamily="34" charset="-122"/>
              </a:endParaRPr>
            </a:p>
          </p:txBody>
        </p:sp>
        <p:cxnSp>
          <p:nvCxnSpPr>
            <p:cNvPr id="10" name="直接连接符 9"/>
            <p:cNvCxnSpPr/>
            <p:nvPr/>
          </p:nvCxnSpPr>
          <p:spPr bwMode="auto">
            <a:xfrm>
              <a:off x="5354377" y="2672032"/>
              <a:ext cx="1237139" cy="489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Freeform 8"/>
            <p:cNvSpPr>
              <a:spLocks noChangeAspect="1"/>
            </p:cNvSpPr>
            <p:nvPr/>
          </p:nvSpPr>
          <p:spPr bwMode="auto">
            <a:xfrm>
              <a:off x="6475948" y="1239255"/>
              <a:ext cx="881971" cy="1630350"/>
            </a:xfrm>
            <a:custGeom>
              <a:avLst/>
              <a:gdLst>
                <a:gd name="T0" fmla="*/ 966 w 1128"/>
                <a:gd name="T1" fmla="*/ 1842 h 2178"/>
                <a:gd name="T2" fmla="*/ 1128 w 1128"/>
                <a:gd name="T3" fmla="*/ 1842 h 2178"/>
                <a:gd name="T4" fmla="*/ 1128 w 1128"/>
                <a:gd name="T5" fmla="*/ 2178 h 2178"/>
                <a:gd name="T6" fmla="*/ 0 w 1128"/>
                <a:gd name="T7" fmla="*/ 2178 h 2178"/>
                <a:gd name="T8" fmla="*/ 6 w 1128"/>
                <a:gd name="T9" fmla="*/ 1962 h 2178"/>
                <a:gd name="T10" fmla="*/ 240 w 1128"/>
                <a:gd name="T11" fmla="*/ 1830 h 2178"/>
                <a:gd name="T12" fmla="*/ 276 w 1128"/>
                <a:gd name="T13" fmla="*/ 6 h 2178"/>
                <a:gd name="T14" fmla="*/ 402 w 1128"/>
                <a:gd name="T15" fmla="*/ 0 h 2178"/>
                <a:gd name="T16" fmla="*/ 966 w 1128"/>
                <a:gd name="T17" fmla="*/ 1842 h 2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8" h="2178">
                  <a:moveTo>
                    <a:pt x="966" y="1842"/>
                  </a:moveTo>
                  <a:lnTo>
                    <a:pt x="1128" y="1842"/>
                  </a:lnTo>
                  <a:lnTo>
                    <a:pt x="1128" y="2178"/>
                  </a:lnTo>
                  <a:lnTo>
                    <a:pt x="0" y="2178"/>
                  </a:lnTo>
                  <a:lnTo>
                    <a:pt x="6" y="1962"/>
                  </a:lnTo>
                  <a:lnTo>
                    <a:pt x="240" y="1830"/>
                  </a:lnTo>
                  <a:lnTo>
                    <a:pt x="276" y="6"/>
                  </a:lnTo>
                  <a:lnTo>
                    <a:pt x="402" y="0"/>
                  </a:lnTo>
                  <a:lnTo>
                    <a:pt x="966" y="1842"/>
                  </a:lnTo>
                  <a:close/>
                </a:path>
              </a:pathLst>
            </a:custGeom>
            <a:pattFill prst="dkUpDiag">
              <a:fgClr>
                <a:srgbClr val="9966FF"/>
              </a:fgClr>
              <a:bgClr>
                <a:schemeClr val="bg1"/>
              </a:bgClr>
            </a:pattFill>
            <a:ln w="9525" cap="flat" cmpd="sng">
              <a:solidFill>
                <a:srgbClr val="000000"/>
              </a:solidFill>
              <a:prstDash val="solid"/>
              <a:round/>
              <a:headEnd/>
              <a:tailEnd/>
            </a:ln>
            <a:effectLs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35" name="Freeform 11"/>
            <p:cNvSpPr>
              <a:spLocks noChangeAspect="1"/>
            </p:cNvSpPr>
            <p:nvPr/>
          </p:nvSpPr>
          <p:spPr bwMode="auto">
            <a:xfrm>
              <a:off x="6873825" y="1252729"/>
              <a:ext cx="680243" cy="1477644"/>
            </a:xfrm>
            <a:custGeom>
              <a:avLst/>
              <a:gdLst>
                <a:gd name="T0" fmla="*/ 426 w 870"/>
                <a:gd name="T1" fmla="*/ 54 h 1974"/>
                <a:gd name="T2" fmla="*/ 240 w 870"/>
                <a:gd name="T3" fmla="*/ 54 h 1974"/>
                <a:gd name="T4" fmla="*/ 246 w 870"/>
                <a:gd name="T5" fmla="*/ 0 h 1974"/>
                <a:gd name="T6" fmla="*/ 0 w 870"/>
                <a:gd name="T7" fmla="*/ 66 h 1974"/>
                <a:gd name="T8" fmla="*/ 516 w 870"/>
                <a:gd name="T9" fmla="*/ 1692 h 1974"/>
                <a:gd name="T10" fmla="*/ 564 w 870"/>
                <a:gd name="T11" fmla="*/ 1716 h 1974"/>
                <a:gd name="T12" fmla="*/ 582 w 870"/>
                <a:gd name="T13" fmla="*/ 1752 h 1974"/>
                <a:gd name="T14" fmla="*/ 606 w 870"/>
                <a:gd name="T15" fmla="*/ 1788 h 1974"/>
                <a:gd name="T16" fmla="*/ 870 w 870"/>
                <a:gd name="T17" fmla="*/ 1788 h 1974"/>
                <a:gd name="T18" fmla="*/ 870 w 870"/>
                <a:gd name="T19" fmla="*/ 1974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0" h="1974">
                  <a:moveTo>
                    <a:pt x="426" y="54"/>
                  </a:moveTo>
                  <a:lnTo>
                    <a:pt x="240" y="54"/>
                  </a:lnTo>
                  <a:lnTo>
                    <a:pt x="246" y="0"/>
                  </a:lnTo>
                  <a:lnTo>
                    <a:pt x="0" y="66"/>
                  </a:lnTo>
                  <a:lnTo>
                    <a:pt x="516" y="1692"/>
                  </a:lnTo>
                  <a:lnTo>
                    <a:pt x="564" y="1716"/>
                  </a:lnTo>
                  <a:lnTo>
                    <a:pt x="582" y="1752"/>
                  </a:lnTo>
                  <a:lnTo>
                    <a:pt x="606" y="1788"/>
                  </a:lnTo>
                  <a:lnTo>
                    <a:pt x="870" y="1788"/>
                  </a:lnTo>
                  <a:lnTo>
                    <a:pt x="870" y="1974"/>
                  </a:lnTo>
                </a:path>
              </a:pathLst>
            </a:custGeom>
            <a:noFill/>
            <a:ln w="63500" cap="flat" cmpd="sng">
              <a:solidFill>
                <a:srgbClr val="C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nvGrpSpPr>
            <p:cNvPr id="49" name="Group 12"/>
            <p:cNvGrpSpPr>
              <a:grpSpLocks noChangeAspect="1"/>
            </p:cNvGrpSpPr>
            <p:nvPr/>
          </p:nvGrpSpPr>
          <p:grpSpPr bwMode="auto">
            <a:xfrm>
              <a:off x="6798087" y="1131463"/>
              <a:ext cx="98518" cy="121266"/>
              <a:chOff x="2514" y="828"/>
              <a:chExt cx="126" cy="162"/>
            </a:xfrm>
          </p:grpSpPr>
          <p:sp>
            <p:nvSpPr>
              <p:cNvPr id="205" name="Freeform 1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6" name="Freeform 1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7" name="Freeform 1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8" name="Freeform 1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9" name="Freeform 1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0" name="Group 18"/>
            <p:cNvGrpSpPr>
              <a:grpSpLocks noChangeAspect="1"/>
            </p:cNvGrpSpPr>
            <p:nvPr/>
          </p:nvGrpSpPr>
          <p:grpSpPr bwMode="auto">
            <a:xfrm>
              <a:off x="6866893" y="1109007"/>
              <a:ext cx="98518" cy="121266"/>
              <a:chOff x="2514" y="828"/>
              <a:chExt cx="126" cy="162"/>
            </a:xfrm>
          </p:grpSpPr>
          <p:sp>
            <p:nvSpPr>
              <p:cNvPr id="200" name="Freeform 1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1" name="Freeform 2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2" name="Freeform 2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3" name="Freeform 2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4" name="Freeform 2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1" name="Group 24"/>
            <p:cNvGrpSpPr>
              <a:grpSpLocks noChangeAspect="1"/>
            </p:cNvGrpSpPr>
            <p:nvPr/>
          </p:nvGrpSpPr>
          <p:grpSpPr bwMode="auto">
            <a:xfrm>
              <a:off x="6931790" y="1094035"/>
              <a:ext cx="98518" cy="121266"/>
              <a:chOff x="2514" y="828"/>
              <a:chExt cx="126" cy="162"/>
            </a:xfrm>
          </p:grpSpPr>
          <p:sp>
            <p:nvSpPr>
              <p:cNvPr id="195" name="Freeform 2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6" name="Freeform 2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7" name="Freeform 2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8" name="Freeform 2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9" name="Freeform 2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2" name="Group 30"/>
            <p:cNvGrpSpPr>
              <a:grpSpLocks noChangeAspect="1"/>
            </p:cNvGrpSpPr>
            <p:nvPr/>
          </p:nvGrpSpPr>
          <p:grpSpPr bwMode="auto">
            <a:xfrm>
              <a:off x="6997468" y="1076070"/>
              <a:ext cx="98518" cy="121266"/>
              <a:chOff x="2514" y="828"/>
              <a:chExt cx="126" cy="162"/>
            </a:xfrm>
          </p:grpSpPr>
          <p:sp>
            <p:nvSpPr>
              <p:cNvPr id="190" name="Freeform 3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1" name="Freeform 3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2" name="Freeform 3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3" name="Freeform 3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4" name="Freeform 3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3" name="Group 36"/>
            <p:cNvGrpSpPr>
              <a:grpSpLocks noChangeAspect="1"/>
            </p:cNvGrpSpPr>
            <p:nvPr/>
          </p:nvGrpSpPr>
          <p:grpSpPr bwMode="auto">
            <a:xfrm>
              <a:off x="7059238" y="1076070"/>
              <a:ext cx="98518" cy="121266"/>
              <a:chOff x="2514" y="828"/>
              <a:chExt cx="126" cy="162"/>
            </a:xfrm>
          </p:grpSpPr>
          <p:sp>
            <p:nvSpPr>
              <p:cNvPr id="185" name="Freeform 3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6" name="Freeform 3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7" name="Freeform 3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8" name="Freeform 4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9" name="Freeform 4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4" name="Group 42"/>
            <p:cNvGrpSpPr>
              <a:grpSpLocks noChangeAspect="1"/>
            </p:cNvGrpSpPr>
            <p:nvPr/>
          </p:nvGrpSpPr>
          <p:grpSpPr bwMode="auto">
            <a:xfrm>
              <a:off x="7136644" y="1053614"/>
              <a:ext cx="98518" cy="121266"/>
              <a:chOff x="2514" y="828"/>
              <a:chExt cx="126" cy="162"/>
            </a:xfrm>
          </p:grpSpPr>
          <p:sp>
            <p:nvSpPr>
              <p:cNvPr id="180" name="Freeform 4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1" name="Freeform 4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2" name="Freeform 4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3" name="Freeform 4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4" name="Freeform 4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5" name="Group 48"/>
            <p:cNvGrpSpPr>
              <a:grpSpLocks noChangeAspect="1"/>
            </p:cNvGrpSpPr>
            <p:nvPr/>
          </p:nvGrpSpPr>
          <p:grpSpPr bwMode="auto">
            <a:xfrm>
              <a:off x="7216398" y="1031157"/>
              <a:ext cx="98518" cy="121266"/>
              <a:chOff x="2514" y="828"/>
              <a:chExt cx="126" cy="162"/>
            </a:xfrm>
          </p:grpSpPr>
          <p:sp>
            <p:nvSpPr>
              <p:cNvPr id="175" name="Freeform 4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6" name="Freeform 5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7" name="Freeform 5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8" name="Freeform 5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9" name="Freeform 5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6" name="Group 54"/>
            <p:cNvGrpSpPr>
              <a:grpSpLocks noChangeAspect="1"/>
            </p:cNvGrpSpPr>
            <p:nvPr/>
          </p:nvGrpSpPr>
          <p:grpSpPr bwMode="auto">
            <a:xfrm>
              <a:off x="7286767" y="1016935"/>
              <a:ext cx="98518" cy="121266"/>
              <a:chOff x="2514" y="828"/>
              <a:chExt cx="126" cy="162"/>
            </a:xfrm>
          </p:grpSpPr>
          <p:sp>
            <p:nvSpPr>
              <p:cNvPr id="170" name="Freeform 5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1" name="Freeform 5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2" name="Freeform 5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3" name="Freeform 5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4" name="Freeform 5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7" name="Group 60"/>
            <p:cNvGrpSpPr>
              <a:grpSpLocks noChangeAspect="1"/>
            </p:cNvGrpSpPr>
            <p:nvPr/>
          </p:nvGrpSpPr>
          <p:grpSpPr bwMode="auto">
            <a:xfrm>
              <a:off x="7363393" y="995975"/>
              <a:ext cx="98518" cy="121266"/>
              <a:chOff x="2514" y="828"/>
              <a:chExt cx="126" cy="162"/>
            </a:xfrm>
          </p:grpSpPr>
          <p:sp>
            <p:nvSpPr>
              <p:cNvPr id="165" name="Freeform 6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6" name="Freeform 6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7" name="Freeform 6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8" name="Freeform 6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9" name="Freeform 6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8" name="Group 66"/>
            <p:cNvGrpSpPr>
              <a:grpSpLocks noChangeAspect="1"/>
            </p:cNvGrpSpPr>
            <p:nvPr/>
          </p:nvGrpSpPr>
          <p:grpSpPr bwMode="auto">
            <a:xfrm>
              <a:off x="7440018" y="973519"/>
              <a:ext cx="98518" cy="121266"/>
              <a:chOff x="2514" y="828"/>
              <a:chExt cx="126" cy="162"/>
            </a:xfrm>
          </p:grpSpPr>
          <p:sp>
            <p:nvSpPr>
              <p:cNvPr id="160" name="Freeform 6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1" name="Freeform 6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2" name="Freeform 6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3" name="Freeform 7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4" name="Freeform 7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59" name="Group 72"/>
            <p:cNvGrpSpPr>
              <a:grpSpLocks noChangeAspect="1"/>
            </p:cNvGrpSpPr>
            <p:nvPr/>
          </p:nvGrpSpPr>
          <p:grpSpPr bwMode="auto">
            <a:xfrm>
              <a:off x="7515079" y="967530"/>
              <a:ext cx="98518" cy="121266"/>
              <a:chOff x="2514" y="828"/>
              <a:chExt cx="126" cy="162"/>
            </a:xfrm>
          </p:grpSpPr>
          <p:sp>
            <p:nvSpPr>
              <p:cNvPr id="155" name="Freeform 7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6" name="Freeform 7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7" name="Freeform 7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8" name="Freeform 7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9" name="Freeform 7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0" name="Group 78"/>
            <p:cNvGrpSpPr>
              <a:grpSpLocks noChangeAspect="1"/>
            </p:cNvGrpSpPr>
            <p:nvPr/>
          </p:nvGrpSpPr>
          <p:grpSpPr bwMode="auto">
            <a:xfrm>
              <a:off x="7587795" y="948816"/>
              <a:ext cx="98518" cy="121266"/>
              <a:chOff x="2514" y="828"/>
              <a:chExt cx="126" cy="162"/>
            </a:xfrm>
          </p:grpSpPr>
          <p:sp>
            <p:nvSpPr>
              <p:cNvPr id="150" name="Freeform 7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1" name="Freeform 8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2" name="Freeform 8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3" name="Freeform 8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4" name="Freeform 8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1" name="Group 84"/>
            <p:cNvGrpSpPr>
              <a:grpSpLocks noChangeAspect="1"/>
            </p:cNvGrpSpPr>
            <p:nvPr/>
          </p:nvGrpSpPr>
          <p:grpSpPr bwMode="auto">
            <a:xfrm>
              <a:off x="7661292" y="940582"/>
              <a:ext cx="98518" cy="121266"/>
              <a:chOff x="2514" y="828"/>
              <a:chExt cx="126" cy="162"/>
            </a:xfrm>
          </p:grpSpPr>
          <p:sp>
            <p:nvSpPr>
              <p:cNvPr id="145" name="Freeform 8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6" name="Freeform 8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7" name="Freeform 8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8" name="Freeform 8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9" name="Freeform 8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2" name="Group 90"/>
            <p:cNvGrpSpPr>
              <a:grpSpLocks noChangeAspect="1"/>
            </p:cNvGrpSpPr>
            <p:nvPr/>
          </p:nvGrpSpPr>
          <p:grpSpPr bwMode="auto">
            <a:xfrm>
              <a:off x="7733226" y="919623"/>
              <a:ext cx="98518" cy="121266"/>
              <a:chOff x="2514" y="828"/>
              <a:chExt cx="126" cy="162"/>
            </a:xfrm>
          </p:grpSpPr>
          <p:sp>
            <p:nvSpPr>
              <p:cNvPr id="140" name="Freeform 9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1" name="Freeform 9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2" name="Freeform 9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3" name="Freeform 9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4" name="Freeform 9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3" name="Group 96"/>
            <p:cNvGrpSpPr>
              <a:grpSpLocks noChangeAspect="1"/>
            </p:cNvGrpSpPr>
            <p:nvPr/>
          </p:nvGrpSpPr>
          <p:grpSpPr bwMode="auto">
            <a:xfrm>
              <a:off x="7801251" y="897914"/>
              <a:ext cx="98518" cy="121266"/>
              <a:chOff x="2514" y="828"/>
              <a:chExt cx="126" cy="162"/>
            </a:xfrm>
          </p:grpSpPr>
          <p:sp>
            <p:nvSpPr>
              <p:cNvPr id="135" name="Freeform 9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6" name="Freeform 9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7" name="Freeform 9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8" name="Freeform 10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9" name="Freeform 10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4" name="Group 102"/>
            <p:cNvGrpSpPr>
              <a:grpSpLocks noChangeAspect="1"/>
            </p:cNvGrpSpPr>
            <p:nvPr/>
          </p:nvGrpSpPr>
          <p:grpSpPr bwMode="auto">
            <a:xfrm>
              <a:off x="7871620" y="911389"/>
              <a:ext cx="98518" cy="121266"/>
              <a:chOff x="2514" y="828"/>
              <a:chExt cx="126" cy="162"/>
            </a:xfrm>
          </p:grpSpPr>
          <p:sp>
            <p:nvSpPr>
              <p:cNvPr id="130" name="Freeform 10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1" name="Freeform 10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2" name="Freeform 10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3" name="Freeform 10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4" name="Freeform 10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5" name="Group 108"/>
            <p:cNvGrpSpPr>
              <a:grpSpLocks noChangeAspect="1"/>
            </p:cNvGrpSpPr>
            <p:nvPr/>
          </p:nvGrpSpPr>
          <p:grpSpPr bwMode="auto">
            <a:xfrm>
              <a:off x="7945900" y="879201"/>
              <a:ext cx="98518" cy="121266"/>
              <a:chOff x="2514" y="828"/>
              <a:chExt cx="126" cy="162"/>
            </a:xfrm>
          </p:grpSpPr>
          <p:sp>
            <p:nvSpPr>
              <p:cNvPr id="125" name="Freeform 10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6" name="Freeform 11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7" name="Freeform 11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8" name="Freeform 11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9" name="Freeform 11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6" name="Group 114"/>
            <p:cNvGrpSpPr>
              <a:grpSpLocks noChangeAspect="1"/>
            </p:cNvGrpSpPr>
            <p:nvPr/>
          </p:nvGrpSpPr>
          <p:grpSpPr bwMode="auto">
            <a:xfrm>
              <a:off x="8024089" y="861236"/>
              <a:ext cx="98518" cy="121266"/>
              <a:chOff x="2514" y="828"/>
              <a:chExt cx="126" cy="162"/>
            </a:xfrm>
          </p:grpSpPr>
          <p:sp>
            <p:nvSpPr>
              <p:cNvPr id="120" name="Freeform 11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1" name="Freeform 11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2" name="Freeform 11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3" name="Freeform 11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4" name="Freeform 11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7" name="Group 120"/>
            <p:cNvGrpSpPr>
              <a:grpSpLocks noChangeAspect="1"/>
            </p:cNvGrpSpPr>
            <p:nvPr/>
          </p:nvGrpSpPr>
          <p:grpSpPr bwMode="auto">
            <a:xfrm>
              <a:off x="8089767" y="839527"/>
              <a:ext cx="98518" cy="121266"/>
              <a:chOff x="2514" y="828"/>
              <a:chExt cx="126" cy="162"/>
            </a:xfrm>
          </p:grpSpPr>
          <p:sp>
            <p:nvSpPr>
              <p:cNvPr id="115" name="Freeform 12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6" name="Freeform 12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7" name="Freeform 12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8" name="Freeform 12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9" name="Freeform 12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8" name="Group 126"/>
            <p:cNvGrpSpPr>
              <a:grpSpLocks noChangeAspect="1"/>
            </p:cNvGrpSpPr>
            <p:nvPr/>
          </p:nvGrpSpPr>
          <p:grpSpPr bwMode="auto">
            <a:xfrm>
              <a:off x="8156228" y="825305"/>
              <a:ext cx="98518" cy="121266"/>
              <a:chOff x="2514" y="828"/>
              <a:chExt cx="126" cy="162"/>
            </a:xfrm>
          </p:grpSpPr>
          <p:sp>
            <p:nvSpPr>
              <p:cNvPr id="110" name="Freeform 12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1" name="Freeform 12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2" name="Freeform 12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3" name="Freeform 13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14" name="Freeform 13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69" name="Group 132"/>
            <p:cNvGrpSpPr>
              <a:grpSpLocks noChangeAspect="1"/>
            </p:cNvGrpSpPr>
            <p:nvPr/>
          </p:nvGrpSpPr>
          <p:grpSpPr bwMode="auto">
            <a:xfrm>
              <a:off x="8226598" y="811082"/>
              <a:ext cx="98518" cy="121266"/>
              <a:chOff x="2514" y="828"/>
              <a:chExt cx="126" cy="162"/>
            </a:xfrm>
          </p:grpSpPr>
          <p:sp>
            <p:nvSpPr>
              <p:cNvPr id="105" name="Freeform 13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6" name="Freeform 13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7" name="Freeform 13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8" name="Freeform 13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9" name="Freeform 13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70" name="Group 138"/>
            <p:cNvGrpSpPr>
              <a:grpSpLocks noChangeAspect="1"/>
            </p:cNvGrpSpPr>
            <p:nvPr/>
          </p:nvGrpSpPr>
          <p:grpSpPr bwMode="auto">
            <a:xfrm>
              <a:off x="8304787" y="803597"/>
              <a:ext cx="98518" cy="121266"/>
              <a:chOff x="2514" y="828"/>
              <a:chExt cx="126" cy="162"/>
            </a:xfrm>
          </p:grpSpPr>
          <p:sp>
            <p:nvSpPr>
              <p:cNvPr id="100" name="Freeform 13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1" name="Freeform 14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2" name="Freeform 14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3" name="Freeform 14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04" name="Freeform 14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71" name="Group 144"/>
            <p:cNvGrpSpPr>
              <a:grpSpLocks noChangeAspect="1"/>
            </p:cNvGrpSpPr>
            <p:nvPr/>
          </p:nvGrpSpPr>
          <p:grpSpPr bwMode="auto">
            <a:xfrm>
              <a:off x="8380630" y="799854"/>
              <a:ext cx="98518" cy="121266"/>
              <a:chOff x="2514" y="828"/>
              <a:chExt cx="126" cy="162"/>
            </a:xfrm>
          </p:grpSpPr>
          <p:sp>
            <p:nvSpPr>
              <p:cNvPr id="95" name="Freeform 14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6" name="Freeform 14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7" name="Freeform 14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8" name="Freeform 14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9" name="Freeform 14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72" name="Group 150"/>
            <p:cNvGrpSpPr>
              <a:grpSpLocks noChangeAspect="1"/>
            </p:cNvGrpSpPr>
            <p:nvPr/>
          </p:nvGrpSpPr>
          <p:grpSpPr bwMode="auto">
            <a:xfrm>
              <a:off x="8455692" y="775152"/>
              <a:ext cx="98518" cy="121266"/>
              <a:chOff x="2514" y="828"/>
              <a:chExt cx="126" cy="162"/>
            </a:xfrm>
          </p:grpSpPr>
          <p:sp>
            <p:nvSpPr>
              <p:cNvPr id="90" name="Freeform 15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1" name="Freeform 15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2" name="Freeform 15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3" name="Freeform 15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94" name="Freeform 15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73" name="Group 156"/>
            <p:cNvGrpSpPr>
              <a:grpSpLocks noChangeAspect="1"/>
            </p:cNvGrpSpPr>
            <p:nvPr/>
          </p:nvGrpSpPr>
          <p:grpSpPr bwMode="auto">
            <a:xfrm>
              <a:off x="8515115" y="781140"/>
              <a:ext cx="98518" cy="121266"/>
              <a:chOff x="2514" y="828"/>
              <a:chExt cx="126" cy="162"/>
            </a:xfrm>
          </p:grpSpPr>
          <p:sp>
            <p:nvSpPr>
              <p:cNvPr id="85" name="Freeform 15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6" name="Freeform 15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7" name="Freeform 15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8" name="Freeform 16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9" name="Freeform 16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74" name="Group 162"/>
            <p:cNvGrpSpPr>
              <a:grpSpLocks noChangeAspect="1"/>
            </p:cNvGrpSpPr>
            <p:nvPr/>
          </p:nvGrpSpPr>
          <p:grpSpPr bwMode="auto">
            <a:xfrm>
              <a:off x="8598777" y="736227"/>
              <a:ext cx="98518" cy="121266"/>
              <a:chOff x="2514" y="828"/>
              <a:chExt cx="126" cy="162"/>
            </a:xfrm>
          </p:grpSpPr>
          <p:sp>
            <p:nvSpPr>
              <p:cNvPr id="80" name="Freeform 16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1" name="Freeform 16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2" name="Freeform 16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3" name="Freeform 16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84" name="Freeform 16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sp>
          <p:nvSpPr>
            <p:cNvPr id="76" name="Text Box 172"/>
            <p:cNvSpPr txBox="1">
              <a:spLocks noChangeAspect="1" noChangeArrowheads="1"/>
            </p:cNvSpPr>
            <p:nvPr/>
          </p:nvSpPr>
          <p:spPr bwMode="auto">
            <a:xfrm>
              <a:off x="7163661" y="1451973"/>
              <a:ext cx="1418347"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土工织物反滤</a:t>
              </a:r>
            </a:p>
          </p:txBody>
        </p:sp>
        <p:sp>
          <p:nvSpPr>
            <p:cNvPr id="77" name="Text Box 173"/>
            <p:cNvSpPr txBox="1">
              <a:spLocks noChangeAspect="1" noChangeArrowheads="1"/>
            </p:cNvSpPr>
            <p:nvPr/>
          </p:nvSpPr>
          <p:spPr bwMode="auto">
            <a:xfrm>
              <a:off x="7257206" y="1793249"/>
              <a:ext cx="1165796"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砂砾石料</a:t>
              </a:r>
            </a:p>
          </p:txBody>
        </p:sp>
        <p:sp>
          <p:nvSpPr>
            <p:cNvPr id="79" name="Line 175"/>
            <p:cNvSpPr>
              <a:spLocks noChangeAspect="1" noChangeShapeType="1"/>
            </p:cNvSpPr>
            <p:nvPr/>
          </p:nvSpPr>
          <p:spPr bwMode="auto">
            <a:xfrm flipH="1">
              <a:off x="7065138" y="1977056"/>
              <a:ext cx="222317" cy="878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1" name="Text Box 170"/>
            <p:cNvSpPr txBox="1">
              <a:spLocks noChangeAspect="1" noChangeArrowheads="1"/>
            </p:cNvSpPr>
            <p:nvPr/>
          </p:nvSpPr>
          <p:spPr bwMode="auto">
            <a:xfrm>
              <a:off x="5823845" y="2102100"/>
              <a:ext cx="81551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排水孔</a:t>
              </a:r>
            </a:p>
          </p:txBody>
        </p:sp>
        <p:grpSp>
          <p:nvGrpSpPr>
            <p:cNvPr id="212" name="组合 211"/>
            <p:cNvGrpSpPr/>
            <p:nvPr/>
          </p:nvGrpSpPr>
          <p:grpSpPr>
            <a:xfrm>
              <a:off x="6663844" y="2202234"/>
              <a:ext cx="1582307" cy="412119"/>
              <a:chOff x="3871571" y="4240809"/>
              <a:chExt cx="2951188" cy="768651"/>
            </a:xfrm>
          </p:grpSpPr>
          <p:sp>
            <p:nvSpPr>
              <p:cNvPr id="213" name="Rectangle 9"/>
              <p:cNvSpPr>
                <a:spLocks noChangeAspect="1" noChangeArrowheads="1"/>
              </p:cNvSpPr>
              <p:nvPr/>
            </p:nvSpPr>
            <p:spPr bwMode="auto">
              <a:xfrm>
                <a:off x="3871571" y="4924295"/>
                <a:ext cx="1076236" cy="62827"/>
              </a:xfrm>
              <a:prstGeom prst="rect">
                <a:avLst/>
              </a:prstGeom>
              <a:solidFill>
                <a:srgbClr val="CC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66"/>
                  </a:solidFill>
                  <a:latin typeface="幼圆" panose="02010509060101010101" pitchFamily="49" charset="-122"/>
                  <a:ea typeface="幼圆" panose="02010509060101010101" pitchFamily="49" charset="-122"/>
                </a:endParaRPr>
              </a:p>
            </p:txBody>
          </p:sp>
          <p:sp>
            <p:nvSpPr>
              <p:cNvPr id="214" name="Oval 10"/>
              <p:cNvSpPr>
                <a:spLocks noChangeAspect="1" noChangeArrowheads="1"/>
              </p:cNvSpPr>
              <p:nvPr/>
            </p:nvSpPr>
            <p:spPr bwMode="auto">
              <a:xfrm>
                <a:off x="4900688" y="4882411"/>
                <a:ext cx="132707" cy="127049"/>
              </a:xfrm>
              <a:prstGeom prst="ellipse">
                <a:avLst/>
              </a:prstGeom>
              <a:solidFill>
                <a:srgbClr val="CC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66"/>
                  </a:solidFill>
                  <a:latin typeface="幼圆" panose="02010509060101010101" pitchFamily="49" charset="-122"/>
                  <a:ea typeface="幼圆" panose="02010509060101010101" pitchFamily="49" charset="-122"/>
                </a:endParaRPr>
              </a:p>
            </p:txBody>
          </p:sp>
          <p:sp>
            <p:nvSpPr>
              <p:cNvPr id="215" name="Text Box 168"/>
              <p:cNvSpPr txBox="1">
                <a:spLocks noChangeAspect="1" noChangeArrowheads="1"/>
              </p:cNvSpPr>
              <p:nvPr/>
            </p:nvSpPr>
            <p:spPr bwMode="auto">
              <a:xfrm>
                <a:off x="5301736" y="4240809"/>
                <a:ext cx="1521023" cy="70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排水管</a:t>
                </a:r>
              </a:p>
            </p:txBody>
          </p:sp>
        </p:grpSp>
        <p:sp>
          <p:nvSpPr>
            <p:cNvPr id="219" name="Line 175"/>
            <p:cNvSpPr>
              <a:spLocks noChangeAspect="1" noChangeShapeType="1"/>
            </p:cNvSpPr>
            <p:nvPr/>
          </p:nvSpPr>
          <p:spPr bwMode="auto">
            <a:xfrm flipH="1">
              <a:off x="7034658" y="1677854"/>
              <a:ext cx="222317" cy="878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0" name="Line 175"/>
            <p:cNvSpPr>
              <a:spLocks noChangeAspect="1" noChangeShapeType="1"/>
            </p:cNvSpPr>
            <p:nvPr/>
          </p:nvSpPr>
          <p:spPr bwMode="auto">
            <a:xfrm flipH="1">
              <a:off x="7246769" y="2484642"/>
              <a:ext cx="238057" cy="9410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1" name="Line 175"/>
            <p:cNvSpPr>
              <a:spLocks noChangeShapeType="1"/>
            </p:cNvSpPr>
            <p:nvPr/>
          </p:nvSpPr>
          <p:spPr bwMode="auto">
            <a:xfrm>
              <a:off x="6408264" y="2469713"/>
              <a:ext cx="204651" cy="1208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sp>
        <p:nvSpPr>
          <p:cNvPr id="222" name="Text Box 2"/>
          <p:cNvSpPr txBox="1">
            <a:spLocks noChangeArrowheads="1"/>
          </p:cNvSpPr>
          <p:nvPr/>
        </p:nvSpPr>
        <p:spPr bwMode="auto">
          <a:xfrm>
            <a:off x="2828582" y="5773566"/>
            <a:ext cx="4864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a:t>
            </a:r>
            <a:r>
              <a:rPr kumimoji="1" lang="zh-CN" altLang="en-US" sz="4000" b="1" dirty="0">
                <a:solidFill>
                  <a:srgbClr val="000066"/>
                </a:solidFill>
                <a:latin typeface="黑体" pitchFamily="2" charset="-122"/>
                <a:ea typeface="黑体" pitchFamily="2" charset="-122"/>
              </a:rPr>
              <a:t>土结构</a:t>
            </a:r>
            <a:r>
              <a:rPr kumimoji="1" lang="zh-CN" altLang="en-US" sz="4000" b="1" dirty="0" smtClean="0">
                <a:solidFill>
                  <a:srgbClr val="000066"/>
                </a:solidFill>
                <a:latin typeface="黑体" pitchFamily="2" charset="-122"/>
                <a:ea typeface="黑体" pitchFamily="2" charset="-122"/>
              </a:rPr>
              <a:t>物及土压力 </a:t>
            </a:r>
            <a:endParaRPr kumimoji="1" lang="zh-CN" altLang="en-US" sz="4000" b="1" dirty="0">
              <a:solidFill>
                <a:srgbClr val="000066"/>
              </a:solidFill>
              <a:latin typeface="黑体" pitchFamily="2" charset="-122"/>
              <a:ea typeface="黑体" pitchFamily="2" charset="-122"/>
            </a:endParaRPr>
          </a:p>
        </p:txBody>
      </p:sp>
      <p:sp>
        <p:nvSpPr>
          <p:cNvPr id="216"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挡土结构物</a:t>
            </a:r>
            <a:r>
              <a:rPr lang="zh-CN" altLang="en-US" sz="1800" b="1" kern="900" spc="130" dirty="0" smtClean="0">
                <a:solidFill>
                  <a:srgbClr val="000066"/>
                </a:solidFill>
                <a:ea typeface="黑体" panose="02010609060101010101" pitchFamily="49" charset="-122"/>
                <a:cs typeface="Times New Roman" panose="02020603050405020304" pitchFamily="18" charset="0"/>
              </a:rPr>
              <a:t>及应用</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arn(inVertical)">
                                      <p:cBhvr>
                                        <p:cTn id="18" dur="500"/>
                                        <p:tgtEl>
                                          <p:spTgt spid="17"/>
                                        </p:tgtEl>
                                      </p:cBhvr>
                                    </p:animEffect>
                                  </p:childTnLst>
                                </p:cTn>
                              </p:par>
                            </p:childTnLst>
                          </p:cTn>
                        </p:par>
                        <p:par>
                          <p:cTn id="19" fill="hold">
                            <p:stCondLst>
                              <p:cond delay="500"/>
                            </p:stCondLst>
                            <p:childTnLst>
                              <p:par>
                                <p:cTn id="20" presetID="16" presetClass="entr" presetSubtype="21"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par>
                                <p:cTn id="23" presetID="16" presetClass="entr" presetSubtype="21"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par>
                          <p:cTn id="26" fill="hold">
                            <p:stCondLst>
                              <p:cond delay="1000"/>
                            </p:stCondLst>
                            <p:childTnLst>
                              <p:par>
                                <p:cTn id="27" presetID="22" presetClass="entr" presetSubtype="2" repeatCount="3000" fill="hold" nodeType="afterEffect">
                                  <p:stCondLst>
                                    <p:cond delay="100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Freeform 142"/>
          <p:cNvSpPr>
            <a:spLocks/>
          </p:cNvSpPr>
          <p:nvPr/>
        </p:nvSpPr>
        <p:spPr bwMode="auto">
          <a:xfrm>
            <a:off x="5242851" y="4188778"/>
            <a:ext cx="2185931" cy="1716050"/>
          </a:xfrm>
          <a:custGeom>
            <a:avLst/>
            <a:gdLst>
              <a:gd name="T0" fmla="*/ 1082 w 1746"/>
              <a:gd name="T1" fmla="*/ 634 h 1454"/>
              <a:gd name="T2" fmla="*/ 0 w 1746"/>
              <a:gd name="T3" fmla="*/ 210 h 1454"/>
              <a:gd name="T4" fmla="*/ 0 w 1746"/>
              <a:gd name="T5" fmla="*/ 0 h 1454"/>
              <a:gd name="T6" fmla="*/ 1746 w 1746"/>
              <a:gd name="T7" fmla="*/ 0 h 1454"/>
              <a:gd name="T8" fmla="*/ 1737 w 1746"/>
              <a:gd name="T9" fmla="*/ 1454 h 1454"/>
              <a:gd name="T10" fmla="*/ 1271 w 1746"/>
              <a:gd name="T11" fmla="*/ 1454 h 1454"/>
              <a:gd name="T12" fmla="*/ 978 w 1746"/>
              <a:gd name="T13" fmla="*/ 567 h 1454"/>
              <a:gd name="T14" fmla="*/ 901 w 1746"/>
              <a:gd name="T15" fmla="*/ 589 h 1454"/>
              <a:gd name="T16" fmla="*/ 1037 w 1746"/>
              <a:gd name="T17" fmla="*/ 589 h 1454"/>
              <a:gd name="connsiteX0" fmla="*/ 6197 w 10000"/>
              <a:gd name="connsiteY0" fmla="*/ 4360 h 10000"/>
              <a:gd name="connsiteX1" fmla="*/ 3769 w 10000"/>
              <a:gd name="connsiteY1" fmla="*/ 2543 h 10000"/>
              <a:gd name="connsiteX2" fmla="*/ 0 w 10000"/>
              <a:gd name="connsiteY2" fmla="*/ 1444 h 10000"/>
              <a:gd name="connsiteX3" fmla="*/ 0 w 10000"/>
              <a:gd name="connsiteY3" fmla="*/ 0 h 10000"/>
              <a:gd name="connsiteX4" fmla="*/ 10000 w 10000"/>
              <a:gd name="connsiteY4" fmla="*/ 0 h 10000"/>
              <a:gd name="connsiteX5" fmla="*/ 9948 w 10000"/>
              <a:gd name="connsiteY5" fmla="*/ 10000 h 10000"/>
              <a:gd name="connsiteX6" fmla="*/ 7279 w 10000"/>
              <a:gd name="connsiteY6" fmla="*/ 10000 h 10000"/>
              <a:gd name="connsiteX7" fmla="*/ 5601 w 10000"/>
              <a:gd name="connsiteY7" fmla="*/ 3900 h 10000"/>
              <a:gd name="connsiteX8" fmla="*/ 5160 w 10000"/>
              <a:gd name="connsiteY8" fmla="*/ 4051 h 10000"/>
              <a:gd name="connsiteX9" fmla="*/ 5939 w 10000"/>
              <a:gd name="connsiteY9" fmla="*/ 405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6197" y="4360"/>
                </a:moveTo>
                <a:cubicBezTo>
                  <a:pt x="5315" y="3940"/>
                  <a:pt x="4651" y="2963"/>
                  <a:pt x="3769" y="2543"/>
                </a:cubicBezTo>
                <a:lnTo>
                  <a:pt x="0" y="1444"/>
                </a:lnTo>
                <a:lnTo>
                  <a:pt x="0" y="0"/>
                </a:lnTo>
                <a:lnTo>
                  <a:pt x="10000" y="0"/>
                </a:lnTo>
                <a:cubicBezTo>
                  <a:pt x="9983" y="3333"/>
                  <a:pt x="9965" y="6667"/>
                  <a:pt x="9948" y="10000"/>
                </a:cubicBezTo>
                <a:lnTo>
                  <a:pt x="7279" y="10000"/>
                </a:lnTo>
                <a:lnTo>
                  <a:pt x="5601" y="3900"/>
                </a:lnTo>
                <a:lnTo>
                  <a:pt x="5160" y="4051"/>
                </a:lnTo>
                <a:lnTo>
                  <a:pt x="5939" y="4051"/>
                </a:lnTo>
              </a:path>
            </a:pathLst>
          </a:custGeom>
          <a:pattFill prst="pct5">
            <a:fgClr>
              <a:schemeClr val="tx1"/>
            </a:fgClr>
            <a:bgClr>
              <a:srgbClr val="F5D0AB"/>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2" name="Text Box 215"/>
          <p:cNvSpPr txBox="1">
            <a:spLocks noChangeArrowheads="1"/>
          </p:cNvSpPr>
          <p:nvPr/>
        </p:nvSpPr>
        <p:spPr bwMode="auto">
          <a:xfrm>
            <a:off x="6989889" y="5145226"/>
            <a:ext cx="48571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solidFill>
                  <a:srgbClr val="000066"/>
                </a:solidFill>
              </a:rPr>
              <a:t>E</a:t>
            </a:r>
          </a:p>
        </p:txBody>
      </p:sp>
      <p:sp>
        <p:nvSpPr>
          <p:cNvPr id="337" name="矩形 336"/>
          <p:cNvSpPr/>
          <p:nvPr/>
        </p:nvSpPr>
        <p:spPr bwMode="auto">
          <a:xfrm>
            <a:off x="4240417" y="1742021"/>
            <a:ext cx="746710" cy="1070788"/>
          </a:xfrm>
          <a:prstGeom prst="rect">
            <a:avLst/>
          </a:prstGeom>
          <a:solidFill>
            <a:srgbClr val="3399FF"/>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78" name="任意多边形 277"/>
          <p:cNvSpPr/>
          <p:nvPr/>
        </p:nvSpPr>
        <p:spPr bwMode="auto">
          <a:xfrm>
            <a:off x="4250208" y="1535790"/>
            <a:ext cx="1820307" cy="1542553"/>
          </a:xfrm>
          <a:custGeom>
            <a:avLst/>
            <a:gdLst>
              <a:gd name="connsiteX0" fmla="*/ 0 w 1645920"/>
              <a:gd name="connsiteY0" fmla="*/ 1272208 h 1542553"/>
              <a:gd name="connsiteX1" fmla="*/ 0 w 1645920"/>
              <a:gd name="connsiteY1" fmla="*/ 1542553 h 1542553"/>
              <a:gd name="connsiteX2" fmla="*/ 1645920 w 1645920"/>
              <a:gd name="connsiteY2" fmla="*/ 1542553 h 1542553"/>
              <a:gd name="connsiteX3" fmla="*/ 1645920 w 1645920"/>
              <a:gd name="connsiteY3" fmla="*/ 0 h 1542553"/>
              <a:gd name="connsiteX4" fmla="*/ 707666 w 1645920"/>
              <a:gd name="connsiteY4" fmla="*/ 0 h 1542553"/>
              <a:gd name="connsiteX5" fmla="*/ 707666 w 1645920"/>
              <a:gd name="connsiteY5" fmla="*/ 1280160 h 1542553"/>
              <a:gd name="connsiteX6" fmla="*/ 0 w 1645920"/>
              <a:gd name="connsiteY6" fmla="*/ 1272208 h 154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920" h="1542553">
                <a:moveTo>
                  <a:pt x="0" y="1272208"/>
                </a:moveTo>
                <a:lnTo>
                  <a:pt x="0" y="1542553"/>
                </a:lnTo>
                <a:lnTo>
                  <a:pt x="1645920" y="1542553"/>
                </a:lnTo>
                <a:lnTo>
                  <a:pt x="1645920" y="0"/>
                </a:lnTo>
                <a:lnTo>
                  <a:pt x="707666" y="0"/>
                </a:lnTo>
                <a:lnTo>
                  <a:pt x="707666" y="1280160"/>
                </a:lnTo>
                <a:lnTo>
                  <a:pt x="0" y="1272208"/>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19" name="Group 156"/>
          <p:cNvGrpSpPr>
            <a:grpSpLocks/>
          </p:cNvGrpSpPr>
          <p:nvPr/>
        </p:nvGrpSpPr>
        <p:grpSpPr bwMode="auto">
          <a:xfrm>
            <a:off x="6255830" y="4718850"/>
            <a:ext cx="785073" cy="1198037"/>
            <a:chOff x="2608" y="1430"/>
            <a:chExt cx="1006" cy="1476"/>
          </a:xfrm>
        </p:grpSpPr>
        <p:sp>
          <p:nvSpPr>
            <p:cNvPr id="223" name="Freeform 157"/>
            <p:cNvSpPr>
              <a:spLocks/>
            </p:cNvSpPr>
            <p:nvPr/>
          </p:nvSpPr>
          <p:spPr bwMode="auto">
            <a:xfrm>
              <a:off x="2608" y="1434"/>
              <a:ext cx="1006" cy="1472"/>
            </a:xfrm>
            <a:custGeom>
              <a:avLst/>
              <a:gdLst>
                <a:gd name="T0" fmla="*/ 1006 w 1006"/>
                <a:gd name="T1" fmla="*/ 1472 h 1472"/>
                <a:gd name="T2" fmla="*/ 0 w 1006"/>
                <a:gd name="T3" fmla="*/ 1472 h 1472"/>
                <a:gd name="T4" fmla="*/ 101 w 1006"/>
                <a:gd name="T5" fmla="*/ 0 h 1472"/>
                <a:gd name="T6" fmla="*/ 512 w 1006"/>
                <a:gd name="T7" fmla="*/ 0 h 1472"/>
                <a:gd name="T8" fmla="*/ 1006 w 1006"/>
                <a:gd name="T9" fmla="*/ 1472 h 1472"/>
              </a:gdLst>
              <a:ahLst/>
              <a:cxnLst>
                <a:cxn ang="0">
                  <a:pos x="T0" y="T1"/>
                </a:cxn>
                <a:cxn ang="0">
                  <a:pos x="T2" y="T3"/>
                </a:cxn>
                <a:cxn ang="0">
                  <a:pos x="T4" y="T5"/>
                </a:cxn>
                <a:cxn ang="0">
                  <a:pos x="T6" y="T7"/>
                </a:cxn>
                <a:cxn ang="0">
                  <a:pos x="T8" y="T9"/>
                </a:cxn>
              </a:cxnLst>
              <a:rect l="0" t="0" r="r" b="b"/>
              <a:pathLst>
                <a:path w="1006" h="1472">
                  <a:moveTo>
                    <a:pt x="1006" y="1472"/>
                  </a:moveTo>
                  <a:lnTo>
                    <a:pt x="0" y="1472"/>
                  </a:lnTo>
                  <a:lnTo>
                    <a:pt x="101" y="0"/>
                  </a:lnTo>
                  <a:lnTo>
                    <a:pt x="512" y="0"/>
                  </a:lnTo>
                  <a:lnTo>
                    <a:pt x="1006" y="1472"/>
                  </a:lnTo>
                  <a:close/>
                </a:path>
              </a:pathLst>
            </a:custGeom>
            <a:solidFill>
              <a:srgbClr val="800000"/>
            </a:solidFill>
            <a:ln w="127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4" name="Oval 158"/>
            <p:cNvSpPr>
              <a:spLocks noChangeAspect="1" noChangeArrowheads="1"/>
            </p:cNvSpPr>
            <p:nvPr/>
          </p:nvSpPr>
          <p:spPr bwMode="auto">
            <a:xfrm>
              <a:off x="2916" y="1985"/>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 name="Oval 159"/>
            <p:cNvSpPr>
              <a:spLocks noChangeAspect="1" noChangeArrowheads="1"/>
            </p:cNvSpPr>
            <p:nvPr/>
          </p:nvSpPr>
          <p:spPr bwMode="auto">
            <a:xfrm>
              <a:off x="3004" y="2102"/>
              <a:ext cx="176" cy="119"/>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 name="Oval 160"/>
            <p:cNvSpPr>
              <a:spLocks noChangeAspect="1" noChangeArrowheads="1"/>
            </p:cNvSpPr>
            <p:nvPr/>
          </p:nvSpPr>
          <p:spPr bwMode="auto">
            <a:xfrm>
              <a:off x="2887" y="2202"/>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 name="Oval 161"/>
            <p:cNvSpPr>
              <a:spLocks noChangeAspect="1" noChangeArrowheads="1"/>
            </p:cNvSpPr>
            <p:nvPr/>
          </p:nvSpPr>
          <p:spPr bwMode="auto">
            <a:xfrm>
              <a:off x="3063" y="2250"/>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 name="Oval 162"/>
            <p:cNvSpPr>
              <a:spLocks noChangeAspect="1" noChangeArrowheads="1"/>
            </p:cNvSpPr>
            <p:nvPr/>
          </p:nvSpPr>
          <p:spPr bwMode="auto">
            <a:xfrm>
              <a:off x="2916" y="2338"/>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9" name="Oval 163"/>
            <p:cNvSpPr>
              <a:spLocks noChangeAspect="1" noChangeArrowheads="1"/>
            </p:cNvSpPr>
            <p:nvPr/>
          </p:nvSpPr>
          <p:spPr bwMode="auto">
            <a:xfrm>
              <a:off x="3092" y="1985"/>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 name="Oval 164"/>
            <p:cNvSpPr>
              <a:spLocks noChangeAspect="1" noChangeArrowheads="1"/>
            </p:cNvSpPr>
            <p:nvPr/>
          </p:nvSpPr>
          <p:spPr bwMode="auto">
            <a:xfrm>
              <a:off x="2986" y="1867"/>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1" name="Oval 165"/>
            <p:cNvSpPr>
              <a:spLocks noChangeAspect="1" noChangeArrowheads="1"/>
            </p:cNvSpPr>
            <p:nvPr/>
          </p:nvSpPr>
          <p:spPr bwMode="auto">
            <a:xfrm>
              <a:off x="2798" y="2079"/>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 name="Oval 166"/>
            <p:cNvSpPr>
              <a:spLocks noChangeAspect="1" noChangeArrowheads="1"/>
            </p:cNvSpPr>
            <p:nvPr/>
          </p:nvSpPr>
          <p:spPr bwMode="auto">
            <a:xfrm>
              <a:off x="3092" y="2397"/>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3" name="Oval 167"/>
            <p:cNvSpPr>
              <a:spLocks noChangeAspect="1" noChangeArrowheads="1"/>
            </p:cNvSpPr>
            <p:nvPr/>
          </p:nvSpPr>
          <p:spPr bwMode="auto">
            <a:xfrm>
              <a:off x="2709" y="2309"/>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 name="Oval 168"/>
            <p:cNvSpPr>
              <a:spLocks noChangeAspect="1" noChangeArrowheads="1"/>
            </p:cNvSpPr>
            <p:nvPr/>
          </p:nvSpPr>
          <p:spPr bwMode="auto">
            <a:xfrm>
              <a:off x="3239" y="2309"/>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 name="Oval 169"/>
            <p:cNvSpPr>
              <a:spLocks noChangeAspect="1" noChangeArrowheads="1"/>
            </p:cNvSpPr>
            <p:nvPr/>
          </p:nvSpPr>
          <p:spPr bwMode="auto">
            <a:xfrm>
              <a:off x="3063" y="1720"/>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 name="Oval 170"/>
            <p:cNvSpPr>
              <a:spLocks noChangeAspect="1" noChangeArrowheads="1"/>
            </p:cNvSpPr>
            <p:nvPr/>
          </p:nvSpPr>
          <p:spPr bwMode="auto">
            <a:xfrm>
              <a:off x="2692" y="2185"/>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7" name="Oval 171"/>
            <p:cNvSpPr>
              <a:spLocks noChangeAspect="1" noChangeArrowheads="1"/>
            </p:cNvSpPr>
            <p:nvPr/>
          </p:nvSpPr>
          <p:spPr bwMode="auto">
            <a:xfrm>
              <a:off x="2798" y="2427"/>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Oval 172"/>
            <p:cNvSpPr>
              <a:spLocks noChangeAspect="1" noChangeArrowheads="1"/>
            </p:cNvSpPr>
            <p:nvPr/>
          </p:nvSpPr>
          <p:spPr bwMode="auto">
            <a:xfrm>
              <a:off x="2945" y="2514"/>
              <a:ext cx="176" cy="119"/>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Oval 173"/>
            <p:cNvSpPr>
              <a:spLocks noChangeAspect="1" noChangeArrowheads="1"/>
            </p:cNvSpPr>
            <p:nvPr/>
          </p:nvSpPr>
          <p:spPr bwMode="auto">
            <a:xfrm>
              <a:off x="3121" y="2515"/>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 name="Oval 174"/>
            <p:cNvSpPr>
              <a:spLocks noChangeAspect="1" noChangeArrowheads="1"/>
            </p:cNvSpPr>
            <p:nvPr/>
          </p:nvSpPr>
          <p:spPr bwMode="auto">
            <a:xfrm>
              <a:off x="3269" y="2426"/>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 name="Oval 175"/>
            <p:cNvSpPr>
              <a:spLocks noChangeAspect="1" noChangeArrowheads="1"/>
            </p:cNvSpPr>
            <p:nvPr/>
          </p:nvSpPr>
          <p:spPr bwMode="auto">
            <a:xfrm>
              <a:off x="3033" y="2633"/>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 name="Oval 176"/>
            <p:cNvSpPr>
              <a:spLocks noChangeAspect="1" noChangeArrowheads="1"/>
            </p:cNvSpPr>
            <p:nvPr/>
          </p:nvSpPr>
          <p:spPr bwMode="auto">
            <a:xfrm>
              <a:off x="3298" y="2544"/>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3" name="Oval 177"/>
            <p:cNvSpPr>
              <a:spLocks noChangeAspect="1" noChangeArrowheads="1"/>
            </p:cNvSpPr>
            <p:nvPr/>
          </p:nvSpPr>
          <p:spPr bwMode="auto">
            <a:xfrm>
              <a:off x="3209" y="2662"/>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 name="Oval 178"/>
            <p:cNvSpPr>
              <a:spLocks noChangeAspect="1" noChangeArrowheads="1"/>
            </p:cNvSpPr>
            <p:nvPr/>
          </p:nvSpPr>
          <p:spPr bwMode="auto">
            <a:xfrm>
              <a:off x="3180" y="2162"/>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 name="Oval 179"/>
            <p:cNvSpPr>
              <a:spLocks noChangeAspect="1" noChangeArrowheads="1"/>
            </p:cNvSpPr>
            <p:nvPr/>
          </p:nvSpPr>
          <p:spPr bwMode="auto">
            <a:xfrm>
              <a:off x="3383" y="2699"/>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 name="Oval 180"/>
            <p:cNvSpPr>
              <a:spLocks noChangeAspect="1" noChangeArrowheads="1"/>
            </p:cNvSpPr>
            <p:nvPr/>
          </p:nvSpPr>
          <p:spPr bwMode="auto">
            <a:xfrm>
              <a:off x="3087" y="2764"/>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 name="Oval 181"/>
            <p:cNvSpPr>
              <a:spLocks noChangeAspect="1" noChangeArrowheads="1"/>
            </p:cNvSpPr>
            <p:nvPr/>
          </p:nvSpPr>
          <p:spPr bwMode="auto">
            <a:xfrm>
              <a:off x="2737" y="1916"/>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 name="Oval 182"/>
            <p:cNvSpPr>
              <a:spLocks noChangeAspect="1" noChangeArrowheads="1"/>
            </p:cNvSpPr>
            <p:nvPr/>
          </p:nvSpPr>
          <p:spPr bwMode="auto">
            <a:xfrm>
              <a:off x="2767" y="2562"/>
              <a:ext cx="176" cy="119"/>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 name="Oval 183"/>
            <p:cNvSpPr>
              <a:spLocks noChangeAspect="1" noChangeArrowheads="1"/>
            </p:cNvSpPr>
            <p:nvPr/>
          </p:nvSpPr>
          <p:spPr bwMode="auto">
            <a:xfrm>
              <a:off x="2850" y="2688"/>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 name="Oval 184"/>
            <p:cNvSpPr>
              <a:spLocks noChangeAspect="1" noChangeArrowheads="1"/>
            </p:cNvSpPr>
            <p:nvPr/>
          </p:nvSpPr>
          <p:spPr bwMode="auto">
            <a:xfrm>
              <a:off x="2665" y="2687"/>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1" name="Oval 185"/>
            <p:cNvSpPr>
              <a:spLocks noChangeAspect="1" noChangeArrowheads="1"/>
            </p:cNvSpPr>
            <p:nvPr/>
          </p:nvSpPr>
          <p:spPr bwMode="auto">
            <a:xfrm>
              <a:off x="2832" y="1797"/>
              <a:ext cx="176" cy="119"/>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2" name="Oval 186"/>
            <p:cNvSpPr>
              <a:spLocks noChangeAspect="1" noChangeArrowheads="1"/>
            </p:cNvSpPr>
            <p:nvPr/>
          </p:nvSpPr>
          <p:spPr bwMode="auto">
            <a:xfrm>
              <a:off x="2879" y="1655"/>
              <a:ext cx="177"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3" name="Oval 187"/>
            <p:cNvSpPr>
              <a:spLocks noChangeAspect="1" noChangeArrowheads="1"/>
            </p:cNvSpPr>
            <p:nvPr/>
          </p:nvSpPr>
          <p:spPr bwMode="auto">
            <a:xfrm>
              <a:off x="2696" y="1696"/>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4" name="Oval 188"/>
            <p:cNvSpPr>
              <a:spLocks noChangeAspect="1" noChangeArrowheads="1"/>
            </p:cNvSpPr>
            <p:nvPr/>
          </p:nvSpPr>
          <p:spPr bwMode="auto">
            <a:xfrm>
              <a:off x="2749" y="1554"/>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5" name="Oval 189"/>
            <p:cNvSpPr>
              <a:spLocks noChangeAspect="1" noChangeArrowheads="1"/>
            </p:cNvSpPr>
            <p:nvPr/>
          </p:nvSpPr>
          <p:spPr bwMode="auto">
            <a:xfrm>
              <a:off x="2868" y="1430"/>
              <a:ext cx="176" cy="118"/>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 name="Oval 190"/>
            <p:cNvSpPr>
              <a:spLocks noChangeAspect="1" noChangeArrowheads="1"/>
            </p:cNvSpPr>
            <p:nvPr/>
          </p:nvSpPr>
          <p:spPr bwMode="auto">
            <a:xfrm>
              <a:off x="3291" y="2795"/>
              <a:ext cx="133" cy="87"/>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 name="Oval 191"/>
            <p:cNvSpPr>
              <a:spLocks noChangeAspect="1" noChangeArrowheads="1"/>
            </p:cNvSpPr>
            <p:nvPr/>
          </p:nvSpPr>
          <p:spPr bwMode="auto">
            <a:xfrm>
              <a:off x="2684" y="2497"/>
              <a:ext cx="111" cy="9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8" name="Oval 192"/>
            <p:cNvSpPr>
              <a:spLocks noChangeAspect="1" noChangeArrowheads="1"/>
            </p:cNvSpPr>
            <p:nvPr/>
          </p:nvSpPr>
          <p:spPr bwMode="auto">
            <a:xfrm>
              <a:off x="2689" y="1820"/>
              <a:ext cx="111" cy="94"/>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9" name="Oval 193"/>
            <p:cNvSpPr>
              <a:spLocks noChangeAspect="1" noChangeArrowheads="1"/>
            </p:cNvSpPr>
            <p:nvPr/>
          </p:nvSpPr>
          <p:spPr bwMode="auto">
            <a:xfrm>
              <a:off x="2962" y="2799"/>
              <a:ext cx="111" cy="94"/>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 name="Oval 194"/>
            <p:cNvSpPr>
              <a:spLocks noChangeAspect="1" noChangeArrowheads="1"/>
            </p:cNvSpPr>
            <p:nvPr/>
          </p:nvSpPr>
          <p:spPr bwMode="auto">
            <a:xfrm>
              <a:off x="2791" y="2793"/>
              <a:ext cx="110" cy="9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 name="Oval 195"/>
            <p:cNvSpPr>
              <a:spLocks noChangeAspect="1" noChangeArrowheads="1"/>
            </p:cNvSpPr>
            <p:nvPr/>
          </p:nvSpPr>
          <p:spPr bwMode="auto">
            <a:xfrm>
              <a:off x="3170" y="1855"/>
              <a:ext cx="111" cy="9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 name="Oval 196"/>
            <p:cNvSpPr>
              <a:spLocks noChangeAspect="1" noChangeArrowheads="1"/>
            </p:cNvSpPr>
            <p:nvPr/>
          </p:nvSpPr>
          <p:spPr bwMode="auto">
            <a:xfrm>
              <a:off x="2618" y="2787"/>
              <a:ext cx="111" cy="9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3" name="Oval 197"/>
            <p:cNvSpPr>
              <a:spLocks noChangeAspect="1" noChangeArrowheads="1"/>
            </p:cNvSpPr>
            <p:nvPr/>
          </p:nvSpPr>
          <p:spPr bwMode="auto">
            <a:xfrm>
              <a:off x="3218" y="2089"/>
              <a:ext cx="104" cy="4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4" name="Oval 198"/>
            <p:cNvSpPr>
              <a:spLocks noChangeAspect="1" noChangeArrowheads="1"/>
            </p:cNvSpPr>
            <p:nvPr/>
          </p:nvSpPr>
          <p:spPr bwMode="auto">
            <a:xfrm>
              <a:off x="3431" y="2824"/>
              <a:ext cx="103" cy="4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Oval 199"/>
            <p:cNvSpPr>
              <a:spLocks noChangeAspect="1" noChangeArrowheads="1"/>
            </p:cNvSpPr>
            <p:nvPr/>
          </p:nvSpPr>
          <p:spPr bwMode="auto">
            <a:xfrm>
              <a:off x="2696" y="2029"/>
              <a:ext cx="104" cy="4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 name="Oval 200"/>
            <p:cNvSpPr>
              <a:spLocks noChangeAspect="1" noChangeArrowheads="1"/>
            </p:cNvSpPr>
            <p:nvPr/>
          </p:nvSpPr>
          <p:spPr bwMode="auto">
            <a:xfrm>
              <a:off x="2962" y="1584"/>
              <a:ext cx="105" cy="4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 name="Oval 201"/>
            <p:cNvSpPr>
              <a:spLocks noChangeAspect="1" noChangeArrowheads="1"/>
            </p:cNvSpPr>
            <p:nvPr/>
          </p:nvSpPr>
          <p:spPr bwMode="auto">
            <a:xfrm>
              <a:off x="2712" y="1451"/>
              <a:ext cx="111" cy="9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8" name="Oval 202"/>
            <p:cNvSpPr>
              <a:spLocks noChangeAspect="1" noChangeArrowheads="1"/>
            </p:cNvSpPr>
            <p:nvPr/>
          </p:nvSpPr>
          <p:spPr bwMode="auto">
            <a:xfrm>
              <a:off x="2695" y="2106"/>
              <a:ext cx="104" cy="4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 name="Oval 203"/>
            <p:cNvSpPr>
              <a:spLocks noChangeAspect="1" noChangeArrowheads="1"/>
            </p:cNvSpPr>
            <p:nvPr/>
          </p:nvSpPr>
          <p:spPr bwMode="auto">
            <a:xfrm>
              <a:off x="2701" y="1565"/>
              <a:ext cx="49" cy="7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0" name="Oval 204"/>
            <p:cNvSpPr>
              <a:spLocks noChangeAspect="1" noChangeArrowheads="1"/>
            </p:cNvSpPr>
            <p:nvPr/>
          </p:nvSpPr>
          <p:spPr bwMode="auto">
            <a:xfrm>
              <a:off x="2689" y="2406"/>
              <a:ext cx="49" cy="7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1" name="Oval 205"/>
            <p:cNvSpPr>
              <a:spLocks noChangeAspect="1" noChangeArrowheads="1"/>
            </p:cNvSpPr>
            <p:nvPr/>
          </p:nvSpPr>
          <p:spPr bwMode="auto">
            <a:xfrm>
              <a:off x="2700" y="2596"/>
              <a:ext cx="50" cy="7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2" name="Oval 206"/>
            <p:cNvSpPr>
              <a:spLocks noChangeAspect="1" noChangeArrowheads="1"/>
            </p:cNvSpPr>
            <p:nvPr/>
          </p:nvSpPr>
          <p:spPr bwMode="auto">
            <a:xfrm>
              <a:off x="2634" y="2623"/>
              <a:ext cx="49" cy="7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3" name="Oval 207"/>
            <p:cNvSpPr>
              <a:spLocks noChangeAspect="1" noChangeArrowheads="1"/>
            </p:cNvSpPr>
            <p:nvPr/>
          </p:nvSpPr>
          <p:spPr bwMode="auto">
            <a:xfrm>
              <a:off x="3107" y="1616"/>
              <a:ext cx="50" cy="7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4" name="Oval 208"/>
            <p:cNvSpPr>
              <a:spLocks noChangeAspect="1" noChangeArrowheads="1"/>
            </p:cNvSpPr>
            <p:nvPr/>
          </p:nvSpPr>
          <p:spPr bwMode="auto">
            <a:xfrm>
              <a:off x="3036" y="1513"/>
              <a:ext cx="105" cy="45"/>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 name="Oval 209"/>
            <p:cNvSpPr>
              <a:spLocks noChangeAspect="1" noChangeArrowheads="1"/>
            </p:cNvSpPr>
            <p:nvPr/>
          </p:nvSpPr>
          <p:spPr bwMode="auto">
            <a:xfrm>
              <a:off x="3065" y="1631"/>
              <a:ext cx="50" cy="76"/>
            </a:xfrm>
            <a:prstGeom prst="ellipse">
              <a:avLst/>
            </a:prstGeom>
            <a:gradFill rotWithShape="1">
              <a:gsLst>
                <a:gs pos="0">
                  <a:srgbClr val="EFAB67"/>
                </a:gs>
                <a:gs pos="100000">
                  <a:schemeClr val="bg1"/>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 name="任意多边形 18"/>
          <p:cNvSpPr/>
          <p:nvPr/>
        </p:nvSpPr>
        <p:spPr bwMode="auto">
          <a:xfrm>
            <a:off x="5252236" y="4285882"/>
            <a:ext cx="1289691" cy="568893"/>
          </a:xfrm>
          <a:custGeom>
            <a:avLst/>
            <a:gdLst>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4185 w 1289691"/>
              <a:gd name="connsiteY9" fmla="*/ 211473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4185 w 1289691"/>
              <a:gd name="connsiteY9" fmla="*/ 211473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4185 w 1289691"/>
              <a:gd name="connsiteY9" fmla="*/ 211473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4185 w 1289691"/>
              <a:gd name="connsiteY9" fmla="*/ 211473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4185 w 1289691"/>
              <a:gd name="connsiteY9" fmla="*/ 211473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7164 w 1289691"/>
              <a:gd name="connsiteY9" fmla="*/ 202537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7164 w 1289691"/>
              <a:gd name="connsiteY9" fmla="*/ 202537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7164 w 1289691"/>
              <a:gd name="connsiteY9" fmla="*/ 202537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 name="connsiteX0" fmla="*/ 0 w 1289691"/>
              <a:gd name="connsiteY0" fmla="*/ 0 h 568893"/>
              <a:gd name="connsiteX1" fmla="*/ 0 w 1289691"/>
              <a:gd name="connsiteY1" fmla="*/ 232323 h 568893"/>
              <a:gd name="connsiteX2" fmla="*/ 184667 w 1289691"/>
              <a:gd name="connsiteY2" fmla="*/ 247215 h 568893"/>
              <a:gd name="connsiteX3" fmla="*/ 455710 w 1289691"/>
              <a:gd name="connsiteY3" fmla="*/ 294871 h 568893"/>
              <a:gd name="connsiteX4" fmla="*/ 750582 w 1289691"/>
              <a:gd name="connsiteY4" fmla="*/ 384226 h 568893"/>
              <a:gd name="connsiteX5" fmla="*/ 938228 w 1289691"/>
              <a:gd name="connsiteY5" fmla="*/ 476560 h 568893"/>
              <a:gd name="connsiteX6" fmla="*/ 1078217 w 1289691"/>
              <a:gd name="connsiteY6" fmla="*/ 568893 h 568893"/>
              <a:gd name="connsiteX7" fmla="*/ 1289691 w 1289691"/>
              <a:gd name="connsiteY7" fmla="*/ 431882 h 568893"/>
              <a:gd name="connsiteX8" fmla="*/ 1164594 w 1289691"/>
              <a:gd name="connsiteY8" fmla="*/ 330613 h 568893"/>
              <a:gd name="connsiteX9" fmla="*/ 947164 w 1289691"/>
              <a:gd name="connsiteY9" fmla="*/ 202537 h 568893"/>
              <a:gd name="connsiteX10" fmla="*/ 729733 w 1289691"/>
              <a:gd name="connsiteY10" fmla="*/ 113183 h 568893"/>
              <a:gd name="connsiteX11" fmla="*/ 428904 w 1289691"/>
              <a:gd name="connsiteY11" fmla="*/ 47656 h 568893"/>
              <a:gd name="connsiteX12" fmla="*/ 172753 w 1289691"/>
              <a:gd name="connsiteY12" fmla="*/ 11914 h 568893"/>
              <a:gd name="connsiteX13" fmla="*/ 0 w 1289691"/>
              <a:gd name="connsiteY13" fmla="*/ 0 h 56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89691" h="568893">
                <a:moveTo>
                  <a:pt x="0" y="0"/>
                </a:moveTo>
                <a:lnTo>
                  <a:pt x="0" y="232323"/>
                </a:lnTo>
                <a:lnTo>
                  <a:pt x="184667" y="247215"/>
                </a:lnTo>
                <a:cubicBezTo>
                  <a:pt x="260619" y="257640"/>
                  <a:pt x="361391" y="272036"/>
                  <a:pt x="455710" y="294871"/>
                </a:cubicBezTo>
                <a:cubicBezTo>
                  <a:pt x="550029" y="317706"/>
                  <a:pt x="670163" y="353945"/>
                  <a:pt x="750582" y="384226"/>
                </a:cubicBezTo>
                <a:cubicBezTo>
                  <a:pt x="831001" y="414507"/>
                  <a:pt x="883622" y="445782"/>
                  <a:pt x="938228" y="476560"/>
                </a:cubicBezTo>
                <a:lnTo>
                  <a:pt x="1078217" y="568893"/>
                </a:lnTo>
                <a:lnTo>
                  <a:pt x="1289691" y="431882"/>
                </a:lnTo>
                <a:lnTo>
                  <a:pt x="1164594" y="330613"/>
                </a:lnTo>
                <a:cubicBezTo>
                  <a:pt x="1107010" y="293878"/>
                  <a:pt x="1019641" y="238775"/>
                  <a:pt x="947164" y="202537"/>
                </a:cubicBezTo>
                <a:cubicBezTo>
                  <a:pt x="874687" y="166299"/>
                  <a:pt x="815613" y="140486"/>
                  <a:pt x="729733" y="113183"/>
                </a:cubicBezTo>
                <a:cubicBezTo>
                  <a:pt x="643853" y="85880"/>
                  <a:pt x="521734" y="64534"/>
                  <a:pt x="428904" y="47656"/>
                </a:cubicBezTo>
                <a:cubicBezTo>
                  <a:pt x="336074" y="30778"/>
                  <a:pt x="244237" y="19857"/>
                  <a:pt x="172753" y="11914"/>
                </a:cubicBezTo>
                <a:lnTo>
                  <a:pt x="0" y="0"/>
                </a:lnTo>
                <a:close/>
              </a:path>
            </a:pathLst>
          </a:custGeom>
          <a:pattFill prst="dk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a:solidFill>
                  <a:srgbClr val="A50021"/>
                </a:solidFill>
                <a:latin typeface="微软雅黑" panose="020B0503020204020204" pitchFamily="34" charset="-122"/>
                <a:ea typeface="微软雅黑" panose="020B0503020204020204" pitchFamily="34" charset="-122"/>
              </a:rPr>
              <a:t> </a:t>
            </a:r>
            <a:r>
              <a:rPr lang="zh-CN" altLang="en-US" sz="2800" b="1" dirty="0" smtClean="0">
                <a:solidFill>
                  <a:srgbClr val="A50021"/>
                </a:solidFill>
                <a:latin typeface="微软雅黑" panose="020B0503020204020204" pitchFamily="34" charset="-122"/>
                <a:ea typeface="微软雅黑" panose="020B0503020204020204" pitchFamily="34" charset="-122"/>
              </a:rPr>
              <a:t>典型挡土墙应用</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5" name="Text Box 47"/>
          <p:cNvSpPr txBox="1">
            <a:spLocks noChangeArrowheads="1"/>
          </p:cNvSpPr>
          <p:nvPr/>
        </p:nvSpPr>
        <p:spPr bwMode="auto">
          <a:xfrm>
            <a:off x="1078768" y="3244652"/>
            <a:ext cx="2427108"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smtClean="0">
                <a:solidFill>
                  <a:srgbClr val="000066"/>
                </a:solidFill>
                <a:latin typeface="黑体" panose="02010609060101010101" pitchFamily="49" charset="-122"/>
                <a:ea typeface="黑体" panose="02010609060101010101" pitchFamily="49" charset="-122"/>
              </a:rPr>
              <a:t>a</a:t>
            </a:r>
            <a:r>
              <a:rPr lang="zh-CN" altLang="en-US" sz="1800" b="1" dirty="0" smtClean="0">
                <a:solidFill>
                  <a:srgbClr val="000066"/>
                </a:solidFill>
                <a:latin typeface="黑体" panose="02010609060101010101" pitchFamily="49" charset="-122"/>
                <a:ea typeface="黑体" panose="02010609060101010101" pitchFamily="49" charset="-122"/>
              </a:rPr>
              <a:t>）支撑土坡的挡土墙</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1" name="Freeform 7" descr="5%"/>
          <p:cNvSpPr>
            <a:spLocks/>
          </p:cNvSpPr>
          <p:nvPr/>
        </p:nvSpPr>
        <p:spPr bwMode="auto">
          <a:xfrm>
            <a:off x="990460" y="1811669"/>
            <a:ext cx="2285032" cy="1337549"/>
          </a:xfrm>
          <a:custGeom>
            <a:avLst/>
            <a:gdLst>
              <a:gd name="T0" fmla="*/ 307 w 1956"/>
              <a:gd name="T1" fmla="*/ 1389 h 1638"/>
              <a:gd name="T2" fmla="*/ 0 w 1956"/>
              <a:gd name="T3" fmla="*/ 1387 h 1638"/>
              <a:gd name="T4" fmla="*/ 0 w 1956"/>
              <a:gd name="T5" fmla="*/ 1638 h 1638"/>
              <a:gd name="T6" fmla="*/ 1956 w 1956"/>
              <a:gd name="T7" fmla="*/ 1638 h 1638"/>
              <a:gd name="T8" fmla="*/ 1956 w 1956"/>
              <a:gd name="T9" fmla="*/ 0 h 1638"/>
              <a:gd name="T10" fmla="*/ 808 w 1956"/>
              <a:gd name="T11" fmla="*/ 572 h 1638"/>
              <a:gd name="T12" fmla="*/ 924 w 1956"/>
              <a:gd name="T13" fmla="*/ 1406 h 1638"/>
              <a:gd name="T14" fmla="*/ 999 w 1956"/>
              <a:gd name="T15" fmla="*/ 1402 h 1638"/>
              <a:gd name="T16" fmla="*/ 999 w 1956"/>
              <a:gd name="T17" fmla="*/ 1511 h 1638"/>
              <a:gd name="T18" fmla="*/ 322 w 1956"/>
              <a:gd name="T19" fmla="*/ 1511 h 1638"/>
              <a:gd name="T20" fmla="*/ 307 w 1956"/>
              <a:gd name="T21" fmla="*/ 1389 h 1638"/>
              <a:gd name="connsiteX0" fmla="*/ 1570 w 10000"/>
              <a:gd name="connsiteY0" fmla="*/ 8480 h 10000"/>
              <a:gd name="connsiteX1" fmla="*/ 0 w 10000"/>
              <a:gd name="connsiteY1" fmla="*/ 8468 h 10000"/>
              <a:gd name="connsiteX2" fmla="*/ 0 w 10000"/>
              <a:gd name="connsiteY2" fmla="*/ 10000 h 10000"/>
              <a:gd name="connsiteX3" fmla="*/ 10000 w 10000"/>
              <a:gd name="connsiteY3" fmla="*/ 10000 h 10000"/>
              <a:gd name="connsiteX4" fmla="*/ 10000 w 10000"/>
              <a:gd name="connsiteY4" fmla="*/ 0 h 10000"/>
              <a:gd name="connsiteX5" fmla="*/ 8831 w 10000"/>
              <a:gd name="connsiteY5" fmla="*/ 592 h 10000"/>
              <a:gd name="connsiteX6" fmla="*/ 4131 w 10000"/>
              <a:gd name="connsiteY6" fmla="*/ 3492 h 10000"/>
              <a:gd name="connsiteX7" fmla="*/ 4724 w 10000"/>
              <a:gd name="connsiteY7" fmla="*/ 8584 h 10000"/>
              <a:gd name="connsiteX8" fmla="*/ 5107 w 10000"/>
              <a:gd name="connsiteY8" fmla="*/ 8559 h 10000"/>
              <a:gd name="connsiteX9" fmla="*/ 5107 w 10000"/>
              <a:gd name="connsiteY9" fmla="*/ 9225 h 10000"/>
              <a:gd name="connsiteX10" fmla="*/ 1646 w 10000"/>
              <a:gd name="connsiteY10" fmla="*/ 9225 h 10000"/>
              <a:gd name="connsiteX11" fmla="*/ 1570 w 10000"/>
              <a:gd name="connsiteY11" fmla="*/ 8480 h 10000"/>
              <a:gd name="connsiteX0" fmla="*/ 1570 w 10045"/>
              <a:gd name="connsiteY0" fmla="*/ 7936 h 9456"/>
              <a:gd name="connsiteX1" fmla="*/ 0 w 10045"/>
              <a:gd name="connsiteY1" fmla="*/ 7924 h 9456"/>
              <a:gd name="connsiteX2" fmla="*/ 0 w 10045"/>
              <a:gd name="connsiteY2" fmla="*/ 9456 h 9456"/>
              <a:gd name="connsiteX3" fmla="*/ 10000 w 10045"/>
              <a:gd name="connsiteY3" fmla="*/ 9456 h 9456"/>
              <a:gd name="connsiteX4" fmla="*/ 10045 w 10045"/>
              <a:gd name="connsiteY4" fmla="*/ 147 h 9456"/>
              <a:gd name="connsiteX5" fmla="*/ 8831 w 10045"/>
              <a:gd name="connsiteY5" fmla="*/ 48 h 9456"/>
              <a:gd name="connsiteX6" fmla="*/ 4131 w 10045"/>
              <a:gd name="connsiteY6" fmla="*/ 2948 h 9456"/>
              <a:gd name="connsiteX7" fmla="*/ 4724 w 10045"/>
              <a:gd name="connsiteY7" fmla="*/ 8040 h 9456"/>
              <a:gd name="connsiteX8" fmla="*/ 5107 w 10045"/>
              <a:gd name="connsiteY8" fmla="*/ 8015 h 9456"/>
              <a:gd name="connsiteX9" fmla="*/ 5107 w 10045"/>
              <a:gd name="connsiteY9" fmla="*/ 8681 h 9456"/>
              <a:gd name="connsiteX10" fmla="*/ 1646 w 10045"/>
              <a:gd name="connsiteY10" fmla="*/ 8681 h 9456"/>
              <a:gd name="connsiteX11" fmla="*/ 1570 w 10045"/>
              <a:gd name="connsiteY11" fmla="*/ 7936 h 9456"/>
              <a:gd name="connsiteX0" fmla="*/ 1563 w 10000"/>
              <a:gd name="connsiteY0" fmla="*/ 8297 h 9904"/>
              <a:gd name="connsiteX1" fmla="*/ 0 w 10000"/>
              <a:gd name="connsiteY1" fmla="*/ 8284 h 9904"/>
              <a:gd name="connsiteX2" fmla="*/ 0 w 10000"/>
              <a:gd name="connsiteY2" fmla="*/ 9904 h 9904"/>
              <a:gd name="connsiteX3" fmla="*/ 9955 w 10000"/>
              <a:gd name="connsiteY3" fmla="*/ 9904 h 9904"/>
              <a:gd name="connsiteX4" fmla="*/ 10000 w 10000"/>
              <a:gd name="connsiteY4" fmla="*/ 59 h 9904"/>
              <a:gd name="connsiteX5" fmla="*/ 8540 w 10000"/>
              <a:gd name="connsiteY5" fmla="*/ 61 h 9904"/>
              <a:gd name="connsiteX6" fmla="*/ 4112 w 10000"/>
              <a:gd name="connsiteY6" fmla="*/ 3022 h 9904"/>
              <a:gd name="connsiteX7" fmla="*/ 4703 w 10000"/>
              <a:gd name="connsiteY7" fmla="*/ 8407 h 9904"/>
              <a:gd name="connsiteX8" fmla="*/ 5084 w 10000"/>
              <a:gd name="connsiteY8" fmla="*/ 8380 h 9904"/>
              <a:gd name="connsiteX9" fmla="*/ 5084 w 10000"/>
              <a:gd name="connsiteY9" fmla="*/ 9084 h 9904"/>
              <a:gd name="connsiteX10" fmla="*/ 1639 w 10000"/>
              <a:gd name="connsiteY10" fmla="*/ 9084 h 9904"/>
              <a:gd name="connsiteX11" fmla="*/ 1563 w 10000"/>
              <a:gd name="connsiteY11" fmla="*/ 8297 h 9904"/>
              <a:gd name="connsiteX0" fmla="*/ 1563 w 10000"/>
              <a:gd name="connsiteY0" fmla="*/ 8317 h 9940"/>
              <a:gd name="connsiteX1" fmla="*/ 0 w 10000"/>
              <a:gd name="connsiteY1" fmla="*/ 8304 h 9940"/>
              <a:gd name="connsiteX2" fmla="*/ 0 w 10000"/>
              <a:gd name="connsiteY2" fmla="*/ 9940 h 9940"/>
              <a:gd name="connsiteX3" fmla="*/ 9955 w 10000"/>
              <a:gd name="connsiteY3" fmla="*/ 9940 h 9940"/>
              <a:gd name="connsiteX4" fmla="*/ 10000 w 10000"/>
              <a:gd name="connsiteY4" fmla="*/ 0 h 9940"/>
              <a:gd name="connsiteX5" fmla="*/ 8540 w 10000"/>
              <a:gd name="connsiteY5" fmla="*/ 2 h 9940"/>
              <a:gd name="connsiteX6" fmla="*/ 4112 w 10000"/>
              <a:gd name="connsiteY6" fmla="*/ 2991 h 9940"/>
              <a:gd name="connsiteX7" fmla="*/ 4703 w 10000"/>
              <a:gd name="connsiteY7" fmla="*/ 8428 h 9940"/>
              <a:gd name="connsiteX8" fmla="*/ 5084 w 10000"/>
              <a:gd name="connsiteY8" fmla="*/ 8401 h 9940"/>
              <a:gd name="connsiteX9" fmla="*/ 5084 w 10000"/>
              <a:gd name="connsiteY9" fmla="*/ 9112 h 9940"/>
              <a:gd name="connsiteX10" fmla="*/ 1639 w 10000"/>
              <a:gd name="connsiteY10" fmla="*/ 9112 h 9940"/>
              <a:gd name="connsiteX11" fmla="*/ 1563 w 10000"/>
              <a:gd name="connsiteY11" fmla="*/ 8317 h 9940"/>
              <a:gd name="connsiteX0" fmla="*/ 1563 w 9958"/>
              <a:gd name="connsiteY0" fmla="*/ 8365 h 9998"/>
              <a:gd name="connsiteX1" fmla="*/ 0 w 9958"/>
              <a:gd name="connsiteY1" fmla="*/ 8352 h 9998"/>
              <a:gd name="connsiteX2" fmla="*/ 0 w 9958"/>
              <a:gd name="connsiteY2" fmla="*/ 9998 h 9998"/>
              <a:gd name="connsiteX3" fmla="*/ 9955 w 9958"/>
              <a:gd name="connsiteY3" fmla="*/ 9998 h 9998"/>
              <a:gd name="connsiteX4" fmla="*/ 9950 w 9958"/>
              <a:gd name="connsiteY4" fmla="*/ 1476 h 9998"/>
              <a:gd name="connsiteX5" fmla="*/ 8540 w 9958"/>
              <a:gd name="connsiteY5" fmla="*/ 0 h 9998"/>
              <a:gd name="connsiteX6" fmla="*/ 4112 w 9958"/>
              <a:gd name="connsiteY6" fmla="*/ 3007 h 9998"/>
              <a:gd name="connsiteX7" fmla="*/ 4703 w 9958"/>
              <a:gd name="connsiteY7" fmla="*/ 8477 h 9998"/>
              <a:gd name="connsiteX8" fmla="*/ 5084 w 9958"/>
              <a:gd name="connsiteY8" fmla="*/ 8450 h 9998"/>
              <a:gd name="connsiteX9" fmla="*/ 5084 w 9958"/>
              <a:gd name="connsiteY9" fmla="*/ 9165 h 9998"/>
              <a:gd name="connsiteX10" fmla="*/ 1639 w 9958"/>
              <a:gd name="connsiteY10" fmla="*/ 9165 h 9998"/>
              <a:gd name="connsiteX11" fmla="*/ 1563 w 9958"/>
              <a:gd name="connsiteY11" fmla="*/ 8365 h 9998"/>
              <a:gd name="connsiteX0" fmla="*/ 1570 w 10000"/>
              <a:gd name="connsiteY0" fmla="*/ 6961 h 8594"/>
              <a:gd name="connsiteX1" fmla="*/ 0 w 10000"/>
              <a:gd name="connsiteY1" fmla="*/ 6948 h 8594"/>
              <a:gd name="connsiteX2" fmla="*/ 0 w 10000"/>
              <a:gd name="connsiteY2" fmla="*/ 8594 h 8594"/>
              <a:gd name="connsiteX3" fmla="*/ 9997 w 10000"/>
              <a:gd name="connsiteY3" fmla="*/ 8594 h 8594"/>
              <a:gd name="connsiteX4" fmla="*/ 9992 w 10000"/>
              <a:gd name="connsiteY4" fmla="*/ 70 h 8594"/>
              <a:gd name="connsiteX5" fmla="*/ 8576 w 10000"/>
              <a:gd name="connsiteY5" fmla="*/ 0 h 8594"/>
              <a:gd name="connsiteX6" fmla="*/ 4129 w 10000"/>
              <a:gd name="connsiteY6" fmla="*/ 1602 h 8594"/>
              <a:gd name="connsiteX7" fmla="*/ 4723 w 10000"/>
              <a:gd name="connsiteY7" fmla="*/ 7073 h 8594"/>
              <a:gd name="connsiteX8" fmla="*/ 5105 w 10000"/>
              <a:gd name="connsiteY8" fmla="*/ 7046 h 8594"/>
              <a:gd name="connsiteX9" fmla="*/ 5105 w 10000"/>
              <a:gd name="connsiteY9" fmla="*/ 7761 h 8594"/>
              <a:gd name="connsiteX10" fmla="*/ 1646 w 10000"/>
              <a:gd name="connsiteY10" fmla="*/ 7761 h 8594"/>
              <a:gd name="connsiteX11" fmla="*/ 1570 w 10000"/>
              <a:gd name="connsiteY11" fmla="*/ 6961 h 8594"/>
              <a:gd name="connsiteX0" fmla="*/ 1570 w 10000"/>
              <a:gd name="connsiteY0" fmla="*/ 8100 h 10000"/>
              <a:gd name="connsiteX1" fmla="*/ 0 w 10000"/>
              <a:gd name="connsiteY1" fmla="*/ 8085 h 10000"/>
              <a:gd name="connsiteX2" fmla="*/ 0 w 10000"/>
              <a:gd name="connsiteY2" fmla="*/ 10000 h 10000"/>
              <a:gd name="connsiteX3" fmla="*/ 9997 w 10000"/>
              <a:gd name="connsiteY3" fmla="*/ 10000 h 10000"/>
              <a:gd name="connsiteX4" fmla="*/ 9992 w 10000"/>
              <a:gd name="connsiteY4" fmla="*/ 81 h 10000"/>
              <a:gd name="connsiteX5" fmla="*/ 8576 w 10000"/>
              <a:gd name="connsiteY5" fmla="*/ 0 h 10000"/>
              <a:gd name="connsiteX6" fmla="*/ 5714 w 10000"/>
              <a:gd name="connsiteY6" fmla="*/ 394 h 10000"/>
              <a:gd name="connsiteX7" fmla="*/ 4129 w 10000"/>
              <a:gd name="connsiteY7" fmla="*/ 1864 h 10000"/>
              <a:gd name="connsiteX8" fmla="*/ 4723 w 10000"/>
              <a:gd name="connsiteY8" fmla="*/ 8230 h 10000"/>
              <a:gd name="connsiteX9" fmla="*/ 5105 w 10000"/>
              <a:gd name="connsiteY9" fmla="*/ 8199 h 10000"/>
              <a:gd name="connsiteX10" fmla="*/ 5105 w 10000"/>
              <a:gd name="connsiteY10" fmla="*/ 9031 h 10000"/>
              <a:gd name="connsiteX11" fmla="*/ 1646 w 10000"/>
              <a:gd name="connsiteY11" fmla="*/ 9031 h 10000"/>
              <a:gd name="connsiteX12" fmla="*/ 1570 w 10000"/>
              <a:gd name="connsiteY12" fmla="*/ 8100 h 10000"/>
              <a:gd name="connsiteX0" fmla="*/ 1570 w 10000"/>
              <a:gd name="connsiteY0" fmla="*/ 8100 h 10000"/>
              <a:gd name="connsiteX1" fmla="*/ 0 w 10000"/>
              <a:gd name="connsiteY1" fmla="*/ 8085 h 10000"/>
              <a:gd name="connsiteX2" fmla="*/ 0 w 10000"/>
              <a:gd name="connsiteY2" fmla="*/ 10000 h 10000"/>
              <a:gd name="connsiteX3" fmla="*/ 9997 w 10000"/>
              <a:gd name="connsiteY3" fmla="*/ 10000 h 10000"/>
              <a:gd name="connsiteX4" fmla="*/ 9992 w 10000"/>
              <a:gd name="connsiteY4" fmla="*/ 249 h 10000"/>
              <a:gd name="connsiteX5" fmla="*/ 8576 w 10000"/>
              <a:gd name="connsiteY5" fmla="*/ 0 h 10000"/>
              <a:gd name="connsiteX6" fmla="*/ 5714 w 10000"/>
              <a:gd name="connsiteY6" fmla="*/ 394 h 10000"/>
              <a:gd name="connsiteX7" fmla="*/ 4129 w 10000"/>
              <a:gd name="connsiteY7" fmla="*/ 1864 h 10000"/>
              <a:gd name="connsiteX8" fmla="*/ 4723 w 10000"/>
              <a:gd name="connsiteY8" fmla="*/ 8230 h 10000"/>
              <a:gd name="connsiteX9" fmla="*/ 5105 w 10000"/>
              <a:gd name="connsiteY9" fmla="*/ 8199 h 10000"/>
              <a:gd name="connsiteX10" fmla="*/ 5105 w 10000"/>
              <a:gd name="connsiteY10" fmla="*/ 9031 h 10000"/>
              <a:gd name="connsiteX11" fmla="*/ 1646 w 10000"/>
              <a:gd name="connsiteY11" fmla="*/ 9031 h 10000"/>
              <a:gd name="connsiteX12" fmla="*/ 1570 w 10000"/>
              <a:gd name="connsiteY12" fmla="*/ 8100 h 10000"/>
              <a:gd name="connsiteX0" fmla="*/ 1570 w 10000"/>
              <a:gd name="connsiteY0" fmla="*/ 7851 h 9751"/>
              <a:gd name="connsiteX1" fmla="*/ 0 w 10000"/>
              <a:gd name="connsiteY1" fmla="*/ 7836 h 9751"/>
              <a:gd name="connsiteX2" fmla="*/ 0 w 10000"/>
              <a:gd name="connsiteY2" fmla="*/ 9751 h 9751"/>
              <a:gd name="connsiteX3" fmla="*/ 9997 w 10000"/>
              <a:gd name="connsiteY3" fmla="*/ 9751 h 9751"/>
              <a:gd name="connsiteX4" fmla="*/ 9992 w 10000"/>
              <a:gd name="connsiteY4" fmla="*/ 0 h 9751"/>
              <a:gd name="connsiteX5" fmla="*/ 8593 w 10000"/>
              <a:gd name="connsiteY5" fmla="*/ 3 h 9751"/>
              <a:gd name="connsiteX6" fmla="*/ 5714 w 10000"/>
              <a:gd name="connsiteY6" fmla="*/ 145 h 9751"/>
              <a:gd name="connsiteX7" fmla="*/ 4129 w 10000"/>
              <a:gd name="connsiteY7" fmla="*/ 1615 h 9751"/>
              <a:gd name="connsiteX8" fmla="*/ 4723 w 10000"/>
              <a:gd name="connsiteY8" fmla="*/ 7981 h 9751"/>
              <a:gd name="connsiteX9" fmla="*/ 5105 w 10000"/>
              <a:gd name="connsiteY9" fmla="*/ 7950 h 9751"/>
              <a:gd name="connsiteX10" fmla="*/ 5105 w 10000"/>
              <a:gd name="connsiteY10" fmla="*/ 8782 h 9751"/>
              <a:gd name="connsiteX11" fmla="*/ 1646 w 10000"/>
              <a:gd name="connsiteY11" fmla="*/ 8782 h 9751"/>
              <a:gd name="connsiteX12" fmla="*/ 1570 w 10000"/>
              <a:gd name="connsiteY12" fmla="*/ 7851 h 9751"/>
              <a:gd name="connsiteX0" fmla="*/ 1570 w 10000"/>
              <a:gd name="connsiteY0" fmla="*/ 8051 h 10000"/>
              <a:gd name="connsiteX1" fmla="*/ 0 w 10000"/>
              <a:gd name="connsiteY1" fmla="*/ 8036 h 10000"/>
              <a:gd name="connsiteX2" fmla="*/ 0 w 10000"/>
              <a:gd name="connsiteY2" fmla="*/ 10000 h 10000"/>
              <a:gd name="connsiteX3" fmla="*/ 9997 w 10000"/>
              <a:gd name="connsiteY3" fmla="*/ 10000 h 10000"/>
              <a:gd name="connsiteX4" fmla="*/ 9992 w 10000"/>
              <a:gd name="connsiteY4" fmla="*/ 0 h 10000"/>
              <a:gd name="connsiteX5" fmla="*/ 8593 w 10000"/>
              <a:gd name="connsiteY5" fmla="*/ 3 h 10000"/>
              <a:gd name="connsiteX6" fmla="*/ 6188 w 10000"/>
              <a:gd name="connsiteY6" fmla="*/ 213 h 10000"/>
              <a:gd name="connsiteX7" fmla="*/ 5714 w 10000"/>
              <a:gd name="connsiteY7" fmla="*/ 149 h 10000"/>
              <a:gd name="connsiteX8" fmla="*/ 4129 w 10000"/>
              <a:gd name="connsiteY8" fmla="*/ 1656 h 10000"/>
              <a:gd name="connsiteX9" fmla="*/ 4723 w 10000"/>
              <a:gd name="connsiteY9" fmla="*/ 8185 h 10000"/>
              <a:gd name="connsiteX10" fmla="*/ 5105 w 10000"/>
              <a:gd name="connsiteY10" fmla="*/ 8153 h 10000"/>
              <a:gd name="connsiteX11" fmla="*/ 5105 w 10000"/>
              <a:gd name="connsiteY11" fmla="*/ 9006 h 10000"/>
              <a:gd name="connsiteX12" fmla="*/ 1646 w 10000"/>
              <a:gd name="connsiteY12" fmla="*/ 9006 h 10000"/>
              <a:gd name="connsiteX13" fmla="*/ 1570 w 10000"/>
              <a:gd name="connsiteY13" fmla="*/ 8051 h 10000"/>
              <a:gd name="connsiteX0" fmla="*/ 1570 w 10000"/>
              <a:gd name="connsiteY0" fmla="*/ 8051 h 10000"/>
              <a:gd name="connsiteX1" fmla="*/ 0 w 10000"/>
              <a:gd name="connsiteY1" fmla="*/ 8036 h 10000"/>
              <a:gd name="connsiteX2" fmla="*/ 0 w 10000"/>
              <a:gd name="connsiteY2" fmla="*/ 10000 h 10000"/>
              <a:gd name="connsiteX3" fmla="*/ 9997 w 10000"/>
              <a:gd name="connsiteY3" fmla="*/ 10000 h 10000"/>
              <a:gd name="connsiteX4" fmla="*/ 9992 w 10000"/>
              <a:gd name="connsiteY4" fmla="*/ 0 h 10000"/>
              <a:gd name="connsiteX5" fmla="*/ 8593 w 10000"/>
              <a:gd name="connsiteY5" fmla="*/ 3 h 10000"/>
              <a:gd name="connsiteX6" fmla="*/ 6188 w 10000"/>
              <a:gd name="connsiteY6" fmla="*/ 213 h 10000"/>
              <a:gd name="connsiteX7" fmla="*/ 5714 w 10000"/>
              <a:gd name="connsiteY7" fmla="*/ 149 h 10000"/>
              <a:gd name="connsiteX8" fmla="*/ 4129 w 10000"/>
              <a:gd name="connsiteY8" fmla="*/ 1656 h 10000"/>
              <a:gd name="connsiteX9" fmla="*/ 4723 w 10000"/>
              <a:gd name="connsiteY9" fmla="*/ 8185 h 10000"/>
              <a:gd name="connsiteX10" fmla="*/ 5105 w 10000"/>
              <a:gd name="connsiteY10" fmla="*/ 8153 h 10000"/>
              <a:gd name="connsiteX11" fmla="*/ 5105 w 10000"/>
              <a:gd name="connsiteY11" fmla="*/ 9006 h 10000"/>
              <a:gd name="connsiteX12" fmla="*/ 1646 w 10000"/>
              <a:gd name="connsiteY12" fmla="*/ 9006 h 10000"/>
              <a:gd name="connsiteX13" fmla="*/ 1570 w 10000"/>
              <a:gd name="connsiteY13" fmla="*/ 8051 h 10000"/>
              <a:gd name="connsiteX0" fmla="*/ 1570 w 10000"/>
              <a:gd name="connsiteY0" fmla="*/ 8051 h 10000"/>
              <a:gd name="connsiteX1" fmla="*/ 0 w 10000"/>
              <a:gd name="connsiteY1" fmla="*/ 8036 h 10000"/>
              <a:gd name="connsiteX2" fmla="*/ 0 w 10000"/>
              <a:gd name="connsiteY2" fmla="*/ 10000 h 10000"/>
              <a:gd name="connsiteX3" fmla="*/ 9997 w 10000"/>
              <a:gd name="connsiteY3" fmla="*/ 10000 h 10000"/>
              <a:gd name="connsiteX4" fmla="*/ 9992 w 10000"/>
              <a:gd name="connsiteY4" fmla="*/ 0 h 10000"/>
              <a:gd name="connsiteX5" fmla="*/ 8593 w 10000"/>
              <a:gd name="connsiteY5" fmla="*/ 3 h 10000"/>
              <a:gd name="connsiteX6" fmla="*/ 6188 w 10000"/>
              <a:gd name="connsiteY6" fmla="*/ 213 h 10000"/>
              <a:gd name="connsiteX7" fmla="*/ 5714 w 10000"/>
              <a:gd name="connsiteY7" fmla="*/ 178 h 10000"/>
              <a:gd name="connsiteX8" fmla="*/ 4129 w 10000"/>
              <a:gd name="connsiteY8" fmla="*/ 1656 h 10000"/>
              <a:gd name="connsiteX9" fmla="*/ 4723 w 10000"/>
              <a:gd name="connsiteY9" fmla="*/ 8185 h 10000"/>
              <a:gd name="connsiteX10" fmla="*/ 5105 w 10000"/>
              <a:gd name="connsiteY10" fmla="*/ 8153 h 10000"/>
              <a:gd name="connsiteX11" fmla="*/ 5105 w 10000"/>
              <a:gd name="connsiteY11" fmla="*/ 9006 h 10000"/>
              <a:gd name="connsiteX12" fmla="*/ 1646 w 10000"/>
              <a:gd name="connsiteY12" fmla="*/ 9006 h 10000"/>
              <a:gd name="connsiteX13" fmla="*/ 1570 w 10000"/>
              <a:gd name="connsiteY13" fmla="*/ 8051 h 10000"/>
              <a:gd name="connsiteX0" fmla="*/ 1570 w 10000"/>
              <a:gd name="connsiteY0" fmla="*/ 8051 h 10000"/>
              <a:gd name="connsiteX1" fmla="*/ 0 w 10000"/>
              <a:gd name="connsiteY1" fmla="*/ 8036 h 10000"/>
              <a:gd name="connsiteX2" fmla="*/ 0 w 10000"/>
              <a:gd name="connsiteY2" fmla="*/ 10000 h 10000"/>
              <a:gd name="connsiteX3" fmla="*/ 9997 w 10000"/>
              <a:gd name="connsiteY3" fmla="*/ 10000 h 10000"/>
              <a:gd name="connsiteX4" fmla="*/ 9992 w 10000"/>
              <a:gd name="connsiteY4" fmla="*/ 0 h 10000"/>
              <a:gd name="connsiteX5" fmla="*/ 8593 w 10000"/>
              <a:gd name="connsiteY5" fmla="*/ 3 h 10000"/>
              <a:gd name="connsiteX6" fmla="*/ 6188 w 10000"/>
              <a:gd name="connsiteY6" fmla="*/ 213 h 10000"/>
              <a:gd name="connsiteX7" fmla="*/ 5714 w 10000"/>
              <a:gd name="connsiteY7" fmla="*/ 178 h 10000"/>
              <a:gd name="connsiteX8" fmla="*/ 4129 w 10000"/>
              <a:gd name="connsiteY8" fmla="*/ 1656 h 10000"/>
              <a:gd name="connsiteX9" fmla="*/ 4723 w 10000"/>
              <a:gd name="connsiteY9" fmla="*/ 8185 h 10000"/>
              <a:gd name="connsiteX10" fmla="*/ 5105 w 10000"/>
              <a:gd name="connsiteY10" fmla="*/ 8153 h 10000"/>
              <a:gd name="connsiteX11" fmla="*/ 5105 w 10000"/>
              <a:gd name="connsiteY11" fmla="*/ 9006 h 10000"/>
              <a:gd name="connsiteX12" fmla="*/ 1646 w 10000"/>
              <a:gd name="connsiteY12" fmla="*/ 9006 h 10000"/>
              <a:gd name="connsiteX13" fmla="*/ 1570 w 10000"/>
              <a:gd name="connsiteY13" fmla="*/ 805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00" h="10000">
                <a:moveTo>
                  <a:pt x="1570" y="8051"/>
                </a:moveTo>
                <a:lnTo>
                  <a:pt x="0" y="8036"/>
                </a:lnTo>
                <a:lnTo>
                  <a:pt x="0" y="10000"/>
                </a:lnTo>
                <a:lnTo>
                  <a:pt x="9997" y="10000"/>
                </a:lnTo>
                <a:cubicBezTo>
                  <a:pt x="10012" y="6020"/>
                  <a:pt x="9977" y="3979"/>
                  <a:pt x="9992" y="0"/>
                </a:cubicBezTo>
                <a:lnTo>
                  <a:pt x="8593" y="3"/>
                </a:lnTo>
                <a:cubicBezTo>
                  <a:pt x="7959" y="15"/>
                  <a:pt x="6668" y="189"/>
                  <a:pt x="6188" y="213"/>
                </a:cubicBezTo>
                <a:lnTo>
                  <a:pt x="5714" y="178"/>
                </a:lnTo>
                <a:lnTo>
                  <a:pt x="4129" y="1656"/>
                </a:lnTo>
                <a:cubicBezTo>
                  <a:pt x="4328" y="3831"/>
                  <a:pt x="4525" y="6009"/>
                  <a:pt x="4723" y="8185"/>
                </a:cubicBezTo>
                <a:lnTo>
                  <a:pt x="5105" y="8153"/>
                </a:lnTo>
                <a:lnTo>
                  <a:pt x="5105" y="9006"/>
                </a:lnTo>
                <a:lnTo>
                  <a:pt x="1646" y="9006"/>
                </a:lnTo>
                <a:cubicBezTo>
                  <a:pt x="1621" y="8688"/>
                  <a:pt x="1595" y="8370"/>
                  <a:pt x="1570" y="8051"/>
                </a:cubicBezTo>
                <a:close/>
              </a:path>
            </a:pathLst>
          </a:custGeom>
          <a:pattFill prst="pct5">
            <a:fgClr>
              <a:srgbClr val="008000"/>
            </a:fgClr>
            <a:bgClr>
              <a:srgbClr val="F5D0AB"/>
            </a:bgClr>
          </a:pattFill>
          <a:ln w="25400" cap="flat" cmpd="sng">
            <a:noFill/>
            <a:prstDash val="solid"/>
            <a:round/>
            <a:headEnd/>
            <a:tailEnd/>
          </a:ln>
          <a:effectLst/>
          <a:extLst/>
        </p:spPr>
        <p:txBody>
          <a:bodyPr/>
          <a:lstStyle/>
          <a:p>
            <a:endParaRPr lang="zh-CN" altLang="en-US" b="1">
              <a:latin typeface="微软雅黑" pitchFamily="34" charset="-122"/>
              <a:ea typeface="微软雅黑" pitchFamily="34" charset="-122"/>
            </a:endParaRPr>
          </a:p>
        </p:txBody>
      </p:sp>
      <p:sp>
        <p:nvSpPr>
          <p:cNvPr id="7" name="任意多边形 6"/>
          <p:cNvSpPr/>
          <p:nvPr/>
        </p:nvSpPr>
        <p:spPr bwMode="auto">
          <a:xfrm>
            <a:off x="995621" y="1808526"/>
            <a:ext cx="2255637" cy="1076031"/>
          </a:xfrm>
          <a:custGeom>
            <a:avLst/>
            <a:gdLst>
              <a:gd name="connsiteX0" fmla="*/ 0 w 1698790"/>
              <a:gd name="connsiteY0" fmla="*/ 810392 h 810392"/>
              <a:gd name="connsiteX1" fmla="*/ 316356 w 1698790"/>
              <a:gd name="connsiteY1" fmla="*/ 810392 h 810392"/>
              <a:gd name="connsiteX2" fmla="*/ 693383 w 1698790"/>
              <a:gd name="connsiteY2" fmla="*/ 177679 h 810392"/>
              <a:gd name="connsiteX3" fmla="*/ 975071 w 1698790"/>
              <a:gd name="connsiteY3" fmla="*/ 26001 h 810392"/>
              <a:gd name="connsiteX4" fmla="*/ 1048743 w 1698790"/>
              <a:gd name="connsiteY4" fmla="*/ 26001 h 810392"/>
              <a:gd name="connsiteX5" fmla="*/ 1486441 w 1698790"/>
              <a:gd name="connsiteY5" fmla="*/ 0 h 810392"/>
              <a:gd name="connsiteX6" fmla="*/ 1698790 w 1698790"/>
              <a:gd name="connsiteY6" fmla="*/ 0 h 81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8790" h="810392">
                <a:moveTo>
                  <a:pt x="0" y="810392"/>
                </a:moveTo>
                <a:lnTo>
                  <a:pt x="316356" y="810392"/>
                </a:lnTo>
                <a:lnTo>
                  <a:pt x="693383" y="177679"/>
                </a:lnTo>
                <a:lnTo>
                  <a:pt x="975071" y="26001"/>
                </a:lnTo>
                <a:lnTo>
                  <a:pt x="1048743" y="26001"/>
                </a:lnTo>
                <a:lnTo>
                  <a:pt x="1486441" y="0"/>
                </a:lnTo>
                <a:lnTo>
                  <a:pt x="1698790" y="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33" name="Group 8"/>
          <p:cNvGrpSpPr>
            <a:grpSpLocks/>
          </p:cNvGrpSpPr>
          <p:nvPr/>
        </p:nvGrpSpPr>
        <p:grpSpPr bwMode="auto">
          <a:xfrm>
            <a:off x="1317159" y="2006262"/>
            <a:ext cx="831905" cy="1021843"/>
            <a:chOff x="1413" y="928"/>
            <a:chExt cx="741" cy="976"/>
          </a:xfrm>
        </p:grpSpPr>
        <p:sp>
          <p:nvSpPr>
            <p:cNvPr id="34" name="Freeform 9"/>
            <p:cNvSpPr>
              <a:spLocks/>
            </p:cNvSpPr>
            <p:nvPr/>
          </p:nvSpPr>
          <p:spPr bwMode="auto">
            <a:xfrm>
              <a:off x="1413" y="928"/>
              <a:ext cx="741" cy="976"/>
            </a:xfrm>
            <a:custGeom>
              <a:avLst/>
              <a:gdLst>
                <a:gd name="T0" fmla="*/ 655 w 741"/>
                <a:gd name="T1" fmla="*/ 819 h 976"/>
                <a:gd name="T2" fmla="*/ 737 w 741"/>
                <a:gd name="T3" fmla="*/ 819 h 976"/>
                <a:gd name="T4" fmla="*/ 741 w 741"/>
                <a:gd name="T5" fmla="*/ 976 h 976"/>
                <a:gd name="T6" fmla="*/ 0 w 741"/>
                <a:gd name="T7" fmla="*/ 976 h 976"/>
                <a:gd name="T8" fmla="*/ 0 w 741"/>
                <a:gd name="T9" fmla="*/ 811 h 976"/>
                <a:gd name="T10" fmla="*/ 52 w 741"/>
                <a:gd name="T11" fmla="*/ 811 h 976"/>
                <a:gd name="T12" fmla="*/ 385 w 741"/>
                <a:gd name="T13" fmla="*/ 0 h 976"/>
                <a:gd name="T14" fmla="*/ 531 w 741"/>
                <a:gd name="T15" fmla="*/ 0 h 976"/>
                <a:gd name="T16" fmla="*/ 655 w 741"/>
                <a:gd name="T17" fmla="*/ 819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1" h="976">
                  <a:moveTo>
                    <a:pt x="655" y="819"/>
                  </a:moveTo>
                  <a:lnTo>
                    <a:pt x="737" y="819"/>
                  </a:lnTo>
                  <a:lnTo>
                    <a:pt x="741" y="976"/>
                  </a:lnTo>
                  <a:lnTo>
                    <a:pt x="0" y="976"/>
                  </a:lnTo>
                  <a:lnTo>
                    <a:pt x="0" y="811"/>
                  </a:lnTo>
                  <a:lnTo>
                    <a:pt x="52" y="811"/>
                  </a:lnTo>
                  <a:lnTo>
                    <a:pt x="385" y="0"/>
                  </a:lnTo>
                  <a:lnTo>
                    <a:pt x="531" y="0"/>
                  </a:lnTo>
                  <a:lnTo>
                    <a:pt x="655" y="819"/>
                  </a:lnTo>
                  <a:close/>
                </a:path>
              </a:pathLst>
            </a:custGeom>
            <a:solidFill>
              <a:srgbClr val="E69896"/>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35" name="AutoShape 10"/>
            <p:cNvSpPr>
              <a:spLocks noChangeArrowheads="1"/>
            </p:cNvSpPr>
            <p:nvPr/>
          </p:nvSpPr>
          <p:spPr bwMode="auto">
            <a:xfrm>
              <a:off x="1655" y="148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49" name="AutoShape 11"/>
            <p:cNvSpPr>
              <a:spLocks noChangeArrowheads="1"/>
            </p:cNvSpPr>
            <p:nvPr/>
          </p:nvSpPr>
          <p:spPr bwMode="auto">
            <a:xfrm>
              <a:off x="1553" y="1506"/>
              <a:ext cx="107" cy="80"/>
            </a:xfrm>
            <a:prstGeom prst="hexagon">
              <a:avLst>
                <a:gd name="adj" fmla="val 33438"/>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0" name="AutoShape 12"/>
            <p:cNvSpPr>
              <a:spLocks noChangeArrowheads="1"/>
            </p:cNvSpPr>
            <p:nvPr/>
          </p:nvSpPr>
          <p:spPr bwMode="auto">
            <a:xfrm>
              <a:off x="1814" y="1552"/>
              <a:ext cx="214" cy="79"/>
            </a:xfrm>
            <a:prstGeom prst="hexagon">
              <a:avLst>
                <a:gd name="adj" fmla="val 67722"/>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1" name="AutoShape 13"/>
            <p:cNvSpPr>
              <a:spLocks noChangeArrowheads="1"/>
            </p:cNvSpPr>
            <p:nvPr/>
          </p:nvSpPr>
          <p:spPr bwMode="auto">
            <a:xfrm>
              <a:off x="1593" y="1578"/>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2" name="AutoShape 14"/>
            <p:cNvSpPr>
              <a:spLocks noChangeArrowheads="1"/>
            </p:cNvSpPr>
            <p:nvPr/>
          </p:nvSpPr>
          <p:spPr bwMode="auto">
            <a:xfrm>
              <a:off x="1796" y="165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3" name="AutoShape 15"/>
            <p:cNvSpPr>
              <a:spLocks noChangeArrowheads="1"/>
            </p:cNvSpPr>
            <p:nvPr/>
          </p:nvSpPr>
          <p:spPr bwMode="auto">
            <a:xfrm>
              <a:off x="1898" y="1786"/>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4" name="AutoShape 16"/>
            <p:cNvSpPr>
              <a:spLocks noChangeArrowheads="1"/>
            </p:cNvSpPr>
            <p:nvPr/>
          </p:nvSpPr>
          <p:spPr bwMode="auto">
            <a:xfrm>
              <a:off x="1678" y="1752"/>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5" name="AutoShape 17"/>
            <p:cNvSpPr>
              <a:spLocks noChangeArrowheads="1"/>
            </p:cNvSpPr>
            <p:nvPr/>
          </p:nvSpPr>
          <p:spPr bwMode="auto">
            <a:xfrm>
              <a:off x="1826" y="1416"/>
              <a:ext cx="179" cy="75"/>
            </a:xfrm>
            <a:prstGeom prst="hexagon">
              <a:avLst>
                <a:gd name="adj" fmla="val 59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6" name="AutoShape 18"/>
            <p:cNvSpPr>
              <a:spLocks noChangeArrowheads="1"/>
            </p:cNvSpPr>
            <p:nvPr/>
          </p:nvSpPr>
          <p:spPr bwMode="auto">
            <a:xfrm>
              <a:off x="1485" y="1698"/>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7" name="AutoShape 19"/>
            <p:cNvSpPr>
              <a:spLocks noChangeArrowheads="1"/>
            </p:cNvSpPr>
            <p:nvPr/>
          </p:nvSpPr>
          <p:spPr bwMode="auto">
            <a:xfrm>
              <a:off x="1487" y="1804"/>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8" name="Freeform 20"/>
            <p:cNvSpPr>
              <a:spLocks/>
            </p:cNvSpPr>
            <p:nvPr/>
          </p:nvSpPr>
          <p:spPr bwMode="auto">
            <a:xfrm>
              <a:off x="1686" y="1683"/>
              <a:ext cx="141" cy="51"/>
            </a:xfrm>
            <a:custGeom>
              <a:avLst/>
              <a:gdLst>
                <a:gd name="T0" fmla="*/ 0 w 141"/>
                <a:gd name="T1" fmla="*/ 0 h 51"/>
                <a:gd name="T2" fmla="*/ 90 w 141"/>
                <a:gd name="T3" fmla="*/ 0 h 51"/>
                <a:gd name="T4" fmla="*/ 141 w 141"/>
                <a:gd name="T5" fmla="*/ 51 h 51"/>
                <a:gd name="T6" fmla="*/ 48 w 141"/>
                <a:gd name="T7" fmla="*/ 48 h 51"/>
                <a:gd name="T8" fmla="*/ 0 w 141"/>
                <a:gd name="T9" fmla="*/ 0 h 51"/>
              </a:gdLst>
              <a:ahLst/>
              <a:cxnLst>
                <a:cxn ang="0">
                  <a:pos x="T0" y="T1"/>
                </a:cxn>
                <a:cxn ang="0">
                  <a:pos x="T2" y="T3"/>
                </a:cxn>
                <a:cxn ang="0">
                  <a:pos x="T4" y="T5"/>
                </a:cxn>
                <a:cxn ang="0">
                  <a:pos x="T6" y="T7"/>
                </a:cxn>
                <a:cxn ang="0">
                  <a:pos x="T8" y="T9"/>
                </a:cxn>
              </a:cxnLst>
              <a:rect l="0" t="0" r="r" b="b"/>
              <a:pathLst>
                <a:path w="141" h="51">
                  <a:moveTo>
                    <a:pt x="0" y="0"/>
                  </a:moveTo>
                  <a:lnTo>
                    <a:pt x="90" y="0"/>
                  </a:lnTo>
                  <a:lnTo>
                    <a:pt x="141" y="51"/>
                  </a:lnTo>
                  <a:lnTo>
                    <a:pt x="48" y="48"/>
                  </a:lnTo>
                  <a:lnTo>
                    <a:pt x="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59" name="Freeform 21"/>
            <p:cNvSpPr>
              <a:spLocks/>
            </p:cNvSpPr>
            <p:nvPr/>
          </p:nvSpPr>
          <p:spPr bwMode="auto">
            <a:xfrm>
              <a:off x="1506" y="1605"/>
              <a:ext cx="123" cy="84"/>
            </a:xfrm>
            <a:custGeom>
              <a:avLst/>
              <a:gdLst>
                <a:gd name="T0" fmla="*/ 45 w 123"/>
                <a:gd name="T1" fmla="*/ 0 h 84"/>
                <a:gd name="T2" fmla="*/ 0 w 123"/>
                <a:gd name="T3" fmla="*/ 81 h 84"/>
                <a:gd name="T4" fmla="*/ 102 w 123"/>
                <a:gd name="T5" fmla="*/ 84 h 84"/>
                <a:gd name="T6" fmla="*/ 123 w 123"/>
                <a:gd name="T7" fmla="*/ 63 h 84"/>
                <a:gd name="T8" fmla="*/ 45 w 123"/>
                <a:gd name="T9" fmla="*/ 0 h 84"/>
              </a:gdLst>
              <a:ahLst/>
              <a:cxnLst>
                <a:cxn ang="0">
                  <a:pos x="T0" y="T1"/>
                </a:cxn>
                <a:cxn ang="0">
                  <a:pos x="T2" y="T3"/>
                </a:cxn>
                <a:cxn ang="0">
                  <a:pos x="T4" y="T5"/>
                </a:cxn>
                <a:cxn ang="0">
                  <a:pos x="T6" y="T7"/>
                </a:cxn>
                <a:cxn ang="0">
                  <a:pos x="T8" y="T9"/>
                </a:cxn>
              </a:cxnLst>
              <a:rect l="0" t="0" r="r" b="b"/>
              <a:pathLst>
                <a:path w="123" h="84">
                  <a:moveTo>
                    <a:pt x="45" y="0"/>
                  </a:moveTo>
                  <a:lnTo>
                    <a:pt x="0" y="81"/>
                  </a:lnTo>
                  <a:lnTo>
                    <a:pt x="102" y="84"/>
                  </a:lnTo>
                  <a:lnTo>
                    <a:pt x="123" y="63"/>
                  </a:lnTo>
                  <a:lnTo>
                    <a:pt x="45"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0" name="Freeform 22"/>
            <p:cNvSpPr>
              <a:spLocks/>
            </p:cNvSpPr>
            <p:nvPr/>
          </p:nvSpPr>
          <p:spPr bwMode="auto">
            <a:xfrm>
              <a:off x="1716" y="1854"/>
              <a:ext cx="237" cy="39"/>
            </a:xfrm>
            <a:custGeom>
              <a:avLst/>
              <a:gdLst>
                <a:gd name="T0" fmla="*/ 0 w 237"/>
                <a:gd name="T1" fmla="*/ 39 h 39"/>
                <a:gd name="T2" fmla="*/ 51 w 237"/>
                <a:gd name="T3" fmla="*/ 0 h 39"/>
                <a:gd name="T4" fmla="*/ 171 w 237"/>
                <a:gd name="T5" fmla="*/ 0 h 39"/>
                <a:gd name="T6" fmla="*/ 237 w 237"/>
                <a:gd name="T7" fmla="*/ 36 h 39"/>
                <a:gd name="T8" fmla="*/ 0 w 237"/>
                <a:gd name="T9" fmla="*/ 39 h 39"/>
              </a:gdLst>
              <a:ahLst/>
              <a:cxnLst>
                <a:cxn ang="0">
                  <a:pos x="T0" y="T1"/>
                </a:cxn>
                <a:cxn ang="0">
                  <a:pos x="T2" y="T3"/>
                </a:cxn>
                <a:cxn ang="0">
                  <a:pos x="T4" y="T5"/>
                </a:cxn>
                <a:cxn ang="0">
                  <a:pos x="T6" y="T7"/>
                </a:cxn>
                <a:cxn ang="0">
                  <a:pos x="T8" y="T9"/>
                </a:cxn>
              </a:cxnLst>
              <a:rect l="0" t="0" r="r" b="b"/>
              <a:pathLst>
                <a:path w="237" h="39">
                  <a:moveTo>
                    <a:pt x="0" y="39"/>
                  </a:moveTo>
                  <a:lnTo>
                    <a:pt x="51" y="0"/>
                  </a:lnTo>
                  <a:lnTo>
                    <a:pt x="171" y="0"/>
                  </a:lnTo>
                  <a:lnTo>
                    <a:pt x="237" y="36"/>
                  </a:lnTo>
                  <a:lnTo>
                    <a:pt x="0" y="39"/>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1" name="Freeform 23"/>
            <p:cNvSpPr>
              <a:spLocks/>
            </p:cNvSpPr>
            <p:nvPr/>
          </p:nvSpPr>
          <p:spPr bwMode="auto">
            <a:xfrm>
              <a:off x="1908" y="1488"/>
              <a:ext cx="108" cy="57"/>
            </a:xfrm>
            <a:custGeom>
              <a:avLst/>
              <a:gdLst>
                <a:gd name="T0" fmla="*/ 9 w 108"/>
                <a:gd name="T1" fmla="*/ 18 h 57"/>
                <a:gd name="T2" fmla="*/ 0 w 108"/>
                <a:gd name="T3" fmla="*/ 54 h 57"/>
                <a:gd name="T4" fmla="*/ 108 w 108"/>
                <a:gd name="T5" fmla="*/ 57 h 57"/>
                <a:gd name="T6" fmla="*/ 99 w 108"/>
                <a:gd name="T7" fmla="*/ 0 h 57"/>
                <a:gd name="T8" fmla="*/ 9 w 108"/>
                <a:gd name="T9" fmla="*/ 18 h 57"/>
              </a:gdLst>
              <a:ahLst/>
              <a:cxnLst>
                <a:cxn ang="0">
                  <a:pos x="T0" y="T1"/>
                </a:cxn>
                <a:cxn ang="0">
                  <a:pos x="T2" y="T3"/>
                </a:cxn>
                <a:cxn ang="0">
                  <a:pos x="T4" y="T5"/>
                </a:cxn>
                <a:cxn ang="0">
                  <a:pos x="T6" y="T7"/>
                </a:cxn>
                <a:cxn ang="0">
                  <a:pos x="T8" y="T9"/>
                </a:cxn>
              </a:cxnLst>
              <a:rect l="0" t="0" r="r" b="b"/>
              <a:pathLst>
                <a:path w="108" h="57">
                  <a:moveTo>
                    <a:pt x="9" y="18"/>
                  </a:moveTo>
                  <a:lnTo>
                    <a:pt x="0" y="54"/>
                  </a:lnTo>
                  <a:lnTo>
                    <a:pt x="108" y="57"/>
                  </a:lnTo>
                  <a:lnTo>
                    <a:pt x="99" y="0"/>
                  </a:lnTo>
                  <a:lnTo>
                    <a:pt x="9" y="18"/>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2" name="Freeform 24"/>
            <p:cNvSpPr>
              <a:spLocks/>
            </p:cNvSpPr>
            <p:nvPr/>
          </p:nvSpPr>
          <p:spPr bwMode="auto">
            <a:xfrm>
              <a:off x="1437" y="1758"/>
              <a:ext cx="102" cy="90"/>
            </a:xfrm>
            <a:custGeom>
              <a:avLst/>
              <a:gdLst>
                <a:gd name="T0" fmla="*/ 39 w 102"/>
                <a:gd name="T1" fmla="*/ 0 h 90"/>
                <a:gd name="T2" fmla="*/ 102 w 102"/>
                <a:gd name="T3" fmla="*/ 39 h 90"/>
                <a:gd name="T4" fmla="*/ 33 w 102"/>
                <a:gd name="T5" fmla="*/ 90 h 90"/>
                <a:gd name="T6" fmla="*/ 0 w 102"/>
                <a:gd name="T7" fmla="*/ 69 h 90"/>
                <a:gd name="T8" fmla="*/ 3 w 102"/>
                <a:gd name="T9" fmla="*/ 9 h 90"/>
                <a:gd name="T10" fmla="*/ 39 w 102"/>
                <a:gd name="T11" fmla="*/ 0 h 90"/>
              </a:gdLst>
              <a:ahLst/>
              <a:cxnLst>
                <a:cxn ang="0">
                  <a:pos x="T0" y="T1"/>
                </a:cxn>
                <a:cxn ang="0">
                  <a:pos x="T2" y="T3"/>
                </a:cxn>
                <a:cxn ang="0">
                  <a:pos x="T4" y="T5"/>
                </a:cxn>
                <a:cxn ang="0">
                  <a:pos x="T6" y="T7"/>
                </a:cxn>
                <a:cxn ang="0">
                  <a:pos x="T8" y="T9"/>
                </a:cxn>
                <a:cxn ang="0">
                  <a:pos x="T10" y="T11"/>
                </a:cxn>
              </a:cxnLst>
              <a:rect l="0" t="0" r="r" b="b"/>
              <a:pathLst>
                <a:path w="102" h="90">
                  <a:moveTo>
                    <a:pt x="39" y="0"/>
                  </a:moveTo>
                  <a:lnTo>
                    <a:pt x="102" y="39"/>
                  </a:lnTo>
                  <a:lnTo>
                    <a:pt x="33" y="90"/>
                  </a:lnTo>
                  <a:lnTo>
                    <a:pt x="0" y="69"/>
                  </a:lnTo>
                  <a:lnTo>
                    <a:pt x="3" y="9"/>
                  </a:lnTo>
                  <a:lnTo>
                    <a:pt x="39"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3" name="Freeform 25"/>
            <p:cNvSpPr>
              <a:spLocks/>
            </p:cNvSpPr>
            <p:nvPr/>
          </p:nvSpPr>
          <p:spPr bwMode="auto">
            <a:xfrm>
              <a:off x="1434" y="1839"/>
              <a:ext cx="90" cy="54"/>
            </a:xfrm>
            <a:custGeom>
              <a:avLst/>
              <a:gdLst>
                <a:gd name="T0" fmla="*/ 0 w 90"/>
                <a:gd name="T1" fmla="*/ 0 h 54"/>
                <a:gd name="T2" fmla="*/ 6 w 90"/>
                <a:gd name="T3" fmla="*/ 51 h 54"/>
                <a:gd name="T4" fmla="*/ 90 w 90"/>
                <a:gd name="T5" fmla="*/ 54 h 54"/>
                <a:gd name="T6" fmla="*/ 0 w 90"/>
                <a:gd name="T7" fmla="*/ 0 h 54"/>
              </a:gdLst>
              <a:ahLst/>
              <a:cxnLst>
                <a:cxn ang="0">
                  <a:pos x="T0" y="T1"/>
                </a:cxn>
                <a:cxn ang="0">
                  <a:pos x="T2" y="T3"/>
                </a:cxn>
                <a:cxn ang="0">
                  <a:pos x="T4" y="T5"/>
                </a:cxn>
                <a:cxn ang="0">
                  <a:pos x="T6" y="T7"/>
                </a:cxn>
              </a:cxnLst>
              <a:rect l="0" t="0" r="r" b="b"/>
              <a:pathLst>
                <a:path w="90" h="54">
                  <a:moveTo>
                    <a:pt x="0" y="0"/>
                  </a:moveTo>
                  <a:lnTo>
                    <a:pt x="6" y="51"/>
                  </a:lnTo>
                  <a:lnTo>
                    <a:pt x="90" y="54"/>
                  </a:lnTo>
                  <a:lnTo>
                    <a:pt x="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4" name="AutoShape 26"/>
            <p:cNvSpPr>
              <a:spLocks noChangeArrowheads="1"/>
            </p:cNvSpPr>
            <p:nvPr/>
          </p:nvSpPr>
          <p:spPr bwMode="auto">
            <a:xfrm>
              <a:off x="1615" y="1389"/>
              <a:ext cx="214" cy="84"/>
            </a:xfrm>
            <a:prstGeom prst="hexagon">
              <a:avLst>
                <a:gd name="adj" fmla="val 63690"/>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5" name="AutoShape 27"/>
            <p:cNvSpPr>
              <a:spLocks noChangeArrowheads="1"/>
            </p:cNvSpPr>
            <p:nvPr/>
          </p:nvSpPr>
          <p:spPr bwMode="auto">
            <a:xfrm>
              <a:off x="1757" y="132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6" name="AutoShape 28"/>
            <p:cNvSpPr>
              <a:spLocks noChangeArrowheads="1"/>
            </p:cNvSpPr>
            <p:nvPr/>
          </p:nvSpPr>
          <p:spPr bwMode="auto">
            <a:xfrm>
              <a:off x="1660" y="1290"/>
              <a:ext cx="151" cy="59"/>
            </a:xfrm>
            <a:prstGeom prst="hexagon">
              <a:avLst>
                <a:gd name="adj" fmla="val 63983"/>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7" name="Freeform 29"/>
            <p:cNvSpPr>
              <a:spLocks/>
            </p:cNvSpPr>
            <p:nvPr/>
          </p:nvSpPr>
          <p:spPr bwMode="auto">
            <a:xfrm>
              <a:off x="1641" y="1347"/>
              <a:ext cx="120" cy="30"/>
            </a:xfrm>
            <a:custGeom>
              <a:avLst/>
              <a:gdLst>
                <a:gd name="T0" fmla="*/ 9 w 120"/>
                <a:gd name="T1" fmla="*/ 0 h 30"/>
                <a:gd name="T2" fmla="*/ 42 w 120"/>
                <a:gd name="T3" fmla="*/ 6 h 30"/>
                <a:gd name="T4" fmla="*/ 120 w 120"/>
                <a:gd name="T5" fmla="*/ 9 h 30"/>
                <a:gd name="T6" fmla="*/ 114 w 120"/>
                <a:gd name="T7" fmla="*/ 30 h 30"/>
                <a:gd name="T8" fmla="*/ 0 w 120"/>
                <a:gd name="T9" fmla="*/ 30 h 30"/>
                <a:gd name="T10" fmla="*/ 9 w 120"/>
                <a:gd name="T11" fmla="*/ 0 h 30"/>
              </a:gdLst>
              <a:ahLst/>
              <a:cxnLst>
                <a:cxn ang="0">
                  <a:pos x="T0" y="T1"/>
                </a:cxn>
                <a:cxn ang="0">
                  <a:pos x="T2" y="T3"/>
                </a:cxn>
                <a:cxn ang="0">
                  <a:pos x="T4" y="T5"/>
                </a:cxn>
                <a:cxn ang="0">
                  <a:pos x="T6" y="T7"/>
                </a:cxn>
                <a:cxn ang="0">
                  <a:pos x="T8" y="T9"/>
                </a:cxn>
                <a:cxn ang="0">
                  <a:pos x="T10" y="T11"/>
                </a:cxn>
              </a:cxnLst>
              <a:rect l="0" t="0" r="r" b="b"/>
              <a:pathLst>
                <a:path w="120" h="30">
                  <a:moveTo>
                    <a:pt x="9" y="0"/>
                  </a:moveTo>
                  <a:lnTo>
                    <a:pt x="42" y="6"/>
                  </a:lnTo>
                  <a:lnTo>
                    <a:pt x="120" y="9"/>
                  </a:lnTo>
                  <a:lnTo>
                    <a:pt x="114" y="30"/>
                  </a:lnTo>
                  <a:lnTo>
                    <a:pt x="0" y="30"/>
                  </a:lnTo>
                  <a:lnTo>
                    <a:pt x="9"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8" name="AutoShape 30"/>
            <p:cNvSpPr>
              <a:spLocks noChangeArrowheads="1"/>
            </p:cNvSpPr>
            <p:nvPr/>
          </p:nvSpPr>
          <p:spPr bwMode="auto">
            <a:xfrm>
              <a:off x="1740" y="1212"/>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69" name="AutoShape 31"/>
            <p:cNvSpPr>
              <a:spLocks noChangeArrowheads="1"/>
            </p:cNvSpPr>
            <p:nvPr/>
          </p:nvSpPr>
          <p:spPr bwMode="auto">
            <a:xfrm>
              <a:off x="1767" y="1122"/>
              <a:ext cx="179" cy="80"/>
            </a:xfrm>
            <a:prstGeom prst="hexagon">
              <a:avLst>
                <a:gd name="adj" fmla="val 5593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0" name="Freeform 32"/>
            <p:cNvSpPr>
              <a:spLocks/>
            </p:cNvSpPr>
            <p:nvPr/>
          </p:nvSpPr>
          <p:spPr bwMode="auto">
            <a:xfrm>
              <a:off x="1934" y="1274"/>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1" name="Freeform 33"/>
            <p:cNvSpPr>
              <a:spLocks noChangeAspect="1"/>
            </p:cNvSpPr>
            <p:nvPr/>
          </p:nvSpPr>
          <p:spPr bwMode="auto">
            <a:xfrm>
              <a:off x="1953" y="1376"/>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2" name="Freeform 34"/>
            <p:cNvSpPr>
              <a:spLocks noChangeAspect="1"/>
            </p:cNvSpPr>
            <p:nvPr/>
          </p:nvSpPr>
          <p:spPr bwMode="auto">
            <a:xfrm>
              <a:off x="1984" y="1610"/>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3" name="Freeform 35"/>
            <p:cNvSpPr>
              <a:spLocks noChangeAspect="1"/>
            </p:cNvSpPr>
            <p:nvPr/>
          </p:nvSpPr>
          <p:spPr bwMode="auto">
            <a:xfrm>
              <a:off x="2082" y="1755"/>
              <a:ext cx="50" cy="66"/>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4" name="Freeform 36"/>
            <p:cNvSpPr>
              <a:spLocks/>
            </p:cNvSpPr>
            <p:nvPr/>
          </p:nvSpPr>
          <p:spPr bwMode="auto">
            <a:xfrm>
              <a:off x="1915" y="1162"/>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5" name="Freeform 37"/>
            <p:cNvSpPr>
              <a:spLocks noChangeAspect="1"/>
            </p:cNvSpPr>
            <p:nvPr/>
          </p:nvSpPr>
          <p:spPr bwMode="auto">
            <a:xfrm>
              <a:off x="1695" y="1149"/>
              <a:ext cx="100" cy="68"/>
            </a:xfrm>
            <a:custGeom>
              <a:avLst/>
              <a:gdLst>
                <a:gd name="T0" fmla="*/ 45 w 123"/>
                <a:gd name="T1" fmla="*/ 0 h 84"/>
                <a:gd name="T2" fmla="*/ 0 w 123"/>
                <a:gd name="T3" fmla="*/ 81 h 84"/>
                <a:gd name="T4" fmla="*/ 102 w 123"/>
                <a:gd name="T5" fmla="*/ 84 h 84"/>
                <a:gd name="T6" fmla="*/ 123 w 123"/>
                <a:gd name="T7" fmla="*/ 63 h 84"/>
                <a:gd name="T8" fmla="*/ 45 w 123"/>
                <a:gd name="T9" fmla="*/ 0 h 84"/>
              </a:gdLst>
              <a:ahLst/>
              <a:cxnLst>
                <a:cxn ang="0">
                  <a:pos x="T0" y="T1"/>
                </a:cxn>
                <a:cxn ang="0">
                  <a:pos x="T2" y="T3"/>
                </a:cxn>
                <a:cxn ang="0">
                  <a:pos x="T4" y="T5"/>
                </a:cxn>
                <a:cxn ang="0">
                  <a:pos x="T6" y="T7"/>
                </a:cxn>
                <a:cxn ang="0">
                  <a:pos x="T8" y="T9"/>
                </a:cxn>
              </a:cxnLst>
              <a:rect l="0" t="0" r="r" b="b"/>
              <a:pathLst>
                <a:path w="123" h="84">
                  <a:moveTo>
                    <a:pt x="45" y="0"/>
                  </a:moveTo>
                  <a:lnTo>
                    <a:pt x="0" y="81"/>
                  </a:lnTo>
                  <a:lnTo>
                    <a:pt x="102" y="84"/>
                  </a:lnTo>
                  <a:lnTo>
                    <a:pt x="123" y="63"/>
                  </a:lnTo>
                  <a:lnTo>
                    <a:pt x="45"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6" name="Freeform 38"/>
            <p:cNvSpPr>
              <a:spLocks/>
            </p:cNvSpPr>
            <p:nvPr/>
          </p:nvSpPr>
          <p:spPr bwMode="auto">
            <a:xfrm>
              <a:off x="1944" y="1718"/>
              <a:ext cx="114" cy="60"/>
            </a:xfrm>
            <a:custGeom>
              <a:avLst/>
              <a:gdLst>
                <a:gd name="T0" fmla="*/ 82 w 114"/>
                <a:gd name="T1" fmla="*/ 0 h 60"/>
                <a:gd name="T2" fmla="*/ 38 w 114"/>
                <a:gd name="T3" fmla="*/ 32 h 60"/>
                <a:gd name="T4" fmla="*/ 0 w 114"/>
                <a:gd name="T5" fmla="*/ 60 h 60"/>
                <a:gd name="T6" fmla="*/ 114 w 114"/>
                <a:gd name="T7" fmla="*/ 58 h 60"/>
                <a:gd name="T8" fmla="*/ 82 w 114"/>
                <a:gd name="T9" fmla="*/ 0 h 60"/>
              </a:gdLst>
              <a:ahLst/>
              <a:cxnLst>
                <a:cxn ang="0">
                  <a:pos x="T0" y="T1"/>
                </a:cxn>
                <a:cxn ang="0">
                  <a:pos x="T2" y="T3"/>
                </a:cxn>
                <a:cxn ang="0">
                  <a:pos x="T4" y="T5"/>
                </a:cxn>
                <a:cxn ang="0">
                  <a:pos x="T6" y="T7"/>
                </a:cxn>
                <a:cxn ang="0">
                  <a:pos x="T8" y="T9"/>
                </a:cxn>
              </a:cxnLst>
              <a:rect l="0" t="0" r="r" b="b"/>
              <a:pathLst>
                <a:path w="114" h="60">
                  <a:moveTo>
                    <a:pt x="82" y="0"/>
                  </a:moveTo>
                  <a:lnTo>
                    <a:pt x="38" y="32"/>
                  </a:lnTo>
                  <a:lnTo>
                    <a:pt x="0" y="60"/>
                  </a:lnTo>
                  <a:lnTo>
                    <a:pt x="114" y="58"/>
                  </a:lnTo>
                  <a:lnTo>
                    <a:pt x="82"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7" name="Freeform 39"/>
            <p:cNvSpPr>
              <a:spLocks/>
            </p:cNvSpPr>
            <p:nvPr/>
          </p:nvSpPr>
          <p:spPr bwMode="auto">
            <a:xfrm>
              <a:off x="1668" y="1222"/>
              <a:ext cx="92" cy="66"/>
            </a:xfrm>
            <a:custGeom>
              <a:avLst/>
              <a:gdLst>
                <a:gd name="T0" fmla="*/ 92 w 92"/>
                <a:gd name="T1" fmla="*/ 0 h 66"/>
                <a:gd name="T2" fmla="*/ 30 w 92"/>
                <a:gd name="T3" fmla="*/ 0 h 66"/>
                <a:gd name="T4" fmla="*/ 0 w 92"/>
                <a:gd name="T5" fmla="*/ 66 h 66"/>
                <a:gd name="T6" fmla="*/ 64 w 92"/>
                <a:gd name="T7" fmla="*/ 56 h 66"/>
                <a:gd name="T8" fmla="*/ 92 w 92"/>
                <a:gd name="T9" fmla="*/ 0 h 66"/>
              </a:gdLst>
              <a:ahLst/>
              <a:cxnLst>
                <a:cxn ang="0">
                  <a:pos x="T0" y="T1"/>
                </a:cxn>
                <a:cxn ang="0">
                  <a:pos x="T2" y="T3"/>
                </a:cxn>
                <a:cxn ang="0">
                  <a:pos x="T4" y="T5"/>
                </a:cxn>
                <a:cxn ang="0">
                  <a:pos x="T6" y="T7"/>
                </a:cxn>
                <a:cxn ang="0">
                  <a:pos x="T8" y="T9"/>
                </a:cxn>
              </a:cxnLst>
              <a:rect l="0" t="0" r="r" b="b"/>
              <a:pathLst>
                <a:path w="92" h="66">
                  <a:moveTo>
                    <a:pt x="92" y="0"/>
                  </a:moveTo>
                  <a:lnTo>
                    <a:pt x="30" y="0"/>
                  </a:lnTo>
                  <a:lnTo>
                    <a:pt x="0" y="66"/>
                  </a:lnTo>
                  <a:lnTo>
                    <a:pt x="64" y="56"/>
                  </a:lnTo>
                  <a:lnTo>
                    <a:pt x="92"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8" name="Freeform 40"/>
            <p:cNvSpPr>
              <a:spLocks/>
            </p:cNvSpPr>
            <p:nvPr/>
          </p:nvSpPr>
          <p:spPr bwMode="auto">
            <a:xfrm>
              <a:off x="1588" y="1448"/>
              <a:ext cx="98" cy="60"/>
            </a:xfrm>
            <a:custGeom>
              <a:avLst/>
              <a:gdLst>
                <a:gd name="T0" fmla="*/ 98 w 98"/>
                <a:gd name="T1" fmla="*/ 38 h 60"/>
                <a:gd name="T2" fmla="*/ 74 w 98"/>
                <a:gd name="T3" fmla="*/ 60 h 60"/>
                <a:gd name="T4" fmla="*/ 42 w 98"/>
                <a:gd name="T5" fmla="*/ 48 h 60"/>
                <a:gd name="T6" fmla="*/ 0 w 98"/>
                <a:gd name="T7" fmla="*/ 48 h 60"/>
                <a:gd name="T8" fmla="*/ 18 w 98"/>
                <a:gd name="T9" fmla="*/ 0 h 60"/>
                <a:gd name="T10" fmla="*/ 98 w 98"/>
                <a:gd name="T11" fmla="*/ 38 h 60"/>
              </a:gdLst>
              <a:ahLst/>
              <a:cxnLst>
                <a:cxn ang="0">
                  <a:pos x="T0" y="T1"/>
                </a:cxn>
                <a:cxn ang="0">
                  <a:pos x="T2" y="T3"/>
                </a:cxn>
                <a:cxn ang="0">
                  <a:pos x="T4" y="T5"/>
                </a:cxn>
                <a:cxn ang="0">
                  <a:pos x="T6" y="T7"/>
                </a:cxn>
                <a:cxn ang="0">
                  <a:pos x="T8" y="T9"/>
                </a:cxn>
                <a:cxn ang="0">
                  <a:pos x="T10" y="T11"/>
                </a:cxn>
              </a:cxnLst>
              <a:rect l="0" t="0" r="r" b="b"/>
              <a:pathLst>
                <a:path w="98" h="60">
                  <a:moveTo>
                    <a:pt x="98" y="38"/>
                  </a:moveTo>
                  <a:lnTo>
                    <a:pt x="74" y="60"/>
                  </a:lnTo>
                  <a:lnTo>
                    <a:pt x="42" y="48"/>
                  </a:lnTo>
                  <a:lnTo>
                    <a:pt x="0" y="48"/>
                  </a:lnTo>
                  <a:lnTo>
                    <a:pt x="18" y="0"/>
                  </a:lnTo>
                  <a:lnTo>
                    <a:pt x="98" y="38"/>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79" name="AutoShape 41"/>
            <p:cNvSpPr>
              <a:spLocks noChangeArrowheads="1"/>
            </p:cNvSpPr>
            <p:nvPr/>
          </p:nvSpPr>
          <p:spPr bwMode="auto">
            <a:xfrm>
              <a:off x="1754" y="1024"/>
              <a:ext cx="196" cy="90"/>
            </a:xfrm>
            <a:prstGeom prst="hexagon">
              <a:avLst>
                <a:gd name="adj" fmla="val 54444"/>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80" name="Freeform 42"/>
            <p:cNvSpPr>
              <a:spLocks/>
            </p:cNvSpPr>
            <p:nvPr/>
          </p:nvSpPr>
          <p:spPr bwMode="auto">
            <a:xfrm>
              <a:off x="1905" y="1084"/>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81" name="Freeform 43"/>
            <p:cNvSpPr>
              <a:spLocks/>
            </p:cNvSpPr>
            <p:nvPr/>
          </p:nvSpPr>
          <p:spPr bwMode="auto">
            <a:xfrm>
              <a:off x="1730" y="1086"/>
              <a:ext cx="70" cy="72"/>
            </a:xfrm>
            <a:custGeom>
              <a:avLst/>
              <a:gdLst>
                <a:gd name="T0" fmla="*/ 26 w 70"/>
                <a:gd name="T1" fmla="*/ 0 h 72"/>
                <a:gd name="T2" fmla="*/ 0 w 70"/>
                <a:gd name="T3" fmla="*/ 54 h 72"/>
                <a:gd name="T4" fmla="*/ 28 w 70"/>
                <a:gd name="T5" fmla="*/ 72 h 72"/>
                <a:gd name="T6" fmla="*/ 70 w 70"/>
                <a:gd name="T7" fmla="*/ 36 h 72"/>
                <a:gd name="T8" fmla="*/ 26 w 70"/>
                <a:gd name="T9" fmla="*/ 0 h 72"/>
              </a:gdLst>
              <a:ahLst/>
              <a:cxnLst>
                <a:cxn ang="0">
                  <a:pos x="T0" y="T1"/>
                </a:cxn>
                <a:cxn ang="0">
                  <a:pos x="T2" y="T3"/>
                </a:cxn>
                <a:cxn ang="0">
                  <a:pos x="T4" y="T5"/>
                </a:cxn>
                <a:cxn ang="0">
                  <a:pos x="T6" y="T7"/>
                </a:cxn>
                <a:cxn ang="0">
                  <a:pos x="T8" y="T9"/>
                </a:cxn>
              </a:cxnLst>
              <a:rect l="0" t="0" r="r" b="b"/>
              <a:pathLst>
                <a:path w="70" h="72">
                  <a:moveTo>
                    <a:pt x="26" y="0"/>
                  </a:moveTo>
                  <a:lnTo>
                    <a:pt x="0" y="54"/>
                  </a:lnTo>
                  <a:lnTo>
                    <a:pt x="28" y="72"/>
                  </a:lnTo>
                  <a:lnTo>
                    <a:pt x="70" y="36"/>
                  </a:lnTo>
                  <a:lnTo>
                    <a:pt x="26"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82" name="AutoShape 44"/>
            <p:cNvSpPr>
              <a:spLocks noChangeArrowheads="1"/>
            </p:cNvSpPr>
            <p:nvPr/>
          </p:nvSpPr>
          <p:spPr bwMode="auto">
            <a:xfrm>
              <a:off x="1789" y="946"/>
              <a:ext cx="145" cy="72"/>
            </a:xfrm>
            <a:prstGeom prst="hexagon">
              <a:avLst>
                <a:gd name="adj" fmla="val 5034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83" name="Freeform 45"/>
            <p:cNvSpPr>
              <a:spLocks noChangeAspect="1"/>
            </p:cNvSpPr>
            <p:nvPr/>
          </p:nvSpPr>
          <p:spPr bwMode="auto">
            <a:xfrm>
              <a:off x="1898" y="989"/>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sp>
          <p:nvSpPr>
            <p:cNvPr id="84" name="Freeform 46"/>
            <p:cNvSpPr>
              <a:spLocks/>
            </p:cNvSpPr>
            <p:nvPr/>
          </p:nvSpPr>
          <p:spPr bwMode="auto">
            <a:xfrm>
              <a:off x="1764" y="981"/>
              <a:ext cx="48" cy="75"/>
            </a:xfrm>
            <a:custGeom>
              <a:avLst/>
              <a:gdLst>
                <a:gd name="T0" fmla="*/ 27 w 48"/>
                <a:gd name="T1" fmla="*/ 0 h 75"/>
                <a:gd name="T2" fmla="*/ 48 w 48"/>
                <a:gd name="T3" fmla="*/ 33 h 75"/>
                <a:gd name="T4" fmla="*/ 0 w 48"/>
                <a:gd name="T5" fmla="*/ 75 h 75"/>
                <a:gd name="T6" fmla="*/ 27 w 48"/>
                <a:gd name="T7" fmla="*/ 0 h 75"/>
              </a:gdLst>
              <a:ahLst/>
              <a:cxnLst>
                <a:cxn ang="0">
                  <a:pos x="T0" y="T1"/>
                </a:cxn>
                <a:cxn ang="0">
                  <a:pos x="T2" y="T3"/>
                </a:cxn>
                <a:cxn ang="0">
                  <a:pos x="T4" y="T5"/>
                </a:cxn>
                <a:cxn ang="0">
                  <a:pos x="T6" y="T7"/>
                </a:cxn>
              </a:cxnLst>
              <a:rect l="0" t="0" r="r" b="b"/>
              <a:pathLst>
                <a:path w="48" h="75">
                  <a:moveTo>
                    <a:pt x="27" y="0"/>
                  </a:moveTo>
                  <a:lnTo>
                    <a:pt x="48" y="33"/>
                  </a:lnTo>
                  <a:lnTo>
                    <a:pt x="0" y="75"/>
                  </a:lnTo>
                  <a:lnTo>
                    <a:pt x="27"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微软雅黑" pitchFamily="34" charset="-122"/>
                <a:ea typeface="微软雅黑" pitchFamily="34" charset="-122"/>
              </a:endParaRPr>
            </a:p>
          </p:txBody>
        </p:sp>
      </p:grpSp>
      <p:sp>
        <p:nvSpPr>
          <p:cNvPr id="87" name="Line 49"/>
          <p:cNvSpPr>
            <a:spLocks noChangeShapeType="1"/>
          </p:cNvSpPr>
          <p:nvPr/>
        </p:nvSpPr>
        <p:spPr bwMode="auto">
          <a:xfrm flipH="1">
            <a:off x="1990766" y="2383171"/>
            <a:ext cx="414267" cy="126803"/>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88" name="Text Box 50"/>
          <p:cNvSpPr txBox="1">
            <a:spLocks noChangeArrowheads="1"/>
          </p:cNvSpPr>
          <p:nvPr/>
        </p:nvSpPr>
        <p:spPr bwMode="auto">
          <a:xfrm>
            <a:off x="2395973" y="2080664"/>
            <a:ext cx="555727" cy="592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a:solidFill>
                  <a:srgbClr val="000066"/>
                </a:solidFill>
                <a:ea typeface="黑体" panose="02010609060101010101" pitchFamily="49" charset="-122"/>
                <a:cs typeface="Times New Roman" panose="02020603050405020304" pitchFamily="18" charset="0"/>
              </a:rPr>
              <a:t>E</a:t>
            </a:r>
          </a:p>
        </p:txBody>
      </p:sp>
      <p:grpSp>
        <p:nvGrpSpPr>
          <p:cNvPr id="89" name="组合 88"/>
          <p:cNvGrpSpPr/>
          <p:nvPr/>
        </p:nvGrpSpPr>
        <p:grpSpPr>
          <a:xfrm>
            <a:off x="2402933" y="1344839"/>
            <a:ext cx="557827" cy="604113"/>
            <a:chOff x="7657249" y="266704"/>
            <a:chExt cx="954518" cy="1160015"/>
          </a:xfrm>
        </p:grpSpPr>
        <p:sp>
          <p:nvSpPr>
            <p:cNvPr id="90" name="矩形 89"/>
            <p:cNvSpPr/>
            <p:nvPr/>
          </p:nvSpPr>
          <p:spPr>
            <a:xfrm>
              <a:off x="7657249" y="266704"/>
              <a:ext cx="954518" cy="1160015"/>
            </a:xfrm>
            <a:prstGeom prst="rect">
              <a:avLst/>
            </a:prstGeom>
            <a:pattFill prst="horzBrick">
              <a:fgClr>
                <a:srgbClr val="C00000"/>
              </a:fgClr>
              <a:bgClr>
                <a:schemeClr val="bg1"/>
              </a:bgClr>
            </a:patt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圆角矩形 90"/>
            <p:cNvSpPr/>
            <p:nvPr/>
          </p:nvSpPr>
          <p:spPr>
            <a:xfrm>
              <a:off x="7786042" y="1052736"/>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圆角矩形 91"/>
            <p:cNvSpPr/>
            <p:nvPr/>
          </p:nvSpPr>
          <p:spPr>
            <a:xfrm>
              <a:off x="8234381" y="1052736"/>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圆角矩形 92"/>
            <p:cNvSpPr/>
            <p:nvPr/>
          </p:nvSpPr>
          <p:spPr>
            <a:xfrm>
              <a:off x="7793013" y="738695"/>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圆角矩形 93"/>
            <p:cNvSpPr/>
            <p:nvPr/>
          </p:nvSpPr>
          <p:spPr>
            <a:xfrm>
              <a:off x="8241352" y="738695"/>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a:off x="7798133" y="404664"/>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圆角矩形 95"/>
            <p:cNvSpPr/>
            <p:nvPr/>
          </p:nvSpPr>
          <p:spPr>
            <a:xfrm>
              <a:off x="8246472" y="404664"/>
              <a:ext cx="237174" cy="216024"/>
            </a:xfrm>
            <a:prstGeom prst="roundRect">
              <a:avLst/>
            </a:prstGeom>
            <a:solidFill>
              <a:schemeClr val="accent3">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6" name="Text Box 52"/>
          <p:cNvSpPr txBox="1">
            <a:spLocks noChangeArrowheads="1"/>
          </p:cNvSpPr>
          <p:nvPr/>
        </p:nvSpPr>
        <p:spPr bwMode="auto">
          <a:xfrm>
            <a:off x="3262910" y="4904908"/>
            <a:ext cx="761962" cy="34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a:defRPr sz="2000" b="1">
                <a:solidFill>
                  <a:srgbClr val="000000"/>
                </a:solidFill>
                <a:latin typeface="微软雅黑" pitchFamily="34" charset="-122"/>
                <a:ea typeface="微软雅黑" pitchFamily="34" charset="-122"/>
              </a:defRPr>
            </a:lvl1pPr>
          </a:lstStyle>
          <a:p>
            <a:r>
              <a:rPr lang="zh-CN" altLang="en-US" sz="1400" dirty="0" smtClean="0">
                <a:latin typeface="幼圆" panose="02010509060101010101" pitchFamily="49" charset="-122"/>
                <a:ea typeface="幼圆" panose="02010509060101010101" pitchFamily="49" charset="-122"/>
              </a:rPr>
              <a:t>地下室</a:t>
            </a:r>
            <a:endParaRPr lang="zh-CN" altLang="en-US" sz="1400" dirty="0">
              <a:latin typeface="幼圆" panose="02010509060101010101" pitchFamily="49" charset="-122"/>
              <a:ea typeface="幼圆" panose="02010509060101010101" pitchFamily="49" charset="-122"/>
            </a:endParaRPr>
          </a:p>
        </p:txBody>
      </p:sp>
      <p:sp>
        <p:nvSpPr>
          <p:cNvPr id="177" name="Rectangle 53"/>
          <p:cNvSpPr>
            <a:spLocks noChangeArrowheads="1"/>
          </p:cNvSpPr>
          <p:nvPr/>
        </p:nvSpPr>
        <p:spPr bwMode="auto">
          <a:xfrm>
            <a:off x="3666480" y="4173520"/>
            <a:ext cx="468764" cy="48662"/>
          </a:xfrm>
          <a:prstGeom prst="rect">
            <a:avLst/>
          </a:prstGeom>
          <a:solidFill>
            <a:schemeClr val="accent6">
              <a:lumMod val="75000"/>
            </a:schemeClr>
          </a:solidFill>
          <a:ln w="9525">
            <a:solidFill>
              <a:schemeClr val="tx1"/>
            </a:solidFill>
            <a:miter lim="800000"/>
            <a:headEnd/>
            <a:tailEnd/>
          </a:ln>
          <a:effectLst/>
          <a:extLst/>
        </p:spPr>
        <p:txBody>
          <a:bodyPr wrap="none" anchor="ctr"/>
          <a:lstStyle/>
          <a:p>
            <a:endParaRPr lang="zh-CN" altLang="en-US"/>
          </a:p>
        </p:txBody>
      </p:sp>
      <p:sp>
        <p:nvSpPr>
          <p:cNvPr id="178" name="Rectangle 54"/>
          <p:cNvSpPr>
            <a:spLocks noChangeArrowheads="1"/>
          </p:cNvSpPr>
          <p:nvPr/>
        </p:nvSpPr>
        <p:spPr bwMode="auto">
          <a:xfrm>
            <a:off x="3846052" y="4222565"/>
            <a:ext cx="106490" cy="301093"/>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179" name="Freeform 55"/>
          <p:cNvSpPr>
            <a:spLocks noChangeAspect="1"/>
          </p:cNvSpPr>
          <p:nvPr/>
        </p:nvSpPr>
        <p:spPr bwMode="auto">
          <a:xfrm>
            <a:off x="3496305" y="3903223"/>
            <a:ext cx="141986" cy="129764"/>
          </a:xfrm>
          <a:custGeom>
            <a:avLst/>
            <a:gdLst>
              <a:gd name="T0" fmla="*/ 12 w 132"/>
              <a:gd name="T1" fmla="*/ 102 h 132"/>
              <a:gd name="T2" fmla="*/ 72 w 132"/>
              <a:gd name="T3" fmla="*/ 0 h 132"/>
              <a:gd name="T4" fmla="*/ 132 w 132"/>
              <a:gd name="T5" fmla="*/ 51 h 132"/>
              <a:gd name="T6" fmla="*/ 105 w 132"/>
              <a:gd name="T7" fmla="*/ 117 h 132"/>
              <a:gd name="T8" fmla="*/ 63 w 132"/>
              <a:gd name="T9" fmla="*/ 132 h 132"/>
              <a:gd name="T10" fmla="*/ 33 w 132"/>
              <a:gd name="T11" fmla="*/ 129 h 132"/>
              <a:gd name="T12" fmla="*/ 15 w 132"/>
              <a:gd name="T13" fmla="*/ 117 h 132"/>
              <a:gd name="T14" fmla="*/ 12 w 132"/>
              <a:gd name="T15" fmla="*/ 10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132">
                <a:moveTo>
                  <a:pt x="12" y="102"/>
                </a:moveTo>
                <a:cubicBezTo>
                  <a:pt x="0" y="44"/>
                  <a:pt x="19" y="13"/>
                  <a:pt x="72" y="0"/>
                </a:cubicBezTo>
                <a:cubicBezTo>
                  <a:pt x="113" y="4"/>
                  <a:pt x="124" y="11"/>
                  <a:pt x="132" y="51"/>
                </a:cubicBezTo>
                <a:cubicBezTo>
                  <a:pt x="129" y="78"/>
                  <a:pt x="121" y="96"/>
                  <a:pt x="105" y="117"/>
                </a:cubicBezTo>
                <a:cubicBezTo>
                  <a:pt x="96" y="129"/>
                  <a:pt x="63" y="132"/>
                  <a:pt x="63" y="132"/>
                </a:cubicBezTo>
                <a:cubicBezTo>
                  <a:pt x="53" y="131"/>
                  <a:pt x="43" y="132"/>
                  <a:pt x="33" y="129"/>
                </a:cubicBezTo>
                <a:cubicBezTo>
                  <a:pt x="26" y="127"/>
                  <a:pt x="15" y="117"/>
                  <a:pt x="15" y="117"/>
                </a:cubicBezTo>
                <a:cubicBezTo>
                  <a:pt x="8" y="106"/>
                  <a:pt x="7" y="111"/>
                  <a:pt x="12" y="102"/>
                </a:cubicBezTo>
                <a:close/>
              </a:path>
            </a:pathLst>
          </a:custGeom>
          <a:solidFill>
            <a:srgbClr val="000000"/>
          </a:solidFill>
          <a:ln w="9525" cap="flat" cmpd="sng">
            <a:solidFill>
              <a:schemeClr val="tx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 name="Rectangle 56" descr="横向砖形"/>
          <p:cNvSpPr>
            <a:spLocks noChangeArrowheads="1"/>
          </p:cNvSpPr>
          <p:nvPr/>
        </p:nvSpPr>
        <p:spPr bwMode="auto">
          <a:xfrm>
            <a:off x="2886599" y="3828277"/>
            <a:ext cx="241168" cy="705518"/>
          </a:xfrm>
          <a:prstGeom prst="rect">
            <a:avLst/>
          </a:prstGeom>
          <a:pattFill prst="horzBrick">
            <a:fgClr>
              <a:srgbClr val="800000"/>
            </a:fgClr>
            <a:bgClr>
              <a:srgbClr val="FA936A"/>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Rectangle 57" descr="栎木"/>
          <p:cNvSpPr>
            <a:spLocks noChangeArrowheads="1"/>
          </p:cNvSpPr>
          <p:nvPr/>
        </p:nvSpPr>
        <p:spPr bwMode="auto">
          <a:xfrm>
            <a:off x="2260188" y="4657477"/>
            <a:ext cx="761089" cy="1195248"/>
          </a:xfrm>
          <a:prstGeom prst="rect">
            <a:avLst/>
          </a:prstGeom>
          <a:pattFill prst="pct5">
            <a:fgClr>
              <a:schemeClr val="tx1">
                <a:lumMod val="95000"/>
                <a:lumOff val="5000"/>
              </a:schemeClr>
            </a:fgClr>
            <a:bgClr>
              <a:schemeClr val="accent6">
                <a:lumMod val="40000"/>
                <a:lumOff val="60000"/>
              </a:schemeClr>
            </a:bgClr>
          </a:pattFill>
          <a:ln>
            <a:noFill/>
          </a:ln>
          <a:effectLst/>
          <a:extLst/>
        </p:spPr>
        <p:txBody>
          <a:bodyPr wrap="none" anchor="ctr"/>
          <a:lstStyle/>
          <a:p>
            <a:endParaRPr lang="zh-CN" altLang="en-US"/>
          </a:p>
        </p:txBody>
      </p:sp>
      <p:sp>
        <p:nvSpPr>
          <p:cNvPr id="182" name="Rectangle 58" descr="栎木"/>
          <p:cNvSpPr>
            <a:spLocks noChangeArrowheads="1"/>
          </p:cNvSpPr>
          <p:nvPr/>
        </p:nvSpPr>
        <p:spPr bwMode="auto">
          <a:xfrm>
            <a:off x="3021277" y="5432006"/>
            <a:ext cx="1232985" cy="420719"/>
          </a:xfrm>
          <a:prstGeom prst="rect">
            <a:avLst/>
          </a:prstGeom>
          <a:pattFill prst="pct5">
            <a:fgClr>
              <a:schemeClr val="tx1"/>
            </a:fgClr>
            <a:bgClr>
              <a:srgbClr val="F5D0AB"/>
            </a:bgClr>
          </a:pattFill>
          <a:ln>
            <a:noFill/>
          </a:ln>
          <a:effectLst/>
          <a:extLst/>
        </p:spPr>
        <p:txBody>
          <a:bodyPr wrap="none" anchor="ctr"/>
          <a:lstStyle/>
          <a:p>
            <a:endParaRPr lang="zh-CN" altLang="en-US"/>
          </a:p>
        </p:txBody>
      </p:sp>
      <p:sp>
        <p:nvSpPr>
          <p:cNvPr id="183" name="Rectangle 59" descr="横向砖形"/>
          <p:cNvSpPr>
            <a:spLocks noChangeArrowheads="1"/>
          </p:cNvSpPr>
          <p:nvPr/>
        </p:nvSpPr>
        <p:spPr bwMode="auto">
          <a:xfrm>
            <a:off x="2891819" y="4648353"/>
            <a:ext cx="230728" cy="912403"/>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Rectangle 60" descr="横向砖形"/>
          <p:cNvSpPr>
            <a:spLocks noChangeArrowheads="1"/>
          </p:cNvSpPr>
          <p:nvPr/>
        </p:nvSpPr>
        <p:spPr bwMode="auto">
          <a:xfrm>
            <a:off x="2741480" y="5560756"/>
            <a:ext cx="539757" cy="221004"/>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Rectangle 61"/>
          <p:cNvSpPr>
            <a:spLocks noChangeArrowheads="1"/>
          </p:cNvSpPr>
          <p:nvPr/>
        </p:nvSpPr>
        <p:spPr bwMode="auto">
          <a:xfrm>
            <a:off x="3113151" y="5438361"/>
            <a:ext cx="1107703" cy="115571"/>
          </a:xfrm>
          <a:prstGeom prst="rect">
            <a:avLst/>
          </a:prstGeom>
          <a:pattFill prst="dkUpDiag">
            <a:fgClr>
              <a:srgbClr val="9966FF"/>
            </a:fgClr>
            <a:bgClr>
              <a:schemeClr val="bg1"/>
            </a:bgClr>
          </a:pattFill>
          <a:ln w="9525">
            <a:solidFill>
              <a:srgbClr val="000066"/>
            </a:solidFill>
            <a:miter lim="800000"/>
            <a:headEnd/>
            <a:tailEnd/>
          </a:ln>
          <a:effectLst/>
          <a:extLst/>
        </p:spPr>
        <p:txBody>
          <a:bodyPr wrap="none" anchor="ctr"/>
          <a:lstStyle/>
          <a:p>
            <a:endParaRPr lang="zh-CN" altLang="en-US"/>
          </a:p>
        </p:txBody>
      </p:sp>
      <p:sp>
        <p:nvSpPr>
          <p:cNvPr id="187" name="Rectangle 63"/>
          <p:cNvSpPr>
            <a:spLocks noChangeArrowheads="1"/>
          </p:cNvSpPr>
          <p:nvPr/>
        </p:nvSpPr>
        <p:spPr bwMode="auto">
          <a:xfrm>
            <a:off x="2891819" y="4533795"/>
            <a:ext cx="1290406" cy="114557"/>
          </a:xfrm>
          <a:prstGeom prst="rect">
            <a:avLst/>
          </a:prstGeom>
          <a:pattFill prst="dkUpDiag">
            <a:fgClr>
              <a:srgbClr val="9966FF"/>
            </a:fgClr>
            <a:bgClr>
              <a:schemeClr val="bg1"/>
            </a:bgClr>
          </a:pattFill>
          <a:ln w="9525">
            <a:solidFill>
              <a:srgbClr val="000066"/>
            </a:solidFill>
            <a:miter lim="800000"/>
            <a:headEnd/>
            <a:tailEnd/>
          </a:ln>
          <a:effectLst/>
          <a:extLst/>
        </p:spPr>
        <p:txBody>
          <a:bodyPr wrap="none" anchor="ctr"/>
          <a:lstStyle/>
          <a:p>
            <a:endParaRPr lang="zh-CN" altLang="en-US"/>
          </a:p>
        </p:txBody>
      </p:sp>
      <p:sp>
        <p:nvSpPr>
          <p:cNvPr id="189" name="Line 65"/>
          <p:cNvSpPr>
            <a:spLocks noChangeShapeType="1"/>
          </p:cNvSpPr>
          <p:nvPr/>
        </p:nvSpPr>
        <p:spPr bwMode="auto">
          <a:xfrm>
            <a:off x="2529629" y="5250964"/>
            <a:ext cx="375762" cy="0"/>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0" name="Text Box 66"/>
          <p:cNvSpPr txBox="1">
            <a:spLocks noChangeArrowheads="1"/>
          </p:cNvSpPr>
          <p:nvPr/>
        </p:nvSpPr>
        <p:spPr bwMode="auto">
          <a:xfrm>
            <a:off x="2318854" y="5259156"/>
            <a:ext cx="298589"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i="1" dirty="0">
                <a:solidFill>
                  <a:srgbClr val="000066"/>
                </a:solidFill>
                <a:ea typeface="楷体_GB2312" pitchFamily="49" charset="-122"/>
              </a:rPr>
              <a:t>E</a:t>
            </a:r>
          </a:p>
        </p:txBody>
      </p:sp>
      <p:sp>
        <p:nvSpPr>
          <p:cNvPr id="191" name="Text Box 67"/>
          <p:cNvSpPr txBox="1">
            <a:spLocks noChangeArrowheads="1"/>
          </p:cNvSpPr>
          <p:nvPr/>
        </p:nvSpPr>
        <p:spPr bwMode="auto">
          <a:xfrm>
            <a:off x="2247190" y="4713583"/>
            <a:ext cx="80911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800" b="1" dirty="0">
                <a:solidFill>
                  <a:srgbClr val="000000"/>
                </a:solidFill>
                <a:latin typeface="幼圆" panose="02010509060101010101" pitchFamily="49" charset="-122"/>
                <a:ea typeface="幼圆" panose="02010509060101010101" pitchFamily="49" charset="-122"/>
              </a:rPr>
              <a:t>填土</a:t>
            </a:r>
          </a:p>
        </p:txBody>
      </p:sp>
      <p:sp>
        <p:nvSpPr>
          <p:cNvPr id="192" name="Freeform 68"/>
          <p:cNvSpPr>
            <a:spLocks/>
          </p:cNvSpPr>
          <p:nvPr/>
        </p:nvSpPr>
        <p:spPr bwMode="auto">
          <a:xfrm>
            <a:off x="3634116" y="4121186"/>
            <a:ext cx="211936" cy="49675"/>
          </a:xfrm>
          <a:custGeom>
            <a:avLst/>
            <a:gdLst>
              <a:gd name="T0" fmla="*/ 15 w 176"/>
              <a:gd name="T1" fmla="*/ 0 h 45"/>
              <a:gd name="T2" fmla="*/ 78 w 176"/>
              <a:gd name="T3" fmla="*/ 21 h 45"/>
              <a:gd name="T4" fmla="*/ 134 w 176"/>
              <a:gd name="T5" fmla="*/ 27 h 45"/>
              <a:gd name="T6" fmla="*/ 156 w 176"/>
              <a:gd name="T7" fmla="*/ 30 h 45"/>
              <a:gd name="T8" fmla="*/ 176 w 176"/>
              <a:gd name="T9" fmla="*/ 38 h 45"/>
              <a:gd name="T10" fmla="*/ 155 w 176"/>
              <a:gd name="T11" fmla="*/ 42 h 45"/>
              <a:gd name="T12" fmla="*/ 119 w 176"/>
              <a:gd name="T13" fmla="*/ 41 h 45"/>
              <a:gd name="T14" fmla="*/ 24 w 176"/>
              <a:gd name="T15" fmla="*/ 42 h 45"/>
              <a:gd name="T16" fmla="*/ 0 w 176"/>
              <a:gd name="T17" fmla="*/ 30 h 45"/>
              <a:gd name="T18" fmla="*/ 15 w 176"/>
              <a:gd name="T1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45">
                <a:moveTo>
                  <a:pt x="15" y="0"/>
                </a:moveTo>
                <a:cubicBezTo>
                  <a:pt x="42" y="16"/>
                  <a:pt x="42" y="20"/>
                  <a:pt x="78" y="21"/>
                </a:cubicBezTo>
                <a:cubicBezTo>
                  <a:pt x="97" y="24"/>
                  <a:pt x="115" y="25"/>
                  <a:pt x="134" y="27"/>
                </a:cubicBezTo>
                <a:cubicBezTo>
                  <a:pt x="144" y="30"/>
                  <a:pt x="145" y="32"/>
                  <a:pt x="156" y="30"/>
                </a:cubicBezTo>
                <a:cubicBezTo>
                  <a:pt x="166" y="32"/>
                  <a:pt x="171" y="30"/>
                  <a:pt x="176" y="38"/>
                </a:cubicBezTo>
                <a:cubicBezTo>
                  <a:pt x="168" y="40"/>
                  <a:pt x="164" y="41"/>
                  <a:pt x="155" y="42"/>
                </a:cubicBezTo>
                <a:cubicBezTo>
                  <a:pt x="143" y="45"/>
                  <a:pt x="131" y="42"/>
                  <a:pt x="119" y="41"/>
                </a:cubicBezTo>
                <a:cubicBezTo>
                  <a:pt x="82" y="43"/>
                  <a:pt x="74" y="43"/>
                  <a:pt x="24" y="42"/>
                </a:cubicBezTo>
                <a:cubicBezTo>
                  <a:pt x="14" y="41"/>
                  <a:pt x="7" y="37"/>
                  <a:pt x="0" y="30"/>
                </a:cubicBezTo>
                <a:cubicBezTo>
                  <a:pt x="8" y="19"/>
                  <a:pt x="18" y="16"/>
                  <a:pt x="15" y="0"/>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3" name="Freeform 69"/>
          <p:cNvSpPr>
            <a:spLocks/>
          </p:cNvSpPr>
          <p:nvPr/>
        </p:nvSpPr>
        <p:spPr bwMode="auto">
          <a:xfrm>
            <a:off x="3436796" y="4296571"/>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 name="Freeform 70"/>
          <p:cNvSpPr>
            <a:spLocks/>
          </p:cNvSpPr>
          <p:nvPr/>
        </p:nvSpPr>
        <p:spPr bwMode="auto">
          <a:xfrm>
            <a:off x="3467073" y="4322929"/>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 name="Freeform 71"/>
          <p:cNvSpPr>
            <a:spLocks/>
          </p:cNvSpPr>
          <p:nvPr/>
        </p:nvSpPr>
        <p:spPr bwMode="auto">
          <a:xfrm>
            <a:off x="3344923" y="4007643"/>
            <a:ext cx="311117" cy="354823"/>
          </a:xfrm>
          <a:custGeom>
            <a:avLst/>
            <a:gdLst>
              <a:gd name="T0" fmla="*/ 202 w 273"/>
              <a:gd name="T1" fmla="*/ 38 h 311"/>
              <a:gd name="T2" fmla="*/ 187 w 273"/>
              <a:gd name="T3" fmla="*/ 14 h 311"/>
              <a:gd name="T4" fmla="*/ 163 w 273"/>
              <a:gd name="T5" fmla="*/ 6 h 311"/>
              <a:gd name="T6" fmla="*/ 150 w 273"/>
              <a:gd name="T7" fmla="*/ 0 h 311"/>
              <a:gd name="T8" fmla="*/ 141 w 273"/>
              <a:gd name="T9" fmla="*/ 20 h 311"/>
              <a:gd name="T10" fmla="*/ 130 w 273"/>
              <a:gd name="T11" fmla="*/ 15 h 311"/>
              <a:gd name="T12" fmla="*/ 79 w 273"/>
              <a:gd name="T13" fmla="*/ 51 h 311"/>
              <a:gd name="T14" fmla="*/ 64 w 273"/>
              <a:gd name="T15" fmla="*/ 75 h 311"/>
              <a:gd name="T16" fmla="*/ 55 w 273"/>
              <a:gd name="T17" fmla="*/ 96 h 311"/>
              <a:gd name="T18" fmla="*/ 21 w 273"/>
              <a:gd name="T19" fmla="*/ 158 h 311"/>
              <a:gd name="T20" fmla="*/ 12 w 273"/>
              <a:gd name="T21" fmla="*/ 179 h 311"/>
              <a:gd name="T22" fmla="*/ 7 w 273"/>
              <a:gd name="T23" fmla="*/ 189 h 311"/>
              <a:gd name="T24" fmla="*/ 18 w 273"/>
              <a:gd name="T25" fmla="*/ 263 h 311"/>
              <a:gd name="T26" fmla="*/ 51 w 273"/>
              <a:gd name="T27" fmla="*/ 272 h 311"/>
              <a:gd name="T28" fmla="*/ 85 w 273"/>
              <a:gd name="T29" fmla="*/ 266 h 311"/>
              <a:gd name="T30" fmla="*/ 85 w 273"/>
              <a:gd name="T31" fmla="*/ 270 h 311"/>
              <a:gd name="T32" fmla="*/ 81 w 273"/>
              <a:gd name="T33" fmla="*/ 272 h 311"/>
              <a:gd name="T34" fmla="*/ 76 w 273"/>
              <a:gd name="T35" fmla="*/ 273 h 311"/>
              <a:gd name="T36" fmla="*/ 82 w 273"/>
              <a:gd name="T37" fmla="*/ 272 h 311"/>
              <a:gd name="T38" fmla="*/ 102 w 273"/>
              <a:gd name="T39" fmla="*/ 270 h 311"/>
              <a:gd name="T40" fmla="*/ 106 w 273"/>
              <a:gd name="T41" fmla="*/ 275 h 311"/>
              <a:gd name="T42" fmla="*/ 117 w 273"/>
              <a:gd name="T43" fmla="*/ 273 h 311"/>
              <a:gd name="T44" fmla="*/ 97 w 273"/>
              <a:gd name="T45" fmla="*/ 278 h 311"/>
              <a:gd name="T46" fmla="*/ 96 w 273"/>
              <a:gd name="T47" fmla="*/ 267 h 311"/>
              <a:gd name="T48" fmla="*/ 115 w 273"/>
              <a:gd name="T49" fmla="*/ 273 h 311"/>
              <a:gd name="T50" fmla="*/ 169 w 273"/>
              <a:gd name="T51" fmla="*/ 281 h 311"/>
              <a:gd name="T52" fmla="*/ 157 w 273"/>
              <a:gd name="T53" fmla="*/ 288 h 311"/>
              <a:gd name="T54" fmla="*/ 195 w 273"/>
              <a:gd name="T55" fmla="*/ 297 h 311"/>
              <a:gd name="T56" fmla="*/ 219 w 273"/>
              <a:gd name="T57" fmla="*/ 297 h 311"/>
              <a:gd name="T58" fmla="*/ 238 w 273"/>
              <a:gd name="T59" fmla="*/ 311 h 311"/>
              <a:gd name="T60" fmla="*/ 249 w 273"/>
              <a:gd name="T61" fmla="*/ 294 h 311"/>
              <a:gd name="T62" fmla="*/ 264 w 273"/>
              <a:gd name="T63" fmla="*/ 267 h 311"/>
              <a:gd name="T64" fmla="*/ 256 w 273"/>
              <a:gd name="T65" fmla="*/ 224 h 311"/>
              <a:gd name="T66" fmla="*/ 244 w 273"/>
              <a:gd name="T67" fmla="*/ 215 h 311"/>
              <a:gd name="T68" fmla="*/ 210 w 273"/>
              <a:gd name="T69" fmla="*/ 210 h 311"/>
              <a:gd name="T70" fmla="*/ 193 w 273"/>
              <a:gd name="T71" fmla="*/ 206 h 311"/>
              <a:gd name="T72" fmla="*/ 147 w 273"/>
              <a:gd name="T73" fmla="*/ 192 h 311"/>
              <a:gd name="T74" fmla="*/ 156 w 273"/>
              <a:gd name="T75" fmla="*/ 168 h 311"/>
              <a:gd name="T76" fmla="*/ 177 w 273"/>
              <a:gd name="T77" fmla="*/ 149 h 311"/>
              <a:gd name="T78" fmla="*/ 201 w 273"/>
              <a:gd name="T79" fmla="*/ 128 h 311"/>
              <a:gd name="T80" fmla="*/ 202 w 273"/>
              <a:gd name="T81" fmla="*/ 117 h 311"/>
              <a:gd name="T82" fmla="*/ 213 w 273"/>
              <a:gd name="T83" fmla="*/ 134 h 311"/>
              <a:gd name="T84" fmla="*/ 219 w 273"/>
              <a:gd name="T85" fmla="*/ 135 h 311"/>
              <a:gd name="T86" fmla="*/ 231 w 273"/>
              <a:gd name="T87" fmla="*/ 143 h 311"/>
              <a:gd name="T88" fmla="*/ 247 w 273"/>
              <a:gd name="T89" fmla="*/ 135 h 311"/>
              <a:gd name="T90" fmla="*/ 256 w 273"/>
              <a:gd name="T91" fmla="*/ 128 h 311"/>
              <a:gd name="T92" fmla="*/ 273 w 273"/>
              <a:gd name="T93" fmla="*/ 105 h 311"/>
              <a:gd name="T94" fmla="*/ 250 w 273"/>
              <a:gd name="T95" fmla="*/ 72 h 311"/>
              <a:gd name="T96" fmla="*/ 211 w 273"/>
              <a:gd name="T97" fmla="*/ 35 h 311"/>
              <a:gd name="T98" fmla="*/ 202 w 273"/>
              <a:gd name="T99" fmla="*/ 3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73" h="311">
                <a:moveTo>
                  <a:pt x="202" y="38"/>
                </a:moveTo>
                <a:cubicBezTo>
                  <a:pt x="201" y="17"/>
                  <a:pt x="203" y="17"/>
                  <a:pt x="187" y="14"/>
                </a:cubicBezTo>
                <a:cubicBezTo>
                  <a:pt x="179" y="10"/>
                  <a:pt x="171" y="9"/>
                  <a:pt x="163" y="6"/>
                </a:cubicBezTo>
                <a:cubicBezTo>
                  <a:pt x="159" y="3"/>
                  <a:pt x="155" y="2"/>
                  <a:pt x="150" y="0"/>
                </a:cubicBezTo>
                <a:cubicBezTo>
                  <a:pt x="143" y="4"/>
                  <a:pt x="142" y="12"/>
                  <a:pt x="141" y="20"/>
                </a:cubicBezTo>
                <a:cubicBezTo>
                  <a:pt x="138" y="8"/>
                  <a:pt x="139" y="13"/>
                  <a:pt x="130" y="15"/>
                </a:cubicBezTo>
                <a:cubicBezTo>
                  <a:pt x="118" y="29"/>
                  <a:pt x="95" y="41"/>
                  <a:pt x="79" y="51"/>
                </a:cubicBezTo>
                <a:cubicBezTo>
                  <a:pt x="77" y="60"/>
                  <a:pt x="70" y="67"/>
                  <a:pt x="64" y="75"/>
                </a:cubicBezTo>
                <a:cubicBezTo>
                  <a:pt x="62" y="83"/>
                  <a:pt x="59" y="89"/>
                  <a:pt x="55" y="96"/>
                </a:cubicBezTo>
                <a:cubicBezTo>
                  <a:pt x="51" y="117"/>
                  <a:pt x="31" y="139"/>
                  <a:pt x="21" y="158"/>
                </a:cubicBezTo>
                <a:cubicBezTo>
                  <a:pt x="17" y="165"/>
                  <a:pt x="15" y="172"/>
                  <a:pt x="12" y="179"/>
                </a:cubicBezTo>
                <a:cubicBezTo>
                  <a:pt x="11" y="182"/>
                  <a:pt x="7" y="189"/>
                  <a:pt x="7" y="189"/>
                </a:cubicBezTo>
                <a:cubicBezTo>
                  <a:pt x="3" y="211"/>
                  <a:pt x="0" y="245"/>
                  <a:pt x="18" y="263"/>
                </a:cubicBezTo>
                <a:cubicBezTo>
                  <a:pt x="24" y="269"/>
                  <a:pt x="43" y="270"/>
                  <a:pt x="51" y="272"/>
                </a:cubicBezTo>
                <a:cubicBezTo>
                  <a:pt x="64" y="271"/>
                  <a:pt x="73" y="268"/>
                  <a:pt x="85" y="266"/>
                </a:cubicBezTo>
                <a:cubicBezTo>
                  <a:pt x="106" y="268"/>
                  <a:pt x="92" y="269"/>
                  <a:pt x="85" y="270"/>
                </a:cubicBezTo>
                <a:cubicBezTo>
                  <a:pt x="84" y="271"/>
                  <a:pt x="82" y="272"/>
                  <a:pt x="81" y="272"/>
                </a:cubicBezTo>
                <a:cubicBezTo>
                  <a:pt x="79" y="273"/>
                  <a:pt x="74" y="273"/>
                  <a:pt x="76" y="273"/>
                </a:cubicBezTo>
                <a:cubicBezTo>
                  <a:pt x="78" y="273"/>
                  <a:pt x="80" y="272"/>
                  <a:pt x="82" y="272"/>
                </a:cubicBezTo>
                <a:cubicBezTo>
                  <a:pt x="90" y="269"/>
                  <a:pt x="94" y="269"/>
                  <a:pt x="102" y="270"/>
                </a:cubicBezTo>
                <a:cubicBezTo>
                  <a:pt x="103" y="272"/>
                  <a:pt x="104" y="275"/>
                  <a:pt x="106" y="275"/>
                </a:cubicBezTo>
                <a:cubicBezTo>
                  <a:pt x="110" y="276"/>
                  <a:pt x="121" y="272"/>
                  <a:pt x="117" y="273"/>
                </a:cubicBezTo>
                <a:cubicBezTo>
                  <a:pt x="110" y="275"/>
                  <a:pt x="104" y="276"/>
                  <a:pt x="97" y="278"/>
                </a:cubicBezTo>
                <a:cubicBezTo>
                  <a:pt x="83" y="275"/>
                  <a:pt x="84" y="271"/>
                  <a:pt x="96" y="267"/>
                </a:cubicBezTo>
                <a:cubicBezTo>
                  <a:pt x="104" y="270"/>
                  <a:pt x="106" y="272"/>
                  <a:pt x="115" y="273"/>
                </a:cubicBezTo>
                <a:cubicBezTo>
                  <a:pt x="132" y="280"/>
                  <a:pt x="151" y="277"/>
                  <a:pt x="169" y="281"/>
                </a:cubicBezTo>
                <a:cubicBezTo>
                  <a:pt x="162" y="282"/>
                  <a:pt x="160" y="282"/>
                  <a:pt x="157" y="288"/>
                </a:cubicBezTo>
                <a:cubicBezTo>
                  <a:pt x="169" y="295"/>
                  <a:pt x="182" y="291"/>
                  <a:pt x="195" y="297"/>
                </a:cubicBezTo>
                <a:cubicBezTo>
                  <a:pt x="200" y="305"/>
                  <a:pt x="211" y="300"/>
                  <a:pt x="219" y="297"/>
                </a:cubicBezTo>
                <a:cubicBezTo>
                  <a:pt x="226" y="302"/>
                  <a:pt x="231" y="307"/>
                  <a:pt x="238" y="311"/>
                </a:cubicBezTo>
                <a:cubicBezTo>
                  <a:pt x="242" y="304"/>
                  <a:pt x="243" y="298"/>
                  <a:pt x="249" y="294"/>
                </a:cubicBezTo>
                <a:cubicBezTo>
                  <a:pt x="254" y="285"/>
                  <a:pt x="259" y="276"/>
                  <a:pt x="264" y="267"/>
                </a:cubicBezTo>
                <a:cubicBezTo>
                  <a:pt x="267" y="251"/>
                  <a:pt x="270" y="236"/>
                  <a:pt x="256" y="224"/>
                </a:cubicBezTo>
                <a:cubicBezTo>
                  <a:pt x="252" y="218"/>
                  <a:pt x="251" y="216"/>
                  <a:pt x="244" y="215"/>
                </a:cubicBezTo>
                <a:cubicBezTo>
                  <a:pt x="233" y="210"/>
                  <a:pt x="222" y="211"/>
                  <a:pt x="210" y="210"/>
                </a:cubicBezTo>
                <a:cubicBezTo>
                  <a:pt x="204" y="209"/>
                  <a:pt x="199" y="207"/>
                  <a:pt x="193" y="206"/>
                </a:cubicBezTo>
                <a:cubicBezTo>
                  <a:pt x="178" y="200"/>
                  <a:pt x="162" y="198"/>
                  <a:pt x="147" y="192"/>
                </a:cubicBezTo>
                <a:cubicBezTo>
                  <a:pt x="152" y="188"/>
                  <a:pt x="152" y="175"/>
                  <a:pt x="156" y="168"/>
                </a:cubicBezTo>
                <a:cubicBezTo>
                  <a:pt x="158" y="156"/>
                  <a:pt x="166" y="151"/>
                  <a:pt x="177" y="149"/>
                </a:cubicBezTo>
                <a:cubicBezTo>
                  <a:pt x="188" y="143"/>
                  <a:pt x="195" y="139"/>
                  <a:pt x="201" y="128"/>
                </a:cubicBezTo>
                <a:cubicBezTo>
                  <a:pt x="201" y="124"/>
                  <a:pt x="199" y="119"/>
                  <a:pt x="202" y="117"/>
                </a:cubicBezTo>
                <a:cubicBezTo>
                  <a:pt x="210" y="112"/>
                  <a:pt x="211" y="132"/>
                  <a:pt x="213" y="134"/>
                </a:cubicBezTo>
                <a:cubicBezTo>
                  <a:pt x="215" y="135"/>
                  <a:pt x="217" y="135"/>
                  <a:pt x="219" y="135"/>
                </a:cubicBezTo>
                <a:cubicBezTo>
                  <a:pt x="224" y="138"/>
                  <a:pt x="226" y="141"/>
                  <a:pt x="231" y="143"/>
                </a:cubicBezTo>
                <a:cubicBezTo>
                  <a:pt x="240" y="141"/>
                  <a:pt x="241" y="141"/>
                  <a:pt x="247" y="135"/>
                </a:cubicBezTo>
                <a:cubicBezTo>
                  <a:pt x="250" y="132"/>
                  <a:pt x="256" y="128"/>
                  <a:pt x="256" y="128"/>
                </a:cubicBezTo>
                <a:cubicBezTo>
                  <a:pt x="261" y="120"/>
                  <a:pt x="268" y="113"/>
                  <a:pt x="273" y="105"/>
                </a:cubicBezTo>
                <a:cubicBezTo>
                  <a:pt x="270" y="80"/>
                  <a:pt x="270" y="84"/>
                  <a:pt x="250" y="72"/>
                </a:cubicBezTo>
                <a:cubicBezTo>
                  <a:pt x="241" y="59"/>
                  <a:pt x="227" y="38"/>
                  <a:pt x="211" y="35"/>
                </a:cubicBezTo>
                <a:cubicBezTo>
                  <a:pt x="200" y="37"/>
                  <a:pt x="206" y="44"/>
                  <a:pt x="202" y="38"/>
                </a:cubicBezTo>
                <a:close/>
              </a:path>
            </a:pathLst>
          </a:custGeom>
          <a:gradFill rotWithShape="1">
            <a:gsLst>
              <a:gs pos="0">
                <a:srgbClr val="CC99FF"/>
              </a:gs>
              <a:gs pos="100000">
                <a:srgbClr val="FF33CC">
                  <a:gamma/>
                  <a:shade val="46275"/>
                  <a:invGamma/>
                </a:srgbClr>
              </a:gs>
            </a:gsLst>
            <a:lin ang="0" scaled="1"/>
          </a:gradFill>
          <a:ln w="9525" cap="flat" cmpd="sng">
            <a:solidFill>
              <a:srgbClr val="000000"/>
            </a:solidFill>
            <a:prstDash val="solid"/>
            <a:round/>
            <a:headEnd type="none" w="med" len="med"/>
            <a:tailEnd type="none" w="med" len="med"/>
          </a:ln>
          <a:effectLst/>
          <a:extLst/>
        </p:spPr>
        <p:txBody>
          <a:bodyPr/>
          <a:lstStyle/>
          <a:p>
            <a:endParaRPr lang="zh-CN" altLang="en-US"/>
          </a:p>
        </p:txBody>
      </p:sp>
      <p:sp>
        <p:nvSpPr>
          <p:cNvPr id="196" name="Rectangle 72"/>
          <p:cNvSpPr>
            <a:spLocks noChangeArrowheads="1"/>
          </p:cNvSpPr>
          <p:nvPr/>
        </p:nvSpPr>
        <p:spPr bwMode="auto">
          <a:xfrm>
            <a:off x="3333439" y="4374879"/>
            <a:ext cx="140942" cy="155109"/>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197" name="Rectangle 73"/>
          <p:cNvSpPr>
            <a:spLocks noChangeArrowheads="1"/>
          </p:cNvSpPr>
          <p:nvPr/>
        </p:nvSpPr>
        <p:spPr bwMode="auto">
          <a:xfrm>
            <a:off x="3272886" y="4323560"/>
            <a:ext cx="233860" cy="48662"/>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206" name="AutoShape 143"/>
          <p:cNvSpPr>
            <a:spLocks noChangeArrowheads="1"/>
          </p:cNvSpPr>
          <p:nvPr/>
        </p:nvSpPr>
        <p:spPr bwMode="auto">
          <a:xfrm>
            <a:off x="5269147" y="3952841"/>
            <a:ext cx="56429" cy="213916"/>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 name="AutoShape 144"/>
          <p:cNvSpPr>
            <a:spLocks noChangeArrowheads="1"/>
          </p:cNvSpPr>
          <p:nvPr/>
        </p:nvSpPr>
        <p:spPr bwMode="auto">
          <a:xfrm>
            <a:off x="5439530" y="3951792"/>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 name="AutoShape 145"/>
          <p:cNvSpPr>
            <a:spLocks noChangeArrowheads="1"/>
          </p:cNvSpPr>
          <p:nvPr/>
        </p:nvSpPr>
        <p:spPr bwMode="auto">
          <a:xfrm>
            <a:off x="5598407" y="3950744"/>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 name="AutoShape 146"/>
          <p:cNvSpPr>
            <a:spLocks noChangeArrowheads="1"/>
          </p:cNvSpPr>
          <p:nvPr/>
        </p:nvSpPr>
        <p:spPr bwMode="auto">
          <a:xfrm>
            <a:off x="5772624" y="3951792"/>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 name="AutoShape 147"/>
          <p:cNvSpPr>
            <a:spLocks noChangeArrowheads="1"/>
          </p:cNvSpPr>
          <p:nvPr/>
        </p:nvSpPr>
        <p:spPr bwMode="auto">
          <a:xfrm>
            <a:off x="5943006" y="3950744"/>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 name="AutoShape 148"/>
          <p:cNvSpPr>
            <a:spLocks noChangeArrowheads="1"/>
          </p:cNvSpPr>
          <p:nvPr/>
        </p:nvSpPr>
        <p:spPr bwMode="auto">
          <a:xfrm>
            <a:off x="6101883" y="3949695"/>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 name="AutoShape 149"/>
          <p:cNvSpPr>
            <a:spLocks noChangeArrowheads="1"/>
          </p:cNvSpPr>
          <p:nvPr/>
        </p:nvSpPr>
        <p:spPr bwMode="auto">
          <a:xfrm>
            <a:off x="6264595" y="3950744"/>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3" name="AutoShape 150"/>
          <p:cNvSpPr>
            <a:spLocks noChangeArrowheads="1"/>
          </p:cNvSpPr>
          <p:nvPr/>
        </p:nvSpPr>
        <p:spPr bwMode="auto">
          <a:xfrm>
            <a:off x="6434978" y="3949695"/>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 name="AutoShape 151"/>
          <p:cNvSpPr>
            <a:spLocks noChangeArrowheads="1"/>
          </p:cNvSpPr>
          <p:nvPr/>
        </p:nvSpPr>
        <p:spPr bwMode="auto">
          <a:xfrm>
            <a:off x="6593855" y="3948122"/>
            <a:ext cx="56429" cy="213916"/>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 name="AutoShape 152"/>
          <p:cNvSpPr>
            <a:spLocks noChangeArrowheads="1"/>
          </p:cNvSpPr>
          <p:nvPr/>
        </p:nvSpPr>
        <p:spPr bwMode="auto">
          <a:xfrm>
            <a:off x="6768072" y="3949695"/>
            <a:ext cx="55881"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 name="AutoShape 153"/>
          <p:cNvSpPr>
            <a:spLocks noChangeArrowheads="1"/>
          </p:cNvSpPr>
          <p:nvPr/>
        </p:nvSpPr>
        <p:spPr bwMode="auto">
          <a:xfrm>
            <a:off x="6937906" y="3948122"/>
            <a:ext cx="56429" cy="213916"/>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7" name="AutoShape 154"/>
          <p:cNvSpPr>
            <a:spLocks noChangeArrowheads="1"/>
          </p:cNvSpPr>
          <p:nvPr/>
        </p:nvSpPr>
        <p:spPr bwMode="auto">
          <a:xfrm>
            <a:off x="7096783" y="3947074"/>
            <a:ext cx="56429" cy="213392"/>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 name="AutoShape 155"/>
          <p:cNvSpPr>
            <a:spLocks noChangeArrowheads="1"/>
          </p:cNvSpPr>
          <p:nvPr/>
        </p:nvSpPr>
        <p:spPr bwMode="auto">
          <a:xfrm>
            <a:off x="7267166" y="3952841"/>
            <a:ext cx="56429" cy="213916"/>
          </a:xfrm>
          <a:prstGeom prst="flowChartSort">
            <a:avLst/>
          </a:prstGeom>
          <a:gradFill rotWithShape="1">
            <a:gsLst>
              <a:gs pos="0">
                <a:schemeClr val="bg1"/>
              </a:gs>
              <a:gs pos="100000">
                <a:srgbClr val="FFCC99"/>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 name="Rectangle 211"/>
          <p:cNvSpPr>
            <a:spLocks noChangeArrowheads="1"/>
          </p:cNvSpPr>
          <p:nvPr/>
        </p:nvSpPr>
        <p:spPr bwMode="auto">
          <a:xfrm>
            <a:off x="5246686" y="4158893"/>
            <a:ext cx="2179357" cy="33556"/>
          </a:xfrm>
          <a:prstGeom prst="rect">
            <a:avLst/>
          </a:prstGeom>
          <a:gradFill rotWithShape="1">
            <a:gsLst>
              <a:gs pos="0">
                <a:schemeClr val="bg1"/>
              </a:gs>
              <a:gs pos="100000">
                <a:srgbClr val="FFCC99"/>
              </a:gs>
            </a:gsLst>
            <a:path path="shape">
              <a:fillToRect l="50000" t="50000" r="50000" b="50000"/>
            </a:path>
          </a:gra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 name="Rectangle 212"/>
          <p:cNvSpPr>
            <a:spLocks noChangeArrowheads="1"/>
          </p:cNvSpPr>
          <p:nvPr/>
        </p:nvSpPr>
        <p:spPr bwMode="auto">
          <a:xfrm>
            <a:off x="5226415" y="3923480"/>
            <a:ext cx="2179357" cy="33556"/>
          </a:xfrm>
          <a:prstGeom prst="rect">
            <a:avLst/>
          </a:prstGeom>
          <a:gradFill rotWithShape="1">
            <a:gsLst>
              <a:gs pos="0">
                <a:schemeClr val="bg1"/>
              </a:gs>
              <a:gs pos="100000">
                <a:srgbClr val="FFCC99"/>
              </a:gs>
            </a:gsLst>
            <a:path path="shape">
              <a:fillToRect l="50000" t="50000" r="50000" b="50000"/>
            </a:path>
          </a:gra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213"/>
          <p:cNvSpPr>
            <a:spLocks noChangeShapeType="1"/>
          </p:cNvSpPr>
          <p:nvPr/>
        </p:nvSpPr>
        <p:spPr bwMode="auto">
          <a:xfrm>
            <a:off x="6069635" y="4581041"/>
            <a:ext cx="331810" cy="198439"/>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 name="Line 214"/>
          <p:cNvSpPr>
            <a:spLocks noChangeShapeType="1"/>
          </p:cNvSpPr>
          <p:nvPr/>
        </p:nvSpPr>
        <p:spPr bwMode="auto">
          <a:xfrm flipH="1">
            <a:off x="6833176" y="5111702"/>
            <a:ext cx="389987" cy="128612"/>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 name="直接连接符 11"/>
          <p:cNvCxnSpPr/>
          <p:nvPr/>
        </p:nvCxnSpPr>
        <p:spPr bwMode="auto">
          <a:xfrm flipH="1">
            <a:off x="2260188" y="4650653"/>
            <a:ext cx="626411"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任意多边形 19"/>
          <p:cNvSpPr/>
          <p:nvPr/>
        </p:nvSpPr>
        <p:spPr bwMode="auto">
          <a:xfrm>
            <a:off x="4988197" y="1357720"/>
            <a:ext cx="691764" cy="1455089"/>
          </a:xfrm>
          <a:custGeom>
            <a:avLst/>
            <a:gdLst>
              <a:gd name="connsiteX0" fmla="*/ 691764 w 691764"/>
              <a:gd name="connsiteY0" fmla="*/ 1455089 h 1455089"/>
              <a:gd name="connsiteX1" fmla="*/ 0 w 691764"/>
              <a:gd name="connsiteY1" fmla="*/ 1455089 h 1455089"/>
              <a:gd name="connsiteX2" fmla="*/ 0 w 691764"/>
              <a:gd name="connsiteY2" fmla="*/ 166978 h 1455089"/>
              <a:gd name="connsiteX3" fmla="*/ 47708 w 691764"/>
              <a:gd name="connsiteY3" fmla="*/ 166978 h 1455089"/>
              <a:gd name="connsiteX4" fmla="*/ 47708 w 691764"/>
              <a:gd name="connsiteY4" fmla="*/ 0 h 1455089"/>
              <a:gd name="connsiteX5" fmla="*/ 111319 w 691764"/>
              <a:gd name="connsiteY5" fmla="*/ 0 h 1455089"/>
              <a:gd name="connsiteX6" fmla="*/ 111319 w 691764"/>
              <a:gd name="connsiteY6" fmla="*/ 174929 h 1455089"/>
              <a:gd name="connsiteX7" fmla="*/ 166978 w 691764"/>
              <a:gd name="connsiteY7" fmla="*/ 174929 h 1455089"/>
              <a:gd name="connsiteX8" fmla="*/ 166978 w 691764"/>
              <a:gd name="connsiteY8" fmla="*/ 477079 h 1455089"/>
              <a:gd name="connsiteX9" fmla="*/ 691764 w 691764"/>
              <a:gd name="connsiteY9" fmla="*/ 1455089 h 1455089"/>
              <a:gd name="connsiteX0" fmla="*/ 691764 w 691764"/>
              <a:gd name="connsiteY0" fmla="*/ 1455089 h 1455089"/>
              <a:gd name="connsiteX1" fmla="*/ 0 w 691764"/>
              <a:gd name="connsiteY1" fmla="*/ 1455089 h 1455089"/>
              <a:gd name="connsiteX2" fmla="*/ 0 w 691764"/>
              <a:gd name="connsiteY2" fmla="*/ 166978 h 1455089"/>
              <a:gd name="connsiteX3" fmla="*/ 47708 w 691764"/>
              <a:gd name="connsiteY3" fmla="*/ 166978 h 1455089"/>
              <a:gd name="connsiteX4" fmla="*/ 47708 w 691764"/>
              <a:gd name="connsiteY4" fmla="*/ 0 h 1455089"/>
              <a:gd name="connsiteX5" fmla="*/ 111319 w 691764"/>
              <a:gd name="connsiteY5" fmla="*/ 0 h 1455089"/>
              <a:gd name="connsiteX6" fmla="*/ 111319 w 691764"/>
              <a:gd name="connsiteY6" fmla="*/ 174929 h 1455089"/>
              <a:gd name="connsiteX7" fmla="*/ 166978 w 691764"/>
              <a:gd name="connsiteY7" fmla="*/ 174929 h 1455089"/>
              <a:gd name="connsiteX8" fmla="*/ 166978 w 691764"/>
              <a:gd name="connsiteY8" fmla="*/ 477079 h 1455089"/>
              <a:gd name="connsiteX9" fmla="*/ 318993 w 691764"/>
              <a:gd name="connsiteY9" fmla="*/ 504073 h 1455089"/>
              <a:gd name="connsiteX10" fmla="*/ 691764 w 691764"/>
              <a:gd name="connsiteY10" fmla="*/ 1455089 h 145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764" h="1455089">
                <a:moveTo>
                  <a:pt x="691764" y="1455089"/>
                </a:moveTo>
                <a:lnTo>
                  <a:pt x="0" y="1455089"/>
                </a:lnTo>
                <a:lnTo>
                  <a:pt x="0" y="166978"/>
                </a:lnTo>
                <a:lnTo>
                  <a:pt x="47708" y="166978"/>
                </a:lnTo>
                <a:lnTo>
                  <a:pt x="47708" y="0"/>
                </a:lnTo>
                <a:lnTo>
                  <a:pt x="111319" y="0"/>
                </a:lnTo>
                <a:lnTo>
                  <a:pt x="111319" y="174929"/>
                </a:lnTo>
                <a:lnTo>
                  <a:pt x="166978" y="174929"/>
                </a:lnTo>
                <a:lnTo>
                  <a:pt x="166978" y="477079"/>
                </a:lnTo>
                <a:cubicBezTo>
                  <a:pt x="185844" y="512581"/>
                  <a:pt x="300127" y="468571"/>
                  <a:pt x="318993" y="504073"/>
                </a:cubicBezTo>
                <a:lnTo>
                  <a:pt x="691764" y="1455089"/>
                </a:lnTo>
                <a:close/>
              </a:path>
            </a:pathLst>
          </a:custGeom>
          <a:pattFill prst="dk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1" name="矩形 20"/>
          <p:cNvSpPr/>
          <p:nvPr/>
        </p:nvSpPr>
        <p:spPr bwMode="auto">
          <a:xfrm>
            <a:off x="4838062" y="2812809"/>
            <a:ext cx="1008336" cy="122410"/>
          </a:xfrm>
          <a:prstGeom prst="rect">
            <a:avLst/>
          </a:prstGeom>
          <a:pattFill prst="dk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7" name="直接连接符 26"/>
          <p:cNvCxnSpPr>
            <a:stCxn id="278" idx="0"/>
          </p:cNvCxnSpPr>
          <p:nvPr/>
        </p:nvCxnSpPr>
        <p:spPr bwMode="auto">
          <a:xfrm>
            <a:off x="4250208" y="2807998"/>
            <a:ext cx="587854" cy="481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 name="直接连接符 276"/>
          <p:cNvCxnSpPr>
            <a:endCxn id="278" idx="3"/>
          </p:cNvCxnSpPr>
          <p:nvPr/>
        </p:nvCxnSpPr>
        <p:spPr bwMode="auto">
          <a:xfrm flipV="1">
            <a:off x="5155176" y="1535790"/>
            <a:ext cx="915339" cy="199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5" name="直接连接符 334"/>
          <p:cNvCxnSpPr/>
          <p:nvPr/>
        </p:nvCxnSpPr>
        <p:spPr bwMode="auto">
          <a:xfrm flipH="1">
            <a:off x="4240417" y="1740429"/>
            <a:ext cx="74013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 name="等腰三角形 337"/>
          <p:cNvSpPr/>
          <p:nvPr/>
        </p:nvSpPr>
        <p:spPr bwMode="auto">
          <a:xfrm flipV="1">
            <a:off x="4551843" y="1627525"/>
            <a:ext cx="125817" cy="108463"/>
          </a:xfrm>
          <a:prstGeom prst="triangl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40" name="直接连接符 339"/>
          <p:cNvCxnSpPr/>
          <p:nvPr/>
        </p:nvCxnSpPr>
        <p:spPr bwMode="auto">
          <a:xfrm>
            <a:off x="4518111" y="1766630"/>
            <a:ext cx="59228" cy="0"/>
          </a:xfrm>
          <a:prstGeom prst="line">
            <a:avLst/>
          </a:prstGeom>
          <a:noFill/>
          <a:ln w="1270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1" name="直接连接符 340"/>
          <p:cNvCxnSpPr/>
          <p:nvPr/>
        </p:nvCxnSpPr>
        <p:spPr bwMode="auto">
          <a:xfrm>
            <a:off x="4618432" y="1766630"/>
            <a:ext cx="59228" cy="0"/>
          </a:xfrm>
          <a:prstGeom prst="line">
            <a:avLst/>
          </a:prstGeom>
          <a:noFill/>
          <a:ln w="1270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2" name="直接连接符 341"/>
          <p:cNvCxnSpPr/>
          <p:nvPr/>
        </p:nvCxnSpPr>
        <p:spPr bwMode="auto">
          <a:xfrm>
            <a:off x="4573351" y="1790963"/>
            <a:ext cx="59228" cy="0"/>
          </a:xfrm>
          <a:prstGeom prst="line">
            <a:avLst/>
          </a:prstGeom>
          <a:noFill/>
          <a:ln w="1270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直接连接符 342"/>
          <p:cNvCxnSpPr/>
          <p:nvPr/>
        </p:nvCxnSpPr>
        <p:spPr bwMode="auto">
          <a:xfrm>
            <a:off x="4586116" y="1821874"/>
            <a:ext cx="34273" cy="0"/>
          </a:xfrm>
          <a:prstGeom prst="line">
            <a:avLst/>
          </a:prstGeom>
          <a:noFill/>
          <a:ln w="1270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64" name="组合 363"/>
          <p:cNvGrpSpPr/>
          <p:nvPr/>
        </p:nvGrpSpPr>
        <p:grpSpPr>
          <a:xfrm>
            <a:off x="6978469" y="1399269"/>
            <a:ext cx="1778131" cy="1678503"/>
            <a:chOff x="7427155" y="2067498"/>
            <a:chExt cx="1142806" cy="1359017"/>
          </a:xfrm>
        </p:grpSpPr>
        <p:sp>
          <p:nvSpPr>
            <p:cNvPr id="359" name="任意多边形 358"/>
            <p:cNvSpPr/>
            <p:nvPr/>
          </p:nvSpPr>
          <p:spPr bwMode="auto">
            <a:xfrm>
              <a:off x="7430485" y="2074549"/>
              <a:ext cx="1133183" cy="1351966"/>
            </a:xfrm>
            <a:custGeom>
              <a:avLst/>
              <a:gdLst>
                <a:gd name="connsiteX0" fmla="*/ 0 w 1133183"/>
                <a:gd name="connsiteY0" fmla="*/ 1127573 h 1351966"/>
                <a:gd name="connsiteX1" fmla="*/ 0 w 1133183"/>
                <a:gd name="connsiteY1" fmla="*/ 1351966 h 1351966"/>
                <a:gd name="connsiteX2" fmla="*/ 1133183 w 1133183"/>
                <a:gd name="connsiteY2" fmla="*/ 1351966 h 1351966"/>
                <a:gd name="connsiteX3" fmla="*/ 1133183 w 1133183"/>
                <a:gd name="connsiteY3" fmla="*/ 0 h 1351966"/>
                <a:gd name="connsiteX4" fmla="*/ 286101 w 1133183"/>
                <a:gd name="connsiteY4" fmla="*/ 0 h 1351966"/>
                <a:gd name="connsiteX5" fmla="*/ 286101 w 1133183"/>
                <a:gd name="connsiteY5" fmla="*/ 1116354 h 1351966"/>
                <a:gd name="connsiteX6" fmla="*/ 0 w 1133183"/>
                <a:gd name="connsiteY6" fmla="*/ 1127573 h 135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3183" h="1351966">
                  <a:moveTo>
                    <a:pt x="0" y="1127573"/>
                  </a:moveTo>
                  <a:lnTo>
                    <a:pt x="0" y="1351966"/>
                  </a:lnTo>
                  <a:lnTo>
                    <a:pt x="1133183" y="1351966"/>
                  </a:lnTo>
                  <a:lnTo>
                    <a:pt x="1133183" y="0"/>
                  </a:lnTo>
                  <a:lnTo>
                    <a:pt x="286101" y="0"/>
                  </a:lnTo>
                  <a:lnTo>
                    <a:pt x="286101" y="1116354"/>
                  </a:lnTo>
                  <a:lnTo>
                    <a:pt x="0" y="1127573"/>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46" name="直接连接符 345"/>
            <p:cNvCxnSpPr/>
            <p:nvPr/>
          </p:nvCxnSpPr>
          <p:spPr bwMode="auto">
            <a:xfrm>
              <a:off x="7427155" y="3194833"/>
              <a:ext cx="1126014"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矩形 346"/>
            <p:cNvSpPr/>
            <p:nvPr/>
          </p:nvSpPr>
          <p:spPr bwMode="auto">
            <a:xfrm>
              <a:off x="7624485" y="3234719"/>
              <a:ext cx="176248" cy="104707"/>
            </a:xfrm>
            <a:prstGeom prst="rect">
              <a:avLst/>
            </a:prstGeom>
            <a:pattFill prst="wdDn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50" name="直接连接符 349"/>
            <p:cNvCxnSpPr/>
            <p:nvPr/>
          </p:nvCxnSpPr>
          <p:spPr bwMode="auto">
            <a:xfrm>
              <a:off x="7724828" y="2081600"/>
              <a:ext cx="8451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2" name="直接连接符 351"/>
            <p:cNvCxnSpPr/>
            <p:nvPr/>
          </p:nvCxnSpPr>
          <p:spPr bwMode="auto">
            <a:xfrm>
              <a:off x="7736698" y="2224447"/>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连接符 352"/>
            <p:cNvCxnSpPr/>
            <p:nvPr/>
          </p:nvCxnSpPr>
          <p:spPr bwMode="auto">
            <a:xfrm>
              <a:off x="7736698" y="2390681"/>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4" name="直接连接符 353"/>
            <p:cNvCxnSpPr/>
            <p:nvPr/>
          </p:nvCxnSpPr>
          <p:spPr bwMode="auto">
            <a:xfrm>
              <a:off x="7736698" y="2551305"/>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5" name="直接连接符 354"/>
            <p:cNvCxnSpPr/>
            <p:nvPr/>
          </p:nvCxnSpPr>
          <p:spPr bwMode="auto">
            <a:xfrm>
              <a:off x="7736698" y="2711929"/>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6" name="直接连接符 355"/>
            <p:cNvCxnSpPr/>
            <p:nvPr/>
          </p:nvCxnSpPr>
          <p:spPr bwMode="auto">
            <a:xfrm>
              <a:off x="7736698" y="2872553"/>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7" name="直接连接符 356"/>
            <p:cNvCxnSpPr/>
            <p:nvPr/>
          </p:nvCxnSpPr>
          <p:spPr bwMode="auto">
            <a:xfrm>
              <a:off x="7736698" y="3033177"/>
              <a:ext cx="70355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 name="矩形 347"/>
            <p:cNvSpPr/>
            <p:nvPr/>
          </p:nvSpPr>
          <p:spPr bwMode="auto">
            <a:xfrm>
              <a:off x="7690567" y="2067498"/>
              <a:ext cx="57325" cy="1212523"/>
            </a:xfrm>
            <a:prstGeom prst="rect">
              <a:avLst/>
            </a:prstGeom>
            <a:pattFill prst="dk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361" name="Text Box 47"/>
          <p:cNvSpPr txBox="1">
            <a:spLocks noChangeArrowheads="1"/>
          </p:cNvSpPr>
          <p:nvPr/>
        </p:nvSpPr>
        <p:spPr bwMode="auto">
          <a:xfrm>
            <a:off x="4260875" y="3230875"/>
            <a:ext cx="1697956"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a:solidFill>
                  <a:srgbClr val="000066"/>
                </a:solidFill>
                <a:latin typeface="黑体" panose="02010609060101010101" pitchFamily="49" charset="-122"/>
                <a:ea typeface="黑体" panose="02010609060101010101" pitchFamily="49" charset="-122"/>
              </a:rPr>
              <a:t>b</a:t>
            </a:r>
            <a:r>
              <a:rPr lang="zh-CN" altLang="en-US" sz="1800" b="1" dirty="0" smtClean="0">
                <a:solidFill>
                  <a:srgbClr val="000066"/>
                </a:solidFill>
                <a:latin typeface="黑体" panose="02010609060101010101" pitchFamily="49" charset="-122"/>
                <a:ea typeface="黑体" panose="02010609060101010101" pitchFamily="49" charset="-122"/>
              </a:rPr>
              <a:t>）堤岸挡土墙</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62" name="Text Box 47"/>
          <p:cNvSpPr txBox="1">
            <a:spLocks noChangeArrowheads="1"/>
          </p:cNvSpPr>
          <p:nvPr/>
        </p:nvSpPr>
        <p:spPr bwMode="auto">
          <a:xfrm>
            <a:off x="2223242" y="6030792"/>
            <a:ext cx="2427108"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smtClean="0">
                <a:solidFill>
                  <a:srgbClr val="000066"/>
                </a:solidFill>
                <a:latin typeface="黑体" panose="02010609060101010101" pitchFamily="49" charset="-122"/>
                <a:ea typeface="黑体" panose="02010609060101010101" pitchFamily="49" charset="-122"/>
              </a:rPr>
              <a:t>c</a:t>
            </a:r>
            <a:r>
              <a:rPr lang="zh-CN" altLang="en-US" sz="1800" b="1" dirty="0" smtClean="0">
                <a:solidFill>
                  <a:srgbClr val="000066"/>
                </a:solidFill>
                <a:latin typeface="黑体" panose="02010609060101010101" pitchFamily="49" charset="-122"/>
                <a:ea typeface="黑体" panose="02010609060101010101" pitchFamily="49" charset="-122"/>
              </a:rPr>
              <a:t>）地下室</a:t>
            </a:r>
            <a:r>
              <a:rPr lang="zh-CN" altLang="en-US" sz="1800" b="1" dirty="0">
                <a:solidFill>
                  <a:srgbClr val="000066"/>
                </a:solidFill>
                <a:latin typeface="黑体" panose="02010609060101010101" pitchFamily="49" charset="-122"/>
                <a:ea typeface="黑体" panose="02010609060101010101" pitchFamily="49" charset="-122"/>
              </a:rPr>
              <a:t>侧墙</a:t>
            </a:r>
          </a:p>
        </p:txBody>
      </p:sp>
      <p:sp>
        <p:nvSpPr>
          <p:cNvPr id="363" name="Text Box 47"/>
          <p:cNvSpPr txBox="1">
            <a:spLocks noChangeArrowheads="1"/>
          </p:cNvSpPr>
          <p:nvPr/>
        </p:nvSpPr>
        <p:spPr bwMode="auto">
          <a:xfrm>
            <a:off x="5486412" y="6026464"/>
            <a:ext cx="1474985"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solidFill>
                  <a:srgbClr val="000066"/>
                </a:solidFill>
                <a:latin typeface="黑体" panose="02010609060101010101" pitchFamily="49" charset="-122"/>
                <a:ea typeface="黑体" panose="02010609060101010101" pitchFamily="49" charset="-122"/>
              </a:rPr>
              <a:t>d</a:t>
            </a:r>
            <a:r>
              <a:rPr lang="zh-CN" altLang="en-US" sz="1800" b="1" dirty="0">
                <a:solidFill>
                  <a:srgbClr val="000066"/>
                </a:solidFill>
                <a:latin typeface="黑体" panose="02010609060101010101" pitchFamily="49" charset="-122"/>
                <a:ea typeface="黑体" panose="02010609060101010101" pitchFamily="49" charset="-122"/>
              </a:rPr>
              <a:t>）拱桥</a:t>
            </a:r>
            <a:r>
              <a:rPr lang="zh-CN" altLang="en-US" sz="1800" b="1" dirty="0" smtClean="0">
                <a:solidFill>
                  <a:srgbClr val="000066"/>
                </a:solidFill>
                <a:latin typeface="黑体" panose="02010609060101010101" pitchFamily="49" charset="-122"/>
                <a:ea typeface="黑体" panose="02010609060101010101" pitchFamily="49" charset="-122"/>
              </a:rPr>
              <a:t>桥台</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65" name="Text Box 47"/>
          <p:cNvSpPr txBox="1">
            <a:spLocks noChangeArrowheads="1"/>
          </p:cNvSpPr>
          <p:nvPr/>
        </p:nvSpPr>
        <p:spPr bwMode="auto">
          <a:xfrm>
            <a:off x="7132746" y="3235590"/>
            <a:ext cx="1697956"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smtClean="0">
                <a:solidFill>
                  <a:srgbClr val="000066"/>
                </a:solidFill>
                <a:latin typeface="黑体" panose="02010609060101010101" pitchFamily="49" charset="-122"/>
                <a:ea typeface="黑体" panose="02010609060101010101" pitchFamily="49" charset="-122"/>
              </a:rPr>
              <a:t>e</a:t>
            </a:r>
            <a:r>
              <a:rPr lang="zh-CN" altLang="en-US" sz="1800" b="1" dirty="0" smtClean="0">
                <a:solidFill>
                  <a:srgbClr val="000066"/>
                </a:solidFill>
                <a:latin typeface="黑体" panose="02010609060101010101" pitchFamily="49" charset="-122"/>
                <a:ea typeface="黑体" panose="02010609060101010101" pitchFamily="49" charset="-122"/>
              </a:rPr>
              <a:t>）加筋挡土墙</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69" name="Line 214"/>
          <p:cNvSpPr>
            <a:spLocks noChangeShapeType="1"/>
          </p:cNvSpPr>
          <p:nvPr/>
        </p:nvSpPr>
        <p:spPr bwMode="auto">
          <a:xfrm flipH="1">
            <a:off x="5459454" y="2147298"/>
            <a:ext cx="389987" cy="128612"/>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 name="Text Box 215"/>
          <p:cNvSpPr txBox="1">
            <a:spLocks noChangeArrowheads="1"/>
          </p:cNvSpPr>
          <p:nvPr/>
        </p:nvSpPr>
        <p:spPr bwMode="auto">
          <a:xfrm>
            <a:off x="5616167" y="2180822"/>
            <a:ext cx="48571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solidFill>
                  <a:srgbClr val="000066"/>
                </a:solidFill>
              </a:rPr>
              <a:t>E</a:t>
            </a:r>
          </a:p>
        </p:txBody>
      </p:sp>
      <p:sp>
        <p:nvSpPr>
          <p:cNvPr id="371" name="Line 65"/>
          <p:cNvSpPr>
            <a:spLocks noChangeShapeType="1"/>
          </p:cNvSpPr>
          <p:nvPr/>
        </p:nvSpPr>
        <p:spPr bwMode="auto">
          <a:xfrm flipH="1">
            <a:off x="7475605" y="2126481"/>
            <a:ext cx="375762" cy="0"/>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2" name="Text Box 66"/>
          <p:cNvSpPr txBox="1">
            <a:spLocks noChangeArrowheads="1"/>
          </p:cNvSpPr>
          <p:nvPr/>
        </p:nvSpPr>
        <p:spPr bwMode="auto">
          <a:xfrm>
            <a:off x="7732891" y="2042639"/>
            <a:ext cx="298589"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i="1" dirty="0">
                <a:solidFill>
                  <a:srgbClr val="000066"/>
                </a:solidFill>
                <a:ea typeface="楷体_GB2312" pitchFamily="49" charset="-122"/>
              </a:rPr>
              <a:t>E</a:t>
            </a:r>
          </a:p>
        </p:txBody>
      </p:sp>
      <p:sp>
        <p:nvSpPr>
          <p:cNvPr id="186"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挡土结构物</a:t>
            </a:r>
            <a:r>
              <a:rPr lang="zh-CN" altLang="en-US" sz="1800" b="1" kern="900" spc="130" dirty="0" smtClean="0">
                <a:solidFill>
                  <a:srgbClr val="000066"/>
                </a:solidFill>
                <a:ea typeface="黑体" panose="02010609060101010101" pitchFamily="49" charset="-122"/>
                <a:cs typeface="Times New Roman" panose="02020603050405020304" pitchFamily="18" charset="0"/>
              </a:rPr>
              <a:t>及应用</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521006"/>
      </p:ext>
    </p:extLst>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a:t>
            </a:fld>
            <a:endParaRPr lang="zh-CN" altLang="en-US" dirty="0">
              <a:solidFill>
                <a:srgbClr val="C00000"/>
              </a:solidFill>
            </a:endParaRP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203" name="Text Box 5"/>
          <p:cNvSpPr txBox="1">
            <a:spLocks noChangeArrowheads="1"/>
          </p:cNvSpPr>
          <p:nvPr/>
        </p:nvSpPr>
        <p:spPr bwMode="auto">
          <a:xfrm>
            <a:off x="1231271" y="1100162"/>
            <a:ext cx="6382694" cy="401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ts val="40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土压力</a:t>
            </a:r>
            <a:r>
              <a:rPr lang="zh-CN" altLang="en-US" sz="2400" b="1" dirty="0">
                <a:solidFill>
                  <a:srgbClr val="000066"/>
                </a:solidFill>
                <a:ea typeface="幼圆" pitchFamily="49" charset="-122"/>
                <a:cs typeface="Times New Roman" panose="02020603050405020304" pitchFamily="18" charset="0"/>
                <a:sym typeface="Symbol" pitchFamily="18" charset="2"/>
              </a:rPr>
              <a:t>的大小和分布，除了与土的性质有关外，还与墙体的位移方向、位移量、位移形式、土体与结构物间的相互作用以及挡土结构物类型</a:t>
            </a:r>
            <a:r>
              <a:rPr lang="zh-CN" altLang="en-US" sz="2400" b="1" dirty="0" smtClean="0">
                <a:solidFill>
                  <a:srgbClr val="000066"/>
                </a:solidFill>
                <a:ea typeface="幼圆" pitchFamily="49" charset="-122"/>
                <a:cs typeface="Times New Roman" panose="02020603050405020304" pitchFamily="18" charset="0"/>
                <a:sym typeface="Symbol" pitchFamily="18" charset="2"/>
              </a:rPr>
              <a:t>有关</a:t>
            </a:r>
            <a:endParaRPr lang="zh-CN" altLang="en-US" sz="2400" b="1" dirty="0">
              <a:solidFill>
                <a:srgbClr val="000066"/>
              </a:solidFill>
              <a:ea typeface="幼圆" pitchFamily="49" charset="-122"/>
              <a:cs typeface="Times New Roman" panose="02020603050405020304" pitchFamily="18" charset="0"/>
              <a:sym typeface="Symbol" pitchFamily="18" charset="2"/>
            </a:endParaRPr>
          </a:p>
          <a:p>
            <a:pPr eaLnBrk="1" hangingPunct="1">
              <a:lnSpc>
                <a:spcPct val="130000"/>
              </a:lnSpc>
              <a:spcBef>
                <a:spcPts val="400"/>
              </a:spcBef>
              <a:spcAft>
                <a:spcPts val="400"/>
              </a:spcAft>
              <a:buClr>
                <a:srgbClr val="A50021"/>
              </a:buClr>
              <a:buSzPct val="130000"/>
              <a:buFont typeface="Wingdings" pitchFamily="2" charset="2"/>
              <a:buChar char="F"/>
            </a:pPr>
            <a:r>
              <a:rPr lang="zh-CN" altLang="en-US" sz="2400" b="1" dirty="0">
                <a:solidFill>
                  <a:srgbClr val="000066"/>
                </a:solidFill>
                <a:ea typeface="幼圆" pitchFamily="49" charset="-122"/>
                <a:cs typeface="Times New Roman" panose="02020603050405020304" pitchFamily="18" charset="0"/>
                <a:sym typeface="Symbol" pitchFamily="18" charset="2"/>
              </a:rPr>
              <a:t>挡土墙按其刚度及位移方式可分为三</a:t>
            </a:r>
            <a:r>
              <a:rPr lang="zh-CN" altLang="en-US" sz="2400" b="1" dirty="0" smtClean="0">
                <a:solidFill>
                  <a:srgbClr val="000066"/>
                </a:solidFill>
                <a:ea typeface="幼圆" pitchFamily="49" charset="-122"/>
                <a:cs typeface="Times New Roman" panose="02020603050405020304" pitchFamily="18" charset="0"/>
                <a:sym typeface="Symbol" pitchFamily="18" charset="2"/>
              </a:rPr>
              <a:t>类：</a:t>
            </a: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a:p>
            <a:pPr marL="952500" lvl="2" indent="-342900" eaLnBrk="1" hangingPunct="1">
              <a:lnSpc>
                <a:spcPct val="12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C00000"/>
                </a:solidFill>
                <a:ea typeface="幼圆" pitchFamily="49" charset="-122"/>
                <a:cs typeface="Times New Roman" panose="02020603050405020304" pitchFamily="18" charset="0"/>
                <a:sym typeface="Symbol" pitchFamily="18" charset="2"/>
              </a:rPr>
              <a:t>刚性挡土墙</a:t>
            </a:r>
            <a:endParaRPr lang="en-US" altLang="zh-CN" sz="2400" b="1" dirty="0" smtClean="0">
              <a:solidFill>
                <a:srgbClr val="C00000"/>
              </a:solidFill>
              <a:ea typeface="幼圆" pitchFamily="49" charset="-122"/>
              <a:cs typeface="Times New Roman" panose="02020603050405020304" pitchFamily="18" charset="0"/>
              <a:sym typeface="Symbol" pitchFamily="18" charset="2"/>
            </a:endParaRPr>
          </a:p>
          <a:p>
            <a:pPr marL="952500" lvl="2" indent="-342900" eaLnBrk="1" hangingPunct="1">
              <a:lnSpc>
                <a:spcPct val="12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C00000"/>
                </a:solidFill>
                <a:ea typeface="幼圆" pitchFamily="49" charset="-122"/>
                <a:cs typeface="Times New Roman" panose="02020603050405020304" pitchFamily="18" charset="0"/>
                <a:sym typeface="Symbol" pitchFamily="18" charset="2"/>
              </a:rPr>
              <a:t>柔性挡土墙</a:t>
            </a:r>
            <a:endParaRPr lang="en-US" altLang="zh-CN" sz="2400" b="1" dirty="0" smtClean="0">
              <a:solidFill>
                <a:srgbClr val="C00000"/>
              </a:solidFill>
              <a:ea typeface="幼圆" pitchFamily="49" charset="-122"/>
              <a:cs typeface="Times New Roman" panose="02020603050405020304" pitchFamily="18" charset="0"/>
              <a:sym typeface="Symbol" pitchFamily="18" charset="2"/>
            </a:endParaRPr>
          </a:p>
          <a:p>
            <a:pPr marL="952500" lvl="2" indent="-342900" eaLnBrk="1" hangingPunct="1">
              <a:lnSpc>
                <a:spcPct val="120000"/>
              </a:lnSpc>
              <a:spcBef>
                <a:spcPts val="200"/>
              </a:spcBef>
              <a:spcAft>
                <a:spcPts val="200"/>
              </a:spcAft>
              <a:buClr>
                <a:srgbClr val="A50021"/>
              </a:buClr>
              <a:buSzPct val="130000"/>
              <a:buFont typeface="Arial" panose="020B0604020202020204" pitchFamily="34" charset="0"/>
              <a:buChar char="•"/>
            </a:pPr>
            <a:r>
              <a:rPr lang="zh-CN" altLang="en-US" sz="2400" b="1" dirty="0" smtClean="0">
                <a:solidFill>
                  <a:srgbClr val="C00000"/>
                </a:solidFill>
                <a:ea typeface="幼圆" pitchFamily="49" charset="-122"/>
                <a:cs typeface="Times New Roman" panose="02020603050405020304" pitchFamily="18" charset="0"/>
                <a:sym typeface="Symbol" pitchFamily="18" charset="2"/>
              </a:rPr>
              <a:t>加</a:t>
            </a:r>
            <a:r>
              <a:rPr lang="zh-CN" altLang="en-US" sz="2400" b="1" dirty="0">
                <a:solidFill>
                  <a:srgbClr val="C00000"/>
                </a:solidFill>
                <a:ea typeface="幼圆" pitchFamily="49" charset="-122"/>
                <a:cs typeface="Times New Roman" panose="02020603050405020304" pitchFamily="18" charset="0"/>
                <a:sym typeface="Symbol" pitchFamily="18" charset="2"/>
              </a:rPr>
              <a:t>筋</a:t>
            </a:r>
            <a:r>
              <a:rPr lang="zh-CN" altLang="en-US" sz="2400" b="1" dirty="0" smtClean="0">
                <a:solidFill>
                  <a:srgbClr val="C00000"/>
                </a:solidFill>
                <a:ea typeface="幼圆" pitchFamily="49" charset="-122"/>
                <a:cs typeface="Times New Roman" panose="02020603050405020304" pitchFamily="18" charset="0"/>
                <a:sym typeface="Symbol" pitchFamily="18" charset="2"/>
              </a:rPr>
              <a:t>挡土墙</a:t>
            </a:r>
            <a:endParaRPr lang="zh-CN" altLang="en-US" sz="2400" b="1" dirty="0">
              <a:solidFill>
                <a:srgbClr val="000066"/>
              </a:solidFill>
              <a:ea typeface="幼圆" pitchFamily="49" charset="-122"/>
              <a:cs typeface="Times New Roman" panose="02020603050405020304" pitchFamily="18" charset="0"/>
            </a:endParaRPr>
          </a:p>
        </p:txBody>
      </p:sp>
      <p:sp>
        <p:nvSpPr>
          <p:cNvPr id="7"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挡土墙</a:t>
            </a:r>
            <a:r>
              <a:rPr lang="zh-CN" altLang="en-US" sz="1800" b="1" kern="900" spc="130" dirty="0">
                <a:solidFill>
                  <a:srgbClr val="000066"/>
                </a:solidFill>
                <a:ea typeface="黑体" panose="02010609060101010101" pitchFamily="49" charset="-122"/>
                <a:cs typeface="Times New Roman" panose="02020603050405020304" pitchFamily="18" charset="0"/>
              </a:rPr>
              <a:t>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6678283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anim calcmode="lin" valueType="num">
                                      <p:cBhvr>
                                        <p:cTn id="7" dur="1000" fill="hold"/>
                                        <p:tgtEl>
                                          <p:spTgt spid="20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0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0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0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203">
                                            <p:txEl>
                                              <p:pRg st="1" end="1"/>
                                            </p:txEl>
                                          </p:spTgt>
                                        </p:tgtEl>
                                        <p:attrNameLst>
                                          <p:attrName>style.visibility</p:attrName>
                                        </p:attrNameLst>
                                      </p:cBhvr>
                                      <p:to>
                                        <p:strVal val="visible"/>
                                      </p:to>
                                    </p:set>
                                    <p:anim calcmode="lin" valueType="num">
                                      <p:cBhvr>
                                        <p:cTn id="15" dur="1000" fill="hold"/>
                                        <p:tgtEl>
                                          <p:spTgt spid="20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20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20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203">
                                            <p:txEl>
                                              <p:pRg st="1" end="1"/>
                                            </p:txEl>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203">
                                            <p:txEl>
                                              <p:pRg st="2" end="2"/>
                                            </p:txEl>
                                          </p:spTgt>
                                        </p:tgtEl>
                                        <p:attrNameLst>
                                          <p:attrName>style.visibility</p:attrName>
                                        </p:attrNameLst>
                                      </p:cBhvr>
                                      <p:to>
                                        <p:strVal val="visible"/>
                                      </p:to>
                                    </p:set>
                                    <p:anim calcmode="lin" valueType="num">
                                      <p:cBhvr>
                                        <p:cTn id="21" dur="1000" fill="hold"/>
                                        <p:tgtEl>
                                          <p:spTgt spid="203">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203">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203">
                                            <p:txEl>
                                              <p:pRg st="2" end="2"/>
                                            </p:txEl>
                                          </p:spTgt>
                                        </p:tgtEl>
                                        <p:attrNameLst>
                                          <p:attrName>style.rotation</p:attrName>
                                        </p:attrNameLst>
                                      </p:cBhvr>
                                      <p:tavLst>
                                        <p:tav tm="0">
                                          <p:val>
                                            <p:fltVal val="90"/>
                                          </p:val>
                                        </p:tav>
                                        <p:tav tm="100000">
                                          <p:val>
                                            <p:fltVal val="0"/>
                                          </p:val>
                                        </p:tav>
                                      </p:tavLst>
                                    </p:anim>
                                    <p:animEffect transition="in" filter="fade">
                                      <p:cBhvr>
                                        <p:cTn id="24" dur="1000"/>
                                        <p:tgtEl>
                                          <p:spTgt spid="203">
                                            <p:txEl>
                                              <p:pRg st="2" end="2"/>
                                            </p:tx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203">
                                            <p:txEl>
                                              <p:pRg st="3" end="3"/>
                                            </p:txEl>
                                          </p:spTgt>
                                        </p:tgtEl>
                                        <p:attrNameLst>
                                          <p:attrName>style.visibility</p:attrName>
                                        </p:attrNameLst>
                                      </p:cBhvr>
                                      <p:to>
                                        <p:strVal val="visible"/>
                                      </p:to>
                                    </p:set>
                                    <p:anim calcmode="lin" valueType="num">
                                      <p:cBhvr>
                                        <p:cTn id="27" dur="1000" fill="hold"/>
                                        <p:tgtEl>
                                          <p:spTgt spid="203">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203">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203">
                                            <p:txEl>
                                              <p:pRg st="3" end="3"/>
                                            </p:txEl>
                                          </p:spTgt>
                                        </p:tgtEl>
                                        <p:attrNameLst>
                                          <p:attrName>style.rotation</p:attrName>
                                        </p:attrNameLst>
                                      </p:cBhvr>
                                      <p:tavLst>
                                        <p:tav tm="0">
                                          <p:val>
                                            <p:fltVal val="90"/>
                                          </p:val>
                                        </p:tav>
                                        <p:tav tm="100000">
                                          <p:val>
                                            <p:fltVal val="0"/>
                                          </p:val>
                                        </p:tav>
                                      </p:tavLst>
                                    </p:anim>
                                    <p:animEffect transition="in" filter="fade">
                                      <p:cBhvr>
                                        <p:cTn id="30" dur="1000"/>
                                        <p:tgtEl>
                                          <p:spTgt spid="203">
                                            <p:txEl>
                                              <p:pRg st="3" end="3"/>
                                            </p:txEl>
                                          </p:spTgt>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203">
                                            <p:txEl>
                                              <p:pRg st="4" end="4"/>
                                            </p:txEl>
                                          </p:spTgt>
                                        </p:tgtEl>
                                        <p:attrNameLst>
                                          <p:attrName>style.visibility</p:attrName>
                                        </p:attrNameLst>
                                      </p:cBhvr>
                                      <p:to>
                                        <p:strVal val="visible"/>
                                      </p:to>
                                    </p:set>
                                    <p:anim calcmode="lin" valueType="num">
                                      <p:cBhvr>
                                        <p:cTn id="33" dur="1000" fill="hold"/>
                                        <p:tgtEl>
                                          <p:spTgt spid="203">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203">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203">
                                            <p:txEl>
                                              <p:pRg st="4" end="4"/>
                                            </p:txEl>
                                          </p:spTgt>
                                        </p:tgtEl>
                                        <p:attrNameLst>
                                          <p:attrName>style.rotation</p:attrName>
                                        </p:attrNameLst>
                                      </p:cBhvr>
                                      <p:tavLst>
                                        <p:tav tm="0">
                                          <p:val>
                                            <p:fltVal val="90"/>
                                          </p:val>
                                        </p:tav>
                                        <p:tav tm="100000">
                                          <p:val>
                                            <p:fltVal val="0"/>
                                          </p:val>
                                        </p:tav>
                                      </p:tavLst>
                                    </p:anim>
                                    <p:animEffect transition="in" filter="fade">
                                      <p:cBhvr>
                                        <p:cTn id="36" dur="1000"/>
                                        <p:tgtEl>
                                          <p:spTgt spid="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一、刚性</a:t>
            </a:r>
            <a:r>
              <a:rPr lang="zh-CN" altLang="en-US" sz="2800" b="1" dirty="0">
                <a:solidFill>
                  <a:srgbClr val="A50021"/>
                </a:solidFill>
                <a:latin typeface="微软雅黑" panose="020B0503020204020204" pitchFamily="34" charset="-122"/>
                <a:ea typeface="微软雅黑" panose="020B0503020204020204" pitchFamily="34" charset="-122"/>
              </a:rPr>
              <a:t>挡土墙</a:t>
            </a: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203" name="Text Box 5"/>
          <p:cNvSpPr txBox="1">
            <a:spLocks noChangeArrowheads="1"/>
          </p:cNvSpPr>
          <p:nvPr/>
        </p:nvSpPr>
        <p:spPr bwMode="auto">
          <a:xfrm>
            <a:off x="1131683" y="1258475"/>
            <a:ext cx="7586804" cy="170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一般指用砖石或混凝土砌筑或浇筑的断面较大的重力式挡土墙</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a:solidFill>
                  <a:srgbClr val="000066"/>
                </a:solidFill>
                <a:ea typeface="幼圆" pitchFamily="49" charset="-122"/>
                <a:cs typeface="Times New Roman" panose="02020603050405020304" pitchFamily="18" charset="0"/>
                <a:sym typeface="Symbol" pitchFamily="18" charset="2"/>
              </a:rPr>
              <a:t>墙身刚度大，本身变形极</a:t>
            </a:r>
            <a:r>
              <a:rPr lang="zh-CN" altLang="en-US" sz="2000" b="1" dirty="0" smtClean="0">
                <a:solidFill>
                  <a:srgbClr val="000066"/>
                </a:solidFill>
                <a:ea typeface="幼圆" pitchFamily="49" charset="-122"/>
                <a:cs typeface="Times New Roman" panose="02020603050405020304" pitchFamily="18" charset="0"/>
                <a:sym typeface="Symbol" pitchFamily="18" charset="2"/>
              </a:rPr>
              <a:t>小</a:t>
            </a:r>
            <a:r>
              <a:rPr lang="zh-CN" altLang="en-US" sz="2000" b="1" dirty="0">
                <a:solidFill>
                  <a:srgbClr val="000066"/>
                </a:solidFill>
                <a:ea typeface="幼圆" pitchFamily="49" charset="-122"/>
                <a:cs typeface="Times New Roman" panose="02020603050405020304" pitchFamily="18" charset="0"/>
                <a:sym typeface="Symbol" pitchFamily="18" charset="2"/>
              </a:rPr>
              <a:t>可</a:t>
            </a:r>
            <a:r>
              <a:rPr lang="zh-CN" altLang="en-US" sz="2000" b="1" dirty="0" smtClean="0">
                <a:solidFill>
                  <a:srgbClr val="000066"/>
                </a:solidFill>
                <a:ea typeface="幼圆" pitchFamily="49" charset="-122"/>
                <a:cs typeface="Times New Roman" panose="02020603050405020304" pitchFamily="18" charset="0"/>
                <a:sym typeface="Symbol" pitchFamily="18" charset="2"/>
              </a:rPr>
              <a:t>忽略，仅能发生整体平移或转动</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墙背受到的土压力一般呈三角形分布，最大压力强度发生在底部，类似于静水压力分布</a:t>
            </a:r>
            <a:endParaRPr lang="zh-CN" altLang="en-US" sz="2000" b="1" dirty="0">
              <a:solidFill>
                <a:srgbClr val="000066"/>
              </a:solidFill>
              <a:ea typeface="幼圆" pitchFamily="49" charset="-122"/>
              <a:cs typeface="Times New Roman" panose="02020603050405020304" pitchFamily="18" charset="0"/>
            </a:endParaRPr>
          </a:p>
        </p:txBody>
      </p:sp>
      <p:grpSp>
        <p:nvGrpSpPr>
          <p:cNvPr id="12" name="组合 11"/>
          <p:cNvGrpSpPr/>
          <p:nvPr/>
        </p:nvGrpSpPr>
        <p:grpSpPr>
          <a:xfrm>
            <a:off x="7184203" y="3205714"/>
            <a:ext cx="1726257" cy="2338843"/>
            <a:chOff x="7184203" y="3205714"/>
            <a:chExt cx="1726257" cy="2338843"/>
          </a:xfrm>
        </p:grpSpPr>
        <p:sp>
          <p:nvSpPr>
            <p:cNvPr id="365" name="Text Box 47"/>
            <p:cNvSpPr txBox="1">
              <a:spLocks noChangeArrowheads="1"/>
            </p:cNvSpPr>
            <p:nvPr/>
          </p:nvSpPr>
          <p:spPr bwMode="auto">
            <a:xfrm>
              <a:off x="7212504" y="5133675"/>
              <a:ext cx="1697956"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a:solidFill>
                    <a:srgbClr val="000066"/>
                  </a:solidFill>
                  <a:latin typeface="黑体" panose="02010609060101010101" pitchFamily="49" charset="-122"/>
                  <a:ea typeface="黑体" panose="02010609060101010101" pitchFamily="49" charset="-122"/>
                </a:rPr>
                <a:t>c</a:t>
              </a:r>
              <a:r>
                <a:rPr lang="zh-CN" altLang="en-US" sz="1800" b="1" dirty="0" smtClean="0">
                  <a:solidFill>
                    <a:srgbClr val="000066"/>
                  </a:solidFill>
                  <a:latin typeface="黑体" panose="02010609060101010101" pitchFamily="49" charset="-122"/>
                  <a:ea typeface="黑体" panose="02010609060101010101" pitchFamily="49" charset="-122"/>
                </a:rPr>
                <a:t>）土压力分布</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23" name="任意多边形 22"/>
            <p:cNvSpPr/>
            <p:nvPr/>
          </p:nvSpPr>
          <p:spPr bwMode="auto">
            <a:xfrm>
              <a:off x="7184203" y="3205714"/>
              <a:ext cx="891960" cy="151465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lt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cxnSp>
        <p:nvCxnSpPr>
          <p:cNvPr id="40" name="直接箭头连接符 39"/>
          <p:cNvCxnSpPr/>
          <p:nvPr/>
        </p:nvCxnSpPr>
        <p:spPr bwMode="auto">
          <a:xfrm flipH="1">
            <a:off x="1552074" y="3814056"/>
            <a:ext cx="378543" cy="0"/>
          </a:xfrm>
          <a:prstGeom prst="straightConnector1">
            <a:avLst/>
          </a:prstGeom>
          <a:noFill/>
          <a:ln w="3810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弧形 43"/>
          <p:cNvSpPr/>
          <p:nvPr/>
        </p:nvSpPr>
        <p:spPr bwMode="auto">
          <a:xfrm rot="19047221">
            <a:off x="4689575" y="3066276"/>
            <a:ext cx="445486" cy="453589"/>
          </a:xfrm>
          <a:prstGeom prst="arc">
            <a:avLst/>
          </a:prstGeom>
          <a:noFill/>
          <a:ln w="28575"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4" name="组合 13"/>
          <p:cNvGrpSpPr/>
          <p:nvPr/>
        </p:nvGrpSpPr>
        <p:grpSpPr>
          <a:xfrm>
            <a:off x="8070265" y="3205714"/>
            <a:ext cx="839349" cy="1512457"/>
            <a:chOff x="8070265" y="3205714"/>
            <a:chExt cx="839349" cy="1512457"/>
          </a:xfrm>
        </p:grpSpPr>
        <p:cxnSp>
          <p:nvCxnSpPr>
            <p:cNvPr id="13" name="直接箭头连接符 12"/>
            <p:cNvCxnSpPr/>
            <p:nvPr/>
          </p:nvCxnSpPr>
          <p:spPr bwMode="auto">
            <a:xfrm flipH="1">
              <a:off x="8070265" y="4715595"/>
              <a:ext cx="770674"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箭头连接符 30"/>
            <p:cNvCxnSpPr/>
            <p:nvPr/>
          </p:nvCxnSpPr>
          <p:spPr bwMode="auto">
            <a:xfrm flipH="1">
              <a:off x="8070265" y="4533982"/>
              <a:ext cx="680001"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箭头连接符 31"/>
            <p:cNvCxnSpPr/>
            <p:nvPr/>
          </p:nvCxnSpPr>
          <p:spPr bwMode="auto">
            <a:xfrm flipH="1">
              <a:off x="8070265" y="4355403"/>
              <a:ext cx="584697"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p:cNvCxnSpPr/>
            <p:nvPr/>
          </p:nvCxnSpPr>
          <p:spPr bwMode="auto">
            <a:xfrm flipH="1">
              <a:off x="8070265" y="4176824"/>
              <a:ext cx="499697"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箭头连接符 33"/>
            <p:cNvCxnSpPr/>
            <p:nvPr/>
          </p:nvCxnSpPr>
          <p:spPr bwMode="auto">
            <a:xfrm flipH="1">
              <a:off x="8070265" y="3992635"/>
              <a:ext cx="404393"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箭头连接符 34"/>
            <p:cNvCxnSpPr/>
            <p:nvPr/>
          </p:nvCxnSpPr>
          <p:spPr bwMode="auto">
            <a:xfrm flipH="1">
              <a:off x="8070265" y="3814056"/>
              <a:ext cx="314241"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p:cNvCxnSpPr/>
            <p:nvPr/>
          </p:nvCxnSpPr>
          <p:spPr bwMode="auto">
            <a:xfrm flipH="1">
              <a:off x="8070265" y="3629867"/>
              <a:ext cx="226665"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箭头连接符 36"/>
            <p:cNvCxnSpPr/>
            <p:nvPr/>
          </p:nvCxnSpPr>
          <p:spPr bwMode="auto">
            <a:xfrm flipH="1">
              <a:off x="8070265" y="3451288"/>
              <a:ext cx="133937" cy="0"/>
            </a:xfrm>
            <a:prstGeom prst="straightConnector1">
              <a:avLst/>
            </a:prstGeom>
            <a:noFill/>
            <a:ln w="19050"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p:cNvCxnSpPr>
              <a:stCxn id="23" idx="2"/>
            </p:cNvCxnSpPr>
            <p:nvPr/>
          </p:nvCxnSpPr>
          <p:spPr bwMode="auto">
            <a:xfrm>
              <a:off x="8076163" y="3205714"/>
              <a:ext cx="763198" cy="151245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 Box 827"/>
            <p:cNvSpPr txBox="1">
              <a:spLocks noChangeArrowheads="1"/>
            </p:cNvSpPr>
            <p:nvPr/>
          </p:nvSpPr>
          <p:spPr bwMode="auto">
            <a:xfrm>
              <a:off x="8569962" y="3690511"/>
              <a:ext cx="339652"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smtClean="0">
                  <a:solidFill>
                    <a:srgbClr val="C00000"/>
                  </a:solidFill>
                  <a:latin typeface="Times New Roman" panose="02020603050405020304" pitchFamily="18" charset="0"/>
                  <a:cs typeface="Times New Roman" panose="02020603050405020304" pitchFamily="18" charset="0"/>
                </a:rPr>
                <a:t>p</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grpSp>
      <p:sp>
        <p:nvSpPr>
          <p:cNvPr id="38"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7" name="组合 6"/>
          <p:cNvGrpSpPr/>
          <p:nvPr/>
        </p:nvGrpSpPr>
        <p:grpSpPr>
          <a:xfrm>
            <a:off x="1371663" y="3140982"/>
            <a:ext cx="2234014" cy="2403930"/>
            <a:chOff x="1371663" y="3140982"/>
            <a:chExt cx="2234014" cy="2403930"/>
          </a:xfrm>
        </p:grpSpPr>
        <p:sp>
          <p:nvSpPr>
            <p:cNvPr id="5" name="任意多边形 4"/>
            <p:cNvSpPr/>
            <p:nvPr/>
          </p:nvSpPr>
          <p:spPr bwMode="auto">
            <a:xfrm>
              <a:off x="1371663" y="3140982"/>
              <a:ext cx="2227097" cy="182880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097" h="1828800">
                  <a:moveTo>
                    <a:pt x="16829" y="1525870"/>
                  </a:moveTo>
                  <a:lnTo>
                    <a:pt x="1368795" y="1525870"/>
                  </a:lnTo>
                  <a:lnTo>
                    <a:pt x="1368795" y="0"/>
                  </a:lnTo>
                  <a:lnTo>
                    <a:pt x="2227097" y="0"/>
                  </a:lnTo>
                  <a:lnTo>
                    <a:pt x="2227097" y="1828800"/>
                  </a:lnTo>
                  <a:lnTo>
                    <a:pt x="0" y="1828800"/>
                  </a:lnTo>
                  <a:lnTo>
                    <a:pt x="16829" y="152587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Text Box 47"/>
            <p:cNvSpPr txBox="1">
              <a:spLocks noChangeArrowheads="1"/>
            </p:cNvSpPr>
            <p:nvPr/>
          </p:nvSpPr>
          <p:spPr bwMode="auto">
            <a:xfrm>
              <a:off x="1794251" y="5134030"/>
              <a:ext cx="155674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smtClean="0">
                  <a:solidFill>
                    <a:srgbClr val="000066"/>
                  </a:solidFill>
                  <a:latin typeface="黑体" panose="02010609060101010101" pitchFamily="49" charset="-122"/>
                  <a:ea typeface="黑体" panose="02010609060101010101" pitchFamily="49" charset="-122"/>
                </a:rPr>
                <a:t>a</a:t>
              </a:r>
              <a:r>
                <a:rPr lang="zh-CN" altLang="en-US" sz="1800" b="1" dirty="0" smtClean="0">
                  <a:solidFill>
                    <a:srgbClr val="000066"/>
                  </a:solidFill>
                  <a:latin typeface="黑体" panose="02010609060101010101" pitchFamily="49" charset="-122"/>
                  <a:ea typeface="黑体" panose="02010609060101010101" pitchFamily="49" charset="-122"/>
                </a:rPr>
                <a:t>）向前平移</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2" name="任意多边形 1"/>
            <p:cNvSpPr/>
            <p:nvPr/>
          </p:nvSpPr>
          <p:spPr bwMode="auto">
            <a:xfrm>
              <a:off x="1859717" y="3146432"/>
              <a:ext cx="891960" cy="151465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lt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a:stCxn id="2" idx="2"/>
            </p:cNvCxnSpPr>
            <p:nvPr/>
          </p:nvCxnSpPr>
          <p:spPr bwMode="auto">
            <a:xfrm>
              <a:off x="2751677" y="3146432"/>
              <a:ext cx="847083" cy="560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任意多边形 17"/>
            <p:cNvSpPr/>
            <p:nvPr/>
          </p:nvSpPr>
          <p:spPr bwMode="auto">
            <a:xfrm>
              <a:off x="1779763" y="3153279"/>
              <a:ext cx="891960" cy="151465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noFill/>
            <a:ln w="28575" cap="flat" cmpd="sng" algn="ctr">
              <a:solidFill>
                <a:srgbClr val="C00000"/>
              </a:solidFill>
              <a:prstDash val="dash"/>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 name="直接连接符 5"/>
            <p:cNvCxnSpPr/>
            <p:nvPr/>
          </p:nvCxnSpPr>
          <p:spPr bwMode="auto">
            <a:xfrm>
              <a:off x="2748968" y="3147053"/>
              <a:ext cx="856709"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p:nvPr/>
          </p:nvCxnSpPr>
          <p:spPr bwMode="auto">
            <a:xfrm>
              <a:off x="1387465" y="4670075"/>
              <a:ext cx="539409"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 name="组合 15"/>
          <p:cNvGrpSpPr/>
          <p:nvPr/>
        </p:nvGrpSpPr>
        <p:grpSpPr>
          <a:xfrm>
            <a:off x="4217919" y="3148251"/>
            <a:ext cx="2296093" cy="2391593"/>
            <a:chOff x="4217919" y="3148251"/>
            <a:chExt cx="2296093" cy="2391593"/>
          </a:xfrm>
        </p:grpSpPr>
        <p:sp>
          <p:nvSpPr>
            <p:cNvPr id="21" name="任意多边形 20"/>
            <p:cNvSpPr/>
            <p:nvPr/>
          </p:nvSpPr>
          <p:spPr bwMode="auto">
            <a:xfrm>
              <a:off x="4705973" y="3153701"/>
              <a:ext cx="891960" cy="151465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lt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1" name="组合 10"/>
            <p:cNvGrpSpPr/>
            <p:nvPr/>
          </p:nvGrpSpPr>
          <p:grpSpPr>
            <a:xfrm>
              <a:off x="4217919" y="3148251"/>
              <a:ext cx="2296093" cy="2391593"/>
              <a:chOff x="4217919" y="3148251"/>
              <a:chExt cx="2296093" cy="2391593"/>
            </a:xfrm>
          </p:grpSpPr>
          <p:sp>
            <p:nvSpPr>
              <p:cNvPr id="22" name="任意多边形 21"/>
              <p:cNvSpPr/>
              <p:nvPr/>
            </p:nvSpPr>
            <p:spPr bwMode="auto">
              <a:xfrm>
                <a:off x="4217919" y="3148251"/>
                <a:ext cx="2227097" cy="182880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097" h="1828800">
                    <a:moveTo>
                      <a:pt x="16829" y="1525870"/>
                    </a:moveTo>
                    <a:lnTo>
                      <a:pt x="1368795" y="1525870"/>
                    </a:lnTo>
                    <a:lnTo>
                      <a:pt x="1368795" y="0"/>
                    </a:lnTo>
                    <a:lnTo>
                      <a:pt x="2227097" y="0"/>
                    </a:lnTo>
                    <a:lnTo>
                      <a:pt x="2227097" y="1828800"/>
                    </a:lnTo>
                    <a:lnTo>
                      <a:pt x="0" y="1828800"/>
                    </a:lnTo>
                    <a:lnTo>
                      <a:pt x="16829" y="152587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1" name="Text Box 47"/>
              <p:cNvSpPr txBox="1">
                <a:spLocks noChangeArrowheads="1"/>
              </p:cNvSpPr>
              <p:nvPr/>
            </p:nvSpPr>
            <p:spPr bwMode="auto">
              <a:xfrm>
                <a:off x="4532221" y="5128962"/>
                <a:ext cx="198179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800" b="1" dirty="0">
                    <a:solidFill>
                      <a:srgbClr val="000066"/>
                    </a:solidFill>
                    <a:latin typeface="黑体" panose="02010609060101010101" pitchFamily="49" charset="-122"/>
                    <a:ea typeface="黑体" panose="02010609060101010101" pitchFamily="49" charset="-122"/>
                  </a:rPr>
                  <a:t>b</a:t>
                </a:r>
                <a:r>
                  <a:rPr lang="zh-CN" altLang="en-US" sz="1800" b="1" dirty="0" smtClean="0">
                    <a:solidFill>
                      <a:srgbClr val="000066"/>
                    </a:solidFill>
                    <a:latin typeface="黑体" panose="02010609060101010101" pitchFamily="49" charset="-122"/>
                    <a:ea typeface="黑体" panose="02010609060101010101" pitchFamily="49" charset="-122"/>
                  </a:rPr>
                  <a:t>）围绕墙踵转动</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20" name="任意多边形 19"/>
              <p:cNvSpPr/>
              <p:nvPr/>
            </p:nvSpPr>
            <p:spPr bwMode="auto">
              <a:xfrm rot="21211394">
                <a:off x="4626019" y="3205428"/>
                <a:ext cx="891960" cy="151465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noFill/>
              <a:ln w="28575" cap="flat" cmpd="sng" algn="ctr">
                <a:solidFill>
                  <a:srgbClr val="C00000"/>
                </a:solidFill>
                <a:prstDash val="dash"/>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1" name="直接连接符 40"/>
              <p:cNvCxnSpPr/>
              <p:nvPr/>
            </p:nvCxnSpPr>
            <p:spPr bwMode="auto">
              <a:xfrm>
                <a:off x="5592646" y="3152341"/>
                <a:ext cx="856709"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4236913" y="4666708"/>
                <a:ext cx="539409"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Tree>
    <p:extLst>
      <p:ext uri="{BB962C8B-B14F-4D97-AF65-F5344CB8AC3E}">
        <p14:creationId xmlns:p14="http://schemas.microsoft.com/office/powerpoint/2010/main" val="333321293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barn(inVertical)">
                                      <p:cBhvr>
                                        <p:cTn id="7" dur="500"/>
                                        <p:tgtEl>
                                          <p:spTgt spid="20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2" repeatCount="300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wipe(right)">
                                      <p:cBhvr>
                                        <p:cTn id="20" dur="500"/>
                                        <p:tgtEl>
                                          <p:spTgt spid="40"/>
                                        </p:tgtEl>
                                      </p:cBhvr>
                                    </p:animEffect>
                                  </p:childTnLst>
                                </p:cTn>
                              </p:par>
                              <p:par>
                                <p:cTn id="21" presetID="22" presetClass="entr" presetSubtype="2" repeatCount="300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right)">
                                      <p:cBhvr>
                                        <p:cTn id="23" dur="500"/>
                                        <p:tgtEl>
                                          <p:spTgt spid="44"/>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10</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一、刚性</a:t>
            </a:r>
            <a:r>
              <a:rPr lang="zh-CN" altLang="en-US" sz="2800" b="1" dirty="0">
                <a:solidFill>
                  <a:srgbClr val="A50021"/>
                </a:solidFill>
                <a:latin typeface="微软雅黑" panose="020B0503020204020204" pitchFamily="34" charset="-122"/>
                <a:ea typeface="微软雅黑" panose="020B0503020204020204" pitchFamily="34" charset="-122"/>
              </a:rPr>
              <a:t>挡土墙</a:t>
            </a: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grpSp>
        <p:nvGrpSpPr>
          <p:cNvPr id="4" name="组合 3"/>
          <p:cNvGrpSpPr/>
          <p:nvPr/>
        </p:nvGrpSpPr>
        <p:grpSpPr>
          <a:xfrm>
            <a:off x="3915400" y="1107736"/>
            <a:ext cx="1547833" cy="1852726"/>
            <a:chOff x="3915400" y="1107736"/>
            <a:chExt cx="1547833" cy="1852726"/>
          </a:xfrm>
        </p:grpSpPr>
        <p:sp>
          <p:nvSpPr>
            <p:cNvPr id="73" name="Freeform 67" descr="宽上对角线"/>
            <p:cNvSpPr>
              <a:spLocks/>
            </p:cNvSpPr>
            <p:nvPr/>
          </p:nvSpPr>
          <p:spPr bwMode="auto">
            <a:xfrm>
              <a:off x="3915400" y="1107736"/>
              <a:ext cx="1279444" cy="1852726"/>
            </a:xfrm>
            <a:custGeom>
              <a:avLst/>
              <a:gdLst>
                <a:gd name="T0" fmla="*/ 3 w 1011"/>
                <a:gd name="T1" fmla="*/ 1464 h 1464"/>
                <a:gd name="T2" fmla="*/ 1011 w 1011"/>
                <a:gd name="T3" fmla="*/ 1464 h 1464"/>
                <a:gd name="T4" fmla="*/ 1011 w 1011"/>
                <a:gd name="T5" fmla="*/ 1347 h 1464"/>
                <a:gd name="T6" fmla="*/ 939 w 1011"/>
                <a:gd name="T7" fmla="*/ 1344 h 1464"/>
                <a:gd name="T8" fmla="*/ 897 w 1011"/>
                <a:gd name="T9" fmla="*/ 1239 h 1464"/>
                <a:gd name="T10" fmla="*/ 495 w 1011"/>
                <a:gd name="T11" fmla="*/ 1239 h 1464"/>
                <a:gd name="T12" fmla="*/ 402 w 1011"/>
                <a:gd name="T13" fmla="*/ 1113 h 1464"/>
                <a:gd name="T14" fmla="*/ 372 w 1011"/>
                <a:gd name="T15" fmla="*/ 0 h 1464"/>
                <a:gd name="T16" fmla="*/ 237 w 1011"/>
                <a:gd name="T17" fmla="*/ 0 h 1464"/>
                <a:gd name="T18" fmla="*/ 141 w 1011"/>
                <a:gd name="T19" fmla="*/ 1170 h 1464"/>
                <a:gd name="T20" fmla="*/ 0 w 1011"/>
                <a:gd name="T21" fmla="*/ 1314 h 1464"/>
                <a:gd name="T22" fmla="*/ 3 w 1011"/>
                <a:gd name="T23" fmla="*/ 1464 h 14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1"/>
                <a:gd name="T37" fmla="*/ 0 h 1464"/>
                <a:gd name="T38" fmla="*/ 1011 w 1011"/>
                <a:gd name="T39" fmla="*/ 1464 h 14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1" h="1464">
                  <a:moveTo>
                    <a:pt x="3" y="1464"/>
                  </a:moveTo>
                  <a:lnTo>
                    <a:pt x="1011" y="1464"/>
                  </a:lnTo>
                  <a:lnTo>
                    <a:pt x="1011" y="1347"/>
                  </a:lnTo>
                  <a:lnTo>
                    <a:pt x="939" y="1344"/>
                  </a:lnTo>
                  <a:lnTo>
                    <a:pt x="897" y="1239"/>
                  </a:lnTo>
                  <a:lnTo>
                    <a:pt x="495" y="1239"/>
                  </a:lnTo>
                  <a:lnTo>
                    <a:pt x="402" y="1113"/>
                  </a:lnTo>
                  <a:lnTo>
                    <a:pt x="372" y="0"/>
                  </a:lnTo>
                  <a:lnTo>
                    <a:pt x="237" y="0"/>
                  </a:lnTo>
                  <a:lnTo>
                    <a:pt x="141" y="1170"/>
                  </a:lnTo>
                  <a:lnTo>
                    <a:pt x="0" y="1314"/>
                  </a:lnTo>
                  <a:lnTo>
                    <a:pt x="3" y="1464"/>
                  </a:lnTo>
                  <a:close/>
                </a:path>
              </a:pathLst>
            </a:custGeom>
            <a:pattFill prst="ltDnDiag">
              <a:fgClr>
                <a:srgbClr val="9966FF"/>
              </a:fgClr>
              <a:bgClr>
                <a:schemeClr val="bg1"/>
              </a:bgClr>
            </a:pattFill>
            <a:ln w="28575">
              <a:solidFill>
                <a:schemeClr val="tx1"/>
              </a:solidFill>
              <a:round/>
              <a:headEnd/>
              <a:tailEnd/>
            </a:ln>
          </p:spPr>
          <p:txBody>
            <a:bodyPr/>
            <a:lstStyle/>
            <a:p>
              <a:endParaRPr lang="zh-CN" altLang="en-US"/>
            </a:p>
          </p:txBody>
        </p:sp>
        <p:sp>
          <p:nvSpPr>
            <p:cNvPr id="107" name="Text Box 47"/>
            <p:cNvSpPr txBox="1">
              <a:spLocks noChangeArrowheads="1"/>
            </p:cNvSpPr>
            <p:nvPr/>
          </p:nvSpPr>
          <p:spPr bwMode="auto">
            <a:xfrm>
              <a:off x="4554393" y="1958347"/>
              <a:ext cx="908840"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solidFill>
                    <a:srgbClr val="000066"/>
                  </a:solidFill>
                  <a:latin typeface="黑体" panose="02010609060101010101" pitchFamily="49" charset="-122"/>
                  <a:ea typeface="黑体" panose="02010609060101010101" pitchFamily="49" charset="-122"/>
                </a:rPr>
                <a:t>悬臂式</a:t>
              </a:r>
            </a:p>
          </p:txBody>
        </p:sp>
      </p:grpSp>
      <p:grpSp>
        <p:nvGrpSpPr>
          <p:cNvPr id="8" name="组合 7"/>
          <p:cNvGrpSpPr/>
          <p:nvPr/>
        </p:nvGrpSpPr>
        <p:grpSpPr>
          <a:xfrm>
            <a:off x="6222788" y="1206691"/>
            <a:ext cx="2769550" cy="4118526"/>
            <a:chOff x="6222788" y="1206691"/>
            <a:chExt cx="2769550" cy="4118526"/>
          </a:xfrm>
        </p:grpSpPr>
        <p:grpSp>
          <p:nvGrpSpPr>
            <p:cNvPr id="38" name="Group 73"/>
            <p:cNvGrpSpPr>
              <a:grpSpLocks/>
            </p:cNvGrpSpPr>
            <p:nvPr/>
          </p:nvGrpSpPr>
          <p:grpSpPr bwMode="auto">
            <a:xfrm>
              <a:off x="6437182" y="3502244"/>
              <a:ext cx="1683296" cy="1822973"/>
              <a:chOff x="1440" y="2745"/>
              <a:chExt cx="1410" cy="1527"/>
            </a:xfrm>
          </p:grpSpPr>
          <p:sp>
            <p:nvSpPr>
              <p:cNvPr id="39" name="Freeform 74" descr="25%"/>
              <p:cNvSpPr>
                <a:spLocks/>
              </p:cNvSpPr>
              <p:nvPr/>
            </p:nvSpPr>
            <p:spPr bwMode="auto">
              <a:xfrm>
                <a:off x="1614" y="2745"/>
                <a:ext cx="972" cy="492"/>
              </a:xfrm>
              <a:custGeom>
                <a:avLst/>
                <a:gdLst>
                  <a:gd name="T0" fmla="*/ 909 w 972"/>
                  <a:gd name="T1" fmla="*/ 0 h 492"/>
                  <a:gd name="T2" fmla="*/ 0 w 972"/>
                  <a:gd name="T3" fmla="*/ 474 h 492"/>
                  <a:gd name="T4" fmla="*/ 69 w 972"/>
                  <a:gd name="T5" fmla="*/ 492 h 492"/>
                  <a:gd name="T6" fmla="*/ 972 w 972"/>
                  <a:gd name="T7" fmla="*/ 30 h 492"/>
                  <a:gd name="T8" fmla="*/ 909 w 972"/>
                  <a:gd name="T9" fmla="*/ 0 h 492"/>
                  <a:gd name="T10" fmla="*/ 0 60000 65536"/>
                  <a:gd name="T11" fmla="*/ 0 60000 65536"/>
                  <a:gd name="T12" fmla="*/ 0 60000 65536"/>
                  <a:gd name="T13" fmla="*/ 0 60000 65536"/>
                  <a:gd name="T14" fmla="*/ 0 60000 65536"/>
                  <a:gd name="T15" fmla="*/ 0 w 972"/>
                  <a:gd name="T16" fmla="*/ 0 h 492"/>
                  <a:gd name="T17" fmla="*/ 972 w 972"/>
                  <a:gd name="T18" fmla="*/ 492 h 492"/>
                </a:gdLst>
                <a:ahLst/>
                <a:cxnLst>
                  <a:cxn ang="T10">
                    <a:pos x="T0" y="T1"/>
                  </a:cxn>
                  <a:cxn ang="T11">
                    <a:pos x="T2" y="T3"/>
                  </a:cxn>
                  <a:cxn ang="T12">
                    <a:pos x="T4" y="T5"/>
                  </a:cxn>
                  <a:cxn ang="T13">
                    <a:pos x="T6" y="T7"/>
                  </a:cxn>
                  <a:cxn ang="T14">
                    <a:pos x="T8" y="T9"/>
                  </a:cxn>
                </a:cxnLst>
                <a:rect l="T15" t="T16" r="T17" b="T18"/>
                <a:pathLst>
                  <a:path w="972" h="492">
                    <a:moveTo>
                      <a:pt x="909" y="0"/>
                    </a:moveTo>
                    <a:lnTo>
                      <a:pt x="0" y="474"/>
                    </a:lnTo>
                    <a:lnTo>
                      <a:pt x="69" y="492"/>
                    </a:lnTo>
                    <a:lnTo>
                      <a:pt x="972" y="30"/>
                    </a:lnTo>
                    <a:lnTo>
                      <a:pt x="909" y="0"/>
                    </a:lnTo>
                    <a:close/>
                  </a:path>
                </a:pathLst>
              </a:custGeom>
              <a:solidFill>
                <a:srgbClr val="CCCCFF"/>
              </a:solidFill>
              <a:ln w="25400">
                <a:solidFill>
                  <a:schemeClr val="tx1"/>
                </a:solidFill>
                <a:round/>
                <a:headEnd/>
                <a:tailEnd/>
              </a:ln>
            </p:spPr>
            <p:txBody>
              <a:bodyPr/>
              <a:lstStyle/>
              <a:p>
                <a:endParaRPr lang="zh-CN" altLang="en-US"/>
              </a:p>
            </p:txBody>
          </p:sp>
          <p:sp>
            <p:nvSpPr>
              <p:cNvPr id="41" name="Freeform 75" descr="25%"/>
              <p:cNvSpPr>
                <a:spLocks/>
              </p:cNvSpPr>
              <p:nvPr/>
            </p:nvSpPr>
            <p:spPr bwMode="auto">
              <a:xfrm>
                <a:off x="1680" y="2775"/>
                <a:ext cx="963" cy="1263"/>
              </a:xfrm>
              <a:custGeom>
                <a:avLst/>
                <a:gdLst>
                  <a:gd name="T0" fmla="*/ 0 w 963"/>
                  <a:gd name="T1" fmla="*/ 441 h 1263"/>
                  <a:gd name="T2" fmla="*/ 3 w 963"/>
                  <a:gd name="T3" fmla="*/ 1263 h 1263"/>
                  <a:gd name="T4" fmla="*/ 963 w 963"/>
                  <a:gd name="T5" fmla="*/ 708 h 1263"/>
                  <a:gd name="T6" fmla="*/ 909 w 963"/>
                  <a:gd name="T7" fmla="*/ 0 h 1263"/>
                  <a:gd name="T8" fmla="*/ 0 w 963"/>
                  <a:gd name="T9" fmla="*/ 468 h 1263"/>
                  <a:gd name="T10" fmla="*/ 0 60000 65536"/>
                  <a:gd name="T11" fmla="*/ 0 60000 65536"/>
                  <a:gd name="T12" fmla="*/ 0 60000 65536"/>
                  <a:gd name="T13" fmla="*/ 0 60000 65536"/>
                  <a:gd name="T14" fmla="*/ 0 60000 65536"/>
                  <a:gd name="T15" fmla="*/ 0 w 963"/>
                  <a:gd name="T16" fmla="*/ 0 h 1263"/>
                  <a:gd name="T17" fmla="*/ 963 w 963"/>
                  <a:gd name="T18" fmla="*/ 1263 h 1263"/>
                </a:gdLst>
                <a:ahLst/>
                <a:cxnLst>
                  <a:cxn ang="T10">
                    <a:pos x="T0" y="T1"/>
                  </a:cxn>
                  <a:cxn ang="T11">
                    <a:pos x="T2" y="T3"/>
                  </a:cxn>
                  <a:cxn ang="T12">
                    <a:pos x="T4" y="T5"/>
                  </a:cxn>
                  <a:cxn ang="T13">
                    <a:pos x="T6" y="T7"/>
                  </a:cxn>
                  <a:cxn ang="T14">
                    <a:pos x="T8" y="T9"/>
                  </a:cxn>
                </a:cxnLst>
                <a:rect l="T15" t="T16" r="T17" b="T18"/>
                <a:pathLst>
                  <a:path w="963" h="1263">
                    <a:moveTo>
                      <a:pt x="0" y="441"/>
                    </a:moveTo>
                    <a:lnTo>
                      <a:pt x="3" y="1263"/>
                    </a:lnTo>
                    <a:lnTo>
                      <a:pt x="963" y="708"/>
                    </a:lnTo>
                    <a:lnTo>
                      <a:pt x="909" y="0"/>
                    </a:lnTo>
                    <a:lnTo>
                      <a:pt x="0" y="468"/>
                    </a:lnTo>
                  </a:path>
                </a:pathLst>
              </a:custGeom>
              <a:solidFill>
                <a:srgbClr val="CCCCFF"/>
              </a:solidFill>
              <a:ln w="25400">
                <a:solidFill>
                  <a:schemeClr val="tx1"/>
                </a:solidFill>
                <a:round/>
                <a:headEnd/>
                <a:tailEnd/>
              </a:ln>
            </p:spPr>
            <p:txBody>
              <a:bodyPr/>
              <a:lstStyle/>
              <a:p>
                <a:endParaRPr lang="zh-CN" altLang="en-US"/>
              </a:p>
            </p:txBody>
          </p:sp>
          <p:sp>
            <p:nvSpPr>
              <p:cNvPr id="43" name="Freeform 76" descr="25%"/>
              <p:cNvSpPr>
                <a:spLocks/>
              </p:cNvSpPr>
              <p:nvPr/>
            </p:nvSpPr>
            <p:spPr bwMode="auto">
              <a:xfrm>
                <a:off x="1611" y="3223"/>
                <a:ext cx="72" cy="813"/>
              </a:xfrm>
              <a:custGeom>
                <a:avLst/>
                <a:gdLst>
                  <a:gd name="T0" fmla="*/ 6 w 72"/>
                  <a:gd name="T1" fmla="*/ 0 h 813"/>
                  <a:gd name="T2" fmla="*/ 69 w 72"/>
                  <a:gd name="T3" fmla="*/ 21 h 813"/>
                  <a:gd name="T4" fmla="*/ 72 w 72"/>
                  <a:gd name="T5" fmla="*/ 813 h 813"/>
                  <a:gd name="T6" fmla="*/ 0 w 72"/>
                  <a:gd name="T7" fmla="*/ 789 h 813"/>
                  <a:gd name="T8" fmla="*/ 6 w 72"/>
                  <a:gd name="T9" fmla="*/ 0 h 813"/>
                  <a:gd name="T10" fmla="*/ 0 60000 65536"/>
                  <a:gd name="T11" fmla="*/ 0 60000 65536"/>
                  <a:gd name="T12" fmla="*/ 0 60000 65536"/>
                  <a:gd name="T13" fmla="*/ 0 60000 65536"/>
                  <a:gd name="T14" fmla="*/ 0 60000 65536"/>
                  <a:gd name="T15" fmla="*/ 0 w 72"/>
                  <a:gd name="T16" fmla="*/ 0 h 813"/>
                  <a:gd name="T17" fmla="*/ 72 w 72"/>
                  <a:gd name="T18" fmla="*/ 813 h 813"/>
                </a:gdLst>
                <a:ahLst/>
                <a:cxnLst>
                  <a:cxn ang="T10">
                    <a:pos x="T0" y="T1"/>
                  </a:cxn>
                  <a:cxn ang="T11">
                    <a:pos x="T2" y="T3"/>
                  </a:cxn>
                  <a:cxn ang="T12">
                    <a:pos x="T4" y="T5"/>
                  </a:cxn>
                  <a:cxn ang="T13">
                    <a:pos x="T6" y="T7"/>
                  </a:cxn>
                  <a:cxn ang="T14">
                    <a:pos x="T8" y="T9"/>
                  </a:cxn>
                </a:cxnLst>
                <a:rect l="T15" t="T16" r="T17" b="T18"/>
                <a:pathLst>
                  <a:path w="72" h="813">
                    <a:moveTo>
                      <a:pt x="6" y="0"/>
                    </a:moveTo>
                    <a:lnTo>
                      <a:pt x="69" y="21"/>
                    </a:lnTo>
                    <a:lnTo>
                      <a:pt x="72" y="813"/>
                    </a:lnTo>
                    <a:lnTo>
                      <a:pt x="0" y="789"/>
                    </a:lnTo>
                    <a:lnTo>
                      <a:pt x="6" y="0"/>
                    </a:lnTo>
                    <a:close/>
                  </a:path>
                </a:pathLst>
              </a:custGeom>
              <a:pattFill prst="ltDnDiag">
                <a:fgClr>
                  <a:srgbClr val="CCCCFF"/>
                </a:fgClr>
                <a:bgClr>
                  <a:schemeClr val="bg1"/>
                </a:bgClr>
              </a:pattFill>
              <a:ln w="25400">
                <a:solidFill>
                  <a:schemeClr val="tx1"/>
                </a:solidFill>
                <a:round/>
                <a:headEnd/>
                <a:tailEnd/>
              </a:ln>
            </p:spPr>
            <p:txBody>
              <a:bodyPr/>
              <a:lstStyle/>
              <a:p>
                <a:endParaRPr lang="zh-CN" altLang="en-US"/>
              </a:p>
            </p:txBody>
          </p:sp>
          <p:sp>
            <p:nvSpPr>
              <p:cNvPr id="45" name="Freeform 77" descr="25%"/>
              <p:cNvSpPr>
                <a:spLocks/>
              </p:cNvSpPr>
              <p:nvPr/>
            </p:nvSpPr>
            <p:spPr bwMode="auto">
              <a:xfrm>
                <a:off x="1689" y="3477"/>
                <a:ext cx="1161" cy="636"/>
              </a:xfrm>
              <a:custGeom>
                <a:avLst/>
                <a:gdLst>
                  <a:gd name="T0" fmla="*/ 0 w 1161"/>
                  <a:gd name="T1" fmla="*/ 558 h 636"/>
                  <a:gd name="T2" fmla="*/ 954 w 1161"/>
                  <a:gd name="T3" fmla="*/ 0 h 636"/>
                  <a:gd name="T4" fmla="*/ 1161 w 1161"/>
                  <a:gd name="T5" fmla="*/ 69 h 636"/>
                  <a:gd name="T6" fmla="*/ 267 w 1161"/>
                  <a:gd name="T7" fmla="*/ 636 h 636"/>
                  <a:gd name="T8" fmla="*/ 0 w 1161"/>
                  <a:gd name="T9" fmla="*/ 558 h 636"/>
                  <a:gd name="T10" fmla="*/ 0 60000 65536"/>
                  <a:gd name="T11" fmla="*/ 0 60000 65536"/>
                  <a:gd name="T12" fmla="*/ 0 60000 65536"/>
                  <a:gd name="T13" fmla="*/ 0 60000 65536"/>
                  <a:gd name="T14" fmla="*/ 0 60000 65536"/>
                  <a:gd name="T15" fmla="*/ 0 w 1161"/>
                  <a:gd name="T16" fmla="*/ 0 h 636"/>
                  <a:gd name="T17" fmla="*/ 1161 w 1161"/>
                  <a:gd name="T18" fmla="*/ 636 h 636"/>
                </a:gdLst>
                <a:ahLst/>
                <a:cxnLst>
                  <a:cxn ang="T10">
                    <a:pos x="T0" y="T1"/>
                  </a:cxn>
                  <a:cxn ang="T11">
                    <a:pos x="T2" y="T3"/>
                  </a:cxn>
                  <a:cxn ang="T12">
                    <a:pos x="T4" y="T5"/>
                  </a:cxn>
                  <a:cxn ang="T13">
                    <a:pos x="T6" y="T7"/>
                  </a:cxn>
                  <a:cxn ang="T14">
                    <a:pos x="T8" y="T9"/>
                  </a:cxn>
                </a:cxnLst>
                <a:rect l="T15" t="T16" r="T17" b="T18"/>
                <a:pathLst>
                  <a:path w="1161" h="636">
                    <a:moveTo>
                      <a:pt x="0" y="558"/>
                    </a:moveTo>
                    <a:lnTo>
                      <a:pt x="954" y="0"/>
                    </a:lnTo>
                    <a:lnTo>
                      <a:pt x="1161" y="69"/>
                    </a:lnTo>
                    <a:lnTo>
                      <a:pt x="267" y="636"/>
                    </a:lnTo>
                    <a:lnTo>
                      <a:pt x="0" y="558"/>
                    </a:lnTo>
                    <a:close/>
                  </a:path>
                </a:pathLst>
              </a:custGeom>
              <a:solidFill>
                <a:srgbClr val="CCCCFF"/>
              </a:solidFill>
              <a:ln w="25400">
                <a:solidFill>
                  <a:schemeClr val="tx1"/>
                </a:solidFill>
                <a:round/>
                <a:headEnd/>
                <a:tailEnd/>
              </a:ln>
            </p:spPr>
            <p:txBody>
              <a:bodyPr/>
              <a:lstStyle/>
              <a:p>
                <a:endParaRPr lang="zh-CN" altLang="en-US"/>
              </a:p>
            </p:txBody>
          </p:sp>
          <p:grpSp>
            <p:nvGrpSpPr>
              <p:cNvPr id="46" name="Group 78" descr="25%"/>
              <p:cNvGrpSpPr>
                <a:grpSpLocks/>
              </p:cNvGrpSpPr>
              <p:nvPr/>
            </p:nvGrpSpPr>
            <p:grpSpPr bwMode="auto">
              <a:xfrm>
                <a:off x="1866" y="3165"/>
                <a:ext cx="306" cy="843"/>
                <a:chOff x="1866" y="3165"/>
                <a:chExt cx="306" cy="843"/>
              </a:xfrm>
            </p:grpSpPr>
            <p:sp>
              <p:nvSpPr>
                <p:cNvPr id="56" name="Freeform 79" descr="25%"/>
                <p:cNvSpPr>
                  <a:spLocks/>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solidFill>
                  <a:srgbClr val="ECCD88"/>
                </a:solidFill>
                <a:ln w="25400">
                  <a:solidFill>
                    <a:schemeClr val="tx1"/>
                  </a:solidFill>
                  <a:round/>
                  <a:headEnd/>
                  <a:tailEnd/>
                </a:ln>
              </p:spPr>
              <p:txBody>
                <a:bodyPr/>
                <a:lstStyle/>
                <a:p>
                  <a:endParaRPr lang="zh-CN" altLang="en-US"/>
                </a:p>
              </p:txBody>
            </p:sp>
            <p:sp>
              <p:nvSpPr>
                <p:cNvPr id="57" name="Freeform 80" descr="25%"/>
                <p:cNvSpPr>
                  <a:spLocks/>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solidFill>
                  <a:srgbClr val="ECCD88"/>
                </a:solidFill>
                <a:ln w="25400">
                  <a:solidFill>
                    <a:schemeClr val="tx1"/>
                  </a:solidFill>
                  <a:round/>
                  <a:headEnd/>
                  <a:tailEnd/>
                </a:ln>
              </p:spPr>
              <p:txBody>
                <a:bodyPr/>
                <a:lstStyle/>
                <a:p>
                  <a:endParaRPr lang="zh-CN" altLang="en-US"/>
                </a:p>
              </p:txBody>
            </p:sp>
            <p:sp>
              <p:nvSpPr>
                <p:cNvPr id="58" name="Freeform 81" descr="25%"/>
                <p:cNvSpPr>
                  <a:spLocks/>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solidFill>
                  <a:srgbClr val="ECCF8D"/>
                </a:solidFill>
                <a:ln w="25400">
                  <a:solidFill>
                    <a:schemeClr val="tx1"/>
                  </a:solidFill>
                  <a:round/>
                  <a:headEnd/>
                  <a:tailEnd/>
                </a:ln>
              </p:spPr>
              <p:txBody>
                <a:bodyPr/>
                <a:lstStyle/>
                <a:p>
                  <a:endParaRPr lang="zh-CN" altLang="en-US"/>
                </a:p>
              </p:txBody>
            </p:sp>
          </p:grpSp>
          <p:grpSp>
            <p:nvGrpSpPr>
              <p:cNvPr id="47" name="Group 82" descr="25%"/>
              <p:cNvGrpSpPr>
                <a:grpSpLocks/>
              </p:cNvGrpSpPr>
              <p:nvPr/>
            </p:nvGrpSpPr>
            <p:grpSpPr bwMode="auto">
              <a:xfrm>
                <a:off x="2304" y="2937"/>
                <a:ext cx="285" cy="807"/>
                <a:chOff x="1866" y="3165"/>
                <a:chExt cx="306" cy="843"/>
              </a:xfrm>
            </p:grpSpPr>
            <p:sp>
              <p:nvSpPr>
                <p:cNvPr id="51" name="Freeform 83" descr="25%"/>
                <p:cNvSpPr>
                  <a:spLocks/>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solidFill>
                  <a:srgbClr val="ECCF8D"/>
                </a:solidFill>
                <a:ln w="25400">
                  <a:solidFill>
                    <a:schemeClr val="tx1"/>
                  </a:solidFill>
                  <a:round/>
                  <a:headEnd/>
                  <a:tailEnd/>
                </a:ln>
              </p:spPr>
              <p:txBody>
                <a:bodyPr/>
                <a:lstStyle/>
                <a:p>
                  <a:endParaRPr lang="zh-CN" altLang="en-US"/>
                </a:p>
              </p:txBody>
            </p:sp>
            <p:sp>
              <p:nvSpPr>
                <p:cNvPr id="54" name="Freeform 84" descr="25%"/>
                <p:cNvSpPr>
                  <a:spLocks/>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solidFill>
                  <a:srgbClr val="ECCF8D"/>
                </a:solidFill>
                <a:ln w="25400">
                  <a:solidFill>
                    <a:schemeClr val="tx1"/>
                  </a:solidFill>
                  <a:round/>
                  <a:headEnd/>
                  <a:tailEnd/>
                </a:ln>
              </p:spPr>
              <p:txBody>
                <a:bodyPr/>
                <a:lstStyle/>
                <a:p>
                  <a:endParaRPr lang="zh-CN" altLang="en-US"/>
                </a:p>
              </p:txBody>
            </p:sp>
            <p:sp>
              <p:nvSpPr>
                <p:cNvPr id="55" name="Freeform 85" descr="25%"/>
                <p:cNvSpPr>
                  <a:spLocks/>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solidFill>
                  <a:srgbClr val="ECCF8D"/>
                </a:solidFill>
                <a:ln w="25400">
                  <a:solidFill>
                    <a:schemeClr val="tx1"/>
                  </a:solidFill>
                  <a:round/>
                  <a:headEnd/>
                  <a:tailEnd/>
                </a:ln>
              </p:spPr>
              <p:txBody>
                <a:bodyPr/>
                <a:lstStyle/>
                <a:p>
                  <a:endParaRPr lang="zh-CN" altLang="en-US"/>
                </a:p>
              </p:txBody>
            </p:sp>
          </p:grpSp>
          <p:sp>
            <p:nvSpPr>
              <p:cNvPr id="48" name="Freeform 86" descr="25%"/>
              <p:cNvSpPr>
                <a:spLocks/>
              </p:cNvSpPr>
              <p:nvPr/>
            </p:nvSpPr>
            <p:spPr bwMode="auto">
              <a:xfrm>
                <a:off x="1953" y="3543"/>
                <a:ext cx="897" cy="729"/>
              </a:xfrm>
              <a:custGeom>
                <a:avLst/>
                <a:gdLst>
                  <a:gd name="T0" fmla="*/ 0 w 897"/>
                  <a:gd name="T1" fmla="*/ 729 h 729"/>
                  <a:gd name="T2" fmla="*/ 897 w 897"/>
                  <a:gd name="T3" fmla="*/ 102 h 729"/>
                  <a:gd name="T4" fmla="*/ 897 w 897"/>
                  <a:gd name="T5" fmla="*/ 0 h 729"/>
                  <a:gd name="T6" fmla="*/ 3 w 897"/>
                  <a:gd name="T7" fmla="*/ 570 h 729"/>
                  <a:gd name="T8" fmla="*/ 0 w 897"/>
                  <a:gd name="T9" fmla="*/ 729 h 729"/>
                  <a:gd name="T10" fmla="*/ 0 60000 65536"/>
                  <a:gd name="T11" fmla="*/ 0 60000 65536"/>
                  <a:gd name="T12" fmla="*/ 0 60000 65536"/>
                  <a:gd name="T13" fmla="*/ 0 60000 65536"/>
                  <a:gd name="T14" fmla="*/ 0 60000 65536"/>
                  <a:gd name="T15" fmla="*/ 0 w 897"/>
                  <a:gd name="T16" fmla="*/ 0 h 729"/>
                  <a:gd name="T17" fmla="*/ 897 w 897"/>
                  <a:gd name="T18" fmla="*/ 729 h 729"/>
                </a:gdLst>
                <a:ahLst/>
                <a:cxnLst>
                  <a:cxn ang="T10">
                    <a:pos x="T0" y="T1"/>
                  </a:cxn>
                  <a:cxn ang="T11">
                    <a:pos x="T2" y="T3"/>
                  </a:cxn>
                  <a:cxn ang="T12">
                    <a:pos x="T4" y="T5"/>
                  </a:cxn>
                  <a:cxn ang="T13">
                    <a:pos x="T6" y="T7"/>
                  </a:cxn>
                  <a:cxn ang="T14">
                    <a:pos x="T8" y="T9"/>
                  </a:cxn>
                </a:cxnLst>
                <a:rect l="T15" t="T16" r="T17" b="T18"/>
                <a:pathLst>
                  <a:path w="897" h="729">
                    <a:moveTo>
                      <a:pt x="0" y="729"/>
                    </a:moveTo>
                    <a:lnTo>
                      <a:pt x="897" y="102"/>
                    </a:lnTo>
                    <a:lnTo>
                      <a:pt x="897" y="0"/>
                    </a:lnTo>
                    <a:lnTo>
                      <a:pt x="3" y="570"/>
                    </a:lnTo>
                    <a:lnTo>
                      <a:pt x="0" y="729"/>
                    </a:lnTo>
                    <a:close/>
                  </a:path>
                </a:pathLst>
              </a:custGeom>
              <a:solidFill>
                <a:srgbClr val="CCCCFF"/>
              </a:solidFill>
              <a:ln w="25400">
                <a:solidFill>
                  <a:schemeClr val="tx1"/>
                </a:solidFill>
                <a:round/>
                <a:headEnd/>
                <a:tailEnd/>
              </a:ln>
            </p:spPr>
            <p:txBody>
              <a:bodyPr/>
              <a:lstStyle/>
              <a:p>
                <a:endParaRPr lang="zh-CN" altLang="en-US"/>
              </a:p>
            </p:txBody>
          </p:sp>
          <p:sp>
            <p:nvSpPr>
              <p:cNvPr id="49" name="Freeform 87" descr="25%"/>
              <p:cNvSpPr>
                <a:spLocks/>
              </p:cNvSpPr>
              <p:nvPr/>
            </p:nvSpPr>
            <p:spPr bwMode="auto">
              <a:xfrm>
                <a:off x="1440" y="3873"/>
                <a:ext cx="168" cy="141"/>
              </a:xfrm>
              <a:custGeom>
                <a:avLst/>
                <a:gdLst>
                  <a:gd name="T0" fmla="*/ 0 w 168"/>
                  <a:gd name="T1" fmla="*/ 84 h 141"/>
                  <a:gd name="T2" fmla="*/ 165 w 168"/>
                  <a:gd name="T3" fmla="*/ 0 h 141"/>
                  <a:gd name="T4" fmla="*/ 168 w 168"/>
                  <a:gd name="T5" fmla="*/ 141 h 141"/>
                  <a:gd name="T6" fmla="*/ 0 w 168"/>
                  <a:gd name="T7" fmla="*/ 84 h 141"/>
                  <a:gd name="T8" fmla="*/ 0 60000 65536"/>
                  <a:gd name="T9" fmla="*/ 0 60000 65536"/>
                  <a:gd name="T10" fmla="*/ 0 60000 65536"/>
                  <a:gd name="T11" fmla="*/ 0 60000 65536"/>
                  <a:gd name="T12" fmla="*/ 0 w 168"/>
                  <a:gd name="T13" fmla="*/ 0 h 141"/>
                  <a:gd name="T14" fmla="*/ 168 w 168"/>
                  <a:gd name="T15" fmla="*/ 141 h 141"/>
                </a:gdLst>
                <a:ahLst/>
                <a:cxnLst>
                  <a:cxn ang="T8">
                    <a:pos x="T0" y="T1"/>
                  </a:cxn>
                  <a:cxn ang="T9">
                    <a:pos x="T2" y="T3"/>
                  </a:cxn>
                  <a:cxn ang="T10">
                    <a:pos x="T4" y="T5"/>
                  </a:cxn>
                  <a:cxn ang="T11">
                    <a:pos x="T6" y="T7"/>
                  </a:cxn>
                </a:cxnLst>
                <a:rect l="T12" t="T13" r="T14" b="T15"/>
                <a:pathLst>
                  <a:path w="168" h="141">
                    <a:moveTo>
                      <a:pt x="0" y="84"/>
                    </a:moveTo>
                    <a:lnTo>
                      <a:pt x="165" y="0"/>
                    </a:lnTo>
                    <a:lnTo>
                      <a:pt x="168" y="141"/>
                    </a:lnTo>
                    <a:lnTo>
                      <a:pt x="0" y="84"/>
                    </a:lnTo>
                    <a:close/>
                  </a:path>
                </a:pathLst>
              </a:custGeom>
              <a:solidFill>
                <a:srgbClr val="CCCCFF"/>
              </a:solidFill>
              <a:ln w="25400">
                <a:solidFill>
                  <a:schemeClr val="tx1"/>
                </a:solidFill>
                <a:round/>
                <a:headEnd/>
                <a:tailEnd/>
              </a:ln>
            </p:spPr>
            <p:txBody>
              <a:bodyPr/>
              <a:lstStyle/>
              <a:p>
                <a:endParaRPr lang="zh-CN" altLang="en-US"/>
              </a:p>
            </p:txBody>
          </p:sp>
          <p:sp>
            <p:nvSpPr>
              <p:cNvPr id="50" name="Freeform 88" descr="25%"/>
              <p:cNvSpPr>
                <a:spLocks/>
              </p:cNvSpPr>
              <p:nvPr/>
            </p:nvSpPr>
            <p:spPr bwMode="auto">
              <a:xfrm>
                <a:off x="1443" y="3957"/>
                <a:ext cx="513" cy="312"/>
              </a:xfrm>
              <a:custGeom>
                <a:avLst/>
                <a:gdLst>
                  <a:gd name="T0" fmla="*/ 0 w 513"/>
                  <a:gd name="T1" fmla="*/ 0 h 312"/>
                  <a:gd name="T2" fmla="*/ 513 w 513"/>
                  <a:gd name="T3" fmla="*/ 156 h 312"/>
                  <a:gd name="T4" fmla="*/ 513 w 513"/>
                  <a:gd name="T5" fmla="*/ 312 h 312"/>
                  <a:gd name="T6" fmla="*/ 420 w 513"/>
                  <a:gd name="T7" fmla="*/ 285 h 312"/>
                  <a:gd name="T8" fmla="*/ 423 w 513"/>
                  <a:gd name="T9" fmla="*/ 225 h 312"/>
                  <a:gd name="T10" fmla="*/ 0 w 513"/>
                  <a:gd name="T11" fmla="*/ 93 h 312"/>
                  <a:gd name="T12" fmla="*/ 0 w 513"/>
                  <a:gd name="T13" fmla="*/ 0 h 312"/>
                  <a:gd name="T14" fmla="*/ 0 60000 65536"/>
                  <a:gd name="T15" fmla="*/ 0 60000 65536"/>
                  <a:gd name="T16" fmla="*/ 0 60000 65536"/>
                  <a:gd name="T17" fmla="*/ 0 60000 65536"/>
                  <a:gd name="T18" fmla="*/ 0 60000 65536"/>
                  <a:gd name="T19" fmla="*/ 0 60000 65536"/>
                  <a:gd name="T20" fmla="*/ 0 60000 65536"/>
                  <a:gd name="T21" fmla="*/ 0 w 513"/>
                  <a:gd name="T22" fmla="*/ 0 h 312"/>
                  <a:gd name="T23" fmla="*/ 513 w 513"/>
                  <a:gd name="T24" fmla="*/ 312 h 3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3" h="312">
                    <a:moveTo>
                      <a:pt x="0" y="0"/>
                    </a:moveTo>
                    <a:lnTo>
                      <a:pt x="513" y="156"/>
                    </a:lnTo>
                    <a:lnTo>
                      <a:pt x="513" y="312"/>
                    </a:lnTo>
                    <a:lnTo>
                      <a:pt x="420" y="285"/>
                    </a:lnTo>
                    <a:lnTo>
                      <a:pt x="423" y="225"/>
                    </a:lnTo>
                    <a:lnTo>
                      <a:pt x="0" y="93"/>
                    </a:lnTo>
                    <a:lnTo>
                      <a:pt x="0" y="0"/>
                    </a:lnTo>
                    <a:close/>
                  </a:path>
                </a:pathLst>
              </a:custGeom>
              <a:pattFill prst="ltDnDiag">
                <a:fgClr>
                  <a:srgbClr val="CCCCFF"/>
                </a:fgClr>
                <a:bgClr>
                  <a:schemeClr val="bg1"/>
                </a:bgClr>
              </a:pattFill>
              <a:ln w="25400">
                <a:solidFill>
                  <a:schemeClr val="tx1"/>
                </a:solidFill>
                <a:round/>
                <a:headEnd/>
                <a:tailEnd/>
              </a:ln>
            </p:spPr>
            <p:txBody>
              <a:bodyPr/>
              <a:lstStyle/>
              <a:p>
                <a:endParaRPr lang="zh-CN" altLang="en-US"/>
              </a:p>
            </p:txBody>
          </p:sp>
        </p:grpSp>
        <p:grpSp>
          <p:nvGrpSpPr>
            <p:cNvPr id="76" name="Group 28"/>
            <p:cNvGrpSpPr>
              <a:grpSpLocks/>
            </p:cNvGrpSpPr>
            <p:nvPr/>
          </p:nvGrpSpPr>
          <p:grpSpPr bwMode="auto">
            <a:xfrm>
              <a:off x="6222788" y="1206691"/>
              <a:ext cx="1136906" cy="1785015"/>
              <a:chOff x="1872" y="954"/>
              <a:chExt cx="942" cy="1479"/>
            </a:xfrm>
          </p:grpSpPr>
          <p:sp>
            <p:nvSpPr>
              <p:cNvPr id="80" name="Freeform 31" descr="大纸屑"/>
              <p:cNvSpPr>
                <a:spLocks/>
              </p:cNvSpPr>
              <p:nvPr/>
            </p:nvSpPr>
            <p:spPr bwMode="auto">
              <a:xfrm>
                <a:off x="2235" y="954"/>
                <a:ext cx="531" cy="1299"/>
              </a:xfrm>
              <a:custGeom>
                <a:avLst/>
                <a:gdLst>
                  <a:gd name="T0" fmla="*/ 275 w 552"/>
                  <a:gd name="T1" fmla="*/ 1401 h 1293"/>
                  <a:gd name="T2" fmla="*/ 48 w 552"/>
                  <a:gd name="T3" fmla="*/ 1401 h 1293"/>
                  <a:gd name="T4" fmla="*/ 13 w 552"/>
                  <a:gd name="T5" fmla="*/ 1332 h 1293"/>
                  <a:gd name="T6" fmla="*/ 0 w 552"/>
                  <a:gd name="T7" fmla="*/ 0 h 1293"/>
                  <a:gd name="T8" fmla="*/ 275 w 552"/>
                  <a:gd name="T9" fmla="*/ 1401 h 1293"/>
                  <a:gd name="T10" fmla="*/ 0 60000 65536"/>
                  <a:gd name="T11" fmla="*/ 0 60000 65536"/>
                  <a:gd name="T12" fmla="*/ 0 60000 65536"/>
                  <a:gd name="T13" fmla="*/ 0 60000 65536"/>
                  <a:gd name="T14" fmla="*/ 0 60000 65536"/>
                  <a:gd name="T15" fmla="*/ 0 w 552"/>
                  <a:gd name="T16" fmla="*/ 0 h 1293"/>
                  <a:gd name="T17" fmla="*/ 552 w 552"/>
                  <a:gd name="T18" fmla="*/ 1293 h 1293"/>
                </a:gdLst>
                <a:ahLst/>
                <a:cxnLst>
                  <a:cxn ang="T10">
                    <a:pos x="T0" y="T1"/>
                  </a:cxn>
                  <a:cxn ang="T11">
                    <a:pos x="T2" y="T3"/>
                  </a:cxn>
                  <a:cxn ang="T12">
                    <a:pos x="T4" y="T5"/>
                  </a:cxn>
                  <a:cxn ang="T13">
                    <a:pos x="T6" y="T7"/>
                  </a:cxn>
                  <a:cxn ang="T14">
                    <a:pos x="T8" y="T9"/>
                  </a:cxn>
                </a:cxnLst>
                <a:rect l="T15" t="T16" r="T17" b="T18"/>
                <a:pathLst>
                  <a:path w="552" h="1293">
                    <a:moveTo>
                      <a:pt x="552" y="1293"/>
                    </a:moveTo>
                    <a:lnTo>
                      <a:pt x="96" y="1293"/>
                    </a:lnTo>
                    <a:lnTo>
                      <a:pt x="24" y="1224"/>
                    </a:lnTo>
                    <a:lnTo>
                      <a:pt x="0" y="0"/>
                    </a:lnTo>
                    <a:lnTo>
                      <a:pt x="552" y="1293"/>
                    </a:lnTo>
                    <a:close/>
                  </a:path>
                </a:pathLst>
              </a:custGeom>
              <a:solidFill>
                <a:srgbClr val="ECCF8D"/>
              </a:solidFill>
              <a:ln w="9525">
                <a:solidFill>
                  <a:srgbClr val="000000"/>
                </a:solidFill>
                <a:round/>
                <a:headEnd/>
                <a:tailEnd/>
              </a:ln>
              <a:extLst/>
            </p:spPr>
            <p:txBody>
              <a:bodyPr/>
              <a:lstStyle/>
              <a:p>
                <a:endParaRPr lang="zh-CN" altLang="en-US"/>
              </a:p>
            </p:txBody>
          </p:sp>
          <p:sp>
            <p:nvSpPr>
              <p:cNvPr id="78" name="Line 29"/>
              <p:cNvSpPr>
                <a:spLocks noChangeShapeType="1"/>
              </p:cNvSpPr>
              <p:nvPr/>
            </p:nvSpPr>
            <p:spPr bwMode="auto">
              <a:xfrm flipH="1" flipV="1">
                <a:off x="2251" y="976"/>
                <a:ext cx="533" cy="1307"/>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Freeform 32" descr="大纸屑"/>
              <p:cNvSpPr>
                <a:spLocks/>
              </p:cNvSpPr>
              <p:nvPr/>
            </p:nvSpPr>
            <p:spPr bwMode="auto">
              <a:xfrm>
                <a:off x="1872" y="960"/>
                <a:ext cx="942" cy="1473"/>
              </a:xfrm>
              <a:custGeom>
                <a:avLst/>
                <a:gdLst>
                  <a:gd name="T0" fmla="*/ 942 w 942"/>
                  <a:gd name="T1" fmla="*/ 1473 h 1473"/>
                  <a:gd name="T2" fmla="*/ 939 w 942"/>
                  <a:gd name="T3" fmla="*/ 1305 h 1473"/>
                  <a:gd name="T4" fmla="*/ 468 w 942"/>
                  <a:gd name="T5" fmla="*/ 1305 h 1473"/>
                  <a:gd name="T6" fmla="*/ 390 w 942"/>
                  <a:gd name="T7" fmla="*/ 1233 h 1473"/>
                  <a:gd name="T8" fmla="*/ 369 w 942"/>
                  <a:gd name="T9" fmla="*/ 0 h 1473"/>
                  <a:gd name="T10" fmla="*/ 258 w 942"/>
                  <a:gd name="T11" fmla="*/ 0 h 1473"/>
                  <a:gd name="T12" fmla="*/ 192 w 942"/>
                  <a:gd name="T13" fmla="*/ 1317 h 1473"/>
                  <a:gd name="T14" fmla="*/ 0 w 942"/>
                  <a:gd name="T15" fmla="*/ 1317 h 1473"/>
                  <a:gd name="T16" fmla="*/ 0 w 942"/>
                  <a:gd name="T17" fmla="*/ 1467 h 1473"/>
                  <a:gd name="T18" fmla="*/ 942 w 942"/>
                  <a:gd name="T19" fmla="*/ 1473 h 14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42"/>
                  <a:gd name="T31" fmla="*/ 0 h 1473"/>
                  <a:gd name="T32" fmla="*/ 942 w 942"/>
                  <a:gd name="T33" fmla="*/ 1473 h 14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42" h="1473">
                    <a:moveTo>
                      <a:pt x="942" y="1473"/>
                    </a:moveTo>
                    <a:lnTo>
                      <a:pt x="939" y="1305"/>
                    </a:lnTo>
                    <a:lnTo>
                      <a:pt x="468" y="1305"/>
                    </a:lnTo>
                    <a:lnTo>
                      <a:pt x="390" y="1233"/>
                    </a:lnTo>
                    <a:lnTo>
                      <a:pt x="369" y="0"/>
                    </a:lnTo>
                    <a:lnTo>
                      <a:pt x="258" y="0"/>
                    </a:lnTo>
                    <a:lnTo>
                      <a:pt x="192" y="1317"/>
                    </a:lnTo>
                    <a:lnTo>
                      <a:pt x="0" y="1317"/>
                    </a:lnTo>
                    <a:lnTo>
                      <a:pt x="0" y="1467"/>
                    </a:lnTo>
                    <a:lnTo>
                      <a:pt x="942" y="1473"/>
                    </a:lnTo>
                    <a:close/>
                  </a:path>
                </a:pathLst>
              </a:custGeom>
              <a:pattFill prst="ltDnDiag">
                <a:fgClr>
                  <a:srgbClr val="9966FF"/>
                </a:fgClr>
                <a:bgClr>
                  <a:schemeClr val="bg1"/>
                </a:bgClr>
              </a:pattFill>
              <a:ln w="31750">
                <a:solidFill>
                  <a:schemeClr val="tx1"/>
                </a:solidFill>
                <a:round/>
                <a:headEnd/>
                <a:tailEnd/>
              </a:ln>
            </p:spPr>
            <p:txBody>
              <a:bodyPr/>
              <a:lstStyle/>
              <a:p>
                <a:endParaRPr lang="zh-CN" altLang="en-US"/>
              </a:p>
            </p:txBody>
          </p:sp>
          <p:sp>
            <p:nvSpPr>
              <p:cNvPr id="82" name="Freeform 33"/>
              <p:cNvSpPr>
                <a:spLocks/>
              </p:cNvSpPr>
              <p:nvPr/>
            </p:nvSpPr>
            <p:spPr bwMode="auto">
              <a:xfrm>
                <a:off x="1971" y="1017"/>
                <a:ext cx="228" cy="1365"/>
              </a:xfrm>
              <a:custGeom>
                <a:avLst/>
                <a:gdLst>
                  <a:gd name="T0" fmla="*/ 0 w 228"/>
                  <a:gd name="T1" fmla="*/ 1365 h 1365"/>
                  <a:gd name="T2" fmla="*/ 192 w 228"/>
                  <a:gd name="T3" fmla="*/ 1365 h 1365"/>
                  <a:gd name="T4" fmla="*/ 216 w 228"/>
                  <a:gd name="T5" fmla="*/ 1359 h 1365"/>
                  <a:gd name="T6" fmla="*/ 225 w 228"/>
                  <a:gd name="T7" fmla="*/ 1338 h 1365"/>
                  <a:gd name="T8" fmla="*/ 228 w 228"/>
                  <a:gd name="T9" fmla="*/ 1302 h 1365"/>
                  <a:gd name="T10" fmla="*/ 213 w 228"/>
                  <a:gd name="T11" fmla="*/ 0 h 1365"/>
                  <a:gd name="T12" fmla="*/ 0 60000 65536"/>
                  <a:gd name="T13" fmla="*/ 0 60000 65536"/>
                  <a:gd name="T14" fmla="*/ 0 60000 65536"/>
                  <a:gd name="T15" fmla="*/ 0 60000 65536"/>
                  <a:gd name="T16" fmla="*/ 0 60000 65536"/>
                  <a:gd name="T17" fmla="*/ 0 60000 65536"/>
                  <a:gd name="T18" fmla="*/ 0 w 228"/>
                  <a:gd name="T19" fmla="*/ 0 h 1365"/>
                  <a:gd name="T20" fmla="*/ 228 w 228"/>
                  <a:gd name="T21" fmla="*/ 1365 h 1365"/>
                </a:gdLst>
                <a:ahLst/>
                <a:cxnLst>
                  <a:cxn ang="T12">
                    <a:pos x="T0" y="T1"/>
                  </a:cxn>
                  <a:cxn ang="T13">
                    <a:pos x="T2" y="T3"/>
                  </a:cxn>
                  <a:cxn ang="T14">
                    <a:pos x="T4" y="T5"/>
                  </a:cxn>
                  <a:cxn ang="T15">
                    <a:pos x="T6" y="T7"/>
                  </a:cxn>
                  <a:cxn ang="T16">
                    <a:pos x="T8" y="T9"/>
                  </a:cxn>
                  <a:cxn ang="T17">
                    <a:pos x="T10" y="T11"/>
                  </a:cxn>
                </a:cxnLst>
                <a:rect l="T18" t="T19" r="T20" b="T21"/>
                <a:pathLst>
                  <a:path w="228" h="1365">
                    <a:moveTo>
                      <a:pt x="0" y="1365"/>
                    </a:moveTo>
                    <a:lnTo>
                      <a:pt x="192" y="1365"/>
                    </a:lnTo>
                    <a:lnTo>
                      <a:pt x="216" y="1359"/>
                    </a:lnTo>
                    <a:lnTo>
                      <a:pt x="225" y="1338"/>
                    </a:lnTo>
                    <a:lnTo>
                      <a:pt x="228" y="1302"/>
                    </a:lnTo>
                    <a:lnTo>
                      <a:pt x="213"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 name="Freeform 34"/>
              <p:cNvSpPr>
                <a:spLocks/>
              </p:cNvSpPr>
              <p:nvPr/>
            </p:nvSpPr>
            <p:spPr bwMode="auto">
              <a:xfrm>
                <a:off x="2109" y="2295"/>
                <a:ext cx="645" cy="81"/>
              </a:xfrm>
              <a:custGeom>
                <a:avLst/>
                <a:gdLst>
                  <a:gd name="T0" fmla="*/ 0 w 645"/>
                  <a:gd name="T1" fmla="*/ 21 h 81"/>
                  <a:gd name="T2" fmla="*/ 12 w 645"/>
                  <a:gd name="T3" fmla="*/ 0 h 81"/>
                  <a:gd name="T4" fmla="*/ 627 w 645"/>
                  <a:gd name="T5" fmla="*/ 0 h 81"/>
                  <a:gd name="T6" fmla="*/ 645 w 645"/>
                  <a:gd name="T7" fmla="*/ 9 h 81"/>
                  <a:gd name="T8" fmla="*/ 645 w 645"/>
                  <a:gd name="T9" fmla="*/ 33 h 81"/>
                  <a:gd name="T10" fmla="*/ 645 w 645"/>
                  <a:gd name="T11" fmla="*/ 78 h 81"/>
                  <a:gd name="T12" fmla="*/ 624 w 645"/>
                  <a:gd name="T13" fmla="*/ 81 h 81"/>
                  <a:gd name="T14" fmla="*/ 0 60000 65536"/>
                  <a:gd name="T15" fmla="*/ 0 60000 65536"/>
                  <a:gd name="T16" fmla="*/ 0 60000 65536"/>
                  <a:gd name="T17" fmla="*/ 0 60000 65536"/>
                  <a:gd name="T18" fmla="*/ 0 60000 65536"/>
                  <a:gd name="T19" fmla="*/ 0 60000 65536"/>
                  <a:gd name="T20" fmla="*/ 0 60000 65536"/>
                  <a:gd name="T21" fmla="*/ 0 w 645"/>
                  <a:gd name="T22" fmla="*/ 0 h 81"/>
                  <a:gd name="T23" fmla="*/ 645 w 645"/>
                  <a:gd name="T24" fmla="*/ 81 h 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5" h="81">
                    <a:moveTo>
                      <a:pt x="0" y="21"/>
                    </a:moveTo>
                    <a:lnTo>
                      <a:pt x="12" y="0"/>
                    </a:lnTo>
                    <a:lnTo>
                      <a:pt x="627" y="0"/>
                    </a:lnTo>
                    <a:lnTo>
                      <a:pt x="645" y="9"/>
                    </a:lnTo>
                    <a:lnTo>
                      <a:pt x="645" y="33"/>
                    </a:lnTo>
                    <a:lnTo>
                      <a:pt x="645" y="78"/>
                    </a:lnTo>
                    <a:lnTo>
                      <a:pt x="624" y="81"/>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 name="Oval 35"/>
              <p:cNvSpPr>
                <a:spLocks noChangeArrowheads="1"/>
              </p:cNvSpPr>
              <p:nvPr/>
            </p:nvSpPr>
            <p:spPr bwMode="auto">
              <a:xfrm>
                <a:off x="2160" y="1035"/>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86" name="Oval 36"/>
              <p:cNvSpPr>
                <a:spLocks noChangeArrowheads="1"/>
              </p:cNvSpPr>
              <p:nvPr/>
            </p:nvSpPr>
            <p:spPr bwMode="auto">
              <a:xfrm>
                <a:off x="2160" y="1132"/>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87" name="Oval 37"/>
              <p:cNvSpPr>
                <a:spLocks noChangeArrowheads="1"/>
              </p:cNvSpPr>
              <p:nvPr/>
            </p:nvSpPr>
            <p:spPr bwMode="auto">
              <a:xfrm>
                <a:off x="2160" y="1251"/>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88" name="Oval 38"/>
              <p:cNvSpPr>
                <a:spLocks noChangeArrowheads="1"/>
              </p:cNvSpPr>
              <p:nvPr/>
            </p:nvSpPr>
            <p:spPr bwMode="auto">
              <a:xfrm>
                <a:off x="2160" y="1372"/>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89" name="Oval 39"/>
              <p:cNvSpPr>
                <a:spLocks noChangeArrowheads="1"/>
              </p:cNvSpPr>
              <p:nvPr/>
            </p:nvSpPr>
            <p:spPr bwMode="auto">
              <a:xfrm>
                <a:off x="2160" y="1467"/>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0" name="Oval 40"/>
              <p:cNvSpPr>
                <a:spLocks noChangeArrowheads="1"/>
              </p:cNvSpPr>
              <p:nvPr/>
            </p:nvSpPr>
            <p:spPr bwMode="auto">
              <a:xfrm>
                <a:off x="2160" y="1586"/>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1" name="Oval 41"/>
              <p:cNvSpPr>
                <a:spLocks noChangeArrowheads="1"/>
              </p:cNvSpPr>
              <p:nvPr/>
            </p:nvSpPr>
            <p:spPr bwMode="auto">
              <a:xfrm>
                <a:off x="2160" y="1707"/>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2" name="Oval 42"/>
              <p:cNvSpPr>
                <a:spLocks noChangeArrowheads="1"/>
              </p:cNvSpPr>
              <p:nvPr/>
            </p:nvSpPr>
            <p:spPr bwMode="auto">
              <a:xfrm>
                <a:off x="2160" y="1826"/>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3" name="Oval 43"/>
              <p:cNvSpPr>
                <a:spLocks noChangeArrowheads="1"/>
              </p:cNvSpPr>
              <p:nvPr/>
            </p:nvSpPr>
            <p:spPr bwMode="auto">
              <a:xfrm>
                <a:off x="2160" y="1945"/>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4" name="Oval 44"/>
              <p:cNvSpPr>
                <a:spLocks noChangeArrowheads="1"/>
              </p:cNvSpPr>
              <p:nvPr/>
            </p:nvSpPr>
            <p:spPr bwMode="auto">
              <a:xfrm>
                <a:off x="2160" y="2066"/>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5" name="Oval 45"/>
              <p:cNvSpPr>
                <a:spLocks noChangeArrowheads="1"/>
              </p:cNvSpPr>
              <p:nvPr/>
            </p:nvSpPr>
            <p:spPr bwMode="auto">
              <a:xfrm>
                <a:off x="2160" y="2210"/>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6" name="Oval 46"/>
              <p:cNvSpPr>
                <a:spLocks noChangeArrowheads="1"/>
              </p:cNvSpPr>
              <p:nvPr/>
            </p:nvSpPr>
            <p:spPr bwMode="auto">
              <a:xfrm>
                <a:off x="2160" y="2354"/>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7" name="Oval 47"/>
              <p:cNvSpPr>
                <a:spLocks noChangeArrowheads="1"/>
              </p:cNvSpPr>
              <p:nvPr/>
            </p:nvSpPr>
            <p:spPr bwMode="auto">
              <a:xfrm>
                <a:off x="2016" y="2354"/>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8" name="Oval 48"/>
              <p:cNvSpPr>
                <a:spLocks noChangeArrowheads="1"/>
              </p:cNvSpPr>
              <p:nvPr/>
            </p:nvSpPr>
            <p:spPr bwMode="auto">
              <a:xfrm>
                <a:off x="2663" y="2283"/>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99" name="Oval 49"/>
              <p:cNvSpPr>
                <a:spLocks noChangeArrowheads="1"/>
              </p:cNvSpPr>
              <p:nvPr/>
            </p:nvSpPr>
            <p:spPr bwMode="auto">
              <a:xfrm>
                <a:off x="2519" y="2283"/>
                <a:ext cx="25" cy="25"/>
              </a:xfrm>
              <a:prstGeom prst="ellipse">
                <a:avLst/>
              </a:prstGeom>
              <a:solidFill>
                <a:srgbClr val="800000"/>
              </a:solidFill>
              <a:ln w="9525">
                <a:solidFill>
                  <a:schemeClr val="tx1"/>
                </a:solidFill>
                <a:round/>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sp>
          <p:nvSpPr>
            <p:cNvPr id="108" name="Text Box 47"/>
            <p:cNvSpPr txBox="1">
              <a:spLocks noChangeArrowheads="1"/>
            </p:cNvSpPr>
            <p:nvPr/>
          </p:nvSpPr>
          <p:spPr bwMode="auto">
            <a:xfrm>
              <a:off x="8083498" y="2367619"/>
              <a:ext cx="908840"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solidFill>
                    <a:srgbClr val="000066"/>
                  </a:solidFill>
                  <a:latin typeface="黑体" panose="02010609060101010101" pitchFamily="49" charset="-122"/>
                  <a:ea typeface="黑体" panose="02010609060101010101" pitchFamily="49" charset="-122"/>
                </a:rPr>
                <a:t>扶壁</a:t>
              </a:r>
              <a:r>
                <a:rPr lang="zh-CN" altLang="en-US" sz="1800" b="1" dirty="0" smtClean="0">
                  <a:solidFill>
                    <a:srgbClr val="000066"/>
                  </a:solidFill>
                  <a:latin typeface="黑体" panose="02010609060101010101" pitchFamily="49" charset="-122"/>
                  <a:ea typeface="黑体" panose="02010609060101010101" pitchFamily="49" charset="-122"/>
                </a:rPr>
                <a:t>式</a:t>
              </a:r>
              <a:endParaRPr lang="en-US" altLang="zh-CN" sz="1800" b="1" dirty="0" smtClean="0">
                <a:solidFill>
                  <a:srgbClr val="000066"/>
                </a:solidFill>
                <a:latin typeface="黑体" panose="02010609060101010101" pitchFamily="49" charset="-122"/>
                <a:ea typeface="黑体" panose="02010609060101010101" pitchFamily="49" charset="-122"/>
              </a:endParaRPr>
            </a:p>
          </p:txBody>
        </p:sp>
        <p:sp>
          <p:nvSpPr>
            <p:cNvPr id="3" name="任意多边形 2"/>
            <p:cNvSpPr/>
            <p:nvPr/>
          </p:nvSpPr>
          <p:spPr bwMode="auto">
            <a:xfrm>
              <a:off x="7350036" y="2255520"/>
              <a:ext cx="775062" cy="1332411"/>
            </a:xfrm>
            <a:custGeom>
              <a:avLst/>
              <a:gdLst>
                <a:gd name="connsiteX0" fmla="*/ 0 w 775062"/>
                <a:gd name="connsiteY0" fmla="*/ 0 h 1332411"/>
                <a:gd name="connsiteX1" fmla="*/ 775062 w 775062"/>
                <a:gd name="connsiteY1" fmla="*/ 400594 h 1332411"/>
                <a:gd name="connsiteX2" fmla="*/ 592182 w 775062"/>
                <a:gd name="connsiteY2" fmla="*/ 1332411 h 1332411"/>
              </a:gdLst>
              <a:ahLst/>
              <a:cxnLst>
                <a:cxn ang="0">
                  <a:pos x="connsiteX0" y="connsiteY0"/>
                </a:cxn>
                <a:cxn ang="0">
                  <a:pos x="connsiteX1" y="connsiteY1"/>
                </a:cxn>
                <a:cxn ang="0">
                  <a:pos x="connsiteX2" y="connsiteY2"/>
                </a:cxn>
              </a:cxnLst>
              <a:rect l="l" t="t" r="r" b="b"/>
              <a:pathLst>
                <a:path w="775062" h="1332411">
                  <a:moveTo>
                    <a:pt x="0" y="0"/>
                  </a:moveTo>
                  <a:lnTo>
                    <a:pt x="775062" y="400594"/>
                  </a:lnTo>
                  <a:lnTo>
                    <a:pt x="592182" y="1332411"/>
                  </a:lnTo>
                </a:path>
              </a:pathLst>
            </a:cu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6" name="组合 5"/>
          <p:cNvGrpSpPr/>
          <p:nvPr/>
        </p:nvGrpSpPr>
        <p:grpSpPr>
          <a:xfrm>
            <a:off x="3578727" y="3498182"/>
            <a:ext cx="2182492" cy="1745995"/>
            <a:chOff x="3578727" y="3498182"/>
            <a:chExt cx="2182492" cy="1745995"/>
          </a:xfrm>
        </p:grpSpPr>
        <p:grpSp>
          <p:nvGrpSpPr>
            <p:cNvPr id="100" name="Group 147"/>
            <p:cNvGrpSpPr>
              <a:grpSpLocks/>
            </p:cNvGrpSpPr>
            <p:nvPr/>
          </p:nvGrpSpPr>
          <p:grpSpPr bwMode="auto">
            <a:xfrm>
              <a:off x="3578727" y="3498182"/>
              <a:ext cx="2182492" cy="1745995"/>
              <a:chOff x="336" y="2736"/>
              <a:chExt cx="1680" cy="1344"/>
            </a:xfrm>
          </p:grpSpPr>
          <p:sp>
            <p:nvSpPr>
              <p:cNvPr id="101" name="Rectangle 132" descr="25%"/>
              <p:cNvSpPr>
                <a:spLocks noChangeArrowheads="1"/>
              </p:cNvSpPr>
              <p:nvPr/>
            </p:nvSpPr>
            <p:spPr bwMode="auto">
              <a:xfrm>
                <a:off x="576" y="2736"/>
                <a:ext cx="144" cy="1344"/>
              </a:xfrm>
              <a:prstGeom prst="rect">
                <a:avLst/>
              </a:prstGeom>
              <a:pattFill prst="ltDnDiag">
                <a:fgClr>
                  <a:srgbClr val="9966FF"/>
                </a:fgClr>
                <a:bgClr>
                  <a:schemeClr val="bg1"/>
                </a:bgClr>
              </a:pattFill>
              <a:ln w="22225">
                <a:solidFill>
                  <a:schemeClr val="tx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102" name="Line 134"/>
              <p:cNvSpPr>
                <a:spLocks noChangeShapeType="1"/>
              </p:cNvSpPr>
              <p:nvPr/>
            </p:nvSpPr>
            <p:spPr bwMode="auto">
              <a:xfrm>
                <a:off x="672" y="3072"/>
                <a:ext cx="1008" cy="0"/>
              </a:xfrm>
              <a:prstGeom prst="line">
                <a:avLst/>
              </a:prstGeom>
              <a:noFill/>
              <a:ln w="34925">
                <a:solidFill>
                  <a:srgbClr val="66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Rectangle 135"/>
              <p:cNvSpPr>
                <a:spLocks noChangeArrowheads="1"/>
              </p:cNvSpPr>
              <p:nvPr/>
            </p:nvSpPr>
            <p:spPr bwMode="auto">
              <a:xfrm>
                <a:off x="1680" y="2928"/>
                <a:ext cx="96" cy="384"/>
              </a:xfrm>
              <a:prstGeom prst="rect">
                <a:avLst/>
              </a:prstGeom>
              <a:pattFill prst="ltDnDiag">
                <a:fgClr>
                  <a:srgbClr val="9966FF"/>
                </a:fgClr>
                <a:bgClr>
                  <a:schemeClr val="bg1"/>
                </a:bgClr>
              </a:pattFill>
              <a:ln w="22225">
                <a:solidFill>
                  <a:schemeClr val="tx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104" name="Line 136"/>
              <p:cNvSpPr>
                <a:spLocks noChangeShapeType="1"/>
              </p:cNvSpPr>
              <p:nvPr/>
            </p:nvSpPr>
            <p:spPr bwMode="auto">
              <a:xfrm>
                <a:off x="336" y="4080"/>
                <a:ext cx="15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137"/>
              <p:cNvSpPr>
                <a:spLocks noChangeShapeType="1"/>
              </p:cNvSpPr>
              <p:nvPr/>
            </p:nvSpPr>
            <p:spPr bwMode="auto">
              <a:xfrm>
                <a:off x="720" y="2832"/>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9" name="Text Box 47"/>
            <p:cNvSpPr txBox="1">
              <a:spLocks noChangeArrowheads="1"/>
            </p:cNvSpPr>
            <p:nvPr/>
          </p:nvSpPr>
          <p:spPr bwMode="auto">
            <a:xfrm>
              <a:off x="4286090" y="4291468"/>
              <a:ext cx="1105016" cy="771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800" b="1" dirty="0">
                  <a:solidFill>
                    <a:srgbClr val="000066"/>
                  </a:solidFill>
                  <a:latin typeface="黑体" panose="02010609060101010101" pitchFamily="49" charset="-122"/>
                  <a:ea typeface="黑体" panose="02010609060101010101" pitchFamily="49" charset="-122"/>
                </a:rPr>
                <a:t>锚拉</a:t>
              </a:r>
              <a:r>
                <a:rPr lang="zh-CN" altLang="en-US" sz="1800" b="1" dirty="0" smtClean="0">
                  <a:solidFill>
                    <a:srgbClr val="000066"/>
                  </a:solidFill>
                  <a:latin typeface="黑体" panose="02010609060101010101" pitchFamily="49" charset="-122"/>
                  <a:ea typeface="黑体" panose="02010609060101010101" pitchFamily="49" charset="-122"/>
                </a:rPr>
                <a:t>式</a:t>
              </a:r>
              <a:endParaRPr lang="en-US" altLang="zh-CN" sz="1800" b="1" dirty="0" smtClean="0">
                <a:solidFill>
                  <a:srgbClr val="000066"/>
                </a:solidFill>
                <a:latin typeface="黑体" panose="02010609060101010101" pitchFamily="49" charset="-122"/>
                <a:ea typeface="黑体" panose="02010609060101010101" pitchFamily="49" charset="-122"/>
              </a:endParaRPr>
            </a:p>
            <a:p>
              <a:pPr algn="ctr"/>
              <a:r>
                <a:rPr lang="zh-CN" altLang="en-US" sz="1800" b="1" dirty="0">
                  <a:solidFill>
                    <a:srgbClr val="000066"/>
                  </a:solidFill>
                  <a:latin typeface="黑体" panose="02010609060101010101" pitchFamily="49" charset="-122"/>
                  <a:ea typeface="黑体" panose="02010609060101010101" pitchFamily="49" charset="-122"/>
                </a:rPr>
                <a:t>（锚碇式</a:t>
              </a:r>
              <a:r>
                <a:rPr lang="zh-CN" altLang="en-US" sz="1800" b="1" dirty="0" smtClean="0">
                  <a:solidFill>
                    <a:srgbClr val="000066"/>
                  </a:solidFill>
                  <a:latin typeface="黑体" panose="02010609060101010101" pitchFamily="49" charset="-122"/>
                  <a:ea typeface="黑体" panose="02010609060101010101" pitchFamily="49" charset="-122"/>
                </a:rPr>
                <a:t>）</a:t>
              </a:r>
              <a:endParaRPr lang="zh-CN" altLang="en-US" sz="1800" b="1" dirty="0">
                <a:solidFill>
                  <a:srgbClr val="000066"/>
                </a:solidFill>
                <a:latin typeface="黑体" panose="02010609060101010101" pitchFamily="49" charset="-122"/>
                <a:ea typeface="黑体" panose="02010609060101010101" pitchFamily="49" charset="-122"/>
              </a:endParaRPr>
            </a:p>
          </p:txBody>
        </p:sp>
      </p:grpSp>
      <p:grpSp>
        <p:nvGrpSpPr>
          <p:cNvPr id="2" name="组合 1"/>
          <p:cNvGrpSpPr/>
          <p:nvPr/>
        </p:nvGrpSpPr>
        <p:grpSpPr>
          <a:xfrm>
            <a:off x="399831" y="1304136"/>
            <a:ext cx="2130715" cy="1667503"/>
            <a:chOff x="399831" y="1304136"/>
            <a:chExt cx="2130715" cy="1667503"/>
          </a:xfrm>
        </p:grpSpPr>
        <p:grpSp>
          <p:nvGrpSpPr>
            <p:cNvPr id="14" name="组合 13"/>
            <p:cNvGrpSpPr/>
            <p:nvPr/>
          </p:nvGrpSpPr>
          <p:grpSpPr>
            <a:xfrm>
              <a:off x="399831" y="1304136"/>
              <a:ext cx="2130715" cy="1667503"/>
              <a:chOff x="474262" y="1503383"/>
              <a:chExt cx="1891712" cy="1480459"/>
            </a:xfrm>
          </p:grpSpPr>
          <p:grpSp>
            <p:nvGrpSpPr>
              <p:cNvPr id="12" name="组合 11"/>
              <p:cNvGrpSpPr/>
              <p:nvPr/>
            </p:nvGrpSpPr>
            <p:grpSpPr>
              <a:xfrm>
                <a:off x="481408" y="1503383"/>
                <a:ext cx="1884566" cy="1480459"/>
                <a:chOff x="481408" y="1503383"/>
                <a:chExt cx="1884566" cy="1480459"/>
              </a:xfrm>
            </p:grpSpPr>
            <p:sp>
              <p:nvSpPr>
                <p:cNvPr id="115" name="Freeform 7" descr="5%"/>
                <p:cNvSpPr>
                  <a:spLocks/>
                </p:cNvSpPr>
                <p:nvPr/>
              </p:nvSpPr>
              <p:spPr bwMode="auto">
                <a:xfrm>
                  <a:off x="481408" y="1503383"/>
                  <a:ext cx="1884566" cy="1480459"/>
                </a:xfrm>
                <a:custGeom>
                  <a:avLst/>
                  <a:gdLst>
                    <a:gd name="T0" fmla="*/ 307 w 1956"/>
                    <a:gd name="T1" fmla="*/ 1389 h 1638"/>
                    <a:gd name="T2" fmla="*/ 0 w 1956"/>
                    <a:gd name="T3" fmla="*/ 1387 h 1638"/>
                    <a:gd name="T4" fmla="*/ 0 w 1956"/>
                    <a:gd name="T5" fmla="*/ 1638 h 1638"/>
                    <a:gd name="T6" fmla="*/ 1956 w 1956"/>
                    <a:gd name="T7" fmla="*/ 1638 h 1638"/>
                    <a:gd name="T8" fmla="*/ 1956 w 1956"/>
                    <a:gd name="T9" fmla="*/ 0 h 1638"/>
                    <a:gd name="T10" fmla="*/ 808 w 1956"/>
                    <a:gd name="T11" fmla="*/ 572 h 1638"/>
                    <a:gd name="T12" fmla="*/ 924 w 1956"/>
                    <a:gd name="T13" fmla="*/ 1406 h 1638"/>
                    <a:gd name="T14" fmla="*/ 999 w 1956"/>
                    <a:gd name="T15" fmla="*/ 1402 h 1638"/>
                    <a:gd name="T16" fmla="*/ 999 w 1956"/>
                    <a:gd name="T17" fmla="*/ 1511 h 1638"/>
                    <a:gd name="T18" fmla="*/ 322 w 1956"/>
                    <a:gd name="T19" fmla="*/ 1511 h 1638"/>
                    <a:gd name="T20" fmla="*/ 307 w 1956"/>
                    <a:gd name="T21" fmla="*/ 1389 h 1638"/>
                    <a:gd name="connsiteX0" fmla="*/ 1570 w 10051"/>
                    <a:gd name="connsiteY0" fmla="*/ 7094 h 8614"/>
                    <a:gd name="connsiteX1" fmla="*/ 0 w 10051"/>
                    <a:gd name="connsiteY1" fmla="*/ 7082 h 8614"/>
                    <a:gd name="connsiteX2" fmla="*/ 0 w 10051"/>
                    <a:gd name="connsiteY2" fmla="*/ 8614 h 8614"/>
                    <a:gd name="connsiteX3" fmla="*/ 10000 w 10051"/>
                    <a:gd name="connsiteY3" fmla="*/ 8614 h 8614"/>
                    <a:gd name="connsiteX4" fmla="*/ 10051 w 10051"/>
                    <a:gd name="connsiteY4" fmla="*/ 0 h 8614"/>
                    <a:gd name="connsiteX5" fmla="*/ 4131 w 10051"/>
                    <a:gd name="connsiteY5" fmla="*/ 2106 h 8614"/>
                    <a:gd name="connsiteX6" fmla="*/ 4724 w 10051"/>
                    <a:gd name="connsiteY6" fmla="*/ 7198 h 8614"/>
                    <a:gd name="connsiteX7" fmla="*/ 5107 w 10051"/>
                    <a:gd name="connsiteY7" fmla="*/ 7173 h 8614"/>
                    <a:gd name="connsiteX8" fmla="*/ 5107 w 10051"/>
                    <a:gd name="connsiteY8" fmla="*/ 7839 h 8614"/>
                    <a:gd name="connsiteX9" fmla="*/ 1646 w 10051"/>
                    <a:gd name="connsiteY9" fmla="*/ 7839 h 8614"/>
                    <a:gd name="connsiteX10" fmla="*/ 1570 w 10051"/>
                    <a:gd name="connsiteY10" fmla="*/ 7094 h 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51" h="8614">
                      <a:moveTo>
                        <a:pt x="1570" y="7094"/>
                      </a:moveTo>
                      <a:lnTo>
                        <a:pt x="0" y="7082"/>
                      </a:lnTo>
                      <a:lnTo>
                        <a:pt x="0" y="8614"/>
                      </a:lnTo>
                      <a:lnTo>
                        <a:pt x="10000" y="8614"/>
                      </a:lnTo>
                      <a:cubicBezTo>
                        <a:pt x="10017" y="5743"/>
                        <a:pt x="10034" y="2871"/>
                        <a:pt x="10051" y="0"/>
                      </a:cubicBezTo>
                      <a:lnTo>
                        <a:pt x="4131" y="2106"/>
                      </a:lnTo>
                      <a:cubicBezTo>
                        <a:pt x="4329" y="3803"/>
                        <a:pt x="4526" y="5501"/>
                        <a:pt x="4724" y="7198"/>
                      </a:cubicBezTo>
                      <a:lnTo>
                        <a:pt x="5107" y="7173"/>
                      </a:lnTo>
                      <a:lnTo>
                        <a:pt x="5107" y="7839"/>
                      </a:lnTo>
                      <a:lnTo>
                        <a:pt x="1646" y="7839"/>
                      </a:lnTo>
                      <a:cubicBezTo>
                        <a:pt x="1621" y="7591"/>
                        <a:pt x="1595" y="7342"/>
                        <a:pt x="1570" y="7094"/>
                      </a:cubicBezTo>
                      <a:close/>
                    </a:path>
                  </a:pathLst>
                </a:custGeom>
                <a:pattFill prst="pct5">
                  <a:fgClr>
                    <a:schemeClr val="tx1"/>
                  </a:fgClr>
                  <a:bgClr>
                    <a:srgbClr val="F5D0AB"/>
                  </a:bgClr>
                </a:pattFill>
                <a:ln w="25400" cap="flat" cmpd="sng">
                  <a:noFill/>
                  <a:prstDash val="solid"/>
                  <a:round/>
                  <a:headEnd/>
                  <a:tailEnd/>
                </a:ln>
                <a:effectLst/>
                <a:extLst/>
              </p:spPr>
              <p:txBody>
                <a:bodyPr/>
                <a:lstStyle/>
                <a:p>
                  <a:endParaRPr lang="zh-CN" altLang="en-US"/>
                </a:p>
              </p:txBody>
            </p:sp>
            <p:grpSp>
              <p:nvGrpSpPr>
                <p:cNvPr id="116" name="Group 8"/>
                <p:cNvGrpSpPr>
                  <a:grpSpLocks/>
                </p:cNvGrpSpPr>
                <p:nvPr/>
              </p:nvGrpSpPr>
              <p:grpSpPr bwMode="auto">
                <a:xfrm>
                  <a:off x="785573" y="1848579"/>
                  <a:ext cx="774522" cy="1024045"/>
                  <a:chOff x="1413" y="928"/>
                  <a:chExt cx="741" cy="976"/>
                </a:xfrm>
              </p:grpSpPr>
              <p:sp>
                <p:nvSpPr>
                  <p:cNvPr id="118" name="Freeform 9"/>
                  <p:cNvSpPr>
                    <a:spLocks/>
                  </p:cNvSpPr>
                  <p:nvPr/>
                </p:nvSpPr>
                <p:spPr bwMode="auto">
                  <a:xfrm>
                    <a:off x="1413" y="928"/>
                    <a:ext cx="741" cy="976"/>
                  </a:xfrm>
                  <a:custGeom>
                    <a:avLst/>
                    <a:gdLst>
                      <a:gd name="T0" fmla="*/ 655 w 741"/>
                      <a:gd name="T1" fmla="*/ 819 h 976"/>
                      <a:gd name="T2" fmla="*/ 737 w 741"/>
                      <a:gd name="T3" fmla="*/ 819 h 976"/>
                      <a:gd name="T4" fmla="*/ 741 w 741"/>
                      <a:gd name="T5" fmla="*/ 976 h 976"/>
                      <a:gd name="T6" fmla="*/ 0 w 741"/>
                      <a:gd name="T7" fmla="*/ 976 h 976"/>
                      <a:gd name="T8" fmla="*/ 0 w 741"/>
                      <a:gd name="T9" fmla="*/ 811 h 976"/>
                      <a:gd name="T10" fmla="*/ 52 w 741"/>
                      <a:gd name="T11" fmla="*/ 811 h 976"/>
                      <a:gd name="T12" fmla="*/ 385 w 741"/>
                      <a:gd name="T13" fmla="*/ 0 h 976"/>
                      <a:gd name="T14" fmla="*/ 531 w 741"/>
                      <a:gd name="T15" fmla="*/ 0 h 976"/>
                      <a:gd name="T16" fmla="*/ 655 w 741"/>
                      <a:gd name="T17" fmla="*/ 819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1" h="976">
                        <a:moveTo>
                          <a:pt x="655" y="819"/>
                        </a:moveTo>
                        <a:lnTo>
                          <a:pt x="737" y="819"/>
                        </a:lnTo>
                        <a:lnTo>
                          <a:pt x="741" y="976"/>
                        </a:lnTo>
                        <a:lnTo>
                          <a:pt x="0" y="976"/>
                        </a:lnTo>
                        <a:lnTo>
                          <a:pt x="0" y="811"/>
                        </a:lnTo>
                        <a:lnTo>
                          <a:pt x="52" y="811"/>
                        </a:lnTo>
                        <a:lnTo>
                          <a:pt x="385" y="0"/>
                        </a:lnTo>
                        <a:lnTo>
                          <a:pt x="531" y="0"/>
                        </a:lnTo>
                        <a:lnTo>
                          <a:pt x="655" y="819"/>
                        </a:lnTo>
                        <a:close/>
                      </a:path>
                    </a:pathLst>
                  </a:custGeom>
                  <a:solidFill>
                    <a:srgbClr val="9999FF"/>
                  </a:soli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AutoShape 10"/>
                  <p:cNvSpPr>
                    <a:spLocks noChangeArrowheads="1"/>
                  </p:cNvSpPr>
                  <p:nvPr/>
                </p:nvSpPr>
                <p:spPr bwMode="auto">
                  <a:xfrm>
                    <a:off x="1655" y="148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AutoShape 11"/>
                  <p:cNvSpPr>
                    <a:spLocks noChangeArrowheads="1"/>
                  </p:cNvSpPr>
                  <p:nvPr/>
                </p:nvSpPr>
                <p:spPr bwMode="auto">
                  <a:xfrm>
                    <a:off x="1553" y="1506"/>
                    <a:ext cx="107" cy="80"/>
                  </a:xfrm>
                  <a:prstGeom prst="hexagon">
                    <a:avLst>
                      <a:gd name="adj" fmla="val 33438"/>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AutoShape 12"/>
                  <p:cNvSpPr>
                    <a:spLocks noChangeArrowheads="1"/>
                  </p:cNvSpPr>
                  <p:nvPr/>
                </p:nvSpPr>
                <p:spPr bwMode="auto">
                  <a:xfrm>
                    <a:off x="1814" y="1552"/>
                    <a:ext cx="214" cy="79"/>
                  </a:xfrm>
                  <a:prstGeom prst="hexagon">
                    <a:avLst>
                      <a:gd name="adj" fmla="val 67722"/>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AutoShape 13"/>
                  <p:cNvSpPr>
                    <a:spLocks noChangeArrowheads="1"/>
                  </p:cNvSpPr>
                  <p:nvPr/>
                </p:nvSpPr>
                <p:spPr bwMode="auto">
                  <a:xfrm>
                    <a:off x="1593" y="1578"/>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AutoShape 14"/>
                  <p:cNvSpPr>
                    <a:spLocks noChangeArrowheads="1"/>
                  </p:cNvSpPr>
                  <p:nvPr/>
                </p:nvSpPr>
                <p:spPr bwMode="auto">
                  <a:xfrm>
                    <a:off x="1796" y="165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AutoShape 15"/>
                  <p:cNvSpPr>
                    <a:spLocks noChangeArrowheads="1"/>
                  </p:cNvSpPr>
                  <p:nvPr/>
                </p:nvSpPr>
                <p:spPr bwMode="auto">
                  <a:xfrm>
                    <a:off x="1898" y="1786"/>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5" name="AutoShape 16"/>
                  <p:cNvSpPr>
                    <a:spLocks noChangeArrowheads="1"/>
                  </p:cNvSpPr>
                  <p:nvPr/>
                </p:nvSpPr>
                <p:spPr bwMode="auto">
                  <a:xfrm>
                    <a:off x="1678" y="1752"/>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 name="AutoShape 17"/>
                  <p:cNvSpPr>
                    <a:spLocks noChangeArrowheads="1"/>
                  </p:cNvSpPr>
                  <p:nvPr/>
                </p:nvSpPr>
                <p:spPr bwMode="auto">
                  <a:xfrm>
                    <a:off x="1826" y="1416"/>
                    <a:ext cx="179" cy="75"/>
                  </a:xfrm>
                  <a:prstGeom prst="hexagon">
                    <a:avLst>
                      <a:gd name="adj" fmla="val 59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AutoShape 18"/>
                  <p:cNvSpPr>
                    <a:spLocks noChangeArrowheads="1"/>
                  </p:cNvSpPr>
                  <p:nvPr/>
                </p:nvSpPr>
                <p:spPr bwMode="auto">
                  <a:xfrm>
                    <a:off x="1485" y="1698"/>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AutoShape 19"/>
                  <p:cNvSpPr>
                    <a:spLocks noChangeArrowheads="1"/>
                  </p:cNvSpPr>
                  <p:nvPr/>
                </p:nvSpPr>
                <p:spPr bwMode="auto">
                  <a:xfrm>
                    <a:off x="1487" y="1804"/>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Freeform 20"/>
                  <p:cNvSpPr>
                    <a:spLocks/>
                  </p:cNvSpPr>
                  <p:nvPr/>
                </p:nvSpPr>
                <p:spPr bwMode="auto">
                  <a:xfrm>
                    <a:off x="1686" y="1683"/>
                    <a:ext cx="141" cy="51"/>
                  </a:xfrm>
                  <a:custGeom>
                    <a:avLst/>
                    <a:gdLst>
                      <a:gd name="T0" fmla="*/ 0 w 141"/>
                      <a:gd name="T1" fmla="*/ 0 h 51"/>
                      <a:gd name="T2" fmla="*/ 90 w 141"/>
                      <a:gd name="T3" fmla="*/ 0 h 51"/>
                      <a:gd name="T4" fmla="*/ 141 w 141"/>
                      <a:gd name="T5" fmla="*/ 51 h 51"/>
                      <a:gd name="T6" fmla="*/ 48 w 141"/>
                      <a:gd name="T7" fmla="*/ 48 h 51"/>
                      <a:gd name="T8" fmla="*/ 0 w 141"/>
                      <a:gd name="T9" fmla="*/ 0 h 51"/>
                    </a:gdLst>
                    <a:ahLst/>
                    <a:cxnLst>
                      <a:cxn ang="0">
                        <a:pos x="T0" y="T1"/>
                      </a:cxn>
                      <a:cxn ang="0">
                        <a:pos x="T2" y="T3"/>
                      </a:cxn>
                      <a:cxn ang="0">
                        <a:pos x="T4" y="T5"/>
                      </a:cxn>
                      <a:cxn ang="0">
                        <a:pos x="T6" y="T7"/>
                      </a:cxn>
                      <a:cxn ang="0">
                        <a:pos x="T8" y="T9"/>
                      </a:cxn>
                    </a:cxnLst>
                    <a:rect l="0" t="0" r="r" b="b"/>
                    <a:pathLst>
                      <a:path w="141" h="51">
                        <a:moveTo>
                          <a:pt x="0" y="0"/>
                        </a:moveTo>
                        <a:lnTo>
                          <a:pt x="90" y="0"/>
                        </a:lnTo>
                        <a:lnTo>
                          <a:pt x="141" y="51"/>
                        </a:lnTo>
                        <a:lnTo>
                          <a:pt x="48" y="48"/>
                        </a:lnTo>
                        <a:lnTo>
                          <a:pt x="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Freeform 21"/>
                  <p:cNvSpPr>
                    <a:spLocks/>
                  </p:cNvSpPr>
                  <p:nvPr/>
                </p:nvSpPr>
                <p:spPr bwMode="auto">
                  <a:xfrm>
                    <a:off x="1506" y="1605"/>
                    <a:ext cx="123" cy="84"/>
                  </a:xfrm>
                  <a:custGeom>
                    <a:avLst/>
                    <a:gdLst>
                      <a:gd name="T0" fmla="*/ 45 w 123"/>
                      <a:gd name="T1" fmla="*/ 0 h 84"/>
                      <a:gd name="T2" fmla="*/ 0 w 123"/>
                      <a:gd name="T3" fmla="*/ 81 h 84"/>
                      <a:gd name="T4" fmla="*/ 102 w 123"/>
                      <a:gd name="T5" fmla="*/ 84 h 84"/>
                      <a:gd name="T6" fmla="*/ 123 w 123"/>
                      <a:gd name="T7" fmla="*/ 63 h 84"/>
                      <a:gd name="T8" fmla="*/ 45 w 123"/>
                      <a:gd name="T9" fmla="*/ 0 h 84"/>
                    </a:gdLst>
                    <a:ahLst/>
                    <a:cxnLst>
                      <a:cxn ang="0">
                        <a:pos x="T0" y="T1"/>
                      </a:cxn>
                      <a:cxn ang="0">
                        <a:pos x="T2" y="T3"/>
                      </a:cxn>
                      <a:cxn ang="0">
                        <a:pos x="T4" y="T5"/>
                      </a:cxn>
                      <a:cxn ang="0">
                        <a:pos x="T6" y="T7"/>
                      </a:cxn>
                      <a:cxn ang="0">
                        <a:pos x="T8" y="T9"/>
                      </a:cxn>
                    </a:cxnLst>
                    <a:rect l="0" t="0" r="r" b="b"/>
                    <a:pathLst>
                      <a:path w="123" h="84">
                        <a:moveTo>
                          <a:pt x="45" y="0"/>
                        </a:moveTo>
                        <a:lnTo>
                          <a:pt x="0" y="81"/>
                        </a:lnTo>
                        <a:lnTo>
                          <a:pt x="102" y="84"/>
                        </a:lnTo>
                        <a:lnTo>
                          <a:pt x="123" y="63"/>
                        </a:lnTo>
                        <a:lnTo>
                          <a:pt x="45"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 name="Freeform 22"/>
                  <p:cNvSpPr>
                    <a:spLocks/>
                  </p:cNvSpPr>
                  <p:nvPr/>
                </p:nvSpPr>
                <p:spPr bwMode="auto">
                  <a:xfrm>
                    <a:off x="1716" y="1854"/>
                    <a:ext cx="237" cy="39"/>
                  </a:xfrm>
                  <a:custGeom>
                    <a:avLst/>
                    <a:gdLst>
                      <a:gd name="T0" fmla="*/ 0 w 237"/>
                      <a:gd name="T1" fmla="*/ 39 h 39"/>
                      <a:gd name="T2" fmla="*/ 51 w 237"/>
                      <a:gd name="T3" fmla="*/ 0 h 39"/>
                      <a:gd name="T4" fmla="*/ 171 w 237"/>
                      <a:gd name="T5" fmla="*/ 0 h 39"/>
                      <a:gd name="T6" fmla="*/ 237 w 237"/>
                      <a:gd name="T7" fmla="*/ 36 h 39"/>
                      <a:gd name="T8" fmla="*/ 0 w 237"/>
                      <a:gd name="T9" fmla="*/ 39 h 39"/>
                    </a:gdLst>
                    <a:ahLst/>
                    <a:cxnLst>
                      <a:cxn ang="0">
                        <a:pos x="T0" y="T1"/>
                      </a:cxn>
                      <a:cxn ang="0">
                        <a:pos x="T2" y="T3"/>
                      </a:cxn>
                      <a:cxn ang="0">
                        <a:pos x="T4" y="T5"/>
                      </a:cxn>
                      <a:cxn ang="0">
                        <a:pos x="T6" y="T7"/>
                      </a:cxn>
                      <a:cxn ang="0">
                        <a:pos x="T8" y="T9"/>
                      </a:cxn>
                    </a:cxnLst>
                    <a:rect l="0" t="0" r="r" b="b"/>
                    <a:pathLst>
                      <a:path w="237" h="39">
                        <a:moveTo>
                          <a:pt x="0" y="39"/>
                        </a:moveTo>
                        <a:lnTo>
                          <a:pt x="51" y="0"/>
                        </a:lnTo>
                        <a:lnTo>
                          <a:pt x="171" y="0"/>
                        </a:lnTo>
                        <a:lnTo>
                          <a:pt x="237" y="36"/>
                        </a:lnTo>
                        <a:lnTo>
                          <a:pt x="0" y="39"/>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 name="Freeform 23"/>
                  <p:cNvSpPr>
                    <a:spLocks/>
                  </p:cNvSpPr>
                  <p:nvPr/>
                </p:nvSpPr>
                <p:spPr bwMode="auto">
                  <a:xfrm>
                    <a:off x="1908" y="1488"/>
                    <a:ext cx="108" cy="57"/>
                  </a:xfrm>
                  <a:custGeom>
                    <a:avLst/>
                    <a:gdLst>
                      <a:gd name="T0" fmla="*/ 9 w 108"/>
                      <a:gd name="T1" fmla="*/ 18 h 57"/>
                      <a:gd name="T2" fmla="*/ 0 w 108"/>
                      <a:gd name="T3" fmla="*/ 54 h 57"/>
                      <a:gd name="T4" fmla="*/ 108 w 108"/>
                      <a:gd name="T5" fmla="*/ 57 h 57"/>
                      <a:gd name="T6" fmla="*/ 99 w 108"/>
                      <a:gd name="T7" fmla="*/ 0 h 57"/>
                      <a:gd name="T8" fmla="*/ 9 w 108"/>
                      <a:gd name="T9" fmla="*/ 18 h 57"/>
                    </a:gdLst>
                    <a:ahLst/>
                    <a:cxnLst>
                      <a:cxn ang="0">
                        <a:pos x="T0" y="T1"/>
                      </a:cxn>
                      <a:cxn ang="0">
                        <a:pos x="T2" y="T3"/>
                      </a:cxn>
                      <a:cxn ang="0">
                        <a:pos x="T4" y="T5"/>
                      </a:cxn>
                      <a:cxn ang="0">
                        <a:pos x="T6" y="T7"/>
                      </a:cxn>
                      <a:cxn ang="0">
                        <a:pos x="T8" y="T9"/>
                      </a:cxn>
                    </a:cxnLst>
                    <a:rect l="0" t="0" r="r" b="b"/>
                    <a:pathLst>
                      <a:path w="108" h="57">
                        <a:moveTo>
                          <a:pt x="9" y="18"/>
                        </a:moveTo>
                        <a:lnTo>
                          <a:pt x="0" y="54"/>
                        </a:lnTo>
                        <a:lnTo>
                          <a:pt x="108" y="57"/>
                        </a:lnTo>
                        <a:lnTo>
                          <a:pt x="99" y="0"/>
                        </a:lnTo>
                        <a:lnTo>
                          <a:pt x="9" y="18"/>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 name="Freeform 24"/>
                  <p:cNvSpPr>
                    <a:spLocks/>
                  </p:cNvSpPr>
                  <p:nvPr/>
                </p:nvSpPr>
                <p:spPr bwMode="auto">
                  <a:xfrm>
                    <a:off x="1437" y="1758"/>
                    <a:ext cx="102" cy="90"/>
                  </a:xfrm>
                  <a:custGeom>
                    <a:avLst/>
                    <a:gdLst>
                      <a:gd name="T0" fmla="*/ 39 w 102"/>
                      <a:gd name="T1" fmla="*/ 0 h 90"/>
                      <a:gd name="T2" fmla="*/ 102 w 102"/>
                      <a:gd name="T3" fmla="*/ 39 h 90"/>
                      <a:gd name="T4" fmla="*/ 33 w 102"/>
                      <a:gd name="T5" fmla="*/ 90 h 90"/>
                      <a:gd name="T6" fmla="*/ 0 w 102"/>
                      <a:gd name="T7" fmla="*/ 69 h 90"/>
                      <a:gd name="T8" fmla="*/ 3 w 102"/>
                      <a:gd name="T9" fmla="*/ 9 h 90"/>
                      <a:gd name="T10" fmla="*/ 39 w 102"/>
                      <a:gd name="T11" fmla="*/ 0 h 90"/>
                    </a:gdLst>
                    <a:ahLst/>
                    <a:cxnLst>
                      <a:cxn ang="0">
                        <a:pos x="T0" y="T1"/>
                      </a:cxn>
                      <a:cxn ang="0">
                        <a:pos x="T2" y="T3"/>
                      </a:cxn>
                      <a:cxn ang="0">
                        <a:pos x="T4" y="T5"/>
                      </a:cxn>
                      <a:cxn ang="0">
                        <a:pos x="T6" y="T7"/>
                      </a:cxn>
                      <a:cxn ang="0">
                        <a:pos x="T8" y="T9"/>
                      </a:cxn>
                      <a:cxn ang="0">
                        <a:pos x="T10" y="T11"/>
                      </a:cxn>
                    </a:cxnLst>
                    <a:rect l="0" t="0" r="r" b="b"/>
                    <a:pathLst>
                      <a:path w="102" h="90">
                        <a:moveTo>
                          <a:pt x="39" y="0"/>
                        </a:moveTo>
                        <a:lnTo>
                          <a:pt x="102" y="39"/>
                        </a:lnTo>
                        <a:lnTo>
                          <a:pt x="33" y="90"/>
                        </a:lnTo>
                        <a:lnTo>
                          <a:pt x="0" y="69"/>
                        </a:lnTo>
                        <a:lnTo>
                          <a:pt x="3" y="9"/>
                        </a:lnTo>
                        <a:lnTo>
                          <a:pt x="39"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 name="Freeform 25"/>
                  <p:cNvSpPr>
                    <a:spLocks/>
                  </p:cNvSpPr>
                  <p:nvPr/>
                </p:nvSpPr>
                <p:spPr bwMode="auto">
                  <a:xfrm>
                    <a:off x="1434" y="1839"/>
                    <a:ext cx="90" cy="54"/>
                  </a:xfrm>
                  <a:custGeom>
                    <a:avLst/>
                    <a:gdLst>
                      <a:gd name="T0" fmla="*/ 0 w 90"/>
                      <a:gd name="T1" fmla="*/ 0 h 54"/>
                      <a:gd name="T2" fmla="*/ 6 w 90"/>
                      <a:gd name="T3" fmla="*/ 51 h 54"/>
                      <a:gd name="T4" fmla="*/ 90 w 90"/>
                      <a:gd name="T5" fmla="*/ 54 h 54"/>
                      <a:gd name="T6" fmla="*/ 0 w 90"/>
                      <a:gd name="T7" fmla="*/ 0 h 54"/>
                    </a:gdLst>
                    <a:ahLst/>
                    <a:cxnLst>
                      <a:cxn ang="0">
                        <a:pos x="T0" y="T1"/>
                      </a:cxn>
                      <a:cxn ang="0">
                        <a:pos x="T2" y="T3"/>
                      </a:cxn>
                      <a:cxn ang="0">
                        <a:pos x="T4" y="T5"/>
                      </a:cxn>
                      <a:cxn ang="0">
                        <a:pos x="T6" y="T7"/>
                      </a:cxn>
                    </a:cxnLst>
                    <a:rect l="0" t="0" r="r" b="b"/>
                    <a:pathLst>
                      <a:path w="90" h="54">
                        <a:moveTo>
                          <a:pt x="0" y="0"/>
                        </a:moveTo>
                        <a:lnTo>
                          <a:pt x="6" y="51"/>
                        </a:lnTo>
                        <a:lnTo>
                          <a:pt x="90" y="54"/>
                        </a:lnTo>
                        <a:lnTo>
                          <a:pt x="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 name="AutoShape 26"/>
                  <p:cNvSpPr>
                    <a:spLocks noChangeArrowheads="1"/>
                  </p:cNvSpPr>
                  <p:nvPr/>
                </p:nvSpPr>
                <p:spPr bwMode="auto">
                  <a:xfrm>
                    <a:off x="1615" y="1389"/>
                    <a:ext cx="214" cy="84"/>
                  </a:xfrm>
                  <a:prstGeom prst="hexagon">
                    <a:avLst>
                      <a:gd name="adj" fmla="val 63690"/>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 name="AutoShape 27"/>
                  <p:cNvSpPr>
                    <a:spLocks noChangeArrowheads="1"/>
                  </p:cNvSpPr>
                  <p:nvPr/>
                </p:nvSpPr>
                <p:spPr bwMode="auto">
                  <a:xfrm>
                    <a:off x="1757" y="1320"/>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 name="AutoShape 28"/>
                  <p:cNvSpPr>
                    <a:spLocks noChangeArrowheads="1"/>
                  </p:cNvSpPr>
                  <p:nvPr/>
                </p:nvSpPr>
                <p:spPr bwMode="auto">
                  <a:xfrm>
                    <a:off x="1660" y="1290"/>
                    <a:ext cx="151" cy="59"/>
                  </a:xfrm>
                  <a:prstGeom prst="hexagon">
                    <a:avLst>
                      <a:gd name="adj" fmla="val 63983"/>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 name="Freeform 29"/>
                  <p:cNvSpPr>
                    <a:spLocks/>
                  </p:cNvSpPr>
                  <p:nvPr/>
                </p:nvSpPr>
                <p:spPr bwMode="auto">
                  <a:xfrm>
                    <a:off x="1641" y="1347"/>
                    <a:ext cx="120" cy="30"/>
                  </a:xfrm>
                  <a:custGeom>
                    <a:avLst/>
                    <a:gdLst>
                      <a:gd name="T0" fmla="*/ 9 w 120"/>
                      <a:gd name="T1" fmla="*/ 0 h 30"/>
                      <a:gd name="T2" fmla="*/ 42 w 120"/>
                      <a:gd name="T3" fmla="*/ 6 h 30"/>
                      <a:gd name="T4" fmla="*/ 120 w 120"/>
                      <a:gd name="T5" fmla="*/ 9 h 30"/>
                      <a:gd name="T6" fmla="*/ 114 w 120"/>
                      <a:gd name="T7" fmla="*/ 30 h 30"/>
                      <a:gd name="T8" fmla="*/ 0 w 120"/>
                      <a:gd name="T9" fmla="*/ 30 h 30"/>
                      <a:gd name="T10" fmla="*/ 9 w 120"/>
                      <a:gd name="T11" fmla="*/ 0 h 30"/>
                    </a:gdLst>
                    <a:ahLst/>
                    <a:cxnLst>
                      <a:cxn ang="0">
                        <a:pos x="T0" y="T1"/>
                      </a:cxn>
                      <a:cxn ang="0">
                        <a:pos x="T2" y="T3"/>
                      </a:cxn>
                      <a:cxn ang="0">
                        <a:pos x="T4" y="T5"/>
                      </a:cxn>
                      <a:cxn ang="0">
                        <a:pos x="T6" y="T7"/>
                      </a:cxn>
                      <a:cxn ang="0">
                        <a:pos x="T8" y="T9"/>
                      </a:cxn>
                      <a:cxn ang="0">
                        <a:pos x="T10" y="T11"/>
                      </a:cxn>
                    </a:cxnLst>
                    <a:rect l="0" t="0" r="r" b="b"/>
                    <a:pathLst>
                      <a:path w="120" h="30">
                        <a:moveTo>
                          <a:pt x="9" y="0"/>
                        </a:moveTo>
                        <a:lnTo>
                          <a:pt x="42" y="6"/>
                        </a:lnTo>
                        <a:lnTo>
                          <a:pt x="120" y="9"/>
                        </a:lnTo>
                        <a:lnTo>
                          <a:pt x="114" y="30"/>
                        </a:lnTo>
                        <a:lnTo>
                          <a:pt x="0" y="30"/>
                        </a:lnTo>
                        <a:lnTo>
                          <a:pt x="9"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 name="AutoShape 30"/>
                  <p:cNvSpPr>
                    <a:spLocks noChangeArrowheads="1"/>
                  </p:cNvSpPr>
                  <p:nvPr/>
                </p:nvSpPr>
                <p:spPr bwMode="auto">
                  <a:xfrm>
                    <a:off x="1740" y="1212"/>
                    <a:ext cx="240" cy="90"/>
                  </a:xfrm>
                  <a:prstGeom prst="hexagon">
                    <a:avLst>
                      <a:gd name="adj" fmla="val 6666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AutoShape 31"/>
                  <p:cNvSpPr>
                    <a:spLocks noChangeArrowheads="1"/>
                  </p:cNvSpPr>
                  <p:nvPr/>
                </p:nvSpPr>
                <p:spPr bwMode="auto">
                  <a:xfrm>
                    <a:off x="1767" y="1122"/>
                    <a:ext cx="179" cy="80"/>
                  </a:xfrm>
                  <a:prstGeom prst="hexagon">
                    <a:avLst>
                      <a:gd name="adj" fmla="val 5593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Freeform 32"/>
                  <p:cNvSpPr>
                    <a:spLocks/>
                  </p:cNvSpPr>
                  <p:nvPr/>
                </p:nvSpPr>
                <p:spPr bwMode="auto">
                  <a:xfrm>
                    <a:off x="1934" y="1274"/>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Freeform 33"/>
                  <p:cNvSpPr>
                    <a:spLocks noChangeAspect="1"/>
                  </p:cNvSpPr>
                  <p:nvPr/>
                </p:nvSpPr>
                <p:spPr bwMode="auto">
                  <a:xfrm>
                    <a:off x="1953" y="1376"/>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Freeform 34"/>
                  <p:cNvSpPr>
                    <a:spLocks noChangeAspect="1"/>
                  </p:cNvSpPr>
                  <p:nvPr/>
                </p:nvSpPr>
                <p:spPr bwMode="auto">
                  <a:xfrm>
                    <a:off x="1984" y="1610"/>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 name="Freeform 35"/>
                  <p:cNvSpPr>
                    <a:spLocks noChangeAspect="1"/>
                  </p:cNvSpPr>
                  <p:nvPr/>
                </p:nvSpPr>
                <p:spPr bwMode="auto">
                  <a:xfrm>
                    <a:off x="2082" y="1755"/>
                    <a:ext cx="50" cy="66"/>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 name="Freeform 36"/>
                  <p:cNvSpPr>
                    <a:spLocks/>
                  </p:cNvSpPr>
                  <p:nvPr/>
                </p:nvSpPr>
                <p:spPr bwMode="auto">
                  <a:xfrm>
                    <a:off x="1915" y="1162"/>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Freeform 37"/>
                  <p:cNvSpPr>
                    <a:spLocks noChangeAspect="1"/>
                  </p:cNvSpPr>
                  <p:nvPr/>
                </p:nvSpPr>
                <p:spPr bwMode="auto">
                  <a:xfrm>
                    <a:off x="1695" y="1149"/>
                    <a:ext cx="100" cy="68"/>
                  </a:xfrm>
                  <a:custGeom>
                    <a:avLst/>
                    <a:gdLst>
                      <a:gd name="T0" fmla="*/ 45 w 123"/>
                      <a:gd name="T1" fmla="*/ 0 h 84"/>
                      <a:gd name="T2" fmla="*/ 0 w 123"/>
                      <a:gd name="T3" fmla="*/ 81 h 84"/>
                      <a:gd name="T4" fmla="*/ 102 w 123"/>
                      <a:gd name="T5" fmla="*/ 84 h 84"/>
                      <a:gd name="T6" fmla="*/ 123 w 123"/>
                      <a:gd name="T7" fmla="*/ 63 h 84"/>
                      <a:gd name="T8" fmla="*/ 45 w 123"/>
                      <a:gd name="T9" fmla="*/ 0 h 84"/>
                    </a:gdLst>
                    <a:ahLst/>
                    <a:cxnLst>
                      <a:cxn ang="0">
                        <a:pos x="T0" y="T1"/>
                      </a:cxn>
                      <a:cxn ang="0">
                        <a:pos x="T2" y="T3"/>
                      </a:cxn>
                      <a:cxn ang="0">
                        <a:pos x="T4" y="T5"/>
                      </a:cxn>
                      <a:cxn ang="0">
                        <a:pos x="T6" y="T7"/>
                      </a:cxn>
                      <a:cxn ang="0">
                        <a:pos x="T8" y="T9"/>
                      </a:cxn>
                    </a:cxnLst>
                    <a:rect l="0" t="0" r="r" b="b"/>
                    <a:pathLst>
                      <a:path w="123" h="84">
                        <a:moveTo>
                          <a:pt x="45" y="0"/>
                        </a:moveTo>
                        <a:lnTo>
                          <a:pt x="0" y="81"/>
                        </a:lnTo>
                        <a:lnTo>
                          <a:pt x="102" y="84"/>
                        </a:lnTo>
                        <a:lnTo>
                          <a:pt x="123" y="63"/>
                        </a:lnTo>
                        <a:lnTo>
                          <a:pt x="45"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 name="Freeform 38"/>
                  <p:cNvSpPr>
                    <a:spLocks/>
                  </p:cNvSpPr>
                  <p:nvPr/>
                </p:nvSpPr>
                <p:spPr bwMode="auto">
                  <a:xfrm>
                    <a:off x="1944" y="1718"/>
                    <a:ext cx="114" cy="60"/>
                  </a:xfrm>
                  <a:custGeom>
                    <a:avLst/>
                    <a:gdLst>
                      <a:gd name="T0" fmla="*/ 82 w 114"/>
                      <a:gd name="T1" fmla="*/ 0 h 60"/>
                      <a:gd name="T2" fmla="*/ 38 w 114"/>
                      <a:gd name="T3" fmla="*/ 32 h 60"/>
                      <a:gd name="T4" fmla="*/ 0 w 114"/>
                      <a:gd name="T5" fmla="*/ 60 h 60"/>
                      <a:gd name="T6" fmla="*/ 114 w 114"/>
                      <a:gd name="T7" fmla="*/ 58 h 60"/>
                      <a:gd name="T8" fmla="*/ 82 w 114"/>
                      <a:gd name="T9" fmla="*/ 0 h 60"/>
                    </a:gdLst>
                    <a:ahLst/>
                    <a:cxnLst>
                      <a:cxn ang="0">
                        <a:pos x="T0" y="T1"/>
                      </a:cxn>
                      <a:cxn ang="0">
                        <a:pos x="T2" y="T3"/>
                      </a:cxn>
                      <a:cxn ang="0">
                        <a:pos x="T4" y="T5"/>
                      </a:cxn>
                      <a:cxn ang="0">
                        <a:pos x="T6" y="T7"/>
                      </a:cxn>
                      <a:cxn ang="0">
                        <a:pos x="T8" y="T9"/>
                      </a:cxn>
                    </a:cxnLst>
                    <a:rect l="0" t="0" r="r" b="b"/>
                    <a:pathLst>
                      <a:path w="114" h="60">
                        <a:moveTo>
                          <a:pt x="82" y="0"/>
                        </a:moveTo>
                        <a:lnTo>
                          <a:pt x="38" y="32"/>
                        </a:lnTo>
                        <a:lnTo>
                          <a:pt x="0" y="60"/>
                        </a:lnTo>
                        <a:lnTo>
                          <a:pt x="114" y="58"/>
                        </a:lnTo>
                        <a:lnTo>
                          <a:pt x="82"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 name="Freeform 39"/>
                  <p:cNvSpPr>
                    <a:spLocks/>
                  </p:cNvSpPr>
                  <p:nvPr/>
                </p:nvSpPr>
                <p:spPr bwMode="auto">
                  <a:xfrm>
                    <a:off x="1668" y="1222"/>
                    <a:ext cx="92" cy="66"/>
                  </a:xfrm>
                  <a:custGeom>
                    <a:avLst/>
                    <a:gdLst>
                      <a:gd name="T0" fmla="*/ 92 w 92"/>
                      <a:gd name="T1" fmla="*/ 0 h 66"/>
                      <a:gd name="T2" fmla="*/ 30 w 92"/>
                      <a:gd name="T3" fmla="*/ 0 h 66"/>
                      <a:gd name="T4" fmla="*/ 0 w 92"/>
                      <a:gd name="T5" fmla="*/ 66 h 66"/>
                      <a:gd name="T6" fmla="*/ 64 w 92"/>
                      <a:gd name="T7" fmla="*/ 56 h 66"/>
                      <a:gd name="T8" fmla="*/ 92 w 92"/>
                      <a:gd name="T9" fmla="*/ 0 h 66"/>
                    </a:gdLst>
                    <a:ahLst/>
                    <a:cxnLst>
                      <a:cxn ang="0">
                        <a:pos x="T0" y="T1"/>
                      </a:cxn>
                      <a:cxn ang="0">
                        <a:pos x="T2" y="T3"/>
                      </a:cxn>
                      <a:cxn ang="0">
                        <a:pos x="T4" y="T5"/>
                      </a:cxn>
                      <a:cxn ang="0">
                        <a:pos x="T6" y="T7"/>
                      </a:cxn>
                      <a:cxn ang="0">
                        <a:pos x="T8" y="T9"/>
                      </a:cxn>
                    </a:cxnLst>
                    <a:rect l="0" t="0" r="r" b="b"/>
                    <a:pathLst>
                      <a:path w="92" h="66">
                        <a:moveTo>
                          <a:pt x="92" y="0"/>
                        </a:moveTo>
                        <a:lnTo>
                          <a:pt x="30" y="0"/>
                        </a:lnTo>
                        <a:lnTo>
                          <a:pt x="0" y="66"/>
                        </a:lnTo>
                        <a:lnTo>
                          <a:pt x="64" y="56"/>
                        </a:lnTo>
                        <a:lnTo>
                          <a:pt x="92"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 name="Freeform 40"/>
                  <p:cNvSpPr>
                    <a:spLocks/>
                  </p:cNvSpPr>
                  <p:nvPr/>
                </p:nvSpPr>
                <p:spPr bwMode="auto">
                  <a:xfrm>
                    <a:off x="1588" y="1448"/>
                    <a:ext cx="98" cy="60"/>
                  </a:xfrm>
                  <a:custGeom>
                    <a:avLst/>
                    <a:gdLst>
                      <a:gd name="T0" fmla="*/ 98 w 98"/>
                      <a:gd name="T1" fmla="*/ 38 h 60"/>
                      <a:gd name="T2" fmla="*/ 74 w 98"/>
                      <a:gd name="T3" fmla="*/ 60 h 60"/>
                      <a:gd name="T4" fmla="*/ 42 w 98"/>
                      <a:gd name="T5" fmla="*/ 48 h 60"/>
                      <a:gd name="T6" fmla="*/ 0 w 98"/>
                      <a:gd name="T7" fmla="*/ 48 h 60"/>
                      <a:gd name="T8" fmla="*/ 18 w 98"/>
                      <a:gd name="T9" fmla="*/ 0 h 60"/>
                      <a:gd name="T10" fmla="*/ 98 w 98"/>
                      <a:gd name="T11" fmla="*/ 38 h 60"/>
                    </a:gdLst>
                    <a:ahLst/>
                    <a:cxnLst>
                      <a:cxn ang="0">
                        <a:pos x="T0" y="T1"/>
                      </a:cxn>
                      <a:cxn ang="0">
                        <a:pos x="T2" y="T3"/>
                      </a:cxn>
                      <a:cxn ang="0">
                        <a:pos x="T4" y="T5"/>
                      </a:cxn>
                      <a:cxn ang="0">
                        <a:pos x="T6" y="T7"/>
                      </a:cxn>
                      <a:cxn ang="0">
                        <a:pos x="T8" y="T9"/>
                      </a:cxn>
                      <a:cxn ang="0">
                        <a:pos x="T10" y="T11"/>
                      </a:cxn>
                    </a:cxnLst>
                    <a:rect l="0" t="0" r="r" b="b"/>
                    <a:pathLst>
                      <a:path w="98" h="60">
                        <a:moveTo>
                          <a:pt x="98" y="38"/>
                        </a:moveTo>
                        <a:lnTo>
                          <a:pt x="74" y="60"/>
                        </a:lnTo>
                        <a:lnTo>
                          <a:pt x="42" y="48"/>
                        </a:lnTo>
                        <a:lnTo>
                          <a:pt x="0" y="48"/>
                        </a:lnTo>
                        <a:lnTo>
                          <a:pt x="18" y="0"/>
                        </a:lnTo>
                        <a:lnTo>
                          <a:pt x="98" y="38"/>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AutoShape 41"/>
                  <p:cNvSpPr>
                    <a:spLocks noChangeArrowheads="1"/>
                  </p:cNvSpPr>
                  <p:nvPr/>
                </p:nvSpPr>
                <p:spPr bwMode="auto">
                  <a:xfrm>
                    <a:off x="1754" y="1024"/>
                    <a:ext cx="196" cy="90"/>
                  </a:xfrm>
                  <a:prstGeom prst="hexagon">
                    <a:avLst>
                      <a:gd name="adj" fmla="val 54444"/>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1" name="Freeform 42"/>
                  <p:cNvSpPr>
                    <a:spLocks/>
                  </p:cNvSpPr>
                  <p:nvPr/>
                </p:nvSpPr>
                <p:spPr bwMode="auto">
                  <a:xfrm>
                    <a:off x="1905" y="1084"/>
                    <a:ext cx="60" cy="80"/>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Freeform 43"/>
                  <p:cNvSpPr>
                    <a:spLocks/>
                  </p:cNvSpPr>
                  <p:nvPr/>
                </p:nvSpPr>
                <p:spPr bwMode="auto">
                  <a:xfrm>
                    <a:off x="1730" y="1086"/>
                    <a:ext cx="70" cy="72"/>
                  </a:xfrm>
                  <a:custGeom>
                    <a:avLst/>
                    <a:gdLst>
                      <a:gd name="T0" fmla="*/ 26 w 70"/>
                      <a:gd name="T1" fmla="*/ 0 h 72"/>
                      <a:gd name="T2" fmla="*/ 0 w 70"/>
                      <a:gd name="T3" fmla="*/ 54 h 72"/>
                      <a:gd name="T4" fmla="*/ 28 w 70"/>
                      <a:gd name="T5" fmla="*/ 72 h 72"/>
                      <a:gd name="T6" fmla="*/ 70 w 70"/>
                      <a:gd name="T7" fmla="*/ 36 h 72"/>
                      <a:gd name="T8" fmla="*/ 26 w 70"/>
                      <a:gd name="T9" fmla="*/ 0 h 72"/>
                    </a:gdLst>
                    <a:ahLst/>
                    <a:cxnLst>
                      <a:cxn ang="0">
                        <a:pos x="T0" y="T1"/>
                      </a:cxn>
                      <a:cxn ang="0">
                        <a:pos x="T2" y="T3"/>
                      </a:cxn>
                      <a:cxn ang="0">
                        <a:pos x="T4" y="T5"/>
                      </a:cxn>
                      <a:cxn ang="0">
                        <a:pos x="T6" y="T7"/>
                      </a:cxn>
                      <a:cxn ang="0">
                        <a:pos x="T8" y="T9"/>
                      </a:cxn>
                    </a:cxnLst>
                    <a:rect l="0" t="0" r="r" b="b"/>
                    <a:pathLst>
                      <a:path w="70" h="72">
                        <a:moveTo>
                          <a:pt x="26" y="0"/>
                        </a:moveTo>
                        <a:lnTo>
                          <a:pt x="0" y="54"/>
                        </a:lnTo>
                        <a:lnTo>
                          <a:pt x="28" y="72"/>
                        </a:lnTo>
                        <a:lnTo>
                          <a:pt x="70" y="36"/>
                        </a:lnTo>
                        <a:lnTo>
                          <a:pt x="26"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AutoShape 44"/>
                  <p:cNvSpPr>
                    <a:spLocks noChangeArrowheads="1"/>
                  </p:cNvSpPr>
                  <p:nvPr/>
                </p:nvSpPr>
                <p:spPr bwMode="auto">
                  <a:xfrm>
                    <a:off x="1789" y="946"/>
                    <a:ext cx="145" cy="72"/>
                  </a:xfrm>
                  <a:prstGeom prst="hexagon">
                    <a:avLst>
                      <a:gd name="adj" fmla="val 50347"/>
                      <a:gd name="vf" fmla="val 115470"/>
                    </a:avLst>
                  </a:prstGeom>
                  <a:gradFill rotWithShape="1">
                    <a:gsLst>
                      <a:gs pos="0">
                        <a:srgbClr val="FFFF99"/>
                      </a:gs>
                      <a:gs pos="100000">
                        <a:srgbClr val="FFFF99">
                          <a:gamma/>
                          <a:shade val="46275"/>
                          <a:invGamma/>
                        </a:srgbClr>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Freeform 45"/>
                  <p:cNvSpPr>
                    <a:spLocks noChangeAspect="1"/>
                  </p:cNvSpPr>
                  <p:nvPr/>
                </p:nvSpPr>
                <p:spPr bwMode="auto">
                  <a:xfrm>
                    <a:off x="1898" y="989"/>
                    <a:ext cx="55" cy="73"/>
                  </a:xfrm>
                  <a:custGeom>
                    <a:avLst/>
                    <a:gdLst>
                      <a:gd name="T0" fmla="*/ 40 w 60"/>
                      <a:gd name="T1" fmla="*/ 0 h 80"/>
                      <a:gd name="T2" fmla="*/ 0 w 60"/>
                      <a:gd name="T3" fmla="*/ 32 h 80"/>
                      <a:gd name="T4" fmla="*/ 60 w 60"/>
                      <a:gd name="T5" fmla="*/ 80 h 80"/>
                      <a:gd name="T6" fmla="*/ 40 w 60"/>
                      <a:gd name="T7" fmla="*/ 0 h 80"/>
                    </a:gdLst>
                    <a:ahLst/>
                    <a:cxnLst>
                      <a:cxn ang="0">
                        <a:pos x="T0" y="T1"/>
                      </a:cxn>
                      <a:cxn ang="0">
                        <a:pos x="T2" y="T3"/>
                      </a:cxn>
                      <a:cxn ang="0">
                        <a:pos x="T4" y="T5"/>
                      </a:cxn>
                      <a:cxn ang="0">
                        <a:pos x="T6" y="T7"/>
                      </a:cxn>
                    </a:cxnLst>
                    <a:rect l="0" t="0" r="r" b="b"/>
                    <a:pathLst>
                      <a:path w="60" h="80">
                        <a:moveTo>
                          <a:pt x="40" y="0"/>
                        </a:moveTo>
                        <a:lnTo>
                          <a:pt x="0" y="32"/>
                        </a:lnTo>
                        <a:lnTo>
                          <a:pt x="60" y="80"/>
                        </a:lnTo>
                        <a:lnTo>
                          <a:pt x="40"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Freeform 46"/>
                  <p:cNvSpPr>
                    <a:spLocks/>
                  </p:cNvSpPr>
                  <p:nvPr/>
                </p:nvSpPr>
                <p:spPr bwMode="auto">
                  <a:xfrm>
                    <a:off x="1764" y="981"/>
                    <a:ext cx="48" cy="75"/>
                  </a:xfrm>
                  <a:custGeom>
                    <a:avLst/>
                    <a:gdLst>
                      <a:gd name="T0" fmla="*/ 27 w 48"/>
                      <a:gd name="T1" fmla="*/ 0 h 75"/>
                      <a:gd name="T2" fmla="*/ 48 w 48"/>
                      <a:gd name="T3" fmla="*/ 33 h 75"/>
                      <a:gd name="T4" fmla="*/ 0 w 48"/>
                      <a:gd name="T5" fmla="*/ 75 h 75"/>
                      <a:gd name="T6" fmla="*/ 27 w 48"/>
                      <a:gd name="T7" fmla="*/ 0 h 75"/>
                    </a:gdLst>
                    <a:ahLst/>
                    <a:cxnLst>
                      <a:cxn ang="0">
                        <a:pos x="T0" y="T1"/>
                      </a:cxn>
                      <a:cxn ang="0">
                        <a:pos x="T2" y="T3"/>
                      </a:cxn>
                      <a:cxn ang="0">
                        <a:pos x="T4" y="T5"/>
                      </a:cxn>
                      <a:cxn ang="0">
                        <a:pos x="T6" y="T7"/>
                      </a:cxn>
                    </a:cxnLst>
                    <a:rect l="0" t="0" r="r" b="b"/>
                    <a:pathLst>
                      <a:path w="48" h="75">
                        <a:moveTo>
                          <a:pt x="27" y="0"/>
                        </a:moveTo>
                        <a:lnTo>
                          <a:pt x="48" y="33"/>
                        </a:lnTo>
                        <a:lnTo>
                          <a:pt x="0" y="75"/>
                        </a:lnTo>
                        <a:lnTo>
                          <a:pt x="27" y="0"/>
                        </a:lnTo>
                        <a:close/>
                      </a:path>
                    </a:pathLst>
                  </a:custGeom>
                  <a:gradFill rotWithShape="1">
                    <a:gsLst>
                      <a:gs pos="0">
                        <a:srgbClr val="FFFF99"/>
                      </a:gs>
                      <a:gs pos="100000">
                        <a:srgbClr val="FFFF99">
                          <a:gamma/>
                          <a:shade val="46275"/>
                          <a:invGamma/>
                        </a:srgbClr>
                      </a:gs>
                    </a:gsLst>
                    <a:path path="rect">
                      <a:fillToRect l="50000" t="50000" r="50000" b="50000"/>
                    </a:path>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cxnSp>
            <p:nvCxnSpPr>
              <p:cNvPr id="7" name="直接连接符 6"/>
              <p:cNvCxnSpPr>
                <a:stCxn id="118" idx="7"/>
                <a:endCxn id="115" idx="4"/>
              </p:cNvCxnSpPr>
              <p:nvPr/>
            </p:nvCxnSpPr>
            <p:spPr bwMode="auto">
              <a:xfrm flipV="1">
                <a:off x="1340595" y="1503383"/>
                <a:ext cx="1025379" cy="345196"/>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474262" y="2721494"/>
                <a:ext cx="32385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5" name="Text Box 47"/>
            <p:cNvSpPr txBox="1">
              <a:spLocks noChangeArrowheads="1"/>
            </p:cNvSpPr>
            <p:nvPr/>
          </p:nvSpPr>
          <p:spPr bwMode="auto">
            <a:xfrm>
              <a:off x="1492101" y="1922245"/>
              <a:ext cx="90884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重力式</a:t>
              </a:r>
              <a:endParaRPr lang="zh-CN" altLang="en-US" sz="1800" b="1" dirty="0">
                <a:solidFill>
                  <a:srgbClr val="000066"/>
                </a:solidFill>
                <a:latin typeface="黑体" panose="02010609060101010101" pitchFamily="49" charset="-122"/>
                <a:ea typeface="黑体" panose="02010609060101010101" pitchFamily="49" charset="-122"/>
              </a:endParaRPr>
            </a:p>
          </p:txBody>
        </p:sp>
      </p:grpSp>
      <p:grpSp>
        <p:nvGrpSpPr>
          <p:cNvPr id="5" name="组合 4"/>
          <p:cNvGrpSpPr/>
          <p:nvPr/>
        </p:nvGrpSpPr>
        <p:grpSpPr>
          <a:xfrm>
            <a:off x="541409" y="3487439"/>
            <a:ext cx="2142542" cy="1667503"/>
            <a:chOff x="541409" y="3487439"/>
            <a:chExt cx="2142542" cy="1667503"/>
          </a:xfrm>
        </p:grpSpPr>
        <p:sp>
          <p:nvSpPr>
            <p:cNvPr id="160" name="Freeform 7" descr="5%"/>
            <p:cNvSpPr>
              <a:spLocks/>
            </p:cNvSpPr>
            <p:nvPr/>
          </p:nvSpPr>
          <p:spPr bwMode="auto">
            <a:xfrm>
              <a:off x="549458" y="3487439"/>
              <a:ext cx="2122666" cy="1667503"/>
            </a:xfrm>
            <a:custGeom>
              <a:avLst/>
              <a:gdLst>
                <a:gd name="T0" fmla="*/ 307 w 1956"/>
                <a:gd name="T1" fmla="*/ 1389 h 1638"/>
                <a:gd name="T2" fmla="*/ 0 w 1956"/>
                <a:gd name="T3" fmla="*/ 1387 h 1638"/>
                <a:gd name="T4" fmla="*/ 0 w 1956"/>
                <a:gd name="T5" fmla="*/ 1638 h 1638"/>
                <a:gd name="T6" fmla="*/ 1956 w 1956"/>
                <a:gd name="T7" fmla="*/ 1638 h 1638"/>
                <a:gd name="T8" fmla="*/ 1956 w 1956"/>
                <a:gd name="T9" fmla="*/ 0 h 1638"/>
                <a:gd name="T10" fmla="*/ 808 w 1956"/>
                <a:gd name="T11" fmla="*/ 572 h 1638"/>
                <a:gd name="T12" fmla="*/ 924 w 1956"/>
                <a:gd name="T13" fmla="*/ 1406 h 1638"/>
                <a:gd name="T14" fmla="*/ 999 w 1956"/>
                <a:gd name="T15" fmla="*/ 1402 h 1638"/>
                <a:gd name="T16" fmla="*/ 999 w 1956"/>
                <a:gd name="T17" fmla="*/ 1511 h 1638"/>
                <a:gd name="T18" fmla="*/ 322 w 1956"/>
                <a:gd name="T19" fmla="*/ 1511 h 1638"/>
                <a:gd name="T20" fmla="*/ 307 w 1956"/>
                <a:gd name="T21" fmla="*/ 1389 h 1638"/>
                <a:gd name="connsiteX0" fmla="*/ 1570 w 10051"/>
                <a:gd name="connsiteY0" fmla="*/ 7094 h 8614"/>
                <a:gd name="connsiteX1" fmla="*/ 0 w 10051"/>
                <a:gd name="connsiteY1" fmla="*/ 7082 h 8614"/>
                <a:gd name="connsiteX2" fmla="*/ 0 w 10051"/>
                <a:gd name="connsiteY2" fmla="*/ 8614 h 8614"/>
                <a:gd name="connsiteX3" fmla="*/ 10000 w 10051"/>
                <a:gd name="connsiteY3" fmla="*/ 8614 h 8614"/>
                <a:gd name="connsiteX4" fmla="*/ 10051 w 10051"/>
                <a:gd name="connsiteY4" fmla="*/ 0 h 8614"/>
                <a:gd name="connsiteX5" fmla="*/ 4131 w 10051"/>
                <a:gd name="connsiteY5" fmla="*/ 2106 h 8614"/>
                <a:gd name="connsiteX6" fmla="*/ 4724 w 10051"/>
                <a:gd name="connsiteY6" fmla="*/ 7198 h 8614"/>
                <a:gd name="connsiteX7" fmla="*/ 5107 w 10051"/>
                <a:gd name="connsiteY7" fmla="*/ 7173 h 8614"/>
                <a:gd name="connsiteX8" fmla="*/ 5107 w 10051"/>
                <a:gd name="connsiteY8" fmla="*/ 7839 h 8614"/>
                <a:gd name="connsiteX9" fmla="*/ 1646 w 10051"/>
                <a:gd name="connsiteY9" fmla="*/ 7839 h 8614"/>
                <a:gd name="connsiteX10" fmla="*/ 1570 w 10051"/>
                <a:gd name="connsiteY10" fmla="*/ 7094 h 8614"/>
                <a:gd name="connsiteX0" fmla="*/ 1562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4700 w 10000"/>
                <a:gd name="connsiteY6" fmla="*/ 8356 h 10000"/>
                <a:gd name="connsiteX7" fmla="*/ 5081 w 10000"/>
                <a:gd name="connsiteY7" fmla="*/ 8327 h 10000"/>
                <a:gd name="connsiteX8" fmla="*/ 5081 w 10000"/>
                <a:gd name="connsiteY8" fmla="*/ 9100 h 10000"/>
                <a:gd name="connsiteX9" fmla="*/ 1638 w 10000"/>
                <a:gd name="connsiteY9" fmla="*/ 9100 h 10000"/>
                <a:gd name="connsiteX10" fmla="*/ 1562 w 10000"/>
                <a:gd name="connsiteY10" fmla="*/ 8235 h 10000"/>
                <a:gd name="connsiteX0" fmla="*/ 1562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4700 w 10000"/>
                <a:gd name="connsiteY6" fmla="*/ 8356 h 10000"/>
                <a:gd name="connsiteX7" fmla="*/ 5081 w 10000"/>
                <a:gd name="connsiteY7" fmla="*/ 9100 h 10000"/>
                <a:gd name="connsiteX8" fmla="*/ 1638 w 10000"/>
                <a:gd name="connsiteY8" fmla="*/ 9100 h 10000"/>
                <a:gd name="connsiteX9" fmla="*/ 1562 w 10000"/>
                <a:gd name="connsiteY9" fmla="*/ 8235 h 10000"/>
                <a:gd name="connsiteX0" fmla="*/ 1562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5081 w 10000"/>
                <a:gd name="connsiteY6" fmla="*/ 9100 h 10000"/>
                <a:gd name="connsiteX7" fmla="*/ 1638 w 10000"/>
                <a:gd name="connsiteY7" fmla="*/ 9100 h 10000"/>
                <a:gd name="connsiteX8" fmla="*/ 1562 w 10000"/>
                <a:gd name="connsiteY8" fmla="*/ 8235 h 10000"/>
                <a:gd name="connsiteX0" fmla="*/ 1562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5081 w 10000"/>
                <a:gd name="connsiteY6" fmla="*/ 9100 h 10000"/>
                <a:gd name="connsiteX7" fmla="*/ 1638 w 10000"/>
                <a:gd name="connsiteY7" fmla="*/ 9100 h 10000"/>
                <a:gd name="connsiteX8" fmla="*/ 1562 w 10000"/>
                <a:gd name="connsiteY8" fmla="*/ 8235 h 10000"/>
                <a:gd name="connsiteX0" fmla="*/ 1562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4099 w 10000"/>
                <a:gd name="connsiteY6" fmla="*/ 9169 h 10000"/>
                <a:gd name="connsiteX7" fmla="*/ 1638 w 10000"/>
                <a:gd name="connsiteY7" fmla="*/ 9100 h 10000"/>
                <a:gd name="connsiteX8" fmla="*/ 1562 w 10000"/>
                <a:gd name="connsiteY8" fmla="*/ 8235 h 10000"/>
                <a:gd name="connsiteX0" fmla="*/ 1848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4099 w 10000"/>
                <a:gd name="connsiteY6" fmla="*/ 9169 h 10000"/>
                <a:gd name="connsiteX7" fmla="*/ 1638 w 10000"/>
                <a:gd name="connsiteY7" fmla="*/ 9100 h 10000"/>
                <a:gd name="connsiteX8" fmla="*/ 1848 w 10000"/>
                <a:gd name="connsiteY8" fmla="*/ 8235 h 10000"/>
                <a:gd name="connsiteX0" fmla="*/ 1848 w 10000"/>
                <a:gd name="connsiteY0" fmla="*/ 8235 h 10000"/>
                <a:gd name="connsiteX1" fmla="*/ 0 w 10000"/>
                <a:gd name="connsiteY1" fmla="*/ 8221 h 10000"/>
                <a:gd name="connsiteX2" fmla="*/ 0 w 10000"/>
                <a:gd name="connsiteY2" fmla="*/ 10000 h 10000"/>
                <a:gd name="connsiteX3" fmla="*/ 9949 w 10000"/>
                <a:gd name="connsiteY3" fmla="*/ 10000 h 10000"/>
                <a:gd name="connsiteX4" fmla="*/ 10000 w 10000"/>
                <a:gd name="connsiteY4" fmla="*/ 0 h 10000"/>
                <a:gd name="connsiteX5" fmla="*/ 3565 w 10000"/>
                <a:gd name="connsiteY5" fmla="*/ 2514 h 10000"/>
                <a:gd name="connsiteX6" fmla="*/ 4099 w 10000"/>
                <a:gd name="connsiteY6" fmla="*/ 9169 h 10000"/>
                <a:gd name="connsiteX7" fmla="*/ 1938 w 10000"/>
                <a:gd name="connsiteY7" fmla="*/ 9152 h 10000"/>
                <a:gd name="connsiteX8" fmla="*/ 1848 w 10000"/>
                <a:gd name="connsiteY8" fmla="*/ 823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1848" y="8235"/>
                  </a:moveTo>
                  <a:lnTo>
                    <a:pt x="0" y="8221"/>
                  </a:lnTo>
                  <a:lnTo>
                    <a:pt x="0" y="10000"/>
                  </a:lnTo>
                  <a:lnTo>
                    <a:pt x="9949" y="10000"/>
                  </a:lnTo>
                  <a:cubicBezTo>
                    <a:pt x="9966" y="6667"/>
                    <a:pt x="9983" y="3333"/>
                    <a:pt x="10000" y="0"/>
                  </a:cubicBezTo>
                  <a:lnTo>
                    <a:pt x="3565" y="2514"/>
                  </a:lnTo>
                  <a:lnTo>
                    <a:pt x="4099" y="9169"/>
                  </a:lnTo>
                  <a:lnTo>
                    <a:pt x="1938" y="9152"/>
                  </a:lnTo>
                  <a:cubicBezTo>
                    <a:pt x="1913" y="8864"/>
                    <a:pt x="1873" y="8523"/>
                    <a:pt x="1848" y="8235"/>
                  </a:cubicBezTo>
                  <a:close/>
                </a:path>
              </a:pathLst>
            </a:custGeom>
            <a:pattFill prst="pct5">
              <a:fgClr>
                <a:schemeClr val="tx1"/>
              </a:fgClr>
              <a:bgClr>
                <a:srgbClr val="F5D0AB"/>
              </a:bgClr>
            </a:pattFill>
            <a:ln w="25400" cap="flat" cmpd="sng">
              <a:noFill/>
              <a:prstDash val="solid"/>
              <a:round/>
              <a:headEnd/>
              <a:tailEnd/>
            </a:ln>
            <a:effectLst/>
            <a:extLst/>
          </p:spPr>
          <p:txBody>
            <a:bodyPr/>
            <a:lstStyle/>
            <a:p>
              <a:endParaRPr lang="zh-CN" altLang="en-US"/>
            </a:p>
          </p:txBody>
        </p:sp>
        <p:cxnSp>
          <p:nvCxnSpPr>
            <p:cNvPr id="158" name="直接连接符 157"/>
            <p:cNvCxnSpPr>
              <a:stCxn id="160" idx="5"/>
              <a:endCxn id="160" idx="4"/>
            </p:cNvCxnSpPr>
            <p:nvPr/>
          </p:nvCxnSpPr>
          <p:spPr bwMode="auto">
            <a:xfrm flipV="1">
              <a:off x="1306188" y="3487439"/>
              <a:ext cx="1365936" cy="4192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接连接符 158"/>
            <p:cNvCxnSpPr/>
            <p:nvPr/>
          </p:nvCxnSpPr>
          <p:spPr bwMode="auto">
            <a:xfrm>
              <a:off x="541409" y="4859448"/>
              <a:ext cx="36476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任意多边形 16"/>
            <p:cNvSpPr/>
            <p:nvPr/>
          </p:nvSpPr>
          <p:spPr bwMode="auto">
            <a:xfrm>
              <a:off x="909084" y="3896833"/>
              <a:ext cx="669851" cy="1116418"/>
            </a:xfrm>
            <a:custGeom>
              <a:avLst/>
              <a:gdLst>
                <a:gd name="connsiteX0" fmla="*/ 499730 w 669851"/>
                <a:gd name="connsiteY0" fmla="*/ 0 h 1116418"/>
                <a:gd name="connsiteX1" fmla="*/ 217967 w 669851"/>
                <a:gd name="connsiteY1" fmla="*/ 0 h 1116418"/>
                <a:gd name="connsiteX2" fmla="*/ 74428 w 669851"/>
                <a:gd name="connsiteY2" fmla="*/ 962246 h 1116418"/>
                <a:gd name="connsiteX3" fmla="*/ 0 w 669851"/>
                <a:gd name="connsiteY3" fmla="*/ 962246 h 1116418"/>
                <a:gd name="connsiteX4" fmla="*/ 10632 w 669851"/>
                <a:gd name="connsiteY4" fmla="*/ 1116418 h 1116418"/>
                <a:gd name="connsiteX5" fmla="*/ 510363 w 669851"/>
                <a:gd name="connsiteY5" fmla="*/ 1116418 h 1116418"/>
                <a:gd name="connsiteX6" fmla="*/ 473149 w 669851"/>
                <a:gd name="connsiteY6" fmla="*/ 643269 h 1116418"/>
                <a:gd name="connsiteX7" fmla="*/ 669851 w 669851"/>
                <a:gd name="connsiteY7" fmla="*/ 590107 h 1116418"/>
                <a:gd name="connsiteX8" fmla="*/ 669851 w 669851"/>
                <a:gd name="connsiteY8" fmla="*/ 499730 h 1116418"/>
                <a:gd name="connsiteX9" fmla="*/ 473149 w 669851"/>
                <a:gd name="connsiteY9" fmla="*/ 494414 h 1116418"/>
                <a:gd name="connsiteX10" fmla="*/ 404037 w 669851"/>
                <a:gd name="connsiteY10" fmla="*/ 5316 h 1116418"/>
                <a:gd name="connsiteX0" fmla="*/ 499730 w 669851"/>
                <a:gd name="connsiteY0" fmla="*/ 0 h 1116418"/>
                <a:gd name="connsiteX1" fmla="*/ 217967 w 669851"/>
                <a:gd name="connsiteY1" fmla="*/ 0 h 1116418"/>
                <a:gd name="connsiteX2" fmla="*/ 74428 w 669851"/>
                <a:gd name="connsiteY2" fmla="*/ 962246 h 1116418"/>
                <a:gd name="connsiteX3" fmla="*/ 0 w 669851"/>
                <a:gd name="connsiteY3" fmla="*/ 962246 h 1116418"/>
                <a:gd name="connsiteX4" fmla="*/ 10632 w 669851"/>
                <a:gd name="connsiteY4" fmla="*/ 1116418 h 1116418"/>
                <a:gd name="connsiteX5" fmla="*/ 510363 w 669851"/>
                <a:gd name="connsiteY5" fmla="*/ 1116418 h 1116418"/>
                <a:gd name="connsiteX6" fmla="*/ 473149 w 669851"/>
                <a:gd name="connsiteY6" fmla="*/ 643269 h 1116418"/>
                <a:gd name="connsiteX7" fmla="*/ 669851 w 669851"/>
                <a:gd name="connsiteY7" fmla="*/ 590107 h 1116418"/>
                <a:gd name="connsiteX8" fmla="*/ 669851 w 669851"/>
                <a:gd name="connsiteY8" fmla="*/ 499730 h 1116418"/>
                <a:gd name="connsiteX9" fmla="*/ 473149 w 669851"/>
                <a:gd name="connsiteY9" fmla="*/ 494414 h 1116418"/>
                <a:gd name="connsiteX10" fmla="*/ 404037 w 669851"/>
                <a:gd name="connsiteY10" fmla="*/ 5316 h 1116418"/>
                <a:gd name="connsiteX11" fmla="*/ 499730 w 669851"/>
                <a:gd name="connsiteY11" fmla="*/ 0 h 1116418"/>
                <a:gd name="connsiteX0" fmla="*/ 404037 w 669851"/>
                <a:gd name="connsiteY0" fmla="*/ 5316 h 1116418"/>
                <a:gd name="connsiteX1" fmla="*/ 217967 w 669851"/>
                <a:gd name="connsiteY1" fmla="*/ 0 h 1116418"/>
                <a:gd name="connsiteX2" fmla="*/ 74428 w 669851"/>
                <a:gd name="connsiteY2" fmla="*/ 962246 h 1116418"/>
                <a:gd name="connsiteX3" fmla="*/ 0 w 669851"/>
                <a:gd name="connsiteY3" fmla="*/ 962246 h 1116418"/>
                <a:gd name="connsiteX4" fmla="*/ 10632 w 669851"/>
                <a:gd name="connsiteY4" fmla="*/ 1116418 h 1116418"/>
                <a:gd name="connsiteX5" fmla="*/ 510363 w 669851"/>
                <a:gd name="connsiteY5" fmla="*/ 1116418 h 1116418"/>
                <a:gd name="connsiteX6" fmla="*/ 473149 w 669851"/>
                <a:gd name="connsiteY6" fmla="*/ 643269 h 1116418"/>
                <a:gd name="connsiteX7" fmla="*/ 669851 w 669851"/>
                <a:gd name="connsiteY7" fmla="*/ 590107 h 1116418"/>
                <a:gd name="connsiteX8" fmla="*/ 669851 w 669851"/>
                <a:gd name="connsiteY8" fmla="*/ 499730 h 1116418"/>
                <a:gd name="connsiteX9" fmla="*/ 473149 w 669851"/>
                <a:gd name="connsiteY9" fmla="*/ 494414 h 1116418"/>
                <a:gd name="connsiteX10" fmla="*/ 404037 w 669851"/>
                <a:gd name="connsiteY10" fmla="*/ 5316 h 111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9851" h="1116418">
                  <a:moveTo>
                    <a:pt x="404037" y="5316"/>
                  </a:moveTo>
                  <a:lnTo>
                    <a:pt x="217967" y="0"/>
                  </a:lnTo>
                  <a:lnTo>
                    <a:pt x="74428" y="962246"/>
                  </a:lnTo>
                  <a:lnTo>
                    <a:pt x="0" y="962246"/>
                  </a:lnTo>
                  <a:lnTo>
                    <a:pt x="10632" y="1116418"/>
                  </a:lnTo>
                  <a:lnTo>
                    <a:pt x="510363" y="1116418"/>
                  </a:lnTo>
                  <a:lnTo>
                    <a:pt x="473149" y="643269"/>
                  </a:lnTo>
                  <a:lnTo>
                    <a:pt x="669851" y="590107"/>
                  </a:lnTo>
                  <a:lnTo>
                    <a:pt x="669851" y="499730"/>
                  </a:lnTo>
                  <a:lnTo>
                    <a:pt x="473149" y="494414"/>
                  </a:lnTo>
                  <a:lnTo>
                    <a:pt x="404037" y="5316"/>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04" name="Text Box 47"/>
            <p:cNvSpPr txBox="1">
              <a:spLocks noChangeArrowheads="1"/>
            </p:cNvSpPr>
            <p:nvPr/>
          </p:nvSpPr>
          <p:spPr bwMode="auto">
            <a:xfrm>
              <a:off x="1578935" y="4107677"/>
              <a:ext cx="1105016" cy="72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800" b="1" dirty="0" smtClean="0">
                  <a:solidFill>
                    <a:srgbClr val="000066"/>
                  </a:solidFill>
                  <a:latin typeface="黑体" panose="02010609060101010101" pitchFamily="49" charset="-122"/>
                  <a:ea typeface="黑体" panose="02010609060101010101" pitchFamily="49" charset="-122"/>
                </a:rPr>
                <a:t>带卸荷台的挡土墙</a:t>
              </a:r>
              <a:endParaRPr lang="zh-CN" altLang="en-US" sz="1800" b="1" dirty="0">
                <a:solidFill>
                  <a:srgbClr val="000066"/>
                </a:solidFill>
                <a:latin typeface="黑体" panose="02010609060101010101" pitchFamily="49" charset="-122"/>
                <a:ea typeface="黑体" panose="02010609060101010101" pitchFamily="49" charset="-122"/>
              </a:endParaRPr>
            </a:p>
          </p:txBody>
        </p:sp>
      </p:grpSp>
      <p:sp>
        <p:nvSpPr>
          <p:cNvPr id="106"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8457227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706" y="1350825"/>
            <a:ext cx="2265848" cy="169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7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16325" y="930528"/>
            <a:ext cx="2652774" cy="1989581"/>
          </a:xfrm>
          <a:prstGeom prst="rect">
            <a:avLst/>
          </a:prstGeom>
        </p:spPr>
      </p:pic>
      <p:pic>
        <p:nvPicPr>
          <p:cNvPr id="77" name="图片 7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743" y="3423290"/>
            <a:ext cx="2546445" cy="1695858"/>
          </a:xfrm>
          <a:prstGeom prst="rect">
            <a:avLst/>
          </a:prstGeom>
        </p:spPr>
      </p:pic>
      <p:pic>
        <p:nvPicPr>
          <p:cNvPr id="106" name="图片 105"/>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3664451" y="3428320"/>
            <a:ext cx="2627369" cy="1871713"/>
          </a:xfrm>
          <a:prstGeom prst="rect">
            <a:avLst/>
          </a:prstGeom>
        </p:spPr>
      </p:pic>
      <p:pic>
        <p:nvPicPr>
          <p:cNvPr id="110" name="图片 10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46643" y="896161"/>
            <a:ext cx="2126426" cy="2835234"/>
          </a:xfrm>
          <a:prstGeom prst="rect">
            <a:avLst/>
          </a:prstGeom>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11</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一、刚性</a:t>
            </a:r>
            <a:r>
              <a:rPr lang="zh-CN" altLang="en-US" sz="2800" b="1" dirty="0">
                <a:solidFill>
                  <a:srgbClr val="A50021"/>
                </a:solidFill>
                <a:latin typeface="微软雅黑" panose="020B0503020204020204" pitchFamily="34" charset="-122"/>
                <a:ea typeface="微软雅黑" panose="020B0503020204020204" pitchFamily="34" charset="-122"/>
              </a:rPr>
              <a:t>挡土墙</a:t>
            </a: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108" name="Text Box 47"/>
          <p:cNvSpPr txBox="1">
            <a:spLocks noChangeArrowheads="1"/>
          </p:cNvSpPr>
          <p:nvPr/>
        </p:nvSpPr>
        <p:spPr bwMode="auto">
          <a:xfrm>
            <a:off x="6252747" y="4787934"/>
            <a:ext cx="908840"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solidFill>
                  <a:srgbClr val="000066"/>
                </a:solidFill>
                <a:latin typeface="黑体" panose="02010609060101010101" pitchFamily="49" charset="-122"/>
                <a:ea typeface="黑体" panose="02010609060101010101" pitchFamily="49" charset="-122"/>
              </a:rPr>
              <a:t>扶壁式</a:t>
            </a:r>
          </a:p>
        </p:txBody>
      </p:sp>
      <p:sp>
        <p:nvSpPr>
          <p:cNvPr id="111" name="Text Box 3"/>
          <p:cNvSpPr txBox="1">
            <a:spLocks noChangeArrowheads="1"/>
          </p:cNvSpPr>
          <p:nvPr/>
        </p:nvSpPr>
        <p:spPr bwMode="auto">
          <a:xfrm>
            <a:off x="6707167" y="3886785"/>
            <a:ext cx="2073814" cy="46166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l">
              <a:defRPr b="1">
                <a:solidFill>
                  <a:srgbClr val="000000"/>
                </a:solidFill>
                <a:latin typeface="微软雅黑" pitchFamily="34" charset="-122"/>
                <a:ea typeface="微软雅黑" pitchFamily="34" charset="-122"/>
              </a:defRPr>
            </a:lvl1pPr>
            <a:lvl2pPr algn="l">
              <a:defRPr sz="4400">
                <a:solidFill>
                  <a:schemeClr val="tx2"/>
                </a:solidFill>
              </a:defRPr>
            </a:lvl2pPr>
            <a:lvl3pPr algn="l">
              <a:defRPr sz="4400">
                <a:solidFill>
                  <a:schemeClr val="tx2"/>
                </a:solidFill>
              </a:defRPr>
            </a:lvl3pPr>
            <a:lvl4pPr algn="l">
              <a:defRPr sz="4400">
                <a:solidFill>
                  <a:schemeClr val="tx2"/>
                </a:solidFill>
              </a:defRPr>
            </a:lvl4pPr>
            <a:lvl5pPr algn="l">
              <a:defRPr sz="4400">
                <a:solidFill>
                  <a:schemeClr val="tx2"/>
                </a:solidFill>
              </a:defRPr>
            </a:lvl5pPr>
            <a:lvl6pPr marL="457200" fontAlgn="base">
              <a:spcBef>
                <a:spcPct val="0"/>
              </a:spcBef>
              <a:spcAft>
                <a:spcPct val="0"/>
              </a:spcAft>
              <a:defRPr sz="4400">
                <a:solidFill>
                  <a:schemeClr val="tx2"/>
                </a:solidFill>
              </a:defRPr>
            </a:lvl6pPr>
            <a:lvl7pPr marL="914400" fontAlgn="base">
              <a:spcBef>
                <a:spcPct val="0"/>
              </a:spcBef>
              <a:spcAft>
                <a:spcPct val="0"/>
              </a:spcAft>
              <a:defRPr sz="4400">
                <a:solidFill>
                  <a:schemeClr val="tx2"/>
                </a:solidFill>
              </a:defRPr>
            </a:lvl7pPr>
            <a:lvl8pPr marL="1371600" fontAlgn="base">
              <a:spcBef>
                <a:spcPct val="0"/>
              </a:spcBef>
              <a:spcAft>
                <a:spcPct val="0"/>
              </a:spcAft>
              <a:defRPr sz="4400">
                <a:solidFill>
                  <a:schemeClr val="tx2"/>
                </a:solidFill>
              </a:defRPr>
            </a:lvl8pPr>
            <a:lvl9pPr marL="1828800" fontAlgn="base">
              <a:spcBef>
                <a:spcPct val="0"/>
              </a:spcBef>
              <a:spcAft>
                <a:spcPct val="0"/>
              </a:spcAft>
              <a:defRPr sz="4400">
                <a:solidFill>
                  <a:schemeClr val="tx2"/>
                </a:solidFill>
              </a:defRPr>
            </a:lvl9pPr>
          </a:lstStyle>
          <a:p>
            <a:pPr algn="ctr"/>
            <a:r>
              <a:rPr lang="zh-CN" altLang="en-US" sz="1800" dirty="0">
                <a:solidFill>
                  <a:srgbClr val="000066"/>
                </a:solidFill>
                <a:latin typeface="黑体" panose="02010609060101010101" pitchFamily="49" charset="-122"/>
                <a:ea typeface="黑体" panose="02010609060101010101" pitchFamily="49" charset="-122"/>
              </a:rPr>
              <a:t>钢筋混凝土悬臂</a:t>
            </a:r>
            <a:r>
              <a:rPr lang="zh-CN" altLang="en-US" sz="1800" dirty="0" smtClean="0">
                <a:solidFill>
                  <a:srgbClr val="000066"/>
                </a:solidFill>
                <a:latin typeface="黑体" panose="02010609060101010101" pitchFamily="49" charset="-122"/>
                <a:ea typeface="黑体" panose="02010609060101010101" pitchFamily="49" charset="-122"/>
              </a:rPr>
              <a:t>式</a:t>
            </a:r>
            <a:endParaRPr lang="zh-CN" altLang="en-US" sz="1800" dirty="0">
              <a:solidFill>
                <a:srgbClr val="000066"/>
              </a:solidFill>
              <a:latin typeface="黑体" panose="02010609060101010101" pitchFamily="49" charset="-122"/>
              <a:ea typeface="黑体" panose="02010609060101010101" pitchFamily="49" charset="-122"/>
            </a:endParaRPr>
          </a:p>
        </p:txBody>
      </p:sp>
      <p:sp>
        <p:nvSpPr>
          <p:cNvPr id="112" name="Text Box 47"/>
          <p:cNvSpPr txBox="1">
            <a:spLocks noChangeArrowheads="1"/>
          </p:cNvSpPr>
          <p:nvPr/>
        </p:nvSpPr>
        <p:spPr bwMode="auto">
          <a:xfrm>
            <a:off x="3613351" y="2890079"/>
            <a:ext cx="2642175"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solidFill>
                  <a:srgbClr val="000066"/>
                </a:solidFill>
                <a:latin typeface="黑体" panose="02010609060101010101" pitchFamily="49" charset="-122"/>
                <a:ea typeface="黑体" panose="02010609060101010101" pitchFamily="49" charset="-122"/>
              </a:rPr>
              <a:t>浆砌块</a:t>
            </a:r>
            <a:r>
              <a:rPr lang="zh-CN" altLang="en-US" sz="1800" b="1" dirty="0" smtClean="0">
                <a:solidFill>
                  <a:srgbClr val="000066"/>
                </a:solidFill>
                <a:latin typeface="黑体" panose="02010609060101010101" pitchFamily="49" charset="-122"/>
                <a:ea typeface="黑体" panose="02010609060101010101" pitchFamily="49" charset="-122"/>
              </a:rPr>
              <a:t>石重力式</a:t>
            </a:r>
            <a:r>
              <a:rPr lang="en-US" altLang="zh-CN" sz="1800" b="1" dirty="0">
                <a:solidFill>
                  <a:srgbClr val="000066"/>
                </a:solidFill>
                <a:latin typeface="黑体" panose="02010609060101010101" pitchFamily="49" charset="-122"/>
                <a:ea typeface="黑体" panose="02010609060101010101" pitchFamily="49" charset="-122"/>
              </a:rPr>
              <a:t>(</a:t>
            </a:r>
            <a:r>
              <a:rPr lang="zh-CN" altLang="en-US" sz="1800" b="1" dirty="0">
                <a:solidFill>
                  <a:srgbClr val="000066"/>
                </a:solidFill>
                <a:latin typeface="黑体" panose="02010609060101010101" pitchFamily="49" charset="-122"/>
                <a:ea typeface="黑体" panose="02010609060101010101" pitchFamily="49" charset="-122"/>
              </a:rPr>
              <a:t>圬工式</a:t>
            </a:r>
            <a:r>
              <a:rPr lang="en-US" altLang="zh-CN" sz="1800" b="1" dirty="0">
                <a:solidFill>
                  <a:srgbClr val="000066"/>
                </a:solidFill>
                <a:latin typeface="黑体" panose="02010609060101010101" pitchFamily="49" charset="-122"/>
                <a:ea typeface="黑体" panose="02010609060101010101" pitchFamily="49" charset="-122"/>
              </a:rPr>
              <a:t>)</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113" name="Text Box 47"/>
          <p:cNvSpPr txBox="1">
            <a:spLocks noChangeArrowheads="1"/>
          </p:cNvSpPr>
          <p:nvPr/>
        </p:nvSpPr>
        <p:spPr bwMode="auto">
          <a:xfrm>
            <a:off x="1461463" y="5089706"/>
            <a:ext cx="90884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重力式</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114" name="Text Box 47"/>
          <p:cNvSpPr txBox="1">
            <a:spLocks noChangeArrowheads="1"/>
          </p:cNvSpPr>
          <p:nvPr/>
        </p:nvSpPr>
        <p:spPr bwMode="auto">
          <a:xfrm>
            <a:off x="1592874" y="3002304"/>
            <a:ext cx="697653"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校河</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17"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3921540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circle(in)">
                                      <p:cBhvr>
                                        <p:cTn id="7" dur="2000"/>
                                        <p:tgtEl>
                                          <p:spTgt spid="72"/>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barn(inVertical)">
                                      <p:cBhvr>
                                        <p:cTn id="15" dur="500"/>
                                        <p:tgtEl>
                                          <p:spTgt spid="7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2"/>
                                        </p:tgtEl>
                                        <p:attrNameLst>
                                          <p:attrName>style.visibility</p:attrName>
                                        </p:attrNameLst>
                                      </p:cBhvr>
                                      <p:to>
                                        <p:strVal val="visible"/>
                                      </p:to>
                                    </p:set>
                                    <p:animEffect transition="in" filter="barn(inVertical)">
                                      <p:cBhvr>
                                        <p:cTn id="18" dur="500"/>
                                        <p:tgtEl>
                                          <p:spTgt spid="1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wipe(down)">
                                      <p:cBhvr>
                                        <p:cTn id="23" dur="500"/>
                                        <p:tgtEl>
                                          <p:spTgt spid="7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3"/>
                                        </p:tgtEl>
                                        <p:attrNameLst>
                                          <p:attrName>style.visibility</p:attrName>
                                        </p:attrNameLst>
                                      </p:cBhvr>
                                      <p:to>
                                        <p:strVal val="visible"/>
                                      </p:to>
                                    </p:set>
                                    <p:animEffect transition="in" filter="wipe(down)">
                                      <p:cBhvr>
                                        <p:cTn id="26" dur="500"/>
                                        <p:tgtEl>
                                          <p:spTgt spid="11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10"/>
                                        </p:tgtEl>
                                        <p:attrNameLst>
                                          <p:attrName>style.visibility</p:attrName>
                                        </p:attrNameLst>
                                      </p:cBhvr>
                                      <p:to>
                                        <p:strVal val="visible"/>
                                      </p:to>
                                    </p:set>
                                    <p:animEffect transition="in" filter="barn(inVertical)">
                                      <p:cBhvr>
                                        <p:cTn id="31" dur="500"/>
                                        <p:tgtEl>
                                          <p:spTgt spid="11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11"/>
                                        </p:tgtEl>
                                        <p:attrNameLst>
                                          <p:attrName>style.visibility</p:attrName>
                                        </p:attrNameLst>
                                      </p:cBhvr>
                                      <p:to>
                                        <p:strVal val="visible"/>
                                      </p:to>
                                    </p:set>
                                    <p:animEffect transition="in" filter="barn(inVertical)">
                                      <p:cBhvr>
                                        <p:cTn id="34" dur="500"/>
                                        <p:tgtEl>
                                          <p:spTgt spid="11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06"/>
                                        </p:tgtEl>
                                        <p:attrNameLst>
                                          <p:attrName>style.visibility</p:attrName>
                                        </p:attrNameLst>
                                      </p:cBhvr>
                                      <p:to>
                                        <p:strVal val="visible"/>
                                      </p:to>
                                    </p:set>
                                    <p:animEffect transition="in" filter="barn(inVertical)">
                                      <p:cBhvr>
                                        <p:cTn id="39" dur="500"/>
                                        <p:tgtEl>
                                          <p:spTgt spid="106"/>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barn(inVertical)">
                                      <p:cBhvr>
                                        <p:cTn id="4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1" grpId="0" animBg="1"/>
      <p:bldP spid="112" grpId="0"/>
      <p:bldP spid="113" grpId="0"/>
      <p:bldP spid="1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12</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A50021"/>
                </a:solidFill>
                <a:latin typeface="微软雅黑" panose="020B0503020204020204" pitchFamily="34" charset="-122"/>
                <a:ea typeface="微软雅黑" panose="020B0503020204020204" pitchFamily="34" charset="-122"/>
              </a:rPr>
              <a:t>二</a:t>
            </a:r>
            <a:r>
              <a:rPr lang="zh-CN" altLang="en-US" sz="2800" b="1" dirty="0" smtClean="0">
                <a:solidFill>
                  <a:srgbClr val="A50021"/>
                </a:solidFill>
                <a:latin typeface="微软雅黑" panose="020B0503020204020204" pitchFamily="34" charset="-122"/>
                <a:ea typeface="微软雅黑" panose="020B0503020204020204" pitchFamily="34" charset="-122"/>
              </a:rPr>
              <a:t>、柔性挡土墙</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203" name="Text Box 5"/>
          <p:cNvSpPr txBox="1">
            <a:spLocks noChangeArrowheads="1"/>
          </p:cNvSpPr>
          <p:nvPr/>
        </p:nvSpPr>
        <p:spPr bwMode="auto">
          <a:xfrm>
            <a:off x="1131683" y="1258475"/>
            <a:ext cx="7586804" cy="130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柔性挡土结构物的刚度不大，在土压力作用下易发生</a:t>
            </a:r>
            <a:r>
              <a:rPr lang="zh-CN" altLang="en-US" sz="2000" b="1" dirty="0">
                <a:solidFill>
                  <a:srgbClr val="000066"/>
                </a:solidFill>
                <a:ea typeface="幼圆" pitchFamily="49" charset="-122"/>
                <a:cs typeface="Times New Roman" panose="02020603050405020304" pitchFamily="18" charset="0"/>
                <a:sym typeface="Symbol" pitchFamily="18" charset="2"/>
              </a:rPr>
              <a:t>挠曲</a:t>
            </a:r>
            <a:r>
              <a:rPr lang="zh-CN" altLang="en-US" sz="2000" b="1" dirty="0" smtClean="0">
                <a:solidFill>
                  <a:srgbClr val="000066"/>
                </a:solidFill>
                <a:ea typeface="幼圆" pitchFamily="49" charset="-122"/>
                <a:cs typeface="Times New Roman" panose="02020603050405020304" pitchFamily="18" charset="0"/>
                <a:sym typeface="Symbol" pitchFamily="18" charset="2"/>
              </a:rPr>
              <a:t>变形</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结构变形将影响土压力的大小和</a:t>
            </a:r>
            <a:r>
              <a:rPr lang="zh-CN" altLang="en-US" sz="2000" b="1" dirty="0">
                <a:solidFill>
                  <a:srgbClr val="000066"/>
                </a:solidFill>
                <a:ea typeface="幼圆" pitchFamily="49" charset="-122"/>
                <a:cs typeface="Times New Roman" panose="02020603050405020304" pitchFamily="18" charset="0"/>
                <a:sym typeface="Symbol" pitchFamily="18" charset="2"/>
              </a:rPr>
              <a:t>分布</a:t>
            </a:r>
            <a:r>
              <a:rPr lang="zh-CN" altLang="en-US" sz="2000" b="1" dirty="0" smtClean="0">
                <a:solidFill>
                  <a:srgbClr val="000066"/>
                </a:solidFill>
                <a:ea typeface="幼圆" pitchFamily="49" charset="-122"/>
                <a:cs typeface="Times New Roman" panose="02020603050405020304" pitchFamily="18" charset="0"/>
                <a:sym typeface="Symbol" pitchFamily="18" charset="2"/>
              </a:rPr>
              <a:t>，其土压力</a:t>
            </a:r>
            <a:r>
              <a:rPr lang="zh-CN" altLang="en-US" sz="2000" b="1" dirty="0">
                <a:solidFill>
                  <a:srgbClr val="000066"/>
                </a:solidFill>
                <a:ea typeface="幼圆" pitchFamily="49" charset="-122"/>
                <a:cs typeface="Times New Roman" panose="02020603050405020304" pitchFamily="18" charset="0"/>
                <a:sym typeface="Symbol" pitchFamily="18" charset="2"/>
              </a:rPr>
              <a:t>分布形式复杂</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en-US" altLang="zh-CN" sz="2000" b="1" dirty="0" err="1" smtClean="0">
                <a:solidFill>
                  <a:srgbClr val="000066"/>
                </a:solidFill>
                <a:ea typeface="幼圆" pitchFamily="49" charset="-122"/>
                <a:cs typeface="Times New Roman" panose="02020603050405020304" pitchFamily="18" charset="0"/>
                <a:sym typeface="Symbol" pitchFamily="18" charset="2"/>
              </a:rPr>
              <a:t>作用在墙身上的土压力为曲线分布，计算时可简化为直线分布</a:t>
            </a:r>
            <a:endParaRPr lang="zh-CN" altLang="en-US" sz="2000" b="1" dirty="0">
              <a:solidFill>
                <a:srgbClr val="000066"/>
              </a:solidFill>
              <a:ea typeface="幼圆" pitchFamily="49" charset="-122"/>
              <a:cs typeface="Times New Roman" panose="02020603050405020304" pitchFamily="18" charset="0"/>
            </a:endParaRPr>
          </a:p>
        </p:txBody>
      </p:sp>
      <p:grpSp>
        <p:nvGrpSpPr>
          <p:cNvPr id="6" name="组合 5"/>
          <p:cNvGrpSpPr/>
          <p:nvPr/>
        </p:nvGrpSpPr>
        <p:grpSpPr>
          <a:xfrm>
            <a:off x="4849448" y="2850808"/>
            <a:ext cx="4156329" cy="2716887"/>
            <a:chOff x="4849448" y="2850808"/>
            <a:chExt cx="4156329" cy="2716887"/>
          </a:xfrm>
        </p:grpSpPr>
        <p:sp>
          <p:nvSpPr>
            <p:cNvPr id="358" name="任意多边形 357"/>
            <p:cNvSpPr/>
            <p:nvPr/>
          </p:nvSpPr>
          <p:spPr bwMode="auto">
            <a:xfrm>
              <a:off x="4859774" y="2850808"/>
              <a:ext cx="2061428" cy="2716887"/>
            </a:xfrm>
            <a:custGeom>
              <a:avLst/>
              <a:gdLst>
                <a:gd name="connsiteX0" fmla="*/ 0 w 1970236"/>
                <a:gd name="connsiteY0" fmla="*/ 1930766 h 2716887"/>
                <a:gd name="connsiteX1" fmla="*/ 0 w 1970236"/>
                <a:gd name="connsiteY1" fmla="*/ 2716887 h 2716887"/>
                <a:gd name="connsiteX2" fmla="*/ 1970236 w 1970236"/>
                <a:gd name="connsiteY2" fmla="*/ 2716887 h 2716887"/>
                <a:gd name="connsiteX3" fmla="*/ 1970236 w 1970236"/>
                <a:gd name="connsiteY3" fmla="*/ 0 h 2716887"/>
                <a:gd name="connsiteX4" fmla="*/ 769675 w 1970236"/>
                <a:gd name="connsiteY4" fmla="*/ 0 h 2716887"/>
                <a:gd name="connsiteX5" fmla="*/ 769675 w 1970236"/>
                <a:gd name="connsiteY5" fmla="*/ 1934055 h 2716887"/>
                <a:gd name="connsiteX6" fmla="*/ 0 w 1970236"/>
                <a:gd name="connsiteY6" fmla="*/ 1930766 h 2716887"/>
                <a:gd name="connsiteX0" fmla="*/ 0 w 1970236"/>
                <a:gd name="connsiteY0" fmla="*/ 1930766 h 2716887"/>
                <a:gd name="connsiteX1" fmla="*/ 0 w 1970236"/>
                <a:gd name="connsiteY1" fmla="*/ 2716887 h 2716887"/>
                <a:gd name="connsiteX2" fmla="*/ 1970236 w 1970236"/>
                <a:gd name="connsiteY2" fmla="*/ 2716887 h 2716887"/>
                <a:gd name="connsiteX3" fmla="*/ 1970236 w 1970236"/>
                <a:gd name="connsiteY3" fmla="*/ 0 h 2716887"/>
                <a:gd name="connsiteX4" fmla="*/ 769675 w 1970236"/>
                <a:gd name="connsiteY4" fmla="*/ 0 h 2716887"/>
                <a:gd name="connsiteX5" fmla="*/ 766386 w 1970236"/>
                <a:gd name="connsiteY5" fmla="*/ 1828800 h 2716887"/>
                <a:gd name="connsiteX6" fmla="*/ 0 w 1970236"/>
                <a:gd name="connsiteY6" fmla="*/ 1930766 h 2716887"/>
                <a:gd name="connsiteX0" fmla="*/ 0 w 1973525"/>
                <a:gd name="connsiteY0" fmla="*/ 1838669 h 2716887"/>
                <a:gd name="connsiteX1" fmla="*/ 3289 w 1973525"/>
                <a:gd name="connsiteY1" fmla="*/ 2716887 h 2716887"/>
                <a:gd name="connsiteX2" fmla="*/ 1973525 w 1973525"/>
                <a:gd name="connsiteY2" fmla="*/ 2716887 h 2716887"/>
                <a:gd name="connsiteX3" fmla="*/ 1973525 w 1973525"/>
                <a:gd name="connsiteY3" fmla="*/ 0 h 2716887"/>
                <a:gd name="connsiteX4" fmla="*/ 772964 w 1973525"/>
                <a:gd name="connsiteY4" fmla="*/ 0 h 2716887"/>
                <a:gd name="connsiteX5" fmla="*/ 769675 w 1973525"/>
                <a:gd name="connsiteY5" fmla="*/ 1828800 h 2716887"/>
                <a:gd name="connsiteX6" fmla="*/ 0 w 1973525"/>
                <a:gd name="connsiteY6" fmla="*/ 1838669 h 2716887"/>
                <a:gd name="connsiteX0" fmla="*/ 0 w 1973525"/>
                <a:gd name="connsiteY0" fmla="*/ 1838669 h 2716887"/>
                <a:gd name="connsiteX1" fmla="*/ 3289 w 1973525"/>
                <a:gd name="connsiteY1" fmla="*/ 2716887 h 2716887"/>
                <a:gd name="connsiteX2" fmla="*/ 1973525 w 1973525"/>
                <a:gd name="connsiteY2" fmla="*/ 2716887 h 2716887"/>
                <a:gd name="connsiteX3" fmla="*/ 1973525 w 1973525"/>
                <a:gd name="connsiteY3" fmla="*/ 0 h 2716887"/>
                <a:gd name="connsiteX4" fmla="*/ 772964 w 1973525"/>
                <a:gd name="connsiteY4" fmla="*/ 0 h 2716887"/>
                <a:gd name="connsiteX5" fmla="*/ 776254 w 1973525"/>
                <a:gd name="connsiteY5" fmla="*/ 1809065 h 2716887"/>
                <a:gd name="connsiteX6" fmla="*/ 0 w 1973525"/>
                <a:gd name="connsiteY6" fmla="*/ 1838669 h 2716887"/>
                <a:gd name="connsiteX0" fmla="*/ 0 w 1973525"/>
                <a:gd name="connsiteY0" fmla="*/ 1822223 h 2716887"/>
                <a:gd name="connsiteX1" fmla="*/ 3289 w 1973525"/>
                <a:gd name="connsiteY1" fmla="*/ 2716887 h 2716887"/>
                <a:gd name="connsiteX2" fmla="*/ 1973525 w 1973525"/>
                <a:gd name="connsiteY2" fmla="*/ 2716887 h 2716887"/>
                <a:gd name="connsiteX3" fmla="*/ 1973525 w 1973525"/>
                <a:gd name="connsiteY3" fmla="*/ 0 h 2716887"/>
                <a:gd name="connsiteX4" fmla="*/ 772964 w 1973525"/>
                <a:gd name="connsiteY4" fmla="*/ 0 h 2716887"/>
                <a:gd name="connsiteX5" fmla="*/ 776254 w 1973525"/>
                <a:gd name="connsiteY5" fmla="*/ 1809065 h 2716887"/>
                <a:gd name="connsiteX6" fmla="*/ 0 w 1973525"/>
                <a:gd name="connsiteY6" fmla="*/ 1822223 h 2716887"/>
                <a:gd name="connsiteX0" fmla="*/ 318 w 1970553"/>
                <a:gd name="connsiteY0" fmla="*/ 1809066 h 2716887"/>
                <a:gd name="connsiteX1" fmla="*/ 317 w 1970553"/>
                <a:gd name="connsiteY1" fmla="*/ 2716887 h 2716887"/>
                <a:gd name="connsiteX2" fmla="*/ 1970553 w 1970553"/>
                <a:gd name="connsiteY2" fmla="*/ 2716887 h 2716887"/>
                <a:gd name="connsiteX3" fmla="*/ 1970553 w 1970553"/>
                <a:gd name="connsiteY3" fmla="*/ 0 h 2716887"/>
                <a:gd name="connsiteX4" fmla="*/ 769992 w 1970553"/>
                <a:gd name="connsiteY4" fmla="*/ 0 h 2716887"/>
                <a:gd name="connsiteX5" fmla="*/ 773282 w 1970553"/>
                <a:gd name="connsiteY5" fmla="*/ 1809065 h 2716887"/>
                <a:gd name="connsiteX6" fmla="*/ 318 w 1970553"/>
                <a:gd name="connsiteY6" fmla="*/ 1809066 h 2716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0553" h="2716887">
                  <a:moveTo>
                    <a:pt x="318" y="1809066"/>
                  </a:moveTo>
                  <a:cubicBezTo>
                    <a:pt x="1414" y="2101805"/>
                    <a:pt x="-779" y="2424148"/>
                    <a:pt x="317" y="2716887"/>
                  </a:cubicBezTo>
                  <a:lnTo>
                    <a:pt x="1970553" y="2716887"/>
                  </a:lnTo>
                  <a:lnTo>
                    <a:pt x="1970553" y="0"/>
                  </a:lnTo>
                  <a:lnTo>
                    <a:pt x="769992" y="0"/>
                  </a:lnTo>
                  <a:cubicBezTo>
                    <a:pt x="768896" y="609600"/>
                    <a:pt x="774378" y="1199465"/>
                    <a:pt x="773282" y="1809065"/>
                  </a:cubicBezTo>
                  <a:lnTo>
                    <a:pt x="318" y="1809066"/>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5" name="Text Box 47"/>
            <p:cNvSpPr txBox="1">
              <a:spLocks noChangeArrowheads="1"/>
            </p:cNvSpPr>
            <p:nvPr/>
          </p:nvSpPr>
          <p:spPr bwMode="auto">
            <a:xfrm>
              <a:off x="7088412" y="3076928"/>
              <a:ext cx="1917365"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a:solidFill>
                    <a:srgbClr val="000066"/>
                  </a:solidFill>
                  <a:latin typeface="黑体" panose="02010609060101010101" pitchFamily="49" charset="-122"/>
                  <a:ea typeface="黑体" panose="02010609060101010101" pitchFamily="49" charset="-122"/>
                </a:rPr>
                <a:t>b</a:t>
              </a:r>
              <a:r>
                <a:rPr lang="zh-CN" altLang="en-US" sz="1800" b="1" dirty="0" smtClean="0">
                  <a:solidFill>
                    <a:srgbClr val="000066"/>
                  </a:solidFill>
                  <a:latin typeface="黑体" panose="02010609060101010101" pitchFamily="49" charset="-122"/>
                  <a:ea typeface="黑体" panose="02010609060101010101" pitchFamily="49" charset="-122"/>
                </a:rPr>
                <a:t>）</a:t>
              </a:r>
              <a:r>
                <a:rPr lang="zh-CN" altLang="en-US" sz="1800" b="1" dirty="0">
                  <a:solidFill>
                    <a:srgbClr val="000066"/>
                  </a:solidFill>
                  <a:latin typeface="黑体" panose="02010609060101010101" pitchFamily="49" charset="-122"/>
                  <a:ea typeface="黑体" panose="02010609060101010101" pitchFamily="49" charset="-122"/>
                </a:rPr>
                <a:t>板桩上</a:t>
              </a:r>
              <a:r>
                <a:rPr lang="zh-CN" altLang="en-US" sz="1800" b="1" dirty="0" smtClean="0">
                  <a:solidFill>
                    <a:srgbClr val="000066"/>
                  </a:solidFill>
                  <a:latin typeface="黑体" panose="02010609060101010101" pitchFamily="49" charset="-122"/>
                  <a:ea typeface="黑体" panose="02010609060101010101" pitchFamily="49" charset="-122"/>
                </a:rPr>
                <a:t>土压力</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08" name="Line 6"/>
            <p:cNvSpPr>
              <a:spLocks noChangeShapeType="1"/>
            </p:cNvSpPr>
            <p:nvPr/>
          </p:nvSpPr>
          <p:spPr bwMode="auto">
            <a:xfrm>
              <a:off x="4849448" y="4662977"/>
              <a:ext cx="7180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 name="Line 12"/>
            <p:cNvSpPr>
              <a:spLocks noChangeShapeType="1"/>
            </p:cNvSpPr>
            <p:nvPr/>
          </p:nvSpPr>
          <p:spPr bwMode="auto">
            <a:xfrm>
              <a:off x="5654482" y="2857620"/>
              <a:ext cx="126671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5" name="Line 13"/>
            <p:cNvSpPr>
              <a:spLocks noChangeShapeType="1"/>
            </p:cNvSpPr>
            <p:nvPr/>
          </p:nvSpPr>
          <p:spPr bwMode="auto">
            <a:xfrm>
              <a:off x="5667745" y="3152572"/>
              <a:ext cx="962465" cy="0"/>
            </a:xfrm>
            <a:prstGeom prst="line">
              <a:avLst/>
            </a:prstGeom>
            <a:noFill/>
            <a:ln w="2857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6" name="Freeform 14"/>
            <p:cNvSpPr>
              <a:spLocks/>
            </p:cNvSpPr>
            <p:nvPr/>
          </p:nvSpPr>
          <p:spPr bwMode="auto">
            <a:xfrm>
              <a:off x="5681113" y="2866683"/>
              <a:ext cx="1117155" cy="2565829"/>
            </a:xfrm>
            <a:custGeom>
              <a:avLst/>
              <a:gdLst>
                <a:gd name="T0" fmla="*/ 0 w 764"/>
                <a:gd name="T1" fmla="*/ 0 h 1380"/>
                <a:gd name="T2" fmla="*/ 56 w 764"/>
                <a:gd name="T3" fmla="*/ 36 h 1380"/>
                <a:gd name="T4" fmla="*/ 112 w 764"/>
                <a:gd name="T5" fmla="*/ 100 h 1380"/>
                <a:gd name="T6" fmla="*/ 136 w 764"/>
                <a:gd name="T7" fmla="*/ 156 h 1380"/>
                <a:gd name="T8" fmla="*/ 136 w 764"/>
                <a:gd name="T9" fmla="*/ 220 h 1380"/>
                <a:gd name="T10" fmla="*/ 120 w 764"/>
                <a:gd name="T11" fmla="*/ 340 h 1380"/>
                <a:gd name="T12" fmla="*/ 112 w 764"/>
                <a:gd name="T13" fmla="*/ 468 h 1380"/>
                <a:gd name="T14" fmla="*/ 132 w 764"/>
                <a:gd name="T15" fmla="*/ 584 h 1380"/>
                <a:gd name="T16" fmla="*/ 188 w 764"/>
                <a:gd name="T17" fmla="*/ 656 h 1380"/>
                <a:gd name="T18" fmla="*/ 292 w 764"/>
                <a:gd name="T19" fmla="*/ 720 h 1380"/>
                <a:gd name="T20" fmla="*/ 424 w 764"/>
                <a:gd name="T21" fmla="*/ 792 h 1380"/>
                <a:gd name="T22" fmla="*/ 516 w 764"/>
                <a:gd name="T23" fmla="*/ 876 h 1380"/>
                <a:gd name="T24" fmla="*/ 596 w 764"/>
                <a:gd name="T25" fmla="*/ 972 h 1380"/>
                <a:gd name="T26" fmla="*/ 660 w 764"/>
                <a:gd name="T27" fmla="*/ 1084 h 1380"/>
                <a:gd name="T28" fmla="*/ 716 w 764"/>
                <a:gd name="T29" fmla="*/ 1232 h 1380"/>
                <a:gd name="T30" fmla="*/ 764 w 764"/>
                <a:gd name="T31" fmla="*/ 1380 h 13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64"/>
                <a:gd name="T49" fmla="*/ 0 h 1380"/>
                <a:gd name="T50" fmla="*/ 764 w 764"/>
                <a:gd name="T51" fmla="*/ 1380 h 13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64" h="1380">
                  <a:moveTo>
                    <a:pt x="0" y="0"/>
                  </a:moveTo>
                  <a:cubicBezTo>
                    <a:pt x="18" y="9"/>
                    <a:pt x="37" y="19"/>
                    <a:pt x="56" y="36"/>
                  </a:cubicBezTo>
                  <a:cubicBezTo>
                    <a:pt x="75" y="53"/>
                    <a:pt x="99" y="80"/>
                    <a:pt x="112" y="100"/>
                  </a:cubicBezTo>
                  <a:cubicBezTo>
                    <a:pt x="125" y="120"/>
                    <a:pt x="132" y="136"/>
                    <a:pt x="136" y="156"/>
                  </a:cubicBezTo>
                  <a:cubicBezTo>
                    <a:pt x="140" y="176"/>
                    <a:pt x="139" y="189"/>
                    <a:pt x="136" y="220"/>
                  </a:cubicBezTo>
                  <a:cubicBezTo>
                    <a:pt x="133" y="251"/>
                    <a:pt x="124" y="299"/>
                    <a:pt x="120" y="340"/>
                  </a:cubicBezTo>
                  <a:cubicBezTo>
                    <a:pt x="116" y="381"/>
                    <a:pt x="110" y="427"/>
                    <a:pt x="112" y="468"/>
                  </a:cubicBezTo>
                  <a:cubicBezTo>
                    <a:pt x="114" y="509"/>
                    <a:pt x="119" y="553"/>
                    <a:pt x="132" y="584"/>
                  </a:cubicBezTo>
                  <a:cubicBezTo>
                    <a:pt x="145" y="615"/>
                    <a:pt x="161" y="633"/>
                    <a:pt x="188" y="656"/>
                  </a:cubicBezTo>
                  <a:cubicBezTo>
                    <a:pt x="215" y="679"/>
                    <a:pt x="253" y="697"/>
                    <a:pt x="292" y="720"/>
                  </a:cubicBezTo>
                  <a:cubicBezTo>
                    <a:pt x="331" y="743"/>
                    <a:pt x="387" y="766"/>
                    <a:pt x="424" y="792"/>
                  </a:cubicBezTo>
                  <a:cubicBezTo>
                    <a:pt x="461" y="818"/>
                    <a:pt x="487" y="846"/>
                    <a:pt x="516" y="876"/>
                  </a:cubicBezTo>
                  <a:cubicBezTo>
                    <a:pt x="545" y="906"/>
                    <a:pt x="572" y="937"/>
                    <a:pt x="596" y="972"/>
                  </a:cubicBezTo>
                  <a:cubicBezTo>
                    <a:pt x="620" y="1007"/>
                    <a:pt x="640" y="1041"/>
                    <a:pt x="660" y="1084"/>
                  </a:cubicBezTo>
                  <a:cubicBezTo>
                    <a:pt x="680" y="1127"/>
                    <a:pt x="699" y="1183"/>
                    <a:pt x="716" y="1232"/>
                  </a:cubicBezTo>
                  <a:cubicBezTo>
                    <a:pt x="733" y="1281"/>
                    <a:pt x="755" y="1352"/>
                    <a:pt x="764" y="1380"/>
                  </a:cubicBezTo>
                </a:path>
              </a:pathLst>
            </a:cu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 name="Line 15"/>
            <p:cNvSpPr>
              <a:spLocks noChangeShapeType="1"/>
            </p:cNvSpPr>
            <p:nvPr/>
          </p:nvSpPr>
          <p:spPr bwMode="auto">
            <a:xfrm>
              <a:off x="5654378" y="2856930"/>
              <a:ext cx="1097841" cy="2581704"/>
            </a:xfrm>
            <a:prstGeom prst="line">
              <a:avLst/>
            </a:prstGeom>
            <a:noFill/>
            <a:ln w="1905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8" name="Freeform 16"/>
            <p:cNvSpPr>
              <a:spLocks/>
            </p:cNvSpPr>
            <p:nvPr/>
          </p:nvSpPr>
          <p:spPr bwMode="auto">
            <a:xfrm>
              <a:off x="5079628" y="4666266"/>
              <a:ext cx="490410" cy="762957"/>
            </a:xfrm>
            <a:custGeom>
              <a:avLst/>
              <a:gdLst>
                <a:gd name="T0" fmla="*/ 505 w 505"/>
                <a:gd name="T1" fmla="*/ 0 h 456"/>
                <a:gd name="T2" fmla="*/ 337 w 505"/>
                <a:gd name="T3" fmla="*/ 40 h 456"/>
                <a:gd name="T4" fmla="*/ 161 w 505"/>
                <a:gd name="T5" fmla="*/ 96 h 456"/>
                <a:gd name="T6" fmla="*/ 33 w 505"/>
                <a:gd name="T7" fmla="*/ 172 h 456"/>
                <a:gd name="T8" fmla="*/ 1 w 505"/>
                <a:gd name="T9" fmla="*/ 232 h 456"/>
                <a:gd name="T10" fmla="*/ 25 w 505"/>
                <a:gd name="T11" fmla="*/ 284 h 456"/>
                <a:gd name="T12" fmla="*/ 69 w 505"/>
                <a:gd name="T13" fmla="*/ 340 h 456"/>
                <a:gd name="T14" fmla="*/ 149 w 505"/>
                <a:gd name="T15" fmla="*/ 392 h 456"/>
                <a:gd name="T16" fmla="*/ 261 w 505"/>
                <a:gd name="T17" fmla="*/ 456 h 4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5"/>
                <a:gd name="T28" fmla="*/ 0 h 456"/>
                <a:gd name="T29" fmla="*/ 505 w 505"/>
                <a:gd name="T30" fmla="*/ 456 h 4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5" h="456">
                  <a:moveTo>
                    <a:pt x="505" y="0"/>
                  </a:moveTo>
                  <a:cubicBezTo>
                    <a:pt x="449" y="12"/>
                    <a:pt x="394" y="24"/>
                    <a:pt x="337" y="40"/>
                  </a:cubicBezTo>
                  <a:cubicBezTo>
                    <a:pt x="280" y="56"/>
                    <a:pt x="212" y="74"/>
                    <a:pt x="161" y="96"/>
                  </a:cubicBezTo>
                  <a:cubicBezTo>
                    <a:pt x="110" y="118"/>
                    <a:pt x="60" y="149"/>
                    <a:pt x="33" y="172"/>
                  </a:cubicBezTo>
                  <a:cubicBezTo>
                    <a:pt x="6" y="195"/>
                    <a:pt x="2" y="213"/>
                    <a:pt x="1" y="232"/>
                  </a:cubicBezTo>
                  <a:cubicBezTo>
                    <a:pt x="0" y="251"/>
                    <a:pt x="14" y="266"/>
                    <a:pt x="25" y="284"/>
                  </a:cubicBezTo>
                  <a:cubicBezTo>
                    <a:pt x="36" y="302"/>
                    <a:pt x="48" y="322"/>
                    <a:pt x="69" y="340"/>
                  </a:cubicBezTo>
                  <a:cubicBezTo>
                    <a:pt x="90" y="358"/>
                    <a:pt x="117" y="373"/>
                    <a:pt x="149" y="392"/>
                  </a:cubicBezTo>
                  <a:cubicBezTo>
                    <a:pt x="181" y="411"/>
                    <a:pt x="239" y="443"/>
                    <a:pt x="261" y="456"/>
                  </a:cubicBezTo>
                </a:path>
              </a:pathLst>
            </a:custGeom>
            <a:noFill/>
            <a:ln w="19050">
              <a:solidFill>
                <a:srgbClr val="00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9" name="Line 17"/>
            <p:cNvSpPr>
              <a:spLocks noChangeShapeType="1"/>
            </p:cNvSpPr>
            <p:nvPr/>
          </p:nvSpPr>
          <p:spPr bwMode="auto">
            <a:xfrm flipH="1">
              <a:off x="5031962" y="4648009"/>
              <a:ext cx="548893" cy="777926"/>
            </a:xfrm>
            <a:prstGeom prst="line">
              <a:avLst/>
            </a:prstGeom>
            <a:noFill/>
            <a:ln w="19050">
              <a:solidFill>
                <a:srgbClr val="C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 name="Rectangle 11" descr="宽上对角线"/>
            <p:cNvSpPr>
              <a:spLocks noChangeArrowheads="1"/>
            </p:cNvSpPr>
            <p:nvPr/>
          </p:nvSpPr>
          <p:spPr bwMode="auto">
            <a:xfrm>
              <a:off x="5580856" y="2855795"/>
              <a:ext cx="78534" cy="2574688"/>
            </a:xfrm>
            <a:prstGeom prst="rect">
              <a:avLst/>
            </a:prstGeom>
            <a:pattFill prst="wdUpDiag">
              <a:fgClr>
                <a:srgbClr val="9966FF"/>
              </a:fgClr>
              <a:bgClr>
                <a:schemeClr val="bg1"/>
              </a:bgClr>
            </a:pattFill>
            <a:ln w="19050">
              <a:solidFill>
                <a:schemeClr val="tx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endParaRPr lang="zh-CN" altLang="en-US"/>
            </a:p>
          </p:txBody>
        </p:sp>
        <p:cxnSp>
          <p:nvCxnSpPr>
            <p:cNvPr id="7" name="直接连接符 6"/>
            <p:cNvCxnSpPr/>
            <p:nvPr/>
          </p:nvCxnSpPr>
          <p:spPr bwMode="auto">
            <a:xfrm>
              <a:off x="7485321" y="3802955"/>
              <a:ext cx="47846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8047094" y="3563698"/>
              <a:ext cx="649537" cy="370166"/>
            </a:xfrm>
            <a:prstGeom prst="rect">
              <a:avLst/>
            </a:prstGeom>
          </p:spPr>
          <p:txBody>
            <a:bodyPr wrap="none">
              <a:spAutoFit/>
            </a:bodyPr>
            <a:lstStyle/>
            <a:p>
              <a:pPr eaLnBrk="1" hangingPunct="1">
                <a:spcBef>
                  <a:spcPct val="0"/>
                </a:spcBef>
              </a:pPr>
              <a:r>
                <a:rPr kumimoji="1" lang="zh-CN" altLang="en-US" sz="1800" b="1" dirty="0">
                  <a:solidFill>
                    <a:srgbClr val="000066"/>
                  </a:solidFill>
                  <a:latin typeface="幼圆" panose="02010509060101010101" pitchFamily="49" charset="-122"/>
                  <a:ea typeface="幼圆" panose="02010509060101010101" pitchFamily="49" charset="-122"/>
                </a:rPr>
                <a:t>实测</a:t>
              </a:r>
            </a:p>
          </p:txBody>
        </p:sp>
        <p:cxnSp>
          <p:nvCxnSpPr>
            <p:cNvPr id="363" name="直接连接符 362"/>
            <p:cNvCxnSpPr/>
            <p:nvPr/>
          </p:nvCxnSpPr>
          <p:spPr bwMode="auto">
            <a:xfrm>
              <a:off x="7485321" y="4215814"/>
              <a:ext cx="478465" cy="0"/>
            </a:xfrm>
            <a:prstGeom prst="line">
              <a:avLst/>
            </a:pr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4" name="矩形 363"/>
            <p:cNvSpPr/>
            <p:nvPr/>
          </p:nvSpPr>
          <p:spPr>
            <a:xfrm>
              <a:off x="8057516" y="4040658"/>
              <a:ext cx="649537" cy="370166"/>
            </a:xfrm>
            <a:prstGeom prst="rect">
              <a:avLst/>
            </a:prstGeom>
          </p:spPr>
          <p:txBody>
            <a:bodyPr wrap="none">
              <a:spAutoFit/>
            </a:bodyPr>
            <a:lstStyle/>
            <a:p>
              <a:pPr eaLnBrk="1" hangingPunct="1">
                <a:spcBef>
                  <a:spcPct val="0"/>
                </a:spcBef>
              </a:pPr>
              <a:r>
                <a:rPr kumimoji="1" lang="zh-CN" altLang="en-US" sz="1800" b="1" dirty="0" smtClean="0">
                  <a:solidFill>
                    <a:srgbClr val="000066"/>
                  </a:solidFill>
                  <a:latin typeface="幼圆" panose="02010509060101010101" pitchFamily="49" charset="-122"/>
                  <a:ea typeface="幼圆" panose="02010509060101010101" pitchFamily="49" charset="-122"/>
                </a:rPr>
                <a:t>计算</a:t>
              </a:r>
              <a:endParaRPr kumimoji="1" lang="zh-CN" altLang="en-US" sz="1800" b="1" dirty="0">
                <a:solidFill>
                  <a:srgbClr val="000066"/>
                </a:solidFill>
                <a:latin typeface="幼圆" panose="02010509060101010101" pitchFamily="49" charset="-122"/>
                <a:ea typeface="幼圆" panose="02010509060101010101" pitchFamily="49" charset="-122"/>
              </a:endParaRPr>
            </a:p>
          </p:txBody>
        </p:sp>
      </p:grpSp>
      <p:sp>
        <p:nvSpPr>
          <p:cNvPr id="32"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5" name="组合 4"/>
          <p:cNvGrpSpPr/>
          <p:nvPr/>
        </p:nvGrpSpPr>
        <p:grpSpPr>
          <a:xfrm>
            <a:off x="797684" y="2821286"/>
            <a:ext cx="3236697" cy="2721031"/>
            <a:chOff x="797684" y="2821286"/>
            <a:chExt cx="3236697" cy="2721031"/>
          </a:xfrm>
        </p:grpSpPr>
        <p:grpSp>
          <p:nvGrpSpPr>
            <p:cNvPr id="4" name="组合 3"/>
            <p:cNvGrpSpPr/>
            <p:nvPr/>
          </p:nvGrpSpPr>
          <p:grpSpPr>
            <a:xfrm>
              <a:off x="797684" y="2824873"/>
              <a:ext cx="3236697" cy="2717444"/>
              <a:chOff x="797684" y="2824873"/>
              <a:chExt cx="3236697" cy="2717444"/>
            </a:xfrm>
          </p:grpSpPr>
          <p:sp>
            <p:nvSpPr>
              <p:cNvPr id="3" name="任意多边形 2"/>
              <p:cNvSpPr/>
              <p:nvPr/>
            </p:nvSpPr>
            <p:spPr bwMode="auto">
              <a:xfrm>
                <a:off x="1879279" y="2825430"/>
                <a:ext cx="2091902" cy="2716887"/>
              </a:xfrm>
              <a:custGeom>
                <a:avLst/>
                <a:gdLst>
                  <a:gd name="connsiteX0" fmla="*/ 0 w 1970236"/>
                  <a:gd name="connsiteY0" fmla="*/ 1930766 h 2716887"/>
                  <a:gd name="connsiteX1" fmla="*/ 0 w 1970236"/>
                  <a:gd name="connsiteY1" fmla="*/ 2716887 h 2716887"/>
                  <a:gd name="connsiteX2" fmla="*/ 1970236 w 1970236"/>
                  <a:gd name="connsiteY2" fmla="*/ 2716887 h 2716887"/>
                  <a:gd name="connsiteX3" fmla="*/ 1970236 w 1970236"/>
                  <a:gd name="connsiteY3" fmla="*/ 0 h 2716887"/>
                  <a:gd name="connsiteX4" fmla="*/ 769675 w 1970236"/>
                  <a:gd name="connsiteY4" fmla="*/ 0 h 2716887"/>
                  <a:gd name="connsiteX5" fmla="*/ 769675 w 1970236"/>
                  <a:gd name="connsiteY5" fmla="*/ 1934055 h 2716887"/>
                  <a:gd name="connsiteX6" fmla="*/ 0 w 1970236"/>
                  <a:gd name="connsiteY6" fmla="*/ 1930766 h 2716887"/>
                  <a:gd name="connsiteX0" fmla="*/ 0 w 1970236"/>
                  <a:gd name="connsiteY0" fmla="*/ 1930766 h 2716887"/>
                  <a:gd name="connsiteX1" fmla="*/ 0 w 1970236"/>
                  <a:gd name="connsiteY1" fmla="*/ 2716887 h 2716887"/>
                  <a:gd name="connsiteX2" fmla="*/ 1970236 w 1970236"/>
                  <a:gd name="connsiteY2" fmla="*/ 2716887 h 2716887"/>
                  <a:gd name="connsiteX3" fmla="*/ 1970236 w 1970236"/>
                  <a:gd name="connsiteY3" fmla="*/ 0 h 2716887"/>
                  <a:gd name="connsiteX4" fmla="*/ 769675 w 1970236"/>
                  <a:gd name="connsiteY4" fmla="*/ 0 h 2716887"/>
                  <a:gd name="connsiteX5" fmla="*/ 766386 w 1970236"/>
                  <a:gd name="connsiteY5" fmla="*/ 1828800 h 2716887"/>
                  <a:gd name="connsiteX6" fmla="*/ 0 w 1970236"/>
                  <a:gd name="connsiteY6" fmla="*/ 1930766 h 2716887"/>
                  <a:gd name="connsiteX0" fmla="*/ 0 w 1973525"/>
                  <a:gd name="connsiteY0" fmla="*/ 1838669 h 2716887"/>
                  <a:gd name="connsiteX1" fmla="*/ 3289 w 1973525"/>
                  <a:gd name="connsiteY1" fmla="*/ 2716887 h 2716887"/>
                  <a:gd name="connsiteX2" fmla="*/ 1973525 w 1973525"/>
                  <a:gd name="connsiteY2" fmla="*/ 2716887 h 2716887"/>
                  <a:gd name="connsiteX3" fmla="*/ 1973525 w 1973525"/>
                  <a:gd name="connsiteY3" fmla="*/ 0 h 2716887"/>
                  <a:gd name="connsiteX4" fmla="*/ 772964 w 1973525"/>
                  <a:gd name="connsiteY4" fmla="*/ 0 h 2716887"/>
                  <a:gd name="connsiteX5" fmla="*/ 769675 w 1973525"/>
                  <a:gd name="connsiteY5" fmla="*/ 1828800 h 2716887"/>
                  <a:gd name="connsiteX6" fmla="*/ 0 w 1973525"/>
                  <a:gd name="connsiteY6" fmla="*/ 1838669 h 2716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3525" h="2716887">
                    <a:moveTo>
                      <a:pt x="0" y="1838669"/>
                    </a:moveTo>
                    <a:cubicBezTo>
                      <a:pt x="1096" y="2131408"/>
                      <a:pt x="2193" y="2424148"/>
                      <a:pt x="3289" y="2716887"/>
                    </a:cubicBezTo>
                    <a:lnTo>
                      <a:pt x="1973525" y="2716887"/>
                    </a:lnTo>
                    <a:lnTo>
                      <a:pt x="1973525" y="0"/>
                    </a:lnTo>
                    <a:lnTo>
                      <a:pt x="772964" y="0"/>
                    </a:lnTo>
                    <a:cubicBezTo>
                      <a:pt x="771868" y="609600"/>
                      <a:pt x="770771" y="1219200"/>
                      <a:pt x="769675" y="1828800"/>
                    </a:cubicBezTo>
                    <a:lnTo>
                      <a:pt x="0" y="1838669"/>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Text Box 47"/>
              <p:cNvSpPr txBox="1">
                <a:spLocks noChangeArrowheads="1"/>
              </p:cNvSpPr>
              <p:nvPr/>
            </p:nvSpPr>
            <p:spPr bwMode="auto">
              <a:xfrm>
                <a:off x="797684" y="3345400"/>
                <a:ext cx="1556741" cy="370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b="1" dirty="0" smtClean="0">
                    <a:solidFill>
                      <a:srgbClr val="000066"/>
                    </a:solidFill>
                    <a:latin typeface="黑体" panose="02010609060101010101" pitchFamily="49" charset="-122"/>
                    <a:ea typeface="黑体" panose="02010609060101010101" pitchFamily="49" charset="-122"/>
                  </a:rPr>
                  <a:t>a</a:t>
                </a:r>
                <a:r>
                  <a:rPr lang="zh-CN" altLang="en-US" sz="1800" b="1" dirty="0">
                    <a:solidFill>
                      <a:srgbClr val="000066"/>
                    </a:solidFill>
                    <a:latin typeface="黑体" panose="02010609060101010101" pitchFamily="49" charset="-122"/>
                    <a:ea typeface="黑体" panose="02010609060101010101" pitchFamily="49" charset="-122"/>
                  </a:rPr>
                  <a:t>）板桩变形</a:t>
                </a:r>
              </a:p>
            </p:txBody>
          </p:sp>
          <p:sp>
            <p:nvSpPr>
              <p:cNvPr id="353" name="Rectangle 30" descr="宽上对角线"/>
              <p:cNvSpPr>
                <a:spLocks noChangeArrowheads="1"/>
              </p:cNvSpPr>
              <p:nvPr/>
            </p:nvSpPr>
            <p:spPr bwMode="auto">
              <a:xfrm>
                <a:off x="2621342" y="2825475"/>
                <a:ext cx="72003" cy="2606093"/>
              </a:xfrm>
              <a:prstGeom prst="rect">
                <a:avLst/>
              </a:prstGeom>
              <a:pattFill prst="wdUpDiag">
                <a:fgClr>
                  <a:srgbClr val="9966FF"/>
                </a:fgClr>
                <a:bgClr>
                  <a:schemeClr val="bg1"/>
                </a:bgClr>
              </a:pattFill>
              <a:ln w="19050">
                <a:solidFill>
                  <a:schemeClr val="tx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endParaRPr lang="zh-CN" altLang="en-US"/>
              </a:p>
            </p:txBody>
          </p:sp>
          <p:sp>
            <p:nvSpPr>
              <p:cNvPr id="354" name="Line 31"/>
              <p:cNvSpPr>
                <a:spLocks noChangeShapeType="1"/>
              </p:cNvSpPr>
              <p:nvPr/>
            </p:nvSpPr>
            <p:spPr bwMode="auto">
              <a:xfrm>
                <a:off x="2695191" y="2824873"/>
                <a:ext cx="12759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5" name="Line 32"/>
              <p:cNvSpPr>
                <a:spLocks noChangeShapeType="1"/>
              </p:cNvSpPr>
              <p:nvPr/>
            </p:nvSpPr>
            <p:spPr bwMode="auto">
              <a:xfrm>
                <a:off x="1879279" y="4662427"/>
                <a:ext cx="73554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6" name="Text Box 52"/>
              <p:cNvSpPr txBox="1">
                <a:spLocks noChangeArrowheads="1"/>
              </p:cNvSpPr>
              <p:nvPr/>
            </p:nvSpPr>
            <p:spPr bwMode="auto">
              <a:xfrm>
                <a:off x="3285657" y="3144769"/>
                <a:ext cx="74872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a:solidFill>
                      <a:srgbClr val="000000"/>
                    </a:solidFill>
                    <a:latin typeface="幼圆" panose="02010509060101010101" pitchFamily="49" charset="-122"/>
                    <a:ea typeface="幼圆" panose="02010509060101010101" pitchFamily="49" charset="-122"/>
                  </a:rPr>
                  <a:t>锚杆</a:t>
                </a:r>
              </a:p>
            </p:txBody>
          </p:sp>
          <p:sp>
            <p:nvSpPr>
              <p:cNvPr id="337" name="Text Box 53"/>
              <p:cNvSpPr txBox="1">
                <a:spLocks noChangeArrowheads="1"/>
              </p:cNvSpPr>
              <p:nvPr/>
            </p:nvSpPr>
            <p:spPr bwMode="auto">
              <a:xfrm>
                <a:off x="2915505" y="3563698"/>
                <a:ext cx="74030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a:solidFill>
                      <a:srgbClr val="000000"/>
                    </a:solidFill>
                    <a:latin typeface="幼圆" panose="02010509060101010101" pitchFamily="49" charset="-122"/>
                    <a:ea typeface="幼圆" panose="02010509060101010101" pitchFamily="49" charset="-122"/>
                  </a:rPr>
                  <a:t>板桩</a:t>
                </a:r>
              </a:p>
            </p:txBody>
          </p:sp>
          <p:sp>
            <p:nvSpPr>
              <p:cNvPr id="338" name="Line 54"/>
              <p:cNvSpPr>
                <a:spLocks noChangeShapeType="1"/>
              </p:cNvSpPr>
              <p:nvPr/>
            </p:nvSpPr>
            <p:spPr bwMode="auto">
              <a:xfrm flipV="1">
                <a:off x="2709962" y="3865105"/>
                <a:ext cx="254781" cy="1541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359" name="Line 13"/>
              <p:cNvSpPr>
                <a:spLocks noChangeShapeType="1"/>
              </p:cNvSpPr>
              <p:nvPr/>
            </p:nvSpPr>
            <p:spPr bwMode="auto">
              <a:xfrm>
                <a:off x="2693345" y="3151889"/>
                <a:ext cx="962465" cy="0"/>
              </a:xfrm>
              <a:prstGeom prst="line">
                <a:avLst/>
              </a:prstGeom>
              <a:noFill/>
              <a:ln w="28575">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0" name="Freeform 28"/>
            <p:cNvSpPr>
              <a:spLocks/>
            </p:cNvSpPr>
            <p:nvPr/>
          </p:nvSpPr>
          <p:spPr bwMode="auto">
            <a:xfrm>
              <a:off x="2471515" y="2821286"/>
              <a:ext cx="294163" cy="2604648"/>
            </a:xfrm>
            <a:custGeom>
              <a:avLst/>
              <a:gdLst>
                <a:gd name="T0" fmla="*/ 178 w 178"/>
                <a:gd name="T1" fmla="*/ 0 h 1408"/>
                <a:gd name="T2" fmla="*/ 158 w 178"/>
                <a:gd name="T3" fmla="*/ 16 h 1408"/>
                <a:gd name="T4" fmla="*/ 74 w 178"/>
                <a:gd name="T5" fmla="*/ 232 h 1408"/>
                <a:gd name="T6" fmla="*/ 10 w 178"/>
                <a:gd name="T7" fmla="*/ 584 h 1408"/>
                <a:gd name="T8" fmla="*/ 14 w 178"/>
                <a:gd name="T9" fmla="*/ 724 h 1408"/>
                <a:gd name="T10" fmla="*/ 46 w 178"/>
                <a:gd name="T11" fmla="*/ 928 h 1408"/>
                <a:gd name="T12" fmla="*/ 90 w 178"/>
                <a:gd name="T13" fmla="*/ 1100 h 1408"/>
                <a:gd name="T14" fmla="*/ 134 w 178"/>
                <a:gd name="T15" fmla="*/ 1224 h 1408"/>
                <a:gd name="T16" fmla="*/ 162 w 178"/>
                <a:gd name="T17" fmla="*/ 1300 h 1408"/>
                <a:gd name="T18" fmla="*/ 158 w 178"/>
                <a:gd name="T19" fmla="*/ 1384 h 1408"/>
                <a:gd name="T20" fmla="*/ 134 w 178"/>
                <a:gd name="T21" fmla="*/ 1408 h 14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8"/>
                <a:gd name="T34" fmla="*/ 0 h 1408"/>
                <a:gd name="T35" fmla="*/ 178 w 178"/>
                <a:gd name="T36" fmla="*/ 1408 h 1408"/>
                <a:gd name="connsiteX0" fmla="*/ 9850 w 9850"/>
                <a:gd name="connsiteY0" fmla="*/ 0 h 10000"/>
                <a:gd name="connsiteX1" fmla="*/ 8726 w 9850"/>
                <a:gd name="connsiteY1" fmla="*/ 114 h 10000"/>
                <a:gd name="connsiteX2" fmla="*/ 4007 w 9850"/>
                <a:gd name="connsiteY2" fmla="*/ 1648 h 10000"/>
                <a:gd name="connsiteX3" fmla="*/ 230 w 9850"/>
                <a:gd name="connsiteY3" fmla="*/ 3781 h 10000"/>
                <a:gd name="connsiteX4" fmla="*/ 637 w 9850"/>
                <a:gd name="connsiteY4" fmla="*/ 5142 h 10000"/>
                <a:gd name="connsiteX5" fmla="*/ 2434 w 9850"/>
                <a:gd name="connsiteY5" fmla="*/ 6591 h 10000"/>
                <a:gd name="connsiteX6" fmla="*/ 4906 w 9850"/>
                <a:gd name="connsiteY6" fmla="*/ 7813 h 10000"/>
                <a:gd name="connsiteX7" fmla="*/ 7378 w 9850"/>
                <a:gd name="connsiteY7" fmla="*/ 8693 h 10000"/>
                <a:gd name="connsiteX8" fmla="*/ 8951 w 9850"/>
                <a:gd name="connsiteY8" fmla="*/ 9233 h 10000"/>
                <a:gd name="connsiteX9" fmla="*/ 8726 w 9850"/>
                <a:gd name="connsiteY9" fmla="*/ 9830 h 10000"/>
                <a:gd name="connsiteX10" fmla="*/ 7378 w 9850"/>
                <a:gd name="connsiteY10" fmla="*/ 10000 h 10000"/>
                <a:gd name="connsiteX0" fmla="*/ 10000 w 10000"/>
                <a:gd name="connsiteY0" fmla="*/ 0 h 10000"/>
                <a:gd name="connsiteX1" fmla="*/ 8859 w 10000"/>
                <a:gd name="connsiteY1" fmla="*/ 114 h 10000"/>
                <a:gd name="connsiteX2" fmla="*/ 4068 w 10000"/>
                <a:gd name="connsiteY2" fmla="*/ 1648 h 10000"/>
                <a:gd name="connsiteX3" fmla="*/ 234 w 10000"/>
                <a:gd name="connsiteY3" fmla="*/ 3781 h 10000"/>
                <a:gd name="connsiteX4" fmla="*/ 647 w 10000"/>
                <a:gd name="connsiteY4" fmla="*/ 5142 h 10000"/>
                <a:gd name="connsiteX5" fmla="*/ 2471 w 10000"/>
                <a:gd name="connsiteY5" fmla="*/ 6591 h 10000"/>
                <a:gd name="connsiteX6" fmla="*/ 4981 w 10000"/>
                <a:gd name="connsiteY6" fmla="*/ 7813 h 10000"/>
                <a:gd name="connsiteX7" fmla="*/ 7490 w 10000"/>
                <a:gd name="connsiteY7" fmla="*/ 8693 h 10000"/>
                <a:gd name="connsiteX8" fmla="*/ 9087 w 10000"/>
                <a:gd name="connsiteY8" fmla="*/ 9233 h 10000"/>
                <a:gd name="connsiteX9" fmla="*/ 8859 w 10000"/>
                <a:gd name="connsiteY9" fmla="*/ 9830 h 10000"/>
                <a:gd name="connsiteX10" fmla="*/ 7490 w 10000"/>
                <a:gd name="connsiteY10" fmla="*/ 10000 h 10000"/>
                <a:gd name="connsiteX0" fmla="*/ 10000 w 10000"/>
                <a:gd name="connsiteY0" fmla="*/ 0 h 10000"/>
                <a:gd name="connsiteX1" fmla="*/ 8859 w 10000"/>
                <a:gd name="connsiteY1" fmla="*/ 114 h 10000"/>
                <a:gd name="connsiteX2" fmla="*/ 4068 w 10000"/>
                <a:gd name="connsiteY2" fmla="*/ 1648 h 10000"/>
                <a:gd name="connsiteX3" fmla="*/ 234 w 10000"/>
                <a:gd name="connsiteY3" fmla="*/ 3781 h 10000"/>
                <a:gd name="connsiteX4" fmla="*/ 647 w 10000"/>
                <a:gd name="connsiteY4" fmla="*/ 5142 h 10000"/>
                <a:gd name="connsiteX5" fmla="*/ 2471 w 10000"/>
                <a:gd name="connsiteY5" fmla="*/ 6591 h 10000"/>
                <a:gd name="connsiteX6" fmla="*/ 4981 w 10000"/>
                <a:gd name="connsiteY6" fmla="*/ 7813 h 10000"/>
                <a:gd name="connsiteX7" fmla="*/ 7490 w 10000"/>
                <a:gd name="connsiteY7" fmla="*/ 8693 h 10000"/>
                <a:gd name="connsiteX8" fmla="*/ 8902 w 10000"/>
                <a:gd name="connsiteY8" fmla="*/ 9325 h 10000"/>
                <a:gd name="connsiteX9" fmla="*/ 8859 w 10000"/>
                <a:gd name="connsiteY9" fmla="*/ 9830 h 10000"/>
                <a:gd name="connsiteX10" fmla="*/ 7490 w 10000"/>
                <a:gd name="connsiteY10" fmla="*/ 10000 h 10000"/>
                <a:gd name="connsiteX0" fmla="*/ 10000 w 10000"/>
                <a:gd name="connsiteY0" fmla="*/ 0 h 10000"/>
                <a:gd name="connsiteX1" fmla="*/ 8859 w 10000"/>
                <a:gd name="connsiteY1" fmla="*/ 114 h 10000"/>
                <a:gd name="connsiteX2" fmla="*/ 4068 w 10000"/>
                <a:gd name="connsiteY2" fmla="*/ 1648 h 10000"/>
                <a:gd name="connsiteX3" fmla="*/ 234 w 10000"/>
                <a:gd name="connsiteY3" fmla="*/ 3781 h 10000"/>
                <a:gd name="connsiteX4" fmla="*/ 647 w 10000"/>
                <a:gd name="connsiteY4" fmla="*/ 5142 h 10000"/>
                <a:gd name="connsiteX5" fmla="*/ 2471 w 10000"/>
                <a:gd name="connsiteY5" fmla="*/ 6591 h 10000"/>
                <a:gd name="connsiteX6" fmla="*/ 4981 w 10000"/>
                <a:gd name="connsiteY6" fmla="*/ 7813 h 10000"/>
                <a:gd name="connsiteX7" fmla="*/ 7490 w 10000"/>
                <a:gd name="connsiteY7" fmla="*/ 8693 h 10000"/>
                <a:gd name="connsiteX8" fmla="*/ 8902 w 10000"/>
                <a:gd name="connsiteY8" fmla="*/ 9325 h 10000"/>
                <a:gd name="connsiteX9" fmla="*/ 8453 w 10000"/>
                <a:gd name="connsiteY9" fmla="*/ 9678 h 10000"/>
                <a:gd name="connsiteX10" fmla="*/ 7490 w 10000"/>
                <a:gd name="connsiteY10" fmla="*/ 10000 h 10000"/>
                <a:gd name="connsiteX0" fmla="*/ 10000 w 10000"/>
                <a:gd name="connsiteY0" fmla="*/ 0 h 10000"/>
                <a:gd name="connsiteX1" fmla="*/ 8859 w 10000"/>
                <a:gd name="connsiteY1" fmla="*/ 114 h 10000"/>
                <a:gd name="connsiteX2" fmla="*/ 4068 w 10000"/>
                <a:gd name="connsiteY2" fmla="*/ 1648 h 10000"/>
                <a:gd name="connsiteX3" fmla="*/ 234 w 10000"/>
                <a:gd name="connsiteY3" fmla="*/ 3781 h 10000"/>
                <a:gd name="connsiteX4" fmla="*/ 647 w 10000"/>
                <a:gd name="connsiteY4" fmla="*/ 5142 h 10000"/>
                <a:gd name="connsiteX5" fmla="*/ 2471 w 10000"/>
                <a:gd name="connsiteY5" fmla="*/ 6591 h 10000"/>
                <a:gd name="connsiteX6" fmla="*/ 4981 w 10000"/>
                <a:gd name="connsiteY6" fmla="*/ 7813 h 10000"/>
                <a:gd name="connsiteX7" fmla="*/ 7490 w 10000"/>
                <a:gd name="connsiteY7" fmla="*/ 8693 h 10000"/>
                <a:gd name="connsiteX8" fmla="*/ 8902 w 10000"/>
                <a:gd name="connsiteY8" fmla="*/ 9325 h 10000"/>
                <a:gd name="connsiteX9" fmla="*/ 7490 w 10000"/>
                <a:gd name="connsiteY9" fmla="*/ 10000 h 10000"/>
                <a:gd name="connsiteX0" fmla="*/ 10000 w 10000"/>
                <a:gd name="connsiteY0" fmla="*/ 0 h 9912"/>
                <a:gd name="connsiteX1" fmla="*/ 8859 w 10000"/>
                <a:gd name="connsiteY1" fmla="*/ 114 h 9912"/>
                <a:gd name="connsiteX2" fmla="*/ 4068 w 10000"/>
                <a:gd name="connsiteY2" fmla="*/ 1648 h 9912"/>
                <a:gd name="connsiteX3" fmla="*/ 234 w 10000"/>
                <a:gd name="connsiteY3" fmla="*/ 3781 h 9912"/>
                <a:gd name="connsiteX4" fmla="*/ 647 w 10000"/>
                <a:gd name="connsiteY4" fmla="*/ 5142 h 9912"/>
                <a:gd name="connsiteX5" fmla="*/ 2471 w 10000"/>
                <a:gd name="connsiteY5" fmla="*/ 6591 h 9912"/>
                <a:gd name="connsiteX6" fmla="*/ 4981 w 10000"/>
                <a:gd name="connsiteY6" fmla="*/ 7813 h 9912"/>
                <a:gd name="connsiteX7" fmla="*/ 7490 w 10000"/>
                <a:gd name="connsiteY7" fmla="*/ 8693 h 9912"/>
                <a:gd name="connsiteX8" fmla="*/ 8902 w 10000"/>
                <a:gd name="connsiteY8" fmla="*/ 9325 h 9912"/>
                <a:gd name="connsiteX9" fmla="*/ 7084 w 10000"/>
                <a:gd name="connsiteY9" fmla="*/ 9912 h 9912"/>
                <a:gd name="connsiteX0" fmla="*/ 10000 w 10000"/>
                <a:gd name="connsiteY0" fmla="*/ 0 h 10000"/>
                <a:gd name="connsiteX1" fmla="*/ 8859 w 10000"/>
                <a:gd name="connsiteY1" fmla="*/ 115 h 10000"/>
                <a:gd name="connsiteX2" fmla="*/ 4068 w 10000"/>
                <a:gd name="connsiteY2" fmla="*/ 1663 h 10000"/>
                <a:gd name="connsiteX3" fmla="*/ 234 w 10000"/>
                <a:gd name="connsiteY3" fmla="*/ 3815 h 10000"/>
                <a:gd name="connsiteX4" fmla="*/ 647 w 10000"/>
                <a:gd name="connsiteY4" fmla="*/ 5188 h 10000"/>
                <a:gd name="connsiteX5" fmla="*/ 2471 w 10000"/>
                <a:gd name="connsiteY5" fmla="*/ 6650 h 10000"/>
                <a:gd name="connsiteX6" fmla="*/ 4981 w 10000"/>
                <a:gd name="connsiteY6" fmla="*/ 7882 h 10000"/>
                <a:gd name="connsiteX7" fmla="*/ 7490 w 10000"/>
                <a:gd name="connsiteY7" fmla="*/ 8770 h 10000"/>
                <a:gd name="connsiteX8" fmla="*/ 8191 w 10000"/>
                <a:gd name="connsiteY8" fmla="*/ 9408 h 10000"/>
                <a:gd name="connsiteX9" fmla="*/ 7084 w 10000"/>
                <a:gd name="connsiteY9" fmla="*/ 10000 h 10000"/>
                <a:gd name="connsiteX0" fmla="*/ 10103 w 10103"/>
                <a:gd name="connsiteY0" fmla="*/ 0 h 10000"/>
                <a:gd name="connsiteX1" fmla="*/ 8962 w 10103"/>
                <a:gd name="connsiteY1" fmla="*/ 115 h 10000"/>
                <a:gd name="connsiteX2" fmla="*/ 4171 w 10103"/>
                <a:gd name="connsiteY2" fmla="*/ 1663 h 10000"/>
                <a:gd name="connsiteX3" fmla="*/ 337 w 10103"/>
                <a:gd name="connsiteY3" fmla="*/ 3815 h 10000"/>
                <a:gd name="connsiteX4" fmla="*/ 445 w 10103"/>
                <a:gd name="connsiteY4" fmla="*/ 5201 h 10000"/>
                <a:gd name="connsiteX5" fmla="*/ 2574 w 10103"/>
                <a:gd name="connsiteY5" fmla="*/ 6650 h 10000"/>
                <a:gd name="connsiteX6" fmla="*/ 5084 w 10103"/>
                <a:gd name="connsiteY6" fmla="*/ 7882 h 10000"/>
                <a:gd name="connsiteX7" fmla="*/ 7593 w 10103"/>
                <a:gd name="connsiteY7" fmla="*/ 8770 h 10000"/>
                <a:gd name="connsiteX8" fmla="*/ 8294 w 10103"/>
                <a:gd name="connsiteY8" fmla="*/ 9408 h 10000"/>
                <a:gd name="connsiteX9" fmla="*/ 7187 w 10103"/>
                <a:gd name="connsiteY9" fmla="*/ 10000 h 10000"/>
                <a:gd name="connsiteX0" fmla="*/ 10103 w 10103"/>
                <a:gd name="connsiteY0" fmla="*/ 0 h 10000"/>
                <a:gd name="connsiteX1" fmla="*/ 7539 w 10103"/>
                <a:gd name="connsiteY1" fmla="*/ 383 h 10000"/>
                <a:gd name="connsiteX2" fmla="*/ 4171 w 10103"/>
                <a:gd name="connsiteY2" fmla="*/ 1663 h 10000"/>
                <a:gd name="connsiteX3" fmla="*/ 337 w 10103"/>
                <a:gd name="connsiteY3" fmla="*/ 3815 h 10000"/>
                <a:gd name="connsiteX4" fmla="*/ 445 w 10103"/>
                <a:gd name="connsiteY4" fmla="*/ 5201 h 10000"/>
                <a:gd name="connsiteX5" fmla="*/ 2574 w 10103"/>
                <a:gd name="connsiteY5" fmla="*/ 6650 h 10000"/>
                <a:gd name="connsiteX6" fmla="*/ 5084 w 10103"/>
                <a:gd name="connsiteY6" fmla="*/ 7882 h 10000"/>
                <a:gd name="connsiteX7" fmla="*/ 7593 w 10103"/>
                <a:gd name="connsiteY7" fmla="*/ 8770 h 10000"/>
                <a:gd name="connsiteX8" fmla="*/ 8294 w 10103"/>
                <a:gd name="connsiteY8" fmla="*/ 9408 h 10000"/>
                <a:gd name="connsiteX9" fmla="*/ 7187 w 10103"/>
                <a:gd name="connsiteY9" fmla="*/ 10000 h 10000"/>
                <a:gd name="connsiteX0" fmla="*/ 8884 w 8884"/>
                <a:gd name="connsiteY0" fmla="*/ 0 h 9987"/>
                <a:gd name="connsiteX1" fmla="*/ 7539 w 8884"/>
                <a:gd name="connsiteY1" fmla="*/ 370 h 9987"/>
                <a:gd name="connsiteX2" fmla="*/ 4171 w 8884"/>
                <a:gd name="connsiteY2" fmla="*/ 1650 h 9987"/>
                <a:gd name="connsiteX3" fmla="*/ 337 w 8884"/>
                <a:gd name="connsiteY3" fmla="*/ 3802 h 9987"/>
                <a:gd name="connsiteX4" fmla="*/ 445 w 8884"/>
                <a:gd name="connsiteY4" fmla="*/ 5188 h 9987"/>
                <a:gd name="connsiteX5" fmla="*/ 2574 w 8884"/>
                <a:gd name="connsiteY5" fmla="*/ 6637 h 9987"/>
                <a:gd name="connsiteX6" fmla="*/ 5084 w 8884"/>
                <a:gd name="connsiteY6" fmla="*/ 7869 h 9987"/>
                <a:gd name="connsiteX7" fmla="*/ 7593 w 8884"/>
                <a:gd name="connsiteY7" fmla="*/ 8757 h 9987"/>
                <a:gd name="connsiteX8" fmla="*/ 8294 w 8884"/>
                <a:gd name="connsiteY8" fmla="*/ 9395 h 9987"/>
                <a:gd name="connsiteX9" fmla="*/ 7187 w 8884"/>
                <a:gd name="connsiteY9" fmla="*/ 9987 h 9987"/>
                <a:gd name="connsiteX0" fmla="*/ 10687 w 10687"/>
                <a:gd name="connsiteY0" fmla="*/ 0 h 10128"/>
                <a:gd name="connsiteX1" fmla="*/ 8487 w 10687"/>
                <a:gd name="connsiteY1" fmla="*/ 498 h 10128"/>
                <a:gd name="connsiteX2" fmla="*/ 4696 w 10687"/>
                <a:gd name="connsiteY2" fmla="*/ 1780 h 10128"/>
                <a:gd name="connsiteX3" fmla="*/ 380 w 10687"/>
                <a:gd name="connsiteY3" fmla="*/ 3935 h 10128"/>
                <a:gd name="connsiteX4" fmla="*/ 502 w 10687"/>
                <a:gd name="connsiteY4" fmla="*/ 5323 h 10128"/>
                <a:gd name="connsiteX5" fmla="*/ 2898 w 10687"/>
                <a:gd name="connsiteY5" fmla="*/ 6774 h 10128"/>
                <a:gd name="connsiteX6" fmla="*/ 5724 w 10687"/>
                <a:gd name="connsiteY6" fmla="*/ 8007 h 10128"/>
                <a:gd name="connsiteX7" fmla="*/ 8548 w 10687"/>
                <a:gd name="connsiteY7" fmla="*/ 8896 h 10128"/>
                <a:gd name="connsiteX8" fmla="*/ 9337 w 10687"/>
                <a:gd name="connsiteY8" fmla="*/ 9535 h 10128"/>
                <a:gd name="connsiteX9" fmla="*/ 8091 w 10687"/>
                <a:gd name="connsiteY9" fmla="*/ 10128 h 10128"/>
                <a:gd name="connsiteX0" fmla="*/ 10229 w 10229"/>
                <a:gd name="connsiteY0" fmla="*/ 0 h 10102"/>
                <a:gd name="connsiteX1" fmla="*/ 8487 w 10229"/>
                <a:gd name="connsiteY1" fmla="*/ 472 h 10102"/>
                <a:gd name="connsiteX2" fmla="*/ 4696 w 10229"/>
                <a:gd name="connsiteY2" fmla="*/ 1754 h 10102"/>
                <a:gd name="connsiteX3" fmla="*/ 380 w 10229"/>
                <a:gd name="connsiteY3" fmla="*/ 3909 h 10102"/>
                <a:gd name="connsiteX4" fmla="*/ 502 w 10229"/>
                <a:gd name="connsiteY4" fmla="*/ 5297 h 10102"/>
                <a:gd name="connsiteX5" fmla="*/ 2898 w 10229"/>
                <a:gd name="connsiteY5" fmla="*/ 6748 h 10102"/>
                <a:gd name="connsiteX6" fmla="*/ 5724 w 10229"/>
                <a:gd name="connsiteY6" fmla="*/ 7981 h 10102"/>
                <a:gd name="connsiteX7" fmla="*/ 8548 w 10229"/>
                <a:gd name="connsiteY7" fmla="*/ 8870 h 10102"/>
                <a:gd name="connsiteX8" fmla="*/ 9337 w 10229"/>
                <a:gd name="connsiteY8" fmla="*/ 9509 h 10102"/>
                <a:gd name="connsiteX9" fmla="*/ 8091 w 10229"/>
                <a:gd name="connsiteY9" fmla="*/ 10102 h 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9" h="10102">
                  <a:moveTo>
                    <a:pt x="10229" y="0"/>
                  </a:moveTo>
                  <a:lnTo>
                    <a:pt x="8487" y="472"/>
                  </a:lnTo>
                  <a:cubicBezTo>
                    <a:pt x="7395" y="752"/>
                    <a:pt x="6047" y="1181"/>
                    <a:pt x="4696" y="1754"/>
                  </a:cubicBezTo>
                  <a:cubicBezTo>
                    <a:pt x="3345" y="2327"/>
                    <a:pt x="1079" y="3318"/>
                    <a:pt x="380" y="3909"/>
                  </a:cubicBezTo>
                  <a:cubicBezTo>
                    <a:pt x="-319" y="4500"/>
                    <a:pt x="82" y="4823"/>
                    <a:pt x="502" y="5297"/>
                  </a:cubicBezTo>
                  <a:cubicBezTo>
                    <a:pt x="921" y="5769"/>
                    <a:pt x="2028" y="6300"/>
                    <a:pt x="2898" y="6748"/>
                  </a:cubicBezTo>
                  <a:cubicBezTo>
                    <a:pt x="3768" y="7195"/>
                    <a:pt x="4760" y="7629"/>
                    <a:pt x="5724" y="7981"/>
                  </a:cubicBezTo>
                  <a:cubicBezTo>
                    <a:pt x="6687" y="8333"/>
                    <a:pt x="7946" y="8616"/>
                    <a:pt x="8548" y="8870"/>
                  </a:cubicBezTo>
                  <a:cubicBezTo>
                    <a:pt x="9150" y="9125"/>
                    <a:pt x="9413" y="9304"/>
                    <a:pt x="9337" y="9509"/>
                  </a:cubicBezTo>
                  <a:cubicBezTo>
                    <a:pt x="9260" y="9714"/>
                    <a:pt x="8422" y="9961"/>
                    <a:pt x="8091" y="10102"/>
                  </a:cubicBezTo>
                </a:path>
              </a:pathLst>
            </a:custGeom>
            <a:noFill/>
            <a:ln w="1905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25604908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barn(inVertical)">
                                      <p:cBhvr>
                                        <p:cTn id="7" dur="500"/>
                                        <p:tgtEl>
                                          <p:spTgt spid="2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13</a:t>
            </a:fld>
            <a:endParaRPr lang="zh-CN" altLang="en-US" dirty="0">
              <a:solidFill>
                <a:srgbClr val="C00000"/>
              </a:solidFill>
            </a:endParaRP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106" name="Text Box 5"/>
          <p:cNvSpPr txBox="1">
            <a:spLocks noChangeArrowheads="1"/>
          </p:cNvSpPr>
          <p:nvPr/>
        </p:nvSpPr>
        <p:spPr bwMode="auto">
          <a:xfrm>
            <a:off x="995496" y="1355752"/>
            <a:ext cx="4178938" cy="1157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3050" indent="-273050" eaLnBrk="1" hangingPunct="1">
              <a:lnSpc>
                <a:spcPct val="130000"/>
              </a:lnSpc>
              <a:spcBef>
                <a:spcPts val="0"/>
              </a:spcBef>
              <a:spcAft>
                <a:spcPts val="400"/>
              </a:spcAft>
              <a:buClr>
                <a:srgbClr val="A50021"/>
              </a:buClr>
              <a:buSzPct val="130000"/>
              <a:buFont typeface="Wingdings" pitchFamily="2" charset="2"/>
              <a:buChar char="F"/>
            </a:pPr>
            <a:r>
              <a:rPr lang="en-US" altLang="zh-CN" sz="2000" b="1" dirty="0" smtClean="0">
                <a:solidFill>
                  <a:srgbClr val="000066"/>
                </a:solidFill>
                <a:ea typeface="幼圆" pitchFamily="49" charset="-122"/>
                <a:cs typeface="Times New Roman" panose="02020603050405020304" pitchFamily="18" charset="0"/>
                <a:sym typeface="Symbol" pitchFamily="18" charset="2"/>
              </a:rPr>
              <a:t>在深基坑开挖中，为支护坑壁而设置于土中的板桩墙、混凝</a:t>
            </a:r>
            <a:r>
              <a:rPr lang="zh-CN" altLang="en-US" sz="2000" b="1" dirty="0" smtClean="0">
                <a:solidFill>
                  <a:srgbClr val="000066"/>
                </a:solidFill>
                <a:ea typeface="幼圆" pitchFamily="49" charset="-122"/>
                <a:cs typeface="Times New Roman" panose="02020603050405020304" pitchFamily="18" charset="0"/>
                <a:sym typeface="Symbol" pitchFamily="18" charset="2"/>
              </a:rPr>
              <a:t>土</a:t>
            </a:r>
            <a:r>
              <a:rPr lang="en-US" altLang="zh-CN" sz="2000" b="1" dirty="0" err="1" smtClean="0">
                <a:solidFill>
                  <a:srgbClr val="000066"/>
                </a:solidFill>
                <a:ea typeface="幼圆" pitchFamily="49" charset="-122"/>
                <a:cs typeface="Times New Roman" panose="02020603050405020304" pitchFamily="18" charset="0"/>
                <a:sym typeface="Symbol" pitchFamily="18" charset="2"/>
              </a:rPr>
              <a:t>地下连续墙及排桩等即属于柔性挡土墙</a:t>
            </a:r>
            <a:endParaRPr lang="zh-CN" altLang="en-US" sz="2000" b="1" dirty="0">
              <a:solidFill>
                <a:srgbClr val="000066"/>
              </a:solidFill>
              <a:ea typeface="幼圆" pitchFamily="49" charset="-122"/>
              <a:cs typeface="Times New Roman" panose="02020603050405020304" pitchFamily="18" charset="0"/>
            </a:endParaRPr>
          </a:p>
        </p:txBody>
      </p:sp>
      <p:sp>
        <p:nvSpPr>
          <p:cNvPr id="209" name="AutoShape 59" descr="画布"/>
          <p:cNvSpPr>
            <a:spLocks noChangeArrowheads="1"/>
          </p:cNvSpPr>
          <p:nvPr/>
        </p:nvSpPr>
        <p:spPr bwMode="auto">
          <a:xfrm>
            <a:off x="2675296" y="2794651"/>
            <a:ext cx="1803956" cy="2184939"/>
          </a:xfrm>
          <a:prstGeom prst="cube">
            <a:avLst>
              <a:gd name="adj" fmla="val 25000"/>
            </a:avLst>
          </a:prstGeom>
          <a:pattFill prst="pct5">
            <a:fgClr>
              <a:schemeClr val="tx1"/>
            </a:fgClr>
            <a:bgClr>
              <a:srgbClr val="F5D0AB"/>
            </a:bgClr>
          </a:pattFill>
          <a:ln w="9525">
            <a:solidFill>
              <a:srgbClr val="E34607"/>
            </a:solidFill>
            <a:miter lim="800000"/>
            <a:headEnd/>
            <a:tailEnd/>
          </a:ln>
          <a:effectLst/>
          <a:extLst/>
        </p:spPr>
        <p:txBody>
          <a:bodyPr wrap="none" anchor="ctr"/>
          <a:lstStyle/>
          <a:p>
            <a:endParaRPr lang="zh-CN" altLang="en-US" sz="864"/>
          </a:p>
        </p:txBody>
      </p:sp>
      <p:grpSp>
        <p:nvGrpSpPr>
          <p:cNvPr id="210" name="Group 60"/>
          <p:cNvGrpSpPr>
            <a:grpSpLocks/>
          </p:cNvGrpSpPr>
          <p:nvPr/>
        </p:nvGrpSpPr>
        <p:grpSpPr bwMode="auto">
          <a:xfrm>
            <a:off x="2671487" y="3176111"/>
            <a:ext cx="150488" cy="1833482"/>
            <a:chOff x="3252" y="318"/>
            <a:chExt cx="150" cy="1056"/>
          </a:xfrm>
          <a:solidFill>
            <a:srgbClr val="CCCC00"/>
          </a:solidFill>
        </p:grpSpPr>
        <p:sp>
          <p:nvSpPr>
            <p:cNvPr id="211" name="Rectangle 61"/>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12" name="Freeform 62"/>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13" name="Freeform 63"/>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14" name="Group 64"/>
          <p:cNvGrpSpPr>
            <a:grpSpLocks/>
          </p:cNvGrpSpPr>
          <p:nvPr/>
        </p:nvGrpSpPr>
        <p:grpSpPr bwMode="auto">
          <a:xfrm>
            <a:off x="2787686" y="3176588"/>
            <a:ext cx="150488" cy="1833482"/>
            <a:chOff x="3252" y="318"/>
            <a:chExt cx="150" cy="1056"/>
          </a:xfrm>
          <a:solidFill>
            <a:srgbClr val="CCCC00"/>
          </a:solidFill>
        </p:grpSpPr>
        <p:sp>
          <p:nvSpPr>
            <p:cNvPr id="215" name="Rectangle 65"/>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16" name="Freeform 66"/>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17" name="Freeform 67"/>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18" name="Group 68"/>
          <p:cNvGrpSpPr>
            <a:grpSpLocks/>
          </p:cNvGrpSpPr>
          <p:nvPr/>
        </p:nvGrpSpPr>
        <p:grpSpPr bwMode="auto">
          <a:xfrm>
            <a:off x="2901982" y="3176588"/>
            <a:ext cx="150488" cy="1833482"/>
            <a:chOff x="3252" y="318"/>
            <a:chExt cx="150" cy="1056"/>
          </a:xfrm>
          <a:solidFill>
            <a:srgbClr val="CCCC00"/>
          </a:solidFill>
        </p:grpSpPr>
        <p:sp>
          <p:nvSpPr>
            <p:cNvPr id="219" name="Rectangle 69"/>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20" name="Freeform 70"/>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21" name="Freeform 71"/>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22" name="Group 72"/>
          <p:cNvGrpSpPr>
            <a:grpSpLocks/>
          </p:cNvGrpSpPr>
          <p:nvPr/>
        </p:nvGrpSpPr>
        <p:grpSpPr bwMode="auto">
          <a:xfrm>
            <a:off x="3006752" y="3176111"/>
            <a:ext cx="150488" cy="1833482"/>
            <a:chOff x="3252" y="318"/>
            <a:chExt cx="150" cy="1056"/>
          </a:xfrm>
          <a:solidFill>
            <a:srgbClr val="CCCC00"/>
          </a:solidFill>
        </p:grpSpPr>
        <p:sp>
          <p:nvSpPr>
            <p:cNvPr id="223" name="Rectangle 73"/>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24" name="Freeform 74"/>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25" name="Freeform 75"/>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26" name="Group 76"/>
          <p:cNvGrpSpPr>
            <a:grpSpLocks/>
          </p:cNvGrpSpPr>
          <p:nvPr/>
        </p:nvGrpSpPr>
        <p:grpSpPr bwMode="auto">
          <a:xfrm>
            <a:off x="3122952" y="3176588"/>
            <a:ext cx="150488" cy="1833482"/>
            <a:chOff x="3252" y="318"/>
            <a:chExt cx="150" cy="1056"/>
          </a:xfrm>
          <a:solidFill>
            <a:srgbClr val="CCCC00"/>
          </a:solidFill>
        </p:grpSpPr>
        <p:sp>
          <p:nvSpPr>
            <p:cNvPr id="227" name="Rectangle 77"/>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28" name="Freeform 78"/>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29" name="Freeform 79"/>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30" name="Group 80"/>
          <p:cNvGrpSpPr>
            <a:grpSpLocks/>
          </p:cNvGrpSpPr>
          <p:nvPr/>
        </p:nvGrpSpPr>
        <p:grpSpPr bwMode="auto">
          <a:xfrm>
            <a:off x="3237247" y="3176588"/>
            <a:ext cx="150488" cy="1833482"/>
            <a:chOff x="3252" y="318"/>
            <a:chExt cx="150" cy="1056"/>
          </a:xfrm>
          <a:solidFill>
            <a:srgbClr val="CCCC00"/>
          </a:solidFill>
        </p:grpSpPr>
        <p:sp>
          <p:nvSpPr>
            <p:cNvPr id="231" name="Rectangle 81"/>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32" name="Freeform 82"/>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33" name="Freeform 83"/>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34" name="Group 84"/>
          <p:cNvGrpSpPr>
            <a:grpSpLocks/>
          </p:cNvGrpSpPr>
          <p:nvPr/>
        </p:nvGrpSpPr>
        <p:grpSpPr bwMode="auto">
          <a:xfrm>
            <a:off x="3349637" y="3176111"/>
            <a:ext cx="150488" cy="1833482"/>
            <a:chOff x="3252" y="318"/>
            <a:chExt cx="150" cy="1056"/>
          </a:xfrm>
          <a:solidFill>
            <a:srgbClr val="CCCC00"/>
          </a:solidFill>
        </p:grpSpPr>
        <p:sp>
          <p:nvSpPr>
            <p:cNvPr id="235" name="Rectangle 85"/>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36" name="Freeform 86"/>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37" name="Freeform 87"/>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38" name="Group 88"/>
          <p:cNvGrpSpPr>
            <a:grpSpLocks/>
          </p:cNvGrpSpPr>
          <p:nvPr/>
        </p:nvGrpSpPr>
        <p:grpSpPr bwMode="auto">
          <a:xfrm>
            <a:off x="3465837" y="3176588"/>
            <a:ext cx="150488" cy="1833482"/>
            <a:chOff x="3252" y="318"/>
            <a:chExt cx="150" cy="1056"/>
          </a:xfrm>
          <a:solidFill>
            <a:srgbClr val="CCCC00"/>
          </a:solidFill>
        </p:grpSpPr>
        <p:sp>
          <p:nvSpPr>
            <p:cNvPr id="239" name="Rectangle 89"/>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40" name="Freeform 90"/>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41" name="Freeform 91"/>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42" name="Group 92"/>
          <p:cNvGrpSpPr>
            <a:grpSpLocks/>
          </p:cNvGrpSpPr>
          <p:nvPr/>
        </p:nvGrpSpPr>
        <p:grpSpPr bwMode="auto">
          <a:xfrm>
            <a:off x="3580132" y="3176588"/>
            <a:ext cx="150488" cy="1833482"/>
            <a:chOff x="3252" y="318"/>
            <a:chExt cx="150" cy="1056"/>
          </a:xfrm>
          <a:solidFill>
            <a:srgbClr val="CCCC00"/>
          </a:solidFill>
        </p:grpSpPr>
        <p:sp>
          <p:nvSpPr>
            <p:cNvPr id="243" name="Rectangle 93"/>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44" name="Freeform 94"/>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45" name="Freeform 95"/>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46" name="Group 96"/>
          <p:cNvGrpSpPr>
            <a:grpSpLocks/>
          </p:cNvGrpSpPr>
          <p:nvPr/>
        </p:nvGrpSpPr>
        <p:grpSpPr bwMode="auto">
          <a:xfrm>
            <a:off x="3684902" y="3176111"/>
            <a:ext cx="150488" cy="1833482"/>
            <a:chOff x="3252" y="318"/>
            <a:chExt cx="150" cy="1056"/>
          </a:xfrm>
          <a:solidFill>
            <a:srgbClr val="CCCC00"/>
          </a:solidFill>
        </p:grpSpPr>
        <p:sp>
          <p:nvSpPr>
            <p:cNvPr id="247" name="Rectangle 97"/>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48" name="Freeform 98"/>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49" name="Freeform 99"/>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50" name="Group 100"/>
          <p:cNvGrpSpPr>
            <a:grpSpLocks/>
          </p:cNvGrpSpPr>
          <p:nvPr/>
        </p:nvGrpSpPr>
        <p:grpSpPr bwMode="auto">
          <a:xfrm>
            <a:off x="3801102" y="3176588"/>
            <a:ext cx="150488" cy="1833482"/>
            <a:chOff x="3252" y="318"/>
            <a:chExt cx="150" cy="1056"/>
          </a:xfrm>
          <a:solidFill>
            <a:srgbClr val="CCCC00"/>
          </a:solidFill>
        </p:grpSpPr>
        <p:sp>
          <p:nvSpPr>
            <p:cNvPr id="251" name="Rectangle 101"/>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52" name="Freeform 102"/>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53" name="Freeform 103"/>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grpSp>
        <p:nvGrpSpPr>
          <p:cNvPr id="254" name="Group 104"/>
          <p:cNvGrpSpPr>
            <a:grpSpLocks/>
          </p:cNvGrpSpPr>
          <p:nvPr/>
        </p:nvGrpSpPr>
        <p:grpSpPr bwMode="auto">
          <a:xfrm>
            <a:off x="3915397" y="3176588"/>
            <a:ext cx="150488" cy="1833482"/>
            <a:chOff x="3252" y="318"/>
            <a:chExt cx="150" cy="1056"/>
          </a:xfrm>
          <a:solidFill>
            <a:srgbClr val="CCCC00"/>
          </a:solidFill>
        </p:grpSpPr>
        <p:sp>
          <p:nvSpPr>
            <p:cNvPr id="255" name="Rectangle 105"/>
            <p:cNvSpPr>
              <a:spLocks noChangeArrowheads="1"/>
            </p:cNvSpPr>
            <p:nvPr/>
          </p:nvSpPr>
          <p:spPr bwMode="auto">
            <a:xfrm>
              <a:off x="3256" y="336"/>
              <a:ext cx="113" cy="1037"/>
            </a:xfrm>
            <a:prstGeom prst="rect">
              <a:avLst/>
            </a:prstGeom>
            <a:grp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56" name="Freeform 106"/>
            <p:cNvSpPr>
              <a:spLocks/>
            </p:cNvSpPr>
            <p:nvPr/>
          </p:nvSpPr>
          <p:spPr bwMode="auto">
            <a:xfrm>
              <a:off x="3252" y="318"/>
              <a:ext cx="150" cy="15"/>
            </a:xfrm>
            <a:custGeom>
              <a:avLst/>
              <a:gdLst>
                <a:gd name="T0" fmla="*/ 120 w 150"/>
                <a:gd name="T1" fmla="*/ 15 h 15"/>
                <a:gd name="T2" fmla="*/ 0 w 150"/>
                <a:gd name="T3" fmla="*/ 15 h 15"/>
                <a:gd name="T4" fmla="*/ 45 w 150"/>
                <a:gd name="T5" fmla="*/ 0 h 15"/>
                <a:gd name="T6" fmla="*/ 150 w 150"/>
                <a:gd name="T7" fmla="*/ 0 h 15"/>
                <a:gd name="T8" fmla="*/ 120 w 150"/>
                <a:gd name="T9" fmla="*/ 15 h 15"/>
              </a:gdLst>
              <a:ahLst/>
              <a:cxnLst>
                <a:cxn ang="0">
                  <a:pos x="T0" y="T1"/>
                </a:cxn>
                <a:cxn ang="0">
                  <a:pos x="T2" y="T3"/>
                </a:cxn>
                <a:cxn ang="0">
                  <a:pos x="T4" y="T5"/>
                </a:cxn>
                <a:cxn ang="0">
                  <a:pos x="T6" y="T7"/>
                </a:cxn>
                <a:cxn ang="0">
                  <a:pos x="T8" y="T9"/>
                </a:cxn>
              </a:cxnLst>
              <a:rect l="0" t="0" r="r" b="b"/>
              <a:pathLst>
                <a:path w="150" h="15">
                  <a:moveTo>
                    <a:pt x="120" y="15"/>
                  </a:moveTo>
                  <a:lnTo>
                    <a:pt x="0" y="15"/>
                  </a:lnTo>
                  <a:lnTo>
                    <a:pt x="45" y="0"/>
                  </a:lnTo>
                  <a:lnTo>
                    <a:pt x="150" y="0"/>
                  </a:lnTo>
                  <a:lnTo>
                    <a:pt x="120" y="15"/>
                  </a:lnTo>
                  <a:close/>
                </a:path>
              </a:pathLst>
            </a:custGeom>
            <a:grpFill/>
            <a:ln w="63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sp>
          <p:nvSpPr>
            <p:cNvPr id="257" name="Freeform 107"/>
            <p:cNvSpPr>
              <a:spLocks/>
            </p:cNvSpPr>
            <p:nvPr/>
          </p:nvSpPr>
          <p:spPr bwMode="auto">
            <a:xfrm>
              <a:off x="3369" y="321"/>
              <a:ext cx="30" cy="1053"/>
            </a:xfrm>
            <a:custGeom>
              <a:avLst/>
              <a:gdLst>
                <a:gd name="T0" fmla="*/ 30 w 30"/>
                <a:gd name="T1" fmla="*/ 0 h 1053"/>
                <a:gd name="T2" fmla="*/ 30 w 30"/>
                <a:gd name="T3" fmla="*/ 1020 h 1053"/>
                <a:gd name="T4" fmla="*/ 0 w 30"/>
                <a:gd name="T5" fmla="*/ 1053 h 1053"/>
                <a:gd name="T6" fmla="*/ 0 w 30"/>
                <a:gd name="T7" fmla="*/ 15 h 1053"/>
                <a:gd name="T8" fmla="*/ 30 w 30"/>
                <a:gd name="T9" fmla="*/ 0 h 1053"/>
              </a:gdLst>
              <a:ahLst/>
              <a:cxnLst>
                <a:cxn ang="0">
                  <a:pos x="T0" y="T1"/>
                </a:cxn>
                <a:cxn ang="0">
                  <a:pos x="T2" y="T3"/>
                </a:cxn>
                <a:cxn ang="0">
                  <a:pos x="T4" y="T5"/>
                </a:cxn>
                <a:cxn ang="0">
                  <a:pos x="T6" y="T7"/>
                </a:cxn>
                <a:cxn ang="0">
                  <a:pos x="T8" y="T9"/>
                </a:cxn>
              </a:cxnLst>
              <a:rect l="0" t="0" r="r" b="b"/>
              <a:pathLst>
                <a:path w="30" h="1053">
                  <a:moveTo>
                    <a:pt x="30" y="0"/>
                  </a:moveTo>
                  <a:lnTo>
                    <a:pt x="30" y="1020"/>
                  </a:lnTo>
                  <a:lnTo>
                    <a:pt x="0" y="1053"/>
                  </a:lnTo>
                  <a:lnTo>
                    <a:pt x="0" y="15"/>
                  </a:lnTo>
                  <a:lnTo>
                    <a:pt x="30" y="0"/>
                  </a:lnTo>
                  <a:close/>
                </a:path>
              </a:pathLst>
            </a:custGeom>
            <a:grpFill/>
            <a:ln w="63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sp>
        <p:nvSpPr>
          <p:cNvPr id="258" name="Rectangle 108"/>
          <p:cNvSpPr>
            <a:spLocks noChangeArrowheads="1"/>
          </p:cNvSpPr>
          <p:nvPr/>
        </p:nvSpPr>
        <p:spPr bwMode="auto">
          <a:xfrm rot="16200000">
            <a:off x="3302966" y="2969904"/>
            <a:ext cx="118105" cy="1390589"/>
          </a:xfrm>
          <a:prstGeom prst="rect">
            <a:avLst/>
          </a:prstGeom>
          <a:solidFill>
            <a:srgbClr val="FA936A"/>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59" name="AutoShape 109" descr="画布"/>
          <p:cNvSpPr>
            <a:spLocks noChangeArrowheads="1"/>
          </p:cNvSpPr>
          <p:nvPr/>
        </p:nvSpPr>
        <p:spPr bwMode="auto">
          <a:xfrm>
            <a:off x="2489022" y="4417233"/>
            <a:ext cx="1555364" cy="727678"/>
          </a:xfrm>
          <a:prstGeom prst="cube">
            <a:avLst>
              <a:gd name="adj" fmla="val 25000"/>
            </a:avLst>
          </a:prstGeom>
          <a:pattFill prst="pct5">
            <a:fgClr>
              <a:schemeClr val="tx1"/>
            </a:fgClr>
            <a:bgClr>
              <a:srgbClr val="F5D0AB"/>
            </a:bgClr>
          </a:pattFill>
          <a:ln w="9525">
            <a:solidFill>
              <a:srgbClr val="E34607"/>
            </a:solidFill>
            <a:miter lim="800000"/>
            <a:headEnd/>
            <a:tailEnd/>
          </a:ln>
          <a:effectLst/>
          <a:extLst/>
        </p:spPr>
        <p:txBody>
          <a:bodyPr wrap="none" anchor="ctr"/>
          <a:lstStyle/>
          <a:p>
            <a:endParaRPr lang="zh-CN" altLang="en-US" sz="864"/>
          </a:p>
        </p:txBody>
      </p:sp>
      <p:grpSp>
        <p:nvGrpSpPr>
          <p:cNvPr id="260" name="Group 111"/>
          <p:cNvGrpSpPr>
            <a:grpSpLocks/>
          </p:cNvGrpSpPr>
          <p:nvPr/>
        </p:nvGrpSpPr>
        <p:grpSpPr bwMode="auto">
          <a:xfrm>
            <a:off x="3863010" y="3258498"/>
            <a:ext cx="1051513" cy="510518"/>
            <a:chOff x="4615" y="288"/>
            <a:chExt cx="1104" cy="536"/>
          </a:xfrm>
        </p:grpSpPr>
        <p:sp>
          <p:nvSpPr>
            <p:cNvPr id="263" name="Line 116"/>
            <p:cNvSpPr>
              <a:spLocks noChangeShapeType="1"/>
            </p:cNvSpPr>
            <p:nvPr/>
          </p:nvSpPr>
          <p:spPr bwMode="auto">
            <a:xfrm flipV="1">
              <a:off x="4810" y="288"/>
              <a:ext cx="408" cy="420"/>
            </a:xfrm>
            <a:prstGeom prst="line">
              <a:avLst/>
            </a:prstGeom>
            <a:noFill/>
            <a:ln w="571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864"/>
            </a:p>
          </p:txBody>
        </p:sp>
        <p:grpSp>
          <p:nvGrpSpPr>
            <p:cNvPr id="261" name="Group 112"/>
            <p:cNvGrpSpPr>
              <a:grpSpLocks/>
            </p:cNvGrpSpPr>
            <p:nvPr/>
          </p:nvGrpSpPr>
          <p:grpSpPr bwMode="auto">
            <a:xfrm>
              <a:off x="4615" y="616"/>
              <a:ext cx="215" cy="208"/>
              <a:chOff x="3705" y="480"/>
              <a:chExt cx="215" cy="208"/>
            </a:xfrm>
          </p:grpSpPr>
          <p:sp>
            <p:nvSpPr>
              <p:cNvPr id="264" name="Rectangle 113"/>
              <p:cNvSpPr>
                <a:spLocks noChangeArrowheads="1"/>
              </p:cNvSpPr>
              <p:nvPr/>
            </p:nvSpPr>
            <p:spPr bwMode="auto">
              <a:xfrm>
                <a:off x="3705" y="480"/>
                <a:ext cx="215" cy="208"/>
              </a:xfrm>
              <a:prstGeom prst="rect">
                <a:avLst/>
              </a:prstGeom>
              <a:solidFill>
                <a:srgbClr val="FA936A"/>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sp>
            <p:nvSpPr>
              <p:cNvPr id="265" name="Rectangle 114"/>
              <p:cNvSpPr>
                <a:spLocks noChangeArrowheads="1"/>
              </p:cNvSpPr>
              <p:nvPr/>
            </p:nvSpPr>
            <p:spPr bwMode="auto">
              <a:xfrm>
                <a:off x="3760" y="528"/>
                <a:ext cx="111" cy="112"/>
              </a:xfrm>
              <a:prstGeom prst="rect">
                <a:avLst/>
              </a:prstGeom>
              <a:solidFill>
                <a:srgbClr val="000066"/>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64"/>
              </a:p>
            </p:txBody>
          </p:sp>
        </p:grpSp>
        <p:sp>
          <p:nvSpPr>
            <p:cNvPr id="262" name="Text Box 115"/>
            <p:cNvSpPr txBox="1">
              <a:spLocks noChangeArrowheads="1"/>
            </p:cNvSpPr>
            <p:nvPr/>
          </p:nvSpPr>
          <p:spPr bwMode="auto">
            <a:xfrm>
              <a:off x="5009" y="388"/>
              <a:ext cx="710"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680" dirty="0">
                  <a:solidFill>
                    <a:srgbClr val="000000"/>
                  </a:solidFill>
                  <a:latin typeface="黑体" panose="02010609060101010101" pitchFamily="49" charset="-122"/>
                  <a:ea typeface="黑体" panose="02010609060101010101" pitchFamily="49" charset="-122"/>
                </a:rPr>
                <a:t>锚杆</a:t>
              </a:r>
            </a:p>
          </p:txBody>
        </p:sp>
      </p:grpSp>
      <p:sp>
        <p:nvSpPr>
          <p:cNvPr id="268"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A50021"/>
                </a:solidFill>
                <a:latin typeface="微软雅黑" panose="020B0503020204020204" pitchFamily="34" charset="-122"/>
                <a:ea typeface="微软雅黑" panose="020B0503020204020204" pitchFamily="34" charset="-122"/>
              </a:rPr>
              <a:t>二</a:t>
            </a:r>
            <a:r>
              <a:rPr lang="zh-CN" altLang="en-US" sz="2800" b="1" dirty="0" smtClean="0">
                <a:solidFill>
                  <a:srgbClr val="A50021"/>
                </a:solidFill>
                <a:latin typeface="微软雅黑" panose="020B0503020204020204" pitchFamily="34" charset="-122"/>
                <a:ea typeface="微软雅黑" panose="020B0503020204020204" pitchFamily="34" charset="-122"/>
              </a:rPr>
              <a:t>、柔性挡土墙</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55130" y="931680"/>
            <a:ext cx="3192699" cy="2368319"/>
            <a:chOff x="5555130" y="931680"/>
            <a:chExt cx="3192699" cy="2368319"/>
          </a:xfrm>
        </p:grpSpPr>
        <p:pic>
          <p:nvPicPr>
            <p:cNvPr id="2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5130" y="931680"/>
              <a:ext cx="3192699" cy="200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矩形 4"/>
            <p:cNvSpPr/>
            <p:nvPr/>
          </p:nvSpPr>
          <p:spPr>
            <a:xfrm>
              <a:off x="6357198" y="2924512"/>
              <a:ext cx="1415772" cy="375487"/>
            </a:xfrm>
            <a:prstGeom prst="rect">
              <a:avLst/>
            </a:prstGeom>
          </p:spPr>
          <p:txBody>
            <a:bodyPr wrap="none">
              <a:spAutoFit/>
            </a:bodyPr>
            <a:lstStyle/>
            <a:p>
              <a:r>
                <a:rPr lang="zh-CN" altLang="en-US" sz="1600" b="1" dirty="0">
                  <a:solidFill>
                    <a:srgbClr val="C00000"/>
                  </a:solidFill>
                  <a:latin typeface="黑体" panose="02010609060101010101" pitchFamily="49" charset="-122"/>
                  <a:ea typeface="黑体" panose="02010609060101010101" pitchFamily="49" charset="-122"/>
                </a:rPr>
                <a:t>混凝土护坡桩</a:t>
              </a:r>
            </a:p>
          </p:txBody>
        </p:sp>
      </p:grpSp>
      <p:grpSp>
        <p:nvGrpSpPr>
          <p:cNvPr id="3" name="组合 2"/>
          <p:cNvGrpSpPr/>
          <p:nvPr/>
        </p:nvGrpSpPr>
        <p:grpSpPr>
          <a:xfrm>
            <a:off x="5522475" y="3261323"/>
            <a:ext cx="3157769" cy="2535353"/>
            <a:chOff x="5522475" y="3261323"/>
            <a:chExt cx="3157769" cy="2535353"/>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b="8948"/>
            <a:stretch/>
          </p:blipFill>
          <p:spPr>
            <a:xfrm>
              <a:off x="5522475" y="3261323"/>
              <a:ext cx="3157769" cy="2176952"/>
            </a:xfrm>
            <a:prstGeom prst="rect">
              <a:avLst/>
            </a:prstGeom>
          </p:spPr>
        </p:pic>
        <p:sp>
          <p:nvSpPr>
            <p:cNvPr id="269" name="矩形 268"/>
            <p:cNvSpPr/>
            <p:nvPr/>
          </p:nvSpPr>
          <p:spPr>
            <a:xfrm>
              <a:off x="6357198" y="5421189"/>
              <a:ext cx="1425390" cy="375487"/>
            </a:xfrm>
            <a:prstGeom prst="rect">
              <a:avLst/>
            </a:prstGeom>
          </p:spPr>
          <p:txBody>
            <a:bodyPr wrap="none">
              <a:spAutoFit/>
            </a:bodyPr>
            <a:lstStyle/>
            <a:p>
              <a:r>
                <a:rPr lang="zh-CN" altLang="en-US" sz="1600" b="1" dirty="0" smtClean="0">
                  <a:solidFill>
                    <a:srgbClr val="C00000"/>
                  </a:solidFill>
                  <a:latin typeface="黑体" panose="02010609060101010101" pitchFamily="49" charset="-122"/>
                  <a:ea typeface="黑体" panose="02010609060101010101" pitchFamily="49" charset="-122"/>
                </a:rPr>
                <a:t>混凝土地连墙</a:t>
              </a:r>
              <a:endParaRPr lang="zh-CN" altLang="en-US" sz="1600" b="1" dirty="0">
                <a:solidFill>
                  <a:srgbClr val="C00000"/>
                </a:solidFill>
                <a:latin typeface="黑体" panose="02010609060101010101" pitchFamily="49" charset="-122"/>
                <a:ea typeface="黑体" panose="02010609060101010101" pitchFamily="49" charset="-122"/>
              </a:endParaRPr>
            </a:p>
          </p:txBody>
        </p:sp>
      </p:grpSp>
      <p:sp>
        <p:nvSpPr>
          <p:cNvPr id="270" name="矩形 269"/>
          <p:cNvSpPr/>
          <p:nvPr/>
        </p:nvSpPr>
        <p:spPr>
          <a:xfrm>
            <a:off x="4113411" y="4942126"/>
            <a:ext cx="1218603" cy="339324"/>
          </a:xfrm>
          <a:prstGeom prst="rect">
            <a:avLst/>
          </a:prstGeom>
        </p:spPr>
        <p:txBody>
          <a:bodyPr wrap="none">
            <a:spAutoFit/>
          </a:bodyPr>
          <a:lstStyle/>
          <a:p>
            <a:r>
              <a:rPr lang="zh-CN" altLang="en-US" sz="1600" b="1" dirty="0">
                <a:solidFill>
                  <a:srgbClr val="C00000"/>
                </a:solidFill>
                <a:latin typeface="黑体" panose="02010609060101010101" pitchFamily="49" charset="-122"/>
                <a:ea typeface="黑体" panose="02010609060101010101" pitchFamily="49" charset="-122"/>
              </a:rPr>
              <a:t>板桩</a:t>
            </a:r>
            <a:r>
              <a:rPr lang="zh-CN" altLang="en-US" sz="1600" b="1" dirty="0" smtClean="0">
                <a:solidFill>
                  <a:srgbClr val="C00000"/>
                </a:solidFill>
                <a:latin typeface="黑体" panose="02010609060101010101" pitchFamily="49" charset="-122"/>
                <a:ea typeface="黑体" panose="02010609060101010101" pitchFamily="49" charset="-122"/>
              </a:rPr>
              <a:t>墙施工</a:t>
            </a:r>
            <a:endParaRPr lang="zh-CN" altLang="en-US" sz="1600" b="1" dirty="0">
              <a:solidFill>
                <a:srgbClr val="C00000"/>
              </a:solidFill>
              <a:latin typeface="黑体" panose="02010609060101010101" pitchFamily="49" charset="-122"/>
              <a:ea typeface="黑体" panose="02010609060101010101" pitchFamily="49" charset="-122"/>
            </a:endParaRPr>
          </a:p>
        </p:txBody>
      </p:sp>
      <p:sp>
        <p:nvSpPr>
          <p:cNvPr id="73"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71" name="AutoShape 117" descr="画布"/>
          <p:cNvSpPr>
            <a:spLocks noChangeArrowheads="1"/>
          </p:cNvSpPr>
          <p:nvPr/>
        </p:nvSpPr>
        <p:spPr bwMode="auto">
          <a:xfrm>
            <a:off x="2363820" y="4083677"/>
            <a:ext cx="1691583" cy="1152000"/>
          </a:xfrm>
          <a:prstGeom prst="cube">
            <a:avLst>
              <a:gd name="adj" fmla="val 25000"/>
            </a:avLst>
          </a:prstGeom>
          <a:pattFill prst="pct5">
            <a:fgClr>
              <a:schemeClr val="tx1"/>
            </a:fgClr>
            <a:bgClr>
              <a:srgbClr val="F5D0AB"/>
            </a:bgClr>
          </a:pattFill>
          <a:ln w="9525">
            <a:solidFill>
              <a:srgbClr val="E34607"/>
            </a:solidFill>
            <a:miter lim="800000"/>
            <a:headEnd/>
            <a:tailEnd/>
          </a:ln>
          <a:effectLst/>
          <a:extLst/>
        </p:spPr>
        <p:txBody>
          <a:bodyPr wrap="none" anchor="ctr"/>
          <a:lstStyle/>
          <a:p>
            <a:endParaRPr lang="zh-CN" altLang="zh-CN" sz="864"/>
          </a:p>
        </p:txBody>
      </p:sp>
      <p:sp>
        <p:nvSpPr>
          <p:cNvPr id="72" name="AutoShape 117" descr="画布"/>
          <p:cNvSpPr>
            <a:spLocks noChangeArrowheads="1"/>
          </p:cNvSpPr>
          <p:nvPr/>
        </p:nvSpPr>
        <p:spPr bwMode="auto">
          <a:xfrm>
            <a:off x="2259462" y="3200072"/>
            <a:ext cx="1806813" cy="2190289"/>
          </a:xfrm>
          <a:prstGeom prst="cube">
            <a:avLst>
              <a:gd name="adj" fmla="val 25000"/>
            </a:avLst>
          </a:prstGeom>
          <a:pattFill prst="pct5">
            <a:fgClr>
              <a:schemeClr val="tx1"/>
            </a:fgClr>
            <a:bgClr>
              <a:srgbClr val="F5D0AB"/>
            </a:bgClr>
          </a:pattFill>
          <a:ln w="9525">
            <a:solidFill>
              <a:srgbClr val="E34607"/>
            </a:solidFill>
            <a:miter lim="800000"/>
            <a:headEnd/>
            <a:tailEnd/>
          </a:ln>
          <a:effectLst/>
          <a:extLst/>
        </p:spPr>
        <p:txBody>
          <a:bodyPr wrap="none" anchor="ctr"/>
          <a:lstStyle/>
          <a:p>
            <a:endParaRPr lang="zh-CN" altLang="zh-CN" sz="864" dirty="0"/>
          </a:p>
        </p:txBody>
      </p:sp>
    </p:spTree>
    <p:extLst>
      <p:ext uri="{BB962C8B-B14F-4D97-AF65-F5344CB8AC3E}">
        <p14:creationId xmlns:p14="http://schemas.microsoft.com/office/powerpoint/2010/main" val="7952961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 calcmode="lin" valueType="num">
                                      <p:cBhvr additive="base">
                                        <p:cTn id="7" dur="500" fill="hold"/>
                                        <p:tgtEl>
                                          <p:spTgt spid="210"/>
                                        </p:tgtEl>
                                        <p:attrNameLst>
                                          <p:attrName>ppt_x</p:attrName>
                                        </p:attrNameLst>
                                      </p:cBhvr>
                                      <p:tavLst>
                                        <p:tav tm="0">
                                          <p:val>
                                            <p:strVal val="#ppt_x"/>
                                          </p:val>
                                        </p:tav>
                                        <p:tav tm="100000">
                                          <p:val>
                                            <p:strVal val="#ppt_x"/>
                                          </p:val>
                                        </p:tav>
                                      </p:tavLst>
                                    </p:anim>
                                    <p:anim calcmode="lin" valueType="num">
                                      <p:cBhvr additive="base">
                                        <p:cTn id="8" dur="500" fill="hold"/>
                                        <p:tgtEl>
                                          <p:spTgt spid="21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214"/>
                                        </p:tgtEl>
                                        <p:attrNameLst>
                                          <p:attrName>style.visibility</p:attrName>
                                        </p:attrNameLst>
                                      </p:cBhvr>
                                      <p:to>
                                        <p:strVal val="visible"/>
                                      </p:to>
                                    </p:set>
                                    <p:anim calcmode="lin" valueType="num">
                                      <p:cBhvr additive="base">
                                        <p:cTn id="12" dur="500" fill="hold"/>
                                        <p:tgtEl>
                                          <p:spTgt spid="214"/>
                                        </p:tgtEl>
                                        <p:attrNameLst>
                                          <p:attrName>ppt_x</p:attrName>
                                        </p:attrNameLst>
                                      </p:cBhvr>
                                      <p:tavLst>
                                        <p:tav tm="0">
                                          <p:val>
                                            <p:strVal val="#ppt_x"/>
                                          </p:val>
                                        </p:tav>
                                        <p:tav tm="100000">
                                          <p:val>
                                            <p:strVal val="#ppt_x"/>
                                          </p:val>
                                        </p:tav>
                                      </p:tavLst>
                                    </p:anim>
                                    <p:anim calcmode="lin" valueType="num">
                                      <p:cBhvr additive="base">
                                        <p:cTn id="13" dur="500" fill="hold"/>
                                        <p:tgtEl>
                                          <p:spTgt spid="214"/>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218"/>
                                        </p:tgtEl>
                                        <p:attrNameLst>
                                          <p:attrName>style.visibility</p:attrName>
                                        </p:attrNameLst>
                                      </p:cBhvr>
                                      <p:to>
                                        <p:strVal val="visible"/>
                                      </p:to>
                                    </p:set>
                                    <p:anim calcmode="lin" valueType="num">
                                      <p:cBhvr additive="base">
                                        <p:cTn id="17" dur="500" fill="hold"/>
                                        <p:tgtEl>
                                          <p:spTgt spid="218"/>
                                        </p:tgtEl>
                                        <p:attrNameLst>
                                          <p:attrName>ppt_x</p:attrName>
                                        </p:attrNameLst>
                                      </p:cBhvr>
                                      <p:tavLst>
                                        <p:tav tm="0">
                                          <p:val>
                                            <p:strVal val="#ppt_x"/>
                                          </p:val>
                                        </p:tav>
                                        <p:tav tm="100000">
                                          <p:val>
                                            <p:strVal val="#ppt_x"/>
                                          </p:val>
                                        </p:tav>
                                      </p:tavLst>
                                    </p:anim>
                                    <p:anim calcmode="lin" valueType="num">
                                      <p:cBhvr additive="base">
                                        <p:cTn id="18" dur="500" fill="hold"/>
                                        <p:tgtEl>
                                          <p:spTgt spid="218"/>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stCondLst>
                                    <p:cond delay="0"/>
                                  </p:stCondLst>
                                  <p:childTnLst>
                                    <p:set>
                                      <p:cBhvr>
                                        <p:cTn id="21" dur="1" fill="hold">
                                          <p:stCondLst>
                                            <p:cond delay="0"/>
                                          </p:stCondLst>
                                        </p:cTn>
                                        <p:tgtEl>
                                          <p:spTgt spid="222"/>
                                        </p:tgtEl>
                                        <p:attrNameLst>
                                          <p:attrName>style.visibility</p:attrName>
                                        </p:attrNameLst>
                                      </p:cBhvr>
                                      <p:to>
                                        <p:strVal val="visible"/>
                                      </p:to>
                                    </p:set>
                                    <p:anim calcmode="lin" valueType="num">
                                      <p:cBhvr additive="base">
                                        <p:cTn id="22" dur="500" fill="hold"/>
                                        <p:tgtEl>
                                          <p:spTgt spid="222"/>
                                        </p:tgtEl>
                                        <p:attrNameLst>
                                          <p:attrName>ppt_x</p:attrName>
                                        </p:attrNameLst>
                                      </p:cBhvr>
                                      <p:tavLst>
                                        <p:tav tm="0">
                                          <p:val>
                                            <p:strVal val="#ppt_x"/>
                                          </p:val>
                                        </p:tav>
                                        <p:tav tm="100000">
                                          <p:val>
                                            <p:strVal val="#ppt_x"/>
                                          </p:val>
                                        </p:tav>
                                      </p:tavLst>
                                    </p:anim>
                                    <p:anim calcmode="lin" valueType="num">
                                      <p:cBhvr additive="base">
                                        <p:cTn id="23" dur="500" fill="hold"/>
                                        <p:tgtEl>
                                          <p:spTgt spid="2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1" fill="hold" nodeType="afterEffect">
                                  <p:stCondLst>
                                    <p:cond delay="0"/>
                                  </p:stCondLst>
                                  <p:childTnLst>
                                    <p:set>
                                      <p:cBhvr>
                                        <p:cTn id="26" dur="1" fill="hold">
                                          <p:stCondLst>
                                            <p:cond delay="0"/>
                                          </p:stCondLst>
                                        </p:cTn>
                                        <p:tgtEl>
                                          <p:spTgt spid="226"/>
                                        </p:tgtEl>
                                        <p:attrNameLst>
                                          <p:attrName>style.visibility</p:attrName>
                                        </p:attrNameLst>
                                      </p:cBhvr>
                                      <p:to>
                                        <p:strVal val="visible"/>
                                      </p:to>
                                    </p:set>
                                    <p:anim calcmode="lin" valueType="num">
                                      <p:cBhvr additive="base">
                                        <p:cTn id="27" dur="500" fill="hold"/>
                                        <p:tgtEl>
                                          <p:spTgt spid="226"/>
                                        </p:tgtEl>
                                        <p:attrNameLst>
                                          <p:attrName>ppt_x</p:attrName>
                                        </p:attrNameLst>
                                      </p:cBhvr>
                                      <p:tavLst>
                                        <p:tav tm="0">
                                          <p:val>
                                            <p:strVal val="#ppt_x"/>
                                          </p:val>
                                        </p:tav>
                                        <p:tav tm="100000">
                                          <p:val>
                                            <p:strVal val="#ppt_x"/>
                                          </p:val>
                                        </p:tav>
                                      </p:tavLst>
                                    </p:anim>
                                    <p:anim calcmode="lin" valueType="num">
                                      <p:cBhvr additive="base">
                                        <p:cTn id="28" dur="500" fill="hold"/>
                                        <p:tgtEl>
                                          <p:spTgt spid="226"/>
                                        </p:tgtEl>
                                        <p:attrNameLst>
                                          <p:attrName>ppt_y</p:attrName>
                                        </p:attrNameLst>
                                      </p:cBhvr>
                                      <p:tavLst>
                                        <p:tav tm="0">
                                          <p:val>
                                            <p:strVal val="0-#ppt_h/2"/>
                                          </p:val>
                                        </p:tav>
                                        <p:tav tm="100000">
                                          <p:val>
                                            <p:strVal val="#ppt_y"/>
                                          </p:val>
                                        </p:tav>
                                      </p:tavLst>
                                    </p:anim>
                                  </p:childTnLst>
                                </p:cTn>
                              </p:par>
                            </p:childTnLst>
                          </p:cTn>
                        </p:par>
                        <p:par>
                          <p:cTn id="29" fill="hold">
                            <p:stCondLst>
                              <p:cond delay="2500"/>
                            </p:stCondLst>
                            <p:childTnLst>
                              <p:par>
                                <p:cTn id="30" presetID="2" presetClass="entr" presetSubtype="1" fill="hold" nodeType="afterEffect">
                                  <p:stCondLst>
                                    <p:cond delay="0"/>
                                  </p:stCondLst>
                                  <p:childTnLst>
                                    <p:set>
                                      <p:cBhvr>
                                        <p:cTn id="31" dur="1" fill="hold">
                                          <p:stCondLst>
                                            <p:cond delay="0"/>
                                          </p:stCondLst>
                                        </p:cTn>
                                        <p:tgtEl>
                                          <p:spTgt spid="230"/>
                                        </p:tgtEl>
                                        <p:attrNameLst>
                                          <p:attrName>style.visibility</p:attrName>
                                        </p:attrNameLst>
                                      </p:cBhvr>
                                      <p:to>
                                        <p:strVal val="visible"/>
                                      </p:to>
                                    </p:set>
                                    <p:anim calcmode="lin" valueType="num">
                                      <p:cBhvr additive="base">
                                        <p:cTn id="32" dur="500" fill="hold"/>
                                        <p:tgtEl>
                                          <p:spTgt spid="230"/>
                                        </p:tgtEl>
                                        <p:attrNameLst>
                                          <p:attrName>ppt_x</p:attrName>
                                        </p:attrNameLst>
                                      </p:cBhvr>
                                      <p:tavLst>
                                        <p:tav tm="0">
                                          <p:val>
                                            <p:strVal val="#ppt_x"/>
                                          </p:val>
                                        </p:tav>
                                        <p:tav tm="100000">
                                          <p:val>
                                            <p:strVal val="#ppt_x"/>
                                          </p:val>
                                        </p:tav>
                                      </p:tavLst>
                                    </p:anim>
                                    <p:anim calcmode="lin" valueType="num">
                                      <p:cBhvr additive="base">
                                        <p:cTn id="33" dur="500" fill="hold"/>
                                        <p:tgtEl>
                                          <p:spTgt spid="230"/>
                                        </p:tgtEl>
                                        <p:attrNameLst>
                                          <p:attrName>ppt_y</p:attrName>
                                        </p:attrNameLst>
                                      </p:cBhvr>
                                      <p:tavLst>
                                        <p:tav tm="0">
                                          <p:val>
                                            <p:strVal val="0-#ppt_h/2"/>
                                          </p:val>
                                        </p:tav>
                                        <p:tav tm="100000">
                                          <p:val>
                                            <p:strVal val="#ppt_y"/>
                                          </p:val>
                                        </p:tav>
                                      </p:tavLst>
                                    </p:anim>
                                  </p:childTnLst>
                                </p:cTn>
                              </p:par>
                            </p:childTnLst>
                          </p:cTn>
                        </p:par>
                        <p:par>
                          <p:cTn id="34" fill="hold">
                            <p:stCondLst>
                              <p:cond delay="3000"/>
                            </p:stCondLst>
                            <p:childTnLst>
                              <p:par>
                                <p:cTn id="35" presetID="2" presetClass="entr" presetSubtype="1" fill="hold" nodeType="afterEffect">
                                  <p:stCondLst>
                                    <p:cond delay="0"/>
                                  </p:stCondLst>
                                  <p:childTnLst>
                                    <p:set>
                                      <p:cBhvr>
                                        <p:cTn id="36" dur="1" fill="hold">
                                          <p:stCondLst>
                                            <p:cond delay="0"/>
                                          </p:stCondLst>
                                        </p:cTn>
                                        <p:tgtEl>
                                          <p:spTgt spid="234"/>
                                        </p:tgtEl>
                                        <p:attrNameLst>
                                          <p:attrName>style.visibility</p:attrName>
                                        </p:attrNameLst>
                                      </p:cBhvr>
                                      <p:to>
                                        <p:strVal val="visible"/>
                                      </p:to>
                                    </p:set>
                                    <p:anim calcmode="lin" valueType="num">
                                      <p:cBhvr additive="base">
                                        <p:cTn id="37" dur="500" fill="hold"/>
                                        <p:tgtEl>
                                          <p:spTgt spid="234"/>
                                        </p:tgtEl>
                                        <p:attrNameLst>
                                          <p:attrName>ppt_x</p:attrName>
                                        </p:attrNameLst>
                                      </p:cBhvr>
                                      <p:tavLst>
                                        <p:tav tm="0">
                                          <p:val>
                                            <p:strVal val="#ppt_x"/>
                                          </p:val>
                                        </p:tav>
                                        <p:tav tm="100000">
                                          <p:val>
                                            <p:strVal val="#ppt_x"/>
                                          </p:val>
                                        </p:tav>
                                      </p:tavLst>
                                    </p:anim>
                                    <p:anim calcmode="lin" valueType="num">
                                      <p:cBhvr additive="base">
                                        <p:cTn id="38" dur="500" fill="hold"/>
                                        <p:tgtEl>
                                          <p:spTgt spid="234"/>
                                        </p:tgtEl>
                                        <p:attrNameLst>
                                          <p:attrName>ppt_y</p:attrName>
                                        </p:attrNameLst>
                                      </p:cBhvr>
                                      <p:tavLst>
                                        <p:tav tm="0">
                                          <p:val>
                                            <p:strVal val="0-#ppt_h/2"/>
                                          </p:val>
                                        </p:tav>
                                        <p:tav tm="100000">
                                          <p:val>
                                            <p:strVal val="#ppt_y"/>
                                          </p:val>
                                        </p:tav>
                                      </p:tavLst>
                                    </p:anim>
                                  </p:childTnLst>
                                </p:cTn>
                              </p:par>
                            </p:childTnLst>
                          </p:cTn>
                        </p:par>
                        <p:par>
                          <p:cTn id="39" fill="hold">
                            <p:stCondLst>
                              <p:cond delay="3500"/>
                            </p:stCondLst>
                            <p:childTnLst>
                              <p:par>
                                <p:cTn id="40" presetID="2" presetClass="entr" presetSubtype="1" fill="hold" nodeType="afterEffect">
                                  <p:stCondLst>
                                    <p:cond delay="0"/>
                                  </p:stCondLst>
                                  <p:childTnLst>
                                    <p:set>
                                      <p:cBhvr>
                                        <p:cTn id="41" dur="1" fill="hold">
                                          <p:stCondLst>
                                            <p:cond delay="0"/>
                                          </p:stCondLst>
                                        </p:cTn>
                                        <p:tgtEl>
                                          <p:spTgt spid="238"/>
                                        </p:tgtEl>
                                        <p:attrNameLst>
                                          <p:attrName>style.visibility</p:attrName>
                                        </p:attrNameLst>
                                      </p:cBhvr>
                                      <p:to>
                                        <p:strVal val="visible"/>
                                      </p:to>
                                    </p:set>
                                    <p:anim calcmode="lin" valueType="num">
                                      <p:cBhvr additive="base">
                                        <p:cTn id="42" dur="500" fill="hold"/>
                                        <p:tgtEl>
                                          <p:spTgt spid="238"/>
                                        </p:tgtEl>
                                        <p:attrNameLst>
                                          <p:attrName>ppt_x</p:attrName>
                                        </p:attrNameLst>
                                      </p:cBhvr>
                                      <p:tavLst>
                                        <p:tav tm="0">
                                          <p:val>
                                            <p:strVal val="#ppt_x"/>
                                          </p:val>
                                        </p:tav>
                                        <p:tav tm="100000">
                                          <p:val>
                                            <p:strVal val="#ppt_x"/>
                                          </p:val>
                                        </p:tav>
                                      </p:tavLst>
                                    </p:anim>
                                    <p:anim calcmode="lin" valueType="num">
                                      <p:cBhvr additive="base">
                                        <p:cTn id="43" dur="500" fill="hold"/>
                                        <p:tgtEl>
                                          <p:spTgt spid="238"/>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ID="2" presetClass="entr" presetSubtype="1" fill="hold" nodeType="afterEffect">
                                  <p:stCondLst>
                                    <p:cond delay="0"/>
                                  </p:stCondLst>
                                  <p:childTnLst>
                                    <p:set>
                                      <p:cBhvr>
                                        <p:cTn id="46" dur="1" fill="hold">
                                          <p:stCondLst>
                                            <p:cond delay="0"/>
                                          </p:stCondLst>
                                        </p:cTn>
                                        <p:tgtEl>
                                          <p:spTgt spid="242"/>
                                        </p:tgtEl>
                                        <p:attrNameLst>
                                          <p:attrName>style.visibility</p:attrName>
                                        </p:attrNameLst>
                                      </p:cBhvr>
                                      <p:to>
                                        <p:strVal val="visible"/>
                                      </p:to>
                                    </p:set>
                                    <p:anim calcmode="lin" valueType="num">
                                      <p:cBhvr additive="base">
                                        <p:cTn id="47" dur="500" fill="hold"/>
                                        <p:tgtEl>
                                          <p:spTgt spid="242"/>
                                        </p:tgtEl>
                                        <p:attrNameLst>
                                          <p:attrName>ppt_x</p:attrName>
                                        </p:attrNameLst>
                                      </p:cBhvr>
                                      <p:tavLst>
                                        <p:tav tm="0">
                                          <p:val>
                                            <p:strVal val="#ppt_x"/>
                                          </p:val>
                                        </p:tav>
                                        <p:tav tm="100000">
                                          <p:val>
                                            <p:strVal val="#ppt_x"/>
                                          </p:val>
                                        </p:tav>
                                      </p:tavLst>
                                    </p:anim>
                                    <p:anim calcmode="lin" valueType="num">
                                      <p:cBhvr additive="base">
                                        <p:cTn id="48" dur="500" fill="hold"/>
                                        <p:tgtEl>
                                          <p:spTgt spid="242"/>
                                        </p:tgtEl>
                                        <p:attrNameLst>
                                          <p:attrName>ppt_y</p:attrName>
                                        </p:attrNameLst>
                                      </p:cBhvr>
                                      <p:tavLst>
                                        <p:tav tm="0">
                                          <p:val>
                                            <p:strVal val="0-#ppt_h/2"/>
                                          </p:val>
                                        </p:tav>
                                        <p:tav tm="100000">
                                          <p:val>
                                            <p:strVal val="#ppt_y"/>
                                          </p:val>
                                        </p:tav>
                                      </p:tavLst>
                                    </p:anim>
                                  </p:childTnLst>
                                </p:cTn>
                              </p:par>
                            </p:childTnLst>
                          </p:cTn>
                        </p:par>
                        <p:par>
                          <p:cTn id="49" fill="hold">
                            <p:stCondLst>
                              <p:cond delay="4500"/>
                            </p:stCondLst>
                            <p:childTnLst>
                              <p:par>
                                <p:cTn id="50" presetID="2" presetClass="entr" presetSubtype="1" fill="hold" nodeType="afterEffect">
                                  <p:stCondLst>
                                    <p:cond delay="0"/>
                                  </p:stCondLst>
                                  <p:childTnLst>
                                    <p:set>
                                      <p:cBhvr>
                                        <p:cTn id="51" dur="1" fill="hold">
                                          <p:stCondLst>
                                            <p:cond delay="0"/>
                                          </p:stCondLst>
                                        </p:cTn>
                                        <p:tgtEl>
                                          <p:spTgt spid="246"/>
                                        </p:tgtEl>
                                        <p:attrNameLst>
                                          <p:attrName>style.visibility</p:attrName>
                                        </p:attrNameLst>
                                      </p:cBhvr>
                                      <p:to>
                                        <p:strVal val="visible"/>
                                      </p:to>
                                    </p:set>
                                    <p:anim calcmode="lin" valueType="num">
                                      <p:cBhvr additive="base">
                                        <p:cTn id="52" dur="500" fill="hold"/>
                                        <p:tgtEl>
                                          <p:spTgt spid="246"/>
                                        </p:tgtEl>
                                        <p:attrNameLst>
                                          <p:attrName>ppt_x</p:attrName>
                                        </p:attrNameLst>
                                      </p:cBhvr>
                                      <p:tavLst>
                                        <p:tav tm="0">
                                          <p:val>
                                            <p:strVal val="#ppt_x"/>
                                          </p:val>
                                        </p:tav>
                                        <p:tav tm="100000">
                                          <p:val>
                                            <p:strVal val="#ppt_x"/>
                                          </p:val>
                                        </p:tav>
                                      </p:tavLst>
                                    </p:anim>
                                    <p:anim calcmode="lin" valueType="num">
                                      <p:cBhvr additive="base">
                                        <p:cTn id="53" dur="500" fill="hold"/>
                                        <p:tgtEl>
                                          <p:spTgt spid="246"/>
                                        </p:tgtEl>
                                        <p:attrNameLst>
                                          <p:attrName>ppt_y</p:attrName>
                                        </p:attrNameLst>
                                      </p:cBhvr>
                                      <p:tavLst>
                                        <p:tav tm="0">
                                          <p:val>
                                            <p:strVal val="0-#ppt_h/2"/>
                                          </p:val>
                                        </p:tav>
                                        <p:tav tm="100000">
                                          <p:val>
                                            <p:strVal val="#ppt_y"/>
                                          </p:val>
                                        </p:tav>
                                      </p:tavLst>
                                    </p:anim>
                                  </p:childTnLst>
                                </p:cTn>
                              </p:par>
                            </p:childTnLst>
                          </p:cTn>
                        </p:par>
                        <p:par>
                          <p:cTn id="54" fill="hold">
                            <p:stCondLst>
                              <p:cond delay="5000"/>
                            </p:stCondLst>
                            <p:childTnLst>
                              <p:par>
                                <p:cTn id="55" presetID="2" presetClass="entr" presetSubtype="1" fill="hold" nodeType="afterEffect">
                                  <p:stCondLst>
                                    <p:cond delay="0"/>
                                  </p:stCondLst>
                                  <p:childTnLst>
                                    <p:set>
                                      <p:cBhvr>
                                        <p:cTn id="56" dur="1" fill="hold">
                                          <p:stCondLst>
                                            <p:cond delay="0"/>
                                          </p:stCondLst>
                                        </p:cTn>
                                        <p:tgtEl>
                                          <p:spTgt spid="250"/>
                                        </p:tgtEl>
                                        <p:attrNameLst>
                                          <p:attrName>style.visibility</p:attrName>
                                        </p:attrNameLst>
                                      </p:cBhvr>
                                      <p:to>
                                        <p:strVal val="visible"/>
                                      </p:to>
                                    </p:set>
                                    <p:anim calcmode="lin" valueType="num">
                                      <p:cBhvr additive="base">
                                        <p:cTn id="57" dur="500" fill="hold"/>
                                        <p:tgtEl>
                                          <p:spTgt spid="250"/>
                                        </p:tgtEl>
                                        <p:attrNameLst>
                                          <p:attrName>ppt_x</p:attrName>
                                        </p:attrNameLst>
                                      </p:cBhvr>
                                      <p:tavLst>
                                        <p:tav tm="0">
                                          <p:val>
                                            <p:strVal val="#ppt_x"/>
                                          </p:val>
                                        </p:tav>
                                        <p:tav tm="100000">
                                          <p:val>
                                            <p:strVal val="#ppt_x"/>
                                          </p:val>
                                        </p:tav>
                                      </p:tavLst>
                                    </p:anim>
                                    <p:anim calcmode="lin" valueType="num">
                                      <p:cBhvr additive="base">
                                        <p:cTn id="58" dur="500" fill="hold"/>
                                        <p:tgtEl>
                                          <p:spTgt spid="250"/>
                                        </p:tgtEl>
                                        <p:attrNameLst>
                                          <p:attrName>ppt_y</p:attrName>
                                        </p:attrNameLst>
                                      </p:cBhvr>
                                      <p:tavLst>
                                        <p:tav tm="0">
                                          <p:val>
                                            <p:strVal val="0-#ppt_h/2"/>
                                          </p:val>
                                        </p:tav>
                                        <p:tav tm="100000">
                                          <p:val>
                                            <p:strVal val="#ppt_y"/>
                                          </p:val>
                                        </p:tav>
                                      </p:tavLst>
                                    </p:anim>
                                  </p:childTnLst>
                                </p:cTn>
                              </p:par>
                            </p:childTnLst>
                          </p:cTn>
                        </p:par>
                        <p:par>
                          <p:cTn id="59" fill="hold">
                            <p:stCondLst>
                              <p:cond delay="5500"/>
                            </p:stCondLst>
                            <p:childTnLst>
                              <p:par>
                                <p:cTn id="60" presetID="2" presetClass="entr" presetSubtype="1" fill="hold" nodeType="afterEffect">
                                  <p:stCondLst>
                                    <p:cond delay="0"/>
                                  </p:stCondLst>
                                  <p:childTnLst>
                                    <p:set>
                                      <p:cBhvr>
                                        <p:cTn id="61" dur="1" fill="hold">
                                          <p:stCondLst>
                                            <p:cond delay="0"/>
                                          </p:stCondLst>
                                        </p:cTn>
                                        <p:tgtEl>
                                          <p:spTgt spid="254"/>
                                        </p:tgtEl>
                                        <p:attrNameLst>
                                          <p:attrName>style.visibility</p:attrName>
                                        </p:attrNameLst>
                                      </p:cBhvr>
                                      <p:to>
                                        <p:strVal val="visible"/>
                                      </p:to>
                                    </p:set>
                                    <p:anim calcmode="lin" valueType="num">
                                      <p:cBhvr additive="base">
                                        <p:cTn id="62" dur="500" fill="hold"/>
                                        <p:tgtEl>
                                          <p:spTgt spid="254"/>
                                        </p:tgtEl>
                                        <p:attrNameLst>
                                          <p:attrName>ppt_x</p:attrName>
                                        </p:attrNameLst>
                                      </p:cBhvr>
                                      <p:tavLst>
                                        <p:tav tm="0">
                                          <p:val>
                                            <p:strVal val="#ppt_x"/>
                                          </p:val>
                                        </p:tav>
                                        <p:tav tm="100000">
                                          <p:val>
                                            <p:strVal val="#ppt_x"/>
                                          </p:val>
                                        </p:tav>
                                      </p:tavLst>
                                    </p:anim>
                                    <p:anim calcmode="lin" valueType="num">
                                      <p:cBhvr additive="base">
                                        <p:cTn id="63" dur="500" fill="hold"/>
                                        <p:tgtEl>
                                          <p:spTgt spid="254"/>
                                        </p:tgtEl>
                                        <p:attrNameLst>
                                          <p:attrName>ppt_y</p:attrName>
                                        </p:attrNameLst>
                                      </p:cBhvr>
                                      <p:tavLst>
                                        <p:tav tm="0">
                                          <p:val>
                                            <p:strVal val="0-#ppt_h/2"/>
                                          </p:val>
                                        </p:tav>
                                        <p:tav tm="100000">
                                          <p:val>
                                            <p:strVal val="#ppt_y"/>
                                          </p:val>
                                        </p:tav>
                                      </p:tavLst>
                                    </p:anim>
                                  </p:childTnLst>
                                </p:cTn>
                              </p:par>
                            </p:childTnLst>
                          </p:cTn>
                        </p:par>
                        <p:par>
                          <p:cTn id="64" fill="hold">
                            <p:stCondLst>
                              <p:cond delay="6000"/>
                            </p:stCondLst>
                            <p:childTnLst>
                              <p:par>
                                <p:cTn id="65" presetID="3" presetClass="exit" presetSubtype="10" fill="hold" grpId="0" nodeType="afterEffect">
                                  <p:stCondLst>
                                    <p:cond delay="0"/>
                                  </p:stCondLst>
                                  <p:childTnLst>
                                    <p:animEffect transition="out" filter="blinds(horizontal)">
                                      <p:cBhvr>
                                        <p:cTn id="66" dur="500"/>
                                        <p:tgtEl>
                                          <p:spTgt spid="72"/>
                                        </p:tgtEl>
                                      </p:cBhvr>
                                    </p:animEffect>
                                    <p:set>
                                      <p:cBhvr>
                                        <p:cTn id="67" dur="1" fill="hold">
                                          <p:stCondLst>
                                            <p:cond delay="499"/>
                                          </p:stCondLst>
                                        </p:cTn>
                                        <p:tgtEl>
                                          <p:spTgt spid="72"/>
                                        </p:tgtEl>
                                        <p:attrNameLst>
                                          <p:attrName>style.visibility</p:attrName>
                                        </p:attrNameLst>
                                      </p:cBhvr>
                                      <p:to>
                                        <p:strVal val="hidden"/>
                                      </p:to>
                                    </p:set>
                                  </p:childTnLst>
                                </p:cTn>
                              </p:par>
                            </p:childTnLst>
                          </p:cTn>
                        </p:par>
                        <p:par>
                          <p:cTn id="68" fill="hold">
                            <p:stCondLst>
                              <p:cond delay="6500"/>
                            </p:stCondLst>
                            <p:childTnLst>
                              <p:par>
                                <p:cTn id="69" presetID="3" presetClass="entr" presetSubtype="5" fill="hold" grpId="0" nodeType="afterEffect">
                                  <p:stCondLst>
                                    <p:cond delay="1000"/>
                                  </p:stCondLst>
                                  <p:childTnLst>
                                    <p:set>
                                      <p:cBhvr>
                                        <p:cTn id="70" dur="1" fill="hold">
                                          <p:stCondLst>
                                            <p:cond delay="0"/>
                                          </p:stCondLst>
                                        </p:cTn>
                                        <p:tgtEl>
                                          <p:spTgt spid="258"/>
                                        </p:tgtEl>
                                        <p:attrNameLst>
                                          <p:attrName>style.visibility</p:attrName>
                                        </p:attrNameLst>
                                      </p:cBhvr>
                                      <p:to>
                                        <p:strVal val="visible"/>
                                      </p:to>
                                    </p:set>
                                    <p:animEffect transition="in" filter="blinds(vertical)">
                                      <p:cBhvr>
                                        <p:cTn id="71" dur="500"/>
                                        <p:tgtEl>
                                          <p:spTgt spid="258"/>
                                        </p:tgtEl>
                                      </p:cBhvr>
                                    </p:animEffect>
                                  </p:childTnLst>
                                </p:cTn>
                              </p:par>
                            </p:childTnLst>
                          </p:cTn>
                        </p:par>
                        <p:par>
                          <p:cTn id="72" fill="hold">
                            <p:stCondLst>
                              <p:cond delay="8000"/>
                            </p:stCondLst>
                            <p:childTnLst>
                              <p:par>
                                <p:cTn id="73" presetID="3" presetClass="entr" presetSubtype="10" fill="hold" nodeType="afterEffect">
                                  <p:stCondLst>
                                    <p:cond delay="0"/>
                                  </p:stCondLst>
                                  <p:childTnLst>
                                    <p:set>
                                      <p:cBhvr>
                                        <p:cTn id="74" dur="1" fill="hold">
                                          <p:stCondLst>
                                            <p:cond delay="0"/>
                                          </p:stCondLst>
                                        </p:cTn>
                                        <p:tgtEl>
                                          <p:spTgt spid="260"/>
                                        </p:tgtEl>
                                        <p:attrNameLst>
                                          <p:attrName>style.visibility</p:attrName>
                                        </p:attrNameLst>
                                      </p:cBhvr>
                                      <p:to>
                                        <p:strVal val="visible"/>
                                      </p:to>
                                    </p:set>
                                    <p:animEffect transition="in" filter="blinds(horizontal)">
                                      <p:cBhvr>
                                        <p:cTn id="75" dur="500"/>
                                        <p:tgtEl>
                                          <p:spTgt spid="260"/>
                                        </p:tgtEl>
                                      </p:cBhvr>
                                    </p:animEffect>
                                  </p:childTnLst>
                                </p:cTn>
                              </p:par>
                            </p:childTnLst>
                          </p:cTn>
                        </p:par>
                        <p:par>
                          <p:cTn id="76" fill="hold">
                            <p:stCondLst>
                              <p:cond delay="8500"/>
                            </p:stCondLst>
                            <p:childTnLst>
                              <p:par>
                                <p:cTn id="77" presetID="22" presetClass="exit" presetSubtype="1" fill="hold" grpId="0" nodeType="afterEffect">
                                  <p:stCondLst>
                                    <p:cond delay="0"/>
                                  </p:stCondLst>
                                  <p:childTnLst>
                                    <p:animEffect transition="out" filter="wipe(up)">
                                      <p:cBhvr>
                                        <p:cTn id="78" dur="1000"/>
                                        <p:tgtEl>
                                          <p:spTgt spid="71"/>
                                        </p:tgtEl>
                                      </p:cBhvr>
                                    </p:animEffect>
                                    <p:set>
                                      <p:cBhvr>
                                        <p:cTn id="79" dur="1" fill="hold">
                                          <p:stCondLst>
                                            <p:cond delay="999"/>
                                          </p:stCondLst>
                                        </p:cTn>
                                        <p:tgtEl>
                                          <p:spTgt spid="71"/>
                                        </p:tgtEl>
                                        <p:attrNameLst>
                                          <p:attrName>style.visibility</p:attrName>
                                        </p:attrNameLst>
                                      </p:cBhvr>
                                      <p:to>
                                        <p:strVal val="hidden"/>
                                      </p:to>
                                    </p:set>
                                  </p:childTnLst>
                                </p:cTn>
                              </p:par>
                            </p:childTnLst>
                          </p:cTn>
                        </p:par>
                        <p:par>
                          <p:cTn id="80" fill="hold">
                            <p:stCondLst>
                              <p:cond delay="9500"/>
                            </p:stCondLst>
                            <p:childTnLst>
                              <p:par>
                                <p:cTn id="81" presetID="22" presetClass="exit" presetSubtype="1" fill="hold" grpId="1" nodeType="afterEffect">
                                  <p:stCondLst>
                                    <p:cond delay="0"/>
                                  </p:stCondLst>
                                  <p:childTnLst>
                                    <p:animEffect transition="out" filter="wipe(up)">
                                      <p:cBhvr>
                                        <p:cTn id="82" dur="1000"/>
                                        <p:tgtEl>
                                          <p:spTgt spid="72"/>
                                        </p:tgtEl>
                                      </p:cBhvr>
                                    </p:animEffect>
                                    <p:set>
                                      <p:cBhvr>
                                        <p:cTn id="83" dur="1" fill="hold">
                                          <p:stCondLst>
                                            <p:cond delay="999"/>
                                          </p:stCondLst>
                                        </p:cTn>
                                        <p:tgtEl>
                                          <p:spTgt spid="72"/>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6" presetClass="entr" presetSubtype="21" fill="hold" nodeType="clickEffect">
                                  <p:stCondLst>
                                    <p:cond delay="0"/>
                                  </p:stCondLst>
                                  <p:childTnLst>
                                    <p:set>
                                      <p:cBhvr>
                                        <p:cTn id="87" dur="1" fill="hold">
                                          <p:stCondLst>
                                            <p:cond delay="0"/>
                                          </p:stCondLst>
                                        </p:cTn>
                                        <p:tgtEl>
                                          <p:spTgt spid="2"/>
                                        </p:tgtEl>
                                        <p:attrNameLst>
                                          <p:attrName>style.visibility</p:attrName>
                                        </p:attrNameLst>
                                      </p:cBhvr>
                                      <p:to>
                                        <p:strVal val="visible"/>
                                      </p:to>
                                    </p:set>
                                    <p:animEffect transition="in" filter="barn(inVertical)">
                                      <p:cBhvr>
                                        <p:cTn id="88" dur="500"/>
                                        <p:tgtEl>
                                          <p:spTgt spid="2"/>
                                        </p:tgtEl>
                                      </p:cBhvr>
                                    </p:animEffect>
                                  </p:childTnLst>
                                </p:cTn>
                              </p:par>
                            </p:childTnLst>
                          </p:cTn>
                        </p:par>
                        <p:par>
                          <p:cTn id="89" fill="hold">
                            <p:stCondLst>
                              <p:cond delay="500"/>
                            </p:stCondLst>
                            <p:childTnLst>
                              <p:par>
                                <p:cTn id="90" presetID="16" presetClass="entr" presetSubtype="21" fill="hold" nodeType="after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barn(inVertical)">
                                      <p:cBhvr>
                                        <p:cTn id="9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animBg="1"/>
      <p:bldP spid="71" grpId="0" animBg="1"/>
      <p:bldP spid="72" grpId="0" animBg="1"/>
      <p:bldP spid="72"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14</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A50021"/>
                </a:solidFill>
                <a:latin typeface="微软雅黑" panose="020B0503020204020204" pitchFamily="34" charset="-122"/>
                <a:ea typeface="微软雅黑" panose="020B0503020204020204" pitchFamily="34" charset="-122"/>
              </a:rPr>
              <a:t>三</a:t>
            </a:r>
            <a:r>
              <a:rPr lang="zh-CN" altLang="en-US" sz="2800" b="1" dirty="0" smtClean="0">
                <a:solidFill>
                  <a:srgbClr val="A50021"/>
                </a:solidFill>
                <a:latin typeface="微软雅黑" panose="020B0503020204020204" pitchFamily="34" charset="-122"/>
                <a:ea typeface="微软雅黑" panose="020B0503020204020204" pitchFamily="34" charset="-122"/>
              </a:rPr>
              <a:t>、加</a:t>
            </a:r>
            <a:r>
              <a:rPr lang="zh-CN" altLang="en-US" sz="2800" b="1" dirty="0">
                <a:solidFill>
                  <a:srgbClr val="A50021"/>
                </a:solidFill>
                <a:latin typeface="微软雅黑" panose="020B0503020204020204" pitchFamily="34" charset="-122"/>
                <a:ea typeface="微软雅黑" panose="020B0503020204020204" pitchFamily="34" charset="-122"/>
              </a:rPr>
              <a:t>筋挡土墙</a:t>
            </a:r>
          </a:p>
        </p:txBody>
      </p:sp>
      <p:sp>
        <p:nvSpPr>
          <p:cNvPr id="199" name="Text Box 2"/>
          <p:cNvSpPr txBox="1">
            <a:spLocks noChangeArrowheads="1"/>
          </p:cNvSpPr>
          <p:nvPr/>
        </p:nvSpPr>
        <p:spPr bwMode="auto">
          <a:xfrm>
            <a:off x="2276459" y="5729277"/>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203" name="Text Box 5"/>
          <p:cNvSpPr txBox="1">
            <a:spLocks noChangeArrowheads="1"/>
          </p:cNvSpPr>
          <p:nvPr/>
        </p:nvSpPr>
        <p:spPr bwMode="auto">
          <a:xfrm>
            <a:off x="1131683" y="1258475"/>
            <a:ext cx="7586804" cy="165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靠筋材的拉力承担土压力，通过滑动面后面土体与筋材间的摩擦力将筋材锚定，保持加筋土体整体稳定</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加筋土挡土墙可以是有墙面和无</a:t>
            </a:r>
            <a:r>
              <a:rPr lang="zh-CN" altLang="en-US" sz="2000" b="1" dirty="0">
                <a:solidFill>
                  <a:srgbClr val="000066"/>
                </a:solidFill>
                <a:ea typeface="幼圆" pitchFamily="49" charset="-122"/>
                <a:cs typeface="Times New Roman" panose="02020603050405020304" pitchFamily="18" charset="0"/>
                <a:sym typeface="Symbol" pitchFamily="18" charset="2"/>
              </a:rPr>
              <a:t>墙。筋材包括各种金属拉带、高强度土工格栅和各种</a:t>
            </a:r>
            <a:r>
              <a:rPr lang="zh-CN" altLang="en-US" sz="2000" b="1" dirty="0" smtClean="0">
                <a:solidFill>
                  <a:srgbClr val="000066"/>
                </a:solidFill>
                <a:ea typeface="幼圆" pitchFamily="49" charset="-122"/>
                <a:cs typeface="Times New Roman" panose="02020603050405020304" pitchFamily="18" charset="0"/>
                <a:sym typeface="Symbol" pitchFamily="18" charset="2"/>
              </a:rPr>
              <a:t>土工布等</a:t>
            </a:r>
            <a:endParaRPr lang="zh-CN" altLang="en-US" sz="2000" b="1" dirty="0">
              <a:solidFill>
                <a:srgbClr val="000066"/>
              </a:solidFill>
              <a:ea typeface="幼圆" pitchFamily="49" charset="-122"/>
              <a:cs typeface="Times New Roman" panose="02020603050405020304" pitchFamily="18" charset="0"/>
            </a:endParaRPr>
          </a:p>
        </p:txBody>
      </p:sp>
      <p:sp>
        <p:nvSpPr>
          <p:cNvPr id="60"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2" name="组合 1"/>
          <p:cNvGrpSpPr/>
          <p:nvPr/>
        </p:nvGrpSpPr>
        <p:grpSpPr>
          <a:xfrm>
            <a:off x="1105167" y="3252459"/>
            <a:ext cx="2528056" cy="2253755"/>
            <a:chOff x="1105167" y="3252459"/>
            <a:chExt cx="2528056" cy="2253755"/>
          </a:xfrm>
        </p:grpSpPr>
        <p:sp>
          <p:nvSpPr>
            <p:cNvPr id="10" name="任意多边形 9"/>
            <p:cNvSpPr/>
            <p:nvPr/>
          </p:nvSpPr>
          <p:spPr bwMode="auto">
            <a:xfrm>
              <a:off x="1105167" y="3255508"/>
              <a:ext cx="2524881" cy="1645119"/>
            </a:xfrm>
            <a:custGeom>
              <a:avLst/>
              <a:gdLst>
                <a:gd name="connsiteX0" fmla="*/ 0 w 2830664"/>
                <a:gd name="connsiteY0" fmla="*/ 1367624 h 1630017"/>
                <a:gd name="connsiteX1" fmla="*/ 0 w 2830664"/>
                <a:gd name="connsiteY1" fmla="*/ 1630017 h 1630017"/>
                <a:gd name="connsiteX2" fmla="*/ 2830664 w 2830664"/>
                <a:gd name="connsiteY2" fmla="*/ 1630017 h 1630017"/>
                <a:gd name="connsiteX3" fmla="*/ 2830664 w 2830664"/>
                <a:gd name="connsiteY3" fmla="*/ 0 h 1630017"/>
                <a:gd name="connsiteX4" fmla="*/ 1749286 w 2830664"/>
                <a:gd name="connsiteY4" fmla="*/ 0 h 1630017"/>
                <a:gd name="connsiteX5" fmla="*/ 1749286 w 2830664"/>
                <a:gd name="connsiteY5" fmla="*/ 1351721 h 1630017"/>
                <a:gd name="connsiteX6" fmla="*/ 1749286 w 2830664"/>
                <a:gd name="connsiteY6" fmla="*/ 1391478 h 1630017"/>
                <a:gd name="connsiteX7" fmla="*/ 0 w 2830664"/>
                <a:gd name="connsiteY7"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30664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06810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14761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79551 h 1641944"/>
                <a:gd name="connsiteX1" fmla="*/ 0 w 2830664"/>
                <a:gd name="connsiteY1" fmla="*/ 1641944 h 1641944"/>
                <a:gd name="connsiteX2" fmla="*/ 2830664 w 2830664"/>
                <a:gd name="connsiteY2" fmla="*/ 1641944 h 1641944"/>
                <a:gd name="connsiteX3" fmla="*/ 2814761 w 2830664"/>
                <a:gd name="connsiteY3" fmla="*/ 11927 h 1641944"/>
                <a:gd name="connsiteX4" fmla="*/ 1745310 w 2830664"/>
                <a:gd name="connsiteY4" fmla="*/ 0 h 1641944"/>
                <a:gd name="connsiteX5" fmla="*/ 1749286 w 2830664"/>
                <a:gd name="connsiteY5" fmla="*/ 1363648 h 1641944"/>
                <a:gd name="connsiteX6" fmla="*/ 0 w 2830664"/>
                <a:gd name="connsiteY6" fmla="*/ 1379551 h 1641944"/>
                <a:gd name="connsiteX0" fmla="*/ 0 w 2830664"/>
                <a:gd name="connsiteY0" fmla="*/ 1383526 h 1645919"/>
                <a:gd name="connsiteX1" fmla="*/ 0 w 2830664"/>
                <a:gd name="connsiteY1" fmla="*/ 1645919 h 1645919"/>
                <a:gd name="connsiteX2" fmla="*/ 2830664 w 2830664"/>
                <a:gd name="connsiteY2" fmla="*/ 1645919 h 1645919"/>
                <a:gd name="connsiteX3" fmla="*/ 2822712 w 2830664"/>
                <a:gd name="connsiteY3" fmla="*/ 0 h 1645919"/>
                <a:gd name="connsiteX4" fmla="*/ 1745310 w 2830664"/>
                <a:gd name="connsiteY4" fmla="*/ 3975 h 1645919"/>
                <a:gd name="connsiteX5" fmla="*/ 1749286 w 2830664"/>
                <a:gd name="connsiteY5" fmla="*/ 1367623 h 1645919"/>
                <a:gd name="connsiteX6" fmla="*/ 0 w 2830664"/>
                <a:gd name="connsiteY6" fmla="*/ 1383526 h 1645919"/>
                <a:gd name="connsiteX0" fmla="*/ 165100 w 2830664"/>
                <a:gd name="connsiteY0" fmla="*/ 1396226 h 1645919"/>
                <a:gd name="connsiteX1" fmla="*/ 0 w 2830664"/>
                <a:gd name="connsiteY1" fmla="*/ 1645919 h 1645919"/>
                <a:gd name="connsiteX2" fmla="*/ 2830664 w 2830664"/>
                <a:gd name="connsiteY2" fmla="*/ 1645919 h 1645919"/>
                <a:gd name="connsiteX3" fmla="*/ 2822712 w 2830664"/>
                <a:gd name="connsiteY3" fmla="*/ 0 h 1645919"/>
                <a:gd name="connsiteX4" fmla="*/ 1745310 w 2830664"/>
                <a:gd name="connsiteY4" fmla="*/ 3975 h 1645919"/>
                <a:gd name="connsiteX5" fmla="*/ 1749286 w 2830664"/>
                <a:gd name="connsiteY5" fmla="*/ 1367623 h 1645919"/>
                <a:gd name="connsiteX6" fmla="*/ 165100 w 2830664"/>
                <a:gd name="connsiteY6" fmla="*/ 1396226 h 1645919"/>
                <a:gd name="connsiteX0" fmla="*/ 9525 w 2675089"/>
                <a:gd name="connsiteY0" fmla="*/ 1396226 h 1645919"/>
                <a:gd name="connsiteX1" fmla="*/ 0 w 2675089"/>
                <a:gd name="connsiteY1" fmla="*/ 1645919 h 1645919"/>
                <a:gd name="connsiteX2" fmla="*/ 2675089 w 2675089"/>
                <a:gd name="connsiteY2" fmla="*/ 1645919 h 1645919"/>
                <a:gd name="connsiteX3" fmla="*/ 2667137 w 2675089"/>
                <a:gd name="connsiteY3" fmla="*/ 0 h 1645919"/>
                <a:gd name="connsiteX4" fmla="*/ 1589735 w 2675089"/>
                <a:gd name="connsiteY4" fmla="*/ 3975 h 1645919"/>
                <a:gd name="connsiteX5" fmla="*/ 1593711 w 2675089"/>
                <a:gd name="connsiteY5" fmla="*/ 1367623 h 1645919"/>
                <a:gd name="connsiteX6" fmla="*/ 9525 w 2675089"/>
                <a:gd name="connsiteY6" fmla="*/ 1396226 h 1645919"/>
                <a:gd name="connsiteX0" fmla="*/ 9525 w 2675089"/>
                <a:gd name="connsiteY0" fmla="*/ 1392251 h 1641944"/>
                <a:gd name="connsiteX1" fmla="*/ 0 w 2675089"/>
                <a:gd name="connsiteY1" fmla="*/ 1641944 h 1641944"/>
                <a:gd name="connsiteX2" fmla="*/ 2675089 w 2675089"/>
                <a:gd name="connsiteY2" fmla="*/ 1641944 h 1641944"/>
                <a:gd name="connsiteX3" fmla="*/ 2524262 w 2675089"/>
                <a:gd name="connsiteY3" fmla="*/ 2375 h 1641944"/>
                <a:gd name="connsiteX4" fmla="*/ 1589735 w 2675089"/>
                <a:gd name="connsiteY4" fmla="*/ 0 h 1641944"/>
                <a:gd name="connsiteX5" fmla="*/ 1593711 w 2675089"/>
                <a:gd name="connsiteY5" fmla="*/ 1363648 h 1641944"/>
                <a:gd name="connsiteX6" fmla="*/ 9525 w 2675089"/>
                <a:gd name="connsiteY6" fmla="*/ 1392251 h 1641944"/>
                <a:gd name="connsiteX0" fmla="*/ 9525 w 2544914"/>
                <a:gd name="connsiteY0" fmla="*/ 1392251 h 1645119"/>
                <a:gd name="connsiteX1" fmla="*/ 0 w 2544914"/>
                <a:gd name="connsiteY1" fmla="*/ 1641944 h 1645119"/>
                <a:gd name="connsiteX2" fmla="*/ 2544914 w 2544914"/>
                <a:gd name="connsiteY2" fmla="*/ 1645119 h 1645119"/>
                <a:gd name="connsiteX3" fmla="*/ 2524262 w 2544914"/>
                <a:gd name="connsiteY3" fmla="*/ 2375 h 1645119"/>
                <a:gd name="connsiteX4" fmla="*/ 1589735 w 2544914"/>
                <a:gd name="connsiteY4" fmla="*/ 0 h 1645119"/>
                <a:gd name="connsiteX5" fmla="*/ 1593711 w 2544914"/>
                <a:gd name="connsiteY5" fmla="*/ 1363648 h 1645119"/>
                <a:gd name="connsiteX6" fmla="*/ 9525 w 2544914"/>
                <a:gd name="connsiteY6" fmla="*/ 1392251 h 1645119"/>
                <a:gd name="connsiteX0" fmla="*/ 9525 w 2529039"/>
                <a:gd name="connsiteY0" fmla="*/ 1392251 h 1641944"/>
                <a:gd name="connsiteX1" fmla="*/ 0 w 2529039"/>
                <a:gd name="connsiteY1" fmla="*/ 1641944 h 1641944"/>
                <a:gd name="connsiteX2" fmla="*/ 2529039 w 2529039"/>
                <a:gd name="connsiteY2" fmla="*/ 1635594 h 1641944"/>
                <a:gd name="connsiteX3" fmla="*/ 2524262 w 2529039"/>
                <a:gd name="connsiteY3" fmla="*/ 2375 h 1641944"/>
                <a:gd name="connsiteX4" fmla="*/ 1589735 w 2529039"/>
                <a:gd name="connsiteY4" fmla="*/ 0 h 1641944"/>
                <a:gd name="connsiteX5" fmla="*/ 1593711 w 2529039"/>
                <a:gd name="connsiteY5" fmla="*/ 1363648 h 1641944"/>
                <a:gd name="connsiteX6" fmla="*/ 9525 w 2529039"/>
                <a:gd name="connsiteY6" fmla="*/ 1392251 h 1641944"/>
                <a:gd name="connsiteX0" fmla="*/ 9525 w 2524881"/>
                <a:gd name="connsiteY0" fmla="*/ 1392251 h 1645119"/>
                <a:gd name="connsiteX1" fmla="*/ 0 w 2524881"/>
                <a:gd name="connsiteY1" fmla="*/ 1641944 h 1645119"/>
                <a:gd name="connsiteX2" fmla="*/ 2522689 w 2524881"/>
                <a:gd name="connsiteY2" fmla="*/ 1645119 h 1645119"/>
                <a:gd name="connsiteX3" fmla="*/ 2524262 w 2524881"/>
                <a:gd name="connsiteY3" fmla="*/ 2375 h 1645119"/>
                <a:gd name="connsiteX4" fmla="*/ 1589735 w 2524881"/>
                <a:gd name="connsiteY4" fmla="*/ 0 h 1645119"/>
                <a:gd name="connsiteX5" fmla="*/ 1593711 w 2524881"/>
                <a:gd name="connsiteY5" fmla="*/ 1363648 h 1645119"/>
                <a:gd name="connsiteX6" fmla="*/ 9525 w 2524881"/>
                <a:gd name="connsiteY6" fmla="*/ 1392251 h 164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4881" h="1645119">
                  <a:moveTo>
                    <a:pt x="9525" y="1392251"/>
                  </a:moveTo>
                  <a:lnTo>
                    <a:pt x="0" y="1641944"/>
                  </a:lnTo>
                  <a:lnTo>
                    <a:pt x="2522689" y="1645119"/>
                  </a:lnTo>
                  <a:cubicBezTo>
                    <a:pt x="2520038" y="1096479"/>
                    <a:pt x="2526913" y="551015"/>
                    <a:pt x="2524262" y="2375"/>
                  </a:cubicBezTo>
                  <a:lnTo>
                    <a:pt x="1589735" y="0"/>
                  </a:lnTo>
                  <a:cubicBezTo>
                    <a:pt x="1591060" y="454549"/>
                    <a:pt x="1592386" y="909099"/>
                    <a:pt x="1593711" y="1363648"/>
                  </a:cubicBezTo>
                  <a:lnTo>
                    <a:pt x="9525" y="1392251"/>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Text Box 47"/>
            <p:cNvSpPr txBox="1">
              <a:spLocks noChangeArrowheads="1"/>
            </p:cNvSpPr>
            <p:nvPr/>
          </p:nvSpPr>
          <p:spPr bwMode="auto">
            <a:xfrm>
              <a:off x="1816257" y="5095332"/>
              <a:ext cx="166550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无</a:t>
              </a:r>
              <a:r>
                <a:rPr lang="zh-CN" altLang="en-US" sz="1800" b="1" dirty="0">
                  <a:solidFill>
                    <a:srgbClr val="000066"/>
                  </a:solidFill>
                  <a:latin typeface="黑体" panose="02010609060101010101" pitchFamily="49" charset="-122"/>
                  <a:ea typeface="黑体" panose="02010609060101010101" pitchFamily="49" charset="-122"/>
                </a:rPr>
                <a:t>墙</a:t>
              </a:r>
              <a:r>
                <a:rPr lang="zh-CN" altLang="en-US" sz="1800" b="1" dirty="0" smtClean="0">
                  <a:solidFill>
                    <a:srgbClr val="000066"/>
                  </a:solidFill>
                  <a:latin typeface="黑体" panose="02010609060101010101" pitchFamily="49" charset="-122"/>
                  <a:ea typeface="黑体" panose="02010609060101010101" pitchFamily="49" charset="-122"/>
                </a:rPr>
                <a:t>面包裹式</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355" name="Line 32"/>
            <p:cNvSpPr>
              <a:spLocks noChangeShapeType="1"/>
            </p:cNvSpPr>
            <p:nvPr/>
          </p:nvSpPr>
          <p:spPr bwMode="auto">
            <a:xfrm>
              <a:off x="1115781" y="4646286"/>
              <a:ext cx="5176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任意多边形 5"/>
            <p:cNvSpPr/>
            <p:nvPr/>
          </p:nvSpPr>
          <p:spPr bwMode="auto">
            <a:xfrm>
              <a:off x="1498668" y="4410542"/>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7" name="任意多边形 36"/>
            <p:cNvSpPr/>
            <p:nvPr/>
          </p:nvSpPr>
          <p:spPr bwMode="auto">
            <a:xfrm>
              <a:off x="1498668" y="4177310"/>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8" name="任意多边形 37"/>
            <p:cNvSpPr/>
            <p:nvPr/>
          </p:nvSpPr>
          <p:spPr bwMode="auto">
            <a:xfrm>
              <a:off x="1504831" y="3943585"/>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9" name="任意多边形 38"/>
            <p:cNvSpPr/>
            <p:nvPr/>
          </p:nvSpPr>
          <p:spPr bwMode="auto">
            <a:xfrm>
              <a:off x="1510994" y="3709860"/>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9525"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0" name="任意多边形 39"/>
            <p:cNvSpPr/>
            <p:nvPr/>
          </p:nvSpPr>
          <p:spPr bwMode="auto">
            <a:xfrm>
              <a:off x="1510994" y="3483176"/>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1" name="任意多边形 40"/>
            <p:cNvSpPr/>
            <p:nvPr/>
          </p:nvSpPr>
          <p:spPr bwMode="auto">
            <a:xfrm>
              <a:off x="1504831" y="3252459"/>
              <a:ext cx="1336626" cy="231706"/>
            </a:xfrm>
            <a:custGeom>
              <a:avLst/>
              <a:gdLst>
                <a:gd name="connsiteX0" fmla="*/ 1343770 w 1343770"/>
                <a:gd name="connsiteY0" fmla="*/ 11927 h 230588"/>
                <a:gd name="connsiteX1" fmla="*/ 63610 w 1343770"/>
                <a:gd name="connsiteY1" fmla="*/ 0 h 230588"/>
                <a:gd name="connsiteX2" fmla="*/ 19878 w 1343770"/>
                <a:gd name="connsiteY2" fmla="*/ 15902 h 230588"/>
                <a:gd name="connsiteX3" fmla="*/ 11927 w 1343770"/>
                <a:gd name="connsiteY3" fmla="*/ 47708 h 230588"/>
                <a:gd name="connsiteX4" fmla="*/ 3975 w 1343770"/>
                <a:gd name="connsiteY4" fmla="*/ 87464 h 230588"/>
                <a:gd name="connsiteX5" fmla="*/ 0 w 1343770"/>
                <a:gd name="connsiteY5" fmla="*/ 127221 h 230588"/>
                <a:gd name="connsiteX6" fmla="*/ 3975 w 1343770"/>
                <a:gd name="connsiteY6" fmla="*/ 182880 h 230588"/>
                <a:gd name="connsiteX7" fmla="*/ 27829 w 1343770"/>
                <a:gd name="connsiteY7" fmla="*/ 222636 h 230588"/>
                <a:gd name="connsiteX8" fmla="*/ 59635 w 1343770"/>
                <a:gd name="connsiteY8" fmla="*/ 230588 h 230588"/>
                <a:gd name="connsiteX9" fmla="*/ 1331843 w 1343770"/>
                <a:gd name="connsiteY9" fmla="*/ 230588 h 230588"/>
                <a:gd name="connsiteX0" fmla="*/ 1336626 w 1336626"/>
                <a:gd name="connsiteY0" fmla="*/ 20 h 230588"/>
                <a:gd name="connsiteX1" fmla="*/ 63610 w 1336626"/>
                <a:gd name="connsiteY1" fmla="*/ 0 h 230588"/>
                <a:gd name="connsiteX2" fmla="*/ 19878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36626 w 1336626"/>
                <a:gd name="connsiteY0" fmla="*/ 20 h 230588"/>
                <a:gd name="connsiteX1" fmla="*/ 63610 w 1336626"/>
                <a:gd name="connsiteY1" fmla="*/ 0 h 230588"/>
                <a:gd name="connsiteX2" fmla="*/ 27022 w 1336626"/>
                <a:gd name="connsiteY2" fmla="*/ 15902 h 230588"/>
                <a:gd name="connsiteX3" fmla="*/ 11927 w 1336626"/>
                <a:gd name="connsiteY3" fmla="*/ 47708 h 230588"/>
                <a:gd name="connsiteX4" fmla="*/ 3975 w 1336626"/>
                <a:gd name="connsiteY4" fmla="*/ 87464 h 230588"/>
                <a:gd name="connsiteX5" fmla="*/ 0 w 1336626"/>
                <a:gd name="connsiteY5" fmla="*/ 127221 h 230588"/>
                <a:gd name="connsiteX6" fmla="*/ 3975 w 1336626"/>
                <a:gd name="connsiteY6" fmla="*/ 182880 h 230588"/>
                <a:gd name="connsiteX7" fmla="*/ 27829 w 1336626"/>
                <a:gd name="connsiteY7" fmla="*/ 222636 h 230588"/>
                <a:gd name="connsiteX8" fmla="*/ 59635 w 1336626"/>
                <a:gd name="connsiteY8" fmla="*/ 230588 h 230588"/>
                <a:gd name="connsiteX9" fmla="*/ 1331843 w 1336626"/>
                <a:gd name="connsiteY9" fmla="*/ 230588 h 230588"/>
                <a:gd name="connsiteX0" fmla="*/ 1380578 w 1380578"/>
                <a:gd name="connsiteY0" fmla="*/ 20 h 231706"/>
                <a:gd name="connsiteX1" fmla="*/ 107562 w 1380578"/>
                <a:gd name="connsiteY1" fmla="*/ 0 h 231706"/>
                <a:gd name="connsiteX2" fmla="*/ 70974 w 1380578"/>
                <a:gd name="connsiteY2" fmla="*/ 15902 h 231706"/>
                <a:gd name="connsiteX3" fmla="*/ 55879 w 1380578"/>
                <a:gd name="connsiteY3" fmla="*/ 47708 h 231706"/>
                <a:gd name="connsiteX4" fmla="*/ 47927 w 1380578"/>
                <a:gd name="connsiteY4" fmla="*/ 87464 h 231706"/>
                <a:gd name="connsiteX5" fmla="*/ 43952 w 1380578"/>
                <a:gd name="connsiteY5" fmla="*/ 127221 h 231706"/>
                <a:gd name="connsiteX6" fmla="*/ 47927 w 1380578"/>
                <a:gd name="connsiteY6" fmla="*/ 182880 h 231706"/>
                <a:gd name="connsiteX7" fmla="*/ 69399 w 1380578"/>
                <a:gd name="connsiteY7" fmla="*/ 215492 h 231706"/>
                <a:gd name="connsiteX8" fmla="*/ 103587 w 1380578"/>
                <a:gd name="connsiteY8" fmla="*/ 230588 h 231706"/>
                <a:gd name="connsiteX9" fmla="*/ 1375795 w 1380578"/>
                <a:gd name="connsiteY9" fmla="*/ 230588 h 231706"/>
                <a:gd name="connsiteX0" fmla="*/ 1336626 w 1336626"/>
                <a:gd name="connsiteY0" fmla="*/ 20 h 231706"/>
                <a:gd name="connsiteX1" fmla="*/ 63610 w 1336626"/>
                <a:gd name="connsiteY1" fmla="*/ 0 h 231706"/>
                <a:gd name="connsiteX2" fmla="*/ 27022 w 1336626"/>
                <a:gd name="connsiteY2" fmla="*/ 15902 h 231706"/>
                <a:gd name="connsiteX3" fmla="*/ 11927 w 1336626"/>
                <a:gd name="connsiteY3" fmla="*/ 47708 h 231706"/>
                <a:gd name="connsiteX4" fmla="*/ 3975 w 1336626"/>
                <a:gd name="connsiteY4" fmla="*/ 87464 h 231706"/>
                <a:gd name="connsiteX5" fmla="*/ 0 w 1336626"/>
                <a:gd name="connsiteY5" fmla="*/ 127221 h 231706"/>
                <a:gd name="connsiteX6" fmla="*/ 3975 w 1336626"/>
                <a:gd name="connsiteY6" fmla="*/ 182880 h 231706"/>
                <a:gd name="connsiteX7" fmla="*/ 25447 w 1336626"/>
                <a:gd name="connsiteY7" fmla="*/ 215492 h 231706"/>
                <a:gd name="connsiteX8" fmla="*/ 59635 w 1336626"/>
                <a:gd name="connsiteY8" fmla="*/ 230588 h 231706"/>
                <a:gd name="connsiteX9" fmla="*/ 1331843 w 1336626"/>
                <a:gd name="connsiteY9" fmla="*/ 230588 h 23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6626" h="231706">
                  <a:moveTo>
                    <a:pt x="1336626" y="20"/>
                  </a:moveTo>
                  <a:lnTo>
                    <a:pt x="63610" y="0"/>
                  </a:lnTo>
                  <a:lnTo>
                    <a:pt x="27022" y="15902"/>
                  </a:lnTo>
                  <a:lnTo>
                    <a:pt x="11927" y="47708"/>
                  </a:lnTo>
                  <a:lnTo>
                    <a:pt x="3975" y="87464"/>
                  </a:lnTo>
                  <a:lnTo>
                    <a:pt x="0" y="127221"/>
                  </a:lnTo>
                  <a:lnTo>
                    <a:pt x="3975" y="182880"/>
                  </a:lnTo>
                  <a:lnTo>
                    <a:pt x="25447" y="215492"/>
                  </a:lnTo>
                  <a:lnTo>
                    <a:pt x="59635" y="230588"/>
                  </a:lnTo>
                  <a:cubicBezTo>
                    <a:pt x="277368" y="233104"/>
                    <a:pt x="907774" y="230588"/>
                    <a:pt x="1331843" y="230588"/>
                  </a:cubicBezTo>
                </a:path>
              </a:pathLst>
            </a:custGeom>
            <a:pattFill prst="pct5">
              <a:fgClr>
                <a:schemeClr val="tx1"/>
              </a:fgClr>
              <a:bgClr>
                <a:srgbClr val="F5D0AB"/>
              </a:bgClr>
            </a:patt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2" name="Line 32"/>
            <p:cNvSpPr>
              <a:spLocks noChangeShapeType="1"/>
            </p:cNvSpPr>
            <p:nvPr/>
          </p:nvSpPr>
          <p:spPr bwMode="auto">
            <a:xfrm>
              <a:off x="1559472" y="3252459"/>
              <a:ext cx="20737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12" name="直接连接符 11"/>
            <p:cNvCxnSpPr>
              <a:stCxn id="6" idx="8"/>
            </p:cNvCxnSpPr>
            <p:nvPr/>
          </p:nvCxnSpPr>
          <p:spPr bwMode="auto">
            <a:xfrm flipV="1">
              <a:off x="1558303" y="3257006"/>
              <a:ext cx="775594" cy="1384124"/>
            </a:xfrm>
            <a:prstGeom prst="line">
              <a:avLst/>
            </a:prstGeom>
            <a:noFill/>
            <a:ln w="19050" cap="flat" cmpd="sng" algn="ctr">
              <a:solidFill>
                <a:srgbClr val="A5002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 Box 53"/>
            <p:cNvSpPr txBox="1">
              <a:spLocks noChangeArrowheads="1"/>
            </p:cNvSpPr>
            <p:nvPr/>
          </p:nvSpPr>
          <p:spPr bwMode="auto">
            <a:xfrm>
              <a:off x="2883816" y="3603279"/>
              <a:ext cx="66514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a:solidFill>
                    <a:srgbClr val="000000"/>
                  </a:solidFill>
                  <a:latin typeface="幼圆" panose="02010509060101010101" pitchFamily="49" charset="-122"/>
                  <a:ea typeface="幼圆" panose="02010509060101010101" pitchFamily="49" charset="-122"/>
                </a:rPr>
                <a:t>筋材</a:t>
              </a:r>
            </a:p>
          </p:txBody>
        </p:sp>
        <p:cxnSp>
          <p:nvCxnSpPr>
            <p:cNvPr id="3" name="直接连接符 2"/>
            <p:cNvCxnSpPr/>
            <p:nvPr/>
          </p:nvCxnSpPr>
          <p:spPr bwMode="auto">
            <a:xfrm flipV="1">
              <a:off x="2734189" y="3816035"/>
              <a:ext cx="149333" cy="11535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3924188" y="3251532"/>
            <a:ext cx="2314830" cy="2237109"/>
            <a:chOff x="3924188" y="3251532"/>
            <a:chExt cx="2314830" cy="2237109"/>
          </a:xfrm>
        </p:grpSpPr>
        <p:grpSp>
          <p:nvGrpSpPr>
            <p:cNvPr id="46" name="组合 45"/>
            <p:cNvGrpSpPr/>
            <p:nvPr/>
          </p:nvGrpSpPr>
          <p:grpSpPr>
            <a:xfrm>
              <a:off x="4186451" y="3251532"/>
              <a:ext cx="1778131" cy="1678503"/>
              <a:chOff x="7427155" y="2067498"/>
              <a:chExt cx="1142806" cy="1359017"/>
            </a:xfrm>
          </p:grpSpPr>
          <p:sp>
            <p:nvSpPr>
              <p:cNvPr id="47" name="任意多边形 46"/>
              <p:cNvSpPr/>
              <p:nvPr/>
            </p:nvSpPr>
            <p:spPr bwMode="auto">
              <a:xfrm>
                <a:off x="7430485" y="2074549"/>
                <a:ext cx="1133183" cy="1351966"/>
              </a:xfrm>
              <a:custGeom>
                <a:avLst/>
                <a:gdLst>
                  <a:gd name="connsiteX0" fmla="*/ 0 w 1133183"/>
                  <a:gd name="connsiteY0" fmla="*/ 1127573 h 1351966"/>
                  <a:gd name="connsiteX1" fmla="*/ 0 w 1133183"/>
                  <a:gd name="connsiteY1" fmla="*/ 1351966 h 1351966"/>
                  <a:gd name="connsiteX2" fmla="*/ 1133183 w 1133183"/>
                  <a:gd name="connsiteY2" fmla="*/ 1351966 h 1351966"/>
                  <a:gd name="connsiteX3" fmla="*/ 1133183 w 1133183"/>
                  <a:gd name="connsiteY3" fmla="*/ 0 h 1351966"/>
                  <a:gd name="connsiteX4" fmla="*/ 286101 w 1133183"/>
                  <a:gd name="connsiteY4" fmla="*/ 0 h 1351966"/>
                  <a:gd name="connsiteX5" fmla="*/ 286101 w 1133183"/>
                  <a:gd name="connsiteY5" fmla="*/ 1116354 h 1351966"/>
                  <a:gd name="connsiteX6" fmla="*/ 0 w 1133183"/>
                  <a:gd name="connsiteY6" fmla="*/ 1127573 h 135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3183" h="1351966">
                    <a:moveTo>
                      <a:pt x="0" y="1127573"/>
                    </a:moveTo>
                    <a:lnTo>
                      <a:pt x="0" y="1351966"/>
                    </a:lnTo>
                    <a:lnTo>
                      <a:pt x="1133183" y="1351966"/>
                    </a:lnTo>
                    <a:lnTo>
                      <a:pt x="1133183" y="0"/>
                    </a:lnTo>
                    <a:lnTo>
                      <a:pt x="286101" y="0"/>
                    </a:lnTo>
                    <a:lnTo>
                      <a:pt x="286101" y="1116354"/>
                    </a:lnTo>
                    <a:lnTo>
                      <a:pt x="0" y="1127573"/>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8" name="直接连接符 47"/>
              <p:cNvCxnSpPr/>
              <p:nvPr/>
            </p:nvCxnSpPr>
            <p:spPr bwMode="auto">
              <a:xfrm>
                <a:off x="7427155" y="3194833"/>
                <a:ext cx="30954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矩形 48"/>
              <p:cNvSpPr/>
              <p:nvPr/>
            </p:nvSpPr>
            <p:spPr bwMode="auto">
              <a:xfrm>
                <a:off x="7624485" y="3234719"/>
                <a:ext cx="176248" cy="104707"/>
              </a:xfrm>
              <a:prstGeom prst="rect">
                <a:avLst/>
              </a:prstGeom>
              <a:pattFill prst="wdDn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50" name="直接连接符 49"/>
              <p:cNvCxnSpPr/>
              <p:nvPr/>
            </p:nvCxnSpPr>
            <p:spPr bwMode="auto">
              <a:xfrm>
                <a:off x="7724828" y="2081600"/>
                <a:ext cx="8451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7736698" y="2224447"/>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7736698" y="2390681"/>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p:nvPr/>
            </p:nvCxnSpPr>
            <p:spPr bwMode="auto">
              <a:xfrm>
                <a:off x="7736698" y="2551305"/>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7736698" y="2711929"/>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p:nvPr/>
            </p:nvCxnSpPr>
            <p:spPr bwMode="auto">
              <a:xfrm>
                <a:off x="7736698" y="2872553"/>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55"/>
              <p:cNvCxnSpPr/>
              <p:nvPr/>
            </p:nvCxnSpPr>
            <p:spPr bwMode="auto">
              <a:xfrm>
                <a:off x="7736698" y="3033177"/>
                <a:ext cx="703554"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矩形 56"/>
              <p:cNvSpPr/>
              <p:nvPr/>
            </p:nvSpPr>
            <p:spPr bwMode="auto">
              <a:xfrm>
                <a:off x="7690567" y="2067498"/>
                <a:ext cx="57325" cy="1212523"/>
              </a:xfrm>
              <a:prstGeom prst="rect">
                <a:avLst/>
              </a:prstGeom>
              <a:pattFill prst="dk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58" name="Text Box 47"/>
            <p:cNvSpPr txBox="1">
              <a:spLocks noChangeArrowheads="1"/>
            </p:cNvSpPr>
            <p:nvPr/>
          </p:nvSpPr>
          <p:spPr bwMode="auto">
            <a:xfrm>
              <a:off x="4143268" y="5077759"/>
              <a:ext cx="209575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整体混凝土</a:t>
              </a:r>
              <a:r>
                <a:rPr lang="zh-CN" altLang="en-US" sz="1800" b="1" dirty="0">
                  <a:solidFill>
                    <a:srgbClr val="000066"/>
                  </a:solidFill>
                  <a:latin typeface="黑体" panose="02010609060101010101" pitchFamily="49" charset="-122"/>
                  <a:ea typeface="黑体" panose="02010609060101010101" pitchFamily="49" charset="-122"/>
                </a:rPr>
                <a:t>墙</a:t>
              </a:r>
              <a:r>
                <a:rPr lang="zh-CN" altLang="en-US" sz="1800" b="1" dirty="0" smtClean="0">
                  <a:solidFill>
                    <a:srgbClr val="000066"/>
                  </a:solidFill>
                  <a:latin typeface="黑体" panose="02010609060101010101" pitchFamily="49" charset="-122"/>
                  <a:ea typeface="黑体" panose="02010609060101010101" pitchFamily="49" charset="-122"/>
                </a:rPr>
                <a:t>面式</a:t>
              </a:r>
              <a:endParaRPr lang="zh-CN" altLang="en-US" sz="1800" b="1" dirty="0">
                <a:solidFill>
                  <a:srgbClr val="000066"/>
                </a:solidFill>
                <a:latin typeface="黑体" panose="02010609060101010101" pitchFamily="49" charset="-122"/>
                <a:ea typeface="黑体" panose="02010609060101010101" pitchFamily="49" charset="-122"/>
              </a:endParaRPr>
            </a:p>
          </p:txBody>
        </p:sp>
        <p:sp>
          <p:nvSpPr>
            <p:cNvPr id="62" name="Text Box 53"/>
            <p:cNvSpPr txBox="1">
              <a:spLocks noChangeArrowheads="1"/>
            </p:cNvSpPr>
            <p:nvPr/>
          </p:nvSpPr>
          <p:spPr bwMode="auto">
            <a:xfrm>
              <a:off x="5335797" y="4421108"/>
              <a:ext cx="66514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a:solidFill>
                    <a:srgbClr val="000000"/>
                  </a:solidFill>
                  <a:latin typeface="幼圆" panose="02010509060101010101" pitchFamily="49" charset="-122"/>
                  <a:ea typeface="幼圆" panose="02010509060101010101" pitchFamily="49" charset="-122"/>
                </a:rPr>
                <a:t>筋材</a:t>
              </a:r>
            </a:p>
          </p:txBody>
        </p:sp>
        <p:cxnSp>
          <p:nvCxnSpPr>
            <p:cNvPr id="63" name="直接连接符 62"/>
            <p:cNvCxnSpPr>
              <a:stCxn id="62" idx="1"/>
            </p:cNvCxnSpPr>
            <p:nvPr/>
          </p:nvCxnSpPr>
          <p:spPr bwMode="auto">
            <a:xfrm flipH="1" flipV="1">
              <a:off x="5204228" y="4461849"/>
              <a:ext cx="131569" cy="16470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Text Box 53"/>
            <p:cNvSpPr txBox="1">
              <a:spLocks noChangeArrowheads="1"/>
            </p:cNvSpPr>
            <p:nvPr/>
          </p:nvSpPr>
          <p:spPr bwMode="auto">
            <a:xfrm>
              <a:off x="3924188" y="3459688"/>
              <a:ext cx="665142" cy="37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rgbClr val="000000"/>
                  </a:solidFill>
                  <a:latin typeface="幼圆" panose="02010509060101010101" pitchFamily="49" charset="-122"/>
                  <a:ea typeface="幼圆" panose="02010509060101010101" pitchFamily="49" charset="-122"/>
                </a:rPr>
                <a:t>面板</a:t>
              </a:r>
              <a:endParaRPr kumimoji="1" lang="zh-CN" altLang="en-US" sz="1800" b="1" dirty="0">
                <a:solidFill>
                  <a:srgbClr val="000000"/>
                </a:solidFill>
                <a:latin typeface="幼圆" panose="02010509060101010101" pitchFamily="49" charset="-122"/>
                <a:ea typeface="幼圆" panose="02010509060101010101" pitchFamily="49" charset="-122"/>
              </a:endParaRPr>
            </a:p>
          </p:txBody>
        </p:sp>
        <p:cxnSp>
          <p:nvCxnSpPr>
            <p:cNvPr id="77" name="直接连接符 76"/>
            <p:cNvCxnSpPr>
              <a:stCxn id="57" idx="1"/>
            </p:cNvCxnSpPr>
            <p:nvPr/>
          </p:nvCxnSpPr>
          <p:spPr bwMode="auto">
            <a:xfrm flipH="1" flipV="1">
              <a:off x="4404879" y="3825726"/>
              <a:ext cx="191424" cy="17459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 name="组合 4"/>
          <p:cNvGrpSpPr/>
          <p:nvPr/>
        </p:nvGrpSpPr>
        <p:grpSpPr>
          <a:xfrm>
            <a:off x="6349374" y="3268949"/>
            <a:ext cx="2331390" cy="2210315"/>
            <a:chOff x="6349374" y="3268949"/>
            <a:chExt cx="2331390" cy="2210315"/>
          </a:xfrm>
        </p:grpSpPr>
        <p:sp>
          <p:nvSpPr>
            <p:cNvPr id="79" name="任意多边形 78"/>
            <p:cNvSpPr/>
            <p:nvPr/>
          </p:nvSpPr>
          <p:spPr bwMode="auto">
            <a:xfrm>
              <a:off x="6586816" y="3278165"/>
              <a:ext cx="2026860" cy="1645920"/>
            </a:xfrm>
            <a:custGeom>
              <a:avLst/>
              <a:gdLst>
                <a:gd name="connsiteX0" fmla="*/ 0 w 2830664"/>
                <a:gd name="connsiteY0" fmla="*/ 1367624 h 1630017"/>
                <a:gd name="connsiteX1" fmla="*/ 0 w 2830664"/>
                <a:gd name="connsiteY1" fmla="*/ 1630017 h 1630017"/>
                <a:gd name="connsiteX2" fmla="*/ 2830664 w 2830664"/>
                <a:gd name="connsiteY2" fmla="*/ 1630017 h 1630017"/>
                <a:gd name="connsiteX3" fmla="*/ 2830664 w 2830664"/>
                <a:gd name="connsiteY3" fmla="*/ 0 h 1630017"/>
                <a:gd name="connsiteX4" fmla="*/ 1749286 w 2830664"/>
                <a:gd name="connsiteY4" fmla="*/ 0 h 1630017"/>
                <a:gd name="connsiteX5" fmla="*/ 1749286 w 2830664"/>
                <a:gd name="connsiteY5" fmla="*/ 1351721 h 1630017"/>
                <a:gd name="connsiteX6" fmla="*/ 1749286 w 2830664"/>
                <a:gd name="connsiteY6" fmla="*/ 1391478 h 1630017"/>
                <a:gd name="connsiteX7" fmla="*/ 0 w 2830664"/>
                <a:gd name="connsiteY7"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30664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06810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67624 h 1630017"/>
                <a:gd name="connsiteX1" fmla="*/ 0 w 2830664"/>
                <a:gd name="connsiteY1" fmla="*/ 1630017 h 1630017"/>
                <a:gd name="connsiteX2" fmla="*/ 2830664 w 2830664"/>
                <a:gd name="connsiteY2" fmla="*/ 1630017 h 1630017"/>
                <a:gd name="connsiteX3" fmla="*/ 2814761 w 2830664"/>
                <a:gd name="connsiteY3" fmla="*/ 0 h 1630017"/>
                <a:gd name="connsiteX4" fmla="*/ 1749286 w 2830664"/>
                <a:gd name="connsiteY4" fmla="*/ 0 h 1630017"/>
                <a:gd name="connsiteX5" fmla="*/ 1749286 w 2830664"/>
                <a:gd name="connsiteY5" fmla="*/ 1351721 h 1630017"/>
                <a:gd name="connsiteX6" fmla="*/ 0 w 2830664"/>
                <a:gd name="connsiteY6" fmla="*/ 1367624 h 1630017"/>
                <a:gd name="connsiteX0" fmla="*/ 0 w 2830664"/>
                <a:gd name="connsiteY0" fmla="*/ 1379551 h 1641944"/>
                <a:gd name="connsiteX1" fmla="*/ 0 w 2830664"/>
                <a:gd name="connsiteY1" fmla="*/ 1641944 h 1641944"/>
                <a:gd name="connsiteX2" fmla="*/ 2830664 w 2830664"/>
                <a:gd name="connsiteY2" fmla="*/ 1641944 h 1641944"/>
                <a:gd name="connsiteX3" fmla="*/ 2814761 w 2830664"/>
                <a:gd name="connsiteY3" fmla="*/ 11927 h 1641944"/>
                <a:gd name="connsiteX4" fmla="*/ 1745310 w 2830664"/>
                <a:gd name="connsiteY4" fmla="*/ 0 h 1641944"/>
                <a:gd name="connsiteX5" fmla="*/ 1749286 w 2830664"/>
                <a:gd name="connsiteY5" fmla="*/ 1363648 h 1641944"/>
                <a:gd name="connsiteX6" fmla="*/ 0 w 2830664"/>
                <a:gd name="connsiteY6" fmla="*/ 1379551 h 1641944"/>
                <a:gd name="connsiteX0" fmla="*/ 0 w 2830664"/>
                <a:gd name="connsiteY0" fmla="*/ 1383526 h 1645919"/>
                <a:gd name="connsiteX1" fmla="*/ 0 w 2830664"/>
                <a:gd name="connsiteY1" fmla="*/ 1645919 h 1645919"/>
                <a:gd name="connsiteX2" fmla="*/ 2830664 w 2830664"/>
                <a:gd name="connsiteY2" fmla="*/ 1645919 h 1645919"/>
                <a:gd name="connsiteX3" fmla="*/ 2822712 w 2830664"/>
                <a:gd name="connsiteY3" fmla="*/ 0 h 1645919"/>
                <a:gd name="connsiteX4" fmla="*/ 1745310 w 2830664"/>
                <a:gd name="connsiteY4" fmla="*/ 3975 h 1645919"/>
                <a:gd name="connsiteX5" fmla="*/ 1749286 w 2830664"/>
                <a:gd name="connsiteY5" fmla="*/ 1367623 h 1645919"/>
                <a:gd name="connsiteX6" fmla="*/ 0 w 2830664"/>
                <a:gd name="connsiteY6" fmla="*/ 1383526 h 1645919"/>
                <a:gd name="connsiteX0" fmla="*/ 0 w 2830664"/>
                <a:gd name="connsiteY0" fmla="*/ 1383526 h 1645919"/>
                <a:gd name="connsiteX1" fmla="*/ 0 w 2830664"/>
                <a:gd name="connsiteY1" fmla="*/ 1645919 h 1645919"/>
                <a:gd name="connsiteX2" fmla="*/ 2830664 w 2830664"/>
                <a:gd name="connsiteY2" fmla="*/ 1645919 h 1645919"/>
                <a:gd name="connsiteX3" fmla="*/ 2822712 w 2830664"/>
                <a:gd name="connsiteY3" fmla="*/ 0 h 1645919"/>
                <a:gd name="connsiteX4" fmla="*/ 1745310 w 2830664"/>
                <a:gd name="connsiteY4" fmla="*/ 3975 h 1645919"/>
                <a:gd name="connsiteX5" fmla="*/ 1523939 w 2830664"/>
                <a:gd name="connsiteY5" fmla="*/ 1355670 h 1645919"/>
                <a:gd name="connsiteX6" fmla="*/ 0 w 2830664"/>
                <a:gd name="connsiteY6" fmla="*/ 1383526 h 1645919"/>
                <a:gd name="connsiteX0" fmla="*/ 0 w 2830664"/>
                <a:gd name="connsiteY0" fmla="*/ 1383526 h 1645919"/>
                <a:gd name="connsiteX1" fmla="*/ 0 w 2830664"/>
                <a:gd name="connsiteY1" fmla="*/ 1645919 h 1645919"/>
                <a:gd name="connsiteX2" fmla="*/ 2830664 w 2830664"/>
                <a:gd name="connsiteY2" fmla="*/ 1645919 h 1645919"/>
                <a:gd name="connsiteX3" fmla="*/ 2822712 w 2830664"/>
                <a:gd name="connsiteY3" fmla="*/ 0 h 1645919"/>
                <a:gd name="connsiteX4" fmla="*/ 1504241 w 2830664"/>
                <a:gd name="connsiteY4" fmla="*/ 9952 h 1645919"/>
                <a:gd name="connsiteX5" fmla="*/ 1523939 w 2830664"/>
                <a:gd name="connsiteY5" fmla="*/ 1355670 h 1645919"/>
                <a:gd name="connsiteX6" fmla="*/ 0 w 2830664"/>
                <a:gd name="connsiteY6" fmla="*/ 1383526 h 1645919"/>
                <a:gd name="connsiteX0" fmla="*/ 1006197 w 2830664"/>
                <a:gd name="connsiteY0" fmla="*/ 1371573 h 1645919"/>
                <a:gd name="connsiteX1" fmla="*/ 0 w 2830664"/>
                <a:gd name="connsiteY1" fmla="*/ 1645919 h 1645919"/>
                <a:gd name="connsiteX2" fmla="*/ 2830664 w 2830664"/>
                <a:gd name="connsiteY2" fmla="*/ 1645919 h 1645919"/>
                <a:gd name="connsiteX3" fmla="*/ 2822712 w 2830664"/>
                <a:gd name="connsiteY3" fmla="*/ 0 h 1645919"/>
                <a:gd name="connsiteX4" fmla="*/ 1504241 w 2830664"/>
                <a:gd name="connsiteY4" fmla="*/ 9952 h 1645919"/>
                <a:gd name="connsiteX5" fmla="*/ 1523939 w 2830664"/>
                <a:gd name="connsiteY5" fmla="*/ 1355670 h 1645919"/>
                <a:gd name="connsiteX6" fmla="*/ 1006197 w 2830664"/>
                <a:gd name="connsiteY6" fmla="*/ 1371573 h 1645919"/>
                <a:gd name="connsiteX0" fmla="*/ 26203 w 1850670"/>
                <a:gd name="connsiteY0" fmla="*/ 1371573 h 1645919"/>
                <a:gd name="connsiteX1" fmla="*/ 0 w 1850670"/>
                <a:gd name="connsiteY1" fmla="*/ 1639943 h 1645919"/>
                <a:gd name="connsiteX2" fmla="*/ 1850670 w 1850670"/>
                <a:gd name="connsiteY2" fmla="*/ 1645919 h 1645919"/>
                <a:gd name="connsiteX3" fmla="*/ 1842718 w 1850670"/>
                <a:gd name="connsiteY3" fmla="*/ 0 h 1645919"/>
                <a:gd name="connsiteX4" fmla="*/ 524247 w 1850670"/>
                <a:gd name="connsiteY4" fmla="*/ 9952 h 1645919"/>
                <a:gd name="connsiteX5" fmla="*/ 543945 w 1850670"/>
                <a:gd name="connsiteY5" fmla="*/ 1355670 h 1645919"/>
                <a:gd name="connsiteX6" fmla="*/ 26203 w 1850670"/>
                <a:gd name="connsiteY6" fmla="*/ 1371573 h 1645919"/>
                <a:gd name="connsiteX0" fmla="*/ 57647 w 1850670"/>
                <a:gd name="connsiteY0" fmla="*/ 1371573 h 1645919"/>
                <a:gd name="connsiteX1" fmla="*/ 0 w 1850670"/>
                <a:gd name="connsiteY1" fmla="*/ 1639943 h 1645919"/>
                <a:gd name="connsiteX2" fmla="*/ 1850670 w 1850670"/>
                <a:gd name="connsiteY2" fmla="*/ 1645919 h 1645919"/>
                <a:gd name="connsiteX3" fmla="*/ 1842718 w 1850670"/>
                <a:gd name="connsiteY3" fmla="*/ 0 h 1645919"/>
                <a:gd name="connsiteX4" fmla="*/ 524247 w 1850670"/>
                <a:gd name="connsiteY4" fmla="*/ 9952 h 1645919"/>
                <a:gd name="connsiteX5" fmla="*/ 543945 w 1850670"/>
                <a:gd name="connsiteY5" fmla="*/ 1355670 h 1645919"/>
                <a:gd name="connsiteX6" fmla="*/ 57647 w 1850670"/>
                <a:gd name="connsiteY6" fmla="*/ 1371573 h 1645919"/>
                <a:gd name="connsiteX0" fmla="*/ 0 w 1793023"/>
                <a:gd name="connsiteY0" fmla="*/ 1371573 h 1645920"/>
                <a:gd name="connsiteX1" fmla="*/ 15722 w 1793023"/>
                <a:gd name="connsiteY1" fmla="*/ 1645920 h 1645920"/>
                <a:gd name="connsiteX2" fmla="*/ 1793023 w 1793023"/>
                <a:gd name="connsiteY2" fmla="*/ 1645919 h 1645920"/>
                <a:gd name="connsiteX3" fmla="*/ 1785071 w 1793023"/>
                <a:gd name="connsiteY3" fmla="*/ 0 h 1645920"/>
                <a:gd name="connsiteX4" fmla="*/ 466600 w 1793023"/>
                <a:gd name="connsiteY4" fmla="*/ 9952 h 1645920"/>
                <a:gd name="connsiteX5" fmla="*/ 486298 w 1793023"/>
                <a:gd name="connsiteY5" fmla="*/ 1355670 h 1645920"/>
                <a:gd name="connsiteX6" fmla="*/ 0 w 1793023"/>
                <a:gd name="connsiteY6" fmla="*/ 1371573 h 1645920"/>
                <a:gd name="connsiteX0" fmla="*/ 0 w 1793023"/>
                <a:gd name="connsiteY0" fmla="*/ 1371573 h 1645920"/>
                <a:gd name="connsiteX1" fmla="*/ 15722 w 1793023"/>
                <a:gd name="connsiteY1" fmla="*/ 1645920 h 1645920"/>
                <a:gd name="connsiteX2" fmla="*/ 1793023 w 1793023"/>
                <a:gd name="connsiteY2" fmla="*/ 1645919 h 1645920"/>
                <a:gd name="connsiteX3" fmla="*/ 1785071 w 1793023"/>
                <a:gd name="connsiteY3" fmla="*/ 0 h 1645920"/>
                <a:gd name="connsiteX4" fmla="*/ 466600 w 1793023"/>
                <a:gd name="connsiteY4" fmla="*/ 9952 h 1645920"/>
                <a:gd name="connsiteX5" fmla="*/ 502019 w 1793023"/>
                <a:gd name="connsiteY5" fmla="*/ 1397506 h 1645920"/>
                <a:gd name="connsiteX6" fmla="*/ 0 w 1793023"/>
                <a:gd name="connsiteY6" fmla="*/ 1371573 h 1645920"/>
                <a:gd name="connsiteX0" fmla="*/ 0 w 1793023"/>
                <a:gd name="connsiteY0" fmla="*/ 1371573 h 1645920"/>
                <a:gd name="connsiteX1" fmla="*/ 15722 w 1793023"/>
                <a:gd name="connsiteY1" fmla="*/ 1645920 h 1645920"/>
                <a:gd name="connsiteX2" fmla="*/ 1793023 w 1793023"/>
                <a:gd name="connsiteY2" fmla="*/ 1645919 h 1645920"/>
                <a:gd name="connsiteX3" fmla="*/ 1785071 w 1793023"/>
                <a:gd name="connsiteY3" fmla="*/ 0 h 1645920"/>
                <a:gd name="connsiteX4" fmla="*/ 466600 w 1793023"/>
                <a:gd name="connsiteY4" fmla="*/ 9952 h 1645920"/>
                <a:gd name="connsiteX5" fmla="*/ 502019 w 1793023"/>
                <a:gd name="connsiteY5" fmla="*/ 1397506 h 1645920"/>
                <a:gd name="connsiteX6" fmla="*/ 0 w 1793023"/>
                <a:gd name="connsiteY6" fmla="*/ 1371573 h 1645920"/>
                <a:gd name="connsiteX0" fmla="*/ 5241 w 1777301"/>
                <a:gd name="connsiteY0" fmla="*/ 1383526 h 1645920"/>
                <a:gd name="connsiteX1" fmla="*/ 0 w 1777301"/>
                <a:gd name="connsiteY1" fmla="*/ 1645920 h 1645920"/>
                <a:gd name="connsiteX2" fmla="*/ 1777301 w 1777301"/>
                <a:gd name="connsiteY2" fmla="*/ 1645919 h 1645920"/>
                <a:gd name="connsiteX3" fmla="*/ 1769349 w 1777301"/>
                <a:gd name="connsiteY3" fmla="*/ 0 h 1645920"/>
                <a:gd name="connsiteX4" fmla="*/ 450878 w 1777301"/>
                <a:gd name="connsiteY4" fmla="*/ 9952 h 1645920"/>
                <a:gd name="connsiteX5" fmla="*/ 486297 w 1777301"/>
                <a:gd name="connsiteY5" fmla="*/ 1397506 h 1645920"/>
                <a:gd name="connsiteX6" fmla="*/ 5241 w 1777301"/>
                <a:gd name="connsiteY6" fmla="*/ 1383526 h 1645920"/>
                <a:gd name="connsiteX0" fmla="*/ 5241 w 1777301"/>
                <a:gd name="connsiteY0" fmla="*/ 1383526 h 1645920"/>
                <a:gd name="connsiteX1" fmla="*/ 0 w 1777301"/>
                <a:gd name="connsiteY1" fmla="*/ 1645920 h 1645920"/>
                <a:gd name="connsiteX2" fmla="*/ 1777301 w 1777301"/>
                <a:gd name="connsiteY2" fmla="*/ 1645919 h 1645920"/>
                <a:gd name="connsiteX3" fmla="*/ 1769349 w 1777301"/>
                <a:gd name="connsiteY3" fmla="*/ 0 h 1645920"/>
                <a:gd name="connsiteX4" fmla="*/ 450878 w 1777301"/>
                <a:gd name="connsiteY4" fmla="*/ 9952 h 1645920"/>
                <a:gd name="connsiteX5" fmla="*/ 486297 w 1777301"/>
                <a:gd name="connsiteY5" fmla="*/ 1397506 h 1645920"/>
                <a:gd name="connsiteX6" fmla="*/ 5241 w 1777301"/>
                <a:gd name="connsiteY6" fmla="*/ 1383526 h 1645920"/>
                <a:gd name="connsiteX0" fmla="*/ 5241 w 1777301"/>
                <a:gd name="connsiteY0" fmla="*/ 1383526 h 1645920"/>
                <a:gd name="connsiteX1" fmla="*/ 0 w 1777301"/>
                <a:gd name="connsiteY1" fmla="*/ 1645920 h 1645920"/>
                <a:gd name="connsiteX2" fmla="*/ 1777301 w 1777301"/>
                <a:gd name="connsiteY2" fmla="*/ 1645919 h 1645920"/>
                <a:gd name="connsiteX3" fmla="*/ 1769349 w 1777301"/>
                <a:gd name="connsiteY3" fmla="*/ 0 h 1645920"/>
                <a:gd name="connsiteX4" fmla="*/ 450878 w 1777301"/>
                <a:gd name="connsiteY4" fmla="*/ 9952 h 1645920"/>
                <a:gd name="connsiteX5" fmla="*/ 496778 w 1777301"/>
                <a:gd name="connsiteY5" fmla="*/ 1367624 h 1645920"/>
                <a:gd name="connsiteX6" fmla="*/ 5241 w 1777301"/>
                <a:gd name="connsiteY6" fmla="*/ 1383526 h 1645920"/>
                <a:gd name="connsiteX0" fmla="*/ 5241 w 1777301"/>
                <a:gd name="connsiteY0" fmla="*/ 1383526 h 1645920"/>
                <a:gd name="connsiteX1" fmla="*/ 0 w 1777301"/>
                <a:gd name="connsiteY1" fmla="*/ 1645920 h 1645920"/>
                <a:gd name="connsiteX2" fmla="*/ 1777301 w 1777301"/>
                <a:gd name="connsiteY2" fmla="*/ 1645919 h 1645920"/>
                <a:gd name="connsiteX3" fmla="*/ 1769349 w 1777301"/>
                <a:gd name="connsiteY3" fmla="*/ 0 h 1645920"/>
                <a:gd name="connsiteX4" fmla="*/ 452967 w 1777301"/>
                <a:gd name="connsiteY4" fmla="*/ 2808 h 1645920"/>
                <a:gd name="connsiteX5" fmla="*/ 496778 w 1777301"/>
                <a:gd name="connsiteY5" fmla="*/ 1367624 h 1645920"/>
                <a:gd name="connsiteX6" fmla="*/ 5241 w 1777301"/>
                <a:gd name="connsiteY6" fmla="*/ 1383526 h 164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7301" h="1645920">
                  <a:moveTo>
                    <a:pt x="5241" y="1383526"/>
                  </a:moveTo>
                  <a:lnTo>
                    <a:pt x="0" y="1645920"/>
                  </a:lnTo>
                  <a:lnTo>
                    <a:pt x="1777301" y="1645919"/>
                  </a:lnTo>
                  <a:cubicBezTo>
                    <a:pt x="1774650" y="1097279"/>
                    <a:pt x="1772000" y="548640"/>
                    <a:pt x="1769349" y="0"/>
                  </a:cubicBezTo>
                  <a:lnTo>
                    <a:pt x="452967" y="2808"/>
                  </a:lnTo>
                  <a:cubicBezTo>
                    <a:pt x="454292" y="457357"/>
                    <a:pt x="495453" y="913075"/>
                    <a:pt x="496778" y="1367624"/>
                  </a:cubicBezTo>
                  <a:lnTo>
                    <a:pt x="5241" y="1383526"/>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16" name="组合 15"/>
            <p:cNvGrpSpPr/>
            <p:nvPr/>
          </p:nvGrpSpPr>
          <p:grpSpPr>
            <a:xfrm>
              <a:off x="7075791" y="4226741"/>
              <a:ext cx="1178707" cy="436918"/>
              <a:chOff x="6546643" y="4562132"/>
              <a:chExt cx="909549" cy="274526"/>
            </a:xfrm>
          </p:grpSpPr>
          <p:sp>
            <p:nvSpPr>
              <p:cNvPr id="13" name="L 形 12"/>
              <p:cNvSpPr/>
              <p:nvPr/>
            </p:nvSpPr>
            <p:spPr bwMode="auto">
              <a:xfrm>
                <a:off x="6546643" y="4562132"/>
                <a:ext cx="183078" cy="274526"/>
              </a:xfrm>
              <a:prstGeom prst="corner">
                <a:avLst>
                  <a:gd name="adj1" fmla="val 32947"/>
                  <a:gd name="adj2" fmla="val 29581"/>
                </a:avLst>
              </a:prstGeom>
              <a:pattFill prst="ltDnDiag">
                <a:fgClr>
                  <a:srgbClr val="9999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 name="任意多边形 13"/>
              <p:cNvSpPr/>
              <p:nvPr/>
            </p:nvSpPr>
            <p:spPr bwMode="auto">
              <a:xfrm>
                <a:off x="6601452" y="4733651"/>
                <a:ext cx="854740" cy="45719"/>
              </a:xfrm>
              <a:custGeom>
                <a:avLst/>
                <a:gdLst>
                  <a:gd name="connsiteX0" fmla="*/ 0 w 776253"/>
                  <a:gd name="connsiteY0" fmla="*/ 46049 h 72363"/>
                  <a:gd name="connsiteX1" fmla="*/ 23025 w 776253"/>
                  <a:gd name="connsiteY1" fmla="*/ 0 h 72363"/>
                  <a:gd name="connsiteX2" fmla="*/ 85520 w 776253"/>
                  <a:gd name="connsiteY2" fmla="*/ 16446 h 72363"/>
                  <a:gd name="connsiteX3" fmla="*/ 98676 w 776253"/>
                  <a:gd name="connsiteY3" fmla="*/ 32892 h 72363"/>
                  <a:gd name="connsiteX4" fmla="*/ 118412 w 776253"/>
                  <a:gd name="connsiteY4" fmla="*/ 62495 h 72363"/>
                  <a:gd name="connsiteX5" fmla="*/ 776253 w 776253"/>
                  <a:gd name="connsiteY5" fmla="*/ 62495 h 72363"/>
                  <a:gd name="connsiteX6" fmla="*/ 766386 w 776253"/>
                  <a:gd name="connsiteY6" fmla="*/ 72363 h 72363"/>
                  <a:gd name="connsiteX0" fmla="*/ 0 w 776253"/>
                  <a:gd name="connsiteY0" fmla="*/ 46049 h 62495"/>
                  <a:gd name="connsiteX1" fmla="*/ 23025 w 776253"/>
                  <a:gd name="connsiteY1" fmla="*/ 0 h 62495"/>
                  <a:gd name="connsiteX2" fmla="*/ 85520 w 776253"/>
                  <a:gd name="connsiteY2" fmla="*/ 16446 h 62495"/>
                  <a:gd name="connsiteX3" fmla="*/ 98676 w 776253"/>
                  <a:gd name="connsiteY3" fmla="*/ 32892 h 62495"/>
                  <a:gd name="connsiteX4" fmla="*/ 118412 w 776253"/>
                  <a:gd name="connsiteY4" fmla="*/ 62495 h 62495"/>
                  <a:gd name="connsiteX5" fmla="*/ 776253 w 776253"/>
                  <a:gd name="connsiteY5" fmla="*/ 62495 h 62495"/>
                  <a:gd name="connsiteX0" fmla="*/ 0 w 776253"/>
                  <a:gd name="connsiteY0" fmla="*/ 29603 h 46049"/>
                  <a:gd name="connsiteX1" fmla="*/ 18263 w 776253"/>
                  <a:gd name="connsiteY1" fmla="*/ 223 h 46049"/>
                  <a:gd name="connsiteX2" fmla="*/ 85520 w 776253"/>
                  <a:gd name="connsiteY2" fmla="*/ 0 h 46049"/>
                  <a:gd name="connsiteX3" fmla="*/ 98676 w 776253"/>
                  <a:gd name="connsiteY3" fmla="*/ 16446 h 46049"/>
                  <a:gd name="connsiteX4" fmla="*/ 118412 w 776253"/>
                  <a:gd name="connsiteY4" fmla="*/ 46049 h 46049"/>
                  <a:gd name="connsiteX5" fmla="*/ 776253 w 776253"/>
                  <a:gd name="connsiteY5" fmla="*/ 46049 h 46049"/>
                  <a:gd name="connsiteX0" fmla="*/ 0 w 776253"/>
                  <a:gd name="connsiteY0" fmla="*/ 29380 h 45826"/>
                  <a:gd name="connsiteX1" fmla="*/ 18263 w 776253"/>
                  <a:gd name="connsiteY1" fmla="*/ 0 h 45826"/>
                  <a:gd name="connsiteX2" fmla="*/ 68852 w 776253"/>
                  <a:gd name="connsiteY2" fmla="*/ 6920 h 45826"/>
                  <a:gd name="connsiteX3" fmla="*/ 98676 w 776253"/>
                  <a:gd name="connsiteY3" fmla="*/ 16223 h 45826"/>
                  <a:gd name="connsiteX4" fmla="*/ 118412 w 776253"/>
                  <a:gd name="connsiteY4" fmla="*/ 45826 h 45826"/>
                  <a:gd name="connsiteX5" fmla="*/ 776253 w 776253"/>
                  <a:gd name="connsiteY5" fmla="*/ 45826 h 45826"/>
                  <a:gd name="connsiteX0" fmla="*/ 0 w 776253"/>
                  <a:gd name="connsiteY0" fmla="*/ 29380 h 45826"/>
                  <a:gd name="connsiteX1" fmla="*/ 18263 w 776253"/>
                  <a:gd name="connsiteY1" fmla="*/ 0 h 45826"/>
                  <a:gd name="connsiteX2" fmla="*/ 68852 w 776253"/>
                  <a:gd name="connsiteY2" fmla="*/ 6920 h 45826"/>
                  <a:gd name="connsiteX3" fmla="*/ 96295 w 776253"/>
                  <a:gd name="connsiteY3" fmla="*/ 23367 h 45826"/>
                  <a:gd name="connsiteX4" fmla="*/ 118412 w 776253"/>
                  <a:gd name="connsiteY4" fmla="*/ 45826 h 45826"/>
                  <a:gd name="connsiteX5" fmla="*/ 776253 w 776253"/>
                  <a:gd name="connsiteY5" fmla="*/ 45826 h 45826"/>
                  <a:gd name="connsiteX0" fmla="*/ 0 w 776253"/>
                  <a:gd name="connsiteY0" fmla="*/ 26999 h 43445"/>
                  <a:gd name="connsiteX1" fmla="*/ 18263 w 776253"/>
                  <a:gd name="connsiteY1" fmla="*/ 0 h 43445"/>
                  <a:gd name="connsiteX2" fmla="*/ 68852 w 776253"/>
                  <a:gd name="connsiteY2" fmla="*/ 4539 h 43445"/>
                  <a:gd name="connsiteX3" fmla="*/ 96295 w 776253"/>
                  <a:gd name="connsiteY3" fmla="*/ 20986 h 43445"/>
                  <a:gd name="connsiteX4" fmla="*/ 118412 w 776253"/>
                  <a:gd name="connsiteY4" fmla="*/ 43445 h 43445"/>
                  <a:gd name="connsiteX5" fmla="*/ 776253 w 776253"/>
                  <a:gd name="connsiteY5" fmla="*/ 43445 h 43445"/>
                  <a:gd name="connsiteX0" fmla="*/ 0 w 776253"/>
                  <a:gd name="connsiteY0" fmla="*/ 22460 h 38906"/>
                  <a:gd name="connsiteX1" fmla="*/ 25715 w 776253"/>
                  <a:gd name="connsiteY1" fmla="*/ 1050 h 38906"/>
                  <a:gd name="connsiteX2" fmla="*/ 68852 w 776253"/>
                  <a:gd name="connsiteY2" fmla="*/ 0 h 38906"/>
                  <a:gd name="connsiteX3" fmla="*/ 96295 w 776253"/>
                  <a:gd name="connsiteY3" fmla="*/ 16447 h 38906"/>
                  <a:gd name="connsiteX4" fmla="*/ 118412 w 776253"/>
                  <a:gd name="connsiteY4" fmla="*/ 38906 h 38906"/>
                  <a:gd name="connsiteX5" fmla="*/ 776253 w 776253"/>
                  <a:gd name="connsiteY5" fmla="*/ 38906 h 38906"/>
                  <a:gd name="connsiteX0" fmla="*/ 0 w 776253"/>
                  <a:gd name="connsiteY0" fmla="*/ 24753 h 41199"/>
                  <a:gd name="connsiteX1" fmla="*/ 25715 w 776253"/>
                  <a:gd name="connsiteY1" fmla="*/ 3343 h 41199"/>
                  <a:gd name="connsiteX2" fmla="*/ 46330 w 776253"/>
                  <a:gd name="connsiteY2" fmla="*/ 0 h 41199"/>
                  <a:gd name="connsiteX3" fmla="*/ 68852 w 776253"/>
                  <a:gd name="connsiteY3" fmla="*/ 2293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85452 w 776253"/>
                  <a:gd name="connsiteY4" fmla="*/ 15226 h 41521"/>
                  <a:gd name="connsiteX5" fmla="*/ 96295 w 776253"/>
                  <a:gd name="connsiteY5" fmla="*/ 19062 h 41521"/>
                  <a:gd name="connsiteX6" fmla="*/ 118412 w 776253"/>
                  <a:gd name="connsiteY6" fmla="*/ 41521 h 41521"/>
                  <a:gd name="connsiteX7" fmla="*/ 776253 w 776253"/>
                  <a:gd name="connsiteY7"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6253" h="41521">
                    <a:moveTo>
                      <a:pt x="0" y="25075"/>
                    </a:moveTo>
                    <a:cubicBezTo>
                      <a:pt x="8572" y="17938"/>
                      <a:pt x="17993" y="7791"/>
                      <a:pt x="25715" y="3665"/>
                    </a:cubicBezTo>
                    <a:cubicBezTo>
                      <a:pt x="33437" y="-461"/>
                      <a:pt x="38054" y="-279"/>
                      <a:pt x="46330" y="322"/>
                    </a:cubicBezTo>
                    <a:cubicBezTo>
                      <a:pt x="54606" y="923"/>
                      <a:pt x="68853" y="4788"/>
                      <a:pt x="75373" y="7272"/>
                    </a:cubicBezTo>
                    <a:cubicBezTo>
                      <a:pt x="83700" y="10395"/>
                      <a:pt x="89122" y="13354"/>
                      <a:pt x="96295" y="19062"/>
                    </a:cubicBezTo>
                    <a:lnTo>
                      <a:pt x="118412" y="41521"/>
                    </a:lnTo>
                    <a:lnTo>
                      <a:pt x="776253" y="41521"/>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64" name="组合 63"/>
            <p:cNvGrpSpPr/>
            <p:nvPr/>
          </p:nvGrpSpPr>
          <p:grpSpPr>
            <a:xfrm>
              <a:off x="7075791" y="3887444"/>
              <a:ext cx="1178707" cy="436918"/>
              <a:chOff x="6546643" y="4562132"/>
              <a:chExt cx="909549" cy="274526"/>
            </a:xfrm>
          </p:grpSpPr>
          <p:sp>
            <p:nvSpPr>
              <p:cNvPr id="65" name="L 形 64"/>
              <p:cNvSpPr/>
              <p:nvPr/>
            </p:nvSpPr>
            <p:spPr bwMode="auto">
              <a:xfrm>
                <a:off x="6546643" y="4562132"/>
                <a:ext cx="183078" cy="274526"/>
              </a:xfrm>
              <a:prstGeom prst="corner">
                <a:avLst>
                  <a:gd name="adj1" fmla="val 32947"/>
                  <a:gd name="adj2" fmla="val 29581"/>
                </a:avLst>
              </a:prstGeom>
              <a:pattFill prst="ltDnDiag">
                <a:fgClr>
                  <a:srgbClr val="9999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6" name="任意多边形 65"/>
              <p:cNvSpPr/>
              <p:nvPr/>
            </p:nvSpPr>
            <p:spPr bwMode="auto">
              <a:xfrm>
                <a:off x="6601452" y="4733651"/>
                <a:ext cx="854740" cy="45719"/>
              </a:xfrm>
              <a:custGeom>
                <a:avLst/>
                <a:gdLst>
                  <a:gd name="connsiteX0" fmla="*/ 0 w 776253"/>
                  <a:gd name="connsiteY0" fmla="*/ 46049 h 72363"/>
                  <a:gd name="connsiteX1" fmla="*/ 23025 w 776253"/>
                  <a:gd name="connsiteY1" fmla="*/ 0 h 72363"/>
                  <a:gd name="connsiteX2" fmla="*/ 85520 w 776253"/>
                  <a:gd name="connsiteY2" fmla="*/ 16446 h 72363"/>
                  <a:gd name="connsiteX3" fmla="*/ 98676 w 776253"/>
                  <a:gd name="connsiteY3" fmla="*/ 32892 h 72363"/>
                  <a:gd name="connsiteX4" fmla="*/ 118412 w 776253"/>
                  <a:gd name="connsiteY4" fmla="*/ 62495 h 72363"/>
                  <a:gd name="connsiteX5" fmla="*/ 776253 w 776253"/>
                  <a:gd name="connsiteY5" fmla="*/ 62495 h 72363"/>
                  <a:gd name="connsiteX6" fmla="*/ 766386 w 776253"/>
                  <a:gd name="connsiteY6" fmla="*/ 72363 h 72363"/>
                  <a:gd name="connsiteX0" fmla="*/ 0 w 776253"/>
                  <a:gd name="connsiteY0" fmla="*/ 46049 h 62495"/>
                  <a:gd name="connsiteX1" fmla="*/ 23025 w 776253"/>
                  <a:gd name="connsiteY1" fmla="*/ 0 h 62495"/>
                  <a:gd name="connsiteX2" fmla="*/ 85520 w 776253"/>
                  <a:gd name="connsiteY2" fmla="*/ 16446 h 62495"/>
                  <a:gd name="connsiteX3" fmla="*/ 98676 w 776253"/>
                  <a:gd name="connsiteY3" fmla="*/ 32892 h 62495"/>
                  <a:gd name="connsiteX4" fmla="*/ 118412 w 776253"/>
                  <a:gd name="connsiteY4" fmla="*/ 62495 h 62495"/>
                  <a:gd name="connsiteX5" fmla="*/ 776253 w 776253"/>
                  <a:gd name="connsiteY5" fmla="*/ 62495 h 62495"/>
                  <a:gd name="connsiteX0" fmla="*/ 0 w 776253"/>
                  <a:gd name="connsiteY0" fmla="*/ 29603 h 46049"/>
                  <a:gd name="connsiteX1" fmla="*/ 18263 w 776253"/>
                  <a:gd name="connsiteY1" fmla="*/ 223 h 46049"/>
                  <a:gd name="connsiteX2" fmla="*/ 85520 w 776253"/>
                  <a:gd name="connsiteY2" fmla="*/ 0 h 46049"/>
                  <a:gd name="connsiteX3" fmla="*/ 98676 w 776253"/>
                  <a:gd name="connsiteY3" fmla="*/ 16446 h 46049"/>
                  <a:gd name="connsiteX4" fmla="*/ 118412 w 776253"/>
                  <a:gd name="connsiteY4" fmla="*/ 46049 h 46049"/>
                  <a:gd name="connsiteX5" fmla="*/ 776253 w 776253"/>
                  <a:gd name="connsiteY5" fmla="*/ 46049 h 46049"/>
                  <a:gd name="connsiteX0" fmla="*/ 0 w 776253"/>
                  <a:gd name="connsiteY0" fmla="*/ 29380 h 45826"/>
                  <a:gd name="connsiteX1" fmla="*/ 18263 w 776253"/>
                  <a:gd name="connsiteY1" fmla="*/ 0 h 45826"/>
                  <a:gd name="connsiteX2" fmla="*/ 68852 w 776253"/>
                  <a:gd name="connsiteY2" fmla="*/ 6920 h 45826"/>
                  <a:gd name="connsiteX3" fmla="*/ 98676 w 776253"/>
                  <a:gd name="connsiteY3" fmla="*/ 16223 h 45826"/>
                  <a:gd name="connsiteX4" fmla="*/ 118412 w 776253"/>
                  <a:gd name="connsiteY4" fmla="*/ 45826 h 45826"/>
                  <a:gd name="connsiteX5" fmla="*/ 776253 w 776253"/>
                  <a:gd name="connsiteY5" fmla="*/ 45826 h 45826"/>
                  <a:gd name="connsiteX0" fmla="*/ 0 w 776253"/>
                  <a:gd name="connsiteY0" fmla="*/ 29380 h 45826"/>
                  <a:gd name="connsiteX1" fmla="*/ 18263 w 776253"/>
                  <a:gd name="connsiteY1" fmla="*/ 0 h 45826"/>
                  <a:gd name="connsiteX2" fmla="*/ 68852 w 776253"/>
                  <a:gd name="connsiteY2" fmla="*/ 6920 h 45826"/>
                  <a:gd name="connsiteX3" fmla="*/ 96295 w 776253"/>
                  <a:gd name="connsiteY3" fmla="*/ 23367 h 45826"/>
                  <a:gd name="connsiteX4" fmla="*/ 118412 w 776253"/>
                  <a:gd name="connsiteY4" fmla="*/ 45826 h 45826"/>
                  <a:gd name="connsiteX5" fmla="*/ 776253 w 776253"/>
                  <a:gd name="connsiteY5" fmla="*/ 45826 h 45826"/>
                  <a:gd name="connsiteX0" fmla="*/ 0 w 776253"/>
                  <a:gd name="connsiteY0" fmla="*/ 26999 h 43445"/>
                  <a:gd name="connsiteX1" fmla="*/ 18263 w 776253"/>
                  <a:gd name="connsiteY1" fmla="*/ 0 h 43445"/>
                  <a:gd name="connsiteX2" fmla="*/ 68852 w 776253"/>
                  <a:gd name="connsiteY2" fmla="*/ 4539 h 43445"/>
                  <a:gd name="connsiteX3" fmla="*/ 96295 w 776253"/>
                  <a:gd name="connsiteY3" fmla="*/ 20986 h 43445"/>
                  <a:gd name="connsiteX4" fmla="*/ 118412 w 776253"/>
                  <a:gd name="connsiteY4" fmla="*/ 43445 h 43445"/>
                  <a:gd name="connsiteX5" fmla="*/ 776253 w 776253"/>
                  <a:gd name="connsiteY5" fmla="*/ 43445 h 43445"/>
                  <a:gd name="connsiteX0" fmla="*/ 0 w 776253"/>
                  <a:gd name="connsiteY0" fmla="*/ 22460 h 38906"/>
                  <a:gd name="connsiteX1" fmla="*/ 25715 w 776253"/>
                  <a:gd name="connsiteY1" fmla="*/ 1050 h 38906"/>
                  <a:gd name="connsiteX2" fmla="*/ 68852 w 776253"/>
                  <a:gd name="connsiteY2" fmla="*/ 0 h 38906"/>
                  <a:gd name="connsiteX3" fmla="*/ 96295 w 776253"/>
                  <a:gd name="connsiteY3" fmla="*/ 16447 h 38906"/>
                  <a:gd name="connsiteX4" fmla="*/ 118412 w 776253"/>
                  <a:gd name="connsiteY4" fmla="*/ 38906 h 38906"/>
                  <a:gd name="connsiteX5" fmla="*/ 776253 w 776253"/>
                  <a:gd name="connsiteY5" fmla="*/ 38906 h 38906"/>
                  <a:gd name="connsiteX0" fmla="*/ 0 w 776253"/>
                  <a:gd name="connsiteY0" fmla="*/ 24753 h 41199"/>
                  <a:gd name="connsiteX1" fmla="*/ 25715 w 776253"/>
                  <a:gd name="connsiteY1" fmla="*/ 3343 h 41199"/>
                  <a:gd name="connsiteX2" fmla="*/ 46330 w 776253"/>
                  <a:gd name="connsiteY2" fmla="*/ 0 h 41199"/>
                  <a:gd name="connsiteX3" fmla="*/ 68852 w 776253"/>
                  <a:gd name="connsiteY3" fmla="*/ 2293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85452 w 776253"/>
                  <a:gd name="connsiteY4" fmla="*/ 15226 h 41521"/>
                  <a:gd name="connsiteX5" fmla="*/ 96295 w 776253"/>
                  <a:gd name="connsiteY5" fmla="*/ 19062 h 41521"/>
                  <a:gd name="connsiteX6" fmla="*/ 118412 w 776253"/>
                  <a:gd name="connsiteY6" fmla="*/ 41521 h 41521"/>
                  <a:gd name="connsiteX7" fmla="*/ 776253 w 776253"/>
                  <a:gd name="connsiteY7"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6253" h="41521">
                    <a:moveTo>
                      <a:pt x="0" y="25075"/>
                    </a:moveTo>
                    <a:cubicBezTo>
                      <a:pt x="8572" y="17938"/>
                      <a:pt x="17993" y="7791"/>
                      <a:pt x="25715" y="3665"/>
                    </a:cubicBezTo>
                    <a:cubicBezTo>
                      <a:pt x="33437" y="-461"/>
                      <a:pt x="38054" y="-279"/>
                      <a:pt x="46330" y="322"/>
                    </a:cubicBezTo>
                    <a:cubicBezTo>
                      <a:pt x="54606" y="923"/>
                      <a:pt x="68853" y="4788"/>
                      <a:pt x="75373" y="7272"/>
                    </a:cubicBezTo>
                    <a:cubicBezTo>
                      <a:pt x="83700" y="10395"/>
                      <a:pt x="89122" y="13354"/>
                      <a:pt x="96295" y="19062"/>
                    </a:cubicBezTo>
                    <a:lnTo>
                      <a:pt x="118412" y="41521"/>
                    </a:lnTo>
                    <a:lnTo>
                      <a:pt x="776253" y="41521"/>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67" name="组合 66"/>
            <p:cNvGrpSpPr/>
            <p:nvPr/>
          </p:nvGrpSpPr>
          <p:grpSpPr>
            <a:xfrm>
              <a:off x="7069815" y="3560099"/>
              <a:ext cx="1178707" cy="436918"/>
              <a:chOff x="6546643" y="4562132"/>
              <a:chExt cx="909549" cy="274526"/>
            </a:xfrm>
          </p:grpSpPr>
          <p:sp>
            <p:nvSpPr>
              <p:cNvPr id="68" name="L 形 67"/>
              <p:cNvSpPr/>
              <p:nvPr/>
            </p:nvSpPr>
            <p:spPr bwMode="auto">
              <a:xfrm>
                <a:off x="6546643" y="4562132"/>
                <a:ext cx="183078" cy="274526"/>
              </a:xfrm>
              <a:prstGeom prst="corner">
                <a:avLst>
                  <a:gd name="adj1" fmla="val 32947"/>
                  <a:gd name="adj2" fmla="val 29581"/>
                </a:avLst>
              </a:prstGeom>
              <a:pattFill prst="ltDnDiag">
                <a:fgClr>
                  <a:srgbClr val="9999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任意多边形 68"/>
              <p:cNvSpPr/>
              <p:nvPr/>
            </p:nvSpPr>
            <p:spPr bwMode="auto">
              <a:xfrm>
                <a:off x="6601452" y="4733651"/>
                <a:ext cx="854740" cy="45719"/>
              </a:xfrm>
              <a:custGeom>
                <a:avLst/>
                <a:gdLst>
                  <a:gd name="connsiteX0" fmla="*/ 0 w 776253"/>
                  <a:gd name="connsiteY0" fmla="*/ 46049 h 72363"/>
                  <a:gd name="connsiteX1" fmla="*/ 23025 w 776253"/>
                  <a:gd name="connsiteY1" fmla="*/ 0 h 72363"/>
                  <a:gd name="connsiteX2" fmla="*/ 85520 w 776253"/>
                  <a:gd name="connsiteY2" fmla="*/ 16446 h 72363"/>
                  <a:gd name="connsiteX3" fmla="*/ 98676 w 776253"/>
                  <a:gd name="connsiteY3" fmla="*/ 32892 h 72363"/>
                  <a:gd name="connsiteX4" fmla="*/ 118412 w 776253"/>
                  <a:gd name="connsiteY4" fmla="*/ 62495 h 72363"/>
                  <a:gd name="connsiteX5" fmla="*/ 776253 w 776253"/>
                  <a:gd name="connsiteY5" fmla="*/ 62495 h 72363"/>
                  <a:gd name="connsiteX6" fmla="*/ 766386 w 776253"/>
                  <a:gd name="connsiteY6" fmla="*/ 72363 h 72363"/>
                  <a:gd name="connsiteX0" fmla="*/ 0 w 776253"/>
                  <a:gd name="connsiteY0" fmla="*/ 46049 h 62495"/>
                  <a:gd name="connsiteX1" fmla="*/ 23025 w 776253"/>
                  <a:gd name="connsiteY1" fmla="*/ 0 h 62495"/>
                  <a:gd name="connsiteX2" fmla="*/ 85520 w 776253"/>
                  <a:gd name="connsiteY2" fmla="*/ 16446 h 62495"/>
                  <a:gd name="connsiteX3" fmla="*/ 98676 w 776253"/>
                  <a:gd name="connsiteY3" fmla="*/ 32892 h 62495"/>
                  <a:gd name="connsiteX4" fmla="*/ 118412 w 776253"/>
                  <a:gd name="connsiteY4" fmla="*/ 62495 h 62495"/>
                  <a:gd name="connsiteX5" fmla="*/ 776253 w 776253"/>
                  <a:gd name="connsiteY5" fmla="*/ 62495 h 62495"/>
                  <a:gd name="connsiteX0" fmla="*/ 0 w 776253"/>
                  <a:gd name="connsiteY0" fmla="*/ 29603 h 46049"/>
                  <a:gd name="connsiteX1" fmla="*/ 18263 w 776253"/>
                  <a:gd name="connsiteY1" fmla="*/ 223 h 46049"/>
                  <a:gd name="connsiteX2" fmla="*/ 85520 w 776253"/>
                  <a:gd name="connsiteY2" fmla="*/ 0 h 46049"/>
                  <a:gd name="connsiteX3" fmla="*/ 98676 w 776253"/>
                  <a:gd name="connsiteY3" fmla="*/ 16446 h 46049"/>
                  <a:gd name="connsiteX4" fmla="*/ 118412 w 776253"/>
                  <a:gd name="connsiteY4" fmla="*/ 46049 h 46049"/>
                  <a:gd name="connsiteX5" fmla="*/ 776253 w 776253"/>
                  <a:gd name="connsiteY5" fmla="*/ 46049 h 46049"/>
                  <a:gd name="connsiteX0" fmla="*/ 0 w 776253"/>
                  <a:gd name="connsiteY0" fmla="*/ 29380 h 45826"/>
                  <a:gd name="connsiteX1" fmla="*/ 18263 w 776253"/>
                  <a:gd name="connsiteY1" fmla="*/ 0 h 45826"/>
                  <a:gd name="connsiteX2" fmla="*/ 68852 w 776253"/>
                  <a:gd name="connsiteY2" fmla="*/ 6920 h 45826"/>
                  <a:gd name="connsiteX3" fmla="*/ 98676 w 776253"/>
                  <a:gd name="connsiteY3" fmla="*/ 16223 h 45826"/>
                  <a:gd name="connsiteX4" fmla="*/ 118412 w 776253"/>
                  <a:gd name="connsiteY4" fmla="*/ 45826 h 45826"/>
                  <a:gd name="connsiteX5" fmla="*/ 776253 w 776253"/>
                  <a:gd name="connsiteY5" fmla="*/ 45826 h 45826"/>
                  <a:gd name="connsiteX0" fmla="*/ 0 w 776253"/>
                  <a:gd name="connsiteY0" fmla="*/ 29380 h 45826"/>
                  <a:gd name="connsiteX1" fmla="*/ 18263 w 776253"/>
                  <a:gd name="connsiteY1" fmla="*/ 0 h 45826"/>
                  <a:gd name="connsiteX2" fmla="*/ 68852 w 776253"/>
                  <a:gd name="connsiteY2" fmla="*/ 6920 h 45826"/>
                  <a:gd name="connsiteX3" fmla="*/ 96295 w 776253"/>
                  <a:gd name="connsiteY3" fmla="*/ 23367 h 45826"/>
                  <a:gd name="connsiteX4" fmla="*/ 118412 w 776253"/>
                  <a:gd name="connsiteY4" fmla="*/ 45826 h 45826"/>
                  <a:gd name="connsiteX5" fmla="*/ 776253 w 776253"/>
                  <a:gd name="connsiteY5" fmla="*/ 45826 h 45826"/>
                  <a:gd name="connsiteX0" fmla="*/ 0 w 776253"/>
                  <a:gd name="connsiteY0" fmla="*/ 26999 h 43445"/>
                  <a:gd name="connsiteX1" fmla="*/ 18263 w 776253"/>
                  <a:gd name="connsiteY1" fmla="*/ 0 h 43445"/>
                  <a:gd name="connsiteX2" fmla="*/ 68852 w 776253"/>
                  <a:gd name="connsiteY2" fmla="*/ 4539 h 43445"/>
                  <a:gd name="connsiteX3" fmla="*/ 96295 w 776253"/>
                  <a:gd name="connsiteY3" fmla="*/ 20986 h 43445"/>
                  <a:gd name="connsiteX4" fmla="*/ 118412 w 776253"/>
                  <a:gd name="connsiteY4" fmla="*/ 43445 h 43445"/>
                  <a:gd name="connsiteX5" fmla="*/ 776253 w 776253"/>
                  <a:gd name="connsiteY5" fmla="*/ 43445 h 43445"/>
                  <a:gd name="connsiteX0" fmla="*/ 0 w 776253"/>
                  <a:gd name="connsiteY0" fmla="*/ 22460 h 38906"/>
                  <a:gd name="connsiteX1" fmla="*/ 25715 w 776253"/>
                  <a:gd name="connsiteY1" fmla="*/ 1050 h 38906"/>
                  <a:gd name="connsiteX2" fmla="*/ 68852 w 776253"/>
                  <a:gd name="connsiteY2" fmla="*/ 0 h 38906"/>
                  <a:gd name="connsiteX3" fmla="*/ 96295 w 776253"/>
                  <a:gd name="connsiteY3" fmla="*/ 16447 h 38906"/>
                  <a:gd name="connsiteX4" fmla="*/ 118412 w 776253"/>
                  <a:gd name="connsiteY4" fmla="*/ 38906 h 38906"/>
                  <a:gd name="connsiteX5" fmla="*/ 776253 w 776253"/>
                  <a:gd name="connsiteY5" fmla="*/ 38906 h 38906"/>
                  <a:gd name="connsiteX0" fmla="*/ 0 w 776253"/>
                  <a:gd name="connsiteY0" fmla="*/ 24753 h 41199"/>
                  <a:gd name="connsiteX1" fmla="*/ 25715 w 776253"/>
                  <a:gd name="connsiteY1" fmla="*/ 3343 h 41199"/>
                  <a:gd name="connsiteX2" fmla="*/ 46330 w 776253"/>
                  <a:gd name="connsiteY2" fmla="*/ 0 h 41199"/>
                  <a:gd name="connsiteX3" fmla="*/ 68852 w 776253"/>
                  <a:gd name="connsiteY3" fmla="*/ 2293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85452 w 776253"/>
                  <a:gd name="connsiteY4" fmla="*/ 15226 h 41521"/>
                  <a:gd name="connsiteX5" fmla="*/ 96295 w 776253"/>
                  <a:gd name="connsiteY5" fmla="*/ 19062 h 41521"/>
                  <a:gd name="connsiteX6" fmla="*/ 118412 w 776253"/>
                  <a:gd name="connsiteY6" fmla="*/ 41521 h 41521"/>
                  <a:gd name="connsiteX7" fmla="*/ 776253 w 776253"/>
                  <a:gd name="connsiteY7"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6253" h="41521">
                    <a:moveTo>
                      <a:pt x="0" y="25075"/>
                    </a:moveTo>
                    <a:cubicBezTo>
                      <a:pt x="8572" y="17938"/>
                      <a:pt x="17993" y="7791"/>
                      <a:pt x="25715" y="3665"/>
                    </a:cubicBezTo>
                    <a:cubicBezTo>
                      <a:pt x="33437" y="-461"/>
                      <a:pt x="38054" y="-279"/>
                      <a:pt x="46330" y="322"/>
                    </a:cubicBezTo>
                    <a:cubicBezTo>
                      <a:pt x="54606" y="923"/>
                      <a:pt x="68853" y="4788"/>
                      <a:pt x="75373" y="7272"/>
                    </a:cubicBezTo>
                    <a:cubicBezTo>
                      <a:pt x="83700" y="10395"/>
                      <a:pt x="89122" y="13354"/>
                      <a:pt x="96295" y="19062"/>
                    </a:cubicBezTo>
                    <a:lnTo>
                      <a:pt x="118412" y="41521"/>
                    </a:lnTo>
                    <a:lnTo>
                      <a:pt x="776253" y="41521"/>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70" name="组合 69"/>
            <p:cNvGrpSpPr/>
            <p:nvPr/>
          </p:nvGrpSpPr>
          <p:grpSpPr>
            <a:xfrm>
              <a:off x="7063839" y="3268949"/>
              <a:ext cx="1178707" cy="388770"/>
              <a:chOff x="6546643" y="4562132"/>
              <a:chExt cx="909549" cy="274526"/>
            </a:xfrm>
          </p:grpSpPr>
          <p:sp>
            <p:nvSpPr>
              <p:cNvPr id="71" name="L 形 70"/>
              <p:cNvSpPr/>
              <p:nvPr/>
            </p:nvSpPr>
            <p:spPr bwMode="auto">
              <a:xfrm>
                <a:off x="6546643" y="4562132"/>
                <a:ext cx="183078" cy="274526"/>
              </a:xfrm>
              <a:prstGeom prst="corner">
                <a:avLst>
                  <a:gd name="adj1" fmla="val 32947"/>
                  <a:gd name="adj2" fmla="val 29581"/>
                </a:avLst>
              </a:prstGeom>
              <a:pattFill prst="ltUpDiag">
                <a:fgClr>
                  <a:srgbClr val="9999FF"/>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2" name="任意多边形 71"/>
              <p:cNvSpPr/>
              <p:nvPr/>
            </p:nvSpPr>
            <p:spPr bwMode="auto">
              <a:xfrm>
                <a:off x="6601452" y="4729231"/>
                <a:ext cx="854740" cy="45719"/>
              </a:xfrm>
              <a:custGeom>
                <a:avLst/>
                <a:gdLst>
                  <a:gd name="connsiteX0" fmla="*/ 0 w 776253"/>
                  <a:gd name="connsiteY0" fmla="*/ 46049 h 72363"/>
                  <a:gd name="connsiteX1" fmla="*/ 23025 w 776253"/>
                  <a:gd name="connsiteY1" fmla="*/ 0 h 72363"/>
                  <a:gd name="connsiteX2" fmla="*/ 85520 w 776253"/>
                  <a:gd name="connsiteY2" fmla="*/ 16446 h 72363"/>
                  <a:gd name="connsiteX3" fmla="*/ 98676 w 776253"/>
                  <a:gd name="connsiteY3" fmla="*/ 32892 h 72363"/>
                  <a:gd name="connsiteX4" fmla="*/ 118412 w 776253"/>
                  <a:gd name="connsiteY4" fmla="*/ 62495 h 72363"/>
                  <a:gd name="connsiteX5" fmla="*/ 776253 w 776253"/>
                  <a:gd name="connsiteY5" fmla="*/ 62495 h 72363"/>
                  <a:gd name="connsiteX6" fmla="*/ 766386 w 776253"/>
                  <a:gd name="connsiteY6" fmla="*/ 72363 h 72363"/>
                  <a:gd name="connsiteX0" fmla="*/ 0 w 776253"/>
                  <a:gd name="connsiteY0" fmla="*/ 46049 h 62495"/>
                  <a:gd name="connsiteX1" fmla="*/ 23025 w 776253"/>
                  <a:gd name="connsiteY1" fmla="*/ 0 h 62495"/>
                  <a:gd name="connsiteX2" fmla="*/ 85520 w 776253"/>
                  <a:gd name="connsiteY2" fmla="*/ 16446 h 62495"/>
                  <a:gd name="connsiteX3" fmla="*/ 98676 w 776253"/>
                  <a:gd name="connsiteY3" fmla="*/ 32892 h 62495"/>
                  <a:gd name="connsiteX4" fmla="*/ 118412 w 776253"/>
                  <a:gd name="connsiteY4" fmla="*/ 62495 h 62495"/>
                  <a:gd name="connsiteX5" fmla="*/ 776253 w 776253"/>
                  <a:gd name="connsiteY5" fmla="*/ 62495 h 62495"/>
                  <a:gd name="connsiteX0" fmla="*/ 0 w 776253"/>
                  <a:gd name="connsiteY0" fmla="*/ 29603 h 46049"/>
                  <a:gd name="connsiteX1" fmla="*/ 18263 w 776253"/>
                  <a:gd name="connsiteY1" fmla="*/ 223 h 46049"/>
                  <a:gd name="connsiteX2" fmla="*/ 85520 w 776253"/>
                  <a:gd name="connsiteY2" fmla="*/ 0 h 46049"/>
                  <a:gd name="connsiteX3" fmla="*/ 98676 w 776253"/>
                  <a:gd name="connsiteY3" fmla="*/ 16446 h 46049"/>
                  <a:gd name="connsiteX4" fmla="*/ 118412 w 776253"/>
                  <a:gd name="connsiteY4" fmla="*/ 46049 h 46049"/>
                  <a:gd name="connsiteX5" fmla="*/ 776253 w 776253"/>
                  <a:gd name="connsiteY5" fmla="*/ 46049 h 46049"/>
                  <a:gd name="connsiteX0" fmla="*/ 0 w 776253"/>
                  <a:gd name="connsiteY0" fmla="*/ 29380 h 45826"/>
                  <a:gd name="connsiteX1" fmla="*/ 18263 w 776253"/>
                  <a:gd name="connsiteY1" fmla="*/ 0 h 45826"/>
                  <a:gd name="connsiteX2" fmla="*/ 68852 w 776253"/>
                  <a:gd name="connsiteY2" fmla="*/ 6920 h 45826"/>
                  <a:gd name="connsiteX3" fmla="*/ 98676 w 776253"/>
                  <a:gd name="connsiteY3" fmla="*/ 16223 h 45826"/>
                  <a:gd name="connsiteX4" fmla="*/ 118412 w 776253"/>
                  <a:gd name="connsiteY4" fmla="*/ 45826 h 45826"/>
                  <a:gd name="connsiteX5" fmla="*/ 776253 w 776253"/>
                  <a:gd name="connsiteY5" fmla="*/ 45826 h 45826"/>
                  <a:gd name="connsiteX0" fmla="*/ 0 w 776253"/>
                  <a:gd name="connsiteY0" fmla="*/ 29380 h 45826"/>
                  <a:gd name="connsiteX1" fmla="*/ 18263 w 776253"/>
                  <a:gd name="connsiteY1" fmla="*/ 0 h 45826"/>
                  <a:gd name="connsiteX2" fmla="*/ 68852 w 776253"/>
                  <a:gd name="connsiteY2" fmla="*/ 6920 h 45826"/>
                  <a:gd name="connsiteX3" fmla="*/ 96295 w 776253"/>
                  <a:gd name="connsiteY3" fmla="*/ 23367 h 45826"/>
                  <a:gd name="connsiteX4" fmla="*/ 118412 w 776253"/>
                  <a:gd name="connsiteY4" fmla="*/ 45826 h 45826"/>
                  <a:gd name="connsiteX5" fmla="*/ 776253 w 776253"/>
                  <a:gd name="connsiteY5" fmla="*/ 45826 h 45826"/>
                  <a:gd name="connsiteX0" fmla="*/ 0 w 776253"/>
                  <a:gd name="connsiteY0" fmla="*/ 26999 h 43445"/>
                  <a:gd name="connsiteX1" fmla="*/ 18263 w 776253"/>
                  <a:gd name="connsiteY1" fmla="*/ 0 h 43445"/>
                  <a:gd name="connsiteX2" fmla="*/ 68852 w 776253"/>
                  <a:gd name="connsiteY2" fmla="*/ 4539 h 43445"/>
                  <a:gd name="connsiteX3" fmla="*/ 96295 w 776253"/>
                  <a:gd name="connsiteY3" fmla="*/ 20986 h 43445"/>
                  <a:gd name="connsiteX4" fmla="*/ 118412 w 776253"/>
                  <a:gd name="connsiteY4" fmla="*/ 43445 h 43445"/>
                  <a:gd name="connsiteX5" fmla="*/ 776253 w 776253"/>
                  <a:gd name="connsiteY5" fmla="*/ 43445 h 43445"/>
                  <a:gd name="connsiteX0" fmla="*/ 0 w 776253"/>
                  <a:gd name="connsiteY0" fmla="*/ 22460 h 38906"/>
                  <a:gd name="connsiteX1" fmla="*/ 25715 w 776253"/>
                  <a:gd name="connsiteY1" fmla="*/ 1050 h 38906"/>
                  <a:gd name="connsiteX2" fmla="*/ 68852 w 776253"/>
                  <a:gd name="connsiteY2" fmla="*/ 0 h 38906"/>
                  <a:gd name="connsiteX3" fmla="*/ 96295 w 776253"/>
                  <a:gd name="connsiteY3" fmla="*/ 16447 h 38906"/>
                  <a:gd name="connsiteX4" fmla="*/ 118412 w 776253"/>
                  <a:gd name="connsiteY4" fmla="*/ 38906 h 38906"/>
                  <a:gd name="connsiteX5" fmla="*/ 776253 w 776253"/>
                  <a:gd name="connsiteY5" fmla="*/ 38906 h 38906"/>
                  <a:gd name="connsiteX0" fmla="*/ 0 w 776253"/>
                  <a:gd name="connsiteY0" fmla="*/ 24753 h 41199"/>
                  <a:gd name="connsiteX1" fmla="*/ 25715 w 776253"/>
                  <a:gd name="connsiteY1" fmla="*/ 3343 h 41199"/>
                  <a:gd name="connsiteX2" fmla="*/ 46330 w 776253"/>
                  <a:gd name="connsiteY2" fmla="*/ 0 h 41199"/>
                  <a:gd name="connsiteX3" fmla="*/ 68852 w 776253"/>
                  <a:gd name="connsiteY3" fmla="*/ 2293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4753 h 41199"/>
                  <a:gd name="connsiteX1" fmla="*/ 25715 w 776253"/>
                  <a:gd name="connsiteY1" fmla="*/ 3343 h 41199"/>
                  <a:gd name="connsiteX2" fmla="*/ 46330 w 776253"/>
                  <a:gd name="connsiteY2" fmla="*/ 0 h 41199"/>
                  <a:gd name="connsiteX3" fmla="*/ 75373 w 776253"/>
                  <a:gd name="connsiteY3" fmla="*/ 6950 h 41199"/>
                  <a:gd name="connsiteX4" fmla="*/ 96295 w 776253"/>
                  <a:gd name="connsiteY4" fmla="*/ 18740 h 41199"/>
                  <a:gd name="connsiteX5" fmla="*/ 118412 w 776253"/>
                  <a:gd name="connsiteY5" fmla="*/ 41199 h 41199"/>
                  <a:gd name="connsiteX6" fmla="*/ 776253 w 776253"/>
                  <a:gd name="connsiteY6" fmla="*/ 41199 h 41199"/>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85452 w 776253"/>
                  <a:gd name="connsiteY4" fmla="*/ 15226 h 41521"/>
                  <a:gd name="connsiteX5" fmla="*/ 96295 w 776253"/>
                  <a:gd name="connsiteY5" fmla="*/ 19062 h 41521"/>
                  <a:gd name="connsiteX6" fmla="*/ 118412 w 776253"/>
                  <a:gd name="connsiteY6" fmla="*/ 41521 h 41521"/>
                  <a:gd name="connsiteX7" fmla="*/ 776253 w 776253"/>
                  <a:gd name="connsiteY7"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 name="connsiteX0" fmla="*/ 0 w 776253"/>
                  <a:gd name="connsiteY0" fmla="*/ 25075 h 41521"/>
                  <a:gd name="connsiteX1" fmla="*/ 25715 w 776253"/>
                  <a:gd name="connsiteY1" fmla="*/ 3665 h 41521"/>
                  <a:gd name="connsiteX2" fmla="*/ 46330 w 776253"/>
                  <a:gd name="connsiteY2" fmla="*/ 322 h 41521"/>
                  <a:gd name="connsiteX3" fmla="*/ 75373 w 776253"/>
                  <a:gd name="connsiteY3" fmla="*/ 7272 h 41521"/>
                  <a:gd name="connsiteX4" fmla="*/ 96295 w 776253"/>
                  <a:gd name="connsiteY4" fmla="*/ 19062 h 41521"/>
                  <a:gd name="connsiteX5" fmla="*/ 118412 w 776253"/>
                  <a:gd name="connsiteY5" fmla="*/ 41521 h 41521"/>
                  <a:gd name="connsiteX6" fmla="*/ 776253 w 776253"/>
                  <a:gd name="connsiteY6" fmla="*/ 41521 h 41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6253" h="41521">
                    <a:moveTo>
                      <a:pt x="0" y="25075"/>
                    </a:moveTo>
                    <a:cubicBezTo>
                      <a:pt x="8572" y="17938"/>
                      <a:pt x="17993" y="7791"/>
                      <a:pt x="25715" y="3665"/>
                    </a:cubicBezTo>
                    <a:cubicBezTo>
                      <a:pt x="33437" y="-461"/>
                      <a:pt x="38054" y="-279"/>
                      <a:pt x="46330" y="322"/>
                    </a:cubicBezTo>
                    <a:cubicBezTo>
                      <a:pt x="54606" y="923"/>
                      <a:pt x="68853" y="4788"/>
                      <a:pt x="75373" y="7272"/>
                    </a:cubicBezTo>
                    <a:cubicBezTo>
                      <a:pt x="83700" y="10395"/>
                      <a:pt x="89122" y="13354"/>
                      <a:pt x="96295" y="19062"/>
                    </a:cubicBezTo>
                    <a:lnTo>
                      <a:pt x="118412" y="41521"/>
                    </a:lnTo>
                    <a:lnTo>
                      <a:pt x="776253" y="41521"/>
                    </a:ln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76" name="Line 32"/>
            <p:cNvSpPr>
              <a:spLocks noChangeShapeType="1"/>
            </p:cNvSpPr>
            <p:nvPr/>
          </p:nvSpPr>
          <p:spPr bwMode="auto">
            <a:xfrm>
              <a:off x="7063839" y="3273385"/>
              <a:ext cx="15502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32"/>
            <p:cNvSpPr>
              <a:spLocks noChangeShapeType="1"/>
            </p:cNvSpPr>
            <p:nvPr/>
          </p:nvSpPr>
          <p:spPr bwMode="auto">
            <a:xfrm>
              <a:off x="6588657" y="4654116"/>
              <a:ext cx="48713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Text Box 47"/>
            <p:cNvSpPr txBox="1">
              <a:spLocks noChangeArrowheads="1"/>
            </p:cNvSpPr>
            <p:nvPr/>
          </p:nvSpPr>
          <p:spPr bwMode="auto">
            <a:xfrm>
              <a:off x="7024813" y="5068382"/>
              <a:ext cx="1401743"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smtClean="0">
                  <a:solidFill>
                    <a:srgbClr val="000066"/>
                  </a:solidFill>
                  <a:latin typeface="黑体" panose="02010609060101010101" pitchFamily="49" charset="-122"/>
                  <a:ea typeface="黑体" panose="02010609060101010101" pitchFamily="49" charset="-122"/>
                </a:rPr>
                <a:t>砌块墙面</a:t>
              </a:r>
              <a:r>
                <a:rPr lang="zh-CN" altLang="en-US" sz="1800" b="1" dirty="0">
                  <a:solidFill>
                    <a:srgbClr val="000066"/>
                  </a:solidFill>
                  <a:latin typeface="黑体" panose="02010609060101010101" pitchFamily="49" charset="-122"/>
                  <a:ea typeface="黑体" panose="02010609060101010101" pitchFamily="49" charset="-122"/>
                </a:rPr>
                <a:t>式</a:t>
              </a:r>
            </a:p>
          </p:txBody>
        </p:sp>
        <p:sp>
          <p:nvSpPr>
            <p:cNvPr id="73" name="Text Box 53"/>
            <p:cNvSpPr txBox="1">
              <a:spLocks noChangeArrowheads="1"/>
            </p:cNvSpPr>
            <p:nvPr/>
          </p:nvSpPr>
          <p:spPr bwMode="auto">
            <a:xfrm>
              <a:off x="8015622" y="3877901"/>
              <a:ext cx="66514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a:solidFill>
                    <a:srgbClr val="000000"/>
                  </a:solidFill>
                  <a:latin typeface="幼圆" panose="02010509060101010101" pitchFamily="49" charset="-122"/>
                  <a:ea typeface="幼圆" panose="02010509060101010101" pitchFamily="49" charset="-122"/>
                </a:rPr>
                <a:t>筋材</a:t>
              </a:r>
            </a:p>
          </p:txBody>
        </p:sp>
        <p:cxnSp>
          <p:nvCxnSpPr>
            <p:cNvPr id="74" name="直接连接符 73"/>
            <p:cNvCxnSpPr/>
            <p:nvPr/>
          </p:nvCxnSpPr>
          <p:spPr bwMode="auto">
            <a:xfrm flipV="1">
              <a:off x="7893157" y="4090657"/>
              <a:ext cx="149333" cy="11535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53"/>
            <p:cNvSpPr txBox="1">
              <a:spLocks noChangeArrowheads="1"/>
            </p:cNvSpPr>
            <p:nvPr/>
          </p:nvSpPr>
          <p:spPr bwMode="auto">
            <a:xfrm>
              <a:off x="6349374" y="3358382"/>
              <a:ext cx="665142" cy="37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rgbClr val="000000"/>
                  </a:solidFill>
                  <a:latin typeface="幼圆" panose="02010509060101010101" pitchFamily="49" charset="-122"/>
                  <a:ea typeface="幼圆" panose="02010509060101010101" pitchFamily="49" charset="-122"/>
                </a:rPr>
                <a:t>面板</a:t>
              </a:r>
              <a:endParaRPr kumimoji="1" lang="zh-CN" altLang="en-US" sz="1800" b="1" dirty="0">
                <a:solidFill>
                  <a:srgbClr val="000000"/>
                </a:solidFill>
                <a:latin typeface="幼圆" panose="02010509060101010101" pitchFamily="49" charset="-122"/>
                <a:ea typeface="幼圆" panose="02010509060101010101" pitchFamily="49" charset="-122"/>
              </a:endParaRPr>
            </a:p>
          </p:txBody>
        </p:sp>
        <p:cxnSp>
          <p:nvCxnSpPr>
            <p:cNvPr id="81" name="直接连接符 80"/>
            <p:cNvCxnSpPr/>
            <p:nvPr/>
          </p:nvCxnSpPr>
          <p:spPr bwMode="auto">
            <a:xfrm flipH="1" flipV="1">
              <a:off x="6861778" y="3703278"/>
              <a:ext cx="191424" cy="17459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69811859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barn(inVertical)">
                                      <p:cBhvr>
                                        <p:cTn id="7" dur="500"/>
                                        <p:tgtEl>
                                          <p:spTgt spid="20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4" descr="s14"/>
          <p:cNvPicPr>
            <a:picLocks noChangeAspect="1" noChangeArrowheads="1"/>
          </p:cNvPicPr>
          <p:nvPr/>
        </p:nvPicPr>
        <p:blipFill rotWithShape="1">
          <a:blip r:embed="rId3">
            <a:extLst>
              <a:ext uri="{28A0092B-C50C-407E-A947-70E740481C1C}">
                <a14:useLocalDpi xmlns:a14="http://schemas.microsoft.com/office/drawing/2010/main" val="0"/>
              </a:ext>
            </a:extLst>
          </a:blip>
          <a:srcRect l="2535" t="2273" r="6244" b="6927"/>
          <a:stretch/>
        </p:blipFill>
        <p:spPr bwMode="auto">
          <a:xfrm>
            <a:off x="1301268" y="1300003"/>
            <a:ext cx="3172258" cy="208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6" descr="IMG0034"/>
          <p:cNvPicPr>
            <a:picLocks noChangeAspect="1" noChangeArrowheads="1"/>
          </p:cNvPicPr>
          <p:nvPr/>
        </p:nvPicPr>
        <p:blipFill>
          <a:blip r:embed="rId4">
            <a:extLst>
              <a:ext uri="{28A0092B-C50C-407E-A947-70E740481C1C}">
                <a14:useLocalDpi xmlns:a14="http://schemas.microsoft.com/office/drawing/2010/main" val="0"/>
              </a:ext>
            </a:extLst>
          </a:blip>
          <a:srcRect t="3093" r="3104"/>
          <a:stretch>
            <a:fillRect/>
          </a:stretch>
        </p:blipFill>
        <p:spPr bwMode="auto">
          <a:xfrm>
            <a:off x="1322363" y="3519117"/>
            <a:ext cx="3150244" cy="2100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9906" name="Picture 2" descr="H:\20141016121926840_4.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2590" y="1314832"/>
            <a:ext cx="3137095" cy="2068878"/>
          </a:xfrm>
          <a:prstGeom prst="rect">
            <a:avLst/>
          </a:prstGeom>
          <a:noFill/>
          <a:extLst>
            <a:ext uri="{909E8E84-426E-40DD-AFC4-6F175D3DCCD1}">
              <a14:hiddenFill xmlns:a14="http://schemas.microsoft.com/office/drawing/2010/main">
                <a:solidFill>
                  <a:srgbClr val="FFFFFF"/>
                </a:solidFill>
              </a14:hiddenFill>
            </a:ext>
          </a:extLst>
        </p:spPr>
      </p:pic>
      <p:pic>
        <p:nvPicPr>
          <p:cNvPr id="1659907" name="Picture 3" descr="H:\timg.jpg"/>
          <p:cNvPicPr>
            <a:picLocks noChangeAspect="1" noChangeArrowheads="1"/>
          </p:cNvPicPr>
          <p:nvPr/>
        </p:nvPicPr>
        <p:blipFill rotWithShape="1">
          <a:blip r:embed="rId6">
            <a:extLst>
              <a:ext uri="{28A0092B-C50C-407E-A947-70E740481C1C}">
                <a14:useLocalDpi xmlns:a14="http://schemas.microsoft.com/office/drawing/2010/main" val="0"/>
              </a:ext>
            </a:extLst>
          </a:blip>
          <a:srcRect b="19814"/>
          <a:stretch/>
        </p:blipFill>
        <p:spPr bwMode="auto">
          <a:xfrm>
            <a:off x="4903147" y="3571386"/>
            <a:ext cx="3154056" cy="2076792"/>
          </a:xfrm>
          <a:prstGeom prst="rect">
            <a:avLst/>
          </a:prstGeom>
          <a:noFill/>
          <a:extLst>
            <a:ext uri="{909E8E84-426E-40DD-AFC4-6F175D3DCCD1}">
              <a14:hiddenFill xmlns:a14="http://schemas.microsoft.com/office/drawing/2010/main">
                <a:solidFill>
                  <a:srgbClr val="FFFFFF"/>
                </a:solidFill>
              </a14:hiddenFill>
            </a:ext>
          </a:extLst>
        </p:spPr>
      </p:pic>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15</a:t>
            </a:fld>
            <a:endParaRPr lang="zh-CN" altLang="en-US" dirty="0">
              <a:solidFill>
                <a:srgbClr val="C00000"/>
              </a:solidFill>
            </a:endParaRPr>
          </a:p>
        </p:txBody>
      </p:sp>
      <p:sp>
        <p:nvSpPr>
          <p:cNvPr id="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A50021"/>
                </a:solidFill>
                <a:latin typeface="微软雅黑" panose="020B0503020204020204" pitchFamily="34" charset="-122"/>
                <a:ea typeface="微软雅黑" panose="020B0503020204020204" pitchFamily="34" charset="-122"/>
              </a:rPr>
              <a:t>三</a:t>
            </a:r>
            <a:r>
              <a:rPr lang="zh-CN" altLang="en-US" sz="2800" b="1" dirty="0" smtClean="0">
                <a:solidFill>
                  <a:srgbClr val="A50021"/>
                </a:solidFill>
                <a:latin typeface="微软雅黑" panose="020B0503020204020204" pitchFamily="34" charset="-122"/>
                <a:ea typeface="微软雅黑" panose="020B0503020204020204" pitchFamily="34" charset="-122"/>
              </a:rPr>
              <a:t>、加</a:t>
            </a:r>
            <a:r>
              <a:rPr lang="zh-CN" altLang="en-US" sz="2800" b="1" dirty="0">
                <a:solidFill>
                  <a:srgbClr val="A50021"/>
                </a:solidFill>
                <a:latin typeface="微软雅黑" panose="020B0503020204020204" pitchFamily="34" charset="-122"/>
                <a:ea typeface="微软雅黑" panose="020B0503020204020204" pitchFamily="34" charset="-122"/>
              </a:rPr>
              <a:t>筋挡土墙</a:t>
            </a:r>
          </a:p>
        </p:txBody>
      </p:sp>
      <p:sp>
        <p:nvSpPr>
          <p:cNvPr id="199" name="Text Box 2"/>
          <p:cNvSpPr txBox="1">
            <a:spLocks noChangeArrowheads="1"/>
          </p:cNvSpPr>
          <p:nvPr/>
        </p:nvSpPr>
        <p:spPr bwMode="auto">
          <a:xfrm>
            <a:off x="2276459" y="5729277"/>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62"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2" name="组合 1"/>
          <p:cNvGrpSpPr/>
          <p:nvPr/>
        </p:nvGrpSpPr>
        <p:grpSpPr>
          <a:xfrm>
            <a:off x="6480175" y="823412"/>
            <a:ext cx="1572408" cy="1548596"/>
            <a:chOff x="6480175" y="823412"/>
            <a:chExt cx="1572408" cy="1548596"/>
          </a:xfrm>
        </p:grpSpPr>
        <p:sp>
          <p:nvSpPr>
            <p:cNvPr id="63" name="Text Box 53"/>
            <p:cNvSpPr txBox="1">
              <a:spLocks noChangeArrowheads="1"/>
            </p:cNvSpPr>
            <p:nvPr/>
          </p:nvSpPr>
          <p:spPr bwMode="auto">
            <a:xfrm>
              <a:off x="6480175" y="823412"/>
              <a:ext cx="1572408" cy="37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rgbClr val="C00000"/>
                  </a:solidFill>
                  <a:latin typeface="幼圆" panose="02010509060101010101" pitchFamily="49" charset="-122"/>
                  <a:ea typeface="幼圆" panose="02010509060101010101" pitchFamily="49" charset="-122"/>
                </a:rPr>
                <a:t>破坏后的面板</a:t>
              </a:r>
              <a:endParaRPr kumimoji="1" lang="zh-CN" altLang="en-US" sz="1800" b="1" dirty="0">
                <a:solidFill>
                  <a:srgbClr val="C00000"/>
                </a:solidFill>
                <a:latin typeface="幼圆" panose="02010509060101010101" pitchFamily="49" charset="-122"/>
                <a:ea typeface="幼圆" panose="02010509060101010101" pitchFamily="49" charset="-122"/>
              </a:endParaRPr>
            </a:p>
          </p:txBody>
        </p:sp>
        <p:cxnSp>
          <p:nvCxnSpPr>
            <p:cNvPr id="73" name="直接连接符 72"/>
            <p:cNvCxnSpPr/>
            <p:nvPr/>
          </p:nvCxnSpPr>
          <p:spPr bwMode="auto">
            <a:xfrm flipV="1">
              <a:off x="6654297" y="1204523"/>
              <a:ext cx="587727" cy="1167485"/>
            </a:xfrm>
            <a:prstGeom prst="line">
              <a:avLst/>
            </a:prstGeom>
            <a:noFill/>
            <a:ln w="28575"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88023014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dissolve">
                                      <p:cBhvr>
                                        <p:cTn id="11" dur="500"/>
                                        <p:tgtEl>
                                          <p:spTgt spid="61"/>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659907"/>
                                        </p:tgtEl>
                                        <p:attrNameLst>
                                          <p:attrName>style.visibility</p:attrName>
                                        </p:attrNameLst>
                                      </p:cBhvr>
                                      <p:to>
                                        <p:strVal val="visible"/>
                                      </p:to>
                                    </p:set>
                                    <p:animEffect transition="in" filter="barn(inVertical)">
                                      <p:cBhvr>
                                        <p:cTn id="15" dur="500"/>
                                        <p:tgtEl>
                                          <p:spTgt spid="1659907"/>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1659906"/>
                                        </p:tgtEl>
                                        <p:attrNameLst>
                                          <p:attrName>style.visibility</p:attrName>
                                        </p:attrNameLst>
                                      </p:cBhvr>
                                      <p:to>
                                        <p:strVal val="visible"/>
                                      </p:to>
                                    </p:set>
                                    <p:animEffect transition="in" filter="barn(inVertical)">
                                      <p:cBhvr>
                                        <p:cTn id="19" dur="500"/>
                                        <p:tgtEl>
                                          <p:spTgt spid="1659906"/>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16</a:t>
            </a:fld>
            <a:endParaRPr lang="zh-CN" altLang="en-US" dirty="0">
              <a:solidFill>
                <a:srgbClr val="C00000"/>
              </a:solidFill>
            </a:endParaRPr>
          </a:p>
        </p:txBody>
      </p:sp>
      <p:sp>
        <p:nvSpPr>
          <p:cNvPr id="199" name="Text Box 2"/>
          <p:cNvSpPr txBox="1">
            <a:spLocks noChangeArrowheads="1"/>
          </p:cNvSpPr>
          <p:nvPr/>
        </p:nvSpPr>
        <p:spPr bwMode="auto">
          <a:xfrm>
            <a:off x="2290527" y="5701142"/>
            <a:ext cx="6002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挡土</a:t>
            </a:r>
            <a:r>
              <a:rPr kumimoji="1" lang="zh-CN" altLang="en-US" sz="4000" b="1" dirty="0">
                <a:solidFill>
                  <a:srgbClr val="000066"/>
                </a:solidFill>
                <a:latin typeface="黑体" pitchFamily="2" charset="-122"/>
                <a:ea typeface="黑体" pitchFamily="2" charset="-122"/>
              </a:rPr>
              <a:t>墙</a:t>
            </a:r>
            <a:r>
              <a:rPr kumimoji="1" lang="zh-CN" altLang="en-US" sz="4000" b="1" dirty="0" smtClean="0">
                <a:solidFill>
                  <a:srgbClr val="000066"/>
                </a:solidFill>
                <a:latin typeface="黑体" pitchFamily="2" charset="-122"/>
                <a:ea typeface="黑体" pitchFamily="2" charset="-122"/>
              </a:rPr>
              <a:t>类型及土压力分布 </a:t>
            </a:r>
            <a:endParaRPr kumimoji="1" lang="zh-CN" altLang="en-US" sz="4000" b="1" dirty="0">
              <a:solidFill>
                <a:srgbClr val="000066"/>
              </a:solidFill>
              <a:latin typeface="黑体" pitchFamily="2" charset="-122"/>
              <a:ea typeface="黑体" pitchFamily="2" charset="-122"/>
            </a:endParaRPr>
          </a:p>
        </p:txBody>
      </p:sp>
      <p:sp>
        <p:nvSpPr>
          <p:cNvPr id="74" name="Text Box 5"/>
          <p:cNvSpPr txBox="1">
            <a:spLocks noChangeArrowheads="1"/>
          </p:cNvSpPr>
          <p:nvPr/>
        </p:nvSpPr>
        <p:spPr bwMode="auto">
          <a:xfrm>
            <a:off x="1138388" y="1595118"/>
            <a:ext cx="6612582" cy="2935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400" b="1" dirty="0">
                <a:solidFill>
                  <a:srgbClr val="000066"/>
                </a:solidFill>
                <a:ea typeface="幼圆" pitchFamily="49" charset="-122"/>
                <a:cs typeface="Times New Roman" panose="02020603050405020304" pitchFamily="18" charset="0"/>
                <a:sym typeface="Symbol" pitchFamily="18" charset="2"/>
              </a:rPr>
              <a:t>刚性挡土墙土压力计算比较</a:t>
            </a:r>
            <a:r>
              <a:rPr lang="zh-CN" altLang="en-US" sz="2400" b="1" dirty="0" smtClean="0">
                <a:solidFill>
                  <a:srgbClr val="000066"/>
                </a:solidFill>
                <a:ea typeface="幼圆" pitchFamily="49" charset="-122"/>
                <a:cs typeface="Times New Roman" panose="02020603050405020304" pitchFamily="18" charset="0"/>
                <a:sym typeface="Symbol" pitchFamily="18" charset="2"/>
              </a:rPr>
              <a:t>简单。刚性</a:t>
            </a:r>
            <a:r>
              <a:rPr lang="zh-CN" altLang="en-US" sz="2400" b="1" dirty="0">
                <a:solidFill>
                  <a:srgbClr val="000066"/>
                </a:solidFill>
                <a:ea typeface="幼圆" pitchFamily="49" charset="-122"/>
                <a:cs typeface="Times New Roman" panose="02020603050405020304" pitchFamily="18" charset="0"/>
                <a:sym typeface="Symbol" pitchFamily="18" charset="2"/>
              </a:rPr>
              <a:t>挡土墙上的</a:t>
            </a:r>
            <a:r>
              <a:rPr lang="zh-CN" altLang="en-US" sz="2400" b="1" dirty="0">
                <a:solidFill>
                  <a:srgbClr val="C00000"/>
                </a:solidFill>
                <a:ea typeface="幼圆" pitchFamily="49" charset="-122"/>
                <a:cs typeface="Times New Roman" panose="02020603050405020304" pitchFamily="18" charset="0"/>
                <a:sym typeface="Symbol" pitchFamily="18" charset="2"/>
              </a:rPr>
              <a:t>土压力性质</a:t>
            </a:r>
            <a:r>
              <a:rPr lang="zh-CN" altLang="en-US" sz="2400" b="1" dirty="0">
                <a:solidFill>
                  <a:srgbClr val="000066"/>
                </a:solidFill>
                <a:ea typeface="幼圆" pitchFamily="49" charset="-122"/>
                <a:cs typeface="Times New Roman" panose="02020603050405020304" pitchFamily="18" charset="0"/>
                <a:sym typeface="Symbol" pitchFamily="18" charset="2"/>
              </a:rPr>
              <a:t>及</a:t>
            </a:r>
            <a:r>
              <a:rPr lang="zh-CN" altLang="en-US" sz="2400" b="1" dirty="0">
                <a:solidFill>
                  <a:srgbClr val="C00000"/>
                </a:solidFill>
                <a:ea typeface="幼圆" pitchFamily="49" charset="-122"/>
                <a:cs typeface="Times New Roman" panose="02020603050405020304" pitchFamily="18" charset="0"/>
                <a:sym typeface="Symbol" pitchFamily="18" charset="2"/>
              </a:rPr>
              <a:t>土压力计算</a:t>
            </a:r>
            <a:r>
              <a:rPr lang="zh-CN" altLang="en-US" sz="2400" b="1" dirty="0">
                <a:solidFill>
                  <a:srgbClr val="000066"/>
                </a:solidFill>
                <a:ea typeface="幼圆" pitchFamily="49" charset="-122"/>
                <a:cs typeface="Times New Roman" panose="02020603050405020304" pitchFamily="18" charset="0"/>
                <a:sym typeface="Symbol" pitchFamily="18" charset="2"/>
              </a:rPr>
              <a:t>，包括土压力的大小、方向、分布及合力</a:t>
            </a:r>
            <a:r>
              <a:rPr lang="zh-CN" altLang="en-US" sz="2400" b="1" dirty="0" smtClean="0">
                <a:solidFill>
                  <a:srgbClr val="000066"/>
                </a:solidFill>
                <a:ea typeface="幼圆" pitchFamily="49" charset="-122"/>
                <a:cs typeface="Times New Roman" panose="02020603050405020304" pitchFamily="18" charset="0"/>
                <a:sym typeface="Symbol" pitchFamily="18" charset="2"/>
              </a:rPr>
              <a:t>作用点等是</a:t>
            </a:r>
            <a:r>
              <a:rPr lang="zh-CN" altLang="en-US" sz="2400" b="1" dirty="0">
                <a:solidFill>
                  <a:srgbClr val="000066"/>
                </a:solidFill>
                <a:ea typeface="幼圆" pitchFamily="49" charset="-122"/>
                <a:cs typeface="Times New Roman" panose="02020603050405020304" pitchFamily="18" charset="0"/>
                <a:sym typeface="Symbol" pitchFamily="18" charset="2"/>
              </a:rPr>
              <a:t>本章要讨论的重点</a:t>
            </a: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其它</a:t>
            </a:r>
            <a:r>
              <a:rPr lang="zh-CN" altLang="en-US" sz="2400" b="1" dirty="0">
                <a:solidFill>
                  <a:srgbClr val="000066"/>
                </a:solidFill>
                <a:ea typeface="幼圆" pitchFamily="49" charset="-122"/>
                <a:cs typeface="Times New Roman" panose="02020603050405020304" pitchFamily="18" charset="0"/>
                <a:sym typeface="Symbol" pitchFamily="18" charset="2"/>
              </a:rPr>
              <a:t>类型的土压力计算大都以刚性墙为依据</a:t>
            </a:r>
          </a:p>
          <a:p>
            <a:pPr marL="442913" indent="-442913" eaLnBrk="1" hangingPunct="1">
              <a:lnSpc>
                <a:spcPct val="130000"/>
              </a:lnSpc>
              <a:spcBef>
                <a:spcPts val="0"/>
              </a:spcBef>
              <a:spcAft>
                <a:spcPts val="400"/>
              </a:spcAft>
              <a:buClr>
                <a:srgbClr val="A50021"/>
              </a:buClr>
              <a:buSzPct val="130000"/>
              <a:buFont typeface="Wingdings" pitchFamily="2" charset="2"/>
              <a:buChar char="F"/>
            </a:pP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p:txBody>
      </p:sp>
      <p:sp>
        <p:nvSpPr>
          <p:cNvPr id="75" name="Text Box 7"/>
          <p:cNvSpPr txBox="1">
            <a:spLocks noChangeArrowheads="1"/>
          </p:cNvSpPr>
          <p:nvPr/>
        </p:nvSpPr>
        <p:spPr bwMode="auto">
          <a:xfrm>
            <a:off x="-1" y="0"/>
            <a:ext cx="4742121"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挡土墙类型及土压力</a:t>
            </a:r>
            <a:r>
              <a:rPr lang="zh-CN" altLang="en-US" sz="1800" b="1" kern="900" spc="130" dirty="0" smtClean="0">
                <a:solidFill>
                  <a:srgbClr val="000066"/>
                </a:solidFill>
                <a:ea typeface="黑体" panose="02010609060101010101" pitchFamily="49" charset="-122"/>
                <a:cs typeface="Times New Roman" panose="02020603050405020304" pitchFamily="18" charset="0"/>
              </a:rPr>
              <a:t>分布</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3973789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barn(inVertical)">
                                      <p:cBhvr>
                                        <p:cTn id="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17</a:t>
            </a:fld>
            <a:endParaRPr lang="zh-CN" altLang="en-US" dirty="0">
              <a:solidFill>
                <a:srgbClr val="C00000"/>
              </a:solidFill>
            </a:endParaRPr>
          </a:p>
        </p:txBody>
      </p:sp>
      <p:sp>
        <p:nvSpPr>
          <p:cNvPr id="17" name="Text Box 46"/>
          <p:cNvSpPr txBox="1">
            <a:spLocks noChangeArrowheads="1"/>
          </p:cNvSpPr>
          <p:nvPr/>
        </p:nvSpPr>
        <p:spPr bwMode="auto">
          <a:xfrm>
            <a:off x="363384" y="755130"/>
            <a:ext cx="32091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典型土压力状态</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26"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7" name="Text Box 5"/>
          <p:cNvSpPr txBox="1">
            <a:spLocks noChangeArrowheads="1"/>
          </p:cNvSpPr>
          <p:nvPr/>
        </p:nvSpPr>
        <p:spPr bwMode="auto">
          <a:xfrm>
            <a:off x="1018620" y="1456916"/>
            <a:ext cx="7285408" cy="2318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ts val="40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在影响土压力的诸多因素中，墙体位移条件是主要因素之一。墙体位移的方向和位移量决定着所产生的土压力性质和土压力大小</a:t>
            </a:r>
            <a:endParaRPr lang="zh-CN" altLang="en-US" sz="2400" b="1" dirty="0">
              <a:solidFill>
                <a:srgbClr val="000066"/>
              </a:solidFill>
              <a:ea typeface="幼圆" pitchFamily="49" charset="-122"/>
              <a:cs typeface="Times New Roman" panose="02020603050405020304" pitchFamily="18" charset="0"/>
              <a:sym typeface="Symbol" pitchFamily="18" charset="2"/>
            </a:endParaRPr>
          </a:p>
          <a:p>
            <a:pPr eaLnBrk="1" hangingPunct="1">
              <a:lnSpc>
                <a:spcPct val="120000"/>
              </a:lnSpc>
              <a:spcBef>
                <a:spcPts val="40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在不同墙体</a:t>
            </a:r>
            <a:r>
              <a:rPr lang="zh-CN" altLang="en-US" sz="2400" b="1" dirty="0">
                <a:solidFill>
                  <a:srgbClr val="000066"/>
                </a:solidFill>
                <a:ea typeface="幼圆" pitchFamily="49" charset="-122"/>
                <a:cs typeface="Times New Roman" panose="02020603050405020304" pitchFamily="18" charset="0"/>
                <a:sym typeface="Symbol" pitchFamily="18" charset="2"/>
              </a:rPr>
              <a:t>位移</a:t>
            </a:r>
            <a:r>
              <a:rPr lang="zh-CN" altLang="en-US" sz="2400" b="1" dirty="0" smtClean="0">
                <a:solidFill>
                  <a:srgbClr val="000066"/>
                </a:solidFill>
                <a:ea typeface="幼圆" pitchFamily="49" charset="-122"/>
                <a:cs typeface="Times New Roman" panose="02020603050405020304" pitchFamily="18" charset="0"/>
                <a:sym typeface="Symbol" pitchFamily="18" charset="2"/>
              </a:rPr>
              <a:t>条件下，挡土墙土压力的三种典型状态分别为：</a:t>
            </a:r>
            <a:endParaRPr lang="zh-CN" altLang="en-US" sz="2400" b="1" dirty="0">
              <a:solidFill>
                <a:srgbClr val="000066"/>
              </a:solidFill>
              <a:ea typeface="幼圆" pitchFamily="49" charset="-122"/>
              <a:cs typeface="Times New Roman" panose="02020603050405020304" pitchFamily="18" charset="0"/>
            </a:endParaRPr>
          </a:p>
        </p:txBody>
      </p:sp>
      <p:sp>
        <p:nvSpPr>
          <p:cNvPr id="2" name="矩形 1"/>
          <p:cNvSpPr/>
          <p:nvPr/>
        </p:nvSpPr>
        <p:spPr>
          <a:xfrm>
            <a:off x="1809295" y="3826760"/>
            <a:ext cx="3327991" cy="1532727"/>
          </a:xfrm>
          <a:prstGeom prst="rect">
            <a:avLst/>
          </a:prstGeom>
        </p:spPr>
        <p:txBody>
          <a:bodyPr wrap="square">
            <a:spAutoFit/>
          </a:bodyPr>
          <a:lstStyle/>
          <a:p>
            <a:pPr eaLnBrk="1" hangingPunct="1">
              <a:lnSpc>
                <a:spcPct val="130000"/>
              </a:lnSpc>
              <a:spcBef>
                <a:spcPts val="0"/>
              </a:spcBef>
              <a:spcAft>
                <a:spcPts val="0"/>
              </a:spcAft>
              <a:buClr>
                <a:srgbClr val="A50021"/>
              </a:buClr>
              <a:buSzPct val="130000"/>
            </a:pPr>
            <a:r>
              <a:rPr lang="en-US" altLang="zh-CN"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1</a:t>
            </a:r>
            <a:r>
              <a:rPr lang="zh-CN" altLang="en-US"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）静止土压力</a:t>
            </a:r>
            <a:endParaRPr lang="en-US" altLang="zh-CN"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endParaRPr>
          </a:p>
          <a:p>
            <a:pPr eaLnBrk="1" hangingPunct="1">
              <a:lnSpc>
                <a:spcPct val="130000"/>
              </a:lnSpc>
              <a:spcBef>
                <a:spcPts val="0"/>
              </a:spcBef>
              <a:spcAft>
                <a:spcPts val="0"/>
              </a:spcAft>
              <a:buClr>
                <a:srgbClr val="A50021"/>
              </a:buClr>
              <a:buSzPct val="130000"/>
            </a:pPr>
            <a:r>
              <a:rPr lang="en-US" altLang="zh-CN"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2</a:t>
            </a:r>
            <a:r>
              <a:rPr lang="zh-CN" altLang="en-US"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）主动土压力</a:t>
            </a:r>
            <a:endParaRPr lang="en-US" altLang="zh-CN"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endParaRPr>
          </a:p>
          <a:p>
            <a:pPr eaLnBrk="1" hangingPunct="1">
              <a:lnSpc>
                <a:spcPct val="130000"/>
              </a:lnSpc>
              <a:spcBef>
                <a:spcPts val="0"/>
              </a:spcBef>
              <a:spcAft>
                <a:spcPts val="0"/>
              </a:spcAft>
              <a:buClr>
                <a:srgbClr val="A50021"/>
              </a:buClr>
              <a:buSzPct val="130000"/>
            </a:pPr>
            <a:r>
              <a:rPr lang="en-US" altLang="zh-CN"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3</a:t>
            </a:r>
            <a:r>
              <a:rPr lang="zh-CN" altLang="en-US" sz="24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）被动土压力</a:t>
            </a:r>
            <a:endParaRPr lang="zh-CN" altLang="en-US" sz="24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8"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331413988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left)">
                                      <p:cBhvr>
                                        <p:cTn id="7" dur="1000"/>
                                        <p:tgtEl>
                                          <p:spTgt spid="27">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animEffect transition="in" filter="wipe(left)">
                                      <p:cBhvr>
                                        <p:cTn id="11" dur="1000"/>
                                        <p:tgtEl>
                                          <p:spTgt spid="27">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uiExpand="1" build="p"/>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18</a:t>
            </a:fld>
            <a:endParaRPr lang="zh-CN" altLang="en-US" dirty="0">
              <a:solidFill>
                <a:srgbClr val="C00000"/>
              </a:solidFill>
            </a:endParaRPr>
          </a:p>
        </p:txBody>
      </p:sp>
      <p:sp>
        <p:nvSpPr>
          <p:cNvPr id="15" name="Text Box 5"/>
          <p:cNvSpPr txBox="1">
            <a:spLocks noChangeArrowheads="1"/>
          </p:cNvSpPr>
          <p:nvPr/>
        </p:nvSpPr>
        <p:spPr bwMode="auto">
          <a:xfrm>
            <a:off x="1059257" y="1475760"/>
            <a:ext cx="4406041" cy="318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挡土墙具有足够的截面和重量，并且建立在坚实的地基上</a:t>
            </a:r>
            <a:endParaRPr lang="en-US" altLang="zh-CN" sz="22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墙在墙后填土的推力作用下，不产生任何移动或转动</a:t>
            </a:r>
            <a:endParaRPr lang="en-US" altLang="zh-CN" sz="22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墙后土体没有水平位移，处于</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弹性平衡状态</a:t>
            </a:r>
            <a:r>
              <a:rPr lang="zh-CN" altLang="en-US" sz="2200" b="1" dirty="0" smtClean="0">
                <a:solidFill>
                  <a:srgbClr val="000066"/>
                </a:solidFill>
                <a:ea typeface="幼圆" pitchFamily="49" charset="-122"/>
                <a:cs typeface="Times New Roman" panose="02020603050405020304" pitchFamily="18" charset="0"/>
                <a:sym typeface="Symbol" pitchFamily="18" charset="2"/>
              </a:rPr>
              <a:t>，这时作用于墙背上的土压力称</a:t>
            </a:r>
            <a:r>
              <a:rPr lang="zh-CN" altLang="en-US" sz="2200" b="1" dirty="0" smtClean="0">
                <a:solidFill>
                  <a:srgbClr val="C00000"/>
                </a:solidFill>
                <a:ea typeface="黑体" panose="02010609060101010101" pitchFamily="49" charset="-122"/>
                <a:cs typeface="Times New Roman" panose="02020603050405020304" pitchFamily="18" charset="0"/>
                <a:sym typeface="Symbol" pitchFamily="18" charset="2"/>
              </a:rPr>
              <a:t>静止土压力 </a:t>
            </a:r>
            <a:r>
              <a:rPr lang="en-US" altLang="zh-CN" sz="2200" b="1" i="1" dirty="0"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200" b="1" baseline="-25000" dirty="0" smtClean="0">
                <a:solidFill>
                  <a:srgbClr val="C00000"/>
                </a:solidFill>
                <a:ea typeface="黑体" panose="02010609060101010101" pitchFamily="49" charset="-122"/>
                <a:cs typeface="Times New Roman" panose="02020603050405020304" pitchFamily="18" charset="0"/>
                <a:sym typeface="Symbol" pitchFamily="18" charset="2"/>
              </a:rPr>
              <a:t>0</a:t>
            </a:r>
          </a:p>
        </p:txBody>
      </p:sp>
      <p:sp>
        <p:nvSpPr>
          <p:cNvPr id="39" name="Text Box 46"/>
          <p:cNvSpPr txBox="1">
            <a:spLocks noChangeArrowheads="1"/>
          </p:cNvSpPr>
          <p:nvPr/>
        </p:nvSpPr>
        <p:spPr bwMode="auto">
          <a:xfrm>
            <a:off x="384650" y="67007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一、静止土压力</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6167536" y="3420876"/>
            <a:ext cx="2007072" cy="2024448"/>
            <a:chOff x="6167536" y="3420876"/>
            <a:chExt cx="2007072" cy="2024448"/>
          </a:xfrm>
        </p:grpSpPr>
        <p:sp>
          <p:nvSpPr>
            <p:cNvPr id="59" name="Text Box 52"/>
            <p:cNvSpPr txBox="1">
              <a:spLocks noChangeArrowheads="1"/>
            </p:cNvSpPr>
            <p:nvPr/>
          </p:nvSpPr>
          <p:spPr bwMode="auto">
            <a:xfrm>
              <a:off x="7183256" y="4497507"/>
              <a:ext cx="761962" cy="34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a:defRPr sz="2000" b="1">
                  <a:solidFill>
                    <a:srgbClr val="000000"/>
                  </a:solidFill>
                  <a:latin typeface="微软雅黑" pitchFamily="34" charset="-122"/>
                  <a:ea typeface="微软雅黑" pitchFamily="34" charset="-122"/>
                </a:defRPr>
              </a:lvl1pPr>
            </a:lstStyle>
            <a:p>
              <a:r>
                <a:rPr lang="zh-CN" altLang="en-US" sz="1400" dirty="0" smtClean="0">
                  <a:latin typeface="幼圆" panose="02010509060101010101" pitchFamily="49" charset="-122"/>
                  <a:ea typeface="幼圆" panose="02010509060101010101" pitchFamily="49" charset="-122"/>
                </a:rPr>
                <a:t>地下室</a:t>
              </a:r>
              <a:endParaRPr lang="zh-CN" altLang="en-US" sz="1400" dirty="0">
                <a:latin typeface="幼圆" panose="02010509060101010101" pitchFamily="49" charset="-122"/>
                <a:ea typeface="幼圆" panose="02010509060101010101" pitchFamily="49" charset="-122"/>
              </a:endParaRPr>
            </a:p>
          </p:txBody>
        </p:sp>
        <p:sp>
          <p:nvSpPr>
            <p:cNvPr id="60" name="Rectangle 53"/>
            <p:cNvSpPr>
              <a:spLocks noChangeArrowheads="1"/>
            </p:cNvSpPr>
            <p:nvPr/>
          </p:nvSpPr>
          <p:spPr bwMode="auto">
            <a:xfrm>
              <a:off x="7586826" y="3766119"/>
              <a:ext cx="468764" cy="48662"/>
            </a:xfrm>
            <a:prstGeom prst="rect">
              <a:avLst/>
            </a:prstGeom>
            <a:solidFill>
              <a:schemeClr val="accent6">
                <a:lumMod val="75000"/>
              </a:schemeClr>
            </a:solidFill>
            <a:ln w="9525">
              <a:solidFill>
                <a:schemeClr val="tx1"/>
              </a:solidFill>
              <a:miter lim="800000"/>
              <a:headEnd/>
              <a:tailEnd/>
            </a:ln>
            <a:effectLst/>
            <a:extLst/>
          </p:spPr>
          <p:txBody>
            <a:bodyPr wrap="none" anchor="ctr"/>
            <a:lstStyle/>
            <a:p>
              <a:endParaRPr lang="zh-CN" altLang="en-US"/>
            </a:p>
          </p:txBody>
        </p:sp>
        <p:sp>
          <p:nvSpPr>
            <p:cNvPr id="61" name="Rectangle 54"/>
            <p:cNvSpPr>
              <a:spLocks noChangeArrowheads="1"/>
            </p:cNvSpPr>
            <p:nvPr/>
          </p:nvSpPr>
          <p:spPr bwMode="auto">
            <a:xfrm>
              <a:off x="7766398" y="3815164"/>
              <a:ext cx="106490" cy="301093"/>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62" name="Freeform 55"/>
            <p:cNvSpPr>
              <a:spLocks noChangeAspect="1"/>
            </p:cNvSpPr>
            <p:nvPr/>
          </p:nvSpPr>
          <p:spPr bwMode="auto">
            <a:xfrm>
              <a:off x="7416651" y="3495822"/>
              <a:ext cx="141986" cy="129764"/>
            </a:xfrm>
            <a:custGeom>
              <a:avLst/>
              <a:gdLst>
                <a:gd name="T0" fmla="*/ 12 w 132"/>
                <a:gd name="T1" fmla="*/ 102 h 132"/>
                <a:gd name="T2" fmla="*/ 72 w 132"/>
                <a:gd name="T3" fmla="*/ 0 h 132"/>
                <a:gd name="T4" fmla="*/ 132 w 132"/>
                <a:gd name="T5" fmla="*/ 51 h 132"/>
                <a:gd name="T6" fmla="*/ 105 w 132"/>
                <a:gd name="T7" fmla="*/ 117 h 132"/>
                <a:gd name="T8" fmla="*/ 63 w 132"/>
                <a:gd name="T9" fmla="*/ 132 h 132"/>
                <a:gd name="T10" fmla="*/ 33 w 132"/>
                <a:gd name="T11" fmla="*/ 129 h 132"/>
                <a:gd name="T12" fmla="*/ 15 w 132"/>
                <a:gd name="T13" fmla="*/ 117 h 132"/>
                <a:gd name="T14" fmla="*/ 12 w 132"/>
                <a:gd name="T15" fmla="*/ 10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132">
                  <a:moveTo>
                    <a:pt x="12" y="102"/>
                  </a:moveTo>
                  <a:cubicBezTo>
                    <a:pt x="0" y="44"/>
                    <a:pt x="19" y="13"/>
                    <a:pt x="72" y="0"/>
                  </a:cubicBezTo>
                  <a:cubicBezTo>
                    <a:pt x="113" y="4"/>
                    <a:pt x="124" y="11"/>
                    <a:pt x="132" y="51"/>
                  </a:cubicBezTo>
                  <a:cubicBezTo>
                    <a:pt x="129" y="78"/>
                    <a:pt x="121" y="96"/>
                    <a:pt x="105" y="117"/>
                  </a:cubicBezTo>
                  <a:cubicBezTo>
                    <a:pt x="96" y="129"/>
                    <a:pt x="63" y="132"/>
                    <a:pt x="63" y="132"/>
                  </a:cubicBezTo>
                  <a:cubicBezTo>
                    <a:pt x="53" y="131"/>
                    <a:pt x="43" y="132"/>
                    <a:pt x="33" y="129"/>
                  </a:cubicBezTo>
                  <a:cubicBezTo>
                    <a:pt x="26" y="127"/>
                    <a:pt x="15" y="117"/>
                    <a:pt x="15" y="117"/>
                  </a:cubicBezTo>
                  <a:cubicBezTo>
                    <a:pt x="8" y="106"/>
                    <a:pt x="7" y="111"/>
                    <a:pt x="12" y="102"/>
                  </a:cubicBezTo>
                  <a:close/>
                </a:path>
              </a:pathLst>
            </a:custGeom>
            <a:solidFill>
              <a:srgbClr val="000000"/>
            </a:solidFill>
            <a:ln w="9525" cap="flat" cmpd="sng">
              <a:solidFill>
                <a:schemeClr val="tx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Rectangle 56" descr="横向砖形"/>
            <p:cNvSpPr>
              <a:spLocks noChangeArrowheads="1"/>
            </p:cNvSpPr>
            <p:nvPr/>
          </p:nvSpPr>
          <p:spPr bwMode="auto">
            <a:xfrm>
              <a:off x="6806945" y="3420876"/>
              <a:ext cx="241168" cy="705518"/>
            </a:xfrm>
            <a:prstGeom prst="rect">
              <a:avLst/>
            </a:prstGeom>
            <a:pattFill prst="horzBrick">
              <a:fgClr>
                <a:srgbClr val="800000"/>
              </a:fgClr>
              <a:bgClr>
                <a:srgbClr val="FA936A"/>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57" descr="栎木"/>
            <p:cNvSpPr>
              <a:spLocks noChangeArrowheads="1"/>
            </p:cNvSpPr>
            <p:nvPr/>
          </p:nvSpPr>
          <p:spPr bwMode="auto">
            <a:xfrm>
              <a:off x="6180534" y="4250076"/>
              <a:ext cx="761089" cy="1195248"/>
            </a:xfrm>
            <a:prstGeom prst="rect">
              <a:avLst/>
            </a:prstGeom>
            <a:pattFill prst="pct5">
              <a:fgClr>
                <a:schemeClr val="tx1">
                  <a:lumMod val="95000"/>
                  <a:lumOff val="5000"/>
                </a:schemeClr>
              </a:fgClr>
              <a:bgClr>
                <a:schemeClr val="accent6">
                  <a:lumMod val="40000"/>
                  <a:lumOff val="60000"/>
                </a:schemeClr>
              </a:bgClr>
            </a:pattFill>
            <a:ln>
              <a:noFill/>
            </a:ln>
            <a:effectLst/>
            <a:extLst/>
          </p:spPr>
          <p:txBody>
            <a:bodyPr wrap="none" anchor="ctr"/>
            <a:lstStyle/>
            <a:p>
              <a:endParaRPr lang="zh-CN" altLang="en-US"/>
            </a:p>
          </p:txBody>
        </p:sp>
        <p:sp>
          <p:nvSpPr>
            <p:cNvPr id="65" name="Rectangle 58" descr="栎木"/>
            <p:cNvSpPr>
              <a:spLocks noChangeArrowheads="1"/>
            </p:cNvSpPr>
            <p:nvPr/>
          </p:nvSpPr>
          <p:spPr bwMode="auto">
            <a:xfrm>
              <a:off x="6941623" y="5024605"/>
              <a:ext cx="1232985" cy="420719"/>
            </a:xfrm>
            <a:prstGeom prst="rect">
              <a:avLst/>
            </a:prstGeom>
            <a:pattFill prst="pct5">
              <a:fgClr>
                <a:schemeClr val="tx1"/>
              </a:fgClr>
              <a:bgClr>
                <a:srgbClr val="F5D0AB"/>
              </a:bgClr>
            </a:pattFill>
            <a:ln>
              <a:noFill/>
            </a:ln>
            <a:effectLst/>
            <a:extLst/>
          </p:spPr>
          <p:txBody>
            <a:bodyPr wrap="none" anchor="ctr"/>
            <a:lstStyle/>
            <a:p>
              <a:endParaRPr lang="zh-CN" altLang="en-US"/>
            </a:p>
          </p:txBody>
        </p:sp>
        <p:sp>
          <p:nvSpPr>
            <p:cNvPr id="66" name="Rectangle 59" descr="横向砖形"/>
            <p:cNvSpPr>
              <a:spLocks noChangeArrowheads="1"/>
            </p:cNvSpPr>
            <p:nvPr/>
          </p:nvSpPr>
          <p:spPr bwMode="auto">
            <a:xfrm>
              <a:off x="6812165" y="4240952"/>
              <a:ext cx="230728" cy="912403"/>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Rectangle 60" descr="横向砖形"/>
            <p:cNvSpPr>
              <a:spLocks noChangeArrowheads="1"/>
            </p:cNvSpPr>
            <p:nvPr/>
          </p:nvSpPr>
          <p:spPr bwMode="auto">
            <a:xfrm>
              <a:off x="6661826" y="5153355"/>
              <a:ext cx="539757" cy="221004"/>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Rectangle 61"/>
            <p:cNvSpPr>
              <a:spLocks noChangeArrowheads="1"/>
            </p:cNvSpPr>
            <p:nvPr/>
          </p:nvSpPr>
          <p:spPr bwMode="auto">
            <a:xfrm>
              <a:off x="7033497" y="5030960"/>
              <a:ext cx="1107703" cy="115571"/>
            </a:xfrm>
            <a:prstGeom prst="rect">
              <a:avLst/>
            </a:prstGeom>
            <a:pattFill prst="dkUpDiag">
              <a:fgClr>
                <a:srgbClr val="9966FF"/>
              </a:fgClr>
              <a:bgClr>
                <a:schemeClr val="bg1"/>
              </a:bgClr>
            </a:pattFill>
            <a:ln w="9525">
              <a:solidFill>
                <a:srgbClr val="000066"/>
              </a:solidFill>
              <a:miter lim="800000"/>
              <a:headEnd/>
              <a:tailEnd/>
            </a:ln>
            <a:effectLst/>
            <a:extLst/>
          </p:spPr>
          <p:txBody>
            <a:bodyPr wrap="none" anchor="ctr"/>
            <a:lstStyle/>
            <a:p>
              <a:endParaRPr lang="zh-CN" altLang="en-US"/>
            </a:p>
          </p:txBody>
        </p:sp>
        <p:sp>
          <p:nvSpPr>
            <p:cNvPr id="69" name="Rectangle 63"/>
            <p:cNvSpPr>
              <a:spLocks noChangeArrowheads="1"/>
            </p:cNvSpPr>
            <p:nvPr/>
          </p:nvSpPr>
          <p:spPr bwMode="auto">
            <a:xfrm>
              <a:off x="6812165" y="4126394"/>
              <a:ext cx="1290406" cy="114557"/>
            </a:xfrm>
            <a:prstGeom prst="rect">
              <a:avLst/>
            </a:prstGeom>
            <a:pattFill prst="dkUpDiag">
              <a:fgClr>
                <a:srgbClr val="9966FF"/>
              </a:fgClr>
              <a:bgClr>
                <a:schemeClr val="bg1"/>
              </a:bgClr>
            </a:pattFill>
            <a:ln w="9525">
              <a:solidFill>
                <a:srgbClr val="000066"/>
              </a:solidFill>
              <a:miter lim="800000"/>
              <a:headEnd/>
              <a:tailEnd/>
            </a:ln>
            <a:effectLst/>
            <a:extLst/>
          </p:spPr>
          <p:txBody>
            <a:bodyPr wrap="none" anchor="ctr"/>
            <a:lstStyle/>
            <a:p>
              <a:endParaRPr lang="zh-CN" altLang="en-US"/>
            </a:p>
          </p:txBody>
        </p:sp>
        <p:sp>
          <p:nvSpPr>
            <p:cNvPr id="70" name="Line 65"/>
            <p:cNvSpPr>
              <a:spLocks noChangeShapeType="1"/>
            </p:cNvSpPr>
            <p:nvPr/>
          </p:nvSpPr>
          <p:spPr bwMode="auto">
            <a:xfrm>
              <a:off x="6449975" y="4843563"/>
              <a:ext cx="375762" cy="0"/>
            </a:xfrm>
            <a:prstGeom prst="line">
              <a:avLst/>
            </a:prstGeom>
            <a:noFill/>
            <a:ln w="3810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66"/>
            <p:cNvSpPr txBox="1">
              <a:spLocks noChangeArrowheads="1"/>
            </p:cNvSpPr>
            <p:nvPr/>
          </p:nvSpPr>
          <p:spPr bwMode="auto">
            <a:xfrm>
              <a:off x="6239200" y="4851755"/>
              <a:ext cx="48772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ea typeface="楷体_GB2312" pitchFamily="49" charset="-122"/>
                </a:rPr>
                <a:t>E</a:t>
              </a:r>
              <a:r>
                <a:rPr lang="en-US" altLang="zh-CN" sz="2000" b="1" baseline="-25000" dirty="0" smtClean="0">
                  <a:solidFill>
                    <a:srgbClr val="000066"/>
                  </a:solidFill>
                  <a:ea typeface="楷体_GB2312" pitchFamily="49" charset="-122"/>
                </a:rPr>
                <a:t>0</a:t>
              </a:r>
              <a:endParaRPr lang="en-US" altLang="zh-CN" sz="2000" b="1" baseline="-25000" dirty="0">
                <a:solidFill>
                  <a:srgbClr val="000066"/>
                </a:solidFill>
                <a:ea typeface="楷体_GB2312" pitchFamily="49" charset="-122"/>
              </a:endParaRPr>
            </a:p>
          </p:txBody>
        </p:sp>
        <p:sp>
          <p:nvSpPr>
            <p:cNvPr id="72" name="Text Box 67"/>
            <p:cNvSpPr txBox="1">
              <a:spLocks noChangeArrowheads="1"/>
            </p:cNvSpPr>
            <p:nvPr/>
          </p:nvSpPr>
          <p:spPr bwMode="auto">
            <a:xfrm>
              <a:off x="6167536" y="4306182"/>
              <a:ext cx="80911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800" b="1" dirty="0">
                  <a:solidFill>
                    <a:srgbClr val="000000"/>
                  </a:solidFill>
                  <a:latin typeface="幼圆" panose="02010509060101010101" pitchFamily="49" charset="-122"/>
                  <a:ea typeface="幼圆" panose="02010509060101010101" pitchFamily="49" charset="-122"/>
                </a:rPr>
                <a:t>填土</a:t>
              </a:r>
            </a:p>
          </p:txBody>
        </p:sp>
        <p:sp>
          <p:nvSpPr>
            <p:cNvPr id="73" name="Freeform 68"/>
            <p:cNvSpPr>
              <a:spLocks/>
            </p:cNvSpPr>
            <p:nvPr/>
          </p:nvSpPr>
          <p:spPr bwMode="auto">
            <a:xfrm>
              <a:off x="7554462" y="3713785"/>
              <a:ext cx="211936" cy="49675"/>
            </a:xfrm>
            <a:custGeom>
              <a:avLst/>
              <a:gdLst>
                <a:gd name="T0" fmla="*/ 15 w 176"/>
                <a:gd name="T1" fmla="*/ 0 h 45"/>
                <a:gd name="T2" fmla="*/ 78 w 176"/>
                <a:gd name="T3" fmla="*/ 21 h 45"/>
                <a:gd name="T4" fmla="*/ 134 w 176"/>
                <a:gd name="T5" fmla="*/ 27 h 45"/>
                <a:gd name="T6" fmla="*/ 156 w 176"/>
                <a:gd name="T7" fmla="*/ 30 h 45"/>
                <a:gd name="T8" fmla="*/ 176 w 176"/>
                <a:gd name="T9" fmla="*/ 38 h 45"/>
                <a:gd name="T10" fmla="*/ 155 w 176"/>
                <a:gd name="T11" fmla="*/ 42 h 45"/>
                <a:gd name="T12" fmla="*/ 119 w 176"/>
                <a:gd name="T13" fmla="*/ 41 h 45"/>
                <a:gd name="T14" fmla="*/ 24 w 176"/>
                <a:gd name="T15" fmla="*/ 42 h 45"/>
                <a:gd name="T16" fmla="*/ 0 w 176"/>
                <a:gd name="T17" fmla="*/ 30 h 45"/>
                <a:gd name="T18" fmla="*/ 15 w 176"/>
                <a:gd name="T1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45">
                  <a:moveTo>
                    <a:pt x="15" y="0"/>
                  </a:moveTo>
                  <a:cubicBezTo>
                    <a:pt x="42" y="16"/>
                    <a:pt x="42" y="20"/>
                    <a:pt x="78" y="21"/>
                  </a:cubicBezTo>
                  <a:cubicBezTo>
                    <a:pt x="97" y="24"/>
                    <a:pt x="115" y="25"/>
                    <a:pt x="134" y="27"/>
                  </a:cubicBezTo>
                  <a:cubicBezTo>
                    <a:pt x="144" y="30"/>
                    <a:pt x="145" y="32"/>
                    <a:pt x="156" y="30"/>
                  </a:cubicBezTo>
                  <a:cubicBezTo>
                    <a:pt x="166" y="32"/>
                    <a:pt x="171" y="30"/>
                    <a:pt x="176" y="38"/>
                  </a:cubicBezTo>
                  <a:cubicBezTo>
                    <a:pt x="168" y="40"/>
                    <a:pt x="164" y="41"/>
                    <a:pt x="155" y="42"/>
                  </a:cubicBezTo>
                  <a:cubicBezTo>
                    <a:pt x="143" y="45"/>
                    <a:pt x="131" y="42"/>
                    <a:pt x="119" y="41"/>
                  </a:cubicBezTo>
                  <a:cubicBezTo>
                    <a:pt x="82" y="43"/>
                    <a:pt x="74" y="43"/>
                    <a:pt x="24" y="42"/>
                  </a:cubicBezTo>
                  <a:cubicBezTo>
                    <a:pt x="14" y="41"/>
                    <a:pt x="7" y="37"/>
                    <a:pt x="0" y="30"/>
                  </a:cubicBezTo>
                  <a:cubicBezTo>
                    <a:pt x="8" y="19"/>
                    <a:pt x="18" y="16"/>
                    <a:pt x="15" y="0"/>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Freeform 69"/>
            <p:cNvSpPr>
              <a:spLocks/>
            </p:cNvSpPr>
            <p:nvPr/>
          </p:nvSpPr>
          <p:spPr bwMode="auto">
            <a:xfrm>
              <a:off x="7357142" y="3889170"/>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Freeform 70"/>
            <p:cNvSpPr>
              <a:spLocks/>
            </p:cNvSpPr>
            <p:nvPr/>
          </p:nvSpPr>
          <p:spPr bwMode="auto">
            <a:xfrm>
              <a:off x="7387419" y="3915528"/>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Freeform 71"/>
            <p:cNvSpPr>
              <a:spLocks/>
            </p:cNvSpPr>
            <p:nvPr/>
          </p:nvSpPr>
          <p:spPr bwMode="auto">
            <a:xfrm>
              <a:off x="7265269" y="3600242"/>
              <a:ext cx="311117" cy="354823"/>
            </a:xfrm>
            <a:custGeom>
              <a:avLst/>
              <a:gdLst>
                <a:gd name="T0" fmla="*/ 202 w 273"/>
                <a:gd name="T1" fmla="*/ 38 h 311"/>
                <a:gd name="T2" fmla="*/ 187 w 273"/>
                <a:gd name="T3" fmla="*/ 14 h 311"/>
                <a:gd name="T4" fmla="*/ 163 w 273"/>
                <a:gd name="T5" fmla="*/ 6 h 311"/>
                <a:gd name="T6" fmla="*/ 150 w 273"/>
                <a:gd name="T7" fmla="*/ 0 h 311"/>
                <a:gd name="T8" fmla="*/ 141 w 273"/>
                <a:gd name="T9" fmla="*/ 20 h 311"/>
                <a:gd name="T10" fmla="*/ 130 w 273"/>
                <a:gd name="T11" fmla="*/ 15 h 311"/>
                <a:gd name="T12" fmla="*/ 79 w 273"/>
                <a:gd name="T13" fmla="*/ 51 h 311"/>
                <a:gd name="T14" fmla="*/ 64 w 273"/>
                <a:gd name="T15" fmla="*/ 75 h 311"/>
                <a:gd name="T16" fmla="*/ 55 w 273"/>
                <a:gd name="T17" fmla="*/ 96 h 311"/>
                <a:gd name="T18" fmla="*/ 21 w 273"/>
                <a:gd name="T19" fmla="*/ 158 h 311"/>
                <a:gd name="T20" fmla="*/ 12 w 273"/>
                <a:gd name="T21" fmla="*/ 179 h 311"/>
                <a:gd name="T22" fmla="*/ 7 w 273"/>
                <a:gd name="T23" fmla="*/ 189 h 311"/>
                <a:gd name="T24" fmla="*/ 18 w 273"/>
                <a:gd name="T25" fmla="*/ 263 h 311"/>
                <a:gd name="T26" fmla="*/ 51 w 273"/>
                <a:gd name="T27" fmla="*/ 272 h 311"/>
                <a:gd name="T28" fmla="*/ 85 w 273"/>
                <a:gd name="T29" fmla="*/ 266 h 311"/>
                <a:gd name="T30" fmla="*/ 85 w 273"/>
                <a:gd name="T31" fmla="*/ 270 h 311"/>
                <a:gd name="T32" fmla="*/ 81 w 273"/>
                <a:gd name="T33" fmla="*/ 272 h 311"/>
                <a:gd name="T34" fmla="*/ 76 w 273"/>
                <a:gd name="T35" fmla="*/ 273 h 311"/>
                <a:gd name="T36" fmla="*/ 82 w 273"/>
                <a:gd name="T37" fmla="*/ 272 h 311"/>
                <a:gd name="T38" fmla="*/ 102 w 273"/>
                <a:gd name="T39" fmla="*/ 270 h 311"/>
                <a:gd name="T40" fmla="*/ 106 w 273"/>
                <a:gd name="T41" fmla="*/ 275 h 311"/>
                <a:gd name="T42" fmla="*/ 117 w 273"/>
                <a:gd name="T43" fmla="*/ 273 h 311"/>
                <a:gd name="T44" fmla="*/ 97 w 273"/>
                <a:gd name="T45" fmla="*/ 278 h 311"/>
                <a:gd name="T46" fmla="*/ 96 w 273"/>
                <a:gd name="T47" fmla="*/ 267 h 311"/>
                <a:gd name="T48" fmla="*/ 115 w 273"/>
                <a:gd name="T49" fmla="*/ 273 h 311"/>
                <a:gd name="T50" fmla="*/ 169 w 273"/>
                <a:gd name="T51" fmla="*/ 281 h 311"/>
                <a:gd name="T52" fmla="*/ 157 w 273"/>
                <a:gd name="T53" fmla="*/ 288 h 311"/>
                <a:gd name="T54" fmla="*/ 195 w 273"/>
                <a:gd name="T55" fmla="*/ 297 h 311"/>
                <a:gd name="T56" fmla="*/ 219 w 273"/>
                <a:gd name="T57" fmla="*/ 297 h 311"/>
                <a:gd name="T58" fmla="*/ 238 w 273"/>
                <a:gd name="T59" fmla="*/ 311 h 311"/>
                <a:gd name="T60" fmla="*/ 249 w 273"/>
                <a:gd name="T61" fmla="*/ 294 h 311"/>
                <a:gd name="T62" fmla="*/ 264 w 273"/>
                <a:gd name="T63" fmla="*/ 267 h 311"/>
                <a:gd name="T64" fmla="*/ 256 w 273"/>
                <a:gd name="T65" fmla="*/ 224 h 311"/>
                <a:gd name="T66" fmla="*/ 244 w 273"/>
                <a:gd name="T67" fmla="*/ 215 h 311"/>
                <a:gd name="T68" fmla="*/ 210 w 273"/>
                <a:gd name="T69" fmla="*/ 210 h 311"/>
                <a:gd name="T70" fmla="*/ 193 w 273"/>
                <a:gd name="T71" fmla="*/ 206 h 311"/>
                <a:gd name="T72" fmla="*/ 147 w 273"/>
                <a:gd name="T73" fmla="*/ 192 h 311"/>
                <a:gd name="T74" fmla="*/ 156 w 273"/>
                <a:gd name="T75" fmla="*/ 168 h 311"/>
                <a:gd name="T76" fmla="*/ 177 w 273"/>
                <a:gd name="T77" fmla="*/ 149 h 311"/>
                <a:gd name="T78" fmla="*/ 201 w 273"/>
                <a:gd name="T79" fmla="*/ 128 h 311"/>
                <a:gd name="T80" fmla="*/ 202 w 273"/>
                <a:gd name="T81" fmla="*/ 117 h 311"/>
                <a:gd name="T82" fmla="*/ 213 w 273"/>
                <a:gd name="T83" fmla="*/ 134 h 311"/>
                <a:gd name="T84" fmla="*/ 219 w 273"/>
                <a:gd name="T85" fmla="*/ 135 h 311"/>
                <a:gd name="T86" fmla="*/ 231 w 273"/>
                <a:gd name="T87" fmla="*/ 143 h 311"/>
                <a:gd name="T88" fmla="*/ 247 w 273"/>
                <a:gd name="T89" fmla="*/ 135 h 311"/>
                <a:gd name="T90" fmla="*/ 256 w 273"/>
                <a:gd name="T91" fmla="*/ 128 h 311"/>
                <a:gd name="T92" fmla="*/ 273 w 273"/>
                <a:gd name="T93" fmla="*/ 105 h 311"/>
                <a:gd name="T94" fmla="*/ 250 w 273"/>
                <a:gd name="T95" fmla="*/ 72 h 311"/>
                <a:gd name="T96" fmla="*/ 211 w 273"/>
                <a:gd name="T97" fmla="*/ 35 h 311"/>
                <a:gd name="T98" fmla="*/ 202 w 273"/>
                <a:gd name="T99" fmla="*/ 3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73" h="311">
                  <a:moveTo>
                    <a:pt x="202" y="38"/>
                  </a:moveTo>
                  <a:cubicBezTo>
                    <a:pt x="201" y="17"/>
                    <a:pt x="203" y="17"/>
                    <a:pt x="187" y="14"/>
                  </a:cubicBezTo>
                  <a:cubicBezTo>
                    <a:pt x="179" y="10"/>
                    <a:pt x="171" y="9"/>
                    <a:pt x="163" y="6"/>
                  </a:cubicBezTo>
                  <a:cubicBezTo>
                    <a:pt x="159" y="3"/>
                    <a:pt x="155" y="2"/>
                    <a:pt x="150" y="0"/>
                  </a:cubicBezTo>
                  <a:cubicBezTo>
                    <a:pt x="143" y="4"/>
                    <a:pt x="142" y="12"/>
                    <a:pt x="141" y="20"/>
                  </a:cubicBezTo>
                  <a:cubicBezTo>
                    <a:pt x="138" y="8"/>
                    <a:pt x="139" y="13"/>
                    <a:pt x="130" y="15"/>
                  </a:cubicBezTo>
                  <a:cubicBezTo>
                    <a:pt x="118" y="29"/>
                    <a:pt x="95" y="41"/>
                    <a:pt x="79" y="51"/>
                  </a:cubicBezTo>
                  <a:cubicBezTo>
                    <a:pt x="77" y="60"/>
                    <a:pt x="70" y="67"/>
                    <a:pt x="64" y="75"/>
                  </a:cubicBezTo>
                  <a:cubicBezTo>
                    <a:pt x="62" y="83"/>
                    <a:pt x="59" y="89"/>
                    <a:pt x="55" y="96"/>
                  </a:cubicBezTo>
                  <a:cubicBezTo>
                    <a:pt x="51" y="117"/>
                    <a:pt x="31" y="139"/>
                    <a:pt x="21" y="158"/>
                  </a:cubicBezTo>
                  <a:cubicBezTo>
                    <a:pt x="17" y="165"/>
                    <a:pt x="15" y="172"/>
                    <a:pt x="12" y="179"/>
                  </a:cubicBezTo>
                  <a:cubicBezTo>
                    <a:pt x="11" y="182"/>
                    <a:pt x="7" y="189"/>
                    <a:pt x="7" y="189"/>
                  </a:cubicBezTo>
                  <a:cubicBezTo>
                    <a:pt x="3" y="211"/>
                    <a:pt x="0" y="245"/>
                    <a:pt x="18" y="263"/>
                  </a:cubicBezTo>
                  <a:cubicBezTo>
                    <a:pt x="24" y="269"/>
                    <a:pt x="43" y="270"/>
                    <a:pt x="51" y="272"/>
                  </a:cubicBezTo>
                  <a:cubicBezTo>
                    <a:pt x="64" y="271"/>
                    <a:pt x="73" y="268"/>
                    <a:pt x="85" y="266"/>
                  </a:cubicBezTo>
                  <a:cubicBezTo>
                    <a:pt x="106" y="268"/>
                    <a:pt x="92" y="269"/>
                    <a:pt x="85" y="270"/>
                  </a:cubicBezTo>
                  <a:cubicBezTo>
                    <a:pt x="84" y="271"/>
                    <a:pt x="82" y="272"/>
                    <a:pt x="81" y="272"/>
                  </a:cubicBezTo>
                  <a:cubicBezTo>
                    <a:pt x="79" y="273"/>
                    <a:pt x="74" y="273"/>
                    <a:pt x="76" y="273"/>
                  </a:cubicBezTo>
                  <a:cubicBezTo>
                    <a:pt x="78" y="273"/>
                    <a:pt x="80" y="272"/>
                    <a:pt x="82" y="272"/>
                  </a:cubicBezTo>
                  <a:cubicBezTo>
                    <a:pt x="90" y="269"/>
                    <a:pt x="94" y="269"/>
                    <a:pt x="102" y="270"/>
                  </a:cubicBezTo>
                  <a:cubicBezTo>
                    <a:pt x="103" y="272"/>
                    <a:pt x="104" y="275"/>
                    <a:pt x="106" y="275"/>
                  </a:cubicBezTo>
                  <a:cubicBezTo>
                    <a:pt x="110" y="276"/>
                    <a:pt x="121" y="272"/>
                    <a:pt x="117" y="273"/>
                  </a:cubicBezTo>
                  <a:cubicBezTo>
                    <a:pt x="110" y="275"/>
                    <a:pt x="104" y="276"/>
                    <a:pt x="97" y="278"/>
                  </a:cubicBezTo>
                  <a:cubicBezTo>
                    <a:pt x="83" y="275"/>
                    <a:pt x="84" y="271"/>
                    <a:pt x="96" y="267"/>
                  </a:cubicBezTo>
                  <a:cubicBezTo>
                    <a:pt x="104" y="270"/>
                    <a:pt x="106" y="272"/>
                    <a:pt x="115" y="273"/>
                  </a:cubicBezTo>
                  <a:cubicBezTo>
                    <a:pt x="132" y="280"/>
                    <a:pt x="151" y="277"/>
                    <a:pt x="169" y="281"/>
                  </a:cubicBezTo>
                  <a:cubicBezTo>
                    <a:pt x="162" y="282"/>
                    <a:pt x="160" y="282"/>
                    <a:pt x="157" y="288"/>
                  </a:cubicBezTo>
                  <a:cubicBezTo>
                    <a:pt x="169" y="295"/>
                    <a:pt x="182" y="291"/>
                    <a:pt x="195" y="297"/>
                  </a:cubicBezTo>
                  <a:cubicBezTo>
                    <a:pt x="200" y="305"/>
                    <a:pt x="211" y="300"/>
                    <a:pt x="219" y="297"/>
                  </a:cubicBezTo>
                  <a:cubicBezTo>
                    <a:pt x="226" y="302"/>
                    <a:pt x="231" y="307"/>
                    <a:pt x="238" y="311"/>
                  </a:cubicBezTo>
                  <a:cubicBezTo>
                    <a:pt x="242" y="304"/>
                    <a:pt x="243" y="298"/>
                    <a:pt x="249" y="294"/>
                  </a:cubicBezTo>
                  <a:cubicBezTo>
                    <a:pt x="254" y="285"/>
                    <a:pt x="259" y="276"/>
                    <a:pt x="264" y="267"/>
                  </a:cubicBezTo>
                  <a:cubicBezTo>
                    <a:pt x="267" y="251"/>
                    <a:pt x="270" y="236"/>
                    <a:pt x="256" y="224"/>
                  </a:cubicBezTo>
                  <a:cubicBezTo>
                    <a:pt x="252" y="218"/>
                    <a:pt x="251" y="216"/>
                    <a:pt x="244" y="215"/>
                  </a:cubicBezTo>
                  <a:cubicBezTo>
                    <a:pt x="233" y="210"/>
                    <a:pt x="222" y="211"/>
                    <a:pt x="210" y="210"/>
                  </a:cubicBezTo>
                  <a:cubicBezTo>
                    <a:pt x="204" y="209"/>
                    <a:pt x="199" y="207"/>
                    <a:pt x="193" y="206"/>
                  </a:cubicBezTo>
                  <a:cubicBezTo>
                    <a:pt x="178" y="200"/>
                    <a:pt x="162" y="198"/>
                    <a:pt x="147" y="192"/>
                  </a:cubicBezTo>
                  <a:cubicBezTo>
                    <a:pt x="152" y="188"/>
                    <a:pt x="152" y="175"/>
                    <a:pt x="156" y="168"/>
                  </a:cubicBezTo>
                  <a:cubicBezTo>
                    <a:pt x="158" y="156"/>
                    <a:pt x="166" y="151"/>
                    <a:pt x="177" y="149"/>
                  </a:cubicBezTo>
                  <a:cubicBezTo>
                    <a:pt x="188" y="143"/>
                    <a:pt x="195" y="139"/>
                    <a:pt x="201" y="128"/>
                  </a:cubicBezTo>
                  <a:cubicBezTo>
                    <a:pt x="201" y="124"/>
                    <a:pt x="199" y="119"/>
                    <a:pt x="202" y="117"/>
                  </a:cubicBezTo>
                  <a:cubicBezTo>
                    <a:pt x="210" y="112"/>
                    <a:pt x="211" y="132"/>
                    <a:pt x="213" y="134"/>
                  </a:cubicBezTo>
                  <a:cubicBezTo>
                    <a:pt x="215" y="135"/>
                    <a:pt x="217" y="135"/>
                    <a:pt x="219" y="135"/>
                  </a:cubicBezTo>
                  <a:cubicBezTo>
                    <a:pt x="224" y="138"/>
                    <a:pt x="226" y="141"/>
                    <a:pt x="231" y="143"/>
                  </a:cubicBezTo>
                  <a:cubicBezTo>
                    <a:pt x="240" y="141"/>
                    <a:pt x="241" y="141"/>
                    <a:pt x="247" y="135"/>
                  </a:cubicBezTo>
                  <a:cubicBezTo>
                    <a:pt x="250" y="132"/>
                    <a:pt x="256" y="128"/>
                    <a:pt x="256" y="128"/>
                  </a:cubicBezTo>
                  <a:cubicBezTo>
                    <a:pt x="261" y="120"/>
                    <a:pt x="268" y="113"/>
                    <a:pt x="273" y="105"/>
                  </a:cubicBezTo>
                  <a:cubicBezTo>
                    <a:pt x="270" y="80"/>
                    <a:pt x="270" y="84"/>
                    <a:pt x="250" y="72"/>
                  </a:cubicBezTo>
                  <a:cubicBezTo>
                    <a:pt x="241" y="59"/>
                    <a:pt x="227" y="38"/>
                    <a:pt x="211" y="35"/>
                  </a:cubicBezTo>
                  <a:cubicBezTo>
                    <a:pt x="200" y="37"/>
                    <a:pt x="206" y="44"/>
                    <a:pt x="202" y="38"/>
                  </a:cubicBezTo>
                  <a:close/>
                </a:path>
              </a:pathLst>
            </a:custGeom>
            <a:gradFill rotWithShape="1">
              <a:gsLst>
                <a:gs pos="0">
                  <a:srgbClr val="CC99FF"/>
                </a:gs>
                <a:gs pos="100000">
                  <a:srgbClr val="FF33CC">
                    <a:gamma/>
                    <a:shade val="46275"/>
                    <a:invGamma/>
                  </a:srgbClr>
                </a:gs>
              </a:gsLst>
              <a:lin ang="0" scaled="1"/>
            </a:gradFill>
            <a:ln w="9525" cap="flat" cmpd="sng">
              <a:solidFill>
                <a:srgbClr val="000000"/>
              </a:solidFill>
              <a:prstDash val="solid"/>
              <a:round/>
              <a:headEnd type="none" w="med" len="med"/>
              <a:tailEnd type="none" w="med" len="med"/>
            </a:ln>
            <a:effectLst/>
            <a:extLst/>
          </p:spPr>
          <p:txBody>
            <a:bodyPr/>
            <a:lstStyle/>
            <a:p>
              <a:endParaRPr lang="zh-CN" altLang="en-US"/>
            </a:p>
          </p:txBody>
        </p:sp>
        <p:sp>
          <p:nvSpPr>
            <p:cNvPr id="77" name="Rectangle 72"/>
            <p:cNvSpPr>
              <a:spLocks noChangeArrowheads="1"/>
            </p:cNvSpPr>
            <p:nvPr/>
          </p:nvSpPr>
          <p:spPr bwMode="auto">
            <a:xfrm>
              <a:off x="7253785" y="3967478"/>
              <a:ext cx="140942" cy="155109"/>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78" name="Rectangle 73"/>
            <p:cNvSpPr>
              <a:spLocks noChangeArrowheads="1"/>
            </p:cNvSpPr>
            <p:nvPr/>
          </p:nvSpPr>
          <p:spPr bwMode="auto">
            <a:xfrm>
              <a:off x="7193232" y="3916159"/>
              <a:ext cx="233860" cy="48662"/>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cxnSp>
          <p:nvCxnSpPr>
            <p:cNvPr id="79" name="直接连接符 78"/>
            <p:cNvCxnSpPr/>
            <p:nvPr/>
          </p:nvCxnSpPr>
          <p:spPr bwMode="auto">
            <a:xfrm flipH="1">
              <a:off x="6180534" y="4243252"/>
              <a:ext cx="626411"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5812528" y="1077353"/>
            <a:ext cx="2906163" cy="2030547"/>
            <a:chOff x="5812528" y="1077353"/>
            <a:chExt cx="2906163" cy="2030547"/>
          </a:xfrm>
        </p:grpSpPr>
        <p:sp>
          <p:nvSpPr>
            <p:cNvPr id="58" name="矩形 57"/>
            <p:cNvSpPr/>
            <p:nvPr/>
          </p:nvSpPr>
          <p:spPr bwMode="auto">
            <a:xfrm>
              <a:off x="5818101" y="2661699"/>
              <a:ext cx="2891536" cy="443640"/>
            </a:xfrm>
            <a:prstGeom prst="rect">
              <a:avLst/>
            </a:prstGeom>
            <a:solidFill>
              <a:srgbClr val="996633"/>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9" name="任意多边形 18"/>
            <p:cNvSpPr/>
            <p:nvPr/>
          </p:nvSpPr>
          <p:spPr bwMode="auto">
            <a:xfrm>
              <a:off x="7465714" y="1085054"/>
              <a:ext cx="1229246" cy="158400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 name="任意多边形 15"/>
            <p:cNvSpPr/>
            <p:nvPr/>
          </p:nvSpPr>
          <p:spPr bwMode="auto">
            <a:xfrm>
              <a:off x="6449452" y="1077353"/>
              <a:ext cx="1010750" cy="1584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5812528" y="2660707"/>
              <a:ext cx="290616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0" name="Group 12"/>
            <p:cNvGrpSpPr>
              <a:grpSpLocks/>
            </p:cNvGrpSpPr>
            <p:nvPr/>
          </p:nvGrpSpPr>
          <p:grpSpPr bwMode="auto">
            <a:xfrm>
              <a:off x="6027620" y="2663159"/>
              <a:ext cx="454614" cy="82278"/>
              <a:chOff x="2274" y="1204"/>
              <a:chExt cx="270" cy="44"/>
            </a:xfrm>
          </p:grpSpPr>
          <p:sp>
            <p:nvSpPr>
              <p:cNvPr id="41"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 name="Group 12"/>
            <p:cNvGrpSpPr>
              <a:grpSpLocks/>
            </p:cNvGrpSpPr>
            <p:nvPr/>
          </p:nvGrpSpPr>
          <p:grpSpPr bwMode="auto">
            <a:xfrm>
              <a:off x="7817119" y="2675127"/>
              <a:ext cx="454614" cy="82278"/>
              <a:chOff x="2274" y="1204"/>
              <a:chExt cx="270" cy="44"/>
            </a:xfrm>
          </p:grpSpPr>
          <p:sp>
            <p:nvSpPr>
              <p:cNvPr id="49"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56" name="直接连接符 55"/>
            <p:cNvCxnSpPr/>
            <p:nvPr/>
          </p:nvCxnSpPr>
          <p:spPr bwMode="auto">
            <a:xfrm>
              <a:off x="7460202" y="1086406"/>
              <a:ext cx="121159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53"/>
            <p:cNvSpPr txBox="1">
              <a:spLocks noChangeArrowheads="1"/>
            </p:cNvSpPr>
            <p:nvPr/>
          </p:nvSpPr>
          <p:spPr bwMode="auto">
            <a:xfrm>
              <a:off x="6738293" y="2697018"/>
              <a:ext cx="101167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chemeClr val="bg1"/>
                  </a:solidFill>
                  <a:latin typeface="黑体" panose="02010609060101010101" pitchFamily="49" charset="-122"/>
                  <a:ea typeface="黑体" panose="02010609060101010101" pitchFamily="49" charset="-122"/>
                </a:rPr>
                <a:t>岩  基</a:t>
              </a:r>
              <a:endParaRPr kumimoji="1" lang="zh-CN" altLang="en-US" sz="1800" b="1" dirty="0">
                <a:solidFill>
                  <a:schemeClr val="bg1"/>
                </a:solidFill>
                <a:latin typeface="黑体" panose="02010609060101010101" pitchFamily="49" charset="-122"/>
                <a:ea typeface="黑体" panose="02010609060101010101" pitchFamily="49" charset="-122"/>
              </a:endParaRPr>
            </a:p>
          </p:txBody>
        </p:sp>
        <p:sp>
          <p:nvSpPr>
            <p:cNvPr id="83" name="Line 65"/>
            <p:cNvSpPr>
              <a:spLocks noChangeShapeType="1"/>
            </p:cNvSpPr>
            <p:nvPr/>
          </p:nvSpPr>
          <p:spPr bwMode="auto">
            <a:xfrm flipH="1">
              <a:off x="7489623" y="2071670"/>
              <a:ext cx="531951" cy="0"/>
            </a:xfrm>
            <a:prstGeom prst="line">
              <a:avLst/>
            </a:prstGeom>
            <a:noFill/>
            <a:ln w="3810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Text Box 66"/>
            <p:cNvSpPr txBox="1">
              <a:spLocks noChangeArrowheads="1"/>
            </p:cNvSpPr>
            <p:nvPr/>
          </p:nvSpPr>
          <p:spPr bwMode="auto">
            <a:xfrm>
              <a:off x="7659096" y="1645297"/>
              <a:ext cx="48772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ea typeface="楷体_GB2312" pitchFamily="49" charset="-122"/>
                </a:rPr>
                <a:t>E</a:t>
              </a:r>
              <a:r>
                <a:rPr lang="en-US" altLang="zh-CN" sz="2000" b="1" baseline="-25000" dirty="0" smtClean="0">
                  <a:solidFill>
                    <a:srgbClr val="000066"/>
                  </a:solidFill>
                  <a:ea typeface="楷体_GB2312" pitchFamily="49" charset="-122"/>
                </a:rPr>
                <a:t>0</a:t>
              </a:r>
              <a:endParaRPr lang="en-US" altLang="zh-CN" sz="2000" b="1" baseline="-25000" dirty="0">
                <a:solidFill>
                  <a:srgbClr val="000066"/>
                </a:solidFill>
                <a:ea typeface="楷体_GB2312" pitchFamily="49" charset="-122"/>
              </a:endParaRPr>
            </a:p>
          </p:txBody>
        </p:sp>
      </p:grpSp>
      <p:sp>
        <p:nvSpPr>
          <p:cNvPr id="89"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0"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任意多边形 90"/>
          <p:cNvSpPr/>
          <p:nvPr/>
        </p:nvSpPr>
        <p:spPr bwMode="auto">
          <a:xfrm>
            <a:off x="5792598" y="906107"/>
            <a:ext cx="2634923" cy="260872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283274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283274 w 2227097"/>
              <a:gd name="connsiteY6" fmla="*/ 1525870 h 1828800"/>
              <a:gd name="connsiteX0" fmla="*/ 1788 w 1945611"/>
              <a:gd name="connsiteY0" fmla="*/ 1525870 h 1828800"/>
              <a:gd name="connsiteX1" fmla="*/ 1087309 w 1945611"/>
              <a:gd name="connsiteY1" fmla="*/ 1525870 h 1828800"/>
              <a:gd name="connsiteX2" fmla="*/ 1087309 w 1945611"/>
              <a:gd name="connsiteY2" fmla="*/ 0 h 1828800"/>
              <a:gd name="connsiteX3" fmla="*/ 1945611 w 1945611"/>
              <a:gd name="connsiteY3" fmla="*/ 0 h 1828800"/>
              <a:gd name="connsiteX4" fmla="*/ 1945611 w 1945611"/>
              <a:gd name="connsiteY4" fmla="*/ 1828800 h 1828800"/>
              <a:gd name="connsiteX5" fmla="*/ 0 w 1945611"/>
              <a:gd name="connsiteY5" fmla="*/ 1819020 h 1828800"/>
              <a:gd name="connsiteX6" fmla="*/ 1788 w 1945611"/>
              <a:gd name="connsiteY6" fmla="*/ 1525870 h 1828800"/>
              <a:gd name="connsiteX0" fmla="*/ 1788 w 1949908"/>
              <a:gd name="connsiteY0" fmla="*/ 1525870 h 1836134"/>
              <a:gd name="connsiteX1" fmla="*/ 1087309 w 1949908"/>
              <a:gd name="connsiteY1" fmla="*/ 1525870 h 1836134"/>
              <a:gd name="connsiteX2" fmla="*/ 1087309 w 1949908"/>
              <a:gd name="connsiteY2" fmla="*/ 0 h 1836134"/>
              <a:gd name="connsiteX3" fmla="*/ 1945611 w 1949908"/>
              <a:gd name="connsiteY3" fmla="*/ 0 h 1836134"/>
              <a:gd name="connsiteX4" fmla="*/ 1949908 w 1949908"/>
              <a:gd name="connsiteY4" fmla="*/ 1836134 h 1836134"/>
              <a:gd name="connsiteX5" fmla="*/ 0 w 1949908"/>
              <a:gd name="connsiteY5" fmla="*/ 1819020 h 1836134"/>
              <a:gd name="connsiteX6" fmla="*/ 1788 w 1949908"/>
              <a:gd name="connsiteY6" fmla="*/ 1525870 h 1836134"/>
              <a:gd name="connsiteX0" fmla="*/ 1788 w 1962801"/>
              <a:gd name="connsiteY0" fmla="*/ 1525870 h 1823909"/>
              <a:gd name="connsiteX1" fmla="*/ 1087309 w 1962801"/>
              <a:gd name="connsiteY1" fmla="*/ 1525870 h 1823909"/>
              <a:gd name="connsiteX2" fmla="*/ 1087309 w 1962801"/>
              <a:gd name="connsiteY2" fmla="*/ 0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1962801"/>
              <a:gd name="connsiteY0" fmla="*/ 1525870 h 1823909"/>
              <a:gd name="connsiteX1" fmla="*/ 842352 w 1962801"/>
              <a:gd name="connsiteY1" fmla="*/ 1530760 h 1823909"/>
              <a:gd name="connsiteX2" fmla="*/ 1087309 w 1962801"/>
              <a:gd name="connsiteY2" fmla="*/ 0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1962801"/>
              <a:gd name="connsiteY0" fmla="*/ 1525870 h 1823909"/>
              <a:gd name="connsiteX1" fmla="*/ 842352 w 1962801"/>
              <a:gd name="connsiteY1" fmla="*/ 1530760 h 1823909"/>
              <a:gd name="connsiteX2" fmla="*/ 857393 w 1962801"/>
              <a:gd name="connsiteY2" fmla="*/ 9779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2104722"/>
              <a:gd name="connsiteY0" fmla="*/ 1990304 h 2288343"/>
              <a:gd name="connsiteX1" fmla="*/ 842352 w 2104722"/>
              <a:gd name="connsiteY1" fmla="*/ 1995194 h 2288343"/>
              <a:gd name="connsiteX2" fmla="*/ 857393 w 2104722"/>
              <a:gd name="connsiteY2" fmla="*/ 474213 h 2288343"/>
              <a:gd name="connsiteX3" fmla="*/ 1945611 w 2104722"/>
              <a:gd name="connsiteY3" fmla="*/ 464434 h 2288343"/>
              <a:gd name="connsiteX4" fmla="*/ 1950334 w 2104722"/>
              <a:gd name="connsiteY4" fmla="*/ 77235 h 2288343"/>
              <a:gd name="connsiteX5" fmla="*/ 1962801 w 2104722"/>
              <a:gd name="connsiteY5" fmla="*/ 2288343 h 2288343"/>
              <a:gd name="connsiteX6" fmla="*/ 0 w 2104722"/>
              <a:gd name="connsiteY6" fmla="*/ 2283454 h 2288343"/>
              <a:gd name="connsiteX7" fmla="*/ 1788 w 2104722"/>
              <a:gd name="connsiteY7" fmla="*/ 1990304 h 2288343"/>
              <a:gd name="connsiteX0" fmla="*/ 1788 w 2027162"/>
              <a:gd name="connsiteY0" fmla="*/ 1990304 h 2288343"/>
              <a:gd name="connsiteX1" fmla="*/ 842352 w 2027162"/>
              <a:gd name="connsiteY1" fmla="*/ 1995194 h 2288343"/>
              <a:gd name="connsiteX2" fmla="*/ 857393 w 2027162"/>
              <a:gd name="connsiteY2" fmla="*/ 474213 h 2288343"/>
              <a:gd name="connsiteX3" fmla="*/ 1945611 w 2027162"/>
              <a:gd name="connsiteY3" fmla="*/ 464434 h 2288343"/>
              <a:gd name="connsiteX4" fmla="*/ 1950334 w 2027162"/>
              <a:gd name="connsiteY4" fmla="*/ 77235 h 2288343"/>
              <a:gd name="connsiteX5" fmla="*/ 1962801 w 2027162"/>
              <a:gd name="connsiteY5" fmla="*/ 2288343 h 2288343"/>
              <a:gd name="connsiteX6" fmla="*/ 0 w 2027162"/>
              <a:gd name="connsiteY6" fmla="*/ 2283454 h 2288343"/>
              <a:gd name="connsiteX7" fmla="*/ 1788 w 2027162"/>
              <a:gd name="connsiteY7" fmla="*/ 1990304 h 2288343"/>
              <a:gd name="connsiteX0" fmla="*/ 1788 w 1962801"/>
              <a:gd name="connsiteY0" fmla="*/ 1913069 h 2211108"/>
              <a:gd name="connsiteX1" fmla="*/ 842352 w 1962801"/>
              <a:gd name="connsiteY1" fmla="*/ 1917959 h 2211108"/>
              <a:gd name="connsiteX2" fmla="*/ 857393 w 1962801"/>
              <a:gd name="connsiteY2" fmla="*/ 396978 h 2211108"/>
              <a:gd name="connsiteX3" fmla="*/ 1945611 w 1962801"/>
              <a:gd name="connsiteY3" fmla="*/ 387199 h 2211108"/>
              <a:gd name="connsiteX4" fmla="*/ 1950334 w 1962801"/>
              <a:gd name="connsiteY4" fmla="*/ 0 h 2211108"/>
              <a:gd name="connsiteX5" fmla="*/ 1962801 w 1962801"/>
              <a:gd name="connsiteY5" fmla="*/ 2211108 h 2211108"/>
              <a:gd name="connsiteX6" fmla="*/ 0 w 1962801"/>
              <a:gd name="connsiteY6" fmla="*/ 2206219 h 2211108"/>
              <a:gd name="connsiteX7" fmla="*/ 1788 w 1962801"/>
              <a:gd name="connsiteY7" fmla="*/ 1913069 h 2211108"/>
              <a:gd name="connsiteX0" fmla="*/ 1788 w 1962801"/>
              <a:gd name="connsiteY0" fmla="*/ 1913069 h 2211108"/>
              <a:gd name="connsiteX1" fmla="*/ 842352 w 1962801"/>
              <a:gd name="connsiteY1" fmla="*/ 1917959 h 2211108"/>
              <a:gd name="connsiteX2" fmla="*/ 857393 w 1962801"/>
              <a:gd name="connsiteY2" fmla="*/ 396978 h 2211108"/>
              <a:gd name="connsiteX3" fmla="*/ 1950334 w 1962801"/>
              <a:gd name="connsiteY3" fmla="*/ 0 h 2211108"/>
              <a:gd name="connsiteX4" fmla="*/ 1962801 w 1962801"/>
              <a:gd name="connsiteY4" fmla="*/ 2211108 h 2211108"/>
              <a:gd name="connsiteX5" fmla="*/ 0 w 1962801"/>
              <a:gd name="connsiteY5" fmla="*/ 2206219 h 2211108"/>
              <a:gd name="connsiteX6" fmla="*/ 1788 w 1962801"/>
              <a:gd name="connsiteY6" fmla="*/ 1913069 h 2211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2801" h="2211108">
                <a:moveTo>
                  <a:pt x="1788" y="1913069"/>
                </a:moveTo>
                <a:lnTo>
                  <a:pt x="842352" y="1917959"/>
                </a:lnTo>
                <a:lnTo>
                  <a:pt x="857393" y="396978"/>
                </a:lnTo>
                <a:lnTo>
                  <a:pt x="1950334" y="0"/>
                </a:lnTo>
                <a:cubicBezTo>
                  <a:pt x="1954490" y="737036"/>
                  <a:pt x="1958645" y="1474072"/>
                  <a:pt x="1962801" y="2211108"/>
                </a:cubicBezTo>
                <a:lnTo>
                  <a:pt x="0" y="2206219"/>
                </a:lnTo>
                <a:lnTo>
                  <a:pt x="1788" y="1913069"/>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0" name="任意多边形 89"/>
          <p:cNvSpPr/>
          <p:nvPr/>
        </p:nvSpPr>
        <p:spPr bwMode="auto">
          <a:xfrm>
            <a:off x="6126228" y="1376171"/>
            <a:ext cx="916668" cy="1787021"/>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799055" y="2445"/>
                </a:lnTo>
                <a:lnTo>
                  <a:pt x="411107"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19</a:t>
            </a:fld>
            <a:endParaRPr lang="zh-CN" altLang="en-US" dirty="0">
              <a:solidFill>
                <a:srgbClr val="C00000"/>
              </a:solidFill>
            </a:endParaRPr>
          </a:p>
        </p:txBody>
      </p:sp>
      <p:sp>
        <p:nvSpPr>
          <p:cNvPr id="15" name="Text Box 5"/>
          <p:cNvSpPr txBox="1">
            <a:spLocks noChangeArrowheads="1"/>
          </p:cNvSpPr>
          <p:nvPr/>
        </p:nvSpPr>
        <p:spPr bwMode="auto">
          <a:xfrm>
            <a:off x="1018452" y="1551403"/>
            <a:ext cx="4201248" cy="205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墙体在土压力作用下产生向离开填土方向的移动或绕墙趾的转动</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墙后土体产生下滑趋势，土体内潜在滑动面上剪应力增加，作用在墙背上的土压力减少</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p:txBody>
      </p:sp>
      <p:sp>
        <p:nvSpPr>
          <p:cNvPr id="39" name="Text Box 46"/>
          <p:cNvSpPr txBox="1">
            <a:spLocks noChangeArrowheads="1"/>
          </p:cNvSpPr>
          <p:nvPr/>
        </p:nvSpPr>
        <p:spPr bwMode="auto">
          <a:xfrm>
            <a:off x="384650" y="742656"/>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a:solidFill>
                  <a:srgbClr val="A50021"/>
                </a:solidFill>
                <a:latin typeface="微软雅黑" panose="020B0503020204020204" pitchFamily="34" charset="-122"/>
                <a:ea typeface="微软雅黑" panose="020B0503020204020204" pitchFamily="34" charset="-122"/>
              </a:rPr>
              <a:t>二</a:t>
            </a:r>
            <a:r>
              <a:rPr lang="zh-CN" altLang="en-US" sz="2800" b="1" dirty="0" smtClean="0">
                <a:solidFill>
                  <a:srgbClr val="A50021"/>
                </a:solidFill>
                <a:latin typeface="微软雅黑" panose="020B0503020204020204" pitchFamily="34" charset="-122"/>
                <a:ea typeface="微软雅黑" panose="020B0503020204020204" pitchFamily="34" charset="-122"/>
              </a:rPr>
              <a:t>、主动土压力</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9"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97" name="任意多边形 96"/>
          <p:cNvSpPr/>
          <p:nvPr/>
        </p:nvSpPr>
        <p:spPr bwMode="auto">
          <a:xfrm rot="21409923">
            <a:off x="6055921" y="1373900"/>
            <a:ext cx="916668" cy="1836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799055" y="2445"/>
                </a:lnTo>
                <a:lnTo>
                  <a:pt x="411107" y="0"/>
                </a:lnTo>
                <a:lnTo>
                  <a:pt x="0" y="1514650"/>
                </a:lnTo>
                <a:close/>
              </a:path>
            </a:pathLst>
          </a:custGeom>
          <a:noFill/>
          <a:ln w="19050" cap="flat" cmpd="sng" algn="ctr">
            <a:solidFill>
              <a:srgbClr val="C00000"/>
            </a:solid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a:stCxn id="90" idx="2"/>
          </p:cNvCxnSpPr>
          <p:nvPr/>
        </p:nvCxnSpPr>
        <p:spPr bwMode="auto">
          <a:xfrm flipV="1">
            <a:off x="6947417" y="900338"/>
            <a:ext cx="1463368" cy="47871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 name="组合 2"/>
          <p:cNvGrpSpPr/>
          <p:nvPr/>
        </p:nvGrpSpPr>
        <p:grpSpPr>
          <a:xfrm>
            <a:off x="7049281" y="1125332"/>
            <a:ext cx="753516" cy="2033603"/>
            <a:chOff x="7049281" y="1125332"/>
            <a:chExt cx="753516" cy="2033603"/>
          </a:xfrm>
        </p:grpSpPr>
        <p:grpSp>
          <p:nvGrpSpPr>
            <p:cNvPr id="2" name="组合 1"/>
            <p:cNvGrpSpPr/>
            <p:nvPr/>
          </p:nvGrpSpPr>
          <p:grpSpPr>
            <a:xfrm>
              <a:off x="7173967" y="1171485"/>
              <a:ext cx="628830" cy="1900914"/>
              <a:chOff x="7144471" y="1171485"/>
              <a:chExt cx="628830" cy="1900914"/>
            </a:xfrm>
          </p:grpSpPr>
          <p:cxnSp>
            <p:nvCxnSpPr>
              <p:cNvPr id="11" name="直接箭头连接符 10"/>
              <p:cNvCxnSpPr/>
              <p:nvPr/>
            </p:nvCxnSpPr>
            <p:spPr bwMode="auto">
              <a:xfrm flipV="1">
                <a:off x="7144471" y="2870480"/>
                <a:ext cx="100959" cy="201919"/>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箭头连接符 99"/>
              <p:cNvCxnSpPr/>
              <p:nvPr/>
            </p:nvCxnSpPr>
            <p:spPr bwMode="auto">
              <a:xfrm flipV="1">
                <a:off x="7282446" y="2547413"/>
                <a:ext cx="81250" cy="195669"/>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箭头连接符 100"/>
              <p:cNvCxnSpPr/>
              <p:nvPr/>
            </p:nvCxnSpPr>
            <p:spPr bwMode="auto">
              <a:xfrm flipV="1">
                <a:off x="7408881" y="2198382"/>
                <a:ext cx="75961" cy="198071"/>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箭头连接符 101"/>
              <p:cNvCxnSpPr/>
              <p:nvPr/>
            </p:nvCxnSpPr>
            <p:spPr bwMode="auto">
              <a:xfrm flipV="1">
                <a:off x="7532431" y="1858006"/>
                <a:ext cx="62019" cy="200474"/>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箭头连接符 102"/>
              <p:cNvCxnSpPr/>
              <p:nvPr/>
            </p:nvCxnSpPr>
            <p:spPr bwMode="auto">
              <a:xfrm flipV="1">
                <a:off x="7638671" y="1523400"/>
                <a:ext cx="59635" cy="202878"/>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箭头连接符 103"/>
              <p:cNvCxnSpPr/>
              <p:nvPr/>
            </p:nvCxnSpPr>
            <p:spPr bwMode="auto">
              <a:xfrm flipV="1">
                <a:off x="7724743" y="1171485"/>
                <a:ext cx="48558" cy="204879"/>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任意多边形 7"/>
            <p:cNvSpPr/>
            <p:nvPr/>
          </p:nvSpPr>
          <p:spPr bwMode="auto">
            <a:xfrm>
              <a:off x="7049281" y="1125332"/>
              <a:ext cx="689406" cy="2033603"/>
            </a:xfrm>
            <a:custGeom>
              <a:avLst/>
              <a:gdLst>
                <a:gd name="connsiteX0" fmla="*/ 0 w 689406"/>
                <a:gd name="connsiteY0" fmla="*/ 2033603 h 2033603"/>
                <a:gd name="connsiteX1" fmla="*/ 135574 w 689406"/>
                <a:gd name="connsiteY1" fmla="*/ 1750918 h 2033603"/>
                <a:gd name="connsiteX2" fmla="*/ 302877 w 689406"/>
                <a:gd name="connsiteY2" fmla="*/ 1315352 h 2033603"/>
                <a:gd name="connsiteX3" fmla="*/ 478834 w 689406"/>
                <a:gd name="connsiteY3" fmla="*/ 784596 h 2033603"/>
                <a:gd name="connsiteX4" fmla="*/ 597101 w 689406"/>
                <a:gd name="connsiteY4" fmla="*/ 372106 h 2033603"/>
                <a:gd name="connsiteX5" fmla="*/ 689406 w 689406"/>
                <a:gd name="connsiteY5" fmla="*/ 0 h 203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9406" h="2033603">
                  <a:moveTo>
                    <a:pt x="0" y="2033603"/>
                  </a:moveTo>
                  <a:cubicBezTo>
                    <a:pt x="42547" y="1952114"/>
                    <a:pt x="85095" y="1870626"/>
                    <a:pt x="135574" y="1750918"/>
                  </a:cubicBezTo>
                  <a:cubicBezTo>
                    <a:pt x="186053" y="1631210"/>
                    <a:pt x="245667" y="1476405"/>
                    <a:pt x="302877" y="1315352"/>
                  </a:cubicBezTo>
                  <a:cubicBezTo>
                    <a:pt x="360087" y="1154299"/>
                    <a:pt x="429797" y="941804"/>
                    <a:pt x="478834" y="784596"/>
                  </a:cubicBezTo>
                  <a:cubicBezTo>
                    <a:pt x="527871" y="627388"/>
                    <a:pt x="562006" y="502872"/>
                    <a:pt x="597101" y="372106"/>
                  </a:cubicBezTo>
                  <a:cubicBezTo>
                    <a:pt x="632196" y="241340"/>
                    <a:pt x="660801" y="120670"/>
                    <a:pt x="689406" y="0"/>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9" name="TextBox 8"/>
          <p:cNvSpPr txBox="1"/>
          <p:nvPr/>
        </p:nvSpPr>
        <p:spPr>
          <a:xfrm>
            <a:off x="6982824" y="3037559"/>
            <a:ext cx="351378" cy="410882"/>
          </a:xfrm>
          <a:prstGeom prst="rect">
            <a:avLst/>
          </a:prstGeom>
          <a:noFill/>
        </p:spPr>
        <p:txBody>
          <a:bodyPr wrap="none" rtlCol="0">
            <a:spAutoFit/>
          </a:bodyPr>
          <a:lstStyle/>
          <a:p>
            <a:r>
              <a:rPr lang="en-US" altLang="zh-CN" sz="1800" b="1" dirty="0" smtClean="0"/>
              <a:t>A</a:t>
            </a:r>
            <a:endParaRPr lang="zh-CN" altLang="en-US" sz="1800" b="1" dirty="0"/>
          </a:p>
        </p:txBody>
      </p:sp>
      <p:sp>
        <p:nvSpPr>
          <p:cNvPr id="98" name="TextBox 97"/>
          <p:cNvSpPr txBox="1"/>
          <p:nvPr/>
        </p:nvSpPr>
        <p:spPr>
          <a:xfrm>
            <a:off x="6771767" y="1027017"/>
            <a:ext cx="338554" cy="410882"/>
          </a:xfrm>
          <a:prstGeom prst="rect">
            <a:avLst/>
          </a:prstGeom>
          <a:noFill/>
        </p:spPr>
        <p:txBody>
          <a:bodyPr wrap="none" rtlCol="0">
            <a:spAutoFit/>
          </a:bodyPr>
          <a:lstStyle/>
          <a:p>
            <a:r>
              <a:rPr lang="en-US" altLang="zh-CN" sz="1800" b="1" dirty="0"/>
              <a:t>B</a:t>
            </a:r>
            <a:endParaRPr lang="zh-CN" altLang="en-US" sz="1800" b="1" dirty="0"/>
          </a:p>
        </p:txBody>
      </p:sp>
      <p:sp>
        <p:nvSpPr>
          <p:cNvPr id="99" name="TextBox 98"/>
          <p:cNvSpPr txBox="1"/>
          <p:nvPr/>
        </p:nvSpPr>
        <p:spPr>
          <a:xfrm>
            <a:off x="7561651" y="766928"/>
            <a:ext cx="351378" cy="410882"/>
          </a:xfrm>
          <a:prstGeom prst="rect">
            <a:avLst/>
          </a:prstGeom>
          <a:noFill/>
        </p:spPr>
        <p:txBody>
          <a:bodyPr wrap="none" rtlCol="0">
            <a:spAutoFit/>
          </a:bodyPr>
          <a:lstStyle/>
          <a:p>
            <a:r>
              <a:rPr lang="en-US" altLang="zh-CN" sz="1800" b="1" dirty="0" smtClean="0"/>
              <a:t>C</a:t>
            </a:r>
            <a:endParaRPr lang="zh-CN" altLang="en-US" sz="1800" b="1" dirty="0"/>
          </a:p>
        </p:txBody>
      </p:sp>
      <p:grpSp>
        <p:nvGrpSpPr>
          <p:cNvPr id="5" name="组合 4"/>
          <p:cNvGrpSpPr/>
          <p:nvPr/>
        </p:nvGrpSpPr>
        <p:grpSpPr>
          <a:xfrm>
            <a:off x="7040924" y="1868968"/>
            <a:ext cx="1126611" cy="532023"/>
            <a:chOff x="7040924" y="1868968"/>
            <a:chExt cx="1126611" cy="532023"/>
          </a:xfrm>
        </p:grpSpPr>
        <p:sp>
          <p:nvSpPr>
            <p:cNvPr id="105" name="Line 65"/>
            <p:cNvSpPr>
              <a:spLocks noChangeShapeType="1"/>
            </p:cNvSpPr>
            <p:nvPr/>
          </p:nvSpPr>
          <p:spPr bwMode="auto">
            <a:xfrm flipH="1">
              <a:off x="7040924" y="2116395"/>
              <a:ext cx="667170" cy="284596"/>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Text Box 66"/>
            <p:cNvSpPr txBox="1">
              <a:spLocks noChangeArrowheads="1"/>
            </p:cNvSpPr>
            <p:nvPr/>
          </p:nvSpPr>
          <p:spPr bwMode="auto">
            <a:xfrm>
              <a:off x="7679815" y="1868968"/>
              <a:ext cx="487720"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A50021"/>
                  </a:solidFill>
                  <a:ea typeface="楷体_GB2312" pitchFamily="49" charset="-122"/>
                </a:rPr>
                <a:t>E</a:t>
              </a:r>
              <a:r>
                <a:rPr lang="en-US" altLang="zh-CN" sz="2400" b="1" baseline="-25000" dirty="0" err="1" smtClean="0">
                  <a:solidFill>
                    <a:srgbClr val="A50021"/>
                  </a:solidFill>
                  <a:ea typeface="楷体_GB2312" pitchFamily="49" charset="-122"/>
                </a:rPr>
                <a:t>a</a:t>
              </a:r>
              <a:endParaRPr lang="en-US" altLang="zh-CN" sz="2400" b="1" baseline="-25000" dirty="0">
                <a:solidFill>
                  <a:srgbClr val="A50021"/>
                </a:solidFill>
                <a:ea typeface="楷体_GB2312" pitchFamily="49" charset="-122"/>
              </a:endParaRPr>
            </a:p>
          </p:txBody>
        </p:sp>
      </p:grpSp>
      <p:sp>
        <p:nvSpPr>
          <p:cNvPr id="107" name="Text Box 5"/>
          <p:cNvSpPr txBox="1">
            <a:spLocks noChangeArrowheads="1"/>
          </p:cNvSpPr>
          <p:nvPr/>
        </p:nvSpPr>
        <p:spPr bwMode="auto">
          <a:xfrm>
            <a:off x="993802" y="3683348"/>
            <a:ext cx="7461250" cy="165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当墙体位移达到某一数量时，滑动面上剪应力等于土的抗剪强度，墙后土体达到</a:t>
            </a:r>
            <a:r>
              <a:rPr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主动极限平衡状态</a:t>
            </a:r>
            <a:r>
              <a:rPr lang="zh-CN" altLang="en-US" sz="2000" b="1" dirty="0" smtClean="0">
                <a:solidFill>
                  <a:srgbClr val="000066"/>
                </a:solidFill>
                <a:ea typeface="幼圆" pitchFamily="49" charset="-122"/>
                <a:cs typeface="Times New Roman" panose="02020603050405020304" pitchFamily="18" charset="0"/>
                <a:sym typeface="Symbol" pitchFamily="18" charset="2"/>
              </a:rPr>
              <a:t>，产生一般为曲线形的滑动面</a:t>
            </a:r>
            <a:r>
              <a:rPr lang="en-US" altLang="zh-CN" sz="2000" b="1" dirty="0" smtClean="0">
                <a:solidFill>
                  <a:srgbClr val="000066"/>
                </a:solidFill>
                <a:ea typeface="幼圆" pitchFamily="49" charset="-122"/>
                <a:cs typeface="Times New Roman" panose="02020603050405020304" pitchFamily="18" charset="0"/>
                <a:sym typeface="Symbol" pitchFamily="18" charset="2"/>
              </a:rPr>
              <a:t>AC</a:t>
            </a: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这时作用在墙上的土压力达到最小值，称</a:t>
            </a:r>
            <a:r>
              <a:rPr lang="zh-CN" altLang="en-US" sz="2000" b="1" dirty="0" smtClean="0">
                <a:solidFill>
                  <a:srgbClr val="C00000"/>
                </a:solidFill>
                <a:ea typeface="黑体" panose="02010609060101010101" pitchFamily="49" charset="-122"/>
                <a:cs typeface="Times New Roman" panose="02020603050405020304" pitchFamily="18" charset="0"/>
                <a:sym typeface="Symbol" pitchFamily="18" charset="2"/>
              </a:rPr>
              <a:t>主动土压力 </a:t>
            </a:r>
            <a:r>
              <a:rPr lang="en-US" altLang="zh-CN" sz="2000" b="1" i="1" dirty="0" err="1"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000" b="1" baseline="-25000" dirty="0" err="1" smtClean="0">
                <a:solidFill>
                  <a:srgbClr val="C00000"/>
                </a:solidFill>
                <a:ea typeface="黑体" panose="02010609060101010101" pitchFamily="49" charset="-122"/>
                <a:cs typeface="Times New Roman" panose="02020603050405020304" pitchFamily="18" charset="0"/>
                <a:sym typeface="Symbol" pitchFamily="18" charset="2"/>
              </a:rPr>
              <a:t>a</a:t>
            </a:r>
            <a:endParaRPr lang="en-US" altLang="zh-CN" sz="2000" b="1" baseline="-25000" dirty="0" smtClean="0">
              <a:solidFill>
                <a:srgbClr val="C00000"/>
              </a:solidFill>
              <a:ea typeface="黑体" panose="02010609060101010101" pitchFamily="49" charset="-122"/>
              <a:cs typeface="Times New Roman" panose="02020603050405020304" pitchFamily="18" charset="0"/>
              <a:sym typeface="Symbol" pitchFamily="18" charset="2"/>
            </a:endParaRPr>
          </a:p>
        </p:txBody>
      </p:sp>
      <p:sp>
        <p:nvSpPr>
          <p:cNvPr id="27" name="任意多边形 26"/>
          <p:cNvSpPr/>
          <p:nvPr/>
        </p:nvSpPr>
        <p:spPr bwMode="auto">
          <a:xfrm>
            <a:off x="6816436" y="968188"/>
            <a:ext cx="1393605" cy="513433"/>
          </a:xfrm>
          <a:custGeom>
            <a:avLst/>
            <a:gdLst>
              <a:gd name="connsiteX0" fmla="*/ 0 w 1393605"/>
              <a:gd name="connsiteY0" fmla="*/ 513433 h 513433"/>
              <a:gd name="connsiteX1" fmla="*/ 185814 w 1393605"/>
              <a:gd name="connsiteY1" fmla="*/ 469425 h 513433"/>
              <a:gd name="connsiteX2" fmla="*/ 327620 w 1393605"/>
              <a:gd name="connsiteY2" fmla="*/ 396077 h 513433"/>
              <a:gd name="connsiteX3" fmla="*/ 474315 w 1393605"/>
              <a:gd name="connsiteY3" fmla="*/ 317840 h 513433"/>
              <a:gd name="connsiteX4" fmla="*/ 699247 w 1393605"/>
              <a:gd name="connsiteY4" fmla="*/ 239602 h 513433"/>
              <a:gd name="connsiteX5" fmla="*/ 880171 w 1393605"/>
              <a:gd name="connsiteY5" fmla="*/ 166255 h 513433"/>
              <a:gd name="connsiteX6" fmla="*/ 1393605 w 1393605"/>
              <a:gd name="connsiteY6" fmla="*/ 0 h 51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605" h="513433">
                <a:moveTo>
                  <a:pt x="0" y="513433"/>
                </a:moveTo>
                <a:cubicBezTo>
                  <a:pt x="65605" y="501208"/>
                  <a:pt x="131211" y="488984"/>
                  <a:pt x="185814" y="469425"/>
                </a:cubicBezTo>
                <a:cubicBezTo>
                  <a:pt x="240417" y="449866"/>
                  <a:pt x="327620" y="396077"/>
                  <a:pt x="327620" y="396077"/>
                </a:cubicBezTo>
                <a:cubicBezTo>
                  <a:pt x="375703" y="370813"/>
                  <a:pt x="412377" y="343919"/>
                  <a:pt x="474315" y="317840"/>
                </a:cubicBezTo>
                <a:cubicBezTo>
                  <a:pt x="536253" y="291761"/>
                  <a:pt x="631604" y="264866"/>
                  <a:pt x="699247" y="239602"/>
                </a:cubicBezTo>
                <a:cubicBezTo>
                  <a:pt x="766890" y="214338"/>
                  <a:pt x="764445" y="206189"/>
                  <a:pt x="880171" y="166255"/>
                </a:cubicBezTo>
                <a:cubicBezTo>
                  <a:pt x="995897" y="126321"/>
                  <a:pt x="1194751" y="63160"/>
                  <a:pt x="1393605" y="0"/>
                </a:cubicBezTo>
              </a:path>
            </a:pathLst>
          </a:cu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8" name="右箭头 107"/>
          <p:cNvSpPr/>
          <p:nvPr/>
        </p:nvSpPr>
        <p:spPr bwMode="auto">
          <a:xfrm rot="6991803">
            <a:off x="7066340" y="1515394"/>
            <a:ext cx="407699" cy="280473"/>
          </a:xfrm>
          <a:prstGeom prst="rightArrow">
            <a:avLst>
              <a:gd name="adj1" fmla="val 50000"/>
              <a:gd name="adj2" fmla="val 61940"/>
            </a:avLst>
          </a:prstGeom>
          <a:solidFill>
            <a:srgbClr val="FFC000"/>
          </a:solidFill>
          <a:ln w="12700" cap="flat" cmpd="sng" algn="ctr">
            <a:solidFill>
              <a:srgbClr val="C00000"/>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8" name="AutoShape 118"/>
          <p:cNvSpPr>
            <a:spLocks noChangeArrowheads="1"/>
          </p:cNvSpPr>
          <p:nvPr/>
        </p:nvSpPr>
        <p:spPr bwMode="auto">
          <a:xfrm>
            <a:off x="5881165" y="1677217"/>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30"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364861265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par>
                          <p:cTn id="8" fill="hold">
                            <p:stCondLst>
                              <p:cond delay="500"/>
                            </p:stCondLst>
                            <p:childTnLst>
                              <p:par>
                                <p:cTn id="9" presetID="22" presetClass="entr" presetSubtype="2" repeatCount="300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
                                            <p:txEl>
                                              <p:pRg st="1" end="1"/>
                                            </p:txEl>
                                          </p:spTgt>
                                        </p:tgtEl>
                                        <p:attrNameLst>
                                          <p:attrName>style.visibility</p:attrName>
                                        </p:attrNameLst>
                                      </p:cBhvr>
                                      <p:to>
                                        <p:strVal val="visible"/>
                                      </p:to>
                                    </p:set>
                                    <p:animEffect transition="in" filter="wipe(left)">
                                      <p:cBhvr>
                                        <p:cTn id="16" dur="500"/>
                                        <p:tgtEl>
                                          <p:spTgt spid="15">
                                            <p:txEl>
                                              <p:pRg st="1" end="1"/>
                                            </p:txEl>
                                          </p:spTgt>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97"/>
                                        </p:tgtEl>
                                        <p:attrNameLst>
                                          <p:attrName>style.visibility</p:attrName>
                                        </p:attrNameLst>
                                      </p:cBhvr>
                                      <p:to>
                                        <p:strVal val="visible"/>
                                      </p:to>
                                    </p:set>
                                  </p:childTnLst>
                                </p:cTn>
                              </p:par>
                            </p:childTnLst>
                          </p:cTn>
                        </p:par>
                        <p:par>
                          <p:cTn id="20" fill="hold">
                            <p:stCondLst>
                              <p:cond delay="500"/>
                            </p:stCondLst>
                            <p:childTnLst>
                              <p:par>
                                <p:cTn id="21" presetID="22" presetClass="entr" presetSubtype="1" repeatCount="3000" fill="hold" grpId="0" nodeType="after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wipe(up)">
                                      <p:cBhvr>
                                        <p:cTn id="23" dur="500"/>
                                        <p:tgtEl>
                                          <p:spTgt spid="108"/>
                                        </p:tgtEl>
                                      </p:cBhvr>
                                    </p:animEffect>
                                  </p:childTnLst>
                                </p:cTn>
                              </p:par>
                            </p:childTnLst>
                          </p:cTn>
                        </p:par>
                        <p:par>
                          <p:cTn id="24" fill="hold">
                            <p:stCondLst>
                              <p:cond delay="2000"/>
                            </p:stCondLst>
                            <p:childTnLst>
                              <p:par>
                                <p:cTn id="25" presetID="1"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7">
                                            <p:txEl>
                                              <p:pRg st="0" end="0"/>
                                            </p:txEl>
                                          </p:spTgt>
                                        </p:tgtEl>
                                        <p:attrNameLst>
                                          <p:attrName>style.visibility</p:attrName>
                                        </p:attrNameLst>
                                      </p:cBhvr>
                                      <p:to>
                                        <p:strVal val="visible"/>
                                      </p:to>
                                    </p:set>
                                    <p:animEffect transition="in" filter="wipe(left)">
                                      <p:cBhvr>
                                        <p:cTn id="31" dur="500"/>
                                        <p:tgtEl>
                                          <p:spTgt spid="107">
                                            <p:txEl>
                                              <p:pRg st="0" end="0"/>
                                            </p:txEl>
                                          </p:spTgt>
                                        </p:tgtEl>
                                      </p:cBhvr>
                                    </p:animEffect>
                                  </p:childTnLst>
                                </p:cTn>
                              </p:par>
                            </p:childTnLst>
                          </p:cTn>
                        </p:par>
                        <p:par>
                          <p:cTn id="32" fill="hold">
                            <p:stCondLst>
                              <p:cond delay="500"/>
                            </p:stCondLst>
                            <p:childTnLst>
                              <p:par>
                                <p:cTn id="33" presetID="22" presetClass="entr" presetSubtype="4"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7">
                                            <p:txEl>
                                              <p:pRg st="1" end="1"/>
                                            </p:txEl>
                                          </p:spTgt>
                                        </p:tgtEl>
                                        <p:attrNameLst>
                                          <p:attrName>style.visibility</p:attrName>
                                        </p:attrNameLst>
                                      </p:cBhvr>
                                      <p:to>
                                        <p:strVal val="visible"/>
                                      </p:to>
                                    </p:set>
                                    <p:animEffect transition="in" filter="wipe(left)">
                                      <p:cBhvr>
                                        <p:cTn id="40" dur="500"/>
                                        <p:tgtEl>
                                          <p:spTgt spid="107">
                                            <p:txEl>
                                              <p:pRg st="1" end="1"/>
                                            </p:txEl>
                                          </p:spTgt>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down)">
                                      <p:cBhvr>
                                        <p:cTn id="4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97" grpId="0" animBg="1"/>
      <p:bldP spid="107" grpId="0" uiExpand="1" build="p"/>
      <p:bldP spid="27" grpId="0" animBg="1"/>
      <p:bldP spid="108"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任意多边形 90"/>
          <p:cNvSpPr/>
          <p:nvPr/>
        </p:nvSpPr>
        <p:spPr bwMode="auto">
          <a:xfrm>
            <a:off x="5032019" y="1387171"/>
            <a:ext cx="3822609" cy="214028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283274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283274 w 2227097"/>
              <a:gd name="connsiteY6" fmla="*/ 1525870 h 1828800"/>
              <a:gd name="connsiteX0" fmla="*/ 1788 w 1945611"/>
              <a:gd name="connsiteY0" fmla="*/ 1525870 h 1828800"/>
              <a:gd name="connsiteX1" fmla="*/ 1087309 w 1945611"/>
              <a:gd name="connsiteY1" fmla="*/ 1525870 h 1828800"/>
              <a:gd name="connsiteX2" fmla="*/ 1087309 w 1945611"/>
              <a:gd name="connsiteY2" fmla="*/ 0 h 1828800"/>
              <a:gd name="connsiteX3" fmla="*/ 1945611 w 1945611"/>
              <a:gd name="connsiteY3" fmla="*/ 0 h 1828800"/>
              <a:gd name="connsiteX4" fmla="*/ 1945611 w 1945611"/>
              <a:gd name="connsiteY4" fmla="*/ 1828800 h 1828800"/>
              <a:gd name="connsiteX5" fmla="*/ 0 w 1945611"/>
              <a:gd name="connsiteY5" fmla="*/ 1819020 h 1828800"/>
              <a:gd name="connsiteX6" fmla="*/ 1788 w 1945611"/>
              <a:gd name="connsiteY6" fmla="*/ 1525870 h 1828800"/>
              <a:gd name="connsiteX0" fmla="*/ 1788 w 1949908"/>
              <a:gd name="connsiteY0" fmla="*/ 1525870 h 1836134"/>
              <a:gd name="connsiteX1" fmla="*/ 1087309 w 1949908"/>
              <a:gd name="connsiteY1" fmla="*/ 1525870 h 1836134"/>
              <a:gd name="connsiteX2" fmla="*/ 1087309 w 1949908"/>
              <a:gd name="connsiteY2" fmla="*/ 0 h 1836134"/>
              <a:gd name="connsiteX3" fmla="*/ 1945611 w 1949908"/>
              <a:gd name="connsiteY3" fmla="*/ 0 h 1836134"/>
              <a:gd name="connsiteX4" fmla="*/ 1949908 w 1949908"/>
              <a:gd name="connsiteY4" fmla="*/ 1836134 h 1836134"/>
              <a:gd name="connsiteX5" fmla="*/ 0 w 1949908"/>
              <a:gd name="connsiteY5" fmla="*/ 1819020 h 1836134"/>
              <a:gd name="connsiteX6" fmla="*/ 1788 w 1949908"/>
              <a:gd name="connsiteY6" fmla="*/ 1525870 h 1836134"/>
              <a:gd name="connsiteX0" fmla="*/ 1788 w 1962801"/>
              <a:gd name="connsiteY0" fmla="*/ 1525870 h 1823909"/>
              <a:gd name="connsiteX1" fmla="*/ 1087309 w 1962801"/>
              <a:gd name="connsiteY1" fmla="*/ 1525870 h 1823909"/>
              <a:gd name="connsiteX2" fmla="*/ 1087309 w 1962801"/>
              <a:gd name="connsiteY2" fmla="*/ 0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1962801"/>
              <a:gd name="connsiteY0" fmla="*/ 1525870 h 1823909"/>
              <a:gd name="connsiteX1" fmla="*/ 842352 w 1962801"/>
              <a:gd name="connsiteY1" fmla="*/ 1530760 h 1823909"/>
              <a:gd name="connsiteX2" fmla="*/ 1087309 w 1962801"/>
              <a:gd name="connsiteY2" fmla="*/ 0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1962801"/>
              <a:gd name="connsiteY0" fmla="*/ 1525870 h 1823909"/>
              <a:gd name="connsiteX1" fmla="*/ 842352 w 1962801"/>
              <a:gd name="connsiteY1" fmla="*/ 1530760 h 1823909"/>
              <a:gd name="connsiteX2" fmla="*/ 857393 w 1962801"/>
              <a:gd name="connsiteY2" fmla="*/ 9779 h 1823909"/>
              <a:gd name="connsiteX3" fmla="*/ 1945611 w 1962801"/>
              <a:gd name="connsiteY3" fmla="*/ 0 h 1823909"/>
              <a:gd name="connsiteX4" fmla="*/ 1962801 w 1962801"/>
              <a:gd name="connsiteY4" fmla="*/ 1823909 h 1823909"/>
              <a:gd name="connsiteX5" fmla="*/ 0 w 1962801"/>
              <a:gd name="connsiteY5" fmla="*/ 1819020 h 1823909"/>
              <a:gd name="connsiteX6" fmla="*/ 1788 w 1962801"/>
              <a:gd name="connsiteY6" fmla="*/ 1525870 h 1823909"/>
              <a:gd name="connsiteX0" fmla="*/ 1788 w 2104722"/>
              <a:gd name="connsiteY0" fmla="*/ 1990304 h 2288343"/>
              <a:gd name="connsiteX1" fmla="*/ 842352 w 2104722"/>
              <a:gd name="connsiteY1" fmla="*/ 1995194 h 2288343"/>
              <a:gd name="connsiteX2" fmla="*/ 857393 w 2104722"/>
              <a:gd name="connsiteY2" fmla="*/ 474213 h 2288343"/>
              <a:gd name="connsiteX3" fmla="*/ 1945611 w 2104722"/>
              <a:gd name="connsiteY3" fmla="*/ 464434 h 2288343"/>
              <a:gd name="connsiteX4" fmla="*/ 1950334 w 2104722"/>
              <a:gd name="connsiteY4" fmla="*/ 77235 h 2288343"/>
              <a:gd name="connsiteX5" fmla="*/ 1962801 w 2104722"/>
              <a:gd name="connsiteY5" fmla="*/ 2288343 h 2288343"/>
              <a:gd name="connsiteX6" fmla="*/ 0 w 2104722"/>
              <a:gd name="connsiteY6" fmla="*/ 2283454 h 2288343"/>
              <a:gd name="connsiteX7" fmla="*/ 1788 w 2104722"/>
              <a:gd name="connsiteY7" fmla="*/ 1990304 h 2288343"/>
              <a:gd name="connsiteX0" fmla="*/ 1788 w 2027162"/>
              <a:gd name="connsiteY0" fmla="*/ 1990304 h 2288343"/>
              <a:gd name="connsiteX1" fmla="*/ 842352 w 2027162"/>
              <a:gd name="connsiteY1" fmla="*/ 1995194 h 2288343"/>
              <a:gd name="connsiteX2" fmla="*/ 857393 w 2027162"/>
              <a:gd name="connsiteY2" fmla="*/ 474213 h 2288343"/>
              <a:gd name="connsiteX3" fmla="*/ 1945611 w 2027162"/>
              <a:gd name="connsiteY3" fmla="*/ 464434 h 2288343"/>
              <a:gd name="connsiteX4" fmla="*/ 1950334 w 2027162"/>
              <a:gd name="connsiteY4" fmla="*/ 77235 h 2288343"/>
              <a:gd name="connsiteX5" fmla="*/ 1962801 w 2027162"/>
              <a:gd name="connsiteY5" fmla="*/ 2288343 h 2288343"/>
              <a:gd name="connsiteX6" fmla="*/ 0 w 2027162"/>
              <a:gd name="connsiteY6" fmla="*/ 2283454 h 2288343"/>
              <a:gd name="connsiteX7" fmla="*/ 1788 w 2027162"/>
              <a:gd name="connsiteY7" fmla="*/ 1990304 h 2288343"/>
              <a:gd name="connsiteX0" fmla="*/ 1788 w 1962801"/>
              <a:gd name="connsiteY0" fmla="*/ 1913069 h 2211108"/>
              <a:gd name="connsiteX1" fmla="*/ 842352 w 1962801"/>
              <a:gd name="connsiteY1" fmla="*/ 1917959 h 2211108"/>
              <a:gd name="connsiteX2" fmla="*/ 857393 w 1962801"/>
              <a:gd name="connsiteY2" fmla="*/ 396978 h 2211108"/>
              <a:gd name="connsiteX3" fmla="*/ 1945611 w 1962801"/>
              <a:gd name="connsiteY3" fmla="*/ 387199 h 2211108"/>
              <a:gd name="connsiteX4" fmla="*/ 1950334 w 1962801"/>
              <a:gd name="connsiteY4" fmla="*/ 0 h 2211108"/>
              <a:gd name="connsiteX5" fmla="*/ 1962801 w 1962801"/>
              <a:gd name="connsiteY5" fmla="*/ 2211108 h 2211108"/>
              <a:gd name="connsiteX6" fmla="*/ 0 w 1962801"/>
              <a:gd name="connsiteY6" fmla="*/ 2206219 h 2211108"/>
              <a:gd name="connsiteX7" fmla="*/ 1788 w 1962801"/>
              <a:gd name="connsiteY7" fmla="*/ 1913069 h 2211108"/>
              <a:gd name="connsiteX0" fmla="*/ 1788 w 1962801"/>
              <a:gd name="connsiteY0" fmla="*/ 1913069 h 2211108"/>
              <a:gd name="connsiteX1" fmla="*/ 842352 w 1962801"/>
              <a:gd name="connsiteY1" fmla="*/ 1917959 h 2211108"/>
              <a:gd name="connsiteX2" fmla="*/ 857393 w 1962801"/>
              <a:gd name="connsiteY2" fmla="*/ 396978 h 2211108"/>
              <a:gd name="connsiteX3" fmla="*/ 1950334 w 1962801"/>
              <a:gd name="connsiteY3" fmla="*/ 0 h 2211108"/>
              <a:gd name="connsiteX4" fmla="*/ 1962801 w 1962801"/>
              <a:gd name="connsiteY4" fmla="*/ 2211108 h 2211108"/>
              <a:gd name="connsiteX5" fmla="*/ 0 w 1962801"/>
              <a:gd name="connsiteY5" fmla="*/ 2206219 h 2211108"/>
              <a:gd name="connsiteX6" fmla="*/ 1788 w 1962801"/>
              <a:gd name="connsiteY6" fmla="*/ 1913069 h 2211108"/>
              <a:gd name="connsiteX0" fmla="*/ 1788 w 2423384"/>
              <a:gd name="connsiteY0" fmla="*/ 1516091 h 1814130"/>
              <a:gd name="connsiteX1" fmla="*/ 842352 w 2423384"/>
              <a:gd name="connsiteY1" fmla="*/ 1520981 h 1814130"/>
              <a:gd name="connsiteX2" fmla="*/ 857393 w 2423384"/>
              <a:gd name="connsiteY2" fmla="*/ 0 h 1814130"/>
              <a:gd name="connsiteX3" fmla="*/ 2423357 w 2423384"/>
              <a:gd name="connsiteY3" fmla="*/ 12066 h 1814130"/>
              <a:gd name="connsiteX4" fmla="*/ 1962801 w 2423384"/>
              <a:gd name="connsiteY4" fmla="*/ 1814130 h 1814130"/>
              <a:gd name="connsiteX5" fmla="*/ 0 w 2423384"/>
              <a:gd name="connsiteY5" fmla="*/ 1809241 h 1814130"/>
              <a:gd name="connsiteX6" fmla="*/ 1788 w 2423384"/>
              <a:gd name="connsiteY6" fmla="*/ 1516091 h 1814130"/>
              <a:gd name="connsiteX0" fmla="*/ 1788 w 2423357"/>
              <a:gd name="connsiteY0" fmla="*/ 1516091 h 1814130"/>
              <a:gd name="connsiteX1" fmla="*/ 842352 w 2423357"/>
              <a:gd name="connsiteY1" fmla="*/ 1520981 h 1814130"/>
              <a:gd name="connsiteX2" fmla="*/ 857393 w 2423357"/>
              <a:gd name="connsiteY2" fmla="*/ 0 h 1814130"/>
              <a:gd name="connsiteX3" fmla="*/ 2423357 w 2423357"/>
              <a:gd name="connsiteY3" fmla="*/ 12066 h 1814130"/>
              <a:gd name="connsiteX4" fmla="*/ 1962801 w 2423357"/>
              <a:gd name="connsiteY4" fmla="*/ 1814130 h 1814130"/>
              <a:gd name="connsiteX5" fmla="*/ 0 w 2423357"/>
              <a:gd name="connsiteY5" fmla="*/ 1809241 h 1814130"/>
              <a:gd name="connsiteX6" fmla="*/ 1788 w 2423357"/>
              <a:gd name="connsiteY6" fmla="*/ 1516091 h 1814130"/>
              <a:gd name="connsiteX0" fmla="*/ 1788 w 2423357"/>
              <a:gd name="connsiteY0" fmla="*/ 1516091 h 1810542"/>
              <a:gd name="connsiteX1" fmla="*/ 842352 w 2423357"/>
              <a:gd name="connsiteY1" fmla="*/ 1520981 h 1810542"/>
              <a:gd name="connsiteX2" fmla="*/ 857393 w 2423357"/>
              <a:gd name="connsiteY2" fmla="*/ 0 h 1810542"/>
              <a:gd name="connsiteX3" fmla="*/ 2423357 w 2423357"/>
              <a:gd name="connsiteY3" fmla="*/ 12066 h 1810542"/>
              <a:gd name="connsiteX4" fmla="*/ 2401135 w 2423357"/>
              <a:gd name="connsiteY4" fmla="*/ 1810542 h 1810542"/>
              <a:gd name="connsiteX5" fmla="*/ 0 w 2423357"/>
              <a:gd name="connsiteY5" fmla="*/ 1809241 h 1810542"/>
              <a:gd name="connsiteX6" fmla="*/ 1788 w 2423357"/>
              <a:gd name="connsiteY6" fmla="*/ 1516091 h 1810542"/>
              <a:gd name="connsiteX0" fmla="*/ 1788 w 2840789"/>
              <a:gd name="connsiteY0" fmla="*/ 1516091 h 1814065"/>
              <a:gd name="connsiteX1" fmla="*/ 842352 w 2840789"/>
              <a:gd name="connsiteY1" fmla="*/ 1520981 h 1814065"/>
              <a:gd name="connsiteX2" fmla="*/ 857393 w 2840789"/>
              <a:gd name="connsiteY2" fmla="*/ 0 h 1814065"/>
              <a:gd name="connsiteX3" fmla="*/ 2423357 w 2840789"/>
              <a:gd name="connsiteY3" fmla="*/ 12066 h 1814065"/>
              <a:gd name="connsiteX4" fmla="*/ 2840789 w 2840789"/>
              <a:gd name="connsiteY4" fmla="*/ 1814065 h 1814065"/>
              <a:gd name="connsiteX5" fmla="*/ 0 w 2840789"/>
              <a:gd name="connsiteY5" fmla="*/ 1809241 h 1814065"/>
              <a:gd name="connsiteX6" fmla="*/ 1788 w 2840789"/>
              <a:gd name="connsiteY6" fmla="*/ 1516091 h 1814065"/>
              <a:gd name="connsiteX0" fmla="*/ 1788 w 2847530"/>
              <a:gd name="connsiteY0" fmla="*/ 1516091 h 1814065"/>
              <a:gd name="connsiteX1" fmla="*/ 842352 w 2847530"/>
              <a:gd name="connsiteY1" fmla="*/ 1520981 h 1814065"/>
              <a:gd name="connsiteX2" fmla="*/ 857393 w 2847530"/>
              <a:gd name="connsiteY2" fmla="*/ 0 h 1814065"/>
              <a:gd name="connsiteX3" fmla="*/ 2847530 w 2847530"/>
              <a:gd name="connsiteY3" fmla="*/ 5020 h 1814065"/>
              <a:gd name="connsiteX4" fmla="*/ 2840789 w 2847530"/>
              <a:gd name="connsiteY4" fmla="*/ 1814065 h 1814065"/>
              <a:gd name="connsiteX5" fmla="*/ 0 w 2847530"/>
              <a:gd name="connsiteY5" fmla="*/ 1809241 h 1814065"/>
              <a:gd name="connsiteX6" fmla="*/ 1788 w 2847530"/>
              <a:gd name="connsiteY6" fmla="*/ 1516091 h 181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7530" h="1814065">
                <a:moveTo>
                  <a:pt x="1788" y="1516091"/>
                </a:moveTo>
                <a:lnTo>
                  <a:pt x="842352" y="1520981"/>
                </a:lnTo>
                <a:lnTo>
                  <a:pt x="857393" y="0"/>
                </a:lnTo>
                <a:lnTo>
                  <a:pt x="2847530" y="5020"/>
                </a:lnTo>
                <a:lnTo>
                  <a:pt x="2840789" y="1814065"/>
                </a:lnTo>
                <a:lnTo>
                  <a:pt x="0" y="1809241"/>
                </a:lnTo>
                <a:lnTo>
                  <a:pt x="1788" y="1516091"/>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20</a:t>
            </a:fld>
            <a:endParaRPr lang="zh-CN" altLang="en-US" dirty="0">
              <a:solidFill>
                <a:srgbClr val="C00000"/>
              </a:solidFill>
            </a:endParaRPr>
          </a:p>
        </p:txBody>
      </p:sp>
      <p:sp>
        <p:nvSpPr>
          <p:cNvPr id="15" name="Text Box 5"/>
          <p:cNvSpPr txBox="1">
            <a:spLocks noChangeArrowheads="1"/>
          </p:cNvSpPr>
          <p:nvPr/>
        </p:nvSpPr>
        <p:spPr bwMode="auto">
          <a:xfrm>
            <a:off x="1018452" y="1551403"/>
            <a:ext cx="3887918" cy="205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挡土墙在外力作用下发生指向填土方向的移动或转动</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墙后土体受到挤压，有上滑趋势，土体抗剪阻力逐渐增大，作用在墙背上的土压力加大</a:t>
            </a:r>
            <a:endParaRPr lang="en-US" altLang="zh-CN" sz="2000" b="1" dirty="0" smtClean="0">
              <a:solidFill>
                <a:srgbClr val="000066"/>
              </a:solidFill>
              <a:ea typeface="幼圆" pitchFamily="49" charset="-122"/>
              <a:cs typeface="Times New Roman" panose="02020603050405020304" pitchFamily="18" charset="0"/>
              <a:sym typeface="Symbol" pitchFamily="18" charset="2"/>
            </a:endParaRPr>
          </a:p>
        </p:txBody>
      </p:sp>
      <p:sp>
        <p:nvSpPr>
          <p:cNvPr id="39" name="Text Box 46"/>
          <p:cNvSpPr txBox="1">
            <a:spLocks noChangeArrowheads="1"/>
          </p:cNvSpPr>
          <p:nvPr/>
        </p:nvSpPr>
        <p:spPr bwMode="auto">
          <a:xfrm>
            <a:off x="384650" y="714520"/>
            <a:ext cx="4424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三、被动土压力</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8"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
        <p:nvSpPr>
          <p:cNvPr id="89"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90" name="任意多边形 89"/>
          <p:cNvSpPr/>
          <p:nvPr/>
        </p:nvSpPr>
        <p:spPr bwMode="auto">
          <a:xfrm>
            <a:off x="5375173" y="1386110"/>
            <a:ext cx="916668" cy="1789782"/>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372885 w 891960"/>
              <a:gd name="connsiteY4" fmla="*/ 107392 h 1514650"/>
              <a:gd name="connsiteX5" fmla="*/ 0 w 891960"/>
              <a:gd name="connsiteY5" fmla="*/ 1514650 h 1514650"/>
              <a:gd name="connsiteX0" fmla="*/ 0 w 891960"/>
              <a:gd name="connsiteY0" fmla="*/ 1518487 h 1518487"/>
              <a:gd name="connsiteX1" fmla="*/ 891960 w 891960"/>
              <a:gd name="connsiteY1" fmla="*/ 1518487 h 1518487"/>
              <a:gd name="connsiteX2" fmla="*/ 799055 w 891960"/>
              <a:gd name="connsiteY2" fmla="*/ 6282 h 1518487"/>
              <a:gd name="connsiteX3" fmla="*/ 560868 w 891960"/>
              <a:gd name="connsiteY3" fmla="*/ 0 h 1518487"/>
              <a:gd name="connsiteX4" fmla="*/ 372885 w 891960"/>
              <a:gd name="connsiteY4" fmla="*/ 111229 h 1518487"/>
              <a:gd name="connsiteX5" fmla="*/ 0 w 891960"/>
              <a:gd name="connsiteY5" fmla="*/ 1518487 h 1518487"/>
              <a:gd name="connsiteX0" fmla="*/ 0 w 891960"/>
              <a:gd name="connsiteY0" fmla="*/ 1518487 h 1518487"/>
              <a:gd name="connsiteX1" fmla="*/ 891960 w 891960"/>
              <a:gd name="connsiteY1" fmla="*/ 1518487 h 1518487"/>
              <a:gd name="connsiteX2" fmla="*/ 799055 w 891960"/>
              <a:gd name="connsiteY2" fmla="*/ 6282 h 1518487"/>
              <a:gd name="connsiteX3" fmla="*/ 560868 w 891960"/>
              <a:gd name="connsiteY3" fmla="*/ 0 h 1518487"/>
              <a:gd name="connsiteX4" fmla="*/ 372885 w 891960"/>
              <a:gd name="connsiteY4" fmla="*/ 111229 h 1518487"/>
              <a:gd name="connsiteX5" fmla="*/ 0 w 891960"/>
              <a:gd name="connsiteY5" fmla="*/ 1518487 h 1518487"/>
              <a:gd name="connsiteX0" fmla="*/ 0 w 891960"/>
              <a:gd name="connsiteY0" fmla="*/ 1518487 h 1518487"/>
              <a:gd name="connsiteX1" fmla="*/ 891960 w 891960"/>
              <a:gd name="connsiteY1" fmla="*/ 1518487 h 1518487"/>
              <a:gd name="connsiteX2" fmla="*/ 799055 w 891960"/>
              <a:gd name="connsiteY2" fmla="*/ 6282 h 1518487"/>
              <a:gd name="connsiteX3" fmla="*/ 547655 w 891960"/>
              <a:gd name="connsiteY3" fmla="*/ 0 h 1518487"/>
              <a:gd name="connsiteX4" fmla="*/ 372885 w 891960"/>
              <a:gd name="connsiteY4" fmla="*/ 111229 h 1518487"/>
              <a:gd name="connsiteX5" fmla="*/ 0 w 891960"/>
              <a:gd name="connsiteY5" fmla="*/ 1518487 h 1518487"/>
              <a:gd name="connsiteX0" fmla="*/ 0 w 891960"/>
              <a:gd name="connsiteY0" fmla="*/ 1516990 h 1516990"/>
              <a:gd name="connsiteX1" fmla="*/ 891960 w 891960"/>
              <a:gd name="connsiteY1" fmla="*/ 1516990 h 1516990"/>
              <a:gd name="connsiteX2" fmla="*/ 799055 w 891960"/>
              <a:gd name="connsiteY2" fmla="*/ 4785 h 1516990"/>
              <a:gd name="connsiteX3" fmla="*/ 535632 w 891960"/>
              <a:gd name="connsiteY3" fmla="*/ 0 h 1516990"/>
              <a:gd name="connsiteX4" fmla="*/ 372885 w 891960"/>
              <a:gd name="connsiteY4" fmla="*/ 109732 h 1516990"/>
              <a:gd name="connsiteX5" fmla="*/ 0 w 891960"/>
              <a:gd name="connsiteY5" fmla="*/ 1516990 h 1516990"/>
              <a:gd name="connsiteX0" fmla="*/ 0 w 891960"/>
              <a:gd name="connsiteY0" fmla="*/ 1516990 h 1516990"/>
              <a:gd name="connsiteX1" fmla="*/ 891960 w 891960"/>
              <a:gd name="connsiteY1" fmla="*/ 1516990 h 1516990"/>
              <a:gd name="connsiteX2" fmla="*/ 799055 w 891960"/>
              <a:gd name="connsiteY2" fmla="*/ 4785 h 1516990"/>
              <a:gd name="connsiteX3" fmla="*/ 535632 w 891960"/>
              <a:gd name="connsiteY3" fmla="*/ 0 h 1516990"/>
              <a:gd name="connsiteX4" fmla="*/ 361990 w 891960"/>
              <a:gd name="connsiteY4" fmla="*/ 154020 h 1516990"/>
              <a:gd name="connsiteX5" fmla="*/ 0 w 891960"/>
              <a:gd name="connsiteY5" fmla="*/ 1516990 h 151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960" h="1516990">
                <a:moveTo>
                  <a:pt x="0" y="1516990"/>
                </a:moveTo>
                <a:lnTo>
                  <a:pt x="891960" y="1516990"/>
                </a:lnTo>
                <a:lnTo>
                  <a:pt x="799055" y="4785"/>
                </a:lnTo>
                <a:lnTo>
                  <a:pt x="535632" y="0"/>
                </a:lnTo>
                <a:lnTo>
                  <a:pt x="361990" y="154020"/>
                </a:lnTo>
                <a:lnTo>
                  <a:pt x="0" y="151699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a:endCxn id="91" idx="3"/>
          </p:cNvCxnSpPr>
          <p:nvPr/>
        </p:nvCxnSpPr>
        <p:spPr bwMode="auto">
          <a:xfrm>
            <a:off x="6200889" y="1392872"/>
            <a:ext cx="2653739" cy="22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6107873" y="3085095"/>
            <a:ext cx="351378" cy="385362"/>
          </a:xfrm>
          <a:prstGeom prst="rect">
            <a:avLst/>
          </a:prstGeom>
          <a:noFill/>
        </p:spPr>
        <p:txBody>
          <a:bodyPr wrap="none" rtlCol="0">
            <a:spAutoFit/>
          </a:bodyPr>
          <a:lstStyle/>
          <a:p>
            <a:r>
              <a:rPr lang="en-US" altLang="zh-CN" sz="1800" b="1" dirty="0" smtClean="0">
                <a:solidFill>
                  <a:srgbClr val="000066"/>
                </a:solidFill>
              </a:rPr>
              <a:t>A</a:t>
            </a:r>
            <a:endParaRPr lang="zh-CN" altLang="en-US" sz="1800" b="1" dirty="0">
              <a:solidFill>
                <a:srgbClr val="000066"/>
              </a:solidFill>
            </a:endParaRPr>
          </a:p>
        </p:txBody>
      </p:sp>
      <p:sp>
        <p:nvSpPr>
          <p:cNvPr id="98" name="TextBox 97"/>
          <p:cNvSpPr txBox="1"/>
          <p:nvPr/>
        </p:nvSpPr>
        <p:spPr>
          <a:xfrm>
            <a:off x="6038130" y="1074553"/>
            <a:ext cx="338554" cy="385362"/>
          </a:xfrm>
          <a:prstGeom prst="rect">
            <a:avLst/>
          </a:prstGeom>
          <a:noFill/>
        </p:spPr>
        <p:txBody>
          <a:bodyPr wrap="none" rtlCol="0">
            <a:spAutoFit/>
          </a:bodyPr>
          <a:lstStyle/>
          <a:p>
            <a:r>
              <a:rPr lang="en-US" altLang="zh-CN" sz="1800" b="1" dirty="0">
                <a:solidFill>
                  <a:srgbClr val="000066"/>
                </a:solidFill>
              </a:rPr>
              <a:t>B</a:t>
            </a:r>
            <a:endParaRPr lang="zh-CN" altLang="en-US" sz="1800" b="1" dirty="0">
              <a:solidFill>
                <a:srgbClr val="000066"/>
              </a:solidFill>
            </a:endParaRPr>
          </a:p>
        </p:txBody>
      </p:sp>
      <p:sp>
        <p:nvSpPr>
          <p:cNvPr id="99" name="TextBox 98"/>
          <p:cNvSpPr txBox="1"/>
          <p:nvPr/>
        </p:nvSpPr>
        <p:spPr>
          <a:xfrm>
            <a:off x="8463139" y="1071639"/>
            <a:ext cx="351378" cy="385362"/>
          </a:xfrm>
          <a:prstGeom prst="rect">
            <a:avLst/>
          </a:prstGeom>
          <a:noFill/>
        </p:spPr>
        <p:txBody>
          <a:bodyPr wrap="none" rtlCol="0">
            <a:spAutoFit/>
          </a:bodyPr>
          <a:lstStyle/>
          <a:p>
            <a:r>
              <a:rPr lang="en-US" altLang="zh-CN" sz="1800" b="1" dirty="0" smtClean="0">
                <a:solidFill>
                  <a:srgbClr val="000066"/>
                </a:solidFill>
              </a:rPr>
              <a:t>C</a:t>
            </a:r>
            <a:endParaRPr lang="zh-CN" altLang="en-US" sz="1800" b="1" dirty="0">
              <a:solidFill>
                <a:srgbClr val="000066"/>
              </a:solidFill>
            </a:endParaRPr>
          </a:p>
        </p:txBody>
      </p:sp>
      <p:grpSp>
        <p:nvGrpSpPr>
          <p:cNvPr id="7" name="组合 6"/>
          <p:cNvGrpSpPr/>
          <p:nvPr/>
        </p:nvGrpSpPr>
        <p:grpSpPr>
          <a:xfrm>
            <a:off x="6287748" y="2428491"/>
            <a:ext cx="913151" cy="681261"/>
            <a:chOff x="6287748" y="2428491"/>
            <a:chExt cx="913151" cy="681261"/>
          </a:xfrm>
        </p:grpSpPr>
        <p:sp>
          <p:nvSpPr>
            <p:cNvPr id="105" name="Line 65"/>
            <p:cNvSpPr>
              <a:spLocks noChangeShapeType="1"/>
            </p:cNvSpPr>
            <p:nvPr/>
          </p:nvSpPr>
          <p:spPr bwMode="auto">
            <a:xfrm flipH="1" flipV="1">
              <a:off x="6287748" y="2428491"/>
              <a:ext cx="908688" cy="322082"/>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Text Box 66"/>
            <p:cNvSpPr txBox="1">
              <a:spLocks noChangeArrowheads="1"/>
            </p:cNvSpPr>
            <p:nvPr/>
          </p:nvSpPr>
          <p:spPr bwMode="auto">
            <a:xfrm>
              <a:off x="6695328" y="2592687"/>
              <a:ext cx="505571"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A50021"/>
                  </a:solidFill>
                  <a:ea typeface="楷体_GB2312" pitchFamily="49" charset="-122"/>
                </a:rPr>
                <a:t>E</a:t>
              </a:r>
              <a:r>
                <a:rPr lang="en-US" altLang="zh-CN" sz="2400" b="1" baseline="-25000" dirty="0" err="1" smtClean="0">
                  <a:solidFill>
                    <a:srgbClr val="A50021"/>
                  </a:solidFill>
                  <a:ea typeface="楷体_GB2312" pitchFamily="49" charset="-122"/>
                </a:rPr>
                <a:t>p</a:t>
              </a:r>
              <a:endParaRPr lang="en-US" altLang="zh-CN" sz="2400" b="1" baseline="-25000" dirty="0">
                <a:solidFill>
                  <a:srgbClr val="A50021"/>
                </a:solidFill>
                <a:ea typeface="楷体_GB2312" pitchFamily="49" charset="-122"/>
              </a:endParaRPr>
            </a:p>
          </p:txBody>
        </p:sp>
      </p:grpSp>
      <p:sp>
        <p:nvSpPr>
          <p:cNvPr id="107" name="Text Box 5"/>
          <p:cNvSpPr txBox="1">
            <a:spLocks noChangeArrowheads="1"/>
          </p:cNvSpPr>
          <p:nvPr/>
        </p:nvSpPr>
        <p:spPr bwMode="auto">
          <a:xfrm>
            <a:off x="1004373" y="3675397"/>
            <a:ext cx="7461250" cy="165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直到墙的移动量足够大时，滑动面上剪应力等于土的抗剪强度，墙后土体达到</a:t>
            </a:r>
            <a:r>
              <a:rPr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被动极限平衡状态</a:t>
            </a:r>
            <a:r>
              <a:rPr lang="zh-CN" altLang="en-US" sz="2000" b="1" dirty="0" smtClean="0">
                <a:solidFill>
                  <a:srgbClr val="000066"/>
                </a:solidFill>
                <a:ea typeface="幼圆" pitchFamily="49" charset="-122"/>
                <a:cs typeface="Times New Roman" panose="02020603050405020304" pitchFamily="18" charset="0"/>
                <a:sym typeface="Symbol" pitchFamily="18" charset="2"/>
              </a:rPr>
              <a:t>，土体发生向上滑动，滑动面一般为曲面</a:t>
            </a:r>
            <a:r>
              <a:rPr lang="en-US" altLang="zh-CN" sz="2000" b="1" dirty="0" smtClean="0">
                <a:solidFill>
                  <a:srgbClr val="000066"/>
                </a:solidFill>
                <a:ea typeface="幼圆" pitchFamily="49" charset="-122"/>
                <a:cs typeface="Times New Roman" panose="02020603050405020304" pitchFamily="18" charset="0"/>
                <a:sym typeface="Symbol" pitchFamily="18" charset="2"/>
              </a:rPr>
              <a:t>AC</a:t>
            </a: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000" b="1" dirty="0" smtClean="0">
                <a:solidFill>
                  <a:srgbClr val="000066"/>
                </a:solidFill>
                <a:ea typeface="幼圆" pitchFamily="49" charset="-122"/>
                <a:cs typeface="Times New Roman" panose="02020603050405020304" pitchFamily="18" charset="0"/>
                <a:sym typeface="Symbol" pitchFamily="18" charset="2"/>
              </a:rPr>
              <a:t>这时作用在墙上的土压力达到最大值，称</a:t>
            </a:r>
            <a:r>
              <a:rPr lang="zh-CN" altLang="en-US" sz="2000" b="1" dirty="0">
                <a:solidFill>
                  <a:srgbClr val="C00000"/>
                </a:solidFill>
                <a:ea typeface="黑体" panose="02010609060101010101" pitchFamily="49" charset="-122"/>
                <a:cs typeface="Times New Roman" panose="02020603050405020304" pitchFamily="18" charset="0"/>
                <a:sym typeface="Symbol" pitchFamily="18" charset="2"/>
              </a:rPr>
              <a:t>被动</a:t>
            </a:r>
            <a:r>
              <a:rPr lang="zh-CN" altLang="en-US" sz="2000" b="1" dirty="0" smtClean="0">
                <a:solidFill>
                  <a:srgbClr val="C00000"/>
                </a:solidFill>
                <a:ea typeface="黑体" panose="02010609060101010101" pitchFamily="49" charset="-122"/>
                <a:cs typeface="Times New Roman" panose="02020603050405020304" pitchFamily="18" charset="0"/>
                <a:sym typeface="Symbol" pitchFamily="18" charset="2"/>
              </a:rPr>
              <a:t>土压力 </a:t>
            </a:r>
            <a:r>
              <a:rPr lang="en-US" altLang="zh-CN" sz="2000" b="1" i="1" dirty="0" err="1"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000" b="1" baseline="-25000" dirty="0" err="1" smtClean="0">
                <a:solidFill>
                  <a:srgbClr val="C00000"/>
                </a:solidFill>
                <a:ea typeface="黑体" panose="02010609060101010101" pitchFamily="49" charset="-122"/>
                <a:cs typeface="Times New Roman" panose="02020603050405020304" pitchFamily="18" charset="0"/>
                <a:sym typeface="Symbol" pitchFamily="18" charset="2"/>
              </a:rPr>
              <a:t>p</a:t>
            </a:r>
            <a:endParaRPr lang="en-US" altLang="zh-CN" sz="2000" b="1" baseline="-25000" dirty="0" smtClean="0">
              <a:solidFill>
                <a:srgbClr val="C00000"/>
              </a:solidFill>
              <a:ea typeface="黑体" panose="02010609060101010101" pitchFamily="49" charset="-122"/>
              <a:cs typeface="Times New Roman" panose="02020603050405020304" pitchFamily="18" charset="0"/>
              <a:sym typeface="Symbol" pitchFamily="18" charset="2"/>
            </a:endParaRPr>
          </a:p>
        </p:txBody>
      </p:sp>
      <p:sp>
        <p:nvSpPr>
          <p:cNvPr id="5" name="任意多边形 4"/>
          <p:cNvSpPr/>
          <p:nvPr/>
        </p:nvSpPr>
        <p:spPr bwMode="auto">
          <a:xfrm rot="20941275">
            <a:off x="5499044" y="1174237"/>
            <a:ext cx="415303" cy="398195"/>
          </a:xfrm>
          <a:custGeom>
            <a:avLst/>
            <a:gdLst>
              <a:gd name="connsiteX0" fmla="*/ 0 w 358346"/>
              <a:gd name="connsiteY0" fmla="*/ 135925 h 372468"/>
              <a:gd name="connsiteX1" fmla="*/ 185352 w 358346"/>
              <a:gd name="connsiteY1" fmla="*/ 372468 h 372468"/>
              <a:gd name="connsiteX2" fmla="*/ 358346 w 358346"/>
              <a:gd name="connsiteY2" fmla="*/ 238309 h 372468"/>
              <a:gd name="connsiteX3" fmla="*/ 171230 w 358346"/>
              <a:gd name="connsiteY3" fmla="*/ 0 h 372468"/>
              <a:gd name="connsiteX4" fmla="*/ 157108 w 358346"/>
              <a:gd name="connsiteY4" fmla="*/ 21183 h 372468"/>
              <a:gd name="connsiteX5" fmla="*/ 127098 w 358346"/>
              <a:gd name="connsiteY5" fmla="*/ 21183 h 372468"/>
              <a:gd name="connsiteX6" fmla="*/ 109446 w 358346"/>
              <a:gd name="connsiteY6" fmla="*/ 58254 h 372468"/>
              <a:gd name="connsiteX7" fmla="*/ 54723 w 358346"/>
              <a:gd name="connsiteY7" fmla="*/ 70610 h 372468"/>
              <a:gd name="connsiteX8" fmla="*/ 0 w 358346"/>
              <a:gd name="connsiteY8" fmla="*/ 135925 h 372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346" h="372468">
                <a:moveTo>
                  <a:pt x="0" y="135925"/>
                </a:moveTo>
                <a:lnTo>
                  <a:pt x="185352" y="372468"/>
                </a:lnTo>
                <a:lnTo>
                  <a:pt x="358346" y="238309"/>
                </a:lnTo>
                <a:lnTo>
                  <a:pt x="171230" y="0"/>
                </a:lnTo>
                <a:lnTo>
                  <a:pt x="157108" y="21183"/>
                </a:lnTo>
                <a:lnTo>
                  <a:pt x="127098" y="21183"/>
                </a:lnTo>
                <a:lnTo>
                  <a:pt x="109446" y="58254"/>
                </a:lnTo>
                <a:lnTo>
                  <a:pt x="54723" y="70610"/>
                </a:lnTo>
                <a:lnTo>
                  <a:pt x="0" y="135925"/>
                </a:lnTo>
                <a:close/>
              </a:path>
            </a:pathLst>
          </a:custGeom>
          <a:pattFill prst="ltDnDiag">
            <a:fgClr>
              <a:schemeClr val="tx1"/>
            </a:fgClr>
            <a:bgClr>
              <a:srgbClr val="996633"/>
            </a:bgClr>
          </a:patt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 name="直接箭头连接符 9"/>
          <p:cNvCxnSpPr/>
          <p:nvPr/>
        </p:nvCxnSpPr>
        <p:spPr bwMode="auto">
          <a:xfrm>
            <a:off x="5125065" y="911820"/>
            <a:ext cx="420362" cy="342807"/>
          </a:xfrm>
          <a:prstGeom prst="straightConnector1">
            <a:avLst/>
          </a:prstGeom>
          <a:noFill/>
          <a:ln w="571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任意多边形 51"/>
          <p:cNvSpPr/>
          <p:nvPr/>
        </p:nvSpPr>
        <p:spPr bwMode="auto">
          <a:xfrm rot="170847">
            <a:off x="5476773" y="1370235"/>
            <a:ext cx="916668" cy="1789782"/>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60005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833283 w 891960"/>
              <a:gd name="connsiteY2" fmla="*/ 0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0 w 891960"/>
              <a:gd name="connsiteY4" fmla="*/ 1514650 h 1514650"/>
              <a:gd name="connsiteX0" fmla="*/ 0 w 891960"/>
              <a:gd name="connsiteY0" fmla="*/ 1514650 h 1514650"/>
              <a:gd name="connsiteX1" fmla="*/ 891960 w 891960"/>
              <a:gd name="connsiteY1" fmla="*/ 1514650 h 1514650"/>
              <a:gd name="connsiteX2" fmla="*/ 799055 w 891960"/>
              <a:gd name="connsiteY2" fmla="*/ 2445 h 1514650"/>
              <a:gd name="connsiteX3" fmla="*/ 411107 w 891960"/>
              <a:gd name="connsiteY3" fmla="*/ 0 h 1514650"/>
              <a:gd name="connsiteX4" fmla="*/ 372885 w 891960"/>
              <a:gd name="connsiteY4" fmla="*/ 107392 h 1514650"/>
              <a:gd name="connsiteX5" fmla="*/ 0 w 891960"/>
              <a:gd name="connsiteY5" fmla="*/ 1514650 h 1514650"/>
              <a:gd name="connsiteX0" fmla="*/ 0 w 891960"/>
              <a:gd name="connsiteY0" fmla="*/ 1518487 h 1518487"/>
              <a:gd name="connsiteX1" fmla="*/ 891960 w 891960"/>
              <a:gd name="connsiteY1" fmla="*/ 1518487 h 1518487"/>
              <a:gd name="connsiteX2" fmla="*/ 799055 w 891960"/>
              <a:gd name="connsiteY2" fmla="*/ 6282 h 1518487"/>
              <a:gd name="connsiteX3" fmla="*/ 560868 w 891960"/>
              <a:gd name="connsiteY3" fmla="*/ 0 h 1518487"/>
              <a:gd name="connsiteX4" fmla="*/ 372885 w 891960"/>
              <a:gd name="connsiteY4" fmla="*/ 111229 h 1518487"/>
              <a:gd name="connsiteX5" fmla="*/ 0 w 891960"/>
              <a:gd name="connsiteY5" fmla="*/ 1518487 h 1518487"/>
              <a:gd name="connsiteX0" fmla="*/ 0 w 891960"/>
              <a:gd name="connsiteY0" fmla="*/ 1518487 h 1518487"/>
              <a:gd name="connsiteX1" fmla="*/ 891960 w 891960"/>
              <a:gd name="connsiteY1" fmla="*/ 1518487 h 1518487"/>
              <a:gd name="connsiteX2" fmla="*/ 799055 w 891960"/>
              <a:gd name="connsiteY2" fmla="*/ 6282 h 1518487"/>
              <a:gd name="connsiteX3" fmla="*/ 560868 w 891960"/>
              <a:gd name="connsiteY3" fmla="*/ 0 h 1518487"/>
              <a:gd name="connsiteX4" fmla="*/ 372885 w 891960"/>
              <a:gd name="connsiteY4" fmla="*/ 111229 h 1518487"/>
              <a:gd name="connsiteX5" fmla="*/ 0 w 891960"/>
              <a:gd name="connsiteY5" fmla="*/ 1518487 h 1518487"/>
              <a:gd name="connsiteX0" fmla="*/ 0 w 891960"/>
              <a:gd name="connsiteY0" fmla="*/ 1518487 h 1518487"/>
              <a:gd name="connsiteX1" fmla="*/ 891960 w 891960"/>
              <a:gd name="connsiteY1" fmla="*/ 1518487 h 1518487"/>
              <a:gd name="connsiteX2" fmla="*/ 799055 w 891960"/>
              <a:gd name="connsiteY2" fmla="*/ 6282 h 1518487"/>
              <a:gd name="connsiteX3" fmla="*/ 547655 w 891960"/>
              <a:gd name="connsiteY3" fmla="*/ 0 h 1518487"/>
              <a:gd name="connsiteX4" fmla="*/ 372885 w 891960"/>
              <a:gd name="connsiteY4" fmla="*/ 111229 h 1518487"/>
              <a:gd name="connsiteX5" fmla="*/ 0 w 891960"/>
              <a:gd name="connsiteY5" fmla="*/ 1518487 h 1518487"/>
              <a:gd name="connsiteX0" fmla="*/ 0 w 891960"/>
              <a:gd name="connsiteY0" fmla="*/ 1516990 h 1516990"/>
              <a:gd name="connsiteX1" fmla="*/ 891960 w 891960"/>
              <a:gd name="connsiteY1" fmla="*/ 1516990 h 1516990"/>
              <a:gd name="connsiteX2" fmla="*/ 799055 w 891960"/>
              <a:gd name="connsiteY2" fmla="*/ 4785 h 1516990"/>
              <a:gd name="connsiteX3" fmla="*/ 535632 w 891960"/>
              <a:gd name="connsiteY3" fmla="*/ 0 h 1516990"/>
              <a:gd name="connsiteX4" fmla="*/ 372885 w 891960"/>
              <a:gd name="connsiteY4" fmla="*/ 109732 h 1516990"/>
              <a:gd name="connsiteX5" fmla="*/ 0 w 891960"/>
              <a:gd name="connsiteY5" fmla="*/ 1516990 h 1516990"/>
              <a:gd name="connsiteX0" fmla="*/ 0 w 891960"/>
              <a:gd name="connsiteY0" fmla="*/ 1516990 h 1516990"/>
              <a:gd name="connsiteX1" fmla="*/ 891960 w 891960"/>
              <a:gd name="connsiteY1" fmla="*/ 1516990 h 1516990"/>
              <a:gd name="connsiteX2" fmla="*/ 799055 w 891960"/>
              <a:gd name="connsiteY2" fmla="*/ 4785 h 1516990"/>
              <a:gd name="connsiteX3" fmla="*/ 535632 w 891960"/>
              <a:gd name="connsiteY3" fmla="*/ 0 h 1516990"/>
              <a:gd name="connsiteX4" fmla="*/ 361990 w 891960"/>
              <a:gd name="connsiteY4" fmla="*/ 154020 h 1516990"/>
              <a:gd name="connsiteX5" fmla="*/ 0 w 891960"/>
              <a:gd name="connsiteY5" fmla="*/ 1516990 h 151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1960" h="1516990">
                <a:moveTo>
                  <a:pt x="0" y="1516990"/>
                </a:moveTo>
                <a:lnTo>
                  <a:pt x="891960" y="1516990"/>
                </a:lnTo>
                <a:lnTo>
                  <a:pt x="799055" y="4785"/>
                </a:lnTo>
                <a:lnTo>
                  <a:pt x="535632" y="0"/>
                </a:lnTo>
                <a:lnTo>
                  <a:pt x="361990" y="154020"/>
                </a:lnTo>
                <a:lnTo>
                  <a:pt x="0" y="1516990"/>
                </a:lnTo>
                <a:close/>
              </a:path>
            </a:pathLst>
          </a:custGeom>
          <a:noFill/>
          <a:ln w="19050" cap="flat" cmpd="sng" algn="ctr">
            <a:solidFill>
              <a:srgbClr val="C00000"/>
            </a:solidFill>
            <a:prstDash val="dash"/>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2" name="任意多边形 31"/>
          <p:cNvSpPr/>
          <p:nvPr/>
        </p:nvSpPr>
        <p:spPr bwMode="auto">
          <a:xfrm>
            <a:off x="6360147" y="1349534"/>
            <a:ext cx="1897258" cy="45481"/>
          </a:xfrm>
          <a:custGeom>
            <a:avLst/>
            <a:gdLst>
              <a:gd name="connsiteX0" fmla="*/ 0 w 1897258"/>
              <a:gd name="connsiteY0" fmla="*/ 44070 h 45481"/>
              <a:gd name="connsiteX1" fmla="*/ 166255 w 1897258"/>
              <a:gd name="connsiteY1" fmla="*/ 19621 h 45481"/>
              <a:gd name="connsiteX2" fmla="*/ 264051 w 1897258"/>
              <a:gd name="connsiteY2" fmla="*/ 9841 h 45481"/>
              <a:gd name="connsiteX3" fmla="*/ 381407 w 1897258"/>
              <a:gd name="connsiteY3" fmla="*/ 62 h 45481"/>
              <a:gd name="connsiteX4" fmla="*/ 537882 w 1897258"/>
              <a:gd name="connsiteY4" fmla="*/ 14731 h 45481"/>
              <a:gd name="connsiteX5" fmla="*/ 772595 w 1897258"/>
              <a:gd name="connsiteY5" fmla="*/ 19621 h 45481"/>
              <a:gd name="connsiteX6" fmla="*/ 1144222 w 1897258"/>
              <a:gd name="connsiteY6" fmla="*/ 29401 h 45481"/>
              <a:gd name="connsiteX7" fmla="*/ 1696774 w 1897258"/>
              <a:gd name="connsiteY7" fmla="*/ 44070 h 45481"/>
              <a:gd name="connsiteX8" fmla="*/ 1897258 w 1897258"/>
              <a:gd name="connsiteY8" fmla="*/ 44070 h 4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7258" h="45481">
                <a:moveTo>
                  <a:pt x="0" y="44070"/>
                </a:moveTo>
                <a:lnTo>
                  <a:pt x="166255" y="19621"/>
                </a:lnTo>
                <a:cubicBezTo>
                  <a:pt x="210264" y="13916"/>
                  <a:pt x="264051" y="9841"/>
                  <a:pt x="264051" y="9841"/>
                </a:cubicBezTo>
                <a:cubicBezTo>
                  <a:pt x="299910" y="6581"/>
                  <a:pt x="335769" y="-753"/>
                  <a:pt x="381407" y="62"/>
                </a:cubicBezTo>
                <a:cubicBezTo>
                  <a:pt x="427045" y="877"/>
                  <a:pt x="472684" y="11471"/>
                  <a:pt x="537882" y="14731"/>
                </a:cubicBezTo>
                <a:cubicBezTo>
                  <a:pt x="603080" y="17991"/>
                  <a:pt x="772595" y="19621"/>
                  <a:pt x="772595" y="19621"/>
                </a:cubicBezTo>
                <a:lnTo>
                  <a:pt x="1144222" y="29401"/>
                </a:lnTo>
                <a:lnTo>
                  <a:pt x="1696774" y="44070"/>
                </a:lnTo>
                <a:cubicBezTo>
                  <a:pt x="1822280" y="46515"/>
                  <a:pt x="1859769" y="45292"/>
                  <a:pt x="1897258" y="44070"/>
                </a:cubicBezTo>
              </a:path>
            </a:pathLst>
          </a:cu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4" name="右箭头 33"/>
          <p:cNvSpPr/>
          <p:nvPr/>
        </p:nvSpPr>
        <p:spPr bwMode="auto">
          <a:xfrm rot="19464216">
            <a:off x="7008885" y="2073162"/>
            <a:ext cx="528102" cy="327619"/>
          </a:xfrm>
          <a:prstGeom prst="rightArrow">
            <a:avLst>
              <a:gd name="adj1" fmla="val 50000"/>
              <a:gd name="adj2" fmla="val 61940"/>
            </a:avLst>
          </a:prstGeom>
          <a:solidFill>
            <a:srgbClr val="FFC000"/>
          </a:solidFill>
          <a:ln w="12700" cap="flat" cmpd="sng" algn="ctr">
            <a:solidFill>
              <a:srgbClr val="C00000"/>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0" name="AutoShape 118"/>
          <p:cNvSpPr>
            <a:spLocks noChangeArrowheads="1"/>
          </p:cNvSpPr>
          <p:nvPr/>
        </p:nvSpPr>
        <p:spPr bwMode="auto">
          <a:xfrm flipH="1">
            <a:off x="5176531" y="1770950"/>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3" name="组合 2"/>
          <p:cNvGrpSpPr/>
          <p:nvPr/>
        </p:nvGrpSpPr>
        <p:grpSpPr>
          <a:xfrm>
            <a:off x="6307277" y="1414010"/>
            <a:ext cx="2452085" cy="1898610"/>
            <a:chOff x="6307277" y="1414010"/>
            <a:chExt cx="2452085" cy="1898610"/>
          </a:xfrm>
        </p:grpSpPr>
        <p:cxnSp>
          <p:nvCxnSpPr>
            <p:cNvPr id="33" name="直接箭头连接符 32"/>
            <p:cNvCxnSpPr/>
            <p:nvPr/>
          </p:nvCxnSpPr>
          <p:spPr bwMode="auto">
            <a:xfrm flipV="1">
              <a:off x="7252367" y="2926080"/>
              <a:ext cx="195837" cy="179372"/>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箭头连接符 34"/>
            <p:cNvCxnSpPr/>
            <p:nvPr/>
          </p:nvCxnSpPr>
          <p:spPr bwMode="auto">
            <a:xfrm flipV="1">
              <a:off x="7543800" y="2635136"/>
              <a:ext cx="178724" cy="195349"/>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p:cNvCxnSpPr/>
            <p:nvPr/>
          </p:nvCxnSpPr>
          <p:spPr bwMode="auto">
            <a:xfrm flipV="1">
              <a:off x="7832298" y="2335876"/>
              <a:ext cx="172858" cy="192520"/>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箭头连接符 36"/>
            <p:cNvCxnSpPr/>
            <p:nvPr/>
          </p:nvCxnSpPr>
          <p:spPr bwMode="auto">
            <a:xfrm flipV="1">
              <a:off x="8110561" y="2032461"/>
              <a:ext cx="173072" cy="194863"/>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箭头连接符 37"/>
            <p:cNvCxnSpPr/>
            <p:nvPr/>
          </p:nvCxnSpPr>
          <p:spPr bwMode="auto">
            <a:xfrm flipV="1">
              <a:off x="8352411" y="1791393"/>
              <a:ext cx="155665" cy="167884"/>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p:cNvCxnSpPr/>
            <p:nvPr/>
          </p:nvCxnSpPr>
          <p:spPr bwMode="auto">
            <a:xfrm flipV="1">
              <a:off x="8599516" y="1508761"/>
              <a:ext cx="145473" cy="182879"/>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任意多边形 40"/>
            <p:cNvSpPr/>
            <p:nvPr/>
          </p:nvSpPr>
          <p:spPr bwMode="auto">
            <a:xfrm>
              <a:off x="6307277" y="1414010"/>
              <a:ext cx="2452085" cy="1836000"/>
            </a:xfrm>
            <a:custGeom>
              <a:avLst/>
              <a:gdLst>
                <a:gd name="connsiteX0" fmla="*/ 0 w 809897"/>
                <a:gd name="connsiteY0" fmla="*/ 115700 h 221815"/>
                <a:gd name="connsiteX1" fmla="*/ 138093 w 809897"/>
                <a:gd name="connsiteY1" fmla="*/ 190345 h 221815"/>
                <a:gd name="connsiteX2" fmla="*/ 343366 w 809897"/>
                <a:gd name="connsiteY2" fmla="*/ 220203 h 221815"/>
                <a:gd name="connsiteX3" fmla="*/ 582230 w 809897"/>
                <a:gd name="connsiteY3" fmla="*/ 145558 h 221815"/>
                <a:gd name="connsiteX4" fmla="*/ 809897 w 809897"/>
                <a:gd name="connsiteY4" fmla="*/ 0 h 221815"/>
                <a:gd name="connsiteX0" fmla="*/ 0 w 809897"/>
                <a:gd name="connsiteY0" fmla="*/ 115700 h 227011"/>
                <a:gd name="connsiteX1" fmla="*/ 138093 w 809897"/>
                <a:gd name="connsiteY1" fmla="*/ 190345 h 227011"/>
                <a:gd name="connsiteX2" fmla="*/ 343366 w 809897"/>
                <a:gd name="connsiteY2" fmla="*/ 220203 h 227011"/>
                <a:gd name="connsiteX3" fmla="*/ 384421 w 809897"/>
                <a:gd name="connsiteY3" fmla="*/ 220203 h 227011"/>
                <a:gd name="connsiteX4" fmla="*/ 582230 w 809897"/>
                <a:gd name="connsiteY4" fmla="*/ 145558 h 227011"/>
                <a:gd name="connsiteX5" fmla="*/ 809897 w 809897"/>
                <a:gd name="connsiteY5" fmla="*/ 0 h 227011"/>
                <a:gd name="connsiteX0" fmla="*/ 0 w 809897"/>
                <a:gd name="connsiteY0" fmla="*/ 115700 h 221815"/>
                <a:gd name="connsiteX1" fmla="*/ 138093 w 809897"/>
                <a:gd name="connsiteY1" fmla="*/ 190345 h 221815"/>
                <a:gd name="connsiteX2" fmla="*/ 343366 w 809897"/>
                <a:gd name="connsiteY2" fmla="*/ 220203 h 221815"/>
                <a:gd name="connsiteX3" fmla="*/ 582230 w 809897"/>
                <a:gd name="connsiteY3" fmla="*/ 145558 h 221815"/>
                <a:gd name="connsiteX4" fmla="*/ 809897 w 809897"/>
                <a:gd name="connsiteY4" fmla="*/ 0 h 221815"/>
                <a:gd name="connsiteX0" fmla="*/ 0 w 809897"/>
                <a:gd name="connsiteY0" fmla="*/ 115700 h 228974"/>
                <a:gd name="connsiteX1" fmla="*/ 138093 w 809897"/>
                <a:gd name="connsiteY1" fmla="*/ 190345 h 228974"/>
                <a:gd name="connsiteX2" fmla="*/ 373223 w 809897"/>
                <a:gd name="connsiteY2" fmla="*/ 227667 h 228974"/>
                <a:gd name="connsiteX3" fmla="*/ 582230 w 809897"/>
                <a:gd name="connsiteY3" fmla="*/ 145558 h 228974"/>
                <a:gd name="connsiteX4" fmla="*/ 809897 w 809897"/>
                <a:gd name="connsiteY4" fmla="*/ 0 h 228974"/>
                <a:gd name="connsiteX0" fmla="*/ 0 w 809897"/>
                <a:gd name="connsiteY0" fmla="*/ 115700 h 228974"/>
                <a:gd name="connsiteX1" fmla="*/ 138093 w 809897"/>
                <a:gd name="connsiteY1" fmla="*/ 190345 h 228974"/>
                <a:gd name="connsiteX2" fmla="*/ 373223 w 809897"/>
                <a:gd name="connsiteY2" fmla="*/ 227667 h 228974"/>
                <a:gd name="connsiteX3" fmla="*/ 608356 w 809897"/>
                <a:gd name="connsiteY3" fmla="*/ 145558 h 228974"/>
                <a:gd name="connsiteX4" fmla="*/ 809897 w 809897"/>
                <a:gd name="connsiteY4" fmla="*/ 0 h 228974"/>
                <a:gd name="connsiteX0" fmla="*/ 0 w 809897"/>
                <a:gd name="connsiteY0" fmla="*/ 115700 h 229520"/>
                <a:gd name="connsiteX1" fmla="*/ 138093 w 809897"/>
                <a:gd name="connsiteY1" fmla="*/ 190345 h 229520"/>
                <a:gd name="connsiteX2" fmla="*/ 373223 w 809897"/>
                <a:gd name="connsiteY2" fmla="*/ 227667 h 229520"/>
                <a:gd name="connsiteX3" fmla="*/ 608356 w 809897"/>
                <a:gd name="connsiteY3" fmla="*/ 134361 h 229520"/>
                <a:gd name="connsiteX4" fmla="*/ 809897 w 809897"/>
                <a:gd name="connsiteY4" fmla="*/ 0 h 229520"/>
                <a:gd name="connsiteX0" fmla="*/ 0 w 809897"/>
                <a:gd name="connsiteY0" fmla="*/ 115700 h 229520"/>
                <a:gd name="connsiteX1" fmla="*/ 138093 w 809897"/>
                <a:gd name="connsiteY1" fmla="*/ 190345 h 229520"/>
                <a:gd name="connsiteX2" fmla="*/ 373223 w 809897"/>
                <a:gd name="connsiteY2" fmla="*/ 227667 h 229520"/>
                <a:gd name="connsiteX3" fmla="*/ 608356 w 809897"/>
                <a:gd name="connsiteY3" fmla="*/ 134361 h 229520"/>
                <a:gd name="connsiteX4" fmla="*/ 753913 w 809897"/>
                <a:gd name="connsiteY4" fmla="*/ 41054 h 229520"/>
                <a:gd name="connsiteX5" fmla="*/ 809897 w 809897"/>
                <a:gd name="connsiteY5" fmla="*/ 0 h 229520"/>
                <a:gd name="connsiteX0" fmla="*/ 0 w 1127138"/>
                <a:gd name="connsiteY0" fmla="*/ 354564 h 468384"/>
                <a:gd name="connsiteX1" fmla="*/ 138093 w 1127138"/>
                <a:gd name="connsiteY1" fmla="*/ 429209 h 468384"/>
                <a:gd name="connsiteX2" fmla="*/ 373223 w 1127138"/>
                <a:gd name="connsiteY2" fmla="*/ 466531 h 468384"/>
                <a:gd name="connsiteX3" fmla="*/ 608356 w 1127138"/>
                <a:gd name="connsiteY3" fmla="*/ 373225 h 468384"/>
                <a:gd name="connsiteX4" fmla="*/ 753913 w 1127138"/>
                <a:gd name="connsiteY4" fmla="*/ 279918 h 468384"/>
                <a:gd name="connsiteX5" fmla="*/ 1127138 w 1127138"/>
                <a:gd name="connsiteY5" fmla="*/ 0 h 468384"/>
                <a:gd name="connsiteX0" fmla="*/ 0 w 1127138"/>
                <a:gd name="connsiteY0" fmla="*/ 354564 h 468384"/>
                <a:gd name="connsiteX1" fmla="*/ 138093 w 1127138"/>
                <a:gd name="connsiteY1" fmla="*/ 429209 h 468384"/>
                <a:gd name="connsiteX2" fmla="*/ 373223 w 1127138"/>
                <a:gd name="connsiteY2" fmla="*/ 466531 h 468384"/>
                <a:gd name="connsiteX3" fmla="*/ 608356 w 1127138"/>
                <a:gd name="connsiteY3" fmla="*/ 373225 h 468384"/>
                <a:gd name="connsiteX4" fmla="*/ 962919 w 1127138"/>
                <a:gd name="connsiteY4" fmla="*/ 126896 h 468384"/>
                <a:gd name="connsiteX5" fmla="*/ 1127138 w 1127138"/>
                <a:gd name="connsiteY5" fmla="*/ 0 h 468384"/>
                <a:gd name="connsiteX0" fmla="*/ 0 w 962919"/>
                <a:gd name="connsiteY0" fmla="*/ 227668 h 341488"/>
                <a:gd name="connsiteX1" fmla="*/ 138093 w 962919"/>
                <a:gd name="connsiteY1" fmla="*/ 302313 h 341488"/>
                <a:gd name="connsiteX2" fmla="*/ 373223 w 962919"/>
                <a:gd name="connsiteY2" fmla="*/ 339635 h 341488"/>
                <a:gd name="connsiteX3" fmla="*/ 608356 w 962919"/>
                <a:gd name="connsiteY3" fmla="*/ 246329 h 341488"/>
                <a:gd name="connsiteX4" fmla="*/ 962919 w 962919"/>
                <a:gd name="connsiteY4" fmla="*/ 0 h 341488"/>
                <a:gd name="connsiteX0" fmla="*/ 0 w 962919"/>
                <a:gd name="connsiteY0" fmla="*/ 227668 h 341488"/>
                <a:gd name="connsiteX1" fmla="*/ 138093 w 962919"/>
                <a:gd name="connsiteY1" fmla="*/ 302313 h 341488"/>
                <a:gd name="connsiteX2" fmla="*/ 373223 w 962919"/>
                <a:gd name="connsiteY2" fmla="*/ 339635 h 341488"/>
                <a:gd name="connsiteX3" fmla="*/ 608356 w 962919"/>
                <a:gd name="connsiteY3" fmla="*/ 246329 h 341488"/>
                <a:gd name="connsiteX4" fmla="*/ 847219 w 962919"/>
                <a:gd name="connsiteY4" fmla="*/ 89574 h 341488"/>
                <a:gd name="connsiteX5" fmla="*/ 962919 w 962919"/>
                <a:gd name="connsiteY5" fmla="*/ 0 h 341488"/>
                <a:gd name="connsiteX0" fmla="*/ 0 w 2452085"/>
                <a:gd name="connsiteY0" fmla="*/ 1388396 h 1502216"/>
                <a:gd name="connsiteX1" fmla="*/ 138093 w 2452085"/>
                <a:gd name="connsiteY1" fmla="*/ 1463041 h 1502216"/>
                <a:gd name="connsiteX2" fmla="*/ 373223 w 2452085"/>
                <a:gd name="connsiteY2" fmla="*/ 1500363 h 1502216"/>
                <a:gd name="connsiteX3" fmla="*/ 608356 w 2452085"/>
                <a:gd name="connsiteY3" fmla="*/ 1407057 h 1502216"/>
                <a:gd name="connsiteX4" fmla="*/ 847219 w 2452085"/>
                <a:gd name="connsiteY4" fmla="*/ 1250302 h 1502216"/>
                <a:gd name="connsiteX5" fmla="*/ 2452085 w 2452085"/>
                <a:gd name="connsiteY5" fmla="*/ 0 h 1502216"/>
                <a:gd name="connsiteX0" fmla="*/ 0 w 2452085"/>
                <a:gd name="connsiteY0" fmla="*/ 1388396 h 1503241"/>
                <a:gd name="connsiteX1" fmla="*/ 138093 w 2452085"/>
                <a:gd name="connsiteY1" fmla="*/ 1463041 h 1503241"/>
                <a:gd name="connsiteX2" fmla="*/ 171683 w 2452085"/>
                <a:gd name="connsiteY2" fmla="*/ 1477969 h 1503241"/>
                <a:gd name="connsiteX3" fmla="*/ 373223 w 2452085"/>
                <a:gd name="connsiteY3" fmla="*/ 1500363 h 1503241"/>
                <a:gd name="connsiteX4" fmla="*/ 608356 w 2452085"/>
                <a:gd name="connsiteY4" fmla="*/ 1407057 h 1503241"/>
                <a:gd name="connsiteX5" fmla="*/ 847219 w 2452085"/>
                <a:gd name="connsiteY5" fmla="*/ 1250302 h 1503241"/>
                <a:gd name="connsiteX6" fmla="*/ 2452085 w 2452085"/>
                <a:gd name="connsiteY6" fmla="*/ 0 h 1503241"/>
                <a:gd name="connsiteX0" fmla="*/ 0 w 2452085"/>
                <a:gd name="connsiteY0" fmla="*/ 1388396 h 1502216"/>
                <a:gd name="connsiteX1" fmla="*/ 138093 w 2452085"/>
                <a:gd name="connsiteY1" fmla="*/ 1463041 h 1502216"/>
                <a:gd name="connsiteX2" fmla="*/ 373223 w 2452085"/>
                <a:gd name="connsiteY2" fmla="*/ 1500363 h 1502216"/>
                <a:gd name="connsiteX3" fmla="*/ 608356 w 2452085"/>
                <a:gd name="connsiteY3" fmla="*/ 1407057 h 1502216"/>
                <a:gd name="connsiteX4" fmla="*/ 847219 w 2452085"/>
                <a:gd name="connsiteY4" fmla="*/ 1250302 h 1502216"/>
                <a:gd name="connsiteX5" fmla="*/ 2452085 w 2452085"/>
                <a:gd name="connsiteY5" fmla="*/ 0 h 1502216"/>
                <a:gd name="connsiteX0" fmla="*/ 0 w 2452085"/>
                <a:gd name="connsiteY0" fmla="*/ 1388396 h 1488245"/>
                <a:gd name="connsiteX1" fmla="*/ 138093 w 2452085"/>
                <a:gd name="connsiteY1" fmla="*/ 1463041 h 1488245"/>
                <a:gd name="connsiteX2" fmla="*/ 373223 w 2452085"/>
                <a:gd name="connsiteY2" fmla="*/ 1485434 h 1488245"/>
                <a:gd name="connsiteX3" fmla="*/ 608356 w 2452085"/>
                <a:gd name="connsiteY3" fmla="*/ 1407057 h 1488245"/>
                <a:gd name="connsiteX4" fmla="*/ 847219 w 2452085"/>
                <a:gd name="connsiteY4" fmla="*/ 1250302 h 1488245"/>
                <a:gd name="connsiteX5" fmla="*/ 2452085 w 2452085"/>
                <a:gd name="connsiteY5" fmla="*/ 0 h 1488245"/>
                <a:gd name="connsiteX0" fmla="*/ 0 w 2452085"/>
                <a:gd name="connsiteY0" fmla="*/ 1388396 h 1488245"/>
                <a:gd name="connsiteX1" fmla="*/ 138093 w 2452085"/>
                <a:gd name="connsiteY1" fmla="*/ 1463041 h 1488245"/>
                <a:gd name="connsiteX2" fmla="*/ 373223 w 2452085"/>
                <a:gd name="connsiteY2" fmla="*/ 1485434 h 1488245"/>
                <a:gd name="connsiteX3" fmla="*/ 608356 w 2452085"/>
                <a:gd name="connsiteY3" fmla="*/ 1407057 h 1488245"/>
                <a:gd name="connsiteX4" fmla="*/ 992776 w 2452085"/>
                <a:gd name="connsiteY4" fmla="*/ 1235373 h 1488245"/>
                <a:gd name="connsiteX5" fmla="*/ 2452085 w 2452085"/>
                <a:gd name="connsiteY5" fmla="*/ 0 h 1488245"/>
                <a:gd name="connsiteX0" fmla="*/ 0 w 2452085"/>
                <a:gd name="connsiteY0" fmla="*/ 1388396 h 1488737"/>
                <a:gd name="connsiteX1" fmla="*/ 138093 w 2452085"/>
                <a:gd name="connsiteY1" fmla="*/ 1463041 h 1488737"/>
                <a:gd name="connsiteX2" fmla="*/ 373223 w 2452085"/>
                <a:gd name="connsiteY2" fmla="*/ 1485434 h 1488737"/>
                <a:gd name="connsiteX3" fmla="*/ 735253 w 2452085"/>
                <a:gd name="connsiteY3" fmla="*/ 1399593 h 1488737"/>
                <a:gd name="connsiteX4" fmla="*/ 992776 w 2452085"/>
                <a:gd name="connsiteY4" fmla="*/ 1235373 h 1488737"/>
                <a:gd name="connsiteX5" fmla="*/ 2452085 w 2452085"/>
                <a:gd name="connsiteY5" fmla="*/ 0 h 1488737"/>
                <a:gd name="connsiteX0" fmla="*/ 0 w 2452085"/>
                <a:gd name="connsiteY0" fmla="*/ 1388396 h 1490258"/>
                <a:gd name="connsiteX1" fmla="*/ 138093 w 2452085"/>
                <a:gd name="connsiteY1" fmla="*/ 1463041 h 1490258"/>
                <a:gd name="connsiteX2" fmla="*/ 373223 w 2452085"/>
                <a:gd name="connsiteY2" fmla="*/ 1485434 h 1490258"/>
                <a:gd name="connsiteX3" fmla="*/ 735253 w 2452085"/>
                <a:gd name="connsiteY3" fmla="*/ 1377199 h 1490258"/>
                <a:gd name="connsiteX4" fmla="*/ 992776 w 2452085"/>
                <a:gd name="connsiteY4" fmla="*/ 1235373 h 1490258"/>
                <a:gd name="connsiteX5" fmla="*/ 2452085 w 2452085"/>
                <a:gd name="connsiteY5" fmla="*/ 0 h 1490258"/>
                <a:gd name="connsiteX0" fmla="*/ 0 w 2452085"/>
                <a:gd name="connsiteY0" fmla="*/ 1388396 h 1489011"/>
                <a:gd name="connsiteX1" fmla="*/ 138093 w 2452085"/>
                <a:gd name="connsiteY1" fmla="*/ 1463041 h 1489011"/>
                <a:gd name="connsiteX2" fmla="*/ 421743 w 2452085"/>
                <a:gd name="connsiteY2" fmla="*/ 1463040 h 1489011"/>
                <a:gd name="connsiteX3" fmla="*/ 373223 w 2452085"/>
                <a:gd name="connsiteY3" fmla="*/ 1485434 h 1489011"/>
                <a:gd name="connsiteX4" fmla="*/ 735253 w 2452085"/>
                <a:gd name="connsiteY4" fmla="*/ 1377199 h 1489011"/>
                <a:gd name="connsiteX5" fmla="*/ 992776 w 2452085"/>
                <a:gd name="connsiteY5" fmla="*/ 1235373 h 1489011"/>
                <a:gd name="connsiteX6" fmla="*/ 2452085 w 2452085"/>
                <a:gd name="connsiteY6" fmla="*/ 0 h 1489011"/>
                <a:gd name="connsiteX0" fmla="*/ 0 w 2452085"/>
                <a:gd name="connsiteY0" fmla="*/ 1388396 h 1473083"/>
                <a:gd name="connsiteX1" fmla="*/ 138093 w 2452085"/>
                <a:gd name="connsiteY1" fmla="*/ 1463041 h 1473083"/>
                <a:gd name="connsiteX2" fmla="*/ 421743 w 2452085"/>
                <a:gd name="connsiteY2" fmla="*/ 1463040 h 1473083"/>
                <a:gd name="connsiteX3" fmla="*/ 735253 w 2452085"/>
                <a:gd name="connsiteY3" fmla="*/ 1377199 h 1473083"/>
                <a:gd name="connsiteX4" fmla="*/ 992776 w 2452085"/>
                <a:gd name="connsiteY4" fmla="*/ 1235373 h 1473083"/>
                <a:gd name="connsiteX5" fmla="*/ 2452085 w 2452085"/>
                <a:gd name="connsiteY5" fmla="*/ 0 h 1473083"/>
                <a:gd name="connsiteX0" fmla="*/ 0 w 2452085"/>
                <a:gd name="connsiteY0" fmla="*/ 1388396 h 1471501"/>
                <a:gd name="connsiteX1" fmla="*/ 167951 w 2452085"/>
                <a:gd name="connsiteY1" fmla="*/ 1459309 h 1471501"/>
                <a:gd name="connsiteX2" fmla="*/ 421743 w 2452085"/>
                <a:gd name="connsiteY2" fmla="*/ 1463040 h 1471501"/>
                <a:gd name="connsiteX3" fmla="*/ 735253 w 2452085"/>
                <a:gd name="connsiteY3" fmla="*/ 1377199 h 1471501"/>
                <a:gd name="connsiteX4" fmla="*/ 992776 w 2452085"/>
                <a:gd name="connsiteY4" fmla="*/ 1235373 h 1471501"/>
                <a:gd name="connsiteX5" fmla="*/ 2452085 w 2452085"/>
                <a:gd name="connsiteY5" fmla="*/ 0 h 1471501"/>
                <a:gd name="connsiteX0" fmla="*/ 0 w 2452085"/>
                <a:gd name="connsiteY0" fmla="*/ 1388396 h 1468525"/>
                <a:gd name="connsiteX1" fmla="*/ 190344 w 2452085"/>
                <a:gd name="connsiteY1" fmla="*/ 1448112 h 1468525"/>
                <a:gd name="connsiteX2" fmla="*/ 421743 w 2452085"/>
                <a:gd name="connsiteY2" fmla="*/ 1463040 h 1468525"/>
                <a:gd name="connsiteX3" fmla="*/ 735253 w 2452085"/>
                <a:gd name="connsiteY3" fmla="*/ 1377199 h 1468525"/>
                <a:gd name="connsiteX4" fmla="*/ 992776 w 2452085"/>
                <a:gd name="connsiteY4" fmla="*/ 1235373 h 1468525"/>
                <a:gd name="connsiteX5" fmla="*/ 2452085 w 2452085"/>
                <a:gd name="connsiteY5" fmla="*/ 0 h 1468525"/>
                <a:gd name="connsiteX0" fmla="*/ 0 w 2452085"/>
                <a:gd name="connsiteY0" fmla="*/ 1388396 h 1453366"/>
                <a:gd name="connsiteX1" fmla="*/ 190344 w 2452085"/>
                <a:gd name="connsiteY1" fmla="*/ 1448112 h 1453366"/>
                <a:gd name="connsiteX2" fmla="*/ 440404 w 2452085"/>
                <a:gd name="connsiteY2" fmla="*/ 1440646 h 1453366"/>
                <a:gd name="connsiteX3" fmla="*/ 735253 w 2452085"/>
                <a:gd name="connsiteY3" fmla="*/ 1377199 h 1453366"/>
                <a:gd name="connsiteX4" fmla="*/ 992776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92776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77847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77847 w 2452085"/>
                <a:gd name="connsiteY4" fmla="*/ 1235373 h 1453366"/>
                <a:gd name="connsiteX5" fmla="*/ 1074886 w 2452085"/>
                <a:gd name="connsiteY5" fmla="*/ 1179390 h 1453366"/>
                <a:gd name="connsiteX6" fmla="*/ 2452085 w 2452085"/>
                <a:gd name="connsiteY6"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074886 w 2452085"/>
                <a:gd name="connsiteY4" fmla="*/ 1179390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086083 w 2452085"/>
                <a:gd name="connsiteY4" fmla="*/ 116072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61379 w 2452085"/>
                <a:gd name="connsiteY3" fmla="*/ 1366003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53914 w 2452085"/>
                <a:gd name="connsiteY3" fmla="*/ 1354807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53914 w 2452085"/>
                <a:gd name="connsiteY3" fmla="*/ 1354807 h 1453366"/>
                <a:gd name="connsiteX4" fmla="*/ 705394 w 2452085"/>
                <a:gd name="connsiteY4" fmla="*/ 1380931 h 1453366"/>
                <a:gd name="connsiteX5" fmla="*/ 1123405 w 2452085"/>
                <a:gd name="connsiteY5" fmla="*/ 1127139 h 1453366"/>
                <a:gd name="connsiteX6" fmla="*/ 2452085 w 2452085"/>
                <a:gd name="connsiteY6" fmla="*/ 0 h 1453366"/>
                <a:gd name="connsiteX0" fmla="*/ 0 w 2452085"/>
                <a:gd name="connsiteY0" fmla="*/ 1388396 h 1452546"/>
                <a:gd name="connsiteX1" fmla="*/ 190344 w 2452085"/>
                <a:gd name="connsiteY1" fmla="*/ 1448112 h 1452546"/>
                <a:gd name="connsiteX2" fmla="*/ 440404 w 2452085"/>
                <a:gd name="connsiteY2" fmla="*/ 1440646 h 1452546"/>
                <a:gd name="connsiteX3" fmla="*/ 705394 w 2452085"/>
                <a:gd name="connsiteY3" fmla="*/ 1380931 h 1452546"/>
                <a:gd name="connsiteX4" fmla="*/ 1123405 w 2452085"/>
                <a:gd name="connsiteY4" fmla="*/ 1127139 h 1452546"/>
                <a:gd name="connsiteX5" fmla="*/ 2452085 w 2452085"/>
                <a:gd name="connsiteY5" fmla="*/ 0 h 1452546"/>
                <a:gd name="connsiteX0" fmla="*/ 0 w 2452085"/>
                <a:gd name="connsiteY0" fmla="*/ 1388396 h 1448139"/>
                <a:gd name="connsiteX1" fmla="*/ 201541 w 2452085"/>
                <a:gd name="connsiteY1" fmla="*/ 1440647 h 1448139"/>
                <a:gd name="connsiteX2" fmla="*/ 440404 w 2452085"/>
                <a:gd name="connsiteY2" fmla="*/ 1440646 h 1448139"/>
                <a:gd name="connsiteX3" fmla="*/ 705394 w 2452085"/>
                <a:gd name="connsiteY3" fmla="*/ 1380931 h 1448139"/>
                <a:gd name="connsiteX4" fmla="*/ 1123405 w 2452085"/>
                <a:gd name="connsiteY4" fmla="*/ 1127139 h 1448139"/>
                <a:gd name="connsiteX5" fmla="*/ 2452085 w 2452085"/>
                <a:gd name="connsiteY5" fmla="*/ 0 h 1448139"/>
                <a:gd name="connsiteX0" fmla="*/ 0 w 2452085"/>
                <a:gd name="connsiteY0" fmla="*/ 1388396 h 1448139"/>
                <a:gd name="connsiteX1" fmla="*/ 201541 w 2452085"/>
                <a:gd name="connsiteY1" fmla="*/ 1440647 h 1448139"/>
                <a:gd name="connsiteX2" fmla="*/ 440404 w 2452085"/>
                <a:gd name="connsiteY2" fmla="*/ 1440646 h 1448139"/>
                <a:gd name="connsiteX3" fmla="*/ 727787 w 2452085"/>
                <a:gd name="connsiteY3" fmla="*/ 1380931 h 1448139"/>
                <a:gd name="connsiteX4" fmla="*/ 1123405 w 2452085"/>
                <a:gd name="connsiteY4" fmla="*/ 1127139 h 1448139"/>
                <a:gd name="connsiteX5" fmla="*/ 2452085 w 2452085"/>
                <a:gd name="connsiteY5" fmla="*/ 0 h 1448139"/>
                <a:gd name="connsiteX0" fmla="*/ 0 w 2452085"/>
                <a:gd name="connsiteY0" fmla="*/ 1388396 h 1451184"/>
                <a:gd name="connsiteX1" fmla="*/ 201541 w 2452085"/>
                <a:gd name="connsiteY1" fmla="*/ 1440647 h 1451184"/>
                <a:gd name="connsiteX2" fmla="*/ 440404 w 2452085"/>
                <a:gd name="connsiteY2" fmla="*/ 1440646 h 1451184"/>
                <a:gd name="connsiteX3" fmla="*/ 444137 w 2452085"/>
                <a:gd name="connsiteY3" fmla="*/ 1448113 h 1451184"/>
                <a:gd name="connsiteX4" fmla="*/ 727787 w 2452085"/>
                <a:gd name="connsiteY4" fmla="*/ 1380931 h 1451184"/>
                <a:gd name="connsiteX5" fmla="*/ 1123405 w 2452085"/>
                <a:gd name="connsiteY5" fmla="*/ 1127139 h 1451184"/>
                <a:gd name="connsiteX6" fmla="*/ 2452085 w 2452085"/>
                <a:gd name="connsiteY6" fmla="*/ 0 h 1451184"/>
                <a:gd name="connsiteX0" fmla="*/ 0 w 2452085"/>
                <a:gd name="connsiteY0" fmla="*/ 1388396 h 1447652"/>
                <a:gd name="connsiteX1" fmla="*/ 201541 w 2452085"/>
                <a:gd name="connsiteY1" fmla="*/ 1440647 h 1447652"/>
                <a:gd name="connsiteX2" fmla="*/ 440404 w 2452085"/>
                <a:gd name="connsiteY2" fmla="*/ 1440646 h 1447652"/>
                <a:gd name="connsiteX3" fmla="*/ 727787 w 2452085"/>
                <a:gd name="connsiteY3" fmla="*/ 1380931 h 1447652"/>
                <a:gd name="connsiteX4" fmla="*/ 1123405 w 2452085"/>
                <a:gd name="connsiteY4" fmla="*/ 1127139 h 1447652"/>
                <a:gd name="connsiteX5" fmla="*/ 2452085 w 2452085"/>
                <a:gd name="connsiteY5" fmla="*/ 0 h 1447652"/>
                <a:gd name="connsiteX0" fmla="*/ 0 w 2452085"/>
                <a:gd name="connsiteY0" fmla="*/ 1388396 h 1455826"/>
                <a:gd name="connsiteX1" fmla="*/ 201541 w 2452085"/>
                <a:gd name="connsiteY1" fmla="*/ 1440647 h 1455826"/>
                <a:gd name="connsiteX2" fmla="*/ 451601 w 2452085"/>
                <a:gd name="connsiteY2" fmla="*/ 1451843 h 1455826"/>
                <a:gd name="connsiteX3" fmla="*/ 727787 w 2452085"/>
                <a:gd name="connsiteY3" fmla="*/ 1380931 h 1455826"/>
                <a:gd name="connsiteX4" fmla="*/ 1123405 w 2452085"/>
                <a:gd name="connsiteY4" fmla="*/ 1127139 h 1455826"/>
                <a:gd name="connsiteX5" fmla="*/ 2452085 w 2452085"/>
                <a:gd name="connsiteY5" fmla="*/ 0 h 1455826"/>
                <a:gd name="connsiteX0" fmla="*/ 0 w 2452085"/>
                <a:gd name="connsiteY0" fmla="*/ 1388396 h 1455826"/>
                <a:gd name="connsiteX1" fmla="*/ 201541 w 2452085"/>
                <a:gd name="connsiteY1" fmla="*/ 1440647 h 1455826"/>
                <a:gd name="connsiteX2" fmla="*/ 451601 w 2452085"/>
                <a:gd name="connsiteY2" fmla="*/ 1451843 h 1455826"/>
                <a:gd name="connsiteX3" fmla="*/ 742716 w 2452085"/>
                <a:gd name="connsiteY3" fmla="*/ 1380931 h 1455826"/>
                <a:gd name="connsiteX4" fmla="*/ 1123405 w 2452085"/>
                <a:gd name="connsiteY4" fmla="*/ 1127139 h 1455826"/>
                <a:gd name="connsiteX5" fmla="*/ 2452085 w 2452085"/>
                <a:gd name="connsiteY5" fmla="*/ 0 h 145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2085" h="1455826">
                  <a:moveTo>
                    <a:pt x="0" y="1388396"/>
                  </a:moveTo>
                  <a:cubicBezTo>
                    <a:pt x="40432" y="1417010"/>
                    <a:pt x="126274" y="1430073"/>
                    <a:pt x="201541" y="1440647"/>
                  </a:cubicBezTo>
                  <a:cubicBezTo>
                    <a:pt x="276808" y="1451221"/>
                    <a:pt x="363893" y="1461796"/>
                    <a:pt x="451601" y="1451843"/>
                  </a:cubicBezTo>
                  <a:cubicBezTo>
                    <a:pt x="539309" y="1441890"/>
                    <a:pt x="628883" y="1433182"/>
                    <a:pt x="742716" y="1380931"/>
                  </a:cubicBezTo>
                  <a:cubicBezTo>
                    <a:pt x="804298" y="1342986"/>
                    <a:pt x="842243" y="1352940"/>
                    <a:pt x="1123405" y="1127139"/>
                  </a:cubicBezTo>
                  <a:cubicBezTo>
                    <a:pt x="1369111" y="921244"/>
                    <a:pt x="2208245" y="203408"/>
                    <a:pt x="2452085" y="0"/>
                  </a:cubicBezTo>
                </a:path>
              </a:pathLst>
            </a:custGeom>
            <a:noFill/>
            <a:ln w="19050" cap="flat" cmpd="sng" algn="ctr">
              <a:solidFill>
                <a:srgbClr val="A5002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2" name="直接箭头连接符 41"/>
            <p:cNvCxnSpPr/>
            <p:nvPr/>
          </p:nvCxnSpPr>
          <p:spPr bwMode="auto">
            <a:xfrm flipV="1">
              <a:off x="6924501" y="3178466"/>
              <a:ext cx="220408" cy="121688"/>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箭头连接符 42"/>
            <p:cNvCxnSpPr/>
            <p:nvPr/>
          </p:nvCxnSpPr>
          <p:spPr bwMode="auto">
            <a:xfrm flipV="1">
              <a:off x="6513020" y="3310081"/>
              <a:ext cx="214867" cy="2539"/>
            </a:xfrm>
            <a:prstGeom prst="straightConnector1">
              <a:avLst/>
            </a:prstGeom>
            <a:noFill/>
            <a:ln w="12700"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25872444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par>
                          <p:cTn id="8" fill="hold">
                            <p:stCondLst>
                              <p:cond delay="500"/>
                            </p:stCondLst>
                            <p:childTnLst>
                              <p:par>
                                <p:cTn id="9" presetID="22" presetClass="entr" presetSubtype="8" repeatCount="3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par>
                                <p:cTn id="12" presetID="22" presetClass="entr" presetSubtype="8" repeatCount="300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wipe(left)">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txEl>
                                              <p:pRg st="1" end="1"/>
                                            </p:txEl>
                                          </p:spTgt>
                                        </p:tgtEl>
                                        <p:attrNameLst>
                                          <p:attrName>style.visibility</p:attrName>
                                        </p:attrNameLst>
                                      </p:cBhvr>
                                      <p:to>
                                        <p:strVal val="visible"/>
                                      </p:to>
                                    </p:set>
                                    <p:animEffect transition="in" filter="wipe(left)">
                                      <p:cBhvr>
                                        <p:cTn id="19" dur="500"/>
                                        <p:tgtEl>
                                          <p:spTgt spid="15">
                                            <p:txEl>
                                              <p:pRg st="1" end="1"/>
                                            </p:txEl>
                                          </p:spTgt>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childTnLst>
                          </p:cTn>
                        </p:par>
                        <p:par>
                          <p:cTn id="26" fill="hold">
                            <p:stCondLst>
                              <p:cond delay="500"/>
                            </p:stCondLst>
                            <p:childTnLst>
                              <p:par>
                                <p:cTn id="27" presetID="22" presetClass="entr" presetSubtype="8" repeatCount="3000"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7">
                                            <p:txEl>
                                              <p:pRg st="0" end="0"/>
                                            </p:txEl>
                                          </p:spTgt>
                                        </p:tgtEl>
                                        <p:attrNameLst>
                                          <p:attrName>style.visibility</p:attrName>
                                        </p:attrNameLst>
                                      </p:cBhvr>
                                      <p:to>
                                        <p:strVal val="visible"/>
                                      </p:to>
                                    </p:set>
                                    <p:animEffect transition="in" filter="wipe(left)">
                                      <p:cBhvr>
                                        <p:cTn id="34" dur="500"/>
                                        <p:tgtEl>
                                          <p:spTgt spid="107">
                                            <p:txEl>
                                              <p:pRg st="0" end="0"/>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7">
                                            <p:txEl>
                                              <p:pRg st="1" end="1"/>
                                            </p:txEl>
                                          </p:spTgt>
                                        </p:tgtEl>
                                        <p:attrNameLst>
                                          <p:attrName>style.visibility</p:attrName>
                                        </p:attrNameLst>
                                      </p:cBhvr>
                                      <p:to>
                                        <p:strVal val="visible"/>
                                      </p:to>
                                    </p:set>
                                    <p:animEffect transition="in" filter="wipe(left)">
                                      <p:cBhvr>
                                        <p:cTn id="43" dur="500"/>
                                        <p:tgtEl>
                                          <p:spTgt spid="107">
                                            <p:txEl>
                                              <p:pRg st="1" end="1"/>
                                            </p:txEl>
                                          </p:spTgt>
                                        </p:tgtEl>
                                      </p:cBhvr>
                                    </p:animEffect>
                                  </p:childTnLst>
                                </p:cTn>
                              </p:par>
                            </p:childTnLst>
                          </p:cTn>
                        </p:par>
                        <p:par>
                          <p:cTn id="44" fill="hold">
                            <p:stCondLst>
                              <p:cond delay="500"/>
                            </p:stCondLst>
                            <p:childTnLst>
                              <p:par>
                                <p:cTn id="45" presetID="22" presetClass="entr" presetSubtype="2"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right)">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07" grpId="0" uiExpand="1" build="p"/>
      <p:bldP spid="52" grpId="0" animBg="1"/>
      <p:bldP spid="32" grpId="0" animBg="1"/>
      <p:bldP spid="34" grpId="0" animBg="1"/>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21</a:t>
            </a:fld>
            <a:endParaRPr lang="zh-CN" altLang="en-US" dirty="0">
              <a:solidFill>
                <a:srgbClr val="C00000"/>
              </a:solidFill>
            </a:endParaRPr>
          </a:p>
        </p:txBody>
      </p:sp>
      <p:sp>
        <p:nvSpPr>
          <p:cNvPr id="15" name="Text Box 5"/>
          <p:cNvSpPr txBox="1">
            <a:spLocks noChangeArrowheads="1"/>
          </p:cNvSpPr>
          <p:nvPr/>
        </p:nvSpPr>
        <p:spPr bwMode="auto">
          <a:xfrm>
            <a:off x="1145676" y="1797895"/>
            <a:ext cx="6964654" cy="29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挡土墙所受的土压力类型，首先取决于墙体是否发生位移以及位移的方向</a:t>
            </a: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400" b="1" dirty="0" smtClean="0">
                <a:solidFill>
                  <a:srgbClr val="C00000"/>
                </a:solidFill>
                <a:ea typeface="黑体" panose="02010609060101010101" pitchFamily="49" charset="-122"/>
                <a:cs typeface="Times New Roman" panose="02020603050405020304" pitchFamily="18" charset="0"/>
                <a:sym typeface="Symbol" pitchFamily="18" charset="2"/>
              </a:rPr>
              <a:t>静止</a:t>
            </a:r>
            <a:r>
              <a:rPr lang="zh-CN" altLang="en-US" sz="2400" b="1" dirty="0">
                <a:solidFill>
                  <a:srgbClr val="C00000"/>
                </a:solidFill>
                <a:ea typeface="黑体" panose="02010609060101010101" pitchFamily="49" charset="-122"/>
                <a:cs typeface="Times New Roman" panose="02020603050405020304" pitchFamily="18" charset="0"/>
                <a:sym typeface="Symbol" pitchFamily="18" charset="2"/>
              </a:rPr>
              <a:t>土压力 </a:t>
            </a:r>
            <a:r>
              <a:rPr lang="en-US" altLang="zh-CN" sz="2400" b="1" i="1" dirty="0"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400" b="1" baseline="-25000" dirty="0" smtClean="0">
                <a:solidFill>
                  <a:srgbClr val="C00000"/>
                </a:solidFill>
                <a:ea typeface="黑体" panose="02010609060101010101" pitchFamily="49" charset="-122"/>
                <a:cs typeface="Times New Roman" panose="02020603050405020304" pitchFamily="18" charset="0"/>
                <a:sym typeface="Symbol" pitchFamily="18" charset="2"/>
              </a:rPr>
              <a:t>0</a:t>
            </a:r>
            <a:r>
              <a:rPr lang="zh-CN" altLang="en-US" sz="2400" b="1" dirty="0" smtClean="0">
                <a:solidFill>
                  <a:srgbClr val="000066"/>
                </a:solidFill>
                <a:ea typeface="幼圆" pitchFamily="49" charset="-122"/>
                <a:cs typeface="Times New Roman" panose="02020603050405020304" pitchFamily="18" charset="0"/>
                <a:sym typeface="Symbol" pitchFamily="18" charset="2"/>
              </a:rPr>
              <a:t>、</a:t>
            </a:r>
            <a:r>
              <a:rPr lang="zh-CN" altLang="en-US" sz="2400" b="1" dirty="0">
                <a:solidFill>
                  <a:srgbClr val="C00000"/>
                </a:solidFill>
                <a:ea typeface="黑体" panose="02010609060101010101" pitchFamily="49" charset="-122"/>
                <a:cs typeface="Times New Roman" panose="02020603050405020304" pitchFamily="18" charset="0"/>
                <a:sym typeface="Symbol" pitchFamily="18" charset="2"/>
              </a:rPr>
              <a:t>主动土压力 </a:t>
            </a:r>
            <a:r>
              <a:rPr lang="en-US" altLang="zh-CN" sz="2400" b="1" i="1" dirty="0" err="1"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400" b="1" baseline="-25000" dirty="0" err="1" smtClean="0">
                <a:solidFill>
                  <a:srgbClr val="C00000"/>
                </a:solidFill>
                <a:ea typeface="黑体" panose="02010609060101010101" pitchFamily="49" charset="-122"/>
                <a:cs typeface="Times New Roman" panose="02020603050405020304" pitchFamily="18" charset="0"/>
                <a:sym typeface="Symbol" pitchFamily="18" charset="2"/>
              </a:rPr>
              <a:t>a</a:t>
            </a:r>
            <a:r>
              <a:rPr lang="zh-CN" altLang="en-US" sz="2400" b="1" dirty="0" smtClean="0">
                <a:solidFill>
                  <a:srgbClr val="000066"/>
                </a:solidFill>
                <a:ea typeface="幼圆" pitchFamily="49" charset="-122"/>
                <a:cs typeface="Times New Roman" panose="02020603050405020304" pitchFamily="18" charset="0"/>
                <a:sym typeface="Symbol" pitchFamily="18" charset="2"/>
              </a:rPr>
              <a:t>和</a:t>
            </a:r>
            <a:r>
              <a:rPr lang="zh-CN" altLang="en-US" sz="2400" b="1" dirty="0">
                <a:solidFill>
                  <a:srgbClr val="C00000"/>
                </a:solidFill>
                <a:ea typeface="黑体" panose="02010609060101010101" pitchFamily="49" charset="-122"/>
                <a:cs typeface="Times New Roman" panose="02020603050405020304" pitchFamily="18" charset="0"/>
                <a:sym typeface="Symbol" pitchFamily="18" charset="2"/>
              </a:rPr>
              <a:t>被动土压力 </a:t>
            </a:r>
            <a:r>
              <a:rPr lang="en-US" altLang="zh-CN" sz="2400" b="1" i="1" dirty="0" err="1" smtClean="0">
                <a:solidFill>
                  <a:srgbClr val="C00000"/>
                </a:solidFill>
                <a:ea typeface="黑体" panose="02010609060101010101" pitchFamily="49" charset="-122"/>
                <a:cs typeface="Times New Roman" panose="02020603050405020304" pitchFamily="18" charset="0"/>
                <a:sym typeface="Symbol" pitchFamily="18" charset="2"/>
              </a:rPr>
              <a:t>E</a:t>
            </a:r>
            <a:r>
              <a:rPr lang="en-US" altLang="zh-CN" sz="2400" b="1" baseline="-25000" dirty="0" err="1" smtClean="0">
                <a:solidFill>
                  <a:srgbClr val="C00000"/>
                </a:solidFill>
                <a:ea typeface="黑体" panose="02010609060101010101" pitchFamily="49" charset="-122"/>
                <a:cs typeface="Times New Roman" panose="02020603050405020304" pitchFamily="18" charset="0"/>
                <a:sym typeface="Symbol" pitchFamily="18" charset="2"/>
              </a:rPr>
              <a:t>p</a:t>
            </a:r>
            <a:r>
              <a:rPr lang="zh-CN" altLang="en-US" sz="2400" b="1" dirty="0" smtClean="0">
                <a:solidFill>
                  <a:srgbClr val="000066"/>
                </a:solidFill>
                <a:ea typeface="幼圆" pitchFamily="49" charset="-122"/>
                <a:cs typeface="Times New Roman" panose="02020603050405020304" pitchFamily="18" charset="0"/>
                <a:sym typeface="Symbol" pitchFamily="18" charset="2"/>
              </a:rPr>
              <a:t>是特定位移情况下的三种典型的土压力状态</a:t>
            </a: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400" b="1" dirty="0" smtClean="0">
                <a:solidFill>
                  <a:srgbClr val="000066"/>
                </a:solidFill>
                <a:ea typeface="幼圆" pitchFamily="49" charset="-122"/>
                <a:cs typeface="Times New Roman" panose="02020603050405020304" pitchFamily="18" charset="0"/>
                <a:sym typeface="Symbol" pitchFamily="18" charset="2"/>
              </a:rPr>
              <a:t>挡土墙所受土压力的大小并不是一个常数，随着位移量的变化，墙上所受土压力值也在变化</a:t>
            </a:r>
            <a:endParaRPr lang="en-US" altLang="zh-CN" sz="2400" b="1" dirty="0" smtClean="0">
              <a:solidFill>
                <a:srgbClr val="000066"/>
              </a:solidFill>
              <a:ea typeface="幼圆" pitchFamily="49" charset="-122"/>
              <a:cs typeface="Times New Roman" panose="02020603050405020304" pitchFamily="18" charset="0"/>
              <a:sym typeface="Symbol" pitchFamily="18" charset="2"/>
            </a:endParaRPr>
          </a:p>
        </p:txBody>
      </p:sp>
      <p:sp>
        <p:nvSpPr>
          <p:cNvPr id="89"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30" name="Text Box 46"/>
          <p:cNvSpPr txBox="1">
            <a:spLocks noChangeArrowheads="1"/>
          </p:cNvSpPr>
          <p:nvPr/>
        </p:nvSpPr>
        <p:spPr bwMode="auto">
          <a:xfrm>
            <a:off x="363383" y="755130"/>
            <a:ext cx="4582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墙体位移对土压力的影响</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7"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221454852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22</a:t>
            </a:fld>
            <a:endParaRPr lang="zh-CN" altLang="en-US" dirty="0">
              <a:solidFill>
                <a:srgbClr val="C00000"/>
              </a:solidFill>
            </a:endParaRPr>
          </a:p>
        </p:txBody>
      </p:sp>
      <p:sp>
        <p:nvSpPr>
          <p:cNvPr id="89" name="Text Box 7"/>
          <p:cNvSpPr txBox="1">
            <a:spLocks noChangeArrowheads="1"/>
          </p:cNvSpPr>
          <p:nvPr/>
        </p:nvSpPr>
        <p:spPr bwMode="auto">
          <a:xfrm>
            <a:off x="-1" y="0"/>
            <a:ext cx="52312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挡土墙墙体位移与</a:t>
            </a:r>
            <a:r>
              <a:rPr lang="zh-CN" altLang="en-US" sz="1800" b="1" kern="900" spc="130" dirty="0" smtClean="0">
                <a:solidFill>
                  <a:srgbClr val="000066"/>
                </a:solidFill>
                <a:ea typeface="黑体" panose="02010609060101010101" pitchFamily="49" charset="-122"/>
                <a:cs typeface="Times New Roman" panose="02020603050405020304" pitchFamily="18" charset="0"/>
              </a:rPr>
              <a:t>土压力状态</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30" name="Text Box 46"/>
          <p:cNvSpPr txBox="1">
            <a:spLocks noChangeArrowheads="1"/>
          </p:cNvSpPr>
          <p:nvPr/>
        </p:nvSpPr>
        <p:spPr bwMode="auto">
          <a:xfrm>
            <a:off x="363383" y="755130"/>
            <a:ext cx="45823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墙体位移对土压力的影响</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95" name="Text Box 5"/>
          <p:cNvSpPr txBox="1">
            <a:spLocks noChangeArrowheads="1"/>
          </p:cNvSpPr>
          <p:nvPr/>
        </p:nvSpPr>
        <p:spPr bwMode="auto">
          <a:xfrm>
            <a:off x="710419" y="1516541"/>
            <a:ext cx="4126275" cy="401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达到</a:t>
            </a:r>
            <a:r>
              <a:rPr lang="zh-CN" altLang="en-US" sz="2200" b="1" dirty="0" smtClean="0">
                <a:solidFill>
                  <a:srgbClr val="C00000"/>
                </a:solidFill>
                <a:ea typeface="幼圆" pitchFamily="49" charset="-122"/>
                <a:cs typeface="Times New Roman" panose="02020603050405020304" pitchFamily="18" charset="0"/>
                <a:sym typeface="Symbol" pitchFamily="18" charset="2"/>
              </a:rPr>
              <a:t>主动土压力状态</a:t>
            </a:r>
            <a:r>
              <a:rPr lang="en-US" altLang="zh-CN" sz="2200" b="1" dirty="0" err="1" smtClean="0">
                <a:solidFill>
                  <a:srgbClr val="000066"/>
                </a:solidFill>
                <a:ea typeface="幼圆" pitchFamily="49" charset="-122"/>
                <a:cs typeface="Times New Roman" panose="02020603050405020304" pitchFamily="18" charset="0"/>
                <a:sym typeface="Symbol" pitchFamily="18" charset="2"/>
              </a:rPr>
              <a:t>所需墙体位移量很小</a:t>
            </a:r>
            <a:r>
              <a:rPr lang="en-US" altLang="zh-CN" sz="2200" b="1" dirty="0" smtClean="0">
                <a:solidFill>
                  <a:srgbClr val="000066"/>
                </a:solidFill>
                <a:ea typeface="幼圆" pitchFamily="49" charset="-122"/>
                <a:cs typeface="Times New Roman" panose="02020603050405020304" pitchFamily="18" charset="0"/>
                <a:sym typeface="Symbol" pitchFamily="18" charset="2"/>
              </a:rPr>
              <a:t>(1-5‰) ，</a:t>
            </a:r>
            <a:r>
              <a:rPr lang="zh-CN" altLang="en-US" sz="2200" b="1" dirty="0" smtClean="0">
                <a:solidFill>
                  <a:srgbClr val="000066"/>
                </a:solidFill>
                <a:ea typeface="幼圆" pitchFamily="49" charset="-122"/>
                <a:cs typeface="Times New Roman" panose="02020603050405020304" pitchFamily="18" charset="0"/>
                <a:sym typeface="Symbol" pitchFamily="18" charset="2"/>
              </a:rPr>
              <a:t>工程中</a:t>
            </a:r>
            <a:r>
              <a:rPr lang="en-US" altLang="zh-CN" sz="2200" b="1" dirty="0" err="1" smtClean="0">
                <a:solidFill>
                  <a:srgbClr val="000066"/>
                </a:solidFill>
                <a:ea typeface="幼圆" pitchFamily="49" charset="-122"/>
                <a:cs typeface="Times New Roman" panose="02020603050405020304" pitchFamily="18" charset="0"/>
                <a:sym typeface="Symbol" pitchFamily="18" charset="2"/>
              </a:rPr>
              <a:t>易发生</a:t>
            </a:r>
            <a:r>
              <a:rPr lang="zh-CN" altLang="en-US" sz="2200" b="1" dirty="0" smtClean="0">
                <a:solidFill>
                  <a:srgbClr val="000066"/>
                </a:solidFill>
                <a:ea typeface="幼圆" pitchFamily="49" charset="-122"/>
                <a:cs typeface="Times New Roman" panose="02020603050405020304" pitchFamily="18" charset="0"/>
                <a:sym typeface="Symbol" pitchFamily="18" charset="2"/>
              </a:rPr>
              <a:t>。该</a:t>
            </a:r>
            <a:r>
              <a:rPr lang="zh-CN" altLang="en-US" sz="2200" b="1" dirty="0">
                <a:solidFill>
                  <a:srgbClr val="000066"/>
                </a:solidFill>
                <a:ea typeface="幼圆" pitchFamily="49" charset="-122"/>
                <a:cs typeface="Times New Roman" panose="02020603050405020304" pitchFamily="18" charset="0"/>
                <a:sym typeface="Symbol" pitchFamily="18" charset="2"/>
              </a:rPr>
              <a:t>种位移情况下，</a:t>
            </a:r>
            <a:r>
              <a:rPr lang="zh-CN" altLang="en-US" sz="2200" b="1" dirty="0" smtClean="0">
                <a:solidFill>
                  <a:srgbClr val="000066"/>
                </a:solidFill>
                <a:ea typeface="幼圆" pitchFamily="49" charset="-122"/>
                <a:cs typeface="Times New Roman" panose="02020603050405020304" pitchFamily="18" charset="0"/>
                <a:sym typeface="Symbol" pitchFamily="18" charset="2"/>
              </a:rPr>
              <a:t>可采用主动土压力</a:t>
            </a:r>
            <a:r>
              <a:rPr lang="en-US" altLang="zh-CN" sz="2200" b="1" i="1" dirty="0" err="1" smtClean="0">
                <a:solidFill>
                  <a:srgbClr val="000066"/>
                </a:solidFill>
                <a:ea typeface="幼圆" pitchFamily="49" charset="-122"/>
                <a:cs typeface="Times New Roman" panose="02020603050405020304" pitchFamily="18" charset="0"/>
                <a:sym typeface="Symbol" pitchFamily="18" charset="2"/>
              </a:rPr>
              <a:t>E</a:t>
            </a:r>
            <a:r>
              <a:rPr lang="en-US" altLang="zh-CN" sz="2200" b="1" baseline="-25000" dirty="0" err="1" smtClean="0">
                <a:solidFill>
                  <a:srgbClr val="000066"/>
                </a:solidFill>
                <a:ea typeface="幼圆" pitchFamily="49" charset="-122"/>
                <a:cs typeface="Times New Roman" panose="02020603050405020304" pitchFamily="18" charset="0"/>
                <a:sym typeface="Symbol" pitchFamily="18" charset="2"/>
              </a:rPr>
              <a:t>a</a:t>
            </a:r>
            <a:endParaRPr lang="en-US" altLang="zh-CN" sz="2200" b="1" baseline="-25000"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达到</a:t>
            </a:r>
            <a:r>
              <a:rPr lang="zh-CN" altLang="en-US" sz="2200" b="1" dirty="0" smtClean="0">
                <a:solidFill>
                  <a:srgbClr val="C00000"/>
                </a:solidFill>
                <a:ea typeface="幼圆" pitchFamily="49" charset="-122"/>
                <a:cs typeface="Times New Roman" panose="02020603050405020304" pitchFamily="18" charset="0"/>
                <a:sym typeface="Symbol" pitchFamily="18" charset="2"/>
              </a:rPr>
              <a:t>被动土压力状态</a:t>
            </a:r>
            <a:r>
              <a:rPr lang="en-US" altLang="zh-CN" sz="2200" b="1" dirty="0" err="1" smtClean="0">
                <a:solidFill>
                  <a:srgbClr val="000066"/>
                </a:solidFill>
                <a:ea typeface="幼圆" pitchFamily="49" charset="-122"/>
                <a:cs typeface="Times New Roman" panose="02020603050405020304" pitchFamily="18" charset="0"/>
                <a:sym typeface="Symbol" pitchFamily="18" charset="2"/>
              </a:rPr>
              <a:t>所需墙体位移很大</a:t>
            </a:r>
            <a:r>
              <a:rPr lang="en-US" altLang="zh-CN" sz="2200" b="1" dirty="0" smtClean="0">
                <a:solidFill>
                  <a:srgbClr val="000066"/>
                </a:solidFill>
                <a:ea typeface="幼圆" pitchFamily="49" charset="-122"/>
                <a:cs typeface="Times New Roman" panose="02020603050405020304" pitchFamily="18" charset="0"/>
                <a:sym typeface="Symbol" pitchFamily="18" charset="2"/>
              </a:rPr>
              <a:t>(1-5%</a:t>
            </a:r>
            <a:r>
              <a:rPr lang="en-US" altLang="zh-CN" sz="2200" b="1" dirty="0">
                <a:solidFill>
                  <a:srgbClr val="000066"/>
                </a:solidFill>
                <a:ea typeface="幼圆" pitchFamily="49" charset="-122"/>
                <a:cs typeface="Times New Roman" panose="02020603050405020304" pitchFamily="18" charset="0"/>
                <a:sym typeface="Symbol" pitchFamily="18" charset="2"/>
              </a:rPr>
              <a:t>)</a:t>
            </a:r>
            <a:r>
              <a:rPr lang="zh-CN" altLang="en-US" sz="2200" b="1" dirty="0" smtClean="0">
                <a:solidFill>
                  <a:srgbClr val="000066"/>
                </a:solidFill>
                <a:ea typeface="幼圆" pitchFamily="49" charset="-122"/>
                <a:cs typeface="Times New Roman" panose="02020603050405020304" pitchFamily="18" charset="0"/>
                <a:sym typeface="Symbol" pitchFamily="18" charset="2"/>
              </a:rPr>
              <a:t>，对</a:t>
            </a:r>
            <a:r>
              <a:rPr lang="en-US" altLang="zh-CN" sz="2200" b="1" dirty="0" err="1" smtClean="0">
                <a:solidFill>
                  <a:srgbClr val="000066"/>
                </a:solidFill>
                <a:ea typeface="幼圆" pitchFamily="49" charset="-122"/>
                <a:cs typeface="Times New Roman" panose="02020603050405020304" pitchFamily="18" charset="0"/>
                <a:sym typeface="Symbol" pitchFamily="18" charset="2"/>
              </a:rPr>
              <a:t>一般工程不容许</a:t>
            </a:r>
            <a:r>
              <a:rPr lang="zh-CN" altLang="en-US" sz="2200" b="1" dirty="0" smtClean="0">
                <a:solidFill>
                  <a:srgbClr val="000066"/>
                </a:solidFill>
                <a:ea typeface="幼圆" pitchFamily="49" charset="-122"/>
                <a:cs typeface="Times New Roman" panose="02020603050405020304" pitchFamily="18" charset="0"/>
                <a:sym typeface="Symbol" pitchFamily="18" charset="2"/>
              </a:rPr>
              <a:t>。该种位移情况下，</a:t>
            </a:r>
            <a:r>
              <a:rPr lang="en-US" altLang="zh-CN" sz="2200" b="1" dirty="0" err="1">
                <a:solidFill>
                  <a:srgbClr val="000066"/>
                </a:solidFill>
                <a:ea typeface="幼圆" pitchFamily="49" charset="-122"/>
                <a:cs typeface="Times New Roman" panose="02020603050405020304" pitchFamily="18" charset="0"/>
                <a:sym typeface="Symbol" pitchFamily="18" charset="2"/>
              </a:rPr>
              <a:t>只能利用被动土压力</a:t>
            </a:r>
            <a:r>
              <a:rPr lang="en-US" altLang="zh-CN" sz="2200" b="1" i="1" dirty="0" err="1" smtClean="0">
                <a:solidFill>
                  <a:srgbClr val="000066"/>
                </a:solidFill>
                <a:ea typeface="幼圆" pitchFamily="49" charset="-122"/>
                <a:cs typeface="Times New Roman" panose="02020603050405020304" pitchFamily="18" charset="0"/>
                <a:sym typeface="Symbol" pitchFamily="18" charset="2"/>
              </a:rPr>
              <a:t>E</a:t>
            </a:r>
            <a:r>
              <a:rPr lang="en-US" altLang="zh-CN" sz="2200" b="1" baseline="-25000" dirty="0" err="1" smtClean="0">
                <a:solidFill>
                  <a:srgbClr val="000066"/>
                </a:solidFill>
                <a:ea typeface="幼圆" pitchFamily="49" charset="-122"/>
                <a:cs typeface="Times New Roman" panose="02020603050405020304" pitchFamily="18" charset="0"/>
                <a:sym typeface="Symbol" pitchFamily="18" charset="2"/>
              </a:rPr>
              <a:t>p</a:t>
            </a:r>
            <a:r>
              <a:rPr lang="en-US" altLang="zh-CN" sz="2200" b="1" dirty="0" err="1" smtClean="0">
                <a:solidFill>
                  <a:srgbClr val="000066"/>
                </a:solidFill>
                <a:ea typeface="幼圆" pitchFamily="49" charset="-122"/>
                <a:cs typeface="Times New Roman" panose="02020603050405020304" pitchFamily="18" charset="0"/>
                <a:sym typeface="Symbol" pitchFamily="18" charset="2"/>
              </a:rPr>
              <a:t>的一部分，或</a:t>
            </a:r>
            <a:r>
              <a:rPr lang="zh-CN" altLang="en-US" sz="2200" b="1" dirty="0" smtClean="0">
                <a:solidFill>
                  <a:srgbClr val="000066"/>
                </a:solidFill>
                <a:ea typeface="幼圆" pitchFamily="49" charset="-122"/>
                <a:cs typeface="Times New Roman" panose="02020603050405020304" pitchFamily="18" charset="0"/>
                <a:sym typeface="Symbol" pitchFamily="18" charset="2"/>
              </a:rPr>
              <a:t>采用</a:t>
            </a:r>
            <a:r>
              <a:rPr lang="en-US" altLang="zh-CN" sz="2200" b="1" dirty="0" err="1">
                <a:solidFill>
                  <a:srgbClr val="000066"/>
                </a:solidFill>
                <a:ea typeface="幼圆" pitchFamily="49" charset="-122"/>
                <a:cs typeface="Times New Roman" panose="02020603050405020304" pitchFamily="18" charset="0"/>
                <a:sym typeface="Symbol" pitchFamily="18" charset="2"/>
              </a:rPr>
              <a:t>静止土压力</a:t>
            </a:r>
            <a:r>
              <a:rPr lang="en-US" altLang="zh-CN" sz="2200" b="1" dirty="0">
                <a:solidFill>
                  <a:srgbClr val="000066"/>
                </a:solidFill>
                <a:ea typeface="幼圆" pitchFamily="49" charset="-122"/>
                <a:cs typeface="Times New Roman" panose="02020603050405020304" pitchFamily="18" charset="0"/>
                <a:sym typeface="Symbol" pitchFamily="18" charset="2"/>
              </a:rPr>
              <a:t> </a:t>
            </a:r>
            <a:r>
              <a:rPr lang="en-US" altLang="zh-CN" sz="2200" b="1" i="1" dirty="0" smtClean="0">
                <a:solidFill>
                  <a:srgbClr val="000066"/>
                </a:solidFill>
                <a:ea typeface="幼圆" pitchFamily="49" charset="-122"/>
                <a:cs typeface="Times New Roman" panose="02020603050405020304" pitchFamily="18" charset="0"/>
                <a:sym typeface="Symbol" pitchFamily="18" charset="2"/>
              </a:rPr>
              <a:t>E</a:t>
            </a:r>
            <a:r>
              <a:rPr lang="en-US" altLang="zh-CN" sz="2200" b="1" baseline="-25000" dirty="0" smtClean="0">
                <a:solidFill>
                  <a:srgbClr val="000066"/>
                </a:solidFill>
                <a:ea typeface="幼圆" pitchFamily="49" charset="-122"/>
                <a:cs typeface="Times New Roman" panose="02020603050405020304" pitchFamily="18" charset="0"/>
                <a:sym typeface="Symbol" pitchFamily="18" charset="2"/>
              </a:rPr>
              <a:t>0</a:t>
            </a:r>
          </a:p>
        </p:txBody>
      </p:sp>
      <p:sp>
        <p:nvSpPr>
          <p:cNvPr id="65" name="Text Box 2"/>
          <p:cNvSpPr txBox="1">
            <a:spLocks noChangeArrowheads="1"/>
          </p:cNvSpPr>
          <p:nvPr/>
        </p:nvSpPr>
        <p:spPr bwMode="auto">
          <a:xfrm>
            <a:off x="1842868" y="5701142"/>
            <a:ext cx="68720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墙体</a:t>
            </a:r>
            <a:r>
              <a:rPr kumimoji="1" lang="zh-CN" altLang="en-US" sz="4000" b="1" dirty="0">
                <a:solidFill>
                  <a:srgbClr val="000066"/>
                </a:solidFill>
                <a:latin typeface="黑体" pitchFamily="2" charset="-122"/>
                <a:ea typeface="黑体" pitchFamily="2" charset="-122"/>
              </a:rPr>
              <a:t>位移与</a:t>
            </a:r>
            <a:r>
              <a:rPr kumimoji="1" lang="zh-CN" altLang="en-US" sz="4000" b="1" dirty="0" smtClean="0">
                <a:solidFill>
                  <a:srgbClr val="000066"/>
                </a:solidFill>
                <a:latin typeface="黑体" pitchFamily="2" charset="-122"/>
                <a:ea typeface="黑体" pitchFamily="2" charset="-122"/>
              </a:rPr>
              <a:t>土压力状态</a:t>
            </a:r>
            <a:endParaRPr kumimoji="1" lang="zh-CN" altLang="en-US" sz="4000" b="1" dirty="0">
              <a:solidFill>
                <a:srgbClr val="000066"/>
              </a:solidFill>
              <a:latin typeface="黑体" pitchFamily="2" charset="-122"/>
              <a:ea typeface="黑体" pitchFamily="2" charset="-122"/>
            </a:endParaRPr>
          </a:p>
        </p:txBody>
      </p:sp>
      <p:sp>
        <p:nvSpPr>
          <p:cNvPr id="66" name="Line 72"/>
          <p:cNvSpPr>
            <a:spLocks noChangeAspect="1" noChangeShapeType="1"/>
          </p:cNvSpPr>
          <p:nvPr/>
        </p:nvSpPr>
        <p:spPr bwMode="auto">
          <a:xfrm flipH="1">
            <a:off x="8000272" y="1302334"/>
            <a:ext cx="0" cy="2942527"/>
          </a:xfrm>
          <a:prstGeom prst="line">
            <a:avLst/>
          </a:prstGeom>
          <a:noFill/>
          <a:ln w="19050">
            <a:solidFill>
              <a:srgbClr val="00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73"/>
          <p:cNvSpPr>
            <a:spLocks noChangeAspect="1" noChangeShapeType="1"/>
          </p:cNvSpPr>
          <p:nvPr/>
        </p:nvSpPr>
        <p:spPr bwMode="auto">
          <a:xfrm>
            <a:off x="5062538" y="4249112"/>
            <a:ext cx="3635830" cy="0"/>
          </a:xfrm>
          <a:prstGeom prst="line">
            <a:avLst/>
          </a:prstGeom>
          <a:noFill/>
          <a:ln w="19050">
            <a:solidFill>
              <a:srgbClr val="000066"/>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75"/>
          <p:cNvSpPr>
            <a:spLocks noChangeAspect="1" noChangeShapeType="1"/>
          </p:cNvSpPr>
          <p:nvPr/>
        </p:nvSpPr>
        <p:spPr bwMode="auto">
          <a:xfrm>
            <a:off x="5220477" y="1677141"/>
            <a:ext cx="0" cy="2559066"/>
          </a:xfrm>
          <a:prstGeom prst="line">
            <a:avLst/>
          </a:prstGeom>
          <a:noFill/>
          <a:ln w="1270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Text Box 76"/>
          <p:cNvSpPr txBox="1">
            <a:spLocks noChangeAspect="1" noChangeArrowheads="1"/>
          </p:cNvSpPr>
          <p:nvPr/>
        </p:nvSpPr>
        <p:spPr bwMode="auto">
          <a:xfrm>
            <a:off x="8044644" y="1089454"/>
            <a:ext cx="703311"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ea typeface="幼圆" panose="02010509060101010101" pitchFamily="49" charset="-122"/>
                <a:cs typeface="Times New Roman" panose="02020603050405020304" pitchFamily="18" charset="0"/>
              </a:rPr>
              <a:t>E</a:t>
            </a:r>
            <a:endParaRPr lang="en-US" altLang="zh-CN" sz="2000" b="1" i="1" dirty="0">
              <a:solidFill>
                <a:srgbClr val="000066"/>
              </a:solidFill>
              <a:ea typeface="幼圆" panose="02010509060101010101" pitchFamily="49" charset="-122"/>
              <a:cs typeface="Times New Roman" panose="02020603050405020304" pitchFamily="18" charset="0"/>
            </a:endParaRPr>
          </a:p>
        </p:txBody>
      </p:sp>
      <p:sp>
        <p:nvSpPr>
          <p:cNvPr id="97" name="任意多边形 96"/>
          <p:cNvSpPr/>
          <p:nvPr/>
        </p:nvSpPr>
        <p:spPr bwMode="auto">
          <a:xfrm>
            <a:off x="5227106" y="1673405"/>
            <a:ext cx="3159660" cy="2408222"/>
          </a:xfrm>
          <a:custGeom>
            <a:avLst/>
            <a:gdLst>
              <a:gd name="connsiteX0" fmla="*/ 0 w 3159660"/>
              <a:gd name="connsiteY0" fmla="*/ 0 h 2408222"/>
              <a:gd name="connsiteX1" fmla="*/ 248971 w 3159660"/>
              <a:gd name="connsiteY1" fmla="*/ 45267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86824 w 3159660"/>
              <a:gd name="connsiteY6" fmla="*/ 909873 h 2408222"/>
              <a:gd name="connsiteX7" fmla="*/ 2281474 w 3159660"/>
              <a:gd name="connsiteY7" fmla="*/ 1285592 h 2408222"/>
              <a:gd name="connsiteX8" fmla="*/ 2462543 w 3159660"/>
              <a:gd name="connsiteY8" fmla="*/ 1683945 h 2408222"/>
              <a:gd name="connsiteX9" fmla="*/ 2580238 w 3159660"/>
              <a:gd name="connsiteY9" fmla="*/ 1996289 h 2408222"/>
              <a:gd name="connsiteX10" fmla="*/ 2725094 w 3159660"/>
              <a:gd name="connsiteY10" fmla="*/ 2168305 h 2408222"/>
              <a:gd name="connsiteX11" fmla="*/ 2851842 w 3159660"/>
              <a:gd name="connsiteY11" fmla="*/ 2263366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48971 w 3159660"/>
              <a:gd name="connsiteY1" fmla="*/ 45267 h 2408222"/>
              <a:gd name="connsiteX2" fmla="*/ 249228 w 3159660"/>
              <a:gd name="connsiteY2" fmla="*/ 38827 h 2408222"/>
              <a:gd name="connsiteX3" fmla="*/ 593002 w 3159660"/>
              <a:gd name="connsiteY3" fmla="*/ 99588 h 2408222"/>
              <a:gd name="connsiteX4" fmla="*/ 955141 w 3159660"/>
              <a:gd name="connsiteY4" fmla="*/ 194649 h 2408222"/>
              <a:gd name="connsiteX5" fmla="*/ 1398761 w 3159660"/>
              <a:gd name="connsiteY5" fmla="*/ 366665 h 2408222"/>
              <a:gd name="connsiteX6" fmla="*/ 1742793 w 3159660"/>
              <a:gd name="connsiteY6" fmla="*/ 583949 h 2408222"/>
              <a:gd name="connsiteX7" fmla="*/ 2086824 w 3159660"/>
              <a:gd name="connsiteY7" fmla="*/ 909873 h 2408222"/>
              <a:gd name="connsiteX8" fmla="*/ 2281474 w 3159660"/>
              <a:gd name="connsiteY8" fmla="*/ 1285592 h 2408222"/>
              <a:gd name="connsiteX9" fmla="*/ 2462543 w 3159660"/>
              <a:gd name="connsiteY9" fmla="*/ 1683945 h 2408222"/>
              <a:gd name="connsiteX10" fmla="*/ 2580238 w 3159660"/>
              <a:gd name="connsiteY10" fmla="*/ 1996289 h 2408222"/>
              <a:gd name="connsiteX11" fmla="*/ 2725094 w 3159660"/>
              <a:gd name="connsiteY11" fmla="*/ 2168305 h 2408222"/>
              <a:gd name="connsiteX12" fmla="*/ 2851842 w 3159660"/>
              <a:gd name="connsiteY12" fmla="*/ 2263366 h 2408222"/>
              <a:gd name="connsiteX13" fmla="*/ 3037438 w 3159660"/>
              <a:gd name="connsiteY13" fmla="*/ 2376535 h 2408222"/>
              <a:gd name="connsiteX14" fmla="*/ 3159660 w 3159660"/>
              <a:gd name="connsiteY14" fmla="*/ 2408222 h 2408222"/>
              <a:gd name="connsiteX0" fmla="*/ 0 w 3159660"/>
              <a:gd name="connsiteY0" fmla="*/ 0 h 2408222"/>
              <a:gd name="connsiteX1" fmla="*/ 248971 w 3159660"/>
              <a:gd name="connsiteY1" fmla="*/ 45267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86824 w 3159660"/>
              <a:gd name="connsiteY6" fmla="*/ 909873 h 2408222"/>
              <a:gd name="connsiteX7" fmla="*/ 2281474 w 3159660"/>
              <a:gd name="connsiteY7" fmla="*/ 1285592 h 2408222"/>
              <a:gd name="connsiteX8" fmla="*/ 2462543 w 3159660"/>
              <a:gd name="connsiteY8" fmla="*/ 1683945 h 2408222"/>
              <a:gd name="connsiteX9" fmla="*/ 2580238 w 3159660"/>
              <a:gd name="connsiteY9" fmla="*/ 1996289 h 2408222"/>
              <a:gd name="connsiteX10" fmla="*/ 2725094 w 3159660"/>
              <a:gd name="connsiteY10" fmla="*/ 2168305 h 2408222"/>
              <a:gd name="connsiteX11" fmla="*/ 2851842 w 3159660"/>
              <a:gd name="connsiteY11" fmla="*/ 2263366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86824 w 3159660"/>
              <a:gd name="connsiteY6" fmla="*/ 909873 h 2408222"/>
              <a:gd name="connsiteX7" fmla="*/ 2281474 w 3159660"/>
              <a:gd name="connsiteY7" fmla="*/ 1285592 h 2408222"/>
              <a:gd name="connsiteX8" fmla="*/ 2462543 w 3159660"/>
              <a:gd name="connsiteY8" fmla="*/ 1683945 h 2408222"/>
              <a:gd name="connsiteX9" fmla="*/ 2580238 w 3159660"/>
              <a:gd name="connsiteY9" fmla="*/ 1996289 h 2408222"/>
              <a:gd name="connsiteX10" fmla="*/ 2725094 w 3159660"/>
              <a:gd name="connsiteY10" fmla="*/ 2168305 h 2408222"/>
              <a:gd name="connsiteX11" fmla="*/ 2851842 w 3159660"/>
              <a:gd name="connsiteY11" fmla="*/ 2263366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72401 w 3159660"/>
              <a:gd name="connsiteY6" fmla="*/ 918526 h 2408222"/>
              <a:gd name="connsiteX7" fmla="*/ 2281474 w 3159660"/>
              <a:gd name="connsiteY7" fmla="*/ 1285592 h 2408222"/>
              <a:gd name="connsiteX8" fmla="*/ 2462543 w 3159660"/>
              <a:gd name="connsiteY8" fmla="*/ 1683945 h 2408222"/>
              <a:gd name="connsiteX9" fmla="*/ 2580238 w 3159660"/>
              <a:gd name="connsiteY9" fmla="*/ 1996289 h 2408222"/>
              <a:gd name="connsiteX10" fmla="*/ 2725094 w 3159660"/>
              <a:gd name="connsiteY10" fmla="*/ 2168305 h 2408222"/>
              <a:gd name="connsiteX11" fmla="*/ 2851842 w 3159660"/>
              <a:gd name="connsiteY11" fmla="*/ 2263366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72401 w 3159660"/>
              <a:gd name="connsiteY6" fmla="*/ 918526 h 2408222"/>
              <a:gd name="connsiteX7" fmla="*/ 2281474 w 3159660"/>
              <a:gd name="connsiteY7" fmla="*/ 1285592 h 2408222"/>
              <a:gd name="connsiteX8" fmla="*/ 2462543 w 3159660"/>
              <a:gd name="connsiteY8" fmla="*/ 1683945 h 2408222"/>
              <a:gd name="connsiteX9" fmla="*/ 2591776 w 3159660"/>
              <a:gd name="connsiteY9" fmla="*/ 1993404 h 2408222"/>
              <a:gd name="connsiteX10" fmla="*/ 2725094 w 3159660"/>
              <a:gd name="connsiteY10" fmla="*/ 2168305 h 2408222"/>
              <a:gd name="connsiteX11" fmla="*/ 2851842 w 3159660"/>
              <a:gd name="connsiteY11" fmla="*/ 2263366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72401 w 3159660"/>
              <a:gd name="connsiteY6" fmla="*/ 918526 h 2408222"/>
              <a:gd name="connsiteX7" fmla="*/ 2281474 w 3159660"/>
              <a:gd name="connsiteY7" fmla="*/ 1285592 h 2408222"/>
              <a:gd name="connsiteX8" fmla="*/ 2462543 w 3159660"/>
              <a:gd name="connsiteY8" fmla="*/ 1683945 h 2408222"/>
              <a:gd name="connsiteX9" fmla="*/ 2591776 w 3159660"/>
              <a:gd name="connsiteY9" fmla="*/ 1993404 h 2408222"/>
              <a:gd name="connsiteX10" fmla="*/ 2725094 w 3159660"/>
              <a:gd name="connsiteY10" fmla="*/ 2168305 h 2408222"/>
              <a:gd name="connsiteX11" fmla="*/ 2854727 w 3159660"/>
              <a:gd name="connsiteY11" fmla="*/ 2277789 h 2408222"/>
              <a:gd name="connsiteX12" fmla="*/ 3037438 w 3159660"/>
              <a:gd name="connsiteY12" fmla="*/ 2376535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72401 w 3159660"/>
              <a:gd name="connsiteY6" fmla="*/ 918526 h 2408222"/>
              <a:gd name="connsiteX7" fmla="*/ 2281474 w 3159660"/>
              <a:gd name="connsiteY7" fmla="*/ 1285592 h 2408222"/>
              <a:gd name="connsiteX8" fmla="*/ 2462543 w 3159660"/>
              <a:gd name="connsiteY8" fmla="*/ 1683945 h 2408222"/>
              <a:gd name="connsiteX9" fmla="*/ 2591776 w 3159660"/>
              <a:gd name="connsiteY9" fmla="*/ 1993404 h 2408222"/>
              <a:gd name="connsiteX10" fmla="*/ 2725094 w 3159660"/>
              <a:gd name="connsiteY10" fmla="*/ 2168305 h 2408222"/>
              <a:gd name="connsiteX11" fmla="*/ 2854727 w 3159660"/>
              <a:gd name="connsiteY11" fmla="*/ 2277789 h 2408222"/>
              <a:gd name="connsiteX12" fmla="*/ 3002824 w 3159660"/>
              <a:gd name="connsiteY12" fmla="*/ 2364996 h 2408222"/>
              <a:gd name="connsiteX13" fmla="*/ 3159660 w 3159660"/>
              <a:gd name="connsiteY13" fmla="*/ 2408222 h 2408222"/>
              <a:gd name="connsiteX0" fmla="*/ 0 w 3159660"/>
              <a:gd name="connsiteY0" fmla="*/ 0 h 2408222"/>
              <a:gd name="connsiteX1" fmla="*/ 289355 w 3159660"/>
              <a:gd name="connsiteY1" fmla="*/ 39498 h 2408222"/>
              <a:gd name="connsiteX2" fmla="*/ 593002 w 3159660"/>
              <a:gd name="connsiteY2" fmla="*/ 99588 h 2408222"/>
              <a:gd name="connsiteX3" fmla="*/ 955141 w 3159660"/>
              <a:gd name="connsiteY3" fmla="*/ 194649 h 2408222"/>
              <a:gd name="connsiteX4" fmla="*/ 1398761 w 3159660"/>
              <a:gd name="connsiteY4" fmla="*/ 366665 h 2408222"/>
              <a:gd name="connsiteX5" fmla="*/ 1742793 w 3159660"/>
              <a:gd name="connsiteY5" fmla="*/ 583949 h 2408222"/>
              <a:gd name="connsiteX6" fmla="*/ 2072401 w 3159660"/>
              <a:gd name="connsiteY6" fmla="*/ 918526 h 2408222"/>
              <a:gd name="connsiteX7" fmla="*/ 2281474 w 3159660"/>
              <a:gd name="connsiteY7" fmla="*/ 1285592 h 2408222"/>
              <a:gd name="connsiteX8" fmla="*/ 2462543 w 3159660"/>
              <a:gd name="connsiteY8" fmla="*/ 1683945 h 2408222"/>
              <a:gd name="connsiteX9" fmla="*/ 2583122 w 3159660"/>
              <a:gd name="connsiteY9" fmla="*/ 1967444 h 2408222"/>
              <a:gd name="connsiteX10" fmla="*/ 2725094 w 3159660"/>
              <a:gd name="connsiteY10" fmla="*/ 2168305 h 2408222"/>
              <a:gd name="connsiteX11" fmla="*/ 2854727 w 3159660"/>
              <a:gd name="connsiteY11" fmla="*/ 2277789 h 2408222"/>
              <a:gd name="connsiteX12" fmla="*/ 3002824 w 3159660"/>
              <a:gd name="connsiteY12" fmla="*/ 2364996 h 2408222"/>
              <a:gd name="connsiteX13" fmla="*/ 3159660 w 3159660"/>
              <a:gd name="connsiteY13" fmla="*/ 2408222 h 240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9660" h="2408222">
                <a:moveTo>
                  <a:pt x="0" y="0"/>
                </a:moveTo>
                <a:lnTo>
                  <a:pt x="289355" y="39498"/>
                </a:lnTo>
                <a:cubicBezTo>
                  <a:pt x="388189" y="56096"/>
                  <a:pt x="482038" y="73729"/>
                  <a:pt x="593002" y="99588"/>
                </a:cubicBezTo>
                <a:cubicBezTo>
                  <a:pt x="703966" y="125447"/>
                  <a:pt x="820848" y="150136"/>
                  <a:pt x="955141" y="194649"/>
                </a:cubicBezTo>
                <a:cubicBezTo>
                  <a:pt x="1089434" y="239162"/>
                  <a:pt x="1267486" y="301782"/>
                  <a:pt x="1398761" y="366665"/>
                </a:cubicBezTo>
                <a:cubicBezTo>
                  <a:pt x="1530036" y="431548"/>
                  <a:pt x="1630520" y="491972"/>
                  <a:pt x="1742793" y="583949"/>
                </a:cubicBezTo>
                <a:cubicBezTo>
                  <a:pt x="1855066" y="675926"/>
                  <a:pt x="1982621" y="801586"/>
                  <a:pt x="2072401" y="918526"/>
                </a:cubicBezTo>
                <a:cubicBezTo>
                  <a:pt x="2162181" y="1035467"/>
                  <a:pt x="2216450" y="1158022"/>
                  <a:pt x="2281474" y="1285592"/>
                </a:cubicBezTo>
                <a:cubicBezTo>
                  <a:pt x="2346498" y="1413162"/>
                  <a:pt x="2412268" y="1570303"/>
                  <a:pt x="2462543" y="1683945"/>
                </a:cubicBezTo>
                <a:cubicBezTo>
                  <a:pt x="2512818" y="1797587"/>
                  <a:pt x="2539364" y="1886717"/>
                  <a:pt x="2583122" y="1967444"/>
                </a:cubicBezTo>
                <a:cubicBezTo>
                  <a:pt x="2626881" y="2048171"/>
                  <a:pt x="2679827" y="2116581"/>
                  <a:pt x="2725094" y="2168305"/>
                </a:cubicBezTo>
                <a:cubicBezTo>
                  <a:pt x="2770361" y="2220029"/>
                  <a:pt x="2808439" y="2245007"/>
                  <a:pt x="2854727" y="2277789"/>
                </a:cubicBezTo>
                <a:cubicBezTo>
                  <a:pt x="2901015" y="2310571"/>
                  <a:pt x="2952002" y="2343257"/>
                  <a:pt x="3002824" y="2364996"/>
                </a:cubicBezTo>
                <a:cubicBezTo>
                  <a:pt x="3053646" y="2386735"/>
                  <a:pt x="3124200" y="2404450"/>
                  <a:pt x="3159660" y="2408222"/>
                </a:cubicBezTo>
              </a:path>
            </a:pathLst>
          </a:cu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98" name="组合 97"/>
          <p:cNvGrpSpPr/>
          <p:nvPr/>
        </p:nvGrpSpPr>
        <p:grpSpPr>
          <a:xfrm>
            <a:off x="5168261" y="1507428"/>
            <a:ext cx="3416738" cy="417871"/>
            <a:chOff x="5168261" y="1507428"/>
            <a:chExt cx="3416738" cy="417871"/>
          </a:xfrm>
        </p:grpSpPr>
        <p:sp>
          <p:nvSpPr>
            <p:cNvPr id="99" name="Text Box 77"/>
            <p:cNvSpPr txBox="1">
              <a:spLocks noChangeAspect="1" noChangeArrowheads="1"/>
            </p:cNvSpPr>
            <p:nvPr/>
          </p:nvSpPr>
          <p:spPr bwMode="auto">
            <a:xfrm>
              <a:off x="8022204" y="1507428"/>
              <a:ext cx="562795"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err="1">
                  <a:solidFill>
                    <a:srgbClr val="C00000"/>
                  </a:solidFill>
                  <a:latin typeface="Times New Roman" panose="02020603050405020304" pitchFamily="18" charset="0"/>
                  <a:ea typeface="华文新魏" pitchFamily="2" charset="-122"/>
                  <a:cs typeface="Times New Roman" panose="02020603050405020304" pitchFamily="18" charset="0"/>
                </a:rPr>
                <a:t>E</a:t>
              </a:r>
              <a:r>
                <a:rPr lang="en-US" altLang="zh-CN" sz="2000" b="1" baseline="-25000" dirty="0" err="1">
                  <a:solidFill>
                    <a:srgbClr val="C00000"/>
                  </a:solidFill>
                  <a:latin typeface="Times New Roman" panose="02020603050405020304" pitchFamily="18" charset="0"/>
                  <a:ea typeface="华文新魏" pitchFamily="2" charset="-122"/>
                  <a:cs typeface="Times New Roman" panose="02020603050405020304" pitchFamily="18" charset="0"/>
                </a:rPr>
                <a:t>p</a:t>
              </a:r>
              <a:endParaRPr lang="en-US" altLang="zh-CN" sz="2000" b="1" baseline="-25000" dirty="0">
                <a:solidFill>
                  <a:srgbClr val="C00000"/>
                </a:solidFill>
                <a:latin typeface="Times New Roman" panose="02020603050405020304" pitchFamily="18" charset="0"/>
                <a:ea typeface="华文新魏" pitchFamily="2" charset="-122"/>
                <a:cs typeface="Times New Roman" panose="02020603050405020304" pitchFamily="18" charset="0"/>
              </a:endParaRPr>
            </a:p>
          </p:txBody>
        </p:sp>
        <p:grpSp>
          <p:nvGrpSpPr>
            <p:cNvPr id="100" name="组合 99"/>
            <p:cNvGrpSpPr/>
            <p:nvPr/>
          </p:nvGrpSpPr>
          <p:grpSpPr>
            <a:xfrm>
              <a:off x="5168261" y="1623611"/>
              <a:ext cx="2840236" cy="108000"/>
              <a:chOff x="5168261" y="1623611"/>
              <a:chExt cx="2840236" cy="108000"/>
            </a:xfrm>
          </p:grpSpPr>
          <p:sp>
            <p:nvSpPr>
              <p:cNvPr id="101" name="Line 74"/>
              <p:cNvSpPr>
                <a:spLocks noChangeAspect="1" noChangeShapeType="1"/>
              </p:cNvSpPr>
              <p:nvPr/>
            </p:nvSpPr>
            <p:spPr bwMode="auto">
              <a:xfrm>
                <a:off x="5241038" y="1677141"/>
                <a:ext cx="2767459" cy="0"/>
              </a:xfrm>
              <a:prstGeom prst="line">
                <a:avLst/>
              </a:prstGeom>
              <a:noFill/>
              <a:ln w="1270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 name="椭圆 101"/>
              <p:cNvSpPr/>
              <p:nvPr/>
            </p:nvSpPr>
            <p:spPr bwMode="auto">
              <a:xfrm>
                <a:off x="5168261" y="1623611"/>
                <a:ext cx="108000" cy="108000"/>
              </a:xfrm>
              <a:prstGeom prst="ellipse">
                <a:avLst/>
              </a:prstGeom>
              <a:solidFill>
                <a:srgbClr val="C000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grpSp>
        <p:nvGrpSpPr>
          <p:cNvPr id="103" name="组合 102"/>
          <p:cNvGrpSpPr/>
          <p:nvPr/>
        </p:nvGrpSpPr>
        <p:grpSpPr>
          <a:xfrm>
            <a:off x="7946209" y="3483864"/>
            <a:ext cx="710902" cy="451142"/>
            <a:chOff x="7946209" y="3483864"/>
            <a:chExt cx="710902" cy="451142"/>
          </a:xfrm>
        </p:grpSpPr>
        <p:sp>
          <p:nvSpPr>
            <p:cNvPr id="104" name="Text Box 78"/>
            <p:cNvSpPr txBox="1">
              <a:spLocks noChangeAspect="1" noChangeArrowheads="1"/>
            </p:cNvSpPr>
            <p:nvPr/>
          </p:nvSpPr>
          <p:spPr bwMode="auto">
            <a:xfrm>
              <a:off x="7992318" y="3483864"/>
              <a:ext cx="664793"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i="1" dirty="0">
                  <a:latin typeface="Times New Roman" panose="02020603050405020304" pitchFamily="18" charset="0"/>
                  <a:ea typeface="华文新魏" pitchFamily="2" charset="-122"/>
                  <a:cs typeface="Times New Roman" panose="02020603050405020304" pitchFamily="18" charset="0"/>
                </a:rPr>
                <a:t>E</a:t>
              </a:r>
              <a:r>
                <a:rPr lang="en-US" altLang="zh-CN" sz="2000" b="1" baseline="-25000" dirty="0">
                  <a:latin typeface="Times New Roman" panose="02020603050405020304" pitchFamily="18" charset="0"/>
                  <a:ea typeface="华文新魏" pitchFamily="2" charset="-122"/>
                  <a:cs typeface="Times New Roman" panose="02020603050405020304" pitchFamily="18" charset="0"/>
                </a:rPr>
                <a:t>0</a:t>
              </a:r>
            </a:p>
          </p:txBody>
        </p:sp>
        <p:sp>
          <p:nvSpPr>
            <p:cNvPr id="105" name="椭圆 104"/>
            <p:cNvSpPr/>
            <p:nvPr/>
          </p:nvSpPr>
          <p:spPr bwMode="auto">
            <a:xfrm>
              <a:off x="7946209" y="3827006"/>
              <a:ext cx="108000" cy="108000"/>
            </a:xfrm>
            <a:prstGeom prst="ellipse">
              <a:avLst/>
            </a:prstGeom>
            <a:solidFill>
              <a:srgbClr val="FFFF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06" name="组合 105"/>
          <p:cNvGrpSpPr/>
          <p:nvPr/>
        </p:nvGrpSpPr>
        <p:grpSpPr>
          <a:xfrm>
            <a:off x="7557155" y="3792006"/>
            <a:ext cx="865795" cy="417871"/>
            <a:chOff x="7557155" y="3792006"/>
            <a:chExt cx="865795" cy="417871"/>
          </a:xfrm>
        </p:grpSpPr>
        <p:sp>
          <p:nvSpPr>
            <p:cNvPr id="107" name="Text Box 79"/>
            <p:cNvSpPr txBox="1">
              <a:spLocks noChangeAspect="1" noChangeArrowheads="1"/>
            </p:cNvSpPr>
            <p:nvPr/>
          </p:nvSpPr>
          <p:spPr bwMode="auto">
            <a:xfrm>
              <a:off x="7557155" y="3792006"/>
              <a:ext cx="666164"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i="1" dirty="0" err="1">
                  <a:solidFill>
                    <a:srgbClr val="003300"/>
                  </a:solidFill>
                  <a:latin typeface="Times New Roman" panose="02020603050405020304" pitchFamily="18" charset="0"/>
                  <a:ea typeface="华文新魏" pitchFamily="2" charset="-122"/>
                  <a:cs typeface="Times New Roman" panose="02020603050405020304" pitchFamily="18" charset="0"/>
                </a:rPr>
                <a:t>E</a:t>
              </a:r>
              <a:r>
                <a:rPr lang="en-US" altLang="zh-CN" sz="2000" b="1" baseline="-25000" dirty="0" err="1">
                  <a:solidFill>
                    <a:srgbClr val="003300"/>
                  </a:solidFill>
                  <a:latin typeface="Times New Roman" panose="02020603050405020304" pitchFamily="18" charset="0"/>
                  <a:ea typeface="华文新魏" pitchFamily="2" charset="-122"/>
                  <a:cs typeface="Times New Roman" panose="02020603050405020304" pitchFamily="18" charset="0"/>
                </a:rPr>
                <a:t>a</a:t>
              </a:r>
              <a:endParaRPr lang="en-US" altLang="zh-CN" sz="2000" b="1" baseline="-25000" dirty="0">
                <a:solidFill>
                  <a:srgbClr val="003300"/>
                </a:solidFill>
                <a:latin typeface="Times New Roman" panose="02020603050405020304" pitchFamily="18" charset="0"/>
                <a:ea typeface="华文新魏" pitchFamily="2" charset="-122"/>
                <a:cs typeface="Times New Roman" panose="02020603050405020304" pitchFamily="18" charset="0"/>
              </a:endParaRPr>
            </a:p>
          </p:txBody>
        </p:sp>
        <p:grpSp>
          <p:nvGrpSpPr>
            <p:cNvPr id="108" name="组合 107"/>
            <p:cNvGrpSpPr/>
            <p:nvPr/>
          </p:nvGrpSpPr>
          <p:grpSpPr>
            <a:xfrm>
              <a:off x="8003194" y="4022674"/>
              <a:ext cx="419756" cy="108000"/>
              <a:chOff x="8003194" y="4022674"/>
              <a:chExt cx="419756" cy="108000"/>
            </a:xfrm>
          </p:grpSpPr>
          <p:sp>
            <p:nvSpPr>
              <p:cNvPr id="109" name="Line 74"/>
              <p:cNvSpPr>
                <a:spLocks noChangeAspect="1" noChangeShapeType="1"/>
              </p:cNvSpPr>
              <p:nvPr/>
            </p:nvSpPr>
            <p:spPr bwMode="auto">
              <a:xfrm>
                <a:off x="8003194" y="4082369"/>
                <a:ext cx="350968" cy="0"/>
              </a:xfrm>
              <a:prstGeom prst="line">
                <a:avLst/>
              </a:prstGeom>
              <a:noFill/>
              <a:ln w="1270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椭圆 109"/>
              <p:cNvSpPr/>
              <p:nvPr/>
            </p:nvSpPr>
            <p:spPr bwMode="auto">
              <a:xfrm>
                <a:off x="8314950" y="4022674"/>
                <a:ext cx="108000" cy="108000"/>
              </a:xfrm>
              <a:prstGeom prst="ellipse">
                <a:avLst/>
              </a:prstGeom>
              <a:solidFill>
                <a:srgbClr val="008000"/>
              </a:solidFill>
              <a:ln w="1270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grpSp>
        <p:nvGrpSpPr>
          <p:cNvPr id="111" name="组合 110"/>
          <p:cNvGrpSpPr/>
          <p:nvPr/>
        </p:nvGrpSpPr>
        <p:grpSpPr>
          <a:xfrm>
            <a:off x="5219608" y="4285233"/>
            <a:ext cx="2779294" cy="587698"/>
            <a:chOff x="5219608" y="4285233"/>
            <a:chExt cx="2779294" cy="587698"/>
          </a:xfrm>
        </p:grpSpPr>
        <p:sp>
          <p:nvSpPr>
            <p:cNvPr id="112" name="Line 89"/>
            <p:cNvSpPr>
              <a:spLocks noChangeAspect="1" noChangeShapeType="1"/>
            </p:cNvSpPr>
            <p:nvPr/>
          </p:nvSpPr>
          <p:spPr bwMode="auto">
            <a:xfrm>
              <a:off x="5220477" y="4427220"/>
              <a:ext cx="27784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Text Box 91"/>
            <p:cNvSpPr txBox="1">
              <a:spLocks noChangeAspect="1" noChangeArrowheads="1"/>
            </p:cNvSpPr>
            <p:nvPr/>
          </p:nvSpPr>
          <p:spPr bwMode="auto">
            <a:xfrm>
              <a:off x="6332105" y="4426655"/>
              <a:ext cx="90091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a:latin typeface="Times New Roman" panose="02020603050405020304" pitchFamily="18" charset="0"/>
                  <a:cs typeface="Times New Roman" panose="02020603050405020304" pitchFamily="18" charset="0"/>
                </a:rPr>
                <a:t>1~5%</a:t>
              </a:r>
            </a:p>
          </p:txBody>
        </p:sp>
        <p:cxnSp>
          <p:nvCxnSpPr>
            <p:cNvPr id="114" name="直接连接符 113"/>
            <p:cNvCxnSpPr/>
            <p:nvPr/>
          </p:nvCxnSpPr>
          <p:spPr bwMode="auto">
            <a:xfrm>
              <a:off x="5219608" y="4285233"/>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5" name="组合 114"/>
          <p:cNvGrpSpPr/>
          <p:nvPr/>
        </p:nvGrpSpPr>
        <p:grpSpPr>
          <a:xfrm>
            <a:off x="7851226" y="4083255"/>
            <a:ext cx="901956" cy="753881"/>
            <a:chOff x="7851226" y="4083255"/>
            <a:chExt cx="901956" cy="753881"/>
          </a:xfrm>
        </p:grpSpPr>
        <p:cxnSp>
          <p:nvCxnSpPr>
            <p:cNvPr id="116" name="直接连接符 115"/>
            <p:cNvCxnSpPr/>
            <p:nvPr/>
          </p:nvCxnSpPr>
          <p:spPr bwMode="auto">
            <a:xfrm>
              <a:off x="7999825" y="4278983"/>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7" name="组合 116"/>
            <p:cNvGrpSpPr/>
            <p:nvPr/>
          </p:nvGrpSpPr>
          <p:grpSpPr>
            <a:xfrm>
              <a:off x="7851226" y="4083255"/>
              <a:ext cx="901956" cy="753881"/>
              <a:chOff x="7851226" y="4083255"/>
              <a:chExt cx="901956" cy="753881"/>
            </a:xfrm>
          </p:grpSpPr>
          <p:sp>
            <p:nvSpPr>
              <p:cNvPr id="118" name="Line 75"/>
              <p:cNvSpPr>
                <a:spLocks noChangeAspect="1" noChangeShapeType="1"/>
              </p:cNvSpPr>
              <p:nvPr/>
            </p:nvSpPr>
            <p:spPr bwMode="auto">
              <a:xfrm>
                <a:off x="8365776" y="4083255"/>
                <a:ext cx="0" cy="171246"/>
              </a:xfrm>
              <a:prstGeom prst="line">
                <a:avLst/>
              </a:prstGeom>
              <a:noFill/>
              <a:ln w="1270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Text Box 92"/>
              <p:cNvSpPr txBox="1">
                <a:spLocks noChangeAspect="1" noChangeArrowheads="1"/>
              </p:cNvSpPr>
              <p:nvPr/>
            </p:nvSpPr>
            <p:spPr bwMode="auto">
              <a:xfrm>
                <a:off x="7851226" y="4419265"/>
                <a:ext cx="90195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latin typeface="Times New Roman" panose="02020603050405020304" pitchFamily="18" charset="0"/>
                    <a:cs typeface="Times New Roman" panose="02020603050405020304" pitchFamily="18" charset="0"/>
                  </a:rPr>
                  <a:t>1~5‰</a:t>
                </a:r>
                <a:endParaRPr lang="en-US" altLang="zh-CN" sz="2000" b="1" dirty="0">
                  <a:latin typeface="Times New Roman" panose="02020603050405020304" pitchFamily="18" charset="0"/>
                  <a:cs typeface="Times New Roman" panose="02020603050405020304" pitchFamily="18" charset="0"/>
                </a:endParaRPr>
              </a:p>
            </p:txBody>
          </p:sp>
          <p:cxnSp>
            <p:nvCxnSpPr>
              <p:cNvPr id="120" name="直接连接符 119"/>
              <p:cNvCxnSpPr/>
              <p:nvPr/>
            </p:nvCxnSpPr>
            <p:spPr bwMode="auto">
              <a:xfrm>
                <a:off x="8374816" y="4281867"/>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Line 89"/>
              <p:cNvSpPr>
                <a:spLocks noChangeAspect="1" noChangeShapeType="1"/>
              </p:cNvSpPr>
              <p:nvPr/>
            </p:nvSpPr>
            <p:spPr bwMode="auto">
              <a:xfrm>
                <a:off x="8003194" y="4426739"/>
                <a:ext cx="36922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22" name="矩形 121"/>
          <p:cNvSpPr/>
          <p:nvPr/>
        </p:nvSpPr>
        <p:spPr bwMode="auto">
          <a:xfrm>
            <a:off x="5971752" y="2461317"/>
            <a:ext cx="78238" cy="444975"/>
          </a:xfrm>
          <a:prstGeom prst="rect">
            <a:avLst/>
          </a:prstGeom>
          <a:pattFill prst="lt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23" name="直接连接符 122"/>
          <p:cNvCxnSpPr/>
          <p:nvPr/>
        </p:nvCxnSpPr>
        <p:spPr bwMode="auto">
          <a:xfrm>
            <a:off x="5976344" y="2461223"/>
            <a:ext cx="5378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123"/>
          <p:cNvCxnSpPr/>
          <p:nvPr/>
        </p:nvCxnSpPr>
        <p:spPr bwMode="auto">
          <a:xfrm>
            <a:off x="5809457" y="2907107"/>
            <a:ext cx="7180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连接符 124"/>
          <p:cNvCxnSpPr/>
          <p:nvPr/>
        </p:nvCxnSpPr>
        <p:spPr bwMode="auto">
          <a:xfrm>
            <a:off x="5896014" y="2291667"/>
            <a:ext cx="0" cy="12713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连接符 125"/>
          <p:cNvCxnSpPr/>
          <p:nvPr/>
        </p:nvCxnSpPr>
        <p:spPr bwMode="auto">
          <a:xfrm>
            <a:off x="5892879" y="2353647"/>
            <a:ext cx="147331" cy="0"/>
          </a:xfrm>
          <a:prstGeom prst="line">
            <a:avLst/>
          </a:prstGeom>
          <a:noFill/>
          <a:ln w="9525"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p:nvPr/>
        </p:nvCxnSpPr>
        <p:spPr bwMode="auto">
          <a:xfrm>
            <a:off x="6041025" y="2295783"/>
            <a:ext cx="0" cy="12713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矩形 127"/>
          <p:cNvSpPr/>
          <p:nvPr/>
        </p:nvSpPr>
        <p:spPr bwMode="auto">
          <a:xfrm>
            <a:off x="5820982" y="2462039"/>
            <a:ext cx="78238" cy="444975"/>
          </a:xfrm>
          <a:prstGeom prst="rect">
            <a:avLst/>
          </a:prstGeom>
          <a:noFill/>
          <a:ln w="19050" cap="flat" cmpd="sng" algn="ctr">
            <a:solidFill>
              <a:srgbClr val="C000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9" name="TextBox 21"/>
          <p:cNvSpPr txBox="1"/>
          <p:nvPr/>
        </p:nvSpPr>
        <p:spPr>
          <a:xfrm>
            <a:off x="5818266" y="2040357"/>
            <a:ext cx="284162" cy="319575"/>
          </a:xfrm>
          <a:prstGeom prst="rect">
            <a:avLst/>
          </a:prstGeom>
          <a:noFill/>
        </p:spPr>
        <p:txBody>
          <a:bodyPr wrap="square" rtlCol="0">
            <a:spAutoFit/>
          </a:bodyPr>
          <a:lstStyle/>
          <a:p>
            <a:r>
              <a:rPr lang="zh-CN" altLang="en-US" b="1" i="1" dirty="0" smtClean="0">
                <a:sym typeface="Symbol"/>
              </a:rPr>
              <a:t></a:t>
            </a:r>
            <a:endParaRPr lang="zh-CN" altLang="en-US" b="1" i="1" dirty="0"/>
          </a:p>
        </p:txBody>
      </p:sp>
      <p:cxnSp>
        <p:nvCxnSpPr>
          <p:cNvPr id="130" name="直接连接符 129"/>
          <p:cNvCxnSpPr/>
          <p:nvPr/>
        </p:nvCxnSpPr>
        <p:spPr bwMode="auto">
          <a:xfrm>
            <a:off x="6415589" y="2472185"/>
            <a:ext cx="0" cy="426799"/>
          </a:xfrm>
          <a:prstGeom prst="line">
            <a:avLst/>
          </a:prstGeom>
          <a:noFill/>
          <a:ln w="9525"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Box 79"/>
          <p:cNvSpPr txBox="1"/>
          <p:nvPr/>
        </p:nvSpPr>
        <p:spPr>
          <a:xfrm>
            <a:off x="6445109" y="2516723"/>
            <a:ext cx="284162" cy="320280"/>
          </a:xfrm>
          <a:prstGeom prst="rect">
            <a:avLst/>
          </a:prstGeom>
          <a:noFill/>
        </p:spPr>
        <p:txBody>
          <a:bodyPr wrap="square" rtlCol="0">
            <a:spAutoFit/>
          </a:bodyPr>
          <a:lstStyle/>
          <a:p>
            <a:r>
              <a:rPr lang="en-US" altLang="zh-CN" b="1" i="1" dirty="0">
                <a:sym typeface="Symbol"/>
              </a:rPr>
              <a:t>H</a:t>
            </a:r>
            <a:endParaRPr lang="zh-CN" altLang="en-US" b="1" i="1" dirty="0"/>
          </a:p>
        </p:txBody>
      </p:sp>
      <p:sp>
        <p:nvSpPr>
          <p:cNvPr id="132" name="矩形 131"/>
          <p:cNvSpPr/>
          <p:nvPr/>
        </p:nvSpPr>
        <p:spPr bwMode="auto">
          <a:xfrm>
            <a:off x="6006677" y="3446550"/>
            <a:ext cx="78238" cy="444975"/>
          </a:xfrm>
          <a:prstGeom prst="rect">
            <a:avLst/>
          </a:prstGeom>
          <a:pattFill prst="ltUp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3" name="直接连接符 132"/>
          <p:cNvCxnSpPr/>
          <p:nvPr/>
        </p:nvCxnSpPr>
        <p:spPr bwMode="auto">
          <a:xfrm>
            <a:off x="6084915" y="3446550"/>
            <a:ext cx="5378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p:nvPr/>
        </p:nvCxnSpPr>
        <p:spPr bwMode="auto">
          <a:xfrm>
            <a:off x="5882063" y="3892340"/>
            <a:ext cx="7180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直接连接符 134"/>
          <p:cNvCxnSpPr/>
          <p:nvPr/>
        </p:nvCxnSpPr>
        <p:spPr bwMode="auto">
          <a:xfrm>
            <a:off x="5930939" y="3276993"/>
            <a:ext cx="0" cy="12713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连接符 135"/>
          <p:cNvCxnSpPr/>
          <p:nvPr/>
        </p:nvCxnSpPr>
        <p:spPr bwMode="auto">
          <a:xfrm>
            <a:off x="5927804" y="3338973"/>
            <a:ext cx="147331" cy="0"/>
          </a:xfrm>
          <a:prstGeom prst="line">
            <a:avLst/>
          </a:prstGeom>
          <a:noFill/>
          <a:ln w="9525" cap="flat" cmpd="sng" algn="ctr">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连接符 136"/>
          <p:cNvCxnSpPr/>
          <p:nvPr/>
        </p:nvCxnSpPr>
        <p:spPr bwMode="auto">
          <a:xfrm>
            <a:off x="6075950" y="3281109"/>
            <a:ext cx="0" cy="12713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矩形 137"/>
          <p:cNvSpPr/>
          <p:nvPr/>
        </p:nvSpPr>
        <p:spPr bwMode="auto">
          <a:xfrm rot="20457187">
            <a:off x="5925758" y="3447358"/>
            <a:ext cx="78238" cy="444975"/>
          </a:xfrm>
          <a:prstGeom prst="rect">
            <a:avLst/>
          </a:prstGeom>
          <a:noFill/>
          <a:ln w="19050" cap="flat" cmpd="sng" algn="ctr">
            <a:solidFill>
              <a:srgbClr val="C000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9" name="TextBox 89"/>
          <p:cNvSpPr txBox="1"/>
          <p:nvPr/>
        </p:nvSpPr>
        <p:spPr>
          <a:xfrm>
            <a:off x="5853191" y="3025683"/>
            <a:ext cx="284162" cy="319575"/>
          </a:xfrm>
          <a:prstGeom prst="rect">
            <a:avLst/>
          </a:prstGeom>
          <a:noFill/>
        </p:spPr>
        <p:txBody>
          <a:bodyPr wrap="square" rtlCol="0">
            <a:spAutoFit/>
          </a:bodyPr>
          <a:lstStyle/>
          <a:p>
            <a:r>
              <a:rPr lang="zh-CN" altLang="en-US" b="1" i="1" dirty="0" smtClean="0">
                <a:sym typeface="Symbol"/>
              </a:rPr>
              <a:t></a:t>
            </a:r>
            <a:endParaRPr lang="zh-CN" altLang="en-US" b="1" i="1" dirty="0"/>
          </a:p>
        </p:txBody>
      </p:sp>
      <p:cxnSp>
        <p:nvCxnSpPr>
          <p:cNvPr id="140" name="直接连接符 139"/>
          <p:cNvCxnSpPr/>
          <p:nvPr/>
        </p:nvCxnSpPr>
        <p:spPr bwMode="auto">
          <a:xfrm>
            <a:off x="6441563" y="3457512"/>
            <a:ext cx="0" cy="426799"/>
          </a:xfrm>
          <a:prstGeom prst="line">
            <a:avLst/>
          </a:prstGeom>
          <a:noFill/>
          <a:ln w="9525"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TextBox 93"/>
          <p:cNvSpPr txBox="1"/>
          <p:nvPr/>
        </p:nvSpPr>
        <p:spPr>
          <a:xfrm>
            <a:off x="6471083" y="3502050"/>
            <a:ext cx="284162" cy="320280"/>
          </a:xfrm>
          <a:prstGeom prst="rect">
            <a:avLst/>
          </a:prstGeom>
          <a:noFill/>
        </p:spPr>
        <p:txBody>
          <a:bodyPr wrap="square" rtlCol="0">
            <a:spAutoFit/>
          </a:bodyPr>
          <a:lstStyle/>
          <a:p>
            <a:r>
              <a:rPr lang="en-US" altLang="zh-CN" b="1" i="1" dirty="0">
                <a:sym typeface="Symbol"/>
              </a:rPr>
              <a:t>H</a:t>
            </a:r>
            <a:endParaRPr lang="zh-CN" altLang="en-US" b="1" i="1" dirty="0"/>
          </a:p>
        </p:txBody>
      </p:sp>
      <p:grpSp>
        <p:nvGrpSpPr>
          <p:cNvPr id="56" name="Group 96"/>
          <p:cNvGrpSpPr>
            <a:grpSpLocks/>
          </p:cNvGrpSpPr>
          <p:nvPr/>
        </p:nvGrpSpPr>
        <p:grpSpPr bwMode="auto">
          <a:xfrm>
            <a:off x="8654516" y="3889491"/>
            <a:ext cx="405078" cy="742136"/>
            <a:chOff x="3079" y="3060"/>
            <a:chExt cx="823" cy="700"/>
          </a:xfrm>
        </p:grpSpPr>
        <p:sp>
          <p:nvSpPr>
            <p:cNvPr id="57" name="Text Box 85"/>
            <p:cNvSpPr txBox="1">
              <a:spLocks noChangeAspect="1" noChangeArrowheads="1"/>
            </p:cNvSpPr>
            <p:nvPr/>
          </p:nvSpPr>
          <p:spPr bwMode="auto">
            <a:xfrm>
              <a:off x="3119" y="3060"/>
              <a:ext cx="32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ea typeface="华文新魏" pitchFamily="2" charset="-122"/>
                  <a:sym typeface="Symbol" pitchFamily="18" charset="2"/>
                </a:rPr>
                <a:t></a:t>
              </a:r>
              <a:endParaRPr lang="en-US" altLang="zh-CN" sz="2000" b="1" i="1" baseline="-25000" dirty="0">
                <a:ea typeface="华文新魏" pitchFamily="2" charset="-122"/>
                <a:sym typeface="Symbol" pitchFamily="18" charset="2"/>
              </a:endParaRPr>
            </a:p>
          </p:txBody>
        </p:sp>
        <p:sp>
          <p:nvSpPr>
            <p:cNvPr id="58" name="Text Box 86"/>
            <p:cNvSpPr txBox="1">
              <a:spLocks noChangeAspect="1" noChangeArrowheads="1"/>
            </p:cNvSpPr>
            <p:nvPr/>
          </p:nvSpPr>
          <p:spPr bwMode="auto">
            <a:xfrm>
              <a:off x="3079" y="3175"/>
              <a:ext cx="823"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i="1" dirty="0" smtClean="0">
                  <a:sym typeface="Symbol" pitchFamily="18" charset="2"/>
                </a:rPr>
                <a:t></a:t>
              </a:r>
              <a:endParaRPr lang="en-US" altLang="zh-CN" sz="2000" b="1" i="1" dirty="0">
                <a:sym typeface="Symbol" pitchFamily="18" charset="2"/>
              </a:endParaRPr>
            </a:p>
          </p:txBody>
        </p:sp>
        <p:sp>
          <p:nvSpPr>
            <p:cNvPr id="59" name="Text Box 87"/>
            <p:cNvSpPr txBox="1">
              <a:spLocks noChangeAspect="1" noChangeArrowheads="1"/>
            </p:cNvSpPr>
            <p:nvPr/>
          </p:nvSpPr>
          <p:spPr bwMode="auto">
            <a:xfrm>
              <a:off x="3120" y="3339"/>
              <a:ext cx="508"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sym typeface="Symbol" pitchFamily="18" charset="2"/>
                </a:rPr>
                <a:t>H</a:t>
              </a:r>
            </a:p>
          </p:txBody>
        </p:sp>
      </p:grpSp>
    </p:spTree>
    <p:extLst>
      <p:ext uri="{BB962C8B-B14F-4D97-AF65-F5344CB8AC3E}">
        <p14:creationId xmlns:p14="http://schemas.microsoft.com/office/powerpoint/2010/main" val="25636216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repeatCount="300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down)">
                                      <p:cBhvr>
                                        <p:cTn id="7" dur="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repeatCount="300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wipe(up)">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repeatCount="3000" fill="hold" nodeType="clickEffect">
                                  <p:stCondLst>
                                    <p:cond delay="0"/>
                                  </p:stCondLst>
                                  <p:childTnLst>
                                    <p:set>
                                      <p:cBhvr>
                                        <p:cTn id="16" dur="1" fill="hold">
                                          <p:stCondLst>
                                            <p:cond delay="0"/>
                                          </p:stCondLst>
                                        </p:cTn>
                                        <p:tgtEl>
                                          <p:spTgt spid="98"/>
                                        </p:tgtEl>
                                        <p:attrNameLst>
                                          <p:attrName>style.visibility</p:attrName>
                                        </p:attrNameLst>
                                      </p:cBhvr>
                                      <p:to>
                                        <p:strVal val="visible"/>
                                      </p:to>
                                    </p:set>
                                    <p:animEffect transition="in" filter="wipe(up)">
                                      <p:cBhvr>
                                        <p:cTn id="17" dur="500"/>
                                        <p:tgtEl>
                                          <p:spTgt spid="9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5">
                                            <p:txEl>
                                              <p:pRg st="0" end="0"/>
                                            </p:txEl>
                                          </p:spTgt>
                                        </p:tgtEl>
                                        <p:attrNameLst>
                                          <p:attrName>style.visibility</p:attrName>
                                        </p:attrNameLst>
                                      </p:cBhvr>
                                      <p:to>
                                        <p:strVal val="visible"/>
                                      </p:to>
                                    </p:set>
                                    <p:animEffect transition="in" filter="barn(inVertical)">
                                      <p:cBhvr>
                                        <p:cTn id="22" dur="500"/>
                                        <p:tgtEl>
                                          <p:spTgt spid="95">
                                            <p:txEl>
                                              <p:pRg st="0" end="0"/>
                                            </p:txEl>
                                          </p:spTgt>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15"/>
                                        </p:tgtEl>
                                        <p:attrNameLst>
                                          <p:attrName>style.visibility</p:attrName>
                                        </p:attrNameLst>
                                      </p:cBhvr>
                                      <p:to>
                                        <p:strVal val="visible"/>
                                      </p:to>
                                    </p:set>
                                    <p:animEffect transition="in" filter="wipe(up)">
                                      <p:cBhvr>
                                        <p:cTn id="26" dur="500"/>
                                        <p:tgtEl>
                                          <p:spTgt spid="11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95">
                                            <p:txEl>
                                              <p:pRg st="1" end="1"/>
                                            </p:txEl>
                                          </p:spTgt>
                                        </p:tgtEl>
                                        <p:attrNameLst>
                                          <p:attrName>style.visibility</p:attrName>
                                        </p:attrNameLst>
                                      </p:cBhvr>
                                      <p:to>
                                        <p:strVal val="visible"/>
                                      </p:to>
                                    </p:set>
                                    <p:animEffect transition="in" filter="barn(inVertical)">
                                      <p:cBhvr>
                                        <p:cTn id="31" dur="500"/>
                                        <p:tgtEl>
                                          <p:spTgt spid="95">
                                            <p:txEl>
                                              <p:pRg st="1" end="1"/>
                                            </p:txEl>
                                          </p:spTgt>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wipe(up)">
                                      <p:cBhvr>
                                        <p:cTn id="35" dur="500"/>
                                        <p:tgtEl>
                                          <p:spTgt spid="68"/>
                                        </p:tgtEl>
                                      </p:cBhvr>
                                    </p:animEffect>
                                  </p:childTnLst>
                                </p:cTn>
                              </p:par>
                              <p:par>
                                <p:cTn id="36" presetID="22" presetClass="entr" presetSubtype="8" fill="hold" nodeType="withEffect">
                                  <p:stCondLst>
                                    <p:cond delay="0"/>
                                  </p:stCondLst>
                                  <p:childTnLst>
                                    <p:set>
                                      <p:cBhvr>
                                        <p:cTn id="37" dur="1" fill="hold">
                                          <p:stCondLst>
                                            <p:cond delay="0"/>
                                          </p:stCondLst>
                                        </p:cTn>
                                        <p:tgtEl>
                                          <p:spTgt spid="111"/>
                                        </p:tgtEl>
                                        <p:attrNameLst>
                                          <p:attrName>style.visibility</p:attrName>
                                        </p:attrNameLst>
                                      </p:cBhvr>
                                      <p:to>
                                        <p:strVal val="visible"/>
                                      </p:to>
                                    </p:set>
                                    <p:animEffect transition="in" filter="wipe(left)">
                                      <p:cBhvr>
                                        <p:cTn id="38"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uiExpand="1" build="p"/>
      <p:bldP spid="68" grpId="0" uiExpan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23</a:t>
            </a:fld>
            <a:endParaRPr lang="zh-CN" altLang="en-US" dirty="0">
              <a:solidFill>
                <a:srgbClr val="C00000"/>
              </a:solidFill>
            </a:endParaRPr>
          </a:p>
        </p:txBody>
      </p:sp>
      <p:sp>
        <p:nvSpPr>
          <p:cNvPr id="4" name="Text Box 4"/>
          <p:cNvSpPr txBox="1">
            <a:spLocks noChangeArrowheads="1"/>
          </p:cNvSpPr>
          <p:nvPr/>
        </p:nvSpPr>
        <p:spPr bwMode="auto">
          <a:xfrm>
            <a:off x="454509" y="753523"/>
            <a:ext cx="4117488" cy="33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200000"/>
              </a:lnSpc>
              <a:buClr>
                <a:srgbClr val="A50021"/>
              </a:buClr>
              <a:buFont typeface="Wingdings" pitchFamily="2" charset="2"/>
              <a:buChar char="n"/>
            </a:pPr>
            <a:r>
              <a:rPr lang="zh-CN" altLang="en-US" sz="2400" b="1" dirty="0" smtClean="0">
                <a:solidFill>
                  <a:srgbClr val="000066"/>
                </a:solidFill>
                <a:ea typeface="幼圆" pitchFamily="49" charset="-122"/>
              </a:rPr>
              <a:t> 挡土墙及应用</a:t>
            </a:r>
            <a:endParaRPr lang="zh-CN" altLang="en-US" sz="2400" b="1" dirty="0">
              <a:solidFill>
                <a:srgbClr val="000066"/>
              </a:solidFill>
              <a:ea typeface="幼圆" pitchFamily="49" charset="-122"/>
            </a:endParaRPr>
          </a:p>
          <a:p>
            <a:pPr eaLnBrk="1" hangingPunct="1">
              <a:lnSpc>
                <a:spcPct val="200000"/>
              </a:lnSpc>
              <a:buClr>
                <a:srgbClr val="A50021"/>
              </a:buClr>
              <a:buFont typeface="Wingdings" pitchFamily="2" charset="2"/>
              <a:buChar char="n"/>
            </a:pPr>
            <a:r>
              <a:rPr lang="zh-CN" altLang="en-US" sz="2400" b="1" dirty="0" smtClean="0">
                <a:solidFill>
                  <a:srgbClr val="000066"/>
                </a:solidFill>
                <a:ea typeface="幼圆" pitchFamily="49" charset="-122"/>
              </a:rPr>
              <a:t> 挡土墙</a:t>
            </a:r>
            <a:r>
              <a:rPr lang="zh-CN" altLang="en-US" sz="2400" b="1" dirty="0">
                <a:solidFill>
                  <a:srgbClr val="000066"/>
                </a:solidFill>
                <a:ea typeface="幼圆" pitchFamily="49" charset="-122"/>
              </a:rPr>
              <a:t>类型及土压力</a:t>
            </a:r>
            <a:r>
              <a:rPr lang="zh-CN" altLang="en-US" sz="2400" b="1" dirty="0" smtClean="0">
                <a:solidFill>
                  <a:srgbClr val="000066"/>
                </a:solidFill>
                <a:ea typeface="幼圆" pitchFamily="49" charset="-122"/>
              </a:rPr>
              <a:t>分布</a:t>
            </a:r>
            <a:endParaRPr lang="en-US" altLang="zh-CN" sz="2400" b="1" dirty="0" smtClean="0">
              <a:solidFill>
                <a:srgbClr val="000066"/>
              </a:solidFill>
              <a:ea typeface="幼圆" pitchFamily="49" charset="-122"/>
            </a:endParaRPr>
          </a:p>
          <a:p>
            <a:pPr eaLnBrk="1" hangingPunct="1">
              <a:lnSpc>
                <a:spcPct val="200000"/>
              </a:lnSpc>
              <a:buClr>
                <a:srgbClr val="A50021"/>
              </a:buClr>
              <a:buFont typeface="Wingdings" pitchFamily="2" charset="2"/>
              <a:buChar char="n"/>
            </a:pPr>
            <a:endParaRPr lang="zh-CN" altLang="en-US" sz="2400" b="1" dirty="0">
              <a:solidFill>
                <a:srgbClr val="000066"/>
              </a:solidFill>
              <a:ea typeface="幼圆" pitchFamily="49" charset="-122"/>
            </a:endParaRPr>
          </a:p>
          <a:p>
            <a:pPr eaLnBrk="1" hangingPunct="1">
              <a:lnSpc>
                <a:spcPct val="200000"/>
              </a:lnSpc>
              <a:buClr>
                <a:srgbClr val="A50021"/>
              </a:buClr>
              <a:buFont typeface="Wingdings" pitchFamily="2" charset="2"/>
              <a:buChar char="n"/>
            </a:pPr>
            <a:r>
              <a:rPr lang="zh-CN" altLang="en-US" sz="2400" b="1" dirty="0" smtClean="0">
                <a:solidFill>
                  <a:srgbClr val="000066"/>
                </a:solidFill>
                <a:ea typeface="幼圆" pitchFamily="49" charset="-122"/>
              </a:rPr>
              <a:t> 墙体</a:t>
            </a:r>
            <a:r>
              <a:rPr lang="zh-CN" altLang="en-US" sz="2400" b="1" dirty="0">
                <a:solidFill>
                  <a:srgbClr val="000066"/>
                </a:solidFill>
                <a:ea typeface="幼圆" pitchFamily="49" charset="-122"/>
              </a:rPr>
              <a:t>位移与土压力</a:t>
            </a:r>
            <a:r>
              <a:rPr lang="zh-CN" altLang="en-US" sz="2400" b="1" dirty="0" smtClean="0">
                <a:solidFill>
                  <a:srgbClr val="000066"/>
                </a:solidFill>
                <a:ea typeface="幼圆" pitchFamily="49" charset="-122"/>
              </a:rPr>
              <a:t>状态</a:t>
            </a:r>
            <a:endParaRPr lang="zh-CN" altLang="en-US" sz="2400" b="1" dirty="0">
              <a:solidFill>
                <a:srgbClr val="000066"/>
              </a:solidFill>
              <a:ea typeface="幼圆" pitchFamily="49" charset="-122"/>
            </a:endParaRPr>
          </a:p>
        </p:txBody>
      </p:sp>
      <p:sp>
        <p:nvSpPr>
          <p:cNvPr id="5" name="AutoShape 5"/>
          <p:cNvSpPr>
            <a:spLocks noChangeArrowheads="1"/>
          </p:cNvSpPr>
          <p:nvPr/>
        </p:nvSpPr>
        <p:spPr bwMode="auto">
          <a:xfrm>
            <a:off x="1622031" y="4748099"/>
            <a:ext cx="600660" cy="620713"/>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6" name="Text Box 6"/>
          <p:cNvSpPr txBox="1">
            <a:spLocks noChangeArrowheads="1"/>
          </p:cNvSpPr>
          <p:nvPr/>
        </p:nvSpPr>
        <p:spPr bwMode="auto">
          <a:xfrm>
            <a:off x="2357629" y="4802978"/>
            <a:ext cx="24689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000066"/>
                </a:solidFill>
                <a:ea typeface="幼圆" pitchFamily="49" charset="-122"/>
              </a:rPr>
              <a:t>本章核心</a:t>
            </a:r>
            <a:r>
              <a:rPr lang="zh-CN" altLang="en-US" sz="2800" b="1" dirty="0">
                <a:solidFill>
                  <a:srgbClr val="000066"/>
                </a:solidFill>
                <a:ea typeface="幼圆" pitchFamily="49" charset="-122"/>
              </a:rPr>
              <a:t>问题</a:t>
            </a:r>
            <a:r>
              <a:rPr lang="en-US" altLang="zh-CN" sz="2800" b="1" dirty="0">
                <a:solidFill>
                  <a:srgbClr val="000066"/>
                </a:solidFill>
                <a:ea typeface="幼圆" pitchFamily="49" charset="-122"/>
              </a:rPr>
              <a:t>:</a:t>
            </a:r>
          </a:p>
        </p:txBody>
      </p:sp>
      <p:sp>
        <p:nvSpPr>
          <p:cNvPr id="7" name="Text Box 7"/>
          <p:cNvSpPr txBox="1">
            <a:spLocks noChangeArrowheads="1"/>
          </p:cNvSpPr>
          <p:nvPr/>
        </p:nvSpPr>
        <p:spPr bwMode="auto">
          <a:xfrm>
            <a:off x="4834174" y="4810915"/>
            <a:ext cx="3796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800" b="1" dirty="0" smtClean="0">
                <a:solidFill>
                  <a:srgbClr val="A50021"/>
                </a:solidFill>
                <a:ea typeface="幼圆" pitchFamily="49" charset="-122"/>
              </a:rPr>
              <a:t>三种状态土压力的计算</a:t>
            </a:r>
            <a:endParaRPr lang="en-US" altLang="zh-CN" sz="2800" b="1" dirty="0">
              <a:solidFill>
                <a:srgbClr val="A50021"/>
              </a:solidFill>
              <a:ea typeface="幼圆" pitchFamily="49" charset="-122"/>
            </a:endParaRPr>
          </a:p>
        </p:txBody>
      </p:sp>
      <p:sp>
        <p:nvSpPr>
          <p:cNvPr id="11" name="Text Box 6"/>
          <p:cNvSpPr txBox="1">
            <a:spLocks noChangeArrowheads="1"/>
          </p:cNvSpPr>
          <p:nvPr/>
        </p:nvSpPr>
        <p:spPr bwMode="auto">
          <a:xfrm>
            <a:off x="4492358" y="1617352"/>
            <a:ext cx="2203865" cy="1312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刚性挡土墙</a:t>
            </a:r>
            <a:endParaRPr lang="en-US" altLang="zh-CN" sz="2200" b="1" dirty="0" smtClean="0">
              <a:solidFill>
                <a:srgbClr val="000066"/>
              </a:solidFill>
              <a:ea typeface="幼圆" pitchFamily="49" charset="-122"/>
              <a:sym typeface="Symbol" pitchFamily="18" charset="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柔性挡土墙</a:t>
            </a:r>
            <a:endParaRPr lang="en-US" altLang="zh-CN" sz="2200" b="1" dirty="0" smtClean="0">
              <a:solidFill>
                <a:srgbClr val="000066"/>
              </a:solidFill>
              <a:ea typeface="幼圆" pitchFamily="49" charset="-122"/>
              <a:sym typeface="Symbol" pitchFamily="18" charset="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加</a:t>
            </a:r>
            <a:r>
              <a:rPr lang="zh-CN" altLang="en-US" sz="2200" b="1" dirty="0">
                <a:solidFill>
                  <a:srgbClr val="000066"/>
                </a:solidFill>
                <a:ea typeface="幼圆" pitchFamily="49" charset="-122"/>
                <a:sym typeface="Symbol" pitchFamily="18" charset="2"/>
              </a:rPr>
              <a:t>筋挡土墙</a:t>
            </a:r>
          </a:p>
        </p:txBody>
      </p:sp>
      <p:sp>
        <p:nvSpPr>
          <p:cNvPr id="12" name="Text Box 6"/>
          <p:cNvSpPr txBox="1">
            <a:spLocks noChangeArrowheads="1"/>
          </p:cNvSpPr>
          <p:nvPr/>
        </p:nvSpPr>
        <p:spPr bwMode="auto">
          <a:xfrm>
            <a:off x="4511115" y="3225755"/>
            <a:ext cx="2607138" cy="1312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静止</a:t>
            </a:r>
            <a:r>
              <a:rPr lang="zh-CN" altLang="en-US" sz="2200" b="1" dirty="0">
                <a:solidFill>
                  <a:srgbClr val="000066"/>
                </a:solidFill>
                <a:ea typeface="幼圆" pitchFamily="49" charset="-122"/>
                <a:sym typeface="Symbol" pitchFamily="18" charset="2"/>
              </a:rPr>
              <a:t>土压力 </a:t>
            </a:r>
            <a:r>
              <a:rPr lang="en-US" altLang="zh-CN" sz="2200" b="1" i="1" dirty="0" smtClean="0">
                <a:solidFill>
                  <a:srgbClr val="000066"/>
                </a:solidFill>
                <a:ea typeface="幼圆" pitchFamily="49" charset="-122"/>
                <a:sym typeface="Symbol" pitchFamily="18" charset="2"/>
              </a:rPr>
              <a:t>E</a:t>
            </a:r>
            <a:r>
              <a:rPr lang="en-US" altLang="zh-CN" sz="2200" b="1" baseline="-25000" dirty="0" smtClean="0">
                <a:solidFill>
                  <a:srgbClr val="000066"/>
                </a:solidFill>
                <a:ea typeface="幼圆" pitchFamily="49" charset="-122"/>
                <a:sym typeface="Symbol" pitchFamily="18" charset="2"/>
              </a:rPr>
              <a:t>0</a:t>
            </a: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主动土压力 </a:t>
            </a:r>
            <a:r>
              <a:rPr lang="en-US" altLang="zh-CN" sz="2200" b="1" i="1" dirty="0" err="1" smtClean="0">
                <a:solidFill>
                  <a:srgbClr val="000066"/>
                </a:solidFill>
                <a:ea typeface="幼圆" pitchFamily="49" charset="-122"/>
                <a:sym typeface="Symbol" pitchFamily="18" charset="2"/>
              </a:rPr>
              <a:t>E</a:t>
            </a:r>
            <a:r>
              <a:rPr lang="en-US" altLang="zh-CN" sz="2200" b="1" baseline="-25000" dirty="0" err="1" smtClean="0">
                <a:solidFill>
                  <a:srgbClr val="000066"/>
                </a:solidFill>
                <a:ea typeface="幼圆" pitchFamily="49" charset="-122"/>
                <a:sym typeface="Symbol" pitchFamily="18" charset="2"/>
              </a:rPr>
              <a:t>a</a:t>
            </a:r>
            <a:endParaRPr lang="en-US" altLang="zh-CN" sz="2200" b="1" baseline="-25000" dirty="0" smtClean="0">
              <a:solidFill>
                <a:srgbClr val="000066"/>
              </a:solidFill>
              <a:ea typeface="幼圆" pitchFamily="49" charset="-122"/>
              <a:sym typeface="Symbol" pitchFamily="18" charset="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sym typeface="Symbol" pitchFamily="18" charset="2"/>
              </a:rPr>
              <a:t>被动土压力 </a:t>
            </a:r>
            <a:r>
              <a:rPr lang="en-US" altLang="zh-CN" sz="2200" b="1" i="1" dirty="0" err="1" smtClean="0">
                <a:solidFill>
                  <a:srgbClr val="000066"/>
                </a:solidFill>
                <a:ea typeface="幼圆" pitchFamily="49" charset="-122"/>
                <a:sym typeface="Symbol" pitchFamily="18" charset="2"/>
              </a:rPr>
              <a:t>E</a:t>
            </a:r>
            <a:r>
              <a:rPr lang="en-US" altLang="zh-CN" sz="2200" b="1" baseline="-25000" dirty="0" err="1" smtClean="0">
                <a:solidFill>
                  <a:srgbClr val="000066"/>
                </a:solidFill>
                <a:ea typeface="幼圆" pitchFamily="49" charset="-122"/>
                <a:sym typeface="Symbol" pitchFamily="18" charset="2"/>
              </a:rPr>
              <a:t>p</a:t>
            </a:r>
            <a:endParaRPr lang="zh-CN" altLang="en-US" sz="2200" b="1" baseline="-25000" dirty="0">
              <a:solidFill>
                <a:srgbClr val="000066"/>
              </a:solidFill>
              <a:ea typeface="幼圆" pitchFamily="49" charset="-122"/>
              <a:sym typeface="Symbol" pitchFamily="18" charset="2"/>
            </a:endParaRPr>
          </a:p>
        </p:txBody>
      </p:sp>
      <p:sp>
        <p:nvSpPr>
          <p:cNvPr id="13" name="Text Box 2"/>
          <p:cNvSpPr txBox="1">
            <a:spLocks noChangeArrowheads="1"/>
          </p:cNvSpPr>
          <p:nvPr/>
        </p:nvSpPr>
        <p:spPr bwMode="auto">
          <a:xfrm>
            <a:off x="2482890" y="5793729"/>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14"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§6.1  </a:t>
            </a:r>
            <a:r>
              <a:rPr lang="zh-CN" altLang="en-US" sz="1800" b="1" kern="900" spc="130" dirty="0" smtClean="0">
                <a:solidFill>
                  <a:srgbClr val="000066"/>
                </a:solidFill>
                <a:ea typeface="黑体" panose="02010609060101010101" pitchFamily="49" charset="-122"/>
                <a:cs typeface="Times New Roman" panose="02020603050405020304" pitchFamily="18" charset="0"/>
              </a:rPr>
              <a:t>概述 </a:t>
            </a:r>
            <a:r>
              <a:rPr lang="en-US" altLang="zh-CN" sz="1800" b="1" kern="900" spc="130" dirty="0">
                <a:solidFill>
                  <a:srgbClr val="000066"/>
                </a:solidFill>
                <a:ea typeface="黑体" panose="02010609060101010101" pitchFamily="49" charset="-122"/>
                <a:cs typeface="Times New Roman" panose="02020603050405020304" pitchFamily="18" charset="0"/>
              </a:rPr>
              <a:t>- </a:t>
            </a:r>
            <a:r>
              <a:rPr lang="zh-CN" altLang="en-US" sz="1800" b="1" kern="900" spc="130" dirty="0">
                <a:solidFill>
                  <a:srgbClr val="000066"/>
                </a:solidFill>
                <a:ea typeface="黑体" panose="02010609060101010101" pitchFamily="49" charset="-122"/>
                <a:cs typeface="Times New Roman" panose="02020603050405020304" pitchFamily="18" charset="0"/>
              </a:rPr>
              <a:t>挡土结构物</a:t>
            </a:r>
            <a:r>
              <a:rPr lang="zh-CN" altLang="en-US" sz="1800" b="1" kern="900" spc="130" dirty="0" smtClean="0">
                <a:solidFill>
                  <a:srgbClr val="000066"/>
                </a:solidFill>
                <a:ea typeface="黑体" panose="02010609060101010101" pitchFamily="49" charset="-122"/>
                <a:cs typeface="Times New Roman" panose="02020603050405020304" pitchFamily="18" charset="0"/>
              </a:rPr>
              <a:t>及土压力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7700209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1+#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1000"/>
                                        <p:tgtEl>
                                          <p:spTgt spid="5"/>
                                        </p:tgtEl>
                                      </p:cBhvr>
                                    </p:animEffect>
                                  </p:childTnLst>
                                </p:cTn>
                              </p:par>
                            </p:childTnLst>
                          </p:cTn>
                        </p:par>
                        <p:par>
                          <p:cTn id="24" fill="hold">
                            <p:stCondLst>
                              <p:cond delay="1500"/>
                            </p:stCondLst>
                            <p:childTnLst>
                              <p:par>
                                <p:cTn id="25" presetID="38" presetClass="entr" presetSubtype="0" accel="50000" fill="hold" grpId="0" nodeType="afterEffect">
                                  <p:stCondLst>
                                    <p:cond delay="0"/>
                                  </p:stCondLst>
                                  <p:iterate type="lt">
                                    <p:tmPct val="50000"/>
                                  </p:iterate>
                                  <p:childTnLst>
                                    <p:set>
                                      <p:cBhvr>
                                        <p:cTn id="26" dur="1" fill="hold">
                                          <p:stCondLst>
                                            <p:cond delay="0"/>
                                          </p:stCondLst>
                                        </p:cTn>
                                        <p:tgtEl>
                                          <p:spTgt spid="6"/>
                                        </p:tgtEl>
                                        <p:attrNameLst>
                                          <p:attrName>style.visibility</p:attrName>
                                        </p:attrNameLst>
                                      </p:cBhvr>
                                      <p:to>
                                        <p:strVal val="visible"/>
                                      </p:to>
                                    </p:set>
                                    <p:set>
                                      <p:cBhvr>
                                        <p:cTn id="27" dur="455" fill="hold">
                                          <p:stCondLst>
                                            <p:cond delay="0"/>
                                          </p:stCondLst>
                                        </p:cTn>
                                        <p:tgtEl>
                                          <p:spTgt spid="6"/>
                                        </p:tgtEl>
                                        <p:attrNameLst>
                                          <p:attrName>style.rotation</p:attrName>
                                        </p:attrNameLst>
                                      </p:cBhvr>
                                      <p:to>
                                        <p:strVal val="-45.0"/>
                                      </p:to>
                                    </p:set>
                                    <p:anim calcmode="lin" valueType="num">
                                      <p:cBhvr>
                                        <p:cTn id="28" dur="455" fill="hold">
                                          <p:stCondLst>
                                            <p:cond delay="455"/>
                                          </p:stCondLst>
                                        </p:cTn>
                                        <p:tgtEl>
                                          <p:spTgt spid="6"/>
                                        </p:tgtEl>
                                        <p:attrNameLst>
                                          <p:attrName>style.rotation</p:attrName>
                                        </p:attrNameLst>
                                      </p:cBhvr>
                                      <p:tavLst>
                                        <p:tav tm="0">
                                          <p:val>
                                            <p:fltVal val="-45"/>
                                          </p:val>
                                        </p:tav>
                                        <p:tav tm="69900">
                                          <p:val>
                                            <p:fltVal val="45"/>
                                          </p:val>
                                        </p:tav>
                                        <p:tav tm="100000">
                                          <p:val>
                                            <p:fltVal val="0"/>
                                          </p:val>
                                        </p:tav>
                                      </p:tavLst>
                                    </p:anim>
                                    <p:anim calcmode="lin" valueType="num">
                                      <p:cBhvr>
                                        <p:cTn id="29" dur="455" fill="hold">
                                          <p:stCondLst>
                                            <p:cond delay="0"/>
                                          </p:stCondLst>
                                        </p:cTn>
                                        <p:tgtEl>
                                          <p:spTgt spid="6"/>
                                        </p:tgtEl>
                                        <p:attrNameLst>
                                          <p:attrName>ppt_y</p:attrName>
                                        </p:attrNameLst>
                                      </p:cBhvr>
                                      <p:tavLst>
                                        <p:tav tm="0">
                                          <p:val>
                                            <p:strVal val="#ppt_y-1"/>
                                          </p:val>
                                        </p:tav>
                                        <p:tav tm="100000">
                                          <p:val>
                                            <p:strVal val="#ppt_y-(0.354*#ppt_w-0.172*#ppt_h)"/>
                                          </p:val>
                                        </p:tav>
                                      </p:tavLst>
                                    </p:anim>
                                    <p:anim calcmode="lin" valueType="num">
                                      <p:cBhvr>
                                        <p:cTn id="30" dur="156" decel="50000" autoRev="1" fill="hold">
                                          <p:stCondLst>
                                            <p:cond delay="455"/>
                                          </p:stCondLst>
                                        </p:cTn>
                                        <p:tgtEl>
                                          <p:spTgt spid="6"/>
                                        </p:tgtEl>
                                        <p:attrNameLst>
                                          <p:attrName>ppt_y</p:attrName>
                                        </p:attrNameLst>
                                      </p:cBhvr>
                                      <p:tavLst>
                                        <p:tav tm="0">
                                          <p:val>
                                            <p:strVal val="#ppt_y-(0.354*#ppt_w-0.172*#ppt_h)"/>
                                          </p:val>
                                        </p:tav>
                                        <p:tav tm="100000">
                                          <p:val>
                                            <p:strVal val="#ppt_y-(0.354*#ppt_w-0.172*#ppt_h)-#ppt_h/2"/>
                                          </p:val>
                                        </p:tav>
                                      </p:tavLst>
                                    </p:anim>
                                    <p:anim calcmode="lin" valueType="num">
                                      <p:cBhvr>
                                        <p:cTn id="31" dur="136" fill="hold">
                                          <p:stCondLst>
                                            <p:cond delay="864"/>
                                          </p:stCondLst>
                                        </p:cTn>
                                        <p:tgtEl>
                                          <p:spTgt spid="6"/>
                                        </p:tgtEl>
                                        <p:attrNameLst>
                                          <p:attrName>ppt_y</p:attrName>
                                        </p:attrNameLst>
                                      </p:cBhvr>
                                      <p:tavLst>
                                        <p:tav tm="0">
                                          <p:val>
                                            <p:strVal val="#ppt_y-(0.354*#ppt_w-0.172*#ppt_h)"/>
                                          </p:val>
                                        </p:tav>
                                        <p:tav tm="100000">
                                          <p:val>
                                            <p:strVal val="#ppt_y"/>
                                          </p:val>
                                        </p:tav>
                                      </p:tavLst>
                                    </p:anim>
                                  </p:childTnLst>
                                </p:cTn>
                              </p:par>
                            </p:childTnLst>
                          </p:cTn>
                        </p:par>
                        <p:par>
                          <p:cTn id="32" fill="hold">
                            <p:stCondLst>
                              <p:cond delay="5500"/>
                            </p:stCondLst>
                            <p:childTnLst>
                              <p:par>
                                <p:cTn id="33" presetID="38" presetClass="entr" presetSubtype="0" accel="50000" fill="hold" grpId="0" nodeType="afterEffect">
                                  <p:stCondLst>
                                    <p:cond delay="0"/>
                                  </p:stCondLst>
                                  <p:iterate type="lt">
                                    <p:tmPct val="50000"/>
                                  </p:iterate>
                                  <p:childTnLst>
                                    <p:set>
                                      <p:cBhvr>
                                        <p:cTn id="34" dur="1" fill="hold">
                                          <p:stCondLst>
                                            <p:cond delay="0"/>
                                          </p:stCondLst>
                                        </p:cTn>
                                        <p:tgtEl>
                                          <p:spTgt spid="7"/>
                                        </p:tgtEl>
                                        <p:attrNameLst>
                                          <p:attrName>style.visibility</p:attrName>
                                        </p:attrNameLst>
                                      </p:cBhvr>
                                      <p:to>
                                        <p:strVal val="visible"/>
                                      </p:to>
                                    </p:set>
                                    <p:set>
                                      <p:cBhvr>
                                        <p:cTn id="35" dur="455" fill="hold">
                                          <p:stCondLst>
                                            <p:cond delay="0"/>
                                          </p:stCondLst>
                                        </p:cTn>
                                        <p:tgtEl>
                                          <p:spTgt spid="7"/>
                                        </p:tgtEl>
                                        <p:attrNameLst>
                                          <p:attrName>style.rotation</p:attrName>
                                        </p:attrNameLst>
                                      </p:cBhvr>
                                      <p:to>
                                        <p:strVal val="-45.0"/>
                                      </p:to>
                                    </p:set>
                                    <p:anim calcmode="lin" valueType="num">
                                      <p:cBhvr>
                                        <p:cTn id="36" dur="455" fill="hold">
                                          <p:stCondLst>
                                            <p:cond delay="455"/>
                                          </p:stCondLst>
                                        </p:cTn>
                                        <p:tgtEl>
                                          <p:spTgt spid="7"/>
                                        </p:tgtEl>
                                        <p:attrNameLst>
                                          <p:attrName>style.rotation</p:attrName>
                                        </p:attrNameLst>
                                      </p:cBhvr>
                                      <p:tavLst>
                                        <p:tav tm="0">
                                          <p:val>
                                            <p:fltVal val="-45"/>
                                          </p:val>
                                        </p:tav>
                                        <p:tav tm="69900">
                                          <p:val>
                                            <p:fltVal val="45"/>
                                          </p:val>
                                        </p:tav>
                                        <p:tav tm="100000">
                                          <p:val>
                                            <p:fltVal val="0"/>
                                          </p:val>
                                        </p:tav>
                                      </p:tavLst>
                                    </p:anim>
                                    <p:anim calcmode="lin" valueType="num">
                                      <p:cBhvr>
                                        <p:cTn id="37" dur="455" fill="hold">
                                          <p:stCondLst>
                                            <p:cond delay="0"/>
                                          </p:stCondLst>
                                        </p:cTn>
                                        <p:tgtEl>
                                          <p:spTgt spid="7"/>
                                        </p:tgtEl>
                                        <p:attrNameLst>
                                          <p:attrName>ppt_y</p:attrName>
                                        </p:attrNameLst>
                                      </p:cBhvr>
                                      <p:tavLst>
                                        <p:tav tm="0">
                                          <p:val>
                                            <p:strVal val="#ppt_y-1"/>
                                          </p:val>
                                        </p:tav>
                                        <p:tav tm="100000">
                                          <p:val>
                                            <p:strVal val="#ppt_y-(0.354*#ppt_w-0.172*#ppt_h)"/>
                                          </p:val>
                                        </p:tav>
                                      </p:tavLst>
                                    </p:anim>
                                    <p:anim calcmode="lin" valueType="num">
                                      <p:cBhvr>
                                        <p:cTn id="38" dur="156" decel="50000" autoRev="1" fill="hold">
                                          <p:stCondLst>
                                            <p:cond delay="455"/>
                                          </p:stCondLst>
                                        </p:cTn>
                                        <p:tgtEl>
                                          <p:spTgt spid="7"/>
                                        </p:tgtEl>
                                        <p:attrNameLst>
                                          <p:attrName>ppt_y</p:attrName>
                                        </p:attrNameLst>
                                      </p:cBhvr>
                                      <p:tavLst>
                                        <p:tav tm="0">
                                          <p:val>
                                            <p:strVal val="#ppt_y-(0.354*#ppt_w-0.172*#ppt_h)"/>
                                          </p:val>
                                        </p:tav>
                                        <p:tav tm="100000">
                                          <p:val>
                                            <p:strVal val="#ppt_y-(0.354*#ppt_w-0.172*#ppt_h)-#ppt_h/2"/>
                                          </p:val>
                                        </p:tav>
                                      </p:tavLst>
                                    </p:anim>
                                    <p:anim calcmode="lin" valueType="num">
                                      <p:cBhvr>
                                        <p:cTn id="39" dur="136" fill="hold">
                                          <p:stCondLst>
                                            <p:cond delay="864"/>
                                          </p:stCondLst>
                                        </p:cTn>
                                        <p:tgtEl>
                                          <p:spTgt spid="7"/>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土结构物及土压力</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a:t>
            </a:r>
            <a:r>
              <a:rPr kumimoji="1" lang="zh-CN" altLang="en-US" sz="2800" b="1" dirty="0">
                <a:solidFill>
                  <a:srgbClr val="000066"/>
                </a:solidFill>
                <a:ea typeface="幼圆" pitchFamily="49" charset="-122"/>
                <a:cs typeface="Times New Roman" panose="02020603050405020304" pitchFamily="18" charset="0"/>
              </a:rPr>
              <a:t>土压力计算</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smtClean="0">
                <a:solidFill>
                  <a:srgbClr val="000066"/>
                </a:solidFill>
                <a:ea typeface="幼圆" pitchFamily="49" charset="-122"/>
                <a:cs typeface="Times New Roman" panose="02020603050405020304" pitchFamily="18" charset="0"/>
              </a:rPr>
              <a:t>两种</a:t>
            </a:r>
            <a:r>
              <a:rPr kumimoji="1" lang="zh-CN" altLang="en-US" sz="2800" b="1" dirty="0">
                <a:solidFill>
                  <a:srgbClr val="000066"/>
                </a:solidFill>
                <a:ea typeface="幼圆" pitchFamily="49" charset="-122"/>
                <a:cs typeface="Times New Roman" panose="02020603050405020304" pitchFamily="18" charset="0"/>
              </a:rPr>
              <a:t>土压力理论的比较</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smtClean="0">
                <a:solidFill>
                  <a:srgbClr val="000066"/>
                </a:solidFill>
                <a:ea typeface="幼圆" pitchFamily="49" charset="-122"/>
                <a:cs typeface="Times New Roman" panose="02020603050405020304" pitchFamily="18" charset="0"/>
              </a:rPr>
              <a:t>几种</a:t>
            </a:r>
            <a:r>
              <a:rPr kumimoji="1" lang="zh-CN" altLang="en-US" sz="2800" b="1" dirty="0">
                <a:solidFill>
                  <a:srgbClr val="000066"/>
                </a:solidFill>
                <a:ea typeface="幼圆" pitchFamily="49" charset="-122"/>
                <a:cs typeface="Times New Roman" panose="02020603050405020304" pitchFamily="18" charset="0"/>
              </a:rPr>
              <a:t>常见的主动土压力计算</a:t>
            </a:r>
          </a:p>
        </p:txBody>
      </p:sp>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smtClean="0">
                <a:solidFill>
                  <a:srgbClr val="000066"/>
                </a:solidFill>
                <a:latin typeface="黑体" pitchFamily="2" charset="-122"/>
                <a:ea typeface="黑体" pitchFamily="2" charset="-122"/>
              </a:rPr>
              <a:t>第六章</a:t>
            </a:r>
            <a:r>
              <a:rPr lang="zh-CN" altLang="en-US" sz="3600" b="1" dirty="0">
                <a:solidFill>
                  <a:srgbClr val="000066"/>
                </a:solidFill>
                <a:latin typeface="黑体" pitchFamily="2" charset="-122"/>
                <a:ea typeface="黑体" pitchFamily="2" charset="-122"/>
              </a:rPr>
              <a:t>：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24</a:t>
            </a:fld>
            <a:endParaRPr lang="zh-CN" altLang="en-US" dirty="0">
              <a:solidFill>
                <a:srgbClr val="C00000"/>
              </a:solidFill>
            </a:endParaRPr>
          </a:p>
        </p:txBody>
      </p:sp>
      <p:sp>
        <p:nvSpPr>
          <p:cNvPr id="8" name="Text Box 4"/>
          <p:cNvSpPr txBox="1">
            <a:spLocks noChangeArrowheads="1"/>
          </p:cNvSpPr>
          <p:nvPr/>
        </p:nvSpPr>
        <p:spPr bwMode="auto">
          <a:xfrm>
            <a:off x="1983936" y="2562006"/>
            <a:ext cx="4327525"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a:t>
            </a:r>
            <a:r>
              <a:rPr kumimoji="1" lang="en-US" altLang="zh-CN" sz="2800" b="1" dirty="0">
                <a:solidFill>
                  <a:srgbClr val="003399"/>
                </a:solidFill>
                <a:ea typeface="幼圆" pitchFamily="49" charset="-122"/>
                <a:cs typeface="Times New Roman" panose="02020603050405020304" pitchFamily="18" charset="0"/>
              </a:rPr>
              <a:t>6</a:t>
            </a:r>
            <a:r>
              <a:rPr kumimoji="1" lang="en-US" altLang="zh-CN" sz="2800" b="1" dirty="0" smtClean="0">
                <a:solidFill>
                  <a:srgbClr val="003399"/>
                </a:solidFill>
                <a:ea typeface="幼圆" pitchFamily="49" charset="-122"/>
                <a:cs typeface="Times New Roman" panose="02020603050405020304" pitchFamily="18" charset="0"/>
              </a:rPr>
              <a:t>.2  </a:t>
            </a:r>
            <a:r>
              <a:rPr kumimoji="1" lang="zh-CN" altLang="en-US" sz="2800" b="1" dirty="0" smtClean="0">
                <a:solidFill>
                  <a:srgbClr val="003399"/>
                </a:solidFill>
                <a:ea typeface="幼圆" pitchFamily="49" charset="-122"/>
                <a:cs typeface="Times New Roman" panose="02020603050405020304" pitchFamily="18" charset="0"/>
              </a:rPr>
              <a:t>静止</a:t>
            </a:r>
            <a:r>
              <a:rPr kumimoji="1" lang="zh-CN" altLang="en-US" sz="2800" b="1" dirty="0">
                <a:solidFill>
                  <a:srgbClr val="003399"/>
                </a:solidFill>
                <a:ea typeface="幼圆" pitchFamily="49" charset="-122"/>
                <a:cs typeface="Times New Roman" panose="02020603050405020304" pitchFamily="18" charset="0"/>
              </a:rPr>
              <a:t>土压力计算</a:t>
            </a:r>
          </a:p>
        </p:txBody>
      </p:sp>
    </p:spTree>
    <p:extLst>
      <p:ext uri="{BB962C8B-B14F-4D97-AF65-F5344CB8AC3E}">
        <p14:creationId xmlns:p14="http://schemas.microsoft.com/office/powerpoint/2010/main" val="206425012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25</a:t>
            </a:fld>
            <a:endParaRPr lang="zh-CN" altLang="en-US" dirty="0">
              <a:solidFill>
                <a:srgbClr val="C00000"/>
              </a:solidFill>
            </a:endParaRPr>
          </a:p>
        </p:txBody>
      </p:sp>
      <p:sp>
        <p:nvSpPr>
          <p:cNvPr id="15" name="Text Box 5"/>
          <p:cNvSpPr txBox="1">
            <a:spLocks noChangeArrowheads="1"/>
          </p:cNvSpPr>
          <p:nvPr/>
        </p:nvSpPr>
        <p:spPr bwMode="auto">
          <a:xfrm>
            <a:off x="1059257" y="1475760"/>
            <a:ext cx="4406041" cy="2251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533400" indent="-5334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挡土墙具有足够的截面和重量，并且建立在坚实的地基上</a:t>
            </a:r>
            <a:endParaRPr lang="en-US" altLang="zh-CN" sz="2200" b="1" dirty="0" smtClean="0">
              <a:solidFill>
                <a:srgbClr val="000066"/>
              </a:solidFill>
              <a:ea typeface="幼圆" pitchFamily="49" charset="-122"/>
              <a:cs typeface="Times New Roman" panose="02020603050405020304" pitchFamily="18" charset="0"/>
              <a:sym typeface="Symbol" pitchFamily="18" charset="2"/>
            </a:endParaRPr>
          </a:p>
          <a:p>
            <a:pPr marL="442913" indent="-442913" eaLnBrk="1" hangingPunct="1">
              <a:lnSpc>
                <a:spcPct val="130000"/>
              </a:lnSpc>
              <a:spcBef>
                <a:spcPts val="0"/>
              </a:spcBef>
              <a:spcAft>
                <a:spcPts val="400"/>
              </a:spcAft>
              <a:buClr>
                <a:srgbClr val="A50021"/>
              </a:buClr>
              <a:buSzPct val="130000"/>
              <a:buFont typeface="Wingdings" pitchFamily="2" charset="2"/>
              <a:buChar char="F"/>
            </a:pPr>
            <a:r>
              <a:rPr lang="zh-CN" altLang="en-US" sz="2200" b="1" dirty="0" smtClean="0">
                <a:solidFill>
                  <a:srgbClr val="000066"/>
                </a:solidFill>
                <a:ea typeface="幼圆" pitchFamily="49" charset="-122"/>
                <a:cs typeface="Times New Roman" panose="02020603050405020304" pitchFamily="18" charset="0"/>
                <a:sym typeface="Symbol" pitchFamily="18" charset="2"/>
              </a:rPr>
              <a:t>挡土墙在填土推力作用下，不产生任何移动或转动，墙后土体没有水平位移，处于</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弹性平衡状态</a:t>
            </a:r>
            <a:endParaRPr lang="en-US" altLang="zh-CN" sz="2200" b="1" dirty="0" smtClean="0">
              <a:solidFill>
                <a:srgbClr val="000066"/>
              </a:solidFill>
              <a:ea typeface="幼圆" pitchFamily="49" charset="-122"/>
              <a:cs typeface="Times New Roman" panose="02020603050405020304" pitchFamily="18" charset="0"/>
              <a:sym typeface="Symbol" pitchFamily="18" charset="2"/>
            </a:endParaRPr>
          </a:p>
        </p:txBody>
      </p:sp>
      <p:sp>
        <p:nvSpPr>
          <p:cNvPr id="58" name="矩形 57"/>
          <p:cNvSpPr/>
          <p:nvPr/>
        </p:nvSpPr>
        <p:spPr bwMode="auto">
          <a:xfrm>
            <a:off x="5818101" y="2661699"/>
            <a:ext cx="2891536" cy="443640"/>
          </a:xfrm>
          <a:prstGeom prst="rect">
            <a:avLst/>
          </a:prstGeom>
          <a:solidFill>
            <a:srgbClr val="996633"/>
          </a:solidFill>
          <a:ln w="1270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9" name="任意多边形 18"/>
          <p:cNvSpPr/>
          <p:nvPr/>
        </p:nvSpPr>
        <p:spPr bwMode="auto">
          <a:xfrm>
            <a:off x="7465714" y="1085054"/>
            <a:ext cx="1229246" cy="158400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 name="任意多边形 15"/>
          <p:cNvSpPr/>
          <p:nvPr/>
        </p:nvSpPr>
        <p:spPr bwMode="auto">
          <a:xfrm>
            <a:off x="6449452" y="1077353"/>
            <a:ext cx="1010750" cy="1584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5812528" y="2660707"/>
            <a:ext cx="290616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0" name="Group 12"/>
          <p:cNvGrpSpPr>
            <a:grpSpLocks/>
          </p:cNvGrpSpPr>
          <p:nvPr/>
        </p:nvGrpSpPr>
        <p:grpSpPr bwMode="auto">
          <a:xfrm>
            <a:off x="6027620" y="2663159"/>
            <a:ext cx="454614" cy="82278"/>
            <a:chOff x="2274" y="1204"/>
            <a:chExt cx="270" cy="44"/>
          </a:xfrm>
        </p:grpSpPr>
        <p:sp>
          <p:nvSpPr>
            <p:cNvPr id="41"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 name="Group 12"/>
          <p:cNvGrpSpPr>
            <a:grpSpLocks/>
          </p:cNvGrpSpPr>
          <p:nvPr/>
        </p:nvGrpSpPr>
        <p:grpSpPr bwMode="auto">
          <a:xfrm>
            <a:off x="7817119" y="2668777"/>
            <a:ext cx="454614" cy="82278"/>
            <a:chOff x="2274" y="1204"/>
            <a:chExt cx="270" cy="44"/>
          </a:xfrm>
        </p:grpSpPr>
        <p:sp>
          <p:nvSpPr>
            <p:cNvPr id="49"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56" name="直接连接符 55"/>
          <p:cNvCxnSpPr/>
          <p:nvPr/>
        </p:nvCxnSpPr>
        <p:spPr bwMode="auto">
          <a:xfrm>
            <a:off x="7460202" y="1080056"/>
            <a:ext cx="121159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53"/>
          <p:cNvSpPr txBox="1">
            <a:spLocks noChangeArrowheads="1"/>
          </p:cNvSpPr>
          <p:nvPr/>
        </p:nvSpPr>
        <p:spPr bwMode="auto">
          <a:xfrm>
            <a:off x="6738293" y="2697018"/>
            <a:ext cx="101167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chemeClr val="bg1"/>
                </a:solidFill>
                <a:latin typeface="黑体" panose="02010609060101010101" pitchFamily="49" charset="-122"/>
                <a:ea typeface="黑体" panose="02010609060101010101" pitchFamily="49" charset="-122"/>
              </a:rPr>
              <a:t>岩  基</a:t>
            </a:r>
            <a:endParaRPr kumimoji="1" lang="zh-CN" altLang="en-US" sz="1800" b="1" dirty="0">
              <a:solidFill>
                <a:schemeClr val="bg1"/>
              </a:solidFill>
              <a:latin typeface="黑体" panose="02010609060101010101" pitchFamily="49" charset="-122"/>
              <a:ea typeface="黑体" panose="02010609060101010101" pitchFamily="49" charset="-122"/>
            </a:endParaRPr>
          </a:p>
        </p:txBody>
      </p:sp>
      <p:sp>
        <p:nvSpPr>
          <p:cNvPr id="59" name="Text Box 52"/>
          <p:cNvSpPr txBox="1">
            <a:spLocks noChangeArrowheads="1"/>
          </p:cNvSpPr>
          <p:nvPr/>
        </p:nvSpPr>
        <p:spPr bwMode="auto">
          <a:xfrm>
            <a:off x="7183256" y="4497507"/>
            <a:ext cx="761962" cy="34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a:defRPr sz="2000" b="1">
                <a:solidFill>
                  <a:srgbClr val="000000"/>
                </a:solidFill>
                <a:latin typeface="微软雅黑" pitchFamily="34" charset="-122"/>
                <a:ea typeface="微软雅黑" pitchFamily="34" charset="-122"/>
              </a:defRPr>
            </a:lvl1pPr>
          </a:lstStyle>
          <a:p>
            <a:r>
              <a:rPr lang="zh-CN" altLang="en-US" sz="1400" dirty="0" smtClean="0">
                <a:latin typeface="幼圆" panose="02010509060101010101" pitchFamily="49" charset="-122"/>
                <a:ea typeface="幼圆" panose="02010509060101010101" pitchFamily="49" charset="-122"/>
              </a:rPr>
              <a:t>地下室</a:t>
            </a:r>
            <a:endParaRPr lang="zh-CN" altLang="en-US" sz="1400" dirty="0">
              <a:latin typeface="幼圆" panose="02010509060101010101" pitchFamily="49" charset="-122"/>
              <a:ea typeface="幼圆" panose="02010509060101010101" pitchFamily="49" charset="-122"/>
            </a:endParaRPr>
          </a:p>
        </p:txBody>
      </p:sp>
      <p:sp>
        <p:nvSpPr>
          <p:cNvPr id="60" name="Rectangle 53"/>
          <p:cNvSpPr>
            <a:spLocks noChangeArrowheads="1"/>
          </p:cNvSpPr>
          <p:nvPr/>
        </p:nvSpPr>
        <p:spPr bwMode="auto">
          <a:xfrm>
            <a:off x="7586826" y="3766119"/>
            <a:ext cx="468764" cy="48662"/>
          </a:xfrm>
          <a:prstGeom prst="rect">
            <a:avLst/>
          </a:prstGeom>
          <a:solidFill>
            <a:schemeClr val="accent6">
              <a:lumMod val="75000"/>
            </a:schemeClr>
          </a:solidFill>
          <a:ln w="9525">
            <a:solidFill>
              <a:schemeClr val="tx1"/>
            </a:solidFill>
            <a:miter lim="800000"/>
            <a:headEnd/>
            <a:tailEnd/>
          </a:ln>
          <a:effectLst/>
          <a:extLst/>
        </p:spPr>
        <p:txBody>
          <a:bodyPr wrap="none" anchor="ctr"/>
          <a:lstStyle/>
          <a:p>
            <a:endParaRPr lang="zh-CN" altLang="en-US"/>
          </a:p>
        </p:txBody>
      </p:sp>
      <p:sp>
        <p:nvSpPr>
          <p:cNvPr id="61" name="Rectangle 54"/>
          <p:cNvSpPr>
            <a:spLocks noChangeArrowheads="1"/>
          </p:cNvSpPr>
          <p:nvPr/>
        </p:nvSpPr>
        <p:spPr bwMode="auto">
          <a:xfrm>
            <a:off x="7766398" y="3815164"/>
            <a:ext cx="106490" cy="301093"/>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62" name="Freeform 55"/>
          <p:cNvSpPr>
            <a:spLocks noChangeAspect="1"/>
          </p:cNvSpPr>
          <p:nvPr/>
        </p:nvSpPr>
        <p:spPr bwMode="auto">
          <a:xfrm>
            <a:off x="7416651" y="3495822"/>
            <a:ext cx="141986" cy="129764"/>
          </a:xfrm>
          <a:custGeom>
            <a:avLst/>
            <a:gdLst>
              <a:gd name="T0" fmla="*/ 12 w 132"/>
              <a:gd name="T1" fmla="*/ 102 h 132"/>
              <a:gd name="T2" fmla="*/ 72 w 132"/>
              <a:gd name="T3" fmla="*/ 0 h 132"/>
              <a:gd name="T4" fmla="*/ 132 w 132"/>
              <a:gd name="T5" fmla="*/ 51 h 132"/>
              <a:gd name="T6" fmla="*/ 105 w 132"/>
              <a:gd name="T7" fmla="*/ 117 h 132"/>
              <a:gd name="T8" fmla="*/ 63 w 132"/>
              <a:gd name="T9" fmla="*/ 132 h 132"/>
              <a:gd name="T10" fmla="*/ 33 w 132"/>
              <a:gd name="T11" fmla="*/ 129 h 132"/>
              <a:gd name="T12" fmla="*/ 15 w 132"/>
              <a:gd name="T13" fmla="*/ 117 h 132"/>
              <a:gd name="T14" fmla="*/ 12 w 132"/>
              <a:gd name="T15" fmla="*/ 10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132">
                <a:moveTo>
                  <a:pt x="12" y="102"/>
                </a:moveTo>
                <a:cubicBezTo>
                  <a:pt x="0" y="44"/>
                  <a:pt x="19" y="13"/>
                  <a:pt x="72" y="0"/>
                </a:cubicBezTo>
                <a:cubicBezTo>
                  <a:pt x="113" y="4"/>
                  <a:pt x="124" y="11"/>
                  <a:pt x="132" y="51"/>
                </a:cubicBezTo>
                <a:cubicBezTo>
                  <a:pt x="129" y="78"/>
                  <a:pt x="121" y="96"/>
                  <a:pt x="105" y="117"/>
                </a:cubicBezTo>
                <a:cubicBezTo>
                  <a:pt x="96" y="129"/>
                  <a:pt x="63" y="132"/>
                  <a:pt x="63" y="132"/>
                </a:cubicBezTo>
                <a:cubicBezTo>
                  <a:pt x="53" y="131"/>
                  <a:pt x="43" y="132"/>
                  <a:pt x="33" y="129"/>
                </a:cubicBezTo>
                <a:cubicBezTo>
                  <a:pt x="26" y="127"/>
                  <a:pt x="15" y="117"/>
                  <a:pt x="15" y="117"/>
                </a:cubicBezTo>
                <a:cubicBezTo>
                  <a:pt x="8" y="106"/>
                  <a:pt x="7" y="111"/>
                  <a:pt x="12" y="102"/>
                </a:cubicBezTo>
                <a:close/>
              </a:path>
            </a:pathLst>
          </a:custGeom>
          <a:solidFill>
            <a:srgbClr val="000000"/>
          </a:solidFill>
          <a:ln w="9525" cap="flat" cmpd="sng">
            <a:solidFill>
              <a:schemeClr val="tx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Rectangle 56" descr="横向砖形"/>
          <p:cNvSpPr>
            <a:spLocks noChangeArrowheads="1"/>
          </p:cNvSpPr>
          <p:nvPr/>
        </p:nvSpPr>
        <p:spPr bwMode="auto">
          <a:xfrm>
            <a:off x="6806945" y="3420876"/>
            <a:ext cx="241168" cy="705518"/>
          </a:xfrm>
          <a:prstGeom prst="rect">
            <a:avLst/>
          </a:prstGeom>
          <a:pattFill prst="horzBrick">
            <a:fgClr>
              <a:srgbClr val="800000"/>
            </a:fgClr>
            <a:bgClr>
              <a:srgbClr val="FA936A"/>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57" descr="栎木"/>
          <p:cNvSpPr>
            <a:spLocks noChangeArrowheads="1"/>
          </p:cNvSpPr>
          <p:nvPr/>
        </p:nvSpPr>
        <p:spPr bwMode="auto">
          <a:xfrm>
            <a:off x="6180534" y="4250076"/>
            <a:ext cx="761089" cy="1195248"/>
          </a:xfrm>
          <a:prstGeom prst="rect">
            <a:avLst/>
          </a:prstGeom>
          <a:pattFill prst="pct5">
            <a:fgClr>
              <a:schemeClr val="tx1">
                <a:lumMod val="95000"/>
                <a:lumOff val="5000"/>
              </a:schemeClr>
            </a:fgClr>
            <a:bgClr>
              <a:schemeClr val="accent6">
                <a:lumMod val="40000"/>
                <a:lumOff val="60000"/>
              </a:schemeClr>
            </a:bgClr>
          </a:pattFill>
          <a:ln>
            <a:noFill/>
          </a:ln>
          <a:effectLst/>
          <a:extLst/>
        </p:spPr>
        <p:txBody>
          <a:bodyPr wrap="none" anchor="ctr"/>
          <a:lstStyle/>
          <a:p>
            <a:endParaRPr lang="zh-CN" altLang="en-US"/>
          </a:p>
        </p:txBody>
      </p:sp>
      <p:sp>
        <p:nvSpPr>
          <p:cNvPr id="65" name="Rectangle 58" descr="栎木"/>
          <p:cNvSpPr>
            <a:spLocks noChangeArrowheads="1"/>
          </p:cNvSpPr>
          <p:nvPr/>
        </p:nvSpPr>
        <p:spPr bwMode="auto">
          <a:xfrm>
            <a:off x="6941623" y="5024605"/>
            <a:ext cx="1232985" cy="420719"/>
          </a:xfrm>
          <a:prstGeom prst="rect">
            <a:avLst/>
          </a:prstGeom>
          <a:pattFill prst="pct5">
            <a:fgClr>
              <a:schemeClr val="tx1"/>
            </a:fgClr>
            <a:bgClr>
              <a:srgbClr val="F5D0AB"/>
            </a:bgClr>
          </a:pattFill>
          <a:ln>
            <a:noFill/>
          </a:ln>
          <a:effectLst/>
          <a:extLst/>
        </p:spPr>
        <p:txBody>
          <a:bodyPr wrap="none" anchor="ctr"/>
          <a:lstStyle/>
          <a:p>
            <a:endParaRPr lang="zh-CN" altLang="en-US"/>
          </a:p>
        </p:txBody>
      </p:sp>
      <p:sp>
        <p:nvSpPr>
          <p:cNvPr id="66" name="Rectangle 59" descr="横向砖形"/>
          <p:cNvSpPr>
            <a:spLocks noChangeArrowheads="1"/>
          </p:cNvSpPr>
          <p:nvPr/>
        </p:nvSpPr>
        <p:spPr bwMode="auto">
          <a:xfrm>
            <a:off x="6812165" y="4240952"/>
            <a:ext cx="230728" cy="912403"/>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Rectangle 60" descr="横向砖形"/>
          <p:cNvSpPr>
            <a:spLocks noChangeArrowheads="1"/>
          </p:cNvSpPr>
          <p:nvPr/>
        </p:nvSpPr>
        <p:spPr bwMode="auto">
          <a:xfrm>
            <a:off x="6661826" y="5153355"/>
            <a:ext cx="539757" cy="221004"/>
          </a:xfrm>
          <a:prstGeom prst="rect">
            <a:avLst/>
          </a:prstGeom>
          <a:pattFill prst="horzBrick">
            <a:fgClr>
              <a:srgbClr val="800000"/>
            </a:fgClr>
            <a:bgClr>
              <a:srgbClr val="FA936A"/>
            </a:bgClr>
          </a:patt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Rectangle 61"/>
          <p:cNvSpPr>
            <a:spLocks noChangeArrowheads="1"/>
          </p:cNvSpPr>
          <p:nvPr/>
        </p:nvSpPr>
        <p:spPr bwMode="auto">
          <a:xfrm>
            <a:off x="7033497" y="5030960"/>
            <a:ext cx="1107703" cy="115571"/>
          </a:xfrm>
          <a:prstGeom prst="rect">
            <a:avLst/>
          </a:prstGeom>
          <a:pattFill prst="dkUpDiag">
            <a:fgClr>
              <a:schemeClr val="tx1"/>
            </a:fgClr>
            <a:bgClr>
              <a:srgbClr val="E57300"/>
            </a:bgClr>
          </a:pattFill>
          <a:ln w="9525">
            <a:solidFill>
              <a:srgbClr val="000066"/>
            </a:solidFill>
            <a:miter lim="800000"/>
            <a:headEnd/>
            <a:tailEnd/>
          </a:ln>
          <a:effectLst/>
          <a:extLst/>
        </p:spPr>
        <p:txBody>
          <a:bodyPr wrap="none" anchor="ctr"/>
          <a:lstStyle/>
          <a:p>
            <a:endParaRPr lang="zh-CN" altLang="en-US"/>
          </a:p>
        </p:txBody>
      </p:sp>
      <p:sp>
        <p:nvSpPr>
          <p:cNvPr id="69" name="Rectangle 63"/>
          <p:cNvSpPr>
            <a:spLocks noChangeArrowheads="1"/>
          </p:cNvSpPr>
          <p:nvPr/>
        </p:nvSpPr>
        <p:spPr bwMode="auto">
          <a:xfrm>
            <a:off x="6812165" y="4126394"/>
            <a:ext cx="1290406" cy="114557"/>
          </a:xfrm>
          <a:prstGeom prst="rect">
            <a:avLst/>
          </a:prstGeom>
          <a:pattFill prst="dkUpDiag">
            <a:fgClr>
              <a:schemeClr val="tx1"/>
            </a:fgClr>
            <a:bgClr>
              <a:schemeClr val="accent2">
                <a:lumMod val="75000"/>
              </a:schemeClr>
            </a:bgClr>
          </a:pattFill>
          <a:ln w="9525">
            <a:solidFill>
              <a:srgbClr val="000066"/>
            </a:solidFill>
            <a:miter lim="800000"/>
            <a:headEnd/>
            <a:tailEnd/>
          </a:ln>
          <a:effectLst/>
          <a:extLst/>
        </p:spPr>
        <p:txBody>
          <a:bodyPr wrap="none" anchor="ctr"/>
          <a:lstStyle/>
          <a:p>
            <a:endParaRPr lang="zh-CN" altLang="en-US"/>
          </a:p>
        </p:txBody>
      </p:sp>
      <p:sp>
        <p:nvSpPr>
          <p:cNvPr id="70" name="Line 65"/>
          <p:cNvSpPr>
            <a:spLocks noChangeShapeType="1"/>
          </p:cNvSpPr>
          <p:nvPr/>
        </p:nvSpPr>
        <p:spPr bwMode="auto">
          <a:xfrm>
            <a:off x="6449975" y="4843563"/>
            <a:ext cx="375762" cy="0"/>
          </a:xfrm>
          <a:prstGeom prst="line">
            <a:avLst/>
          </a:prstGeom>
          <a:noFill/>
          <a:ln w="3810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66"/>
          <p:cNvSpPr txBox="1">
            <a:spLocks noChangeArrowheads="1"/>
          </p:cNvSpPr>
          <p:nvPr/>
        </p:nvSpPr>
        <p:spPr bwMode="auto">
          <a:xfrm>
            <a:off x="6239200" y="4851755"/>
            <a:ext cx="48772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ea typeface="楷体_GB2312" pitchFamily="49" charset="-122"/>
              </a:rPr>
              <a:t>E</a:t>
            </a:r>
            <a:r>
              <a:rPr lang="en-US" altLang="zh-CN" sz="2000" b="1" i="1" baseline="-25000" dirty="0" smtClean="0">
                <a:solidFill>
                  <a:srgbClr val="000066"/>
                </a:solidFill>
                <a:ea typeface="楷体_GB2312" pitchFamily="49" charset="-122"/>
              </a:rPr>
              <a:t>0</a:t>
            </a:r>
            <a:endParaRPr lang="en-US" altLang="zh-CN" sz="2000" b="1" i="1" baseline="-25000" dirty="0">
              <a:solidFill>
                <a:srgbClr val="000066"/>
              </a:solidFill>
              <a:ea typeface="楷体_GB2312" pitchFamily="49" charset="-122"/>
            </a:endParaRPr>
          </a:p>
        </p:txBody>
      </p:sp>
      <p:sp>
        <p:nvSpPr>
          <p:cNvPr id="72" name="Text Box 67"/>
          <p:cNvSpPr txBox="1">
            <a:spLocks noChangeArrowheads="1"/>
          </p:cNvSpPr>
          <p:nvPr/>
        </p:nvSpPr>
        <p:spPr bwMode="auto">
          <a:xfrm>
            <a:off x="6167536" y="4306182"/>
            <a:ext cx="80911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800" b="1" dirty="0">
                <a:solidFill>
                  <a:srgbClr val="000000"/>
                </a:solidFill>
                <a:latin typeface="幼圆" panose="02010509060101010101" pitchFamily="49" charset="-122"/>
                <a:ea typeface="幼圆" panose="02010509060101010101" pitchFamily="49" charset="-122"/>
              </a:rPr>
              <a:t>填土</a:t>
            </a:r>
          </a:p>
        </p:txBody>
      </p:sp>
      <p:sp>
        <p:nvSpPr>
          <p:cNvPr id="73" name="Freeform 68"/>
          <p:cNvSpPr>
            <a:spLocks/>
          </p:cNvSpPr>
          <p:nvPr/>
        </p:nvSpPr>
        <p:spPr bwMode="auto">
          <a:xfrm>
            <a:off x="7554462" y="3713785"/>
            <a:ext cx="211936" cy="49675"/>
          </a:xfrm>
          <a:custGeom>
            <a:avLst/>
            <a:gdLst>
              <a:gd name="T0" fmla="*/ 15 w 176"/>
              <a:gd name="T1" fmla="*/ 0 h 45"/>
              <a:gd name="T2" fmla="*/ 78 w 176"/>
              <a:gd name="T3" fmla="*/ 21 h 45"/>
              <a:gd name="T4" fmla="*/ 134 w 176"/>
              <a:gd name="T5" fmla="*/ 27 h 45"/>
              <a:gd name="T6" fmla="*/ 156 w 176"/>
              <a:gd name="T7" fmla="*/ 30 h 45"/>
              <a:gd name="T8" fmla="*/ 176 w 176"/>
              <a:gd name="T9" fmla="*/ 38 h 45"/>
              <a:gd name="T10" fmla="*/ 155 w 176"/>
              <a:gd name="T11" fmla="*/ 42 h 45"/>
              <a:gd name="T12" fmla="*/ 119 w 176"/>
              <a:gd name="T13" fmla="*/ 41 h 45"/>
              <a:gd name="T14" fmla="*/ 24 w 176"/>
              <a:gd name="T15" fmla="*/ 42 h 45"/>
              <a:gd name="T16" fmla="*/ 0 w 176"/>
              <a:gd name="T17" fmla="*/ 30 h 45"/>
              <a:gd name="T18" fmla="*/ 15 w 176"/>
              <a:gd name="T1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45">
                <a:moveTo>
                  <a:pt x="15" y="0"/>
                </a:moveTo>
                <a:cubicBezTo>
                  <a:pt x="42" y="16"/>
                  <a:pt x="42" y="20"/>
                  <a:pt x="78" y="21"/>
                </a:cubicBezTo>
                <a:cubicBezTo>
                  <a:pt x="97" y="24"/>
                  <a:pt x="115" y="25"/>
                  <a:pt x="134" y="27"/>
                </a:cubicBezTo>
                <a:cubicBezTo>
                  <a:pt x="144" y="30"/>
                  <a:pt x="145" y="32"/>
                  <a:pt x="156" y="30"/>
                </a:cubicBezTo>
                <a:cubicBezTo>
                  <a:pt x="166" y="32"/>
                  <a:pt x="171" y="30"/>
                  <a:pt x="176" y="38"/>
                </a:cubicBezTo>
                <a:cubicBezTo>
                  <a:pt x="168" y="40"/>
                  <a:pt x="164" y="41"/>
                  <a:pt x="155" y="42"/>
                </a:cubicBezTo>
                <a:cubicBezTo>
                  <a:pt x="143" y="45"/>
                  <a:pt x="131" y="42"/>
                  <a:pt x="119" y="41"/>
                </a:cubicBezTo>
                <a:cubicBezTo>
                  <a:pt x="82" y="43"/>
                  <a:pt x="74" y="43"/>
                  <a:pt x="24" y="42"/>
                </a:cubicBezTo>
                <a:cubicBezTo>
                  <a:pt x="14" y="41"/>
                  <a:pt x="7" y="37"/>
                  <a:pt x="0" y="30"/>
                </a:cubicBezTo>
                <a:cubicBezTo>
                  <a:pt x="8" y="19"/>
                  <a:pt x="18" y="16"/>
                  <a:pt x="15" y="0"/>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Freeform 69"/>
          <p:cNvSpPr>
            <a:spLocks/>
          </p:cNvSpPr>
          <p:nvPr/>
        </p:nvSpPr>
        <p:spPr bwMode="auto">
          <a:xfrm>
            <a:off x="7357142" y="3889170"/>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Freeform 70"/>
          <p:cNvSpPr>
            <a:spLocks/>
          </p:cNvSpPr>
          <p:nvPr/>
        </p:nvSpPr>
        <p:spPr bwMode="auto">
          <a:xfrm>
            <a:off x="7387419" y="3915528"/>
            <a:ext cx="148251" cy="202756"/>
          </a:xfrm>
          <a:custGeom>
            <a:avLst/>
            <a:gdLst>
              <a:gd name="T0" fmla="*/ 92 w 132"/>
              <a:gd name="T1" fmla="*/ 3 h 163"/>
              <a:gd name="T2" fmla="*/ 54 w 132"/>
              <a:gd name="T3" fmla="*/ 49 h 163"/>
              <a:gd name="T4" fmla="*/ 45 w 132"/>
              <a:gd name="T5" fmla="*/ 67 h 163"/>
              <a:gd name="T6" fmla="*/ 6 w 132"/>
              <a:gd name="T7" fmla="*/ 124 h 163"/>
              <a:gd name="T8" fmla="*/ 0 w 132"/>
              <a:gd name="T9" fmla="*/ 154 h 163"/>
              <a:gd name="T10" fmla="*/ 8 w 132"/>
              <a:gd name="T11" fmla="*/ 153 h 163"/>
              <a:gd name="T12" fmla="*/ 17 w 132"/>
              <a:gd name="T13" fmla="*/ 142 h 163"/>
              <a:gd name="T14" fmla="*/ 32 w 132"/>
              <a:gd name="T15" fmla="*/ 157 h 163"/>
              <a:gd name="T16" fmla="*/ 56 w 132"/>
              <a:gd name="T17" fmla="*/ 163 h 163"/>
              <a:gd name="T18" fmla="*/ 95 w 132"/>
              <a:gd name="T19" fmla="*/ 159 h 163"/>
              <a:gd name="T20" fmla="*/ 78 w 132"/>
              <a:gd name="T21" fmla="*/ 144 h 163"/>
              <a:gd name="T22" fmla="*/ 63 w 132"/>
              <a:gd name="T23" fmla="*/ 135 h 163"/>
              <a:gd name="T24" fmla="*/ 51 w 132"/>
              <a:gd name="T25" fmla="*/ 123 h 163"/>
              <a:gd name="T26" fmla="*/ 71 w 132"/>
              <a:gd name="T27" fmla="*/ 90 h 163"/>
              <a:gd name="T28" fmla="*/ 90 w 132"/>
              <a:gd name="T29" fmla="*/ 69 h 163"/>
              <a:gd name="T30" fmla="*/ 122 w 132"/>
              <a:gd name="T31" fmla="*/ 24 h 163"/>
              <a:gd name="T32" fmla="*/ 120 w 132"/>
              <a:gd name="T33" fmla="*/ 6 h 163"/>
              <a:gd name="T34" fmla="*/ 99 w 132"/>
              <a:gd name="T35" fmla="*/ 0 h 163"/>
              <a:gd name="T36" fmla="*/ 92 w 132"/>
              <a:gd name="T37" fmla="*/ 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2" h="163">
                <a:moveTo>
                  <a:pt x="92" y="3"/>
                </a:moveTo>
                <a:cubicBezTo>
                  <a:pt x="76" y="13"/>
                  <a:pt x="65" y="34"/>
                  <a:pt x="54" y="49"/>
                </a:cubicBezTo>
                <a:cubicBezTo>
                  <a:pt x="53" y="55"/>
                  <a:pt x="49" y="62"/>
                  <a:pt x="45" y="67"/>
                </a:cubicBezTo>
                <a:cubicBezTo>
                  <a:pt x="42" y="82"/>
                  <a:pt x="19" y="116"/>
                  <a:pt x="6" y="124"/>
                </a:cubicBezTo>
                <a:cubicBezTo>
                  <a:pt x="0" y="133"/>
                  <a:pt x="1" y="143"/>
                  <a:pt x="0" y="154"/>
                </a:cubicBezTo>
                <a:cubicBezTo>
                  <a:pt x="3" y="161"/>
                  <a:pt x="5" y="159"/>
                  <a:pt x="8" y="153"/>
                </a:cubicBezTo>
                <a:cubicBezTo>
                  <a:pt x="9" y="146"/>
                  <a:pt x="11" y="145"/>
                  <a:pt x="17" y="142"/>
                </a:cubicBezTo>
                <a:cubicBezTo>
                  <a:pt x="22" y="150"/>
                  <a:pt x="23" y="155"/>
                  <a:pt x="32" y="157"/>
                </a:cubicBezTo>
                <a:cubicBezTo>
                  <a:pt x="39" y="161"/>
                  <a:pt x="48" y="162"/>
                  <a:pt x="56" y="163"/>
                </a:cubicBezTo>
                <a:cubicBezTo>
                  <a:pt x="74" y="162"/>
                  <a:pt x="80" y="162"/>
                  <a:pt x="95" y="159"/>
                </a:cubicBezTo>
                <a:cubicBezTo>
                  <a:pt x="97" y="151"/>
                  <a:pt x="86" y="146"/>
                  <a:pt x="78" y="144"/>
                </a:cubicBezTo>
                <a:cubicBezTo>
                  <a:pt x="73" y="140"/>
                  <a:pt x="68" y="138"/>
                  <a:pt x="63" y="135"/>
                </a:cubicBezTo>
                <a:cubicBezTo>
                  <a:pt x="60" y="130"/>
                  <a:pt x="51" y="123"/>
                  <a:pt x="51" y="123"/>
                </a:cubicBezTo>
                <a:cubicBezTo>
                  <a:pt x="53" y="108"/>
                  <a:pt x="58" y="98"/>
                  <a:pt x="71" y="90"/>
                </a:cubicBezTo>
                <a:cubicBezTo>
                  <a:pt x="75" y="83"/>
                  <a:pt x="83" y="74"/>
                  <a:pt x="90" y="69"/>
                </a:cubicBezTo>
                <a:cubicBezTo>
                  <a:pt x="99" y="54"/>
                  <a:pt x="111" y="38"/>
                  <a:pt x="122" y="24"/>
                </a:cubicBezTo>
                <a:cubicBezTo>
                  <a:pt x="123" y="17"/>
                  <a:pt x="132" y="8"/>
                  <a:pt x="120" y="6"/>
                </a:cubicBezTo>
                <a:cubicBezTo>
                  <a:pt x="114" y="3"/>
                  <a:pt x="106" y="1"/>
                  <a:pt x="99" y="0"/>
                </a:cubicBezTo>
                <a:cubicBezTo>
                  <a:pt x="93" y="3"/>
                  <a:pt x="95" y="3"/>
                  <a:pt x="92" y="3"/>
                </a:cubicBezTo>
                <a:close/>
              </a:path>
            </a:pathLst>
          </a:custGeom>
          <a:gradFill rotWithShape="1">
            <a:gsLst>
              <a:gs pos="0">
                <a:srgbClr val="FDD4C3"/>
              </a:gs>
              <a:gs pos="50000">
                <a:schemeClr val="bg1"/>
              </a:gs>
              <a:gs pos="100000">
                <a:srgbClr val="FDD4C3"/>
              </a:gs>
            </a:gsLst>
            <a:lin ang="5400000" scaled="1"/>
          </a:gradFill>
          <a:ln w="254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Freeform 71"/>
          <p:cNvSpPr>
            <a:spLocks/>
          </p:cNvSpPr>
          <p:nvPr/>
        </p:nvSpPr>
        <p:spPr bwMode="auto">
          <a:xfrm>
            <a:off x="7265269" y="3600242"/>
            <a:ext cx="311117" cy="354823"/>
          </a:xfrm>
          <a:custGeom>
            <a:avLst/>
            <a:gdLst>
              <a:gd name="T0" fmla="*/ 202 w 273"/>
              <a:gd name="T1" fmla="*/ 38 h 311"/>
              <a:gd name="T2" fmla="*/ 187 w 273"/>
              <a:gd name="T3" fmla="*/ 14 h 311"/>
              <a:gd name="T4" fmla="*/ 163 w 273"/>
              <a:gd name="T5" fmla="*/ 6 h 311"/>
              <a:gd name="T6" fmla="*/ 150 w 273"/>
              <a:gd name="T7" fmla="*/ 0 h 311"/>
              <a:gd name="T8" fmla="*/ 141 w 273"/>
              <a:gd name="T9" fmla="*/ 20 h 311"/>
              <a:gd name="T10" fmla="*/ 130 w 273"/>
              <a:gd name="T11" fmla="*/ 15 h 311"/>
              <a:gd name="T12" fmla="*/ 79 w 273"/>
              <a:gd name="T13" fmla="*/ 51 h 311"/>
              <a:gd name="T14" fmla="*/ 64 w 273"/>
              <a:gd name="T15" fmla="*/ 75 h 311"/>
              <a:gd name="T16" fmla="*/ 55 w 273"/>
              <a:gd name="T17" fmla="*/ 96 h 311"/>
              <a:gd name="T18" fmla="*/ 21 w 273"/>
              <a:gd name="T19" fmla="*/ 158 h 311"/>
              <a:gd name="T20" fmla="*/ 12 w 273"/>
              <a:gd name="T21" fmla="*/ 179 h 311"/>
              <a:gd name="T22" fmla="*/ 7 w 273"/>
              <a:gd name="T23" fmla="*/ 189 h 311"/>
              <a:gd name="T24" fmla="*/ 18 w 273"/>
              <a:gd name="T25" fmla="*/ 263 h 311"/>
              <a:gd name="T26" fmla="*/ 51 w 273"/>
              <a:gd name="T27" fmla="*/ 272 h 311"/>
              <a:gd name="T28" fmla="*/ 85 w 273"/>
              <a:gd name="T29" fmla="*/ 266 h 311"/>
              <a:gd name="T30" fmla="*/ 85 w 273"/>
              <a:gd name="T31" fmla="*/ 270 h 311"/>
              <a:gd name="T32" fmla="*/ 81 w 273"/>
              <a:gd name="T33" fmla="*/ 272 h 311"/>
              <a:gd name="T34" fmla="*/ 76 w 273"/>
              <a:gd name="T35" fmla="*/ 273 h 311"/>
              <a:gd name="T36" fmla="*/ 82 w 273"/>
              <a:gd name="T37" fmla="*/ 272 h 311"/>
              <a:gd name="T38" fmla="*/ 102 w 273"/>
              <a:gd name="T39" fmla="*/ 270 h 311"/>
              <a:gd name="T40" fmla="*/ 106 w 273"/>
              <a:gd name="T41" fmla="*/ 275 h 311"/>
              <a:gd name="T42" fmla="*/ 117 w 273"/>
              <a:gd name="T43" fmla="*/ 273 h 311"/>
              <a:gd name="T44" fmla="*/ 97 w 273"/>
              <a:gd name="T45" fmla="*/ 278 h 311"/>
              <a:gd name="T46" fmla="*/ 96 w 273"/>
              <a:gd name="T47" fmla="*/ 267 h 311"/>
              <a:gd name="T48" fmla="*/ 115 w 273"/>
              <a:gd name="T49" fmla="*/ 273 h 311"/>
              <a:gd name="T50" fmla="*/ 169 w 273"/>
              <a:gd name="T51" fmla="*/ 281 h 311"/>
              <a:gd name="T52" fmla="*/ 157 w 273"/>
              <a:gd name="T53" fmla="*/ 288 h 311"/>
              <a:gd name="T54" fmla="*/ 195 w 273"/>
              <a:gd name="T55" fmla="*/ 297 h 311"/>
              <a:gd name="T56" fmla="*/ 219 w 273"/>
              <a:gd name="T57" fmla="*/ 297 h 311"/>
              <a:gd name="T58" fmla="*/ 238 w 273"/>
              <a:gd name="T59" fmla="*/ 311 h 311"/>
              <a:gd name="T60" fmla="*/ 249 w 273"/>
              <a:gd name="T61" fmla="*/ 294 h 311"/>
              <a:gd name="T62" fmla="*/ 264 w 273"/>
              <a:gd name="T63" fmla="*/ 267 h 311"/>
              <a:gd name="T64" fmla="*/ 256 w 273"/>
              <a:gd name="T65" fmla="*/ 224 h 311"/>
              <a:gd name="T66" fmla="*/ 244 w 273"/>
              <a:gd name="T67" fmla="*/ 215 h 311"/>
              <a:gd name="T68" fmla="*/ 210 w 273"/>
              <a:gd name="T69" fmla="*/ 210 h 311"/>
              <a:gd name="T70" fmla="*/ 193 w 273"/>
              <a:gd name="T71" fmla="*/ 206 h 311"/>
              <a:gd name="T72" fmla="*/ 147 w 273"/>
              <a:gd name="T73" fmla="*/ 192 h 311"/>
              <a:gd name="T74" fmla="*/ 156 w 273"/>
              <a:gd name="T75" fmla="*/ 168 h 311"/>
              <a:gd name="T76" fmla="*/ 177 w 273"/>
              <a:gd name="T77" fmla="*/ 149 h 311"/>
              <a:gd name="T78" fmla="*/ 201 w 273"/>
              <a:gd name="T79" fmla="*/ 128 h 311"/>
              <a:gd name="T80" fmla="*/ 202 w 273"/>
              <a:gd name="T81" fmla="*/ 117 h 311"/>
              <a:gd name="T82" fmla="*/ 213 w 273"/>
              <a:gd name="T83" fmla="*/ 134 h 311"/>
              <a:gd name="T84" fmla="*/ 219 w 273"/>
              <a:gd name="T85" fmla="*/ 135 h 311"/>
              <a:gd name="T86" fmla="*/ 231 w 273"/>
              <a:gd name="T87" fmla="*/ 143 h 311"/>
              <a:gd name="T88" fmla="*/ 247 w 273"/>
              <a:gd name="T89" fmla="*/ 135 h 311"/>
              <a:gd name="T90" fmla="*/ 256 w 273"/>
              <a:gd name="T91" fmla="*/ 128 h 311"/>
              <a:gd name="T92" fmla="*/ 273 w 273"/>
              <a:gd name="T93" fmla="*/ 105 h 311"/>
              <a:gd name="T94" fmla="*/ 250 w 273"/>
              <a:gd name="T95" fmla="*/ 72 h 311"/>
              <a:gd name="T96" fmla="*/ 211 w 273"/>
              <a:gd name="T97" fmla="*/ 35 h 311"/>
              <a:gd name="T98" fmla="*/ 202 w 273"/>
              <a:gd name="T99" fmla="*/ 3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73" h="311">
                <a:moveTo>
                  <a:pt x="202" y="38"/>
                </a:moveTo>
                <a:cubicBezTo>
                  <a:pt x="201" y="17"/>
                  <a:pt x="203" y="17"/>
                  <a:pt x="187" y="14"/>
                </a:cubicBezTo>
                <a:cubicBezTo>
                  <a:pt x="179" y="10"/>
                  <a:pt x="171" y="9"/>
                  <a:pt x="163" y="6"/>
                </a:cubicBezTo>
                <a:cubicBezTo>
                  <a:pt x="159" y="3"/>
                  <a:pt x="155" y="2"/>
                  <a:pt x="150" y="0"/>
                </a:cubicBezTo>
                <a:cubicBezTo>
                  <a:pt x="143" y="4"/>
                  <a:pt x="142" y="12"/>
                  <a:pt x="141" y="20"/>
                </a:cubicBezTo>
                <a:cubicBezTo>
                  <a:pt x="138" y="8"/>
                  <a:pt x="139" y="13"/>
                  <a:pt x="130" y="15"/>
                </a:cubicBezTo>
                <a:cubicBezTo>
                  <a:pt x="118" y="29"/>
                  <a:pt x="95" y="41"/>
                  <a:pt x="79" y="51"/>
                </a:cubicBezTo>
                <a:cubicBezTo>
                  <a:pt x="77" y="60"/>
                  <a:pt x="70" y="67"/>
                  <a:pt x="64" y="75"/>
                </a:cubicBezTo>
                <a:cubicBezTo>
                  <a:pt x="62" y="83"/>
                  <a:pt x="59" y="89"/>
                  <a:pt x="55" y="96"/>
                </a:cubicBezTo>
                <a:cubicBezTo>
                  <a:pt x="51" y="117"/>
                  <a:pt x="31" y="139"/>
                  <a:pt x="21" y="158"/>
                </a:cubicBezTo>
                <a:cubicBezTo>
                  <a:pt x="17" y="165"/>
                  <a:pt x="15" y="172"/>
                  <a:pt x="12" y="179"/>
                </a:cubicBezTo>
                <a:cubicBezTo>
                  <a:pt x="11" y="182"/>
                  <a:pt x="7" y="189"/>
                  <a:pt x="7" y="189"/>
                </a:cubicBezTo>
                <a:cubicBezTo>
                  <a:pt x="3" y="211"/>
                  <a:pt x="0" y="245"/>
                  <a:pt x="18" y="263"/>
                </a:cubicBezTo>
                <a:cubicBezTo>
                  <a:pt x="24" y="269"/>
                  <a:pt x="43" y="270"/>
                  <a:pt x="51" y="272"/>
                </a:cubicBezTo>
                <a:cubicBezTo>
                  <a:pt x="64" y="271"/>
                  <a:pt x="73" y="268"/>
                  <a:pt x="85" y="266"/>
                </a:cubicBezTo>
                <a:cubicBezTo>
                  <a:pt x="106" y="268"/>
                  <a:pt x="92" y="269"/>
                  <a:pt x="85" y="270"/>
                </a:cubicBezTo>
                <a:cubicBezTo>
                  <a:pt x="84" y="271"/>
                  <a:pt x="82" y="272"/>
                  <a:pt x="81" y="272"/>
                </a:cubicBezTo>
                <a:cubicBezTo>
                  <a:pt x="79" y="273"/>
                  <a:pt x="74" y="273"/>
                  <a:pt x="76" y="273"/>
                </a:cubicBezTo>
                <a:cubicBezTo>
                  <a:pt x="78" y="273"/>
                  <a:pt x="80" y="272"/>
                  <a:pt x="82" y="272"/>
                </a:cubicBezTo>
                <a:cubicBezTo>
                  <a:pt x="90" y="269"/>
                  <a:pt x="94" y="269"/>
                  <a:pt x="102" y="270"/>
                </a:cubicBezTo>
                <a:cubicBezTo>
                  <a:pt x="103" y="272"/>
                  <a:pt x="104" y="275"/>
                  <a:pt x="106" y="275"/>
                </a:cubicBezTo>
                <a:cubicBezTo>
                  <a:pt x="110" y="276"/>
                  <a:pt x="121" y="272"/>
                  <a:pt x="117" y="273"/>
                </a:cubicBezTo>
                <a:cubicBezTo>
                  <a:pt x="110" y="275"/>
                  <a:pt x="104" y="276"/>
                  <a:pt x="97" y="278"/>
                </a:cubicBezTo>
                <a:cubicBezTo>
                  <a:pt x="83" y="275"/>
                  <a:pt x="84" y="271"/>
                  <a:pt x="96" y="267"/>
                </a:cubicBezTo>
                <a:cubicBezTo>
                  <a:pt x="104" y="270"/>
                  <a:pt x="106" y="272"/>
                  <a:pt x="115" y="273"/>
                </a:cubicBezTo>
                <a:cubicBezTo>
                  <a:pt x="132" y="280"/>
                  <a:pt x="151" y="277"/>
                  <a:pt x="169" y="281"/>
                </a:cubicBezTo>
                <a:cubicBezTo>
                  <a:pt x="162" y="282"/>
                  <a:pt x="160" y="282"/>
                  <a:pt x="157" y="288"/>
                </a:cubicBezTo>
                <a:cubicBezTo>
                  <a:pt x="169" y="295"/>
                  <a:pt x="182" y="291"/>
                  <a:pt x="195" y="297"/>
                </a:cubicBezTo>
                <a:cubicBezTo>
                  <a:pt x="200" y="305"/>
                  <a:pt x="211" y="300"/>
                  <a:pt x="219" y="297"/>
                </a:cubicBezTo>
                <a:cubicBezTo>
                  <a:pt x="226" y="302"/>
                  <a:pt x="231" y="307"/>
                  <a:pt x="238" y="311"/>
                </a:cubicBezTo>
                <a:cubicBezTo>
                  <a:pt x="242" y="304"/>
                  <a:pt x="243" y="298"/>
                  <a:pt x="249" y="294"/>
                </a:cubicBezTo>
                <a:cubicBezTo>
                  <a:pt x="254" y="285"/>
                  <a:pt x="259" y="276"/>
                  <a:pt x="264" y="267"/>
                </a:cubicBezTo>
                <a:cubicBezTo>
                  <a:pt x="267" y="251"/>
                  <a:pt x="270" y="236"/>
                  <a:pt x="256" y="224"/>
                </a:cubicBezTo>
                <a:cubicBezTo>
                  <a:pt x="252" y="218"/>
                  <a:pt x="251" y="216"/>
                  <a:pt x="244" y="215"/>
                </a:cubicBezTo>
                <a:cubicBezTo>
                  <a:pt x="233" y="210"/>
                  <a:pt x="222" y="211"/>
                  <a:pt x="210" y="210"/>
                </a:cubicBezTo>
                <a:cubicBezTo>
                  <a:pt x="204" y="209"/>
                  <a:pt x="199" y="207"/>
                  <a:pt x="193" y="206"/>
                </a:cubicBezTo>
                <a:cubicBezTo>
                  <a:pt x="178" y="200"/>
                  <a:pt x="162" y="198"/>
                  <a:pt x="147" y="192"/>
                </a:cubicBezTo>
                <a:cubicBezTo>
                  <a:pt x="152" y="188"/>
                  <a:pt x="152" y="175"/>
                  <a:pt x="156" y="168"/>
                </a:cubicBezTo>
                <a:cubicBezTo>
                  <a:pt x="158" y="156"/>
                  <a:pt x="166" y="151"/>
                  <a:pt x="177" y="149"/>
                </a:cubicBezTo>
                <a:cubicBezTo>
                  <a:pt x="188" y="143"/>
                  <a:pt x="195" y="139"/>
                  <a:pt x="201" y="128"/>
                </a:cubicBezTo>
                <a:cubicBezTo>
                  <a:pt x="201" y="124"/>
                  <a:pt x="199" y="119"/>
                  <a:pt x="202" y="117"/>
                </a:cubicBezTo>
                <a:cubicBezTo>
                  <a:pt x="210" y="112"/>
                  <a:pt x="211" y="132"/>
                  <a:pt x="213" y="134"/>
                </a:cubicBezTo>
                <a:cubicBezTo>
                  <a:pt x="215" y="135"/>
                  <a:pt x="217" y="135"/>
                  <a:pt x="219" y="135"/>
                </a:cubicBezTo>
                <a:cubicBezTo>
                  <a:pt x="224" y="138"/>
                  <a:pt x="226" y="141"/>
                  <a:pt x="231" y="143"/>
                </a:cubicBezTo>
                <a:cubicBezTo>
                  <a:pt x="240" y="141"/>
                  <a:pt x="241" y="141"/>
                  <a:pt x="247" y="135"/>
                </a:cubicBezTo>
                <a:cubicBezTo>
                  <a:pt x="250" y="132"/>
                  <a:pt x="256" y="128"/>
                  <a:pt x="256" y="128"/>
                </a:cubicBezTo>
                <a:cubicBezTo>
                  <a:pt x="261" y="120"/>
                  <a:pt x="268" y="113"/>
                  <a:pt x="273" y="105"/>
                </a:cubicBezTo>
                <a:cubicBezTo>
                  <a:pt x="270" y="80"/>
                  <a:pt x="270" y="84"/>
                  <a:pt x="250" y="72"/>
                </a:cubicBezTo>
                <a:cubicBezTo>
                  <a:pt x="241" y="59"/>
                  <a:pt x="227" y="38"/>
                  <a:pt x="211" y="35"/>
                </a:cubicBezTo>
                <a:cubicBezTo>
                  <a:pt x="200" y="37"/>
                  <a:pt x="206" y="44"/>
                  <a:pt x="202" y="38"/>
                </a:cubicBezTo>
                <a:close/>
              </a:path>
            </a:pathLst>
          </a:custGeom>
          <a:gradFill rotWithShape="1">
            <a:gsLst>
              <a:gs pos="0">
                <a:srgbClr val="CC99FF"/>
              </a:gs>
              <a:gs pos="100000">
                <a:srgbClr val="FF33CC">
                  <a:gamma/>
                  <a:shade val="46275"/>
                  <a:invGamma/>
                </a:srgbClr>
              </a:gs>
            </a:gsLst>
            <a:lin ang="0" scaled="1"/>
          </a:gradFill>
          <a:ln w="9525" cap="flat" cmpd="sng">
            <a:solidFill>
              <a:srgbClr val="000000"/>
            </a:solidFill>
            <a:prstDash val="solid"/>
            <a:round/>
            <a:headEnd type="none" w="med" len="med"/>
            <a:tailEnd type="none" w="med" len="med"/>
          </a:ln>
          <a:effectLst/>
          <a:extLst/>
        </p:spPr>
        <p:txBody>
          <a:bodyPr/>
          <a:lstStyle/>
          <a:p>
            <a:endParaRPr lang="zh-CN" altLang="en-US"/>
          </a:p>
        </p:txBody>
      </p:sp>
      <p:sp>
        <p:nvSpPr>
          <p:cNvPr id="77" name="Rectangle 72"/>
          <p:cNvSpPr>
            <a:spLocks noChangeArrowheads="1"/>
          </p:cNvSpPr>
          <p:nvPr/>
        </p:nvSpPr>
        <p:spPr bwMode="auto">
          <a:xfrm>
            <a:off x="7253785" y="3967478"/>
            <a:ext cx="140942" cy="155109"/>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sp>
        <p:nvSpPr>
          <p:cNvPr id="78" name="Rectangle 73"/>
          <p:cNvSpPr>
            <a:spLocks noChangeArrowheads="1"/>
          </p:cNvSpPr>
          <p:nvPr/>
        </p:nvSpPr>
        <p:spPr bwMode="auto">
          <a:xfrm>
            <a:off x="7193232" y="3916159"/>
            <a:ext cx="233860" cy="48662"/>
          </a:xfrm>
          <a:prstGeom prst="rect">
            <a:avLst/>
          </a:prstGeom>
          <a:solidFill>
            <a:schemeClr val="accent6">
              <a:lumMod val="75000"/>
            </a:schemeClr>
          </a:solidFill>
          <a:ln w="9525" algn="ctr">
            <a:solidFill>
              <a:schemeClr val="tx1"/>
            </a:solidFill>
            <a:miter lim="800000"/>
            <a:headEnd/>
            <a:tailEnd/>
          </a:ln>
          <a:effectLst/>
          <a:extLst/>
        </p:spPr>
        <p:txBody>
          <a:bodyPr wrap="none" anchor="ctr"/>
          <a:lstStyle/>
          <a:p>
            <a:endParaRPr lang="zh-CN" altLang="en-US"/>
          </a:p>
        </p:txBody>
      </p:sp>
      <p:cxnSp>
        <p:nvCxnSpPr>
          <p:cNvPr id="79" name="直接连接符 78"/>
          <p:cNvCxnSpPr/>
          <p:nvPr/>
        </p:nvCxnSpPr>
        <p:spPr bwMode="auto">
          <a:xfrm flipH="1">
            <a:off x="6180534" y="4243252"/>
            <a:ext cx="626411"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Line 65"/>
          <p:cNvSpPr>
            <a:spLocks noChangeShapeType="1"/>
          </p:cNvSpPr>
          <p:nvPr/>
        </p:nvSpPr>
        <p:spPr bwMode="auto">
          <a:xfrm flipH="1">
            <a:off x="7489623" y="2071670"/>
            <a:ext cx="531951" cy="0"/>
          </a:xfrm>
          <a:prstGeom prst="line">
            <a:avLst/>
          </a:prstGeom>
          <a:noFill/>
          <a:ln w="3810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Text Box 66"/>
          <p:cNvSpPr txBox="1">
            <a:spLocks noChangeArrowheads="1"/>
          </p:cNvSpPr>
          <p:nvPr/>
        </p:nvSpPr>
        <p:spPr bwMode="auto">
          <a:xfrm>
            <a:off x="7659096" y="1645297"/>
            <a:ext cx="48772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ea typeface="楷体_GB2312" pitchFamily="49" charset="-122"/>
              </a:rPr>
              <a:t>E</a:t>
            </a:r>
            <a:r>
              <a:rPr lang="en-US" altLang="zh-CN" sz="2000" b="1" baseline="-25000" dirty="0" smtClean="0">
                <a:solidFill>
                  <a:srgbClr val="000066"/>
                </a:solidFill>
                <a:ea typeface="楷体_GB2312" pitchFamily="49" charset="-122"/>
              </a:rPr>
              <a:t>0</a:t>
            </a:r>
            <a:endParaRPr lang="en-US" altLang="zh-CN" sz="2000" b="1" baseline="-25000" dirty="0">
              <a:solidFill>
                <a:srgbClr val="000066"/>
              </a:solidFill>
              <a:ea typeface="楷体_GB2312" pitchFamily="49" charset="-122"/>
            </a:endParaRPr>
          </a:p>
        </p:txBody>
      </p:sp>
      <p:sp>
        <p:nvSpPr>
          <p:cNvPr id="80" name="Text Box 46"/>
          <p:cNvSpPr txBox="1">
            <a:spLocks noChangeArrowheads="1"/>
          </p:cNvSpPr>
          <p:nvPr/>
        </p:nvSpPr>
        <p:spPr bwMode="auto">
          <a:xfrm>
            <a:off x="363383" y="755130"/>
            <a:ext cx="39460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静止土压力发生条件</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1"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§6.2  </a:t>
            </a:r>
            <a:r>
              <a:rPr lang="zh-CN" altLang="en-US" sz="1800" b="1" kern="900" spc="130" dirty="0" smtClean="0">
                <a:solidFill>
                  <a:srgbClr val="000066"/>
                </a:solidFill>
                <a:ea typeface="黑体" panose="02010609060101010101" pitchFamily="49" charset="-122"/>
                <a:cs typeface="Times New Roman" panose="02020603050405020304" pitchFamily="18" charset="0"/>
              </a:rPr>
              <a:t>静止</a:t>
            </a:r>
            <a:r>
              <a:rPr lang="zh-CN" altLang="en-US" sz="1800" b="1" kern="900" spc="130" dirty="0">
                <a:solidFill>
                  <a:srgbClr val="000066"/>
                </a:solidFill>
                <a:ea typeface="黑体" panose="02010609060101010101" pitchFamily="49" charset="-122"/>
                <a:cs typeface="Times New Roman" panose="02020603050405020304" pitchFamily="18" charset="0"/>
              </a:rPr>
              <a:t>土压力计算</a:t>
            </a:r>
          </a:p>
        </p:txBody>
      </p:sp>
      <p:sp>
        <p:nvSpPr>
          <p:cNvPr id="82" name="AutoShape 5"/>
          <p:cNvSpPr>
            <a:spLocks noChangeArrowheads="1"/>
          </p:cNvSpPr>
          <p:nvPr/>
        </p:nvSpPr>
        <p:spPr bwMode="auto">
          <a:xfrm>
            <a:off x="1403626" y="4126829"/>
            <a:ext cx="557523" cy="457665"/>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85" name="Text Box 6"/>
          <p:cNvSpPr txBox="1">
            <a:spLocks noChangeArrowheads="1"/>
          </p:cNvSpPr>
          <p:nvPr/>
        </p:nvSpPr>
        <p:spPr bwMode="auto">
          <a:xfrm>
            <a:off x="2101596" y="4096815"/>
            <a:ext cx="314941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0"/>
              </a:spcAft>
            </a:pPr>
            <a:r>
              <a:rPr lang="zh-CN" altLang="en-US" sz="2200" b="1" dirty="0" smtClean="0">
                <a:solidFill>
                  <a:srgbClr val="000066"/>
                </a:solidFill>
                <a:ea typeface="幼圆" pitchFamily="49" charset="-122"/>
              </a:rPr>
              <a:t>相当于</a:t>
            </a:r>
            <a:r>
              <a:rPr lang="zh-CN" altLang="en-US" sz="2200" b="1" dirty="0">
                <a:solidFill>
                  <a:srgbClr val="C00000"/>
                </a:solidFill>
                <a:latin typeface="黑体" panose="02010609060101010101" pitchFamily="49" charset="-122"/>
                <a:ea typeface="黑体" panose="02010609060101010101" pitchFamily="49" charset="-122"/>
              </a:rPr>
              <a:t>侧限</a:t>
            </a:r>
            <a:r>
              <a:rPr lang="zh-CN" altLang="en-US" sz="2200" b="1" dirty="0" smtClean="0">
                <a:solidFill>
                  <a:srgbClr val="C00000"/>
                </a:solidFill>
                <a:latin typeface="黑体" panose="02010609060101010101" pitchFamily="49" charset="-122"/>
                <a:ea typeface="黑体" panose="02010609060101010101" pitchFamily="49" charset="-122"/>
              </a:rPr>
              <a:t>状态</a:t>
            </a:r>
            <a:r>
              <a:rPr lang="zh-CN" altLang="en-US" sz="2200" b="1" dirty="0">
                <a:solidFill>
                  <a:srgbClr val="000066"/>
                </a:solidFill>
                <a:ea typeface="幼圆" pitchFamily="49" charset="-122"/>
              </a:rPr>
              <a:t>下</a:t>
            </a:r>
            <a:r>
              <a:rPr lang="zh-CN" altLang="en-US" sz="2200" b="1" dirty="0" smtClean="0">
                <a:solidFill>
                  <a:srgbClr val="000066"/>
                </a:solidFill>
                <a:ea typeface="幼圆" pitchFamily="49" charset="-122"/>
              </a:rPr>
              <a:t>天然地基</a:t>
            </a:r>
            <a:r>
              <a:rPr lang="zh-CN" altLang="en-US" sz="2200" b="1" dirty="0">
                <a:solidFill>
                  <a:srgbClr val="000066"/>
                </a:solidFill>
                <a:ea typeface="幼圆" pitchFamily="49" charset="-122"/>
              </a:rPr>
              <a:t>土的</a:t>
            </a:r>
            <a:r>
              <a:rPr lang="zh-CN" altLang="en-US" sz="2200" b="1" dirty="0" smtClean="0">
                <a:solidFill>
                  <a:srgbClr val="000066"/>
                </a:solidFill>
                <a:ea typeface="幼圆" pitchFamily="49" charset="-122"/>
              </a:rPr>
              <a:t>应力状态</a:t>
            </a:r>
            <a:endParaRPr lang="en-US" altLang="zh-CN" sz="2200" b="1" dirty="0">
              <a:solidFill>
                <a:srgbClr val="000066"/>
              </a:solidFill>
              <a:ea typeface="幼圆" pitchFamily="49" charset="-122"/>
            </a:endParaRPr>
          </a:p>
        </p:txBody>
      </p:sp>
      <p:sp>
        <p:nvSpPr>
          <p:cNvPr id="86" name="Text Box 2"/>
          <p:cNvSpPr txBox="1">
            <a:spLocks noChangeArrowheads="1"/>
          </p:cNvSpPr>
          <p:nvPr/>
        </p:nvSpPr>
        <p:spPr bwMode="auto">
          <a:xfrm>
            <a:off x="3008194" y="5701142"/>
            <a:ext cx="39513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静止</a:t>
            </a:r>
            <a:r>
              <a:rPr kumimoji="1" lang="zh-CN" altLang="en-US" sz="4000" b="1" dirty="0" smtClean="0">
                <a:solidFill>
                  <a:srgbClr val="000066"/>
                </a:solidFill>
                <a:latin typeface="黑体" pitchFamily="2" charset="-122"/>
                <a:ea typeface="黑体" pitchFamily="2" charset="-122"/>
              </a:rPr>
              <a:t>土压力计算</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346465733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1000"/>
                                        <p:tgtEl>
                                          <p:spTgt spid="82"/>
                                        </p:tgtEl>
                                      </p:cBhvr>
                                    </p:animEffect>
                                  </p:childTnLst>
                                </p:cTn>
                              </p:par>
                            </p:childTnLst>
                          </p:cTn>
                        </p:par>
                        <p:par>
                          <p:cTn id="8" fill="hold">
                            <p:stCondLst>
                              <p:cond delay="1000"/>
                            </p:stCondLst>
                            <p:childTnLst>
                              <p:par>
                                <p:cTn id="9" presetID="38" presetClass="entr" presetSubtype="0" accel="50000" fill="hold" grpId="0" nodeType="afterEffect">
                                  <p:stCondLst>
                                    <p:cond delay="0"/>
                                  </p:stCondLst>
                                  <p:iterate type="lt">
                                    <p:tmPct val="50000"/>
                                  </p:iterate>
                                  <p:childTnLst>
                                    <p:set>
                                      <p:cBhvr>
                                        <p:cTn id="10" dur="1" fill="hold">
                                          <p:stCondLst>
                                            <p:cond delay="0"/>
                                          </p:stCondLst>
                                        </p:cTn>
                                        <p:tgtEl>
                                          <p:spTgt spid="85"/>
                                        </p:tgtEl>
                                        <p:attrNameLst>
                                          <p:attrName>style.visibility</p:attrName>
                                        </p:attrNameLst>
                                      </p:cBhvr>
                                      <p:to>
                                        <p:strVal val="visible"/>
                                      </p:to>
                                    </p:set>
                                    <p:set>
                                      <p:cBhvr>
                                        <p:cTn id="11" dur="455" fill="hold">
                                          <p:stCondLst>
                                            <p:cond delay="0"/>
                                          </p:stCondLst>
                                        </p:cTn>
                                        <p:tgtEl>
                                          <p:spTgt spid="85"/>
                                        </p:tgtEl>
                                        <p:attrNameLst>
                                          <p:attrName>style.rotation</p:attrName>
                                        </p:attrNameLst>
                                      </p:cBhvr>
                                      <p:to>
                                        <p:strVal val="-45.0"/>
                                      </p:to>
                                    </p:set>
                                    <p:anim calcmode="lin" valueType="num">
                                      <p:cBhvr>
                                        <p:cTn id="12" dur="455" fill="hold">
                                          <p:stCondLst>
                                            <p:cond delay="455"/>
                                          </p:stCondLst>
                                        </p:cTn>
                                        <p:tgtEl>
                                          <p:spTgt spid="85"/>
                                        </p:tgtEl>
                                        <p:attrNameLst>
                                          <p:attrName>style.rotation</p:attrName>
                                        </p:attrNameLst>
                                      </p:cBhvr>
                                      <p:tavLst>
                                        <p:tav tm="0">
                                          <p:val>
                                            <p:fltVal val="-45"/>
                                          </p:val>
                                        </p:tav>
                                        <p:tav tm="69900">
                                          <p:val>
                                            <p:fltVal val="45"/>
                                          </p:val>
                                        </p:tav>
                                        <p:tav tm="100000">
                                          <p:val>
                                            <p:fltVal val="0"/>
                                          </p:val>
                                        </p:tav>
                                      </p:tavLst>
                                    </p:anim>
                                    <p:anim calcmode="lin" valueType="num">
                                      <p:cBhvr>
                                        <p:cTn id="13" dur="455" fill="hold">
                                          <p:stCondLst>
                                            <p:cond delay="0"/>
                                          </p:stCondLst>
                                        </p:cTn>
                                        <p:tgtEl>
                                          <p:spTgt spid="85"/>
                                        </p:tgtEl>
                                        <p:attrNameLst>
                                          <p:attrName>ppt_y</p:attrName>
                                        </p:attrNameLst>
                                      </p:cBhvr>
                                      <p:tavLst>
                                        <p:tav tm="0">
                                          <p:val>
                                            <p:strVal val="#ppt_y-1"/>
                                          </p:val>
                                        </p:tav>
                                        <p:tav tm="100000">
                                          <p:val>
                                            <p:strVal val="#ppt_y-(0.354*#ppt_w-0.172*#ppt_h)"/>
                                          </p:val>
                                        </p:tav>
                                      </p:tavLst>
                                    </p:anim>
                                    <p:anim calcmode="lin" valueType="num">
                                      <p:cBhvr>
                                        <p:cTn id="14" dur="156" decel="50000" autoRev="1" fill="hold">
                                          <p:stCondLst>
                                            <p:cond delay="455"/>
                                          </p:stCondLst>
                                        </p:cTn>
                                        <p:tgtEl>
                                          <p:spTgt spid="85"/>
                                        </p:tgtEl>
                                        <p:attrNameLst>
                                          <p:attrName>ppt_y</p:attrName>
                                        </p:attrNameLst>
                                      </p:cBhvr>
                                      <p:tavLst>
                                        <p:tav tm="0">
                                          <p:val>
                                            <p:strVal val="#ppt_y-(0.354*#ppt_w-0.172*#ppt_h)"/>
                                          </p:val>
                                        </p:tav>
                                        <p:tav tm="100000">
                                          <p:val>
                                            <p:strVal val="#ppt_y-(0.354*#ppt_w-0.172*#ppt_h)-#ppt_h/2"/>
                                          </p:val>
                                        </p:tav>
                                      </p:tavLst>
                                    </p:anim>
                                    <p:anim calcmode="lin" valueType="num">
                                      <p:cBhvr>
                                        <p:cTn id="15" dur="136" fill="hold">
                                          <p:stCondLst>
                                            <p:cond delay="864"/>
                                          </p:stCondLst>
                                        </p:cTn>
                                        <p:tgtEl>
                                          <p:spTgt spid="85"/>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5463214" y="1050203"/>
            <a:ext cx="3496635" cy="1980000"/>
          </a:xfrm>
          <a:prstGeom prst="rect">
            <a:avLst/>
          </a:pr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26</a:t>
            </a:fld>
            <a:endParaRPr lang="zh-CN" altLang="en-US" dirty="0">
              <a:solidFill>
                <a:srgbClr val="C00000"/>
              </a:solidFill>
            </a:endParaRPr>
          </a:p>
        </p:txBody>
      </p:sp>
      <p:sp>
        <p:nvSpPr>
          <p:cNvPr id="80" name="Text Box 46"/>
          <p:cNvSpPr txBox="1">
            <a:spLocks noChangeArrowheads="1"/>
          </p:cNvSpPr>
          <p:nvPr/>
        </p:nvSpPr>
        <p:spPr bwMode="auto">
          <a:xfrm>
            <a:off x="363383" y="764183"/>
            <a:ext cx="39460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基本方法</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1"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§6.2  </a:t>
            </a:r>
            <a:r>
              <a:rPr lang="zh-CN" altLang="en-US" sz="1800" b="1" kern="900" spc="130" dirty="0" smtClean="0">
                <a:solidFill>
                  <a:srgbClr val="000066"/>
                </a:solidFill>
                <a:ea typeface="黑体" panose="02010609060101010101" pitchFamily="49" charset="-122"/>
                <a:cs typeface="Times New Roman" panose="02020603050405020304" pitchFamily="18" charset="0"/>
              </a:rPr>
              <a:t>静止</a:t>
            </a:r>
            <a:r>
              <a:rPr lang="zh-CN" altLang="en-US" sz="1800" b="1" kern="900" spc="130" dirty="0">
                <a:solidFill>
                  <a:srgbClr val="000066"/>
                </a:solidFill>
                <a:ea typeface="黑体" panose="02010609060101010101" pitchFamily="49" charset="-122"/>
                <a:cs typeface="Times New Roman" panose="02020603050405020304" pitchFamily="18" charset="0"/>
              </a:rPr>
              <a:t>土压力计算</a:t>
            </a:r>
          </a:p>
        </p:txBody>
      </p:sp>
      <p:sp>
        <p:nvSpPr>
          <p:cNvPr id="93" name="Rectangle 9"/>
          <p:cNvSpPr>
            <a:spLocks noChangeArrowheads="1"/>
          </p:cNvSpPr>
          <p:nvPr/>
        </p:nvSpPr>
        <p:spPr bwMode="auto">
          <a:xfrm>
            <a:off x="7198462" y="1782025"/>
            <a:ext cx="304800" cy="304800"/>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94" name="Line 10"/>
          <p:cNvSpPr>
            <a:spLocks noChangeShapeType="1"/>
          </p:cNvSpPr>
          <p:nvPr/>
        </p:nvSpPr>
        <p:spPr bwMode="auto">
          <a:xfrm>
            <a:off x="6938928" y="1934425"/>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Line 12"/>
          <p:cNvSpPr>
            <a:spLocks noChangeShapeType="1"/>
          </p:cNvSpPr>
          <p:nvPr/>
        </p:nvSpPr>
        <p:spPr bwMode="auto">
          <a:xfrm rot="16200000">
            <a:off x="7198462" y="2248278"/>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Text Box 14"/>
          <p:cNvSpPr txBox="1">
            <a:spLocks noChangeArrowheads="1"/>
          </p:cNvSpPr>
          <p:nvPr/>
        </p:nvSpPr>
        <p:spPr bwMode="auto">
          <a:xfrm>
            <a:off x="6995513" y="1250132"/>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v</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sp>
        <p:nvSpPr>
          <p:cNvPr id="102" name="Line 18"/>
          <p:cNvSpPr>
            <a:spLocks noChangeShapeType="1"/>
          </p:cNvSpPr>
          <p:nvPr/>
        </p:nvSpPr>
        <p:spPr bwMode="auto">
          <a:xfrm flipH="1">
            <a:off x="5838917" y="1952531"/>
            <a:ext cx="457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9"/>
          <p:cNvSpPr>
            <a:spLocks noChangeShapeType="1"/>
          </p:cNvSpPr>
          <p:nvPr/>
        </p:nvSpPr>
        <p:spPr bwMode="auto">
          <a:xfrm>
            <a:off x="6067517" y="1038131"/>
            <a:ext cx="0" cy="914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Text Box 20"/>
          <p:cNvSpPr txBox="1">
            <a:spLocks noChangeArrowheads="1"/>
          </p:cNvSpPr>
          <p:nvPr/>
        </p:nvSpPr>
        <p:spPr bwMode="auto">
          <a:xfrm>
            <a:off x="6143717" y="1266731"/>
            <a:ext cx="228600"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graphicFrame>
        <p:nvGraphicFramePr>
          <p:cNvPr id="105" name="Object 23"/>
          <p:cNvGraphicFramePr>
            <a:graphicFrameLocks noChangeAspect="1"/>
          </p:cNvGraphicFramePr>
          <p:nvPr>
            <p:extLst>
              <p:ext uri="{D42A27DB-BD31-4B8C-83A1-F6EECF244321}">
                <p14:modId xmlns:p14="http://schemas.microsoft.com/office/powerpoint/2010/main" val="2203303890"/>
              </p:ext>
            </p:extLst>
          </p:nvPr>
        </p:nvGraphicFramePr>
        <p:xfrm>
          <a:off x="1035509" y="1972627"/>
          <a:ext cx="1003601" cy="441686"/>
        </p:xfrm>
        <a:graphic>
          <a:graphicData uri="http://schemas.openxmlformats.org/presentationml/2006/ole">
            <mc:AlternateContent xmlns:mc="http://schemas.openxmlformats.org/markup-compatibility/2006">
              <mc:Choice xmlns:v="urn:schemas-microsoft-com:vml" Requires="v">
                <p:oleObj spid="_x0000_s1743587" name="公式" r:id="rId4" imgW="520560" imgH="228600" progId="Equation.3">
                  <p:embed/>
                </p:oleObj>
              </mc:Choice>
              <mc:Fallback>
                <p:oleObj name="公式" r:id="rId4" imgW="520560" imgH="228600" progId="Equation.3">
                  <p:embed/>
                  <p:pic>
                    <p:nvPicPr>
                      <p:cNvPr id="0" name=""/>
                      <p:cNvPicPr>
                        <a:picLocks noChangeAspect="1" noChangeArrowheads="1"/>
                      </p:cNvPicPr>
                      <p:nvPr/>
                    </p:nvPicPr>
                    <p:blipFill>
                      <a:blip r:embed="rId5"/>
                      <a:srcRect/>
                      <a:stretch>
                        <a:fillRect/>
                      </a:stretch>
                    </p:blipFill>
                    <p:spPr bwMode="auto">
                      <a:xfrm>
                        <a:off x="1035509" y="1972627"/>
                        <a:ext cx="1003601" cy="441686"/>
                      </a:xfrm>
                      <a:prstGeom prst="rect">
                        <a:avLst/>
                      </a:prstGeom>
                      <a:noFill/>
                      <a:ln>
                        <a:noFill/>
                      </a:ln>
                      <a:effectLst/>
                    </p:spPr>
                  </p:pic>
                </p:oleObj>
              </mc:Fallback>
            </mc:AlternateContent>
          </a:graphicData>
        </a:graphic>
      </p:graphicFrame>
      <p:graphicFrame>
        <p:nvGraphicFramePr>
          <p:cNvPr id="106" name="Object 24"/>
          <p:cNvGraphicFramePr>
            <a:graphicFrameLocks noChangeAspect="1"/>
          </p:cNvGraphicFramePr>
          <p:nvPr>
            <p:extLst>
              <p:ext uri="{D42A27DB-BD31-4B8C-83A1-F6EECF244321}">
                <p14:modId xmlns:p14="http://schemas.microsoft.com/office/powerpoint/2010/main" val="3705812576"/>
              </p:ext>
            </p:extLst>
          </p:nvPr>
        </p:nvGraphicFramePr>
        <p:xfrm>
          <a:off x="1085850" y="2578100"/>
          <a:ext cx="1203325" cy="417513"/>
        </p:xfrm>
        <a:graphic>
          <a:graphicData uri="http://schemas.openxmlformats.org/presentationml/2006/ole">
            <mc:AlternateContent xmlns:mc="http://schemas.openxmlformats.org/markup-compatibility/2006">
              <mc:Choice xmlns:v="urn:schemas-microsoft-com:vml" Requires="v">
                <p:oleObj spid="_x0000_s1743588" name="Equation" r:id="rId6" imgW="622080" imgH="215640" progId="Equation.DSMT4">
                  <p:embed/>
                </p:oleObj>
              </mc:Choice>
              <mc:Fallback>
                <p:oleObj name="Equation" r:id="rId6" imgW="622080" imgH="215640" progId="Equation.DSMT4">
                  <p:embed/>
                  <p:pic>
                    <p:nvPicPr>
                      <p:cNvPr id="0" name=""/>
                      <p:cNvPicPr>
                        <a:picLocks noChangeAspect="1" noChangeArrowheads="1"/>
                      </p:cNvPicPr>
                      <p:nvPr/>
                    </p:nvPicPr>
                    <p:blipFill>
                      <a:blip r:embed="rId7"/>
                      <a:srcRect/>
                      <a:stretch>
                        <a:fillRect/>
                      </a:stretch>
                    </p:blipFill>
                    <p:spPr bwMode="auto">
                      <a:xfrm>
                        <a:off x="1085850" y="2578100"/>
                        <a:ext cx="1203325" cy="417513"/>
                      </a:xfrm>
                      <a:prstGeom prst="rect">
                        <a:avLst/>
                      </a:prstGeom>
                      <a:noFill/>
                      <a:ln>
                        <a:noFill/>
                      </a:ln>
                      <a:effectLst/>
                    </p:spPr>
                  </p:pic>
                </p:oleObj>
              </mc:Fallback>
            </mc:AlternateContent>
          </a:graphicData>
        </a:graphic>
      </p:graphicFrame>
      <p:graphicFrame>
        <p:nvGraphicFramePr>
          <p:cNvPr id="107" name="Object 26"/>
          <p:cNvGraphicFramePr>
            <a:graphicFrameLocks noChangeAspect="1"/>
          </p:cNvGraphicFramePr>
          <p:nvPr>
            <p:extLst>
              <p:ext uri="{D42A27DB-BD31-4B8C-83A1-F6EECF244321}">
                <p14:modId xmlns:p14="http://schemas.microsoft.com/office/powerpoint/2010/main" val="2426784962"/>
              </p:ext>
            </p:extLst>
          </p:nvPr>
        </p:nvGraphicFramePr>
        <p:xfrm>
          <a:off x="1042988" y="4494213"/>
          <a:ext cx="1990725" cy="441325"/>
        </p:xfrm>
        <a:graphic>
          <a:graphicData uri="http://schemas.openxmlformats.org/presentationml/2006/ole">
            <mc:AlternateContent xmlns:mc="http://schemas.openxmlformats.org/markup-compatibility/2006">
              <mc:Choice xmlns:v="urn:schemas-microsoft-com:vml" Requires="v">
                <p:oleObj spid="_x0000_s1743589" name="Equation" r:id="rId8" imgW="1028520" imgH="228600" progId="Equation.DSMT4">
                  <p:embed/>
                </p:oleObj>
              </mc:Choice>
              <mc:Fallback>
                <p:oleObj name="Equation" r:id="rId8" imgW="1028520" imgH="228600" progId="Equation.DSMT4">
                  <p:embed/>
                  <p:pic>
                    <p:nvPicPr>
                      <p:cNvPr id="0" name=""/>
                      <p:cNvPicPr>
                        <a:picLocks noChangeAspect="1" noChangeArrowheads="1"/>
                      </p:cNvPicPr>
                      <p:nvPr/>
                    </p:nvPicPr>
                    <p:blipFill>
                      <a:blip r:embed="rId9"/>
                      <a:srcRect/>
                      <a:stretch>
                        <a:fillRect/>
                      </a:stretch>
                    </p:blipFill>
                    <p:spPr bwMode="auto">
                      <a:xfrm>
                        <a:off x="1042988" y="4494213"/>
                        <a:ext cx="1990725" cy="441325"/>
                      </a:xfrm>
                      <a:prstGeom prst="rect">
                        <a:avLst/>
                      </a:prstGeom>
                      <a:noFill/>
                      <a:ln>
                        <a:noFill/>
                      </a:ln>
                      <a:effectLst/>
                    </p:spPr>
                  </p:pic>
                </p:oleObj>
              </mc:Fallback>
            </mc:AlternateContent>
          </a:graphicData>
        </a:graphic>
      </p:graphicFrame>
      <p:cxnSp>
        <p:nvCxnSpPr>
          <p:cNvPr id="4" name="直接连接符 3"/>
          <p:cNvCxnSpPr/>
          <p:nvPr/>
        </p:nvCxnSpPr>
        <p:spPr bwMode="auto">
          <a:xfrm>
            <a:off x="5445108" y="1050193"/>
            <a:ext cx="351474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14"/>
          <p:cNvSpPr txBox="1">
            <a:spLocks noChangeArrowheads="1"/>
          </p:cNvSpPr>
          <p:nvPr/>
        </p:nvSpPr>
        <p:spPr bwMode="auto">
          <a:xfrm>
            <a:off x="6521747" y="1746565"/>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h</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grpSp>
        <p:nvGrpSpPr>
          <p:cNvPr id="113" name="Group 12"/>
          <p:cNvGrpSpPr>
            <a:grpSpLocks/>
          </p:cNvGrpSpPr>
          <p:nvPr/>
        </p:nvGrpSpPr>
        <p:grpSpPr bwMode="auto">
          <a:xfrm>
            <a:off x="6434140" y="1045293"/>
            <a:ext cx="454614" cy="82278"/>
            <a:chOff x="2274" y="1204"/>
            <a:chExt cx="270" cy="44"/>
          </a:xfrm>
        </p:grpSpPr>
        <p:sp>
          <p:nvSpPr>
            <p:cNvPr id="114"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 name="任意多边形 128"/>
          <p:cNvSpPr/>
          <p:nvPr/>
        </p:nvSpPr>
        <p:spPr bwMode="auto">
          <a:xfrm flipH="1">
            <a:off x="7509036" y="1050194"/>
            <a:ext cx="1010750" cy="1980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7" name="Line 13"/>
          <p:cNvSpPr>
            <a:spLocks noChangeShapeType="1"/>
          </p:cNvSpPr>
          <p:nvPr/>
        </p:nvSpPr>
        <p:spPr bwMode="auto">
          <a:xfrm rot="5400000">
            <a:off x="7198462" y="1629625"/>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Line 10"/>
          <p:cNvSpPr>
            <a:spLocks noChangeShapeType="1"/>
          </p:cNvSpPr>
          <p:nvPr/>
        </p:nvSpPr>
        <p:spPr bwMode="auto">
          <a:xfrm rot="10800000">
            <a:off x="7498734" y="1951023"/>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 name="Text Box 4"/>
          <p:cNvSpPr txBox="1">
            <a:spLocks noChangeArrowheads="1"/>
          </p:cNvSpPr>
          <p:nvPr/>
        </p:nvSpPr>
        <p:spPr bwMode="auto">
          <a:xfrm>
            <a:off x="629712" y="1427318"/>
            <a:ext cx="452673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00000"/>
              </a:lnSpc>
              <a:buClr>
                <a:srgbClr val="A50021"/>
              </a:buClr>
              <a:buFont typeface="Wingdings" panose="05000000000000000000" pitchFamily="2" charset="2"/>
              <a:buChar char="Ø"/>
            </a:pPr>
            <a:r>
              <a:rPr lang="zh-CN" altLang="en-US" sz="2200" b="1" dirty="0" smtClean="0">
                <a:solidFill>
                  <a:srgbClr val="000066"/>
                </a:solidFill>
                <a:ea typeface="幼圆" pitchFamily="49" charset="-122"/>
              </a:rPr>
              <a:t> 侧</a:t>
            </a:r>
            <a:r>
              <a:rPr lang="zh-CN" altLang="en-US" sz="2200" b="1" dirty="0">
                <a:solidFill>
                  <a:srgbClr val="000066"/>
                </a:solidFill>
                <a:ea typeface="幼圆" pitchFamily="49" charset="-122"/>
              </a:rPr>
              <a:t>限状态</a:t>
            </a:r>
            <a:r>
              <a:rPr lang="zh-CN" altLang="en-US" sz="2200" b="1" dirty="0" smtClean="0">
                <a:solidFill>
                  <a:srgbClr val="000066"/>
                </a:solidFill>
                <a:ea typeface="幼圆" pitchFamily="49" charset="-122"/>
              </a:rPr>
              <a:t>下地基</a:t>
            </a:r>
            <a:r>
              <a:rPr lang="zh-CN" altLang="en-US" sz="2200" b="1" dirty="0">
                <a:solidFill>
                  <a:srgbClr val="000066"/>
                </a:solidFill>
                <a:ea typeface="幼圆" pitchFamily="49" charset="-122"/>
              </a:rPr>
              <a:t>土的</a:t>
            </a:r>
            <a:r>
              <a:rPr lang="zh-CN" altLang="en-US" sz="2200" b="1" dirty="0" smtClean="0">
                <a:solidFill>
                  <a:srgbClr val="000066"/>
                </a:solidFill>
                <a:ea typeface="幼圆" pitchFamily="49" charset="-122"/>
              </a:rPr>
              <a:t>应力状态</a:t>
            </a:r>
            <a:endParaRPr lang="zh-CN" altLang="en-US" sz="2200" b="1" dirty="0">
              <a:solidFill>
                <a:srgbClr val="000066"/>
              </a:solidFill>
              <a:ea typeface="幼圆" pitchFamily="49" charset="-122"/>
            </a:endParaRPr>
          </a:p>
        </p:txBody>
      </p:sp>
      <p:sp>
        <p:nvSpPr>
          <p:cNvPr id="132" name="Text Box 4"/>
          <p:cNvSpPr txBox="1">
            <a:spLocks noChangeArrowheads="1"/>
          </p:cNvSpPr>
          <p:nvPr/>
        </p:nvSpPr>
        <p:spPr bwMode="auto">
          <a:xfrm>
            <a:off x="623191" y="3846787"/>
            <a:ext cx="31469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00000"/>
              </a:lnSpc>
              <a:buClr>
                <a:srgbClr val="A50021"/>
              </a:buClr>
              <a:buFont typeface="Wingdings" panose="05000000000000000000" pitchFamily="2" charset="2"/>
              <a:buChar char="Ø"/>
            </a:pPr>
            <a:r>
              <a:rPr lang="zh-CN" altLang="en-US" sz="2200" b="1" dirty="0" smtClean="0">
                <a:solidFill>
                  <a:srgbClr val="000066"/>
                </a:solidFill>
                <a:ea typeface="幼圆" pitchFamily="49" charset="-122"/>
              </a:rPr>
              <a:t> 静止土压力强度 </a:t>
            </a:r>
            <a:r>
              <a:rPr lang="en-US" altLang="zh-CN" sz="2200" b="1" i="1" dirty="0" smtClean="0">
                <a:solidFill>
                  <a:srgbClr val="000066"/>
                </a:solidFill>
                <a:ea typeface="幼圆" pitchFamily="49" charset="-122"/>
              </a:rPr>
              <a:t>p</a:t>
            </a:r>
            <a:r>
              <a:rPr lang="en-US" altLang="zh-CN" sz="2200" b="1" baseline="-25000" dirty="0" smtClean="0">
                <a:solidFill>
                  <a:srgbClr val="000066"/>
                </a:solidFill>
                <a:ea typeface="幼圆" pitchFamily="49" charset="-122"/>
              </a:rPr>
              <a:t>0</a:t>
            </a:r>
            <a:endParaRPr lang="zh-CN" altLang="en-US" sz="2200" b="1" baseline="-25000" dirty="0">
              <a:solidFill>
                <a:srgbClr val="000066"/>
              </a:solidFill>
              <a:ea typeface="幼圆" pitchFamily="49" charset="-122"/>
            </a:endParaRPr>
          </a:p>
        </p:txBody>
      </p:sp>
      <p:grpSp>
        <p:nvGrpSpPr>
          <p:cNvPr id="3" name="组合 2"/>
          <p:cNvGrpSpPr/>
          <p:nvPr/>
        </p:nvGrpSpPr>
        <p:grpSpPr>
          <a:xfrm>
            <a:off x="5793111" y="3366100"/>
            <a:ext cx="3121173" cy="2132013"/>
            <a:chOff x="5793111" y="3366100"/>
            <a:chExt cx="3121173" cy="2132013"/>
          </a:xfrm>
        </p:grpSpPr>
        <p:grpSp>
          <p:nvGrpSpPr>
            <p:cNvPr id="134" name="组合 133"/>
            <p:cNvGrpSpPr/>
            <p:nvPr/>
          </p:nvGrpSpPr>
          <p:grpSpPr>
            <a:xfrm>
              <a:off x="5793111" y="3366100"/>
              <a:ext cx="3121173" cy="2132013"/>
              <a:chOff x="1274908" y="2271446"/>
              <a:chExt cx="3121173" cy="2132013"/>
            </a:xfrm>
          </p:grpSpPr>
          <p:sp>
            <p:nvSpPr>
              <p:cNvPr id="135" name="Line 4"/>
              <p:cNvSpPr>
                <a:spLocks noChangeShapeType="1"/>
              </p:cNvSpPr>
              <p:nvPr/>
            </p:nvSpPr>
            <p:spPr bwMode="auto">
              <a:xfrm>
                <a:off x="1274908" y="4000234"/>
                <a:ext cx="301481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6" name="Line 5"/>
              <p:cNvSpPr>
                <a:spLocks noChangeShapeType="1"/>
              </p:cNvSpPr>
              <p:nvPr/>
            </p:nvSpPr>
            <p:spPr bwMode="auto">
              <a:xfrm flipV="1">
                <a:off x="1284580" y="2496570"/>
                <a:ext cx="0" cy="150593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7" name="Text Box 6"/>
              <p:cNvSpPr txBox="1">
                <a:spLocks noChangeArrowheads="1"/>
              </p:cNvSpPr>
              <p:nvPr/>
            </p:nvSpPr>
            <p:spPr bwMode="auto">
              <a:xfrm>
                <a:off x="4010318" y="3946259"/>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sp>
            <p:nvSpPr>
              <p:cNvPr id="138" name="Text Box 7"/>
              <p:cNvSpPr txBox="1">
                <a:spLocks noChangeArrowheads="1"/>
              </p:cNvSpPr>
              <p:nvPr/>
            </p:nvSpPr>
            <p:spPr bwMode="auto">
              <a:xfrm>
                <a:off x="1315656" y="2271446"/>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grpSp>
        <p:grpSp>
          <p:nvGrpSpPr>
            <p:cNvPr id="140" name="组合 139"/>
            <p:cNvGrpSpPr/>
            <p:nvPr/>
          </p:nvGrpSpPr>
          <p:grpSpPr>
            <a:xfrm>
              <a:off x="5793111" y="3476891"/>
              <a:ext cx="2849710" cy="1303329"/>
              <a:chOff x="1274908" y="2382237"/>
              <a:chExt cx="2849710" cy="1303329"/>
            </a:xfrm>
          </p:grpSpPr>
          <p:sp>
            <p:nvSpPr>
              <p:cNvPr id="142" name="Line 10"/>
              <p:cNvSpPr>
                <a:spLocks noChangeShapeType="1"/>
              </p:cNvSpPr>
              <p:nvPr/>
            </p:nvSpPr>
            <p:spPr bwMode="auto">
              <a:xfrm flipV="1">
                <a:off x="1274908" y="2607996"/>
                <a:ext cx="2849710" cy="1077570"/>
              </a:xfrm>
              <a:prstGeom prst="line">
                <a:avLst/>
              </a:prstGeom>
              <a:noFill/>
              <a:ln w="254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 name="Line 16"/>
              <p:cNvSpPr>
                <a:spLocks noChangeShapeType="1"/>
              </p:cNvSpPr>
              <p:nvPr/>
            </p:nvSpPr>
            <p:spPr bwMode="auto">
              <a:xfrm flipH="1" flipV="1">
                <a:off x="2795889" y="2725906"/>
                <a:ext cx="45267" cy="2987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 name="Text Box 17"/>
              <p:cNvSpPr txBox="1">
                <a:spLocks noChangeArrowheads="1"/>
              </p:cNvSpPr>
              <p:nvPr/>
            </p:nvSpPr>
            <p:spPr bwMode="auto">
              <a:xfrm>
                <a:off x="2067501" y="2382237"/>
                <a:ext cx="1535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000066"/>
                    </a:solidFill>
                    <a:ea typeface="幼圆" pitchFamily="49" charset="-122"/>
                    <a:cs typeface="Times New Roman" panose="02020603050405020304" pitchFamily="18" charset="0"/>
                    <a:sym typeface="Symbol" pitchFamily="18" charset="2"/>
                  </a:rPr>
                  <a:t></a:t>
                </a:r>
                <a:r>
                  <a:rPr lang="en-US" altLang="zh-CN" sz="2000" b="1" baseline="-25000" dirty="0" smtClean="0">
                    <a:solidFill>
                      <a:srgbClr val="000066"/>
                    </a:solidFill>
                    <a:ea typeface="幼圆" pitchFamily="49" charset="-122"/>
                    <a:cs typeface="Times New Roman" panose="02020603050405020304" pitchFamily="18" charset="0"/>
                    <a:sym typeface="Symbol" pitchFamily="18" charset="2"/>
                  </a:rPr>
                  <a:t>f</a:t>
                </a:r>
                <a:r>
                  <a:rPr lang="en-US" altLang="zh-CN" sz="2000" b="1" i="1" baseline="-25000"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a:t>
                </a:r>
                <a:r>
                  <a:rPr lang="en-US" altLang="zh-CN" sz="2000" b="1" i="1" dirty="0">
                    <a:solidFill>
                      <a:srgbClr val="000066"/>
                    </a:solidFill>
                    <a:ea typeface="幼圆" pitchFamily="49" charset="-122"/>
                    <a:cs typeface="Times New Roman" panose="02020603050405020304" pitchFamily="18" charset="0"/>
                  </a:rPr>
                  <a:t>c</a:t>
                </a:r>
                <a:r>
                  <a:rPr lang="en-US" altLang="zh-CN" sz="2000" b="1" dirty="0">
                    <a:solidFill>
                      <a:srgbClr val="000066"/>
                    </a:solidFill>
                    <a:ea typeface="幼圆" pitchFamily="49" charset="-122"/>
                    <a:cs typeface="Times New Roman" panose="02020603050405020304" pitchFamily="18" charset="0"/>
                  </a:rPr>
                  <a:t>+</a:t>
                </a:r>
                <a:r>
                  <a:rPr lang="en-US" altLang="zh-CN" sz="2000" b="1" i="1"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tan</a:t>
                </a:r>
                <a:r>
                  <a:rPr lang="en-US" altLang="zh-CN" sz="2000" b="1" i="1" dirty="0" smtClean="0">
                    <a:solidFill>
                      <a:srgbClr val="000066"/>
                    </a:solidFill>
                    <a:ea typeface="幼圆" pitchFamily="49" charset="-122"/>
                    <a:cs typeface="Times New Roman" panose="02020603050405020304" pitchFamily="18" charset="0"/>
                    <a:sym typeface="Symbol"/>
                  </a:rPr>
                  <a:t></a:t>
                </a:r>
                <a:endParaRPr lang="zh-CN" altLang="en-US" sz="2000" b="1" i="1" dirty="0">
                  <a:solidFill>
                    <a:srgbClr val="000066"/>
                  </a:solidFill>
                  <a:ea typeface="幼圆" pitchFamily="49" charset="-122"/>
                  <a:cs typeface="Times New Roman" panose="02020603050405020304" pitchFamily="18" charset="0"/>
                  <a:sym typeface="Symbol" pitchFamily="18" charset="2"/>
                </a:endParaRPr>
              </a:p>
            </p:txBody>
          </p:sp>
        </p:grpSp>
        <p:grpSp>
          <p:nvGrpSpPr>
            <p:cNvPr id="155" name="组合 154"/>
            <p:cNvGrpSpPr/>
            <p:nvPr/>
          </p:nvGrpSpPr>
          <p:grpSpPr>
            <a:xfrm>
              <a:off x="6345735" y="4658311"/>
              <a:ext cx="1448991" cy="810563"/>
              <a:chOff x="1586222" y="3398140"/>
              <a:chExt cx="2038356" cy="1140253"/>
            </a:xfrm>
          </p:grpSpPr>
          <p:grpSp>
            <p:nvGrpSpPr>
              <p:cNvPr id="156" name="Group 18"/>
              <p:cNvGrpSpPr>
                <a:grpSpLocks/>
              </p:cNvGrpSpPr>
              <p:nvPr/>
            </p:nvGrpSpPr>
            <p:grpSpPr bwMode="auto">
              <a:xfrm>
                <a:off x="1586222" y="3944669"/>
                <a:ext cx="2038356" cy="593724"/>
                <a:chOff x="3751" y="1477"/>
                <a:chExt cx="1284" cy="374"/>
              </a:xfrm>
            </p:grpSpPr>
            <p:sp>
              <p:nvSpPr>
                <p:cNvPr id="158" name="Text Box 19"/>
                <p:cNvSpPr txBox="1">
                  <a:spLocks noChangeArrowheads="1"/>
                </p:cNvSpPr>
                <p:nvPr/>
              </p:nvSpPr>
              <p:spPr bwMode="auto">
                <a:xfrm>
                  <a:off x="4649" y="1477"/>
                  <a:ext cx="386"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a:t>
                  </a:r>
                  <a:endParaRPr lang="en-US" altLang="zh-CN" sz="2000" b="1" baseline="-25000" dirty="0">
                    <a:solidFill>
                      <a:srgbClr val="000066"/>
                    </a:solidFill>
                    <a:cs typeface="Times New Roman" panose="02020603050405020304" pitchFamily="18" charset="0"/>
                    <a:sym typeface="Symbol" pitchFamily="18" charset="2"/>
                  </a:endParaRPr>
                </a:p>
              </p:txBody>
            </p:sp>
            <p:sp>
              <p:nvSpPr>
                <p:cNvPr id="159" name="Text Box 20"/>
                <p:cNvSpPr txBox="1">
                  <a:spLocks noChangeArrowheads="1"/>
                </p:cNvSpPr>
                <p:nvPr/>
              </p:nvSpPr>
              <p:spPr bwMode="auto">
                <a:xfrm>
                  <a:off x="3751" y="1496"/>
                  <a:ext cx="78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en-US" altLang="zh-CN" sz="2000" b="1" i="1" dirty="0">
                      <a:solidFill>
                        <a:srgbClr val="000066"/>
                      </a:solidFill>
                      <a:cs typeface="Times New Roman" panose="02020603050405020304" pitchFamily="18" charset="0"/>
                      <a:sym typeface="Symbol" pitchFamily="18" charset="2"/>
                    </a:rPr>
                    <a:t>p</a:t>
                  </a:r>
                  <a:r>
                    <a:rPr lang="en-US" altLang="zh-CN" sz="2000" b="1" baseline="-25000" dirty="0" smtClean="0">
                      <a:solidFill>
                        <a:srgbClr val="000066"/>
                      </a:solidFill>
                      <a:cs typeface="Times New Roman" panose="02020603050405020304" pitchFamily="18" charset="0"/>
                      <a:sym typeface="Symbol" pitchFamily="18" charset="2"/>
                    </a:rPr>
                    <a:t>0</a:t>
                  </a:r>
                  <a:r>
                    <a:rPr lang="en-US" altLang="zh-CN" sz="2000" b="1" i="1" dirty="0" smtClean="0">
                      <a:solidFill>
                        <a:srgbClr val="000066"/>
                      </a:solidFill>
                      <a:cs typeface="Times New Roman" panose="02020603050405020304" pitchFamily="18" charset="0"/>
                      <a:sym typeface="Symbol" pitchFamily="18" charset="2"/>
                    </a:rPr>
                    <a:t>=</a:t>
                  </a: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h</a:t>
                  </a:r>
                  <a:endParaRPr lang="en-US" altLang="zh-CN" sz="2000" b="1" baseline="-25000" dirty="0">
                    <a:solidFill>
                      <a:srgbClr val="000066"/>
                    </a:solidFill>
                    <a:cs typeface="Times New Roman" panose="02020603050405020304" pitchFamily="18" charset="0"/>
                    <a:sym typeface="Symbol" pitchFamily="18" charset="2"/>
                  </a:endParaRPr>
                </a:p>
              </p:txBody>
            </p:sp>
          </p:grpSp>
          <p:sp>
            <p:nvSpPr>
              <p:cNvPr id="157" name="Arc 29"/>
              <p:cNvSpPr>
                <a:spLocks/>
              </p:cNvSpPr>
              <p:nvPr/>
            </p:nvSpPr>
            <p:spPr bwMode="auto">
              <a:xfrm flipH="1" flipV="1">
                <a:off x="2097892" y="3398140"/>
                <a:ext cx="1176513" cy="602091"/>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28575">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5" name="组合 4"/>
          <p:cNvGrpSpPr/>
          <p:nvPr/>
        </p:nvGrpSpPr>
        <p:grpSpPr>
          <a:xfrm>
            <a:off x="1671173" y="2602519"/>
            <a:ext cx="488217" cy="703385"/>
            <a:chOff x="1671173" y="2602519"/>
            <a:chExt cx="488217" cy="703385"/>
          </a:xfrm>
        </p:grpSpPr>
        <p:sp>
          <p:nvSpPr>
            <p:cNvPr id="8" name="矩形 7"/>
            <p:cNvSpPr/>
            <p:nvPr/>
          </p:nvSpPr>
          <p:spPr bwMode="auto">
            <a:xfrm>
              <a:off x="1671173" y="2602519"/>
              <a:ext cx="333473" cy="386862"/>
            </a:xfrm>
            <a:prstGeom prst="rect">
              <a:avLst/>
            </a:pr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任意多边形 8"/>
            <p:cNvSpPr/>
            <p:nvPr/>
          </p:nvSpPr>
          <p:spPr bwMode="auto">
            <a:xfrm>
              <a:off x="1835834" y="2996414"/>
              <a:ext cx="323556" cy="309490"/>
            </a:xfrm>
            <a:custGeom>
              <a:avLst/>
              <a:gdLst>
                <a:gd name="connsiteX0" fmla="*/ 0 w 414996"/>
                <a:gd name="connsiteY0" fmla="*/ 0 h 309490"/>
                <a:gd name="connsiteX1" fmla="*/ 0 w 414996"/>
                <a:gd name="connsiteY1" fmla="*/ 309490 h 309490"/>
                <a:gd name="connsiteX2" fmla="*/ 414996 w 414996"/>
                <a:gd name="connsiteY2" fmla="*/ 309490 h 309490"/>
              </a:gdLst>
              <a:ahLst/>
              <a:cxnLst>
                <a:cxn ang="0">
                  <a:pos x="connsiteX0" y="connsiteY0"/>
                </a:cxn>
                <a:cxn ang="0">
                  <a:pos x="connsiteX1" y="connsiteY1"/>
                </a:cxn>
                <a:cxn ang="0">
                  <a:pos x="connsiteX2" y="connsiteY2"/>
                </a:cxn>
              </a:cxnLst>
              <a:rect l="l" t="t" r="r" b="b"/>
              <a:pathLst>
                <a:path w="414996" h="309490">
                  <a:moveTo>
                    <a:pt x="0" y="0"/>
                  </a:moveTo>
                  <a:lnTo>
                    <a:pt x="0" y="309490"/>
                  </a:lnTo>
                  <a:lnTo>
                    <a:pt x="414996" y="309490"/>
                  </a:lnTo>
                </a:path>
              </a:pathLst>
            </a:cu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1" name="组合 10"/>
          <p:cNvGrpSpPr/>
          <p:nvPr/>
        </p:nvGrpSpPr>
        <p:grpSpPr>
          <a:xfrm>
            <a:off x="2142065" y="2996415"/>
            <a:ext cx="2980873" cy="645244"/>
            <a:chOff x="2142065" y="2996415"/>
            <a:chExt cx="2980873" cy="645244"/>
          </a:xfrm>
        </p:grpSpPr>
        <p:graphicFrame>
          <p:nvGraphicFramePr>
            <p:cNvPr id="131" name="Object 24"/>
            <p:cNvGraphicFramePr>
              <a:graphicFrameLocks noChangeAspect="1"/>
            </p:cNvGraphicFramePr>
            <p:nvPr>
              <p:extLst>
                <p:ext uri="{D42A27DB-BD31-4B8C-83A1-F6EECF244321}">
                  <p14:modId xmlns:p14="http://schemas.microsoft.com/office/powerpoint/2010/main" val="1746104792"/>
                </p:ext>
              </p:extLst>
            </p:nvPr>
          </p:nvGraphicFramePr>
          <p:xfrm>
            <a:off x="4074547" y="2996415"/>
            <a:ext cx="1048391" cy="645244"/>
          </p:xfrm>
          <a:graphic>
            <a:graphicData uri="http://schemas.openxmlformats.org/presentationml/2006/ole">
              <mc:AlternateContent xmlns:mc="http://schemas.openxmlformats.org/markup-compatibility/2006">
                <mc:Choice xmlns:v="urn:schemas-microsoft-com:vml" Requires="v">
                  <p:oleObj spid="_x0000_s1743590" name="公式" r:id="rId10" imgW="660240" imgH="406080" progId="Equation.3">
                    <p:embed/>
                  </p:oleObj>
                </mc:Choice>
                <mc:Fallback>
                  <p:oleObj name="公式" r:id="rId10" imgW="660240" imgH="406080" progId="Equation.3">
                    <p:embed/>
                    <p:pic>
                      <p:nvPicPr>
                        <p:cNvPr id="0" name=""/>
                        <p:cNvPicPr>
                          <a:picLocks noChangeAspect="1" noChangeArrowheads="1"/>
                        </p:cNvPicPr>
                        <p:nvPr/>
                      </p:nvPicPr>
                      <p:blipFill>
                        <a:blip r:embed="rId11"/>
                        <a:srcRect/>
                        <a:stretch>
                          <a:fillRect/>
                        </a:stretch>
                      </p:blipFill>
                      <p:spPr bwMode="auto">
                        <a:xfrm>
                          <a:off x="4074547" y="2996415"/>
                          <a:ext cx="1048391" cy="645244"/>
                        </a:xfrm>
                        <a:prstGeom prst="rect">
                          <a:avLst/>
                        </a:prstGeom>
                        <a:noFill/>
                        <a:ln>
                          <a:noFill/>
                        </a:ln>
                        <a:effectLst/>
                      </p:spPr>
                    </p:pic>
                  </p:oleObj>
                </mc:Fallback>
              </mc:AlternateContent>
            </a:graphicData>
          </a:graphic>
        </p:graphicFrame>
        <p:sp>
          <p:nvSpPr>
            <p:cNvPr id="10" name="矩形 9"/>
            <p:cNvSpPr/>
            <p:nvPr/>
          </p:nvSpPr>
          <p:spPr>
            <a:xfrm>
              <a:off x="2142065" y="3083103"/>
              <a:ext cx="1991251" cy="414794"/>
            </a:xfrm>
            <a:prstGeom prst="rect">
              <a:avLst/>
            </a:prstGeom>
          </p:spPr>
          <p:txBody>
            <a:bodyPr wrap="none">
              <a:spAutoFit/>
            </a:bodyPr>
            <a:lstStyle/>
            <a:p>
              <a:r>
                <a:rPr lang="zh-CN" altLang="en-US" sz="2000" b="1" dirty="0">
                  <a:solidFill>
                    <a:srgbClr val="000066"/>
                  </a:solidFill>
                  <a:ea typeface="幼圆" pitchFamily="49" charset="-122"/>
                </a:rPr>
                <a:t>静止土压力系数</a:t>
              </a:r>
              <a:endParaRPr lang="zh-CN" altLang="en-US" sz="2000" dirty="0"/>
            </a:p>
          </p:txBody>
        </p:sp>
      </p:grpSp>
      <p:sp>
        <p:nvSpPr>
          <p:cNvPr id="61" name="Text Box 2"/>
          <p:cNvSpPr txBox="1">
            <a:spLocks noChangeArrowheads="1"/>
          </p:cNvSpPr>
          <p:nvPr/>
        </p:nvSpPr>
        <p:spPr bwMode="auto">
          <a:xfrm>
            <a:off x="3008194" y="5701142"/>
            <a:ext cx="39513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静止</a:t>
            </a:r>
            <a:r>
              <a:rPr kumimoji="1" lang="zh-CN" altLang="en-US" sz="4000" b="1" dirty="0" smtClean="0">
                <a:solidFill>
                  <a:srgbClr val="000066"/>
                </a:solidFill>
                <a:latin typeface="黑体" pitchFamily="2" charset="-122"/>
                <a:ea typeface="黑体" pitchFamily="2" charset="-122"/>
              </a:rPr>
              <a:t>土压力计算</a:t>
            </a:r>
            <a:endParaRPr kumimoji="1" lang="zh-CN" altLang="en-US" sz="4000" b="1" dirty="0">
              <a:solidFill>
                <a:srgbClr val="000066"/>
              </a:solidFill>
              <a:latin typeface="黑体" pitchFamily="2" charset="-122"/>
              <a:ea typeface="黑体" pitchFamily="2" charset="-122"/>
            </a:endParaRPr>
          </a:p>
        </p:txBody>
      </p:sp>
      <p:grpSp>
        <p:nvGrpSpPr>
          <p:cNvPr id="65" name="Group 12"/>
          <p:cNvGrpSpPr>
            <a:grpSpLocks/>
          </p:cNvGrpSpPr>
          <p:nvPr/>
        </p:nvGrpSpPr>
        <p:grpSpPr bwMode="auto">
          <a:xfrm>
            <a:off x="8237540" y="1051643"/>
            <a:ext cx="454614" cy="82278"/>
            <a:chOff x="2274" y="1204"/>
            <a:chExt cx="270" cy="44"/>
          </a:xfrm>
        </p:grpSpPr>
        <p:sp>
          <p:nvSpPr>
            <p:cNvPr id="66"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11934028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132"/>
                                        </p:tgtEl>
                                        <p:attrNameLst>
                                          <p:attrName>style.visibility</p:attrName>
                                        </p:attrNameLst>
                                      </p:cBhvr>
                                      <p:to>
                                        <p:strVal val="visible"/>
                                      </p:to>
                                    </p:set>
                                    <p:animEffect transition="in" filter="slide(fromLeft)">
                                      <p:cBhvr>
                                        <p:cTn id="16" dur="500"/>
                                        <p:tgtEl>
                                          <p:spTgt spid="13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29"/>
                                        </p:tgtEl>
                                        <p:attrNameLst>
                                          <p:attrName>style.visibility</p:attrName>
                                        </p:attrNameLst>
                                      </p:cBhvr>
                                      <p:to>
                                        <p:strVal val="visible"/>
                                      </p:to>
                                    </p:set>
                                    <p:animEffect transition="in" filter="wipe(left)">
                                      <p:cBhvr>
                                        <p:cTn id="20" dur="500"/>
                                        <p:tgtEl>
                                          <p:spTgt spid="1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7"/>
                                        </p:tgtEl>
                                        <p:attrNameLst>
                                          <p:attrName>style.visibility</p:attrName>
                                        </p:attrNameLst>
                                      </p:cBhvr>
                                      <p:to>
                                        <p:strVal val="visible"/>
                                      </p:to>
                                    </p:set>
                                    <p:animEffect transition="in" filter="wipe(left)">
                                      <p:cBhvr>
                                        <p:cTn id="25" dur="500"/>
                                        <p:tgtEl>
                                          <p:spTgt spid="10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27</a:t>
            </a:fld>
            <a:endParaRPr lang="zh-CN" altLang="en-US" dirty="0">
              <a:solidFill>
                <a:srgbClr val="C00000"/>
              </a:solidFill>
            </a:endParaRPr>
          </a:p>
        </p:txBody>
      </p:sp>
      <p:sp>
        <p:nvSpPr>
          <p:cNvPr id="80" name="Text Box 46"/>
          <p:cNvSpPr txBox="1">
            <a:spLocks noChangeArrowheads="1"/>
          </p:cNvSpPr>
          <p:nvPr/>
        </p:nvSpPr>
        <p:spPr bwMode="auto">
          <a:xfrm>
            <a:off x="363383" y="757149"/>
            <a:ext cx="48785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静止土压力分布及总土压力</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1"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§6.2  </a:t>
            </a:r>
            <a:r>
              <a:rPr lang="zh-CN" altLang="en-US" sz="1800" b="1" kern="900" spc="130" dirty="0" smtClean="0">
                <a:solidFill>
                  <a:srgbClr val="000066"/>
                </a:solidFill>
                <a:ea typeface="黑体" panose="02010609060101010101" pitchFamily="49" charset="-122"/>
                <a:cs typeface="Times New Roman" panose="02020603050405020304" pitchFamily="18" charset="0"/>
              </a:rPr>
              <a:t>静止土压力计算</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86" name="Text Box 2"/>
          <p:cNvSpPr txBox="1">
            <a:spLocks noChangeArrowheads="1"/>
          </p:cNvSpPr>
          <p:nvPr/>
        </p:nvSpPr>
        <p:spPr bwMode="auto">
          <a:xfrm>
            <a:off x="3008194" y="5701142"/>
            <a:ext cx="39513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静止</a:t>
            </a:r>
            <a:r>
              <a:rPr kumimoji="1" lang="zh-CN" altLang="en-US" sz="4000" b="1" dirty="0" smtClean="0">
                <a:solidFill>
                  <a:srgbClr val="000066"/>
                </a:solidFill>
                <a:latin typeface="黑体" pitchFamily="2" charset="-122"/>
                <a:ea typeface="黑体" pitchFamily="2" charset="-122"/>
              </a:rPr>
              <a:t>土压力计算</a:t>
            </a:r>
            <a:endParaRPr kumimoji="1" lang="zh-CN" altLang="en-US" sz="4000" b="1" dirty="0">
              <a:solidFill>
                <a:srgbClr val="000066"/>
              </a:solidFill>
              <a:latin typeface="黑体" pitchFamily="2" charset="-122"/>
              <a:ea typeface="黑体" pitchFamily="2" charset="-122"/>
            </a:endParaRPr>
          </a:p>
        </p:txBody>
      </p:sp>
      <p:graphicFrame>
        <p:nvGraphicFramePr>
          <p:cNvPr id="107" name="Object 26"/>
          <p:cNvGraphicFramePr>
            <a:graphicFrameLocks noChangeAspect="1"/>
          </p:cNvGraphicFramePr>
          <p:nvPr>
            <p:extLst>
              <p:ext uri="{D42A27DB-BD31-4B8C-83A1-F6EECF244321}">
                <p14:modId xmlns:p14="http://schemas.microsoft.com/office/powerpoint/2010/main" val="815310287"/>
              </p:ext>
            </p:extLst>
          </p:nvPr>
        </p:nvGraphicFramePr>
        <p:xfrm>
          <a:off x="1432365" y="3698061"/>
          <a:ext cx="1247531" cy="400910"/>
        </p:xfrm>
        <a:graphic>
          <a:graphicData uri="http://schemas.openxmlformats.org/presentationml/2006/ole">
            <mc:AlternateContent xmlns:mc="http://schemas.openxmlformats.org/markup-compatibility/2006">
              <mc:Choice xmlns:v="urn:schemas-microsoft-com:vml" Requires="v">
                <p:oleObj spid="_x0000_s1746900" name="Equation" r:id="rId4" imgW="711000" imgH="228600" progId="Equation.DSMT4">
                  <p:embed/>
                </p:oleObj>
              </mc:Choice>
              <mc:Fallback>
                <p:oleObj name="Equation" r:id="rId4" imgW="711000" imgH="228600" progId="Equation.DSMT4">
                  <p:embed/>
                  <p:pic>
                    <p:nvPicPr>
                      <p:cNvPr id="0" name=""/>
                      <p:cNvPicPr>
                        <a:picLocks noChangeAspect="1" noChangeArrowheads="1"/>
                      </p:cNvPicPr>
                      <p:nvPr/>
                    </p:nvPicPr>
                    <p:blipFill>
                      <a:blip r:embed="rId5"/>
                      <a:srcRect/>
                      <a:stretch>
                        <a:fillRect/>
                      </a:stretch>
                    </p:blipFill>
                    <p:spPr bwMode="auto">
                      <a:xfrm>
                        <a:off x="1432365" y="3698061"/>
                        <a:ext cx="1247531" cy="400910"/>
                      </a:xfrm>
                      <a:prstGeom prst="rect">
                        <a:avLst/>
                      </a:prstGeom>
                      <a:noFill/>
                      <a:ln>
                        <a:noFill/>
                      </a:ln>
                      <a:effectLst/>
                    </p:spPr>
                  </p:pic>
                </p:oleObj>
              </mc:Fallback>
            </mc:AlternateContent>
          </a:graphicData>
        </a:graphic>
      </p:graphicFrame>
      <p:sp>
        <p:nvSpPr>
          <p:cNvPr id="132" name="Text Box 4"/>
          <p:cNvSpPr txBox="1">
            <a:spLocks noChangeArrowheads="1"/>
          </p:cNvSpPr>
          <p:nvPr/>
        </p:nvSpPr>
        <p:spPr bwMode="auto">
          <a:xfrm>
            <a:off x="623191" y="3157455"/>
            <a:ext cx="4526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00000"/>
              </a:lnSpc>
              <a:buClr>
                <a:srgbClr val="A50021"/>
              </a:buClr>
              <a:buFont typeface="Wingdings" panose="05000000000000000000" pitchFamily="2" charset="2"/>
              <a:buChar char="Ø"/>
            </a:pPr>
            <a:r>
              <a:rPr lang="zh-CN" altLang="en-US" sz="2400" b="1" dirty="0" smtClean="0">
                <a:solidFill>
                  <a:srgbClr val="000066"/>
                </a:solidFill>
                <a:ea typeface="幼圆" pitchFamily="49" charset="-122"/>
              </a:rPr>
              <a:t> 静止土压力计算</a:t>
            </a:r>
            <a:endParaRPr lang="zh-CN" altLang="en-US" sz="2400" b="1" i="1" baseline="-25000" dirty="0">
              <a:solidFill>
                <a:srgbClr val="000066"/>
              </a:solidFill>
              <a:ea typeface="幼圆" pitchFamily="49" charset="-122"/>
            </a:endParaRPr>
          </a:p>
        </p:txBody>
      </p:sp>
      <p:grpSp>
        <p:nvGrpSpPr>
          <p:cNvPr id="7" name="组合 6"/>
          <p:cNvGrpSpPr/>
          <p:nvPr/>
        </p:nvGrpSpPr>
        <p:grpSpPr>
          <a:xfrm>
            <a:off x="5538499" y="3125634"/>
            <a:ext cx="3047519" cy="2637493"/>
            <a:chOff x="5538499" y="3125634"/>
            <a:chExt cx="3047519" cy="2637493"/>
          </a:xfrm>
        </p:grpSpPr>
        <p:sp>
          <p:nvSpPr>
            <p:cNvPr id="2" name="矩形 1"/>
            <p:cNvSpPr/>
            <p:nvPr/>
          </p:nvSpPr>
          <p:spPr bwMode="auto">
            <a:xfrm>
              <a:off x="5543906" y="3132710"/>
              <a:ext cx="2027976" cy="1980000"/>
            </a:xfrm>
            <a:prstGeom prst="rect">
              <a:avLst/>
            </a:pr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5538499" y="3132700"/>
              <a:ext cx="203702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3" name="Group 12"/>
            <p:cNvGrpSpPr>
              <a:grpSpLocks/>
            </p:cNvGrpSpPr>
            <p:nvPr/>
          </p:nvGrpSpPr>
          <p:grpSpPr bwMode="auto">
            <a:xfrm>
              <a:off x="6375131" y="3127800"/>
              <a:ext cx="454614" cy="82278"/>
              <a:chOff x="2274" y="1204"/>
              <a:chExt cx="270" cy="44"/>
            </a:xfrm>
          </p:grpSpPr>
          <p:sp>
            <p:nvSpPr>
              <p:cNvPr id="114"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 name="任意多边形 128"/>
            <p:cNvSpPr/>
            <p:nvPr/>
          </p:nvSpPr>
          <p:spPr bwMode="auto">
            <a:xfrm flipH="1">
              <a:off x="7575268" y="3132701"/>
              <a:ext cx="1010750" cy="1980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8" name="组合 7"/>
            <p:cNvGrpSpPr/>
            <p:nvPr/>
          </p:nvGrpSpPr>
          <p:grpSpPr>
            <a:xfrm flipH="1">
              <a:off x="6530758" y="3145252"/>
              <a:ext cx="1033076" cy="1957781"/>
              <a:chOff x="8070265" y="3200801"/>
              <a:chExt cx="919950" cy="1514794"/>
            </a:xfrm>
          </p:grpSpPr>
          <p:cxnSp>
            <p:nvCxnSpPr>
              <p:cNvPr id="60" name="直接箭头连接符 59"/>
              <p:cNvCxnSpPr/>
              <p:nvPr/>
            </p:nvCxnSpPr>
            <p:spPr bwMode="auto">
              <a:xfrm flipH="1">
                <a:off x="8070265" y="4715595"/>
                <a:ext cx="770674"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箭头连接符 60"/>
              <p:cNvCxnSpPr/>
              <p:nvPr/>
            </p:nvCxnSpPr>
            <p:spPr bwMode="auto">
              <a:xfrm flipH="1">
                <a:off x="8070265" y="4533982"/>
                <a:ext cx="680001"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箭头连接符 61"/>
              <p:cNvCxnSpPr/>
              <p:nvPr/>
            </p:nvCxnSpPr>
            <p:spPr bwMode="auto">
              <a:xfrm flipH="1">
                <a:off x="8070265" y="4355403"/>
                <a:ext cx="584697"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箭头连接符 62"/>
              <p:cNvCxnSpPr/>
              <p:nvPr/>
            </p:nvCxnSpPr>
            <p:spPr bwMode="auto">
              <a:xfrm flipH="1">
                <a:off x="8070265" y="4176824"/>
                <a:ext cx="499697"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箭头连接符 63"/>
              <p:cNvCxnSpPr/>
              <p:nvPr/>
            </p:nvCxnSpPr>
            <p:spPr bwMode="auto">
              <a:xfrm flipH="1">
                <a:off x="8070265" y="3992635"/>
                <a:ext cx="404393"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箭头连接符 64"/>
              <p:cNvCxnSpPr/>
              <p:nvPr/>
            </p:nvCxnSpPr>
            <p:spPr bwMode="auto">
              <a:xfrm flipH="1">
                <a:off x="8070265" y="3814056"/>
                <a:ext cx="314241"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flipH="1">
                <a:off x="8070265" y="3629867"/>
                <a:ext cx="226665"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flipH="1">
                <a:off x="8070265" y="3451288"/>
                <a:ext cx="133937"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8070510" y="3200801"/>
                <a:ext cx="763198" cy="151245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Text Box 827"/>
              <p:cNvSpPr txBox="1">
                <a:spLocks noChangeArrowheads="1"/>
              </p:cNvSpPr>
              <p:nvPr/>
            </p:nvSpPr>
            <p:spPr bwMode="auto">
              <a:xfrm>
                <a:off x="8461123" y="3802589"/>
                <a:ext cx="529092" cy="3737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smtClean="0">
                    <a:solidFill>
                      <a:srgbClr val="C00000"/>
                    </a:solidFill>
                    <a:latin typeface="Times New Roman" panose="02020603050405020304" pitchFamily="18" charset="0"/>
                    <a:cs typeface="Times New Roman" panose="02020603050405020304" pitchFamily="18" charset="0"/>
                  </a:rPr>
                  <a:t>0</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grpSp>
        <p:sp>
          <p:nvSpPr>
            <p:cNvPr id="71" name="Line 89"/>
            <p:cNvSpPr>
              <a:spLocks noChangeAspect="1" noChangeShapeType="1"/>
            </p:cNvSpPr>
            <p:nvPr/>
          </p:nvSpPr>
          <p:spPr bwMode="auto">
            <a:xfrm>
              <a:off x="6707287" y="5337420"/>
              <a:ext cx="8738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3" name="直接连接符 72"/>
            <p:cNvCxnSpPr/>
            <p:nvPr/>
          </p:nvCxnSpPr>
          <p:spPr bwMode="auto">
            <a:xfrm>
              <a:off x="6712098" y="5172795"/>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7572982" y="5162017"/>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75" name="Object 26"/>
            <p:cNvGraphicFramePr>
              <a:graphicFrameLocks noChangeAspect="1"/>
            </p:cNvGraphicFramePr>
            <p:nvPr>
              <p:extLst>
                <p:ext uri="{D42A27DB-BD31-4B8C-83A1-F6EECF244321}">
                  <p14:modId xmlns:p14="http://schemas.microsoft.com/office/powerpoint/2010/main" val="4256138091"/>
                </p:ext>
              </p:extLst>
            </p:nvPr>
          </p:nvGraphicFramePr>
          <p:xfrm>
            <a:off x="6721347" y="5378964"/>
            <a:ext cx="789239" cy="384163"/>
          </p:xfrm>
          <a:graphic>
            <a:graphicData uri="http://schemas.openxmlformats.org/presentationml/2006/ole">
              <mc:AlternateContent xmlns:mc="http://schemas.openxmlformats.org/markup-compatibility/2006">
                <mc:Choice xmlns:v="urn:schemas-microsoft-com:vml" Requires="v">
                  <p:oleObj spid="_x0000_s1746901" name="公式" r:id="rId6" imgW="469800" imgH="228600" progId="Equation.3">
                    <p:embed/>
                  </p:oleObj>
                </mc:Choice>
                <mc:Fallback>
                  <p:oleObj name="公式" r:id="rId6" imgW="469800" imgH="228600" progId="Equation.3">
                    <p:embed/>
                    <p:pic>
                      <p:nvPicPr>
                        <p:cNvPr id="0" name=""/>
                        <p:cNvPicPr>
                          <a:picLocks noChangeAspect="1" noChangeArrowheads="1"/>
                        </p:cNvPicPr>
                        <p:nvPr/>
                      </p:nvPicPr>
                      <p:blipFill>
                        <a:blip r:embed="rId7"/>
                        <a:srcRect/>
                        <a:stretch>
                          <a:fillRect/>
                        </a:stretch>
                      </p:blipFill>
                      <p:spPr bwMode="auto">
                        <a:xfrm>
                          <a:off x="6721347" y="5378964"/>
                          <a:ext cx="789239" cy="384163"/>
                        </a:xfrm>
                        <a:prstGeom prst="rect">
                          <a:avLst/>
                        </a:prstGeom>
                        <a:noFill/>
                        <a:ln>
                          <a:noFill/>
                        </a:ln>
                        <a:effectLst/>
                      </p:spPr>
                    </p:pic>
                  </p:oleObj>
                </mc:Fallback>
              </mc:AlternateContent>
            </a:graphicData>
          </a:graphic>
        </p:graphicFrame>
        <p:cxnSp>
          <p:nvCxnSpPr>
            <p:cNvPr id="10" name="直接箭头连接符 9"/>
            <p:cNvCxnSpPr/>
            <p:nvPr/>
          </p:nvCxnSpPr>
          <p:spPr bwMode="auto">
            <a:xfrm>
              <a:off x="6707287" y="4468094"/>
              <a:ext cx="869133"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78"/>
            <p:cNvCxnSpPr/>
            <p:nvPr/>
          </p:nvCxnSpPr>
          <p:spPr bwMode="auto">
            <a:xfrm flipH="1">
              <a:off x="5577831" y="5104983"/>
              <a:ext cx="1997437"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Line 89"/>
            <p:cNvSpPr>
              <a:spLocks noChangeAspect="1" noChangeShapeType="1"/>
            </p:cNvSpPr>
            <p:nvPr/>
          </p:nvSpPr>
          <p:spPr bwMode="auto">
            <a:xfrm rot="5400000">
              <a:off x="4750885" y="4116870"/>
              <a:ext cx="198247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83" name="直接连接符 82"/>
            <p:cNvCxnSpPr/>
            <p:nvPr/>
          </p:nvCxnSpPr>
          <p:spPr bwMode="auto">
            <a:xfrm rot="5400000">
              <a:off x="6109539" y="4352180"/>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Line 89"/>
            <p:cNvSpPr>
              <a:spLocks noChangeAspect="1" noChangeShapeType="1"/>
            </p:cNvSpPr>
            <p:nvPr/>
          </p:nvSpPr>
          <p:spPr bwMode="auto">
            <a:xfrm rot="5400000">
              <a:off x="5791895" y="4786746"/>
              <a:ext cx="62728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5" name="Object 26"/>
            <p:cNvGraphicFramePr>
              <a:graphicFrameLocks noChangeAspect="1"/>
            </p:cNvGraphicFramePr>
            <p:nvPr>
              <p:extLst>
                <p:ext uri="{D42A27DB-BD31-4B8C-83A1-F6EECF244321}">
                  <p14:modId xmlns:p14="http://schemas.microsoft.com/office/powerpoint/2010/main" val="776473399"/>
                </p:ext>
              </p:extLst>
            </p:nvPr>
          </p:nvGraphicFramePr>
          <p:xfrm>
            <a:off x="5760100" y="4025899"/>
            <a:ext cx="299109" cy="259227"/>
          </p:xfrm>
          <a:graphic>
            <a:graphicData uri="http://schemas.openxmlformats.org/presentationml/2006/ole">
              <mc:AlternateContent xmlns:mc="http://schemas.openxmlformats.org/markup-compatibility/2006">
                <mc:Choice xmlns:v="urn:schemas-microsoft-com:vml" Requires="v">
                  <p:oleObj spid="_x0000_s1746902" name="公式" r:id="rId8" imgW="190440" imgH="164880" progId="Equation.3">
                    <p:embed/>
                  </p:oleObj>
                </mc:Choice>
                <mc:Fallback>
                  <p:oleObj name="公式" r:id="rId8" imgW="190440" imgH="164880" progId="Equation.3">
                    <p:embed/>
                    <p:pic>
                      <p:nvPicPr>
                        <p:cNvPr id="0" name=""/>
                        <p:cNvPicPr>
                          <a:picLocks noChangeAspect="1" noChangeArrowheads="1"/>
                        </p:cNvPicPr>
                        <p:nvPr/>
                      </p:nvPicPr>
                      <p:blipFill>
                        <a:blip r:embed="rId9"/>
                        <a:srcRect/>
                        <a:stretch>
                          <a:fillRect/>
                        </a:stretch>
                      </p:blipFill>
                      <p:spPr bwMode="auto">
                        <a:xfrm>
                          <a:off x="5760100" y="4025899"/>
                          <a:ext cx="299109" cy="259227"/>
                        </a:xfrm>
                        <a:prstGeom prst="rect">
                          <a:avLst/>
                        </a:prstGeom>
                        <a:noFill/>
                        <a:ln>
                          <a:noFill/>
                        </a:ln>
                        <a:effectLst/>
                      </p:spPr>
                    </p:pic>
                  </p:oleObj>
                </mc:Fallback>
              </mc:AlternateContent>
            </a:graphicData>
          </a:graphic>
        </p:graphicFrame>
        <p:graphicFrame>
          <p:nvGraphicFramePr>
            <p:cNvPr id="87" name="Object 26"/>
            <p:cNvGraphicFramePr>
              <a:graphicFrameLocks noChangeAspect="1"/>
            </p:cNvGraphicFramePr>
            <p:nvPr>
              <p:extLst>
                <p:ext uri="{D42A27DB-BD31-4B8C-83A1-F6EECF244321}">
                  <p14:modId xmlns:p14="http://schemas.microsoft.com/office/powerpoint/2010/main" val="2823428081"/>
                </p:ext>
              </p:extLst>
            </p:nvPr>
          </p:nvGraphicFramePr>
          <p:xfrm>
            <a:off x="6173827" y="4474063"/>
            <a:ext cx="467605" cy="625829"/>
          </p:xfrm>
          <a:graphic>
            <a:graphicData uri="http://schemas.openxmlformats.org/presentationml/2006/ole">
              <mc:AlternateContent xmlns:mc="http://schemas.openxmlformats.org/markup-compatibility/2006">
                <mc:Choice xmlns:v="urn:schemas-microsoft-com:vml" Requires="v">
                  <p:oleObj spid="_x0000_s1746903" name="Equation" r:id="rId10" imgW="215640" imgH="406080" progId="Equation.DSMT4">
                    <p:embed/>
                  </p:oleObj>
                </mc:Choice>
                <mc:Fallback>
                  <p:oleObj name="Equation" r:id="rId10" imgW="215640" imgH="406080" progId="Equation.DSMT4">
                    <p:embed/>
                    <p:pic>
                      <p:nvPicPr>
                        <p:cNvPr id="0" name=""/>
                        <p:cNvPicPr>
                          <a:picLocks noChangeAspect="1" noChangeArrowheads="1"/>
                        </p:cNvPicPr>
                        <p:nvPr/>
                      </p:nvPicPr>
                      <p:blipFill>
                        <a:blip r:embed="rId11"/>
                        <a:srcRect/>
                        <a:stretch>
                          <a:fillRect/>
                        </a:stretch>
                      </p:blipFill>
                      <p:spPr bwMode="auto">
                        <a:xfrm>
                          <a:off x="6173827" y="4474063"/>
                          <a:ext cx="467605" cy="625829"/>
                        </a:xfrm>
                        <a:prstGeom prst="rect">
                          <a:avLst/>
                        </a:prstGeom>
                        <a:noFill/>
                        <a:ln>
                          <a:noFill/>
                        </a:ln>
                        <a:effectLst/>
                      </p:spPr>
                    </p:pic>
                  </p:oleObj>
                </mc:Fallback>
              </mc:AlternateContent>
            </a:graphicData>
          </a:graphic>
        </p:graphicFrame>
      </p:grpSp>
      <p:sp>
        <p:nvSpPr>
          <p:cNvPr id="88" name="Text Box 4"/>
          <p:cNvSpPr txBox="1">
            <a:spLocks noChangeArrowheads="1"/>
          </p:cNvSpPr>
          <p:nvPr/>
        </p:nvSpPr>
        <p:spPr bwMode="auto">
          <a:xfrm>
            <a:off x="656010" y="1434905"/>
            <a:ext cx="8278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71463" indent="-271463" eaLnBrk="1" hangingPunct="1">
              <a:lnSpc>
                <a:spcPct val="100000"/>
              </a:lnSpc>
              <a:spcBef>
                <a:spcPts val="0"/>
              </a:spcBef>
              <a:spcAft>
                <a:spcPts val="0"/>
              </a:spcAft>
              <a:buClr>
                <a:srgbClr val="A50021"/>
              </a:buClr>
              <a:buFont typeface="Wingdings" panose="05000000000000000000" pitchFamily="2" charset="2"/>
              <a:buChar char="Ø"/>
            </a:pPr>
            <a:r>
              <a:rPr lang="zh-CN" altLang="en-US" sz="2400" b="1" dirty="0" smtClean="0">
                <a:solidFill>
                  <a:srgbClr val="000066"/>
                </a:solidFill>
                <a:ea typeface="幼圆" pitchFamily="49" charset="-122"/>
              </a:rPr>
              <a:t> 静止土压力系数：</a:t>
            </a:r>
            <a:r>
              <a:rPr lang="zh-CN" altLang="en-US" sz="2400" b="1" dirty="0">
                <a:solidFill>
                  <a:srgbClr val="000066"/>
                </a:solidFill>
                <a:latin typeface="Symbol" pitchFamily="18" charset="2"/>
                <a:ea typeface="幼圆" pitchFamily="49" charset="-122"/>
              </a:rPr>
              <a:t>土的 </a:t>
            </a:r>
            <a:r>
              <a:rPr lang="en-US" altLang="zh-CN" sz="2400" b="1" i="1" dirty="0">
                <a:solidFill>
                  <a:srgbClr val="000066"/>
                </a:solidFill>
                <a:latin typeface="Symbol" pitchFamily="18" charset="2"/>
                <a:ea typeface="幼圆" pitchFamily="49" charset="-122"/>
              </a:rPr>
              <a:t>n </a:t>
            </a:r>
            <a:r>
              <a:rPr lang="zh-CN" altLang="en-US" sz="2400" b="1" dirty="0">
                <a:solidFill>
                  <a:srgbClr val="000066"/>
                </a:solidFill>
                <a:latin typeface="Symbol" pitchFamily="18" charset="2"/>
                <a:ea typeface="幼圆" pitchFamily="49" charset="-122"/>
              </a:rPr>
              <a:t>很难确定，</a:t>
            </a:r>
            <a:r>
              <a:rPr lang="en-US" altLang="zh-CN" sz="2400" b="1" i="1" dirty="0">
                <a:solidFill>
                  <a:srgbClr val="000066"/>
                </a:solidFill>
                <a:ea typeface="幼圆" pitchFamily="49" charset="-122"/>
                <a:cs typeface="Times New Roman" panose="02020603050405020304" pitchFamily="18" charset="0"/>
              </a:rPr>
              <a:t>K</a:t>
            </a:r>
            <a:r>
              <a:rPr lang="en-US" altLang="zh-CN" sz="2400" b="1" baseline="-25000" dirty="0">
                <a:solidFill>
                  <a:srgbClr val="000066"/>
                </a:solidFill>
                <a:ea typeface="幼圆" pitchFamily="49" charset="-122"/>
                <a:cs typeface="Times New Roman" panose="02020603050405020304" pitchFamily="18" charset="0"/>
              </a:rPr>
              <a:t>0</a:t>
            </a:r>
            <a:r>
              <a:rPr lang="en-US" altLang="zh-CN" sz="2400" b="1" baseline="-25000" dirty="0">
                <a:solidFill>
                  <a:srgbClr val="000066"/>
                </a:solidFill>
                <a:latin typeface="Symbol" pitchFamily="18" charset="2"/>
                <a:ea typeface="幼圆" pitchFamily="49" charset="-122"/>
              </a:rPr>
              <a:t> </a:t>
            </a:r>
            <a:r>
              <a:rPr lang="zh-CN" altLang="en-US" sz="2400" b="1" dirty="0">
                <a:solidFill>
                  <a:srgbClr val="000066"/>
                </a:solidFill>
                <a:latin typeface="Symbol" pitchFamily="18" charset="2"/>
                <a:ea typeface="幼圆" pitchFamily="49" charset="-122"/>
              </a:rPr>
              <a:t>常用经验公式</a:t>
            </a:r>
            <a:r>
              <a:rPr lang="zh-CN" altLang="en-US" sz="2400" b="1" dirty="0" smtClean="0">
                <a:solidFill>
                  <a:srgbClr val="000066"/>
                </a:solidFill>
                <a:latin typeface="Symbol" pitchFamily="18" charset="2"/>
                <a:ea typeface="幼圆" pitchFamily="49" charset="-122"/>
              </a:rPr>
              <a:t>计算</a:t>
            </a:r>
            <a:endParaRPr lang="zh-CN" altLang="en-US" sz="2400" b="1" dirty="0">
              <a:solidFill>
                <a:srgbClr val="000066"/>
              </a:solidFill>
              <a:ea typeface="幼圆" pitchFamily="49" charset="-122"/>
            </a:endParaRPr>
          </a:p>
        </p:txBody>
      </p:sp>
      <p:grpSp>
        <p:nvGrpSpPr>
          <p:cNvPr id="3" name="组合 2"/>
          <p:cNvGrpSpPr/>
          <p:nvPr/>
        </p:nvGrpSpPr>
        <p:grpSpPr>
          <a:xfrm>
            <a:off x="1039830" y="1991747"/>
            <a:ext cx="4656120" cy="430778"/>
            <a:chOff x="1039830" y="1991747"/>
            <a:chExt cx="4656120" cy="430778"/>
          </a:xfrm>
        </p:grpSpPr>
        <p:graphicFrame>
          <p:nvGraphicFramePr>
            <p:cNvPr id="89" name="Object 28"/>
            <p:cNvGraphicFramePr>
              <a:graphicFrameLocks noChangeAspect="1"/>
            </p:cNvGraphicFramePr>
            <p:nvPr>
              <p:extLst>
                <p:ext uri="{D42A27DB-BD31-4B8C-83A1-F6EECF244321}">
                  <p14:modId xmlns:p14="http://schemas.microsoft.com/office/powerpoint/2010/main" val="2014787661"/>
                </p:ext>
              </p:extLst>
            </p:nvPr>
          </p:nvGraphicFramePr>
          <p:xfrm>
            <a:off x="4318000" y="2043113"/>
            <a:ext cx="1377950" cy="379412"/>
          </p:xfrm>
          <a:graphic>
            <a:graphicData uri="http://schemas.openxmlformats.org/presentationml/2006/ole">
              <mc:AlternateContent xmlns:mc="http://schemas.openxmlformats.org/markup-compatibility/2006">
                <mc:Choice xmlns:v="urn:schemas-microsoft-com:vml" Requires="v">
                  <p:oleObj spid="_x0000_s1746904" name="Equation" r:id="rId12" imgW="787320" imgH="215640" progId="Equation.DSMT4">
                    <p:embed/>
                  </p:oleObj>
                </mc:Choice>
                <mc:Fallback>
                  <p:oleObj name="Equation" r:id="rId12" imgW="787320" imgH="215640" progId="Equation.DSMT4">
                    <p:embed/>
                    <p:pic>
                      <p:nvPicPr>
                        <p:cNvPr id="0" name=""/>
                        <p:cNvPicPr>
                          <a:picLocks noChangeAspect="1" noChangeArrowheads="1"/>
                        </p:cNvPicPr>
                        <p:nvPr/>
                      </p:nvPicPr>
                      <p:blipFill>
                        <a:blip r:embed="rId13"/>
                        <a:srcRect/>
                        <a:stretch>
                          <a:fillRect/>
                        </a:stretch>
                      </p:blipFill>
                      <p:spPr bwMode="auto">
                        <a:xfrm>
                          <a:off x="4318000" y="2043113"/>
                          <a:ext cx="1377950" cy="379412"/>
                        </a:xfrm>
                        <a:prstGeom prst="rect">
                          <a:avLst/>
                        </a:prstGeom>
                        <a:noFill/>
                        <a:ln>
                          <a:noFill/>
                        </a:ln>
                        <a:effectLst/>
                      </p:spPr>
                    </p:pic>
                  </p:oleObj>
                </mc:Fallback>
              </mc:AlternateContent>
            </a:graphicData>
          </a:graphic>
        </p:graphicFrame>
        <p:sp>
          <p:nvSpPr>
            <p:cNvPr id="90" name="Rectangle 29"/>
            <p:cNvSpPr>
              <a:spLocks noChangeArrowheads="1"/>
            </p:cNvSpPr>
            <p:nvPr/>
          </p:nvSpPr>
          <p:spPr bwMode="auto">
            <a:xfrm>
              <a:off x="1039830" y="1991747"/>
              <a:ext cx="3187504"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82563" indent="-182563" eaLnBrk="1" hangingPunct="1">
                <a:spcBef>
                  <a:spcPct val="10000"/>
                </a:spcBef>
                <a:spcAft>
                  <a:spcPct val="10000"/>
                </a:spcAft>
                <a:buClr>
                  <a:srgbClr val="C00000"/>
                </a:buClr>
                <a:buSzPct val="130000"/>
                <a:buFont typeface="Arial" panose="020B0604020202020204" pitchFamily="34" charset="0"/>
                <a:buChar char="•"/>
              </a:pPr>
              <a:r>
                <a:rPr lang="zh-CN" altLang="en-US" sz="2000" b="1" dirty="0">
                  <a:solidFill>
                    <a:srgbClr val="990000"/>
                  </a:solidFill>
                  <a:ea typeface="幼圆" pitchFamily="49" charset="-122"/>
                </a:rPr>
                <a:t>对于砂土、正常</a:t>
              </a:r>
              <a:r>
                <a:rPr lang="zh-CN" altLang="en-US" sz="2000" b="1" dirty="0" smtClean="0">
                  <a:solidFill>
                    <a:srgbClr val="990000"/>
                  </a:solidFill>
                  <a:ea typeface="幼圆" pitchFamily="49" charset="-122"/>
                </a:rPr>
                <a:t>固结黏土</a:t>
              </a:r>
              <a:endParaRPr lang="zh-CN" altLang="en-US" sz="2000" b="1" dirty="0">
                <a:solidFill>
                  <a:srgbClr val="6600CC"/>
                </a:solidFill>
                <a:ea typeface="幼圆" pitchFamily="49" charset="-122"/>
              </a:endParaRPr>
            </a:p>
          </p:txBody>
        </p:sp>
      </p:grpSp>
      <p:grpSp>
        <p:nvGrpSpPr>
          <p:cNvPr id="5" name="组合 4"/>
          <p:cNvGrpSpPr/>
          <p:nvPr/>
        </p:nvGrpSpPr>
        <p:grpSpPr>
          <a:xfrm>
            <a:off x="1037485" y="2481263"/>
            <a:ext cx="5420465" cy="400050"/>
            <a:chOff x="1037485" y="2481263"/>
            <a:chExt cx="5420465" cy="400050"/>
          </a:xfrm>
        </p:grpSpPr>
        <p:graphicFrame>
          <p:nvGraphicFramePr>
            <p:cNvPr id="91" name="Object 28"/>
            <p:cNvGraphicFramePr>
              <a:graphicFrameLocks noChangeAspect="1"/>
            </p:cNvGraphicFramePr>
            <p:nvPr>
              <p:extLst>
                <p:ext uri="{D42A27DB-BD31-4B8C-83A1-F6EECF244321}">
                  <p14:modId xmlns:p14="http://schemas.microsoft.com/office/powerpoint/2010/main" val="4099100615"/>
                </p:ext>
              </p:extLst>
            </p:nvPr>
          </p:nvGraphicFramePr>
          <p:xfrm>
            <a:off x="3540125" y="2481263"/>
            <a:ext cx="2917825" cy="400050"/>
          </p:xfrm>
          <a:graphic>
            <a:graphicData uri="http://schemas.openxmlformats.org/presentationml/2006/ole">
              <mc:AlternateContent xmlns:mc="http://schemas.openxmlformats.org/markup-compatibility/2006">
                <mc:Choice xmlns:v="urn:schemas-microsoft-com:vml" Requires="v">
                  <p:oleObj spid="_x0000_s1746905" name="Equation" r:id="rId14" imgW="1663560" imgH="228600" progId="Equation.DSMT4">
                    <p:embed/>
                  </p:oleObj>
                </mc:Choice>
                <mc:Fallback>
                  <p:oleObj name="Equation" r:id="rId14" imgW="1663560" imgH="228600" progId="Equation.DSMT4">
                    <p:embed/>
                    <p:pic>
                      <p:nvPicPr>
                        <p:cNvPr id="0" name=""/>
                        <p:cNvPicPr>
                          <a:picLocks noChangeAspect="1" noChangeArrowheads="1"/>
                        </p:cNvPicPr>
                        <p:nvPr/>
                      </p:nvPicPr>
                      <p:blipFill>
                        <a:blip r:embed="rId15"/>
                        <a:srcRect/>
                        <a:stretch>
                          <a:fillRect/>
                        </a:stretch>
                      </p:blipFill>
                      <p:spPr bwMode="auto">
                        <a:xfrm>
                          <a:off x="3540125" y="2481263"/>
                          <a:ext cx="2917825" cy="400050"/>
                        </a:xfrm>
                        <a:prstGeom prst="rect">
                          <a:avLst/>
                        </a:prstGeom>
                        <a:noFill/>
                        <a:ln>
                          <a:noFill/>
                        </a:ln>
                        <a:effectLst/>
                      </p:spPr>
                    </p:pic>
                  </p:oleObj>
                </mc:Fallback>
              </mc:AlternateContent>
            </a:graphicData>
          </a:graphic>
        </p:graphicFrame>
        <p:sp>
          <p:nvSpPr>
            <p:cNvPr id="92" name="Rectangle 29"/>
            <p:cNvSpPr>
              <a:spLocks noChangeArrowheads="1"/>
            </p:cNvSpPr>
            <p:nvPr/>
          </p:nvSpPr>
          <p:spPr bwMode="auto">
            <a:xfrm>
              <a:off x="1037485" y="2481771"/>
              <a:ext cx="21910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82563" indent="-182563" eaLnBrk="1" hangingPunct="1">
                <a:spcBef>
                  <a:spcPct val="10000"/>
                </a:spcBef>
                <a:spcAft>
                  <a:spcPct val="10000"/>
                </a:spcAft>
                <a:buClr>
                  <a:srgbClr val="C00000"/>
                </a:buClr>
                <a:buSzPct val="130000"/>
                <a:buFont typeface="Arial" panose="020B0604020202020204" pitchFamily="34" charset="0"/>
                <a:buChar char="•"/>
              </a:pPr>
              <a:r>
                <a:rPr lang="zh-CN" altLang="en-US" sz="2000" b="1" dirty="0" smtClean="0">
                  <a:solidFill>
                    <a:srgbClr val="990000"/>
                  </a:solidFill>
                  <a:ea typeface="幼圆" pitchFamily="49" charset="-122"/>
                </a:rPr>
                <a:t>对于超固结黏土</a:t>
              </a:r>
              <a:endParaRPr lang="zh-CN" altLang="en-US" sz="2000" b="1" dirty="0">
                <a:solidFill>
                  <a:srgbClr val="6600CC"/>
                </a:solidFill>
                <a:ea typeface="幼圆" pitchFamily="49" charset="-122"/>
              </a:endParaRPr>
            </a:p>
          </p:txBody>
        </p:sp>
      </p:grpSp>
      <p:graphicFrame>
        <p:nvGraphicFramePr>
          <p:cNvPr id="95" name="Object 26"/>
          <p:cNvGraphicFramePr>
            <a:graphicFrameLocks noChangeAspect="1"/>
          </p:cNvGraphicFramePr>
          <p:nvPr>
            <p:extLst>
              <p:ext uri="{D42A27DB-BD31-4B8C-83A1-F6EECF244321}">
                <p14:modId xmlns:p14="http://schemas.microsoft.com/office/powerpoint/2010/main" val="4187857696"/>
              </p:ext>
            </p:extLst>
          </p:nvPr>
        </p:nvGraphicFramePr>
        <p:xfrm>
          <a:off x="1379538" y="4136729"/>
          <a:ext cx="1714500" cy="712788"/>
        </p:xfrm>
        <a:graphic>
          <a:graphicData uri="http://schemas.openxmlformats.org/presentationml/2006/ole">
            <mc:AlternateContent xmlns:mc="http://schemas.openxmlformats.org/markup-compatibility/2006">
              <mc:Choice xmlns:v="urn:schemas-microsoft-com:vml" Requires="v">
                <p:oleObj spid="_x0000_s1746906" name="公式" r:id="rId16" imgW="977760" imgH="406080" progId="Equation.3">
                  <p:embed/>
                </p:oleObj>
              </mc:Choice>
              <mc:Fallback>
                <p:oleObj name="公式" r:id="rId16" imgW="977760" imgH="406080" progId="Equation.3">
                  <p:embed/>
                  <p:pic>
                    <p:nvPicPr>
                      <p:cNvPr id="0" name=""/>
                      <p:cNvPicPr>
                        <a:picLocks noChangeAspect="1" noChangeArrowheads="1"/>
                      </p:cNvPicPr>
                      <p:nvPr/>
                    </p:nvPicPr>
                    <p:blipFill>
                      <a:blip r:embed="rId17"/>
                      <a:srcRect/>
                      <a:stretch>
                        <a:fillRect/>
                      </a:stretch>
                    </p:blipFill>
                    <p:spPr bwMode="auto">
                      <a:xfrm>
                        <a:off x="1379538" y="4136729"/>
                        <a:ext cx="1714500" cy="712788"/>
                      </a:xfrm>
                      <a:prstGeom prst="rect">
                        <a:avLst/>
                      </a:prstGeom>
                      <a:noFill/>
                      <a:ln>
                        <a:noFill/>
                      </a:ln>
                      <a:effectLst/>
                    </p:spPr>
                  </p:pic>
                </p:oleObj>
              </mc:Fallback>
            </mc:AlternateContent>
          </a:graphicData>
        </a:graphic>
      </p:graphicFrame>
      <p:sp>
        <p:nvSpPr>
          <p:cNvPr id="99" name="矩形 98"/>
          <p:cNvSpPr/>
          <p:nvPr/>
        </p:nvSpPr>
        <p:spPr>
          <a:xfrm>
            <a:off x="1401248" y="4913237"/>
            <a:ext cx="3275577" cy="369332"/>
          </a:xfrm>
          <a:prstGeom prst="rect">
            <a:avLst/>
          </a:prstGeom>
        </p:spPr>
        <p:txBody>
          <a:bodyPr wrap="none">
            <a:spAutoFit/>
          </a:bodyPr>
          <a:lstStyle/>
          <a:p>
            <a:pPr marL="182563" indent="-182563" eaLnBrk="1" hangingPunct="1">
              <a:lnSpc>
                <a:spcPct val="90000"/>
              </a:lnSpc>
              <a:spcBef>
                <a:spcPct val="10000"/>
              </a:spcBef>
              <a:spcAft>
                <a:spcPct val="10000"/>
              </a:spcAft>
              <a:buClr>
                <a:srgbClr val="C00000"/>
              </a:buClr>
              <a:buSzPct val="130000"/>
              <a:buFont typeface="Arial" panose="020B0604020202020204" pitchFamily="34" charset="0"/>
              <a:buChar char="•"/>
            </a:pPr>
            <a:r>
              <a:rPr lang="en-US" altLang="zh-CN" sz="2000" b="1" i="1" dirty="0" smtClean="0">
                <a:solidFill>
                  <a:srgbClr val="000066"/>
                </a:solidFill>
                <a:ea typeface="幼圆" pitchFamily="49" charset="-122"/>
                <a:cs typeface="Times New Roman" panose="02020603050405020304" pitchFamily="18" charset="0"/>
              </a:rPr>
              <a:t>E</a:t>
            </a:r>
            <a:r>
              <a:rPr lang="en-US" altLang="zh-CN" sz="2000" b="1" baseline="-25000" dirty="0" smtClean="0">
                <a:solidFill>
                  <a:srgbClr val="000066"/>
                </a:solidFill>
                <a:ea typeface="幼圆" pitchFamily="49" charset="-122"/>
                <a:cs typeface="Times New Roman" panose="02020603050405020304" pitchFamily="18" charset="0"/>
              </a:rPr>
              <a:t>0</a:t>
            </a:r>
            <a:r>
              <a:rPr lang="zh-CN" altLang="en-US" sz="2000" b="1" dirty="0" smtClean="0">
                <a:solidFill>
                  <a:srgbClr val="000066"/>
                </a:solidFill>
                <a:ea typeface="幼圆" pitchFamily="49" charset="-122"/>
                <a:cs typeface="Times New Roman" panose="02020603050405020304" pitchFamily="18" charset="0"/>
              </a:rPr>
              <a:t>的作用点在墙高的</a:t>
            </a:r>
            <a:r>
              <a:rPr lang="en-US" altLang="zh-CN" sz="2000" b="1" dirty="0" smtClean="0">
                <a:solidFill>
                  <a:srgbClr val="000066"/>
                </a:solidFill>
                <a:ea typeface="幼圆" pitchFamily="49" charset="-122"/>
                <a:cs typeface="Times New Roman" panose="02020603050405020304" pitchFamily="18" charset="0"/>
              </a:rPr>
              <a:t>1/3</a:t>
            </a:r>
            <a:r>
              <a:rPr lang="zh-CN" altLang="en-US" sz="2000" b="1" dirty="0" smtClean="0">
                <a:solidFill>
                  <a:srgbClr val="000066"/>
                </a:solidFill>
                <a:ea typeface="幼圆" pitchFamily="49" charset="-122"/>
                <a:cs typeface="Times New Roman" panose="02020603050405020304" pitchFamily="18" charset="0"/>
              </a:rPr>
              <a:t>处</a:t>
            </a:r>
            <a:endParaRPr lang="zh-CN" altLang="en-US" sz="20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221208698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slide(fromLeft)">
                                      <p:cBhvr>
                                        <p:cTn id="7" dur="500"/>
                                        <p:tgtEl>
                                          <p:spTgt spid="8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grpId="0" nodeType="clickEffect">
                                  <p:stCondLst>
                                    <p:cond delay="0"/>
                                  </p:stCondLst>
                                  <p:childTnLst>
                                    <p:set>
                                      <p:cBhvr>
                                        <p:cTn id="19" dur="1" fill="hold">
                                          <p:stCondLst>
                                            <p:cond delay="0"/>
                                          </p:stCondLst>
                                        </p:cTn>
                                        <p:tgtEl>
                                          <p:spTgt spid="132"/>
                                        </p:tgtEl>
                                        <p:attrNameLst>
                                          <p:attrName>style.visibility</p:attrName>
                                        </p:attrNameLst>
                                      </p:cBhvr>
                                      <p:to>
                                        <p:strVal val="visible"/>
                                      </p:to>
                                    </p:set>
                                    <p:animEffect transition="in" filter="slide(fromLeft)">
                                      <p:cBhvr>
                                        <p:cTn id="20" dur="500"/>
                                        <p:tgtEl>
                                          <p:spTgt spid="132"/>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107"/>
                                        </p:tgtEl>
                                        <p:attrNameLst>
                                          <p:attrName>style.visibility</p:attrName>
                                        </p:attrNameLst>
                                      </p:cBhvr>
                                      <p:to>
                                        <p:strVal val="visible"/>
                                      </p:to>
                                    </p:set>
                                    <p:animEffect transition="in" filter="wipe(left)">
                                      <p:cBhvr>
                                        <p:cTn id="27" dur="500"/>
                                        <p:tgtEl>
                                          <p:spTgt spid="107"/>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wipe(left)">
                                      <p:cBhvr>
                                        <p:cTn id="31" dur="500"/>
                                        <p:tgtEl>
                                          <p:spTgt spid="95"/>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wipe(left)">
                                      <p:cBhvr>
                                        <p:cTn id="35"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88" grpId="0"/>
      <p:bldP spid="9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第六章：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28</a:t>
            </a:fld>
            <a:endParaRPr lang="zh-CN" altLang="en-US" dirty="0">
              <a:solidFill>
                <a:srgbClr val="C00000"/>
              </a:solidFill>
            </a:endParaRPr>
          </a:p>
        </p:txBody>
      </p:sp>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a:t>
            </a:r>
            <a:r>
              <a:rPr kumimoji="1" lang="zh-CN" altLang="en-US" sz="2800" b="1" dirty="0" smtClean="0">
                <a:solidFill>
                  <a:srgbClr val="000066"/>
                </a:solidFill>
                <a:ea typeface="幼圆" pitchFamily="49" charset="-122"/>
                <a:cs typeface="Times New Roman" panose="02020603050405020304" pitchFamily="18" charset="0"/>
              </a:rPr>
              <a:t>土压力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静止土压力计算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a:solidFill>
                  <a:srgbClr val="000066"/>
                </a:solidFill>
                <a:ea typeface="幼圆" pitchFamily="49" charset="-122"/>
                <a:cs typeface="Times New Roman" panose="02020603050405020304" pitchFamily="18" charset="0"/>
              </a:rPr>
              <a:t>两种土压力理论的比较</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a:solidFill>
                  <a:srgbClr val="000066"/>
                </a:solidFill>
                <a:ea typeface="幼圆" pitchFamily="49" charset="-122"/>
                <a:cs typeface="Times New Roman" panose="02020603050405020304" pitchFamily="18" charset="0"/>
              </a:rPr>
              <a:t>几种常见的主动土压力计算</a:t>
            </a:r>
          </a:p>
        </p:txBody>
      </p:sp>
      <p:sp>
        <p:nvSpPr>
          <p:cNvPr id="8" name="Text Box 4"/>
          <p:cNvSpPr txBox="1">
            <a:spLocks noChangeArrowheads="1"/>
          </p:cNvSpPr>
          <p:nvPr/>
        </p:nvSpPr>
        <p:spPr bwMode="auto">
          <a:xfrm>
            <a:off x="1983936" y="3198086"/>
            <a:ext cx="5402826"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§6.3  </a:t>
            </a:r>
            <a:r>
              <a:rPr kumimoji="1" lang="zh-CN" altLang="en-US" sz="2800" b="1" dirty="0" smtClean="0">
                <a:solidFill>
                  <a:srgbClr val="003399"/>
                </a:solidFill>
                <a:ea typeface="幼圆" pitchFamily="49" charset="-122"/>
                <a:cs typeface="Times New Roman" panose="02020603050405020304" pitchFamily="18" charset="0"/>
              </a:rPr>
              <a:t>朗肯</a:t>
            </a:r>
            <a:r>
              <a:rPr kumimoji="1" lang="en-US" altLang="zh-CN" sz="2800" b="1" dirty="0">
                <a:solidFill>
                  <a:srgbClr val="003399"/>
                </a:solidFill>
                <a:ea typeface="幼圆" pitchFamily="49" charset="-122"/>
                <a:cs typeface="Times New Roman" panose="02020603050405020304" pitchFamily="18" charset="0"/>
              </a:rPr>
              <a:t>(</a:t>
            </a:r>
            <a:r>
              <a:rPr kumimoji="1" lang="en-US" altLang="zh-CN" sz="2800" b="1" dirty="0" err="1">
                <a:solidFill>
                  <a:srgbClr val="003399"/>
                </a:solidFill>
                <a:ea typeface="幼圆" pitchFamily="49" charset="-122"/>
                <a:cs typeface="Times New Roman" panose="02020603050405020304" pitchFamily="18" charset="0"/>
              </a:rPr>
              <a:t>Rankine</a:t>
            </a:r>
            <a:r>
              <a:rPr kumimoji="1" lang="en-US" altLang="zh-CN" sz="2800" b="1" dirty="0">
                <a:solidFill>
                  <a:srgbClr val="003399"/>
                </a:solidFill>
                <a:ea typeface="幼圆" pitchFamily="49" charset="-122"/>
                <a:cs typeface="Times New Roman" panose="02020603050405020304" pitchFamily="18" charset="0"/>
              </a:rPr>
              <a:t>)</a:t>
            </a:r>
            <a:r>
              <a:rPr kumimoji="1" lang="zh-CN" altLang="en-US" sz="2800" b="1" dirty="0">
                <a:solidFill>
                  <a:srgbClr val="003399"/>
                </a:solidFill>
                <a:ea typeface="幼圆" pitchFamily="49" charset="-122"/>
                <a:cs typeface="Times New Roman" panose="02020603050405020304" pitchFamily="18" charset="0"/>
              </a:rPr>
              <a:t>土压力理论</a:t>
            </a:r>
          </a:p>
        </p:txBody>
      </p:sp>
    </p:spTree>
    <p:extLst>
      <p:ext uri="{BB962C8B-B14F-4D97-AF65-F5344CB8AC3E}">
        <p14:creationId xmlns:p14="http://schemas.microsoft.com/office/powerpoint/2010/main" val="157342167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29</a:t>
            </a:fld>
            <a:endParaRPr lang="zh-CN" altLang="en-US" dirty="0">
              <a:solidFill>
                <a:srgbClr val="C00000"/>
              </a:solidFill>
            </a:endParaRPr>
          </a:p>
        </p:txBody>
      </p:sp>
      <p:sp>
        <p:nvSpPr>
          <p:cNvPr id="5" name="Text Box 4"/>
          <p:cNvSpPr txBox="1">
            <a:spLocks noChangeArrowheads="1"/>
          </p:cNvSpPr>
          <p:nvPr/>
        </p:nvSpPr>
        <p:spPr bwMode="auto">
          <a:xfrm>
            <a:off x="1479572" y="3628049"/>
            <a:ext cx="7291346" cy="238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4000"/>
              </a:lnSpc>
              <a:spcBef>
                <a:spcPct val="50000"/>
              </a:spcBef>
              <a:spcAft>
                <a:spcPct val="0"/>
              </a:spcAft>
            </a:pPr>
            <a:r>
              <a:rPr kumimoji="1" lang="zh-CN" altLang="en-US" sz="2400" b="1" dirty="0">
                <a:solidFill>
                  <a:srgbClr val="000066"/>
                </a:solidFill>
                <a:latin typeface="幼圆" pitchFamily="49" charset="-122"/>
                <a:ea typeface="幼圆" pitchFamily="49" charset="-122"/>
              </a:rPr>
              <a:t>英国</a:t>
            </a:r>
            <a:r>
              <a:rPr kumimoji="1" lang="zh-CN" altLang="en-US" sz="2400" b="1" dirty="0" smtClean="0">
                <a:solidFill>
                  <a:srgbClr val="000066"/>
                </a:solidFill>
                <a:latin typeface="幼圆" pitchFamily="49" charset="-122"/>
                <a:ea typeface="幼圆" pitchFamily="49" charset="-122"/>
              </a:rPr>
              <a:t>科学家，被</a:t>
            </a:r>
            <a:r>
              <a:rPr kumimoji="1" lang="zh-CN" altLang="en-US" sz="2400" b="1" dirty="0">
                <a:solidFill>
                  <a:srgbClr val="000066"/>
                </a:solidFill>
                <a:latin typeface="幼圆" pitchFamily="49" charset="-122"/>
                <a:ea typeface="幼圆" pitchFamily="49" charset="-122"/>
              </a:rPr>
              <a:t>后人誉为那个时代的</a:t>
            </a:r>
            <a:r>
              <a:rPr kumimoji="1" lang="zh-CN" altLang="en-US" sz="2400" b="1" dirty="0" smtClean="0">
                <a:solidFill>
                  <a:srgbClr val="000066"/>
                </a:solidFill>
                <a:latin typeface="幼圆" pitchFamily="49" charset="-122"/>
                <a:ea typeface="幼圆" pitchFamily="49" charset="-122"/>
              </a:rPr>
              <a:t>天才。在</a:t>
            </a:r>
            <a:r>
              <a:rPr kumimoji="1" lang="zh-CN" altLang="en-US" sz="2400" b="1" dirty="0">
                <a:solidFill>
                  <a:srgbClr val="000066"/>
                </a:solidFill>
                <a:latin typeface="幼圆" pitchFamily="49" charset="-122"/>
                <a:ea typeface="幼圆" pitchFamily="49" charset="-122"/>
              </a:rPr>
              <a:t>热力学、</a:t>
            </a:r>
            <a:r>
              <a:rPr kumimoji="1" lang="zh-CN" altLang="en-US" sz="2400" b="1" dirty="0" smtClean="0">
                <a:solidFill>
                  <a:srgbClr val="000066"/>
                </a:solidFill>
                <a:latin typeface="幼圆" pitchFamily="49" charset="-122"/>
                <a:ea typeface="幼圆" pitchFamily="49" charset="-122"/>
              </a:rPr>
              <a:t>流体力学及</a:t>
            </a:r>
            <a:r>
              <a:rPr kumimoji="1" lang="zh-CN" altLang="en-US" sz="2400" b="1" dirty="0">
                <a:solidFill>
                  <a:srgbClr val="000066"/>
                </a:solidFill>
                <a:latin typeface="幼圆" pitchFamily="49" charset="-122"/>
                <a:ea typeface="幼圆" pitchFamily="49" charset="-122"/>
              </a:rPr>
              <a:t>土力学等领域均有杰出的贡献</a:t>
            </a:r>
            <a:r>
              <a:rPr kumimoji="1" lang="zh-CN" altLang="en-US" sz="2400" b="1" dirty="0" smtClean="0">
                <a:solidFill>
                  <a:srgbClr val="000066"/>
                </a:solidFill>
                <a:latin typeface="幼圆" pitchFamily="49" charset="-122"/>
                <a:ea typeface="幼圆" pitchFamily="49" charset="-122"/>
              </a:rPr>
              <a:t>。朗肯</a:t>
            </a:r>
            <a:r>
              <a:rPr kumimoji="1" lang="zh-CN" altLang="en-US" sz="2400" b="1" dirty="0">
                <a:solidFill>
                  <a:srgbClr val="000066"/>
                </a:solidFill>
                <a:latin typeface="幼圆" pitchFamily="49" charset="-122"/>
                <a:ea typeface="幼圆" pitchFamily="49" charset="-122"/>
              </a:rPr>
              <a:t>计算出的热力学循环</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后称为朗肯循环</a:t>
            </a:r>
            <a:r>
              <a:rPr kumimoji="1" lang="en-US" altLang="zh-CN" sz="2400" b="1" dirty="0">
                <a:solidFill>
                  <a:srgbClr val="000066"/>
                </a:solidFill>
                <a:latin typeface="幼圆" pitchFamily="49" charset="-122"/>
                <a:ea typeface="幼圆" pitchFamily="49" charset="-122"/>
              </a:rPr>
              <a:t>)</a:t>
            </a:r>
            <a:r>
              <a:rPr kumimoji="1" lang="zh-CN" altLang="en-US" sz="2400" b="1" dirty="0">
                <a:solidFill>
                  <a:srgbClr val="000066"/>
                </a:solidFill>
                <a:latin typeface="幼圆" pitchFamily="49" charset="-122"/>
                <a:ea typeface="幼圆" pitchFamily="49" charset="-122"/>
              </a:rPr>
              <a:t>的热效率，被作为是蒸汽动力发电厂性能的对比</a:t>
            </a:r>
            <a:r>
              <a:rPr kumimoji="1" lang="zh-CN" altLang="en-US" sz="2400" b="1" dirty="0" smtClean="0">
                <a:solidFill>
                  <a:srgbClr val="000066"/>
                </a:solidFill>
                <a:latin typeface="幼圆" pitchFamily="49" charset="-122"/>
                <a:ea typeface="幼圆" pitchFamily="49" charset="-122"/>
              </a:rPr>
              <a:t>标准。</a:t>
            </a:r>
            <a:endParaRPr kumimoji="1" lang="en-US" altLang="zh-CN" sz="2400" b="1" dirty="0" smtClean="0">
              <a:solidFill>
                <a:srgbClr val="000066"/>
              </a:solidFill>
              <a:latin typeface="幼圆" pitchFamily="49" charset="-122"/>
              <a:ea typeface="幼圆" pitchFamily="49" charset="-122"/>
            </a:endParaRPr>
          </a:p>
          <a:p>
            <a:pPr eaLnBrk="1" hangingPunct="1">
              <a:lnSpc>
                <a:spcPct val="114000"/>
              </a:lnSpc>
              <a:spcBef>
                <a:spcPct val="50000"/>
              </a:spcBef>
              <a:spcAft>
                <a:spcPct val="0"/>
              </a:spcAft>
            </a:pPr>
            <a:r>
              <a:rPr kumimoji="1" lang="zh-CN" altLang="en-US" sz="2400" b="1" dirty="0">
                <a:solidFill>
                  <a:srgbClr val="000066"/>
                </a:solidFill>
                <a:latin typeface="幼圆" pitchFamily="49" charset="-122"/>
                <a:ea typeface="幼圆" pitchFamily="49" charset="-122"/>
              </a:rPr>
              <a:t>朗肯于</a:t>
            </a:r>
            <a:r>
              <a:rPr kumimoji="1" lang="en-US" altLang="zh-CN" sz="2400" b="1" dirty="0">
                <a:solidFill>
                  <a:srgbClr val="000066"/>
                </a:solidFill>
                <a:latin typeface="幼圆" pitchFamily="49" charset="-122"/>
                <a:ea typeface="幼圆" pitchFamily="49" charset="-122"/>
              </a:rPr>
              <a:t>1857</a:t>
            </a:r>
            <a:r>
              <a:rPr kumimoji="1" lang="zh-CN" altLang="en-US" sz="2400" b="1" dirty="0">
                <a:solidFill>
                  <a:srgbClr val="000066"/>
                </a:solidFill>
                <a:latin typeface="幼圆" pitchFamily="49" charset="-122"/>
                <a:ea typeface="幼圆" pitchFamily="49" charset="-122"/>
              </a:rPr>
              <a:t>年</a:t>
            </a:r>
            <a:r>
              <a:rPr kumimoji="1" lang="zh-CN" altLang="en-US" sz="2400" b="1" dirty="0" smtClean="0">
                <a:solidFill>
                  <a:srgbClr val="000066"/>
                </a:solidFill>
                <a:latin typeface="幼圆" pitchFamily="49" charset="-122"/>
                <a:ea typeface="幼圆" pitchFamily="49" charset="-122"/>
              </a:rPr>
              <a:t>提出古典</a:t>
            </a:r>
            <a:r>
              <a:rPr kumimoji="1" lang="zh-CN" altLang="en-US" sz="2400" b="1" dirty="0">
                <a:solidFill>
                  <a:srgbClr val="000066"/>
                </a:solidFill>
                <a:latin typeface="幼圆" pitchFamily="49" charset="-122"/>
                <a:ea typeface="幼圆" pitchFamily="49" charset="-122"/>
              </a:rPr>
              <a:t>土压力</a:t>
            </a:r>
            <a:r>
              <a:rPr kumimoji="1" lang="zh-CN" altLang="en-US" sz="2400" b="1" dirty="0" smtClean="0">
                <a:solidFill>
                  <a:srgbClr val="000066"/>
                </a:solidFill>
                <a:latin typeface="幼圆" pitchFamily="49" charset="-122"/>
                <a:ea typeface="幼圆" pitchFamily="49" charset="-122"/>
              </a:rPr>
              <a:t>理论。</a:t>
            </a:r>
            <a:endParaRPr kumimoji="1" lang="zh-CN" altLang="en-US" sz="2400" b="1" dirty="0">
              <a:solidFill>
                <a:srgbClr val="000066"/>
              </a:solidFill>
              <a:latin typeface="幼圆" pitchFamily="49" charset="-122"/>
              <a:ea typeface="幼圆" pitchFamily="49" charset="-122"/>
            </a:endParaRPr>
          </a:p>
        </p:txBody>
      </p:sp>
      <p:sp>
        <p:nvSpPr>
          <p:cNvPr id="6" name="Rectangle 5"/>
          <p:cNvSpPr>
            <a:spLocks noChangeArrowheads="1"/>
          </p:cNvSpPr>
          <p:nvPr/>
        </p:nvSpPr>
        <p:spPr bwMode="auto">
          <a:xfrm>
            <a:off x="4633913" y="1138223"/>
            <a:ext cx="3779837" cy="188974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20000"/>
              </a:spcBef>
              <a:spcAft>
                <a:spcPct val="0"/>
              </a:spcAft>
            </a:pPr>
            <a:r>
              <a:rPr kumimoji="1" lang="zh-CN" altLang="en-US" sz="4000" dirty="0" smtClean="0">
                <a:solidFill>
                  <a:srgbClr val="A50021"/>
                </a:solidFill>
                <a:ea typeface="黑体" pitchFamily="2" charset="-122"/>
                <a:cs typeface="Times New Roman" panose="02020603050405020304" pitchFamily="18" charset="0"/>
              </a:rPr>
              <a:t>朗肯</a:t>
            </a:r>
            <a:endParaRPr kumimoji="1" lang="en-US" altLang="zh-CN" sz="4000" dirty="0" smtClean="0">
              <a:solidFill>
                <a:srgbClr val="A50021"/>
              </a:solidFill>
              <a:ea typeface="黑体" pitchFamily="2" charset="-122"/>
              <a:cs typeface="Times New Roman" panose="02020603050405020304" pitchFamily="18" charset="0"/>
            </a:endParaRPr>
          </a:p>
          <a:p>
            <a:pPr algn="ctr">
              <a:lnSpc>
                <a:spcPct val="100000"/>
              </a:lnSpc>
              <a:spcBef>
                <a:spcPct val="20000"/>
              </a:spcBef>
              <a:spcAft>
                <a:spcPct val="0"/>
              </a:spcAft>
            </a:pPr>
            <a:r>
              <a:rPr kumimoji="1" lang="zh-CN" altLang="en-US" sz="3200" dirty="0" smtClean="0">
                <a:solidFill>
                  <a:srgbClr val="A50021"/>
                </a:solidFill>
                <a:ea typeface="黑体" pitchFamily="2" charset="-122"/>
                <a:cs typeface="Times New Roman" panose="02020603050405020304" pitchFamily="18" charset="0"/>
              </a:rPr>
              <a:t>（</a:t>
            </a:r>
            <a:r>
              <a:rPr kumimoji="1" lang="en-US" altLang="zh-CN" sz="3200" dirty="0">
                <a:solidFill>
                  <a:srgbClr val="A50021"/>
                </a:solidFill>
                <a:ea typeface="黑体" pitchFamily="2" charset="-122"/>
                <a:cs typeface="Times New Roman" panose="02020603050405020304" pitchFamily="18" charset="0"/>
              </a:rPr>
              <a:t>W.J.M. </a:t>
            </a:r>
            <a:r>
              <a:rPr kumimoji="1" lang="en-US" altLang="zh-CN" sz="3200" dirty="0" err="1">
                <a:solidFill>
                  <a:srgbClr val="A50021"/>
                </a:solidFill>
                <a:ea typeface="黑体" pitchFamily="2" charset="-122"/>
                <a:cs typeface="Times New Roman" panose="02020603050405020304" pitchFamily="18" charset="0"/>
              </a:rPr>
              <a:t>Rankine</a:t>
            </a:r>
            <a:r>
              <a:rPr kumimoji="1" lang="zh-CN" altLang="en-US" sz="3200" dirty="0" smtClean="0">
                <a:solidFill>
                  <a:srgbClr val="A50021"/>
                </a:solidFill>
                <a:ea typeface="黑体" pitchFamily="2" charset="-122"/>
                <a:cs typeface="Times New Roman" panose="02020603050405020304" pitchFamily="18" charset="0"/>
              </a:rPr>
              <a:t>）</a:t>
            </a:r>
            <a:endParaRPr kumimoji="1" lang="zh-CN" altLang="en-US" sz="3200" dirty="0">
              <a:solidFill>
                <a:srgbClr val="A50021"/>
              </a:solidFill>
              <a:ea typeface="黑体" pitchFamily="2" charset="-122"/>
              <a:cs typeface="Times New Roman" panose="02020603050405020304" pitchFamily="18" charset="0"/>
            </a:endParaRPr>
          </a:p>
          <a:p>
            <a:pPr algn="ctr">
              <a:lnSpc>
                <a:spcPct val="100000"/>
              </a:lnSpc>
              <a:spcBef>
                <a:spcPct val="20000"/>
              </a:spcBef>
              <a:spcAft>
                <a:spcPct val="0"/>
              </a:spcAft>
            </a:pPr>
            <a:r>
              <a:rPr kumimoji="1" lang="en-US" altLang="zh-CN" sz="3200" dirty="0">
                <a:solidFill>
                  <a:srgbClr val="A50021"/>
                </a:solidFill>
                <a:ea typeface="黑体" pitchFamily="2" charset="-122"/>
                <a:cs typeface="Times New Roman" panose="02020603050405020304" pitchFamily="18" charset="0"/>
              </a:rPr>
              <a:t>(</a:t>
            </a:r>
            <a:r>
              <a:rPr kumimoji="1" lang="en-US" altLang="zh-CN" sz="3200" dirty="0" smtClean="0">
                <a:solidFill>
                  <a:srgbClr val="A50021"/>
                </a:solidFill>
                <a:ea typeface="黑体" pitchFamily="2" charset="-122"/>
                <a:cs typeface="Times New Roman" panose="02020603050405020304" pitchFamily="18" charset="0"/>
              </a:rPr>
              <a:t>1820~1872)</a:t>
            </a:r>
            <a:endParaRPr kumimoji="1" lang="en-US" altLang="zh-CN" sz="3200" dirty="0">
              <a:solidFill>
                <a:srgbClr val="A50021"/>
              </a:solidFill>
              <a:ea typeface="黑体" pitchFamily="2" charset="-122"/>
              <a:cs typeface="Times New Roman" panose="02020603050405020304" pitchFamily="18" charset="0"/>
            </a:endParaRPr>
          </a:p>
        </p:txBody>
      </p:sp>
      <p:sp>
        <p:nvSpPr>
          <p:cNvPr id="8"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a:t>
            </a:r>
            <a:r>
              <a:rPr lang="zh-CN" altLang="en-US" sz="1800" b="1" kern="900" spc="130" dirty="0">
                <a:solidFill>
                  <a:srgbClr val="000066"/>
                </a:solidFill>
                <a:ea typeface="黑体" panose="02010609060101010101" pitchFamily="49" charset="-122"/>
                <a:cs typeface="Times New Roman" panose="02020603050405020304" pitchFamily="18" charset="0"/>
              </a:rPr>
              <a:t>理论</a:t>
            </a:r>
          </a:p>
        </p:txBody>
      </p:sp>
      <p:pic>
        <p:nvPicPr>
          <p:cNvPr id="10"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7218" y="609100"/>
            <a:ext cx="2550240" cy="284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39419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1" fill="hold" grpId="0" nodeType="afterEffect">
                                  <p:stCondLst>
                                    <p:cond delay="0"/>
                                  </p:stCondLst>
                                  <p:iterate type="lt">
                                    <p:tmPct val="100000"/>
                                  </p:iterate>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75"/>
                                        <p:tgtEl>
                                          <p:spTgt spid="5">
                                            <p:txEl>
                                              <p:pRg st="0" end="0"/>
                                            </p:txEl>
                                          </p:spTgt>
                                        </p:tgtEl>
                                      </p:cBhvr>
                                    </p:animEffect>
                                  </p:childTnLst>
                                  <p:subTnLst>
                                    <p:audio>
                                      <p:cMediaNode>
                                        <p:cTn display="0" masterRel="sameClick">
                                          <p:stCondLst>
                                            <p:cond evt="begin" delay="0">
                                              <p:tn val="12"/>
                                            </p:cond>
                                          </p:stCondLst>
                                          <p:endCondLst>
                                            <p:cond evt="onStopAudio" delay="0">
                                              <p:tgtEl>
                                                <p:sldTgt/>
                                              </p:tgtEl>
                                            </p:cond>
                                          </p:endCondLst>
                                        </p:cTn>
                                        <p:tgtEl>
                                          <p:sndTgt r:embed="rId3" name="TYPE.WAV"/>
                                        </p:tgtEl>
                                      </p:cMediaNode>
                                    </p:audio>
                                  </p:subTnLst>
                                </p:cTn>
                              </p:par>
                            </p:childTnLst>
                          </p:cTn>
                        </p:par>
                        <p:par>
                          <p:cTn id="15" fill="hold">
                            <p:stCondLst>
                              <p:cond delay="7525"/>
                            </p:stCondLst>
                            <p:childTnLst>
                              <p:par>
                                <p:cTn id="16" presetID="22" presetClass="entr" presetSubtype="1" fill="hold" grpId="0" nodeType="afterEffect">
                                  <p:stCondLst>
                                    <p:cond delay="0"/>
                                  </p:stCondLst>
                                  <p:iterate type="lt">
                                    <p:tmPct val="100000"/>
                                  </p:iterate>
                                  <p:childTnLst>
                                    <p:set>
                                      <p:cBhvr>
                                        <p:cTn id="17" dur="1" fill="hold">
                                          <p:stCondLst>
                                            <p:cond delay="0"/>
                                          </p:stCondLst>
                                        </p:cTn>
                                        <p:tgtEl>
                                          <p:spTgt spid="5">
                                            <p:txEl>
                                              <p:pRg st="1" end="1"/>
                                            </p:txEl>
                                          </p:spTgt>
                                        </p:tgtEl>
                                        <p:attrNameLst>
                                          <p:attrName>style.visibility</p:attrName>
                                        </p:attrNameLst>
                                      </p:cBhvr>
                                      <p:to>
                                        <p:strVal val="visible"/>
                                      </p:to>
                                    </p:set>
                                    <p:animEffect transition="in" filter="wipe(up)">
                                      <p:cBhvr>
                                        <p:cTn id="18" dur="75"/>
                                        <p:tgtEl>
                                          <p:spTgt spid="5">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utoUpdateAnimBg="0"/>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30</a:t>
            </a:fld>
            <a:endParaRPr lang="zh-CN" altLang="en-US" dirty="0">
              <a:solidFill>
                <a:srgbClr val="C00000"/>
              </a:solidFill>
            </a:endParaRPr>
          </a:p>
        </p:txBody>
      </p:sp>
      <p:sp>
        <p:nvSpPr>
          <p:cNvPr id="61" name="Text Box 2"/>
          <p:cNvSpPr txBox="1">
            <a:spLocks noChangeArrowheads="1"/>
          </p:cNvSpPr>
          <p:nvPr/>
        </p:nvSpPr>
        <p:spPr bwMode="auto">
          <a:xfrm>
            <a:off x="2687513" y="5701142"/>
            <a:ext cx="402336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朗肯土压力</a:t>
            </a:r>
            <a:r>
              <a:rPr kumimoji="1" lang="zh-CN" altLang="en-US" sz="4000" b="1" dirty="0">
                <a:solidFill>
                  <a:srgbClr val="000066"/>
                </a:solidFill>
                <a:latin typeface="黑体" pitchFamily="2" charset="-122"/>
                <a:ea typeface="黑体" pitchFamily="2" charset="-122"/>
              </a:rPr>
              <a:t>理论</a:t>
            </a:r>
          </a:p>
        </p:txBody>
      </p:sp>
      <p:sp>
        <p:nvSpPr>
          <p:cNvPr id="62" name="Text Box 3"/>
          <p:cNvSpPr txBox="1">
            <a:spLocks noChangeArrowheads="1"/>
          </p:cNvSpPr>
          <p:nvPr/>
        </p:nvSpPr>
        <p:spPr bwMode="auto">
          <a:xfrm>
            <a:off x="2028576" y="1605694"/>
            <a:ext cx="5334000" cy="241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latin typeface="幼圆" pitchFamily="49" charset="-122"/>
                <a:ea typeface="幼圆" pitchFamily="49" charset="-122"/>
              </a:rPr>
              <a:t>基本原理</a:t>
            </a:r>
            <a:endParaRPr lang="zh-CN" altLang="en-US" sz="3200" b="1" dirty="0">
              <a:solidFill>
                <a:srgbClr val="000066"/>
              </a:solidFill>
              <a:latin typeface="幼圆" pitchFamily="49" charset="-122"/>
              <a:ea typeface="幼圆" pitchFamily="49" charset="-122"/>
            </a:endParaRP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a:solidFill>
                  <a:srgbClr val="000066"/>
                </a:solidFill>
                <a:latin typeface="幼圆" pitchFamily="49" charset="-122"/>
                <a:ea typeface="幼圆" pitchFamily="49" charset="-122"/>
              </a:rPr>
              <a:t>适用条件及基本假定</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latin typeface="幼圆" pitchFamily="49" charset="-122"/>
                <a:ea typeface="幼圆" pitchFamily="49" charset="-122"/>
              </a:rPr>
              <a:t>郎肯主动土压力计算</a:t>
            </a:r>
            <a:endParaRPr lang="en-US" altLang="zh-CN" sz="3200" b="1" dirty="0" smtClean="0">
              <a:solidFill>
                <a:srgbClr val="000066"/>
              </a:solidFill>
              <a:latin typeface="幼圆" pitchFamily="49" charset="-122"/>
              <a:ea typeface="幼圆" pitchFamily="49" charset="-122"/>
            </a:endParaRP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latin typeface="幼圆" pitchFamily="49" charset="-122"/>
                <a:ea typeface="幼圆" pitchFamily="49" charset="-122"/>
              </a:rPr>
              <a:t>郎肯被动土压力计算</a:t>
            </a:r>
            <a:endParaRPr lang="zh-CN" altLang="en-US" sz="3200" b="1" dirty="0">
              <a:solidFill>
                <a:srgbClr val="000066"/>
              </a:solidFill>
              <a:latin typeface="幼圆" pitchFamily="49" charset="-122"/>
              <a:ea typeface="幼圆" pitchFamily="49" charset="-122"/>
            </a:endParaRPr>
          </a:p>
        </p:txBody>
      </p:sp>
      <p:sp>
        <p:nvSpPr>
          <p:cNvPr id="6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a:t>
            </a:r>
            <a:r>
              <a:rPr lang="zh-CN" altLang="en-US" sz="1800" b="1" kern="900" spc="130" dirty="0">
                <a:solidFill>
                  <a:srgbClr val="000066"/>
                </a:solidFill>
                <a:ea typeface="黑体" panose="02010609060101010101" pitchFamily="49" charset="-122"/>
                <a:cs typeface="Times New Roman" panose="02020603050405020304" pitchFamily="18" charset="0"/>
              </a:rPr>
              <a:t>理论</a:t>
            </a:r>
          </a:p>
        </p:txBody>
      </p:sp>
    </p:spTree>
    <p:extLst>
      <p:ext uri="{BB962C8B-B14F-4D97-AF65-F5344CB8AC3E}">
        <p14:creationId xmlns:p14="http://schemas.microsoft.com/office/powerpoint/2010/main" val="283562305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slide(fromLeft)">
                                      <p:cBhvr>
                                        <p:cTn id="7" dur="500"/>
                                        <p:tgtEl>
                                          <p:spTgt spid="62">
                                            <p:txEl>
                                              <p:pRg st="0" end="0"/>
                                            </p:txEl>
                                          </p:spTgt>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animEffect transition="in" filter="slide(fromLeft)">
                                      <p:cBhvr>
                                        <p:cTn id="11" dur="500"/>
                                        <p:tgtEl>
                                          <p:spTgt spid="62">
                                            <p:txEl>
                                              <p:pRg st="1" end="1"/>
                                            </p:txEl>
                                          </p:spTgt>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animEffect transition="in" filter="slide(fromLeft)">
                                      <p:cBhvr>
                                        <p:cTn id="15" dur="500"/>
                                        <p:tgtEl>
                                          <p:spTgt spid="62">
                                            <p:txEl>
                                              <p:pRg st="2" end="2"/>
                                            </p:txEl>
                                          </p:spTgt>
                                        </p:tgtEl>
                                      </p:cBhvr>
                                    </p:animEffect>
                                  </p:childTnLst>
                                </p:cTn>
                              </p:par>
                            </p:childTnLst>
                          </p:cTn>
                        </p:par>
                        <p:par>
                          <p:cTn id="16" fill="hold">
                            <p:stCondLst>
                              <p:cond delay="1500"/>
                            </p:stCondLst>
                            <p:childTnLst>
                              <p:par>
                                <p:cTn id="17" presetID="12" presetClass="entr" presetSubtype="8" fill="hold" grpId="0" nodeType="afterEffect">
                                  <p:stCondLst>
                                    <p:cond delay="0"/>
                                  </p:stCondLst>
                                  <p:childTnLst>
                                    <p:set>
                                      <p:cBhvr>
                                        <p:cTn id="18" dur="1" fill="hold">
                                          <p:stCondLst>
                                            <p:cond delay="0"/>
                                          </p:stCondLst>
                                        </p:cTn>
                                        <p:tgtEl>
                                          <p:spTgt spid="62">
                                            <p:txEl>
                                              <p:pRg st="3" end="3"/>
                                            </p:txEl>
                                          </p:spTgt>
                                        </p:tgtEl>
                                        <p:attrNameLst>
                                          <p:attrName>style.visibility</p:attrName>
                                        </p:attrNameLst>
                                      </p:cBhvr>
                                      <p:to>
                                        <p:strVal val="visible"/>
                                      </p:to>
                                    </p:set>
                                    <p:animEffect transition="in" filter="slide(fromLeft)">
                                      <p:cBhvr>
                                        <p:cTn id="19" dur="500"/>
                                        <p:tgtEl>
                                          <p:spTgt spid="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5612634" y="1986266"/>
            <a:ext cx="3219062" cy="1872010"/>
            <a:chOff x="5612634" y="1986266"/>
            <a:chExt cx="3219062" cy="1872010"/>
          </a:xfrm>
        </p:grpSpPr>
        <p:sp>
          <p:nvSpPr>
            <p:cNvPr id="2" name="矩形 1"/>
            <p:cNvSpPr/>
            <p:nvPr/>
          </p:nvSpPr>
          <p:spPr bwMode="auto">
            <a:xfrm>
              <a:off x="5612634" y="1986276"/>
              <a:ext cx="3219062" cy="1872000"/>
            </a:xfrm>
            <a:prstGeom prst="rect">
              <a:avLst/>
            </a:pr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5612634" y="1986266"/>
              <a:ext cx="321742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矩形 77"/>
          <p:cNvSpPr/>
          <p:nvPr/>
        </p:nvSpPr>
        <p:spPr bwMode="auto">
          <a:xfrm>
            <a:off x="5563595" y="1968667"/>
            <a:ext cx="1080721" cy="1908000"/>
          </a:xfrm>
          <a:prstGeom prst="rect">
            <a:avLst/>
          </a:prstGeom>
          <a:solidFill>
            <a:schemeClr val="bg1"/>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31</a:t>
            </a:fld>
            <a:endParaRPr lang="zh-CN" altLang="en-US" dirty="0">
              <a:solidFill>
                <a:srgbClr val="C00000"/>
              </a:solidFill>
            </a:endParaRPr>
          </a:p>
        </p:txBody>
      </p:sp>
      <p:sp>
        <p:nvSpPr>
          <p:cNvPr id="80" name="Text Box 46"/>
          <p:cNvSpPr txBox="1">
            <a:spLocks noChangeArrowheads="1"/>
          </p:cNvSpPr>
          <p:nvPr/>
        </p:nvSpPr>
        <p:spPr bwMode="auto">
          <a:xfrm>
            <a:off x="363384" y="764183"/>
            <a:ext cx="21512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基本原理</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30" name="Text Box 4"/>
          <p:cNvSpPr txBox="1">
            <a:spLocks noChangeArrowheads="1"/>
          </p:cNvSpPr>
          <p:nvPr/>
        </p:nvSpPr>
        <p:spPr bwMode="auto">
          <a:xfrm>
            <a:off x="715005" y="1777073"/>
            <a:ext cx="45267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5113" indent="-265113" eaLnBrk="1" hangingPunct="1">
              <a:lnSpc>
                <a:spcPct val="100000"/>
              </a:lnSpc>
              <a:buClr>
                <a:srgbClr val="A50021"/>
              </a:buClr>
              <a:buFont typeface="+mj-lt"/>
              <a:buAutoNum type="arabicPeriod"/>
            </a:pPr>
            <a:r>
              <a:rPr lang="zh-CN" altLang="en-US" sz="2800" b="1" dirty="0" smtClean="0">
                <a:solidFill>
                  <a:srgbClr val="C00000"/>
                </a:solidFill>
                <a:ea typeface="幼圆" pitchFamily="49" charset="-122"/>
              </a:rPr>
              <a:t> 主动极限</a:t>
            </a:r>
            <a:r>
              <a:rPr lang="zh-CN" altLang="en-US" sz="2800" b="1" dirty="0">
                <a:solidFill>
                  <a:srgbClr val="C00000"/>
                </a:solidFill>
                <a:ea typeface="幼圆" pitchFamily="49" charset="-122"/>
              </a:rPr>
              <a:t>平衡应力状态</a:t>
            </a:r>
          </a:p>
        </p:txBody>
      </p:sp>
      <p:sp>
        <p:nvSpPr>
          <p:cNvPr id="61" name="Text Box 2"/>
          <p:cNvSpPr txBox="1">
            <a:spLocks noChangeArrowheads="1"/>
          </p:cNvSpPr>
          <p:nvPr/>
        </p:nvSpPr>
        <p:spPr bwMode="auto">
          <a:xfrm>
            <a:off x="3513519" y="5773334"/>
            <a:ext cx="24550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基本原理</a:t>
            </a:r>
            <a:endParaRPr kumimoji="1" lang="zh-CN" altLang="en-US" sz="4000" b="1" dirty="0">
              <a:solidFill>
                <a:srgbClr val="000066"/>
              </a:solidFill>
              <a:latin typeface="黑体" pitchFamily="2" charset="-122"/>
              <a:ea typeface="黑体" pitchFamily="2" charset="-122"/>
            </a:endParaRPr>
          </a:p>
        </p:txBody>
      </p:sp>
      <p:sp>
        <p:nvSpPr>
          <p:cNvPr id="5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基本原理</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5" name="组合 4"/>
          <p:cNvGrpSpPr/>
          <p:nvPr/>
        </p:nvGrpSpPr>
        <p:grpSpPr>
          <a:xfrm>
            <a:off x="5949522" y="4016897"/>
            <a:ext cx="3099051" cy="2080395"/>
            <a:chOff x="5949522" y="4016897"/>
            <a:chExt cx="3099051" cy="2080395"/>
          </a:xfrm>
        </p:grpSpPr>
        <p:sp>
          <p:nvSpPr>
            <p:cNvPr id="57" name="Line 4"/>
            <p:cNvSpPr>
              <a:spLocks noChangeShapeType="1"/>
            </p:cNvSpPr>
            <p:nvPr/>
          </p:nvSpPr>
          <p:spPr bwMode="auto">
            <a:xfrm>
              <a:off x="5949522" y="5694067"/>
              <a:ext cx="301481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8" name="Line 5"/>
            <p:cNvSpPr>
              <a:spLocks noChangeShapeType="1"/>
            </p:cNvSpPr>
            <p:nvPr/>
          </p:nvSpPr>
          <p:spPr bwMode="auto">
            <a:xfrm flipV="1">
              <a:off x="5959194" y="4190403"/>
              <a:ext cx="0" cy="150593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9" name="Text Box 6"/>
            <p:cNvSpPr txBox="1">
              <a:spLocks noChangeArrowheads="1"/>
            </p:cNvSpPr>
            <p:nvPr/>
          </p:nvSpPr>
          <p:spPr bwMode="auto">
            <a:xfrm>
              <a:off x="8662810" y="5640092"/>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sp>
          <p:nvSpPr>
            <p:cNvPr id="60" name="Text Box 7"/>
            <p:cNvSpPr txBox="1">
              <a:spLocks noChangeArrowheads="1"/>
            </p:cNvSpPr>
            <p:nvPr/>
          </p:nvSpPr>
          <p:spPr bwMode="auto">
            <a:xfrm>
              <a:off x="5990270" y="4016897"/>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grpSp>
          <p:nvGrpSpPr>
            <p:cNvPr id="62" name="组合 61"/>
            <p:cNvGrpSpPr/>
            <p:nvPr/>
          </p:nvGrpSpPr>
          <p:grpSpPr>
            <a:xfrm>
              <a:off x="5955872" y="4202680"/>
              <a:ext cx="2849710" cy="1183069"/>
              <a:chOff x="1281258" y="2508847"/>
              <a:chExt cx="2849710" cy="1183069"/>
            </a:xfrm>
          </p:grpSpPr>
          <p:sp>
            <p:nvSpPr>
              <p:cNvPr id="63" name="Line 10"/>
              <p:cNvSpPr>
                <a:spLocks noChangeShapeType="1"/>
              </p:cNvSpPr>
              <p:nvPr/>
            </p:nvSpPr>
            <p:spPr bwMode="auto">
              <a:xfrm flipV="1">
                <a:off x="1281258" y="2614346"/>
                <a:ext cx="2849710" cy="1077570"/>
              </a:xfrm>
              <a:prstGeom prst="line">
                <a:avLst/>
              </a:prstGeom>
              <a:noFill/>
              <a:ln w="254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16"/>
              <p:cNvSpPr>
                <a:spLocks noChangeShapeType="1"/>
              </p:cNvSpPr>
              <p:nvPr/>
            </p:nvSpPr>
            <p:spPr bwMode="auto">
              <a:xfrm flipH="1" flipV="1">
                <a:off x="2805264" y="2833590"/>
                <a:ext cx="35891" cy="2133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17"/>
              <p:cNvSpPr txBox="1">
                <a:spLocks noChangeArrowheads="1"/>
              </p:cNvSpPr>
              <p:nvPr/>
            </p:nvSpPr>
            <p:spPr bwMode="auto">
              <a:xfrm>
                <a:off x="1855330" y="2508847"/>
                <a:ext cx="1535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000066"/>
                    </a:solidFill>
                    <a:ea typeface="幼圆" pitchFamily="49" charset="-122"/>
                    <a:cs typeface="Times New Roman" panose="02020603050405020304" pitchFamily="18" charset="0"/>
                    <a:sym typeface="Symbol" pitchFamily="18" charset="2"/>
                  </a:rPr>
                  <a:t></a:t>
                </a:r>
                <a:r>
                  <a:rPr lang="en-US" altLang="zh-CN" sz="2000" b="1" baseline="-25000" dirty="0" smtClean="0">
                    <a:solidFill>
                      <a:srgbClr val="000066"/>
                    </a:solidFill>
                    <a:ea typeface="幼圆" pitchFamily="49" charset="-122"/>
                    <a:cs typeface="Times New Roman" panose="02020603050405020304" pitchFamily="18" charset="0"/>
                    <a:sym typeface="Symbol" pitchFamily="18" charset="2"/>
                  </a:rPr>
                  <a:t>f</a:t>
                </a:r>
                <a:r>
                  <a:rPr lang="en-US" altLang="zh-CN" sz="2000" b="1" i="1" baseline="-25000"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a:t>
                </a:r>
                <a:r>
                  <a:rPr lang="en-US" altLang="zh-CN" sz="2000" b="1" i="1" dirty="0">
                    <a:solidFill>
                      <a:srgbClr val="000066"/>
                    </a:solidFill>
                    <a:ea typeface="幼圆" pitchFamily="49" charset="-122"/>
                    <a:cs typeface="Times New Roman" panose="02020603050405020304" pitchFamily="18" charset="0"/>
                  </a:rPr>
                  <a:t>c</a:t>
                </a:r>
                <a:r>
                  <a:rPr lang="en-US" altLang="zh-CN" sz="2000" b="1" dirty="0">
                    <a:solidFill>
                      <a:srgbClr val="000066"/>
                    </a:solidFill>
                    <a:ea typeface="幼圆" pitchFamily="49" charset="-122"/>
                    <a:cs typeface="Times New Roman" panose="02020603050405020304" pitchFamily="18" charset="0"/>
                  </a:rPr>
                  <a:t>+</a:t>
                </a:r>
                <a:r>
                  <a:rPr lang="en-US" altLang="zh-CN" sz="2000" b="1" i="1"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tan</a:t>
                </a:r>
                <a:r>
                  <a:rPr lang="en-US" altLang="zh-CN" sz="2000" b="1" i="1" dirty="0" smtClean="0">
                    <a:solidFill>
                      <a:srgbClr val="000066"/>
                    </a:solidFill>
                    <a:ea typeface="幼圆" pitchFamily="49" charset="-122"/>
                    <a:cs typeface="Times New Roman" panose="02020603050405020304" pitchFamily="18" charset="0"/>
                    <a:sym typeface="Symbol"/>
                  </a:rPr>
                  <a:t></a:t>
                </a:r>
                <a:endParaRPr lang="zh-CN" altLang="en-US" sz="2000" b="1" i="1" dirty="0">
                  <a:solidFill>
                    <a:srgbClr val="000066"/>
                  </a:solidFill>
                  <a:ea typeface="幼圆" pitchFamily="49" charset="-122"/>
                  <a:cs typeface="Times New Roman" panose="02020603050405020304" pitchFamily="18" charset="0"/>
                  <a:sym typeface="Symbol" pitchFamily="18" charset="2"/>
                </a:endParaRPr>
              </a:p>
            </p:txBody>
          </p:sp>
        </p:grpSp>
      </p:grpSp>
      <p:sp>
        <p:nvSpPr>
          <p:cNvPr id="71" name="Text Box 4"/>
          <p:cNvSpPr txBox="1">
            <a:spLocks noChangeArrowheads="1"/>
          </p:cNvSpPr>
          <p:nvPr/>
        </p:nvSpPr>
        <p:spPr bwMode="auto">
          <a:xfrm>
            <a:off x="986966" y="2352903"/>
            <a:ext cx="410420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buClr>
                <a:srgbClr val="A50021"/>
              </a:buClr>
            </a:pPr>
            <a:r>
              <a:rPr lang="en-US" altLang="zh-CN" sz="2200" b="1" dirty="0" smtClean="0">
                <a:solidFill>
                  <a:srgbClr val="000066"/>
                </a:solidFill>
                <a:ea typeface="幼圆" pitchFamily="49" charset="-122"/>
              </a:rPr>
              <a:t>1</a:t>
            </a:r>
            <a:r>
              <a:rPr lang="zh-CN" altLang="en-US" sz="2200" b="1" dirty="0" smtClean="0">
                <a:solidFill>
                  <a:srgbClr val="000066"/>
                </a:solidFill>
                <a:ea typeface="幼圆" pitchFamily="49" charset="-122"/>
              </a:rPr>
              <a:t>）地基初始状态：侧限状态</a:t>
            </a:r>
            <a:endParaRPr lang="zh-CN" altLang="en-US" sz="2200" b="1" dirty="0">
              <a:solidFill>
                <a:srgbClr val="000066"/>
              </a:solidFill>
              <a:ea typeface="幼圆" pitchFamily="49" charset="-122"/>
            </a:endParaRPr>
          </a:p>
        </p:txBody>
      </p:sp>
      <p:grpSp>
        <p:nvGrpSpPr>
          <p:cNvPr id="7" name="组合 6"/>
          <p:cNvGrpSpPr/>
          <p:nvPr/>
        </p:nvGrpSpPr>
        <p:grpSpPr>
          <a:xfrm>
            <a:off x="6984983" y="5257490"/>
            <a:ext cx="1363179" cy="818721"/>
            <a:chOff x="6984983" y="5257490"/>
            <a:chExt cx="1363179" cy="818721"/>
          </a:xfrm>
        </p:grpSpPr>
        <p:sp>
          <p:nvSpPr>
            <p:cNvPr id="69" name="Text Box 19"/>
            <p:cNvSpPr txBox="1">
              <a:spLocks noChangeArrowheads="1"/>
            </p:cNvSpPr>
            <p:nvPr/>
          </p:nvSpPr>
          <p:spPr bwMode="auto">
            <a:xfrm>
              <a:off x="7912564" y="5645997"/>
              <a:ext cx="435598" cy="400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a:t>
              </a:r>
              <a:endParaRPr lang="en-US" altLang="zh-CN" sz="2000" b="1" baseline="-25000" dirty="0">
                <a:solidFill>
                  <a:srgbClr val="000066"/>
                </a:solidFill>
                <a:cs typeface="Times New Roman" panose="02020603050405020304" pitchFamily="18" charset="0"/>
                <a:sym typeface="Symbol" pitchFamily="18" charset="2"/>
              </a:endParaRPr>
            </a:p>
          </p:txBody>
        </p:sp>
        <p:sp>
          <p:nvSpPr>
            <p:cNvPr id="68" name="Arc 29"/>
            <p:cNvSpPr>
              <a:spLocks/>
            </p:cNvSpPr>
            <p:nvPr/>
          </p:nvSpPr>
          <p:spPr bwMode="auto">
            <a:xfrm flipH="1" flipV="1">
              <a:off x="7190725" y="5257490"/>
              <a:ext cx="836337" cy="428004"/>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 name="Text Box 19"/>
            <p:cNvSpPr txBox="1">
              <a:spLocks noChangeArrowheads="1"/>
            </p:cNvSpPr>
            <p:nvPr/>
          </p:nvSpPr>
          <p:spPr bwMode="auto">
            <a:xfrm>
              <a:off x="6984983" y="5676101"/>
              <a:ext cx="8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en-US" altLang="zh-CN" sz="2000" b="1" i="1" dirty="0" smtClean="0">
                  <a:solidFill>
                    <a:srgbClr val="000066"/>
                  </a:solidFill>
                  <a:cs typeface="Times New Roman" panose="02020603050405020304" pitchFamily="18" charset="0"/>
                  <a:sym typeface="Symbol" pitchFamily="18" charset="2"/>
                </a:rPr>
                <a:t>K</a:t>
              </a:r>
              <a:r>
                <a:rPr lang="en-US" altLang="zh-CN" sz="2000" b="1" baseline="-25000" dirty="0" smtClean="0">
                  <a:solidFill>
                    <a:srgbClr val="000066"/>
                  </a:solidFill>
                  <a:cs typeface="Times New Roman" panose="02020603050405020304" pitchFamily="18" charset="0"/>
                  <a:sym typeface="Symbol" pitchFamily="18" charset="2"/>
                </a:rPr>
                <a:t>0</a:t>
              </a: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a:t>
              </a:r>
              <a:endParaRPr lang="en-US" altLang="zh-CN" sz="2000" b="1" baseline="-25000" dirty="0">
                <a:solidFill>
                  <a:srgbClr val="000066"/>
                </a:solidFill>
                <a:cs typeface="Times New Roman" panose="02020603050405020304" pitchFamily="18" charset="0"/>
                <a:sym typeface="Symbol" pitchFamily="18" charset="2"/>
              </a:endParaRPr>
            </a:p>
          </p:txBody>
        </p:sp>
      </p:grpSp>
      <p:sp>
        <p:nvSpPr>
          <p:cNvPr id="73" name="Text Box 4"/>
          <p:cNvSpPr txBox="1">
            <a:spLocks noChangeArrowheads="1"/>
          </p:cNvSpPr>
          <p:nvPr/>
        </p:nvSpPr>
        <p:spPr bwMode="auto">
          <a:xfrm>
            <a:off x="993950" y="2766450"/>
            <a:ext cx="4320561"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2</a:t>
            </a:r>
            <a:r>
              <a:rPr lang="zh-CN" altLang="en-US" sz="2200" b="1" dirty="0" smtClean="0">
                <a:solidFill>
                  <a:srgbClr val="000066"/>
                </a:solidFill>
                <a:ea typeface="幼圆" pitchFamily="49" charset="-122"/>
              </a:rPr>
              <a:t>）刚性竖直光滑面</a:t>
            </a:r>
            <a:r>
              <a:rPr lang="en-US" altLang="zh-CN" sz="2200" b="1" dirty="0" err="1" smtClean="0">
                <a:solidFill>
                  <a:srgbClr val="000066"/>
                </a:solidFill>
                <a:ea typeface="幼圆" pitchFamily="49" charset="-122"/>
              </a:rPr>
              <a:t>mn</a:t>
            </a:r>
            <a:r>
              <a:rPr lang="zh-CN" altLang="en-US" sz="2200" b="1" dirty="0" smtClean="0">
                <a:solidFill>
                  <a:srgbClr val="000066"/>
                </a:solidFill>
                <a:ea typeface="幼圆" pitchFamily="49" charset="-122"/>
              </a:rPr>
              <a:t>代替</a:t>
            </a:r>
            <a:r>
              <a:rPr lang="en-US" altLang="zh-CN" sz="2200" b="1" dirty="0" err="1" smtClean="0">
                <a:solidFill>
                  <a:srgbClr val="000066"/>
                </a:solidFill>
                <a:ea typeface="幼圆" pitchFamily="49" charset="-122"/>
              </a:rPr>
              <a:t>左侧的土体</a:t>
            </a:r>
            <a:r>
              <a:rPr lang="zh-CN" altLang="en-US" sz="2200" b="1" dirty="0" smtClean="0">
                <a:solidFill>
                  <a:srgbClr val="000066"/>
                </a:solidFill>
                <a:ea typeface="幼圆" pitchFamily="49" charset="-122"/>
              </a:rPr>
              <a:t>：静止土压力状态</a:t>
            </a:r>
            <a:endParaRPr lang="zh-CN" altLang="en-US" sz="2200" b="1" dirty="0">
              <a:solidFill>
                <a:srgbClr val="000066"/>
              </a:solidFill>
              <a:ea typeface="幼圆" pitchFamily="49" charset="-122"/>
            </a:endParaRPr>
          </a:p>
        </p:txBody>
      </p:sp>
      <p:sp>
        <p:nvSpPr>
          <p:cNvPr id="82" name="Text Box 4"/>
          <p:cNvSpPr txBox="1">
            <a:spLocks noChangeArrowheads="1"/>
          </p:cNvSpPr>
          <p:nvPr/>
        </p:nvSpPr>
        <p:spPr bwMode="auto">
          <a:xfrm>
            <a:off x="977148" y="3600518"/>
            <a:ext cx="4320561"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a:solidFill>
                  <a:srgbClr val="000066"/>
                </a:solidFill>
                <a:ea typeface="幼圆" pitchFamily="49" charset="-122"/>
              </a:rPr>
              <a:t>3</a:t>
            </a:r>
            <a:r>
              <a:rPr lang="zh-CN" altLang="en-US" sz="2200" b="1" dirty="0" smtClean="0">
                <a:solidFill>
                  <a:srgbClr val="000066"/>
                </a:solidFill>
                <a:ea typeface="幼圆" pitchFamily="49" charset="-122"/>
              </a:rPr>
              <a:t>）</a:t>
            </a:r>
            <a:r>
              <a:rPr lang="en-US" altLang="zh-CN" sz="2200" b="1" dirty="0" err="1" smtClean="0">
                <a:solidFill>
                  <a:srgbClr val="000066"/>
                </a:solidFill>
                <a:ea typeface="幼圆" pitchFamily="49" charset="-122"/>
              </a:rPr>
              <a:t>mn</a:t>
            </a:r>
            <a:r>
              <a:rPr lang="zh-CN" altLang="en-US" sz="2200" b="1" dirty="0" smtClean="0">
                <a:solidFill>
                  <a:srgbClr val="000066"/>
                </a:solidFill>
                <a:ea typeface="幼圆" pitchFamily="49" charset="-122"/>
              </a:rPr>
              <a:t>面左移：</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h</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逐渐减小，</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v</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保持不变</a:t>
            </a:r>
            <a:endParaRPr lang="zh-CN" altLang="en-US" sz="2200" b="1" dirty="0">
              <a:solidFill>
                <a:srgbClr val="000066"/>
              </a:solidFill>
              <a:latin typeface="幼圆" panose="02010509060101010101" pitchFamily="49" charset="-122"/>
              <a:ea typeface="幼圆" panose="02010509060101010101" pitchFamily="49" charset="-122"/>
            </a:endParaRPr>
          </a:p>
        </p:txBody>
      </p:sp>
      <p:sp>
        <p:nvSpPr>
          <p:cNvPr id="83" name="Arc 29"/>
          <p:cNvSpPr>
            <a:spLocks/>
          </p:cNvSpPr>
          <p:nvPr/>
        </p:nvSpPr>
        <p:spPr bwMode="auto">
          <a:xfrm flipH="1" flipV="1">
            <a:off x="6892308" y="5102814"/>
            <a:ext cx="1130740" cy="578668"/>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1" name="直接箭头连接符 10"/>
          <p:cNvCxnSpPr/>
          <p:nvPr/>
        </p:nvCxnSpPr>
        <p:spPr bwMode="auto">
          <a:xfrm flipH="1">
            <a:off x="6883210" y="5628060"/>
            <a:ext cx="304800" cy="0"/>
          </a:xfrm>
          <a:prstGeom prst="straightConnector1">
            <a:avLst/>
          </a:prstGeom>
          <a:noFill/>
          <a:ln w="28575"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4"/>
          <p:cNvSpPr txBox="1">
            <a:spLocks noChangeArrowheads="1"/>
          </p:cNvSpPr>
          <p:nvPr/>
        </p:nvSpPr>
        <p:spPr bwMode="auto">
          <a:xfrm>
            <a:off x="957854" y="4439937"/>
            <a:ext cx="432056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4</a:t>
            </a:r>
            <a:r>
              <a:rPr lang="zh-CN" altLang="en-US" sz="2200" b="1" dirty="0" smtClean="0">
                <a:solidFill>
                  <a:srgbClr val="000066"/>
                </a:solidFill>
                <a:ea typeface="幼圆" pitchFamily="49" charset="-122"/>
              </a:rPr>
              <a:t>）</a:t>
            </a:r>
            <a:r>
              <a:rPr lang="zh-CN" altLang="en-US" sz="2200" b="1" dirty="0">
                <a:solidFill>
                  <a:srgbClr val="000066"/>
                </a:solidFill>
                <a:ea typeface="幼圆" pitchFamily="49" charset="-122"/>
                <a:sym typeface="Symbol" panose="05050102010706020507" pitchFamily="18" charset="2"/>
              </a:rPr>
              <a:t> </a:t>
            </a:r>
            <a:r>
              <a:rPr lang="zh-CN" altLang="en-US" sz="2200" b="1" dirty="0" smtClean="0">
                <a:solidFill>
                  <a:srgbClr val="000066"/>
                </a:solidFill>
                <a:ea typeface="幼圆" pitchFamily="49" charset="-122"/>
                <a:sym typeface="Symbol" panose="05050102010706020507" pitchFamily="18" charset="2"/>
              </a:rPr>
              <a:t>位移足够</a:t>
            </a:r>
            <a:r>
              <a:rPr lang="zh-CN" altLang="en-US" sz="2200" b="1" dirty="0">
                <a:solidFill>
                  <a:srgbClr val="000066"/>
                </a:solidFill>
                <a:ea typeface="幼圆" pitchFamily="49" charset="-122"/>
                <a:sym typeface="Symbol" panose="05050102010706020507" pitchFamily="18" charset="2"/>
              </a:rPr>
              <a:t>大</a:t>
            </a:r>
            <a:r>
              <a:rPr lang="zh-CN" altLang="en-US" sz="2200" b="1" dirty="0" smtClean="0">
                <a:solidFill>
                  <a:srgbClr val="000066"/>
                </a:solidFill>
                <a:ea typeface="幼圆" pitchFamily="49" charset="-122"/>
                <a:sym typeface="Symbol" panose="05050102010706020507" pitchFamily="18" charset="2"/>
              </a:rPr>
              <a:t>时，土单元破坏，</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h</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达到最小值</a:t>
            </a:r>
            <a:r>
              <a:rPr lang="en-US" altLang="zh-CN" sz="2200" b="1" i="1" dirty="0" smtClean="0">
                <a:solidFill>
                  <a:srgbClr val="000066"/>
                </a:solidFill>
                <a:ea typeface="幼圆" panose="02010509060101010101" pitchFamily="49" charset="-122"/>
                <a:cs typeface="Times New Roman" panose="02020603050405020304" pitchFamily="18" charset="0"/>
                <a:sym typeface="Symbol" pitchFamily="18" charset="2"/>
              </a:rPr>
              <a:t>p</a:t>
            </a:r>
            <a:r>
              <a:rPr lang="en-US" altLang="zh-CN" sz="2200" b="1" baseline="-25000" dirty="0" smtClean="0">
                <a:solidFill>
                  <a:srgbClr val="000066"/>
                </a:solidFill>
                <a:ea typeface="幼圆" panose="02010509060101010101" pitchFamily="49" charset="-122"/>
                <a:cs typeface="Times New Roman" panose="02020603050405020304" pitchFamily="18" charset="0"/>
                <a:sym typeface="Symbol" pitchFamily="18" charset="2"/>
              </a:rPr>
              <a:t>a</a:t>
            </a:r>
            <a:r>
              <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，称</a:t>
            </a:r>
            <a:r>
              <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主动极限平衡应力状态</a:t>
            </a:r>
            <a:endParaRPr lang="zh-CN" altLang="en-US" sz="2200" b="1" dirty="0">
              <a:solidFill>
                <a:srgbClr val="C00000"/>
              </a:solidFill>
              <a:latin typeface="黑体" panose="02010609060101010101" pitchFamily="49" charset="-122"/>
              <a:ea typeface="黑体" panose="02010609060101010101" pitchFamily="49" charset="-122"/>
            </a:endParaRPr>
          </a:p>
        </p:txBody>
      </p:sp>
      <p:grpSp>
        <p:nvGrpSpPr>
          <p:cNvPr id="8" name="组合 7"/>
          <p:cNvGrpSpPr/>
          <p:nvPr/>
        </p:nvGrpSpPr>
        <p:grpSpPr>
          <a:xfrm>
            <a:off x="6364136" y="4940933"/>
            <a:ext cx="1654898" cy="1111856"/>
            <a:chOff x="6364136" y="4940933"/>
            <a:chExt cx="1654898" cy="1111856"/>
          </a:xfrm>
        </p:grpSpPr>
        <p:sp>
          <p:nvSpPr>
            <p:cNvPr id="70" name="Text Box 20"/>
            <p:cNvSpPr txBox="1">
              <a:spLocks noChangeArrowheads="1"/>
            </p:cNvSpPr>
            <p:nvPr/>
          </p:nvSpPr>
          <p:spPr bwMode="auto">
            <a:xfrm>
              <a:off x="6364136" y="5652679"/>
              <a:ext cx="465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en-US" altLang="zh-CN" sz="2000" b="1" i="1" dirty="0" smtClean="0">
                  <a:solidFill>
                    <a:srgbClr val="C00000"/>
                  </a:solidFill>
                  <a:cs typeface="Times New Roman" panose="02020603050405020304" pitchFamily="18" charset="0"/>
                  <a:sym typeface="Symbol" pitchFamily="18" charset="2"/>
                </a:rPr>
                <a:t>p</a:t>
              </a:r>
              <a:r>
                <a:rPr lang="en-US" altLang="zh-CN" sz="2000" b="1" baseline="-25000" dirty="0" smtClean="0">
                  <a:solidFill>
                    <a:srgbClr val="C00000"/>
                  </a:solidFill>
                  <a:cs typeface="Times New Roman" panose="02020603050405020304" pitchFamily="18" charset="0"/>
                  <a:sym typeface="Symbol" pitchFamily="18" charset="2"/>
                </a:rPr>
                <a:t>a</a:t>
              </a:r>
              <a:endParaRPr lang="en-US" altLang="zh-CN" sz="2000" b="1" dirty="0">
                <a:solidFill>
                  <a:srgbClr val="C00000"/>
                </a:solidFill>
                <a:cs typeface="Times New Roman" panose="02020603050405020304" pitchFamily="18" charset="0"/>
                <a:sym typeface="Symbol" pitchFamily="18" charset="2"/>
              </a:endParaRPr>
            </a:p>
          </p:txBody>
        </p:sp>
        <p:sp>
          <p:nvSpPr>
            <p:cNvPr id="86" name="Arc 29"/>
            <p:cNvSpPr>
              <a:spLocks/>
            </p:cNvSpPr>
            <p:nvPr/>
          </p:nvSpPr>
          <p:spPr bwMode="auto">
            <a:xfrm flipH="1" flipV="1">
              <a:off x="6555538" y="4940933"/>
              <a:ext cx="1463496" cy="748959"/>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0" name="组合 9"/>
          <p:cNvGrpSpPr/>
          <p:nvPr/>
        </p:nvGrpSpPr>
        <p:grpSpPr>
          <a:xfrm>
            <a:off x="6746419" y="1983151"/>
            <a:ext cx="2091044" cy="1892419"/>
            <a:chOff x="6746419" y="1983151"/>
            <a:chExt cx="2091044" cy="1892419"/>
          </a:xfrm>
        </p:grpSpPr>
        <p:sp>
          <p:nvSpPr>
            <p:cNvPr id="88" name="Line 95"/>
            <p:cNvSpPr>
              <a:spLocks noChangeAspect="1" noChangeShapeType="1"/>
            </p:cNvSpPr>
            <p:nvPr/>
          </p:nvSpPr>
          <p:spPr bwMode="auto">
            <a:xfrm flipH="1">
              <a:off x="6794599" y="1983151"/>
              <a:ext cx="986637" cy="187390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9" name="Line 96"/>
            <p:cNvSpPr>
              <a:spLocks noChangeAspect="1" noChangeShapeType="1"/>
            </p:cNvSpPr>
            <p:nvPr/>
          </p:nvSpPr>
          <p:spPr bwMode="auto">
            <a:xfrm flipH="1">
              <a:off x="7534875" y="2040101"/>
              <a:ext cx="951282" cy="1807835"/>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Line 100"/>
            <p:cNvSpPr>
              <a:spLocks noChangeAspect="1" noChangeShapeType="1"/>
            </p:cNvSpPr>
            <p:nvPr/>
          </p:nvSpPr>
          <p:spPr bwMode="auto">
            <a:xfrm>
              <a:off x="6783491" y="3576240"/>
              <a:ext cx="146168" cy="277266"/>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 name="Line 101"/>
            <p:cNvSpPr>
              <a:spLocks noChangeAspect="1" noChangeShapeType="1"/>
            </p:cNvSpPr>
            <p:nvPr/>
          </p:nvSpPr>
          <p:spPr bwMode="auto">
            <a:xfrm>
              <a:off x="7768505" y="1985453"/>
              <a:ext cx="994029" cy="189011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Line 102"/>
            <p:cNvSpPr>
              <a:spLocks noChangeAspect="1" noChangeShapeType="1"/>
            </p:cNvSpPr>
            <p:nvPr/>
          </p:nvSpPr>
          <p:spPr bwMode="auto">
            <a:xfrm>
              <a:off x="7179809" y="1983151"/>
              <a:ext cx="993986" cy="1889266"/>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9" name="Line 103"/>
            <p:cNvSpPr>
              <a:spLocks noChangeAspect="1" noChangeShapeType="1"/>
            </p:cNvSpPr>
            <p:nvPr/>
          </p:nvSpPr>
          <p:spPr bwMode="auto">
            <a:xfrm>
              <a:off x="8348249" y="1992943"/>
              <a:ext cx="466896" cy="88762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0" name="Line 104"/>
            <p:cNvSpPr>
              <a:spLocks noChangeAspect="1" noChangeShapeType="1"/>
            </p:cNvSpPr>
            <p:nvPr/>
          </p:nvSpPr>
          <p:spPr bwMode="auto">
            <a:xfrm>
              <a:off x="6746419" y="2336551"/>
              <a:ext cx="798589" cy="1517091"/>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5" name="Line 106"/>
            <p:cNvSpPr>
              <a:spLocks noChangeAspect="1" noChangeShapeType="1"/>
            </p:cNvSpPr>
            <p:nvPr/>
          </p:nvSpPr>
          <p:spPr bwMode="auto">
            <a:xfrm flipH="1">
              <a:off x="8177293" y="2603373"/>
              <a:ext cx="660170" cy="1254600"/>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7" name="Line 108"/>
            <p:cNvSpPr>
              <a:spLocks noChangeAspect="1" noChangeShapeType="1"/>
            </p:cNvSpPr>
            <p:nvPr/>
          </p:nvSpPr>
          <p:spPr bwMode="auto">
            <a:xfrm flipH="1">
              <a:off x="6764615" y="1989501"/>
              <a:ext cx="436479" cy="82870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 name="组合 11"/>
          <p:cNvGrpSpPr/>
          <p:nvPr/>
        </p:nvGrpSpPr>
        <p:grpSpPr>
          <a:xfrm>
            <a:off x="7536340" y="3668650"/>
            <a:ext cx="1471404" cy="590863"/>
            <a:chOff x="7536340" y="3668650"/>
            <a:chExt cx="1471404" cy="590863"/>
          </a:xfrm>
        </p:grpSpPr>
        <p:sp>
          <p:nvSpPr>
            <p:cNvPr id="108" name="Rectangle 152"/>
            <p:cNvSpPr>
              <a:spLocks noChangeArrowheads="1"/>
            </p:cNvSpPr>
            <p:nvPr/>
          </p:nvSpPr>
          <p:spPr bwMode="auto">
            <a:xfrm>
              <a:off x="7943354" y="3813237"/>
              <a:ext cx="106439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a:solidFill>
                    <a:srgbClr val="000066"/>
                  </a:solidFill>
                  <a:latin typeface="Times New Roman" panose="02020603050405020304" pitchFamily="18" charset="0"/>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a:t>
              </a:r>
              <a:r>
                <a:rPr kumimoji="1" lang="en-US" altLang="zh-CN" sz="2000" b="1" i="1" dirty="0" smtClean="0">
                  <a:solidFill>
                    <a:srgbClr val="000066"/>
                  </a:solidFill>
                  <a:latin typeface="Symbol" panose="05050102010706020507" pitchFamily="18" charset="2"/>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/2</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3" name="任意多边形 12"/>
            <p:cNvSpPr/>
            <p:nvPr/>
          </p:nvSpPr>
          <p:spPr bwMode="auto">
            <a:xfrm>
              <a:off x="7618554" y="3668650"/>
              <a:ext cx="121991" cy="177679"/>
            </a:xfrm>
            <a:custGeom>
              <a:avLst/>
              <a:gdLst>
                <a:gd name="connsiteX0" fmla="*/ 82339 w 84333"/>
                <a:gd name="connsiteY0" fmla="*/ 177679 h 177679"/>
                <a:gd name="connsiteX1" fmla="*/ 73672 w 84333"/>
                <a:gd name="connsiteY1" fmla="*/ 82339 h 177679"/>
                <a:gd name="connsiteX2" fmla="*/ 0 w 84333"/>
                <a:gd name="connsiteY2" fmla="*/ 0 h 177679"/>
              </a:gdLst>
              <a:ahLst/>
              <a:cxnLst>
                <a:cxn ang="0">
                  <a:pos x="connsiteX0" y="connsiteY0"/>
                </a:cxn>
                <a:cxn ang="0">
                  <a:pos x="connsiteX1" y="connsiteY1"/>
                </a:cxn>
                <a:cxn ang="0">
                  <a:pos x="connsiteX2" y="connsiteY2"/>
                </a:cxn>
              </a:cxnLst>
              <a:rect l="l" t="t" r="r" b="b"/>
              <a:pathLst>
                <a:path w="84333" h="177679">
                  <a:moveTo>
                    <a:pt x="82339" y="177679"/>
                  </a:moveTo>
                  <a:cubicBezTo>
                    <a:pt x="84867" y="144815"/>
                    <a:pt x="87395" y="111952"/>
                    <a:pt x="73672" y="82339"/>
                  </a:cubicBezTo>
                  <a:cubicBezTo>
                    <a:pt x="59949" y="52726"/>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5" name="直接连接符 14"/>
            <p:cNvCxnSpPr/>
            <p:nvPr/>
          </p:nvCxnSpPr>
          <p:spPr bwMode="auto">
            <a:xfrm>
              <a:off x="7787586" y="3772658"/>
              <a:ext cx="239476" cy="14912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7536340" y="3859486"/>
              <a:ext cx="297787"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5" name="文本框 54"/>
          <p:cNvSpPr txBox="1"/>
          <p:nvPr/>
        </p:nvSpPr>
        <p:spPr>
          <a:xfrm>
            <a:off x="2429480" y="758886"/>
            <a:ext cx="6028550" cy="938719"/>
          </a:xfrm>
          <a:prstGeom prst="rect">
            <a:avLst/>
          </a:prstGeom>
          <a:noFill/>
          <a:ln w="19050">
            <a:solidFill>
              <a:srgbClr val="C00000"/>
            </a:solidFill>
          </a:ln>
        </p:spPr>
        <p:txBody>
          <a:bodyPr wrap="square" rtlCol="0">
            <a:spAutoFit/>
          </a:bodyPr>
          <a:lstStyle/>
          <a:p>
            <a:pPr>
              <a:lnSpc>
                <a:spcPct val="125000"/>
              </a:lnSpc>
            </a:pPr>
            <a:r>
              <a:rPr lang="zh-CN" altLang="en-US" sz="2200" b="1" dirty="0" smtClean="0">
                <a:solidFill>
                  <a:srgbClr val="000066"/>
                </a:solidFill>
                <a:latin typeface="幼圆" panose="02010509060101010101" pitchFamily="49" charset="-122"/>
                <a:ea typeface="幼圆" panose="02010509060101010101" pitchFamily="49" charset="-122"/>
              </a:rPr>
              <a:t>自重应力作用下</a:t>
            </a:r>
            <a:r>
              <a:rPr lang="en-US" altLang="zh-CN" sz="2200" b="1" dirty="0" smtClean="0">
                <a:solidFill>
                  <a:srgbClr val="000066"/>
                </a:solidFill>
                <a:latin typeface="幼圆" panose="02010509060101010101" pitchFamily="49" charset="-122"/>
                <a:ea typeface="幼圆" panose="02010509060101010101" pitchFamily="49" charset="-122"/>
              </a:rPr>
              <a:t>,</a:t>
            </a:r>
            <a:r>
              <a:rPr lang="zh-CN" altLang="en-US" sz="2200" b="1" dirty="0" smtClean="0">
                <a:solidFill>
                  <a:srgbClr val="000066"/>
                </a:solidFill>
                <a:latin typeface="幼圆" panose="02010509060101010101" pitchFamily="49" charset="-122"/>
                <a:ea typeface="幼圆" panose="02010509060101010101" pitchFamily="49" charset="-122"/>
              </a:rPr>
              <a:t>半无限土体内各点的</a:t>
            </a:r>
            <a:r>
              <a:rPr lang="zh-CN" altLang="en-US" sz="2200" b="1" dirty="0">
                <a:solidFill>
                  <a:srgbClr val="000066"/>
                </a:solidFill>
                <a:latin typeface="幼圆" panose="02010509060101010101" pitchFamily="49" charset="-122"/>
                <a:ea typeface="幼圆" panose="02010509060101010101" pitchFamily="49" charset="-122"/>
              </a:rPr>
              <a:t>主动</a:t>
            </a:r>
            <a:r>
              <a:rPr lang="zh-CN" altLang="en-US" sz="2200" b="1" dirty="0" smtClean="0">
                <a:solidFill>
                  <a:srgbClr val="000066"/>
                </a:solidFill>
                <a:latin typeface="幼圆" panose="02010509060101010101" pitchFamily="49" charset="-122"/>
                <a:ea typeface="幼圆" panose="02010509060101010101" pitchFamily="49" charset="-122"/>
              </a:rPr>
              <a:t>和被动极限</a:t>
            </a:r>
            <a:r>
              <a:rPr lang="zh-CN" altLang="en-US" sz="2200" b="1" dirty="0">
                <a:solidFill>
                  <a:srgbClr val="000066"/>
                </a:solidFill>
                <a:latin typeface="幼圆" panose="02010509060101010101" pitchFamily="49" charset="-122"/>
                <a:ea typeface="幼圆" panose="02010509060101010101" pitchFamily="49" charset="-122"/>
              </a:rPr>
              <a:t>平衡应力状态</a:t>
            </a:r>
          </a:p>
        </p:txBody>
      </p:sp>
      <p:sp>
        <p:nvSpPr>
          <p:cNvPr id="66" name="AutoShape 118"/>
          <p:cNvSpPr>
            <a:spLocks noChangeArrowheads="1"/>
          </p:cNvSpPr>
          <p:nvPr/>
        </p:nvSpPr>
        <p:spPr bwMode="auto">
          <a:xfrm>
            <a:off x="6116296" y="2774496"/>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14" name="组合 13"/>
          <p:cNvGrpSpPr/>
          <p:nvPr/>
        </p:nvGrpSpPr>
        <p:grpSpPr>
          <a:xfrm>
            <a:off x="6426679" y="1632039"/>
            <a:ext cx="327691" cy="2451354"/>
            <a:chOff x="6426679" y="1632039"/>
            <a:chExt cx="327691" cy="2451354"/>
          </a:xfrm>
        </p:grpSpPr>
        <p:sp>
          <p:nvSpPr>
            <p:cNvPr id="75" name="Text Box 20"/>
            <p:cNvSpPr txBox="1">
              <a:spLocks noChangeArrowheads="1"/>
            </p:cNvSpPr>
            <p:nvPr/>
          </p:nvSpPr>
          <p:spPr bwMode="auto">
            <a:xfrm>
              <a:off x="6434661" y="1632039"/>
              <a:ext cx="264640"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smtClean="0">
                  <a:solidFill>
                    <a:srgbClr val="C00000"/>
                  </a:solidFill>
                  <a:latin typeface="Times New Roman" pitchFamily="18" charset="0"/>
                </a:rPr>
                <a:t>m</a:t>
              </a:r>
            </a:p>
          </p:txBody>
        </p:sp>
        <p:sp>
          <p:nvSpPr>
            <p:cNvPr id="77" name="Text Box 20"/>
            <p:cNvSpPr txBox="1">
              <a:spLocks noChangeArrowheads="1"/>
            </p:cNvSpPr>
            <p:nvPr/>
          </p:nvSpPr>
          <p:spPr bwMode="auto">
            <a:xfrm>
              <a:off x="6426679" y="3692709"/>
              <a:ext cx="264640"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smtClean="0">
                  <a:solidFill>
                    <a:srgbClr val="C00000"/>
                  </a:solidFill>
                  <a:latin typeface="Times New Roman" pitchFamily="18" charset="0"/>
                </a:rPr>
                <a:t>n</a:t>
              </a:r>
            </a:p>
          </p:txBody>
        </p:sp>
        <p:sp>
          <p:nvSpPr>
            <p:cNvPr id="9" name="矩形 8"/>
            <p:cNvSpPr/>
            <p:nvPr/>
          </p:nvSpPr>
          <p:spPr bwMode="auto">
            <a:xfrm>
              <a:off x="6649382" y="1976801"/>
              <a:ext cx="104988" cy="1881475"/>
            </a:xfrm>
            <a:prstGeom prst="rect">
              <a:avLst/>
            </a:prstGeom>
            <a:solidFill>
              <a:srgbClr val="9966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3" name="组合 2"/>
          <p:cNvGrpSpPr/>
          <p:nvPr/>
        </p:nvGrpSpPr>
        <p:grpSpPr>
          <a:xfrm>
            <a:off x="6505784" y="2186205"/>
            <a:ext cx="1241032" cy="1150546"/>
            <a:chOff x="6505784" y="2186205"/>
            <a:chExt cx="1241032" cy="1150546"/>
          </a:xfrm>
        </p:grpSpPr>
        <p:sp>
          <p:nvSpPr>
            <p:cNvPr id="111" name="Text Box 14"/>
            <p:cNvSpPr txBox="1">
              <a:spLocks noChangeArrowheads="1"/>
            </p:cNvSpPr>
            <p:nvPr/>
          </p:nvSpPr>
          <p:spPr bwMode="auto">
            <a:xfrm>
              <a:off x="7330891" y="2647558"/>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h</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sp>
          <p:nvSpPr>
            <p:cNvPr id="93" name="Rectangle 9"/>
            <p:cNvSpPr>
              <a:spLocks noChangeArrowheads="1"/>
            </p:cNvSpPr>
            <p:nvPr/>
          </p:nvSpPr>
          <p:spPr bwMode="auto">
            <a:xfrm>
              <a:off x="6765318" y="2718098"/>
              <a:ext cx="304800" cy="304800"/>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94" name="Line 10"/>
            <p:cNvSpPr>
              <a:spLocks noChangeShapeType="1"/>
            </p:cNvSpPr>
            <p:nvPr/>
          </p:nvSpPr>
          <p:spPr bwMode="auto">
            <a:xfrm>
              <a:off x="6505784" y="2870498"/>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Line 12"/>
            <p:cNvSpPr>
              <a:spLocks noChangeShapeType="1"/>
            </p:cNvSpPr>
            <p:nvPr/>
          </p:nvSpPr>
          <p:spPr bwMode="auto">
            <a:xfrm rot="16200000">
              <a:off x="6765318" y="3184351"/>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Text Box 14"/>
            <p:cNvSpPr txBox="1">
              <a:spLocks noChangeArrowheads="1"/>
            </p:cNvSpPr>
            <p:nvPr/>
          </p:nvSpPr>
          <p:spPr bwMode="auto">
            <a:xfrm>
              <a:off x="6995503" y="2186205"/>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v</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sp>
          <p:nvSpPr>
            <p:cNvPr id="97" name="Line 13"/>
            <p:cNvSpPr>
              <a:spLocks noChangeShapeType="1"/>
            </p:cNvSpPr>
            <p:nvPr/>
          </p:nvSpPr>
          <p:spPr bwMode="auto">
            <a:xfrm rot="5400000">
              <a:off x="6765318" y="2565698"/>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Line 10"/>
            <p:cNvSpPr>
              <a:spLocks noChangeShapeType="1"/>
            </p:cNvSpPr>
            <p:nvPr/>
          </p:nvSpPr>
          <p:spPr bwMode="auto">
            <a:xfrm rot="10800000">
              <a:off x="7065590" y="2887096"/>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66890635"/>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left)">
                                      <p:cBhvr>
                                        <p:cTn id="11" dur="500"/>
                                        <p:tgtEl>
                                          <p:spTgt spid="71"/>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000"/>
                            </p:stCondLst>
                            <p:childTnLst>
                              <p:par>
                                <p:cTn id="23" presetID="22" presetClass="entr" presetSubtype="2"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righ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wipe(left)">
                                      <p:cBhvr>
                                        <p:cTn id="30" dur="500"/>
                                        <p:tgtEl>
                                          <p:spTgt spid="73"/>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wipe(down)">
                                      <p:cBhvr>
                                        <p:cTn id="41" dur="500"/>
                                        <p:tgtEl>
                                          <p:spTgt spid="82"/>
                                        </p:tgtEl>
                                      </p:cBhvr>
                                    </p:animEffect>
                                  </p:childTnLst>
                                </p:cTn>
                              </p:par>
                            </p:childTnLst>
                          </p:cTn>
                        </p:par>
                        <p:par>
                          <p:cTn id="42" fill="hold">
                            <p:stCondLst>
                              <p:cond delay="500"/>
                            </p:stCondLst>
                            <p:childTnLst>
                              <p:par>
                                <p:cTn id="43" presetID="22" presetClass="entr" presetSubtype="2" repeatCount="3000" fill="hold" grpId="0" nodeType="afterEffect">
                                  <p:stCondLst>
                                    <p:cond delay="0"/>
                                  </p:stCondLst>
                                  <p:childTnLst>
                                    <p:set>
                                      <p:cBhvr>
                                        <p:cTn id="44" dur="1" fill="hold">
                                          <p:stCondLst>
                                            <p:cond delay="0"/>
                                          </p:stCondLst>
                                        </p:cTn>
                                        <p:tgtEl>
                                          <p:spTgt spid="66"/>
                                        </p:tgtEl>
                                        <p:attrNameLst>
                                          <p:attrName>style.visibility</p:attrName>
                                        </p:attrNameLst>
                                      </p:cBhvr>
                                      <p:to>
                                        <p:strVal val="visible"/>
                                      </p:to>
                                    </p:set>
                                    <p:animEffect transition="in" filter="wipe(right)">
                                      <p:cBhvr>
                                        <p:cTn id="45" dur="500"/>
                                        <p:tgtEl>
                                          <p:spTgt spid="66"/>
                                        </p:tgtEl>
                                      </p:cBhvr>
                                    </p:animEffect>
                                  </p:childTnLst>
                                </p:cTn>
                              </p:par>
                            </p:childTnLst>
                          </p:cTn>
                        </p:par>
                        <p:par>
                          <p:cTn id="46" fill="hold">
                            <p:stCondLst>
                              <p:cond delay="2000"/>
                            </p:stCondLst>
                            <p:childTnLst>
                              <p:par>
                                <p:cTn id="47" presetID="22" presetClass="entr" presetSubtype="2" repeatCount="3000"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right)">
                                      <p:cBhvr>
                                        <p:cTn id="49" dur="500"/>
                                        <p:tgtEl>
                                          <p:spTgt spid="11"/>
                                        </p:tgtEl>
                                      </p:cBhvr>
                                    </p:animEffect>
                                  </p:childTnLst>
                                </p:cTn>
                              </p:par>
                            </p:childTnLst>
                          </p:cTn>
                        </p:par>
                        <p:par>
                          <p:cTn id="50" fill="hold">
                            <p:stCondLst>
                              <p:cond delay="3500"/>
                            </p:stCondLst>
                            <p:childTnLst>
                              <p:par>
                                <p:cTn id="51" presetID="22" presetClass="entr" presetSubtype="4" fill="hold" grpId="0" nodeType="afterEffect">
                                  <p:stCondLst>
                                    <p:cond delay="0"/>
                                  </p:stCondLst>
                                  <p:childTnLst>
                                    <p:set>
                                      <p:cBhvr>
                                        <p:cTn id="52" dur="1" fill="hold">
                                          <p:stCondLst>
                                            <p:cond delay="0"/>
                                          </p:stCondLst>
                                        </p:cTn>
                                        <p:tgtEl>
                                          <p:spTgt spid="83"/>
                                        </p:tgtEl>
                                        <p:attrNameLst>
                                          <p:attrName>style.visibility</p:attrName>
                                        </p:attrNameLst>
                                      </p:cBhvr>
                                      <p:to>
                                        <p:strVal val="visible"/>
                                      </p:to>
                                    </p:set>
                                    <p:animEffect transition="in" filter="wipe(down)">
                                      <p:cBhvr>
                                        <p:cTn id="53" dur="500"/>
                                        <p:tgtEl>
                                          <p:spTgt spid="8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5"/>
                                        </p:tgtEl>
                                        <p:attrNameLst>
                                          <p:attrName>style.visibility</p:attrName>
                                        </p:attrNameLst>
                                      </p:cBhvr>
                                      <p:to>
                                        <p:strVal val="visible"/>
                                      </p:to>
                                    </p:set>
                                    <p:animEffect transition="in" filter="wipe(left)">
                                      <p:cBhvr>
                                        <p:cTn id="58" dur="500"/>
                                        <p:tgtEl>
                                          <p:spTgt spid="85"/>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down)">
                                      <p:cBhvr>
                                        <p:cTn id="62" dur="500"/>
                                        <p:tgtEl>
                                          <p:spTgt spid="8"/>
                                        </p:tgtEl>
                                      </p:cBhvr>
                                    </p:animEffect>
                                  </p:childTnLst>
                                </p:cTn>
                              </p:par>
                            </p:childTnLst>
                          </p:cTn>
                        </p:par>
                        <p:par>
                          <p:cTn id="63" fill="hold">
                            <p:stCondLst>
                              <p:cond delay="1000"/>
                            </p:stCondLst>
                            <p:childTnLst>
                              <p:par>
                                <p:cTn id="64" presetID="1" presetClass="entr" presetSubtype="0" fill="hold" nodeType="afterEffect">
                                  <p:stCondLst>
                                    <p:cond delay="0"/>
                                  </p:stCondLst>
                                  <p:childTnLst>
                                    <p:set>
                                      <p:cBhvr>
                                        <p:cTn id="65" dur="1" fill="hold">
                                          <p:stCondLst>
                                            <p:cond delay="0"/>
                                          </p:stCondLst>
                                        </p:cTn>
                                        <p:tgtEl>
                                          <p:spTgt spid="10"/>
                                        </p:tgtEl>
                                        <p:attrNameLst>
                                          <p:attrName>style.visibility</p:attrName>
                                        </p:attrNameLst>
                                      </p:cBhvr>
                                      <p:to>
                                        <p:strVal val="visible"/>
                                      </p:to>
                                    </p:set>
                                  </p:childTnLst>
                                </p:cTn>
                              </p:par>
                            </p:childTnLst>
                          </p:cTn>
                        </p:par>
                        <p:par>
                          <p:cTn id="66" fill="hold">
                            <p:stCondLst>
                              <p:cond delay="1000"/>
                            </p:stCondLst>
                            <p:childTnLst>
                              <p:par>
                                <p:cTn id="67" presetID="22" presetClass="entr" presetSubtype="8" fill="hold" nodeType="after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left)">
                                      <p:cBhvr>
                                        <p:cTn id="6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130" grpId="0"/>
      <p:bldP spid="71" grpId="0"/>
      <p:bldP spid="73" grpId="0"/>
      <p:bldP spid="82" grpId="0"/>
      <p:bldP spid="83" grpId="0" animBg="1"/>
      <p:bldP spid="85" grpId="0"/>
      <p:bldP spid="6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612634" y="1940546"/>
            <a:ext cx="3219062" cy="1872010"/>
            <a:chOff x="5612634" y="1940546"/>
            <a:chExt cx="3219062" cy="1872010"/>
          </a:xfrm>
        </p:grpSpPr>
        <p:sp>
          <p:nvSpPr>
            <p:cNvPr id="2" name="矩形 1"/>
            <p:cNvSpPr/>
            <p:nvPr/>
          </p:nvSpPr>
          <p:spPr bwMode="auto">
            <a:xfrm>
              <a:off x="5612634" y="1940556"/>
              <a:ext cx="3219062" cy="1872000"/>
            </a:xfrm>
            <a:prstGeom prst="rect">
              <a:avLst/>
            </a:pr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 name="直接连接符 3"/>
            <p:cNvCxnSpPr/>
            <p:nvPr/>
          </p:nvCxnSpPr>
          <p:spPr bwMode="auto">
            <a:xfrm>
              <a:off x="5612634" y="1940546"/>
              <a:ext cx="321742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矩形 77"/>
          <p:cNvSpPr/>
          <p:nvPr/>
        </p:nvSpPr>
        <p:spPr bwMode="auto">
          <a:xfrm>
            <a:off x="5563595" y="1922947"/>
            <a:ext cx="1080721" cy="1908000"/>
          </a:xfrm>
          <a:prstGeom prst="rect">
            <a:avLst/>
          </a:prstGeom>
          <a:solidFill>
            <a:schemeClr val="bg1"/>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32</a:t>
            </a:fld>
            <a:endParaRPr lang="zh-CN" altLang="en-US" dirty="0">
              <a:solidFill>
                <a:srgbClr val="C00000"/>
              </a:solidFill>
            </a:endParaRPr>
          </a:p>
        </p:txBody>
      </p:sp>
      <p:sp>
        <p:nvSpPr>
          <p:cNvPr id="80" name="Text Box 46"/>
          <p:cNvSpPr txBox="1">
            <a:spLocks noChangeArrowheads="1"/>
          </p:cNvSpPr>
          <p:nvPr/>
        </p:nvSpPr>
        <p:spPr bwMode="auto">
          <a:xfrm>
            <a:off x="363384" y="764183"/>
            <a:ext cx="21512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基本原理</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30" name="Text Box 4"/>
          <p:cNvSpPr txBox="1">
            <a:spLocks noChangeArrowheads="1"/>
          </p:cNvSpPr>
          <p:nvPr/>
        </p:nvSpPr>
        <p:spPr bwMode="auto">
          <a:xfrm>
            <a:off x="715005" y="1765643"/>
            <a:ext cx="45267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57200" indent="-457200" eaLnBrk="1" hangingPunct="1">
              <a:lnSpc>
                <a:spcPct val="100000"/>
              </a:lnSpc>
              <a:buClr>
                <a:srgbClr val="A50021"/>
              </a:buClr>
              <a:buFont typeface="+mj-lt"/>
              <a:buAutoNum type="arabicPeriod" startAt="2"/>
            </a:pPr>
            <a:r>
              <a:rPr lang="zh-CN" altLang="en-US" sz="2800" b="1" dirty="0">
                <a:solidFill>
                  <a:srgbClr val="C00000"/>
                </a:solidFill>
                <a:ea typeface="幼圆" pitchFamily="49" charset="-122"/>
              </a:rPr>
              <a:t>被</a:t>
            </a:r>
            <a:r>
              <a:rPr lang="zh-CN" altLang="en-US" sz="2800" b="1" dirty="0" smtClean="0">
                <a:solidFill>
                  <a:srgbClr val="C00000"/>
                </a:solidFill>
                <a:ea typeface="幼圆" pitchFamily="49" charset="-122"/>
              </a:rPr>
              <a:t>动极限</a:t>
            </a:r>
            <a:r>
              <a:rPr lang="zh-CN" altLang="en-US" sz="2800" b="1" dirty="0">
                <a:solidFill>
                  <a:srgbClr val="C00000"/>
                </a:solidFill>
                <a:ea typeface="幼圆" pitchFamily="49" charset="-122"/>
              </a:rPr>
              <a:t>平衡应力状态</a:t>
            </a:r>
          </a:p>
        </p:txBody>
      </p:sp>
      <p:sp>
        <p:nvSpPr>
          <p:cNvPr id="61" name="Text Box 2"/>
          <p:cNvSpPr txBox="1">
            <a:spLocks noChangeArrowheads="1"/>
          </p:cNvSpPr>
          <p:nvPr/>
        </p:nvSpPr>
        <p:spPr bwMode="auto">
          <a:xfrm>
            <a:off x="3513519" y="5773334"/>
            <a:ext cx="24550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基本原理</a:t>
            </a:r>
            <a:endParaRPr kumimoji="1" lang="zh-CN" altLang="en-US" sz="4000" b="1" dirty="0">
              <a:solidFill>
                <a:srgbClr val="000066"/>
              </a:solidFill>
              <a:latin typeface="黑体" pitchFamily="2" charset="-122"/>
              <a:ea typeface="黑体" pitchFamily="2" charset="-122"/>
            </a:endParaRPr>
          </a:p>
        </p:txBody>
      </p:sp>
      <p:sp>
        <p:nvSpPr>
          <p:cNvPr id="5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基本原理</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12" name="组合 11"/>
          <p:cNvGrpSpPr/>
          <p:nvPr/>
        </p:nvGrpSpPr>
        <p:grpSpPr>
          <a:xfrm>
            <a:off x="5949522" y="3985925"/>
            <a:ext cx="3186486" cy="2065647"/>
            <a:chOff x="5949522" y="3985925"/>
            <a:chExt cx="3186486" cy="2065647"/>
          </a:xfrm>
        </p:grpSpPr>
        <p:sp>
          <p:nvSpPr>
            <p:cNvPr id="57" name="Line 4"/>
            <p:cNvSpPr>
              <a:spLocks noChangeShapeType="1"/>
            </p:cNvSpPr>
            <p:nvPr/>
          </p:nvSpPr>
          <p:spPr bwMode="auto">
            <a:xfrm>
              <a:off x="5949522" y="5648347"/>
              <a:ext cx="301481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8" name="Line 5"/>
            <p:cNvSpPr>
              <a:spLocks noChangeShapeType="1"/>
            </p:cNvSpPr>
            <p:nvPr/>
          </p:nvSpPr>
          <p:spPr bwMode="auto">
            <a:xfrm flipV="1">
              <a:off x="5959194" y="4144683"/>
              <a:ext cx="0" cy="150593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9" name="Text Box 6"/>
            <p:cNvSpPr txBox="1">
              <a:spLocks noChangeArrowheads="1"/>
            </p:cNvSpPr>
            <p:nvPr/>
          </p:nvSpPr>
          <p:spPr bwMode="auto">
            <a:xfrm>
              <a:off x="8750245" y="5594372"/>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sp>
          <p:nvSpPr>
            <p:cNvPr id="60" name="Text Box 7"/>
            <p:cNvSpPr txBox="1">
              <a:spLocks noChangeArrowheads="1"/>
            </p:cNvSpPr>
            <p:nvPr/>
          </p:nvSpPr>
          <p:spPr bwMode="auto">
            <a:xfrm>
              <a:off x="5990270" y="3985925"/>
              <a:ext cx="38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400" b="1" i="1" dirty="0">
                  <a:solidFill>
                    <a:srgbClr val="000066"/>
                  </a:solidFill>
                  <a:cs typeface="Times New Roman" panose="02020603050405020304" pitchFamily="18" charset="0"/>
                  <a:sym typeface="Symbol" pitchFamily="18" charset="2"/>
                </a:rPr>
                <a:t></a:t>
              </a:r>
            </a:p>
          </p:txBody>
        </p:sp>
        <p:grpSp>
          <p:nvGrpSpPr>
            <p:cNvPr id="62" name="组合 61"/>
            <p:cNvGrpSpPr/>
            <p:nvPr/>
          </p:nvGrpSpPr>
          <p:grpSpPr>
            <a:xfrm>
              <a:off x="5959196" y="4201049"/>
              <a:ext cx="2855950" cy="1125786"/>
              <a:chOff x="1284546" y="2514346"/>
              <a:chExt cx="2845474" cy="1109209"/>
            </a:xfrm>
          </p:grpSpPr>
          <p:sp>
            <p:nvSpPr>
              <p:cNvPr id="63" name="Line 10"/>
              <p:cNvSpPr>
                <a:spLocks noChangeShapeType="1"/>
              </p:cNvSpPr>
              <p:nvPr/>
            </p:nvSpPr>
            <p:spPr bwMode="auto">
              <a:xfrm flipV="1">
                <a:off x="1284546" y="2749716"/>
                <a:ext cx="2845474" cy="873839"/>
              </a:xfrm>
              <a:prstGeom prst="line">
                <a:avLst/>
              </a:prstGeom>
              <a:noFill/>
              <a:ln w="254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16"/>
              <p:cNvSpPr>
                <a:spLocks noChangeShapeType="1"/>
              </p:cNvSpPr>
              <p:nvPr/>
            </p:nvSpPr>
            <p:spPr bwMode="auto">
              <a:xfrm flipH="1" flipV="1">
                <a:off x="3059361" y="2845209"/>
                <a:ext cx="173089" cy="1737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17"/>
              <p:cNvSpPr txBox="1">
                <a:spLocks noChangeArrowheads="1"/>
              </p:cNvSpPr>
              <p:nvPr/>
            </p:nvSpPr>
            <p:spPr bwMode="auto">
              <a:xfrm>
                <a:off x="1887134" y="2514346"/>
                <a:ext cx="1535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2000" b="1" i="1" dirty="0">
                    <a:solidFill>
                      <a:srgbClr val="000066"/>
                    </a:solidFill>
                    <a:ea typeface="幼圆" pitchFamily="49" charset="-122"/>
                    <a:cs typeface="Times New Roman" panose="02020603050405020304" pitchFamily="18" charset="0"/>
                    <a:sym typeface="Symbol" pitchFamily="18" charset="2"/>
                  </a:rPr>
                  <a:t></a:t>
                </a:r>
                <a:r>
                  <a:rPr lang="en-US" altLang="zh-CN" sz="2000" b="1" baseline="-25000" dirty="0" smtClean="0">
                    <a:solidFill>
                      <a:srgbClr val="000066"/>
                    </a:solidFill>
                    <a:ea typeface="幼圆" pitchFamily="49" charset="-122"/>
                    <a:cs typeface="Times New Roman" panose="02020603050405020304" pitchFamily="18" charset="0"/>
                    <a:sym typeface="Symbol" pitchFamily="18" charset="2"/>
                  </a:rPr>
                  <a:t>f</a:t>
                </a:r>
                <a:r>
                  <a:rPr lang="en-US" altLang="zh-CN" sz="2000" b="1" i="1" baseline="-25000"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a:t>
                </a:r>
                <a:r>
                  <a:rPr lang="en-US" altLang="zh-CN" sz="2000" b="1" i="1" dirty="0">
                    <a:solidFill>
                      <a:srgbClr val="000066"/>
                    </a:solidFill>
                    <a:ea typeface="幼圆" pitchFamily="49" charset="-122"/>
                    <a:cs typeface="Times New Roman" panose="02020603050405020304" pitchFamily="18" charset="0"/>
                  </a:rPr>
                  <a:t>c</a:t>
                </a:r>
                <a:r>
                  <a:rPr lang="en-US" altLang="zh-CN" sz="2000" b="1" dirty="0">
                    <a:solidFill>
                      <a:srgbClr val="000066"/>
                    </a:solidFill>
                    <a:ea typeface="幼圆" pitchFamily="49" charset="-122"/>
                    <a:cs typeface="Times New Roman" panose="02020603050405020304" pitchFamily="18" charset="0"/>
                  </a:rPr>
                  <a:t>+</a:t>
                </a:r>
                <a:r>
                  <a:rPr lang="en-US" altLang="zh-CN" sz="2000" b="1" i="1" dirty="0" smtClean="0">
                    <a:solidFill>
                      <a:srgbClr val="000066"/>
                    </a:solidFill>
                    <a:ea typeface="幼圆" pitchFamily="49" charset="-122"/>
                    <a:cs typeface="Times New Roman" panose="02020603050405020304" pitchFamily="18" charset="0"/>
                    <a:sym typeface="Symbol" pitchFamily="18" charset="2"/>
                  </a:rPr>
                  <a:t> </a:t>
                </a:r>
                <a:r>
                  <a:rPr lang="en-US" altLang="zh-CN" sz="2000" b="1" dirty="0" smtClean="0">
                    <a:solidFill>
                      <a:srgbClr val="000066"/>
                    </a:solidFill>
                    <a:ea typeface="幼圆" pitchFamily="49" charset="-122"/>
                    <a:cs typeface="Times New Roman" panose="02020603050405020304" pitchFamily="18" charset="0"/>
                  </a:rPr>
                  <a:t>tan</a:t>
                </a:r>
                <a:r>
                  <a:rPr lang="en-US" altLang="zh-CN" sz="2000" b="1" i="1" dirty="0" smtClean="0">
                    <a:solidFill>
                      <a:srgbClr val="000066"/>
                    </a:solidFill>
                    <a:ea typeface="幼圆" pitchFamily="49" charset="-122"/>
                    <a:cs typeface="Times New Roman" panose="02020603050405020304" pitchFamily="18" charset="0"/>
                    <a:sym typeface="Symbol"/>
                  </a:rPr>
                  <a:t></a:t>
                </a:r>
                <a:endParaRPr lang="zh-CN" altLang="en-US" sz="2000" b="1" i="1" dirty="0">
                  <a:solidFill>
                    <a:srgbClr val="000066"/>
                  </a:solidFill>
                  <a:ea typeface="幼圆" pitchFamily="49" charset="-122"/>
                  <a:cs typeface="Times New Roman" panose="02020603050405020304" pitchFamily="18" charset="0"/>
                  <a:sym typeface="Symbol" pitchFamily="18" charset="2"/>
                </a:endParaRPr>
              </a:p>
            </p:txBody>
          </p:sp>
        </p:grpSp>
      </p:grpSp>
      <p:sp>
        <p:nvSpPr>
          <p:cNvPr id="68" name="Arc 29"/>
          <p:cNvSpPr>
            <a:spLocks/>
          </p:cNvSpPr>
          <p:nvPr/>
        </p:nvSpPr>
        <p:spPr bwMode="auto">
          <a:xfrm flipH="1" flipV="1">
            <a:off x="6499800" y="5374699"/>
            <a:ext cx="535444" cy="274019"/>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文本框 7"/>
          <p:cNvSpPr txBox="1"/>
          <p:nvPr/>
        </p:nvSpPr>
        <p:spPr>
          <a:xfrm>
            <a:off x="2429480" y="758886"/>
            <a:ext cx="6028550" cy="938719"/>
          </a:xfrm>
          <a:prstGeom prst="rect">
            <a:avLst/>
          </a:prstGeom>
          <a:noFill/>
          <a:ln w="19050">
            <a:solidFill>
              <a:srgbClr val="C00000"/>
            </a:solidFill>
          </a:ln>
        </p:spPr>
        <p:txBody>
          <a:bodyPr wrap="square" rtlCol="0">
            <a:spAutoFit/>
          </a:bodyPr>
          <a:lstStyle/>
          <a:p>
            <a:pPr>
              <a:lnSpc>
                <a:spcPct val="125000"/>
              </a:lnSpc>
            </a:pPr>
            <a:r>
              <a:rPr lang="zh-CN" altLang="en-US" sz="2200" b="1" dirty="0" smtClean="0">
                <a:solidFill>
                  <a:srgbClr val="000066"/>
                </a:solidFill>
                <a:latin typeface="幼圆" panose="02010509060101010101" pitchFamily="49" charset="-122"/>
                <a:ea typeface="幼圆" panose="02010509060101010101" pitchFamily="49" charset="-122"/>
              </a:rPr>
              <a:t>自重应力作用下</a:t>
            </a:r>
            <a:r>
              <a:rPr lang="en-US" altLang="zh-CN" sz="2200" b="1" dirty="0" smtClean="0">
                <a:solidFill>
                  <a:srgbClr val="000066"/>
                </a:solidFill>
                <a:latin typeface="幼圆" panose="02010509060101010101" pitchFamily="49" charset="-122"/>
                <a:ea typeface="幼圆" panose="02010509060101010101" pitchFamily="49" charset="-122"/>
              </a:rPr>
              <a:t>,</a:t>
            </a:r>
            <a:r>
              <a:rPr lang="zh-CN" altLang="en-US" sz="2200" b="1" dirty="0" smtClean="0">
                <a:solidFill>
                  <a:srgbClr val="000066"/>
                </a:solidFill>
                <a:latin typeface="幼圆" panose="02010509060101010101" pitchFamily="49" charset="-122"/>
                <a:ea typeface="幼圆" panose="02010509060101010101" pitchFamily="49" charset="-122"/>
              </a:rPr>
              <a:t>半无限土体内各点的</a:t>
            </a:r>
            <a:r>
              <a:rPr lang="zh-CN" altLang="en-US" sz="2200" b="1" dirty="0">
                <a:solidFill>
                  <a:srgbClr val="000066"/>
                </a:solidFill>
                <a:latin typeface="幼圆" panose="02010509060101010101" pitchFamily="49" charset="-122"/>
                <a:ea typeface="幼圆" panose="02010509060101010101" pitchFamily="49" charset="-122"/>
              </a:rPr>
              <a:t>主动</a:t>
            </a:r>
            <a:r>
              <a:rPr lang="zh-CN" altLang="en-US" sz="2200" b="1" dirty="0" smtClean="0">
                <a:solidFill>
                  <a:srgbClr val="000066"/>
                </a:solidFill>
                <a:latin typeface="幼圆" panose="02010509060101010101" pitchFamily="49" charset="-122"/>
                <a:ea typeface="幼圆" panose="02010509060101010101" pitchFamily="49" charset="-122"/>
              </a:rPr>
              <a:t>和被动极限</a:t>
            </a:r>
            <a:r>
              <a:rPr lang="zh-CN" altLang="en-US" sz="2200" b="1" dirty="0">
                <a:solidFill>
                  <a:srgbClr val="000066"/>
                </a:solidFill>
                <a:latin typeface="幼圆" panose="02010509060101010101" pitchFamily="49" charset="-122"/>
                <a:ea typeface="幼圆" panose="02010509060101010101" pitchFamily="49" charset="-122"/>
              </a:rPr>
              <a:t>平衡应力状态</a:t>
            </a:r>
          </a:p>
        </p:txBody>
      </p:sp>
      <p:sp>
        <p:nvSpPr>
          <p:cNvPr id="71" name="Text Box 4"/>
          <p:cNvSpPr txBox="1">
            <a:spLocks noChangeArrowheads="1"/>
          </p:cNvSpPr>
          <p:nvPr/>
        </p:nvSpPr>
        <p:spPr bwMode="auto">
          <a:xfrm>
            <a:off x="986966" y="2352903"/>
            <a:ext cx="410420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buClr>
                <a:srgbClr val="A50021"/>
              </a:buClr>
            </a:pPr>
            <a:r>
              <a:rPr lang="en-US" altLang="zh-CN" sz="2200" b="1" dirty="0" smtClean="0">
                <a:solidFill>
                  <a:srgbClr val="000066"/>
                </a:solidFill>
                <a:ea typeface="幼圆" pitchFamily="49" charset="-122"/>
              </a:rPr>
              <a:t>1</a:t>
            </a:r>
            <a:r>
              <a:rPr lang="zh-CN" altLang="en-US" sz="2200" b="1" dirty="0" smtClean="0">
                <a:solidFill>
                  <a:srgbClr val="000066"/>
                </a:solidFill>
                <a:ea typeface="幼圆" pitchFamily="49" charset="-122"/>
              </a:rPr>
              <a:t>）地基初始状态：侧限状态</a:t>
            </a:r>
            <a:endParaRPr lang="zh-CN" altLang="en-US" sz="2200" b="1" dirty="0">
              <a:solidFill>
                <a:srgbClr val="000066"/>
              </a:solidFill>
              <a:ea typeface="幼圆" pitchFamily="49" charset="-122"/>
            </a:endParaRPr>
          </a:p>
        </p:txBody>
      </p:sp>
      <p:sp>
        <p:nvSpPr>
          <p:cNvPr id="73" name="Text Box 4"/>
          <p:cNvSpPr txBox="1">
            <a:spLocks noChangeArrowheads="1"/>
          </p:cNvSpPr>
          <p:nvPr/>
        </p:nvSpPr>
        <p:spPr bwMode="auto">
          <a:xfrm>
            <a:off x="993950" y="2766450"/>
            <a:ext cx="4320561"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2</a:t>
            </a:r>
            <a:r>
              <a:rPr lang="zh-CN" altLang="en-US" sz="2200" b="1" dirty="0" smtClean="0">
                <a:solidFill>
                  <a:srgbClr val="000066"/>
                </a:solidFill>
                <a:ea typeface="幼圆" pitchFamily="49" charset="-122"/>
              </a:rPr>
              <a:t>）刚性竖直光滑面</a:t>
            </a:r>
            <a:r>
              <a:rPr lang="en-US" altLang="zh-CN" sz="2200" b="1" dirty="0" err="1" smtClean="0">
                <a:solidFill>
                  <a:srgbClr val="000066"/>
                </a:solidFill>
                <a:ea typeface="幼圆" pitchFamily="49" charset="-122"/>
              </a:rPr>
              <a:t>mn</a:t>
            </a:r>
            <a:r>
              <a:rPr lang="zh-CN" altLang="en-US" sz="2200" b="1" dirty="0" smtClean="0">
                <a:solidFill>
                  <a:srgbClr val="000066"/>
                </a:solidFill>
                <a:ea typeface="幼圆" pitchFamily="49" charset="-122"/>
              </a:rPr>
              <a:t>代替</a:t>
            </a:r>
            <a:r>
              <a:rPr lang="en-US" altLang="zh-CN" sz="2200" b="1" dirty="0" err="1" smtClean="0">
                <a:solidFill>
                  <a:srgbClr val="000066"/>
                </a:solidFill>
                <a:ea typeface="幼圆" pitchFamily="49" charset="-122"/>
              </a:rPr>
              <a:t>左侧的土体</a:t>
            </a:r>
            <a:r>
              <a:rPr lang="zh-CN" altLang="en-US" sz="2200" b="1" dirty="0" smtClean="0">
                <a:solidFill>
                  <a:srgbClr val="000066"/>
                </a:solidFill>
                <a:ea typeface="幼圆" pitchFamily="49" charset="-122"/>
              </a:rPr>
              <a:t>：静止土压力状态</a:t>
            </a:r>
            <a:endParaRPr lang="zh-CN" altLang="en-US" sz="2200" b="1" dirty="0">
              <a:solidFill>
                <a:srgbClr val="000066"/>
              </a:solidFill>
              <a:ea typeface="幼圆" pitchFamily="49" charset="-122"/>
            </a:endParaRPr>
          </a:p>
        </p:txBody>
      </p:sp>
      <p:grpSp>
        <p:nvGrpSpPr>
          <p:cNvPr id="14" name="组合 13"/>
          <p:cNvGrpSpPr/>
          <p:nvPr/>
        </p:nvGrpSpPr>
        <p:grpSpPr>
          <a:xfrm>
            <a:off x="6393172" y="1584458"/>
            <a:ext cx="358271" cy="2467048"/>
            <a:chOff x="6393172" y="1584458"/>
            <a:chExt cx="358271" cy="2467048"/>
          </a:xfrm>
        </p:grpSpPr>
        <p:sp>
          <p:nvSpPr>
            <p:cNvPr id="9" name="矩形 8"/>
            <p:cNvSpPr/>
            <p:nvPr/>
          </p:nvSpPr>
          <p:spPr bwMode="auto">
            <a:xfrm>
              <a:off x="6646455" y="1931081"/>
              <a:ext cx="104988" cy="1881475"/>
            </a:xfrm>
            <a:prstGeom prst="rect">
              <a:avLst/>
            </a:prstGeom>
            <a:solidFill>
              <a:srgbClr val="9966FF"/>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5" name="Text Box 20"/>
            <p:cNvSpPr txBox="1">
              <a:spLocks noChangeArrowheads="1"/>
            </p:cNvSpPr>
            <p:nvPr/>
          </p:nvSpPr>
          <p:spPr bwMode="auto">
            <a:xfrm>
              <a:off x="6393172" y="1584458"/>
              <a:ext cx="264640"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smtClean="0">
                  <a:solidFill>
                    <a:srgbClr val="C00000"/>
                  </a:solidFill>
                  <a:latin typeface="Times New Roman" pitchFamily="18" charset="0"/>
                </a:rPr>
                <a:t>m</a:t>
              </a:r>
            </a:p>
          </p:txBody>
        </p:sp>
        <p:sp>
          <p:nvSpPr>
            <p:cNvPr id="77" name="Text Box 20"/>
            <p:cNvSpPr txBox="1">
              <a:spLocks noChangeArrowheads="1"/>
            </p:cNvSpPr>
            <p:nvPr/>
          </p:nvSpPr>
          <p:spPr bwMode="auto">
            <a:xfrm>
              <a:off x="6473689" y="3660822"/>
              <a:ext cx="264640"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smtClean="0">
                  <a:solidFill>
                    <a:srgbClr val="C00000"/>
                  </a:solidFill>
                  <a:latin typeface="Times New Roman" pitchFamily="18" charset="0"/>
                </a:rPr>
                <a:t>n</a:t>
              </a:r>
            </a:p>
          </p:txBody>
        </p:sp>
      </p:grpSp>
      <p:sp>
        <p:nvSpPr>
          <p:cNvPr id="82" name="Text Box 4"/>
          <p:cNvSpPr txBox="1">
            <a:spLocks noChangeArrowheads="1"/>
          </p:cNvSpPr>
          <p:nvPr/>
        </p:nvSpPr>
        <p:spPr bwMode="auto">
          <a:xfrm>
            <a:off x="977148" y="3600518"/>
            <a:ext cx="443940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a:solidFill>
                  <a:srgbClr val="000066"/>
                </a:solidFill>
                <a:ea typeface="幼圆" pitchFamily="49" charset="-122"/>
              </a:rPr>
              <a:t>3</a:t>
            </a:r>
            <a:r>
              <a:rPr lang="zh-CN" altLang="en-US" sz="2200" b="1" dirty="0" smtClean="0">
                <a:solidFill>
                  <a:srgbClr val="000066"/>
                </a:solidFill>
                <a:ea typeface="幼圆" pitchFamily="49" charset="-122"/>
              </a:rPr>
              <a:t>）</a:t>
            </a:r>
            <a:r>
              <a:rPr lang="en-US" altLang="zh-CN" sz="2200" b="1" dirty="0" err="1" smtClean="0">
                <a:solidFill>
                  <a:srgbClr val="000066"/>
                </a:solidFill>
                <a:ea typeface="幼圆" pitchFamily="49" charset="-122"/>
              </a:rPr>
              <a:t>mn</a:t>
            </a:r>
            <a:r>
              <a:rPr lang="zh-CN" altLang="en-US" sz="2200" b="1" dirty="0" smtClean="0">
                <a:solidFill>
                  <a:srgbClr val="000066"/>
                </a:solidFill>
                <a:ea typeface="幼圆" pitchFamily="49" charset="-122"/>
              </a:rPr>
              <a:t>面右移：</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h</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逐渐减大，</a:t>
            </a:r>
            <a:r>
              <a:rPr lang="zh-CN" altLang="en-US" sz="2200" b="1" i="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 </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v</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保持不变。</a:t>
            </a:r>
            <a:r>
              <a:rPr lang="zh-CN" altLang="en-US" sz="2200" b="1" i="1" dirty="0">
                <a:solidFill>
                  <a:srgbClr val="000066"/>
                </a:solidFill>
                <a:cs typeface="Times New Roman" panose="02020603050405020304" pitchFamily="18" charset="0"/>
                <a:sym typeface="Symbol" pitchFamily="18" charset="2"/>
              </a:rPr>
              <a:t> </a:t>
            </a:r>
            <a:r>
              <a:rPr lang="en-US" altLang="zh-CN" sz="2200" b="1" baseline="-25000" dirty="0" smtClean="0">
                <a:solidFill>
                  <a:srgbClr val="000066"/>
                </a:solidFill>
                <a:cs typeface="Times New Roman" panose="02020603050405020304" pitchFamily="18" charset="0"/>
                <a:sym typeface="Symbol" pitchFamily="18" charset="2"/>
              </a:rPr>
              <a:t>h</a:t>
            </a:r>
            <a:r>
              <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会</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成为大主应力</a:t>
            </a:r>
            <a:endParaRPr lang="zh-CN" altLang="en-US" sz="2200" b="1" dirty="0">
              <a:solidFill>
                <a:srgbClr val="000066"/>
              </a:solidFill>
              <a:latin typeface="幼圆" panose="02010509060101010101" pitchFamily="49" charset="-122"/>
              <a:ea typeface="幼圆" panose="02010509060101010101" pitchFamily="49" charset="-122"/>
            </a:endParaRPr>
          </a:p>
        </p:txBody>
      </p:sp>
      <p:grpSp>
        <p:nvGrpSpPr>
          <p:cNvPr id="16" name="组合 15"/>
          <p:cNvGrpSpPr/>
          <p:nvPr/>
        </p:nvGrpSpPr>
        <p:grpSpPr>
          <a:xfrm>
            <a:off x="6101299" y="5304698"/>
            <a:ext cx="1166531" cy="705003"/>
            <a:chOff x="6101299" y="5304698"/>
            <a:chExt cx="1166531" cy="705003"/>
          </a:xfrm>
        </p:grpSpPr>
        <p:sp>
          <p:nvSpPr>
            <p:cNvPr id="69" name="Text Box 19"/>
            <p:cNvSpPr txBox="1">
              <a:spLocks noChangeArrowheads="1"/>
            </p:cNvSpPr>
            <p:nvPr/>
          </p:nvSpPr>
          <p:spPr bwMode="auto">
            <a:xfrm>
              <a:off x="6832232" y="5580280"/>
              <a:ext cx="435598" cy="400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a:t>
              </a:r>
              <a:endParaRPr lang="en-US" altLang="zh-CN" sz="2000" b="1" baseline="-25000" dirty="0">
                <a:solidFill>
                  <a:srgbClr val="000066"/>
                </a:solidFill>
                <a:cs typeface="Times New Roman" panose="02020603050405020304" pitchFamily="18" charset="0"/>
                <a:sym typeface="Symbol" pitchFamily="18" charset="2"/>
              </a:endParaRPr>
            </a:p>
          </p:txBody>
        </p:sp>
        <p:sp>
          <p:nvSpPr>
            <p:cNvPr id="72" name="Text Box 19"/>
            <p:cNvSpPr txBox="1">
              <a:spLocks noChangeArrowheads="1"/>
            </p:cNvSpPr>
            <p:nvPr/>
          </p:nvSpPr>
          <p:spPr bwMode="auto">
            <a:xfrm>
              <a:off x="6101299" y="5609591"/>
              <a:ext cx="8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en-US" altLang="zh-CN" sz="2000" b="1" i="1" dirty="0" smtClean="0">
                  <a:solidFill>
                    <a:srgbClr val="000066"/>
                  </a:solidFill>
                  <a:cs typeface="Times New Roman" panose="02020603050405020304" pitchFamily="18" charset="0"/>
                  <a:sym typeface="Symbol" pitchFamily="18" charset="2"/>
                </a:rPr>
                <a:t>K</a:t>
              </a:r>
              <a:r>
                <a:rPr lang="en-US" altLang="zh-CN" sz="2000" b="1" baseline="-25000" dirty="0" smtClean="0">
                  <a:solidFill>
                    <a:srgbClr val="000066"/>
                  </a:solidFill>
                  <a:cs typeface="Times New Roman" panose="02020603050405020304" pitchFamily="18" charset="0"/>
                  <a:sym typeface="Symbol" pitchFamily="18" charset="2"/>
                </a:rPr>
                <a:t>0</a:t>
              </a:r>
              <a:r>
                <a:rPr lang="zh-CN" altLang="en-US"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a:t>
              </a:r>
              <a:endParaRPr lang="en-US" altLang="zh-CN" sz="2000" b="1" baseline="-25000" dirty="0">
                <a:solidFill>
                  <a:srgbClr val="000066"/>
                </a:solidFill>
                <a:cs typeface="Times New Roman" panose="02020603050405020304" pitchFamily="18" charset="0"/>
                <a:sym typeface="Symbol" pitchFamily="18" charset="2"/>
              </a:endParaRPr>
            </a:p>
          </p:txBody>
        </p:sp>
        <p:sp>
          <p:nvSpPr>
            <p:cNvPr id="83" name="Arc 29"/>
            <p:cNvSpPr>
              <a:spLocks/>
            </p:cNvSpPr>
            <p:nvPr/>
          </p:nvSpPr>
          <p:spPr bwMode="auto">
            <a:xfrm flipH="1" flipV="1">
              <a:off x="6356077" y="5304698"/>
              <a:ext cx="673079" cy="343646"/>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cxnSp>
        <p:nvCxnSpPr>
          <p:cNvPr id="11" name="直接箭头连接符 10"/>
          <p:cNvCxnSpPr/>
          <p:nvPr/>
        </p:nvCxnSpPr>
        <p:spPr bwMode="auto">
          <a:xfrm>
            <a:off x="6410396" y="5587486"/>
            <a:ext cx="304800" cy="0"/>
          </a:xfrm>
          <a:prstGeom prst="straightConnector1">
            <a:avLst/>
          </a:prstGeom>
          <a:noFill/>
          <a:ln w="28575"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4"/>
          <p:cNvSpPr txBox="1">
            <a:spLocks noChangeArrowheads="1"/>
          </p:cNvSpPr>
          <p:nvPr/>
        </p:nvSpPr>
        <p:spPr bwMode="auto">
          <a:xfrm>
            <a:off x="957854" y="4439937"/>
            <a:ext cx="432056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4</a:t>
            </a:r>
            <a:r>
              <a:rPr lang="zh-CN" altLang="en-US" sz="2200" b="1" dirty="0" smtClean="0">
                <a:solidFill>
                  <a:srgbClr val="000066"/>
                </a:solidFill>
                <a:ea typeface="幼圆" pitchFamily="49" charset="-122"/>
              </a:rPr>
              <a:t>）</a:t>
            </a:r>
            <a:r>
              <a:rPr lang="zh-CN" altLang="en-US" sz="2200" b="1" dirty="0">
                <a:solidFill>
                  <a:srgbClr val="000066"/>
                </a:solidFill>
                <a:ea typeface="幼圆" pitchFamily="49" charset="-122"/>
                <a:sym typeface="Symbol" panose="05050102010706020507" pitchFamily="18" charset="2"/>
              </a:rPr>
              <a:t> </a:t>
            </a:r>
            <a:r>
              <a:rPr lang="zh-CN" altLang="en-US" sz="2200" b="1" dirty="0" smtClean="0">
                <a:solidFill>
                  <a:srgbClr val="000066"/>
                </a:solidFill>
                <a:ea typeface="幼圆" pitchFamily="49" charset="-122"/>
                <a:sym typeface="Symbol" panose="05050102010706020507" pitchFamily="18" charset="2"/>
              </a:rPr>
              <a:t>位移 </a:t>
            </a:r>
            <a:r>
              <a:rPr lang="zh-CN" altLang="en-US" sz="2200" b="1" dirty="0">
                <a:solidFill>
                  <a:srgbClr val="000066"/>
                </a:solidFill>
                <a:ea typeface="幼圆" pitchFamily="49" charset="-122"/>
                <a:sym typeface="Symbol" panose="05050102010706020507" pitchFamily="18" charset="2"/>
              </a:rPr>
              <a:t>足够大</a:t>
            </a:r>
            <a:r>
              <a:rPr lang="zh-CN" altLang="en-US" sz="2200" b="1" dirty="0" smtClean="0">
                <a:solidFill>
                  <a:srgbClr val="000066"/>
                </a:solidFill>
                <a:ea typeface="幼圆" pitchFamily="49" charset="-122"/>
                <a:sym typeface="Symbol" panose="05050102010706020507" pitchFamily="18" charset="2"/>
              </a:rPr>
              <a:t>时，土单元破坏，</a:t>
            </a:r>
            <a:r>
              <a:rPr lang="zh-CN" altLang="en-US" sz="2200" b="1" i="1" dirty="0" smtClean="0">
                <a:solidFill>
                  <a:srgbClr val="000066"/>
                </a:solidFill>
                <a:cs typeface="Times New Roman" panose="02020603050405020304" pitchFamily="18" charset="0"/>
                <a:sym typeface="Symbol" pitchFamily="18" charset="2"/>
              </a:rPr>
              <a:t></a:t>
            </a:r>
            <a:r>
              <a:rPr lang="en-US" altLang="zh-CN" sz="2200" b="1" baseline="-25000" dirty="0" smtClean="0">
                <a:solidFill>
                  <a:srgbClr val="000066"/>
                </a:solidFill>
                <a:cs typeface="Times New Roman" panose="02020603050405020304" pitchFamily="18" charset="0"/>
                <a:sym typeface="Symbol" pitchFamily="18" charset="2"/>
              </a:rPr>
              <a:t>h</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达到最大值</a:t>
            </a:r>
            <a:r>
              <a:rPr lang="en-US" altLang="zh-CN" sz="2200" b="1" i="1" dirty="0" smtClean="0">
                <a:solidFill>
                  <a:srgbClr val="000066"/>
                </a:solidFill>
                <a:ea typeface="幼圆" panose="02010509060101010101" pitchFamily="49" charset="-122"/>
                <a:cs typeface="Times New Roman" panose="02020603050405020304" pitchFamily="18" charset="0"/>
                <a:sym typeface="Symbol" pitchFamily="18" charset="2"/>
              </a:rPr>
              <a:t>p</a:t>
            </a:r>
            <a:r>
              <a:rPr lang="en-US" altLang="zh-CN" sz="2200" b="1" baseline="-25000" dirty="0" smtClean="0">
                <a:solidFill>
                  <a:srgbClr val="000066"/>
                </a:solidFill>
                <a:ea typeface="幼圆" panose="02010509060101010101" pitchFamily="49" charset="-122"/>
                <a:cs typeface="Times New Roman" panose="02020603050405020304" pitchFamily="18" charset="0"/>
                <a:sym typeface="Symbol" pitchFamily="18" charset="2"/>
              </a:rPr>
              <a:t>p</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，称</a:t>
            </a:r>
            <a:r>
              <a:rPr lang="zh-CN" altLang="en-US" sz="22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被动</a:t>
            </a:r>
            <a:r>
              <a:rPr lang="zh-CN" altLang="en-US" sz="2200" b="1" dirty="0">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itchFamily="18" charset="2"/>
              </a:rPr>
              <a:t>极限平衡应力状态</a:t>
            </a:r>
            <a:endParaRPr lang="zh-CN" altLang="en-US" sz="2200" b="1" dirty="0">
              <a:solidFill>
                <a:srgbClr val="C00000"/>
              </a:solidFill>
              <a:latin typeface="黑体" panose="02010609060101010101" pitchFamily="49" charset="-122"/>
              <a:ea typeface="黑体" panose="02010609060101010101" pitchFamily="49" charset="-122"/>
            </a:endParaRPr>
          </a:p>
        </p:txBody>
      </p:sp>
      <p:grpSp>
        <p:nvGrpSpPr>
          <p:cNvPr id="18" name="组合 17"/>
          <p:cNvGrpSpPr/>
          <p:nvPr/>
        </p:nvGrpSpPr>
        <p:grpSpPr>
          <a:xfrm>
            <a:off x="7036858" y="4784130"/>
            <a:ext cx="1927475" cy="1197775"/>
            <a:chOff x="7036858" y="4784130"/>
            <a:chExt cx="1927475" cy="1197775"/>
          </a:xfrm>
        </p:grpSpPr>
        <p:sp>
          <p:nvSpPr>
            <p:cNvPr id="70" name="Text Box 20"/>
            <p:cNvSpPr txBox="1">
              <a:spLocks noChangeArrowheads="1"/>
            </p:cNvSpPr>
            <p:nvPr/>
          </p:nvSpPr>
          <p:spPr bwMode="auto">
            <a:xfrm>
              <a:off x="8498663" y="5581795"/>
              <a:ext cx="465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lang="en-US" altLang="zh-CN" sz="2000" b="1" i="1" dirty="0" smtClean="0">
                  <a:solidFill>
                    <a:srgbClr val="C00000"/>
                  </a:solidFill>
                  <a:cs typeface="Times New Roman" panose="02020603050405020304" pitchFamily="18" charset="0"/>
                  <a:sym typeface="Symbol" pitchFamily="18" charset="2"/>
                </a:rPr>
                <a:t>p</a:t>
              </a:r>
              <a:r>
                <a:rPr lang="en-US" altLang="zh-CN" sz="2000" b="1" baseline="-25000" dirty="0" smtClean="0">
                  <a:solidFill>
                    <a:srgbClr val="C00000"/>
                  </a:solidFill>
                  <a:cs typeface="Times New Roman" panose="02020603050405020304" pitchFamily="18" charset="0"/>
                  <a:sym typeface="Symbol" pitchFamily="18" charset="2"/>
                </a:rPr>
                <a:t>p</a:t>
              </a:r>
              <a:endParaRPr lang="en-US" altLang="zh-CN" sz="2000" b="1" dirty="0">
                <a:solidFill>
                  <a:srgbClr val="C00000"/>
                </a:solidFill>
                <a:cs typeface="Times New Roman" panose="02020603050405020304" pitchFamily="18" charset="0"/>
                <a:sym typeface="Symbol" pitchFamily="18" charset="2"/>
              </a:endParaRPr>
            </a:p>
          </p:txBody>
        </p:sp>
        <p:sp>
          <p:nvSpPr>
            <p:cNvPr id="86" name="Arc 29"/>
            <p:cNvSpPr>
              <a:spLocks/>
            </p:cNvSpPr>
            <p:nvPr/>
          </p:nvSpPr>
          <p:spPr bwMode="auto">
            <a:xfrm flipH="1" flipV="1">
              <a:off x="7036858" y="4784130"/>
              <a:ext cx="1706351" cy="870043"/>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 name="connsiteX0" fmla="*/ 43195 w 43200"/>
                <a:gd name="connsiteY0" fmla="*/ 82 h 22108"/>
                <a:gd name="connsiteX1" fmla="*/ 43200 w 43200"/>
                <a:gd name="connsiteY1" fmla="*/ 508 h 22108"/>
                <a:gd name="connsiteX2" fmla="*/ 21600 w 43200"/>
                <a:gd name="connsiteY2" fmla="*/ 22108 h 22108"/>
                <a:gd name="connsiteX3" fmla="*/ 0 w 43200"/>
                <a:gd name="connsiteY3" fmla="*/ 508 h 22108"/>
                <a:gd name="connsiteX4" fmla="*/ 5 w 43200"/>
                <a:gd name="connsiteY4" fmla="*/ 0 h 22108"/>
                <a:gd name="connsiteX0" fmla="*/ 43195 w 43200"/>
                <a:gd name="connsiteY0" fmla="*/ 82 h 22108"/>
                <a:gd name="connsiteX1" fmla="*/ 43200 w 43200"/>
                <a:gd name="connsiteY1" fmla="*/ 508 h 22108"/>
                <a:gd name="connsiteX2" fmla="*/ 21600 w 43200"/>
                <a:gd name="connsiteY2" fmla="*/ 22108 h 22108"/>
                <a:gd name="connsiteX3" fmla="*/ 0 w 43200"/>
                <a:gd name="connsiteY3" fmla="*/ 508 h 22108"/>
                <a:gd name="connsiteX4" fmla="*/ 11652 w 43200"/>
                <a:gd name="connsiteY4" fmla="*/ 19308 h 22108"/>
                <a:gd name="connsiteX5" fmla="*/ 21600 w 43200"/>
                <a:gd name="connsiteY5" fmla="*/ 508 h 22108"/>
                <a:gd name="connsiteX6" fmla="*/ 43195 w 43200"/>
                <a:gd name="connsiteY6" fmla="*/ 82 h 22108"/>
                <a:gd name="connsiteX0" fmla="*/ 43195 w 43200"/>
                <a:gd name="connsiteY0" fmla="*/ 1158 h 23184"/>
                <a:gd name="connsiteX1" fmla="*/ 43200 w 43200"/>
                <a:gd name="connsiteY1" fmla="*/ 1584 h 23184"/>
                <a:gd name="connsiteX2" fmla="*/ 21600 w 43200"/>
                <a:gd name="connsiteY2" fmla="*/ 23184 h 23184"/>
                <a:gd name="connsiteX3" fmla="*/ 0 w 43200"/>
                <a:gd name="connsiteY3" fmla="*/ 1584 h 23184"/>
                <a:gd name="connsiteX4" fmla="*/ 5 w 43200"/>
                <a:gd name="connsiteY4" fmla="*/ 1076 h 23184"/>
                <a:gd name="connsiteX0" fmla="*/ 43195 w 43200"/>
                <a:gd name="connsiteY0" fmla="*/ 1158 h 23184"/>
                <a:gd name="connsiteX1" fmla="*/ 43200 w 43200"/>
                <a:gd name="connsiteY1" fmla="*/ 1584 h 23184"/>
                <a:gd name="connsiteX2" fmla="*/ 21600 w 43200"/>
                <a:gd name="connsiteY2" fmla="*/ 23184 h 23184"/>
                <a:gd name="connsiteX3" fmla="*/ 0 w 43200"/>
                <a:gd name="connsiteY3" fmla="*/ 1584 h 23184"/>
                <a:gd name="connsiteX4" fmla="*/ 21600 w 43200"/>
                <a:gd name="connsiteY4" fmla="*/ 1584 h 23184"/>
                <a:gd name="connsiteX5" fmla="*/ 43195 w 43200"/>
                <a:gd name="connsiteY5" fmla="*/ 1158 h 23184"/>
                <a:gd name="connsiteX0" fmla="*/ 43195 w 43200"/>
                <a:gd name="connsiteY0" fmla="*/ 82 h 22108"/>
                <a:gd name="connsiteX1" fmla="*/ 43200 w 43200"/>
                <a:gd name="connsiteY1" fmla="*/ 508 h 22108"/>
                <a:gd name="connsiteX2" fmla="*/ 21600 w 43200"/>
                <a:gd name="connsiteY2" fmla="*/ 22108 h 22108"/>
                <a:gd name="connsiteX3" fmla="*/ 0 w 43200"/>
                <a:gd name="connsiteY3" fmla="*/ 508 h 22108"/>
                <a:gd name="connsiteX4" fmla="*/ 5 w 43200"/>
                <a:gd name="connsiteY4" fmla="*/ 0 h 22108"/>
                <a:gd name="connsiteX0" fmla="*/ 43195 w 43200"/>
                <a:gd name="connsiteY0" fmla="*/ 82 h 22108"/>
                <a:gd name="connsiteX1" fmla="*/ 43200 w 43200"/>
                <a:gd name="connsiteY1" fmla="*/ 508 h 22108"/>
                <a:gd name="connsiteX2" fmla="*/ 21600 w 43200"/>
                <a:gd name="connsiteY2" fmla="*/ 22108 h 22108"/>
                <a:gd name="connsiteX3" fmla="*/ 21600 w 43200"/>
                <a:gd name="connsiteY3" fmla="*/ 508 h 22108"/>
                <a:gd name="connsiteX4" fmla="*/ 43195 w 43200"/>
                <a:gd name="connsiteY4" fmla="*/ 82 h 22108"/>
                <a:gd name="connsiteX0" fmla="*/ 43195 w 43200"/>
                <a:gd name="connsiteY0" fmla="*/ 0 h 22026"/>
                <a:gd name="connsiteX1" fmla="*/ 43200 w 43200"/>
                <a:gd name="connsiteY1" fmla="*/ 426 h 22026"/>
                <a:gd name="connsiteX2" fmla="*/ 21600 w 43200"/>
                <a:gd name="connsiteY2" fmla="*/ 22026 h 22026"/>
                <a:gd name="connsiteX3" fmla="*/ 0 w 43200"/>
                <a:gd name="connsiteY3" fmla="*/ 426 h 22026"/>
                <a:gd name="connsiteX0" fmla="*/ 43195 w 43200"/>
                <a:gd name="connsiteY0" fmla="*/ 0 h 22026"/>
                <a:gd name="connsiteX1" fmla="*/ 43200 w 43200"/>
                <a:gd name="connsiteY1" fmla="*/ 426 h 22026"/>
                <a:gd name="connsiteX2" fmla="*/ 21600 w 43200"/>
                <a:gd name="connsiteY2" fmla="*/ 22026 h 22026"/>
                <a:gd name="connsiteX3" fmla="*/ 21600 w 43200"/>
                <a:gd name="connsiteY3" fmla="*/ 426 h 22026"/>
                <a:gd name="connsiteX4" fmla="*/ 43195 w 43200"/>
                <a:gd name="connsiteY4" fmla="*/ 0 h 22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00" h="22026" fill="none" extrusionOk="0">
                  <a:moveTo>
                    <a:pt x="43195" y="0"/>
                  </a:moveTo>
                  <a:cubicBezTo>
                    <a:pt x="43198" y="141"/>
                    <a:pt x="43200" y="283"/>
                    <a:pt x="43200" y="426"/>
                  </a:cubicBezTo>
                  <a:cubicBezTo>
                    <a:pt x="43200" y="12355"/>
                    <a:pt x="33529" y="22026"/>
                    <a:pt x="21600" y="22026"/>
                  </a:cubicBezTo>
                  <a:cubicBezTo>
                    <a:pt x="9670" y="22026"/>
                    <a:pt x="0" y="12355"/>
                    <a:pt x="0" y="426"/>
                  </a:cubicBezTo>
                </a:path>
                <a:path w="43200" h="22026" stroke="0" extrusionOk="0">
                  <a:moveTo>
                    <a:pt x="43195" y="0"/>
                  </a:moveTo>
                  <a:cubicBezTo>
                    <a:pt x="43198" y="141"/>
                    <a:pt x="43200" y="283"/>
                    <a:pt x="43200" y="426"/>
                  </a:cubicBezTo>
                  <a:cubicBezTo>
                    <a:pt x="43200" y="12355"/>
                    <a:pt x="25200" y="22026"/>
                    <a:pt x="21600" y="22026"/>
                  </a:cubicBezTo>
                  <a:cubicBezTo>
                    <a:pt x="18000" y="22026"/>
                    <a:pt x="18001" y="4097"/>
                    <a:pt x="21600" y="426"/>
                  </a:cubicBezTo>
                  <a:lnTo>
                    <a:pt x="43195" y="0"/>
                  </a:lnTo>
                  <a:close/>
                </a:path>
              </a:pathLst>
            </a:custGeom>
            <a:noFill/>
            <a:ln w="1905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0" name="组合 9"/>
          <p:cNvGrpSpPr/>
          <p:nvPr/>
        </p:nvGrpSpPr>
        <p:grpSpPr>
          <a:xfrm>
            <a:off x="6737878" y="1944623"/>
            <a:ext cx="2096316" cy="1873557"/>
            <a:chOff x="6737878" y="1944623"/>
            <a:chExt cx="2096316" cy="1873557"/>
          </a:xfrm>
        </p:grpSpPr>
        <p:sp>
          <p:nvSpPr>
            <p:cNvPr id="88" name="Line 95"/>
            <p:cNvSpPr>
              <a:spLocks noChangeAspect="1" noChangeShapeType="1"/>
            </p:cNvSpPr>
            <p:nvPr/>
          </p:nvSpPr>
          <p:spPr bwMode="auto">
            <a:xfrm rot="5400000" flipH="1">
              <a:off x="7374069" y="1497875"/>
              <a:ext cx="994089" cy="188806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9" name="Line 96"/>
            <p:cNvSpPr>
              <a:spLocks noChangeAspect="1" noChangeShapeType="1"/>
            </p:cNvSpPr>
            <p:nvPr/>
          </p:nvSpPr>
          <p:spPr bwMode="auto">
            <a:xfrm rot="5400000" flipH="1">
              <a:off x="7259035" y="2095661"/>
              <a:ext cx="1086159" cy="2064158"/>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Line 100"/>
            <p:cNvSpPr>
              <a:spLocks noChangeAspect="1" noChangeShapeType="1"/>
            </p:cNvSpPr>
            <p:nvPr/>
          </p:nvSpPr>
          <p:spPr bwMode="auto">
            <a:xfrm rot="5400000">
              <a:off x="8712439" y="3709421"/>
              <a:ext cx="71795" cy="13618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 name="Line 101"/>
            <p:cNvSpPr>
              <a:spLocks noChangeAspect="1" noChangeShapeType="1"/>
            </p:cNvSpPr>
            <p:nvPr/>
          </p:nvSpPr>
          <p:spPr bwMode="auto">
            <a:xfrm rot="5400000">
              <a:off x="7226510" y="2243347"/>
              <a:ext cx="1073433" cy="204110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Line 102"/>
            <p:cNvSpPr>
              <a:spLocks noChangeAspect="1" noChangeShapeType="1"/>
            </p:cNvSpPr>
            <p:nvPr/>
          </p:nvSpPr>
          <p:spPr bwMode="auto">
            <a:xfrm rot="5400000">
              <a:off x="7230062" y="1634745"/>
              <a:ext cx="1092897" cy="2077265"/>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9" name="Line 103"/>
            <p:cNvSpPr>
              <a:spLocks noChangeAspect="1" noChangeShapeType="1"/>
            </p:cNvSpPr>
            <p:nvPr/>
          </p:nvSpPr>
          <p:spPr bwMode="auto">
            <a:xfrm rot="5400000">
              <a:off x="8062379" y="3096805"/>
              <a:ext cx="488151" cy="928038"/>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0" name="Line 104"/>
            <p:cNvSpPr>
              <a:spLocks noChangeAspect="1" noChangeShapeType="1"/>
            </p:cNvSpPr>
            <p:nvPr/>
          </p:nvSpPr>
          <p:spPr bwMode="auto">
            <a:xfrm rot="5400000">
              <a:off x="7046812" y="1648115"/>
              <a:ext cx="659116" cy="125213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5" name="Line 106"/>
            <p:cNvSpPr>
              <a:spLocks noChangeAspect="1" noChangeShapeType="1"/>
            </p:cNvSpPr>
            <p:nvPr/>
          </p:nvSpPr>
          <p:spPr bwMode="auto">
            <a:xfrm rot="5400000" flipH="1">
              <a:off x="7010924" y="2964723"/>
              <a:ext cx="588506" cy="1118408"/>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7" name="Line 108"/>
            <p:cNvSpPr>
              <a:spLocks noChangeAspect="1" noChangeShapeType="1"/>
            </p:cNvSpPr>
            <p:nvPr/>
          </p:nvSpPr>
          <p:spPr bwMode="auto">
            <a:xfrm rot="5400000" flipH="1">
              <a:off x="8200883" y="1757283"/>
              <a:ext cx="423833" cy="80469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66" name="Arc 29"/>
          <p:cNvSpPr>
            <a:spLocks/>
          </p:cNvSpPr>
          <p:nvPr/>
        </p:nvSpPr>
        <p:spPr bwMode="auto">
          <a:xfrm flipH="1" flipV="1">
            <a:off x="6656983" y="5454748"/>
            <a:ext cx="370809" cy="189765"/>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 name="Arc 29"/>
          <p:cNvSpPr>
            <a:spLocks/>
          </p:cNvSpPr>
          <p:nvPr/>
        </p:nvSpPr>
        <p:spPr bwMode="auto">
          <a:xfrm flipH="1" flipV="1">
            <a:off x="7053242" y="5414515"/>
            <a:ext cx="468293" cy="239653"/>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 name="Arc 29"/>
          <p:cNvSpPr>
            <a:spLocks/>
          </p:cNvSpPr>
          <p:nvPr/>
        </p:nvSpPr>
        <p:spPr bwMode="auto">
          <a:xfrm flipH="1" flipV="1">
            <a:off x="7044371" y="5217902"/>
            <a:ext cx="854484" cy="437290"/>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4" name="Arc 29"/>
          <p:cNvSpPr>
            <a:spLocks/>
          </p:cNvSpPr>
          <p:nvPr/>
        </p:nvSpPr>
        <p:spPr bwMode="auto">
          <a:xfrm flipH="1" flipV="1">
            <a:off x="7043943" y="4989667"/>
            <a:ext cx="1304218" cy="667446"/>
          </a:xfrm>
          <a:custGeom>
            <a:avLst/>
            <a:gdLst>
              <a:gd name="T0" fmla="*/ 1687357 w 43200"/>
              <a:gd name="T1" fmla="*/ 3164 h 22107"/>
              <a:gd name="T2" fmla="*/ 234 w 43200"/>
              <a:gd name="T3" fmla="*/ 0 h 22107"/>
              <a:gd name="T4" fmla="*/ 843757 w 43200"/>
              <a:gd name="T5" fmla="*/ 19806 h 22107"/>
              <a:gd name="T6" fmla="*/ 0 60000 65536"/>
              <a:gd name="T7" fmla="*/ 0 60000 65536"/>
              <a:gd name="T8" fmla="*/ 0 60000 65536"/>
              <a:gd name="T9" fmla="*/ 0 w 43200"/>
              <a:gd name="T10" fmla="*/ 0 h 22107"/>
              <a:gd name="T11" fmla="*/ 43200 w 43200"/>
              <a:gd name="T12" fmla="*/ 22107 h 22107"/>
            </a:gdLst>
            <a:ahLst/>
            <a:cxnLst>
              <a:cxn ang="T6">
                <a:pos x="T0" y="T1"/>
              </a:cxn>
              <a:cxn ang="T7">
                <a:pos x="T2" y="T3"/>
              </a:cxn>
              <a:cxn ang="T8">
                <a:pos x="T4" y="T5"/>
              </a:cxn>
            </a:cxnLst>
            <a:rect l="T9" t="T10" r="T11" b="T12"/>
            <a:pathLst>
              <a:path w="43200" h="22107" fill="none"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path>
              <a:path w="43200" h="22107" stroke="0" extrusionOk="0">
                <a:moveTo>
                  <a:pt x="43195" y="81"/>
                </a:moveTo>
                <a:cubicBezTo>
                  <a:pt x="43198" y="222"/>
                  <a:pt x="43200" y="364"/>
                  <a:pt x="43200" y="507"/>
                </a:cubicBezTo>
                <a:cubicBezTo>
                  <a:pt x="43200" y="12436"/>
                  <a:pt x="33529" y="22107"/>
                  <a:pt x="21600" y="22107"/>
                </a:cubicBezTo>
                <a:cubicBezTo>
                  <a:pt x="9670" y="22107"/>
                  <a:pt x="0" y="12436"/>
                  <a:pt x="0" y="507"/>
                </a:cubicBezTo>
                <a:cubicBezTo>
                  <a:pt x="-1" y="337"/>
                  <a:pt x="1" y="168"/>
                  <a:pt x="5" y="-1"/>
                </a:cubicBezTo>
                <a:lnTo>
                  <a:pt x="21600" y="507"/>
                </a:lnTo>
                <a:close/>
              </a:path>
            </a:pathLst>
          </a:custGeom>
          <a:noFill/>
          <a:ln w="19050">
            <a:solidFill>
              <a:srgbClr val="00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AutoShape 118"/>
          <p:cNvSpPr>
            <a:spLocks noChangeArrowheads="1"/>
          </p:cNvSpPr>
          <p:nvPr/>
        </p:nvSpPr>
        <p:spPr bwMode="auto">
          <a:xfrm flipH="1">
            <a:off x="6116296" y="2774496"/>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7" name="组合 6"/>
          <p:cNvGrpSpPr/>
          <p:nvPr/>
        </p:nvGrpSpPr>
        <p:grpSpPr>
          <a:xfrm>
            <a:off x="7835531" y="3675122"/>
            <a:ext cx="1172213" cy="576440"/>
            <a:chOff x="7835531" y="3675122"/>
            <a:chExt cx="1172213" cy="576440"/>
          </a:xfrm>
        </p:grpSpPr>
        <p:sp>
          <p:nvSpPr>
            <p:cNvPr id="13" name="任意多边形 12"/>
            <p:cNvSpPr/>
            <p:nvPr/>
          </p:nvSpPr>
          <p:spPr bwMode="auto">
            <a:xfrm rot="593201">
              <a:off x="8110597" y="3675122"/>
              <a:ext cx="98359" cy="143259"/>
            </a:xfrm>
            <a:custGeom>
              <a:avLst/>
              <a:gdLst>
                <a:gd name="connsiteX0" fmla="*/ 82339 w 84333"/>
                <a:gd name="connsiteY0" fmla="*/ 177679 h 177679"/>
                <a:gd name="connsiteX1" fmla="*/ 73672 w 84333"/>
                <a:gd name="connsiteY1" fmla="*/ 82339 h 177679"/>
                <a:gd name="connsiteX2" fmla="*/ 0 w 84333"/>
                <a:gd name="connsiteY2" fmla="*/ 0 h 177679"/>
              </a:gdLst>
              <a:ahLst/>
              <a:cxnLst>
                <a:cxn ang="0">
                  <a:pos x="connsiteX0" y="connsiteY0"/>
                </a:cxn>
                <a:cxn ang="0">
                  <a:pos x="connsiteX1" y="connsiteY1"/>
                </a:cxn>
                <a:cxn ang="0">
                  <a:pos x="connsiteX2" y="connsiteY2"/>
                </a:cxn>
              </a:cxnLst>
              <a:rect l="l" t="t" r="r" b="b"/>
              <a:pathLst>
                <a:path w="84333" h="177679">
                  <a:moveTo>
                    <a:pt x="82339" y="177679"/>
                  </a:moveTo>
                  <a:cubicBezTo>
                    <a:pt x="84867" y="144815"/>
                    <a:pt x="87395" y="111952"/>
                    <a:pt x="73672" y="82339"/>
                  </a:cubicBezTo>
                  <a:cubicBezTo>
                    <a:pt x="59949" y="52726"/>
                    <a:pt x="29974" y="26363"/>
                    <a:pt x="0" y="0"/>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5" name="直接连接符 14"/>
            <p:cNvCxnSpPr/>
            <p:nvPr/>
          </p:nvCxnSpPr>
          <p:spPr bwMode="auto">
            <a:xfrm>
              <a:off x="8284005" y="3741964"/>
              <a:ext cx="239476" cy="14912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7835531" y="3816322"/>
              <a:ext cx="38499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Rectangle 152"/>
            <p:cNvSpPr>
              <a:spLocks noChangeArrowheads="1"/>
            </p:cNvSpPr>
            <p:nvPr/>
          </p:nvSpPr>
          <p:spPr bwMode="auto">
            <a:xfrm>
              <a:off x="7943354" y="3805286"/>
              <a:ext cx="106439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楷体_GB2312" pitchFamily="49" charset="-122"/>
                </a:rPr>
                <a:t>45</a:t>
              </a:r>
              <a:r>
                <a:rPr kumimoji="1" lang="en-US" altLang="zh-CN" sz="2000" b="1" baseline="30000" dirty="0" smtClean="0">
                  <a:solidFill>
                    <a:srgbClr val="000066"/>
                  </a:solidFill>
                  <a:latin typeface="Times New Roman" panose="02020603050405020304" pitchFamily="18" charset="0"/>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a:t>
              </a:r>
              <a:r>
                <a:rPr kumimoji="1" lang="en-US" altLang="zh-CN" sz="2000" b="1" i="1" dirty="0" smtClean="0">
                  <a:solidFill>
                    <a:srgbClr val="000066"/>
                  </a:solidFill>
                  <a:latin typeface="Symbol" panose="05050102010706020507" pitchFamily="18" charset="2"/>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/2</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5" name="组合 4"/>
          <p:cNvGrpSpPr/>
          <p:nvPr/>
        </p:nvGrpSpPr>
        <p:grpSpPr>
          <a:xfrm>
            <a:off x="6499434" y="2140485"/>
            <a:ext cx="1241032" cy="1150546"/>
            <a:chOff x="6505784" y="2140485"/>
            <a:chExt cx="1241032" cy="1150546"/>
          </a:xfrm>
        </p:grpSpPr>
        <p:sp>
          <p:nvSpPr>
            <p:cNvPr id="111" name="Text Box 14"/>
            <p:cNvSpPr txBox="1">
              <a:spLocks noChangeArrowheads="1"/>
            </p:cNvSpPr>
            <p:nvPr/>
          </p:nvSpPr>
          <p:spPr bwMode="auto">
            <a:xfrm>
              <a:off x="7330891" y="2601838"/>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h</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sp>
          <p:nvSpPr>
            <p:cNvPr id="93" name="Rectangle 9"/>
            <p:cNvSpPr>
              <a:spLocks noChangeArrowheads="1"/>
            </p:cNvSpPr>
            <p:nvPr/>
          </p:nvSpPr>
          <p:spPr bwMode="auto">
            <a:xfrm>
              <a:off x="6761508" y="2672378"/>
              <a:ext cx="304800" cy="304800"/>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94" name="Line 10"/>
            <p:cNvSpPr>
              <a:spLocks noChangeShapeType="1"/>
            </p:cNvSpPr>
            <p:nvPr/>
          </p:nvSpPr>
          <p:spPr bwMode="auto">
            <a:xfrm>
              <a:off x="6505784" y="2824778"/>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Line 12"/>
            <p:cNvSpPr>
              <a:spLocks noChangeShapeType="1"/>
            </p:cNvSpPr>
            <p:nvPr/>
          </p:nvSpPr>
          <p:spPr bwMode="auto">
            <a:xfrm rot="16200000">
              <a:off x="6765318" y="3138631"/>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Text Box 14"/>
            <p:cNvSpPr txBox="1">
              <a:spLocks noChangeArrowheads="1"/>
            </p:cNvSpPr>
            <p:nvPr/>
          </p:nvSpPr>
          <p:spPr bwMode="auto">
            <a:xfrm>
              <a:off x="6995503" y="2140485"/>
              <a:ext cx="415925" cy="35272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2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200" b="1" baseline="-25000" dirty="0" smtClean="0">
                  <a:solidFill>
                    <a:srgbClr val="000066"/>
                  </a:solidFill>
                  <a:latin typeface="Times New Roman" panose="02020603050405020304" pitchFamily="18" charset="0"/>
                  <a:cs typeface="Times New Roman" panose="02020603050405020304" pitchFamily="18" charset="0"/>
                </a:rPr>
                <a:t>v</a:t>
              </a:r>
              <a:endParaRPr lang="en-US" altLang="zh-CN" sz="2200" b="1" baseline="-25000" dirty="0">
                <a:solidFill>
                  <a:srgbClr val="000066"/>
                </a:solidFill>
                <a:latin typeface="Times New Roman" panose="02020603050405020304" pitchFamily="18" charset="0"/>
                <a:cs typeface="Times New Roman" panose="02020603050405020304" pitchFamily="18" charset="0"/>
              </a:endParaRPr>
            </a:p>
          </p:txBody>
        </p:sp>
        <p:sp>
          <p:nvSpPr>
            <p:cNvPr id="97" name="Line 13"/>
            <p:cNvSpPr>
              <a:spLocks noChangeShapeType="1"/>
            </p:cNvSpPr>
            <p:nvPr/>
          </p:nvSpPr>
          <p:spPr bwMode="auto">
            <a:xfrm rot="5400000">
              <a:off x="6765318" y="2519978"/>
              <a:ext cx="30480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 name="Line 10"/>
            <p:cNvSpPr>
              <a:spLocks noChangeShapeType="1"/>
            </p:cNvSpPr>
            <p:nvPr/>
          </p:nvSpPr>
          <p:spPr bwMode="auto">
            <a:xfrm rot="10800000">
              <a:off x="7065590" y="2841376"/>
              <a:ext cx="25953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43524037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left)">
                                      <p:cBhvr>
                                        <p:cTn id="7" dur="5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wipe(left)">
                                      <p:cBhvr>
                                        <p:cTn id="12" dur="500"/>
                                        <p:tgtEl>
                                          <p:spTgt spid="71"/>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par>
                          <p:cTn id="21" fill="hold">
                            <p:stCondLst>
                              <p:cond delay="1500"/>
                            </p:stCondLst>
                            <p:childTnLst>
                              <p:par>
                                <p:cTn id="22" presetID="1"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par>
                          <p:cTn id="24" fill="hold">
                            <p:stCondLst>
                              <p:cond delay="1500"/>
                            </p:stCondLst>
                            <p:childTnLst>
                              <p:par>
                                <p:cTn id="25" presetID="22" presetClass="entr" presetSubtype="2"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righ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wipe(left)">
                                      <p:cBhvr>
                                        <p:cTn id="32" dur="500"/>
                                        <p:tgtEl>
                                          <p:spTgt spid="73"/>
                                        </p:tgtEl>
                                      </p:cBhvr>
                                    </p:animEffec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2"/>
                                        </p:tgtEl>
                                        <p:attrNameLst>
                                          <p:attrName>style.visibility</p:attrName>
                                        </p:attrNameLst>
                                      </p:cBhvr>
                                      <p:to>
                                        <p:strVal val="visible"/>
                                      </p:to>
                                    </p:set>
                                    <p:animEffect transition="in" filter="wipe(left)">
                                      <p:cBhvr>
                                        <p:cTn id="43" dur="500"/>
                                        <p:tgtEl>
                                          <p:spTgt spid="82"/>
                                        </p:tgtEl>
                                      </p:cBhvr>
                                    </p:animEffect>
                                  </p:childTnLst>
                                </p:cTn>
                              </p:par>
                            </p:childTnLst>
                          </p:cTn>
                        </p:par>
                        <p:par>
                          <p:cTn id="44" fill="hold">
                            <p:stCondLst>
                              <p:cond delay="500"/>
                            </p:stCondLst>
                            <p:childTnLst>
                              <p:par>
                                <p:cTn id="45" presetID="22" presetClass="entr" presetSubtype="8" repeatCount="3000" fill="hold" grpId="0" nodeType="after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wipe(left)">
                                      <p:cBhvr>
                                        <p:cTn id="47" dur="500"/>
                                        <p:tgtEl>
                                          <p:spTgt spid="74"/>
                                        </p:tgtEl>
                                      </p:cBhvr>
                                    </p:animEffect>
                                  </p:childTnLst>
                                </p:cTn>
                              </p:par>
                              <p:par>
                                <p:cTn id="48" presetID="22" presetClass="entr" presetSubtype="8" repeatCount="3000" fill="hold"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par>
                          <p:cTn id="51" fill="hold">
                            <p:stCondLst>
                              <p:cond delay="2000"/>
                            </p:stCondLst>
                            <p:childTnLst>
                              <p:par>
                                <p:cTn id="52" presetID="22" presetClass="entr" presetSubtype="8" fill="hold" grpId="0" nodeType="afterEffect">
                                  <p:stCondLst>
                                    <p:cond delay="750"/>
                                  </p:stCondLst>
                                  <p:childTnLst>
                                    <p:set>
                                      <p:cBhvr>
                                        <p:cTn id="53" dur="1" fill="hold">
                                          <p:stCondLst>
                                            <p:cond delay="0"/>
                                          </p:stCondLst>
                                        </p:cTn>
                                        <p:tgtEl>
                                          <p:spTgt spid="68"/>
                                        </p:tgtEl>
                                        <p:attrNameLst>
                                          <p:attrName>style.visibility</p:attrName>
                                        </p:attrNameLst>
                                      </p:cBhvr>
                                      <p:to>
                                        <p:strVal val="visible"/>
                                      </p:to>
                                    </p:set>
                                    <p:animEffect transition="in" filter="wipe(left)">
                                      <p:cBhvr>
                                        <p:cTn id="54" dur="500"/>
                                        <p:tgtEl>
                                          <p:spTgt spid="68"/>
                                        </p:tgtEl>
                                      </p:cBhvr>
                                    </p:animEffect>
                                  </p:childTnLst>
                                </p:cTn>
                              </p:par>
                            </p:childTnLst>
                          </p:cTn>
                        </p:par>
                        <p:par>
                          <p:cTn id="55" fill="hold">
                            <p:stCondLst>
                              <p:cond delay="3250"/>
                            </p:stCondLst>
                            <p:childTnLst>
                              <p:par>
                                <p:cTn id="56" presetID="22" presetClass="entr" presetSubtype="8" fill="hold" grpId="0" nodeType="afterEffect">
                                  <p:stCondLst>
                                    <p:cond delay="750"/>
                                  </p:stCondLst>
                                  <p:childTnLst>
                                    <p:set>
                                      <p:cBhvr>
                                        <p:cTn id="57" dur="1" fill="hold">
                                          <p:stCondLst>
                                            <p:cond delay="0"/>
                                          </p:stCondLst>
                                        </p:cTn>
                                        <p:tgtEl>
                                          <p:spTgt spid="66"/>
                                        </p:tgtEl>
                                        <p:attrNameLst>
                                          <p:attrName>style.visibility</p:attrName>
                                        </p:attrNameLst>
                                      </p:cBhvr>
                                      <p:to>
                                        <p:strVal val="visible"/>
                                      </p:to>
                                    </p:set>
                                    <p:animEffect transition="in" filter="wipe(left)">
                                      <p:cBhvr>
                                        <p:cTn id="58" dur="500"/>
                                        <p:tgtEl>
                                          <p:spTgt spid="66"/>
                                        </p:tgtEl>
                                      </p:cBhvr>
                                    </p:animEffect>
                                  </p:childTnLst>
                                </p:cTn>
                              </p:par>
                            </p:childTnLst>
                          </p:cTn>
                        </p:par>
                        <p:par>
                          <p:cTn id="59" fill="hold">
                            <p:stCondLst>
                              <p:cond delay="4500"/>
                            </p:stCondLst>
                            <p:childTnLst>
                              <p:par>
                                <p:cTn id="60" presetID="22" presetClass="entr" presetSubtype="8" fill="hold" grpId="0" nodeType="afterEffect">
                                  <p:stCondLst>
                                    <p:cond delay="750"/>
                                  </p:stCondLst>
                                  <p:childTnLst>
                                    <p:set>
                                      <p:cBhvr>
                                        <p:cTn id="61" dur="1" fill="hold">
                                          <p:stCondLst>
                                            <p:cond delay="0"/>
                                          </p:stCondLst>
                                        </p:cTn>
                                        <p:tgtEl>
                                          <p:spTgt spid="67"/>
                                        </p:tgtEl>
                                        <p:attrNameLst>
                                          <p:attrName>style.visibility</p:attrName>
                                        </p:attrNameLst>
                                      </p:cBhvr>
                                      <p:to>
                                        <p:strVal val="visible"/>
                                      </p:to>
                                    </p:set>
                                    <p:animEffect transition="in" filter="wipe(left)">
                                      <p:cBhvr>
                                        <p:cTn id="62" dur="500"/>
                                        <p:tgtEl>
                                          <p:spTgt spid="67"/>
                                        </p:tgtEl>
                                      </p:cBhvr>
                                    </p:animEffect>
                                  </p:childTnLst>
                                </p:cTn>
                              </p:par>
                            </p:childTnLst>
                          </p:cTn>
                        </p:par>
                        <p:par>
                          <p:cTn id="63" fill="hold">
                            <p:stCondLst>
                              <p:cond delay="5750"/>
                            </p:stCondLst>
                            <p:childTnLst>
                              <p:par>
                                <p:cTn id="64" presetID="22" presetClass="entr" presetSubtype="8" fill="hold" grpId="0" nodeType="afterEffect">
                                  <p:stCondLst>
                                    <p:cond delay="750"/>
                                  </p:stCondLst>
                                  <p:childTnLst>
                                    <p:set>
                                      <p:cBhvr>
                                        <p:cTn id="65" dur="1" fill="hold">
                                          <p:stCondLst>
                                            <p:cond delay="0"/>
                                          </p:stCondLst>
                                        </p:cTn>
                                        <p:tgtEl>
                                          <p:spTgt spid="81"/>
                                        </p:tgtEl>
                                        <p:attrNameLst>
                                          <p:attrName>style.visibility</p:attrName>
                                        </p:attrNameLst>
                                      </p:cBhvr>
                                      <p:to>
                                        <p:strVal val="visible"/>
                                      </p:to>
                                    </p:set>
                                    <p:animEffect transition="in" filter="wipe(left)">
                                      <p:cBhvr>
                                        <p:cTn id="66" dur="500"/>
                                        <p:tgtEl>
                                          <p:spTgt spid="81"/>
                                        </p:tgtEl>
                                      </p:cBhvr>
                                    </p:animEffect>
                                  </p:childTnLst>
                                </p:cTn>
                              </p:par>
                            </p:childTnLst>
                          </p:cTn>
                        </p:par>
                        <p:par>
                          <p:cTn id="67" fill="hold">
                            <p:stCondLst>
                              <p:cond delay="7000"/>
                            </p:stCondLst>
                            <p:childTnLst>
                              <p:par>
                                <p:cTn id="68" presetID="22" presetClass="entr" presetSubtype="8" fill="hold" grpId="0" nodeType="afterEffect">
                                  <p:stCondLst>
                                    <p:cond delay="750"/>
                                  </p:stCondLst>
                                  <p:childTnLst>
                                    <p:set>
                                      <p:cBhvr>
                                        <p:cTn id="69" dur="1" fill="hold">
                                          <p:stCondLst>
                                            <p:cond delay="0"/>
                                          </p:stCondLst>
                                        </p:cTn>
                                        <p:tgtEl>
                                          <p:spTgt spid="84"/>
                                        </p:tgtEl>
                                        <p:attrNameLst>
                                          <p:attrName>style.visibility</p:attrName>
                                        </p:attrNameLst>
                                      </p:cBhvr>
                                      <p:to>
                                        <p:strVal val="visible"/>
                                      </p:to>
                                    </p:set>
                                    <p:animEffect transition="in" filter="wipe(left)">
                                      <p:cBhvr>
                                        <p:cTn id="70" dur="500"/>
                                        <p:tgtEl>
                                          <p:spTgt spid="8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85"/>
                                        </p:tgtEl>
                                        <p:attrNameLst>
                                          <p:attrName>style.visibility</p:attrName>
                                        </p:attrNameLst>
                                      </p:cBhvr>
                                      <p:to>
                                        <p:strVal val="visible"/>
                                      </p:to>
                                    </p:set>
                                    <p:animEffect transition="in" filter="wipe(left)">
                                      <p:cBhvr>
                                        <p:cTn id="75" dur="500"/>
                                        <p:tgtEl>
                                          <p:spTgt spid="85"/>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childTnLst>
                          </p:cTn>
                        </p:par>
                        <p:par>
                          <p:cTn id="80" fill="hold">
                            <p:stCondLst>
                              <p:cond delay="1000"/>
                            </p:stCondLst>
                            <p:childTnLst>
                              <p:par>
                                <p:cTn id="81" presetID="1" presetClass="entr" presetSubtype="0" fill="hold" nodeType="after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childTnLst>
                          </p:cTn>
                        </p:par>
                        <p:par>
                          <p:cTn id="83" fill="hold">
                            <p:stCondLst>
                              <p:cond delay="1000"/>
                            </p:stCondLst>
                            <p:childTnLst>
                              <p:par>
                                <p:cTn id="84" presetID="22" presetClass="entr" presetSubtype="1" fill="hold" nodeType="after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wipe(up)">
                                      <p:cBhvr>
                                        <p:cTn id="8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130" grpId="0"/>
      <p:bldP spid="68" grpId="0" animBg="1"/>
      <p:bldP spid="71" grpId="0"/>
      <p:bldP spid="73" grpId="0"/>
      <p:bldP spid="82" grpId="0"/>
      <p:bldP spid="85" grpId="0"/>
      <p:bldP spid="66" grpId="0" animBg="1"/>
      <p:bldP spid="67" grpId="0" animBg="1"/>
      <p:bldP spid="81" grpId="0" animBg="1"/>
      <p:bldP spid="84" grpId="0" animBg="1"/>
      <p:bldP spid="7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33</a:t>
            </a:fld>
            <a:endParaRPr lang="zh-CN" altLang="en-US" dirty="0">
              <a:solidFill>
                <a:srgbClr val="C00000"/>
              </a:solidFill>
            </a:endParaRPr>
          </a:p>
        </p:txBody>
      </p:sp>
      <p:sp>
        <p:nvSpPr>
          <p:cNvPr id="80" name="Text Box 46"/>
          <p:cNvSpPr txBox="1">
            <a:spLocks noChangeArrowheads="1"/>
          </p:cNvSpPr>
          <p:nvPr/>
        </p:nvSpPr>
        <p:spPr bwMode="auto">
          <a:xfrm>
            <a:off x="363383" y="764183"/>
            <a:ext cx="47746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适用</a:t>
            </a:r>
            <a:r>
              <a:rPr lang="zh-CN" altLang="en-US" sz="2800" b="1" dirty="0">
                <a:solidFill>
                  <a:srgbClr val="A50021"/>
                </a:solidFill>
                <a:latin typeface="微软雅黑" panose="020B0503020204020204" pitchFamily="34" charset="-122"/>
                <a:ea typeface="微软雅黑" panose="020B0503020204020204" pitchFamily="34" charset="-122"/>
              </a:rPr>
              <a:t>条件及基本</a:t>
            </a:r>
            <a:r>
              <a:rPr lang="zh-CN" altLang="en-US" sz="2800" b="1" dirty="0" smtClean="0">
                <a:solidFill>
                  <a:srgbClr val="A50021"/>
                </a:solidFill>
                <a:latin typeface="微软雅黑" panose="020B0503020204020204" pitchFamily="34" charset="-122"/>
                <a:ea typeface="微软雅黑" panose="020B0503020204020204" pitchFamily="34" charset="-122"/>
              </a:rPr>
              <a:t>假定</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61" name="Text Box 2"/>
          <p:cNvSpPr txBox="1">
            <a:spLocks noChangeArrowheads="1"/>
          </p:cNvSpPr>
          <p:nvPr/>
        </p:nvSpPr>
        <p:spPr bwMode="auto">
          <a:xfrm>
            <a:off x="2907462" y="5773334"/>
            <a:ext cx="38023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朗肯土压力理论 </a:t>
            </a:r>
          </a:p>
        </p:txBody>
      </p:sp>
      <p:sp>
        <p:nvSpPr>
          <p:cNvPr id="53" name="Text Box 7"/>
          <p:cNvSpPr txBox="1">
            <a:spLocks noChangeArrowheads="1"/>
          </p:cNvSpPr>
          <p:nvPr/>
        </p:nvSpPr>
        <p:spPr bwMode="auto">
          <a:xfrm>
            <a:off x="0" y="0"/>
            <a:ext cx="427513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适用</a:t>
            </a:r>
            <a:r>
              <a:rPr lang="zh-CN" altLang="en-US" sz="1800" b="1" kern="900" spc="130" dirty="0">
                <a:solidFill>
                  <a:srgbClr val="000066"/>
                </a:solidFill>
                <a:ea typeface="黑体" panose="02010609060101010101" pitchFamily="49" charset="-122"/>
                <a:cs typeface="Times New Roman" panose="02020603050405020304" pitchFamily="18" charset="0"/>
              </a:rPr>
              <a:t>条件</a:t>
            </a:r>
          </a:p>
        </p:txBody>
      </p:sp>
      <p:sp>
        <p:nvSpPr>
          <p:cNvPr id="74" name="Rectangle 3"/>
          <p:cNvSpPr txBox="1">
            <a:spLocks noChangeArrowheads="1"/>
          </p:cNvSpPr>
          <p:nvPr/>
        </p:nvSpPr>
        <p:spPr bwMode="auto">
          <a:xfrm>
            <a:off x="1007127" y="1597785"/>
            <a:ext cx="3637301" cy="3770919"/>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00000"/>
              </a:lnSpc>
              <a:spcBef>
                <a:spcPct val="0"/>
              </a:spcBef>
              <a:buClr>
                <a:srgbClr val="C00000"/>
              </a:buClr>
              <a:buSzPct val="100000"/>
              <a:buFont typeface="Wingdings" panose="05000000000000000000" pitchFamily="2" charset="2"/>
              <a:buChar char="Ø"/>
            </a:pPr>
            <a:r>
              <a:rPr lang="zh-CN" altLang="en-US" sz="2400" b="1" kern="0" dirty="0">
                <a:solidFill>
                  <a:srgbClr val="C00000"/>
                </a:solidFill>
                <a:latin typeface="幼圆" panose="02010509060101010101" pitchFamily="49" charset="-122"/>
                <a:ea typeface="幼圆" panose="02010509060101010101" pitchFamily="49" charset="-122"/>
              </a:rPr>
              <a:t>适用</a:t>
            </a:r>
            <a:r>
              <a:rPr lang="zh-CN" altLang="en-US" sz="2400" b="1" kern="0" dirty="0" smtClean="0">
                <a:solidFill>
                  <a:srgbClr val="C00000"/>
                </a:solidFill>
                <a:latin typeface="幼圆" panose="02010509060101010101" pitchFamily="49" charset="-122"/>
                <a:ea typeface="幼圆" panose="02010509060101010101" pitchFamily="49" charset="-122"/>
              </a:rPr>
              <a:t>条件</a:t>
            </a:r>
          </a:p>
          <a:p>
            <a:pPr marL="539750" lvl="1" indent="-182563">
              <a:lnSpc>
                <a:spcPct val="120000"/>
              </a:lnSpc>
              <a:spcBef>
                <a:spcPts val="12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墙背光滑</a:t>
            </a:r>
            <a:r>
              <a:rPr lang="en-US" altLang="zh-CN" sz="2000" b="1" kern="0" dirty="0" smtClean="0">
                <a:solidFill>
                  <a:srgbClr val="000066"/>
                </a:solidFill>
                <a:latin typeface="幼圆" panose="02010509060101010101" pitchFamily="49" charset="-122"/>
                <a:ea typeface="幼圆" panose="02010509060101010101" pitchFamily="49" charset="-122"/>
              </a:rPr>
              <a:t>,</a:t>
            </a:r>
            <a:r>
              <a:rPr lang="zh-CN" altLang="en-US" sz="2000" b="1" kern="0" dirty="0" smtClean="0">
                <a:solidFill>
                  <a:srgbClr val="000066"/>
                </a:solidFill>
                <a:latin typeface="幼圆" panose="02010509060101010101" pitchFamily="49" charset="-122"/>
                <a:ea typeface="幼圆" panose="02010509060101010101" pitchFamily="49" charset="-122"/>
              </a:rPr>
              <a:t>可</a:t>
            </a:r>
            <a:r>
              <a:rPr lang="en-US" altLang="zh-CN" sz="2000" b="1" kern="0" dirty="0" err="1" smtClean="0">
                <a:solidFill>
                  <a:srgbClr val="000066"/>
                </a:solidFill>
                <a:latin typeface="幼圆" panose="02010509060101010101" pitchFamily="49" charset="-122"/>
                <a:ea typeface="幼圆" panose="02010509060101010101" pitchFamily="49" charset="-122"/>
              </a:rPr>
              <a:t>忽略墙背与填土之间的摩擦作用</a:t>
            </a:r>
            <a:endParaRPr lang="zh-CN" altLang="en-US" sz="2000" b="1" kern="0" dirty="0" smtClean="0">
              <a:solidFill>
                <a:srgbClr val="000066"/>
              </a:solidFill>
              <a:latin typeface="幼圆" panose="02010509060101010101" pitchFamily="49" charset="-122"/>
              <a:ea typeface="幼圆" panose="02010509060101010101" pitchFamily="49" charset="-122"/>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墙背垂直</a:t>
            </a: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填土表面水平</a:t>
            </a:r>
          </a:p>
          <a:p>
            <a:pPr>
              <a:lnSpc>
                <a:spcPct val="100000"/>
              </a:lnSpc>
              <a:spcBef>
                <a:spcPct val="50000"/>
              </a:spcBef>
              <a:buClr>
                <a:srgbClr val="C00000"/>
              </a:buClr>
              <a:buSzPct val="100000"/>
              <a:buFont typeface="Wingdings" panose="05000000000000000000" pitchFamily="2" charset="2"/>
              <a:buChar char="Ø"/>
            </a:pPr>
            <a:r>
              <a:rPr lang="zh-CN" altLang="en-US" sz="2400" b="1" kern="0" dirty="0">
                <a:solidFill>
                  <a:srgbClr val="C00000"/>
                </a:solidFill>
                <a:latin typeface="幼圆" panose="02010509060101010101" pitchFamily="49" charset="-122"/>
                <a:ea typeface="幼圆" panose="02010509060101010101" pitchFamily="49" charset="-122"/>
              </a:rPr>
              <a:t>假设</a:t>
            </a:r>
          </a:p>
          <a:p>
            <a:pPr marL="539750" indent="-182563">
              <a:lnSpc>
                <a:spcPct val="125000"/>
              </a:lnSpc>
              <a:spcBef>
                <a:spcPts val="1200"/>
              </a:spcBef>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rPr>
              <a:t>墙</a:t>
            </a:r>
            <a:r>
              <a:rPr lang="zh-CN" altLang="en-US" sz="2000" b="1" kern="0" dirty="0" smtClean="0">
                <a:solidFill>
                  <a:srgbClr val="000066"/>
                </a:solidFill>
                <a:latin typeface="幼圆" panose="02010509060101010101" pitchFamily="49" charset="-122"/>
                <a:ea typeface="幼圆" panose="02010509060101010101" pitchFamily="49" charset="-122"/>
              </a:rPr>
              <a:t>后土体各</a:t>
            </a:r>
            <a:r>
              <a:rPr lang="zh-CN" altLang="en-US" sz="2000" b="1" kern="0" dirty="0">
                <a:solidFill>
                  <a:srgbClr val="000066"/>
                </a:solidFill>
                <a:latin typeface="幼圆" panose="02010509060101010101" pitchFamily="49" charset="-122"/>
                <a:ea typeface="幼圆" panose="02010509060101010101" pitchFamily="49" charset="-122"/>
              </a:rPr>
              <a:t>点均处于极限平衡状态</a:t>
            </a:r>
          </a:p>
        </p:txBody>
      </p:sp>
      <p:grpSp>
        <p:nvGrpSpPr>
          <p:cNvPr id="10" name="组合 9"/>
          <p:cNvGrpSpPr/>
          <p:nvPr/>
        </p:nvGrpSpPr>
        <p:grpSpPr>
          <a:xfrm>
            <a:off x="4710223" y="2264493"/>
            <a:ext cx="2467056" cy="1585763"/>
            <a:chOff x="4710223" y="2264493"/>
            <a:chExt cx="2467056" cy="1585763"/>
          </a:xfrm>
        </p:grpSpPr>
        <p:grpSp>
          <p:nvGrpSpPr>
            <p:cNvPr id="3" name="组合 2"/>
            <p:cNvGrpSpPr/>
            <p:nvPr/>
          </p:nvGrpSpPr>
          <p:grpSpPr>
            <a:xfrm>
              <a:off x="4710223" y="2264493"/>
              <a:ext cx="2467056" cy="1585763"/>
              <a:chOff x="4710223" y="2264493"/>
              <a:chExt cx="2467056" cy="1585763"/>
            </a:xfrm>
          </p:grpSpPr>
          <p:sp>
            <p:nvSpPr>
              <p:cNvPr id="87" name="任意多边形 86"/>
              <p:cNvSpPr/>
              <p:nvPr/>
            </p:nvSpPr>
            <p:spPr bwMode="auto">
              <a:xfrm>
                <a:off x="5924302" y="2265248"/>
                <a:ext cx="1229246" cy="158400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0" name="任意多边形 89"/>
              <p:cNvSpPr/>
              <p:nvPr/>
            </p:nvSpPr>
            <p:spPr bwMode="auto">
              <a:xfrm>
                <a:off x="5093400" y="2266256"/>
                <a:ext cx="825389" cy="1584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1" name="直接连接符 100"/>
              <p:cNvCxnSpPr/>
              <p:nvPr/>
            </p:nvCxnSpPr>
            <p:spPr bwMode="auto">
              <a:xfrm>
                <a:off x="4710223" y="3849610"/>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6" name="Group 12"/>
              <p:cNvGrpSpPr>
                <a:grpSpLocks/>
              </p:cNvGrpSpPr>
              <p:nvPr/>
            </p:nvGrpSpPr>
            <p:grpSpPr bwMode="auto">
              <a:xfrm>
                <a:off x="6364290" y="2264493"/>
                <a:ext cx="454614" cy="82278"/>
                <a:chOff x="2274" y="1204"/>
                <a:chExt cx="270" cy="44"/>
              </a:xfrm>
            </p:grpSpPr>
            <p:sp>
              <p:nvSpPr>
                <p:cNvPr id="28"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cxnSp>
          <p:nvCxnSpPr>
            <p:cNvPr id="123" name="直接连接符 122"/>
            <p:cNvCxnSpPr/>
            <p:nvPr/>
          </p:nvCxnSpPr>
          <p:spPr bwMode="auto">
            <a:xfrm>
              <a:off x="5918790" y="2266600"/>
              <a:ext cx="121159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 name="组合 8"/>
          <p:cNvGrpSpPr/>
          <p:nvPr/>
        </p:nvGrpSpPr>
        <p:grpSpPr>
          <a:xfrm>
            <a:off x="5919875" y="2260896"/>
            <a:ext cx="1238329" cy="1590116"/>
            <a:chOff x="5919875" y="2260896"/>
            <a:chExt cx="1238329" cy="1590116"/>
          </a:xfrm>
        </p:grpSpPr>
        <p:sp>
          <p:nvSpPr>
            <p:cNvPr id="127" name="Line 95"/>
            <p:cNvSpPr>
              <a:spLocks noChangeAspect="1" noChangeShapeType="1"/>
            </p:cNvSpPr>
            <p:nvPr/>
          </p:nvSpPr>
          <p:spPr bwMode="auto">
            <a:xfrm flipH="1">
              <a:off x="5953376" y="2263323"/>
              <a:ext cx="835939" cy="1587689"/>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 name="Line 96"/>
            <p:cNvSpPr>
              <a:spLocks noChangeAspect="1" noChangeShapeType="1"/>
            </p:cNvSpPr>
            <p:nvPr/>
          </p:nvSpPr>
          <p:spPr bwMode="auto">
            <a:xfrm flipH="1">
              <a:off x="6606953" y="2833252"/>
              <a:ext cx="529726" cy="100670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 name="Line 100"/>
            <p:cNvSpPr>
              <a:spLocks noChangeAspect="1" noChangeShapeType="1"/>
            </p:cNvSpPr>
            <p:nvPr/>
          </p:nvSpPr>
          <p:spPr bwMode="auto">
            <a:xfrm>
              <a:off x="5927091" y="3610785"/>
              <a:ext cx="123842" cy="23491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 name="Line 101"/>
            <p:cNvSpPr>
              <a:spLocks noChangeAspect="1" noChangeShapeType="1"/>
            </p:cNvSpPr>
            <p:nvPr/>
          </p:nvSpPr>
          <p:spPr bwMode="auto">
            <a:xfrm>
              <a:off x="6786432" y="2260896"/>
              <a:ext cx="371772" cy="706913"/>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 name="Line 102"/>
            <p:cNvSpPr>
              <a:spLocks noChangeAspect="1" noChangeShapeType="1"/>
            </p:cNvSpPr>
            <p:nvPr/>
          </p:nvSpPr>
          <p:spPr bwMode="auto">
            <a:xfrm>
              <a:off x="6285681" y="2269673"/>
              <a:ext cx="826319" cy="1570583"/>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5" name="Line 104"/>
            <p:cNvSpPr>
              <a:spLocks noChangeAspect="1" noChangeShapeType="1"/>
            </p:cNvSpPr>
            <p:nvPr/>
          </p:nvSpPr>
          <p:spPr bwMode="auto">
            <a:xfrm>
              <a:off x="5919875" y="2553066"/>
              <a:ext cx="676613" cy="1285372"/>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8"/>
            <p:cNvSpPr>
              <a:spLocks noChangeAspect="1" noChangeShapeType="1"/>
            </p:cNvSpPr>
            <p:nvPr/>
          </p:nvSpPr>
          <p:spPr bwMode="auto">
            <a:xfrm flipH="1">
              <a:off x="5935954" y="2265682"/>
              <a:ext cx="369812" cy="7021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组合 4"/>
          <p:cNvGrpSpPr/>
          <p:nvPr/>
        </p:nvGrpSpPr>
        <p:grpSpPr>
          <a:xfrm>
            <a:off x="5930029" y="3481590"/>
            <a:ext cx="1637816" cy="1097468"/>
            <a:chOff x="5930029" y="3481590"/>
            <a:chExt cx="1637816" cy="1097468"/>
          </a:xfrm>
        </p:grpSpPr>
        <p:sp>
          <p:nvSpPr>
            <p:cNvPr id="2" name="矩形 1"/>
            <p:cNvSpPr/>
            <p:nvPr/>
          </p:nvSpPr>
          <p:spPr>
            <a:xfrm>
              <a:off x="6221001" y="4196517"/>
              <a:ext cx="1346844" cy="382541"/>
            </a:xfrm>
            <a:prstGeom prst="rect">
              <a:avLst/>
            </a:prstGeom>
          </p:spPr>
          <p:txBody>
            <a:bodyPr wrap="none">
              <a:spAutoFit/>
            </a:bodyPr>
            <a:lstStyle/>
            <a:p>
              <a:r>
                <a:rPr lang="zh-CN" altLang="en-US" sz="1800" b="1" kern="0" dirty="0" smtClean="0">
                  <a:solidFill>
                    <a:srgbClr val="C00000"/>
                  </a:solidFill>
                  <a:latin typeface="幼圆" panose="02010509060101010101" pitchFamily="49" charset="-122"/>
                  <a:ea typeface="幼圆" panose="02010509060101010101" pitchFamily="49" charset="-122"/>
                </a:rPr>
                <a:t>光滑、垂直</a:t>
              </a:r>
              <a:endParaRPr lang="zh-CN" altLang="en-US" sz="1800" dirty="0">
                <a:solidFill>
                  <a:srgbClr val="C00000"/>
                </a:solidFill>
              </a:endParaRPr>
            </a:p>
          </p:txBody>
        </p:sp>
        <p:cxnSp>
          <p:nvCxnSpPr>
            <p:cNvPr id="4" name="直接箭头连接符 3"/>
            <p:cNvCxnSpPr/>
            <p:nvPr/>
          </p:nvCxnSpPr>
          <p:spPr bwMode="auto">
            <a:xfrm>
              <a:off x="5930029" y="3481590"/>
              <a:ext cx="751437" cy="688061"/>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 name="组合 6"/>
          <p:cNvGrpSpPr/>
          <p:nvPr/>
        </p:nvGrpSpPr>
        <p:grpSpPr>
          <a:xfrm>
            <a:off x="6113425" y="1619360"/>
            <a:ext cx="1355711" cy="635800"/>
            <a:chOff x="6113425" y="1619360"/>
            <a:chExt cx="1355711" cy="635800"/>
          </a:xfrm>
        </p:grpSpPr>
        <p:cxnSp>
          <p:nvCxnSpPr>
            <p:cNvPr id="22" name="直接箭头连接符 21"/>
            <p:cNvCxnSpPr/>
            <p:nvPr/>
          </p:nvCxnSpPr>
          <p:spPr bwMode="auto">
            <a:xfrm flipV="1">
              <a:off x="6113425" y="1976008"/>
              <a:ext cx="318378" cy="279152"/>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矩形 23"/>
            <p:cNvSpPr/>
            <p:nvPr/>
          </p:nvSpPr>
          <p:spPr>
            <a:xfrm>
              <a:off x="6354728" y="1619360"/>
              <a:ext cx="1114408" cy="410882"/>
            </a:xfrm>
            <a:prstGeom prst="rect">
              <a:avLst/>
            </a:prstGeom>
          </p:spPr>
          <p:txBody>
            <a:bodyPr wrap="none">
              <a:spAutoFit/>
            </a:bodyPr>
            <a:lstStyle/>
            <a:p>
              <a:r>
                <a:rPr lang="zh-CN" altLang="en-US" sz="1800" b="1" kern="0" dirty="0" smtClean="0">
                  <a:solidFill>
                    <a:srgbClr val="C00000"/>
                  </a:solidFill>
                  <a:latin typeface="幼圆" panose="02010509060101010101" pitchFamily="49" charset="-122"/>
                  <a:ea typeface="幼圆" panose="02010509060101010101" pitchFamily="49" charset="-122"/>
                </a:rPr>
                <a:t>表面</a:t>
              </a:r>
              <a:r>
                <a:rPr lang="zh-CN" altLang="en-US" sz="1800" b="1" kern="0" dirty="0">
                  <a:solidFill>
                    <a:srgbClr val="C00000"/>
                  </a:solidFill>
                  <a:latin typeface="幼圆" panose="02010509060101010101" pitchFamily="49" charset="-122"/>
                  <a:ea typeface="幼圆" panose="02010509060101010101" pitchFamily="49" charset="-122"/>
                </a:rPr>
                <a:t>水平</a:t>
              </a:r>
            </a:p>
          </p:txBody>
        </p:sp>
      </p:grpSp>
      <p:grpSp>
        <p:nvGrpSpPr>
          <p:cNvPr id="8" name="组合 7"/>
          <p:cNvGrpSpPr/>
          <p:nvPr/>
        </p:nvGrpSpPr>
        <p:grpSpPr>
          <a:xfrm>
            <a:off x="6299712" y="3090783"/>
            <a:ext cx="2497308" cy="536152"/>
            <a:chOff x="6299712" y="3090783"/>
            <a:chExt cx="2497308" cy="536152"/>
          </a:xfrm>
        </p:grpSpPr>
        <p:cxnSp>
          <p:nvCxnSpPr>
            <p:cNvPr id="25" name="直接箭头连接符 24"/>
            <p:cNvCxnSpPr/>
            <p:nvPr/>
          </p:nvCxnSpPr>
          <p:spPr bwMode="auto">
            <a:xfrm>
              <a:off x="6299712" y="3090783"/>
              <a:ext cx="1060764" cy="168465"/>
            </a:xfrm>
            <a:prstGeom prst="straightConnector1">
              <a:avLst/>
            </a:prstGeom>
            <a:noFill/>
            <a:ln w="19050" cap="flat" cmpd="sng" algn="ctr">
              <a:solidFill>
                <a:srgbClr val="C00000"/>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矩形 26"/>
            <p:cNvSpPr/>
            <p:nvPr/>
          </p:nvSpPr>
          <p:spPr>
            <a:xfrm>
              <a:off x="7217742" y="3244394"/>
              <a:ext cx="1579278" cy="382541"/>
            </a:xfrm>
            <a:prstGeom prst="rect">
              <a:avLst/>
            </a:prstGeom>
          </p:spPr>
          <p:txBody>
            <a:bodyPr wrap="none">
              <a:spAutoFit/>
            </a:bodyPr>
            <a:lstStyle/>
            <a:p>
              <a:r>
                <a:rPr lang="zh-CN" altLang="en-US" sz="1800" b="1" kern="0" dirty="0">
                  <a:solidFill>
                    <a:srgbClr val="C00000"/>
                  </a:solidFill>
                  <a:latin typeface="幼圆" panose="02010509060101010101" pitchFamily="49" charset="-122"/>
                  <a:ea typeface="幼圆" panose="02010509060101010101" pitchFamily="49" charset="-122"/>
                </a:rPr>
                <a:t>极限平衡状态</a:t>
              </a:r>
              <a:endParaRPr lang="zh-CN" altLang="en-US" sz="1800" dirty="0">
                <a:solidFill>
                  <a:srgbClr val="C00000"/>
                </a:solidFill>
              </a:endParaRPr>
            </a:p>
          </p:txBody>
        </p:sp>
      </p:grpSp>
    </p:spTree>
    <p:extLst>
      <p:ext uri="{BB962C8B-B14F-4D97-AF65-F5344CB8AC3E}">
        <p14:creationId xmlns:p14="http://schemas.microsoft.com/office/powerpoint/2010/main" val="68604821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wipe(left)">
                                      <p:cBhvr>
                                        <p:cTn id="7" dur="500"/>
                                        <p:tgtEl>
                                          <p:spTgt spid="74">
                                            <p:txEl>
                                              <p:pRg st="0" end="0"/>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22" presetClass="entr" presetSubtype="8" fill="hold" grpId="0" nodeType="withEffect">
                                  <p:stCondLst>
                                    <p:cond delay="0"/>
                                  </p:stCondLst>
                                  <p:childTnLst>
                                    <p:set>
                                      <p:cBhvr>
                                        <p:cTn id="12" dur="1" fill="hold">
                                          <p:stCondLst>
                                            <p:cond delay="0"/>
                                          </p:stCondLst>
                                        </p:cTn>
                                        <p:tgtEl>
                                          <p:spTgt spid="74">
                                            <p:txEl>
                                              <p:pRg st="1" end="1"/>
                                            </p:txEl>
                                          </p:spTgt>
                                        </p:tgtEl>
                                        <p:attrNameLst>
                                          <p:attrName>style.visibility</p:attrName>
                                        </p:attrNameLst>
                                      </p:cBhvr>
                                      <p:to>
                                        <p:strVal val="visible"/>
                                      </p:to>
                                    </p:set>
                                    <p:animEffect transition="in" filter="wipe(left)">
                                      <p:cBhvr>
                                        <p:cTn id="13" dur="500"/>
                                        <p:tgtEl>
                                          <p:spTgt spid="74">
                                            <p:txEl>
                                              <p:pRg st="1" end="1"/>
                                            </p:txEl>
                                          </p:spTgt>
                                        </p:tgtEl>
                                      </p:cBhvr>
                                    </p:animEffec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4">
                                            <p:txEl>
                                              <p:pRg st="2" end="2"/>
                                            </p:txEl>
                                          </p:spTgt>
                                        </p:tgtEl>
                                        <p:attrNameLst>
                                          <p:attrName>style.visibility</p:attrName>
                                        </p:attrNameLst>
                                      </p:cBhvr>
                                      <p:to>
                                        <p:strVal val="visible"/>
                                      </p:to>
                                    </p:set>
                                    <p:animEffect transition="in" filter="wipe(left)">
                                      <p:cBhvr>
                                        <p:cTn id="20" dur="500"/>
                                        <p:tgtEl>
                                          <p:spTgt spid="74">
                                            <p:txEl>
                                              <p:pRg st="2" end="2"/>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74">
                                            <p:txEl>
                                              <p:pRg st="3" end="3"/>
                                            </p:txEl>
                                          </p:spTgt>
                                        </p:tgtEl>
                                        <p:attrNameLst>
                                          <p:attrName>style.visibility</p:attrName>
                                        </p:attrNameLst>
                                      </p:cBhvr>
                                      <p:to>
                                        <p:strVal val="visible"/>
                                      </p:to>
                                    </p:set>
                                    <p:animEffect transition="in" filter="wipe(left)">
                                      <p:cBhvr>
                                        <p:cTn id="23" dur="500"/>
                                        <p:tgtEl>
                                          <p:spTgt spid="74">
                                            <p:txEl>
                                              <p:pRg st="3" end="3"/>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4">
                                            <p:txEl>
                                              <p:pRg st="4" end="4"/>
                                            </p:txEl>
                                          </p:spTgt>
                                        </p:tgtEl>
                                        <p:attrNameLst>
                                          <p:attrName>style.visibility</p:attrName>
                                        </p:attrNameLst>
                                      </p:cBhvr>
                                      <p:to>
                                        <p:strVal val="visible"/>
                                      </p:to>
                                    </p:set>
                                    <p:animEffect transition="in" filter="wipe(left)">
                                      <p:cBhvr>
                                        <p:cTn id="31" dur="500"/>
                                        <p:tgtEl>
                                          <p:spTgt spid="74">
                                            <p:txEl>
                                              <p:pRg st="4" end="4"/>
                                            </p:txEl>
                                          </p:spTgt>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74">
                                            <p:txEl>
                                              <p:pRg st="5" end="5"/>
                                            </p:txEl>
                                          </p:spTgt>
                                        </p:tgtEl>
                                        <p:attrNameLst>
                                          <p:attrName>style.visibility</p:attrName>
                                        </p:attrNameLst>
                                      </p:cBhvr>
                                      <p:to>
                                        <p:strVal val="visible"/>
                                      </p:to>
                                    </p:set>
                                    <p:animEffect transition="in" filter="wipe(left)">
                                      <p:cBhvr>
                                        <p:cTn id="35" dur="500"/>
                                        <p:tgtEl>
                                          <p:spTgt spid="74">
                                            <p:txEl>
                                              <p:pRg st="5" end="5"/>
                                            </p:txEl>
                                          </p:spTgt>
                                        </p:tgtEl>
                                      </p:cBhvr>
                                    </p:animEffect>
                                  </p:childTnLst>
                                </p:cTn>
                              </p:par>
                            </p:childTnLst>
                          </p:cTn>
                        </p:par>
                        <p:par>
                          <p:cTn id="36" fill="hold">
                            <p:stCondLst>
                              <p:cond delay="1000"/>
                            </p:stCondLst>
                            <p:childTnLst>
                              <p:par>
                                <p:cTn id="37" presetID="22" presetClass="entr" presetSubtype="4"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par>
                          <p:cTn id="40" fill="hold">
                            <p:stCondLst>
                              <p:cond delay="1500"/>
                            </p:stCondLst>
                            <p:childTnLst>
                              <p:par>
                                <p:cTn id="41" presetID="16" presetClass="entr" presetSubtype="21"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arn(inVertical)">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34</a:t>
            </a:fld>
            <a:endParaRPr lang="zh-CN" altLang="en-US" dirty="0">
              <a:solidFill>
                <a:srgbClr val="C00000"/>
              </a:solidFill>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郎肯主动土压力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11" name="Text Box 57"/>
          <p:cNvSpPr txBox="1">
            <a:spLocks noChangeArrowheads="1"/>
          </p:cNvSpPr>
          <p:nvPr/>
        </p:nvSpPr>
        <p:spPr bwMode="auto">
          <a:xfrm>
            <a:off x="804320" y="1565184"/>
            <a:ext cx="219258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土单元应力状态：</a:t>
            </a:r>
            <a:endParaRPr lang="en-US" altLang="zh-CN" sz="2000" b="1" i="1" baseline="-25000" dirty="0">
              <a:solidFill>
                <a:srgbClr val="000066"/>
              </a:solidFill>
              <a:sym typeface="Symbol" pitchFamily="18" charset="2"/>
            </a:endParaRPr>
          </a:p>
        </p:txBody>
      </p:sp>
      <p:sp>
        <p:nvSpPr>
          <p:cNvPr id="113" name="Text Box 38"/>
          <p:cNvSpPr txBox="1">
            <a:spLocks noChangeArrowheads="1"/>
          </p:cNvSpPr>
          <p:nvPr/>
        </p:nvSpPr>
        <p:spPr bwMode="auto">
          <a:xfrm>
            <a:off x="1390107" y="3914986"/>
            <a:ext cx="34863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a:solidFill>
                  <a:srgbClr val="000066"/>
                </a:solidFill>
              </a:rPr>
              <a:t>p</a:t>
            </a:r>
            <a:r>
              <a:rPr lang="en-US" altLang="zh-CN" sz="2000" b="1" baseline="-25000" dirty="0">
                <a:solidFill>
                  <a:srgbClr val="000066"/>
                </a:solidFill>
              </a:rPr>
              <a:t>a</a:t>
            </a:r>
            <a:r>
              <a:rPr lang="en-US" altLang="zh-CN" sz="2000" b="1" i="1" dirty="0">
                <a:solidFill>
                  <a:srgbClr val="000066"/>
                </a:solidFill>
              </a:rPr>
              <a:t>= </a:t>
            </a:r>
            <a:r>
              <a:rPr lang="en-US" altLang="zh-CN" sz="2000" b="1" i="1" dirty="0">
                <a:solidFill>
                  <a:srgbClr val="000066"/>
                </a:solidFill>
                <a:latin typeface="Symbol" pitchFamily="18" charset="2"/>
              </a:rPr>
              <a:t>g </a:t>
            </a:r>
            <a:r>
              <a:rPr lang="en-US" altLang="zh-CN" sz="2000" b="1" dirty="0">
                <a:solidFill>
                  <a:srgbClr val="000066"/>
                </a:solidFill>
              </a:rPr>
              <a:t>z </a:t>
            </a:r>
            <a:r>
              <a:rPr lang="en-US" altLang="zh-CN" sz="2000" b="1" dirty="0" smtClean="0">
                <a:solidFill>
                  <a:srgbClr val="000066"/>
                </a:solidFill>
                <a:sym typeface="Symbol"/>
              </a:rPr>
              <a:t></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r>
              <a:rPr lang="en-US" altLang="zh-CN" sz="2000" b="1" i="1" dirty="0" smtClean="0">
                <a:solidFill>
                  <a:srgbClr val="000066"/>
                </a:solidFill>
              </a:rPr>
              <a:t> =</a:t>
            </a:r>
            <a:r>
              <a:rPr lang="en-US" altLang="zh-CN" sz="2000" b="1" i="1" dirty="0">
                <a:solidFill>
                  <a:srgbClr val="000066"/>
                </a:solidFill>
                <a:latin typeface="Symbol" pitchFamily="18" charset="2"/>
              </a:rPr>
              <a:t> g </a:t>
            </a:r>
            <a:r>
              <a:rPr lang="en-US" altLang="zh-CN" sz="2000" b="1" dirty="0" err="1" smtClean="0">
                <a:solidFill>
                  <a:srgbClr val="000066"/>
                </a:solidFill>
              </a:rPr>
              <a:t>z</a:t>
            </a:r>
            <a:r>
              <a:rPr lang="en-US" altLang="zh-CN" sz="2000" b="1" i="1" dirty="0" err="1" smtClean="0">
                <a:solidFill>
                  <a:srgbClr val="000066"/>
                </a:solidFill>
              </a:rPr>
              <a:t>K</a:t>
            </a:r>
            <a:r>
              <a:rPr lang="en-US" altLang="zh-CN" sz="2000" b="1" i="1" baseline="-25000" dirty="0" err="1" smtClean="0">
                <a:solidFill>
                  <a:srgbClr val="000066"/>
                </a:solidFill>
              </a:rPr>
              <a:t>a</a:t>
            </a:r>
            <a:r>
              <a:rPr lang="en-US" altLang="zh-CN" sz="2000" b="1" i="1" baseline="-25000" dirty="0" smtClean="0">
                <a:solidFill>
                  <a:srgbClr val="000066"/>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115" name="Text Box 38"/>
          <p:cNvSpPr txBox="1">
            <a:spLocks noChangeArrowheads="1"/>
          </p:cNvSpPr>
          <p:nvPr/>
        </p:nvSpPr>
        <p:spPr bwMode="auto">
          <a:xfrm>
            <a:off x="1230313" y="4665894"/>
            <a:ext cx="5190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en-US" altLang="zh-CN" sz="2000" b="1" i="1" dirty="0" err="1" smtClean="0">
                <a:solidFill>
                  <a:srgbClr val="000066"/>
                </a:solidFill>
              </a:rPr>
              <a:t>K</a:t>
            </a:r>
            <a:r>
              <a:rPr lang="en-US" altLang="zh-CN" sz="2000" b="1" baseline="-25000" dirty="0" err="1" smtClean="0">
                <a:solidFill>
                  <a:srgbClr val="000066"/>
                </a:solidFill>
              </a:rPr>
              <a:t>a</a:t>
            </a:r>
            <a:r>
              <a:rPr lang="en-US" altLang="zh-CN" sz="2000" b="1" i="1" dirty="0" smtClean="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r>
              <a:rPr lang="zh-CN" altLang="en-US" sz="2000" b="1" dirty="0">
                <a:solidFill>
                  <a:srgbClr val="000066"/>
                </a:solidFill>
                <a:latin typeface="幼圆" panose="02010509060101010101" pitchFamily="49" charset="-122"/>
                <a:ea typeface="幼圆" panose="02010509060101010101" pitchFamily="49" charset="-122"/>
              </a:rPr>
              <a:t>称</a:t>
            </a:r>
            <a:r>
              <a:rPr lang="zh-CN" altLang="en-US" sz="2000" b="1" dirty="0">
                <a:solidFill>
                  <a:srgbClr val="C00000"/>
                </a:solidFill>
                <a:latin typeface="黑体" panose="02010609060101010101" pitchFamily="49" charset="-122"/>
                <a:ea typeface="黑体" panose="02010609060101010101" pitchFamily="49" charset="-122"/>
              </a:rPr>
              <a:t>朗肯主动土压力</a:t>
            </a:r>
            <a:r>
              <a:rPr lang="zh-CN" altLang="en-US" sz="2000" b="1" dirty="0" smtClean="0">
                <a:solidFill>
                  <a:srgbClr val="C00000"/>
                </a:solidFill>
                <a:latin typeface="黑体" panose="02010609060101010101" pitchFamily="49" charset="-122"/>
                <a:ea typeface="黑体" panose="02010609060101010101" pitchFamily="49" charset="-122"/>
              </a:rPr>
              <a:t>系数</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61" name="Text Box 57"/>
          <p:cNvSpPr txBox="1">
            <a:spLocks noChangeArrowheads="1"/>
          </p:cNvSpPr>
          <p:nvPr/>
        </p:nvSpPr>
        <p:spPr bwMode="auto">
          <a:xfrm>
            <a:off x="3114327" y="1506570"/>
            <a:ext cx="1853760" cy="85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1</a:t>
            </a:r>
            <a:r>
              <a:rPr lang="en-US" altLang="zh-CN" sz="2000" b="1" dirty="0">
                <a:solidFill>
                  <a:srgbClr val="000066"/>
                </a:solidFill>
                <a:sym typeface="Symbol" pitchFamily="18" charset="2"/>
              </a:rPr>
              <a:t>= </a:t>
            </a: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v</a:t>
            </a:r>
            <a:r>
              <a:rPr lang="en-US" altLang="zh-CN" sz="2000" b="1" dirty="0" smtClean="0">
                <a:solidFill>
                  <a:srgbClr val="000066"/>
                </a:solidFill>
                <a:sym typeface="Symbol" pitchFamily="18" charset="2"/>
              </a:rPr>
              <a:t>=  z</a:t>
            </a:r>
            <a:r>
              <a:rPr lang="en-US" altLang="zh-CN" sz="2000" b="1" i="1" dirty="0" smtClean="0">
                <a:solidFill>
                  <a:srgbClr val="000066"/>
                </a:solidFill>
                <a:sym typeface="Symbol" pitchFamily="18" charset="2"/>
              </a:rPr>
              <a:t> </a:t>
            </a:r>
            <a:r>
              <a:rPr lang="en-US" altLang="zh-CN" sz="2000" b="1" dirty="0" smtClean="0">
                <a:solidFill>
                  <a:srgbClr val="000066"/>
                </a:solidFill>
                <a:sym typeface="Symbol" pitchFamily="18" charset="2"/>
              </a:rPr>
              <a:t> </a:t>
            </a:r>
          </a:p>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3</a:t>
            </a:r>
            <a:r>
              <a:rPr lang="en-US" altLang="zh-CN" sz="2000" b="1" dirty="0">
                <a:solidFill>
                  <a:srgbClr val="000066"/>
                </a:solidFill>
                <a:sym typeface="Symbol" pitchFamily="18" charset="2"/>
              </a:rPr>
              <a:t>= </a:t>
            </a: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h</a:t>
            </a:r>
            <a:r>
              <a:rPr lang="en-US" altLang="zh-CN" sz="2000" b="1" dirty="0" smtClean="0">
                <a:solidFill>
                  <a:srgbClr val="000066"/>
                </a:solidFill>
                <a:sym typeface="Symbol" pitchFamily="18" charset="2"/>
              </a:rPr>
              <a:t>= </a:t>
            </a:r>
            <a:r>
              <a:rPr lang="en-US" altLang="zh-CN" sz="2000" b="1" i="1" dirty="0" smtClean="0">
                <a:solidFill>
                  <a:srgbClr val="000066"/>
                </a:solidFill>
                <a:sym typeface="Symbol" pitchFamily="18" charset="2"/>
              </a:rPr>
              <a:t>p</a:t>
            </a:r>
            <a:r>
              <a:rPr lang="en-US" altLang="zh-CN" sz="2000" b="1" baseline="-25000" dirty="0" smtClean="0">
                <a:solidFill>
                  <a:srgbClr val="000066"/>
                </a:solidFill>
                <a:sym typeface="Symbol" pitchFamily="18" charset="2"/>
              </a:rPr>
              <a:t>a</a:t>
            </a:r>
            <a:endParaRPr lang="en-US" altLang="zh-CN" sz="2000" b="1" baseline="-25000" dirty="0">
              <a:solidFill>
                <a:srgbClr val="000066"/>
              </a:solidFill>
              <a:sym typeface="Symbol" pitchFamily="18" charset="2"/>
            </a:endParaRPr>
          </a:p>
        </p:txBody>
      </p:sp>
      <p:sp>
        <p:nvSpPr>
          <p:cNvPr id="162" name="Text Box 57"/>
          <p:cNvSpPr txBox="1">
            <a:spLocks noChangeArrowheads="1"/>
          </p:cNvSpPr>
          <p:nvPr/>
        </p:nvSpPr>
        <p:spPr bwMode="auto">
          <a:xfrm>
            <a:off x="804320" y="2441094"/>
            <a:ext cx="328612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无黏性</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土极限</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平衡条件</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3" name="Text Box 57"/>
          <p:cNvSpPr txBox="1">
            <a:spLocks noChangeArrowheads="1"/>
          </p:cNvSpPr>
          <p:nvPr/>
        </p:nvSpPr>
        <p:spPr bwMode="auto">
          <a:xfrm>
            <a:off x="804320" y="3408574"/>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主动土压力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4" name="Text Box 38"/>
          <p:cNvSpPr txBox="1">
            <a:spLocks noChangeArrowheads="1"/>
          </p:cNvSpPr>
          <p:nvPr/>
        </p:nvSpPr>
        <p:spPr bwMode="auto">
          <a:xfrm>
            <a:off x="1381054" y="2941837"/>
            <a:ext cx="23501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sym typeface="Symbol"/>
              </a:rPr>
              <a:t></a:t>
            </a:r>
            <a:r>
              <a:rPr lang="en-US" altLang="zh-CN" sz="2000" b="1" baseline="-25000" dirty="0" smtClean="0">
                <a:solidFill>
                  <a:srgbClr val="000066"/>
                </a:solidFill>
              </a:rPr>
              <a:t>3</a:t>
            </a:r>
            <a:r>
              <a:rPr lang="en-US" altLang="zh-CN" sz="2000" b="1" i="1" dirty="0" smtClean="0">
                <a:solidFill>
                  <a:srgbClr val="000066"/>
                </a:solidFill>
              </a:rPr>
              <a:t>= </a:t>
            </a:r>
            <a:r>
              <a:rPr lang="en-US" altLang="zh-CN" sz="2000" b="1" i="1" dirty="0" smtClean="0">
                <a:solidFill>
                  <a:srgbClr val="000066"/>
                </a:solidFill>
                <a:sym typeface="Symbol"/>
              </a:rPr>
              <a:t></a:t>
            </a:r>
            <a:r>
              <a:rPr lang="en-US" altLang="zh-CN" sz="2000" b="1" baseline="-25000" dirty="0" smtClean="0">
                <a:solidFill>
                  <a:srgbClr val="000066"/>
                </a:solidFill>
              </a:rPr>
              <a:t>1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smtClean="0">
                <a:solidFill>
                  <a:srgbClr val="000066"/>
                </a:solidFill>
                <a:latin typeface="Symbol" pitchFamily="18" charset="2"/>
                <a:sym typeface="Symbol" pitchFamily="18" charset="2"/>
              </a:rPr>
              <a:t>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endParaRPr lang="zh-CN" altLang="en-US" sz="2000" b="1" dirty="0">
              <a:solidFill>
                <a:srgbClr val="000066"/>
              </a:solidFill>
              <a:ea typeface="幼圆" pitchFamily="49" charset="-122"/>
              <a:cs typeface="Times New Roman" panose="02020603050405020304" pitchFamily="18" charset="0"/>
            </a:endParaRPr>
          </a:p>
        </p:txBody>
      </p:sp>
      <p:sp>
        <p:nvSpPr>
          <p:cNvPr id="165" name="任意多边形 164"/>
          <p:cNvSpPr/>
          <p:nvPr/>
        </p:nvSpPr>
        <p:spPr bwMode="auto">
          <a:xfrm>
            <a:off x="6610433" y="1917126"/>
            <a:ext cx="1691934" cy="226906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6" name="任意多边形 165"/>
          <p:cNvSpPr/>
          <p:nvPr/>
        </p:nvSpPr>
        <p:spPr bwMode="auto">
          <a:xfrm>
            <a:off x="5654618" y="1911196"/>
            <a:ext cx="947319" cy="226906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67" name="直接连接符 166"/>
          <p:cNvCxnSpPr/>
          <p:nvPr/>
        </p:nvCxnSpPr>
        <p:spPr bwMode="auto">
          <a:xfrm>
            <a:off x="5269448" y="4186492"/>
            <a:ext cx="308723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Text Box 14"/>
          <p:cNvSpPr txBox="1">
            <a:spLocks noChangeArrowheads="1"/>
          </p:cNvSpPr>
          <p:nvPr/>
        </p:nvSpPr>
        <p:spPr bwMode="auto">
          <a:xfrm>
            <a:off x="7007235" y="2521949"/>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69" name="Rectangle 9"/>
          <p:cNvSpPr>
            <a:spLocks noChangeArrowheads="1"/>
          </p:cNvSpPr>
          <p:nvPr/>
        </p:nvSpPr>
        <p:spPr bwMode="auto">
          <a:xfrm>
            <a:off x="6593839" y="2776244"/>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170" name="Line 10"/>
          <p:cNvSpPr>
            <a:spLocks noChangeShapeType="1"/>
          </p:cNvSpPr>
          <p:nvPr/>
        </p:nvSpPr>
        <p:spPr bwMode="auto">
          <a:xfrm>
            <a:off x="6241916" y="2896562"/>
            <a:ext cx="35192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1" name="Line 12"/>
          <p:cNvSpPr>
            <a:spLocks noChangeShapeType="1"/>
          </p:cNvSpPr>
          <p:nvPr/>
        </p:nvSpPr>
        <p:spPr bwMode="auto">
          <a:xfrm rot="16200000">
            <a:off x="6545242" y="3233499"/>
            <a:ext cx="38422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 name="Text Box 14"/>
          <p:cNvSpPr txBox="1">
            <a:spLocks noChangeArrowheads="1"/>
          </p:cNvSpPr>
          <p:nvPr/>
        </p:nvSpPr>
        <p:spPr bwMode="auto">
          <a:xfrm>
            <a:off x="6768204" y="2146032"/>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73" name="Line 13"/>
          <p:cNvSpPr>
            <a:spLocks noChangeShapeType="1"/>
          </p:cNvSpPr>
          <p:nvPr/>
        </p:nvSpPr>
        <p:spPr bwMode="auto">
          <a:xfrm rot="5400000">
            <a:off x="6545242" y="2571036"/>
            <a:ext cx="38422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 name="Line 10"/>
          <p:cNvSpPr>
            <a:spLocks noChangeShapeType="1"/>
          </p:cNvSpPr>
          <p:nvPr/>
        </p:nvSpPr>
        <p:spPr bwMode="auto">
          <a:xfrm rot="10800000">
            <a:off x="6863235" y="2912153"/>
            <a:ext cx="35192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176" name="直接连接符 175"/>
          <p:cNvCxnSpPr/>
          <p:nvPr/>
        </p:nvCxnSpPr>
        <p:spPr bwMode="auto">
          <a:xfrm>
            <a:off x="6545318" y="1914927"/>
            <a:ext cx="1733135" cy="52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Line 18"/>
          <p:cNvSpPr>
            <a:spLocks noChangeShapeType="1"/>
          </p:cNvSpPr>
          <p:nvPr/>
        </p:nvSpPr>
        <p:spPr bwMode="auto">
          <a:xfrm flipH="1">
            <a:off x="7479871" y="2921079"/>
            <a:ext cx="6199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 name="Line 19"/>
          <p:cNvSpPr>
            <a:spLocks noChangeShapeType="1"/>
          </p:cNvSpPr>
          <p:nvPr/>
        </p:nvSpPr>
        <p:spPr bwMode="auto">
          <a:xfrm>
            <a:off x="7789848" y="1923158"/>
            <a:ext cx="0" cy="99135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9" name="Text Box 20"/>
          <p:cNvSpPr txBox="1">
            <a:spLocks noChangeArrowheads="1"/>
          </p:cNvSpPr>
          <p:nvPr/>
        </p:nvSpPr>
        <p:spPr bwMode="auto">
          <a:xfrm>
            <a:off x="7852991" y="2152623"/>
            <a:ext cx="309978" cy="4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sp>
        <p:nvSpPr>
          <p:cNvPr id="29"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a:t>
            </a:r>
            <a:r>
              <a:rPr kumimoji="1" lang="zh-CN" altLang="en-US" sz="4000" b="1" dirty="0" smtClean="0">
                <a:solidFill>
                  <a:srgbClr val="000066"/>
                </a:solidFill>
                <a:latin typeface="黑体" pitchFamily="2" charset="-122"/>
                <a:ea typeface="黑体" pitchFamily="2" charset="-122"/>
              </a:rPr>
              <a:t>肯主动土压力计算</a:t>
            </a:r>
            <a:endParaRPr kumimoji="1" lang="zh-CN" altLang="en-US" sz="4000" b="1" dirty="0">
              <a:solidFill>
                <a:srgbClr val="000066"/>
              </a:solidFill>
              <a:latin typeface="黑体" pitchFamily="2" charset="-122"/>
              <a:ea typeface="黑体" pitchFamily="2" charset="-122"/>
            </a:endParaRPr>
          </a:p>
        </p:txBody>
      </p:sp>
      <p:sp>
        <p:nvSpPr>
          <p:cNvPr id="30" name="AutoShape 118"/>
          <p:cNvSpPr>
            <a:spLocks noChangeArrowheads="1"/>
          </p:cNvSpPr>
          <p:nvPr/>
        </p:nvSpPr>
        <p:spPr bwMode="auto">
          <a:xfrm>
            <a:off x="5605938" y="2312398"/>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31" name="Text Box 46"/>
          <p:cNvSpPr txBox="1">
            <a:spLocks noChangeArrowheads="1"/>
          </p:cNvSpPr>
          <p:nvPr/>
        </p:nvSpPr>
        <p:spPr bwMode="auto">
          <a:xfrm>
            <a:off x="363383" y="764183"/>
            <a:ext cx="54661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无</a:t>
            </a:r>
            <a:r>
              <a:rPr lang="zh-CN" altLang="en-US" sz="2800" b="1" dirty="0">
                <a:solidFill>
                  <a:srgbClr val="A50021"/>
                </a:solidFill>
                <a:latin typeface="微软雅黑" panose="020B0503020204020204" pitchFamily="34" charset="-122"/>
                <a:ea typeface="微软雅黑" panose="020B0503020204020204" pitchFamily="34" charset="-122"/>
              </a:rPr>
              <a:t>黏性土郎</a:t>
            </a:r>
            <a:r>
              <a:rPr lang="zh-CN" altLang="en-US" sz="2800" b="1" dirty="0" smtClean="0">
                <a:solidFill>
                  <a:srgbClr val="A50021"/>
                </a:solidFill>
                <a:latin typeface="微软雅黑" panose="020B0503020204020204" pitchFamily="34" charset="-122"/>
                <a:ea typeface="微软雅黑" panose="020B0503020204020204" pitchFamily="34" charset="-122"/>
              </a:rPr>
              <a:t>肯主动土压力计算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780010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repeatCount="300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62"/>
                                        </p:tgtEl>
                                        <p:attrNameLst>
                                          <p:attrName>style.visibility</p:attrName>
                                        </p:attrNameLst>
                                      </p:cBhvr>
                                      <p:to>
                                        <p:strVal val="visible"/>
                                      </p:to>
                                    </p:set>
                                    <p:animEffect transition="in" filter="wipe(left)">
                                      <p:cBhvr>
                                        <p:cTn id="11" dur="500"/>
                                        <p:tgtEl>
                                          <p:spTgt spid="162"/>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64"/>
                                        </p:tgtEl>
                                        <p:attrNameLst>
                                          <p:attrName>style.visibility</p:attrName>
                                        </p:attrNameLst>
                                      </p:cBhvr>
                                      <p:to>
                                        <p:strVal val="visible"/>
                                      </p:to>
                                    </p:set>
                                    <p:animEffect transition="in" filter="wipe(left)">
                                      <p:cBhvr>
                                        <p:cTn id="15" dur="500"/>
                                        <p:tgtEl>
                                          <p:spTgt spid="164"/>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63"/>
                                        </p:tgtEl>
                                        <p:attrNameLst>
                                          <p:attrName>style.visibility</p:attrName>
                                        </p:attrNameLst>
                                      </p:cBhvr>
                                      <p:to>
                                        <p:strVal val="visible"/>
                                      </p:to>
                                    </p:set>
                                    <p:animEffect transition="in" filter="wipe(left)">
                                      <p:cBhvr>
                                        <p:cTn id="19" dur="500"/>
                                        <p:tgtEl>
                                          <p:spTgt spid="163"/>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113"/>
                                        </p:tgtEl>
                                        <p:attrNameLst>
                                          <p:attrName>style.visibility</p:attrName>
                                        </p:attrNameLst>
                                      </p:cBhvr>
                                      <p:to>
                                        <p:strVal val="visible"/>
                                      </p:to>
                                    </p:set>
                                    <p:animEffect transition="in" filter="wipe(left)">
                                      <p:cBhvr>
                                        <p:cTn id="23" dur="500"/>
                                        <p:tgtEl>
                                          <p:spTgt spid="113"/>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115"/>
                                        </p:tgtEl>
                                        <p:attrNameLst>
                                          <p:attrName>style.visibility</p:attrName>
                                        </p:attrNameLst>
                                      </p:cBhvr>
                                      <p:to>
                                        <p:strVal val="visible"/>
                                      </p:to>
                                    </p:set>
                                    <p:anim calcmode="lin" valueType="num">
                                      <p:cBhvr>
                                        <p:cTn id="28" dur="1000" fill="hold"/>
                                        <p:tgtEl>
                                          <p:spTgt spid="115"/>
                                        </p:tgtEl>
                                        <p:attrNameLst>
                                          <p:attrName>ppt_w</p:attrName>
                                        </p:attrNameLst>
                                      </p:cBhvr>
                                      <p:tavLst>
                                        <p:tav tm="0">
                                          <p:val>
                                            <p:fltVal val="0"/>
                                          </p:val>
                                        </p:tav>
                                        <p:tav tm="100000">
                                          <p:val>
                                            <p:strVal val="#ppt_w"/>
                                          </p:val>
                                        </p:tav>
                                      </p:tavLst>
                                    </p:anim>
                                    <p:anim calcmode="lin" valueType="num">
                                      <p:cBhvr>
                                        <p:cTn id="29" dur="1000" fill="hold"/>
                                        <p:tgtEl>
                                          <p:spTgt spid="115"/>
                                        </p:tgtEl>
                                        <p:attrNameLst>
                                          <p:attrName>ppt_h</p:attrName>
                                        </p:attrNameLst>
                                      </p:cBhvr>
                                      <p:tavLst>
                                        <p:tav tm="0">
                                          <p:val>
                                            <p:fltVal val="0"/>
                                          </p:val>
                                        </p:tav>
                                        <p:tav tm="100000">
                                          <p:val>
                                            <p:strVal val="#ppt_h"/>
                                          </p:val>
                                        </p:tav>
                                      </p:tavLst>
                                    </p:anim>
                                    <p:anim calcmode="lin" valueType="num">
                                      <p:cBhvr>
                                        <p:cTn id="30" dur="1000" fill="hold"/>
                                        <p:tgtEl>
                                          <p:spTgt spid="115"/>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11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5" grpId="0"/>
      <p:bldP spid="162" grpId="0"/>
      <p:bldP spid="163" grpId="0"/>
      <p:bldP spid="164" grpId="0"/>
      <p:bldP spid="3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25508" y="907678"/>
            <a:ext cx="1419841" cy="2300698"/>
            <a:chOff x="6025508" y="907678"/>
            <a:chExt cx="1419841" cy="2300698"/>
          </a:xfrm>
        </p:grpSpPr>
        <p:sp>
          <p:nvSpPr>
            <p:cNvPr id="14" name="任意多边形 13"/>
            <p:cNvSpPr/>
            <p:nvPr/>
          </p:nvSpPr>
          <p:spPr bwMode="auto">
            <a:xfrm>
              <a:off x="6564858" y="935041"/>
              <a:ext cx="855260" cy="180150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3" name="Line 89"/>
            <p:cNvSpPr>
              <a:spLocks noChangeAspect="1" noChangeShapeType="1"/>
            </p:cNvSpPr>
            <p:nvPr/>
          </p:nvSpPr>
          <p:spPr bwMode="auto">
            <a:xfrm rot="5400000">
              <a:off x="5264460" y="1821989"/>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66" name="直接箭头连接符 65"/>
            <p:cNvCxnSpPr/>
            <p:nvPr/>
          </p:nvCxnSpPr>
          <p:spPr bwMode="auto">
            <a:xfrm flipH="1">
              <a:off x="6552803" y="2726149"/>
              <a:ext cx="86544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flipH="1">
              <a:off x="6552803" y="2503291"/>
              <a:ext cx="76362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flipH="1">
              <a:off x="6552803" y="2288629"/>
              <a:ext cx="656597"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箭头连接符 68"/>
            <p:cNvCxnSpPr/>
            <p:nvPr/>
          </p:nvCxnSpPr>
          <p:spPr bwMode="auto">
            <a:xfrm flipH="1">
              <a:off x="6552803" y="2073968"/>
              <a:ext cx="561145"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箭头连接符 69"/>
            <p:cNvCxnSpPr/>
            <p:nvPr/>
          </p:nvCxnSpPr>
          <p:spPr bwMode="auto">
            <a:xfrm flipH="1">
              <a:off x="6552803" y="1852563"/>
              <a:ext cx="45412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p:nvPr/>
          </p:nvCxnSpPr>
          <p:spPr bwMode="auto">
            <a:xfrm flipH="1">
              <a:off x="6552804" y="1637901"/>
              <a:ext cx="352883"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H="1">
              <a:off x="6552803" y="1416496"/>
              <a:ext cx="254538"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箭头连接符 72"/>
            <p:cNvCxnSpPr/>
            <p:nvPr/>
          </p:nvCxnSpPr>
          <p:spPr bwMode="auto">
            <a:xfrm flipH="1">
              <a:off x="6552804" y="1201834"/>
              <a:ext cx="150407"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p:nvPr/>
          </p:nvCxnSpPr>
          <p:spPr bwMode="auto">
            <a:xfrm>
              <a:off x="6562958" y="917234"/>
              <a:ext cx="857048" cy="181805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Line 89"/>
            <p:cNvSpPr>
              <a:spLocks noChangeAspect="1" noChangeShapeType="1"/>
            </p:cNvSpPr>
            <p:nvPr/>
          </p:nvSpPr>
          <p:spPr bwMode="auto">
            <a:xfrm flipH="1">
              <a:off x="6535525" y="2875795"/>
              <a:ext cx="8738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78" name="直接连接符 77"/>
            <p:cNvCxnSpPr/>
            <p:nvPr/>
          </p:nvCxnSpPr>
          <p:spPr bwMode="auto">
            <a:xfrm flipH="1">
              <a:off x="7404539" y="2786481"/>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78"/>
            <p:cNvCxnSpPr/>
            <p:nvPr/>
          </p:nvCxnSpPr>
          <p:spPr bwMode="auto">
            <a:xfrm flipH="1">
              <a:off x="6543655" y="2776457"/>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57"/>
            <p:cNvSpPr txBox="1">
              <a:spLocks noChangeArrowheads="1"/>
            </p:cNvSpPr>
            <p:nvPr/>
          </p:nvSpPr>
          <p:spPr bwMode="auto">
            <a:xfrm>
              <a:off x="6627842" y="2823847"/>
              <a:ext cx="817507"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a:solidFill>
                    <a:srgbClr val="000066"/>
                  </a:solidFill>
                  <a:sym typeface="Symbol" pitchFamily="18" charset="2"/>
                </a:rPr>
                <a:t> H </a:t>
              </a:r>
              <a:r>
                <a:rPr lang="en-US" altLang="zh-CN" sz="1800" b="1" i="1" dirty="0" err="1">
                  <a:solidFill>
                    <a:srgbClr val="000066"/>
                  </a:solidFill>
                  <a:sym typeface="Symbol" pitchFamily="18" charset="2"/>
                </a:rPr>
                <a:t>K</a:t>
              </a:r>
              <a:r>
                <a:rPr lang="en-US" altLang="zh-CN" sz="1800" b="1" baseline="-25000" dirty="0" err="1">
                  <a:solidFill>
                    <a:srgbClr val="000066"/>
                  </a:solidFill>
                  <a:sym typeface="Symbol" pitchFamily="18" charset="2"/>
                </a:rPr>
                <a:t>a</a:t>
              </a:r>
              <a:endParaRPr lang="en-US" altLang="zh-CN" sz="1800" b="1" baseline="-25000" dirty="0">
                <a:solidFill>
                  <a:srgbClr val="000066"/>
                </a:solidFill>
                <a:sym typeface="Symbol" pitchFamily="18" charset="2"/>
              </a:endParaRPr>
            </a:p>
          </p:txBody>
        </p:sp>
        <p:cxnSp>
          <p:nvCxnSpPr>
            <p:cNvPr id="94" name="直接连接符 93"/>
            <p:cNvCxnSpPr/>
            <p:nvPr/>
          </p:nvCxnSpPr>
          <p:spPr bwMode="auto">
            <a:xfrm flipH="1">
              <a:off x="6025508" y="911961"/>
              <a:ext cx="35883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57"/>
            <p:cNvSpPr txBox="1">
              <a:spLocks noChangeArrowheads="1"/>
            </p:cNvSpPr>
            <p:nvPr/>
          </p:nvSpPr>
          <p:spPr bwMode="auto">
            <a:xfrm>
              <a:off x="6115628" y="1716673"/>
              <a:ext cx="3311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cxnSp>
          <p:nvCxnSpPr>
            <p:cNvPr id="17" name="直接连接符 16"/>
            <p:cNvCxnSpPr/>
            <p:nvPr/>
          </p:nvCxnSpPr>
          <p:spPr bwMode="auto">
            <a:xfrm flipV="1">
              <a:off x="6564858" y="928217"/>
              <a:ext cx="0" cy="18054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5" name="直接连接符 94"/>
          <p:cNvCxnSpPr/>
          <p:nvPr/>
        </p:nvCxnSpPr>
        <p:spPr bwMode="auto">
          <a:xfrm>
            <a:off x="6009699" y="2733627"/>
            <a:ext cx="177795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35</a:t>
            </a:fld>
            <a:endParaRPr lang="zh-CN" altLang="en-US" dirty="0">
              <a:solidFill>
                <a:srgbClr val="C00000"/>
              </a:solidFill>
            </a:endParaRPr>
          </a:p>
        </p:txBody>
      </p:sp>
      <p:grpSp>
        <p:nvGrpSpPr>
          <p:cNvPr id="5" name="组合 4"/>
          <p:cNvGrpSpPr/>
          <p:nvPr/>
        </p:nvGrpSpPr>
        <p:grpSpPr>
          <a:xfrm>
            <a:off x="5487950" y="3492922"/>
            <a:ext cx="2467056" cy="1863882"/>
            <a:chOff x="5487950" y="3492922"/>
            <a:chExt cx="2467056" cy="1863882"/>
          </a:xfrm>
        </p:grpSpPr>
        <p:sp>
          <p:nvSpPr>
            <p:cNvPr id="87" name="任意多边形 86"/>
            <p:cNvSpPr/>
            <p:nvPr/>
          </p:nvSpPr>
          <p:spPr bwMode="auto">
            <a:xfrm>
              <a:off x="6483566" y="3495976"/>
              <a:ext cx="1396893" cy="1800029"/>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0" name="任意多边形 89"/>
            <p:cNvSpPr/>
            <p:nvPr/>
          </p:nvSpPr>
          <p:spPr bwMode="auto">
            <a:xfrm>
              <a:off x="5778679" y="3497121"/>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23" name="直接连接符 122"/>
            <p:cNvCxnSpPr/>
            <p:nvPr/>
          </p:nvCxnSpPr>
          <p:spPr bwMode="auto">
            <a:xfrm>
              <a:off x="6477302" y="3497512"/>
              <a:ext cx="13768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Line 95"/>
            <p:cNvSpPr>
              <a:spLocks noChangeAspect="1" noChangeShapeType="1"/>
            </p:cNvSpPr>
            <p:nvPr/>
          </p:nvSpPr>
          <p:spPr bwMode="auto">
            <a:xfrm flipH="1">
              <a:off x="6487164" y="3492922"/>
              <a:ext cx="949946" cy="1804221"/>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 name="Line 102"/>
            <p:cNvSpPr>
              <a:spLocks noChangeAspect="1" noChangeShapeType="1"/>
            </p:cNvSpPr>
            <p:nvPr/>
          </p:nvSpPr>
          <p:spPr bwMode="auto">
            <a:xfrm>
              <a:off x="6486867" y="4886655"/>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95"/>
            <p:cNvSpPr>
              <a:spLocks noChangeAspect="1" noChangeShapeType="1"/>
            </p:cNvSpPr>
            <p:nvPr/>
          </p:nvSpPr>
          <p:spPr bwMode="auto">
            <a:xfrm flipH="1">
              <a:off x="6481522" y="3501257"/>
              <a:ext cx="730855" cy="138810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95"/>
            <p:cNvSpPr>
              <a:spLocks noChangeAspect="1" noChangeShapeType="1"/>
            </p:cNvSpPr>
            <p:nvPr/>
          </p:nvSpPr>
          <p:spPr bwMode="auto">
            <a:xfrm flipH="1">
              <a:off x="6473859" y="3506917"/>
              <a:ext cx="516515" cy="98101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95"/>
            <p:cNvSpPr>
              <a:spLocks noChangeAspect="1" noChangeShapeType="1"/>
            </p:cNvSpPr>
            <p:nvPr/>
          </p:nvSpPr>
          <p:spPr bwMode="auto">
            <a:xfrm flipH="1">
              <a:off x="6468901" y="3502426"/>
              <a:ext cx="308945" cy="58677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02"/>
            <p:cNvSpPr>
              <a:spLocks noChangeAspect="1" noChangeShapeType="1"/>
            </p:cNvSpPr>
            <p:nvPr/>
          </p:nvSpPr>
          <p:spPr bwMode="auto">
            <a:xfrm>
              <a:off x="6489571" y="4488967"/>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02"/>
            <p:cNvSpPr>
              <a:spLocks noChangeAspect="1" noChangeShapeType="1"/>
            </p:cNvSpPr>
            <p:nvPr/>
          </p:nvSpPr>
          <p:spPr bwMode="auto">
            <a:xfrm>
              <a:off x="6488487" y="4081536"/>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02"/>
            <p:cNvSpPr>
              <a:spLocks noChangeAspect="1" noChangeShapeType="1"/>
            </p:cNvSpPr>
            <p:nvPr/>
          </p:nvSpPr>
          <p:spPr bwMode="auto">
            <a:xfrm>
              <a:off x="6485239" y="3678977"/>
              <a:ext cx="426801" cy="81121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102"/>
            <p:cNvSpPr>
              <a:spLocks noChangeAspect="1" noChangeShapeType="1"/>
            </p:cNvSpPr>
            <p:nvPr/>
          </p:nvSpPr>
          <p:spPr bwMode="auto">
            <a:xfrm>
              <a:off x="6596018" y="3508308"/>
              <a:ext cx="414898" cy="78859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102"/>
            <p:cNvSpPr>
              <a:spLocks noChangeAspect="1" noChangeShapeType="1"/>
            </p:cNvSpPr>
            <p:nvPr/>
          </p:nvSpPr>
          <p:spPr bwMode="auto">
            <a:xfrm>
              <a:off x="6793333" y="3501257"/>
              <a:ext cx="319662" cy="60757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102"/>
            <p:cNvSpPr>
              <a:spLocks noChangeAspect="1" noChangeShapeType="1"/>
            </p:cNvSpPr>
            <p:nvPr/>
          </p:nvSpPr>
          <p:spPr bwMode="auto">
            <a:xfrm>
              <a:off x="7004214" y="3508309"/>
              <a:ext cx="208482" cy="39626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102"/>
            <p:cNvSpPr>
              <a:spLocks noChangeAspect="1" noChangeShapeType="1"/>
            </p:cNvSpPr>
            <p:nvPr/>
          </p:nvSpPr>
          <p:spPr bwMode="auto">
            <a:xfrm>
              <a:off x="7213852" y="3500435"/>
              <a:ext cx="113802" cy="216302"/>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95"/>
            <p:cNvSpPr>
              <a:spLocks noChangeAspect="1" noChangeShapeType="1"/>
            </p:cNvSpPr>
            <p:nvPr/>
          </p:nvSpPr>
          <p:spPr bwMode="auto">
            <a:xfrm flipH="1">
              <a:off x="6484570" y="3500435"/>
              <a:ext cx="98872" cy="18778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 name="Text Box 40"/>
            <p:cNvSpPr txBox="1">
              <a:spLocks noChangeArrowheads="1"/>
            </p:cNvSpPr>
            <p:nvPr/>
          </p:nvSpPr>
          <p:spPr bwMode="auto">
            <a:xfrm>
              <a:off x="6596468" y="4922091"/>
              <a:ext cx="1358538" cy="43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31" name="任意多边形 30"/>
            <p:cNvSpPr/>
            <p:nvPr/>
          </p:nvSpPr>
          <p:spPr bwMode="auto">
            <a:xfrm rot="593201">
              <a:off x="6552428" y="5157265"/>
              <a:ext cx="117283" cy="12438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3" name="任意多边形 32"/>
            <p:cNvSpPr/>
            <p:nvPr/>
          </p:nvSpPr>
          <p:spPr bwMode="auto">
            <a:xfrm rot="19737825">
              <a:off x="6855976" y="4325030"/>
              <a:ext cx="116162" cy="9430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4" name="Text Box 40"/>
            <p:cNvSpPr txBox="1">
              <a:spLocks noChangeArrowheads="1"/>
            </p:cNvSpPr>
            <p:nvPr/>
          </p:nvSpPr>
          <p:spPr bwMode="auto">
            <a:xfrm>
              <a:off x="6975288" y="4179458"/>
              <a:ext cx="857663" cy="466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90</a:t>
              </a:r>
              <a:r>
                <a:rPr lang="en-US" altLang="zh-CN" sz="1800" b="1" dirty="0">
                  <a:solidFill>
                    <a:srgbClr val="000000"/>
                  </a:solidFill>
                  <a:sym typeface="Symbol" pitchFamily="18" charset="2"/>
                </a:rPr>
                <a:t>-</a:t>
              </a:r>
              <a:r>
                <a:rPr lang="zh-CN" altLang="en-US" sz="1800" b="1" dirty="0" smtClean="0">
                  <a:solidFill>
                    <a:srgbClr val="000000"/>
                  </a:solidFill>
                  <a:sym typeface="Symbol" pitchFamily="18" charset="2"/>
                </a:rPr>
                <a:t></a:t>
              </a:r>
              <a:endParaRPr lang="en-US" altLang="zh-CN" sz="1800" b="1" dirty="0">
                <a:solidFill>
                  <a:srgbClr val="000000"/>
                </a:solidFill>
              </a:endParaRPr>
            </a:p>
          </p:txBody>
        </p:sp>
        <p:cxnSp>
          <p:nvCxnSpPr>
            <p:cNvPr id="101" name="直接连接符 100"/>
            <p:cNvCxnSpPr/>
            <p:nvPr/>
          </p:nvCxnSpPr>
          <p:spPr bwMode="auto">
            <a:xfrm>
              <a:off x="5487950" y="5296247"/>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6" name="Text Box 827"/>
          <p:cNvSpPr txBox="1">
            <a:spLocks noChangeArrowheads="1"/>
          </p:cNvSpPr>
          <p:nvPr/>
        </p:nvSpPr>
        <p:spPr bwMode="auto">
          <a:xfrm flipH="1">
            <a:off x="7119398" y="1585519"/>
            <a:ext cx="594154"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grpSp>
        <p:nvGrpSpPr>
          <p:cNvPr id="4" name="组合 3"/>
          <p:cNvGrpSpPr/>
          <p:nvPr/>
        </p:nvGrpSpPr>
        <p:grpSpPr>
          <a:xfrm>
            <a:off x="6560689" y="2121563"/>
            <a:ext cx="1537242" cy="600037"/>
            <a:chOff x="6560689" y="2121563"/>
            <a:chExt cx="1537242" cy="600037"/>
          </a:xfrm>
        </p:grpSpPr>
        <p:cxnSp>
          <p:nvCxnSpPr>
            <p:cNvPr id="84" name="直接连接符 83"/>
            <p:cNvCxnSpPr/>
            <p:nvPr/>
          </p:nvCxnSpPr>
          <p:spPr bwMode="auto">
            <a:xfrm rot="5400000">
              <a:off x="7592310" y="2007621"/>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Line 89"/>
            <p:cNvSpPr>
              <a:spLocks noChangeAspect="1" noChangeShapeType="1"/>
            </p:cNvSpPr>
            <p:nvPr/>
          </p:nvSpPr>
          <p:spPr bwMode="auto">
            <a:xfrm rot="5400000">
              <a:off x="7296600" y="2429894"/>
              <a:ext cx="58341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1" name="直接箭头连接符 80"/>
            <p:cNvCxnSpPr/>
            <p:nvPr/>
          </p:nvCxnSpPr>
          <p:spPr bwMode="auto">
            <a:xfrm flipH="1">
              <a:off x="6560689" y="2127651"/>
              <a:ext cx="869133"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57"/>
            <p:cNvSpPr txBox="1">
              <a:spLocks noChangeArrowheads="1"/>
            </p:cNvSpPr>
            <p:nvPr/>
          </p:nvSpPr>
          <p:spPr bwMode="auto">
            <a:xfrm>
              <a:off x="7532866" y="2231454"/>
              <a:ext cx="565065"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r>
                <a:rPr lang="en-US" altLang="zh-CN" sz="1800" b="1" dirty="0" smtClean="0">
                  <a:solidFill>
                    <a:srgbClr val="000066"/>
                  </a:solidFill>
                  <a:sym typeface="Symbol" pitchFamily="18" charset="2"/>
                </a:rPr>
                <a:t>/3</a:t>
              </a:r>
              <a:endParaRPr lang="en-US" altLang="zh-CN" sz="1800" b="1" baseline="-25000" dirty="0">
                <a:solidFill>
                  <a:srgbClr val="000066"/>
                </a:solidFill>
                <a:sym typeface="Symbol" pitchFamily="18" charset="2"/>
              </a:endParaRPr>
            </a:p>
          </p:txBody>
        </p:sp>
      </p:grpSp>
      <p:sp>
        <p:nvSpPr>
          <p:cNvPr id="86" name="Text Box 38"/>
          <p:cNvSpPr txBox="1">
            <a:spLocks noChangeArrowheads="1"/>
          </p:cNvSpPr>
          <p:nvPr/>
        </p:nvSpPr>
        <p:spPr bwMode="auto">
          <a:xfrm>
            <a:off x="1382558" y="1999038"/>
            <a:ext cx="2700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a:solidFill>
                  <a:srgbClr val="000066"/>
                </a:solidFill>
              </a:rPr>
              <a:t>p</a:t>
            </a:r>
            <a:r>
              <a:rPr lang="en-US" altLang="zh-CN" sz="2000" b="1" baseline="-25000" dirty="0">
                <a:solidFill>
                  <a:srgbClr val="000066"/>
                </a:solidFill>
              </a:rPr>
              <a:t>a</a:t>
            </a:r>
            <a:r>
              <a:rPr lang="en-US" altLang="zh-CN" sz="2000" b="1" i="1" dirty="0" smtClean="0">
                <a:solidFill>
                  <a:srgbClr val="000066"/>
                </a:solidFill>
              </a:rPr>
              <a:t>=</a:t>
            </a:r>
            <a:r>
              <a:rPr lang="en-US" altLang="zh-CN" sz="2000" b="1" i="1" dirty="0">
                <a:solidFill>
                  <a:srgbClr val="000066"/>
                </a:solidFill>
                <a:latin typeface="Symbol" pitchFamily="18" charset="2"/>
              </a:rPr>
              <a:t> g </a:t>
            </a:r>
            <a:r>
              <a:rPr lang="en-US" altLang="zh-CN" sz="2000" b="1" dirty="0">
                <a:solidFill>
                  <a:srgbClr val="000066"/>
                </a:solidFill>
              </a:rPr>
              <a:t>z</a:t>
            </a:r>
            <a:r>
              <a:rPr lang="en-US" altLang="zh-CN" sz="2000" b="1" i="1" dirty="0" smtClean="0">
                <a:solidFill>
                  <a:srgbClr val="000066"/>
                </a:solidFill>
              </a:rPr>
              <a:t> </a:t>
            </a:r>
            <a:r>
              <a:rPr lang="en-US" altLang="zh-CN" sz="2000" b="1" i="1" dirty="0" err="1" smtClean="0">
                <a:solidFill>
                  <a:srgbClr val="000066"/>
                </a:solidFill>
              </a:rPr>
              <a:t>K</a:t>
            </a:r>
            <a:r>
              <a:rPr lang="en-US" altLang="zh-CN" sz="2000" b="1" baseline="-25000" dirty="0" err="1" smtClean="0">
                <a:solidFill>
                  <a:srgbClr val="000066"/>
                </a:solidFill>
              </a:rPr>
              <a:t>a</a:t>
            </a:r>
            <a:r>
              <a:rPr lang="en-US" altLang="zh-CN" sz="2000" b="1" i="1" baseline="-25000" dirty="0" smtClean="0">
                <a:solidFill>
                  <a:srgbClr val="000066"/>
                </a:solidFill>
              </a:rPr>
              <a:t>            </a:t>
            </a:r>
            <a:r>
              <a:rPr lang="en-US" altLang="zh-CN" sz="2000" b="1" i="1" dirty="0" smtClean="0">
                <a:solidFill>
                  <a:srgbClr val="000066"/>
                </a:solidFill>
                <a:latin typeface="Symbol" pitchFamily="18" charset="2"/>
              </a:rPr>
              <a:t> </a:t>
            </a: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err="1" smtClean="0">
                <a:solidFill>
                  <a:srgbClr val="C00000"/>
                </a:solidFill>
                <a:ea typeface="华文新魏" pitchFamily="2" charset="-122"/>
                <a:cs typeface="Times New Roman" panose="02020603050405020304" pitchFamily="18" charset="0"/>
              </a:rPr>
              <a:t>kN</a:t>
            </a:r>
            <a:r>
              <a:rPr lang="en-US" altLang="zh-CN" sz="2000" b="1" dirty="0" smtClean="0">
                <a:solidFill>
                  <a:srgbClr val="C00000"/>
                </a:solidFill>
                <a:ea typeface="华文新魏" pitchFamily="2" charset="-122"/>
                <a:cs typeface="Times New Roman" panose="02020603050405020304" pitchFamily="18" charset="0"/>
              </a:rPr>
              <a:t>/m</a:t>
            </a:r>
            <a:r>
              <a:rPr lang="en-US" altLang="zh-CN" sz="2000" b="1" baseline="30000" dirty="0" smtClean="0">
                <a:solidFill>
                  <a:srgbClr val="C00000"/>
                </a:solidFill>
                <a:ea typeface="华文新魏" pitchFamily="2" charset="-122"/>
                <a:cs typeface="Times New Roman" panose="02020603050405020304" pitchFamily="18" charset="0"/>
              </a:rPr>
              <a:t>2</a:t>
            </a: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smtClean="0">
                <a:solidFill>
                  <a:srgbClr val="C00000"/>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89" name="Text Box 57"/>
          <p:cNvSpPr txBox="1">
            <a:spLocks noChangeArrowheads="1"/>
          </p:cNvSpPr>
          <p:nvPr/>
        </p:nvSpPr>
        <p:spPr bwMode="auto">
          <a:xfrm>
            <a:off x="796771" y="1528838"/>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主动土压力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1" name="Text Box 57"/>
          <p:cNvSpPr txBox="1">
            <a:spLocks noChangeArrowheads="1"/>
          </p:cNvSpPr>
          <p:nvPr/>
        </p:nvSpPr>
        <p:spPr bwMode="auto">
          <a:xfrm>
            <a:off x="793854" y="2486999"/>
            <a:ext cx="345937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总土压力（单位墙长度）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2" name="Text Box 57"/>
          <p:cNvSpPr txBox="1">
            <a:spLocks noChangeArrowheads="1"/>
          </p:cNvSpPr>
          <p:nvPr/>
        </p:nvSpPr>
        <p:spPr bwMode="auto">
          <a:xfrm>
            <a:off x="808784" y="3927934"/>
            <a:ext cx="4237926"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总土压力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作用点：底部以上</a:t>
            </a:r>
            <a:r>
              <a:rPr lang="en-US" altLang="zh-CN" sz="2000" b="1" i="1" dirty="0">
                <a:solidFill>
                  <a:srgbClr val="000066"/>
                </a:solidFill>
                <a:ea typeface="幼圆" panose="02010509060101010101" pitchFamily="49" charset="-122"/>
                <a:cs typeface="Times New Roman" panose="02020603050405020304" pitchFamily="18" charset="0"/>
                <a:sym typeface="Symbol" pitchFamily="18" charset="2"/>
              </a:rPr>
              <a:t>H</a:t>
            </a:r>
            <a:r>
              <a:rPr lang="en-US" altLang="zh-CN" sz="2000" b="1" dirty="0">
                <a:solidFill>
                  <a:srgbClr val="000066"/>
                </a:solidFill>
                <a:ea typeface="幼圆" panose="02010509060101010101" pitchFamily="49" charset="-122"/>
                <a:cs typeface="Times New Roman" panose="02020603050405020304" pitchFamily="18" charset="0"/>
                <a:sym typeface="Symbol" pitchFamily="18" charset="2"/>
              </a:rPr>
              <a:t>/3</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处</a:t>
            </a:r>
          </a:p>
        </p:txBody>
      </p:sp>
      <p:sp>
        <p:nvSpPr>
          <p:cNvPr id="96" name="Text Box 57"/>
          <p:cNvSpPr txBox="1">
            <a:spLocks noChangeArrowheads="1"/>
          </p:cNvSpPr>
          <p:nvPr/>
        </p:nvSpPr>
        <p:spPr bwMode="auto">
          <a:xfrm>
            <a:off x="810280" y="4433418"/>
            <a:ext cx="428393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破</a:t>
            </a:r>
            <a:r>
              <a:rPr lang="zh-CN" altLang="en-US" sz="2000" b="1" dirty="0" smtClean="0">
                <a:solidFill>
                  <a:srgbClr val="000066"/>
                </a:solidFill>
                <a:ea typeface="幼圆" pitchFamily="49" charset="-122"/>
                <a:cs typeface="Times New Roman" panose="02020603050405020304" pitchFamily="18" charset="0"/>
              </a:rPr>
              <a:t>裂</a:t>
            </a:r>
            <a:r>
              <a:rPr lang="zh-CN" altLang="en-US" sz="2000" b="1" dirty="0">
                <a:solidFill>
                  <a:srgbClr val="000066"/>
                </a:solidFill>
                <a:ea typeface="幼圆" pitchFamily="49" charset="-122"/>
                <a:cs typeface="Times New Roman" panose="02020603050405020304" pitchFamily="18" charset="0"/>
              </a:rPr>
              <a:t>面方向：与水平夹角</a:t>
            </a:r>
            <a:r>
              <a:rPr lang="en-US" altLang="zh-CN" sz="2000" b="1" dirty="0">
                <a:solidFill>
                  <a:srgbClr val="000066"/>
                </a:solidFill>
                <a:ea typeface="幼圆" pitchFamily="49" charset="-122"/>
                <a:cs typeface="Times New Roman" panose="02020603050405020304" pitchFamily="18" charset="0"/>
              </a:rPr>
              <a:t>45</a:t>
            </a:r>
            <a:r>
              <a:rPr lang="en-US" altLang="zh-CN" sz="2000" b="1" baseline="30000" dirty="0">
                <a:solidFill>
                  <a:srgbClr val="000000"/>
                </a:solidFill>
                <a:ea typeface="华文新魏" pitchFamily="2" charset="-122"/>
                <a:cs typeface="Times New Roman" panose="02020603050405020304" pitchFamily="18" charset="0"/>
                <a:sym typeface="Symbol" pitchFamily="18" charset="2"/>
              </a:rPr>
              <a:t>  </a:t>
            </a:r>
            <a:r>
              <a:rPr lang="en-US" altLang="zh-CN" sz="2000" b="1" dirty="0">
                <a:solidFill>
                  <a:srgbClr val="000066"/>
                </a:solidFill>
                <a:ea typeface="幼圆" pitchFamily="49" charset="-122"/>
                <a:cs typeface="Times New Roman" panose="02020603050405020304" pitchFamily="18" charset="0"/>
              </a:rPr>
              <a:t>+ </a:t>
            </a:r>
            <a:r>
              <a:rPr lang="en-US" altLang="zh-CN" sz="2000" b="1" i="1" dirty="0">
                <a:solidFill>
                  <a:srgbClr val="000000"/>
                </a:solidFill>
                <a:cs typeface="Times New Roman" panose="02020603050405020304" pitchFamily="18" charset="0"/>
                <a:sym typeface="Symbol" pitchFamily="18" charset="2"/>
              </a:rPr>
              <a:t></a:t>
            </a:r>
            <a:r>
              <a:rPr lang="en-US" altLang="zh-CN" sz="2000" b="1" dirty="0">
                <a:solidFill>
                  <a:srgbClr val="000066"/>
                </a:solidFill>
                <a:ea typeface="幼圆" pitchFamily="49" charset="-122"/>
                <a:cs typeface="Times New Roman" panose="02020603050405020304" pitchFamily="18" charset="0"/>
              </a:rPr>
              <a:t> /2 </a:t>
            </a:r>
            <a:endParaRPr lang="zh-CN" altLang="en-US" sz="2000" b="1" dirty="0">
              <a:solidFill>
                <a:srgbClr val="000066"/>
              </a:solidFill>
              <a:ea typeface="幼圆" pitchFamily="49" charset="-122"/>
              <a:cs typeface="Times New Roman" panose="02020603050405020304" pitchFamily="18" charset="0"/>
            </a:endParaRPr>
          </a:p>
        </p:txBody>
      </p:sp>
      <p:sp>
        <p:nvSpPr>
          <p:cNvPr id="97" name="Text Box 46"/>
          <p:cNvSpPr txBox="1">
            <a:spLocks noChangeArrowheads="1"/>
          </p:cNvSpPr>
          <p:nvPr/>
        </p:nvSpPr>
        <p:spPr bwMode="auto">
          <a:xfrm>
            <a:off x="363383" y="764183"/>
            <a:ext cx="54661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无</a:t>
            </a:r>
            <a:r>
              <a:rPr lang="zh-CN" altLang="en-US" sz="2800" b="1" dirty="0">
                <a:solidFill>
                  <a:srgbClr val="A50021"/>
                </a:solidFill>
                <a:latin typeface="微软雅黑" panose="020B0503020204020204" pitchFamily="34" charset="-122"/>
                <a:ea typeface="微软雅黑" panose="020B0503020204020204" pitchFamily="34" charset="-122"/>
              </a:rPr>
              <a:t>黏性土郎</a:t>
            </a:r>
            <a:r>
              <a:rPr lang="zh-CN" altLang="en-US" sz="2800" b="1" dirty="0" smtClean="0">
                <a:solidFill>
                  <a:srgbClr val="A50021"/>
                </a:solidFill>
                <a:latin typeface="微软雅黑" panose="020B0503020204020204" pitchFamily="34" charset="-122"/>
                <a:ea typeface="微软雅黑" panose="020B0503020204020204" pitchFamily="34" charset="-122"/>
              </a:rPr>
              <a:t>肯主动土压力计算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347788" y="3032125"/>
            <a:ext cx="2854131" cy="661988"/>
            <a:chOff x="1347788" y="3032125"/>
            <a:chExt cx="2854131" cy="661988"/>
          </a:xfrm>
        </p:grpSpPr>
        <p:sp>
          <p:nvSpPr>
            <p:cNvPr id="117" name="Text Box 38"/>
            <p:cNvSpPr txBox="1">
              <a:spLocks noChangeArrowheads="1"/>
            </p:cNvSpPr>
            <p:nvPr/>
          </p:nvSpPr>
          <p:spPr bwMode="auto">
            <a:xfrm>
              <a:off x="3267126" y="3153114"/>
              <a:ext cx="9347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err="1">
                  <a:solidFill>
                    <a:srgbClr val="C00000"/>
                  </a:solidFill>
                  <a:ea typeface="华文新魏" pitchFamily="2" charset="-122"/>
                  <a:cs typeface="Times New Roman" panose="02020603050405020304" pitchFamily="18" charset="0"/>
                </a:rPr>
                <a:t>kN</a:t>
              </a:r>
              <a:r>
                <a:rPr lang="en-US" altLang="zh-CN" sz="2000" b="1" dirty="0">
                  <a:solidFill>
                    <a:srgbClr val="C00000"/>
                  </a:solidFill>
                  <a:ea typeface="华文新魏" pitchFamily="2" charset="-122"/>
                  <a:cs typeface="Times New Roman" panose="02020603050405020304" pitchFamily="18" charset="0"/>
                </a:rPr>
                <a:t>/m</a:t>
              </a:r>
              <a:r>
                <a:rPr lang="en-US" altLang="zh-CN" sz="2000" b="1" dirty="0" smtClean="0">
                  <a:solidFill>
                    <a:srgbClr val="C00000"/>
                  </a:solidFill>
                  <a:ea typeface="华文新魏" pitchFamily="2" charset="-122"/>
                  <a:cs typeface="Times New Roman" panose="02020603050405020304" pitchFamily="18" charset="0"/>
                </a:rPr>
                <a:t>)</a:t>
              </a:r>
              <a:endParaRPr lang="en-US" altLang="zh-CN" sz="2000" b="1" i="1" baseline="30000" dirty="0">
                <a:solidFill>
                  <a:srgbClr val="C00000"/>
                </a:solidFill>
                <a:ea typeface="华文新魏" pitchFamily="2" charset="-122"/>
                <a:cs typeface="Times New Roman" panose="02020603050405020304" pitchFamily="18" charset="0"/>
              </a:endParaRPr>
            </a:p>
          </p:txBody>
        </p:sp>
        <p:graphicFrame>
          <p:nvGraphicFramePr>
            <p:cNvPr id="60" name="Object 62"/>
            <p:cNvGraphicFramePr>
              <a:graphicFrameLocks noChangeAspect="1"/>
            </p:cNvGraphicFramePr>
            <p:nvPr>
              <p:extLst>
                <p:ext uri="{D42A27DB-BD31-4B8C-83A1-F6EECF244321}">
                  <p14:modId xmlns:p14="http://schemas.microsoft.com/office/powerpoint/2010/main" val="1576182493"/>
                </p:ext>
              </p:extLst>
            </p:nvPr>
          </p:nvGraphicFramePr>
          <p:xfrm>
            <a:off x="1347788" y="3032125"/>
            <a:ext cx="1555750" cy="661988"/>
          </p:xfrm>
          <a:graphic>
            <a:graphicData uri="http://schemas.openxmlformats.org/presentationml/2006/ole">
              <mc:AlternateContent xmlns:mc="http://schemas.openxmlformats.org/markup-compatibility/2006">
                <mc:Choice xmlns:v="urn:schemas-microsoft-com:vml" Requires="v">
                  <p:oleObj spid="_x0000_s1672589" name="Equation" r:id="rId4" imgW="863280" imgH="368280" progId="Equation.DSMT4">
                    <p:embed/>
                  </p:oleObj>
                </mc:Choice>
                <mc:Fallback>
                  <p:oleObj name="Equation" r:id="rId4" imgW="863280" imgH="368280" progId="Equation.DSMT4">
                    <p:embed/>
                    <p:pic>
                      <p:nvPicPr>
                        <p:cNvPr id="675902" name="Object 62"/>
                        <p:cNvPicPr>
                          <a:picLocks noChangeAspect="1" noChangeArrowheads="1"/>
                        </p:cNvPicPr>
                        <p:nvPr/>
                      </p:nvPicPr>
                      <p:blipFill>
                        <a:blip r:embed="rId5"/>
                        <a:srcRect/>
                        <a:stretch>
                          <a:fillRect/>
                        </a:stretch>
                      </p:blipFill>
                      <p:spPr bwMode="auto">
                        <a:xfrm>
                          <a:off x="1347788" y="3032125"/>
                          <a:ext cx="1555750" cy="661988"/>
                        </a:xfrm>
                        <a:prstGeom prst="rect">
                          <a:avLst/>
                        </a:prstGeom>
                        <a:noFill/>
                        <a:ln>
                          <a:noFill/>
                        </a:ln>
                        <a:effectLst/>
                        <a:extLst/>
                      </p:spPr>
                    </p:pic>
                  </p:oleObj>
                </mc:Fallback>
              </mc:AlternateContent>
            </a:graphicData>
          </a:graphic>
        </p:graphicFrame>
      </p:grpSp>
      <p:sp>
        <p:nvSpPr>
          <p:cNvPr id="62"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a:t>
            </a:r>
            <a:r>
              <a:rPr kumimoji="1" lang="zh-CN" altLang="en-US" sz="4000" b="1" dirty="0" smtClean="0">
                <a:solidFill>
                  <a:srgbClr val="000066"/>
                </a:solidFill>
                <a:latin typeface="黑体" pitchFamily="2" charset="-122"/>
                <a:ea typeface="黑体" pitchFamily="2" charset="-122"/>
              </a:rPr>
              <a:t>肯主动土压力计算</a:t>
            </a:r>
            <a:endParaRPr kumimoji="1" lang="zh-CN" altLang="en-US" sz="4000" b="1" dirty="0">
              <a:solidFill>
                <a:srgbClr val="000066"/>
              </a:solidFill>
              <a:latin typeface="黑体" pitchFamily="2" charset="-122"/>
              <a:ea typeface="黑体" pitchFamily="2" charset="-122"/>
            </a:endParaRPr>
          </a:p>
        </p:txBody>
      </p:sp>
      <p:sp>
        <p:nvSpPr>
          <p:cNvPr id="6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郎肯主动土压力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225276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wipe(left)">
                                      <p:cBhvr>
                                        <p:cTn id="15" dur="500"/>
                                        <p:tgtEl>
                                          <p:spTgt spid="9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wipe(left)">
                                      <p:cBhvr>
                                        <p:cTn id="2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9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36</a:t>
            </a:fld>
            <a:endParaRPr lang="zh-CN" altLang="en-US" dirty="0">
              <a:solidFill>
                <a:srgbClr val="C00000"/>
              </a:solidFill>
            </a:endParaRPr>
          </a:p>
        </p:txBody>
      </p:sp>
      <p:sp>
        <p:nvSpPr>
          <p:cNvPr id="80" name="Text Box 46"/>
          <p:cNvSpPr txBox="1">
            <a:spLocks noChangeArrowheads="1"/>
          </p:cNvSpPr>
          <p:nvPr/>
        </p:nvSpPr>
        <p:spPr bwMode="auto">
          <a:xfrm>
            <a:off x="363383" y="764183"/>
            <a:ext cx="50376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黏性土郎肯主动土压力计算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郎肯主动土压力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11" name="Text Box 57"/>
          <p:cNvSpPr txBox="1">
            <a:spLocks noChangeArrowheads="1"/>
          </p:cNvSpPr>
          <p:nvPr/>
        </p:nvSpPr>
        <p:spPr bwMode="auto">
          <a:xfrm>
            <a:off x="759899" y="1532918"/>
            <a:ext cx="219258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土单元应力状态：</a:t>
            </a:r>
            <a:endParaRPr lang="en-US" altLang="zh-CN" sz="2000" b="1" i="1" baseline="-25000" dirty="0">
              <a:solidFill>
                <a:srgbClr val="000066"/>
              </a:solidFill>
              <a:sym typeface="Symbol" pitchFamily="18" charset="2"/>
            </a:endParaRPr>
          </a:p>
        </p:txBody>
      </p:sp>
      <p:sp>
        <p:nvSpPr>
          <p:cNvPr id="113" name="Text Box 38"/>
          <p:cNvSpPr txBox="1">
            <a:spLocks noChangeArrowheads="1"/>
          </p:cNvSpPr>
          <p:nvPr/>
        </p:nvSpPr>
        <p:spPr bwMode="auto">
          <a:xfrm>
            <a:off x="1345686" y="3855561"/>
            <a:ext cx="4331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a:solidFill>
                  <a:srgbClr val="000066"/>
                </a:solidFill>
              </a:rPr>
              <a:t>p</a:t>
            </a:r>
            <a:r>
              <a:rPr lang="en-US" altLang="zh-CN" sz="2000" b="1" baseline="-25000" dirty="0">
                <a:solidFill>
                  <a:srgbClr val="000066"/>
                </a:solidFill>
              </a:rPr>
              <a:t>a</a:t>
            </a:r>
            <a:r>
              <a:rPr lang="en-US" altLang="zh-CN" sz="2000" b="1" i="1" dirty="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a:t>
            </a:r>
            <a:r>
              <a:rPr lang="en-US" altLang="zh-CN" sz="2000" b="1" i="1" dirty="0" smtClean="0">
                <a:solidFill>
                  <a:srgbClr val="000066"/>
                </a:solidFill>
                <a:latin typeface="Symbol" pitchFamily="18" charset="2"/>
              </a:rPr>
              <a:t>g </a:t>
            </a:r>
            <a:r>
              <a:rPr lang="en-US" altLang="zh-CN" sz="2000" b="1" dirty="0" smtClean="0">
                <a:solidFill>
                  <a:srgbClr val="000066"/>
                </a:solidFill>
              </a:rPr>
              <a:t>z</a:t>
            </a:r>
            <a:r>
              <a:rPr lang="en-US" altLang="zh-CN" sz="2000" b="1" i="1" dirty="0" smtClean="0">
                <a:solidFill>
                  <a:srgbClr val="000066"/>
                </a:solidFill>
              </a:rPr>
              <a:t> - </a:t>
            </a:r>
            <a:r>
              <a:rPr lang="en-US" altLang="zh-CN" sz="2000" b="1" dirty="0">
                <a:solidFill>
                  <a:srgbClr val="000066"/>
                </a:solidFill>
              </a:rPr>
              <a:t>2c</a:t>
            </a:r>
            <a:r>
              <a:rPr lang="en-US" altLang="zh-CN" sz="2000" b="1" dirty="0">
                <a:solidFill>
                  <a:srgbClr val="000066"/>
                </a:solidFill>
                <a:sym typeface="Symbol"/>
              </a:rPr>
              <a:t></a:t>
            </a:r>
            <a:r>
              <a:rPr lang="en-US" altLang="zh-CN" sz="2000" b="1" dirty="0">
                <a:solidFill>
                  <a:srgbClr val="000066"/>
                </a:solidFill>
              </a:rPr>
              <a:t> tan(45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161" name="Text Box 57"/>
          <p:cNvSpPr txBox="1">
            <a:spLocks noChangeArrowheads="1"/>
          </p:cNvSpPr>
          <p:nvPr/>
        </p:nvSpPr>
        <p:spPr bwMode="auto">
          <a:xfrm>
            <a:off x="3069905" y="1501463"/>
            <a:ext cx="1575939" cy="85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1</a:t>
            </a:r>
            <a:r>
              <a:rPr lang="en-US" altLang="zh-CN" sz="2000" b="1" dirty="0">
                <a:solidFill>
                  <a:srgbClr val="000066"/>
                </a:solidFill>
                <a:sym typeface="Symbol" pitchFamily="18" charset="2"/>
              </a:rPr>
              <a:t>= </a:t>
            </a: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v</a:t>
            </a:r>
            <a:r>
              <a:rPr lang="en-US" altLang="zh-CN" sz="2000" b="1" dirty="0" smtClean="0">
                <a:solidFill>
                  <a:srgbClr val="000066"/>
                </a:solidFill>
                <a:sym typeface="Symbol" pitchFamily="18" charset="2"/>
              </a:rPr>
              <a:t>=  z </a:t>
            </a:r>
          </a:p>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3</a:t>
            </a:r>
            <a:r>
              <a:rPr lang="en-US" altLang="zh-CN" sz="2000" b="1" dirty="0">
                <a:solidFill>
                  <a:srgbClr val="000066"/>
                </a:solidFill>
                <a:sym typeface="Symbol" pitchFamily="18" charset="2"/>
              </a:rPr>
              <a:t>= </a:t>
            </a: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h</a:t>
            </a:r>
            <a:r>
              <a:rPr lang="en-US" altLang="zh-CN" sz="2000" b="1" dirty="0" smtClean="0">
                <a:solidFill>
                  <a:srgbClr val="000066"/>
                </a:solidFill>
                <a:sym typeface="Symbol" pitchFamily="18" charset="2"/>
              </a:rPr>
              <a:t>= </a:t>
            </a:r>
            <a:r>
              <a:rPr lang="en-US" altLang="zh-CN" sz="2000" b="1" i="1" dirty="0" smtClean="0">
                <a:solidFill>
                  <a:srgbClr val="000066"/>
                </a:solidFill>
                <a:sym typeface="Symbol" pitchFamily="18" charset="2"/>
              </a:rPr>
              <a:t>p</a:t>
            </a:r>
            <a:r>
              <a:rPr lang="en-US" altLang="zh-CN" sz="2000" b="1" baseline="-25000" dirty="0" smtClean="0">
                <a:solidFill>
                  <a:srgbClr val="000066"/>
                </a:solidFill>
                <a:sym typeface="Symbol" pitchFamily="18" charset="2"/>
              </a:rPr>
              <a:t>a</a:t>
            </a:r>
            <a:endParaRPr lang="en-US" altLang="zh-CN" sz="2000" b="1" baseline="-25000" dirty="0">
              <a:solidFill>
                <a:srgbClr val="000066"/>
              </a:solidFill>
              <a:sym typeface="Symbol" pitchFamily="18" charset="2"/>
            </a:endParaRPr>
          </a:p>
        </p:txBody>
      </p:sp>
      <p:sp>
        <p:nvSpPr>
          <p:cNvPr id="162" name="Text Box 57"/>
          <p:cNvSpPr txBox="1">
            <a:spLocks noChangeArrowheads="1"/>
          </p:cNvSpPr>
          <p:nvPr/>
        </p:nvSpPr>
        <p:spPr bwMode="auto">
          <a:xfrm>
            <a:off x="759899" y="2372616"/>
            <a:ext cx="328612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黏性土极限</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平衡条件</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3" name="Text Box 57"/>
          <p:cNvSpPr txBox="1">
            <a:spLocks noChangeArrowheads="1"/>
          </p:cNvSpPr>
          <p:nvPr/>
        </p:nvSpPr>
        <p:spPr bwMode="auto">
          <a:xfrm>
            <a:off x="759899" y="3340096"/>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主动土压力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4" name="Text Box 38"/>
          <p:cNvSpPr txBox="1">
            <a:spLocks noChangeArrowheads="1"/>
          </p:cNvSpPr>
          <p:nvPr/>
        </p:nvSpPr>
        <p:spPr bwMode="auto">
          <a:xfrm>
            <a:off x="1237046" y="2882426"/>
            <a:ext cx="43282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sym typeface="Symbol"/>
              </a:rPr>
              <a:t></a:t>
            </a:r>
            <a:r>
              <a:rPr lang="en-US" altLang="zh-CN" sz="2000" b="1" baseline="-25000" dirty="0" smtClean="0">
                <a:solidFill>
                  <a:srgbClr val="000066"/>
                </a:solidFill>
              </a:rPr>
              <a:t>3</a:t>
            </a:r>
            <a:r>
              <a:rPr lang="en-US" altLang="zh-CN" sz="2000" b="1" i="1" dirty="0" smtClean="0">
                <a:solidFill>
                  <a:srgbClr val="000066"/>
                </a:solidFill>
              </a:rPr>
              <a:t>= </a:t>
            </a:r>
            <a:r>
              <a:rPr lang="en-US" altLang="zh-CN" sz="2000" b="1" i="1" dirty="0" smtClean="0">
                <a:solidFill>
                  <a:srgbClr val="000066"/>
                </a:solidFill>
                <a:sym typeface="Symbol"/>
              </a:rPr>
              <a:t></a:t>
            </a:r>
            <a:r>
              <a:rPr lang="en-US" altLang="zh-CN" sz="2000" b="1" baseline="-25000" dirty="0" smtClean="0">
                <a:solidFill>
                  <a:srgbClr val="000066"/>
                </a:solidFill>
              </a:rPr>
              <a:t>1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 - 2c</a:t>
            </a:r>
            <a:r>
              <a:rPr lang="en-US" altLang="zh-CN" sz="2000" b="1" dirty="0" smtClean="0">
                <a:solidFill>
                  <a:srgbClr val="000066"/>
                </a:solidFill>
                <a:sym typeface="Symbol"/>
              </a:rPr>
              <a:t></a:t>
            </a:r>
            <a:r>
              <a:rPr lang="en-US" altLang="zh-CN" sz="2000" b="1" dirty="0">
                <a:solidFill>
                  <a:srgbClr val="000066"/>
                </a:solidFill>
              </a:rPr>
              <a:t> </a:t>
            </a:r>
            <a:r>
              <a:rPr lang="en-US" altLang="zh-CN" sz="2000" b="1" dirty="0" smtClean="0">
                <a:solidFill>
                  <a:srgbClr val="000066"/>
                </a:solidFill>
              </a:rPr>
              <a:t>tan(45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 </a:t>
            </a:r>
            <a:endParaRPr lang="zh-CN" altLang="en-US" sz="2000" b="1" dirty="0">
              <a:solidFill>
                <a:srgbClr val="000066"/>
              </a:solidFill>
              <a:ea typeface="幼圆" pitchFamily="49" charset="-122"/>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557368452"/>
              </p:ext>
            </p:extLst>
          </p:nvPr>
        </p:nvGraphicFramePr>
        <p:xfrm>
          <a:off x="1595438" y="4408488"/>
          <a:ext cx="2443162" cy="501650"/>
        </p:xfrm>
        <a:graphic>
          <a:graphicData uri="http://schemas.openxmlformats.org/presentationml/2006/ole">
            <mc:AlternateContent xmlns:mc="http://schemas.openxmlformats.org/markup-compatibility/2006">
              <mc:Choice xmlns:v="urn:schemas-microsoft-com:vml" Requires="v">
                <p:oleObj spid="_x0000_s1669529" name="Equation" r:id="rId4" imgW="1282680" imgH="266400" progId="Equation.DSMT4">
                  <p:embed/>
                </p:oleObj>
              </mc:Choice>
              <mc:Fallback>
                <p:oleObj name="Equation" r:id="rId4" imgW="1282680" imgH="266400" progId="Equation.DSMT4">
                  <p:embed/>
                  <p:pic>
                    <p:nvPicPr>
                      <p:cNvPr id="0" name="Object 33"/>
                      <p:cNvPicPr>
                        <a:picLocks noChangeAspect="1" noChangeArrowheads="1"/>
                      </p:cNvPicPr>
                      <p:nvPr/>
                    </p:nvPicPr>
                    <p:blipFill>
                      <a:blip r:embed="rId5"/>
                      <a:srcRect/>
                      <a:stretch>
                        <a:fillRect/>
                      </a:stretch>
                    </p:blipFill>
                    <p:spPr bwMode="auto">
                      <a:xfrm>
                        <a:off x="1595438" y="4408488"/>
                        <a:ext cx="2443162" cy="501650"/>
                      </a:xfrm>
                      <a:prstGeom prst="rect">
                        <a:avLst/>
                      </a:prstGeom>
                      <a:noFill/>
                      <a:ln>
                        <a:noFill/>
                      </a:ln>
                      <a:effectLst/>
                    </p:spPr>
                  </p:pic>
                </p:oleObj>
              </mc:Fallback>
            </mc:AlternateContent>
          </a:graphicData>
        </a:graphic>
      </p:graphicFrame>
      <p:sp>
        <p:nvSpPr>
          <p:cNvPr id="43" name="AutoShape 5"/>
          <p:cNvSpPr>
            <a:spLocks noChangeArrowheads="1"/>
          </p:cNvSpPr>
          <p:nvPr/>
        </p:nvSpPr>
        <p:spPr bwMode="auto">
          <a:xfrm>
            <a:off x="1049323" y="4526271"/>
            <a:ext cx="418742" cy="333090"/>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44" name="任意多边形 43"/>
          <p:cNvSpPr/>
          <p:nvPr/>
        </p:nvSpPr>
        <p:spPr bwMode="auto">
          <a:xfrm>
            <a:off x="6985592" y="1572377"/>
            <a:ext cx="1691934" cy="226906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5" name="任意多边形 44"/>
          <p:cNvSpPr/>
          <p:nvPr/>
        </p:nvSpPr>
        <p:spPr bwMode="auto">
          <a:xfrm>
            <a:off x="6029777" y="1565870"/>
            <a:ext cx="947319" cy="226906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0" name="直接连接符 59"/>
          <p:cNvCxnSpPr/>
          <p:nvPr/>
        </p:nvCxnSpPr>
        <p:spPr bwMode="auto">
          <a:xfrm>
            <a:off x="5644607" y="3833792"/>
            <a:ext cx="308723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14"/>
          <p:cNvSpPr txBox="1">
            <a:spLocks noChangeArrowheads="1"/>
          </p:cNvSpPr>
          <p:nvPr/>
        </p:nvSpPr>
        <p:spPr bwMode="auto">
          <a:xfrm>
            <a:off x="7382394" y="2169249"/>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63" name="Rectangle 9"/>
          <p:cNvSpPr>
            <a:spLocks noChangeArrowheads="1"/>
          </p:cNvSpPr>
          <p:nvPr/>
        </p:nvSpPr>
        <p:spPr bwMode="auto">
          <a:xfrm>
            <a:off x="6968998" y="2423544"/>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64" name="Line 10"/>
          <p:cNvSpPr>
            <a:spLocks noChangeShapeType="1"/>
          </p:cNvSpPr>
          <p:nvPr/>
        </p:nvSpPr>
        <p:spPr bwMode="auto">
          <a:xfrm>
            <a:off x="6617075" y="2543862"/>
            <a:ext cx="35192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12"/>
          <p:cNvSpPr>
            <a:spLocks noChangeShapeType="1"/>
          </p:cNvSpPr>
          <p:nvPr/>
        </p:nvSpPr>
        <p:spPr bwMode="auto">
          <a:xfrm rot="16200000">
            <a:off x="6920401" y="2880799"/>
            <a:ext cx="38422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Text Box 14"/>
          <p:cNvSpPr txBox="1">
            <a:spLocks noChangeArrowheads="1"/>
          </p:cNvSpPr>
          <p:nvPr/>
        </p:nvSpPr>
        <p:spPr bwMode="auto">
          <a:xfrm>
            <a:off x="7143363" y="1793332"/>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67" name="Line 13"/>
          <p:cNvSpPr>
            <a:spLocks noChangeShapeType="1"/>
          </p:cNvSpPr>
          <p:nvPr/>
        </p:nvSpPr>
        <p:spPr bwMode="auto">
          <a:xfrm rot="5400000">
            <a:off x="6920401" y="2218336"/>
            <a:ext cx="38422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10"/>
          <p:cNvSpPr>
            <a:spLocks noChangeShapeType="1"/>
          </p:cNvSpPr>
          <p:nvPr/>
        </p:nvSpPr>
        <p:spPr bwMode="auto">
          <a:xfrm rot="10800000">
            <a:off x="7238394" y="2559453"/>
            <a:ext cx="35192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70" name="直接连接符 69"/>
          <p:cNvCxnSpPr/>
          <p:nvPr/>
        </p:nvCxnSpPr>
        <p:spPr bwMode="auto">
          <a:xfrm>
            <a:off x="6920477" y="1563381"/>
            <a:ext cx="1733135" cy="52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Line 18"/>
          <p:cNvSpPr>
            <a:spLocks noChangeShapeType="1"/>
          </p:cNvSpPr>
          <p:nvPr/>
        </p:nvSpPr>
        <p:spPr bwMode="auto">
          <a:xfrm flipH="1">
            <a:off x="7855030" y="2568379"/>
            <a:ext cx="6199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9"/>
          <p:cNvSpPr>
            <a:spLocks noChangeShapeType="1"/>
          </p:cNvSpPr>
          <p:nvPr/>
        </p:nvSpPr>
        <p:spPr bwMode="auto">
          <a:xfrm>
            <a:off x="8165007" y="1570458"/>
            <a:ext cx="0" cy="99135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 Box 20"/>
          <p:cNvSpPr txBox="1">
            <a:spLocks noChangeArrowheads="1"/>
          </p:cNvSpPr>
          <p:nvPr/>
        </p:nvSpPr>
        <p:spPr bwMode="auto">
          <a:xfrm>
            <a:off x="8228150" y="1799923"/>
            <a:ext cx="309978" cy="4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sp>
        <p:nvSpPr>
          <p:cNvPr id="30"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a:t>
            </a:r>
            <a:r>
              <a:rPr kumimoji="1" lang="zh-CN" altLang="en-US" sz="4000" b="1" dirty="0" smtClean="0">
                <a:solidFill>
                  <a:srgbClr val="000066"/>
                </a:solidFill>
                <a:latin typeface="黑体" pitchFamily="2" charset="-122"/>
                <a:ea typeface="黑体" pitchFamily="2" charset="-122"/>
              </a:rPr>
              <a:t>肯主动土压力计算</a:t>
            </a:r>
            <a:endParaRPr kumimoji="1" lang="zh-CN" altLang="en-US" sz="4000" b="1" dirty="0">
              <a:solidFill>
                <a:srgbClr val="000066"/>
              </a:solidFill>
              <a:latin typeface="黑体" pitchFamily="2" charset="-122"/>
              <a:ea typeface="黑体" pitchFamily="2" charset="-122"/>
            </a:endParaRPr>
          </a:p>
        </p:txBody>
      </p:sp>
      <p:sp>
        <p:nvSpPr>
          <p:cNvPr id="29" name="AutoShape 118"/>
          <p:cNvSpPr>
            <a:spLocks noChangeArrowheads="1"/>
          </p:cNvSpPr>
          <p:nvPr/>
        </p:nvSpPr>
        <p:spPr bwMode="auto">
          <a:xfrm>
            <a:off x="5815488" y="2153648"/>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393525304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repeatCount="300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right)">
                                      <p:cBhvr>
                                        <p:cTn id="7" dur="500"/>
                                        <p:tgtEl>
                                          <p:spTgt spid="29"/>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62"/>
                                        </p:tgtEl>
                                        <p:attrNameLst>
                                          <p:attrName>style.visibility</p:attrName>
                                        </p:attrNameLst>
                                      </p:cBhvr>
                                      <p:to>
                                        <p:strVal val="visible"/>
                                      </p:to>
                                    </p:set>
                                    <p:animEffect transition="in" filter="wipe(left)">
                                      <p:cBhvr>
                                        <p:cTn id="11" dur="500"/>
                                        <p:tgtEl>
                                          <p:spTgt spid="16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64"/>
                                        </p:tgtEl>
                                        <p:attrNameLst>
                                          <p:attrName>style.visibility</p:attrName>
                                        </p:attrNameLst>
                                      </p:cBhvr>
                                      <p:to>
                                        <p:strVal val="visible"/>
                                      </p:to>
                                    </p:set>
                                    <p:animEffect transition="in" filter="wipe(left)">
                                      <p:cBhvr>
                                        <p:cTn id="14" dur="500"/>
                                        <p:tgtEl>
                                          <p:spTgt spid="164"/>
                                        </p:tgtEl>
                                      </p:cBhvr>
                                    </p:animEffect>
                                  </p:childTnLst>
                                </p:cTn>
                              </p:par>
                            </p:childTnLst>
                          </p:cTn>
                        </p:par>
                        <p:par>
                          <p:cTn id="15" fill="hold">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63"/>
                                        </p:tgtEl>
                                        <p:attrNameLst>
                                          <p:attrName>style.visibility</p:attrName>
                                        </p:attrNameLst>
                                      </p:cBhvr>
                                      <p:to>
                                        <p:strVal val="visible"/>
                                      </p:to>
                                    </p:set>
                                    <p:animEffect transition="in" filter="wipe(left)">
                                      <p:cBhvr>
                                        <p:cTn id="18" dur="500"/>
                                        <p:tgtEl>
                                          <p:spTgt spid="163"/>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wipe(left)">
                                      <p:cBhvr>
                                        <p:cTn id="22" dur="500"/>
                                        <p:tgtEl>
                                          <p:spTgt spid="1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1000"/>
                                        <p:tgtEl>
                                          <p:spTgt spid="43"/>
                                        </p:tgtEl>
                                      </p:cBhvr>
                                    </p:animEffect>
                                  </p:childTnLst>
                                </p:cTn>
                              </p:par>
                            </p:childTnLst>
                          </p:cTn>
                        </p:par>
                        <p:par>
                          <p:cTn id="28" fill="hold">
                            <p:stCondLst>
                              <p:cond delay="1000"/>
                            </p:stCondLst>
                            <p:childTnLst>
                              <p:par>
                                <p:cTn id="29" presetID="22" presetClass="entr" presetSubtype="1"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up)">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62" grpId="0"/>
      <p:bldP spid="163" grpId="0"/>
      <p:bldP spid="164" grpId="0"/>
      <p:bldP spid="43"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37</a:t>
            </a:fld>
            <a:endParaRPr lang="zh-CN" altLang="en-US" dirty="0">
              <a:solidFill>
                <a:srgbClr val="C00000"/>
              </a:solidFill>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郎肯主动土压力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5" name="Text Box 57"/>
          <p:cNvSpPr txBox="1">
            <a:spLocks noChangeArrowheads="1"/>
          </p:cNvSpPr>
          <p:nvPr/>
        </p:nvSpPr>
        <p:spPr bwMode="auto">
          <a:xfrm>
            <a:off x="787870" y="1460399"/>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主动土压力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2272455598"/>
              </p:ext>
            </p:extLst>
          </p:nvPr>
        </p:nvGraphicFramePr>
        <p:xfrm>
          <a:off x="3105150" y="1400175"/>
          <a:ext cx="2471738" cy="509588"/>
        </p:xfrm>
        <a:graphic>
          <a:graphicData uri="http://schemas.openxmlformats.org/presentationml/2006/ole">
            <mc:AlternateContent xmlns:mc="http://schemas.openxmlformats.org/markup-compatibility/2006">
              <mc:Choice xmlns:v="urn:schemas-microsoft-com:vml" Requires="v">
                <p:oleObj spid="_x0000_s1749404" name="Equation" r:id="rId4" imgW="1282680" imgH="266400" progId="Equation.DSMT4">
                  <p:embed/>
                </p:oleObj>
              </mc:Choice>
              <mc:Fallback>
                <p:oleObj name="Equation" r:id="rId4" imgW="1282680" imgH="266400" progId="Equation.DSMT4">
                  <p:embed/>
                  <p:pic>
                    <p:nvPicPr>
                      <p:cNvPr id="0" name=""/>
                      <p:cNvPicPr>
                        <a:picLocks noChangeAspect="1" noChangeArrowheads="1"/>
                      </p:cNvPicPr>
                      <p:nvPr/>
                    </p:nvPicPr>
                    <p:blipFill>
                      <a:blip r:embed="rId5"/>
                      <a:srcRect/>
                      <a:stretch>
                        <a:fillRect/>
                      </a:stretch>
                    </p:blipFill>
                    <p:spPr bwMode="auto">
                      <a:xfrm>
                        <a:off x="3105150" y="1400175"/>
                        <a:ext cx="2471738" cy="509588"/>
                      </a:xfrm>
                      <a:prstGeom prst="rect">
                        <a:avLst/>
                      </a:prstGeom>
                      <a:noFill/>
                      <a:ln>
                        <a:noFill/>
                      </a:ln>
                      <a:effectLst/>
                    </p:spPr>
                  </p:pic>
                </p:oleObj>
              </mc:Fallback>
            </mc:AlternateContent>
          </a:graphicData>
        </a:graphic>
      </p:graphicFrame>
      <p:grpSp>
        <p:nvGrpSpPr>
          <p:cNvPr id="4" name="组合 3"/>
          <p:cNvGrpSpPr/>
          <p:nvPr/>
        </p:nvGrpSpPr>
        <p:grpSpPr>
          <a:xfrm>
            <a:off x="641467" y="2604995"/>
            <a:ext cx="1270109" cy="1806611"/>
            <a:chOff x="641467" y="2604995"/>
            <a:chExt cx="1270109" cy="1806611"/>
          </a:xfrm>
        </p:grpSpPr>
        <p:sp>
          <p:nvSpPr>
            <p:cNvPr id="19" name="任意多边形 18"/>
            <p:cNvSpPr/>
            <p:nvPr/>
          </p:nvSpPr>
          <p:spPr bwMode="auto">
            <a:xfrm>
              <a:off x="733030" y="2611577"/>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8" name="直接连接符 37"/>
            <p:cNvCxnSpPr/>
            <p:nvPr/>
          </p:nvCxnSpPr>
          <p:spPr bwMode="auto">
            <a:xfrm>
              <a:off x="641467" y="4410703"/>
              <a:ext cx="112447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Line 89"/>
            <p:cNvSpPr>
              <a:spLocks noChangeAspect="1" noChangeShapeType="1"/>
            </p:cNvSpPr>
            <p:nvPr/>
          </p:nvSpPr>
          <p:spPr bwMode="auto">
            <a:xfrm rot="5400000">
              <a:off x="743441" y="3505113"/>
              <a:ext cx="180023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4" name="直接连接符 83"/>
            <p:cNvCxnSpPr/>
            <p:nvPr/>
          </p:nvCxnSpPr>
          <p:spPr bwMode="auto">
            <a:xfrm flipH="1">
              <a:off x="1490296" y="2608957"/>
              <a:ext cx="358831"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57"/>
            <p:cNvSpPr txBox="1">
              <a:spLocks noChangeArrowheads="1"/>
            </p:cNvSpPr>
            <p:nvPr/>
          </p:nvSpPr>
          <p:spPr bwMode="auto">
            <a:xfrm>
              <a:off x="1580416" y="3269267"/>
              <a:ext cx="3311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grpSp>
      <p:grpSp>
        <p:nvGrpSpPr>
          <p:cNvPr id="2" name="组合 1"/>
          <p:cNvGrpSpPr/>
          <p:nvPr/>
        </p:nvGrpSpPr>
        <p:grpSpPr>
          <a:xfrm>
            <a:off x="2984046" y="2530618"/>
            <a:ext cx="1220090" cy="586993"/>
            <a:chOff x="2984046" y="2530618"/>
            <a:chExt cx="1220090" cy="586993"/>
          </a:xfrm>
        </p:grpSpPr>
        <p:sp>
          <p:nvSpPr>
            <p:cNvPr id="191" name="Line 89"/>
            <p:cNvSpPr>
              <a:spLocks noChangeAspect="1" noChangeShapeType="1"/>
            </p:cNvSpPr>
            <p:nvPr/>
          </p:nvSpPr>
          <p:spPr bwMode="auto">
            <a:xfrm rot="5400000">
              <a:off x="3335760" y="2859789"/>
              <a:ext cx="50958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192" name="直接连接符 191"/>
            <p:cNvCxnSpPr/>
            <p:nvPr/>
          </p:nvCxnSpPr>
          <p:spPr bwMode="auto">
            <a:xfrm flipH="1">
              <a:off x="2984046" y="3117611"/>
              <a:ext cx="1220090"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Text Box 57"/>
            <p:cNvSpPr txBox="1">
              <a:spLocks noChangeArrowheads="1"/>
            </p:cNvSpPr>
            <p:nvPr/>
          </p:nvSpPr>
          <p:spPr bwMode="auto">
            <a:xfrm>
              <a:off x="3662247" y="2530618"/>
              <a:ext cx="456506"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smtClean="0">
                  <a:solidFill>
                    <a:srgbClr val="000066"/>
                  </a:solidFill>
                  <a:sym typeface="Symbol" pitchFamily="18" charset="2"/>
                </a:rPr>
                <a:t>z</a:t>
              </a:r>
              <a:r>
                <a:rPr lang="en-US" altLang="zh-CN" sz="2400" b="1" baseline="-25000" dirty="0" smtClean="0">
                  <a:solidFill>
                    <a:srgbClr val="000066"/>
                  </a:solidFill>
                  <a:sym typeface="Symbol" pitchFamily="18" charset="2"/>
                </a:rPr>
                <a:t>0</a:t>
              </a:r>
              <a:endParaRPr lang="en-US" altLang="zh-CN" sz="2400" b="1" baseline="-25000" dirty="0">
                <a:solidFill>
                  <a:srgbClr val="000066"/>
                </a:solidFill>
                <a:sym typeface="Symbol" pitchFamily="18" charset="2"/>
              </a:endParaRPr>
            </a:p>
          </p:txBody>
        </p:sp>
        <p:cxnSp>
          <p:nvCxnSpPr>
            <p:cNvPr id="200" name="直接连接符 199"/>
            <p:cNvCxnSpPr/>
            <p:nvPr/>
          </p:nvCxnSpPr>
          <p:spPr bwMode="auto">
            <a:xfrm flipH="1">
              <a:off x="3173894" y="2604995"/>
              <a:ext cx="53429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1" name="AutoShape 5"/>
          <p:cNvSpPr>
            <a:spLocks noChangeArrowheads="1"/>
          </p:cNvSpPr>
          <p:nvPr/>
        </p:nvSpPr>
        <p:spPr bwMode="auto">
          <a:xfrm>
            <a:off x="3942038" y="3431918"/>
            <a:ext cx="418742" cy="333090"/>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pSp>
        <p:nvGrpSpPr>
          <p:cNvPr id="7" name="组合 6"/>
          <p:cNvGrpSpPr/>
          <p:nvPr/>
        </p:nvGrpSpPr>
        <p:grpSpPr>
          <a:xfrm>
            <a:off x="6083644" y="3358261"/>
            <a:ext cx="2914306" cy="1067689"/>
            <a:chOff x="6083644" y="3358261"/>
            <a:chExt cx="2914306" cy="1067689"/>
          </a:xfrm>
        </p:grpSpPr>
        <p:sp>
          <p:nvSpPr>
            <p:cNvPr id="224" name="Text Box 118"/>
            <p:cNvSpPr txBox="1">
              <a:spLocks noChangeArrowheads="1"/>
            </p:cNvSpPr>
            <p:nvPr/>
          </p:nvSpPr>
          <p:spPr bwMode="auto">
            <a:xfrm>
              <a:off x="6197886" y="3922807"/>
              <a:ext cx="77700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a:solidFill>
                    <a:srgbClr val="C00000"/>
                  </a:solidFill>
                  <a:latin typeface="Times New Roman" panose="02020603050405020304" pitchFamily="18" charset="0"/>
                </a:rPr>
                <a:t>z&gt;z</a:t>
              </a:r>
              <a:r>
                <a:rPr kumimoji="1" lang="en-US" altLang="zh-CN" sz="2400" b="1" baseline="-25000" dirty="0">
                  <a:solidFill>
                    <a:srgbClr val="C00000"/>
                  </a:solidFill>
                  <a:latin typeface="Times New Roman" panose="02020603050405020304" pitchFamily="18" charset="0"/>
                </a:rPr>
                <a:t>0</a:t>
              </a:r>
              <a:r>
                <a:rPr kumimoji="1" lang="en-US" altLang="zh-CN" sz="2400" b="1" dirty="0">
                  <a:solidFill>
                    <a:srgbClr val="C00000"/>
                  </a:solidFill>
                  <a:latin typeface="Times New Roman" panose="02020603050405020304" pitchFamily="18" charset="0"/>
                </a:rPr>
                <a:t>  </a:t>
              </a:r>
            </a:p>
          </p:txBody>
        </p:sp>
        <p:graphicFrame>
          <p:nvGraphicFramePr>
            <p:cNvPr id="225" name="Object 119"/>
            <p:cNvGraphicFramePr>
              <a:graphicFrameLocks noChangeAspect="1"/>
            </p:cNvGraphicFramePr>
            <p:nvPr>
              <p:extLst>
                <p:ext uri="{D42A27DB-BD31-4B8C-83A1-F6EECF244321}">
                  <p14:modId xmlns:p14="http://schemas.microsoft.com/office/powerpoint/2010/main" val="1183867337"/>
                </p:ext>
              </p:extLst>
            </p:nvPr>
          </p:nvGraphicFramePr>
          <p:xfrm>
            <a:off x="6991350" y="3906838"/>
            <a:ext cx="2006600" cy="519112"/>
          </p:xfrm>
          <a:graphic>
            <a:graphicData uri="http://schemas.openxmlformats.org/presentationml/2006/ole">
              <mc:AlternateContent xmlns:mc="http://schemas.openxmlformats.org/markup-compatibility/2006">
                <mc:Choice xmlns:v="urn:schemas-microsoft-com:vml" Requires="v">
                  <p:oleObj spid="_x0000_s1749405" name="Equation" r:id="rId6" imgW="1193760" imgH="266400" progId="Equation.DSMT4">
                    <p:embed/>
                  </p:oleObj>
                </mc:Choice>
                <mc:Fallback>
                  <p:oleObj name="Equation" r:id="rId6" imgW="1193760" imgH="266400" progId="Equation.DSMT4">
                    <p:embed/>
                    <p:pic>
                      <p:nvPicPr>
                        <p:cNvPr id="0" name=""/>
                        <p:cNvPicPr>
                          <a:picLocks noChangeAspect="1" noChangeArrowheads="1"/>
                        </p:cNvPicPr>
                        <p:nvPr/>
                      </p:nvPicPr>
                      <p:blipFill>
                        <a:blip r:embed="rId7"/>
                        <a:srcRect/>
                        <a:stretch>
                          <a:fillRect/>
                        </a:stretch>
                      </p:blipFill>
                      <p:spPr bwMode="auto">
                        <a:xfrm>
                          <a:off x="6991350" y="3906838"/>
                          <a:ext cx="2006600" cy="519112"/>
                        </a:xfrm>
                        <a:prstGeom prst="rect">
                          <a:avLst/>
                        </a:prstGeom>
                        <a:noFill/>
                        <a:ln>
                          <a:noFill/>
                        </a:ln>
                        <a:effectLst/>
                        <a:extLst/>
                      </p:spPr>
                    </p:pic>
                  </p:oleObj>
                </mc:Fallback>
              </mc:AlternateContent>
            </a:graphicData>
          </a:graphic>
        </p:graphicFrame>
        <p:sp>
          <p:nvSpPr>
            <p:cNvPr id="226" name="Text Box 121"/>
            <p:cNvSpPr txBox="1">
              <a:spLocks noChangeArrowheads="1"/>
            </p:cNvSpPr>
            <p:nvPr/>
          </p:nvSpPr>
          <p:spPr bwMode="auto">
            <a:xfrm>
              <a:off x="6196733" y="3358261"/>
              <a:ext cx="723178"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C00000"/>
                  </a:solidFill>
                  <a:latin typeface="Times New Roman" panose="02020603050405020304" pitchFamily="18" charset="0"/>
                  <a:ea typeface="楷体_GB2312" pitchFamily="49" charset="-122"/>
                </a:rPr>
                <a:t>z</a:t>
              </a:r>
              <a:r>
                <a:rPr kumimoji="1" lang="en-US" altLang="zh-CN" sz="2400" b="1" dirty="0" smtClean="0">
                  <a:solidFill>
                    <a:srgbClr val="C00000"/>
                  </a:solidFill>
                  <a:latin typeface="Times New Roman" panose="02020603050405020304" pitchFamily="18" charset="0"/>
                  <a:ea typeface="楷体_GB2312" pitchFamily="49" charset="-122"/>
                  <a:sym typeface="Symbol"/>
                </a:rPr>
                <a:t></a:t>
              </a:r>
              <a:r>
                <a:rPr kumimoji="1" lang="en-US" altLang="zh-CN" sz="2400" b="1" dirty="0" smtClean="0">
                  <a:solidFill>
                    <a:srgbClr val="C00000"/>
                  </a:solidFill>
                  <a:latin typeface="Times New Roman" panose="02020603050405020304" pitchFamily="18" charset="0"/>
                  <a:ea typeface="楷体_GB2312" pitchFamily="49" charset="-122"/>
                </a:rPr>
                <a:t>z</a:t>
              </a:r>
              <a:r>
                <a:rPr kumimoji="1" lang="en-US" altLang="zh-CN" sz="2400" b="1" baseline="-25000" dirty="0" smtClean="0">
                  <a:solidFill>
                    <a:srgbClr val="C00000"/>
                  </a:solidFill>
                  <a:latin typeface="Times New Roman" panose="02020603050405020304" pitchFamily="18" charset="0"/>
                  <a:ea typeface="楷体_GB2312" pitchFamily="49" charset="-122"/>
                </a:rPr>
                <a:t>0</a:t>
              </a:r>
              <a:r>
                <a:rPr kumimoji="1" lang="en-US" altLang="zh-CN" sz="2400" b="1" dirty="0" smtClean="0">
                  <a:solidFill>
                    <a:srgbClr val="C00000"/>
                  </a:solidFill>
                  <a:latin typeface="Times New Roman" panose="02020603050405020304" pitchFamily="18" charset="0"/>
                  <a:ea typeface="楷体_GB2312" pitchFamily="49" charset="-122"/>
                </a:rPr>
                <a:t>  </a:t>
              </a:r>
              <a:endParaRPr kumimoji="1" lang="en-US" altLang="zh-CN" sz="2800" b="1" dirty="0">
                <a:solidFill>
                  <a:srgbClr val="C00000"/>
                </a:solidFill>
                <a:latin typeface="Times New Roman" panose="02020603050405020304" pitchFamily="18" charset="0"/>
              </a:endParaRPr>
            </a:p>
          </p:txBody>
        </p:sp>
        <p:graphicFrame>
          <p:nvGraphicFramePr>
            <p:cNvPr id="227" name="Object 122"/>
            <p:cNvGraphicFramePr>
              <a:graphicFrameLocks noChangeAspect="1"/>
            </p:cNvGraphicFramePr>
            <p:nvPr>
              <p:extLst>
                <p:ext uri="{D42A27DB-BD31-4B8C-83A1-F6EECF244321}">
                  <p14:modId xmlns:p14="http://schemas.microsoft.com/office/powerpoint/2010/main" val="3304255351"/>
                </p:ext>
              </p:extLst>
            </p:nvPr>
          </p:nvGraphicFramePr>
          <p:xfrm>
            <a:off x="7005638" y="3403600"/>
            <a:ext cx="665162" cy="449263"/>
          </p:xfrm>
          <a:graphic>
            <a:graphicData uri="http://schemas.openxmlformats.org/presentationml/2006/ole">
              <mc:AlternateContent xmlns:mc="http://schemas.openxmlformats.org/markup-compatibility/2006">
                <mc:Choice xmlns:v="urn:schemas-microsoft-com:vml" Requires="v">
                  <p:oleObj spid="_x0000_s1749406" name="Equation" r:id="rId8" imgW="406080" imgH="215640" progId="Equation.DSMT4">
                    <p:embed/>
                  </p:oleObj>
                </mc:Choice>
                <mc:Fallback>
                  <p:oleObj name="Equation" r:id="rId8" imgW="406080" imgH="215640" progId="Equation.DSMT4">
                    <p:embed/>
                    <p:pic>
                      <p:nvPicPr>
                        <p:cNvPr id="0" name=""/>
                        <p:cNvPicPr>
                          <a:picLocks noChangeAspect="1" noChangeArrowheads="1"/>
                        </p:cNvPicPr>
                        <p:nvPr/>
                      </p:nvPicPr>
                      <p:blipFill>
                        <a:blip r:embed="rId9"/>
                        <a:srcRect/>
                        <a:stretch>
                          <a:fillRect/>
                        </a:stretch>
                      </p:blipFill>
                      <p:spPr bwMode="auto">
                        <a:xfrm>
                          <a:off x="7005638" y="3403600"/>
                          <a:ext cx="665162" cy="449263"/>
                        </a:xfrm>
                        <a:prstGeom prst="rect">
                          <a:avLst/>
                        </a:prstGeom>
                        <a:noFill/>
                        <a:ln>
                          <a:noFill/>
                        </a:ln>
                        <a:effectLst/>
                        <a:extLst/>
                      </p:spPr>
                    </p:pic>
                  </p:oleObj>
                </mc:Fallback>
              </mc:AlternateContent>
            </a:graphicData>
          </a:graphic>
        </p:graphicFrame>
        <p:sp>
          <p:nvSpPr>
            <p:cNvPr id="228" name="AutoShape 125"/>
            <p:cNvSpPr>
              <a:spLocks/>
            </p:cNvSpPr>
            <p:nvPr/>
          </p:nvSpPr>
          <p:spPr bwMode="auto">
            <a:xfrm>
              <a:off x="6083644" y="3631113"/>
              <a:ext cx="125469" cy="673204"/>
            </a:xfrm>
            <a:prstGeom prst="leftBrace">
              <a:avLst>
                <a:gd name="adj1" fmla="val 124740"/>
                <a:gd name="adj2" fmla="val 50000"/>
              </a:avLst>
            </a:prstGeom>
            <a:noFill/>
            <a:ln w="1905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graphicFrame>
        <p:nvGraphicFramePr>
          <p:cNvPr id="229" name="对象 228"/>
          <p:cNvGraphicFramePr>
            <a:graphicFrameLocks noChangeAspect="1"/>
          </p:cNvGraphicFramePr>
          <p:nvPr>
            <p:extLst>
              <p:ext uri="{D42A27DB-BD31-4B8C-83A1-F6EECF244321}">
                <p14:modId xmlns:p14="http://schemas.microsoft.com/office/powerpoint/2010/main" val="3890017126"/>
              </p:ext>
            </p:extLst>
          </p:nvPr>
        </p:nvGraphicFramePr>
        <p:xfrm>
          <a:off x="7027863" y="4462174"/>
          <a:ext cx="1341437" cy="831850"/>
        </p:xfrm>
        <a:graphic>
          <a:graphicData uri="http://schemas.openxmlformats.org/presentationml/2006/ole">
            <mc:AlternateContent xmlns:mc="http://schemas.openxmlformats.org/markup-compatibility/2006">
              <mc:Choice xmlns:v="urn:schemas-microsoft-com:vml" Requires="v">
                <p:oleObj spid="_x0000_s1749407" name="Equation" r:id="rId10" imgW="698400" imgH="431640" progId="Equation.DSMT4">
                  <p:embed/>
                </p:oleObj>
              </mc:Choice>
              <mc:Fallback>
                <p:oleObj name="Equation" r:id="rId10" imgW="698400" imgH="431640" progId="Equation.DSMT4">
                  <p:embed/>
                  <p:pic>
                    <p:nvPicPr>
                      <p:cNvPr id="0" name="Object 116"/>
                      <p:cNvPicPr>
                        <a:picLocks noChangeAspect="1" noChangeArrowheads="1"/>
                      </p:cNvPicPr>
                      <p:nvPr/>
                    </p:nvPicPr>
                    <p:blipFill>
                      <a:blip r:embed="rId11"/>
                      <a:srcRect/>
                      <a:stretch>
                        <a:fillRect/>
                      </a:stretch>
                    </p:blipFill>
                    <p:spPr bwMode="auto">
                      <a:xfrm>
                        <a:off x="7027863" y="4462174"/>
                        <a:ext cx="1341437" cy="831850"/>
                      </a:xfrm>
                      <a:prstGeom prst="rect">
                        <a:avLst/>
                      </a:prstGeom>
                      <a:noFill/>
                      <a:ln>
                        <a:noFill/>
                      </a:ln>
                      <a:effectLst/>
                    </p:spPr>
                  </p:pic>
                </p:oleObj>
              </mc:Fallback>
            </mc:AlternateContent>
          </a:graphicData>
        </a:graphic>
      </p:graphicFrame>
      <p:grpSp>
        <p:nvGrpSpPr>
          <p:cNvPr id="8" name="组合 7"/>
          <p:cNvGrpSpPr/>
          <p:nvPr/>
        </p:nvGrpSpPr>
        <p:grpSpPr>
          <a:xfrm>
            <a:off x="5982963" y="1261196"/>
            <a:ext cx="2467056" cy="1807835"/>
            <a:chOff x="5982963" y="1261196"/>
            <a:chExt cx="2467056" cy="1807835"/>
          </a:xfrm>
        </p:grpSpPr>
        <p:sp>
          <p:nvSpPr>
            <p:cNvPr id="39" name="任意多边形 38"/>
            <p:cNvSpPr/>
            <p:nvPr/>
          </p:nvSpPr>
          <p:spPr bwMode="auto">
            <a:xfrm>
              <a:off x="6969012" y="1267813"/>
              <a:ext cx="1408047" cy="179304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 name="connsiteX0" fmla="*/ 6962 w 878891"/>
                <a:gd name="connsiteY0" fmla="*/ 1879600 h 1879600"/>
                <a:gd name="connsiteX1" fmla="*/ 17 w 878891"/>
                <a:gd name="connsiteY1" fmla="*/ 535362 h 1879600"/>
                <a:gd name="connsiteX2" fmla="*/ 866567 w 878891"/>
                <a:gd name="connsiteY2" fmla="*/ 0 h 1879600"/>
                <a:gd name="connsiteX3" fmla="*/ 878891 w 878891"/>
                <a:gd name="connsiteY3" fmla="*/ 1873250 h 1879600"/>
                <a:gd name="connsiteX4" fmla="*/ 6962 w 878891"/>
                <a:gd name="connsiteY4"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866567 w 878891"/>
                <a:gd name="connsiteY3" fmla="*/ 0 h 1879600"/>
                <a:gd name="connsiteX4" fmla="*/ 878891 w 878891"/>
                <a:gd name="connsiteY4" fmla="*/ 1873250 h 1879600"/>
                <a:gd name="connsiteX5" fmla="*/ 6962 w 878891"/>
                <a:gd name="connsiteY5"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866567 w 878891"/>
                <a:gd name="connsiteY4" fmla="*/ 0 h 1879600"/>
                <a:gd name="connsiteX5" fmla="*/ 878891 w 878891"/>
                <a:gd name="connsiteY5" fmla="*/ 1873250 h 1879600"/>
                <a:gd name="connsiteX6" fmla="*/ 6962 w 878891"/>
                <a:gd name="connsiteY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866567 w 878891"/>
                <a:gd name="connsiteY5" fmla="*/ 0 h 1879600"/>
                <a:gd name="connsiteX6" fmla="*/ 878891 w 878891"/>
                <a:gd name="connsiteY6" fmla="*/ 1873250 h 1879600"/>
                <a:gd name="connsiteX7" fmla="*/ 6962 w 878891"/>
                <a:gd name="connsiteY7"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866567 w 878891"/>
                <a:gd name="connsiteY6" fmla="*/ 0 h 1879600"/>
                <a:gd name="connsiteX7" fmla="*/ 878891 w 878891"/>
                <a:gd name="connsiteY7" fmla="*/ 1873250 h 1879600"/>
                <a:gd name="connsiteX8" fmla="*/ 6962 w 878891"/>
                <a:gd name="connsiteY8"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866567 w 878891"/>
                <a:gd name="connsiteY7" fmla="*/ 0 h 1879600"/>
                <a:gd name="connsiteX8" fmla="*/ 878891 w 878891"/>
                <a:gd name="connsiteY8" fmla="*/ 1873250 h 1879600"/>
                <a:gd name="connsiteX9" fmla="*/ 6962 w 878891"/>
                <a:gd name="connsiteY9"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866567 w 878891"/>
                <a:gd name="connsiteY8" fmla="*/ 0 h 1879600"/>
                <a:gd name="connsiteX9" fmla="*/ 878891 w 878891"/>
                <a:gd name="connsiteY9" fmla="*/ 1873250 h 1879600"/>
                <a:gd name="connsiteX10" fmla="*/ 6962 w 878891"/>
                <a:gd name="connsiteY10"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866567 w 878891"/>
                <a:gd name="connsiteY9" fmla="*/ 0 h 1879600"/>
                <a:gd name="connsiteX10" fmla="*/ 878891 w 878891"/>
                <a:gd name="connsiteY10" fmla="*/ 1873250 h 1879600"/>
                <a:gd name="connsiteX11" fmla="*/ 6962 w 878891"/>
                <a:gd name="connsiteY11"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866567 w 878891"/>
                <a:gd name="connsiteY10" fmla="*/ 0 h 1879600"/>
                <a:gd name="connsiteX11" fmla="*/ 878891 w 878891"/>
                <a:gd name="connsiteY11" fmla="*/ 1873250 h 1879600"/>
                <a:gd name="connsiteX12" fmla="*/ 6962 w 878891"/>
                <a:gd name="connsiteY12"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866567 w 878891"/>
                <a:gd name="connsiteY11" fmla="*/ 0 h 1879600"/>
                <a:gd name="connsiteX12" fmla="*/ 878891 w 878891"/>
                <a:gd name="connsiteY12" fmla="*/ 1873250 h 1879600"/>
                <a:gd name="connsiteX13" fmla="*/ 6962 w 878891"/>
                <a:gd name="connsiteY13"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866567 w 878891"/>
                <a:gd name="connsiteY12" fmla="*/ 0 h 1879600"/>
                <a:gd name="connsiteX13" fmla="*/ 878891 w 878891"/>
                <a:gd name="connsiteY13" fmla="*/ 1873250 h 1879600"/>
                <a:gd name="connsiteX14" fmla="*/ 6962 w 878891"/>
                <a:gd name="connsiteY14"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866567 w 878891"/>
                <a:gd name="connsiteY13" fmla="*/ 0 h 1879600"/>
                <a:gd name="connsiteX14" fmla="*/ 878891 w 878891"/>
                <a:gd name="connsiteY14" fmla="*/ 1873250 h 1879600"/>
                <a:gd name="connsiteX15" fmla="*/ 6962 w 878891"/>
                <a:gd name="connsiteY15"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866567 w 878891"/>
                <a:gd name="connsiteY14" fmla="*/ 0 h 1879600"/>
                <a:gd name="connsiteX15" fmla="*/ 878891 w 878891"/>
                <a:gd name="connsiteY15" fmla="*/ 1873250 h 1879600"/>
                <a:gd name="connsiteX16" fmla="*/ 6962 w 878891"/>
                <a:gd name="connsiteY1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866567 w 878891"/>
                <a:gd name="connsiteY15" fmla="*/ 0 h 1879600"/>
                <a:gd name="connsiteX16" fmla="*/ 878891 w 878891"/>
                <a:gd name="connsiteY16" fmla="*/ 1873250 h 1879600"/>
                <a:gd name="connsiteX17" fmla="*/ 6962 w 878891"/>
                <a:gd name="connsiteY17"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866567 w 878891"/>
                <a:gd name="connsiteY16" fmla="*/ 0 h 1879600"/>
                <a:gd name="connsiteX17" fmla="*/ 878891 w 878891"/>
                <a:gd name="connsiteY17" fmla="*/ 1873250 h 1879600"/>
                <a:gd name="connsiteX18" fmla="*/ 6962 w 878891"/>
                <a:gd name="connsiteY18"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866567 w 878891"/>
                <a:gd name="connsiteY17" fmla="*/ 0 h 1879600"/>
                <a:gd name="connsiteX18" fmla="*/ 878891 w 878891"/>
                <a:gd name="connsiteY18" fmla="*/ 1873250 h 1879600"/>
                <a:gd name="connsiteX19" fmla="*/ 6962 w 878891"/>
                <a:gd name="connsiteY19"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239904 w 878891"/>
                <a:gd name="connsiteY17" fmla="*/ 432276 h 1879600"/>
                <a:gd name="connsiteX18" fmla="*/ 866567 w 878891"/>
                <a:gd name="connsiteY18" fmla="*/ 0 h 1879600"/>
                <a:gd name="connsiteX19" fmla="*/ 878891 w 878891"/>
                <a:gd name="connsiteY19" fmla="*/ 1873250 h 1879600"/>
                <a:gd name="connsiteX20" fmla="*/ 6962 w 878891"/>
                <a:gd name="connsiteY20"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239904 w 878891"/>
                <a:gd name="connsiteY17" fmla="*/ 432276 h 1879600"/>
                <a:gd name="connsiteX18" fmla="*/ 230007 w 878891"/>
                <a:gd name="connsiteY18" fmla="*/ 349488 h 1879600"/>
                <a:gd name="connsiteX19" fmla="*/ 866567 w 878891"/>
                <a:gd name="connsiteY19" fmla="*/ 0 h 1879600"/>
                <a:gd name="connsiteX20" fmla="*/ 878891 w 878891"/>
                <a:gd name="connsiteY20" fmla="*/ 1873250 h 1879600"/>
                <a:gd name="connsiteX21" fmla="*/ 6962 w 878891"/>
                <a:gd name="connsiteY21"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6810 w 878891"/>
                <a:gd name="connsiteY11" fmla="*/ 164595 h 1879600"/>
                <a:gd name="connsiteX12" fmla="*/ 213511 w 878891"/>
                <a:gd name="connsiteY12" fmla="*/ 247384 h 1879600"/>
                <a:gd name="connsiteX13" fmla="*/ 206913 w 878891"/>
                <a:gd name="connsiteY13" fmla="*/ 357768 h 1879600"/>
                <a:gd name="connsiteX14" fmla="*/ 221759 w 878891"/>
                <a:gd name="connsiteY14" fmla="*/ 429517 h 1879600"/>
                <a:gd name="connsiteX15" fmla="*/ 231657 w 878891"/>
                <a:gd name="connsiteY15" fmla="*/ 534382 h 1879600"/>
                <a:gd name="connsiteX16" fmla="*/ 239904 w 878891"/>
                <a:gd name="connsiteY16" fmla="*/ 432276 h 1879600"/>
                <a:gd name="connsiteX17" fmla="*/ 230007 w 878891"/>
                <a:gd name="connsiteY17" fmla="*/ 349488 h 1879600"/>
                <a:gd name="connsiteX18" fmla="*/ 866567 w 878891"/>
                <a:gd name="connsiteY18" fmla="*/ 0 h 1879600"/>
                <a:gd name="connsiteX19" fmla="*/ 878891 w 878891"/>
                <a:gd name="connsiteY19" fmla="*/ 1873250 h 1879600"/>
                <a:gd name="connsiteX20" fmla="*/ 6962 w 878891"/>
                <a:gd name="connsiteY20" fmla="*/ 1879600 h 1879600"/>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213511 w 878891"/>
                <a:gd name="connsiteY12" fmla="*/ 250521 h 1882737"/>
                <a:gd name="connsiteX13" fmla="*/ 206913 w 878891"/>
                <a:gd name="connsiteY13" fmla="*/ 360905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206913 w 878891"/>
                <a:gd name="connsiteY13" fmla="*/ 360905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866567 w 878891"/>
                <a:gd name="connsiteY19" fmla="*/ 3137 h 1882737"/>
                <a:gd name="connsiteX20" fmla="*/ 878891 w 878891"/>
                <a:gd name="connsiteY20" fmla="*/ 1876387 h 1882737"/>
                <a:gd name="connsiteX21" fmla="*/ 6962 w 878891"/>
                <a:gd name="connsiteY21"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866567 w 878891"/>
                <a:gd name="connsiteY20" fmla="*/ 3137 h 1882737"/>
                <a:gd name="connsiteX21" fmla="*/ 878891 w 878891"/>
                <a:gd name="connsiteY21" fmla="*/ 1876387 h 1882737"/>
                <a:gd name="connsiteX22" fmla="*/ 6962 w 878891"/>
                <a:gd name="connsiteY22"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866567 w 878891"/>
                <a:gd name="connsiteY21" fmla="*/ 3137 h 1882737"/>
                <a:gd name="connsiteX22" fmla="*/ 878891 w 878891"/>
                <a:gd name="connsiteY22" fmla="*/ 1876387 h 1882737"/>
                <a:gd name="connsiteX23" fmla="*/ 6962 w 878891"/>
                <a:gd name="connsiteY23"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866567 w 878891"/>
                <a:gd name="connsiteY22" fmla="*/ 3137 h 1882737"/>
                <a:gd name="connsiteX23" fmla="*/ 878891 w 878891"/>
                <a:gd name="connsiteY23" fmla="*/ 1876387 h 1882737"/>
                <a:gd name="connsiteX24" fmla="*/ 6962 w 878891"/>
                <a:gd name="connsiteY24"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866567 w 878891"/>
                <a:gd name="connsiteY23" fmla="*/ 3137 h 1882737"/>
                <a:gd name="connsiteX24" fmla="*/ 878891 w 878891"/>
                <a:gd name="connsiteY24" fmla="*/ 1876387 h 1882737"/>
                <a:gd name="connsiteX25" fmla="*/ 6962 w 878891"/>
                <a:gd name="connsiteY25"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75459 w 878891"/>
                <a:gd name="connsiteY20" fmla="*/ 170481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75459 w 878891"/>
                <a:gd name="connsiteY20" fmla="*/ 170481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17862 w 878891"/>
                <a:gd name="connsiteY4" fmla="*/ 268896 h 1879600"/>
                <a:gd name="connsiteX5" fmla="*/ 18852 w 878891"/>
                <a:gd name="connsiteY5" fmla="*/ 201572 h 1879600"/>
                <a:gd name="connsiteX6" fmla="*/ 21493 w 878891"/>
                <a:gd name="connsiteY6" fmla="*/ 119339 h 1879600"/>
                <a:gd name="connsiteX7" fmla="*/ 22151 w 878891"/>
                <a:gd name="connsiteY7" fmla="*/ 47600 h 1879600"/>
                <a:gd name="connsiteX8" fmla="*/ 28745 w 878891"/>
                <a:gd name="connsiteY8" fmla="*/ 1770 h 1879600"/>
                <a:gd name="connsiteX9" fmla="*/ 139279 w 878891"/>
                <a:gd name="connsiteY9" fmla="*/ 15577 h 1879600"/>
                <a:gd name="connsiteX10" fmla="*/ 216810 w 878891"/>
                <a:gd name="connsiteY10" fmla="*/ 10058 h 1879600"/>
                <a:gd name="connsiteX11" fmla="*/ 302589 w 878891"/>
                <a:gd name="connsiteY11" fmla="*/ 10058 h 1879600"/>
                <a:gd name="connsiteX12" fmla="*/ 383420 w 878891"/>
                <a:gd name="connsiteY12" fmla="*/ 23857 h 1879600"/>
                <a:gd name="connsiteX13" fmla="*/ 442806 w 878891"/>
                <a:gd name="connsiteY13" fmla="*/ 18337 h 1879600"/>
                <a:gd name="connsiteX14" fmla="*/ 436206 w 878891"/>
                <a:gd name="connsiteY14" fmla="*/ 189431 h 1879600"/>
                <a:gd name="connsiteX15" fmla="*/ 431252 w 878891"/>
                <a:gd name="connsiteY15" fmla="*/ 348933 h 1879600"/>
                <a:gd name="connsiteX16" fmla="*/ 414762 w 878891"/>
                <a:gd name="connsiteY16" fmla="*/ 457112 h 1879600"/>
                <a:gd name="connsiteX17" fmla="*/ 427959 w 878891"/>
                <a:gd name="connsiteY17" fmla="*/ 531622 h 1879600"/>
                <a:gd name="connsiteX18" fmla="*/ 449404 w 878891"/>
                <a:gd name="connsiteY18" fmla="*/ 399161 h 1879600"/>
                <a:gd name="connsiteX19" fmla="*/ 472160 w 878891"/>
                <a:gd name="connsiteY19" fmla="*/ 269997 h 1879600"/>
                <a:gd name="connsiteX20" fmla="*/ 475459 w 878891"/>
                <a:gd name="connsiteY20" fmla="*/ 167344 h 1879600"/>
                <a:gd name="connsiteX21" fmla="*/ 482395 w 878891"/>
                <a:gd name="connsiteY21" fmla="*/ 70769 h 1879600"/>
                <a:gd name="connsiteX22" fmla="*/ 487344 w 878891"/>
                <a:gd name="connsiteY22" fmla="*/ 37654 h 1879600"/>
                <a:gd name="connsiteX23" fmla="*/ 533533 w 878891"/>
                <a:gd name="connsiteY23" fmla="*/ 7298 h 1879600"/>
                <a:gd name="connsiteX24" fmla="*/ 866567 w 878891"/>
                <a:gd name="connsiteY24" fmla="*/ 0 h 1879600"/>
                <a:gd name="connsiteX25" fmla="*/ 878891 w 878891"/>
                <a:gd name="connsiteY25" fmla="*/ 1873250 h 1879600"/>
                <a:gd name="connsiteX26" fmla="*/ 6962 w 878891"/>
                <a:gd name="connsiteY2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17862 w 878891"/>
                <a:gd name="connsiteY4" fmla="*/ 268896 h 1879600"/>
                <a:gd name="connsiteX5" fmla="*/ 18852 w 878891"/>
                <a:gd name="connsiteY5" fmla="*/ 201572 h 1879600"/>
                <a:gd name="connsiteX6" fmla="*/ 21493 w 878891"/>
                <a:gd name="connsiteY6" fmla="*/ 119339 h 1879600"/>
                <a:gd name="connsiteX7" fmla="*/ 22151 w 878891"/>
                <a:gd name="connsiteY7" fmla="*/ 47600 h 1879600"/>
                <a:gd name="connsiteX8" fmla="*/ 28745 w 878891"/>
                <a:gd name="connsiteY8" fmla="*/ 1770 h 1879600"/>
                <a:gd name="connsiteX9" fmla="*/ 139279 w 878891"/>
                <a:gd name="connsiteY9" fmla="*/ 15577 h 1879600"/>
                <a:gd name="connsiteX10" fmla="*/ 216810 w 878891"/>
                <a:gd name="connsiteY10" fmla="*/ 18346 h 1879600"/>
                <a:gd name="connsiteX11" fmla="*/ 302589 w 878891"/>
                <a:gd name="connsiteY11" fmla="*/ 10058 h 1879600"/>
                <a:gd name="connsiteX12" fmla="*/ 383420 w 878891"/>
                <a:gd name="connsiteY12" fmla="*/ 23857 h 1879600"/>
                <a:gd name="connsiteX13" fmla="*/ 442806 w 878891"/>
                <a:gd name="connsiteY13" fmla="*/ 18337 h 1879600"/>
                <a:gd name="connsiteX14" fmla="*/ 436206 w 878891"/>
                <a:gd name="connsiteY14" fmla="*/ 189431 h 1879600"/>
                <a:gd name="connsiteX15" fmla="*/ 431252 w 878891"/>
                <a:gd name="connsiteY15" fmla="*/ 348933 h 1879600"/>
                <a:gd name="connsiteX16" fmla="*/ 414762 w 878891"/>
                <a:gd name="connsiteY16" fmla="*/ 457112 h 1879600"/>
                <a:gd name="connsiteX17" fmla="*/ 427959 w 878891"/>
                <a:gd name="connsiteY17" fmla="*/ 531622 h 1879600"/>
                <a:gd name="connsiteX18" fmla="*/ 449404 w 878891"/>
                <a:gd name="connsiteY18" fmla="*/ 399161 h 1879600"/>
                <a:gd name="connsiteX19" fmla="*/ 472160 w 878891"/>
                <a:gd name="connsiteY19" fmla="*/ 269997 h 1879600"/>
                <a:gd name="connsiteX20" fmla="*/ 475459 w 878891"/>
                <a:gd name="connsiteY20" fmla="*/ 167344 h 1879600"/>
                <a:gd name="connsiteX21" fmla="*/ 482395 w 878891"/>
                <a:gd name="connsiteY21" fmla="*/ 70769 h 1879600"/>
                <a:gd name="connsiteX22" fmla="*/ 487344 w 878891"/>
                <a:gd name="connsiteY22" fmla="*/ 37654 h 1879600"/>
                <a:gd name="connsiteX23" fmla="*/ 533533 w 878891"/>
                <a:gd name="connsiteY23" fmla="*/ 7298 h 1879600"/>
                <a:gd name="connsiteX24" fmla="*/ 866567 w 878891"/>
                <a:gd name="connsiteY24" fmla="*/ 0 h 1879600"/>
                <a:gd name="connsiteX25" fmla="*/ 878891 w 878891"/>
                <a:gd name="connsiteY25" fmla="*/ 1873250 h 1879600"/>
                <a:gd name="connsiteX26" fmla="*/ 6962 w 878891"/>
                <a:gd name="connsiteY26" fmla="*/ 1879600 h 1879600"/>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866567 w 878891"/>
                <a:gd name="connsiteY24" fmla="*/ 16735 h 1878101"/>
                <a:gd name="connsiteX25" fmla="*/ 878891 w 878891"/>
                <a:gd name="connsiteY25" fmla="*/ 1871751 h 1878101"/>
                <a:gd name="connsiteX26" fmla="*/ 6962 w 878891"/>
                <a:gd name="connsiteY26"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657631 w 878891"/>
                <a:gd name="connsiteY24" fmla="*/ 20191 h 1878101"/>
                <a:gd name="connsiteX25" fmla="*/ 866567 w 878891"/>
                <a:gd name="connsiteY25" fmla="*/ 16735 h 1878101"/>
                <a:gd name="connsiteX26" fmla="*/ 878891 w 878891"/>
                <a:gd name="connsiteY26" fmla="*/ 1871751 h 1878101"/>
                <a:gd name="connsiteX27" fmla="*/ 6962 w 878891"/>
                <a:gd name="connsiteY27"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74314 w 878891"/>
                <a:gd name="connsiteY21" fmla="*/ 104732 h 1878101"/>
                <a:gd name="connsiteX22" fmla="*/ 482395 w 878891"/>
                <a:gd name="connsiteY22" fmla="*/ 69270 h 1878101"/>
                <a:gd name="connsiteX23" fmla="*/ 487344 w 878891"/>
                <a:gd name="connsiteY23" fmla="*/ 36155 h 1878101"/>
                <a:gd name="connsiteX24" fmla="*/ 533533 w 878891"/>
                <a:gd name="connsiteY24" fmla="*/ 5799 h 1878101"/>
                <a:gd name="connsiteX25" fmla="*/ 657631 w 878891"/>
                <a:gd name="connsiteY25" fmla="*/ 20191 h 1878101"/>
                <a:gd name="connsiteX26" fmla="*/ 866567 w 878891"/>
                <a:gd name="connsiteY26" fmla="*/ 16735 h 1878101"/>
                <a:gd name="connsiteX27" fmla="*/ 878891 w 878891"/>
                <a:gd name="connsiteY27" fmla="*/ 1871751 h 1878101"/>
                <a:gd name="connsiteX28" fmla="*/ 6962 w 878891"/>
                <a:gd name="connsiteY28"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74314 w 878891"/>
                <a:gd name="connsiteY21" fmla="*/ 104732 h 1878101"/>
                <a:gd name="connsiteX22" fmla="*/ 482395 w 878891"/>
                <a:gd name="connsiteY22" fmla="*/ 69270 h 1878101"/>
                <a:gd name="connsiteX23" fmla="*/ 487344 w 878891"/>
                <a:gd name="connsiteY23" fmla="*/ 36155 h 1878101"/>
                <a:gd name="connsiteX24" fmla="*/ 533533 w 878891"/>
                <a:gd name="connsiteY24" fmla="*/ 5799 h 1878101"/>
                <a:gd name="connsiteX25" fmla="*/ 657631 w 878891"/>
                <a:gd name="connsiteY25" fmla="*/ 20191 h 1878101"/>
                <a:gd name="connsiteX26" fmla="*/ 866567 w 878891"/>
                <a:gd name="connsiteY26" fmla="*/ 16735 h 1878101"/>
                <a:gd name="connsiteX27" fmla="*/ 878891 w 878891"/>
                <a:gd name="connsiteY27" fmla="*/ 1871751 h 1878101"/>
                <a:gd name="connsiteX28" fmla="*/ 6962 w 878891"/>
                <a:gd name="connsiteY28"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8745 w 878891"/>
                <a:gd name="connsiteY7" fmla="*/ 271 h 1878101"/>
                <a:gd name="connsiteX8" fmla="*/ 139279 w 878891"/>
                <a:gd name="connsiteY8" fmla="*/ 14078 h 1878101"/>
                <a:gd name="connsiteX9" fmla="*/ 216810 w 878891"/>
                <a:gd name="connsiteY9" fmla="*/ 16847 h 1878101"/>
                <a:gd name="connsiteX10" fmla="*/ 302589 w 878891"/>
                <a:gd name="connsiteY10" fmla="*/ 8559 h 1878101"/>
                <a:gd name="connsiteX11" fmla="*/ 383420 w 878891"/>
                <a:gd name="connsiteY11" fmla="*/ 22358 h 1878101"/>
                <a:gd name="connsiteX12" fmla="*/ 442806 w 878891"/>
                <a:gd name="connsiteY12" fmla="*/ 16838 h 1878101"/>
                <a:gd name="connsiteX13" fmla="*/ 436206 w 878891"/>
                <a:gd name="connsiteY13" fmla="*/ 187932 h 1878101"/>
                <a:gd name="connsiteX14" fmla="*/ 431252 w 878891"/>
                <a:gd name="connsiteY14" fmla="*/ 347434 h 1878101"/>
                <a:gd name="connsiteX15" fmla="*/ 414762 w 878891"/>
                <a:gd name="connsiteY15" fmla="*/ 455613 h 1878101"/>
                <a:gd name="connsiteX16" fmla="*/ 427959 w 878891"/>
                <a:gd name="connsiteY16" fmla="*/ 530123 h 1878101"/>
                <a:gd name="connsiteX17" fmla="*/ 449404 w 878891"/>
                <a:gd name="connsiteY17" fmla="*/ 397662 h 1878101"/>
                <a:gd name="connsiteX18" fmla="*/ 472160 w 878891"/>
                <a:gd name="connsiteY18" fmla="*/ 268498 h 1878101"/>
                <a:gd name="connsiteX19" fmla="*/ 475459 w 878891"/>
                <a:gd name="connsiteY19" fmla="*/ 165845 h 1878101"/>
                <a:gd name="connsiteX20" fmla="*/ 474314 w 878891"/>
                <a:gd name="connsiteY20" fmla="*/ 104732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657631 w 878891"/>
                <a:gd name="connsiteY24" fmla="*/ 20191 h 1878101"/>
                <a:gd name="connsiteX25" fmla="*/ 866567 w 878891"/>
                <a:gd name="connsiteY25" fmla="*/ 16735 h 1878101"/>
                <a:gd name="connsiteX26" fmla="*/ 878891 w 878891"/>
                <a:gd name="connsiteY26" fmla="*/ 1871751 h 1878101"/>
                <a:gd name="connsiteX27" fmla="*/ 6962 w 878891"/>
                <a:gd name="connsiteY27"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21493 w 878891"/>
                <a:gd name="connsiteY5" fmla="*/ 117840 h 1878101"/>
                <a:gd name="connsiteX6" fmla="*/ 28745 w 878891"/>
                <a:gd name="connsiteY6" fmla="*/ 271 h 1878101"/>
                <a:gd name="connsiteX7" fmla="*/ 139279 w 878891"/>
                <a:gd name="connsiteY7" fmla="*/ 14078 h 1878101"/>
                <a:gd name="connsiteX8" fmla="*/ 216810 w 878891"/>
                <a:gd name="connsiteY8" fmla="*/ 16847 h 1878101"/>
                <a:gd name="connsiteX9" fmla="*/ 302589 w 878891"/>
                <a:gd name="connsiteY9" fmla="*/ 8559 h 1878101"/>
                <a:gd name="connsiteX10" fmla="*/ 383420 w 878891"/>
                <a:gd name="connsiteY10" fmla="*/ 22358 h 1878101"/>
                <a:gd name="connsiteX11" fmla="*/ 442806 w 878891"/>
                <a:gd name="connsiteY11" fmla="*/ 16838 h 1878101"/>
                <a:gd name="connsiteX12" fmla="*/ 436206 w 878891"/>
                <a:gd name="connsiteY12" fmla="*/ 187932 h 1878101"/>
                <a:gd name="connsiteX13" fmla="*/ 431252 w 878891"/>
                <a:gd name="connsiteY13" fmla="*/ 347434 h 1878101"/>
                <a:gd name="connsiteX14" fmla="*/ 414762 w 878891"/>
                <a:gd name="connsiteY14" fmla="*/ 455613 h 1878101"/>
                <a:gd name="connsiteX15" fmla="*/ 427959 w 878891"/>
                <a:gd name="connsiteY15" fmla="*/ 530123 h 1878101"/>
                <a:gd name="connsiteX16" fmla="*/ 449404 w 878891"/>
                <a:gd name="connsiteY16" fmla="*/ 397662 h 1878101"/>
                <a:gd name="connsiteX17" fmla="*/ 472160 w 878891"/>
                <a:gd name="connsiteY17" fmla="*/ 268498 h 1878101"/>
                <a:gd name="connsiteX18" fmla="*/ 475459 w 878891"/>
                <a:gd name="connsiteY18" fmla="*/ 165845 h 1878101"/>
                <a:gd name="connsiteX19" fmla="*/ 474314 w 878891"/>
                <a:gd name="connsiteY19" fmla="*/ 104732 h 1878101"/>
                <a:gd name="connsiteX20" fmla="*/ 482395 w 878891"/>
                <a:gd name="connsiteY20" fmla="*/ 69270 h 1878101"/>
                <a:gd name="connsiteX21" fmla="*/ 487344 w 878891"/>
                <a:gd name="connsiteY21" fmla="*/ 36155 h 1878101"/>
                <a:gd name="connsiteX22" fmla="*/ 533533 w 878891"/>
                <a:gd name="connsiteY22" fmla="*/ 5799 h 1878101"/>
                <a:gd name="connsiteX23" fmla="*/ 657631 w 878891"/>
                <a:gd name="connsiteY23" fmla="*/ 20191 h 1878101"/>
                <a:gd name="connsiteX24" fmla="*/ 866567 w 878891"/>
                <a:gd name="connsiteY24" fmla="*/ 16735 h 1878101"/>
                <a:gd name="connsiteX25" fmla="*/ 878891 w 878891"/>
                <a:gd name="connsiteY25" fmla="*/ 1871751 h 1878101"/>
                <a:gd name="connsiteX26" fmla="*/ 6962 w 878891"/>
                <a:gd name="connsiteY26"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7862 w 878891"/>
                <a:gd name="connsiteY3" fmla="*/ 267397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17862 w 878891"/>
                <a:gd name="connsiteY3" fmla="*/ 267397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28960 w 878891"/>
                <a:gd name="connsiteY3" fmla="*/ 262092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28960 w 878891"/>
                <a:gd name="connsiteY3" fmla="*/ 262092 h 1878101"/>
                <a:gd name="connsiteX4" fmla="*/ 32591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2887 h 1872887"/>
                <a:gd name="connsiteX1" fmla="*/ 17 w 878891"/>
                <a:gd name="connsiteY1" fmla="*/ 528649 h 1872887"/>
                <a:gd name="connsiteX2" fmla="*/ 29763 w 878891"/>
                <a:gd name="connsiteY2" fmla="*/ 433519 h 1872887"/>
                <a:gd name="connsiteX3" fmla="*/ 28960 w 878891"/>
                <a:gd name="connsiteY3" fmla="*/ 256878 h 1872887"/>
                <a:gd name="connsiteX4" fmla="*/ 32591 w 878891"/>
                <a:gd name="connsiteY4" fmla="*/ 112626 h 1872887"/>
                <a:gd name="connsiteX5" fmla="*/ 36673 w 878891"/>
                <a:gd name="connsiteY5" fmla="*/ 362 h 1872887"/>
                <a:gd name="connsiteX6" fmla="*/ 139279 w 878891"/>
                <a:gd name="connsiteY6" fmla="*/ 8864 h 1872887"/>
                <a:gd name="connsiteX7" fmla="*/ 216810 w 878891"/>
                <a:gd name="connsiteY7" fmla="*/ 11633 h 1872887"/>
                <a:gd name="connsiteX8" fmla="*/ 302589 w 878891"/>
                <a:gd name="connsiteY8" fmla="*/ 3345 h 1872887"/>
                <a:gd name="connsiteX9" fmla="*/ 383420 w 878891"/>
                <a:gd name="connsiteY9" fmla="*/ 17144 h 1872887"/>
                <a:gd name="connsiteX10" fmla="*/ 442806 w 878891"/>
                <a:gd name="connsiteY10" fmla="*/ 11624 h 1872887"/>
                <a:gd name="connsiteX11" fmla="*/ 436206 w 878891"/>
                <a:gd name="connsiteY11" fmla="*/ 182718 h 1872887"/>
                <a:gd name="connsiteX12" fmla="*/ 431252 w 878891"/>
                <a:gd name="connsiteY12" fmla="*/ 342220 h 1872887"/>
                <a:gd name="connsiteX13" fmla="*/ 414762 w 878891"/>
                <a:gd name="connsiteY13" fmla="*/ 450399 h 1872887"/>
                <a:gd name="connsiteX14" fmla="*/ 427959 w 878891"/>
                <a:gd name="connsiteY14" fmla="*/ 524909 h 1872887"/>
                <a:gd name="connsiteX15" fmla="*/ 449404 w 878891"/>
                <a:gd name="connsiteY15" fmla="*/ 392448 h 1872887"/>
                <a:gd name="connsiteX16" fmla="*/ 472160 w 878891"/>
                <a:gd name="connsiteY16" fmla="*/ 263284 h 1872887"/>
                <a:gd name="connsiteX17" fmla="*/ 475459 w 878891"/>
                <a:gd name="connsiteY17" fmla="*/ 160631 h 1872887"/>
                <a:gd name="connsiteX18" fmla="*/ 474314 w 878891"/>
                <a:gd name="connsiteY18" fmla="*/ 99518 h 1872887"/>
                <a:gd name="connsiteX19" fmla="*/ 482395 w 878891"/>
                <a:gd name="connsiteY19" fmla="*/ 64056 h 1872887"/>
                <a:gd name="connsiteX20" fmla="*/ 487344 w 878891"/>
                <a:gd name="connsiteY20" fmla="*/ 30941 h 1872887"/>
                <a:gd name="connsiteX21" fmla="*/ 533533 w 878891"/>
                <a:gd name="connsiteY21" fmla="*/ 585 h 1872887"/>
                <a:gd name="connsiteX22" fmla="*/ 657631 w 878891"/>
                <a:gd name="connsiteY22" fmla="*/ 14977 h 1872887"/>
                <a:gd name="connsiteX23" fmla="*/ 866567 w 878891"/>
                <a:gd name="connsiteY23" fmla="*/ 11521 h 1872887"/>
                <a:gd name="connsiteX24" fmla="*/ 878891 w 878891"/>
                <a:gd name="connsiteY24" fmla="*/ 1866537 h 1872887"/>
                <a:gd name="connsiteX25" fmla="*/ 6962 w 878891"/>
                <a:gd name="connsiteY25" fmla="*/ 1872887 h 1872887"/>
                <a:gd name="connsiteX0" fmla="*/ 6962 w 878891"/>
                <a:gd name="connsiteY0" fmla="*/ 1872302 h 1872302"/>
                <a:gd name="connsiteX1" fmla="*/ 17 w 878891"/>
                <a:gd name="connsiteY1" fmla="*/ 528064 h 1872302"/>
                <a:gd name="connsiteX2" fmla="*/ 29763 w 878891"/>
                <a:gd name="connsiteY2" fmla="*/ 432934 h 1872302"/>
                <a:gd name="connsiteX3" fmla="*/ 28960 w 878891"/>
                <a:gd name="connsiteY3" fmla="*/ 256293 h 1872302"/>
                <a:gd name="connsiteX4" fmla="*/ 32591 w 878891"/>
                <a:gd name="connsiteY4" fmla="*/ 112041 h 1872302"/>
                <a:gd name="connsiteX5" fmla="*/ 49357 w 878891"/>
                <a:gd name="connsiteY5" fmla="*/ 7734 h 1872302"/>
                <a:gd name="connsiteX6" fmla="*/ 139279 w 878891"/>
                <a:gd name="connsiteY6" fmla="*/ 8279 h 1872302"/>
                <a:gd name="connsiteX7" fmla="*/ 216810 w 878891"/>
                <a:gd name="connsiteY7" fmla="*/ 11048 h 1872302"/>
                <a:gd name="connsiteX8" fmla="*/ 302589 w 878891"/>
                <a:gd name="connsiteY8" fmla="*/ 2760 h 1872302"/>
                <a:gd name="connsiteX9" fmla="*/ 383420 w 878891"/>
                <a:gd name="connsiteY9" fmla="*/ 16559 h 1872302"/>
                <a:gd name="connsiteX10" fmla="*/ 442806 w 878891"/>
                <a:gd name="connsiteY10" fmla="*/ 11039 h 1872302"/>
                <a:gd name="connsiteX11" fmla="*/ 436206 w 878891"/>
                <a:gd name="connsiteY11" fmla="*/ 182133 h 1872302"/>
                <a:gd name="connsiteX12" fmla="*/ 431252 w 878891"/>
                <a:gd name="connsiteY12" fmla="*/ 341635 h 1872302"/>
                <a:gd name="connsiteX13" fmla="*/ 414762 w 878891"/>
                <a:gd name="connsiteY13" fmla="*/ 449814 h 1872302"/>
                <a:gd name="connsiteX14" fmla="*/ 427959 w 878891"/>
                <a:gd name="connsiteY14" fmla="*/ 524324 h 1872302"/>
                <a:gd name="connsiteX15" fmla="*/ 449404 w 878891"/>
                <a:gd name="connsiteY15" fmla="*/ 391863 h 1872302"/>
                <a:gd name="connsiteX16" fmla="*/ 472160 w 878891"/>
                <a:gd name="connsiteY16" fmla="*/ 262699 h 1872302"/>
                <a:gd name="connsiteX17" fmla="*/ 475459 w 878891"/>
                <a:gd name="connsiteY17" fmla="*/ 160046 h 1872302"/>
                <a:gd name="connsiteX18" fmla="*/ 474314 w 878891"/>
                <a:gd name="connsiteY18" fmla="*/ 98933 h 1872302"/>
                <a:gd name="connsiteX19" fmla="*/ 482395 w 878891"/>
                <a:gd name="connsiteY19" fmla="*/ 63471 h 1872302"/>
                <a:gd name="connsiteX20" fmla="*/ 487344 w 878891"/>
                <a:gd name="connsiteY20" fmla="*/ 30356 h 1872302"/>
                <a:gd name="connsiteX21" fmla="*/ 533533 w 878891"/>
                <a:gd name="connsiteY21" fmla="*/ 0 h 1872302"/>
                <a:gd name="connsiteX22" fmla="*/ 657631 w 878891"/>
                <a:gd name="connsiteY22" fmla="*/ 14392 h 1872302"/>
                <a:gd name="connsiteX23" fmla="*/ 866567 w 878891"/>
                <a:gd name="connsiteY23" fmla="*/ 10936 h 1872302"/>
                <a:gd name="connsiteX24" fmla="*/ 878891 w 878891"/>
                <a:gd name="connsiteY24" fmla="*/ 1865952 h 1872302"/>
                <a:gd name="connsiteX25" fmla="*/ 6962 w 878891"/>
                <a:gd name="connsiteY25" fmla="*/ 1872302 h 1872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78891" h="1872302">
                  <a:moveTo>
                    <a:pt x="6962" y="1872302"/>
                  </a:moveTo>
                  <a:cubicBezTo>
                    <a:pt x="7396" y="1245769"/>
                    <a:pt x="-417" y="1154597"/>
                    <a:pt x="17" y="528064"/>
                  </a:cubicBezTo>
                  <a:cubicBezTo>
                    <a:pt x="16745" y="516699"/>
                    <a:pt x="13035" y="444299"/>
                    <a:pt x="29763" y="432934"/>
                  </a:cubicBezTo>
                  <a:cubicBezTo>
                    <a:pt x="32737" y="388523"/>
                    <a:pt x="27696" y="308449"/>
                    <a:pt x="28960" y="256293"/>
                  </a:cubicBezTo>
                  <a:cubicBezTo>
                    <a:pt x="30170" y="206441"/>
                    <a:pt x="31381" y="161893"/>
                    <a:pt x="32591" y="112041"/>
                  </a:cubicBezTo>
                  <a:cubicBezTo>
                    <a:pt x="34240" y="78741"/>
                    <a:pt x="29726" y="25028"/>
                    <a:pt x="49357" y="7734"/>
                  </a:cubicBezTo>
                  <a:cubicBezTo>
                    <a:pt x="85098" y="4974"/>
                    <a:pt x="103538" y="11039"/>
                    <a:pt x="139279" y="8279"/>
                  </a:cubicBezTo>
                  <a:lnTo>
                    <a:pt x="216810" y="11048"/>
                  </a:lnTo>
                  <a:lnTo>
                    <a:pt x="302589" y="2760"/>
                  </a:lnTo>
                  <a:lnTo>
                    <a:pt x="383420" y="16559"/>
                  </a:lnTo>
                  <a:cubicBezTo>
                    <a:pt x="404315" y="6440"/>
                    <a:pt x="421911" y="21158"/>
                    <a:pt x="442806" y="11039"/>
                  </a:cubicBezTo>
                  <a:lnTo>
                    <a:pt x="436206" y="182133"/>
                  </a:lnTo>
                  <a:cubicBezTo>
                    <a:pt x="436206" y="236405"/>
                    <a:pt x="431252" y="287363"/>
                    <a:pt x="431252" y="341635"/>
                  </a:cubicBezTo>
                  <a:lnTo>
                    <a:pt x="414762" y="449814"/>
                  </a:lnTo>
                  <a:cubicBezTo>
                    <a:pt x="425210" y="442455"/>
                    <a:pt x="417511" y="531683"/>
                    <a:pt x="427959" y="524324"/>
                  </a:cubicBezTo>
                  <a:cubicBezTo>
                    <a:pt x="442805" y="507766"/>
                    <a:pt x="434558" y="408421"/>
                    <a:pt x="449404" y="391863"/>
                  </a:cubicBezTo>
                  <a:lnTo>
                    <a:pt x="472160" y="262699"/>
                  </a:lnTo>
                  <a:lnTo>
                    <a:pt x="475459" y="160046"/>
                  </a:lnTo>
                  <a:cubicBezTo>
                    <a:pt x="476729" y="139675"/>
                    <a:pt x="473044" y="119304"/>
                    <a:pt x="474314" y="98933"/>
                  </a:cubicBezTo>
                  <a:lnTo>
                    <a:pt x="482395" y="63471"/>
                  </a:lnTo>
                  <a:lnTo>
                    <a:pt x="487344" y="30356"/>
                  </a:lnTo>
                  <a:cubicBezTo>
                    <a:pt x="502740" y="28516"/>
                    <a:pt x="518137" y="1840"/>
                    <a:pt x="533533" y="0"/>
                  </a:cubicBezTo>
                  <a:cubicBezTo>
                    <a:pt x="576220" y="2034"/>
                    <a:pt x="614944" y="12358"/>
                    <a:pt x="657631" y="14392"/>
                  </a:cubicBezTo>
                  <a:lnTo>
                    <a:pt x="866567" y="10936"/>
                  </a:lnTo>
                  <a:lnTo>
                    <a:pt x="878891" y="1865952"/>
                  </a:lnTo>
                  <a:lnTo>
                    <a:pt x="6962" y="1872302"/>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0" name="任意多边形 39"/>
            <p:cNvSpPr/>
            <p:nvPr/>
          </p:nvSpPr>
          <p:spPr bwMode="auto">
            <a:xfrm>
              <a:off x="6273692" y="1261196"/>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2" name="Line 95"/>
            <p:cNvSpPr>
              <a:spLocks noChangeAspect="1" noChangeShapeType="1"/>
            </p:cNvSpPr>
            <p:nvPr/>
          </p:nvSpPr>
          <p:spPr bwMode="auto">
            <a:xfrm flipH="1">
              <a:off x="6988527" y="1768957"/>
              <a:ext cx="681634" cy="1294620"/>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102"/>
            <p:cNvSpPr>
              <a:spLocks noChangeAspect="1" noChangeShapeType="1"/>
            </p:cNvSpPr>
            <p:nvPr/>
          </p:nvSpPr>
          <p:spPr bwMode="auto">
            <a:xfrm>
              <a:off x="6981880" y="2659439"/>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95"/>
            <p:cNvSpPr>
              <a:spLocks noChangeAspect="1" noChangeShapeType="1"/>
            </p:cNvSpPr>
            <p:nvPr/>
          </p:nvSpPr>
          <p:spPr bwMode="auto">
            <a:xfrm flipH="1">
              <a:off x="6976534" y="1780519"/>
              <a:ext cx="464187" cy="88162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95"/>
            <p:cNvSpPr>
              <a:spLocks noChangeAspect="1" noChangeShapeType="1"/>
            </p:cNvSpPr>
            <p:nvPr/>
          </p:nvSpPr>
          <p:spPr bwMode="auto">
            <a:xfrm flipH="1">
              <a:off x="6968872" y="1769948"/>
              <a:ext cx="258394" cy="490764"/>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95"/>
            <p:cNvSpPr>
              <a:spLocks noChangeAspect="1" noChangeShapeType="1"/>
            </p:cNvSpPr>
            <p:nvPr/>
          </p:nvSpPr>
          <p:spPr bwMode="auto">
            <a:xfrm flipH="1">
              <a:off x="6963913" y="1769948"/>
              <a:ext cx="48459" cy="9203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102"/>
            <p:cNvSpPr>
              <a:spLocks noChangeAspect="1" noChangeShapeType="1"/>
            </p:cNvSpPr>
            <p:nvPr/>
          </p:nvSpPr>
          <p:spPr bwMode="auto">
            <a:xfrm>
              <a:off x="6984584" y="2261751"/>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102"/>
            <p:cNvSpPr>
              <a:spLocks noChangeAspect="1" noChangeShapeType="1"/>
            </p:cNvSpPr>
            <p:nvPr/>
          </p:nvSpPr>
          <p:spPr bwMode="auto">
            <a:xfrm>
              <a:off x="6983500" y="1854320"/>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102"/>
            <p:cNvSpPr>
              <a:spLocks noChangeAspect="1" noChangeShapeType="1"/>
            </p:cNvSpPr>
            <p:nvPr/>
          </p:nvSpPr>
          <p:spPr bwMode="auto">
            <a:xfrm>
              <a:off x="7158847" y="1791215"/>
              <a:ext cx="248206" cy="471764"/>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102"/>
            <p:cNvSpPr>
              <a:spLocks noChangeAspect="1" noChangeShapeType="1"/>
            </p:cNvSpPr>
            <p:nvPr/>
          </p:nvSpPr>
          <p:spPr bwMode="auto">
            <a:xfrm>
              <a:off x="7351011" y="1775234"/>
              <a:ext cx="154918" cy="29445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102"/>
            <p:cNvSpPr>
              <a:spLocks noChangeAspect="1" noChangeShapeType="1"/>
            </p:cNvSpPr>
            <p:nvPr/>
          </p:nvSpPr>
          <p:spPr bwMode="auto">
            <a:xfrm>
              <a:off x="7552036" y="1775233"/>
              <a:ext cx="55972" cy="10638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58" name="直接连接符 57"/>
            <p:cNvCxnSpPr/>
            <p:nvPr/>
          </p:nvCxnSpPr>
          <p:spPr bwMode="auto">
            <a:xfrm>
              <a:off x="5982963" y="3069031"/>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3" name="任意多边形 222"/>
            <p:cNvSpPr/>
            <p:nvPr/>
          </p:nvSpPr>
          <p:spPr bwMode="auto">
            <a:xfrm>
              <a:off x="6973853" y="1270463"/>
              <a:ext cx="1355743" cy="502127"/>
            </a:xfrm>
            <a:custGeom>
              <a:avLst/>
              <a:gdLst>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2989 w 1355743"/>
                <a:gd name="connsiteY11" fmla="*/ 34356 h 504770"/>
                <a:gd name="connsiteX12" fmla="*/ 335632 w 1355743"/>
                <a:gd name="connsiteY12" fmla="*/ 95140 h 504770"/>
                <a:gd name="connsiteX13" fmla="*/ 325061 w 1355743"/>
                <a:gd name="connsiteY13" fmla="*/ 174423 h 504770"/>
                <a:gd name="connsiteX14" fmla="*/ 325061 w 1355743"/>
                <a:gd name="connsiteY14" fmla="*/ 258992 h 504770"/>
                <a:gd name="connsiteX15" fmla="*/ 311847 w 1355743"/>
                <a:gd name="connsiteY15" fmla="*/ 325061 h 504770"/>
                <a:gd name="connsiteX16" fmla="*/ 319775 w 1355743"/>
                <a:gd name="connsiteY16" fmla="*/ 393773 h 504770"/>
                <a:gd name="connsiteX17" fmla="*/ 338275 w 1355743"/>
                <a:gd name="connsiteY17" fmla="*/ 457200 h 504770"/>
                <a:gd name="connsiteX18" fmla="*/ 343560 w 1355743"/>
                <a:gd name="connsiteY18" fmla="*/ 504770 h 504770"/>
                <a:gd name="connsiteX19" fmla="*/ 356774 w 1355743"/>
                <a:gd name="connsiteY19" fmla="*/ 441343 h 504770"/>
                <a:gd name="connsiteX20" fmla="*/ 354131 w 1355743"/>
                <a:gd name="connsiteY20" fmla="*/ 364703 h 504770"/>
                <a:gd name="connsiteX21" fmla="*/ 351489 w 1355743"/>
                <a:gd name="connsiteY21" fmla="*/ 266920 h 504770"/>
                <a:gd name="connsiteX22" fmla="*/ 367345 w 1355743"/>
                <a:gd name="connsiteY22" fmla="*/ 184994 h 504770"/>
                <a:gd name="connsiteX23" fmla="*/ 369988 w 1355743"/>
                <a:gd name="connsiteY23" fmla="*/ 103068 h 504770"/>
                <a:gd name="connsiteX24" fmla="*/ 380559 w 1355743"/>
                <a:gd name="connsiteY24" fmla="*/ 44927 h 504770"/>
                <a:gd name="connsiteX25" fmla="*/ 401701 w 1355743"/>
                <a:gd name="connsiteY25" fmla="*/ 7928 h 504770"/>
                <a:gd name="connsiteX26" fmla="*/ 457200 w 1355743"/>
                <a:gd name="connsiteY26" fmla="*/ 2642 h 504770"/>
                <a:gd name="connsiteX27" fmla="*/ 602552 w 1355743"/>
                <a:gd name="connsiteY27" fmla="*/ 10571 h 504770"/>
                <a:gd name="connsiteX28" fmla="*/ 692407 w 1355743"/>
                <a:gd name="connsiteY28" fmla="*/ 7928 h 504770"/>
                <a:gd name="connsiteX29" fmla="*/ 710906 w 1355743"/>
                <a:gd name="connsiteY29" fmla="*/ 5285 h 504770"/>
                <a:gd name="connsiteX30" fmla="*/ 689764 w 1355743"/>
                <a:gd name="connsiteY30" fmla="*/ 105711 h 504770"/>
                <a:gd name="connsiteX31" fmla="*/ 684478 w 1355743"/>
                <a:gd name="connsiteY31" fmla="*/ 251063 h 504770"/>
                <a:gd name="connsiteX32" fmla="*/ 676550 w 1355743"/>
                <a:gd name="connsiteY32" fmla="*/ 356774 h 504770"/>
                <a:gd name="connsiteX33" fmla="*/ 665979 w 1355743"/>
                <a:gd name="connsiteY33" fmla="*/ 454557 h 504770"/>
                <a:gd name="connsiteX34" fmla="*/ 689764 w 1355743"/>
                <a:gd name="connsiteY34" fmla="*/ 502127 h 504770"/>
                <a:gd name="connsiteX35" fmla="*/ 700335 w 1355743"/>
                <a:gd name="connsiteY35" fmla="*/ 420201 h 504770"/>
                <a:gd name="connsiteX36" fmla="*/ 732048 w 1355743"/>
                <a:gd name="connsiteY36" fmla="*/ 309204 h 504770"/>
                <a:gd name="connsiteX37" fmla="*/ 750548 w 1355743"/>
                <a:gd name="connsiteY37" fmla="*/ 190279 h 504770"/>
                <a:gd name="connsiteX38" fmla="*/ 753190 w 1355743"/>
                <a:gd name="connsiteY38" fmla="*/ 87211 h 504770"/>
                <a:gd name="connsiteX39" fmla="*/ 766404 w 1355743"/>
                <a:gd name="connsiteY39" fmla="*/ 36998 h 504770"/>
                <a:gd name="connsiteX40" fmla="*/ 829831 w 1355743"/>
                <a:gd name="connsiteY40" fmla="*/ 2642 h 504770"/>
                <a:gd name="connsiteX41" fmla="*/ 1020111 w 1355743"/>
                <a:gd name="connsiteY41" fmla="*/ 10571 h 504770"/>
                <a:gd name="connsiteX42" fmla="*/ 1183963 w 1355743"/>
                <a:gd name="connsiteY42" fmla="*/ 7928 h 504770"/>
                <a:gd name="connsiteX43" fmla="*/ 1355743 w 1355743"/>
                <a:gd name="connsiteY43"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2989 w 1355743"/>
                <a:gd name="connsiteY11" fmla="*/ 34356 h 504770"/>
                <a:gd name="connsiteX12" fmla="*/ 325061 w 1355743"/>
                <a:gd name="connsiteY12" fmla="*/ 174423 h 504770"/>
                <a:gd name="connsiteX13" fmla="*/ 325061 w 1355743"/>
                <a:gd name="connsiteY13" fmla="*/ 258992 h 504770"/>
                <a:gd name="connsiteX14" fmla="*/ 311847 w 1355743"/>
                <a:gd name="connsiteY14" fmla="*/ 325061 h 504770"/>
                <a:gd name="connsiteX15" fmla="*/ 319775 w 1355743"/>
                <a:gd name="connsiteY15" fmla="*/ 393773 h 504770"/>
                <a:gd name="connsiteX16" fmla="*/ 338275 w 1355743"/>
                <a:gd name="connsiteY16" fmla="*/ 457200 h 504770"/>
                <a:gd name="connsiteX17" fmla="*/ 343560 w 1355743"/>
                <a:gd name="connsiteY17" fmla="*/ 504770 h 504770"/>
                <a:gd name="connsiteX18" fmla="*/ 356774 w 1355743"/>
                <a:gd name="connsiteY18" fmla="*/ 441343 h 504770"/>
                <a:gd name="connsiteX19" fmla="*/ 354131 w 1355743"/>
                <a:gd name="connsiteY19" fmla="*/ 364703 h 504770"/>
                <a:gd name="connsiteX20" fmla="*/ 351489 w 1355743"/>
                <a:gd name="connsiteY20" fmla="*/ 266920 h 504770"/>
                <a:gd name="connsiteX21" fmla="*/ 367345 w 1355743"/>
                <a:gd name="connsiteY21" fmla="*/ 184994 h 504770"/>
                <a:gd name="connsiteX22" fmla="*/ 369988 w 1355743"/>
                <a:gd name="connsiteY22" fmla="*/ 103068 h 504770"/>
                <a:gd name="connsiteX23" fmla="*/ 380559 w 1355743"/>
                <a:gd name="connsiteY23" fmla="*/ 44927 h 504770"/>
                <a:gd name="connsiteX24" fmla="*/ 401701 w 1355743"/>
                <a:gd name="connsiteY24" fmla="*/ 7928 h 504770"/>
                <a:gd name="connsiteX25" fmla="*/ 457200 w 1355743"/>
                <a:gd name="connsiteY25" fmla="*/ 2642 h 504770"/>
                <a:gd name="connsiteX26" fmla="*/ 602552 w 1355743"/>
                <a:gd name="connsiteY26" fmla="*/ 10571 h 504770"/>
                <a:gd name="connsiteX27" fmla="*/ 692407 w 1355743"/>
                <a:gd name="connsiteY27" fmla="*/ 7928 h 504770"/>
                <a:gd name="connsiteX28" fmla="*/ 710906 w 1355743"/>
                <a:gd name="connsiteY28" fmla="*/ 5285 h 504770"/>
                <a:gd name="connsiteX29" fmla="*/ 689764 w 1355743"/>
                <a:gd name="connsiteY29" fmla="*/ 105711 h 504770"/>
                <a:gd name="connsiteX30" fmla="*/ 684478 w 1355743"/>
                <a:gd name="connsiteY30" fmla="*/ 251063 h 504770"/>
                <a:gd name="connsiteX31" fmla="*/ 676550 w 1355743"/>
                <a:gd name="connsiteY31" fmla="*/ 356774 h 504770"/>
                <a:gd name="connsiteX32" fmla="*/ 665979 w 1355743"/>
                <a:gd name="connsiteY32" fmla="*/ 454557 h 504770"/>
                <a:gd name="connsiteX33" fmla="*/ 689764 w 1355743"/>
                <a:gd name="connsiteY33" fmla="*/ 502127 h 504770"/>
                <a:gd name="connsiteX34" fmla="*/ 700335 w 1355743"/>
                <a:gd name="connsiteY34" fmla="*/ 420201 h 504770"/>
                <a:gd name="connsiteX35" fmla="*/ 732048 w 1355743"/>
                <a:gd name="connsiteY35" fmla="*/ 309204 h 504770"/>
                <a:gd name="connsiteX36" fmla="*/ 750548 w 1355743"/>
                <a:gd name="connsiteY36" fmla="*/ 190279 h 504770"/>
                <a:gd name="connsiteX37" fmla="*/ 753190 w 1355743"/>
                <a:gd name="connsiteY37" fmla="*/ 87211 h 504770"/>
                <a:gd name="connsiteX38" fmla="*/ 766404 w 1355743"/>
                <a:gd name="connsiteY38" fmla="*/ 36998 h 504770"/>
                <a:gd name="connsiteX39" fmla="*/ 829831 w 1355743"/>
                <a:gd name="connsiteY39" fmla="*/ 2642 h 504770"/>
                <a:gd name="connsiteX40" fmla="*/ 1020111 w 1355743"/>
                <a:gd name="connsiteY40" fmla="*/ 10571 h 504770"/>
                <a:gd name="connsiteX41" fmla="*/ 1183963 w 1355743"/>
                <a:gd name="connsiteY41" fmla="*/ 7928 h 504770"/>
                <a:gd name="connsiteX42" fmla="*/ 1355743 w 1355743"/>
                <a:gd name="connsiteY42"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369988 w 1355743"/>
                <a:gd name="connsiteY21" fmla="*/ 103068 h 504770"/>
                <a:gd name="connsiteX22" fmla="*/ 380559 w 1355743"/>
                <a:gd name="connsiteY22" fmla="*/ 44927 h 504770"/>
                <a:gd name="connsiteX23" fmla="*/ 401701 w 1355743"/>
                <a:gd name="connsiteY23" fmla="*/ 7928 h 504770"/>
                <a:gd name="connsiteX24" fmla="*/ 457200 w 1355743"/>
                <a:gd name="connsiteY24" fmla="*/ 2642 h 504770"/>
                <a:gd name="connsiteX25" fmla="*/ 602552 w 1355743"/>
                <a:gd name="connsiteY25" fmla="*/ 10571 h 504770"/>
                <a:gd name="connsiteX26" fmla="*/ 692407 w 1355743"/>
                <a:gd name="connsiteY26" fmla="*/ 7928 h 504770"/>
                <a:gd name="connsiteX27" fmla="*/ 710906 w 1355743"/>
                <a:gd name="connsiteY27" fmla="*/ 5285 h 504770"/>
                <a:gd name="connsiteX28" fmla="*/ 689764 w 1355743"/>
                <a:gd name="connsiteY28" fmla="*/ 105711 h 504770"/>
                <a:gd name="connsiteX29" fmla="*/ 684478 w 1355743"/>
                <a:gd name="connsiteY29" fmla="*/ 251063 h 504770"/>
                <a:gd name="connsiteX30" fmla="*/ 676550 w 1355743"/>
                <a:gd name="connsiteY30" fmla="*/ 356774 h 504770"/>
                <a:gd name="connsiteX31" fmla="*/ 665979 w 1355743"/>
                <a:gd name="connsiteY31" fmla="*/ 454557 h 504770"/>
                <a:gd name="connsiteX32" fmla="*/ 689764 w 1355743"/>
                <a:gd name="connsiteY32" fmla="*/ 502127 h 504770"/>
                <a:gd name="connsiteX33" fmla="*/ 700335 w 1355743"/>
                <a:gd name="connsiteY33" fmla="*/ 420201 h 504770"/>
                <a:gd name="connsiteX34" fmla="*/ 732048 w 1355743"/>
                <a:gd name="connsiteY34" fmla="*/ 309204 h 504770"/>
                <a:gd name="connsiteX35" fmla="*/ 750548 w 1355743"/>
                <a:gd name="connsiteY35" fmla="*/ 190279 h 504770"/>
                <a:gd name="connsiteX36" fmla="*/ 753190 w 1355743"/>
                <a:gd name="connsiteY36" fmla="*/ 87211 h 504770"/>
                <a:gd name="connsiteX37" fmla="*/ 766404 w 1355743"/>
                <a:gd name="connsiteY37" fmla="*/ 36998 h 504770"/>
                <a:gd name="connsiteX38" fmla="*/ 829831 w 1355743"/>
                <a:gd name="connsiteY38" fmla="*/ 2642 h 504770"/>
                <a:gd name="connsiteX39" fmla="*/ 1020111 w 1355743"/>
                <a:gd name="connsiteY39" fmla="*/ 10571 h 504770"/>
                <a:gd name="connsiteX40" fmla="*/ 1183963 w 1355743"/>
                <a:gd name="connsiteY40" fmla="*/ 7928 h 504770"/>
                <a:gd name="connsiteX41" fmla="*/ 1355743 w 1355743"/>
                <a:gd name="connsiteY41"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380559 w 1355743"/>
                <a:gd name="connsiteY21" fmla="*/ 44927 h 504770"/>
                <a:gd name="connsiteX22" fmla="*/ 401701 w 1355743"/>
                <a:gd name="connsiteY22" fmla="*/ 7928 h 504770"/>
                <a:gd name="connsiteX23" fmla="*/ 457200 w 1355743"/>
                <a:gd name="connsiteY23" fmla="*/ 2642 h 504770"/>
                <a:gd name="connsiteX24" fmla="*/ 602552 w 1355743"/>
                <a:gd name="connsiteY24" fmla="*/ 10571 h 504770"/>
                <a:gd name="connsiteX25" fmla="*/ 692407 w 1355743"/>
                <a:gd name="connsiteY25" fmla="*/ 7928 h 504770"/>
                <a:gd name="connsiteX26" fmla="*/ 710906 w 1355743"/>
                <a:gd name="connsiteY26" fmla="*/ 5285 h 504770"/>
                <a:gd name="connsiteX27" fmla="*/ 689764 w 1355743"/>
                <a:gd name="connsiteY27" fmla="*/ 105711 h 504770"/>
                <a:gd name="connsiteX28" fmla="*/ 684478 w 1355743"/>
                <a:gd name="connsiteY28" fmla="*/ 251063 h 504770"/>
                <a:gd name="connsiteX29" fmla="*/ 676550 w 1355743"/>
                <a:gd name="connsiteY29" fmla="*/ 356774 h 504770"/>
                <a:gd name="connsiteX30" fmla="*/ 665979 w 1355743"/>
                <a:gd name="connsiteY30" fmla="*/ 454557 h 504770"/>
                <a:gd name="connsiteX31" fmla="*/ 689764 w 1355743"/>
                <a:gd name="connsiteY31" fmla="*/ 502127 h 504770"/>
                <a:gd name="connsiteX32" fmla="*/ 700335 w 1355743"/>
                <a:gd name="connsiteY32" fmla="*/ 420201 h 504770"/>
                <a:gd name="connsiteX33" fmla="*/ 732048 w 1355743"/>
                <a:gd name="connsiteY33" fmla="*/ 309204 h 504770"/>
                <a:gd name="connsiteX34" fmla="*/ 750548 w 1355743"/>
                <a:gd name="connsiteY34" fmla="*/ 190279 h 504770"/>
                <a:gd name="connsiteX35" fmla="*/ 753190 w 1355743"/>
                <a:gd name="connsiteY35" fmla="*/ 87211 h 504770"/>
                <a:gd name="connsiteX36" fmla="*/ 766404 w 1355743"/>
                <a:gd name="connsiteY36" fmla="*/ 36998 h 504770"/>
                <a:gd name="connsiteX37" fmla="*/ 829831 w 1355743"/>
                <a:gd name="connsiteY37" fmla="*/ 2642 h 504770"/>
                <a:gd name="connsiteX38" fmla="*/ 1020111 w 1355743"/>
                <a:gd name="connsiteY38" fmla="*/ 10571 h 504770"/>
                <a:gd name="connsiteX39" fmla="*/ 1183963 w 1355743"/>
                <a:gd name="connsiteY39" fmla="*/ 7928 h 504770"/>
                <a:gd name="connsiteX40" fmla="*/ 1355743 w 1355743"/>
                <a:gd name="connsiteY40"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401701 w 1355743"/>
                <a:gd name="connsiteY21" fmla="*/ 7928 h 504770"/>
                <a:gd name="connsiteX22" fmla="*/ 457200 w 1355743"/>
                <a:gd name="connsiteY22" fmla="*/ 2642 h 504770"/>
                <a:gd name="connsiteX23" fmla="*/ 602552 w 1355743"/>
                <a:gd name="connsiteY23" fmla="*/ 10571 h 504770"/>
                <a:gd name="connsiteX24" fmla="*/ 692407 w 1355743"/>
                <a:gd name="connsiteY24" fmla="*/ 7928 h 504770"/>
                <a:gd name="connsiteX25" fmla="*/ 710906 w 1355743"/>
                <a:gd name="connsiteY25" fmla="*/ 5285 h 504770"/>
                <a:gd name="connsiteX26" fmla="*/ 689764 w 1355743"/>
                <a:gd name="connsiteY26" fmla="*/ 105711 h 504770"/>
                <a:gd name="connsiteX27" fmla="*/ 684478 w 1355743"/>
                <a:gd name="connsiteY27" fmla="*/ 251063 h 504770"/>
                <a:gd name="connsiteX28" fmla="*/ 676550 w 1355743"/>
                <a:gd name="connsiteY28" fmla="*/ 356774 h 504770"/>
                <a:gd name="connsiteX29" fmla="*/ 665979 w 1355743"/>
                <a:gd name="connsiteY29" fmla="*/ 454557 h 504770"/>
                <a:gd name="connsiteX30" fmla="*/ 689764 w 1355743"/>
                <a:gd name="connsiteY30" fmla="*/ 502127 h 504770"/>
                <a:gd name="connsiteX31" fmla="*/ 700335 w 1355743"/>
                <a:gd name="connsiteY31" fmla="*/ 420201 h 504770"/>
                <a:gd name="connsiteX32" fmla="*/ 732048 w 1355743"/>
                <a:gd name="connsiteY32" fmla="*/ 309204 h 504770"/>
                <a:gd name="connsiteX33" fmla="*/ 750548 w 1355743"/>
                <a:gd name="connsiteY33" fmla="*/ 190279 h 504770"/>
                <a:gd name="connsiteX34" fmla="*/ 753190 w 1355743"/>
                <a:gd name="connsiteY34" fmla="*/ 87211 h 504770"/>
                <a:gd name="connsiteX35" fmla="*/ 766404 w 1355743"/>
                <a:gd name="connsiteY35" fmla="*/ 36998 h 504770"/>
                <a:gd name="connsiteX36" fmla="*/ 829831 w 1355743"/>
                <a:gd name="connsiteY36" fmla="*/ 2642 h 504770"/>
                <a:gd name="connsiteX37" fmla="*/ 1020111 w 1355743"/>
                <a:gd name="connsiteY37" fmla="*/ 10571 h 504770"/>
                <a:gd name="connsiteX38" fmla="*/ 1183963 w 1355743"/>
                <a:gd name="connsiteY38" fmla="*/ 7928 h 504770"/>
                <a:gd name="connsiteX39" fmla="*/ 1355743 w 1355743"/>
                <a:gd name="connsiteY39"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351489 w 1355743"/>
                <a:gd name="connsiteY18" fmla="*/ 266920 h 504770"/>
                <a:gd name="connsiteX19" fmla="*/ 367345 w 1355743"/>
                <a:gd name="connsiteY19" fmla="*/ 184994 h 504770"/>
                <a:gd name="connsiteX20" fmla="*/ 401701 w 1355743"/>
                <a:gd name="connsiteY20" fmla="*/ 7928 h 504770"/>
                <a:gd name="connsiteX21" fmla="*/ 457200 w 1355743"/>
                <a:gd name="connsiteY21" fmla="*/ 2642 h 504770"/>
                <a:gd name="connsiteX22" fmla="*/ 602552 w 1355743"/>
                <a:gd name="connsiteY22" fmla="*/ 10571 h 504770"/>
                <a:gd name="connsiteX23" fmla="*/ 692407 w 1355743"/>
                <a:gd name="connsiteY23" fmla="*/ 7928 h 504770"/>
                <a:gd name="connsiteX24" fmla="*/ 710906 w 1355743"/>
                <a:gd name="connsiteY24" fmla="*/ 5285 h 504770"/>
                <a:gd name="connsiteX25" fmla="*/ 689764 w 1355743"/>
                <a:gd name="connsiteY25" fmla="*/ 105711 h 504770"/>
                <a:gd name="connsiteX26" fmla="*/ 684478 w 1355743"/>
                <a:gd name="connsiteY26" fmla="*/ 251063 h 504770"/>
                <a:gd name="connsiteX27" fmla="*/ 676550 w 1355743"/>
                <a:gd name="connsiteY27" fmla="*/ 356774 h 504770"/>
                <a:gd name="connsiteX28" fmla="*/ 665979 w 1355743"/>
                <a:gd name="connsiteY28" fmla="*/ 454557 h 504770"/>
                <a:gd name="connsiteX29" fmla="*/ 689764 w 1355743"/>
                <a:gd name="connsiteY29" fmla="*/ 502127 h 504770"/>
                <a:gd name="connsiteX30" fmla="*/ 700335 w 1355743"/>
                <a:gd name="connsiteY30" fmla="*/ 420201 h 504770"/>
                <a:gd name="connsiteX31" fmla="*/ 732048 w 1355743"/>
                <a:gd name="connsiteY31" fmla="*/ 309204 h 504770"/>
                <a:gd name="connsiteX32" fmla="*/ 750548 w 1355743"/>
                <a:gd name="connsiteY32" fmla="*/ 190279 h 504770"/>
                <a:gd name="connsiteX33" fmla="*/ 753190 w 1355743"/>
                <a:gd name="connsiteY33" fmla="*/ 87211 h 504770"/>
                <a:gd name="connsiteX34" fmla="*/ 766404 w 1355743"/>
                <a:gd name="connsiteY34" fmla="*/ 36998 h 504770"/>
                <a:gd name="connsiteX35" fmla="*/ 829831 w 1355743"/>
                <a:gd name="connsiteY35" fmla="*/ 2642 h 504770"/>
                <a:gd name="connsiteX36" fmla="*/ 1020111 w 1355743"/>
                <a:gd name="connsiteY36" fmla="*/ 10571 h 504770"/>
                <a:gd name="connsiteX37" fmla="*/ 1183963 w 1355743"/>
                <a:gd name="connsiteY37" fmla="*/ 7928 h 504770"/>
                <a:gd name="connsiteX38" fmla="*/ 1355743 w 1355743"/>
                <a:gd name="connsiteY38"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351489 w 1355743"/>
                <a:gd name="connsiteY18" fmla="*/ 266920 h 504770"/>
                <a:gd name="connsiteX19" fmla="*/ 401701 w 1355743"/>
                <a:gd name="connsiteY19" fmla="*/ 7928 h 504770"/>
                <a:gd name="connsiteX20" fmla="*/ 457200 w 1355743"/>
                <a:gd name="connsiteY20" fmla="*/ 2642 h 504770"/>
                <a:gd name="connsiteX21" fmla="*/ 602552 w 1355743"/>
                <a:gd name="connsiteY21" fmla="*/ 10571 h 504770"/>
                <a:gd name="connsiteX22" fmla="*/ 692407 w 1355743"/>
                <a:gd name="connsiteY22" fmla="*/ 7928 h 504770"/>
                <a:gd name="connsiteX23" fmla="*/ 710906 w 1355743"/>
                <a:gd name="connsiteY23" fmla="*/ 5285 h 504770"/>
                <a:gd name="connsiteX24" fmla="*/ 689764 w 1355743"/>
                <a:gd name="connsiteY24" fmla="*/ 105711 h 504770"/>
                <a:gd name="connsiteX25" fmla="*/ 684478 w 1355743"/>
                <a:gd name="connsiteY25" fmla="*/ 251063 h 504770"/>
                <a:gd name="connsiteX26" fmla="*/ 676550 w 1355743"/>
                <a:gd name="connsiteY26" fmla="*/ 356774 h 504770"/>
                <a:gd name="connsiteX27" fmla="*/ 665979 w 1355743"/>
                <a:gd name="connsiteY27" fmla="*/ 454557 h 504770"/>
                <a:gd name="connsiteX28" fmla="*/ 689764 w 1355743"/>
                <a:gd name="connsiteY28" fmla="*/ 502127 h 504770"/>
                <a:gd name="connsiteX29" fmla="*/ 700335 w 1355743"/>
                <a:gd name="connsiteY29" fmla="*/ 420201 h 504770"/>
                <a:gd name="connsiteX30" fmla="*/ 732048 w 1355743"/>
                <a:gd name="connsiteY30" fmla="*/ 309204 h 504770"/>
                <a:gd name="connsiteX31" fmla="*/ 750548 w 1355743"/>
                <a:gd name="connsiteY31" fmla="*/ 190279 h 504770"/>
                <a:gd name="connsiteX32" fmla="*/ 753190 w 1355743"/>
                <a:gd name="connsiteY32" fmla="*/ 87211 h 504770"/>
                <a:gd name="connsiteX33" fmla="*/ 766404 w 1355743"/>
                <a:gd name="connsiteY33" fmla="*/ 36998 h 504770"/>
                <a:gd name="connsiteX34" fmla="*/ 829831 w 1355743"/>
                <a:gd name="connsiteY34" fmla="*/ 2642 h 504770"/>
                <a:gd name="connsiteX35" fmla="*/ 1020111 w 1355743"/>
                <a:gd name="connsiteY35" fmla="*/ 10571 h 504770"/>
                <a:gd name="connsiteX36" fmla="*/ 1183963 w 1355743"/>
                <a:gd name="connsiteY36" fmla="*/ 7928 h 504770"/>
                <a:gd name="connsiteX37" fmla="*/ 1355743 w 1355743"/>
                <a:gd name="connsiteY37"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401701 w 1355743"/>
                <a:gd name="connsiteY18" fmla="*/ 7928 h 504770"/>
                <a:gd name="connsiteX19" fmla="*/ 457200 w 1355743"/>
                <a:gd name="connsiteY19" fmla="*/ 2642 h 504770"/>
                <a:gd name="connsiteX20" fmla="*/ 602552 w 1355743"/>
                <a:gd name="connsiteY20" fmla="*/ 10571 h 504770"/>
                <a:gd name="connsiteX21" fmla="*/ 692407 w 1355743"/>
                <a:gd name="connsiteY21" fmla="*/ 7928 h 504770"/>
                <a:gd name="connsiteX22" fmla="*/ 710906 w 1355743"/>
                <a:gd name="connsiteY22" fmla="*/ 5285 h 504770"/>
                <a:gd name="connsiteX23" fmla="*/ 689764 w 1355743"/>
                <a:gd name="connsiteY23" fmla="*/ 105711 h 504770"/>
                <a:gd name="connsiteX24" fmla="*/ 684478 w 1355743"/>
                <a:gd name="connsiteY24" fmla="*/ 251063 h 504770"/>
                <a:gd name="connsiteX25" fmla="*/ 676550 w 1355743"/>
                <a:gd name="connsiteY25" fmla="*/ 356774 h 504770"/>
                <a:gd name="connsiteX26" fmla="*/ 665979 w 1355743"/>
                <a:gd name="connsiteY26" fmla="*/ 454557 h 504770"/>
                <a:gd name="connsiteX27" fmla="*/ 689764 w 1355743"/>
                <a:gd name="connsiteY27" fmla="*/ 502127 h 504770"/>
                <a:gd name="connsiteX28" fmla="*/ 700335 w 1355743"/>
                <a:gd name="connsiteY28" fmla="*/ 420201 h 504770"/>
                <a:gd name="connsiteX29" fmla="*/ 732048 w 1355743"/>
                <a:gd name="connsiteY29" fmla="*/ 309204 h 504770"/>
                <a:gd name="connsiteX30" fmla="*/ 750548 w 1355743"/>
                <a:gd name="connsiteY30" fmla="*/ 190279 h 504770"/>
                <a:gd name="connsiteX31" fmla="*/ 753190 w 1355743"/>
                <a:gd name="connsiteY31" fmla="*/ 87211 h 504770"/>
                <a:gd name="connsiteX32" fmla="*/ 766404 w 1355743"/>
                <a:gd name="connsiteY32" fmla="*/ 36998 h 504770"/>
                <a:gd name="connsiteX33" fmla="*/ 829831 w 1355743"/>
                <a:gd name="connsiteY33" fmla="*/ 2642 h 504770"/>
                <a:gd name="connsiteX34" fmla="*/ 1020111 w 1355743"/>
                <a:gd name="connsiteY34" fmla="*/ 10571 h 504770"/>
                <a:gd name="connsiteX35" fmla="*/ 1183963 w 1355743"/>
                <a:gd name="connsiteY35" fmla="*/ 7928 h 504770"/>
                <a:gd name="connsiteX36" fmla="*/ 1355743 w 1355743"/>
                <a:gd name="connsiteY36"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11847 w 1355743"/>
                <a:gd name="connsiteY11" fmla="*/ 325061 h 504770"/>
                <a:gd name="connsiteX12" fmla="*/ 319775 w 1355743"/>
                <a:gd name="connsiteY12" fmla="*/ 393773 h 504770"/>
                <a:gd name="connsiteX13" fmla="*/ 338275 w 1355743"/>
                <a:gd name="connsiteY13" fmla="*/ 457200 h 504770"/>
                <a:gd name="connsiteX14" fmla="*/ 343560 w 1355743"/>
                <a:gd name="connsiteY14" fmla="*/ 504770 h 504770"/>
                <a:gd name="connsiteX15" fmla="*/ 356774 w 1355743"/>
                <a:gd name="connsiteY15" fmla="*/ 441343 h 504770"/>
                <a:gd name="connsiteX16" fmla="*/ 354131 w 1355743"/>
                <a:gd name="connsiteY16" fmla="*/ 364703 h 504770"/>
                <a:gd name="connsiteX17" fmla="*/ 401701 w 1355743"/>
                <a:gd name="connsiteY17" fmla="*/ 7928 h 504770"/>
                <a:gd name="connsiteX18" fmla="*/ 457200 w 1355743"/>
                <a:gd name="connsiteY18" fmla="*/ 2642 h 504770"/>
                <a:gd name="connsiteX19" fmla="*/ 602552 w 1355743"/>
                <a:gd name="connsiteY19" fmla="*/ 10571 h 504770"/>
                <a:gd name="connsiteX20" fmla="*/ 692407 w 1355743"/>
                <a:gd name="connsiteY20" fmla="*/ 7928 h 504770"/>
                <a:gd name="connsiteX21" fmla="*/ 710906 w 1355743"/>
                <a:gd name="connsiteY21" fmla="*/ 5285 h 504770"/>
                <a:gd name="connsiteX22" fmla="*/ 689764 w 1355743"/>
                <a:gd name="connsiteY22" fmla="*/ 105711 h 504770"/>
                <a:gd name="connsiteX23" fmla="*/ 684478 w 1355743"/>
                <a:gd name="connsiteY23" fmla="*/ 251063 h 504770"/>
                <a:gd name="connsiteX24" fmla="*/ 676550 w 1355743"/>
                <a:gd name="connsiteY24" fmla="*/ 356774 h 504770"/>
                <a:gd name="connsiteX25" fmla="*/ 665979 w 1355743"/>
                <a:gd name="connsiteY25" fmla="*/ 454557 h 504770"/>
                <a:gd name="connsiteX26" fmla="*/ 689764 w 1355743"/>
                <a:gd name="connsiteY26" fmla="*/ 502127 h 504770"/>
                <a:gd name="connsiteX27" fmla="*/ 700335 w 1355743"/>
                <a:gd name="connsiteY27" fmla="*/ 420201 h 504770"/>
                <a:gd name="connsiteX28" fmla="*/ 732048 w 1355743"/>
                <a:gd name="connsiteY28" fmla="*/ 309204 h 504770"/>
                <a:gd name="connsiteX29" fmla="*/ 750548 w 1355743"/>
                <a:gd name="connsiteY29" fmla="*/ 190279 h 504770"/>
                <a:gd name="connsiteX30" fmla="*/ 753190 w 1355743"/>
                <a:gd name="connsiteY30" fmla="*/ 87211 h 504770"/>
                <a:gd name="connsiteX31" fmla="*/ 766404 w 1355743"/>
                <a:gd name="connsiteY31" fmla="*/ 36998 h 504770"/>
                <a:gd name="connsiteX32" fmla="*/ 829831 w 1355743"/>
                <a:gd name="connsiteY32" fmla="*/ 2642 h 504770"/>
                <a:gd name="connsiteX33" fmla="*/ 1020111 w 1355743"/>
                <a:gd name="connsiteY33" fmla="*/ 10571 h 504770"/>
                <a:gd name="connsiteX34" fmla="*/ 1183963 w 1355743"/>
                <a:gd name="connsiteY34" fmla="*/ 7928 h 504770"/>
                <a:gd name="connsiteX35" fmla="*/ 1355743 w 1355743"/>
                <a:gd name="connsiteY35"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19775 w 1355743"/>
                <a:gd name="connsiteY11" fmla="*/ 393773 h 504770"/>
                <a:gd name="connsiteX12" fmla="*/ 338275 w 1355743"/>
                <a:gd name="connsiteY12" fmla="*/ 457200 h 504770"/>
                <a:gd name="connsiteX13" fmla="*/ 343560 w 1355743"/>
                <a:gd name="connsiteY13" fmla="*/ 504770 h 504770"/>
                <a:gd name="connsiteX14" fmla="*/ 356774 w 1355743"/>
                <a:gd name="connsiteY14" fmla="*/ 441343 h 504770"/>
                <a:gd name="connsiteX15" fmla="*/ 354131 w 1355743"/>
                <a:gd name="connsiteY15" fmla="*/ 364703 h 504770"/>
                <a:gd name="connsiteX16" fmla="*/ 401701 w 1355743"/>
                <a:gd name="connsiteY16" fmla="*/ 7928 h 504770"/>
                <a:gd name="connsiteX17" fmla="*/ 457200 w 1355743"/>
                <a:gd name="connsiteY17" fmla="*/ 2642 h 504770"/>
                <a:gd name="connsiteX18" fmla="*/ 602552 w 1355743"/>
                <a:gd name="connsiteY18" fmla="*/ 10571 h 504770"/>
                <a:gd name="connsiteX19" fmla="*/ 692407 w 1355743"/>
                <a:gd name="connsiteY19" fmla="*/ 7928 h 504770"/>
                <a:gd name="connsiteX20" fmla="*/ 710906 w 1355743"/>
                <a:gd name="connsiteY20" fmla="*/ 5285 h 504770"/>
                <a:gd name="connsiteX21" fmla="*/ 689764 w 1355743"/>
                <a:gd name="connsiteY21" fmla="*/ 105711 h 504770"/>
                <a:gd name="connsiteX22" fmla="*/ 684478 w 1355743"/>
                <a:gd name="connsiteY22" fmla="*/ 251063 h 504770"/>
                <a:gd name="connsiteX23" fmla="*/ 676550 w 1355743"/>
                <a:gd name="connsiteY23" fmla="*/ 356774 h 504770"/>
                <a:gd name="connsiteX24" fmla="*/ 665979 w 1355743"/>
                <a:gd name="connsiteY24" fmla="*/ 454557 h 504770"/>
                <a:gd name="connsiteX25" fmla="*/ 689764 w 1355743"/>
                <a:gd name="connsiteY25" fmla="*/ 502127 h 504770"/>
                <a:gd name="connsiteX26" fmla="*/ 700335 w 1355743"/>
                <a:gd name="connsiteY26" fmla="*/ 420201 h 504770"/>
                <a:gd name="connsiteX27" fmla="*/ 732048 w 1355743"/>
                <a:gd name="connsiteY27" fmla="*/ 309204 h 504770"/>
                <a:gd name="connsiteX28" fmla="*/ 750548 w 1355743"/>
                <a:gd name="connsiteY28" fmla="*/ 190279 h 504770"/>
                <a:gd name="connsiteX29" fmla="*/ 753190 w 1355743"/>
                <a:gd name="connsiteY29" fmla="*/ 87211 h 504770"/>
                <a:gd name="connsiteX30" fmla="*/ 766404 w 1355743"/>
                <a:gd name="connsiteY30" fmla="*/ 36998 h 504770"/>
                <a:gd name="connsiteX31" fmla="*/ 829831 w 1355743"/>
                <a:gd name="connsiteY31" fmla="*/ 2642 h 504770"/>
                <a:gd name="connsiteX32" fmla="*/ 1020111 w 1355743"/>
                <a:gd name="connsiteY32" fmla="*/ 10571 h 504770"/>
                <a:gd name="connsiteX33" fmla="*/ 1183963 w 1355743"/>
                <a:gd name="connsiteY33" fmla="*/ 7928 h 504770"/>
                <a:gd name="connsiteX34" fmla="*/ 1355743 w 1355743"/>
                <a:gd name="connsiteY34"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8275 w 1355743"/>
                <a:gd name="connsiteY11" fmla="*/ 457200 h 504770"/>
                <a:gd name="connsiteX12" fmla="*/ 343560 w 1355743"/>
                <a:gd name="connsiteY12" fmla="*/ 504770 h 504770"/>
                <a:gd name="connsiteX13" fmla="*/ 356774 w 1355743"/>
                <a:gd name="connsiteY13" fmla="*/ 441343 h 504770"/>
                <a:gd name="connsiteX14" fmla="*/ 354131 w 1355743"/>
                <a:gd name="connsiteY14" fmla="*/ 364703 h 504770"/>
                <a:gd name="connsiteX15" fmla="*/ 401701 w 1355743"/>
                <a:gd name="connsiteY15" fmla="*/ 7928 h 504770"/>
                <a:gd name="connsiteX16" fmla="*/ 457200 w 1355743"/>
                <a:gd name="connsiteY16" fmla="*/ 2642 h 504770"/>
                <a:gd name="connsiteX17" fmla="*/ 602552 w 1355743"/>
                <a:gd name="connsiteY17" fmla="*/ 10571 h 504770"/>
                <a:gd name="connsiteX18" fmla="*/ 692407 w 1355743"/>
                <a:gd name="connsiteY18" fmla="*/ 7928 h 504770"/>
                <a:gd name="connsiteX19" fmla="*/ 710906 w 1355743"/>
                <a:gd name="connsiteY19" fmla="*/ 5285 h 504770"/>
                <a:gd name="connsiteX20" fmla="*/ 689764 w 1355743"/>
                <a:gd name="connsiteY20" fmla="*/ 105711 h 504770"/>
                <a:gd name="connsiteX21" fmla="*/ 684478 w 1355743"/>
                <a:gd name="connsiteY21" fmla="*/ 251063 h 504770"/>
                <a:gd name="connsiteX22" fmla="*/ 676550 w 1355743"/>
                <a:gd name="connsiteY22" fmla="*/ 356774 h 504770"/>
                <a:gd name="connsiteX23" fmla="*/ 665979 w 1355743"/>
                <a:gd name="connsiteY23" fmla="*/ 454557 h 504770"/>
                <a:gd name="connsiteX24" fmla="*/ 689764 w 1355743"/>
                <a:gd name="connsiteY24" fmla="*/ 502127 h 504770"/>
                <a:gd name="connsiteX25" fmla="*/ 700335 w 1355743"/>
                <a:gd name="connsiteY25" fmla="*/ 420201 h 504770"/>
                <a:gd name="connsiteX26" fmla="*/ 732048 w 1355743"/>
                <a:gd name="connsiteY26" fmla="*/ 309204 h 504770"/>
                <a:gd name="connsiteX27" fmla="*/ 750548 w 1355743"/>
                <a:gd name="connsiteY27" fmla="*/ 190279 h 504770"/>
                <a:gd name="connsiteX28" fmla="*/ 753190 w 1355743"/>
                <a:gd name="connsiteY28" fmla="*/ 87211 h 504770"/>
                <a:gd name="connsiteX29" fmla="*/ 766404 w 1355743"/>
                <a:gd name="connsiteY29" fmla="*/ 36998 h 504770"/>
                <a:gd name="connsiteX30" fmla="*/ 829831 w 1355743"/>
                <a:gd name="connsiteY30" fmla="*/ 2642 h 504770"/>
                <a:gd name="connsiteX31" fmla="*/ 1020111 w 1355743"/>
                <a:gd name="connsiteY31" fmla="*/ 10571 h 504770"/>
                <a:gd name="connsiteX32" fmla="*/ 1183963 w 1355743"/>
                <a:gd name="connsiteY32" fmla="*/ 7928 h 504770"/>
                <a:gd name="connsiteX33" fmla="*/ 1355743 w 1355743"/>
                <a:gd name="connsiteY33"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43560 w 1355743"/>
                <a:gd name="connsiteY11" fmla="*/ 504770 h 504770"/>
                <a:gd name="connsiteX12" fmla="*/ 356774 w 1355743"/>
                <a:gd name="connsiteY12" fmla="*/ 441343 h 504770"/>
                <a:gd name="connsiteX13" fmla="*/ 354131 w 1355743"/>
                <a:gd name="connsiteY13" fmla="*/ 364703 h 504770"/>
                <a:gd name="connsiteX14" fmla="*/ 401701 w 1355743"/>
                <a:gd name="connsiteY14" fmla="*/ 7928 h 504770"/>
                <a:gd name="connsiteX15" fmla="*/ 457200 w 1355743"/>
                <a:gd name="connsiteY15" fmla="*/ 2642 h 504770"/>
                <a:gd name="connsiteX16" fmla="*/ 602552 w 1355743"/>
                <a:gd name="connsiteY16" fmla="*/ 10571 h 504770"/>
                <a:gd name="connsiteX17" fmla="*/ 692407 w 1355743"/>
                <a:gd name="connsiteY17" fmla="*/ 7928 h 504770"/>
                <a:gd name="connsiteX18" fmla="*/ 710906 w 1355743"/>
                <a:gd name="connsiteY18" fmla="*/ 5285 h 504770"/>
                <a:gd name="connsiteX19" fmla="*/ 689764 w 1355743"/>
                <a:gd name="connsiteY19" fmla="*/ 105711 h 504770"/>
                <a:gd name="connsiteX20" fmla="*/ 684478 w 1355743"/>
                <a:gd name="connsiteY20" fmla="*/ 251063 h 504770"/>
                <a:gd name="connsiteX21" fmla="*/ 676550 w 1355743"/>
                <a:gd name="connsiteY21" fmla="*/ 356774 h 504770"/>
                <a:gd name="connsiteX22" fmla="*/ 665979 w 1355743"/>
                <a:gd name="connsiteY22" fmla="*/ 454557 h 504770"/>
                <a:gd name="connsiteX23" fmla="*/ 689764 w 1355743"/>
                <a:gd name="connsiteY23" fmla="*/ 502127 h 504770"/>
                <a:gd name="connsiteX24" fmla="*/ 700335 w 1355743"/>
                <a:gd name="connsiteY24" fmla="*/ 420201 h 504770"/>
                <a:gd name="connsiteX25" fmla="*/ 732048 w 1355743"/>
                <a:gd name="connsiteY25" fmla="*/ 309204 h 504770"/>
                <a:gd name="connsiteX26" fmla="*/ 750548 w 1355743"/>
                <a:gd name="connsiteY26" fmla="*/ 190279 h 504770"/>
                <a:gd name="connsiteX27" fmla="*/ 753190 w 1355743"/>
                <a:gd name="connsiteY27" fmla="*/ 87211 h 504770"/>
                <a:gd name="connsiteX28" fmla="*/ 766404 w 1355743"/>
                <a:gd name="connsiteY28" fmla="*/ 36998 h 504770"/>
                <a:gd name="connsiteX29" fmla="*/ 829831 w 1355743"/>
                <a:gd name="connsiteY29" fmla="*/ 2642 h 504770"/>
                <a:gd name="connsiteX30" fmla="*/ 1020111 w 1355743"/>
                <a:gd name="connsiteY30" fmla="*/ 10571 h 504770"/>
                <a:gd name="connsiteX31" fmla="*/ 1183963 w 1355743"/>
                <a:gd name="connsiteY31" fmla="*/ 7928 h 504770"/>
                <a:gd name="connsiteX32" fmla="*/ 1355743 w 1355743"/>
                <a:gd name="connsiteY32"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43560 w 1355743"/>
                <a:gd name="connsiteY11" fmla="*/ 504770 h 504770"/>
                <a:gd name="connsiteX12" fmla="*/ 354131 w 1355743"/>
                <a:gd name="connsiteY12" fmla="*/ 364703 h 504770"/>
                <a:gd name="connsiteX13" fmla="*/ 401701 w 1355743"/>
                <a:gd name="connsiteY13" fmla="*/ 7928 h 504770"/>
                <a:gd name="connsiteX14" fmla="*/ 457200 w 1355743"/>
                <a:gd name="connsiteY14" fmla="*/ 2642 h 504770"/>
                <a:gd name="connsiteX15" fmla="*/ 602552 w 1355743"/>
                <a:gd name="connsiteY15" fmla="*/ 10571 h 504770"/>
                <a:gd name="connsiteX16" fmla="*/ 692407 w 1355743"/>
                <a:gd name="connsiteY16" fmla="*/ 7928 h 504770"/>
                <a:gd name="connsiteX17" fmla="*/ 710906 w 1355743"/>
                <a:gd name="connsiteY17" fmla="*/ 5285 h 504770"/>
                <a:gd name="connsiteX18" fmla="*/ 689764 w 1355743"/>
                <a:gd name="connsiteY18" fmla="*/ 105711 h 504770"/>
                <a:gd name="connsiteX19" fmla="*/ 684478 w 1355743"/>
                <a:gd name="connsiteY19" fmla="*/ 251063 h 504770"/>
                <a:gd name="connsiteX20" fmla="*/ 676550 w 1355743"/>
                <a:gd name="connsiteY20" fmla="*/ 356774 h 504770"/>
                <a:gd name="connsiteX21" fmla="*/ 665979 w 1355743"/>
                <a:gd name="connsiteY21" fmla="*/ 454557 h 504770"/>
                <a:gd name="connsiteX22" fmla="*/ 689764 w 1355743"/>
                <a:gd name="connsiteY22" fmla="*/ 502127 h 504770"/>
                <a:gd name="connsiteX23" fmla="*/ 700335 w 1355743"/>
                <a:gd name="connsiteY23" fmla="*/ 420201 h 504770"/>
                <a:gd name="connsiteX24" fmla="*/ 732048 w 1355743"/>
                <a:gd name="connsiteY24" fmla="*/ 309204 h 504770"/>
                <a:gd name="connsiteX25" fmla="*/ 750548 w 1355743"/>
                <a:gd name="connsiteY25" fmla="*/ 190279 h 504770"/>
                <a:gd name="connsiteX26" fmla="*/ 753190 w 1355743"/>
                <a:gd name="connsiteY26" fmla="*/ 87211 h 504770"/>
                <a:gd name="connsiteX27" fmla="*/ 766404 w 1355743"/>
                <a:gd name="connsiteY27" fmla="*/ 36998 h 504770"/>
                <a:gd name="connsiteX28" fmla="*/ 829831 w 1355743"/>
                <a:gd name="connsiteY28" fmla="*/ 2642 h 504770"/>
                <a:gd name="connsiteX29" fmla="*/ 1020111 w 1355743"/>
                <a:gd name="connsiteY29" fmla="*/ 10571 h 504770"/>
                <a:gd name="connsiteX30" fmla="*/ 1183963 w 1355743"/>
                <a:gd name="connsiteY30" fmla="*/ 7928 h 504770"/>
                <a:gd name="connsiteX31" fmla="*/ 1355743 w 1355743"/>
                <a:gd name="connsiteY31" fmla="*/ 7928 h 504770"/>
                <a:gd name="connsiteX0" fmla="*/ 0 w 1355743"/>
                <a:gd name="connsiteY0" fmla="*/ 496841 h 502127"/>
                <a:gd name="connsiteX1" fmla="*/ 211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354131 w 1355743"/>
                <a:gd name="connsiteY11" fmla="*/ 364703 h 502127"/>
                <a:gd name="connsiteX12" fmla="*/ 401701 w 1355743"/>
                <a:gd name="connsiteY12" fmla="*/ 7928 h 502127"/>
                <a:gd name="connsiteX13" fmla="*/ 457200 w 1355743"/>
                <a:gd name="connsiteY13" fmla="*/ 2642 h 502127"/>
                <a:gd name="connsiteX14" fmla="*/ 602552 w 1355743"/>
                <a:gd name="connsiteY14" fmla="*/ 10571 h 502127"/>
                <a:gd name="connsiteX15" fmla="*/ 692407 w 1355743"/>
                <a:gd name="connsiteY15" fmla="*/ 7928 h 502127"/>
                <a:gd name="connsiteX16" fmla="*/ 710906 w 1355743"/>
                <a:gd name="connsiteY16" fmla="*/ 5285 h 502127"/>
                <a:gd name="connsiteX17" fmla="*/ 689764 w 1355743"/>
                <a:gd name="connsiteY17" fmla="*/ 105711 h 502127"/>
                <a:gd name="connsiteX18" fmla="*/ 684478 w 1355743"/>
                <a:gd name="connsiteY18" fmla="*/ 251063 h 502127"/>
                <a:gd name="connsiteX19" fmla="*/ 676550 w 1355743"/>
                <a:gd name="connsiteY19" fmla="*/ 356774 h 502127"/>
                <a:gd name="connsiteX20" fmla="*/ 665979 w 1355743"/>
                <a:gd name="connsiteY20" fmla="*/ 454557 h 502127"/>
                <a:gd name="connsiteX21" fmla="*/ 689764 w 1355743"/>
                <a:gd name="connsiteY21" fmla="*/ 502127 h 502127"/>
                <a:gd name="connsiteX22" fmla="*/ 700335 w 1355743"/>
                <a:gd name="connsiteY22" fmla="*/ 420201 h 502127"/>
                <a:gd name="connsiteX23" fmla="*/ 732048 w 1355743"/>
                <a:gd name="connsiteY23" fmla="*/ 309204 h 502127"/>
                <a:gd name="connsiteX24" fmla="*/ 750548 w 1355743"/>
                <a:gd name="connsiteY24" fmla="*/ 190279 h 502127"/>
                <a:gd name="connsiteX25" fmla="*/ 753190 w 1355743"/>
                <a:gd name="connsiteY25" fmla="*/ 87211 h 502127"/>
                <a:gd name="connsiteX26" fmla="*/ 766404 w 1355743"/>
                <a:gd name="connsiteY26" fmla="*/ 36998 h 502127"/>
                <a:gd name="connsiteX27" fmla="*/ 829831 w 1355743"/>
                <a:gd name="connsiteY27" fmla="*/ 2642 h 502127"/>
                <a:gd name="connsiteX28" fmla="*/ 1020111 w 1355743"/>
                <a:gd name="connsiteY28" fmla="*/ 10571 h 502127"/>
                <a:gd name="connsiteX29" fmla="*/ 1183963 w 1355743"/>
                <a:gd name="connsiteY29" fmla="*/ 7928 h 502127"/>
                <a:gd name="connsiteX30" fmla="*/ 1355743 w 1355743"/>
                <a:gd name="connsiteY30" fmla="*/ 7928 h 502127"/>
                <a:gd name="connsiteX0" fmla="*/ 0 w 1355743"/>
                <a:gd name="connsiteY0" fmla="*/ 496841 h 502127"/>
                <a:gd name="connsiteX1" fmla="*/ 211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46542 w 1355743"/>
                <a:gd name="connsiteY1" fmla="*/ 38605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58680 w 1355743"/>
                <a:gd name="connsiteY5" fmla="*/ 10428 h 502127"/>
                <a:gd name="connsiteX6" fmla="*/ 31713 w 1355743"/>
                <a:gd name="connsiteY6" fmla="*/ 0 h 502127"/>
                <a:gd name="connsiteX7" fmla="*/ 95140 w 1355743"/>
                <a:gd name="connsiteY7" fmla="*/ 0 h 502127"/>
                <a:gd name="connsiteX8" fmla="*/ 169137 w 1355743"/>
                <a:gd name="connsiteY8" fmla="*/ 5285 h 502127"/>
                <a:gd name="connsiteX9" fmla="*/ 261634 w 1355743"/>
                <a:gd name="connsiteY9" fmla="*/ 2642 h 502127"/>
                <a:gd name="connsiteX10" fmla="*/ 322418 w 1355743"/>
                <a:gd name="connsiteY10" fmla="*/ 7928 h 502127"/>
                <a:gd name="connsiteX11" fmla="*/ 346203 w 1355743"/>
                <a:gd name="connsiteY11" fmla="*/ 7928 h 502127"/>
                <a:gd name="connsiteX12" fmla="*/ 401701 w 1355743"/>
                <a:gd name="connsiteY12" fmla="*/ 7928 h 502127"/>
                <a:gd name="connsiteX13" fmla="*/ 457200 w 1355743"/>
                <a:gd name="connsiteY13" fmla="*/ 2642 h 502127"/>
                <a:gd name="connsiteX14" fmla="*/ 602552 w 1355743"/>
                <a:gd name="connsiteY14" fmla="*/ 10571 h 502127"/>
                <a:gd name="connsiteX15" fmla="*/ 692407 w 1355743"/>
                <a:gd name="connsiteY15" fmla="*/ 7928 h 502127"/>
                <a:gd name="connsiteX16" fmla="*/ 710906 w 1355743"/>
                <a:gd name="connsiteY16" fmla="*/ 5285 h 502127"/>
                <a:gd name="connsiteX17" fmla="*/ 689764 w 1355743"/>
                <a:gd name="connsiteY17" fmla="*/ 105711 h 502127"/>
                <a:gd name="connsiteX18" fmla="*/ 684478 w 1355743"/>
                <a:gd name="connsiteY18" fmla="*/ 251063 h 502127"/>
                <a:gd name="connsiteX19" fmla="*/ 676550 w 1355743"/>
                <a:gd name="connsiteY19" fmla="*/ 356774 h 502127"/>
                <a:gd name="connsiteX20" fmla="*/ 665979 w 1355743"/>
                <a:gd name="connsiteY20" fmla="*/ 454557 h 502127"/>
                <a:gd name="connsiteX21" fmla="*/ 689764 w 1355743"/>
                <a:gd name="connsiteY21" fmla="*/ 502127 h 502127"/>
                <a:gd name="connsiteX22" fmla="*/ 700335 w 1355743"/>
                <a:gd name="connsiteY22" fmla="*/ 420201 h 502127"/>
                <a:gd name="connsiteX23" fmla="*/ 732048 w 1355743"/>
                <a:gd name="connsiteY23" fmla="*/ 309204 h 502127"/>
                <a:gd name="connsiteX24" fmla="*/ 750548 w 1355743"/>
                <a:gd name="connsiteY24" fmla="*/ 190279 h 502127"/>
                <a:gd name="connsiteX25" fmla="*/ 753190 w 1355743"/>
                <a:gd name="connsiteY25" fmla="*/ 87211 h 502127"/>
                <a:gd name="connsiteX26" fmla="*/ 766404 w 1355743"/>
                <a:gd name="connsiteY26" fmla="*/ 36998 h 502127"/>
                <a:gd name="connsiteX27" fmla="*/ 829831 w 1355743"/>
                <a:gd name="connsiteY27" fmla="*/ 2642 h 502127"/>
                <a:gd name="connsiteX28" fmla="*/ 1020111 w 1355743"/>
                <a:gd name="connsiteY28" fmla="*/ 10571 h 502127"/>
                <a:gd name="connsiteX29" fmla="*/ 1183963 w 1355743"/>
                <a:gd name="connsiteY29" fmla="*/ 7928 h 502127"/>
                <a:gd name="connsiteX30" fmla="*/ 1355743 w 1355743"/>
                <a:gd name="connsiteY30"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58680 w 1355743"/>
                <a:gd name="connsiteY5" fmla="*/ 10428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55743" h="502127">
                  <a:moveTo>
                    <a:pt x="0" y="496841"/>
                  </a:moveTo>
                  <a:lnTo>
                    <a:pt x="33842" y="391130"/>
                  </a:lnTo>
                  <a:lnTo>
                    <a:pt x="38819" y="259197"/>
                  </a:lnTo>
                  <a:lnTo>
                    <a:pt x="46439" y="119438"/>
                  </a:lnTo>
                  <a:cubicBezTo>
                    <a:pt x="46473" y="95345"/>
                    <a:pt x="46508" y="71251"/>
                    <a:pt x="46542" y="47158"/>
                  </a:cubicBezTo>
                  <a:cubicBezTo>
                    <a:pt x="41275" y="34915"/>
                    <a:pt x="63947" y="22671"/>
                    <a:pt x="58680" y="10428"/>
                  </a:cubicBezTo>
                  <a:lnTo>
                    <a:pt x="95140" y="0"/>
                  </a:lnTo>
                  <a:lnTo>
                    <a:pt x="169137" y="5285"/>
                  </a:lnTo>
                  <a:lnTo>
                    <a:pt x="261634" y="2642"/>
                  </a:lnTo>
                  <a:lnTo>
                    <a:pt x="322418" y="7928"/>
                  </a:lnTo>
                  <a:lnTo>
                    <a:pt x="346203" y="7928"/>
                  </a:lnTo>
                  <a:lnTo>
                    <a:pt x="401701" y="7928"/>
                  </a:lnTo>
                  <a:lnTo>
                    <a:pt x="457200" y="2642"/>
                  </a:lnTo>
                  <a:lnTo>
                    <a:pt x="602552" y="10571"/>
                  </a:lnTo>
                  <a:lnTo>
                    <a:pt x="692407" y="7928"/>
                  </a:lnTo>
                  <a:lnTo>
                    <a:pt x="710906" y="5285"/>
                  </a:lnTo>
                  <a:lnTo>
                    <a:pt x="689764" y="105711"/>
                  </a:lnTo>
                  <a:lnTo>
                    <a:pt x="684478" y="251063"/>
                  </a:lnTo>
                  <a:lnTo>
                    <a:pt x="676550" y="356774"/>
                  </a:lnTo>
                  <a:lnTo>
                    <a:pt x="665979" y="454557"/>
                  </a:lnTo>
                  <a:lnTo>
                    <a:pt x="689764" y="502127"/>
                  </a:lnTo>
                  <a:lnTo>
                    <a:pt x="700335" y="420201"/>
                  </a:lnTo>
                  <a:lnTo>
                    <a:pt x="732048" y="309204"/>
                  </a:lnTo>
                  <a:lnTo>
                    <a:pt x="750548" y="190279"/>
                  </a:lnTo>
                  <a:cubicBezTo>
                    <a:pt x="751429" y="155923"/>
                    <a:pt x="752309" y="121567"/>
                    <a:pt x="753190" y="87211"/>
                  </a:cubicBezTo>
                  <a:lnTo>
                    <a:pt x="766404" y="36998"/>
                  </a:lnTo>
                  <a:lnTo>
                    <a:pt x="829831" y="2642"/>
                  </a:lnTo>
                  <a:lnTo>
                    <a:pt x="1020111" y="10571"/>
                  </a:lnTo>
                  <a:lnTo>
                    <a:pt x="1183963" y="7928"/>
                  </a:lnTo>
                  <a:lnTo>
                    <a:pt x="1355743" y="7928"/>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2" name="Line 89"/>
            <p:cNvSpPr>
              <a:spLocks noChangeAspect="1" noChangeShapeType="1"/>
            </p:cNvSpPr>
            <p:nvPr/>
          </p:nvSpPr>
          <p:spPr bwMode="auto">
            <a:xfrm rot="5400000">
              <a:off x="7725055" y="1537672"/>
              <a:ext cx="50958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233" name="直接连接符 232"/>
            <p:cNvCxnSpPr/>
            <p:nvPr/>
          </p:nvCxnSpPr>
          <p:spPr bwMode="auto">
            <a:xfrm flipH="1">
              <a:off x="6969769" y="1777226"/>
              <a:ext cx="1289584"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Text Box 57"/>
            <p:cNvSpPr txBox="1">
              <a:spLocks noChangeArrowheads="1"/>
            </p:cNvSpPr>
            <p:nvPr/>
          </p:nvSpPr>
          <p:spPr bwMode="auto">
            <a:xfrm>
              <a:off x="7990582" y="1266921"/>
              <a:ext cx="45650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solidFill>
                    <a:srgbClr val="000066"/>
                  </a:solidFill>
                  <a:sym typeface="Symbol" pitchFamily="18" charset="2"/>
                </a:rPr>
                <a:t>z</a:t>
              </a:r>
              <a:r>
                <a:rPr lang="en-US" altLang="zh-CN" sz="2000" b="1" baseline="-25000" dirty="0" smtClean="0">
                  <a:solidFill>
                    <a:srgbClr val="000066"/>
                  </a:solidFill>
                  <a:sym typeface="Symbol" pitchFamily="18" charset="2"/>
                </a:rPr>
                <a:t>0</a:t>
              </a:r>
              <a:endParaRPr lang="en-US" altLang="zh-CN" sz="2000" b="1" baseline="-25000" dirty="0">
                <a:solidFill>
                  <a:srgbClr val="000066"/>
                </a:solidFill>
                <a:sym typeface="Symbol" pitchFamily="18" charset="2"/>
              </a:endParaRPr>
            </a:p>
          </p:txBody>
        </p:sp>
      </p:grpSp>
      <p:grpSp>
        <p:nvGrpSpPr>
          <p:cNvPr id="5" name="组合 4"/>
          <p:cNvGrpSpPr/>
          <p:nvPr/>
        </p:nvGrpSpPr>
        <p:grpSpPr>
          <a:xfrm>
            <a:off x="4532313" y="2607880"/>
            <a:ext cx="1338262" cy="2424495"/>
            <a:chOff x="4532313" y="2607880"/>
            <a:chExt cx="1338262" cy="2424495"/>
          </a:xfrm>
        </p:grpSpPr>
        <p:sp>
          <p:nvSpPr>
            <p:cNvPr id="173" name="任意多边形 172"/>
            <p:cNvSpPr/>
            <p:nvPr/>
          </p:nvSpPr>
          <p:spPr bwMode="auto">
            <a:xfrm>
              <a:off x="4712068" y="3118427"/>
              <a:ext cx="764015" cy="129168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74" name="直接连接符 173"/>
            <p:cNvCxnSpPr>
              <a:stCxn id="173" idx="0"/>
              <a:endCxn id="173" idx="2"/>
            </p:cNvCxnSpPr>
            <p:nvPr/>
          </p:nvCxnSpPr>
          <p:spPr bwMode="auto">
            <a:xfrm>
              <a:off x="4712068" y="3118427"/>
              <a:ext cx="764015" cy="12916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箭头连接符 176"/>
            <p:cNvCxnSpPr/>
            <p:nvPr/>
          </p:nvCxnSpPr>
          <p:spPr bwMode="auto">
            <a:xfrm flipH="1">
              <a:off x="4707178" y="4409495"/>
              <a:ext cx="76652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直接箭头连接符 177"/>
            <p:cNvCxnSpPr/>
            <p:nvPr/>
          </p:nvCxnSpPr>
          <p:spPr bwMode="auto">
            <a:xfrm flipH="1">
              <a:off x="4699843" y="4189082"/>
              <a:ext cx="64413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接箭头连接符 178"/>
            <p:cNvCxnSpPr/>
            <p:nvPr/>
          </p:nvCxnSpPr>
          <p:spPr bwMode="auto">
            <a:xfrm flipH="1">
              <a:off x="4707178" y="3974420"/>
              <a:ext cx="50044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直接箭头连接符 179"/>
            <p:cNvCxnSpPr/>
            <p:nvPr/>
          </p:nvCxnSpPr>
          <p:spPr bwMode="auto">
            <a:xfrm flipH="1">
              <a:off x="4707178" y="3759759"/>
              <a:ext cx="37883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直接箭头连接符 180"/>
            <p:cNvCxnSpPr/>
            <p:nvPr/>
          </p:nvCxnSpPr>
          <p:spPr bwMode="auto">
            <a:xfrm flipH="1">
              <a:off x="4694954" y="3538354"/>
              <a:ext cx="25470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直接箭头连接符 181"/>
            <p:cNvCxnSpPr/>
            <p:nvPr/>
          </p:nvCxnSpPr>
          <p:spPr bwMode="auto">
            <a:xfrm flipH="1">
              <a:off x="4702288" y="3323692"/>
              <a:ext cx="11839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Line 89"/>
            <p:cNvSpPr>
              <a:spLocks noChangeAspect="1" noChangeShapeType="1"/>
            </p:cNvSpPr>
            <p:nvPr/>
          </p:nvSpPr>
          <p:spPr bwMode="auto">
            <a:xfrm flipH="1">
              <a:off x="4709758" y="4561586"/>
              <a:ext cx="75260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184" name="直接连接符 183"/>
            <p:cNvCxnSpPr/>
            <p:nvPr/>
          </p:nvCxnSpPr>
          <p:spPr bwMode="auto">
            <a:xfrm>
              <a:off x="5456235" y="4472272"/>
              <a:ext cx="0" cy="15739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直接连接符 184"/>
            <p:cNvCxnSpPr/>
            <p:nvPr/>
          </p:nvCxnSpPr>
          <p:spPr bwMode="auto">
            <a:xfrm>
              <a:off x="4710859" y="4462248"/>
              <a:ext cx="0" cy="17570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6" name="组合 185"/>
            <p:cNvGrpSpPr/>
            <p:nvPr/>
          </p:nvGrpSpPr>
          <p:grpSpPr>
            <a:xfrm>
              <a:off x="4805904" y="3869059"/>
              <a:ext cx="322524" cy="449713"/>
              <a:chOff x="3572819" y="4097349"/>
              <a:chExt cx="322524" cy="449713"/>
            </a:xfrm>
          </p:grpSpPr>
          <p:sp>
            <p:nvSpPr>
              <p:cNvPr id="187" name="椭圆 186"/>
              <p:cNvSpPr/>
              <p:nvPr/>
            </p:nvSpPr>
            <p:spPr bwMode="auto">
              <a:xfrm>
                <a:off x="3612182" y="4304837"/>
                <a:ext cx="242225" cy="242225"/>
              </a:xfrm>
              <a:prstGeom prst="ellipse">
                <a:avLst/>
              </a:prstGeom>
              <a:solidFill>
                <a:schemeClr val="bg1"/>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8" name="TextBox 187"/>
              <p:cNvSpPr txBox="1"/>
              <p:nvPr/>
            </p:nvSpPr>
            <p:spPr>
              <a:xfrm>
                <a:off x="3572819" y="4097349"/>
                <a:ext cx="322524" cy="421654"/>
              </a:xfrm>
              <a:prstGeom prst="rect">
                <a:avLst/>
              </a:prstGeom>
              <a:noFill/>
            </p:spPr>
            <p:txBody>
              <a:bodyPr wrap="none" rtlCol="0">
                <a:spAutoFit/>
              </a:bodyPr>
              <a:lstStyle/>
              <a:p>
                <a:r>
                  <a:rPr lang="en-US" altLang="zh-CN" sz="3200" b="1" baseline="-25000" dirty="0" smtClean="0">
                    <a:solidFill>
                      <a:srgbClr val="C00000"/>
                    </a:solidFill>
                    <a:latin typeface="黑体" panose="02010609060101010101" pitchFamily="49" charset="-122"/>
                    <a:ea typeface="黑体" panose="02010609060101010101" pitchFamily="49" charset="-122"/>
                  </a:rPr>
                  <a:t>+</a:t>
                </a:r>
                <a:endParaRPr lang="zh-CN" altLang="en-US" sz="3200" b="1" baseline="-25000" dirty="0">
                  <a:solidFill>
                    <a:srgbClr val="C00000"/>
                  </a:solidFill>
                  <a:latin typeface="黑体" panose="02010609060101010101" pitchFamily="49" charset="-122"/>
                  <a:ea typeface="黑体" panose="02010609060101010101" pitchFamily="49" charset="-122"/>
                </a:endParaRPr>
              </a:p>
            </p:txBody>
          </p:sp>
        </p:grpSp>
        <p:graphicFrame>
          <p:nvGraphicFramePr>
            <p:cNvPr id="194" name="对象 193"/>
            <p:cNvGraphicFramePr>
              <a:graphicFrameLocks noChangeAspect="1"/>
            </p:cNvGraphicFramePr>
            <p:nvPr>
              <p:extLst>
                <p:ext uri="{D42A27DB-BD31-4B8C-83A1-F6EECF244321}">
                  <p14:modId xmlns:p14="http://schemas.microsoft.com/office/powerpoint/2010/main" val="2038738829"/>
                </p:ext>
              </p:extLst>
            </p:nvPr>
          </p:nvGraphicFramePr>
          <p:xfrm>
            <a:off x="4532313" y="4657725"/>
            <a:ext cx="1338262" cy="374650"/>
          </p:xfrm>
          <a:graphic>
            <a:graphicData uri="http://schemas.openxmlformats.org/presentationml/2006/ole">
              <mc:AlternateContent xmlns:mc="http://schemas.openxmlformats.org/markup-compatibility/2006">
                <mc:Choice xmlns:v="urn:schemas-microsoft-com:vml" Requires="v">
                  <p:oleObj spid="_x0000_s1749408" name="Equation" r:id="rId12" imgW="939600" imgH="266400" progId="Equation.DSMT4">
                    <p:embed/>
                  </p:oleObj>
                </mc:Choice>
                <mc:Fallback>
                  <p:oleObj name="Equation" r:id="rId12" imgW="939600" imgH="266400" progId="Equation.DSMT4">
                    <p:embed/>
                    <p:pic>
                      <p:nvPicPr>
                        <p:cNvPr id="0" name=""/>
                        <p:cNvPicPr>
                          <a:picLocks noChangeAspect="1" noChangeArrowheads="1"/>
                        </p:cNvPicPr>
                        <p:nvPr/>
                      </p:nvPicPr>
                      <p:blipFill>
                        <a:blip r:embed="rId13"/>
                        <a:srcRect/>
                        <a:stretch>
                          <a:fillRect/>
                        </a:stretch>
                      </p:blipFill>
                      <p:spPr bwMode="auto">
                        <a:xfrm>
                          <a:off x="4532313" y="4657725"/>
                          <a:ext cx="1338262" cy="374650"/>
                        </a:xfrm>
                        <a:prstGeom prst="rect">
                          <a:avLst/>
                        </a:prstGeom>
                        <a:noFill/>
                        <a:ln>
                          <a:noFill/>
                        </a:ln>
                        <a:effectLst/>
                      </p:spPr>
                    </p:pic>
                  </p:oleObj>
                </mc:Fallback>
              </mc:AlternateContent>
            </a:graphicData>
          </a:graphic>
        </p:graphicFrame>
        <p:cxnSp>
          <p:nvCxnSpPr>
            <p:cNvPr id="189" name="直接连接符 188"/>
            <p:cNvCxnSpPr/>
            <p:nvPr/>
          </p:nvCxnSpPr>
          <p:spPr bwMode="auto">
            <a:xfrm>
              <a:off x="4702288" y="2607880"/>
              <a:ext cx="9780" cy="1805116"/>
            </a:xfrm>
            <a:prstGeom prst="line">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6"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a:t>
            </a:r>
            <a:r>
              <a:rPr kumimoji="1" lang="zh-CN" altLang="en-US" sz="4000" b="1" dirty="0" smtClean="0">
                <a:solidFill>
                  <a:srgbClr val="000066"/>
                </a:solidFill>
                <a:latin typeface="黑体" pitchFamily="2" charset="-122"/>
                <a:ea typeface="黑体" pitchFamily="2" charset="-122"/>
              </a:rPr>
              <a:t>肯主动土压力计算</a:t>
            </a:r>
            <a:endParaRPr kumimoji="1" lang="zh-CN" altLang="en-US" sz="4000" b="1" dirty="0">
              <a:solidFill>
                <a:srgbClr val="000066"/>
              </a:solidFill>
              <a:latin typeface="黑体" pitchFamily="2" charset="-122"/>
              <a:ea typeface="黑体" pitchFamily="2" charset="-122"/>
            </a:endParaRPr>
          </a:p>
        </p:txBody>
      </p:sp>
      <p:sp>
        <p:nvSpPr>
          <p:cNvPr id="87" name="Text Box 46"/>
          <p:cNvSpPr txBox="1">
            <a:spLocks noChangeArrowheads="1"/>
          </p:cNvSpPr>
          <p:nvPr/>
        </p:nvSpPr>
        <p:spPr bwMode="auto">
          <a:xfrm>
            <a:off x="363383" y="764183"/>
            <a:ext cx="50376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黏性土郎肯主动土压力计算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88" name="AutoShape 58"/>
          <p:cNvSpPr>
            <a:spLocks noChangeArrowheads="1"/>
          </p:cNvSpPr>
          <p:nvPr/>
        </p:nvSpPr>
        <p:spPr bwMode="auto">
          <a:xfrm>
            <a:off x="5982963" y="114320"/>
            <a:ext cx="1844985" cy="849027"/>
          </a:xfrm>
          <a:prstGeom prst="wedgeRoundRectCallout">
            <a:avLst>
              <a:gd name="adj1" fmla="val 42068"/>
              <a:gd name="adj2" fmla="val 115863"/>
              <a:gd name="adj3" fmla="val 16667"/>
            </a:avLst>
          </a:prstGeom>
          <a:solidFill>
            <a:schemeClr val="accent5">
              <a:lumMod val="75000"/>
            </a:schemeClr>
          </a:solidFill>
          <a:ln w="19050" algn="ctr">
            <a:solidFill>
              <a:srgbClr val="000066"/>
            </a:solidFill>
            <a:miter lim="800000"/>
            <a:headEnd/>
            <a:tailEnd/>
          </a:ln>
          <a:extLst/>
        </p:spPr>
        <p:txBody>
          <a:bodyPr wrap="square" lIns="0" r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r>
              <a:rPr lang="zh-CN" altLang="en-US" sz="2000" b="1">
                <a:solidFill>
                  <a:srgbClr val="000066"/>
                </a:solidFill>
              </a:rPr>
              <a:t>不支护直立开挖的最大深度</a:t>
            </a:r>
          </a:p>
        </p:txBody>
      </p:sp>
      <p:grpSp>
        <p:nvGrpSpPr>
          <p:cNvPr id="10" name="组合 9"/>
          <p:cNvGrpSpPr/>
          <p:nvPr/>
        </p:nvGrpSpPr>
        <p:grpSpPr>
          <a:xfrm>
            <a:off x="1952625" y="2427088"/>
            <a:ext cx="1803554" cy="2546356"/>
            <a:chOff x="1952625" y="2427088"/>
            <a:chExt cx="1803554" cy="2546356"/>
          </a:xfrm>
        </p:grpSpPr>
        <p:cxnSp>
          <p:nvCxnSpPr>
            <p:cNvPr id="217" name="直接连接符 216"/>
            <p:cNvCxnSpPr/>
            <p:nvPr/>
          </p:nvCxnSpPr>
          <p:spPr bwMode="auto">
            <a:xfrm flipH="1">
              <a:off x="2648773" y="4412012"/>
              <a:ext cx="110212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任意多边形 153"/>
            <p:cNvSpPr/>
            <p:nvPr/>
          </p:nvSpPr>
          <p:spPr bwMode="auto">
            <a:xfrm>
              <a:off x="2662642" y="2606965"/>
              <a:ext cx="310504" cy="523212"/>
            </a:xfrm>
            <a:custGeom>
              <a:avLst/>
              <a:gdLst>
                <a:gd name="connsiteX0" fmla="*/ 0 w 310504"/>
                <a:gd name="connsiteY0" fmla="*/ 0 h 523212"/>
                <a:gd name="connsiteX1" fmla="*/ 310504 w 310504"/>
                <a:gd name="connsiteY1" fmla="*/ 0 h 523212"/>
                <a:gd name="connsiteX2" fmla="*/ 310504 w 310504"/>
                <a:gd name="connsiteY2" fmla="*/ 523212 h 523212"/>
                <a:gd name="connsiteX3" fmla="*/ 0 w 310504"/>
                <a:gd name="connsiteY3" fmla="*/ 0 h 523212"/>
              </a:gdLst>
              <a:ahLst/>
              <a:cxnLst>
                <a:cxn ang="0">
                  <a:pos x="connsiteX0" y="connsiteY0"/>
                </a:cxn>
                <a:cxn ang="0">
                  <a:pos x="connsiteX1" y="connsiteY1"/>
                </a:cxn>
                <a:cxn ang="0">
                  <a:pos x="connsiteX2" y="connsiteY2"/>
                </a:cxn>
                <a:cxn ang="0">
                  <a:pos x="connsiteX3" y="connsiteY3"/>
                </a:cxn>
              </a:cxnLst>
              <a:rect l="l" t="t" r="r" b="b"/>
              <a:pathLst>
                <a:path w="310504" h="523212">
                  <a:moveTo>
                    <a:pt x="0" y="0"/>
                  </a:moveTo>
                  <a:lnTo>
                    <a:pt x="310504" y="0"/>
                  </a:lnTo>
                  <a:lnTo>
                    <a:pt x="310504" y="523212"/>
                  </a:lnTo>
                  <a:lnTo>
                    <a:pt x="0" y="0"/>
                  </a:lnTo>
                  <a:close/>
                </a:path>
              </a:pathLst>
            </a:custGeom>
            <a:solidFill>
              <a:schemeClr val="tx2">
                <a:lumMod val="20000"/>
                <a:lumOff val="8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5" name="任意多边形 134"/>
            <p:cNvSpPr/>
            <p:nvPr/>
          </p:nvSpPr>
          <p:spPr bwMode="auto">
            <a:xfrm>
              <a:off x="2982926" y="3120397"/>
              <a:ext cx="764015" cy="129168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58" name="直接连接符 157"/>
            <p:cNvCxnSpPr>
              <a:stCxn id="154" idx="0"/>
              <a:endCxn id="135" idx="2"/>
            </p:cNvCxnSpPr>
            <p:nvPr/>
          </p:nvCxnSpPr>
          <p:spPr bwMode="auto">
            <a:xfrm>
              <a:off x="2662642" y="2606965"/>
              <a:ext cx="1084299" cy="18051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接连接符 155"/>
            <p:cNvCxnSpPr/>
            <p:nvPr/>
          </p:nvCxnSpPr>
          <p:spPr bwMode="auto">
            <a:xfrm>
              <a:off x="2655308" y="2607440"/>
              <a:ext cx="0" cy="180143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Text Box 57"/>
            <p:cNvSpPr txBox="1">
              <a:spLocks noChangeArrowheads="1"/>
            </p:cNvSpPr>
            <p:nvPr/>
          </p:nvSpPr>
          <p:spPr bwMode="auto">
            <a:xfrm>
              <a:off x="2834242" y="4588915"/>
              <a:ext cx="817507"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a:solidFill>
                    <a:srgbClr val="000066"/>
                  </a:solidFill>
                  <a:sym typeface="Symbol" pitchFamily="18" charset="2"/>
                </a:rPr>
                <a:t> H </a:t>
              </a:r>
              <a:r>
                <a:rPr lang="en-US" altLang="zh-CN" sz="1800" b="1" i="1" dirty="0" err="1">
                  <a:solidFill>
                    <a:srgbClr val="000066"/>
                  </a:solidFill>
                  <a:sym typeface="Symbol" pitchFamily="18" charset="2"/>
                </a:rPr>
                <a:t>K</a:t>
              </a:r>
              <a:r>
                <a:rPr lang="en-US" altLang="zh-CN" sz="1800" b="1" baseline="-25000" dirty="0" err="1">
                  <a:solidFill>
                    <a:srgbClr val="000066"/>
                  </a:solidFill>
                  <a:sym typeface="Symbol" pitchFamily="18" charset="2"/>
                </a:rPr>
                <a:t>a</a:t>
              </a:r>
              <a:endParaRPr lang="en-US" altLang="zh-CN" sz="1800" b="1" baseline="-25000" dirty="0">
                <a:solidFill>
                  <a:srgbClr val="000066"/>
                </a:solidFill>
                <a:sym typeface="Symbol" pitchFamily="18" charset="2"/>
              </a:endParaRPr>
            </a:p>
          </p:txBody>
        </p:sp>
        <p:cxnSp>
          <p:nvCxnSpPr>
            <p:cNvPr id="136" name="直接箭头连接符 135"/>
            <p:cNvCxnSpPr/>
            <p:nvPr/>
          </p:nvCxnSpPr>
          <p:spPr bwMode="auto">
            <a:xfrm flipH="1">
              <a:off x="2978036" y="4411465"/>
              <a:ext cx="76652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箭头连接符 136"/>
            <p:cNvCxnSpPr/>
            <p:nvPr/>
          </p:nvCxnSpPr>
          <p:spPr bwMode="auto">
            <a:xfrm flipH="1">
              <a:off x="2970701" y="4191052"/>
              <a:ext cx="64413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直接箭头连接符 137"/>
            <p:cNvCxnSpPr/>
            <p:nvPr/>
          </p:nvCxnSpPr>
          <p:spPr bwMode="auto">
            <a:xfrm flipH="1">
              <a:off x="2978036" y="3976390"/>
              <a:ext cx="50044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直接箭头连接符 138"/>
            <p:cNvCxnSpPr/>
            <p:nvPr/>
          </p:nvCxnSpPr>
          <p:spPr bwMode="auto">
            <a:xfrm flipH="1">
              <a:off x="2978036" y="3761729"/>
              <a:ext cx="37883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箭头连接符 139"/>
            <p:cNvCxnSpPr/>
            <p:nvPr/>
          </p:nvCxnSpPr>
          <p:spPr bwMode="auto">
            <a:xfrm flipH="1">
              <a:off x="2965812" y="3540324"/>
              <a:ext cx="25470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箭头连接符 140"/>
            <p:cNvCxnSpPr/>
            <p:nvPr/>
          </p:nvCxnSpPr>
          <p:spPr bwMode="auto">
            <a:xfrm flipH="1">
              <a:off x="2973146" y="3325662"/>
              <a:ext cx="11839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Line 89"/>
            <p:cNvSpPr>
              <a:spLocks noChangeAspect="1" noChangeShapeType="1"/>
            </p:cNvSpPr>
            <p:nvPr/>
          </p:nvSpPr>
          <p:spPr bwMode="auto">
            <a:xfrm flipH="1">
              <a:off x="2644346" y="4563556"/>
              <a:ext cx="1111833"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146" name="直接连接符 145"/>
            <p:cNvCxnSpPr/>
            <p:nvPr/>
          </p:nvCxnSpPr>
          <p:spPr bwMode="auto">
            <a:xfrm>
              <a:off x="3754350" y="4474242"/>
              <a:ext cx="0" cy="18305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接连接符 146"/>
            <p:cNvCxnSpPr/>
            <p:nvPr/>
          </p:nvCxnSpPr>
          <p:spPr bwMode="auto">
            <a:xfrm flipH="1">
              <a:off x="2650490" y="4464218"/>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9" name="组合 148"/>
            <p:cNvGrpSpPr/>
            <p:nvPr/>
          </p:nvGrpSpPr>
          <p:grpSpPr>
            <a:xfrm>
              <a:off x="3076762" y="3871029"/>
              <a:ext cx="322524" cy="449713"/>
              <a:chOff x="3572819" y="4097349"/>
              <a:chExt cx="322524" cy="449713"/>
            </a:xfrm>
          </p:grpSpPr>
          <p:sp>
            <p:nvSpPr>
              <p:cNvPr id="150" name="椭圆 149"/>
              <p:cNvSpPr/>
              <p:nvPr/>
            </p:nvSpPr>
            <p:spPr bwMode="auto">
              <a:xfrm>
                <a:off x="3612182" y="4304837"/>
                <a:ext cx="242225" cy="242225"/>
              </a:xfrm>
              <a:prstGeom prst="ellipse">
                <a:avLst/>
              </a:prstGeom>
              <a:solidFill>
                <a:schemeClr val="bg1"/>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1" name="TextBox 150"/>
              <p:cNvSpPr txBox="1"/>
              <p:nvPr/>
            </p:nvSpPr>
            <p:spPr>
              <a:xfrm>
                <a:off x="3572819" y="4097349"/>
                <a:ext cx="322524" cy="421654"/>
              </a:xfrm>
              <a:prstGeom prst="rect">
                <a:avLst/>
              </a:prstGeom>
              <a:noFill/>
            </p:spPr>
            <p:txBody>
              <a:bodyPr wrap="none" rtlCol="0">
                <a:spAutoFit/>
              </a:bodyPr>
              <a:lstStyle/>
              <a:p>
                <a:r>
                  <a:rPr lang="en-US" altLang="zh-CN" sz="3200" b="1" baseline="-25000" dirty="0" smtClean="0">
                    <a:solidFill>
                      <a:srgbClr val="C00000"/>
                    </a:solidFill>
                    <a:latin typeface="黑体" panose="02010609060101010101" pitchFamily="49" charset="-122"/>
                    <a:ea typeface="黑体" panose="02010609060101010101" pitchFamily="49" charset="-122"/>
                  </a:rPr>
                  <a:t>+</a:t>
                </a:r>
                <a:endParaRPr lang="zh-CN" altLang="en-US" sz="3200" b="1" baseline="-25000" dirty="0">
                  <a:solidFill>
                    <a:srgbClr val="C00000"/>
                  </a:solidFill>
                  <a:latin typeface="黑体" panose="02010609060101010101" pitchFamily="49" charset="-122"/>
                  <a:ea typeface="黑体" panose="02010609060101010101" pitchFamily="49" charset="-122"/>
                </a:endParaRPr>
              </a:p>
            </p:txBody>
          </p:sp>
        </p:grpSp>
        <p:sp>
          <p:nvSpPr>
            <p:cNvPr id="107" name="Line 89"/>
            <p:cNvSpPr>
              <a:spLocks noChangeAspect="1" noChangeShapeType="1"/>
            </p:cNvSpPr>
            <p:nvPr/>
          </p:nvSpPr>
          <p:spPr bwMode="auto">
            <a:xfrm flipH="1">
              <a:off x="2641364" y="4192454"/>
              <a:ext cx="319380"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aphicFrame>
          <p:nvGraphicFramePr>
            <p:cNvPr id="110" name="对象 109"/>
            <p:cNvGraphicFramePr>
              <a:graphicFrameLocks noChangeAspect="1"/>
            </p:cNvGraphicFramePr>
            <p:nvPr>
              <p:extLst>
                <p:ext uri="{D42A27DB-BD31-4B8C-83A1-F6EECF244321}">
                  <p14:modId xmlns:p14="http://schemas.microsoft.com/office/powerpoint/2010/main" val="2007458197"/>
                </p:ext>
              </p:extLst>
            </p:nvPr>
          </p:nvGraphicFramePr>
          <p:xfrm>
            <a:off x="1952625" y="4633913"/>
            <a:ext cx="561975" cy="293687"/>
          </p:xfrm>
          <a:graphic>
            <a:graphicData uri="http://schemas.openxmlformats.org/presentationml/2006/ole">
              <mc:AlternateContent xmlns:mc="http://schemas.openxmlformats.org/markup-compatibility/2006">
                <mc:Choice xmlns:v="urn:schemas-microsoft-com:vml" Requires="v">
                  <p:oleObj spid="_x0000_s1749409" name="Equation" r:id="rId14" imgW="457200" imgH="241200" progId="Equation.DSMT4">
                    <p:embed/>
                  </p:oleObj>
                </mc:Choice>
                <mc:Fallback>
                  <p:oleObj name="Equation" r:id="rId14" imgW="457200" imgH="241200" progId="Equation.DSMT4">
                    <p:embed/>
                    <p:pic>
                      <p:nvPicPr>
                        <p:cNvPr id="0" name=""/>
                        <p:cNvPicPr>
                          <a:picLocks noChangeAspect="1" noChangeArrowheads="1"/>
                        </p:cNvPicPr>
                        <p:nvPr/>
                      </p:nvPicPr>
                      <p:blipFill>
                        <a:blip r:embed="rId15"/>
                        <a:srcRect/>
                        <a:stretch>
                          <a:fillRect/>
                        </a:stretch>
                      </p:blipFill>
                      <p:spPr bwMode="auto">
                        <a:xfrm>
                          <a:off x="1952625" y="4633913"/>
                          <a:ext cx="561975" cy="293687"/>
                        </a:xfrm>
                        <a:prstGeom prst="rect">
                          <a:avLst/>
                        </a:prstGeom>
                        <a:noFill/>
                        <a:ln>
                          <a:noFill/>
                        </a:ln>
                        <a:effectLst/>
                      </p:spPr>
                    </p:pic>
                  </p:oleObj>
                </mc:Fallback>
              </mc:AlternateContent>
            </a:graphicData>
          </a:graphic>
        </p:graphicFrame>
        <p:cxnSp>
          <p:nvCxnSpPr>
            <p:cNvPr id="160" name="直接连接符 159"/>
            <p:cNvCxnSpPr>
              <a:stCxn id="154" idx="1"/>
              <a:endCxn id="135" idx="1"/>
            </p:cNvCxnSpPr>
            <p:nvPr/>
          </p:nvCxnSpPr>
          <p:spPr bwMode="auto">
            <a:xfrm>
              <a:off x="2973146" y="2606965"/>
              <a:ext cx="9780" cy="18051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7" name="组合 166"/>
            <p:cNvGrpSpPr/>
            <p:nvPr/>
          </p:nvGrpSpPr>
          <p:grpSpPr>
            <a:xfrm>
              <a:off x="2699672" y="2427088"/>
              <a:ext cx="322524" cy="435645"/>
              <a:chOff x="3572819" y="4111417"/>
              <a:chExt cx="322524" cy="435645"/>
            </a:xfrm>
          </p:grpSpPr>
          <p:sp>
            <p:nvSpPr>
              <p:cNvPr id="168" name="椭圆 167"/>
              <p:cNvSpPr/>
              <p:nvPr/>
            </p:nvSpPr>
            <p:spPr bwMode="auto">
              <a:xfrm>
                <a:off x="3612182" y="4304837"/>
                <a:ext cx="242225" cy="242225"/>
              </a:xfrm>
              <a:prstGeom prst="ellipse">
                <a:avLst/>
              </a:prstGeom>
              <a:solidFill>
                <a:schemeClr val="bg1"/>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9" name="TextBox 168"/>
              <p:cNvSpPr txBox="1"/>
              <p:nvPr/>
            </p:nvSpPr>
            <p:spPr>
              <a:xfrm>
                <a:off x="3572819" y="4111417"/>
                <a:ext cx="322524" cy="421654"/>
              </a:xfrm>
              <a:prstGeom prst="rect">
                <a:avLst/>
              </a:prstGeom>
              <a:noFill/>
            </p:spPr>
            <p:txBody>
              <a:bodyPr wrap="none" rtlCol="0">
                <a:spAutoFit/>
              </a:bodyPr>
              <a:lstStyle/>
              <a:p>
                <a:r>
                  <a:rPr lang="en-US" altLang="zh-CN" sz="3200" b="1" baseline="-25000" dirty="0" smtClean="0">
                    <a:solidFill>
                      <a:srgbClr val="C00000"/>
                    </a:solidFill>
                    <a:latin typeface="黑体" panose="02010609060101010101" pitchFamily="49" charset="-122"/>
                    <a:ea typeface="黑体" panose="02010609060101010101" pitchFamily="49" charset="-122"/>
                  </a:rPr>
                  <a:t>-</a:t>
                </a:r>
                <a:endParaRPr lang="zh-CN" altLang="en-US" sz="3200" b="1" baseline="-25000" dirty="0">
                  <a:solidFill>
                    <a:srgbClr val="C00000"/>
                  </a:solidFill>
                  <a:latin typeface="黑体" panose="02010609060101010101" pitchFamily="49" charset="-122"/>
                  <a:ea typeface="黑体" panose="02010609060101010101" pitchFamily="49" charset="-122"/>
                </a:endParaRPr>
              </a:p>
            </p:txBody>
          </p:sp>
        </p:grpSp>
        <p:cxnSp>
          <p:nvCxnSpPr>
            <p:cNvPr id="199" name="直接箭头连接符 198"/>
            <p:cNvCxnSpPr/>
            <p:nvPr/>
          </p:nvCxnSpPr>
          <p:spPr bwMode="auto">
            <a:xfrm>
              <a:off x="2655311" y="2604995"/>
              <a:ext cx="317988"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任意多边形 8"/>
            <p:cNvSpPr/>
            <p:nvPr/>
          </p:nvSpPr>
          <p:spPr bwMode="auto">
            <a:xfrm>
              <a:off x="2284235" y="4254255"/>
              <a:ext cx="501331" cy="307153"/>
            </a:xfrm>
            <a:custGeom>
              <a:avLst/>
              <a:gdLst>
                <a:gd name="connsiteX0" fmla="*/ 501331 w 501331"/>
                <a:gd name="connsiteY0" fmla="*/ 0 h 307153"/>
                <a:gd name="connsiteX1" fmla="*/ 300092 w 501331"/>
                <a:gd name="connsiteY1" fmla="*/ 67079 h 307153"/>
                <a:gd name="connsiteX2" fmla="*/ 81201 w 501331"/>
                <a:gd name="connsiteY2" fmla="*/ 215360 h 307153"/>
                <a:gd name="connsiteX3" fmla="*/ 0 w 501331"/>
                <a:gd name="connsiteY3" fmla="*/ 307153 h 307153"/>
                <a:gd name="connsiteX0" fmla="*/ 501331 w 501331"/>
                <a:gd name="connsiteY0" fmla="*/ 0 h 307153"/>
                <a:gd name="connsiteX1" fmla="*/ 300092 w 501331"/>
                <a:gd name="connsiteY1" fmla="*/ 67079 h 307153"/>
                <a:gd name="connsiteX2" fmla="*/ 120037 w 501331"/>
                <a:gd name="connsiteY2" fmla="*/ 165933 h 307153"/>
                <a:gd name="connsiteX3" fmla="*/ 0 w 501331"/>
                <a:gd name="connsiteY3" fmla="*/ 307153 h 307153"/>
                <a:gd name="connsiteX0" fmla="*/ 501331 w 501331"/>
                <a:gd name="connsiteY0" fmla="*/ 0 h 307153"/>
                <a:gd name="connsiteX1" fmla="*/ 293031 w 501331"/>
                <a:gd name="connsiteY1" fmla="*/ 56488 h 307153"/>
                <a:gd name="connsiteX2" fmla="*/ 120037 w 501331"/>
                <a:gd name="connsiteY2" fmla="*/ 165933 h 307153"/>
                <a:gd name="connsiteX3" fmla="*/ 0 w 501331"/>
                <a:gd name="connsiteY3" fmla="*/ 307153 h 307153"/>
              </a:gdLst>
              <a:ahLst/>
              <a:cxnLst>
                <a:cxn ang="0">
                  <a:pos x="connsiteX0" y="connsiteY0"/>
                </a:cxn>
                <a:cxn ang="0">
                  <a:pos x="connsiteX1" y="connsiteY1"/>
                </a:cxn>
                <a:cxn ang="0">
                  <a:pos x="connsiteX2" y="connsiteY2"/>
                </a:cxn>
                <a:cxn ang="0">
                  <a:pos x="connsiteX3" y="connsiteY3"/>
                </a:cxn>
              </a:cxnLst>
              <a:rect l="l" t="t" r="r" b="b"/>
              <a:pathLst>
                <a:path w="501331" h="307153">
                  <a:moveTo>
                    <a:pt x="501331" y="0"/>
                  </a:moveTo>
                  <a:cubicBezTo>
                    <a:pt x="435722" y="15593"/>
                    <a:pt x="356580" y="28833"/>
                    <a:pt x="293031" y="56488"/>
                  </a:cubicBezTo>
                  <a:cubicBezTo>
                    <a:pt x="229482" y="84143"/>
                    <a:pt x="168875" y="124156"/>
                    <a:pt x="120037" y="165933"/>
                  </a:cubicBezTo>
                  <a:cubicBezTo>
                    <a:pt x="71199" y="207710"/>
                    <a:pt x="15593" y="281262"/>
                    <a:pt x="0" y="307153"/>
                  </a:cubicBezTo>
                </a:path>
              </a:pathLst>
            </a:custGeom>
            <a:noFill/>
            <a:ln w="127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Tree>
    <p:extLst>
      <p:ext uri="{BB962C8B-B14F-4D97-AF65-F5344CB8AC3E}">
        <p14:creationId xmlns:p14="http://schemas.microsoft.com/office/powerpoint/2010/main" val="349639681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par>
                          <p:cTn id="17" fill="hold">
                            <p:stCondLst>
                              <p:cond delay="500"/>
                            </p:stCondLst>
                            <p:childTnLst>
                              <p:par>
                                <p:cTn id="18" presetID="31" presetClass="entr" presetSubtype="0" fill="hold" nodeType="afterEffect">
                                  <p:stCondLst>
                                    <p:cond delay="0"/>
                                  </p:stCondLst>
                                  <p:childTnLst>
                                    <p:set>
                                      <p:cBhvr>
                                        <p:cTn id="19" dur="1" fill="hold">
                                          <p:stCondLst>
                                            <p:cond delay="0"/>
                                          </p:stCondLst>
                                        </p:cTn>
                                        <p:tgtEl>
                                          <p:spTgt spid="229"/>
                                        </p:tgtEl>
                                        <p:attrNameLst>
                                          <p:attrName>style.visibility</p:attrName>
                                        </p:attrNameLst>
                                      </p:cBhvr>
                                      <p:to>
                                        <p:strVal val="visible"/>
                                      </p:to>
                                    </p:set>
                                    <p:anim calcmode="lin" valueType="num">
                                      <p:cBhvr>
                                        <p:cTn id="20" dur="1000" fill="hold"/>
                                        <p:tgtEl>
                                          <p:spTgt spid="229"/>
                                        </p:tgtEl>
                                        <p:attrNameLst>
                                          <p:attrName>ppt_w</p:attrName>
                                        </p:attrNameLst>
                                      </p:cBhvr>
                                      <p:tavLst>
                                        <p:tav tm="0">
                                          <p:val>
                                            <p:fltVal val="0"/>
                                          </p:val>
                                        </p:tav>
                                        <p:tav tm="100000">
                                          <p:val>
                                            <p:strVal val="#ppt_w"/>
                                          </p:val>
                                        </p:tav>
                                      </p:tavLst>
                                    </p:anim>
                                    <p:anim calcmode="lin" valueType="num">
                                      <p:cBhvr>
                                        <p:cTn id="21" dur="1000" fill="hold"/>
                                        <p:tgtEl>
                                          <p:spTgt spid="229"/>
                                        </p:tgtEl>
                                        <p:attrNameLst>
                                          <p:attrName>ppt_h</p:attrName>
                                        </p:attrNameLst>
                                      </p:cBhvr>
                                      <p:tavLst>
                                        <p:tav tm="0">
                                          <p:val>
                                            <p:fltVal val="0"/>
                                          </p:val>
                                        </p:tav>
                                        <p:tav tm="100000">
                                          <p:val>
                                            <p:strVal val="#ppt_h"/>
                                          </p:val>
                                        </p:tav>
                                      </p:tavLst>
                                    </p:anim>
                                    <p:anim calcmode="lin" valueType="num">
                                      <p:cBhvr>
                                        <p:cTn id="22" dur="1000" fill="hold"/>
                                        <p:tgtEl>
                                          <p:spTgt spid="229"/>
                                        </p:tgtEl>
                                        <p:attrNameLst>
                                          <p:attrName>style.rotation</p:attrName>
                                        </p:attrNameLst>
                                      </p:cBhvr>
                                      <p:tavLst>
                                        <p:tav tm="0">
                                          <p:val>
                                            <p:fltVal val="90"/>
                                          </p:val>
                                        </p:tav>
                                        <p:tav tm="100000">
                                          <p:val>
                                            <p:fltVal val="0"/>
                                          </p:val>
                                        </p:tav>
                                      </p:tavLst>
                                    </p:anim>
                                    <p:animEffect transition="in" filter="fade">
                                      <p:cBhvr>
                                        <p:cTn id="23" dur="1000"/>
                                        <p:tgtEl>
                                          <p:spTgt spid="229"/>
                                        </p:tgtEl>
                                      </p:cBhvr>
                                    </p:animEffect>
                                  </p:childTnLst>
                                </p:cTn>
                              </p:par>
                            </p:childTnLst>
                          </p:cTn>
                        </p:par>
                        <p:par>
                          <p:cTn id="24" fill="hold">
                            <p:stCondLst>
                              <p:cond delay="1500"/>
                            </p:stCondLst>
                            <p:childTnLst>
                              <p:par>
                                <p:cTn id="25" presetID="1"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par>
                          <p:cTn id="27" fill="hold">
                            <p:stCondLst>
                              <p:cond delay="1500"/>
                            </p:stCondLst>
                            <p:childTnLst>
                              <p:par>
                                <p:cTn id="28" presetID="22" presetClass="entr" presetSubtype="8" fill="hold" grpId="0" nodeType="afterEffect">
                                  <p:stCondLst>
                                    <p:cond delay="0"/>
                                  </p:stCondLst>
                                  <p:iterate type="wd">
                                    <p:tmPct val="100000"/>
                                  </p:iterate>
                                  <p:childTnLst>
                                    <p:set>
                                      <p:cBhvr>
                                        <p:cTn id="29" dur="1" fill="hold">
                                          <p:stCondLst>
                                            <p:cond delay="0"/>
                                          </p:stCondLst>
                                        </p:cTn>
                                        <p:tgtEl>
                                          <p:spTgt spid="88"/>
                                        </p:tgtEl>
                                        <p:attrNameLst>
                                          <p:attrName>style.visibility</p:attrName>
                                        </p:attrNameLst>
                                      </p:cBhvr>
                                      <p:to>
                                        <p:strVal val="visible"/>
                                      </p:to>
                                    </p:set>
                                    <p:animEffect transition="in" filter="wipe(left)">
                                      <p:cBhvr>
                                        <p:cTn id="30" dur="300"/>
                                        <p:tgtEl>
                                          <p:spTgt spid="8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1"/>
                                        </p:tgtEl>
                                        <p:attrNameLst>
                                          <p:attrName>style.visibility</p:attrName>
                                        </p:attrNameLst>
                                      </p:cBhvr>
                                      <p:to>
                                        <p:strVal val="visible"/>
                                      </p:to>
                                    </p:set>
                                    <p:animEffect transition="in" filter="wipe(left)">
                                      <p:cBhvr>
                                        <p:cTn id="35" dur="1000"/>
                                        <p:tgtEl>
                                          <p:spTgt spid="221"/>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par>
                          <p:cTn id="40" fill="hold">
                            <p:stCondLst>
                              <p:cond delay="1500"/>
                            </p:stCondLst>
                            <p:childTnLst>
                              <p:par>
                                <p:cTn id="41" presetID="22" presetClass="entr" presetSubtype="8"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animBg="1"/>
      <p:bldP spid="88"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46568" y="715027"/>
            <a:ext cx="1777958" cy="2494898"/>
            <a:chOff x="6046568" y="715027"/>
            <a:chExt cx="1777958" cy="2494898"/>
          </a:xfrm>
        </p:grpSpPr>
        <p:sp>
          <p:nvSpPr>
            <p:cNvPr id="62" name="任意多边形 61"/>
            <p:cNvSpPr/>
            <p:nvPr/>
          </p:nvSpPr>
          <p:spPr bwMode="auto">
            <a:xfrm>
              <a:off x="6586135" y="1284728"/>
              <a:ext cx="764015" cy="129168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3" name="直接连接符 62"/>
            <p:cNvCxnSpPr>
              <a:stCxn id="62" idx="0"/>
              <a:endCxn id="62" idx="2"/>
            </p:cNvCxnSpPr>
            <p:nvPr/>
          </p:nvCxnSpPr>
          <p:spPr bwMode="auto">
            <a:xfrm>
              <a:off x="6586135" y="1284728"/>
              <a:ext cx="764015" cy="12916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箭头连接符 63"/>
            <p:cNvCxnSpPr/>
            <p:nvPr/>
          </p:nvCxnSpPr>
          <p:spPr bwMode="auto">
            <a:xfrm flipH="1">
              <a:off x="6581245" y="2575796"/>
              <a:ext cx="76652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箭头连接符 73"/>
            <p:cNvCxnSpPr/>
            <p:nvPr/>
          </p:nvCxnSpPr>
          <p:spPr bwMode="auto">
            <a:xfrm flipH="1">
              <a:off x="6573910" y="2355383"/>
              <a:ext cx="64413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箭头连接符 79"/>
            <p:cNvCxnSpPr/>
            <p:nvPr/>
          </p:nvCxnSpPr>
          <p:spPr bwMode="auto">
            <a:xfrm flipH="1">
              <a:off x="6581245" y="2140721"/>
              <a:ext cx="50044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81"/>
            <p:cNvCxnSpPr/>
            <p:nvPr/>
          </p:nvCxnSpPr>
          <p:spPr bwMode="auto">
            <a:xfrm flipH="1">
              <a:off x="6581245" y="1926060"/>
              <a:ext cx="37883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p:cNvCxnSpPr/>
            <p:nvPr/>
          </p:nvCxnSpPr>
          <p:spPr bwMode="auto">
            <a:xfrm flipH="1">
              <a:off x="6569021" y="1704655"/>
              <a:ext cx="25470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箭头连接符 97"/>
            <p:cNvCxnSpPr/>
            <p:nvPr/>
          </p:nvCxnSpPr>
          <p:spPr bwMode="auto">
            <a:xfrm flipH="1">
              <a:off x="6576355" y="1489993"/>
              <a:ext cx="11839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Line 89"/>
            <p:cNvSpPr>
              <a:spLocks noChangeAspect="1" noChangeShapeType="1"/>
            </p:cNvSpPr>
            <p:nvPr/>
          </p:nvSpPr>
          <p:spPr bwMode="auto">
            <a:xfrm flipH="1">
              <a:off x="6583825" y="2727887"/>
              <a:ext cx="75260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104" name="直接连接符 103"/>
            <p:cNvCxnSpPr/>
            <p:nvPr/>
          </p:nvCxnSpPr>
          <p:spPr bwMode="auto">
            <a:xfrm>
              <a:off x="7330302" y="2638573"/>
              <a:ext cx="0" cy="15739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p:nvPr/>
          </p:nvCxnSpPr>
          <p:spPr bwMode="auto">
            <a:xfrm>
              <a:off x="6584926" y="2628549"/>
              <a:ext cx="0" cy="17570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12" name="对象 111"/>
            <p:cNvGraphicFramePr>
              <a:graphicFrameLocks noChangeAspect="1"/>
            </p:cNvGraphicFramePr>
            <p:nvPr>
              <p:extLst>
                <p:ext uri="{D42A27DB-BD31-4B8C-83A1-F6EECF244321}">
                  <p14:modId xmlns:p14="http://schemas.microsoft.com/office/powerpoint/2010/main" val="2184542210"/>
                </p:ext>
              </p:extLst>
            </p:nvPr>
          </p:nvGraphicFramePr>
          <p:xfrm>
            <a:off x="6354763" y="2800350"/>
            <a:ext cx="1379537" cy="409575"/>
          </p:xfrm>
          <a:graphic>
            <a:graphicData uri="http://schemas.openxmlformats.org/presentationml/2006/ole">
              <mc:AlternateContent xmlns:mc="http://schemas.openxmlformats.org/markup-compatibility/2006">
                <mc:Choice xmlns:v="urn:schemas-microsoft-com:vml" Requires="v">
                  <p:oleObj spid="_x0000_s1671974" name="Equation" r:id="rId4" imgW="888840" imgH="266400" progId="Equation.DSMT4">
                    <p:embed/>
                  </p:oleObj>
                </mc:Choice>
                <mc:Fallback>
                  <p:oleObj name="Equation" r:id="rId4" imgW="888840" imgH="266400" progId="Equation.DSMT4">
                    <p:embed/>
                    <p:pic>
                      <p:nvPicPr>
                        <p:cNvPr id="0" name=""/>
                        <p:cNvPicPr>
                          <a:picLocks noChangeAspect="1" noChangeArrowheads="1"/>
                        </p:cNvPicPr>
                        <p:nvPr/>
                      </p:nvPicPr>
                      <p:blipFill>
                        <a:blip r:embed="rId5"/>
                        <a:srcRect/>
                        <a:stretch>
                          <a:fillRect/>
                        </a:stretch>
                      </p:blipFill>
                      <p:spPr bwMode="auto">
                        <a:xfrm>
                          <a:off x="6354763" y="2800350"/>
                          <a:ext cx="1379537" cy="409575"/>
                        </a:xfrm>
                        <a:prstGeom prst="rect">
                          <a:avLst/>
                        </a:prstGeom>
                        <a:noFill/>
                        <a:ln>
                          <a:noFill/>
                        </a:ln>
                        <a:effectLst/>
                      </p:spPr>
                    </p:pic>
                  </p:oleObj>
                </mc:Fallback>
              </mc:AlternateContent>
            </a:graphicData>
          </a:graphic>
        </p:graphicFrame>
        <p:cxnSp>
          <p:nvCxnSpPr>
            <p:cNvPr id="114" name="直接连接符 113"/>
            <p:cNvCxnSpPr/>
            <p:nvPr/>
          </p:nvCxnSpPr>
          <p:spPr bwMode="auto">
            <a:xfrm>
              <a:off x="6576355" y="774181"/>
              <a:ext cx="9780" cy="1805116"/>
            </a:xfrm>
            <a:prstGeom prst="line">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6046568" y="2586142"/>
              <a:ext cx="177795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Line 89"/>
            <p:cNvSpPr>
              <a:spLocks noChangeAspect="1" noChangeShapeType="1"/>
            </p:cNvSpPr>
            <p:nvPr/>
          </p:nvSpPr>
          <p:spPr bwMode="auto">
            <a:xfrm rot="5400000">
              <a:off x="5301329" y="1674504"/>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94" name="直接连接符 93"/>
            <p:cNvCxnSpPr/>
            <p:nvPr/>
          </p:nvCxnSpPr>
          <p:spPr bwMode="auto">
            <a:xfrm flipH="1">
              <a:off x="6062377" y="770826"/>
              <a:ext cx="35883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57"/>
            <p:cNvSpPr txBox="1">
              <a:spLocks noChangeArrowheads="1"/>
            </p:cNvSpPr>
            <p:nvPr/>
          </p:nvSpPr>
          <p:spPr bwMode="auto">
            <a:xfrm>
              <a:off x="6152497" y="1569188"/>
              <a:ext cx="3311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sp>
          <p:nvSpPr>
            <p:cNvPr id="110" name="Line 89"/>
            <p:cNvSpPr>
              <a:spLocks noChangeAspect="1" noChangeShapeType="1"/>
            </p:cNvSpPr>
            <p:nvPr/>
          </p:nvSpPr>
          <p:spPr bwMode="auto">
            <a:xfrm rot="5400000">
              <a:off x="6866612" y="1044198"/>
              <a:ext cx="50958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11" name="Text Box 57"/>
            <p:cNvSpPr txBox="1">
              <a:spLocks noChangeArrowheads="1"/>
            </p:cNvSpPr>
            <p:nvPr/>
          </p:nvSpPr>
          <p:spPr bwMode="auto">
            <a:xfrm>
              <a:off x="7193099" y="715027"/>
              <a:ext cx="456506"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smtClean="0">
                  <a:solidFill>
                    <a:srgbClr val="000066"/>
                  </a:solidFill>
                  <a:sym typeface="Symbol" pitchFamily="18" charset="2"/>
                </a:rPr>
                <a:t>z</a:t>
              </a:r>
              <a:r>
                <a:rPr lang="en-US" altLang="zh-CN" sz="2400" b="1" baseline="-25000" dirty="0" smtClean="0">
                  <a:solidFill>
                    <a:srgbClr val="000066"/>
                  </a:solidFill>
                  <a:sym typeface="Symbol" pitchFamily="18" charset="2"/>
                </a:rPr>
                <a:t>0</a:t>
              </a:r>
              <a:endParaRPr lang="en-US" altLang="zh-CN" sz="2400" b="1" baseline="-25000" dirty="0">
                <a:solidFill>
                  <a:srgbClr val="000066"/>
                </a:solidFill>
                <a:sym typeface="Symbol" pitchFamily="18" charset="2"/>
              </a:endParaRPr>
            </a:p>
          </p:txBody>
        </p:sp>
        <p:cxnSp>
          <p:nvCxnSpPr>
            <p:cNvPr id="113" name="直接连接符 112"/>
            <p:cNvCxnSpPr/>
            <p:nvPr/>
          </p:nvCxnSpPr>
          <p:spPr bwMode="auto">
            <a:xfrm flipH="1">
              <a:off x="6704746" y="789404"/>
              <a:ext cx="53429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连接符 114"/>
            <p:cNvCxnSpPr/>
            <p:nvPr/>
          </p:nvCxnSpPr>
          <p:spPr bwMode="auto">
            <a:xfrm flipH="1">
              <a:off x="6565049" y="1302023"/>
              <a:ext cx="840686"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38</a:t>
            </a:fld>
            <a:endParaRPr lang="zh-CN" altLang="en-US" dirty="0">
              <a:solidFill>
                <a:srgbClr val="C00000"/>
              </a:solidFill>
            </a:endParaRPr>
          </a:p>
        </p:txBody>
      </p:sp>
      <p:grpSp>
        <p:nvGrpSpPr>
          <p:cNvPr id="2" name="组合 1"/>
          <p:cNvGrpSpPr/>
          <p:nvPr/>
        </p:nvGrpSpPr>
        <p:grpSpPr>
          <a:xfrm>
            <a:off x="6597558" y="1438034"/>
            <a:ext cx="2299955" cy="1136081"/>
            <a:chOff x="6597558" y="1438034"/>
            <a:chExt cx="2299955" cy="1136081"/>
          </a:xfrm>
        </p:grpSpPr>
        <p:sp>
          <p:nvSpPr>
            <p:cNvPr id="76" name="Text Box 827"/>
            <p:cNvSpPr txBox="1">
              <a:spLocks noChangeArrowheads="1"/>
            </p:cNvSpPr>
            <p:nvPr/>
          </p:nvSpPr>
          <p:spPr bwMode="auto">
            <a:xfrm flipH="1">
              <a:off x="7156267" y="1438034"/>
              <a:ext cx="594154"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84" name="直接连接符 83"/>
            <p:cNvCxnSpPr/>
            <p:nvPr/>
          </p:nvCxnSpPr>
          <p:spPr bwMode="auto">
            <a:xfrm rot="5400000">
              <a:off x="7629179" y="1860136"/>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Line 89"/>
            <p:cNvSpPr>
              <a:spLocks noChangeAspect="1" noChangeShapeType="1"/>
            </p:cNvSpPr>
            <p:nvPr/>
          </p:nvSpPr>
          <p:spPr bwMode="auto">
            <a:xfrm rot="5400000">
              <a:off x="7333469" y="2282409"/>
              <a:ext cx="58341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1" name="直接箭头连接符 80"/>
            <p:cNvCxnSpPr/>
            <p:nvPr/>
          </p:nvCxnSpPr>
          <p:spPr bwMode="auto">
            <a:xfrm flipH="1">
              <a:off x="6597558" y="1980166"/>
              <a:ext cx="869133"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57"/>
            <p:cNvSpPr txBox="1">
              <a:spLocks noChangeArrowheads="1"/>
            </p:cNvSpPr>
            <p:nvPr/>
          </p:nvSpPr>
          <p:spPr bwMode="auto">
            <a:xfrm>
              <a:off x="7622012" y="2120183"/>
              <a:ext cx="127550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a:solidFill>
                    <a:srgbClr val="000066"/>
                  </a:solidFill>
                  <a:sym typeface="Symbol" pitchFamily="18" charset="2"/>
                </a:rPr>
                <a:t>(</a:t>
              </a:r>
              <a:r>
                <a:rPr lang="en-US" altLang="zh-CN" sz="1800" b="1" i="1" dirty="0" smtClean="0">
                  <a:solidFill>
                    <a:srgbClr val="000066"/>
                  </a:solidFill>
                  <a:sym typeface="Symbol" pitchFamily="18" charset="2"/>
                </a:rPr>
                <a:t>H-</a:t>
              </a:r>
              <a:r>
                <a:rPr lang="en-US" altLang="zh-CN" sz="1800" b="1" dirty="0" smtClean="0">
                  <a:solidFill>
                    <a:srgbClr val="000066"/>
                  </a:solidFill>
                  <a:sym typeface="Symbol" pitchFamily="18" charset="2"/>
                </a:rPr>
                <a:t>z</a:t>
              </a:r>
              <a:r>
                <a:rPr lang="en-US" altLang="zh-CN" sz="1800" b="1" baseline="-25000" dirty="0" smtClean="0">
                  <a:solidFill>
                    <a:srgbClr val="000066"/>
                  </a:solidFill>
                  <a:sym typeface="Symbol" pitchFamily="18" charset="2"/>
                </a:rPr>
                <a:t>0</a:t>
              </a:r>
              <a:r>
                <a:rPr lang="en-US" altLang="zh-CN" sz="1800" b="1" dirty="0" smtClean="0">
                  <a:solidFill>
                    <a:srgbClr val="000066"/>
                  </a:solidFill>
                  <a:sym typeface="Symbol" pitchFamily="18" charset="2"/>
                </a:rPr>
                <a:t>)/3</a:t>
              </a:r>
              <a:endParaRPr lang="en-US" altLang="zh-CN" sz="1800" b="1" baseline="-25000" dirty="0">
                <a:solidFill>
                  <a:srgbClr val="000066"/>
                </a:solidFill>
                <a:sym typeface="Symbol" pitchFamily="18" charset="2"/>
              </a:endParaRPr>
            </a:p>
          </p:txBody>
        </p:sp>
      </p:grpSp>
      <p:sp>
        <p:nvSpPr>
          <p:cNvPr id="91" name="Text Box 57"/>
          <p:cNvSpPr txBox="1">
            <a:spLocks noChangeArrowheads="1"/>
          </p:cNvSpPr>
          <p:nvPr/>
        </p:nvSpPr>
        <p:spPr bwMode="auto">
          <a:xfrm>
            <a:off x="802038" y="1596454"/>
            <a:ext cx="345937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总土压力（单位墙长度）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2" name="Text Box 57"/>
          <p:cNvSpPr txBox="1">
            <a:spLocks noChangeArrowheads="1"/>
          </p:cNvSpPr>
          <p:nvPr/>
        </p:nvSpPr>
        <p:spPr bwMode="auto">
          <a:xfrm>
            <a:off x="808784" y="3787135"/>
            <a:ext cx="4603916"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总土压力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作用点：底部</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以上</a:t>
            </a:r>
            <a:r>
              <a:rPr lang="en-US" altLang="zh-CN" sz="2000" b="1" dirty="0">
                <a:solidFill>
                  <a:srgbClr val="000066"/>
                </a:solidFill>
                <a:sym typeface="Symbol" pitchFamily="18" charset="2"/>
              </a:rPr>
              <a:t>(</a:t>
            </a:r>
            <a:r>
              <a:rPr lang="en-US" altLang="zh-CN" sz="2000" b="1" i="1" dirty="0">
                <a:solidFill>
                  <a:srgbClr val="000066"/>
                </a:solidFill>
                <a:sym typeface="Symbol" pitchFamily="18" charset="2"/>
              </a:rPr>
              <a:t>H-</a:t>
            </a:r>
            <a:r>
              <a:rPr lang="en-US" altLang="zh-CN" sz="2000" b="1" dirty="0">
                <a:solidFill>
                  <a:srgbClr val="000066"/>
                </a:solidFill>
                <a:sym typeface="Symbol" pitchFamily="18" charset="2"/>
              </a:rPr>
              <a:t>z</a:t>
            </a:r>
            <a:r>
              <a:rPr lang="en-US" altLang="zh-CN" sz="2000" b="1" baseline="-25000" dirty="0">
                <a:solidFill>
                  <a:srgbClr val="000066"/>
                </a:solidFill>
                <a:sym typeface="Symbol" pitchFamily="18" charset="2"/>
              </a:rPr>
              <a:t>0</a:t>
            </a:r>
            <a:r>
              <a:rPr lang="en-US" altLang="zh-CN" sz="2000" b="1" dirty="0">
                <a:solidFill>
                  <a:srgbClr val="000066"/>
                </a:solidFill>
                <a:sym typeface="Symbol" pitchFamily="18" charset="2"/>
              </a:rPr>
              <a:t>)/</a:t>
            </a:r>
            <a:r>
              <a:rPr lang="en-US" altLang="zh-CN" sz="2000" b="1" dirty="0" smtClean="0">
                <a:solidFill>
                  <a:srgbClr val="000066"/>
                </a:solidFill>
                <a:sym typeface="Symbol" pitchFamily="18" charset="2"/>
              </a:rPr>
              <a:t>3</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处</a:t>
            </a:r>
            <a:endParaRPr lang="zh-CN" altLang="en-US" sz="2000" b="1" dirty="0">
              <a:solidFill>
                <a:srgbClr val="000066"/>
              </a:solidFill>
              <a:latin typeface="幼圆" panose="02010509060101010101" pitchFamily="49" charset="-122"/>
              <a:ea typeface="幼圆" panose="02010509060101010101" pitchFamily="49" charset="-122"/>
              <a:sym typeface="Symbol" pitchFamily="18" charset="2"/>
            </a:endParaRPr>
          </a:p>
        </p:txBody>
      </p:sp>
      <p:sp>
        <p:nvSpPr>
          <p:cNvPr id="96" name="Text Box 57"/>
          <p:cNvSpPr txBox="1">
            <a:spLocks noChangeArrowheads="1"/>
          </p:cNvSpPr>
          <p:nvPr/>
        </p:nvSpPr>
        <p:spPr bwMode="auto">
          <a:xfrm>
            <a:off x="811091" y="4336571"/>
            <a:ext cx="436559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破</a:t>
            </a:r>
            <a:r>
              <a:rPr lang="zh-CN" altLang="en-US" sz="2000" b="1" dirty="0" smtClean="0">
                <a:solidFill>
                  <a:srgbClr val="000066"/>
                </a:solidFill>
                <a:ea typeface="幼圆" pitchFamily="49" charset="-122"/>
                <a:cs typeface="Times New Roman" panose="02020603050405020304" pitchFamily="18" charset="0"/>
              </a:rPr>
              <a:t>裂</a:t>
            </a:r>
            <a:r>
              <a:rPr lang="zh-CN" altLang="en-US" sz="2000" b="1" dirty="0">
                <a:solidFill>
                  <a:srgbClr val="000066"/>
                </a:solidFill>
                <a:ea typeface="幼圆" pitchFamily="49" charset="-122"/>
                <a:cs typeface="Times New Roman" panose="02020603050405020304" pitchFamily="18" charset="0"/>
              </a:rPr>
              <a:t>面方向：与水平夹角</a:t>
            </a:r>
            <a:r>
              <a:rPr lang="en-US" altLang="zh-CN" sz="2000" b="1" dirty="0">
                <a:solidFill>
                  <a:srgbClr val="000066"/>
                </a:solidFill>
                <a:ea typeface="幼圆" pitchFamily="49" charset="-122"/>
                <a:cs typeface="Times New Roman" panose="02020603050405020304" pitchFamily="18" charset="0"/>
              </a:rPr>
              <a:t>45</a:t>
            </a:r>
            <a:r>
              <a:rPr lang="en-US" altLang="zh-CN" sz="2000" b="1" baseline="30000" dirty="0">
                <a:solidFill>
                  <a:srgbClr val="000000"/>
                </a:solidFill>
                <a:ea typeface="华文新魏" pitchFamily="2" charset="-122"/>
                <a:cs typeface="Times New Roman" panose="02020603050405020304" pitchFamily="18" charset="0"/>
                <a:sym typeface="Symbol" pitchFamily="18" charset="2"/>
              </a:rPr>
              <a:t>  </a:t>
            </a:r>
            <a:r>
              <a:rPr lang="en-US" altLang="zh-CN" sz="2000" b="1" dirty="0">
                <a:solidFill>
                  <a:srgbClr val="000066"/>
                </a:solidFill>
                <a:ea typeface="幼圆" pitchFamily="49" charset="-122"/>
                <a:cs typeface="Times New Roman" panose="02020603050405020304" pitchFamily="18" charset="0"/>
              </a:rPr>
              <a:t>+ </a:t>
            </a:r>
            <a:r>
              <a:rPr lang="en-US" altLang="zh-CN" sz="2000" b="1" i="1" dirty="0">
                <a:solidFill>
                  <a:srgbClr val="000000"/>
                </a:solidFill>
                <a:cs typeface="Times New Roman" panose="02020603050405020304" pitchFamily="18" charset="0"/>
                <a:sym typeface="Symbol" pitchFamily="18" charset="2"/>
              </a:rPr>
              <a:t></a:t>
            </a:r>
            <a:r>
              <a:rPr lang="en-US" altLang="zh-CN" sz="2000" b="1" dirty="0">
                <a:solidFill>
                  <a:srgbClr val="000066"/>
                </a:solidFill>
                <a:ea typeface="幼圆" pitchFamily="49" charset="-122"/>
                <a:cs typeface="Times New Roman" panose="02020603050405020304" pitchFamily="18" charset="0"/>
              </a:rPr>
              <a:t> /2 </a:t>
            </a:r>
            <a:endParaRPr lang="zh-CN" altLang="en-US" sz="2000" b="1" dirty="0">
              <a:solidFill>
                <a:srgbClr val="000066"/>
              </a:solidFill>
              <a:ea typeface="幼圆" pitchFamily="49" charset="-122"/>
              <a:cs typeface="Times New Roman" panose="02020603050405020304" pitchFamily="18" charset="0"/>
            </a:endParaRPr>
          </a:p>
        </p:txBody>
      </p:sp>
      <p:grpSp>
        <p:nvGrpSpPr>
          <p:cNvPr id="5" name="组合 4"/>
          <p:cNvGrpSpPr/>
          <p:nvPr/>
        </p:nvGrpSpPr>
        <p:grpSpPr>
          <a:xfrm>
            <a:off x="5748463" y="3567924"/>
            <a:ext cx="2467056" cy="1862667"/>
            <a:chOff x="5748463" y="3567924"/>
            <a:chExt cx="2467056" cy="1862667"/>
          </a:xfrm>
        </p:grpSpPr>
        <p:sp>
          <p:nvSpPr>
            <p:cNvPr id="116" name="任意多边形 115"/>
            <p:cNvSpPr/>
            <p:nvPr/>
          </p:nvSpPr>
          <p:spPr bwMode="auto">
            <a:xfrm>
              <a:off x="6734512" y="3568816"/>
              <a:ext cx="1408047" cy="179304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 name="connsiteX0" fmla="*/ 6962 w 878891"/>
                <a:gd name="connsiteY0" fmla="*/ 1879600 h 1879600"/>
                <a:gd name="connsiteX1" fmla="*/ 17 w 878891"/>
                <a:gd name="connsiteY1" fmla="*/ 535362 h 1879600"/>
                <a:gd name="connsiteX2" fmla="*/ 866567 w 878891"/>
                <a:gd name="connsiteY2" fmla="*/ 0 h 1879600"/>
                <a:gd name="connsiteX3" fmla="*/ 878891 w 878891"/>
                <a:gd name="connsiteY3" fmla="*/ 1873250 h 1879600"/>
                <a:gd name="connsiteX4" fmla="*/ 6962 w 878891"/>
                <a:gd name="connsiteY4"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866567 w 878891"/>
                <a:gd name="connsiteY3" fmla="*/ 0 h 1879600"/>
                <a:gd name="connsiteX4" fmla="*/ 878891 w 878891"/>
                <a:gd name="connsiteY4" fmla="*/ 1873250 h 1879600"/>
                <a:gd name="connsiteX5" fmla="*/ 6962 w 878891"/>
                <a:gd name="connsiteY5"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866567 w 878891"/>
                <a:gd name="connsiteY4" fmla="*/ 0 h 1879600"/>
                <a:gd name="connsiteX5" fmla="*/ 878891 w 878891"/>
                <a:gd name="connsiteY5" fmla="*/ 1873250 h 1879600"/>
                <a:gd name="connsiteX6" fmla="*/ 6962 w 878891"/>
                <a:gd name="connsiteY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866567 w 878891"/>
                <a:gd name="connsiteY5" fmla="*/ 0 h 1879600"/>
                <a:gd name="connsiteX6" fmla="*/ 878891 w 878891"/>
                <a:gd name="connsiteY6" fmla="*/ 1873250 h 1879600"/>
                <a:gd name="connsiteX7" fmla="*/ 6962 w 878891"/>
                <a:gd name="connsiteY7"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866567 w 878891"/>
                <a:gd name="connsiteY6" fmla="*/ 0 h 1879600"/>
                <a:gd name="connsiteX7" fmla="*/ 878891 w 878891"/>
                <a:gd name="connsiteY7" fmla="*/ 1873250 h 1879600"/>
                <a:gd name="connsiteX8" fmla="*/ 6962 w 878891"/>
                <a:gd name="connsiteY8"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866567 w 878891"/>
                <a:gd name="connsiteY7" fmla="*/ 0 h 1879600"/>
                <a:gd name="connsiteX8" fmla="*/ 878891 w 878891"/>
                <a:gd name="connsiteY8" fmla="*/ 1873250 h 1879600"/>
                <a:gd name="connsiteX9" fmla="*/ 6962 w 878891"/>
                <a:gd name="connsiteY9"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866567 w 878891"/>
                <a:gd name="connsiteY8" fmla="*/ 0 h 1879600"/>
                <a:gd name="connsiteX9" fmla="*/ 878891 w 878891"/>
                <a:gd name="connsiteY9" fmla="*/ 1873250 h 1879600"/>
                <a:gd name="connsiteX10" fmla="*/ 6962 w 878891"/>
                <a:gd name="connsiteY10"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866567 w 878891"/>
                <a:gd name="connsiteY9" fmla="*/ 0 h 1879600"/>
                <a:gd name="connsiteX10" fmla="*/ 878891 w 878891"/>
                <a:gd name="connsiteY10" fmla="*/ 1873250 h 1879600"/>
                <a:gd name="connsiteX11" fmla="*/ 6962 w 878891"/>
                <a:gd name="connsiteY11"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866567 w 878891"/>
                <a:gd name="connsiteY10" fmla="*/ 0 h 1879600"/>
                <a:gd name="connsiteX11" fmla="*/ 878891 w 878891"/>
                <a:gd name="connsiteY11" fmla="*/ 1873250 h 1879600"/>
                <a:gd name="connsiteX12" fmla="*/ 6962 w 878891"/>
                <a:gd name="connsiteY12"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866567 w 878891"/>
                <a:gd name="connsiteY11" fmla="*/ 0 h 1879600"/>
                <a:gd name="connsiteX12" fmla="*/ 878891 w 878891"/>
                <a:gd name="connsiteY12" fmla="*/ 1873250 h 1879600"/>
                <a:gd name="connsiteX13" fmla="*/ 6962 w 878891"/>
                <a:gd name="connsiteY13"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866567 w 878891"/>
                <a:gd name="connsiteY12" fmla="*/ 0 h 1879600"/>
                <a:gd name="connsiteX13" fmla="*/ 878891 w 878891"/>
                <a:gd name="connsiteY13" fmla="*/ 1873250 h 1879600"/>
                <a:gd name="connsiteX14" fmla="*/ 6962 w 878891"/>
                <a:gd name="connsiteY14"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866567 w 878891"/>
                <a:gd name="connsiteY13" fmla="*/ 0 h 1879600"/>
                <a:gd name="connsiteX14" fmla="*/ 878891 w 878891"/>
                <a:gd name="connsiteY14" fmla="*/ 1873250 h 1879600"/>
                <a:gd name="connsiteX15" fmla="*/ 6962 w 878891"/>
                <a:gd name="connsiteY15"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866567 w 878891"/>
                <a:gd name="connsiteY14" fmla="*/ 0 h 1879600"/>
                <a:gd name="connsiteX15" fmla="*/ 878891 w 878891"/>
                <a:gd name="connsiteY15" fmla="*/ 1873250 h 1879600"/>
                <a:gd name="connsiteX16" fmla="*/ 6962 w 878891"/>
                <a:gd name="connsiteY1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866567 w 878891"/>
                <a:gd name="connsiteY15" fmla="*/ 0 h 1879600"/>
                <a:gd name="connsiteX16" fmla="*/ 878891 w 878891"/>
                <a:gd name="connsiteY16" fmla="*/ 1873250 h 1879600"/>
                <a:gd name="connsiteX17" fmla="*/ 6962 w 878891"/>
                <a:gd name="connsiteY17"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866567 w 878891"/>
                <a:gd name="connsiteY16" fmla="*/ 0 h 1879600"/>
                <a:gd name="connsiteX17" fmla="*/ 878891 w 878891"/>
                <a:gd name="connsiteY17" fmla="*/ 1873250 h 1879600"/>
                <a:gd name="connsiteX18" fmla="*/ 6962 w 878891"/>
                <a:gd name="connsiteY18"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866567 w 878891"/>
                <a:gd name="connsiteY17" fmla="*/ 0 h 1879600"/>
                <a:gd name="connsiteX18" fmla="*/ 878891 w 878891"/>
                <a:gd name="connsiteY18" fmla="*/ 1873250 h 1879600"/>
                <a:gd name="connsiteX19" fmla="*/ 6962 w 878891"/>
                <a:gd name="connsiteY19"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239904 w 878891"/>
                <a:gd name="connsiteY17" fmla="*/ 432276 h 1879600"/>
                <a:gd name="connsiteX18" fmla="*/ 866567 w 878891"/>
                <a:gd name="connsiteY18" fmla="*/ 0 h 1879600"/>
                <a:gd name="connsiteX19" fmla="*/ 878891 w 878891"/>
                <a:gd name="connsiteY19" fmla="*/ 1873250 h 1879600"/>
                <a:gd name="connsiteX20" fmla="*/ 6962 w 878891"/>
                <a:gd name="connsiteY20"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3511 w 878891"/>
                <a:gd name="connsiteY11" fmla="*/ 70769 h 1879600"/>
                <a:gd name="connsiteX12" fmla="*/ 216810 w 878891"/>
                <a:gd name="connsiteY12" fmla="*/ 164595 h 1879600"/>
                <a:gd name="connsiteX13" fmla="*/ 213511 w 878891"/>
                <a:gd name="connsiteY13" fmla="*/ 247384 h 1879600"/>
                <a:gd name="connsiteX14" fmla="*/ 206913 w 878891"/>
                <a:gd name="connsiteY14" fmla="*/ 357768 h 1879600"/>
                <a:gd name="connsiteX15" fmla="*/ 221759 w 878891"/>
                <a:gd name="connsiteY15" fmla="*/ 429517 h 1879600"/>
                <a:gd name="connsiteX16" fmla="*/ 231657 w 878891"/>
                <a:gd name="connsiteY16" fmla="*/ 534382 h 1879600"/>
                <a:gd name="connsiteX17" fmla="*/ 239904 w 878891"/>
                <a:gd name="connsiteY17" fmla="*/ 432276 h 1879600"/>
                <a:gd name="connsiteX18" fmla="*/ 230007 w 878891"/>
                <a:gd name="connsiteY18" fmla="*/ 349488 h 1879600"/>
                <a:gd name="connsiteX19" fmla="*/ 866567 w 878891"/>
                <a:gd name="connsiteY19" fmla="*/ 0 h 1879600"/>
                <a:gd name="connsiteX20" fmla="*/ 878891 w 878891"/>
                <a:gd name="connsiteY20" fmla="*/ 1873250 h 1879600"/>
                <a:gd name="connsiteX21" fmla="*/ 6962 w 878891"/>
                <a:gd name="connsiteY21"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23807 w 878891"/>
                <a:gd name="connsiteY4" fmla="*/ 280499 h 1879600"/>
                <a:gd name="connsiteX5" fmla="*/ 23807 w 878891"/>
                <a:gd name="connsiteY5" fmla="*/ 203230 h 1879600"/>
                <a:gd name="connsiteX6" fmla="*/ 25457 w 878891"/>
                <a:gd name="connsiteY6" fmla="*/ 117682 h 1879600"/>
                <a:gd name="connsiteX7" fmla="*/ 27106 w 878891"/>
                <a:gd name="connsiteY7" fmla="*/ 37654 h 1879600"/>
                <a:gd name="connsiteX8" fmla="*/ 38654 w 878891"/>
                <a:gd name="connsiteY8" fmla="*/ 10058 h 1879600"/>
                <a:gd name="connsiteX9" fmla="*/ 139279 w 878891"/>
                <a:gd name="connsiteY9" fmla="*/ 15577 h 1879600"/>
                <a:gd name="connsiteX10" fmla="*/ 216810 w 878891"/>
                <a:gd name="connsiteY10" fmla="*/ 10058 h 1879600"/>
                <a:gd name="connsiteX11" fmla="*/ 216810 w 878891"/>
                <a:gd name="connsiteY11" fmla="*/ 164595 h 1879600"/>
                <a:gd name="connsiteX12" fmla="*/ 213511 w 878891"/>
                <a:gd name="connsiteY12" fmla="*/ 247384 h 1879600"/>
                <a:gd name="connsiteX13" fmla="*/ 206913 w 878891"/>
                <a:gd name="connsiteY13" fmla="*/ 357768 h 1879600"/>
                <a:gd name="connsiteX14" fmla="*/ 221759 w 878891"/>
                <a:gd name="connsiteY14" fmla="*/ 429517 h 1879600"/>
                <a:gd name="connsiteX15" fmla="*/ 231657 w 878891"/>
                <a:gd name="connsiteY15" fmla="*/ 534382 h 1879600"/>
                <a:gd name="connsiteX16" fmla="*/ 239904 w 878891"/>
                <a:gd name="connsiteY16" fmla="*/ 432276 h 1879600"/>
                <a:gd name="connsiteX17" fmla="*/ 230007 w 878891"/>
                <a:gd name="connsiteY17" fmla="*/ 349488 h 1879600"/>
                <a:gd name="connsiteX18" fmla="*/ 866567 w 878891"/>
                <a:gd name="connsiteY18" fmla="*/ 0 h 1879600"/>
                <a:gd name="connsiteX19" fmla="*/ 878891 w 878891"/>
                <a:gd name="connsiteY19" fmla="*/ 1873250 h 1879600"/>
                <a:gd name="connsiteX20" fmla="*/ 6962 w 878891"/>
                <a:gd name="connsiteY20" fmla="*/ 1879600 h 1879600"/>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213511 w 878891"/>
                <a:gd name="connsiteY12" fmla="*/ 250521 h 1882737"/>
                <a:gd name="connsiteX13" fmla="*/ 206913 w 878891"/>
                <a:gd name="connsiteY13" fmla="*/ 360905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206913 w 878891"/>
                <a:gd name="connsiteY13" fmla="*/ 360905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221759 w 878891"/>
                <a:gd name="connsiteY14" fmla="*/ 432654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231657 w 878891"/>
                <a:gd name="connsiteY15" fmla="*/ 537519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239904 w 878891"/>
                <a:gd name="connsiteY16" fmla="*/ 435413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230007 w 878891"/>
                <a:gd name="connsiteY17" fmla="*/ 352625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866567 w 878891"/>
                <a:gd name="connsiteY18" fmla="*/ 3137 h 1882737"/>
                <a:gd name="connsiteX19" fmla="*/ 878891 w 878891"/>
                <a:gd name="connsiteY19" fmla="*/ 1876387 h 1882737"/>
                <a:gd name="connsiteX20" fmla="*/ 6962 w 878891"/>
                <a:gd name="connsiteY20"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866567 w 878891"/>
                <a:gd name="connsiteY19" fmla="*/ 3137 h 1882737"/>
                <a:gd name="connsiteX20" fmla="*/ 878891 w 878891"/>
                <a:gd name="connsiteY20" fmla="*/ 1876387 h 1882737"/>
                <a:gd name="connsiteX21" fmla="*/ 6962 w 878891"/>
                <a:gd name="connsiteY21"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866567 w 878891"/>
                <a:gd name="connsiteY20" fmla="*/ 3137 h 1882737"/>
                <a:gd name="connsiteX21" fmla="*/ 878891 w 878891"/>
                <a:gd name="connsiteY21" fmla="*/ 1876387 h 1882737"/>
                <a:gd name="connsiteX22" fmla="*/ 6962 w 878891"/>
                <a:gd name="connsiteY22"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866567 w 878891"/>
                <a:gd name="connsiteY21" fmla="*/ 3137 h 1882737"/>
                <a:gd name="connsiteX22" fmla="*/ 878891 w 878891"/>
                <a:gd name="connsiteY22" fmla="*/ 1876387 h 1882737"/>
                <a:gd name="connsiteX23" fmla="*/ 6962 w 878891"/>
                <a:gd name="connsiteY23"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866567 w 878891"/>
                <a:gd name="connsiteY22" fmla="*/ 3137 h 1882737"/>
                <a:gd name="connsiteX23" fmla="*/ 878891 w 878891"/>
                <a:gd name="connsiteY23" fmla="*/ 1876387 h 1882737"/>
                <a:gd name="connsiteX24" fmla="*/ 6962 w 878891"/>
                <a:gd name="connsiteY24"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866567 w 878891"/>
                <a:gd name="connsiteY23" fmla="*/ 3137 h 1882737"/>
                <a:gd name="connsiteX24" fmla="*/ 878891 w 878891"/>
                <a:gd name="connsiteY24" fmla="*/ 1876387 h 1882737"/>
                <a:gd name="connsiteX25" fmla="*/ 6962 w 878891"/>
                <a:gd name="connsiteY25"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38654 w 878891"/>
                <a:gd name="connsiteY8" fmla="*/ 13195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5457 w 878891"/>
                <a:gd name="connsiteY6" fmla="*/ 120819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23807 w 878891"/>
                <a:gd name="connsiteY4" fmla="*/ 283636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23807 w 878891"/>
                <a:gd name="connsiteY5" fmla="*/ 206367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7106 w 878891"/>
                <a:gd name="connsiteY7" fmla="*/ 40791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6207 w 878891"/>
                <a:gd name="connsiteY15" fmla="*/ 355385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9096 w 878891"/>
                <a:gd name="connsiteY19" fmla="*/ 286395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82395 w 878891"/>
                <a:gd name="connsiteY20" fmla="*/ 178770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75459 w 878891"/>
                <a:gd name="connsiteY20" fmla="*/ 170481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82737 h 1882737"/>
                <a:gd name="connsiteX1" fmla="*/ 17 w 878891"/>
                <a:gd name="connsiteY1" fmla="*/ 538499 h 1882737"/>
                <a:gd name="connsiteX2" fmla="*/ 13909 w 878891"/>
                <a:gd name="connsiteY2" fmla="*/ 435413 h 1882737"/>
                <a:gd name="connsiteX3" fmla="*/ 15559 w 878891"/>
                <a:gd name="connsiteY3" fmla="*/ 360905 h 1882737"/>
                <a:gd name="connsiteX4" fmla="*/ 17862 w 878891"/>
                <a:gd name="connsiteY4" fmla="*/ 272033 h 1882737"/>
                <a:gd name="connsiteX5" fmla="*/ 18852 w 878891"/>
                <a:gd name="connsiteY5" fmla="*/ 204709 h 1882737"/>
                <a:gd name="connsiteX6" fmla="*/ 21493 w 878891"/>
                <a:gd name="connsiteY6" fmla="*/ 122476 h 1882737"/>
                <a:gd name="connsiteX7" fmla="*/ 22151 w 878891"/>
                <a:gd name="connsiteY7" fmla="*/ 50737 h 1882737"/>
                <a:gd name="connsiteX8" fmla="*/ 28745 w 878891"/>
                <a:gd name="connsiteY8" fmla="*/ 4907 h 1882737"/>
                <a:gd name="connsiteX9" fmla="*/ 139279 w 878891"/>
                <a:gd name="connsiteY9" fmla="*/ 18714 h 1882737"/>
                <a:gd name="connsiteX10" fmla="*/ 216810 w 878891"/>
                <a:gd name="connsiteY10" fmla="*/ 13195 h 1882737"/>
                <a:gd name="connsiteX11" fmla="*/ 302589 w 878891"/>
                <a:gd name="connsiteY11" fmla="*/ 13195 h 1882737"/>
                <a:gd name="connsiteX12" fmla="*/ 383420 w 878891"/>
                <a:gd name="connsiteY12" fmla="*/ 26994 h 1882737"/>
                <a:gd name="connsiteX13" fmla="*/ 442806 w 878891"/>
                <a:gd name="connsiteY13" fmla="*/ 21474 h 1882737"/>
                <a:gd name="connsiteX14" fmla="*/ 436206 w 878891"/>
                <a:gd name="connsiteY14" fmla="*/ 192568 h 1882737"/>
                <a:gd name="connsiteX15" fmla="*/ 431252 w 878891"/>
                <a:gd name="connsiteY15" fmla="*/ 352070 h 1882737"/>
                <a:gd name="connsiteX16" fmla="*/ 414762 w 878891"/>
                <a:gd name="connsiteY16" fmla="*/ 460249 h 1882737"/>
                <a:gd name="connsiteX17" fmla="*/ 427959 w 878891"/>
                <a:gd name="connsiteY17" fmla="*/ 534759 h 1882737"/>
                <a:gd name="connsiteX18" fmla="*/ 449404 w 878891"/>
                <a:gd name="connsiteY18" fmla="*/ 402298 h 1882737"/>
                <a:gd name="connsiteX19" fmla="*/ 472160 w 878891"/>
                <a:gd name="connsiteY19" fmla="*/ 273134 h 1882737"/>
                <a:gd name="connsiteX20" fmla="*/ 475459 w 878891"/>
                <a:gd name="connsiteY20" fmla="*/ 170481 h 1882737"/>
                <a:gd name="connsiteX21" fmla="*/ 482395 w 878891"/>
                <a:gd name="connsiteY21" fmla="*/ 73906 h 1882737"/>
                <a:gd name="connsiteX22" fmla="*/ 487344 w 878891"/>
                <a:gd name="connsiteY22" fmla="*/ 40791 h 1882737"/>
                <a:gd name="connsiteX23" fmla="*/ 533533 w 878891"/>
                <a:gd name="connsiteY23" fmla="*/ 10435 h 1882737"/>
                <a:gd name="connsiteX24" fmla="*/ 866567 w 878891"/>
                <a:gd name="connsiteY24" fmla="*/ 3137 h 1882737"/>
                <a:gd name="connsiteX25" fmla="*/ 878891 w 878891"/>
                <a:gd name="connsiteY25" fmla="*/ 1876387 h 1882737"/>
                <a:gd name="connsiteX26" fmla="*/ 6962 w 878891"/>
                <a:gd name="connsiteY26" fmla="*/ 1882737 h 1882737"/>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17862 w 878891"/>
                <a:gd name="connsiteY4" fmla="*/ 268896 h 1879600"/>
                <a:gd name="connsiteX5" fmla="*/ 18852 w 878891"/>
                <a:gd name="connsiteY5" fmla="*/ 201572 h 1879600"/>
                <a:gd name="connsiteX6" fmla="*/ 21493 w 878891"/>
                <a:gd name="connsiteY6" fmla="*/ 119339 h 1879600"/>
                <a:gd name="connsiteX7" fmla="*/ 22151 w 878891"/>
                <a:gd name="connsiteY7" fmla="*/ 47600 h 1879600"/>
                <a:gd name="connsiteX8" fmla="*/ 28745 w 878891"/>
                <a:gd name="connsiteY8" fmla="*/ 1770 h 1879600"/>
                <a:gd name="connsiteX9" fmla="*/ 139279 w 878891"/>
                <a:gd name="connsiteY9" fmla="*/ 15577 h 1879600"/>
                <a:gd name="connsiteX10" fmla="*/ 216810 w 878891"/>
                <a:gd name="connsiteY10" fmla="*/ 10058 h 1879600"/>
                <a:gd name="connsiteX11" fmla="*/ 302589 w 878891"/>
                <a:gd name="connsiteY11" fmla="*/ 10058 h 1879600"/>
                <a:gd name="connsiteX12" fmla="*/ 383420 w 878891"/>
                <a:gd name="connsiteY12" fmla="*/ 23857 h 1879600"/>
                <a:gd name="connsiteX13" fmla="*/ 442806 w 878891"/>
                <a:gd name="connsiteY13" fmla="*/ 18337 h 1879600"/>
                <a:gd name="connsiteX14" fmla="*/ 436206 w 878891"/>
                <a:gd name="connsiteY14" fmla="*/ 189431 h 1879600"/>
                <a:gd name="connsiteX15" fmla="*/ 431252 w 878891"/>
                <a:gd name="connsiteY15" fmla="*/ 348933 h 1879600"/>
                <a:gd name="connsiteX16" fmla="*/ 414762 w 878891"/>
                <a:gd name="connsiteY16" fmla="*/ 457112 h 1879600"/>
                <a:gd name="connsiteX17" fmla="*/ 427959 w 878891"/>
                <a:gd name="connsiteY17" fmla="*/ 531622 h 1879600"/>
                <a:gd name="connsiteX18" fmla="*/ 449404 w 878891"/>
                <a:gd name="connsiteY18" fmla="*/ 399161 h 1879600"/>
                <a:gd name="connsiteX19" fmla="*/ 472160 w 878891"/>
                <a:gd name="connsiteY19" fmla="*/ 269997 h 1879600"/>
                <a:gd name="connsiteX20" fmla="*/ 475459 w 878891"/>
                <a:gd name="connsiteY20" fmla="*/ 167344 h 1879600"/>
                <a:gd name="connsiteX21" fmla="*/ 482395 w 878891"/>
                <a:gd name="connsiteY21" fmla="*/ 70769 h 1879600"/>
                <a:gd name="connsiteX22" fmla="*/ 487344 w 878891"/>
                <a:gd name="connsiteY22" fmla="*/ 37654 h 1879600"/>
                <a:gd name="connsiteX23" fmla="*/ 533533 w 878891"/>
                <a:gd name="connsiteY23" fmla="*/ 7298 h 1879600"/>
                <a:gd name="connsiteX24" fmla="*/ 866567 w 878891"/>
                <a:gd name="connsiteY24" fmla="*/ 0 h 1879600"/>
                <a:gd name="connsiteX25" fmla="*/ 878891 w 878891"/>
                <a:gd name="connsiteY25" fmla="*/ 1873250 h 1879600"/>
                <a:gd name="connsiteX26" fmla="*/ 6962 w 878891"/>
                <a:gd name="connsiteY26" fmla="*/ 1879600 h 1879600"/>
                <a:gd name="connsiteX0" fmla="*/ 6962 w 878891"/>
                <a:gd name="connsiteY0" fmla="*/ 1879600 h 1879600"/>
                <a:gd name="connsiteX1" fmla="*/ 17 w 878891"/>
                <a:gd name="connsiteY1" fmla="*/ 535362 h 1879600"/>
                <a:gd name="connsiteX2" fmla="*/ 13909 w 878891"/>
                <a:gd name="connsiteY2" fmla="*/ 432276 h 1879600"/>
                <a:gd name="connsiteX3" fmla="*/ 15559 w 878891"/>
                <a:gd name="connsiteY3" fmla="*/ 357768 h 1879600"/>
                <a:gd name="connsiteX4" fmla="*/ 17862 w 878891"/>
                <a:gd name="connsiteY4" fmla="*/ 268896 h 1879600"/>
                <a:gd name="connsiteX5" fmla="*/ 18852 w 878891"/>
                <a:gd name="connsiteY5" fmla="*/ 201572 h 1879600"/>
                <a:gd name="connsiteX6" fmla="*/ 21493 w 878891"/>
                <a:gd name="connsiteY6" fmla="*/ 119339 h 1879600"/>
                <a:gd name="connsiteX7" fmla="*/ 22151 w 878891"/>
                <a:gd name="connsiteY7" fmla="*/ 47600 h 1879600"/>
                <a:gd name="connsiteX8" fmla="*/ 28745 w 878891"/>
                <a:gd name="connsiteY8" fmla="*/ 1770 h 1879600"/>
                <a:gd name="connsiteX9" fmla="*/ 139279 w 878891"/>
                <a:gd name="connsiteY9" fmla="*/ 15577 h 1879600"/>
                <a:gd name="connsiteX10" fmla="*/ 216810 w 878891"/>
                <a:gd name="connsiteY10" fmla="*/ 18346 h 1879600"/>
                <a:gd name="connsiteX11" fmla="*/ 302589 w 878891"/>
                <a:gd name="connsiteY11" fmla="*/ 10058 h 1879600"/>
                <a:gd name="connsiteX12" fmla="*/ 383420 w 878891"/>
                <a:gd name="connsiteY12" fmla="*/ 23857 h 1879600"/>
                <a:gd name="connsiteX13" fmla="*/ 442806 w 878891"/>
                <a:gd name="connsiteY13" fmla="*/ 18337 h 1879600"/>
                <a:gd name="connsiteX14" fmla="*/ 436206 w 878891"/>
                <a:gd name="connsiteY14" fmla="*/ 189431 h 1879600"/>
                <a:gd name="connsiteX15" fmla="*/ 431252 w 878891"/>
                <a:gd name="connsiteY15" fmla="*/ 348933 h 1879600"/>
                <a:gd name="connsiteX16" fmla="*/ 414762 w 878891"/>
                <a:gd name="connsiteY16" fmla="*/ 457112 h 1879600"/>
                <a:gd name="connsiteX17" fmla="*/ 427959 w 878891"/>
                <a:gd name="connsiteY17" fmla="*/ 531622 h 1879600"/>
                <a:gd name="connsiteX18" fmla="*/ 449404 w 878891"/>
                <a:gd name="connsiteY18" fmla="*/ 399161 h 1879600"/>
                <a:gd name="connsiteX19" fmla="*/ 472160 w 878891"/>
                <a:gd name="connsiteY19" fmla="*/ 269997 h 1879600"/>
                <a:gd name="connsiteX20" fmla="*/ 475459 w 878891"/>
                <a:gd name="connsiteY20" fmla="*/ 167344 h 1879600"/>
                <a:gd name="connsiteX21" fmla="*/ 482395 w 878891"/>
                <a:gd name="connsiteY21" fmla="*/ 70769 h 1879600"/>
                <a:gd name="connsiteX22" fmla="*/ 487344 w 878891"/>
                <a:gd name="connsiteY22" fmla="*/ 37654 h 1879600"/>
                <a:gd name="connsiteX23" fmla="*/ 533533 w 878891"/>
                <a:gd name="connsiteY23" fmla="*/ 7298 h 1879600"/>
                <a:gd name="connsiteX24" fmla="*/ 866567 w 878891"/>
                <a:gd name="connsiteY24" fmla="*/ 0 h 1879600"/>
                <a:gd name="connsiteX25" fmla="*/ 878891 w 878891"/>
                <a:gd name="connsiteY25" fmla="*/ 1873250 h 1879600"/>
                <a:gd name="connsiteX26" fmla="*/ 6962 w 878891"/>
                <a:gd name="connsiteY26" fmla="*/ 1879600 h 1879600"/>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866567 w 878891"/>
                <a:gd name="connsiteY24" fmla="*/ 16735 h 1878101"/>
                <a:gd name="connsiteX25" fmla="*/ 878891 w 878891"/>
                <a:gd name="connsiteY25" fmla="*/ 1871751 h 1878101"/>
                <a:gd name="connsiteX26" fmla="*/ 6962 w 878891"/>
                <a:gd name="connsiteY26"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657631 w 878891"/>
                <a:gd name="connsiteY24" fmla="*/ 20191 h 1878101"/>
                <a:gd name="connsiteX25" fmla="*/ 866567 w 878891"/>
                <a:gd name="connsiteY25" fmla="*/ 16735 h 1878101"/>
                <a:gd name="connsiteX26" fmla="*/ 878891 w 878891"/>
                <a:gd name="connsiteY26" fmla="*/ 1871751 h 1878101"/>
                <a:gd name="connsiteX27" fmla="*/ 6962 w 878891"/>
                <a:gd name="connsiteY27"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74314 w 878891"/>
                <a:gd name="connsiteY21" fmla="*/ 104732 h 1878101"/>
                <a:gd name="connsiteX22" fmla="*/ 482395 w 878891"/>
                <a:gd name="connsiteY22" fmla="*/ 69270 h 1878101"/>
                <a:gd name="connsiteX23" fmla="*/ 487344 w 878891"/>
                <a:gd name="connsiteY23" fmla="*/ 36155 h 1878101"/>
                <a:gd name="connsiteX24" fmla="*/ 533533 w 878891"/>
                <a:gd name="connsiteY24" fmla="*/ 5799 h 1878101"/>
                <a:gd name="connsiteX25" fmla="*/ 657631 w 878891"/>
                <a:gd name="connsiteY25" fmla="*/ 20191 h 1878101"/>
                <a:gd name="connsiteX26" fmla="*/ 866567 w 878891"/>
                <a:gd name="connsiteY26" fmla="*/ 16735 h 1878101"/>
                <a:gd name="connsiteX27" fmla="*/ 878891 w 878891"/>
                <a:gd name="connsiteY27" fmla="*/ 1871751 h 1878101"/>
                <a:gd name="connsiteX28" fmla="*/ 6962 w 878891"/>
                <a:gd name="connsiteY28"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2151 w 878891"/>
                <a:gd name="connsiteY7" fmla="*/ 46101 h 1878101"/>
                <a:gd name="connsiteX8" fmla="*/ 28745 w 878891"/>
                <a:gd name="connsiteY8" fmla="*/ 271 h 1878101"/>
                <a:gd name="connsiteX9" fmla="*/ 139279 w 878891"/>
                <a:gd name="connsiteY9" fmla="*/ 14078 h 1878101"/>
                <a:gd name="connsiteX10" fmla="*/ 216810 w 878891"/>
                <a:gd name="connsiteY10" fmla="*/ 16847 h 1878101"/>
                <a:gd name="connsiteX11" fmla="*/ 302589 w 878891"/>
                <a:gd name="connsiteY11" fmla="*/ 8559 h 1878101"/>
                <a:gd name="connsiteX12" fmla="*/ 383420 w 878891"/>
                <a:gd name="connsiteY12" fmla="*/ 22358 h 1878101"/>
                <a:gd name="connsiteX13" fmla="*/ 442806 w 878891"/>
                <a:gd name="connsiteY13" fmla="*/ 16838 h 1878101"/>
                <a:gd name="connsiteX14" fmla="*/ 436206 w 878891"/>
                <a:gd name="connsiteY14" fmla="*/ 187932 h 1878101"/>
                <a:gd name="connsiteX15" fmla="*/ 431252 w 878891"/>
                <a:gd name="connsiteY15" fmla="*/ 347434 h 1878101"/>
                <a:gd name="connsiteX16" fmla="*/ 414762 w 878891"/>
                <a:gd name="connsiteY16" fmla="*/ 455613 h 1878101"/>
                <a:gd name="connsiteX17" fmla="*/ 427959 w 878891"/>
                <a:gd name="connsiteY17" fmla="*/ 530123 h 1878101"/>
                <a:gd name="connsiteX18" fmla="*/ 449404 w 878891"/>
                <a:gd name="connsiteY18" fmla="*/ 397662 h 1878101"/>
                <a:gd name="connsiteX19" fmla="*/ 472160 w 878891"/>
                <a:gd name="connsiteY19" fmla="*/ 268498 h 1878101"/>
                <a:gd name="connsiteX20" fmla="*/ 475459 w 878891"/>
                <a:gd name="connsiteY20" fmla="*/ 165845 h 1878101"/>
                <a:gd name="connsiteX21" fmla="*/ 474314 w 878891"/>
                <a:gd name="connsiteY21" fmla="*/ 104732 h 1878101"/>
                <a:gd name="connsiteX22" fmla="*/ 482395 w 878891"/>
                <a:gd name="connsiteY22" fmla="*/ 69270 h 1878101"/>
                <a:gd name="connsiteX23" fmla="*/ 487344 w 878891"/>
                <a:gd name="connsiteY23" fmla="*/ 36155 h 1878101"/>
                <a:gd name="connsiteX24" fmla="*/ 533533 w 878891"/>
                <a:gd name="connsiteY24" fmla="*/ 5799 h 1878101"/>
                <a:gd name="connsiteX25" fmla="*/ 657631 w 878891"/>
                <a:gd name="connsiteY25" fmla="*/ 20191 h 1878101"/>
                <a:gd name="connsiteX26" fmla="*/ 866567 w 878891"/>
                <a:gd name="connsiteY26" fmla="*/ 16735 h 1878101"/>
                <a:gd name="connsiteX27" fmla="*/ 878891 w 878891"/>
                <a:gd name="connsiteY27" fmla="*/ 1871751 h 1878101"/>
                <a:gd name="connsiteX28" fmla="*/ 6962 w 878891"/>
                <a:gd name="connsiteY28"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18852 w 878891"/>
                <a:gd name="connsiteY5" fmla="*/ 200073 h 1878101"/>
                <a:gd name="connsiteX6" fmla="*/ 21493 w 878891"/>
                <a:gd name="connsiteY6" fmla="*/ 117840 h 1878101"/>
                <a:gd name="connsiteX7" fmla="*/ 28745 w 878891"/>
                <a:gd name="connsiteY7" fmla="*/ 271 h 1878101"/>
                <a:gd name="connsiteX8" fmla="*/ 139279 w 878891"/>
                <a:gd name="connsiteY8" fmla="*/ 14078 h 1878101"/>
                <a:gd name="connsiteX9" fmla="*/ 216810 w 878891"/>
                <a:gd name="connsiteY9" fmla="*/ 16847 h 1878101"/>
                <a:gd name="connsiteX10" fmla="*/ 302589 w 878891"/>
                <a:gd name="connsiteY10" fmla="*/ 8559 h 1878101"/>
                <a:gd name="connsiteX11" fmla="*/ 383420 w 878891"/>
                <a:gd name="connsiteY11" fmla="*/ 22358 h 1878101"/>
                <a:gd name="connsiteX12" fmla="*/ 442806 w 878891"/>
                <a:gd name="connsiteY12" fmla="*/ 16838 h 1878101"/>
                <a:gd name="connsiteX13" fmla="*/ 436206 w 878891"/>
                <a:gd name="connsiteY13" fmla="*/ 187932 h 1878101"/>
                <a:gd name="connsiteX14" fmla="*/ 431252 w 878891"/>
                <a:gd name="connsiteY14" fmla="*/ 347434 h 1878101"/>
                <a:gd name="connsiteX15" fmla="*/ 414762 w 878891"/>
                <a:gd name="connsiteY15" fmla="*/ 455613 h 1878101"/>
                <a:gd name="connsiteX16" fmla="*/ 427959 w 878891"/>
                <a:gd name="connsiteY16" fmla="*/ 530123 h 1878101"/>
                <a:gd name="connsiteX17" fmla="*/ 449404 w 878891"/>
                <a:gd name="connsiteY17" fmla="*/ 397662 h 1878101"/>
                <a:gd name="connsiteX18" fmla="*/ 472160 w 878891"/>
                <a:gd name="connsiteY18" fmla="*/ 268498 h 1878101"/>
                <a:gd name="connsiteX19" fmla="*/ 475459 w 878891"/>
                <a:gd name="connsiteY19" fmla="*/ 165845 h 1878101"/>
                <a:gd name="connsiteX20" fmla="*/ 474314 w 878891"/>
                <a:gd name="connsiteY20" fmla="*/ 104732 h 1878101"/>
                <a:gd name="connsiteX21" fmla="*/ 482395 w 878891"/>
                <a:gd name="connsiteY21" fmla="*/ 69270 h 1878101"/>
                <a:gd name="connsiteX22" fmla="*/ 487344 w 878891"/>
                <a:gd name="connsiteY22" fmla="*/ 36155 h 1878101"/>
                <a:gd name="connsiteX23" fmla="*/ 533533 w 878891"/>
                <a:gd name="connsiteY23" fmla="*/ 5799 h 1878101"/>
                <a:gd name="connsiteX24" fmla="*/ 657631 w 878891"/>
                <a:gd name="connsiteY24" fmla="*/ 20191 h 1878101"/>
                <a:gd name="connsiteX25" fmla="*/ 866567 w 878891"/>
                <a:gd name="connsiteY25" fmla="*/ 16735 h 1878101"/>
                <a:gd name="connsiteX26" fmla="*/ 878891 w 878891"/>
                <a:gd name="connsiteY26" fmla="*/ 1871751 h 1878101"/>
                <a:gd name="connsiteX27" fmla="*/ 6962 w 878891"/>
                <a:gd name="connsiteY27"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5559 w 878891"/>
                <a:gd name="connsiteY3" fmla="*/ 356269 h 1878101"/>
                <a:gd name="connsiteX4" fmla="*/ 17862 w 878891"/>
                <a:gd name="connsiteY4" fmla="*/ 267397 h 1878101"/>
                <a:gd name="connsiteX5" fmla="*/ 21493 w 878891"/>
                <a:gd name="connsiteY5" fmla="*/ 117840 h 1878101"/>
                <a:gd name="connsiteX6" fmla="*/ 28745 w 878891"/>
                <a:gd name="connsiteY6" fmla="*/ 271 h 1878101"/>
                <a:gd name="connsiteX7" fmla="*/ 139279 w 878891"/>
                <a:gd name="connsiteY7" fmla="*/ 14078 h 1878101"/>
                <a:gd name="connsiteX8" fmla="*/ 216810 w 878891"/>
                <a:gd name="connsiteY8" fmla="*/ 16847 h 1878101"/>
                <a:gd name="connsiteX9" fmla="*/ 302589 w 878891"/>
                <a:gd name="connsiteY9" fmla="*/ 8559 h 1878101"/>
                <a:gd name="connsiteX10" fmla="*/ 383420 w 878891"/>
                <a:gd name="connsiteY10" fmla="*/ 22358 h 1878101"/>
                <a:gd name="connsiteX11" fmla="*/ 442806 w 878891"/>
                <a:gd name="connsiteY11" fmla="*/ 16838 h 1878101"/>
                <a:gd name="connsiteX12" fmla="*/ 436206 w 878891"/>
                <a:gd name="connsiteY12" fmla="*/ 187932 h 1878101"/>
                <a:gd name="connsiteX13" fmla="*/ 431252 w 878891"/>
                <a:gd name="connsiteY13" fmla="*/ 347434 h 1878101"/>
                <a:gd name="connsiteX14" fmla="*/ 414762 w 878891"/>
                <a:gd name="connsiteY14" fmla="*/ 455613 h 1878101"/>
                <a:gd name="connsiteX15" fmla="*/ 427959 w 878891"/>
                <a:gd name="connsiteY15" fmla="*/ 530123 h 1878101"/>
                <a:gd name="connsiteX16" fmla="*/ 449404 w 878891"/>
                <a:gd name="connsiteY16" fmla="*/ 397662 h 1878101"/>
                <a:gd name="connsiteX17" fmla="*/ 472160 w 878891"/>
                <a:gd name="connsiteY17" fmla="*/ 268498 h 1878101"/>
                <a:gd name="connsiteX18" fmla="*/ 475459 w 878891"/>
                <a:gd name="connsiteY18" fmla="*/ 165845 h 1878101"/>
                <a:gd name="connsiteX19" fmla="*/ 474314 w 878891"/>
                <a:gd name="connsiteY19" fmla="*/ 104732 h 1878101"/>
                <a:gd name="connsiteX20" fmla="*/ 482395 w 878891"/>
                <a:gd name="connsiteY20" fmla="*/ 69270 h 1878101"/>
                <a:gd name="connsiteX21" fmla="*/ 487344 w 878891"/>
                <a:gd name="connsiteY21" fmla="*/ 36155 h 1878101"/>
                <a:gd name="connsiteX22" fmla="*/ 533533 w 878891"/>
                <a:gd name="connsiteY22" fmla="*/ 5799 h 1878101"/>
                <a:gd name="connsiteX23" fmla="*/ 657631 w 878891"/>
                <a:gd name="connsiteY23" fmla="*/ 20191 h 1878101"/>
                <a:gd name="connsiteX24" fmla="*/ 866567 w 878891"/>
                <a:gd name="connsiteY24" fmla="*/ 16735 h 1878101"/>
                <a:gd name="connsiteX25" fmla="*/ 878891 w 878891"/>
                <a:gd name="connsiteY25" fmla="*/ 1871751 h 1878101"/>
                <a:gd name="connsiteX26" fmla="*/ 6962 w 878891"/>
                <a:gd name="connsiteY26" fmla="*/ 1878101 h 1878101"/>
                <a:gd name="connsiteX0" fmla="*/ 6962 w 878891"/>
                <a:gd name="connsiteY0" fmla="*/ 1878101 h 1878101"/>
                <a:gd name="connsiteX1" fmla="*/ 17 w 878891"/>
                <a:gd name="connsiteY1" fmla="*/ 533863 h 1878101"/>
                <a:gd name="connsiteX2" fmla="*/ 13909 w 878891"/>
                <a:gd name="connsiteY2" fmla="*/ 430777 h 1878101"/>
                <a:gd name="connsiteX3" fmla="*/ 17862 w 878891"/>
                <a:gd name="connsiteY3" fmla="*/ 267397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17862 w 878891"/>
                <a:gd name="connsiteY3" fmla="*/ 267397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28960 w 878891"/>
                <a:gd name="connsiteY3" fmla="*/ 262092 h 1878101"/>
                <a:gd name="connsiteX4" fmla="*/ 21493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8101 h 1878101"/>
                <a:gd name="connsiteX1" fmla="*/ 17 w 878891"/>
                <a:gd name="connsiteY1" fmla="*/ 533863 h 1878101"/>
                <a:gd name="connsiteX2" fmla="*/ 29763 w 878891"/>
                <a:gd name="connsiteY2" fmla="*/ 438733 h 1878101"/>
                <a:gd name="connsiteX3" fmla="*/ 28960 w 878891"/>
                <a:gd name="connsiteY3" fmla="*/ 262092 h 1878101"/>
                <a:gd name="connsiteX4" fmla="*/ 32591 w 878891"/>
                <a:gd name="connsiteY4" fmla="*/ 117840 h 1878101"/>
                <a:gd name="connsiteX5" fmla="*/ 28745 w 878891"/>
                <a:gd name="connsiteY5" fmla="*/ 271 h 1878101"/>
                <a:gd name="connsiteX6" fmla="*/ 139279 w 878891"/>
                <a:gd name="connsiteY6" fmla="*/ 14078 h 1878101"/>
                <a:gd name="connsiteX7" fmla="*/ 216810 w 878891"/>
                <a:gd name="connsiteY7" fmla="*/ 16847 h 1878101"/>
                <a:gd name="connsiteX8" fmla="*/ 302589 w 878891"/>
                <a:gd name="connsiteY8" fmla="*/ 8559 h 1878101"/>
                <a:gd name="connsiteX9" fmla="*/ 383420 w 878891"/>
                <a:gd name="connsiteY9" fmla="*/ 22358 h 1878101"/>
                <a:gd name="connsiteX10" fmla="*/ 442806 w 878891"/>
                <a:gd name="connsiteY10" fmla="*/ 16838 h 1878101"/>
                <a:gd name="connsiteX11" fmla="*/ 436206 w 878891"/>
                <a:gd name="connsiteY11" fmla="*/ 187932 h 1878101"/>
                <a:gd name="connsiteX12" fmla="*/ 431252 w 878891"/>
                <a:gd name="connsiteY12" fmla="*/ 347434 h 1878101"/>
                <a:gd name="connsiteX13" fmla="*/ 414762 w 878891"/>
                <a:gd name="connsiteY13" fmla="*/ 455613 h 1878101"/>
                <a:gd name="connsiteX14" fmla="*/ 427959 w 878891"/>
                <a:gd name="connsiteY14" fmla="*/ 530123 h 1878101"/>
                <a:gd name="connsiteX15" fmla="*/ 449404 w 878891"/>
                <a:gd name="connsiteY15" fmla="*/ 397662 h 1878101"/>
                <a:gd name="connsiteX16" fmla="*/ 472160 w 878891"/>
                <a:gd name="connsiteY16" fmla="*/ 268498 h 1878101"/>
                <a:gd name="connsiteX17" fmla="*/ 475459 w 878891"/>
                <a:gd name="connsiteY17" fmla="*/ 165845 h 1878101"/>
                <a:gd name="connsiteX18" fmla="*/ 474314 w 878891"/>
                <a:gd name="connsiteY18" fmla="*/ 104732 h 1878101"/>
                <a:gd name="connsiteX19" fmla="*/ 482395 w 878891"/>
                <a:gd name="connsiteY19" fmla="*/ 69270 h 1878101"/>
                <a:gd name="connsiteX20" fmla="*/ 487344 w 878891"/>
                <a:gd name="connsiteY20" fmla="*/ 36155 h 1878101"/>
                <a:gd name="connsiteX21" fmla="*/ 533533 w 878891"/>
                <a:gd name="connsiteY21" fmla="*/ 5799 h 1878101"/>
                <a:gd name="connsiteX22" fmla="*/ 657631 w 878891"/>
                <a:gd name="connsiteY22" fmla="*/ 20191 h 1878101"/>
                <a:gd name="connsiteX23" fmla="*/ 866567 w 878891"/>
                <a:gd name="connsiteY23" fmla="*/ 16735 h 1878101"/>
                <a:gd name="connsiteX24" fmla="*/ 878891 w 878891"/>
                <a:gd name="connsiteY24" fmla="*/ 1871751 h 1878101"/>
                <a:gd name="connsiteX25" fmla="*/ 6962 w 878891"/>
                <a:gd name="connsiteY25" fmla="*/ 1878101 h 1878101"/>
                <a:gd name="connsiteX0" fmla="*/ 6962 w 878891"/>
                <a:gd name="connsiteY0" fmla="*/ 1872887 h 1872887"/>
                <a:gd name="connsiteX1" fmla="*/ 17 w 878891"/>
                <a:gd name="connsiteY1" fmla="*/ 528649 h 1872887"/>
                <a:gd name="connsiteX2" fmla="*/ 29763 w 878891"/>
                <a:gd name="connsiteY2" fmla="*/ 433519 h 1872887"/>
                <a:gd name="connsiteX3" fmla="*/ 28960 w 878891"/>
                <a:gd name="connsiteY3" fmla="*/ 256878 h 1872887"/>
                <a:gd name="connsiteX4" fmla="*/ 32591 w 878891"/>
                <a:gd name="connsiteY4" fmla="*/ 112626 h 1872887"/>
                <a:gd name="connsiteX5" fmla="*/ 36673 w 878891"/>
                <a:gd name="connsiteY5" fmla="*/ 362 h 1872887"/>
                <a:gd name="connsiteX6" fmla="*/ 139279 w 878891"/>
                <a:gd name="connsiteY6" fmla="*/ 8864 h 1872887"/>
                <a:gd name="connsiteX7" fmla="*/ 216810 w 878891"/>
                <a:gd name="connsiteY7" fmla="*/ 11633 h 1872887"/>
                <a:gd name="connsiteX8" fmla="*/ 302589 w 878891"/>
                <a:gd name="connsiteY8" fmla="*/ 3345 h 1872887"/>
                <a:gd name="connsiteX9" fmla="*/ 383420 w 878891"/>
                <a:gd name="connsiteY9" fmla="*/ 17144 h 1872887"/>
                <a:gd name="connsiteX10" fmla="*/ 442806 w 878891"/>
                <a:gd name="connsiteY10" fmla="*/ 11624 h 1872887"/>
                <a:gd name="connsiteX11" fmla="*/ 436206 w 878891"/>
                <a:gd name="connsiteY11" fmla="*/ 182718 h 1872887"/>
                <a:gd name="connsiteX12" fmla="*/ 431252 w 878891"/>
                <a:gd name="connsiteY12" fmla="*/ 342220 h 1872887"/>
                <a:gd name="connsiteX13" fmla="*/ 414762 w 878891"/>
                <a:gd name="connsiteY13" fmla="*/ 450399 h 1872887"/>
                <a:gd name="connsiteX14" fmla="*/ 427959 w 878891"/>
                <a:gd name="connsiteY14" fmla="*/ 524909 h 1872887"/>
                <a:gd name="connsiteX15" fmla="*/ 449404 w 878891"/>
                <a:gd name="connsiteY15" fmla="*/ 392448 h 1872887"/>
                <a:gd name="connsiteX16" fmla="*/ 472160 w 878891"/>
                <a:gd name="connsiteY16" fmla="*/ 263284 h 1872887"/>
                <a:gd name="connsiteX17" fmla="*/ 475459 w 878891"/>
                <a:gd name="connsiteY17" fmla="*/ 160631 h 1872887"/>
                <a:gd name="connsiteX18" fmla="*/ 474314 w 878891"/>
                <a:gd name="connsiteY18" fmla="*/ 99518 h 1872887"/>
                <a:gd name="connsiteX19" fmla="*/ 482395 w 878891"/>
                <a:gd name="connsiteY19" fmla="*/ 64056 h 1872887"/>
                <a:gd name="connsiteX20" fmla="*/ 487344 w 878891"/>
                <a:gd name="connsiteY20" fmla="*/ 30941 h 1872887"/>
                <a:gd name="connsiteX21" fmla="*/ 533533 w 878891"/>
                <a:gd name="connsiteY21" fmla="*/ 585 h 1872887"/>
                <a:gd name="connsiteX22" fmla="*/ 657631 w 878891"/>
                <a:gd name="connsiteY22" fmla="*/ 14977 h 1872887"/>
                <a:gd name="connsiteX23" fmla="*/ 866567 w 878891"/>
                <a:gd name="connsiteY23" fmla="*/ 11521 h 1872887"/>
                <a:gd name="connsiteX24" fmla="*/ 878891 w 878891"/>
                <a:gd name="connsiteY24" fmla="*/ 1866537 h 1872887"/>
                <a:gd name="connsiteX25" fmla="*/ 6962 w 878891"/>
                <a:gd name="connsiteY25" fmla="*/ 1872887 h 1872887"/>
                <a:gd name="connsiteX0" fmla="*/ 6962 w 878891"/>
                <a:gd name="connsiteY0" fmla="*/ 1872302 h 1872302"/>
                <a:gd name="connsiteX1" fmla="*/ 17 w 878891"/>
                <a:gd name="connsiteY1" fmla="*/ 528064 h 1872302"/>
                <a:gd name="connsiteX2" fmla="*/ 29763 w 878891"/>
                <a:gd name="connsiteY2" fmla="*/ 432934 h 1872302"/>
                <a:gd name="connsiteX3" fmla="*/ 28960 w 878891"/>
                <a:gd name="connsiteY3" fmla="*/ 256293 h 1872302"/>
                <a:gd name="connsiteX4" fmla="*/ 32591 w 878891"/>
                <a:gd name="connsiteY4" fmla="*/ 112041 h 1872302"/>
                <a:gd name="connsiteX5" fmla="*/ 49357 w 878891"/>
                <a:gd name="connsiteY5" fmla="*/ 7734 h 1872302"/>
                <a:gd name="connsiteX6" fmla="*/ 139279 w 878891"/>
                <a:gd name="connsiteY6" fmla="*/ 8279 h 1872302"/>
                <a:gd name="connsiteX7" fmla="*/ 216810 w 878891"/>
                <a:gd name="connsiteY7" fmla="*/ 11048 h 1872302"/>
                <a:gd name="connsiteX8" fmla="*/ 302589 w 878891"/>
                <a:gd name="connsiteY8" fmla="*/ 2760 h 1872302"/>
                <a:gd name="connsiteX9" fmla="*/ 383420 w 878891"/>
                <a:gd name="connsiteY9" fmla="*/ 16559 h 1872302"/>
                <a:gd name="connsiteX10" fmla="*/ 442806 w 878891"/>
                <a:gd name="connsiteY10" fmla="*/ 11039 h 1872302"/>
                <a:gd name="connsiteX11" fmla="*/ 436206 w 878891"/>
                <a:gd name="connsiteY11" fmla="*/ 182133 h 1872302"/>
                <a:gd name="connsiteX12" fmla="*/ 431252 w 878891"/>
                <a:gd name="connsiteY12" fmla="*/ 341635 h 1872302"/>
                <a:gd name="connsiteX13" fmla="*/ 414762 w 878891"/>
                <a:gd name="connsiteY13" fmla="*/ 449814 h 1872302"/>
                <a:gd name="connsiteX14" fmla="*/ 427959 w 878891"/>
                <a:gd name="connsiteY14" fmla="*/ 524324 h 1872302"/>
                <a:gd name="connsiteX15" fmla="*/ 449404 w 878891"/>
                <a:gd name="connsiteY15" fmla="*/ 391863 h 1872302"/>
                <a:gd name="connsiteX16" fmla="*/ 472160 w 878891"/>
                <a:gd name="connsiteY16" fmla="*/ 262699 h 1872302"/>
                <a:gd name="connsiteX17" fmla="*/ 475459 w 878891"/>
                <a:gd name="connsiteY17" fmla="*/ 160046 h 1872302"/>
                <a:gd name="connsiteX18" fmla="*/ 474314 w 878891"/>
                <a:gd name="connsiteY18" fmla="*/ 98933 h 1872302"/>
                <a:gd name="connsiteX19" fmla="*/ 482395 w 878891"/>
                <a:gd name="connsiteY19" fmla="*/ 63471 h 1872302"/>
                <a:gd name="connsiteX20" fmla="*/ 487344 w 878891"/>
                <a:gd name="connsiteY20" fmla="*/ 30356 h 1872302"/>
                <a:gd name="connsiteX21" fmla="*/ 533533 w 878891"/>
                <a:gd name="connsiteY21" fmla="*/ 0 h 1872302"/>
                <a:gd name="connsiteX22" fmla="*/ 657631 w 878891"/>
                <a:gd name="connsiteY22" fmla="*/ 14392 h 1872302"/>
                <a:gd name="connsiteX23" fmla="*/ 866567 w 878891"/>
                <a:gd name="connsiteY23" fmla="*/ 10936 h 1872302"/>
                <a:gd name="connsiteX24" fmla="*/ 878891 w 878891"/>
                <a:gd name="connsiteY24" fmla="*/ 1865952 h 1872302"/>
                <a:gd name="connsiteX25" fmla="*/ 6962 w 878891"/>
                <a:gd name="connsiteY25" fmla="*/ 1872302 h 1872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78891" h="1872302">
                  <a:moveTo>
                    <a:pt x="6962" y="1872302"/>
                  </a:moveTo>
                  <a:cubicBezTo>
                    <a:pt x="7396" y="1245769"/>
                    <a:pt x="-417" y="1154597"/>
                    <a:pt x="17" y="528064"/>
                  </a:cubicBezTo>
                  <a:cubicBezTo>
                    <a:pt x="16745" y="516699"/>
                    <a:pt x="13035" y="444299"/>
                    <a:pt x="29763" y="432934"/>
                  </a:cubicBezTo>
                  <a:cubicBezTo>
                    <a:pt x="32737" y="388523"/>
                    <a:pt x="27696" y="308449"/>
                    <a:pt x="28960" y="256293"/>
                  </a:cubicBezTo>
                  <a:cubicBezTo>
                    <a:pt x="30170" y="206441"/>
                    <a:pt x="31381" y="161893"/>
                    <a:pt x="32591" y="112041"/>
                  </a:cubicBezTo>
                  <a:cubicBezTo>
                    <a:pt x="34240" y="78741"/>
                    <a:pt x="29726" y="25028"/>
                    <a:pt x="49357" y="7734"/>
                  </a:cubicBezTo>
                  <a:cubicBezTo>
                    <a:pt x="85098" y="4974"/>
                    <a:pt x="103538" y="11039"/>
                    <a:pt x="139279" y="8279"/>
                  </a:cubicBezTo>
                  <a:lnTo>
                    <a:pt x="216810" y="11048"/>
                  </a:lnTo>
                  <a:lnTo>
                    <a:pt x="302589" y="2760"/>
                  </a:lnTo>
                  <a:lnTo>
                    <a:pt x="383420" y="16559"/>
                  </a:lnTo>
                  <a:cubicBezTo>
                    <a:pt x="404315" y="6440"/>
                    <a:pt x="421911" y="21158"/>
                    <a:pt x="442806" y="11039"/>
                  </a:cubicBezTo>
                  <a:lnTo>
                    <a:pt x="436206" y="182133"/>
                  </a:lnTo>
                  <a:cubicBezTo>
                    <a:pt x="436206" y="236405"/>
                    <a:pt x="431252" y="287363"/>
                    <a:pt x="431252" y="341635"/>
                  </a:cubicBezTo>
                  <a:lnTo>
                    <a:pt x="414762" y="449814"/>
                  </a:lnTo>
                  <a:cubicBezTo>
                    <a:pt x="425210" y="442455"/>
                    <a:pt x="417511" y="531683"/>
                    <a:pt x="427959" y="524324"/>
                  </a:cubicBezTo>
                  <a:cubicBezTo>
                    <a:pt x="442805" y="507766"/>
                    <a:pt x="434558" y="408421"/>
                    <a:pt x="449404" y="391863"/>
                  </a:cubicBezTo>
                  <a:lnTo>
                    <a:pt x="472160" y="262699"/>
                  </a:lnTo>
                  <a:lnTo>
                    <a:pt x="475459" y="160046"/>
                  </a:lnTo>
                  <a:cubicBezTo>
                    <a:pt x="476729" y="139675"/>
                    <a:pt x="473044" y="119304"/>
                    <a:pt x="474314" y="98933"/>
                  </a:cubicBezTo>
                  <a:lnTo>
                    <a:pt x="482395" y="63471"/>
                  </a:lnTo>
                  <a:lnTo>
                    <a:pt x="487344" y="30356"/>
                  </a:lnTo>
                  <a:cubicBezTo>
                    <a:pt x="502740" y="28516"/>
                    <a:pt x="518137" y="1840"/>
                    <a:pt x="533533" y="0"/>
                  </a:cubicBezTo>
                  <a:cubicBezTo>
                    <a:pt x="576220" y="2034"/>
                    <a:pt x="614944" y="12358"/>
                    <a:pt x="657631" y="14392"/>
                  </a:cubicBezTo>
                  <a:lnTo>
                    <a:pt x="866567" y="10936"/>
                  </a:lnTo>
                  <a:lnTo>
                    <a:pt x="878891" y="1865952"/>
                  </a:lnTo>
                  <a:lnTo>
                    <a:pt x="6962" y="1872302"/>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8" name="任意多边形 117"/>
            <p:cNvSpPr/>
            <p:nvPr/>
          </p:nvSpPr>
          <p:spPr bwMode="auto">
            <a:xfrm>
              <a:off x="6039192" y="3570908"/>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9" name="Line 95"/>
            <p:cNvSpPr>
              <a:spLocks noChangeAspect="1" noChangeShapeType="1"/>
            </p:cNvSpPr>
            <p:nvPr/>
          </p:nvSpPr>
          <p:spPr bwMode="auto">
            <a:xfrm flipH="1">
              <a:off x="6754027" y="4069960"/>
              <a:ext cx="681634" cy="1294620"/>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0" name="Line 102"/>
            <p:cNvSpPr>
              <a:spLocks noChangeAspect="1" noChangeShapeType="1"/>
            </p:cNvSpPr>
            <p:nvPr/>
          </p:nvSpPr>
          <p:spPr bwMode="auto">
            <a:xfrm>
              <a:off x="6747380" y="4960442"/>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1" name="Line 95"/>
            <p:cNvSpPr>
              <a:spLocks noChangeAspect="1" noChangeShapeType="1"/>
            </p:cNvSpPr>
            <p:nvPr/>
          </p:nvSpPr>
          <p:spPr bwMode="auto">
            <a:xfrm flipH="1">
              <a:off x="6742034" y="4081522"/>
              <a:ext cx="464187" cy="88162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 name="Line 95"/>
            <p:cNvSpPr>
              <a:spLocks noChangeAspect="1" noChangeShapeType="1"/>
            </p:cNvSpPr>
            <p:nvPr/>
          </p:nvSpPr>
          <p:spPr bwMode="auto">
            <a:xfrm flipH="1">
              <a:off x="6734372" y="4070951"/>
              <a:ext cx="258394" cy="490764"/>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4" name="Line 95"/>
            <p:cNvSpPr>
              <a:spLocks noChangeAspect="1" noChangeShapeType="1"/>
            </p:cNvSpPr>
            <p:nvPr/>
          </p:nvSpPr>
          <p:spPr bwMode="auto">
            <a:xfrm flipH="1">
              <a:off x="6729413" y="4070951"/>
              <a:ext cx="48459" cy="9203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102"/>
            <p:cNvSpPr>
              <a:spLocks noChangeAspect="1" noChangeShapeType="1"/>
            </p:cNvSpPr>
            <p:nvPr/>
          </p:nvSpPr>
          <p:spPr bwMode="auto">
            <a:xfrm>
              <a:off x="6750084" y="4562754"/>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6" name="Line 102"/>
            <p:cNvSpPr>
              <a:spLocks noChangeAspect="1" noChangeShapeType="1"/>
            </p:cNvSpPr>
            <p:nvPr/>
          </p:nvSpPr>
          <p:spPr bwMode="auto">
            <a:xfrm>
              <a:off x="6749000" y="4155323"/>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 name="Line 102"/>
            <p:cNvSpPr>
              <a:spLocks noChangeAspect="1" noChangeShapeType="1"/>
            </p:cNvSpPr>
            <p:nvPr/>
          </p:nvSpPr>
          <p:spPr bwMode="auto">
            <a:xfrm>
              <a:off x="6924347" y="4092218"/>
              <a:ext cx="248206" cy="471764"/>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 name="Line 102"/>
            <p:cNvSpPr>
              <a:spLocks noChangeAspect="1" noChangeShapeType="1"/>
            </p:cNvSpPr>
            <p:nvPr/>
          </p:nvSpPr>
          <p:spPr bwMode="auto">
            <a:xfrm>
              <a:off x="7116511" y="4076237"/>
              <a:ext cx="154918" cy="29445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0" name="Line 102"/>
            <p:cNvSpPr>
              <a:spLocks noChangeAspect="1" noChangeShapeType="1"/>
            </p:cNvSpPr>
            <p:nvPr/>
          </p:nvSpPr>
          <p:spPr bwMode="auto">
            <a:xfrm>
              <a:off x="7317536" y="4076236"/>
              <a:ext cx="55972" cy="10638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Text Box 40"/>
            <p:cNvSpPr txBox="1">
              <a:spLocks noChangeArrowheads="1"/>
            </p:cNvSpPr>
            <p:nvPr/>
          </p:nvSpPr>
          <p:spPr bwMode="auto">
            <a:xfrm>
              <a:off x="6856981" y="4995878"/>
              <a:ext cx="1358538" cy="43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132" name="任意多边形 131"/>
            <p:cNvSpPr/>
            <p:nvPr/>
          </p:nvSpPr>
          <p:spPr bwMode="auto">
            <a:xfrm rot="593201">
              <a:off x="6812941" y="5231052"/>
              <a:ext cx="117283" cy="12438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4" name="直接连接符 133"/>
            <p:cNvCxnSpPr/>
            <p:nvPr/>
          </p:nvCxnSpPr>
          <p:spPr bwMode="auto">
            <a:xfrm>
              <a:off x="5748463" y="5370034"/>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任意多边形 134"/>
            <p:cNvSpPr/>
            <p:nvPr/>
          </p:nvSpPr>
          <p:spPr bwMode="auto">
            <a:xfrm>
              <a:off x="6739353" y="3571466"/>
              <a:ext cx="1355743" cy="502127"/>
            </a:xfrm>
            <a:custGeom>
              <a:avLst/>
              <a:gdLst>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2989 w 1355743"/>
                <a:gd name="connsiteY11" fmla="*/ 34356 h 504770"/>
                <a:gd name="connsiteX12" fmla="*/ 335632 w 1355743"/>
                <a:gd name="connsiteY12" fmla="*/ 95140 h 504770"/>
                <a:gd name="connsiteX13" fmla="*/ 325061 w 1355743"/>
                <a:gd name="connsiteY13" fmla="*/ 174423 h 504770"/>
                <a:gd name="connsiteX14" fmla="*/ 325061 w 1355743"/>
                <a:gd name="connsiteY14" fmla="*/ 258992 h 504770"/>
                <a:gd name="connsiteX15" fmla="*/ 311847 w 1355743"/>
                <a:gd name="connsiteY15" fmla="*/ 325061 h 504770"/>
                <a:gd name="connsiteX16" fmla="*/ 319775 w 1355743"/>
                <a:gd name="connsiteY16" fmla="*/ 393773 h 504770"/>
                <a:gd name="connsiteX17" fmla="*/ 338275 w 1355743"/>
                <a:gd name="connsiteY17" fmla="*/ 457200 h 504770"/>
                <a:gd name="connsiteX18" fmla="*/ 343560 w 1355743"/>
                <a:gd name="connsiteY18" fmla="*/ 504770 h 504770"/>
                <a:gd name="connsiteX19" fmla="*/ 356774 w 1355743"/>
                <a:gd name="connsiteY19" fmla="*/ 441343 h 504770"/>
                <a:gd name="connsiteX20" fmla="*/ 354131 w 1355743"/>
                <a:gd name="connsiteY20" fmla="*/ 364703 h 504770"/>
                <a:gd name="connsiteX21" fmla="*/ 351489 w 1355743"/>
                <a:gd name="connsiteY21" fmla="*/ 266920 h 504770"/>
                <a:gd name="connsiteX22" fmla="*/ 367345 w 1355743"/>
                <a:gd name="connsiteY22" fmla="*/ 184994 h 504770"/>
                <a:gd name="connsiteX23" fmla="*/ 369988 w 1355743"/>
                <a:gd name="connsiteY23" fmla="*/ 103068 h 504770"/>
                <a:gd name="connsiteX24" fmla="*/ 380559 w 1355743"/>
                <a:gd name="connsiteY24" fmla="*/ 44927 h 504770"/>
                <a:gd name="connsiteX25" fmla="*/ 401701 w 1355743"/>
                <a:gd name="connsiteY25" fmla="*/ 7928 h 504770"/>
                <a:gd name="connsiteX26" fmla="*/ 457200 w 1355743"/>
                <a:gd name="connsiteY26" fmla="*/ 2642 h 504770"/>
                <a:gd name="connsiteX27" fmla="*/ 602552 w 1355743"/>
                <a:gd name="connsiteY27" fmla="*/ 10571 h 504770"/>
                <a:gd name="connsiteX28" fmla="*/ 692407 w 1355743"/>
                <a:gd name="connsiteY28" fmla="*/ 7928 h 504770"/>
                <a:gd name="connsiteX29" fmla="*/ 710906 w 1355743"/>
                <a:gd name="connsiteY29" fmla="*/ 5285 h 504770"/>
                <a:gd name="connsiteX30" fmla="*/ 689764 w 1355743"/>
                <a:gd name="connsiteY30" fmla="*/ 105711 h 504770"/>
                <a:gd name="connsiteX31" fmla="*/ 684478 w 1355743"/>
                <a:gd name="connsiteY31" fmla="*/ 251063 h 504770"/>
                <a:gd name="connsiteX32" fmla="*/ 676550 w 1355743"/>
                <a:gd name="connsiteY32" fmla="*/ 356774 h 504770"/>
                <a:gd name="connsiteX33" fmla="*/ 665979 w 1355743"/>
                <a:gd name="connsiteY33" fmla="*/ 454557 h 504770"/>
                <a:gd name="connsiteX34" fmla="*/ 689764 w 1355743"/>
                <a:gd name="connsiteY34" fmla="*/ 502127 h 504770"/>
                <a:gd name="connsiteX35" fmla="*/ 700335 w 1355743"/>
                <a:gd name="connsiteY35" fmla="*/ 420201 h 504770"/>
                <a:gd name="connsiteX36" fmla="*/ 732048 w 1355743"/>
                <a:gd name="connsiteY36" fmla="*/ 309204 h 504770"/>
                <a:gd name="connsiteX37" fmla="*/ 750548 w 1355743"/>
                <a:gd name="connsiteY37" fmla="*/ 190279 h 504770"/>
                <a:gd name="connsiteX38" fmla="*/ 753190 w 1355743"/>
                <a:gd name="connsiteY38" fmla="*/ 87211 h 504770"/>
                <a:gd name="connsiteX39" fmla="*/ 766404 w 1355743"/>
                <a:gd name="connsiteY39" fmla="*/ 36998 h 504770"/>
                <a:gd name="connsiteX40" fmla="*/ 829831 w 1355743"/>
                <a:gd name="connsiteY40" fmla="*/ 2642 h 504770"/>
                <a:gd name="connsiteX41" fmla="*/ 1020111 w 1355743"/>
                <a:gd name="connsiteY41" fmla="*/ 10571 h 504770"/>
                <a:gd name="connsiteX42" fmla="*/ 1183963 w 1355743"/>
                <a:gd name="connsiteY42" fmla="*/ 7928 h 504770"/>
                <a:gd name="connsiteX43" fmla="*/ 1355743 w 1355743"/>
                <a:gd name="connsiteY43"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2989 w 1355743"/>
                <a:gd name="connsiteY11" fmla="*/ 34356 h 504770"/>
                <a:gd name="connsiteX12" fmla="*/ 325061 w 1355743"/>
                <a:gd name="connsiteY12" fmla="*/ 174423 h 504770"/>
                <a:gd name="connsiteX13" fmla="*/ 325061 w 1355743"/>
                <a:gd name="connsiteY13" fmla="*/ 258992 h 504770"/>
                <a:gd name="connsiteX14" fmla="*/ 311847 w 1355743"/>
                <a:gd name="connsiteY14" fmla="*/ 325061 h 504770"/>
                <a:gd name="connsiteX15" fmla="*/ 319775 w 1355743"/>
                <a:gd name="connsiteY15" fmla="*/ 393773 h 504770"/>
                <a:gd name="connsiteX16" fmla="*/ 338275 w 1355743"/>
                <a:gd name="connsiteY16" fmla="*/ 457200 h 504770"/>
                <a:gd name="connsiteX17" fmla="*/ 343560 w 1355743"/>
                <a:gd name="connsiteY17" fmla="*/ 504770 h 504770"/>
                <a:gd name="connsiteX18" fmla="*/ 356774 w 1355743"/>
                <a:gd name="connsiteY18" fmla="*/ 441343 h 504770"/>
                <a:gd name="connsiteX19" fmla="*/ 354131 w 1355743"/>
                <a:gd name="connsiteY19" fmla="*/ 364703 h 504770"/>
                <a:gd name="connsiteX20" fmla="*/ 351489 w 1355743"/>
                <a:gd name="connsiteY20" fmla="*/ 266920 h 504770"/>
                <a:gd name="connsiteX21" fmla="*/ 367345 w 1355743"/>
                <a:gd name="connsiteY21" fmla="*/ 184994 h 504770"/>
                <a:gd name="connsiteX22" fmla="*/ 369988 w 1355743"/>
                <a:gd name="connsiteY22" fmla="*/ 103068 h 504770"/>
                <a:gd name="connsiteX23" fmla="*/ 380559 w 1355743"/>
                <a:gd name="connsiteY23" fmla="*/ 44927 h 504770"/>
                <a:gd name="connsiteX24" fmla="*/ 401701 w 1355743"/>
                <a:gd name="connsiteY24" fmla="*/ 7928 h 504770"/>
                <a:gd name="connsiteX25" fmla="*/ 457200 w 1355743"/>
                <a:gd name="connsiteY25" fmla="*/ 2642 h 504770"/>
                <a:gd name="connsiteX26" fmla="*/ 602552 w 1355743"/>
                <a:gd name="connsiteY26" fmla="*/ 10571 h 504770"/>
                <a:gd name="connsiteX27" fmla="*/ 692407 w 1355743"/>
                <a:gd name="connsiteY27" fmla="*/ 7928 h 504770"/>
                <a:gd name="connsiteX28" fmla="*/ 710906 w 1355743"/>
                <a:gd name="connsiteY28" fmla="*/ 5285 h 504770"/>
                <a:gd name="connsiteX29" fmla="*/ 689764 w 1355743"/>
                <a:gd name="connsiteY29" fmla="*/ 105711 h 504770"/>
                <a:gd name="connsiteX30" fmla="*/ 684478 w 1355743"/>
                <a:gd name="connsiteY30" fmla="*/ 251063 h 504770"/>
                <a:gd name="connsiteX31" fmla="*/ 676550 w 1355743"/>
                <a:gd name="connsiteY31" fmla="*/ 356774 h 504770"/>
                <a:gd name="connsiteX32" fmla="*/ 665979 w 1355743"/>
                <a:gd name="connsiteY32" fmla="*/ 454557 h 504770"/>
                <a:gd name="connsiteX33" fmla="*/ 689764 w 1355743"/>
                <a:gd name="connsiteY33" fmla="*/ 502127 h 504770"/>
                <a:gd name="connsiteX34" fmla="*/ 700335 w 1355743"/>
                <a:gd name="connsiteY34" fmla="*/ 420201 h 504770"/>
                <a:gd name="connsiteX35" fmla="*/ 732048 w 1355743"/>
                <a:gd name="connsiteY35" fmla="*/ 309204 h 504770"/>
                <a:gd name="connsiteX36" fmla="*/ 750548 w 1355743"/>
                <a:gd name="connsiteY36" fmla="*/ 190279 h 504770"/>
                <a:gd name="connsiteX37" fmla="*/ 753190 w 1355743"/>
                <a:gd name="connsiteY37" fmla="*/ 87211 h 504770"/>
                <a:gd name="connsiteX38" fmla="*/ 766404 w 1355743"/>
                <a:gd name="connsiteY38" fmla="*/ 36998 h 504770"/>
                <a:gd name="connsiteX39" fmla="*/ 829831 w 1355743"/>
                <a:gd name="connsiteY39" fmla="*/ 2642 h 504770"/>
                <a:gd name="connsiteX40" fmla="*/ 1020111 w 1355743"/>
                <a:gd name="connsiteY40" fmla="*/ 10571 h 504770"/>
                <a:gd name="connsiteX41" fmla="*/ 1183963 w 1355743"/>
                <a:gd name="connsiteY41" fmla="*/ 7928 h 504770"/>
                <a:gd name="connsiteX42" fmla="*/ 1355743 w 1355743"/>
                <a:gd name="connsiteY42"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369988 w 1355743"/>
                <a:gd name="connsiteY21" fmla="*/ 103068 h 504770"/>
                <a:gd name="connsiteX22" fmla="*/ 380559 w 1355743"/>
                <a:gd name="connsiteY22" fmla="*/ 44927 h 504770"/>
                <a:gd name="connsiteX23" fmla="*/ 401701 w 1355743"/>
                <a:gd name="connsiteY23" fmla="*/ 7928 h 504770"/>
                <a:gd name="connsiteX24" fmla="*/ 457200 w 1355743"/>
                <a:gd name="connsiteY24" fmla="*/ 2642 h 504770"/>
                <a:gd name="connsiteX25" fmla="*/ 602552 w 1355743"/>
                <a:gd name="connsiteY25" fmla="*/ 10571 h 504770"/>
                <a:gd name="connsiteX26" fmla="*/ 692407 w 1355743"/>
                <a:gd name="connsiteY26" fmla="*/ 7928 h 504770"/>
                <a:gd name="connsiteX27" fmla="*/ 710906 w 1355743"/>
                <a:gd name="connsiteY27" fmla="*/ 5285 h 504770"/>
                <a:gd name="connsiteX28" fmla="*/ 689764 w 1355743"/>
                <a:gd name="connsiteY28" fmla="*/ 105711 h 504770"/>
                <a:gd name="connsiteX29" fmla="*/ 684478 w 1355743"/>
                <a:gd name="connsiteY29" fmla="*/ 251063 h 504770"/>
                <a:gd name="connsiteX30" fmla="*/ 676550 w 1355743"/>
                <a:gd name="connsiteY30" fmla="*/ 356774 h 504770"/>
                <a:gd name="connsiteX31" fmla="*/ 665979 w 1355743"/>
                <a:gd name="connsiteY31" fmla="*/ 454557 h 504770"/>
                <a:gd name="connsiteX32" fmla="*/ 689764 w 1355743"/>
                <a:gd name="connsiteY32" fmla="*/ 502127 h 504770"/>
                <a:gd name="connsiteX33" fmla="*/ 700335 w 1355743"/>
                <a:gd name="connsiteY33" fmla="*/ 420201 h 504770"/>
                <a:gd name="connsiteX34" fmla="*/ 732048 w 1355743"/>
                <a:gd name="connsiteY34" fmla="*/ 309204 h 504770"/>
                <a:gd name="connsiteX35" fmla="*/ 750548 w 1355743"/>
                <a:gd name="connsiteY35" fmla="*/ 190279 h 504770"/>
                <a:gd name="connsiteX36" fmla="*/ 753190 w 1355743"/>
                <a:gd name="connsiteY36" fmla="*/ 87211 h 504770"/>
                <a:gd name="connsiteX37" fmla="*/ 766404 w 1355743"/>
                <a:gd name="connsiteY37" fmla="*/ 36998 h 504770"/>
                <a:gd name="connsiteX38" fmla="*/ 829831 w 1355743"/>
                <a:gd name="connsiteY38" fmla="*/ 2642 h 504770"/>
                <a:gd name="connsiteX39" fmla="*/ 1020111 w 1355743"/>
                <a:gd name="connsiteY39" fmla="*/ 10571 h 504770"/>
                <a:gd name="connsiteX40" fmla="*/ 1183963 w 1355743"/>
                <a:gd name="connsiteY40" fmla="*/ 7928 h 504770"/>
                <a:gd name="connsiteX41" fmla="*/ 1355743 w 1355743"/>
                <a:gd name="connsiteY41"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380559 w 1355743"/>
                <a:gd name="connsiteY21" fmla="*/ 44927 h 504770"/>
                <a:gd name="connsiteX22" fmla="*/ 401701 w 1355743"/>
                <a:gd name="connsiteY22" fmla="*/ 7928 h 504770"/>
                <a:gd name="connsiteX23" fmla="*/ 457200 w 1355743"/>
                <a:gd name="connsiteY23" fmla="*/ 2642 h 504770"/>
                <a:gd name="connsiteX24" fmla="*/ 602552 w 1355743"/>
                <a:gd name="connsiteY24" fmla="*/ 10571 h 504770"/>
                <a:gd name="connsiteX25" fmla="*/ 692407 w 1355743"/>
                <a:gd name="connsiteY25" fmla="*/ 7928 h 504770"/>
                <a:gd name="connsiteX26" fmla="*/ 710906 w 1355743"/>
                <a:gd name="connsiteY26" fmla="*/ 5285 h 504770"/>
                <a:gd name="connsiteX27" fmla="*/ 689764 w 1355743"/>
                <a:gd name="connsiteY27" fmla="*/ 105711 h 504770"/>
                <a:gd name="connsiteX28" fmla="*/ 684478 w 1355743"/>
                <a:gd name="connsiteY28" fmla="*/ 251063 h 504770"/>
                <a:gd name="connsiteX29" fmla="*/ 676550 w 1355743"/>
                <a:gd name="connsiteY29" fmla="*/ 356774 h 504770"/>
                <a:gd name="connsiteX30" fmla="*/ 665979 w 1355743"/>
                <a:gd name="connsiteY30" fmla="*/ 454557 h 504770"/>
                <a:gd name="connsiteX31" fmla="*/ 689764 w 1355743"/>
                <a:gd name="connsiteY31" fmla="*/ 502127 h 504770"/>
                <a:gd name="connsiteX32" fmla="*/ 700335 w 1355743"/>
                <a:gd name="connsiteY32" fmla="*/ 420201 h 504770"/>
                <a:gd name="connsiteX33" fmla="*/ 732048 w 1355743"/>
                <a:gd name="connsiteY33" fmla="*/ 309204 h 504770"/>
                <a:gd name="connsiteX34" fmla="*/ 750548 w 1355743"/>
                <a:gd name="connsiteY34" fmla="*/ 190279 h 504770"/>
                <a:gd name="connsiteX35" fmla="*/ 753190 w 1355743"/>
                <a:gd name="connsiteY35" fmla="*/ 87211 h 504770"/>
                <a:gd name="connsiteX36" fmla="*/ 766404 w 1355743"/>
                <a:gd name="connsiteY36" fmla="*/ 36998 h 504770"/>
                <a:gd name="connsiteX37" fmla="*/ 829831 w 1355743"/>
                <a:gd name="connsiteY37" fmla="*/ 2642 h 504770"/>
                <a:gd name="connsiteX38" fmla="*/ 1020111 w 1355743"/>
                <a:gd name="connsiteY38" fmla="*/ 10571 h 504770"/>
                <a:gd name="connsiteX39" fmla="*/ 1183963 w 1355743"/>
                <a:gd name="connsiteY39" fmla="*/ 7928 h 504770"/>
                <a:gd name="connsiteX40" fmla="*/ 1355743 w 1355743"/>
                <a:gd name="connsiteY40"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174423 h 504770"/>
                <a:gd name="connsiteX12" fmla="*/ 325061 w 1355743"/>
                <a:gd name="connsiteY12" fmla="*/ 258992 h 504770"/>
                <a:gd name="connsiteX13" fmla="*/ 311847 w 1355743"/>
                <a:gd name="connsiteY13" fmla="*/ 325061 h 504770"/>
                <a:gd name="connsiteX14" fmla="*/ 319775 w 1355743"/>
                <a:gd name="connsiteY14" fmla="*/ 393773 h 504770"/>
                <a:gd name="connsiteX15" fmla="*/ 338275 w 1355743"/>
                <a:gd name="connsiteY15" fmla="*/ 457200 h 504770"/>
                <a:gd name="connsiteX16" fmla="*/ 343560 w 1355743"/>
                <a:gd name="connsiteY16" fmla="*/ 504770 h 504770"/>
                <a:gd name="connsiteX17" fmla="*/ 356774 w 1355743"/>
                <a:gd name="connsiteY17" fmla="*/ 441343 h 504770"/>
                <a:gd name="connsiteX18" fmla="*/ 354131 w 1355743"/>
                <a:gd name="connsiteY18" fmla="*/ 364703 h 504770"/>
                <a:gd name="connsiteX19" fmla="*/ 351489 w 1355743"/>
                <a:gd name="connsiteY19" fmla="*/ 266920 h 504770"/>
                <a:gd name="connsiteX20" fmla="*/ 367345 w 1355743"/>
                <a:gd name="connsiteY20" fmla="*/ 184994 h 504770"/>
                <a:gd name="connsiteX21" fmla="*/ 401701 w 1355743"/>
                <a:gd name="connsiteY21" fmla="*/ 7928 h 504770"/>
                <a:gd name="connsiteX22" fmla="*/ 457200 w 1355743"/>
                <a:gd name="connsiteY22" fmla="*/ 2642 h 504770"/>
                <a:gd name="connsiteX23" fmla="*/ 602552 w 1355743"/>
                <a:gd name="connsiteY23" fmla="*/ 10571 h 504770"/>
                <a:gd name="connsiteX24" fmla="*/ 692407 w 1355743"/>
                <a:gd name="connsiteY24" fmla="*/ 7928 h 504770"/>
                <a:gd name="connsiteX25" fmla="*/ 710906 w 1355743"/>
                <a:gd name="connsiteY25" fmla="*/ 5285 h 504770"/>
                <a:gd name="connsiteX26" fmla="*/ 689764 w 1355743"/>
                <a:gd name="connsiteY26" fmla="*/ 105711 h 504770"/>
                <a:gd name="connsiteX27" fmla="*/ 684478 w 1355743"/>
                <a:gd name="connsiteY27" fmla="*/ 251063 h 504770"/>
                <a:gd name="connsiteX28" fmla="*/ 676550 w 1355743"/>
                <a:gd name="connsiteY28" fmla="*/ 356774 h 504770"/>
                <a:gd name="connsiteX29" fmla="*/ 665979 w 1355743"/>
                <a:gd name="connsiteY29" fmla="*/ 454557 h 504770"/>
                <a:gd name="connsiteX30" fmla="*/ 689764 w 1355743"/>
                <a:gd name="connsiteY30" fmla="*/ 502127 h 504770"/>
                <a:gd name="connsiteX31" fmla="*/ 700335 w 1355743"/>
                <a:gd name="connsiteY31" fmla="*/ 420201 h 504770"/>
                <a:gd name="connsiteX32" fmla="*/ 732048 w 1355743"/>
                <a:gd name="connsiteY32" fmla="*/ 309204 h 504770"/>
                <a:gd name="connsiteX33" fmla="*/ 750548 w 1355743"/>
                <a:gd name="connsiteY33" fmla="*/ 190279 h 504770"/>
                <a:gd name="connsiteX34" fmla="*/ 753190 w 1355743"/>
                <a:gd name="connsiteY34" fmla="*/ 87211 h 504770"/>
                <a:gd name="connsiteX35" fmla="*/ 766404 w 1355743"/>
                <a:gd name="connsiteY35" fmla="*/ 36998 h 504770"/>
                <a:gd name="connsiteX36" fmla="*/ 829831 w 1355743"/>
                <a:gd name="connsiteY36" fmla="*/ 2642 h 504770"/>
                <a:gd name="connsiteX37" fmla="*/ 1020111 w 1355743"/>
                <a:gd name="connsiteY37" fmla="*/ 10571 h 504770"/>
                <a:gd name="connsiteX38" fmla="*/ 1183963 w 1355743"/>
                <a:gd name="connsiteY38" fmla="*/ 7928 h 504770"/>
                <a:gd name="connsiteX39" fmla="*/ 1355743 w 1355743"/>
                <a:gd name="connsiteY39"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351489 w 1355743"/>
                <a:gd name="connsiteY18" fmla="*/ 266920 h 504770"/>
                <a:gd name="connsiteX19" fmla="*/ 367345 w 1355743"/>
                <a:gd name="connsiteY19" fmla="*/ 184994 h 504770"/>
                <a:gd name="connsiteX20" fmla="*/ 401701 w 1355743"/>
                <a:gd name="connsiteY20" fmla="*/ 7928 h 504770"/>
                <a:gd name="connsiteX21" fmla="*/ 457200 w 1355743"/>
                <a:gd name="connsiteY21" fmla="*/ 2642 h 504770"/>
                <a:gd name="connsiteX22" fmla="*/ 602552 w 1355743"/>
                <a:gd name="connsiteY22" fmla="*/ 10571 h 504770"/>
                <a:gd name="connsiteX23" fmla="*/ 692407 w 1355743"/>
                <a:gd name="connsiteY23" fmla="*/ 7928 h 504770"/>
                <a:gd name="connsiteX24" fmla="*/ 710906 w 1355743"/>
                <a:gd name="connsiteY24" fmla="*/ 5285 h 504770"/>
                <a:gd name="connsiteX25" fmla="*/ 689764 w 1355743"/>
                <a:gd name="connsiteY25" fmla="*/ 105711 h 504770"/>
                <a:gd name="connsiteX26" fmla="*/ 684478 w 1355743"/>
                <a:gd name="connsiteY26" fmla="*/ 251063 h 504770"/>
                <a:gd name="connsiteX27" fmla="*/ 676550 w 1355743"/>
                <a:gd name="connsiteY27" fmla="*/ 356774 h 504770"/>
                <a:gd name="connsiteX28" fmla="*/ 665979 w 1355743"/>
                <a:gd name="connsiteY28" fmla="*/ 454557 h 504770"/>
                <a:gd name="connsiteX29" fmla="*/ 689764 w 1355743"/>
                <a:gd name="connsiteY29" fmla="*/ 502127 h 504770"/>
                <a:gd name="connsiteX30" fmla="*/ 700335 w 1355743"/>
                <a:gd name="connsiteY30" fmla="*/ 420201 h 504770"/>
                <a:gd name="connsiteX31" fmla="*/ 732048 w 1355743"/>
                <a:gd name="connsiteY31" fmla="*/ 309204 h 504770"/>
                <a:gd name="connsiteX32" fmla="*/ 750548 w 1355743"/>
                <a:gd name="connsiteY32" fmla="*/ 190279 h 504770"/>
                <a:gd name="connsiteX33" fmla="*/ 753190 w 1355743"/>
                <a:gd name="connsiteY33" fmla="*/ 87211 h 504770"/>
                <a:gd name="connsiteX34" fmla="*/ 766404 w 1355743"/>
                <a:gd name="connsiteY34" fmla="*/ 36998 h 504770"/>
                <a:gd name="connsiteX35" fmla="*/ 829831 w 1355743"/>
                <a:gd name="connsiteY35" fmla="*/ 2642 h 504770"/>
                <a:gd name="connsiteX36" fmla="*/ 1020111 w 1355743"/>
                <a:gd name="connsiteY36" fmla="*/ 10571 h 504770"/>
                <a:gd name="connsiteX37" fmla="*/ 1183963 w 1355743"/>
                <a:gd name="connsiteY37" fmla="*/ 7928 h 504770"/>
                <a:gd name="connsiteX38" fmla="*/ 1355743 w 1355743"/>
                <a:gd name="connsiteY38"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351489 w 1355743"/>
                <a:gd name="connsiteY18" fmla="*/ 266920 h 504770"/>
                <a:gd name="connsiteX19" fmla="*/ 401701 w 1355743"/>
                <a:gd name="connsiteY19" fmla="*/ 7928 h 504770"/>
                <a:gd name="connsiteX20" fmla="*/ 457200 w 1355743"/>
                <a:gd name="connsiteY20" fmla="*/ 2642 h 504770"/>
                <a:gd name="connsiteX21" fmla="*/ 602552 w 1355743"/>
                <a:gd name="connsiteY21" fmla="*/ 10571 h 504770"/>
                <a:gd name="connsiteX22" fmla="*/ 692407 w 1355743"/>
                <a:gd name="connsiteY22" fmla="*/ 7928 h 504770"/>
                <a:gd name="connsiteX23" fmla="*/ 710906 w 1355743"/>
                <a:gd name="connsiteY23" fmla="*/ 5285 h 504770"/>
                <a:gd name="connsiteX24" fmla="*/ 689764 w 1355743"/>
                <a:gd name="connsiteY24" fmla="*/ 105711 h 504770"/>
                <a:gd name="connsiteX25" fmla="*/ 684478 w 1355743"/>
                <a:gd name="connsiteY25" fmla="*/ 251063 h 504770"/>
                <a:gd name="connsiteX26" fmla="*/ 676550 w 1355743"/>
                <a:gd name="connsiteY26" fmla="*/ 356774 h 504770"/>
                <a:gd name="connsiteX27" fmla="*/ 665979 w 1355743"/>
                <a:gd name="connsiteY27" fmla="*/ 454557 h 504770"/>
                <a:gd name="connsiteX28" fmla="*/ 689764 w 1355743"/>
                <a:gd name="connsiteY28" fmla="*/ 502127 h 504770"/>
                <a:gd name="connsiteX29" fmla="*/ 700335 w 1355743"/>
                <a:gd name="connsiteY29" fmla="*/ 420201 h 504770"/>
                <a:gd name="connsiteX30" fmla="*/ 732048 w 1355743"/>
                <a:gd name="connsiteY30" fmla="*/ 309204 h 504770"/>
                <a:gd name="connsiteX31" fmla="*/ 750548 w 1355743"/>
                <a:gd name="connsiteY31" fmla="*/ 190279 h 504770"/>
                <a:gd name="connsiteX32" fmla="*/ 753190 w 1355743"/>
                <a:gd name="connsiteY32" fmla="*/ 87211 h 504770"/>
                <a:gd name="connsiteX33" fmla="*/ 766404 w 1355743"/>
                <a:gd name="connsiteY33" fmla="*/ 36998 h 504770"/>
                <a:gd name="connsiteX34" fmla="*/ 829831 w 1355743"/>
                <a:gd name="connsiteY34" fmla="*/ 2642 h 504770"/>
                <a:gd name="connsiteX35" fmla="*/ 1020111 w 1355743"/>
                <a:gd name="connsiteY35" fmla="*/ 10571 h 504770"/>
                <a:gd name="connsiteX36" fmla="*/ 1183963 w 1355743"/>
                <a:gd name="connsiteY36" fmla="*/ 7928 h 504770"/>
                <a:gd name="connsiteX37" fmla="*/ 1355743 w 1355743"/>
                <a:gd name="connsiteY37"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25061 w 1355743"/>
                <a:gd name="connsiteY11" fmla="*/ 258992 h 504770"/>
                <a:gd name="connsiteX12" fmla="*/ 311847 w 1355743"/>
                <a:gd name="connsiteY12" fmla="*/ 325061 h 504770"/>
                <a:gd name="connsiteX13" fmla="*/ 319775 w 1355743"/>
                <a:gd name="connsiteY13" fmla="*/ 393773 h 504770"/>
                <a:gd name="connsiteX14" fmla="*/ 338275 w 1355743"/>
                <a:gd name="connsiteY14" fmla="*/ 457200 h 504770"/>
                <a:gd name="connsiteX15" fmla="*/ 343560 w 1355743"/>
                <a:gd name="connsiteY15" fmla="*/ 504770 h 504770"/>
                <a:gd name="connsiteX16" fmla="*/ 356774 w 1355743"/>
                <a:gd name="connsiteY16" fmla="*/ 441343 h 504770"/>
                <a:gd name="connsiteX17" fmla="*/ 354131 w 1355743"/>
                <a:gd name="connsiteY17" fmla="*/ 364703 h 504770"/>
                <a:gd name="connsiteX18" fmla="*/ 401701 w 1355743"/>
                <a:gd name="connsiteY18" fmla="*/ 7928 h 504770"/>
                <a:gd name="connsiteX19" fmla="*/ 457200 w 1355743"/>
                <a:gd name="connsiteY19" fmla="*/ 2642 h 504770"/>
                <a:gd name="connsiteX20" fmla="*/ 602552 w 1355743"/>
                <a:gd name="connsiteY20" fmla="*/ 10571 h 504770"/>
                <a:gd name="connsiteX21" fmla="*/ 692407 w 1355743"/>
                <a:gd name="connsiteY21" fmla="*/ 7928 h 504770"/>
                <a:gd name="connsiteX22" fmla="*/ 710906 w 1355743"/>
                <a:gd name="connsiteY22" fmla="*/ 5285 h 504770"/>
                <a:gd name="connsiteX23" fmla="*/ 689764 w 1355743"/>
                <a:gd name="connsiteY23" fmla="*/ 105711 h 504770"/>
                <a:gd name="connsiteX24" fmla="*/ 684478 w 1355743"/>
                <a:gd name="connsiteY24" fmla="*/ 251063 h 504770"/>
                <a:gd name="connsiteX25" fmla="*/ 676550 w 1355743"/>
                <a:gd name="connsiteY25" fmla="*/ 356774 h 504770"/>
                <a:gd name="connsiteX26" fmla="*/ 665979 w 1355743"/>
                <a:gd name="connsiteY26" fmla="*/ 454557 h 504770"/>
                <a:gd name="connsiteX27" fmla="*/ 689764 w 1355743"/>
                <a:gd name="connsiteY27" fmla="*/ 502127 h 504770"/>
                <a:gd name="connsiteX28" fmla="*/ 700335 w 1355743"/>
                <a:gd name="connsiteY28" fmla="*/ 420201 h 504770"/>
                <a:gd name="connsiteX29" fmla="*/ 732048 w 1355743"/>
                <a:gd name="connsiteY29" fmla="*/ 309204 h 504770"/>
                <a:gd name="connsiteX30" fmla="*/ 750548 w 1355743"/>
                <a:gd name="connsiteY30" fmla="*/ 190279 h 504770"/>
                <a:gd name="connsiteX31" fmla="*/ 753190 w 1355743"/>
                <a:gd name="connsiteY31" fmla="*/ 87211 h 504770"/>
                <a:gd name="connsiteX32" fmla="*/ 766404 w 1355743"/>
                <a:gd name="connsiteY32" fmla="*/ 36998 h 504770"/>
                <a:gd name="connsiteX33" fmla="*/ 829831 w 1355743"/>
                <a:gd name="connsiteY33" fmla="*/ 2642 h 504770"/>
                <a:gd name="connsiteX34" fmla="*/ 1020111 w 1355743"/>
                <a:gd name="connsiteY34" fmla="*/ 10571 h 504770"/>
                <a:gd name="connsiteX35" fmla="*/ 1183963 w 1355743"/>
                <a:gd name="connsiteY35" fmla="*/ 7928 h 504770"/>
                <a:gd name="connsiteX36" fmla="*/ 1355743 w 1355743"/>
                <a:gd name="connsiteY36"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11847 w 1355743"/>
                <a:gd name="connsiteY11" fmla="*/ 325061 h 504770"/>
                <a:gd name="connsiteX12" fmla="*/ 319775 w 1355743"/>
                <a:gd name="connsiteY12" fmla="*/ 393773 h 504770"/>
                <a:gd name="connsiteX13" fmla="*/ 338275 w 1355743"/>
                <a:gd name="connsiteY13" fmla="*/ 457200 h 504770"/>
                <a:gd name="connsiteX14" fmla="*/ 343560 w 1355743"/>
                <a:gd name="connsiteY14" fmla="*/ 504770 h 504770"/>
                <a:gd name="connsiteX15" fmla="*/ 356774 w 1355743"/>
                <a:gd name="connsiteY15" fmla="*/ 441343 h 504770"/>
                <a:gd name="connsiteX16" fmla="*/ 354131 w 1355743"/>
                <a:gd name="connsiteY16" fmla="*/ 364703 h 504770"/>
                <a:gd name="connsiteX17" fmla="*/ 401701 w 1355743"/>
                <a:gd name="connsiteY17" fmla="*/ 7928 h 504770"/>
                <a:gd name="connsiteX18" fmla="*/ 457200 w 1355743"/>
                <a:gd name="connsiteY18" fmla="*/ 2642 h 504770"/>
                <a:gd name="connsiteX19" fmla="*/ 602552 w 1355743"/>
                <a:gd name="connsiteY19" fmla="*/ 10571 h 504770"/>
                <a:gd name="connsiteX20" fmla="*/ 692407 w 1355743"/>
                <a:gd name="connsiteY20" fmla="*/ 7928 h 504770"/>
                <a:gd name="connsiteX21" fmla="*/ 710906 w 1355743"/>
                <a:gd name="connsiteY21" fmla="*/ 5285 h 504770"/>
                <a:gd name="connsiteX22" fmla="*/ 689764 w 1355743"/>
                <a:gd name="connsiteY22" fmla="*/ 105711 h 504770"/>
                <a:gd name="connsiteX23" fmla="*/ 684478 w 1355743"/>
                <a:gd name="connsiteY23" fmla="*/ 251063 h 504770"/>
                <a:gd name="connsiteX24" fmla="*/ 676550 w 1355743"/>
                <a:gd name="connsiteY24" fmla="*/ 356774 h 504770"/>
                <a:gd name="connsiteX25" fmla="*/ 665979 w 1355743"/>
                <a:gd name="connsiteY25" fmla="*/ 454557 h 504770"/>
                <a:gd name="connsiteX26" fmla="*/ 689764 w 1355743"/>
                <a:gd name="connsiteY26" fmla="*/ 502127 h 504770"/>
                <a:gd name="connsiteX27" fmla="*/ 700335 w 1355743"/>
                <a:gd name="connsiteY27" fmla="*/ 420201 h 504770"/>
                <a:gd name="connsiteX28" fmla="*/ 732048 w 1355743"/>
                <a:gd name="connsiteY28" fmla="*/ 309204 h 504770"/>
                <a:gd name="connsiteX29" fmla="*/ 750548 w 1355743"/>
                <a:gd name="connsiteY29" fmla="*/ 190279 h 504770"/>
                <a:gd name="connsiteX30" fmla="*/ 753190 w 1355743"/>
                <a:gd name="connsiteY30" fmla="*/ 87211 h 504770"/>
                <a:gd name="connsiteX31" fmla="*/ 766404 w 1355743"/>
                <a:gd name="connsiteY31" fmla="*/ 36998 h 504770"/>
                <a:gd name="connsiteX32" fmla="*/ 829831 w 1355743"/>
                <a:gd name="connsiteY32" fmla="*/ 2642 h 504770"/>
                <a:gd name="connsiteX33" fmla="*/ 1020111 w 1355743"/>
                <a:gd name="connsiteY33" fmla="*/ 10571 h 504770"/>
                <a:gd name="connsiteX34" fmla="*/ 1183963 w 1355743"/>
                <a:gd name="connsiteY34" fmla="*/ 7928 h 504770"/>
                <a:gd name="connsiteX35" fmla="*/ 1355743 w 1355743"/>
                <a:gd name="connsiteY35"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19775 w 1355743"/>
                <a:gd name="connsiteY11" fmla="*/ 393773 h 504770"/>
                <a:gd name="connsiteX12" fmla="*/ 338275 w 1355743"/>
                <a:gd name="connsiteY12" fmla="*/ 457200 h 504770"/>
                <a:gd name="connsiteX13" fmla="*/ 343560 w 1355743"/>
                <a:gd name="connsiteY13" fmla="*/ 504770 h 504770"/>
                <a:gd name="connsiteX14" fmla="*/ 356774 w 1355743"/>
                <a:gd name="connsiteY14" fmla="*/ 441343 h 504770"/>
                <a:gd name="connsiteX15" fmla="*/ 354131 w 1355743"/>
                <a:gd name="connsiteY15" fmla="*/ 364703 h 504770"/>
                <a:gd name="connsiteX16" fmla="*/ 401701 w 1355743"/>
                <a:gd name="connsiteY16" fmla="*/ 7928 h 504770"/>
                <a:gd name="connsiteX17" fmla="*/ 457200 w 1355743"/>
                <a:gd name="connsiteY17" fmla="*/ 2642 h 504770"/>
                <a:gd name="connsiteX18" fmla="*/ 602552 w 1355743"/>
                <a:gd name="connsiteY18" fmla="*/ 10571 h 504770"/>
                <a:gd name="connsiteX19" fmla="*/ 692407 w 1355743"/>
                <a:gd name="connsiteY19" fmla="*/ 7928 h 504770"/>
                <a:gd name="connsiteX20" fmla="*/ 710906 w 1355743"/>
                <a:gd name="connsiteY20" fmla="*/ 5285 h 504770"/>
                <a:gd name="connsiteX21" fmla="*/ 689764 w 1355743"/>
                <a:gd name="connsiteY21" fmla="*/ 105711 h 504770"/>
                <a:gd name="connsiteX22" fmla="*/ 684478 w 1355743"/>
                <a:gd name="connsiteY22" fmla="*/ 251063 h 504770"/>
                <a:gd name="connsiteX23" fmla="*/ 676550 w 1355743"/>
                <a:gd name="connsiteY23" fmla="*/ 356774 h 504770"/>
                <a:gd name="connsiteX24" fmla="*/ 665979 w 1355743"/>
                <a:gd name="connsiteY24" fmla="*/ 454557 h 504770"/>
                <a:gd name="connsiteX25" fmla="*/ 689764 w 1355743"/>
                <a:gd name="connsiteY25" fmla="*/ 502127 h 504770"/>
                <a:gd name="connsiteX26" fmla="*/ 700335 w 1355743"/>
                <a:gd name="connsiteY26" fmla="*/ 420201 h 504770"/>
                <a:gd name="connsiteX27" fmla="*/ 732048 w 1355743"/>
                <a:gd name="connsiteY27" fmla="*/ 309204 h 504770"/>
                <a:gd name="connsiteX28" fmla="*/ 750548 w 1355743"/>
                <a:gd name="connsiteY28" fmla="*/ 190279 h 504770"/>
                <a:gd name="connsiteX29" fmla="*/ 753190 w 1355743"/>
                <a:gd name="connsiteY29" fmla="*/ 87211 h 504770"/>
                <a:gd name="connsiteX30" fmla="*/ 766404 w 1355743"/>
                <a:gd name="connsiteY30" fmla="*/ 36998 h 504770"/>
                <a:gd name="connsiteX31" fmla="*/ 829831 w 1355743"/>
                <a:gd name="connsiteY31" fmla="*/ 2642 h 504770"/>
                <a:gd name="connsiteX32" fmla="*/ 1020111 w 1355743"/>
                <a:gd name="connsiteY32" fmla="*/ 10571 h 504770"/>
                <a:gd name="connsiteX33" fmla="*/ 1183963 w 1355743"/>
                <a:gd name="connsiteY33" fmla="*/ 7928 h 504770"/>
                <a:gd name="connsiteX34" fmla="*/ 1355743 w 1355743"/>
                <a:gd name="connsiteY34"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38275 w 1355743"/>
                <a:gd name="connsiteY11" fmla="*/ 457200 h 504770"/>
                <a:gd name="connsiteX12" fmla="*/ 343560 w 1355743"/>
                <a:gd name="connsiteY12" fmla="*/ 504770 h 504770"/>
                <a:gd name="connsiteX13" fmla="*/ 356774 w 1355743"/>
                <a:gd name="connsiteY13" fmla="*/ 441343 h 504770"/>
                <a:gd name="connsiteX14" fmla="*/ 354131 w 1355743"/>
                <a:gd name="connsiteY14" fmla="*/ 364703 h 504770"/>
                <a:gd name="connsiteX15" fmla="*/ 401701 w 1355743"/>
                <a:gd name="connsiteY15" fmla="*/ 7928 h 504770"/>
                <a:gd name="connsiteX16" fmla="*/ 457200 w 1355743"/>
                <a:gd name="connsiteY16" fmla="*/ 2642 h 504770"/>
                <a:gd name="connsiteX17" fmla="*/ 602552 w 1355743"/>
                <a:gd name="connsiteY17" fmla="*/ 10571 h 504770"/>
                <a:gd name="connsiteX18" fmla="*/ 692407 w 1355743"/>
                <a:gd name="connsiteY18" fmla="*/ 7928 h 504770"/>
                <a:gd name="connsiteX19" fmla="*/ 710906 w 1355743"/>
                <a:gd name="connsiteY19" fmla="*/ 5285 h 504770"/>
                <a:gd name="connsiteX20" fmla="*/ 689764 w 1355743"/>
                <a:gd name="connsiteY20" fmla="*/ 105711 h 504770"/>
                <a:gd name="connsiteX21" fmla="*/ 684478 w 1355743"/>
                <a:gd name="connsiteY21" fmla="*/ 251063 h 504770"/>
                <a:gd name="connsiteX22" fmla="*/ 676550 w 1355743"/>
                <a:gd name="connsiteY22" fmla="*/ 356774 h 504770"/>
                <a:gd name="connsiteX23" fmla="*/ 665979 w 1355743"/>
                <a:gd name="connsiteY23" fmla="*/ 454557 h 504770"/>
                <a:gd name="connsiteX24" fmla="*/ 689764 w 1355743"/>
                <a:gd name="connsiteY24" fmla="*/ 502127 h 504770"/>
                <a:gd name="connsiteX25" fmla="*/ 700335 w 1355743"/>
                <a:gd name="connsiteY25" fmla="*/ 420201 h 504770"/>
                <a:gd name="connsiteX26" fmla="*/ 732048 w 1355743"/>
                <a:gd name="connsiteY26" fmla="*/ 309204 h 504770"/>
                <a:gd name="connsiteX27" fmla="*/ 750548 w 1355743"/>
                <a:gd name="connsiteY27" fmla="*/ 190279 h 504770"/>
                <a:gd name="connsiteX28" fmla="*/ 753190 w 1355743"/>
                <a:gd name="connsiteY28" fmla="*/ 87211 h 504770"/>
                <a:gd name="connsiteX29" fmla="*/ 766404 w 1355743"/>
                <a:gd name="connsiteY29" fmla="*/ 36998 h 504770"/>
                <a:gd name="connsiteX30" fmla="*/ 829831 w 1355743"/>
                <a:gd name="connsiteY30" fmla="*/ 2642 h 504770"/>
                <a:gd name="connsiteX31" fmla="*/ 1020111 w 1355743"/>
                <a:gd name="connsiteY31" fmla="*/ 10571 h 504770"/>
                <a:gd name="connsiteX32" fmla="*/ 1183963 w 1355743"/>
                <a:gd name="connsiteY32" fmla="*/ 7928 h 504770"/>
                <a:gd name="connsiteX33" fmla="*/ 1355743 w 1355743"/>
                <a:gd name="connsiteY33"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43560 w 1355743"/>
                <a:gd name="connsiteY11" fmla="*/ 504770 h 504770"/>
                <a:gd name="connsiteX12" fmla="*/ 356774 w 1355743"/>
                <a:gd name="connsiteY12" fmla="*/ 441343 h 504770"/>
                <a:gd name="connsiteX13" fmla="*/ 354131 w 1355743"/>
                <a:gd name="connsiteY13" fmla="*/ 364703 h 504770"/>
                <a:gd name="connsiteX14" fmla="*/ 401701 w 1355743"/>
                <a:gd name="connsiteY14" fmla="*/ 7928 h 504770"/>
                <a:gd name="connsiteX15" fmla="*/ 457200 w 1355743"/>
                <a:gd name="connsiteY15" fmla="*/ 2642 h 504770"/>
                <a:gd name="connsiteX16" fmla="*/ 602552 w 1355743"/>
                <a:gd name="connsiteY16" fmla="*/ 10571 h 504770"/>
                <a:gd name="connsiteX17" fmla="*/ 692407 w 1355743"/>
                <a:gd name="connsiteY17" fmla="*/ 7928 h 504770"/>
                <a:gd name="connsiteX18" fmla="*/ 710906 w 1355743"/>
                <a:gd name="connsiteY18" fmla="*/ 5285 h 504770"/>
                <a:gd name="connsiteX19" fmla="*/ 689764 w 1355743"/>
                <a:gd name="connsiteY19" fmla="*/ 105711 h 504770"/>
                <a:gd name="connsiteX20" fmla="*/ 684478 w 1355743"/>
                <a:gd name="connsiteY20" fmla="*/ 251063 h 504770"/>
                <a:gd name="connsiteX21" fmla="*/ 676550 w 1355743"/>
                <a:gd name="connsiteY21" fmla="*/ 356774 h 504770"/>
                <a:gd name="connsiteX22" fmla="*/ 665979 w 1355743"/>
                <a:gd name="connsiteY22" fmla="*/ 454557 h 504770"/>
                <a:gd name="connsiteX23" fmla="*/ 689764 w 1355743"/>
                <a:gd name="connsiteY23" fmla="*/ 502127 h 504770"/>
                <a:gd name="connsiteX24" fmla="*/ 700335 w 1355743"/>
                <a:gd name="connsiteY24" fmla="*/ 420201 h 504770"/>
                <a:gd name="connsiteX25" fmla="*/ 732048 w 1355743"/>
                <a:gd name="connsiteY25" fmla="*/ 309204 h 504770"/>
                <a:gd name="connsiteX26" fmla="*/ 750548 w 1355743"/>
                <a:gd name="connsiteY26" fmla="*/ 190279 h 504770"/>
                <a:gd name="connsiteX27" fmla="*/ 753190 w 1355743"/>
                <a:gd name="connsiteY27" fmla="*/ 87211 h 504770"/>
                <a:gd name="connsiteX28" fmla="*/ 766404 w 1355743"/>
                <a:gd name="connsiteY28" fmla="*/ 36998 h 504770"/>
                <a:gd name="connsiteX29" fmla="*/ 829831 w 1355743"/>
                <a:gd name="connsiteY29" fmla="*/ 2642 h 504770"/>
                <a:gd name="connsiteX30" fmla="*/ 1020111 w 1355743"/>
                <a:gd name="connsiteY30" fmla="*/ 10571 h 504770"/>
                <a:gd name="connsiteX31" fmla="*/ 1183963 w 1355743"/>
                <a:gd name="connsiteY31" fmla="*/ 7928 h 504770"/>
                <a:gd name="connsiteX32" fmla="*/ 1355743 w 1355743"/>
                <a:gd name="connsiteY32" fmla="*/ 7928 h 504770"/>
                <a:gd name="connsiteX0" fmla="*/ 0 w 1355743"/>
                <a:gd name="connsiteY0" fmla="*/ 496841 h 504770"/>
                <a:gd name="connsiteX1" fmla="*/ 21142 w 1355743"/>
                <a:gd name="connsiteY1" fmla="*/ 391130 h 504770"/>
                <a:gd name="connsiteX2" fmla="*/ 18499 w 1355743"/>
                <a:gd name="connsiteY2" fmla="*/ 264277 h 504770"/>
                <a:gd name="connsiteX3" fmla="*/ 18499 w 1355743"/>
                <a:gd name="connsiteY3" fmla="*/ 132138 h 504770"/>
                <a:gd name="connsiteX4" fmla="*/ 21142 w 1355743"/>
                <a:gd name="connsiteY4" fmla="*/ 36998 h 504770"/>
                <a:gd name="connsiteX5" fmla="*/ 31713 w 1355743"/>
                <a:gd name="connsiteY5" fmla="*/ 0 h 504770"/>
                <a:gd name="connsiteX6" fmla="*/ 95140 w 1355743"/>
                <a:gd name="connsiteY6" fmla="*/ 0 h 504770"/>
                <a:gd name="connsiteX7" fmla="*/ 169137 w 1355743"/>
                <a:gd name="connsiteY7" fmla="*/ 5285 h 504770"/>
                <a:gd name="connsiteX8" fmla="*/ 261634 w 1355743"/>
                <a:gd name="connsiteY8" fmla="*/ 2642 h 504770"/>
                <a:gd name="connsiteX9" fmla="*/ 322418 w 1355743"/>
                <a:gd name="connsiteY9" fmla="*/ 7928 h 504770"/>
                <a:gd name="connsiteX10" fmla="*/ 346203 w 1355743"/>
                <a:gd name="connsiteY10" fmla="*/ 7928 h 504770"/>
                <a:gd name="connsiteX11" fmla="*/ 343560 w 1355743"/>
                <a:gd name="connsiteY11" fmla="*/ 504770 h 504770"/>
                <a:gd name="connsiteX12" fmla="*/ 354131 w 1355743"/>
                <a:gd name="connsiteY12" fmla="*/ 364703 h 504770"/>
                <a:gd name="connsiteX13" fmla="*/ 401701 w 1355743"/>
                <a:gd name="connsiteY13" fmla="*/ 7928 h 504770"/>
                <a:gd name="connsiteX14" fmla="*/ 457200 w 1355743"/>
                <a:gd name="connsiteY14" fmla="*/ 2642 h 504770"/>
                <a:gd name="connsiteX15" fmla="*/ 602552 w 1355743"/>
                <a:gd name="connsiteY15" fmla="*/ 10571 h 504770"/>
                <a:gd name="connsiteX16" fmla="*/ 692407 w 1355743"/>
                <a:gd name="connsiteY16" fmla="*/ 7928 h 504770"/>
                <a:gd name="connsiteX17" fmla="*/ 710906 w 1355743"/>
                <a:gd name="connsiteY17" fmla="*/ 5285 h 504770"/>
                <a:gd name="connsiteX18" fmla="*/ 689764 w 1355743"/>
                <a:gd name="connsiteY18" fmla="*/ 105711 h 504770"/>
                <a:gd name="connsiteX19" fmla="*/ 684478 w 1355743"/>
                <a:gd name="connsiteY19" fmla="*/ 251063 h 504770"/>
                <a:gd name="connsiteX20" fmla="*/ 676550 w 1355743"/>
                <a:gd name="connsiteY20" fmla="*/ 356774 h 504770"/>
                <a:gd name="connsiteX21" fmla="*/ 665979 w 1355743"/>
                <a:gd name="connsiteY21" fmla="*/ 454557 h 504770"/>
                <a:gd name="connsiteX22" fmla="*/ 689764 w 1355743"/>
                <a:gd name="connsiteY22" fmla="*/ 502127 h 504770"/>
                <a:gd name="connsiteX23" fmla="*/ 700335 w 1355743"/>
                <a:gd name="connsiteY23" fmla="*/ 420201 h 504770"/>
                <a:gd name="connsiteX24" fmla="*/ 732048 w 1355743"/>
                <a:gd name="connsiteY24" fmla="*/ 309204 h 504770"/>
                <a:gd name="connsiteX25" fmla="*/ 750548 w 1355743"/>
                <a:gd name="connsiteY25" fmla="*/ 190279 h 504770"/>
                <a:gd name="connsiteX26" fmla="*/ 753190 w 1355743"/>
                <a:gd name="connsiteY26" fmla="*/ 87211 h 504770"/>
                <a:gd name="connsiteX27" fmla="*/ 766404 w 1355743"/>
                <a:gd name="connsiteY27" fmla="*/ 36998 h 504770"/>
                <a:gd name="connsiteX28" fmla="*/ 829831 w 1355743"/>
                <a:gd name="connsiteY28" fmla="*/ 2642 h 504770"/>
                <a:gd name="connsiteX29" fmla="*/ 1020111 w 1355743"/>
                <a:gd name="connsiteY29" fmla="*/ 10571 h 504770"/>
                <a:gd name="connsiteX30" fmla="*/ 1183963 w 1355743"/>
                <a:gd name="connsiteY30" fmla="*/ 7928 h 504770"/>
                <a:gd name="connsiteX31" fmla="*/ 1355743 w 1355743"/>
                <a:gd name="connsiteY31" fmla="*/ 7928 h 504770"/>
                <a:gd name="connsiteX0" fmla="*/ 0 w 1355743"/>
                <a:gd name="connsiteY0" fmla="*/ 496841 h 502127"/>
                <a:gd name="connsiteX1" fmla="*/ 211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354131 w 1355743"/>
                <a:gd name="connsiteY11" fmla="*/ 364703 h 502127"/>
                <a:gd name="connsiteX12" fmla="*/ 401701 w 1355743"/>
                <a:gd name="connsiteY12" fmla="*/ 7928 h 502127"/>
                <a:gd name="connsiteX13" fmla="*/ 457200 w 1355743"/>
                <a:gd name="connsiteY13" fmla="*/ 2642 h 502127"/>
                <a:gd name="connsiteX14" fmla="*/ 602552 w 1355743"/>
                <a:gd name="connsiteY14" fmla="*/ 10571 h 502127"/>
                <a:gd name="connsiteX15" fmla="*/ 692407 w 1355743"/>
                <a:gd name="connsiteY15" fmla="*/ 7928 h 502127"/>
                <a:gd name="connsiteX16" fmla="*/ 710906 w 1355743"/>
                <a:gd name="connsiteY16" fmla="*/ 5285 h 502127"/>
                <a:gd name="connsiteX17" fmla="*/ 689764 w 1355743"/>
                <a:gd name="connsiteY17" fmla="*/ 105711 h 502127"/>
                <a:gd name="connsiteX18" fmla="*/ 684478 w 1355743"/>
                <a:gd name="connsiteY18" fmla="*/ 251063 h 502127"/>
                <a:gd name="connsiteX19" fmla="*/ 676550 w 1355743"/>
                <a:gd name="connsiteY19" fmla="*/ 356774 h 502127"/>
                <a:gd name="connsiteX20" fmla="*/ 665979 w 1355743"/>
                <a:gd name="connsiteY20" fmla="*/ 454557 h 502127"/>
                <a:gd name="connsiteX21" fmla="*/ 689764 w 1355743"/>
                <a:gd name="connsiteY21" fmla="*/ 502127 h 502127"/>
                <a:gd name="connsiteX22" fmla="*/ 700335 w 1355743"/>
                <a:gd name="connsiteY22" fmla="*/ 420201 h 502127"/>
                <a:gd name="connsiteX23" fmla="*/ 732048 w 1355743"/>
                <a:gd name="connsiteY23" fmla="*/ 309204 h 502127"/>
                <a:gd name="connsiteX24" fmla="*/ 750548 w 1355743"/>
                <a:gd name="connsiteY24" fmla="*/ 190279 h 502127"/>
                <a:gd name="connsiteX25" fmla="*/ 753190 w 1355743"/>
                <a:gd name="connsiteY25" fmla="*/ 87211 h 502127"/>
                <a:gd name="connsiteX26" fmla="*/ 766404 w 1355743"/>
                <a:gd name="connsiteY26" fmla="*/ 36998 h 502127"/>
                <a:gd name="connsiteX27" fmla="*/ 829831 w 1355743"/>
                <a:gd name="connsiteY27" fmla="*/ 2642 h 502127"/>
                <a:gd name="connsiteX28" fmla="*/ 1020111 w 1355743"/>
                <a:gd name="connsiteY28" fmla="*/ 10571 h 502127"/>
                <a:gd name="connsiteX29" fmla="*/ 1183963 w 1355743"/>
                <a:gd name="connsiteY29" fmla="*/ 7928 h 502127"/>
                <a:gd name="connsiteX30" fmla="*/ 1355743 w 1355743"/>
                <a:gd name="connsiteY30" fmla="*/ 7928 h 502127"/>
                <a:gd name="connsiteX0" fmla="*/ 0 w 1355743"/>
                <a:gd name="connsiteY0" fmla="*/ 496841 h 502127"/>
                <a:gd name="connsiteX1" fmla="*/ 211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46542 w 1355743"/>
                <a:gd name="connsiteY1" fmla="*/ 38605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18499 w 1355743"/>
                <a:gd name="connsiteY2" fmla="*/ 26427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18499 w 1355743"/>
                <a:gd name="connsiteY3" fmla="*/ 1321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21142 w 1355743"/>
                <a:gd name="connsiteY4" fmla="*/ 3699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31713 w 1355743"/>
                <a:gd name="connsiteY5" fmla="*/ 0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58680 w 1355743"/>
                <a:gd name="connsiteY5" fmla="*/ 10428 h 502127"/>
                <a:gd name="connsiteX6" fmla="*/ 31713 w 1355743"/>
                <a:gd name="connsiteY6" fmla="*/ 0 h 502127"/>
                <a:gd name="connsiteX7" fmla="*/ 95140 w 1355743"/>
                <a:gd name="connsiteY7" fmla="*/ 0 h 502127"/>
                <a:gd name="connsiteX8" fmla="*/ 169137 w 1355743"/>
                <a:gd name="connsiteY8" fmla="*/ 5285 h 502127"/>
                <a:gd name="connsiteX9" fmla="*/ 261634 w 1355743"/>
                <a:gd name="connsiteY9" fmla="*/ 2642 h 502127"/>
                <a:gd name="connsiteX10" fmla="*/ 322418 w 1355743"/>
                <a:gd name="connsiteY10" fmla="*/ 7928 h 502127"/>
                <a:gd name="connsiteX11" fmla="*/ 346203 w 1355743"/>
                <a:gd name="connsiteY11" fmla="*/ 7928 h 502127"/>
                <a:gd name="connsiteX12" fmla="*/ 401701 w 1355743"/>
                <a:gd name="connsiteY12" fmla="*/ 7928 h 502127"/>
                <a:gd name="connsiteX13" fmla="*/ 457200 w 1355743"/>
                <a:gd name="connsiteY13" fmla="*/ 2642 h 502127"/>
                <a:gd name="connsiteX14" fmla="*/ 602552 w 1355743"/>
                <a:gd name="connsiteY14" fmla="*/ 10571 h 502127"/>
                <a:gd name="connsiteX15" fmla="*/ 692407 w 1355743"/>
                <a:gd name="connsiteY15" fmla="*/ 7928 h 502127"/>
                <a:gd name="connsiteX16" fmla="*/ 710906 w 1355743"/>
                <a:gd name="connsiteY16" fmla="*/ 5285 h 502127"/>
                <a:gd name="connsiteX17" fmla="*/ 689764 w 1355743"/>
                <a:gd name="connsiteY17" fmla="*/ 105711 h 502127"/>
                <a:gd name="connsiteX18" fmla="*/ 684478 w 1355743"/>
                <a:gd name="connsiteY18" fmla="*/ 251063 h 502127"/>
                <a:gd name="connsiteX19" fmla="*/ 676550 w 1355743"/>
                <a:gd name="connsiteY19" fmla="*/ 356774 h 502127"/>
                <a:gd name="connsiteX20" fmla="*/ 665979 w 1355743"/>
                <a:gd name="connsiteY20" fmla="*/ 454557 h 502127"/>
                <a:gd name="connsiteX21" fmla="*/ 689764 w 1355743"/>
                <a:gd name="connsiteY21" fmla="*/ 502127 h 502127"/>
                <a:gd name="connsiteX22" fmla="*/ 700335 w 1355743"/>
                <a:gd name="connsiteY22" fmla="*/ 420201 h 502127"/>
                <a:gd name="connsiteX23" fmla="*/ 732048 w 1355743"/>
                <a:gd name="connsiteY23" fmla="*/ 309204 h 502127"/>
                <a:gd name="connsiteX24" fmla="*/ 750548 w 1355743"/>
                <a:gd name="connsiteY24" fmla="*/ 190279 h 502127"/>
                <a:gd name="connsiteX25" fmla="*/ 753190 w 1355743"/>
                <a:gd name="connsiteY25" fmla="*/ 87211 h 502127"/>
                <a:gd name="connsiteX26" fmla="*/ 766404 w 1355743"/>
                <a:gd name="connsiteY26" fmla="*/ 36998 h 502127"/>
                <a:gd name="connsiteX27" fmla="*/ 829831 w 1355743"/>
                <a:gd name="connsiteY27" fmla="*/ 2642 h 502127"/>
                <a:gd name="connsiteX28" fmla="*/ 1020111 w 1355743"/>
                <a:gd name="connsiteY28" fmla="*/ 10571 h 502127"/>
                <a:gd name="connsiteX29" fmla="*/ 1183963 w 1355743"/>
                <a:gd name="connsiteY29" fmla="*/ 7928 h 502127"/>
                <a:gd name="connsiteX30" fmla="*/ 1355743 w 1355743"/>
                <a:gd name="connsiteY30" fmla="*/ 7928 h 502127"/>
                <a:gd name="connsiteX0" fmla="*/ 0 w 1355743"/>
                <a:gd name="connsiteY0" fmla="*/ 496841 h 502127"/>
                <a:gd name="connsiteX1" fmla="*/ 33842 w 1355743"/>
                <a:gd name="connsiteY1" fmla="*/ 391130 h 502127"/>
                <a:gd name="connsiteX2" fmla="*/ 38819 w 1355743"/>
                <a:gd name="connsiteY2" fmla="*/ 259197 h 502127"/>
                <a:gd name="connsiteX3" fmla="*/ 46439 w 1355743"/>
                <a:gd name="connsiteY3" fmla="*/ 119438 h 502127"/>
                <a:gd name="connsiteX4" fmla="*/ 46542 w 1355743"/>
                <a:gd name="connsiteY4" fmla="*/ 47158 h 502127"/>
                <a:gd name="connsiteX5" fmla="*/ 58680 w 1355743"/>
                <a:gd name="connsiteY5" fmla="*/ 10428 h 502127"/>
                <a:gd name="connsiteX6" fmla="*/ 95140 w 1355743"/>
                <a:gd name="connsiteY6" fmla="*/ 0 h 502127"/>
                <a:gd name="connsiteX7" fmla="*/ 169137 w 1355743"/>
                <a:gd name="connsiteY7" fmla="*/ 5285 h 502127"/>
                <a:gd name="connsiteX8" fmla="*/ 261634 w 1355743"/>
                <a:gd name="connsiteY8" fmla="*/ 2642 h 502127"/>
                <a:gd name="connsiteX9" fmla="*/ 322418 w 1355743"/>
                <a:gd name="connsiteY9" fmla="*/ 7928 h 502127"/>
                <a:gd name="connsiteX10" fmla="*/ 346203 w 1355743"/>
                <a:gd name="connsiteY10" fmla="*/ 7928 h 502127"/>
                <a:gd name="connsiteX11" fmla="*/ 401701 w 1355743"/>
                <a:gd name="connsiteY11" fmla="*/ 7928 h 502127"/>
                <a:gd name="connsiteX12" fmla="*/ 457200 w 1355743"/>
                <a:gd name="connsiteY12" fmla="*/ 2642 h 502127"/>
                <a:gd name="connsiteX13" fmla="*/ 602552 w 1355743"/>
                <a:gd name="connsiteY13" fmla="*/ 10571 h 502127"/>
                <a:gd name="connsiteX14" fmla="*/ 692407 w 1355743"/>
                <a:gd name="connsiteY14" fmla="*/ 7928 h 502127"/>
                <a:gd name="connsiteX15" fmla="*/ 710906 w 1355743"/>
                <a:gd name="connsiteY15" fmla="*/ 5285 h 502127"/>
                <a:gd name="connsiteX16" fmla="*/ 689764 w 1355743"/>
                <a:gd name="connsiteY16" fmla="*/ 105711 h 502127"/>
                <a:gd name="connsiteX17" fmla="*/ 684478 w 1355743"/>
                <a:gd name="connsiteY17" fmla="*/ 251063 h 502127"/>
                <a:gd name="connsiteX18" fmla="*/ 676550 w 1355743"/>
                <a:gd name="connsiteY18" fmla="*/ 356774 h 502127"/>
                <a:gd name="connsiteX19" fmla="*/ 665979 w 1355743"/>
                <a:gd name="connsiteY19" fmla="*/ 454557 h 502127"/>
                <a:gd name="connsiteX20" fmla="*/ 689764 w 1355743"/>
                <a:gd name="connsiteY20" fmla="*/ 502127 h 502127"/>
                <a:gd name="connsiteX21" fmla="*/ 700335 w 1355743"/>
                <a:gd name="connsiteY21" fmla="*/ 420201 h 502127"/>
                <a:gd name="connsiteX22" fmla="*/ 732048 w 1355743"/>
                <a:gd name="connsiteY22" fmla="*/ 309204 h 502127"/>
                <a:gd name="connsiteX23" fmla="*/ 750548 w 1355743"/>
                <a:gd name="connsiteY23" fmla="*/ 190279 h 502127"/>
                <a:gd name="connsiteX24" fmla="*/ 753190 w 1355743"/>
                <a:gd name="connsiteY24" fmla="*/ 87211 h 502127"/>
                <a:gd name="connsiteX25" fmla="*/ 766404 w 1355743"/>
                <a:gd name="connsiteY25" fmla="*/ 36998 h 502127"/>
                <a:gd name="connsiteX26" fmla="*/ 829831 w 1355743"/>
                <a:gd name="connsiteY26" fmla="*/ 2642 h 502127"/>
                <a:gd name="connsiteX27" fmla="*/ 1020111 w 1355743"/>
                <a:gd name="connsiteY27" fmla="*/ 10571 h 502127"/>
                <a:gd name="connsiteX28" fmla="*/ 1183963 w 1355743"/>
                <a:gd name="connsiteY28" fmla="*/ 7928 h 502127"/>
                <a:gd name="connsiteX29" fmla="*/ 1355743 w 1355743"/>
                <a:gd name="connsiteY29" fmla="*/ 7928 h 502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55743" h="502127">
                  <a:moveTo>
                    <a:pt x="0" y="496841"/>
                  </a:moveTo>
                  <a:lnTo>
                    <a:pt x="33842" y="391130"/>
                  </a:lnTo>
                  <a:lnTo>
                    <a:pt x="38819" y="259197"/>
                  </a:lnTo>
                  <a:lnTo>
                    <a:pt x="46439" y="119438"/>
                  </a:lnTo>
                  <a:cubicBezTo>
                    <a:pt x="46473" y="95345"/>
                    <a:pt x="46508" y="71251"/>
                    <a:pt x="46542" y="47158"/>
                  </a:cubicBezTo>
                  <a:cubicBezTo>
                    <a:pt x="41275" y="34915"/>
                    <a:pt x="63947" y="22671"/>
                    <a:pt x="58680" y="10428"/>
                  </a:cubicBezTo>
                  <a:lnTo>
                    <a:pt x="95140" y="0"/>
                  </a:lnTo>
                  <a:lnTo>
                    <a:pt x="169137" y="5285"/>
                  </a:lnTo>
                  <a:lnTo>
                    <a:pt x="261634" y="2642"/>
                  </a:lnTo>
                  <a:lnTo>
                    <a:pt x="322418" y="7928"/>
                  </a:lnTo>
                  <a:lnTo>
                    <a:pt x="346203" y="7928"/>
                  </a:lnTo>
                  <a:lnTo>
                    <a:pt x="401701" y="7928"/>
                  </a:lnTo>
                  <a:lnTo>
                    <a:pt x="457200" y="2642"/>
                  </a:lnTo>
                  <a:lnTo>
                    <a:pt x="602552" y="10571"/>
                  </a:lnTo>
                  <a:lnTo>
                    <a:pt x="692407" y="7928"/>
                  </a:lnTo>
                  <a:lnTo>
                    <a:pt x="710906" y="5285"/>
                  </a:lnTo>
                  <a:lnTo>
                    <a:pt x="689764" y="105711"/>
                  </a:lnTo>
                  <a:lnTo>
                    <a:pt x="684478" y="251063"/>
                  </a:lnTo>
                  <a:lnTo>
                    <a:pt x="676550" y="356774"/>
                  </a:lnTo>
                  <a:lnTo>
                    <a:pt x="665979" y="454557"/>
                  </a:lnTo>
                  <a:lnTo>
                    <a:pt x="689764" y="502127"/>
                  </a:lnTo>
                  <a:lnTo>
                    <a:pt x="700335" y="420201"/>
                  </a:lnTo>
                  <a:lnTo>
                    <a:pt x="732048" y="309204"/>
                  </a:lnTo>
                  <a:lnTo>
                    <a:pt x="750548" y="190279"/>
                  </a:lnTo>
                  <a:cubicBezTo>
                    <a:pt x="751429" y="155923"/>
                    <a:pt x="752309" y="121567"/>
                    <a:pt x="753190" y="87211"/>
                  </a:cubicBezTo>
                  <a:lnTo>
                    <a:pt x="766404" y="36998"/>
                  </a:lnTo>
                  <a:lnTo>
                    <a:pt x="829831" y="2642"/>
                  </a:lnTo>
                  <a:lnTo>
                    <a:pt x="1020111" y="10571"/>
                  </a:lnTo>
                  <a:lnTo>
                    <a:pt x="1183963" y="7928"/>
                  </a:lnTo>
                  <a:lnTo>
                    <a:pt x="1355743" y="7928"/>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6" name="Line 89"/>
            <p:cNvSpPr>
              <a:spLocks noChangeAspect="1" noChangeShapeType="1"/>
            </p:cNvSpPr>
            <p:nvPr/>
          </p:nvSpPr>
          <p:spPr bwMode="auto">
            <a:xfrm rot="5400000">
              <a:off x="7490555" y="3838675"/>
              <a:ext cx="50958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137" name="直接连接符 136"/>
            <p:cNvCxnSpPr/>
            <p:nvPr/>
          </p:nvCxnSpPr>
          <p:spPr bwMode="auto">
            <a:xfrm flipH="1">
              <a:off x="6735269" y="4078229"/>
              <a:ext cx="1289584"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57"/>
            <p:cNvSpPr txBox="1">
              <a:spLocks noChangeArrowheads="1"/>
            </p:cNvSpPr>
            <p:nvPr/>
          </p:nvSpPr>
          <p:spPr bwMode="auto">
            <a:xfrm>
              <a:off x="7756082" y="3567924"/>
              <a:ext cx="456506"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solidFill>
                    <a:srgbClr val="000066"/>
                  </a:solidFill>
                  <a:sym typeface="Symbol" pitchFamily="18" charset="2"/>
                </a:rPr>
                <a:t>z</a:t>
              </a:r>
              <a:r>
                <a:rPr lang="en-US" altLang="zh-CN" sz="2000" b="1" baseline="-25000" dirty="0" smtClean="0">
                  <a:solidFill>
                    <a:srgbClr val="000066"/>
                  </a:solidFill>
                  <a:sym typeface="Symbol" pitchFamily="18" charset="2"/>
                </a:rPr>
                <a:t>0</a:t>
              </a:r>
              <a:endParaRPr lang="en-US" altLang="zh-CN" sz="2000" b="1" baseline="-25000" dirty="0">
                <a:solidFill>
                  <a:srgbClr val="000066"/>
                </a:solidFill>
                <a:sym typeface="Symbol" pitchFamily="18" charset="2"/>
              </a:endParaRPr>
            </a:p>
          </p:txBody>
        </p:sp>
        <p:sp>
          <p:nvSpPr>
            <p:cNvPr id="33" name="任意多边形 32"/>
            <p:cNvSpPr/>
            <p:nvPr/>
          </p:nvSpPr>
          <p:spPr bwMode="auto">
            <a:xfrm rot="19737825">
              <a:off x="7009229" y="4597258"/>
              <a:ext cx="116162" cy="94303"/>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4" name="Text Box 40"/>
            <p:cNvSpPr txBox="1">
              <a:spLocks noChangeArrowheads="1"/>
            </p:cNvSpPr>
            <p:nvPr/>
          </p:nvSpPr>
          <p:spPr bwMode="auto">
            <a:xfrm>
              <a:off x="7167899" y="4446863"/>
              <a:ext cx="857663" cy="466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90</a:t>
              </a:r>
              <a:r>
                <a:rPr lang="en-US" altLang="zh-CN" sz="1800" b="1" dirty="0">
                  <a:solidFill>
                    <a:srgbClr val="000000"/>
                  </a:solidFill>
                  <a:sym typeface="Symbol" pitchFamily="18" charset="2"/>
                </a:rPr>
                <a:t>-</a:t>
              </a:r>
              <a:r>
                <a:rPr lang="zh-CN" altLang="en-US" sz="1800" b="1" dirty="0" smtClean="0">
                  <a:solidFill>
                    <a:srgbClr val="000000"/>
                  </a:solidFill>
                  <a:sym typeface="Symbol" pitchFamily="18" charset="2"/>
                </a:rPr>
                <a:t></a:t>
              </a:r>
              <a:endParaRPr lang="en-US" altLang="zh-CN" sz="1800" b="1" dirty="0">
                <a:solidFill>
                  <a:srgbClr val="000000"/>
                </a:solidFill>
              </a:endParaRPr>
            </a:p>
          </p:txBody>
        </p:sp>
      </p:grpSp>
      <p:graphicFrame>
        <p:nvGraphicFramePr>
          <p:cNvPr id="3" name="对象 2"/>
          <p:cNvGraphicFramePr>
            <a:graphicFrameLocks noChangeAspect="1"/>
          </p:cNvGraphicFramePr>
          <p:nvPr>
            <p:extLst>
              <p:ext uri="{D42A27DB-BD31-4B8C-83A1-F6EECF244321}">
                <p14:modId xmlns:p14="http://schemas.microsoft.com/office/powerpoint/2010/main" val="1485971763"/>
              </p:ext>
            </p:extLst>
          </p:nvPr>
        </p:nvGraphicFramePr>
        <p:xfrm>
          <a:off x="1106488" y="2133600"/>
          <a:ext cx="3751262" cy="1562100"/>
        </p:xfrm>
        <a:graphic>
          <a:graphicData uri="http://schemas.openxmlformats.org/presentationml/2006/ole">
            <mc:AlternateContent xmlns:mc="http://schemas.openxmlformats.org/markup-compatibility/2006">
              <mc:Choice xmlns:v="urn:schemas-microsoft-com:vml" Requires="v">
                <p:oleObj spid="_x0000_s1671975" name="Equation" r:id="rId6" imgW="2070000" imgH="863280" progId="Equation.DSMT4">
                  <p:embed/>
                </p:oleObj>
              </mc:Choice>
              <mc:Fallback>
                <p:oleObj name="Equation" r:id="rId6" imgW="2070000" imgH="863280" progId="Equation.DSMT4">
                  <p:embed/>
                  <p:pic>
                    <p:nvPicPr>
                      <p:cNvPr id="0" name="Object 96"/>
                      <p:cNvPicPr>
                        <a:picLocks noChangeAspect="1" noChangeArrowheads="1"/>
                      </p:cNvPicPr>
                      <p:nvPr/>
                    </p:nvPicPr>
                    <p:blipFill>
                      <a:blip r:embed="rId7"/>
                      <a:srcRect/>
                      <a:stretch>
                        <a:fillRect/>
                      </a:stretch>
                    </p:blipFill>
                    <p:spPr bwMode="auto">
                      <a:xfrm>
                        <a:off x="1106488" y="2133600"/>
                        <a:ext cx="3751262" cy="1562100"/>
                      </a:xfrm>
                      <a:prstGeom prst="rect">
                        <a:avLst/>
                      </a:prstGeom>
                      <a:noFill/>
                      <a:ln>
                        <a:noFill/>
                      </a:ln>
                      <a:effectLst/>
                    </p:spPr>
                  </p:pic>
                </p:oleObj>
              </mc:Fallback>
            </mc:AlternateContent>
          </a:graphicData>
        </a:graphic>
      </p:graphicFrame>
      <p:sp>
        <p:nvSpPr>
          <p:cNvPr id="65"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a:t>
            </a:r>
            <a:r>
              <a:rPr kumimoji="1" lang="zh-CN" altLang="en-US" sz="4000" b="1" dirty="0" smtClean="0">
                <a:solidFill>
                  <a:srgbClr val="000066"/>
                </a:solidFill>
                <a:latin typeface="黑体" pitchFamily="2" charset="-122"/>
                <a:ea typeface="黑体" pitchFamily="2" charset="-122"/>
              </a:rPr>
              <a:t>肯主动土压力计算</a:t>
            </a:r>
            <a:endParaRPr kumimoji="1" lang="zh-CN" altLang="en-US" sz="4000" b="1" dirty="0">
              <a:solidFill>
                <a:srgbClr val="000066"/>
              </a:solidFill>
              <a:latin typeface="黑体" pitchFamily="2" charset="-122"/>
              <a:ea typeface="黑体" pitchFamily="2" charset="-122"/>
            </a:endParaRPr>
          </a:p>
        </p:txBody>
      </p:sp>
      <p:sp>
        <p:nvSpPr>
          <p:cNvPr id="66" name="Text Box 46"/>
          <p:cNvSpPr txBox="1">
            <a:spLocks noChangeArrowheads="1"/>
          </p:cNvSpPr>
          <p:nvPr/>
        </p:nvSpPr>
        <p:spPr bwMode="auto">
          <a:xfrm>
            <a:off x="363383" y="764183"/>
            <a:ext cx="50376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黏性土郎肯主动土压力计算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67"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郎肯主动土压力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4123414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wipe(left)">
                                      <p:cBhvr>
                                        <p:cTn id="19" dur="500"/>
                                        <p:tgtEl>
                                          <p:spTgt spid="9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6"/>
                                        </p:tgtEl>
                                        <p:attrNameLst>
                                          <p:attrName>style.visibility</p:attrName>
                                        </p:attrNameLst>
                                      </p:cBhvr>
                                      <p:to>
                                        <p:strVal val="visible"/>
                                      </p:to>
                                    </p:set>
                                    <p:animEffect transition="in" filter="wipe(left)">
                                      <p:cBhvr>
                                        <p:cTn id="24" dur="500"/>
                                        <p:tgtEl>
                                          <p:spTgt spid="96"/>
                                        </p:tgtEl>
                                      </p:cBhvr>
                                    </p:animEffect>
                                  </p:childTnLst>
                                </p:cTn>
                              </p:par>
                              <p:par>
                                <p:cTn id="25" presetID="22" presetClass="entr" presetSubtype="8"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9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39</a:t>
            </a:fld>
            <a:endParaRPr lang="zh-CN" altLang="en-US" dirty="0">
              <a:solidFill>
                <a:srgbClr val="C00000"/>
              </a:solidFill>
            </a:endParaRPr>
          </a:p>
        </p:txBody>
      </p:sp>
      <p:sp>
        <p:nvSpPr>
          <p:cNvPr id="80" name="Text Box 46"/>
          <p:cNvSpPr txBox="1">
            <a:spLocks noChangeArrowheads="1"/>
          </p:cNvSpPr>
          <p:nvPr/>
        </p:nvSpPr>
        <p:spPr bwMode="auto">
          <a:xfrm>
            <a:off x="363383" y="764183"/>
            <a:ext cx="5354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无</a:t>
            </a:r>
            <a:r>
              <a:rPr lang="zh-CN" altLang="en-US" sz="2800" b="1" dirty="0">
                <a:solidFill>
                  <a:srgbClr val="A50021"/>
                </a:solidFill>
                <a:latin typeface="微软雅黑" panose="020B0503020204020204" pitchFamily="34" charset="-122"/>
                <a:ea typeface="微软雅黑" panose="020B0503020204020204" pitchFamily="34" charset="-122"/>
              </a:rPr>
              <a:t>黏性土郎</a:t>
            </a:r>
            <a:r>
              <a:rPr lang="zh-CN" altLang="en-US" sz="2800" b="1" dirty="0" smtClean="0">
                <a:solidFill>
                  <a:srgbClr val="A50021"/>
                </a:solidFill>
                <a:latin typeface="微软雅黑" panose="020B0503020204020204" pitchFamily="34" charset="-122"/>
                <a:ea typeface="微软雅黑" panose="020B0503020204020204" pitchFamily="34" charset="-122"/>
              </a:rPr>
              <a:t>肯被动土压力计算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郎肯被动土压力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111" name="Text Box 57"/>
          <p:cNvSpPr txBox="1">
            <a:spLocks noChangeArrowheads="1"/>
          </p:cNvSpPr>
          <p:nvPr/>
        </p:nvSpPr>
        <p:spPr bwMode="auto">
          <a:xfrm>
            <a:off x="789398" y="1556422"/>
            <a:ext cx="219258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土单元应力状态：</a:t>
            </a:r>
            <a:endParaRPr lang="en-US" altLang="zh-CN" sz="2000" b="1" i="1" baseline="-25000" dirty="0">
              <a:solidFill>
                <a:srgbClr val="000066"/>
              </a:solidFill>
              <a:sym typeface="Symbol" pitchFamily="18" charset="2"/>
            </a:endParaRPr>
          </a:p>
        </p:txBody>
      </p:sp>
      <p:sp>
        <p:nvSpPr>
          <p:cNvPr id="113" name="Text Box 38"/>
          <p:cNvSpPr txBox="1">
            <a:spLocks noChangeArrowheads="1"/>
          </p:cNvSpPr>
          <p:nvPr/>
        </p:nvSpPr>
        <p:spPr bwMode="auto">
          <a:xfrm>
            <a:off x="1375185" y="3906224"/>
            <a:ext cx="34863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rPr>
              <a:t>p</a:t>
            </a:r>
            <a:r>
              <a:rPr lang="en-US" altLang="zh-CN" sz="2000" b="1" baseline="-25000" dirty="0" smtClean="0">
                <a:solidFill>
                  <a:srgbClr val="000066"/>
                </a:solidFill>
              </a:rPr>
              <a:t>p</a:t>
            </a:r>
            <a:r>
              <a:rPr lang="en-US" altLang="zh-CN" sz="2000" b="1" i="1" dirty="0" smtClean="0">
                <a:solidFill>
                  <a:srgbClr val="000066"/>
                </a:solidFill>
              </a:rPr>
              <a:t>= </a:t>
            </a:r>
            <a:r>
              <a:rPr lang="en-US" altLang="zh-CN" sz="2000" b="1" i="1" dirty="0">
                <a:solidFill>
                  <a:srgbClr val="000066"/>
                </a:solidFill>
                <a:latin typeface="Symbol" pitchFamily="18" charset="2"/>
              </a:rPr>
              <a:t>g </a:t>
            </a:r>
            <a:r>
              <a:rPr lang="en-US" altLang="zh-CN" sz="2000" b="1" dirty="0">
                <a:solidFill>
                  <a:srgbClr val="000066"/>
                </a:solidFill>
              </a:rPr>
              <a:t>z </a:t>
            </a:r>
            <a:r>
              <a:rPr lang="en-US" altLang="zh-CN" sz="2000" b="1" dirty="0" smtClean="0">
                <a:solidFill>
                  <a:srgbClr val="000066"/>
                </a:solidFill>
                <a:sym typeface="Symbol"/>
              </a:rPr>
              <a:t></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r>
              <a:rPr lang="en-US" altLang="zh-CN" sz="2000" b="1" i="1" dirty="0" smtClean="0">
                <a:solidFill>
                  <a:srgbClr val="000066"/>
                </a:solidFill>
              </a:rPr>
              <a:t> =</a:t>
            </a:r>
            <a:r>
              <a:rPr lang="en-US" altLang="zh-CN" sz="2000" b="1" i="1" dirty="0">
                <a:solidFill>
                  <a:srgbClr val="000066"/>
                </a:solidFill>
                <a:latin typeface="Symbol" pitchFamily="18" charset="2"/>
              </a:rPr>
              <a:t> g </a:t>
            </a:r>
            <a:r>
              <a:rPr lang="en-US" altLang="zh-CN" sz="2000" b="1" dirty="0" err="1" smtClean="0">
                <a:solidFill>
                  <a:srgbClr val="000066"/>
                </a:solidFill>
              </a:rPr>
              <a:t>z</a:t>
            </a:r>
            <a:r>
              <a:rPr lang="en-US" altLang="zh-CN" sz="2000" b="1" i="1" dirty="0" err="1" smtClean="0">
                <a:solidFill>
                  <a:srgbClr val="000066"/>
                </a:solidFill>
              </a:rPr>
              <a:t>K</a:t>
            </a:r>
            <a:r>
              <a:rPr lang="en-US" altLang="zh-CN" sz="2000" b="1" baseline="-25000" dirty="0" err="1" smtClean="0">
                <a:solidFill>
                  <a:srgbClr val="000066"/>
                </a:solidFill>
              </a:rPr>
              <a:t>p</a:t>
            </a:r>
            <a:r>
              <a:rPr lang="en-US" altLang="zh-CN" sz="2000" b="1" i="1" baseline="-25000" dirty="0" smtClean="0">
                <a:solidFill>
                  <a:srgbClr val="000066"/>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115" name="Text Box 38"/>
          <p:cNvSpPr txBox="1">
            <a:spLocks noChangeArrowheads="1"/>
          </p:cNvSpPr>
          <p:nvPr/>
        </p:nvSpPr>
        <p:spPr bwMode="auto">
          <a:xfrm>
            <a:off x="1176081" y="4636079"/>
            <a:ext cx="5190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en-US" altLang="zh-CN" sz="2000" b="1" i="1" dirty="0" err="1" smtClean="0">
                <a:solidFill>
                  <a:srgbClr val="000066"/>
                </a:solidFill>
              </a:rPr>
              <a:t>K</a:t>
            </a:r>
            <a:r>
              <a:rPr lang="en-US" altLang="zh-CN" sz="2000" b="1" baseline="-25000" dirty="0" err="1" smtClean="0">
                <a:solidFill>
                  <a:srgbClr val="000066"/>
                </a:solidFill>
              </a:rPr>
              <a:t>p</a:t>
            </a:r>
            <a:r>
              <a:rPr lang="en-US" altLang="zh-CN" sz="2000" b="1" i="1" dirty="0" smtClean="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r>
              <a:rPr lang="zh-CN" altLang="en-US" sz="2000" b="1" dirty="0">
                <a:solidFill>
                  <a:srgbClr val="000066"/>
                </a:solidFill>
                <a:latin typeface="幼圆" panose="02010509060101010101" pitchFamily="49" charset="-122"/>
                <a:ea typeface="幼圆" panose="02010509060101010101" pitchFamily="49" charset="-122"/>
              </a:rPr>
              <a:t>称</a:t>
            </a:r>
            <a:r>
              <a:rPr lang="zh-CN" altLang="en-US" sz="2000" b="1" dirty="0" smtClean="0">
                <a:solidFill>
                  <a:srgbClr val="C00000"/>
                </a:solidFill>
                <a:latin typeface="黑体" panose="02010609060101010101" pitchFamily="49" charset="-122"/>
                <a:ea typeface="黑体" panose="02010609060101010101" pitchFamily="49" charset="-122"/>
              </a:rPr>
              <a:t>朗肯被动土压力系数</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61" name="Text Box 57"/>
          <p:cNvSpPr txBox="1">
            <a:spLocks noChangeArrowheads="1"/>
          </p:cNvSpPr>
          <p:nvPr/>
        </p:nvSpPr>
        <p:spPr bwMode="auto">
          <a:xfrm>
            <a:off x="3099405" y="1497808"/>
            <a:ext cx="1853760" cy="85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3</a:t>
            </a:r>
            <a:r>
              <a:rPr lang="en-US" altLang="zh-CN" sz="2000" b="1" dirty="0" smtClean="0">
                <a:solidFill>
                  <a:srgbClr val="000066"/>
                </a:solidFill>
                <a:sym typeface="Symbol" pitchFamily="18" charset="2"/>
              </a:rPr>
              <a:t>= </a:t>
            </a:r>
            <a:r>
              <a:rPr lang="en-US" altLang="zh-CN" sz="2000" b="1" baseline="-25000" dirty="0" smtClean="0">
                <a:solidFill>
                  <a:srgbClr val="000066"/>
                </a:solidFill>
                <a:sym typeface="Symbol" pitchFamily="18" charset="2"/>
              </a:rPr>
              <a:t>v</a:t>
            </a:r>
            <a:r>
              <a:rPr lang="en-US" altLang="zh-CN" sz="2000" b="1" dirty="0" smtClean="0">
                <a:solidFill>
                  <a:srgbClr val="000066"/>
                </a:solidFill>
                <a:sym typeface="Symbol" pitchFamily="18" charset="2"/>
              </a:rPr>
              <a:t>= </a:t>
            </a:r>
            <a:r>
              <a:rPr lang="en-US" altLang="zh-CN" sz="2000" b="1" i="1" dirty="0" smtClean="0">
                <a:solidFill>
                  <a:srgbClr val="000066"/>
                </a:solidFill>
                <a:sym typeface="Symbol" pitchFamily="18" charset="2"/>
              </a:rPr>
              <a:t></a:t>
            </a:r>
            <a:r>
              <a:rPr lang="en-US" altLang="zh-CN" sz="2000" b="1" dirty="0" smtClean="0">
                <a:solidFill>
                  <a:srgbClr val="000066"/>
                </a:solidFill>
                <a:sym typeface="Symbol" pitchFamily="18" charset="2"/>
              </a:rPr>
              <a:t> z</a:t>
            </a:r>
            <a:r>
              <a:rPr lang="en-US" altLang="zh-CN" sz="2000" b="1" i="1" dirty="0" smtClean="0">
                <a:solidFill>
                  <a:srgbClr val="000066"/>
                </a:solidFill>
                <a:sym typeface="Symbol" pitchFamily="18" charset="2"/>
              </a:rPr>
              <a:t> </a:t>
            </a:r>
            <a:r>
              <a:rPr lang="en-US" altLang="zh-CN" sz="2000" b="1" dirty="0" smtClean="0">
                <a:solidFill>
                  <a:srgbClr val="000066"/>
                </a:solidFill>
                <a:sym typeface="Symbol" pitchFamily="18" charset="2"/>
              </a:rPr>
              <a:t> </a:t>
            </a:r>
          </a:p>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1</a:t>
            </a:r>
            <a:r>
              <a:rPr lang="en-US" altLang="zh-CN" sz="2000" b="1" dirty="0" smtClean="0">
                <a:solidFill>
                  <a:srgbClr val="000066"/>
                </a:solidFill>
                <a:sym typeface="Symbol" pitchFamily="18" charset="2"/>
              </a:rPr>
              <a:t>= </a:t>
            </a:r>
            <a:r>
              <a:rPr lang="en-US" altLang="zh-CN" sz="2000" b="1" baseline="-25000" dirty="0" smtClean="0">
                <a:solidFill>
                  <a:srgbClr val="000066"/>
                </a:solidFill>
                <a:sym typeface="Symbol" pitchFamily="18" charset="2"/>
              </a:rPr>
              <a:t>h</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p</a:t>
            </a:r>
            <a:r>
              <a:rPr lang="en-US" altLang="zh-CN" sz="2000" b="1" baseline="-25000" dirty="0" smtClean="0">
                <a:solidFill>
                  <a:srgbClr val="000066"/>
                </a:solidFill>
                <a:sym typeface="Symbol" pitchFamily="18" charset="2"/>
              </a:rPr>
              <a:t>p</a:t>
            </a:r>
            <a:endParaRPr lang="en-US" altLang="zh-CN" sz="2000" b="1" baseline="-25000" dirty="0">
              <a:solidFill>
                <a:srgbClr val="000066"/>
              </a:solidFill>
              <a:sym typeface="Symbol" pitchFamily="18" charset="2"/>
            </a:endParaRPr>
          </a:p>
        </p:txBody>
      </p:sp>
      <p:sp>
        <p:nvSpPr>
          <p:cNvPr id="162" name="Text Box 57"/>
          <p:cNvSpPr txBox="1">
            <a:spLocks noChangeArrowheads="1"/>
          </p:cNvSpPr>
          <p:nvPr/>
        </p:nvSpPr>
        <p:spPr bwMode="auto">
          <a:xfrm>
            <a:off x="789398" y="2432332"/>
            <a:ext cx="328612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无黏性</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土极限</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平衡条件</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3" name="Text Box 57"/>
          <p:cNvSpPr txBox="1">
            <a:spLocks noChangeArrowheads="1"/>
          </p:cNvSpPr>
          <p:nvPr/>
        </p:nvSpPr>
        <p:spPr bwMode="auto">
          <a:xfrm>
            <a:off x="789398" y="3399812"/>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被动土压力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4" name="Text Box 38"/>
          <p:cNvSpPr txBox="1">
            <a:spLocks noChangeArrowheads="1"/>
          </p:cNvSpPr>
          <p:nvPr/>
        </p:nvSpPr>
        <p:spPr bwMode="auto">
          <a:xfrm>
            <a:off x="1366132" y="2933075"/>
            <a:ext cx="23501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sym typeface="Symbol"/>
              </a:rPr>
              <a:t></a:t>
            </a:r>
            <a:r>
              <a:rPr lang="en-US" altLang="zh-CN" sz="2000" b="1" baseline="-25000" dirty="0" smtClean="0">
                <a:solidFill>
                  <a:srgbClr val="000066"/>
                </a:solidFill>
              </a:rPr>
              <a:t>1</a:t>
            </a:r>
            <a:r>
              <a:rPr lang="en-US" altLang="zh-CN" sz="2000" b="1" i="1" dirty="0" smtClean="0">
                <a:solidFill>
                  <a:srgbClr val="000066"/>
                </a:solidFill>
              </a:rPr>
              <a:t>= </a:t>
            </a:r>
            <a:r>
              <a:rPr lang="en-US" altLang="zh-CN" sz="2000" b="1" i="1" dirty="0" smtClean="0">
                <a:solidFill>
                  <a:srgbClr val="000066"/>
                </a:solidFill>
                <a:sym typeface="Symbol"/>
              </a:rPr>
              <a:t></a:t>
            </a:r>
            <a:r>
              <a:rPr lang="en-US" altLang="zh-CN" sz="2000" b="1" baseline="-25000" dirty="0">
                <a:solidFill>
                  <a:srgbClr val="000066"/>
                </a:solidFill>
                <a:sym typeface="Symbol"/>
              </a:rPr>
              <a:t>3</a:t>
            </a:r>
            <a:r>
              <a:rPr lang="en-US" altLang="zh-CN" sz="2000" b="1" baseline="-25000" dirty="0" smtClean="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endParaRPr lang="zh-CN" altLang="en-US" sz="2000" b="1" dirty="0">
              <a:solidFill>
                <a:srgbClr val="000066"/>
              </a:solidFill>
              <a:ea typeface="幼圆" pitchFamily="49" charset="-122"/>
              <a:cs typeface="Times New Roman" panose="02020603050405020304" pitchFamily="18" charset="0"/>
            </a:endParaRPr>
          </a:p>
        </p:txBody>
      </p:sp>
      <p:grpSp>
        <p:nvGrpSpPr>
          <p:cNvPr id="2" name="组合 1"/>
          <p:cNvGrpSpPr/>
          <p:nvPr/>
        </p:nvGrpSpPr>
        <p:grpSpPr>
          <a:xfrm>
            <a:off x="5226844" y="1797101"/>
            <a:ext cx="3087239" cy="2276740"/>
            <a:chOff x="5226844" y="1797101"/>
            <a:chExt cx="3087239" cy="2276740"/>
          </a:xfrm>
        </p:grpSpPr>
        <p:sp>
          <p:nvSpPr>
            <p:cNvPr id="165" name="任意多边形 164"/>
            <p:cNvSpPr/>
            <p:nvPr/>
          </p:nvSpPr>
          <p:spPr bwMode="auto">
            <a:xfrm>
              <a:off x="6567829" y="1797101"/>
              <a:ext cx="1691934" cy="226906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6" name="任意多边形 165"/>
            <p:cNvSpPr/>
            <p:nvPr/>
          </p:nvSpPr>
          <p:spPr bwMode="auto">
            <a:xfrm>
              <a:off x="5612014" y="1798545"/>
              <a:ext cx="947319" cy="226906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67" name="直接连接符 166"/>
            <p:cNvCxnSpPr/>
            <p:nvPr/>
          </p:nvCxnSpPr>
          <p:spPr bwMode="auto">
            <a:xfrm>
              <a:off x="5226844" y="4073841"/>
              <a:ext cx="308723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Text Box 14"/>
            <p:cNvSpPr txBox="1">
              <a:spLocks noChangeArrowheads="1"/>
            </p:cNvSpPr>
            <p:nvPr/>
          </p:nvSpPr>
          <p:spPr bwMode="auto">
            <a:xfrm>
              <a:off x="6964631" y="2401924"/>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69" name="Rectangle 9"/>
            <p:cNvSpPr>
              <a:spLocks noChangeArrowheads="1"/>
            </p:cNvSpPr>
            <p:nvPr/>
          </p:nvSpPr>
          <p:spPr bwMode="auto">
            <a:xfrm>
              <a:off x="6551235" y="2656219"/>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170" name="Line 10"/>
            <p:cNvSpPr>
              <a:spLocks noChangeShapeType="1"/>
            </p:cNvSpPr>
            <p:nvPr/>
          </p:nvSpPr>
          <p:spPr bwMode="auto">
            <a:xfrm>
              <a:off x="6168293" y="2787757"/>
              <a:ext cx="38294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1" name="Line 12"/>
            <p:cNvSpPr>
              <a:spLocks noChangeShapeType="1"/>
            </p:cNvSpPr>
            <p:nvPr/>
          </p:nvSpPr>
          <p:spPr bwMode="auto">
            <a:xfrm rot="16200000">
              <a:off x="6542904" y="3073208"/>
              <a:ext cx="30368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 name="Text Box 14"/>
            <p:cNvSpPr txBox="1">
              <a:spLocks noChangeArrowheads="1"/>
            </p:cNvSpPr>
            <p:nvPr/>
          </p:nvSpPr>
          <p:spPr bwMode="auto">
            <a:xfrm>
              <a:off x="6725600" y="2026007"/>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73" name="Line 13"/>
            <p:cNvSpPr>
              <a:spLocks noChangeShapeType="1"/>
            </p:cNvSpPr>
            <p:nvPr/>
          </p:nvSpPr>
          <p:spPr bwMode="auto">
            <a:xfrm rot="5400000">
              <a:off x="6546525" y="2494898"/>
              <a:ext cx="29644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 name="Line 10"/>
            <p:cNvSpPr>
              <a:spLocks noChangeShapeType="1"/>
            </p:cNvSpPr>
            <p:nvPr/>
          </p:nvSpPr>
          <p:spPr bwMode="auto">
            <a:xfrm rot="10800000">
              <a:off x="6820631" y="2792128"/>
              <a:ext cx="39108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176" name="直接连接符 175"/>
            <p:cNvCxnSpPr/>
            <p:nvPr/>
          </p:nvCxnSpPr>
          <p:spPr bwMode="auto">
            <a:xfrm>
              <a:off x="6502714" y="1802276"/>
              <a:ext cx="1733135" cy="52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Line 18"/>
            <p:cNvSpPr>
              <a:spLocks noChangeShapeType="1"/>
            </p:cNvSpPr>
            <p:nvPr/>
          </p:nvSpPr>
          <p:spPr bwMode="auto">
            <a:xfrm flipH="1">
              <a:off x="7437267" y="2801054"/>
              <a:ext cx="6199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 name="Line 19"/>
            <p:cNvSpPr>
              <a:spLocks noChangeShapeType="1"/>
            </p:cNvSpPr>
            <p:nvPr/>
          </p:nvSpPr>
          <p:spPr bwMode="auto">
            <a:xfrm>
              <a:off x="7747244" y="1803133"/>
              <a:ext cx="0" cy="99135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9" name="Text Box 20"/>
            <p:cNvSpPr txBox="1">
              <a:spLocks noChangeArrowheads="1"/>
            </p:cNvSpPr>
            <p:nvPr/>
          </p:nvSpPr>
          <p:spPr bwMode="auto">
            <a:xfrm>
              <a:off x="7810387" y="2032598"/>
              <a:ext cx="309978" cy="4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grpSp>
      <p:sp>
        <p:nvSpPr>
          <p:cNvPr id="29"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郎肯被动土压力</a:t>
            </a:r>
            <a:r>
              <a:rPr kumimoji="1" lang="zh-CN" altLang="en-US" sz="4000" b="1" dirty="0" smtClean="0">
                <a:solidFill>
                  <a:srgbClr val="000066"/>
                </a:solidFill>
                <a:latin typeface="黑体" pitchFamily="2" charset="-122"/>
                <a:ea typeface="黑体" pitchFamily="2" charset="-122"/>
              </a:rPr>
              <a:t>计算</a:t>
            </a:r>
            <a:endParaRPr kumimoji="1" lang="zh-CN" altLang="en-US" sz="4000" b="1" dirty="0">
              <a:solidFill>
                <a:srgbClr val="000066"/>
              </a:solidFill>
              <a:latin typeface="黑体" pitchFamily="2" charset="-122"/>
              <a:ea typeface="黑体" pitchFamily="2" charset="-122"/>
            </a:endParaRPr>
          </a:p>
        </p:txBody>
      </p:sp>
      <p:sp>
        <p:nvSpPr>
          <p:cNvPr id="28" name="AutoShape 118"/>
          <p:cNvSpPr>
            <a:spLocks noChangeArrowheads="1"/>
          </p:cNvSpPr>
          <p:nvPr/>
        </p:nvSpPr>
        <p:spPr bwMode="auto">
          <a:xfrm flipH="1">
            <a:off x="5482113" y="2210798"/>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80937570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300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62"/>
                                        </p:tgtEl>
                                        <p:attrNameLst>
                                          <p:attrName>style.visibility</p:attrName>
                                        </p:attrNameLst>
                                      </p:cBhvr>
                                      <p:to>
                                        <p:strVal val="visible"/>
                                      </p:to>
                                    </p:set>
                                    <p:animEffect transition="in" filter="wipe(left)">
                                      <p:cBhvr>
                                        <p:cTn id="11" dur="500"/>
                                        <p:tgtEl>
                                          <p:spTgt spid="16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64"/>
                                        </p:tgtEl>
                                        <p:attrNameLst>
                                          <p:attrName>style.visibility</p:attrName>
                                        </p:attrNameLst>
                                      </p:cBhvr>
                                      <p:to>
                                        <p:strVal val="visible"/>
                                      </p:to>
                                    </p:set>
                                    <p:animEffect transition="in" filter="wipe(left)">
                                      <p:cBhvr>
                                        <p:cTn id="14" dur="500"/>
                                        <p:tgtEl>
                                          <p:spTgt spid="16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wipe(left)">
                                      <p:cBhvr>
                                        <p:cTn id="17" dur="500"/>
                                        <p:tgtEl>
                                          <p:spTgt spid="16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wipe(left)">
                                      <p:cBhvr>
                                        <p:cTn id="20" dur="500"/>
                                        <p:tgtEl>
                                          <p:spTgt spid="113"/>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1" nodeType="clickEffect">
                                  <p:stCondLst>
                                    <p:cond delay="0"/>
                                  </p:stCondLst>
                                  <p:childTnLst>
                                    <p:set>
                                      <p:cBhvr>
                                        <p:cTn id="24" dur="1" fill="hold">
                                          <p:stCondLst>
                                            <p:cond delay="0"/>
                                          </p:stCondLst>
                                        </p:cTn>
                                        <p:tgtEl>
                                          <p:spTgt spid="115"/>
                                        </p:tgtEl>
                                        <p:attrNameLst>
                                          <p:attrName>style.visibility</p:attrName>
                                        </p:attrNameLst>
                                      </p:cBhvr>
                                      <p:to>
                                        <p:strVal val="visible"/>
                                      </p:to>
                                    </p:set>
                                    <p:anim calcmode="lin" valueType="num">
                                      <p:cBhvr>
                                        <p:cTn id="25" dur="1000" fill="hold"/>
                                        <p:tgtEl>
                                          <p:spTgt spid="115"/>
                                        </p:tgtEl>
                                        <p:attrNameLst>
                                          <p:attrName>ppt_w</p:attrName>
                                        </p:attrNameLst>
                                      </p:cBhvr>
                                      <p:tavLst>
                                        <p:tav tm="0">
                                          <p:val>
                                            <p:fltVal val="0"/>
                                          </p:val>
                                        </p:tav>
                                        <p:tav tm="100000">
                                          <p:val>
                                            <p:strVal val="#ppt_w"/>
                                          </p:val>
                                        </p:tav>
                                      </p:tavLst>
                                    </p:anim>
                                    <p:anim calcmode="lin" valueType="num">
                                      <p:cBhvr>
                                        <p:cTn id="26" dur="1000" fill="hold"/>
                                        <p:tgtEl>
                                          <p:spTgt spid="115"/>
                                        </p:tgtEl>
                                        <p:attrNameLst>
                                          <p:attrName>ppt_h</p:attrName>
                                        </p:attrNameLst>
                                      </p:cBhvr>
                                      <p:tavLst>
                                        <p:tav tm="0">
                                          <p:val>
                                            <p:fltVal val="0"/>
                                          </p:val>
                                        </p:tav>
                                        <p:tav tm="100000">
                                          <p:val>
                                            <p:strVal val="#ppt_h"/>
                                          </p:val>
                                        </p:tav>
                                      </p:tavLst>
                                    </p:anim>
                                    <p:anim calcmode="lin" valueType="num">
                                      <p:cBhvr>
                                        <p:cTn id="27" dur="1000" fill="hold"/>
                                        <p:tgtEl>
                                          <p:spTgt spid="115"/>
                                        </p:tgtEl>
                                        <p:attrNameLst>
                                          <p:attrName>style.rotation</p:attrName>
                                        </p:attrNameLst>
                                      </p:cBhvr>
                                      <p:tavLst>
                                        <p:tav tm="0">
                                          <p:val>
                                            <p:fltVal val="90"/>
                                          </p:val>
                                        </p:tav>
                                        <p:tav tm="100000">
                                          <p:val>
                                            <p:fltVal val="0"/>
                                          </p:val>
                                        </p:tav>
                                      </p:tavLst>
                                    </p:anim>
                                    <p:animEffect transition="in" filter="fade">
                                      <p:cBhvr>
                                        <p:cTn id="28"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5" grpId="1"/>
      <p:bldP spid="162" grpId="0"/>
      <p:bldP spid="163" grpId="0"/>
      <p:bldP spid="164" grpId="0"/>
      <p:bldP spid="2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042006" y="826562"/>
            <a:ext cx="2137605" cy="2330194"/>
            <a:chOff x="6042006" y="826562"/>
            <a:chExt cx="2137605" cy="2330194"/>
          </a:xfrm>
        </p:grpSpPr>
        <p:sp>
          <p:nvSpPr>
            <p:cNvPr id="14" name="任意多边形 13"/>
            <p:cNvSpPr/>
            <p:nvPr/>
          </p:nvSpPr>
          <p:spPr bwMode="auto">
            <a:xfrm>
              <a:off x="6658977" y="853925"/>
              <a:ext cx="1102505" cy="180150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5" name="直接连接符 94"/>
            <p:cNvCxnSpPr/>
            <p:nvPr/>
          </p:nvCxnSpPr>
          <p:spPr bwMode="auto">
            <a:xfrm flipV="1">
              <a:off x="6042006" y="2652511"/>
              <a:ext cx="2137605" cy="267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Line 89"/>
            <p:cNvSpPr>
              <a:spLocks noChangeAspect="1" noChangeShapeType="1"/>
            </p:cNvSpPr>
            <p:nvPr/>
          </p:nvSpPr>
          <p:spPr bwMode="auto">
            <a:xfrm rot="5400000">
              <a:off x="5326479" y="1740873"/>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66" name="直接箭头连接符 65"/>
            <p:cNvCxnSpPr/>
            <p:nvPr/>
          </p:nvCxnSpPr>
          <p:spPr bwMode="auto">
            <a:xfrm flipH="1">
              <a:off x="6643437" y="2645033"/>
              <a:ext cx="1115634"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flipH="1">
              <a:off x="6643437" y="2422175"/>
              <a:ext cx="984375"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flipH="1">
              <a:off x="6643437" y="2207513"/>
              <a:ext cx="846411"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箭头连接符 68"/>
            <p:cNvCxnSpPr/>
            <p:nvPr/>
          </p:nvCxnSpPr>
          <p:spPr bwMode="auto">
            <a:xfrm flipH="1">
              <a:off x="6643437" y="1992852"/>
              <a:ext cx="723365"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箭头连接符 69"/>
            <p:cNvCxnSpPr/>
            <p:nvPr/>
          </p:nvCxnSpPr>
          <p:spPr bwMode="auto">
            <a:xfrm flipH="1">
              <a:off x="6643437" y="1771447"/>
              <a:ext cx="58540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p:nvPr/>
          </p:nvCxnSpPr>
          <p:spPr bwMode="auto">
            <a:xfrm flipH="1">
              <a:off x="6643438" y="1556785"/>
              <a:ext cx="454897"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H="1">
              <a:off x="6643437" y="1335380"/>
              <a:ext cx="328122"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箭头连接符 72"/>
            <p:cNvCxnSpPr/>
            <p:nvPr/>
          </p:nvCxnSpPr>
          <p:spPr bwMode="auto">
            <a:xfrm flipH="1">
              <a:off x="6643438" y="1120718"/>
              <a:ext cx="193888"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p:nvPr/>
          </p:nvCxnSpPr>
          <p:spPr bwMode="auto">
            <a:xfrm>
              <a:off x="6656528" y="836118"/>
              <a:ext cx="1104810" cy="181805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Line 89"/>
            <p:cNvSpPr>
              <a:spLocks noChangeAspect="1" noChangeShapeType="1"/>
            </p:cNvSpPr>
            <p:nvPr/>
          </p:nvSpPr>
          <p:spPr bwMode="auto">
            <a:xfrm flipH="1">
              <a:off x="6621164" y="2794679"/>
              <a:ext cx="112643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78" name="直接连接符 77"/>
            <p:cNvCxnSpPr/>
            <p:nvPr/>
          </p:nvCxnSpPr>
          <p:spPr bwMode="auto">
            <a:xfrm flipH="1">
              <a:off x="7741400" y="2705365"/>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78"/>
            <p:cNvCxnSpPr/>
            <p:nvPr/>
          </p:nvCxnSpPr>
          <p:spPr bwMode="auto">
            <a:xfrm flipH="1">
              <a:off x="6631644" y="2695341"/>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57"/>
            <p:cNvSpPr txBox="1">
              <a:spLocks noChangeArrowheads="1"/>
            </p:cNvSpPr>
            <p:nvPr/>
          </p:nvSpPr>
          <p:spPr bwMode="auto">
            <a:xfrm>
              <a:off x="6740169" y="2772227"/>
              <a:ext cx="1053839"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a:solidFill>
                    <a:srgbClr val="000066"/>
                  </a:solidFill>
                  <a:sym typeface="Symbol" pitchFamily="18" charset="2"/>
                </a:rPr>
                <a:t> H </a:t>
              </a:r>
              <a:r>
                <a:rPr lang="en-US" altLang="zh-CN" sz="1800" b="1" i="1" dirty="0" err="1" smtClean="0">
                  <a:solidFill>
                    <a:srgbClr val="000066"/>
                  </a:solidFill>
                  <a:sym typeface="Symbol" pitchFamily="18" charset="2"/>
                </a:rPr>
                <a:t>K</a:t>
              </a:r>
              <a:r>
                <a:rPr lang="en-US" altLang="zh-CN" sz="1800" b="1" baseline="-25000" dirty="0" err="1" smtClean="0">
                  <a:solidFill>
                    <a:srgbClr val="000066"/>
                  </a:solidFill>
                  <a:sym typeface="Symbol" pitchFamily="18" charset="2"/>
                </a:rPr>
                <a:t>p</a:t>
              </a:r>
              <a:endParaRPr lang="en-US" altLang="zh-CN" sz="1800" b="1" baseline="-25000" dirty="0">
                <a:solidFill>
                  <a:srgbClr val="000066"/>
                </a:solidFill>
                <a:sym typeface="Symbol" pitchFamily="18" charset="2"/>
              </a:endParaRPr>
            </a:p>
          </p:txBody>
        </p:sp>
        <p:cxnSp>
          <p:nvCxnSpPr>
            <p:cNvPr id="94" name="直接连接符 93"/>
            <p:cNvCxnSpPr/>
            <p:nvPr/>
          </p:nvCxnSpPr>
          <p:spPr bwMode="auto">
            <a:xfrm flipH="1">
              <a:off x="6090929" y="837195"/>
              <a:ext cx="346084"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57"/>
            <p:cNvSpPr txBox="1">
              <a:spLocks noChangeArrowheads="1"/>
            </p:cNvSpPr>
            <p:nvPr/>
          </p:nvSpPr>
          <p:spPr bwMode="auto">
            <a:xfrm>
              <a:off x="6223002" y="1635557"/>
              <a:ext cx="42689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cxnSp>
          <p:nvCxnSpPr>
            <p:cNvPr id="17" name="直接连接符 16"/>
            <p:cNvCxnSpPr/>
            <p:nvPr/>
          </p:nvCxnSpPr>
          <p:spPr bwMode="auto">
            <a:xfrm flipV="1">
              <a:off x="6658977" y="847101"/>
              <a:ext cx="0" cy="18054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40</a:t>
            </a:fld>
            <a:endParaRPr lang="zh-CN" altLang="en-US" dirty="0">
              <a:solidFill>
                <a:srgbClr val="C00000"/>
              </a:solidFill>
            </a:endParaRPr>
          </a:p>
        </p:txBody>
      </p:sp>
      <p:grpSp>
        <p:nvGrpSpPr>
          <p:cNvPr id="2" name="组合 1"/>
          <p:cNvGrpSpPr/>
          <p:nvPr/>
        </p:nvGrpSpPr>
        <p:grpSpPr>
          <a:xfrm>
            <a:off x="6653603" y="1504403"/>
            <a:ext cx="1981640" cy="1136081"/>
            <a:chOff x="6653603" y="1504403"/>
            <a:chExt cx="1981640" cy="1136081"/>
          </a:xfrm>
        </p:grpSpPr>
        <p:sp>
          <p:nvSpPr>
            <p:cNvPr id="76" name="Text Box 827"/>
            <p:cNvSpPr txBox="1">
              <a:spLocks noChangeArrowheads="1"/>
            </p:cNvSpPr>
            <p:nvPr/>
          </p:nvSpPr>
          <p:spPr bwMode="auto">
            <a:xfrm flipH="1">
              <a:off x="7373828" y="1504403"/>
              <a:ext cx="765917"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smtClean="0">
                  <a:solidFill>
                    <a:srgbClr val="C00000"/>
                  </a:solidFill>
                  <a:latin typeface="Times New Roman" panose="02020603050405020304" pitchFamily="18" charset="0"/>
                  <a:cs typeface="Times New Roman" panose="02020603050405020304" pitchFamily="18" charset="0"/>
                </a:rPr>
                <a:t>p</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84" name="直接连接符 83"/>
            <p:cNvCxnSpPr/>
            <p:nvPr/>
          </p:nvCxnSpPr>
          <p:spPr bwMode="auto">
            <a:xfrm rot="5400000">
              <a:off x="7983453" y="1893566"/>
              <a:ext cx="0" cy="29376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Line 89"/>
            <p:cNvSpPr>
              <a:spLocks noChangeAspect="1" noChangeShapeType="1"/>
            </p:cNvSpPr>
            <p:nvPr/>
          </p:nvSpPr>
          <p:spPr bwMode="auto">
            <a:xfrm rot="5400000">
              <a:off x="7686585" y="2348778"/>
              <a:ext cx="58341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1" name="直接箭头连接符 80"/>
            <p:cNvCxnSpPr/>
            <p:nvPr/>
          </p:nvCxnSpPr>
          <p:spPr bwMode="auto">
            <a:xfrm flipH="1">
              <a:off x="6653603" y="2046535"/>
              <a:ext cx="1120389"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57"/>
            <p:cNvSpPr txBox="1">
              <a:spLocks noChangeArrowheads="1"/>
            </p:cNvSpPr>
            <p:nvPr/>
          </p:nvSpPr>
          <p:spPr bwMode="auto">
            <a:xfrm>
              <a:off x="7906824" y="2150338"/>
              <a:ext cx="728419"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r>
                <a:rPr lang="en-US" altLang="zh-CN" sz="1800" b="1" dirty="0" smtClean="0">
                  <a:solidFill>
                    <a:srgbClr val="000066"/>
                  </a:solidFill>
                  <a:sym typeface="Symbol" pitchFamily="18" charset="2"/>
                </a:rPr>
                <a:t>/3</a:t>
              </a:r>
              <a:endParaRPr lang="en-US" altLang="zh-CN" sz="1800" b="1" baseline="-25000" dirty="0">
                <a:solidFill>
                  <a:srgbClr val="000066"/>
                </a:solidFill>
                <a:sym typeface="Symbol" pitchFamily="18" charset="2"/>
              </a:endParaRPr>
            </a:p>
          </p:txBody>
        </p:sp>
      </p:grpSp>
      <p:sp>
        <p:nvSpPr>
          <p:cNvPr id="86" name="Text Box 38"/>
          <p:cNvSpPr txBox="1">
            <a:spLocks noChangeArrowheads="1"/>
          </p:cNvSpPr>
          <p:nvPr/>
        </p:nvSpPr>
        <p:spPr bwMode="auto">
          <a:xfrm>
            <a:off x="1367812" y="1999038"/>
            <a:ext cx="2700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rPr>
              <a:t>p</a:t>
            </a:r>
            <a:r>
              <a:rPr lang="en-US" altLang="zh-CN" sz="2000" b="1" baseline="-25000" dirty="0" smtClean="0">
                <a:solidFill>
                  <a:srgbClr val="000066"/>
                </a:solidFill>
              </a:rPr>
              <a:t>p</a:t>
            </a:r>
            <a:r>
              <a:rPr lang="en-US" altLang="zh-CN" sz="2000" b="1" i="1" dirty="0" smtClean="0">
                <a:solidFill>
                  <a:srgbClr val="000066"/>
                </a:solidFill>
              </a:rPr>
              <a:t>=</a:t>
            </a:r>
            <a:r>
              <a:rPr lang="en-US" altLang="zh-CN" sz="2000" b="1" i="1" dirty="0" smtClean="0">
                <a:solidFill>
                  <a:srgbClr val="000066"/>
                </a:solidFill>
                <a:latin typeface="Symbol" pitchFamily="18" charset="2"/>
              </a:rPr>
              <a:t> </a:t>
            </a:r>
            <a:r>
              <a:rPr lang="en-US" altLang="zh-CN" sz="2000" b="1" i="1" dirty="0">
                <a:solidFill>
                  <a:srgbClr val="000066"/>
                </a:solidFill>
                <a:latin typeface="Symbol" pitchFamily="18" charset="2"/>
              </a:rPr>
              <a:t>g </a:t>
            </a:r>
            <a:r>
              <a:rPr lang="en-US" altLang="zh-CN" sz="2000" b="1" dirty="0">
                <a:solidFill>
                  <a:srgbClr val="000066"/>
                </a:solidFill>
              </a:rPr>
              <a:t>z</a:t>
            </a:r>
            <a:r>
              <a:rPr lang="en-US" altLang="zh-CN" sz="2000" b="1" i="1" dirty="0" smtClean="0">
                <a:solidFill>
                  <a:srgbClr val="000066"/>
                </a:solidFill>
              </a:rPr>
              <a:t> </a:t>
            </a:r>
            <a:r>
              <a:rPr lang="en-US" altLang="zh-CN" sz="2000" b="1" i="1" dirty="0" err="1" smtClean="0">
                <a:solidFill>
                  <a:srgbClr val="000066"/>
                </a:solidFill>
              </a:rPr>
              <a:t>K</a:t>
            </a:r>
            <a:r>
              <a:rPr lang="en-US" altLang="zh-CN" sz="2000" b="1" baseline="-25000" dirty="0" err="1" smtClean="0">
                <a:solidFill>
                  <a:srgbClr val="000066"/>
                </a:solidFill>
              </a:rPr>
              <a:t>p</a:t>
            </a:r>
            <a:r>
              <a:rPr lang="en-US" altLang="zh-CN" sz="2000" b="1" i="1" baseline="-25000" dirty="0" smtClean="0">
                <a:solidFill>
                  <a:srgbClr val="000066"/>
                </a:solidFill>
              </a:rPr>
              <a:t>            </a:t>
            </a:r>
            <a:r>
              <a:rPr lang="en-US" altLang="zh-CN" sz="2000" b="1" i="1" dirty="0" smtClean="0">
                <a:solidFill>
                  <a:srgbClr val="000066"/>
                </a:solidFill>
                <a:latin typeface="Symbol" pitchFamily="18" charset="2"/>
              </a:rPr>
              <a:t> </a:t>
            </a: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err="1" smtClean="0">
                <a:solidFill>
                  <a:srgbClr val="C00000"/>
                </a:solidFill>
                <a:ea typeface="华文新魏" pitchFamily="2" charset="-122"/>
                <a:cs typeface="Times New Roman" panose="02020603050405020304" pitchFamily="18" charset="0"/>
              </a:rPr>
              <a:t>kN</a:t>
            </a:r>
            <a:r>
              <a:rPr lang="en-US" altLang="zh-CN" sz="2000" b="1" dirty="0" smtClean="0">
                <a:solidFill>
                  <a:srgbClr val="C00000"/>
                </a:solidFill>
                <a:ea typeface="华文新魏" pitchFamily="2" charset="-122"/>
                <a:cs typeface="Times New Roman" panose="02020603050405020304" pitchFamily="18" charset="0"/>
              </a:rPr>
              <a:t>/m</a:t>
            </a:r>
            <a:r>
              <a:rPr lang="en-US" altLang="zh-CN" sz="2000" b="1" baseline="30000" dirty="0" smtClean="0">
                <a:solidFill>
                  <a:srgbClr val="C00000"/>
                </a:solidFill>
                <a:ea typeface="华文新魏" pitchFamily="2" charset="-122"/>
                <a:cs typeface="Times New Roman" panose="02020603050405020304" pitchFamily="18" charset="0"/>
              </a:rPr>
              <a:t>2</a:t>
            </a: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smtClean="0">
                <a:solidFill>
                  <a:srgbClr val="C00000"/>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89" name="Text Box 57"/>
          <p:cNvSpPr txBox="1">
            <a:spLocks noChangeArrowheads="1"/>
          </p:cNvSpPr>
          <p:nvPr/>
        </p:nvSpPr>
        <p:spPr bwMode="auto">
          <a:xfrm>
            <a:off x="782025" y="1528838"/>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被动土压力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1" name="Text Box 57"/>
          <p:cNvSpPr txBox="1">
            <a:spLocks noChangeArrowheads="1"/>
          </p:cNvSpPr>
          <p:nvPr/>
        </p:nvSpPr>
        <p:spPr bwMode="auto">
          <a:xfrm>
            <a:off x="779108" y="2501747"/>
            <a:ext cx="345937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总土压力（单位墙长度）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2" name="Text Box 57"/>
          <p:cNvSpPr txBox="1">
            <a:spLocks noChangeArrowheads="1"/>
          </p:cNvSpPr>
          <p:nvPr/>
        </p:nvSpPr>
        <p:spPr bwMode="auto">
          <a:xfrm>
            <a:off x="786666" y="3870541"/>
            <a:ext cx="416527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总土压力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作用点：底部以上</a:t>
            </a:r>
            <a:r>
              <a:rPr lang="en-US" altLang="zh-CN" sz="2000" b="1" i="1" dirty="0">
                <a:solidFill>
                  <a:srgbClr val="000066"/>
                </a:solidFill>
                <a:ea typeface="幼圆" panose="02010509060101010101" pitchFamily="49" charset="-122"/>
                <a:cs typeface="Times New Roman" panose="02020603050405020304" pitchFamily="18" charset="0"/>
                <a:sym typeface="Symbol" pitchFamily="18" charset="2"/>
              </a:rPr>
              <a:t>H</a:t>
            </a:r>
            <a:r>
              <a:rPr lang="en-US" altLang="zh-CN" sz="2000" b="1" dirty="0">
                <a:solidFill>
                  <a:srgbClr val="000066"/>
                </a:solidFill>
                <a:ea typeface="幼圆" panose="02010509060101010101" pitchFamily="49" charset="-122"/>
                <a:cs typeface="Times New Roman" panose="02020603050405020304" pitchFamily="18" charset="0"/>
                <a:sym typeface="Symbol" pitchFamily="18" charset="2"/>
              </a:rPr>
              <a:t>/3</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处</a:t>
            </a:r>
          </a:p>
        </p:txBody>
      </p:sp>
      <p:sp>
        <p:nvSpPr>
          <p:cNvPr id="96" name="Text Box 57"/>
          <p:cNvSpPr txBox="1">
            <a:spLocks noChangeArrowheads="1"/>
          </p:cNvSpPr>
          <p:nvPr/>
        </p:nvSpPr>
        <p:spPr bwMode="auto">
          <a:xfrm>
            <a:off x="788161" y="4376025"/>
            <a:ext cx="4299507"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破</a:t>
            </a:r>
            <a:r>
              <a:rPr lang="zh-CN" altLang="en-US" sz="2000" b="1" dirty="0" smtClean="0">
                <a:solidFill>
                  <a:srgbClr val="000066"/>
                </a:solidFill>
                <a:ea typeface="幼圆" pitchFamily="49" charset="-122"/>
                <a:cs typeface="Times New Roman" panose="02020603050405020304" pitchFamily="18" charset="0"/>
              </a:rPr>
              <a:t>裂</a:t>
            </a:r>
            <a:r>
              <a:rPr lang="zh-CN" altLang="en-US" sz="2000" b="1" dirty="0">
                <a:solidFill>
                  <a:srgbClr val="000066"/>
                </a:solidFill>
                <a:ea typeface="幼圆" pitchFamily="49" charset="-122"/>
                <a:cs typeface="Times New Roman" panose="02020603050405020304" pitchFamily="18" charset="0"/>
              </a:rPr>
              <a:t>面方向：与水平夹角</a:t>
            </a:r>
            <a:r>
              <a:rPr lang="en-US" altLang="zh-CN" sz="2000" b="1" dirty="0">
                <a:solidFill>
                  <a:srgbClr val="000066"/>
                </a:solidFill>
                <a:ea typeface="幼圆" pitchFamily="49" charset="-122"/>
                <a:cs typeface="Times New Roman" panose="02020603050405020304" pitchFamily="18" charset="0"/>
              </a:rPr>
              <a:t>45</a:t>
            </a:r>
            <a:r>
              <a:rPr lang="en-US" altLang="zh-CN" sz="2000" b="1" baseline="30000" dirty="0">
                <a:solidFill>
                  <a:srgbClr val="000000"/>
                </a:solidFill>
                <a:ea typeface="华文新魏" pitchFamily="2" charset="-122"/>
                <a:cs typeface="Times New Roman" panose="02020603050405020304" pitchFamily="18" charset="0"/>
                <a:sym typeface="Symbol" pitchFamily="18" charset="2"/>
              </a:rPr>
              <a:t>  </a:t>
            </a:r>
            <a:r>
              <a:rPr lang="en-US" altLang="zh-CN" sz="2000" b="1" dirty="0">
                <a:solidFill>
                  <a:srgbClr val="000066"/>
                </a:solidFill>
                <a:ea typeface="幼圆" pitchFamily="49" charset="-122"/>
                <a:cs typeface="Times New Roman" panose="02020603050405020304" pitchFamily="18" charset="0"/>
                <a:sym typeface="Symbol" pitchFamily="18" charset="2"/>
              </a:rPr>
              <a:t>-</a:t>
            </a:r>
            <a:r>
              <a:rPr lang="en-US" altLang="zh-CN" sz="2000" b="1" dirty="0" smtClean="0">
                <a:solidFill>
                  <a:srgbClr val="000066"/>
                </a:solidFill>
                <a:ea typeface="幼圆" pitchFamily="49" charset="-122"/>
                <a:cs typeface="Times New Roman" panose="02020603050405020304" pitchFamily="18" charset="0"/>
              </a:rPr>
              <a:t> </a:t>
            </a:r>
            <a:r>
              <a:rPr lang="en-US" altLang="zh-CN" sz="2000" b="1" i="1" dirty="0">
                <a:solidFill>
                  <a:srgbClr val="000000"/>
                </a:solidFill>
                <a:cs typeface="Times New Roman" panose="02020603050405020304" pitchFamily="18" charset="0"/>
                <a:sym typeface="Symbol" pitchFamily="18" charset="2"/>
              </a:rPr>
              <a:t></a:t>
            </a:r>
            <a:r>
              <a:rPr lang="en-US" altLang="zh-CN" sz="2000" b="1" dirty="0">
                <a:solidFill>
                  <a:srgbClr val="000066"/>
                </a:solidFill>
                <a:ea typeface="幼圆" pitchFamily="49" charset="-122"/>
                <a:cs typeface="Times New Roman" panose="02020603050405020304" pitchFamily="18" charset="0"/>
              </a:rPr>
              <a:t> /2 </a:t>
            </a:r>
            <a:endParaRPr lang="zh-CN" altLang="en-US" sz="2000" b="1" dirty="0">
              <a:solidFill>
                <a:srgbClr val="000066"/>
              </a:solidFill>
              <a:ea typeface="幼圆" pitchFamily="49" charset="-122"/>
              <a:cs typeface="Times New Roman" panose="02020603050405020304" pitchFamily="18" charset="0"/>
            </a:endParaRPr>
          </a:p>
        </p:txBody>
      </p:sp>
      <p:grpSp>
        <p:nvGrpSpPr>
          <p:cNvPr id="4" name="组合 3"/>
          <p:cNvGrpSpPr/>
          <p:nvPr/>
        </p:nvGrpSpPr>
        <p:grpSpPr>
          <a:xfrm>
            <a:off x="5456607" y="3496932"/>
            <a:ext cx="3517302" cy="1821327"/>
            <a:chOff x="5456607" y="3496932"/>
            <a:chExt cx="3517302" cy="1821327"/>
          </a:xfrm>
        </p:grpSpPr>
        <p:sp>
          <p:nvSpPr>
            <p:cNvPr id="64" name="任意多边形 63"/>
            <p:cNvSpPr/>
            <p:nvPr/>
          </p:nvSpPr>
          <p:spPr bwMode="auto">
            <a:xfrm>
              <a:off x="6280448" y="3496932"/>
              <a:ext cx="2685247" cy="1724737"/>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 name="connsiteX0" fmla="*/ 0 w 874251"/>
                <a:gd name="connsiteY0" fmla="*/ 1885845 h 1885845"/>
                <a:gd name="connsiteX1" fmla="*/ 1303 w 874251"/>
                <a:gd name="connsiteY1" fmla="*/ 6245 h 1885845"/>
                <a:gd name="connsiteX2" fmla="*/ 874251 w 874251"/>
                <a:gd name="connsiteY2" fmla="*/ 0 h 1885845"/>
                <a:gd name="connsiteX3" fmla="*/ 871929 w 874251"/>
                <a:gd name="connsiteY3" fmla="*/ 1879495 h 1885845"/>
                <a:gd name="connsiteX4" fmla="*/ 0 w 874251"/>
                <a:gd name="connsiteY4" fmla="*/ 1885845 h 1885845"/>
                <a:gd name="connsiteX0" fmla="*/ 1852 w 876103"/>
                <a:gd name="connsiteY0" fmla="*/ 1895300 h 1895300"/>
                <a:gd name="connsiteX1" fmla="*/ 47 w 876103"/>
                <a:gd name="connsiteY1" fmla="*/ 0 h 1895300"/>
                <a:gd name="connsiteX2" fmla="*/ 876103 w 876103"/>
                <a:gd name="connsiteY2" fmla="*/ 9455 h 1895300"/>
                <a:gd name="connsiteX3" fmla="*/ 873781 w 876103"/>
                <a:gd name="connsiteY3" fmla="*/ 1888950 h 1895300"/>
                <a:gd name="connsiteX4" fmla="*/ 1852 w 876103"/>
                <a:gd name="connsiteY4" fmla="*/ 1895300 h 1895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103" h="1895300">
                  <a:moveTo>
                    <a:pt x="1852" y="1895300"/>
                  </a:moveTo>
                  <a:cubicBezTo>
                    <a:pt x="2286" y="1268767"/>
                    <a:pt x="-387" y="626533"/>
                    <a:pt x="47" y="0"/>
                  </a:cubicBezTo>
                  <a:lnTo>
                    <a:pt x="876103" y="9455"/>
                  </a:lnTo>
                  <a:lnTo>
                    <a:pt x="873781" y="1888950"/>
                  </a:lnTo>
                  <a:lnTo>
                    <a:pt x="1852" y="18953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4" name="直接连接符 73"/>
            <p:cNvCxnSpPr>
              <a:stCxn id="64" idx="0"/>
              <a:endCxn id="64" idx="2"/>
            </p:cNvCxnSpPr>
            <p:nvPr/>
          </p:nvCxnSpPr>
          <p:spPr bwMode="auto">
            <a:xfrm flipV="1">
              <a:off x="6286124" y="3505536"/>
              <a:ext cx="2679571" cy="1716133"/>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连接符 79"/>
            <p:cNvCxnSpPr/>
            <p:nvPr/>
          </p:nvCxnSpPr>
          <p:spPr bwMode="auto">
            <a:xfrm flipV="1">
              <a:off x="6289983" y="3506691"/>
              <a:ext cx="2229348" cy="1427789"/>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flipV="1">
              <a:off x="6289140" y="3505687"/>
              <a:ext cx="1782496" cy="1141600"/>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87"/>
            <p:cNvCxnSpPr/>
            <p:nvPr/>
          </p:nvCxnSpPr>
          <p:spPr bwMode="auto">
            <a:xfrm flipV="1">
              <a:off x="6288296" y="3513272"/>
              <a:ext cx="1322236" cy="84682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flipV="1">
              <a:off x="6287453" y="3503808"/>
              <a:ext cx="888591" cy="569100"/>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直接连接符 101"/>
            <p:cNvCxnSpPr/>
            <p:nvPr/>
          </p:nvCxnSpPr>
          <p:spPr bwMode="auto">
            <a:xfrm flipV="1">
              <a:off x="6286609" y="3506829"/>
              <a:ext cx="435454" cy="27888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任意多边形 103"/>
            <p:cNvSpPr/>
            <p:nvPr/>
          </p:nvSpPr>
          <p:spPr bwMode="auto">
            <a:xfrm>
              <a:off x="5456607" y="3500776"/>
              <a:ext cx="835015" cy="1717861"/>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6" name="直接连接符 105"/>
            <p:cNvCxnSpPr/>
            <p:nvPr/>
          </p:nvCxnSpPr>
          <p:spPr bwMode="auto">
            <a:xfrm>
              <a:off x="5825131" y="5218514"/>
              <a:ext cx="314877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106"/>
            <p:cNvCxnSpPr/>
            <p:nvPr/>
          </p:nvCxnSpPr>
          <p:spPr bwMode="auto">
            <a:xfrm>
              <a:off x="6284024" y="3499465"/>
              <a:ext cx="2687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107"/>
            <p:cNvCxnSpPr/>
            <p:nvPr/>
          </p:nvCxnSpPr>
          <p:spPr bwMode="auto">
            <a:xfrm flipH="1" flipV="1">
              <a:off x="6274819" y="4919273"/>
              <a:ext cx="241272" cy="154523"/>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108"/>
            <p:cNvCxnSpPr/>
            <p:nvPr/>
          </p:nvCxnSpPr>
          <p:spPr bwMode="auto">
            <a:xfrm flipH="1" flipV="1">
              <a:off x="6290518" y="4645697"/>
              <a:ext cx="441230" cy="282585"/>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flipH="1" flipV="1">
              <a:off x="6293154" y="4363411"/>
              <a:ext cx="664757" cy="425743"/>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连接符 110"/>
            <p:cNvCxnSpPr/>
            <p:nvPr/>
          </p:nvCxnSpPr>
          <p:spPr bwMode="auto">
            <a:xfrm flipH="1" flipV="1">
              <a:off x="6291436" y="4076772"/>
              <a:ext cx="886756" cy="56792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bwMode="auto">
            <a:xfrm flipH="1" flipV="1">
              <a:off x="6289715" y="3785775"/>
              <a:ext cx="1115478" cy="714408"/>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连接符 112"/>
            <p:cNvCxnSpPr/>
            <p:nvPr/>
          </p:nvCxnSpPr>
          <p:spPr bwMode="auto">
            <a:xfrm flipH="1" flipV="1">
              <a:off x="6287996" y="3499134"/>
              <a:ext cx="1342185" cy="85960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接连接符 113"/>
            <p:cNvCxnSpPr/>
            <p:nvPr/>
          </p:nvCxnSpPr>
          <p:spPr bwMode="auto">
            <a:xfrm flipH="1" flipV="1">
              <a:off x="6725492" y="3502499"/>
              <a:ext cx="1117138" cy="715471"/>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连接符 114"/>
            <p:cNvCxnSpPr/>
            <p:nvPr/>
          </p:nvCxnSpPr>
          <p:spPr bwMode="auto">
            <a:xfrm flipH="1" flipV="1">
              <a:off x="7163348" y="3501739"/>
              <a:ext cx="908289" cy="581714"/>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flipH="1" flipV="1">
              <a:off x="7605623" y="3503808"/>
              <a:ext cx="675895" cy="43287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直接连接符 117"/>
            <p:cNvCxnSpPr/>
            <p:nvPr/>
          </p:nvCxnSpPr>
          <p:spPr bwMode="auto">
            <a:xfrm flipH="1" flipV="1">
              <a:off x="8056220" y="3509986"/>
              <a:ext cx="452682" cy="28992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接连接符 118"/>
            <p:cNvCxnSpPr/>
            <p:nvPr/>
          </p:nvCxnSpPr>
          <p:spPr bwMode="auto">
            <a:xfrm flipH="1" flipV="1">
              <a:off x="8505515" y="3507843"/>
              <a:ext cx="213110" cy="13648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任意多边形 119"/>
            <p:cNvSpPr/>
            <p:nvPr/>
          </p:nvSpPr>
          <p:spPr bwMode="auto">
            <a:xfrm rot="593201">
              <a:off x="6549073" y="5054830"/>
              <a:ext cx="149692" cy="15875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1" name="Text Box 40"/>
            <p:cNvSpPr txBox="1">
              <a:spLocks noChangeArrowheads="1"/>
            </p:cNvSpPr>
            <p:nvPr/>
          </p:nvSpPr>
          <p:spPr bwMode="auto">
            <a:xfrm>
              <a:off x="6691434" y="4793838"/>
              <a:ext cx="1733943" cy="524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122" name="任意多边形 121"/>
            <p:cNvSpPr/>
            <p:nvPr/>
          </p:nvSpPr>
          <p:spPr bwMode="auto">
            <a:xfrm rot="19737825">
              <a:off x="7536401" y="4247575"/>
              <a:ext cx="148261" cy="12036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4" name="Text Box 40"/>
            <p:cNvSpPr txBox="1">
              <a:spLocks noChangeArrowheads="1"/>
            </p:cNvSpPr>
            <p:nvPr/>
          </p:nvSpPr>
          <p:spPr bwMode="auto">
            <a:xfrm>
              <a:off x="7674639" y="4147934"/>
              <a:ext cx="1094661" cy="49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90+</a:t>
              </a:r>
              <a:r>
                <a:rPr lang="zh-CN" altLang="en-US" sz="1800" b="1" dirty="0" smtClean="0">
                  <a:solidFill>
                    <a:srgbClr val="000000"/>
                  </a:solidFill>
                  <a:sym typeface="Symbol" pitchFamily="18" charset="2"/>
                </a:rPr>
                <a:t></a:t>
              </a:r>
              <a:endParaRPr lang="en-US" altLang="zh-CN" sz="1800" b="1" dirty="0">
                <a:solidFill>
                  <a:srgbClr val="000000"/>
                </a:solidFill>
              </a:endParaRPr>
            </a:p>
          </p:txBody>
        </p:sp>
      </p:grpSp>
      <p:grpSp>
        <p:nvGrpSpPr>
          <p:cNvPr id="5" name="组合 4"/>
          <p:cNvGrpSpPr/>
          <p:nvPr/>
        </p:nvGrpSpPr>
        <p:grpSpPr>
          <a:xfrm>
            <a:off x="1349375" y="3054350"/>
            <a:ext cx="2889108" cy="701675"/>
            <a:chOff x="1349375" y="3054350"/>
            <a:chExt cx="2889108" cy="701675"/>
          </a:xfrm>
        </p:grpSpPr>
        <p:sp>
          <p:nvSpPr>
            <p:cNvPr id="117" name="Text Box 38"/>
            <p:cNvSpPr txBox="1">
              <a:spLocks noChangeArrowheads="1"/>
            </p:cNvSpPr>
            <p:nvPr/>
          </p:nvSpPr>
          <p:spPr bwMode="auto">
            <a:xfrm>
              <a:off x="3335496" y="3232973"/>
              <a:ext cx="902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dirty="0" smtClean="0">
                  <a:solidFill>
                    <a:srgbClr val="C00000"/>
                  </a:solidFill>
                  <a:ea typeface="华文新魏" pitchFamily="2" charset="-122"/>
                  <a:cs typeface="Times New Roman" panose="02020603050405020304" pitchFamily="18" charset="0"/>
                </a:rPr>
                <a:t>(</a:t>
              </a:r>
              <a:r>
                <a:rPr lang="en-US" altLang="zh-CN" sz="2000" b="1" dirty="0" err="1">
                  <a:solidFill>
                    <a:srgbClr val="C00000"/>
                  </a:solidFill>
                  <a:ea typeface="华文新魏" pitchFamily="2" charset="-122"/>
                  <a:cs typeface="Times New Roman" panose="02020603050405020304" pitchFamily="18" charset="0"/>
                </a:rPr>
                <a:t>kN</a:t>
              </a:r>
              <a:r>
                <a:rPr lang="en-US" altLang="zh-CN" sz="2000" b="1" dirty="0">
                  <a:solidFill>
                    <a:srgbClr val="C00000"/>
                  </a:solidFill>
                  <a:ea typeface="华文新魏" pitchFamily="2" charset="-122"/>
                  <a:cs typeface="Times New Roman" panose="02020603050405020304" pitchFamily="18" charset="0"/>
                </a:rPr>
                <a:t>/m</a:t>
              </a:r>
              <a:r>
                <a:rPr lang="en-US" altLang="zh-CN" sz="2000" b="1" dirty="0" smtClean="0">
                  <a:solidFill>
                    <a:srgbClr val="C00000"/>
                  </a:solidFill>
                  <a:ea typeface="华文新魏" pitchFamily="2" charset="-122"/>
                  <a:cs typeface="Times New Roman" panose="02020603050405020304" pitchFamily="18" charset="0"/>
                </a:rPr>
                <a:t>)</a:t>
              </a:r>
              <a:endParaRPr lang="en-US" altLang="zh-CN" sz="2000" b="1" i="1" baseline="30000" dirty="0">
                <a:solidFill>
                  <a:srgbClr val="C00000"/>
                </a:solidFill>
                <a:ea typeface="华文新魏" pitchFamily="2" charset="-122"/>
                <a:cs typeface="Times New Roman" panose="02020603050405020304" pitchFamily="18" charset="0"/>
              </a:endParaRPr>
            </a:p>
          </p:txBody>
        </p:sp>
        <p:graphicFrame>
          <p:nvGraphicFramePr>
            <p:cNvPr id="126" name="Object 60"/>
            <p:cNvGraphicFramePr>
              <a:graphicFrameLocks noChangeAspect="1"/>
            </p:cNvGraphicFramePr>
            <p:nvPr>
              <p:extLst>
                <p:ext uri="{D42A27DB-BD31-4B8C-83A1-F6EECF244321}">
                  <p14:modId xmlns:p14="http://schemas.microsoft.com/office/powerpoint/2010/main" val="1283023730"/>
                </p:ext>
              </p:extLst>
            </p:nvPr>
          </p:nvGraphicFramePr>
          <p:xfrm>
            <a:off x="1349375" y="3054350"/>
            <a:ext cx="1679575" cy="701675"/>
          </p:xfrm>
          <a:graphic>
            <a:graphicData uri="http://schemas.openxmlformats.org/presentationml/2006/ole">
              <mc:AlternateContent xmlns:mc="http://schemas.openxmlformats.org/markup-compatibility/2006">
                <mc:Choice xmlns:v="urn:schemas-microsoft-com:vml" Requires="v">
                  <p:oleObj spid="_x0000_s1673614" name="Equation" r:id="rId4" imgW="876240" imgH="368280" progId="Equation.DSMT4">
                    <p:embed/>
                  </p:oleObj>
                </mc:Choice>
                <mc:Fallback>
                  <p:oleObj name="Equation" r:id="rId4" imgW="876240" imgH="368280" progId="Equation.DSMT4">
                    <p:embed/>
                    <p:pic>
                      <p:nvPicPr>
                        <p:cNvPr id="681020" name="Object 60"/>
                        <p:cNvPicPr>
                          <a:picLocks noChangeAspect="1" noChangeArrowheads="1"/>
                        </p:cNvPicPr>
                        <p:nvPr/>
                      </p:nvPicPr>
                      <p:blipFill>
                        <a:blip r:embed="rId5"/>
                        <a:srcRect/>
                        <a:stretch>
                          <a:fillRect/>
                        </a:stretch>
                      </p:blipFill>
                      <p:spPr bwMode="auto">
                        <a:xfrm>
                          <a:off x="1349375" y="3054350"/>
                          <a:ext cx="1679575" cy="701675"/>
                        </a:xfrm>
                        <a:prstGeom prst="rect">
                          <a:avLst/>
                        </a:prstGeom>
                        <a:noFill/>
                        <a:ln>
                          <a:noFill/>
                        </a:ln>
                        <a:effectLst/>
                        <a:extLst/>
                      </p:spPr>
                    </p:pic>
                  </p:oleObj>
                </mc:Fallback>
              </mc:AlternateContent>
            </a:graphicData>
          </a:graphic>
        </p:graphicFrame>
      </p:grpSp>
      <p:sp>
        <p:nvSpPr>
          <p:cNvPr id="128"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郎肯被动土压力</a:t>
            </a:r>
            <a:r>
              <a:rPr kumimoji="1" lang="zh-CN" altLang="en-US" sz="4000" b="1" dirty="0" smtClean="0">
                <a:solidFill>
                  <a:srgbClr val="000066"/>
                </a:solidFill>
                <a:latin typeface="黑体" pitchFamily="2" charset="-122"/>
                <a:ea typeface="黑体" pitchFamily="2" charset="-122"/>
              </a:rPr>
              <a:t>计算</a:t>
            </a:r>
            <a:endParaRPr kumimoji="1" lang="zh-CN" altLang="en-US" sz="4000" b="1" dirty="0">
              <a:solidFill>
                <a:srgbClr val="000066"/>
              </a:solidFill>
              <a:latin typeface="黑体" pitchFamily="2" charset="-122"/>
              <a:ea typeface="黑体" pitchFamily="2" charset="-122"/>
            </a:endParaRPr>
          </a:p>
        </p:txBody>
      </p:sp>
      <p:sp>
        <p:nvSpPr>
          <p:cNvPr id="129" name="Text Box 46"/>
          <p:cNvSpPr txBox="1">
            <a:spLocks noChangeArrowheads="1"/>
          </p:cNvSpPr>
          <p:nvPr/>
        </p:nvSpPr>
        <p:spPr bwMode="auto">
          <a:xfrm>
            <a:off x="363383" y="764183"/>
            <a:ext cx="5354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无</a:t>
            </a:r>
            <a:r>
              <a:rPr lang="zh-CN" altLang="en-US" sz="2800" b="1" dirty="0">
                <a:solidFill>
                  <a:srgbClr val="A50021"/>
                </a:solidFill>
                <a:latin typeface="微软雅黑" panose="020B0503020204020204" pitchFamily="34" charset="-122"/>
                <a:ea typeface="微软雅黑" panose="020B0503020204020204" pitchFamily="34" charset="-122"/>
              </a:rPr>
              <a:t>黏性土郎</a:t>
            </a:r>
            <a:r>
              <a:rPr lang="zh-CN" altLang="en-US" sz="2800" b="1" dirty="0" smtClean="0">
                <a:solidFill>
                  <a:srgbClr val="A50021"/>
                </a:solidFill>
                <a:latin typeface="微软雅黑" panose="020B0503020204020204" pitchFamily="34" charset="-122"/>
                <a:ea typeface="微软雅黑" panose="020B0503020204020204" pitchFamily="34" charset="-122"/>
              </a:rPr>
              <a:t>肯被动土压力计算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130"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郎肯被动土压力</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4113828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wipe(left)">
                                      <p:cBhvr>
                                        <p:cTn id="15" dur="500"/>
                                        <p:tgtEl>
                                          <p:spTgt spid="9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6"/>
                                        </p:tgtEl>
                                        <p:attrNameLst>
                                          <p:attrName>style.visibility</p:attrName>
                                        </p:attrNameLst>
                                      </p:cBhvr>
                                      <p:to>
                                        <p:strVal val="visible"/>
                                      </p:to>
                                    </p:set>
                                    <p:animEffect transition="in" filter="wipe(left)">
                                      <p:cBhvr>
                                        <p:cTn id="24" dur="500"/>
                                        <p:tgtEl>
                                          <p:spTgt spid="96"/>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9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41</a:t>
            </a:fld>
            <a:endParaRPr lang="zh-CN" altLang="en-US" dirty="0">
              <a:solidFill>
                <a:srgbClr val="C00000"/>
              </a:solidFill>
            </a:endParaRPr>
          </a:p>
        </p:txBody>
      </p:sp>
      <p:sp>
        <p:nvSpPr>
          <p:cNvPr id="111" name="Text Box 57"/>
          <p:cNvSpPr txBox="1">
            <a:spLocks noChangeArrowheads="1"/>
          </p:cNvSpPr>
          <p:nvPr/>
        </p:nvSpPr>
        <p:spPr bwMode="auto">
          <a:xfrm>
            <a:off x="804147" y="1584537"/>
            <a:ext cx="2192581"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土单元应力状态：</a:t>
            </a:r>
            <a:endParaRPr lang="en-US" altLang="zh-CN" sz="2000" b="1" i="1" baseline="-25000" dirty="0">
              <a:solidFill>
                <a:srgbClr val="000066"/>
              </a:solidFill>
              <a:sym typeface="Symbol" pitchFamily="18" charset="2"/>
            </a:endParaRPr>
          </a:p>
        </p:txBody>
      </p:sp>
      <p:sp>
        <p:nvSpPr>
          <p:cNvPr id="113" name="Text Box 38"/>
          <p:cNvSpPr txBox="1">
            <a:spLocks noChangeArrowheads="1"/>
          </p:cNvSpPr>
          <p:nvPr/>
        </p:nvSpPr>
        <p:spPr bwMode="auto">
          <a:xfrm>
            <a:off x="1389934" y="3907180"/>
            <a:ext cx="4621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rPr>
              <a:t>p</a:t>
            </a:r>
            <a:r>
              <a:rPr lang="en-US" altLang="zh-CN" sz="2000" b="1" baseline="-25000" dirty="0" smtClean="0">
                <a:solidFill>
                  <a:srgbClr val="000066"/>
                </a:solidFill>
              </a:rPr>
              <a:t>p</a:t>
            </a:r>
            <a:r>
              <a:rPr lang="en-US" altLang="zh-CN" sz="2000" b="1" i="1" dirty="0" smtClean="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a:t>
            </a:r>
            <a:r>
              <a:rPr lang="en-US" altLang="zh-CN" sz="2000" b="1" i="1" dirty="0" smtClean="0">
                <a:solidFill>
                  <a:srgbClr val="000066"/>
                </a:solidFill>
                <a:latin typeface="Symbol" pitchFamily="18" charset="2"/>
              </a:rPr>
              <a:t>g </a:t>
            </a:r>
            <a:r>
              <a:rPr lang="en-US" altLang="zh-CN" sz="2000" b="1" dirty="0" smtClean="0">
                <a:solidFill>
                  <a:srgbClr val="000066"/>
                </a:solidFill>
              </a:rPr>
              <a:t>z</a:t>
            </a:r>
            <a:r>
              <a:rPr lang="en-US" altLang="zh-CN" sz="2000" b="1" i="1" dirty="0" smtClean="0">
                <a:solidFill>
                  <a:srgbClr val="000066"/>
                </a:solidFill>
              </a:rPr>
              <a:t> + </a:t>
            </a:r>
            <a:r>
              <a:rPr lang="en-US" altLang="zh-CN" sz="2000" b="1" dirty="0">
                <a:solidFill>
                  <a:srgbClr val="000066"/>
                </a:solidFill>
              </a:rPr>
              <a:t>2c</a:t>
            </a:r>
            <a:r>
              <a:rPr lang="en-US" altLang="zh-CN" sz="2000" b="1" dirty="0">
                <a:solidFill>
                  <a:srgbClr val="000066"/>
                </a:solidFill>
                <a:sym typeface="Symbol"/>
              </a:rPr>
              <a:t></a:t>
            </a:r>
            <a:r>
              <a:rPr lang="en-US" altLang="zh-CN" sz="2000" b="1" dirty="0">
                <a:solidFill>
                  <a:srgbClr val="000066"/>
                </a:solidFill>
              </a:rPr>
              <a:t> tan(45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 </a:t>
            </a:r>
            <a:endParaRPr lang="zh-CN" altLang="en-US" sz="2000" b="1" dirty="0">
              <a:solidFill>
                <a:srgbClr val="C00000"/>
              </a:solidFill>
              <a:ea typeface="幼圆" pitchFamily="49" charset="-122"/>
              <a:cs typeface="Times New Roman" panose="02020603050405020304" pitchFamily="18" charset="0"/>
            </a:endParaRPr>
          </a:p>
        </p:txBody>
      </p:sp>
      <p:sp>
        <p:nvSpPr>
          <p:cNvPr id="161" name="Text Box 57"/>
          <p:cNvSpPr txBox="1">
            <a:spLocks noChangeArrowheads="1"/>
          </p:cNvSpPr>
          <p:nvPr/>
        </p:nvSpPr>
        <p:spPr bwMode="auto">
          <a:xfrm>
            <a:off x="3114153" y="1553082"/>
            <a:ext cx="3418871" cy="85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3</a:t>
            </a:r>
            <a:r>
              <a:rPr lang="en-US" altLang="zh-CN" sz="2000" b="1" dirty="0" smtClean="0">
                <a:solidFill>
                  <a:srgbClr val="000066"/>
                </a:solidFill>
                <a:sym typeface="Symbol" pitchFamily="18" charset="2"/>
              </a:rPr>
              <a:t>= </a:t>
            </a:r>
            <a:r>
              <a:rPr lang="en-US" altLang="zh-CN" sz="2000" b="1" baseline="-25000" dirty="0" smtClean="0">
                <a:solidFill>
                  <a:srgbClr val="000066"/>
                </a:solidFill>
                <a:sym typeface="Symbol" pitchFamily="18" charset="2"/>
              </a:rPr>
              <a:t>v</a:t>
            </a:r>
            <a:r>
              <a:rPr lang="en-US" altLang="zh-CN" sz="2000" b="1" dirty="0" smtClean="0">
                <a:solidFill>
                  <a:srgbClr val="000066"/>
                </a:solidFill>
                <a:sym typeface="Symbol" pitchFamily="18" charset="2"/>
              </a:rPr>
              <a:t>=  z </a:t>
            </a:r>
          </a:p>
          <a:p>
            <a:pPr>
              <a:spcBef>
                <a:spcPts val="200"/>
              </a:spcBef>
              <a:spcAft>
                <a:spcPts val="200"/>
              </a:spcAft>
              <a:buClr>
                <a:srgbClr val="C00000"/>
              </a:buClr>
              <a:buSzPct val="130000"/>
            </a:pPr>
            <a:r>
              <a:rPr lang="en-US" altLang="zh-CN" sz="2000" b="1" dirty="0" smtClean="0">
                <a:solidFill>
                  <a:srgbClr val="000066"/>
                </a:solidFill>
                <a:sym typeface="Symbol" pitchFamily="18" charset="2"/>
              </a:rPr>
              <a:t></a:t>
            </a:r>
            <a:r>
              <a:rPr lang="en-US" altLang="zh-CN" sz="2000" b="1" baseline="-25000" dirty="0" smtClean="0">
                <a:solidFill>
                  <a:srgbClr val="000066"/>
                </a:solidFill>
                <a:sym typeface="Symbol" pitchFamily="18" charset="2"/>
              </a:rPr>
              <a:t>1</a:t>
            </a:r>
            <a:r>
              <a:rPr lang="en-US" altLang="zh-CN" sz="2000" b="1" dirty="0" smtClean="0">
                <a:solidFill>
                  <a:srgbClr val="000066"/>
                </a:solidFill>
                <a:sym typeface="Symbol" pitchFamily="18" charset="2"/>
              </a:rPr>
              <a:t>= </a:t>
            </a:r>
            <a:r>
              <a:rPr lang="en-US" altLang="zh-CN" sz="2000" b="1" baseline="-25000" dirty="0" smtClean="0">
                <a:solidFill>
                  <a:srgbClr val="000066"/>
                </a:solidFill>
                <a:sym typeface="Symbol" pitchFamily="18" charset="2"/>
              </a:rPr>
              <a:t>h</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p</a:t>
            </a:r>
            <a:r>
              <a:rPr lang="en-US" altLang="zh-CN" sz="2000" b="1" baseline="-25000" dirty="0" smtClean="0">
                <a:solidFill>
                  <a:srgbClr val="000066"/>
                </a:solidFill>
                <a:sym typeface="Symbol" pitchFamily="18" charset="2"/>
              </a:rPr>
              <a:t>p</a:t>
            </a:r>
            <a:endParaRPr lang="en-US" altLang="zh-CN" sz="2000" b="1" baseline="-25000" dirty="0">
              <a:solidFill>
                <a:srgbClr val="000066"/>
              </a:solidFill>
              <a:sym typeface="Symbol" pitchFamily="18" charset="2"/>
            </a:endParaRPr>
          </a:p>
        </p:txBody>
      </p:sp>
      <p:sp>
        <p:nvSpPr>
          <p:cNvPr id="162" name="Text Box 57"/>
          <p:cNvSpPr txBox="1">
            <a:spLocks noChangeArrowheads="1"/>
          </p:cNvSpPr>
          <p:nvPr/>
        </p:nvSpPr>
        <p:spPr bwMode="auto">
          <a:xfrm>
            <a:off x="804147" y="2424235"/>
            <a:ext cx="328612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黏性土极限</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平衡条件</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3" name="Text Box 57"/>
          <p:cNvSpPr txBox="1">
            <a:spLocks noChangeArrowheads="1"/>
          </p:cNvSpPr>
          <p:nvPr/>
        </p:nvSpPr>
        <p:spPr bwMode="auto">
          <a:xfrm>
            <a:off x="804147" y="3391715"/>
            <a:ext cx="233306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被动土压力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强度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164" name="Text Box 38"/>
          <p:cNvSpPr txBox="1">
            <a:spLocks noChangeArrowheads="1"/>
          </p:cNvSpPr>
          <p:nvPr/>
        </p:nvSpPr>
        <p:spPr bwMode="auto">
          <a:xfrm>
            <a:off x="1281294" y="2934045"/>
            <a:ext cx="4602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en-US" altLang="zh-CN" sz="2000" b="1" i="1" dirty="0" smtClean="0">
                <a:solidFill>
                  <a:srgbClr val="000066"/>
                </a:solidFill>
                <a:sym typeface="Symbol"/>
              </a:rPr>
              <a:t></a:t>
            </a:r>
            <a:r>
              <a:rPr lang="en-US" altLang="zh-CN" sz="2000" b="1" baseline="-25000" dirty="0" smtClean="0">
                <a:solidFill>
                  <a:srgbClr val="000066"/>
                </a:solidFill>
              </a:rPr>
              <a:t>1</a:t>
            </a:r>
            <a:r>
              <a:rPr lang="en-US" altLang="zh-CN" sz="2000" b="1" i="1" dirty="0" smtClean="0">
                <a:solidFill>
                  <a:srgbClr val="000066"/>
                </a:solidFill>
              </a:rPr>
              <a:t>= </a:t>
            </a:r>
            <a:r>
              <a:rPr lang="en-US" altLang="zh-CN" sz="2000" b="1" i="1" dirty="0" smtClean="0">
                <a:solidFill>
                  <a:srgbClr val="000066"/>
                </a:solidFill>
                <a:sym typeface="Symbol"/>
              </a:rPr>
              <a:t></a:t>
            </a:r>
            <a:r>
              <a:rPr lang="en-US" altLang="zh-CN" sz="2000" b="1" baseline="-25000" dirty="0" smtClean="0">
                <a:solidFill>
                  <a:srgbClr val="000066"/>
                </a:solidFill>
              </a:rPr>
              <a:t>3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 + 2c</a:t>
            </a:r>
            <a:r>
              <a:rPr lang="en-US" altLang="zh-CN" sz="2000" b="1" dirty="0" smtClean="0">
                <a:solidFill>
                  <a:srgbClr val="000066"/>
                </a:solidFill>
                <a:sym typeface="Symbol"/>
              </a:rPr>
              <a:t></a:t>
            </a:r>
            <a:r>
              <a:rPr lang="en-US" altLang="zh-CN" sz="2000" b="1" dirty="0">
                <a:solidFill>
                  <a:srgbClr val="000066"/>
                </a:solidFill>
              </a:rPr>
              <a:t> </a:t>
            </a:r>
            <a:r>
              <a:rPr lang="en-US" altLang="zh-CN" sz="2000" b="1" dirty="0" smtClean="0">
                <a:solidFill>
                  <a:srgbClr val="000066"/>
                </a:solidFill>
              </a:rPr>
              <a:t>tan(45</a:t>
            </a:r>
            <a:r>
              <a:rPr lang="en-US" altLang="zh-CN" sz="2000" b="1" dirty="0" smtClean="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a:solidFill>
                  <a:srgbClr val="000066"/>
                </a:solidFill>
                <a:latin typeface="Symbol" pitchFamily="18" charset="2"/>
                <a:sym typeface="Symbol" pitchFamily="18" charset="2"/>
              </a:rPr>
              <a:t>  </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a:solidFill>
                  <a:srgbClr val="000066"/>
                </a:solidFill>
              </a:rPr>
              <a:t>) </a:t>
            </a:r>
            <a:endParaRPr lang="zh-CN" altLang="en-US" sz="2000" b="1" dirty="0">
              <a:solidFill>
                <a:srgbClr val="000066"/>
              </a:solidFill>
              <a:ea typeface="幼圆" pitchFamily="49" charset="-122"/>
              <a:cs typeface="Times New Roman" panose="02020603050405020304" pitchFamily="18" charset="0"/>
            </a:endParaRPr>
          </a:p>
        </p:txBody>
      </p:sp>
      <p:sp>
        <p:nvSpPr>
          <p:cNvPr id="43" name="AutoShape 5"/>
          <p:cNvSpPr>
            <a:spLocks noChangeArrowheads="1"/>
          </p:cNvSpPr>
          <p:nvPr/>
        </p:nvSpPr>
        <p:spPr bwMode="auto">
          <a:xfrm>
            <a:off x="1379321" y="4577890"/>
            <a:ext cx="418742" cy="333090"/>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44" name="任意多边形 43"/>
          <p:cNvSpPr/>
          <p:nvPr/>
        </p:nvSpPr>
        <p:spPr bwMode="auto">
          <a:xfrm>
            <a:off x="6963470" y="1506008"/>
            <a:ext cx="1691934" cy="2269060"/>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5" name="任意多边形 44"/>
          <p:cNvSpPr/>
          <p:nvPr/>
        </p:nvSpPr>
        <p:spPr bwMode="auto">
          <a:xfrm>
            <a:off x="6007655" y="1499501"/>
            <a:ext cx="947319" cy="226906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0" name="直接连接符 59"/>
          <p:cNvCxnSpPr/>
          <p:nvPr/>
        </p:nvCxnSpPr>
        <p:spPr bwMode="auto">
          <a:xfrm>
            <a:off x="5622485" y="3767423"/>
            <a:ext cx="3087239"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14"/>
          <p:cNvSpPr txBox="1">
            <a:spLocks noChangeArrowheads="1"/>
          </p:cNvSpPr>
          <p:nvPr/>
        </p:nvSpPr>
        <p:spPr bwMode="auto">
          <a:xfrm>
            <a:off x="7360272" y="2102880"/>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63" name="Rectangle 9"/>
          <p:cNvSpPr>
            <a:spLocks noChangeArrowheads="1"/>
          </p:cNvSpPr>
          <p:nvPr/>
        </p:nvSpPr>
        <p:spPr bwMode="auto">
          <a:xfrm>
            <a:off x="6946876" y="2357175"/>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64" name="Line 10"/>
          <p:cNvSpPr>
            <a:spLocks noChangeShapeType="1"/>
          </p:cNvSpPr>
          <p:nvPr/>
        </p:nvSpPr>
        <p:spPr bwMode="auto">
          <a:xfrm>
            <a:off x="6447224" y="2477493"/>
            <a:ext cx="49965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12"/>
          <p:cNvSpPr>
            <a:spLocks noChangeShapeType="1"/>
          </p:cNvSpPr>
          <p:nvPr/>
        </p:nvSpPr>
        <p:spPr bwMode="auto">
          <a:xfrm rot="16200000">
            <a:off x="6917144" y="2795565"/>
            <a:ext cx="34649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Text Box 14"/>
          <p:cNvSpPr txBox="1">
            <a:spLocks noChangeArrowheads="1"/>
          </p:cNvSpPr>
          <p:nvPr/>
        </p:nvSpPr>
        <p:spPr bwMode="auto">
          <a:xfrm>
            <a:off x="7121241" y="1726963"/>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67" name="Line 13"/>
          <p:cNvSpPr>
            <a:spLocks noChangeShapeType="1"/>
          </p:cNvSpPr>
          <p:nvPr/>
        </p:nvSpPr>
        <p:spPr bwMode="auto">
          <a:xfrm rot="5400000">
            <a:off x="6942166" y="2195854"/>
            <a:ext cx="29644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10"/>
          <p:cNvSpPr>
            <a:spLocks noChangeShapeType="1"/>
          </p:cNvSpPr>
          <p:nvPr/>
        </p:nvSpPr>
        <p:spPr bwMode="auto">
          <a:xfrm rot="10800000">
            <a:off x="7216271" y="2493084"/>
            <a:ext cx="55086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70" name="直接连接符 69"/>
          <p:cNvCxnSpPr/>
          <p:nvPr/>
        </p:nvCxnSpPr>
        <p:spPr bwMode="auto">
          <a:xfrm>
            <a:off x="6898355" y="1497012"/>
            <a:ext cx="1733135" cy="52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Line 18"/>
          <p:cNvSpPr>
            <a:spLocks noChangeShapeType="1"/>
          </p:cNvSpPr>
          <p:nvPr/>
        </p:nvSpPr>
        <p:spPr bwMode="auto">
          <a:xfrm flipH="1">
            <a:off x="7832908" y="2502010"/>
            <a:ext cx="6199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9"/>
          <p:cNvSpPr>
            <a:spLocks noChangeShapeType="1"/>
          </p:cNvSpPr>
          <p:nvPr/>
        </p:nvSpPr>
        <p:spPr bwMode="auto">
          <a:xfrm>
            <a:off x="8142885" y="1504089"/>
            <a:ext cx="0" cy="99135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 Box 20"/>
          <p:cNvSpPr txBox="1">
            <a:spLocks noChangeArrowheads="1"/>
          </p:cNvSpPr>
          <p:nvPr/>
        </p:nvSpPr>
        <p:spPr bwMode="auto">
          <a:xfrm>
            <a:off x="8206028" y="1733554"/>
            <a:ext cx="309978" cy="4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graphicFrame>
        <p:nvGraphicFramePr>
          <p:cNvPr id="32" name="Object 45"/>
          <p:cNvGraphicFramePr>
            <a:graphicFrameLocks noChangeAspect="1"/>
          </p:cNvGraphicFramePr>
          <p:nvPr>
            <p:extLst>
              <p:ext uri="{D42A27DB-BD31-4B8C-83A1-F6EECF244321}">
                <p14:modId xmlns:p14="http://schemas.microsoft.com/office/powerpoint/2010/main" val="1271410630"/>
              </p:ext>
            </p:extLst>
          </p:nvPr>
        </p:nvGraphicFramePr>
        <p:xfrm>
          <a:off x="2043113" y="4479925"/>
          <a:ext cx="2446337" cy="520700"/>
        </p:xfrm>
        <a:graphic>
          <a:graphicData uri="http://schemas.openxmlformats.org/presentationml/2006/ole">
            <mc:AlternateContent xmlns:mc="http://schemas.openxmlformats.org/markup-compatibility/2006">
              <mc:Choice xmlns:v="urn:schemas-microsoft-com:vml" Requires="v">
                <p:oleObj spid="_x0000_s1674643" name="Equation" r:id="rId4" imgW="1295280" imgH="279360" progId="Equation.DSMT4">
                  <p:embed/>
                </p:oleObj>
              </mc:Choice>
              <mc:Fallback>
                <p:oleObj name="Equation" r:id="rId4" imgW="1295280" imgH="279360" progId="Equation.DSMT4">
                  <p:embed/>
                  <p:pic>
                    <p:nvPicPr>
                      <p:cNvPr id="683053" name="Object 45"/>
                      <p:cNvPicPr>
                        <a:picLocks noChangeAspect="1" noChangeArrowheads="1"/>
                      </p:cNvPicPr>
                      <p:nvPr/>
                    </p:nvPicPr>
                    <p:blipFill>
                      <a:blip r:embed="rId5"/>
                      <a:srcRect/>
                      <a:stretch>
                        <a:fillRect/>
                      </a:stretch>
                    </p:blipFill>
                    <p:spPr bwMode="auto">
                      <a:xfrm>
                        <a:off x="2043113" y="4479925"/>
                        <a:ext cx="2446337" cy="520700"/>
                      </a:xfrm>
                      <a:prstGeom prst="rect">
                        <a:avLst/>
                      </a:prstGeom>
                      <a:noFill/>
                      <a:ln>
                        <a:noFill/>
                      </a:ln>
                      <a:effectLst/>
                      <a:extLst/>
                    </p:spPr>
                  </p:pic>
                </p:oleObj>
              </mc:Fallback>
            </mc:AlternateContent>
          </a:graphicData>
        </a:graphic>
      </p:graphicFrame>
      <p:sp>
        <p:nvSpPr>
          <p:cNvPr id="33"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郎肯被动土压力</a:t>
            </a:r>
            <a:r>
              <a:rPr kumimoji="1" lang="zh-CN" altLang="en-US" sz="4000" b="1" dirty="0" smtClean="0">
                <a:solidFill>
                  <a:srgbClr val="000066"/>
                </a:solidFill>
                <a:latin typeface="黑体" pitchFamily="2" charset="-122"/>
                <a:ea typeface="黑体" pitchFamily="2" charset="-122"/>
              </a:rPr>
              <a:t>计算</a:t>
            </a:r>
            <a:endParaRPr kumimoji="1" lang="zh-CN" altLang="en-US" sz="4000" b="1" dirty="0">
              <a:solidFill>
                <a:srgbClr val="000066"/>
              </a:solidFill>
              <a:latin typeface="黑体" pitchFamily="2" charset="-122"/>
              <a:ea typeface="黑体" pitchFamily="2" charset="-122"/>
            </a:endParaRPr>
          </a:p>
        </p:txBody>
      </p:sp>
      <p:sp>
        <p:nvSpPr>
          <p:cNvPr id="34" name="Text Box 46"/>
          <p:cNvSpPr txBox="1">
            <a:spLocks noChangeArrowheads="1"/>
          </p:cNvSpPr>
          <p:nvPr/>
        </p:nvSpPr>
        <p:spPr bwMode="auto">
          <a:xfrm>
            <a:off x="363383" y="764183"/>
            <a:ext cx="5354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a:t>
            </a:r>
            <a:r>
              <a:rPr lang="zh-CN" altLang="en-US" sz="2800" b="1" dirty="0">
                <a:solidFill>
                  <a:srgbClr val="A50021"/>
                </a:solidFill>
                <a:latin typeface="微软雅黑" panose="020B0503020204020204" pitchFamily="34" charset="-122"/>
                <a:ea typeface="微软雅黑" panose="020B0503020204020204" pitchFamily="34" charset="-122"/>
              </a:rPr>
              <a:t>土郎</a:t>
            </a:r>
            <a:r>
              <a:rPr lang="zh-CN" altLang="en-US" sz="2800" b="1" dirty="0" smtClean="0">
                <a:solidFill>
                  <a:srgbClr val="A50021"/>
                </a:solidFill>
                <a:latin typeface="微软雅黑" panose="020B0503020204020204" pitchFamily="34" charset="-122"/>
                <a:ea typeface="微软雅黑" panose="020B0503020204020204" pitchFamily="34" charset="-122"/>
              </a:rPr>
              <a:t>肯被动土压力计算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35"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a:t>
            </a:r>
            <a:r>
              <a:rPr lang="zh-CN" altLang="en-US" sz="1800" b="1" kern="900" spc="130" dirty="0">
                <a:solidFill>
                  <a:srgbClr val="000066"/>
                </a:solidFill>
                <a:ea typeface="黑体" panose="02010609060101010101" pitchFamily="49" charset="-122"/>
                <a:cs typeface="Times New Roman" panose="02020603050405020304" pitchFamily="18" charset="0"/>
              </a:rPr>
              <a:t>肯被动土压力</a:t>
            </a:r>
          </a:p>
        </p:txBody>
      </p:sp>
      <p:sp>
        <p:nvSpPr>
          <p:cNvPr id="29" name="AutoShape 118"/>
          <p:cNvSpPr>
            <a:spLocks noChangeArrowheads="1"/>
          </p:cNvSpPr>
          <p:nvPr/>
        </p:nvSpPr>
        <p:spPr bwMode="auto">
          <a:xfrm flipH="1">
            <a:off x="5777388" y="2067923"/>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Tree>
    <p:extLst>
      <p:ext uri="{BB962C8B-B14F-4D97-AF65-F5344CB8AC3E}">
        <p14:creationId xmlns:p14="http://schemas.microsoft.com/office/powerpoint/2010/main" val="263891637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300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62"/>
                                        </p:tgtEl>
                                        <p:attrNameLst>
                                          <p:attrName>style.visibility</p:attrName>
                                        </p:attrNameLst>
                                      </p:cBhvr>
                                      <p:to>
                                        <p:strVal val="visible"/>
                                      </p:to>
                                    </p:set>
                                    <p:animEffect transition="in" filter="wipe(left)">
                                      <p:cBhvr>
                                        <p:cTn id="11" dur="500"/>
                                        <p:tgtEl>
                                          <p:spTgt spid="16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64"/>
                                        </p:tgtEl>
                                        <p:attrNameLst>
                                          <p:attrName>style.visibility</p:attrName>
                                        </p:attrNameLst>
                                      </p:cBhvr>
                                      <p:to>
                                        <p:strVal val="visible"/>
                                      </p:to>
                                    </p:set>
                                    <p:animEffect transition="in" filter="wipe(left)">
                                      <p:cBhvr>
                                        <p:cTn id="14" dur="500"/>
                                        <p:tgtEl>
                                          <p:spTgt spid="16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wipe(left)">
                                      <p:cBhvr>
                                        <p:cTn id="17" dur="500"/>
                                        <p:tgtEl>
                                          <p:spTgt spid="16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wipe(left)">
                                      <p:cBhvr>
                                        <p:cTn id="20" dur="500"/>
                                        <p:tgtEl>
                                          <p:spTgt spid="1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wipe(left)">
                                      <p:cBhvr>
                                        <p:cTn id="25" dur="1000"/>
                                        <p:tgtEl>
                                          <p:spTgt spid="43"/>
                                        </p:tgtEl>
                                      </p:cBhvr>
                                    </p:animEffect>
                                  </p:childTnLst>
                                </p:cTn>
                              </p:par>
                            </p:childTnLst>
                          </p:cTn>
                        </p:par>
                        <p:par>
                          <p:cTn id="26" fill="hold">
                            <p:stCondLst>
                              <p:cond delay="1000"/>
                            </p:stCondLst>
                            <p:childTnLst>
                              <p:par>
                                <p:cTn id="27" presetID="31" presetClass="entr" presetSubtype="0"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p:cTn id="29" dur="1000" fill="hold"/>
                                        <p:tgtEl>
                                          <p:spTgt spid="32"/>
                                        </p:tgtEl>
                                        <p:attrNameLst>
                                          <p:attrName>ppt_w</p:attrName>
                                        </p:attrNameLst>
                                      </p:cBhvr>
                                      <p:tavLst>
                                        <p:tav tm="0">
                                          <p:val>
                                            <p:fltVal val="0"/>
                                          </p:val>
                                        </p:tav>
                                        <p:tav tm="100000">
                                          <p:val>
                                            <p:strVal val="#ppt_w"/>
                                          </p:val>
                                        </p:tav>
                                      </p:tavLst>
                                    </p:anim>
                                    <p:anim calcmode="lin" valueType="num">
                                      <p:cBhvr>
                                        <p:cTn id="30" dur="1000" fill="hold"/>
                                        <p:tgtEl>
                                          <p:spTgt spid="32"/>
                                        </p:tgtEl>
                                        <p:attrNameLst>
                                          <p:attrName>ppt_h</p:attrName>
                                        </p:attrNameLst>
                                      </p:cBhvr>
                                      <p:tavLst>
                                        <p:tav tm="0">
                                          <p:val>
                                            <p:fltVal val="0"/>
                                          </p:val>
                                        </p:tav>
                                        <p:tav tm="100000">
                                          <p:val>
                                            <p:strVal val="#ppt_h"/>
                                          </p:val>
                                        </p:tav>
                                      </p:tavLst>
                                    </p:anim>
                                    <p:anim calcmode="lin" valueType="num">
                                      <p:cBhvr>
                                        <p:cTn id="31" dur="1000" fill="hold"/>
                                        <p:tgtEl>
                                          <p:spTgt spid="32"/>
                                        </p:tgtEl>
                                        <p:attrNameLst>
                                          <p:attrName>style.rotation</p:attrName>
                                        </p:attrNameLst>
                                      </p:cBhvr>
                                      <p:tavLst>
                                        <p:tav tm="0">
                                          <p:val>
                                            <p:fltVal val="90"/>
                                          </p:val>
                                        </p:tav>
                                        <p:tav tm="100000">
                                          <p:val>
                                            <p:fltVal val="0"/>
                                          </p:val>
                                        </p:tav>
                                      </p:tavLst>
                                    </p:anim>
                                    <p:animEffect transition="in" filter="fade">
                                      <p:cBhvr>
                                        <p:cTn id="32"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62" grpId="0"/>
      <p:bldP spid="163" grpId="0"/>
      <p:bldP spid="164" grpId="0"/>
      <p:bldP spid="43" grpId="0" animBg="1"/>
      <p:bldP spid="2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702726" y="742048"/>
            <a:ext cx="2137605" cy="2450415"/>
            <a:chOff x="5702726" y="742048"/>
            <a:chExt cx="2137605" cy="2450415"/>
          </a:xfrm>
        </p:grpSpPr>
        <p:sp>
          <p:nvSpPr>
            <p:cNvPr id="66" name="任意多边形 65"/>
            <p:cNvSpPr/>
            <p:nvPr/>
          </p:nvSpPr>
          <p:spPr bwMode="auto">
            <a:xfrm>
              <a:off x="6319697" y="761463"/>
              <a:ext cx="1416581" cy="1809452"/>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 name="connsiteX0" fmla="*/ 0 w 855260"/>
                <a:gd name="connsiteY0" fmla="*/ 3972 h 1805476"/>
                <a:gd name="connsiteX1" fmla="*/ 0 w 855260"/>
                <a:gd name="connsiteY1" fmla="*/ 1805476 h 1805476"/>
                <a:gd name="connsiteX2" fmla="*/ 855260 w 855260"/>
                <a:gd name="connsiteY2" fmla="*/ 1805476 h 1805476"/>
                <a:gd name="connsiteX3" fmla="*/ 247013 w 855260"/>
                <a:gd name="connsiteY3" fmla="*/ 0 h 1805476"/>
                <a:gd name="connsiteX4" fmla="*/ 0 w 855260"/>
                <a:gd name="connsiteY4" fmla="*/ 3972 h 1805476"/>
                <a:gd name="connsiteX0" fmla="*/ 0 w 855260"/>
                <a:gd name="connsiteY0" fmla="*/ 3972 h 1805476"/>
                <a:gd name="connsiteX1" fmla="*/ 0 w 855260"/>
                <a:gd name="connsiteY1" fmla="*/ 1805476 h 1805476"/>
                <a:gd name="connsiteX2" fmla="*/ 855260 w 855260"/>
                <a:gd name="connsiteY2" fmla="*/ 1805476 h 1805476"/>
                <a:gd name="connsiteX3" fmla="*/ 247013 w 855260"/>
                <a:gd name="connsiteY3" fmla="*/ 0 h 1805476"/>
                <a:gd name="connsiteX4" fmla="*/ 0 w 855260"/>
                <a:gd name="connsiteY4" fmla="*/ 3972 h 1805476"/>
                <a:gd name="connsiteX0" fmla="*/ 0 w 1098902"/>
                <a:gd name="connsiteY0" fmla="*/ 3972 h 1809452"/>
                <a:gd name="connsiteX1" fmla="*/ 0 w 1098902"/>
                <a:gd name="connsiteY1" fmla="*/ 1805476 h 1809452"/>
                <a:gd name="connsiteX2" fmla="*/ 1098902 w 1098902"/>
                <a:gd name="connsiteY2" fmla="*/ 1809452 h 1809452"/>
                <a:gd name="connsiteX3" fmla="*/ 247013 w 1098902"/>
                <a:gd name="connsiteY3" fmla="*/ 0 h 1809452"/>
                <a:gd name="connsiteX4" fmla="*/ 0 w 1098902"/>
                <a:gd name="connsiteY4" fmla="*/ 3972 h 180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902" h="1809452">
                  <a:moveTo>
                    <a:pt x="0" y="3972"/>
                  </a:moveTo>
                  <a:lnTo>
                    <a:pt x="0" y="1805476"/>
                  </a:lnTo>
                  <a:lnTo>
                    <a:pt x="1098902" y="1809452"/>
                  </a:lnTo>
                  <a:lnTo>
                    <a:pt x="247013" y="0"/>
                  </a:lnTo>
                  <a:lnTo>
                    <a:pt x="0" y="3972"/>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40" name="直接连接符 139"/>
            <p:cNvCxnSpPr/>
            <p:nvPr/>
          </p:nvCxnSpPr>
          <p:spPr bwMode="auto">
            <a:xfrm>
              <a:off x="6315238" y="758612"/>
              <a:ext cx="318904" cy="2851"/>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p:cNvCxnSpPr/>
            <p:nvPr/>
          </p:nvCxnSpPr>
          <p:spPr bwMode="auto">
            <a:xfrm flipV="1">
              <a:off x="5702726" y="2567997"/>
              <a:ext cx="2137605" cy="267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Line 89"/>
            <p:cNvSpPr>
              <a:spLocks noChangeAspect="1" noChangeShapeType="1"/>
            </p:cNvSpPr>
            <p:nvPr/>
          </p:nvSpPr>
          <p:spPr bwMode="auto">
            <a:xfrm rot="5400000">
              <a:off x="4987199" y="1656359"/>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73" name="直接箭头连接符 72"/>
            <p:cNvCxnSpPr/>
            <p:nvPr/>
          </p:nvCxnSpPr>
          <p:spPr bwMode="auto">
            <a:xfrm flipH="1">
              <a:off x="6320062" y="2341637"/>
              <a:ext cx="126338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p:nvPr/>
          </p:nvCxnSpPr>
          <p:spPr bwMode="auto">
            <a:xfrm flipH="1">
              <a:off x="6312110" y="2111071"/>
              <a:ext cx="1150570"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箭头连接符 76"/>
            <p:cNvCxnSpPr/>
            <p:nvPr/>
          </p:nvCxnSpPr>
          <p:spPr bwMode="auto">
            <a:xfrm flipH="1">
              <a:off x="6316086" y="1888458"/>
              <a:ext cx="1012673"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箭头连接符 77"/>
            <p:cNvCxnSpPr/>
            <p:nvPr/>
          </p:nvCxnSpPr>
          <p:spPr bwMode="auto">
            <a:xfrm flipH="1">
              <a:off x="6316085" y="1651149"/>
              <a:ext cx="876657"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箭头连接符 78"/>
            <p:cNvCxnSpPr/>
            <p:nvPr/>
          </p:nvCxnSpPr>
          <p:spPr bwMode="auto">
            <a:xfrm flipH="1">
              <a:off x="6316088" y="1428535"/>
              <a:ext cx="718869"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箭头连接符 85"/>
            <p:cNvCxnSpPr/>
            <p:nvPr/>
          </p:nvCxnSpPr>
          <p:spPr bwMode="auto">
            <a:xfrm flipH="1">
              <a:off x="6316085" y="1203154"/>
              <a:ext cx="575286"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86"/>
            <p:cNvCxnSpPr/>
            <p:nvPr/>
          </p:nvCxnSpPr>
          <p:spPr bwMode="auto">
            <a:xfrm flipH="1">
              <a:off x="6318268" y="984516"/>
              <a:ext cx="453260"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p:nvPr/>
          </p:nvCxnSpPr>
          <p:spPr bwMode="auto">
            <a:xfrm>
              <a:off x="6631327" y="751604"/>
              <a:ext cx="1104810" cy="181805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Line 89"/>
            <p:cNvSpPr>
              <a:spLocks noChangeAspect="1" noChangeShapeType="1"/>
            </p:cNvSpPr>
            <p:nvPr/>
          </p:nvSpPr>
          <p:spPr bwMode="auto">
            <a:xfrm flipH="1">
              <a:off x="6289835" y="2706189"/>
              <a:ext cx="349443"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93" name="直接连接符 92"/>
            <p:cNvCxnSpPr/>
            <p:nvPr/>
          </p:nvCxnSpPr>
          <p:spPr bwMode="auto">
            <a:xfrm flipH="1">
              <a:off x="7732161" y="2616664"/>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flipH="1">
              <a:off x="6292364" y="2606851"/>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108"/>
            <p:cNvCxnSpPr/>
            <p:nvPr/>
          </p:nvCxnSpPr>
          <p:spPr bwMode="auto">
            <a:xfrm flipH="1">
              <a:off x="5751649" y="744729"/>
              <a:ext cx="34608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Text Box 57"/>
            <p:cNvSpPr txBox="1">
              <a:spLocks noChangeArrowheads="1"/>
            </p:cNvSpPr>
            <p:nvPr/>
          </p:nvSpPr>
          <p:spPr bwMode="auto">
            <a:xfrm>
              <a:off x="5883722" y="1547067"/>
              <a:ext cx="42689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cxnSp>
          <p:nvCxnSpPr>
            <p:cNvPr id="127" name="直接连接符 126"/>
            <p:cNvCxnSpPr/>
            <p:nvPr/>
          </p:nvCxnSpPr>
          <p:spPr bwMode="auto">
            <a:xfrm flipV="1">
              <a:off x="6319697" y="758611"/>
              <a:ext cx="0" cy="18054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直接连接符 3"/>
            <p:cNvCxnSpPr/>
            <p:nvPr/>
          </p:nvCxnSpPr>
          <p:spPr bwMode="auto">
            <a:xfrm>
              <a:off x="6631327" y="753976"/>
              <a:ext cx="0" cy="1806069"/>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箭头连接符 140"/>
            <p:cNvCxnSpPr/>
            <p:nvPr/>
          </p:nvCxnSpPr>
          <p:spPr bwMode="auto">
            <a:xfrm flipH="1">
              <a:off x="6328450" y="2562124"/>
              <a:ext cx="1399735" cy="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接连接符 141"/>
            <p:cNvCxnSpPr/>
            <p:nvPr/>
          </p:nvCxnSpPr>
          <p:spPr bwMode="auto">
            <a:xfrm flipH="1">
              <a:off x="6624217" y="2606851"/>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3" name="Object 110"/>
            <p:cNvGraphicFramePr>
              <a:graphicFrameLocks noChangeAspect="1"/>
            </p:cNvGraphicFramePr>
            <p:nvPr>
              <p:extLst>
                <p:ext uri="{D42A27DB-BD31-4B8C-83A1-F6EECF244321}">
                  <p14:modId xmlns:p14="http://schemas.microsoft.com/office/powerpoint/2010/main" val="857148269"/>
                </p:ext>
              </p:extLst>
            </p:nvPr>
          </p:nvGraphicFramePr>
          <p:xfrm>
            <a:off x="6926263" y="2809875"/>
            <a:ext cx="646112" cy="352425"/>
          </p:xfrm>
          <a:graphic>
            <a:graphicData uri="http://schemas.openxmlformats.org/presentationml/2006/ole">
              <mc:AlternateContent xmlns:mc="http://schemas.openxmlformats.org/markup-compatibility/2006">
                <mc:Choice xmlns:v="urn:schemas-microsoft-com:vml" Requires="v">
                  <p:oleObj spid="_x0000_s1748185" name="Equation" r:id="rId4" imgW="419040" imgH="228600" progId="Equation.DSMT4">
                    <p:embed/>
                  </p:oleObj>
                </mc:Choice>
                <mc:Fallback>
                  <p:oleObj name="Equation" r:id="rId4" imgW="419040" imgH="228600" progId="Equation.DSMT4">
                    <p:embed/>
                    <p:pic>
                      <p:nvPicPr>
                        <p:cNvPr id="683118" name="Object 110"/>
                        <p:cNvPicPr>
                          <a:picLocks noChangeAspect="1" noChangeArrowheads="1"/>
                        </p:cNvPicPr>
                        <p:nvPr/>
                      </p:nvPicPr>
                      <p:blipFill>
                        <a:blip r:embed="rId5"/>
                        <a:srcRect/>
                        <a:stretch>
                          <a:fillRect/>
                        </a:stretch>
                      </p:blipFill>
                      <p:spPr bwMode="auto">
                        <a:xfrm>
                          <a:off x="6926263" y="2809875"/>
                          <a:ext cx="646112" cy="352425"/>
                        </a:xfrm>
                        <a:prstGeom prst="rect">
                          <a:avLst/>
                        </a:prstGeom>
                        <a:noFill/>
                        <a:ln>
                          <a:noFill/>
                        </a:ln>
                        <a:effectLst/>
                        <a:extLst/>
                      </p:spPr>
                    </p:pic>
                  </p:oleObj>
                </mc:Fallback>
              </mc:AlternateContent>
            </a:graphicData>
          </a:graphic>
        </p:graphicFrame>
        <p:graphicFrame>
          <p:nvGraphicFramePr>
            <p:cNvPr id="144" name="Object 111"/>
            <p:cNvGraphicFramePr>
              <a:graphicFrameLocks noChangeAspect="1"/>
            </p:cNvGraphicFramePr>
            <p:nvPr>
              <p:extLst>
                <p:ext uri="{D42A27DB-BD31-4B8C-83A1-F6EECF244321}">
                  <p14:modId xmlns:p14="http://schemas.microsoft.com/office/powerpoint/2010/main" val="1890685422"/>
                </p:ext>
              </p:extLst>
            </p:nvPr>
          </p:nvGraphicFramePr>
          <p:xfrm>
            <a:off x="6142038" y="2814638"/>
            <a:ext cx="669925" cy="377825"/>
          </p:xfrm>
          <a:graphic>
            <a:graphicData uri="http://schemas.openxmlformats.org/presentationml/2006/ole">
              <mc:AlternateContent xmlns:mc="http://schemas.openxmlformats.org/markup-compatibility/2006">
                <mc:Choice xmlns:v="urn:schemas-microsoft-com:vml" Requires="v">
                  <p:oleObj spid="_x0000_s1748186" name="Equation" r:id="rId6" imgW="469800" imgH="266400" progId="Equation.DSMT4">
                    <p:embed/>
                  </p:oleObj>
                </mc:Choice>
                <mc:Fallback>
                  <p:oleObj name="Equation" r:id="rId6" imgW="469800" imgH="266400" progId="Equation.DSMT4">
                    <p:embed/>
                    <p:pic>
                      <p:nvPicPr>
                        <p:cNvPr id="683119" name="Object 111"/>
                        <p:cNvPicPr>
                          <a:picLocks noChangeAspect="1" noChangeArrowheads="1"/>
                        </p:cNvPicPr>
                        <p:nvPr/>
                      </p:nvPicPr>
                      <p:blipFill>
                        <a:blip r:embed="rId7"/>
                        <a:srcRect/>
                        <a:stretch>
                          <a:fillRect/>
                        </a:stretch>
                      </p:blipFill>
                      <p:spPr bwMode="auto">
                        <a:xfrm>
                          <a:off x="6142038" y="2814638"/>
                          <a:ext cx="669925" cy="377825"/>
                        </a:xfrm>
                        <a:prstGeom prst="rect">
                          <a:avLst/>
                        </a:prstGeom>
                        <a:noFill/>
                        <a:ln>
                          <a:noFill/>
                        </a:ln>
                        <a:effectLst/>
                        <a:extLst/>
                      </p:spPr>
                    </p:pic>
                  </p:oleObj>
                </mc:Fallback>
              </mc:AlternateContent>
            </a:graphicData>
          </a:graphic>
        </p:graphicFrame>
        <p:sp>
          <p:nvSpPr>
            <p:cNvPr id="145" name="Line 89"/>
            <p:cNvSpPr>
              <a:spLocks noChangeAspect="1" noChangeShapeType="1"/>
            </p:cNvSpPr>
            <p:nvPr/>
          </p:nvSpPr>
          <p:spPr bwMode="auto">
            <a:xfrm flipH="1">
              <a:off x="6629523" y="2706189"/>
              <a:ext cx="110263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42</a:t>
            </a:fld>
            <a:endParaRPr lang="zh-CN" altLang="en-US" dirty="0">
              <a:solidFill>
                <a:srgbClr val="C00000"/>
              </a:solidFill>
            </a:endParaRPr>
          </a:p>
        </p:txBody>
      </p:sp>
      <p:sp>
        <p:nvSpPr>
          <p:cNvPr id="61" name="Text Box 2"/>
          <p:cNvSpPr txBox="1">
            <a:spLocks noChangeArrowheads="1"/>
          </p:cNvSpPr>
          <p:nvPr/>
        </p:nvSpPr>
        <p:spPr bwMode="auto">
          <a:xfrm>
            <a:off x="2620073"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郎肯被动土压力</a:t>
            </a:r>
            <a:r>
              <a:rPr kumimoji="1" lang="zh-CN" altLang="en-US" sz="4000" b="1" dirty="0" smtClean="0">
                <a:solidFill>
                  <a:srgbClr val="000066"/>
                </a:solidFill>
                <a:latin typeface="黑体" pitchFamily="2" charset="-122"/>
                <a:ea typeface="黑体" pitchFamily="2" charset="-122"/>
              </a:rPr>
              <a:t>计算</a:t>
            </a:r>
            <a:endParaRPr kumimoji="1" lang="zh-CN" altLang="en-US" sz="4000" b="1" dirty="0">
              <a:solidFill>
                <a:srgbClr val="000066"/>
              </a:solidFill>
              <a:latin typeface="黑体" pitchFamily="2" charset="-122"/>
              <a:ea typeface="黑体" pitchFamily="2" charset="-122"/>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郎</a:t>
            </a:r>
            <a:r>
              <a:rPr lang="zh-CN" altLang="en-US" sz="1800" b="1" kern="900" spc="130" dirty="0">
                <a:solidFill>
                  <a:srgbClr val="000066"/>
                </a:solidFill>
                <a:ea typeface="黑体" panose="02010609060101010101" pitchFamily="49" charset="-122"/>
                <a:cs typeface="Times New Roman" panose="02020603050405020304" pitchFamily="18" charset="0"/>
              </a:rPr>
              <a:t>肯被动土压力</a:t>
            </a:r>
          </a:p>
        </p:txBody>
      </p:sp>
      <p:sp>
        <p:nvSpPr>
          <p:cNvPr id="91" name="Text Box 57"/>
          <p:cNvSpPr txBox="1">
            <a:spLocks noChangeArrowheads="1"/>
          </p:cNvSpPr>
          <p:nvPr/>
        </p:nvSpPr>
        <p:spPr bwMode="auto">
          <a:xfrm>
            <a:off x="764390" y="1528394"/>
            <a:ext cx="3459375"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总土压力（单位墙长度）</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a:t>
            </a:r>
            <a:endParaRPr lang="en-US" altLang="zh-CN" sz="2000" b="1" i="1" baseline="-25000" dirty="0">
              <a:solidFill>
                <a:srgbClr val="000066"/>
              </a:solidFill>
              <a:sym typeface="Symbol" pitchFamily="18" charset="2"/>
            </a:endParaRPr>
          </a:p>
        </p:txBody>
      </p:sp>
      <p:sp>
        <p:nvSpPr>
          <p:cNvPr id="92" name="Text Box 57"/>
          <p:cNvSpPr txBox="1">
            <a:spLocks noChangeArrowheads="1"/>
          </p:cNvSpPr>
          <p:nvPr/>
        </p:nvSpPr>
        <p:spPr bwMode="auto">
          <a:xfrm>
            <a:off x="771946" y="3281006"/>
            <a:ext cx="4272001"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总土压力</a:t>
            </a:r>
            <a:r>
              <a:rPr lang="zh-CN" altLang="en-US" sz="2000" b="1" dirty="0">
                <a:solidFill>
                  <a:srgbClr val="000066"/>
                </a:solidFill>
                <a:latin typeface="幼圆" panose="02010509060101010101" pitchFamily="49" charset="-122"/>
                <a:ea typeface="幼圆" panose="02010509060101010101" pitchFamily="49" charset="-122"/>
                <a:sym typeface="Symbol" pitchFamily="18" charset="2"/>
              </a:rPr>
              <a:t>作用点</a:t>
            </a: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：梯形面积形心上</a:t>
            </a:r>
            <a:endParaRPr lang="zh-CN" altLang="en-US" sz="2000" b="1" dirty="0">
              <a:solidFill>
                <a:srgbClr val="000066"/>
              </a:solidFill>
              <a:latin typeface="幼圆" panose="02010509060101010101" pitchFamily="49" charset="-122"/>
              <a:ea typeface="幼圆" panose="02010509060101010101" pitchFamily="49" charset="-122"/>
              <a:sym typeface="Symbol" pitchFamily="18" charset="2"/>
            </a:endParaRPr>
          </a:p>
        </p:txBody>
      </p:sp>
      <p:sp>
        <p:nvSpPr>
          <p:cNvPr id="96" name="Text Box 57"/>
          <p:cNvSpPr txBox="1">
            <a:spLocks noChangeArrowheads="1"/>
          </p:cNvSpPr>
          <p:nvPr/>
        </p:nvSpPr>
        <p:spPr bwMode="auto">
          <a:xfrm>
            <a:off x="773444" y="3840808"/>
            <a:ext cx="4192212"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2563" indent="-182563">
              <a:spcBef>
                <a:spcPts val="200"/>
              </a:spcBef>
              <a:spcAft>
                <a:spcPts val="200"/>
              </a:spcAft>
              <a:buClr>
                <a:srgbClr val="C00000"/>
              </a:buClr>
              <a:buSzPct val="130000"/>
              <a:buFont typeface="Arial" panose="020B0604020202020204" pitchFamily="34" charset="0"/>
              <a:buChar char="•"/>
            </a:pPr>
            <a:r>
              <a:rPr lang="zh-CN" altLang="en-US" sz="2000" b="1" dirty="0" smtClean="0">
                <a:solidFill>
                  <a:srgbClr val="000066"/>
                </a:solidFill>
                <a:latin typeface="幼圆" panose="02010509060101010101" pitchFamily="49" charset="-122"/>
                <a:ea typeface="幼圆" panose="02010509060101010101" pitchFamily="49" charset="-122"/>
                <a:sym typeface="Symbol" pitchFamily="18" charset="2"/>
              </a:rPr>
              <a:t>破</a:t>
            </a:r>
            <a:r>
              <a:rPr lang="zh-CN" altLang="en-US" sz="2000" b="1" dirty="0" smtClean="0">
                <a:solidFill>
                  <a:srgbClr val="000066"/>
                </a:solidFill>
                <a:ea typeface="幼圆" pitchFamily="49" charset="-122"/>
                <a:cs typeface="Times New Roman" panose="02020603050405020304" pitchFamily="18" charset="0"/>
              </a:rPr>
              <a:t>裂</a:t>
            </a:r>
            <a:r>
              <a:rPr lang="zh-CN" altLang="en-US" sz="2000" b="1" dirty="0">
                <a:solidFill>
                  <a:srgbClr val="000066"/>
                </a:solidFill>
                <a:ea typeface="幼圆" pitchFamily="49" charset="-122"/>
                <a:cs typeface="Times New Roman" panose="02020603050405020304" pitchFamily="18" charset="0"/>
              </a:rPr>
              <a:t>面方向：与水平夹角</a:t>
            </a:r>
            <a:r>
              <a:rPr lang="en-US" altLang="zh-CN" sz="2000" b="1" dirty="0">
                <a:solidFill>
                  <a:srgbClr val="000066"/>
                </a:solidFill>
                <a:ea typeface="幼圆" pitchFamily="49" charset="-122"/>
                <a:cs typeface="Times New Roman" panose="02020603050405020304" pitchFamily="18" charset="0"/>
              </a:rPr>
              <a:t>45</a:t>
            </a:r>
            <a:r>
              <a:rPr lang="en-US" altLang="zh-CN" sz="2000" b="1" baseline="30000" dirty="0">
                <a:solidFill>
                  <a:srgbClr val="000000"/>
                </a:solidFill>
                <a:ea typeface="华文新魏" pitchFamily="2" charset="-122"/>
                <a:cs typeface="Times New Roman" panose="02020603050405020304" pitchFamily="18" charset="0"/>
                <a:sym typeface="Symbol" pitchFamily="18" charset="2"/>
              </a:rPr>
              <a:t>  </a:t>
            </a:r>
            <a:r>
              <a:rPr lang="en-US" altLang="zh-CN" sz="2000" b="1" dirty="0" smtClean="0">
                <a:solidFill>
                  <a:srgbClr val="000066"/>
                </a:solidFill>
                <a:ea typeface="幼圆" pitchFamily="49" charset="-122"/>
                <a:cs typeface="Times New Roman" panose="02020603050405020304" pitchFamily="18" charset="0"/>
              </a:rPr>
              <a:t>- </a:t>
            </a:r>
            <a:r>
              <a:rPr lang="en-US" altLang="zh-CN" sz="2000" b="1" i="1" dirty="0">
                <a:solidFill>
                  <a:srgbClr val="000000"/>
                </a:solidFill>
                <a:cs typeface="Times New Roman" panose="02020603050405020304" pitchFamily="18" charset="0"/>
                <a:sym typeface="Symbol" pitchFamily="18" charset="2"/>
              </a:rPr>
              <a:t></a:t>
            </a:r>
            <a:r>
              <a:rPr lang="en-US" altLang="zh-CN" sz="2000" b="1" dirty="0">
                <a:solidFill>
                  <a:srgbClr val="000066"/>
                </a:solidFill>
                <a:ea typeface="幼圆" pitchFamily="49" charset="-122"/>
                <a:cs typeface="Times New Roman" panose="02020603050405020304" pitchFamily="18" charset="0"/>
              </a:rPr>
              <a:t> /2 </a:t>
            </a:r>
            <a:endParaRPr lang="zh-CN" altLang="en-US" sz="2000" b="1" dirty="0">
              <a:solidFill>
                <a:srgbClr val="000066"/>
              </a:solidFill>
              <a:ea typeface="幼圆" pitchFamily="49" charset="-122"/>
              <a:cs typeface="Times New Roman" panose="02020603050405020304" pitchFamily="18" charset="0"/>
            </a:endParaRPr>
          </a:p>
        </p:txBody>
      </p:sp>
      <p:grpSp>
        <p:nvGrpSpPr>
          <p:cNvPr id="2" name="组合 1"/>
          <p:cNvGrpSpPr/>
          <p:nvPr/>
        </p:nvGrpSpPr>
        <p:grpSpPr>
          <a:xfrm>
            <a:off x="6314324" y="1122739"/>
            <a:ext cx="1696200" cy="629769"/>
            <a:chOff x="6314324" y="1122739"/>
            <a:chExt cx="1696200" cy="629769"/>
          </a:xfrm>
        </p:grpSpPr>
        <p:sp>
          <p:nvSpPr>
            <p:cNvPr id="68" name="Text Box 827"/>
            <p:cNvSpPr txBox="1">
              <a:spLocks noChangeArrowheads="1"/>
            </p:cNvSpPr>
            <p:nvPr/>
          </p:nvSpPr>
          <p:spPr bwMode="auto">
            <a:xfrm flipH="1">
              <a:off x="7462679" y="1122739"/>
              <a:ext cx="547845"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smtClean="0">
                  <a:solidFill>
                    <a:srgbClr val="C00000"/>
                  </a:solidFill>
                  <a:latin typeface="Times New Roman" panose="02020603050405020304" pitchFamily="18" charset="0"/>
                  <a:cs typeface="Times New Roman" panose="02020603050405020304" pitchFamily="18" charset="0"/>
                </a:rPr>
                <a:t>p</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107" name="直接箭头连接符 106"/>
            <p:cNvCxnSpPr/>
            <p:nvPr/>
          </p:nvCxnSpPr>
          <p:spPr bwMode="auto">
            <a:xfrm flipH="1">
              <a:off x="6314324" y="1752508"/>
              <a:ext cx="1541635"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146" name="Object 122"/>
          <p:cNvGraphicFramePr>
            <a:graphicFrameLocks noChangeAspect="1"/>
          </p:cNvGraphicFramePr>
          <p:nvPr>
            <p:extLst>
              <p:ext uri="{D42A27DB-BD31-4B8C-83A1-F6EECF244321}">
                <p14:modId xmlns:p14="http://schemas.microsoft.com/office/powerpoint/2010/main" val="3531851168"/>
              </p:ext>
            </p:extLst>
          </p:nvPr>
        </p:nvGraphicFramePr>
        <p:xfrm>
          <a:off x="1208088" y="2254250"/>
          <a:ext cx="3055937" cy="717550"/>
        </p:xfrm>
        <a:graphic>
          <a:graphicData uri="http://schemas.openxmlformats.org/presentationml/2006/ole">
            <mc:AlternateContent xmlns:mc="http://schemas.openxmlformats.org/markup-compatibility/2006">
              <mc:Choice xmlns:v="urn:schemas-microsoft-com:vml" Requires="v">
                <p:oleObj spid="_x0000_s1748187" name="Equation" r:id="rId8" imgW="1562040" imgH="368280" progId="Equation.DSMT4">
                  <p:embed/>
                </p:oleObj>
              </mc:Choice>
              <mc:Fallback>
                <p:oleObj name="Equation" r:id="rId8" imgW="1562040" imgH="368280" progId="Equation.DSMT4">
                  <p:embed/>
                  <p:pic>
                    <p:nvPicPr>
                      <p:cNvPr id="683130" name="Object 122"/>
                      <p:cNvPicPr>
                        <a:picLocks noChangeAspect="1" noChangeArrowheads="1"/>
                      </p:cNvPicPr>
                      <p:nvPr/>
                    </p:nvPicPr>
                    <p:blipFill>
                      <a:blip r:embed="rId9"/>
                      <a:srcRect/>
                      <a:stretch>
                        <a:fillRect/>
                      </a:stretch>
                    </p:blipFill>
                    <p:spPr bwMode="auto">
                      <a:xfrm>
                        <a:off x="1208088" y="2254250"/>
                        <a:ext cx="3055937" cy="717550"/>
                      </a:xfrm>
                      <a:prstGeom prst="rect">
                        <a:avLst/>
                      </a:prstGeom>
                      <a:noFill/>
                      <a:ln>
                        <a:noFill/>
                      </a:ln>
                      <a:effectLst/>
                      <a:extLst/>
                    </p:spPr>
                  </p:pic>
                </p:oleObj>
              </mc:Fallback>
            </mc:AlternateContent>
          </a:graphicData>
        </a:graphic>
      </p:graphicFrame>
      <p:grpSp>
        <p:nvGrpSpPr>
          <p:cNvPr id="5" name="组合 4"/>
          <p:cNvGrpSpPr/>
          <p:nvPr/>
        </p:nvGrpSpPr>
        <p:grpSpPr>
          <a:xfrm>
            <a:off x="5277250" y="3513882"/>
            <a:ext cx="3519683" cy="1819125"/>
            <a:chOff x="5277250" y="3513882"/>
            <a:chExt cx="3519683" cy="1819125"/>
          </a:xfrm>
        </p:grpSpPr>
        <p:sp>
          <p:nvSpPr>
            <p:cNvPr id="148" name="任意多边形 147"/>
            <p:cNvSpPr/>
            <p:nvPr/>
          </p:nvSpPr>
          <p:spPr bwMode="auto">
            <a:xfrm>
              <a:off x="6109148" y="3520284"/>
              <a:ext cx="2679571" cy="1716133"/>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 name="connsiteX0" fmla="*/ 0 w 874251"/>
                <a:gd name="connsiteY0" fmla="*/ 1885845 h 1885845"/>
                <a:gd name="connsiteX1" fmla="*/ 1303 w 874251"/>
                <a:gd name="connsiteY1" fmla="*/ 6245 h 1885845"/>
                <a:gd name="connsiteX2" fmla="*/ 874251 w 874251"/>
                <a:gd name="connsiteY2" fmla="*/ 0 h 1885845"/>
                <a:gd name="connsiteX3" fmla="*/ 871929 w 874251"/>
                <a:gd name="connsiteY3" fmla="*/ 1879495 h 1885845"/>
                <a:gd name="connsiteX4" fmla="*/ 0 w 874251"/>
                <a:gd name="connsiteY4" fmla="*/ 1885845 h 1885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251" h="1885845">
                  <a:moveTo>
                    <a:pt x="0" y="1885845"/>
                  </a:moveTo>
                  <a:cubicBezTo>
                    <a:pt x="434" y="1259312"/>
                    <a:pt x="869" y="632778"/>
                    <a:pt x="1303" y="6245"/>
                  </a:cubicBezTo>
                  <a:lnTo>
                    <a:pt x="874251" y="0"/>
                  </a:lnTo>
                  <a:lnTo>
                    <a:pt x="871929" y="1879495"/>
                  </a:lnTo>
                  <a:lnTo>
                    <a:pt x="0" y="1885845"/>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49" name="直接连接符 148"/>
            <p:cNvCxnSpPr>
              <a:stCxn id="148" idx="0"/>
              <a:endCxn id="148" idx="2"/>
            </p:cNvCxnSpPr>
            <p:nvPr/>
          </p:nvCxnSpPr>
          <p:spPr bwMode="auto">
            <a:xfrm flipV="1">
              <a:off x="6109148" y="3520284"/>
              <a:ext cx="2679571" cy="1716133"/>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连接符 149"/>
            <p:cNvCxnSpPr/>
            <p:nvPr/>
          </p:nvCxnSpPr>
          <p:spPr bwMode="auto">
            <a:xfrm flipV="1">
              <a:off x="6113007" y="3521439"/>
              <a:ext cx="2229348" cy="1427789"/>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接连接符 150"/>
            <p:cNvCxnSpPr/>
            <p:nvPr/>
          </p:nvCxnSpPr>
          <p:spPr bwMode="auto">
            <a:xfrm flipV="1">
              <a:off x="6112164" y="3520435"/>
              <a:ext cx="1782496" cy="1141600"/>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接连接符 151"/>
            <p:cNvCxnSpPr/>
            <p:nvPr/>
          </p:nvCxnSpPr>
          <p:spPr bwMode="auto">
            <a:xfrm flipV="1">
              <a:off x="6111320" y="3528020"/>
              <a:ext cx="1322236" cy="84682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接连接符 152"/>
            <p:cNvCxnSpPr/>
            <p:nvPr/>
          </p:nvCxnSpPr>
          <p:spPr bwMode="auto">
            <a:xfrm flipV="1">
              <a:off x="6110477" y="3518556"/>
              <a:ext cx="888591" cy="569100"/>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连接符 153"/>
            <p:cNvCxnSpPr/>
            <p:nvPr/>
          </p:nvCxnSpPr>
          <p:spPr bwMode="auto">
            <a:xfrm flipV="1">
              <a:off x="6109633" y="3521577"/>
              <a:ext cx="435454" cy="27888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任意多边形 154"/>
            <p:cNvSpPr/>
            <p:nvPr/>
          </p:nvSpPr>
          <p:spPr bwMode="auto">
            <a:xfrm>
              <a:off x="5277250" y="3515524"/>
              <a:ext cx="835015" cy="1717861"/>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56" name="直接连接符 155"/>
            <p:cNvCxnSpPr/>
            <p:nvPr/>
          </p:nvCxnSpPr>
          <p:spPr bwMode="auto">
            <a:xfrm>
              <a:off x="5648155" y="5233262"/>
              <a:ext cx="314877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直接连接符 156"/>
            <p:cNvCxnSpPr/>
            <p:nvPr/>
          </p:nvCxnSpPr>
          <p:spPr bwMode="auto">
            <a:xfrm>
              <a:off x="6107048" y="3514213"/>
              <a:ext cx="268756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接连接符 157"/>
            <p:cNvCxnSpPr/>
            <p:nvPr/>
          </p:nvCxnSpPr>
          <p:spPr bwMode="auto">
            <a:xfrm flipH="1" flipV="1">
              <a:off x="6097843" y="4934021"/>
              <a:ext cx="241272" cy="154523"/>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接连接符 158"/>
            <p:cNvCxnSpPr/>
            <p:nvPr/>
          </p:nvCxnSpPr>
          <p:spPr bwMode="auto">
            <a:xfrm flipH="1" flipV="1">
              <a:off x="6113542" y="4660445"/>
              <a:ext cx="441230" cy="282585"/>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接连接符 159"/>
            <p:cNvCxnSpPr/>
            <p:nvPr/>
          </p:nvCxnSpPr>
          <p:spPr bwMode="auto">
            <a:xfrm flipH="1" flipV="1">
              <a:off x="6116178" y="4378159"/>
              <a:ext cx="664757" cy="425743"/>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160"/>
            <p:cNvCxnSpPr/>
            <p:nvPr/>
          </p:nvCxnSpPr>
          <p:spPr bwMode="auto">
            <a:xfrm flipH="1" flipV="1">
              <a:off x="6114460" y="4091520"/>
              <a:ext cx="886756" cy="56792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连接符 161"/>
            <p:cNvCxnSpPr/>
            <p:nvPr/>
          </p:nvCxnSpPr>
          <p:spPr bwMode="auto">
            <a:xfrm flipH="1" flipV="1">
              <a:off x="6112739" y="3800523"/>
              <a:ext cx="1115478" cy="714408"/>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接连接符 162"/>
            <p:cNvCxnSpPr/>
            <p:nvPr/>
          </p:nvCxnSpPr>
          <p:spPr bwMode="auto">
            <a:xfrm flipH="1" flipV="1">
              <a:off x="6111020" y="3513882"/>
              <a:ext cx="1342185" cy="85960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163"/>
            <p:cNvCxnSpPr/>
            <p:nvPr/>
          </p:nvCxnSpPr>
          <p:spPr bwMode="auto">
            <a:xfrm flipH="1" flipV="1">
              <a:off x="6548516" y="3517247"/>
              <a:ext cx="1117138" cy="715471"/>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直接连接符 164"/>
            <p:cNvCxnSpPr/>
            <p:nvPr/>
          </p:nvCxnSpPr>
          <p:spPr bwMode="auto">
            <a:xfrm flipH="1" flipV="1">
              <a:off x="6986372" y="3516487"/>
              <a:ext cx="908289" cy="581714"/>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直接连接符 165"/>
            <p:cNvCxnSpPr/>
            <p:nvPr/>
          </p:nvCxnSpPr>
          <p:spPr bwMode="auto">
            <a:xfrm flipH="1" flipV="1">
              <a:off x="7428647" y="3518556"/>
              <a:ext cx="675895" cy="43287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66"/>
            <p:cNvCxnSpPr/>
            <p:nvPr/>
          </p:nvCxnSpPr>
          <p:spPr bwMode="auto">
            <a:xfrm flipH="1" flipV="1">
              <a:off x="7879244" y="3524734"/>
              <a:ext cx="452682" cy="289922"/>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直接连接符 167"/>
            <p:cNvCxnSpPr/>
            <p:nvPr/>
          </p:nvCxnSpPr>
          <p:spPr bwMode="auto">
            <a:xfrm flipH="1" flipV="1">
              <a:off x="8328539" y="3522591"/>
              <a:ext cx="213110" cy="136487"/>
            </a:xfrm>
            <a:prstGeom prst="line">
              <a:avLst/>
            </a:prstGeom>
            <a:noFill/>
            <a:ln w="63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任意多边形 168"/>
            <p:cNvSpPr/>
            <p:nvPr/>
          </p:nvSpPr>
          <p:spPr bwMode="auto">
            <a:xfrm rot="593201">
              <a:off x="6372097" y="5069578"/>
              <a:ext cx="149692" cy="15875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0" name="Text Box 40"/>
            <p:cNvSpPr txBox="1">
              <a:spLocks noChangeArrowheads="1"/>
            </p:cNvSpPr>
            <p:nvPr/>
          </p:nvSpPr>
          <p:spPr bwMode="auto">
            <a:xfrm>
              <a:off x="6514458" y="4808586"/>
              <a:ext cx="1733943" cy="524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171" name="任意多边形 170"/>
            <p:cNvSpPr/>
            <p:nvPr/>
          </p:nvSpPr>
          <p:spPr bwMode="auto">
            <a:xfrm rot="19737825">
              <a:off x="7359425" y="4262323"/>
              <a:ext cx="148261" cy="12036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9525"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2" name="Text Box 40"/>
            <p:cNvSpPr txBox="1">
              <a:spLocks noChangeArrowheads="1"/>
            </p:cNvSpPr>
            <p:nvPr/>
          </p:nvSpPr>
          <p:spPr bwMode="auto">
            <a:xfrm>
              <a:off x="7497663" y="4162682"/>
              <a:ext cx="1094661" cy="49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90+</a:t>
              </a:r>
              <a:r>
                <a:rPr lang="zh-CN" altLang="en-US" sz="1800" b="1" dirty="0" smtClean="0">
                  <a:solidFill>
                    <a:srgbClr val="000000"/>
                  </a:solidFill>
                  <a:sym typeface="Symbol" pitchFamily="18" charset="2"/>
                </a:rPr>
                <a:t></a:t>
              </a:r>
              <a:endParaRPr lang="en-US" altLang="zh-CN" sz="1800" b="1" dirty="0">
                <a:solidFill>
                  <a:srgbClr val="000000"/>
                </a:solidFill>
              </a:endParaRPr>
            </a:p>
          </p:txBody>
        </p:sp>
      </p:grpSp>
      <p:sp>
        <p:nvSpPr>
          <p:cNvPr id="173" name="Text Box 46"/>
          <p:cNvSpPr txBox="1">
            <a:spLocks noChangeArrowheads="1"/>
          </p:cNvSpPr>
          <p:nvPr/>
        </p:nvSpPr>
        <p:spPr bwMode="auto">
          <a:xfrm>
            <a:off x="363383" y="764183"/>
            <a:ext cx="5354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buFont typeface="Wingdings" pitchFamily="2" charset="2"/>
              <a:buChar char="n"/>
            </a:pPr>
            <a:r>
              <a:rPr lang="zh-CN" altLang="en-US" sz="2800" b="1" dirty="0" smtClean="0">
                <a:solidFill>
                  <a:srgbClr val="A50021"/>
                </a:solidFill>
                <a:latin typeface="微软雅黑" panose="020B0503020204020204" pitchFamily="34" charset="-122"/>
                <a:ea typeface="微软雅黑" panose="020B0503020204020204" pitchFamily="34" charset="-122"/>
              </a:rPr>
              <a:t> 黏性</a:t>
            </a:r>
            <a:r>
              <a:rPr lang="zh-CN" altLang="en-US" sz="2800" b="1" dirty="0">
                <a:solidFill>
                  <a:srgbClr val="A50021"/>
                </a:solidFill>
                <a:latin typeface="微软雅黑" panose="020B0503020204020204" pitchFamily="34" charset="-122"/>
                <a:ea typeface="微软雅黑" panose="020B0503020204020204" pitchFamily="34" charset="-122"/>
              </a:rPr>
              <a:t>土郎</a:t>
            </a:r>
            <a:r>
              <a:rPr lang="zh-CN" altLang="en-US" sz="2800" b="1" dirty="0" smtClean="0">
                <a:solidFill>
                  <a:srgbClr val="A50021"/>
                </a:solidFill>
                <a:latin typeface="微软雅黑" panose="020B0503020204020204" pitchFamily="34" charset="-122"/>
                <a:ea typeface="微软雅黑" panose="020B0503020204020204" pitchFamily="34" charset="-122"/>
              </a:rPr>
              <a:t>肯被动土压力计算</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64289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wipe(left)">
                                      <p:cBhvr>
                                        <p:cTn id="7" dur="500"/>
                                        <p:tgtEl>
                                          <p:spTgt spid="1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wipe(left)">
                                      <p:cBhvr>
                                        <p:cTn id="11" dur="500"/>
                                        <p:tgtEl>
                                          <p:spTgt spid="92"/>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righ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6"/>
                                        </p:tgtEl>
                                        <p:attrNameLst>
                                          <p:attrName>style.visibility</p:attrName>
                                        </p:attrNameLst>
                                      </p:cBhvr>
                                      <p:to>
                                        <p:strVal val="visible"/>
                                      </p:to>
                                    </p:set>
                                    <p:animEffect transition="in" filter="wipe(left)">
                                      <p:cBhvr>
                                        <p:cTn id="20" dur="500"/>
                                        <p:tgtEl>
                                          <p:spTgt spid="96"/>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43</a:t>
            </a:fld>
            <a:endParaRPr lang="zh-CN" altLang="en-US" dirty="0">
              <a:solidFill>
                <a:srgbClr val="C00000"/>
              </a:solidFill>
            </a:endParaRPr>
          </a:p>
        </p:txBody>
      </p:sp>
      <p:sp>
        <p:nvSpPr>
          <p:cNvPr id="4" name="Text Box 2"/>
          <p:cNvSpPr txBox="1">
            <a:spLocks noChangeArrowheads="1"/>
          </p:cNvSpPr>
          <p:nvPr/>
        </p:nvSpPr>
        <p:spPr bwMode="auto">
          <a:xfrm>
            <a:off x="2482890" y="5793729"/>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5" name="Text Box 3"/>
          <p:cNvSpPr txBox="1">
            <a:spLocks noChangeArrowheads="1"/>
          </p:cNvSpPr>
          <p:nvPr/>
        </p:nvSpPr>
        <p:spPr bwMode="auto">
          <a:xfrm>
            <a:off x="303213" y="680702"/>
            <a:ext cx="4532398" cy="4361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ct val="20000"/>
              </a:spcBef>
              <a:spcAft>
                <a:spcPts val="5400"/>
              </a:spcAft>
              <a:buClr>
                <a:srgbClr val="A50021"/>
              </a:buClr>
              <a:buSzPct val="130000"/>
              <a:buFont typeface="Wingdings" pitchFamily="2" charset="2"/>
              <a:buChar char="F"/>
            </a:pPr>
            <a:r>
              <a:rPr lang="zh-CN" altLang="en-US" sz="2800" b="1" dirty="0" smtClean="0">
                <a:solidFill>
                  <a:srgbClr val="000066"/>
                </a:solidFill>
                <a:ea typeface="幼圆" pitchFamily="49" charset="-122"/>
              </a:rPr>
              <a:t>理论基础</a:t>
            </a:r>
            <a:endParaRPr lang="zh-CN" altLang="en-US" sz="2800" b="1" dirty="0">
              <a:solidFill>
                <a:srgbClr val="000066"/>
              </a:solidFill>
              <a:ea typeface="幼圆" pitchFamily="49" charset="-122"/>
            </a:endParaRPr>
          </a:p>
          <a:p>
            <a:pPr marL="444500" indent="-444500" eaLnBrk="1" hangingPunct="1">
              <a:lnSpc>
                <a:spcPct val="130000"/>
              </a:lnSpc>
              <a:spcBef>
                <a:spcPct val="20000"/>
              </a:spcBef>
              <a:spcAft>
                <a:spcPts val="4200"/>
              </a:spcAft>
              <a:buClr>
                <a:srgbClr val="A50021"/>
              </a:buClr>
              <a:buSzPct val="130000"/>
              <a:buFont typeface="Wingdings" pitchFamily="2" charset="2"/>
              <a:buChar char="F"/>
            </a:pPr>
            <a:r>
              <a:rPr lang="zh-CN" altLang="en-US" sz="2800" b="1" dirty="0">
                <a:solidFill>
                  <a:srgbClr val="000066"/>
                </a:solidFill>
                <a:ea typeface="幼圆" pitchFamily="49" charset="-122"/>
              </a:rPr>
              <a:t>适用条件及基本</a:t>
            </a:r>
            <a:r>
              <a:rPr lang="zh-CN" altLang="en-US" sz="2800" b="1" dirty="0" smtClean="0">
                <a:solidFill>
                  <a:srgbClr val="000066"/>
                </a:solidFill>
                <a:ea typeface="幼圆" pitchFamily="49" charset="-122"/>
              </a:rPr>
              <a:t>假定</a:t>
            </a:r>
            <a:endParaRPr lang="en-US" altLang="zh-CN" sz="2800" b="1" dirty="0" smtClean="0">
              <a:solidFill>
                <a:srgbClr val="000066"/>
              </a:solidFill>
              <a:ea typeface="幼圆" pitchFamily="49" charset="-122"/>
            </a:endParaRPr>
          </a:p>
          <a:p>
            <a:pPr marL="444500" indent="-444500" eaLnBrk="1" hangingPunct="1">
              <a:lnSpc>
                <a:spcPct val="130000"/>
              </a:lnSpc>
              <a:spcBef>
                <a:spcPct val="20000"/>
              </a:spcBef>
              <a:spcAft>
                <a:spcPts val="4200"/>
              </a:spcAft>
              <a:buClr>
                <a:srgbClr val="A50021"/>
              </a:buClr>
              <a:buSzPct val="130000"/>
              <a:buFont typeface="Wingdings" pitchFamily="2" charset="2"/>
              <a:buChar char="F"/>
            </a:pPr>
            <a:r>
              <a:rPr lang="zh-CN" altLang="en-US" sz="2800" b="1" dirty="0">
                <a:solidFill>
                  <a:srgbClr val="000066"/>
                </a:solidFill>
                <a:ea typeface="幼圆" pitchFamily="49" charset="-122"/>
              </a:rPr>
              <a:t>郎肯主动土压力计算</a:t>
            </a:r>
          </a:p>
          <a:p>
            <a:pPr marL="444500" indent="-444500" eaLnBrk="1" hangingPunct="1">
              <a:lnSpc>
                <a:spcPct val="130000"/>
              </a:lnSpc>
              <a:spcBef>
                <a:spcPct val="20000"/>
              </a:spcBef>
              <a:spcAft>
                <a:spcPct val="20000"/>
              </a:spcAft>
              <a:buClr>
                <a:srgbClr val="A50021"/>
              </a:buClr>
              <a:buSzPct val="130000"/>
              <a:buFont typeface="Wingdings" pitchFamily="2" charset="2"/>
              <a:buChar char="F"/>
            </a:pPr>
            <a:r>
              <a:rPr lang="zh-CN" altLang="en-US" sz="2800" b="1" dirty="0">
                <a:solidFill>
                  <a:srgbClr val="000066"/>
                </a:solidFill>
                <a:ea typeface="幼圆" pitchFamily="49" charset="-122"/>
              </a:rPr>
              <a:t>郎肯被动土压力计算</a:t>
            </a:r>
          </a:p>
        </p:txBody>
      </p:sp>
      <p:sp>
        <p:nvSpPr>
          <p:cNvPr id="6" name="Text Box 6"/>
          <p:cNvSpPr txBox="1">
            <a:spLocks noChangeArrowheads="1"/>
          </p:cNvSpPr>
          <p:nvPr/>
        </p:nvSpPr>
        <p:spPr bwMode="auto">
          <a:xfrm>
            <a:off x="4576763" y="762576"/>
            <a:ext cx="3795712" cy="83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rPr>
              <a:t>半</a:t>
            </a:r>
            <a:r>
              <a:rPr lang="zh-CN" altLang="en-US" sz="2200" b="1" dirty="0">
                <a:solidFill>
                  <a:srgbClr val="000066"/>
                </a:solidFill>
                <a:ea typeface="幼圆" pitchFamily="49" charset="-122"/>
              </a:rPr>
              <a:t>无限土</a:t>
            </a:r>
            <a:r>
              <a:rPr lang="zh-CN" altLang="en-US" sz="2200" b="1" dirty="0" smtClean="0">
                <a:solidFill>
                  <a:srgbClr val="000066"/>
                </a:solidFill>
                <a:ea typeface="幼圆" pitchFamily="49" charset="-122"/>
              </a:rPr>
              <a:t>体的</a:t>
            </a:r>
            <a:r>
              <a:rPr lang="zh-CN" altLang="en-US" sz="2200" b="1" dirty="0">
                <a:solidFill>
                  <a:srgbClr val="000066"/>
                </a:solidFill>
                <a:ea typeface="幼圆" pitchFamily="49" charset="-122"/>
              </a:rPr>
              <a:t>主动和被动极限平衡</a:t>
            </a:r>
            <a:r>
              <a:rPr lang="zh-CN" altLang="en-US" sz="2200" b="1" dirty="0" smtClean="0">
                <a:solidFill>
                  <a:srgbClr val="000066"/>
                </a:solidFill>
                <a:ea typeface="幼圆" pitchFamily="49" charset="-122"/>
              </a:rPr>
              <a:t>应力状态</a:t>
            </a:r>
            <a:endParaRPr lang="zh-CN" altLang="en-US" sz="2200" b="1" dirty="0">
              <a:solidFill>
                <a:srgbClr val="000066"/>
              </a:solidFill>
              <a:ea typeface="幼圆" pitchFamily="49" charset="-122"/>
              <a:sym typeface="Symbol" pitchFamily="18" charset="2"/>
            </a:endParaRPr>
          </a:p>
        </p:txBody>
      </p:sp>
      <p:sp>
        <p:nvSpPr>
          <p:cNvPr id="7" name="Text Box 7"/>
          <p:cNvSpPr txBox="1">
            <a:spLocks noChangeArrowheads="1"/>
          </p:cNvSpPr>
          <p:nvPr/>
        </p:nvSpPr>
        <p:spPr bwMode="auto">
          <a:xfrm>
            <a:off x="4655537" y="3209422"/>
            <a:ext cx="4024706" cy="249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无</a:t>
            </a:r>
            <a:r>
              <a:rPr lang="zh-CN" altLang="en-US" sz="2200" b="1" dirty="0" smtClean="0">
                <a:solidFill>
                  <a:srgbClr val="000066"/>
                </a:solidFill>
                <a:latin typeface="幼圆" pitchFamily="49" charset="-122"/>
                <a:ea typeface="幼圆" pitchFamily="49" charset="-122"/>
              </a:rPr>
              <a:t>黏性土和黏性土</a:t>
            </a:r>
            <a:endParaRPr lang="zh-CN" altLang="en-US" sz="2200" b="1" dirty="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主动和被动极限平衡条件</a:t>
            </a:r>
            <a:endParaRPr lang="zh-CN" altLang="en-US" sz="2200" b="1" dirty="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朗肯主动和被动土压力系数</a:t>
            </a:r>
            <a:endParaRPr lang="en-US" altLang="zh-CN" sz="2200" b="1" dirty="0" smtClean="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土压力强度的分布</a:t>
            </a:r>
            <a:endParaRPr lang="zh-CN" altLang="en-US" sz="2200" b="1" dirty="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latin typeface="幼圆" pitchFamily="49" charset="-122"/>
                <a:ea typeface="幼圆" pitchFamily="49" charset="-122"/>
              </a:rPr>
              <a:t>总土压力大小和作用点</a:t>
            </a:r>
            <a:endParaRPr lang="zh-CN" altLang="en-US" sz="2200" b="1" dirty="0">
              <a:solidFill>
                <a:srgbClr val="000066"/>
              </a:solidFill>
              <a:latin typeface="幼圆" pitchFamily="49" charset="-122"/>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a:solidFill>
                  <a:srgbClr val="000066"/>
                </a:solidFill>
                <a:latin typeface="幼圆" pitchFamily="49" charset="-122"/>
                <a:ea typeface="幼圆" pitchFamily="49" charset="-122"/>
              </a:rPr>
              <a:t>破裂面方向</a:t>
            </a:r>
          </a:p>
        </p:txBody>
      </p:sp>
      <p:sp>
        <p:nvSpPr>
          <p:cNvPr id="8" name="Text Box 8"/>
          <p:cNvSpPr txBox="1">
            <a:spLocks noChangeArrowheads="1"/>
          </p:cNvSpPr>
          <p:nvPr/>
        </p:nvSpPr>
        <p:spPr bwMode="auto">
          <a:xfrm>
            <a:off x="4575776" y="2037873"/>
            <a:ext cx="4379913" cy="888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a:solidFill>
                  <a:srgbClr val="000066"/>
                </a:solidFill>
                <a:ea typeface="幼圆" pitchFamily="49" charset="-122"/>
              </a:rPr>
              <a:t>墙背</a:t>
            </a:r>
            <a:r>
              <a:rPr lang="zh-CN" altLang="en-US" sz="2200" b="1" dirty="0" smtClean="0">
                <a:solidFill>
                  <a:srgbClr val="000066"/>
                </a:solidFill>
                <a:ea typeface="幼圆" pitchFamily="49" charset="-122"/>
              </a:rPr>
              <a:t>垂直、</a:t>
            </a:r>
            <a:r>
              <a:rPr lang="zh-CN" altLang="en-US" sz="2200" b="1" dirty="0">
                <a:solidFill>
                  <a:srgbClr val="000066"/>
                </a:solidFill>
                <a:ea typeface="幼圆" pitchFamily="49" charset="-122"/>
              </a:rPr>
              <a:t>光滑、填</a:t>
            </a:r>
            <a:r>
              <a:rPr lang="zh-CN" altLang="en-US" sz="2200" b="1" dirty="0" smtClean="0">
                <a:solidFill>
                  <a:srgbClr val="000066"/>
                </a:solidFill>
                <a:ea typeface="幼圆" pitchFamily="49" charset="-122"/>
              </a:rPr>
              <a:t>土面水平</a:t>
            </a:r>
            <a:endParaRPr lang="en-US" altLang="zh-CN" sz="2200" b="1" dirty="0" smtClean="0">
              <a:solidFill>
                <a:srgbClr val="000066"/>
              </a:solidFill>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rPr>
              <a:t>墙后土体均处于</a:t>
            </a:r>
            <a:r>
              <a:rPr lang="zh-CN" altLang="en-US" sz="2200" b="1" dirty="0">
                <a:solidFill>
                  <a:srgbClr val="000066"/>
                </a:solidFill>
                <a:ea typeface="幼圆" pitchFamily="49" charset="-122"/>
              </a:rPr>
              <a:t>极限平衡状态</a:t>
            </a:r>
          </a:p>
        </p:txBody>
      </p:sp>
      <p:sp>
        <p:nvSpPr>
          <p:cNvPr id="11" name="Text Box 7"/>
          <p:cNvSpPr txBox="1">
            <a:spLocks noChangeArrowheads="1"/>
          </p:cNvSpPr>
          <p:nvPr/>
        </p:nvSpPr>
        <p:spPr bwMode="auto">
          <a:xfrm>
            <a:off x="0" y="0"/>
            <a:ext cx="300445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2" name="右大括号 1"/>
          <p:cNvSpPr/>
          <p:nvPr/>
        </p:nvSpPr>
        <p:spPr bwMode="auto">
          <a:xfrm>
            <a:off x="4214948" y="3432538"/>
            <a:ext cx="269966" cy="1447572"/>
          </a:xfrm>
          <a:prstGeom prst="rightBrace">
            <a:avLst>
              <a:gd name="adj1" fmla="val 24462"/>
              <a:gd name="adj2" fmla="val 50000"/>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204877723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fltVal val="0"/>
                                          </p:val>
                                        </p:tav>
                                        <p:tav tm="100000">
                                          <p:val>
                                            <p:strVal val="#ppt_w"/>
                                          </p:val>
                                        </p:tav>
                                      </p:tavLst>
                                    </p:anim>
                                    <p:anim calcmode="lin" valueType="num">
                                      <p:cBhvr>
                                        <p:cTn id="25" dur="1000" fill="hold"/>
                                        <p:tgtEl>
                                          <p:spTgt spid="2"/>
                                        </p:tgtEl>
                                        <p:attrNameLst>
                                          <p:attrName>ppt_h</p:attrName>
                                        </p:attrNameLst>
                                      </p:cBhvr>
                                      <p:tavLst>
                                        <p:tav tm="0">
                                          <p:val>
                                            <p:fltVal val="0"/>
                                          </p:val>
                                        </p:tav>
                                        <p:tav tm="100000">
                                          <p:val>
                                            <p:strVal val="#ppt_h"/>
                                          </p:val>
                                        </p:tav>
                                      </p:tavLst>
                                    </p:anim>
                                    <p:anim calcmode="lin" valueType="num">
                                      <p:cBhvr>
                                        <p:cTn id="26" dur="1000" fill="hold"/>
                                        <p:tgtEl>
                                          <p:spTgt spid="2"/>
                                        </p:tgtEl>
                                        <p:attrNameLst>
                                          <p:attrName>style.rotation</p:attrName>
                                        </p:attrNameLst>
                                      </p:cBhvr>
                                      <p:tavLst>
                                        <p:tav tm="0">
                                          <p:val>
                                            <p:fltVal val="90"/>
                                          </p:val>
                                        </p:tav>
                                        <p:tav tm="100000">
                                          <p:val>
                                            <p:fltVal val="0"/>
                                          </p:val>
                                        </p:tav>
                                      </p:tavLst>
                                    </p:anim>
                                    <p:animEffect transition="in" filter="fade">
                                      <p:cBhvr>
                                        <p:cTn id="27" dur="1000"/>
                                        <p:tgtEl>
                                          <p:spTgt spid="2"/>
                                        </p:tgtEl>
                                      </p:cBhvr>
                                    </p:animEffect>
                                  </p:childTnLst>
                                </p:cTn>
                              </p:par>
                            </p:childTnLst>
                          </p:cTn>
                        </p:par>
                        <p:par>
                          <p:cTn id="28" fill="hold">
                            <p:stCondLst>
                              <p:cond delay="1000"/>
                            </p:stCondLst>
                            <p:childTnLst>
                              <p:par>
                                <p:cTn id="29" presetID="2" presetClass="entr" presetSubtype="2"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44</a:t>
            </a:fld>
            <a:endParaRPr lang="zh-CN" altLang="en-US" dirty="0">
              <a:solidFill>
                <a:srgbClr val="C00000"/>
              </a:solidFill>
            </a:endParaRPr>
          </a:p>
        </p:txBody>
      </p:sp>
      <p:sp>
        <p:nvSpPr>
          <p:cNvPr id="4" name="Text Box 2"/>
          <p:cNvSpPr txBox="1">
            <a:spLocks noChangeArrowheads="1"/>
          </p:cNvSpPr>
          <p:nvPr/>
        </p:nvSpPr>
        <p:spPr bwMode="auto">
          <a:xfrm>
            <a:off x="2482890" y="5802965"/>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11" name="Text Box 7"/>
          <p:cNvSpPr txBox="1">
            <a:spLocks noChangeArrowheads="1"/>
          </p:cNvSpPr>
          <p:nvPr/>
        </p:nvSpPr>
        <p:spPr bwMode="auto">
          <a:xfrm>
            <a:off x="0" y="0"/>
            <a:ext cx="300445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§6.3  </a:t>
            </a:r>
            <a:r>
              <a:rPr lang="zh-CN" altLang="en-US" sz="1800" b="1" kern="900" spc="130" dirty="0" smtClean="0">
                <a:solidFill>
                  <a:srgbClr val="000066"/>
                </a:solidFill>
                <a:ea typeface="黑体" panose="02010609060101010101" pitchFamily="49" charset="-122"/>
                <a:cs typeface="Times New Roman" panose="02020603050405020304" pitchFamily="18" charset="0"/>
              </a:rPr>
              <a:t>朗肯土压力理论</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aphicFrame>
        <p:nvGraphicFramePr>
          <p:cNvPr id="12" name="Object 0"/>
          <p:cNvGraphicFramePr>
            <a:graphicFrameLocks noChangeAspect="1"/>
          </p:cNvGraphicFramePr>
          <p:nvPr>
            <p:extLst>
              <p:ext uri="{D42A27DB-BD31-4B8C-83A1-F6EECF244321}">
                <p14:modId xmlns:p14="http://schemas.microsoft.com/office/powerpoint/2010/main" val="1550475354"/>
              </p:ext>
            </p:extLst>
          </p:nvPr>
        </p:nvGraphicFramePr>
        <p:xfrm>
          <a:off x="3973513" y="2363788"/>
          <a:ext cx="2763837" cy="506412"/>
        </p:xfrm>
        <a:graphic>
          <a:graphicData uri="http://schemas.openxmlformats.org/presentationml/2006/ole">
            <mc:AlternateContent xmlns:mc="http://schemas.openxmlformats.org/markup-compatibility/2006">
              <mc:Choice xmlns:v="urn:schemas-microsoft-com:vml" Requires="v">
                <p:oleObj spid="_x0000_s1742749" name="Equation" r:id="rId4" imgW="1307880" imgH="241200" progId="Equation.DSMT4">
                  <p:embed/>
                </p:oleObj>
              </mc:Choice>
              <mc:Fallback>
                <p:oleObj name="Equation" r:id="rId4" imgW="1307880" imgH="241200" progId="Equation.DSMT4">
                  <p:embed/>
                  <p:pic>
                    <p:nvPicPr>
                      <p:cNvPr id="756736" name="Object 0"/>
                      <p:cNvPicPr>
                        <a:picLocks noChangeAspect="1" noChangeArrowheads="1"/>
                      </p:cNvPicPr>
                      <p:nvPr/>
                    </p:nvPicPr>
                    <p:blipFill>
                      <a:blip r:embed="rId5"/>
                      <a:srcRect/>
                      <a:stretch>
                        <a:fillRect/>
                      </a:stretch>
                    </p:blipFill>
                    <p:spPr bwMode="auto">
                      <a:xfrm>
                        <a:off x="3973513" y="2363788"/>
                        <a:ext cx="2763837" cy="506412"/>
                      </a:xfrm>
                      <a:prstGeom prst="rect">
                        <a:avLst/>
                      </a:prstGeom>
                      <a:noFill/>
                      <a:ln>
                        <a:noFill/>
                      </a:ln>
                      <a:effectLst/>
                      <a:extLst/>
                    </p:spPr>
                  </p:pic>
                </p:oleObj>
              </mc:Fallback>
            </mc:AlternateContent>
          </a:graphicData>
        </a:graphic>
      </p:graphicFrame>
      <p:graphicFrame>
        <p:nvGraphicFramePr>
          <p:cNvPr id="13" name="Object 1"/>
          <p:cNvGraphicFramePr>
            <a:graphicFrameLocks noChangeAspect="1"/>
          </p:cNvGraphicFramePr>
          <p:nvPr>
            <p:extLst>
              <p:ext uri="{D42A27DB-BD31-4B8C-83A1-F6EECF244321}">
                <p14:modId xmlns:p14="http://schemas.microsoft.com/office/powerpoint/2010/main" val="2788343020"/>
              </p:ext>
            </p:extLst>
          </p:nvPr>
        </p:nvGraphicFramePr>
        <p:xfrm>
          <a:off x="3878263" y="1320800"/>
          <a:ext cx="2924175" cy="506413"/>
        </p:xfrm>
        <a:graphic>
          <a:graphicData uri="http://schemas.openxmlformats.org/presentationml/2006/ole">
            <mc:AlternateContent xmlns:mc="http://schemas.openxmlformats.org/markup-compatibility/2006">
              <mc:Choice xmlns:v="urn:schemas-microsoft-com:vml" Requires="v">
                <p:oleObj spid="_x0000_s1742750" name="Equation" r:id="rId6" imgW="1384200" imgH="241200" progId="Equation.DSMT4">
                  <p:embed/>
                </p:oleObj>
              </mc:Choice>
              <mc:Fallback>
                <p:oleObj name="Equation" r:id="rId6" imgW="1384200" imgH="241200" progId="Equation.DSMT4">
                  <p:embed/>
                  <p:pic>
                    <p:nvPicPr>
                      <p:cNvPr id="756737" name="Object 1"/>
                      <p:cNvPicPr>
                        <a:picLocks noChangeAspect="1" noChangeArrowheads="1"/>
                      </p:cNvPicPr>
                      <p:nvPr/>
                    </p:nvPicPr>
                    <p:blipFill>
                      <a:blip r:embed="rId7"/>
                      <a:srcRect/>
                      <a:stretch>
                        <a:fillRect/>
                      </a:stretch>
                    </p:blipFill>
                    <p:spPr bwMode="auto">
                      <a:xfrm>
                        <a:off x="3878263" y="1320800"/>
                        <a:ext cx="2924175" cy="506413"/>
                      </a:xfrm>
                      <a:prstGeom prst="rect">
                        <a:avLst/>
                      </a:prstGeom>
                      <a:noFill/>
                      <a:ln>
                        <a:noFill/>
                      </a:ln>
                      <a:effectLst/>
                      <a:extLst/>
                    </p:spPr>
                  </p:pic>
                </p:oleObj>
              </mc:Fallback>
            </mc:AlternateContent>
          </a:graphicData>
        </a:graphic>
      </p:graphicFrame>
      <p:graphicFrame>
        <p:nvGraphicFramePr>
          <p:cNvPr id="16" name="Object 2"/>
          <p:cNvGraphicFramePr>
            <a:graphicFrameLocks noChangeAspect="1"/>
          </p:cNvGraphicFramePr>
          <p:nvPr>
            <p:extLst>
              <p:ext uri="{D42A27DB-BD31-4B8C-83A1-F6EECF244321}">
                <p14:modId xmlns:p14="http://schemas.microsoft.com/office/powerpoint/2010/main" val="1460692519"/>
              </p:ext>
            </p:extLst>
          </p:nvPr>
        </p:nvGraphicFramePr>
        <p:xfrm>
          <a:off x="3995738" y="3333750"/>
          <a:ext cx="2154237" cy="554038"/>
        </p:xfrm>
        <a:graphic>
          <a:graphicData uri="http://schemas.openxmlformats.org/presentationml/2006/ole">
            <mc:AlternateContent xmlns:mc="http://schemas.openxmlformats.org/markup-compatibility/2006">
              <mc:Choice xmlns:v="urn:schemas-microsoft-com:vml" Requires="v">
                <p:oleObj spid="_x0000_s1742751" name="Equation" r:id="rId8" imgW="888840" imgH="228600" progId="Equation.DSMT4">
                  <p:embed/>
                </p:oleObj>
              </mc:Choice>
              <mc:Fallback>
                <p:oleObj name="Equation" r:id="rId8" imgW="888840" imgH="228600" progId="Equation.DSMT4">
                  <p:embed/>
                  <p:pic>
                    <p:nvPicPr>
                      <p:cNvPr id="756738" name="Object 2"/>
                      <p:cNvPicPr>
                        <a:picLocks noChangeAspect="1" noChangeArrowheads="1"/>
                      </p:cNvPicPr>
                      <p:nvPr/>
                    </p:nvPicPr>
                    <p:blipFill>
                      <a:blip r:embed="rId9"/>
                      <a:srcRect/>
                      <a:stretch>
                        <a:fillRect/>
                      </a:stretch>
                    </p:blipFill>
                    <p:spPr bwMode="auto">
                      <a:xfrm>
                        <a:off x="3995738" y="3333750"/>
                        <a:ext cx="2154237" cy="554038"/>
                      </a:xfrm>
                      <a:prstGeom prst="rect">
                        <a:avLst/>
                      </a:prstGeom>
                      <a:noFill/>
                      <a:ln>
                        <a:noFill/>
                      </a:ln>
                      <a:effectLst/>
                      <a:extLst/>
                    </p:spPr>
                  </p:pic>
                </p:oleObj>
              </mc:Fallback>
            </mc:AlternateContent>
          </a:graphicData>
        </a:graphic>
      </p:graphicFrame>
      <p:graphicFrame>
        <p:nvGraphicFramePr>
          <p:cNvPr id="18" name="Object 3"/>
          <p:cNvGraphicFramePr>
            <a:graphicFrameLocks noChangeAspect="1"/>
          </p:cNvGraphicFramePr>
          <p:nvPr>
            <p:extLst>
              <p:ext uri="{D42A27DB-BD31-4B8C-83A1-F6EECF244321}">
                <p14:modId xmlns:p14="http://schemas.microsoft.com/office/powerpoint/2010/main" val="3799996618"/>
              </p:ext>
            </p:extLst>
          </p:nvPr>
        </p:nvGraphicFramePr>
        <p:xfrm>
          <a:off x="6778625" y="1122363"/>
          <a:ext cx="1476375" cy="904875"/>
        </p:xfrm>
        <a:graphic>
          <a:graphicData uri="http://schemas.openxmlformats.org/presentationml/2006/ole">
            <mc:AlternateContent xmlns:mc="http://schemas.openxmlformats.org/markup-compatibility/2006">
              <mc:Choice xmlns:v="urn:schemas-microsoft-com:vml" Requires="v">
                <p:oleObj spid="_x0000_s1742752" name="Equation" r:id="rId10" imgW="698400" imgH="431640" progId="Equation.DSMT4">
                  <p:embed/>
                </p:oleObj>
              </mc:Choice>
              <mc:Fallback>
                <p:oleObj name="Equation" r:id="rId10" imgW="698400" imgH="431640" progId="Equation.DSMT4">
                  <p:embed/>
                  <p:pic>
                    <p:nvPicPr>
                      <p:cNvPr id="756739" name="Object 3"/>
                      <p:cNvPicPr>
                        <a:picLocks noChangeAspect="1" noChangeArrowheads="1"/>
                      </p:cNvPicPr>
                      <p:nvPr/>
                    </p:nvPicPr>
                    <p:blipFill>
                      <a:blip r:embed="rId11"/>
                      <a:srcRect/>
                      <a:stretch>
                        <a:fillRect/>
                      </a:stretch>
                    </p:blipFill>
                    <p:spPr bwMode="auto">
                      <a:xfrm>
                        <a:off x="6778625" y="1122363"/>
                        <a:ext cx="1476375" cy="904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
          <p:cNvGraphicFramePr>
            <a:graphicFrameLocks noChangeAspect="1"/>
          </p:cNvGraphicFramePr>
          <p:nvPr>
            <p:extLst>
              <p:ext uri="{D42A27DB-BD31-4B8C-83A1-F6EECF244321}">
                <p14:modId xmlns:p14="http://schemas.microsoft.com/office/powerpoint/2010/main" val="1598793526"/>
              </p:ext>
            </p:extLst>
          </p:nvPr>
        </p:nvGraphicFramePr>
        <p:xfrm>
          <a:off x="6778625" y="2160588"/>
          <a:ext cx="1476375" cy="906462"/>
        </p:xfrm>
        <a:graphic>
          <a:graphicData uri="http://schemas.openxmlformats.org/presentationml/2006/ole">
            <mc:AlternateContent xmlns:mc="http://schemas.openxmlformats.org/markup-compatibility/2006">
              <mc:Choice xmlns:v="urn:schemas-microsoft-com:vml" Requires="v">
                <p:oleObj spid="_x0000_s1742753" name="Equation" r:id="rId12" imgW="698400" imgH="431640" progId="Equation.DSMT4">
                  <p:embed/>
                </p:oleObj>
              </mc:Choice>
              <mc:Fallback>
                <p:oleObj name="Equation" r:id="rId12" imgW="698400" imgH="431640" progId="Equation.DSMT4">
                  <p:embed/>
                  <p:pic>
                    <p:nvPicPr>
                      <p:cNvPr id="756740" name="Object 4"/>
                      <p:cNvPicPr>
                        <a:picLocks noChangeAspect="1" noChangeArrowheads="1"/>
                      </p:cNvPicPr>
                      <p:nvPr/>
                    </p:nvPicPr>
                    <p:blipFill>
                      <a:blip r:embed="rId13"/>
                      <a:srcRect/>
                      <a:stretch>
                        <a:fillRect/>
                      </a:stretch>
                    </p:blipFill>
                    <p:spPr bwMode="auto">
                      <a:xfrm>
                        <a:off x="6778625" y="2160588"/>
                        <a:ext cx="1476375" cy="90646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3"/>
          <p:cNvSpPr txBox="1">
            <a:spLocks noChangeArrowheads="1"/>
          </p:cNvSpPr>
          <p:nvPr/>
        </p:nvSpPr>
        <p:spPr bwMode="auto">
          <a:xfrm>
            <a:off x="564470" y="1311328"/>
            <a:ext cx="32324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00000"/>
              </a:lnSpc>
              <a:spcBef>
                <a:spcPct val="20000"/>
              </a:spcBef>
              <a:spcAft>
                <a:spcPts val="5400"/>
              </a:spcAft>
              <a:buClr>
                <a:srgbClr val="A50021"/>
              </a:buClr>
              <a:buSzPct val="130000"/>
              <a:buFont typeface="Wingdings" pitchFamily="2" charset="2"/>
              <a:buChar char="F"/>
            </a:pPr>
            <a:r>
              <a:rPr lang="zh-CN" altLang="en-US" sz="2800" b="1" dirty="0">
                <a:solidFill>
                  <a:srgbClr val="000066"/>
                </a:solidFill>
                <a:ea typeface="幼圆" pitchFamily="49" charset="-122"/>
              </a:rPr>
              <a:t>主动土压力</a:t>
            </a:r>
            <a:r>
              <a:rPr lang="zh-CN" altLang="en-US" sz="2800" b="1" dirty="0" smtClean="0">
                <a:solidFill>
                  <a:srgbClr val="000066"/>
                </a:solidFill>
                <a:ea typeface="幼圆" pitchFamily="49" charset="-122"/>
              </a:rPr>
              <a:t>系数</a:t>
            </a:r>
            <a:endParaRPr lang="zh-CN" altLang="en-US" sz="2800" b="1" dirty="0">
              <a:solidFill>
                <a:srgbClr val="000066"/>
              </a:solidFill>
              <a:ea typeface="幼圆" pitchFamily="49" charset="-122"/>
            </a:endParaRPr>
          </a:p>
        </p:txBody>
      </p:sp>
      <p:sp>
        <p:nvSpPr>
          <p:cNvPr id="22" name="Text Box 3"/>
          <p:cNvSpPr txBox="1">
            <a:spLocks noChangeArrowheads="1"/>
          </p:cNvSpPr>
          <p:nvPr/>
        </p:nvSpPr>
        <p:spPr bwMode="auto">
          <a:xfrm>
            <a:off x="564470" y="2314300"/>
            <a:ext cx="32324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00000"/>
              </a:lnSpc>
              <a:spcBef>
                <a:spcPct val="20000"/>
              </a:spcBef>
              <a:spcAft>
                <a:spcPts val="5400"/>
              </a:spcAft>
              <a:buClr>
                <a:srgbClr val="A50021"/>
              </a:buClr>
              <a:buSzPct val="130000"/>
              <a:buFont typeface="Wingdings" pitchFamily="2" charset="2"/>
              <a:buChar char="F"/>
            </a:pPr>
            <a:r>
              <a:rPr lang="zh-CN" altLang="en-US" sz="2800" b="1" dirty="0">
                <a:solidFill>
                  <a:srgbClr val="000066"/>
                </a:solidFill>
                <a:ea typeface="幼圆" pitchFamily="49" charset="-122"/>
              </a:rPr>
              <a:t>被</a:t>
            </a:r>
            <a:r>
              <a:rPr lang="zh-CN" altLang="en-US" sz="2800" b="1" dirty="0" smtClean="0">
                <a:solidFill>
                  <a:srgbClr val="000066"/>
                </a:solidFill>
                <a:ea typeface="幼圆" pitchFamily="49" charset="-122"/>
              </a:rPr>
              <a:t>动土压力系数</a:t>
            </a:r>
            <a:endParaRPr lang="zh-CN" altLang="en-US" sz="2800" b="1" dirty="0">
              <a:solidFill>
                <a:srgbClr val="000066"/>
              </a:solidFill>
              <a:ea typeface="幼圆" pitchFamily="49" charset="-122"/>
            </a:endParaRPr>
          </a:p>
        </p:txBody>
      </p:sp>
      <p:sp>
        <p:nvSpPr>
          <p:cNvPr id="23" name="Text Box 3"/>
          <p:cNvSpPr txBox="1">
            <a:spLocks noChangeArrowheads="1"/>
          </p:cNvSpPr>
          <p:nvPr/>
        </p:nvSpPr>
        <p:spPr bwMode="auto">
          <a:xfrm>
            <a:off x="564470" y="3317272"/>
            <a:ext cx="32324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00000"/>
              </a:lnSpc>
              <a:spcBef>
                <a:spcPct val="20000"/>
              </a:spcBef>
              <a:spcAft>
                <a:spcPts val="5400"/>
              </a:spcAft>
              <a:buClr>
                <a:srgbClr val="A50021"/>
              </a:buClr>
              <a:buSzPct val="130000"/>
              <a:buFont typeface="Wingdings" pitchFamily="2" charset="2"/>
              <a:buChar char="F"/>
            </a:pPr>
            <a:r>
              <a:rPr lang="zh-CN" altLang="en-US" sz="2800" b="1" dirty="0">
                <a:solidFill>
                  <a:srgbClr val="000066"/>
                </a:solidFill>
                <a:ea typeface="幼圆" pitchFamily="49" charset="-122"/>
              </a:rPr>
              <a:t>静止土压力</a:t>
            </a:r>
            <a:r>
              <a:rPr lang="zh-CN" altLang="en-US" sz="2800" b="1" dirty="0" smtClean="0">
                <a:solidFill>
                  <a:srgbClr val="000066"/>
                </a:solidFill>
                <a:ea typeface="幼圆" pitchFamily="49" charset="-122"/>
              </a:rPr>
              <a:t>系数</a:t>
            </a:r>
            <a:endParaRPr lang="zh-CN" altLang="en-US" sz="2800" b="1" dirty="0">
              <a:solidFill>
                <a:srgbClr val="000066"/>
              </a:solidFill>
              <a:ea typeface="幼圆" pitchFamily="49" charset="-122"/>
            </a:endParaRPr>
          </a:p>
        </p:txBody>
      </p:sp>
      <p:sp>
        <p:nvSpPr>
          <p:cNvPr id="24" name="Text Box 38"/>
          <p:cNvSpPr txBox="1">
            <a:spLocks noChangeArrowheads="1"/>
          </p:cNvSpPr>
          <p:nvPr/>
        </p:nvSpPr>
        <p:spPr bwMode="auto">
          <a:xfrm>
            <a:off x="6604066" y="3303634"/>
            <a:ext cx="166440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SzPct val="130000"/>
            </a:pPr>
            <a:r>
              <a:rPr lang="zh-CN" altLang="en-US" sz="2000" b="1" dirty="0" smtClean="0">
                <a:solidFill>
                  <a:srgbClr val="A50021"/>
                </a:solidFill>
                <a:latin typeface="幼圆" panose="02010509060101010101" pitchFamily="49" charset="-122"/>
                <a:ea typeface="幼圆" panose="02010509060101010101" pitchFamily="49" charset="-122"/>
                <a:cs typeface="Times New Roman" panose="02020603050405020304" pitchFamily="18" charset="0"/>
              </a:rPr>
              <a:t>无黏性土和</a:t>
            </a:r>
            <a:r>
              <a:rPr lang="en-US" altLang="zh-CN" sz="2000" b="1" dirty="0" smtClean="0">
                <a:solidFill>
                  <a:srgbClr val="A50021"/>
                </a:solidFill>
                <a:latin typeface="幼圆" panose="02010509060101010101" pitchFamily="49" charset="-122"/>
                <a:ea typeface="幼圆" panose="02010509060101010101" pitchFamily="49" charset="-122"/>
                <a:cs typeface="Times New Roman" panose="02020603050405020304" pitchFamily="18" charset="0"/>
              </a:rPr>
              <a:t/>
            </a:r>
            <a:br>
              <a:rPr lang="en-US" altLang="zh-CN" sz="2000" b="1" dirty="0" smtClean="0">
                <a:solidFill>
                  <a:srgbClr val="A50021"/>
                </a:solidFill>
                <a:latin typeface="幼圆" panose="02010509060101010101" pitchFamily="49" charset="-122"/>
                <a:ea typeface="幼圆" panose="02010509060101010101" pitchFamily="49" charset="-122"/>
                <a:cs typeface="Times New Roman" panose="02020603050405020304" pitchFamily="18" charset="0"/>
              </a:rPr>
            </a:br>
            <a:r>
              <a:rPr lang="zh-CN" altLang="en-US" sz="2000" b="1" dirty="0" smtClean="0">
                <a:solidFill>
                  <a:srgbClr val="A50021"/>
                </a:solidFill>
                <a:latin typeface="幼圆" panose="02010509060101010101" pitchFamily="49" charset="-122"/>
                <a:ea typeface="幼圆" panose="02010509060101010101" pitchFamily="49" charset="-122"/>
                <a:cs typeface="Times New Roman" panose="02020603050405020304" pitchFamily="18" charset="0"/>
              </a:rPr>
              <a:t>正常固结黏土</a:t>
            </a:r>
            <a:endParaRPr lang="en-US" altLang="zh-CN" sz="2000" b="1" i="1" baseline="30000" dirty="0">
              <a:solidFill>
                <a:srgbClr val="A50021"/>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25" name="Rectangle 4"/>
          <p:cNvSpPr>
            <a:spLocks noChangeArrowheads="1"/>
          </p:cNvSpPr>
          <p:nvPr/>
        </p:nvSpPr>
        <p:spPr bwMode="auto">
          <a:xfrm>
            <a:off x="3666322" y="4496249"/>
            <a:ext cx="2880320" cy="57579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14000"/>
              </a:lnSpc>
            </a:pPr>
            <a:r>
              <a:rPr lang="en-US" altLang="zh-CN" sz="3000" b="1" i="1" dirty="0" err="1" smtClean="0">
                <a:latin typeface="Times New Roman" panose="02020603050405020304" pitchFamily="18" charset="0"/>
                <a:ea typeface="楷体_GB2312" pitchFamily="49" charset="-122"/>
                <a:cs typeface="Times New Roman" panose="02020603050405020304" pitchFamily="18" charset="0"/>
              </a:rPr>
              <a:t>K</a:t>
            </a:r>
            <a:r>
              <a:rPr lang="en-US" altLang="zh-CN" sz="3000" b="1" baseline="-25000" dirty="0" err="1" smtClean="0">
                <a:latin typeface="Times New Roman" panose="02020603050405020304" pitchFamily="18" charset="0"/>
                <a:ea typeface="楷体_GB2312" pitchFamily="49" charset="-122"/>
                <a:cs typeface="Times New Roman" panose="02020603050405020304" pitchFamily="18" charset="0"/>
              </a:rPr>
              <a:t>a</a:t>
            </a:r>
            <a:r>
              <a:rPr lang="en-US" altLang="zh-CN" sz="3000" b="1" baseline="-25000" dirty="0" smtClean="0">
                <a:latin typeface="Times New Roman" panose="02020603050405020304" pitchFamily="18" charset="0"/>
                <a:ea typeface="楷体_GB2312" pitchFamily="49" charset="-122"/>
                <a:cs typeface="Times New Roman" panose="02020603050405020304" pitchFamily="18" charset="0"/>
              </a:rPr>
              <a:t> </a:t>
            </a:r>
            <a:r>
              <a:rPr lang="en-US" altLang="zh-CN" sz="3000" b="1" dirty="0" smtClean="0">
                <a:latin typeface="Times New Roman" panose="02020603050405020304" pitchFamily="18" charset="0"/>
                <a:ea typeface="楷体_GB2312" pitchFamily="49" charset="-122"/>
                <a:cs typeface="Times New Roman" panose="02020603050405020304" pitchFamily="18" charset="0"/>
                <a:sym typeface="Symbol"/>
              </a:rPr>
              <a:t> </a:t>
            </a:r>
            <a:r>
              <a:rPr lang="en-US" altLang="zh-CN" sz="3000" b="1" i="1" dirty="0" smtClean="0">
                <a:latin typeface="Times New Roman" panose="02020603050405020304" pitchFamily="18" charset="0"/>
                <a:ea typeface="楷体_GB2312" pitchFamily="49" charset="-122"/>
                <a:cs typeface="Times New Roman" panose="02020603050405020304" pitchFamily="18" charset="0"/>
              </a:rPr>
              <a:t>K</a:t>
            </a:r>
            <a:r>
              <a:rPr lang="en-US" altLang="zh-CN" sz="3000" b="1" baseline="-25000" dirty="0" smtClean="0">
                <a:latin typeface="Times New Roman" panose="02020603050405020304" pitchFamily="18" charset="0"/>
                <a:ea typeface="楷体_GB2312" pitchFamily="49" charset="-122"/>
                <a:cs typeface="Times New Roman" panose="02020603050405020304" pitchFamily="18" charset="0"/>
              </a:rPr>
              <a:t>0</a:t>
            </a:r>
            <a:r>
              <a:rPr lang="en-US" altLang="zh-CN" sz="3000" b="1" dirty="0" smtClean="0">
                <a:latin typeface="Times New Roman" panose="02020603050405020304" pitchFamily="18" charset="0"/>
                <a:ea typeface="楷体_GB2312" pitchFamily="49" charset="-122"/>
                <a:cs typeface="Times New Roman" panose="02020603050405020304" pitchFamily="18" charset="0"/>
                <a:sym typeface="Symbol"/>
              </a:rPr>
              <a:t> </a:t>
            </a:r>
            <a:r>
              <a:rPr lang="en-US" altLang="zh-CN" sz="3000" b="1" dirty="0">
                <a:latin typeface="Times New Roman" panose="02020603050405020304" pitchFamily="18" charset="0"/>
                <a:ea typeface="楷体_GB2312" pitchFamily="49" charset="-122"/>
                <a:cs typeface="Times New Roman" panose="02020603050405020304" pitchFamily="18" charset="0"/>
                <a:sym typeface="Symbol"/>
              </a:rPr>
              <a:t> </a:t>
            </a:r>
            <a:r>
              <a:rPr lang="en-US" altLang="zh-CN" sz="3000" b="1" dirty="0" smtClean="0">
                <a:latin typeface="Times New Roman" panose="02020603050405020304" pitchFamily="18" charset="0"/>
                <a:ea typeface="楷体_GB2312" pitchFamily="49" charset="-122"/>
                <a:cs typeface="Times New Roman" panose="02020603050405020304" pitchFamily="18" charset="0"/>
              </a:rPr>
              <a:t>1</a:t>
            </a:r>
            <a:r>
              <a:rPr lang="en-US" altLang="zh-CN" sz="3000" b="1" i="1" dirty="0" smtClean="0">
                <a:latin typeface="Times New Roman" panose="02020603050405020304" pitchFamily="18" charset="0"/>
                <a:ea typeface="楷体_GB2312" pitchFamily="49" charset="-122"/>
                <a:cs typeface="Times New Roman" panose="02020603050405020304" pitchFamily="18" charset="0"/>
              </a:rPr>
              <a:t> </a:t>
            </a:r>
            <a:r>
              <a:rPr lang="en-US" altLang="zh-CN" sz="3000" b="1" dirty="0">
                <a:latin typeface="Times New Roman" panose="02020603050405020304" pitchFamily="18" charset="0"/>
                <a:ea typeface="楷体_GB2312" pitchFamily="49" charset="-122"/>
                <a:cs typeface="Times New Roman" panose="02020603050405020304" pitchFamily="18" charset="0"/>
                <a:sym typeface="Symbol"/>
              </a:rPr>
              <a:t> </a:t>
            </a:r>
            <a:r>
              <a:rPr lang="en-US" altLang="zh-CN" sz="3000" b="1" i="1" dirty="0" err="1" smtClean="0">
                <a:latin typeface="Times New Roman" panose="02020603050405020304" pitchFamily="18" charset="0"/>
                <a:ea typeface="楷体_GB2312" pitchFamily="49" charset="-122"/>
                <a:cs typeface="Times New Roman" panose="02020603050405020304" pitchFamily="18" charset="0"/>
              </a:rPr>
              <a:t>K</a:t>
            </a:r>
            <a:r>
              <a:rPr lang="en-US" altLang="zh-CN" sz="3000" b="1" baseline="-25000" dirty="0" err="1" smtClean="0">
                <a:latin typeface="Times New Roman" panose="02020603050405020304" pitchFamily="18" charset="0"/>
                <a:ea typeface="楷体_GB2312" pitchFamily="49" charset="-122"/>
                <a:cs typeface="Times New Roman" panose="02020603050405020304" pitchFamily="18" charset="0"/>
              </a:rPr>
              <a:t>p</a:t>
            </a:r>
            <a:endParaRPr lang="en-US" altLang="zh-CN" sz="3000" b="1" dirty="0">
              <a:latin typeface="Times New Roman" panose="02020603050405020304" pitchFamily="18" charset="0"/>
              <a:ea typeface="楷体_GB2312" pitchFamily="49" charset="-122"/>
              <a:cs typeface="Times New Roman" panose="02020603050405020304" pitchFamily="18" charset="0"/>
            </a:endParaRPr>
          </a:p>
        </p:txBody>
      </p:sp>
      <p:sp>
        <p:nvSpPr>
          <p:cNvPr id="26" name="AutoShape 5"/>
          <p:cNvSpPr>
            <a:spLocks noChangeArrowheads="1"/>
          </p:cNvSpPr>
          <p:nvPr/>
        </p:nvSpPr>
        <p:spPr bwMode="auto">
          <a:xfrm>
            <a:off x="2966725" y="4588951"/>
            <a:ext cx="494939" cy="429137"/>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Tree>
    <p:extLst>
      <p:ext uri="{BB962C8B-B14F-4D97-AF65-F5344CB8AC3E}">
        <p14:creationId xmlns:p14="http://schemas.microsoft.com/office/powerpoint/2010/main" val="16466443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10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par>
                          <p:cTn id="13" fill="hold">
                            <p:stCondLst>
                              <p:cond delay="1500"/>
                            </p:stCondLst>
                            <p:childTnLst>
                              <p:par>
                                <p:cTn id="14" presetID="22" presetClass="entr" presetSubtype="8"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 calcmode="lin" valueType="num">
                                      <p:cBhvr additive="base">
                                        <p:cTn id="21" dur="10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par>
                          <p:cTn id="27" fill="hold">
                            <p:stCondLst>
                              <p:cond delay="1500"/>
                            </p:stCondLst>
                            <p:childTnLst>
                              <p:par>
                                <p:cTn id="28" presetID="22" presetClass="entr" presetSubtype="8" fill="hold"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 calcmode="lin" valueType="num">
                                      <p:cBhvr additive="base">
                                        <p:cTn id="35" dur="10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1000"/>
                                        <p:tgtEl>
                                          <p:spTgt spid="26"/>
                                        </p:tgtEl>
                                      </p:cBhvr>
                                    </p:animEffect>
                                  </p:childTnLst>
                                </p:cTn>
                              </p:par>
                            </p:childTnLst>
                          </p:cTn>
                        </p:par>
                        <p:par>
                          <p:cTn id="50" fill="hold">
                            <p:stCondLst>
                              <p:cond delay="1000"/>
                            </p:stCondLst>
                            <p:childTnLst>
                              <p:par>
                                <p:cTn id="51" presetID="31" presetClass="entr" presetSubtype="0"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p:cTn id="53" dur="1000" fill="hold"/>
                                        <p:tgtEl>
                                          <p:spTgt spid="25"/>
                                        </p:tgtEl>
                                        <p:attrNameLst>
                                          <p:attrName>ppt_w</p:attrName>
                                        </p:attrNameLst>
                                      </p:cBhvr>
                                      <p:tavLst>
                                        <p:tav tm="0">
                                          <p:val>
                                            <p:fltVal val="0"/>
                                          </p:val>
                                        </p:tav>
                                        <p:tav tm="100000">
                                          <p:val>
                                            <p:strVal val="#ppt_w"/>
                                          </p:val>
                                        </p:tav>
                                      </p:tavLst>
                                    </p:anim>
                                    <p:anim calcmode="lin" valueType="num">
                                      <p:cBhvr>
                                        <p:cTn id="54" dur="1000" fill="hold"/>
                                        <p:tgtEl>
                                          <p:spTgt spid="25"/>
                                        </p:tgtEl>
                                        <p:attrNameLst>
                                          <p:attrName>ppt_h</p:attrName>
                                        </p:attrNameLst>
                                      </p:cBhvr>
                                      <p:tavLst>
                                        <p:tav tm="0">
                                          <p:val>
                                            <p:fltVal val="0"/>
                                          </p:val>
                                        </p:tav>
                                        <p:tav tm="100000">
                                          <p:val>
                                            <p:strVal val="#ppt_h"/>
                                          </p:val>
                                        </p:tav>
                                      </p:tavLst>
                                    </p:anim>
                                    <p:anim calcmode="lin" valueType="num">
                                      <p:cBhvr>
                                        <p:cTn id="55" dur="1000" fill="hold"/>
                                        <p:tgtEl>
                                          <p:spTgt spid="25"/>
                                        </p:tgtEl>
                                        <p:attrNameLst>
                                          <p:attrName>style.rotation</p:attrName>
                                        </p:attrNameLst>
                                      </p:cBhvr>
                                      <p:tavLst>
                                        <p:tav tm="0">
                                          <p:val>
                                            <p:fltVal val="90"/>
                                          </p:val>
                                        </p:tav>
                                        <p:tav tm="100000">
                                          <p:val>
                                            <p:fltVal val="0"/>
                                          </p:val>
                                        </p:tav>
                                      </p:tavLst>
                                    </p:anim>
                                    <p:animEffect transition="in" filter="fade">
                                      <p:cBhvr>
                                        <p:cTn id="5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P spid="22" grpId="0" uiExpand="1" build="p"/>
      <p:bldP spid="23" grpId="0" uiExpand="1" build="p"/>
      <p:bldP spid="24" grpId="0"/>
      <p:bldP spid="25" grpId="0"/>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第六章：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45</a:t>
            </a:fld>
            <a:endParaRPr lang="zh-CN" altLang="en-US" dirty="0">
              <a:solidFill>
                <a:srgbClr val="C00000"/>
              </a:solidFill>
            </a:endParaRPr>
          </a:p>
        </p:txBody>
      </p:sp>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a:t>
            </a:r>
            <a:r>
              <a:rPr kumimoji="1" lang="zh-CN" altLang="en-US" sz="2800" b="1" dirty="0" smtClean="0">
                <a:solidFill>
                  <a:srgbClr val="000066"/>
                </a:solidFill>
                <a:ea typeface="幼圆" pitchFamily="49" charset="-122"/>
                <a:cs typeface="Times New Roman" panose="02020603050405020304" pitchFamily="18" charset="0"/>
              </a:rPr>
              <a:t>土压力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静止土压力计算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土压力理论</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a:solidFill>
                  <a:srgbClr val="000066"/>
                </a:solidFill>
                <a:ea typeface="幼圆" pitchFamily="49" charset="-122"/>
                <a:cs typeface="Times New Roman" panose="02020603050405020304" pitchFamily="18" charset="0"/>
              </a:rPr>
              <a:t>两种土压力理论的比较</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a:solidFill>
                  <a:srgbClr val="000066"/>
                </a:solidFill>
                <a:ea typeface="幼圆" pitchFamily="49" charset="-122"/>
                <a:cs typeface="Times New Roman" panose="02020603050405020304" pitchFamily="18" charset="0"/>
              </a:rPr>
              <a:t>几种常见的主动土压力计算</a:t>
            </a:r>
          </a:p>
        </p:txBody>
      </p:sp>
      <p:sp>
        <p:nvSpPr>
          <p:cNvPr id="8" name="Text Box 4"/>
          <p:cNvSpPr txBox="1">
            <a:spLocks noChangeArrowheads="1"/>
          </p:cNvSpPr>
          <p:nvPr/>
        </p:nvSpPr>
        <p:spPr bwMode="auto">
          <a:xfrm>
            <a:off x="1983936" y="3842522"/>
            <a:ext cx="5402826"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§6.4  </a:t>
            </a:r>
            <a:r>
              <a:rPr kumimoji="1" lang="zh-CN" altLang="en-US" sz="2800" b="1" dirty="0" smtClean="0">
                <a:solidFill>
                  <a:srgbClr val="003399"/>
                </a:solidFill>
                <a:ea typeface="幼圆" pitchFamily="49" charset="-122"/>
                <a:cs typeface="Times New Roman" panose="02020603050405020304" pitchFamily="18" charset="0"/>
              </a:rPr>
              <a:t>库仑</a:t>
            </a:r>
            <a:r>
              <a:rPr kumimoji="1" lang="en-US" altLang="zh-CN" sz="2800" b="1" dirty="0">
                <a:solidFill>
                  <a:srgbClr val="003399"/>
                </a:solidFill>
                <a:ea typeface="幼圆" pitchFamily="49" charset="-122"/>
                <a:cs typeface="Times New Roman" panose="02020603050405020304" pitchFamily="18" charset="0"/>
              </a:rPr>
              <a:t>(Coulomb)</a:t>
            </a:r>
            <a:r>
              <a:rPr kumimoji="1" lang="zh-CN" altLang="en-US" sz="2800" b="1" dirty="0" smtClean="0">
                <a:solidFill>
                  <a:srgbClr val="003399"/>
                </a:solidFill>
                <a:ea typeface="幼圆" pitchFamily="49" charset="-122"/>
                <a:cs typeface="Times New Roman" panose="02020603050405020304" pitchFamily="18" charset="0"/>
              </a:rPr>
              <a:t>土压力</a:t>
            </a:r>
            <a:r>
              <a:rPr kumimoji="1" lang="zh-CN" altLang="en-US" sz="2800" b="1" dirty="0">
                <a:solidFill>
                  <a:srgbClr val="003399"/>
                </a:solidFill>
                <a:ea typeface="幼圆" pitchFamily="49" charset="-122"/>
                <a:cs typeface="Times New Roman" panose="02020603050405020304" pitchFamily="18" charset="0"/>
              </a:rPr>
              <a:t>理论</a:t>
            </a:r>
          </a:p>
        </p:txBody>
      </p:sp>
    </p:spTree>
    <p:extLst>
      <p:ext uri="{BB962C8B-B14F-4D97-AF65-F5344CB8AC3E}">
        <p14:creationId xmlns:p14="http://schemas.microsoft.com/office/powerpoint/2010/main" val="428422994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46</a:t>
            </a:fld>
            <a:endParaRPr lang="zh-CN" altLang="en-US" dirty="0">
              <a:solidFill>
                <a:srgbClr val="C00000"/>
              </a:solidFill>
            </a:endParaRP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l="6793" t="2663" b="5995"/>
          <a:stretch>
            <a:fillRect/>
          </a:stretch>
        </p:blipFill>
        <p:spPr bwMode="auto">
          <a:xfrm>
            <a:off x="396661" y="1275906"/>
            <a:ext cx="4256403" cy="5314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4992688" y="3278188"/>
            <a:ext cx="37941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50000"/>
              </a:spcBef>
              <a:spcAft>
                <a:spcPct val="0"/>
              </a:spcAft>
            </a:pPr>
            <a:r>
              <a:rPr kumimoji="1" lang="zh-CN" altLang="en-US" sz="2800" b="1" dirty="0">
                <a:solidFill>
                  <a:srgbClr val="000066"/>
                </a:solidFill>
                <a:latin typeface="幼圆" pitchFamily="49" charset="-122"/>
                <a:ea typeface="幼圆" pitchFamily="49" charset="-122"/>
              </a:rPr>
              <a:t>法国军事工程师，在摩擦、电磁方面做出了奠基性的贡献。</a:t>
            </a:r>
            <a:r>
              <a:rPr kumimoji="1" lang="en-US" altLang="zh-CN" sz="2800" b="1" dirty="0">
                <a:solidFill>
                  <a:srgbClr val="000066"/>
                </a:solidFill>
                <a:latin typeface="幼圆" pitchFamily="49" charset="-122"/>
                <a:ea typeface="幼圆" pitchFamily="49" charset="-122"/>
              </a:rPr>
              <a:t>1773</a:t>
            </a:r>
            <a:r>
              <a:rPr kumimoji="1" lang="zh-CN" altLang="en-US" sz="2800" b="1" dirty="0">
                <a:solidFill>
                  <a:srgbClr val="000066"/>
                </a:solidFill>
                <a:latin typeface="幼圆" pitchFamily="49" charset="-122"/>
                <a:ea typeface="幼圆" pitchFamily="49" charset="-122"/>
              </a:rPr>
              <a:t>年发表了关于土压力方面论文，成为土压力的经典理论</a:t>
            </a:r>
          </a:p>
        </p:txBody>
      </p:sp>
      <p:sp>
        <p:nvSpPr>
          <p:cNvPr id="6" name="Rectangle 5"/>
          <p:cNvSpPr>
            <a:spLocks noChangeArrowheads="1"/>
          </p:cNvSpPr>
          <p:nvPr/>
        </p:nvSpPr>
        <p:spPr bwMode="auto">
          <a:xfrm>
            <a:off x="4999038" y="1146175"/>
            <a:ext cx="3779837" cy="188974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00000"/>
              </a:lnSpc>
              <a:spcBef>
                <a:spcPct val="20000"/>
              </a:spcBef>
              <a:spcAft>
                <a:spcPct val="0"/>
              </a:spcAft>
            </a:pPr>
            <a:r>
              <a:rPr kumimoji="1" lang="zh-CN" altLang="zh-CN" sz="4000" dirty="0">
                <a:solidFill>
                  <a:srgbClr val="A50021"/>
                </a:solidFill>
                <a:ea typeface="黑体" pitchFamily="2" charset="-122"/>
                <a:cs typeface="Times New Roman" panose="02020603050405020304" pitchFamily="18" charset="0"/>
              </a:rPr>
              <a:t>库仑</a:t>
            </a:r>
            <a:endParaRPr kumimoji="1" lang="zh-CN" altLang="en-US" sz="3200" dirty="0">
              <a:solidFill>
                <a:srgbClr val="A50021"/>
              </a:solidFill>
              <a:ea typeface="黑体" pitchFamily="2" charset="-122"/>
              <a:cs typeface="Times New Roman" panose="02020603050405020304" pitchFamily="18" charset="0"/>
            </a:endParaRPr>
          </a:p>
          <a:p>
            <a:pPr algn="ctr">
              <a:lnSpc>
                <a:spcPct val="100000"/>
              </a:lnSpc>
              <a:spcBef>
                <a:spcPct val="20000"/>
              </a:spcBef>
              <a:spcAft>
                <a:spcPct val="0"/>
              </a:spcAft>
            </a:pPr>
            <a:r>
              <a:rPr kumimoji="1" lang="zh-CN" altLang="en-US" sz="3200" dirty="0">
                <a:solidFill>
                  <a:srgbClr val="A50021"/>
                </a:solidFill>
                <a:ea typeface="黑体" pitchFamily="2" charset="-122"/>
                <a:cs typeface="Times New Roman" panose="02020603050405020304" pitchFamily="18" charset="0"/>
              </a:rPr>
              <a:t>（</a:t>
            </a:r>
            <a:r>
              <a:rPr kumimoji="1" lang="en-US" altLang="zh-CN" sz="3200" dirty="0">
                <a:solidFill>
                  <a:srgbClr val="A50021"/>
                </a:solidFill>
                <a:ea typeface="黑体" pitchFamily="2" charset="-122"/>
                <a:cs typeface="Times New Roman" panose="02020603050405020304" pitchFamily="18" charset="0"/>
              </a:rPr>
              <a:t>C. A. Coulomb</a:t>
            </a:r>
            <a:r>
              <a:rPr kumimoji="1" lang="zh-CN" altLang="en-US" sz="3200" dirty="0">
                <a:solidFill>
                  <a:srgbClr val="A50021"/>
                </a:solidFill>
                <a:ea typeface="黑体" pitchFamily="2" charset="-122"/>
                <a:cs typeface="Times New Roman" panose="02020603050405020304" pitchFamily="18" charset="0"/>
              </a:rPr>
              <a:t>）</a:t>
            </a:r>
          </a:p>
          <a:p>
            <a:pPr algn="ctr">
              <a:lnSpc>
                <a:spcPct val="100000"/>
              </a:lnSpc>
              <a:spcBef>
                <a:spcPct val="20000"/>
              </a:spcBef>
              <a:spcAft>
                <a:spcPct val="0"/>
              </a:spcAft>
            </a:pPr>
            <a:r>
              <a:rPr kumimoji="1" lang="en-US" altLang="zh-CN" sz="3200" dirty="0">
                <a:solidFill>
                  <a:srgbClr val="A50021"/>
                </a:solidFill>
                <a:ea typeface="黑体" pitchFamily="2" charset="-122"/>
                <a:cs typeface="Times New Roman" panose="02020603050405020304" pitchFamily="18" charset="0"/>
              </a:rPr>
              <a:t>(1736-1806)</a:t>
            </a:r>
          </a:p>
        </p:txBody>
      </p:sp>
      <p:sp>
        <p:nvSpPr>
          <p:cNvPr id="7" name="Text Box 7"/>
          <p:cNvSpPr txBox="1">
            <a:spLocks noChangeArrowheads="1"/>
          </p:cNvSpPr>
          <p:nvPr/>
        </p:nvSpPr>
        <p:spPr bwMode="auto">
          <a:xfrm>
            <a:off x="0" y="0"/>
            <a:ext cx="371856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smtClean="0">
                <a:solidFill>
                  <a:srgbClr val="000066"/>
                </a:solidFill>
                <a:ea typeface="黑体" panose="02010609060101010101" pitchFamily="49" charset="-122"/>
                <a:cs typeface="Times New Roman" panose="02020603050405020304" pitchFamily="18" charset="0"/>
              </a:rPr>
              <a:t>库仑土压力</a:t>
            </a:r>
            <a:r>
              <a:rPr lang="zh-CN" altLang="en-US" sz="1800" b="1" kern="900" spc="130" dirty="0">
                <a:solidFill>
                  <a:srgbClr val="000066"/>
                </a:solidFill>
                <a:ea typeface="黑体" panose="02010609060101010101" pitchFamily="49" charset="-122"/>
                <a:cs typeface="Times New Roman" panose="02020603050405020304" pitchFamily="18" charset="0"/>
              </a:rPr>
              <a:t>理论</a:t>
            </a:r>
          </a:p>
        </p:txBody>
      </p:sp>
    </p:spTree>
    <p:extLst>
      <p:ext uri="{BB962C8B-B14F-4D97-AF65-F5344CB8AC3E}">
        <p14:creationId xmlns:p14="http://schemas.microsoft.com/office/powerpoint/2010/main" val="306719415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par>
                          <p:cTn id="8" fill="hold">
                            <p:stCondLst>
                              <p:cond delay="2000"/>
                            </p:stCondLst>
                            <p:childTnLst>
                              <p:par>
                                <p:cTn id="9" presetID="15"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fltVal val="0"/>
                                          </p:val>
                                        </p:tav>
                                        <p:tav tm="100000">
                                          <p:val>
                                            <p:strVal val="#ppt_w"/>
                                          </p:val>
                                        </p:tav>
                                      </p:tavLst>
                                    </p:anim>
                                    <p:anim calcmode="lin" valueType="num">
                                      <p:cBhvr>
                                        <p:cTn id="12" dur="1000" fill="hold"/>
                                        <p:tgtEl>
                                          <p:spTgt spid="6"/>
                                        </p:tgtEl>
                                        <p:attrNameLst>
                                          <p:attrName>ppt_h</p:attrName>
                                        </p:attrNameLst>
                                      </p:cBhvr>
                                      <p:tavLst>
                                        <p:tav tm="0">
                                          <p:val>
                                            <p:fltVal val="0"/>
                                          </p:val>
                                        </p:tav>
                                        <p:tav tm="100000">
                                          <p:val>
                                            <p:strVal val="#ppt_h"/>
                                          </p:val>
                                        </p:tav>
                                      </p:tavLst>
                                    </p:anim>
                                    <p:anim calcmode="lin" valueType="num">
                                      <p:cBhvr>
                                        <p:cTn id="13"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3000"/>
                            </p:stCondLst>
                            <p:childTnLst>
                              <p:par>
                                <p:cTn id="16" presetID="22" presetClass="entr" presetSubtype="1" fill="hold" grpId="0" nodeType="afterEffect">
                                  <p:stCondLst>
                                    <p:cond delay="0"/>
                                  </p:stCondLst>
                                  <p:iterate type="lt">
                                    <p:tmPct val="100000"/>
                                  </p:iterate>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up)">
                                      <p:cBhvr>
                                        <p:cTn id="18" dur="75"/>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47</a:t>
            </a:fld>
            <a:endParaRPr lang="zh-CN" altLang="en-US" dirty="0">
              <a:solidFill>
                <a:srgbClr val="C00000"/>
              </a:solidFill>
            </a:endParaRPr>
          </a:p>
        </p:txBody>
      </p:sp>
      <p:sp>
        <p:nvSpPr>
          <p:cNvPr id="33" name="Text Box 2"/>
          <p:cNvSpPr txBox="1">
            <a:spLocks noChangeArrowheads="1"/>
          </p:cNvSpPr>
          <p:nvPr/>
        </p:nvSpPr>
        <p:spPr bwMode="auto">
          <a:xfrm>
            <a:off x="2977126" y="5741435"/>
            <a:ext cx="483334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库仑土压力理论</a:t>
            </a:r>
          </a:p>
        </p:txBody>
      </p:sp>
      <p:sp>
        <p:nvSpPr>
          <p:cNvPr id="35" name="Text Box 7"/>
          <p:cNvSpPr txBox="1">
            <a:spLocks noChangeArrowheads="1"/>
          </p:cNvSpPr>
          <p:nvPr/>
        </p:nvSpPr>
        <p:spPr bwMode="auto">
          <a:xfrm>
            <a:off x="0" y="0"/>
            <a:ext cx="371856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smtClean="0">
                <a:solidFill>
                  <a:srgbClr val="000066"/>
                </a:solidFill>
                <a:ea typeface="黑体" panose="02010609060101010101" pitchFamily="49" charset="-122"/>
                <a:cs typeface="Times New Roman" panose="02020603050405020304" pitchFamily="18" charset="0"/>
              </a:rPr>
              <a:t>库仑土压力</a:t>
            </a:r>
            <a:r>
              <a:rPr lang="zh-CN" altLang="en-US" sz="1800" b="1" kern="900" spc="130" dirty="0">
                <a:solidFill>
                  <a:srgbClr val="000066"/>
                </a:solidFill>
                <a:ea typeface="黑体" panose="02010609060101010101" pitchFamily="49" charset="-122"/>
                <a:cs typeface="Times New Roman" panose="02020603050405020304" pitchFamily="18" charset="0"/>
              </a:rPr>
              <a:t>理论</a:t>
            </a:r>
          </a:p>
        </p:txBody>
      </p:sp>
      <p:sp>
        <p:nvSpPr>
          <p:cNvPr id="29" name="Text Box 3"/>
          <p:cNvSpPr txBox="1">
            <a:spLocks noChangeArrowheads="1"/>
          </p:cNvSpPr>
          <p:nvPr/>
        </p:nvSpPr>
        <p:spPr bwMode="auto">
          <a:xfrm>
            <a:off x="1790036" y="1907844"/>
            <a:ext cx="5939767"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ea typeface="幼圆" pitchFamily="49" charset="-122"/>
                <a:cs typeface="Times New Roman" panose="02020603050405020304" pitchFamily="18" charset="0"/>
              </a:rPr>
              <a:t>方法要点</a:t>
            </a:r>
            <a:endParaRPr lang="zh-CN" altLang="en-US" sz="3200" b="1" dirty="0">
              <a:solidFill>
                <a:srgbClr val="000066"/>
              </a:solidFill>
              <a:ea typeface="幼圆" pitchFamily="49" charset="-122"/>
              <a:cs typeface="Times New Roman" panose="02020603050405020304" pitchFamily="18" charset="0"/>
            </a:endParaRP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ea typeface="幼圆" pitchFamily="49" charset="-122"/>
                <a:cs typeface="Times New Roman" panose="02020603050405020304" pitchFamily="18" charset="0"/>
              </a:rPr>
              <a:t>无黏性土库伦土压力解析法</a:t>
            </a:r>
            <a:endParaRPr lang="zh-CN" altLang="en-US" sz="3200" b="1" dirty="0">
              <a:solidFill>
                <a:srgbClr val="000066"/>
              </a:solidFill>
              <a:ea typeface="幼圆" pitchFamily="49" charset="-122"/>
              <a:cs typeface="Times New Roman" panose="02020603050405020304" pitchFamily="18" charset="0"/>
            </a:endParaRP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ea typeface="幼圆" pitchFamily="49" charset="-122"/>
                <a:cs typeface="Times New Roman" panose="02020603050405020304" pitchFamily="18" charset="0"/>
              </a:rPr>
              <a:t>库伦土压力图解法</a:t>
            </a:r>
            <a:endParaRPr lang="en-US" altLang="zh-CN" sz="3200" b="1" dirty="0" smtClean="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299244225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slide(fromLeft)">
                                      <p:cBhvr>
                                        <p:cTn id="7" dur="500"/>
                                        <p:tgtEl>
                                          <p:spTgt spid="29">
                                            <p:txEl>
                                              <p:pRg st="0" end="0"/>
                                            </p:txEl>
                                          </p:spTgt>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29">
                                            <p:txEl>
                                              <p:pRg st="1" end="1"/>
                                            </p:txEl>
                                          </p:spTgt>
                                        </p:tgtEl>
                                        <p:attrNameLst>
                                          <p:attrName>style.visibility</p:attrName>
                                        </p:attrNameLst>
                                      </p:cBhvr>
                                      <p:to>
                                        <p:strVal val="visible"/>
                                      </p:to>
                                    </p:set>
                                    <p:animEffect transition="in" filter="slide(fromLeft)">
                                      <p:cBhvr>
                                        <p:cTn id="11" dur="500"/>
                                        <p:tgtEl>
                                          <p:spTgt spid="29">
                                            <p:txEl>
                                              <p:pRg st="1" end="1"/>
                                            </p:txEl>
                                          </p:spTgt>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9">
                                            <p:txEl>
                                              <p:pRg st="2" end="2"/>
                                            </p:txEl>
                                          </p:spTgt>
                                        </p:tgtEl>
                                        <p:attrNameLst>
                                          <p:attrName>style.visibility</p:attrName>
                                        </p:attrNameLst>
                                      </p:cBhvr>
                                      <p:to>
                                        <p:strVal val="visible"/>
                                      </p:to>
                                    </p:set>
                                    <p:animEffect transition="in" filter="slide(fromLeft)">
                                      <p:cBhvr>
                                        <p:cTn id="15" dur="5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27"/>
          <p:cNvSpPr/>
          <p:nvPr/>
        </p:nvSpPr>
        <p:spPr bwMode="auto">
          <a:xfrm>
            <a:off x="6055827" y="963463"/>
            <a:ext cx="1094611" cy="180877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48</a:t>
            </a:fld>
            <a:endParaRPr lang="zh-CN" altLang="en-US" dirty="0">
              <a:solidFill>
                <a:srgbClr val="C00000"/>
              </a:solidFill>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方法</a:t>
            </a:r>
            <a:r>
              <a:rPr lang="zh-CN" altLang="en-US" sz="1800" b="1" kern="900" spc="130" dirty="0">
                <a:solidFill>
                  <a:srgbClr val="000066"/>
                </a:solidFill>
                <a:ea typeface="黑体" panose="02010609060101010101" pitchFamily="49" charset="-122"/>
                <a:cs typeface="Times New Roman" panose="02020603050405020304" pitchFamily="18" charset="0"/>
              </a:rPr>
              <a:t>要点</a:t>
            </a:r>
          </a:p>
        </p:txBody>
      </p:sp>
      <p:sp>
        <p:nvSpPr>
          <p:cNvPr id="54" name="Text Box 2"/>
          <p:cNvSpPr txBox="1">
            <a:spLocks noChangeArrowheads="1"/>
          </p:cNvSpPr>
          <p:nvPr/>
        </p:nvSpPr>
        <p:spPr bwMode="auto">
          <a:xfrm>
            <a:off x="2462543" y="5741435"/>
            <a:ext cx="53479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库仑土压力</a:t>
            </a:r>
            <a:r>
              <a:rPr kumimoji="1" lang="zh-CN" altLang="en-US" sz="4000" b="1" dirty="0" smtClean="0">
                <a:solidFill>
                  <a:srgbClr val="000066"/>
                </a:solidFill>
                <a:latin typeface="黑体" pitchFamily="2" charset="-122"/>
                <a:ea typeface="黑体" pitchFamily="2" charset="-122"/>
              </a:rPr>
              <a:t>理论的要点</a:t>
            </a:r>
            <a:endParaRPr kumimoji="1" lang="zh-CN" altLang="en-US" sz="4000" b="1" dirty="0">
              <a:solidFill>
                <a:srgbClr val="000066"/>
              </a:solidFill>
              <a:latin typeface="黑体" pitchFamily="2" charset="-122"/>
              <a:ea typeface="黑体" pitchFamily="2" charset="-122"/>
            </a:endParaRPr>
          </a:p>
        </p:txBody>
      </p:sp>
      <p:sp>
        <p:nvSpPr>
          <p:cNvPr id="105" name="Rectangle 3"/>
          <p:cNvSpPr txBox="1">
            <a:spLocks noChangeArrowheads="1"/>
          </p:cNvSpPr>
          <p:nvPr/>
        </p:nvSpPr>
        <p:spPr bwMode="auto">
          <a:xfrm>
            <a:off x="776548" y="788679"/>
            <a:ext cx="4239072" cy="2012107"/>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C00000"/>
                </a:solidFill>
                <a:latin typeface="微软雅黑" panose="020B0503020204020204" pitchFamily="34" charset="-122"/>
                <a:ea typeface="微软雅黑" panose="020B0503020204020204" pitchFamily="34" charset="-122"/>
              </a:rPr>
              <a:t>出发点</a:t>
            </a:r>
            <a:endParaRPr lang="zh-CN" altLang="en-US" sz="2400" b="1" kern="0" dirty="0" smtClean="0">
              <a:solidFill>
                <a:srgbClr val="C00000"/>
              </a:solidFill>
              <a:latin typeface="微软雅黑" panose="020B0503020204020204" pitchFamily="34" charset="-122"/>
              <a:ea typeface="微软雅黑" panose="020B0503020204020204" pitchFamily="34" charset="-122"/>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墙</a:t>
            </a:r>
            <a:r>
              <a:rPr lang="zh-CN" altLang="en-US" sz="2000" b="1" kern="0" dirty="0">
                <a:solidFill>
                  <a:srgbClr val="000066"/>
                </a:solidFill>
                <a:latin typeface="幼圆" panose="02010509060101010101" pitchFamily="49" charset="-122"/>
                <a:ea typeface="幼圆" panose="02010509060101010101" pitchFamily="49" charset="-122"/>
              </a:rPr>
              <a:t>背倾斜，具有倾角</a:t>
            </a:r>
            <a:r>
              <a:rPr lang="zh-CN" altLang="en-US" sz="2000" b="1" i="1" kern="0"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a:t>
            </a:r>
            <a:endParaRPr lang="en-US" altLang="zh-CN" sz="2000" b="1" i="1" kern="0" dirty="0" smtClean="0">
              <a:solidFill>
                <a:srgbClr val="000066"/>
              </a:solidFill>
              <a:latin typeface="幼圆" panose="02010509060101010101" pitchFamily="49" charset="-122"/>
              <a:ea typeface="幼圆" panose="02010509060101010101" pitchFamily="49" charset="-122"/>
              <a:sym typeface="Symbol" panose="05050102010706020507" pitchFamily="18" charset="2"/>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墙</a:t>
            </a:r>
            <a:r>
              <a:rPr lang="zh-CN" altLang="en-US" sz="2000" b="1" kern="0" dirty="0">
                <a:solidFill>
                  <a:srgbClr val="000066"/>
                </a:solidFill>
                <a:latin typeface="幼圆" panose="02010509060101010101" pitchFamily="49" charset="-122"/>
                <a:ea typeface="幼圆" panose="02010509060101010101" pitchFamily="49" charset="-122"/>
              </a:rPr>
              <a:t>背粗糙，与填土摩擦角为</a:t>
            </a:r>
            <a:r>
              <a:rPr lang="zh-CN" altLang="en-US" sz="2000" b="1" i="1" kern="0"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a:t>
            </a:r>
            <a:endParaRPr lang="en-US" altLang="zh-CN" sz="2000" b="1" i="1" kern="0" dirty="0" smtClean="0">
              <a:solidFill>
                <a:srgbClr val="000066"/>
              </a:solidFill>
              <a:latin typeface="幼圆" panose="02010509060101010101" pitchFamily="49" charset="-122"/>
              <a:ea typeface="幼圆" panose="02010509060101010101" pitchFamily="49" charset="-122"/>
              <a:sym typeface="Symbol" panose="05050102010706020507" pitchFamily="18" charset="2"/>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填土面可以为任意</a:t>
            </a:r>
            <a:r>
              <a:rPr lang="zh-CN" altLang="en-US" sz="2000" b="1" kern="0" dirty="0">
                <a:solidFill>
                  <a:srgbClr val="000066"/>
                </a:solidFill>
                <a:latin typeface="幼圆" panose="02010509060101010101" pitchFamily="49" charset="-122"/>
                <a:ea typeface="幼圆" panose="02010509060101010101" pitchFamily="49" charset="-122"/>
              </a:rPr>
              <a:t>不规则</a:t>
            </a:r>
            <a:r>
              <a:rPr lang="zh-CN" altLang="en-US" sz="2000" b="1" kern="0" dirty="0" smtClean="0">
                <a:solidFill>
                  <a:srgbClr val="000066"/>
                </a:solidFill>
                <a:latin typeface="幼圆" panose="02010509060101010101" pitchFamily="49" charset="-122"/>
                <a:ea typeface="幼圆" panose="02010509060101010101" pitchFamily="49" charset="-122"/>
              </a:rPr>
              <a:t>面</a:t>
            </a:r>
            <a:endParaRPr lang="zh-CN" altLang="en-US" sz="2000" b="1" i="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124" name="Rectangle 3"/>
          <p:cNvSpPr txBox="1">
            <a:spLocks noChangeArrowheads="1"/>
          </p:cNvSpPr>
          <p:nvPr/>
        </p:nvSpPr>
        <p:spPr bwMode="auto">
          <a:xfrm>
            <a:off x="772546" y="3017474"/>
            <a:ext cx="7801086" cy="102943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25000"/>
              </a:lnSpc>
              <a:spcBef>
                <a:spcPct val="0"/>
              </a:spcBef>
              <a:buClr>
                <a:srgbClr val="C00000"/>
              </a:buClr>
              <a:buSzPct val="100000"/>
              <a:buFont typeface="Wingdings" panose="05000000000000000000" pitchFamily="2" charset="2"/>
              <a:buChar char="n"/>
            </a:pPr>
            <a:r>
              <a:rPr lang="zh-CN" altLang="en-US" sz="2400" b="1" kern="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基本方法和假设</a:t>
            </a:r>
            <a:r>
              <a:rPr lang="zh-CN" altLang="en-US" sz="2400" b="1" kern="0"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考虑墙后滑动楔体的整体平衡条件，直接求出作用在墙背上的总土压力</a:t>
            </a:r>
            <a:r>
              <a:rPr lang="en-US" altLang="zh-CN"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endParaRPr lang="zh-CN" altLang="en-US" sz="2400" b="1" i="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25000"/>
              </a:lnSpc>
              <a:spcBef>
                <a:spcPct val="0"/>
              </a:spcBef>
              <a:buClr>
                <a:srgbClr val="C00000"/>
              </a:buClr>
              <a:buSzPct val="100000"/>
              <a:buFont typeface="Wingdings" panose="05000000000000000000" pitchFamily="2" charset="2"/>
              <a:buChar char="Ø"/>
            </a:pPr>
            <a:endPar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539750" lvl="1" indent="-182563">
              <a:lnSpc>
                <a:spcPct val="125000"/>
              </a:lnSpc>
              <a:spcBef>
                <a:spcPts val="300"/>
              </a:spcBef>
              <a:spcAft>
                <a:spcPts val="300"/>
              </a:spcAft>
              <a:buClr>
                <a:srgbClr val="C00000"/>
              </a:buClr>
              <a:buSzPct val="130000"/>
              <a:buFont typeface="Arial" panose="020B0604020202020204" pitchFamily="34" charset="0"/>
              <a:buChar char="•"/>
            </a:pPr>
            <a:endParaRPr lang="zh-CN" altLang="en-US" sz="2000" b="1" kern="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nvGrpSpPr>
          <p:cNvPr id="7" name="组合 6"/>
          <p:cNvGrpSpPr/>
          <p:nvPr/>
        </p:nvGrpSpPr>
        <p:grpSpPr>
          <a:xfrm>
            <a:off x="5650692" y="820208"/>
            <a:ext cx="2289654" cy="1959670"/>
            <a:chOff x="5650692" y="820208"/>
            <a:chExt cx="2289654" cy="1959670"/>
          </a:xfrm>
        </p:grpSpPr>
        <p:grpSp>
          <p:nvGrpSpPr>
            <p:cNvPr id="5" name="组合 4"/>
            <p:cNvGrpSpPr/>
            <p:nvPr/>
          </p:nvGrpSpPr>
          <p:grpSpPr>
            <a:xfrm>
              <a:off x="5650692" y="1359934"/>
              <a:ext cx="2289654" cy="1419944"/>
              <a:chOff x="5650692" y="1359934"/>
              <a:chExt cx="2289654" cy="1419944"/>
            </a:xfrm>
          </p:grpSpPr>
          <p:sp>
            <p:nvSpPr>
              <p:cNvPr id="6" name="任意多边形 5"/>
              <p:cNvSpPr/>
              <p:nvPr/>
            </p:nvSpPr>
            <p:spPr bwMode="auto">
              <a:xfrm>
                <a:off x="5650692" y="1359934"/>
                <a:ext cx="685110" cy="1419944"/>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3" name="直接连接符 22"/>
              <p:cNvCxnSpPr/>
              <p:nvPr/>
            </p:nvCxnSpPr>
            <p:spPr bwMode="auto">
              <a:xfrm>
                <a:off x="6030523" y="2778743"/>
                <a:ext cx="190982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任意多边形 1"/>
            <p:cNvSpPr/>
            <p:nvPr/>
          </p:nvSpPr>
          <p:spPr bwMode="auto">
            <a:xfrm>
              <a:off x="6041136" y="820208"/>
              <a:ext cx="1884459" cy="540000"/>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4459" h="659958">
                  <a:moveTo>
                    <a:pt x="0" y="659958"/>
                  </a:moveTo>
                  <a:cubicBezTo>
                    <a:pt x="67586" y="625502"/>
                    <a:pt x="131196" y="589722"/>
                    <a:pt x="246490" y="532738"/>
                  </a:cubicBezTo>
                  <a:cubicBezTo>
                    <a:pt x="361784" y="475754"/>
                    <a:pt x="523460" y="384313"/>
                    <a:pt x="691763" y="318052"/>
                  </a:cubicBezTo>
                  <a:cubicBezTo>
                    <a:pt x="860066" y="251791"/>
                    <a:pt x="1057523" y="188181"/>
                    <a:pt x="1256306" y="135172"/>
                  </a:cubicBezTo>
                  <a:cubicBezTo>
                    <a:pt x="1455089" y="82163"/>
                    <a:pt x="1669774" y="41081"/>
                    <a:pt x="1884459"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3" name="组合 2"/>
          <p:cNvGrpSpPr/>
          <p:nvPr/>
        </p:nvGrpSpPr>
        <p:grpSpPr>
          <a:xfrm>
            <a:off x="5700186" y="2065052"/>
            <a:ext cx="550031" cy="755187"/>
            <a:chOff x="5700186" y="2065052"/>
            <a:chExt cx="550031" cy="755187"/>
          </a:xfrm>
        </p:grpSpPr>
        <p:sp>
          <p:nvSpPr>
            <p:cNvPr id="135" name="Rectangle 74"/>
            <p:cNvSpPr>
              <a:spLocks noChangeArrowheads="1"/>
            </p:cNvSpPr>
            <p:nvPr/>
          </p:nvSpPr>
          <p:spPr bwMode="auto">
            <a:xfrm>
              <a:off x="5700186" y="2106622"/>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136" name="Text Box 75"/>
            <p:cNvSpPr txBox="1">
              <a:spLocks noChangeArrowheads="1"/>
            </p:cNvSpPr>
            <p:nvPr/>
          </p:nvSpPr>
          <p:spPr bwMode="auto">
            <a:xfrm>
              <a:off x="5818490" y="2402368"/>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8" name="直接连接符 7"/>
            <p:cNvCxnSpPr/>
            <p:nvPr/>
          </p:nvCxnSpPr>
          <p:spPr bwMode="auto">
            <a:xfrm flipH="1">
              <a:off x="5877802" y="2126432"/>
              <a:ext cx="32596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箭头连接符 161"/>
            <p:cNvCxnSpPr/>
            <p:nvPr/>
          </p:nvCxnSpPr>
          <p:spPr bwMode="auto">
            <a:xfrm flipV="1">
              <a:off x="5885627" y="2130577"/>
              <a:ext cx="329035" cy="348404"/>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任意多边形 13"/>
            <p:cNvSpPr/>
            <p:nvPr/>
          </p:nvSpPr>
          <p:spPr bwMode="auto">
            <a:xfrm rot="4552046">
              <a:off x="6129173" y="2065052"/>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 name="任意多边形 17"/>
            <p:cNvSpPr/>
            <p:nvPr/>
          </p:nvSpPr>
          <p:spPr bwMode="auto">
            <a:xfrm>
              <a:off x="5984104" y="2175455"/>
              <a:ext cx="79284"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4" name="组合 3"/>
          <p:cNvGrpSpPr/>
          <p:nvPr/>
        </p:nvGrpSpPr>
        <p:grpSpPr>
          <a:xfrm>
            <a:off x="5911849" y="1357324"/>
            <a:ext cx="304800" cy="666668"/>
            <a:chOff x="5911849" y="1357324"/>
            <a:chExt cx="304800" cy="666668"/>
          </a:xfrm>
        </p:grpSpPr>
        <p:sp>
          <p:nvSpPr>
            <p:cNvPr id="127" name="Line 60"/>
            <p:cNvSpPr>
              <a:spLocks noChangeShapeType="1"/>
            </p:cNvSpPr>
            <p:nvPr/>
          </p:nvSpPr>
          <p:spPr bwMode="auto">
            <a:xfrm>
              <a:off x="6051550" y="1357324"/>
              <a:ext cx="0" cy="4262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Rectangle 61"/>
            <p:cNvSpPr>
              <a:spLocks noChangeArrowheads="1"/>
            </p:cNvSpPr>
            <p:nvPr/>
          </p:nvSpPr>
          <p:spPr bwMode="auto">
            <a:xfrm>
              <a:off x="5911849" y="1607083"/>
              <a:ext cx="30480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163" name="任意多边形 162"/>
            <p:cNvSpPr/>
            <p:nvPr/>
          </p:nvSpPr>
          <p:spPr bwMode="auto">
            <a:xfrm rot="18139897">
              <a:off x="6066654" y="1693440"/>
              <a:ext cx="45719" cy="69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1" name="组合 10"/>
          <p:cNvGrpSpPr/>
          <p:nvPr/>
        </p:nvGrpSpPr>
        <p:grpSpPr>
          <a:xfrm>
            <a:off x="5820418" y="811436"/>
            <a:ext cx="1792643" cy="2031967"/>
            <a:chOff x="5820418" y="811436"/>
            <a:chExt cx="1792643" cy="2031967"/>
          </a:xfrm>
        </p:grpSpPr>
        <p:grpSp>
          <p:nvGrpSpPr>
            <p:cNvPr id="9" name="组合 8"/>
            <p:cNvGrpSpPr/>
            <p:nvPr/>
          </p:nvGrpSpPr>
          <p:grpSpPr>
            <a:xfrm>
              <a:off x="5820418" y="919182"/>
              <a:ext cx="1326798" cy="1924221"/>
              <a:chOff x="5820418" y="919182"/>
              <a:chExt cx="1326798" cy="1924221"/>
            </a:xfrm>
          </p:grpSpPr>
          <p:sp>
            <p:nvSpPr>
              <p:cNvPr id="132" name="Line 70"/>
              <p:cNvSpPr>
                <a:spLocks noChangeShapeType="1"/>
              </p:cNvSpPr>
              <p:nvPr/>
            </p:nvSpPr>
            <p:spPr bwMode="auto">
              <a:xfrm flipV="1">
                <a:off x="6349257" y="978250"/>
                <a:ext cx="797959" cy="1787418"/>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Text Box 75"/>
              <p:cNvSpPr txBox="1">
                <a:spLocks noChangeArrowheads="1"/>
              </p:cNvSpPr>
              <p:nvPr/>
            </p:nvSpPr>
            <p:spPr bwMode="auto">
              <a:xfrm>
                <a:off x="5820418" y="919182"/>
                <a:ext cx="4317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65" name="Text Box 75"/>
              <p:cNvSpPr txBox="1">
                <a:spLocks noChangeArrowheads="1"/>
              </p:cNvSpPr>
              <p:nvPr/>
            </p:nvSpPr>
            <p:spPr bwMode="auto">
              <a:xfrm>
                <a:off x="6400221" y="2425532"/>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sp>
          <p:nvSpPr>
            <p:cNvPr id="166" name="Text Box 75"/>
            <p:cNvSpPr txBox="1">
              <a:spLocks noChangeArrowheads="1"/>
            </p:cNvSpPr>
            <p:nvPr/>
          </p:nvSpPr>
          <p:spPr bwMode="auto">
            <a:xfrm>
              <a:off x="7181334" y="811436"/>
              <a:ext cx="4317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sp>
        <p:nvSpPr>
          <p:cNvPr id="191" name="矩形 190"/>
          <p:cNvSpPr/>
          <p:nvPr/>
        </p:nvSpPr>
        <p:spPr>
          <a:xfrm>
            <a:off x="6956523" y="2005989"/>
            <a:ext cx="1217000" cy="446276"/>
          </a:xfrm>
          <a:prstGeom prst="rect">
            <a:avLst/>
          </a:prstGeom>
        </p:spPr>
        <p:txBody>
          <a:bodyPr wrap="non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主动状态</a:t>
            </a:r>
            <a:endParaRPr lang="zh-CN" altLang="en-US" sz="2000" b="1" dirty="0">
              <a:solidFill>
                <a:srgbClr val="A50021"/>
              </a:solidFill>
              <a:ea typeface="黑体" panose="02010609060101010101" pitchFamily="49" charset="-122"/>
              <a:cs typeface="Times New Roman" panose="02020603050405020304" pitchFamily="18" charset="0"/>
            </a:endParaRPr>
          </a:p>
        </p:txBody>
      </p:sp>
      <p:grpSp>
        <p:nvGrpSpPr>
          <p:cNvPr id="10" name="组合 9"/>
          <p:cNvGrpSpPr/>
          <p:nvPr/>
        </p:nvGrpSpPr>
        <p:grpSpPr>
          <a:xfrm>
            <a:off x="5224464" y="518198"/>
            <a:ext cx="1447958" cy="704022"/>
            <a:chOff x="5224464" y="518198"/>
            <a:chExt cx="1447958" cy="704022"/>
          </a:xfrm>
        </p:grpSpPr>
        <p:sp>
          <p:nvSpPr>
            <p:cNvPr id="186" name="矩形 185"/>
            <p:cNvSpPr/>
            <p:nvPr/>
          </p:nvSpPr>
          <p:spPr>
            <a:xfrm>
              <a:off x="5224464" y="518198"/>
              <a:ext cx="1277965" cy="414794"/>
            </a:xfrm>
            <a:prstGeom prst="rect">
              <a:avLst/>
            </a:prstGeom>
          </p:spPr>
          <p:txBody>
            <a:bodyPr wrap="square">
              <a:spAutoFit/>
            </a:bodyPr>
            <a:lstStyle/>
            <a:p>
              <a:r>
                <a:rPr lang="zh-CN" altLang="en-US" sz="2000" b="1" kern="0" dirty="0" smtClean="0">
                  <a:solidFill>
                    <a:srgbClr val="000066"/>
                  </a:solidFill>
                  <a:latin typeface="幼圆" panose="02010509060101010101" pitchFamily="49" charset="-122"/>
                  <a:ea typeface="幼圆" panose="02010509060101010101" pitchFamily="49" charset="-122"/>
                </a:rPr>
                <a:t>滑动楔体</a:t>
              </a:r>
              <a:endParaRPr lang="zh-CN" altLang="en-US" sz="2000" dirty="0"/>
            </a:p>
          </p:txBody>
        </p:sp>
        <p:cxnSp>
          <p:nvCxnSpPr>
            <p:cNvPr id="30" name="直接连接符 29"/>
            <p:cNvCxnSpPr/>
            <p:nvPr/>
          </p:nvCxnSpPr>
          <p:spPr bwMode="auto">
            <a:xfrm>
              <a:off x="6283123" y="878195"/>
              <a:ext cx="389299" cy="344025"/>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Rectangle 3"/>
          <p:cNvSpPr txBox="1">
            <a:spLocks noChangeArrowheads="1"/>
          </p:cNvSpPr>
          <p:nvPr/>
        </p:nvSpPr>
        <p:spPr bwMode="auto">
          <a:xfrm>
            <a:off x="780580" y="4083412"/>
            <a:ext cx="6444684" cy="1428627"/>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smtClean="0">
                <a:solidFill>
                  <a:srgbClr val="A50021"/>
                </a:solidFill>
                <a:latin typeface="黑体" panose="02010609060101010101" pitchFamily="49" charset="-122"/>
                <a:ea typeface="黑体" panose="02010609060101010101" pitchFamily="49" charset="-122"/>
                <a:cs typeface="Times New Roman" panose="02020603050405020304" pitchFamily="18" charset="0"/>
              </a:rPr>
              <a:t>平面</a:t>
            </a:r>
            <a:r>
              <a:rPr lang="zh-CN" altLang="en-US" sz="2000" b="1" kern="0" dirty="0">
                <a:solidFill>
                  <a:srgbClr val="A50021"/>
                </a:solidFill>
                <a:latin typeface="黑体" panose="02010609060101010101" pitchFamily="49" charset="-122"/>
                <a:ea typeface="黑体" panose="02010609060101010101" pitchFamily="49" charset="-122"/>
                <a:cs typeface="Times New Roman" panose="02020603050405020304" pitchFamily="18" charset="0"/>
              </a:rPr>
              <a:t>滑裂</a:t>
            </a:r>
            <a:r>
              <a:rPr lang="zh-CN" altLang="en-US" sz="2000" b="1" kern="0" dirty="0" smtClean="0">
                <a:solidFill>
                  <a:srgbClr val="A50021"/>
                </a:solidFill>
                <a:latin typeface="黑体" panose="02010609060101010101" pitchFamily="49" charset="-122"/>
                <a:ea typeface="黑体" panose="02010609060101010101" pitchFamily="49" charset="-122"/>
                <a:cs typeface="Times New Roman" panose="02020603050405020304" pitchFamily="18" charset="0"/>
              </a:rPr>
              <a:t>面</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：滑</a:t>
            </a:r>
            <a:r>
              <a:rPr lang="zh-CN" altLang="en-US" sz="2000" b="1" kern="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裂</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面</a:t>
            </a:r>
            <a:r>
              <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AB</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和</a:t>
            </a:r>
            <a:r>
              <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BC</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为平面</a:t>
            </a:r>
            <a:endPar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a:solidFill>
                  <a:srgbClr val="A50021"/>
                </a:solidFill>
                <a:latin typeface="黑体" panose="02010609060101010101" pitchFamily="49" charset="-122"/>
                <a:ea typeface="黑体" panose="02010609060101010101" pitchFamily="49" charset="-122"/>
                <a:cs typeface="Times New Roman" panose="02020603050405020304" pitchFamily="18" charset="0"/>
              </a:rPr>
              <a:t>刚体滑动</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sz="2000" b="1" kern="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破坏土</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楔</a:t>
            </a:r>
            <a:r>
              <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ABC</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为刚体</a:t>
            </a:r>
            <a:endPar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r>
              <a:rPr lang="zh-CN" altLang="en-US" sz="2000" b="1" kern="0" dirty="0">
                <a:solidFill>
                  <a:srgbClr val="A50021"/>
                </a:solidFill>
                <a:latin typeface="黑体" panose="02010609060101010101" pitchFamily="49" charset="-122"/>
                <a:ea typeface="黑体" panose="02010609060101010101" pitchFamily="49" charset="-122"/>
                <a:cs typeface="Times New Roman" panose="02020603050405020304" pitchFamily="18" charset="0"/>
              </a:rPr>
              <a:t>极限平衡状态</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：楔体</a:t>
            </a:r>
            <a:r>
              <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ABC</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整体</a:t>
            </a:r>
            <a:r>
              <a:rPr lang="zh-CN" altLang="en-US" sz="2000" b="1" kern="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处于极限</a:t>
            </a:r>
            <a:r>
              <a:rPr lang="zh-CN" altLang="en-US"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平衡状态</a:t>
            </a:r>
            <a:endParaRPr lang="en-US" altLang="zh-CN" sz="2000" b="1" kern="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539750" lvl="1" indent="-182563">
              <a:lnSpc>
                <a:spcPct val="120000"/>
              </a:lnSpc>
              <a:spcBef>
                <a:spcPts val="300"/>
              </a:spcBef>
              <a:spcAft>
                <a:spcPts val="300"/>
              </a:spcAft>
              <a:buClr>
                <a:srgbClr val="C00000"/>
              </a:buClr>
              <a:buSzPct val="130000"/>
              <a:buFont typeface="Arial" panose="020B0604020202020204" pitchFamily="34" charset="0"/>
              <a:buChar char="•"/>
            </a:pPr>
            <a:endParaRPr lang="zh-CN" altLang="en-US" sz="2000" b="1" kern="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35" name="圆角矩形标注 34"/>
          <p:cNvSpPr/>
          <p:nvPr/>
        </p:nvSpPr>
        <p:spPr bwMode="auto">
          <a:xfrm>
            <a:off x="6173874" y="3703096"/>
            <a:ext cx="2775856" cy="1110343"/>
          </a:xfrm>
          <a:prstGeom prst="wedgeRoundRectCallout">
            <a:avLst>
              <a:gd name="adj1" fmla="val -52200"/>
              <a:gd name="adj2" fmla="val -165474"/>
              <a:gd name="adj3" fmla="val 16667"/>
            </a:avLst>
          </a:prstGeom>
          <a:solidFill>
            <a:schemeClr val="accent1">
              <a:lumMod val="90000"/>
            </a:scheme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36" name="文本框 35"/>
          <p:cNvSpPr txBox="1"/>
          <p:nvPr/>
        </p:nvSpPr>
        <p:spPr>
          <a:xfrm>
            <a:off x="6339159" y="3821535"/>
            <a:ext cx="2512600" cy="908647"/>
          </a:xfrm>
          <a:prstGeom prst="rect">
            <a:avLst/>
          </a:prstGeom>
          <a:noFill/>
        </p:spPr>
        <p:txBody>
          <a:bodyPr wrap="square" rtlCol="0">
            <a:spAutoFit/>
          </a:bodyPr>
          <a:lstStyle/>
          <a:p>
            <a:r>
              <a:rPr lang="en-US" altLang="zh-CN" sz="2400" dirty="0">
                <a:solidFill>
                  <a:srgbClr val="C00000"/>
                </a:solidFill>
                <a:ea typeface="微软雅黑" panose="020B0503020204020204" pitchFamily="34" charset="-122"/>
                <a:cs typeface="Times New Roman" panose="02020603050405020304" pitchFamily="18" charset="0"/>
                <a:sym typeface="Webdings" panose="05030102010509060703" pitchFamily="18" charset="2"/>
              </a:rPr>
              <a:t>7</a:t>
            </a:r>
            <a:r>
              <a:rPr lang="zh-CN" altLang="en-US" sz="2400" dirty="0" smtClean="0">
                <a:solidFill>
                  <a:srgbClr val="C00000"/>
                </a:solidFill>
                <a:ea typeface="微软雅黑" panose="020B0503020204020204" pitchFamily="34" charset="-122"/>
                <a:cs typeface="Times New Roman" panose="02020603050405020304" pitchFamily="18" charset="0"/>
                <a:sym typeface="Webdings" panose="05030102010509060703" pitchFamily="18" charset="2"/>
              </a:rPr>
              <a:t>、</a:t>
            </a:r>
            <a:r>
              <a:rPr lang="zh-CN" altLang="en-US" sz="2400" dirty="0">
                <a:solidFill>
                  <a:srgbClr val="C00000"/>
                </a:solidFill>
                <a:ea typeface="微软雅黑" panose="020B0503020204020204" pitchFamily="34" charset="-122"/>
                <a:cs typeface="Times New Roman" panose="02020603050405020304" pitchFamily="18" charset="0"/>
                <a:sym typeface="Webdings" panose="05030102010509060703" pitchFamily="18" charset="2"/>
              </a:rPr>
              <a:t>讨论</a:t>
            </a:r>
            <a:r>
              <a:rPr lang="zh-CN" altLang="en-US" sz="2400" dirty="0">
                <a:solidFill>
                  <a:srgbClr val="C00000"/>
                </a:solidFill>
                <a:ea typeface="微软雅黑" panose="020B0503020204020204" pitchFamily="34" charset="-122"/>
                <a:cs typeface="Times New Roman" panose="02020603050405020304" pitchFamily="18" charset="0"/>
              </a:rPr>
              <a:t>：为何</a:t>
            </a:r>
            <a:r>
              <a:rPr lang="en-US" altLang="zh-CN" sz="2400" b="1" i="1" dirty="0" smtClean="0">
                <a:solidFill>
                  <a:srgbClr val="C00000"/>
                </a:solidFill>
                <a:ea typeface="微软雅黑" panose="020B0503020204020204" pitchFamily="34" charset="-122"/>
                <a:cs typeface="Times New Roman" panose="02020603050405020304" pitchFamily="18" charset="0"/>
              </a:rPr>
              <a:t>E</a:t>
            </a:r>
            <a:r>
              <a:rPr lang="zh-CN" altLang="en-US" sz="2400" dirty="0" smtClean="0">
                <a:solidFill>
                  <a:srgbClr val="C00000"/>
                </a:solidFill>
                <a:ea typeface="微软雅黑" panose="020B0503020204020204" pitchFamily="34" charset="-122"/>
                <a:cs typeface="Times New Roman" panose="02020603050405020304" pitchFamily="18" charset="0"/>
              </a:rPr>
              <a:t>是图中画的方向？</a:t>
            </a:r>
            <a:endParaRPr lang="zh-CN" altLang="en-US" sz="2400" dirty="0">
              <a:solidFill>
                <a:srgbClr val="C00000"/>
              </a:solidFill>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1999134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24"/>
                                        </p:tgtEl>
                                        <p:attrNameLst>
                                          <p:attrName>style.visibility</p:attrName>
                                        </p:attrNameLst>
                                      </p:cBhvr>
                                      <p:to>
                                        <p:strVal val="visible"/>
                                      </p:to>
                                    </p:set>
                                    <p:anim calcmode="lin" valueType="num">
                                      <p:cBhvr>
                                        <p:cTn id="7" dur="1000" fill="hold"/>
                                        <p:tgtEl>
                                          <p:spTgt spid="124"/>
                                        </p:tgtEl>
                                        <p:attrNameLst>
                                          <p:attrName>ppt_w</p:attrName>
                                        </p:attrNameLst>
                                      </p:cBhvr>
                                      <p:tavLst>
                                        <p:tav tm="0">
                                          <p:val>
                                            <p:fltVal val="0"/>
                                          </p:val>
                                        </p:tav>
                                        <p:tav tm="100000">
                                          <p:val>
                                            <p:strVal val="#ppt_w"/>
                                          </p:val>
                                        </p:tav>
                                      </p:tavLst>
                                    </p:anim>
                                    <p:anim calcmode="lin" valueType="num">
                                      <p:cBhvr>
                                        <p:cTn id="8" dur="1000" fill="hold"/>
                                        <p:tgtEl>
                                          <p:spTgt spid="124"/>
                                        </p:tgtEl>
                                        <p:attrNameLst>
                                          <p:attrName>ppt_h</p:attrName>
                                        </p:attrNameLst>
                                      </p:cBhvr>
                                      <p:tavLst>
                                        <p:tav tm="0">
                                          <p:val>
                                            <p:fltVal val="0"/>
                                          </p:val>
                                        </p:tav>
                                        <p:tav tm="100000">
                                          <p:val>
                                            <p:strVal val="#ppt_h"/>
                                          </p:val>
                                        </p:tav>
                                      </p:tavLst>
                                    </p:anim>
                                    <p:anim calcmode="lin" valueType="num">
                                      <p:cBhvr>
                                        <p:cTn id="9" dur="1000" fill="hold"/>
                                        <p:tgtEl>
                                          <p:spTgt spid="124"/>
                                        </p:tgtEl>
                                        <p:attrNameLst>
                                          <p:attrName>style.rotation</p:attrName>
                                        </p:attrNameLst>
                                      </p:cBhvr>
                                      <p:tavLst>
                                        <p:tav tm="0">
                                          <p:val>
                                            <p:fltVal val="90"/>
                                          </p:val>
                                        </p:tav>
                                        <p:tav tm="100000">
                                          <p:val>
                                            <p:fltVal val="0"/>
                                          </p:val>
                                        </p:tav>
                                      </p:tavLst>
                                    </p:anim>
                                    <p:animEffect transition="in" filter="fade">
                                      <p:cBhvr>
                                        <p:cTn id="10" dur="1000"/>
                                        <p:tgtEl>
                                          <p:spTgt spid="124"/>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fltVal val="0"/>
                                          </p:val>
                                        </p:tav>
                                        <p:tav tm="100000">
                                          <p:val>
                                            <p:strVal val="#ppt_w"/>
                                          </p:val>
                                        </p:tav>
                                      </p:tavLst>
                                    </p:anim>
                                    <p:anim calcmode="lin" valueType="num">
                                      <p:cBhvr>
                                        <p:cTn id="15" dur="1000" fill="hold"/>
                                        <p:tgtEl>
                                          <p:spTgt spid="10"/>
                                        </p:tgtEl>
                                        <p:attrNameLst>
                                          <p:attrName>ppt_h</p:attrName>
                                        </p:attrNameLst>
                                      </p:cBhvr>
                                      <p:tavLst>
                                        <p:tav tm="0">
                                          <p:val>
                                            <p:fltVal val="0"/>
                                          </p:val>
                                        </p:tav>
                                        <p:tav tm="100000">
                                          <p:val>
                                            <p:strVal val="#ppt_h"/>
                                          </p:val>
                                        </p:tav>
                                      </p:tavLst>
                                    </p:anim>
                                    <p:anim calcmode="lin" valueType="num">
                                      <p:cBhvr>
                                        <p:cTn id="16" dur="1000" fill="hold"/>
                                        <p:tgtEl>
                                          <p:spTgt spid="10"/>
                                        </p:tgtEl>
                                        <p:attrNameLst>
                                          <p:attrName>style.rotation</p:attrName>
                                        </p:attrNameLst>
                                      </p:cBhvr>
                                      <p:tavLst>
                                        <p:tav tm="0">
                                          <p:val>
                                            <p:fltVal val="90"/>
                                          </p:val>
                                        </p:tav>
                                        <p:tav tm="100000">
                                          <p:val>
                                            <p:fltVal val="0"/>
                                          </p:val>
                                        </p:tav>
                                      </p:tavLst>
                                    </p:anim>
                                    <p:animEffect transition="in" filter="fade">
                                      <p:cBhvr>
                                        <p:cTn id="17" dur="1000"/>
                                        <p:tgtEl>
                                          <p:spTgt spid="10"/>
                                        </p:tgtEl>
                                      </p:cBhvr>
                                    </p:animEffect>
                                  </p:childTnLst>
                                </p:cTn>
                              </p:par>
                            </p:childTnLst>
                          </p:cTn>
                        </p:par>
                        <p:par>
                          <p:cTn id="18" fill="hold">
                            <p:stCondLst>
                              <p:cond delay="2000"/>
                            </p:stCondLst>
                            <p:childTnLst>
                              <p:par>
                                <p:cTn id="19" presetID="16" presetClass="entr" presetSubtype="21" fill="hold" grpId="0" nodeType="afterEffect">
                                  <p:stCondLst>
                                    <p:cond delay="0"/>
                                  </p:stCondLst>
                                  <p:childTnLst>
                                    <p:set>
                                      <p:cBhvr>
                                        <p:cTn id="20" dur="1" fill="hold">
                                          <p:stCondLst>
                                            <p:cond delay="0"/>
                                          </p:stCondLst>
                                        </p:cTn>
                                        <p:tgtEl>
                                          <p:spTgt spid="191"/>
                                        </p:tgtEl>
                                        <p:attrNameLst>
                                          <p:attrName>style.visibility</p:attrName>
                                        </p:attrNameLst>
                                      </p:cBhvr>
                                      <p:to>
                                        <p:strVal val="visible"/>
                                      </p:to>
                                    </p:set>
                                    <p:animEffect transition="in" filter="barn(inVertical)">
                                      <p:cBhvr>
                                        <p:cTn id="21" dur="500"/>
                                        <p:tgtEl>
                                          <p:spTgt spid="191"/>
                                        </p:tgtEl>
                                      </p:cBhvr>
                                    </p:animEffect>
                                  </p:childTnLst>
                                </p:cTn>
                              </p:par>
                            </p:childTnLst>
                          </p:cTn>
                        </p:par>
                        <p:par>
                          <p:cTn id="22" fill="hold">
                            <p:stCondLst>
                              <p:cond delay="2500"/>
                            </p:stCondLst>
                            <p:childTnLst>
                              <p:par>
                                <p:cTn id="23" presetID="22" presetClass="entr" presetSubtype="4"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par>
                          <p:cTn id="26" fill="hold">
                            <p:stCondLst>
                              <p:cond delay="3000"/>
                            </p:stCondLst>
                            <p:childTnLst>
                              <p:par>
                                <p:cTn id="27" presetID="22" presetClass="entr" presetSubtype="4" fill="hold" grpId="0"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down)">
                                      <p:cBhvr>
                                        <p:cTn id="29" dur="500"/>
                                        <p:tgtEl>
                                          <p:spTgt spid="28"/>
                                        </p:tgtEl>
                                      </p:cBhvr>
                                    </p:animEffect>
                                  </p:childTnLst>
                                </p:cTn>
                              </p:par>
                            </p:childTnLst>
                          </p:cTn>
                        </p:par>
                        <p:par>
                          <p:cTn id="30" fill="hold">
                            <p:stCondLst>
                              <p:cond delay="3500"/>
                            </p:stCondLst>
                            <p:childTnLst>
                              <p:par>
                                <p:cTn id="31" presetID="31" presetClass="entr" presetSubtype="0" fill="hold" grpId="0" nodeType="after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p:cTn id="33" dur="1000" fill="hold"/>
                                        <p:tgtEl>
                                          <p:spTgt spid="49"/>
                                        </p:tgtEl>
                                        <p:attrNameLst>
                                          <p:attrName>ppt_w</p:attrName>
                                        </p:attrNameLst>
                                      </p:cBhvr>
                                      <p:tavLst>
                                        <p:tav tm="0">
                                          <p:val>
                                            <p:fltVal val="0"/>
                                          </p:val>
                                        </p:tav>
                                        <p:tav tm="100000">
                                          <p:val>
                                            <p:strVal val="#ppt_w"/>
                                          </p:val>
                                        </p:tav>
                                      </p:tavLst>
                                    </p:anim>
                                    <p:anim calcmode="lin" valueType="num">
                                      <p:cBhvr>
                                        <p:cTn id="34" dur="1000" fill="hold"/>
                                        <p:tgtEl>
                                          <p:spTgt spid="49"/>
                                        </p:tgtEl>
                                        <p:attrNameLst>
                                          <p:attrName>ppt_h</p:attrName>
                                        </p:attrNameLst>
                                      </p:cBhvr>
                                      <p:tavLst>
                                        <p:tav tm="0">
                                          <p:val>
                                            <p:fltVal val="0"/>
                                          </p:val>
                                        </p:tav>
                                        <p:tav tm="100000">
                                          <p:val>
                                            <p:strVal val="#ppt_h"/>
                                          </p:val>
                                        </p:tav>
                                      </p:tavLst>
                                    </p:anim>
                                    <p:anim calcmode="lin" valueType="num">
                                      <p:cBhvr>
                                        <p:cTn id="35" dur="1000" fill="hold"/>
                                        <p:tgtEl>
                                          <p:spTgt spid="49"/>
                                        </p:tgtEl>
                                        <p:attrNameLst>
                                          <p:attrName>style.rotation</p:attrName>
                                        </p:attrNameLst>
                                      </p:cBhvr>
                                      <p:tavLst>
                                        <p:tav tm="0">
                                          <p:val>
                                            <p:fltVal val="90"/>
                                          </p:val>
                                        </p:tav>
                                        <p:tav tm="100000">
                                          <p:val>
                                            <p:fltVal val="0"/>
                                          </p:val>
                                        </p:tav>
                                      </p:tavLst>
                                    </p:anim>
                                    <p:animEffect transition="in" filter="fade">
                                      <p:cBhvr>
                                        <p:cTn id="36" dur="1000"/>
                                        <p:tgtEl>
                                          <p:spTgt spid="4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barn(inVertical)">
                                      <p:cBhvr>
                                        <p:cTn id="41" dur="500"/>
                                        <p:tgtEl>
                                          <p:spTgt spid="36"/>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barn(inVertical)">
                                      <p:cBhvr>
                                        <p:cTn id="4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24" grpId="0" animBg="1"/>
      <p:bldP spid="191" grpId="0"/>
      <p:bldP spid="49" grpId="0" animBg="1"/>
      <p:bldP spid="35" grpId="0" animBg="1"/>
      <p:bldP spid="3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5901895" y="802383"/>
            <a:ext cx="1792643" cy="2339769"/>
            <a:chOff x="5901895" y="802383"/>
            <a:chExt cx="1792643" cy="2339769"/>
          </a:xfrm>
        </p:grpSpPr>
        <p:sp>
          <p:nvSpPr>
            <p:cNvPr id="28" name="任意多边形 27"/>
            <p:cNvSpPr/>
            <p:nvPr/>
          </p:nvSpPr>
          <p:spPr bwMode="auto">
            <a:xfrm>
              <a:off x="6137304" y="954410"/>
              <a:ext cx="1094611" cy="180877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2" name="Line 70"/>
            <p:cNvSpPr>
              <a:spLocks noChangeShapeType="1"/>
            </p:cNvSpPr>
            <p:nvPr/>
          </p:nvSpPr>
          <p:spPr bwMode="auto">
            <a:xfrm flipV="1">
              <a:off x="6430734" y="969197"/>
              <a:ext cx="797959" cy="1787418"/>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Text Box 75"/>
            <p:cNvSpPr txBox="1">
              <a:spLocks noChangeArrowheads="1"/>
            </p:cNvSpPr>
            <p:nvPr/>
          </p:nvSpPr>
          <p:spPr bwMode="auto">
            <a:xfrm>
              <a:off x="5901895" y="910129"/>
              <a:ext cx="4317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65" name="Text Box 75"/>
            <p:cNvSpPr txBox="1">
              <a:spLocks noChangeArrowheads="1"/>
            </p:cNvSpPr>
            <p:nvPr/>
          </p:nvSpPr>
          <p:spPr bwMode="auto">
            <a:xfrm>
              <a:off x="6065260" y="2724281"/>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66" name="Text Box 75"/>
            <p:cNvSpPr txBox="1">
              <a:spLocks noChangeArrowheads="1"/>
            </p:cNvSpPr>
            <p:nvPr/>
          </p:nvSpPr>
          <p:spPr bwMode="auto">
            <a:xfrm>
              <a:off x="7262811" y="802383"/>
              <a:ext cx="4317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12" name="组合 11"/>
          <p:cNvGrpSpPr/>
          <p:nvPr/>
        </p:nvGrpSpPr>
        <p:grpSpPr>
          <a:xfrm>
            <a:off x="5855837" y="3233572"/>
            <a:ext cx="2651610" cy="2410606"/>
            <a:chOff x="5855837" y="3233572"/>
            <a:chExt cx="2651610" cy="2410606"/>
          </a:xfrm>
        </p:grpSpPr>
        <p:sp>
          <p:nvSpPr>
            <p:cNvPr id="29" name="任意多边形 28"/>
            <p:cNvSpPr/>
            <p:nvPr/>
          </p:nvSpPr>
          <p:spPr bwMode="auto">
            <a:xfrm>
              <a:off x="6097602" y="3234039"/>
              <a:ext cx="2402748" cy="2021016"/>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799878"/>
                <a:gd name="connsiteY0" fmla="*/ 526170 h 1934479"/>
                <a:gd name="connsiteX1" fmla="*/ 290339 w 1799878"/>
                <a:gd name="connsiteY1" fmla="*/ 1934479 h 1934479"/>
                <a:gd name="connsiteX2" fmla="*/ 1799878 w 1799878"/>
                <a:gd name="connsiteY2" fmla="*/ 0 h 1934479"/>
                <a:gd name="connsiteX3" fmla="*/ 1094611 w 1799878"/>
                <a:gd name="connsiteY3" fmla="*/ 125702 h 1934479"/>
                <a:gd name="connsiteX4" fmla="*/ 814284 w 1799878"/>
                <a:gd name="connsiteY4" fmla="*/ 195784 h 1934479"/>
                <a:gd name="connsiteX5" fmla="*/ 530619 w 1799878"/>
                <a:gd name="connsiteY5" fmla="*/ 302575 h 1934479"/>
                <a:gd name="connsiteX6" fmla="*/ 240281 w 1799878"/>
                <a:gd name="connsiteY6" fmla="*/ 416041 h 1934479"/>
                <a:gd name="connsiteX7" fmla="*/ 0 w 1799878"/>
                <a:gd name="connsiteY7" fmla="*/ 526170 h 1934479"/>
                <a:gd name="connsiteX0" fmla="*/ 0 w 1799878"/>
                <a:gd name="connsiteY0" fmla="*/ 526170 h 1934479"/>
                <a:gd name="connsiteX1" fmla="*/ 290339 w 1799878"/>
                <a:gd name="connsiteY1" fmla="*/ 1934479 h 1934479"/>
                <a:gd name="connsiteX2" fmla="*/ 1799878 w 1799878"/>
                <a:gd name="connsiteY2" fmla="*/ 0 h 1934479"/>
                <a:gd name="connsiteX3" fmla="*/ 1094611 w 1799878"/>
                <a:gd name="connsiteY3" fmla="*/ 125702 h 1934479"/>
                <a:gd name="connsiteX4" fmla="*/ 814284 w 1799878"/>
                <a:gd name="connsiteY4" fmla="*/ 195784 h 1934479"/>
                <a:gd name="connsiteX5" fmla="*/ 530619 w 1799878"/>
                <a:gd name="connsiteY5" fmla="*/ 302575 h 1934479"/>
                <a:gd name="connsiteX6" fmla="*/ 240281 w 1799878"/>
                <a:gd name="connsiteY6" fmla="*/ 416041 h 1934479"/>
                <a:gd name="connsiteX7" fmla="*/ 0 w 1799878"/>
                <a:gd name="connsiteY7" fmla="*/ 526170 h 1934479"/>
                <a:gd name="connsiteX0" fmla="*/ 0 w 2402748"/>
                <a:gd name="connsiteY0" fmla="*/ 612707 h 2021016"/>
                <a:gd name="connsiteX1" fmla="*/ 290339 w 2402748"/>
                <a:gd name="connsiteY1" fmla="*/ 2021016 h 2021016"/>
                <a:gd name="connsiteX2" fmla="*/ 2402748 w 2402748"/>
                <a:gd name="connsiteY2" fmla="*/ 0 h 2021016"/>
                <a:gd name="connsiteX3" fmla="*/ 1094611 w 2402748"/>
                <a:gd name="connsiteY3" fmla="*/ 212239 h 2021016"/>
                <a:gd name="connsiteX4" fmla="*/ 814284 w 2402748"/>
                <a:gd name="connsiteY4" fmla="*/ 282321 h 2021016"/>
                <a:gd name="connsiteX5" fmla="*/ 530619 w 2402748"/>
                <a:gd name="connsiteY5" fmla="*/ 389112 h 2021016"/>
                <a:gd name="connsiteX6" fmla="*/ 240281 w 2402748"/>
                <a:gd name="connsiteY6" fmla="*/ 502578 h 2021016"/>
                <a:gd name="connsiteX7" fmla="*/ 0 w 2402748"/>
                <a:gd name="connsiteY7" fmla="*/ 612707 h 2021016"/>
                <a:gd name="connsiteX0" fmla="*/ 0 w 2402748"/>
                <a:gd name="connsiteY0" fmla="*/ 612707 h 2021016"/>
                <a:gd name="connsiteX1" fmla="*/ 290339 w 2402748"/>
                <a:gd name="connsiteY1" fmla="*/ 2021016 h 2021016"/>
                <a:gd name="connsiteX2" fmla="*/ 2402748 w 2402748"/>
                <a:gd name="connsiteY2" fmla="*/ 0 h 2021016"/>
                <a:gd name="connsiteX3" fmla="*/ 1804091 w 2402748"/>
                <a:gd name="connsiteY3" fmla="*/ 88954 h 2021016"/>
                <a:gd name="connsiteX4" fmla="*/ 1094611 w 2402748"/>
                <a:gd name="connsiteY4" fmla="*/ 212239 h 2021016"/>
                <a:gd name="connsiteX5" fmla="*/ 814284 w 2402748"/>
                <a:gd name="connsiteY5" fmla="*/ 282321 h 2021016"/>
                <a:gd name="connsiteX6" fmla="*/ 530619 w 2402748"/>
                <a:gd name="connsiteY6" fmla="*/ 389112 h 2021016"/>
                <a:gd name="connsiteX7" fmla="*/ 240281 w 2402748"/>
                <a:gd name="connsiteY7" fmla="*/ 502578 h 2021016"/>
                <a:gd name="connsiteX8" fmla="*/ 0 w 2402748"/>
                <a:gd name="connsiteY8" fmla="*/ 612707 h 202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2748" h="2021016">
                  <a:moveTo>
                    <a:pt x="0" y="612707"/>
                  </a:moveTo>
                  <a:lnTo>
                    <a:pt x="290339" y="2021016"/>
                  </a:lnTo>
                  <a:lnTo>
                    <a:pt x="2402748" y="0"/>
                  </a:lnTo>
                  <a:cubicBezTo>
                    <a:pt x="2189735" y="35420"/>
                    <a:pt x="2017104" y="53534"/>
                    <a:pt x="1804091" y="88954"/>
                  </a:cubicBezTo>
                  <a:lnTo>
                    <a:pt x="1094611" y="212239"/>
                  </a:lnTo>
                  <a:lnTo>
                    <a:pt x="814284" y="282321"/>
                  </a:lnTo>
                  <a:lnTo>
                    <a:pt x="530619" y="389112"/>
                  </a:lnTo>
                  <a:lnTo>
                    <a:pt x="240281" y="502578"/>
                  </a:lnTo>
                  <a:lnTo>
                    <a:pt x="0" y="612707"/>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6" name="Text Box 75"/>
            <p:cNvSpPr txBox="1">
              <a:spLocks noChangeArrowheads="1"/>
            </p:cNvSpPr>
            <p:nvPr/>
          </p:nvSpPr>
          <p:spPr bwMode="auto">
            <a:xfrm>
              <a:off x="6272692" y="5226307"/>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4" name="Line 70"/>
            <p:cNvSpPr>
              <a:spLocks noChangeShapeType="1"/>
            </p:cNvSpPr>
            <p:nvPr/>
          </p:nvSpPr>
          <p:spPr bwMode="auto">
            <a:xfrm flipV="1">
              <a:off x="6381339" y="3233572"/>
              <a:ext cx="2126108" cy="2024445"/>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Text Box 75"/>
            <p:cNvSpPr txBox="1">
              <a:spLocks noChangeArrowheads="1"/>
            </p:cNvSpPr>
            <p:nvPr/>
          </p:nvSpPr>
          <p:spPr bwMode="auto">
            <a:xfrm>
              <a:off x="5855837" y="3386752"/>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47" name="Text Box 75"/>
            <p:cNvSpPr txBox="1">
              <a:spLocks noChangeArrowheads="1"/>
            </p:cNvSpPr>
            <p:nvPr/>
          </p:nvSpPr>
          <p:spPr bwMode="auto">
            <a:xfrm>
              <a:off x="7813101" y="3242845"/>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sp>
        <p:nvSpPr>
          <p:cNvPr id="137" name="任意多边形 136"/>
          <p:cNvSpPr/>
          <p:nvPr/>
        </p:nvSpPr>
        <p:spPr bwMode="auto">
          <a:xfrm>
            <a:off x="5693138" y="3841726"/>
            <a:ext cx="685110" cy="1419944"/>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4" name="任意多边形 133"/>
          <p:cNvSpPr/>
          <p:nvPr/>
        </p:nvSpPr>
        <p:spPr bwMode="auto">
          <a:xfrm>
            <a:off x="5731442" y="1345264"/>
            <a:ext cx="685110" cy="1419944"/>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49</a:t>
            </a:fld>
            <a:endParaRPr lang="zh-CN" altLang="en-US" dirty="0">
              <a:solidFill>
                <a:srgbClr val="C00000"/>
              </a:solidFill>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方法</a:t>
            </a:r>
            <a:r>
              <a:rPr lang="zh-CN" altLang="en-US" sz="1800" b="1" kern="900" spc="130" dirty="0">
                <a:solidFill>
                  <a:srgbClr val="000066"/>
                </a:solidFill>
                <a:ea typeface="黑体" panose="02010609060101010101" pitchFamily="49" charset="-122"/>
                <a:cs typeface="Times New Roman" panose="02020603050405020304" pitchFamily="18" charset="0"/>
              </a:rPr>
              <a:t>要点</a:t>
            </a:r>
          </a:p>
        </p:txBody>
      </p:sp>
      <p:sp>
        <p:nvSpPr>
          <p:cNvPr id="54" name="Text Box 2"/>
          <p:cNvSpPr txBox="1">
            <a:spLocks noChangeArrowheads="1"/>
          </p:cNvSpPr>
          <p:nvPr/>
        </p:nvSpPr>
        <p:spPr bwMode="auto">
          <a:xfrm>
            <a:off x="2462543" y="5741435"/>
            <a:ext cx="53479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库仑土压力</a:t>
            </a:r>
            <a:r>
              <a:rPr kumimoji="1" lang="zh-CN" altLang="en-US" sz="4000" b="1" dirty="0" smtClean="0">
                <a:solidFill>
                  <a:srgbClr val="000066"/>
                </a:solidFill>
                <a:latin typeface="黑体" pitchFamily="2" charset="-122"/>
                <a:ea typeface="黑体" pitchFamily="2" charset="-122"/>
              </a:rPr>
              <a:t>理论的要点</a:t>
            </a:r>
            <a:endParaRPr kumimoji="1" lang="zh-CN" altLang="en-US" sz="4000" b="1" dirty="0">
              <a:solidFill>
                <a:srgbClr val="000066"/>
              </a:solidFill>
              <a:latin typeface="黑体" pitchFamily="2" charset="-122"/>
              <a:ea typeface="黑体" pitchFamily="2" charset="-122"/>
            </a:endParaRPr>
          </a:p>
        </p:txBody>
      </p:sp>
      <p:sp>
        <p:nvSpPr>
          <p:cNvPr id="105" name="Rectangle 3"/>
          <p:cNvSpPr txBox="1">
            <a:spLocks noChangeArrowheads="1"/>
          </p:cNvSpPr>
          <p:nvPr/>
        </p:nvSpPr>
        <p:spPr bwMode="auto">
          <a:xfrm>
            <a:off x="432534" y="544249"/>
            <a:ext cx="342426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a:solidFill>
                  <a:srgbClr val="C00000"/>
                </a:solidFill>
                <a:latin typeface="微软雅黑" panose="020B0503020204020204" pitchFamily="34" charset="-122"/>
                <a:ea typeface="微软雅黑" panose="020B0503020204020204" pitchFamily="34" charset="-122"/>
              </a:rPr>
              <a:t>滑动楔</a:t>
            </a:r>
            <a:r>
              <a:rPr lang="zh-CN" altLang="en-US" sz="2800" b="1" kern="0" dirty="0" smtClean="0">
                <a:solidFill>
                  <a:srgbClr val="C00000"/>
                </a:solidFill>
                <a:latin typeface="微软雅黑" panose="020B0503020204020204" pitchFamily="34" charset="-122"/>
                <a:ea typeface="微软雅黑" panose="020B0503020204020204" pitchFamily="34" charset="-122"/>
              </a:rPr>
              <a:t>体受力分析</a:t>
            </a:r>
            <a:endParaRPr lang="zh-CN" altLang="en-US" sz="2400" b="1" i="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127" name="Line 60"/>
          <p:cNvSpPr>
            <a:spLocks noChangeShapeType="1"/>
          </p:cNvSpPr>
          <p:nvPr/>
        </p:nvSpPr>
        <p:spPr bwMode="auto">
          <a:xfrm>
            <a:off x="6133027" y="1348271"/>
            <a:ext cx="0" cy="4262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Rectangle 61"/>
          <p:cNvSpPr>
            <a:spLocks noChangeArrowheads="1"/>
          </p:cNvSpPr>
          <p:nvPr/>
        </p:nvSpPr>
        <p:spPr bwMode="auto">
          <a:xfrm>
            <a:off x="5993326" y="1598030"/>
            <a:ext cx="30480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2" name="任意多边形 1"/>
          <p:cNvSpPr/>
          <p:nvPr/>
        </p:nvSpPr>
        <p:spPr bwMode="auto">
          <a:xfrm>
            <a:off x="6122613" y="811155"/>
            <a:ext cx="1884459" cy="540000"/>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4459" h="659958">
                <a:moveTo>
                  <a:pt x="0" y="659958"/>
                </a:moveTo>
                <a:cubicBezTo>
                  <a:pt x="67586" y="625502"/>
                  <a:pt x="131196" y="589722"/>
                  <a:pt x="246490" y="532738"/>
                </a:cubicBezTo>
                <a:cubicBezTo>
                  <a:pt x="361784" y="475754"/>
                  <a:pt x="523460" y="384313"/>
                  <a:pt x="691763" y="318052"/>
                </a:cubicBezTo>
                <a:cubicBezTo>
                  <a:pt x="860066" y="251791"/>
                  <a:pt x="1057523" y="188181"/>
                  <a:pt x="1256306" y="135172"/>
                </a:cubicBezTo>
                <a:cubicBezTo>
                  <a:pt x="1455089" y="82163"/>
                  <a:pt x="1669774" y="41081"/>
                  <a:pt x="1884459"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6" name="组合 5"/>
          <p:cNvGrpSpPr/>
          <p:nvPr/>
        </p:nvGrpSpPr>
        <p:grpSpPr>
          <a:xfrm>
            <a:off x="5781663" y="2055999"/>
            <a:ext cx="550031" cy="755187"/>
            <a:chOff x="5781663" y="2055999"/>
            <a:chExt cx="550031" cy="755187"/>
          </a:xfrm>
        </p:grpSpPr>
        <p:sp>
          <p:nvSpPr>
            <p:cNvPr id="135" name="Rectangle 74"/>
            <p:cNvSpPr>
              <a:spLocks noChangeArrowheads="1"/>
            </p:cNvSpPr>
            <p:nvPr/>
          </p:nvSpPr>
          <p:spPr bwMode="auto">
            <a:xfrm>
              <a:off x="5781663" y="2097569"/>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136" name="Text Box 75"/>
            <p:cNvSpPr txBox="1">
              <a:spLocks noChangeArrowheads="1"/>
            </p:cNvSpPr>
            <p:nvPr/>
          </p:nvSpPr>
          <p:spPr bwMode="auto">
            <a:xfrm>
              <a:off x="5899967" y="2393315"/>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8" name="直接连接符 7"/>
            <p:cNvCxnSpPr/>
            <p:nvPr/>
          </p:nvCxnSpPr>
          <p:spPr bwMode="auto">
            <a:xfrm flipH="1">
              <a:off x="5959279" y="2117379"/>
              <a:ext cx="32596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箭头连接符 161"/>
            <p:cNvCxnSpPr/>
            <p:nvPr/>
          </p:nvCxnSpPr>
          <p:spPr bwMode="auto">
            <a:xfrm flipV="1">
              <a:off x="5967104" y="2121524"/>
              <a:ext cx="329035" cy="348404"/>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任意多边形 13"/>
            <p:cNvSpPr/>
            <p:nvPr/>
          </p:nvSpPr>
          <p:spPr bwMode="auto">
            <a:xfrm rot="4552046">
              <a:off x="6210650" y="2055999"/>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 name="任意多边形 17"/>
            <p:cNvSpPr/>
            <p:nvPr/>
          </p:nvSpPr>
          <p:spPr bwMode="auto">
            <a:xfrm>
              <a:off x="6065581" y="2166402"/>
              <a:ext cx="79284"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63" name="任意多边形 162"/>
          <p:cNvSpPr/>
          <p:nvPr/>
        </p:nvSpPr>
        <p:spPr bwMode="auto">
          <a:xfrm rot="18139897">
            <a:off x="6148131" y="1684387"/>
            <a:ext cx="45719" cy="69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3" name="直接连接符 22"/>
          <p:cNvCxnSpPr/>
          <p:nvPr/>
        </p:nvCxnSpPr>
        <p:spPr bwMode="auto">
          <a:xfrm>
            <a:off x="6112000" y="2769690"/>
            <a:ext cx="190982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矩形 190"/>
          <p:cNvSpPr/>
          <p:nvPr/>
        </p:nvSpPr>
        <p:spPr>
          <a:xfrm>
            <a:off x="5081867" y="1167646"/>
            <a:ext cx="750054" cy="446276"/>
          </a:xfrm>
          <a:prstGeom prst="rect">
            <a:avLst/>
          </a:prstGeom>
        </p:spPr>
        <p:txBody>
          <a:bodyPr wrap="squar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主动</a:t>
            </a:r>
            <a:endParaRPr lang="zh-CN" altLang="en-US" sz="2000" b="1" dirty="0">
              <a:solidFill>
                <a:srgbClr val="A50021"/>
              </a:solidFill>
              <a:ea typeface="黑体" panose="02010609060101010101" pitchFamily="49" charset="-122"/>
              <a:cs typeface="Times New Roman" panose="02020603050405020304" pitchFamily="18" charset="0"/>
            </a:endParaRPr>
          </a:p>
        </p:txBody>
      </p:sp>
      <p:sp>
        <p:nvSpPr>
          <p:cNvPr id="32" name="Line 60"/>
          <p:cNvSpPr>
            <a:spLocks noChangeShapeType="1"/>
          </p:cNvSpPr>
          <p:nvPr/>
        </p:nvSpPr>
        <p:spPr bwMode="auto">
          <a:xfrm>
            <a:off x="6086969" y="3843000"/>
            <a:ext cx="0" cy="4262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Rectangle 61"/>
          <p:cNvSpPr>
            <a:spLocks noChangeArrowheads="1"/>
          </p:cNvSpPr>
          <p:nvPr/>
        </p:nvSpPr>
        <p:spPr bwMode="auto">
          <a:xfrm>
            <a:off x="5947268" y="4092759"/>
            <a:ext cx="30480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37" name="任意多边形 36"/>
          <p:cNvSpPr/>
          <p:nvPr/>
        </p:nvSpPr>
        <p:spPr bwMode="auto">
          <a:xfrm>
            <a:off x="6076556" y="3207810"/>
            <a:ext cx="2637324" cy="638074"/>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750140 w 1884459"/>
              <a:gd name="connsiteY4" fmla="*/ 27960 h 659958"/>
              <a:gd name="connsiteX5" fmla="*/ 1884459 w 1884459"/>
              <a:gd name="connsiteY5" fmla="*/ 0 h 659958"/>
              <a:gd name="connsiteX0" fmla="*/ 0 w 2637324"/>
              <a:gd name="connsiteY0" fmla="*/ 779819 h 779819"/>
              <a:gd name="connsiteX1" fmla="*/ 246490 w 2637324"/>
              <a:gd name="connsiteY1" fmla="*/ 652599 h 779819"/>
              <a:gd name="connsiteX2" fmla="*/ 691763 w 2637324"/>
              <a:gd name="connsiteY2" fmla="*/ 437913 h 779819"/>
              <a:gd name="connsiteX3" fmla="*/ 1256306 w 2637324"/>
              <a:gd name="connsiteY3" fmla="*/ 255033 h 779819"/>
              <a:gd name="connsiteX4" fmla="*/ 1750140 w 2637324"/>
              <a:gd name="connsiteY4" fmla="*/ 147821 h 779819"/>
              <a:gd name="connsiteX5" fmla="*/ 2637324 w 2637324"/>
              <a:gd name="connsiteY5" fmla="*/ 0 h 77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7324" h="779819">
                <a:moveTo>
                  <a:pt x="0" y="779819"/>
                </a:moveTo>
                <a:cubicBezTo>
                  <a:pt x="67586" y="745363"/>
                  <a:pt x="131196" y="709583"/>
                  <a:pt x="246490" y="652599"/>
                </a:cubicBezTo>
                <a:cubicBezTo>
                  <a:pt x="361784" y="595615"/>
                  <a:pt x="523460" y="504174"/>
                  <a:pt x="691763" y="437913"/>
                </a:cubicBezTo>
                <a:cubicBezTo>
                  <a:pt x="860066" y="371652"/>
                  <a:pt x="1079910" y="303382"/>
                  <a:pt x="1256306" y="255033"/>
                </a:cubicBezTo>
                <a:cubicBezTo>
                  <a:pt x="1432702" y="206684"/>
                  <a:pt x="1645448" y="170350"/>
                  <a:pt x="1750140" y="147821"/>
                </a:cubicBezTo>
                <a:cubicBezTo>
                  <a:pt x="1854832" y="125292"/>
                  <a:pt x="2601957" y="5835"/>
                  <a:pt x="2637324"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7" name="组合 6"/>
          <p:cNvGrpSpPr/>
          <p:nvPr/>
        </p:nvGrpSpPr>
        <p:grpSpPr>
          <a:xfrm>
            <a:off x="5454322" y="4301837"/>
            <a:ext cx="841418" cy="734772"/>
            <a:chOff x="5454322" y="4301837"/>
            <a:chExt cx="841418" cy="734772"/>
          </a:xfrm>
        </p:grpSpPr>
        <p:sp>
          <p:nvSpPr>
            <p:cNvPr id="35" name="Rectangle 74"/>
            <p:cNvSpPr>
              <a:spLocks noChangeArrowheads="1"/>
            </p:cNvSpPr>
            <p:nvPr/>
          </p:nvSpPr>
          <p:spPr bwMode="auto">
            <a:xfrm>
              <a:off x="5649647" y="4639734"/>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36" name="Text Box 75"/>
            <p:cNvSpPr txBox="1">
              <a:spLocks noChangeArrowheads="1"/>
            </p:cNvSpPr>
            <p:nvPr/>
          </p:nvSpPr>
          <p:spPr bwMode="auto">
            <a:xfrm>
              <a:off x="5454322" y="4301837"/>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39" name="直接连接符 38"/>
            <p:cNvCxnSpPr/>
            <p:nvPr/>
          </p:nvCxnSpPr>
          <p:spPr bwMode="auto">
            <a:xfrm flipH="1">
              <a:off x="5915339" y="4766870"/>
              <a:ext cx="366236" cy="1078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任意多边形 40"/>
            <p:cNvSpPr/>
            <p:nvPr/>
          </p:nvSpPr>
          <p:spPr bwMode="auto">
            <a:xfrm rot="15340282" flipV="1">
              <a:off x="6223740" y="4771575"/>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2" name="任意多边形 41"/>
            <p:cNvSpPr/>
            <p:nvPr/>
          </p:nvSpPr>
          <p:spPr bwMode="auto">
            <a:xfrm rot="19892328" flipV="1">
              <a:off x="5928286" y="4746474"/>
              <a:ext cx="45719" cy="10945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0" name="直接箭头连接符 39"/>
            <p:cNvCxnSpPr/>
            <p:nvPr/>
          </p:nvCxnSpPr>
          <p:spPr bwMode="auto">
            <a:xfrm>
              <a:off x="5572439" y="4734983"/>
              <a:ext cx="716739" cy="2305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3" name="任意多边形 42"/>
          <p:cNvSpPr/>
          <p:nvPr/>
        </p:nvSpPr>
        <p:spPr bwMode="auto">
          <a:xfrm rot="18139897">
            <a:off x="6102073" y="4179116"/>
            <a:ext cx="45719" cy="69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a:off x="5996298" y="5266798"/>
            <a:ext cx="135509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矩形 47"/>
          <p:cNvSpPr/>
          <p:nvPr/>
        </p:nvSpPr>
        <p:spPr>
          <a:xfrm>
            <a:off x="4993199" y="3653814"/>
            <a:ext cx="700833" cy="414794"/>
          </a:xfrm>
          <a:prstGeom prst="rect">
            <a:avLst/>
          </a:prstGeom>
        </p:spPr>
        <p:txBody>
          <a:bodyPr wrap="non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被动</a:t>
            </a:r>
            <a:endParaRPr lang="zh-CN" altLang="en-US" sz="2000" b="1" dirty="0">
              <a:solidFill>
                <a:srgbClr val="A50021"/>
              </a:solidFill>
              <a:ea typeface="黑体" panose="02010609060101010101" pitchFamily="49" charset="-122"/>
              <a:cs typeface="Times New Roman" panose="02020603050405020304" pitchFamily="18" charset="0"/>
            </a:endParaRPr>
          </a:p>
        </p:txBody>
      </p:sp>
      <p:sp>
        <p:nvSpPr>
          <p:cNvPr id="52" name="AutoShape 118"/>
          <p:cNvSpPr>
            <a:spLocks noChangeArrowheads="1"/>
          </p:cNvSpPr>
          <p:nvPr/>
        </p:nvSpPr>
        <p:spPr bwMode="auto">
          <a:xfrm flipH="1">
            <a:off x="5278292" y="4058214"/>
            <a:ext cx="342662" cy="280105"/>
          </a:xfrm>
          <a:prstGeom prst="leftArrow">
            <a:avLst>
              <a:gd name="adj1" fmla="val 50000"/>
              <a:gd name="adj2" fmla="val 52800"/>
            </a:avLst>
          </a:prstGeom>
          <a:solidFill>
            <a:srgbClr val="C00000"/>
          </a:solidFill>
          <a:ln w="9525">
            <a:solidFill>
              <a:srgbClr val="C00000"/>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sp>
        <p:nvSpPr>
          <p:cNvPr id="55" name="AutoShape 118"/>
          <p:cNvSpPr>
            <a:spLocks noChangeArrowheads="1"/>
          </p:cNvSpPr>
          <p:nvPr/>
        </p:nvSpPr>
        <p:spPr bwMode="auto">
          <a:xfrm>
            <a:off x="5303338" y="1645361"/>
            <a:ext cx="342662" cy="280105"/>
          </a:xfrm>
          <a:prstGeom prst="leftArrow">
            <a:avLst>
              <a:gd name="adj1" fmla="val 50000"/>
              <a:gd name="adj2" fmla="val 52800"/>
            </a:avLst>
          </a:prstGeom>
          <a:solidFill>
            <a:srgbClr val="C00000"/>
          </a:solidFill>
          <a:ln w="9525">
            <a:solidFill>
              <a:srgbClr val="C00000"/>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15" name="组合 14"/>
          <p:cNvGrpSpPr/>
          <p:nvPr/>
        </p:nvGrpSpPr>
        <p:grpSpPr>
          <a:xfrm>
            <a:off x="6485321" y="4918977"/>
            <a:ext cx="348017" cy="416909"/>
            <a:chOff x="6485321" y="4918977"/>
            <a:chExt cx="348017" cy="416909"/>
          </a:xfrm>
        </p:grpSpPr>
        <p:sp>
          <p:nvSpPr>
            <p:cNvPr id="60" name="任意多边形 59"/>
            <p:cNvSpPr/>
            <p:nvPr/>
          </p:nvSpPr>
          <p:spPr bwMode="auto">
            <a:xfrm rot="7512567" flipV="1">
              <a:off x="6501588" y="5142532"/>
              <a:ext cx="75885" cy="108419"/>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7" name="Rectangle 74"/>
            <p:cNvSpPr>
              <a:spLocks noChangeArrowheads="1"/>
            </p:cNvSpPr>
            <p:nvPr/>
          </p:nvSpPr>
          <p:spPr bwMode="auto">
            <a:xfrm>
              <a:off x="6515622" y="4918977"/>
              <a:ext cx="31771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10" name="组合 9"/>
          <p:cNvGrpSpPr/>
          <p:nvPr/>
        </p:nvGrpSpPr>
        <p:grpSpPr>
          <a:xfrm>
            <a:off x="6480616" y="2407464"/>
            <a:ext cx="393338" cy="416909"/>
            <a:chOff x="6480616" y="2407464"/>
            <a:chExt cx="393338" cy="416909"/>
          </a:xfrm>
        </p:grpSpPr>
        <p:sp>
          <p:nvSpPr>
            <p:cNvPr id="68" name="任意多边形 67"/>
            <p:cNvSpPr/>
            <p:nvPr/>
          </p:nvSpPr>
          <p:spPr bwMode="auto">
            <a:xfrm rot="7512567" flipV="1">
              <a:off x="6515197" y="2582836"/>
              <a:ext cx="110522" cy="17968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Rectangle 74"/>
            <p:cNvSpPr>
              <a:spLocks noChangeArrowheads="1"/>
            </p:cNvSpPr>
            <p:nvPr/>
          </p:nvSpPr>
          <p:spPr bwMode="auto">
            <a:xfrm>
              <a:off x="6556238" y="2407464"/>
              <a:ext cx="31771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20" name="组合 19"/>
          <p:cNvGrpSpPr/>
          <p:nvPr/>
        </p:nvGrpSpPr>
        <p:grpSpPr>
          <a:xfrm>
            <a:off x="7052578" y="4371628"/>
            <a:ext cx="1009491" cy="597328"/>
            <a:chOff x="7052578" y="4371628"/>
            <a:chExt cx="1009491" cy="597328"/>
          </a:xfrm>
        </p:grpSpPr>
        <p:cxnSp>
          <p:nvCxnSpPr>
            <p:cNvPr id="62" name="直接连接符 61"/>
            <p:cNvCxnSpPr/>
            <p:nvPr/>
          </p:nvCxnSpPr>
          <p:spPr bwMode="auto">
            <a:xfrm rot="14318915" flipH="1">
              <a:off x="7041291" y="4678428"/>
              <a:ext cx="33218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任意多边形 62"/>
            <p:cNvSpPr/>
            <p:nvPr/>
          </p:nvSpPr>
          <p:spPr bwMode="auto">
            <a:xfrm rot="18870961">
              <a:off x="7053265" y="4600973"/>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4" name="任意多边形 63"/>
            <p:cNvSpPr/>
            <p:nvPr/>
          </p:nvSpPr>
          <p:spPr bwMode="auto">
            <a:xfrm rot="14318915">
              <a:off x="7253941" y="4653766"/>
              <a:ext cx="52595" cy="10564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5" name="直接箭头连接符 64"/>
            <p:cNvCxnSpPr/>
            <p:nvPr/>
          </p:nvCxnSpPr>
          <p:spPr bwMode="auto">
            <a:xfrm rot="697125" flipH="1" flipV="1">
              <a:off x="7072358" y="4657419"/>
              <a:ext cx="779763" cy="65446"/>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Rectangle 74"/>
            <p:cNvSpPr>
              <a:spLocks noChangeArrowheads="1"/>
            </p:cNvSpPr>
            <p:nvPr/>
          </p:nvSpPr>
          <p:spPr bwMode="auto">
            <a:xfrm>
              <a:off x="7242505" y="4552047"/>
              <a:ext cx="340158"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71" name="Text Box 75"/>
            <p:cNvSpPr txBox="1">
              <a:spLocks noChangeArrowheads="1"/>
            </p:cNvSpPr>
            <p:nvPr/>
          </p:nvSpPr>
          <p:spPr bwMode="auto">
            <a:xfrm>
              <a:off x="7630342" y="4371628"/>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grpSp>
        <p:nvGrpSpPr>
          <p:cNvPr id="4" name="组合 3"/>
          <p:cNvGrpSpPr/>
          <p:nvPr/>
        </p:nvGrpSpPr>
        <p:grpSpPr>
          <a:xfrm>
            <a:off x="6410390" y="3956050"/>
            <a:ext cx="472183" cy="496888"/>
            <a:chOff x="6410390" y="3956050"/>
            <a:chExt cx="472183" cy="496888"/>
          </a:xfrm>
        </p:grpSpPr>
        <p:cxnSp>
          <p:nvCxnSpPr>
            <p:cNvPr id="66" name="直接箭头连接符 65"/>
            <p:cNvCxnSpPr/>
            <p:nvPr/>
          </p:nvCxnSpPr>
          <p:spPr bwMode="auto">
            <a:xfrm>
              <a:off x="6882573" y="3956050"/>
              <a:ext cx="0" cy="442822"/>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75"/>
            <p:cNvSpPr txBox="1">
              <a:spLocks noChangeArrowheads="1"/>
            </p:cNvSpPr>
            <p:nvPr/>
          </p:nvSpPr>
          <p:spPr bwMode="auto">
            <a:xfrm>
              <a:off x="6410390" y="4035067"/>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5" name="组合 4"/>
          <p:cNvGrpSpPr/>
          <p:nvPr/>
        </p:nvGrpSpPr>
        <p:grpSpPr>
          <a:xfrm>
            <a:off x="6490428" y="1402874"/>
            <a:ext cx="431727" cy="658579"/>
            <a:chOff x="6490428" y="1402874"/>
            <a:chExt cx="431727" cy="658579"/>
          </a:xfrm>
        </p:grpSpPr>
        <p:cxnSp>
          <p:nvCxnSpPr>
            <p:cNvPr id="73" name="直接箭头连接符 72"/>
            <p:cNvCxnSpPr/>
            <p:nvPr/>
          </p:nvCxnSpPr>
          <p:spPr bwMode="auto">
            <a:xfrm>
              <a:off x="6513255" y="1558311"/>
              <a:ext cx="0" cy="503142"/>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75"/>
            <p:cNvSpPr txBox="1">
              <a:spLocks noChangeArrowheads="1"/>
            </p:cNvSpPr>
            <p:nvPr/>
          </p:nvSpPr>
          <p:spPr bwMode="auto">
            <a:xfrm>
              <a:off x="6490428" y="1402874"/>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9" name="组合 8"/>
          <p:cNvGrpSpPr/>
          <p:nvPr/>
        </p:nvGrpSpPr>
        <p:grpSpPr>
          <a:xfrm>
            <a:off x="6820853" y="1774668"/>
            <a:ext cx="643706" cy="703005"/>
            <a:chOff x="6820853" y="1774668"/>
            <a:chExt cx="643706" cy="703005"/>
          </a:xfrm>
        </p:grpSpPr>
        <p:grpSp>
          <p:nvGrpSpPr>
            <p:cNvPr id="75" name="组合 74"/>
            <p:cNvGrpSpPr/>
            <p:nvPr/>
          </p:nvGrpSpPr>
          <p:grpSpPr>
            <a:xfrm rot="11211980" flipV="1">
              <a:off x="6820853" y="1787984"/>
              <a:ext cx="339163" cy="409891"/>
              <a:chOff x="6211970" y="4641258"/>
              <a:chExt cx="332812" cy="409891"/>
            </a:xfrm>
          </p:grpSpPr>
          <p:cxnSp>
            <p:nvCxnSpPr>
              <p:cNvPr id="76" name="直接连接符 75"/>
              <p:cNvCxnSpPr/>
              <p:nvPr/>
            </p:nvCxnSpPr>
            <p:spPr bwMode="auto">
              <a:xfrm flipH="1">
                <a:off x="6211970" y="4702638"/>
                <a:ext cx="32596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任意多边形 76"/>
              <p:cNvSpPr/>
              <p:nvPr/>
            </p:nvSpPr>
            <p:spPr bwMode="auto">
              <a:xfrm rot="4552046">
                <a:off x="6463341" y="4641258"/>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8" name="任意多边形 77"/>
              <p:cNvSpPr/>
              <p:nvPr/>
            </p:nvSpPr>
            <p:spPr bwMode="auto">
              <a:xfrm>
                <a:off x="6318272" y="4751661"/>
                <a:ext cx="79284"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9" name="直接箭头连接符 78"/>
              <p:cNvCxnSpPr/>
              <p:nvPr/>
            </p:nvCxnSpPr>
            <p:spPr bwMode="auto">
              <a:xfrm flipV="1">
                <a:off x="6215747" y="4702745"/>
                <a:ext cx="329035" cy="348404"/>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0" name="Rectangle 74"/>
            <p:cNvSpPr>
              <a:spLocks noChangeArrowheads="1"/>
            </p:cNvSpPr>
            <p:nvPr/>
          </p:nvSpPr>
          <p:spPr bwMode="auto">
            <a:xfrm>
              <a:off x="7018366" y="1774668"/>
              <a:ext cx="340158"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81" name="Text Box 75"/>
            <p:cNvSpPr txBox="1">
              <a:spLocks noChangeArrowheads="1"/>
            </p:cNvSpPr>
            <p:nvPr/>
          </p:nvSpPr>
          <p:spPr bwMode="auto">
            <a:xfrm>
              <a:off x="7032832" y="2059802"/>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grpSp>
        <p:nvGrpSpPr>
          <p:cNvPr id="16" name="组合 15"/>
          <p:cNvGrpSpPr/>
          <p:nvPr/>
        </p:nvGrpSpPr>
        <p:grpSpPr>
          <a:xfrm>
            <a:off x="8004065" y="1586283"/>
            <a:ext cx="1001252" cy="996854"/>
            <a:chOff x="8004065" y="1586283"/>
            <a:chExt cx="1001252" cy="996854"/>
          </a:xfrm>
        </p:grpSpPr>
        <p:cxnSp>
          <p:nvCxnSpPr>
            <p:cNvPr id="88" name="直接箭头连接符 87"/>
            <p:cNvCxnSpPr/>
            <p:nvPr/>
          </p:nvCxnSpPr>
          <p:spPr bwMode="auto">
            <a:xfrm flipV="1">
              <a:off x="8460385" y="2095393"/>
              <a:ext cx="298805" cy="316395"/>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箭头连接符 85"/>
            <p:cNvCxnSpPr/>
            <p:nvPr/>
          </p:nvCxnSpPr>
          <p:spPr bwMode="auto">
            <a:xfrm rot="11211980">
              <a:off x="8441859" y="1744329"/>
              <a:ext cx="335314" cy="348404"/>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86"/>
            <p:cNvCxnSpPr/>
            <p:nvPr/>
          </p:nvCxnSpPr>
          <p:spPr bwMode="auto">
            <a:xfrm>
              <a:off x="8455891" y="1728728"/>
              <a:ext cx="0" cy="706136"/>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 Box 75"/>
            <p:cNvSpPr txBox="1">
              <a:spLocks noChangeArrowheads="1"/>
            </p:cNvSpPr>
            <p:nvPr/>
          </p:nvSpPr>
          <p:spPr bwMode="auto">
            <a:xfrm>
              <a:off x="8004065" y="1875591"/>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91" name="Text Box 75"/>
            <p:cNvSpPr txBox="1">
              <a:spLocks noChangeArrowheads="1"/>
            </p:cNvSpPr>
            <p:nvPr/>
          </p:nvSpPr>
          <p:spPr bwMode="auto">
            <a:xfrm>
              <a:off x="8573590" y="2165266"/>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92" name="Text Box 75"/>
            <p:cNvSpPr txBox="1">
              <a:spLocks noChangeArrowheads="1"/>
            </p:cNvSpPr>
            <p:nvPr/>
          </p:nvSpPr>
          <p:spPr bwMode="auto">
            <a:xfrm>
              <a:off x="8554167" y="1586283"/>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grpSp>
        <p:nvGrpSpPr>
          <p:cNvPr id="19" name="组合 18"/>
          <p:cNvGrpSpPr/>
          <p:nvPr/>
        </p:nvGrpSpPr>
        <p:grpSpPr>
          <a:xfrm>
            <a:off x="7724834" y="4779279"/>
            <a:ext cx="1411983" cy="939582"/>
            <a:chOff x="7724834" y="4779279"/>
            <a:chExt cx="1411983" cy="939582"/>
          </a:xfrm>
        </p:grpSpPr>
        <p:cxnSp>
          <p:nvCxnSpPr>
            <p:cNvPr id="120" name="直接箭头连接符 119"/>
            <p:cNvCxnSpPr/>
            <p:nvPr/>
          </p:nvCxnSpPr>
          <p:spPr bwMode="auto">
            <a:xfrm>
              <a:off x="7753473" y="5176752"/>
              <a:ext cx="986540" cy="31728"/>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75"/>
            <p:cNvSpPr txBox="1">
              <a:spLocks noChangeArrowheads="1"/>
            </p:cNvSpPr>
            <p:nvPr/>
          </p:nvSpPr>
          <p:spPr bwMode="auto">
            <a:xfrm>
              <a:off x="8705090" y="5137923"/>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103" name="直接箭头连接符 102"/>
            <p:cNvCxnSpPr/>
            <p:nvPr/>
          </p:nvCxnSpPr>
          <p:spPr bwMode="auto">
            <a:xfrm>
              <a:off x="8739260" y="5201004"/>
              <a:ext cx="0" cy="30672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箭头连接符 107"/>
            <p:cNvCxnSpPr/>
            <p:nvPr/>
          </p:nvCxnSpPr>
          <p:spPr bwMode="auto">
            <a:xfrm flipH="1" flipV="1">
              <a:off x="7724834" y="5170168"/>
              <a:ext cx="1031301" cy="303848"/>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Text Box 75"/>
            <p:cNvSpPr txBox="1">
              <a:spLocks noChangeArrowheads="1"/>
            </p:cNvSpPr>
            <p:nvPr/>
          </p:nvSpPr>
          <p:spPr bwMode="auto">
            <a:xfrm>
              <a:off x="8068066" y="4779279"/>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125" name="Text Box 75"/>
            <p:cNvSpPr txBox="1">
              <a:spLocks noChangeArrowheads="1"/>
            </p:cNvSpPr>
            <p:nvPr/>
          </p:nvSpPr>
          <p:spPr bwMode="auto">
            <a:xfrm>
              <a:off x="8044654" y="5300990"/>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sp>
        <p:nvSpPr>
          <p:cNvPr id="129" name="Text Box 4"/>
          <p:cNvSpPr txBox="1">
            <a:spLocks noChangeArrowheads="1"/>
          </p:cNvSpPr>
          <p:nvPr/>
        </p:nvSpPr>
        <p:spPr bwMode="auto">
          <a:xfrm>
            <a:off x="706309" y="1329872"/>
            <a:ext cx="410420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200" b="1" dirty="0" smtClean="0">
                <a:solidFill>
                  <a:srgbClr val="000066"/>
                </a:solidFill>
                <a:ea typeface="幼圆" pitchFamily="49" charset="-122"/>
              </a:rPr>
              <a:t>1</a:t>
            </a:r>
            <a:r>
              <a:rPr lang="zh-CN" altLang="en-US" sz="2200" b="1" dirty="0" smtClean="0">
                <a:solidFill>
                  <a:srgbClr val="000066"/>
                </a:solidFill>
                <a:ea typeface="幼圆" pitchFamily="49" charset="-122"/>
              </a:rPr>
              <a:t>）取倾角为</a:t>
            </a:r>
            <a:r>
              <a:rPr kumimoji="1" lang="en-US" altLang="zh-CN" sz="2200" b="1" i="1" dirty="0" smtClean="0">
                <a:solidFill>
                  <a:srgbClr val="000066"/>
                </a:solidFill>
                <a:sym typeface="Symbol" panose="05050102010706020507" pitchFamily="18" charset="2"/>
              </a:rPr>
              <a:t> </a:t>
            </a:r>
            <a:r>
              <a:rPr lang="zh-CN" altLang="en-US" sz="2200" b="1" dirty="0" smtClean="0">
                <a:solidFill>
                  <a:srgbClr val="000066"/>
                </a:solidFill>
                <a:ea typeface="幼圆" pitchFamily="49" charset="-122"/>
              </a:rPr>
              <a:t>的滑动楔体，计算重力</a:t>
            </a:r>
            <a:r>
              <a:rPr lang="en-US" altLang="zh-CN" sz="2200" b="1" i="1" dirty="0" smtClean="0">
                <a:solidFill>
                  <a:srgbClr val="000066"/>
                </a:solidFill>
                <a:ea typeface="幼圆" pitchFamily="49" charset="-122"/>
              </a:rPr>
              <a:t>W</a:t>
            </a:r>
            <a:endParaRPr lang="zh-CN" altLang="en-US" sz="2200" b="1" i="1" dirty="0">
              <a:solidFill>
                <a:srgbClr val="000066"/>
              </a:solidFill>
              <a:ea typeface="幼圆" pitchFamily="49" charset="-122"/>
            </a:endParaRPr>
          </a:p>
        </p:txBody>
      </p:sp>
      <p:sp>
        <p:nvSpPr>
          <p:cNvPr id="130" name="Text Box 4"/>
          <p:cNvSpPr txBox="1">
            <a:spLocks noChangeArrowheads="1"/>
          </p:cNvSpPr>
          <p:nvPr/>
        </p:nvSpPr>
        <p:spPr bwMode="auto">
          <a:xfrm>
            <a:off x="713293" y="2015009"/>
            <a:ext cx="432056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2</a:t>
            </a:r>
            <a:r>
              <a:rPr lang="zh-CN" altLang="en-US" sz="2200" b="1" dirty="0" smtClean="0">
                <a:solidFill>
                  <a:srgbClr val="000066"/>
                </a:solidFill>
                <a:ea typeface="幼圆" pitchFamily="49" charset="-122"/>
              </a:rPr>
              <a:t>）</a:t>
            </a:r>
            <a:r>
              <a:rPr lang="en-US" altLang="zh-CN" sz="2200" b="1" dirty="0" smtClean="0">
                <a:solidFill>
                  <a:srgbClr val="000066"/>
                </a:solidFill>
                <a:ea typeface="幼圆" pitchFamily="49" charset="-122"/>
              </a:rPr>
              <a:t>AB</a:t>
            </a:r>
            <a:r>
              <a:rPr lang="zh-CN" altLang="en-US" sz="2200" b="1" dirty="0" smtClean="0">
                <a:solidFill>
                  <a:srgbClr val="000066"/>
                </a:solidFill>
                <a:ea typeface="幼圆" pitchFamily="49" charset="-122"/>
              </a:rPr>
              <a:t>和</a:t>
            </a:r>
            <a:r>
              <a:rPr lang="en-US" altLang="zh-CN" sz="2200" b="1" dirty="0" err="1" smtClean="0">
                <a:solidFill>
                  <a:srgbClr val="000066"/>
                </a:solidFill>
                <a:ea typeface="幼圆" pitchFamily="49" charset="-122"/>
              </a:rPr>
              <a:t>BC处于极限平衡状态</a:t>
            </a:r>
            <a:r>
              <a:rPr lang="zh-CN" altLang="en-US" sz="2200" b="1" dirty="0" smtClean="0">
                <a:solidFill>
                  <a:srgbClr val="000066"/>
                </a:solidFill>
                <a:ea typeface="幼圆" pitchFamily="49" charset="-122"/>
              </a:rPr>
              <a:t>。确定墙面反力</a:t>
            </a:r>
            <a:r>
              <a:rPr lang="en-US" altLang="zh-CN" sz="2200" b="1" i="1" dirty="0" smtClean="0">
                <a:solidFill>
                  <a:srgbClr val="000066"/>
                </a:solidFill>
                <a:ea typeface="幼圆" pitchFamily="49" charset="-122"/>
              </a:rPr>
              <a:t>E</a:t>
            </a:r>
            <a:r>
              <a:rPr lang="zh-CN" altLang="en-US" sz="2200" b="1" dirty="0" smtClean="0">
                <a:solidFill>
                  <a:srgbClr val="000066"/>
                </a:solidFill>
                <a:ea typeface="幼圆" pitchFamily="49" charset="-122"/>
              </a:rPr>
              <a:t>和滑面外土体支撑力</a:t>
            </a:r>
            <a:r>
              <a:rPr lang="en-US" altLang="zh-CN" sz="2200" b="1" i="1" dirty="0" smtClean="0">
                <a:solidFill>
                  <a:srgbClr val="000066"/>
                </a:solidFill>
                <a:ea typeface="幼圆" pitchFamily="49" charset="-122"/>
              </a:rPr>
              <a:t>R</a:t>
            </a:r>
            <a:r>
              <a:rPr lang="zh-CN" altLang="en-US" sz="2200" b="1" dirty="0" smtClean="0">
                <a:solidFill>
                  <a:srgbClr val="000066"/>
                </a:solidFill>
                <a:ea typeface="幼圆" pitchFamily="49" charset="-122"/>
              </a:rPr>
              <a:t>的方向</a:t>
            </a:r>
            <a:endParaRPr lang="zh-CN" altLang="en-US" sz="2200" b="1" dirty="0">
              <a:solidFill>
                <a:srgbClr val="000066"/>
              </a:solidFill>
              <a:ea typeface="幼圆" pitchFamily="49" charset="-122"/>
            </a:endParaRPr>
          </a:p>
        </p:txBody>
      </p:sp>
      <p:sp>
        <p:nvSpPr>
          <p:cNvPr id="131" name="Text Box 4"/>
          <p:cNvSpPr txBox="1">
            <a:spLocks noChangeArrowheads="1"/>
          </p:cNvSpPr>
          <p:nvPr/>
        </p:nvSpPr>
        <p:spPr bwMode="auto">
          <a:xfrm>
            <a:off x="714597" y="3256462"/>
            <a:ext cx="4320561" cy="86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a:solidFill>
                  <a:srgbClr val="000066"/>
                </a:solidFill>
                <a:ea typeface="幼圆" pitchFamily="49" charset="-122"/>
              </a:rPr>
              <a:t>3</a:t>
            </a:r>
            <a:r>
              <a:rPr lang="zh-CN" altLang="en-US" sz="2200" b="1" dirty="0" smtClean="0">
                <a:solidFill>
                  <a:srgbClr val="000066"/>
                </a:solidFill>
                <a:ea typeface="幼圆" pitchFamily="49" charset="-122"/>
              </a:rPr>
              <a:t>）做楔体静力平衡力的三角形，确定</a:t>
            </a:r>
            <a:r>
              <a:rPr lang="en-US" altLang="zh-CN" sz="2200" b="1" i="1" dirty="0" smtClean="0">
                <a:solidFill>
                  <a:srgbClr val="000066"/>
                </a:solidFill>
                <a:ea typeface="幼圆" pitchFamily="49" charset="-122"/>
              </a:rPr>
              <a:t>E</a:t>
            </a:r>
            <a:r>
              <a:rPr lang="zh-CN" altLang="en-US" sz="2200" b="1" dirty="0" smtClean="0">
                <a:solidFill>
                  <a:srgbClr val="000066"/>
                </a:solidFill>
                <a:ea typeface="幼圆" pitchFamily="49" charset="-122"/>
              </a:rPr>
              <a:t>和</a:t>
            </a:r>
            <a:r>
              <a:rPr lang="en-US" altLang="zh-CN" sz="2200" b="1" i="1" dirty="0" err="1" smtClean="0">
                <a:solidFill>
                  <a:srgbClr val="000066"/>
                </a:solidFill>
                <a:ea typeface="幼圆" pitchFamily="49" charset="-122"/>
              </a:rPr>
              <a:t>R</a:t>
            </a:r>
            <a:r>
              <a:rPr lang="en-US" altLang="zh-CN" sz="2200" b="1" dirty="0" err="1" smtClean="0">
                <a:solidFill>
                  <a:srgbClr val="000066"/>
                </a:solidFill>
                <a:ea typeface="幼圆" pitchFamily="49" charset="-122"/>
              </a:rPr>
              <a:t>的大小</a:t>
            </a:r>
            <a:endParaRPr lang="zh-CN" altLang="en-US" sz="2200" b="1" dirty="0">
              <a:solidFill>
                <a:srgbClr val="000066"/>
              </a:solidFill>
              <a:latin typeface="幼圆" panose="02010509060101010101" pitchFamily="49" charset="-122"/>
              <a:ea typeface="幼圆" panose="02010509060101010101" pitchFamily="49" charset="-122"/>
            </a:endParaRPr>
          </a:p>
        </p:txBody>
      </p:sp>
      <p:sp>
        <p:nvSpPr>
          <p:cNvPr id="133" name="Text Box 4"/>
          <p:cNvSpPr txBox="1">
            <a:spLocks noChangeArrowheads="1"/>
          </p:cNvSpPr>
          <p:nvPr/>
        </p:nvSpPr>
        <p:spPr bwMode="auto">
          <a:xfrm>
            <a:off x="677197" y="4095881"/>
            <a:ext cx="432056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20000"/>
              </a:lnSpc>
              <a:buClr>
                <a:srgbClr val="A50021"/>
              </a:buClr>
            </a:pPr>
            <a:r>
              <a:rPr lang="en-US" altLang="zh-CN" sz="2200" b="1" dirty="0" smtClean="0">
                <a:solidFill>
                  <a:srgbClr val="000066"/>
                </a:solidFill>
                <a:ea typeface="幼圆" pitchFamily="49" charset="-122"/>
              </a:rPr>
              <a:t>4</a:t>
            </a:r>
            <a:r>
              <a:rPr lang="zh-CN" altLang="en-US" sz="2200" b="1" dirty="0" smtClean="0">
                <a:solidFill>
                  <a:srgbClr val="000066"/>
                </a:solidFill>
                <a:ea typeface="幼圆" pitchFamily="49" charset="-122"/>
              </a:rPr>
              <a:t>）</a:t>
            </a:r>
            <a:r>
              <a:rPr lang="zh-CN" altLang="en-US" sz="2200" b="1" dirty="0">
                <a:solidFill>
                  <a:srgbClr val="000066"/>
                </a:solidFill>
                <a:ea typeface="幼圆" pitchFamily="49" charset="-122"/>
                <a:sym typeface="Symbol" panose="05050102010706020507" pitchFamily="18" charset="2"/>
              </a:rPr>
              <a:t> </a:t>
            </a:r>
            <a:r>
              <a:rPr lang="zh-CN" altLang="en-US" sz="2200" b="1" dirty="0" smtClean="0">
                <a:solidFill>
                  <a:srgbClr val="000066"/>
                </a:solidFill>
                <a:ea typeface="幼圆" pitchFamily="49" charset="-122"/>
                <a:sym typeface="Symbol" panose="05050102010706020507" pitchFamily="18" charset="2"/>
              </a:rPr>
              <a:t>对</a:t>
            </a:r>
            <a:r>
              <a:rPr lang="en-US" altLang="zh-CN" sz="2200" b="1" i="1" dirty="0" smtClean="0">
                <a:solidFill>
                  <a:srgbClr val="000066"/>
                </a:solidFill>
                <a:ea typeface="幼圆" pitchFamily="49" charset="-122"/>
                <a:sym typeface="Symbol" panose="05050102010706020507" pitchFamily="18" charset="2"/>
              </a:rPr>
              <a:t>E</a:t>
            </a:r>
            <a:r>
              <a:rPr lang="zh-CN" altLang="en-US" sz="2200" b="1" dirty="0" smtClean="0">
                <a:solidFill>
                  <a:srgbClr val="000066"/>
                </a:solidFill>
                <a:ea typeface="幼圆" pitchFamily="49" charset="-122"/>
                <a:sym typeface="Symbol" panose="05050102010706020507" pitchFamily="18" charset="2"/>
              </a:rPr>
              <a:t>求极值，确定真正滑裂面</a:t>
            </a:r>
            <a:r>
              <a:rPr lang="zh-CN" altLang="en-US" sz="2200" b="1" i="1" dirty="0">
                <a:solidFill>
                  <a:srgbClr val="C00000"/>
                </a:solidFill>
                <a:ea typeface="幼圆" pitchFamily="49" charset="-122"/>
                <a:sym typeface="Symbol" panose="05050102010706020507" pitchFamily="18" charset="2"/>
              </a:rPr>
              <a:t></a:t>
            </a:r>
            <a:r>
              <a:rPr lang="zh-CN" altLang="en-US" sz="2200" b="1" dirty="0">
                <a:solidFill>
                  <a:srgbClr val="000066"/>
                </a:solidFill>
                <a:ea typeface="幼圆" pitchFamily="49" charset="-122"/>
                <a:sym typeface="Symbol" panose="05050102010706020507" pitchFamily="18" charset="2"/>
              </a:rPr>
              <a:t> </a:t>
            </a:r>
            <a:r>
              <a:rPr lang="zh-CN" altLang="en-US" sz="2200" b="1" dirty="0" smtClean="0">
                <a:solidFill>
                  <a:srgbClr val="000066"/>
                </a:solidFill>
                <a:ea typeface="幼圆" pitchFamily="49" charset="-122"/>
                <a:sym typeface="Symbol" panose="05050102010706020507" pitchFamily="18" charset="2"/>
              </a:rPr>
              <a:t>、总主动土压力</a:t>
            </a:r>
            <a:r>
              <a:rPr lang="en-US" altLang="zh-CN" sz="2200" b="1" i="1" dirty="0" err="1" smtClean="0">
                <a:solidFill>
                  <a:srgbClr val="C00000"/>
                </a:solidFill>
                <a:ea typeface="幼圆" pitchFamily="49" charset="-122"/>
                <a:sym typeface="Symbol" panose="05050102010706020507" pitchFamily="18" charset="2"/>
              </a:rPr>
              <a:t>E</a:t>
            </a:r>
            <a:r>
              <a:rPr lang="en-US" altLang="zh-CN" sz="2200" b="1" baseline="-25000" dirty="0" err="1" smtClean="0">
                <a:solidFill>
                  <a:srgbClr val="C00000"/>
                </a:solidFill>
                <a:ea typeface="幼圆" pitchFamily="49" charset="-122"/>
                <a:sym typeface="Symbol" panose="05050102010706020507" pitchFamily="18" charset="2"/>
              </a:rPr>
              <a:t>a</a:t>
            </a:r>
            <a:r>
              <a:rPr lang="zh-CN" altLang="en-US" sz="2200" b="1" dirty="0" smtClean="0">
                <a:solidFill>
                  <a:srgbClr val="000066"/>
                </a:solidFill>
                <a:ea typeface="幼圆" pitchFamily="49" charset="-122"/>
                <a:sym typeface="Symbol" panose="05050102010706020507" pitchFamily="18" charset="2"/>
              </a:rPr>
              <a:t>和被动土压力</a:t>
            </a:r>
            <a:r>
              <a:rPr lang="en-US" altLang="zh-CN" sz="2200" b="1" i="1" dirty="0" err="1" smtClean="0">
                <a:solidFill>
                  <a:srgbClr val="C00000"/>
                </a:solidFill>
                <a:ea typeface="幼圆" pitchFamily="49" charset="-122"/>
                <a:sym typeface="Symbol" panose="05050102010706020507" pitchFamily="18" charset="2"/>
              </a:rPr>
              <a:t>E</a:t>
            </a:r>
            <a:r>
              <a:rPr lang="en-US" altLang="zh-CN" sz="2200" b="1" baseline="-25000" dirty="0" err="1" smtClean="0">
                <a:solidFill>
                  <a:srgbClr val="C00000"/>
                </a:solidFill>
                <a:ea typeface="幼圆" pitchFamily="49" charset="-122"/>
                <a:sym typeface="Symbol" panose="05050102010706020507" pitchFamily="18" charset="2"/>
              </a:rPr>
              <a:t>p</a:t>
            </a:r>
            <a:endParaRPr lang="zh-CN" altLang="en-US" sz="2200" b="1" baseline="-25000"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3020232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wipe(left)">
                                      <p:cBhvr>
                                        <p:cTn id="7" dur="500"/>
                                        <p:tgtEl>
                                          <p:spTgt spid="12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par>
                                <p:cTn id="12" presetID="22" presetClass="entr" presetSubtype="4"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00"/>
                                        <p:tgtEl>
                                          <p:spTgt spid="12"/>
                                        </p:tgtEl>
                                      </p:cBhvr>
                                    </p:animEffect>
                                  </p:childTnLst>
                                </p:cTn>
                              </p:par>
                            </p:childTnLst>
                          </p:cTn>
                        </p:par>
                        <p:par>
                          <p:cTn id="15" fill="hold">
                            <p:stCondLst>
                              <p:cond delay="1000"/>
                            </p:stCondLst>
                            <p:childTnLst>
                              <p:par>
                                <p:cTn id="16" presetID="22" presetClass="entr" presetSubtype="8" repeatCount="3000"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par>
                                <p:cTn id="19" presetID="22" presetClass="entr" presetSubtype="8" repeatCount="300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2500"/>
                            </p:stCondLst>
                            <p:childTnLst>
                              <p:par>
                                <p:cTn id="23" presetID="22" presetClass="entr" presetSubtype="1"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500"/>
                                        <p:tgtEl>
                                          <p:spTgt spid="5"/>
                                        </p:tgtEl>
                                      </p:cBhvr>
                                    </p:animEffect>
                                  </p:childTnLst>
                                </p:cTn>
                              </p:par>
                            </p:childTnLst>
                          </p:cTn>
                        </p:par>
                        <p:par>
                          <p:cTn id="26" fill="hold">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0"/>
                                        </p:tgtEl>
                                        <p:attrNameLst>
                                          <p:attrName>style.visibility</p:attrName>
                                        </p:attrNameLst>
                                      </p:cBhvr>
                                      <p:to>
                                        <p:strVal val="visible"/>
                                      </p:to>
                                    </p:set>
                                    <p:animEffect transition="in" filter="wipe(left)">
                                      <p:cBhvr>
                                        <p:cTn id="34" dur="500"/>
                                        <p:tgtEl>
                                          <p:spTgt spid="130"/>
                                        </p:tgtEl>
                                      </p:cBhvr>
                                    </p:animEffect>
                                  </p:childTnLst>
                                </p:cTn>
                              </p:par>
                            </p:childTnLst>
                          </p:cTn>
                        </p:par>
                        <p:par>
                          <p:cTn id="35" fill="hold">
                            <p:stCondLst>
                              <p:cond delay="500"/>
                            </p:stCondLst>
                            <p:childTnLst>
                              <p:par>
                                <p:cTn id="36" presetID="22" presetClass="entr" presetSubtype="8" repeatCount="3000"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par>
                                <p:cTn id="39" presetID="22" presetClass="entr" presetSubtype="8" repeatCount="300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repeatCount="3000"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right)">
                                      <p:cBhvr>
                                        <p:cTn id="46" dur="500"/>
                                        <p:tgtEl>
                                          <p:spTgt spid="9"/>
                                        </p:tgtEl>
                                      </p:cBhvr>
                                    </p:animEffect>
                                  </p:childTnLst>
                                </p:cTn>
                              </p:par>
                              <p:par>
                                <p:cTn id="47" presetID="22" presetClass="entr" presetSubtype="2" repeatCount="300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right)">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1"/>
                                        </p:tgtEl>
                                        <p:attrNameLst>
                                          <p:attrName>style.visibility</p:attrName>
                                        </p:attrNameLst>
                                      </p:cBhvr>
                                      <p:to>
                                        <p:strVal val="visible"/>
                                      </p:to>
                                    </p:set>
                                    <p:animEffect transition="in" filter="wipe(left)">
                                      <p:cBhvr>
                                        <p:cTn id="54" dur="500"/>
                                        <p:tgtEl>
                                          <p:spTgt spid="131"/>
                                        </p:tgtEl>
                                      </p:cBhvr>
                                    </p:animEffect>
                                  </p:childTnLst>
                                </p:cTn>
                              </p:par>
                            </p:childTnLst>
                          </p:cTn>
                        </p:par>
                        <p:par>
                          <p:cTn id="55" fill="hold">
                            <p:stCondLst>
                              <p:cond delay="500"/>
                            </p:stCondLst>
                            <p:childTnLst>
                              <p:par>
                                <p:cTn id="56" presetID="22" presetClass="entr" presetSubtype="4" fill="hold"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down)">
                                      <p:cBhvr>
                                        <p:cTn id="58" dur="500"/>
                                        <p:tgtEl>
                                          <p:spTgt spid="16"/>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down)">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3"/>
                                        </p:tgtEl>
                                        <p:attrNameLst>
                                          <p:attrName>style.visibility</p:attrName>
                                        </p:attrNameLst>
                                      </p:cBhvr>
                                      <p:to>
                                        <p:strVal val="visible"/>
                                      </p:to>
                                    </p:set>
                                    <p:animEffect transition="in" filter="wipe(left)">
                                      <p:cBhvr>
                                        <p:cTn id="67"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30" grpId="0"/>
      <p:bldP spid="131" grpId="0"/>
      <p:bldP spid="13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50</a:t>
            </a:fld>
            <a:endParaRPr lang="zh-CN" altLang="en-US" dirty="0">
              <a:solidFill>
                <a:srgbClr val="C00000"/>
              </a:solidFill>
            </a:endParaRPr>
          </a:p>
        </p:txBody>
      </p:sp>
      <p:sp>
        <p:nvSpPr>
          <p:cNvPr id="53" name="Text Box 7"/>
          <p:cNvSpPr txBox="1">
            <a:spLocks noChangeArrowheads="1"/>
          </p:cNvSpPr>
          <p:nvPr/>
        </p:nvSpPr>
        <p:spPr bwMode="auto">
          <a:xfrm>
            <a:off x="0" y="0"/>
            <a:ext cx="5326912"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方法</a:t>
            </a:r>
            <a:r>
              <a:rPr lang="zh-CN" altLang="en-US" sz="1800" b="1" kern="900" spc="130" dirty="0">
                <a:solidFill>
                  <a:srgbClr val="000066"/>
                </a:solidFill>
                <a:ea typeface="黑体" panose="02010609060101010101" pitchFamily="49" charset="-122"/>
                <a:cs typeface="Times New Roman" panose="02020603050405020304" pitchFamily="18" charset="0"/>
              </a:rPr>
              <a:t>要点</a:t>
            </a:r>
          </a:p>
        </p:txBody>
      </p:sp>
      <p:sp>
        <p:nvSpPr>
          <p:cNvPr id="54" name="Text Box 2"/>
          <p:cNvSpPr txBox="1">
            <a:spLocks noChangeArrowheads="1"/>
          </p:cNvSpPr>
          <p:nvPr/>
        </p:nvSpPr>
        <p:spPr bwMode="auto">
          <a:xfrm>
            <a:off x="2462543" y="5741435"/>
            <a:ext cx="53479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库仑土压力</a:t>
            </a:r>
            <a:r>
              <a:rPr kumimoji="1" lang="zh-CN" altLang="en-US" sz="4000" b="1" dirty="0" smtClean="0">
                <a:solidFill>
                  <a:srgbClr val="000066"/>
                </a:solidFill>
                <a:latin typeface="黑体" pitchFamily="2" charset="-122"/>
                <a:ea typeface="黑体" pitchFamily="2" charset="-122"/>
              </a:rPr>
              <a:t>理论的要点</a:t>
            </a:r>
            <a:endParaRPr kumimoji="1" lang="zh-CN" altLang="en-US" sz="4000" b="1" dirty="0">
              <a:solidFill>
                <a:srgbClr val="000066"/>
              </a:solidFill>
              <a:latin typeface="黑体" pitchFamily="2" charset="-122"/>
              <a:ea typeface="黑体" pitchFamily="2" charset="-122"/>
            </a:endParaRPr>
          </a:p>
        </p:txBody>
      </p:sp>
      <p:sp>
        <p:nvSpPr>
          <p:cNvPr id="105" name="Rectangle 3"/>
          <p:cNvSpPr txBox="1">
            <a:spLocks noChangeArrowheads="1"/>
          </p:cNvSpPr>
          <p:nvPr/>
        </p:nvSpPr>
        <p:spPr bwMode="auto">
          <a:xfrm>
            <a:off x="432532" y="571408"/>
            <a:ext cx="4854692"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微软雅黑" panose="020B0503020204020204" pitchFamily="34" charset="-122"/>
                <a:ea typeface="微软雅黑" panose="020B0503020204020204" pitchFamily="34" charset="-122"/>
              </a:rPr>
              <a:t>主动和被动土压力条件</a:t>
            </a:r>
            <a:endParaRPr lang="zh-CN" altLang="en-US" sz="2400" b="1" i="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82" name="Text Box 3"/>
          <p:cNvSpPr txBox="1">
            <a:spLocks noChangeArrowheads="1"/>
          </p:cNvSpPr>
          <p:nvPr/>
        </p:nvSpPr>
        <p:spPr bwMode="auto">
          <a:xfrm>
            <a:off x="737159" y="1356706"/>
            <a:ext cx="4314675"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5000"/>
              </a:lnSpc>
              <a:spcBef>
                <a:spcPts val="300"/>
              </a:spcBef>
              <a:spcAft>
                <a:spcPts val="300"/>
              </a:spcAft>
              <a:buClr>
                <a:srgbClr val="A50021"/>
              </a:buClr>
              <a:buSzPct val="130000"/>
              <a:buFont typeface="Wingdings" pitchFamily="2" charset="2"/>
              <a:buChar char="F"/>
            </a:pPr>
            <a:r>
              <a:rPr lang="zh-CN" altLang="en-US" sz="2200" b="1" dirty="0">
                <a:solidFill>
                  <a:srgbClr val="C00000"/>
                </a:solidFill>
                <a:latin typeface="黑体" panose="02010609060101010101" pitchFamily="49" charset="-122"/>
                <a:ea typeface="黑体" panose="02010609060101010101" pitchFamily="49" charset="-122"/>
              </a:rPr>
              <a:t>主动土压力：</a:t>
            </a:r>
            <a:r>
              <a:rPr lang="zh-CN" altLang="en-US" sz="2200" b="1" dirty="0">
                <a:solidFill>
                  <a:srgbClr val="000066"/>
                </a:solidFill>
                <a:ea typeface="幼圆" pitchFamily="49" charset="-122"/>
              </a:rPr>
              <a:t>墙体逐步离开土体时，土压力</a:t>
            </a:r>
            <a:r>
              <a:rPr lang="zh-CN" altLang="en-US" sz="2200" b="1" dirty="0" smtClean="0">
                <a:solidFill>
                  <a:srgbClr val="000066"/>
                </a:solidFill>
                <a:ea typeface="幼圆" pitchFamily="49" charset="-122"/>
              </a:rPr>
              <a:t>减小。最先在土中</a:t>
            </a:r>
            <a:r>
              <a:rPr lang="zh-CN" altLang="en-US" sz="2200" b="1" dirty="0">
                <a:solidFill>
                  <a:srgbClr val="000066"/>
                </a:solidFill>
                <a:ea typeface="幼圆" pitchFamily="49" charset="-122"/>
              </a:rPr>
              <a:t>出现</a:t>
            </a:r>
            <a:r>
              <a:rPr lang="zh-CN" altLang="en-US" sz="2200" b="1" dirty="0" smtClean="0">
                <a:solidFill>
                  <a:srgbClr val="000066"/>
                </a:solidFill>
                <a:ea typeface="幼圆" pitchFamily="49" charset="-122"/>
              </a:rPr>
              <a:t>的滑动面的土压力是</a:t>
            </a:r>
            <a:r>
              <a:rPr lang="zh-CN" altLang="en-US" sz="2200" b="1" dirty="0">
                <a:solidFill>
                  <a:srgbClr val="000066"/>
                </a:solidFill>
                <a:ea typeface="幼圆" pitchFamily="49" charset="-122"/>
              </a:rPr>
              <a:t>所有假设滑动面</a:t>
            </a:r>
            <a:r>
              <a:rPr lang="zh-CN" altLang="en-US" sz="2200" b="1" dirty="0" smtClean="0">
                <a:solidFill>
                  <a:srgbClr val="000066"/>
                </a:solidFill>
                <a:ea typeface="幼圆" pitchFamily="49" charset="-122"/>
              </a:rPr>
              <a:t>中最大</a:t>
            </a:r>
            <a:r>
              <a:rPr lang="zh-CN" altLang="en-US" sz="2200" b="1" dirty="0">
                <a:solidFill>
                  <a:srgbClr val="000066"/>
                </a:solidFill>
                <a:ea typeface="幼圆" pitchFamily="49" charset="-122"/>
              </a:rPr>
              <a:t>的一</a:t>
            </a:r>
            <a:r>
              <a:rPr lang="zh-CN" altLang="en-US" sz="2200" b="1" dirty="0" smtClean="0">
                <a:solidFill>
                  <a:srgbClr val="000066"/>
                </a:solidFill>
                <a:ea typeface="幼圆" pitchFamily="49" charset="-122"/>
              </a:rPr>
              <a:t>个</a:t>
            </a:r>
            <a:endParaRPr lang="zh-CN" altLang="en-US" sz="2200" b="1" dirty="0">
              <a:solidFill>
                <a:srgbClr val="000066"/>
              </a:solidFill>
              <a:ea typeface="幼圆" pitchFamily="49" charset="-122"/>
            </a:endParaRPr>
          </a:p>
        </p:txBody>
      </p:sp>
      <p:sp>
        <p:nvSpPr>
          <p:cNvPr id="58" name="Text Box 3"/>
          <p:cNvSpPr txBox="1">
            <a:spLocks noChangeArrowheads="1"/>
          </p:cNvSpPr>
          <p:nvPr/>
        </p:nvSpPr>
        <p:spPr bwMode="auto">
          <a:xfrm>
            <a:off x="808078" y="3348062"/>
            <a:ext cx="428075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57188" indent="-357188" eaLnBrk="1" hangingPunct="1">
              <a:lnSpc>
                <a:spcPct val="125000"/>
              </a:lnSpc>
              <a:spcBef>
                <a:spcPts val="300"/>
              </a:spcBef>
              <a:spcAft>
                <a:spcPts val="300"/>
              </a:spcAft>
              <a:buClr>
                <a:srgbClr val="A50021"/>
              </a:buClr>
              <a:buSzPct val="130000"/>
              <a:buFont typeface="Wingdings" pitchFamily="2" charset="2"/>
              <a:buChar char="F"/>
            </a:pPr>
            <a:r>
              <a:rPr lang="zh-CN" altLang="en-US" sz="2200" b="1" dirty="0" smtClean="0">
                <a:solidFill>
                  <a:srgbClr val="C00000"/>
                </a:solidFill>
                <a:latin typeface="黑体" panose="02010609060101010101" pitchFamily="49" charset="-122"/>
                <a:ea typeface="黑体" panose="02010609060101010101" pitchFamily="49" charset="-122"/>
              </a:rPr>
              <a:t>被动土压力</a:t>
            </a:r>
            <a:r>
              <a:rPr lang="zh-CN" altLang="en-US" sz="2200" b="1" dirty="0">
                <a:solidFill>
                  <a:srgbClr val="C00000"/>
                </a:solidFill>
                <a:latin typeface="黑体" panose="02010609060101010101" pitchFamily="49" charset="-122"/>
                <a:ea typeface="黑体" panose="02010609060101010101" pitchFamily="49" charset="-122"/>
              </a:rPr>
              <a:t>：</a:t>
            </a:r>
            <a:r>
              <a:rPr lang="zh-CN" altLang="en-US" sz="2200" b="1" dirty="0" smtClean="0">
                <a:solidFill>
                  <a:srgbClr val="000066"/>
                </a:solidFill>
                <a:ea typeface="幼圆" pitchFamily="49" charset="-122"/>
              </a:rPr>
              <a:t>墙体挤压土体时</a:t>
            </a:r>
            <a:r>
              <a:rPr lang="zh-CN" altLang="en-US" sz="2200" b="1" dirty="0">
                <a:solidFill>
                  <a:srgbClr val="000066"/>
                </a:solidFill>
                <a:ea typeface="幼圆" pitchFamily="49" charset="-122"/>
              </a:rPr>
              <a:t>，</a:t>
            </a:r>
            <a:r>
              <a:rPr lang="zh-CN" altLang="en-US" sz="2200" b="1" dirty="0" smtClean="0">
                <a:solidFill>
                  <a:srgbClr val="000066"/>
                </a:solidFill>
                <a:ea typeface="幼圆" pitchFamily="49" charset="-122"/>
              </a:rPr>
              <a:t>土压力增大。最先在土中</a:t>
            </a:r>
            <a:r>
              <a:rPr lang="zh-CN" altLang="en-US" sz="2200" b="1" dirty="0">
                <a:solidFill>
                  <a:srgbClr val="000066"/>
                </a:solidFill>
                <a:ea typeface="幼圆" pitchFamily="49" charset="-122"/>
              </a:rPr>
              <a:t>出现</a:t>
            </a:r>
            <a:r>
              <a:rPr lang="zh-CN" altLang="en-US" sz="2200" b="1" dirty="0" smtClean="0">
                <a:solidFill>
                  <a:srgbClr val="000066"/>
                </a:solidFill>
                <a:ea typeface="幼圆" pitchFamily="49" charset="-122"/>
              </a:rPr>
              <a:t>的滑动面的土压力是</a:t>
            </a:r>
            <a:r>
              <a:rPr lang="zh-CN" altLang="en-US" sz="2200" b="1" dirty="0">
                <a:solidFill>
                  <a:srgbClr val="000066"/>
                </a:solidFill>
                <a:ea typeface="幼圆" pitchFamily="49" charset="-122"/>
              </a:rPr>
              <a:t>所有假设滑动面</a:t>
            </a:r>
            <a:r>
              <a:rPr lang="zh-CN" altLang="en-US" sz="2200" b="1" dirty="0" smtClean="0">
                <a:solidFill>
                  <a:srgbClr val="000066"/>
                </a:solidFill>
                <a:ea typeface="幼圆" pitchFamily="49" charset="-122"/>
              </a:rPr>
              <a:t>中最小的</a:t>
            </a:r>
            <a:r>
              <a:rPr lang="zh-CN" altLang="en-US" sz="2200" b="1" dirty="0">
                <a:solidFill>
                  <a:srgbClr val="000066"/>
                </a:solidFill>
                <a:ea typeface="幼圆" pitchFamily="49" charset="-122"/>
              </a:rPr>
              <a:t>一</a:t>
            </a:r>
            <a:r>
              <a:rPr lang="zh-CN" altLang="en-US" sz="2200" b="1" dirty="0" smtClean="0">
                <a:solidFill>
                  <a:srgbClr val="000066"/>
                </a:solidFill>
                <a:ea typeface="幼圆" pitchFamily="49" charset="-122"/>
              </a:rPr>
              <a:t>个</a:t>
            </a:r>
            <a:endParaRPr lang="zh-CN" altLang="en-US" sz="2200" b="1" dirty="0">
              <a:solidFill>
                <a:srgbClr val="000066"/>
              </a:solidFill>
              <a:ea typeface="幼圆" pitchFamily="49" charset="-122"/>
            </a:endParaRPr>
          </a:p>
        </p:txBody>
      </p:sp>
      <p:sp>
        <p:nvSpPr>
          <p:cNvPr id="120" name="AutoShape 118"/>
          <p:cNvSpPr>
            <a:spLocks noChangeArrowheads="1"/>
          </p:cNvSpPr>
          <p:nvPr/>
        </p:nvSpPr>
        <p:spPr bwMode="auto">
          <a:xfrm flipH="1">
            <a:off x="6110692" y="4087551"/>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dirty="0"/>
          </a:p>
        </p:txBody>
      </p:sp>
      <p:sp>
        <p:nvSpPr>
          <p:cNvPr id="123" name="AutoShape 118"/>
          <p:cNvSpPr>
            <a:spLocks noChangeArrowheads="1"/>
          </p:cNvSpPr>
          <p:nvPr/>
        </p:nvSpPr>
        <p:spPr bwMode="auto">
          <a:xfrm>
            <a:off x="6008458" y="1846641"/>
            <a:ext cx="342662" cy="280105"/>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6" name="组合 5"/>
          <p:cNvGrpSpPr/>
          <p:nvPr/>
        </p:nvGrpSpPr>
        <p:grpSpPr>
          <a:xfrm>
            <a:off x="5835884" y="1105342"/>
            <a:ext cx="2828702" cy="2013218"/>
            <a:chOff x="5835884" y="1105342"/>
            <a:chExt cx="2828702" cy="2013218"/>
          </a:xfrm>
        </p:grpSpPr>
        <p:grpSp>
          <p:nvGrpSpPr>
            <p:cNvPr id="4" name="组合 3"/>
            <p:cNvGrpSpPr/>
            <p:nvPr/>
          </p:nvGrpSpPr>
          <p:grpSpPr>
            <a:xfrm>
              <a:off x="5835884" y="1105342"/>
              <a:ext cx="2828702" cy="1958535"/>
              <a:chOff x="5835884" y="1105342"/>
              <a:chExt cx="2828702" cy="1958535"/>
            </a:xfrm>
          </p:grpSpPr>
          <p:sp>
            <p:nvSpPr>
              <p:cNvPr id="79" name="矩形 78"/>
              <p:cNvSpPr/>
              <p:nvPr/>
            </p:nvSpPr>
            <p:spPr>
              <a:xfrm>
                <a:off x="5835884" y="1412935"/>
                <a:ext cx="750054" cy="446276"/>
              </a:xfrm>
              <a:prstGeom prst="rect">
                <a:avLst/>
              </a:prstGeom>
            </p:spPr>
            <p:txBody>
              <a:bodyPr wrap="squar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主动</a:t>
                </a:r>
                <a:endParaRPr lang="zh-CN" altLang="en-US" sz="2000" b="1" dirty="0">
                  <a:solidFill>
                    <a:srgbClr val="A50021"/>
                  </a:solidFill>
                  <a:ea typeface="黑体" panose="02010609060101010101" pitchFamily="49" charset="-122"/>
                  <a:cs typeface="Times New Roman" panose="02020603050405020304" pitchFamily="18" charset="0"/>
                </a:endParaRPr>
              </a:p>
            </p:txBody>
          </p:sp>
          <p:grpSp>
            <p:nvGrpSpPr>
              <p:cNvPr id="2" name="组合 1"/>
              <p:cNvGrpSpPr/>
              <p:nvPr/>
            </p:nvGrpSpPr>
            <p:grpSpPr>
              <a:xfrm>
                <a:off x="6392853" y="1105342"/>
                <a:ext cx="2271733" cy="1958535"/>
                <a:chOff x="6392853" y="1105342"/>
                <a:chExt cx="2271733" cy="1958535"/>
              </a:xfrm>
            </p:grpSpPr>
            <p:sp>
              <p:nvSpPr>
                <p:cNvPr id="62" name="任意多边形 61"/>
                <p:cNvSpPr/>
                <p:nvPr/>
              </p:nvSpPr>
              <p:spPr bwMode="auto">
                <a:xfrm>
                  <a:off x="6780067" y="1248597"/>
                  <a:ext cx="1094611" cy="180877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9" name="任意多边形 178"/>
                <p:cNvSpPr/>
                <p:nvPr/>
              </p:nvSpPr>
              <p:spPr bwMode="auto">
                <a:xfrm>
                  <a:off x="6392853" y="1639215"/>
                  <a:ext cx="685110" cy="1419944"/>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6" name="Line 70"/>
                <p:cNvSpPr>
                  <a:spLocks noChangeShapeType="1"/>
                </p:cNvSpPr>
                <p:nvPr/>
              </p:nvSpPr>
              <p:spPr bwMode="auto">
                <a:xfrm flipV="1">
                  <a:off x="7073497" y="1263384"/>
                  <a:ext cx="797959" cy="1787418"/>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Rectangle 74"/>
                <p:cNvSpPr>
                  <a:spLocks noChangeArrowheads="1"/>
                </p:cNvSpPr>
                <p:nvPr/>
              </p:nvSpPr>
              <p:spPr bwMode="auto">
                <a:xfrm>
                  <a:off x="6424426" y="2391756"/>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69" name="任意多边形 68"/>
                <p:cNvSpPr/>
                <p:nvPr/>
              </p:nvSpPr>
              <p:spPr bwMode="auto">
                <a:xfrm>
                  <a:off x="6765376" y="1105342"/>
                  <a:ext cx="1884459" cy="540000"/>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4459" h="659958">
                      <a:moveTo>
                        <a:pt x="0" y="659958"/>
                      </a:moveTo>
                      <a:cubicBezTo>
                        <a:pt x="67586" y="625502"/>
                        <a:pt x="131196" y="589722"/>
                        <a:pt x="246490" y="532738"/>
                      </a:cubicBezTo>
                      <a:cubicBezTo>
                        <a:pt x="361784" y="475754"/>
                        <a:pt x="523460" y="384313"/>
                        <a:pt x="691763" y="318052"/>
                      </a:cubicBezTo>
                      <a:cubicBezTo>
                        <a:pt x="860066" y="251791"/>
                        <a:pt x="1057523" y="188181"/>
                        <a:pt x="1256306" y="135172"/>
                      </a:cubicBezTo>
                      <a:cubicBezTo>
                        <a:pt x="1455089" y="82163"/>
                        <a:pt x="1669774" y="41081"/>
                        <a:pt x="1884459"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0" name="直接连接符 69"/>
                <p:cNvCxnSpPr/>
                <p:nvPr/>
              </p:nvCxnSpPr>
              <p:spPr bwMode="auto">
                <a:xfrm flipH="1">
                  <a:off x="6602042" y="2411566"/>
                  <a:ext cx="32596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p:nvPr/>
              </p:nvCxnSpPr>
              <p:spPr bwMode="auto">
                <a:xfrm flipV="1">
                  <a:off x="6609867" y="2415711"/>
                  <a:ext cx="329035" cy="348404"/>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任意多边形 71"/>
                <p:cNvSpPr/>
                <p:nvPr/>
              </p:nvSpPr>
              <p:spPr bwMode="auto">
                <a:xfrm rot="4552046">
                  <a:off x="6853413" y="2350186"/>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3" name="任意多边形 72"/>
                <p:cNvSpPr/>
                <p:nvPr/>
              </p:nvSpPr>
              <p:spPr bwMode="auto">
                <a:xfrm>
                  <a:off x="6708344" y="2460589"/>
                  <a:ext cx="79284"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5" name="直接连接符 74"/>
                <p:cNvCxnSpPr/>
                <p:nvPr/>
              </p:nvCxnSpPr>
              <p:spPr bwMode="auto">
                <a:xfrm>
                  <a:off x="6754763" y="3063877"/>
                  <a:ext cx="190982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任意多边形 131"/>
                <p:cNvSpPr/>
                <p:nvPr/>
              </p:nvSpPr>
              <p:spPr bwMode="auto">
                <a:xfrm rot="7512567" flipV="1">
                  <a:off x="7157960" y="2877023"/>
                  <a:ext cx="110522" cy="17968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40" name="直接箭头连接符 139"/>
                <p:cNvCxnSpPr/>
                <p:nvPr/>
              </p:nvCxnSpPr>
              <p:spPr bwMode="auto">
                <a:xfrm>
                  <a:off x="7156018" y="1852498"/>
                  <a:ext cx="0" cy="503142"/>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Text Box 75"/>
                <p:cNvSpPr txBox="1">
                  <a:spLocks noChangeArrowheads="1"/>
                </p:cNvSpPr>
                <p:nvPr/>
              </p:nvSpPr>
              <p:spPr bwMode="auto">
                <a:xfrm>
                  <a:off x="7133191" y="1697061"/>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sp>
          <p:nvSpPr>
            <p:cNvPr id="68" name="Text Box 75"/>
            <p:cNvSpPr txBox="1">
              <a:spLocks noChangeArrowheads="1"/>
            </p:cNvSpPr>
            <p:nvPr/>
          </p:nvSpPr>
          <p:spPr bwMode="auto">
            <a:xfrm>
              <a:off x="6542730" y="2687502"/>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133" name="Rectangle 74"/>
            <p:cNvSpPr>
              <a:spLocks noChangeArrowheads="1"/>
            </p:cNvSpPr>
            <p:nvPr/>
          </p:nvSpPr>
          <p:spPr bwMode="auto">
            <a:xfrm>
              <a:off x="7199001" y="2701651"/>
              <a:ext cx="31771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5" name="组合 4"/>
          <p:cNvGrpSpPr/>
          <p:nvPr/>
        </p:nvGrpSpPr>
        <p:grpSpPr>
          <a:xfrm>
            <a:off x="5939936" y="3300518"/>
            <a:ext cx="2890064" cy="2035368"/>
            <a:chOff x="5939936" y="3300518"/>
            <a:chExt cx="2890064" cy="2035368"/>
          </a:xfrm>
        </p:grpSpPr>
        <p:sp>
          <p:nvSpPr>
            <p:cNvPr id="80" name="任意多边形 79"/>
            <p:cNvSpPr/>
            <p:nvPr/>
          </p:nvSpPr>
          <p:spPr bwMode="auto">
            <a:xfrm>
              <a:off x="6889075" y="3322993"/>
              <a:ext cx="1804091" cy="1932062"/>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799878"/>
                <a:gd name="connsiteY0" fmla="*/ 526170 h 1934479"/>
                <a:gd name="connsiteX1" fmla="*/ 290339 w 1799878"/>
                <a:gd name="connsiteY1" fmla="*/ 1934479 h 1934479"/>
                <a:gd name="connsiteX2" fmla="*/ 1799878 w 1799878"/>
                <a:gd name="connsiteY2" fmla="*/ 0 h 1934479"/>
                <a:gd name="connsiteX3" fmla="*/ 1094611 w 1799878"/>
                <a:gd name="connsiteY3" fmla="*/ 125702 h 1934479"/>
                <a:gd name="connsiteX4" fmla="*/ 814284 w 1799878"/>
                <a:gd name="connsiteY4" fmla="*/ 195784 h 1934479"/>
                <a:gd name="connsiteX5" fmla="*/ 530619 w 1799878"/>
                <a:gd name="connsiteY5" fmla="*/ 302575 h 1934479"/>
                <a:gd name="connsiteX6" fmla="*/ 240281 w 1799878"/>
                <a:gd name="connsiteY6" fmla="*/ 416041 h 1934479"/>
                <a:gd name="connsiteX7" fmla="*/ 0 w 1799878"/>
                <a:gd name="connsiteY7" fmla="*/ 526170 h 1934479"/>
                <a:gd name="connsiteX0" fmla="*/ 0 w 1799878"/>
                <a:gd name="connsiteY0" fmla="*/ 526170 h 1934479"/>
                <a:gd name="connsiteX1" fmla="*/ 290339 w 1799878"/>
                <a:gd name="connsiteY1" fmla="*/ 1934479 h 1934479"/>
                <a:gd name="connsiteX2" fmla="*/ 1799878 w 1799878"/>
                <a:gd name="connsiteY2" fmla="*/ 0 h 1934479"/>
                <a:gd name="connsiteX3" fmla="*/ 1094611 w 1799878"/>
                <a:gd name="connsiteY3" fmla="*/ 125702 h 1934479"/>
                <a:gd name="connsiteX4" fmla="*/ 814284 w 1799878"/>
                <a:gd name="connsiteY4" fmla="*/ 195784 h 1934479"/>
                <a:gd name="connsiteX5" fmla="*/ 530619 w 1799878"/>
                <a:gd name="connsiteY5" fmla="*/ 302575 h 1934479"/>
                <a:gd name="connsiteX6" fmla="*/ 240281 w 1799878"/>
                <a:gd name="connsiteY6" fmla="*/ 416041 h 1934479"/>
                <a:gd name="connsiteX7" fmla="*/ 0 w 1799878"/>
                <a:gd name="connsiteY7" fmla="*/ 526170 h 1934479"/>
                <a:gd name="connsiteX0" fmla="*/ 0 w 2402748"/>
                <a:gd name="connsiteY0" fmla="*/ 612707 h 2021016"/>
                <a:gd name="connsiteX1" fmla="*/ 290339 w 2402748"/>
                <a:gd name="connsiteY1" fmla="*/ 2021016 h 2021016"/>
                <a:gd name="connsiteX2" fmla="*/ 2402748 w 2402748"/>
                <a:gd name="connsiteY2" fmla="*/ 0 h 2021016"/>
                <a:gd name="connsiteX3" fmla="*/ 1094611 w 2402748"/>
                <a:gd name="connsiteY3" fmla="*/ 212239 h 2021016"/>
                <a:gd name="connsiteX4" fmla="*/ 814284 w 2402748"/>
                <a:gd name="connsiteY4" fmla="*/ 282321 h 2021016"/>
                <a:gd name="connsiteX5" fmla="*/ 530619 w 2402748"/>
                <a:gd name="connsiteY5" fmla="*/ 389112 h 2021016"/>
                <a:gd name="connsiteX6" fmla="*/ 240281 w 2402748"/>
                <a:gd name="connsiteY6" fmla="*/ 502578 h 2021016"/>
                <a:gd name="connsiteX7" fmla="*/ 0 w 2402748"/>
                <a:gd name="connsiteY7" fmla="*/ 612707 h 2021016"/>
                <a:gd name="connsiteX0" fmla="*/ 0 w 2402748"/>
                <a:gd name="connsiteY0" fmla="*/ 612707 h 2021016"/>
                <a:gd name="connsiteX1" fmla="*/ 290339 w 2402748"/>
                <a:gd name="connsiteY1" fmla="*/ 2021016 h 2021016"/>
                <a:gd name="connsiteX2" fmla="*/ 2402748 w 2402748"/>
                <a:gd name="connsiteY2" fmla="*/ 0 h 2021016"/>
                <a:gd name="connsiteX3" fmla="*/ 1804091 w 2402748"/>
                <a:gd name="connsiteY3" fmla="*/ 88954 h 2021016"/>
                <a:gd name="connsiteX4" fmla="*/ 1094611 w 2402748"/>
                <a:gd name="connsiteY4" fmla="*/ 212239 h 2021016"/>
                <a:gd name="connsiteX5" fmla="*/ 814284 w 2402748"/>
                <a:gd name="connsiteY5" fmla="*/ 282321 h 2021016"/>
                <a:gd name="connsiteX6" fmla="*/ 530619 w 2402748"/>
                <a:gd name="connsiteY6" fmla="*/ 389112 h 2021016"/>
                <a:gd name="connsiteX7" fmla="*/ 240281 w 2402748"/>
                <a:gd name="connsiteY7" fmla="*/ 502578 h 2021016"/>
                <a:gd name="connsiteX8" fmla="*/ 0 w 2402748"/>
                <a:gd name="connsiteY8" fmla="*/ 612707 h 2021016"/>
                <a:gd name="connsiteX0" fmla="*/ 0 w 1804091"/>
                <a:gd name="connsiteY0" fmla="*/ 523753 h 1932062"/>
                <a:gd name="connsiteX1" fmla="*/ 290339 w 1804091"/>
                <a:gd name="connsiteY1" fmla="*/ 1932062 h 1932062"/>
                <a:gd name="connsiteX2" fmla="*/ 1804091 w 1804091"/>
                <a:gd name="connsiteY2" fmla="*/ 0 h 1932062"/>
                <a:gd name="connsiteX3" fmla="*/ 1094611 w 1804091"/>
                <a:gd name="connsiteY3" fmla="*/ 123285 h 1932062"/>
                <a:gd name="connsiteX4" fmla="*/ 814284 w 1804091"/>
                <a:gd name="connsiteY4" fmla="*/ 193367 h 1932062"/>
                <a:gd name="connsiteX5" fmla="*/ 530619 w 1804091"/>
                <a:gd name="connsiteY5" fmla="*/ 300158 h 1932062"/>
                <a:gd name="connsiteX6" fmla="*/ 240281 w 1804091"/>
                <a:gd name="connsiteY6" fmla="*/ 413624 h 1932062"/>
                <a:gd name="connsiteX7" fmla="*/ 0 w 1804091"/>
                <a:gd name="connsiteY7" fmla="*/ 523753 h 193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4091" h="1932062">
                  <a:moveTo>
                    <a:pt x="0" y="523753"/>
                  </a:moveTo>
                  <a:lnTo>
                    <a:pt x="290339" y="1932062"/>
                  </a:lnTo>
                  <a:lnTo>
                    <a:pt x="1804091" y="0"/>
                  </a:lnTo>
                  <a:lnTo>
                    <a:pt x="1094611" y="123285"/>
                  </a:lnTo>
                  <a:lnTo>
                    <a:pt x="814284" y="193367"/>
                  </a:lnTo>
                  <a:lnTo>
                    <a:pt x="530619" y="300158"/>
                  </a:lnTo>
                  <a:lnTo>
                    <a:pt x="240281" y="413624"/>
                  </a:lnTo>
                  <a:lnTo>
                    <a:pt x="0" y="523753"/>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0" name="任意多边形 179"/>
            <p:cNvSpPr/>
            <p:nvPr/>
          </p:nvSpPr>
          <p:spPr bwMode="auto">
            <a:xfrm>
              <a:off x="6476541" y="3842406"/>
              <a:ext cx="685110" cy="1419944"/>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Line 70"/>
            <p:cNvSpPr>
              <a:spLocks noChangeShapeType="1"/>
            </p:cNvSpPr>
            <p:nvPr/>
          </p:nvSpPr>
          <p:spPr bwMode="auto">
            <a:xfrm flipV="1">
              <a:off x="7172813" y="3322202"/>
              <a:ext cx="1521446" cy="1935814"/>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Rectangle 74"/>
            <p:cNvSpPr>
              <a:spLocks noChangeArrowheads="1"/>
            </p:cNvSpPr>
            <p:nvPr/>
          </p:nvSpPr>
          <p:spPr bwMode="auto">
            <a:xfrm>
              <a:off x="6441121" y="4639734"/>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87" name="Text Box 75"/>
            <p:cNvSpPr txBox="1">
              <a:spLocks noChangeArrowheads="1"/>
            </p:cNvSpPr>
            <p:nvPr/>
          </p:nvSpPr>
          <p:spPr bwMode="auto">
            <a:xfrm>
              <a:off x="6215282" y="4337384"/>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88" name="任意多边形 87"/>
            <p:cNvSpPr/>
            <p:nvPr/>
          </p:nvSpPr>
          <p:spPr bwMode="auto">
            <a:xfrm>
              <a:off x="6868030" y="3300518"/>
              <a:ext cx="1961970" cy="545366"/>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750140 w 1884459"/>
                <a:gd name="connsiteY4" fmla="*/ 27960 h 659958"/>
                <a:gd name="connsiteX5" fmla="*/ 1884459 w 1884459"/>
                <a:gd name="connsiteY5" fmla="*/ 0 h 659958"/>
                <a:gd name="connsiteX0" fmla="*/ 0 w 2637324"/>
                <a:gd name="connsiteY0" fmla="*/ 779819 h 779819"/>
                <a:gd name="connsiteX1" fmla="*/ 246490 w 2637324"/>
                <a:gd name="connsiteY1" fmla="*/ 652599 h 779819"/>
                <a:gd name="connsiteX2" fmla="*/ 691763 w 2637324"/>
                <a:gd name="connsiteY2" fmla="*/ 437913 h 779819"/>
                <a:gd name="connsiteX3" fmla="*/ 1256306 w 2637324"/>
                <a:gd name="connsiteY3" fmla="*/ 255033 h 779819"/>
                <a:gd name="connsiteX4" fmla="*/ 1750140 w 2637324"/>
                <a:gd name="connsiteY4" fmla="*/ 147821 h 779819"/>
                <a:gd name="connsiteX5" fmla="*/ 2637324 w 2637324"/>
                <a:gd name="connsiteY5" fmla="*/ 0 h 779819"/>
                <a:gd name="connsiteX0" fmla="*/ 0 w 1750140"/>
                <a:gd name="connsiteY0" fmla="*/ 631998 h 631998"/>
                <a:gd name="connsiteX1" fmla="*/ 246490 w 1750140"/>
                <a:gd name="connsiteY1" fmla="*/ 504778 h 631998"/>
                <a:gd name="connsiteX2" fmla="*/ 691763 w 1750140"/>
                <a:gd name="connsiteY2" fmla="*/ 290092 h 631998"/>
                <a:gd name="connsiteX3" fmla="*/ 1256306 w 1750140"/>
                <a:gd name="connsiteY3" fmla="*/ 107212 h 631998"/>
                <a:gd name="connsiteX4" fmla="*/ 1750140 w 1750140"/>
                <a:gd name="connsiteY4" fmla="*/ 0 h 631998"/>
                <a:gd name="connsiteX0" fmla="*/ 0 w 1961970"/>
                <a:gd name="connsiteY0" fmla="*/ 666516 h 666516"/>
                <a:gd name="connsiteX1" fmla="*/ 246490 w 1961970"/>
                <a:gd name="connsiteY1" fmla="*/ 539296 h 666516"/>
                <a:gd name="connsiteX2" fmla="*/ 691763 w 1961970"/>
                <a:gd name="connsiteY2" fmla="*/ 324610 h 666516"/>
                <a:gd name="connsiteX3" fmla="*/ 1256306 w 1961970"/>
                <a:gd name="connsiteY3" fmla="*/ 141730 h 666516"/>
                <a:gd name="connsiteX4" fmla="*/ 1961970 w 1961970"/>
                <a:gd name="connsiteY4" fmla="*/ 0 h 666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1970" h="666516">
                  <a:moveTo>
                    <a:pt x="0" y="666516"/>
                  </a:moveTo>
                  <a:cubicBezTo>
                    <a:pt x="67586" y="632060"/>
                    <a:pt x="131196" y="596280"/>
                    <a:pt x="246490" y="539296"/>
                  </a:cubicBezTo>
                  <a:cubicBezTo>
                    <a:pt x="361784" y="482312"/>
                    <a:pt x="523460" y="390871"/>
                    <a:pt x="691763" y="324610"/>
                  </a:cubicBezTo>
                  <a:cubicBezTo>
                    <a:pt x="860066" y="258349"/>
                    <a:pt x="1044605" y="195832"/>
                    <a:pt x="1256306" y="141730"/>
                  </a:cubicBezTo>
                  <a:cubicBezTo>
                    <a:pt x="1468007" y="87628"/>
                    <a:pt x="1857278" y="22529"/>
                    <a:pt x="1961970"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89" name="直接连接符 88"/>
            <p:cNvCxnSpPr/>
            <p:nvPr/>
          </p:nvCxnSpPr>
          <p:spPr bwMode="auto">
            <a:xfrm flipH="1">
              <a:off x="6706813" y="4766870"/>
              <a:ext cx="366236" cy="10781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任意多边形 89"/>
            <p:cNvSpPr/>
            <p:nvPr/>
          </p:nvSpPr>
          <p:spPr bwMode="auto">
            <a:xfrm rot="15340282" flipV="1">
              <a:off x="7015214" y="4771575"/>
              <a:ext cx="72000" cy="72000"/>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1" name="任意多边形 90"/>
            <p:cNvSpPr/>
            <p:nvPr/>
          </p:nvSpPr>
          <p:spPr bwMode="auto">
            <a:xfrm rot="19892328" flipV="1">
              <a:off x="6719760" y="4746474"/>
              <a:ext cx="45719" cy="10945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2" name="直接箭头连接符 91"/>
            <p:cNvCxnSpPr/>
            <p:nvPr/>
          </p:nvCxnSpPr>
          <p:spPr bwMode="auto">
            <a:xfrm>
              <a:off x="6363913" y="4734983"/>
              <a:ext cx="716739" cy="2305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a:off x="6787772" y="5266798"/>
              <a:ext cx="135509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矩形 118"/>
            <p:cNvSpPr/>
            <p:nvPr/>
          </p:nvSpPr>
          <p:spPr>
            <a:xfrm>
              <a:off x="5939936" y="3692934"/>
              <a:ext cx="700833" cy="414794"/>
            </a:xfrm>
            <a:prstGeom prst="rect">
              <a:avLst/>
            </a:prstGeom>
          </p:spPr>
          <p:txBody>
            <a:bodyPr wrap="non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被动</a:t>
              </a:r>
              <a:endParaRPr lang="zh-CN" altLang="en-US" sz="2000" b="1" dirty="0">
                <a:solidFill>
                  <a:srgbClr val="A50021"/>
                </a:solidFill>
                <a:ea typeface="黑体" panose="02010609060101010101" pitchFamily="49" charset="-122"/>
                <a:cs typeface="Times New Roman" panose="02020603050405020304" pitchFamily="18" charset="0"/>
              </a:endParaRPr>
            </a:p>
          </p:txBody>
        </p:sp>
        <p:sp>
          <p:nvSpPr>
            <p:cNvPr id="125" name="任意多边形 124"/>
            <p:cNvSpPr/>
            <p:nvPr/>
          </p:nvSpPr>
          <p:spPr bwMode="auto">
            <a:xfrm rot="7512567" flipV="1">
              <a:off x="7293062" y="5142532"/>
              <a:ext cx="75885" cy="108419"/>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0" name="直接箭头连接符 129"/>
            <p:cNvCxnSpPr/>
            <p:nvPr/>
          </p:nvCxnSpPr>
          <p:spPr bwMode="auto">
            <a:xfrm>
              <a:off x="7697688" y="3902786"/>
              <a:ext cx="0" cy="542465"/>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Rectangle 74"/>
            <p:cNvSpPr>
              <a:spLocks noChangeArrowheads="1"/>
            </p:cNvSpPr>
            <p:nvPr/>
          </p:nvSpPr>
          <p:spPr bwMode="auto">
            <a:xfrm>
              <a:off x="7307096" y="4918977"/>
              <a:ext cx="31771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139" name="Text Box 75"/>
            <p:cNvSpPr txBox="1">
              <a:spLocks noChangeArrowheads="1"/>
            </p:cNvSpPr>
            <p:nvPr/>
          </p:nvSpPr>
          <p:spPr bwMode="auto">
            <a:xfrm>
              <a:off x="7271714" y="3863617"/>
              <a:ext cx="4317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aphicFrame>
        <p:nvGraphicFramePr>
          <p:cNvPr id="3" name="对象 2"/>
          <p:cNvGraphicFramePr>
            <a:graphicFrameLocks noChangeAspect="1"/>
          </p:cNvGraphicFramePr>
          <p:nvPr>
            <p:extLst>
              <p:ext uri="{D42A27DB-BD31-4B8C-83A1-F6EECF244321}">
                <p14:modId xmlns:p14="http://schemas.microsoft.com/office/powerpoint/2010/main" val="2339644848"/>
              </p:ext>
            </p:extLst>
          </p:nvPr>
        </p:nvGraphicFramePr>
        <p:xfrm>
          <a:off x="4756150" y="560124"/>
          <a:ext cx="1056253" cy="862318"/>
        </p:xfrm>
        <a:graphic>
          <a:graphicData uri="http://schemas.openxmlformats.org/presentationml/2006/ole">
            <mc:AlternateContent xmlns:mc="http://schemas.openxmlformats.org/markup-compatibility/2006">
              <mc:Choice xmlns:v="urn:schemas-microsoft-com:vml" Requires="v">
                <p:oleObj spid="_x0000_s1684845" name="公式" r:id="rId4" imgW="495000" imgH="406080" progId="Equation.3">
                  <p:embed/>
                </p:oleObj>
              </mc:Choice>
              <mc:Fallback>
                <p:oleObj name="公式" r:id="rId4" imgW="495000" imgH="406080" progId="Equation.3">
                  <p:embed/>
                  <p:pic>
                    <p:nvPicPr>
                      <p:cNvPr id="0" name="Object 1"/>
                      <p:cNvPicPr>
                        <a:picLocks noChangeAspect="1" noChangeArrowheads="1"/>
                      </p:cNvPicPr>
                      <p:nvPr/>
                    </p:nvPicPr>
                    <p:blipFill>
                      <a:blip r:embed="rId5"/>
                      <a:srcRect/>
                      <a:stretch>
                        <a:fillRect/>
                      </a:stretch>
                    </p:blipFill>
                    <p:spPr bwMode="auto">
                      <a:xfrm>
                        <a:off x="4756150" y="560124"/>
                        <a:ext cx="1056253" cy="86231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2896025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wipe(left)">
                                      <p:cBhvr>
                                        <p:cTn id="15" dur="500"/>
                                        <p:tgtEl>
                                          <p:spTgt spid="82"/>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par>
                          <p:cTn id="20" fill="hold">
                            <p:stCondLst>
                              <p:cond delay="1000"/>
                            </p:stCondLst>
                            <p:childTnLst>
                              <p:par>
                                <p:cTn id="21" presetID="22" presetClass="entr" presetSubtype="2" repeatCount="3000" fill="hold" grpId="0" nodeType="afterEffect">
                                  <p:stCondLst>
                                    <p:cond delay="0"/>
                                  </p:stCondLst>
                                  <p:childTnLst>
                                    <p:set>
                                      <p:cBhvr>
                                        <p:cTn id="22" dur="1" fill="hold">
                                          <p:stCondLst>
                                            <p:cond delay="0"/>
                                          </p:stCondLst>
                                        </p:cTn>
                                        <p:tgtEl>
                                          <p:spTgt spid="123"/>
                                        </p:tgtEl>
                                        <p:attrNameLst>
                                          <p:attrName>style.visibility</p:attrName>
                                        </p:attrNameLst>
                                      </p:cBhvr>
                                      <p:to>
                                        <p:strVal val="visible"/>
                                      </p:to>
                                    </p:set>
                                    <p:animEffect transition="in" filter="wipe(right)">
                                      <p:cBhvr>
                                        <p:cTn id="23" dur="500"/>
                                        <p:tgtEl>
                                          <p:spTgt spid="1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wipe(left)">
                                      <p:cBhvr>
                                        <p:cTn id="32" dur="500"/>
                                        <p:tgtEl>
                                          <p:spTgt spid="58"/>
                                        </p:tgtEl>
                                      </p:cBhvr>
                                    </p:animEffect>
                                  </p:childTnLst>
                                </p:cTn>
                              </p:par>
                            </p:childTnLst>
                          </p:cTn>
                        </p:par>
                        <p:par>
                          <p:cTn id="33" fill="hold">
                            <p:stCondLst>
                              <p:cond delay="1000"/>
                            </p:stCondLst>
                            <p:childTnLst>
                              <p:par>
                                <p:cTn id="34" presetID="22" presetClass="entr" presetSubtype="8" repeatCount="3000" fill="hold" grpId="0" nodeType="afterEffect">
                                  <p:stCondLst>
                                    <p:cond delay="0"/>
                                  </p:stCondLst>
                                  <p:childTnLst>
                                    <p:set>
                                      <p:cBhvr>
                                        <p:cTn id="35" dur="1" fill="hold">
                                          <p:stCondLst>
                                            <p:cond delay="0"/>
                                          </p:stCondLst>
                                        </p:cTn>
                                        <p:tgtEl>
                                          <p:spTgt spid="120"/>
                                        </p:tgtEl>
                                        <p:attrNameLst>
                                          <p:attrName>style.visibility</p:attrName>
                                        </p:attrNameLst>
                                      </p:cBhvr>
                                      <p:to>
                                        <p:strVal val="visible"/>
                                      </p:to>
                                    </p:set>
                                    <p:animEffect transition="in" filter="wipe(left)">
                                      <p:cBhvr>
                                        <p:cTn id="36"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58" grpId="0"/>
      <p:bldP spid="120" grpId="0" animBg="1"/>
      <p:bldP spid="12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51</a:t>
            </a:fld>
            <a:endParaRPr lang="zh-CN" altLang="en-US" dirty="0">
              <a:solidFill>
                <a:srgbClr val="C00000"/>
              </a:solidFill>
            </a:endParaRPr>
          </a:p>
        </p:txBody>
      </p:sp>
      <p:sp>
        <p:nvSpPr>
          <p:cNvPr id="53"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无黏性土库伦土压力解析法</a:t>
            </a:r>
          </a:p>
        </p:txBody>
      </p:sp>
      <p:sp>
        <p:nvSpPr>
          <p:cNvPr id="54" name="Text Box 2"/>
          <p:cNvSpPr txBox="1">
            <a:spLocks noChangeArrowheads="1"/>
          </p:cNvSpPr>
          <p:nvPr/>
        </p:nvSpPr>
        <p:spPr bwMode="auto">
          <a:xfrm>
            <a:off x="2461229" y="5741435"/>
            <a:ext cx="54741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库伦主动土压力求解</a:t>
            </a:r>
            <a:endParaRPr kumimoji="1" lang="zh-CN" altLang="en-US" sz="4000" b="1" dirty="0">
              <a:solidFill>
                <a:srgbClr val="000066"/>
              </a:solidFill>
              <a:latin typeface="黑体" pitchFamily="2" charset="-122"/>
              <a:ea typeface="黑体" pitchFamily="2" charset="-122"/>
            </a:endParaRPr>
          </a:p>
        </p:txBody>
      </p:sp>
      <p:sp>
        <p:nvSpPr>
          <p:cNvPr id="105" name="Rectangle 3"/>
          <p:cNvSpPr txBox="1">
            <a:spLocks noChangeArrowheads="1"/>
          </p:cNvSpPr>
          <p:nvPr/>
        </p:nvSpPr>
        <p:spPr bwMode="auto">
          <a:xfrm>
            <a:off x="432532" y="571408"/>
            <a:ext cx="2028697"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黑体" panose="02010609060101010101" pitchFamily="49" charset="-122"/>
                <a:ea typeface="黑体" panose="02010609060101010101" pitchFamily="49" charset="-122"/>
              </a:rPr>
              <a:t>计算条件：</a:t>
            </a:r>
            <a:endParaRPr lang="zh-CN" altLang="en-US" sz="2400" b="1" i="1" kern="0" dirty="0">
              <a:solidFill>
                <a:srgbClr val="000066"/>
              </a:solidFill>
              <a:latin typeface="黑体" panose="02010609060101010101" pitchFamily="49" charset="-122"/>
              <a:ea typeface="黑体" panose="02010609060101010101" pitchFamily="49" charset="-122"/>
              <a:sym typeface="Symbol" panose="05050102010706020507" pitchFamily="18" charset="2"/>
            </a:endParaRPr>
          </a:p>
        </p:txBody>
      </p:sp>
      <p:sp>
        <p:nvSpPr>
          <p:cNvPr id="82" name="Text Box 3"/>
          <p:cNvSpPr txBox="1">
            <a:spLocks noChangeArrowheads="1"/>
          </p:cNvSpPr>
          <p:nvPr/>
        </p:nvSpPr>
        <p:spPr bwMode="auto">
          <a:xfrm>
            <a:off x="777622" y="1267983"/>
            <a:ext cx="4181728" cy="143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200" b="1" dirty="0" smtClean="0">
                <a:solidFill>
                  <a:srgbClr val="000066"/>
                </a:solidFill>
                <a:ea typeface="幼圆" pitchFamily="49" charset="-122"/>
              </a:rPr>
              <a:t>取</a:t>
            </a:r>
            <a:r>
              <a:rPr lang="zh-CN" altLang="en-US" sz="2200" b="1" dirty="0">
                <a:solidFill>
                  <a:srgbClr val="000066"/>
                </a:solidFill>
                <a:ea typeface="幼圆" pitchFamily="49" charset="-122"/>
              </a:rPr>
              <a:t>倾角为</a:t>
            </a:r>
            <a:r>
              <a:rPr kumimoji="1" lang="en-US" altLang="zh-CN" sz="2200" b="1" i="1" dirty="0">
                <a:solidFill>
                  <a:srgbClr val="000066"/>
                </a:solidFill>
                <a:sym typeface="Symbol" panose="05050102010706020507" pitchFamily="18" charset="2"/>
              </a:rPr>
              <a:t> </a:t>
            </a:r>
            <a:r>
              <a:rPr lang="zh-CN" altLang="en-US" sz="2200" b="1" dirty="0">
                <a:solidFill>
                  <a:srgbClr val="000066"/>
                </a:solidFill>
                <a:ea typeface="幼圆" pitchFamily="49" charset="-122"/>
              </a:rPr>
              <a:t>的滑动楔</a:t>
            </a:r>
            <a:r>
              <a:rPr lang="zh-CN" altLang="en-US" sz="2200" b="1" dirty="0" smtClean="0">
                <a:solidFill>
                  <a:srgbClr val="000066"/>
                </a:solidFill>
                <a:ea typeface="幼圆" pitchFamily="49" charset="-122"/>
              </a:rPr>
              <a:t>体，画出楔</a:t>
            </a:r>
            <a:r>
              <a:rPr lang="zh-CN" altLang="en-US" sz="2200" b="1" dirty="0">
                <a:solidFill>
                  <a:srgbClr val="000066"/>
                </a:solidFill>
                <a:ea typeface="幼圆" pitchFamily="49" charset="-122"/>
              </a:rPr>
              <a:t>体静力平衡力的</a:t>
            </a:r>
            <a:r>
              <a:rPr lang="zh-CN" altLang="en-US" sz="2200" b="1" dirty="0" smtClean="0">
                <a:solidFill>
                  <a:srgbClr val="000066"/>
                </a:solidFill>
                <a:ea typeface="幼圆" pitchFamily="49" charset="-122"/>
              </a:rPr>
              <a:t>三角形</a:t>
            </a:r>
            <a:endParaRPr lang="en-US" altLang="zh-CN" sz="2200" b="1" dirty="0" smtClean="0">
              <a:solidFill>
                <a:srgbClr val="000066"/>
              </a:solidFill>
              <a:ea typeface="幼圆" pitchFamily="49" charset="-122"/>
            </a:endParaRPr>
          </a:p>
          <a:p>
            <a:pPr marL="342900" indent="-342900" eaLnBrk="1" hangingPunct="1">
              <a:lnSpc>
                <a:spcPct val="125000"/>
              </a:lnSpc>
              <a:spcBef>
                <a:spcPts val="300"/>
              </a:spcBef>
              <a:spcAft>
                <a:spcPts val="300"/>
              </a:spcAft>
              <a:buClr>
                <a:srgbClr val="A50021"/>
              </a:buClr>
              <a:buSzPct val="100000"/>
              <a:buFont typeface="Wingdings" panose="05000000000000000000" pitchFamily="2" charset="2"/>
              <a:buChar char="Ø"/>
            </a:pPr>
            <a:r>
              <a:rPr lang="zh-CN" altLang="en-US" sz="2200" b="1" dirty="0" smtClean="0">
                <a:solidFill>
                  <a:srgbClr val="000066"/>
                </a:solidFill>
                <a:ea typeface="幼圆" pitchFamily="49" charset="-122"/>
              </a:rPr>
              <a:t>根据正弦定理：</a:t>
            </a:r>
            <a:endParaRPr lang="zh-CN" altLang="en-US" sz="2200" b="1" dirty="0">
              <a:solidFill>
                <a:srgbClr val="000066"/>
              </a:solidFill>
              <a:ea typeface="幼圆" pitchFamily="49" charset="-122"/>
            </a:endParaRPr>
          </a:p>
        </p:txBody>
      </p:sp>
      <p:grpSp>
        <p:nvGrpSpPr>
          <p:cNvPr id="6" name="组合 5"/>
          <p:cNvGrpSpPr/>
          <p:nvPr/>
        </p:nvGrpSpPr>
        <p:grpSpPr>
          <a:xfrm>
            <a:off x="5692599" y="1147930"/>
            <a:ext cx="2981742" cy="2931160"/>
            <a:chOff x="5692599" y="1147930"/>
            <a:chExt cx="2981742" cy="2931160"/>
          </a:xfrm>
        </p:grpSpPr>
        <p:sp>
          <p:nvSpPr>
            <p:cNvPr id="114" name="AutoShape 118"/>
            <p:cNvSpPr>
              <a:spLocks noChangeArrowheads="1"/>
            </p:cNvSpPr>
            <p:nvPr/>
          </p:nvSpPr>
          <p:spPr bwMode="auto">
            <a:xfrm>
              <a:off x="5692599" y="1971650"/>
              <a:ext cx="434145" cy="354887"/>
            </a:xfrm>
            <a:prstGeom prst="leftArrow">
              <a:avLst>
                <a:gd name="adj1" fmla="val 50000"/>
                <a:gd name="adj2" fmla="val 52800"/>
              </a:avLst>
            </a:prstGeom>
            <a:solidFill>
              <a:srgbClr val="C00000"/>
            </a:solidFill>
            <a:ln w="9525">
              <a:solidFill>
                <a:srgbClr val="A50021"/>
              </a:solidFill>
              <a:miter lim="800000"/>
              <a:headEnd/>
              <a:tailEnd/>
            </a:ln>
          </p:spPr>
          <p:txBody>
            <a:bodyPr wrap="none" anchor="ct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endParaRPr lang="zh-CN" altLang="en-US"/>
            </a:p>
          </p:txBody>
        </p:sp>
        <p:grpSp>
          <p:nvGrpSpPr>
            <p:cNvPr id="4" name="组合 3"/>
            <p:cNvGrpSpPr/>
            <p:nvPr/>
          </p:nvGrpSpPr>
          <p:grpSpPr>
            <a:xfrm>
              <a:off x="6131238" y="1147930"/>
              <a:ext cx="2543103" cy="2931160"/>
              <a:chOff x="6131238" y="1147930"/>
              <a:chExt cx="2543103" cy="2931160"/>
            </a:xfrm>
          </p:grpSpPr>
          <p:sp>
            <p:nvSpPr>
              <p:cNvPr id="93" name="任意多边形 92"/>
              <p:cNvSpPr/>
              <p:nvPr/>
            </p:nvSpPr>
            <p:spPr bwMode="auto">
              <a:xfrm>
                <a:off x="6642914" y="1405546"/>
                <a:ext cx="1174878" cy="2207625"/>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Lst>
                <a:ahLst/>
                <a:cxnLst>
                  <a:cxn ang="0">
                    <a:pos x="connsiteX0" y="connsiteY0"/>
                  </a:cxn>
                  <a:cxn ang="0">
                    <a:pos x="connsiteX1" y="connsiteY1"/>
                  </a:cxn>
                  <a:cxn ang="0">
                    <a:pos x="connsiteX2" y="connsiteY2"/>
                  </a:cxn>
                  <a:cxn ang="0">
                    <a:pos x="connsiteX3" y="connsiteY3"/>
                  </a:cxn>
                </a:cxnLst>
                <a:rect l="l" t="t" r="r" b="b"/>
                <a:pathLst>
                  <a:path w="927307" h="1742433">
                    <a:moveTo>
                      <a:pt x="0" y="334124"/>
                    </a:moveTo>
                    <a:lnTo>
                      <a:pt x="290339" y="1742433"/>
                    </a:lnTo>
                    <a:lnTo>
                      <a:pt x="927307" y="0"/>
                    </a:lnTo>
                    <a:lnTo>
                      <a:pt x="0" y="3341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1" name="任意多边形 180"/>
              <p:cNvSpPr/>
              <p:nvPr/>
            </p:nvSpPr>
            <p:spPr bwMode="auto">
              <a:xfrm>
                <a:off x="6131238" y="1825882"/>
                <a:ext cx="870712" cy="180237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6" name="Line 60"/>
              <p:cNvSpPr>
                <a:spLocks noChangeShapeType="1"/>
              </p:cNvSpPr>
              <p:nvPr/>
            </p:nvSpPr>
            <p:spPr bwMode="auto">
              <a:xfrm>
                <a:off x="6637495" y="1820503"/>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Rectangle 61"/>
              <p:cNvSpPr>
                <a:spLocks noChangeArrowheads="1"/>
              </p:cNvSpPr>
              <p:nvPr/>
            </p:nvSpPr>
            <p:spPr bwMode="auto">
              <a:xfrm>
                <a:off x="6460497" y="2136942"/>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98" name="Line 70"/>
              <p:cNvSpPr>
                <a:spLocks noChangeShapeType="1"/>
              </p:cNvSpPr>
              <p:nvPr/>
            </p:nvSpPr>
            <p:spPr bwMode="auto">
              <a:xfrm flipV="1">
                <a:off x="7010211" y="1391916"/>
                <a:ext cx="821737" cy="2225530"/>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Rectangle 74"/>
              <p:cNvSpPr>
                <a:spLocks noChangeArrowheads="1"/>
              </p:cNvSpPr>
              <p:nvPr/>
            </p:nvSpPr>
            <p:spPr bwMode="auto">
              <a:xfrm>
                <a:off x="6192325" y="2729698"/>
                <a:ext cx="31130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100" name="Text Box 75"/>
              <p:cNvSpPr txBox="1">
                <a:spLocks noChangeArrowheads="1"/>
              </p:cNvSpPr>
              <p:nvPr/>
            </p:nvSpPr>
            <p:spPr bwMode="auto">
              <a:xfrm>
                <a:off x="6159196" y="3164352"/>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102" name="直接连接符 101"/>
              <p:cNvCxnSpPr/>
              <p:nvPr/>
            </p:nvCxnSpPr>
            <p:spPr bwMode="auto">
              <a:xfrm flipH="1">
                <a:off x="6417360" y="2794946"/>
                <a:ext cx="412992" cy="9047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任意多边形 105"/>
              <p:cNvSpPr/>
              <p:nvPr/>
            </p:nvSpPr>
            <p:spPr bwMode="auto">
              <a:xfrm rot="4552046">
                <a:off x="6735842" y="2717179"/>
                <a:ext cx="91222" cy="9122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7" name="任意多边形 106"/>
              <p:cNvSpPr/>
              <p:nvPr/>
            </p:nvSpPr>
            <p:spPr bwMode="auto">
              <a:xfrm>
                <a:off x="6521177" y="2861433"/>
                <a:ext cx="100451" cy="15377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9" name="任意多边形 108"/>
              <p:cNvSpPr/>
              <p:nvPr/>
            </p:nvSpPr>
            <p:spPr bwMode="auto">
              <a:xfrm rot="18139897">
                <a:off x="6656632" y="2246355"/>
                <a:ext cx="57925" cy="8867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0" name="直接连接符 109"/>
              <p:cNvCxnSpPr/>
              <p:nvPr/>
            </p:nvCxnSpPr>
            <p:spPr bwMode="auto">
              <a:xfrm>
                <a:off x="6610855" y="3620402"/>
                <a:ext cx="206348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75"/>
              <p:cNvSpPr txBox="1">
                <a:spLocks noChangeArrowheads="1"/>
              </p:cNvSpPr>
              <p:nvPr/>
            </p:nvSpPr>
            <p:spPr bwMode="auto">
              <a:xfrm>
                <a:off x="6432673" y="1397412"/>
                <a:ext cx="546989" cy="5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12" name="Text Box 75"/>
              <p:cNvSpPr txBox="1">
                <a:spLocks noChangeArrowheads="1"/>
              </p:cNvSpPr>
              <p:nvPr/>
            </p:nvSpPr>
            <p:spPr bwMode="auto">
              <a:xfrm>
                <a:off x="6892874" y="3549657"/>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13" name="Text Box 75"/>
              <p:cNvSpPr txBox="1">
                <a:spLocks noChangeArrowheads="1"/>
              </p:cNvSpPr>
              <p:nvPr/>
            </p:nvSpPr>
            <p:spPr bwMode="auto">
              <a:xfrm>
                <a:off x="7867406" y="1306951"/>
                <a:ext cx="546989" cy="5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15" name="任意多边形 114"/>
              <p:cNvSpPr/>
              <p:nvPr/>
            </p:nvSpPr>
            <p:spPr bwMode="auto">
              <a:xfrm rot="7512567" flipV="1">
                <a:off x="7087162" y="3385489"/>
                <a:ext cx="140029" cy="22765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6" name="Rectangle 74"/>
              <p:cNvSpPr>
                <a:spLocks noChangeArrowheads="1"/>
              </p:cNvSpPr>
              <p:nvPr/>
            </p:nvSpPr>
            <p:spPr bwMode="auto">
              <a:xfrm>
                <a:off x="7173694" y="3162478"/>
                <a:ext cx="31771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cxnSp>
            <p:nvCxnSpPr>
              <p:cNvPr id="117" name="直接箭头连接符 116"/>
              <p:cNvCxnSpPr/>
              <p:nvPr/>
            </p:nvCxnSpPr>
            <p:spPr bwMode="auto">
              <a:xfrm>
                <a:off x="7086334" y="2061039"/>
                <a:ext cx="0" cy="74523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Text Box 75"/>
              <p:cNvSpPr txBox="1">
                <a:spLocks noChangeArrowheads="1"/>
              </p:cNvSpPr>
              <p:nvPr/>
            </p:nvSpPr>
            <p:spPr bwMode="auto">
              <a:xfrm>
                <a:off x="7034465" y="1926239"/>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19" name="组合 18"/>
              <p:cNvGrpSpPr/>
              <p:nvPr/>
            </p:nvGrpSpPr>
            <p:grpSpPr>
              <a:xfrm rot="173897">
                <a:off x="7431773" y="2348262"/>
                <a:ext cx="630541" cy="774078"/>
                <a:chOff x="6840700" y="1909625"/>
                <a:chExt cx="497673" cy="610964"/>
              </a:xfrm>
            </p:grpSpPr>
            <p:cxnSp>
              <p:nvCxnSpPr>
                <p:cNvPr id="121" name="直接连接符 120"/>
                <p:cNvCxnSpPr/>
                <p:nvPr/>
              </p:nvCxnSpPr>
              <p:spPr bwMode="auto">
                <a:xfrm rot="11211980" flipH="1" flipV="1">
                  <a:off x="6840700" y="1985722"/>
                  <a:ext cx="332186" cy="714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任意多边形 121"/>
                <p:cNvSpPr/>
                <p:nvPr/>
              </p:nvSpPr>
              <p:spPr bwMode="auto">
                <a:xfrm rot="6659934" flipV="1">
                  <a:off x="6852243" y="1908938"/>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4" name="任意多边形 123"/>
                <p:cNvSpPr/>
                <p:nvPr/>
              </p:nvSpPr>
              <p:spPr bwMode="auto">
                <a:xfrm rot="11211980" flipV="1">
                  <a:off x="7018062" y="2044945"/>
                  <a:ext cx="80797"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34" name="直接箭头连接符 133"/>
                <p:cNvCxnSpPr/>
                <p:nvPr/>
              </p:nvCxnSpPr>
              <p:spPr bwMode="auto">
                <a:xfrm rot="21426103" flipH="1" flipV="1">
                  <a:off x="6856151" y="1958609"/>
                  <a:ext cx="482222" cy="561980"/>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7" name="Rectangle 74"/>
              <p:cNvSpPr>
                <a:spLocks noChangeArrowheads="1"/>
              </p:cNvSpPr>
              <p:nvPr/>
            </p:nvSpPr>
            <p:spPr bwMode="auto">
              <a:xfrm>
                <a:off x="7722599" y="2385189"/>
                <a:ext cx="340158"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138" name="Text Box 75"/>
              <p:cNvSpPr txBox="1">
                <a:spLocks noChangeArrowheads="1"/>
              </p:cNvSpPr>
              <p:nvPr/>
            </p:nvSpPr>
            <p:spPr bwMode="auto">
              <a:xfrm>
                <a:off x="7984493" y="2812195"/>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5" name="直接连接符 4"/>
              <p:cNvCxnSpPr/>
              <p:nvPr/>
            </p:nvCxnSpPr>
            <p:spPr bwMode="auto">
              <a:xfrm flipV="1">
                <a:off x="6639642" y="1147930"/>
                <a:ext cx="1883163" cy="675434"/>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p:nvPr/>
            </p:nvCxnSpPr>
            <p:spPr bwMode="auto">
              <a:xfrm>
                <a:off x="6645751" y="1824182"/>
                <a:ext cx="63070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任意多边形 146"/>
              <p:cNvSpPr/>
              <p:nvPr/>
            </p:nvSpPr>
            <p:spPr bwMode="auto">
              <a:xfrm rot="8053380" flipV="1">
                <a:off x="7000492" y="1693326"/>
                <a:ext cx="75506" cy="113422"/>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9" name="Rectangle 74"/>
              <p:cNvSpPr>
                <a:spLocks noChangeArrowheads="1"/>
              </p:cNvSpPr>
              <p:nvPr/>
            </p:nvSpPr>
            <p:spPr bwMode="auto">
              <a:xfrm>
                <a:off x="7157441" y="1456517"/>
                <a:ext cx="412693" cy="52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cxnSp>
            <p:nvCxnSpPr>
              <p:cNvPr id="104" name="直接箭头连接符 103"/>
              <p:cNvCxnSpPr/>
              <p:nvPr/>
            </p:nvCxnSpPr>
            <p:spPr bwMode="auto">
              <a:xfrm flipV="1">
                <a:off x="6334408" y="2805935"/>
                <a:ext cx="515483" cy="45580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 name="组合 1"/>
          <p:cNvGrpSpPr/>
          <p:nvPr/>
        </p:nvGrpSpPr>
        <p:grpSpPr>
          <a:xfrm>
            <a:off x="7379294" y="2421015"/>
            <a:ext cx="558166" cy="788682"/>
            <a:chOff x="7379294" y="2421015"/>
            <a:chExt cx="558166" cy="788682"/>
          </a:xfrm>
        </p:grpSpPr>
        <p:sp>
          <p:nvSpPr>
            <p:cNvPr id="160" name="Line 60"/>
            <p:cNvSpPr>
              <a:spLocks noChangeShapeType="1"/>
            </p:cNvSpPr>
            <p:nvPr/>
          </p:nvSpPr>
          <p:spPr bwMode="auto">
            <a:xfrm>
              <a:off x="7462504" y="2421015"/>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1" name="Rectangle 74"/>
            <p:cNvSpPr>
              <a:spLocks noChangeArrowheads="1"/>
            </p:cNvSpPr>
            <p:nvPr/>
          </p:nvSpPr>
          <p:spPr bwMode="auto">
            <a:xfrm>
              <a:off x="7379294" y="2763421"/>
              <a:ext cx="55816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167" name="任意多边形 166"/>
            <p:cNvSpPr/>
            <p:nvPr/>
          </p:nvSpPr>
          <p:spPr bwMode="auto">
            <a:xfrm rot="12689039" flipV="1">
              <a:off x="7511741" y="2631341"/>
              <a:ext cx="108070" cy="16676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70" name="Rectangle 74"/>
          <p:cNvSpPr>
            <a:spLocks noChangeArrowheads="1"/>
          </p:cNvSpPr>
          <p:nvPr/>
        </p:nvSpPr>
        <p:spPr bwMode="auto">
          <a:xfrm>
            <a:off x="7272609" y="4799013"/>
            <a:ext cx="151358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r>
              <a:rPr kumimoji="1" lang="en-US" altLang="zh-CN" sz="2000" b="1" dirty="0" smtClean="0">
                <a:solidFill>
                  <a:srgbClr val="993300"/>
                </a:solidFill>
                <a:latin typeface="Times New Roman" panose="02020603050405020304" pitchFamily="18" charset="0"/>
                <a:sym typeface="Symbol"/>
              </a:rPr>
              <a:t>90</a:t>
            </a:r>
            <a:r>
              <a:rPr kumimoji="1" lang="en-US" altLang="zh-CN" sz="2000" b="1" i="1" dirty="0" smtClean="0">
                <a:solidFill>
                  <a:srgbClr val="993300"/>
                </a:solidFill>
                <a:latin typeface="Times New Roman" panose="02020603050405020304" pitchFamily="18" charset="0"/>
                <a:sym typeface="Symbol"/>
              </a:rPr>
              <a:t>-</a:t>
            </a:r>
            <a:r>
              <a:rPr kumimoji="1" lang="en-US" altLang="zh-CN" sz="2000" b="1" i="1" dirty="0" smtClean="0">
                <a:solidFill>
                  <a:srgbClr val="993300"/>
                </a:solidFill>
                <a:latin typeface="Times New Roman" panose="02020603050405020304" pitchFamily="18" charset="0"/>
                <a:sym typeface="Symbol" panose="05050102010706020507" pitchFamily="18" charset="2"/>
              </a:rPr>
              <a:t> -</a:t>
            </a:r>
            <a:r>
              <a:rPr kumimoji="1" lang="en-US" altLang="zh-CN" sz="2000" b="1" i="1" dirty="0" smtClean="0">
                <a:solidFill>
                  <a:srgbClr val="993300"/>
                </a:solidFill>
                <a:latin typeface="Times New Roman" panose="02020603050405020304" pitchFamily="18" charset="0"/>
                <a:ea typeface="仿宋_GB2312" pitchFamily="49" charset="-122"/>
                <a:sym typeface="Symbol" panose="05050102010706020507" pitchFamily="18" charset="2"/>
              </a:rPr>
              <a:t></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grpSp>
        <p:nvGrpSpPr>
          <p:cNvPr id="7" name="组合 6"/>
          <p:cNvGrpSpPr/>
          <p:nvPr/>
        </p:nvGrpSpPr>
        <p:grpSpPr>
          <a:xfrm>
            <a:off x="5980697" y="4072459"/>
            <a:ext cx="1390214" cy="1443100"/>
            <a:chOff x="5980697" y="4072459"/>
            <a:chExt cx="1390214" cy="1443100"/>
          </a:xfrm>
        </p:grpSpPr>
        <p:sp>
          <p:nvSpPr>
            <p:cNvPr id="141" name="Text Box 75"/>
            <p:cNvSpPr txBox="1">
              <a:spLocks noChangeArrowheads="1"/>
            </p:cNvSpPr>
            <p:nvPr/>
          </p:nvSpPr>
          <p:spPr bwMode="auto">
            <a:xfrm>
              <a:off x="5980697" y="4513359"/>
              <a:ext cx="519824"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42" name="Text Box 75"/>
            <p:cNvSpPr txBox="1">
              <a:spLocks noChangeArrowheads="1"/>
            </p:cNvSpPr>
            <p:nvPr/>
          </p:nvSpPr>
          <p:spPr bwMode="auto">
            <a:xfrm>
              <a:off x="6704174" y="4904130"/>
              <a:ext cx="631701" cy="611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143" name="Text Box 75"/>
            <p:cNvSpPr txBox="1">
              <a:spLocks noChangeArrowheads="1"/>
            </p:cNvSpPr>
            <p:nvPr/>
          </p:nvSpPr>
          <p:spPr bwMode="auto">
            <a:xfrm>
              <a:off x="6739210" y="4103293"/>
              <a:ext cx="631701" cy="611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151" name="直接箭头连接符 150"/>
            <p:cNvCxnSpPr/>
            <p:nvPr/>
          </p:nvCxnSpPr>
          <p:spPr bwMode="auto">
            <a:xfrm>
              <a:off x="6416796" y="4082178"/>
              <a:ext cx="0" cy="126231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接箭头连接符 155"/>
            <p:cNvCxnSpPr/>
            <p:nvPr/>
          </p:nvCxnSpPr>
          <p:spPr bwMode="auto">
            <a:xfrm flipH="1" flipV="1">
              <a:off x="6431330" y="4072459"/>
              <a:ext cx="605598" cy="705766"/>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直接箭头连接符 156"/>
            <p:cNvCxnSpPr/>
            <p:nvPr/>
          </p:nvCxnSpPr>
          <p:spPr bwMode="auto">
            <a:xfrm flipV="1">
              <a:off x="6422096" y="4778921"/>
              <a:ext cx="632272" cy="55908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 name="组合 9"/>
          <p:cNvGrpSpPr/>
          <p:nvPr/>
        </p:nvGrpSpPr>
        <p:grpSpPr>
          <a:xfrm>
            <a:off x="6377989" y="4696954"/>
            <a:ext cx="664328" cy="515393"/>
            <a:chOff x="6377989" y="4696954"/>
            <a:chExt cx="664328" cy="515393"/>
          </a:xfrm>
        </p:grpSpPr>
        <p:sp>
          <p:nvSpPr>
            <p:cNvPr id="158" name="任意多边形 157"/>
            <p:cNvSpPr/>
            <p:nvPr/>
          </p:nvSpPr>
          <p:spPr bwMode="auto">
            <a:xfrm rot="5096346" flipV="1">
              <a:off x="6458845" y="5075430"/>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1" name="Rectangle 74"/>
            <p:cNvSpPr>
              <a:spLocks noChangeArrowheads="1"/>
            </p:cNvSpPr>
            <p:nvPr/>
          </p:nvSpPr>
          <p:spPr bwMode="auto">
            <a:xfrm>
              <a:off x="6377989" y="4696954"/>
              <a:ext cx="664328"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grpSp>
      <p:grpSp>
        <p:nvGrpSpPr>
          <p:cNvPr id="8" name="组合 7"/>
          <p:cNvGrpSpPr/>
          <p:nvPr/>
        </p:nvGrpSpPr>
        <p:grpSpPr>
          <a:xfrm>
            <a:off x="5871617" y="4027614"/>
            <a:ext cx="679753" cy="515393"/>
            <a:chOff x="5871617" y="4027614"/>
            <a:chExt cx="679753" cy="515393"/>
          </a:xfrm>
        </p:grpSpPr>
        <p:sp>
          <p:nvSpPr>
            <p:cNvPr id="159" name="任意多边形 158"/>
            <p:cNvSpPr/>
            <p:nvPr/>
          </p:nvSpPr>
          <p:spPr bwMode="auto">
            <a:xfrm rot="12912647" flipV="1">
              <a:off x="6464170" y="4242123"/>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2" name="Rectangle 74"/>
            <p:cNvSpPr>
              <a:spLocks noChangeArrowheads="1"/>
            </p:cNvSpPr>
            <p:nvPr/>
          </p:nvSpPr>
          <p:spPr bwMode="auto">
            <a:xfrm>
              <a:off x="5871617" y="4027614"/>
              <a:ext cx="644609"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3" name="组合 2"/>
          <p:cNvGrpSpPr/>
          <p:nvPr/>
        </p:nvGrpSpPr>
        <p:grpSpPr>
          <a:xfrm>
            <a:off x="6453042" y="2797950"/>
            <a:ext cx="438357" cy="648904"/>
            <a:chOff x="6453042" y="2797950"/>
            <a:chExt cx="438357" cy="648904"/>
          </a:xfrm>
        </p:grpSpPr>
        <p:sp>
          <p:nvSpPr>
            <p:cNvPr id="168" name="Line 60"/>
            <p:cNvSpPr>
              <a:spLocks noChangeShapeType="1"/>
            </p:cNvSpPr>
            <p:nvPr/>
          </p:nvSpPr>
          <p:spPr bwMode="auto">
            <a:xfrm>
              <a:off x="6841669" y="2797950"/>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9" name="任意多边形 168"/>
            <p:cNvSpPr/>
            <p:nvPr/>
          </p:nvSpPr>
          <p:spPr bwMode="auto">
            <a:xfrm rot="15696845" flipV="1">
              <a:off x="6695719" y="2932287"/>
              <a:ext cx="106516" cy="16436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4" name="Rectangle 74"/>
            <p:cNvSpPr>
              <a:spLocks noChangeArrowheads="1"/>
            </p:cNvSpPr>
            <p:nvPr/>
          </p:nvSpPr>
          <p:spPr bwMode="auto">
            <a:xfrm>
              <a:off x="6453042" y="3000578"/>
              <a:ext cx="43835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grpSp>
      <p:sp>
        <p:nvSpPr>
          <p:cNvPr id="175" name="Rectangle 3"/>
          <p:cNvSpPr txBox="1">
            <a:spLocks noChangeArrowheads="1"/>
          </p:cNvSpPr>
          <p:nvPr/>
        </p:nvSpPr>
        <p:spPr bwMode="auto">
          <a:xfrm>
            <a:off x="2464005" y="682594"/>
            <a:ext cx="5565570" cy="467039"/>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20000"/>
              </a:lnSpc>
              <a:spcBef>
                <a:spcPts val="300"/>
              </a:spcBef>
              <a:spcAft>
                <a:spcPts val="300"/>
              </a:spcAft>
              <a:buClr>
                <a:srgbClr val="C00000"/>
              </a:buClr>
              <a:buSzPct val="130000"/>
              <a:buNone/>
            </a:pPr>
            <a:r>
              <a:rPr lang="zh-CN" altLang="en-US" sz="2400" b="1" kern="0" dirty="0" smtClean="0">
                <a:solidFill>
                  <a:srgbClr val="000066"/>
                </a:solidFill>
                <a:latin typeface="幼圆" panose="02010509060101010101" pitchFamily="49" charset="-122"/>
                <a:ea typeface="幼圆" panose="02010509060101010101" pitchFamily="49" charset="-122"/>
              </a:rPr>
              <a:t>墙后无黏性土填土，填土面为斜平面线</a:t>
            </a:r>
            <a:endParaRPr lang="zh-CN" altLang="en-US" sz="2400" b="1" i="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graphicFrame>
        <p:nvGraphicFramePr>
          <p:cNvPr id="59" name="对象 58"/>
          <p:cNvGraphicFramePr>
            <a:graphicFrameLocks noChangeAspect="1"/>
          </p:cNvGraphicFramePr>
          <p:nvPr>
            <p:extLst>
              <p:ext uri="{D42A27DB-BD31-4B8C-83A1-F6EECF244321}">
                <p14:modId xmlns:p14="http://schemas.microsoft.com/office/powerpoint/2010/main" val="2390959598"/>
              </p:ext>
            </p:extLst>
          </p:nvPr>
        </p:nvGraphicFramePr>
        <p:xfrm>
          <a:off x="1232340" y="2714542"/>
          <a:ext cx="3528613" cy="772699"/>
        </p:xfrm>
        <a:graphic>
          <a:graphicData uri="http://schemas.openxmlformats.org/presentationml/2006/ole">
            <mc:AlternateContent xmlns:mc="http://schemas.openxmlformats.org/markup-compatibility/2006">
              <mc:Choice xmlns:v="urn:schemas-microsoft-com:vml" Requires="v">
                <p:oleObj spid="_x0000_s1751123" name="公式" r:id="rId4" imgW="2120760" imgH="431640" progId="Equation.3">
                  <p:embed/>
                </p:oleObj>
              </mc:Choice>
              <mc:Fallback>
                <p:oleObj name="公式" r:id="rId4" imgW="2120760" imgH="431640" progId="Equation.3">
                  <p:embed/>
                  <p:pic>
                    <p:nvPicPr>
                      <p:cNvPr id="0" name="Object 0"/>
                      <p:cNvPicPr>
                        <a:picLocks noChangeAspect="1" noChangeArrowheads="1"/>
                      </p:cNvPicPr>
                      <p:nvPr/>
                    </p:nvPicPr>
                    <p:blipFill>
                      <a:blip r:embed="rId5"/>
                      <a:srcRect/>
                      <a:stretch>
                        <a:fillRect/>
                      </a:stretch>
                    </p:blipFill>
                    <p:spPr bwMode="auto">
                      <a:xfrm>
                        <a:off x="1232340" y="2714542"/>
                        <a:ext cx="3528613" cy="772699"/>
                      </a:xfrm>
                      <a:prstGeom prst="rect">
                        <a:avLst/>
                      </a:prstGeom>
                      <a:noFill/>
                      <a:ln>
                        <a:noFill/>
                      </a:ln>
                      <a:effectLst/>
                    </p:spPr>
                  </p:pic>
                </p:oleObj>
              </mc:Fallback>
            </mc:AlternateContent>
          </a:graphicData>
        </a:graphic>
      </p:graphicFrame>
      <p:sp>
        <p:nvSpPr>
          <p:cNvPr id="176" name="AutoShape 5"/>
          <p:cNvSpPr>
            <a:spLocks noChangeArrowheads="1"/>
          </p:cNvSpPr>
          <p:nvPr/>
        </p:nvSpPr>
        <p:spPr bwMode="auto">
          <a:xfrm>
            <a:off x="1106488" y="3927944"/>
            <a:ext cx="369071" cy="32020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177" name="对象 176"/>
          <p:cNvGraphicFramePr>
            <a:graphicFrameLocks noChangeAspect="1"/>
          </p:cNvGraphicFramePr>
          <p:nvPr>
            <p:extLst>
              <p:ext uri="{D42A27DB-BD31-4B8C-83A1-F6EECF244321}">
                <p14:modId xmlns:p14="http://schemas.microsoft.com/office/powerpoint/2010/main" val="334486861"/>
              </p:ext>
            </p:extLst>
          </p:nvPr>
        </p:nvGraphicFramePr>
        <p:xfrm>
          <a:off x="1628775" y="3722784"/>
          <a:ext cx="2727325" cy="773113"/>
        </p:xfrm>
        <a:graphic>
          <a:graphicData uri="http://schemas.openxmlformats.org/presentationml/2006/ole">
            <mc:AlternateContent xmlns:mc="http://schemas.openxmlformats.org/markup-compatibility/2006">
              <mc:Choice xmlns:v="urn:schemas-microsoft-com:vml" Requires="v">
                <p:oleObj spid="_x0000_s1751124" name="公式" r:id="rId6" imgW="1638000" imgH="431640" progId="Equation.3">
                  <p:embed/>
                </p:oleObj>
              </mc:Choice>
              <mc:Fallback>
                <p:oleObj name="公式" r:id="rId6" imgW="1638000" imgH="431640" progId="Equation.3">
                  <p:embed/>
                  <p:pic>
                    <p:nvPicPr>
                      <p:cNvPr id="0" name=""/>
                      <p:cNvPicPr>
                        <a:picLocks noChangeAspect="1" noChangeArrowheads="1"/>
                      </p:cNvPicPr>
                      <p:nvPr/>
                    </p:nvPicPr>
                    <p:blipFill>
                      <a:blip r:embed="rId7"/>
                      <a:srcRect/>
                      <a:stretch>
                        <a:fillRect/>
                      </a:stretch>
                    </p:blipFill>
                    <p:spPr bwMode="auto">
                      <a:xfrm>
                        <a:off x="1628775" y="3722784"/>
                        <a:ext cx="2727325" cy="773113"/>
                      </a:xfrm>
                      <a:prstGeom prst="rect">
                        <a:avLst/>
                      </a:prstGeom>
                      <a:noFill/>
                      <a:ln>
                        <a:noFill/>
                      </a:ln>
                      <a:effectLst/>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4284075726"/>
              </p:ext>
            </p:extLst>
          </p:nvPr>
        </p:nvGraphicFramePr>
        <p:xfrm>
          <a:off x="1607433" y="4653757"/>
          <a:ext cx="1055688" cy="862012"/>
        </p:xfrm>
        <a:graphic>
          <a:graphicData uri="http://schemas.openxmlformats.org/presentationml/2006/ole">
            <mc:AlternateContent xmlns:mc="http://schemas.openxmlformats.org/markup-compatibility/2006">
              <mc:Choice xmlns:v="urn:schemas-microsoft-com:vml" Requires="v">
                <p:oleObj spid="_x0000_s1751125" name="公式" r:id="rId8" imgW="495000" imgH="406080" progId="Equation.3">
                  <p:embed/>
                </p:oleObj>
              </mc:Choice>
              <mc:Fallback>
                <p:oleObj name="公式" r:id="rId8" imgW="495000" imgH="406080" progId="Equation.3">
                  <p:embed/>
                  <p:pic>
                    <p:nvPicPr>
                      <p:cNvPr id="0" name="对象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07433" y="4653757"/>
                        <a:ext cx="1055688"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9" name="AutoShape 5"/>
          <p:cNvSpPr>
            <a:spLocks noChangeArrowheads="1"/>
          </p:cNvSpPr>
          <p:nvPr/>
        </p:nvSpPr>
        <p:spPr bwMode="auto">
          <a:xfrm>
            <a:off x="3032029" y="4924660"/>
            <a:ext cx="369071" cy="32020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180" name="Text Box 61"/>
          <p:cNvSpPr txBox="1">
            <a:spLocks noChangeArrowheads="1"/>
          </p:cNvSpPr>
          <p:nvPr/>
        </p:nvSpPr>
        <p:spPr bwMode="auto">
          <a:xfrm>
            <a:off x="3708400" y="4825206"/>
            <a:ext cx="1295400" cy="587853"/>
          </a:xfrm>
          <a:prstGeom prst="rect">
            <a:avLst/>
          </a:prstGeom>
          <a:noFill/>
          <a:ln>
            <a:noFill/>
          </a:ln>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1" lang="en-US" altLang="zh-CN"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kumimoji="1" lang="zh-CN" alt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1" lang="en-US" altLang="zh-CN"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E</a:t>
            </a:r>
            <a:endParaRPr kumimoji="1" lang="en-US" altLang="zh-CN"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38231297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anim calcmode="lin" valueType="num">
                                      <p:cBhvr additive="base">
                                        <p:cTn id="7" dur="1000" fill="hold"/>
                                        <p:tgtEl>
                                          <p:spTgt spid="82">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2">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1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repeatCount="300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par>
                                <p:cTn id="22" presetID="22" presetClass="entr" presetSubtype="1" repeatCount="300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repeatCount="300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par>
                                <p:cTn id="30" presetID="22" presetClass="entr" presetSubtype="1" repeatCount="300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70"/>
                                        </p:tgtEl>
                                        <p:attrNameLst>
                                          <p:attrName>style.visibility</p:attrName>
                                        </p:attrNameLst>
                                      </p:cBhvr>
                                      <p:to>
                                        <p:strVal val="visible"/>
                                      </p:to>
                                    </p:set>
                                    <p:animEffect transition="in" filter="wipe(left)">
                                      <p:cBhvr>
                                        <p:cTn id="36" dur="500"/>
                                        <p:tgtEl>
                                          <p:spTgt spid="170"/>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82">
                                            <p:txEl>
                                              <p:pRg st="1" end="1"/>
                                            </p:txEl>
                                          </p:spTgt>
                                        </p:tgtEl>
                                        <p:attrNameLst>
                                          <p:attrName>style.visibility</p:attrName>
                                        </p:attrNameLst>
                                      </p:cBhvr>
                                      <p:to>
                                        <p:strVal val="visible"/>
                                      </p:to>
                                    </p:set>
                                    <p:anim calcmode="lin" valueType="num">
                                      <p:cBhvr additive="base">
                                        <p:cTn id="41" dur="1000" fill="hold"/>
                                        <p:tgtEl>
                                          <p:spTgt spid="82">
                                            <p:txEl>
                                              <p:pRg st="1" end="1"/>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82">
                                            <p:txEl>
                                              <p:pRg st="1" end="1"/>
                                            </p:txEl>
                                          </p:spTgt>
                                        </p:tgtEl>
                                        <p:attrNameLst>
                                          <p:attrName>ppt_y</p:attrName>
                                        </p:attrNameLst>
                                      </p:cBhvr>
                                      <p:tavLst>
                                        <p:tav tm="0">
                                          <p:val>
                                            <p:strVal val="#ppt_y"/>
                                          </p:val>
                                        </p:tav>
                                        <p:tav tm="100000">
                                          <p:val>
                                            <p:strVal val="#ppt_y"/>
                                          </p:val>
                                        </p:tav>
                                      </p:tavLst>
                                    </p:anim>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left)">
                                      <p:cBhvr>
                                        <p:cTn id="46" dur="500"/>
                                        <p:tgtEl>
                                          <p:spTgt spid="59"/>
                                        </p:tgtEl>
                                      </p:cBhvr>
                                    </p:animEffect>
                                  </p:child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176"/>
                                        </p:tgtEl>
                                        <p:attrNameLst>
                                          <p:attrName>style.visibility</p:attrName>
                                        </p:attrNameLst>
                                      </p:cBhvr>
                                      <p:to>
                                        <p:strVal val="visible"/>
                                      </p:to>
                                    </p:set>
                                    <p:animEffect transition="in" filter="wipe(left)">
                                      <p:cBhvr>
                                        <p:cTn id="50" dur="1000"/>
                                        <p:tgtEl>
                                          <p:spTgt spid="176"/>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77"/>
                                        </p:tgtEl>
                                        <p:attrNameLst>
                                          <p:attrName>style.visibility</p:attrName>
                                        </p:attrNameLst>
                                      </p:cBhvr>
                                      <p:to>
                                        <p:strVal val="visible"/>
                                      </p:to>
                                    </p:set>
                                    <p:animEffect transition="in" filter="wipe(left)">
                                      <p:cBhvr>
                                        <p:cTn id="54" dur="500"/>
                                        <p:tgtEl>
                                          <p:spTgt spid="17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wipe(left)">
                                      <p:cBhvr>
                                        <p:cTn id="59" dur="500"/>
                                        <p:tgtEl>
                                          <p:spTgt spid="61"/>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179"/>
                                        </p:tgtEl>
                                        <p:attrNameLst>
                                          <p:attrName>style.visibility</p:attrName>
                                        </p:attrNameLst>
                                      </p:cBhvr>
                                      <p:to>
                                        <p:strVal val="visible"/>
                                      </p:to>
                                    </p:set>
                                    <p:animEffect transition="in" filter="wipe(left)">
                                      <p:cBhvr>
                                        <p:cTn id="63" dur="1000"/>
                                        <p:tgtEl>
                                          <p:spTgt spid="179"/>
                                        </p:tgtEl>
                                      </p:cBhvr>
                                    </p:animEffect>
                                  </p:childTnLst>
                                </p:cTn>
                              </p:par>
                            </p:childTnLst>
                          </p:cTn>
                        </p:par>
                        <p:par>
                          <p:cTn id="64" fill="hold">
                            <p:stCondLst>
                              <p:cond delay="1500"/>
                            </p:stCondLst>
                            <p:childTnLst>
                              <p:par>
                                <p:cTn id="65" presetID="9" presetClass="entr" presetSubtype="0" fill="hold" grpId="0" nodeType="afterEffect">
                                  <p:stCondLst>
                                    <p:cond delay="0"/>
                                  </p:stCondLst>
                                  <p:childTnLst>
                                    <p:set>
                                      <p:cBhvr>
                                        <p:cTn id="66" dur="1" fill="hold">
                                          <p:stCondLst>
                                            <p:cond delay="0"/>
                                          </p:stCondLst>
                                        </p:cTn>
                                        <p:tgtEl>
                                          <p:spTgt spid="180"/>
                                        </p:tgtEl>
                                        <p:attrNameLst>
                                          <p:attrName>style.visibility</p:attrName>
                                        </p:attrNameLst>
                                      </p:cBhvr>
                                      <p:to>
                                        <p:strVal val="visible"/>
                                      </p:to>
                                    </p:set>
                                    <p:animEffect transition="in" filter="dissolve">
                                      <p:cBhvr>
                                        <p:cTn id="67"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uiExpand="1" build="p"/>
      <p:bldP spid="170" grpId="0"/>
      <p:bldP spid="176" grpId="0" animBg="1"/>
      <p:bldP spid="179" grpId="0" animBg="1"/>
      <p:bldP spid="18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52</a:t>
            </a:fld>
            <a:endParaRPr lang="zh-CN" altLang="en-US" dirty="0">
              <a:solidFill>
                <a:srgbClr val="C00000"/>
              </a:solidFill>
            </a:endParaRPr>
          </a:p>
        </p:txBody>
      </p:sp>
      <p:sp>
        <p:nvSpPr>
          <p:cNvPr id="53"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无黏性土库伦土压力解析法</a:t>
            </a:r>
          </a:p>
        </p:txBody>
      </p:sp>
      <p:sp>
        <p:nvSpPr>
          <p:cNvPr id="105" name="Rectangle 3"/>
          <p:cNvSpPr txBox="1">
            <a:spLocks noChangeArrowheads="1"/>
          </p:cNvSpPr>
          <p:nvPr/>
        </p:nvSpPr>
        <p:spPr bwMode="auto">
          <a:xfrm>
            <a:off x="432532" y="571408"/>
            <a:ext cx="1952859"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C00000"/>
                </a:solidFill>
                <a:latin typeface="黑体" panose="02010609060101010101" pitchFamily="49" charset="-122"/>
                <a:ea typeface="黑体" panose="02010609060101010101" pitchFamily="49" charset="-122"/>
              </a:rPr>
              <a:t>计算结果：</a:t>
            </a:r>
            <a:endParaRPr lang="zh-CN" altLang="en-US" sz="2000" b="1" i="1" kern="0" dirty="0">
              <a:solidFill>
                <a:srgbClr val="000066"/>
              </a:solidFill>
              <a:latin typeface="黑体" panose="02010609060101010101" pitchFamily="49" charset="-122"/>
              <a:ea typeface="黑体" panose="02010609060101010101" pitchFamily="49" charset="-122"/>
              <a:sym typeface="Symbol" panose="05050102010706020507" pitchFamily="18" charset="2"/>
            </a:endParaRPr>
          </a:p>
        </p:txBody>
      </p:sp>
      <p:sp>
        <p:nvSpPr>
          <p:cNvPr id="179" name="AutoShape 5"/>
          <p:cNvSpPr>
            <a:spLocks noChangeArrowheads="1"/>
          </p:cNvSpPr>
          <p:nvPr/>
        </p:nvSpPr>
        <p:spPr bwMode="auto">
          <a:xfrm>
            <a:off x="1281851" y="5009720"/>
            <a:ext cx="369071" cy="32020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pSp>
        <p:nvGrpSpPr>
          <p:cNvPr id="3" name="组合 2"/>
          <p:cNvGrpSpPr/>
          <p:nvPr/>
        </p:nvGrpSpPr>
        <p:grpSpPr>
          <a:xfrm>
            <a:off x="7069157" y="1022091"/>
            <a:ext cx="2088232" cy="2307048"/>
            <a:chOff x="7069157" y="1022091"/>
            <a:chExt cx="2088232" cy="2307048"/>
          </a:xfrm>
        </p:grpSpPr>
        <p:sp>
          <p:nvSpPr>
            <p:cNvPr id="76" name="任意多边形 75"/>
            <p:cNvSpPr/>
            <p:nvPr/>
          </p:nvSpPr>
          <p:spPr bwMode="auto">
            <a:xfrm>
              <a:off x="7624316" y="1055804"/>
              <a:ext cx="855260" cy="180150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7" name="直接连接符 76"/>
            <p:cNvCxnSpPr/>
            <p:nvPr/>
          </p:nvCxnSpPr>
          <p:spPr bwMode="auto">
            <a:xfrm>
              <a:off x="7069157" y="2848040"/>
              <a:ext cx="177795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Text Box 827"/>
            <p:cNvSpPr txBox="1">
              <a:spLocks noChangeArrowheads="1"/>
            </p:cNvSpPr>
            <p:nvPr/>
          </p:nvSpPr>
          <p:spPr bwMode="auto">
            <a:xfrm flipH="1">
              <a:off x="8278444" y="1398465"/>
              <a:ext cx="594154"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79" name="Line 89"/>
            <p:cNvSpPr>
              <a:spLocks noChangeAspect="1" noChangeShapeType="1"/>
            </p:cNvSpPr>
            <p:nvPr/>
          </p:nvSpPr>
          <p:spPr bwMode="auto">
            <a:xfrm rot="5400000">
              <a:off x="6323918" y="1936402"/>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0" name="直接连接符 79"/>
            <p:cNvCxnSpPr/>
            <p:nvPr/>
          </p:nvCxnSpPr>
          <p:spPr bwMode="auto">
            <a:xfrm flipH="1">
              <a:off x="7651840" y="2248676"/>
              <a:ext cx="1088470" cy="0"/>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Line 89"/>
            <p:cNvSpPr>
              <a:spLocks noChangeAspect="1" noChangeShapeType="1"/>
            </p:cNvSpPr>
            <p:nvPr/>
          </p:nvSpPr>
          <p:spPr bwMode="auto">
            <a:xfrm rot="5400000">
              <a:off x="8356058" y="2550657"/>
              <a:ext cx="58341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83" name="直接箭头连接符 82"/>
            <p:cNvCxnSpPr/>
            <p:nvPr/>
          </p:nvCxnSpPr>
          <p:spPr bwMode="auto">
            <a:xfrm flipH="1">
              <a:off x="7612261" y="2846912"/>
              <a:ext cx="865444"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flipH="1">
              <a:off x="7612261" y="2624054"/>
              <a:ext cx="763621"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84"/>
            <p:cNvCxnSpPr/>
            <p:nvPr/>
          </p:nvCxnSpPr>
          <p:spPr bwMode="auto">
            <a:xfrm flipH="1">
              <a:off x="7612261" y="2409392"/>
              <a:ext cx="656597"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箭头连接符 85"/>
            <p:cNvCxnSpPr/>
            <p:nvPr/>
          </p:nvCxnSpPr>
          <p:spPr bwMode="auto">
            <a:xfrm flipH="1">
              <a:off x="7612261" y="2194731"/>
              <a:ext cx="561145"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86"/>
            <p:cNvCxnSpPr/>
            <p:nvPr/>
          </p:nvCxnSpPr>
          <p:spPr bwMode="auto">
            <a:xfrm flipH="1">
              <a:off x="7612261" y="1973326"/>
              <a:ext cx="454121"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p:cNvCxnSpPr/>
            <p:nvPr/>
          </p:nvCxnSpPr>
          <p:spPr bwMode="auto">
            <a:xfrm flipH="1">
              <a:off x="7612262" y="1758664"/>
              <a:ext cx="352883"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p:nvPr/>
          </p:nvCxnSpPr>
          <p:spPr bwMode="auto">
            <a:xfrm flipH="1">
              <a:off x="7612261" y="1537259"/>
              <a:ext cx="254538"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箭头连接符 89"/>
            <p:cNvCxnSpPr/>
            <p:nvPr/>
          </p:nvCxnSpPr>
          <p:spPr bwMode="auto">
            <a:xfrm flipH="1">
              <a:off x="7612262" y="1322597"/>
              <a:ext cx="150407"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p:nvPr/>
          </p:nvCxnSpPr>
          <p:spPr bwMode="auto">
            <a:xfrm>
              <a:off x="7622416" y="1037997"/>
              <a:ext cx="857048" cy="181805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Line 89"/>
            <p:cNvSpPr>
              <a:spLocks noChangeAspect="1" noChangeShapeType="1"/>
            </p:cNvSpPr>
            <p:nvPr/>
          </p:nvSpPr>
          <p:spPr bwMode="auto">
            <a:xfrm flipH="1">
              <a:off x="7594983" y="2996558"/>
              <a:ext cx="8738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95" name="直接连接符 94"/>
            <p:cNvCxnSpPr/>
            <p:nvPr/>
          </p:nvCxnSpPr>
          <p:spPr bwMode="auto">
            <a:xfrm flipH="1">
              <a:off x="8463997" y="2907244"/>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flipH="1">
              <a:off x="7603113" y="2897220"/>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57"/>
            <p:cNvSpPr txBox="1">
              <a:spLocks noChangeArrowheads="1"/>
            </p:cNvSpPr>
            <p:nvPr/>
          </p:nvSpPr>
          <p:spPr bwMode="auto">
            <a:xfrm>
              <a:off x="7687300" y="2944610"/>
              <a:ext cx="817507"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a:solidFill>
                    <a:srgbClr val="000066"/>
                  </a:solidFill>
                  <a:sym typeface="Symbol" pitchFamily="18" charset="2"/>
                </a:rPr>
                <a:t> H </a:t>
              </a:r>
              <a:r>
                <a:rPr lang="en-US" altLang="zh-CN" sz="1800" b="1" i="1" dirty="0" err="1">
                  <a:solidFill>
                    <a:srgbClr val="000066"/>
                  </a:solidFill>
                  <a:sym typeface="Symbol" pitchFamily="18" charset="2"/>
                </a:rPr>
                <a:t>K</a:t>
              </a:r>
              <a:r>
                <a:rPr lang="en-US" altLang="zh-CN" sz="1800" b="1" baseline="-25000" dirty="0" err="1">
                  <a:solidFill>
                    <a:srgbClr val="000066"/>
                  </a:solidFill>
                  <a:sym typeface="Symbol" pitchFamily="18" charset="2"/>
                </a:rPr>
                <a:t>a</a:t>
              </a:r>
              <a:endParaRPr lang="en-US" altLang="zh-CN" sz="1800" b="1" baseline="-25000" dirty="0">
                <a:solidFill>
                  <a:srgbClr val="000066"/>
                </a:solidFill>
                <a:sym typeface="Symbol" pitchFamily="18" charset="2"/>
              </a:endParaRPr>
            </a:p>
          </p:txBody>
        </p:sp>
        <p:cxnSp>
          <p:nvCxnSpPr>
            <p:cNvPr id="119" name="直接连接符 118"/>
            <p:cNvCxnSpPr/>
            <p:nvPr/>
          </p:nvCxnSpPr>
          <p:spPr bwMode="auto">
            <a:xfrm flipH="1">
              <a:off x="7084966" y="1026374"/>
              <a:ext cx="35883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57"/>
            <p:cNvSpPr txBox="1">
              <a:spLocks noChangeArrowheads="1"/>
            </p:cNvSpPr>
            <p:nvPr/>
          </p:nvSpPr>
          <p:spPr bwMode="auto">
            <a:xfrm>
              <a:off x="7175086" y="1837436"/>
              <a:ext cx="3311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sp>
          <p:nvSpPr>
            <p:cNvPr id="123" name="Text Box 57"/>
            <p:cNvSpPr txBox="1">
              <a:spLocks noChangeArrowheads="1"/>
            </p:cNvSpPr>
            <p:nvPr/>
          </p:nvSpPr>
          <p:spPr bwMode="auto">
            <a:xfrm>
              <a:off x="8592324" y="2352217"/>
              <a:ext cx="565065"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r>
                <a:rPr lang="en-US" altLang="zh-CN" sz="1800" b="1" dirty="0" smtClean="0">
                  <a:solidFill>
                    <a:srgbClr val="000066"/>
                  </a:solidFill>
                  <a:sym typeface="Symbol" pitchFamily="18" charset="2"/>
                </a:rPr>
                <a:t>/3</a:t>
              </a:r>
              <a:endParaRPr lang="en-US" altLang="zh-CN" sz="1800" b="1" baseline="-25000" dirty="0">
                <a:solidFill>
                  <a:srgbClr val="000066"/>
                </a:solidFill>
                <a:sym typeface="Symbol" pitchFamily="18" charset="2"/>
              </a:endParaRPr>
            </a:p>
          </p:txBody>
        </p:sp>
        <p:cxnSp>
          <p:nvCxnSpPr>
            <p:cNvPr id="125" name="直接连接符 124"/>
            <p:cNvCxnSpPr/>
            <p:nvPr/>
          </p:nvCxnSpPr>
          <p:spPr bwMode="auto">
            <a:xfrm flipV="1">
              <a:off x="7624316" y="1048980"/>
              <a:ext cx="0" cy="18054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箭头连接符 125"/>
            <p:cNvCxnSpPr/>
            <p:nvPr/>
          </p:nvCxnSpPr>
          <p:spPr bwMode="auto">
            <a:xfrm flipV="1">
              <a:off x="7621999" y="1659870"/>
              <a:ext cx="663020" cy="587141"/>
            </a:xfrm>
            <a:prstGeom prst="straightConnector1">
              <a:avLst/>
            </a:prstGeom>
            <a:noFill/>
            <a:ln w="5715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12" name="对象 11"/>
          <p:cNvGraphicFramePr>
            <a:graphicFrameLocks noChangeAspect="1"/>
          </p:cNvGraphicFramePr>
          <p:nvPr>
            <p:extLst>
              <p:ext uri="{D42A27DB-BD31-4B8C-83A1-F6EECF244321}">
                <p14:modId xmlns:p14="http://schemas.microsoft.com/office/powerpoint/2010/main" val="1084443918"/>
              </p:ext>
            </p:extLst>
          </p:nvPr>
        </p:nvGraphicFramePr>
        <p:xfrm>
          <a:off x="936625" y="1497013"/>
          <a:ext cx="1689100" cy="760412"/>
        </p:xfrm>
        <a:graphic>
          <a:graphicData uri="http://schemas.openxmlformats.org/presentationml/2006/ole">
            <mc:AlternateContent xmlns:mc="http://schemas.openxmlformats.org/markup-compatibility/2006">
              <mc:Choice xmlns:v="urn:schemas-microsoft-com:vml" Requires="v">
                <p:oleObj spid="_x0000_s1687259" name="Equation" r:id="rId4" imgW="863280" imgH="368280" progId="Equation.DSMT4">
                  <p:embed/>
                </p:oleObj>
              </mc:Choice>
              <mc:Fallback>
                <p:oleObj name="Equation" r:id="rId4" imgW="863280" imgH="368280" progId="Equation.DSMT4">
                  <p:embed/>
                  <p:pic>
                    <p:nvPicPr>
                      <p:cNvPr id="0" name="Object 54"/>
                      <p:cNvPicPr>
                        <a:picLocks noChangeAspect="1" noChangeArrowheads="1"/>
                      </p:cNvPicPr>
                      <p:nvPr/>
                    </p:nvPicPr>
                    <p:blipFill>
                      <a:blip r:embed="rId5"/>
                      <a:srcRect/>
                      <a:stretch>
                        <a:fillRect/>
                      </a:stretch>
                    </p:blipFill>
                    <p:spPr bwMode="auto">
                      <a:xfrm>
                        <a:off x="936625" y="1497013"/>
                        <a:ext cx="1689100" cy="760412"/>
                      </a:xfrm>
                      <a:prstGeom prst="rect">
                        <a:avLst/>
                      </a:prstGeom>
                      <a:noFill/>
                      <a:ln>
                        <a:noFill/>
                      </a:ln>
                      <a:effec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447191055"/>
              </p:ext>
            </p:extLst>
          </p:nvPr>
        </p:nvGraphicFramePr>
        <p:xfrm>
          <a:off x="1338263" y="2984500"/>
          <a:ext cx="5518150" cy="1279525"/>
        </p:xfrm>
        <a:graphic>
          <a:graphicData uri="http://schemas.openxmlformats.org/presentationml/2006/ole">
            <mc:AlternateContent xmlns:mc="http://schemas.openxmlformats.org/markup-compatibility/2006">
              <mc:Choice xmlns:v="urn:schemas-microsoft-com:vml" Requires="v">
                <p:oleObj spid="_x0000_s1687260" name="Equation" r:id="rId6" imgW="3009600" imgH="698400" progId="Equation.DSMT4">
                  <p:embed/>
                </p:oleObj>
              </mc:Choice>
              <mc:Fallback>
                <p:oleObj name="Equation" r:id="rId6" imgW="3009600" imgH="698400" progId="Equation.DSMT4">
                  <p:embed/>
                  <p:pic>
                    <p:nvPicPr>
                      <p:cNvPr id="0" name="Object 78"/>
                      <p:cNvPicPr>
                        <a:picLocks noChangeAspect="1" noChangeArrowheads="1"/>
                      </p:cNvPicPr>
                      <p:nvPr/>
                    </p:nvPicPr>
                    <p:blipFill>
                      <a:blip r:embed="rId7"/>
                      <a:srcRect/>
                      <a:stretch>
                        <a:fillRect/>
                      </a:stretch>
                    </p:blipFill>
                    <p:spPr bwMode="auto">
                      <a:xfrm>
                        <a:off x="1338263" y="2984500"/>
                        <a:ext cx="5518150" cy="12795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 name="Text Box 38"/>
          <p:cNvSpPr txBox="1">
            <a:spLocks noChangeArrowheads="1"/>
          </p:cNvSpPr>
          <p:nvPr/>
        </p:nvSpPr>
        <p:spPr bwMode="auto">
          <a:xfrm>
            <a:off x="787397" y="2445764"/>
            <a:ext cx="3306137" cy="3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zh-CN" altLang="en-US" sz="2200" b="1" dirty="0" smtClean="0">
                <a:solidFill>
                  <a:srgbClr val="A50021"/>
                </a:solidFill>
                <a:latin typeface="黑体" panose="02010609060101010101" pitchFamily="49" charset="-122"/>
                <a:ea typeface="黑体" panose="02010609060101010101" pitchFamily="49" charset="-122"/>
              </a:rPr>
              <a:t>库仑主动土压力系数</a:t>
            </a:r>
            <a:r>
              <a:rPr lang="en-US" altLang="zh-CN" sz="2200" b="1" i="1" dirty="0" err="1" smtClean="0">
                <a:solidFill>
                  <a:srgbClr val="A50021"/>
                </a:solidFill>
              </a:rPr>
              <a:t>K</a:t>
            </a:r>
            <a:r>
              <a:rPr lang="en-US" altLang="zh-CN" sz="2200" b="1" i="1" baseline="-25000" dirty="0" err="1" smtClean="0">
                <a:solidFill>
                  <a:srgbClr val="A50021"/>
                </a:solidFill>
              </a:rPr>
              <a:t>a</a:t>
            </a:r>
            <a:endParaRPr lang="zh-CN" altLang="en-US" sz="2200" b="1" dirty="0">
              <a:solidFill>
                <a:srgbClr val="A5002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28" name="Text Box 111"/>
          <p:cNvSpPr txBox="1">
            <a:spLocks noChangeArrowheads="1"/>
          </p:cNvSpPr>
          <p:nvPr/>
        </p:nvSpPr>
        <p:spPr bwMode="auto">
          <a:xfrm>
            <a:off x="1967022" y="4899833"/>
            <a:ext cx="6294475" cy="73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r>
              <a:rPr lang="zh-CN" altLang="en-US" sz="2400" b="1" dirty="0">
                <a:solidFill>
                  <a:srgbClr val="993300"/>
                </a:solidFill>
                <a:latin typeface="幼圆" panose="02010509060101010101" pitchFamily="49" charset="-122"/>
                <a:ea typeface="幼圆" panose="02010509060101010101" pitchFamily="49" charset="-122"/>
              </a:rPr>
              <a:t>特例：</a:t>
            </a:r>
            <a:r>
              <a:rPr kumimoji="1" lang="zh-CN" altLang="en-US"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=0</a:t>
            </a:r>
            <a:r>
              <a:rPr kumimoji="1" lang="zh-CN" altLang="en-US"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，即墙背垂直光滑，填土表面水平时，与朗肯理论等价 </a:t>
            </a:r>
          </a:p>
        </p:txBody>
      </p:sp>
      <p:sp>
        <p:nvSpPr>
          <p:cNvPr id="130" name="Text Box 38"/>
          <p:cNvSpPr txBox="1">
            <a:spLocks noChangeArrowheads="1"/>
          </p:cNvSpPr>
          <p:nvPr/>
        </p:nvSpPr>
        <p:spPr bwMode="auto">
          <a:xfrm>
            <a:off x="837303" y="4336042"/>
            <a:ext cx="3872920" cy="35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zh-CN" altLang="en-US" sz="2200" b="1" dirty="0">
                <a:solidFill>
                  <a:srgbClr val="000066"/>
                </a:solidFill>
                <a:latin typeface="幼圆" panose="02010509060101010101" pitchFamily="49" charset="-122"/>
                <a:ea typeface="幼圆" panose="02010509060101010101" pitchFamily="49" charset="-122"/>
              </a:rPr>
              <a:t>土压力分布：</a:t>
            </a:r>
            <a:r>
              <a:rPr lang="zh-CN" altLang="en-US" sz="2200" b="1" dirty="0">
                <a:solidFill>
                  <a:srgbClr val="A50021"/>
                </a:solidFill>
                <a:latin typeface="幼圆" panose="02010509060101010101" pitchFamily="49" charset="-122"/>
                <a:ea typeface="幼圆" panose="02010509060101010101" pitchFamily="49" charset="-122"/>
              </a:rPr>
              <a:t>三角形分布</a:t>
            </a:r>
          </a:p>
        </p:txBody>
      </p:sp>
      <p:sp>
        <p:nvSpPr>
          <p:cNvPr id="133" name="Text Box 2"/>
          <p:cNvSpPr txBox="1">
            <a:spLocks noChangeArrowheads="1"/>
          </p:cNvSpPr>
          <p:nvPr/>
        </p:nvSpPr>
        <p:spPr bwMode="auto">
          <a:xfrm>
            <a:off x="2461229" y="5741435"/>
            <a:ext cx="54741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库伦主动土压力求解</a:t>
            </a:r>
            <a:endParaRPr kumimoji="1" lang="zh-CN" altLang="en-US" sz="4000" b="1" dirty="0">
              <a:solidFill>
                <a:srgbClr val="000066"/>
              </a:solidFill>
              <a:latin typeface="黑体" pitchFamily="2" charset="-122"/>
              <a:ea typeface="黑体" pitchFamily="2" charset="-122"/>
            </a:endParaRPr>
          </a:p>
        </p:txBody>
      </p:sp>
      <p:grpSp>
        <p:nvGrpSpPr>
          <p:cNvPr id="2" name="组合 1"/>
          <p:cNvGrpSpPr/>
          <p:nvPr/>
        </p:nvGrpSpPr>
        <p:grpSpPr>
          <a:xfrm>
            <a:off x="5322554" y="1055881"/>
            <a:ext cx="1578411" cy="1804966"/>
            <a:chOff x="5322554" y="1055881"/>
            <a:chExt cx="1578411" cy="1804966"/>
          </a:xfrm>
        </p:grpSpPr>
        <p:sp>
          <p:nvSpPr>
            <p:cNvPr id="135" name="任意多边形 134"/>
            <p:cNvSpPr/>
            <p:nvPr/>
          </p:nvSpPr>
          <p:spPr bwMode="auto">
            <a:xfrm>
              <a:off x="5322554" y="1056241"/>
              <a:ext cx="870706" cy="1804606"/>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6" name="Line 60"/>
            <p:cNvSpPr>
              <a:spLocks noChangeShapeType="1"/>
            </p:cNvSpPr>
            <p:nvPr/>
          </p:nvSpPr>
          <p:spPr bwMode="auto">
            <a:xfrm>
              <a:off x="5838488" y="1055881"/>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Rectangle 61"/>
            <p:cNvSpPr>
              <a:spLocks noChangeArrowheads="1"/>
            </p:cNvSpPr>
            <p:nvPr/>
          </p:nvSpPr>
          <p:spPr bwMode="auto">
            <a:xfrm>
              <a:off x="5661490" y="1372320"/>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99" name="Rectangle 74"/>
            <p:cNvSpPr>
              <a:spLocks noChangeArrowheads="1"/>
            </p:cNvSpPr>
            <p:nvPr/>
          </p:nvSpPr>
          <p:spPr bwMode="auto">
            <a:xfrm>
              <a:off x="5462360" y="2035984"/>
              <a:ext cx="31130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cxnSp>
          <p:nvCxnSpPr>
            <p:cNvPr id="102" name="直接连接符 101"/>
            <p:cNvCxnSpPr/>
            <p:nvPr/>
          </p:nvCxnSpPr>
          <p:spPr bwMode="auto">
            <a:xfrm flipH="1">
              <a:off x="5618353" y="2026592"/>
              <a:ext cx="412992" cy="9047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任意多边形 105"/>
            <p:cNvSpPr/>
            <p:nvPr/>
          </p:nvSpPr>
          <p:spPr bwMode="auto">
            <a:xfrm rot="4552046">
              <a:off x="5936835" y="1952557"/>
              <a:ext cx="91222" cy="9122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7" name="任意多边形 106"/>
            <p:cNvSpPr/>
            <p:nvPr/>
          </p:nvSpPr>
          <p:spPr bwMode="auto">
            <a:xfrm>
              <a:off x="5752026" y="2095019"/>
              <a:ext cx="74805" cy="11451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9" name="任意多边形 108"/>
            <p:cNvSpPr/>
            <p:nvPr/>
          </p:nvSpPr>
          <p:spPr bwMode="auto">
            <a:xfrm rot="18139897">
              <a:off x="5857625" y="1481733"/>
              <a:ext cx="57925" cy="8867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4" name="直接箭头连接符 103"/>
            <p:cNvCxnSpPr/>
            <p:nvPr/>
          </p:nvCxnSpPr>
          <p:spPr bwMode="auto">
            <a:xfrm flipV="1">
              <a:off x="5649552" y="2027010"/>
              <a:ext cx="392002" cy="346620"/>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p:nvPr/>
          </p:nvCxnSpPr>
          <p:spPr bwMode="auto">
            <a:xfrm>
              <a:off x="5417733" y="2020646"/>
              <a:ext cx="100332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flipV="1">
              <a:off x="6036647" y="1609178"/>
              <a:ext cx="470493" cy="416647"/>
            </a:xfrm>
            <a:prstGeom prst="straightConnector1">
              <a:avLst/>
            </a:prstGeom>
            <a:noFill/>
            <a:ln w="5715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任意多边形 70"/>
            <p:cNvSpPr/>
            <p:nvPr/>
          </p:nvSpPr>
          <p:spPr bwMode="auto">
            <a:xfrm rot="1319845">
              <a:off x="5639657" y="2025846"/>
              <a:ext cx="52024" cy="7964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2" name="Rectangle 61"/>
            <p:cNvSpPr>
              <a:spLocks noChangeArrowheads="1"/>
            </p:cNvSpPr>
            <p:nvPr/>
          </p:nvSpPr>
          <p:spPr bwMode="auto">
            <a:xfrm>
              <a:off x="5332727" y="1847246"/>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73" name="任意多边形 72"/>
            <p:cNvSpPr/>
            <p:nvPr/>
          </p:nvSpPr>
          <p:spPr bwMode="auto">
            <a:xfrm rot="11066639">
              <a:off x="6201142" y="1900319"/>
              <a:ext cx="74805" cy="11451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4" name="Rectangle 61"/>
            <p:cNvSpPr>
              <a:spLocks noChangeArrowheads="1"/>
            </p:cNvSpPr>
            <p:nvPr/>
          </p:nvSpPr>
          <p:spPr bwMode="auto">
            <a:xfrm>
              <a:off x="6250846" y="1663905"/>
              <a:ext cx="65011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smtClean="0">
                  <a:solidFill>
                    <a:srgbClr val="993300"/>
                  </a:solidFill>
                  <a:latin typeface="Times New Roman" panose="02020603050405020304" pitchFamily="18" charset="0"/>
                  <a:ea typeface="仿宋_GB2312" pitchFamily="49" charset="-122"/>
                  <a:sym typeface="Symbol" panose="05050102010706020507" pitchFamily="18" charset="2"/>
                </a:rPr>
                <a:t>+</a:t>
              </a:r>
              <a:r>
                <a:rPr kumimoji="1" lang="en-US" altLang="zh-CN" sz="2000" b="1" dirty="0" smtClean="0">
                  <a:solidFill>
                    <a:srgbClr val="993300"/>
                  </a:solidFill>
                  <a:latin typeface="Times New Roman" panose="02020603050405020304" pitchFamily="18" charset="0"/>
                  <a:sym typeface="Symbol" panose="05050102010706020507" pitchFamily="18" charset="2"/>
                </a:rPr>
                <a:t></a:t>
              </a:r>
              <a:endParaRPr kumimoji="1" lang="en-US" altLang="zh-CN" sz="2000" b="1" dirty="0">
                <a:solidFill>
                  <a:srgbClr val="993300"/>
                </a:solidFill>
                <a:latin typeface="Times New Roman" panose="02020603050405020304" pitchFamily="18" charset="0"/>
                <a:sym typeface="Symbol" panose="05050102010706020507" pitchFamily="18" charset="2"/>
              </a:endParaRPr>
            </a:p>
          </p:txBody>
        </p:sp>
        <p:sp>
          <p:nvSpPr>
            <p:cNvPr id="51" name="Text Box 827"/>
            <p:cNvSpPr txBox="1">
              <a:spLocks noChangeArrowheads="1"/>
            </p:cNvSpPr>
            <p:nvPr/>
          </p:nvSpPr>
          <p:spPr bwMode="auto">
            <a:xfrm flipH="1">
              <a:off x="6265494" y="1093665"/>
              <a:ext cx="594154"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08860972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127"/>
                                        </p:tgtEl>
                                        <p:attrNameLst>
                                          <p:attrName>style.visibility</p:attrName>
                                        </p:attrNameLst>
                                      </p:cBhvr>
                                      <p:to>
                                        <p:strVal val="visible"/>
                                      </p:to>
                                    </p:set>
                                    <p:anim calcmode="lin" valueType="num">
                                      <p:cBhvr>
                                        <p:cTn id="16" dur="1000" fill="hold"/>
                                        <p:tgtEl>
                                          <p:spTgt spid="127"/>
                                        </p:tgtEl>
                                        <p:attrNameLst>
                                          <p:attrName>ppt_w</p:attrName>
                                        </p:attrNameLst>
                                      </p:cBhvr>
                                      <p:tavLst>
                                        <p:tav tm="0">
                                          <p:val>
                                            <p:fltVal val="0"/>
                                          </p:val>
                                        </p:tav>
                                        <p:tav tm="100000">
                                          <p:val>
                                            <p:strVal val="#ppt_w"/>
                                          </p:val>
                                        </p:tav>
                                      </p:tavLst>
                                    </p:anim>
                                    <p:anim calcmode="lin" valueType="num">
                                      <p:cBhvr>
                                        <p:cTn id="17" dur="1000" fill="hold"/>
                                        <p:tgtEl>
                                          <p:spTgt spid="127"/>
                                        </p:tgtEl>
                                        <p:attrNameLst>
                                          <p:attrName>ppt_h</p:attrName>
                                        </p:attrNameLst>
                                      </p:cBhvr>
                                      <p:tavLst>
                                        <p:tav tm="0">
                                          <p:val>
                                            <p:fltVal val="0"/>
                                          </p:val>
                                        </p:tav>
                                        <p:tav tm="100000">
                                          <p:val>
                                            <p:strVal val="#ppt_h"/>
                                          </p:val>
                                        </p:tav>
                                      </p:tavLst>
                                    </p:anim>
                                    <p:anim calcmode="lin" valueType="num">
                                      <p:cBhvr>
                                        <p:cTn id="18" dur="1000" fill="hold"/>
                                        <p:tgtEl>
                                          <p:spTgt spid="127"/>
                                        </p:tgtEl>
                                        <p:attrNameLst>
                                          <p:attrName>style.rotation</p:attrName>
                                        </p:attrNameLst>
                                      </p:cBhvr>
                                      <p:tavLst>
                                        <p:tav tm="0">
                                          <p:val>
                                            <p:fltVal val="90"/>
                                          </p:val>
                                        </p:tav>
                                        <p:tav tm="100000">
                                          <p:val>
                                            <p:fltVal val="0"/>
                                          </p:val>
                                        </p:tav>
                                      </p:tavLst>
                                    </p:anim>
                                    <p:animEffect transition="in" filter="fade">
                                      <p:cBhvr>
                                        <p:cTn id="19" dur="1000"/>
                                        <p:tgtEl>
                                          <p:spTgt spid="127"/>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wipe(left)">
                                      <p:cBhvr>
                                        <p:cTn id="28" dur="500"/>
                                        <p:tgtEl>
                                          <p:spTgt spid="130"/>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9"/>
                                        </p:tgtEl>
                                        <p:attrNameLst>
                                          <p:attrName>style.visibility</p:attrName>
                                        </p:attrNameLst>
                                      </p:cBhvr>
                                      <p:to>
                                        <p:strVal val="visible"/>
                                      </p:to>
                                    </p:set>
                                    <p:animEffect transition="in" filter="wipe(left)">
                                      <p:cBhvr>
                                        <p:cTn id="37" dur="1000"/>
                                        <p:tgtEl>
                                          <p:spTgt spid="179"/>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28"/>
                                        </p:tgtEl>
                                        <p:attrNameLst>
                                          <p:attrName>style.visibility</p:attrName>
                                        </p:attrNameLst>
                                      </p:cBhvr>
                                      <p:to>
                                        <p:strVal val="visible"/>
                                      </p:to>
                                    </p:set>
                                    <p:animEffect transition="in" filter="wipe(left)">
                                      <p:cBhvr>
                                        <p:cTn id="41"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animBg="1"/>
      <p:bldP spid="127" grpId="0"/>
      <p:bldP spid="128" grpId="0" autoUpdateAnimBg="0"/>
      <p:bldP spid="13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53</a:t>
            </a:fld>
            <a:endParaRPr lang="zh-CN" altLang="en-US" dirty="0">
              <a:solidFill>
                <a:srgbClr val="C00000"/>
              </a:solidFill>
            </a:endParaRPr>
          </a:p>
        </p:txBody>
      </p:sp>
      <p:sp>
        <p:nvSpPr>
          <p:cNvPr id="53"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a:t>
            </a:r>
            <a:r>
              <a:rPr lang="zh-CN" altLang="en-US" sz="1800" b="1" kern="900" spc="130" dirty="0">
                <a:solidFill>
                  <a:srgbClr val="000066"/>
                </a:solidFill>
                <a:ea typeface="黑体" panose="02010609060101010101" pitchFamily="49" charset="-122"/>
                <a:cs typeface="Times New Roman" panose="02020603050405020304" pitchFamily="18" charset="0"/>
              </a:rPr>
              <a:t>无黏性土库伦土压力解析法</a:t>
            </a:r>
          </a:p>
        </p:txBody>
      </p:sp>
      <p:sp>
        <p:nvSpPr>
          <p:cNvPr id="105" name="Rectangle 3"/>
          <p:cNvSpPr txBox="1">
            <a:spLocks noChangeArrowheads="1"/>
          </p:cNvSpPr>
          <p:nvPr/>
        </p:nvSpPr>
        <p:spPr bwMode="auto">
          <a:xfrm>
            <a:off x="432532" y="571408"/>
            <a:ext cx="315064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黑体" panose="02010609060101010101" pitchFamily="49" charset="-122"/>
                <a:ea typeface="黑体" panose="02010609060101010101" pitchFamily="49" charset="-122"/>
              </a:rPr>
              <a:t>库仑被动土压力</a:t>
            </a:r>
            <a:endParaRPr lang="zh-CN" altLang="en-US" sz="2400" b="1" i="1" kern="0" dirty="0">
              <a:solidFill>
                <a:srgbClr val="000066"/>
              </a:solidFill>
              <a:latin typeface="黑体" panose="02010609060101010101" pitchFamily="49" charset="-122"/>
              <a:ea typeface="黑体" panose="02010609060101010101" pitchFamily="49" charset="-122"/>
              <a:sym typeface="Symbol" panose="05050102010706020507" pitchFamily="18" charset="2"/>
            </a:endParaRPr>
          </a:p>
        </p:txBody>
      </p:sp>
      <p:sp>
        <p:nvSpPr>
          <p:cNvPr id="179" name="AutoShape 5"/>
          <p:cNvSpPr>
            <a:spLocks noChangeArrowheads="1"/>
          </p:cNvSpPr>
          <p:nvPr/>
        </p:nvSpPr>
        <p:spPr bwMode="auto">
          <a:xfrm>
            <a:off x="1281851" y="5009720"/>
            <a:ext cx="369071" cy="32020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277266666"/>
              </p:ext>
            </p:extLst>
          </p:nvPr>
        </p:nvGraphicFramePr>
        <p:xfrm>
          <a:off x="922338" y="1497013"/>
          <a:ext cx="1716087" cy="760412"/>
        </p:xfrm>
        <a:graphic>
          <a:graphicData uri="http://schemas.openxmlformats.org/presentationml/2006/ole">
            <mc:AlternateContent xmlns:mc="http://schemas.openxmlformats.org/markup-compatibility/2006">
              <mc:Choice xmlns:v="urn:schemas-microsoft-com:vml" Requires="v">
                <p:oleObj spid="_x0000_s1689296" name="Equation" r:id="rId4" imgW="876240" imgH="368280" progId="Equation.DSMT4">
                  <p:embed/>
                </p:oleObj>
              </mc:Choice>
              <mc:Fallback>
                <p:oleObj name="Equation" r:id="rId4" imgW="876240" imgH="368280" progId="Equation.DSMT4">
                  <p:embed/>
                  <p:pic>
                    <p:nvPicPr>
                      <p:cNvPr id="0" name=""/>
                      <p:cNvPicPr>
                        <a:picLocks noChangeAspect="1" noChangeArrowheads="1"/>
                      </p:cNvPicPr>
                      <p:nvPr/>
                    </p:nvPicPr>
                    <p:blipFill>
                      <a:blip r:embed="rId5"/>
                      <a:srcRect/>
                      <a:stretch>
                        <a:fillRect/>
                      </a:stretch>
                    </p:blipFill>
                    <p:spPr bwMode="auto">
                      <a:xfrm>
                        <a:off x="922338" y="1497013"/>
                        <a:ext cx="1716087" cy="760412"/>
                      </a:xfrm>
                      <a:prstGeom prst="rect">
                        <a:avLst/>
                      </a:prstGeom>
                      <a:noFill/>
                      <a:ln>
                        <a:noFill/>
                      </a:ln>
                      <a:effec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883749623"/>
              </p:ext>
            </p:extLst>
          </p:nvPr>
        </p:nvGraphicFramePr>
        <p:xfrm>
          <a:off x="1431925" y="3090863"/>
          <a:ext cx="5332413" cy="1279525"/>
        </p:xfrm>
        <a:graphic>
          <a:graphicData uri="http://schemas.openxmlformats.org/presentationml/2006/ole">
            <mc:AlternateContent xmlns:mc="http://schemas.openxmlformats.org/markup-compatibility/2006">
              <mc:Choice xmlns:v="urn:schemas-microsoft-com:vml" Requires="v">
                <p:oleObj spid="_x0000_s1689297" name="Equation" r:id="rId6" imgW="2908080" imgH="698400" progId="Equation.DSMT4">
                  <p:embed/>
                </p:oleObj>
              </mc:Choice>
              <mc:Fallback>
                <p:oleObj name="Equation" r:id="rId6" imgW="2908080" imgH="698400" progId="Equation.DSMT4">
                  <p:embed/>
                  <p:pic>
                    <p:nvPicPr>
                      <p:cNvPr id="0" name=""/>
                      <p:cNvPicPr>
                        <a:picLocks noChangeAspect="1" noChangeArrowheads="1"/>
                      </p:cNvPicPr>
                      <p:nvPr/>
                    </p:nvPicPr>
                    <p:blipFill>
                      <a:blip r:embed="rId7"/>
                      <a:srcRect/>
                      <a:stretch>
                        <a:fillRect/>
                      </a:stretch>
                    </p:blipFill>
                    <p:spPr bwMode="auto">
                      <a:xfrm>
                        <a:off x="1431925" y="3090863"/>
                        <a:ext cx="5332413" cy="12795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 name="Text Box 38"/>
          <p:cNvSpPr txBox="1">
            <a:spLocks noChangeArrowheads="1"/>
          </p:cNvSpPr>
          <p:nvPr/>
        </p:nvSpPr>
        <p:spPr bwMode="auto">
          <a:xfrm>
            <a:off x="787397" y="2498929"/>
            <a:ext cx="3306137" cy="36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zh-CN" altLang="en-US" sz="2200" b="1" dirty="0" smtClean="0">
                <a:solidFill>
                  <a:srgbClr val="A50021"/>
                </a:solidFill>
                <a:latin typeface="黑体" panose="02010609060101010101" pitchFamily="49" charset="-122"/>
                <a:ea typeface="黑体" panose="02010609060101010101" pitchFamily="49" charset="-122"/>
              </a:rPr>
              <a:t>库仑被动土压力系数</a:t>
            </a:r>
            <a:r>
              <a:rPr lang="en-US" altLang="zh-CN" sz="2200" b="1" i="1" dirty="0" err="1" smtClean="0">
                <a:solidFill>
                  <a:srgbClr val="A50021"/>
                </a:solidFill>
              </a:rPr>
              <a:t>K</a:t>
            </a:r>
            <a:r>
              <a:rPr lang="en-US" altLang="zh-CN" sz="2200" b="1" baseline="-25000" dirty="0" err="1" smtClean="0">
                <a:solidFill>
                  <a:srgbClr val="A50021"/>
                </a:solidFill>
              </a:rPr>
              <a:t>p</a:t>
            </a:r>
            <a:endParaRPr lang="zh-CN" altLang="en-US" sz="2200" b="1" dirty="0">
              <a:solidFill>
                <a:srgbClr val="A5002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28" name="Text Box 111"/>
          <p:cNvSpPr txBox="1">
            <a:spLocks noChangeArrowheads="1"/>
          </p:cNvSpPr>
          <p:nvPr/>
        </p:nvSpPr>
        <p:spPr bwMode="auto">
          <a:xfrm>
            <a:off x="1967022" y="4899833"/>
            <a:ext cx="6294475" cy="733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r>
              <a:rPr lang="zh-CN" altLang="en-US" sz="2400" b="1" dirty="0">
                <a:solidFill>
                  <a:srgbClr val="993300"/>
                </a:solidFill>
                <a:latin typeface="幼圆" panose="02010509060101010101" pitchFamily="49" charset="-122"/>
                <a:ea typeface="幼圆" panose="02010509060101010101" pitchFamily="49" charset="-122"/>
              </a:rPr>
              <a:t>特例：</a:t>
            </a:r>
            <a:r>
              <a:rPr kumimoji="1" lang="zh-CN" altLang="en-US"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i="1" dirty="0">
                <a:solidFill>
                  <a:srgbClr val="000066"/>
                </a:solidFill>
                <a:latin typeface="幼圆" panose="02010509060101010101" pitchFamily="49" charset="-122"/>
                <a:ea typeface="幼圆" panose="02010509060101010101" pitchFamily="49" charset="-122"/>
                <a:sym typeface="Symbol" panose="05050102010706020507" pitchFamily="18" charset="2"/>
              </a:rPr>
              <a:t></a:t>
            </a:r>
            <a:r>
              <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=0</a:t>
            </a:r>
            <a:r>
              <a:rPr kumimoji="1" lang="zh-CN" altLang="en-US"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，即墙背垂直光滑，填土表面水平时，与朗肯理论等价 </a:t>
            </a:r>
          </a:p>
        </p:txBody>
      </p:sp>
      <p:sp>
        <p:nvSpPr>
          <p:cNvPr id="130" name="Text Box 38"/>
          <p:cNvSpPr txBox="1">
            <a:spLocks noChangeArrowheads="1"/>
          </p:cNvSpPr>
          <p:nvPr/>
        </p:nvSpPr>
        <p:spPr bwMode="auto">
          <a:xfrm>
            <a:off x="837303" y="4399840"/>
            <a:ext cx="3872920" cy="35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20000"/>
              </a:lnSpc>
              <a:spcBef>
                <a:spcPct val="0"/>
              </a:spcBef>
              <a:spcAft>
                <a:spcPct val="25000"/>
              </a:spcAft>
              <a:buClr>
                <a:srgbClr val="C00000"/>
              </a:buClr>
              <a:buSzPct val="130000"/>
              <a:buFont typeface="Wingdings" panose="05000000000000000000" pitchFamily="2" charset="2"/>
              <a:buChar char="F"/>
            </a:pPr>
            <a:r>
              <a:rPr lang="zh-CN" altLang="en-US" sz="2200" b="1" dirty="0">
                <a:solidFill>
                  <a:srgbClr val="000066"/>
                </a:solidFill>
                <a:latin typeface="幼圆" panose="02010509060101010101" pitchFamily="49" charset="-122"/>
                <a:ea typeface="幼圆" panose="02010509060101010101" pitchFamily="49" charset="-122"/>
              </a:rPr>
              <a:t>土压力分布：</a:t>
            </a:r>
            <a:r>
              <a:rPr lang="zh-CN" altLang="en-US" sz="2200" b="1" dirty="0">
                <a:solidFill>
                  <a:srgbClr val="A50021"/>
                </a:solidFill>
                <a:latin typeface="幼圆" panose="02010509060101010101" pitchFamily="49" charset="-122"/>
                <a:ea typeface="幼圆" panose="02010509060101010101" pitchFamily="49" charset="-122"/>
              </a:rPr>
              <a:t>三角形分布</a:t>
            </a:r>
          </a:p>
        </p:txBody>
      </p:sp>
      <p:sp>
        <p:nvSpPr>
          <p:cNvPr id="63"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库伦被动土压力求解</a:t>
            </a:r>
            <a:endParaRPr kumimoji="1" lang="zh-CN" altLang="en-US" sz="4000" b="1" dirty="0">
              <a:solidFill>
                <a:srgbClr val="000066"/>
              </a:solidFill>
              <a:latin typeface="黑体" pitchFamily="2" charset="-122"/>
              <a:ea typeface="黑体" pitchFamily="2" charset="-122"/>
            </a:endParaRPr>
          </a:p>
        </p:txBody>
      </p:sp>
      <p:grpSp>
        <p:nvGrpSpPr>
          <p:cNvPr id="2" name="组合 1"/>
          <p:cNvGrpSpPr/>
          <p:nvPr/>
        </p:nvGrpSpPr>
        <p:grpSpPr>
          <a:xfrm>
            <a:off x="5274980" y="1055881"/>
            <a:ext cx="1991116" cy="1804966"/>
            <a:chOff x="5274980" y="1055881"/>
            <a:chExt cx="1991116" cy="1804966"/>
          </a:xfrm>
        </p:grpSpPr>
        <p:sp>
          <p:nvSpPr>
            <p:cNvPr id="131" name="任意多边形 130"/>
            <p:cNvSpPr/>
            <p:nvPr/>
          </p:nvSpPr>
          <p:spPr bwMode="auto">
            <a:xfrm>
              <a:off x="5274980" y="1056241"/>
              <a:ext cx="870706" cy="1804606"/>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Line 60"/>
            <p:cNvSpPr>
              <a:spLocks noChangeShapeType="1"/>
            </p:cNvSpPr>
            <p:nvPr/>
          </p:nvSpPr>
          <p:spPr bwMode="auto">
            <a:xfrm>
              <a:off x="5782831" y="1055881"/>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Rectangle 61"/>
            <p:cNvSpPr>
              <a:spLocks noChangeArrowheads="1"/>
            </p:cNvSpPr>
            <p:nvPr/>
          </p:nvSpPr>
          <p:spPr bwMode="auto">
            <a:xfrm>
              <a:off x="5605833" y="1413320"/>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69" name="Rectangle 74"/>
            <p:cNvSpPr>
              <a:spLocks noChangeArrowheads="1"/>
            </p:cNvSpPr>
            <p:nvPr/>
          </p:nvSpPr>
          <p:spPr bwMode="auto">
            <a:xfrm>
              <a:off x="5372127" y="1773204"/>
              <a:ext cx="31130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cxnSp>
          <p:nvCxnSpPr>
            <p:cNvPr id="70" name="直接连接符 69"/>
            <p:cNvCxnSpPr/>
            <p:nvPr/>
          </p:nvCxnSpPr>
          <p:spPr bwMode="auto">
            <a:xfrm flipH="1">
              <a:off x="5562696" y="1931014"/>
              <a:ext cx="836679" cy="18328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rot="20643840">
              <a:off x="5894191" y="2024930"/>
              <a:ext cx="91222" cy="9122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2" name="任意多边形 81"/>
            <p:cNvSpPr/>
            <p:nvPr/>
          </p:nvSpPr>
          <p:spPr bwMode="auto">
            <a:xfrm rot="2236878">
              <a:off x="5678006" y="1954130"/>
              <a:ext cx="74805" cy="11451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3" name="任意多边形 102"/>
            <p:cNvSpPr/>
            <p:nvPr/>
          </p:nvSpPr>
          <p:spPr bwMode="auto">
            <a:xfrm rot="18139897">
              <a:off x="5801968" y="1481733"/>
              <a:ext cx="57925" cy="8867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5" name="直接箭头连接符 114"/>
            <p:cNvCxnSpPr/>
            <p:nvPr/>
          </p:nvCxnSpPr>
          <p:spPr bwMode="auto">
            <a:xfrm>
              <a:off x="5554220" y="1898882"/>
              <a:ext cx="431677" cy="128128"/>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a:off x="5976103" y="2020646"/>
              <a:ext cx="70468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任意多边形 117"/>
            <p:cNvSpPr/>
            <p:nvPr/>
          </p:nvSpPr>
          <p:spPr bwMode="auto">
            <a:xfrm rot="11808990">
              <a:off x="6346810" y="1947403"/>
              <a:ext cx="45719" cy="69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1" name="Rectangle 61"/>
            <p:cNvSpPr>
              <a:spLocks noChangeArrowheads="1"/>
            </p:cNvSpPr>
            <p:nvPr/>
          </p:nvSpPr>
          <p:spPr bwMode="auto">
            <a:xfrm>
              <a:off x="6141522" y="1563129"/>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122" name="任意多边形 121"/>
            <p:cNvSpPr/>
            <p:nvPr/>
          </p:nvSpPr>
          <p:spPr bwMode="auto">
            <a:xfrm rot="13872714">
              <a:off x="6439421" y="2021778"/>
              <a:ext cx="102914" cy="15754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4" name="Rectangle 61"/>
            <p:cNvSpPr>
              <a:spLocks noChangeArrowheads="1"/>
            </p:cNvSpPr>
            <p:nvPr/>
          </p:nvSpPr>
          <p:spPr bwMode="auto">
            <a:xfrm>
              <a:off x="6615977" y="1898839"/>
              <a:ext cx="650119"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smtClean="0">
                  <a:solidFill>
                    <a:srgbClr val="993300"/>
                  </a:solidFill>
                  <a:latin typeface="Times New Roman" panose="02020603050405020304" pitchFamily="18" charset="0"/>
                  <a:sym typeface="Symbol" panose="05050102010706020507" pitchFamily="18" charset="2"/>
                </a:rPr>
                <a:t>-</a:t>
              </a:r>
              <a:r>
                <a:rPr kumimoji="1" lang="en-US" altLang="zh-CN" sz="2000" b="1" dirty="0" smtClean="0">
                  <a:solidFill>
                    <a:srgbClr val="993300"/>
                  </a:solidFill>
                  <a:latin typeface="Times New Roman" panose="02020603050405020304" pitchFamily="18" charset="0"/>
                  <a:ea typeface="仿宋_GB2312" pitchFamily="49" charset="-122"/>
                  <a:sym typeface="Symbol" panose="05050102010706020507" pitchFamily="18" charset="2"/>
                </a:rPr>
                <a:t></a:t>
              </a:r>
              <a:endParaRPr kumimoji="1" lang="en-US" altLang="zh-CN" sz="2000" b="1" dirty="0">
                <a:solidFill>
                  <a:srgbClr val="993300"/>
                </a:solidFill>
                <a:latin typeface="Times New Roman" panose="02020603050405020304" pitchFamily="18" charset="0"/>
                <a:sym typeface="Symbol" panose="05050102010706020507" pitchFamily="18" charset="2"/>
              </a:endParaRPr>
            </a:p>
          </p:txBody>
        </p:sp>
        <p:cxnSp>
          <p:nvCxnSpPr>
            <p:cNvPr id="117" name="直接箭头连接符 116"/>
            <p:cNvCxnSpPr/>
            <p:nvPr/>
          </p:nvCxnSpPr>
          <p:spPr bwMode="auto">
            <a:xfrm>
              <a:off x="5983753" y="2028589"/>
              <a:ext cx="752931" cy="234463"/>
            </a:xfrm>
            <a:prstGeom prst="straightConnector1">
              <a:avLst/>
            </a:prstGeom>
            <a:noFill/>
            <a:ln w="5715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7053187" y="1022091"/>
            <a:ext cx="2104202" cy="2307048"/>
            <a:chOff x="7053187" y="1022091"/>
            <a:chExt cx="2104202" cy="2307048"/>
          </a:xfrm>
        </p:grpSpPr>
        <p:sp>
          <p:nvSpPr>
            <p:cNvPr id="78" name="Text Box 827"/>
            <p:cNvSpPr txBox="1">
              <a:spLocks noChangeArrowheads="1"/>
            </p:cNvSpPr>
            <p:nvPr/>
          </p:nvSpPr>
          <p:spPr bwMode="auto">
            <a:xfrm flipH="1">
              <a:off x="8232568" y="2033945"/>
              <a:ext cx="594154"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p</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sp>
          <p:nvSpPr>
            <p:cNvPr id="79" name="Line 89"/>
            <p:cNvSpPr>
              <a:spLocks noChangeAspect="1" noChangeShapeType="1"/>
            </p:cNvSpPr>
            <p:nvPr/>
          </p:nvSpPr>
          <p:spPr bwMode="auto">
            <a:xfrm rot="5400000">
              <a:off x="6292139" y="1936402"/>
              <a:ext cx="182862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81" name="Line 89"/>
            <p:cNvSpPr>
              <a:spLocks noChangeAspect="1" noChangeShapeType="1"/>
            </p:cNvSpPr>
            <p:nvPr/>
          </p:nvSpPr>
          <p:spPr bwMode="auto">
            <a:xfrm rot="5400000">
              <a:off x="8356058" y="2550657"/>
              <a:ext cx="58341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8" name="Text Box 57"/>
            <p:cNvSpPr txBox="1">
              <a:spLocks noChangeArrowheads="1"/>
            </p:cNvSpPr>
            <p:nvPr/>
          </p:nvSpPr>
          <p:spPr bwMode="auto">
            <a:xfrm>
              <a:off x="7687300" y="2944610"/>
              <a:ext cx="817507" cy="38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a:solidFill>
                    <a:srgbClr val="000066"/>
                  </a:solidFill>
                  <a:sym typeface="Symbol" pitchFamily="18" charset="2"/>
                </a:rPr>
                <a:t> H </a:t>
              </a:r>
              <a:r>
                <a:rPr lang="en-US" altLang="zh-CN" sz="1800" b="1" i="1" dirty="0" err="1" smtClean="0">
                  <a:solidFill>
                    <a:srgbClr val="000066"/>
                  </a:solidFill>
                  <a:sym typeface="Symbol" pitchFamily="18" charset="2"/>
                </a:rPr>
                <a:t>K</a:t>
              </a:r>
              <a:r>
                <a:rPr lang="en-US" altLang="zh-CN" sz="1800" b="1" baseline="-25000" dirty="0" err="1" smtClean="0">
                  <a:solidFill>
                    <a:srgbClr val="000066"/>
                  </a:solidFill>
                  <a:sym typeface="Symbol" pitchFamily="18" charset="2"/>
                </a:rPr>
                <a:t>p</a:t>
              </a:r>
              <a:endParaRPr lang="en-US" altLang="zh-CN" sz="1800" b="1" baseline="-25000" dirty="0">
                <a:solidFill>
                  <a:srgbClr val="000066"/>
                </a:solidFill>
                <a:sym typeface="Symbol" pitchFamily="18" charset="2"/>
              </a:endParaRPr>
            </a:p>
          </p:txBody>
        </p:sp>
        <p:cxnSp>
          <p:nvCxnSpPr>
            <p:cNvPr id="119" name="直接连接符 118"/>
            <p:cNvCxnSpPr/>
            <p:nvPr/>
          </p:nvCxnSpPr>
          <p:spPr bwMode="auto">
            <a:xfrm flipH="1">
              <a:off x="7053187" y="1026374"/>
              <a:ext cx="358831"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57"/>
            <p:cNvSpPr txBox="1">
              <a:spLocks noChangeArrowheads="1"/>
            </p:cNvSpPr>
            <p:nvPr/>
          </p:nvSpPr>
          <p:spPr bwMode="auto">
            <a:xfrm>
              <a:off x="7143307" y="1837436"/>
              <a:ext cx="33116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endParaRPr lang="en-US" altLang="zh-CN" sz="1800" b="1" i="1" baseline="-25000" dirty="0">
                <a:solidFill>
                  <a:srgbClr val="000066"/>
                </a:solidFill>
                <a:sym typeface="Symbol" pitchFamily="18" charset="2"/>
              </a:endParaRPr>
            </a:p>
          </p:txBody>
        </p:sp>
        <p:sp>
          <p:nvSpPr>
            <p:cNvPr id="123" name="Text Box 57"/>
            <p:cNvSpPr txBox="1">
              <a:spLocks noChangeArrowheads="1"/>
            </p:cNvSpPr>
            <p:nvPr/>
          </p:nvSpPr>
          <p:spPr bwMode="auto">
            <a:xfrm>
              <a:off x="8592324" y="2352217"/>
              <a:ext cx="565065" cy="38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i="1" dirty="0" smtClean="0">
                  <a:solidFill>
                    <a:srgbClr val="000066"/>
                  </a:solidFill>
                  <a:sym typeface="Symbol" pitchFamily="18" charset="2"/>
                </a:rPr>
                <a:t>H</a:t>
              </a:r>
              <a:r>
                <a:rPr lang="en-US" altLang="zh-CN" sz="1800" b="1" dirty="0" smtClean="0">
                  <a:solidFill>
                    <a:srgbClr val="000066"/>
                  </a:solidFill>
                  <a:sym typeface="Symbol" pitchFamily="18" charset="2"/>
                </a:rPr>
                <a:t>/3</a:t>
              </a:r>
              <a:endParaRPr lang="en-US" altLang="zh-CN" sz="1800" b="1" baseline="-25000" dirty="0">
                <a:solidFill>
                  <a:srgbClr val="000066"/>
                </a:solidFill>
                <a:sym typeface="Symbol" pitchFamily="18" charset="2"/>
              </a:endParaRPr>
            </a:p>
          </p:txBody>
        </p:sp>
        <p:sp>
          <p:nvSpPr>
            <p:cNvPr id="76" name="任意多边形 75"/>
            <p:cNvSpPr/>
            <p:nvPr/>
          </p:nvSpPr>
          <p:spPr bwMode="auto">
            <a:xfrm>
              <a:off x="7527677" y="1055804"/>
              <a:ext cx="1023195" cy="1801504"/>
            </a:xfrm>
            <a:custGeom>
              <a:avLst/>
              <a:gdLst>
                <a:gd name="connsiteX0" fmla="*/ 0 w 855260"/>
                <a:gd name="connsiteY0" fmla="*/ 0 h 1801504"/>
                <a:gd name="connsiteX1" fmla="*/ 0 w 855260"/>
                <a:gd name="connsiteY1" fmla="*/ 1801504 h 1801504"/>
                <a:gd name="connsiteX2" fmla="*/ 855260 w 855260"/>
                <a:gd name="connsiteY2" fmla="*/ 1801504 h 1801504"/>
                <a:gd name="connsiteX3" fmla="*/ 0 w 855260"/>
                <a:gd name="connsiteY3" fmla="*/ 0 h 1801504"/>
              </a:gdLst>
              <a:ahLst/>
              <a:cxnLst>
                <a:cxn ang="0">
                  <a:pos x="connsiteX0" y="connsiteY0"/>
                </a:cxn>
                <a:cxn ang="0">
                  <a:pos x="connsiteX1" y="connsiteY1"/>
                </a:cxn>
                <a:cxn ang="0">
                  <a:pos x="connsiteX2" y="connsiteY2"/>
                </a:cxn>
                <a:cxn ang="0">
                  <a:pos x="connsiteX3" y="connsiteY3"/>
                </a:cxn>
              </a:cxnLst>
              <a:rect l="l" t="t" r="r" b="b"/>
              <a:pathLst>
                <a:path w="855260" h="1801504">
                  <a:moveTo>
                    <a:pt x="0" y="0"/>
                  </a:moveTo>
                  <a:lnTo>
                    <a:pt x="0" y="1801504"/>
                  </a:lnTo>
                  <a:lnTo>
                    <a:pt x="855260" y="1801504"/>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83" name="直接箭头连接符 82"/>
            <p:cNvCxnSpPr/>
            <p:nvPr/>
          </p:nvCxnSpPr>
          <p:spPr bwMode="auto">
            <a:xfrm flipH="1">
              <a:off x="7513255" y="2846912"/>
              <a:ext cx="1035379"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flipH="1">
              <a:off x="7513255" y="2624054"/>
              <a:ext cx="913562"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84"/>
            <p:cNvCxnSpPr/>
            <p:nvPr/>
          </p:nvCxnSpPr>
          <p:spPr bwMode="auto">
            <a:xfrm flipH="1">
              <a:off x="7513255" y="2409392"/>
              <a:ext cx="785524"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箭头连接符 85"/>
            <p:cNvCxnSpPr/>
            <p:nvPr/>
          </p:nvCxnSpPr>
          <p:spPr bwMode="auto">
            <a:xfrm flipH="1">
              <a:off x="7513255" y="2194731"/>
              <a:ext cx="671329"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86"/>
            <p:cNvCxnSpPr/>
            <p:nvPr/>
          </p:nvCxnSpPr>
          <p:spPr bwMode="auto">
            <a:xfrm flipH="1">
              <a:off x="7513255" y="1973326"/>
              <a:ext cx="543290"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p:cNvCxnSpPr/>
            <p:nvPr/>
          </p:nvCxnSpPr>
          <p:spPr bwMode="auto">
            <a:xfrm flipH="1">
              <a:off x="7513256" y="1758664"/>
              <a:ext cx="422174"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p:nvPr/>
          </p:nvCxnSpPr>
          <p:spPr bwMode="auto">
            <a:xfrm flipH="1">
              <a:off x="7513255" y="1537259"/>
              <a:ext cx="304518"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箭头连接符 89"/>
            <p:cNvCxnSpPr/>
            <p:nvPr/>
          </p:nvCxnSpPr>
          <p:spPr bwMode="auto">
            <a:xfrm flipH="1">
              <a:off x="7513256" y="1322597"/>
              <a:ext cx="179940"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p:nvPr/>
          </p:nvCxnSpPr>
          <p:spPr bwMode="auto">
            <a:xfrm>
              <a:off x="7525404" y="1037997"/>
              <a:ext cx="1025334" cy="181805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Line 89"/>
            <p:cNvSpPr>
              <a:spLocks noChangeAspect="1" noChangeShapeType="1"/>
            </p:cNvSpPr>
            <p:nvPr/>
          </p:nvSpPr>
          <p:spPr bwMode="auto">
            <a:xfrm flipH="1">
              <a:off x="7492584" y="2996558"/>
              <a:ext cx="1045406"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cxnSp>
          <p:nvCxnSpPr>
            <p:cNvPr id="95" name="直接连接符 94"/>
            <p:cNvCxnSpPr/>
            <p:nvPr/>
          </p:nvCxnSpPr>
          <p:spPr bwMode="auto">
            <a:xfrm flipH="1">
              <a:off x="8532234" y="2907244"/>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flipH="1">
              <a:off x="7502310" y="2897220"/>
              <a:ext cx="0" cy="2119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直接连接符 124"/>
            <p:cNvCxnSpPr/>
            <p:nvPr/>
          </p:nvCxnSpPr>
          <p:spPr bwMode="auto">
            <a:xfrm flipV="1">
              <a:off x="7523452" y="1048980"/>
              <a:ext cx="0" cy="180541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直接箭头连接符 128"/>
            <p:cNvCxnSpPr/>
            <p:nvPr/>
          </p:nvCxnSpPr>
          <p:spPr bwMode="auto">
            <a:xfrm>
              <a:off x="7541398" y="2251599"/>
              <a:ext cx="900773" cy="234463"/>
            </a:xfrm>
            <a:prstGeom prst="straightConnector1">
              <a:avLst/>
            </a:prstGeom>
            <a:noFill/>
            <a:ln w="57150" cap="flat" cmpd="sng" algn="ctr">
              <a:solidFill>
                <a:srgbClr val="C00000"/>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连接符 79"/>
            <p:cNvCxnSpPr/>
            <p:nvPr/>
          </p:nvCxnSpPr>
          <p:spPr bwMode="auto">
            <a:xfrm flipH="1">
              <a:off x="7588282" y="2248676"/>
              <a:ext cx="1088470" cy="0"/>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a:off x="7069157" y="2844509"/>
              <a:ext cx="177795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32552795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127"/>
                                        </p:tgtEl>
                                        <p:attrNameLst>
                                          <p:attrName>style.visibility</p:attrName>
                                        </p:attrNameLst>
                                      </p:cBhvr>
                                      <p:to>
                                        <p:strVal val="visible"/>
                                      </p:to>
                                    </p:set>
                                    <p:anim calcmode="lin" valueType="num">
                                      <p:cBhvr>
                                        <p:cTn id="16" dur="1000" fill="hold"/>
                                        <p:tgtEl>
                                          <p:spTgt spid="127"/>
                                        </p:tgtEl>
                                        <p:attrNameLst>
                                          <p:attrName>ppt_w</p:attrName>
                                        </p:attrNameLst>
                                      </p:cBhvr>
                                      <p:tavLst>
                                        <p:tav tm="0">
                                          <p:val>
                                            <p:fltVal val="0"/>
                                          </p:val>
                                        </p:tav>
                                        <p:tav tm="100000">
                                          <p:val>
                                            <p:strVal val="#ppt_w"/>
                                          </p:val>
                                        </p:tav>
                                      </p:tavLst>
                                    </p:anim>
                                    <p:anim calcmode="lin" valueType="num">
                                      <p:cBhvr>
                                        <p:cTn id="17" dur="1000" fill="hold"/>
                                        <p:tgtEl>
                                          <p:spTgt spid="127"/>
                                        </p:tgtEl>
                                        <p:attrNameLst>
                                          <p:attrName>ppt_h</p:attrName>
                                        </p:attrNameLst>
                                      </p:cBhvr>
                                      <p:tavLst>
                                        <p:tav tm="0">
                                          <p:val>
                                            <p:fltVal val="0"/>
                                          </p:val>
                                        </p:tav>
                                        <p:tav tm="100000">
                                          <p:val>
                                            <p:strVal val="#ppt_h"/>
                                          </p:val>
                                        </p:tav>
                                      </p:tavLst>
                                    </p:anim>
                                    <p:anim calcmode="lin" valueType="num">
                                      <p:cBhvr>
                                        <p:cTn id="18" dur="1000" fill="hold"/>
                                        <p:tgtEl>
                                          <p:spTgt spid="127"/>
                                        </p:tgtEl>
                                        <p:attrNameLst>
                                          <p:attrName>style.rotation</p:attrName>
                                        </p:attrNameLst>
                                      </p:cBhvr>
                                      <p:tavLst>
                                        <p:tav tm="0">
                                          <p:val>
                                            <p:fltVal val="90"/>
                                          </p:val>
                                        </p:tav>
                                        <p:tav tm="100000">
                                          <p:val>
                                            <p:fltVal val="0"/>
                                          </p:val>
                                        </p:tav>
                                      </p:tavLst>
                                    </p:anim>
                                    <p:animEffect transition="in" filter="fade">
                                      <p:cBhvr>
                                        <p:cTn id="19" dur="1000"/>
                                        <p:tgtEl>
                                          <p:spTgt spid="127"/>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wipe(left)">
                                      <p:cBhvr>
                                        <p:cTn id="28" dur="500"/>
                                        <p:tgtEl>
                                          <p:spTgt spid="130"/>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9"/>
                                        </p:tgtEl>
                                        <p:attrNameLst>
                                          <p:attrName>style.visibility</p:attrName>
                                        </p:attrNameLst>
                                      </p:cBhvr>
                                      <p:to>
                                        <p:strVal val="visible"/>
                                      </p:to>
                                    </p:set>
                                    <p:animEffect transition="in" filter="wipe(left)">
                                      <p:cBhvr>
                                        <p:cTn id="37" dur="1000"/>
                                        <p:tgtEl>
                                          <p:spTgt spid="179"/>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28"/>
                                        </p:tgtEl>
                                        <p:attrNameLst>
                                          <p:attrName>style.visibility</p:attrName>
                                        </p:attrNameLst>
                                      </p:cBhvr>
                                      <p:to>
                                        <p:strVal val="visible"/>
                                      </p:to>
                                    </p:set>
                                    <p:animEffect transition="in" filter="wipe(left)">
                                      <p:cBhvr>
                                        <p:cTn id="41"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animBg="1"/>
      <p:bldP spid="127" grpId="0"/>
      <p:bldP spid="128" grpId="0" autoUpdateAnimBg="0"/>
      <p:bldP spid="13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54</a:t>
            </a:fld>
            <a:endParaRPr lang="zh-CN" altLang="en-US" dirty="0">
              <a:solidFill>
                <a:srgbClr val="C00000"/>
              </a:solidFill>
            </a:endParaRPr>
          </a:p>
        </p:txBody>
      </p:sp>
      <p:sp>
        <p:nvSpPr>
          <p:cNvPr id="53"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库伦</a:t>
            </a:r>
            <a:r>
              <a:rPr lang="zh-CN" altLang="en-US" sz="1800" b="1" kern="900" spc="130" dirty="0">
                <a:solidFill>
                  <a:srgbClr val="000066"/>
                </a:solidFill>
                <a:ea typeface="黑体" panose="02010609060101010101" pitchFamily="49" charset="-122"/>
                <a:cs typeface="Times New Roman" panose="02020603050405020304" pitchFamily="18" charset="0"/>
              </a:rPr>
              <a:t>土压力图解法</a:t>
            </a:r>
          </a:p>
        </p:txBody>
      </p:sp>
      <p:sp>
        <p:nvSpPr>
          <p:cNvPr id="63"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库伦土压力图解法</a:t>
            </a:r>
          </a:p>
        </p:txBody>
      </p:sp>
      <p:sp>
        <p:nvSpPr>
          <p:cNvPr id="51" name="Text Box 3"/>
          <p:cNvSpPr txBox="1">
            <a:spLocks noChangeArrowheads="1"/>
          </p:cNvSpPr>
          <p:nvPr/>
        </p:nvSpPr>
        <p:spPr bwMode="auto">
          <a:xfrm>
            <a:off x="2028575" y="1764714"/>
            <a:ext cx="5939767"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smtClean="0">
                <a:solidFill>
                  <a:srgbClr val="000066"/>
                </a:solidFill>
                <a:ea typeface="幼圆" pitchFamily="49" charset="-122"/>
                <a:cs typeface="Times New Roman" panose="02020603050405020304" pitchFamily="18" charset="0"/>
              </a:rPr>
              <a:t>基本图解法</a:t>
            </a:r>
            <a:endParaRPr lang="zh-CN" altLang="en-US" sz="3200" b="1" dirty="0">
              <a:solidFill>
                <a:srgbClr val="000066"/>
              </a:solidFill>
              <a:ea typeface="幼圆" pitchFamily="49" charset="-122"/>
              <a:cs typeface="Times New Roman" panose="02020603050405020304" pitchFamily="18" charset="0"/>
            </a:endParaRP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a:solidFill>
                  <a:srgbClr val="000066"/>
                </a:solidFill>
                <a:ea typeface="幼圆" pitchFamily="49" charset="-122"/>
                <a:cs typeface="Times New Roman" panose="02020603050405020304" pitchFamily="18" charset="0"/>
              </a:rPr>
              <a:t>库尔曼（</a:t>
            </a:r>
            <a:r>
              <a:rPr lang="en-US" altLang="zh-CN" sz="3200" b="1" dirty="0" err="1">
                <a:solidFill>
                  <a:srgbClr val="000066"/>
                </a:solidFill>
                <a:ea typeface="幼圆" pitchFamily="49" charset="-122"/>
                <a:cs typeface="Times New Roman" panose="02020603050405020304" pitchFamily="18" charset="0"/>
              </a:rPr>
              <a:t>Culmann</a:t>
            </a:r>
            <a:r>
              <a:rPr lang="zh-CN" altLang="en-US" sz="3200" b="1" dirty="0">
                <a:solidFill>
                  <a:srgbClr val="000066"/>
                </a:solidFill>
                <a:ea typeface="幼圆" pitchFamily="49" charset="-122"/>
                <a:cs typeface="Times New Roman" panose="02020603050405020304" pitchFamily="18" charset="0"/>
              </a:rPr>
              <a:t>）图解法</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3200" b="1" dirty="0">
                <a:solidFill>
                  <a:srgbClr val="000066"/>
                </a:solidFill>
                <a:ea typeface="幼圆" pitchFamily="49" charset="-122"/>
                <a:cs typeface="Times New Roman" panose="02020603050405020304" pitchFamily="18" charset="0"/>
              </a:rPr>
              <a:t>黏性填</a:t>
            </a:r>
            <a:r>
              <a:rPr lang="zh-CN" altLang="en-US" sz="3200" b="1" dirty="0" smtClean="0">
                <a:solidFill>
                  <a:srgbClr val="000066"/>
                </a:solidFill>
                <a:ea typeface="幼圆" pitchFamily="49" charset="-122"/>
                <a:cs typeface="Times New Roman" panose="02020603050405020304" pitchFamily="18" charset="0"/>
              </a:rPr>
              <a:t>土图解法</a:t>
            </a:r>
            <a:endParaRPr lang="zh-CN" altLang="en-US" sz="32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48725004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Effect transition="in" filter="slide(fromLeft)">
                                      <p:cBhvr>
                                        <p:cTn id="7" dur="500"/>
                                        <p:tgtEl>
                                          <p:spTgt spid="51">
                                            <p:txEl>
                                              <p:pRg st="0" end="0"/>
                                            </p:txEl>
                                          </p:spTgt>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animEffect transition="in" filter="slide(fromLeft)">
                                      <p:cBhvr>
                                        <p:cTn id="11" dur="500"/>
                                        <p:tgtEl>
                                          <p:spTgt spid="51">
                                            <p:txEl>
                                              <p:pRg st="1" end="1"/>
                                            </p:txEl>
                                          </p:spTgt>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animEffect transition="in" filter="slide(fromLeft)">
                                      <p:cBhvr>
                                        <p:cTn id="15" dur="500"/>
                                        <p:tgtEl>
                                          <p:spTgt spid="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6253367" y="2341145"/>
            <a:ext cx="2308246" cy="3311203"/>
            <a:chOff x="6253367" y="2341145"/>
            <a:chExt cx="2308246" cy="3311203"/>
          </a:xfrm>
        </p:grpSpPr>
        <p:grpSp>
          <p:nvGrpSpPr>
            <p:cNvPr id="37" name="组合 36"/>
            <p:cNvGrpSpPr/>
            <p:nvPr/>
          </p:nvGrpSpPr>
          <p:grpSpPr>
            <a:xfrm>
              <a:off x="6253367" y="2341145"/>
              <a:ext cx="2308246" cy="3311203"/>
              <a:chOff x="6253367" y="2341145"/>
              <a:chExt cx="2308246" cy="3311203"/>
            </a:xfrm>
          </p:grpSpPr>
          <p:grpSp>
            <p:nvGrpSpPr>
              <p:cNvPr id="36" name="组合 35"/>
              <p:cNvGrpSpPr/>
              <p:nvPr/>
            </p:nvGrpSpPr>
            <p:grpSpPr>
              <a:xfrm>
                <a:off x="6264262" y="2341145"/>
                <a:ext cx="2297351" cy="3030675"/>
                <a:chOff x="6264262" y="2341145"/>
                <a:chExt cx="2297351" cy="3030675"/>
              </a:xfrm>
            </p:grpSpPr>
            <p:sp>
              <p:nvSpPr>
                <p:cNvPr id="171" name="任意多边形 170"/>
                <p:cNvSpPr/>
                <p:nvPr/>
              </p:nvSpPr>
              <p:spPr bwMode="auto">
                <a:xfrm>
                  <a:off x="6764267" y="2718464"/>
                  <a:ext cx="1484617" cy="2278675"/>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814284"/>
                    <a:gd name="connsiteY0" fmla="*/ 330386 h 1738695"/>
                    <a:gd name="connsiteX1" fmla="*/ 290339 w 814284"/>
                    <a:gd name="connsiteY1" fmla="*/ 1738695 h 1738695"/>
                    <a:gd name="connsiteX2" fmla="*/ 814284 w 814284"/>
                    <a:gd name="connsiteY2" fmla="*/ 0 h 1738695"/>
                    <a:gd name="connsiteX3" fmla="*/ 530619 w 814284"/>
                    <a:gd name="connsiteY3" fmla="*/ 106791 h 1738695"/>
                    <a:gd name="connsiteX4" fmla="*/ 240281 w 814284"/>
                    <a:gd name="connsiteY4" fmla="*/ 220257 h 1738695"/>
                    <a:gd name="connsiteX5" fmla="*/ 0 w 814284"/>
                    <a:gd name="connsiteY5" fmla="*/ 330386 h 1738695"/>
                    <a:gd name="connsiteX0" fmla="*/ 0 w 679648"/>
                    <a:gd name="connsiteY0" fmla="*/ 271483 h 1679792"/>
                    <a:gd name="connsiteX1" fmla="*/ 290339 w 679648"/>
                    <a:gd name="connsiteY1" fmla="*/ 1679792 h 1679792"/>
                    <a:gd name="connsiteX2" fmla="*/ 679648 w 679648"/>
                    <a:gd name="connsiteY2" fmla="*/ 0 h 1679792"/>
                    <a:gd name="connsiteX3" fmla="*/ 530619 w 679648"/>
                    <a:gd name="connsiteY3" fmla="*/ 47888 h 1679792"/>
                    <a:gd name="connsiteX4" fmla="*/ 240281 w 679648"/>
                    <a:gd name="connsiteY4" fmla="*/ 161354 h 1679792"/>
                    <a:gd name="connsiteX5" fmla="*/ 0 w 679648"/>
                    <a:gd name="connsiteY5" fmla="*/ 271483 h 1679792"/>
                    <a:gd name="connsiteX0" fmla="*/ 0 w 682029"/>
                    <a:gd name="connsiteY0" fmla="*/ 281008 h 1689317"/>
                    <a:gd name="connsiteX1" fmla="*/ 290339 w 682029"/>
                    <a:gd name="connsiteY1" fmla="*/ 1689317 h 1689317"/>
                    <a:gd name="connsiteX2" fmla="*/ 682029 w 682029"/>
                    <a:gd name="connsiteY2" fmla="*/ 0 h 1689317"/>
                    <a:gd name="connsiteX3" fmla="*/ 530619 w 682029"/>
                    <a:gd name="connsiteY3" fmla="*/ 57413 h 1689317"/>
                    <a:gd name="connsiteX4" fmla="*/ 240281 w 682029"/>
                    <a:gd name="connsiteY4" fmla="*/ 170879 h 1689317"/>
                    <a:gd name="connsiteX5" fmla="*/ 0 w 682029"/>
                    <a:gd name="connsiteY5" fmla="*/ 281008 h 1689317"/>
                    <a:gd name="connsiteX0" fmla="*/ 0 w 1183934"/>
                    <a:gd name="connsiteY0" fmla="*/ 410639 h 1818948"/>
                    <a:gd name="connsiteX1" fmla="*/ 290339 w 1183934"/>
                    <a:gd name="connsiteY1" fmla="*/ 1818948 h 1818948"/>
                    <a:gd name="connsiteX2" fmla="*/ 1183934 w 1183934"/>
                    <a:gd name="connsiteY2" fmla="*/ 0 h 1818948"/>
                    <a:gd name="connsiteX3" fmla="*/ 530619 w 1183934"/>
                    <a:gd name="connsiteY3" fmla="*/ 187044 h 1818948"/>
                    <a:gd name="connsiteX4" fmla="*/ 240281 w 1183934"/>
                    <a:gd name="connsiteY4" fmla="*/ 300510 h 1818948"/>
                    <a:gd name="connsiteX5" fmla="*/ 0 w 1183934"/>
                    <a:gd name="connsiteY5" fmla="*/ 410639 h 1818948"/>
                    <a:gd name="connsiteX0" fmla="*/ 0 w 1183934"/>
                    <a:gd name="connsiteY0" fmla="*/ 410639 h 1818948"/>
                    <a:gd name="connsiteX1" fmla="*/ 290339 w 1183934"/>
                    <a:gd name="connsiteY1" fmla="*/ 1818948 h 1818948"/>
                    <a:gd name="connsiteX2" fmla="*/ 1183934 w 1183934"/>
                    <a:gd name="connsiteY2" fmla="*/ 0 h 1818948"/>
                    <a:gd name="connsiteX3" fmla="*/ 810546 w 1183934"/>
                    <a:gd name="connsiteY3" fmla="*/ 90335 h 1818948"/>
                    <a:gd name="connsiteX4" fmla="*/ 530619 w 1183934"/>
                    <a:gd name="connsiteY4" fmla="*/ 187044 h 1818948"/>
                    <a:gd name="connsiteX5" fmla="*/ 240281 w 1183934"/>
                    <a:gd name="connsiteY5" fmla="*/ 300510 h 1818948"/>
                    <a:gd name="connsiteX6" fmla="*/ 0 w 1183934"/>
                    <a:gd name="connsiteY6" fmla="*/ 410639 h 1818948"/>
                    <a:gd name="connsiteX0" fmla="*/ 0 w 1187258"/>
                    <a:gd name="connsiteY0" fmla="*/ 413963 h 1822272"/>
                    <a:gd name="connsiteX1" fmla="*/ 290339 w 1187258"/>
                    <a:gd name="connsiteY1" fmla="*/ 1822272 h 1822272"/>
                    <a:gd name="connsiteX2" fmla="*/ 1187258 w 1187258"/>
                    <a:gd name="connsiteY2" fmla="*/ 0 h 1822272"/>
                    <a:gd name="connsiteX3" fmla="*/ 810546 w 1187258"/>
                    <a:gd name="connsiteY3" fmla="*/ 93659 h 1822272"/>
                    <a:gd name="connsiteX4" fmla="*/ 530619 w 1187258"/>
                    <a:gd name="connsiteY4" fmla="*/ 190368 h 1822272"/>
                    <a:gd name="connsiteX5" fmla="*/ 240281 w 1187258"/>
                    <a:gd name="connsiteY5" fmla="*/ 303834 h 1822272"/>
                    <a:gd name="connsiteX6" fmla="*/ 0 w 1187258"/>
                    <a:gd name="connsiteY6" fmla="*/ 413963 h 1822272"/>
                    <a:gd name="connsiteX0" fmla="*/ 0 w 1187258"/>
                    <a:gd name="connsiteY0" fmla="*/ 413963 h 1822272"/>
                    <a:gd name="connsiteX1" fmla="*/ 290339 w 1187258"/>
                    <a:gd name="connsiteY1" fmla="*/ 1822272 h 1822272"/>
                    <a:gd name="connsiteX2" fmla="*/ 1187258 w 1187258"/>
                    <a:gd name="connsiteY2" fmla="*/ 0 h 1822272"/>
                    <a:gd name="connsiteX3" fmla="*/ 810546 w 1187258"/>
                    <a:gd name="connsiteY3" fmla="*/ 93659 h 1822272"/>
                    <a:gd name="connsiteX4" fmla="*/ 650160 w 1187258"/>
                    <a:gd name="connsiteY4" fmla="*/ 143335 h 1822272"/>
                    <a:gd name="connsiteX5" fmla="*/ 530619 w 1187258"/>
                    <a:gd name="connsiteY5" fmla="*/ 190368 h 1822272"/>
                    <a:gd name="connsiteX6" fmla="*/ 240281 w 1187258"/>
                    <a:gd name="connsiteY6" fmla="*/ 303834 h 1822272"/>
                    <a:gd name="connsiteX7" fmla="*/ 0 w 1187258"/>
                    <a:gd name="connsiteY7" fmla="*/ 413963 h 1822272"/>
                    <a:gd name="connsiteX0" fmla="*/ 0 w 1222541"/>
                    <a:gd name="connsiteY0" fmla="*/ 540935 h 1949244"/>
                    <a:gd name="connsiteX1" fmla="*/ 290339 w 1222541"/>
                    <a:gd name="connsiteY1" fmla="*/ 1949244 h 1949244"/>
                    <a:gd name="connsiteX2" fmla="*/ 1187258 w 1222541"/>
                    <a:gd name="connsiteY2" fmla="*/ 126972 h 1949244"/>
                    <a:gd name="connsiteX3" fmla="*/ 1021812 w 1222541"/>
                    <a:gd name="connsiteY3" fmla="*/ 159816 h 1949244"/>
                    <a:gd name="connsiteX4" fmla="*/ 810546 w 1222541"/>
                    <a:gd name="connsiteY4" fmla="*/ 220631 h 1949244"/>
                    <a:gd name="connsiteX5" fmla="*/ 650160 w 1222541"/>
                    <a:gd name="connsiteY5" fmla="*/ 270307 h 1949244"/>
                    <a:gd name="connsiteX6" fmla="*/ 530619 w 1222541"/>
                    <a:gd name="connsiteY6" fmla="*/ 317340 h 1949244"/>
                    <a:gd name="connsiteX7" fmla="*/ 240281 w 1222541"/>
                    <a:gd name="connsiteY7" fmla="*/ 430806 h 1949244"/>
                    <a:gd name="connsiteX8" fmla="*/ 0 w 1222541"/>
                    <a:gd name="connsiteY8" fmla="*/ 540935 h 1949244"/>
                    <a:gd name="connsiteX0" fmla="*/ 0 w 1187258"/>
                    <a:gd name="connsiteY0" fmla="*/ 413963 h 1822272"/>
                    <a:gd name="connsiteX1" fmla="*/ 290339 w 1187258"/>
                    <a:gd name="connsiteY1" fmla="*/ 1822272 h 1822272"/>
                    <a:gd name="connsiteX2" fmla="*/ 1187258 w 1187258"/>
                    <a:gd name="connsiteY2" fmla="*/ 0 h 1822272"/>
                    <a:gd name="connsiteX3" fmla="*/ 1021812 w 1187258"/>
                    <a:gd name="connsiteY3" fmla="*/ 32844 h 1822272"/>
                    <a:gd name="connsiteX4" fmla="*/ 810546 w 1187258"/>
                    <a:gd name="connsiteY4" fmla="*/ 93659 h 1822272"/>
                    <a:gd name="connsiteX5" fmla="*/ 650160 w 1187258"/>
                    <a:gd name="connsiteY5" fmla="*/ 143335 h 1822272"/>
                    <a:gd name="connsiteX6" fmla="*/ 530619 w 1187258"/>
                    <a:gd name="connsiteY6" fmla="*/ 190368 h 1822272"/>
                    <a:gd name="connsiteX7" fmla="*/ 240281 w 1187258"/>
                    <a:gd name="connsiteY7" fmla="*/ 303834 h 1822272"/>
                    <a:gd name="connsiteX8" fmla="*/ 0 w 1187258"/>
                    <a:gd name="connsiteY8" fmla="*/ 413963 h 182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7258" h="1822272">
                      <a:moveTo>
                        <a:pt x="0" y="413963"/>
                      </a:moveTo>
                      <a:lnTo>
                        <a:pt x="290339" y="1822272"/>
                      </a:lnTo>
                      <a:lnTo>
                        <a:pt x="1187258" y="0"/>
                      </a:lnTo>
                      <a:lnTo>
                        <a:pt x="1021812" y="32844"/>
                      </a:lnTo>
                      <a:cubicBezTo>
                        <a:pt x="959027" y="48454"/>
                        <a:pt x="871484" y="76918"/>
                        <a:pt x="810546" y="93659"/>
                      </a:cubicBezTo>
                      <a:cubicBezTo>
                        <a:pt x="755745" y="113566"/>
                        <a:pt x="704961" y="123428"/>
                        <a:pt x="650160" y="143335"/>
                      </a:cubicBezTo>
                      <a:lnTo>
                        <a:pt x="530619" y="190368"/>
                      </a:lnTo>
                      <a:lnTo>
                        <a:pt x="240281" y="303834"/>
                      </a:lnTo>
                      <a:lnTo>
                        <a:pt x="0" y="413963"/>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2" name="任意多边形 171"/>
                <p:cNvSpPr/>
                <p:nvPr/>
              </p:nvSpPr>
              <p:spPr bwMode="auto">
                <a:xfrm>
                  <a:off x="6264262" y="3229584"/>
                  <a:ext cx="856701" cy="1775580"/>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6" name="任意多边形 175"/>
                <p:cNvSpPr/>
                <p:nvPr/>
              </p:nvSpPr>
              <p:spPr bwMode="auto">
                <a:xfrm>
                  <a:off x="6745896" y="2694510"/>
                  <a:ext cx="1570958" cy="536943"/>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565367"/>
                    <a:gd name="connsiteY0" fmla="*/ 594962 h 594962"/>
                    <a:gd name="connsiteX1" fmla="*/ 246490 w 1565367"/>
                    <a:gd name="connsiteY1" fmla="*/ 467742 h 594962"/>
                    <a:gd name="connsiteX2" fmla="*/ 691763 w 1565367"/>
                    <a:gd name="connsiteY2" fmla="*/ 253056 h 594962"/>
                    <a:gd name="connsiteX3" fmla="*/ 1256306 w 1565367"/>
                    <a:gd name="connsiteY3" fmla="*/ 70176 h 594962"/>
                    <a:gd name="connsiteX4" fmla="*/ 1565367 w 1565367"/>
                    <a:gd name="connsiteY4" fmla="*/ 0 h 594962"/>
                    <a:gd name="connsiteX0" fmla="*/ 0 w 1256306"/>
                    <a:gd name="connsiteY0" fmla="*/ 524786 h 524786"/>
                    <a:gd name="connsiteX1" fmla="*/ 246490 w 1256306"/>
                    <a:gd name="connsiteY1" fmla="*/ 397566 h 524786"/>
                    <a:gd name="connsiteX2" fmla="*/ 691763 w 1256306"/>
                    <a:gd name="connsiteY2" fmla="*/ 182880 h 524786"/>
                    <a:gd name="connsiteX3" fmla="*/ 1256306 w 1256306"/>
                    <a:gd name="connsiteY3" fmla="*/ 0 h 524786"/>
                  </a:gdLst>
                  <a:ahLst/>
                  <a:cxnLst>
                    <a:cxn ang="0">
                      <a:pos x="connsiteX0" y="connsiteY0"/>
                    </a:cxn>
                    <a:cxn ang="0">
                      <a:pos x="connsiteX1" y="connsiteY1"/>
                    </a:cxn>
                    <a:cxn ang="0">
                      <a:pos x="connsiteX2" y="connsiteY2"/>
                    </a:cxn>
                    <a:cxn ang="0">
                      <a:pos x="connsiteX3" y="connsiteY3"/>
                    </a:cxn>
                  </a:cxnLst>
                  <a:rect l="l" t="t" r="r" b="b"/>
                  <a:pathLst>
                    <a:path w="1256306" h="524786">
                      <a:moveTo>
                        <a:pt x="0" y="524786"/>
                      </a:moveTo>
                      <a:cubicBezTo>
                        <a:pt x="67586" y="490330"/>
                        <a:pt x="131196" y="454550"/>
                        <a:pt x="246490" y="397566"/>
                      </a:cubicBezTo>
                      <a:cubicBezTo>
                        <a:pt x="361784" y="340582"/>
                        <a:pt x="523460" y="249141"/>
                        <a:pt x="691763" y="182880"/>
                      </a:cubicBezTo>
                      <a:cubicBezTo>
                        <a:pt x="860066" y="116619"/>
                        <a:pt x="1057523" y="53009"/>
                        <a:pt x="1256306"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0" name="直接连接符 179"/>
                <p:cNvCxnSpPr/>
                <p:nvPr/>
              </p:nvCxnSpPr>
              <p:spPr bwMode="auto">
                <a:xfrm>
                  <a:off x="6732625" y="5003755"/>
                  <a:ext cx="169131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Text Box 75"/>
                <p:cNvSpPr txBox="1">
                  <a:spLocks noChangeArrowheads="1"/>
                </p:cNvSpPr>
                <p:nvPr/>
              </p:nvSpPr>
              <p:spPr bwMode="auto">
                <a:xfrm>
                  <a:off x="6973444" y="4960938"/>
                  <a:ext cx="419866"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A</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82" name="Text Box 75"/>
                <p:cNvSpPr txBox="1">
                  <a:spLocks noChangeArrowheads="1"/>
                </p:cNvSpPr>
                <p:nvPr/>
              </p:nvSpPr>
              <p:spPr bwMode="auto">
                <a:xfrm>
                  <a:off x="6573290" y="2851151"/>
                  <a:ext cx="539857" cy="481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B</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201" name="Text Box 75"/>
                <p:cNvSpPr txBox="1">
                  <a:spLocks noChangeArrowheads="1"/>
                </p:cNvSpPr>
                <p:nvPr/>
              </p:nvSpPr>
              <p:spPr bwMode="auto">
                <a:xfrm>
                  <a:off x="8082146" y="2341145"/>
                  <a:ext cx="479467"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A50021"/>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A50021"/>
                      </a:solidFill>
                      <a:latin typeface="Times New Roman" panose="02020603050405020304" pitchFamily="18" charset="0"/>
                      <a:sym typeface="Symbol" panose="05050102010706020507" pitchFamily="18" charset="2"/>
                    </a:rPr>
                    <a:t>a</a:t>
                  </a:r>
                  <a:endParaRPr kumimoji="1" lang="en-US" altLang="zh-CN" sz="1800" b="1" baseline="-25000" dirty="0">
                    <a:solidFill>
                      <a:srgbClr val="A50021"/>
                    </a:solidFill>
                    <a:latin typeface="Times New Roman" panose="02020603050405020304" pitchFamily="18" charset="0"/>
                    <a:sym typeface="Symbol" panose="05050102010706020507" pitchFamily="18" charset="2"/>
                  </a:endParaRPr>
                </a:p>
              </p:txBody>
            </p:sp>
          </p:grpSp>
          <p:sp>
            <p:nvSpPr>
              <p:cNvPr id="213" name="Text Box 4"/>
              <p:cNvSpPr txBox="1">
                <a:spLocks noChangeArrowheads="1"/>
              </p:cNvSpPr>
              <p:nvPr/>
            </p:nvSpPr>
            <p:spPr bwMode="auto">
              <a:xfrm>
                <a:off x="6253367" y="5283016"/>
                <a:ext cx="20885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zh-CN" altLang="en-US" sz="1800" b="1" dirty="0">
                    <a:solidFill>
                      <a:srgbClr val="C00000"/>
                    </a:solidFill>
                    <a:ea typeface="幼圆" pitchFamily="49" charset="-122"/>
                  </a:rPr>
                  <a:t>确定的</a:t>
                </a:r>
                <a:r>
                  <a:rPr lang="en-US" altLang="zh-CN" sz="1800" b="1" i="1" dirty="0" err="1">
                    <a:solidFill>
                      <a:srgbClr val="C00000"/>
                    </a:solidFill>
                    <a:ea typeface="幼圆" pitchFamily="49" charset="-122"/>
                  </a:rPr>
                  <a:t>E</a:t>
                </a:r>
                <a:r>
                  <a:rPr lang="en-US" altLang="zh-CN" sz="1800" b="1" baseline="-25000" dirty="0" err="1">
                    <a:solidFill>
                      <a:srgbClr val="C00000"/>
                    </a:solidFill>
                    <a:ea typeface="幼圆" pitchFamily="49" charset="-122"/>
                  </a:rPr>
                  <a:t>a</a:t>
                </a:r>
                <a:r>
                  <a:rPr lang="zh-CN" altLang="en-US" sz="1800" b="1" dirty="0">
                    <a:solidFill>
                      <a:srgbClr val="C00000"/>
                    </a:solidFill>
                    <a:ea typeface="幼圆" pitchFamily="49" charset="-122"/>
                  </a:rPr>
                  <a:t>作用点</a:t>
                </a:r>
                <a:endParaRPr lang="zh-CN" altLang="en-US" sz="1800" b="1" i="1" baseline="-25000" dirty="0">
                  <a:solidFill>
                    <a:srgbClr val="C00000"/>
                  </a:solidFill>
                  <a:ea typeface="幼圆" pitchFamily="49" charset="-122"/>
                </a:endParaRPr>
              </a:p>
            </p:txBody>
          </p:sp>
        </p:grpSp>
        <p:cxnSp>
          <p:nvCxnSpPr>
            <p:cNvPr id="197" name="直接连接符 196"/>
            <p:cNvCxnSpPr/>
            <p:nvPr/>
          </p:nvCxnSpPr>
          <p:spPr bwMode="auto">
            <a:xfrm flipV="1">
              <a:off x="7125555" y="2715730"/>
              <a:ext cx="1118721" cy="2294419"/>
            </a:xfrm>
            <a:prstGeom prst="line">
              <a:avLst/>
            </a:pr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55</a:t>
            </a:fld>
            <a:endParaRPr lang="zh-CN" altLang="en-US" dirty="0">
              <a:solidFill>
                <a:srgbClr val="C00000"/>
              </a:solidFill>
            </a:endParaRPr>
          </a:p>
        </p:txBody>
      </p:sp>
      <p:sp>
        <p:nvSpPr>
          <p:cNvPr id="105" name="Rectangle 3"/>
          <p:cNvSpPr txBox="1">
            <a:spLocks noChangeArrowheads="1"/>
          </p:cNvSpPr>
          <p:nvPr/>
        </p:nvSpPr>
        <p:spPr bwMode="auto">
          <a:xfrm>
            <a:off x="432534" y="536298"/>
            <a:ext cx="342426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微软雅黑" panose="020B0503020204020204" pitchFamily="34" charset="-122"/>
                <a:ea typeface="微软雅黑" panose="020B0503020204020204" pitchFamily="34" charset="-122"/>
              </a:rPr>
              <a:t> 基本</a:t>
            </a:r>
            <a:r>
              <a:rPr lang="zh-CN" altLang="en-US" sz="2800" b="1" kern="0" dirty="0">
                <a:solidFill>
                  <a:srgbClr val="C00000"/>
                </a:solidFill>
                <a:latin typeface="微软雅黑" panose="020B0503020204020204" pitchFamily="34" charset="-122"/>
                <a:ea typeface="微软雅黑" panose="020B0503020204020204" pitchFamily="34" charset="-122"/>
              </a:rPr>
              <a:t>图解法</a:t>
            </a:r>
          </a:p>
        </p:txBody>
      </p:sp>
      <p:sp>
        <p:nvSpPr>
          <p:cNvPr id="82"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库伦</a:t>
            </a:r>
            <a:r>
              <a:rPr lang="zh-CN" altLang="en-US" sz="1800" b="1" kern="900" spc="130" dirty="0">
                <a:solidFill>
                  <a:srgbClr val="000066"/>
                </a:solidFill>
                <a:ea typeface="黑体" panose="02010609060101010101" pitchFamily="49" charset="-122"/>
                <a:cs typeface="Times New Roman" panose="02020603050405020304" pitchFamily="18" charset="0"/>
              </a:rPr>
              <a:t>土压力图解法</a:t>
            </a:r>
          </a:p>
        </p:txBody>
      </p:sp>
      <p:grpSp>
        <p:nvGrpSpPr>
          <p:cNvPr id="39" name="组合 38"/>
          <p:cNvGrpSpPr/>
          <p:nvPr/>
        </p:nvGrpSpPr>
        <p:grpSpPr>
          <a:xfrm>
            <a:off x="1546354" y="2615464"/>
            <a:ext cx="889772" cy="2520734"/>
            <a:chOff x="1546354" y="2615464"/>
            <a:chExt cx="889772" cy="2520734"/>
          </a:xfrm>
        </p:grpSpPr>
        <p:grpSp>
          <p:nvGrpSpPr>
            <p:cNvPr id="5" name="组合 4"/>
            <p:cNvGrpSpPr/>
            <p:nvPr/>
          </p:nvGrpSpPr>
          <p:grpSpPr>
            <a:xfrm>
              <a:off x="1546354" y="3023066"/>
              <a:ext cx="852849" cy="2113132"/>
              <a:chOff x="1546354" y="3023066"/>
              <a:chExt cx="852849" cy="2113132"/>
            </a:xfrm>
          </p:grpSpPr>
          <p:sp>
            <p:nvSpPr>
              <p:cNvPr id="28" name="任意多边形 27"/>
              <p:cNvSpPr/>
              <p:nvPr/>
            </p:nvSpPr>
            <p:spPr bwMode="auto">
              <a:xfrm>
                <a:off x="1546354" y="3023066"/>
                <a:ext cx="852849" cy="2112420"/>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814284"/>
                  <a:gd name="connsiteY0" fmla="*/ 330386 h 1738695"/>
                  <a:gd name="connsiteX1" fmla="*/ 290339 w 814284"/>
                  <a:gd name="connsiteY1" fmla="*/ 1738695 h 1738695"/>
                  <a:gd name="connsiteX2" fmla="*/ 814284 w 814284"/>
                  <a:gd name="connsiteY2" fmla="*/ 0 h 1738695"/>
                  <a:gd name="connsiteX3" fmla="*/ 530619 w 814284"/>
                  <a:gd name="connsiteY3" fmla="*/ 106791 h 1738695"/>
                  <a:gd name="connsiteX4" fmla="*/ 240281 w 814284"/>
                  <a:gd name="connsiteY4" fmla="*/ 220257 h 1738695"/>
                  <a:gd name="connsiteX5" fmla="*/ 0 w 814284"/>
                  <a:gd name="connsiteY5" fmla="*/ 330386 h 1738695"/>
                  <a:gd name="connsiteX0" fmla="*/ 0 w 679648"/>
                  <a:gd name="connsiteY0" fmla="*/ 271483 h 1679792"/>
                  <a:gd name="connsiteX1" fmla="*/ 290339 w 679648"/>
                  <a:gd name="connsiteY1" fmla="*/ 1679792 h 1679792"/>
                  <a:gd name="connsiteX2" fmla="*/ 679648 w 679648"/>
                  <a:gd name="connsiteY2" fmla="*/ 0 h 1679792"/>
                  <a:gd name="connsiteX3" fmla="*/ 530619 w 679648"/>
                  <a:gd name="connsiteY3" fmla="*/ 47888 h 1679792"/>
                  <a:gd name="connsiteX4" fmla="*/ 240281 w 679648"/>
                  <a:gd name="connsiteY4" fmla="*/ 161354 h 1679792"/>
                  <a:gd name="connsiteX5" fmla="*/ 0 w 679648"/>
                  <a:gd name="connsiteY5" fmla="*/ 271483 h 1679792"/>
                  <a:gd name="connsiteX0" fmla="*/ 0 w 682029"/>
                  <a:gd name="connsiteY0" fmla="*/ 281008 h 1689317"/>
                  <a:gd name="connsiteX1" fmla="*/ 290339 w 682029"/>
                  <a:gd name="connsiteY1" fmla="*/ 1689317 h 1689317"/>
                  <a:gd name="connsiteX2" fmla="*/ 682029 w 682029"/>
                  <a:gd name="connsiteY2" fmla="*/ 0 h 1689317"/>
                  <a:gd name="connsiteX3" fmla="*/ 530619 w 682029"/>
                  <a:gd name="connsiteY3" fmla="*/ 57413 h 1689317"/>
                  <a:gd name="connsiteX4" fmla="*/ 240281 w 682029"/>
                  <a:gd name="connsiteY4" fmla="*/ 170879 h 1689317"/>
                  <a:gd name="connsiteX5" fmla="*/ 0 w 682029"/>
                  <a:gd name="connsiteY5" fmla="*/ 281008 h 168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2029" h="1689317">
                    <a:moveTo>
                      <a:pt x="0" y="281008"/>
                    </a:moveTo>
                    <a:lnTo>
                      <a:pt x="290339" y="1689317"/>
                    </a:lnTo>
                    <a:lnTo>
                      <a:pt x="682029" y="0"/>
                    </a:lnTo>
                    <a:lnTo>
                      <a:pt x="530619" y="57413"/>
                    </a:lnTo>
                    <a:lnTo>
                      <a:pt x="240281" y="170879"/>
                    </a:lnTo>
                    <a:lnTo>
                      <a:pt x="0" y="28100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2" name="Line 70"/>
              <p:cNvSpPr>
                <a:spLocks noChangeShapeType="1"/>
              </p:cNvSpPr>
              <p:nvPr/>
            </p:nvSpPr>
            <p:spPr bwMode="auto">
              <a:xfrm flipV="1">
                <a:off x="1910299" y="3027855"/>
                <a:ext cx="485259" cy="2108343"/>
              </a:xfrm>
              <a:prstGeom prst="line">
                <a:avLst/>
              </a:prstGeom>
              <a:noFill/>
              <a:ln w="1270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6" name="Text Box 75"/>
            <p:cNvSpPr txBox="1">
              <a:spLocks noChangeArrowheads="1"/>
            </p:cNvSpPr>
            <p:nvPr/>
          </p:nvSpPr>
          <p:spPr bwMode="auto">
            <a:xfrm>
              <a:off x="1996328" y="2615464"/>
              <a:ext cx="43979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10" name="组合 9"/>
          <p:cNvGrpSpPr/>
          <p:nvPr/>
        </p:nvGrpSpPr>
        <p:grpSpPr>
          <a:xfrm>
            <a:off x="1909055" y="4753247"/>
            <a:ext cx="414235" cy="412998"/>
            <a:chOff x="1909055" y="4753247"/>
            <a:chExt cx="414235" cy="412998"/>
          </a:xfrm>
        </p:grpSpPr>
        <p:sp>
          <p:nvSpPr>
            <p:cNvPr id="68" name="任意多边形 67"/>
            <p:cNvSpPr/>
            <p:nvPr/>
          </p:nvSpPr>
          <p:spPr bwMode="auto">
            <a:xfrm rot="7190632" flipV="1">
              <a:off x="1948688" y="4953978"/>
              <a:ext cx="101967" cy="18123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9" name="Rectangle 74"/>
            <p:cNvSpPr>
              <a:spLocks noChangeArrowheads="1"/>
            </p:cNvSpPr>
            <p:nvPr/>
          </p:nvSpPr>
          <p:spPr bwMode="auto">
            <a:xfrm>
              <a:off x="2005574" y="4753247"/>
              <a:ext cx="317716" cy="41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baseline="-25000" dirty="0">
                <a:solidFill>
                  <a:srgbClr val="993300"/>
                </a:solidFill>
                <a:latin typeface="Times New Roman" panose="02020603050405020304" pitchFamily="18" charset="0"/>
                <a:sym typeface="Symbol" panose="05050102010706020507" pitchFamily="18" charset="2"/>
              </a:endParaRPr>
            </a:p>
          </p:txBody>
        </p:sp>
      </p:grpSp>
      <p:grpSp>
        <p:nvGrpSpPr>
          <p:cNvPr id="11" name="组合 10"/>
          <p:cNvGrpSpPr/>
          <p:nvPr/>
        </p:nvGrpSpPr>
        <p:grpSpPr>
          <a:xfrm>
            <a:off x="1673455" y="3182412"/>
            <a:ext cx="630213" cy="914243"/>
            <a:chOff x="1673455" y="3182412"/>
            <a:chExt cx="630213" cy="914243"/>
          </a:xfrm>
        </p:grpSpPr>
        <p:cxnSp>
          <p:nvCxnSpPr>
            <p:cNvPr id="73" name="直接箭头连接符 72"/>
            <p:cNvCxnSpPr/>
            <p:nvPr/>
          </p:nvCxnSpPr>
          <p:spPr bwMode="auto">
            <a:xfrm>
              <a:off x="1904228" y="3608170"/>
              <a:ext cx="0" cy="488485"/>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75"/>
            <p:cNvSpPr txBox="1">
              <a:spLocks noChangeArrowheads="1"/>
            </p:cNvSpPr>
            <p:nvPr/>
          </p:nvSpPr>
          <p:spPr bwMode="auto">
            <a:xfrm>
              <a:off x="1673455" y="3182412"/>
              <a:ext cx="630213" cy="558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sp>
        <p:nvSpPr>
          <p:cNvPr id="4" name="任意多边形 3"/>
          <p:cNvSpPr/>
          <p:nvPr/>
        </p:nvSpPr>
        <p:spPr bwMode="auto">
          <a:xfrm>
            <a:off x="4923013" y="2800479"/>
            <a:ext cx="450595" cy="2460836"/>
          </a:xfrm>
          <a:custGeom>
            <a:avLst/>
            <a:gdLst>
              <a:gd name="connsiteX0" fmla="*/ 0 w 383471"/>
              <a:gd name="connsiteY0" fmla="*/ 0 h 1967948"/>
              <a:gd name="connsiteX1" fmla="*/ 147099 w 383471"/>
              <a:gd name="connsiteY1" fmla="*/ 254442 h 1967948"/>
              <a:gd name="connsiteX2" fmla="*/ 262393 w 383471"/>
              <a:gd name="connsiteY2" fmla="*/ 504908 h 1967948"/>
              <a:gd name="connsiteX3" fmla="*/ 345882 w 383471"/>
              <a:gd name="connsiteY3" fmla="*/ 834887 h 1967948"/>
              <a:gd name="connsiteX4" fmla="*/ 381663 w 383471"/>
              <a:gd name="connsiteY4" fmla="*/ 1089329 h 1967948"/>
              <a:gd name="connsiteX5" fmla="*/ 369736 w 383471"/>
              <a:gd name="connsiteY5" fmla="*/ 1451113 h 1967948"/>
              <a:gd name="connsiteX6" fmla="*/ 298174 w 383471"/>
              <a:gd name="connsiteY6" fmla="*/ 1681701 h 1967948"/>
              <a:gd name="connsiteX7" fmla="*/ 163002 w 383471"/>
              <a:gd name="connsiteY7" fmla="*/ 1967948 h 1967948"/>
              <a:gd name="connsiteX0" fmla="*/ 0 w 383762"/>
              <a:gd name="connsiteY0" fmla="*/ 0 h 1967948"/>
              <a:gd name="connsiteX1" fmla="*/ 147099 w 383762"/>
              <a:gd name="connsiteY1" fmla="*/ 254442 h 1967948"/>
              <a:gd name="connsiteX2" fmla="*/ 262393 w 383762"/>
              <a:gd name="connsiteY2" fmla="*/ 504908 h 1967948"/>
              <a:gd name="connsiteX3" fmla="*/ 341907 w 383762"/>
              <a:gd name="connsiteY3" fmla="*/ 811033 h 1967948"/>
              <a:gd name="connsiteX4" fmla="*/ 381663 w 383762"/>
              <a:gd name="connsiteY4" fmla="*/ 1089329 h 1967948"/>
              <a:gd name="connsiteX5" fmla="*/ 369736 w 383762"/>
              <a:gd name="connsiteY5" fmla="*/ 1451113 h 1967948"/>
              <a:gd name="connsiteX6" fmla="*/ 298174 w 383762"/>
              <a:gd name="connsiteY6" fmla="*/ 1681701 h 1967948"/>
              <a:gd name="connsiteX7" fmla="*/ 163002 w 383762"/>
              <a:gd name="connsiteY7" fmla="*/ 1967948 h 1967948"/>
              <a:gd name="connsiteX0" fmla="*/ 0 w 382872"/>
              <a:gd name="connsiteY0" fmla="*/ 0 h 1967948"/>
              <a:gd name="connsiteX1" fmla="*/ 147099 w 382872"/>
              <a:gd name="connsiteY1" fmla="*/ 254442 h 1967948"/>
              <a:gd name="connsiteX2" fmla="*/ 262393 w 382872"/>
              <a:gd name="connsiteY2" fmla="*/ 504908 h 1967948"/>
              <a:gd name="connsiteX3" fmla="*/ 341907 w 382872"/>
              <a:gd name="connsiteY3" fmla="*/ 811033 h 1967948"/>
              <a:gd name="connsiteX4" fmla="*/ 381663 w 382872"/>
              <a:gd name="connsiteY4" fmla="*/ 1089329 h 1967948"/>
              <a:gd name="connsiteX5" fmla="*/ 365761 w 382872"/>
              <a:gd name="connsiteY5" fmla="*/ 1439186 h 1967948"/>
              <a:gd name="connsiteX6" fmla="*/ 298174 w 382872"/>
              <a:gd name="connsiteY6" fmla="*/ 1681701 h 1967948"/>
              <a:gd name="connsiteX7" fmla="*/ 163002 w 382872"/>
              <a:gd name="connsiteY7" fmla="*/ 1967948 h 1967948"/>
              <a:gd name="connsiteX0" fmla="*/ 0 w 382018"/>
              <a:gd name="connsiteY0" fmla="*/ 0 h 1967948"/>
              <a:gd name="connsiteX1" fmla="*/ 147099 w 382018"/>
              <a:gd name="connsiteY1" fmla="*/ 254442 h 1967948"/>
              <a:gd name="connsiteX2" fmla="*/ 262393 w 382018"/>
              <a:gd name="connsiteY2" fmla="*/ 504908 h 1967948"/>
              <a:gd name="connsiteX3" fmla="*/ 341907 w 382018"/>
              <a:gd name="connsiteY3" fmla="*/ 811033 h 1967948"/>
              <a:gd name="connsiteX4" fmla="*/ 381663 w 382018"/>
              <a:gd name="connsiteY4" fmla="*/ 1089329 h 1967948"/>
              <a:gd name="connsiteX5" fmla="*/ 357809 w 382018"/>
              <a:gd name="connsiteY5" fmla="*/ 1439186 h 1967948"/>
              <a:gd name="connsiteX6" fmla="*/ 298174 w 382018"/>
              <a:gd name="connsiteY6" fmla="*/ 1681701 h 1967948"/>
              <a:gd name="connsiteX7" fmla="*/ 163002 w 382018"/>
              <a:gd name="connsiteY7" fmla="*/ 1967948 h 1967948"/>
              <a:gd name="connsiteX0" fmla="*/ 0 w 382068"/>
              <a:gd name="connsiteY0" fmla="*/ 0 h 1967948"/>
              <a:gd name="connsiteX1" fmla="*/ 147099 w 382068"/>
              <a:gd name="connsiteY1" fmla="*/ 254442 h 1967948"/>
              <a:gd name="connsiteX2" fmla="*/ 262393 w 382068"/>
              <a:gd name="connsiteY2" fmla="*/ 504908 h 1967948"/>
              <a:gd name="connsiteX3" fmla="*/ 341907 w 382068"/>
              <a:gd name="connsiteY3" fmla="*/ 811033 h 1967948"/>
              <a:gd name="connsiteX4" fmla="*/ 381663 w 382068"/>
              <a:gd name="connsiteY4" fmla="*/ 1089329 h 1967948"/>
              <a:gd name="connsiteX5" fmla="*/ 357809 w 382068"/>
              <a:gd name="connsiteY5" fmla="*/ 1439186 h 1967948"/>
              <a:gd name="connsiteX6" fmla="*/ 286247 w 382068"/>
              <a:gd name="connsiteY6" fmla="*/ 1681701 h 1967948"/>
              <a:gd name="connsiteX7" fmla="*/ 163002 w 382068"/>
              <a:gd name="connsiteY7" fmla="*/ 1967948 h 1967948"/>
              <a:gd name="connsiteX0" fmla="*/ 0 w 370979"/>
              <a:gd name="connsiteY0" fmla="*/ 0 h 1967948"/>
              <a:gd name="connsiteX1" fmla="*/ 147099 w 370979"/>
              <a:gd name="connsiteY1" fmla="*/ 254442 h 1967948"/>
              <a:gd name="connsiteX2" fmla="*/ 262393 w 370979"/>
              <a:gd name="connsiteY2" fmla="*/ 504908 h 1967948"/>
              <a:gd name="connsiteX3" fmla="*/ 341907 w 370979"/>
              <a:gd name="connsiteY3" fmla="*/ 811033 h 1967948"/>
              <a:gd name="connsiteX4" fmla="*/ 369753 w 370979"/>
              <a:gd name="connsiteY4" fmla="*/ 1089329 h 1967948"/>
              <a:gd name="connsiteX5" fmla="*/ 357809 w 370979"/>
              <a:gd name="connsiteY5" fmla="*/ 1439186 h 1967948"/>
              <a:gd name="connsiteX6" fmla="*/ 286247 w 370979"/>
              <a:gd name="connsiteY6" fmla="*/ 1681701 h 1967948"/>
              <a:gd name="connsiteX7" fmla="*/ 163002 w 370979"/>
              <a:gd name="connsiteY7" fmla="*/ 1967948 h 1967948"/>
              <a:gd name="connsiteX0" fmla="*/ 0 w 369771"/>
              <a:gd name="connsiteY0" fmla="*/ 0 h 1967948"/>
              <a:gd name="connsiteX1" fmla="*/ 147099 w 369771"/>
              <a:gd name="connsiteY1" fmla="*/ 254442 h 1967948"/>
              <a:gd name="connsiteX2" fmla="*/ 262393 w 369771"/>
              <a:gd name="connsiteY2" fmla="*/ 504908 h 1967948"/>
              <a:gd name="connsiteX3" fmla="*/ 341907 w 369771"/>
              <a:gd name="connsiteY3" fmla="*/ 811033 h 1967948"/>
              <a:gd name="connsiteX4" fmla="*/ 369753 w 369771"/>
              <a:gd name="connsiteY4" fmla="*/ 1089329 h 1967948"/>
              <a:gd name="connsiteX5" fmla="*/ 338753 w 369771"/>
              <a:gd name="connsiteY5" fmla="*/ 1439186 h 1967948"/>
              <a:gd name="connsiteX6" fmla="*/ 286247 w 369771"/>
              <a:gd name="connsiteY6" fmla="*/ 1681701 h 1967948"/>
              <a:gd name="connsiteX7" fmla="*/ 163002 w 369771"/>
              <a:gd name="connsiteY7" fmla="*/ 1967948 h 1967948"/>
              <a:gd name="connsiteX0" fmla="*/ 0 w 369771"/>
              <a:gd name="connsiteY0" fmla="*/ 0 h 1967948"/>
              <a:gd name="connsiteX1" fmla="*/ 147099 w 369771"/>
              <a:gd name="connsiteY1" fmla="*/ 254442 h 1967948"/>
              <a:gd name="connsiteX2" fmla="*/ 262393 w 369771"/>
              <a:gd name="connsiteY2" fmla="*/ 504908 h 1967948"/>
              <a:gd name="connsiteX3" fmla="*/ 341907 w 369771"/>
              <a:gd name="connsiteY3" fmla="*/ 811033 h 1967948"/>
              <a:gd name="connsiteX4" fmla="*/ 369753 w 369771"/>
              <a:gd name="connsiteY4" fmla="*/ 1089329 h 1967948"/>
              <a:gd name="connsiteX5" fmla="*/ 338753 w 369771"/>
              <a:gd name="connsiteY5" fmla="*/ 1439186 h 1967948"/>
              <a:gd name="connsiteX6" fmla="*/ 274337 w 369771"/>
              <a:gd name="connsiteY6" fmla="*/ 1686465 h 1967948"/>
              <a:gd name="connsiteX7" fmla="*/ 163002 w 369771"/>
              <a:gd name="connsiteY7" fmla="*/ 1967948 h 1967948"/>
              <a:gd name="connsiteX0" fmla="*/ 0 w 370164"/>
              <a:gd name="connsiteY0" fmla="*/ 0 h 1967948"/>
              <a:gd name="connsiteX1" fmla="*/ 147099 w 370164"/>
              <a:gd name="connsiteY1" fmla="*/ 254442 h 1967948"/>
              <a:gd name="connsiteX2" fmla="*/ 262393 w 370164"/>
              <a:gd name="connsiteY2" fmla="*/ 504908 h 1967948"/>
              <a:gd name="connsiteX3" fmla="*/ 341907 w 370164"/>
              <a:gd name="connsiteY3" fmla="*/ 811033 h 1967948"/>
              <a:gd name="connsiteX4" fmla="*/ 369753 w 370164"/>
              <a:gd name="connsiteY4" fmla="*/ 1089329 h 1967948"/>
              <a:gd name="connsiteX5" fmla="*/ 324461 w 370164"/>
              <a:gd name="connsiteY5" fmla="*/ 1446332 h 1967948"/>
              <a:gd name="connsiteX6" fmla="*/ 274337 w 370164"/>
              <a:gd name="connsiteY6" fmla="*/ 1686465 h 1967948"/>
              <a:gd name="connsiteX7" fmla="*/ 163002 w 370164"/>
              <a:gd name="connsiteY7" fmla="*/ 1967948 h 1967948"/>
              <a:gd name="connsiteX0" fmla="*/ 0 w 358838"/>
              <a:gd name="connsiteY0" fmla="*/ 0 h 1967948"/>
              <a:gd name="connsiteX1" fmla="*/ 147099 w 358838"/>
              <a:gd name="connsiteY1" fmla="*/ 254442 h 1967948"/>
              <a:gd name="connsiteX2" fmla="*/ 262393 w 358838"/>
              <a:gd name="connsiteY2" fmla="*/ 504908 h 1967948"/>
              <a:gd name="connsiteX3" fmla="*/ 341907 w 358838"/>
              <a:gd name="connsiteY3" fmla="*/ 811033 h 1967948"/>
              <a:gd name="connsiteX4" fmla="*/ 357844 w 358838"/>
              <a:gd name="connsiteY4" fmla="*/ 1091711 h 1967948"/>
              <a:gd name="connsiteX5" fmla="*/ 324461 w 358838"/>
              <a:gd name="connsiteY5" fmla="*/ 1446332 h 1967948"/>
              <a:gd name="connsiteX6" fmla="*/ 274337 w 358838"/>
              <a:gd name="connsiteY6" fmla="*/ 1686465 h 1967948"/>
              <a:gd name="connsiteX7" fmla="*/ 163002 w 358838"/>
              <a:gd name="connsiteY7" fmla="*/ 1967948 h 1967948"/>
              <a:gd name="connsiteX0" fmla="*/ 0 w 349167"/>
              <a:gd name="connsiteY0" fmla="*/ 0 h 1967948"/>
              <a:gd name="connsiteX1" fmla="*/ 147099 w 349167"/>
              <a:gd name="connsiteY1" fmla="*/ 254442 h 1967948"/>
              <a:gd name="connsiteX2" fmla="*/ 262393 w 349167"/>
              <a:gd name="connsiteY2" fmla="*/ 504908 h 1967948"/>
              <a:gd name="connsiteX3" fmla="*/ 341907 w 349167"/>
              <a:gd name="connsiteY3" fmla="*/ 811033 h 1967948"/>
              <a:gd name="connsiteX4" fmla="*/ 343552 w 349167"/>
              <a:gd name="connsiteY4" fmla="*/ 1146495 h 1967948"/>
              <a:gd name="connsiteX5" fmla="*/ 324461 w 349167"/>
              <a:gd name="connsiteY5" fmla="*/ 1446332 h 1967948"/>
              <a:gd name="connsiteX6" fmla="*/ 274337 w 349167"/>
              <a:gd name="connsiteY6" fmla="*/ 1686465 h 1967948"/>
              <a:gd name="connsiteX7" fmla="*/ 163002 w 349167"/>
              <a:gd name="connsiteY7" fmla="*/ 1967948 h 1967948"/>
              <a:gd name="connsiteX0" fmla="*/ 0 w 356579"/>
              <a:gd name="connsiteY0" fmla="*/ 0 h 1967948"/>
              <a:gd name="connsiteX1" fmla="*/ 147099 w 356579"/>
              <a:gd name="connsiteY1" fmla="*/ 254442 h 1967948"/>
              <a:gd name="connsiteX2" fmla="*/ 262393 w 356579"/>
              <a:gd name="connsiteY2" fmla="*/ 504908 h 1967948"/>
              <a:gd name="connsiteX3" fmla="*/ 351435 w 356579"/>
              <a:gd name="connsiteY3" fmla="*/ 815797 h 1967948"/>
              <a:gd name="connsiteX4" fmla="*/ 343552 w 356579"/>
              <a:gd name="connsiteY4" fmla="*/ 1146495 h 1967948"/>
              <a:gd name="connsiteX5" fmla="*/ 324461 w 356579"/>
              <a:gd name="connsiteY5" fmla="*/ 1446332 h 1967948"/>
              <a:gd name="connsiteX6" fmla="*/ 274337 w 356579"/>
              <a:gd name="connsiteY6" fmla="*/ 1686465 h 1967948"/>
              <a:gd name="connsiteX7" fmla="*/ 163002 w 356579"/>
              <a:gd name="connsiteY7" fmla="*/ 1967948 h 1967948"/>
              <a:gd name="connsiteX0" fmla="*/ 0 w 359848"/>
              <a:gd name="connsiteY0" fmla="*/ 0 h 1967948"/>
              <a:gd name="connsiteX1" fmla="*/ 147099 w 359848"/>
              <a:gd name="connsiteY1" fmla="*/ 254442 h 1967948"/>
              <a:gd name="connsiteX2" fmla="*/ 262393 w 359848"/>
              <a:gd name="connsiteY2" fmla="*/ 504908 h 1967948"/>
              <a:gd name="connsiteX3" fmla="*/ 351435 w 359848"/>
              <a:gd name="connsiteY3" fmla="*/ 815797 h 1967948"/>
              <a:gd name="connsiteX4" fmla="*/ 353079 w 359848"/>
              <a:gd name="connsiteY4" fmla="*/ 1151259 h 1967948"/>
              <a:gd name="connsiteX5" fmla="*/ 324461 w 359848"/>
              <a:gd name="connsiteY5" fmla="*/ 1446332 h 1967948"/>
              <a:gd name="connsiteX6" fmla="*/ 274337 w 359848"/>
              <a:gd name="connsiteY6" fmla="*/ 1686465 h 1967948"/>
              <a:gd name="connsiteX7" fmla="*/ 163002 w 359848"/>
              <a:gd name="connsiteY7" fmla="*/ 1967948 h 1967948"/>
              <a:gd name="connsiteX0" fmla="*/ 0 w 360345"/>
              <a:gd name="connsiteY0" fmla="*/ 0 h 1967948"/>
              <a:gd name="connsiteX1" fmla="*/ 147099 w 360345"/>
              <a:gd name="connsiteY1" fmla="*/ 254442 h 1967948"/>
              <a:gd name="connsiteX2" fmla="*/ 262393 w 360345"/>
              <a:gd name="connsiteY2" fmla="*/ 504908 h 1967948"/>
              <a:gd name="connsiteX3" fmla="*/ 351435 w 360345"/>
              <a:gd name="connsiteY3" fmla="*/ 815797 h 1967948"/>
              <a:gd name="connsiteX4" fmla="*/ 353079 w 360345"/>
              <a:gd name="connsiteY4" fmla="*/ 1151259 h 1967948"/>
              <a:gd name="connsiteX5" fmla="*/ 314933 w 360345"/>
              <a:gd name="connsiteY5" fmla="*/ 1446332 h 1967948"/>
              <a:gd name="connsiteX6" fmla="*/ 274337 w 360345"/>
              <a:gd name="connsiteY6" fmla="*/ 1686465 h 1967948"/>
              <a:gd name="connsiteX7" fmla="*/ 163002 w 360345"/>
              <a:gd name="connsiteY7" fmla="*/ 1967948 h 1967948"/>
              <a:gd name="connsiteX0" fmla="*/ 0 w 360345"/>
              <a:gd name="connsiteY0" fmla="*/ 0 h 1967948"/>
              <a:gd name="connsiteX1" fmla="*/ 147099 w 360345"/>
              <a:gd name="connsiteY1" fmla="*/ 254442 h 1967948"/>
              <a:gd name="connsiteX2" fmla="*/ 262393 w 360345"/>
              <a:gd name="connsiteY2" fmla="*/ 504908 h 1967948"/>
              <a:gd name="connsiteX3" fmla="*/ 351435 w 360345"/>
              <a:gd name="connsiteY3" fmla="*/ 815797 h 1967948"/>
              <a:gd name="connsiteX4" fmla="*/ 353079 w 360345"/>
              <a:gd name="connsiteY4" fmla="*/ 1151259 h 1967948"/>
              <a:gd name="connsiteX5" fmla="*/ 314933 w 360345"/>
              <a:gd name="connsiteY5" fmla="*/ 1446332 h 1967948"/>
              <a:gd name="connsiteX6" fmla="*/ 262428 w 360345"/>
              <a:gd name="connsiteY6" fmla="*/ 1686465 h 1967948"/>
              <a:gd name="connsiteX7" fmla="*/ 163002 w 360345"/>
              <a:gd name="connsiteY7" fmla="*/ 1967948 h 196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345" h="1967948">
                <a:moveTo>
                  <a:pt x="0" y="0"/>
                </a:moveTo>
                <a:cubicBezTo>
                  <a:pt x="51683" y="85145"/>
                  <a:pt x="103367" y="170291"/>
                  <a:pt x="147099" y="254442"/>
                </a:cubicBezTo>
                <a:cubicBezTo>
                  <a:pt x="190831" y="338593"/>
                  <a:pt x="228337" y="411349"/>
                  <a:pt x="262393" y="504908"/>
                </a:cubicBezTo>
                <a:cubicBezTo>
                  <a:pt x="296449" y="598467"/>
                  <a:pt x="336321" y="708072"/>
                  <a:pt x="351435" y="815797"/>
                </a:cubicBezTo>
                <a:cubicBezTo>
                  <a:pt x="366549" y="923522"/>
                  <a:pt x="359163" y="1046170"/>
                  <a:pt x="353079" y="1151259"/>
                </a:cubicBezTo>
                <a:cubicBezTo>
                  <a:pt x="346995" y="1256348"/>
                  <a:pt x="330041" y="1357131"/>
                  <a:pt x="314933" y="1446332"/>
                </a:cubicBezTo>
                <a:cubicBezTo>
                  <a:pt x="299825" y="1535533"/>
                  <a:pt x="287750" y="1599529"/>
                  <a:pt x="262428" y="1686465"/>
                </a:cubicBezTo>
                <a:cubicBezTo>
                  <a:pt x="237106" y="1773401"/>
                  <a:pt x="213360" y="1867894"/>
                  <a:pt x="163002" y="1967948"/>
                </a:cubicBezTo>
              </a:path>
            </a:pathLst>
          </a:cu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5" name="组合 24"/>
          <p:cNvGrpSpPr/>
          <p:nvPr/>
        </p:nvGrpSpPr>
        <p:grpSpPr>
          <a:xfrm>
            <a:off x="4651897" y="2603610"/>
            <a:ext cx="692551" cy="2448623"/>
            <a:chOff x="4651897" y="2603610"/>
            <a:chExt cx="692551" cy="2448623"/>
          </a:xfrm>
        </p:grpSpPr>
        <p:cxnSp>
          <p:nvCxnSpPr>
            <p:cNvPr id="99" name="直接箭头连接符 98"/>
            <p:cNvCxnSpPr/>
            <p:nvPr/>
          </p:nvCxnSpPr>
          <p:spPr bwMode="auto">
            <a:xfrm>
              <a:off x="4651897" y="3095625"/>
              <a:ext cx="0" cy="1956608"/>
            </a:xfrm>
            <a:prstGeom prst="straightConnector1">
              <a:avLst/>
            </a:prstGeom>
            <a:noFill/>
            <a:ln w="12700" cap="flat" cmpd="sng" algn="ctr">
              <a:solidFill>
                <a:srgbClr val="000066"/>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箭头连接符 61"/>
            <p:cNvCxnSpPr/>
            <p:nvPr/>
          </p:nvCxnSpPr>
          <p:spPr bwMode="auto">
            <a:xfrm flipV="1">
              <a:off x="4656660" y="4449881"/>
              <a:ext cx="687788" cy="592272"/>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p:nvPr/>
          </p:nvCxnSpPr>
          <p:spPr bwMode="auto">
            <a:xfrm>
              <a:off x="4662714" y="2603610"/>
              <a:ext cx="674761" cy="184925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01" name="直接箭头连接符 100"/>
          <p:cNvCxnSpPr/>
          <p:nvPr/>
        </p:nvCxnSpPr>
        <p:spPr bwMode="auto">
          <a:xfrm>
            <a:off x="5392934" y="3439338"/>
            <a:ext cx="0" cy="1428281"/>
          </a:xfrm>
          <a:prstGeom prst="straightConnector1">
            <a:avLst/>
          </a:prstGeom>
          <a:noFill/>
          <a:ln w="28575" cap="flat" cmpd="sng" algn="ctr">
            <a:solidFill>
              <a:srgbClr val="00006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 name="组合 12"/>
          <p:cNvGrpSpPr/>
          <p:nvPr/>
        </p:nvGrpSpPr>
        <p:grpSpPr>
          <a:xfrm>
            <a:off x="1046350" y="2694552"/>
            <a:ext cx="2838071" cy="2801093"/>
            <a:chOff x="1046350" y="2694552"/>
            <a:chExt cx="2838071" cy="2801093"/>
          </a:xfrm>
        </p:grpSpPr>
        <p:sp>
          <p:nvSpPr>
            <p:cNvPr id="83" name="任意多边形 82"/>
            <p:cNvSpPr/>
            <p:nvPr/>
          </p:nvSpPr>
          <p:spPr bwMode="auto">
            <a:xfrm>
              <a:off x="1046350" y="3367930"/>
              <a:ext cx="856701" cy="1775580"/>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 name="任意多边形 1"/>
            <p:cNvSpPr/>
            <p:nvPr/>
          </p:nvSpPr>
          <p:spPr bwMode="auto">
            <a:xfrm>
              <a:off x="1527984" y="2694552"/>
              <a:ext cx="2356437" cy="675247"/>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4459" h="659958">
                  <a:moveTo>
                    <a:pt x="0" y="659958"/>
                  </a:moveTo>
                  <a:cubicBezTo>
                    <a:pt x="67586" y="625502"/>
                    <a:pt x="131196" y="589722"/>
                    <a:pt x="246490" y="532738"/>
                  </a:cubicBezTo>
                  <a:cubicBezTo>
                    <a:pt x="361784" y="475754"/>
                    <a:pt x="523460" y="384313"/>
                    <a:pt x="691763" y="318052"/>
                  </a:cubicBezTo>
                  <a:cubicBezTo>
                    <a:pt x="860066" y="251791"/>
                    <a:pt x="1057523" y="188181"/>
                    <a:pt x="1256306" y="135172"/>
                  </a:cubicBezTo>
                  <a:cubicBezTo>
                    <a:pt x="1455089" y="82163"/>
                    <a:pt x="1669774" y="41081"/>
                    <a:pt x="1884459"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3" name="直接连接符 22"/>
            <p:cNvCxnSpPr/>
            <p:nvPr/>
          </p:nvCxnSpPr>
          <p:spPr bwMode="auto">
            <a:xfrm>
              <a:off x="1514713" y="5137077"/>
              <a:ext cx="169131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 Box 75"/>
            <p:cNvSpPr txBox="1">
              <a:spLocks noChangeArrowheads="1"/>
            </p:cNvSpPr>
            <p:nvPr/>
          </p:nvSpPr>
          <p:spPr bwMode="auto">
            <a:xfrm>
              <a:off x="1692275" y="5084763"/>
              <a:ext cx="419866"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A</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65" name="Text Box 75"/>
            <p:cNvSpPr txBox="1">
              <a:spLocks noChangeArrowheads="1"/>
            </p:cNvSpPr>
            <p:nvPr/>
          </p:nvSpPr>
          <p:spPr bwMode="auto">
            <a:xfrm>
              <a:off x="1258888" y="2973800"/>
              <a:ext cx="539857" cy="481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B</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grpSp>
        <p:nvGrpSpPr>
          <p:cNvPr id="12" name="组合 11"/>
          <p:cNvGrpSpPr/>
          <p:nvPr/>
        </p:nvGrpSpPr>
        <p:grpSpPr>
          <a:xfrm>
            <a:off x="1101640" y="4251177"/>
            <a:ext cx="716675" cy="795231"/>
            <a:chOff x="1101640" y="4251177"/>
            <a:chExt cx="716675" cy="795231"/>
          </a:xfrm>
        </p:grpSpPr>
        <p:sp>
          <p:nvSpPr>
            <p:cNvPr id="135" name="Rectangle 74"/>
            <p:cNvSpPr>
              <a:spLocks noChangeArrowheads="1"/>
            </p:cNvSpPr>
            <p:nvPr/>
          </p:nvSpPr>
          <p:spPr bwMode="auto">
            <a:xfrm>
              <a:off x="1101640" y="4273381"/>
              <a:ext cx="387096" cy="49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136" name="Text Box 75"/>
            <p:cNvSpPr txBox="1">
              <a:spLocks noChangeArrowheads="1"/>
            </p:cNvSpPr>
            <p:nvPr/>
          </p:nvSpPr>
          <p:spPr bwMode="auto">
            <a:xfrm>
              <a:off x="1222777" y="4488359"/>
              <a:ext cx="595538" cy="558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C00000"/>
                  </a:solidFill>
                  <a:latin typeface="Times New Roman" panose="02020603050405020304" pitchFamily="18" charset="0"/>
                  <a:sym typeface="Symbol" panose="05050102010706020507" pitchFamily="18" charset="2"/>
                </a:rPr>
                <a:t>E</a:t>
              </a:r>
              <a:r>
                <a:rPr kumimoji="1" lang="en-US" altLang="zh-CN" sz="2000" b="1" baseline="-25000" dirty="0" smtClean="0">
                  <a:solidFill>
                    <a:srgbClr val="C00000"/>
                  </a:solidFill>
                  <a:latin typeface="Times New Roman" panose="02020603050405020304" pitchFamily="18" charset="0"/>
                  <a:sym typeface="Symbol" panose="05050102010706020507" pitchFamily="18" charset="2"/>
                </a:rPr>
                <a:t>1</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cxnSp>
          <p:nvCxnSpPr>
            <p:cNvPr id="8" name="直接连接符 7"/>
            <p:cNvCxnSpPr/>
            <p:nvPr/>
          </p:nvCxnSpPr>
          <p:spPr bwMode="auto">
            <a:xfrm flipH="1">
              <a:off x="1323742" y="4327930"/>
              <a:ext cx="407607" cy="8929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任意多边形 13"/>
            <p:cNvSpPr/>
            <p:nvPr/>
          </p:nvSpPr>
          <p:spPr bwMode="auto">
            <a:xfrm rot="4552046">
              <a:off x="1638071" y="4251177"/>
              <a:ext cx="90033" cy="90033"/>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 name="任意多边形 17"/>
            <p:cNvSpPr/>
            <p:nvPr/>
          </p:nvSpPr>
          <p:spPr bwMode="auto">
            <a:xfrm>
              <a:off x="1435623" y="4390325"/>
              <a:ext cx="80097" cy="12261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9" name="直接箭头连接符 118"/>
            <p:cNvCxnSpPr/>
            <p:nvPr/>
          </p:nvCxnSpPr>
          <p:spPr bwMode="auto">
            <a:xfrm flipV="1">
              <a:off x="1424002" y="4328657"/>
              <a:ext cx="315818" cy="271960"/>
            </a:xfrm>
            <a:prstGeom prst="straightConnector1">
              <a:avLst/>
            </a:prstGeom>
            <a:noFill/>
            <a:ln w="28575"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7" name="组合 26"/>
          <p:cNvGrpSpPr/>
          <p:nvPr/>
        </p:nvGrpSpPr>
        <p:grpSpPr>
          <a:xfrm>
            <a:off x="5349552" y="3702853"/>
            <a:ext cx="368861" cy="446276"/>
            <a:chOff x="5349552" y="3702853"/>
            <a:chExt cx="368861" cy="446276"/>
          </a:xfrm>
        </p:grpSpPr>
        <p:sp>
          <p:nvSpPr>
            <p:cNvPr id="65" name="椭圆 64"/>
            <p:cNvSpPr/>
            <p:nvPr/>
          </p:nvSpPr>
          <p:spPr bwMode="auto">
            <a:xfrm>
              <a:off x="5349552" y="3927571"/>
              <a:ext cx="57170" cy="57170"/>
            </a:xfrm>
            <a:prstGeom prst="ellipse">
              <a:avLst/>
            </a:prstGeom>
            <a:solidFill>
              <a:schemeClr val="accent2"/>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44" name="Text Box 75"/>
            <p:cNvSpPr txBox="1">
              <a:spLocks noChangeArrowheads="1"/>
            </p:cNvSpPr>
            <p:nvPr/>
          </p:nvSpPr>
          <p:spPr bwMode="auto">
            <a:xfrm>
              <a:off x="5363768" y="3702853"/>
              <a:ext cx="35464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m</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grpSp>
      <p:cxnSp>
        <p:nvCxnSpPr>
          <p:cNvPr id="146" name="直接连接符 145"/>
          <p:cNvCxnSpPr/>
          <p:nvPr/>
        </p:nvCxnSpPr>
        <p:spPr bwMode="auto">
          <a:xfrm flipV="1">
            <a:off x="1894782" y="2778034"/>
            <a:ext cx="1484144" cy="236461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 name="组合 18"/>
          <p:cNvGrpSpPr/>
          <p:nvPr/>
        </p:nvGrpSpPr>
        <p:grpSpPr>
          <a:xfrm>
            <a:off x="1901688" y="2474165"/>
            <a:ext cx="1053053" cy="2665399"/>
            <a:chOff x="1901688" y="2474165"/>
            <a:chExt cx="1053053" cy="2665399"/>
          </a:xfrm>
        </p:grpSpPr>
        <p:cxnSp>
          <p:nvCxnSpPr>
            <p:cNvPr id="104" name="直接连接符 103"/>
            <p:cNvCxnSpPr/>
            <p:nvPr/>
          </p:nvCxnSpPr>
          <p:spPr bwMode="auto">
            <a:xfrm flipV="1">
              <a:off x="1901688" y="2924225"/>
              <a:ext cx="847589" cy="221533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Text Box 75"/>
            <p:cNvSpPr txBox="1">
              <a:spLocks noChangeArrowheads="1"/>
            </p:cNvSpPr>
            <p:nvPr/>
          </p:nvSpPr>
          <p:spPr bwMode="auto">
            <a:xfrm>
              <a:off x="2493450" y="2474165"/>
              <a:ext cx="46129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30" name="组合 29"/>
          <p:cNvGrpSpPr/>
          <p:nvPr/>
        </p:nvGrpSpPr>
        <p:grpSpPr>
          <a:xfrm>
            <a:off x="1907643" y="2407931"/>
            <a:ext cx="1436058" cy="2740564"/>
            <a:chOff x="1907643" y="2407931"/>
            <a:chExt cx="1436058" cy="2740564"/>
          </a:xfrm>
        </p:grpSpPr>
        <p:cxnSp>
          <p:nvCxnSpPr>
            <p:cNvPr id="107" name="直接连接符 106"/>
            <p:cNvCxnSpPr/>
            <p:nvPr/>
          </p:nvCxnSpPr>
          <p:spPr bwMode="auto">
            <a:xfrm flipV="1">
              <a:off x="1907643" y="2854076"/>
              <a:ext cx="1118721" cy="2294419"/>
            </a:xfrm>
            <a:prstGeom prst="line">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Text Box 75"/>
            <p:cNvSpPr txBox="1">
              <a:spLocks noChangeArrowheads="1"/>
            </p:cNvSpPr>
            <p:nvPr/>
          </p:nvSpPr>
          <p:spPr bwMode="auto">
            <a:xfrm>
              <a:off x="2864234" y="2407931"/>
              <a:ext cx="479467"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A50021"/>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A50021"/>
                  </a:solidFill>
                  <a:latin typeface="Times New Roman" panose="02020603050405020304" pitchFamily="18" charset="0"/>
                  <a:sym typeface="Symbol" panose="05050102010706020507" pitchFamily="18" charset="2"/>
                </a:rPr>
                <a:t>a</a:t>
              </a:r>
              <a:endParaRPr kumimoji="1" lang="en-US" altLang="zh-CN" sz="1800" b="1" baseline="-25000" dirty="0">
                <a:solidFill>
                  <a:srgbClr val="A50021"/>
                </a:solidFill>
                <a:latin typeface="Times New Roman" panose="02020603050405020304" pitchFamily="18" charset="0"/>
                <a:sym typeface="Symbol" panose="05050102010706020507" pitchFamily="18" charset="2"/>
              </a:endParaRPr>
            </a:p>
          </p:txBody>
        </p:sp>
      </p:grpSp>
      <p:grpSp>
        <p:nvGrpSpPr>
          <p:cNvPr id="20" name="组合 19"/>
          <p:cNvGrpSpPr/>
          <p:nvPr/>
        </p:nvGrpSpPr>
        <p:grpSpPr>
          <a:xfrm>
            <a:off x="1906474" y="2287104"/>
            <a:ext cx="2140961" cy="2852218"/>
            <a:chOff x="1906474" y="2287104"/>
            <a:chExt cx="2140961" cy="2852218"/>
          </a:xfrm>
        </p:grpSpPr>
        <p:cxnSp>
          <p:nvCxnSpPr>
            <p:cNvPr id="147" name="直接连接符 146"/>
            <p:cNvCxnSpPr/>
            <p:nvPr/>
          </p:nvCxnSpPr>
          <p:spPr bwMode="auto">
            <a:xfrm flipV="1">
              <a:off x="1906474" y="2727809"/>
              <a:ext cx="1835404" cy="241151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 Box 75"/>
            <p:cNvSpPr txBox="1">
              <a:spLocks noChangeArrowheads="1"/>
            </p:cNvSpPr>
            <p:nvPr/>
          </p:nvSpPr>
          <p:spPr bwMode="auto">
            <a:xfrm>
              <a:off x="3432914" y="2287104"/>
              <a:ext cx="614521"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n</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7" name="组合 6"/>
          <p:cNvGrpSpPr/>
          <p:nvPr/>
        </p:nvGrpSpPr>
        <p:grpSpPr>
          <a:xfrm>
            <a:off x="2154563" y="3911824"/>
            <a:ext cx="741661" cy="942912"/>
            <a:chOff x="2154563" y="3911824"/>
            <a:chExt cx="741661" cy="942912"/>
          </a:xfrm>
        </p:grpSpPr>
        <p:grpSp>
          <p:nvGrpSpPr>
            <p:cNvPr id="71" name="组合 70"/>
            <p:cNvGrpSpPr/>
            <p:nvPr/>
          </p:nvGrpSpPr>
          <p:grpSpPr>
            <a:xfrm rot="21151955">
              <a:off x="2154563" y="3949425"/>
              <a:ext cx="415385" cy="183249"/>
              <a:chOff x="6214148" y="1830833"/>
              <a:chExt cx="332186" cy="146545"/>
            </a:xfrm>
          </p:grpSpPr>
          <p:cxnSp>
            <p:nvCxnSpPr>
              <p:cNvPr id="76" name="直接连接符 75"/>
              <p:cNvCxnSpPr/>
              <p:nvPr/>
            </p:nvCxnSpPr>
            <p:spPr bwMode="auto">
              <a:xfrm rot="11211980" flipH="1" flipV="1">
                <a:off x="6214148" y="1905970"/>
                <a:ext cx="332186" cy="7140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任意多边形 76"/>
              <p:cNvSpPr/>
              <p:nvPr/>
            </p:nvSpPr>
            <p:spPr bwMode="auto">
              <a:xfrm rot="6659934" flipV="1">
                <a:off x="6233018" y="1830146"/>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78" name="任意多边形 77"/>
            <p:cNvSpPr/>
            <p:nvPr/>
          </p:nvSpPr>
          <p:spPr bwMode="auto">
            <a:xfrm rot="10342705" flipV="1">
              <a:off x="2349763" y="4104817"/>
              <a:ext cx="71693" cy="10769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1" name="Text Box 75"/>
            <p:cNvSpPr txBox="1">
              <a:spLocks noChangeArrowheads="1"/>
            </p:cNvSpPr>
            <p:nvPr/>
          </p:nvSpPr>
          <p:spPr bwMode="auto">
            <a:xfrm>
              <a:off x="2324147" y="4296687"/>
              <a:ext cx="572077" cy="558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r>
                <a:rPr kumimoji="1" lang="en-US" altLang="zh-CN" sz="2000" b="1" baseline="-25000" dirty="0" smtClean="0">
                  <a:solidFill>
                    <a:srgbClr val="003300"/>
                  </a:solidFill>
                  <a:latin typeface="Times New Roman" panose="02020603050405020304" pitchFamily="18" charset="0"/>
                  <a:sym typeface="Symbol" panose="05050102010706020507" pitchFamily="18" charset="2"/>
                </a:rPr>
                <a:t>1</a:t>
              </a:r>
              <a:endParaRPr kumimoji="1" lang="en-US" altLang="zh-CN" sz="2000" b="1" baseline="-25000" dirty="0">
                <a:solidFill>
                  <a:srgbClr val="003300"/>
                </a:solidFill>
                <a:latin typeface="Times New Roman" panose="02020603050405020304" pitchFamily="18" charset="0"/>
                <a:sym typeface="Symbol" panose="05050102010706020507" pitchFamily="18" charset="2"/>
              </a:endParaRPr>
            </a:p>
          </p:txBody>
        </p:sp>
        <p:cxnSp>
          <p:nvCxnSpPr>
            <p:cNvPr id="120" name="直接连接符 119"/>
            <p:cNvCxnSpPr/>
            <p:nvPr/>
          </p:nvCxnSpPr>
          <p:spPr bwMode="auto">
            <a:xfrm>
              <a:off x="2163796" y="4044986"/>
              <a:ext cx="359090" cy="377852"/>
            </a:xfrm>
            <a:prstGeom prst="line">
              <a:avLst/>
            </a:prstGeom>
            <a:noFill/>
            <a:ln w="28575"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Rectangle 74"/>
            <p:cNvSpPr>
              <a:spLocks noChangeArrowheads="1"/>
            </p:cNvSpPr>
            <p:nvPr/>
          </p:nvSpPr>
          <p:spPr bwMode="auto">
            <a:xfrm>
              <a:off x="2350084" y="3911824"/>
              <a:ext cx="425353" cy="52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21" name="组合 20"/>
          <p:cNvGrpSpPr/>
          <p:nvPr/>
        </p:nvGrpSpPr>
        <p:grpSpPr>
          <a:xfrm>
            <a:off x="4179012" y="2255760"/>
            <a:ext cx="1252798" cy="1204696"/>
            <a:chOff x="4179012" y="2255760"/>
            <a:chExt cx="1252798" cy="1204696"/>
          </a:xfrm>
        </p:grpSpPr>
        <p:sp>
          <p:nvSpPr>
            <p:cNvPr id="134" name="Text Box 75"/>
            <p:cNvSpPr txBox="1">
              <a:spLocks noChangeArrowheads="1"/>
            </p:cNvSpPr>
            <p:nvPr/>
          </p:nvSpPr>
          <p:spPr bwMode="auto">
            <a:xfrm>
              <a:off x="4631652" y="3049574"/>
              <a:ext cx="475478"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smtClean="0">
                  <a:solidFill>
                    <a:srgbClr val="000066"/>
                  </a:solidFill>
                  <a:latin typeface="Times New Roman" panose="02020603050405020304" pitchFamily="18" charset="0"/>
                  <a:sym typeface="Symbol" panose="05050102010706020507" pitchFamily="18" charset="2"/>
                </a:rPr>
                <a:t>E</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nvGrpSpPr>
            <p:cNvPr id="15" name="组合 14"/>
            <p:cNvGrpSpPr/>
            <p:nvPr/>
          </p:nvGrpSpPr>
          <p:grpSpPr>
            <a:xfrm>
              <a:off x="4179012" y="2255760"/>
              <a:ext cx="1252798" cy="1079786"/>
              <a:chOff x="4179012" y="2255760"/>
              <a:chExt cx="1252798" cy="1079786"/>
            </a:xfrm>
          </p:grpSpPr>
          <p:sp>
            <p:nvSpPr>
              <p:cNvPr id="137" name="Text Box 75"/>
              <p:cNvSpPr txBox="1">
                <a:spLocks noChangeArrowheads="1"/>
              </p:cNvSpPr>
              <p:nvPr/>
            </p:nvSpPr>
            <p:spPr bwMode="auto">
              <a:xfrm>
                <a:off x="4179012" y="2680799"/>
                <a:ext cx="630213" cy="513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smtClean="0">
                    <a:solidFill>
                      <a:srgbClr val="000066"/>
                    </a:solidFill>
                    <a:latin typeface="Times New Roman" panose="02020603050405020304" pitchFamily="18" charset="0"/>
                    <a:sym typeface="Symbol" panose="05050102010706020507" pitchFamily="18" charset="2"/>
                  </a:rPr>
                  <a:t>W</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38" name="Text Box 75"/>
              <p:cNvSpPr txBox="1">
                <a:spLocks noChangeArrowheads="1"/>
              </p:cNvSpPr>
              <p:nvPr/>
            </p:nvSpPr>
            <p:spPr bwMode="auto">
              <a:xfrm>
                <a:off x="4703175" y="2343648"/>
                <a:ext cx="572077" cy="513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smtClean="0">
                    <a:solidFill>
                      <a:srgbClr val="003300"/>
                    </a:solidFill>
                    <a:latin typeface="Times New Roman" panose="02020603050405020304" pitchFamily="18" charset="0"/>
                    <a:sym typeface="Symbol" panose="05050102010706020507" pitchFamily="18" charset="2"/>
                  </a:rPr>
                  <a:t>R</a:t>
                </a:r>
                <a:r>
                  <a:rPr kumimoji="1" lang="en-US" altLang="zh-CN" sz="1800" b="1" baseline="-25000" dirty="0" smtClean="0">
                    <a:solidFill>
                      <a:srgbClr val="003300"/>
                    </a:solidFill>
                    <a:latin typeface="Times New Roman" panose="02020603050405020304" pitchFamily="18" charset="0"/>
                    <a:sym typeface="Symbol" panose="05050102010706020507" pitchFamily="18" charset="2"/>
                  </a:rPr>
                  <a:t>1</a:t>
                </a:r>
                <a:endParaRPr kumimoji="1" lang="en-US" altLang="zh-CN" sz="1800" b="1" baseline="-25000" dirty="0">
                  <a:solidFill>
                    <a:srgbClr val="003300"/>
                  </a:solidFill>
                  <a:latin typeface="Times New Roman" panose="02020603050405020304" pitchFamily="18" charset="0"/>
                  <a:sym typeface="Symbol" panose="05050102010706020507" pitchFamily="18" charset="2"/>
                </a:endParaRPr>
              </a:p>
            </p:txBody>
          </p:sp>
          <p:sp>
            <p:nvSpPr>
              <p:cNvPr id="157" name="Text Box 75"/>
              <p:cNvSpPr txBox="1">
                <a:spLocks noChangeArrowheads="1"/>
              </p:cNvSpPr>
              <p:nvPr/>
            </p:nvSpPr>
            <p:spPr bwMode="auto">
              <a:xfrm>
                <a:off x="4263520" y="2917675"/>
                <a:ext cx="417665"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n</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sp>
            <p:nvSpPr>
              <p:cNvPr id="158" name="Text Box 75"/>
              <p:cNvSpPr txBox="1">
                <a:spLocks noChangeArrowheads="1"/>
              </p:cNvSpPr>
              <p:nvPr/>
            </p:nvSpPr>
            <p:spPr bwMode="auto">
              <a:xfrm>
                <a:off x="4933666" y="2597385"/>
                <a:ext cx="49814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cxnSp>
            <p:nvCxnSpPr>
              <p:cNvPr id="6" name="直接箭头连接符 5"/>
              <p:cNvCxnSpPr/>
              <p:nvPr/>
            </p:nvCxnSpPr>
            <p:spPr bwMode="auto">
              <a:xfrm>
                <a:off x="4655468" y="2593353"/>
                <a:ext cx="0" cy="595861"/>
              </a:xfrm>
              <a:prstGeom prst="straightConnector1">
                <a:avLst/>
              </a:prstGeom>
              <a:noFill/>
              <a:ln w="12700" cap="flat" cmpd="sng" algn="ctr">
                <a:solidFill>
                  <a:srgbClr val="000066"/>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flipV="1">
                <a:off x="4663518" y="2908324"/>
                <a:ext cx="315818" cy="271960"/>
              </a:xfrm>
              <a:prstGeom prst="straightConnector1">
                <a:avLst/>
              </a:prstGeom>
              <a:noFill/>
              <a:ln w="12700" cap="flat" cmpd="sng" algn="ctr">
                <a:solidFill>
                  <a:srgbClr val="000066"/>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4668671" y="2594678"/>
                <a:ext cx="315494" cy="331978"/>
              </a:xfrm>
              <a:prstGeom prst="line">
                <a:avLst/>
              </a:prstGeom>
              <a:noFill/>
              <a:ln w="12700" cap="flat" cmpd="sng" algn="ctr">
                <a:solidFill>
                  <a:srgbClr val="000066"/>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75"/>
              <p:cNvSpPr txBox="1">
                <a:spLocks noChangeArrowheads="1"/>
              </p:cNvSpPr>
              <p:nvPr/>
            </p:nvSpPr>
            <p:spPr bwMode="auto">
              <a:xfrm>
                <a:off x="4386347" y="2255760"/>
                <a:ext cx="34642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o</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grpSp>
      </p:grpSp>
      <p:grpSp>
        <p:nvGrpSpPr>
          <p:cNvPr id="29" name="组合 28"/>
          <p:cNvGrpSpPr/>
          <p:nvPr/>
        </p:nvGrpSpPr>
        <p:grpSpPr>
          <a:xfrm>
            <a:off x="4356100" y="2606189"/>
            <a:ext cx="1032162" cy="2174136"/>
            <a:chOff x="4356100" y="2606189"/>
            <a:chExt cx="1032162" cy="2174136"/>
          </a:xfrm>
        </p:grpSpPr>
        <p:cxnSp>
          <p:nvCxnSpPr>
            <p:cNvPr id="114" name="直接箭头连接符 113"/>
            <p:cNvCxnSpPr/>
            <p:nvPr/>
          </p:nvCxnSpPr>
          <p:spPr bwMode="auto">
            <a:xfrm flipV="1">
              <a:off x="4652421" y="3946830"/>
              <a:ext cx="735841" cy="633648"/>
            </a:xfrm>
            <a:prstGeom prst="straightConnector1">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a:off x="4664334" y="2606189"/>
              <a:ext cx="712019" cy="1353638"/>
            </a:xfrm>
            <a:prstGeom prst="line">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Text Box 75"/>
            <p:cNvSpPr txBox="1">
              <a:spLocks noChangeArrowheads="1"/>
            </p:cNvSpPr>
            <p:nvPr/>
          </p:nvSpPr>
          <p:spPr bwMode="auto">
            <a:xfrm>
              <a:off x="4356100" y="4335563"/>
              <a:ext cx="365349" cy="4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n</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160" name="Text Box 75"/>
            <p:cNvSpPr txBox="1">
              <a:spLocks noChangeArrowheads="1"/>
            </p:cNvSpPr>
            <p:nvPr/>
          </p:nvSpPr>
          <p:spPr bwMode="auto">
            <a:xfrm>
              <a:off x="4781053" y="4285536"/>
              <a:ext cx="463513"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err="1" smtClean="0">
                  <a:solidFill>
                    <a:srgbClr val="A50021"/>
                  </a:solidFill>
                  <a:latin typeface="Times New Roman" panose="02020603050405020304" pitchFamily="18" charset="0"/>
                  <a:sym typeface="Symbol" panose="05050102010706020507" pitchFamily="18" charset="2"/>
                </a:rPr>
                <a:t>E</a:t>
              </a:r>
              <a:r>
                <a:rPr kumimoji="1" lang="en-US" altLang="zh-CN" sz="1800" b="1" baseline="-25000" dirty="0" err="1" smtClean="0">
                  <a:solidFill>
                    <a:srgbClr val="A50021"/>
                  </a:solidFill>
                  <a:latin typeface="Times New Roman" panose="02020603050405020304" pitchFamily="18" charset="0"/>
                  <a:sym typeface="Symbol" panose="05050102010706020507" pitchFamily="18" charset="2"/>
                </a:rPr>
                <a:t>a</a:t>
              </a:r>
              <a:endParaRPr kumimoji="1" lang="en-US" altLang="zh-CN" sz="1800" b="1" baseline="-25000" dirty="0">
                <a:solidFill>
                  <a:srgbClr val="A50021"/>
                </a:solidFill>
                <a:latin typeface="Times New Roman" panose="02020603050405020304" pitchFamily="18" charset="0"/>
                <a:sym typeface="Symbol" panose="05050102010706020507" pitchFamily="18" charset="2"/>
              </a:endParaRPr>
            </a:p>
          </p:txBody>
        </p:sp>
      </p:grpSp>
      <p:grpSp>
        <p:nvGrpSpPr>
          <p:cNvPr id="24" name="组合 23"/>
          <p:cNvGrpSpPr/>
          <p:nvPr/>
        </p:nvGrpSpPr>
        <p:grpSpPr>
          <a:xfrm>
            <a:off x="4165093" y="2624138"/>
            <a:ext cx="1521476" cy="1533313"/>
            <a:chOff x="4165093" y="2624138"/>
            <a:chExt cx="1521476" cy="1533313"/>
          </a:xfrm>
        </p:grpSpPr>
        <p:cxnSp>
          <p:nvCxnSpPr>
            <p:cNvPr id="97" name="直接箭头连接符 96"/>
            <p:cNvCxnSpPr/>
            <p:nvPr/>
          </p:nvCxnSpPr>
          <p:spPr bwMode="auto">
            <a:xfrm>
              <a:off x="4653683" y="3113780"/>
              <a:ext cx="0" cy="862908"/>
            </a:xfrm>
            <a:prstGeom prst="straightConnector1">
              <a:avLst/>
            </a:prstGeom>
            <a:noFill/>
            <a:ln w="12700" cap="flat" cmpd="sng" algn="ctr">
              <a:solidFill>
                <a:srgbClr val="000066"/>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55"/>
            <p:cNvCxnSpPr/>
            <p:nvPr/>
          </p:nvCxnSpPr>
          <p:spPr bwMode="auto">
            <a:xfrm flipV="1">
              <a:off x="4665693" y="3462743"/>
              <a:ext cx="584372" cy="503216"/>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p:cNvCxnSpPr/>
            <p:nvPr/>
          </p:nvCxnSpPr>
          <p:spPr bwMode="auto">
            <a:xfrm>
              <a:off x="4681538" y="2624138"/>
              <a:ext cx="579113" cy="845811"/>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Text Box 75"/>
            <p:cNvSpPr txBox="1">
              <a:spLocks noChangeArrowheads="1"/>
            </p:cNvSpPr>
            <p:nvPr/>
          </p:nvSpPr>
          <p:spPr bwMode="auto">
            <a:xfrm>
              <a:off x="4165093" y="3545438"/>
              <a:ext cx="464057"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smtClean="0">
                  <a:solidFill>
                    <a:srgbClr val="000066"/>
                  </a:solidFill>
                  <a:latin typeface="Times New Roman" panose="02020603050405020304" pitchFamily="18" charset="0"/>
                  <a:sym typeface="Symbol" panose="05050102010706020507" pitchFamily="18" charset="2"/>
                </a:rPr>
                <a:t>W</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59" name="Text Box 75"/>
            <p:cNvSpPr txBox="1">
              <a:spLocks noChangeArrowheads="1"/>
            </p:cNvSpPr>
            <p:nvPr/>
          </p:nvSpPr>
          <p:spPr bwMode="auto">
            <a:xfrm>
              <a:off x="4694558" y="3746569"/>
              <a:ext cx="463513"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smtClean="0">
                  <a:solidFill>
                    <a:srgbClr val="000066"/>
                  </a:solidFill>
                  <a:latin typeface="Times New Roman" panose="02020603050405020304" pitchFamily="18" charset="0"/>
                  <a:sym typeface="Symbol" panose="05050102010706020507" pitchFamily="18" charset="2"/>
                </a:rPr>
                <a:t>E</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sp>
          <p:nvSpPr>
            <p:cNvPr id="168" name="Text Box 75"/>
            <p:cNvSpPr txBox="1">
              <a:spLocks noChangeArrowheads="1"/>
            </p:cNvSpPr>
            <p:nvPr/>
          </p:nvSpPr>
          <p:spPr bwMode="auto">
            <a:xfrm>
              <a:off x="5188425" y="3043212"/>
              <a:ext cx="498144"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38" name="组合 37"/>
          <p:cNvGrpSpPr/>
          <p:nvPr/>
        </p:nvGrpSpPr>
        <p:grpSpPr>
          <a:xfrm>
            <a:off x="4183881" y="2603610"/>
            <a:ext cx="1539083" cy="3070363"/>
            <a:chOff x="4183881" y="2603610"/>
            <a:chExt cx="1539083" cy="3070363"/>
          </a:xfrm>
        </p:grpSpPr>
        <p:sp>
          <p:nvSpPr>
            <p:cNvPr id="142" name="Text Box 75"/>
            <p:cNvSpPr txBox="1">
              <a:spLocks noChangeArrowheads="1"/>
            </p:cNvSpPr>
            <p:nvPr/>
          </p:nvSpPr>
          <p:spPr bwMode="auto">
            <a:xfrm>
              <a:off x="4183881" y="5288611"/>
              <a:ext cx="630213"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err="1" smtClean="0">
                  <a:solidFill>
                    <a:srgbClr val="000066"/>
                  </a:solidFill>
                  <a:latin typeface="Times New Roman" panose="02020603050405020304" pitchFamily="18" charset="0"/>
                  <a:sym typeface="Symbol" panose="05050102010706020507" pitchFamily="18" charset="2"/>
                </a:rPr>
                <a:t>W</a:t>
              </a:r>
              <a:r>
                <a:rPr kumimoji="1" lang="en-US" altLang="zh-CN" sz="1800" b="1" baseline="-25000" dirty="0" err="1" smtClean="0">
                  <a:solidFill>
                    <a:srgbClr val="000066"/>
                  </a:solidFill>
                  <a:latin typeface="Times New Roman" panose="02020603050405020304" pitchFamily="18" charset="0"/>
                  <a:sym typeface="Symbol" panose="05050102010706020507" pitchFamily="18" charset="2"/>
                </a:rPr>
                <a:t>n</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nvGrpSpPr>
            <p:cNvPr id="26" name="组合 25"/>
            <p:cNvGrpSpPr/>
            <p:nvPr/>
          </p:nvGrpSpPr>
          <p:grpSpPr>
            <a:xfrm>
              <a:off x="4651897" y="2603610"/>
              <a:ext cx="1071067" cy="2953728"/>
              <a:chOff x="4651897" y="2603610"/>
              <a:chExt cx="1071067" cy="2953728"/>
            </a:xfrm>
          </p:grpSpPr>
          <p:cxnSp>
            <p:nvCxnSpPr>
              <p:cNvPr id="63" name="直接箭头连接符 62"/>
              <p:cNvCxnSpPr/>
              <p:nvPr/>
            </p:nvCxnSpPr>
            <p:spPr bwMode="auto">
              <a:xfrm flipV="1">
                <a:off x="4667939" y="4993673"/>
                <a:ext cx="565987" cy="487386"/>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4662714" y="2603610"/>
                <a:ext cx="569725" cy="2387086"/>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箭头连接符 99"/>
              <p:cNvCxnSpPr/>
              <p:nvPr/>
            </p:nvCxnSpPr>
            <p:spPr bwMode="auto">
              <a:xfrm>
                <a:off x="4651897" y="4961665"/>
                <a:ext cx="0" cy="536968"/>
              </a:xfrm>
              <a:prstGeom prst="straightConnector1">
                <a:avLst/>
              </a:prstGeom>
              <a:noFill/>
              <a:ln w="12700" cap="flat" cmpd="sng" algn="ctr">
                <a:solidFill>
                  <a:srgbClr val="000066"/>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Text Box 75"/>
              <p:cNvSpPr txBox="1">
                <a:spLocks noChangeArrowheads="1"/>
              </p:cNvSpPr>
              <p:nvPr/>
            </p:nvSpPr>
            <p:spPr bwMode="auto">
              <a:xfrm>
                <a:off x="4779837" y="5171976"/>
                <a:ext cx="463513"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err="1" smtClean="0">
                    <a:solidFill>
                      <a:srgbClr val="000066"/>
                    </a:solidFill>
                    <a:latin typeface="Times New Roman" panose="02020603050405020304" pitchFamily="18" charset="0"/>
                    <a:sym typeface="Symbol" panose="05050102010706020507" pitchFamily="18" charset="2"/>
                  </a:rPr>
                  <a:t>E</a:t>
                </a:r>
                <a:r>
                  <a:rPr kumimoji="1" lang="en-US" altLang="zh-CN" sz="1800" b="1" baseline="-25000" dirty="0" err="1" smtClean="0">
                    <a:solidFill>
                      <a:srgbClr val="000066"/>
                    </a:solidFill>
                    <a:latin typeface="Times New Roman" panose="02020603050405020304" pitchFamily="18" charset="0"/>
                    <a:sym typeface="Symbol" panose="05050102010706020507" pitchFamily="18" charset="2"/>
                  </a:rPr>
                  <a:t>n</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sp>
            <p:nvSpPr>
              <p:cNvPr id="169" name="Text Box 75"/>
              <p:cNvSpPr txBox="1">
                <a:spLocks noChangeArrowheads="1"/>
              </p:cNvSpPr>
              <p:nvPr/>
            </p:nvSpPr>
            <p:spPr bwMode="auto">
              <a:xfrm>
                <a:off x="5224820" y="4834671"/>
                <a:ext cx="498144"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err="1"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grpSp>
      <p:grpSp>
        <p:nvGrpSpPr>
          <p:cNvPr id="33" name="组合 32"/>
          <p:cNvGrpSpPr/>
          <p:nvPr/>
        </p:nvGrpSpPr>
        <p:grpSpPr>
          <a:xfrm>
            <a:off x="6356959" y="4287398"/>
            <a:ext cx="716675" cy="655053"/>
            <a:chOff x="6356959" y="4287398"/>
            <a:chExt cx="716675" cy="655053"/>
          </a:xfrm>
        </p:grpSpPr>
        <p:sp>
          <p:nvSpPr>
            <p:cNvPr id="174" name="Rectangle 74"/>
            <p:cNvSpPr>
              <a:spLocks noChangeArrowheads="1"/>
            </p:cNvSpPr>
            <p:nvPr/>
          </p:nvSpPr>
          <p:spPr bwMode="auto">
            <a:xfrm>
              <a:off x="6356959" y="4309602"/>
              <a:ext cx="387096" cy="49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175" name="Text Box 75"/>
            <p:cNvSpPr txBox="1">
              <a:spLocks noChangeArrowheads="1"/>
            </p:cNvSpPr>
            <p:nvPr/>
          </p:nvSpPr>
          <p:spPr bwMode="auto">
            <a:xfrm>
              <a:off x="6478096" y="4524580"/>
              <a:ext cx="59553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C00000"/>
                  </a:solidFill>
                  <a:latin typeface="Times New Roman" panose="02020603050405020304" pitchFamily="18" charset="0"/>
                  <a:sym typeface="Symbol" panose="05050102010706020507" pitchFamily="18" charset="2"/>
                </a:rPr>
                <a:t>E</a:t>
              </a:r>
              <a:r>
                <a:rPr kumimoji="1" lang="en-US" altLang="zh-CN" sz="20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cxnSp>
          <p:nvCxnSpPr>
            <p:cNvPr id="177" name="直接连接符 176"/>
            <p:cNvCxnSpPr/>
            <p:nvPr/>
          </p:nvCxnSpPr>
          <p:spPr bwMode="auto">
            <a:xfrm flipH="1">
              <a:off x="6579061" y="4364151"/>
              <a:ext cx="407607" cy="8929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任意多边形 177"/>
            <p:cNvSpPr/>
            <p:nvPr/>
          </p:nvSpPr>
          <p:spPr bwMode="auto">
            <a:xfrm rot="4552046">
              <a:off x="6893390" y="4287398"/>
              <a:ext cx="90033" cy="90033"/>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9" name="任意多边形 178"/>
            <p:cNvSpPr/>
            <p:nvPr/>
          </p:nvSpPr>
          <p:spPr bwMode="auto">
            <a:xfrm>
              <a:off x="6690942" y="4426546"/>
              <a:ext cx="80097" cy="12261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94" name="直接箭头连接符 193"/>
            <p:cNvCxnSpPr/>
            <p:nvPr/>
          </p:nvCxnSpPr>
          <p:spPr bwMode="auto">
            <a:xfrm flipV="1">
              <a:off x="6679321" y="4364878"/>
              <a:ext cx="315818" cy="271960"/>
            </a:xfrm>
            <a:prstGeom prst="straightConnector1">
              <a:avLst/>
            </a:prstGeom>
            <a:noFill/>
            <a:ln w="28575" cap="flat" cmpd="sng" algn="ctr">
              <a:solidFill>
                <a:srgbClr val="C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5" name="组合 34"/>
          <p:cNvGrpSpPr/>
          <p:nvPr/>
        </p:nvGrpSpPr>
        <p:grpSpPr>
          <a:xfrm>
            <a:off x="6965394" y="3479117"/>
            <a:ext cx="462850" cy="1104959"/>
            <a:chOff x="6965394" y="3479117"/>
            <a:chExt cx="462850" cy="1104959"/>
          </a:xfrm>
        </p:grpSpPr>
        <p:cxnSp>
          <p:nvCxnSpPr>
            <p:cNvPr id="206" name="直接连接符 205"/>
            <p:cNvCxnSpPr/>
            <p:nvPr/>
          </p:nvCxnSpPr>
          <p:spPr bwMode="auto">
            <a:xfrm flipV="1">
              <a:off x="7000294" y="3479117"/>
              <a:ext cx="427950" cy="877694"/>
            </a:xfrm>
            <a:prstGeom prst="line">
              <a:avLst/>
            </a:prstGeom>
            <a:noFill/>
            <a:ln w="19050" cap="flat" cmpd="sng" algn="ctr">
              <a:solidFill>
                <a:srgbClr val="C000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8" name="Text Box 75"/>
            <p:cNvSpPr txBox="1">
              <a:spLocks noChangeArrowheads="1"/>
            </p:cNvSpPr>
            <p:nvPr/>
          </p:nvSpPr>
          <p:spPr bwMode="auto">
            <a:xfrm>
              <a:off x="6965394" y="4137800"/>
              <a:ext cx="41341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o</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grpSp>
      <p:sp>
        <p:nvSpPr>
          <p:cNvPr id="209" name="Text Box 4"/>
          <p:cNvSpPr txBox="1">
            <a:spLocks noChangeArrowheads="1"/>
          </p:cNvSpPr>
          <p:nvPr/>
        </p:nvSpPr>
        <p:spPr bwMode="auto">
          <a:xfrm>
            <a:off x="682456" y="1353726"/>
            <a:ext cx="38179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smtClean="0">
                <a:solidFill>
                  <a:srgbClr val="000066"/>
                </a:solidFill>
                <a:ea typeface="幼圆" pitchFamily="49" charset="-122"/>
              </a:rPr>
              <a:t>1</a:t>
            </a:r>
            <a:r>
              <a:rPr lang="zh-CN" altLang="en-US" sz="2000" b="1" dirty="0" smtClean="0">
                <a:solidFill>
                  <a:srgbClr val="000066"/>
                </a:solidFill>
                <a:ea typeface="幼圆" pitchFamily="49" charset="-122"/>
              </a:rPr>
              <a:t>）作不同</a:t>
            </a:r>
            <a:r>
              <a:rPr kumimoji="1" lang="en-US" altLang="zh-CN" sz="2000" b="1" i="1" dirty="0" smtClean="0">
                <a:solidFill>
                  <a:srgbClr val="000066"/>
                </a:solidFill>
                <a:sym typeface="Symbol" panose="05050102010706020507" pitchFamily="18" charset="2"/>
              </a:rPr>
              <a:t> </a:t>
            </a:r>
            <a:r>
              <a:rPr lang="zh-CN" altLang="en-US" sz="2000" b="1" dirty="0" smtClean="0">
                <a:solidFill>
                  <a:srgbClr val="000066"/>
                </a:solidFill>
                <a:ea typeface="幼圆" pitchFamily="49" charset="-122"/>
              </a:rPr>
              <a:t>楔体的力三角形</a:t>
            </a:r>
            <a:endParaRPr lang="zh-CN" altLang="en-US" sz="2000" b="1" i="1" dirty="0">
              <a:solidFill>
                <a:srgbClr val="000066"/>
              </a:solidFill>
              <a:ea typeface="幼圆" pitchFamily="49" charset="-122"/>
            </a:endParaRPr>
          </a:p>
        </p:txBody>
      </p:sp>
      <p:sp>
        <p:nvSpPr>
          <p:cNvPr id="211" name="Text Box 4"/>
          <p:cNvSpPr txBox="1">
            <a:spLocks noChangeArrowheads="1"/>
          </p:cNvSpPr>
          <p:nvPr/>
        </p:nvSpPr>
        <p:spPr bwMode="auto">
          <a:xfrm>
            <a:off x="659928" y="1848030"/>
            <a:ext cx="43175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a:solidFill>
                  <a:srgbClr val="000066"/>
                </a:solidFill>
                <a:ea typeface="幼圆" pitchFamily="49" charset="-122"/>
              </a:rPr>
              <a:t>2</a:t>
            </a:r>
            <a:r>
              <a:rPr lang="zh-CN" altLang="en-US" sz="2000" b="1" dirty="0" smtClean="0">
                <a:solidFill>
                  <a:srgbClr val="000066"/>
                </a:solidFill>
                <a:ea typeface="幼圆" pitchFamily="49" charset="-122"/>
              </a:rPr>
              <a:t>）连三角形顶点</a:t>
            </a:r>
            <a:r>
              <a:rPr lang="en-US" altLang="zh-CN" sz="2000" b="1" dirty="0" smtClean="0">
                <a:solidFill>
                  <a:srgbClr val="000066"/>
                </a:solidFill>
                <a:ea typeface="幼圆" pitchFamily="49" charset="-122"/>
              </a:rPr>
              <a:t>m</a:t>
            </a:r>
            <a:r>
              <a:rPr lang="en-US" altLang="zh-CN" sz="2000" b="1" baseline="-25000" dirty="0" smtClean="0">
                <a:solidFill>
                  <a:srgbClr val="000066"/>
                </a:solidFill>
                <a:ea typeface="幼圆" pitchFamily="49" charset="-122"/>
              </a:rPr>
              <a:t>1</a:t>
            </a:r>
            <a:r>
              <a:rPr lang="zh-CN" altLang="en-US" sz="2000" b="1" dirty="0" smtClean="0">
                <a:solidFill>
                  <a:srgbClr val="000066"/>
                </a:solidFill>
                <a:ea typeface="幼圆" pitchFamily="49" charset="-122"/>
              </a:rPr>
              <a:t>、</a:t>
            </a:r>
            <a:r>
              <a:rPr lang="en-US" altLang="zh-CN" sz="2000" b="1" dirty="0" smtClean="0">
                <a:solidFill>
                  <a:srgbClr val="000066"/>
                </a:solidFill>
                <a:ea typeface="幼圆" pitchFamily="49" charset="-122"/>
              </a:rPr>
              <a:t>m</a:t>
            </a:r>
            <a:r>
              <a:rPr lang="en-US" altLang="zh-CN" sz="2000" b="1" baseline="-25000" dirty="0" smtClean="0">
                <a:solidFill>
                  <a:srgbClr val="000066"/>
                </a:solidFill>
                <a:ea typeface="幼圆" pitchFamily="49" charset="-122"/>
              </a:rPr>
              <a:t>2</a:t>
            </a:r>
            <a:r>
              <a:rPr lang="zh-CN" altLang="en-US" sz="2000" b="1" dirty="0" smtClean="0">
                <a:solidFill>
                  <a:srgbClr val="000066"/>
                </a:solidFill>
                <a:ea typeface="幼圆" pitchFamily="49" charset="-122"/>
              </a:rPr>
              <a:t>、</a:t>
            </a:r>
            <a:r>
              <a:rPr lang="en-US" altLang="zh-CN" sz="2000" b="1" dirty="0" err="1" smtClean="0">
                <a:solidFill>
                  <a:srgbClr val="000066"/>
                </a:solidFill>
                <a:ea typeface="幼圆" pitchFamily="49" charset="-122"/>
              </a:rPr>
              <a:t>m</a:t>
            </a:r>
            <a:r>
              <a:rPr lang="en-US" altLang="zh-CN" sz="2000" b="1" baseline="-25000" dirty="0" err="1" smtClean="0">
                <a:solidFill>
                  <a:srgbClr val="000066"/>
                </a:solidFill>
                <a:ea typeface="幼圆" pitchFamily="49" charset="-122"/>
              </a:rPr>
              <a:t>n</a:t>
            </a:r>
            <a:r>
              <a:rPr lang="zh-CN" altLang="en-US" sz="2000" b="1" dirty="0" smtClean="0">
                <a:solidFill>
                  <a:srgbClr val="000066"/>
                </a:solidFill>
                <a:ea typeface="幼圆" pitchFamily="49" charset="-122"/>
              </a:rPr>
              <a:t>成曲线</a:t>
            </a:r>
            <a:endParaRPr lang="zh-CN" altLang="en-US" sz="2000" b="1" i="1" baseline="-25000" dirty="0">
              <a:solidFill>
                <a:srgbClr val="000066"/>
              </a:solidFill>
              <a:ea typeface="幼圆" pitchFamily="49" charset="-122"/>
            </a:endParaRPr>
          </a:p>
        </p:txBody>
      </p:sp>
      <p:sp>
        <p:nvSpPr>
          <p:cNvPr id="212" name="Text Box 4"/>
          <p:cNvSpPr txBox="1">
            <a:spLocks noChangeArrowheads="1"/>
          </p:cNvSpPr>
          <p:nvPr/>
        </p:nvSpPr>
        <p:spPr bwMode="auto">
          <a:xfrm>
            <a:off x="5471791" y="1260955"/>
            <a:ext cx="34177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smtClean="0">
                <a:solidFill>
                  <a:srgbClr val="000066"/>
                </a:solidFill>
                <a:ea typeface="幼圆" pitchFamily="49" charset="-122"/>
              </a:rPr>
              <a:t>3</a:t>
            </a:r>
            <a:r>
              <a:rPr lang="zh-CN" altLang="en-US" sz="2000" b="1" dirty="0" smtClean="0">
                <a:solidFill>
                  <a:srgbClr val="000066"/>
                </a:solidFill>
                <a:ea typeface="幼圆" pitchFamily="49" charset="-122"/>
              </a:rPr>
              <a:t>）作曲线垂直切线得切点</a:t>
            </a:r>
            <a:r>
              <a:rPr lang="en-US" altLang="zh-CN" sz="2000" b="1" dirty="0" smtClean="0">
                <a:solidFill>
                  <a:srgbClr val="000066"/>
                </a:solidFill>
                <a:ea typeface="幼圆" pitchFamily="49" charset="-122"/>
              </a:rPr>
              <a:t>m</a:t>
            </a:r>
            <a:r>
              <a:rPr lang="zh-CN" altLang="en-US" sz="2000" b="1" dirty="0" smtClean="0">
                <a:solidFill>
                  <a:srgbClr val="000066"/>
                </a:solidFill>
                <a:ea typeface="幼圆" pitchFamily="49" charset="-122"/>
              </a:rPr>
              <a:t>，</a:t>
            </a:r>
            <a:r>
              <a:rPr lang="en-US" altLang="zh-CN" sz="2000" b="1" dirty="0" err="1" smtClean="0">
                <a:solidFill>
                  <a:srgbClr val="000066"/>
                </a:solidFill>
                <a:ea typeface="幼圆" pitchFamily="49" charset="-122"/>
              </a:rPr>
              <a:t>mn</a:t>
            </a:r>
            <a:r>
              <a:rPr lang="zh-CN" altLang="en-US" sz="2000" b="1" dirty="0" smtClean="0">
                <a:solidFill>
                  <a:srgbClr val="000066"/>
                </a:solidFill>
                <a:ea typeface="幼圆" pitchFamily="49" charset="-122"/>
              </a:rPr>
              <a:t>即对应主动土压力</a:t>
            </a:r>
            <a:r>
              <a:rPr lang="en-US" altLang="zh-CN" sz="2000" b="1" i="1" dirty="0" err="1" smtClean="0">
                <a:solidFill>
                  <a:srgbClr val="000066"/>
                </a:solidFill>
                <a:ea typeface="幼圆" pitchFamily="49" charset="-122"/>
              </a:rPr>
              <a:t>E</a:t>
            </a:r>
            <a:r>
              <a:rPr lang="en-US" altLang="zh-CN" sz="2000" b="1" i="1" baseline="-25000" dirty="0" err="1" smtClean="0">
                <a:solidFill>
                  <a:srgbClr val="000066"/>
                </a:solidFill>
                <a:ea typeface="幼圆" pitchFamily="49" charset="-122"/>
              </a:rPr>
              <a:t>a</a:t>
            </a:r>
            <a:endParaRPr lang="zh-CN" altLang="en-US" sz="2000" b="1" i="1" baseline="-25000" dirty="0">
              <a:solidFill>
                <a:srgbClr val="000066"/>
              </a:solidFill>
              <a:ea typeface="幼圆" pitchFamily="49" charset="-122"/>
            </a:endParaRPr>
          </a:p>
        </p:txBody>
      </p:sp>
      <p:sp>
        <p:nvSpPr>
          <p:cNvPr id="214" name="Text Box 4"/>
          <p:cNvSpPr txBox="1">
            <a:spLocks noChangeArrowheads="1"/>
          </p:cNvSpPr>
          <p:nvPr/>
        </p:nvSpPr>
        <p:spPr bwMode="auto">
          <a:xfrm>
            <a:off x="5433360" y="1969946"/>
            <a:ext cx="34177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smtClean="0">
                <a:solidFill>
                  <a:srgbClr val="000066"/>
                </a:solidFill>
                <a:ea typeface="幼圆" pitchFamily="49" charset="-122"/>
              </a:rPr>
              <a:t>4</a:t>
            </a:r>
            <a:r>
              <a:rPr lang="zh-CN" altLang="en-US" sz="2000" b="1" dirty="0" smtClean="0">
                <a:solidFill>
                  <a:srgbClr val="000066"/>
                </a:solidFill>
                <a:ea typeface="幼圆" pitchFamily="49" charset="-122"/>
              </a:rPr>
              <a:t>）根据太沙基法确定作用点</a:t>
            </a:r>
            <a:endParaRPr lang="zh-CN" altLang="en-US" sz="2000" b="1" i="1" baseline="-25000" dirty="0">
              <a:solidFill>
                <a:srgbClr val="000066"/>
              </a:solidFill>
              <a:ea typeface="幼圆" pitchFamily="49" charset="-122"/>
            </a:endParaRPr>
          </a:p>
        </p:txBody>
      </p:sp>
      <p:grpSp>
        <p:nvGrpSpPr>
          <p:cNvPr id="34" name="组合 33"/>
          <p:cNvGrpSpPr/>
          <p:nvPr/>
        </p:nvGrpSpPr>
        <p:grpSpPr>
          <a:xfrm>
            <a:off x="7398588" y="3167291"/>
            <a:ext cx="1186910" cy="848568"/>
            <a:chOff x="7398588" y="3167291"/>
            <a:chExt cx="1186910" cy="848568"/>
          </a:xfrm>
        </p:grpSpPr>
        <p:grpSp>
          <p:nvGrpSpPr>
            <p:cNvPr id="31" name="组合 30"/>
            <p:cNvGrpSpPr/>
            <p:nvPr/>
          </p:nvGrpSpPr>
          <p:grpSpPr>
            <a:xfrm>
              <a:off x="7410617" y="3167291"/>
              <a:ext cx="1174881" cy="848568"/>
              <a:chOff x="7410617" y="3167291"/>
              <a:chExt cx="1174881" cy="848568"/>
            </a:xfrm>
          </p:grpSpPr>
          <p:sp>
            <p:nvSpPr>
              <p:cNvPr id="207" name="Text Box 75"/>
              <p:cNvSpPr txBox="1">
                <a:spLocks noChangeArrowheads="1"/>
              </p:cNvSpPr>
              <p:nvPr/>
            </p:nvSpPr>
            <p:spPr bwMode="auto">
              <a:xfrm>
                <a:off x="7410617" y="3167291"/>
                <a:ext cx="32600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o</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215" name="Text Box 75"/>
              <p:cNvSpPr txBox="1">
                <a:spLocks noChangeArrowheads="1"/>
              </p:cNvSpPr>
              <p:nvPr/>
            </p:nvSpPr>
            <p:spPr bwMode="auto">
              <a:xfrm>
                <a:off x="7838614" y="3645693"/>
                <a:ext cx="746884" cy="37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重心</a:t>
                </a:r>
                <a:endParaRPr kumimoji="1" lang="en-US" altLang="zh-CN" sz="18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153" name="直接连接符 152"/>
              <p:cNvCxnSpPr>
                <a:endCxn id="215" idx="1"/>
              </p:cNvCxnSpPr>
              <p:nvPr/>
            </p:nvCxnSpPr>
            <p:spPr bwMode="auto">
              <a:xfrm>
                <a:off x="7486154" y="3565859"/>
                <a:ext cx="352460" cy="26491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05" name="椭圆 204"/>
            <p:cNvSpPr/>
            <p:nvPr/>
          </p:nvSpPr>
          <p:spPr bwMode="auto">
            <a:xfrm>
              <a:off x="7398588" y="3462491"/>
              <a:ext cx="57170" cy="57170"/>
            </a:xfrm>
            <a:prstGeom prst="ellipse">
              <a:avLst/>
            </a:prstGeom>
            <a:solidFill>
              <a:schemeClr val="accent2"/>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21"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库伦土压力图解法</a:t>
            </a:r>
          </a:p>
        </p:txBody>
      </p:sp>
    </p:spTree>
    <p:extLst>
      <p:ext uri="{BB962C8B-B14F-4D97-AF65-F5344CB8AC3E}">
        <p14:creationId xmlns:p14="http://schemas.microsoft.com/office/powerpoint/2010/main" val="14076185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slide(fromLeft)">
                                      <p:cBhvr>
                                        <p:cTn id="7" dur="500"/>
                                        <p:tgtEl>
                                          <p:spTgt spid="2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down)">
                                      <p:cBhvr>
                                        <p:cTn id="12" dur="500"/>
                                        <p:tgtEl>
                                          <p:spTgt spid="39"/>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repeatCount="300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par>
                                <p:cTn id="21" presetID="22" presetClass="entr" presetSubtype="1" repeatCount="300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up)">
                                      <p:cBhvr>
                                        <p:cTn id="23" dur="500"/>
                                        <p:tgtEl>
                                          <p:spTgt spid="12"/>
                                        </p:tgtEl>
                                      </p:cBhvr>
                                    </p:animEffect>
                                  </p:childTnLst>
                                </p:cTn>
                              </p:par>
                              <p:par>
                                <p:cTn id="24" presetID="22" presetClass="entr" presetSubtype="1" repeatCount="300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500"/>
                                        <p:tgtEl>
                                          <p:spTgt spid="7"/>
                                        </p:tgtEl>
                                      </p:cBhvr>
                                    </p:animEffect>
                                  </p:childTnLst>
                                </p:cTn>
                              </p:par>
                            </p:childTnLst>
                          </p:cTn>
                        </p:par>
                        <p:par>
                          <p:cTn id="27" fill="hold">
                            <p:stCondLst>
                              <p:cond delay="1500"/>
                            </p:stCondLst>
                            <p:childTnLst>
                              <p:par>
                                <p:cTn id="28" presetID="22" presetClass="entr" presetSubtype="8" repeatCount="3000" fill="hold"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childTnLst>
                          </p:cTn>
                        </p:par>
                        <p:par>
                          <p:cTn id="36" fill="hold">
                            <p:stCondLst>
                              <p:cond delay="500"/>
                            </p:stCondLst>
                            <p:childTnLst>
                              <p:par>
                                <p:cTn id="37" presetID="22" presetClass="entr" presetSubtype="1" repeatCount="300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46"/>
                                        </p:tgtEl>
                                        <p:attrNameLst>
                                          <p:attrName>style.visibility</p:attrName>
                                        </p:attrNameLst>
                                      </p:cBhvr>
                                      <p:to>
                                        <p:strVal val="visible"/>
                                      </p:to>
                                    </p:set>
                                    <p:animEffect transition="in" filter="wipe(down)">
                                      <p:cBhvr>
                                        <p:cTn id="44" dur="500"/>
                                        <p:tgtEl>
                                          <p:spTgt spid="146"/>
                                        </p:tgtEl>
                                      </p:cBhvr>
                                    </p:animEffect>
                                  </p:childTnLst>
                                </p:cTn>
                              </p:par>
                              <p:par>
                                <p:cTn id="45" presetID="22" presetClass="entr" presetSubtype="1" repeatCount="300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500"/>
                                        <p:tgtEl>
                                          <p:spTgt spid="25"/>
                                        </p:tgtEl>
                                      </p:cBhvr>
                                    </p:animEffect>
                                  </p:childTnLst>
                                </p:cTn>
                              </p:par>
                            </p:childTnLst>
                          </p:cTn>
                        </p:par>
                        <p:par>
                          <p:cTn id="48" fill="hold">
                            <p:stCondLst>
                              <p:cond delay="1500"/>
                            </p:stCondLst>
                            <p:childTnLst>
                              <p:par>
                                <p:cTn id="49" presetID="22" presetClass="entr" presetSubtype="4"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childTnLst>
                          </p:cTn>
                        </p:par>
                        <p:par>
                          <p:cTn id="52" fill="hold">
                            <p:stCondLst>
                              <p:cond delay="2000"/>
                            </p:stCondLst>
                            <p:childTnLst>
                              <p:par>
                                <p:cTn id="53" presetID="22" presetClass="entr" presetSubtype="1" fill="hold" nodeType="after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up)">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grpId="0" nodeType="clickEffect">
                                  <p:stCondLst>
                                    <p:cond delay="0"/>
                                  </p:stCondLst>
                                  <p:childTnLst>
                                    <p:set>
                                      <p:cBhvr>
                                        <p:cTn id="59" dur="1" fill="hold">
                                          <p:stCondLst>
                                            <p:cond delay="0"/>
                                          </p:stCondLst>
                                        </p:cTn>
                                        <p:tgtEl>
                                          <p:spTgt spid="211"/>
                                        </p:tgtEl>
                                        <p:attrNameLst>
                                          <p:attrName>style.visibility</p:attrName>
                                        </p:attrNameLst>
                                      </p:cBhvr>
                                      <p:to>
                                        <p:strVal val="visible"/>
                                      </p:to>
                                    </p:set>
                                    <p:animEffect transition="in" filter="slide(fromLeft)">
                                      <p:cBhvr>
                                        <p:cTn id="60" dur="500"/>
                                        <p:tgtEl>
                                          <p:spTgt spid="211"/>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wipe(up)">
                                      <p:cBhvr>
                                        <p:cTn id="64" dur="20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212"/>
                                        </p:tgtEl>
                                        <p:attrNameLst>
                                          <p:attrName>style.visibility</p:attrName>
                                        </p:attrNameLst>
                                      </p:cBhvr>
                                      <p:to>
                                        <p:strVal val="visible"/>
                                      </p:to>
                                    </p:set>
                                    <p:animEffect transition="in" filter="slide(fromLeft)">
                                      <p:cBhvr>
                                        <p:cTn id="69" dur="500"/>
                                        <p:tgtEl>
                                          <p:spTgt spid="212"/>
                                        </p:tgtEl>
                                      </p:cBhvr>
                                    </p:animEffect>
                                  </p:childTnLst>
                                </p:cTn>
                              </p:par>
                            </p:childTnLst>
                          </p:cTn>
                        </p:par>
                        <p:par>
                          <p:cTn id="70" fill="hold">
                            <p:stCondLst>
                              <p:cond delay="500"/>
                            </p:stCondLst>
                            <p:childTnLst>
                              <p:par>
                                <p:cTn id="71" presetID="22" presetClass="entr" presetSubtype="1" fill="hold" nodeType="afterEffect">
                                  <p:stCondLst>
                                    <p:cond delay="0"/>
                                  </p:stCondLst>
                                  <p:childTnLst>
                                    <p:set>
                                      <p:cBhvr>
                                        <p:cTn id="72" dur="1" fill="hold">
                                          <p:stCondLst>
                                            <p:cond delay="0"/>
                                          </p:stCondLst>
                                        </p:cTn>
                                        <p:tgtEl>
                                          <p:spTgt spid="101"/>
                                        </p:tgtEl>
                                        <p:attrNameLst>
                                          <p:attrName>style.visibility</p:attrName>
                                        </p:attrNameLst>
                                      </p:cBhvr>
                                      <p:to>
                                        <p:strVal val="visible"/>
                                      </p:to>
                                    </p:set>
                                    <p:animEffect transition="in" filter="wipe(up)">
                                      <p:cBhvr>
                                        <p:cTn id="73" dur="1000"/>
                                        <p:tgtEl>
                                          <p:spTgt spid="101"/>
                                        </p:tgtEl>
                                      </p:cBhvr>
                                    </p:animEffect>
                                  </p:childTnLst>
                                </p:cTn>
                              </p:par>
                              <p:par>
                                <p:cTn id="74" presetID="22" presetClass="entr" presetSubtype="1" repeatCount="300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ipe(up)">
                                      <p:cBhvr>
                                        <p:cTn id="76" dur="500"/>
                                        <p:tgtEl>
                                          <p:spTgt spid="27"/>
                                        </p:tgtEl>
                                      </p:cBhvr>
                                    </p:animEffect>
                                  </p:childTnLst>
                                </p:cTn>
                              </p:par>
                            </p:childTnLst>
                          </p:cTn>
                        </p:par>
                        <p:par>
                          <p:cTn id="77" fill="hold">
                            <p:stCondLst>
                              <p:cond delay="2000"/>
                            </p:stCondLst>
                            <p:childTnLst>
                              <p:par>
                                <p:cTn id="78" presetID="22" presetClass="entr" presetSubtype="4" fill="hold"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down)">
                                      <p:cBhvr>
                                        <p:cTn id="80" dur="500"/>
                                        <p:tgtEl>
                                          <p:spTgt spid="30"/>
                                        </p:tgtEl>
                                      </p:cBhvr>
                                    </p:animEffect>
                                  </p:childTnLst>
                                </p:cTn>
                              </p:par>
                              <p:par>
                                <p:cTn id="81" presetID="22" presetClass="entr" presetSubtype="2"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right)">
                                      <p:cBhvr>
                                        <p:cTn id="83" dur="500"/>
                                        <p:tgtEl>
                                          <p:spTgt spid="29"/>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8" fill="hold" grpId="0" nodeType="clickEffect">
                                  <p:stCondLst>
                                    <p:cond delay="0"/>
                                  </p:stCondLst>
                                  <p:childTnLst>
                                    <p:set>
                                      <p:cBhvr>
                                        <p:cTn id="87" dur="1" fill="hold">
                                          <p:stCondLst>
                                            <p:cond delay="0"/>
                                          </p:stCondLst>
                                        </p:cTn>
                                        <p:tgtEl>
                                          <p:spTgt spid="214"/>
                                        </p:tgtEl>
                                        <p:attrNameLst>
                                          <p:attrName>style.visibility</p:attrName>
                                        </p:attrNameLst>
                                      </p:cBhvr>
                                      <p:to>
                                        <p:strVal val="visible"/>
                                      </p:to>
                                    </p:set>
                                    <p:animEffect transition="in" filter="slide(fromLeft)">
                                      <p:cBhvr>
                                        <p:cTn id="88" dur="500"/>
                                        <p:tgtEl>
                                          <p:spTgt spid="214"/>
                                        </p:tgtEl>
                                      </p:cBhvr>
                                    </p:animEffect>
                                  </p:childTnLst>
                                </p:cTn>
                              </p:par>
                            </p:childTnLst>
                          </p:cTn>
                        </p:par>
                        <p:par>
                          <p:cTn id="89" fill="hold">
                            <p:stCondLst>
                              <p:cond delay="500"/>
                            </p:stCondLst>
                            <p:childTnLst>
                              <p:par>
                                <p:cTn id="90" presetID="1" presetClass="entr" presetSubtype="0" fill="hold" nodeType="afterEffect">
                                  <p:stCondLst>
                                    <p:cond delay="0"/>
                                  </p:stCondLst>
                                  <p:childTnLst>
                                    <p:set>
                                      <p:cBhvr>
                                        <p:cTn id="91" dur="1" fill="hold">
                                          <p:stCondLst>
                                            <p:cond delay="0"/>
                                          </p:stCondLst>
                                        </p:cTn>
                                        <p:tgtEl>
                                          <p:spTgt spid="40"/>
                                        </p:tgtEl>
                                        <p:attrNameLst>
                                          <p:attrName>style.visibility</p:attrName>
                                        </p:attrNameLst>
                                      </p:cBhvr>
                                      <p:to>
                                        <p:strVal val="visible"/>
                                      </p:to>
                                    </p:set>
                                  </p:childTnLst>
                                </p:cTn>
                              </p:par>
                            </p:childTnLst>
                          </p:cTn>
                        </p:par>
                        <p:par>
                          <p:cTn id="92" fill="hold">
                            <p:stCondLst>
                              <p:cond delay="500"/>
                            </p:stCondLst>
                            <p:childTnLst>
                              <p:par>
                                <p:cTn id="93" presetID="22" presetClass="entr" presetSubtype="1" fill="hold" nodeType="after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wipe(up)">
                                      <p:cBhvr>
                                        <p:cTn id="95" dur="500"/>
                                        <p:tgtEl>
                                          <p:spTgt spid="34"/>
                                        </p:tgtEl>
                                      </p:cBhvr>
                                    </p:animEffect>
                                  </p:childTnLst>
                                </p:cTn>
                              </p:par>
                            </p:childTnLst>
                          </p:cTn>
                        </p:par>
                        <p:par>
                          <p:cTn id="96" fill="hold">
                            <p:stCondLst>
                              <p:cond delay="1000"/>
                            </p:stCondLst>
                            <p:childTnLst>
                              <p:par>
                                <p:cTn id="97" presetID="22" presetClass="entr" presetSubtype="1" fill="hold" nodeType="after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wipe(up)">
                                      <p:cBhvr>
                                        <p:cTn id="99" dur="500"/>
                                        <p:tgtEl>
                                          <p:spTgt spid="35"/>
                                        </p:tgtEl>
                                      </p:cBhvr>
                                    </p:animEffect>
                                  </p:childTnLst>
                                </p:cTn>
                              </p:par>
                            </p:childTnLst>
                          </p:cTn>
                        </p:par>
                        <p:par>
                          <p:cTn id="100" fill="hold">
                            <p:stCondLst>
                              <p:cond delay="1500"/>
                            </p:stCondLst>
                            <p:childTnLst>
                              <p:par>
                                <p:cTn id="101" presetID="22" presetClass="entr" presetSubtype="4" fill="hold"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wipe(down)">
                                      <p:cBhvr>
                                        <p:cTn id="10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9" grpId="0"/>
      <p:bldP spid="211" grpId="0"/>
      <p:bldP spid="212" grpId="0"/>
      <p:bldP spid="2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318763" y="2761799"/>
            <a:ext cx="1289490" cy="1103532"/>
            <a:chOff x="6318763" y="2761799"/>
            <a:chExt cx="1289490" cy="1103532"/>
          </a:xfrm>
        </p:grpSpPr>
        <p:sp>
          <p:nvSpPr>
            <p:cNvPr id="448" name="任意多边形 447"/>
            <p:cNvSpPr/>
            <p:nvPr/>
          </p:nvSpPr>
          <p:spPr bwMode="auto">
            <a:xfrm rot="14447440">
              <a:off x="6640255" y="2692607"/>
              <a:ext cx="628373" cy="1271357"/>
            </a:xfrm>
            <a:custGeom>
              <a:avLst/>
              <a:gdLst>
                <a:gd name="connsiteX0" fmla="*/ 0 w 609600"/>
                <a:gd name="connsiteY0" fmla="*/ 0 h 1257300"/>
                <a:gd name="connsiteX1" fmla="*/ 0 w 609600"/>
                <a:gd name="connsiteY1" fmla="*/ 1257300 h 1257300"/>
                <a:gd name="connsiteX2" fmla="*/ 609600 w 609600"/>
                <a:gd name="connsiteY2" fmla="*/ 728662 h 1257300"/>
                <a:gd name="connsiteX3" fmla="*/ 0 w 609600"/>
                <a:gd name="connsiteY3" fmla="*/ 0 h 1257300"/>
                <a:gd name="connsiteX0" fmla="*/ 18773 w 628373"/>
                <a:gd name="connsiteY0" fmla="*/ 0 h 1271357"/>
                <a:gd name="connsiteX1" fmla="*/ 0 w 628373"/>
                <a:gd name="connsiteY1" fmla="*/ 1271357 h 1271357"/>
                <a:gd name="connsiteX2" fmla="*/ 628373 w 628373"/>
                <a:gd name="connsiteY2" fmla="*/ 728662 h 1271357"/>
                <a:gd name="connsiteX3" fmla="*/ 18773 w 628373"/>
                <a:gd name="connsiteY3" fmla="*/ 0 h 1271357"/>
              </a:gdLst>
              <a:ahLst/>
              <a:cxnLst>
                <a:cxn ang="0">
                  <a:pos x="connsiteX0" y="connsiteY0"/>
                </a:cxn>
                <a:cxn ang="0">
                  <a:pos x="connsiteX1" y="connsiteY1"/>
                </a:cxn>
                <a:cxn ang="0">
                  <a:pos x="connsiteX2" y="connsiteY2"/>
                </a:cxn>
                <a:cxn ang="0">
                  <a:pos x="connsiteX3" y="connsiteY3"/>
                </a:cxn>
              </a:cxnLst>
              <a:rect l="l" t="t" r="r" b="b"/>
              <a:pathLst>
                <a:path w="628373" h="1271357">
                  <a:moveTo>
                    <a:pt x="18773" y="0"/>
                  </a:moveTo>
                  <a:lnTo>
                    <a:pt x="0" y="1271357"/>
                  </a:lnTo>
                  <a:lnTo>
                    <a:pt x="628373" y="728662"/>
                  </a:lnTo>
                  <a:lnTo>
                    <a:pt x="18773" y="0"/>
                  </a:lnTo>
                  <a:close/>
                </a:path>
              </a:pathLst>
            </a:custGeom>
            <a:solidFill>
              <a:schemeClr val="accent1">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428" name="组合 427"/>
            <p:cNvGrpSpPr/>
            <p:nvPr/>
          </p:nvGrpSpPr>
          <p:grpSpPr>
            <a:xfrm rot="14456095">
              <a:off x="6640101" y="2685992"/>
              <a:ext cx="637572" cy="1272032"/>
              <a:chOff x="6965923" y="4504051"/>
              <a:chExt cx="637572" cy="1272032"/>
            </a:xfrm>
          </p:grpSpPr>
          <p:cxnSp>
            <p:nvCxnSpPr>
              <p:cNvPr id="429" name="直接箭头连接符 428"/>
              <p:cNvCxnSpPr/>
              <p:nvPr/>
            </p:nvCxnSpPr>
            <p:spPr bwMode="auto">
              <a:xfrm>
                <a:off x="6965923" y="4513770"/>
                <a:ext cx="0" cy="126231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 name="直接箭头连接符 429"/>
              <p:cNvCxnSpPr/>
              <p:nvPr/>
            </p:nvCxnSpPr>
            <p:spPr bwMode="auto">
              <a:xfrm flipH="1" flipV="1">
                <a:off x="6980457" y="4504051"/>
                <a:ext cx="605598" cy="705766"/>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1" name="直接箭头连接符 430"/>
              <p:cNvCxnSpPr/>
              <p:nvPr/>
            </p:nvCxnSpPr>
            <p:spPr bwMode="auto">
              <a:xfrm flipV="1">
                <a:off x="6971223" y="5210513"/>
                <a:ext cx="632272" cy="55908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2" name="任意多边形 431"/>
              <p:cNvSpPr/>
              <p:nvPr/>
            </p:nvSpPr>
            <p:spPr bwMode="auto">
              <a:xfrm rot="5096346" flipV="1">
                <a:off x="7007972" y="5507022"/>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434" name="Rectangle 74"/>
            <p:cNvSpPr>
              <a:spLocks noChangeArrowheads="1"/>
            </p:cNvSpPr>
            <p:nvPr/>
          </p:nvSpPr>
          <p:spPr bwMode="auto">
            <a:xfrm>
              <a:off x="7094272" y="3071398"/>
              <a:ext cx="43579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435" name="Text Box 75"/>
            <p:cNvSpPr txBox="1">
              <a:spLocks noChangeArrowheads="1"/>
            </p:cNvSpPr>
            <p:nvPr/>
          </p:nvSpPr>
          <p:spPr bwMode="auto">
            <a:xfrm>
              <a:off x="6461582" y="3068336"/>
              <a:ext cx="408525" cy="4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sp>
          <p:nvSpPr>
            <p:cNvPr id="436" name="Text Box 75"/>
            <p:cNvSpPr txBox="1">
              <a:spLocks noChangeArrowheads="1"/>
            </p:cNvSpPr>
            <p:nvPr/>
          </p:nvSpPr>
          <p:spPr bwMode="auto">
            <a:xfrm>
              <a:off x="7182011" y="3419055"/>
              <a:ext cx="42624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437" name="Text Box 75"/>
            <p:cNvSpPr txBox="1">
              <a:spLocks noChangeArrowheads="1"/>
            </p:cNvSpPr>
            <p:nvPr/>
          </p:nvSpPr>
          <p:spPr bwMode="auto">
            <a:xfrm>
              <a:off x="7166015" y="2761799"/>
              <a:ext cx="39585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grpSp>
      <p:grpSp>
        <p:nvGrpSpPr>
          <p:cNvPr id="8" name="组合 7"/>
          <p:cNvGrpSpPr/>
          <p:nvPr/>
        </p:nvGrpSpPr>
        <p:grpSpPr>
          <a:xfrm>
            <a:off x="5669882" y="1594390"/>
            <a:ext cx="2283157" cy="2660751"/>
            <a:chOff x="5669882" y="1594390"/>
            <a:chExt cx="2283157" cy="2660751"/>
          </a:xfrm>
        </p:grpSpPr>
        <p:sp>
          <p:nvSpPr>
            <p:cNvPr id="381" name="任意多边形 380"/>
            <p:cNvSpPr/>
            <p:nvPr/>
          </p:nvSpPr>
          <p:spPr bwMode="auto">
            <a:xfrm>
              <a:off x="6181558" y="1692985"/>
              <a:ext cx="1174878" cy="2207625"/>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927307"/>
                <a:gd name="connsiteY0" fmla="*/ 334124 h 1742433"/>
                <a:gd name="connsiteX1" fmla="*/ 290339 w 927307"/>
                <a:gd name="connsiteY1" fmla="*/ 1742433 h 1742433"/>
                <a:gd name="connsiteX2" fmla="*/ 927307 w 927307"/>
                <a:gd name="connsiteY2" fmla="*/ 0 h 1742433"/>
                <a:gd name="connsiteX3" fmla="*/ 436768 w 927307"/>
                <a:gd name="connsiteY3" fmla="*/ 157254 h 1742433"/>
                <a:gd name="connsiteX4" fmla="*/ 0 w 927307"/>
                <a:gd name="connsiteY4" fmla="*/ 334124 h 1742433"/>
                <a:gd name="connsiteX0" fmla="*/ 0 w 927307"/>
                <a:gd name="connsiteY0" fmla="*/ 334124 h 1742433"/>
                <a:gd name="connsiteX1" fmla="*/ 290339 w 927307"/>
                <a:gd name="connsiteY1" fmla="*/ 1742433 h 1742433"/>
                <a:gd name="connsiteX2" fmla="*/ 927307 w 927307"/>
                <a:gd name="connsiteY2" fmla="*/ 0 h 1742433"/>
                <a:gd name="connsiteX3" fmla="*/ 436768 w 927307"/>
                <a:gd name="connsiteY3" fmla="*/ 157254 h 1742433"/>
                <a:gd name="connsiteX4" fmla="*/ 229667 w 927307"/>
                <a:gd name="connsiteY4" fmla="*/ 229426 h 1742433"/>
                <a:gd name="connsiteX5" fmla="*/ 0 w 927307"/>
                <a:gd name="connsiteY5" fmla="*/ 334124 h 1742433"/>
                <a:gd name="connsiteX0" fmla="*/ 0 w 936038"/>
                <a:gd name="connsiteY0" fmla="*/ 443469 h 1851778"/>
                <a:gd name="connsiteX1" fmla="*/ 290339 w 936038"/>
                <a:gd name="connsiteY1" fmla="*/ 1851778 h 1851778"/>
                <a:gd name="connsiteX2" fmla="*/ 927307 w 936038"/>
                <a:gd name="connsiteY2" fmla="*/ 109345 h 1851778"/>
                <a:gd name="connsiteX3" fmla="*/ 653283 w 936038"/>
                <a:gd name="connsiteY3" fmla="*/ 188152 h 1851778"/>
                <a:gd name="connsiteX4" fmla="*/ 436768 w 936038"/>
                <a:gd name="connsiteY4" fmla="*/ 266599 h 1851778"/>
                <a:gd name="connsiteX5" fmla="*/ 229667 w 936038"/>
                <a:gd name="connsiteY5" fmla="*/ 338771 h 1851778"/>
                <a:gd name="connsiteX6" fmla="*/ 0 w 936038"/>
                <a:gd name="connsiteY6" fmla="*/ 443469 h 1851778"/>
                <a:gd name="connsiteX0" fmla="*/ 0 w 927307"/>
                <a:gd name="connsiteY0" fmla="*/ 334124 h 1742433"/>
                <a:gd name="connsiteX1" fmla="*/ 290339 w 927307"/>
                <a:gd name="connsiteY1" fmla="*/ 1742433 h 1742433"/>
                <a:gd name="connsiteX2" fmla="*/ 927307 w 927307"/>
                <a:gd name="connsiteY2" fmla="*/ 0 h 1742433"/>
                <a:gd name="connsiteX3" fmla="*/ 653283 w 927307"/>
                <a:gd name="connsiteY3" fmla="*/ 78807 h 1742433"/>
                <a:gd name="connsiteX4" fmla="*/ 436768 w 927307"/>
                <a:gd name="connsiteY4" fmla="*/ 157254 h 1742433"/>
                <a:gd name="connsiteX5" fmla="*/ 229667 w 927307"/>
                <a:gd name="connsiteY5" fmla="*/ 229426 h 1742433"/>
                <a:gd name="connsiteX6" fmla="*/ 0 w 927307"/>
                <a:gd name="connsiteY6" fmla="*/ 334124 h 1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307" h="1742433">
                  <a:moveTo>
                    <a:pt x="0" y="334124"/>
                  </a:moveTo>
                  <a:lnTo>
                    <a:pt x="290339" y="1742433"/>
                  </a:lnTo>
                  <a:lnTo>
                    <a:pt x="927307" y="0"/>
                  </a:lnTo>
                  <a:lnTo>
                    <a:pt x="653283" y="78807"/>
                  </a:lnTo>
                  <a:cubicBezTo>
                    <a:pt x="571526" y="105016"/>
                    <a:pt x="505279" y="134243"/>
                    <a:pt x="436768" y="157254"/>
                  </a:cubicBezTo>
                  <a:cubicBezTo>
                    <a:pt x="379240" y="181311"/>
                    <a:pt x="287195" y="205369"/>
                    <a:pt x="229667" y="229426"/>
                  </a:cubicBezTo>
                  <a:lnTo>
                    <a:pt x="0" y="3341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82" name="任意多边形 381"/>
            <p:cNvSpPr/>
            <p:nvPr/>
          </p:nvSpPr>
          <p:spPr bwMode="auto">
            <a:xfrm>
              <a:off x="5669882" y="2113321"/>
              <a:ext cx="870712" cy="180237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85" name="Line 70"/>
            <p:cNvSpPr>
              <a:spLocks noChangeShapeType="1"/>
            </p:cNvSpPr>
            <p:nvPr/>
          </p:nvSpPr>
          <p:spPr bwMode="auto">
            <a:xfrm flipV="1">
              <a:off x="6540903" y="1691283"/>
              <a:ext cx="821737" cy="2225530"/>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6" name="Rectangle 74"/>
            <p:cNvSpPr>
              <a:spLocks noChangeArrowheads="1"/>
            </p:cNvSpPr>
            <p:nvPr/>
          </p:nvSpPr>
          <p:spPr bwMode="auto">
            <a:xfrm>
              <a:off x="5730969" y="3017137"/>
              <a:ext cx="31130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387" name="Text Box 75"/>
            <p:cNvSpPr txBox="1">
              <a:spLocks noChangeArrowheads="1"/>
            </p:cNvSpPr>
            <p:nvPr/>
          </p:nvSpPr>
          <p:spPr bwMode="auto">
            <a:xfrm>
              <a:off x="5697840" y="3451791"/>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388" name="直接连接符 387"/>
            <p:cNvCxnSpPr/>
            <p:nvPr/>
          </p:nvCxnSpPr>
          <p:spPr bwMode="auto">
            <a:xfrm flipH="1">
              <a:off x="5956004" y="3082385"/>
              <a:ext cx="412992" cy="9047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 name="任意多边形 388"/>
            <p:cNvSpPr/>
            <p:nvPr/>
          </p:nvSpPr>
          <p:spPr bwMode="auto">
            <a:xfrm rot="4552046">
              <a:off x="6274486" y="3004618"/>
              <a:ext cx="91222" cy="9122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90" name="任意多边形 389"/>
            <p:cNvSpPr/>
            <p:nvPr/>
          </p:nvSpPr>
          <p:spPr bwMode="auto">
            <a:xfrm>
              <a:off x="6059821" y="3148872"/>
              <a:ext cx="100451" cy="15377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92" name="直接连接符 391"/>
            <p:cNvCxnSpPr/>
            <p:nvPr/>
          </p:nvCxnSpPr>
          <p:spPr bwMode="auto">
            <a:xfrm>
              <a:off x="6149499" y="3911817"/>
              <a:ext cx="139368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3" name="Text Box 75"/>
            <p:cNvSpPr txBox="1">
              <a:spLocks noChangeArrowheads="1"/>
            </p:cNvSpPr>
            <p:nvPr/>
          </p:nvSpPr>
          <p:spPr bwMode="auto">
            <a:xfrm>
              <a:off x="6189887" y="3808865"/>
              <a:ext cx="36084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94" name="Text Box 75"/>
            <p:cNvSpPr txBox="1">
              <a:spLocks noChangeArrowheads="1"/>
            </p:cNvSpPr>
            <p:nvPr/>
          </p:nvSpPr>
          <p:spPr bwMode="auto">
            <a:xfrm>
              <a:off x="5956963" y="1671423"/>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95" name="Text Box 75"/>
            <p:cNvSpPr txBox="1">
              <a:spLocks noChangeArrowheads="1"/>
            </p:cNvSpPr>
            <p:nvPr/>
          </p:nvSpPr>
          <p:spPr bwMode="auto">
            <a:xfrm>
              <a:off x="7406050" y="1594390"/>
              <a:ext cx="546989" cy="5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96" name="任意多边形 395"/>
            <p:cNvSpPr/>
            <p:nvPr/>
          </p:nvSpPr>
          <p:spPr bwMode="auto">
            <a:xfrm rot="6891642" flipV="1">
              <a:off x="6625806" y="3681240"/>
              <a:ext cx="140029" cy="22765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97" name="Rectangle 74"/>
            <p:cNvSpPr>
              <a:spLocks noChangeArrowheads="1"/>
            </p:cNvSpPr>
            <p:nvPr/>
          </p:nvSpPr>
          <p:spPr bwMode="auto">
            <a:xfrm>
              <a:off x="6626001" y="3370407"/>
              <a:ext cx="31771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cxnSp>
          <p:nvCxnSpPr>
            <p:cNvPr id="407" name="直接箭头连接符 406"/>
            <p:cNvCxnSpPr/>
            <p:nvPr/>
          </p:nvCxnSpPr>
          <p:spPr bwMode="auto">
            <a:xfrm flipV="1">
              <a:off x="5873052" y="3093374"/>
              <a:ext cx="515483" cy="45580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4" name="任意多边形 413"/>
            <p:cNvSpPr/>
            <p:nvPr/>
          </p:nvSpPr>
          <p:spPr bwMode="auto">
            <a:xfrm>
              <a:off x="6180004" y="1673148"/>
              <a:ext cx="1310185" cy="436728"/>
            </a:xfrm>
            <a:custGeom>
              <a:avLst/>
              <a:gdLst>
                <a:gd name="connsiteX0" fmla="*/ 0 w 1310185"/>
                <a:gd name="connsiteY0" fmla="*/ 436728 h 436728"/>
                <a:gd name="connsiteX1" fmla="*/ 300250 w 1310185"/>
                <a:gd name="connsiteY1" fmla="*/ 300251 h 436728"/>
                <a:gd name="connsiteX2" fmla="*/ 641444 w 1310185"/>
                <a:gd name="connsiteY2" fmla="*/ 177421 h 436728"/>
                <a:gd name="connsiteX3" fmla="*/ 1030406 w 1310185"/>
                <a:gd name="connsiteY3" fmla="*/ 54591 h 436728"/>
                <a:gd name="connsiteX4" fmla="*/ 1310185 w 1310185"/>
                <a:gd name="connsiteY4" fmla="*/ 0 h 436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0185" h="436728">
                  <a:moveTo>
                    <a:pt x="0" y="436728"/>
                  </a:moveTo>
                  <a:cubicBezTo>
                    <a:pt x="96671" y="390098"/>
                    <a:pt x="193343" y="343469"/>
                    <a:pt x="300250" y="300251"/>
                  </a:cubicBezTo>
                  <a:cubicBezTo>
                    <a:pt x="407157" y="257033"/>
                    <a:pt x="519751" y="218364"/>
                    <a:pt x="641444" y="177421"/>
                  </a:cubicBezTo>
                  <a:cubicBezTo>
                    <a:pt x="763137" y="136478"/>
                    <a:pt x="918949" y="84161"/>
                    <a:pt x="1030406" y="54591"/>
                  </a:cubicBezTo>
                  <a:cubicBezTo>
                    <a:pt x="1141863" y="25021"/>
                    <a:pt x="1226024" y="12510"/>
                    <a:pt x="1310185"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56</a:t>
            </a:fld>
            <a:endParaRPr lang="zh-CN" altLang="en-US" dirty="0">
              <a:solidFill>
                <a:srgbClr val="C00000"/>
              </a:solidFill>
            </a:endParaRPr>
          </a:p>
        </p:txBody>
      </p:sp>
      <p:sp>
        <p:nvSpPr>
          <p:cNvPr id="105" name="Rectangle 3"/>
          <p:cNvSpPr txBox="1">
            <a:spLocks noChangeArrowheads="1"/>
          </p:cNvSpPr>
          <p:nvPr/>
        </p:nvSpPr>
        <p:spPr bwMode="auto">
          <a:xfrm>
            <a:off x="432533" y="536298"/>
            <a:ext cx="5403724"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微软雅黑" panose="020B0503020204020204" pitchFamily="34" charset="-122"/>
                <a:ea typeface="微软雅黑" panose="020B0503020204020204" pitchFamily="34" charset="-122"/>
              </a:rPr>
              <a:t> 库尔曼（</a:t>
            </a:r>
            <a:r>
              <a:rPr lang="en-US" altLang="zh-CN" sz="2800" b="1" kern="0" dirty="0" err="1" smtClean="0">
                <a:solidFill>
                  <a:srgbClr val="C00000"/>
                </a:solidFill>
                <a:latin typeface="微软雅黑" panose="020B0503020204020204" pitchFamily="34" charset="-122"/>
                <a:ea typeface="微软雅黑" panose="020B0503020204020204" pitchFamily="34" charset="-122"/>
              </a:rPr>
              <a:t>Culmann</a:t>
            </a:r>
            <a:r>
              <a:rPr lang="zh-CN" altLang="en-US" sz="2800" b="1" kern="0" dirty="0" smtClean="0">
                <a:solidFill>
                  <a:srgbClr val="C00000"/>
                </a:solidFill>
                <a:latin typeface="微软雅黑" panose="020B0503020204020204" pitchFamily="34" charset="-122"/>
                <a:ea typeface="微软雅黑" panose="020B0503020204020204" pitchFamily="34" charset="-122"/>
              </a:rPr>
              <a:t>）图解法</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2"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库伦</a:t>
            </a:r>
            <a:r>
              <a:rPr lang="zh-CN" altLang="en-US" sz="1800" b="1" kern="900" spc="130" dirty="0">
                <a:solidFill>
                  <a:srgbClr val="000066"/>
                </a:solidFill>
                <a:ea typeface="黑体" panose="02010609060101010101" pitchFamily="49" charset="-122"/>
                <a:cs typeface="Times New Roman" panose="02020603050405020304" pitchFamily="18" charset="0"/>
              </a:rPr>
              <a:t>土压力图解法</a:t>
            </a:r>
          </a:p>
        </p:txBody>
      </p:sp>
      <p:sp>
        <p:nvSpPr>
          <p:cNvPr id="328" name="任意多边形 327"/>
          <p:cNvSpPr/>
          <p:nvPr/>
        </p:nvSpPr>
        <p:spPr bwMode="auto">
          <a:xfrm>
            <a:off x="1824386" y="2809606"/>
            <a:ext cx="1174878" cy="2207625"/>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927307"/>
              <a:gd name="connsiteY0" fmla="*/ 334124 h 1742433"/>
              <a:gd name="connsiteX1" fmla="*/ 290339 w 927307"/>
              <a:gd name="connsiteY1" fmla="*/ 1742433 h 1742433"/>
              <a:gd name="connsiteX2" fmla="*/ 927307 w 927307"/>
              <a:gd name="connsiteY2" fmla="*/ 0 h 1742433"/>
              <a:gd name="connsiteX3" fmla="*/ 436768 w 927307"/>
              <a:gd name="connsiteY3" fmla="*/ 157254 h 1742433"/>
              <a:gd name="connsiteX4" fmla="*/ 0 w 927307"/>
              <a:gd name="connsiteY4" fmla="*/ 334124 h 1742433"/>
              <a:gd name="connsiteX0" fmla="*/ 0 w 927307"/>
              <a:gd name="connsiteY0" fmla="*/ 334124 h 1742433"/>
              <a:gd name="connsiteX1" fmla="*/ 290339 w 927307"/>
              <a:gd name="connsiteY1" fmla="*/ 1742433 h 1742433"/>
              <a:gd name="connsiteX2" fmla="*/ 927307 w 927307"/>
              <a:gd name="connsiteY2" fmla="*/ 0 h 1742433"/>
              <a:gd name="connsiteX3" fmla="*/ 436768 w 927307"/>
              <a:gd name="connsiteY3" fmla="*/ 157254 h 1742433"/>
              <a:gd name="connsiteX4" fmla="*/ 229667 w 927307"/>
              <a:gd name="connsiteY4" fmla="*/ 229426 h 1742433"/>
              <a:gd name="connsiteX5" fmla="*/ 0 w 927307"/>
              <a:gd name="connsiteY5" fmla="*/ 334124 h 1742433"/>
              <a:gd name="connsiteX0" fmla="*/ 0 w 936038"/>
              <a:gd name="connsiteY0" fmla="*/ 443469 h 1851778"/>
              <a:gd name="connsiteX1" fmla="*/ 290339 w 936038"/>
              <a:gd name="connsiteY1" fmla="*/ 1851778 h 1851778"/>
              <a:gd name="connsiteX2" fmla="*/ 927307 w 936038"/>
              <a:gd name="connsiteY2" fmla="*/ 109345 h 1851778"/>
              <a:gd name="connsiteX3" fmla="*/ 653283 w 936038"/>
              <a:gd name="connsiteY3" fmla="*/ 188152 h 1851778"/>
              <a:gd name="connsiteX4" fmla="*/ 436768 w 936038"/>
              <a:gd name="connsiteY4" fmla="*/ 266599 h 1851778"/>
              <a:gd name="connsiteX5" fmla="*/ 229667 w 936038"/>
              <a:gd name="connsiteY5" fmla="*/ 338771 h 1851778"/>
              <a:gd name="connsiteX6" fmla="*/ 0 w 936038"/>
              <a:gd name="connsiteY6" fmla="*/ 443469 h 1851778"/>
              <a:gd name="connsiteX0" fmla="*/ 0 w 927307"/>
              <a:gd name="connsiteY0" fmla="*/ 334124 h 1742433"/>
              <a:gd name="connsiteX1" fmla="*/ 290339 w 927307"/>
              <a:gd name="connsiteY1" fmla="*/ 1742433 h 1742433"/>
              <a:gd name="connsiteX2" fmla="*/ 927307 w 927307"/>
              <a:gd name="connsiteY2" fmla="*/ 0 h 1742433"/>
              <a:gd name="connsiteX3" fmla="*/ 653283 w 927307"/>
              <a:gd name="connsiteY3" fmla="*/ 78807 h 1742433"/>
              <a:gd name="connsiteX4" fmla="*/ 436768 w 927307"/>
              <a:gd name="connsiteY4" fmla="*/ 157254 h 1742433"/>
              <a:gd name="connsiteX5" fmla="*/ 229667 w 927307"/>
              <a:gd name="connsiteY5" fmla="*/ 229426 h 1742433"/>
              <a:gd name="connsiteX6" fmla="*/ 0 w 927307"/>
              <a:gd name="connsiteY6" fmla="*/ 334124 h 17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307" h="1742433">
                <a:moveTo>
                  <a:pt x="0" y="334124"/>
                </a:moveTo>
                <a:lnTo>
                  <a:pt x="290339" y="1742433"/>
                </a:lnTo>
                <a:lnTo>
                  <a:pt x="927307" y="0"/>
                </a:lnTo>
                <a:lnTo>
                  <a:pt x="653283" y="78807"/>
                </a:lnTo>
                <a:cubicBezTo>
                  <a:pt x="571526" y="105016"/>
                  <a:pt x="505279" y="134243"/>
                  <a:pt x="436768" y="157254"/>
                </a:cubicBezTo>
                <a:cubicBezTo>
                  <a:pt x="379240" y="181311"/>
                  <a:pt x="287195" y="205369"/>
                  <a:pt x="229667" y="229426"/>
                </a:cubicBezTo>
                <a:lnTo>
                  <a:pt x="0" y="3341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29" name="任意多边形 328"/>
          <p:cNvSpPr/>
          <p:nvPr/>
        </p:nvSpPr>
        <p:spPr bwMode="auto">
          <a:xfrm>
            <a:off x="1312710" y="3229942"/>
            <a:ext cx="870712" cy="180237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30" name="Line 60"/>
          <p:cNvSpPr>
            <a:spLocks noChangeShapeType="1"/>
          </p:cNvSpPr>
          <p:nvPr/>
        </p:nvSpPr>
        <p:spPr bwMode="auto">
          <a:xfrm>
            <a:off x="1818967" y="3224563"/>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1" name="Rectangle 61"/>
          <p:cNvSpPr>
            <a:spLocks noChangeArrowheads="1"/>
          </p:cNvSpPr>
          <p:nvPr/>
        </p:nvSpPr>
        <p:spPr bwMode="auto">
          <a:xfrm>
            <a:off x="1641969" y="3541002"/>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332" name="Line 70"/>
          <p:cNvSpPr>
            <a:spLocks noChangeShapeType="1"/>
          </p:cNvSpPr>
          <p:nvPr/>
        </p:nvSpPr>
        <p:spPr bwMode="auto">
          <a:xfrm flipV="1">
            <a:off x="2183731" y="2807904"/>
            <a:ext cx="821737" cy="2225530"/>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3" name="Rectangle 74"/>
          <p:cNvSpPr>
            <a:spLocks noChangeArrowheads="1"/>
          </p:cNvSpPr>
          <p:nvPr/>
        </p:nvSpPr>
        <p:spPr bwMode="auto">
          <a:xfrm>
            <a:off x="1373797" y="4133758"/>
            <a:ext cx="31130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334" name="Text Box 75"/>
          <p:cNvSpPr txBox="1">
            <a:spLocks noChangeArrowheads="1"/>
          </p:cNvSpPr>
          <p:nvPr/>
        </p:nvSpPr>
        <p:spPr bwMode="auto">
          <a:xfrm>
            <a:off x="1340668" y="4568412"/>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335" name="直接连接符 334"/>
          <p:cNvCxnSpPr/>
          <p:nvPr/>
        </p:nvCxnSpPr>
        <p:spPr bwMode="auto">
          <a:xfrm flipH="1">
            <a:off x="1598832" y="4199006"/>
            <a:ext cx="412992" cy="9047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6" name="任意多边形 335"/>
          <p:cNvSpPr/>
          <p:nvPr/>
        </p:nvSpPr>
        <p:spPr bwMode="auto">
          <a:xfrm rot="4552046">
            <a:off x="1917314" y="4121239"/>
            <a:ext cx="91222" cy="9122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37" name="任意多边形 336"/>
          <p:cNvSpPr/>
          <p:nvPr/>
        </p:nvSpPr>
        <p:spPr bwMode="auto">
          <a:xfrm>
            <a:off x="1702649" y="4265493"/>
            <a:ext cx="100451" cy="15377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38" name="任意多边形 337"/>
          <p:cNvSpPr/>
          <p:nvPr/>
        </p:nvSpPr>
        <p:spPr bwMode="auto">
          <a:xfrm rot="18139897">
            <a:off x="1838104" y="3650415"/>
            <a:ext cx="57925" cy="8867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39" name="直接连接符 338"/>
          <p:cNvCxnSpPr/>
          <p:nvPr/>
        </p:nvCxnSpPr>
        <p:spPr bwMode="auto">
          <a:xfrm>
            <a:off x="1792327" y="5028438"/>
            <a:ext cx="139368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0" name="Text Box 75"/>
          <p:cNvSpPr txBox="1">
            <a:spLocks noChangeArrowheads="1"/>
          </p:cNvSpPr>
          <p:nvPr/>
        </p:nvSpPr>
        <p:spPr bwMode="auto">
          <a:xfrm>
            <a:off x="2039447" y="4981146"/>
            <a:ext cx="546989" cy="5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41" name="Text Box 75"/>
          <p:cNvSpPr txBox="1">
            <a:spLocks noChangeArrowheads="1"/>
          </p:cNvSpPr>
          <p:nvPr/>
        </p:nvSpPr>
        <p:spPr bwMode="auto">
          <a:xfrm>
            <a:off x="1599791" y="2788044"/>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42" name="Text Box 75"/>
          <p:cNvSpPr txBox="1">
            <a:spLocks noChangeArrowheads="1"/>
          </p:cNvSpPr>
          <p:nvPr/>
        </p:nvSpPr>
        <p:spPr bwMode="auto">
          <a:xfrm>
            <a:off x="3048878" y="2711011"/>
            <a:ext cx="546989" cy="5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44" name="任意多边形 343"/>
          <p:cNvSpPr/>
          <p:nvPr/>
        </p:nvSpPr>
        <p:spPr bwMode="auto">
          <a:xfrm rot="7512567" flipV="1">
            <a:off x="2268634" y="4789549"/>
            <a:ext cx="140029" cy="22765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45" name="Rectangle 74"/>
          <p:cNvSpPr>
            <a:spLocks noChangeArrowheads="1"/>
          </p:cNvSpPr>
          <p:nvPr/>
        </p:nvSpPr>
        <p:spPr bwMode="auto">
          <a:xfrm>
            <a:off x="2355166" y="4566538"/>
            <a:ext cx="31771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cxnSp>
        <p:nvCxnSpPr>
          <p:cNvPr id="346" name="直接箭头连接符 345"/>
          <p:cNvCxnSpPr/>
          <p:nvPr/>
        </p:nvCxnSpPr>
        <p:spPr bwMode="auto">
          <a:xfrm>
            <a:off x="2267806" y="3465099"/>
            <a:ext cx="0" cy="74523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Text Box 75"/>
          <p:cNvSpPr txBox="1">
            <a:spLocks noChangeArrowheads="1"/>
          </p:cNvSpPr>
          <p:nvPr/>
        </p:nvSpPr>
        <p:spPr bwMode="auto">
          <a:xfrm>
            <a:off x="2215937" y="3330299"/>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348" name="组合 347"/>
          <p:cNvGrpSpPr/>
          <p:nvPr/>
        </p:nvGrpSpPr>
        <p:grpSpPr>
          <a:xfrm rot="173897">
            <a:off x="2613245" y="3752322"/>
            <a:ext cx="630541" cy="774078"/>
            <a:chOff x="6840700" y="1909625"/>
            <a:chExt cx="497673" cy="610964"/>
          </a:xfrm>
        </p:grpSpPr>
        <p:cxnSp>
          <p:nvCxnSpPr>
            <p:cNvPr id="349" name="直接连接符 348"/>
            <p:cNvCxnSpPr/>
            <p:nvPr/>
          </p:nvCxnSpPr>
          <p:spPr bwMode="auto">
            <a:xfrm rot="11211980" flipH="1" flipV="1">
              <a:off x="6840700" y="1985722"/>
              <a:ext cx="332186" cy="714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0" name="任意多边形 349"/>
            <p:cNvSpPr/>
            <p:nvPr/>
          </p:nvSpPr>
          <p:spPr bwMode="auto">
            <a:xfrm rot="6659934" flipV="1">
              <a:off x="6852243" y="1908938"/>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51" name="任意多边形 350"/>
            <p:cNvSpPr/>
            <p:nvPr/>
          </p:nvSpPr>
          <p:spPr bwMode="auto">
            <a:xfrm rot="11211980" flipV="1">
              <a:off x="7018062" y="2044945"/>
              <a:ext cx="80797"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52" name="直接箭头连接符 351"/>
            <p:cNvCxnSpPr/>
            <p:nvPr/>
          </p:nvCxnSpPr>
          <p:spPr bwMode="auto">
            <a:xfrm rot="21426103" flipH="1" flipV="1">
              <a:off x="6856151" y="1958609"/>
              <a:ext cx="482222" cy="561980"/>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53" name="Rectangle 74"/>
          <p:cNvSpPr>
            <a:spLocks noChangeArrowheads="1"/>
          </p:cNvSpPr>
          <p:nvPr/>
        </p:nvSpPr>
        <p:spPr bwMode="auto">
          <a:xfrm>
            <a:off x="2904071" y="3789249"/>
            <a:ext cx="340158"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354" name="Text Box 75"/>
          <p:cNvSpPr txBox="1">
            <a:spLocks noChangeArrowheads="1"/>
          </p:cNvSpPr>
          <p:nvPr/>
        </p:nvSpPr>
        <p:spPr bwMode="auto">
          <a:xfrm>
            <a:off x="3165965" y="4216255"/>
            <a:ext cx="546989" cy="5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359" name="直接箭头连接符 358"/>
          <p:cNvCxnSpPr/>
          <p:nvPr/>
        </p:nvCxnSpPr>
        <p:spPr bwMode="auto">
          <a:xfrm flipV="1">
            <a:off x="1515880" y="4209995"/>
            <a:ext cx="515483" cy="45580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0" name="Line 60"/>
          <p:cNvSpPr>
            <a:spLocks noChangeShapeType="1"/>
          </p:cNvSpPr>
          <p:nvPr/>
        </p:nvSpPr>
        <p:spPr bwMode="auto">
          <a:xfrm>
            <a:off x="2643976" y="3825075"/>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1" name="Rectangle 74"/>
          <p:cNvSpPr>
            <a:spLocks noChangeArrowheads="1"/>
          </p:cNvSpPr>
          <p:nvPr/>
        </p:nvSpPr>
        <p:spPr bwMode="auto">
          <a:xfrm>
            <a:off x="2560766" y="4167481"/>
            <a:ext cx="62228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 -</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362" name="任意多边形 361"/>
          <p:cNvSpPr/>
          <p:nvPr/>
        </p:nvSpPr>
        <p:spPr bwMode="auto">
          <a:xfrm rot="12689039" flipV="1">
            <a:off x="2681993" y="4035401"/>
            <a:ext cx="108070" cy="16676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3" name="Line 60"/>
          <p:cNvSpPr>
            <a:spLocks noChangeShapeType="1"/>
          </p:cNvSpPr>
          <p:nvPr/>
        </p:nvSpPr>
        <p:spPr bwMode="auto">
          <a:xfrm>
            <a:off x="2023141" y="4202010"/>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4" name="任意多边形 363"/>
          <p:cNvSpPr/>
          <p:nvPr/>
        </p:nvSpPr>
        <p:spPr bwMode="auto">
          <a:xfrm rot="15696845" flipV="1">
            <a:off x="1877191" y="4336347"/>
            <a:ext cx="106516" cy="16436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65" name="Rectangle 74"/>
          <p:cNvSpPr>
            <a:spLocks noChangeArrowheads="1"/>
          </p:cNvSpPr>
          <p:nvPr/>
        </p:nvSpPr>
        <p:spPr bwMode="auto">
          <a:xfrm>
            <a:off x="3830794" y="4475449"/>
            <a:ext cx="151358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r>
              <a:rPr kumimoji="1" lang="en-US" altLang="zh-CN" sz="2000" b="1" dirty="0" smtClean="0">
                <a:solidFill>
                  <a:srgbClr val="993300"/>
                </a:solidFill>
                <a:latin typeface="Times New Roman" panose="02020603050405020304" pitchFamily="18" charset="0"/>
                <a:sym typeface="Symbol"/>
              </a:rPr>
              <a:t>90</a:t>
            </a:r>
            <a:r>
              <a:rPr kumimoji="1" lang="en-US" altLang="zh-CN" sz="2000" b="1" i="1" dirty="0" smtClean="0">
                <a:solidFill>
                  <a:srgbClr val="993300"/>
                </a:solidFill>
                <a:latin typeface="Times New Roman" panose="02020603050405020304" pitchFamily="18" charset="0"/>
                <a:sym typeface="Symbol"/>
              </a:rPr>
              <a:t>-</a:t>
            </a:r>
            <a:r>
              <a:rPr kumimoji="1" lang="en-US" altLang="zh-CN" sz="2000" b="1" i="1" dirty="0" smtClean="0">
                <a:solidFill>
                  <a:srgbClr val="993300"/>
                </a:solidFill>
                <a:latin typeface="Times New Roman" panose="02020603050405020304" pitchFamily="18" charset="0"/>
                <a:sym typeface="Symbol" panose="05050102010706020507" pitchFamily="18" charset="2"/>
              </a:rPr>
              <a:t> -</a:t>
            </a:r>
            <a:r>
              <a:rPr kumimoji="1" lang="en-US" altLang="zh-CN" sz="2000" b="1" i="1" dirty="0" smtClean="0">
                <a:solidFill>
                  <a:srgbClr val="993300"/>
                </a:solidFill>
                <a:latin typeface="Times New Roman" panose="02020603050405020304" pitchFamily="18" charset="0"/>
                <a:ea typeface="仿宋_GB2312" pitchFamily="49" charset="-122"/>
                <a:sym typeface="Symbol" panose="05050102010706020507" pitchFamily="18" charset="2"/>
              </a:rPr>
              <a:t></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367" name="Text Box 75"/>
          <p:cNvSpPr txBox="1">
            <a:spLocks noChangeArrowheads="1"/>
          </p:cNvSpPr>
          <p:nvPr/>
        </p:nvSpPr>
        <p:spPr bwMode="auto">
          <a:xfrm>
            <a:off x="3716943" y="3595155"/>
            <a:ext cx="519824"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68" name="Text Box 75"/>
          <p:cNvSpPr txBox="1">
            <a:spLocks noChangeArrowheads="1"/>
          </p:cNvSpPr>
          <p:nvPr/>
        </p:nvSpPr>
        <p:spPr bwMode="auto">
          <a:xfrm>
            <a:off x="4440420" y="3985926"/>
            <a:ext cx="631701" cy="611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369" name="Text Box 75"/>
          <p:cNvSpPr txBox="1">
            <a:spLocks noChangeArrowheads="1"/>
          </p:cNvSpPr>
          <p:nvPr/>
        </p:nvSpPr>
        <p:spPr bwMode="auto">
          <a:xfrm>
            <a:off x="4475456" y="3185089"/>
            <a:ext cx="631701" cy="611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370" name="直接箭头连接符 369"/>
          <p:cNvCxnSpPr/>
          <p:nvPr/>
        </p:nvCxnSpPr>
        <p:spPr bwMode="auto">
          <a:xfrm>
            <a:off x="4153042" y="3163974"/>
            <a:ext cx="0" cy="126231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1" name="直接箭头连接符 370"/>
          <p:cNvCxnSpPr/>
          <p:nvPr/>
        </p:nvCxnSpPr>
        <p:spPr bwMode="auto">
          <a:xfrm flipH="1" flipV="1">
            <a:off x="4167576" y="3154255"/>
            <a:ext cx="605598" cy="705766"/>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2" name="直接箭头连接符 371"/>
          <p:cNvCxnSpPr/>
          <p:nvPr/>
        </p:nvCxnSpPr>
        <p:spPr bwMode="auto">
          <a:xfrm flipV="1">
            <a:off x="4158342" y="3860717"/>
            <a:ext cx="632272" cy="55908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3" name="任意多边形 372"/>
          <p:cNvSpPr/>
          <p:nvPr/>
        </p:nvSpPr>
        <p:spPr bwMode="auto">
          <a:xfrm rot="5096346" flipV="1">
            <a:off x="4195091" y="4157226"/>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74" name="任意多边形 373"/>
          <p:cNvSpPr/>
          <p:nvPr/>
        </p:nvSpPr>
        <p:spPr bwMode="auto">
          <a:xfrm rot="12912647" flipV="1">
            <a:off x="4206026" y="3318309"/>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75" name="Rectangle 74"/>
          <p:cNvSpPr>
            <a:spLocks noChangeArrowheads="1"/>
          </p:cNvSpPr>
          <p:nvPr/>
        </p:nvSpPr>
        <p:spPr bwMode="auto">
          <a:xfrm>
            <a:off x="4114235" y="3778750"/>
            <a:ext cx="664328"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376" name="Rectangle 74"/>
          <p:cNvSpPr>
            <a:spLocks noChangeArrowheads="1"/>
          </p:cNvSpPr>
          <p:nvPr/>
        </p:nvSpPr>
        <p:spPr bwMode="auto">
          <a:xfrm>
            <a:off x="3607863" y="3109410"/>
            <a:ext cx="644609"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377" name="Rectangle 74"/>
          <p:cNvSpPr>
            <a:spLocks noChangeArrowheads="1"/>
          </p:cNvSpPr>
          <p:nvPr/>
        </p:nvSpPr>
        <p:spPr bwMode="auto">
          <a:xfrm>
            <a:off x="1634514" y="4404638"/>
            <a:ext cx="43835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379" name="任意多边形 378"/>
          <p:cNvSpPr/>
          <p:nvPr/>
        </p:nvSpPr>
        <p:spPr bwMode="auto">
          <a:xfrm>
            <a:off x="1822832" y="2789769"/>
            <a:ext cx="1310185" cy="436728"/>
          </a:xfrm>
          <a:custGeom>
            <a:avLst/>
            <a:gdLst>
              <a:gd name="connsiteX0" fmla="*/ 0 w 1310185"/>
              <a:gd name="connsiteY0" fmla="*/ 436728 h 436728"/>
              <a:gd name="connsiteX1" fmla="*/ 300250 w 1310185"/>
              <a:gd name="connsiteY1" fmla="*/ 300251 h 436728"/>
              <a:gd name="connsiteX2" fmla="*/ 641444 w 1310185"/>
              <a:gd name="connsiteY2" fmla="*/ 177421 h 436728"/>
              <a:gd name="connsiteX3" fmla="*/ 1030406 w 1310185"/>
              <a:gd name="connsiteY3" fmla="*/ 54591 h 436728"/>
              <a:gd name="connsiteX4" fmla="*/ 1310185 w 1310185"/>
              <a:gd name="connsiteY4" fmla="*/ 0 h 436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0185" h="436728">
                <a:moveTo>
                  <a:pt x="0" y="436728"/>
                </a:moveTo>
                <a:cubicBezTo>
                  <a:pt x="96671" y="390098"/>
                  <a:pt x="193343" y="343469"/>
                  <a:pt x="300250" y="300251"/>
                </a:cubicBezTo>
                <a:cubicBezTo>
                  <a:pt x="407157" y="257033"/>
                  <a:pt x="519751" y="218364"/>
                  <a:pt x="641444" y="177421"/>
                </a:cubicBezTo>
                <a:cubicBezTo>
                  <a:pt x="763137" y="136478"/>
                  <a:pt x="918949" y="84161"/>
                  <a:pt x="1030406" y="54591"/>
                </a:cubicBezTo>
                <a:cubicBezTo>
                  <a:pt x="1141863" y="25021"/>
                  <a:pt x="1226024" y="12510"/>
                  <a:pt x="1310185"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5" name="组合 4"/>
          <p:cNvGrpSpPr/>
          <p:nvPr/>
        </p:nvGrpSpPr>
        <p:grpSpPr>
          <a:xfrm>
            <a:off x="6022034" y="3905250"/>
            <a:ext cx="1221645" cy="1337034"/>
            <a:chOff x="6022034" y="3905250"/>
            <a:chExt cx="1221645" cy="1337034"/>
          </a:xfrm>
        </p:grpSpPr>
        <p:sp>
          <p:nvSpPr>
            <p:cNvPr id="447" name="任意多边形 446"/>
            <p:cNvSpPr/>
            <p:nvPr/>
          </p:nvSpPr>
          <p:spPr bwMode="auto">
            <a:xfrm>
              <a:off x="6543676" y="3905250"/>
              <a:ext cx="609600" cy="1257300"/>
            </a:xfrm>
            <a:custGeom>
              <a:avLst/>
              <a:gdLst>
                <a:gd name="connsiteX0" fmla="*/ 0 w 609600"/>
                <a:gd name="connsiteY0" fmla="*/ 0 h 1257300"/>
                <a:gd name="connsiteX1" fmla="*/ 0 w 609600"/>
                <a:gd name="connsiteY1" fmla="*/ 1257300 h 1257300"/>
                <a:gd name="connsiteX2" fmla="*/ 609600 w 609600"/>
                <a:gd name="connsiteY2" fmla="*/ 728662 h 1257300"/>
                <a:gd name="connsiteX3" fmla="*/ 0 w 609600"/>
                <a:gd name="connsiteY3" fmla="*/ 0 h 1257300"/>
              </a:gdLst>
              <a:ahLst/>
              <a:cxnLst>
                <a:cxn ang="0">
                  <a:pos x="connsiteX0" y="connsiteY0"/>
                </a:cxn>
                <a:cxn ang="0">
                  <a:pos x="connsiteX1" y="connsiteY1"/>
                </a:cxn>
                <a:cxn ang="0">
                  <a:pos x="connsiteX2" y="connsiteY2"/>
                </a:cxn>
                <a:cxn ang="0">
                  <a:pos x="connsiteX3" y="connsiteY3"/>
                </a:cxn>
              </a:cxnLst>
              <a:rect l="l" t="t" r="r" b="b"/>
              <a:pathLst>
                <a:path w="609600" h="1257300">
                  <a:moveTo>
                    <a:pt x="0" y="0"/>
                  </a:moveTo>
                  <a:lnTo>
                    <a:pt x="0" y="1257300"/>
                  </a:lnTo>
                  <a:lnTo>
                    <a:pt x="609600" y="728662"/>
                  </a:lnTo>
                  <a:lnTo>
                    <a:pt x="0" y="0"/>
                  </a:lnTo>
                  <a:close/>
                </a:path>
              </a:pathLst>
            </a:custGeom>
            <a:solidFill>
              <a:schemeClr val="accent1">
                <a:lumMod val="9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17" name="Text Box 75"/>
            <p:cNvSpPr txBox="1">
              <a:spLocks noChangeArrowheads="1"/>
            </p:cNvSpPr>
            <p:nvPr/>
          </p:nvSpPr>
          <p:spPr bwMode="auto">
            <a:xfrm>
              <a:off x="6091357" y="4466873"/>
              <a:ext cx="519824" cy="5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418" name="Text Box 75"/>
            <p:cNvSpPr txBox="1">
              <a:spLocks noChangeArrowheads="1"/>
            </p:cNvSpPr>
            <p:nvPr/>
          </p:nvSpPr>
          <p:spPr bwMode="auto">
            <a:xfrm>
              <a:off x="6822784" y="4796008"/>
              <a:ext cx="39585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419" name="Text Box 75"/>
            <p:cNvSpPr txBox="1">
              <a:spLocks noChangeArrowheads="1"/>
            </p:cNvSpPr>
            <p:nvPr/>
          </p:nvSpPr>
          <p:spPr bwMode="auto">
            <a:xfrm>
              <a:off x="6835154" y="4015531"/>
              <a:ext cx="408525" cy="4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nvGrpSpPr>
            <p:cNvPr id="427" name="组合 426"/>
            <p:cNvGrpSpPr/>
            <p:nvPr/>
          </p:nvGrpSpPr>
          <p:grpSpPr>
            <a:xfrm>
              <a:off x="6543359" y="3917118"/>
              <a:ext cx="637572" cy="1272032"/>
              <a:chOff x="6965923" y="4504051"/>
              <a:chExt cx="637572" cy="1272032"/>
            </a:xfrm>
          </p:grpSpPr>
          <p:cxnSp>
            <p:nvCxnSpPr>
              <p:cNvPr id="420" name="直接箭头连接符 419"/>
              <p:cNvCxnSpPr/>
              <p:nvPr/>
            </p:nvCxnSpPr>
            <p:spPr bwMode="auto">
              <a:xfrm>
                <a:off x="6965923" y="4513770"/>
                <a:ext cx="0" cy="126231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1" name="直接箭头连接符 420"/>
              <p:cNvCxnSpPr/>
              <p:nvPr/>
            </p:nvCxnSpPr>
            <p:spPr bwMode="auto">
              <a:xfrm flipH="1" flipV="1">
                <a:off x="6980457" y="4504051"/>
                <a:ext cx="605598" cy="705766"/>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2" name="直接箭头连接符 421"/>
              <p:cNvCxnSpPr/>
              <p:nvPr/>
            </p:nvCxnSpPr>
            <p:spPr bwMode="auto">
              <a:xfrm flipV="1">
                <a:off x="6971223" y="5210513"/>
                <a:ext cx="632272" cy="55908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3" name="任意多边形 422"/>
              <p:cNvSpPr/>
              <p:nvPr/>
            </p:nvSpPr>
            <p:spPr bwMode="auto">
              <a:xfrm rot="5096346" flipV="1">
                <a:off x="7007972" y="5507022"/>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24" name="任意多边形 423"/>
              <p:cNvSpPr/>
              <p:nvPr/>
            </p:nvSpPr>
            <p:spPr bwMode="auto">
              <a:xfrm rot="12912647" flipV="1">
                <a:off x="7018907" y="4668105"/>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425" name="Rectangle 74"/>
            <p:cNvSpPr>
              <a:spLocks noChangeArrowheads="1"/>
            </p:cNvSpPr>
            <p:nvPr/>
          </p:nvSpPr>
          <p:spPr bwMode="auto">
            <a:xfrm>
              <a:off x="6480697" y="4572870"/>
              <a:ext cx="43579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426" name="Rectangle 74"/>
            <p:cNvSpPr>
              <a:spLocks noChangeArrowheads="1"/>
            </p:cNvSpPr>
            <p:nvPr/>
          </p:nvSpPr>
          <p:spPr bwMode="auto">
            <a:xfrm>
              <a:off x="6022034" y="4029791"/>
              <a:ext cx="568453" cy="44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grpSp>
        <p:nvGrpSpPr>
          <p:cNvPr id="7" name="组合 6"/>
          <p:cNvGrpSpPr/>
          <p:nvPr/>
        </p:nvGrpSpPr>
        <p:grpSpPr>
          <a:xfrm>
            <a:off x="6830568" y="3514801"/>
            <a:ext cx="395131" cy="446276"/>
            <a:chOff x="6830568" y="3514801"/>
            <a:chExt cx="395131" cy="446276"/>
          </a:xfrm>
        </p:grpSpPr>
        <p:sp>
          <p:nvSpPr>
            <p:cNvPr id="439" name="Rectangle 74"/>
            <p:cNvSpPr>
              <a:spLocks noChangeArrowheads="1"/>
            </p:cNvSpPr>
            <p:nvPr/>
          </p:nvSpPr>
          <p:spPr bwMode="auto">
            <a:xfrm>
              <a:off x="6885541" y="3514801"/>
              <a:ext cx="340158"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438" name="任意多边形 437"/>
            <p:cNvSpPr/>
            <p:nvPr/>
          </p:nvSpPr>
          <p:spPr bwMode="auto">
            <a:xfrm rot="8073189" flipV="1">
              <a:off x="6852462" y="3757424"/>
              <a:ext cx="87200" cy="130988"/>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2" name="组合 1"/>
          <p:cNvGrpSpPr/>
          <p:nvPr/>
        </p:nvGrpSpPr>
        <p:grpSpPr>
          <a:xfrm>
            <a:off x="6540903" y="2288565"/>
            <a:ext cx="2333916" cy="1628248"/>
            <a:chOff x="6540903" y="2288565"/>
            <a:chExt cx="2333916" cy="1628248"/>
          </a:xfrm>
        </p:grpSpPr>
        <p:cxnSp>
          <p:nvCxnSpPr>
            <p:cNvPr id="441" name="直接连接符 440"/>
            <p:cNvCxnSpPr>
              <a:stCxn id="385" idx="0"/>
            </p:cNvCxnSpPr>
            <p:nvPr/>
          </p:nvCxnSpPr>
          <p:spPr bwMode="auto">
            <a:xfrm flipV="1">
              <a:off x="6540903" y="2686457"/>
              <a:ext cx="2245567" cy="1230356"/>
            </a:xfrm>
            <a:prstGeom prst="line">
              <a:avLst/>
            </a:prstGeom>
            <a:noFill/>
            <a:ln w="19050" cap="flat" cmpd="sng" algn="ctr">
              <a:solidFill>
                <a:srgbClr val="0033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4" name="Text Box 75"/>
            <p:cNvSpPr txBox="1">
              <a:spLocks noChangeArrowheads="1"/>
            </p:cNvSpPr>
            <p:nvPr/>
          </p:nvSpPr>
          <p:spPr bwMode="auto">
            <a:xfrm>
              <a:off x="8201465" y="2288565"/>
              <a:ext cx="673354"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L</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线</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grpSp>
        <p:nvGrpSpPr>
          <p:cNvPr id="3" name="组合 2"/>
          <p:cNvGrpSpPr/>
          <p:nvPr/>
        </p:nvGrpSpPr>
        <p:grpSpPr>
          <a:xfrm>
            <a:off x="6627636" y="3958329"/>
            <a:ext cx="1977622" cy="586854"/>
            <a:chOff x="6627636" y="3958329"/>
            <a:chExt cx="1977622" cy="586854"/>
          </a:xfrm>
        </p:grpSpPr>
        <p:cxnSp>
          <p:nvCxnSpPr>
            <p:cNvPr id="443" name="直接连接符 442"/>
            <p:cNvCxnSpPr/>
            <p:nvPr/>
          </p:nvCxnSpPr>
          <p:spPr bwMode="auto">
            <a:xfrm>
              <a:off x="6627636" y="3958329"/>
              <a:ext cx="1617260" cy="586854"/>
            </a:xfrm>
            <a:prstGeom prst="line">
              <a:avLst/>
            </a:prstGeom>
            <a:noFill/>
            <a:ln w="19050" cap="flat" cmpd="sng" algn="ctr">
              <a:solidFill>
                <a:srgbClr val="C0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5" name="Text Box 75"/>
            <p:cNvSpPr txBox="1">
              <a:spLocks noChangeArrowheads="1"/>
            </p:cNvSpPr>
            <p:nvPr/>
          </p:nvSpPr>
          <p:spPr bwMode="auto">
            <a:xfrm>
              <a:off x="7931904" y="4044577"/>
              <a:ext cx="673354"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M</a:t>
              </a:r>
              <a:r>
                <a:rPr kumimoji="1" lang="zh-CN" altLang="en-US" sz="2000" b="1" dirty="0" smtClean="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线</a:t>
              </a:r>
              <a:endParaRPr kumimoji="1" lang="en-US" altLang="zh-CN" sz="2000" b="1" dirty="0">
                <a:solidFill>
                  <a:srgbClr val="A50021"/>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grpSp>
      <p:sp>
        <p:nvSpPr>
          <p:cNvPr id="446" name="Text Box 3"/>
          <p:cNvSpPr txBox="1">
            <a:spLocks noChangeArrowheads="1"/>
          </p:cNvSpPr>
          <p:nvPr/>
        </p:nvSpPr>
        <p:spPr bwMode="auto">
          <a:xfrm>
            <a:off x="849813" y="1262969"/>
            <a:ext cx="4624555"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0" indent="0" eaLnBrk="1" hangingPunct="1">
              <a:lnSpc>
                <a:spcPct val="125000"/>
              </a:lnSpc>
              <a:spcBef>
                <a:spcPts val="300"/>
              </a:spcBef>
              <a:spcAft>
                <a:spcPts val="300"/>
              </a:spcAft>
              <a:buClr>
                <a:srgbClr val="A50021"/>
              </a:buClr>
              <a:buSzPct val="130000"/>
            </a:pPr>
            <a:r>
              <a:rPr lang="zh-CN" altLang="en-US" sz="2200" b="1" dirty="0" smtClean="0">
                <a:solidFill>
                  <a:srgbClr val="000066"/>
                </a:solidFill>
                <a:ea typeface="幼圆" pitchFamily="49" charset="-122"/>
              </a:rPr>
              <a:t>是对基本方法的改进与简化：</a:t>
            </a:r>
            <a:r>
              <a:rPr lang="en-US" altLang="zh-CN" sz="2200" b="1" dirty="0" smtClean="0">
                <a:solidFill>
                  <a:srgbClr val="000066"/>
                </a:solidFill>
                <a:ea typeface="幼圆" pitchFamily="49" charset="-122"/>
              </a:rPr>
              <a:t/>
            </a:r>
            <a:br>
              <a:rPr lang="en-US" altLang="zh-CN" sz="2200" b="1" dirty="0" smtClean="0">
                <a:solidFill>
                  <a:srgbClr val="000066"/>
                </a:solidFill>
                <a:ea typeface="幼圆" pitchFamily="49" charset="-122"/>
              </a:rPr>
            </a:br>
            <a:r>
              <a:rPr lang="en-US" altLang="zh-CN" sz="2200" b="1" dirty="0" smtClean="0">
                <a:solidFill>
                  <a:srgbClr val="000066"/>
                </a:solidFill>
                <a:ea typeface="幼圆" pitchFamily="49" charset="-122"/>
              </a:rPr>
              <a:t>1</a:t>
            </a:r>
            <a:r>
              <a:rPr lang="zh-CN" altLang="en-US" sz="2200" b="1" dirty="0" smtClean="0">
                <a:solidFill>
                  <a:srgbClr val="000066"/>
                </a:solidFill>
                <a:ea typeface="幼圆" pitchFamily="49" charset="-122"/>
              </a:rPr>
              <a:t>）三角形顶点</a:t>
            </a:r>
            <a:r>
              <a:rPr lang="en-US" altLang="zh-CN" sz="2200" b="1" dirty="0" err="1" smtClean="0">
                <a:solidFill>
                  <a:srgbClr val="000066"/>
                </a:solidFill>
                <a:ea typeface="幼圆" pitchFamily="49" charset="-122"/>
              </a:rPr>
              <a:t>直接放在墙趾A处</a:t>
            </a:r>
            <a:r>
              <a:rPr lang="en-US" altLang="zh-CN" sz="2200" b="1" dirty="0" smtClean="0">
                <a:solidFill>
                  <a:srgbClr val="000066"/>
                </a:solidFill>
                <a:ea typeface="幼圆" pitchFamily="49" charset="-122"/>
              </a:rPr>
              <a:t/>
            </a:r>
            <a:br>
              <a:rPr lang="en-US" altLang="zh-CN" sz="2200" b="1" dirty="0" smtClean="0">
                <a:solidFill>
                  <a:srgbClr val="000066"/>
                </a:solidFill>
                <a:ea typeface="幼圆" pitchFamily="49" charset="-122"/>
              </a:rPr>
            </a:br>
            <a:r>
              <a:rPr lang="en-US" altLang="zh-CN" sz="2200" b="1" dirty="0" smtClean="0">
                <a:solidFill>
                  <a:srgbClr val="000066"/>
                </a:solidFill>
                <a:ea typeface="幼圆" pitchFamily="49" charset="-122"/>
              </a:rPr>
              <a:t>2</a:t>
            </a:r>
            <a:r>
              <a:rPr lang="zh-CN" altLang="en-US" sz="2200" b="1" dirty="0" smtClean="0">
                <a:solidFill>
                  <a:srgbClr val="000066"/>
                </a:solidFill>
                <a:ea typeface="幼圆" pitchFamily="49" charset="-122"/>
              </a:rPr>
              <a:t>）</a:t>
            </a:r>
            <a:r>
              <a:rPr lang="en-US" altLang="zh-CN" sz="2200" b="1" dirty="0" smtClean="0">
                <a:solidFill>
                  <a:srgbClr val="000066"/>
                </a:solidFill>
                <a:ea typeface="幼圆" pitchFamily="49" charset="-122"/>
              </a:rPr>
              <a:t>逆时针旋转90</a:t>
            </a:r>
            <a:r>
              <a:rPr lang="en-US" altLang="zh-CN" sz="2200" b="1" dirty="0" smtClean="0">
                <a:solidFill>
                  <a:srgbClr val="000066"/>
                </a:solidFill>
                <a:ea typeface="幼圆" pitchFamily="49" charset="-122"/>
                <a:sym typeface="Symbol" panose="05050102010706020507" pitchFamily="18" charset="2"/>
              </a:rPr>
              <a:t>+</a:t>
            </a:r>
            <a:r>
              <a:rPr lang="en-US" altLang="zh-CN" sz="2200" b="1" i="1" dirty="0" smtClean="0">
                <a:solidFill>
                  <a:srgbClr val="000066"/>
                </a:solidFill>
                <a:ea typeface="幼圆" pitchFamily="49" charset="-122"/>
                <a:sym typeface="Symbol" panose="05050102010706020507" pitchFamily="18" charset="2"/>
              </a:rPr>
              <a:t></a:t>
            </a:r>
            <a:endParaRPr lang="zh-CN" altLang="en-US" sz="2200" b="1" i="1" dirty="0">
              <a:solidFill>
                <a:srgbClr val="000066"/>
              </a:solidFill>
              <a:ea typeface="幼圆" pitchFamily="49" charset="-122"/>
            </a:endParaRPr>
          </a:p>
        </p:txBody>
      </p:sp>
      <p:sp>
        <p:nvSpPr>
          <p:cNvPr id="103" name="Text Box 75"/>
          <p:cNvSpPr txBox="1">
            <a:spLocks noChangeArrowheads="1"/>
          </p:cNvSpPr>
          <p:nvPr/>
        </p:nvSpPr>
        <p:spPr bwMode="auto">
          <a:xfrm>
            <a:off x="3969628" y="2780861"/>
            <a:ext cx="546989"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o</a:t>
            </a:r>
          </a:p>
        </p:txBody>
      </p:sp>
      <p:sp>
        <p:nvSpPr>
          <p:cNvPr id="104"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库伦土压力图解法</a:t>
            </a:r>
          </a:p>
        </p:txBody>
      </p:sp>
    </p:spTree>
    <p:extLst>
      <p:ext uri="{BB962C8B-B14F-4D97-AF65-F5344CB8AC3E}">
        <p14:creationId xmlns:p14="http://schemas.microsoft.com/office/powerpoint/2010/main" val="9429386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par>
                          <p:cTn id="17" fill="hold">
                            <p:stCondLst>
                              <p:cond delay="500"/>
                            </p:stCondLst>
                            <p:childTnLst>
                              <p:par>
                                <p:cTn id="18" presetID="22" presetClass="entr" presetSubtype="4" repeatCount="300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57</a:t>
            </a:fld>
            <a:endParaRPr lang="zh-CN" altLang="en-US" dirty="0">
              <a:solidFill>
                <a:srgbClr val="C00000"/>
              </a:solidFill>
            </a:endParaRPr>
          </a:p>
        </p:txBody>
      </p:sp>
      <p:sp>
        <p:nvSpPr>
          <p:cNvPr id="105" name="Rectangle 3"/>
          <p:cNvSpPr txBox="1">
            <a:spLocks noChangeArrowheads="1"/>
          </p:cNvSpPr>
          <p:nvPr/>
        </p:nvSpPr>
        <p:spPr bwMode="auto">
          <a:xfrm>
            <a:off x="432533" y="536298"/>
            <a:ext cx="5403724"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C00000"/>
                </a:solidFill>
                <a:latin typeface="微软雅黑" panose="020B0503020204020204" pitchFamily="34" charset="-122"/>
                <a:ea typeface="微软雅黑" panose="020B0503020204020204" pitchFamily="34" charset="-122"/>
              </a:rPr>
              <a:t> 库尔曼（</a:t>
            </a:r>
            <a:r>
              <a:rPr lang="en-US" altLang="zh-CN" sz="2800" b="1" kern="0" dirty="0" err="1" smtClean="0">
                <a:solidFill>
                  <a:srgbClr val="C00000"/>
                </a:solidFill>
                <a:latin typeface="微软雅黑" panose="020B0503020204020204" pitchFamily="34" charset="-122"/>
                <a:ea typeface="微软雅黑" panose="020B0503020204020204" pitchFamily="34" charset="-122"/>
              </a:rPr>
              <a:t>Culmann</a:t>
            </a:r>
            <a:r>
              <a:rPr lang="zh-CN" altLang="en-US" sz="2800" b="1" kern="0" dirty="0" smtClean="0">
                <a:solidFill>
                  <a:srgbClr val="C00000"/>
                </a:solidFill>
                <a:latin typeface="微软雅黑" panose="020B0503020204020204" pitchFamily="34" charset="-122"/>
                <a:ea typeface="微软雅黑" panose="020B0503020204020204" pitchFamily="34" charset="-122"/>
              </a:rPr>
              <a:t>）图解法</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2"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库伦</a:t>
            </a:r>
            <a:r>
              <a:rPr lang="zh-CN" altLang="en-US" sz="1800" b="1" kern="900" spc="130" dirty="0">
                <a:solidFill>
                  <a:srgbClr val="000066"/>
                </a:solidFill>
                <a:ea typeface="黑体" panose="02010609060101010101" pitchFamily="49" charset="-122"/>
                <a:cs typeface="Times New Roman" panose="02020603050405020304" pitchFamily="18" charset="0"/>
              </a:rPr>
              <a:t>土压力图解法</a:t>
            </a:r>
          </a:p>
        </p:txBody>
      </p:sp>
      <p:grpSp>
        <p:nvGrpSpPr>
          <p:cNvPr id="2" name="组合 1"/>
          <p:cNvGrpSpPr/>
          <p:nvPr/>
        </p:nvGrpSpPr>
        <p:grpSpPr>
          <a:xfrm>
            <a:off x="5089748" y="1758457"/>
            <a:ext cx="3299554" cy="3291549"/>
            <a:chOff x="5089748" y="1758457"/>
            <a:chExt cx="3299554" cy="3291549"/>
          </a:xfrm>
        </p:grpSpPr>
        <p:sp>
          <p:nvSpPr>
            <p:cNvPr id="98" name="任意多边形 97"/>
            <p:cNvSpPr/>
            <p:nvPr/>
          </p:nvSpPr>
          <p:spPr bwMode="auto">
            <a:xfrm>
              <a:off x="5089748" y="2541329"/>
              <a:ext cx="996004" cy="2064297"/>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2" name="任意多边形 101"/>
            <p:cNvSpPr/>
            <p:nvPr/>
          </p:nvSpPr>
          <p:spPr bwMode="auto">
            <a:xfrm>
              <a:off x="5649698" y="1758457"/>
              <a:ext cx="2739604" cy="785045"/>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4459" h="659958">
                  <a:moveTo>
                    <a:pt x="0" y="659958"/>
                  </a:moveTo>
                  <a:cubicBezTo>
                    <a:pt x="67586" y="625502"/>
                    <a:pt x="131196" y="589722"/>
                    <a:pt x="246490" y="532738"/>
                  </a:cubicBezTo>
                  <a:cubicBezTo>
                    <a:pt x="361784" y="475754"/>
                    <a:pt x="523460" y="384313"/>
                    <a:pt x="691763" y="318052"/>
                  </a:cubicBezTo>
                  <a:cubicBezTo>
                    <a:pt x="860066" y="251791"/>
                    <a:pt x="1057523" y="188181"/>
                    <a:pt x="1256306" y="135172"/>
                  </a:cubicBezTo>
                  <a:cubicBezTo>
                    <a:pt x="1455089" y="82163"/>
                    <a:pt x="1669774" y="41081"/>
                    <a:pt x="1884459"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7" name="直接连接符 106"/>
            <p:cNvCxnSpPr/>
            <p:nvPr/>
          </p:nvCxnSpPr>
          <p:spPr bwMode="auto">
            <a:xfrm>
              <a:off x="6082681" y="4603186"/>
              <a:ext cx="147493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75"/>
            <p:cNvSpPr txBox="1">
              <a:spLocks noChangeArrowheads="1"/>
            </p:cNvSpPr>
            <p:nvPr/>
          </p:nvSpPr>
          <p:spPr bwMode="auto">
            <a:xfrm>
              <a:off x="5864024" y="4572313"/>
              <a:ext cx="488138" cy="47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A</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sp>
          <p:nvSpPr>
            <p:cNvPr id="109" name="Text Box 75"/>
            <p:cNvSpPr txBox="1">
              <a:spLocks noChangeArrowheads="1"/>
            </p:cNvSpPr>
            <p:nvPr/>
          </p:nvSpPr>
          <p:spPr bwMode="auto">
            <a:xfrm>
              <a:off x="5336846" y="2083112"/>
              <a:ext cx="627640" cy="56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B</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sp>
        <p:nvSpPr>
          <p:cNvPr id="120" name="任意多边形 119"/>
          <p:cNvSpPr/>
          <p:nvPr/>
        </p:nvSpPr>
        <p:spPr bwMode="auto">
          <a:xfrm rot="13846701">
            <a:off x="6720971" y="1678108"/>
            <a:ext cx="555446" cy="2860978"/>
          </a:xfrm>
          <a:custGeom>
            <a:avLst/>
            <a:gdLst>
              <a:gd name="connsiteX0" fmla="*/ 0 w 383471"/>
              <a:gd name="connsiteY0" fmla="*/ 0 h 1967948"/>
              <a:gd name="connsiteX1" fmla="*/ 147099 w 383471"/>
              <a:gd name="connsiteY1" fmla="*/ 254442 h 1967948"/>
              <a:gd name="connsiteX2" fmla="*/ 262393 w 383471"/>
              <a:gd name="connsiteY2" fmla="*/ 504908 h 1967948"/>
              <a:gd name="connsiteX3" fmla="*/ 345882 w 383471"/>
              <a:gd name="connsiteY3" fmla="*/ 834887 h 1967948"/>
              <a:gd name="connsiteX4" fmla="*/ 381663 w 383471"/>
              <a:gd name="connsiteY4" fmla="*/ 1089329 h 1967948"/>
              <a:gd name="connsiteX5" fmla="*/ 369736 w 383471"/>
              <a:gd name="connsiteY5" fmla="*/ 1451113 h 1967948"/>
              <a:gd name="connsiteX6" fmla="*/ 298174 w 383471"/>
              <a:gd name="connsiteY6" fmla="*/ 1681701 h 1967948"/>
              <a:gd name="connsiteX7" fmla="*/ 163002 w 383471"/>
              <a:gd name="connsiteY7" fmla="*/ 1967948 h 1967948"/>
              <a:gd name="connsiteX0" fmla="*/ 0 w 383762"/>
              <a:gd name="connsiteY0" fmla="*/ 0 h 1967948"/>
              <a:gd name="connsiteX1" fmla="*/ 147099 w 383762"/>
              <a:gd name="connsiteY1" fmla="*/ 254442 h 1967948"/>
              <a:gd name="connsiteX2" fmla="*/ 262393 w 383762"/>
              <a:gd name="connsiteY2" fmla="*/ 504908 h 1967948"/>
              <a:gd name="connsiteX3" fmla="*/ 341907 w 383762"/>
              <a:gd name="connsiteY3" fmla="*/ 811033 h 1967948"/>
              <a:gd name="connsiteX4" fmla="*/ 381663 w 383762"/>
              <a:gd name="connsiteY4" fmla="*/ 1089329 h 1967948"/>
              <a:gd name="connsiteX5" fmla="*/ 369736 w 383762"/>
              <a:gd name="connsiteY5" fmla="*/ 1451113 h 1967948"/>
              <a:gd name="connsiteX6" fmla="*/ 298174 w 383762"/>
              <a:gd name="connsiteY6" fmla="*/ 1681701 h 1967948"/>
              <a:gd name="connsiteX7" fmla="*/ 163002 w 383762"/>
              <a:gd name="connsiteY7" fmla="*/ 1967948 h 1967948"/>
              <a:gd name="connsiteX0" fmla="*/ 0 w 382872"/>
              <a:gd name="connsiteY0" fmla="*/ 0 h 1967948"/>
              <a:gd name="connsiteX1" fmla="*/ 147099 w 382872"/>
              <a:gd name="connsiteY1" fmla="*/ 254442 h 1967948"/>
              <a:gd name="connsiteX2" fmla="*/ 262393 w 382872"/>
              <a:gd name="connsiteY2" fmla="*/ 504908 h 1967948"/>
              <a:gd name="connsiteX3" fmla="*/ 341907 w 382872"/>
              <a:gd name="connsiteY3" fmla="*/ 811033 h 1967948"/>
              <a:gd name="connsiteX4" fmla="*/ 381663 w 382872"/>
              <a:gd name="connsiteY4" fmla="*/ 1089329 h 1967948"/>
              <a:gd name="connsiteX5" fmla="*/ 365761 w 382872"/>
              <a:gd name="connsiteY5" fmla="*/ 1439186 h 1967948"/>
              <a:gd name="connsiteX6" fmla="*/ 298174 w 382872"/>
              <a:gd name="connsiteY6" fmla="*/ 1681701 h 1967948"/>
              <a:gd name="connsiteX7" fmla="*/ 163002 w 382872"/>
              <a:gd name="connsiteY7" fmla="*/ 1967948 h 1967948"/>
              <a:gd name="connsiteX0" fmla="*/ 0 w 382018"/>
              <a:gd name="connsiteY0" fmla="*/ 0 h 1967948"/>
              <a:gd name="connsiteX1" fmla="*/ 147099 w 382018"/>
              <a:gd name="connsiteY1" fmla="*/ 254442 h 1967948"/>
              <a:gd name="connsiteX2" fmla="*/ 262393 w 382018"/>
              <a:gd name="connsiteY2" fmla="*/ 504908 h 1967948"/>
              <a:gd name="connsiteX3" fmla="*/ 341907 w 382018"/>
              <a:gd name="connsiteY3" fmla="*/ 811033 h 1967948"/>
              <a:gd name="connsiteX4" fmla="*/ 381663 w 382018"/>
              <a:gd name="connsiteY4" fmla="*/ 1089329 h 1967948"/>
              <a:gd name="connsiteX5" fmla="*/ 357809 w 382018"/>
              <a:gd name="connsiteY5" fmla="*/ 1439186 h 1967948"/>
              <a:gd name="connsiteX6" fmla="*/ 298174 w 382018"/>
              <a:gd name="connsiteY6" fmla="*/ 1681701 h 1967948"/>
              <a:gd name="connsiteX7" fmla="*/ 163002 w 382018"/>
              <a:gd name="connsiteY7" fmla="*/ 1967948 h 1967948"/>
              <a:gd name="connsiteX0" fmla="*/ 0 w 382068"/>
              <a:gd name="connsiteY0" fmla="*/ 0 h 1967948"/>
              <a:gd name="connsiteX1" fmla="*/ 147099 w 382068"/>
              <a:gd name="connsiteY1" fmla="*/ 254442 h 1967948"/>
              <a:gd name="connsiteX2" fmla="*/ 262393 w 382068"/>
              <a:gd name="connsiteY2" fmla="*/ 504908 h 1967948"/>
              <a:gd name="connsiteX3" fmla="*/ 341907 w 382068"/>
              <a:gd name="connsiteY3" fmla="*/ 811033 h 1967948"/>
              <a:gd name="connsiteX4" fmla="*/ 381663 w 382068"/>
              <a:gd name="connsiteY4" fmla="*/ 1089329 h 1967948"/>
              <a:gd name="connsiteX5" fmla="*/ 357809 w 382068"/>
              <a:gd name="connsiteY5" fmla="*/ 1439186 h 1967948"/>
              <a:gd name="connsiteX6" fmla="*/ 286247 w 382068"/>
              <a:gd name="connsiteY6" fmla="*/ 1681701 h 1967948"/>
              <a:gd name="connsiteX7" fmla="*/ 163002 w 382068"/>
              <a:gd name="connsiteY7" fmla="*/ 1967948 h 196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068" h="1967948">
                <a:moveTo>
                  <a:pt x="0" y="0"/>
                </a:moveTo>
                <a:cubicBezTo>
                  <a:pt x="51683" y="85145"/>
                  <a:pt x="103367" y="170291"/>
                  <a:pt x="147099" y="254442"/>
                </a:cubicBezTo>
                <a:cubicBezTo>
                  <a:pt x="190831" y="338593"/>
                  <a:pt x="229925" y="412143"/>
                  <a:pt x="262393" y="504908"/>
                </a:cubicBezTo>
                <a:cubicBezTo>
                  <a:pt x="294861" y="597673"/>
                  <a:pt x="322029" y="713630"/>
                  <a:pt x="341907" y="811033"/>
                </a:cubicBezTo>
                <a:cubicBezTo>
                  <a:pt x="361785" y="908437"/>
                  <a:pt x="379013" y="984637"/>
                  <a:pt x="381663" y="1089329"/>
                </a:cubicBezTo>
                <a:cubicBezTo>
                  <a:pt x="384313" y="1194021"/>
                  <a:pt x="373712" y="1340457"/>
                  <a:pt x="357809" y="1439186"/>
                </a:cubicBezTo>
                <a:cubicBezTo>
                  <a:pt x="341906" y="1537915"/>
                  <a:pt x="318715" y="1593574"/>
                  <a:pt x="286247" y="1681701"/>
                </a:cubicBezTo>
                <a:cubicBezTo>
                  <a:pt x="253779" y="1769828"/>
                  <a:pt x="213360" y="1867894"/>
                  <a:pt x="163002" y="1967948"/>
                </a:cubicBezTo>
              </a:path>
            </a:pathLst>
          </a:custGeom>
          <a:noFill/>
          <a:ln w="28575"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5" name="组合 4"/>
          <p:cNvGrpSpPr/>
          <p:nvPr/>
        </p:nvGrpSpPr>
        <p:grpSpPr>
          <a:xfrm>
            <a:off x="6053928" y="1710804"/>
            <a:ext cx="511311" cy="2897851"/>
            <a:chOff x="6053928" y="1710804"/>
            <a:chExt cx="511311" cy="2897851"/>
          </a:xfrm>
        </p:grpSpPr>
        <p:sp>
          <p:nvSpPr>
            <p:cNvPr id="110" name="Text Box 75"/>
            <p:cNvSpPr txBox="1">
              <a:spLocks noChangeArrowheads="1"/>
            </p:cNvSpPr>
            <p:nvPr/>
          </p:nvSpPr>
          <p:spPr bwMode="auto">
            <a:xfrm>
              <a:off x="6053928" y="1710804"/>
              <a:ext cx="511311" cy="47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cxnSp>
          <p:nvCxnSpPr>
            <p:cNvPr id="124" name="直接连接符 123"/>
            <p:cNvCxnSpPr/>
            <p:nvPr/>
          </p:nvCxnSpPr>
          <p:spPr bwMode="auto">
            <a:xfrm flipV="1">
              <a:off x="6067713" y="2253700"/>
              <a:ext cx="299035" cy="2354955"/>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26" name="直接箭头连接符 125"/>
          <p:cNvCxnSpPr/>
          <p:nvPr/>
        </p:nvCxnSpPr>
        <p:spPr bwMode="auto">
          <a:xfrm rot="13846701" flipV="1">
            <a:off x="7301891" y="2352952"/>
            <a:ext cx="848497" cy="730662"/>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129"/>
          <p:cNvCxnSpPr>
            <a:stCxn id="98" idx="0"/>
          </p:cNvCxnSpPr>
          <p:nvPr/>
        </p:nvCxnSpPr>
        <p:spPr bwMode="auto">
          <a:xfrm flipV="1">
            <a:off x="6085752" y="1895071"/>
            <a:ext cx="1486166" cy="2710555"/>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p:cNvGrpSpPr/>
          <p:nvPr/>
        </p:nvGrpSpPr>
        <p:grpSpPr>
          <a:xfrm>
            <a:off x="6080139" y="1561294"/>
            <a:ext cx="992071" cy="3024895"/>
            <a:chOff x="6080139" y="1561294"/>
            <a:chExt cx="992071" cy="3024895"/>
          </a:xfrm>
        </p:grpSpPr>
        <p:cxnSp>
          <p:nvCxnSpPr>
            <p:cNvPr id="128" name="直接连接符 127"/>
            <p:cNvCxnSpPr/>
            <p:nvPr/>
          </p:nvCxnSpPr>
          <p:spPr bwMode="auto">
            <a:xfrm flipV="1">
              <a:off x="6080139" y="2078656"/>
              <a:ext cx="818330" cy="2507533"/>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 Box 75"/>
            <p:cNvSpPr txBox="1">
              <a:spLocks noChangeArrowheads="1"/>
            </p:cNvSpPr>
            <p:nvPr/>
          </p:nvSpPr>
          <p:spPr bwMode="auto">
            <a:xfrm>
              <a:off x="6535911" y="1561294"/>
              <a:ext cx="536299" cy="47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16" name="组合 15"/>
          <p:cNvGrpSpPr/>
          <p:nvPr/>
        </p:nvGrpSpPr>
        <p:grpSpPr>
          <a:xfrm>
            <a:off x="6085752" y="1429604"/>
            <a:ext cx="1571691" cy="3176022"/>
            <a:chOff x="6085752" y="1429604"/>
            <a:chExt cx="1571691" cy="3176022"/>
          </a:xfrm>
        </p:grpSpPr>
        <p:cxnSp>
          <p:nvCxnSpPr>
            <p:cNvPr id="138" name="直接连接符 137"/>
            <p:cNvCxnSpPr>
              <a:stCxn id="98" idx="0"/>
            </p:cNvCxnSpPr>
            <p:nvPr/>
          </p:nvCxnSpPr>
          <p:spPr bwMode="auto">
            <a:xfrm flipV="1">
              <a:off x="6085752" y="1943735"/>
              <a:ext cx="1263694" cy="2661891"/>
            </a:xfrm>
            <a:prstGeom prst="line">
              <a:avLst/>
            </a:pr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Text Box 75"/>
            <p:cNvSpPr txBox="1">
              <a:spLocks noChangeArrowheads="1"/>
            </p:cNvSpPr>
            <p:nvPr/>
          </p:nvSpPr>
          <p:spPr bwMode="auto">
            <a:xfrm>
              <a:off x="7100013" y="1429604"/>
              <a:ext cx="557430" cy="44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A50021"/>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A50021"/>
                  </a:solidFill>
                  <a:latin typeface="Times New Roman" panose="02020603050405020304" pitchFamily="18" charset="0"/>
                  <a:sym typeface="Symbol" panose="05050102010706020507" pitchFamily="18" charset="2"/>
                </a:rPr>
                <a:t>a</a:t>
              </a:r>
              <a:endParaRPr kumimoji="1" lang="en-US" altLang="zh-CN" sz="1800" b="1" baseline="-25000" dirty="0">
                <a:solidFill>
                  <a:srgbClr val="A50021"/>
                </a:solidFill>
                <a:latin typeface="Times New Roman" panose="02020603050405020304" pitchFamily="18" charset="0"/>
                <a:sym typeface="Symbol" panose="05050102010706020507" pitchFamily="18" charset="2"/>
              </a:endParaRPr>
            </a:p>
          </p:txBody>
        </p:sp>
      </p:grpSp>
      <p:grpSp>
        <p:nvGrpSpPr>
          <p:cNvPr id="7" name="组合 6"/>
          <p:cNvGrpSpPr/>
          <p:nvPr/>
        </p:nvGrpSpPr>
        <p:grpSpPr>
          <a:xfrm>
            <a:off x="6085752" y="1275904"/>
            <a:ext cx="2542999" cy="3329722"/>
            <a:chOff x="6085752" y="1275904"/>
            <a:chExt cx="2542999" cy="3329722"/>
          </a:xfrm>
        </p:grpSpPr>
        <p:cxnSp>
          <p:nvCxnSpPr>
            <p:cNvPr id="131" name="直接连接符 130"/>
            <p:cNvCxnSpPr>
              <a:stCxn id="98" idx="0"/>
            </p:cNvCxnSpPr>
            <p:nvPr/>
          </p:nvCxnSpPr>
          <p:spPr bwMode="auto">
            <a:xfrm flipV="1">
              <a:off x="6085752" y="1790973"/>
              <a:ext cx="2127376" cy="2814653"/>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75"/>
            <p:cNvSpPr txBox="1">
              <a:spLocks noChangeArrowheads="1"/>
            </p:cNvSpPr>
            <p:nvPr/>
          </p:nvSpPr>
          <p:spPr bwMode="auto">
            <a:xfrm>
              <a:off x="7914306" y="1275904"/>
              <a:ext cx="714445"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C</a:t>
              </a:r>
              <a:r>
                <a:rPr kumimoji="1" lang="en-US" altLang="zh-CN" sz="1800" b="1" baseline="-25000" dirty="0" smtClean="0">
                  <a:solidFill>
                    <a:srgbClr val="000066"/>
                  </a:solidFill>
                  <a:latin typeface="Times New Roman" panose="02020603050405020304" pitchFamily="18" charset="0"/>
                  <a:sym typeface="Symbol" panose="05050102010706020507" pitchFamily="18" charset="2"/>
                </a:rPr>
                <a:t>n</a:t>
              </a:r>
              <a:endParaRPr kumimoji="1" lang="en-US" altLang="zh-CN" sz="1800" b="1" baseline="-25000" dirty="0">
                <a:solidFill>
                  <a:srgbClr val="000066"/>
                </a:solidFill>
                <a:latin typeface="Times New Roman" panose="02020603050405020304" pitchFamily="18" charset="0"/>
                <a:sym typeface="Symbol" panose="05050102010706020507" pitchFamily="18" charset="2"/>
              </a:endParaRPr>
            </a:p>
          </p:txBody>
        </p:sp>
      </p:grpSp>
      <p:grpSp>
        <p:nvGrpSpPr>
          <p:cNvPr id="9" name="组合 8"/>
          <p:cNvGrpSpPr/>
          <p:nvPr/>
        </p:nvGrpSpPr>
        <p:grpSpPr>
          <a:xfrm>
            <a:off x="5689063" y="3715538"/>
            <a:ext cx="1361495" cy="715671"/>
            <a:chOff x="5689063" y="3715538"/>
            <a:chExt cx="1361495" cy="715671"/>
          </a:xfrm>
        </p:grpSpPr>
        <p:sp>
          <p:nvSpPr>
            <p:cNvPr id="160" name="Text Box 75"/>
            <p:cNvSpPr txBox="1">
              <a:spLocks noChangeArrowheads="1"/>
            </p:cNvSpPr>
            <p:nvPr/>
          </p:nvSpPr>
          <p:spPr bwMode="auto">
            <a:xfrm>
              <a:off x="6564979" y="3945390"/>
              <a:ext cx="485579" cy="48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n</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nvGrpSpPr>
            <p:cNvPr id="8" name="组合 7"/>
            <p:cNvGrpSpPr/>
            <p:nvPr/>
          </p:nvGrpSpPr>
          <p:grpSpPr>
            <a:xfrm>
              <a:off x="5689063" y="3715538"/>
              <a:ext cx="833084" cy="604907"/>
              <a:chOff x="5689063" y="3715538"/>
              <a:chExt cx="833084" cy="604907"/>
            </a:xfrm>
          </p:grpSpPr>
          <p:cxnSp>
            <p:nvCxnSpPr>
              <p:cNvPr id="122" name="直接箭头连接符 121"/>
              <p:cNvCxnSpPr/>
              <p:nvPr/>
            </p:nvCxnSpPr>
            <p:spPr bwMode="auto">
              <a:xfrm rot="13846701" flipV="1">
                <a:off x="6180470" y="3978769"/>
                <a:ext cx="367171" cy="316182"/>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Text Box 75"/>
              <p:cNvSpPr txBox="1">
                <a:spLocks noChangeArrowheads="1"/>
              </p:cNvSpPr>
              <p:nvPr/>
            </p:nvSpPr>
            <p:spPr bwMode="auto">
              <a:xfrm>
                <a:off x="5689063" y="3715538"/>
                <a:ext cx="497051" cy="45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grpSp>
      <p:grpSp>
        <p:nvGrpSpPr>
          <p:cNvPr id="15" name="组合 14"/>
          <p:cNvGrpSpPr/>
          <p:nvPr/>
        </p:nvGrpSpPr>
        <p:grpSpPr>
          <a:xfrm>
            <a:off x="7119948" y="2475396"/>
            <a:ext cx="1347366" cy="900799"/>
            <a:chOff x="7119948" y="2475396"/>
            <a:chExt cx="1347366" cy="900799"/>
          </a:xfrm>
        </p:grpSpPr>
        <p:cxnSp>
          <p:nvCxnSpPr>
            <p:cNvPr id="137" name="直接箭头连接符 136"/>
            <p:cNvCxnSpPr/>
            <p:nvPr/>
          </p:nvCxnSpPr>
          <p:spPr bwMode="auto">
            <a:xfrm rot="13846701" flipV="1">
              <a:off x="7060412" y="2534932"/>
              <a:ext cx="857379" cy="738307"/>
            </a:xfrm>
            <a:prstGeom prst="straightConnector1">
              <a:avLst/>
            </a:prstGeom>
            <a:noFill/>
            <a:ln w="1905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Text Box 75"/>
            <p:cNvSpPr txBox="1">
              <a:spLocks noChangeArrowheads="1"/>
            </p:cNvSpPr>
            <p:nvPr/>
          </p:nvSpPr>
          <p:spPr bwMode="auto">
            <a:xfrm>
              <a:off x="8042558" y="2859113"/>
              <a:ext cx="424756" cy="517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n</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163" name="Text Box 75"/>
            <p:cNvSpPr txBox="1">
              <a:spLocks noChangeArrowheads="1"/>
            </p:cNvSpPr>
            <p:nvPr/>
          </p:nvSpPr>
          <p:spPr bwMode="auto">
            <a:xfrm>
              <a:off x="7230684" y="2807912"/>
              <a:ext cx="538882" cy="44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i="1" dirty="0" err="1" smtClean="0">
                  <a:solidFill>
                    <a:srgbClr val="A50021"/>
                  </a:solidFill>
                  <a:latin typeface="Times New Roman" panose="02020603050405020304" pitchFamily="18" charset="0"/>
                  <a:sym typeface="Symbol" panose="05050102010706020507" pitchFamily="18" charset="2"/>
                </a:rPr>
                <a:t>E</a:t>
              </a:r>
              <a:r>
                <a:rPr kumimoji="1" lang="en-US" altLang="zh-CN" sz="1800" b="1" baseline="-25000" dirty="0" err="1" smtClean="0">
                  <a:solidFill>
                    <a:srgbClr val="A50021"/>
                  </a:solidFill>
                  <a:latin typeface="Times New Roman" panose="02020603050405020304" pitchFamily="18" charset="0"/>
                  <a:sym typeface="Symbol" panose="05050102010706020507" pitchFamily="18" charset="2"/>
                </a:rPr>
                <a:t>a</a:t>
              </a:r>
              <a:endParaRPr kumimoji="1" lang="en-US" altLang="zh-CN" sz="1800" b="1" baseline="-25000" dirty="0">
                <a:solidFill>
                  <a:srgbClr val="A50021"/>
                </a:solidFill>
                <a:latin typeface="Times New Roman" panose="02020603050405020304" pitchFamily="18" charset="0"/>
                <a:sym typeface="Symbol" panose="05050102010706020507" pitchFamily="18" charset="2"/>
              </a:endParaRPr>
            </a:p>
          </p:txBody>
        </p:sp>
      </p:grpSp>
      <p:grpSp>
        <p:nvGrpSpPr>
          <p:cNvPr id="4" name="组合 3"/>
          <p:cNvGrpSpPr/>
          <p:nvPr/>
        </p:nvGrpSpPr>
        <p:grpSpPr>
          <a:xfrm>
            <a:off x="6075399" y="1898847"/>
            <a:ext cx="3024933" cy="2716119"/>
            <a:chOff x="6075399" y="1898847"/>
            <a:chExt cx="3024933" cy="2716119"/>
          </a:xfrm>
        </p:grpSpPr>
        <p:cxnSp>
          <p:nvCxnSpPr>
            <p:cNvPr id="179" name="直接箭头连接符 178"/>
            <p:cNvCxnSpPr/>
            <p:nvPr/>
          </p:nvCxnSpPr>
          <p:spPr bwMode="auto">
            <a:xfrm flipV="1">
              <a:off x="6075399" y="2317898"/>
              <a:ext cx="2814310" cy="2297068"/>
            </a:xfrm>
            <a:prstGeom prst="straightConnector1">
              <a:avLst/>
            </a:prstGeom>
            <a:noFill/>
            <a:ln w="28575" cap="flat" cmpd="sng" algn="ctr">
              <a:solidFill>
                <a:srgbClr val="0066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2" name="Text Box 75"/>
            <p:cNvSpPr txBox="1">
              <a:spLocks noChangeArrowheads="1"/>
            </p:cNvSpPr>
            <p:nvPr/>
          </p:nvSpPr>
          <p:spPr bwMode="auto">
            <a:xfrm>
              <a:off x="8612194" y="1898847"/>
              <a:ext cx="488138" cy="44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L</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grpSp>
        <p:nvGrpSpPr>
          <p:cNvPr id="3" name="组合 2"/>
          <p:cNvGrpSpPr/>
          <p:nvPr/>
        </p:nvGrpSpPr>
        <p:grpSpPr>
          <a:xfrm>
            <a:off x="6076142" y="4528649"/>
            <a:ext cx="2232797" cy="448024"/>
            <a:chOff x="6076142" y="4528649"/>
            <a:chExt cx="2232797" cy="448024"/>
          </a:xfrm>
        </p:grpSpPr>
        <p:cxnSp>
          <p:nvCxnSpPr>
            <p:cNvPr id="177" name="直接箭头连接符 176"/>
            <p:cNvCxnSpPr/>
            <p:nvPr/>
          </p:nvCxnSpPr>
          <p:spPr bwMode="auto">
            <a:xfrm flipH="1" flipV="1">
              <a:off x="6076142" y="4602272"/>
              <a:ext cx="1978227" cy="350445"/>
            </a:xfrm>
            <a:prstGeom prst="straightConnector1">
              <a:avLst/>
            </a:prstGeom>
            <a:noFill/>
            <a:ln w="28575"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Text Box 75"/>
            <p:cNvSpPr txBox="1">
              <a:spLocks noChangeArrowheads="1"/>
            </p:cNvSpPr>
            <p:nvPr/>
          </p:nvSpPr>
          <p:spPr bwMode="auto">
            <a:xfrm>
              <a:off x="7820801" y="4528649"/>
              <a:ext cx="488138" cy="44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800" b="1" dirty="0" smtClean="0">
                  <a:solidFill>
                    <a:srgbClr val="000066"/>
                  </a:solidFill>
                  <a:latin typeface="Times New Roman" panose="02020603050405020304" pitchFamily="18" charset="0"/>
                  <a:sym typeface="Symbol" panose="05050102010706020507" pitchFamily="18" charset="2"/>
                </a:rPr>
                <a:t>M</a:t>
              </a:r>
              <a:endParaRPr kumimoji="1" lang="en-US" altLang="zh-CN" sz="1800" b="1" dirty="0">
                <a:solidFill>
                  <a:srgbClr val="000066"/>
                </a:solidFill>
                <a:latin typeface="Times New Roman" panose="02020603050405020304" pitchFamily="18" charset="0"/>
                <a:sym typeface="Symbol" panose="05050102010706020507" pitchFamily="18" charset="2"/>
              </a:endParaRPr>
            </a:p>
          </p:txBody>
        </p:sp>
      </p:grpSp>
      <p:grpSp>
        <p:nvGrpSpPr>
          <p:cNvPr id="13" name="组合 12"/>
          <p:cNvGrpSpPr/>
          <p:nvPr/>
        </p:nvGrpSpPr>
        <p:grpSpPr>
          <a:xfrm>
            <a:off x="6337910" y="4171481"/>
            <a:ext cx="619245" cy="518842"/>
            <a:chOff x="6337910" y="4171481"/>
            <a:chExt cx="619245" cy="518842"/>
          </a:xfrm>
        </p:grpSpPr>
        <p:sp>
          <p:nvSpPr>
            <p:cNvPr id="186" name="Rectangle 74"/>
            <p:cNvSpPr>
              <a:spLocks noChangeArrowheads="1"/>
            </p:cNvSpPr>
            <p:nvPr/>
          </p:nvSpPr>
          <p:spPr bwMode="auto">
            <a:xfrm>
              <a:off x="6450501" y="4171481"/>
              <a:ext cx="506654" cy="51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 </a:t>
              </a:r>
              <a:endPar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endParaRPr>
            </a:p>
          </p:txBody>
        </p:sp>
        <p:sp>
          <p:nvSpPr>
            <p:cNvPr id="184" name="任意多边形 183"/>
            <p:cNvSpPr/>
            <p:nvPr/>
          </p:nvSpPr>
          <p:spPr bwMode="auto">
            <a:xfrm rot="7599602" flipV="1">
              <a:off x="6367993" y="4380333"/>
              <a:ext cx="210085" cy="270252"/>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2" name="组合 11"/>
          <p:cNvGrpSpPr/>
          <p:nvPr/>
        </p:nvGrpSpPr>
        <p:grpSpPr>
          <a:xfrm>
            <a:off x="6684329" y="3998576"/>
            <a:ext cx="682355" cy="518842"/>
            <a:chOff x="6684329" y="3998576"/>
            <a:chExt cx="682355" cy="518842"/>
          </a:xfrm>
        </p:grpSpPr>
        <p:sp>
          <p:nvSpPr>
            <p:cNvPr id="185" name="Rectangle 74"/>
            <p:cNvSpPr>
              <a:spLocks noChangeArrowheads="1"/>
            </p:cNvSpPr>
            <p:nvPr/>
          </p:nvSpPr>
          <p:spPr bwMode="auto">
            <a:xfrm>
              <a:off x="6971215" y="3998576"/>
              <a:ext cx="395469" cy="5188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187" name="任意多边形 186"/>
            <p:cNvSpPr/>
            <p:nvPr/>
          </p:nvSpPr>
          <p:spPr bwMode="auto">
            <a:xfrm rot="7599602" flipV="1">
              <a:off x="6744075" y="4074650"/>
              <a:ext cx="360467" cy="479959"/>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10" name="组合 9"/>
          <p:cNvGrpSpPr/>
          <p:nvPr/>
        </p:nvGrpSpPr>
        <p:grpSpPr>
          <a:xfrm>
            <a:off x="5971875" y="3081305"/>
            <a:ext cx="1853849" cy="818361"/>
            <a:chOff x="5971875" y="3081305"/>
            <a:chExt cx="1853849" cy="818361"/>
          </a:xfrm>
        </p:grpSpPr>
        <p:cxnSp>
          <p:nvCxnSpPr>
            <p:cNvPr id="123" name="直接箭头连接符 122"/>
            <p:cNvCxnSpPr/>
            <p:nvPr/>
          </p:nvCxnSpPr>
          <p:spPr bwMode="auto">
            <a:xfrm flipH="1" flipV="1">
              <a:off x="6488969" y="3324759"/>
              <a:ext cx="959481" cy="169974"/>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 Box 75"/>
            <p:cNvSpPr txBox="1">
              <a:spLocks noChangeArrowheads="1"/>
            </p:cNvSpPr>
            <p:nvPr/>
          </p:nvSpPr>
          <p:spPr bwMode="auto">
            <a:xfrm>
              <a:off x="5971875" y="3081305"/>
              <a:ext cx="50048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sp>
          <p:nvSpPr>
            <p:cNvPr id="192" name="Text Box 75"/>
            <p:cNvSpPr txBox="1">
              <a:spLocks noChangeArrowheads="1"/>
            </p:cNvSpPr>
            <p:nvPr/>
          </p:nvSpPr>
          <p:spPr bwMode="auto">
            <a:xfrm>
              <a:off x="7340145" y="3413847"/>
              <a:ext cx="485579" cy="48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n</a:t>
              </a:r>
              <a:r>
                <a:rPr kumimoji="1" lang="en-US" altLang="zh-CN" sz="2000" b="1" baseline="-25000" dirty="0" smtClean="0">
                  <a:solidFill>
                    <a:srgbClr val="000066"/>
                  </a:solidFill>
                  <a:latin typeface="Times New Roman" panose="02020603050405020304" pitchFamily="18" charset="0"/>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sp>
        <p:nvSpPr>
          <p:cNvPr id="201" name="Text Box 4"/>
          <p:cNvSpPr txBox="1">
            <a:spLocks noChangeArrowheads="1"/>
          </p:cNvSpPr>
          <p:nvPr/>
        </p:nvSpPr>
        <p:spPr bwMode="auto">
          <a:xfrm>
            <a:off x="714354" y="1895985"/>
            <a:ext cx="38179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a:solidFill>
                  <a:srgbClr val="000066"/>
                </a:solidFill>
                <a:ea typeface="幼圆" pitchFamily="49" charset="-122"/>
              </a:rPr>
              <a:t>2</a:t>
            </a:r>
            <a:r>
              <a:rPr lang="zh-CN" altLang="en-US" sz="2000" b="1" dirty="0" smtClean="0">
                <a:solidFill>
                  <a:srgbClr val="000066"/>
                </a:solidFill>
                <a:ea typeface="幼圆" pitchFamily="49" charset="-122"/>
              </a:rPr>
              <a:t>）做不同</a:t>
            </a:r>
            <a:r>
              <a:rPr kumimoji="1" lang="en-US" altLang="zh-CN" sz="2000" b="1" i="1" dirty="0" smtClean="0">
                <a:solidFill>
                  <a:srgbClr val="000066"/>
                </a:solidFill>
                <a:sym typeface="Symbol" panose="05050102010706020507" pitchFamily="18" charset="2"/>
              </a:rPr>
              <a:t> </a:t>
            </a:r>
            <a:r>
              <a:rPr lang="zh-CN" altLang="en-US" sz="2000" b="1" dirty="0" smtClean="0">
                <a:solidFill>
                  <a:srgbClr val="000066"/>
                </a:solidFill>
                <a:ea typeface="幼圆" pitchFamily="49" charset="-122"/>
              </a:rPr>
              <a:t>楔体的力三角形</a:t>
            </a:r>
            <a:endParaRPr lang="zh-CN" altLang="en-US" sz="2000" b="1" i="1" dirty="0">
              <a:solidFill>
                <a:srgbClr val="000066"/>
              </a:solidFill>
              <a:ea typeface="幼圆" pitchFamily="49" charset="-122"/>
            </a:endParaRPr>
          </a:p>
        </p:txBody>
      </p:sp>
      <p:sp>
        <p:nvSpPr>
          <p:cNvPr id="202" name="Text Box 4"/>
          <p:cNvSpPr txBox="1">
            <a:spLocks noChangeArrowheads="1"/>
          </p:cNvSpPr>
          <p:nvPr/>
        </p:nvSpPr>
        <p:spPr bwMode="auto">
          <a:xfrm>
            <a:off x="713091" y="2369023"/>
            <a:ext cx="43175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smtClean="0">
                <a:solidFill>
                  <a:srgbClr val="000066"/>
                </a:solidFill>
                <a:ea typeface="幼圆" pitchFamily="49" charset="-122"/>
              </a:rPr>
              <a:t>3</a:t>
            </a:r>
            <a:r>
              <a:rPr lang="zh-CN" altLang="en-US" sz="2000" b="1" dirty="0" smtClean="0">
                <a:solidFill>
                  <a:srgbClr val="000066"/>
                </a:solidFill>
                <a:ea typeface="幼圆" pitchFamily="49" charset="-122"/>
              </a:rPr>
              <a:t>）连三角形顶点</a:t>
            </a:r>
            <a:r>
              <a:rPr lang="en-US" altLang="zh-CN" sz="2000" b="1" dirty="0" smtClean="0">
                <a:solidFill>
                  <a:srgbClr val="000066"/>
                </a:solidFill>
                <a:ea typeface="幼圆" pitchFamily="49" charset="-122"/>
              </a:rPr>
              <a:t>m</a:t>
            </a:r>
            <a:r>
              <a:rPr lang="en-US" altLang="zh-CN" sz="2000" b="1" baseline="-25000" dirty="0" smtClean="0">
                <a:solidFill>
                  <a:srgbClr val="000066"/>
                </a:solidFill>
                <a:ea typeface="幼圆" pitchFamily="49" charset="-122"/>
              </a:rPr>
              <a:t>1</a:t>
            </a:r>
            <a:r>
              <a:rPr lang="zh-CN" altLang="en-US" sz="2000" b="1" dirty="0" smtClean="0">
                <a:solidFill>
                  <a:srgbClr val="000066"/>
                </a:solidFill>
                <a:ea typeface="幼圆" pitchFamily="49" charset="-122"/>
              </a:rPr>
              <a:t>、</a:t>
            </a:r>
            <a:r>
              <a:rPr lang="en-US" altLang="zh-CN" sz="2000" b="1" dirty="0" smtClean="0">
                <a:solidFill>
                  <a:srgbClr val="000066"/>
                </a:solidFill>
                <a:ea typeface="幼圆" pitchFamily="49" charset="-122"/>
              </a:rPr>
              <a:t>m</a:t>
            </a:r>
            <a:r>
              <a:rPr lang="en-US" altLang="zh-CN" sz="2000" b="1" baseline="-25000" dirty="0" smtClean="0">
                <a:solidFill>
                  <a:srgbClr val="000066"/>
                </a:solidFill>
                <a:ea typeface="幼圆" pitchFamily="49" charset="-122"/>
              </a:rPr>
              <a:t>2</a:t>
            </a:r>
            <a:r>
              <a:rPr lang="zh-CN" altLang="en-US" sz="2000" b="1" dirty="0" smtClean="0">
                <a:solidFill>
                  <a:srgbClr val="000066"/>
                </a:solidFill>
                <a:ea typeface="幼圆" pitchFamily="49" charset="-122"/>
              </a:rPr>
              <a:t>、</a:t>
            </a:r>
            <a:r>
              <a:rPr lang="en-US" altLang="zh-CN" sz="2000" b="1" dirty="0" err="1" smtClean="0">
                <a:solidFill>
                  <a:srgbClr val="000066"/>
                </a:solidFill>
                <a:ea typeface="幼圆" pitchFamily="49" charset="-122"/>
              </a:rPr>
              <a:t>m</a:t>
            </a:r>
            <a:r>
              <a:rPr lang="en-US" altLang="zh-CN" sz="2000" b="1" baseline="-25000" dirty="0" err="1" smtClean="0">
                <a:solidFill>
                  <a:srgbClr val="000066"/>
                </a:solidFill>
                <a:ea typeface="幼圆" pitchFamily="49" charset="-122"/>
              </a:rPr>
              <a:t>n</a:t>
            </a:r>
            <a:r>
              <a:rPr lang="zh-CN" altLang="en-US" sz="2000" b="1" dirty="0" smtClean="0">
                <a:solidFill>
                  <a:srgbClr val="000066"/>
                </a:solidFill>
                <a:ea typeface="幼圆" pitchFamily="49" charset="-122"/>
              </a:rPr>
              <a:t>成曲线</a:t>
            </a:r>
            <a:endParaRPr lang="zh-CN" altLang="en-US" sz="2000" b="1" i="1" baseline="-25000" dirty="0">
              <a:solidFill>
                <a:srgbClr val="000066"/>
              </a:solidFill>
              <a:ea typeface="幼圆" pitchFamily="49" charset="-122"/>
            </a:endParaRPr>
          </a:p>
        </p:txBody>
      </p:sp>
      <p:sp>
        <p:nvSpPr>
          <p:cNvPr id="203" name="Text Box 4"/>
          <p:cNvSpPr txBox="1">
            <a:spLocks noChangeArrowheads="1"/>
          </p:cNvSpPr>
          <p:nvPr/>
        </p:nvSpPr>
        <p:spPr bwMode="auto">
          <a:xfrm>
            <a:off x="719038" y="3323670"/>
            <a:ext cx="4522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a:solidFill>
                  <a:srgbClr val="000066"/>
                </a:solidFill>
                <a:ea typeface="幼圆" pitchFamily="49" charset="-122"/>
              </a:rPr>
              <a:t>4</a:t>
            </a:r>
            <a:r>
              <a:rPr lang="zh-CN" altLang="en-US" sz="2000" b="1" dirty="0" smtClean="0">
                <a:solidFill>
                  <a:srgbClr val="000066"/>
                </a:solidFill>
                <a:ea typeface="幼圆" pitchFamily="49" charset="-122"/>
              </a:rPr>
              <a:t>）作该曲线与</a:t>
            </a:r>
            <a:r>
              <a:rPr lang="en-US" altLang="zh-CN" sz="2000" b="1" dirty="0" smtClean="0">
                <a:solidFill>
                  <a:srgbClr val="000066"/>
                </a:solidFill>
                <a:ea typeface="幼圆" pitchFamily="49" charset="-122"/>
              </a:rPr>
              <a:t>AL</a:t>
            </a:r>
            <a:r>
              <a:rPr lang="zh-CN" altLang="en-US" sz="2000" b="1" dirty="0" smtClean="0">
                <a:solidFill>
                  <a:srgbClr val="000066"/>
                </a:solidFill>
                <a:ea typeface="幼圆" pitchFamily="49" charset="-122"/>
              </a:rPr>
              <a:t>平行的切线，切点</a:t>
            </a:r>
            <a:r>
              <a:rPr lang="en-US" altLang="zh-CN" sz="2000" b="1" dirty="0" smtClean="0">
                <a:solidFill>
                  <a:srgbClr val="000066"/>
                </a:solidFill>
                <a:ea typeface="幼圆" pitchFamily="49" charset="-122"/>
              </a:rPr>
              <a:t>m</a:t>
            </a:r>
          </a:p>
        </p:txBody>
      </p:sp>
      <p:sp>
        <p:nvSpPr>
          <p:cNvPr id="204" name="Text Box 4"/>
          <p:cNvSpPr txBox="1">
            <a:spLocks noChangeArrowheads="1"/>
          </p:cNvSpPr>
          <p:nvPr/>
        </p:nvSpPr>
        <p:spPr bwMode="auto">
          <a:xfrm>
            <a:off x="704411" y="4626840"/>
            <a:ext cx="34177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a:solidFill>
                  <a:srgbClr val="000066"/>
                </a:solidFill>
                <a:ea typeface="幼圆" pitchFamily="49" charset="-122"/>
              </a:rPr>
              <a:t>6</a:t>
            </a:r>
            <a:r>
              <a:rPr lang="zh-CN" altLang="en-US" sz="2000" b="1" dirty="0" smtClean="0">
                <a:solidFill>
                  <a:srgbClr val="000066"/>
                </a:solidFill>
                <a:ea typeface="幼圆" pitchFamily="49" charset="-122"/>
              </a:rPr>
              <a:t>）根据太沙基法确定作用点</a:t>
            </a:r>
            <a:endParaRPr lang="zh-CN" altLang="en-US" sz="2000" b="1" i="1" baseline="-25000" dirty="0">
              <a:solidFill>
                <a:srgbClr val="000066"/>
              </a:solidFill>
              <a:ea typeface="幼圆" pitchFamily="49" charset="-122"/>
            </a:endParaRPr>
          </a:p>
        </p:txBody>
      </p:sp>
      <p:sp>
        <p:nvSpPr>
          <p:cNvPr id="205" name="Text Box 4"/>
          <p:cNvSpPr txBox="1">
            <a:spLocks noChangeArrowheads="1"/>
          </p:cNvSpPr>
          <p:nvPr/>
        </p:nvSpPr>
        <p:spPr bwMode="auto">
          <a:xfrm>
            <a:off x="719359" y="1421067"/>
            <a:ext cx="38179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smtClean="0">
                <a:solidFill>
                  <a:srgbClr val="000066"/>
                </a:solidFill>
                <a:ea typeface="幼圆" pitchFamily="49" charset="-122"/>
              </a:rPr>
              <a:t>1</a:t>
            </a:r>
            <a:r>
              <a:rPr lang="zh-CN" altLang="en-US" sz="2000" b="1" dirty="0" smtClean="0">
                <a:solidFill>
                  <a:srgbClr val="000066"/>
                </a:solidFill>
                <a:ea typeface="幼圆" pitchFamily="49" charset="-122"/>
              </a:rPr>
              <a:t>）过</a:t>
            </a:r>
            <a:r>
              <a:rPr lang="en-US" altLang="zh-CN" sz="2000" b="1" dirty="0" smtClean="0">
                <a:solidFill>
                  <a:srgbClr val="000066"/>
                </a:solidFill>
                <a:ea typeface="幼圆" pitchFamily="49" charset="-122"/>
              </a:rPr>
              <a:t>A</a:t>
            </a:r>
            <a:r>
              <a:rPr lang="zh-CN" altLang="en-US" sz="2000" b="1" dirty="0" smtClean="0">
                <a:solidFill>
                  <a:srgbClr val="000066"/>
                </a:solidFill>
                <a:ea typeface="幼圆" pitchFamily="49" charset="-122"/>
              </a:rPr>
              <a:t>作两条辅助线</a:t>
            </a:r>
            <a:r>
              <a:rPr lang="en-US" altLang="zh-CN" sz="2000" b="1" dirty="0" smtClean="0">
                <a:solidFill>
                  <a:srgbClr val="000066"/>
                </a:solidFill>
                <a:ea typeface="幼圆" pitchFamily="49" charset="-122"/>
              </a:rPr>
              <a:t>AL</a:t>
            </a:r>
            <a:r>
              <a:rPr lang="zh-CN" altLang="en-US" sz="2000" b="1" dirty="0" smtClean="0">
                <a:solidFill>
                  <a:srgbClr val="000066"/>
                </a:solidFill>
                <a:ea typeface="幼圆" pitchFamily="49" charset="-122"/>
              </a:rPr>
              <a:t>和</a:t>
            </a:r>
            <a:r>
              <a:rPr lang="en-US" altLang="zh-CN" sz="2000" b="1" dirty="0" smtClean="0">
                <a:solidFill>
                  <a:srgbClr val="000066"/>
                </a:solidFill>
                <a:ea typeface="幼圆" pitchFamily="49" charset="-122"/>
              </a:rPr>
              <a:t>AM </a:t>
            </a:r>
            <a:endParaRPr lang="zh-CN" altLang="en-US" sz="2000" b="1" dirty="0">
              <a:solidFill>
                <a:srgbClr val="000066"/>
              </a:solidFill>
              <a:ea typeface="幼圆" pitchFamily="49" charset="-122"/>
            </a:endParaRPr>
          </a:p>
        </p:txBody>
      </p:sp>
      <p:sp>
        <p:nvSpPr>
          <p:cNvPr id="207" name="AutoShape 5"/>
          <p:cNvSpPr>
            <a:spLocks noChangeArrowheads="1"/>
          </p:cNvSpPr>
          <p:nvPr/>
        </p:nvSpPr>
        <p:spPr bwMode="auto">
          <a:xfrm>
            <a:off x="1248957" y="2904473"/>
            <a:ext cx="369071" cy="320206"/>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208" name="Text Box 111"/>
          <p:cNvSpPr txBox="1">
            <a:spLocks noChangeArrowheads="1"/>
          </p:cNvSpPr>
          <p:nvPr/>
        </p:nvSpPr>
        <p:spPr bwMode="auto">
          <a:xfrm>
            <a:off x="1724174" y="2869012"/>
            <a:ext cx="1263576" cy="308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r>
              <a:rPr kumimoji="1" lang="zh-CN" altLang="en-US" sz="2000" b="1" dirty="0" smtClean="0">
                <a:solidFill>
                  <a:srgbClr val="A50021"/>
                </a:solidFill>
                <a:latin typeface="幼圆" panose="02010509060101010101" pitchFamily="49" charset="-122"/>
                <a:ea typeface="幼圆" panose="02010509060101010101" pitchFamily="49" charset="-122"/>
                <a:sym typeface="Symbol" panose="05050102010706020507" pitchFamily="18" charset="2"/>
              </a:rPr>
              <a:t>库尔曼</a:t>
            </a:r>
            <a:r>
              <a:rPr kumimoji="1" lang="zh-CN" altLang="en-US" sz="2000" b="1" dirty="0">
                <a:solidFill>
                  <a:srgbClr val="A50021"/>
                </a:solidFill>
                <a:latin typeface="幼圆" panose="02010509060101010101" pitchFamily="49" charset="-122"/>
                <a:ea typeface="幼圆" panose="02010509060101010101" pitchFamily="49" charset="-122"/>
                <a:sym typeface="Symbol" panose="05050102010706020507" pitchFamily="18" charset="2"/>
              </a:rPr>
              <a:t>线</a:t>
            </a:r>
          </a:p>
        </p:txBody>
      </p:sp>
      <p:sp>
        <p:nvSpPr>
          <p:cNvPr id="209" name="Text Box 4"/>
          <p:cNvSpPr txBox="1">
            <a:spLocks noChangeArrowheads="1"/>
          </p:cNvSpPr>
          <p:nvPr/>
        </p:nvSpPr>
        <p:spPr bwMode="auto">
          <a:xfrm>
            <a:off x="718594" y="3854205"/>
            <a:ext cx="41511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2913" indent="-442913" eaLnBrk="1" hangingPunct="1">
              <a:lnSpc>
                <a:spcPct val="100000"/>
              </a:lnSpc>
              <a:buClr>
                <a:srgbClr val="A50021"/>
              </a:buClr>
              <a:tabLst>
                <a:tab pos="361950" algn="l"/>
              </a:tabLst>
            </a:pPr>
            <a:r>
              <a:rPr lang="en-US" altLang="zh-CN" sz="2000" b="1" dirty="0">
                <a:solidFill>
                  <a:srgbClr val="000066"/>
                </a:solidFill>
                <a:ea typeface="幼圆" pitchFamily="49" charset="-122"/>
              </a:rPr>
              <a:t>5</a:t>
            </a:r>
            <a:r>
              <a:rPr lang="zh-CN" altLang="en-US" sz="2000" b="1" dirty="0" smtClean="0">
                <a:solidFill>
                  <a:srgbClr val="000066"/>
                </a:solidFill>
                <a:ea typeface="幼圆" pitchFamily="49" charset="-122"/>
              </a:rPr>
              <a:t>）过</a:t>
            </a:r>
            <a:r>
              <a:rPr lang="en-US" altLang="zh-CN" sz="2000" b="1" dirty="0" smtClean="0">
                <a:solidFill>
                  <a:srgbClr val="000066"/>
                </a:solidFill>
                <a:ea typeface="幼圆" pitchFamily="49" charset="-122"/>
              </a:rPr>
              <a:t>m</a:t>
            </a:r>
            <a:r>
              <a:rPr lang="zh-CN" altLang="en-US" sz="2000" b="1" dirty="0" smtClean="0">
                <a:solidFill>
                  <a:srgbClr val="000066"/>
                </a:solidFill>
                <a:ea typeface="幼圆" pitchFamily="49" charset="-122"/>
              </a:rPr>
              <a:t>作</a:t>
            </a:r>
            <a:r>
              <a:rPr lang="en-US" altLang="zh-CN" sz="2000" b="1" dirty="0" smtClean="0">
                <a:solidFill>
                  <a:srgbClr val="000066"/>
                </a:solidFill>
                <a:ea typeface="幼圆" pitchFamily="49" charset="-122"/>
              </a:rPr>
              <a:t>AM</a:t>
            </a:r>
            <a:r>
              <a:rPr lang="zh-CN" altLang="en-US" sz="2000" b="1" dirty="0" smtClean="0">
                <a:solidFill>
                  <a:srgbClr val="000066"/>
                </a:solidFill>
                <a:ea typeface="幼圆" pitchFamily="49" charset="-122"/>
              </a:rPr>
              <a:t>平行线，交</a:t>
            </a:r>
            <a:r>
              <a:rPr lang="en-US" altLang="zh-CN" sz="2000" b="1" dirty="0" smtClean="0">
                <a:solidFill>
                  <a:srgbClr val="000066"/>
                </a:solidFill>
                <a:ea typeface="幼圆" pitchFamily="49" charset="-122"/>
              </a:rPr>
              <a:t>AL</a:t>
            </a:r>
            <a:r>
              <a:rPr lang="zh-CN" altLang="en-US" sz="2000" b="1" dirty="0" smtClean="0">
                <a:solidFill>
                  <a:srgbClr val="000066"/>
                </a:solidFill>
                <a:ea typeface="幼圆" pitchFamily="49" charset="-122"/>
              </a:rPr>
              <a:t>于</a:t>
            </a:r>
            <a:r>
              <a:rPr lang="en-US" altLang="zh-CN" sz="2000" b="1" dirty="0" smtClean="0">
                <a:solidFill>
                  <a:srgbClr val="000066"/>
                </a:solidFill>
                <a:ea typeface="幼圆" pitchFamily="49" charset="-122"/>
              </a:rPr>
              <a:t>n</a:t>
            </a:r>
            <a:r>
              <a:rPr lang="zh-CN" altLang="en-US" sz="2000" b="1" dirty="0" smtClean="0">
                <a:solidFill>
                  <a:srgbClr val="000066"/>
                </a:solidFill>
                <a:ea typeface="幼圆" pitchFamily="49" charset="-122"/>
              </a:rPr>
              <a:t>点，</a:t>
            </a:r>
            <a:r>
              <a:rPr lang="en-US" altLang="zh-CN" sz="2000" b="1" dirty="0" err="1" smtClean="0">
                <a:solidFill>
                  <a:srgbClr val="000066"/>
                </a:solidFill>
                <a:ea typeface="幼圆" pitchFamily="49" charset="-122"/>
              </a:rPr>
              <a:t>mn</a:t>
            </a:r>
            <a:r>
              <a:rPr lang="zh-CN" altLang="en-US" sz="2000" b="1" dirty="0">
                <a:solidFill>
                  <a:srgbClr val="000066"/>
                </a:solidFill>
                <a:ea typeface="幼圆" pitchFamily="49" charset="-122"/>
              </a:rPr>
              <a:t>即对应主动土压力</a:t>
            </a:r>
            <a:r>
              <a:rPr lang="en-US" altLang="zh-CN" sz="2000" b="1" i="1" dirty="0" err="1" smtClean="0">
                <a:solidFill>
                  <a:srgbClr val="000066"/>
                </a:solidFill>
                <a:ea typeface="幼圆" pitchFamily="49" charset="-122"/>
              </a:rPr>
              <a:t>E</a:t>
            </a:r>
            <a:r>
              <a:rPr lang="en-US" altLang="zh-CN" sz="2000" b="1" baseline="-25000" dirty="0" err="1" smtClean="0">
                <a:solidFill>
                  <a:srgbClr val="000066"/>
                </a:solidFill>
                <a:ea typeface="幼圆" pitchFamily="49" charset="-122"/>
              </a:rPr>
              <a:t>a</a:t>
            </a:r>
            <a:endParaRPr lang="en-US" altLang="zh-CN" sz="2000" b="1" baseline="-25000" dirty="0">
              <a:solidFill>
                <a:srgbClr val="000066"/>
              </a:solidFill>
              <a:ea typeface="幼圆" pitchFamily="49" charset="-122"/>
            </a:endParaRPr>
          </a:p>
        </p:txBody>
      </p:sp>
      <p:grpSp>
        <p:nvGrpSpPr>
          <p:cNvPr id="11" name="组合 10"/>
          <p:cNvGrpSpPr/>
          <p:nvPr/>
        </p:nvGrpSpPr>
        <p:grpSpPr>
          <a:xfrm>
            <a:off x="7455449" y="1837286"/>
            <a:ext cx="1637140" cy="929876"/>
            <a:chOff x="7455449" y="1837286"/>
            <a:chExt cx="1637140" cy="929876"/>
          </a:xfrm>
        </p:grpSpPr>
        <p:cxnSp>
          <p:nvCxnSpPr>
            <p:cNvPr id="127" name="直接箭头连接符 126"/>
            <p:cNvCxnSpPr/>
            <p:nvPr/>
          </p:nvCxnSpPr>
          <p:spPr bwMode="auto">
            <a:xfrm rot="13846701" flipV="1">
              <a:off x="7911408" y="2128363"/>
              <a:ext cx="658019" cy="566637"/>
            </a:xfrm>
            <a:prstGeom prst="straightConnector1">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Text Box 75"/>
            <p:cNvSpPr txBox="1">
              <a:spLocks noChangeArrowheads="1"/>
            </p:cNvSpPr>
            <p:nvPr/>
          </p:nvSpPr>
          <p:spPr bwMode="auto">
            <a:xfrm>
              <a:off x="7455449" y="1837286"/>
              <a:ext cx="579144" cy="48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err="1" smtClean="0">
                  <a:solidFill>
                    <a:srgbClr val="000066"/>
                  </a:solidFill>
                  <a:latin typeface="Times New Roman" panose="02020603050405020304" pitchFamily="18" charset="0"/>
                  <a:sym typeface="Symbol" panose="05050102010706020507" pitchFamily="18" charset="2"/>
                </a:rPr>
                <a:t>m</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sp>
          <p:nvSpPr>
            <p:cNvPr id="61" name="Text Box 75"/>
            <p:cNvSpPr txBox="1">
              <a:spLocks noChangeArrowheads="1"/>
            </p:cNvSpPr>
            <p:nvPr/>
          </p:nvSpPr>
          <p:spPr bwMode="auto">
            <a:xfrm>
              <a:off x="8650779" y="2320886"/>
              <a:ext cx="44181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err="1" smtClean="0">
                  <a:solidFill>
                    <a:srgbClr val="000066"/>
                  </a:solidFill>
                  <a:latin typeface="Times New Roman" panose="02020603050405020304" pitchFamily="18" charset="0"/>
                  <a:sym typeface="Symbol" panose="05050102010706020507" pitchFamily="18" charset="2"/>
                </a:rPr>
                <a:t>n</a:t>
              </a:r>
              <a:r>
                <a:rPr kumimoji="1" lang="en-US" altLang="zh-CN" sz="2000" b="1" baseline="-25000" dirty="0" err="1" smtClean="0">
                  <a:solidFill>
                    <a:srgbClr val="000066"/>
                  </a:solidFill>
                  <a:latin typeface="Times New Roman" panose="02020603050405020304" pitchFamily="18" charset="0"/>
                  <a:sym typeface="Symbol" panose="05050102010706020507" pitchFamily="18" charset="2"/>
                </a:rPr>
                <a:t>n</a:t>
              </a:r>
              <a:endParaRPr kumimoji="1" lang="en-US" altLang="zh-CN" sz="2000" b="1" baseline="-25000" dirty="0">
                <a:solidFill>
                  <a:srgbClr val="000066"/>
                </a:solidFill>
                <a:latin typeface="Times New Roman" panose="02020603050405020304" pitchFamily="18" charset="0"/>
                <a:sym typeface="Symbol" panose="05050102010706020507" pitchFamily="18" charset="2"/>
              </a:endParaRPr>
            </a:p>
          </p:txBody>
        </p:sp>
      </p:grpSp>
      <p:cxnSp>
        <p:nvCxnSpPr>
          <p:cNvPr id="136" name="直接箭头连接符 135"/>
          <p:cNvCxnSpPr/>
          <p:nvPr/>
        </p:nvCxnSpPr>
        <p:spPr bwMode="auto">
          <a:xfrm rot="13846701">
            <a:off x="6925390" y="1963143"/>
            <a:ext cx="0" cy="1660526"/>
          </a:xfrm>
          <a:prstGeom prst="straightConnector1">
            <a:avLst/>
          </a:prstGeom>
          <a:noFill/>
          <a:ln w="28575" cap="flat" cmpd="sng" algn="ctr">
            <a:solidFill>
              <a:srgbClr val="0033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6546026" y="2409601"/>
            <a:ext cx="414334" cy="470077"/>
            <a:chOff x="6498257" y="2382305"/>
            <a:chExt cx="470941" cy="518842"/>
          </a:xfrm>
        </p:grpSpPr>
        <p:sp>
          <p:nvSpPr>
            <p:cNvPr id="139" name="椭圆 138"/>
            <p:cNvSpPr/>
            <p:nvPr/>
          </p:nvSpPr>
          <p:spPr bwMode="auto">
            <a:xfrm rot="13846701">
              <a:off x="6902732" y="2770754"/>
              <a:ext cx="66466" cy="66466"/>
            </a:xfrm>
            <a:prstGeom prst="ellipse">
              <a:avLst/>
            </a:prstGeom>
            <a:solidFill>
              <a:schemeClr val="accent2"/>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0" name="Text Box 75"/>
            <p:cNvSpPr txBox="1">
              <a:spLocks noChangeArrowheads="1"/>
            </p:cNvSpPr>
            <p:nvPr/>
          </p:nvSpPr>
          <p:spPr bwMode="auto">
            <a:xfrm>
              <a:off x="6498257" y="2382305"/>
              <a:ext cx="412312" cy="51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C00000"/>
                  </a:solidFill>
                  <a:latin typeface="Times New Roman" panose="02020603050405020304" pitchFamily="18" charset="0"/>
                  <a:sym typeface="Symbol" panose="05050102010706020507" pitchFamily="18" charset="2"/>
                </a:rPr>
                <a:t>m</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grpSp>
      <p:sp>
        <p:nvSpPr>
          <p:cNvPr id="68"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库伦土压力图解法</a:t>
            </a:r>
          </a:p>
        </p:txBody>
      </p:sp>
    </p:spTree>
    <p:extLst>
      <p:ext uri="{BB962C8B-B14F-4D97-AF65-F5344CB8AC3E}">
        <p14:creationId xmlns:p14="http://schemas.microsoft.com/office/powerpoint/2010/main" val="288555013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slide(fromLeft)">
                                      <p:cBhvr>
                                        <p:cTn id="7" dur="500"/>
                                        <p:tgtEl>
                                          <p:spTgt spid="20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par>
                          <p:cTn id="12" fill="hold">
                            <p:stCondLst>
                              <p:cond delay="1000"/>
                            </p:stCondLst>
                            <p:childTnLst>
                              <p:par>
                                <p:cTn id="13" presetID="22" presetClass="entr" presetSubtype="8" repeatCount="300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500"/>
                            </p:stCondLst>
                            <p:childTnLst>
                              <p:par>
                                <p:cTn id="17" presetID="22" presetClass="entr" presetSubtype="8"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par>
                          <p:cTn id="20" fill="hold">
                            <p:stCondLst>
                              <p:cond delay="3000"/>
                            </p:stCondLst>
                            <p:childTnLst>
                              <p:par>
                                <p:cTn id="21" presetID="22" presetClass="entr" presetSubtype="8" repeatCount="300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201"/>
                                        </p:tgtEl>
                                        <p:attrNameLst>
                                          <p:attrName>style.visibility</p:attrName>
                                        </p:attrNameLst>
                                      </p:cBhvr>
                                      <p:to>
                                        <p:strVal val="visible"/>
                                      </p:to>
                                    </p:set>
                                    <p:animEffect transition="in" filter="slide(fromLeft)">
                                      <p:cBhvr>
                                        <p:cTn id="28" dur="500"/>
                                        <p:tgtEl>
                                          <p:spTgt spid="20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par>
                                <p:cTn id="34" presetID="22" presetClass="entr" presetSubtype="2"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par>
                                <p:cTn id="42" presetID="22" presetClass="entr" presetSubtype="2"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righ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30"/>
                                        </p:tgtEl>
                                        <p:attrNameLst>
                                          <p:attrName>style.visibility</p:attrName>
                                        </p:attrNameLst>
                                      </p:cBhvr>
                                      <p:to>
                                        <p:strVal val="visible"/>
                                      </p:to>
                                    </p:set>
                                    <p:animEffect transition="in" filter="wipe(down)">
                                      <p:cBhvr>
                                        <p:cTn id="49" dur="500"/>
                                        <p:tgtEl>
                                          <p:spTgt spid="130"/>
                                        </p:tgtEl>
                                      </p:cBhvr>
                                    </p:animEffect>
                                  </p:childTnLst>
                                </p:cTn>
                              </p:par>
                            </p:childTnLst>
                          </p:cTn>
                        </p:par>
                        <p:par>
                          <p:cTn id="50" fill="hold">
                            <p:stCondLst>
                              <p:cond delay="500"/>
                            </p:stCondLst>
                            <p:childTnLst>
                              <p:par>
                                <p:cTn id="51" presetID="22" presetClass="entr" presetSubtype="2" fill="hold" nodeType="afterEffect">
                                  <p:stCondLst>
                                    <p:cond delay="0"/>
                                  </p:stCondLst>
                                  <p:childTnLst>
                                    <p:set>
                                      <p:cBhvr>
                                        <p:cTn id="52" dur="1" fill="hold">
                                          <p:stCondLst>
                                            <p:cond delay="0"/>
                                          </p:stCondLst>
                                        </p:cTn>
                                        <p:tgtEl>
                                          <p:spTgt spid="126"/>
                                        </p:tgtEl>
                                        <p:attrNameLst>
                                          <p:attrName>style.visibility</p:attrName>
                                        </p:attrNameLst>
                                      </p:cBhvr>
                                      <p:to>
                                        <p:strVal val="visible"/>
                                      </p:to>
                                    </p:set>
                                    <p:animEffect transition="in" filter="wipe(right)">
                                      <p:cBhvr>
                                        <p:cTn id="53" dur="500"/>
                                        <p:tgtEl>
                                          <p:spTgt spid="126"/>
                                        </p:tgtEl>
                                      </p:cBhvr>
                                    </p:animEffect>
                                  </p:childTnLst>
                                </p:cTn>
                              </p:par>
                            </p:childTnLst>
                          </p:cTn>
                        </p:par>
                        <p:par>
                          <p:cTn id="54" fill="hold">
                            <p:stCondLst>
                              <p:cond delay="1000"/>
                            </p:stCondLst>
                            <p:childTnLst>
                              <p:par>
                                <p:cTn id="55" presetID="22" presetClass="entr" presetSubtype="4" fill="hold" nodeType="after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down)">
                                      <p:cBhvr>
                                        <p:cTn id="57" dur="500"/>
                                        <p:tgtEl>
                                          <p:spTgt spid="7"/>
                                        </p:tgtEl>
                                      </p:cBhvr>
                                    </p:animEffect>
                                  </p:childTnLst>
                                </p:cTn>
                              </p:par>
                            </p:childTnLst>
                          </p:cTn>
                        </p:par>
                        <p:par>
                          <p:cTn id="58" fill="hold">
                            <p:stCondLst>
                              <p:cond delay="1500"/>
                            </p:stCondLst>
                            <p:childTnLst>
                              <p:par>
                                <p:cTn id="59" presetID="22" presetClass="entr" presetSubtype="2" fill="hold" nodeType="after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wipe(right)">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202"/>
                                        </p:tgtEl>
                                        <p:attrNameLst>
                                          <p:attrName>style.visibility</p:attrName>
                                        </p:attrNameLst>
                                      </p:cBhvr>
                                      <p:to>
                                        <p:strVal val="visible"/>
                                      </p:to>
                                    </p:set>
                                    <p:animEffect transition="in" filter="slide(fromLeft)">
                                      <p:cBhvr>
                                        <p:cTn id="66" dur="500"/>
                                        <p:tgtEl>
                                          <p:spTgt spid="202"/>
                                        </p:tgtEl>
                                      </p:cBhvr>
                                    </p:animEffect>
                                  </p:childTnLst>
                                </p:cTn>
                              </p:par>
                            </p:childTnLst>
                          </p:cTn>
                        </p:par>
                        <p:par>
                          <p:cTn id="67" fill="hold">
                            <p:stCondLst>
                              <p:cond delay="500"/>
                            </p:stCondLst>
                            <p:childTnLst>
                              <p:par>
                                <p:cTn id="68" presetID="22" presetClass="entr" presetSubtype="4" fill="hold" grpId="0" nodeType="afterEffect">
                                  <p:stCondLst>
                                    <p:cond delay="0"/>
                                  </p:stCondLst>
                                  <p:childTnLst>
                                    <p:set>
                                      <p:cBhvr>
                                        <p:cTn id="69" dur="1" fill="hold">
                                          <p:stCondLst>
                                            <p:cond delay="0"/>
                                          </p:stCondLst>
                                        </p:cTn>
                                        <p:tgtEl>
                                          <p:spTgt spid="120"/>
                                        </p:tgtEl>
                                        <p:attrNameLst>
                                          <p:attrName>style.visibility</p:attrName>
                                        </p:attrNameLst>
                                      </p:cBhvr>
                                      <p:to>
                                        <p:strVal val="visible"/>
                                      </p:to>
                                    </p:set>
                                    <p:animEffect transition="in" filter="wipe(down)">
                                      <p:cBhvr>
                                        <p:cTn id="70" dur="2000"/>
                                        <p:tgtEl>
                                          <p:spTgt spid="120"/>
                                        </p:tgtEl>
                                      </p:cBhvr>
                                    </p:animEffect>
                                  </p:childTnLst>
                                </p:cTn>
                              </p:par>
                            </p:childTnLst>
                          </p:cTn>
                        </p:par>
                        <p:par>
                          <p:cTn id="71" fill="hold">
                            <p:stCondLst>
                              <p:cond delay="2500"/>
                            </p:stCondLst>
                            <p:childTnLst>
                              <p:par>
                                <p:cTn id="72" presetID="22" presetClass="entr" presetSubtype="8" fill="hold" grpId="0" nodeType="afterEffect">
                                  <p:stCondLst>
                                    <p:cond delay="0"/>
                                  </p:stCondLst>
                                  <p:childTnLst>
                                    <p:set>
                                      <p:cBhvr>
                                        <p:cTn id="73" dur="1" fill="hold">
                                          <p:stCondLst>
                                            <p:cond delay="0"/>
                                          </p:stCondLst>
                                        </p:cTn>
                                        <p:tgtEl>
                                          <p:spTgt spid="207"/>
                                        </p:tgtEl>
                                        <p:attrNameLst>
                                          <p:attrName>style.visibility</p:attrName>
                                        </p:attrNameLst>
                                      </p:cBhvr>
                                      <p:to>
                                        <p:strVal val="visible"/>
                                      </p:to>
                                    </p:set>
                                    <p:animEffect transition="in" filter="wipe(left)">
                                      <p:cBhvr>
                                        <p:cTn id="74" dur="1000"/>
                                        <p:tgtEl>
                                          <p:spTgt spid="207"/>
                                        </p:tgtEl>
                                      </p:cBhvr>
                                    </p:animEffect>
                                  </p:childTnLst>
                                </p:cTn>
                              </p:par>
                            </p:childTnLst>
                          </p:cTn>
                        </p:par>
                        <p:par>
                          <p:cTn id="75" fill="hold">
                            <p:stCondLst>
                              <p:cond delay="3500"/>
                            </p:stCondLst>
                            <p:childTnLst>
                              <p:par>
                                <p:cTn id="76" presetID="22" presetClass="entr" presetSubtype="8" fill="hold" grpId="0" nodeType="afterEffect">
                                  <p:stCondLst>
                                    <p:cond delay="0"/>
                                  </p:stCondLst>
                                  <p:childTnLst>
                                    <p:set>
                                      <p:cBhvr>
                                        <p:cTn id="77" dur="1" fill="hold">
                                          <p:stCondLst>
                                            <p:cond delay="0"/>
                                          </p:stCondLst>
                                        </p:cTn>
                                        <p:tgtEl>
                                          <p:spTgt spid="208"/>
                                        </p:tgtEl>
                                        <p:attrNameLst>
                                          <p:attrName>style.visibility</p:attrName>
                                        </p:attrNameLst>
                                      </p:cBhvr>
                                      <p:to>
                                        <p:strVal val="visible"/>
                                      </p:to>
                                    </p:set>
                                    <p:animEffect transition="in" filter="wipe(left)">
                                      <p:cBhvr>
                                        <p:cTn id="78" dur="500"/>
                                        <p:tgtEl>
                                          <p:spTgt spid="208"/>
                                        </p:tgtEl>
                                      </p:cBhvr>
                                    </p:animEffect>
                                  </p:childTnLst>
                                </p:cTn>
                              </p:par>
                            </p:childTnLst>
                          </p:cTn>
                        </p:par>
                      </p:childTnLst>
                    </p:cTn>
                  </p:par>
                  <p:par>
                    <p:cTn id="79" fill="hold">
                      <p:stCondLst>
                        <p:cond delay="indefinite"/>
                      </p:stCondLst>
                      <p:childTnLst>
                        <p:par>
                          <p:cTn id="80" fill="hold">
                            <p:stCondLst>
                              <p:cond delay="0"/>
                            </p:stCondLst>
                            <p:childTnLst>
                              <p:par>
                                <p:cTn id="81" presetID="12" presetClass="entr" presetSubtype="8" fill="hold" grpId="0" nodeType="clickEffect">
                                  <p:stCondLst>
                                    <p:cond delay="0"/>
                                  </p:stCondLst>
                                  <p:childTnLst>
                                    <p:set>
                                      <p:cBhvr>
                                        <p:cTn id="82" dur="1" fill="hold">
                                          <p:stCondLst>
                                            <p:cond delay="0"/>
                                          </p:stCondLst>
                                        </p:cTn>
                                        <p:tgtEl>
                                          <p:spTgt spid="203"/>
                                        </p:tgtEl>
                                        <p:attrNameLst>
                                          <p:attrName>style.visibility</p:attrName>
                                        </p:attrNameLst>
                                      </p:cBhvr>
                                      <p:to>
                                        <p:strVal val="visible"/>
                                      </p:to>
                                    </p:set>
                                    <p:animEffect transition="in" filter="slide(fromLeft)">
                                      <p:cBhvr>
                                        <p:cTn id="83" dur="500"/>
                                        <p:tgtEl>
                                          <p:spTgt spid="203"/>
                                        </p:tgtEl>
                                      </p:cBhvr>
                                    </p:animEffect>
                                  </p:childTnLst>
                                </p:cTn>
                              </p:par>
                            </p:childTnLst>
                          </p:cTn>
                        </p:par>
                        <p:par>
                          <p:cTn id="84" fill="hold">
                            <p:stCondLst>
                              <p:cond delay="500"/>
                            </p:stCondLst>
                            <p:childTnLst>
                              <p:par>
                                <p:cTn id="85" presetID="22" presetClass="entr" presetSubtype="4" fill="hold" nodeType="afterEffect">
                                  <p:stCondLst>
                                    <p:cond delay="0"/>
                                  </p:stCondLst>
                                  <p:childTnLst>
                                    <p:set>
                                      <p:cBhvr>
                                        <p:cTn id="86" dur="1" fill="hold">
                                          <p:stCondLst>
                                            <p:cond delay="0"/>
                                          </p:stCondLst>
                                        </p:cTn>
                                        <p:tgtEl>
                                          <p:spTgt spid="136"/>
                                        </p:tgtEl>
                                        <p:attrNameLst>
                                          <p:attrName>style.visibility</p:attrName>
                                        </p:attrNameLst>
                                      </p:cBhvr>
                                      <p:to>
                                        <p:strVal val="visible"/>
                                      </p:to>
                                    </p:set>
                                    <p:animEffect transition="in" filter="wipe(down)">
                                      <p:cBhvr>
                                        <p:cTn id="87" dur="2000"/>
                                        <p:tgtEl>
                                          <p:spTgt spid="136"/>
                                        </p:tgtEl>
                                      </p:cBhvr>
                                    </p:animEffect>
                                  </p:childTnLst>
                                </p:cTn>
                              </p:par>
                            </p:childTnLst>
                          </p:cTn>
                        </p:par>
                        <p:par>
                          <p:cTn id="88" fill="hold">
                            <p:stCondLst>
                              <p:cond delay="2500"/>
                            </p:stCondLst>
                            <p:childTnLst>
                              <p:par>
                                <p:cTn id="89" presetID="22" presetClass="entr" presetSubtype="4" repeatCount="3000" fill="hold" nodeType="after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wipe(down)">
                                      <p:cBhvr>
                                        <p:cTn id="91" dur="500"/>
                                        <p:tgtEl>
                                          <p:spTgt spid="14"/>
                                        </p:tgtEl>
                                      </p:cBhvr>
                                    </p:animEffect>
                                  </p:childTnLst>
                                </p:cTn>
                              </p:par>
                            </p:childTnLst>
                          </p:cTn>
                        </p:par>
                      </p:childTnLst>
                    </p:cTn>
                  </p:par>
                  <p:par>
                    <p:cTn id="92" fill="hold">
                      <p:stCondLst>
                        <p:cond delay="indefinite"/>
                      </p:stCondLst>
                      <p:childTnLst>
                        <p:par>
                          <p:cTn id="93" fill="hold">
                            <p:stCondLst>
                              <p:cond delay="0"/>
                            </p:stCondLst>
                            <p:childTnLst>
                              <p:par>
                                <p:cTn id="94" presetID="12" presetClass="entr" presetSubtype="8" fill="hold" grpId="0" nodeType="clickEffect">
                                  <p:stCondLst>
                                    <p:cond delay="0"/>
                                  </p:stCondLst>
                                  <p:childTnLst>
                                    <p:set>
                                      <p:cBhvr>
                                        <p:cTn id="95" dur="1" fill="hold">
                                          <p:stCondLst>
                                            <p:cond delay="0"/>
                                          </p:stCondLst>
                                        </p:cTn>
                                        <p:tgtEl>
                                          <p:spTgt spid="209"/>
                                        </p:tgtEl>
                                        <p:attrNameLst>
                                          <p:attrName>style.visibility</p:attrName>
                                        </p:attrNameLst>
                                      </p:cBhvr>
                                      <p:to>
                                        <p:strVal val="visible"/>
                                      </p:to>
                                    </p:set>
                                    <p:animEffect transition="in" filter="slide(fromLeft)">
                                      <p:cBhvr>
                                        <p:cTn id="96" dur="500"/>
                                        <p:tgtEl>
                                          <p:spTgt spid="209"/>
                                        </p:tgtEl>
                                      </p:cBhvr>
                                    </p:animEffect>
                                  </p:childTnLst>
                                </p:cTn>
                              </p:par>
                            </p:childTnLst>
                          </p:cTn>
                        </p:par>
                        <p:par>
                          <p:cTn id="97" fill="hold">
                            <p:stCondLst>
                              <p:cond delay="500"/>
                            </p:stCondLst>
                            <p:childTnLst>
                              <p:par>
                                <p:cTn id="98" presetID="22" presetClass="entr" presetSubtype="8" fill="hold" nodeType="after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wipe(left)">
                                      <p:cBhvr>
                                        <p:cTn id="100" dur="500"/>
                                        <p:tgtEl>
                                          <p:spTgt spid="15"/>
                                        </p:tgtEl>
                                      </p:cBhvr>
                                    </p:animEffect>
                                  </p:childTnLst>
                                </p:cTn>
                              </p:par>
                            </p:childTnLst>
                          </p:cTn>
                        </p:par>
                        <p:par>
                          <p:cTn id="101" fill="hold">
                            <p:stCondLst>
                              <p:cond delay="1000"/>
                            </p:stCondLst>
                            <p:childTnLst>
                              <p:par>
                                <p:cTn id="102" presetID="22" presetClass="entr" presetSubtype="4" fill="hold" nodeType="after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wipe(down)">
                                      <p:cBhvr>
                                        <p:cTn id="104" dur="500"/>
                                        <p:tgtEl>
                                          <p:spTgt spid="16"/>
                                        </p:tgtEl>
                                      </p:cBhvr>
                                    </p:animEffect>
                                  </p:childTnLst>
                                </p:cTn>
                              </p:par>
                            </p:childTnLst>
                          </p:cTn>
                        </p:par>
                      </p:childTnLst>
                    </p:cTn>
                  </p:par>
                  <p:par>
                    <p:cTn id="105" fill="hold">
                      <p:stCondLst>
                        <p:cond delay="indefinite"/>
                      </p:stCondLst>
                      <p:childTnLst>
                        <p:par>
                          <p:cTn id="106" fill="hold">
                            <p:stCondLst>
                              <p:cond delay="0"/>
                            </p:stCondLst>
                            <p:childTnLst>
                              <p:par>
                                <p:cTn id="107" presetID="12" presetClass="entr" presetSubtype="8" fill="hold" grpId="0" nodeType="clickEffect">
                                  <p:stCondLst>
                                    <p:cond delay="0"/>
                                  </p:stCondLst>
                                  <p:childTnLst>
                                    <p:set>
                                      <p:cBhvr>
                                        <p:cTn id="108" dur="1" fill="hold">
                                          <p:stCondLst>
                                            <p:cond delay="0"/>
                                          </p:stCondLst>
                                        </p:cTn>
                                        <p:tgtEl>
                                          <p:spTgt spid="204"/>
                                        </p:tgtEl>
                                        <p:attrNameLst>
                                          <p:attrName>style.visibility</p:attrName>
                                        </p:attrNameLst>
                                      </p:cBhvr>
                                      <p:to>
                                        <p:strVal val="visible"/>
                                      </p:to>
                                    </p:set>
                                    <p:animEffect transition="in" filter="slide(fromLeft)">
                                      <p:cBhvr>
                                        <p:cTn id="109"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201" grpId="0"/>
      <p:bldP spid="202" grpId="0"/>
      <p:bldP spid="203" grpId="0"/>
      <p:bldP spid="204" grpId="0"/>
      <p:bldP spid="205" grpId="0"/>
      <p:bldP spid="207" grpId="0" animBg="1"/>
      <p:bldP spid="208" grpId="0" autoUpdateAnimBg="0"/>
      <p:bldP spid="20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任意多边形 51"/>
          <p:cNvSpPr/>
          <p:nvPr/>
        </p:nvSpPr>
        <p:spPr bwMode="auto">
          <a:xfrm>
            <a:off x="5790383" y="1327801"/>
            <a:ext cx="1410059" cy="2825036"/>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927307"/>
              <a:gd name="connsiteY0" fmla="*/ 334124 h 1742433"/>
              <a:gd name="connsiteX1" fmla="*/ 41496 w 927307"/>
              <a:gd name="connsiteY1" fmla="*/ 422039 h 1742433"/>
              <a:gd name="connsiteX2" fmla="*/ 290339 w 927307"/>
              <a:gd name="connsiteY2" fmla="*/ 1742433 h 1742433"/>
              <a:gd name="connsiteX3" fmla="*/ 927307 w 927307"/>
              <a:gd name="connsiteY3" fmla="*/ 0 h 1742433"/>
              <a:gd name="connsiteX4" fmla="*/ 0 w 927307"/>
              <a:gd name="connsiteY4" fmla="*/ 334124 h 1742433"/>
              <a:gd name="connsiteX0" fmla="*/ 0 w 927307"/>
              <a:gd name="connsiteY0" fmla="*/ 334124 h 1742433"/>
              <a:gd name="connsiteX1" fmla="*/ 41496 w 927307"/>
              <a:gd name="connsiteY1" fmla="*/ 422039 h 1742433"/>
              <a:gd name="connsiteX2" fmla="*/ 32008 w 927307"/>
              <a:gd name="connsiteY2" fmla="*/ 497947 h 1742433"/>
              <a:gd name="connsiteX3" fmla="*/ 290339 w 927307"/>
              <a:gd name="connsiteY3" fmla="*/ 1742433 h 1742433"/>
              <a:gd name="connsiteX4" fmla="*/ 927307 w 927307"/>
              <a:gd name="connsiteY4" fmla="*/ 0 h 1742433"/>
              <a:gd name="connsiteX5" fmla="*/ 0 w 927307"/>
              <a:gd name="connsiteY5" fmla="*/ 334124 h 1742433"/>
              <a:gd name="connsiteX0" fmla="*/ 0 w 904535"/>
              <a:gd name="connsiteY0" fmla="*/ 324636 h 1742433"/>
              <a:gd name="connsiteX1" fmla="*/ 18724 w 904535"/>
              <a:gd name="connsiteY1" fmla="*/ 422039 h 1742433"/>
              <a:gd name="connsiteX2" fmla="*/ 9236 w 904535"/>
              <a:gd name="connsiteY2" fmla="*/ 497947 h 1742433"/>
              <a:gd name="connsiteX3" fmla="*/ 267567 w 904535"/>
              <a:gd name="connsiteY3" fmla="*/ 1742433 h 1742433"/>
              <a:gd name="connsiteX4" fmla="*/ 904535 w 904535"/>
              <a:gd name="connsiteY4" fmla="*/ 0 h 1742433"/>
              <a:gd name="connsiteX5" fmla="*/ 0 w 904535"/>
              <a:gd name="connsiteY5" fmla="*/ 324636 h 1742433"/>
              <a:gd name="connsiteX0" fmla="*/ 0 w 788777"/>
              <a:gd name="connsiteY0" fmla="*/ 170924 h 1588721"/>
              <a:gd name="connsiteX1" fmla="*/ 18724 w 788777"/>
              <a:gd name="connsiteY1" fmla="*/ 268327 h 1588721"/>
              <a:gd name="connsiteX2" fmla="*/ 9236 w 788777"/>
              <a:gd name="connsiteY2" fmla="*/ 344235 h 1588721"/>
              <a:gd name="connsiteX3" fmla="*/ 267567 w 788777"/>
              <a:gd name="connsiteY3" fmla="*/ 1588721 h 1588721"/>
              <a:gd name="connsiteX4" fmla="*/ 788777 w 788777"/>
              <a:gd name="connsiteY4" fmla="*/ 0 h 1588721"/>
              <a:gd name="connsiteX5" fmla="*/ 0 w 788777"/>
              <a:gd name="connsiteY5" fmla="*/ 170924 h 1588721"/>
              <a:gd name="connsiteX0" fmla="*/ 0 w 794872"/>
              <a:gd name="connsiteY0" fmla="*/ 170924 h 1588721"/>
              <a:gd name="connsiteX1" fmla="*/ 18724 w 794872"/>
              <a:gd name="connsiteY1" fmla="*/ 268327 h 1588721"/>
              <a:gd name="connsiteX2" fmla="*/ 9236 w 794872"/>
              <a:gd name="connsiteY2" fmla="*/ 344235 h 1588721"/>
              <a:gd name="connsiteX3" fmla="*/ 267567 w 794872"/>
              <a:gd name="connsiteY3" fmla="*/ 1588721 h 1588721"/>
              <a:gd name="connsiteX4" fmla="*/ 794872 w 794872"/>
              <a:gd name="connsiteY4" fmla="*/ 84254 h 1588721"/>
              <a:gd name="connsiteX5" fmla="*/ 788777 w 794872"/>
              <a:gd name="connsiteY5" fmla="*/ 0 h 1588721"/>
              <a:gd name="connsiteX6" fmla="*/ 0 w 794872"/>
              <a:gd name="connsiteY6" fmla="*/ 170924 h 1588721"/>
              <a:gd name="connsiteX0" fmla="*/ 0 w 823511"/>
              <a:gd name="connsiteY0" fmla="*/ 170924 h 1588721"/>
              <a:gd name="connsiteX1" fmla="*/ 18724 w 823511"/>
              <a:gd name="connsiteY1" fmla="*/ 268327 h 1588721"/>
              <a:gd name="connsiteX2" fmla="*/ 9236 w 823511"/>
              <a:gd name="connsiteY2" fmla="*/ 344235 h 1588721"/>
              <a:gd name="connsiteX3" fmla="*/ 267567 w 823511"/>
              <a:gd name="connsiteY3" fmla="*/ 1588721 h 1588721"/>
              <a:gd name="connsiteX4" fmla="*/ 783486 w 823511"/>
              <a:gd name="connsiteY4" fmla="*/ 196216 h 1588721"/>
              <a:gd name="connsiteX5" fmla="*/ 794872 w 823511"/>
              <a:gd name="connsiteY5" fmla="*/ 84254 h 1588721"/>
              <a:gd name="connsiteX6" fmla="*/ 788777 w 823511"/>
              <a:gd name="connsiteY6" fmla="*/ 0 h 1588721"/>
              <a:gd name="connsiteX7" fmla="*/ 0 w 823511"/>
              <a:gd name="connsiteY7" fmla="*/ 170924 h 1588721"/>
              <a:gd name="connsiteX0" fmla="*/ 0 w 823511"/>
              <a:gd name="connsiteY0" fmla="*/ 170924 h 1588721"/>
              <a:gd name="connsiteX1" fmla="*/ 18724 w 823511"/>
              <a:gd name="connsiteY1" fmla="*/ 268327 h 1588721"/>
              <a:gd name="connsiteX2" fmla="*/ 9236 w 823511"/>
              <a:gd name="connsiteY2" fmla="*/ 344235 h 1588721"/>
              <a:gd name="connsiteX3" fmla="*/ 267567 w 823511"/>
              <a:gd name="connsiteY3" fmla="*/ 1588721 h 1588721"/>
              <a:gd name="connsiteX4" fmla="*/ 783486 w 823511"/>
              <a:gd name="connsiteY4" fmla="*/ 196216 h 1588721"/>
              <a:gd name="connsiteX5" fmla="*/ 794872 w 823511"/>
              <a:gd name="connsiteY5" fmla="*/ 84254 h 1588721"/>
              <a:gd name="connsiteX6" fmla="*/ 788777 w 823511"/>
              <a:gd name="connsiteY6" fmla="*/ 0 h 1588721"/>
              <a:gd name="connsiteX7" fmla="*/ 0 w 823511"/>
              <a:gd name="connsiteY7" fmla="*/ 170924 h 1588721"/>
              <a:gd name="connsiteX0" fmla="*/ 0 w 794872"/>
              <a:gd name="connsiteY0" fmla="*/ 170924 h 1588721"/>
              <a:gd name="connsiteX1" fmla="*/ 18724 w 794872"/>
              <a:gd name="connsiteY1" fmla="*/ 268327 h 1588721"/>
              <a:gd name="connsiteX2" fmla="*/ 9236 w 794872"/>
              <a:gd name="connsiteY2" fmla="*/ 344235 h 1588721"/>
              <a:gd name="connsiteX3" fmla="*/ 267567 w 794872"/>
              <a:gd name="connsiteY3" fmla="*/ 1588721 h 1588721"/>
              <a:gd name="connsiteX4" fmla="*/ 783486 w 794872"/>
              <a:gd name="connsiteY4" fmla="*/ 196216 h 1588721"/>
              <a:gd name="connsiteX5" fmla="*/ 794872 w 794872"/>
              <a:gd name="connsiteY5" fmla="*/ 84254 h 1588721"/>
              <a:gd name="connsiteX6" fmla="*/ 788777 w 794872"/>
              <a:gd name="connsiteY6" fmla="*/ 0 h 1588721"/>
              <a:gd name="connsiteX7" fmla="*/ 0 w 794872"/>
              <a:gd name="connsiteY7" fmla="*/ 170924 h 1588721"/>
              <a:gd name="connsiteX0" fmla="*/ 0 w 794872"/>
              <a:gd name="connsiteY0" fmla="*/ 170924 h 1592516"/>
              <a:gd name="connsiteX1" fmla="*/ 18724 w 794872"/>
              <a:gd name="connsiteY1" fmla="*/ 268327 h 1592516"/>
              <a:gd name="connsiteX2" fmla="*/ 9236 w 794872"/>
              <a:gd name="connsiteY2" fmla="*/ 344235 h 1592516"/>
              <a:gd name="connsiteX3" fmla="*/ 261873 w 794872"/>
              <a:gd name="connsiteY3" fmla="*/ 1592516 h 1592516"/>
              <a:gd name="connsiteX4" fmla="*/ 783486 w 794872"/>
              <a:gd name="connsiteY4" fmla="*/ 196216 h 1592516"/>
              <a:gd name="connsiteX5" fmla="*/ 794872 w 794872"/>
              <a:gd name="connsiteY5" fmla="*/ 84254 h 1592516"/>
              <a:gd name="connsiteX6" fmla="*/ 788777 w 794872"/>
              <a:gd name="connsiteY6" fmla="*/ 0 h 1592516"/>
              <a:gd name="connsiteX7" fmla="*/ 0 w 794872"/>
              <a:gd name="connsiteY7" fmla="*/ 170924 h 1592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4872" h="1592516">
                <a:moveTo>
                  <a:pt x="0" y="170924"/>
                </a:moveTo>
                <a:cubicBezTo>
                  <a:pt x="5609" y="200229"/>
                  <a:pt x="13115" y="239022"/>
                  <a:pt x="18724" y="268327"/>
                </a:cubicBezTo>
                <a:cubicBezTo>
                  <a:pt x="23785" y="291732"/>
                  <a:pt x="4175" y="320830"/>
                  <a:pt x="9236" y="344235"/>
                </a:cubicBezTo>
                <a:lnTo>
                  <a:pt x="261873" y="1592516"/>
                </a:lnTo>
                <a:lnTo>
                  <a:pt x="783486" y="196216"/>
                </a:lnTo>
                <a:lnTo>
                  <a:pt x="794872" y="84254"/>
                </a:lnTo>
                <a:lnTo>
                  <a:pt x="788777" y="0"/>
                </a:lnTo>
                <a:lnTo>
                  <a:pt x="0" y="1709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9" name="组合 8"/>
          <p:cNvGrpSpPr/>
          <p:nvPr/>
        </p:nvGrpSpPr>
        <p:grpSpPr>
          <a:xfrm>
            <a:off x="5033569" y="1142545"/>
            <a:ext cx="2765734" cy="3250613"/>
            <a:chOff x="5033569" y="1142545"/>
            <a:chExt cx="2765734" cy="3250613"/>
          </a:xfrm>
        </p:grpSpPr>
        <p:sp>
          <p:nvSpPr>
            <p:cNvPr id="53" name="任意多边形 52"/>
            <p:cNvSpPr/>
            <p:nvPr/>
          </p:nvSpPr>
          <p:spPr bwMode="auto">
            <a:xfrm>
              <a:off x="5033569" y="1643652"/>
              <a:ext cx="1219118" cy="2523571"/>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7" name="Line 70"/>
            <p:cNvSpPr>
              <a:spLocks noChangeShapeType="1"/>
            </p:cNvSpPr>
            <p:nvPr/>
          </p:nvSpPr>
          <p:spPr bwMode="auto">
            <a:xfrm flipV="1">
              <a:off x="6260886" y="1653154"/>
              <a:ext cx="921426" cy="2502302"/>
            </a:xfrm>
            <a:prstGeom prst="line">
              <a:avLst/>
            </a:prstGeom>
            <a:noFill/>
            <a:ln w="190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75"/>
            <p:cNvSpPr txBox="1">
              <a:spLocks noChangeArrowheads="1"/>
            </p:cNvSpPr>
            <p:nvPr/>
          </p:nvSpPr>
          <p:spPr bwMode="auto">
            <a:xfrm>
              <a:off x="6307309" y="3888768"/>
              <a:ext cx="438673"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66" name="Text Box 75"/>
            <p:cNvSpPr txBox="1">
              <a:spLocks noChangeArrowheads="1"/>
            </p:cNvSpPr>
            <p:nvPr/>
          </p:nvSpPr>
          <p:spPr bwMode="auto">
            <a:xfrm>
              <a:off x="5583436" y="1142545"/>
              <a:ext cx="447402"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4" name="任意多边形 3"/>
            <p:cNvSpPr/>
            <p:nvPr/>
          </p:nvSpPr>
          <p:spPr bwMode="auto">
            <a:xfrm>
              <a:off x="5796948" y="1203027"/>
              <a:ext cx="2002355" cy="732044"/>
            </a:xfrm>
            <a:custGeom>
              <a:avLst/>
              <a:gdLst>
                <a:gd name="connsiteX0" fmla="*/ 28575 w 1771650"/>
                <a:gd name="connsiteY0" fmla="*/ 647700 h 647700"/>
                <a:gd name="connsiteX1" fmla="*/ 19050 w 1771650"/>
                <a:gd name="connsiteY1" fmla="*/ 533400 h 647700"/>
                <a:gd name="connsiteX2" fmla="*/ 19050 w 1771650"/>
                <a:gd name="connsiteY2" fmla="*/ 461962 h 647700"/>
                <a:gd name="connsiteX3" fmla="*/ 0 w 1771650"/>
                <a:gd name="connsiteY3" fmla="*/ 376237 h 647700"/>
                <a:gd name="connsiteX4" fmla="*/ 138113 w 1771650"/>
                <a:gd name="connsiteY4" fmla="*/ 342900 h 647700"/>
                <a:gd name="connsiteX5" fmla="*/ 300038 w 1771650"/>
                <a:gd name="connsiteY5" fmla="*/ 323850 h 647700"/>
                <a:gd name="connsiteX6" fmla="*/ 600075 w 1771650"/>
                <a:gd name="connsiteY6" fmla="*/ 252412 h 647700"/>
                <a:gd name="connsiteX7" fmla="*/ 900113 w 1771650"/>
                <a:gd name="connsiteY7" fmla="*/ 185737 h 647700"/>
                <a:gd name="connsiteX8" fmla="*/ 1047750 w 1771650"/>
                <a:gd name="connsiteY8" fmla="*/ 147637 h 647700"/>
                <a:gd name="connsiteX9" fmla="*/ 1138238 w 1771650"/>
                <a:gd name="connsiteY9" fmla="*/ 128587 h 647700"/>
                <a:gd name="connsiteX10" fmla="*/ 1181100 w 1771650"/>
                <a:gd name="connsiteY10" fmla="*/ 123825 h 647700"/>
                <a:gd name="connsiteX11" fmla="*/ 1233488 w 1771650"/>
                <a:gd name="connsiteY11" fmla="*/ 114300 h 647700"/>
                <a:gd name="connsiteX12" fmla="*/ 1243013 w 1771650"/>
                <a:gd name="connsiteY12" fmla="*/ 209550 h 647700"/>
                <a:gd name="connsiteX13" fmla="*/ 1228725 w 1771650"/>
                <a:gd name="connsiteY13" fmla="*/ 333375 h 647700"/>
                <a:gd name="connsiteX14" fmla="*/ 1219200 w 1771650"/>
                <a:gd name="connsiteY14" fmla="*/ 409575 h 647700"/>
                <a:gd name="connsiteX15" fmla="*/ 1262063 w 1771650"/>
                <a:gd name="connsiteY15" fmla="*/ 242887 h 647700"/>
                <a:gd name="connsiteX16" fmla="*/ 1285875 w 1771650"/>
                <a:gd name="connsiteY16" fmla="*/ 123825 h 647700"/>
                <a:gd name="connsiteX17" fmla="*/ 1304925 w 1771650"/>
                <a:gd name="connsiteY17" fmla="*/ 104775 h 647700"/>
                <a:gd name="connsiteX18" fmla="*/ 1528763 w 1771650"/>
                <a:gd name="connsiteY18" fmla="*/ 52387 h 647700"/>
                <a:gd name="connsiteX19" fmla="*/ 1771650 w 1771650"/>
                <a:gd name="connsiteY19"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71650" h="647700">
                  <a:moveTo>
                    <a:pt x="28575" y="647700"/>
                  </a:moveTo>
                  <a:lnTo>
                    <a:pt x="19050" y="533400"/>
                  </a:lnTo>
                  <a:lnTo>
                    <a:pt x="19050" y="461962"/>
                  </a:lnTo>
                  <a:lnTo>
                    <a:pt x="0" y="376237"/>
                  </a:lnTo>
                  <a:lnTo>
                    <a:pt x="138113" y="342900"/>
                  </a:lnTo>
                  <a:lnTo>
                    <a:pt x="300038" y="323850"/>
                  </a:lnTo>
                  <a:lnTo>
                    <a:pt x="600075" y="252412"/>
                  </a:lnTo>
                  <a:lnTo>
                    <a:pt x="900113" y="185737"/>
                  </a:lnTo>
                  <a:lnTo>
                    <a:pt x="1047750" y="147637"/>
                  </a:lnTo>
                  <a:lnTo>
                    <a:pt x="1138238" y="128587"/>
                  </a:lnTo>
                  <a:lnTo>
                    <a:pt x="1181100" y="123825"/>
                  </a:lnTo>
                  <a:lnTo>
                    <a:pt x="1233488" y="114300"/>
                  </a:lnTo>
                  <a:lnTo>
                    <a:pt x="1243013" y="209550"/>
                  </a:lnTo>
                  <a:lnTo>
                    <a:pt x="1228725" y="333375"/>
                  </a:lnTo>
                  <a:lnTo>
                    <a:pt x="1219200" y="409575"/>
                  </a:lnTo>
                  <a:lnTo>
                    <a:pt x="1262063" y="242887"/>
                  </a:lnTo>
                  <a:lnTo>
                    <a:pt x="1285875" y="123825"/>
                  </a:lnTo>
                  <a:lnTo>
                    <a:pt x="1304925" y="104775"/>
                  </a:lnTo>
                  <a:lnTo>
                    <a:pt x="1528763" y="52387"/>
                  </a:lnTo>
                  <a:lnTo>
                    <a:pt x="1771650" y="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58</a:t>
            </a:fld>
            <a:endParaRPr lang="zh-CN" altLang="en-US" dirty="0">
              <a:solidFill>
                <a:srgbClr val="C00000"/>
              </a:solidFill>
            </a:endParaRPr>
          </a:p>
        </p:txBody>
      </p:sp>
      <p:sp>
        <p:nvSpPr>
          <p:cNvPr id="105" name="Rectangle 3"/>
          <p:cNvSpPr txBox="1">
            <a:spLocks noChangeArrowheads="1"/>
          </p:cNvSpPr>
          <p:nvPr/>
        </p:nvSpPr>
        <p:spPr bwMode="auto">
          <a:xfrm>
            <a:off x="432533" y="536298"/>
            <a:ext cx="3399238"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a:solidFill>
                  <a:srgbClr val="C00000"/>
                </a:solidFill>
                <a:latin typeface="微软雅黑" panose="020B0503020204020204" pitchFamily="34" charset="-122"/>
                <a:ea typeface="微软雅黑" panose="020B0503020204020204" pitchFamily="34" charset="-122"/>
              </a:rPr>
              <a:t> </a:t>
            </a:r>
            <a:r>
              <a:rPr lang="zh-CN" altLang="en-US" sz="2800" b="1" kern="0" dirty="0" smtClean="0">
                <a:solidFill>
                  <a:srgbClr val="C00000"/>
                </a:solidFill>
                <a:latin typeface="微软雅黑" panose="020B0503020204020204" pitchFamily="34" charset="-122"/>
                <a:ea typeface="微软雅黑" panose="020B0503020204020204" pitchFamily="34" charset="-122"/>
              </a:rPr>
              <a:t>黏性填</a:t>
            </a:r>
            <a:r>
              <a:rPr lang="zh-CN" altLang="en-US" sz="2800" b="1" kern="0" dirty="0">
                <a:solidFill>
                  <a:srgbClr val="C00000"/>
                </a:solidFill>
                <a:latin typeface="微软雅黑" panose="020B0503020204020204" pitchFamily="34" charset="-122"/>
                <a:ea typeface="微软雅黑" panose="020B0503020204020204" pitchFamily="34" charset="-122"/>
              </a:rPr>
              <a:t>土图解法</a:t>
            </a:r>
          </a:p>
        </p:txBody>
      </p:sp>
      <p:sp>
        <p:nvSpPr>
          <p:cNvPr id="82" name="Text Box 7"/>
          <p:cNvSpPr txBox="1">
            <a:spLocks noChangeArrowheads="1"/>
          </p:cNvSpPr>
          <p:nvPr/>
        </p:nvSpPr>
        <p:spPr bwMode="auto">
          <a:xfrm>
            <a:off x="0" y="0"/>
            <a:ext cx="621792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库伦</a:t>
            </a:r>
            <a:r>
              <a:rPr lang="zh-CN" altLang="en-US" sz="1800" b="1" kern="900" spc="130" dirty="0">
                <a:solidFill>
                  <a:srgbClr val="000066"/>
                </a:solidFill>
                <a:ea typeface="黑体" panose="02010609060101010101" pitchFamily="49" charset="-122"/>
                <a:cs typeface="Times New Roman" panose="02020603050405020304" pitchFamily="18" charset="0"/>
              </a:rPr>
              <a:t>土压力图解法</a:t>
            </a:r>
          </a:p>
        </p:txBody>
      </p:sp>
      <p:graphicFrame>
        <p:nvGraphicFramePr>
          <p:cNvPr id="119" name="对象 118"/>
          <p:cNvGraphicFramePr>
            <a:graphicFrameLocks noChangeAspect="1"/>
          </p:cNvGraphicFramePr>
          <p:nvPr>
            <p:extLst>
              <p:ext uri="{D42A27DB-BD31-4B8C-83A1-F6EECF244321}">
                <p14:modId xmlns:p14="http://schemas.microsoft.com/office/powerpoint/2010/main" val="3540138324"/>
              </p:ext>
            </p:extLst>
          </p:nvPr>
        </p:nvGraphicFramePr>
        <p:xfrm>
          <a:off x="2805113" y="2384425"/>
          <a:ext cx="1166812" cy="723900"/>
        </p:xfrm>
        <a:graphic>
          <a:graphicData uri="http://schemas.openxmlformats.org/presentationml/2006/ole">
            <mc:AlternateContent xmlns:mc="http://schemas.openxmlformats.org/markup-compatibility/2006">
              <mc:Choice xmlns:v="urn:schemas-microsoft-com:vml" Requires="v">
                <p:oleObj spid="_x0000_s1698140" name="Equation" r:id="rId4" imgW="698400" imgH="431640" progId="Equation.DSMT4">
                  <p:embed/>
                </p:oleObj>
              </mc:Choice>
              <mc:Fallback>
                <p:oleObj name="Equation" r:id="rId4" imgW="698400" imgH="431640" progId="Equation.DSMT4">
                  <p:embed/>
                  <p:pic>
                    <p:nvPicPr>
                      <p:cNvPr id="229" name="对象 228"/>
                      <p:cNvPicPr>
                        <a:picLocks noChangeAspect="1" noChangeArrowheads="1"/>
                      </p:cNvPicPr>
                      <p:nvPr/>
                    </p:nvPicPr>
                    <p:blipFill>
                      <a:blip r:embed="rId5"/>
                      <a:srcRect/>
                      <a:stretch>
                        <a:fillRect/>
                      </a:stretch>
                    </p:blipFill>
                    <p:spPr bwMode="auto">
                      <a:xfrm>
                        <a:off x="2805113" y="2384425"/>
                        <a:ext cx="1166812" cy="723900"/>
                      </a:xfrm>
                      <a:prstGeom prst="rect">
                        <a:avLst/>
                      </a:prstGeom>
                      <a:noFill/>
                      <a:ln>
                        <a:noFill/>
                      </a:ln>
                      <a:effectLst/>
                    </p:spPr>
                  </p:pic>
                </p:oleObj>
              </mc:Fallback>
            </mc:AlternateContent>
          </a:graphicData>
        </a:graphic>
      </p:graphicFrame>
      <p:sp>
        <p:nvSpPr>
          <p:cNvPr id="67" name="Text Box 75"/>
          <p:cNvSpPr txBox="1">
            <a:spLocks noChangeArrowheads="1"/>
          </p:cNvSpPr>
          <p:nvPr/>
        </p:nvSpPr>
        <p:spPr bwMode="auto">
          <a:xfrm>
            <a:off x="6910935" y="906978"/>
            <a:ext cx="383764"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5" name="组合 4"/>
          <p:cNvGrpSpPr/>
          <p:nvPr/>
        </p:nvGrpSpPr>
        <p:grpSpPr>
          <a:xfrm>
            <a:off x="6325145" y="1905362"/>
            <a:ext cx="488166" cy="1142636"/>
            <a:chOff x="6325145" y="1905362"/>
            <a:chExt cx="488166" cy="1142636"/>
          </a:xfrm>
        </p:grpSpPr>
        <p:cxnSp>
          <p:nvCxnSpPr>
            <p:cNvPr id="71" name="直接箭头连接符 70"/>
            <p:cNvCxnSpPr/>
            <p:nvPr/>
          </p:nvCxnSpPr>
          <p:spPr bwMode="auto">
            <a:xfrm>
              <a:off x="6374203" y="2050335"/>
              <a:ext cx="0" cy="997663"/>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75"/>
            <p:cNvSpPr txBox="1">
              <a:spLocks noChangeArrowheads="1"/>
            </p:cNvSpPr>
            <p:nvPr/>
          </p:nvSpPr>
          <p:spPr bwMode="auto">
            <a:xfrm>
              <a:off x="6325145" y="1905362"/>
              <a:ext cx="488166"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3" name="组合 2"/>
          <p:cNvGrpSpPr/>
          <p:nvPr/>
        </p:nvGrpSpPr>
        <p:grpSpPr>
          <a:xfrm>
            <a:off x="6861489" y="2369063"/>
            <a:ext cx="752079" cy="1179361"/>
            <a:chOff x="6861489" y="2369063"/>
            <a:chExt cx="752079" cy="1179361"/>
          </a:xfrm>
        </p:grpSpPr>
        <p:grpSp>
          <p:nvGrpSpPr>
            <p:cNvPr id="73" name="组合 72"/>
            <p:cNvGrpSpPr/>
            <p:nvPr/>
          </p:nvGrpSpPr>
          <p:grpSpPr>
            <a:xfrm rot="173897">
              <a:off x="6861489" y="2369063"/>
              <a:ext cx="638965" cy="813732"/>
              <a:chOff x="6840700" y="1909625"/>
              <a:chExt cx="360194" cy="458713"/>
            </a:xfrm>
          </p:grpSpPr>
          <p:cxnSp>
            <p:nvCxnSpPr>
              <p:cNvPr id="74" name="直接连接符 73"/>
              <p:cNvCxnSpPr/>
              <p:nvPr/>
            </p:nvCxnSpPr>
            <p:spPr bwMode="auto">
              <a:xfrm rot="11211980" flipH="1" flipV="1">
                <a:off x="6840700" y="1985722"/>
                <a:ext cx="332186" cy="714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任意多边形 74"/>
              <p:cNvSpPr/>
              <p:nvPr/>
            </p:nvSpPr>
            <p:spPr bwMode="auto">
              <a:xfrm rot="6659934" flipV="1">
                <a:off x="6852243" y="1908938"/>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rot="10626103" flipV="1">
                <a:off x="7034088" y="2061234"/>
                <a:ext cx="80797"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7" name="直接箭头连接符 76"/>
              <p:cNvCxnSpPr/>
              <p:nvPr/>
            </p:nvCxnSpPr>
            <p:spPr bwMode="auto">
              <a:xfrm rot="21426103" flipH="1" flipV="1">
                <a:off x="6852299" y="1962087"/>
                <a:ext cx="348595" cy="406251"/>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Rectangle 74"/>
            <p:cNvSpPr>
              <a:spLocks noChangeArrowheads="1"/>
            </p:cNvSpPr>
            <p:nvPr/>
          </p:nvSpPr>
          <p:spPr bwMode="auto">
            <a:xfrm>
              <a:off x="7287821" y="2592222"/>
              <a:ext cx="323486"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79" name="Text Box 75"/>
            <p:cNvSpPr txBox="1">
              <a:spLocks noChangeArrowheads="1"/>
            </p:cNvSpPr>
            <p:nvPr/>
          </p:nvSpPr>
          <p:spPr bwMode="auto">
            <a:xfrm>
              <a:off x="7216010" y="3102148"/>
              <a:ext cx="39755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grpSp>
      <p:grpSp>
        <p:nvGrpSpPr>
          <p:cNvPr id="2" name="组合 1"/>
          <p:cNvGrpSpPr/>
          <p:nvPr/>
        </p:nvGrpSpPr>
        <p:grpSpPr>
          <a:xfrm>
            <a:off x="5236926" y="2891592"/>
            <a:ext cx="802857" cy="1062097"/>
            <a:chOff x="5236926" y="2891592"/>
            <a:chExt cx="802857" cy="1062097"/>
          </a:xfrm>
        </p:grpSpPr>
        <p:sp>
          <p:nvSpPr>
            <p:cNvPr id="58" name="Rectangle 74"/>
            <p:cNvSpPr>
              <a:spLocks noChangeArrowheads="1"/>
            </p:cNvSpPr>
            <p:nvPr/>
          </p:nvSpPr>
          <p:spPr bwMode="auto">
            <a:xfrm>
              <a:off x="5258440" y="3074584"/>
              <a:ext cx="28022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59" name="Text Box 75"/>
            <p:cNvSpPr txBox="1">
              <a:spLocks noChangeArrowheads="1"/>
            </p:cNvSpPr>
            <p:nvPr/>
          </p:nvSpPr>
          <p:spPr bwMode="auto">
            <a:xfrm>
              <a:off x="5236926" y="3508986"/>
              <a:ext cx="382930" cy="444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60" name="直接连接符 59"/>
            <p:cNvCxnSpPr/>
            <p:nvPr/>
          </p:nvCxnSpPr>
          <p:spPr bwMode="auto">
            <a:xfrm flipH="1">
              <a:off x="5434179" y="3000476"/>
              <a:ext cx="578246" cy="1266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任意多边形 60"/>
            <p:cNvSpPr/>
            <p:nvPr/>
          </p:nvSpPr>
          <p:spPr bwMode="auto">
            <a:xfrm rot="4552046">
              <a:off x="5880099" y="2891592"/>
              <a:ext cx="127724" cy="12772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2" name="任意多边形 61"/>
            <p:cNvSpPr/>
            <p:nvPr/>
          </p:nvSpPr>
          <p:spPr bwMode="auto">
            <a:xfrm>
              <a:off x="5579538" y="3093567"/>
              <a:ext cx="140646" cy="21530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85" name="直接箭头连接符 84"/>
            <p:cNvCxnSpPr/>
            <p:nvPr/>
          </p:nvCxnSpPr>
          <p:spPr bwMode="auto">
            <a:xfrm flipV="1">
              <a:off x="5434164" y="3015863"/>
              <a:ext cx="605619" cy="53550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3" name="Text Box 75"/>
          <p:cNvSpPr txBox="1">
            <a:spLocks noChangeArrowheads="1"/>
          </p:cNvSpPr>
          <p:nvPr/>
        </p:nvSpPr>
        <p:spPr bwMode="auto">
          <a:xfrm>
            <a:off x="7532796" y="4340840"/>
            <a:ext cx="480789"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94" name="Text Box 75"/>
          <p:cNvSpPr txBox="1">
            <a:spLocks noChangeArrowheads="1"/>
          </p:cNvSpPr>
          <p:nvPr/>
        </p:nvSpPr>
        <p:spPr bwMode="auto">
          <a:xfrm>
            <a:off x="8435165" y="4865988"/>
            <a:ext cx="447578" cy="45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sp>
        <p:nvSpPr>
          <p:cNvPr id="95" name="Text Box 75"/>
          <p:cNvSpPr txBox="1">
            <a:spLocks noChangeArrowheads="1"/>
          </p:cNvSpPr>
          <p:nvPr/>
        </p:nvSpPr>
        <p:spPr bwMode="auto">
          <a:xfrm>
            <a:off x="8277525" y="3938451"/>
            <a:ext cx="361992" cy="50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96" name="直接箭头连接符 95"/>
          <p:cNvCxnSpPr/>
          <p:nvPr/>
        </p:nvCxnSpPr>
        <p:spPr bwMode="auto">
          <a:xfrm>
            <a:off x="8032794" y="2745454"/>
            <a:ext cx="0" cy="2467966"/>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箭头连接符 96"/>
          <p:cNvCxnSpPr/>
          <p:nvPr/>
        </p:nvCxnSpPr>
        <p:spPr bwMode="auto">
          <a:xfrm flipH="1" flipV="1">
            <a:off x="7948062" y="3916724"/>
            <a:ext cx="671222" cy="782243"/>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箭头连接符 98"/>
          <p:cNvCxnSpPr/>
          <p:nvPr/>
        </p:nvCxnSpPr>
        <p:spPr bwMode="auto">
          <a:xfrm flipV="1">
            <a:off x="8040215" y="4692428"/>
            <a:ext cx="578923" cy="51190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 name="组合 9"/>
          <p:cNvGrpSpPr/>
          <p:nvPr/>
        </p:nvGrpSpPr>
        <p:grpSpPr>
          <a:xfrm>
            <a:off x="6647439" y="2699252"/>
            <a:ext cx="699566" cy="794786"/>
            <a:chOff x="6647439" y="2699252"/>
            <a:chExt cx="699566" cy="794786"/>
          </a:xfrm>
        </p:grpSpPr>
        <p:cxnSp>
          <p:nvCxnSpPr>
            <p:cNvPr id="112" name="直接箭头连接符 111"/>
            <p:cNvCxnSpPr/>
            <p:nvPr/>
          </p:nvCxnSpPr>
          <p:spPr bwMode="auto">
            <a:xfrm flipV="1">
              <a:off x="6647439" y="2699252"/>
              <a:ext cx="226465" cy="597198"/>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Text Box 75"/>
            <p:cNvSpPr txBox="1">
              <a:spLocks noChangeArrowheads="1"/>
            </p:cNvSpPr>
            <p:nvPr/>
          </p:nvSpPr>
          <p:spPr bwMode="auto">
            <a:xfrm>
              <a:off x="6676262" y="3047762"/>
              <a:ext cx="67074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FF0000"/>
                  </a:solidFill>
                  <a:latin typeface="Times New Roman" panose="02020603050405020304" pitchFamily="18" charset="0"/>
                  <a:sym typeface="Symbol" panose="05050102010706020507" pitchFamily="18" charset="2"/>
                </a:rPr>
                <a:t>C</a:t>
              </a:r>
              <a:r>
                <a:rPr kumimoji="1" lang="en-US" altLang="zh-CN" sz="2000" b="1" baseline="-25000" dirty="0" smtClean="0">
                  <a:solidFill>
                    <a:srgbClr val="FF0000"/>
                  </a:solidFill>
                  <a:latin typeface="Times New Roman" panose="02020603050405020304" pitchFamily="18" charset="0"/>
                  <a:sym typeface="Symbol" panose="05050102010706020507" pitchFamily="18" charset="2"/>
                </a:rPr>
                <a:t>AD</a:t>
              </a:r>
            </a:p>
          </p:txBody>
        </p:sp>
      </p:grpSp>
      <p:grpSp>
        <p:nvGrpSpPr>
          <p:cNvPr id="11" name="组合 10"/>
          <p:cNvGrpSpPr/>
          <p:nvPr/>
        </p:nvGrpSpPr>
        <p:grpSpPr>
          <a:xfrm>
            <a:off x="5271718" y="2113465"/>
            <a:ext cx="644807" cy="713709"/>
            <a:chOff x="5271718" y="2113465"/>
            <a:chExt cx="644807" cy="713709"/>
          </a:xfrm>
        </p:grpSpPr>
        <p:cxnSp>
          <p:nvCxnSpPr>
            <p:cNvPr id="114" name="直接箭头连接符 113"/>
            <p:cNvCxnSpPr/>
            <p:nvPr/>
          </p:nvCxnSpPr>
          <p:spPr bwMode="auto">
            <a:xfrm flipH="1" flipV="1">
              <a:off x="5788370" y="2204959"/>
              <a:ext cx="128155" cy="622215"/>
            </a:xfrm>
            <a:prstGeom prst="straightConnector1">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Text Box 75"/>
            <p:cNvSpPr txBox="1">
              <a:spLocks noChangeArrowheads="1"/>
            </p:cNvSpPr>
            <p:nvPr/>
          </p:nvSpPr>
          <p:spPr bwMode="auto">
            <a:xfrm>
              <a:off x="5271718" y="2113465"/>
              <a:ext cx="629780"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FF"/>
                  </a:solidFill>
                  <a:latin typeface="Times New Roman" panose="02020603050405020304" pitchFamily="18" charset="0"/>
                  <a:sym typeface="Symbol" panose="05050102010706020507" pitchFamily="18" charset="2"/>
                </a:rPr>
                <a:t>C</a:t>
              </a:r>
              <a:r>
                <a:rPr kumimoji="1" lang="en-US" altLang="zh-CN" sz="2000" b="1" baseline="-25000" dirty="0" smtClean="0">
                  <a:solidFill>
                    <a:srgbClr val="0000FF"/>
                  </a:solidFill>
                  <a:latin typeface="Times New Roman" panose="02020603050405020304" pitchFamily="18" charset="0"/>
                  <a:sym typeface="Symbol" panose="05050102010706020507" pitchFamily="18" charset="2"/>
                </a:rPr>
                <a:t>AE</a:t>
              </a:r>
              <a:endParaRPr kumimoji="1" lang="en-US" altLang="zh-CN" sz="2000" b="1" baseline="-25000" dirty="0">
                <a:solidFill>
                  <a:srgbClr val="0000FF"/>
                </a:solidFill>
                <a:latin typeface="Times New Roman" panose="02020603050405020304" pitchFamily="18" charset="0"/>
                <a:sym typeface="Symbol" panose="05050102010706020507" pitchFamily="18" charset="2"/>
              </a:endParaRPr>
            </a:p>
          </p:txBody>
        </p:sp>
      </p:grpSp>
      <p:grpSp>
        <p:nvGrpSpPr>
          <p:cNvPr id="6" name="组合 5"/>
          <p:cNvGrpSpPr/>
          <p:nvPr/>
        </p:nvGrpSpPr>
        <p:grpSpPr>
          <a:xfrm>
            <a:off x="5411190" y="1530914"/>
            <a:ext cx="2079985" cy="680404"/>
            <a:chOff x="5411190" y="1530914"/>
            <a:chExt cx="2079985" cy="680404"/>
          </a:xfrm>
        </p:grpSpPr>
        <p:cxnSp>
          <p:nvCxnSpPr>
            <p:cNvPr id="111" name="直接连接符 110"/>
            <p:cNvCxnSpPr/>
            <p:nvPr/>
          </p:nvCxnSpPr>
          <p:spPr bwMode="auto">
            <a:xfrm flipV="1">
              <a:off x="5820763" y="1655171"/>
              <a:ext cx="1345721" cy="286387"/>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 Box 75"/>
            <p:cNvSpPr txBox="1">
              <a:spLocks noChangeArrowheads="1"/>
            </p:cNvSpPr>
            <p:nvPr/>
          </p:nvSpPr>
          <p:spPr bwMode="auto">
            <a:xfrm>
              <a:off x="5411190" y="1739032"/>
              <a:ext cx="383764" cy="472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E</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17" name="Text Box 75"/>
            <p:cNvSpPr txBox="1">
              <a:spLocks noChangeArrowheads="1"/>
            </p:cNvSpPr>
            <p:nvPr/>
          </p:nvSpPr>
          <p:spPr bwMode="auto">
            <a:xfrm>
              <a:off x="7107411" y="1530914"/>
              <a:ext cx="383764"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7" name="组合 6"/>
          <p:cNvGrpSpPr/>
          <p:nvPr/>
        </p:nvGrpSpPr>
        <p:grpSpPr>
          <a:xfrm>
            <a:off x="7346634" y="1179920"/>
            <a:ext cx="661614" cy="472286"/>
            <a:chOff x="7346634" y="1179920"/>
            <a:chExt cx="661614" cy="472286"/>
          </a:xfrm>
        </p:grpSpPr>
        <p:cxnSp>
          <p:nvCxnSpPr>
            <p:cNvPr id="118" name="直接连接符 117"/>
            <p:cNvCxnSpPr/>
            <p:nvPr/>
          </p:nvCxnSpPr>
          <p:spPr bwMode="auto">
            <a:xfrm flipV="1">
              <a:off x="7346634" y="1541401"/>
              <a:ext cx="308373" cy="6562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Line 89"/>
            <p:cNvSpPr>
              <a:spLocks noChangeAspect="1" noChangeShapeType="1"/>
            </p:cNvSpPr>
            <p:nvPr/>
          </p:nvSpPr>
          <p:spPr bwMode="auto">
            <a:xfrm rot="5400000">
              <a:off x="7380703" y="1417959"/>
              <a:ext cx="30169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25" name="Text Box 57"/>
            <p:cNvSpPr txBox="1">
              <a:spLocks noChangeArrowheads="1"/>
            </p:cNvSpPr>
            <p:nvPr/>
          </p:nvSpPr>
          <p:spPr bwMode="auto">
            <a:xfrm>
              <a:off x="7492296" y="1179920"/>
              <a:ext cx="515952" cy="4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solidFill>
                    <a:srgbClr val="000066"/>
                  </a:solidFill>
                  <a:sym typeface="Symbol" pitchFamily="18" charset="2"/>
                </a:rPr>
                <a:t>z</a:t>
              </a:r>
              <a:r>
                <a:rPr lang="en-US" altLang="zh-CN" sz="2000" b="1" baseline="-25000" dirty="0" smtClean="0">
                  <a:solidFill>
                    <a:srgbClr val="000066"/>
                  </a:solidFill>
                  <a:sym typeface="Symbol" pitchFamily="18" charset="2"/>
                </a:rPr>
                <a:t>0</a:t>
              </a:r>
              <a:endParaRPr lang="en-US" altLang="zh-CN" sz="2000" b="1" baseline="-25000" dirty="0">
                <a:solidFill>
                  <a:srgbClr val="000066"/>
                </a:solidFill>
                <a:sym typeface="Symbol" pitchFamily="18" charset="2"/>
              </a:endParaRPr>
            </a:p>
          </p:txBody>
        </p:sp>
      </p:grpSp>
      <p:cxnSp>
        <p:nvCxnSpPr>
          <p:cNvPr id="129" name="直接箭头连接符 128"/>
          <p:cNvCxnSpPr/>
          <p:nvPr/>
        </p:nvCxnSpPr>
        <p:spPr bwMode="auto">
          <a:xfrm flipV="1">
            <a:off x="7946291" y="3339926"/>
            <a:ext cx="226465" cy="597198"/>
          </a:xfrm>
          <a:prstGeom prst="straightConnector1">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flipH="1" flipV="1">
            <a:off x="8047470" y="2740826"/>
            <a:ext cx="128155" cy="622215"/>
          </a:xfrm>
          <a:prstGeom prst="straightConnector1">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Text Box 4"/>
          <p:cNvSpPr txBox="1">
            <a:spLocks noChangeArrowheads="1"/>
          </p:cNvSpPr>
          <p:nvPr/>
        </p:nvSpPr>
        <p:spPr bwMode="auto">
          <a:xfrm>
            <a:off x="623564" y="1377524"/>
            <a:ext cx="4087772"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25000"/>
              </a:lnSpc>
              <a:spcBef>
                <a:spcPts val="0"/>
              </a:spcBef>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数值解比较复杂，可参见附录</a:t>
            </a:r>
            <a:r>
              <a:rPr lang="en-US" altLang="zh-CN" sz="2000" b="1" dirty="0" smtClean="0">
                <a:solidFill>
                  <a:srgbClr val="000066"/>
                </a:solidFill>
                <a:ea typeface="幼圆" pitchFamily="49" charset="-122"/>
              </a:rPr>
              <a:t>Ⅲ</a:t>
            </a:r>
          </a:p>
          <a:p>
            <a:pPr marL="269875" indent="-269875" eaLnBrk="1" hangingPunct="1">
              <a:lnSpc>
                <a:spcPct val="125000"/>
              </a:lnSpc>
              <a:spcBef>
                <a:spcPts val="0"/>
              </a:spcBef>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表层</a:t>
            </a:r>
            <a:r>
              <a:rPr lang="en-US" altLang="zh-CN" sz="2000" b="1" dirty="0" smtClean="0">
                <a:solidFill>
                  <a:srgbClr val="000066"/>
                </a:solidFill>
                <a:ea typeface="幼圆" pitchFamily="49" charset="-122"/>
              </a:rPr>
              <a:t>z</a:t>
            </a:r>
            <a:r>
              <a:rPr lang="en-US" altLang="zh-CN" sz="2000" b="1" baseline="-25000" dirty="0" smtClean="0">
                <a:solidFill>
                  <a:srgbClr val="000066"/>
                </a:solidFill>
                <a:ea typeface="幼圆" pitchFamily="49" charset="-122"/>
              </a:rPr>
              <a:t>0</a:t>
            </a:r>
            <a:r>
              <a:rPr lang="en-US" altLang="zh-CN" sz="2000" b="1" dirty="0" smtClean="0">
                <a:solidFill>
                  <a:srgbClr val="000066"/>
                </a:solidFill>
                <a:ea typeface="幼圆" pitchFamily="49" charset="-122"/>
              </a:rPr>
              <a:t>深度内，存在拉应力，将导致裂缝出现</a:t>
            </a:r>
            <a:endParaRPr lang="zh-CN" altLang="en-US" sz="2000" b="1" dirty="0">
              <a:solidFill>
                <a:srgbClr val="000066"/>
              </a:solidFill>
              <a:ea typeface="幼圆" pitchFamily="49" charset="-122"/>
            </a:endParaRPr>
          </a:p>
        </p:txBody>
      </p:sp>
      <p:sp>
        <p:nvSpPr>
          <p:cNvPr id="140" name="Text Box 38"/>
          <p:cNvSpPr txBox="1">
            <a:spLocks noChangeArrowheads="1"/>
          </p:cNvSpPr>
          <p:nvPr/>
        </p:nvSpPr>
        <p:spPr bwMode="auto">
          <a:xfrm>
            <a:off x="1106488" y="3255658"/>
            <a:ext cx="33435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Clr>
                <a:srgbClr val="C00000"/>
              </a:buClr>
              <a:buSzPct val="130000"/>
            </a:pPr>
            <a:r>
              <a:rPr lang="zh-CN" altLang="en-US" sz="2000" b="1" dirty="0" smtClean="0">
                <a:solidFill>
                  <a:srgbClr val="000066"/>
                </a:solidFill>
                <a:ea typeface="幼圆" panose="02010509060101010101" pitchFamily="49" charset="-122"/>
                <a:cs typeface="Times New Roman" panose="02020603050405020304" pitchFamily="18" charset="0"/>
              </a:rPr>
              <a:t>其中，</a:t>
            </a:r>
            <a:r>
              <a:rPr lang="en-US" altLang="zh-CN" sz="2000" b="1" i="1" dirty="0" err="1" smtClean="0">
                <a:solidFill>
                  <a:srgbClr val="000066"/>
                </a:solidFill>
                <a:ea typeface="幼圆" panose="02010509060101010101" pitchFamily="49" charset="-122"/>
                <a:cs typeface="Times New Roman" panose="02020603050405020304" pitchFamily="18" charset="0"/>
              </a:rPr>
              <a:t>K</a:t>
            </a:r>
            <a:r>
              <a:rPr lang="en-US" altLang="zh-CN" sz="2000" b="1" baseline="-25000" dirty="0" err="1" smtClean="0">
                <a:solidFill>
                  <a:srgbClr val="000066"/>
                </a:solidFill>
                <a:ea typeface="幼圆" panose="02010509060101010101" pitchFamily="49" charset="-122"/>
                <a:cs typeface="Times New Roman" panose="02020603050405020304" pitchFamily="18" charset="0"/>
              </a:rPr>
              <a:t>a</a:t>
            </a:r>
            <a:r>
              <a:rPr lang="zh-CN" altLang="en-US" sz="2000" b="1" dirty="0" smtClean="0">
                <a:solidFill>
                  <a:srgbClr val="000066"/>
                </a:solidFill>
                <a:ea typeface="幼圆" panose="02010509060101010101" pitchFamily="49" charset="-122"/>
                <a:cs typeface="Times New Roman" panose="02020603050405020304" pitchFamily="18" charset="0"/>
              </a:rPr>
              <a:t>库仑主动土压力系数</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141" name="Text Box 4"/>
          <p:cNvSpPr txBox="1">
            <a:spLocks noChangeArrowheads="1"/>
          </p:cNvSpPr>
          <p:nvPr/>
        </p:nvSpPr>
        <p:spPr bwMode="auto">
          <a:xfrm>
            <a:off x="619211" y="3691005"/>
            <a:ext cx="4604796"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25000"/>
              </a:lnSpc>
              <a:spcBef>
                <a:spcPts val="0"/>
              </a:spcBef>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土楔</a:t>
            </a:r>
            <a:r>
              <a:rPr lang="en-US" altLang="zh-CN" sz="2000" b="1" dirty="0" err="1" smtClean="0">
                <a:solidFill>
                  <a:srgbClr val="000066"/>
                </a:solidFill>
                <a:ea typeface="幼圆" pitchFamily="49" charset="-122"/>
              </a:rPr>
              <a:t>重量</a:t>
            </a:r>
            <a:r>
              <a:rPr lang="zh-CN" altLang="en-US" sz="2000" b="1" dirty="0" smtClean="0">
                <a:solidFill>
                  <a:srgbClr val="000066"/>
                </a:solidFill>
                <a:ea typeface="幼圆" pitchFamily="49" charset="-122"/>
              </a:rPr>
              <a:t>包括</a:t>
            </a:r>
            <a:r>
              <a:rPr lang="en-US" altLang="zh-CN" sz="2000" b="1" dirty="0" smtClean="0">
                <a:solidFill>
                  <a:srgbClr val="000066"/>
                </a:solidFill>
                <a:ea typeface="幼圆" pitchFamily="49" charset="-122"/>
              </a:rPr>
              <a:t>BCDE</a:t>
            </a:r>
          </a:p>
          <a:p>
            <a:pPr marL="269875" indent="-269875" eaLnBrk="1" hangingPunct="1">
              <a:lnSpc>
                <a:spcPct val="125000"/>
              </a:lnSpc>
              <a:spcBef>
                <a:spcPts val="0"/>
              </a:spcBef>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沿墙背</a:t>
            </a:r>
            <a:r>
              <a:rPr lang="en-US" altLang="zh-CN" sz="2000" b="1" dirty="0" err="1" smtClean="0">
                <a:solidFill>
                  <a:srgbClr val="000066"/>
                </a:solidFill>
                <a:ea typeface="幼圆" pitchFamily="49" charset="-122"/>
              </a:rPr>
              <a:t>的总黏聚力</a:t>
            </a:r>
            <a:r>
              <a:rPr kumimoji="1" lang="en-US" altLang="zh-CN" sz="2000" b="1" i="1" dirty="0" err="1" smtClean="0">
                <a:solidFill>
                  <a:srgbClr val="000066"/>
                </a:solidFill>
                <a:sym typeface="Symbol" panose="05050102010706020507" pitchFamily="18" charset="2"/>
              </a:rPr>
              <a:t>C</a:t>
            </a:r>
            <a:r>
              <a:rPr kumimoji="1" lang="en-US" altLang="zh-CN" sz="2000" b="1" baseline="-25000" dirty="0" err="1" smtClean="0">
                <a:solidFill>
                  <a:srgbClr val="000066"/>
                </a:solidFill>
                <a:sym typeface="Symbol" panose="05050102010706020507" pitchFamily="18" charset="2"/>
              </a:rPr>
              <a:t>AE</a:t>
            </a:r>
            <a:r>
              <a:rPr lang="zh-CN" altLang="en-US" sz="2000" b="1" dirty="0" smtClean="0">
                <a:solidFill>
                  <a:srgbClr val="000066"/>
                </a:solidFill>
                <a:ea typeface="幼圆" pitchFamily="49" charset="-122"/>
              </a:rPr>
              <a:t>按</a:t>
            </a:r>
            <a:r>
              <a:rPr lang="en-US" altLang="zh-CN" sz="2000" b="1" dirty="0" smtClean="0">
                <a:solidFill>
                  <a:srgbClr val="000066"/>
                </a:solidFill>
                <a:ea typeface="幼圆" pitchFamily="49" charset="-122"/>
              </a:rPr>
              <a:t>AE</a:t>
            </a:r>
            <a:r>
              <a:rPr lang="zh-CN" altLang="en-US" sz="2000" b="1" dirty="0" smtClean="0">
                <a:solidFill>
                  <a:srgbClr val="000066"/>
                </a:solidFill>
                <a:ea typeface="幼圆" pitchFamily="49" charset="-122"/>
              </a:rPr>
              <a:t>长度计算</a:t>
            </a:r>
            <a:r>
              <a:rPr lang="zh-CN" altLang="en-US" sz="2000" b="1" dirty="0">
                <a:solidFill>
                  <a:srgbClr val="000066"/>
                </a:solidFill>
                <a:ea typeface="幼圆" pitchFamily="49" charset="-122"/>
              </a:rPr>
              <a:t>，</a:t>
            </a:r>
            <a:r>
              <a:rPr lang="zh-CN" altLang="en-US" sz="2000" b="1" dirty="0" smtClean="0">
                <a:solidFill>
                  <a:srgbClr val="000066"/>
                </a:solidFill>
                <a:ea typeface="幼圆" pitchFamily="49" charset="-122"/>
              </a:rPr>
              <a:t>沿滑面</a:t>
            </a:r>
            <a:r>
              <a:rPr lang="en-US" altLang="zh-CN" sz="2000" b="1" dirty="0" err="1" smtClean="0">
                <a:solidFill>
                  <a:srgbClr val="000066"/>
                </a:solidFill>
                <a:ea typeface="幼圆" pitchFamily="49" charset="-122"/>
              </a:rPr>
              <a:t>的总黏聚力</a:t>
            </a:r>
            <a:r>
              <a:rPr kumimoji="1" lang="en-US" altLang="zh-CN" sz="2000" b="1" i="1" dirty="0" err="1" smtClean="0">
                <a:solidFill>
                  <a:srgbClr val="000066"/>
                </a:solidFill>
                <a:sym typeface="Symbol" panose="05050102010706020507" pitchFamily="18" charset="2"/>
              </a:rPr>
              <a:t>C</a:t>
            </a:r>
            <a:r>
              <a:rPr kumimoji="1" lang="en-US" altLang="zh-CN" sz="2000" b="1" baseline="-25000" dirty="0" err="1" smtClean="0">
                <a:solidFill>
                  <a:srgbClr val="000066"/>
                </a:solidFill>
                <a:sym typeface="Symbol" panose="05050102010706020507" pitchFamily="18" charset="2"/>
              </a:rPr>
              <a:t>AD</a:t>
            </a:r>
            <a:r>
              <a:rPr lang="zh-CN" altLang="en-US" sz="2000" b="1" dirty="0" smtClean="0">
                <a:solidFill>
                  <a:srgbClr val="000066"/>
                </a:solidFill>
                <a:ea typeface="幼圆" pitchFamily="49" charset="-122"/>
              </a:rPr>
              <a:t>按</a:t>
            </a:r>
            <a:r>
              <a:rPr lang="en-US" altLang="zh-CN" sz="2000" b="1" dirty="0" smtClean="0">
                <a:solidFill>
                  <a:srgbClr val="000066"/>
                </a:solidFill>
                <a:ea typeface="幼圆" pitchFamily="49" charset="-122"/>
              </a:rPr>
              <a:t>AD</a:t>
            </a:r>
            <a:r>
              <a:rPr lang="zh-CN" altLang="en-US" sz="2000" b="1" dirty="0">
                <a:solidFill>
                  <a:srgbClr val="000066"/>
                </a:solidFill>
                <a:ea typeface="幼圆" pitchFamily="49" charset="-122"/>
              </a:rPr>
              <a:t>长度计算</a:t>
            </a:r>
            <a:endParaRPr lang="en-US" altLang="zh-CN" sz="2000" b="1" dirty="0" smtClean="0">
              <a:solidFill>
                <a:srgbClr val="000066"/>
              </a:solidFill>
              <a:ea typeface="幼圆" pitchFamily="49" charset="-122"/>
            </a:endParaRPr>
          </a:p>
          <a:p>
            <a:pPr marL="269875" indent="-269875" eaLnBrk="1" hangingPunct="1">
              <a:lnSpc>
                <a:spcPct val="125000"/>
              </a:lnSpc>
              <a:spcBef>
                <a:spcPts val="0"/>
              </a:spcBef>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其余同无黏性土</a:t>
            </a:r>
            <a:endParaRPr lang="zh-CN" altLang="en-US" sz="2000" b="1" dirty="0">
              <a:solidFill>
                <a:srgbClr val="000066"/>
              </a:solidFill>
              <a:ea typeface="幼圆" pitchFamily="49" charset="-122"/>
            </a:endParaRPr>
          </a:p>
        </p:txBody>
      </p:sp>
      <p:sp>
        <p:nvSpPr>
          <p:cNvPr id="55" name="Text Box 75"/>
          <p:cNvSpPr txBox="1">
            <a:spLocks noChangeArrowheads="1"/>
          </p:cNvSpPr>
          <p:nvPr/>
        </p:nvSpPr>
        <p:spPr bwMode="auto">
          <a:xfrm>
            <a:off x="8079853" y="2719089"/>
            <a:ext cx="629780"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FF"/>
                </a:solidFill>
                <a:latin typeface="Times New Roman" panose="02020603050405020304" pitchFamily="18" charset="0"/>
                <a:sym typeface="Symbol" panose="05050102010706020507" pitchFamily="18" charset="2"/>
              </a:rPr>
              <a:t>C</a:t>
            </a:r>
            <a:r>
              <a:rPr kumimoji="1" lang="en-US" altLang="zh-CN" sz="2000" b="1" baseline="-25000" dirty="0" smtClean="0">
                <a:solidFill>
                  <a:srgbClr val="0000FF"/>
                </a:solidFill>
                <a:latin typeface="Times New Roman" panose="02020603050405020304" pitchFamily="18" charset="0"/>
                <a:sym typeface="Symbol" panose="05050102010706020507" pitchFamily="18" charset="2"/>
              </a:rPr>
              <a:t>AE</a:t>
            </a:r>
            <a:endParaRPr kumimoji="1" lang="en-US" altLang="zh-CN" sz="2000" b="1" baseline="-25000" dirty="0">
              <a:solidFill>
                <a:srgbClr val="0000FF"/>
              </a:solidFill>
              <a:latin typeface="Times New Roman" panose="02020603050405020304" pitchFamily="18" charset="0"/>
              <a:sym typeface="Symbol" panose="05050102010706020507" pitchFamily="18" charset="2"/>
            </a:endParaRPr>
          </a:p>
        </p:txBody>
      </p:sp>
      <p:sp>
        <p:nvSpPr>
          <p:cNvPr id="56" name="Text Box 75"/>
          <p:cNvSpPr txBox="1">
            <a:spLocks noChangeArrowheads="1"/>
          </p:cNvSpPr>
          <p:nvPr/>
        </p:nvSpPr>
        <p:spPr bwMode="auto">
          <a:xfrm>
            <a:off x="8147254" y="3398944"/>
            <a:ext cx="67074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FF0000"/>
                </a:solidFill>
                <a:latin typeface="Times New Roman" panose="02020603050405020304" pitchFamily="18" charset="0"/>
                <a:sym typeface="Symbol" panose="05050102010706020507" pitchFamily="18" charset="2"/>
              </a:rPr>
              <a:t>C</a:t>
            </a:r>
            <a:r>
              <a:rPr kumimoji="1" lang="en-US" altLang="zh-CN" sz="2000" b="1" baseline="-25000" dirty="0" smtClean="0">
                <a:solidFill>
                  <a:srgbClr val="FF0000"/>
                </a:solidFill>
                <a:latin typeface="Times New Roman" panose="02020603050405020304" pitchFamily="18" charset="0"/>
                <a:sym typeface="Symbol" panose="05050102010706020507" pitchFamily="18" charset="2"/>
              </a:rPr>
              <a:t>AD</a:t>
            </a:r>
          </a:p>
        </p:txBody>
      </p:sp>
      <p:sp>
        <p:nvSpPr>
          <p:cNvPr id="63" name="Text Box 2"/>
          <p:cNvSpPr txBox="1">
            <a:spLocks noChangeArrowheads="1"/>
          </p:cNvSpPr>
          <p:nvPr/>
        </p:nvSpPr>
        <p:spPr bwMode="auto">
          <a:xfrm>
            <a:off x="2461229" y="5741435"/>
            <a:ext cx="50666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库伦土压力图解法</a:t>
            </a:r>
          </a:p>
        </p:txBody>
      </p:sp>
    </p:spTree>
    <p:extLst>
      <p:ext uri="{BB962C8B-B14F-4D97-AF65-F5344CB8AC3E}">
        <p14:creationId xmlns:p14="http://schemas.microsoft.com/office/powerpoint/2010/main" val="160897087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repeatCount="3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repeatCount="300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1500"/>
                            </p:stCondLst>
                            <p:childTnLst>
                              <p:par>
                                <p:cTn id="14" presetID="22" presetClass="entr" presetSubtype="8" repeatCount="300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59</a:t>
            </a:fld>
            <a:endParaRPr lang="zh-CN" altLang="en-US" dirty="0">
              <a:solidFill>
                <a:srgbClr val="C00000"/>
              </a:solidFill>
            </a:endParaRPr>
          </a:p>
        </p:txBody>
      </p:sp>
      <p:sp>
        <p:nvSpPr>
          <p:cNvPr id="4" name="Text Box 2"/>
          <p:cNvSpPr txBox="1">
            <a:spLocks noChangeArrowheads="1"/>
          </p:cNvSpPr>
          <p:nvPr/>
        </p:nvSpPr>
        <p:spPr bwMode="auto">
          <a:xfrm>
            <a:off x="2482890" y="5793729"/>
            <a:ext cx="52800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ea typeface="黑体" pitchFamily="2" charset="-122"/>
              </a:rPr>
              <a:t>小   结</a:t>
            </a:r>
          </a:p>
        </p:txBody>
      </p:sp>
      <p:sp>
        <p:nvSpPr>
          <p:cNvPr id="5" name="Text Box 3"/>
          <p:cNvSpPr txBox="1">
            <a:spLocks noChangeArrowheads="1"/>
          </p:cNvSpPr>
          <p:nvPr/>
        </p:nvSpPr>
        <p:spPr bwMode="auto">
          <a:xfrm>
            <a:off x="590894" y="875908"/>
            <a:ext cx="3826998" cy="358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625475" indent="-62547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444500" indent="-444500" eaLnBrk="1" hangingPunct="1">
              <a:lnSpc>
                <a:spcPct val="130000"/>
              </a:lnSpc>
              <a:spcBef>
                <a:spcPct val="20000"/>
              </a:spcBef>
              <a:spcAft>
                <a:spcPts val="5400"/>
              </a:spcAft>
              <a:buClr>
                <a:srgbClr val="A50021"/>
              </a:buClr>
              <a:buSzPct val="130000"/>
              <a:buFont typeface="Wingdings" pitchFamily="2" charset="2"/>
              <a:buChar char="F"/>
            </a:pPr>
            <a:r>
              <a:rPr lang="zh-CN" altLang="en-US" sz="2800" b="1" dirty="0">
                <a:solidFill>
                  <a:srgbClr val="000066"/>
                </a:solidFill>
                <a:ea typeface="幼圆" pitchFamily="49" charset="-122"/>
              </a:rPr>
              <a:t>方法要点</a:t>
            </a:r>
          </a:p>
          <a:p>
            <a:pPr marL="444500" indent="-444500" eaLnBrk="1" hangingPunct="1">
              <a:lnSpc>
                <a:spcPct val="130000"/>
              </a:lnSpc>
              <a:spcBef>
                <a:spcPts val="1800"/>
              </a:spcBef>
              <a:spcAft>
                <a:spcPts val="3300"/>
              </a:spcAft>
              <a:buClr>
                <a:srgbClr val="A50021"/>
              </a:buClr>
              <a:buSzPct val="130000"/>
              <a:buFont typeface="Wingdings" pitchFamily="2" charset="2"/>
              <a:buChar char="F"/>
            </a:pPr>
            <a:r>
              <a:rPr lang="zh-CN" altLang="en-US" sz="2800" b="1" dirty="0">
                <a:solidFill>
                  <a:srgbClr val="000066"/>
                </a:solidFill>
                <a:ea typeface="幼圆" pitchFamily="49" charset="-122"/>
              </a:rPr>
              <a:t>无黏性</a:t>
            </a:r>
            <a:r>
              <a:rPr lang="zh-CN" altLang="en-US" sz="2800" b="1" dirty="0" smtClean="0">
                <a:solidFill>
                  <a:srgbClr val="000066"/>
                </a:solidFill>
                <a:ea typeface="幼圆" pitchFamily="49" charset="-122"/>
              </a:rPr>
              <a:t>土解析法</a:t>
            </a:r>
            <a:endParaRPr lang="en-US" altLang="zh-CN" sz="2800" b="1" dirty="0" smtClean="0">
              <a:solidFill>
                <a:srgbClr val="000066"/>
              </a:solidFill>
              <a:ea typeface="幼圆" pitchFamily="49" charset="-122"/>
            </a:endParaRPr>
          </a:p>
          <a:p>
            <a:pPr marL="444500" indent="-444500" eaLnBrk="1" hangingPunct="1">
              <a:lnSpc>
                <a:spcPct val="130000"/>
              </a:lnSpc>
              <a:spcBef>
                <a:spcPts val="3600"/>
              </a:spcBef>
              <a:spcAft>
                <a:spcPts val="4200"/>
              </a:spcAft>
              <a:buClr>
                <a:srgbClr val="A50021"/>
              </a:buClr>
              <a:buSzPct val="130000"/>
              <a:buFont typeface="Wingdings" pitchFamily="2" charset="2"/>
              <a:buChar char="F"/>
            </a:pPr>
            <a:r>
              <a:rPr lang="zh-CN" altLang="en-US" sz="2800" b="1" dirty="0">
                <a:solidFill>
                  <a:srgbClr val="000066"/>
                </a:solidFill>
                <a:ea typeface="幼圆" pitchFamily="49" charset="-122"/>
              </a:rPr>
              <a:t>库伦土压力</a:t>
            </a:r>
            <a:r>
              <a:rPr lang="zh-CN" altLang="en-US" sz="2800" b="1" dirty="0" smtClean="0">
                <a:solidFill>
                  <a:srgbClr val="000066"/>
                </a:solidFill>
                <a:ea typeface="幼圆" pitchFamily="49" charset="-122"/>
              </a:rPr>
              <a:t>图解法</a:t>
            </a:r>
            <a:endParaRPr lang="zh-CN" altLang="en-US" sz="2800" b="1" dirty="0">
              <a:solidFill>
                <a:srgbClr val="000066"/>
              </a:solidFill>
              <a:ea typeface="幼圆" pitchFamily="49" charset="-122"/>
            </a:endParaRPr>
          </a:p>
        </p:txBody>
      </p:sp>
      <p:sp>
        <p:nvSpPr>
          <p:cNvPr id="6" name="Text Box 6"/>
          <p:cNvSpPr txBox="1">
            <a:spLocks noChangeArrowheads="1"/>
          </p:cNvSpPr>
          <p:nvPr/>
        </p:nvSpPr>
        <p:spPr bwMode="auto">
          <a:xfrm>
            <a:off x="4391831" y="885864"/>
            <a:ext cx="4094626" cy="1260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smtClean="0">
                <a:solidFill>
                  <a:srgbClr val="A50021"/>
                </a:solidFill>
                <a:latin typeface="黑体" panose="02010609060101010101" pitchFamily="49" charset="-122"/>
                <a:ea typeface="黑体" panose="02010609060101010101" pitchFamily="49" charset="-122"/>
              </a:rPr>
              <a:t>滑动</a:t>
            </a:r>
            <a:r>
              <a:rPr lang="zh-CN" altLang="en-US" sz="2200" b="1" dirty="0">
                <a:solidFill>
                  <a:srgbClr val="A50021"/>
                </a:solidFill>
                <a:latin typeface="黑体" panose="02010609060101010101" pitchFamily="49" charset="-122"/>
                <a:ea typeface="黑体" panose="02010609060101010101" pitchFamily="49" charset="-122"/>
              </a:rPr>
              <a:t>楔体法</a:t>
            </a:r>
            <a:r>
              <a:rPr lang="en-US" altLang="zh-CN" sz="2200" b="1" dirty="0">
                <a:solidFill>
                  <a:srgbClr val="000066"/>
                </a:solidFill>
                <a:ea typeface="幼圆" pitchFamily="49" charset="-122"/>
              </a:rPr>
              <a:t>: </a:t>
            </a:r>
            <a:r>
              <a:rPr lang="zh-CN" altLang="en-US" sz="2200" b="1" dirty="0">
                <a:solidFill>
                  <a:srgbClr val="000066"/>
                </a:solidFill>
                <a:ea typeface="幼圆" pitchFamily="49" charset="-122"/>
              </a:rPr>
              <a:t>刚性楔体，滑面上处于极限</a:t>
            </a:r>
            <a:r>
              <a:rPr lang="zh-CN" altLang="en-US" sz="2200" b="1" dirty="0" smtClean="0">
                <a:solidFill>
                  <a:srgbClr val="000066"/>
                </a:solidFill>
                <a:ea typeface="幼圆" pitchFamily="49" charset="-122"/>
              </a:rPr>
              <a:t>平衡状态</a:t>
            </a:r>
            <a:endParaRPr lang="en-US" altLang="zh-CN" sz="2200" b="1" dirty="0" smtClean="0">
              <a:solidFill>
                <a:srgbClr val="000066"/>
              </a:solidFill>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rPr>
              <a:t>楔体静力平衡</a:t>
            </a:r>
            <a:endParaRPr lang="zh-CN" altLang="en-US" sz="2200" b="1" dirty="0">
              <a:solidFill>
                <a:srgbClr val="000066"/>
              </a:solidFill>
              <a:ea typeface="幼圆" pitchFamily="49" charset="-122"/>
              <a:sym typeface="Symbol" pitchFamily="18" charset="2"/>
            </a:endParaRPr>
          </a:p>
        </p:txBody>
      </p:sp>
      <p:sp>
        <p:nvSpPr>
          <p:cNvPr id="7" name="Text Box 7"/>
          <p:cNvSpPr txBox="1">
            <a:spLocks noChangeArrowheads="1"/>
          </p:cNvSpPr>
          <p:nvPr/>
        </p:nvSpPr>
        <p:spPr bwMode="auto">
          <a:xfrm>
            <a:off x="4491153" y="3846410"/>
            <a:ext cx="4024706" cy="1219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cs typeface="Times New Roman" panose="02020603050405020304" pitchFamily="18" charset="0"/>
              </a:rPr>
              <a:t>基本</a:t>
            </a:r>
            <a:r>
              <a:rPr lang="zh-CN" altLang="en-US" sz="2200" b="1" dirty="0">
                <a:solidFill>
                  <a:srgbClr val="000066"/>
                </a:solidFill>
                <a:ea typeface="幼圆" pitchFamily="49" charset="-122"/>
                <a:cs typeface="Times New Roman" panose="02020603050405020304" pitchFamily="18" charset="0"/>
              </a:rPr>
              <a:t>图解法</a:t>
            </a:r>
          </a:p>
          <a:p>
            <a:pPr eaLnBrk="1" hangingPunct="1">
              <a:lnSpc>
                <a:spcPct val="110000"/>
              </a:lnSpc>
              <a:spcBef>
                <a:spcPts val="200"/>
              </a:spcBef>
              <a:spcAft>
                <a:spcPts val="200"/>
              </a:spcAft>
              <a:buClr>
                <a:srgbClr val="A50021"/>
              </a:buClr>
              <a:buFontTx/>
              <a:buChar char="•"/>
            </a:pPr>
            <a:r>
              <a:rPr lang="zh-CN" altLang="en-US" sz="2200" b="1" dirty="0">
                <a:solidFill>
                  <a:srgbClr val="000066"/>
                </a:solidFill>
                <a:ea typeface="幼圆" pitchFamily="49" charset="-122"/>
                <a:cs typeface="Times New Roman" panose="02020603050405020304" pitchFamily="18" charset="0"/>
              </a:rPr>
              <a:t>库尔曼（</a:t>
            </a:r>
            <a:r>
              <a:rPr lang="en-US" altLang="zh-CN" sz="2200" b="1" dirty="0" err="1">
                <a:solidFill>
                  <a:srgbClr val="000066"/>
                </a:solidFill>
                <a:ea typeface="幼圆" pitchFamily="49" charset="-122"/>
                <a:cs typeface="Times New Roman" panose="02020603050405020304" pitchFamily="18" charset="0"/>
              </a:rPr>
              <a:t>Culmann</a:t>
            </a:r>
            <a:r>
              <a:rPr lang="zh-CN" altLang="en-US" sz="2200" b="1" dirty="0">
                <a:solidFill>
                  <a:srgbClr val="000066"/>
                </a:solidFill>
                <a:ea typeface="幼圆" pitchFamily="49" charset="-122"/>
                <a:cs typeface="Times New Roman" panose="02020603050405020304" pitchFamily="18" charset="0"/>
              </a:rPr>
              <a:t>）图解法</a:t>
            </a:r>
          </a:p>
          <a:p>
            <a:pPr eaLnBrk="1" hangingPunct="1">
              <a:lnSpc>
                <a:spcPct val="110000"/>
              </a:lnSpc>
              <a:spcBef>
                <a:spcPts val="200"/>
              </a:spcBef>
              <a:spcAft>
                <a:spcPts val="200"/>
              </a:spcAft>
              <a:buClr>
                <a:srgbClr val="A50021"/>
              </a:buClr>
              <a:buFontTx/>
              <a:buChar char="•"/>
            </a:pPr>
            <a:r>
              <a:rPr lang="zh-CN" altLang="en-US" sz="2200" b="1" dirty="0">
                <a:solidFill>
                  <a:srgbClr val="000066"/>
                </a:solidFill>
                <a:ea typeface="幼圆" pitchFamily="49" charset="-122"/>
                <a:cs typeface="Times New Roman" panose="02020603050405020304" pitchFamily="18" charset="0"/>
              </a:rPr>
              <a:t>黏性填土图解法</a:t>
            </a:r>
          </a:p>
        </p:txBody>
      </p:sp>
      <p:sp>
        <p:nvSpPr>
          <p:cNvPr id="8" name="Text Box 8"/>
          <p:cNvSpPr txBox="1">
            <a:spLocks noChangeArrowheads="1"/>
          </p:cNvSpPr>
          <p:nvPr/>
        </p:nvSpPr>
        <p:spPr bwMode="auto">
          <a:xfrm>
            <a:off x="4401118" y="2407737"/>
            <a:ext cx="4379913" cy="888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365125"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10000"/>
              </a:lnSpc>
              <a:spcBef>
                <a:spcPts val="200"/>
              </a:spcBef>
              <a:spcAft>
                <a:spcPts val="200"/>
              </a:spcAft>
              <a:buClr>
                <a:srgbClr val="A50021"/>
              </a:buClr>
              <a:buFontTx/>
              <a:buChar char="•"/>
            </a:pPr>
            <a:r>
              <a:rPr lang="zh-CN" altLang="en-US" sz="2200" b="1" dirty="0">
                <a:solidFill>
                  <a:srgbClr val="000066"/>
                </a:solidFill>
                <a:ea typeface="幼圆" pitchFamily="49" charset="-122"/>
              </a:rPr>
              <a:t>无黏性土填土，填土面为</a:t>
            </a:r>
            <a:r>
              <a:rPr lang="zh-CN" altLang="en-US" sz="2200" b="1" dirty="0" smtClean="0">
                <a:solidFill>
                  <a:srgbClr val="000066"/>
                </a:solidFill>
                <a:ea typeface="幼圆" pitchFamily="49" charset="-122"/>
              </a:rPr>
              <a:t>平面</a:t>
            </a:r>
            <a:endParaRPr lang="en-US" altLang="zh-CN" sz="2200" b="1" dirty="0" smtClean="0">
              <a:solidFill>
                <a:srgbClr val="000066"/>
              </a:solidFill>
              <a:ea typeface="幼圆" pitchFamily="49" charset="-122"/>
            </a:endParaRPr>
          </a:p>
          <a:p>
            <a:pPr eaLnBrk="1" hangingPunct="1">
              <a:lnSpc>
                <a:spcPct val="110000"/>
              </a:lnSpc>
              <a:spcBef>
                <a:spcPts val="200"/>
              </a:spcBef>
              <a:spcAft>
                <a:spcPts val="200"/>
              </a:spcAft>
              <a:buClr>
                <a:srgbClr val="A50021"/>
              </a:buClr>
              <a:buFontTx/>
              <a:buChar char="•"/>
            </a:pPr>
            <a:r>
              <a:rPr lang="zh-CN" altLang="en-US" sz="2200" b="1" dirty="0" smtClean="0">
                <a:solidFill>
                  <a:srgbClr val="000066"/>
                </a:solidFill>
                <a:ea typeface="幼圆" pitchFamily="49" charset="-122"/>
              </a:rPr>
              <a:t>库仑土压力</a:t>
            </a:r>
            <a:r>
              <a:rPr lang="zh-CN" altLang="en-US" sz="2200" b="1" dirty="0">
                <a:solidFill>
                  <a:srgbClr val="000066"/>
                </a:solidFill>
                <a:ea typeface="幼圆" pitchFamily="49" charset="-122"/>
              </a:rPr>
              <a:t>系数</a:t>
            </a:r>
            <a:r>
              <a:rPr lang="en-US" altLang="zh-CN" sz="2200" b="1" i="1" dirty="0" err="1" smtClean="0">
                <a:solidFill>
                  <a:srgbClr val="000066"/>
                </a:solidFill>
                <a:ea typeface="幼圆" pitchFamily="49" charset="-122"/>
              </a:rPr>
              <a:t>K</a:t>
            </a:r>
            <a:r>
              <a:rPr lang="en-US" altLang="zh-CN" sz="2200" b="1" baseline="-25000" dirty="0" err="1" smtClean="0">
                <a:solidFill>
                  <a:srgbClr val="000066"/>
                </a:solidFill>
                <a:ea typeface="幼圆" pitchFamily="49" charset="-122"/>
              </a:rPr>
              <a:t>a</a:t>
            </a:r>
            <a:r>
              <a:rPr lang="zh-CN" altLang="en-US" sz="2200" b="1" dirty="0" smtClean="0">
                <a:solidFill>
                  <a:srgbClr val="000066"/>
                </a:solidFill>
                <a:ea typeface="幼圆" pitchFamily="49" charset="-122"/>
              </a:rPr>
              <a:t>、</a:t>
            </a:r>
            <a:r>
              <a:rPr lang="en-US" altLang="zh-CN" sz="2200" b="1" i="1" dirty="0" err="1" smtClean="0">
                <a:solidFill>
                  <a:srgbClr val="000066"/>
                </a:solidFill>
                <a:ea typeface="幼圆" pitchFamily="49" charset="-122"/>
              </a:rPr>
              <a:t>K</a:t>
            </a:r>
            <a:r>
              <a:rPr lang="en-US" altLang="zh-CN" sz="2200" b="1" baseline="-25000" dirty="0" err="1">
                <a:solidFill>
                  <a:srgbClr val="000066"/>
                </a:solidFill>
                <a:ea typeface="幼圆" pitchFamily="49" charset="-122"/>
              </a:rPr>
              <a:t>p</a:t>
            </a:r>
            <a:endParaRPr lang="en-US" altLang="zh-CN" sz="2200" b="1" baseline="-25000" dirty="0">
              <a:solidFill>
                <a:srgbClr val="000066"/>
              </a:solidFill>
              <a:ea typeface="幼圆" pitchFamily="49" charset="-122"/>
            </a:endParaRPr>
          </a:p>
        </p:txBody>
      </p:sp>
      <p:sp>
        <p:nvSpPr>
          <p:cNvPr id="11" name="Text Box 7"/>
          <p:cNvSpPr txBox="1">
            <a:spLocks noChangeArrowheads="1"/>
          </p:cNvSpPr>
          <p:nvPr/>
        </p:nvSpPr>
        <p:spPr bwMode="auto">
          <a:xfrm>
            <a:off x="0" y="0"/>
            <a:ext cx="3004457"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§6.4  </a:t>
            </a:r>
            <a:r>
              <a:rPr lang="zh-CN" altLang="en-US" sz="1800" b="1" kern="900" spc="130" dirty="0">
                <a:solidFill>
                  <a:srgbClr val="000066"/>
                </a:solidFill>
                <a:ea typeface="黑体" panose="02010609060101010101" pitchFamily="49" charset="-122"/>
                <a:cs typeface="Times New Roman" panose="02020603050405020304" pitchFamily="18" charset="0"/>
              </a:rPr>
              <a:t>库伦土压力理论 </a:t>
            </a:r>
          </a:p>
        </p:txBody>
      </p:sp>
    </p:spTree>
    <p:extLst>
      <p:ext uri="{BB962C8B-B14F-4D97-AF65-F5344CB8AC3E}">
        <p14:creationId xmlns:p14="http://schemas.microsoft.com/office/powerpoint/2010/main" val="136257250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1+#ppt_w/2"/>
                                          </p:val>
                                        </p:tav>
                                        <p:tav tm="100000">
                                          <p:val>
                                            <p:strVal val="#ppt_x"/>
                                          </p:val>
                                        </p:tav>
                                      </p:tavLst>
                                    </p:anim>
                                    <p:anim calcmode="lin" valueType="num">
                                      <p:cBhvr additive="base">
                                        <p:cTn id="3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第六章：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60</a:t>
            </a:fld>
            <a:endParaRPr lang="zh-CN" altLang="en-US" dirty="0">
              <a:solidFill>
                <a:srgbClr val="C00000"/>
              </a:solidFill>
            </a:endParaRPr>
          </a:p>
        </p:txBody>
      </p:sp>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a:t>
            </a:r>
            <a:r>
              <a:rPr kumimoji="1" lang="zh-CN" altLang="en-US" sz="2800" b="1" dirty="0" smtClean="0">
                <a:solidFill>
                  <a:srgbClr val="000066"/>
                </a:solidFill>
                <a:ea typeface="幼圆" pitchFamily="49" charset="-122"/>
                <a:cs typeface="Times New Roman" panose="02020603050405020304" pitchFamily="18" charset="0"/>
              </a:rPr>
              <a:t>土压力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静止土压力计算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a:solidFill>
                  <a:srgbClr val="000066"/>
                </a:solidFill>
                <a:ea typeface="幼圆" pitchFamily="49" charset="-122"/>
                <a:cs typeface="Times New Roman" panose="02020603050405020304" pitchFamily="18" charset="0"/>
              </a:rPr>
              <a:t>两种土压力理论的比较</a:t>
            </a: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a:solidFill>
                  <a:srgbClr val="000066"/>
                </a:solidFill>
                <a:ea typeface="幼圆" pitchFamily="49" charset="-122"/>
                <a:cs typeface="Times New Roman" panose="02020603050405020304" pitchFamily="18" charset="0"/>
              </a:rPr>
              <a:t>几种常见的主动土压力计算</a:t>
            </a:r>
          </a:p>
        </p:txBody>
      </p:sp>
      <p:sp>
        <p:nvSpPr>
          <p:cNvPr id="8" name="Text Box 4"/>
          <p:cNvSpPr txBox="1">
            <a:spLocks noChangeArrowheads="1"/>
          </p:cNvSpPr>
          <p:nvPr/>
        </p:nvSpPr>
        <p:spPr bwMode="auto">
          <a:xfrm>
            <a:off x="1983936" y="4489791"/>
            <a:ext cx="4981943"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§6.5  </a:t>
            </a:r>
            <a:r>
              <a:rPr kumimoji="1" lang="zh-CN" altLang="en-US" sz="2800" b="1" dirty="0">
                <a:solidFill>
                  <a:srgbClr val="003399"/>
                </a:solidFill>
                <a:ea typeface="幼圆" pitchFamily="49" charset="-122"/>
                <a:cs typeface="Times New Roman" panose="02020603050405020304" pitchFamily="18" charset="0"/>
              </a:rPr>
              <a:t>两种土压力理论的比较</a:t>
            </a:r>
          </a:p>
        </p:txBody>
      </p:sp>
    </p:spTree>
    <p:extLst>
      <p:ext uri="{BB962C8B-B14F-4D97-AF65-F5344CB8AC3E}">
        <p14:creationId xmlns:p14="http://schemas.microsoft.com/office/powerpoint/2010/main" val="149962705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61</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土压力理论的比较</a:t>
            </a:r>
          </a:p>
        </p:txBody>
      </p:sp>
      <p:sp>
        <p:nvSpPr>
          <p:cNvPr id="63" name="Text Box 2"/>
          <p:cNvSpPr txBox="1">
            <a:spLocks noChangeArrowheads="1"/>
          </p:cNvSpPr>
          <p:nvPr/>
        </p:nvSpPr>
        <p:spPr bwMode="auto">
          <a:xfrm>
            <a:off x="1682001"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两种</a:t>
            </a:r>
            <a:r>
              <a:rPr kumimoji="1" lang="zh-CN" altLang="en-US" sz="4000" b="1" dirty="0">
                <a:solidFill>
                  <a:srgbClr val="000066"/>
                </a:solidFill>
                <a:latin typeface="黑体" pitchFamily="2" charset="-122"/>
                <a:ea typeface="黑体" pitchFamily="2" charset="-122"/>
              </a:rPr>
              <a:t>土压力理论的比较</a:t>
            </a:r>
          </a:p>
        </p:txBody>
      </p:sp>
      <p:sp>
        <p:nvSpPr>
          <p:cNvPr id="51" name="Text Box 3"/>
          <p:cNvSpPr txBox="1">
            <a:spLocks noChangeArrowheads="1"/>
          </p:cNvSpPr>
          <p:nvPr/>
        </p:nvSpPr>
        <p:spPr bwMode="auto">
          <a:xfrm>
            <a:off x="3053797" y="1911151"/>
            <a:ext cx="326732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30000"/>
              </a:lnSpc>
              <a:spcBef>
                <a:spcPct val="30000"/>
              </a:spcBef>
              <a:spcAft>
                <a:spcPct val="0"/>
              </a:spcAft>
              <a:buClr>
                <a:srgbClr val="A50021"/>
              </a:buClr>
              <a:buSzPct val="100000"/>
              <a:buFont typeface="+mj-lt"/>
              <a:buAutoNum type="arabicPeriod"/>
            </a:pPr>
            <a:r>
              <a:rPr lang="zh-CN" altLang="en-US" sz="3200" b="1" dirty="0">
                <a:solidFill>
                  <a:srgbClr val="000066"/>
                </a:solidFill>
                <a:ea typeface="幼圆" pitchFamily="49" charset="-122"/>
                <a:cs typeface="Times New Roman" panose="02020603050405020304" pitchFamily="18" charset="0"/>
              </a:rPr>
              <a:t>分析方法</a:t>
            </a:r>
          </a:p>
          <a:p>
            <a:pPr marL="514350" indent="-514350" eaLnBrk="1" hangingPunct="1">
              <a:lnSpc>
                <a:spcPct val="130000"/>
              </a:lnSpc>
              <a:spcBef>
                <a:spcPct val="30000"/>
              </a:spcBef>
              <a:spcAft>
                <a:spcPct val="0"/>
              </a:spcAft>
              <a:buClr>
                <a:srgbClr val="A50021"/>
              </a:buClr>
              <a:buSzPct val="100000"/>
              <a:buFont typeface="+mj-lt"/>
              <a:buAutoNum type="arabicPeriod"/>
            </a:pPr>
            <a:r>
              <a:rPr lang="zh-CN" altLang="en-US" sz="3200" b="1" dirty="0">
                <a:solidFill>
                  <a:srgbClr val="000066"/>
                </a:solidFill>
                <a:ea typeface="幼圆" pitchFamily="49" charset="-122"/>
                <a:cs typeface="Times New Roman" panose="02020603050405020304" pitchFamily="18" charset="0"/>
              </a:rPr>
              <a:t>应用条件</a:t>
            </a:r>
          </a:p>
          <a:p>
            <a:pPr marL="514350" indent="-514350" eaLnBrk="1" hangingPunct="1">
              <a:lnSpc>
                <a:spcPct val="130000"/>
              </a:lnSpc>
              <a:spcBef>
                <a:spcPct val="30000"/>
              </a:spcBef>
              <a:spcAft>
                <a:spcPct val="0"/>
              </a:spcAft>
              <a:buClr>
                <a:srgbClr val="A50021"/>
              </a:buClr>
              <a:buSzPct val="100000"/>
              <a:buFont typeface="+mj-lt"/>
              <a:buAutoNum type="arabicPeriod"/>
            </a:pPr>
            <a:r>
              <a:rPr lang="zh-CN" altLang="en-US" sz="3200" b="1" dirty="0">
                <a:solidFill>
                  <a:srgbClr val="000066"/>
                </a:solidFill>
                <a:ea typeface="幼圆" pitchFamily="49" charset="-122"/>
                <a:cs typeface="Times New Roman" panose="02020603050405020304" pitchFamily="18" charset="0"/>
              </a:rPr>
              <a:t>计算误差</a:t>
            </a:r>
          </a:p>
        </p:txBody>
      </p:sp>
    </p:spTree>
    <p:extLst>
      <p:ext uri="{BB962C8B-B14F-4D97-AF65-F5344CB8AC3E}">
        <p14:creationId xmlns:p14="http://schemas.microsoft.com/office/powerpoint/2010/main" val="259203922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 calcmode="lin" valueType="num">
                                      <p:cBhvr additive="base">
                                        <p:cTn id="7" dur="500"/>
                                        <p:tgtEl>
                                          <p:spTgt spid="5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51">
                                            <p:txEl>
                                              <p:pRg st="0" end="0"/>
                                            </p:txEl>
                                          </p:spTgt>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 calcmode="lin" valueType="num">
                                      <p:cBhvr additive="base">
                                        <p:cTn id="12" dur="500"/>
                                        <p:tgtEl>
                                          <p:spTgt spid="51">
                                            <p:txEl>
                                              <p:pRg st="1" end="1"/>
                                            </p:txEl>
                                          </p:spTgt>
                                        </p:tgtEl>
                                        <p:attrNameLst>
                                          <p:attrName>ppt_x</p:attrName>
                                        </p:attrNameLst>
                                      </p:cBhvr>
                                      <p:tavLst>
                                        <p:tav tm="0">
                                          <p:val>
                                            <p:strVal val="#ppt_x-#ppt_w*1.125000"/>
                                          </p:val>
                                        </p:tav>
                                        <p:tav tm="100000">
                                          <p:val>
                                            <p:strVal val="#ppt_x"/>
                                          </p:val>
                                        </p:tav>
                                      </p:tavLst>
                                    </p:anim>
                                    <p:animEffect transition="in" filter="wipe(right)">
                                      <p:cBhvr>
                                        <p:cTn id="13" dur="500"/>
                                        <p:tgtEl>
                                          <p:spTgt spid="51">
                                            <p:txEl>
                                              <p:pRg st="1" end="1"/>
                                            </p:txEl>
                                          </p:spTgt>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51">
                                            <p:txEl>
                                              <p:pRg st="2" end="2"/>
                                            </p:txEl>
                                          </p:spTgt>
                                        </p:tgtEl>
                                        <p:attrNameLst>
                                          <p:attrName>style.visibility</p:attrName>
                                        </p:attrNameLst>
                                      </p:cBhvr>
                                      <p:to>
                                        <p:strVal val="visible"/>
                                      </p:to>
                                    </p:set>
                                    <p:anim calcmode="lin" valueType="num">
                                      <p:cBhvr additive="base">
                                        <p:cTn id="17" dur="500"/>
                                        <p:tgtEl>
                                          <p:spTgt spid="51">
                                            <p:txEl>
                                              <p:pRg st="2" end="2"/>
                                            </p:txEl>
                                          </p:spTgt>
                                        </p:tgtEl>
                                        <p:attrNameLst>
                                          <p:attrName>ppt_x</p:attrName>
                                        </p:attrNameLst>
                                      </p:cBhvr>
                                      <p:tavLst>
                                        <p:tav tm="0">
                                          <p:val>
                                            <p:strVal val="#ppt_x-#ppt_w*1.125000"/>
                                          </p:val>
                                        </p:tav>
                                        <p:tav tm="100000">
                                          <p:val>
                                            <p:strVal val="#ppt_x"/>
                                          </p:val>
                                        </p:tav>
                                      </p:tavLst>
                                    </p:anim>
                                    <p:animEffect transition="in" filter="wipe(right)">
                                      <p:cBhvr>
                                        <p:cTn id="18" dur="500"/>
                                        <p:tgtEl>
                                          <p:spTgt spid="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5463" y="572494"/>
            <a:ext cx="1483580" cy="2139780"/>
            <a:chOff x="305463" y="575222"/>
            <a:chExt cx="1229032" cy="1772643"/>
          </a:xfrm>
        </p:grpSpPr>
        <p:pic>
          <p:nvPicPr>
            <p:cNvPr id="3" name="Picture 5" descr="H:\u=3220001674,313790389&amp;fm=200&amp;gp=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05463" y="575222"/>
              <a:ext cx="1229032" cy="177264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rot="2202951">
              <a:off x="932575" y="1143654"/>
              <a:ext cx="577930" cy="346812"/>
            </a:xfrm>
            <a:prstGeom prst="rect">
              <a:avLst/>
            </a:prstGeom>
          </p:spPr>
          <p:txBody>
            <a:bodyPr wrap="none">
              <a:spAutoFit/>
            </a:bodyPr>
            <a:lstStyle/>
            <a:p>
              <a:r>
                <a:rPr lang="zh-CN" altLang="en-US" sz="2000" b="1" dirty="0">
                  <a:solidFill>
                    <a:srgbClr val="A50021"/>
                  </a:solidFill>
                  <a:latin typeface="微软雅黑" panose="020B0503020204020204" pitchFamily="34" charset="-122"/>
                  <a:ea typeface="微软雅黑" panose="020B0503020204020204" pitchFamily="34" charset="-122"/>
                </a:rPr>
                <a:t>讨论</a:t>
              </a:r>
              <a:endParaRPr lang="zh-CN" altLang="en-US" sz="2000" dirty="0"/>
            </a:p>
          </p:txBody>
        </p:sp>
      </p:grpSp>
      <p:sp>
        <p:nvSpPr>
          <p:cNvPr id="5" name="Text Box 46"/>
          <p:cNvSpPr txBox="1">
            <a:spLocks noChangeArrowheads="1"/>
          </p:cNvSpPr>
          <p:nvPr/>
        </p:nvSpPr>
        <p:spPr bwMode="auto">
          <a:xfrm>
            <a:off x="2156715" y="1104149"/>
            <a:ext cx="4838054" cy="119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5000"/>
              </a:lnSpc>
              <a:spcBef>
                <a:spcPct val="0"/>
              </a:spcBef>
              <a:spcAft>
                <a:spcPct val="0"/>
              </a:spcAft>
            </a:pPr>
            <a:r>
              <a:rPr lang="zh-CN" altLang="en-US" sz="2800" b="1" dirty="0" smtClean="0">
                <a:solidFill>
                  <a:srgbClr val="A50021"/>
                </a:solidFill>
                <a:latin typeface="微软雅黑" panose="020B0503020204020204" pitchFamily="34" charset="-122"/>
                <a:ea typeface="微软雅黑" panose="020B0503020204020204" pitchFamily="34" charset="-122"/>
              </a:rPr>
              <a:t>郎肯和库伦土压力理论有哪些相同点和不同点？</a:t>
            </a:r>
            <a:endParaRPr lang="zh-CN" altLang="en-US" sz="2800" b="1" dirty="0">
              <a:solidFill>
                <a:srgbClr val="A50021"/>
              </a:solidFill>
              <a:latin typeface="微软雅黑" panose="020B0503020204020204" pitchFamily="34" charset="-122"/>
              <a:ea typeface="微软雅黑" panose="020B0503020204020204" pitchFamily="34" charset="-122"/>
            </a:endParaRPr>
          </a:p>
        </p:txBody>
      </p:sp>
      <p:sp>
        <p:nvSpPr>
          <p:cNvPr id="6"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土压力理论的比较</a:t>
            </a:r>
          </a:p>
        </p:txBody>
      </p:sp>
      <p:grpSp>
        <p:nvGrpSpPr>
          <p:cNvPr id="7" name="组合 6"/>
          <p:cNvGrpSpPr/>
          <p:nvPr/>
        </p:nvGrpSpPr>
        <p:grpSpPr>
          <a:xfrm>
            <a:off x="2082886" y="3175647"/>
            <a:ext cx="1914715" cy="2049185"/>
            <a:chOff x="1901911" y="2070747"/>
            <a:chExt cx="1914715" cy="2049185"/>
          </a:xfrm>
        </p:grpSpPr>
        <p:grpSp>
          <p:nvGrpSpPr>
            <p:cNvPr id="8" name="组合 7"/>
            <p:cNvGrpSpPr/>
            <p:nvPr/>
          </p:nvGrpSpPr>
          <p:grpSpPr>
            <a:xfrm>
              <a:off x="1901911" y="2070747"/>
              <a:ext cx="1914715" cy="1405214"/>
              <a:chOff x="1234002" y="1339724"/>
              <a:chExt cx="2467056" cy="1810578"/>
            </a:xfrm>
          </p:grpSpPr>
          <p:sp>
            <p:nvSpPr>
              <p:cNvPr id="10" name="任意多边形 9"/>
              <p:cNvSpPr/>
              <p:nvPr/>
            </p:nvSpPr>
            <p:spPr bwMode="auto">
              <a:xfrm>
                <a:off x="2229618" y="1349128"/>
                <a:ext cx="1396893" cy="1800029"/>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 name="任意多边形 10"/>
              <p:cNvSpPr/>
              <p:nvPr/>
            </p:nvSpPr>
            <p:spPr bwMode="auto">
              <a:xfrm>
                <a:off x="1524731" y="1350273"/>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2" name="直接连接符 11"/>
              <p:cNvCxnSpPr/>
              <p:nvPr/>
            </p:nvCxnSpPr>
            <p:spPr bwMode="auto">
              <a:xfrm>
                <a:off x="2223354" y="1350664"/>
                <a:ext cx="13768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Line 95"/>
              <p:cNvSpPr>
                <a:spLocks noChangeAspect="1" noChangeShapeType="1"/>
              </p:cNvSpPr>
              <p:nvPr/>
            </p:nvSpPr>
            <p:spPr bwMode="auto">
              <a:xfrm flipH="1">
                <a:off x="2239566" y="1339724"/>
                <a:ext cx="949946" cy="1804221"/>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02"/>
              <p:cNvSpPr>
                <a:spLocks noChangeAspect="1" noChangeShapeType="1"/>
              </p:cNvSpPr>
              <p:nvPr/>
            </p:nvSpPr>
            <p:spPr bwMode="auto">
              <a:xfrm>
                <a:off x="2232919" y="2739807"/>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95"/>
              <p:cNvSpPr>
                <a:spLocks noChangeAspect="1" noChangeShapeType="1"/>
              </p:cNvSpPr>
              <p:nvPr/>
            </p:nvSpPr>
            <p:spPr bwMode="auto">
              <a:xfrm flipH="1">
                <a:off x="2227574" y="1354409"/>
                <a:ext cx="730855" cy="138810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95"/>
              <p:cNvSpPr>
                <a:spLocks noChangeAspect="1" noChangeShapeType="1"/>
              </p:cNvSpPr>
              <p:nvPr/>
            </p:nvSpPr>
            <p:spPr bwMode="auto">
              <a:xfrm flipH="1">
                <a:off x="2219911" y="1360069"/>
                <a:ext cx="516515" cy="98101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95"/>
              <p:cNvSpPr>
                <a:spLocks noChangeAspect="1" noChangeShapeType="1"/>
              </p:cNvSpPr>
              <p:nvPr/>
            </p:nvSpPr>
            <p:spPr bwMode="auto">
              <a:xfrm flipH="1">
                <a:off x="2214953" y="1355578"/>
                <a:ext cx="308945" cy="58677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02"/>
              <p:cNvSpPr>
                <a:spLocks noChangeAspect="1" noChangeShapeType="1"/>
              </p:cNvSpPr>
              <p:nvPr/>
            </p:nvSpPr>
            <p:spPr bwMode="auto">
              <a:xfrm>
                <a:off x="2235623" y="2342119"/>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02"/>
              <p:cNvSpPr>
                <a:spLocks noChangeAspect="1" noChangeShapeType="1"/>
              </p:cNvSpPr>
              <p:nvPr/>
            </p:nvSpPr>
            <p:spPr bwMode="auto">
              <a:xfrm>
                <a:off x="2234539" y="1934688"/>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102"/>
              <p:cNvSpPr>
                <a:spLocks noChangeAspect="1" noChangeShapeType="1"/>
              </p:cNvSpPr>
              <p:nvPr/>
            </p:nvSpPr>
            <p:spPr bwMode="auto">
              <a:xfrm>
                <a:off x="2231291" y="1532129"/>
                <a:ext cx="426801" cy="81121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102"/>
              <p:cNvSpPr>
                <a:spLocks noChangeAspect="1" noChangeShapeType="1"/>
              </p:cNvSpPr>
              <p:nvPr/>
            </p:nvSpPr>
            <p:spPr bwMode="auto">
              <a:xfrm>
                <a:off x="2342070" y="1361460"/>
                <a:ext cx="414898" cy="78859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02"/>
              <p:cNvSpPr>
                <a:spLocks noChangeAspect="1" noChangeShapeType="1"/>
              </p:cNvSpPr>
              <p:nvPr/>
            </p:nvSpPr>
            <p:spPr bwMode="auto">
              <a:xfrm>
                <a:off x="2539385" y="1354409"/>
                <a:ext cx="319662" cy="60757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102"/>
              <p:cNvSpPr>
                <a:spLocks noChangeAspect="1" noChangeShapeType="1"/>
              </p:cNvSpPr>
              <p:nvPr/>
            </p:nvSpPr>
            <p:spPr bwMode="auto">
              <a:xfrm>
                <a:off x="2750266" y="1361461"/>
                <a:ext cx="208482" cy="39626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102"/>
              <p:cNvSpPr>
                <a:spLocks noChangeAspect="1" noChangeShapeType="1"/>
              </p:cNvSpPr>
              <p:nvPr/>
            </p:nvSpPr>
            <p:spPr bwMode="auto">
              <a:xfrm>
                <a:off x="2959904" y="1353587"/>
                <a:ext cx="113802" cy="216302"/>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95"/>
              <p:cNvSpPr>
                <a:spLocks noChangeAspect="1" noChangeShapeType="1"/>
              </p:cNvSpPr>
              <p:nvPr/>
            </p:nvSpPr>
            <p:spPr bwMode="auto">
              <a:xfrm flipH="1">
                <a:off x="2230622" y="1353587"/>
                <a:ext cx="98872" cy="18778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26" name="直接连接符 25"/>
              <p:cNvCxnSpPr/>
              <p:nvPr/>
            </p:nvCxnSpPr>
            <p:spPr bwMode="auto">
              <a:xfrm>
                <a:off x="1234002" y="3149399"/>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组合 26"/>
              <p:cNvGrpSpPr/>
              <p:nvPr/>
            </p:nvGrpSpPr>
            <p:grpSpPr>
              <a:xfrm>
                <a:off x="1916265" y="1494850"/>
                <a:ext cx="1233777" cy="1049571"/>
                <a:chOff x="3856383" y="3077155"/>
                <a:chExt cx="1233777" cy="1049571"/>
              </a:xfrm>
            </p:grpSpPr>
            <p:sp>
              <p:nvSpPr>
                <p:cNvPr id="28" name="Rectangle 9"/>
                <p:cNvSpPr>
                  <a:spLocks noChangeArrowheads="1"/>
                </p:cNvSpPr>
                <p:nvPr/>
              </p:nvSpPr>
              <p:spPr bwMode="auto">
                <a:xfrm>
                  <a:off x="4176642" y="3563423"/>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29" name="Line 12"/>
                <p:cNvSpPr>
                  <a:spLocks noChangeShapeType="1"/>
                </p:cNvSpPr>
                <p:nvPr/>
              </p:nvSpPr>
              <p:spPr bwMode="auto">
                <a:xfrm rot="16200000">
                  <a:off x="4171076" y="3977647"/>
                  <a:ext cx="29815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 Box 14"/>
                <p:cNvSpPr txBox="1">
                  <a:spLocks noChangeArrowheads="1"/>
                </p:cNvSpPr>
                <p:nvPr/>
              </p:nvSpPr>
              <p:spPr bwMode="auto">
                <a:xfrm>
                  <a:off x="4358959" y="3077155"/>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31" name="Line 13"/>
                <p:cNvSpPr>
                  <a:spLocks noChangeShapeType="1"/>
                </p:cNvSpPr>
                <p:nvPr/>
              </p:nvSpPr>
              <p:spPr bwMode="auto">
                <a:xfrm rot="5400000">
                  <a:off x="4178987" y="3409158"/>
                  <a:ext cx="2823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0"/>
                <p:cNvSpPr>
                  <a:spLocks noChangeShapeType="1"/>
                </p:cNvSpPr>
                <p:nvPr/>
              </p:nvSpPr>
              <p:spPr bwMode="auto">
                <a:xfrm rot="10800000">
                  <a:off x="4446038" y="3691381"/>
                  <a:ext cx="2770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10"/>
                <p:cNvSpPr>
                  <a:spLocks noChangeShapeType="1"/>
                </p:cNvSpPr>
                <p:nvPr/>
              </p:nvSpPr>
              <p:spPr bwMode="auto">
                <a:xfrm rot="10800000" flipH="1" flipV="1">
                  <a:off x="3856383" y="3684753"/>
                  <a:ext cx="29089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Text Box 14"/>
                <p:cNvSpPr txBox="1">
                  <a:spLocks noChangeArrowheads="1"/>
                </p:cNvSpPr>
                <p:nvPr/>
              </p:nvSpPr>
              <p:spPr bwMode="auto">
                <a:xfrm>
                  <a:off x="4702190" y="3619169"/>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grpSp>
        </p:grpSp>
        <p:sp>
          <p:nvSpPr>
            <p:cNvPr id="9" name="TextBox 74"/>
            <p:cNvSpPr txBox="1"/>
            <p:nvPr/>
          </p:nvSpPr>
          <p:spPr>
            <a:xfrm>
              <a:off x="2355574" y="3705138"/>
              <a:ext cx="1283685" cy="414794"/>
            </a:xfrm>
            <a:prstGeom prst="rect">
              <a:avLst/>
            </a:prstGeom>
            <a:noFill/>
          </p:spPr>
          <p:txBody>
            <a:bodyPr wrap="none" rtlCol="0">
              <a:spAutoFit/>
            </a:bodyPr>
            <a:lstStyle/>
            <a:p>
              <a:r>
                <a:rPr lang="zh-CN" altLang="en-US" sz="2000" b="1" kern="900" spc="130" dirty="0">
                  <a:solidFill>
                    <a:srgbClr val="A50021"/>
                  </a:solidFill>
                  <a:ea typeface="黑体" panose="02010609060101010101" pitchFamily="49" charset="-122"/>
                  <a:cs typeface="Times New Roman" panose="02020603050405020304" pitchFamily="18" charset="0"/>
                </a:rPr>
                <a:t>郎</a:t>
              </a:r>
              <a:r>
                <a:rPr lang="zh-CN" altLang="en-US" sz="2000" b="1" kern="900" spc="130" dirty="0" smtClean="0">
                  <a:solidFill>
                    <a:srgbClr val="A50021"/>
                  </a:solidFill>
                  <a:ea typeface="黑体" panose="02010609060101010101" pitchFamily="49" charset="-122"/>
                  <a:cs typeface="Times New Roman" panose="02020603050405020304" pitchFamily="18" charset="0"/>
                </a:rPr>
                <a:t>肯理论</a:t>
              </a:r>
              <a:endParaRPr lang="zh-CN" altLang="en-US" sz="2000" dirty="0">
                <a:solidFill>
                  <a:srgbClr val="A50021"/>
                </a:solidFill>
              </a:endParaRPr>
            </a:p>
          </p:txBody>
        </p:sp>
      </p:grpSp>
      <p:grpSp>
        <p:nvGrpSpPr>
          <p:cNvPr id="35" name="组合 34"/>
          <p:cNvGrpSpPr/>
          <p:nvPr/>
        </p:nvGrpSpPr>
        <p:grpSpPr>
          <a:xfrm>
            <a:off x="5532387" y="2965475"/>
            <a:ext cx="2203963" cy="2240057"/>
            <a:chOff x="6389637" y="2032025"/>
            <a:chExt cx="2203963" cy="2240057"/>
          </a:xfrm>
        </p:grpSpPr>
        <p:grpSp>
          <p:nvGrpSpPr>
            <p:cNvPr id="36" name="组合 35"/>
            <p:cNvGrpSpPr/>
            <p:nvPr/>
          </p:nvGrpSpPr>
          <p:grpSpPr>
            <a:xfrm>
              <a:off x="6389637" y="2032025"/>
              <a:ext cx="2203963" cy="1541656"/>
              <a:chOff x="5944363" y="1904805"/>
              <a:chExt cx="2203963" cy="1541656"/>
            </a:xfrm>
          </p:grpSpPr>
          <p:sp>
            <p:nvSpPr>
              <p:cNvPr id="38" name="任意多边形 37"/>
              <p:cNvSpPr/>
              <p:nvPr/>
            </p:nvSpPr>
            <p:spPr bwMode="auto">
              <a:xfrm>
                <a:off x="6264270" y="1930543"/>
                <a:ext cx="862790" cy="142570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9" name="任意多边形 38"/>
              <p:cNvSpPr/>
              <p:nvPr/>
            </p:nvSpPr>
            <p:spPr bwMode="auto">
              <a:xfrm>
                <a:off x="5944363" y="2238620"/>
                <a:ext cx="540014" cy="111922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0" name="直接箭头连接符 39"/>
              <p:cNvCxnSpPr/>
              <p:nvPr/>
            </p:nvCxnSpPr>
            <p:spPr bwMode="auto">
              <a:xfrm flipV="1">
                <a:off x="7716188" y="2695135"/>
                <a:ext cx="235523" cy="249388"/>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Line 70"/>
              <p:cNvSpPr>
                <a:spLocks noChangeShapeType="1"/>
              </p:cNvSpPr>
              <p:nvPr/>
            </p:nvSpPr>
            <p:spPr bwMode="auto">
              <a:xfrm flipV="1">
                <a:off x="6495556" y="1945696"/>
                <a:ext cx="628964" cy="1408872"/>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75"/>
              <p:cNvSpPr txBox="1">
                <a:spLocks noChangeArrowheads="1"/>
              </p:cNvSpPr>
              <p:nvPr/>
            </p:nvSpPr>
            <p:spPr bwMode="auto">
              <a:xfrm>
                <a:off x="6062527" y="3040260"/>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sp>
            <p:nvSpPr>
              <p:cNvPr id="43" name="任意多边形 42"/>
              <p:cNvSpPr/>
              <p:nvPr/>
            </p:nvSpPr>
            <p:spPr bwMode="auto">
              <a:xfrm>
                <a:off x="6252690" y="1904805"/>
                <a:ext cx="990241" cy="338458"/>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256306"/>
                  <a:gd name="connsiteY0" fmla="*/ 524786 h 524786"/>
                  <a:gd name="connsiteX1" fmla="*/ 246490 w 1256306"/>
                  <a:gd name="connsiteY1" fmla="*/ 397566 h 524786"/>
                  <a:gd name="connsiteX2" fmla="*/ 691763 w 1256306"/>
                  <a:gd name="connsiteY2" fmla="*/ 182880 h 524786"/>
                  <a:gd name="connsiteX3" fmla="*/ 1256306 w 1256306"/>
                  <a:gd name="connsiteY3" fmla="*/ 0 h 524786"/>
                </a:gdLst>
                <a:ahLst/>
                <a:cxnLst>
                  <a:cxn ang="0">
                    <a:pos x="connsiteX0" y="connsiteY0"/>
                  </a:cxn>
                  <a:cxn ang="0">
                    <a:pos x="connsiteX1" y="connsiteY1"/>
                  </a:cxn>
                  <a:cxn ang="0">
                    <a:pos x="connsiteX2" y="connsiteY2"/>
                  </a:cxn>
                  <a:cxn ang="0">
                    <a:pos x="connsiteX3" y="connsiteY3"/>
                  </a:cxn>
                </a:cxnLst>
                <a:rect l="l" t="t" r="r" b="b"/>
                <a:pathLst>
                  <a:path w="1256306" h="524786">
                    <a:moveTo>
                      <a:pt x="0" y="524786"/>
                    </a:moveTo>
                    <a:cubicBezTo>
                      <a:pt x="67586" y="490330"/>
                      <a:pt x="131196" y="454550"/>
                      <a:pt x="246490" y="397566"/>
                    </a:cubicBezTo>
                    <a:cubicBezTo>
                      <a:pt x="361784" y="340582"/>
                      <a:pt x="523460" y="249141"/>
                      <a:pt x="691763" y="182880"/>
                    </a:cubicBezTo>
                    <a:cubicBezTo>
                      <a:pt x="860066" y="116619"/>
                      <a:pt x="1057523" y="53009"/>
                      <a:pt x="1256306"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4" name="直接连接符 43"/>
              <p:cNvCxnSpPr/>
              <p:nvPr/>
            </p:nvCxnSpPr>
            <p:spPr bwMode="auto">
              <a:xfrm flipH="1">
                <a:off x="6123947" y="2847213"/>
                <a:ext cx="256932"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箭头连接符 44"/>
              <p:cNvCxnSpPr/>
              <p:nvPr/>
            </p:nvCxnSpPr>
            <p:spPr bwMode="auto">
              <a:xfrm flipV="1">
                <a:off x="6130115" y="2850480"/>
                <a:ext cx="259351" cy="274617"/>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任意多边形 45"/>
              <p:cNvSpPr/>
              <p:nvPr/>
            </p:nvSpPr>
            <p:spPr bwMode="auto">
              <a:xfrm rot="4552046">
                <a:off x="6322083" y="2798833"/>
                <a:ext cx="56752" cy="5675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7" name="直接连接符 46"/>
              <p:cNvCxnSpPr/>
              <p:nvPr/>
            </p:nvCxnSpPr>
            <p:spPr bwMode="auto">
              <a:xfrm>
                <a:off x="6482861" y="3357000"/>
                <a:ext cx="1039257"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任意多边形 47"/>
              <p:cNvSpPr/>
              <p:nvPr/>
            </p:nvSpPr>
            <p:spPr bwMode="auto">
              <a:xfrm rot="7512567" flipV="1">
                <a:off x="6562131" y="3214094"/>
                <a:ext cx="87115" cy="14163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9" name="Rectangle 74"/>
              <p:cNvSpPr>
                <a:spLocks noChangeArrowheads="1"/>
              </p:cNvSpPr>
              <p:nvPr/>
            </p:nvSpPr>
            <p:spPr bwMode="auto">
              <a:xfrm>
                <a:off x="6594480" y="3070974"/>
                <a:ext cx="292068"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600" b="1" i="1" dirty="0" smtClean="0">
                    <a:solidFill>
                      <a:srgbClr val="993300"/>
                    </a:solidFill>
                    <a:latin typeface="Times New Roman" panose="02020603050405020304" pitchFamily="18" charset="0"/>
                    <a:sym typeface="Symbol" panose="05050102010706020507" pitchFamily="18" charset="2"/>
                  </a:rPr>
                  <a:t></a:t>
                </a:r>
                <a:endParaRPr kumimoji="1" lang="en-US" altLang="zh-CN" sz="1600" b="1" i="1" dirty="0">
                  <a:solidFill>
                    <a:srgbClr val="993300"/>
                  </a:solidFill>
                  <a:latin typeface="Times New Roman" panose="02020603050405020304" pitchFamily="18" charset="0"/>
                  <a:sym typeface="Symbol" panose="05050102010706020507" pitchFamily="18" charset="2"/>
                </a:endParaRPr>
              </a:p>
            </p:txBody>
          </p:sp>
          <p:cxnSp>
            <p:nvCxnSpPr>
              <p:cNvPr id="50" name="直接箭头连接符 49"/>
              <p:cNvCxnSpPr/>
              <p:nvPr/>
            </p:nvCxnSpPr>
            <p:spPr bwMode="auto">
              <a:xfrm>
                <a:off x="6560601" y="2406547"/>
                <a:ext cx="0" cy="396585"/>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75"/>
              <p:cNvSpPr txBox="1">
                <a:spLocks noChangeArrowheads="1"/>
              </p:cNvSpPr>
              <p:nvPr/>
            </p:nvSpPr>
            <p:spPr bwMode="auto">
              <a:xfrm>
                <a:off x="6527939" y="2240020"/>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cxnSp>
            <p:nvCxnSpPr>
              <p:cNvPr id="52" name="直接连接符 51"/>
              <p:cNvCxnSpPr/>
              <p:nvPr/>
            </p:nvCxnSpPr>
            <p:spPr bwMode="auto">
              <a:xfrm rot="11211980" flipH="1" flipV="1">
                <a:off x="6818698" y="2636899"/>
                <a:ext cx="261834"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任意多边形 52"/>
              <p:cNvSpPr/>
              <p:nvPr/>
            </p:nvSpPr>
            <p:spPr bwMode="auto">
              <a:xfrm rot="6659934" flipV="1">
                <a:off x="6827797" y="2576376"/>
                <a:ext cx="56752" cy="5783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54" name="直接箭头连接符 53"/>
              <p:cNvCxnSpPr/>
              <p:nvPr/>
            </p:nvCxnSpPr>
            <p:spPr bwMode="auto">
              <a:xfrm rot="11211980">
                <a:off x="6800168" y="2635689"/>
                <a:ext cx="264300" cy="274618"/>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 Box 75"/>
              <p:cNvSpPr txBox="1">
                <a:spLocks noChangeArrowheads="1"/>
              </p:cNvSpPr>
              <p:nvPr/>
            </p:nvSpPr>
            <p:spPr bwMode="auto">
              <a:xfrm>
                <a:off x="6970139" y="2801831"/>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cxnSp>
            <p:nvCxnSpPr>
              <p:cNvPr id="56" name="直接箭头连接符 55"/>
              <p:cNvCxnSpPr/>
              <p:nvPr/>
            </p:nvCxnSpPr>
            <p:spPr bwMode="auto">
              <a:xfrm rot="11211980">
                <a:off x="7701586" y="2418421"/>
                <a:ext cx="264300" cy="274617"/>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箭头连接符 56"/>
              <p:cNvCxnSpPr/>
              <p:nvPr/>
            </p:nvCxnSpPr>
            <p:spPr bwMode="auto">
              <a:xfrm>
                <a:off x="7712646" y="2406124"/>
                <a:ext cx="0" cy="556588"/>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75"/>
              <p:cNvSpPr txBox="1">
                <a:spLocks noChangeArrowheads="1"/>
              </p:cNvSpPr>
              <p:nvPr/>
            </p:nvSpPr>
            <p:spPr bwMode="auto">
              <a:xfrm>
                <a:off x="7356510" y="2521884"/>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sp>
            <p:nvSpPr>
              <p:cNvPr id="59" name="Text Box 75"/>
              <p:cNvSpPr txBox="1">
                <a:spLocks noChangeArrowheads="1"/>
              </p:cNvSpPr>
              <p:nvPr/>
            </p:nvSpPr>
            <p:spPr bwMode="auto">
              <a:xfrm>
                <a:off x="7795342" y="2317156"/>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sp>
            <p:nvSpPr>
              <p:cNvPr id="60" name="Text Box 75"/>
              <p:cNvSpPr txBox="1">
                <a:spLocks noChangeArrowheads="1"/>
              </p:cNvSpPr>
              <p:nvPr/>
            </p:nvSpPr>
            <p:spPr bwMode="auto">
              <a:xfrm>
                <a:off x="7808032" y="2783724"/>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grpSp>
        <p:sp>
          <p:nvSpPr>
            <p:cNvPr id="37" name="TextBox 75"/>
            <p:cNvSpPr txBox="1"/>
            <p:nvPr/>
          </p:nvSpPr>
          <p:spPr>
            <a:xfrm>
              <a:off x="6656107" y="3857288"/>
              <a:ext cx="1283685" cy="414794"/>
            </a:xfrm>
            <a:prstGeom prst="rect">
              <a:avLst/>
            </a:prstGeom>
            <a:noFill/>
          </p:spPr>
          <p:txBody>
            <a:bodyPr wrap="none" rtlCol="0">
              <a:spAutoFit/>
            </a:bodyPr>
            <a:lstStyle/>
            <a:p>
              <a:r>
                <a:rPr lang="zh-CN" altLang="en-US" sz="2000" b="1" kern="900" spc="130" dirty="0" smtClean="0">
                  <a:solidFill>
                    <a:srgbClr val="A50021"/>
                  </a:solidFill>
                  <a:ea typeface="黑体" panose="02010609060101010101" pitchFamily="49" charset="-122"/>
                  <a:cs typeface="Times New Roman" panose="02020603050405020304" pitchFamily="18" charset="0"/>
                </a:rPr>
                <a:t>库伦理论</a:t>
              </a:r>
              <a:endParaRPr lang="zh-CN" altLang="en-US" sz="2000" dirty="0">
                <a:solidFill>
                  <a:srgbClr val="A50021"/>
                </a:solidFill>
              </a:endParaRPr>
            </a:p>
          </p:txBody>
        </p:sp>
      </p:grpSp>
      <p:cxnSp>
        <p:nvCxnSpPr>
          <p:cNvPr id="61" name="直接连接符 60"/>
          <p:cNvCxnSpPr/>
          <p:nvPr/>
        </p:nvCxnSpPr>
        <p:spPr bwMode="auto">
          <a:xfrm>
            <a:off x="4743367" y="3000375"/>
            <a:ext cx="0" cy="2045804"/>
          </a:xfrm>
          <a:prstGeom prst="line">
            <a:avLst/>
          </a:prstGeom>
          <a:noFill/>
          <a:ln w="50800" cap="flat" cmpd="dbl"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4840648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1"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500"/>
                                        <p:tgtEl>
                                          <p:spTgt spid="35"/>
                                        </p:tgtEl>
                                      </p:cBhvr>
                                    </p:animEffec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63</a:t>
            </a:fld>
            <a:endParaRPr lang="zh-CN" altLang="en-US" dirty="0">
              <a:solidFill>
                <a:srgbClr val="C00000"/>
              </a:solidFill>
              <a:cs typeface="Times New Roman" panose="02020603050405020304" pitchFamily="18" charset="0"/>
            </a:endParaRPr>
          </a:p>
        </p:txBody>
      </p:sp>
      <p:sp>
        <p:nvSpPr>
          <p:cNvPr id="7" name="Rectangle 3"/>
          <p:cNvSpPr txBox="1">
            <a:spLocks noChangeArrowheads="1"/>
          </p:cNvSpPr>
          <p:nvPr/>
        </p:nvSpPr>
        <p:spPr bwMode="auto">
          <a:xfrm>
            <a:off x="432533" y="536298"/>
            <a:ext cx="1817507"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C00000"/>
                </a:solidFill>
                <a:latin typeface="微软雅黑" panose="020B0503020204020204" pitchFamily="34" charset="-122"/>
                <a:ea typeface="微软雅黑" panose="020B0503020204020204" pitchFamily="34" charset="-122"/>
              </a:rPr>
              <a:t> </a:t>
            </a:r>
            <a:r>
              <a:rPr lang="zh-CN" altLang="en-US" sz="2400" b="1" kern="0" dirty="0" smtClean="0">
                <a:solidFill>
                  <a:srgbClr val="C00000"/>
                </a:solidFill>
                <a:latin typeface="微软雅黑" panose="020B0503020204020204" pitchFamily="34" charset="-122"/>
                <a:ea typeface="微软雅黑" panose="020B0503020204020204" pitchFamily="34" charset="-122"/>
              </a:rPr>
              <a:t>相同点</a:t>
            </a:r>
            <a:endParaRPr lang="zh-CN" altLang="en-US" sz="2400" b="1" kern="0" dirty="0">
              <a:solidFill>
                <a:srgbClr val="C00000"/>
              </a:solidFill>
              <a:latin typeface="微软雅黑" panose="020B0503020204020204" pitchFamily="34" charset="-122"/>
              <a:ea typeface="微软雅黑" panose="020B0503020204020204" pitchFamily="34" charset="-122"/>
            </a:endParaRPr>
          </a:p>
        </p:txBody>
      </p:sp>
      <p:cxnSp>
        <p:nvCxnSpPr>
          <p:cNvPr id="74" name="直接连接符 73"/>
          <p:cNvCxnSpPr/>
          <p:nvPr/>
        </p:nvCxnSpPr>
        <p:spPr bwMode="auto">
          <a:xfrm>
            <a:off x="4524292" y="1979875"/>
            <a:ext cx="0" cy="3228229"/>
          </a:xfrm>
          <a:prstGeom prst="line">
            <a:avLst/>
          </a:prstGeom>
          <a:noFill/>
          <a:ln w="50800" cap="flat" cmpd="dbl"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组合 3"/>
          <p:cNvGrpSpPr/>
          <p:nvPr/>
        </p:nvGrpSpPr>
        <p:grpSpPr>
          <a:xfrm>
            <a:off x="755374" y="2070747"/>
            <a:ext cx="3061252" cy="1405214"/>
            <a:chOff x="755374" y="2070747"/>
            <a:chExt cx="3061252" cy="1405214"/>
          </a:xfrm>
        </p:grpSpPr>
        <p:grpSp>
          <p:nvGrpSpPr>
            <p:cNvPr id="78" name="组合 77"/>
            <p:cNvGrpSpPr/>
            <p:nvPr/>
          </p:nvGrpSpPr>
          <p:grpSpPr>
            <a:xfrm>
              <a:off x="1901911" y="2070747"/>
              <a:ext cx="1914715" cy="1405214"/>
              <a:chOff x="1234002" y="1339724"/>
              <a:chExt cx="2467056" cy="1810578"/>
            </a:xfrm>
          </p:grpSpPr>
          <p:sp>
            <p:nvSpPr>
              <p:cNvPr id="43" name="任意多边形 42"/>
              <p:cNvSpPr/>
              <p:nvPr/>
            </p:nvSpPr>
            <p:spPr bwMode="auto">
              <a:xfrm>
                <a:off x="2229618" y="1349128"/>
                <a:ext cx="1396893" cy="1800029"/>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4" name="任意多边形 43"/>
              <p:cNvSpPr/>
              <p:nvPr/>
            </p:nvSpPr>
            <p:spPr bwMode="auto">
              <a:xfrm>
                <a:off x="1524731" y="1350273"/>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45" name="直接连接符 44"/>
              <p:cNvCxnSpPr/>
              <p:nvPr/>
            </p:nvCxnSpPr>
            <p:spPr bwMode="auto">
              <a:xfrm>
                <a:off x="2223354" y="1350664"/>
                <a:ext cx="13768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Line 95"/>
              <p:cNvSpPr>
                <a:spLocks noChangeAspect="1" noChangeShapeType="1"/>
              </p:cNvSpPr>
              <p:nvPr/>
            </p:nvSpPr>
            <p:spPr bwMode="auto">
              <a:xfrm flipH="1">
                <a:off x="2239566" y="1339724"/>
                <a:ext cx="949946" cy="1804221"/>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102"/>
              <p:cNvSpPr>
                <a:spLocks noChangeAspect="1" noChangeShapeType="1"/>
              </p:cNvSpPr>
              <p:nvPr/>
            </p:nvSpPr>
            <p:spPr bwMode="auto">
              <a:xfrm>
                <a:off x="2232919" y="2739807"/>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95"/>
              <p:cNvSpPr>
                <a:spLocks noChangeAspect="1" noChangeShapeType="1"/>
              </p:cNvSpPr>
              <p:nvPr/>
            </p:nvSpPr>
            <p:spPr bwMode="auto">
              <a:xfrm flipH="1">
                <a:off x="2227574" y="1354409"/>
                <a:ext cx="730855" cy="138810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95"/>
              <p:cNvSpPr>
                <a:spLocks noChangeAspect="1" noChangeShapeType="1"/>
              </p:cNvSpPr>
              <p:nvPr/>
            </p:nvSpPr>
            <p:spPr bwMode="auto">
              <a:xfrm flipH="1">
                <a:off x="2219911" y="1360069"/>
                <a:ext cx="516515" cy="98101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95"/>
              <p:cNvSpPr>
                <a:spLocks noChangeAspect="1" noChangeShapeType="1"/>
              </p:cNvSpPr>
              <p:nvPr/>
            </p:nvSpPr>
            <p:spPr bwMode="auto">
              <a:xfrm flipH="1">
                <a:off x="2214953" y="1355578"/>
                <a:ext cx="308945" cy="58677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102"/>
              <p:cNvSpPr>
                <a:spLocks noChangeAspect="1" noChangeShapeType="1"/>
              </p:cNvSpPr>
              <p:nvPr/>
            </p:nvSpPr>
            <p:spPr bwMode="auto">
              <a:xfrm>
                <a:off x="2235623" y="2342119"/>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102"/>
              <p:cNvSpPr>
                <a:spLocks noChangeAspect="1" noChangeShapeType="1"/>
              </p:cNvSpPr>
              <p:nvPr/>
            </p:nvSpPr>
            <p:spPr bwMode="auto">
              <a:xfrm>
                <a:off x="2234539" y="1934688"/>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102"/>
              <p:cNvSpPr>
                <a:spLocks noChangeAspect="1" noChangeShapeType="1"/>
              </p:cNvSpPr>
              <p:nvPr/>
            </p:nvSpPr>
            <p:spPr bwMode="auto">
              <a:xfrm>
                <a:off x="2231291" y="1532129"/>
                <a:ext cx="426801" cy="81121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102"/>
              <p:cNvSpPr>
                <a:spLocks noChangeAspect="1" noChangeShapeType="1"/>
              </p:cNvSpPr>
              <p:nvPr/>
            </p:nvSpPr>
            <p:spPr bwMode="auto">
              <a:xfrm>
                <a:off x="2342070" y="1361460"/>
                <a:ext cx="414898" cy="78859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102"/>
              <p:cNvSpPr>
                <a:spLocks noChangeAspect="1" noChangeShapeType="1"/>
              </p:cNvSpPr>
              <p:nvPr/>
            </p:nvSpPr>
            <p:spPr bwMode="auto">
              <a:xfrm>
                <a:off x="2539385" y="1354409"/>
                <a:ext cx="319662" cy="60757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102"/>
              <p:cNvSpPr>
                <a:spLocks noChangeAspect="1" noChangeShapeType="1"/>
              </p:cNvSpPr>
              <p:nvPr/>
            </p:nvSpPr>
            <p:spPr bwMode="auto">
              <a:xfrm>
                <a:off x="2750266" y="1361461"/>
                <a:ext cx="208482" cy="39626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 name="Line 102"/>
              <p:cNvSpPr>
                <a:spLocks noChangeAspect="1" noChangeShapeType="1"/>
              </p:cNvSpPr>
              <p:nvPr/>
            </p:nvSpPr>
            <p:spPr bwMode="auto">
              <a:xfrm>
                <a:off x="2959904" y="1353587"/>
                <a:ext cx="113802" cy="216302"/>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 name="Line 95"/>
              <p:cNvSpPr>
                <a:spLocks noChangeAspect="1" noChangeShapeType="1"/>
              </p:cNvSpPr>
              <p:nvPr/>
            </p:nvSpPr>
            <p:spPr bwMode="auto">
              <a:xfrm flipH="1">
                <a:off x="2230622" y="1353587"/>
                <a:ext cx="98872" cy="18778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63" name="直接连接符 62"/>
              <p:cNvCxnSpPr/>
              <p:nvPr/>
            </p:nvCxnSpPr>
            <p:spPr bwMode="auto">
              <a:xfrm>
                <a:off x="1234002" y="3149399"/>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组合 1"/>
              <p:cNvGrpSpPr/>
              <p:nvPr/>
            </p:nvGrpSpPr>
            <p:grpSpPr>
              <a:xfrm>
                <a:off x="1916265" y="1494850"/>
                <a:ext cx="1233777" cy="1049571"/>
                <a:chOff x="3856383" y="3077155"/>
                <a:chExt cx="1233777" cy="1049571"/>
              </a:xfrm>
            </p:grpSpPr>
            <p:sp>
              <p:nvSpPr>
                <p:cNvPr id="64" name="Rectangle 9"/>
                <p:cNvSpPr>
                  <a:spLocks noChangeArrowheads="1"/>
                </p:cNvSpPr>
                <p:nvPr/>
              </p:nvSpPr>
              <p:spPr bwMode="auto">
                <a:xfrm>
                  <a:off x="4176642" y="3563423"/>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65" name="Line 12"/>
                <p:cNvSpPr>
                  <a:spLocks noChangeShapeType="1"/>
                </p:cNvSpPr>
                <p:nvPr/>
              </p:nvSpPr>
              <p:spPr bwMode="auto">
                <a:xfrm rot="16200000">
                  <a:off x="4171076" y="3977647"/>
                  <a:ext cx="29815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Text Box 14"/>
                <p:cNvSpPr txBox="1">
                  <a:spLocks noChangeArrowheads="1"/>
                </p:cNvSpPr>
                <p:nvPr/>
              </p:nvSpPr>
              <p:spPr bwMode="auto">
                <a:xfrm>
                  <a:off x="4358959" y="3077155"/>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67" name="Line 13"/>
                <p:cNvSpPr>
                  <a:spLocks noChangeShapeType="1"/>
                </p:cNvSpPr>
                <p:nvPr/>
              </p:nvSpPr>
              <p:spPr bwMode="auto">
                <a:xfrm rot="5400000">
                  <a:off x="4178987" y="3409158"/>
                  <a:ext cx="2823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10"/>
                <p:cNvSpPr>
                  <a:spLocks noChangeShapeType="1"/>
                </p:cNvSpPr>
                <p:nvPr/>
              </p:nvSpPr>
              <p:spPr bwMode="auto">
                <a:xfrm rot="10800000">
                  <a:off x="4446038" y="3691381"/>
                  <a:ext cx="2770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10"/>
                <p:cNvSpPr>
                  <a:spLocks noChangeShapeType="1"/>
                </p:cNvSpPr>
                <p:nvPr/>
              </p:nvSpPr>
              <p:spPr bwMode="auto">
                <a:xfrm rot="10800000" flipH="1" flipV="1">
                  <a:off x="3856383" y="3684753"/>
                  <a:ext cx="29089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Text Box 14"/>
                <p:cNvSpPr txBox="1">
                  <a:spLocks noChangeArrowheads="1"/>
                </p:cNvSpPr>
                <p:nvPr/>
              </p:nvSpPr>
              <p:spPr bwMode="auto">
                <a:xfrm>
                  <a:off x="4702190" y="3619169"/>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grpSp>
        </p:grpSp>
        <p:sp>
          <p:nvSpPr>
            <p:cNvPr id="75" name="TextBox 74"/>
            <p:cNvSpPr txBox="1"/>
            <p:nvPr/>
          </p:nvSpPr>
          <p:spPr>
            <a:xfrm>
              <a:off x="755374" y="2609763"/>
              <a:ext cx="1283685" cy="414794"/>
            </a:xfrm>
            <a:prstGeom prst="rect">
              <a:avLst/>
            </a:prstGeom>
            <a:noFill/>
          </p:spPr>
          <p:txBody>
            <a:bodyPr wrap="none" rtlCol="0">
              <a:spAutoFit/>
            </a:bodyPr>
            <a:lstStyle/>
            <a:p>
              <a:r>
                <a:rPr lang="zh-CN" altLang="en-US" sz="2000" b="1" kern="900" spc="130" dirty="0">
                  <a:solidFill>
                    <a:srgbClr val="A50021"/>
                  </a:solidFill>
                  <a:ea typeface="黑体" panose="02010609060101010101" pitchFamily="49" charset="-122"/>
                  <a:cs typeface="Times New Roman" panose="02020603050405020304" pitchFamily="18" charset="0"/>
                </a:rPr>
                <a:t>郎</a:t>
              </a:r>
              <a:r>
                <a:rPr lang="zh-CN" altLang="en-US" sz="2000" b="1" kern="900" spc="130" dirty="0" smtClean="0">
                  <a:solidFill>
                    <a:srgbClr val="A50021"/>
                  </a:solidFill>
                  <a:ea typeface="黑体" panose="02010609060101010101" pitchFamily="49" charset="-122"/>
                  <a:cs typeface="Times New Roman" panose="02020603050405020304" pitchFamily="18" charset="0"/>
                </a:rPr>
                <a:t>肯理论</a:t>
              </a:r>
              <a:endParaRPr lang="zh-CN" altLang="en-US" sz="2000" dirty="0">
                <a:solidFill>
                  <a:srgbClr val="A50021"/>
                </a:solidFill>
              </a:endParaRPr>
            </a:p>
          </p:txBody>
        </p:sp>
      </p:grpSp>
      <p:grpSp>
        <p:nvGrpSpPr>
          <p:cNvPr id="5" name="组合 4"/>
          <p:cNvGrpSpPr/>
          <p:nvPr/>
        </p:nvGrpSpPr>
        <p:grpSpPr>
          <a:xfrm>
            <a:off x="4855882" y="2032025"/>
            <a:ext cx="3737718" cy="1541656"/>
            <a:chOff x="4855882" y="2032025"/>
            <a:chExt cx="3737718" cy="1541656"/>
          </a:xfrm>
        </p:grpSpPr>
        <p:grpSp>
          <p:nvGrpSpPr>
            <p:cNvPr id="3" name="组合 2"/>
            <p:cNvGrpSpPr/>
            <p:nvPr/>
          </p:nvGrpSpPr>
          <p:grpSpPr>
            <a:xfrm>
              <a:off x="6389637" y="2032025"/>
              <a:ext cx="2203963" cy="1541656"/>
              <a:chOff x="5944363" y="1904805"/>
              <a:chExt cx="2203963" cy="1541656"/>
            </a:xfrm>
          </p:grpSpPr>
          <p:sp>
            <p:nvSpPr>
              <p:cNvPr id="8" name="任意多边形 7"/>
              <p:cNvSpPr/>
              <p:nvPr/>
            </p:nvSpPr>
            <p:spPr bwMode="auto">
              <a:xfrm>
                <a:off x="6264270" y="1930543"/>
                <a:ext cx="862790" cy="142570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任意多边形 8"/>
              <p:cNvSpPr/>
              <p:nvPr/>
            </p:nvSpPr>
            <p:spPr bwMode="auto">
              <a:xfrm>
                <a:off x="5944363" y="2238620"/>
                <a:ext cx="540014" cy="111922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 name="直接箭头连接符 9"/>
              <p:cNvCxnSpPr/>
              <p:nvPr/>
            </p:nvCxnSpPr>
            <p:spPr bwMode="auto">
              <a:xfrm flipV="1">
                <a:off x="7716188" y="2695135"/>
                <a:ext cx="235523" cy="249388"/>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Line 70"/>
              <p:cNvSpPr>
                <a:spLocks noChangeShapeType="1"/>
              </p:cNvSpPr>
              <p:nvPr/>
            </p:nvSpPr>
            <p:spPr bwMode="auto">
              <a:xfrm flipV="1">
                <a:off x="6495556" y="1945696"/>
                <a:ext cx="628964" cy="1408872"/>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75"/>
              <p:cNvSpPr txBox="1">
                <a:spLocks noChangeArrowheads="1"/>
              </p:cNvSpPr>
              <p:nvPr/>
            </p:nvSpPr>
            <p:spPr bwMode="auto">
              <a:xfrm>
                <a:off x="6062527" y="3040260"/>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sp>
            <p:nvSpPr>
              <p:cNvPr id="18" name="任意多边形 17"/>
              <p:cNvSpPr/>
              <p:nvPr/>
            </p:nvSpPr>
            <p:spPr bwMode="auto">
              <a:xfrm>
                <a:off x="6252690" y="1904805"/>
                <a:ext cx="990241" cy="338458"/>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256306"/>
                  <a:gd name="connsiteY0" fmla="*/ 524786 h 524786"/>
                  <a:gd name="connsiteX1" fmla="*/ 246490 w 1256306"/>
                  <a:gd name="connsiteY1" fmla="*/ 397566 h 524786"/>
                  <a:gd name="connsiteX2" fmla="*/ 691763 w 1256306"/>
                  <a:gd name="connsiteY2" fmla="*/ 182880 h 524786"/>
                  <a:gd name="connsiteX3" fmla="*/ 1256306 w 1256306"/>
                  <a:gd name="connsiteY3" fmla="*/ 0 h 524786"/>
                </a:gdLst>
                <a:ahLst/>
                <a:cxnLst>
                  <a:cxn ang="0">
                    <a:pos x="connsiteX0" y="connsiteY0"/>
                  </a:cxn>
                  <a:cxn ang="0">
                    <a:pos x="connsiteX1" y="connsiteY1"/>
                  </a:cxn>
                  <a:cxn ang="0">
                    <a:pos x="connsiteX2" y="connsiteY2"/>
                  </a:cxn>
                  <a:cxn ang="0">
                    <a:pos x="connsiteX3" y="connsiteY3"/>
                  </a:cxn>
                </a:cxnLst>
                <a:rect l="l" t="t" r="r" b="b"/>
                <a:pathLst>
                  <a:path w="1256306" h="524786">
                    <a:moveTo>
                      <a:pt x="0" y="524786"/>
                    </a:moveTo>
                    <a:cubicBezTo>
                      <a:pt x="67586" y="490330"/>
                      <a:pt x="131196" y="454550"/>
                      <a:pt x="246490" y="397566"/>
                    </a:cubicBezTo>
                    <a:cubicBezTo>
                      <a:pt x="361784" y="340582"/>
                      <a:pt x="523460" y="249141"/>
                      <a:pt x="691763" y="182880"/>
                    </a:cubicBezTo>
                    <a:cubicBezTo>
                      <a:pt x="860066" y="116619"/>
                      <a:pt x="1057523" y="53009"/>
                      <a:pt x="1256306"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9" name="直接连接符 18"/>
              <p:cNvCxnSpPr/>
              <p:nvPr/>
            </p:nvCxnSpPr>
            <p:spPr bwMode="auto">
              <a:xfrm flipH="1">
                <a:off x="6123947" y="2847213"/>
                <a:ext cx="256932"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flipV="1">
                <a:off x="6130115" y="2850480"/>
                <a:ext cx="259351" cy="274617"/>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任意多边形 20"/>
              <p:cNvSpPr/>
              <p:nvPr/>
            </p:nvSpPr>
            <p:spPr bwMode="auto">
              <a:xfrm rot="4552046">
                <a:off x="6322083" y="2798833"/>
                <a:ext cx="56752" cy="5675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4" name="直接连接符 23"/>
              <p:cNvCxnSpPr/>
              <p:nvPr/>
            </p:nvCxnSpPr>
            <p:spPr bwMode="auto">
              <a:xfrm>
                <a:off x="6482861" y="3357000"/>
                <a:ext cx="1039257"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任意多边形 28"/>
              <p:cNvSpPr/>
              <p:nvPr/>
            </p:nvSpPr>
            <p:spPr bwMode="auto">
              <a:xfrm rot="7512567" flipV="1">
                <a:off x="6562131" y="3214094"/>
                <a:ext cx="87115" cy="14163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0" name="Rectangle 74"/>
              <p:cNvSpPr>
                <a:spLocks noChangeArrowheads="1"/>
              </p:cNvSpPr>
              <p:nvPr/>
            </p:nvSpPr>
            <p:spPr bwMode="auto">
              <a:xfrm>
                <a:off x="6594480" y="3070974"/>
                <a:ext cx="292068"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600" b="1" i="1" dirty="0" smtClean="0">
                    <a:solidFill>
                      <a:srgbClr val="993300"/>
                    </a:solidFill>
                    <a:latin typeface="Times New Roman" panose="02020603050405020304" pitchFamily="18" charset="0"/>
                    <a:sym typeface="Symbol" panose="05050102010706020507" pitchFamily="18" charset="2"/>
                  </a:rPr>
                  <a:t></a:t>
                </a:r>
                <a:endParaRPr kumimoji="1" lang="en-US" altLang="zh-CN" sz="1600" b="1" i="1" dirty="0">
                  <a:solidFill>
                    <a:srgbClr val="993300"/>
                  </a:solidFill>
                  <a:latin typeface="Times New Roman" panose="02020603050405020304" pitchFamily="18" charset="0"/>
                  <a:sym typeface="Symbol" panose="05050102010706020507" pitchFamily="18" charset="2"/>
                </a:endParaRPr>
              </a:p>
            </p:txBody>
          </p:sp>
          <p:cxnSp>
            <p:nvCxnSpPr>
              <p:cNvPr id="31" name="直接箭头连接符 30"/>
              <p:cNvCxnSpPr/>
              <p:nvPr/>
            </p:nvCxnSpPr>
            <p:spPr bwMode="auto">
              <a:xfrm>
                <a:off x="6560601" y="2406547"/>
                <a:ext cx="0" cy="396585"/>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Text Box 75"/>
              <p:cNvSpPr txBox="1">
                <a:spLocks noChangeArrowheads="1"/>
              </p:cNvSpPr>
              <p:nvPr/>
            </p:nvSpPr>
            <p:spPr bwMode="auto">
              <a:xfrm>
                <a:off x="6527939" y="2240020"/>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cxnSp>
            <p:nvCxnSpPr>
              <p:cNvPr id="34" name="直接连接符 33"/>
              <p:cNvCxnSpPr/>
              <p:nvPr/>
            </p:nvCxnSpPr>
            <p:spPr bwMode="auto">
              <a:xfrm rot="11211980" flipH="1" flipV="1">
                <a:off x="6818698" y="2636899"/>
                <a:ext cx="261834"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任意多边形 34"/>
              <p:cNvSpPr/>
              <p:nvPr/>
            </p:nvSpPr>
            <p:spPr bwMode="auto">
              <a:xfrm rot="6659934" flipV="1">
                <a:off x="6827797" y="2576376"/>
                <a:ext cx="56752" cy="5783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7" name="直接箭头连接符 36"/>
              <p:cNvCxnSpPr/>
              <p:nvPr/>
            </p:nvCxnSpPr>
            <p:spPr bwMode="auto">
              <a:xfrm rot="11211980">
                <a:off x="6800168" y="2635689"/>
                <a:ext cx="264300" cy="274618"/>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75"/>
              <p:cNvSpPr txBox="1">
                <a:spLocks noChangeArrowheads="1"/>
              </p:cNvSpPr>
              <p:nvPr/>
            </p:nvSpPr>
            <p:spPr bwMode="auto">
              <a:xfrm>
                <a:off x="6970139" y="2801831"/>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cxnSp>
            <p:nvCxnSpPr>
              <p:cNvPr id="40" name="直接箭头连接符 39"/>
              <p:cNvCxnSpPr/>
              <p:nvPr/>
            </p:nvCxnSpPr>
            <p:spPr bwMode="auto">
              <a:xfrm rot="11211980">
                <a:off x="7701586" y="2418421"/>
                <a:ext cx="264300" cy="274617"/>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箭头连接符 40"/>
              <p:cNvCxnSpPr/>
              <p:nvPr/>
            </p:nvCxnSpPr>
            <p:spPr bwMode="auto">
              <a:xfrm>
                <a:off x="7712646" y="2406124"/>
                <a:ext cx="0" cy="556588"/>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Text Box 75"/>
              <p:cNvSpPr txBox="1">
                <a:spLocks noChangeArrowheads="1"/>
              </p:cNvSpPr>
              <p:nvPr/>
            </p:nvSpPr>
            <p:spPr bwMode="auto">
              <a:xfrm>
                <a:off x="7356510" y="2521884"/>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sp>
            <p:nvSpPr>
              <p:cNvPr id="71" name="Text Box 75"/>
              <p:cNvSpPr txBox="1">
                <a:spLocks noChangeArrowheads="1"/>
              </p:cNvSpPr>
              <p:nvPr/>
            </p:nvSpPr>
            <p:spPr bwMode="auto">
              <a:xfrm>
                <a:off x="7795342" y="2317156"/>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sp>
            <p:nvSpPr>
              <p:cNvPr id="72" name="Text Box 75"/>
              <p:cNvSpPr txBox="1">
                <a:spLocks noChangeArrowheads="1"/>
              </p:cNvSpPr>
              <p:nvPr/>
            </p:nvSpPr>
            <p:spPr bwMode="auto">
              <a:xfrm>
                <a:off x="7808032" y="2783724"/>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grpSp>
        <p:sp>
          <p:nvSpPr>
            <p:cNvPr id="76" name="TextBox 75"/>
            <p:cNvSpPr txBox="1"/>
            <p:nvPr/>
          </p:nvSpPr>
          <p:spPr>
            <a:xfrm>
              <a:off x="4855882" y="2619038"/>
              <a:ext cx="1283685" cy="414794"/>
            </a:xfrm>
            <a:prstGeom prst="rect">
              <a:avLst/>
            </a:prstGeom>
            <a:noFill/>
          </p:spPr>
          <p:txBody>
            <a:bodyPr wrap="none" rtlCol="0">
              <a:spAutoFit/>
            </a:bodyPr>
            <a:lstStyle/>
            <a:p>
              <a:r>
                <a:rPr lang="zh-CN" altLang="en-US" sz="2000" b="1" kern="900" spc="130" dirty="0" smtClean="0">
                  <a:solidFill>
                    <a:srgbClr val="A50021"/>
                  </a:solidFill>
                  <a:ea typeface="黑体" panose="02010609060101010101" pitchFamily="49" charset="-122"/>
                  <a:cs typeface="Times New Roman" panose="02020603050405020304" pitchFamily="18" charset="0"/>
                </a:rPr>
                <a:t>库伦理论</a:t>
              </a:r>
              <a:endParaRPr lang="zh-CN" altLang="en-US" sz="2000" dirty="0">
                <a:solidFill>
                  <a:srgbClr val="A50021"/>
                </a:solidFill>
              </a:endParaRPr>
            </a:p>
          </p:txBody>
        </p:sp>
      </p:grpSp>
      <p:sp>
        <p:nvSpPr>
          <p:cNvPr id="77" name="Text Box 4"/>
          <p:cNvSpPr txBox="1">
            <a:spLocks noChangeArrowheads="1"/>
          </p:cNvSpPr>
          <p:nvPr/>
        </p:nvSpPr>
        <p:spPr bwMode="auto">
          <a:xfrm>
            <a:off x="615612" y="3720031"/>
            <a:ext cx="3912845" cy="154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a:solidFill>
                  <a:srgbClr val="A50021"/>
                </a:solidFill>
                <a:latin typeface="黑体" panose="02010609060101010101" pitchFamily="49" charset="-122"/>
                <a:ea typeface="黑体" panose="02010609060101010101" pitchFamily="49" charset="-122"/>
              </a:rPr>
              <a:t>极限应力</a:t>
            </a:r>
            <a:r>
              <a:rPr lang="zh-CN" altLang="en-US" sz="2000" b="1" dirty="0" smtClean="0">
                <a:solidFill>
                  <a:srgbClr val="A50021"/>
                </a:solidFill>
                <a:latin typeface="黑体" panose="02010609060101010101" pitchFamily="49" charset="-122"/>
                <a:ea typeface="黑体" panose="02010609060101010101" pitchFamily="49" charset="-122"/>
              </a:rPr>
              <a:t>法</a:t>
            </a:r>
            <a:r>
              <a:rPr lang="en-US" altLang="zh-CN" sz="2000" b="1" dirty="0" smtClean="0">
                <a:solidFill>
                  <a:srgbClr val="000066"/>
                </a:solidFill>
                <a:ea typeface="幼圆" pitchFamily="49" charset="-122"/>
              </a:rPr>
              <a:t>:</a:t>
            </a:r>
            <a:br>
              <a:rPr lang="en-US" altLang="zh-CN" sz="2000" b="1" dirty="0" smtClean="0">
                <a:solidFill>
                  <a:srgbClr val="000066"/>
                </a:solidFill>
                <a:ea typeface="幼圆" pitchFamily="49" charset="-122"/>
              </a:rPr>
            </a:br>
            <a:r>
              <a:rPr lang="zh-CN" altLang="en-US" sz="2000" b="1" dirty="0" smtClean="0">
                <a:solidFill>
                  <a:srgbClr val="000066"/>
                </a:solidFill>
                <a:ea typeface="幼圆" pitchFamily="49" charset="-122"/>
              </a:rPr>
              <a:t>土体各</a:t>
            </a:r>
            <a:r>
              <a:rPr lang="zh-CN" altLang="en-US" sz="2000" b="1" dirty="0">
                <a:solidFill>
                  <a:srgbClr val="000066"/>
                </a:solidFill>
                <a:ea typeface="幼圆" pitchFamily="49" charset="-122"/>
              </a:rPr>
              <a:t>点均处于极限</a:t>
            </a:r>
            <a:r>
              <a:rPr lang="zh-CN" altLang="en-US" sz="2000" b="1" dirty="0" smtClean="0">
                <a:solidFill>
                  <a:srgbClr val="000066"/>
                </a:solidFill>
                <a:ea typeface="幼圆" pitchFamily="49" charset="-122"/>
              </a:rPr>
              <a:t>平衡状态</a:t>
            </a:r>
            <a:endParaRPr lang="zh-CN" altLang="en-US" sz="2000" b="1" dirty="0">
              <a:solidFill>
                <a:srgbClr val="000066"/>
              </a:solidFill>
              <a:ea typeface="幼圆" pitchFamily="49" charset="-122"/>
            </a:endParaRPr>
          </a:p>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a:solidFill>
                  <a:srgbClr val="000066"/>
                </a:solidFill>
                <a:ea typeface="幼圆" pitchFamily="49" charset="-122"/>
              </a:rPr>
              <a:t>先求土压力</a:t>
            </a:r>
            <a:r>
              <a:rPr lang="zh-CN" altLang="en-US" sz="2000" b="1" dirty="0" smtClean="0">
                <a:solidFill>
                  <a:srgbClr val="000066"/>
                </a:solidFill>
                <a:ea typeface="幼圆" pitchFamily="49" charset="-122"/>
              </a:rPr>
              <a:t>强度 </a:t>
            </a:r>
            <a:r>
              <a:rPr lang="en-US" altLang="zh-CN" sz="2000" b="1" i="1" dirty="0" smtClean="0">
                <a:solidFill>
                  <a:srgbClr val="A50021"/>
                </a:solidFill>
                <a:ea typeface="幼圆" pitchFamily="49" charset="-122"/>
              </a:rPr>
              <a:t>p</a:t>
            </a:r>
          </a:p>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a:solidFill>
                  <a:srgbClr val="000066"/>
                </a:solidFill>
                <a:ea typeface="幼圆" pitchFamily="49" charset="-122"/>
              </a:rPr>
              <a:t>理论上比较</a:t>
            </a:r>
            <a:r>
              <a:rPr lang="zh-CN" altLang="en-US" sz="2000" b="1" dirty="0" smtClean="0">
                <a:solidFill>
                  <a:srgbClr val="000066"/>
                </a:solidFill>
                <a:ea typeface="幼圆" pitchFamily="49" charset="-122"/>
              </a:rPr>
              <a:t>严密</a:t>
            </a:r>
            <a:endParaRPr lang="en-US" altLang="zh-CN" sz="2000" b="1" dirty="0">
              <a:solidFill>
                <a:srgbClr val="000066"/>
              </a:solidFill>
              <a:ea typeface="幼圆" pitchFamily="49" charset="-122"/>
            </a:endParaRPr>
          </a:p>
        </p:txBody>
      </p:sp>
      <p:sp>
        <p:nvSpPr>
          <p:cNvPr id="80" name="文本框 7"/>
          <p:cNvSpPr txBox="1"/>
          <p:nvPr/>
        </p:nvSpPr>
        <p:spPr>
          <a:xfrm>
            <a:off x="2096335" y="591603"/>
            <a:ext cx="6462038" cy="861774"/>
          </a:xfrm>
          <a:prstGeom prst="rect">
            <a:avLst/>
          </a:prstGeom>
          <a:noFill/>
          <a:ln w="19050">
            <a:noFill/>
          </a:ln>
        </p:spPr>
        <p:txBody>
          <a:bodyPr wrap="square" rtlCol="0">
            <a:spAutoFit/>
          </a:bodyPr>
          <a:lstStyle/>
          <a:p>
            <a:pPr>
              <a:lnSpc>
                <a:spcPct val="125000"/>
              </a:lnSpc>
              <a:buClr>
                <a:srgbClr val="A50021"/>
              </a:buClr>
              <a:buSzPct val="130000"/>
            </a:pPr>
            <a:r>
              <a:rPr lang="zh-CN" altLang="en-US" sz="2000" b="1" dirty="0" smtClean="0">
                <a:solidFill>
                  <a:srgbClr val="000066"/>
                </a:solidFill>
                <a:ea typeface="幼圆" panose="02010509060101010101" pitchFamily="49" charset="-122"/>
                <a:cs typeface="Times New Roman" panose="02020603050405020304" pitchFamily="18" charset="0"/>
              </a:rPr>
              <a:t>都属于极限状态土压力理论，计算的土压力都是土体处于极限平衡状态下的主动和被动土压力</a:t>
            </a:r>
            <a:endParaRPr lang="zh-CN" altLang="en-US" sz="2000" b="1" dirty="0">
              <a:solidFill>
                <a:srgbClr val="000066"/>
              </a:solidFill>
              <a:ea typeface="幼圆" panose="02010509060101010101" pitchFamily="49" charset="-122"/>
              <a:cs typeface="Times New Roman" panose="02020603050405020304" pitchFamily="18" charset="0"/>
            </a:endParaRPr>
          </a:p>
        </p:txBody>
      </p:sp>
      <p:sp>
        <p:nvSpPr>
          <p:cNvPr id="82" name="Text Box 4"/>
          <p:cNvSpPr txBox="1">
            <a:spLocks noChangeArrowheads="1"/>
          </p:cNvSpPr>
          <p:nvPr/>
        </p:nvSpPr>
        <p:spPr bwMode="auto">
          <a:xfrm>
            <a:off x="4910639" y="3747793"/>
            <a:ext cx="3749653" cy="189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smtClean="0">
                <a:solidFill>
                  <a:srgbClr val="A50021"/>
                </a:solidFill>
                <a:latin typeface="黑体" panose="02010609060101010101" pitchFamily="49" charset="-122"/>
                <a:ea typeface="黑体" panose="02010609060101010101" pitchFamily="49" charset="-122"/>
              </a:rPr>
              <a:t>滑动</a:t>
            </a:r>
            <a:r>
              <a:rPr lang="zh-CN" altLang="en-US" sz="2000" b="1" dirty="0">
                <a:solidFill>
                  <a:srgbClr val="A50021"/>
                </a:solidFill>
                <a:latin typeface="黑体" panose="02010609060101010101" pitchFamily="49" charset="-122"/>
                <a:ea typeface="黑体" panose="02010609060101010101" pitchFamily="49" charset="-122"/>
              </a:rPr>
              <a:t>楔体法</a:t>
            </a:r>
            <a:r>
              <a:rPr lang="en-US" altLang="zh-CN" sz="2000" b="1" dirty="0" smtClean="0">
                <a:solidFill>
                  <a:srgbClr val="000066"/>
                </a:solidFill>
                <a:ea typeface="幼圆" pitchFamily="49" charset="-122"/>
              </a:rPr>
              <a:t>: </a:t>
            </a:r>
            <a:br>
              <a:rPr lang="en-US" altLang="zh-CN" sz="2000" b="1" dirty="0" smtClean="0">
                <a:solidFill>
                  <a:srgbClr val="000066"/>
                </a:solidFill>
                <a:ea typeface="幼圆" pitchFamily="49" charset="-122"/>
              </a:rPr>
            </a:br>
            <a:r>
              <a:rPr lang="zh-CN" altLang="en-US" sz="2000" b="1" dirty="0" smtClean="0">
                <a:solidFill>
                  <a:srgbClr val="000066"/>
                </a:solidFill>
                <a:ea typeface="幼圆" pitchFamily="49" charset="-122"/>
              </a:rPr>
              <a:t>刚性</a:t>
            </a:r>
            <a:r>
              <a:rPr lang="zh-CN" altLang="en-US" sz="2000" b="1" dirty="0">
                <a:solidFill>
                  <a:srgbClr val="000066"/>
                </a:solidFill>
                <a:ea typeface="幼圆" pitchFamily="49" charset="-122"/>
              </a:rPr>
              <a:t>楔体，滑面上处于极限</a:t>
            </a:r>
            <a:r>
              <a:rPr lang="zh-CN" altLang="en-US" sz="2000" b="1" dirty="0" smtClean="0">
                <a:solidFill>
                  <a:srgbClr val="000066"/>
                </a:solidFill>
                <a:ea typeface="幼圆" pitchFamily="49" charset="-122"/>
              </a:rPr>
              <a:t>平衡状态</a:t>
            </a:r>
            <a:endParaRPr lang="zh-CN" altLang="en-US" sz="2000" b="1" dirty="0">
              <a:solidFill>
                <a:srgbClr val="000066"/>
              </a:solidFill>
              <a:ea typeface="幼圆" pitchFamily="49" charset="-122"/>
            </a:endParaRPr>
          </a:p>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先求</a:t>
            </a:r>
            <a:r>
              <a:rPr lang="zh-CN" altLang="en-US" sz="2000" b="1" dirty="0">
                <a:solidFill>
                  <a:srgbClr val="000066"/>
                </a:solidFill>
                <a:ea typeface="幼圆" pitchFamily="49" charset="-122"/>
              </a:rPr>
              <a:t>总</a:t>
            </a:r>
            <a:r>
              <a:rPr lang="zh-CN" altLang="en-US" sz="2000" b="1" dirty="0" smtClean="0">
                <a:solidFill>
                  <a:srgbClr val="000066"/>
                </a:solidFill>
                <a:ea typeface="幼圆" pitchFamily="49" charset="-122"/>
              </a:rPr>
              <a:t>土压力 </a:t>
            </a:r>
            <a:r>
              <a:rPr lang="en-US" altLang="zh-CN" sz="2000" b="1" i="1" dirty="0" smtClean="0">
                <a:solidFill>
                  <a:srgbClr val="A50021"/>
                </a:solidFill>
                <a:ea typeface="幼圆" pitchFamily="49" charset="-122"/>
              </a:rPr>
              <a:t>E</a:t>
            </a:r>
          </a:p>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000" b="1" dirty="0" smtClean="0">
                <a:solidFill>
                  <a:srgbClr val="000066"/>
                </a:solidFill>
                <a:ea typeface="幼圆" pitchFamily="49" charset="-122"/>
              </a:rPr>
              <a:t>是</a:t>
            </a:r>
            <a:r>
              <a:rPr lang="zh-CN" altLang="en-US" sz="2000" b="1" dirty="0">
                <a:solidFill>
                  <a:srgbClr val="000066"/>
                </a:solidFill>
                <a:ea typeface="幼圆" pitchFamily="49" charset="-122"/>
              </a:rPr>
              <a:t>一种简化</a:t>
            </a:r>
            <a:r>
              <a:rPr lang="zh-CN" altLang="en-US" sz="2000" b="1" dirty="0" smtClean="0">
                <a:solidFill>
                  <a:srgbClr val="000066"/>
                </a:solidFill>
                <a:ea typeface="幼圆" pitchFamily="49" charset="-122"/>
              </a:rPr>
              <a:t>理论</a:t>
            </a:r>
            <a:endParaRPr lang="en-US" altLang="zh-CN" sz="2000" b="1" dirty="0">
              <a:solidFill>
                <a:srgbClr val="000066"/>
              </a:solidFill>
              <a:ea typeface="幼圆" pitchFamily="49" charset="-122"/>
            </a:endParaRPr>
          </a:p>
        </p:txBody>
      </p:sp>
      <p:sp>
        <p:nvSpPr>
          <p:cNvPr id="61"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分析方法</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2" name="Text Box 2"/>
          <p:cNvSpPr txBox="1">
            <a:spLocks noChangeArrowheads="1"/>
          </p:cNvSpPr>
          <p:nvPr/>
        </p:nvSpPr>
        <p:spPr bwMode="auto">
          <a:xfrm>
            <a:off x="1682001"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两种</a:t>
            </a:r>
            <a:r>
              <a:rPr kumimoji="1" lang="zh-CN" altLang="en-US" sz="4000" b="1" dirty="0">
                <a:solidFill>
                  <a:srgbClr val="000066"/>
                </a:solidFill>
                <a:latin typeface="黑体" pitchFamily="2" charset="-122"/>
                <a:ea typeface="黑体" pitchFamily="2" charset="-122"/>
              </a:rPr>
              <a:t>土压力理论分析方法</a:t>
            </a:r>
          </a:p>
        </p:txBody>
      </p:sp>
      <p:sp>
        <p:nvSpPr>
          <p:cNvPr id="73" name="Rectangle 3"/>
          <p:cNvSpPr txBox="1">
            <a:spLocks noChangeArrowheads="1"/>
          </p:cNvSpPr>
          <p:nvPr/>
        </p:nvSpPr>
        <p:spPr bwMode="auto">
          <a:xfrm>
            <a:off x="410004" y="1404315"/>
            <a:ext cx="1817507"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C00000"/>
                </a:solidFill>
                <a:latin typeface="微软雅黑" panose="020B0503020204020204" pitchFamily="34" charset="-122"/>
                <a:ea typeface="微软雅黑" panose="020B0503020204020204" pitchFamily="34" charset="-122"/>
              </a:rPr>
              <a:t> </a:t>
            </a:r>
            <a:r>
              <a:rPr lang="zh-CN" altLang="en-US" sz="2400" b="1" kern="0" dirty="0" smtClean="0">
                <a:solidFill>
                  <a:srgbClr val="C00000"/>
                </a:solidFill>
                <a:latin typeface="微软雅黑" panose="020B0503020204020204" pitchFamily="34" charset="-122"/>
                <a:ea typeface="微软雅黑" panose="020B0503020204020204" pitchFamily="34" charset="-122"/>
              </a:rPr>
              <a:t>不同点</a:t>
            </a:r>
            <a:endParaRPr lang="zh-CN" altLang="en-US" sz="24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33941961"/>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80"/>
                                        </p:tgtEl>
                                        <p:attrNameLst>
                                          <p:attrName>style.visibility</p:attrName>
                                        </p:attrNameLst>
                                      </p:cBhvr>
                                      <p:to>
                                        <p:strVal val="visible"/>
                                      </p:to>
                                    </p:set>
                                    <p:anim calcmode="lin" valueType="num">
                                      <p:cBhvr additive="base">
                                        <p:cTn id="12" dur="500"/>
                                        <p:tgtEl>
                                          <p:spTgt spid="80"/>
                                        </p:tgtEl>
                                        <p:attrNameLst>
                                          <p:attrName>ppt_y</p:attrName>
                                        </p:attrNameLst>
                                      </p:cBhvr>
                                      <p:tavLst>
                                        <p:tav tm="0">
                                          <p:val>
                                            <p:strVal val="#ppt_y+#ppt_h*1.125000"/>
                                          </p:val>
                                        </p:tav>
                                        <p:tav tm="100000">
                                          <p:val>
                                            <p:strVal val="#ppt_y"/>
                                          </p:val>
                                        </p:tav>
                                      </p:tavLst>
                                    </p:anim>
                                    <p:animEffect transition="in" filter="wipe(up)">
                                      <p:cBhvr>
                                        <p:cTn id="13" dur="500"/>
                                        <p:tgtEl>
                                          <p:spTgt spid="8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73"/>
                                        </p:tgtEl>
                                        <p:attrNameLst>
                                          <p:attrName>style.visibility</p:attrName>
                                        </p:attrNameLst>
                                      </p:cBhvr>
                                      <p:to>
                                        <p:strVal val="visible"/>
                                      </p:to>
                                    </p:set>
                                    <p:anim calcmode="lin" valueType="num">
                                      <p:cBhvr additive="base">
                                        <p:cTn id="18" dur="500"/>
                                        <p:tgtEl>
                                          <p:spTgt spid="73"/>
                                        </p:tgtEl>
                                        <p:attrNameLst>
                                          <p:attrName>ppt_x</p:attrName>
                                        </p:attrNameLst>
                                      </p:cBhvr>
                                      <p:tavLst>
                                        <p:tav tm="0">
                                          <p:val>
                                            <p:strVal val="#ppt_x-#ppt_w*1.125000"/>
                                          </p:val>
                                        </p:tav>
                                        <p:tav tm="100000">
                                          <p:val>
                                            <p:strVal val="#ppt_x"/>
                                          </p:val>
                                        </p:tav>
                                      </p:tavLst>
                                    </p:anim>
                                    <p:animEffect transition="in" filter="wipe(right)">
                                      <p:cBhvr>
                                        <p:cTn id="19" dur="500"/>
                                        <p:tgtEl>
                                          <p:spTgt spid="73"/>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par>
                                <p:cTn id="23" presetID="22" presetClass="entr" presetSubtype="1"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par>
                          <p:cTn id="26" fill="hold">
                            <p:stCondLst>
                              <p:cond delay="1000"/>
                            </p:stCondLst>
                            <p:childTnLst>
                              <p:par>
                                <p:cTn id="27" presetID="22" presetClass="entr" presetSubtype="1" fill="hold" grpId="0" nodeType="after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up)">
                                      <p:cBhvr>
                                        <p:cTn id="29" dur="500"/>
                                        <p:tgtEl>
                                          <p:spTgt spid="7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wipe(up)">
                                      <p:cBhvr>
                                        <p:cTn id="34" dur="500"/>
                                        <p:tgtEl>
                                          <p:spTgt spid="82"/>
                                        </p:tgtEl>
                                      </p:cBhvr>
                                    </p:animEffect>
                                  </p:childTnLst>
                                </p:cTn>
                              </p:par>
                              <p:par>
                                <p:cTn id="35" presetID="22" presetClass="entr" presetSubtype="1"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7" grpId="0"/>
      <p:bldP spid="80" grpId="0"/>
      <p:bldP spid="82" grpId="0"/>
      <p:bldP spid="7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64</a:t>
            </a:fld>
            <a:endParaRPr lang="zh-CN" altLang="en-US" dirty="0">
              <a:solidFill>
                <a:srgbClr val="C00000"/>
              </a:solidFill>
              <a:cs typeface="Times New Roman" panose="02020603050405020304" pitchFamily="18" charset="0"/>
            </a:endParaRPr>
          </a:p>
        </p:txBody>
      </p:sp>
      <p:grpSp>
        <p:nvGrpSpPr>
          <p:cNvPr id="63" name="组合 62"/>
          <p:cNvGrpSpPr/>
          <p:nvPr/>
        </p:nvGrpSpPr>
        <p:grpSpPr>
          <a:xfrm>
            <a:off x="1234002" y="904225"/>
            <a:ext cx="1914715" cy="1405214"/>
            <a:chOff x="1234002" y="1339724"/>
            <a:chExt cx="2467056" cy="1810578"/>
          </a:xfrm>
        </p:grpSpPr>
        <p:sp>
          <p:nvSpPr>
            <p:cNvPr id="64" name="任意多边形 63"/>
            <p:cNvSpPr/>
            <p:nvPr/>
          </p:nvSpPr>
          <p:spPr bwMode="auto">
            <a:xfrm>
              <a:off x="2229618" y="1349128"/>
              <a:ext cx="1396893" cy="1800029"/>
            </a:xfrm>
            <a:custGeom>
              <a:avLst/>
              <a:gdLst>
                <a:gd name="connsiteX0" fmla="*/ 16829 w 2227097"/>
                <a:gd name="connsiteY0" fmla="*/ 152587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6" fmla="*/ 16829 w 2227097"/>
                <a:gd name="connsiteY6" fmla="*/ 1525870 h 1828800"/>
                <a:gd name="connsiteX0" fmla="*/ 0 w 2227097"/>
                <a:gd name="connsiteY0" fmla="*/ 1828800 h 1828800"/>
                <a:gd name="connsiteX1" fmla="*/ 1368795 w 2227097"/>
                <a:gd name="connsiteY1" fmla="*/ 1525870 h 1828800"/>
                <a:gd name="connsiteX2" fmla="*/ 1368795 w 2227097"/>
                <a:gd name="connsiteY2" fmla="*/ 0 h 1828800"/>
                <a:gd name="connsiteX3" fmla="*/ 2227097 w 2227097"/>
                <a:gd name="connsiteY3" fmla="*/ 0 h 1828800"/>
                <a:gd name="connsiteX4" fmla="*/ 2227097 w 2227097"/>
                <a:gd name="connsiteY4" fmla="*/ 1828800 h 1828800"/>
                <a:gd name="connsiteX5" fmla="*/ 0 w 2227097"/>
                <a:gd name="connsiteY5" fmla="*/ 1828800 h 1828800"/>
                <a:gd name="connsiteX0" fmla="*/ 0 w 899947"/>
                <a:gd name="connsiteY0" fmla="*/ 1822450 h 1828800"/>
                <a:gd name="connsiteX1" fmla="*/ 41645 w 899947"/>
                <a:gd name="connsiteY1" fmla="*/ 1525870 h 1828800"/>
                <a:gd name="connsiteX2" fmla="*/ 41645 w 899947"/>
                <a:gd name="connsiteY2" fmla="*/ 0 h 1828800"/>
                <a:gd name="connsiteX3" fmla="*/ 899947 w 899947"/>
                <a:gd name="connsiteY3" fmla="*/ 0 h 1828800"/>
                <a:gd name="connsiteX4" fmla="*/ 899947 w 899947"/>
                <a:gd name="connsiteY4" fmla="*/ 1828800 h 1828800"/>
                <a:gd name="connsiteX5" fmla="*/ 0 w 899947"/>
                <a:gd name="connsiteY5" fmla="*/ 1822450 h 1828800"/>
                <a:gd name="connsiteX0" fmla="*/ 2805 w 858302"/>
                <a:gd name="connsiteY0" fmla="*/ 1822450 h 1828800"/>
                <a:gd name="connsiteX1" fmla="*/ 0 w 858302"/>
                <a:gd name="connsiteY1" fmla="*/ 1525870 h 1828800"/>
                <a:gd name="connsiteX2" fmla="*/ 0 w 858302"/>
                <a:gd name="connsiteY2" fmla="*/ 0 h 1828800"/>
                <a:gd name="connsiteX3" fmla="*/ 858302 w 858302"/>
                <a:gd name="connsiteY3" fmla="*/ 0 h 1828800"/>
                <a:gd name="connsiteX4" fmla="*/ 858302 w 858302"/>
                <a:gd name="connsiteY4" fmla="*/ 1828800 h 1828800"/>
                <a:gd name="connsiteX5" fmla="*/ 2805 w 858302"/>
                <a:gd name="connsiteY5" fmla="*/ 1822450 h 1828800"/>
                <a:gd name="connsiteX0" fmla="*/ 2805 w 858302"/>
                <a:gd name="connsiteY0" fmla="*/ 1822450 h 1828800"/>
                <a:gd name="connsiteX1" fmla="*/ 0 w 858302"/>
                <a:gd name="connsiteY1" fmla="*/ 0 h 1828800"/>
                <a:gd name="connsiteX2" fmla="*/ 858302 w 858302"/>
                <a:gd name="connsiteY2" fmla="*/ 0 h 1828800"/>
                <a:gd name="connsiteX3" fmla="*/ 858302 w 858302"/>
                <a:gd name="connsiteY3" fmla="*/ 1828800 h 1828800"/>
                <a:gd name="connsiteX4" fmla="*/ 2805 w 858302"/>
                <a:gd name="connsiteY4" fmla="*/ 1822450 h 1828800"/>
                <a:gd name="connsiteX0" fmla="*/ 0 w 859605"/>
                <a:gd name="connsiteY0" fmla="*/ 1879600 h 1879600"/>
                <a:gd name="connsiteX1" fmla="*/ 1303 w 859605"/>
                <a:gd name="connsiteY1" fmla="*/ 0 h 1879600"/>
                <a:gd name="connsiteX2" fmla="*/ 859605 w 859605"/>
                <a:gd name="connsiteY2" fmla="*/ 0 h 1879600"/>
                <a:gd name="connsiteX3" fmla="*/ 859605 w 859605"/>
                <a:gd name="connsiteY3" fmla="*/ 1828800 h 1879600"/>
                <a:gd name="connsiteX4" fmla="*/ 0 w 859605"/>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60550 h 1879600"/>
                <a:gd name="connsiteX4" fmla="*/ 0 w 871929"/>
                <a:gd name="connsiteY4" fmla="*/ 1879600 h 1879600"/>
                <a:gd name="connsiteX0" fmla="*/ 0 w 871929"/>
                <a:gd name="connsiteY0" fmla="*/ 1879600 h 1879600"/>
                <a:gd name="connsiteX1" fmla="*/ 1303 w 871929"/>
                <a:gd name="connsiteY1" fmla="*/ 0 h 1879600"/>
                <a:gd name="connsiteX2" fmla="*/ 859605 w 871929"/>
                <a:gd name="connsiteY2" fmla="*/ 0 h 1879600"/>
                <a:gd name="connsiteX3" fmla="*/ 871929 w 871929"/>
                <a:gd name="connsiteY3" fmla="*/ 1873250 h 1879600"/>
                <a:gd name="connsiteX4" fmla="*/ 0 w 871929"/>
                <a:gd name="connsiteY4" fmla="*/ 1879600 h 187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929" h="1879600">
                  <a:moveTo>
                    <a:pt x="0" y="1879600"/>
                  </a:moveTo>
                  <a:cubicBezTo>
                    <a:pt x="434" y="1253067"/>
                    <a:pt x="869" y="626533"/>
                    <a:pt x="1303" y="0"/>
                  </a:cubicBezTo>
                  <a:lnTo>
                    <a:pt x="859605" y="0"/>
                  </a:lnTo>
                  <a:lnTo>
                    <a:pt x="871929" y="1873250"/>
                  </a:lnTo>
                  <a:lnTo>
                    <a:pt x="0" y="1879600"/>
                  </a:lnTo>
                  <a:close/>
                </a:path>
              </a:pathLst>
            </a:custGeom>
            <a:pattFill prst="pct5">
              <a:fgClr>
                <a:schemeClr val="tx1"/>
              </a:fgClr>
              <a:bgClr>
                <a:srgbClr val="F5D0AB"/>
              </a:bgClr>
            </a:patt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任意多边形 64"/>
            <p:cNvSpPr/>
            <p:nvPr/>
          </p:nvSpPr>
          <p:spPr bwMode="auto">
            <a:xfrm>
              <a:off x="1524731" y="1350273"/>
              <a:ext cx="698622" cy="1800029"/>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6" name="直接连接符 65"/>
            <p:cNvCxnSpPr/>
            <p:nvPr/>
          </p:nvCxnSpPr>
          <p:spPr bwMode="auto">
            <a:xfrm>
              <a:off x="2223354" y="1350664"/>
              <a:ext cx="137683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Line 95"/>
            <p:cNvSpPr>
              <a:spLocks noChangeAspect="1" noChangeShapeType="1"/>
            </p:cNvSpPr>
            <p:nvPr/>
          </p:nvSpPr>
          <p:spPr bwMode="auto">
            <a:xfrm flipH="1">
              <a:off x="2239566" y="1339724"/>
              <a:ext cx="949946" cy="1804221"/>
            </a:xfrm>
            <a:prstGeom prst="line">
              <a:avLst/>
            </a:prstGeom>
            <a:noFill/>
            <a:ln w="1270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 name="Line 102"/>
            <p:cNvSpPr>
              <a:spLocks noChangeAspect="1" noChangeShapeType="1"/>
            </p:cNvSpPr>
            <p:nvPr/>
          </p:nvSpPr>
          <p:spPr bwMode="auto">
            <a:xfrm>
              <a:off x="2232919" y="2739807"/>
              <a:ext cx="106445" cy="202319"/>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95"/>
            <p:cNvSpPr>
              <a:spLocks noChangeAspect="1" noChangeShapeType="1"/>
            </p:cNvSpPr>
            <p:nvPr/>
          </p:nvSpPr>
          <p:spPr bwMode="auto">
            <a:xfrm flipH="1">
              <a:off x="2227574" y="1354409"/>
              <a:ext cx="730855" cy="138810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0" name="Line 95"/>
            <p:cNvSpPr>
              <a:spLocks noChangeAspect="1" noChangeShapeType="1"/>
            </p:cNvSpPr>
            <p:nvPr/>
          </p:nvSpPr>
          <p:spPr bwMode="auto">
            <a:xfrm flipH="1">
              <a:off x="2219911" y="1360069"/>
              <a:ext cx="516515" cy="981011"/>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95"/>
            <p:cNvSpPr>
              <a:spLocks noChangeAspect="1" noChangeShapeType="1"/>
            </p:cNvSpPr>
            <p:nvPr/>
          </p:nvSpPr>
          <p:spPr bwMode="auto">
            <a:xfrm flipH="1">
              <a:off x="2214953" y="1355578"/>
              <a:ext cx="308945" cy="586775"/>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102"/>
            <p:cNvSpPr>
              <a:spLocks noChangeAspect="1" noChangeShapeType="1"/>
            </p:cNvSpPr>
            <p:nvPr/>
          </p:nvSpPr>
          <p:spPr bwMode="auto">
            <a:xfrm>
              <a:off x="2235623" y="2342119"/>
              <a:ext cx="212627" cy="40413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102"/>
            <p:cNvSpPr>
              <a:spLocks noChangeAspect="1" noChangeShapeType="1"/>
            </p:cNvSpPr>
            <p:nvPr/>
          </p:nvSpPr>
          <p:spPr bwMode="auto">
            <a:xfrm>
              <a:off x="2234539" y="1934688"/>
              <a:ext cx="321204" cy="61051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4" name="Line 102"/>
            <p:cNvSpPr>
              <a:spLocks noChangeAspect="1" noChangeShapeType="1"/>
            </p:cNvSpPr>
            <p:nvPr/>
          </p:nvSpPr>
          <p:spPr bwMode="auto">
            <a:xfrm>
              <a:off x="2231291" y="1532129"/>
              <a:ext cx="426801" cy="81121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5" name="Line 102"/>
            <p:cNvSpPr>
              <a:spLocks noChangeAspect="1" noChangeShapeType="1"/>
            </p:cNvSpPr>
            <p:nvPr/>
          </p:nvSpPr>
          <p:spPr bwMode="auto">
            <a:xfrm>
              <a:off x="2342070" y="1361460"/>
              <a:ext cx="414898" cy="788593"/>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102"/>
            <p:cNvSpPr>
              <a:spLocks noChangeAspect="1" noChangeShapeType="1"/>
            </p:cNvSpPr>
            <p:nvPr/>
          </p:nvSpPr>
          <p:spPr bwMode="auto">
            <a:xfrm>
              <a:off x="2539385" y="1354409"/>
              <a:ext cx="319662" cy="607578"/>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102"/>
            <p:cNvSpPr>
              <a:spLocks noChangeAspect="1" noChangeShapeType="1"/>
            </p:cNvSpPr>
            <p:nvPr/>
          </p:nvSpPr>
          <p:spPr bwMode="auto">
            <a:xfrm>
              <a:off x="2750266" y="1361461"/>
              <a:ext cx="208482" cy="396260"/>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102"/>
            <p:cNvSpPr>
              <a:spLocks noChangeAspect="1" noChangeShapeType="1"/>
            </p:cNvSpPr>
            <p:nvPr/>
          </p:nvSpPr>
          <p:spPr bwMode="auto">
            <a:xfrm>
              <a:off x="2959904" y="1353587"/>
              <a:ext cx="113802" cy="216302"/>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9" name="Line 95"/>
            <p:cNvSpPr>
              <a:spLocks noChangeAspect="1" noChangeShapeType="1"/>
            </p:cNvSpPr>
            <p:nvPr/>
          </p:nvSpPr>
          <p:spPr bwMode="auto">
            <a:xfrm flipH="1">
              <a:off x="2230622" y="1353587"/>
              <a:ext cx="98872" cy="187787"/>
            </a:xfrm>
            <a:prstGeom prst="line">
              <a:avLst/>
            </a:prstGeom>
            <a:noFill/>
            <a:ln w="63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80" name="直接连接符 79"/>
            <p:cNvCxnSpPr/>
            <p:nvPr/>
          </p:nvCxnSpPr>
          <p:spPr bwMode="auto">
            <a:xfrm>
              <a:off x="1234002" y="3149399"/>
              <a:ext cx="2467056"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1" name="组合 80"/>
            <p:cNvGrpSpPr/>
            <p:nvPr/>
          </p:nvGrpSpPr>
          <p:grpSpPr>
            <a:xfrm>
              <a:off x="1916265" y="1494850"/>
              <a:ext cx="1233777" cy="1049571"/>
              <a:chOff x="3856383" y="3077155"/>
              <a:chExt cx="1233777" cy="1049571"/>
            </a:xfrm>
          </p:grpSpPr>
          <p:sp>
            <p:nvSpPr>
              <p:cNvPr id="82" name="Rectangle 9"/>
              <p:cNvSpPr>
                <a:spLocks noChangeArrowheads="1"/>
              </p:cNvSpPr>
              <p:nvPr/>
            </p:nvSpPr>
            <p:spPr bwMode="auto">
              <a:xfrm>
                <a:off x="4176642" y="3563423"/>
                <a:ext cx="272936" cy="253731"/>
              </a:xfrm>
              <a:prstGeom prst="rect">
                <a:avLst/>
              </a:prstGeom>
              <a:solidFill>
                <a:schemeClr val="accent1">
                  <a:lumMod val="75000"/>
                </a:schemeClr>
              </a:solidFill>
              <a:ln w="12700">
                <a:solidFill>
                  <a:srgbClr val="C00000"/>
                </a:solidFill>
                <a:miter lim="800000"/>
                <a:headEnd/>
                <a:tailEnd/>
              </a:ln>
            </p:spPr>
            <p:txBody>
              <a:bodyPr wrap="none" anchor="ctr"/>
              <a:lstStyle/>
              <a:p>
                <a:endParaRPr lang="zh-CN" altLang="en-US"/>
              </a:p>
            </p:txBody>
          </p:sp>
          <p:sp>
            <p:nvSpPr>
              <p:cNvPr id="83" name="Line 12"/>
              <p:cNvSpPr>
                <a:spLocks noChangeShapeType="1"/>
              </p:cNvSpPr>
              <p:nvPr/>
            </p:nvSpPr>
            <p:spPr bwMode="auto">
              <a:xfrm rot="16200000">
                <a:off x="4171076" y="3977647"/>
                <a:ext cx="29815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Text Box 14"/>
              <p:cNvSpPr txBox="1">
                <a:spLocks noChangeArrowheads="1"/>
              </p:cNvSpPr>
              <p:nvPr/>
            </p:nvSpPr>
            <p:spPr bwMode="auto">
              <a:xfrm>
                <a:off x="4358959" y="3077155"/>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v</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85" name="Line 13"/>
              <p:cNvSpPr>
                <a:spLocks noChangeShapeType="1"/>
              </p:cNvSpPr>
              <p:nvPr/>
            </p:nvSpPr>
            <p:spPr bwMode="auto">
              <a:xfrm rot="5400000">
                <a:off x="4178987" y="3409158"/>
                <a:ext cx="2823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Line 10"/>
              <p:cNvSpPr>
                <a:spLocks noChangeShapeType="1"/>
              </p:cNvSpPr>
              <p:nvPr/>
            </p:nvSpPr>
            <p:spPr bwMode="auto">
              <a:xfrm rot="10800000">
                <a:off x="4446038" y="3691381"/>
                <a:ext cx="27703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 name="Line 10"/>
              <p:cNvSpPr>
                <a:spLocks noChangeShapeType="1"/>
              </p:cNvSpPr>
              <p:nvPr/>
            </p:nvSpPr>
            <p:spPr bwMode="auto">
              <a:xfrm rot="10800000" flipH="1" flipV="1">
                <a:off x="3856383" y="3684753"/>
                <a:ext cx="29089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 name="Text Box 14"/>
              <p:cNvSpPr txBox="1">
                <a:spLocks noChangeArrowheads="1"/>
              </p:cNvSpPr>
              <p:nvPr/>
            </p:nvSpPr>
            <p:spPr bwMode="auto">
              <a:xfrm>
                <a:off x="4702190" y="3619169"/>
                <a:ext cx="387970" cy="413168"/>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h</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grpSp>
      </p:grpSp>
      <p:sp>
        <p:nvSpPr>
          <p:cNvPr id="89" name="任意多边形 88"/>
          <p:cNvSpPr/>
          <p:nvPr/>
        </p:nvSpPr>
        <p:spPr bwMode="auto">
          <a:xfrm>
            <a:off x="5653781" y="883291"/>
            <a:ext cx="862790" cy="1425707"/>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611" h="1808777">
                <a:moveTo>
                  <a:pt x="0" y="400468"/>
                </a:moveTo>
                <a:lnTo>
                  <a:pt x="290339" y="1808777"/>
                </a:lnTo>
                <a:lnTo>
                  <a:pt x="1094611" y="0"/>
                </a:lnTo>
                <a:lnTo>
                  <a:pt x="814284" y="70082"/>
                </a:lnTo>
                <a:lnTo>
                  <a:pt x="530619" y="176873"/>
                </a:lnTo>
                <a:lnTo>
                  <a:pt x="240281" y="290339"/>
                </a:lnTo>
                <a:lnTo>
                  <a:pt x="0" y="400468"/>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0" name="任意多边形 89"/>
          <p:cNvSpPr/>
          <p:nvPr/>
        </p:nvSpPr>
        <p:spPr bwMode="auto">
          <a:xfrm>
            <a:off x="5333874" y="1191368"/>
            <a:ext cx="540014" cy="1119222"/>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1" name="直接箭头连接符 90"/>
          <p:cNvCxnSpPr/>
          <p:nvPr/>
        </p:nvCxnSpPr>
        <p:spPr bwMode="auto">
          <a:xfrm flipV="1">
            <a:off x="7105699" y="1647883"/>
            <a:ext cx="235523" cy="249388"/>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Line 70"/>
          <p:cNvSpPr>
            <a:spLocks noChangeShapeType="1"/>
          </p:cNvSpPr>
          <p:nvPr/>
        </p:nvSpPr>
        <p:spPr bwMode="auto">
          <a:xfrm flipV="1">
            <a:off x="5885067" y="898444"/>
            <a:ext cx="628964" cy="1408872"/>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Text Box 75"/>
          <p:cNvSpPr txBox="1">
            <a:spLocks noChangeArrowheads="1"/>
          </p:cNvSpPr>
          <p:nvPr/>
        </p:nvSpPr>
        <p:spPr bwMode="auto">
          <a:xfrm>
            <a:off x="5452038" y="1993008"/>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sp>
        <p:nvSpPr>
          <p:cNvPr id="94" name="任意多边形 93"/>
          <p:cNvSpPr/>
          <p:nvPr/>
        </p:nvSpPr>
        <p:spPr bwMode="auto">
          <a:xfrm>
            <a:off x="5642201" y="857553"/>
            <a:ext cx="990241" cy="338458"/>
          </a:xfrm>
          <a:custGeom>
            <a:avLst/>
            <a:gdLst>
              <a:gd name="connsiteX0" fmla="*/ 0 w 1884459"/>
              <a:gd name="connsiteY0" fmla="*/ 659958 h 659958"/>
              <a:gd name="connsiteX1" fmla="*/ 246490 w 1884459"/>
              <a:gd name="connsiteY1" fmla="*/ 532738 h 659958"/>
              <a:gd name="connsiteX2" fmla="*/ 691763 w 1884459"/>
              <a:gd name="connsiteY2" fmla="*/ 318052 h 659958"/>
              <a:gd name="connsiteX3" fmla="*/ 1256306 w 1884459"/>
              <a:gd name="connsiteY3" fmla="*/ 135172 h 659958"/>
              <a:gd name="connsiteX4" fmla="*/ 1884459 w 1884459"/>
              <a:gd name="connsiteY4" fmla="*/ 0 h 659958"/>
              <a:gd name="connsiteX0" fmla="*/ 0 w 1256306"/>
              <a:gd name="connsiteY0" fmla="*/ 524786 h 524786"/>
              <a:gd name="connsiteX1" fmla="*/ 246490 w 1256306"/>
              <a:gd name="connsiteY1" fmla="*/ 397566 h 524786"/>
              <a:gd name="connsiteX2" fmla="*/ 691763 w 1256306"/>
              <a:gd name="connsiteY2" fmla="*/ 182880 h 524786"/>
              <a:gd name="connsiteX3" fmla="*/ 1256306 w 1256306"/>
              <a:gd name="connsiteY3" fmla="*/ 0 h 524786"/>
            </a:gdLst>
            <a:ahLst/>
            <a:cxnLst>
              <a:cxn ang="0">
                <a:pos x="connsiteX0" y="connsiteY0"/>
              </a:cxn>
              <a:cxn ang="0">
                <a:pos x="connsiteX1" y="connsiteY1"/>
              </a:cxn>
              <a:cxn ang="0">
                <a:pos x="connsiteX2" y="connsiteY2"/>
              </a:cxn>
              <a:cxn ang="0">
                <a:pos x="connsiteX3" y="connsiteY3"/>
              </a:cxn>
            </a:cxnLst>
            <a:rect l="l" t="t" r="r" b="b"/>
            <a:pathLst>
              <a:path w="1256306" h="524786">
                <a:moveTo>
                  <a:pt x="0" y="524786"/>
                </a:moveTo>
                <a:cubicBezTo>
                  <a:pt x="67586" y="490330"/>
                  <a:pt x="131196" y="454550"/>
                  <a:pt x="246490" y="397566"/>
                </a:cubicBezTo>
                <a:cubicBezTo>
                  <a:pt x="361784" y="340582"/>
                  <a:pt x="523460" y="249141"/>
                  <a:pt x="691763" y="182880"/>
                </a:cubicBezTo>
                <a:cubicBezTo>
                  <a:pt x="860066" y="116619"/>
                  <a:pt x="1057523" y="53009"/>
                  <a:pt x="1256306" y="0"/>
                </a:cubicBezTo>
              </a:path>
            </a:pathLst>
          </a:cu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5" name="直接连接符 94"/>
          <p:cNvCxnSpPr/>
          <p:nvPr/>
        </p:nvCxnSpPr>
        <p:spPr bwMode="auto">
          <a:xfrm flipH="1">
            <a:off x="5513458" y="1799961"/>
            <a:ext cx="256932"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箭头连接符 95"/>
          <p:cNvCxnSpPr/>
          <p:nvPr/>
        </p:nvCxnSpPr>
        <p:spPr bwMode="auto">
          <a:xfrm flipV="1">
            <a:off x="5519626" y="1803228"/>
            <a:ext cx="259351" cy="274617"/>
          </a:xfrm>
          <a:prstGeom prst="straightConnector1">
            <a:avLst/>
          </a:prstGeom>
          <a:noFill/>
          <a:ln w="190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任意多边形 96"/>
          <p:cNvSpPr/>
          <p:nvPr/>
        </p:nvSpPr>
        <p:spPr bwMode="auto">
          <a:xfrm rot="4552046">
            <a:off x="5711594" y="1751581"/>
            <a:ext cx="56752" cy="56752"/>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8" name="直接连接符 97"/>
          <p:cNvCxnSpPr/>
          <p:nvPr/>
        </p:nvCxnSpPr>
        <p:spPr bwMode="auto">
          <a:xfrm>
            <a:off x="5633836" y="2310500"/>
            <a:ext cx="1039257"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任意多边形 98"/>
          <p:cNvSpPr/>
          <p:nvPr/>
        </p:nvSpPr>
        <p:spPr bwMode="auto">
          <a:xfrm rot="7512567" flipV="1">
            <a:off x="5951642" y="2166842"/>
            <a:ext cx="87115" cy="14163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0" name="Rectangle 74"/>
          <p:cNvSpPr>
            <a:spLocks noChangeArrowheads="1"/>
          </p:cNvSpPr>
          <p:nvPr/>
        </p:nvSpPr>
        <p:spPr bwMode="auto">
          <a:xfrm>
            <a:off x="5983991" y="2023722"/>
            <a:ext cx="292068"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1600" b="1" i="1" dirty="0" smtClean="0">
                <a:solidFill>
                  <a:srgbClr val="993300"/>
                </a:solidFill>
                <a:latin typeface="Times New Roman" panose="02020603050405020304" pitchFamily="18" charset="0"/>
                <a:sym typeface="Symbol" panose="05050102010706020507" pitchFamily="18" charset="2"/>
              </a:rPr>
              <a:t></a:t>
            </a:r>
            <a:endParaRPr kumimoji="1" lang="en-US" altLang="zh-CN" sz="1600" b="1" i="1" dirty="0">
              <a:solidFill>
                <a:srgbClr val="993300"/>
              </a:solidFill>
              <a:latin typeface="Times New Roman" panose="02020603050405020304" pitchFamily="18" charset="0"/>
              <a:sym typeface="Symbol" panose="05050102010706020507" pitchFamily="18" charset="2"/>
            </a:endParaRPr>
          </a:p>
        </p:txBody>
      </p:sp>
      <p:cxnSp>
        <p:nvCxnSpPr>
          <p:cNvPr id="101" name="直接箭头连接符 100"/>
          <p:cNvCxnSpPr/>
          <p:nvPr/>
        </p:nvCxnSpPr>
        <p:spPr bwMode="auto">
          <a:xfrm>
            <a:off x="5950112" y="1359295"/>
            <a:ext cx="0" cy="396585"/>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 Box 75"/>
          <p:cNvSpPr txBox="1">
            <a:spLocks noChangeArrowheads="1"/>
          </p:cNvSpPr>
          <p:nvPr/>
        </p:nvSpPr>
        <p:spPr bwMode="auto">
          <a:xfrm>
            <a:off x="5917450" y="1192768"/>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cxnSp>
        <p:nvCxnSpPr>
          <p:cNvPr id="103" name="直接连接符 102"/>
          <p:cNvCxnSpPr/>
          <p:nvPr/>
        </p:nvCxnSpPr>
        <p:spPr bwMode="auto">
          <a:xfrm rot="11211980" flipH="1" flipV="1">
            <a:off x="6208209" y="1589647"/>
            <a:ext cx="261834" cy="5628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任意多边形 103"/>
          <p:cNvSpPr/>
          <p:nvPr/>
        </p:nvSpPr>
        <p:spPr bwMode="auto">
          <a:xfrm rot="6659934" flipV="1">
            <a:off x="6217308" y="1529124"/>
            <a:ext cx="56752" cy="5783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5" name="直接箭头连接符 104"/>
          <p:cNvCxnSpPr/>
          <p:nvPr/>
        </p:nvCxnSpPr>
        <p:spPr bwMode="auto">
          <a:xfrm rot="11211980">
            <a:off x="6189679" y="1588437"/>
            <a:ext cx="264300" cy="274618"/>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Text Box 75"/>
          <p:cNvSpPr txBox="1">
            <a:spLocks noChangeArrowheads="1"/>
          </p:cNvSpPr>
          <p:nvPr/>
        </p:nvSpPr>
        <p:spPr bwMode="auto">
          <a:xfrm>
            <a:off x="6359650" y="1754579"/>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cxnSp>
        <p:nvCxnSpPr>
          <p:cNvPr id="107" name="直接箭头连接符 106"/>
          <p:cNvCxnSpPr/>
          <p:nvPr/>
        </p:nvCxnSpPr>
        <p:spPr bwMode="auto">
          <a:xfrm rot="11211980">
            <a:off x="7091097" y="1371169"/>
            <a:ext cx="264300" cy="274617"/>
          </a:xfrm>
          <a:prstGeom prst="straightConnector1">
            <a:avLst/>
          </a:prstGeom>
          <a:noFill/>
          <a:ln w="19050"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箭头连接符 107"/>
          <p:cNvCxnSpPr/>
          <p:nvPr/>
        </p:nvCxnSpPr>
        <p:spPr bwMode="auto">
          <a:xfrm>
            <a:off x="7102157" y="1358872"/>
            <a:ext cx="0" cy="556588"/>
          </a:xfrm>
          <a:prstGeom prst="straightConnector1">
            <a:avLst/>
          </a:prstGeom>
          <a:noFill/>
          <a:ln w="190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Text Box 75"/>
          <p:cNvSpPr txBox="1">
            <a:spLocks noChangeArrowheads="1"/>
          </p:cNvSpPr>
          <p:nvPr/>
        </p:nvSpPr>
        <p:spPr bwMode="auto">
          <a:xfrm>
            <a:off x="6746021" y="1474632"/>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sp>
        <p:nvSpPr>
          <p:cNvPr id="110" name="Text Box 75"/>
          <p:cNvSpPr txBox="1">
            <a:spLocks noChangeArrowheads="1"/>
          </p:cNvSpPr>
          <p:nvPr/>
        </p:nvSpPr>
        <p:spPr bwMode="auto">
          <a:xfrm>
            <a:off x="7184853" y="1269904"/>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sp>
        <p:nvSpPr>
          <p:cNvPr id="111" name="Text Box 75"/>
          <p:cNvSpPr txBox="1">
            <a:spLocks noChangeArrowheads="1"/>
          </p:cNvSpPr>
          <p:nvPr/>
        </p:nvSpPr>
        <p:spPr bwMode="auto">
          <a:xfrm>
            <a:off x="7197543" y="1736472"/>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a:solidFill>
                  <a:srgbClr val="C00000"/>
                </a:solidFill>
                <a:latin typeface="Times New Roman" panose="02020603050405020304" pitchFamily="18" charset="0"/>
                <a:sym typeface="Symbol" panose="05050102010706020507" pitchFamily="18" charset="2"/>
              </a:rPr>
              <a:t>E</a:t>
            </a:r>
            <a:endParaRPr kumimoji="1" lang="en-US" altLang="zh-CN" sz="1600" b="1" dirty="0">
              <a:solidFill>
                <a:srgbClr val="C00000"/>
              </a:solidFill>
              <a:latin typeface="Times New Roman" panose="02020603050405020304" pitchFamily="18" charset="0"/>
              <a:sym typeface="Symbol" panose="05050102010706020507" pitchFamily="18" charset="2"/>
            </a:endParaRPr>
          </a:p>
        </p:txBody>
      </p:sp>
      <p:cxnSp>
        <p:nvCxnSpPr>
          <p:cNvPr id="112" name="直接连接符 111"/>
          <p:cNvCxnSpPr/>
          <p:nvPr/>
        </p:nvCxnSpPr>
        <p:spPr bwMode="auto">
          <a:xfrm>
            <a:off x="4524292" y="1210648"/>
            <a:ext cx="0" cy="3721210"/>
          </a:xfrm>
          <a:prstGeom prst="line">
            <a:avLst/>
          </a:prstGeom>
          <a:noFill/>
          <a:ln w="50800" cap="flat" cmpd="dbl"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TextBox 112"/>
          <p:cNvSpPr txBox="1"/>
          <p:nvPr/>
        </p:nvSpPr>
        <p:spPr>
          <a:xfrm>
            <a:off x="1836751" y="2478250"/>
            <a:ext cx="1488869" cy="517065"/>
          </a:xfrm>
          <a:prstGeom prst="rect">
            <a:avLst/>
          </a:prstGeom>
          <a:noFill/>
        </p:spPr>
        <p:txBody>
          <a:bodyPr wrap="none" rtlCol="0">
            <a:spAutoFit/>
          </a:bodyPr>
          <a:lstStyle/>
          <a:p>
            <a:r>
              <a:rPr lang="zh-CN" altLang="en-US" sz="2400" b="1" kern="900" spc="130" dirty="0">
                <a:solidFill>
                  <a:srgbClr val="A50021"/>
                </a:solidFill>
                <a:ea typeface="黑体" panose="02010609060101010101" pitchFamily="49" charset="-122"/>
                <a:cs typeface="Times New Roman" panose="02020603050405020304" pitchFamily="18" charset="0"/>
              </a:rPr>
              <a:t>郎</a:t>
            </a:r>
            <a:r>
              <a:rPr lang="zh-CN" altLang="en-US" sz="2400" b="1" kern="900" spc="130" dirty="0" smtClean="0">
                <a:solidFill>
                  <a:srgbClr val="A50021"/>
                </a:solidFill>
                <a:ea typeface="黑体" panose="02010609060101010101" pitchFamily="49" charset="-122"/>
                <a:cs typeface="Times New Roman" panose="02020603050405020304" pitchFamily="18" charset="0"/>
              </a:rPr>
              <a:t>肯理论</a:t>
            </a:r>
            <a:endParaRPr lang="zh-CN" altLang="en-US" sz="2400" dirty="0">
              <a:solidFill>
                <a:srgbClr val="A50021"/>
              </a:solidFill>
            </a:endParaRPr>
          </a:p>
        </p:txBody>
      </p:sp>
      <p:sp>
        <p:nvSpPr>
          <p:cNvPr id="114" name="TextBox 113"/>
          <p:cNvSpPr txBox="1"/>
          <p:nvPr/>
        </p:nvSpPr>
        <p:spPr>
          <a:xfrm>
            <a:off x="5690768" y="2503427"/>
            <a:ext cx="1488869" cy="479298"/>
          </a:xfrm>
          <a:prstGeom prst="rect">
            <a:avLst/>
          </a:prstGeom>
          <a:noFill/>
        </p:spPr>
        <p:txBody>
          <a:bodyPr wrap="none" rtlCol="0">
            <a:spAutoFit/>
          </a:bodyPr>
          <a:lstStyle/>
          <a:p>
            <a:r>
              <a:rPr lang="zh-CN" altLang="en-US" sz="2400" b="1" kern="900" spc="130" dirty="0" smtClean="0">
                <a:solidFill>
                  <a:srgbClr val="A50021"/>
                </a:solidFill>
                <a:ea typeface="黑体" panose="02010609060101010101" pitchFamily="49" charset="-122"/>
                <a:cs typeface="Times New Roman" panose="02020603050405020304" pitchFamily="18" charset="0"/>
              </a:rPr>
              <a:t>库伦理论</a:t>
            </a:r>
            <a:endParaRPr lang="zh-CN" altLang="en-US" sz="2400" dirty="0">
              <a:solidFill>
                <a:srgbClr val="A50021"/>
              </a:solidFill>
            </a:endParaRPr>
          </a:p>
        </p:txBody>
      </p:sp>
      <p:sp>
        <p:nvSpPr>
          <p:cNvPr id="115" name="Text Box 4"/>
          <p:cNvSpPr txBox="1">
            <a:spLocks noChangeArrowheads="1"/>
          </p:cNvSpPr>
          <p:nvPr/>
        </p:nvSpPr>
        <p:spPr bwMode="auto">
          <a:xfrm>
            <a:off x="472489" y="3150570"/>
            <a:ext cx="2937850" cy="4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200" b="1" dirty="0" smtClean="0">
                <a:solidFill>
                  <a:srgbClr val="A50021"/>
                </a:solidFill>
                <a:latin typeface="黑体" panose="02010609060101010101" pitchFamily="49" charset="-122"/>
                <a:ea typeface="黑体" panose="02010609060101010101" pitchFamily="49" charset="-122"/>
              </a:rPr>
              <a:t>理想简单</a:t>
            </a:r>
            <a:r>
              <a:rPr lang="zh-CN" altLang="en-US" sz="2200" b="1" dirty="0" smtClean="0">
                <a:solidFill>
                  <a:srgbClr val="000066"/>
                </a:solidFill>
                <a:latin typeface="幼圆" panose="02010509060101010101" pitchFamily="49" charset="-122"/>
                <a:ea typeface="幼圆" panose="02010509060101010101" pitchFamily="49" charset="-122"/>
              </a:rPr>
              <a:t>边界条件</a:t>
            </a:r>
            <a:endParaRPr lang="en-US" altLang="zh-CN" sz="2200" b="1" dirty="0">
              <a:solidFill>
                <a:srgbClr val="000066"/>
              </a:solidFill>
              <a:latin typeface="幼圆" panose="02010509060101010101" pitchFamily="49" charset="-122"/>
              <a:ea typeface="幼圆" panose="02010509060101010101" pitchFamily="49" charset="-122"/>
            </a:endParaRPr>
          </a:p>
        </p:txBody>
      </p:sp>
      <p:sp>
        <p:nvSpPr>
          <p:cNvPr id="117" name="Text Box 4"/>
          <p:cNvSpPr txBox="1">
            <a:spLocks noChangeArrowheads="1"/>
          </p:cNvSpPr>
          <p:nvPr/>
        </p:nvSpPr>
        <p:spPr bwMode="auto">
          <a:xfrm>
            <a:off x="4882801" y="3148846"/>
            <a:ext cx="3651596" cy="4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9875" indent="-269875" eaLnBrk="1" hangingPunct="1">
              <a:lnSpc>
                <a:spcPct val="114000"/>
              </a:lnSpc>
              <a:spcBef>
                <a:spcPts val="0"/>
              </a:spcBef>
              <a:spcAft>
                <a:spcPts val="200"/>
              </a:spcAft>
              <a:buClr>
                <a:srgbClr val="A50021"/>
              </a:buClr>
              <a:buFont typeface="Wingdings" panose="05000000000000000000" pitchFamily="2" charset="2"/>
              <a:buChar char="Ø"/>
              <a:tabLst>
                <a:tab pos="361950" algn="l"/>
              </a:tabLst>
            </a:pPr>
            <a:r>
              <a:rPr lang="zh-CN" altLang="en-US" sz="2200" b="1" dirty="0" smtClean="0">
                <a:solidFill>
                  <a:srgbClr val="A50021"/>
                </a:solidFill>
                <a:latin typeface="黑体" panose="02010609060101010101" pitchFamily="49" charset="-122"/>
                <a:ea typeface="黑体" panose="02010609060101010101" pitchFamily="49" charset="-122"/>
              </a:rPr>
              <a:t>较为复杂</a:t>
            </a:r>
            <a:r>
              <a:rPr lang="zh-CN" altLang="en-US" sz="2200" b="1" dirty="0" smtClean="0">
                <a:solidFill>
                  <a:srgbClr val="000066"/>
                </a:solidFill>
                <a:latin typeface="幼圆" panose="02010509060101010101" pitchFamily="49" charset="-122"/>
                <a:ea typeface="幼圆" panose="02010509060101010101" pitchFamily="49" charset="-122"/>
              </a:rPr>
              <a:t>的实际边界条件</a:t>
            </a:r>
            <a:endParaRPr lang="en-US" altLang="zh-CN" sz="2200" b="1" dirty="0">
              <a:solidFill>
                <a:srgbClr val="000066"/>
              </a:solidFill>
              <a:latin typeface="幼圆" panose="02010509060101010101" pitchFamily="49" charset="-122"/>
              <a:ea typeface="幼圆" panose="02010509060101010101" pitchFamily="49" charset="-122"/>
            </a:endParaRPr>
          </a:p>
        </p:txBody>
      </p:sp>
      <p:sp>
        <p:nvSpPr>
          <p:cNvPr id="118" name="Rectangle 3"/>
          <p:cNvSpPr txBox="1">
            <a:spLocks noChangeArrowheads="1"/>
          </p:cNvSpPr>
          <p:nvPr/>
        </p:nvSpPr>
        <p:spPr bwMode="auto">
          <a:xfrm>
            <a:off x="718092" y="3657131"/>
            <a:ext cx="3718736" cy="156157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rPr>
              <a:t>墙背垂直光滑</a:t>
            </a:r>
          </a:p>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rPr>
              <a:t>填土水平</a:t>
            </a:r>
          </a:p>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rPr>
              <a:t>墙背垂直，填土</a:t>
            </a:r>
            <a:r>
              <a:rPr lang="zh-CN" altLang="en-US" sz="2000" b="1" kern="0" dirty="0" smtClean="0">
                <a:solidFill>
                  <a:srgbClr val="000066"/>
                </a:solidFill>
                <a:latin typeface="幼圆" panose="02010509060101010101" pitchFamily="49" charset="-122"/>
                <a:ea typeface="幼圆" panose="02010509060101010101" pitchFamily="49" charset="-122"/>
              </a:rPr>
              <a:t>倾斜（附录</a:t>
            </a:r>
            <a:r>
              <a:rPr lang="en-US" altLang="zh-CN" sz="2000" b="1" kern="0" dirty="0" smtClean="0">
                <a:solidFill>
                  <a:srgbClr val="000066"/>
                </a:solidFill>
                <a:latin typeface="幼圆" panose="02010509060101010101" pitchFamily="49" charset="-122"/>
                <a:ea typeface="幼圆" panose="02010509060101010101" pitchFamily="49" charset="-122"/>
              </a:rPr>
              <a:t>IV</a:t>
            </a:r>
            <a:r>
              <a:rPr lang="zh-CN" altLang="en-US" sz="2000" b="1" kern="0" dirty="0" smtClean="0">
                <a:solidFill>
                  <a:srgbClr val="000066"/>
                </a:solidFill>
                <a:latin typeface="幼圆" panose="02010509060101010101" pitchFamily="49" charset="-122"/>
                <a:ea typeface="幼圆" panose="02010509060101010101" pitchFamily="49" charset="-122"/>
              </a:rPr>
              <a:t>）</a:t>
            </a:r>
            <a:endParaRPr lang="en-US" altLang="zh-CN" sz="2000" b="1" kern="0" dirty="0" smtClean="0">
              <a:solidFill>
                <a:srgbClr val="000066"/>
              </a:solidFill>
              <a:latin typeface="幼圆" panose="02010509060101010101" pitchFamily="49" charset="-122"/>
              <a:ea typeface="幼圆" panose="02010509060101010101" pitchFamily="49" charset="-122"/>
            </a:endParaRPr>
          </a:p>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sym typeface="Symbol" panose="05050102010706020507" pitchFamily="18" charset="2"/>
              </a:rPr>
              <a:t>坦墙</a:t>
            </a:r>
          </a:p>
          <a:p>
            <a:pPr marL="139700" indent="-182563">
              <a:lnSpc>
                <a:spcPct val="120000"/>
              </a:lnSpc>
              <a:spcBef>
                <a:spcPts val="0"/>
              </a:spcBef>
              <a:spcAft>
                <a:spcPts val="0"/>
              </a:spcAft>
              <a:buClr>
                <a:srgbClr val="C00000"/>
              </a:buClr>
              <a:buSzPct val="130000"/>
              <a:buFont typeface="Arial" panose="020B0604020202020204" pitchFamily="34" charset="0"/>
              <a:buChar char="•"/>
            </a:pPr>
            <a:endParaRPr lang="zh-CN" altLang="en-US" sz="2000" b="1" i="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120" name="Rectangle 3"/>
          <p:cNvSpPr txBox="1">
            <a:spLocks noChangeArrowheads="1"/>
          </p:cNvSpPr>
          <p:nvPr/>
        </p:nvSpPr>
        <p:spPr bwMode="auto">
          <a:xfrm>
            <a:off x="5187678" y="3707931"/>
            <a:ext cx="3194319" cy="1239839"/>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a:solidFill>
                  <a:srgbClr val="000066"/>
                </a:solidFill>
                <a:latin typeface="幼圆" panose="02010509060101010101" pitchFamily="49" charset="-122"/>
                <a:ea typeface="幼圆" panose="02010509060101010101" pitchFamily="49" charset="-122"/>
              </a:rPr>
              <a:t>墙</a:t>
            </a:r>
            <a:r>
              <a:rPr lang="zh-CN" altLang="en-US" sz="2000" b="1" kern="0" dirty="0" smtClean="0">
                <a:solidFill>
                  <a:srgbClr val="000066"/>
                </a:solidFill>
                <a:latin typeface="幼圆" panose="02010509060101010101" pitchFamily="49" charset="-122"/>
                <a:ea typeface="幼圆" panose="02010509060101010101" pitchFamily="49" charset="-122"/>
              </a:rPr>
              <a:t>背和填</a:t>
            </a:r>
            <a:r>
              <a:rPr lang="zh-CN" altLang="en-US" sz="2000" b="1" kern="0" dirty="0">
                <a:solidFill>
                  <a:srgbClr val="000066"/>
                </a:solidFill>
                <a:latin typeface="幼圆" panose="02010509060101010101" pitchFamily="49" charset="-122"/>
                <a:ea typeface="幼圆" panose="02010509060101010101" pitchFamily="49" charset="-122"/>
              </a:rPr>
              <a:t>土无限制</a:t>
            </a:r>
          </a:p>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rPr>
              <a:t>黏性</a:t>
            </a:r>
            <a:r>
              <a:rPr lang="zh-CN" altLang="en-US" sz="2000" b="1" kern="0" dirty="0">
                <a:solidFill>
                  <a:srgbClr val="000066"/>
                </a:solidFill>
                <a:latin typeface="幼圆" panose="02010509060101010101" pitchFamily="49" charset="-122"/>
                <a:ea typeface="幼圆" panose="02010509060101010101" pitchFamily="49" charset="-122"/>
              </a:rPr>
              <a:t>土一般用图解法</a:t>
            </a:r>
          </a:p>
          <a:p>
            <a:pPr marL="139700" indent="-182563">
              <a:lnSpc>
                <a:spcPct val="120000"/>
              </a:lnSpc>
              <a:spcBef>
                <a:spcPts val="0"/>
              </a:spcBef>
              <a:spcAft>
                <a:spcPts val="0"/>
              </a:spcAft>
              <a:buClr>
                <a:srgbClr val="C00000"/>
              </a:buClr>
              <a:buSzPct val="130000"/>
              <a:buFont typeface="Arial" panose="020B0604020202020204" pitchFamily="34" charset="0"/>
              <a:buChar char="•"/>
            </a:pPr>
            <a:r>
              <a:rPr lang="zh-CN" altLang="en-US" sz="2000" b="1" kern="0"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坦墙</a:t>
            </a:r>
            <a:endParaRPr lang="zh-CN" altLang="en-US" sz="2000" b="1" kern="0"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62"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应用</a:t>
            </a:r>
            <a:r>
              <a:rPr lang="zh-CN" altLang="en-US" sz="1800" b="1" kern="900" spc="130" dirty="0">
                <a:solidFill>
                  <a:srgbClr val="000066"/>
                </a:solidFill>
                <a:ea typeface="黑体" panose="02010609060101010101" pitchFamily="49" charset="-122"/>
                <a:cs typeface="Times New Roman" panose="02020603050405020304" pitchFamily="18" charset="0"/>
              </a:rPr>
              <a:t>条件</a:t>
            </a:r>
          </a:p>
        </p:txBody>
      </p:sp>
      <p:sp>
        <p:nvSpPr>
          <p:cNvPr id="116" name="Text Box 2"/>
          <p:cNvSpPr txBox="1">
            <a:spLocks noChangeArrowheads="1"/>
          </p:cNvSpPr>
          <p:nvPr/>
        </p:nvSpPr>
        <p:spPr bwMode="auto">
          <a:xfrm>
            <a:off x="1712823" y="5671015"/>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两种</a:t>
            </a:r>
            <a:r>
              <a:rPr kumimoji="1" lang="zh-CN" altLang="en-US" sz="4000" b="1" dirty="0">
                <a:solidFill>
                  <a:srgbClr val="000066"/>
                </a:solidFill>
                <a:latin typeface="黑体" pitchFamily="2" charset="-122"/>
                <a:ea typeface="黑体" pitchFamily="2" charset="-122"/>
              </a:rPr>
              <a:t>土压力理论的应用条件</a:t>
            </a:r>
          </a:p>
        </p:txBody>
      </p:sp>
    </p:spTree>
    <p:extLst>
      <p:ext uri="{BB962C8B-B14F-4D97-AF65-F5344CB8AC3E}">
        <p14:creationId xmlns:p14="http://schemas.microsoft.com/office/powerpoint/2010/main" val="2295960059"/>
      </p:ext>
    </p:extLst>
  </p:cSld>
  <p:clrMapOvr>
    <a:masterClrMapping/>
  </p:clrMapOvr>
  <p:transition spd="med">
    <p:wipe di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65</a:t>
            </a:fld>
            <a:endParaRPr lang="zh-CN" altLang="en-US" dirty="0">
              <a:solidFill>
                <a:srgbClr val="C00000"/>
              </a:solidFill>
              <a:cs typeface="Times New Roman" panose="02020603050405020304" pitchFamily="18" charset="0"/>
            </a:endParaRPr>
          </a:p>
        </p:txBody>
      </p:sp>
      <p:sp>
        <p:nvSpPr>
          <p:cNvPr id="7" name="Rectangle 3"/>
          <p:cNvSpPr txBox="1">
            <a:spLocks noChangeArrowheads="1"/>
          </p:cNvSpPr>
          <p:nvPr/>
        </p:nvSpPr>
        <p:spPr bwMode="auto">
          <a:xfrm>
            <a:off x="432532" y="536298"/>
            <a:ext cx="4683997"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墙</a:t>
            </a:r>
            <a:r>
              <a:rPr lang="zh-CN" altLang="en-US" sz="2400" b="1" kern="0" dirty="0">
                <a:solidFill>
                  <a:srgbClr val="A50021"/>
                </a:solidFill>
                <a:latin typeface="微软雅黑" panose="020B0503020204020204" pitchFamily="34" charset="-122"/>
                <a:ea typeface="微软雅黑" panose="020B0503020204020204" pitchFamily="34" charset="-122"/>
              </a:rPr>
              <a:t>背摩擦对郎肯</a:t>
            </a:r>
            <a:r>
              <a:rPr lang="zh-CN" altLang="en-US" sz="2400" b="1" kern="0" dirty="0" smtClean="0">
                <a:solidFill>
                  <a:srgbClr val="A50021"/>
                </a:solidFill>
                <a:latin typeface="微软雅黑" panose="020B0503020204020204" pitchFamily="34" charset="-122"/>
                <a:ea typeface="微软雅黑" panose="020B0503020204020204" pitchFamily="34" charset="-122"/>
              </a:rPr>
              <a:t>土压力的影响</a:t>
            </a:r>
            <a:endParaRPr lang="zh-CN" altLang="en-US" sz="2400" b="1" kern="0" dirty="0">
              <a:solidFill>
                <a:srgbClr val="A50021"/>
              </a:solidFill>
              <a:latin typeface="微软雅黑" panose="020B0503020204020204" pitchFamily="34" charset="-122"/>
              <a:ea typeface="微软雅黑" panose="020B0503020204020204" pitchFamily="34" charset="-122"/>
            </a:endParaRPr>
          </a:p>
          <a:p>
            <a:pPr>
              <a:lnSpc>
                <a:spcPct val="150000"/>
              </a:lnSpc>
              <a:spcBef>
                <a:spcPct val="0"/>
              </a:spcBef>
              <a:buClr>
                <a:srgbClr val="C00000"/>
              </a:buClr>
              <a:buSzPct val="100000"/>
              <a:buFont typeface="Wingdings" panose="05000000000000000000" pitchFamily="2" charset="2"/>
              <a:buChar char="n"/>
            </a:pP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10" name="任意多边形 9"/>
          <p:cNvSpPr/>
          <p:nvPr/>
        </p:nvSpPr>
        <p:spPr bwMode="auto">
          <a:xfrm>
            <a:off x="1681686" y="2182139"/>
            <a:ext cx="542210" cy="1397027"/>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 name="直接连接符 10"/>
          <p:cNvCxnSpPr/>
          <p:nvPr/>
        </p:nvCxnSpPr>
        <p:spPr bwMode="auto">
          <a:xfrm>
            <a:off x="2223896" y="2179718"/>
            <a:ext cx="106857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Line 95"/>
          <p:cNvSpPr>
            <a:spLocks noChangeAspect="1" noChangeShapeType="1"/>
          </p:cNvSpPr>
          <p:nvPr/>
        </p:nvSpPr>
        <p:spPr bwMode="auto">
          <a:xfrm flipH="1">
            <a:off x="2236479" y="2178185"/>
            <a:ext cx="737266" cy="1400280"/>
          </a:xfrm>
          <a:prstGeom prst="line">
            <a:avLst/>
          </a:prstGeom>
          <a:noFill/>
          <a:ln w="19050">
            <a:solidFill>
              <a:srgbClr val="000066"/>
            </a:solidFill>
            <a:prstDash val="solid"/>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 name="Text Box 4"/>
          <p:cNvSpPr txBox="1">
            <a:spLocks noChangeArrowheads="1"/>
          </p:cNvSpPr>
          <p:nvPr/>
        </p:nvSpPr>
        <p:spPr bwMode="auto">
          <a:xfrm>
            <a:off x="674875" y="1271909"/>
            <a:ext cx="3743014" cy="51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4000"/>
              </a:lnSpc>
              <a:spcBef>
                <a:spcPts val="0"/>
              </a:spcBef>
              <a:spcAft>
                <a:spcPts val="200"/>
              </a:spcAft>
              <a:buClr>
                <a:srgbClr val="A50021"/>
              </a:buClr>
              <a:buSzPct val="130000"/>
              <a:buFont typeface="Wingdings" panose="05000000000000000000" pitchFamily="2" charset="2"/>
              <a:buChar char=""/>
              <a:tabLst>
                <a:tab pos="361950" algn="l"/>
              </a:tabLst>
            </a:pPr>
            <a:r>
              <a:rPr lang="zh-CN" altLang="en-US" sz="2200" b="1" dirty="0" smtClean="0">
                <a:solidFill>
                  <a:srgbClr val="A50021"/>
                </a:solidFill>
                <a:latin typeface="黑体" panose="02010609060101010101" pitchFamily="49" charset="-122"/>
                <a:ea typeface="黑体" panose="02010609060101010101" pitchFamily="49" charset="-122"/>
              </a:rPr>
              <a:t> </a:t>
            </a:r>
            <a:r>
              <a:rPr lang="zh-CN" altLang="en-US" sz="2200" b="1" dirty="0">
                <a:solidFill>
                  <a:srgbClr val="000066"/>
                </a:solidFill>
                <a:latin typeface="幼圆" panose="02010509060101010101" pitchFamily="49" charset="-122"/>
                <a:ea typeface="幼圆" panose="02010509060101010101" pitchFamily="49" charset="-122"/>
              </a:rPr>
              <a:t>实际工程中一般</a:t>
            </a:r>
            <a:r>
              <a:rPr kumimoji="1" lang="zh-CN" altLang="en-US" sz="2400" b="1" i="1" dirty="0" smtClean="0">
                <a:solidFill>
                  <a:srgbClr val="000066"/>
                </a:solidFill>
                <a:ea typeface="华文新魏" panose="02010800040101010101" pitchFamily="2" charset="-122"/>
                <a:sym typeface="Symbol" panose="05050102010706020507" pitchFamily="18" charset="2"/>
              </a:rPr>
              <a:t> </a:t>
            </a:r>
            <a:r>
              <a:rPr kumimoji="1" lang="zh-CN" altLang="en-US" sz="2400" b="1" dirty="0" smtClean="0">
                <a:solidFill>
                  <a:srgbClr val="000066"/>
                </a:solidFill>
                <a:ea typeface="华文新魏" panose="02010800040101010101" pitchFamily="2" charset="-122"/>
                <a:sym typeface="Symbol" panose="05050102010706020507" pitchFamily="18" charset="2"/>
              </a:rPr>
              <a:t> </a:t>
            </a:r>
            <a:r>
              <a:rPr kumimoji="1" lang="en-US" altLang="zh-CN" sz="2400" b="1" dirty="0" smtClean="0">
                <a:solidFill>
                  <a:srgbClr val="000066"/>
                </a:solidFill>
                <a:ea typeface="华文新魏" panose="02010800040101010101" pitchFamily="2" charset="-122"/>
              </a:rPr>
              <a:t>0</a:t>
            </a:r>
            <a:endParaRPr lang="en-US" altLang="zh-CN" sz="2200" b="1" dirty="0">
              <a:solidFill>
                <a:srgbClr val="000066"/>
              </a:solidFill>
              <a:latin typeface="幼圆" panose="02010509060101010101" pitchFamily="49" charset="-122"/>
              <a:ea typeface="幼圆" panose="02010509060101010101" pitchFamily="49" charset="-122"/>
            </a:endParaRPr>
          </a:p>
        </p:txBody>
      </p:sp>
      <p:cxnSp>
        <p:nvCxnSpPr>
          <p:cNvPr id="66" name="直接箭头连接符 65"/>
          <p:cNvCxnSpPr/>
          <p:nvPr/>
        </p:nvCxnSpPr>
        <p:spPr bwMode="auto">
          <a:xfrm flipV="1">
            <a:off x="1720425" y="2985350"/>
            <a:ext cx="490621" cy="178501"/>
          </a:xfrm>
          <a:prstGeom prst="straightConnector1">
            <a:avLst/>
          </a:prstGeom>
          <a:noFill/>
          <a:ln w="28575" cap="flat" cmpd="sng" algn="ctr">
            <a:solidFill>
              <a:srgbClr val="A5002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p:cNvCxnSpPr/>
          <p:nvPr/>
        </p:nvCxnSpPr>
        <p:spPr bwMode="auto">
          <a:xfrm>
            <a:off x="1748880" y="2974772"/>
            <a:ext cx="470262" cy="0"/>
          </a:xfrm>
          <a:prstGeom prst="line">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54"/>
          <p:cNvSpPr txBox="1">
            <a:spLocks noChangeAspect="1" noChangeArrowheads="1"/>
          </p:cNvSpPr>
          <p:nvPr/>
        </p:nvSpPr>
        <p:spPr bwMode="auto">
          <a:xfrm>
            <a:off x="1097941" y="2600817"/>
            <a:ext cx="816937"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solidFill>
                  <a:srgbClr val="0000FF"/>
                </a:solidFill>
                <a:ea typeface="幼圆" panose="02010509060101010101" pitchFamily="49" charset="-122"/>
                <a:cs typeface="Times New Roman" panose="02020603050405020304" pitchFamily="18" charset="0"/>
              </a:rPr>
              <a:t>E</a:t>
            </a:r>
            <a:r>
              <a:rPr lang="zh-CN" altLang="en-US" sz="2000" b="1" baseline="-25000" dirty="0">
                <a:solidFill>
                  <a:srgbClr val="0000FF"/>
                </a:solidFill>
                <a:ea typeface="幼圆" panose="02010509060101010101" pitchFamily="49" charset="-122"/>
                <a:cs typeface="Times New Roman" panose="02020603050405020304" pitchFamily="18" charset="0"/>
              </a:rPr>
              <a:t>朗肯</a:t>
            </a:r>
          </a:p>
        </p:txBody>
      </p:sp>
      <p:sp>
        <p:nvSpPr>
          <p:cNvPr id="89" name="Text Box 54"/>
          <p:cNvSpPr txBox="1">
            <a:spLocks noChangeAspect="1" noChangeArrowheads="1"/>
          </p:cNvSpPr>
          <p:nvPr/>
        </p:nvSpPr>
        <p:spPr bwMode="auto">
          <a:xfrm>
            <a:off x="1081011" y="2969117"/>
            <a:ext cx="71985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smtClean="0">
                <a:solidFill>
                  <a:srgbClr val="A50021"/>
                </a:solidFill>
                <a:ea typeface="幼圆" panose="02010509060101010101" pitchFamily="49" charset="-122"/>
                <a:cs typeface="Times New Roman" panose="02020603050405020304" pitchFamily="18" charset="0"/>
              </a:rPr>
              <a:t>E</a:t>
            </a:r>
            <a:r>
              <a:rPr lang="zh-CN" altLang="en-US" sz="2000" b="1" baseline="-25000" dirty="0" smtClean="0">
                <a:solidFill>
                  <a:srgbClr val="A50021"/>
                </a:solidFill>
                <a:ea typeface="幼圆" panose="02010509060101010101" pitchFamily="49" charset="-122"/>
                <a:cs typeface="Times New Roman" panose="02020603050405020304" pitchFamily="18" charset="0"/>
              </a:rPr>
              <a:t>库仑</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sp>
        <p:nvSpPr>
          <p:cNvPr id="91" name="任意多边形 90"/>
          <p:cNvSpPr/>
          <p:nvPr/>
        </p:nvSpPr>
        <p:spPr bwMode="auto">
          <a:xfrm>
            <a:off x="5302292" y="2070679"/>
            <a:ext cx="542210" cy="1397027"/>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2" name="直接连接符 91"/>
          <p:cNvCxnSpPr/>
          <p:nvPr/>
        </p:nvCxnSpPr>
        <p:spPr bwMode="auto">
          <a:xfrm>
            <a:off x="5844502" y="2076388"/>
            <a:ext cx="1916493" cy="252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箭头连接符 94"/>
          <p:cNvCxnSpPr/>
          <p:nvPr/>
        </p:nvCxnSpPr>
        <p:spPr bwMode="auto">
          <a:xfrm>
            <a:off x="5360590" y="2668516"/>
            <a:ext cx="490621" cy="178501"/>
          </a:xfrm>
          <a:prstGeom prst="straightConnector1">
            <a:avLst/>
          </a:prstGeom>
          <a:noFill/>
          <a:ln w="28575" cap="flat" cmpd="sng" algn="ctr">
            <a:solidFill>
              <a:srgbClr val="A5002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369486" y="2863312"/>
            <a:ext cx="470262" cy="0"/>
          </a:xfrm>
          <a:prstGeom prst="line">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54"/>
          <p:cNvSpPr txBox="1">
            <a:spLocks noChangeAspect="1" noChangeArrowheads="1"/>
          </p:cNvSpPr>
          <p:nvPr/>
        </p:nvSpPr>
        <p:spPr bwMode="auto">
          <a:xfrm>
            <a:off x="4718547" y="2577377"/>
            <a:ext cx="816937"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a:solidFill>
                  <a:srgbClr val="0000FF"/>
                </a:solidFill>
                <a:ea typeface="幼圆" panose="02010509060101010101" pitchFamily="49" charset="-122"/>
                <a:cs typeface="Times New Roman" panose="02020603050405020304" pitchFamily="18" charset="0"/>
              </a:rPr>
              <a:t>E</a:t>
            </a:r>
            <a:r>
              <a:rPr lang="zh-CN" altLang="en-US" sz="2000" b="1" baseline="-25000" dirty="0">
                <a:solidFill>
                  <a:srgbClr val="0000FF"/>
                </a:solidFill>
                <a:ea typeface="幼圆" panose="02010509060101010101" pitchFamily="49" charset="-122"/>
                <a:cs typeface="Times New Roman" panose="02020603050405020304" pitchFamily="18" charset="0"/>
              </a:rPr>
              <a:t>朗肯</a:t>
            </a:r>
          </a:p>
        </p:txBody>
      </p:sp>
      <p:sp>
        <p:nvSpPr>
          <p:cNvPr id="98" name="Text Box 54"/>
          <p:cNvSpPr txBox="1">
            <a:spLocks noChangeAspect="1" noChangeArrowheads="1"/>
          </p:cNvSpPr>
          <p:nvPr/>
        </p:nvSpPr>
        <p:spPr bwMode="auto">
          <a:xfrm>
            <a:off x="4765185" y="2236645"/>
            <a:ext cx="719850"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smtClean="0">
                <a:solidFill>
                  <a:srgbClr val="A50021"/>
                </a:solidFill>
                <a:ea typeface="幼圆" panose="02010509060101010101" pitchFamily="49" charset="-122"/>
                <a:cs typeface="Times New Roman" panose="02020603050405020304" pitchFamily="18" charset="0"/>
              </a:rPr>
              <a:t>E</a:t>
            </a:r>
            <a:r>
              <a:rPr lang="zh-CN" altLang="en-US" sz="2000" b="1" baseline="-25000" dirty="0" smtClean="0">
                <a:solidFill>
                  <a:srgbClr val="A50021"/>
                </a:solidFill>
                <a:ea typeface="幼圆" panose="02010509060101010101" pitchFamily="49" charset="-122"/>
                <a:cs typeface="Times New Roman" panose="02020603050405020304" pitchFamily="18" charset="0"/>
              </a:rPr>
              <a:t>库仑</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cxnSp>
        <p:nvCxnSpPr>
          <p:cNvPr id="100" name="直接连接符 99"/>
          <p:cNvCxnSpPr/>
          <p:nvPr/>
        </p:nvCxnSpPr>
        <p:spPr bwMode="auto">
          <a:xfrm flipV="1">
            <a:off x="5844501" y="2063250"/>
            <a:ext cx="1800000" cy="139540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9" name="组合 138"/>
          <p:cNvGrpSpPr/>
          <p:nvPr/>
        </p:nvGrpSpPr>
        <p:grpSpPr>
          <a:xfrm>
            <a:off x="2909121" y="2754512"/>
            <a:ext cx="1524256" cy="1908215"/>
            <a:chOff x="2791432" y="2931194"/>
            <a:chExt cx="1524256" cy="1908215"/>
          </a:xfrm>
        </p:grpSpPr>
        <p:sp>
          <p:nvSpPr>
            <p:cNvPr id="107" name="Text Box 75"/>
            <p:cNvSpPr txBox="1">
              <a:spLocks noChangeArrowheads="1"/>
            </p:cNvSpPr>
            <p:nvPr/>
          </p:nvSpPr>
          <p:spPr bwMode="auto">
            <a:xfrm>
              <a:off x="3975394" y="3988415"/>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sp>
          <p:nvSpPr>
            <p:cNvPr id="108" name="Text Box 75"/>
            <p:cNvSpPr txBox="1">
              <a:spLocks noChangeArrowheads="1"/>
            </p:cNvSpPr>
            <p:nvPr/>
          </p:nvSpPr>
          <p:spPr bwMode="auto">
            <a:xfrm>
              <a:off x="2998560" y="3990032"/>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cxnSp>
          <p:nvCxnSpPr>
            <p:cNvPr id="104" name="直接箭头连接符 103"/>
            <p:cNvCxnSpPr/>
            <p:nvPr/>
          </p:nvCxnSpPr>
          <p:spPr bwMode="auto">
            <a:xfrm>
              <a:off x="3916434" y="3337689"/>
              <a:ext cx="0" cy="150172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箭头连接符 109"/>
            <p:cNvCxnSpPr/>
            <p:nvPr/>
          </p:nvCxnSpPr>
          <p:spPr bwMode="auto">
            <a:xfrm flipH="1" flipV="1">
              <a:off x="2791432" y="3332176"/>
              <a:ext cx="1129600" cy="1497027"/>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bwMode="auto">
            <a:xfrm>
              <a:off x="2805916" y="3349407"/>
              <a:ext cx="1148992" cy="0"/>
            </a:xfrm>
            <a:prstGeom prst="line">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接箭头连接符 113"/>
            <p:cNvCxnSpPr/>
            <p:nvPr/>
          </p:nvCxnSpPr>
          <p:spPr bwMode="auto">
            <a:xfrm flipV="1">
              <a:off x="3057346" y="3358112"/>
              <a:ext cx="861036" cy="313266"/>
            </a:xfrm>
            <a:prstGeom prst="straightConnector1">
              <a:avLst/>
            </a:prstGeom>
            <a:noFill/>
            <a:ln w="28575" cap="flat" cmpd="sng" algn="ctr">
              <a:solidFill>
                <a:srgbClr val="A5002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Text Box 54"/>
            <p:cNvSpPr txBox="1">
              <a:spLocks noChangeAspect="1" noChangeArrowheads="1"/>
            </p:cNvSpPr>
            <p:nvPr/>
          </p:nvSpPr>
          <p:spPr bwMode="auto">
            <a:xfrm>
              <a:off x="2942630" y="2931194"/>
              <a:ext cx="740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ts val="0"/>
                </a:spcBef>
                <a:spcAft>
                  <a:spcPts val="0"/>
                </a:spcAft>
              </a:pPr>
              <a:r>
                <a:rPr lang="en-US" altLang="zh-CN" sz="2000" b="1" i="1" dirty="0">
                  <a:solidFill>
                    <a:srgbClr val="0000FF"/>
                  </a:solidFill>
                  <a:ea typeface="幼圆" panose="02010509060101010101" pitchFamily="49" charset="-122"/>
                  <a:cs typeface="Times New Roman" panose="02020603050405020304" pitchFamily="18" charset="0"/>
                </a:rPr>
                <a:t>E</a:t>
              </a:r>
              <a:r>
                <a:rPr lang="zh-CN" altLang="en-US" sz="2000" b="1" baseline="-25000" dirty="0">
                  <a:solidFill>
                    <a:srgbClr val="0000FF"/>
                  </a:solidFill>
                  <a:ea typeface="幼圆" panose="02010509060101010101" pitchFamily="49" charset="-122"/>
                  <a:cs typeface="Times New Roman" panose="02020603050405020304" pitchFamily="18" charset="0"/>
                </a:rPr>
                <a:t>朗肯</a:t>
              </a:r>
            </a:p>
          </p:txBody>
        </p:sp>
        <p:sp>
          <p:nvSpPr>
            <p:cNvPr id="127" name="Text Box 54"/>
            <p:cNvSpPr txBox="1">
              <a:spLocks noChangeAspect="1" noChangeArrowheads="1"/>
            </p:cNvSpPr>
            <p:nvPr/>
          </p:nvSpPr>
          <p:spPr bwMode="auto">
            <a:xfrm>
              <a:off x="3164563" y="3515879"/>
              <a:ext cx="731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ts val="0"/>
                </a:spcBef>
                <a:spcAft>
                  <a:spcPts val="0"/>
                </a:spcAft>
              </a:pPr>
              <a:r>
                <a:rPr lang="en-US" altLang="zh-CN" sz="2000" b="1" i="1" dirty="0" smtClean="0">
                  <a:solidFill>
                    <a:srgbClr val="A50021"/>
                  </a:solidFill>
                  <a:ea typeface="幼圆" panose="02010509060101010101" pitchFamily="49" charset="-122"/>
                  <a:cs typeface="Times New Roman" panose="02020603050405020304" pitchFamily="18" charset="0"/>
                </a:rPr>
                <a:t>E</a:t>
              </a:r>
              <a:r>
                <a:rPr lang="zh-CN" altLang="en-US" sz="2000" b="1" baseline="-25000" dirty="0" smtClean="0">
                  <a:solidFill>
                    <a:srgbClr val="A50021"/>
                  </a:solidFill>
                  <a:ea typeface="幼圆" panose="02010509060101010101" pitchFamily="49" charset="-122"/>
                  <a:cs typeface="Times New Roman" panose="02020603050405020304" pitchFamily="18" charset="0"/>
                </a:rPr>
                <a:t>库仑</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grpSp>
      <p:grpSp>
        <p:nvGrpSpPr>
          <p:cNvPr id="140" name="组合 139"/>
          <p:cNvGrpSpPr/>
          <p:nvPr/>
        </p:nvGrpSpPr>
        <p:grpSpPr>
          <a:xfrm>
            <a:off x="6952148" y="2779402"/>
            <a:ext cx="1941858" cy="2059874"/>
            <a:chOff x="6626240" y="2917639"/>
            <a:chExt cx="1941858" cy="2059874"/>
          </a:xfrm>
        </p:grpSpPr>
        <p:sp>
          <p:nvSpPr>
            <p:cNvPr id="128" name="Text Box 75"/>
            <p:cNvSpPr txBox="1">
              <a:spLocks noChangeArrowheads="1"/>
            </p:cNvSpPr>
            <p:nvPr/>
          </p:nvSpPr>
          <p:spPr bwMode="auto">
            <a:xfrm>
              <a:off x="8227804" y="4126519"/>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0066"/>
                  </a:solidFill>
                  <a:latin typeface="Times New Roman" panose="02020603050405020304" pitchFamily="18" charset="0"/>
                  <a:sym typeface="Symbol" panose="05050102010706020507" pitchFamily="18" charset="2"/>
                </a:rPr>
                <a:t>W</a:t>
              </a:r>
              <a:endParaRPr kumimoji="1" lang="en-US" altLang="zh-CN" sz="1600" b="1" dirty="0">
                <a:solidFill>
                  <a:srgbClr val="000066"/>
                </a:solidFill>
                <a:latin typeface="Times New Roman" panose="02020603050405020304" pitchFamily="18" charset="0"/>
                <a:sym typeface="Symbol" panose="05050102010706020507" pitchFamily="18" charset="2"/>
              </a:endParaRPr>
            </a:p>
          </p:txBody>
        </p:sp>
        <p:sp>
          <p:nvSpPr>
            <p:cNvPr id="129" name="Text Box 75"/>
            <p:cNvSpPr txBox="1">
              <a:spLocks noChangeArrowheads="1"/>
            </p:cNvSpPr>
            <p:nvPr/>
          </p:nvSpPr>
          <p:spPr bwMode="auto">
            <a:xfrm>
              <a:off x="7250970" y="4128136"/>
              <a:ext cx="340294" cy="37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1600" b="1" i="1" dirty="0" smtClean="0">
                  <a:solidFill>
                    <a:srgbClr val="003300"/>
                  </a:solidFill>
                  <a:latin typeface="Times New Roman" panose="02020603050405020304" pitchFamily="18" charset="0"/>
                  <a:sym typeface="Symbol" panose="05050102010706020507" pitchFamily="18" charset="2"/>
                </a:rPr>
                <a:t>R</a:t>
              </a:r>
              <a:endParaRPr kumimoji="1" lang="en-US" altLang="zh-CN" sz="1600" b="1" dirty="0">
                <a:solidFill>
                  <a:srgbClr val="003300"/>
                </a:solidFill>
                <a:latin typeface="Times New Roman" panose="02020603050405020304" pitchFamily="18" charset="0"/>
                <a:sym typeface="Symbol" panose="05050102010706020507" pitchFamily="18" charset="2"/>
              </a:endParaRPr>
            </a:p>
          </p:txBody>
        </p:sp>
        <p:cxnSp>
          <p:nvCxnSpPr>
            <p:cNvPr id="130" name="直接箭头连接符 129"/>
            <p:cNvCxnSpPr/>
            <p:nvPr/>
          </p:nvCxnSpPr>
          <p:spPr bwMode="auto">
            <a:xfrm>
              <a:off x="8168844" y="3475793"/>
              <a:ext cx="0" cy="1501720"/>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箭头连接符 130"/>
            <p:cNvCxnSpPr/>
            <p:nvPr/>
          </p:nvCxnSpPr>
          <p:spPr bwMode="auto">
            <a:xfrm flipH="1" flipV="1">
              <a:off x="6626240" y="2917639"/>
              <a:ext cx="1544757" cy="2047224"/>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连接符 131"/>
            <p:cNvCxnSpPr/>
            <p:nvPr/>
          </p:nvCxnSpPr>
          <p:spPr bwMode="auto">
            <a:xfrm>
              <a:off x="7058326" y="3487511"/>
              <a:ext cx="1119931" cy="0"/>
            </a:xfrm>
            <a:prstGeom prst="line">
              <a:avLst/>
            </a:prstGeom>
            <a:noFill/>
            <a:ln w="28575" cap="flat" cmpd="sng" algn="ctr">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flipH="1" flipV="1">
              <a:off x="6641194" y="2918296"/>
              <a:ext cx="1525365" cy="554965"/>
            </a:xfrm>
            <a:prstGeom prst="straightConnector1">
              <a:avLst/>
            </a:prstGeom>
            <a:noFill/>
            <a:ln w="28575" cap="flat" cmpd="sng" algn="ctr">
              <a:solidFill>
                <a:srgbClr val="A5002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54"/>
            <p:cNvSpPr txBox="1">
              <a:spLocks noChangeAspect="1" noChangeArrowheads="1"/>
            </p:cNvSpPr>
            <p:nvPr/>
          </p:nvSpPr>
          <p:spPr bwMode="auto">
            <a:xfrm>
              <a:off x="7427036" y="3521109"/>
              <a:ext cx="740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00000"/>
                </a:lnSpc>
                <a:spcBef>
                  <a:spcPts val="0"/>
                </a:spcBef>
                <a:spcAft>
                  <a:spcPts val="0"/>
                </a:spcAft>
              </a:pPr>
              <a:r>
                <a:rPr lang="en-US" altLang="zh-CN" sz="2000" b="1" i="1" dirty="0">
                  <a:solidFill>
                    <a:srgbClr val="0000FF"/>
                  </a:solidFill>
                  <a:ea typeface="幼圆" panose="02010509060101010101" pitchFamily="49" charset="-122"/>
                  <a:cs typeface="Times New Roman" panose="02020603050405020304" pitchFamily="18" charset="0"/>
                </a:rPr>
                <a:t>E</a:t>
              </a:r>
              <a:r>
                <a:rPr lang="zh-CN" altLang="en-US" sz="2000" b="1" baseline="-25000" dirty="0">
                  <a:solidFill>
                    <a:srgbClr val="0000FF"/>
                  </a:solidFill>
                  <a:ea typeface="幼圆" panose="02010509060101010101" pitchFamily="49" charset="-122"/>
                  <a:cs typeface="Times New Roman" panose="02020603050405020304" pitchFamily="18" charset="0"/>
                </a:rPr>
                <a:t>朗肯</a:t>
              </a:r>
            </a:p>
          </p:txBody>
        </p:sp>
        <p:sp>
          <p:nvSpPr>
            <p:cNvPr id="135" name="Text Box 54"/>
            <p:cNvSpPr txBox="1">
              <a:spLocks noChangeAspect="1" noChangeArrowheads="1"/>
            </p:cNvSpPr>
            <p:nvPr/>
          </p:nvSpPr>
          <p:spPr bwMode="auto">
            <a:xfrm>
              <a:off x="7519094" y="2951114"/>
              <a:ext cx="731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ts val="0"/>
                </a:spcBef>
                <a:spcAft>
                  <a:spcPts val="0"/>
                </a:spcAft>
              </a:pPr>
              <a:r>
                <a:rPr lang="en-US" altLang="zh-CN" sz="2000" b="1" i="1" dirty="0" smtClean="0">
                  <a:solidFill>
                    <a:srgbClr val="A50021"/>
                  </a:solidFill>
                  <a:ea typeface="幼圆" panose="02010509060101010101" pitchFamily="49" charset="-122"/>
                  <a:cs typeface="Times New Roman" panose="02020603050405020304" pitchFamily="18" charset="0"/>
                </a:rPr>
                <a:t>E</a:t>
              </a:r>
              <a:r>
                <a:rPr lang="zh-CN" altLang="en-US" sz="2000" b="1" baseline="-25000" dirty="0" smtClean="0">
                  <a:solidFill>
                    <a:srgbClr val="A50021"/>
                  </a:solidFill>
                  <a:ea typeface="幼圆" panose="02010509060101010101" pitchFamily="49" charset="-122"/>
                  <a:cs typeface="Times New Roman" panose="02020603050405020304" pitchFamily="18" charset="0"/>
                </a:rPr>
                <a:t>库仑</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grpSp>
      <p:sp>
        <p:nvSpPr>
          <p:cNvPr id="141" name="Text Box 29"/>
          <p:cNvSpPr txBox="1">
            <a:spLocks noChangeArrowheads="1"/>
          </p:cNvSpPr>
          <p:nvPr/>
        </p:nvSpPr>
        <p:spPr bwMode="auto">
          <a:xfrm>
            <a:off x="1952090" y="4945740"/>
            <a:ext cx="6945330"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rgbClr val="A50021"/>
              </a:buClr>
              <a:buSzPct val="130000"/>
            </a:pPr>
            <a:r>
              <a:rPr lang="zh-CN" altLang="en-US" sz="24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郎</a:t>
            </a:r>
            <a:r>
              <a:rPr lang="zh-CN" altLang="en-US" sz="24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肯理论计算的主动土压力</a:t>
            </a:r>
            <a:r>
              <a:rPr lang="zh-CN" altLang="en-US" sz="24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偏大，被动土压力偏小</a:t>
            </a:r>
          </a:p>
        </p:txBody>
      </p:sp>
      <p:sp>
        <p:nvSpPr>
          <p:cNvPr id="143" name="AutoShape 5"/>
          <p:cNvSpPr>
            <a:spLocks noChangeArrowheads="1"/>
          </p:cNvSpPr>
          <p:nvPr/>
        </p:nvSpPr>
        <p:spPr bwMode="auto">
          <a:xfrm>
            <a:off x="1472658" y="5048621"/>
            <a:ext cx="434975" cy="363829"/>
          </a:xfrm>
          <a:prstGeom prst="homePlate">
            <a:avLst>
              <a:gd name="adj" fmla="val 33632"/>
            </a:avLst>
          </a:prstGeom>
          <a:solidFill>
            <a:schemeClr val="accent2"/>
          </a:solidFill>
          <a:ln w="9525">
            <a:solidFill>
              <a:schemeClr val="tx1"/>
            </a:solidFill>
            <a:miter lim="800000"/>
            <a:headEnd/>
            <a:tailEnd/>
          </a:ln>
        </p:spPr>
        <p:txBody>
          <a:bodyPr anchor="ctr"/>
          <a:lstStyle/>
          <a:p>
            <a:endParaRPr lang="zh-CN" altLang="en-US"/>
          </a:p>
        </p:txBody>
      </p:sp>
      <p:sp>
        <p:nvSpPr>
          <p:cNvPr id="41"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计算</a:t>
            </a:r>
            <a:r>
              <a:rPr lang="zh-CN" altLang="en-US" sz="1800" b="1" kern="900" spc="130" dirty="0">
                <a:solidFill>
                  <a:srgbClr val="000066"/>
                </a:solidFill>
                <a:ea typeface="黑体" panose="02010609060101010101" pitchFamily="49" charset="-122"/>
                <a:cs typeface="Times New Roman" panose="02020603050405020304" pitchFamily="18" charset="0"/>
              </a:rPr>
              <a:t>误差</a:t>
            </a:r>
          </a:p>
        </p:txBody>
      </p:sp>
      <p:sp>
        <p:nvSpPr>
          <p:cNvPr id="42" name="Text Box 2"/>
          <p:cNvSpPr txBox="1">
            <a:spLocks noChangeArrowheads="1"/>
          </p:cNvSpPr>
          <p:nvPr/>
        </p:nvSpPr>
        <p:spPr bwMode="auto">
          <a:xfrm>
            <a:off x="1777429" y="5660740"/>
            <a:ext cx="63699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两种土压力理论的</a:t>
            </a:r>
            <a:r>
              <a:rPr kumimoji="1" lang="zh-CN" altLang="en-US" sz="4000" b="1" dirty="0" smtClean="0">
                <a:solidFill>
                  <a:srgbClr val="000066"/>
                </a:solidFill>
                <a:latin typeface="黑体" pitchFamily="2" charset="-122"/>
                <a:ea typeface="黑体" pitchFamily="2" charset="-122"/>
              </a:rPr>
              <a:t>计算误差</a:t>
            </a:r>
            <a:endParaRPr kumimoji="1" lang="zh-CN" altLang="en-US" sz="4000" b="1" dirty="0">
              <a:solidFill>
                <a:srgbClr val="000066"/>
              </a:solidFill>
              <a:latin typeface="黑体" pitchFamily="2" charset="-122"/>
              <a:ea typeface="黑体" pitchFamily="2" charset="-122"/>
            </a:endParaRPr>
          </a:p>
        </p:txBody>
      </p:sp>
      <p:sp>
        <p:nvSpPr>
          <p:cNvPr id="43" name="矩形 42"/>
          <p:cNvSpPr/>
          <p:nvPr/>
        </p:nvSpPr>
        <p:spPr>
          <a:xfrm>
            <a:off x="1768851" y="3903652"/>
            <a:ext cx="750054" cy="446276"/>
          </a:xfrm>
          <a:prstGeom prst="rect">
            <a:avLst/>
          </a:prstGeom>
        </p:spPr>
        <p:txBody>
          <a:bodyPr wrap="square">
            <a:spAutoFit/>
          </a:bodyPr>
          <a:lstStyle/>
          <a:p>
            <a:r>
              <a:rPr lang="zh-CN" altLang="en-US" sz="2000" b="1" dirty="0" smtClean="0">
                <a:solidFill>
                  <a:srgbClr val="A50021"/>
                </a:solidFill>
                <a:ea typeface="黑体" panose="02010609060101010101" pitchFamily="49" charset="-122"/>
                <a:cs typeface="Times New Roman" panose="02020603050405020304" pitchFamily="18" charset="0"/>
              </a:rPr>
              <a:t>主动</a:t>
            </a:r>
            <a:endParaRPr lang="zh-CN" altLang="en-US" sz="2000" b="1" dirty="0">
              <a:solidFill>
                <a:srgbClr val="A50021"/>
              </a:solidFill>
              <a:ea typeface="黑体" panose="02010609060101010101" pitchFamily="49" charset="-122"/>
              <a:cs typeface="Times New Roman" panose="02020603050405020304" pitchFamily="18" charset="0"/>
            </a:endParaRPr>
          </a:p>
        </p:txBody>
      </p:sp>
      <p:sp>
        <p:nvSpPr>
          <p:cNvPr id="44" name="矩形 43"/>
          <p:cNvSpPr/>
          <p:nvPr/>
        </p:nvSpPr>
        <p:spPr>
          <a:xfrm>
            <a:off x="6056523" y="3783096"/>
            <a:ext cx="750054" cy="414794"/>
          </a:xfrm>
          <a:prstGeom prst="rect">
            <a:avLst/>
          </a:prstGeom>
        </p:spPr>
        <p:txBody>
          <a:bodyPr wrap="square">
            <a:spAutoFit/>
          </a:bodyPr>
          <a:lstStyle/>
          <a:p>
            <a:r>
              <a:rPr lang="zh-CN" altLang="en-US" sz="2000" b="1" dirty="0">
                <a:solidFill>
                  <a:srgbClr val="A50021"/>
                </a:solidFill>
                <a:ea typeface="黑体" panose="02010609060101010101" pitchFamily="49" charset="-122"/>
                <a:cs typeface="Times New Roman" panose="02020603050405020304" pitchFamily="18" charset="0"/>
              </a:rPr>
              <a:t>被</a:t>
            </a:r>
            <a:r>
              <a:rPr lang="zh-CN" altLang="en-US" sz="2000" b="1" dirty="0" smtClean="0">
                <a:solidFill>
                  <a:srgbClr val="A50021"/>
                </a:solidFill>
                <a:ea typeface="黑体" panose="02010609060101010101" pitchFamily="49" charset="-122"/>
                <a:cs typeface="Times New Roman" panose="02020603050405020304" pitchFamily="18" charset="0"/>
              </a:rPr>
              <a:t>动</a:t>
            </a:r>
            <a:endParaRPr lang="zh-CN" altLang="en-US" sz="2000" b="1" dirty="0">
              <a:solidFill>
                <a:srgbClr val="A50021"/>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596005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1000"/>
                                        <p:tgtEl>
                                          <p:spTgt spid="143"/>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41"/>
                                        </p:tgtEl>
                                        <p:attrNameLst>
                                          <p:attrName>style.visibility</p:attrName>
                                        </p:attrNameLst>
                                      </p:cBhvr>
                                      <p:to>
                                        <p:strVal val="visible"/>
                                      </p:to>
                                    </p:set>
                                    <p:animEffect transition="in" filter="blinds(horizontal)">
                                      <p:cBhvr>
                                        <p:cTn id="11"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utoUpdateAnimBg="0"/>
      <p:bldP spid="14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66</a:t>
            </a:fld>
            <a:endParaRPr lang="zh-CN" altLang="en-US" dirty="0">
              <a:solidFill>
                <a:srgbClr val="C00000"/>
              </a:solidFill>
              <a:cs typeface="Times New Roman" panose="02020603050405020304" pitchFamily="18" charset="0"/>
            </a:endParaRPr>
          </a:p>
        </p:txBody>
      </p:sp>
      <p:sp>
        <p:nvSpPr>
          <p:cNvPr id="10" name="任意多边形 9"/>
          <p:cNvSpPr/>
          <p:nvPr/>
        </p:nvSpPr>
        <p:spPr bwMode="auto">
          <a:xfrm>
            <a:off x="1543457" y="2088596"/>
            <a:ext cx="542210" cy="1397027"/>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 name="直接连接符 10"/>
          <p:cNvCxnSpPr/>
          <p:nvPr/>
        </p:nvCxnSpPr>
        <p:spPr bwMode="auto">
          <a:xfrm>
            <a:off x="2085667" y="2088905"/>
            <a:ext cx="1068578"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任意多边形 90"/>
          <p:cNvSpPr/>
          <p:nvPr/>
        </p:nvSpPr>
        <p:spPr bwMode="auto">
          <a:xfrm>
            <a:off x="5164063" y="2114508"/>
            <a:ext cx="542210" cy="1397027"/>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60" h="1514650">
                <a:moveTo>
                  <a:pt x="0" y="1514650"/>
                </a:moveTo>
                <a:lnTo>
                  <a:pt x="891960" y="1514650"/>
                </a:lnTo>
                <a:lnTo>
                  <a:pt x="891960" y="0"/>
                </a:lnTo>
                <a:lnTo>
                  <a:pt x="460005"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2" name="直接连接符 91"/>
          <p:cNvCxnSpPr/>
          <p:nvPr/>
        </p:nvCxnSpPr>
        <p:spPr bwMode="auto">
          <a:xfrm>
            <a:off x="5706273" y="2116407"/>
            <a:ext cx="2517124"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Text Box 54"/>
          <p:cNvSpPr txBox="1">
            <a:spLocks noChangeAspect="1" noChangeArrowheads="1"/>
          </p:cNvSpPr>
          <p:nvPr/>
        </p:nvSpPr>
        <p:spPr bwMode="auto">
          <a:xfrm>
            <a:off x="6119855" y="3005267"/>
            <a:ext cx="501012"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err="1" smtClean="0">
                <a:solidFill>
                  <a:srgbClr val="A50021"/>
                </a:solidFill>
                <a:ea typeface="幼圆" panose="02010509060101010101" pitchFamily="49" charset="-122"/>
                <a:cs typeface="Times New Roman" panose="02020603050405020304" pitchFamily="18" charset="0"/>
              </a:rPr>
              <a:t>E</a:t>
            </a:r>
            <a:r>
              <a:rPr lang="en-US" altLang="zh-CN" sz="2000" b="1" baseline="-25000" dirty="0" err="1" smtClean="0">
                <a:solidFill>
                  <a:srgbClr val="A50021"/>
                </a:solidFill>
                <a:ea typeface="幼圆" panose="02010509060101010101" pitchFamily="49" charset="-122"/>
                <a:cs typeface="Times New Roman" panose="02020603050405020304" pitchFamily="18" charset="0"/>
              </a:rPr>
              <a:t>p</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sp>
        <p:nvSpPr>
          <p:cNvPr id="141" name="Text Box 29"/>
          <p:cNvSpPr txBox="1">
            <a:spLocks noChangeArrowheads="1"/>
          </p:cNvSpPr>
          <p:nvPr/>
        </p:nvSpPr>
        <p:spPr bwMode="auto">
          <a:xfrm>
            <a:off x="1346515" y="4112115"/>
            <a:ext cx="7047472"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A50021"/>
              </a:buClr>
              <a:buSzPct val="130000"/>
              <a:buFont typeface="Wingdings" panose="05000000000000000000" pitchFamily="2" charset="2"/>
              <a:buChar char="F"/>
            </a:pP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按极限平衡理论，</a:t>
            </a:r>
            <a:r>
              <a:rPr kumimoji="1" lang="zh-CN" altLang="en-US" sz="2200" b="1" i="1" dirty="0" smtClean="0">
                <a:solidFill>
                  <a:srgbClr val="000066"/>
                </a:solidFill>
                <a:ea typeface="华文新魏" panose="02010800040101010101" pitchFamily="2" charset="-122"/>
                <a:sym typeface="Symbol" panose="05050102010706020507" pitchFamily="18" charset="2"/>
              </a:rPr>
              <a:t> </a:t>
            </a:r>
            <a:r>
              <a:rPr kumimoji="1" lang="zh-CN" altLang="en-US" sz="2200" b="1" dirty="0" smtClean="0">
                <a:solidFill>
                  <a:srgbClr val="000066"/>
                </a:solidFill>
                <a:ea typeface="华文新魏" panose="02010800040101010101" pitchFamily="2" charset="-122"/>
                <a:sym typeface="Symbol" panose="05050102010706020507" pitchFamily="18" charset="2"/>
              </a:rPr>
              <a:t> </a:t>
            </a:r>
            <a:r>
              <a:rPr kumimoji="1" lang="en-US" altLang="zh-CN" sz="2200" b="1" dirty="0" smtClean="0">
                <a:solidFill>
                  <a:srgbClr val="000066"/>
                </a:solidFill>
                <a:ea typeface="华文新魏" panose="02010800040101010101" pitchFamily="2" charset="-122"/>
              </a:rPr>
              <a:t>0</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时</a:t>
            </a:r>
            <a:r>
              <a:rPr lang="en-US" altLang="zh-CN" sz="2200" b="1" dirty="0" err="1"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土体内的滑动面是由一段平面和一段对数螺旋线曲面所组成的复合滑动</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面</a:t>
            </a:r>
            <a:endParaRPr lang="en-US" altLang="zh-CN"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a:p>
            <a:pPr marL="342900" indent="-342900">
              <a:buClr>
                <a:srgbClr val="A50021"/>
              </a:buClr>
              <a:buSzPct val="130000"/>
              <a:buFont typeface="Wingdings" panose="05000000000000000000" pitchFamily="2" charset="2"/>
              <a:buChar char="F"/>
            </a:pP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库伦理论计算的主动土压力偏小，</a:t>
            </a:r>
            <a:r>
              <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被动土压力</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偏大</a:t>
            </a:r>
            <a:endPar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2" name="任意多边形 1"/>
          <p:cNvSpPr/>
          <p:nvPr/>
        </p:nvSpPr>
        <p:spPr bwMode="auto">
          <a:xfrm>
            <a:off x="2089509" y="2093800"/>
            <a:ext cx="864877" cy="1397476"/>
          </a:xfrm>
          <a:custGeom>
            <a:avLst/>
            <a:gdLst>
              <a:gd name="connsiteX0" fmla="*/ 821493 w 821493"/>
              <a:gd name="connsiteY0" fmla="*/ 0 h 1300697"/>
              <a:gd name="connsiteX1" fmla="*/ 645459 w 821493"/>
              <a:gd name="connsiteY1" fmla="*/ 347179 h 1300697"/>
              <a:gd name="connsiteX2" fmla="*/ 410747 w 821493"/>
              <a:gd name="connsiteY2" fmla="*/ 782374 h 1300697"/>
              <a:gd name="connsiteX3" fmla="*/ 278721 w 821493"/>
              <a:gd name="connsiteY3" fmla="*/ 1036646 h 1300697"/>
              <a:gd name="connsiteX4" fmla="*/ 195594 w 821493"/>
              <a:gd name="connsiteY4" fmla="*/ 1100214 h 1300697"/>
              <a:gd name="connsiteX5" fmla="*/ 92907 w 821493"/>
              <a:gd name="connsiteY5" fmla="*/ 1202901 h 1300697"/>
              <a:gd name="connsiteX6" fmla="*/ 0 w 821493"/>
              <a:gd name="connsiteY6" fmla="*/ 1300697 h 1300697"/>
              <a:gd name="connsiteX0" fmla="*/ 821493 w 821493"/>
              <a:gd name="connsiteY0" fmla="*/ 0 h 1404151"/>
              <a:gd name="connsiteX1" fmla="*/ 645459 w 821493"/>
              <a:gd name="connsiteY1" fmla="*/ 347179 h 1404151"/>
              <a:gd name="connsiteX2" fmla="*/ 410747 w 821493"/>
              <a:gd name="connsiteY2" fmla="*/ 782374 h 1404151"/>
              <a:gd name="connsiteX3" fmla="*/ 278721 w 821493"/>
              <a:gd name="connsiteY3" fmla="*/ 1036646 h 1404151"/>
              <a:gd name="connsiteX4" fmla="*/ 195594 w 821493"/>
              <a:gd name="connsiteY4" fmla="*/ 1100214 h 1404151"/>
              <a:gd name="connsiteX5" fmla="*/ 92907 w 821493"/>
              <a:gd name="connsiteY5" fmla="*/ 1202901 h 1404151"/>
              <a:gd name="connsiteX6" fmla="*/ 0 w 821493"/>
              <a:gd name="connsiteY6" fmla="*/ 1404151 h 1404151"/>
              <a:gd name="connsiteX0" fmla="*/ 864877 w 864877"/>
              <a:gd name="connsiteY0" fmla="*/ 0 h 1397476"/>
              <a:gd name="connsiteX1" fmla="*/ 688843 w 864877"/>
              <a:gd name="connsiteY1" fmla="*/ 347179 h 1397476"/>
              <a:gd name="connsiteX2" fmla="*/ 454131 w 864877"/>
              <a:gd name="connsiteY2" fmla="*/ 782374 h 1397476"/>
              <a:gd name="connsiteX3" fmla="*/ 322105 w 864877"/>
              <a:gd name="connsiteY3" fmla="*/ 1036646 h 1397476"/>
              <a:gd name="connsiteX4" fmla="*/ 238978 w 864877"/>
              <a:gd name="connsiteY4" fmla="*/ 1100214 h 1397476"/>
              <a:gd name="connsiteX5" fmla="*/ 136291 w 864877"/>
              <a:gd name="connsiteY5" fmla="*/ 1202901 h 1397476"/>
              <a:gd name="connsiteX6" fmla="*/ 0 w 864877"/>
              <a:gd name="connsiteY6"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22105 w 864877"/>
              <a:gd name="connsiteY3" fmla="*/ 1036646 h 1397476"/>
              <a:gd name="connsiteX4" fmla="*/ 235641 w 864877"/>
              <a:gd name="connsiteY4" fmla="*/ 1146936 h 1397476"/>
              <a:gd name="connsiteX5" fmla="*/ 136291 w 864877"/>
              <a:gd name="connsiteY5" fmla="*/ 1202901 h 1397476"/>
              <a:gd name="connsiteX6" fmla="*/ 0 w 864877"/>
              <a:gd name="connsiteY6"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22105 w 864877"/>
              <a:gd name="connsiteY3" fmla="*/ 1036646 h 1397476"/>
              <a:gd name="connsiteX4" fmla="*/ 235641 w 864877"/>
              <a:gd name="connsiteY4" fmla="*/ 1146936 h 1397476"/>
              <a:gd name="connsiteX5" fmla="*/ 109593 w 864877"/>
              <a:gd name="connsiteY5" fmla="*/ 1316367 h 1397476"/>
              <a:gd name="connsiteX6" fmla="*/ 0 w 864877"/>
              <a:gd name="connsiteY6"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22105 w 864877"/>
              <a:gd name="connsiteY3" fmla="*/ 1036646 h 1397476"/>
              <a:gd name="connsiteX4" fmla="*/ 232304 w 864877"/>
              <a:gd name="connsiteY4" fmla="*/ 1143599 h 1397476"/>
              <a:gd name="connsiteX5" fmla="*/ 109593 w 864877"/>
              <a:gd name="connsiteY5" fmla="*/ 1316367 h 1397476"/>
              <a:gd name="connsiteX6" fmla="*/ 0 w 864877"/>
              <a:gd name="connsiteY6"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05419 w 864877"/>
              <a:gd name="connsiteY3" fmla="*/ 1026634 h 1397476"/>
              <a:gd name="connsiteX4" fmla="*/ 232304 w 864877"/>
              <a:gd name="connsiteY4" fmla="*/ 1143599 h 1397476"/>
              <a:gd name="connsiteX5" fmla="*/ 109593 w 864877"/>
              <a:gd name="connsiteY5" fmla="*/ 1316367 h 1397476"/>
              <a:gd name="connsiteX6" fmla="*/ 0 w 864877"/>
              <a:gd name="connsiteY6"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05419 w 864877"/>
              <a:gd name="connsiteY3" fmla="*/ 1026634 h 1397476"/>
              <a:gd name="connsiteX4" fmla="*/ 232304 w 864877"/>
              <a:gd name="connsiteY4" fmla="*/ 1143599 h 1397476"/>
              <a:gd name="connsiteX5" fmla="*/ 174592 w 864877"/>
              <a:gd name="connsiteY5" fmla="*/ 1228778 h 1397476"/>
              <a:gd name="connsiteX6" fmla="*/ 109593 w 864877"/>
              <a:gd name="connsiteY6" fmla="*/ 1316367 h 1397476"/>
              <a:gd name="connsiteX7" fmla="*/ 0 w 864877"/>
              <a:gd name="connsiteY7"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05419 w 864877"/>
              <a:gd name="connsiteY3" fmla="*/ 1026634 h 1397476"/>
              <a:gd name="connsiteX4" fmla="*/ 232304 w 864877"/>
              <a:gd name="connsiteY4" fmla="*/ 1143599 h 1397476"/>
              <a:gd name="connsiteX5" fmla="*/ 174592 w 864877"/>
              <a:gd name="connsiteY5" fmla="*/ 1228778 h 1397476"/>
              <a:gd name="connsiteX6" fmla="*/ 109593 w 864877"/>
              <a:gd name="connsiteY6" fmla="*/ 1316367 h 1397476"/>
              <a:gd name="connsiteX7" fmla="*/ 56569 w 864877"/>
              <a:gd name="connsiteY7" fmla="*/ 1366948 h 1397476"/>
              <a:gd name="connsiteX8" fmla="*/ 0 w 864877"/>
              <a:gd name="connsiteY8" fmla="*/ 1397476 h 1397476"/>
              <a:gd name="connsiteX0" fmla="*/ 864877 w 864877"/>
              <a:gd name="connsiteY0" fmla="*/ 0 h 1397476"/>
              <a:gd name="connsiteX1" fmla="*/ 688843 w 864877"/>
              <a:gd name="connsiteY1" fmla="*/ 347179 h 1397476"/>
              <a:gd name="connsiteX2" fmla="*/ 454131 w 864877"/>
              <a:gd name="connsiteY2" fmla="*/ 782374 h 1397476"/>
              <a:gd name="connsiteX3" fmla="*/ 305419 w 864877"/>
              <a:gd name="connsiteY3" fmla="*/ 1026634 h 1397476"/>
              <a:gd name="connsiteX4" fmla="*/ 232304 w 864877"/>
              <a:gd name="connsiteY4" fmla="*/ 1143599 h 1397476"/>
              <a:gd name="connsiteX5" fmla="*/ 174592 w 864877"/>
              <a:gd name="connsiteY5" fmla="*/ 1228778 h 1397476"/>
              <a:gd name="connsiteX6" fmla="*/ 118060 w 864877"/>
              <a:gd name="connsiteY6" fmla="*/ 1305784 h 1397476"/>
              <a:gd name="connsiteX7" fmla="*/ 56569 w 864877"/>
              <a:gd name="connsiteY7" fmla="*/ 1366948 h 1397476"/>
              <a:gd name="connsiteX8" fmla="*/ 0 w 864877"/>
              <a:gd name="connsiteY8" fmla="*/ 1397476 h 139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4877" h="1397476">
                <a:moveTo>
                  <a:pt x="864877" y="0"/>
                </a:moveTo>
                <a:cubicBezTo>
                  <a:pt x="811089" y="108391"/>
                  <a:pt x="757301" y="216783"/>
                  <a:pt x="688843" y="347179"/>
                </a:cubicBezTo>
                <a:cubicBezTo>
                  <a:pt x="620385" y="477575"/>
                  <a:pt x="518035" y="669132"/>
                  <a:pt x="454131" y="782374"/>
                </a:cubicBezTo>
                <a:cubicBezTo>
                  <a:pt x="390227" y="895616"/>
                  <a:pt x="342390" y="966430"/>
                  <a:pt x="305419" y="1026634"/>
                </a:cubicBezTo>
                <a:cubicBezTo>
                  <a:pt x="268448" y="1086838"/>
                  <a:pt x="254109" y="1109908"/>
                  <a:pt x="232304" y="1143599"/>
                </a:cubicBezTo>
                <a:cubicBezTo>
                  <a:pt x="210500" y="1177290"/>
                  <a:pt x="195044" y="1199983"/>
                  <a:pt x="174592" y="1228778"/>
                </a:cubicBezTo>
                <a:cubicBezTo>
                  <a:pt x="154140" y="1257573"/>
                  <a:pt x="137730" y="1282756"/>
                  <a:pt x="118060" y="1305784"/>
                </a:cubicBezTo>
                <a:cubicBezTo>
                  <a:pt x="98390" y="1328812"/>
                  <a:pt x="74834" y="1353430"/>
                  <a:pt x="56569" y="1366948"/>
                </a:cubicBezTo>
                <a:cubicBezTo>
                  <a:pt x="38304" y="1380466"/>
                  <a:pt x="9075" y="1390271"/>
                  <a:pt x="0" y="1397476"/>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任意多边形 8"/>
          <p:cNvSpPr/>
          <p:nvPr/>
        </p:nvSpPr>
        <p:spPr bwMode="auto">
          <a:xfrm>
            <a:off x="5706467" y="2120724"/>
            <a:ext cx="2452085" cy="1455826"/>
          </a:xfrm>
          <a:custGeom>
            <a:avLst/>
            <a:gdLst>
              <a:gd name="connsiteX0" fmla="*/ 0 w 809897"/>
              <a:gd name="connsiteY0" fmla="*/ 115700 h 221815"/>
              <a:gd name="connsiteX1" fmla="*/ 138093 w 809897"/>
              <a:gd name="connsiteY1" fmla="*/ 190345 h 221815"/>
              <a:gd name="connsiteX2" fmla="*/ 343366 w 809897"/>
              <a:gd name="connsiteY2" fmla="*/ 220203 h 221815"/>
              <a:gd name="connsiteX3" fmla="*/ 582230 w 809897"/>
              <a:gd name="connsiteY3" fmla="*/ 145558 h 221815"/>
              <a:gd name="connsiteX4" fmla="*/ 809897 w 809897"/>
              <a:gd name="connsiteY4" fmla="*/ 0 h 221815"/>
              <a:gd name="connsiteX0" fmla="*/ 0 w 809897"/>
              <a:gd name="connsiteY0" fmla="*/ 115700 h 227011"/>
              <a:gd name="connsiteX1" fmla="*/ 138093 w 809897"/>
              <a:gd name="connsiteY1" fmla="*/ 190345 h 227011"/>
              <a:gd name="connsiteX2" fmla="*/ 343366 w 809897"/>
              <a:gd name="connsiteY2" fmla="*/ 220203 h 227011"/>
              <a:gd name="connsiteX3" fmla="*/ 384421 w 809897"/>
              <a:gd name="connsiteY3" fmla="*/ 220203 h 227011"/>
              <a:gd name="connsiteX4" fmla="*/ 582230 w 809897"/>
              <a:gd name="connsiteY4" fmla="*/ 145558 h 227011"/>
              <a:gd name="connsiteX5" fmla="*/ 809897 w 809897"/>
              <a:gd name="connsiteY5" fmla="*/ 0 h 227011"/>
              <a:gd name="connsiteX0" fmla="*/ 0 w 809897"/>
              <a:gd name="connsiteY0" fmla="*/ 115700 h 221815"/>
              <a:gd name="connsiteX1" fmla="*/ 138093 w 809897"/>
              <a:gd name="connsiteY1" fmla="*/ 190345 h 221815"/>
              <a:gd name="connsiteX2" fmla="*/ 343366 w 809897"/>
              <a:gd name="connsiteY2" fmla="*/ 220203 h 221815"/>
              <a:gd name="connsiteX3" fmla="*/ 582230 w 809897"/>
              <a:gd name="connsiteY3" fmla="*/ 145558 h 221815"/>
              <a:gd name="connsiteX4" fmla="*/ 809897 w 809897"/>
              <a:gd name="connsiteY4" fmla="*/ 0 h 221815"/>
              <a:gd name="connsiteX0" fmla="*/ 0 w 809897"/>
              <a:gd name="connsiteY0" fmla="*/ 115700 h 228974"/>
              <a:gd name="connsiteX1" fmla="*/ 138093 w 809897"/>
              <a:gd name="connsiteY1" fmla="*/ 190345 h 228974"/>
              <a:gd name="connsiteX2" fmla="*/ 373223 w 809897"/>
              <a:gd name="connsiteY2" fmla="*/ 227667 h 228974"/>
              <a:gd name="connsiteX3" fmla="*/ 582230 w 809897"/>
              <a:gd name="connsiteY3" fmla="*/ 145558 h 228974"/>
              <a:gd name="connsiteX4" fmla="*/ 809897 w 809897"/>
              <a:gd name="connsiteY4" fmla="*/ 0 h 228974"/>
              <a:gd name="connsiteX0" fmla="*/ 0 w 809897"/>
              <a:gd name="connsiteY0" fmla="*/ 115700 h 228974"/>
              <a:gd name="connsiteX1" fmla="*/ 138093 w 809897"/>
              <a:gd name="connsiteY1" fmla="*/ 190345 h 228974"/>
              <a:gd name="connsiteX2" fmla="*/ 373223 w 809897"/>
              <a:gd name="connsiteY2" fmla="*/ 227667 h 228974"/>
              <a:gd name="connsiteX3" fmla="*/ 608356 w 809897"/>
              <a:gd name="connsiteY3" fmla="*/ 145558 h 228974"/>
              <a:gd name="connsiteX4" fmla="*/ 809897 w 809897"/>
              <a:gd name="connsiteY4" fmla="*/ 0 h 228974"/>
              <a:gd name="connsiteX0" fmla="*/ 0 w 809897"/>
              <a:gd name="connsiteY0" fmla="*/ 115700 h 229520"/>
              <a:gd name="connsiteX1" fmla="*/ 138093 w 809897"/>
              <a:gd name="connsiteY1" fmla="*/ 190345 h 229520"/>
              <a:gd name="connsiteX2" fmla="*/ 373223 w 809897"/>
              <a:gd name="connsiteY2" fmla="*/ 227667 h 229520"/>
              <a:gd name="connsiteX3" fmla="*/ 608356 w 809897"/>
              <a:gd name="connsiteY3" fmla="*/ 134361 h 229520"/>
              <a:gd name="connsiteX4" fmla="*/ 809897 w 809897"/>
              <a:gd name="connsiteY4" fmla="*/ 0 h 229520"/>
              <a:gd name="connsiteX0" fmla="*/ 0 w 809897"/>
              <a:gd name="connsiteY0" fmla="*/ 115700 h 229520"/>
              <a:gd name="connsiteX1" fmla="*/ 138093 w 809897"/>
              <a:gd name="connsiteY1" fmla="*/ 190345 h 229520"/>
              <a:gd name="connsiteX2" fmla="*/ 373223 w 809897"/>
              <a:gd name="connsiteY2" fmla="*/ 227667 h 229520"/>
              <a:gd name="connsiteX3" fmla="*/ 608356 w 809897"/>
              <a:gd name="connsiteY3" fmla="*/ 134361 h 229520"/>
              <a:gd name="connsiteX4" fmla="*/ 753913 w 809897"/>
              <a:gd name="connsiteY4" fmla="*/ 41054 h 229520"/>
              <a:gd name="connsiteX5" fmla="*/ 809897 w 809897"/>
              <a:gd name="connsiteY5" fmla="*/ 0 h 229520"/>
              <a:gd name="connsiteX0" fmla="*/ 0 w 1127138"/>
              <a:gd name="connsiteY0" fmla="*/ 354564 h 468384"/>
              <a:gd name="connsiteX1" fmla="*/ 138093 w 1127138"/>
              <a:gd name="connsiteY1" fmla="*/ 429209 h 468384"/>
              <a:gd name="connsiteX2" fmla="*/ 373223 w 1127138"/>
              <a:gd name="connsiteY2" fmla="*/ 466531 h 468384"/>
              <a:gd name="connsiteX3" fmla="*/ 608356 w 1127138"/>
              <a:gd name="connsiteY3" fmla="*/ 373225 h 468384"/>
              <a:gd name="connsiteX4" fmla="*/ 753913 w 1127138"/>
              <a:gd name="connsiteY4" fmla="*/ 279918 h 468384"/>
              <a:gd name="connsiteX5" fmla="*/ 1127138 w 1127138"/>
              <a:gd name="connsiteY5" fmla="*/ 0 h 468384"/>
              <a:gd name="connsiteX0" fmla="*/ 0 w 1127138"/>
              <a:gd name="connsiteY0" fmla="*/ 354564 h 468384"/>
              <a:gd name="connsiteX1" fmla="*/ 138093 w 1127138"/>
              <a:gd name="connsiteY1" fmla="*/ 429209 h 468384"/>
              <a:gd name="connsiteX2" fmla="*/ 373223 w 1127138"/>
              <a:gd name="connsiteY2" fmla="*/ 466531 h 468384"/>
              <a:gd name="connsiteX3" fmla="*/ 608356 w 1127138"/>
              <a:gd name="connsiteY3" fmla="*/ 373225 h 468384"/>
              <a:gd name="connsiteX4" fmla="*/ 962919 w 1127138"/>
              <a:gd name="connsiteY4" fmla="*/ 126896 h 468384"/>
              <a:gd name="connsiteX5" fmla="*/ 1127138 w 1127138"/>
              <a:gd name="connsiteY5" fmla="*/ 0 h 468384"/>
              <a:gd name="connsiteX0" fmla="*/ 0 w 962919"/>
              <a:gd name="connsiteY0" fmla="*/ 227668 h 341488"/>
              <a:gd name="connsiteX1" fmla="*/ 138093 w 962919"/>
              <a:gd name="connsiteY1" fmla="*/ 302313 h 341488"/>
              <a:gd name="connsiteX2" fmla="*/ 373223 w 962919"/>
              <a:gd name="connsiteY2" fmla="*/ 339635 h 341488"/>
              <a:gd name="connsiteX3" fmla="*/ 608356 w 962919"/>
              <a:gd name="connsiteY3" fmla="*/ 246329 h 341488"/>
              <a:gd name="connsiteX4" fmla="*/ 962919 w 962919"/>
              <a:gd name="connsiteY4" fmla="*/ 0 h 341488"/>
              <a:gd name="connsiteX0" fmla="*/ 0 w 962919"/>
              <a:gd name="connsiteY0" fmla="*/ 227668 h 341488"/>
              <a:gd name="connsiteX1" fmla="*/ 138093 w 962919"/>
              <a:gd name="connsiteY1" fmla="*/ 302313 h 341488"/>
              <a:gd name="connsiteX2" fmla="*/ 373223 w 962919"/>
              <a:gd name="connsiteY2" fmla="*/ 339635 h 341488"/>
              <a:gd name="connsiteX3" fmla="*/ 608356 w 962919"/>
              <a:gd name="connsiteY3" fmla="*/ 246329 h 341488"/>
              <a:gd name="connsiteX4" fmla="*/ 847219 w 962919"/>
              <a:gd name="connsiteY4" fmla="*/ 89574 h 341488"/>
              <a:gd name="connsiteX5" fmla="*/ 962919 w 962919"/>
              <a:gd name="connsiteY5" fmla="*/ 0 h 341488"/>
              <a:gd name="connsiteX0" fmla="*/ 0 w 2452085"/>
              <a:gd name="connsiteY0" fmla="*/ 1388396 h 1502216"/>
              <a:gd name="connsiteX1" fmla="*/ 138093 w 2452085"/>
              <a:gd name="connsiteY1" fmla="*/ 1463041 h 1502216"/>
              <a:gd name="connsiteX2" fmla="*/ 373223 w 2452085"/>
              <a:gd name="connsiteY2" fmla="*/ 1500363 h 1502216"/>
              <a:gd name="connsiteX3" fmla="*/ 608356 w 2452085"/>
              <a:gd name="connsiteY3" fmla="*/ 1407057 h 1502216"/>
              <a:gd name="connsiteX4" fmla="*/ 847219 w 2452085"/>
              <a:gd name="connsiteY4" fmla="*/ 1250302 h 1502216"/>
              <a:gd name="connsiteX5" fmla="*/ 2452085 w 2452085"/>
              <a:gd name="connsiteY5" fmla="*/ 0 h 1502216"/>
              <a:gd name="connsiteX0" fmla="*/ 0 w 2452085"/>
              <a:gd name="connsiteY0" fmla="*/ 1388396 h 1503241"/>
              <a:gd name="connsiteX1" fmla="*/ 138093 w 2452085"/>
              <a:gd name="connsiteY1" fmla="*/ 1463041 h 1503241"/>
              <a:gd name="connsiteX2" fmla="*/ 171683 w 2452085"/>
              <a:gd name="connsiteY2" fmla="*/ 1477969 h 1503241"/>
              <a:gd name="connsiteX3" fmla="*/ 373223 w 2452085"/>
              <a:gd name="connsiteY3" fmla="*/ 1500363 h 1503241"/>
              <a:gd name="connsiteX4" fmla="*/ 608356 w 2452085"/>
              <a:gd name="connsiteY4" fmla="*/ 1407057 h 1503241"/>
              <a:gd name="connsiteX5" fmla="*/ 847219 w 2452085"/>
              <a:gd name="connsiteY5" fmla="*/ 1250302 h 1503241"/>
              <a:gd name="connsiteX6" fmla="*/ 2452085 w 2452085"/>
              <a:gd name="connsiteY6" fmla="*/ 0 h 1503241"/>
              <a:gd name="connsiteX0" fmla="*/ 0 w 2452085"/>
              <a:gd name="connsiteY0" fmla="*/ 1388396 h 1502216"/>
              <a:gd name="connsiteX1" fmla="*/ 138093 w 2452085"/>
              <a:gd name="connsiteY1" fmla="*/ 1463041 h 1502216"/>
              <a:gd name="connsiteX2" fmla="*/ 373223 w 2452085"/>
              <a:gd name="connsiteY2" fmla="*/ 1500363 h 1502216"/>
              <a:gd name="connsiteX3" fmla="*/ 608356 w 2452085"/>
              <a:gd name="connsiteY3" fmla="*/ 1407057 h 1502216"/>
              <a:gd name="connsiteX4" fmla="*/ 847219 w 2452085"/>
              <a:gd name="connsiteY4" fmla="*/ 1250302 h 1502216"/>
              <a:gd name="connsiteX5" fmla="*/ 2452085 w 2452085"/>
              <a:gd name="connsiteY5" fmla="*/ 0 h 1502216"/>
              <a:gd name="connsiteX0" fmla="*/ 0 w 2452085"/>
              <a:gd name="connsiteY0" fmla="*/ 1388396 h 1488245"/>
              <a:gd name="connsiteX1" fmla="*/ 138093 w 2452085"/>
              <a:gd name="connsiteY1" fmla="*/ 1463041 h 1488245"/>
              <a:gd name="connsiteX2" fmla="*/ 373223 w 2452085"/>
              <a:gd name="connsiteY2" fmla="*/ 1485434 h 1488245"/>
              <a:gd name="connsiteX3" fmla="*/ 608356 w 2452085"/>
              <a:gd name="connsiteY3" fmla="*/ 1407057 h 1488245"/>
              <a:gd name="connsiteX4" fmla="*/ 847219 w 2452085"/>
              <a:gd name="connsiteY4" fmla="*/ 1250302 h 1488245"/>
              <a:gd name="connsiteX5" fmla="*/ 2452085 w 2452085"/>
              <a:gd name="connsiteY5" fmla="*/ 0 h 1488245"/>
              <a:gd name="connsiteX0" fmla="*/ 0 w 2452085"/>
              <a:gd name="connsiteY0" fmla="*/ 1388396 h 1488245"/>
              <a:gd name="connsiteX1" fmla="*/ 138093 w 2452085"/>
              <a:gd name="connsiteY1" fmla="*/ 1463041 h 1488245"/>
              <a:gd name="connsiteX2" fmla="*/ 373223 w 2452085"/>
              <a:gd name="connsiteY2" fmla="*/ 1485434 h 1488245"/>
              <a:gd name="connsiteX3" fmla="*/ 608356 w 2452085"/>
              <a:gd name="connsiteY3" fmla="*/ 1407057 h 1488245"/>
              <a:gd name="connsiteX4" fmla="*/ 992776 w 2452085"/>
              <a:gd name="connsiteY4" fmla="*/ 1235373 h 1488245"/>
              <a:gd name="connsiteX5" fmla="*/ 2452085 w 2452085"/>
              <a:gd name="connsiteY5" fmla="*/ 0 h 1488245"/>
              <a:gd name="connsiteX0" fmla="*/ 0 w 2452085"/>
              <a:gd name="connsiteY0" fmla="*/ 1388396 h 1488737"/>
              <a:gd name="connsiteX1" fmla="*/ 138093 w 2452085"/>
              <a:gd name="connsiteY1" fmla="*/ 1463041 h 1488737"/>
              <a:gd name="connsiteX2" fmla="*/ 373223 w 2452085"/>
              <a:gd name="connsiteY2" fmla="*/ 1485434 h 1488737"/>
              <a:gd name="connsiteX3" fmla="*/ 735253 w 2452085"/>
              <a:gd name="connsiteY3" fmla="*/ 1399593 h 1488737"/>
              <a:gd name="connsiteX4" fmla="*/ 992776 w 2452085"/>
              <a:gd name="connsiteY4" fmla="*/ 1235373 h 1488737"/>
              <a:gd name="connsiteX5" fmla="*/ 2452085 w 2452085"/>
              <a:gd name="connsiteY5" fmla="*/ 0 h 1488737"/>
              <a:gd name="connsiteX0" fmla="*/ 0 w 2452085"/>
              <a:gd name="connsiteY0" fmla="*/ 1388396 h 1490258"/>
              <a:gd name="connsiteX1" fmla="*/ 138093 w 2452085"/>
              <a:gd name="connsiteY1" fmla="*/ 1463041 h 1490258"/>
              <a:gd name="connsiteX2" fmla="*/ 373223 w 2452085"/>
              <a:gd name="connsiteY2" fmla="*/ 1485434 h 1490258"/>
              <a:gd name="connsiteX3" fmla="*/ 735253 w 2452085"/>
              <a:gd name="connsiteY3" fmla="*/ 1377199 h 1490258"/>
              <a:gd name="connsiteX4" fmla="*/ 992776 w 2452085"/>
              <a:gd name="connsiteY4" fmla="*/ 1235373 h 1490258"/>
              <a:gd name="connsiteX5" fmla="*/ 2452085 w 2452085"/>
              <a:gd name="connsiteY5" fmla="*/ 0 h 1490258"/>
              <a:gd name="connsiteX0" fmla="*/ 0 w 2452085"/>
              <a:gd name="connsiteY0" fmla="*/ 1388396 h 1489011"/>
              <a:gd name="connsiteX1" fmla="*/ 138093 w 2452085"/>
              <a:gd name="connsiteY1" fmla="*/ 1463041 h 1489011"/>
              <a:gd name="connsiteX2" fmla="*/ 421743 w 2452085"/>
              <a:gd name="connsiteY2" fmla="*/ 1463040 h 1489011"/>
              <a:gd name="connsiteX3" fmla="*/ 373223 w 2452085"/>
              <a:gd name="connsiteY3" fmla="*/ 1485434 h 1489011"/>
              <a:gd name="connsiteX4" fmla="*/ 735253 w 2452085"/>
              <a:gd name="connsiteY4" fmla="*/ 1377199 h 1489011"/>
              <a:gd name="connsiteX5" fmla="*/ 992776 w 2452085"/>
              <a:gd name="connsiteY5" fmla="*/ 1235373 h 1489011"/>
              <a:gd name="connsiteX6" fmla="*/ 2452085 w 2452085"/>
              <a:gd name="connsiteY6" fmla="*/ 0 h 1489011"/>
              <a:gd name="connsiteX0" fmla="*/ 0 w 2452085"/>
              <a:gd name="connsiteY0" fmla="*/ 1388396 h 1473083"/>
              <a:gd name="connsiteX1" fmla="*/ 138093 w 2452085"/>
              <a:gd name="connsiteY1" fmla="*/ 1463041 h 1473083"/>
              <a:gd name="connsiteX2" fmla="*/ 421743 w 2452085"/>
              <a:gd name="connsiteY2" fmla="*/ 1463040 h 1473083"/>
              <a:gd name="connsiteX3" fmla="*/ 735253 w 2452085"/>
              <a:gd name="connsiteY3" fmla="*/ 1377199 h 1473083"/>
              <a:gd name="connsiteX4" fmla="*/ 992776 w 2452085"/>
              <a:gd name="connsiteY4" fmla="*/ 1235373 h 1473083"/>
              <a:gd name="connsiteX5" fmla="*/ 2452085 w 2452085"/>
              <a:gd name="connsiteY5" fmla="*/ 0 h 1473083"/>
              <a:gd name="connsiteX0" fmla="*/ 0 w 2452085"/>
              <a:gd name="connsiteY0" fmla="*/ 1388396 h 1471501"/>
              <a:gd name="connsiteX1" fmla="*/ 167951 w 2452085"/>
              <a:gd name="connsiteY1" fmla="*/ 1459309 h 1471501"/>
              <a:gd name="connsiteX2" fmla="*/ 421743 w 2452085"/>
              <a:gd name="connsiteY2" fmla="*/ 1463040 h 1471501"/>
              <a:gd name="connsiteX3" fmla="*/ 735253 w 2452085"/>
              <a:gd name="connsiteY3" fmla="*/ 1377199 h 1471501"/>
              <a:gd name="connsiteX4" fmla="*/ 992776 w 2452085"/>
              <a:gd name="connsiteY4" fmla="*/ 1235373 h 1471501"/>
              <a:gd name="connsiteX5" fmla="*/ 2452085 w 2452085"/>
              <a:gd name="connsiteY5" fmla="*/ 0 h 1471501"/>
              <a:gd name="connsiteX0" fmla="*/ 0 w 2452085"/>
              <a:gd name="connsiteY0" fmla="*/ 1388396 h 1468525"/>
              <a:gd name="connsiteX1" fmla="*/ 190344 w 2452085"/>
              <a:gd name="connsiteY1" fmla="*/ 1448112 h 1468525"/>
              <a:gd name="connsiteX2" fmla="*/ 421743 w 2452085"/>
              <a:gd name="connsiteY2" fmla="*/ 1463040 h 1468525"/>
              <a:gd name="connsiteX3" fmla="*/ 735253 w 2452085"/>
              <a:gd name="connsiteY3" fmla="*/ 1377199 h 1468525"/>
              <a:gd name="connsiteX4" fmla="*/ 992776 w 2452085"/>
              <a:gd name="connsiteY4" fmla="*/ 1235373 h 1468525"/>
              <a:gd name="connsiteX5" fmla="*/ 2452085 w 2452085"/>
              <a:gd name="connsiteY5" fmla="*/ 0 h 1468525"/>
              <a:gd name="connsiteX0" fmla="*/ 0 w 2452085"/>
              <a:gd name="connsiteY0" fmla="*/ 1388396 h 1453366"/>
              <a:gd name="connsiteX1" fmla="*/ 190344 w 2452085"/>
              <a:gd name="connsiteY1" fmla="*/ 1448112 h 1453366"/>
              <a:gd name="connsiteX2" fmla="*/ 440404 w 2452085"/>
              <a:gd name="connsiteY2" fmla="*/ 1440646 h 1453366"/>
              <a:gd name="connsiteX3" fmla="*/ 735253 w 2452085"/>
              <a:gd name="connsiteY3" fmla="*/ 1377199 h 1453366"/>
              <a:gd name="connsiteX4" fmla="*/ 992776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92776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77847 w 2452085"/>
              <a:gd name="connsiteY4" fmla="*/ 1235373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977847 w 2452085"/>
              <a:gd name="connsiteY4" fmla="*/ 1235373 h 1453366"/>
              <a:gd name="connsiteX5" fmla="*/ 1074886 w 2452085"/>
              <a:gd name="connsiteY5" fmla="*/ 1179390 h 1453366"/>
              <a:gd name="connsiteX6" fmla="*/ 2452085 w 2452085"/>
              <a:gd name="connsiteY6"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074886 w 2452085"/>
              <a:gd name="connsiteY4" fmla="*/ 1179390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086083 w 2452085"/>
              <a:gd name="connsiteY4" fmla="*/ 116072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31521 w 2452085"/>
              <a:gd name="connsiteY3" fmla="*/ 1366003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61379 w 2452085"/>
              <a:gd name="connsiteY3" fmla="*/ 1366003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53914 w 2452085"/>
              <a:gd name="connsiteY3" fmla="*/ 1354807 h 1453366"/>
              <a:gd name="connsiteX4" fmla="*/ 1123405 w 2452085"/>
              <a:gd name="connsiteY4" fmla="*/ 1127139 h 1453366"/>
              <a:gd name="connsiteX5" fmla="*/ 2452085 w 2452085"/>
              <a:gd name="connsiteY5" fmla="*/ 0 h 1453366"/>
              <a:gd name="connsiteX0" fmla="*/ 0 w 2452085"/>
              <a:gd name="connsiteY0" fmla="*/ 1388396 h 1453366"/>
              <a:gd name="connsiteX1" fmla="*/ 190344 w 2452085"/>
              <a:gd name="connsiteY1" fmla="*/ 1448112 h 1453366"/>
              <a:gd name="connsiteX2" fmla="*/ 440404 w 2452085"/>
              <a:gd name="connsiteY2" fmla="*/ 1440646 h 1453366"/>
              <a:gd name="connsiteX3" fmla="*/ 753914 w 2452085"/>
              <a:gd name="connsiteY3" fmla="*/ 1354807 h 1453366"/>
              <a:gd name="connsiteX4" fmla="*/ 705394 w 2452085"/>
              <a:gd name="connsiteY4" fmla="*/ 1380931 h 1453366"/>
              <a:gd name="connsiteX5" fmla="*/ 1123405 w 2452085"/>
              <a:gd name="connsiteY5" fmla="*/ 1127139 h 1453366"/>
              <a:gd name="connsiteX6" fmla="*/ 2452085 w 2452085"/>
              <a:gd name="connsiteY6" fmla="*/ 0 h 1453366"/>
              <a:gd name="connsiteX0" fmla="*/ 0 w 2452085"/>
              <a:gd name="connsiteY0" fmla="*/ 1388396 h 1452546"/>
              <a:gd name="connsiteX1" fmla="*/ 190344 w 2452085"/>
              <a:gd name="connsiteY1" fmla="*/ 1448112 h 1452546"/>
              <a:gd name="connsiteX2" fmla="*/ 440404 w 2452085"/>
              <a:gd name="connsiteY2" fmla="*/ 1440646 h 1452546"/>
              <a:gd name="connsiteX3" fmla="*/ 705394 w 2452085"/>
              <a:gd name="connsiteY3" fmla="*/ 1380931 h 1452546"/>
              <a:gd name="connsiteX4" fmla="*/ 1123405 w 2452085"/>
              <a:gd name="connsiteY4" fmla="*/ 1127139 h 1452546"/>
              <a:gd name="connsiteX5" fmla="*/ 2452085 w 2452085"/>
              <a:gd name="connsiteY5" fmla="*/ 0 h 1452546"/>
              <a:gd name="connsiteX0" fmla="*/ 0 w 2452085"/>
              <a:gd name="connsiteY0" fmla="*/ 1388396 h 1448139"/>
              <a:gd name="connsiteX1" fmla="*/ 201541 w 2452085"/>
              <a:gd name="connsiteY1" fmla="*/ 1440647 h 1448139"/>
              <a:gd name="connsiteX2" fmla="*/ 440404 w 2452085"/>
              <a:gd name="connsiteY2" fmla="*/ 1440646 h 1448139"/>
              <a:gd name="connsiteX3" fmla="*/ 705394 w 2452085"/>
              <a:gd name="connsiteY3" fmla="*/ 1380931 h 1448139"/>
              <a:gd name="connsiteX4" fmla="*/ 1123405 w 2452085"/>
              <a:gd name="connsiteY4" fmla="*/ 1127139 h 1448139"/>
              <a:gd name="connsiteX5" fmla="*/ 2452085 w 2452085"/>
              <a:gd name="connsiteY5" fmla="*/ 0 h 1448139"/>
              <a:gd name="connsiteX0" fmla="*/ 0 w 2452085"/>
              <a:gd name="connsiteY0" fmla="*/ 1388396 h 1448139"/>
              <a:gd name="connsiteX1" fmla="*/ 201541 w 2452085"/>
              <a:gd name="connsiteY1" fmla="*/ 1440647 h 1448139"/>
              <a:gd name="connsiteX2" fmla="*/ 440404 w 2452085"/>
              <a:gd name="connsiteY2" fmla="*/ 1440646 h 1448139"/>
              <a:gd name="connsiteX3" fmla="*/ 727787 w 2452085"/>
              <a:gd name="connsiteY3" fmla="*/ 1380931 h 1448139"/>
              <a:gd name="connsiteX4" fmla="*/ 1123405 w 2452085"/>
              <a:gd name="connsiteY4" fmla="*/ 1127139 h 1448139"/>
              <a:gd name="connsiteX5" fmla="*/ 2452085 w 2452085"/>
              <a:gd name="connsiteY5" fmla="*/ 0 h 1448139"/>
              <a:gd name="connsiteX0" fmla="*/ 0 w 2452085"/>
              <a:gd name="connsiteY0" fmla="*/ 1388396 h 1451184"/>
              <a:gd name="connsiteX1" fmla="*/ 201541 w 2452085"/>
              <a:gd name="connsiteY1" fmla="*/ 1440647 h 1451184"/>
              <a:gd name="connsiteX2" fmla="*/ 440404 w 2452085"/>
              <a:gd name="connsiteY2" fmla="*/ 1440646 h 1451184"/>
              <a:gd name="connsiteX3" fmla="*/ 444137 w 2452085"/>
              <a:gd name="connsiteY3" fmla="*/ 1448113 h 1451184"/>
              <a:gd name="connsiteX4" fmla="*/ 727787 w 2452085"/>
              <a:gd name="connsiteY4" fmla="*/ 1380931 h 1451184"/>
              <a:gd name="connsiteX5" fmla="*/ 1123405 w 2452085"/>
              <a:gd name="connsiteY5" fmla="*/ 1127139 h 1451184"/>
              <a:gd name="connsiteX6" fmla="*/ 2452085 w 2452085"/>
              <a:gd name="connsiteY6" fmla="*/ 0 h 1451184"/>
              <a:gd name="connsiteX0" fmla="*/ 0 w 2452085"/>
              <a:gd name="connsiteY0" fmla="*/ 1388396 h 1447652"/>
              <a:gd name="connsiteX1" fmla="*/ 201541 w 2452085"/>
              <a:gd name="connsiteY1" fmla="*/ 1440647 h 1447652"/>
              <a:gd name="connsiteX2" fmla="*/ 440404 w 2452085"/>
              <a:gd name="connsiteY2" fmla="*/ 1440646 h 1447652"/>
              <a:gd name="connsiteX3" fmla="*/ 727787 w 2452085"/>
              <a:gd name="connsiteY3" fmla="*/ 1380931 h 1447652"/>
              <a:gd name="connsiteX4" fmla="*/ 1123405 w 2452085"/>
              <a:gd name="connsiteY4" fmla="*/ 1127139 h 1447652"/>
              <a:gd name="connsiteX5" fmla="*/ 2452085 w 2452085"/>
              <a:gd name="connsiteY5" fmla="*/ 0 h 1447652"/>
              <a:gd name="connsiteX0" fmla="*/ 0 w 2452085"/>
              <a:gd name="connsiteY0" fmla="*/ 1388396 h 1455826"/>
              <a:gd name="connsiteX1" fmla="*/ 201541 w 2452085"/>
              <a:gd name="connsiteY1" fmla="*/ 1440647 h 1455826"/>
              <a:gd name="connsiteX2" fmla="*/ 451601 w 2452085"/>
              <a:gd name="connsiteY2" fmla="*/ 1451843 h 1455826"/>
              <a:gd name="connsiteX3" fmla="*/ 727787 w 2452085"/>
              <a:gd name="connsiteY3" fmla="*/ 1380931 h 1455826"/>
              <a:gd name="connsiteX4" fmla="*/ 1123405 w 2452085"/>
              <a:gd name="connsiteY4" fmla="*/ 1127139 h 1455826"/>
              <a:gd name="connsiteX5" fmla="*/ 2452085 w 2452085"/>
              <a:gd name="connsiteY5" fmla="*/ 0 h 1455826"/>
              <a:gd name="connsiteX0" fmla="*/ 0 w 2452085"/>
              <a:gd name="connsiteY0" fmla="*/ 1388396 h 1455826"/>
              <a:gd name="connsiteX1" fmla="*/ 201541 w 2452085"/>
              <a:gd name="connsiteY1" fmla="*/ 1440647 h 1455826"/>
              <a:gd name="connsiteX2" fmla="*/ 451601 w 2452085"/>
              <a:gd name="connsiteY2" fmla="*/ 1451843 h 1455826"/>
              <a:gd name="connsiteX3" fmla="*/ 742716 w 2452085"/>
              <a:gd name="connsiteY3" fmla="*/ 1380931 h 1455826"/>
              <a:gd name="connsiteX4" fmla="*/ 1123405 w 2452085"/>
              <a:gd name="connsiteY4" fmla="*/ 1127139 h 1455826"/>
              <a:gd name="connsiteX5" fmla="*/ 2452085 w 2452085"/>
              <a:gd name="connsiteY5" fmla="*/ 0 h 145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2085" h="1455826">
                <a:moveTo>
                  <a:pt x="0" y="1388396"/>
                </a:moveTo>
                <a:cubicBezTo>
                  <a:pt x="40432" y="1417010"/>
                  <a:pt x="126274" y="1430073"/>
                  <a:pt x="201541" y="1440647"/>
                </a:cubicBezTo>
                <a:cubicBezTo>
                  <a:pt x="276808" y="1451221"/>
                  <a:pt x="363893" y="1461796"/>
                  <a:pt x="451601" y="1451843"/>
                </a:cubicBezTo>
                <a:cubicBezTo>
                  <a:pt x="539309" y="1441890"/>
                  <a:pt x="628883" y="1433182"/>
                  <a:pt x="742716" y="1380931"/>
                </a:cubicBezTo>
                <a:cubicBezTo>
                  <a:pt x="804298" y="1342986"/>
                  <a:pt x="842243" y="1352940"/>
                  <a:pt x="1123405" y="1127139"/>
                </a:cubicBezTo>
                <a:cubicBezTo>
                  <a:pt x="1369111" y="921244"/>
                  <a:pt x="2208245" y="203408"/>
                  <a:pt x="2452085" y="0"/>
                </a:cubicBez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5594500" y="3053786"/>
            <a:ext cx="602444"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箭头连接符 50"/>
          <p:cNvCxnSpPr/>
          <p:nvPr/>
        </p:nvCxnSpPr>
        <p:spPr bwMode="auto">
          <a:xfrm flipV="1">
            <a:off x="2076160" y="2758816"/>
            <a:ext cx="490621" cy="178501"/>
          </a:xfrm>
          <a:prstGeom prst="straightConnector1">
            <a:avLst/>
          </a:prstGeom>
          <a:noFill/>
          <a:ln w="28575" cap="flat" cmpd="sng" algn="ctr">
            <a:solidFill>
              <a:srgbClr val="A5002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1964373" y="2930436"/>
            <a:ext cx="518782"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 Box 54"/>
          <p:cNvSpPr txBox="1">
            <a:spLocks noChangeAspect="1" noChangeArrowheads="1"/>
          </p:cNvSpPr>
          <p:nvPr/>
        </p:nvSpPr>
        <p:spPr bwMode="auto">
          <a:xfrm>
            <a:off x="2228725" y="2323560"/>
            <a:ext cx="501012"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err="1" smtClean="0">
                <a:solidFill>
                  <a:srgbClr val="A50021"/>
                </a:solidFill>
                <a:ea typeface="幼圆" panose="02010509060101010101" pitchFamily="49" charset="-122"/>
                <a:cs typeface="Times New Roman" panose="02020603050405020304" pitchFamily="18" charset="0"/>
              </a:rPr>
              <a:t>E</a:t>
            </a:r>
            <a:r>
              <a:rPr lang="en-US" altLang="zh-CN" sz="2000" b="1" baseline="-25000" dirty="0" err="1" smtClean="0">
                <a:solidFill>
                  <a:srgbClr val="A50021"/>
                </a:solidFill>
                <a:ea typeface="幼圆" panose="02010509060101010101" pitchFamily="49" charset="-122"/>
                <a:cs typeface="Times New Roman" panose="02020603050405020304" pitchFamily="18" charset="0"/>
              </a:rPr>
              <a:t>a</a:t>
            </a:r>
            <a:endParaRPr lang="zh-CN" altLang="en-US" sz="2000" b="1" baseline="-25000" dirty="0">
              <a:solidFill>
                <a:srgbClr val="A50021"/>
              </a:solidFill>
              <a:ea typeface="幼圆" panose="02010509060101010101" pitchFamily="49" charset="-122"/>
              <a:cs typeface="Times New Roman" panose="02020603050405020304" pitchFamily="18" charset="0"/>
            </a:endParaRPr>
          </a:p>
        </p:txBody>
      </p:sp>
      <p:sp>
        <p:nvSpPr>
          <p:cNvPr id="57" name="任意多边形 56"/>
          <p:cNvSpPr/>
          <p:nvPr/>
        </p:nvSpPr>
        <p:spPr bwMode="auto">
          <a:xfrm rot="8534434" flipV="1">
            <a:off x="2336491" y="2837174"/>
            <a:ext cx="48785" cy="9251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0" name="任意多边形 59"/>
          <p:cNvSpPr/>
          <p:nvPr/>
        </p:nvSpPr>
        <p:spPr bwMode="auto">
          <a:xfrm rot="10800000" flipV="1">
            <a:off x="6032720" y="3054494"/>
            <a:ext cx="45719" cy="123813"/>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5" name="直接箭头连接符 94"/>
          <p:cNvCxnSpPr/>
          <p:nvPr/>
        </p:nvCxnSpPr>
        <p:spPr bwMode="auto">
          <a:xfrm>
            <a:off x="5707553" y="3051901"/>
            <a:ext cx="490621" cy="178501"/>
          </a:xfrm>
          <a:prstGeom prst="straightConnector1">
            <a:avLst/>
          </a:prstGeom>
          <a:noFill/>
          <a:ln w="28575" cap="flat" cmpd="sng" algn="ctr">
            <a:solidFill>
              <a:srgbClr val="A5002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Rectangle 74"/>
          <p:cNvSpPr>
            <a:spLocks noChangeArrowheads="1"/>
          </p:cNvSpPr>
          <p:nvPr/>
        </p:nvSpPr>
        <p:spPr bwMode="auto">
          <a:xfrm>
            <a:off x="2152075" y="2834895"/>
            <a:ext cx="28022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63" name="Rectangle 74"/>
          <p:cNvSpPr>
            <a:spLocks noChangeArrowheads="1"/>
          </p:cNvSpPr>
          <p:nvPr/>
        </p:nvSpPr>
        <p:spPr bwMode="auto">
          <a:xfrm>
            <a:off x="5908287" y="2713462"/>
            <a:ext cx="28022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sym typeface="Symbol" panose="05050102010706020507" pitchFamily="18" charset="2"/>
              </a:rPr>
              <a:t></a:t>
            </a:r>
          </a:p>
        </p:txBody>
      </p:sp>
      <p:sp>
        <p:nvSpPr>
          <p:cNvPr id="64" name="Text Box 75"/>
          <p:cNvSpPr txBox="1">
            <a:spLocks noChangeArrowheads="1"/>
          </p:cNvSpPr>
          <p:nvPr/>
        </p:nvSpPr>
        <p:spPr bwMode="auto">
          <a:xfrm>
            <a:off x="2977764" y="2406509"/>
            <a:ext cx="837027"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平</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面</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65" name="Text Box 75"/>
          <p:cNvSpPr txBox="1">
            <a:spLocks noChangeArrowheads="1"/>
          </p:cNvSpPr>
          <p:nvPr/>
        </p:nvSpPr>
        <p:spPr bwMode="auto">
          <a:xfrm>
            <a:off x="2511186" y="3248228"/>
            <a:ext cx="1535724"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对数螺旋面</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cxnSp>
        <p:nvCxnSpPr>
          <p:cNvPr id="21" name="直接连接符 20"/>
          <p:cNvCxnSpPr>
            <a:stCxn id="2" idx="1"/>
            <a:endCxn id="64" idx="1"/>
          </p:cNvCxnSpPr>
          <p:nvPr/>
        </p:nvCxnSpPr>
        <p:spPr bwMode="auto">
          <a:xfrm>
            <a:off x="2778352" y="2440979"/>
            <a:ext cx="199412" cy="17292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a:stCxn id="2" idx="5"/>
            <a:endCxn id="65" idx="1"/>
          </p:cNvCxnSpPr>
          <p:nvPr/>
        </p:nvCxnSpPr>
        <p:spPr bwMode="auto">
          <a:xfrm>
            <a:off x="2264101" y="3322578"/>
            <a:ext cx="247085" cy="1330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Text Box 75"/>
          <p:cNvSpPr txBox="1">
            <a:spLocks noChangeArrowheads="1"/>
          </p:cNvSpPr>
          <p:nvPr/>
        </p:nvSpPr>
        <p:spPr bwMode="auto">
          <a:xfrm>
            <a:off x="7575556" y="2762892"/>
            <a:ext cx="837027"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平面</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sp>
        <p:nvSpPr>
          <p:cNvPr id="72" name="Text Box 75"/>
          <p:cNvSpPr txBox="1">
            <a:spLocks noChangeArrowheads="1"/>
          </p:cNvSpPr>
          <p:nvPr/>
        </p:nvSpPr>
        <p:spPr bwMode="auto">
          <a:xfrm>
            <a:off x="6771352" y="3520203"/>
            <a:ext cx="1535724" cy="41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对数螺旋面</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cxnSp>
        <p:nvCxnSpPr>
          <p:cNvPr id="73" name="直接连接符 72"/>
          <p:cNvCxnSpPr/>
          <p:nvPr/>
        </p:nvCxnSpPr>
        <p:spPr bwMode="auto">
          <a:xfrm>
            <a:off x="7619104" y="2631772"/>
            <a:ext cx="195602" cy="19247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p:cNvCxnSpPr/>
          <p:nvPr/>
        </p:nvCxnSpPr>
        <p:spPr bwMode="auto">
          <a:xfrm>
            <a:off x="6521044" y="3513371"/>
            <a:ext cx="243275" cy="15259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Rectangle 3"/>
          <p:cNvSpPr txBox="1">
            <a:spLocks noChangeArrowheads="1"/>
          </p:cNvSpPr>
          <p:nvPr/>
        </p:nvSpPr>
        <p:spPr bwMode="auto">
          <a:xfrm>
            <a:off x="432532" y="536298"/>
            <a:ext cx="5187432"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曲面</a:t>
            </a:r>
            <a:r>
              <a:rPr lang="zh-CN" altLang="en-US" sz="2400" b="1" kern="0" dirty="0">
                <a:solidFill>
                  <a:srgbClr val="A50021"/>
                </a:solidFill>
                <a:latin typeface="微软雅黑" panose="020B0503020204020204" pitchFamily="34" charset="-122"/>
                <a:ea typeface="微软雅黑" panose="020B0503020204020204" pitchFamily="34" charset="-122"/>
              </a:rPr>
              <a:t>滑裂面对库伦土压力</a:t>
            </a:r>
            <a:r>
              <a:rPr lang="zh-CN" altLang="en-US" sz="2400" b="1" kern="0" dirty="0" smtClean="0">
                <a:solidFill>
                  <a:srgbClr val="A50021"/>
                </a:solidFill>
                <a:latin typeface="微软雅黑" panose="020B0503020204020204" pitchFamily="34" charset="-122"/>
                <a:ea typeface="微软雅黑" panose="020B0503020204020204" pitchFamily="34" charset="-122"/>
              </a:rPr>
              <a:t>影响</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35" name="Text Box 4"/>
          <p:cNvSpPr txBox="1">
            <a:spLocks noChangeArrowheads="1"/>
          </p:cNvSpPr>
          <p:nvPr/>
        </p:nvSpPr>
        <p:spPr bwMode="auto">
          <a:xfrm>
            <a:off x="767340" y="1271909"/>
            <a:ext cx="4400561" cy="4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342900" indent="-342900" eaLnBrk="1" hangingPunct="1">
              <a:lnSpc>
                <a:spcPct val="114000"/>
              </a:lnSpc>
              <a:spcBef>
                <a:spcPts val="0"/>
              </a:spcBef>
              <a:spcAft>
                <a:spcPts val="200"/>
              </a:spcAft>
              <a:buClr>
                <a:srgbClr val="A50021"/>
              </a:buClr>
              <a:buSzPct val="130000"/>
              <a:buFont typeface="Wingdings" panose="05000000000000000000" pitchFamily="2" charset="2"/>
              <a:buChar char=""/>
              <a:tabLst>
                <a:tab pos="361950" algn="l"/>
              </a:tabLst>
            </a:pPr>
            <a:r>
              <a:rPr lang="zh-CN" altLang="en-US" sz="2200" b="1" dirty="0" smtClean="0">
                <a:solidFill>
                  <a:srgbClr val="A50021"/>
                </a:solidFill>
                <a:latin typeface="黑体" panose="02010609060101010101" pitchFamily="49" charset="-122"/>
                <a:ea typeface="黑体" panose="02010609060101010101" pitchFamily="49" charset="-122"/>
              </a:rPr>
              <a:t> </a:t>
            </a:r>
            <a:r>
              <a:rPr lang="zh-CN" altLang="en-US" sz="2200" b="1" dirty="0">
                <a:solidFill>
                  <a:srgbClr val="000066"/>
                </a:solidFill>
                <a:latin typeface="幼圆" panose="02010509060101010101" pitchFamily="49" charset="-122"/>
                <a:ea typeface="幼圆" panose="02010509060101010101" pitchFamily="49" charset="-122"/>
              </a:rPr>
              <a:t>实际滑裂面不一定是平面</a:t>
            </a:r>
            <a:endParaRPr lang="en-US" altLang="zh-CN" sz="2200" b="1" dirty="0">
              <a:solidFill>
                <a:srgbClr val="000066"/>
              </a:solidFill>
              <a:latin typeface="幼圆" panose="02010509060101010101" pitchFamily="49" charset="-122"/>
              <a:ea typeface="幼圆" panose="02010509060101010101" pitchFamily="49" charset="-122"/>
            </a:endParaRPr>
          </a:p>
        </p:txBody>
      </p:sp>
      <p:sp>
        <p:nvSpPr>
          <p:cNvPr id="36"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计算</a:t>
            </a:r>
            <a:r>
              <a:rPr lang="zh-CN" altLang="en-US" sz="1800" b="1" kern="900" spc="130" dirty="0">
                <a:solidFill>
                  <a:srgbClr val="000066"/>
                </a:solidFill>
                <a:ea typeface="黑体" panose="02010609060101010101" pitchFamily="49" charset="-122"/>
                <a:cs typeface="Times New Roman" panose="02020603050405020304" pitchFamily="18" charset="0"/>
              </a:rPr>
              <a:t>误差</a:t>
            </a:r>
          </a:p>
        </p:txBody>
      </p:sp>
      <p:sp>
        <p:nvSpPr>
          <p:cNvPr id="37" name="Text Box 2"/>
          <p:cNvSpPr txBox="1">
            <a:spLocks noChangeArrowheads="1"/>
          </p:cNvSpPr>
          <p:nvPr/>
        </p:nvSpPr>
        <p:spPr bwMode="auto">
          <a:xfrm>
            <a:off x="1777429" y="5660740"/>
            <a:ext cx="63699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两种土压力理论的</a:t>
            </a:r>
            <a:r>
              <a:rPr kumimoji="1" lang="zh-CN" altLang="en-US" sz="4000" b="1" dirty="0" smtClean="0">
                <a:solidFill>
                  <a:srgbClr val="000066"/>
                </a:solidFill>
                <a:latin typeface="黑体" pitchFamily="2" charset="-122"/>
                <a:ea typeface="黑体" pitchFamily="2" charset="-122"/>
              </a:rPr>
              <a:t>计算误差</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193864823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anim calcmode="lin" valueType="num">
                                      <p:cBhvr additive="base">
                                        <p:cTn id="7" dur="500"/>
                                        <p:tgtEl>
                                          <p:spTgt spid="14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4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41">
                                            <p:txEl>
                                              <p:pRg st="1" end="1"/>
                                            </p:txEl>
                                          </p:spTgt>
                                        </p:tgtEl>
                                        <p:attrNameLst>
                                          <p:attrName>style.visibility</p:attrName>
                                        </p:attrNameLst>
                                      </p:cBhvr>
                                      <p:to>
                                        <p:strVal val="visible"/>
                                      </p:to>
                                    </p:set>
                                    <p:anim calcmode="lin" valueType="num">
                                      <p:cBhvr additive="base">
                                        <p:cTn id="13" dur="500"/>
                                        <p:tgtEl>
                                          <p:spTgt spid="141">
                                            <p:txEl>
                                              <p:pRg st="1" end="1"/>
                                            </p:txEl>
                                          </p:spTgt>
                                        </p:tgtEl>
                                        <p:attrNameLst>
                                          <p:attrName>ppt_x</p:attrName>
                                        </p:attrNameLst>
                                      </p:cBhvr>
                                      <p:tavLst>
                                        <p:tav tm="0">
                                          <p:val>
                                            <p:strVal val="#ppt_x-#ppt_w*1.125000"/>
                                          </p:val>
                                        </p:tav>
                                        <p:tav tm="100000">
                                          <p:val>
                                            <p:strVal val="#ppt_x"/>
                                          </p:val>
                                        </p:tav>
                                      </p:tavLst>
                                    </p:anim>
                                    <p:animEffect transition="in" filter="wipe(right)">
                                      <p:cBhvr>
                                        <p:cTn id="14" dur="500"/>
                                        <p:tgtEl>
                                          <p:spTgt spid="1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67</a:t>
            </a:fld>
            <a:endParaRPr lang="zh-CN" altLang="en-US" dirty="0">
              <a:solidFill>
                <a:srgbClr val="C00000"/>
              </a:solidFill>
              <a:cs typeface="Times New Roman" panose="02020603050405020304" pitchFamily="18" charset="0"/>
            </a:endParaRPr>
          </a:p>
        </p:txBody>
      </p:sp>
      <p:sp>
        <p:nvSpPr>
          <p:cNvPr id="7" name="Rectangle 3"/>
          <p:cNvSpPr txBox="1">
            <a:spLocks noChangeArrowheads="1"/>
          </p:cNvSpPr>
          <p:nvPr/>
        </p:nvSpPr>
        <p:spPr bwMode="auto">
          <a:xfrm>
            <a:off x="432532" y="545823"/>
            <a:ext cx="517769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与极限平衡理论</a:t>
            </a:r>
            <a:r>
              <a:rPr lang="zh-CN" altLang="en-US" sz="2400" b="1" kern="0" dirty="0" smtClean="0">
                <a:solidFill>
                  <a:srgbClr val="A50021"/>
                </a:solidFill>
                <a:latin typeface="微软雅黑" panose="020B0503020204020204" pitchFamily="34" charset="-122"/>
                <a:ea typeface="微软雅黑" panose="020B0503020204020204" pitchFamily="34" charset="-122"/>
              </a:rPr>
              <a:t>精确解的</a:t>
            </a:r>
            <a:r>
              <a:rPr lang="zh-CN" altLang="en-US" sz="2400" b="1" kern="0" dirty="0">
                <a:solidFill>
                  <a:srgbClr val="A50021"/>
                </a:solidFill>
                <a:latin typeface="微软雅黑" panose="020B0503020204020204" pitchFamily="34" charset="-122"/>
                <a:ea typeface="微软雅黑" panose="020B0503020204020204" pitchFamily="34" charset="-122"/>
              </a:rPr>
              <a:t>比较</a:t>
            </a:r>
          </a:p>
        </p:txBody>
      </p:sp>
      <p:graphicFrame>
        <p:nvGraphicFramePr>
          <p:cNvPr id="32" name="Group 102"/>
          <p:cNvGraphicFramePr>
            <a:graphicFrameLocks noGrp="1"/>
          </p:cNvGraphicFramePr>
          <p:nvPr>
            <p:extLst>
              <p:ext uri="{D42A27DB-BD31-4B8C-83A1-F6EECF244321}">
                <p14:modId xmlns:p14="http://schemas.microsoft.com/office/powerpoint/2010/main" val="3934897876"/>
              </p:ext>
            </p:extLst>
          </p:nvPr>
        </p:nvGraphicFramePr>
        <p:xfrm>
          <a:off x="904876" y="2343150"/>
          <a:ext cx="7524750" cy="2717321"/>
        </p:xfrm>
        <a:graphic>
          <a:graphicData uri="http://schemas.openxmlformats.org/drawingml/2006/table">
            <a:tbl>
              <a:tblPr/>
              <a:tblGrid>
                <a:gridCol w="1889097">
                  <a:extLst>
                    <a:ext uri="{9D8B030D-6E8A-4147-A177-3AD203B41FA5}">
                      <a16:colId xmlns:a16="http://schemas.microsoft.com/office/drawing/2014/main" val="20000"/>
                    </a:ext>
                  </a:extLst>
                </a:gridCol>
                <a:gridCol w="960380">
                  <a:extLst>
                    <a:ext uri="{9D8B030D-6E8A-4147-A177-3AD203B41FA5}">
                      <a16:colId xmlns:a16="http://schemas.microsoft.com/office/drawing/2014/main" val="20001"/>
                    </a:ext>
                  </a:extLst>
                </a:gridCol>
                <a:gridCol w="928719">
                  <a:extLst>
                    <a:ext uri="{9D8B030D-6E8A-4147-A177-3AD203B41FA5}">
                      <a16:colId xmlns:a16="http://schemas.microsoft.com/office/drawing/2014/main" val="20002"/>
                    </a:ext>
                  </a:extLst>
                </a:gridCol>
                <a:gridCol w="886504">
                  <a:extLst>
                    <a:ext uri="{9D8B030D-6E8A-4147-A177-3AD203B41FA5}">
                      <a16:colId xmlns:a16="http://schemas.microsoft.com/office/drawing/2014/main" val="20003"/>
                    </a:ext>
                  </a:extLst>
                </a:gridCol>
                <a:gridCol w="1076469">
                  <a:extLst>
                    <a:ext uri="{9D8B030D-6E8A-4147-A177-3AD203B41FA5}">
                      <a16:colId xmlns:a16="http://schemas.microsoft.com/office/drawing/2014/main" val="20004"/>
                    </a:ext>
                  </a:extLst>
                </a:gridCol>
                <a:gridCol w="780968">
                  <a:extLst>
                    <a:ext uri="{9D8B030D-6E8A-4147-A177-3AD203B41FA5}">
                      <a16:colId xmlns:a16="http://schemas.microsoft.com/office/drawing/2014/main" val="20005"/>
                    </a:ext>
                  </a:extLst>
                </a:gridCol>
                <a:gridCol w="1002613">
                  <a:extLst>
                    <a:ext uri="{9D8B030D-6E8A-4147-A177-3AD203B41FA5}">
                      <a16:colId xmlns:a16="http://schemas.microsoft.com/office/drawing/2014/main" val="20006"/>
                    </a:ext>
                  </a:extLst>
                </a:gridCol>
              </a:tblGrid>
              <a:tr h="475190">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主动土压力系数 </a:t>
                      </a:r>
                      <a:r>
                        <a:rPr kumimoji="0" lang="en-US" altLang="zh-CN" sz="2200" b="1" i="1" u="none" strike="noStrike" cap="none" normalizeH="0" baseline="0" dirty="0" err="1"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K</a:t>
                      </a:r>
                      <a:r>
                        <a:rPr kumimoji="0" lang="en-US" altLang="zh-CN" sz="2200" b="1" i="0" u="none" strike="noStrike" cap="none" normalizeH="0" baseline="-25000" dirty="0" err="1"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a</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 0)</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6258">
                <a:tc>
                  <a:txBody>
                    <a:bodyPr/>
                    <a:lstStyle/>
                    <a:p>
                      <a:endParaRPr lang="zh-CN" altLang="en-US"/>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0</a:t>
                      </a:r>
                      <a:endPar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/2</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a:t>
                      </a:r>
                      <a:endPar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42516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a:t>
                      </a:r>
                      <a:endPar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4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索</a:t>
                      </a: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氏精确解</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0.49</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0.22</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A50021"/>
                          </a:solidFill>
                          <a:effectLst/>
                          <a:latin typeface="Times New Roman" panose="02020603050405020304" pitchFamily="18" charset="0"/>
                          <a:ea typeface="幼圆" panose="02010509060101010101" pitchFamily="49" charset="-122"/>
                          <a:cs typeface="Times New Roman" panose="02020603050405020304" pitchFamily="18" charset="0"/>
                        </a:rPr>
                        <a:t>0.45</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0.20</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A50021"/>
                          </a:solidFill>
                          <a:effectLst/>
                          <a:latin typeface="Times New Roman" panose="02020603050405020304" pitchFamily="18" charset="0"/>
                          <a:ea typeface="幼圆" panose="02010509060101010101" pitchFamily="49" charset="-122"/>
                          <a:cs typeface="Times New Roman" panose="02020603050405020304" pitchFamily="18" charset="0"/>
                        </a:rPr>
                        <a:t>0.44</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0.22</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0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朗肯理论</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0.49</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0.217</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A50021"/>
                          </a:solidFill>
                          <a:effectLst/>
                          <a:latin typeface="Times New Roman" panose="02020603050405020304" pitchFamily="18" charset="0"/>
                          <a:ea typeface="幼圆" panose="02010509060101010101" pitchFamily="49" charset="-122"/>
                          <a:cs typeface="Times New Roman" panose="02020603050405020304" pitchFamily="18" charset="0"/>
                        </a:rPr>
                        <a:t>0.49</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0.217</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A50021"/>
                          </a:solidFill>
                          <a:effectLst/>
                          <a:latin typeface="Times New Roman" panose="02020603050405020304" pitchFamily="18" charset="0"/>
                          <a:ea typeface="幼圆" panose="02010509060101010101" pitchFamily="49" charset="-122"/>
                          <a:cs typeface="Times New Roman" panose="02020603050405020304" pitchFamily="18" charset="0"/>
                        </a:rPr>
                        <a:t>0.49</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0.217</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4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库仑理论</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0.49</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0.22</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0.45</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0.20</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0.43</a:t>
                      </a:r>
                      <a:endParaRPr kumimoji="0" lang="en-US" altLang="zh-CN" sz="2200" b="1"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0.21</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计算</a:t>
            </a:r>
            <a:r>
              <a:rPr lang="zh-CN" altLang="en-US" sz="1800" b="1" kern="900" spc="130" dirty="0">
                <a:solidFill>
                  <a:srgbClr val="000066"/>
                </a:solidFill>
                <a:ea typeface="黑体" panose="02010609060101010101" pitchFamily="49" charset="-122"/>
                <a:cs typeface="Times New Roman" panose="02020603050405020304" pitchFamily="18" charset="0"/>
              </a:rPr>
              <a:t>误差</a:t>
            </a:r>
          </a:p>
        </p:txBody>
      </p:sp>
      <p:sp>
        <p:nvSpPr>
          <p:cNvPr id="9" name="Text Box 2"/>
          <p:cNvSpPr txBox="1">
            <a:spLocks noChangeArrowheads="1"/>
          </p:cNvSpPr>
          <p:nvPr/>
        </p:nvSpPr>
        <p:spPr bwMode="auto">
          <a:xfrm>
            <a:off x="1777429" y="5660740"/>
            <a:ext cx="63699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两种土压力理论的</a:t>
            </a:r>
            <a:r>
              <a:rPr kumimoji="1" lang="zh-CN" altLang="en-US" sz="4000" b="1" dirty="0" smtClean="0">
                <a:solidFill>
                  <a:srgbClr val="000066"/>
                </a:solidFill>
                <a:latin typeface="黑体" pitchFamily="2" charset="-122"/>
                <a:ea typeface="黑体" pitchFamily="2" charset="-122"/>
              </a:rPr>
              <a:t>计算误差</a:t>
            </a:r>
            <a:endParaRPr kumimoji="1" lang="zh-CN" altLang="en-US" sz="4000" b="1" dirty="0">
              <a:solidFill>
                <a:srgbClr val="000066"/>
              </a:solidFill>
              <a:latin typeface="黑体" pitchFamily="2" charset="-122"/>
              <a:ea typeface="黑体" pitchFamily="2" charset="-122"/>
            </a:endParaRPr>
          </a:p>
        </p:txBody>
      </p:sp>
      <p:sp>
        <p:nvSpPr>
          <p:cNvPr id="10" name="Text Box 4"/>
          <p:cNvSpPr txBox="1">
            <a:spLocks noChangeArrowheads="1"/>
          </p:cNvSpPr>
          <p:nvPr/>
        </p:nvSpPr>
        <p:spPr bwMode="auto">
          <a:xfrm>
            <a:off x="824490" y="1271909"/>
            <a:ext cx="7671810" cy="864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266700" indent="-266700" eaLnBrk="1" hangingPunct="1">
              <a:lnSpc>
                <a:spcPct val="114000"/>
              </a:lnSpc>
              <a:spcBef>
                <a:spcPts val="0"/>
              </a:spcBef>
              <a:spcAft>
                <a:spcPts val="200"/>
              </a:spcAft>
              <a:buClr>
                <a:srgbClr val="A50021"/>
              </a:buClr>
              <a:buSzPct val="130000"/>
              <a:buFont typeface="Arial" panose="020B0604020202020204" pitchFamily="34" charset="0"/>
              <a:buChar char="•"/>
              <a:tabLst>
                <a:tab pos="361950" algn="l"/>
              </a:tabLst>
            </a:pPr>
            <a:r>
              <a:rPr lang="zh-CN" altLang="en-US" sz="2200" b="1" dirty="0">
                <a:solidFill>
                  <a:srgbClr val="000066"/>
                </a:solidFill>
                <a:ea typeface="幼圆" panose="02010509060101010101" pitchFamily="49" charset="-122"/>
                <a:cs typeface="Times New Roman" panose="02020603050405020304" pitchFamily="18" charset="0"/>
              </a:rPr>
              <a:t>苏联学者索科洛夫斯基</a:t>
            </a:r>
            <a:r>
              <a:rPr lang="en-US" altLang="zh-CN" sz="2200" b="1" dirty="0" smtClean="0">
                <a:solidFill>
                  <a:srgbClr val="000066"/>
                </a:solidFill>
                <a:ea typeface="幼圆" panose="02010509060101010101" pitchFamily="49" charset="-122"/>
                <a:cs typeface="Times New Roman" panose="02020603050405020304" pitchFamily="18" charset="0"/>
              </a:rPr>
              <a:t>1960</a:t>
            </a:r>
            <a:r>
              <a:rPr lang="zh-CN" altLang="en-US" sz="2200" b="1" dirty="0" smtClean="0">
                <a:solidFill>
                  <a:srgbClr val="000066"/>
                </a:solidFill>
                <a:ea typeface="幼圆" panose="02010509060101010101" pitchFamily="49" charset="-122"/>
                <a:cs typeface="Times New Roman" panose="02020603050405020304" pitchFamily="18" charset="0"/>
              </a:rPr>
              <a:t>年</a:t>
            </a:r>
            <a:r>
              <a:rPr lang="en-US" altLang="zh-CN" sz="2200" b="1" dirty="0" err="1" smtClean="0">
                <a:solidFill>
                  <a:srgbClr val="000066"/>
                </a:solidFill>
                <a:ea typeface="幼圆" panose="02010509060101010101" pitchFamily="49" charset="-122"/>
                <a:cs typeface="Times New Roman" panose="02020603050405020304" pitchFamily="18" charset="0"/>
              </a:rPr>
              <a:t>用极限平衡理论</a:t>
            </a:r>
            <a:r>
              <a:rPr lang="zh-CN" altLang="en-US" sz="2200" b="1" dirty="0" smtClean="0">
                <a:solidFill>
                  <a:srgbClr val="000066"/>
                </a:solidFill>
                <a:ea typeface="幼圆" panose="02010509060101010101" pitchFamily="49" charset="-122"/>
                <a:cs typeface="Times New Roman" panose="02020603050405020304" pitchFamily="18" charset="0"/>
              </a:rPr>
              <a:t>，</a:t>
            </a:r>
            <a:r>
              <a:rPr lang="en-US" altLang="zh-CN" sz="2200" b="1" dirty="0" err="1" smtClean="0">
                <a:solidFill>
                  <a:srgbClr val="000066"/>
                </a:solidFill>
                <a:ea typeface="幼圆" panose="02010509060101010101" pitchFamily="49" charset="-122"/>
                <a:cs typeface="Times New Roman" panose="02020603050405020304" pitchFamily="18" charset="0"/>
              </a:rPr>
              <a:t>对水平填土面挡土墙，求出</a:t>
            </a:r>
            <a:r>
              <a:rPr lang="zh-CN" altLang="en-US" sz="2200" b="1" dirty="0" smtClean="0">
                <a:solidFill>
                  <a:srgbClr val="000066"/>
                </a:solidFill>
                <a:ea typeface="幼圆" panose="02010509060101010101" pitchFamily="49" charset="-122"/>
                <a:cs typeface="Times New Roman" panose="02020603050405020304" pitchFamily="18" charset="0"/>
              </a:rPr>
              <a:t>了</a:t>
            </a:r>
            <a:r>
              <a:rPr lang="en-US" altLang="zh-CN" sz="2200" b="1" dirty="0" err="1" smtClean="0">
                <a:solidFill>
                  <a:srgbClr val="000066"/>
                </a:solidFill>
                <a:ea typeface="幼圆" panose="02010509060101010101" pitchFamily="49" charset="-122"/>
                <a:cs typeface="Times New Roman" panose="02020603050405020304" pitchFamily="18" charset="0"/>
              </a:rPr>
              <a:t>主动和被动土压力系数</a:t>
            </a:r>
            <a:r>
              <a:rPr lang="zh-CN" altLang="en-US" sz="2200" b="1" dirty="0" smtClean="0">
                <a:solidFill>
                  <a:srgbClr val="000066"/>
                </a:solidFill>
                <a:ea typeface="幼圆" panose="02010509060101010101" pitchFamily="49" charset="-122"/>
                <a:cs typeface="Times New Roman" panose="02020603050405020304" pitchFamily="18" charset="0"/>
              </a:rPr>
              <a:t>的</a:t>
            </a:r>
            <a:r>
              <a:rPr lang="en-US" altLang="zh-CN" sz="2200" b="1" dirty="0" err="1" smtClean="0">
                <a:solidFill>
                  <a:srgbClr val="000066"/>
                </a:solidFill>
                <a:ea typeface="幼圆" panose="02010509060101010101" pitchFamily="49" charset="-122"/>
                <a:cs typeface="Times New Roman" panose="02020603050405020304" pitchFamily="18" charset="0"/>
              </a:rPr>
              <a:t>理论解</a:t>
            </a:r>
            <a:endParaRPr lang="en-US" altLang="zh-CN" sz="2200" b="1" dirty="0">
              <a:solidFill>
                <a:srgbClr val="000066"/>
              </a:solidFill>
              <a:ea typeface="幼圆"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310972230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Left)">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68</a:t>
            </a:fld>
            <a:endParaRPr lang="zh-CN" altLang="en-US" dirty="0">
              <a:solidFill>
                <a:srgbClr val="C00000"/>
              </a:solidFill>
              <a:cs typeface="Times New Roman" panose="02020603050405020304" pitchFamily="18" charset="0"/>
            </a:endParaRPr>
          </a:p>
        </p:txBody>
      </p:sp>
      <p:graphicFrame>
        <p:nvGraphicFramePr>
          <p:cNvPr id="32" name="Group 102"/>
          <p:cNvGraphicFramePr>
            <a:graphicFrameLocks noGrp="1"/>
          </p:cNvGraphicFramePr>
          <p:nvPr>
            <p:extLst>
              <p:ext uri="{D42A27DB-BD31-4B8C-83A1-F6EECF244321}">
                <p14:modId xmlns:p14="http://schemas.microsoft.com/office/powerpoint/2010/main" val="2964906879"/>
              </p:ext>
            </p:extLst>
          </p:nvPr>
        </p:nvGraphicFramePr>
        <p:xfrm>
          <a:off x="988827" y="1811266"/>
          <a:ext cx="7581034" cy="2731694"/>
        </p:xfrm>
        <a:graphic>
          <a:graphicData uri="http://schemas.openxmlformats.org/drawingml/2006/table">
            <a:tbl>
              <a:tblPr/>
              <a:tblGrid>
                <a:gridCol w="1903228">
                  <a:extLst>
                    <a:ext uri="{9D8B030D-6E8A-4147-A177-3AD203B41FA5}">
                      <a16:colId xmlns:a16="http://schemas.microsoft.com/office/drawing/2014/main" val="20000"/>
                    </a:ext>
                  </a:extLst>
                </a:gridCol>
                <a:gridCol w="967563">
                  <a:extLst>
                    <a:ext uri="{9D8B030D-6E8A-4147-A177-3AD203B41FA5}">
                      <a16:colId xmlns:a16="http://schemas.microsoft.com/office/drawing/2014/main" val="20001"/>
                    </a:ext>
                  </a:extLst>
                </a:gridCol>
                <a:gridCol w="935665">
                  <a:extLst>
                    <a:ext uri="{9D8B030D-6E8A-4147-A177-3AD203B41FA5}">
                      <a16:colId xmlns:a16="http://schemas.microsoft.com/office/drawing/2014/main" val="20002"/>
                    </a:ext>
                  </a:extLst>
                </a:gridCol>
                <a:gridCol w="893135">
                  <a:extLst>
                    <a:ext uri="{9D8B030D-6E8A-4147-A177-3AD203B41FA5}">
                      <a16:colId xmlns:a16="http://schemas.microsoft.com/office/drawing/2014/main" val="20003"/>
                    </a:ext>
                  </a:extLst>
                </a:gridCol>
                <a:gridCol w="1084521">
                  <a:extLst>
                    <a:ext uri="{9D8B030D-6E8A-4147-A177-3AD203B41FA5}">
                      <a16:colId xmlns:a16="http://schemas.microsoft.com/office/drawing/2014/main" val="20004"/>
                    </a:ext>
                  </a:extLst>
                </a:gridCol>
                <a:gridCol w="786809">
                  <a:extLst>
                    <a:ext uri="{9D8B030D-6E8A-4147-A177-3AD203B41FA5}">
                      <a16:colId xmlns:a16="http://schemas.microsoft.com/office/drawing/2014/main" val="20005"/>
                    </a:ext>
                  </a:extLst>
                </a:gridCol>
                <a:gridCol w="1010113">
                  <a:extLst>
                    <a:ext uri="{9D8B030D-6E8A-4147-A177-3AD203B41FA5}">
                      <a16:colId xmlns:a16="http://schemas.microsoft.com/office/drawing/2014/main" val="20006"/>
                    </a:ext>
                  </a:extLst>
                </a:gridCol>
              </a:tblGrid>
              <a:tr h="478490">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被动土压力系数 </a:t>
                      </a:r>
                      <a:r>
                        <a:rPr kumimoji="0" lang="en-US" altLang="zh-CN" sz="2200" b="1" i="1" u="none" strike="noStrike" cap="none" normalizeH="0" baseline="0" dirty="0" err="1"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K</a:t>
                      </a:r>
                      <a:r>
                        <a:rPr kumimoji="0" lang="en-US" altLang="zh-CN" sz="2200" b="1" i="0" u="none" strike="noStrike" cap="none" normalizeH="0" baseline="-25000" dirty="0" err="1"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p</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 0)</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92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200" b="1" i="0" u="none" strike="noStrike" cap="none" normalizeH="0" baseline="0" smtClean="0">
                        <a:ln>
                          <a:noFill/>
                        </a:ln>
                        <a:solidFill>
                          <a:srgbClr val="00CC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0</a:t>
                      </a:r>
                      <a:endPar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/2</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0"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rPr>
                        <a:t>= </a:t>
                      </a:r>
                      <a:r>
                        <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a:t>
                      </a:r>
                      <a:endParaRPr kumimoji="0" lang="en-US" altLang="zh-CN" sz="2200" b="1" i="1" u="none" strike="noStrike" cap="none" normalizeH="0" baseline="0" dirty="0" smtClean="0">
                        <a:ln>
                          <a:noFill/>
                        </a:ln>
                        <a:solidFill>
                          <a:srgbClr val="0066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4281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 </a:t>
                      </a:r>
                      <a:r>
                        <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a:rPr>
                        <a:t></a:t>
                      </a:r>
                      <a:endParaRPr kumimoji="0" lang="en-US" altLang="zh-CN" sz="2200" b="1" i="1"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dirty="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20</a:t>
                      </a: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rPr>
                        <a:t>40</a:t>
                      </a:r>
                      <a:r>
                        <a:rPr kumimoji="0" lang="en-US" altLang="zh-CN" sz="2200" b="1" i="0" u="none" strike="noStrike" cap="none" normalizeH="0" baseline="0" smtClean="0">
                          <a:ln>
                            <a:noFill/>
                          </a:ln>
                          <a:solidFill>
                            <a:srgbClr val="0000FF"/>
                          </a:solidFill>
                          <a:effectLst/>
                          <a:latin typeface="Times New Roman" panose="02020603050405020304" pitchFamily="18" charset="0"/>
                          <a:ea typeface="幼圆" panose="02010509060101010101" pitchFamily="49" charset="-122"/>
                          <a:cs typeface="Times New Roman" panose="02020603050405020304" pitchFamily="18" charset="0"/>
                          <a:sym typeface="Symbol" pitchFamily="18" charset="2"/>
                        </a:rPr>
                        <a:t></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67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索</a:t>
                      </a: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氏精确解</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itchFamily="18" charset="0"/>
                          <a:ea typeface="SimSun" pitchFamily="2" charset="-122"/>
                          <a:cs typeface="Times New Roman" pitchFamily="18" charset="0"/>
                        </a:rPr>
                        <a:t>2.04</a:t>
                      </a:r>
                      <a:endParaRPr kumimoji="0" lang="en-US" altLang="zh-CN" sz="2200" b="1" i="0" u="none" strike="noStrike" cap="none" normalizeH="0" baseline="0" dirty="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itchFamily="18" charset="0"/>
                          <a:ea typeface="SimSun" pitchFamily="2" charset="-122"/>
                          <a:cs typeface="Times New Roman" pitchFamily="18" charset="0"/>
                        </a:rPr>
                        <a:t>4.60</a:t>
                      </a:r>
                      <a:endParaRPr kumimoji="0" lang="en-US" altLang="zh-CN" sz="2200" b="1" i="0" u="none" strike="noStrike" cap="none" normalizeH="0" baseline="0" dirty="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itchFamily="18" charset="0"/>
                          <a:ea typeface="SimSun" pitchFamily="2" charset="-122"/>
                          <a:cs typeface="Times New Roman" pitchFamily="18" charset="0"/>
                        </a:rPr>
                        <a:t>2.55</a:t>
                      </a:r>
                      <a:endParaRPr kumimoji="0" lang="en-US" altLang="zh-CN" sz="2200" b="1" i="0" u="none" strike="noStrike" cap="none" normalizeH="0" baseline="0" dirty="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9.69</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itchFamily="18" charset="0"/>
                          <a:ea typeface="SimSun" pitchFamily="2" charset="-122"/>
                          <a:cs typeface="Times New Roman" pitchFamily="18" charset="0"/>
                        </a:rPr>
                        <a:t>3.04</a:t>
                      </a:r>
                      <a:endParaRPr kumimoji="0" lang="en-US" altLang="zh-CN" sz="2200" b="1" i="0" u="none" strike="noStrike" cap="none" normalizeH="0" baseline="0" dirty="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18.2</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04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朗肯理论</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2.04</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4.60</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2.04</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4.60</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FF"/>
                          </a:solidFill>
                          <a:effectLst/>
                          <a:latin typeface="Times New Roman" pitchFamily="18" charset="0"/>
                          <a:ea typeface="SimSun" pitchFamily="2" charset="-122"/>
                          <a:cs typeface="Times New Roman" pitchFamily="18" charset="0"/>
                        </a:rPr>
                        <a:t>2.04</a:t>
                      </a:r>
                      <a:endParaRPr kumimoji="0" lang="en-US" altLang="zh-CN" sz="2200" b="1" i="0" u="none" strike="noStrike" cap="none" normalizeH="0" baseline="0" dirty="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4.60</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1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rPr>
                        <a:t>库仑理论</a:t>
                      </a:r>
                      <a:endParaRPr kumimoji="0" lang="en-US" altLang="zh-CN" sz="2200" b="1" i="0" u="none" strike="noStrike" cap="none" normalizeH="0" baseline="0" dirty="0" smtClean="0">
                        <a:ln>
                          <a:noFill/>
                        </a:ln>
                        <a:solidFill>
                          <a:srgbClr val="C00000"/>
                        </a:solidFill>
                        <a:effectLst/>
                        <a:latin typeface="Times New Roman" panose="02020603050405020304" pitchFamily="18" charset="0"/>
                        <a:ea typeface="幼圆" panose="02010509060101010101" pitchFamily="49" charset="-122"/>
                        <a:cs typeface="Times New Roman" panose="02020603050405020304" pitchFamily="18" charset="0"/>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2.04</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4.60</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2.63</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11.8</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smtClean="0">
                          <a:ln>
                            <a:noFill/>
                          </a:ln>
                          <a:solidFill>
                            <a:srgbClr val="0000FF"/>
                          </a:solidFill>
                          <a:effectLst/>
                          <a:latin typeface="Times New Roman" pitchFamily="18" charset="0"/>
                          <a:ea typeface="SimSun" pitchFamily="2" charset="-122"/>
                          <a:cs typeface="Times New Roman" pitchFamily="18" charset="0"/>
                        </a:rPr>
                        <a:t>3.52</a:t>
                      </a:r>
                      <a:endParaRPr kumimoji="0" lang="en-US" altLang="zh-CN" sz="2200" b="1" i="0" u="none" strike="noStrike" cap="none" normalizeH="0" baseline="0" smtClean="0">
                        <a:ln>
                          <a:noFill/>
                        </a:ln>
                        <a:solidFill>
                          <a:schemeClr val="tx1"/>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92.6</a:t>
                      </a:r>
                      <a:endParaRPr kumimoji="0" lang="en-US" altLang="zh-CN" sz="2200" b="1" i="0" u="none" strike="noStrike" cap="none" normalizeH="0" baseline="0" dirty="0" smtClean="0">
                        <a:ln>
                          <a:noFill/>
                        </a:ln>
                        <a:solidFill>
                          <a:srgbClr val="FF0000"/>
                        </a:solidFill>
                        <a:effectLst/>
                        <a:latin typeface="Times New Roman" pitchFamily="18" charset="0"/>
                        <a:ea typeface="SimSun" pitchFamily="2"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计算</a:t>
            </a:r>
            <a:r>
              <a:rPr lang="zh-CN" altLang="en-US" sz="1800" b="1" kern="900" spc="130" dirty="0">
                <a:solidFill>
                  <a:srgbClr val="000066"/>
                </a:solidFill>
                <a:ea typeface="黑体" panose="02010609060101010101" pitchFamily="49" charset="-122"/>
                <a:cs typeface="Times New Roman" panose="02020603050405020304" pitchFamily="18" charset="0"/>
              </a:rPr>
              <a:t>误差</a:t>
            </a:r>
          </a:p>
        </p:txBody>
      </p:sp>
      <p:sp>
        <p:nvSpPr>
          <p:cNvPr id="9" name="Text Box 2"/>
          <p:cNvSpPr txBox="1">
            <a:spLocks noChangeArrowheads="1"/>
          </p:cNvSpPr>
          <p:nvPr/>
        </p:nvSpPr>
        <p:spPr bwMode="auto">
          <a:xfrm>
            <a:off x="1777429" y="5660740"/>
            <a:ext cx="63699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两种土压力理论的</a:t>
            </a:r>
            <a:r>
              <a:rPr kumimoji="1" lang="zh-CN" altLang="en-US" sz="4000" b="1" dirty="0" smtClean="0">
                <a:solidFill>
                  <a:srgbClr val="000066"/>
                </a:solidFill>
                <a:latin typeface="黑体" pitchFamily="2" charset="-122"/>
                <a:ea typeface="黑体" pitchFamily="2" charset="-122"/>
              </a:rPr>
              <a:t>计算误差</a:t>
            </a:r>
            <a:endParaRPr kumimoji="1" lang="zh-CN" altLang="en-US" sz="4000" b="1" dirty="0">
              <a:solidFill>
                <a:srgbClr val="000066"/>
              </a:solidFill>
              <a:latin typeface="黑体" pitchFamily="2" charset="-122"/>
              <a:ea typeface="黑体" pitchFamily="2" charset="-122"/>
            </a:endParaRPr>
          </a:p>
        </p:txBody>
      </p:sp>
      <p:sp>
        <p:nvSpPr>
          <p:cNvPr id="10" name="Rectangle 3"/>
          <p:cNvSpPr txBox="1">
            <a:spLocks noChangeArrowheads="1"/>
          </p:cNvSpPr>
          <p:nvPr/>
        </p:nvSpPr>
        <p:spPr bwMode="auto">
          <a:xfrm>
            <a:off x="432532" y="545823"/>
            <a:ext cx="517769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与极限平衡理论</a:t>
            </a:r>
            <a:r>
              <a:rPr lang="zh-CN" altLang="en-US" sz="2400" b="1" kern="0" dirty="0" smtClean="0">
                <a:solidFill>
                  <a:srgbClr val="A50021"/>
                </a:solidFill>
                <a:latin typeface="微软雅黑" panose="020B0503020204020204" pitchFamily="34" charset="-122"/>
                <a:ea typeface="微软雅黑" panose="020B0503020204020204" pitchFamily="34" charset="-122"/>
              </a:rPr>
              <a:t>精确解的</a:t>
            </a:r>
            <a:r>
              <a:rPr lang="zh-CN" altLang="en-US" sz="2400" b="1" kern="0" dirty="0">
                <a:solidFill>
                  <a:srgbClr val="A50021"/>
                </a:solidFill>
                <a:latin typeface="微软雅黑" panose="020B0503020204020204" pitchFamily="34" charset="-122"/>
                <a:ea typeface="微软雅黑" panose="020B0503020204020204" pitchFamily="34" charset="-122"/>
              </a:rPr>
              <a:t>比较</a:t>
            </a:r>
          </a:p>
        </p:txBody>
      </p:sp>
    </p:spTree>
    <p:extLst>
      <p:ext uri="{BB962C8B-B14F-4D97-AF65-F5344CB8AC3E}">
        <p14:creationId xmlns:p14="http://schemas.microsoft.com/office/powerpoint/2010/main" val="583394575"/>
      </p:ext>
    </p:extLst>
  </p:cSld>
  <p:clrMapOvr>
    <a:masterClrMapping/>
  </p:clrMapOvr>
  <p:transition spd="med">
    <p:wipe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cs typeface="Times New Roman" panose="02020603050405020304" pitchFamily="18" charset="0"/>
              </a:rPr>
              <a:pPr algn="r"/>
              <a:t>69</a:t>
            </a:fld>
            <a:endParaRPr lang="zh-CN" altLang="en-US" dirty="0">
              <a:solidFill>
                <a:srgbClr val="C00000"/>
              </a:solidFill>
              <a:cs typeface="Times New Roman" panose="02020603050405020304" pitchFamily="18" charset="0"/>
            </a:endParaRPr>
          </a:p>
        </p:txBody>
      </p:sp>
      <p:sp>
        <p:nvSpPr>
          <p:cNvPr id="7" name="Rectangle 3"/>
          <p:cNvSpPr txBox="1">
            <a:spLocks noChangeArrowheads="1"/>
          </p:cNvSpPr>
          <p:nvPr/>
        </p:nvSpPr>
        <p:spPr bwMode="auto">
          <a:xfrm>
            <a:off x="432533" y="536298"/>
            <a:ext cx="327823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a:solidFill>
                  <a:srgbClr val="A50021"/>
                </a:solidFill>
                <a:latin typeface="微软雅黑" panose="020B0503020204020204" pitchFamily="34" charset="-122"/>
                <a:ea typeface="微软雅黑" panose="020B0503020204020204" pitchFamily="34" charset="-122"/>
              </a:rPr>
              <a:t> </a:t>
            </a:r>
            <a:r>
              <a:rPr lang="zh-CN" altLang="en-US" sz="2800" b="1" kern="0" dirty="0" smtClean="0">
                <a:solidFill>
                  <a:srgbClr val="A50021"/>
                </a:solidFill>
                <a:latin typeface="微软雅黑" panose="020B0503020204020204" pitchFamily="34" charset="-122"/>
                <a:ea typeface="微软雅黑" panose="020B0503020204020204" pitchFamily="34" charset="-122"/>
              </a:rPr>
              <a:t>计算误差 </a:t>
            </a:r>
            <a:r>
              <a:rPr lang="en-US" altLang="zh-CN" sz="2800" b="1" kern="0" dirty="0" smtClean="0">
                <a:solidFill>
                  <a:srgbClr val="A50021"/>
                </a:solidFill>
                <a:latin typeface="微软雅黑" panose="020B0503020204020204" pitchFamily="34" charset="-122"/>
                <a:ea typeface="微软雅黑" panose="020B0503020204020204" pitchFamily="34" charset="-122"/>
              </a:rPr>
              <a:t>- </a:t>
            </a:r>
            <a:r>
              <a:rPr lang="zh-CN" altLang="en-US" sz="2800" b="1" kern="0" dirty="0" smtClean="0">
                <a:solidFill>
                  <a:srgbClr val="A50021"/>
                </a:solidFill>
                <a:latin typeface="微软雅黑" panose="020B0503020204020204" pitchFamily="34" charset="-122"/>
                <a:ea typeface="微软雅黑" panose="020B0503020204020204" pitchFamily="34" charset="-122"/>
              </a:rPr>
              <a:t>总结</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sp>
        <p:nvSpPr>
          <p:cNvPr id="10" name="Text Box 29"/>
          <p:cNvSpPr txBox="1">
            <a:spLocks noChangeArrowheads="1"/>
          </p:cNvSpPr>
          <p:nvPr/>
        </p:nvSpPr>
        <p:spPr bwMode="auto">
          <a:xfrm>
            <a:off x="871868" y="1356542"/>
            <a:ext cx="7814932"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如果 </a:t>
            </a:r>
            <a:r>
              <a:rPr kumimoji="1" lang="zh-CN" altLang="en-US" sz="24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24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2400" b="1" dirty="0" smtClean="0">
                <a:solidFill>
                  <a:srgbClr val="000066"/>
                </a:solidFill>
                <a:ea typeface="幼圆" panose="02010509060101010101" pitchFamily="49" charset="-122"/>
                <a:cs typeface="Times New Roman" panose="02020603050405020304" pitchFamily="18" charset="0"/>
              </a:rPr>
              <a:t>0</a:t>
            </a:r>
            <a:r>
              <a:rPr kumimoji="1" lang="zh-CN" altLang="en-US" sz="2400" b="1" dirty="0">
                <a:solidFill>
                  <a:srgbClr val="000066"/>
                </a:solidFill>
                <a:ea typeface="幼圆" panose="02010509060101010101" pitchFamily="49" charset="-122"/>
                <a:cs typeface="Times New Roman" panose="02020603050405020304" pitchFamily="18" charset="0"/>
              </a:rPr>
              <a:t>，滑裂面是直线，三种理论计算</a:t>
            </a:r>
            <a:r>
              <a:rPr kumimoji="1" lang="en-US" altLang="zh-CN" sz="2400" b="1" i="1" dirty="0" err="1">
                <a:solidFill>
                  <a:srgbClr val="000066"/>
                </a:solidFill>
                <a:ea typeface="幼圆" panose="02010509060101010101" pitchFamily="49" charset="-122"/>
                <a:cs typeface="Times New Roman" panose="02020603050405020304" pitchFamily="18" charset="0"/>
              </a:rPr>
              <a:t>K</a:t>
            </a:r>
            <a:r>
              <a:rPr kumimoji="1" lang="en-US" altLang="zh-CN" sz="2400" b="1" baseline="-25000" dirty="0" err="1">
                <a:solidFill>
                  <a:srgbClr val="000066"/>
                </a:solidFill>
                <a:ea typeface="幼圆" panose="02010509060101010101" pitchFamily="49" charset="-122"/>
                <a:cs typeface="Times New Roman" panose="02020603050405020304" pitchFamily="18" charset="0"/>
              </a:rPr>
              <a:t>a</a:t>
            </a:r>
            <a:r>
              <a:rPr kumimoji="1" lang="en-US" altLang="zh-CN" sz="2400" b="1" i="1" dirty="0">
                <a:solidFill>
                  <a:srgbClr val="000066"/>
                </a:solidFill>
                <a:ea typeface="幼圆" panose="02010509060101010101" pitchFamily="49" charset="-122"/>
                <a:cs typeface="Times New Roman" panose="02020603050405020304" pitchFamily="18" charset="0"/>
              </a:rPr>
              <a:t>, </a:t>
            </a:r>
            <a:r>
              <a:rPr kumimoji="1" lang="en-US" altLang="zh-CN" sz="2400" b="1" i="1" dirty="0" err="1">
                <a:solidFill>
                  <a:srgbClr val="000066"/>
                </a:solidFill>
                <a:ea typeface="幼圆" panose="02010509060101010101" pitchFamily="49" charset="-122"/>
                <a:cs typeface="Times New Roman" panose="02020603050405020304" pitchFamily="18" charset="0"/>
              </a:rPr>
              <a:t>K</a:t>
            </a:r>
            <a:r>
              <a:rPr kumimoji="1" lang="en-US" altLang="zh-CN" sz="2400" b="1" baseline="-25000" dirty="0" err="1">
                <a:solidFill>
                  <a:srgbClr val="000066"/>
                </a:solidFill>
                <a:ea typeface="幼圆" panose="02010509060101010101" pitchFamily="49" charset="-122"/>
                <a:cs typeface="Times New Roman" panose="02020603050405020304" pitchFamily="18" charset="0"/>
              </a:rPr>
              <a:t>p</a:t>
            </a:r>
            <a:r>
              <a:rPr kumimoji="1" lang="zh-CN" altLang="en-US" sz="2400" b="1" dirty="0" smtClean="0">
                <a:solidFill>
                  <a:srgbClr val="000066"/>
                </a:solidFill>
                <a:ea typeface="幼圆" panose="02010509060101010101" pitchFamily="49" charset="-122"/>
                <a:cs typeface="Times New Roman" panose="02020603050405020304" pitchFamily="18" charset="0"/>
              </a:rPr>
              <a:t>相同</a:t>
            </a:r>
            <a:endParaRPr kumimoji="1" lang="en-US" altLang="zh-CN" sz="2400" b="1" dirty="0" smtClean="0">
              <a:solidFill>
                <a:srgbClr val="000066"/>
              </a:solidFill>
              <a:ea typeface="幼圆" panose="02010509060101010101" pitchFamily="49" charset="-122"/>
              <a:cs typeface="Times New Roman" panose="02020603050405020304" pitchFamily="18" charset="0"/>
            </a:endParaRPr>
          </a:p>
          <a:p>
            <a:pPr marL="342900" indent="-342900">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如果 </a:t>
            </a:r>
            <a:r>
              <a:rPr kumimoji="1" lang="zh-CN" altLang="en-US" sz="24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zh-CN" altLang="en-US" sz="24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2400" b="1" dirty="0" smtClean="0">
                <a:solidFill>
                  <a:srgbClr val="000066"/>
                </a:solidFill>
                <a:ea typeface="幼圆" panose="02010509060101010101" pitchFamily="49" charset="-122"/>
                <a:cs typeface="Times New Roman" panose="02020603050405020304" pitchFamily="18" charset="0"/>
              </a:rPr>
              <a:t>0</a:t>
            </a:r>
            <a:endParaRPr kumimoji="1" lang="zh-CN" altLang="en-US" sz="2400" b="1" dirty="0">
              <a:solidFill>
                <a:srgbClr val="000066"/>
              </a:solidFill>
              <a:ea typeface="幼圆" panose="02010509060101010101" pitchFamily="49" charset="-122"/>
              <a:cs typeface="Times New Roman" panose="02020603050405020304" pitchFamily="18" charset="0"/>
            </a:endParaRPr>
          </a:p>
        </p:txBody>
      </p:sp>
      <p:sp>
        <p:nvSpPr>
          <p:cNvPr id="11" name="Rectangle 3"/>
          <p:cNvSpPr txBox="1">
            <a:spLocks noChangeArrowheads="1"/>
          </p:cNvSpPr>
          <p:nvPr/>
        </p:nvSpPr>
        <p:spPr bwMode="auto">
          <a:xfrm>
            <a:off x="3136766" y="2359476"/>
            <a:ext cx="5082386" cy="93661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139700" indent="-182563">
              <a:lnSpc>
                <a:spcPct val="120000"/>
              </a:lnSpc>
              <a:spcBef>
                <a:spcPts val="0"/>
              </a:spcBef>
              <a:spcAft>
                <a:spcPts val="0"/>
              </a:spcAft>
              <a:buClr>
                <a:srgbClr val="C00000"/>
              </a:buClr>
              <a:buSzPct val="130000"/>
              <a:buFont typeface="Arial" panose="020B0604020202020204" pitchFamily="34" charset="0"/>
              <a:buChar char="•"/>
            </a:pPr>
            <a:r>
              <a:rPr kumimoji="1" lang="zh-CN" altLang="en-US" sz="2400" b="1" dirty="0" smtClean="0">
                <a:solidFill>
                  <a:srgbClr val="000066"/>
                </a:solidFill>
                <a:latin typeface="Times New Roman" panose="02020603050405020304" pitchFamily="18" charset="0"/>
                <a:ea typeface="幼圆" panose="02010509060101010101" pitchFamily="49" charset="-122"/>
              </a:rPr>
              <a:t>朗肯</a:t>
            </a:r>
            <a:r>
              <a:rPr kumimoji="1" lang="zh-CN" altLang="en-US" sz="2400" b="1" dirty="0">
                <a:solidFill>
                  <a:srgbClr val="000066"/>
                </a:solidFill>
                <a:latin typeface="Times New Roman" panose="02020603050405020304" pitchFamily="18" charset="0"/>
                <a:ea typeface="幼圆" panose="02010509060101010101" pitchFamily="49" charset="-122"/>
              </a:rPr>
              <a:t>偏大</a:t>
            </a:r>
            <a:r>
              <a:rPr kumimoji="1" lang="en-US" altLang="zh-CN" sz="2400" b="1" dirty="0">
                <a:solidFill>
                  <a:srgbClr val="000066"/>
                </a:solidFill>
                <a:latin typeface="Times New Roman" panose="02020603050405020304" pitchFamily="18" charset="0"/>
                <a:ea typeface="幼圆" panose="02010509060101010101" pitchFamily="49" charset="-122"/>
              </a:rPr>
              <a:t>10%</a:t>
            </a:r>
            <a:r>
              <a:rPr kumimoji="1" lang="zh-CN" altLang="en-US" sz="2400" b="1" dirty="0">
                <a:solidFill>
                  <a:srgbClr val="000066"/>
                </a:solidFill>
                <a:latin typeface="Times New Roman" panose="02020603050405020304" pitchFamily="18" charset="0"/>
                <a:ea typeface="幼圆" panose="02010509060101010101" pitchFamily="49" charset="-122"/>
              </a:rPr>
              <a:t>左右，工程偏安</a:t>
            </a:r>
            <a:r>
              <a:rPr kumimoji="1" lang="zh-CN" altLang="en-US" sz="2400" b="1" dirty="0" smtClean="0">
                <a:solidFill>
                  <a:srgbClr val="000066"/>
                </a:solidFill>
                <a:latin typeface="Times New Roman" panose="02020603050405020304" pitchFamily="18" charset="0"/>
                <a:ea typeface="幼圆" panose="02010509060101010101" pitchFamily="49" charset="-122"/>
              </a:rPr>
              <a:t>全</a:t>
            </a:r>
            <a:endParaRPr kumimoji="1" lang="en-US" altLang="zh-CN" sz="2400" b="1" dirty="0" smtClean="0">
              <a:solidFill>
                <a:srgbClr val="000066"/>
              </a:solidFill>
              <a:latin typeface="Times New Roman" panose="02020603050405020304" pitchFamily="18" charset="0"/>
              <a:ea typeface="幼圆" panose="02010509060101010101" pitchFamily="49" charset="-122"/>
            </a:endParaRPr>
          </a:p>
          <a:p>
            <a:pPr marL="139700" indent="-182563">
              <a:lnSpc>
                <a:spcPct val="120000"/>
              </a:lnSpc>
              <a:spcBef>
                <a:spcPts val="0"/>
              </a:spcBef>
              <a:spcAft>
                <a:spcPts val="0"/>
              </a:spcAft>
              <a:buClr>
                <a:srgbClr val="C00000"/>
              </a:buClr>
              <a:buSzPct val="130000"/>
              <a:buFont typeface="Arial" panose="020B0604020202020204" pitchFamily="34" charset="0"/>
              <a:buChar char="•"/>
            </a:pPr>
            <a:r>
              <a:rPr kumimoji="1" lang="zh-CN" altLang="en-US" sz="2400" b="1" dirty="0" smtClean="0">
                <a:solidFill>
                  <a:srgbClr val="000066"/>
                </a:solidFill>
                <a:latin typeface="Times New Roman" panose="02020603050405020304" pitchFamily="18" charset="0"/>
                <a:ea typeface="幼圆" panose="02010509060101010101" pitchFamily="49" charset="-122"/>
              </a:rPr>
              <a:t>库仑稍偏</a:t>
            </a:r>
            <a:r>
              <a:rPr kumimoji="1" lang="zh-CN" altLang="en-US" sz="2400" b="1" dirty="0">
                <a:solidFill>
                  <a:srgbClr val="000066"/>
                </a:solidFill>
                <a:latin typeface="Times New Roman" panose="02020603050405020304" pitchFamily="18" charset="0"/>
                <a:ea typeface="幼圆" panose="02010509060101010101" pitchFamily="49" charset="-122"/>
              </a:rPr>
              <a:t>小一些</a:t>
            </a:r>
            <a:r>
              <a:rPr kumimoji="1" lang="zh-CN" altLang="en-US" sz="2400" b="1" dirty="0" smtClean="0">
                <a:solidFill>
                  <a:srgbClr val="000066"/>
                </a:solidFill>
                <a:latin typeface="Times New Roman" panose="02020603050405020304" pitchFamily="18" charset="0"/>
                <a:ea typeface="幼圆" panose="02010509060101010101" pitchFamily="49" charset="-122"/>
              </a:rPr>
              <a:t>（差别可</a:t>
            </a:r>
            <a:r>
              <a:rPr kumimoji="1" lang="zh-CN" altLang="en-US" sz="2400" b="1" dirty="0">
                <a:solidFill>
                  <a:srgbClr val="000066"/>
                </a:solidFill>
                <a:latin typeface="Times New Roman" panose="02020603050405020304" pitchFamily="18" charset="0"/>
                <a:ea typeface="幼圆" panose="02010509060101010101" pitchFamily="49" charset="-122"/>
              </a:rPr>
              <a:t>忽略</a:t>
            </a:r>
            <a:r>
              <a:rPr kumimoji="1" lang="en-US" altLang="zh-CN" sz="2400" b="1" dirty="0" smtClean="0">
                <a:solidFill>
                  <a:srgbClr val="000066"/>
                </a:solidFill>
                <a:latin typeface="Times New Roman" panose="02020603050405020304" pitchFamily="18" charset="0"/>
                <a:ea typeface="幼圆" panose="02010509060101010101" pitchFamily="49" charset="-122"/>
              </a:rPr>
              <a:t>)</a:t>
            </a:r>
            <a:endParaRPr kumimoji="1" lang="zh-CN" altLang="en-US" sz="2400" b="1" dirty="0">
              <a:solidFill>
                <a:srgbClr val="000066"/>
              </a:solidFill>
              <a:latin typeface="Times New Roman" panose="02020603050405020304" pitchFamily="18" charset="0"/>
              <a:ea typeface="幼圆" panose="02010509060101010101" pitchFamily="49" charset="-122"/>
            </a:endParaRPr>
          </a:p>
        </p:txBody>
      </p:sp>
      <p:sp>
        <p:nvSpPr>
          <p:cNvPr id="2" name="矩形 1"/>
          <p:cNvSpPr/>
          <p:nvPr/>
        </p:nvSpPr>
        <p:spPr>
          <a:xfrm>
            <a:off x="2496310" y="2482771"/>
            <a:ext cx="633507" cy="587853"/>
          </a:xfrm>
          <a:prstGeom prst="rect">
            <a:avLst/>
          </a:prstGeom>
        </p:spPr>
        <p:txBody>
          <a:bodyPr wrap="none">
            <a:spAutoFit/>
          </a:bodyPr>
          <a:lstStyle/>
          <a:p>
            <a:r>
              <a:rPr kumimoji="1" lang="en-US" altLang="zh-CN" sz="2800" b="1" i="1" dirty="0" err="1">
                <a:solidFill>
                  <a:srgbClr val="A50021"/>
                </a:solidFill>
                <a:ea typeface="幼圆" panose="02010509060101010101" pitchFamily="49" charset="-122"/>
              </a:rPr>
              <a:t>K</a:t>
            </a:r>
            <a:r>
              <a:rPr kumimoji="1" lang="en-US" altLang="zh-CN" sz="2800" b="1" baseline="-25000" dirty="0" err="1">
                <a:solidFill>
                  <a:srgbClr val="A50021"/>
                </a:solidFill>
                <a:ea typeface="幼圆" panose="02010509060101010101" pitchFamily="49" charset="-122"/>
              </a:rPr>
              <a:t>a</a:t>
            </a:r>
            <a:r>
              <a:rPr kumimoji="1" lang="en-US" altLang="zh-CN" sz="2800" b="1" i="1" dirty="0">
                <a:solidFill>
                  <a:srgbClr val="A50021"/>
                </a:solidFill>
                <a:ea typeface="幼圆" panose="02010509060101010101" pitchFamily="49" charset="-122"/>
              </a:rPr>
              <a:t> </a:t>
            </a:r>
            <a:endParaRPr lang="zh-CN" altLang="en-US" sz="2800" dirty="0">
              <a:solidFill>
                <a:srgbClr val="A50021"/>
              </a:solidFill>
            </a:endParaRPr>
          </a:p>
        </p:txBody>
      </p:sp>
      <p:sp>
        <p:nvSpPr>
          <p:cNvPr id="13" name="Rectangle 3"/>
          <p:cNvSpPr txBox="1">
            <a:spLocks noChangeArrowheads="1"/>
          </p:cNvSpPr>
          <p:nvPr/>
        </p:nvSpPr>
        <p:spPr bwMode="auto">
          <a:xfrm>
            <a:off x="3161574" y="3383749"/>
            <a:ext cx="2962963" cy="93661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139700" indent="-182563">
              <a:lnSpc>
                <a:spcPct val="120000"/>
              </a:lnSpc>
              <a:spcBef>
                <a:spcPts val="0"/>
              </a:spcBef>
              <a:spcAft>
                <a:spcPts val="0"/>
              </a:spcAft>
              <a:buClr>
                <a:srgbClr val="C00000"/>
              </a:buClr>
              <a:buSzPct val="130000"/>
              <a:buFont typeface="Arial" panose="020B0604020202020204" pitchFamily="34" charset="0"/>
              <a:buChar char="•"/>
            </a:pPr>
            <a:r>
              <a:rPr kumimoji="1" lang="zh-CN" altLang="en-US" sz="2400" b="1" dirty="0" smtClean="0">
                <a:solidFill>
                  <a:srgbClr val="000066"/>
                </a:solidFill>
                <a:latin typeface="Times New Roman" panose="02020603050405020304" pitchFamily="18" charset="0"/>
                <a:ea typeface="幼圆" panose="02010509060101010101" pitchFamily="49" charset="-122"/>
              </a:rPr>
              <a:t>朗肯</a:t>
            </a:r>
            <a:r>
              <a:rPr kumimoji="1" lang="zh-CN" altLang="en-US" sz="2400" b="1" dirty="0">
                <a:solidFill>
                  <a:srgbClr val="000066"/>
                </a:solidFill>
                <a:latin typeface="Times New Roman" panose="02020603050405020304" pitchFamily="18" charset="0"/>
                <a:ea typeface="幼圆" panose="02010509060101010101" pitchFamily="49" charset="-122"/>
              </a:rPr>
              <a:t>偏小可达</a:t>
            </a:r>
            <a:r>
              <a:rPr kumimoji="1" lang="zh-CN" altLang="en-US" sz="2400" b="1" dirty="0" smtClean="0">
                <a:solidFill>
                  <a:srgbClr val="000066"/>
                </a:solidFill>
                <a:latin typeface="Times New Roman" panose="02020603050405020304" pitchFamily="18" charset="0"/>
                <a:ea typeface="幼圆" panose="02010509060101010101" pitchFamily="49" charset="-122"/>
              </a:rPr>
              <a:t>几倍</a:t>
            </a:r>
            <a:endParaRPr kumimoji="1" lang="en-US" altLang="zh-CN" sz="2400" b="1" dirty="0" smtClean="0">
              <a:solidFill>
                <a:srgbClr val="000066"/>
              </a:solidFill>
              <a:latin typeface="Times New Roman" panose="02020603050405020304" pitchFamily="18" charset="0"/>
              <a:ea typeface="幼圆" panose="02010509060101010101" pitchFamily="49" charset="-122"/>
            </a:endParaRPr>
          </a:p>
          <a:p>
            <a:pPr marL="139700" indent="-182563">
              <a:lnSpc>
                <a:spcPct val="120000"/>
              </a:lnSpc>
              <a:spcBef>
                <a:spcPts val="0"/>
              </a:spcBef>
              <a:spcAft>
                <a:spcPts val="0"/>
              </a:spcAft>
              <a:buClr>
                <a:srgbClr val="C00000"/>
              </a:buClr>
              <a:buSzPct val="130000"/>
              <a:buFont typeface="Arial" panose="020B0604020202020204" pitchFamily="34" charset="0"/>
              <a:buChar char="•"/>
            </a:pPr>
            <a:r>
              <a:rPr kumimoji="1" lang="zh-CN" altLang="en-US" sz="2400" b="1" dirty="0">
                <a:solidFill>
                  <a:srgbClr val="000066"/>
                </a:solidFill>
                <a:latin typeface="Times New Roman" panose="02020603050405020304" pitchFamily="18" charset="0"/>
                <a:ea typeface="幼圆" panose="02010509060101010101" pitchFamily="49" charset="-122"/>
              </a:rPr>
              <a:t>库仑偏大可达几倍</a:t>
            </a:r>
          </a:p>
        </p:txBody>
      </p:sp>
      <p:sp>
        <p:nvSpPr>
          <p:cNvPr id="14" name="矩形 13"/>
          <p:cNvSpPr/>
          <p:nvPr/>
        </p:nvSpPr>
        <p:spPr>
          <a:xfrm>
            <a:off x="2542384" y="3517677"/>
            <a:ext cx="646331" cy="587853"/>
          </a:xfrm>
          <a:prstGeom prst="rect">
            <a:avLst/>
          </a:prstGeom>
        </p:spPr>
        <p:txBody>
          <a:bodyPr wrap="none">
            <a:spAutoFit/>
          </a:bodyPr>
          <a:lstStyle/>
          <a:p>
            <a:r>
              <a:rPr kumimoji="1" lang="en-US" altLang="zh-CN" sz="2800" b="1" i="1" dirty="0" err="1" smtClean="0">
                <a:solidFill>
                  <a:srgbClr val="A50021"/>
                </a:solidFill>
                <a:ea typeface="幼圆" panose="02010509060101010101" pitchFamily="49" charset="-122"/>
              </a:rPr>
              <a:t>K</a:t>
            </a:r>
            <a:r>
              <a:rPr kumimoji="1" lang="en-US" altLang="zh-CN" sz="2800" b="1" baseline="-25000" dirty="0" err="1" smtClean="0">
                <a:solidFill>
                  <a:srgbClr val="A50021"/>
                </a:solidFill>
                <a:ea typeface="幼圆" panose="02010509060101010101" pitchFamily="49" charset="-122"/>
              </a:rPr>
              <a:t>p</a:t>
            </a:r>
            <a:r>
              <a:rPr kumimoji="1" lang="en-US" altLang="zh-CN" sz="2800" b="1" i="1" dirty="0" smtClean="0">
                <a:solidFill>
                  <a:srgbClr val="A50021"/>
                </a:solidFill>
                <a:ea typeface="幼圆" panose="02010509060101010101" pitchFamily="49" charset="-122"/>
              </a:rPr>
              <a:t> </a:t>
            </a:r>
            <a:endParaRPr lang="zh-CN" altLang="en-US" sz="2800" dirty="0">
              <a:solidFill>
                <a:srgbClr val="A50021"/>
              </a:solidFill>
            </a:endParaRPr>
          </a:p>
        </p:txBody>
      </p:sp>
      <p:sp>
        <p:nvSpPr>
          <p:cNvPr id="15" name="Text Box 29"/>
          <p:cNvSpPr txBox="1">
            <a:spLocks noChangeArrowheads="1"/>
          </p:cNvSpPr>
          <p:nvPr/>
        </p:nvSpPr>
        <p:spPr bwMode="auto">
          <a:xfrm>
            <a:off x="896672" y="4486063"/>
            <a:ext cx="7099012"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sym typeface="Symbol" panose="05050102010706020507" pitchFamily="18" charset="2"/>
              </a:rPr>
              <a:t> </a:t>
            </a:r>
            <a:r>
              <a:rPr kumimoji="1" lang="zh-CN" altLang="en-US" sz="2400" b="1" dirty="0" smtClean="0">
                <a:solidFill>
                  <a:srgbClr val="000066"/>
                </a:solidFill>
                <a:ea typeface="幼圆" panose="02010509060101010101" pitchFamily="49" charset="-122"/>
              </a:rPr>
              <a:t>在</a:t>
            </a:r>
            <a:r>
              <a:rPr kumimoji="1" lang="zh-CN" altLang="en-US" sz="2400" b="1" dirty="0">
                <a:solidFill>
                  <a:srgbClr val="000066"/>
                </a:solidFill>
                <a:ea typeface="幼圆" panose="02010509060101010101" pitchFamily="49" charset="-122"/>
              </a:rPr>
              <a:t>实际工程问题中，土压力是比较复杂</a:t>
            </a:r>
            <a:r>
              <a:rPr kumimoji="1" lang="zh-CN" altLang="en-US" sz="2400" b="1" dirty="0" smtClean="0">
                <a:solidFill>
                  <a:srgbClr val="000066"/>
                </a:solidFill>
                <a:ea typeface="幼圆" panose="02010509060101010101" pitchFamily="49" charset="-122"/>
              </a:rPr>
              <a:t>的</a:t>
            </a:r>
            <a:endParaRPr kumimoji="1" lang="en-US" altLang="zh-CN" sz="2400" b="1" dirty="0" smtClean="0">
              <a:solidFill>
                <a:srgbClr val="000066"/>
              </a:solidFill>
              <a:ea typeface="幼圆" panose="02010509060101010101" pitchFamily="49" charset="-122"/>
            </a:endParaRPr>
          </a:p>
          <a:p>
            <a:pPr marL="342900" indent="-342900">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rPr>
              <a:t> 因所</a:t>
            </a:r>
            <a:r>
              <a:rPr kumimoji="1" lang="zh-CN" altLang="en-US" sz="2400" b="1" dirty="0">
                <a:solidFill>
                  <a:srgbClr val="000066"/>
                </a:solidFill>
                <a:ea typeface="幼圆" panose="02010509060101010101" pitchFamily="49" charset="-122"/>
              </a:rPr>
              <a:t>需位移太大，工程中使用被动土压力较少</a:t>
            </a:r>
          </a:p>
        </p:txBody>
      </p:sp>
      <p:sp>
        <p:nvSpPr>
          <p:cNvPr id="12" name="Text Box 7"/>
          <p:cNvSpPr txBox="1">
            <a:spLocks noChangeArrowheads="1"/>
          </p:cNvSpPr>
          <p:nvPr/>
        </p:nvSpPr>
        <p:spPr bwMode="auto">
          <a:xfrm>
            <a:off x="-1" y="0"/>
            <a:ext cx="4880225"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§6.5  </a:t>
            </a:r>
            <a:r>
              <a:rPr lang="zh-CN" altLang="en-US" sz="1800" b="1" kern="900" spc="130" dirty="0" smtClean="0">
                <a:solidFill>
                  <a:srgbClr val="000066"/>
                </a:solidFill>
                <a:ea typeface="黑体" panose="02010609060101010101" pitchFamily="49" charset="-122"/>
                <a:cs typeface="Times New Roman" panose="02020603050405020304" pitchFamily="18" charset="0"/>
              </a:rPr>
              <a:t>两种</a:t>
            </a:r>
            <a:r>
              <a:rPr lang="zh-CN" altLang="en-US" sz="1800" b="1" kern="900" spc="130" dirty="0">
                <a:solidFill>
                  <a:srgbClr val="000066"/>
                </a:solidFill>
                <a:ea typeface="黑体" panose="02010609060101010101" pitchFamily="49" charset="-122"/>
                <a:cs typeface="Times New Roman" panose="02020603050405020304" pitchFamily="18" charset="0"/>
              </a:rPr>
              <a:t>土压力理论的</a:t>
            </a:r>
            <a:r>
              <a:rPr lang="zh-CN" altLang="en-US" sz="1800" b="1" kern="900" spc="130" dirty="0" smtClean="0">
                <a:solidFill>
                  <a:srgbClr val="000066"/>
                </a:solidFill>
                <a:ea typeface="黑体" panose="02010609060101010101" pitchFamily="49" charset="-122"/>
                <a:cs typeface="Times New Roman" panose="02020603050405020304" pitchFamily="18" charset="0"/>
              </a:rPr>
              <a:t>比较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计算</a:t>
            </a:r>
            <a:r>
              <a:rPr lang="zh-CN" altLang="en-US" sz="1800" b="1" kern="900" spc="130" dirty="0">
                <a:solidFill>
                  <a:srgbClr val="000066"/>
                </a:solidFill>
                <a:ea typeface="黑体" panose="02010609060101010101" pitchFamily="49" charset="-122"/>
                <a:cs typeface="Times New Roman" panose="02020603050405020304" pitchFamily="18" charset="0"/>
              </a:rPr>
              <a:t>误差</a:t>
            </a:r>
          </a:p>
        </p:txBody>
      </p:sp>
      <p:sp>
        <p:nvSpPr>
          <p:cNvPr id="16" name="Text Box 2"/>
          <p:cNvSpPr txBox="1">
            <a:spLocks noChangeArrowheads="1"/>
          </p:cNvSpPr>
          <p:nvPr/>
        </p:nvSpPr>
        <p:spPr bwMode="auto">
          <a:xfrm>
            <a:off x="1777429" y="5660740"/>
            <a:ext cx="63699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两种土压力理论的</a:t>
            </a:r>
            <a:r>
              <a:rPr kumimoji="1" lang="zh-CN" altLang="en-US" sz="4000" b="1" dirty="0" smtClean="0">
                <a:solidFill>
                  <a:srgbClr val="000066"/>
                </a:solidFill>
                <a:latin typeface="黑体" pitchFamily="2" charset="-122"/>
                <a:ea typeface="黑体" pitchFamily="2" charset="-122"/>
              </a:rPr>
              <a:t>计算误差</a:t>
            </a:r>
            <a:endParaRPr kumimoji="1" lang="zh-CN" altLang="en-US" sz="4000" b="1" dirty="0">
              <a:solidFill>
                <a:srgbClr val="000066"/>
              </a:solidFill>
              <a:latin typeface="黑体" pitchFamily="2" charset="-122"/>
              <a:ea typeface="黑体" pitchFamily="2" charset="-122"/>
            </a:endParaRPr>
          </a:p>
        </p:txBody>
      </p:sp>
    </p:spTree>
    <p:extLst>
      <p:ext uri="{BB962C8B-B14F-4D97-AF65-F5344CB8AC3E}">
        <p14:creationId xmlns:p14="http://schemas.microsoft.com/office/powerpoint/2010/main" val="1116816001"/>
      </p:ext>
    </p:extLst>
  </p:cSld>
  <p:clrMapOvr>
    <a:masterClrMapping/>
  </p:clrMapOvr>
  <p:transition spd="med">
    <p:wipe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第六章：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70</a:t>
            </a:fld>
            <a:endParaRPr lang="zh-CN" altLang="en-US" dirty="0">
              <a:solidFill>
                <a:srgbClr val="C00000"/>
              </a:solidFill>
            </a:endParaRPr>
          </a:p>
        </p:txBody>
      </p:sp>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a:t>
            </a:r>
            <a:r>
              <a:rPr kumimoji="1" lang="zh-CN" altLang="en-US" sz="2800" b="1" dirty="0" smtClean="0">
                <a:solidFill>
                  <a:srgbClr val="000066"/>
                </a:solidFill>
                <a:ea typeface="幼圆" pitchFamily="49" charset="-122"/>
                <a:cs typeface="Times New Roman" panose="02020603050405020304" pitchFamily="18" charset="0"/>
              </a:rPr>
              <a:t>土压力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静止土压力计算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a:solidFill>
                  <a:srgbClr val="000066"/>
                </a:solidFill>
                <a:ea typeface="幼圆" pitchFamily="49" charset="-122"/>
                <a:cs typeface="Times New Roman" panose="02020603050405020304" pitchFamily="18" charset="0"/>
              </a:rPr>
              <a:t>两种土压力理论的</a:t>
            </a:r>
            <a:r>
              <a:rPr kumimoji="1" lang="zh-CN" altLang="en-US" sz="2800" b="1" dirty="0" smtClean="0">
                <a:solidFill>
                  <a:srgbClr val="000066"/>
                </a:solidFill>
                <a:ea typeface="幼圆" pitchFamily="49" charset="-122"/>
                <a:cs typeface="Times New Roman" panose="02020603050405020304" pitchFamily="18" charset="0"/>
              </a:rPr>
              <a:t>比较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a:solidFill>
                  <a:srgbClr val="000066"/>
                </a:solidFill>
                <a:ea typeface="幼圆" pitchFamily="49" charset="-122"/>
                <a:cs typeface="Times New Roman" panose="02020603050405020304" pitchFamily="18" charset="0"/>
              </a:rPr>
              <a:t>几种常见的主动土压力计算</a:t>
            </a:r>
          </a:p>
        </p:txBody>
      </p:sp>
      <p:sp>
        <p:nvSpPr>
          <p:cNvPr id="8" name="Text Box 4"/>
          <p:cNvSpPr txBox="1">
            <a:spLocks noChangeArrowheads="1"/>
          </p:cNvSpPr>
          <p:nvPr/>
        </p:nvSpPr>
        <p:spPr bwMode="auto">
          <a:xfrm>
            <a:off x="1983936" y="5137491"/>
            <a:ext cx="5645589" cy="633412"/>
          </a:xfrm>
          <a:prstGeom prst="rect">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3399"/>
                </a:solidFill>
                <a:ea typeface="幼圆" pitchFamily="49" charset="-122"/>
                <a:cs typeface="Times New Roman" panose="02020603050405020304" pitchFamily="18" charset="0"/>
              </a:rPr>
              <a:t>§6.6  </a:t>
            </a:r>
            <a:r>
              <a:rPr kumimoji="1" lang="zh-CN" altLang="en-US" sz="2800" b="1" dirty="0">
                <a:solidFill>
                  <a:srgbClr val="003399"/>
                </a:solidFill>
                <a:ea typeface="幼圆" pitchFamily="49" charset="-122"/>
                <a:cs typeface="Times New Roman" panose="02020603050405020304" pitchFamily="18" charset="0"/>
              </a:rPr>
              <a:t>几种常见的主动土压力计算</a:t>
            </a:r>
          </a:p>
        </p:txBody>
      </p:sp>
    </p:spTree>
    <p:extLst>
      <p:ext uri="{BB962C8B-B14F-4D97-AF65-F5344CB8AC3E}">
        <p14:creationId xmlns:p14="http://schemas.microsoft.com/office/powerpoint/2010/main" val="112241444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71</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几种</a:t>
            </a:r>
            <a:r>
              <a:rPr kumimoji="1" lang="zh-CN" altLang="en-US" sz="4000" b="1" dirty="0">
                <a:solidFill>
                  <a:srgbClr val="000066"/>
                </a:solidFill>
                <a:latin typeface="黑体" pitchFamily="2" charset="-122"/>
                <a:ea typeface="黑体" pitchFamily="2" charset="-122"/>
              </a:rPr>
              <a:t>常见的主动土压力计算</a:t>
            </a:r>
          </a:p>
        </p:txBody>
      </p:sp>
      <p:sp>
        <p:nvSpPr>
          <p:cNvPr id="6" name="Text Box 29"/>
          <p:cNvSpPr txBox="1">
            <a:spLocks noChangeArrowheads="1"/>
          </p:cNvSpPr>
          <p:nvPr/>
        </p:nvSpPr>
        <p:spPr bwMode="auto">
          <a:xfrm>
            <a:off x="1033794" y="1318442"/>
            <a:ext cx="6786232" cy="354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7675" indent="-447675">
              <a:lnSpc>
                <a:spcPct val="125000"/>
              </a:lnSpc>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sym typeface="Symbol" panose="05050102010706020507" pitchFamily="18" charset="2"/>
              </a:rPr>
              <a:t>工程上所遇到的挡土墙及填土的条件，要比朗肯和库仑理论所假定的条件复杂得多</a:t>
            </a:r>
            <a:endParaRPr kumimoji="1" lang="en-US" altLang="zh-CN" sz="2400" b="1" dirty="0" smtClean="0">
              <a:solidFill>
                <a:srgbClr val="000066"/>
              </a:solidFill>
              <a:ea typeface="幼圆" panose="02010509060101010101" pitchFamily="49" charset="-122"/>
              <a:sym typeface="Symbol" panose="05050102010706020507" pitchFamily="18" charset="2"/>
            </a:endParaRPr>
          </a:p>
          <a:p>
            <a:pPr marL="447675" indent="-447675">
              <a:lnSpc>
                <a:spcPct val="125000"/>
              </a:lnSpc>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sym typeface="Symbol" panose="05050102010706020507" pitchFamily="18" charset="2"/>
              </a:rPr>
              <a:t>例如</a:t>
            </a:r>
            <a:r>
              <a:rPr kumimoji="1" lang="zh-CN" altLang="en-US" sz="2400" b="1" dirty="0">
                <a:solidFill>
                  <a:srgbClr val="000066"/>
                </a:solidFill>
                <a:ea typeface="幼圆" panose="02010509060101010101" pitchFamily="49" charset="-122"/>
                <a:sym typeface="Symbol" panose="05050102010706020507" pitchFamily="18" charset="2"/>
              </a:rPr>
              <a:t>，</a:t>
            </a:r>
            <a:r>
              <a:rPr kumimoji="1" lang="zh-CN" altLang="en-US" sz="2400" b="1" dirty="0" smtClean="0">
                <a:solidFill>
                  <a:srgbClr val="000066"/>
                </a:solidFill>
                <a:ea typeface="幼圆" panose="02010509060101010101" pitchFamily="49" charset="-122"/>
                <a:sym typeface="Symbol" panose="05050102010706020507" pitchFamily="18" charset="2"/>
              </a:rPr>
              <a:t>填土本身可能是性质不同的成层土，墙后有地下水位存在，墙背不是直线而是折线以及填土面上有荷载作用等</a:t>
            </a:r>
            <a:endParaRPr kumimoji="1" lang="en-US" altLang="zh-CN" sz="2400" b="1" dirty="0" smtClean="0">
              <a:solidFill>
                <a:srgbClr val="000066"/>
              </a:solidFill>
              <a:ea typeface="幼圆" panose="02010509060101010101" pitchFamily="49" charset="-122"/>
              <a:sym typeface="Symbol" panose="05050102010706020507" pitchFamily="18" charset="2"/>
            </a:endParaRPr>
          </a:p>
          <a:p>
            <a:pPr marL="447675" indent="-447675">
              <a:lnSpc>
                <a:spcPct val="125000"/>
              </a:lnSpc>
              <a:buClr>
                <a:srgbClr val="A50021"/>
              </a:buClr>
              <a:buSzPct val="130000"/>
              <a:buFont typeface="Wingdings" panose="05000000000000000000" pitchFamily="2" charset="2"/>
              <a:buChar char="F"/>
            </a:pPr>
            <a:r>
              <a:rPr kumimoji="1" lang="zh-CN" altLang="en-US" sz="2400" b="1" dirty="0" smtClean="0">
                <a:solidFill>
                  <a:srgbClr val="000066"/>
                </a:solidFill>
                <a:ea typeface="幼圆" panose="02010509060101010101" pitchFamily="49" charset="-122"/>
                <a:sym typeface="Symbol" panose="05050102010706020507" pitchFamily="18" charset="2"/>
              </a:rPr>
              <a:t>对于这些情况，只能在前述理论基础上具体分析或作些近似处理</a:t>
            </a:r>
            <a:endParaRPr kumimoji="1" lang="zh-CN" altLang="en-US" sz="2400" b="1" dirty="0">
              <a:solidFill>
                <a:srgbClr val="000066"/>
              </a:solidFill>
              <a:ea typeface="幼圆" panose="02010509060101010101" pitchFamily="49" charset="-122"/>
            </a:endParaRPr>
          </a:p>
        </p:txBody>
      </p:sp>
    </p:spTree>
    <p:extLst>
      <p:ext uri="{BB962C8B-B14F-4D97-AF65-F5344CB8AC3E}">
        <p14:creationId xmlns:p14="http://schemas.microsoft.com/office/powerpoint/2010/main" val="364481858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blinds(horizontal)">
                                      <p:cBhvr>
                                        <p:cTn id="11" dur="500"/>
                                        <p:tgtEl>
                                          <p:spTgt spid="6">
                                            <p:txEl>
                                              <p:pRg st="1" end="1"/>
                                            </p:txEl>
                                          </p:spTgt>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72</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smtClean="0">
                <a:solidFill>
                  <a:srgbClr val="000066"/>
                </a:solidFill>
                <a:latin typeface="黑体" pitchFamily="2" charset="-122"/>
                <a:ea typeface="黑体" pitchFamily="2" charset="-122"/>
              </a:rPr>
              <a:t>几种</a:t>
            </a:r>
            <a:r>
              <a:rPr kumimoji="1" lang="zh-CN" altLang="en-US" sz="4000" b="1" dirty="0">
                <a:solidFill>
                  <a:srgbClr val="000066"/>
                </a:solidFill>
                <a:latin typeface="黑体" pitchFamily="2" charset="-122"/>
                <a:ea typeface="黑体" pitchFamily="2" charset="-122"/>
              </a:rPr>
              <a:t>常见的主动土压力计算</a:t>
            </a:r>
          </a:p>
        </p:txBody>
      </p:sp>
      <p:sp>
        <p:nvSpPr>
          <p:cNvPr id="51" name="Text Box 3"/>
          <p:cNvSpPr txBox="1">
            <a:spLocks noChangeArrowheads="1"/>
          </p:cNvSpPr>
          <p:nvPr/>
        </p:nvSpPr>
        <p:spPr bwMode="auto">
          <a:xfrm>
            <a:off x="2341615" y="1138521"/>
            <a:ext cx="4137992" cy="352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填</a:t>
            </a:r>
            <a:r>
              <a:rPr lang="zh-CN" altLang="en-US" sz="2600" b="1" dirty="0">
                <a:solidFill>
                  <a:srgbClr val="000066"/>
                </a:solidFill>
                <a:ea typeface="幼圆" pitchFamily="49" charset="-122"/>
                <a:cs typeface="Times New Roman" panose="02020603050405020304" pitchFamily="18" charset="0"/>
              </a:rPr>
              <a:t>土上有荷载</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成层</a:t>
            </a:r>
            <a:r>
              <a:rPr lang="zh-CN" altLang="en-US" sz="2600" b="1" dirty="0">
                <a:solidFill>
                  <a:srgbClr val="000066"/>
                </a:solidFill>
                <a:ea typeface="幼圆" pitchFamily="49" charset="-122"/>
                <a:cs typeface="Times New Roman" panose="02020603050405020304" pitchFamily="18" charset="0"/>
              </a:rPr>
              <a:t>填土情况</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填</a:t>
            </a:r>
            <a:r>
              <a:rPr lang="zh-CN" altLang="en-US" sz="2600" b="1" dirty="0">
                <a:solidFill>
                  <a:srgbClr val="000066"/>
                </a:solidFill>
                <a:ea typeface="幼圆" pitchFamily="49" charset="-122"/>
                <a:cs typeface="Times New Roman" panose="02020603050405020304" pitchFamily="18" charset="0"/>
              </a:rPr>
              <a:t>土中有水</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坦</a:t>
            </a:r>
            <a:r>
              <a:rPr lang="zh-CN" altLang="en-US" sz="2600" b="1" dirty="0">
                <a:solidFill>
                  <a:srgbClr val="000066"/>
                </a:solidFill>
                <a:ea typeface="幼圆" pitchFamily="49" charset="-122"/>
                <a:cs typeface="Times New Roman" panose="02020603050405020304" pitchFamily="18" charset="0"/>
              </a:rPr>
              <a:t>墙</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墙</a:t>
            </a:r>
            <a:r>
              <a:rPr lang="zh-CN" altLang="en-US" sz="2600" b="1" dirty="0">
                <a:solidFill>
                  <a:srgbClr val="000066"/>
                </a:solidFill>
                <a:ea typeface="幼圆" pitchFamily="49" charset="-122"/>
                <a:cs typeface="Times New Roman" panose="02020603050405020304" pitchFamily="18" charset="0"/>
              </a:rPr>
              <a:t>背形状有变化</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墙</a:t>
            </a:r>
            <a:r>
              <a:rPr lang="zh-CN" altLang="en-US" sz="2600" b="1" dirty="0">
                <a:solidFill>
                  <a:srgbClr val="000066"/>
                </a:solidFill>
                <a:ea typeface="幼圆" pitchFamily="49" charset="-122"/>
                <a:cs typeface="Times New Roman" panose="02020603050405020304" pitchFamily="18" charset="0"/>
              </a:rPr>
              <a:t>后填土受限制</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加</a:t>
            </a:r>
            <a:r>
              <a:rPr lang="zh-CN" altLang="en-US" sz="2600" b="1" dirty="0">
                <a:solidFill>
                  <a:srgbClr val="000066"/>
                </a:solidFill>
                <a:ea typeface="幼圆" pitchFamily="49" charset="-122"/>
                <a:cs typeface="Times New Roman" panose="02020603050405020304" pitchFamily="18" charset="0"/>
              </a:rPr>
              <a:t>筋土挡墙</a:t>
            </a:r>
          </a:p>
        </p:txBody>
      </p:sp>
    </p:spTree>
    <p:extLst>
      <p:ext uri="{BB962C8B-B14F-4D97-AF65-F5344CB8AC3E}">
        <p14:creationId xmlns:p14="http://schemas.microsoft.com/office/powerpoint/2010/main" val="3245622141"/>
      </p:ext>
    </p:extLst>
  </p:cSld>
  <p:clrMapOvr>
    <a:masterClrMapping/>
  </p:clrMapOvr>
  <p:transition spd="med">
    <p:wipe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直角三角形 39"/>
          <p:cNvSpPr/>
          <p:nvPr/>
        </p:nvSpPr>
        <p:spPr bwMode="auto">
          <a:xfrm>
            <a:off x="4079964" y="2001465"/>
            <a:ext cx="914400" cy="2090058"/>
          </a:xfrm>
          <a:prstGeom prst="rtTriangle">
            <a:avLst/>
          </a:prstGeom>
          <a:solidFill>
            <a:srgbClr val="CCECFF"/>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4" name="矩形 63"/>
          <p:cNvSpPr/>
          <p:nvPr/>
        </p:nvSpPr>
        <p:spPr>
          <a:xfrm>
            <a:off x="3630560" y="2009132"/>
            <a:ext cx="456173" cy="2082187"/>
          </a:xfrm>
          <a:prstGeom prst="rect">
            <a:avLst/>
          </a:prstGeom>
          <a:solidFill>
            <a:schemeClr val="accent5">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73</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8" name="Rectangle 3"/>
          <p:cNvSpPr txBox="1">
            <a:spLocks noChangeArrowheads="1"/>
          </p:cNvSpPr>
          <p:nvPr/>
        </p:nvSpPr>
        <p:spPr bwMode="auto">
          <a:xfrm>
            <a:off x="432532" y="536298"/>
            <a:ext cx="63016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50000"/>
              </a:lnSpc>
              <a:spcBef>
                <a:spcPct val="0"/>
              </a:spcBef>
              <a:buClr>
                <a:srgbClr val="C00000"/>
              </a:buClr>
              <a:buSzPct val="100000"/>
              <a:buNone/>
            </a:pPr>
            <a:r>
              <a:rPr lang="zh-CN" altLang="en-US" sz="2400" b="1" kern="0" dirty="0" smtClean="0">
                <a:solidFill>
                  <a:srgbClr val="A50021"/>
                </a:solidFill>
                <a:latin typeface="微软雅黑" panose="020B0503020204020204" pitchFamily="34" charset="-122"/>
                <a:ea typeface="微软雅黑" panose="020B0503020204020204" pitchFamily="34" charset="-122"/>
              </a:rPr>
              <a:t>（</a:t>
            </a:r>
            <a:r>
              <a:rPr lang="en-US" altLang="zh-CN" sz="2400" b="1" kern="0" dirty="0" smtClean="0">
                <a:solidFill>
                  <a:srgbClr val="A50021"/>
                </a:solidFill>
                <a:latin typeface="微软雅黑" panose="020B0503020204020204" pitchFamily="34" charset="-122"/>
                <a:ea typeface="微软雅黑" panose="020B0503020204020204" pitchFamily="34" charset="-122"/>
              </a:rPr>
              <a:t>1</a:t>
            </a:r>
            <a:r>
              <a:rPr lang="zh-CN" altLang="en-US" sz="2400" b="1" kern="0" dirty="0" smtClean="0">
                <a:solidFill>
                  <a:srgbClr val="A50021"/>
                </a:solidFill>
                <a:latin typeface="微软雅黑" panose="020B0503020204020204" pitchFamily="34" charset="-122"/>
                <a:ea typeface="微软雅黑" panose="020B0503020204020204" pitchFamily="34" charset="-122"/>
              </a:rPr>
              <a:t>）</a:t>
            </a:r>
            <a:r>
              <a:rPr lang="zh-CN" altLang="en-US" sz="2400" b="1" kern="0" dirty="0">
                <a:solidFill>
                  <a:srgbClr val="A50021"/>
                </a:solidFill>
                <a:latin typeface="微软雅黑" panose="020B0503020204020204" pitchFamily="34" charset="-122"/>
                <a:ea typeface="微软雅黑" panose="020B0503020204020204" pitchFamily="34" charset="-122"/>
              </a:rPr>
              <a:t>连续均布荷载</a:t>
            </a:r>
            <a:r>
              <a:rPr lang="zh-CN" altLang="en-US" sz="2400" b="1" kern="0" dirty="0" smtClean="0">
                <a:solidFill>
                  <a:srgbClr val="A50021"/>
                </a:solidFill>
                <a:latin typeface="微软雅黑" panose="020B0503020204020204" pitchFamily="34" charset="-122"/>
                <a:ea typeface="微软雅黑" panose="020B0503020204020204" pitchFamily="34" charset="-122"/>
              </a:rPr>
              <a:t>作用 </a:t>
            </a: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朗肯</a:t>
            </a:r>
            <a:r>
              <a:rPr lang="zh-CN" altLang="en-US" sz="2400" b="1" kern="0" dirty="0">
                <a:solidFill>
                  <a:srgbClr val="A50021"/>
                </a:solidFill>
                <a:latin typeface="微软雅黑" panose="020B0503020204020204" pitchFamily="34" charset="-122"/>
                <a:ea typeface="微软雅黑" panose="020B0503020204020204" pitchFamily="34" charset="-122"/>
              </a:rPr>
              <a:t>土压力</a:t>
            </a:r>
            <a:r>
              <a:rPr lang="zh-CN" altLang="en-US" sz="2400" b="1" kern="0" dirty="0" smtClean="0">
                <a:solidFill>
                  <a:srgbClr val="A50021"/>
                </a:solidFill>
                <a:latin typeface="微软雅黑" panose="020B0503020204020204" pitchFamily="34" charset="-122"/>
                <a:ea typeface="微软雅黑" panose="020B0503020204020204" pitchFamily="34" charset="-122"/>
              </a:rPr>
              <a:t>理论</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10" name="任意多边形 9"/>
          <p:cNvSpPr/>
          <p:nvPr/>
        </p:nvSpPr>
        <p:spPr bwMode="auto">
          <a:xfrm>
            <a:off x="711142" y="2006446"/>
            <a:ext cx="1118769" cy="2088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 name="直接连接符 10"/>
          <p:cNvCxnSpPr/>
          <p:nvPr/>
        </p:nvCxnSpPr>
        <p:spPr bwMode="auto">
          <a:xfrm>
            <a:off x="497423" y="4097592"/>
            <a:ext cx="485165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 Box 14"/>
          <p:cNvSpPr txBox="1">
            <a:spLocks noChangeArrowheads="1"/>
          </p:cNvSpPr>
          <p:nvPr/>
        </p:nvSpPr>
        <p:spPr bwMode="auto">
          <a:xfrm>
            <a:off x="2225686" y="2589435"/>
            <a:ext cx="355590" cy="320665"/>
          </a:xfrm>
          <a:prstGeom prst="rect">
            <a:avLst/>
          </a:prstGeom>
          <a:noFill/>
          <a:ln w="9525">
            <a:noFill/>
            <a:miter lim="800000"/>
            <a:headEnd/>
            <a:tailEnd/>
          </a:ln>
        </p:spPr>
        <p:txBody>
          <a:bodyPr wrap="square"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3</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3" name="Rectangle 9"/>
          <p:cNvSpPr>
            <a:spLocks noChangeArrowheads="1"/>
          </p:cNvSpPr>
          <p:nvPr/>
        </p:nvSpPr>
        <p:spPr bwMode="auto">
          <a:xfrm>
            <a:off x="1821814" y="2870129"/>
            <a:ext cx="272936" cy="253731"/>
          </a:xfrm>
          <a:prstGeom prst="rect">
            <a:avLst/>
          </a:prstGeom>
          <a:solidFill>
            <a:schemeClr val="accent1">
              <a:lumMod val="75000"/>
            </a:schemeClr>
          </a:solidFill>
          <a:ln w="19050">
            <a:solidFill>
              <a:srgbClr val="A50021"/>
            </a:solidFill>
            <a:miter lim="800000"/>
            <a:headEnd/>
            <a:tailEnd/>
          </a:ln>
        </p:spPr>
        <p:txBody>
          <a:bodyPr wrap="none" anchor="ctr"/>
          <a:lstStyle/>
          <a:p>
            <a:endParaRPr lang="zh-CN" altLang="en-US"/>
          </a:p>
        </p:txBody>
      </p:sp>
      <p:sp>
        <p:nvSpPr>
          <p:cNvPr id="16" name="Text Box 14"/>
          <p:cNvSpPr txBox="1">
            <a:spLocks noChangeArrowheads="1"/>
          </p:cNvSpPr>
          <p:nvPr/>
        </p:nvSpPr>
        <p:spPr bwMode="auto">
          <a:xfrm>
            <a:off x="1996179" y="2327007"/>
            <a:ext cx="563987" cy="320665"/>
          </a:xfrm>
          <a:prstGeom prst="rect">
            <a:avLst/>
          </a:prstGeom>
          <a:noFill/>
          <a:ln w="9525">
            <a:noFill/>
            <a:miter lim="800000"/>
            <a:headEnd/>
            <a:tailEnd/>
          </a:ln>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000" b="1" i="1" dirty="0" smtClean="0">
                <a:solidFill>
                  <a:srgbClr val="C00000"/>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C00000"/>
                </a:solidFill>
                <a:latin typeface="Times New Roman" panose="02020603050405020304" pitchFamily="18" charset="0"/>
                <a:cs typeface="Times New Roman" panose="02020603050405020304" pitchFamily="18" charset="0"/>
              </a:rPr>
              <a:t>1</a:t>
            </a:r>
            <a:endParaRPr lang="en-US" altLang="zh-CN" sz="2000" b="1" baseline="-25000" dirty="0">
              <a:solidFill>
                <a:srgbClr val="C00000"/>
              </a:solidFill>
              <a:latin typeface="Times New Roman" panose="02020603050405020304" pitchFamily="18" charset="0"/>
              <a:cs typeface="Times New Roman" panose="02020603050405020304" pitchFamily="18" charset="0"/>
            </a:endParaRPr>
          </a:p>
        </p:txBody>
      </p:sp>
      <p:sp>
        <p:nvSpPr>
          <p:cNvPr id="18" name="Line 13"/>
          <p:cNvSpPr>
            <a:spLocks noChangeShapeType="1"/>
          </p:cNvSpPr>
          <p:nvPr/>
        </p:nvSpPr>
        <p:spPr bwMode="auto">
          <a:xfrm rot="5400000">
            <a:off x="1773217" y="2664921"/>
            <a:ext cx="38422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0"/>
          <p:cNvSpPr>
            <a:spLocks noChangeShapeType="1"/>
          </p:cNvSpPr>
          <p:nvPr/>
        </p:nvSpPr>
        <p:spPr bwMode="auto">
          <a:xfrm rot="10800000">
            <a:off x="2091210" y="3006038"/>
            <a:ext cx="35192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20" name="直接连接符 19"/>
          <p:cNvCxnSpPr/>
          <p:nvPr/>
        </p:nvCxnSpPr>
        <p:spPr bwMode="auto">
          <a:xfrm>
            <a:off x="1783341" y="2009654"/>
            <a:ext cx="349539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Line 19"/>
          <p:cNvSpPr>
            <a:spLocks noChangeShapeType="1"/>
          </p:cNvSpPr>
          <p:nvPr/>
        </p:nvSpPr>
        <p:spPr bwMode="auto">
          <a:xfrm>
            <a:off x="2846917" y="2018680"/>
            <a:ext cx="0" cy="991357"/>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20"/>
          <p:cNvSpPr txBox="1">
            <a:spLocks noChangeArrowheads="1"/>
          </p:cNvSpPr>
          <p:nvPr/>
        </p:nvSpPr>
        <p:spPr bwMode="auto">
          <a:xfrm>
            <a:off x="2910060" y="2248145"/>
            <a:ext cx="309978" cy="49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dirty="0">
                <a:solidFill>
                  <a:srgbClr val="C00000"/>
                </a:solidFill>
                <a:latin typeface="Times New Roman" pitchFamily="18" charset="0"/>
              </a:rPr>
              <a:t>z</a:t>
            </a:r>
          </a:p>
        </p:txBody>
      </p:sp>
      <p:sp>
        <p:nvSpPr>
          <p:cNvPr id="26" name="Line 8"/>
          <p:cNvSpPr>
            <a:spLocks noChangeShapeType="1"/>
          </p:cNvSpPr>
          <p:nvPr/>
        </p:nvSpPr>
        <p:spPr bwMode="auto">
          <a:xfrm>
            <a:off x="2117353"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7" name="Line 9"/>
          <p:cNvSpPr>
            <a:spLocks noChangeShapeType="1"/>
          </p:cNvSpPr>
          <p:nvPr/>
        </p:nvSpPr>
        <p:spPr bwMode="auto">
          <a:xfrm>
            <a:off x="2390402"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8" name="Line 10"/>
          <p:cNvSpPr>
            <a:spLocks noChangeShapeType="1"/>
          </p:cNvSpPr>
          <p:nvPr/>
        </p:nvSpPr>
        <p:spPr bwMode="auto">
          <a:xfrm>
            <a:off x="2653929"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 name="Line 11"/>
          <p:cNvSpPr>
            <a:spLocks noChangeShapeType="1"/>
          </p:cNvSpPr>
          <p:nvPr/>
        </p:nvSpPr>
        <p:spPr bwMode="auto">
          <a:xfrm>
            <a:off x="2914280"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0" name="Line 12"/>
          <p:cNvSpPr>
            <a:spLocks noChangeShapeType="1"/>
          </p:cNvSpPr>
          <p:nvPr/>
        </p:nvSpPr>
        <p:spPr bwMode="auto">
          <a:xfrm>
            <a:off x="3176219"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1" name="Line 13"/>
          <p:cNvSpPr>
            <a:spLocks noChangeShapeType="1"/>
          </p:cNvSpPr>
          <p:nvPr/>
        </p:nvSpPr>
        <p:spPr bwMode="auto">
          <a:xfrm>
            <a:off x="3427044"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2" name="Line 14"/>
          <p:cNvSpPr>
            <a:spLocks noChangeShapeType="1"/>
          </p:cNvSpPr>
          <p:nvPr/>
        </p:nvSpPr>
        <p:spPr bwMode="auto">
          <a:xfrm>
            <a:off x="3706442"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3" name="Line 15"/>
          <p:cNvSpPr>
            <a:spLocks noChangeShapeType="1"/>
          </p:cNvSpPr>
          <p:nvPr/>
        </p:nvSpPr>
        <p:spPr bwMode="auto">
          <a:xfrm>
            <a:off x="3974728"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 name="Line 16"/>
          <p:cNvSpPr>
            <a:spLocks noChangeShapeType="1"/>
          </p:cNvSpPr>
          <p:nvPr/>
        </p:nvSpPr>
        <p:spPr bwMode="auto">
          <a:xfrm>
            <a:off x="4239842"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 name="Line 17"/>
          <p:cNvSpPr>
            <a:spLocks noChangeShapeType="1"/>
          </p:cNvSpPr>
          <p:nvPr/>
        </p:nvSpPr>
        <p:spPr bwMode="auto">
          <a:xfrm>
            <a:off x="4492255"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6" name="Line 18"/>
          <p:cNvSpPr>
            <a:spLocks noChangeShapeType="1"/>
          </p:cNvSpPr>
          <p:nvPr/>
        </p:nvSpPr>
        <p:spPr bwMode="auto">
          <a:xfrm>
            <a:off x="4743080"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7" name="Line 19"/>
          <p:cNvSpPr>
            <a:spLocks noChangeShapeType="1"/>
          </p:cNvSpPr>
          <p:nvPr/>
        </p:nvSpPr>
        <p:spPr bwMode="auto">
          <a:xfrm>
            <a:off x="4992317"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8" name="Line 20"/>
          <p:cNvSpPr>
            <a:spLocks noChangeShapeType="1"/>
          </p:cNvSpPr>
          <p:nvPr/>
        </p:nvSpPr>
        <p:spPr bwMode="auto">
          <a:xfrm>
            <a:off x="5243142"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9" name="Line 21"/>
          <p:cNvSpPr>
            <a:spLocks noChangeShapeType="1"/>
          </p:cNvSpPr>
          <p:nvPr/>
        </p:nvSpPr>
        <p:spPr bwMode="auto">
          <a:xfrm>
            <a:off x="1836629" y="1605175"/>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cxnSp>
        <p:nvCxnSpPr>
          <p:cNvPr id="6" name="直接连接符 5"/>
          <p:cNvCxnSpPr/>
          <p:nvPr/>
        </p:nvCxnSpPr>
        <p:spPr bwMode="auto">
          <a:xfrm>
            <a:off x="1832736" y="1597394"/>
            <a:ext cx="3436751"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Group 12"/>
          <p:cNvGrpSpPr>
            <a:grpSpLocks/>
          </p:cNvGrpSpPr>
          <p:nvPr/>
        </p:nvGrpSpPr>
        <p:grpSpPr bwMode="auto">
          <a:xfrm>
            <a:off x="2197058" y="2013396"/>
            <a:ext cx="454614" cy="82278"/>
            <a:chOff x="2274" y="1204"/>
            <a:chExt cx="270" cy="44"/>
          </a:xfrm>
        </p:grpSpPr>
        <p:sp>
          <p:nvSpPr>
            <p:cNvPr id="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12"/>
          <p:cNvGrpSpPr>
            <a:grpSpLocks/>
          </p:cNvGrpSpPr>
          <p:nvPr/>
        </p:nvGrpSpPr>
        <p:grpSpPr bwMode="auto">
          <a:xfrm>
            <a:off x="2898090" y="2009041"/>
            <a:ext cx="454614" cy="82278"/>
            <a:chOff x="2274" y="1204"/>
            <a:chExt cx="270" cy="44"/>
          </a:xfrm>
        </p:grpSpPr>
        <p:sp>
          <p:nvSpPr>
            <p:cNvPr id="5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 name="Line 89"/>
          <p:cNvSpPr>
            <a:spLocks noChangeAspect="1" noChangeShapeType="1"/>
          </p:cNvSpPr>
          <p:nvPr/>
        </p:nvSpPr>
        <p:spPr bwMode="auto">
          <a:xfrm rot="5400000">
            <a:off x="4116087" y="3053332"/>
            <a:ext cx="208549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Text Box 20"/>
          <p:cNvSpPr txBox="1">
            <a:spLocks noChangeArrowheads="1"/>
          </p:cNvSpPr>
          <p:nvPr/>
        </p:nvSpPr>
        <p:spPr bwMode="auto">
          <a:xfrm>
            <a:off x="5377957" y="1523016"/>
            <a:ext cx="309978"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i="1" dirty="0" smtClean="0">
                <a:solidFill>
                  <a:srgbClr val="C00000"/>
                </a:solidFill>
                <a:latin typeface="Times New Roman" pitchFamily="18" charset="0"/>
              </a:rPr>
              <a:t>q</a:t>
            </a:r>
            <a:endParaRPr lang="en-US" altLang="zh-CN" sz="2400" b="1" i="1" dirty="0">
              <a:solidFill>
                <a:srgbClr val="C00000"/>
              </a:solidFill>
              <a:latin typeface="Times New Roman" pitchFamily="18" charset="0"/>
            </a:endParaRPr>
          </a:p>
        </p:txBody>
      </p:sp>
      <p:sp>
        <p:nvSpPr>
          <p:cNvPr id="70" name="Text Box 20"/>
          <p:cNvSpPr txBox="1">
            <a:spLocks noChangeArrowheads="1"/>
          </p:cNvSpPr>
          <p:nvPr/>
        </p:nvSpPr>
        <p:spPr bwMode="auto">
          <a:xfrm>
            <a:off x="5213268" y="2766797"/>
            <a:ext cx="309978"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i="1" dirty="0" smtClean="0">
                <a:solidFill>
                  <a:srgbClr val="C00000"/>
                </a:solidFill>
                <a:latin typeface="Times New Roman" pitchFamily="18" charset="0"/>
              </a:rPr>
              <a:t>H</a:t>
            </a:r>
            <a:endParaRPr lang="en-US" altLang="zh-CN" sz="2400" b="1" i="1" dirty="0">
              <a:solidFill>
                <a:srgbClr val="C00000"/>
              </a:solidFill>
              <a:latin typeface="Times New Roman" pitchFamily="18" charset="0"/>
            </a:endParaRPr>
          </a:p>
        </p:txBody>
      </p:sp>
      <p:sp>
        <p:nvSpPr>
          <p:cNvPr id="21" name="Line 18"/>
          <p:cNvSpPr>
            <a:spLocks noChangeShapeType="1"/>
          </p:cNvSpPr>
          <p:nvPr/>
        </p:nvSpPr>
        <p:spPr bwMode="auto">
          <a:xfrm flipH="1">
            <a:off x="2571739" y="3007892"/>
            <a:ext cx="481013" cy="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89"/>
          <p:cNvSpPr>
            <a:spLocks noChangeAspect="1" noChangeShapeType="1"/>
          </p:cNvSpPr>
          <p:nvPr/>
        </p:nvSpPr>
        <p:spPr bwMode="auto">
          <a:xfrm>
            <a:off x="4121403" y="4346205"/>
            <a:ext cx="8738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74" name="直接连接符 73"/>
          <p:cNvCxnSpPr/>
          <p:nvPr/>
        </p:nvCxnSpPr>
        <p:spPr bwMode="auto">
          <a:xfrm>
            <a:off x="4111925" y="4181580"/>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p:nvPr/>
        </p:nvCxnSpPr>
        <p:spPr bwMode="auto">
          <a:xfrm>
            <a:off x="4987098" y="4170802"/>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a:off x="3632726" y="4164176"/>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Line 89"/>
          <p:cNvSpPr>
            <a:spLocks noChangeAspect="1" noChangeShapeType="1"/>
          </p:cNvSpPr>
          <p:nvPr/>
        </p:nvSpPr>
        <p:spPr bwMode="auto">
          <a:xfrm>
            <a:off x="3628445" y="4347530"/>
            <a:ext cx="493464"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Text Box 54"/>
          <p:cNvSpPr txBox="1">
            <a:spLocks noChangeArrowheads="1"/>
          </p:cNvSpPr>
          <p:nvPr/>
        </p:nvSpPr>
        <p:spPr bwMode="auto">
          <a:xfrm>
            <a:off x="4258965" y="4339280"/>
            <a:ext cx="820590"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lang="en-US" altLang="zh-CN" sz="2000" b="1" i="1" dirty="0" err="1"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80" name="Text Box 54"/>
          <p:cNvSpPr txBox="1">
            <a:spLocks noChangeArrowheads="1"/>
          </p:cNvSpPr>
          <p:nvPr/>
        </p:nvSpPr>
        <p:spPr bwMode="auto">
          <a:xfrm>
            <a:off x="3568017" y="4329449"/>
            <a:ext cx="578333"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err="1" smtClean="0">
                <a:solidFill>
                  <a:srgbClr val="000066"/>
                </a:solidFill>
                <a:latin typeface="Times New Roman" panose="02020603050405020304" pitchFamily="18" charset="0"/>
                <a:cs typeface="Times New Roman" panose="02020603050405020304" pitchFamily="18" charset="0"/>
                <a:sym typeface="Symbol" pitchFamily="18" charset="2"/>
              </a:rPr>
              <a:t>q</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81" name="Rectangle 57"/>
          <p:cNvSpPr>
            <a:spLocks noChangeArrowheads="1"/>
          </p:cNvSpPr>
          <p:nvPr/>
        </p:nvSpPr>
        <p:spPr bwMode="auto">
          <a:xfrm>
            <a:off x="6077644" y="1975443"/>
            <a:ext cx="2866331" cy="197592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361950" indent="-361950">
              <a:lnSpc>
                <a:spcPct val="120000"/>
              </a:lnSpc>
              <a:buClr>
                <a:srgbClr val="C00000"/>
              </a:buClr>
              <a:buSzPct val="130000"/>
              <a:buFont typeface="Arial" panose="020B0604020202020204" pitchFamily="34" charset="0"/>
              <a:buChar char="•"/>
            </a:pPr>
            <a:r>
              <a:rPr lang="zh-CN" altLang="en-US" sz="2400" b="1" dirty="0">
                <a:solidFill>
                  <a:srgbClr val="000066"/>
                </a:solidFill>
                <a:ea typeface="幼圆" panose="02010509060101010101" pitchFamily="49" charset="-122"/>
                <a:cs typeface="Times New Roman" panose="02020603050405020304" pitchFamily="18" charset="0"/>
                <a:sym typeface="Symbol" pitchFamily="18" charset="2"/>
              </a:rPr>
              <a:t>竖向</a:t>
            </a:r>
            <a:r>
              <a:rPr lang="zh-CN" altLang="en-US" sz="2400" b="1" dirty="0" smtClean="0">
                <a:solidFill>
                  <a:srgbClr val="000066"/>
                </a:solidFill>
                <a:ea typeface="幼圆" panose="02010509060101010101" pitchFamily="49" charset="-122"/>
                <a:cs typeface="Times New Roman" panose="02020603050405020304" pitchFamily="18" charset="0"/>
                <a:sym typeface="Symbol" pitchFamily="18" charset="2"/>
              </a:rPr>
              <a:t>应力</a:t>
            </a:r>
            <a:r>
              <a:rPr lang="en-US" altLang="zh-CN" sz="2400" b="1" dirty="0" smtClean="0">
                <a:solidFill>
                  <a:srgbClr val="000066"/>
                </a:solidFill>
                <a:ea typeface="幼圆" panose="02010509060101010101" pitchFamily="49" charset="-122"/>
                <a:cs typeface="Times New Roman" panose="02020603050405020304" pitchFamily="18" charset="0"/>
                <a:sym typeface="Symbol" pitchFamily="18" charset="2"/>
              </a:rPr>
              <a:t/>
            </a:r>
            <a:br>
              <a:rPr lang="en-US" altLang="zh-CN" sz="2400" b="1" dirty="0" smtClean="0">
                <a:solidFill>
                  <a:srgbClr val="000066"/>
                </a:solidFill>
                <a:ea typeface="幼圆" panose="02010509060101010101" pitchFamily="49" charset="-122"/>
                <a:cs typeface="Times New Roman" panose="02020603050405020304" pitchFamily="18" charset="0"/>
                <a:sym typeface="Symbol" pitchFamily="18" charset="2"/>
              </a:rPr>
            </a:br>
            <a:r>
              <a:rPr lang="en-US" altLang="zh-CN" sz="2400" b="1" i="1" dirty="0" smtClean="0">
                <a:solidFill>
                  <a:srgbClr val="000066"/>
                </a:solidFill>
                <a:ea typeface="幼圆" panose="02010509060101010101" pitchFamily="49" charset="-122"/>
                <a:cs typeface="Times New Roman" panose="02020603050405020304" pitchFamily="18" charset="0"/>
                <a:sym typeface="Symbol" pitchFamily="18" charset="2"/>
              </a:rPr>
              <a:t></a:t>
            </a:r>
            <a:r>
              <a:rPr lang="en-US" altLang="zh-CN" sz="2400" b="1" baseline="-25000" dirty="0" smtClean="0">
                <a:solidFill>
                  <a:srgbClr val="000066"/>
                </a:solidFill>
                <a:ea typeface="幼圆" panose="02010509060101010101" pitchFamily="49" charset="-122"/>
                <a:cs typeface="Times New Roman" panose="02020603050405020304" pitchFamily="18" charset="0"/>
              </a:rPr>
              <a:t>1</a:t>
            </a:r>
            <a:r>
              <a:rPr lang="en-US" altLang="zh-CN" sz="2400" b="1" i="1" dirty="0" smtClean="0">
                <a:solidFill>
                  <a:srgbClr val="000066"/>
                </a:solidFill>
                <a:ea typeface="幼圆" panose="02010509060101010101" pitchFamily="49" charset="-122"/>
                <a:cs typeface="Times New Roman" panose="02020603050405020304" pitchFamily="18" charset="0"/>
              </a:rPr>
              <a:t>= q + </a:t>
            </a:r>
            <a:r>
              <a:rPr lang="en-US" altLang="zh-CN" sz="24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lang="en-US" altLang="zh-CN" sz="24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z</a:t>
            </a:r>
            <a:endParaRPr lang="en-US" altLang="zh-CN" sz="2400" b="1" i="1" dirty="0">
              <a:solidFill>
                <a:srgbClr val="000066"/>
              </a:solidFill>
              <a:ea typeface="幼圆" panose="02010509060101010101" pitchFamily="49" charset="-122"/>
              <a:cs typeface="Times New Roman" panose="02020603050405020304" pitchFamily="18" charset="0"/>
            </a:endParaRPr>
          </a:p>
          <a:p>
            <a:pPr marL="361950" indent="-361950">
              <a:lnSpc>
                <a:spcPct val="120000"/>
              </a:lnSpc>
              <a:buClr>
                <a:srgbClr val="C00000"/>
              </a:buClr>
              <a:buSzPct val="130000"/>
              <a:buFont typeface="Arial" panose="020B0604020202020204" pitchFamily="34" charset="0"/>
              <a:buChar char="•"/>
            </a:pPr>
            <a:r>
              <a:rPr lang="zh-CN" altLang="en-US" sz="2400" b="1" dirty="0" smtClean="0">
                <a:solidFill>
                  <a:srgbClr val="000066"/>
                </a:solidFill>
                <a:ea typeface="幼圆" panose="02010509060101010101" pitchFamily="49" charset="-122"/>
                <a:cs typeface="Times New Roman" panose="02020603050405020304" pitchFamily="18" charset="0"/>
                <a:sym typeface="Symbol" pitchFamily="18" charset="2"/>
              </a:rPr>
              <a:t>主动土压力强度</a:t>
            </a:r>
            <a:r>
              <a:rPr lang="en-US" altLang="zh-CN" sz="2400" b="1" dirty="0" smtClean="0">
                <a:solidFill>
                  <a:srgbClr val="000066"/>
                </a:solidFill>
                <a:ea typeface="幼圆" panose="02010509060101010101" pitchFamily="49" charset="-122"/>
                <a:cs typeface="Times New Roman" panose="02020603050405020304" pitchFamily="18" charset="0"/>
                <a:sym typeface="Symbol" pitchFamily="18" charset="2"/>
              </a:rPr>
              <a:t/>
            </a:r>
            <a:br>
              <a:rPr lang="en-US" altLang="zh-CN" sz="2400" b="1" dirty="0" smtClean="0">
                <a:solidFill>
                  <a:srgbClr val="000066"/>
                </a:solidFill>
                <a:ea typeface="幼圆" panose="02010509060101010101" pitchFamily="49" charset="-122"/>
                <a:cs typeface="Times New Roman" panose="02020603050405020304" pitchFamily="18" charset="0"/>
                <a:sym typeface="Symbol" pitchFamily="18" charset="2"/>
              </a:rPr>
            </a:br>
            <a:r>
              <a:rPr lang="en-US" altLang="zh-CN" sz="2400" b="1" i="1" dirty="0" smtClean="0">
                <a:solidFill>
                  <a:srgbClr val="000066"/>
                </a:solidFill>
                <a:ea typeface="幼圆" panose="02010509060101010101" pitchFamily="49" charset="-122"/>
                <a:cs typeface="Times New Roman" panose="02020603050405020304" pitchFamily="18" charset="0"/>
              </a:rPr>
              <a:t>p</a:t>
            </a:r>
            <a:r>
              <a:rPr lang="en-US" altLang="zh-CN" sz="2400" b="1" baseline="-25000" dirty="0" smtClean="0">
                <a:solidFill>
                  <a:srgbClr val="000066"/>
                </a:solidFill>
                <a:ea typeface="幼圆" panose="02010509060101010101" pitchFamily="49" charset="-122"/>
                <a:cs typeface="Times New Roman" panose="02020603050405020304" pitchFamily="18" charset="0"/>
              </a:rPr>
              <a:t>a</a:t>
            </a:r>
            <a:r>
              <a:rPr lang="en-US" altLang="zh-CN" sz="2400" b="1" i="1" dirty="0">
                <a:solidFill>
                  <a:srgbClr val="000066"/>
                </a:solidFill>
                <a:ea typeface="幼圆" panose="02010509060101010101" pitchFamily="49" charset="-122"/>
                <a:cs typeface="Times New Roman" panose="02020603050405020304" pitchFamily="18" charset="0"/>
              </a:rPr>
              <a:t>= </a:t>
            </a:r>
            <a:r>
              <a:rPr lang="en-US" altLang="zh-CN" sz="2400" b="1" i="1" dirty="0" err="1" smtClean="0">
                <a:solidFill>
                  <a:srgbClr val="000066"/>
                </a:solidFill>
                <a:ea typeface="幼圆" panose="02010509060101010101" pitchFamily="49" charset="-122"/>
                <a:cs typeface="Times New Roman" panose="02020603050405020304" pitchFamily="18" charset="0"/>
              </a:rPr>
              <a:t>qK</a:t>
            </a:r>
            <a:r>
              <a:rPr lang="en-US" altLang="zh-CN" sz="2400" b="1" baseline="-25000" dirty="0" err="1" smtClean="0">
                <a:solidFill>
                  <a:srgbClr val="000066"/>
                </a:solidFill>
                <a:ea typeface="幼圆" panose="02010509060101010101" pitchFamily="49" charset="-122"/>
                <a:cs typeface="Times New Roman" panose="02020603050405020304" pitchFamily="18" charset="0"/>
              </a:rPr>
              <a:t>a</a:t>
            </a:r>
            <a:r>
              <a:rPr lang="en-US" altLang="zh-CN" sz="2400" b="1" i="1" dirty="0" smtClean="0">
                <a:solidFill>
                  <a:srgbClr val="000066"/>
                </a:solidFill>
                <a:ea typeface="幼圆" panose="02010509060101010101" pitchFamily="49" charset="-122"/>
                <a:cs typeface="Times New Roman" panose="02020603050405020304" pitchFamily="18" charset="0"/>
              </a:rPr>
              <a:t>+</a:t>
            </a:r>
            <a:r>
              <a:rPr lang="en-US" altLang="zh-CN" sz="2400" b="1" i="1" dirty="0">
                <a:solidFill>
                  <a:srgbClr val="000066"/>
                </a:solidFill>
                <a:ea typeface="幼圆" panose="02010509060101010101" pitchFamily="49" charset="-122"/>
                <a:cs typeface="Times New Roman" panose="02020603050405020304" pitchFamily="18" charset="0"/>
                <a:sym typeface="Symbol" panose="05050102010706020507" pitchFamily="18" charset="2"/>
              </a:rPr>
              <a:t>  </a:t>
            </a:r>
            <a:r>
              <a:rPr lang="en-US" altLang="zh-CN" sz="2400" b="1" dirty="0">
                <a:solidFill>
                  <a:srgbClr val="000066"/>
                </a:solidFill>
                <a:ea typeface="幼圆" panose="02010509060101010101" pitchFamily="49" charset="-122"/>
                <a:cs typeface="Times New Roman" panose="02020603050405020304" pitchFamily="18" charset="0"/>
                <a:sym typeface="Symbol" panose="05050102010706020507" pitchFamily="18" charset="2"/>
              </a:rPr>
              <a:t>z </a:t>
            </a:r>
            <a:r>
              <a:rPr lang="en-US" altLang="zh-CN" sz="2400" b="1" i="1" dirty="0" err="1" smtClean="0">
                <a:solidFill>
                  <a:srgbClr val="000066"/>
                </a:solidFill>
                <a:ea typeface="幼圆" panose="02010509060101010101" pitchFamily="49" charset="-122"/>
                <a:cs typeface="Times New Roman" panose="02020603050405020304" pitchFamily="18" charset="0"/>
              </a:rPr>
              <a:t>K</a:t>
            </a:r>
            <a:r>
              <a:rPr lang="en-US" altLang="zh-CN" sz="2400" b="1" baseline="-25000" dirty="0" err="1" smtClean="0">
                <a:solidFill>
                  <a:srgbClr val="000066"/>
                </a:solidFill>
                <a:ea typeface="幼圆" panose="02010509060101010101" pitchFamily="49" charset="-122"/>
                <a:cs typeface="Times New Roman" panose="02020603050405020304" pitchFamily="18" charset="0"/>
              </a:rPr>
              <a:t>a</a:t>
            </a:r>
            <a:endParaRPr lang="en-US" altLang="zh-CN" sz="2400" b="1" baseline="-25000" dirty="0">
              <a:solidFill>
                <a:srgbClr val="000066"/>
              </a:solidFill>
              <a:ea typeface="幼圆" panose="02010509060101010101" pitchFamily="49" charset="-122"/>
              <a:cs typeface="Times New Roman" panose="02020603050405020304" pitchFamily="18" charset="0"/>
            </a:endParaRPr>
          </a:p>
        </p:txBody>
      </p:sp>
      <p:cxnSp>
        <p:nvCxnSpPr>
          <p:cNvPr id="66" name="直接箭头连接符 65"/>
          <p:cNvCxnSpPr/>
          <p:nvPr/>
        </p:nvCxnSpPr>
        <p:spPr bwMode="auto">
          <a:xfrm flipH="1">
            <a:off x="3639537" y="4090477"/>
            <a:ext cx="1356326"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flipH="1">
            <a:off x="3623663" y="3831003"/>
            <a:ext cx="1253137"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p:nvPr/>
        </p:nvCxnSpPr>
        <p:spPr bwMode="auto">
          <a:xfrm flipH="1">
            <a:off x="3623663" y="3577343"/>
            <a:ext cx="1142012"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81"/>
          <p:cNvCxnSpPr/>
          <p:nvPr/>
        </p:nvCxnSpPr>
        <p:spPr bwMode="auto">
          <a:xfrm flipH="1">
            <a:off x="3623663" y="3060616"/>
            <a:ext cx="926112"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82"/>
          <p:cNvCxnSpPr/>
          <p:nvPr/>
        </p:nvCxnSpPr>
        <p:spPr bwMode="auto">
          <a:xfrm flipH="1">
            <a:off x="3623664" y="2795842"/>
            <a:ext cx="808636" cy="1"/>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flipH="1">
            <a:off x="3623662" y="2532775"/>
            <a:ext cx="700688"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84"/>
          <p:cNvCxnSpPr/>
          <p:nvPr/>
        </p:nvCxnSpPr>
        <p:spPr bwMode="auto">
          <a:xfrm flipH="1">
            <a:off x="3618900" y="2264826"/>
            <a:ext cx="589562"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p:cNvCxnSpPr/>
          <p:nvPr/>
        </p:nvCxnSpPr>
        <p:spPr bwMode="auto">
          <a:xfrm flipH="1">
            <a:off x="3630014" y="3321756"/>
            <a:ext cx="1018186" cy="0"/>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p:nvPr/>
        </p:nvCxnSpPr>
        <p:spPr bwMode="auto">
          <a:xfrm>
            <a:off x="3625850" y="2016125"/>
            <a:ext cx="0" cy="207962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p:nvPr/>
        </p:nvCxnSpPr>
        <p:spPr bwMode="auto">
          <a:xfrm>
            <a:off x="4086225" y="2006602"/>
            <a:ext cx="0" cy="2079625"/>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a:endCxn id="40" idx="4"/>
          </p:cNvCxnSpPr>
          <p:nvPr/>
        </p:nvCxnSpPr>
        <p:spPr bwMode="auto">
          <a:xfrm>
            <a:off x="4100513" y="2014538"/>
            <a:ext cx="893851" cy="207698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1.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土上有</a:t>
            </a:r>
            <a:r>
              <a:rPr kumimoji="1" lang="zh-CN" altLang="en-US" sz="4000" b="1" dirty="0" smtClean="0">
                <a:solidFill>
                  <a:srgbClr val="000066"/>
                </a:solidFill>
                <a:ea typeface="黑体" pitchFamily="2" charset="-122"/>
                <a:cs typeface="Times New Roman" panose="02020603050405020304" pitchFamily="18" charset="0"/>
              </a:rPr>
              <a:t>荷载</a:t>
            </a:r>
            <a:endParaRPr kumimoji="1" lang="zh-CN" altLang="en-US" sz="4000" b="1" dirty="0">
              <a:solidFill>
                <a:srgbClr val="000066"/>
              </a:solidFill>
              <a:ea typeface="黑体" pitchFamily="2" charset="-122"/>
              <a:cs typeface="Times New Roman" panose="02020603050405020304" pitchFamily="18" charset="0"/>
            </a:endParaRPr>
          </a:p>
        </p:txBody>
      </p:sp>
    </p:spTree>
    <p:extLst>
      <p:ext uri="{BB962C8B-B14F-4D97-AF65-F5344CB8AC3E}">
        <p14:creationId xmlns:p14="http://schemas.microsoft.com/office/powerpoint/2010/main" val="24220556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circle(in)">
                                      <p:cBhvr>
                                        <p:cTn id="7" dur="2000"/>
                                        <p:tgtEl>
                                          <p:spTgt spid="64"/>
                                        </p:tgtEl>
                                      </p:cBhvr>
                                    </p:animEffect>
                                  </p:childTnLst>
                                </p:cTn>
                              </p:par>
                            </p:childTnLst>
                          </p:cTn>
                        </p:par>
                        <p:par>
                          <p:cTn id="8" fill="hold">
                            <p:stCondLst>
                              <p:cond delay="2000"/>
                            </p:stCondLst>
                            <p:childTnLst>
                              <p:par>
                                <p:cTn id="9" presetID="5" presetClass="entr" presetSubtype="10" fill="hold" grpId="0" nodeType="afterEffect">
                                  <p:stCondLst>
                                    <p:cond delay="0"/>
                                  </p:stCondLst>
                                  <p:iterate type="wd">
                                    <p:tmPct val="100000"/>
                                  </p:iterate>
                                  <p:childTnLst>
                                    <p:set>
                                      <p:cBhvr>
                                        <p:cTn id="10" dur="1" fill="hold">
                                          <p:stCondLst>
                                            <p:cond delay="0"/>
                                          </p:stCondLst>
                                        </p:cTn>
                                        <p:tgtEl>
                                          <p:spTgt spid="81"/>
                                        </p:tgtEl>
                                        <p:attrNameLst>
                                          <p:attrName>style.visibility</p:attrName>
                                        </p:attrNameLst>
                                      </p:cBhvr>
                                      <p:to>
                                        <p:strVal val="visible"/>
                                      </p:to>
                                    </p:set>
                                    <p:animEffect transition="in" filter="checkerboard(across)">
                                      <p:cBhvr>
                                        <p:cTn id="11" dur="3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8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74</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8" name="Rectangle 3"/>
          <p:cNvSpPr txBox="1">
            <a:spLocks noChangeArrowheads="1"/>
          </p:cNvSpPr>
          <p:nvPr/>
        </p:nvSpPr>
        <p:spPr bwMode="auto">
          <a:xfrm>
            <a:off x="432532" y="536298"/>
            <a:ext cx="63016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50000"/>
              </a:lnSpc>
              <a:spcBef>
                <a:spcPct val="0"/>
              </a:spcBef>
              <a:buClr>
                <a:srgbClr val="C00000"/>
              </a:buClr>
              <a:buSzPct val="100000"/>
              <a:buNone/>
            </a:pPr>
            <a:r>
              <a:rPr lang="zh-CN" altLang="en-US" sz="2400" b="1" kern="0" dirty="0" smtClean="0">
                <a:solidFill>
                  <a:srgbClr val="A50021"/>
                </a:solidFill>
                <a:latin typeface="微软雅黑" panose="020B0503020204020204" pitchFamily="34" charset="-122"/>
                <a:ea typeface="微软雅黑" panose="020B0503020204020204" pitchFamily="34" charset="-122"/>
              </a:rPr>
              <a:t>（</a:t>
            </a:r>
            <a:r>
              <a:rPr lang="en-US" altLang="zh-CN" sz="2400" b="1" kern="0" dirty="0">
                <a:solidFill>
                  <a:srgbClr val="A50021"/>
                </a:solidFill>
                <a:latin typeface="微软雅黑" panose="020B0503020204020204" pitchFamily="34" charset="-122"/>
                <a:ea typeface="微软雅黑" panose="020B0503020204020204" pitchFamily="34" charset="-122"/>
              </a:rPr>
              <a:t>2</a:t>
            </a:r>
            <a:r>
              <a:rPr lang="zh-CN" altLang="en-US" sz="2400" b="1" kern="0" dirty="0" smtClean="0">
                <a:solidFill>
                  <a:srgbClr val="A50021"/>
                </a:solidFill>
                <a:latin typeface="微软雅黑" panose="020B0503020204020204" pitchFamily="34" charset="-122"/>
                <a:ea typeface="微软雅黑" panose="020B0503020204020204" pitchFamily="34" charset="-122"/>
              </a:rPr>
              <a:t>）</a:t>
            </a:r>
            <a:r>
              <a:rPr lang="zh-CN" altLang="en-US" sz="2400" b="1" kern="0" dirty="0">
                <a:solidFill>
                  <a:srgbClr val="A50021"/>
                </a:solidFill>
                <a:latin typeface="微软雅黑" panose="020B0503020204020204" pitchFamily="34" charset="-122"/>
                <a:ea typeface="微软雅黑" panose="020B0503020204020204" pitchFamily="34" charset="-122"/>
              </a:rPr>
              <a:t>连续均布荷载</a:t>
            </a:r>
            <a:r>
              <a:rPr lang="zh-CN" altLang="en-US" sz="2400" b="1" kern="0" dirty="0" smtClean="0">
                <a:solidFill>
                  <a:srgbClr val="A50021"/>
                </a:solidFill>
                <a:latin typeface="微软雅黑" panose="020B0503020204020204" pitchFamily="34" charset="-122"/>
                <a:ea typeface="微软雅黑" panose="020B0503020204020204" pitchFamily="34" charset="-122"/>
              </a:rPr>
              <a:t>作用 </a:t>
            </a: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库伦土压力理论</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69" name="Text Box 20"/>
          <p:cNvSpPr txBox="1">
            <a:spLocks noChangeArrowheads="1"/>
          </p:cNvSpPr>
          <p:nvPr/>
        </p:nvSpPr>
        <p:spPr bwMode="auto">
          <a:xfrm>
            <a:off x="4009256" y="1605332"/>
            <a:ext cx="309978"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i="1" dirty="0" smtClean="0">
                <a:solidFill>
                  <a:srgbClr val="C00000"/>
                </a:solidFill>
                <a:latin typeface="Times New Roman" pitchFamily="18" charset="0"/>
              </a:rPr>
              <a:t>q</a:t>
            </a:r>
            <a:endParaRPr lang="en-US" altLang="zh-CN" sz="2400" b="1" i="1" dirty="0">
              <a:solidFill>
                <a:srgbClr val="C00000"/>
              </a:solidFill>
              <a:latin typeface="Times New Roman" pitchFamily="18" charset="0"/>
            </a:endParaRPr>
          </a:p>
        </p:txBody>
      </p:sp>
      <p:sp>
        <p:nvSpPr>
          <p:cNvPr id="100" name="Text Box 75"/>
          <p:cNvSpPr txBox="1">
            <a:spLocks noChangeArrowheads="1"/>
          </p:cNvSpPr>
          <p:nvPr/>
        </p:nvSpPr>
        <p:spPr bwMode="auto">
          <a:xfrm>
            <a:off x="1093527" y="2550040"/>
            <a:ext cx="38043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36" name="Line 18"/>
          <p:cNvSpPr>
            <a:spLocks noChangeShapeType="1"/>
          </p:cNvSpPr>
          <p:nvPr/>
        </p:nvSpPr>
        <p:spPr bwMode="auto">
          <a:xfrm>
            <a:off x="1450755" y="2594944"/>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2" name="任意多边形 71"/>
          <p:cNvSpPr/>
          <p:nvPr/>
        </p:nvSpPr>
        <p:spPr bwMode="auto">
          <a:xfrm>
            <a:off x="1449592" y="2461257"/>
            <a:ext cx="1525639" cy="2523140"/>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Lst>
            <a:ahLst/>
            <a:cxnLst>
              <a:cxn ang="0">
                <a:pos x="connsiteX0" y="connsiteY0"/>
              </a:cxn>
              <a:cxn ang="0">
                <a:pos x="connsiteX1" y="connsiteY1"/>
              </a:cxn>
              <a:cxn ang="0">
                <a:pos x="connsiteX2" y="connsiteY2"/>
              </a:cxn>
              <a:cxn ang="0">
                <a:pos x="connsiteX3" y="connsiteY3"/>
              </a:cxn>
            </a:cxnLst>
            <a:rect l="l" t="t" r="r" b="b"/>
            <a:pathLst>
              <a:path w="927307" h="1742433">
                <a:moveTo>
                  <a:pt x="0" y="334124"/>
                </a:moveTo>
                <a:lnTo>
                  <a:pt x="290339" y="1742433"/>
                </a:lnTo>
                <a:lnTo>
                  <a:pt x="927307" y="0"/>
                </a:lnTo>
                <a:lnTo>
                  <a:pt x="0" y="3341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6" name="任意多边形 75"/>
          <p:cNvSpPr/>
          <p:nvPr/>
        </p:nvSpPr>
        <p:spPr bwMode="auto">
          <a:xfrm>
            <a:off x="785154" y="2941667"/>
            <a:ext cx="1130664" cy="2059968"/>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6" name="Line 60"/>
          <p:cNvSpPr>
            <a:spLocks noChangeShapeType="1"/>
          </p:cNvSpPr>
          <p:nvPr/>
        </p:nvSpPr>
        <p:spPr bwMode="auto">
          <a:xfrm>
            <a:off x="1442555" y="2935520"/>
            <a:ext cx="0" cy="61717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Rectangle 61"/>
          <p:cNvSpPr>
            <a:spLocks noChangeArrowheads="1"/>
          </p:cNvSpPr>
          <p:nvPr/>
        </p:nvSpPr>
        <p:spPr bwMode="auto">
          <a:xfrm>
            <a:off x="1304155" y="3404529"/>
            <a:ext cx="345742"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91" name="Line 70"/>
          <p:cNvSpPr>
            <a:spLocks noChangeShapeType="1"/>
          </p:cNvSpPr>
          <p:nvPr/>
        </p:nvSpPr>
        <p:spPr bwMode="auto">
          <a:xfrm flipV="1">
            <a:off x="1926546" y="2445679"/>
            <a:ext cx="1067068" cy="254360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Rectangle 74"/>
          <p:cNvSpPr>
            <a:spLocks noChangeArrowheads="1"/>
          </p:cNvSpPr>
          <p:nvPr/>
        </p:nvSpPr>
        <p:spPr bwMode="auto">
          <a:xfrm>
            <a:off x="971823" y="4070074"/>
            <a:ext cx="320265"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a:solidFill>
                  <a:srgbClr val="993300"/>
                </a:solidFill>
                <a:latin typeface="Times New Roman" panose="02020603050405020304" pitchFamily="18" charset="0"/>
                <a:sym typeface="Symbol" panose="05050102010706020507" pitchFamily="18" charset="2"/>
              </a:rPr>
              <a:t></a:t>
            </a:r>
          </a:p>
        </p:txBody>
      </p:sp>
      <p:sp>
        <p:nvSpPr>
          <p:cNvPr id="93" name="Text Box 75"/>
          <p:cNvSpPr txBox="1">
            <a:spLocks noChangeArrowheads="1"/>
          </p:cNvSpPr>
          <p:nvPr/>
        </p:nvSpPr>
        <p:spPr bwMode="auto">
          <a:xfrm>
            <a:off x="873143" y="4479384"/>
            <a:ext cx="410993" cy="448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C00000"/>
                </a:solidFill>
                <a:latin typeface="Times New Roman" panose="02020603050405020304" pitchFamily="18" charset="0"/>
                <a:sym typeface="Symbol" panose="05050102010706020507" pitchFamily="18" charset="2"/>
              </a:rPr>
              <a:t>E</a:t>
            </a:r>
            <a:endParaRPr kumimoji="1" lang="en-US" altLang="zh-CN" sz="2000" b="1" dirty="0">
              <a:solidFill>
                <a:srgbClr val="C00000"/>
              </a:solidFill>
              <a:latin typeface="Times New Roman" panose="02020603050405020304" pitchFamily="18" charset="0"/>
              <a:sym typeface="Symbol" panose="05050102010706020507" pitchFamily="18" charset="2"/>
            </a:endParaRPr>
          </a:p>
        </p:txBody>
      </p:sp>
      <p:cxnSp>
        <p:nvCxnSpPr>
          <p:cNvPr id="95" name="直接连接符 94"/>
          <p:cNvCxnSpPr/>
          <p:nvPr/>
        </p:nvCxnSpPr>
        <p:spPr bwMode="auto">
          <a:xfrm flipH="1">
            <a:off x="1156698" y="4049230"/>
            <a:ext cx="536291" cy="10340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任意多边形 95"/>
          <p:cNvSpPr/>
          <p:nvPr/>
        </p:nvSpPr>
        <p:spPr bwMode="auto">
          <a:xfrm rot="4552046">
            <a:off x="1577362" y="3953250"/>
            <a:ext cx="104259" cy="118456"/>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7" name="任意多边形 96"/>
          <p:cNvSpPr/>
          <p:nvPr/>
        </p:nvSpPr>
        <p:spPr bwMode="auto">
          <a:xfrm>
            <a:off x="1291510" y="4125220"/>
            <a:ext cx="130441" cy="17575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8" name="任意多边形 97"/>
          <p:cNvSpPr/>
          <p:nvPr/>
        </p:nvSpPr>
        <p:spPr bwMode="auto">
          <a:xfrm rot="18139897">
            <a:off x="1471913" y="3415334"/>
            <a:ext cx="66204" cy="11514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9" name="直接连接符 98"/>
          <p:cNvCxnSpPr/>
          <p:nvPr/>
        </p:nvCxnSpPr>
        <p:spPr bwMode="auto">
          <a:xfrm>
            <a:off x="1407961" y="5000613"/>
            <a:ext cx="267954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Text Box 75"/>
          <p:cNvSpPr txBox="1">
            <a:spLocks noChangeArrowheads="1"/>
          </p:cNvSpPr>
          <p:nvPr/>
        </p:nvSpPr>
        <p:spPr bwMode="auto">
          <a:xfrm>
            <a:off x="1774178" y="4911805"/>
            <a:ext cx="710293" cy="6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02" name="Text Box 75"/>
          <p:cNvSpPr txBox="1">
            <a:spLocks noChangeArrowheads="1"/>
          </p:cNvSpPr>
          <p:nvPr/>
        </p:nvSpPr>
        <p:spPr bwMode="auto">
          <a:xfrm>
            <a:off x="3007853" y="2341746"/>
            <a:ext cx="39957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106" name="直接箭头连接符 105"/>
          <p:cNvCxnSpPr/>
          <p:nvPr/>
        </p:nvCxnSpPr>
        <p:spPr bwMode="auto">
          <a:xfrm>
            <a:off x="2025395" y="3210433"/>
            <a:ext cx="0" cy="851739"/>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Text Box 75"/>
          <p:cNvSpPr txBox="1">
            <a:spLocks noChangeArrowheads="1"/>
          </p:cNvSpPr>
          <p:nvPr/>
        </p:nvSpPr>
        <p:spPr bwMode="auto">
          <a:xfrm>
            <a:off x="1997799" y="3147808"/>
            <a:ext cx="41144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108" name="组合 107"/>
          <p:cNvGrpSpPr/>
          <p:nvPr/>
        </p:nvGrpSpPr>
        <p:grpSpPr>
          <a:xfrm rot="173897">
            <a:off x="2490145" y="3542466"/>
            <a:ext cx="810243" cy="873199"/>
            <a:chOff x="6840700" y="1909625"/>
            <a:chExt cx="492479" cy="603016"/>
          </a:xfrm>
        </p:grpSpPr>
        <p:cxnSp>
          <p:nvCxnSpPr>
            <p:cNvPr id="109" name="直接连接符 108"/>
            <p:cNvCxnSpPr/>
            <p:nvPr/>
          </p:nvCxnSpPr>
          <p:spPr bwMode="auto">
            <a:xfrm rot="11211980" flipH="1" flipV="1">
              <a:off x="6840700" y="1985722"/>
              <a:ext cx="332186" cy="714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任意多边形 109"/>
            <p:cNvSpPr/>
            <p:nvPr/>
          </p:nvSpPr>
          <p:spPr bwMode="auto">
            <a:xfrm rot="6659934" flipV="1">
              <a:off x="6852243" y="1908938"/>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1" name="任意多边形 110"/>
            <p:cNvSpPr/>
            <p:nvPr/>
          </p:nvSpPr>
          <p:spPr bwMode="auto">
            <a:xfrm rot="11211980" flipV="1">
              <a:off x="7018062" y="2044945"/>
              <a:ext cx="80797"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2" name="直接箭头连接符 111"/>
            <p:cNvCxnSpPr/>
            <p:nvPr/>
          </p:nvCxnSpPr>
          <p:spPr bwMode="auto">
            <a:xfrm rot="21426103" flipH="1" flipV="1">
              <a:off x="6850957" y="1950661"/>
              <a:ext cx="482222" cy="561980"/>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3" name="Rectangle 74"/>
          <p:cNvSpPr>
            <a:spLocks noChangeArrowheads="1"/>
          </p:cNvSpPr>
          <p:nvPr/>
        </p:nvSpPr>
        <p:spPr bwMode="auto">
          <a:xfrm>
            <a:off x="2851619" y="3667857"/>
            <a:ext cx="348782"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114" name="Text Box 75"/>
          <p:cNvSpPr txBox="1">
            <a:spLocks noChangeArrowheads="1"/>
          </p:cNvSpPr>
          <p:nvPr/>
        </p:nvSpPr>
        <p:spPr bwMode="auto">
          <a:xfrm>
            <a:off x="3191701" y="4013285"/>
            <a:ext cx="42216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115" name="直接连接符 114"/>
          <p:cNvCxnSpPr/>
          <p:nvPr/>
        </p:nvCxnSpPr>
        <p:spPr bwMode="auto">
          <a:xfrm flipV="1">
            <a:off x="1445343" y="2166822"/>
            <a:ext cx="2445384" cy="77196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a:off x="1453276" y="2939724"/>
            <a:ext cx="81900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任意多边形 116"/>
          <p:cNvSpPr/>
          <p:nvPr/>
        </p:nvSpPr>
        <p:spPr bwMode="auto">
          <a:xfrm rot="8053380" flipV="1">
            <a:off x="1973832" y="2785497"/>
            <a:ext cx="86297" cy="14728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19" name="直接箭头连接符 118"/>
          <p:cNvCxnSpPr/>
          <p:nvPr/>
        </p:nvCxnSpPr>
        <p:spPr bwMode="auto">
          <a:xfrm flipV="1">
            <a:off x="1048981" y="4061790"/>
            <a:ext cx="669381" cy="520951"/>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75"/>
          <p:cNvSpPr txBox="1">
            <a:spLocks noChangeArrowheads="1"/>
          </p:cNvSpPr>
          <p:nvPr/>
        </p:nvSpPr>
        <p:spPr bwMode="auto">
          <a:xfrm>
            <a:off x="4871243" y="1923652"/>
            <a:ext cx="442686" cy="436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W</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28" name="Text Box 75"/>
          <p:cNvSpPr txBox="1">
            <a:spLocks noChangeArrowheads="1"/>
          </p:cNvSpPr>
          <p:nvPr/>
        </p:nvSpPr>
        <p:spPr bwMode="auto">
          <a:xfrm>
            <a:off x="5655151" y="2434687"/>
            <a:ext cx="56405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C00000"/>
                </a:solidFill>
                <a:latin typeface="Times New Roman" panose="02020603050405020304" pitchFamily="18" charset="0"/>
                <a:sym typeface="Symbol" panose="05050102010706020507" pitchFamily="18" charset="2"/>
              </a:rPr>
              <a:t>E</a:t>
            </a:r>
            <a:r>
              <a:rPr kumimoji="1" lang="en-US" altLang="zh-CN" sz="20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sp>
        <p:nvSpPr>
          <p:cNvPr id="129" name="Text Box 75"/>
          <p:cNvSpPr txBox="1">
            <a:spLocks noChangeArrowheads="1"/>
          </p:cNvSpPr>
          <p:nvPr/>
        </p:nvSpPr>
        <p:spPr bwMode="auto">
          <a:xfrm>
            <a:off x="6031129" y="1645191"/>
            <a:ext cx="362909" cy="42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3300"/>
                </a:solidFill>
                <a:latin typeface="Times New Roman" panose="02020603050405020304" pitchFamily="18" charset="0"/>
                <a:sym typeface="Symbol" panose="05050102010706020507" pitchFamily="18" charset="2"/>
              </a:rPr>
              <a:t>R</a:t>
            </a:r>
            <a:endParaRPr kumimoji="1" lang="en-US" altLang="zh-CN" sz="2000" b="1" dirty="0">
              <a:solidFill>
                <a:srgbClr val="003300"/>
              </a:solidFill>
              <a:latin typeface="Times New Roman" panose="02020603050405020304" pitchFamily="18" charset="0"/>
              <a:sym typeface="Symbol" panose="05050102010706020507" pitchFamily="18" charset="2"/>
            </a:endParaRPr>
          </a:p>
        </p:txBody>
      </p:sp>
      <p:cxnSp>
        <p:nvCxnSpPr>
          <p:cNvPr id="130" name="直接箭头连接符 129"/>
          <p:cNvCxnSpPr/>
          <p:nvPr/>
        </p:nvCxnSpPr>
        <p:spPr bwMode="auto">
          <a:xfrm>
            <a:off x="5360958" y="1354637"/>
            <a:ext cx="0" cy="1479062"/>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箭头连接符 130"/>
          <p:cNvCxnSpPr/>
          <p:nvPr/>
        </p:nvCxnSpPr>
        <p:spPr bwMode="auto">
          <a:xfrm flipH="1" flipV="1">
            <a:off x="5377989" y="1343249"/>
            <a:ext cx="1107032" cy="1290139"/>
          </a:xfrm>
          <a:prstGeom prst="straightConnector1">
            <a:avLst/>
          </a:prstGeom>
          <a:noFill/>
          <a:ln w="28575" cap="flat" cmpd="sng" algn="ctr">
            <a:solidFill>
              <a:srgbClr val="00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箭头连接符 131"/>
          <p:cNvCxnSpPr/>
          <p:nvPr/>
        </p:nvCxnSpPr>
        <p:spPr bwMode="auto">
          <a:xfrm flipV="1">
            <a:off x="5367168" y="2171017"/>
            <a:ext cx="740839" cy="655079"/>
          </a:xfrm>
          <a:prstGeom prst="straightConnector1">
            <a:avLst/>
          </a:prstGeom>
          <a:noFill/>
          <a:ln w="28575" cap="flat" cmpd="sng" algn="ctr">
            <a:solidFill>
              <a:srgbClr val="C00000"/>
            </a:solidFill>
            <a:prstDash val="sys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Line 18"/>
          <p:cNvSpPr>
            <a:spLocks noChangeShapeType="1"/>
          </p:cNvSpPr>
          <p:nvPr/>
        </p:nvSpPr>
        <p:spPr bwMode="auto">
          <a:xfrm>
            <a:off x="1650286" y="2532340"/>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39" name="Line 18"/>
          <p:cNvSpPr>
            <a:spLocks noChangeShapeType="1"/>
          </p:cNvSpPr>
          <p:nvPr/>
        </p:nvSpPr>
        <p:spPr bwMode="auto">
          <a:xfrm>
            <a:off x="1849817" y="2469736"/>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0" name="Line 18"/>
          <p:cNvSpPr>
            <a:spLocks noChangeShapeType="1"/>
          </p:cNvSpPr>
          <p:nvPr/>
        </p:nvSpPr>
        <p:spPr bwMode="auto">
          <a:xfrm>
            <a:off x="2049348" y="2407132"/>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1" name="Line 18"/>
          <p:cNvSpPr>
            <a:spLocks noChangeShapeType="1"/>
          </p:cNvSpPr>
          <p:nvPr/>
        </p:nvSpPr>
        <p:spPr bwMode="auto">
          <a:xfrm>
            <a:off x="2248879" y="2344528"/>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2" name="Line 18"/>
          <p:cNvSpPr>
            <a:spLocks noChangeShapeType="1"/>
          </p:cNvSpPr>
          <p:nvPr/>
        </p:nvSpPr>
        <p:spPr bwMode="auto">
          <a:xfrm>
            <a:off x="2448410" y="2281924"/>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3" name="Line 18"/>
          <p:cNvSpPr>
            <a:spLocks noChangeShapeType="1"/>
          </p:cNvSpPr>
          <p:nvPr/>
        </p:nvSpPr>
        <p:spPr bwMode="auto">
          <a:xfrm>
            <a:off x="2647941" y="2219320"/>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4" name="Line 18"/>
          <p:cNvSpPr>
            <a:spLocks noChangeShapeType="1"/>
          </p:cNvSpPr>
          <p:nvPr/>
        </p:nvSpPr>
        <p:spPr bwMode="auto">
          <a:xfrm>
            <a:off x="2847472" y="2152740"/>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5" name="Line 18"/>
          <p:cNvSpPr>
            <a:spLocks noChangeShapeType="1"/>
          </p:cNvSpPr>
          <p:nvPr/>
        </p:nvSpPr>
        <p:spPr bwMode="auto">
          <a:xfrm>
            <a:off x="3047003" y="2086160"/>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6" name="Line 18"/>
          <p:cNvSpPr>
            <a:spLocks noChangeShapeType="1"/>
          </p:cNvSpPr>
          <p:nvPr/>
        </p:nvSpPr>
        <p:spPr bwMode="auto">
          <a:xfrm>
            <a:off x="3246534" y="2023556"/>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7" name="Line 18"/>
          <p:cNvSpPr>
            <a:spLocks noChangeShapeType="1"/>
          </p:cNvSpPr>
          <p:nvPr/>
        </p:nvSpPr>
        <p:spPr bwMode="auto">
          <a:xfrm>
            <a:off x="3446065" y="1960952"/>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8" name="Line 18"/>
          <p:cNvSpPr>
            <a:spLocks noChangeShapeType="1"/>
          </p:cNvSpPr>
          <p:nvPr/>
        </p:nvSpPr>
        <p:spPr bwMode="auto">
          <a:xfrm>
            <a:off x="3645596" y="1894372"/>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49" name="Line 18"/>
          <p:cNvSpPr>
            <a:spLocks noChangeShapeType="1"/>
          </p:cNvSpPr>
          <p:nvPr/>
        </p:nvSpPr>
        <p:spPr bwMode="auto">
          <a:xfrm>
            <a:off x="3845127" y="1827792"/>
            <a:ext cx="0" cy="337484"/>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cxnSp>
        <p:nvCxnSpPr>
          <p:cNvPr id="4" name="直接连接符 3"/>
          <p:cNvCxnSpPr>
            <a:stCxn id="36" idx="0"/>
            <a:endCxn id="149" idx="0"/>
          </p:cNvCxnSpPr>
          <p:nvPr/>
        </p:nvCxnSpPr>
        <p:spPr bwMode="auto">
          <a:xfrm flipV="1">
            <a:off x="1450755" y="1827792"/>
            <a:ext cx="2394372" cy="767152"/>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0" name="Group 12"/>
          <p:cNvGrpSpPr>
            <a:grpSpLocks/>
          </p:cNvGrpSpPr>
          <p:nvPr/>
        </p:nvGrpSpPr>
        <p:grpSpPr bwMode="auto">
          <a:xfrm rot="20586691">
            <a:off x="3338127" y="2273596"/>
            <a:ext cx="454614" cy="82278"/>
            <a:chOff x="2274" y="1204"/>
            <a:chExt cx="270" cy="44"/>
          </a:xfrm>
        </p:grpSpPr>
        <p:sp>
          <p:nvSpPr>
            <p:cNvPr id="151"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2"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6"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7"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8" name="Group 12"/>
          <p:cNvGrpSpPr>
            <a:grpSpLocks/>
          </p:cNvGrpSpPr>
          <p:nvPr/>
        </p:nvGrpSpPr>
        <p:grpSpPr bwMode="auto">
          <a:xfrm rot="20586691">
            <a:off x="2052599" y="2679532"/>
            <a:ext cx="454614" cy="82278"/>
            <a:chOff x="2274" y="1204"/>
            <a:chExt cx="270" cy="44"/>
          </a:xfrm>
        </p:grpSpPr>
        <p:sp>
          <p:nvSpPr>
            <p:cNvPr id="159"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1"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8" name="Rectangle 74"/>
          <p:cNvSpPr>
            <a:spLocks noChangeArrowheads="1"/>
          </p:cNvSpPr>
          <p:nvPr/>
        </p:nvSpPr>
        <p:spPr bwMode="auto">
          <a:xfrm>
            <a:off x="2233841" y="2628028"/>
            <a:ext cx="413929" cy="46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cxnSp>
        <p:nvCxnSpPr>
          <p:cNvPr id="166" name="直接箭头连接符 165"/>
          <p:cNvCxnSpPr/>
          <p:nvPr/>
        </p:nvCxnSpPr>
        <p:spPr bwMode="auto">
          <a:xfrm>
            <a:off x="5359186" y="2841423"/>
            <a:ext cx="0" cy="782509"/>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箭头连接符 166"/>
          <p:cNvCxnSpPr/>
          <p:nvPr/>
        </p:nvCxnSpPr>
        <p:spPr bwMode="auto">
          <a:xfrm flipV="1">
            <a:off x="5365301" y="2638212"/>
            <a:ext cx="1130353" cy="999505"/>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75"/>
          <p:cNvSpPr txBox="1">
            <a:spLocks noChangeArrowheads="1"/>
          </p:cNvSpPr>
          <p:nvPr/>
        </p:nvSpPr>
        <p:spPr bwMode="auto">
          <a:xfrm>
            <a:off x="5935143" y="3007073"/>
            <a:ext cx="564056"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C00000"/>
                </a:solidFill>
                <a:latin typeface="Times New Roman" panose="02020603050405020304" pitchFamily="18" charset="0"/>
                <a:sym typeface="Symbol" panose="05050102010706020507" pitchFamily="18" charset="2"/>
              </a:rPr>
              <a:t>E</a:t>
            </a:r>
            <a:r>
              <a:rPr kumimoji="1" lang="en-US" altLang="zh-CN" sz="20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sp>
        <p:nvSpPr>
          <p:cNvPr id="170" name="Text Box 75"/>
          <p:cNvSpPr txBox="1">
            <a:spLocks noChangeArrowheads="1"/>
          </p:cNvSpPr>
          <p:nvPr/>
        </p:nvSpPr>
        <p:spPr bwMode="auto">
          <a:xfrm>
            <a:off x="4512682" y="2963870"/>
            <a:ext cx="877186"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G = </a:t>
            </a:r>
            <a:r>
              <a:rPr kumimoji="1" lang="en-US" altLang="zh-CN" sz="2000" b="1" i="1" dirty="0" err="1" smtClean="0">
                <a:solidFill>
                  <a:srgbClr val="000066"/>
                </a:solidFill>
                <a:latin typeface="Times New Roman" panose="02020603050405020304" pitchFamily="18" charset="0"/>
                <a:sym typeface="Symbol" panose="05050102010706020507" pitchFamily="18" charset="2"/>
              </a:rPr>
              <a:t>ql</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171" name="直角三角形 170"/>
          <p:cNvSpPr/>
          <p:nvPr/>
        </p:nvSpPr>
        <p:spPr bwMode="auto">
          <a:xfrm>
            <a:off x="7726093" y="1362725"/>
            <a:ext cx="914400" cy="2090058"/>
          </a:xfrm>
          <a:prstGeom prst="rtTriangle">
            <a:avLst/>
          </a:prstGeom>
          <a:solidFill>
            <a:srgbClr val="CCECFF"/>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2" name="矩形 171"/>
          <p:cNvSpPr/>
          <p:nvPr/>
        </p:nvSpPr>
        <p:spPr>
          <a:xfrm>
            <a:off x="7276689" y="1374726"/>
            <a:ext cx="456173" cy="2082187"/>
          </a:xfrm>
          <a:prstGeom prst="rect">
            <a:avLst/>
          </a:prstGeom>
          <a:solidFill>
            <a:schemeClr val="accent5">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Line 89"/>
          <p:cNvSpPr>
            <a:spLocks noChangeAspect="1" noChangeShapeType="1"/>
          </p:cNvSpPr>
          <p:nvPr/>
        </p:nvSpPr>
        <p:spPr bwMode="auto">
          <a:xfrm>
            <a:off x="7767532" y="3849253"/>
            <a:ext cx="8738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75" name="直接连接符 174"/>
          <p:cNvCxnSpPr/>
          <p:nvPr/>
        </p:nvCxnSpPr>
        <p:spPr bwMode="auto">
          <a:xfrm>
            <a:off x="7758054" y="3684628"/>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75"/>
          <p:cNvCxnSpPr/>
          <p:nvPr/>
        </p:nvCxnSpPr>
        <p:spPr bwMode="auto">
          <a:xfrm>
            <a:off x="8633227" y="3673850"/>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176"/>
          <p:cNvCxnSpPr/>
          <p:nvPr/>
        </p:nvCxnSpPr>
        <p:spPr bwMode="auto">
          <a:xfrm>
            <a:off x="7278855" y="3667224"/>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Line 89"/>
          <p:cNvSpPr>
            <a:spLocks noChangeAspect="1" noChangeShapeType="1"/>
          </p:cNvSpPr>
          <p:nvPr/>
        </p:nvSpPr>
        <p:spPr bwMode="auto">
          <a:xfrm>
            <a:off x="7274574" y="3850578"/>
            <a:ext cx="493464"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9" name="Text Box 54"/>
          <p:cNvSpPr txBox="1">
            <a:spLocks noChangeArrowheads="1"/>
          </p:cNvSpPr>
          <p:nvPr/>
        </p:nvSpPr>
        <p:spPr bwMode="auto">
          <a:xfrm>
            <a:off x="7790991" y="3412259"/>
            <a:ext cx="820590"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lang="en-US" altLang="zh-CN" sz="2000" b="1" i="1" dirty="0" err="1"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cxnSp>
        <p:nvCxnSpPr>
          <p:cNvPr id="181" name="直接箭头连接符 180"/>
          <p:cNvCxnSpPr/>
          <p:nvPr/>
        </p:nvCxnSpPr>
        <p:spPr bwMode="auto">
          <a:xfrm flipH="1">
            <a:off x="7281332" y="3456071"/>
            <a:ext cx="1356326" cy="0"/>
          </a:xfrm>
          <a:prstGeom prst="straightConnector1">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直接箭头连接符 181"/>
          <p:cNvCxnSpPr/>
          <p:nvPr/>
        </p:nvCxnSpPr>
        <p:spPr bwMode="auto">
          <a:xfrm flipH="1">
            <a:off x="7269792" y="3196597"/>
            <a:ext cx="1253137"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直接箭头连接符 182"/>
          <p:cNvCxnSpPr/>
          <p:nvPr/>
        </p:nvCxnSpPr>
        <p:spPr bwMode="auto">
          <a:xfrm flipH="1">
            <a:off x="7269792" y="2942937"/>
            <a:ext cx="1142012"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箭头连接符 183"/>
          <p:cNvCxnSpPr/>
          <p:nvPr/>
        </p:nvCxnSpPr>
        <p:spPr bwMode="auto">
          <a:xfrm flipH="1">
            <a:off x="7269792" y="2426210"/>
            <a:ext cx="926112"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直接箭头连接符 184"/>
          <p:cNvCxnSpPr/>
          <p:nvPr/>
        </p:nvCxnSpPr>
        <p:spPr bwMode="auto">
          <a:xfrm flipH="1">
            <a:off x="7269793" y="2161436"/>
            <a:ext cx="808636" cy="1"/>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箭头连接符 185"/>
          <p:cNvCxnSpPr/>
          <p:nvPr/>
        </p:nvCxnSpPr>
        <p:spPr bwMode="auto">
          <a:xfrm flipH="1">
            <a:off x="7269791" y="1898369"/>
            <a:ext cx="700688"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直接箭头连接符 186"/>
          <p:cNvCxnSpPr/>
          <p:nvPr/>
        </p:nvCxnSpPr>
        <p:spPr bwMode="auto">
          <a:xfrm flipH="1">
            <a:off x="7265029" y="1630420"/>
            <a:ext cx="589562"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8" name="直接箭头连接符 187"/>
          <p:cNvCxnSpPr/>
          <p:nvPr/>
        </p:nvCxnSpPr>
        <p:spPr bwMode="auto">
          <a:xfrm flipH="1">
            <a:off x="7276143" y="2687350"/>
            <a:ext cx="1018186" cy="0"/>
          </a:xfrm>
          <a:prstGeom prst="straightConnector1">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直接连接符 188"/>
          <p:cNvCxnSpPr/>
          <p:nvPr/>
        </p:nvCxnSpPr>
        <p:spPr bwMode="auto">
          <a:xfrm>
            <a:off x="7271979" y="1381719"/>
            <a:ext cx="0" cy="207962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直接连接符 189"/>
          <p:cNvCxnSpPr/>
          <p:nvPr/>
        </p:nvCxnSpPr>
        <p:spPr bwMode="auto">
          <a:xfrm>
            <a:off x="7732354" y="1372196"/>
            <a:ext cx="0" cy="2079625"/>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直接连接符 190"/>
          <p:cNvCxnSpPr>
            <a:endCxn id="171" idx="4"/>
          </p:cNvCxnSpPr>
          <p:nvPr/>
        </p:nvCxnSpPr>
        <p:spPr bwMode="auto">
          <a:xfrm>
            <a:off x="7746642" y="1375798"/>
            <a:ext cx="893851" cy="207698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直接箭头连接符 191"/>
          <p:cNvCxnSpPr/>
          <p:nvPr/>
        </p:nvCxnSpPr>
        <p:spPr bwMode="auto">
          <a:xfrm flipH="1">
            <a:off x="7266606" y="1372483"/>
            <a:ext cx="488175" cy="0"/>
          </a:xfrm>
          <a:prstGeom prst="straightConnector1">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1455761" y="2220036"/>
            <a:ext cx="0" cy="200167"/>
          </a:xfrm>
          <a:prstGeom prst="line">
            <a:avLst/>
          </a:prstGeom>
          <a:noFill/>
          <a:ln w="9525"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p:nvPr/>
        </p:nvCxnSpPr>
        <p:spPr bwMode="auto">
          <a:xfrm>
            <a:off x="2968388" y="1771935"/>
            <a:ext cx="0" cy="200167"/>
          </a:xfrm>
          <a:prstGeom prst="line">
            <a:avLst/>
          </a:prstGeom>
          <a:noFill/>
          <a:ln w="9525"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箭头连接符 50"/>
          <p:cNvCxnSpPr/>
          <p:nvPr/>
        </p:nvCxnSpPr>
        <p:spPr bwMode="auto">
          <a:xfrm flipV="1">
            <a:off x="1460310" y="1869743"/>
            <a:ext cx="1496705" cy="459475"/>
          </a:xfrm>
          <a:prstGeom prst="straightConnector1">
            <a:avLst/>
          </a:prstGeom>
          <a:noFill/>
          <a:ln w="9525" cap="flat" cmpd="sng" algn="ctr">
            <a:solidFill>
              <a:srgbClr val="000066"/>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 name="Text Box 20"/>
          <p:cNvSpPr txBox="1">
            <a:spLocks noChangeArrowheads="1"/>
          </p:cNvSpPr>
          <p:nvPr/>
        </p:nvSpPr>
        <p:spPr bwMode="auto">
          <a:xfrm>
            <a:off x="2064450" y="1671297"/>
            <a:ext cx="309978"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i="1" dirty="0" smtClean="0">
                <a:solidFill>
                  <a:srgbClr val="C00000"/>
                </a:solidFill>
                <a:latin typeface="Times New Roman" pitchFamily="18" charset="0"/>
              </a:rPr>
              <a:t>l</a:t>
            </a:r>
            <a:endParaRPr lang="en-US" altLang="zh-CN" sz="2400" b="1" i="1" dirty="0">
              <a:solidFill>
                <a:srgbClr val="C00000"/>
              </a:solidFill>
              <a:latin typeface="Times New Roman" pitchFamily="18" charset="0"/>
            </a:endParaRPr>
          </a:p>
        </p:txBody>
      </p:sp>
      <p:graphicFrame>
        <p:nvGraphicFramePr>
          <p:cNvPr id="196" name="Object 0"/>
          <p:cNvGraphicFramePr>
            <a:graphicFrameLocks noChangeAspect="1"/>
          </p:cNvGraphicFramePr>
          <p:nvPr>
            <p:extLst>
              <p:ext uri="{D42A27DB-BD31-4B8C-83A1-F6EECF244321}">
                <p14:modId xmlns:p14="http://schemas.microsoft.com/office/powerpoint/2010/main" val="4289636486"/>
              </p:ext>
            </p:extLst>
          </p:nvPr>
        </p:nvGraphicFramePr>
        <p:xfrm>
          <a:off x="5011738" y="4921250"/>
          <a:ext cx="3373437" cy="666750"/>
        </p:xfrm>
        <a:graphic>
          <a:graphicData uri="http://schemas.openxmlformats.org/presentationml/2006/ole">
            <mc:AlternateContent xmlns:mc="http://schemas.openxmlformats.org/markup-compatibility/2006">
              <mc:Choice xmlns:v="urn:schemas-microsoft-com:vml" Requires="v">
                <p:oleObj spid="_x0000_s1708636" name="Equation" r:id="rId4" imgW="1993680" imgH="393480" progId="Equation.DSMT4">
                  <p:embed/>
                </p:oleObj>
              </mc:Choice>
              <mc:Fallback>
                <p:oleObj name="Equation" r:id="rId4" imgW="1993680" imgH="393480" progId="Equation.DSMT4">
                  <p:embed/>
                  <p:pic>
                    <p:nvPicPr>
                      <p:cNvPr id="760832" name="Object 0"/>
                      <p:cNvPicPr>
                        <a:picLocks noChangeAspect="1" noChangeArrowheads="1"/>
                      </p:cNvPicPr>
                      <p:nvPr/>
                    </p:nvPicPr>
                    <p:blipFill>
                      <a:blip r:embed="rId5"/>
                      <a:srcRect/>
                      <a:stretch>
                        <a:fillRect/>
                      </a:stretch>
                    </p:blipFill>
                    <p:spPr bwMode="auto">
                      <a:xfrm>
                        <a:off x="5011738" y="4921250"/>
                        <a:ext cx="3373437" cy="666750"/>
                      </a:xfrm>
                      <a:prstGeom prst="rect">
                        <a:avLst/>
                      </a:prstGeom>
                      <a:noFill/>
                      <a:ln>
                        <a:noFill/>
                      </a:ln>
                      <a:effectLst/>
                      <a:extLst/>
                    </p:spPr>
                  </p:pic>
                </p:oleObj>
              </mc:Fallback>
            </mc:AlternateContent>
          </a:graphicData>
        </a:graphic>
      </p:graphicFrame>
      <p:sp>
        <p:nvSpPr>
          <p:cNvPr id="197"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1.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土上有</a:t>
            </a:r>
            <a:r>
              <a:rPr kumimoji="1" lang="zh-CN" altLang="en-US" sz="4000" b="1" dirty="0" smtClean="0">
                <a:solidFill>
                  <a:srgbClr val="000066"/>
                </a:solidFill>
                <a:ea typeface="黑体" pitchFamily="2" charset="-122"/>
                <a:cs typeface="Times New Roman" panose="02020603050405020304" pitchFamily="18" charset="0"/>
              </a:rPr>
              <a:t>荷载</a:t>
            </a:r>
            <a:endParaRPr kumimoji="1" lang="zh-CN" altLang="en-US" sz="4000" b="1" dirty="0">
              <a:solidFill>
                <a:srgbClr val="000066"/>
              </a:solidFill>
              <a:ea typeface="黑体" pitchFamily="2" charset="-122"/>
              <a:cs typeface="Times New Roman" panose="02020603050405020304" pitchFamily="18" charset="0"/>
            </a:endParaRPr>
          </a:p>
        </p:txBody>
      </p:sp>
      <p:graphicFrame>
        <p:nvGraphicFramePr>
          <p:cNvPr id="103" name="Object 0"/>
          <p:cNvGraphicFramePr>
            <a:graphicFrameLocks noChangeAspect="1"/>
          </p:cNvGraphicFramePr>
          <p:nvPr>
            <p:extLst>
              <p:ext uri="{D42A27DB-BD31-4B8C-83A1-F6EECF244321}">
                <p14:modId xmlns:p14="http://schemas.microsoft.com/office/powerpoint/2010/main" val="3709375272"/>
              </p:ext>
            </p:extLst>
          </p:nvPr>
        </p:nvGraphicFramePr>
        <p:xfrm>
          <a:off x="6648450" y="3914775"/>
          <a:ext cx="1389063" cy="588963"/>
        </p:xfrm>
        <a:graphic>
          <a:graphicData uri="http://schemas.openxmlformats.org/presentationml/2006/ole">
            <mc:AlternateContent xmlns:mc="http://schemas.openxmlformats.org/markup-compatibility/2006">
              <mc:Choice xmlns:v="urn:schemas-microsoft-com:vml" Requires="v">
                <p:oleObj spid="_x0000_s1708637" name="Equation" r:id="rId6" imgW="927000" imgH="393480" progId="Equation.DSMT4">
                  <p:embed/>
                </p:oleObj>
              </mc:Choice>
              <mc:Fallback>
                <p:oleObj name="Equation" r:id="rId6" imgW="927000" imgH="393480" progId="Equation.DSMT4">
                  <p:embed/>
                  <p:pic>
                    <p:nvPicPr>
                      <p:cNvPr id="0" name=""/>
                      <p:cNvPicPr>
                        <a:picLocks noChangeAspect="1" noChangeArrowheads="1"/>
                      </p:cNvPicPr>
                      <p:nvPr/>
                    </p:nvPicPr>
                    <p:blipFill>
                      <a:blip r:embed="rId7"/>
                      <a:srcRect/>
                      <a:stretch>
                        <a:fillRect/>
                      </a:stretch>
                    </p:blipFill>
                    <p:spPr bwMode="auto">
                      <a:xfrm>
                        <a:off x="6648450" y="3914775"/>
                        <a:ext cx="1389063" cy="588963"/>
                      </a:xfrm>
                      <a:prstGeom prst="rect">
                        <a:avLst/>
                      </a:prstGeom>
                      <a:noFill/>
                      <a:ln>
                        <a:noFill/>
                      </a:ln>
                      <a:effectLst/>
                      <a:extLst/>
                    </p:spPr>
                  </p:pic>
                </p:oleObj>
              </mc:Fallback>
            </mc:AlternateContent>
          </a:graphicData>
        </a:graphic>
      </p:graphicFrame>
      <p:sp>
        <p:nvSpPr>
          <p:cNvPr id="104" name="AutoShape 23"/>
          <p:cNvSpPr>
            <a:spLocks noChangeArrowheads="1"/>
          </p:cNvSpPr>
          <p:nvPr/>
        </p:nvSpPr>
        <p:spPr bwMode="auto">
          <a:xfrm>
            <a:off x="4292266" y="5041126"/>
            <a:ext cx="430805" cy="380463"/>
          </a:xfrm>
          <a:prstGeom prst="homePlate">
            <a:avLst>
              <a:gd name="adj" fmla="val 27029"/>
            </a:avLst>
          </a:prstGeom>
          <a:solidFill>
            <a:srgbClr val="FF9900"/>
          </a:solidFill>
          <a:ln w="9525">
            <a:solidFill>
              <a:schemeClr val="tx1"/>
            </a:solidFill>
            <a:miter lim="800000"/>
            <a:headEnd/>
            <a:tailEnd/>
          </a:ln>
        </p:spPr>
        <p:txBody>
          <a:bodyPr anchor="ctr"/>
          <a:lstStyle/>
          <a:p>
            <a:endParaRPr lang="zh-CN" altLang="en-US"/>
          </a:p>
        </p:txBody>
      </p:sp>
    </p:spTree>
    <p:extLst>
      <p:ext uri="{BB962C8B-B14F-4D97-AF65-F5344CB8AC3E}">
        <p14:creationId xmlns:p14="http://schemas.microsoft.com/office/powerpoint/2010/main" val="3136059466"/>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circle(in)">
                                      <p:cBhvr>
                                        <p:cTn id="7" dur="2000"/>
                                        <p:tgtEl>
                                          <p:spTgt spid="172"/>
                                        </p:tgtEl>
                                      </p:cBhvr>
                                    </p:animEffect>
                                  </p:childTnLst>
                                </p:cTn>
                              </p:par>
                            </p:childTnLst>
                          </p:cTn>
                        </p:par>
                        <p:par>
                          <p:cTn id="8" fill="hold">
                            <p:stCondLst>
                              <p:cond delay="2000"/>
                            </p:stCondLst>
                            <p:childTnLst>
                              <p:par>
                                <p:cTn id="9" presetID="12" presetClass="entr" presetSubtype="4" fill="hold"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slide(fromBottom)">
                                      <p:cBhvr>
                                        <p:cTn id="11" dur="5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wipe(left)">
                                      <p:cBhvr>
                                        <p:cTn id="16" dur="1000"/>
                                        <p:tgtEl>
                                          <p:spTgt spid="104"/>
                                        </p:tgtEl>
                                      </p:cBhvr>
                                    </p:animEffect>
                                  </p:childTnLst>
                                </p:cTn>
                              </p:par>
                            </p:childTnLst>
                          </p:cTn>
                        </p:par>
                        <p:par>
                          <p:cTn id="17" fill="hold">
                            <p:stCondLst>
                              <p:cond delay="1000"/>
                            </p:stCondLst>
                            <p:childTnLst>
                              <p:par>
                                <p:cTn id="18" presetID="12" presetClass="entr" presetSubtype="4" fill="hold" nodeType="afterEffect">
                                  <p:stCondLst>
                                    <p:cond delay="0"/>
                                  </p:stCondLst>
                                  <p:childTnLst>
                                    <p:set>
                                      <p:cBhvr>
                                        <p:cTn id="19" dur="1" fill="hold">
                                          <p:stCondLst>
                                            <p:cond delay="0"/>
                                          </p:stCondLst>
                                        </p:cTn>
                                        <p:tgtEl>
                                          <p:spTgt spid="196"/>
                                        </p:tgtEl>
                                        <p:attrNameLst>
                                          <p:attrName>style.visibility</p:attrName>
                                        </p:attrNameLst>
                                      </p:cBhvr>
                                      <p:to>
                                        <p:strVal val="visible"/>
                                      </p:to>
                                    </p:set>
                                    <p:animEffect transition="in" filter="slide(fromBottom)">
                                      <p:cBhvr>
                                        <p:cTn id="20"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animBg="1"/>
      <p:bldP spid="10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4296410" y="2997200"/>
            <a:ext cx="693420" cy="720090"/>
            <a:chOff x="4296410" y="2997200"/>
            <a:chExt cx="693420" cy="720090"/>
          </a:xfrm>
        </p:grpSpPr>
        <p:sp>
          <p:nvSpPr>
            <p:cNvPr id="18" name="平行四边形 17"/>
            <p:cNvSpPr/>
            <p:nvPr/>
          </p:nvSpPr>
          <p:spPr bwMode="auto">
            <a:xfrm flipH="1">
              <a:off x="4296410" y="2997200"/>
              <a:ext cx="693420" cy="720090"/>
            </a:xfrm>
            <a:prstGeom prst="parallelogram">
              <a:avLst>
                <a:gd name="adj" fmla="val 54147"/>
              </a:avLst>
            </a:prstGeom>
            <a:solidFill>
              <a:srgbClr val="FFFF00"/>
            </a:solid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6" name="直接箭头连接符 65"/>
            <p:cNvCxnSpPr/>
            <p:nvPr/>
          </p:nvCxnSpPr>
          <p:spPr bwMode="auto">
            <a:xfrm flipH="1">
              <a:off x="4431890" y="3245795"/>
              <a:ext cx="305125" cy="0"/>
            </a:xfrm>
            <a:prstGeom prst="straightConnector1">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箭头连接符 70"/>
            <p:cNvCxnSpPr/>
            <p:nvPr/>
          </p:nvCxnSpPr>
          <p:spPr bwMode="auto">
            <a:xfrm flipH="1">
              <a:off x="4575354" y="3508400"/>
              <a:ext cx="305125" cy="0"/>
            </a:xfrm>
            <a:prstGeom prst="straightConnector1">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1655357" y="2207093"/>
            <a:ext cx="1235892" cy="1866975"/>
            <a:chOff x="1655357" y="2207093"/>
            <a:chExt cx="1235892" cy="1866975"/>
          </a:xfrm>
        </p:grpSpPr>
        <p:sp>
          <p:nvSpPr>
            <p:cNvPr id="45" name="任意多边形 44"/>
            <p:cNvSpPr/>
            <p:nvPr/>
          </p:nvSpPr>
          <p:spPr bwMode="auto">
            <a:xfrm>
              <a:off x="1722474" y="2216889"/>
              <a:ext cx="1143000" cy="1488558"/>
            </a:xfrm>
            <a:custGeom>
              <a:avLst/>
              <a:gdLst>
                <a:gd name="connsiteX0" fmla="*/ 0 w 1143000"/>
                <a:gd name="connsiteY0" fmla="*/ 1488558 h 1488558"/>
                <a:gd name="connsiteX1" fmla="*/ 0 w 1143000"/>
                <a:gd name="connsiteY1" fmla="*/ 770860 h 1488558"/>
                <a:gd name="connsiteX2" fmla="*/ 600740 w 1143000"/>
                <a:gd name="connsiteY2" fmla="*/ 0 h 1488558"/>
                <a:gd name="connsiteX3" fmla="*/ 1143000 w 1143000"/>
                <a:gd name="connsiteY3" fmla="*/ 0 h 1488558"/>
                <a:gd name="connsiteX4" fmla="*/ 0 w 1143000"/>
                <a:gd name="connsiteY4" fmla="*/ 1488558 h 148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0" h="1488558">
                  <a:moveTo>
                    <a:pt x="0" y="1488558"/>
                  </a:moveTo>
                  <a:lnTo>
                    <a:pt x="0" y="770860"/>
                  </a:lnTo>
                  <a:lnTo>
                    <a:pt x="600740" y="0"/>
                  </a:lnTo>
                  <a:lnTo>
                    <a:pt x="1143000" y="0"/>
                  </a:lnTo>
                  <a:lnTo>
                    <a:pt x="0" y="1488558"/>
                  </a:lnTo>
                  <a:close/>
                </a:path>
              </a:pathLst>
            </a:custGeom>
            <a:solidFill>
              <a:srgbClr val="FFFF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 name="直接连接符 8"/>
            <p:cNvCxnSpPr>
              <a:stCxn id="136" idx="1"/>
            </p:cNvCxnSpPr>
            <p:nvPr/>
          </p:nvCxnSpPr>
          <p:spPr bwMode="auto">
            <a:xfrm flipH="1">
              <a:off x="1696398" y="2213917"/>
              <a:ext cx="633018" cy="81133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连接符 243"/>
            <p:cNvCxnSpPr/>
            <p:nvPr/>
          </p:nvCxnSpPr>
          <p:spPr bwMode="auto">
            <a:xfrm flipH="1">
              <a:off x="1713398" y="2207093"/>
              <a:ext cx="1177851" cy="150964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Text Box 75"/>
            <p:cNvSpPr txBox="1">
              <a:spLocks noChangeArrowheads="1"/>
            </p:cNvSpPr>
            <p:nvPr/>
          </p:nvSpPr>
          <p:spPr bwMode="auto">
            <a:xfrm>
              <a:off x="1655357" y="2830697"/>
              <a:ext cx="249643"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63" name="Text Box 75"/>
            <p:cNvSpPr txBox="1">
              <a:spLocks noChangeArrowheads="1"/>
            </p:cNvSpPr>
            <p:nvPr/>
          </p:nvSpPr>
          <p:spPr bwMode="auto">
            <a:xfrm>
              <a:off x="1661707" y="3656197"/>
              <a:ext cx="249643"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d</a:t>
              </a:r>
            </a:p>
          </p:txBody>
        </p:sp>
      </p:gr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75</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1.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土上有</a:t>
            </a:r>
            <a:r>
              <a:rPr kumimoji="1" lang="zh-CN" altLang="en-US" sz="4000" b="1" dirty="0" smtClean="0">
                <a:solidFill>
                  <a:srgbClr val="000066"/>
                </a:solidFill>
                <a:ea typeface="黑体" pitchFamily="2" charset="-122"/>
                <a:cs typeface="Times New Roman" panose="02020603050405020304" pitchFamily="18" charset="0"/>
              </a:rPr>
              <a:t>荷载</a:t>
            </a:r>
            <a:endParaRPr kumimoji="1" lang="zh-CN" altLang="en-US" sz="4000" b="1" dirty="0">
              <a:solidFill>
                <a:srgbClr val="000066"/>
              </a:solidFill>
              <a:ea typeface="黑体" pitchFamily="2" charset="-122"/>
              <a:cs typeface="Times New Roman" panose="02020603050405020304" pitchFamily="18" charset="0"/>
            </a:endParaRPr>
          </a:p>
        </p:txBody>
      </p:sp>
      <p:sp>
        <p:nvSpPr>
          <p:cNvPr id="8" name="Rectangle 3"/>
          <p:cNvSpPr txBox="1">
            <a:spLocks noChangeArrowheads="1"/>
          </p:cNvSpPr>
          <p:nvPr/>
        </p:nvSpPr>
        <p:spPr bwMode="auto">
          <a:xfrm>
            <a:off x="432532" y="536298"/>
            <a:ext cx="63016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50000"/>
              </a:lnSpc>
              <a:spcBef>
                <a:spcPct val="0"/>
              </a:spcBef>
              <a:buClr>
                <a:srgbClr val="C00000"/>
              </a:buClr>
              <a:buSzPct val="100000"/>
              <a:buNone/>
            </a:pPr>
            <a:r>
              <a:rPr lang="zh-CN" altLang="en-US" sz="2400" b="1" kern="0" dirty="0" smtClean="0">
                <a:solidFill>
                  <a:srgbClr val="A50021"/>
                </a:solidFill>
                <a:latin typeface="微软雅黑" panose="020B0503020204020204" pitchFamily="34" charset="-122"/>
                <a:ea typeface="微软雅黑" panose="020B0503020204020204" pitchFamily="34" charset="-122"/>
              </a:rPr>
              <a:t>（</a:t>
            </a:r>
            <a:r>
              <a:rPr lang="en-US" altLang="zh-CN" sz="2400" b="1" kern="0" dirty="0" smtClean="0">
                <a:solidFill>
                  <a:srgbClr val="A50021"/>
                </a:solidFill>
                <a:latin typeface="微软雅黑" panose="020B0503020204020204" pitchFamily="34" charset="-122"/>
                <a:ea typeface="微软雅黑" panose="020B0503020204020204" pitchFamily="34" charset="-122"/>
              </a:rPr>
              <a:t>3</a:t>
            </a:r>
            <a:r>
              <a:rPr lang="zh-CN" altLang="en-US" sz="2400" b="1" kern="0" dirty="0" smtClean="0">
                <a:solidFill>
                  <a:srgbClr val="A50021"/>
                </a:solidFill>
                <a:latin typeface="微软雅黑" panose="020B0503020204020204" pitchFamily="34" charset="-122"/>
                <a:ea typeface="微软雅黑" panose="020B0503020204020204" pitchFamily="34" charset="-122"/>
              </a:rPr>
              <a:t>）局部荷载作用 </a:t>
            </a: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朗肯土压力理论</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103" name="直角三角形 102"/>
          <p:cNvSpPr/>
          <p:nvPr/>
        </p:nvSpPr>
        <p:spPr bwMode="auto">
          <a:xfrm>
            <a:off x="3900170" y="2187932"/>
            <a:ext cx="1081497" cy="2090058"/>
          </a:xfrm>
          <a:prstGeom prst="rtTriangle">
            <a:avLst/>
          </a:prstGeom>
          <a:solidFill>
            <a:srgbClr val="CCECFF"/>
          </a:solidFill>
          <a:ln w="1905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5" name="任意多边形 104"/>
          <p:cNvSpPr/>
          <p:nvPr/>
        </p:nvSpPr>
        <p:spPr bwMode="auto">
          <a:xfrm>
            <a:off x="586357" y="2213125"/>
            <a:ext cx="1118769" cy="2088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20" name="直接连接符 119"/>
          <p:cNvCxnSpPr/>
          <p:nvPr/>
        </p:nvCxnSpPr>
        <p:spPr bwMode="auto">
          <a:xfrm>
            <a:off x="372638" y="4304710"/>
            <a:ext cx="293689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连接符 125"/>
          <p:cNvCxnSpPr/>
          <p:nvPr/>
        </p:nvCxnSpPr>
        <p:spPr bwMode="auto">
          <a:xfrm>
            <a:off x="1658556" y="2208821"/>
            <a:ext cx="1954594"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Line 9"/>
          <p:cNvSpPr>
            <a:spLocks noChangeShapeType="1"/>
          </p:cNvSpPr>
          <p:nvPr/>
        </p:nvSpPr>
        <p:spPr bwMode="auto">
          <a:xfrm>
            <a:off x="2329415" y="1804342"/>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37" name="Line 10"/>
          <p:cNvSpPr>
            <a:spLocks noChangeShapeType="1"/>
          </p:cNvSpPr>
          <p:nvPr/>
        </p:nvSpPr>
        <p:spPr bwMode="auto">
          <a:xfrm>
            <a:off x="2524595" y="1804342"/>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68" name="Line 11"/>
          <p:cNvSpPr>
            <a:spLocks noChangeShapeType="1"/>
          </p:cNvSpPr>
          <p:nvPr/>
        </p:nvSpPr>
        <p:spPr bwMode="auto">
          <a:xfrm>
            <a:off x="2710515" y="1804342"/>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3" name="Line 12"/>
          <p:cNvSpPr>
            <a:spLocks noChangeShapeType="1"/>
          </p:cNvSpPr>
          <p:nvPr/>
        </p:nvSpPr>
        <p:spPr bwMode="auto">
          <a:xfrm>
            <a:off x="2891939" y="1804342"/>
            <a:ext cx="0" cy="409575"/>
          </a:xfrm>
          <a:prstGeom prst="line">
            <a:avLst/>
          </a:prstGeom>
          <a:noFill/>
          <a:ln w="19050">
            <a:solidFill>
              <a:srgbClr val="00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cxnSp>
        <p:nvCxnSpPr>
          <p:cNvPr id="204" name="直接连接符 203"/>
          <p:cNvCxnSpPr/>
          <p:nvPr/>
        </p:nvCxnSpPr>
        <p:spPr bwMode="auto">
          <a:xfrm>
            <a:off x="2323931" y="1798942"/>
            <a:ext cx="57415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3" name="Group 12"/>
          <p:cNvGrpSpPr>
            <a:grpSpLocks/>
          </p:cNvGrpSpPr>
          <p:nvPr/>
        </p:nvGrpSpPr>
        <p:grpSpPr bwMode="auto">
          <a:xfrm>
            <a:off x="3058770" y="2212757"/>
            <a:ext cx="454614" cy="82278"/>
            <a:chOff x="2274" y="1204"/>
            <a:chExt cx="270" cy="44"/>
          </a:xfrm>
        </p:grpSpPr>
        <p:sp>
          <p:nvSpPr>
            <p:cNvPr id="21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2" name="Text Box 20"/>
          <p:cNvSpPr txBox="1">
            <a:spLocks noChangeArrowheads="1"/>
          </p:cNvSpPr>
          <p:nvPr/>
        </p:nvSpPr>
        <p:spPr bwMode="auto">
          <a:xfrm>
            <a:off x="2584400" y="1328779"/>
            <a:ext cx="309978" cy="3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4400">
                <a:solidFill>
                  <a:srgbClr val="1C1C1C"/>
                </a:solidFill>
                <a:latin typeface="Arial" charset="0"/>
                <a:ea typeface="宋体" charset="-122"/>
              </a:defRPr>
            </a:lvl1pPr>
            <a:lvl2pPr marL="742950" indent="-285750">
              <a:defRPr sz="4400">
                <a:solidFill>
                  <a:srgbClr val="1C1C1C"/>
                </a:solidFill>
                <a:latin typeface="Arial" charset="0"/>
                <a:ea typeface="宋体" charset="-122"/>
              </a:defRPr>
            </a:lvl2pPr>
            <a:lvl3pPr marL="1143000" indent="-228600">
              <a:defRPr sz="4400">
                <a:solidFill>
                  <a:srgbClr val="1C1C1C"/>
                </a:solidFill>
                <a:latin typeface="Arial" charset="0"/>
                <a:ea typeface="宋体" charset="-122"/>
              </a:defRPr>
            </a:lvl3pPr>
            <a:lvl4pPr marL="1600200" indent="-228600">
              <a:defRPr sz="4400">
                <a:solidFill>
                  <a:srgbClr val="1C1C1C"/>
                </a:solidFill>
                <a:latin typeface="Arial" charset="0"/>
                <a:ea typeface="宋体" charset="-122"/>
              </a:defRPr>
            </a:lvl4pPr>
            <a:lvl5pPr marL="2057400" indent="-228600">
              <a:defRPr sz="4400">
                <a:solidFill>
                  <a:srgbClr val="1C1C1C"/>
                </a:solidFill>
                <a:latin typeface="Arial" charset="0"/>
                <a:ea typeface="宋体" charset="-122"/>
              </a:defRPr>
            </a:lvl5pPr>
            <a:lvl6pPr marL="2514600" indent="-228600" eaLnBrk="0" fontAlgn="base" hangingPunct="0">
              <a:spcBef>
                <a:spcPct val="20000"/>
              </a:spcBef>
              <a:spcAft>
                <a:spcPct val="0"/>
              </a:spcAft>
              <a:defRPr sz="4400">
                <a:solidFill>
                  <a:srgbClr val="1C1C1C"/>
                </a:solidFill>
                <a:latin typeface="Arial" charset="0"/>
                <a:ea typeface="宋体" charset="-122"/>
              </a:defRPr>
            </a:lvl6pPr>
            <a:lvl7pPr marL="2971800" indent="-228600" eaLnBrk="0" fontAlgn="base" hangingPunct="0">
              <a:spcBef>
                <a:spcPct val="20000"/>
              </a:spcBef>
              <a:spcAft>
                <a:spcPct val="0"/>
              </a:spcAft>
              <a:defRPr sz="4400">
                <a:solidFill>
                  <a:srgbClr val="1C1C1C"/>
                </a:solidFill>
                <a:latin typeface="Arial" charset="0"/>
                <a:ea typeface="宋体" charset="-122"/>
              </a:defRPr>
            </a:lvl7pPr>
            <a:lvl8pPr marL="3429000" indent="-228600" eaLnBrk="0" fontAlgn="base" hangingPunct="0">
              <a:spcBef>
                <a:spcPct val="20000"/>
              </a:spcBef>
              <a:spcAft>
                <a:spcPct val="0"/>
              </a:spcAft>
              <a:defRPr sz="4400">
                <a:solidFill>
                  <a:srgbClr val="1C1C1C"/>
                </a:solidFill>
                <a:latin typeface="Arial" charset="0"/>
                <a:ea typeface="宋体" charset="-122"/>
              </a:defRPr>
            </a:lvl8pPr>
            <a:lvl9pPr marL="3886200" indent="-228600" eaLnBrk="0" fontAlgn="base" hangingPunct="0">
              <a:spcBef>
                <a:spcPct val="20000"/>
              </a:spcBef>
              <a:spcAft>
                <a:spcPct val="0"/>
              </a:spcAft>
              <a:defRPr sz="4400">
                <a:solidFill>
                  <a:srgbClr val="1C1C1C"/>
                </a:solidFill>
                <a:latin typeface="Arial" charset="0"/>
                <a:ea typeface="宋体" charset="-122"/>
              </a:defRPr>
            </a:lvl9pPr>
          </a:lstStyle>
          <a:p>
            <a:pPr eaLnBrk="1" hangingPunct="1">
              <a:spcBef>
                <a:spcPct val="50000"/>
              </a:spcBef>
            </a:pPr>
            <a:r>
              <a:rPr lang="en-US" altLang="zh-CN" sz="2400" b="1" i="1" dirty="0" smtClean="0">
                <a:solidFill>
                  <a:srgbClr val="C00000"/>
                </a:solidFill>
                <a:latin typeface="Times New Roman" pitchFamily="18" charset="0"/>
              </a:rPr>
              <a:t>q</a:t>
            </a:r>
            <a:endParaRPr lang="en-US" altLang="zh-CN" sz="2400" b="1" i="1" dirty="0">
              <a:solidFill>
                <a:srgbClr val="C00000"/>
              </a:solidFill>
              <a:latin typeface="Times New Roman" pitchFamily="18" charset="0"/>
            </a:endParaRPr>
          </a:p>
        </p:txBody>
      </p:sp>
      <p:sp>
        <p:nvSpPr>
          <p:cNvPr id="225" name="Line 89"/>
          <p:cNvSpPr>
            <a:spLocks noChangeAspect="1" noChangeShapeType="1"/>
          </p:cNvSpPr>
          <p:nvPr/>
        </p:nvSpPr>
        <p:spPr bwMode="auto">
          <a:xfrm>
            <a:off x="3903980" y="4532672"/>
            <a:ext cx="107855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27" name="直接连接符 226"/>
          <p:cNvCxnSpPr/>
          <p:nvPr/>
        </p:nvCxnSpPr>
        <p:spPr bwMode="auto">
          <a:xfrm>
            <a:off x="4974401" y="4357269"/>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 name="组合 20"/>
          <p:cNvGrpSpPr/>
          <p:nvPr/>
        </p:nvGrpSpPr>
        <p:grpSpPr>
          <a:xfrm>
            <a:off x="4892630" y="4368047"/>
            <a:ext cx="578333" cy="575900"/>
            <a:chOff x="4892630" y="4368047"/>
            <a:chExt cx="578333" cy="575900"/>
          </a:xfrm>
        </p:grpSpPr>
        <p:cxnSp>
          <p:nvCxnSpPr>
            <p:cNvPr id="226" name="直接连接符 225"/>
            <p:cNvCxnSpPr/>
            <p:nvPr/>
          </p:nvCxnSpPr>
          <p:spPr bwMode="auto">
            <a:xfrm>
              <a:off x="5291758" y="4368047"/>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 name="组合 12"/>
            <p:cNvGrpSpPr/>
            <p:nvPr/>
          </p:nvGrpSpPr>
          <p:grpSpPr>
            <a:xfrm>
              <a:off x="4892630" y="4526076"/>
              <a:ext cx="578333" cy="417871"/>
              <a:chOff x="4892630" y="4526076"/>
              <a:chExt cx="578333" cy="417871"/>
            </a:xfrm>
          </p:grpSpPr>
          <p:sp>
            <p:nvSpPr>
              <p:cNvPr id="231" name="Text Box 54"/>
              <p:cNvSpPr txBox="1">
                <a:spLocks noChangeArrowheads="1"/>
              </p:cNvSpPr>
              <p:nvPr/>
            </p:nvSpPr>
            <p:spPr bwMode="auto">
              <a:xfrm>
                <a:off x="4892630" y="4526076"/>
                <a:ext cx="578333" cy="417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err="1" smtClean="0">
                    <a:solidFill>
                      <a:srgbClr val="000066"/>
                    </a:solidFill>
                    <a:latin typeface="Times New Roman" panose="02020603050405020304" pitchFamily="18" charset="0"/>
                    <a:cs typeface="Times New Roman" panose="02020603050405020304" pitchFamily="18" charset="0"/>
                    <a:sym typeface="Symbol" pitchFamily="18" charset="2"/>
                  </a:rPr>
                  <a:t>q</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229" name="Line 89"/>
              <p:cNvSpPr>
                <a:spLocks noChangeAspect="1" noChangeShapeType="1"/>
              </p:cNvSpPr>
              <p:nvPr/>
            </p:nvSpPr>
            <p:spPr bwMode="auto">
              <a:xfrm>
                <a:off x="4983538" y="4533997"/>
                <a:ext cx="307282"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30" name="Text Box 54"/>
          <p:cNvSpPr txBox="1">
            <a:spLocks noChangeArrowheads="1"/>
          </p:cNvSpPr>
          <p:nvPr/>
        </p:nvSpPr>
        <p:spPr bwMode="auto">
          <a:xfrm>
            <a:off x="3994808" y="4532097"/>
            <a:ext cx="820590"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lang="en-US" altLang="zh-CN" sz="2000" b="1" i="1" dirty="0" err="1"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232" name="Rectangle 57"/>
          <p:cNvSpPr>
            <a:spLocks noChangeArrowheads="1"/>
          </p:cNvSpPr>
          <p:nvPr/>
        </p:nvSpPr>
        <p:spPr bwMode="auto">
          <a:xfrm>
            <a:off x="5619750" y="1622948"/>
            <a:ext cx="3308350" cy="3231654"/>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6700" indent="-266700">
              <a:lnSpc>
                <a:spcPct val="120000"/>
              </a:lnSpc>
              <a:buClr>
                <a:srgbClr val="C00000"/>
              </a:buClr>
              <a:buSzPct val="130000"/>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sym typeface="Symbol" pitchFamily="18" charset="2"/>
              </a:rPr>
              <a:t>近似认为，局部荷载产生的土压力沿平行于滑动面方向传递至墙背上</a:t>
            </a:r>
            <a:endParaRPr lang="en-US" altLang="zh-CN" sz="2000" b="1" dirty="0">
              <a:solidFill>
                <a:srgbClr val="000066"/>
              </a:solidFill>
              <a:ea typeface="幼圆" panose="02010509060101010101" pitchFamily="49" charset="-122"/>
              <a:cs typeface="Times New Roman" panose="02020603050405020304" pitchFamily="18" charset="0"/>
              <a:sym typeface="Symbol" pitchFamily="18" charset="2"/>
            </a:endParaRPr>
          </a:p>
          <a:p>
            <a:pPr marL="266700" indent="-266700">
              <a:lnSpc>
                <a:spcPct val="120000"/>
              </a:lnSpc>
              <a:buClr>
                <a:srgbClr val="C00000"/>
              </a:buClr>
              <a:buSzPct val="130000"/>
              <a:buFont typeface="Arial" panose="020B0604020202020204" pitchFamily="34" charset="0"/>
              <a:buChar char="•"/>
            </a:pPr>
            <a:r>
              <a:rPr lang="zh-CN" altLang="en-US" sz="2000" b="1" dirty="0">
                <a:solidFill>
                  <a:srgbClr val="000066"/>
                </a:solidFill>
                <a:ea typeface="幼圆" panose="02010509060101010101" pitchFamily="49" charset="-122"/>
                <a:cs typeface="Times New Roman" panose="02020603050405020304" pitchFamily="18" charset="0"/>
                <a:sym typeface="Symbol" pitchFamily="18" charset="2"/>
              </a:rPr>
              <a:t>荷载</a:t>
            </a:r>
            <a:r>
              <a:rPr lang="en-US" altLang="zh-CN" sz="2000" b="1" i="1" dirty="0">
                <a:solidFill>
                  <a:srgbClr val="000066"/>
                </a:solidFill>
                <a:ea typeface="幼圆" panose="02010509060101010101" pitchFamily="49" charset="-122"/>
                <a:cs typeface="Times New Roman" panose="02020603050405020304" pitchFamily="18" charset="0"/>
                <a:sym typeface="Symbol" pitchFamily="18" charset="2"/>
              </a:rPr>
              <a:t>q</a:t>
            </a:r>
            <a:r>
              <a:rPr lang="zh-CN" altLang="en-US" sz="2000" b="1" dirty="0">
                <a:solidFill>
                  <a:srgbClr val="000066"/>
                </a:solidFill>
                <a:ea typeface="幼圆" panose="02010509060101010101" pitchFamily="49" charset="-122"/>
                <a:cs typeface="Times New Roman" panose="02020603050405020304" pitchFamily="18" charset="0"/>
                <a:sym typeface="Symbol" pitchFamily="18" charset="2"/>
              </a:rPr>
              <a:t>仅</a:t>
            </a:r>
            <a:r>
              <a:rPr lang="en-US" altLang="zh-CN" sz="2000" b="1" dirty="0" err="1">
                <a:solidFill>
                  <a:srgbClr val="000066"/>
                </a:solidFill>
                <a:ea typeface="幼圆" panose="02010509060101010101" pitchFamily="49" charset="-122"/>
                <a:cs typeface="Times New Roman" panose="02020603050405020304" pitchFamily="18" charset="0"/>
                <a:sym typeface="Symbol" pitchFamily="18" charset="2"/>
              </a:rPr>
              <a:t>在墙背cd范围内引起附加土压力</a:t>
            </a:r>
            <a:r>
              <a:rPr lang="en-US" altLang="zh-CN" sz="2000" b="1" i="1" dirty="0" err="1">
                <a:solidFill>
                  <a:srgbClr val="000066"/>
                </a:solidFill>
                <a:ea typeface="幼圆" panose="02010509060101010101" pitchFamily="49" charset="-122"/>
                <a:cs typeface="Times New Roman" panose="02020603050405020304" pitchFamily="18" charset="0"/>
                <a:sym typeface="Symbol" pitchFamily="18" charset="2"/>
              </a:rPr>
              <a:t>p</a:t>
            </a:r>
            <a:r>
              <a:rPr lang="en-US" altLang="zh-CN" sz="2000" b="1" baseline="-25000" dirty="0" err="1">
                <a:solidFill>
                  <a:srgbClr val="000066"/>
                </a:solidFill>
                <a:ea typeface="幼圆" panose="02010509060101010101" pitchFamily="49" charset="-122"/>
                <a:cs typeface="Times New Roman" panose="02020603050405020304" pitchFamily="18" charset="0"/>
                <a:sym typeface="Symbol" pitchFamily="18" charset="2"/>
              </a:rPr>
              <a:t>aq</a:t>
            </a:r>
            <a:endParaRPr lang="en-US" altLang="zh-CN" sz="2000" b="1" dirty="0">
              <a:solidFill>
                <a:srgbClr val="000066"/>
              </a:solidFill>
              <a:ea typeface="幼圆" panose="02010509060101010101" pitchFamily="49" charset="-122"/>
              <a:cs typeface="Times New Roman" panose="02020603050405020304" pitchFamily="18" charset="0"/>
            </a:endParaRPr>
          </a:p>
          <a:p>
            <a:pPr marL="266700" indent="-266700">
              <a:lnSpc>
                <a:spcPct val="120000"/>
              </a:lnSpc>
              <a:buClr>
                <a:srgbClr val="C00000"/>
              </a:buClr>
              <a:buSzPct val="130000"/>
              <a:buFont typeface="Arial" panose="020B0604020202020204" pitchFamily="34" charset="0"/>
              <a:buChar char="•"/>
            </a:pPr>
            <a:r>
              <a:rPr lang="en-US" altLang="zh-CN" sz="2000" b="1" i="1" dirty="0" err="1" smtClean="0">
                <a:solidFill>
                  <a:srgbClr val="000066"/>
                </a:solidFill>
                <a:ea typeface="幼圆" panose="02010509060101010101" pitchFamily="49" charset="-122"/>
                <a:cs typeface="Times New Roman" panose="02020603050405020304" pitchFamily="18" charset="0"/>
                <a:sym typeface="Symbol" pitchFamily="18" charset="2"/>
              </a:rPr>
              <a:t>q</a:t>
            </a:r>
            <a:r>
              <a:rPr lang="en-US" altLang="zh-CN" sz="2000" b="1" dirty="0" err="1" smtClean="0">
                <a:solidFill>
                  <a:srgbClr val="000066"/>
                </a:solidFill>
                <a:ea typeface="幼圆" panose="02010509060101010101" pitchFamily="49" charset="-122"/>
                <a:cs typeface="Times New Roman" panose="02020603050405020304" pitchFamily="18" charset="0"/>
                <a:sym typeface="Symbol" pitchFamily="18" charset="2"/>
              </a:rPr>
              <a:t>对墙背产生的附加土压力强度值仍可用朗肯公式计算，即</a:t>
            </a: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 </a:t>
            </a:r>
            <a:r>
              <a:rPr lang="en-US" altLang="zh-CN" sz="2000" b="1" i="1" dirty="0" err="1" smtClean="0">
                <a:solidFill>
                  <a:srgbClr val="000066"/>
                </a:solidFill>
                <a:ea typeface="幼圆" panose="02010509060101010101" pitchFamily="49" charset="-122"/>
                <a:cs typeface="Times New Roman" panose="02020603050405020304" pitchFamily="18" charset="0"/>
                <a:sym typeface="Symbol" pitchFamily="18" charset="2"/>
              </a:rPr>
              <a:t>p</a:t>
            </a:r>
            <a:r>
              <a:rPr lang="en-US" altLang="zh-CN" sz="2000" b="1" baseline="-25000" dirty="0" err="1" smtClean="0">
                <a:solidFill>
                  <a:srgbClr val="000066"/>
                </a:solidFill>
                <a:ea typeface="幼圆" panose="02010509060101010101" pitchFamily="49" charset="-122"/>
                <a:cs typeface="Times New Roman" panose="02020603050405020304" pitchFamily="18" charset="0"/>
                <a:sym typeface="Symbol" pitchFamily="18" charset="2"/>
              </a:rPr>
              <a:t>aq</a:t>
            </a: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a:t>
            </a:r>
            <a:r>
              <a:rPr lang="en-US" altLang="zh-CN" sz="2000" b="1" i="1" dirty="0" err="1" smtClean="0">
                <a:solidFill>
                  <a:srgbClr val="000066"/>
                </a:solidFill>
                <a:ea typeface="幼圆" panose="02010509060101010101" pitchFamily="49" charset="-122"/>
                <a:cs typeface="Times New Roman" panose="02020603050405020304" pitchFamily="18" charset="0"/>
                <a:sym typeface="Symbol" pitchFamily="18" charset="2"/>
              </a:rPr>
              <a:t>qK</a:t>
            </a:r>
            <a:r>
              <a:rPr lang="en-US" altLang="zh-CN" sz="2000" b="1" baseline="-25000" dirty="0" err="1" smtClean="0">
                <a:solidFill>
                  <a:srgbClr val="000066"/>
                </a:solidFill>
                <a:ea typeface="幼圆" panose="02010509060101010101" pitchFamily="49" charset="-122"/>
                <a:cs typeface="Times New Roman" panose="02020603050405020304" pitchFamily="18" charset="0"/>
                <a:sym typeface="Symbol" pitchFamily="18" charset="2"/>
              </a:rPr>
              <a:t>a</a:t>
            </a:r>
            <a:endParaRPr lang="en-US" altLang="zh-CN" sz="2000" b="1" baseline="-25000" dirty="0" smtClean="0">
              <a:solidFill>
                <a:srgbClr val="000066"/>
              </a:solidFill>
              <a:ea typeface="幼圆" panose="02010509060101010101" pitchFamily="49" charset="-122"/>
              <a:cs typeface="Times New Roman" panose="02020603050405020304" pitchFamily="18" charset="0"/>
              <a:sym typeface="Symbol" pitchFamily="18" charset="2"/>
            </a:endParaRPr>
          </a:p>
        </p:txBody>
      </p:sp>
      <p:cxnSp>
        <p:nvCxnSpPr>
          <p:cNvPr id="233" name="直接箭头连接符 232"/>
          <p:cNvCxnSpPr/>
          <p:nvPr/>
        </p:nvCxnSpPr>
        <p:spPr bwMode="auto">
          <a:xfrm flipH="1" flipV="1">
            <a:off x="3920210" y="4276944"/>
            <a:ext cx="1057647" cy="1046"/>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接箭头连接符 233"/>
          <p:cNvCxnSpPr/>
          <p:nvPr/>
        </p:nvCxnSpPr>
        <p:spPr bwMode="auto">
          <a:xfrm flipH="1">
            <a:off x="3908147" y="4017470"/>
            <a:ext cx="940713"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箭头连接符 234"/>
          <p:cNvCxnSpPr/>
          <p:nvPr/>
        </p:nvCxnSpPr>
        <p:spPr bwMode="auto">
          <a:xfrm flipH="1">
            <a:off x="3908146" y="3763810"/>
            <a:ext cx="814984"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箭头连接符 235"/>
          <p:cNvCxnSpPr/>
          <p:nvPr/>
        </p:nvCxnSpPr>
        <p:spPr bwMode="auto">
          <a:xfrm flipH="1">
            <a:off x="3908146" y="3247083"/>
            <a:ext cx="540000"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箭头连接符 236"/>
          <p:cNvCxnSpPr/>
          <p:nvPr/>
        </p:nvCxnSpPr>
        <p:spPr bwMode="auto">
          <a:xfrm flipH="1">
            <a:off x="3908147" y="2982310"/>
            <a:ext cx="392073"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直接箭头连接符 237"/>
          <p:cNvCxnSpPr/>
          <p:nvPr/>
        </p:nvCxnSpPr>
        <p:spPr bwMode="auto">
          <a:xfrm flipH="1">
            <a:off x="3908145" y="2719242"/>
            <a:ext cx="277775"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H="1">
            <a:off x="3903383" y="2451293"/>
            <a:ext cx="137757"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39"/>
          <p:cNvCxnSpPr/>
          <p:nvPr/>
        </p:nvCxnSpPr>
        <p:spPr bwMode="auto">
          <a:xfrm flipH="1">
            <a:off x="3914498" y="3508223"/>
            <a:ext cx="669416"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直接连接符 241"/>
          <p:cNvCxnSpPr/>
          <p:nvPr/>
        </p:nvCxnSpPr>
        <p:spPr bwMode="auto">
          <a:xfrm>
            <a:off x="3905888" y="2196879"/>
            <a:ext cx="0" cy="207962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 name="组合 3"/>
          <p:cNvGrpSpPr/>
          <p:nvPr/>
        </p:nvGrpSpPr>
        <p:grpSpPr>
          <a:xfrm>
            <a:off x="1158159" y="1698973"/>
            <a:ext cx="1067819" cy="650318"/>
            <a:chOff x="1158159" y="1698973"/>
            <a:chExt cx="1067819" cy="650318"/>
          </a:xfrm>
        </p:grpSpPr>
        <p:sp>
          <p:nvSpPr>
            <p:cNvPr id="248" name="任意多边形 247"/>
            <p:cNvSpPr/>
            <p:nvPr/>
          </p:nvSpPr>
          <p:spPr bwMode="auto">
            <a:xfrm rot="11326594">
              <a:off x="2101715" y="2224909"/>
              <a:ext cx="117283" cy="12438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12700"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50" name="Text Box 40"/>
            <p:cNvSpPr txBox="1">
              <a:spLocks noChangeArrowheads="1"/>
            </p:cNvSpPr>
            <p:nvPr/>
          </p:nvSpPr>
          <p:spPr bwMode="auto">
            <a:xfrm>
              <a:off x="1158159" y="1698973"/>
              <a:ext cx="106781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i="1" dirty="0" smtClean="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cxnSp>
          <p:nvCxnSpPr>
            <p:cNvPr id="12" name="直接箭头连接符 11"/>
            <p:cNvCxnSpPr/>
            <p:nvPr/>
          </p:nvCxnSpPr>
          <p:spPr bwMode="auto">
            <a:xfrm flipH="1" flipV="1">
              <a:off x="1870407" y="2101755"/>
              <a:ext cx="204716" cy="22860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2605898" y="2216948"/>
            <a:ext cx="1067819" cy="656034"/>
            <a:chOff x="2605898" y="2216948"/>
            <a:chExt cx="1067819" cy="656034"/>
          </a:xfrm>
        </p:grpSpPr>
        <p:sp>
          <p:nvSpPr>
            <p:cNvPr id="247" name="Text Box 40"/>
            <p:cNvSpPr txBox="1">
              <a:spLocks noChangeArrowheads="1"/>
            </p:cNvSpPr>
            <p:nvPr/>
          </p:nvSpPr>
          <p:spPr bwMode="auto">
            <a:xfrm>
              <a:off x="2605898" y="2462100"/>
              <a:ext cx="106781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i="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249" name="任意多边形 248"/>
            <p:cNvSpPr/>
            <p:nvPr/>
          </p:nvSpPr>
          <p:spPr bwMode="auto">
            <a:xfrm rot="11326594">
              <a:off x="2670371" y="2216948"/>
              <a:ext cx="117283" cy="124382"/>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12700"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51" name="直接箭头连接符 250"/>
            <p:cNvCxnSpPr/>
            <p:nvPr/>
          </p:nvCxnSpPr>
          <p:spPr bwMode="auto">
            <a:xfrm>
              <a:off x="2667664" y="2325806"/>
              <a:ext cx="141026" cy="263857"/>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 name="组合 13"/>
          <p:cNvGrpSpPr/>
          <p:nvPr/>
        </p:nvGrpSpPr>
        <p:grpSpPr>
          <a:xfrm>
            <a:off x="1697990" y="2998470"/>
            <a:ext cx="2226310" cy="720090"/>
            <a:chOff x="1697990" y="2998470"/>
            <a:chExt cx="2226310" cy="720090"/>
          </a:xfrm>
        </p:grpSpPr>
        <p:cxnSp>
          <p:nvCxnSpPr>
            <p:cNvPr id="16" name="直接连接符 15"/>
            <p:cNvCxnSpPr/>
            <p:nvPr/>
          </p:nvCxnSpPr>
          <p:spPr bwMode="auto">
            <a:xfrm>
              <a:off x="1717040" y="2998470"/>
              <a:ext cx="2169160"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连接符 251"/>
            <p:cNvCxnSpPr/>
            <p:nvPr/>
          </p:nvCxnSpPr>
          <p:spPr bwMode="auto">
            <a:xfrm>
              <a:off x="1697990" y="3718560"/>
              <a:ext cx="2226310" cy="0"/>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0" name="直接连接符 19"/>
          <p:cNvCxnSpPr>
            <a:stCxn id="103" idx="0"/>
            <a:endCxn id="103" idx="4"/>
          </p:cNvCxnSpPr>
          <p:nvPr/>
        </p:nvCxnSpPr>
        <p:spPr bwMode="auto">
          <a:xfrm>
            <a:off x="3900170" y="2187932"/>
            <a:ext cx="1081497" cy="2090058"/>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 name="组合 18"/>
          <p:cNvGrpSpPr/>
          <p:nvPr/>
        </p:nvGrpSpPr>
        <p:grpSpPr>
          <a:xfrm>
            <a:off x="3901162" y="2192043"/>
            <a:ext cx="1382038" cy="2085985"/>
            <a:chOff x="3901162" y="2192043"/>
            <a:chExt cx="1382038" cy="2085985"/>
          </a:xfrm>
        </p:grpSpPr>
        <p:cxnSp>
          <p:nvCxnSpPr>
            <p:cNvPr id="254" name="直接连接符 253"/>
            <p:cNvCxnSpPr/>
            <p:nvPr/>
          </p:nvCxnSpPr>
          <p:spPr bwMode="auto">
            <a:xfrm>
              <a:off x="4201160" y="2194284"/>
              <a:ext cx="1078230" cy="2083744"/>
            </a:xfrm>
            <a:prstGeom prst="line">
              <a:avLst/>
            </a:prstGeom>
            <a:noFill/>
            <a:ln w="1905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flipH="1">
              <a:off x="3901162" y="2192043"/>
              <a:ext cx="303808" cy="0"/>
            </a:xfrm>
            <a:prstGeom prst="straightConnector1">
              <a:avLst/>
            </a:prstGeom>
            <a:noFill/>
            <a:ln w="1905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直接箭头连接符 256"/>
            <p:cNvCxnSpPr/>
            <p:nvPr/>
          </p:nvCxnSpPr>
          <p:spPr bwMode="auto">
            <a:xfrm flipH="1">
              <a:off x="4979392" y="4276944"/>
              <a:ext cx="303808" cy="0"/>
            </a:xfrm>
            <a:prstGeom prst="straightConnector1">
              <a:avLst/>
            </a:prstGeom>
            <a:noFill/>
            <a:ln w="1905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58" name="直接连接符 257"/>
          <p:cNvCxnSpPr/>
          <p:nvPr/>
        </p:nvCxnSpPr>
        <p:spPr bwMode="auto">
          <a:xfrm>
            <a:off x="3899981" y="4349649"/>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0" name="Text Box 75"/>
          <p:cNvSpPr txBox="1">
            <a:spLocks noChangeArrowheads="1"/>
          </p:cNvSpPr>
          <p:nvPr/>
        </p:nvSpPr>
        <p:spPr bwMode="auto">
          <a:xfrm>
            <a:off x="2049057" y="1852797"/>
            <a:ext cx="24964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61" name="Text Box 75"/>
          <p:cNvSpPr txBox="1">
            <a:spLocks noChangeArrowheads="1"/>
          </p:cNvSpPr>
          <p:nvPr/>
        </p:nvSpPr>
        <p:spPr bwMode="auto">
          <a:xfrm>
            <a:off x="2855507" y="1878197"/>
            <a:ext cx="249643"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b</a:t>
            </a:r>
          </a:p>
        </p:txBody>
      </p:sp>
    </p:spTree>
    <p:extLst>
      <p:ext uri="{BB962C8B-B14F-4D97-AF65-F5344CB8AC3E}">
        <p14:creationId xmlns:p14="http://schemas.microsoft.com/office/powerpoint/2010/main" val="14847548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iterate type="wd">
                                    <p:tmPct val="100000"/>
                                  </p:iterate>
                                  <p:childTnLst>
                                    <p:set>
                                      <p:cBhvr>
                                        <p:cTn id="6" dur="1" fill="hold">
                                          <p:stCondLst>
                                            <p:cond delay="0"/>
                                          </p:stCondLst>
                                        </p:cTn>
                                        <p:tgtEl>
                                          <p:spTgt spid="232">
                                            <p:txEl>
                                              <p:pRg st="0" end="0"/>
                                            </p:txEl>
                                          </p:spTgt>
                                        </p:tgtEl>
                                        <p:attrNameLst>
                                          <p:attrName>style.visibility</p:attrName>
                                        </p:attrNameLst>
                                      </p:cBhvr>
                                      <p:to>
                                        <p:strVal val="visible"/>
                                      </p:to>
                                    </p:set>
                                    <p:animEffect transition="in" filter="checkerboard(across)">
                                      <p:cBhvr>
                                        <p:cTn id="7" dur="300"/>
                                        <p:tgtEl>
                                          <p:spTgt spid="232">
                                            <p:txEl>
                                              <p:pRg st="0" end="0"/>
                                            </p:txEl>
                                          </p:spTgt>
                                        </p:tgtEl>
                                      </p:cBhvr>
                                    </p:animEffect>
                                  </p:childTnLst>
                                </p:cTn>
                              </p:par>
                            </p:childTnLst>
                          </p:cTn>
                        </p:par>
                        <p:par>
                          <p:cTn id="8" fill="hold">
                            <p:stCondLst>
                              <p:cond delay="54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par>
                          <p:cTn id="12" fill="hold">
                            <p:stCondLst>
                              <p:cond delay="6400"/>
                            </p:stCondLst>
                            <p:childTnLst>
                              <p:par>
                                <p:cTn id="13" presetID="22" presetClass="entr" presetSubtype="4" repeatCount="300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par>
                                <p:cTn id="16" presetID="22" presetClass="entr" presetSubtype="4" repeatCount="300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iterate type="wd">
                                    <p:tmPct val="100000"/>
                                  </p:iterate>
                                  <p:childTnLst>
                                    <p:set>
                                      <p:cBhvr>
                                        <p:cTn id="22" dur="1" fill="hold">
                                          <p:stCondLst>
                                            <p:cond delay="0"/>
                                          </p:stCondLst>
                                        </p:cTn>
                                        <p:tgtEl>
                                          <p:spTgt spid="232">
                                            <p:txEl>
                                              <p:pRg st="1" end="1"/>
                                            </p:txEl>
                                          </p:spTgt>
                                        </p:tgtEl>
                                        <p:attrNameLst>
                                          <p:attrName>style.visibility</p:attrName>
                                        </p:attrNameLst>
                                      </p:cBhvr>
                                      <p:to>
                                        <p:strVal val="visible"/>
                                      </p:to>
                                    </p:set>
                                    <p:animEffect transition="in" filter="checkerboard(across)">
                                      <p:cBhvr>
                                        <p:cTn id="23" dur="300"/>
                                        <p:tgtEl>
                                          <p:spTgt spid="232">
                                            <p:txEl>
                                              <p:pRg st="1" end="1"/>
                                            </p:txEl>
                                          </p:spTgt>
                                        </p:tgtEl>
                                      </p:cBhvr>
                                    </p:animEffect>
                                  </p:childTnLst>
                                </p:cTn>
                              </p:par>
                            </p:childTnLst>
                          </p:cTn>
                        </p:par>
                        <p:par>
                          <p:cTn id="24" fill="hold">
                            <p:stCondLst>
                              <p:cond delay="2100"/>
                            </p:stCondLst>
                            <p:childTnLst>
                              <p:par>
                                <p:cTn id="25" presetID="22" presetClass="entr" presetSubtype="8"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26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iterate type="wd">
                                    <p:tmPct val="100000"/>
                                  </p:iterate>
                                  <p:childTnLst>
                                    <p:set>
                                      <p:cBhvr>
                                        <p:cTn id="35" dur="1" fill="hold">
                                          <p:stCondLst>
                                            <p:cond delay="0"/>
                                          </p:stCondLst>
                                        </p:cTn>
                                        <p:tgtEl>
                                          <p:spTgt spid="232">
                                            <p:txEl>
                                              <p:pRg st="2" end="2"/>
                                            </p:txEl>
                                          </p:spTgt>
                                        </p:tgtEl>
                                        <p:attrNameLst>
                                          <p:attrName>style.visibility</p:attrName>
                                        </p:attrNameLst>
                                      </p:cBhvr>
                                      <p:to>
                                        <p:strVal val="visible"/>
                                      </p:to>
                                    </p:set>
                                    <p:animEffect transition="in" filter="checkerboard(across)">
                                      <p:cBhvr>
                                        <p:cTn id="36" dur="300"/>
                                        <p:tgtEl>
                                          <p:spTgt spid="232">
                                            <p:txEl>
                                              <p:pRg st="2" end="2"/>
                                            </p:txEl>
                                          </p:spTgt>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par>
                          <p:cTn id="41" fill="hold">
                            <p:stCondLst>
                              <p:cond delay="2000"/>
                            </p:stCondLst>
                            <p:childTnLst>
                              <p:par>
                                <p:cTn id="42" presetID="22" presetClass="entr" presetSubtype="8" repeatCount="3000" fill="hold"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590553" y="1020348"/>
            <a:ext cx="1688283" cy="2579139"/>
            <a:chOff x="6590553" y="1020348"/>
            <a:chExt cx="1688283" cy="2579139"/>
          </a:xfrm>
        </p:grpSpPr>
        <p:sp>
          <p:nvSpPr>
            <p:cNvPr id="125" name="任意多边形 124"/>
            <p:cNvSpPr/>
            <p:nvPr/>
          </p:nvSpPr>
          <p:spPr bwMode="auto">
            <a:xfrm>
              <a:off x="6887497" y="1686702"/>
              <a:ext cx="641555" cy="1889782"/>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7952 w 641555"/>
                <a:gd name="connsiteY0" fmla="*/ 0 h 1889782"/>
                <a:gd name="connsiteX1" fmla="*/ 0 w 641555"/>
                <a:gd name="connsiteY1" fmla="*/ 1889782 h 1889782"/>
                <a:gd name="connsiteX2" fmla="*/ 464574 w 641555"/>
                <a:gd name="connsiteY2" fmla="*/ 1889782 h 1889782"/>
                <a:gd name="connsiteX3" fmla="*/ 331838 w 641555"/>
                <a:gd name="connsiteY3" fmla="*/ 990130 h 1889782"/>
                <a:gd name="connsiteX4" fmla="*/ 641555 w 641555"/>
                <a:gd name="connsiteY4" fmla="*/ 990130 h 1889782"/>
                <a:gd name="connsiteX5" fmla="*/ 7952 w 641555"/>
                <a:gd name="connsiteY5" fmla="*/ 0 h 1889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55" h="1889782">
                  <a:moveTo>
                    <a:pt x="7952" y="0"/>
                  </a:moveTo>
                  <a:cubicBezTo>
                    <a:pt x="5301" y="629927"/>
                    <a:pt x="2651" y="1259855"/>
                    <a:pt x="0" y="1889782"/>
                  </a:cubicBezTo>
                  <a:lnTo>
                    <a:pt x="464574" y="1889782"/>
                  </a:lnTo>
                  <a:lnTo>
                    <a:pt x="331838" y="990130"/>
                  </a:lnTo>
                  <a:lnTo>
                    <a:pt x="641555" y="990130"/>
                  </a:lnTo>
                  <a:lnTo>
                    <a:pt x="7952"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4" name="直接连接符 103"/>
            <p:cNvCxnSpPr/>
            <p:nvPr/>
          </p:nvCxnSpPr>
          <p:spPr bwMode="auto">
            <a:xfrm>
              <a:off x="6889805" y="1685677"/>
              <a:ext cx="639516" cy="98018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p:nvPr/>
          </p:nvCxnSpPr>
          <p:spPr bwMode="auto">
            <a:xfrm>
              <a:off x="6889582" y="1466423"/>
              <a:ext cx="0" cy="211611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7229071" y="2672687"/>
              <a:ext cx="129654" cy="90075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Text Box 61"/>
            <p:cNvSpPr txBox="1">
              <a:spLocks noChangeArrowheads="1"/>
            </p:cNvSpPr>
            <p:nvPr/>
          </p:nvSpPr>
          <p:spPr bwMode="auto">
            <a:xfrm>
              <a:off x="7486410" y="2248336"/>
              <a:ext cx="6562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000066"/>
                  </a:solidFill>
                  <a:latin typeface="Times New Roman" panose="02020603050405020304" pitchFamily="18" charset="0"/>
                  <a:sym typeface="Symbol" panose="05050102010706020507" pitchFamily="18" charset="2"/>
                </a:rPr>
                <a:t>p</a:t>
              </a:r>
              <a:r>
                <a:rPr kumimoji="1" lang="en-US" altLang="zh-CN" sz="2000" b="1" baseline="-25000" dirty="0" err="1" smtClean="0">
                  <a:solidFill>
                    <a:srgbClr val="000066"/>
                  </a:solidFill>
                  <a:latin typeface="Times New Roman" panose="02020603050405020304" pitchFamily="18" charset="0"/>
                </a:rPr>
                <a:t>B</a:t>
              </a:r>
              <a:r>
                <a:rPr kumimoji="1" lang="en-US" altLang="zh-CN" sz="2000" b="1" baseline="-25000" dirty="0" smtClean="0">
                  <a:solidFill>
                    <a:srgbClr val="000066"/>
                  </a:solidFill>
                  <a:latin typeface="Times New Roman" panose="02020603050405020304" pitchFamily="18" charset="0"/>
                </a:rPr>
                <a:t>+</a:t>
              </a:r>
              <a:endParaRPr kumimoji="1" lang="en-US" altLang="zh-CN" sz="2000" b="1" dirty="0">
                <a:solidFill>
                  <a:srgbClr val="000066"/>
                </a:solidFill>
                <a:latin typeface="Times New Roman" panose="02020603050405020304" pitchFamily="18" charset="0"/>
              </a:endParaRPr>
            </a:p>
          </p:txBody>
        </p:sp>
        <p:sp>
          <p:nvSpPr>
            <p:cNvPr id="120" name="Text Box 61"/>
            <p:cNvSpPr txBox="1">
              <a:spLocks noChangeArrowheads="1"/>
            </p:cNvSpPr>
            <p:nvPr/>
          </p:nvSpPr>
          <p:spPr bwMode="auto">
            <a:xfrm>
              <a:off x="7229235" y="2505511"/>
              <a:ext cx="6562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000066"/>
                  </a:solidFill>
                  <a:latin typeface="Times New Roman" panose="02020603050405020304" pitchFamily="18" charset="0"/>
                  <a:sym typeface="Symbol" panose="05050102010706020507" pitchFamily="18" charset="2"/>
                </a:rPr>
                <a:t>p</a:t>
              </a:r>
              <a:r>
                <a:rPr kumimoji="1" lang="en-US" altLang="zh-CN" sz="2000" b="1" baseline="-25000" dirty="0" err="1" smtClean="0">
                  <a:solidFill>
                    <a:srgbClr val="000066"/>
                  </a:solidFill>
                  <a:latin typeface="Times New Roman" panose="02020603050405020304" pitchFamily="18" charset="0"/>
                </a:rPr>
                <a:t>B</a:t>
              </a:r>
              <a:r>
                <a:rPr kumimoji="1" lang="en-US" altLang="zh-CN" sz="2000" b="1" baseline="-25000" dirty="0" smtClean="0">
                  <a:solidFill>
                    <a:srgbClr val="000066"/>
                  </a:solidFill>
                  <a:latin typeface="Times New Roman" panose="02020603050405020304" pitchFamily="18" charset="0"/>
                </a:rPr>
                <a:t>-</a:t>
              </a:r>
              <a:endParaRPr kumimoji="1" lang="en-US" altLang="zh-CN" sz="2000" b="1" dirty="0">
                <a:solidFill>
                  <a:srgbClr val="000066"/>
                </a:solidFill>
                <a:latin typeface="Times New Roman" panose="02020603050405020304" pitchFamily="18" charset="0"/>
              </a:endParaRPr>
            </a:p>
          </p:txBody>
        </p:sp>
        <p:sp>
          <p:nvSpPr>
            <p:cNvPr id="121" name="Text Box 61"/>
            <p:cNvSpPr txBox="1">
              <a:spLocks noChangeArrowheads="1"/>
            </p:cNvSpPr>
            <p:nvPr/>
          </p:nvSpPr>
          <p:spPr bwMode="auto">
            <a:xfrm>
              <a:off x="7324485" y="3153211"/>
              <a:ext cx="563374"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000066"/>
                  </a:solidFill>
                  <a:latin typeface="Times New Roman" panose="02020603050405020304" pitchFamily="18" charset="0"/>
                  <a:sym typeface="Symbol" panose="05050102010706020507" pitchFamily="18" charset="2"/>
                </a:rPr>
                <a:t>p</a:t>
              </a:r>
              <a:r>
                <a:rPr kumimoji="1" lang="en-US" altLang="zh-CN" sz="2000" b="1" baseline="-25000" dirty="0" err="1" smtClean="0">
                  <a:solidFill>
                    <a:srgbClr val="000066"/>
                  </a:solidFill>
                  <a:latin typeface="Times New Roman" panose="02020603050405020304" pitchFamily="18" charset="0"/>
                </a:rPr>
                <a:t>C</a:t>
              </a:r>
              <a:r>
                <a:rPr kumimoji="1" lang="en-US" altLang="zh-CN" sz="2000" b="1" baseline="-25000" dirty="0" smtClean="0">
                  <a:solidFill>
                    <a:srgbClr val="000066"/>
                  </a:solidFill>
                  <a:latin typeface="Times New Roman" panose="02020603050405020304" pitchFamily="18" charset="0"/>
                </a:rPr>
                <a:t>-</a:t>
              </a:r>
              <a:endParaRPr kumimoji="1" lang="en-US" altLang="zh-CN" sz="2000" b="1" dirty="0">
                <a:solidFill>
                  <a:srgbClr val="000066"/>
                </a:solidFill>
                <a:latin typeface="Times New Roman" panose="02020603050405020304" pitchFamily="18" charset="0"/>
              </a:endParaRPr>
            </a:p>
          </p:txBody>
        </p:sp>
        <p:sp>
          <p:nvSpPr>
            <p:cNvPr id="124" name="矩形 123"/>
            <p:cNvSpPr/>
            <p:nvPr/>
          </p:nvSpPr>
          <p:spPr>
            <a:xfrm>
              <a:off x="6590553" y="1020348"/>
              <a:ext cx="1688283" cy="446276"/>
            </a:xfrm>
            <a:prstGeom prst="rect">
              <a:avLst/>
            </a:prstGeom>
          </p:spPr>
          <p:txBody>
            <a:bodyPr wrap="none">
              <a:spAutoFit/>
            </a:bodyPr>
            <a:lstStyle/>
            <a:p>
              <a:r>
                <a:rPr lang="zh-CN" altLang="en-US" sz="2000" b="1" dirty="0">
                  <a:solidFill>
                    <a:srgbClr val="A50021"/>
                  </a:solidFill>
                  <a:ea typeface="幼圆" panose="02010509060101010101" pitchFamily="49" charset="-122"/>
                  <a:cs typeface="Times New Roman" panose="02020603050405020304" pitchFamily="18" charset="0"/>
                  <a:sym typeface="Symbol" pitchFamily="18" charset="2"/>
                </a:rPr>
                <a:t>土压力</a:t>
              </a:r>
              <a:r>
                <a:rPr lang="zh-CN" altLang="en-US" sz="2000" b="1" dirty="0" smtClean="0">
                  <a:solidFill>
                    <a:srgbClr val="A50021"/>
                  </a:solidFill>
                  <a:ea typeface="幼圆" panose="02010509060101010101" pitchFamily="49" charset="-122"/>
                  <a:cs typeface="Times New Roman" panose="02020603050405020304" pitchFamily="18" charset="0"/>
                  <a:sym typeface="Symbol" pitchFamily="18" charset="2"/>
                </a:rPr>
                <a:t>强度</a:t>
              </a:r>
              <a:r>
                <a:rPr lang="en-US" altLang="zh-CN" sz="2000" b="1" i="1" dirty="0" smtClean="0">
                  <a:solidFill>
                    <a:srgbClr val="A50021"/>
                  </a:solidFill>
                  <a:ea typeface="幼圆" panose="02010509060101010101" pitchFamily="49" charset="-122"/>
                  <a:cs typeface="Times New Roman" panose="02020603050405020304" pitchFamily="18" charset="0"/>
                  <a:sym typeface="Symbol" pitchFamily="18" charset="2"/>
                </a:rPr>
                <a:t>p</a:t>
              </a:r>
              <a:r>
                <a:rPr lang="en-US" altLang="zh-CN" sz="2000" b="1" i="1" baseline="-25000" dirty="0" smtClean="0">
                  <a:solidFill>
                    <a:srgbClr val="A50021"/>
                  </a:solidFill>
                  <a:ea typeface="幼圆" panose="02010509060101010101" pitchFamily="49" charset="-122"/>
                  <a:cs typeface="Times New Roman" panose="02020603050405020304" pitchFamily="18" charset="0"/>
                  <a:sym typeface="Symbol" pitchFamily="18" charset="2"/>
                </a:rPr>
                <a:t>a</a:t>
              </a:r>
              <a:endParaRPr lang="zh-CN" altLang="en-US" sz="2000" i="1" baseline="-25000" dirty="0">
                <a:solidFill>
                  <a:srgbClr val="A50021"/>
                </a:solidFill>
              </a:endParaRPr>
            </a:p>
          </p:txBody>
        </p:sp>
      </p:grpSp>
      <p:cxnSp>
        <p:nvCxnSpPr>
          <p:cNvPr id="11" name="直接连接符 10"/>
          <p:cNvCxnSpPr/>
          <p:nvPr/>
        </p:nvCxnSpPr>
        <p:spPr bwMode="auto">
          <a:xfrm>
            <a:off x="966788" y="3524583"/>
            <a:ext cx="33528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2252706" y="1435621"/>
            <a:ext cx="2066882"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p:cNvCxnSpPr/>
          <p:nvPr/>
        </p:nvCxnSpPr>
        <p:spPr bwMode="auto">
          <a:xfrm>
            <a:off x="2279745" y="2636180"/>
            <a:ext cx="203984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76</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2</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成层填土情况</a:t>
            </a:r>
            <a:endParaRPr kumimoji="1" lang="zh-CN" altLang="en-US" sz="4000" b="1" dirty="0">
              <a:solidFill>
                <a:srgbClr val="000066"/>
              </a:solidFill>
              <a:ea typeface="黑体" pitchFamily="2" charset="-122"/>
              <a:cs typeface="Times New Roman" panose="02020603050405020304" pitchFamily="18" charset="0"/>
            </a:endParaRPr>
          </a:p>
        </p:txBody>
      </p:sp>
      <p:sp>
        <p:nvSpPr>
          <p:cNvPr id="8" name="Rectangle 3"/>
          <p:cNvSpPr txBox="1">
            <a:spLocks noChangeArrowheads="1"/>
          </p:cNvSpPr>
          <p:nvPr/>
        </p:nvSpPr>
        <p:spPr bwMode="auto">
          <a:xfrm>
            <a:off x="432532" y="536298"/>
            <a:ext cx="43966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基于朗肯理论的</a:t>
            </a:r>
            <a:r>
              <a:rPr lang="zh-CN" altLang="en-US" sz="2400" b="1" kern="0" dirty="0">
                <a:solidFill>
                  <a:srgbClr val="A50021"/>
                </a:solidFill>
                <a:latin typeface="微软雅黑" panose="020B0503020204020204" pitchFamily="34" charset="-122"/>
                <a:ea typeface="微软雅黑" panose="020B0503020204020204" pitchFamily="34" charset="-122"/>
              </a:rPr>
              <a:t>计算方法</a:t>
            </a:r>
          </a:p>
        </p:txBody>
      </p:sp>
      <p:sp>
        <p:nvSpPr>
          <p:cNvPr id="10" name="任意多边形 9"/>
          <p:cNvSpPr/>
          <p:nvPr/>
        </p:nvSpPr>
        <p:spPr bwMode="auto">
          <a:xfrm>
            <a:off x="1180507" y="1435114"/>
            <a:ext cx="1118769" cy="2088000"/>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43" name="Group 12"/>
          <p:cNvGrpSpPr>
            <a:grpSpLocks/>
          </p:cNvGrpSpPr>
          <p:nvPr/>
        </p:nvGrpSpPr>
        <p:grpSpPr bwMode="auto">
          <a:xfrm>
            <a:off x="2666423" y="1440387"/>
            <a:ext cx="454614" cy="82278"/>
            <a:chOff x="2274" y="1204"/>
            <a:chExt cx="270" cy="44"/>
          </a:xfrm>
        </p:grpSpPr>
        <p:sp>
          <p:nvSpPr>
            <p:cNvPr id="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12"/>
          <p:cNvGrpSpPr>
            <a:grpSpLocks/>
          </p:cNvGrpSpPr>
          <p:nvPr/>
        </p:nvGrpSpPr>
        <p:grpSpPr bwMode="auto">
          <a:xfrm>
            <a:off x="3367455" y="1443406"/>
            <a:ext cx="454614" cy="82278"/>
            <a:chOff x="2274" y="1204"/>
            <a:chExt cx="270" cy="44"/>
          </a:xfrm>
        </p:grpSpPr>
        <p:sp>
          <p:nvSpPr>
            <p:cNvPr id="5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 name="Line 89"/>
          <p:cNvSpPr>
            <a:spLocks noChangeAspect="1" noChangeShapeType="1"/>
          </p:cNvSpPr>
          <p:nvPr/>
        </p:nvSpPr>
        <p:spPr bwMode="auto">
          <a:xfrm rot="5400000">
            <a:off x="3435550" y="2039857"/>
            <a:ext cx="118981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Rectangle 57"/>
          <p:cNvSpPr>
            <a:spLocks noChangeArrowheads="1"/>
          </p:cNvSpPr>
          <p:nvPr/>
        </p:nvSpPr>
        <p:spPr bwMode="auto">
          <a:xfrm>
            <a:off x="1408403" y="3807320"/>
            <a:ext cx="4163722" cy="184665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66700" indent="-266700">
              <a:lnSpc>
                <a:spcPct val="120000"/>
              </a:lnSpc>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计算竖</a:t>
            </a:r>
            <a:r>
              <a:rPr lang="zh-CN" altLang="en-US" sz="2000" b="1" dirty="0">
                <a:solidFill>
                  <a:srgbClr val="000066"/>
                </a:solidFill>
                <a:ea typeface="幼圆" panose="02010509060101010101" pitchFamily="49" charset="-122"/>
                <a:cs typeface="Times New Roman" panose="02020603050405020304" pitchFamily="18" charset="0"/>
                <a:sym typeface="Symbol" pitchFamily="18" charset="2"/>
              </a:rPr>
              <a:t>向</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应力： </a:t>
            </a:r>
            <a:endPar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endParaRPr>
          </a:p>
          <a:p>
            <a:pPr marL="266700" indent="-266700">
              <a:lnSpc>
                <a:spcPct val="120000"/>
              </a:lnSpc>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计算各层土的土压力系数</a:t>
            </a: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a:t>
            </a:r>
            <a:endParaRPr lang="en-US" altLang="zh-CN" sz="2000" b="1" i="1" baseline="-25000" dirty="0" smtClean="0">
              <a:solidFill>
                <a:srgbClr val="000066"/>
              </a:solidFill>
              <a:ea typeface="幼圆" panose="02010509060101010101" pitchFamily="49" charset="-122"/>
              <a:cs typeface="Times New Roman" panose="02020603050405020304" pitchFamily="18" charset="0"/>
              <a:sym typeface="Symbol" pitchFamily="18" charset="2"/>
            </a:endParaRPr>
          </a:p>
          <a:p>
            <a:pPr marL="266700" indent="-266700">
              <a:lnSpc>
                <a:spcPct val="120000"/>
              </a:lnSpc>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计算土层界面处的土压力强度</a:t>
            </a:r>
            <a:r>
              <a:rPr lang="en-US" altLang="zh-CN" sz="2000" b="1" dirty="0" smtClean="0">
                <a:solidFill>
                  <a:srgbClr val="000066"/>
                </a:solidFill>
                <a:ea typeface="幼圆" panose="02010509060101010101" pitchFamily="49" charset="-122"/>
                <a:cs typeface="Times New Roman" panose="02020603050405020304" pitchFamily="18" charset="0"/>
                <a:sym typeface="Symbol" pitchFamily="18" charset="2"/>
              </a:rPr>
              <a:t>:</a:t>
            </a:r>
            <a:endParaRPr lang="en-US" altLang="zh-CN" sz="2000" b="1" dirty="0">
              <a:solidFill>
                <a:srgbClr val="000066"/>
              </a:solidFill>
              <a:ea typeface="幼圆" panose="02010509060101010101" pitchFamily="49" charset="-122"/>
              <a:cs typeface="Times New Roman" panose="02020603050405020304" pitchFamily="18" charset="0"/>
              <a:sym typeface="Symbol" pitchFamily="18" charset="2"/>
            </a:endParaRPr>
          </a:p>
          <a:p>
            <a:pPr marL="266700" indent="-266700">
              <a:lnSpc>
                <a:spcPct val="120000"/>
              </a:lnSpc>
              <a:buClr>
                <a:srgbClr val="C00000"/>
              </a:buClr>
              <a:buSzPct val="100000"/>
              <a:buFont typeface="+mj-lt"/>
              <a:buAutoNum type="arabicPeriod"/>
            </a:pP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计算总土压力</a:t>
            </a:r>
            <a:r>
              <a:rPr lang="en-US" altLang="zh-CN" sz="2000" b="1" i="1" dirty="0" err="1" smtClean="0">
                <a:solidFill>
                  <a:srgbClr val="000066"/>
                </a:solidFill>
                <a:ea typeface="幼圆" panose="02010509060101010101" pitchFamily="49" charset="-122"/>
                <a:cs typeface="Times New Roman" panose="02020603050405020304" pitchFamily="18" charset="0"/>
                <a:sym typeface="Symbol" pitchFamily="18" charset="2"/>
              </a:rPr>
              <a:t>E</a:t>
            </a:r>
            <a:r>
              <a:rPr lang="en-US" altLang="zh-CN" sz="2000" b="1" baseline="-25000" dirty="0" err="1" smtClean="0">
                <a:solidFill>
                  <a:srgbClr val="000066"/>
                </a:solidFill>
                <a:ea typeface="幼圆" panose="02010509060101010101" pitchFamily="49" charset="-122"/>
                <a:cs typeface="Times New Roman" panose="02020603050405020304" pitchFamily="18" charset="0"/>
                <a:sym typeface="Symbol" pitchFamily="18" charset="2"/>
              </a:rPr>
              <a:t>a</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及作用点</a:t>
            </a:r>
            <a:endParaRPr lang="en-US" altLang="zh-CN" sz="2000" b="1" dirty="0">
              <a:solidFill>
                <a:srgbClr val="000066"/>
              </a:solidFill>
              <a:ea typeface="幼圆" panose="02010509060101010101" pitchFamily="49" charset="-122"/>
              <a:cs typeface="Times New Roman" panose="02020603050405020304" pitchFamily="18" charset="0"/>
            </a:endParaRPr>
          </a:p>
        </p:txBody>
      </p:sp>
      <p:sp>
        <p:nvSpPr>
          <p:cNvPr id="76" name="Text Box 45"/>
          <p:cNvSpPr txBox="1">
            <a:spLocks noChangeArrowheads="1"/>
          </p:cNvSpPr>
          <p:nvPr/>
        </p:nvSpPr>
        <p:spPr bwMode="auto">
          <a:xfrm>
            <a:off x="2546430" y="1735113"/>
            <a:ext cx="1241323"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1</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1</a:t>
            </a:r>
            <a:r>
              <a:rPr kumimoji="1" lang="en-US" altLang="zh-CN" sz="2000" b="1" i="1" dirty="0" smtClean="0">
                <a:solidFill>
                  <a:srgbClr val="000066"/>
                </a:solidFill>
                <a:latin typeface="Times New Roman" panose="02020603050405020304" pitchFamily="18" charset="0"/>
              </a:rPr>
              <a:t>   </a:t>
            </a:r>
            <a:r>
              <a:rPr kumimoji="1" lang="en-US" altLang="zh-CN" sz="2000" b="1" i="1" dirty="0">
                <a:solidFill>
                  <a:srgbClr val="000066"/>
                </a:solidFill>
                <a:latin typeface="Times New Roman" panose="02020603050405020304" pitchFamily="18" charset="0"/>
              </a:rPr>
              <a:t>c</a:t>
            </a:r>
            <a:r>
              <a:rPr kumimoji="1" lang="en-US" altLang="zh-CN" sz="2000" b="1" baseline="-25000" dirty="0">
                <a:solidFill>
                  <a:srgbClr val="000066"/>
                </a:solidFill>
                <a:latin typeface="Times New Roman" panose="02020603050405020304" pitchFamily="18" charset="0"/>
              </a:rPr>
              <a:t>1</a:t>
            </a:r>
            <a:endParaRPr kumimoji="1" lang="en-US" altLang="zh-CN" sz="2000" b="1" dirty="0">
              <a:solidFill>
                <a:srgbClr val="000066"/>
              </a:solidFill>
              <a:latin typeface="Times New Roman" panose="02020603050405020304" pitchFamily="18" charset="0"/>
            </a:endParaRPr>
          </a:p>
        </p:txBody>
      </p:sp>
      <p:sp>
        <p:nvSpPr>
          <p:cNvPr id="86" name="Text Box 46"/>
          <p:cNvSpPr txBox="1">
            <a:spLocks noChangeArrowheads="1"/>
          </p:cNvSpPr>
          <p:nvPr/>
        </p:nvSpPr>
        <p:spPr bwMode="auto">
          <a:xfrm>
            <a:off x="2514475" y="2779791"/>
            <a:ext cx="128065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2</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2</a:t>
            </a:r>
            <a:r>
              <a:rPr kumimoji="1" lang="en-US" altLang="zh-CN" sz="2000" b="1" i="1" dirty="0" smtClean="0">
                <a:solidFill>
                  <a:srgbClr val="000066"/>
                </a:solidFill>
                <a:latin typeface="Times New Roman" panose="02020603050405020304" pitchFamily="18" charset="0"/>
              </a:rPr>
              <a:t>   </a:t>
            </a:r>
            <a:r>
              <a:rPr kumimoji="1" lang="en-US" altLang="zh-CN" sz="2000" b="1" i="1" dirty="0">
                <a:solidFill>
                  <a:srgbClr val="000066"/>
                </a:solidFill>
                <a:latin typeface="Times New Roman" panose="02020603050405020304" pitchFamily="18" charset="0"/>
              </a:rPr>
              <a:t>c</a:t>
            </a:r>
            <a:r>
              <a:rPr kumimoji="1" lang="en-US" altLang="zh-CN" sz="2000" b="1" baseline="-25000" dirty="0">
                <a:solidFill>
                  <a:srgbClr val="000066"/>
                </a:solidFill>
                <a:latin typeface="Times New Roman" panose="02020603050405020304" pitchFamily="18" charset="0"/>
              </a:rPr>
              <a:t>2</a:t>
            </a:r>
            <a:endParaRPr kumimoji="1" lang="en-US" altLang="zh-CN" sz="2000" b="1" dirty="0">
              <a:solidFill>
                <a:srgbClr val="000066"/>
              </a:solidFill>
              <a:latin typeface="Times New Roman" panose="02020603050405020304" pitchFamily="18" charset="0"/>
            </a:endParaRPr>
          </a:p>
        </p:txBody>
      </p:sp>
      <p:sp>
        <p:nvSpPr>
          <p:cNvPr id="87" name="Line 89"/>
          <p:cNvSpPr>
            <a:spLocks noChangeAspect="1" noChangeShapeType="1"/>
          </p:cNvSpPr>
          <p:nvPr/>
        </p:nvSpPr>
        <p:spPr bwMode="auto">
          <a:xfrm rot="5400000">
            <a:off x="3597782" y="3072554"/>
            <a:ext cx="875186"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Text Box 61"/>
          <p:cNvSpPr txBox="1">
            <a:spLocks noChangeArrowheads="1"/>
          </p:cNvSpPr>
          <p:nvPr/>
        </p:nvSpPr>
        <p:spPr bwMode="auto">
          <a:xfrm>
            <a:off x="4103307" y="1676120"/>
            <a:ext cx="54753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92" name="Text Box 62"/>
          <p:cNvSpPr txBox="1">
            <a:spLocks noChangeArrowheads="1"/>
          </p:cNvSpPr>
          <p:nvPr/>
        </p:nvSpPr>
        <p:spPr bwMode="auto">
          <a:xfrm>
            <a:off x="4055682" y="2742920"/>
            <a:ext cx="547534"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a:solidFill>
                  <a:srgbClr val="000066"/>
                </a:solidFill>
                <a:latin typeface="Times New Roman" panose="02020603050405020304" pitchFamily="18" charset="0"/>
              </a:rPr>
              <a:t>H</a:t>
            </a:r>
            <a:r>
              <a:rPr kumimoji="1" lang="en-US" altLang="zh-CN" sz="2400" b="1" baseline="-25000">
                <a:solidFill>
                  <a:srgbClr val="000066"/>
                </a:solidFill>
                <a:latin typeface="Times New Roman" panose="02020603050405020304" pitchFamily="18" charset="0"/>
              </a:rPr>
              <a:t>2</a:t>
            </a:r>
            <a:endParaRPr kumimoji="1" lang="en-US" altLang="zh-CN" sz="2400" b="1">
              <a:solidFill>
                <a:srgbClr val="000066"/>
              </a:solidFill>
              <a:latin typeface="Times New Roman" panose="02020603050405020304" pitchFamily="18" charset="0"/>
            </a:endParaRPr>
          </a:p>
        </p:txBody>
      </p:sp>
      <p:grpSp>
        <p:nvGrpSpPr>
          <p:cNvPr id="7" name="组合 6"/>
          <p:cNvGrpSpPr/>
          <p:nvPr/>
        </p:nvGrpSpPr>
        <p:grpSpPr>
          <a:xfrm>
            <a:off x="4901810" y="1002441"/>
            <a:ext cx="1783517" cy="2577822"/>
            <a:chOff x="4901810" y="1002441"/>
            <a:chExt cx="1783517" cy="2577822"/>
          </a:xfrm>
        </p:grpSpPr>
        <p:grpSp>
          <p:nvGrpSpPr>
            <p:cNvPr id="4" name="组合 3"/>
            <p:cNvGrpSpPr/>
            <p:nvPr/>
          </p:nvGrpSpPr>
          <p:grpSpPr>
            <a:xfrm>
              <a:off x="4901810" y="1002441"/>
              <a:ext cx="1783517" cy="2569434"/>
              <a:chOff x="4901810" y="1002441"/>
              <a:chExt cx="1783517" cy="2569434"/>
            </a:xfrm>
          </p:grpSpPr>
          <p:grpSp>
            <p:nvGrpSpPr>
              <p:cNvPr id="3" name="组合 2"/>
              <p:cNvGrpSpPr/>
              <p:nvPr/>
            </p:nvGrpSpPr>
            <p:grpSpPr>
              <a:xfrm>
                <a:off x="5176299" y="1455089"/>
                <a:ext cx="1509028" cy="2116786"/>
                <a:chOff x="5176299" y="1455089"/>
                <a:chExt cx="1509028" cy="2116786"/>
              </a:xfrm>
            </p:grpSpPr>
            <p:sp>
              <p:nvSpPr>
                <p:cNvPr id="122" name="任意多边形 121"/>
                <p:cNvSpPr/>
                <p:nvPr/>
              </p:nvSpPr>
              <p:spPr bwMode="auto">
                <a:xfrm>
                  <a:off x="5176299" y="1455089"/>
                  <a:ext cx="954157" cy="2115047"/>
                </a:xfrm>
                <a:custGeom>
                  <a:avLst/>
                  <a:gdLst>
                    <a:gd name="connsiteX0" fmla="*/ 0 w 954157"/>
                    <a:gd name="connsiteY0" fmla="*/ 0 h 2115047"/>
                    <a:gd name="connsiteX1" fmla="*/ 0 w 954157"/>
                    <a:gd name="connsiteY1" fmla="*/ 2115047 h 2115047"/>
                    <a:gd name="connsiteX2" fmla="*/ 954157 w 954157"/>
                    <a:gd name="connsiteY2" fmla="*/ 2115047 h 2115047"/>
                    <a:gd name="connsiteX3" fmla="*/ 652007 w 954157"/>
                    <a:gd name="connsiteY3" fmla="*/ 1200647 h 2115047"/>
                    <a:gd name="connsiteX4" fmla="*/ 0 w 954157"/>
                    <a:gd name="connsiteY4" fmla="*/ 0 h 2115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157" h="2115047">
                      <a:moveTo>
                        <a:pt x="0" y="0"/>
                      </a:moveTo>
                      <a:lnTo>
                        <a:pt x="0" y="2115047"/>
                      </a:lnTo>
                      <a:lnTo>
                        <a:pt x="954157" y="2115047"/>
                      </a:lnTo>
                      <a:lnTo>
                        <a:pt x="652007" y="1200647"/>
                      </a:lnTo>
                      <a:lnTo>
                        <a:pt x="0" y="0"/>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9" name="任意多边形 98"/>
                <p:cNvSpPr/>
                <p:nvPr/>
              </p:nvSpPr>
              <p:spPr bwMode="auto">
                <a:xfrm>
                  <a:off x="5185494" y="1457325"/>
                  <a:ext cx="923925" cy="2114550"/>
                </a:xfrm>
                <a:custGeom>
                  <a:avLst/>
                  <a:gdLst>
                    <a:gd name="connsiteX0" fmla="*/ 0 w 923925"/>
                    <a:gd name="connsiteY0" fmla="*/ 0 h 2114550"/>
                    <a:gd name="connsiteX1" fmla="*/ 638175 w 923925"/>
                    <a:gd name="connsiteY1" fmla="*/ 1219200 h 2114550"/>
                    <a:gd name="connsiteX2" fmla="*/ 923925 w 923925"/>
                    <a:gd name="connsiteY2" fmla="*/ 2114550 h 2114550"/>
                  </a:gdLst>
                  <a:ahLst/>
                  <a:cxnLst>
                    <a:cxn ang="0">
                      <a:pos x="connsiteX0" y="connsiteY0"/>
                    </a:cxn>
                    <a:cxn ang="0">
                      <a:pos x="connsiteX1" y="connsiteY1"/>
                    </a:cxn>
                    <a:cxn ang="0">
                      <a:pos x="connsiteX2" y="connsiteY2"/>
                    </a:cxn>
                  </a:cxnLst>
                  <a:rect l="l" t="t" r="r" b="b"/>
                  <a:pathLst>
                    <a:path w="923925" h="2114550">
                      <a:moveTo>
                        <a:pt x="0" y="0"/>
                      </a:moveTo>
                      <a:lnTo>
                        <a:pt x="638175" y="1219200"/>
                      </a:lnTo>
                      <a:lnTo>
                        <a:pt x="923925" y="211455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12" name="Text Box 61"/>
                <p:cNvSpPr txBox="1">
                  <a:spLocks noChangeArrowheads="1"/>
                </p:cNvSpPr>
                <p:nvPr/>
              </p:nvSpPr>
              <p:spPr bwMode="auto">
                <a:xfrm>
                  <a:off x="6029119" y="3149723"/>
                  <a:ext cx="656208"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err="1" smtClean="0">
                      <a:solidFill>
                        <a:srgbClr val="000066"/>
                      </a:solidFill>
                      <a:latin typeface="Times New Roman" panose="02020603050405020304" pitchFamily="18" charset="0"/>
                    </a:rPr>
                    <a:t>zC</a:t>
                  </a:r>
                  <a:endParaRPr kumimoji="1" lang="en-US" altLang="zh-CN" sz="2000" b="1" dirty="0">
                    <a:solidFill>
                      <a:srgbClr val="000066"/>
                    </a:solidFill>
                    <a:latin typeface="Times New Roman" panose="02020603050405020304" pitchFamily="18" charset="0"/>
                  </a:endParaRPr>
                </a:p>
              </p:txBody>
            </p:sp>
            <p:sp>
              <p:nvSpPr>
                <p:cNvPr id="118" name="Text Box 61"/>
                <p:cNvSpPr txBox="1">
                  <a:spLocks noChangeArrowheads="1"/>
                </p:cNvSpPr>
                <p:nvPr/>
              </p:nvSpPr>
              <p:spPr bwMode="auto">
                <a:xfrm>
                  <a:off x="5784170" y="2229286"/>
                  <a:ext cx="656208"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err="1" smtClean="0">
                      <a:solidFill>
                        <a:srgbClr val="000066"/>
                      </a:solidFill>
                      <a:latin typeface="Times New Roman" panose="02020603050405020304" pitchFamily="18" charset="0"/>
                    </a:rPr>
                    <a:t>zB</a:t>
                  </a:r>
                  <a:endParaRPr kumimoji="1" lang="en-US" altLang="zh-CN" sz="2000" b="1" dirty="0">
                    <a:solidFill>
                      <a:srgbClr val="000066"/>
                    </a:solidFill>
                    <a:latin typeface="Times New Roman" panose="02020603050405020304" pitchFamily="18" charset="0"/>
                  </a:endParaRPr>
                </a:p>
              </p:txBody>
            </p:sp>
          </p:grpSp>
          <p:sp>
            <p:nvSpPr>
              <p:cNvPr id="123" name="矩形 122"/>
              <p:cNvSpPr/>
              <p:nvPr/>
            </p:nvSpPr>
            <p:spPr>
              <a:xfrm>
                <a:off x="4901810" y="1002441"/>
                <a:ext cx="1447832" cy="446276"/>
              </a:xfrm>
              <a:prstGeom prst="rect">
                <a:avLst/>
              </a:prstGeom>
            </p:spPr>
            <p:txBody>
              <a:bodyPr wrap="none">
                <a:spAutoFit/>
              </a:bodyPr>
              <a:lstStyle/>
              <a:p>
                <a:r>
                  <a:rPr lang="zh-CN" altLang="en-US" sz="2000" b="1" dirty="0">
                    <a:solidFill>
                      <a:srgbClr val="A50021"/>
                    </a:solidFill>
                    <a:ea typeface="幼圆" panose="02010509060101010101" pitchFamily="49" charset="-122"/>
                    <a:cs typeface="Times New Roman" panose="02020603050405020304" pitchFamily="18" charset="0"/>
                    <a:sym typeface="Symbol" pitchFamily="18" charset="2"/>
                  </a:rPr>
                  <a:t>竖向</a:t>
                </a:r>
                <a:r>
                  <a:rPr lang="zh-CN" altLang="en-US" sz="2000" b="1" dirty="0" smtClean="0">
                    <a:solidFill>
                      <a:srgbClr val="A50021"/>
                    </a:solidFill>
                    <a:ea typeface="幼圆" panose="02010509060101010101" pitchFamily="49" charset="-122"/>
                    <a:cs typeface="Times New Roman" panose="02020603050405020304" pitchFamily="18" charset="0"/>
                    <a:sym typeface="Symbol" pitchFamily="18" charset="2"/>
                  </a:rPr>
                  <a:t>应力</a:t>
                </a:r>
                <a:r>
                  <a:rPr lang="zh-CN" altLang="en-US" sz="2000" b="1" i="1" dirty="0" smtClean="0">
                    <a:solidFill>
                      <a:srgbClr val="A50021"/>
                    </a:solidFill>
                    <a:ea typeface="幼圆" panose="02010509060101010101" pitchFamily="49" charset="-122"/>
                    <a:cs typeface="Times New Roman" panose="02020603050405020304" pitchFamily="18" charset="0"/>
                    <a:sym typeface="Symbol" pitchFamily="18" charset="2"/>
                  </a:rPr>
                  <a:t></a:t>
                </a:r>
                <a:r>
                  <a:rPr lang="en-US" altLang="zh-CN" sz="2000" b="1" baseline="-25000" dirty="0" smtClean="0">
                    <a:solidFill>
                      <a:srgbClr val="A50021"/>
                    </a:solidFill>
                    <a:ea typeface="幼圆" panose="02010509060101010101" pitchFamily="49" charset="-122"/>
                    <a:cs typeface="Times New Roman" panose="02020603050405020304" pitchFamily="18" charset="0"/>
                    <a:sym typeface="Symbol" pitchFamily="18" charset="2"/>
                  </a:rPr>
                  <a:t>z</a:t>
                </a:r>
                <a:endParaRPr lang="zh-CN" altLang="en-US" sz="2000" baseline="-25000" dirty="0">
                  <a:solidFill>
                    <a:srgbClr val="A50021"/>
                  </a:solidFill>
                </a:endParaRPr>
              </a:p>
            </p:txBody>
          </p:sp>
        </p:grpSp>
        <p:cxnSp>
          <p:nvCxnSpPr>
            <p:cNvPr id="41" name="直接连接符 40"/>
            <p:cNvCxnSpPr/>
            <p:nvPr/>
          </p:nvCxnSpPr>
          <p:spPr bwMode="auto">
            <a:xfrm>
              <a:off x="5175969" y="1464149"/>
              <a:ext cx="0" cy="211611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5170993" y="1465220"/>
            <a:ext cx="2983126" cy="2111111"/>
            <a:chOff x="5170993" y="1465220"/>
            <a:chExt cx="2983126" cy="2111111"/>
          </a:xfrm>
        </p:grpSpPr>
        <p:cxnSp>
          <p:nvCxnSpPr>
            <p:cNvPr id="93" name="直接连接符 92"/>
            <p:cNvCxnSpPr/>
            <p:nvPr/>
          </p:nvCxnSpPr>
          <p:spPr bwMode="auto">
            <a:xfrm>
              <a:off x="5178670" y="3576331"/>
              <a:ext cx="292417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5171250" y="1465220"/>
              <a:ext cx="2982869"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170993" y="2664755"/>
              <a:ext cx="2955830"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0" name="Text Box 5"/>
          <p:cNvSpPr txBox="1">
            <a:spLocks noChangeArrowheads="1"/>
          </p:cNvSpPr>
          <p:nvPr/>
        </p:nvSpPr>
        <p:spPr bwMode="auto">
          <a:xfrm>
            <a:off x="2224480" y="3086645"/>
            <a:ext cx="484187"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C</a:t>
            </a:r>
          </a:p>
        </p:txBody>
      </p:sp>
      <p:sp>
        <p:nvSpPr>
          <p:cNvPr id="101" name="Text Box 16"/>
          <p:cNvSpPr txBox="1">
            <a:spLocks noChangeArrowheads="1"/>
          </p:cNvSpPr>
          <p:nvPr/>
        </p:nvSpPr>
        <p:spPr bwMode="auto">
          <a:xfrm>
            <a:off x="2247181" y="1302529"/>
            <a:ext cx="426704"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A</a:t>
            </a:r>
          </a:p>
        </p:txBody>
      </p:sp>
      <p:sp>
        <p:nvSpPr>
          <p:cNvPr id="102" name="Text Box 25"/>
          <p:cNvSpPr txBox="1">
            <a:spLocks noChangeArrowheads="1"/>
          </p:cNvSpPr>
          <p:nvPr/>
        </p:nvSpPr>
        <p:spPr bwMode="auto">
          <a:xfrm>
            <a:off x="2253919" y="2209031"/>
            <a:ext cx="425310"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B</a:t>
            </a:r>
          </a:p>
        </p:txBody>
      </p:sp>
      <p:graphicFrame>
        <p:nvGraphicFramePr>
          <p:cNvPr id="115" name="Object 119"/>
          <p:cNvGraphicFramePr>
            <a:graphicFrameLocks noChangeAspect="1"/>
          </p:cNvGraphicFramePr>
          <p:nvPr>
            <p:extLst>
              <p:ext uri="{D42A27DB-BD31-4B8C-83A1-F6EECF244321}">
                <p14:modId xmlns:p14="http://schemas.microsoft.com/office/powerpoint/2010/main" val="3507801309"/>
              </p:ext>
            </p:extLst>
          </p:nvPr>
        </p:nvGraphicFramePr>
        <p:xfrm>
          <a:off x="5676900" y="4733925"/>
          <a:ext cx="1641475" cy="415925"/>
        </p:xfrm>
        <a:graphic>
          <a:graphicData uri="http://schemas.openxmlformats.org/presentationml/2006/ole">
            <mc:AlternateContent xmlns:mc="http://schemas.openxmlformats.org/markup-compatibility/2006">
              <mc:Choice xmlns:v="urn:schemas-microsoft-com:vml" Requires="v">
                <p:oleObj spid="_x0000_s1711724" name="Equation" r:id="rId4" imgW="1104840" imgH="241200" progId="Equation.DSMT4">
                  <p:embed/>
                </p:oleObj>
              </mc:Choice>
              <mc:Fallback>
                <p:oleObj name="Equation" r:id="rId4" imgW="1104840" imgH="241200" progId="Equation.DSMT4">
                  <p:embed/>
                  <p:pic>
                    <p:nvPicPr>
                      <p:cNvPr id="225" name="Object 119"/>
                      <p:cNvPicPr>
                        <a:picLocks noChangeAspect="1" noChangeArrowheads="1"/>
                      </p:cNvPicPr>
                      <p:nvPr/>
                    </p:nvPicPr>
                    <p:blipFill>
                      <a:blip r:embed="rId5"/>
                      <a:srcRect/>
                      <a:stretch>
                        <a:fillRect/>
                      </a:stretch>
                    </p:blipFill>
                    <p:spPr bwMode="auto">
                      <a:xfrm>
                        <a:off x="5676900" y="4733925"/>
                        <a:ext cx="1641475" cy="415925"/>
                      </a:xfrm>
                      <a:prstGeom prst="rect">
                        <a:avLst/>
                      </a:prstGeom>
                      <a:noFill/>
                      <a:ln>
                        <a:noFill/>
                      </a:ln>
                      <a:effectLst/>
                      <a:extLst/>
                    </p:spPr>
                  </p:pic>
                </p:oleObj>
              </mc:Fallback>
            </mc:AlternateContent>
          </a:graphicData>
        </a:graphic>
      </p:graphicFrame>
      <p:sp>
        <p:nvSpPr>
          <p:cNvPr id="116" name="Rectangle 57"/>
          <p:cNvSpPr>
            <a:spLocks noChangeArrowheads="1"/>
          </p:cNvSpPr>
          <p:nvPr/>
        </p:nvSpPr>
        <p:spPr bwMode="auto">
          <a:xfrm>
            <a:off x="5483225" y="3782998"/>
            <a:ext cx="2257425" cy="42845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20000"/>
              </a:lnSpc>
              <a:buClr>
                <a:srgbClr val="C00000"/>
              </a:buClr>
              <a:buSzPct val="100000"/>
            </a:pPr>
            <a:r>
              <a:rPr lang="en-US" altLang="zh-CN" sz="2000" b="1" i="1" dirty="0" smtClean="0">
                <a:solidFill>
                  <a:srgbClr val="000066"/>
                </a:solidFill>
                <a:ea typeface="幼圆" panose="02010509060101010101" pitchFamily="49" charset="-122"/>
                <a:cs typeface="Times New Roman" panose="02020603050405020304" pitchFamily="18" charset="0"/>
                <a:sym typeface="Symbol" pitchFamily="18" charset="2"/>
              </a:rPr>
              <a:t></a:t>
            </a:r>
            <a:r>
              <a:rPr lang="en-US" altLang="zh-CN" sz="2000" b="1" baseline="-25000" dirty="0" smtClean="0">
                <a:solidFill>
                  <a:srgbClr val="000066"/>
                </a:solidFill>
                <a:ea typeface="幼圆" panose="02010509060101010101" pitchFamily="49" charset="-122"/>
                <a:cs typeface="Times New Roman" panose="02020603050405020304" pitchFamily="18" charset="0"/>
              </a:rPr>
              <a:t>z</a:t>
            </a:r>
            <a:r>
              <a:rPr lang="en-US" altLang="zh-CN" sz="2000" b="1" i="1" dirty="0" smtClean="0">
                <a:solidFill>
                  <a:srgbClr val="000066"/>
                </a:solidFill>
                <a:ea typeface="幼圆" panose="02010509060101010101" pitchFamily="49" charset="-122"/>
                <a:cs typeface="Times New Roman" panose="02020603050405020304" pitchFamily="18" charset="0"/>
              </a:rPr>
              <a:t>= </a:t>
            </a:r>
            <a:r>
              <a:rPr lang="en-US" altLang="zh-CN"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i="1" dirty="0" smtClean="0">
                <a:solidFill>
                  <a:srgbClr val="000066"/>
                </a:solidFill>
                <a:ea typeface="幼圆" panose="02010509060101010101" pitchFamily="49" charset="-122"/>
                <a:cs typeface="Times New Roman" panose="02020603050405020304" pitchFamily="18" charset="0"/>
              </a:rPr>
              <a:t> </a:t>
            </a:r>
            <a:r>
              <a:rPr lang="en-US" altLang="zh-CN"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t>
            </a:r>
            <a:r>
              <a:rPr lang="en-US" altLang="zh-CN" sz="2000" b="1" baseline="-25000" dirty="0" err="1" smtClean="0">
                <a:solidFill>
                  <a:srgbClr val="000066"/>
                </a:solidFill>
                <a:ea typeface="幼圆" panose="02010509060101010101" pitchFamily="49" charset="-122"/>
                <a:cs typeface="Times New Roman" panose="02020603050405020304" pitchFamily="18" charset="0"/>
                <a:sym typeface="Symbol" panose="05050102010706020507" pitchFamily="18" charset="2"/>
              </a:rPr>
              <a:t>i</a:t>
            </a:r>
            <a:r>
              <a:rPr lang="en-US" altLang="zh-CN" sz="20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H</a:t>
            </a:r>
            <a:r>
              <a:rPr lang="en-US" altLang="zh-CN" sz="20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i</a:t>
            </a:r>
            <a:endParaRPr lang="en-US" altLang="zh-CN" sz="2000" b="1" baseline="-25000" dirty="0">
              <a:solidFill>
                <a:srgbClr val="000066"/>
              </a:solidFill>
              <a:ea typeface="幼圆" panose="02010509060101010101" pitchFamily="49" charset="-122"/>
              <a:cs typeface="Times New Roman" panose="02020603050405020304" pitchFamily="18" charset="0"/>
            </a:endParaRPr>
          </a:p>
        </p:txBody>
      </p:sp>
      <p:sp>
        <p:nvSpPr>
          <p:cNvPr id="117" name="Text Box 38"/>
          <p:cNvSpPr txBox="1">
            <a:spLocks noChangeArrowheads="1"/>
          </p:cNvSpPr>
          <p:nvPr/>
        </p:nvSpPr>
        <p:spPr bwMode="auto">
          <a:xfrm>
            <a:off x="5600700" y="4294419"/>
            <a:ext cx="2238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365125"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20000"/>
              </a:lnSpc>
              <a:spcBef>
                <a:spcPct val="0"/>
              </a:spcBef>
              <a:spcAft>
                <a:spcPct val="25000"/>
              </a:spcAft>
              <a:buClr>
                <a:srgbClr val="C00000"/>
              </a:buClr>
              <a:buSzPct val="130000"/>
            </a:pPr>
            <a:r>
              <a:rPr lang="en-US" altLang="zh-CN" sz="2000" b="1" i="1" dirty="0" err="1" smtClean="0">
                <a:solidFill>
                  <a:srgbClr val="000066"/>
                </a:solidFill>
              </a:rPr>
              <a:t>K</a:t>
            </a:r>
            <a:r>
              <a:rPr lang="en-US" altLang="zh-CN" sz="2000" b="1" baseline="-25000" dirty="0" err="1" smtClean="0">
                <a:solidFill>
                  <a:srgbClr val="000066"/>
                </a:solidFill>
              </a:rPr>
              <a:t>a</a:t>
            </a:r>
            <a:r>
              <a:rPr lang="en-US" altLang="zh-CN" sz="2000" b="1" i="1" dirty="0" smtClean="0">
                <a:solidFill>
                  <a:srgbClr val="000066"/>
                </a:solidFill>
              </a:rPr>
              <a:t>= </a:t>
            </a:r>
            <a:r>
              <a:rPr lang="en-US" altLang="zh-CN" sz="2000" b="1" dirty="0" smtClean="0">
                <a:solidFill>
                  <a:srgbClr val="000066"/>
                </a:solidFill>
              </a:rPr>
              <a:t>tan</a:t>
            </a:r>
            <a:r>
              <a:rPr lang="en-US" altLang="zh-CN" sz="2000" b="1" baseline="30000" dirty="0" smtClean="0">
                <a:solidFill>
                  <a:srgbClr val="000066"/>
                </a:solidFill>
              </a:rPr>
              <a:t>2</a:t>
            </a:r>
            <a:r>
              <a:rPr lang="en-US" altLang="zh-CN" sz="2000" b="1" dirty="0" smtClean="0">
                <a:solidFill>
                  <a:srgbClr val="000066"/>
                </a:solidFill>
              </a:rPr>
              <a:t>(45</a:t>
            </a:r>
            <a:r>
              <a:rPr lang="en-US" altLang="zh-CN" sz="2000" b="1" dirty="0">
                <a:solidFill>
                  <a:srgbClr val="000066"/>
                </a:solidFill>
                <a:sym typeface="Symbol" pitchFamily="18" charset="2"/>
              </a:rPr>
              <a:t></a:t>
            </a:r>
            <a:r>
              <a:rPr lang="en-US" altLang="zh-CN" sz="2000" b="1" i="1" dirty="0" smtClean="0">
                <a:solidFill>
                  <a:srgbClr val="000066"/>
                </a:solidFill>
                <a:sym typeface="Symbol" pitchFamily="18" charset="2"/>
              </a:rPr>
              <a:t>-</a:t>
            </a:r>
            <a:r>
              <a:rPr lang="en-US" altLang="zh-CN" sz="2000" b="1" i="1" dirty="0" smtClean="0">
                <a:solidFill>
                  <a:srgbClr val="000066"/>
                </a:solidFill>
                <a:latin typeface="Symbol" pitchFamily="18" charset="2"/>
                <a:sym typeface="Symbol" pitchFamily="18" charset="2"/>
              </a:rPr>
              <a:t></a:t>
            </a:r>
            <a:r>
              <a:rPr lang="en-US" altLang="zh-CN" sz="2000" b="1" i="1" dirty="0" smtClean="0">
                <a:solidFill>
                  <a:srgbClr val="000066"/>
                </a:solidFill>
                <a:cs typeface="Times New Roman" panose="02020603050405020304" pitchFamily="18" charset="0"/>
                <a:sym typeface="Symbol" pitchFamily="18" charset="2"/>
              </a:rPr>
              <a:t> </a:t>
            </a:r>
            <a:r>
              <a:rPr lang="en-US" altLang="zh-CN" sz="2000" b="1" dirty="0" smtClean="0">
                <a:solidFill>
                  <a:srgbClr val="000066"/>
                </a:solidFill>
                <a:sym typeface="Symbol" pitchFamily="18" charset="2"/>
              </a:rPr>
              <a:t>/</a:t>
            </a:r>
            <a:r>
              <a:rPr lang="en-US" altLang="zh-CN" sz="2000" b="1" dirty="0">
                <a:solidFill>
                  <a:srgbClr val="000066"/>
                </a:solidFill>
                <a:sym typeface="Symbol" pitchFamily="18" charset="2"/>
              </a:rPr>
              <a:t>2</a:t>
            </a:r>
            <a:r>
              <a:rPr lang="en-US" altLang="zh-CN" sz="2000" b="1" i="1" dirty="0">
                <a:solidFill>
                  <a:srgbClr val="000066"/>
                </a:solidFill>
              </a:rPr>
              <a:t> </a:t>
            </a:r>
            <a:r>
              <a:rPr lang="en-US" altLang="zh-CN" sz="2000" b="1" dirty="0" smtClean="0">
                <a:solidFill>
                  <a:srgbClr val="000066"/>
                </a:solidFill>
              </a:rPr>
              <a:t>)</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grpSp>
        <p:nvGrpSpPr>
          <p:cNvPr id="6" name="组合 5"/>
          <p:cNvGrpSpPr/>
          <p:nvPr/>
        </p:nvGrpSpPr>
        <p:grpSpPr>
          <a:xfrm>
            <a:off x="7247679" y="1608138"/>
            <a:ext cx="1574059" cy="615950"/>
            <a:chOff x="7247679" y="1608138"/>
            <a:chExt cx="1574059" cy="615950"/>
          </a:xfrm>
        </p:grpSpPr>
        <p:sp>
          <p:nvSpPr>
            <p:cNvPr id="126" name="矩形 125"/>
            <p:cNvSpPr/>
            <p:nvPr/>
          </p:nvSpPr>
          <p:spPr>
            <a:xfrm>
              <a:off x="7445375" y="1756538"/>
              <a:ext cx="543739" cy="308482"/>
            </a:xfrm>
            <a:prstGeom prst="rect">
              <a:avLst/>
            </a:prstGeom>
            <a:noFill/>
            <a:ln w="12700">
              <a:noFill/>
            </a:ln>
          </p:spPr>
          <p:txBody>
            <a:bodyPr wrap="none">
              <a:spAutoFit/>
            </a:bodyPr>
            <a:lstStyle/>
            <a:p>
              <a:r>
                <a:rPr lang="zh-CN" altLang="en-US" b="1" dirty="0" smtClean="0">
                  <a:solidFill>
                    <a:srgbClr val="000066"/>
                  </a:solidFill>
                  <a:ea typeface="幼圆" panose="02010509060101010101" pitchFamily="49" charset="-122"/>
                  <a:cs typeface="Times New Roman" panose="02020603050405020304" pitchFamily="18" charset="0"/>
                  <a:sym typeface="Symbol" pitchFamily="18" charset="2"/>
                </a:rPr>
                <a:t>斜率</a:t>
              </a:r>
              <a:endParaRPr lang="zh-CN" altLang="en-US" i="1" baseline="-25000" dirty="0">
                <a:solidFill>
                  <a:srgbClr val="000066"/>
                </a:solidFill>
              </a:endParaRPr>
            </a:p>
          </p:txBody>
        </p:sp>
        <p:cxnSp>
          <p:nvCxnSpPr>
            <p:cNvPr id="128" name="直接连接符 127"/>
            <p:cNvCxnSpPr/>
            <p:nvPr/>
          </p:nvCxnSpPr>
          <p:spPr bwMode="auto">
            <a:xfrm flipV="1">
              <a:off x="7247679" y="2014308"/>
              <a:ext cx="248469" cy="132736"/>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1" name="Object 4"/>
            <p:cNvGraphicFramePr>
              <a:graphicFrameLocks noChangeAspect="1"/>
            </p:cNvGraphicFramePr>
            <p:nvPr>
              <p:extLst>
                <p:ext uri="{D42A27DB-BD31-4B8C-83A1-F6EECF244321}">
                  <p14:modId xmlns:p14="http://schemas.microsoft.com/office/powerpoint/2010/main" val="3841808814"/>
                </p:ext>
              </p:extLst>
            </p:nvPr>
          </p:nvGraphicFramePr>
          <p:xfrm>
            <a:off x="8020050" y="1608138"/>
            <a:ext cx="801688" cy="615950"/>
          </p:xfrm>
          <a:graphic>
            <a:graphicData uri="http://schemas.openxmlformats.org/presentationml/2006/ole">
              <mc:AlternateContent xmlns:mc="http://schemas.openxmlformats.org/markup-compatibility/2006">
                <mc:Choice xmlns:v="urn:schemas-microsoft-com:vml" Requires="v">
                  <p:oleObj spid="_x0000_s1711725" name="Equation" r:id="rId6" imgW="622080" imgH="380880" progId="Equation.DSMT4">
                    <p:embed/>
                  </p:oleObj>
                </mc:Choice>
                <mc:Fallback>
                  <p:oleObj name="Equation" r:id="rId6" imgW="622080" imgH="380880" progId="Equation.DSMT4">
                    <p:embed/>
                    <p:pic>
                      <p:nvPicPr>
                        <p:cNvPr id="55" name="Object 4"/>
                        <p:cNvPicPr>
                          <a:picLocks noChangeAspect="1" noChangeArrowheads="1"/>
                        </p:cNvPicPr>
                        <p:nvPr/>
                      </p:nvPicPr>
                      <p:blipFill>
                        <a:blip r:embed="rId7"/>
                        <a:srcRect/>
                        <a:stretch>
                          <a:fillRect/>
                        </a:stretch>
                      </p:blipFill>
                      <p:spPr bwMode="auto">
                        <a:xfrm>
                          <a:off x="8020050" y="1608138"/>
                          <a:ext cx="801688" cy="615950"/>
                        </a:xfrm>
                        <a:prstGeom prst="rect">
                          <a:avLst/>
                        </a:prstGeom>
                        <a:noFill/>
                        <a:ln>
                          <a:noFill/>
                        </a:ln>
                        <a:effectLst/>
                        <a:extLst/>
                      </p:spPr>
                    </p:pic>
                  </p:oleObj>
                </mc:Fallback>
              </mc:AlternateContent>
            </a:graphicData>
          </a:graphic>
        </p:graphicFrame>
      </p:grpSp>
      <p:cxnSp>
        <p:nvCxnSpPr>
          <p:cNvPr id="12" name="直接连接符 11"/>
          <p:cNvCxnSpPr/>
          <p:nvPr/>
        </p:nvCxnSpPr>
        <p:spPr bwMode="auto">
          <a:xfrm>
            <a:off x="6889750" y="1473200"/>
            <a:ext cx="0" cy="21590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p:cNvCxnSpPr/>
          <p:nvPr/>
        </p:nvCxnSpPr>
        <p:spPr bwMode="auto">
          <a:xfrm flipH="1">
            <a:off x="7219950" y="2686050"/>
            <a:ext cx="336550" cy="0"/>
          </a:xfrm>
          <a:prstGeom prst="line">
            <a:avLst/>
          </a:prstGeom>
          <a:noFill/>
          <a:ln w="381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04171648"/>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iterate type="wd">
                                    <p:tmPct val="100000"/>
                                  </p:iterate>
                                  <p:childTnLst>
                                    <p:set>
                                      <p:cBhvr>
                                        <p:cTn id="6" dur="1" fill="hold">
                                          <p:stCondLst>
                                            <p:cond delay="0"/>
                                          </p:stCondLst>
                                        </p:cTn>
                                        <p:tgtEl>
                                          <p:spTgt spid="81">
                                            <p:txEl>
                                              <p:pRg st="0" end="0"/>
                                            </p:txEl>
                                          </p:spTgt>
                                        </p:tgtEl>
                                        <p:attrNameLst>
                                          <p:attrName>style.visibility</p:attrName>
                                        </p:attrNameLst>
                                      </p:cBhvr>
                                      <p:to>
                                        <p:strVal val="visible"/>
                                      </p:to>
                                    </p:set>
                                    <p:animEffect transition="in" filter="checkerboard(across)">
                                      <p:cBhvr>
                                        <p:cTn id="7" dur="300"/>
                                        <p:tgtEl>
                                          <p:spTgt spid="81">
                                            <p:txEl>
                                              <p:pRg st="0" end="0"/>
                                            </p:txEl>
                                          </p:spTgt>
                                        </p:tgtEl>
                                      </p:cBhvr>
                                    </p:animEffect>
                                  </p:childTnLst>
                                </p:cTn>
                              </p:par>
                            </p:childTnLst>
                          </p:cTn>
                        </p:par>
                        <p:par>
                          <p:cTn id="8" fill="hold">
                            <p:stCondLst>
                              <p:cond delay="1500"/>
                            </p:stCondLst>
                            <p:childTnLst>
                              <p:par>
                                <p:cTn id="9" presetID="5" presetClass="entr" presetSubtype="10" fill="hold" grpId="0" nodeType="afterEffect">
                                  <p:stCondLst>
                                    <p:cond delay="0"/>
                                  </p:stCondLst>
                                  <p:iterate type="wd">
                                    <p:tmPct val="100000"/>
                                  </p:iterate>
                                  <p:childTnLst>
                                    <p:set>
                                      <p:cBhvr>
                                        <p:cTn id="10" dur="1" fill="hold">
                                          <p:stCondLst>
                                            <p:cond delay="0"/>
                                          </p:stCondLst>
                                        </p:cTn>
                                        <p:tgtEl>
                                          <p:spTgt spid="116"/>
                                        </p:tgtEl>
                                        <p:attrNameLst>
                                          <p:attrName>style.visibility</p:attrName>
                                        </p:attrNameLst>
                                      </p:cBhvr>
                                      <p:to>
                                        <p:strVal val="visible"/>
                                      </p:to>
                                    </p:set>
                                    <p:animEffect transition="in" filter="checkerboard(across)">
                                      <p:cBhvr>
                                        <p:cTn id="11" dur="300"/>
                                        <p:tgtEl>
                                          <p:spTgt spid="116"/>
                                        </p:tgtEl>
                                      </p:cBhvr>
                                    </p:animEffect>
                                  </p:childTnLst>
                                </p:cTn>
                              </p:par>
                            </p:childTnLst>
                          </p:cTn>
                        </p:par>
                        <p:par>
                          <p:cTn id="12" fill="hold">
                            <p:stCondLst>
                              <p:cond delay="3600"/>
                            </p:stCondLst>
                            <p:childTnLst>
                              <p:par>
                                <p:cTn id="13" presetID="1"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par>
                          <p:cTn id="15" fill="hold">
                            <p:stCondLst>
                              <p:cond delay="3600"/>
                            </p:stCondLst>
                            <p:childTnLst>
                              <p:par>
                                <p:cTn id="16" presetID="22" presetClass="entr" presetSubtype="1"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iterate type="wd">
                                    <p:tmPct val="100000"/>
                                  </p:iterate>
                                  <p:childTnLst>
                                    <p:set>
                                      <p:cBhvr>
                                        <p:cTn id="22" dur="1" fill="hold">
                                          <p:stCondLst>
                                            <p:cond delay="0"/>
                                          </p:stCondLst>
                                        </p:cTn>
                                        <p:tgtEl>
                                          <p:spTgt spid="81">
                                            <p:txEl>
                                              <p:pRg st="1" end="1"/>
                                            </p:txEl>
                                          </p:spTgt>
                                        </p:tgtEl>
                                        <p:attrNameLst>
                                          <p:attrName>style.visibility</p:attrName>
                                        </p:attrNameLst>
                                      </p:cBhvr>
                                      <p:to>
                                        <p:strVal val="visible"/>
                                      </p:to>
                                    </p:set>
                                    <p:animEffect transition="in" filter="checkerboard(across)">
                                      <p:cBhvr>
                                        <p:cTn id="23" dur="300"/>
                                        <p:tgtEl>
                                          <p:spTgt spid="81">
                                            <p:txEl>
                                              <p:pRg st="1" end="1"/>
                                            </p:txEl>
                                          </p:spTgt>
                                        </p:tgtEl>
                                      </p:cBhvr>
                                    </p:animEffect>
                                  </p:childTnLst>
                                </p:cTn>
                              </p:par>
                            </p:childTnLst>
                          </p:cTn>
                        </p:par>
                        <p:par>
                          <p:cTn id="24" fill="hold">
                            <p:stCondLst>
                              <p:cond delay="2400"/>
                            </p:stCondLst>
                            <p:childTnLst>
                              <p:par>
                                <p:cTn id="25" presetID="22" presetClass="entr" presetSubtype="8" fill="hold" grpId="0" nodeType="after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wipe(left)">
                                      <p:cBhvr>
                                        <p:cTn id="27" dur="500"/>
                                        <p:tgtEl>
                                          <p:spTgt spid="11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iterate type="wd">
                                    <p:tmPct val="100000"/>
                                  </p:iterate>
                                  <p:childTnLst>
                                    <p:set>
                                      <p:cBhvr>
                                        <p:cTn id="31" dur="1" fill="hold">
                                          <p:stCondLst>
                                            <p:cond delay="0"/>
                                          </p:stCondLst>
                                        </p:cTn>
                                        <p:tgtEl>
                                          <p:spTgt spid="81">
                                            <p:txEl>
                                              <p:pRg st="2" end="2"/>
                                            </p:txEl>
                                          </p:spTgt>
                                        </p:tgtEl>
                                        <p:attrNameLst>
                                          <p:attrName>style.visibility</p:attrName>
                                        </p:attrNameLst>
                                      </p:cBhvr>
                                      <p:to>
                                        <p:strVal val="visible"/>
                                      </p:to>
                                    </p:set>
                                    <p:animEffect transition="in" filter="checkerboard(across)">
                                      <p:cBhvr>
                                        <p:cTn id="32" dur="300"/>
                                        <p:tgtEl>
                                          <p:spTgt spid="81">
                                            <p:txEl>
                                              <p:pRg st="2" end="2"/>
                                            </p:txEl>
                                          </p:spTgt>
                                        </p:tgtEl>
                                      </p:cBhvr>
                                    </p:animEffect>
                                  </p:childTnLst>
                                </p:cTn>
                              </p:par>
                            </p:childTnLst>
                          </p:cTn>
                        </p:par>
                        <p:par>
                          <p:cTn id="33" fill="hold">
                            <p:stCondLst>
                              <p:cond delay="2400"/>
                            </p:stCondLst>
                            <p:childTnLst>
                              <p:par>
                                <p:cTn id="34" presetID="22" presetClass="entr" presetSubtype="8" fill="hold" nodeType="afterEffect">
                                  <p:stCondLst>
                                    <p:cond delay="0"/>
                                  </p:stCondLst>
                                  <p:childTnLst>
                                    <p:set>
                                      <p:cBhvr>
                                        <p:cTn id="35" dur="1" fill="hold">
                                          <p:stCondLst>
                                            <p:cond delay="0"/>
                                          </p:stCondLst>
                                        </p:cTn>
                                        <p:tgtEl>
                                          <p:spTgt spid="115"/>
                                        </p:tgtEl>
                                        <p:attrNameLst>
                                          <p:attrName>style.visibility</p:attrName>
                                        </p:attrNameLst>
                                      </p:cBhvr>
                                      <p:to>
                                        <p:strVal val="visible"/>
                                      </p:to>
                                    </p:set>
                                    <p:animEffect transition="in" filter="wipe(left)">
                                      <p:cBhvr>
                                        <p:cTn id="36" dur="500"/>
                                        <p:tgtEl>
                                          <p:spTgt spid="115"/>
                                        </p:tgtEl>
                                      </p:cBhvr>
                                    </p:animEffect>
                                  </p:childTnLst>
                                </p:cTn>
                              </p:par>
                            </p:childTnLst>
                          </p:cTn>
                        </p:par>
                        <p:par>
                          <p:cTn id="37" fill="hold">
                            <p:stCondLst>
                              <p:cond delay="2900"/>
                            </p:stCondLst>
                            <p:childTnLst>
                              <p:par>
                                <p:cTn id="38" presetID="22" presetClass="entr" presetSubtype="1"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par>
                          <p:cTn id="41" fill="hold">
                            <p:stCondLst>
                              <p:cond delay="3400"/>
                            </p:stCondLst>
                            <p:childTnLst>
                              <p:par>
                                <p:cTn id="42" presetID="31" presetClass="entr" presetSubtype="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1000" fill="hold"/>
                                        <p:tgtEl>
                                          <p:spTgt spid="6"/>
                                        </p:tgtEl>
                                        <p:attrNameLst>
                                          <p:attrName>ppt_w</p:attrName>
                                        </p:attrNameLst>
                                      </p:cBhvr>
                                      <p:tavLst>
                                        <p:tav tm="0">
                                          <p:val>
                                            <p:fltVal val="0"/>
                                          </p:val>
                                        </p:tav>
                                        <p:tav tm="100000">
                                          <p:val>
                                            <p:strVal val="#ppt_w"/>
                                          </p:val>
                                        </p:tav>
                                      </p:tavLst>
                                    </p:anim>
                                    <p:anim calcmode="lin" valueType="num">
                                      <p:cBhvr>
                                        <p:cTn id="45" dur="1000" fill="hold"/>
                                        <p:tgtEl>
                                          <p:spTgt spid="6"/>
                                        </p:tgtEl>
                                        <p:attrNameLst>
                                          <p:attrName>ppt_h</p:attrName>
                                        </p:attrNameLst>
                                      </p:cBhvr>
                                      <p:tavLst>
                                        <p:tav tm="0">
                                          <p:val>
                                            <p:fltVal val="0"/>
                                          </p:val>
                                        </p:tav>
                                        <p:tav tm="100000">
                                          <p:val>
                                            <p:strVal val="#ppt_h"/>
                                          </p:val>
                                        </p:tav>
                                      </p:tavLst>
                                    </p:anim>
                                    <p:anim calcmode="lin" valueType="num">
                                      <p:cBhvr>
                                        <p:cTn id="46" dur="1000" fill="hold"/>
                                        <p:tgtEl>
                                          <p:spTgt spid="6"/>
                                        </p:tgtEl>
                                        <p:attrNameLst>
                                          <p:attrName>style.rotation</p:attrName>
                                        </p:attrNameLst>
                                      </p:cBhvr>
                                      <p:tavLst>
                                        <p:tav tm="0">
                                          <p:val>
                                            <p:fltVal val="90"/>
                                          </p:val>
                                        </p:tav>
                                        <p:tav tm="100000">
                                          <p:val>
                                            <p:fltVal val="0"/>
                                          </p:val>
                                        </p:tav>
                                      </p:tavLst>
                                    </p:anim>
                                    <p:animEffect transition="in" filter="fade">
                                      <p:cBhvr>
                                        <p:cTn id="47" dur="10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repeatCount="300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repeatCount="3000" fill="hold" nodeType="click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down)">
                                      <p:cBhvr>
                                        <p:cTn id="57" dur="500"/>
                                        <p:tgtEl>
                                          <p:spTgt spid="67"/>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iterate type="wd">
                                    <p:tmPct val="100000"/>
                                  </p:iterate>
                                  <p:childTnLst>
                                    <p:set>
                                      <p:cBhvr>
                                        <p:cTn id="61" dur="1" fill="hold">
                                          <p:stCondLst>
                                            <p:cond delay="0"/>
                                          </p:stCondLst>
                                        </p:cTn>
                                        <p:tgtEl>
                                          <p:spTgt spid="81">
                                            <p:txEl>
                                              <p:pRg st="3" end="3"/>
                                            </p:txEl>
                                          </p:spTgt>
                                        </p:tgtEl>
                                        <p:attrNameLst>
                                          <p:attrName>style.visibility</p:attrName>
                                        </p:attrNameLst>
                                      </p:cBhvr>
                                      <p:to>
                                        <p:strVal val="visible"/>
                                      </p:to>
                                    </p:set>
                                    <p:animEffect transition="in" filter="checkerboard(across)">
                                      <p:cBhvr>
                                        <p:cTn id="62" dur="300"/>
                                        <p:tgtEl>
                                          <p:spTgt spid="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uiExpand="1" build="p"/>
      <p:bldP spid="116" grpId="0"/>
      <p:bldP spid="11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77</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2</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成层填土情况</a:t>
            </a:r>
            <a:endParaRPr kumimoji="1" lang="zh-CN" altLang="en-US" sz="4000" b="1" dirty="0">
              <a:solidFill>
                <a:srgbClr val="000066"/>
              </a:solidFill>
              <a:ea typeface="黑体" pitchFamily="2" charset="-122"/>
              <a:cs typeface="Times New Roman" panose="02020603050405020304" pitchFamily="18" charset="0"/>
            </a:endParaRPr>
          </a:p>
        </p:txBody>
      </p:sp>
      <p:sp>
        <p:nvSpPr>
          <p:cNvPr id="8" name="Rectangle 3"/>
          <p:cNvSpPr txBox="1">
            <a:spLocks noChangeArrowheads="1"/>
          </p:cNvSpPr>
          <p:nvPr/>
        </p:nvSpPr>
        <p:spPr bwMode="auto">
          <a:xfrm>
            <a:off x="432532" y="536298"/>
            <a:ext cx="20344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无黏性土</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bwMode="auto">
          <a:xfrm>
            <a:off x="1119188" y="2976141"/>
            <a:ext cx="33528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2405106" y="1363311"/>
            <a:ext cx="2066882"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p:cNvCxnSpPr/>
          <p:nvPr/>
        </p:nvCxnSpPr>
        <p:spPr bwMode="auto">
          <a:xfrm>
            <a:off x="2432145" y="2292308"/>
            <a:ext cx="203984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任意多边形 9"/>
          <p:cNvSpPr/>
          <p:nvPr/>
        </p:nvSpPr>
        <p:spPr bwMode="auto">
          <a:xfrm>
            <a:off x="1332907" y="1361689"/>
            <a:ext cx="1118769" cy="1607201"/>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dirty="0" smtClean="0">
              <a:ln>
                <a:noFill/>
              </a:ln>
              <a:solidFill>
                <a:schemeClr val="tx1"/>
              </a:solidFill>
              <a:effectLst/>
              <a:latin typeface="Times New Roman" pitchFamily="18" charset="0"/>
              <a:ea typeface="宋体" charset="-122"/>
            </a:endParaRPr>
          </a:p>
        </p:txBody>
      </p:sp>
      <p:grpSp>
        <p:nvGrpSpPr>
          <p:cNvPr id="43" name="Group 12"/>
          <p:cNvGrpSpPr>
            <a:grpSpLocks/>
          </p:cNvGrpSpPr>
          <p:nvPr/>
        </p:nvGrpSpPr>
        <p:grpSpPr bwMode="auto">
          <a:xfrm>
            <a:off x="2818823" y="1371868"/>
            <a:ext cx="454614" cy="63332"/>
            <a:chOff x="2274" y="1204"/>
            <a:chExt cx="270" cy="44"/>
          </a:xfrm>
        </p:grpSpPr>
        <p:sp>
          <p:nvSpPr>
            <p:cNvPr id="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12"/>
          <p:cNvGrpSpPr>
            <a:grpSpLocks/>
          </p:cNvGrpSpPr>
          <p:nvPr/>
        </p:nvGrpSpPr>
        <p:grpSpPr bwMode="auto">
          <a:xfrm>
            <a:off x="3519855" y="1374192"/>
            <a:ext cx="454614" cy="63332"/>
            <a:chOff x="2274" y="1204"/>
            <a:chExt cx="270" cy="44"/>
          </a:xfrm>
        </p:grpSpPr>
        <p:sp>
          <p:nvSpPr>
            <p:cNvPr id="5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 name="Line 89"/>
          <p:cNvSpPr>
            <a:spLocks noChangeAspect="1" noChangeShapeType="1"/>
          </p:cNvSpPr>
          <p:nvPr/>
        </p:nvSpPr>
        <p:spPr bwMode="auto">
          <a:xfrm rot="5400000">
            <a:off x="3724938" y="1833299"/>
            <a:ext cx="91584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Text Box 45"/>
          <p:cNvSpPr txBox="1">
            <a:spLocks noChangeArrowheads="1"/>
          </p:cNvSpPr>
          <p:nvPr/>
        </p:nvSpPr>
        <p:spPr bwMode="auto">
          <a:xfrm>
            <a:off x="2698830" y="1598728"/>
            <a:ext cx="156837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1</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1</a:t>
            </a:r>
            <a:r>
              <a:rPr kumimoji="1" lang="en-US" altLang="zh-CN" sz="2000" b="1" i="1" dirty="0" smtClean="0">
                <a:solidFill>
                  <a:srgbClr val="000066"/>
                </a:solidFill>
                <a:latin typeface="Times New Roman" panose="02020603050405020304" pitchFamily="18" charset="0"/>
              </a:rPr>
              <a:t>   c</a:t>
            </a:r>
            <a:r>
              <a:rPr kumimoji="1" lang="en-US" altLang="zh-CN" sz="2000" b="1" baseline="-25000" dirty="0" smtClean="0">
                <a:solidFill>
                  <a:srgbClr val="000066"/>
                </a:solidFill>
                <a:latin typeface="Times New Roman" panose="02020603050405020304" pitchFamily="18" charset="0"/>
              </a:rPr>
              <a:t>1</a:t>
            </a:r>
            <a:r>
              <a:rPr kumimoji="1" lang="en-US" altLang="zh-CN" sz="2000" b="1" dirty="0" smtClean="0">
                <a:solidFill>
                  <a:srgbClr val="000066"/>
                </a:solidFill>
                <a:latin typeface="Times New Roman" panose="02020603050405020304" pitchFamily="18" charset="0"/>
              </a:rPr>
              <a:t>=0</a:t>
            </a:r>
            <a:endParaRPr kumimoji="1" lang="en-US" altLang="zh-CN" sz="2000" b="1" dirty="0">
              <a:solidFill>
                <a:srgbClr val="000066"/>
              </a:solidFill>
              <a:latin typeface="Times New Roman" panose="02020603050405020304" pitchFamily="18" charset="0"/>
            </a:endParaRPr>
          </a:p>
        </p:txBody>
      </p:sp>
      <p:sp>
        <p:nvSpPr>
          <p:cNvPr id="86" name="Text Box 46"/>
          <p:cNvSpPr txBox="1">
            <a:spLocks noChangeArrowheads="1"/>
          </p:cNvSpPr>
          <p:nvPr/>
        </p:nvSpPr>
        <p:spPr bwMode="auto">
          <a:xfrm>
            <a:off x="2666874" y="2402850"/>
            <a:ext cx="1543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2</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2</a:t>
            </a:r>
            <a:r>
              <a:rPr kumimoji="1" lang="en-US" altLang="zh-CN" sz="2000" b="1" i="1" dirty="0" smtClean="0">
                <a:solidFill>
                  <a:srgbClr val="000066"/>
                </a:solidFill>
                <a:latin typeface="Times New Roman" panose="02020603050405020304" pitchFamily="18" charset="0"/>
              </a:rPr>
              <a:t>   c</a:t>
            </a:r>
            <a:r>
              <a:rPr kumimoji="1" lang="en-US" altLang="zh-CN" sz="2000" b="1" baseline="-25000" dirty="0" smtClean="0">
                <a:solidFill>
                  <a:srgbClr val="000066"/>
                </a:solidFill>
                <a:latin typeface="Times New Roman" panose="02020603050405020304" pitchFamily="18" charset="0"/>
              </a:rPr>
              <a:t>2</a:t>
            </a:r>
            <a:r>
              <a:rPr kumimoji="1" lang="en-US" altLang="zh-CN" sz="2000" b="1" dirty="0" smtClean="0">
                <a:solidFill>
                  <a:srgbClr val="000066"/>
                </a:solidFill>
                <a:latin typeface="Times New Roman" panose="02020603050405020304" pitchFamily="18" charset="0"/>
              </a:rPr>
              <a:t>=0</a:t>
            </a:r>
            <a:endParaRPr kumimoji="1" lang="en-US" altLang="zh-CN" sz="2000" b="1" dirty="0">
              <a:solidFill>
                <a:srgbClr val="000066"/>
              </a:solidFill>
              <a:latin typeface="Times New Roman" panose="02020603050405020304" pitchFamily="18" charset="0"/>
            </a:endParaRPr>
          </a:p>
        </p:txBody>
      </p:sp>
      <p:sp>
        <p:nvSpPr>
          <p:cNvPr id="87" name="Line 89"/>
          <p:cNvSpPr>
            <a:spLocks noChangeAspect="1" noChangeShapeType="1"/>
          </p:cNvSpPr>
          <p:nvPr/>
        </p:nvSpPr>
        <p:spPr bwMode="auto">
          <a:xfrm rot="5400000">
            <a:off x="3850945" y="2628200"/>
            <a:ext cx="673659"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Text Box 61"/>
          <p:cNvSpPr txBox="1">
            <a:spLocks noChangeArrowheads="1"/>
          </p:cNvSpPr>
          <p:nvPr/>
        </p:nvSpPr>
        <p:spPr bwMode="auto">
          <a:xfrm>
            <a:off x="4255707" y="1553319"/>
            <a:ext cx="547534" cy="37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92" name="Text Box 62"/>
          <p:cNvSpPr txBox="1">
            <a:spLocks noChangeArrowheads="1"/>
          </p:cNvSpPr>
          <p:nvPr/>
        </p:nvSpPr>
        <p:spPr bwMode="auto">
          <a:xfrm>
            <a:off x="4208082" y="2374470"/>
            <a:ext cx="547534" cy="37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a:solidFill>
                  <a:srgbClr val="000066"/>
                </a:solidFill>
                <a:latin typeface="Times New Roman" panose="02020603050405020304" pitchFamily="18" charset="0"/>
              </a:rPr>
              <a:t>H</a:t>
            </a:r>
            <a:r>
              <a:rPr kumimoji="1" lang="en-US" altLang="zh-CN" sz="2400" b="1" baseline="-25000">
                <a:solidFill>
                  <a:srgbClr val="000066"/>
                </a:solidFill>
                <a:latin typeface="Times New Roman" panose="02020603050405020304" pitchFamily="18" charset="0"/>
              </a:rPr>
              <a:t>2</a:t>
            </a:r>
            <a:endParaRPr kumimoji="1" lang="en-US" altLang="zh-CN" sz="2400" b="1">
              <a:solidFill>
                <a:srgbClr val="000066"/>
              </a:solidFill>
              <a:latin typeface="Times New Roman" panose="02020603050405020304" pitchFamily="18" charset="0"/>
            </a:endParaRPr>
          </a:p>
        </p:txBody>
      </p:sp>
      <p:grpSp>
        <p:nvGrpSpPr>
          <p:cNvPr id="3" name="组合 2"/>
          <p:cNvGrpSpPr/>
          <p:nvPr/>
        </p:nvGrpSpPr>
        <p:grpSpPr>
          <a:xfrm>
            <a:off x="5504368" y="1387034"/>
            <a:ext cx="2569657" cy="1657791"/>
            <a:chOff x="5504368" y="1387034"/>
            <a:chExt cx="2569657" cy="1657791"/>
          </a:xfrm>
        </p:grpSpPr>
        <p:grpSp>
          <p:nvGrpSpPr>
            <p:cNvPr id="2" name="组合 1"/>
            <p:cNvGrpSpPr/>
            <p:nvPr/>
          </p:nvGrpSpPr>
          <p:grpSpPr>
            <a:xfrm>
              <a:off x="5573047" y="1387034"/>
              <a:ext cx="937844" cy="1633716"/>
              <a:chOff x="5239672" y="1460090"/>
              <a:chExt cx="641824" cy="2122447"/>
            </a:xfrm>
          </p:grpSpPr>
          <p:sp>
            <p:nvSpPr>
              <p:cNvPr id="125" name="任意多边形 124"/>
              <p:cNvSpPr/>
              <p:nvPr/>
            </p:nvSpPr>
            <p:spPr bwMode="auto">
              <a:xfrm>
                <a:off x="5239672" y="1460090"/>
                <a:ext cx="641555" cy="2116394"/>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55" h="2116394">
                    <a:moveTo>
                      <a:pt x="0" y="0"/>
                    </a:moveTo>
                    <a:lnTo>
                      <a:pt x="0" y="2116394"/>
                    </a:lnTo>
                    <a:lnTo>
                      <a:pt x="464574" y="2116394"/>
                    </a:lnTo>
                    <a:lnTo>
                      <a:pt x="331838" y="1216742"/>
                    </a:lnTo>
                    <a:lnTo>
                      <a:pt x="641555" y="1216742"/>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4" name="直接连接符 103"/>
              <p:cNvCxnSpPr/>
              <p:nvPr/>
            </p:nvCxnSpPr>
            <p:spPr bwMode="auto">
              <a:xfrm>
                <a:off x="5246879" y="1471684"/>
                <a:ext cx="634617" cy="1194179"/>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p:nvPr/>
            </p:nvCxnSpPr>
            <p:spPr bwMode="auto">
              <a:xfrm>
                <a:off x="5241757" y="1466423"/>
                <a:ext cx="0" cy="211611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5575805" y="2672687"/>
                <a:ext cx="129654" cy="90075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3" name="直接连接符 92"/>
            <p:cNvCxnSpPr/>
            <p:nvPr/>
          </p:nvCxnSpPr>
          <p:spPr bwMode="auto">
            <a:xfrm>
              <a:off x="5512045" y="3015973"/>
              <a:ext cx="256198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5504625" y="1390983"/>
              <a:ext cx="2569400"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5504368" y="2314303"/>
              <a:ext cx="2569657"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2" name="Object 1"/>
            <p:cNvGraphicFramePr>
              <a:graphicFrameLocks noChangeAspect="1"/>
            </p:cNvGraphicFramePr>
            <p:nvPr>
              <p:extLst>
                <p:ext uri="{D42A27DB-BD31-4B8C-83A1-F6EECF244321}">
                  <p14:modId xmlns:p14="http://schemas.microsoft.com/office/powerpoint/2010/main" val="4281703878"/>
                </p:ext>
              </p:extLst>
            </p:nvPr>
          </p:nvGraphicFramePr>
          <p:xfrm>
            <a:off x="6559399" y="1959002"/>
            <a:ext cx="844550" cy="338138"/>
          </p:xfrm>
          <a:graphic>
            <a:graphicData uri="http://schemas.openxmlformats.org/presentationml/2006/ole">
              <mc:AlternateContent xmlns:mc="http://schemas.openxmlformats.org/markup-compatibility/2006">
                <mc:Choice xmlns:v="urn:schemas-microsoft-com:vml" Requires="v">
                  <p:oleObj spid="_x0000_s1747461" name="公式" r:id="rId4" imgW="571320" imgH="228600" progId="Equation.3">
                    <p:embed/>
                  </p:oleObj>
                </mc:Choice>
                <mc:Fallback>
                  <p:oleObj name="公式" r:id="rId4" imgW="571320" imgH="228600" progId="Equation.3">
                    <p:embed/>
                    <p:pic>
                      <p:nvPicPr>
                        <p:cNvPr id="762881" name="Object 1"/>
                        <p:cNvPicPr>
                          <a:picLocks noChangeAspect="1" noChangeArrowheads="1"/>
                        </p:cNvPicPr>
                        <p:nvPr/>
                      </p:nvPicPr>
                      <p:blipFill>
                        <a:blip r:embed="rId5"/>
                        <a:srcRect/>
                        <a:stretch>
                          <a:fillRect/>
                        </a:stretch>
                      </p:blipFill>
                      <p:spPr bwMode="auto">
                        <a:xfrm>
                          <a:off x="6559399" y="1959002"/>
                          <a:ext cx="844550" cy="338138"/>
                        </a:xfrm>
                        <a:prstGeom prst="rect">
                          <a:avLst/>
                        </a:prstGeom>
                        <a:noFill/>
                        <a:ln>
                          <a:noFill/>
                        </a:ln>
                        <a:effectLst/>
                        <a:extLst/>
                      </p:spPr>
                    </p:pic>
                  </p:oleObj>
                </mc:Fallback>
              </mc:AlternateContent>
            </a:graphicData>
          </a:graphic>
        </p:graphicFrame>
        <p:graphicFrame>
          <p:nvGraphicFramePr>
            <p:cNvPr id="64" name="Object 2"/>
            <p:cNvGraphicFramePr>
              <a:graphicFrameLocks noChangeAspect="1"/>
            </p:cNvGraphicFramePr>
            <p:nvPr>
              <p:extLst>
                <p:ext uri="{D42A27DB-BD31-4B8C-83A1-F6EECF244321}">
                  <p14:modId xmlns:p14="http://schemas.microsoft.com/office/powerpoint/2010/main" val="2024812639"/>
                </p:ext>
              </p:extLst>
            </p:nvPr>
          </p:nvGraphicFramePr>
          <p:xfrm>
            <a:off x="6207125" y="2336800"/>
            <a:ext cx="788988" cy="319088"/>
          </p:xfrm>
          <a:graphic>
            <a:graphicData uri="http://schemas.openxmlformats.org/presentationml/2006/ole">
              <mc:AlternateContent xmlns:mc="http://schemas.openxmlformats.org/markup-compatibility/2006">
                <mc:Choice xmlns:v="urn:schemas-microsoft-com:vml" Requires="v">
                  <p:oleObj spid="_x0000_s1747462" name="Equation" r:id="rId6" imgW="533160" imgH="215640" progId="Equation.DSMT4">
                    <p:embed/>
                  </p:oleObj>
                </mc:Choice>
                <mc:Fallback>
                  <p:oleObj name="Equation" r:id="rId6" imgW="533160" imgH="215640" progId="Equation.DSMT4">
                    <p:embed/>
                    <p:pic>
                      <p:nvPicPr>
                        <p:cNvPr id="762882" name="Object 2"/>
                        <p:cNvPicPr>
                          <a:picLocks noChangeAspect="1" noChangeArrowheads="1"/>
                        </p:cNvPicPr>
                        <p:nvPr/>
                      </p:nvPicPr>
                      <p:blipFill>
                        <a:blip r:embed="rId7"/>
                        <a:srcRect/>
                        <a:stretch>
                          <a:fillRect/>
                        </a:stretch>
                      </p:blipFill>
                      <p:spPr bwMode="auto">
                        <a:xfrm>
                          <a:off x="6207125" y="2336800"/>
                          <a:ext cx="788988" cy="319088"/>
                        </a:xfrm>
                        <a:prstGeom prst="rect">
                          <a:avLst/>
                        </a:prstGeom>
                        <a:noFill/>
                        <a:ln>
                          <a:noFill/>
                        </a:ln>
                        <a:effectLst/>
                        <a:extLst/>
                      </p:spPr>
                    </p:pic>
                  </p:oleObj>
                </mc:Fallback>
              </mc:AlternateContent>
            </a:graphicData>
          </a:graphic>
        </p:graphicFrame>
        <p:graphicFrame>
          <p:nvGraphicFramePr>
            <p:cNvPr id="65" name="Object 3"/>
            <p:cNvGraphicFramePr>
              <a:graphicFrameLocks noChangeAspect="1"/>
            </p:cNvGraphicFramePr>
            <p:nvPr>
              <p:extLst>
                <p:ext uri="{D42A27DB-BD31-4B8C-83A1-F6EECF244321}">
                  <p14:modId xmlns:p14="http://schemas.microsoft.com/office/powerpoint/2010/main" val="101068244"/>
                </p:ext>
              </p:extLst>
            </p:nvPr>
          </p:nvGraphicFramePr>
          <p:xfrm>
            <a:off x="6337300" y="2724150"/>
            <a:ext cx="1577975" cy="320675"/>
          </p:xfrm>
          <a:graphic>
            <a:graphicData uri="http://schemas.openxmlformats.org/presentationml/2006/ole">
              <mc:AlternateContent xmlns:mc="http://schemas.openxmlformats.org/markup-compatibility/2006">
                <mc:Choice xmlns:v="urn:schemas-microsoft-com:vml" Requires="v">
                  <p:oleObj spid="_x0000_s1747463" name="Equation" r:id="rId8" imgW="1066680" imgH="215640" progId="Equation.DSMT4">
                    <p:embed/>
                  </p:oleObj>
                </mc:Choice>
                <mc:Fallback>
                  <p:oleObj name="Equation" r:id="rId8" imgW="1066680" imgH="215640" progId="Equation.DSMT4">
                    <p:embed/>
                    <p:pic>
                      <p:nvPicPr>
                        <p:cNvPr id="762883" name="Object 3"/>
                        <p:cNvPicPr>
                          <a:picLocks noChangeAspect="1" noChangeArrowheads="1"/>
                        </p:cNvPicPr>
                        <p:nvPr/>
                      </p:nvPicPr>
                      <p:blipFill>
                        <a:blip r:embed="rId9"/>
                        <a:srcRect/>
                        <a:stretch>
                          <a:fillRect/>
                        </a:stretch>
                      </p:blipFill>
                      <p:spPr bwMode="auto">
                        <a:xfrm>
                          <a:off x="6337300" y="2724150"/>
                          <a:ext cx="1577975" cy="320675"/>
                        </a:xfrm>
                        <a:prstGeom prst="rect">
                          <a:avLst/>
                        </a:prstGeom>
                        <a:noFill/>
                        <a:ln>
                          <a:noFill/>
                        </a:ln>
                        <a:effectLst/>
                        <a:extLst/>
                      </p:spPr>
                    </p:pic>
                  </p:oleObj>
                </mc:Fallback>
              </mc:AlternateContent>
            </a:graphicData>
          </a:graphic>
        </p:graphicFrame>
      </p:grpSp>
      <p:sp>
        <p:nvSpPr>
          <p:cNvPr id="83" name="矩形 82"/>
          <p:cNvSpPr/>
          <p:nvPr/>
        </p:nvSpPr>
        <p:spPr>
          <a:xfrm>
            <a:off x="638175" y="4080575"/>
            <a:ext cx="1752600" cy="517065"/>
          </a:xfrm>
          <a:prstGeom prst="rect">
            <a:avLst/>
          </a:prstGeom>
        </p:spPr>
        <p:txBody>
          <a:bodyPr wrap="square">
            <a:spAutoFit/>
          </a:bodyPr>
          <a:lstStyle/>
          <a:p>
            <a:r>
              <a:rPr lang="en-US" altLang="zh-CN" sz="2400" b="1" i="1" dirty="0" smtClean="0">
                <a:solidFill>
                  <a:srgbClr val="A50021"/>
                </a:solidFill>
                <a:ea typeface="幼圆" panose="02010509060101010101" pitchFamily="49" charset="-122"/>
                <a:cs typeface="Times New Roman" panose="02020603050405020304" pitchFamily="18" charset="0"/>
                <a:sym typeface="Symbol" pitchFamily="18" charset="2"/>
              </a:rPr>
              <a:t>p</a:t>
            </a:r>
            <a:r>
              <a:rPr lang="en-US" altLang="zh-CN" sz="2400" b="1" baseline="-25000" dirty="0" smtClean="0">
                <a:solidFill>
                  <a:srgbClr val="A50021"/>
                </a:solidFill>
                <a:ea typeface="幼圆" panose="02010509060101010101" pitchFamily="49" charset="-122"/>
                <a:cs typeface="Times New Roman" panose="02020603050405020304" pitchFamily="18" charset="0"/>
                <a:sym typeface="Symbol" pitchFamily="18" charset="2"/>
              </a:rPr>
              <a:t>a</a:t>
            </a:r>
            <a:r>
              <a:rPr lang="zh-CN" altLang="en-US" sz="2400" b="1" dirty="0" smtClean="0">
                <a:solidFill>
                  <a:srgbClr val="A50021"/>
                </a:solidFill>
                <a:ea typeface="幼圆" panose="02010509060101010101" pitchFamily="49" charset="-122"/>
                <a:cs typeface="Times New Roman" panose="02020603050405020304" pitchFamily="18" charset="0"/>
                <a:sym typeface="Symbol" pitchFamily="18" charset="2"/>
              </a:rPr>
              <a:t>分布特点</a:t>
            </a:r>
            <a:endParaRPr lang="zh-CN" altLang="en-US" sz="2400" i="1" baseline="-25000" dirty="0">
              <a:solidFill>
                <a:srgbClr val="A50021"/>
              </a:solidFill>
            </a:endParaRPr>
          </a:p>
        </p:txBody>
      </p:sp>
      <p:grpSp>
        <p:nvGrpSpPr>
          <p:cNvPr id="4" name="组合 3"/>
          <p:cNvGrpSpPr/>
          <p:nvPr/>
        </p:nvGrpSpPr>
        <p:grpSpPr>
          <a:xfrm>
            <a:off x="2483095" y="3481209"/>
            <a:ext cx="2793755" cy="2169831"/>
            <a:chOff x="2483095" y="3481209"/>
            <a:chExt cx="2793755" cy="2169831"/>
          </a:xfrm>
        </p:grpSpPr>
        <p:grpSp>
          <p:nvGrpSpPr>
            <p:cNvPr id="69" name="组合 68"/>
            <p:cNvGrpSpPr/>
            <p:nvPr/>
          </p:nvGrpSpPr>
          <p:grpSpPr>
            <a:xfrm>
              <a:off x="2544086" y="3481209"/>
              <a:ext cx="2223908" cy="1633716"/>
              <a:chOff x="5239673" y="1460090"/>
              <a:chExt cx="1521959" cy="2122447"/>
            </a:xfrm>
          </p:grpSpPr>
          <p:sp>
            <p:nvSpPr>
              <p:cNvPr id="70" name="任意多边形 69"/>
              <p:cNvSpPr/>
              <p:nvPr/>
            </p:nvSpPr>
            <p:spPr bwMode="auto">
              <a:xfrm>
                <a:off x="5239673" y="1460090"/>
                <a:ext cx="642848" cy="2116394"/>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464574"/>
                  <a:gd name="connsiteY0" fmla="*/ 0 h 2116394"/>
                  <a:gd name="connsiteX1" fmla="*/ 0 w 464574"/>
                  <a:gd name="connsiteY1" fmla="*/ 2116394 h 2116394"/>
                  <a:gd name="connsiteX2" fmla="*/ 464574 w 464574"/>
                  <a:gd name="connsiteY2" fmla="*/ 2116394 h 2116394"/>
                  <a:gd name="connsiteX3" fmla="*/ 331838 w 464574"/>
                  <a:gd name="connsiteY3" fmla="*/ 1216742 h 2116394"/>
                  <a:gd name="connsiteX4" fmla="*/ 0 w 464574"/>
                  <a:gd name="connsiteY4" fmla="*/ 0 h 2116394"/>
                  <a:gd name="connsiteX0" fmla="*/ 0 w 464574"/>
                  <a:gd name="connsiteY0" fmla="*/ 0 h 2116394"/>
                  <a:gd name="connsiteX1" fmla="*/ 0 w 464574"/>
                  <a:gd name="connsiteY1" fmla="*/ 2116394 h 2116394"/>
                  <a:gd name="connsiteX2" fmla="*/ 464574 w 464574"/>
                  <a:gd name="connsiteY2" fmla="*/ 2116394 h 2116394"/>
                  <a:gd name="connsiteX3" fmla="*/ 299093 w 464574"/>
                  <a:gd name="connsiteY3" fmla="*/ 1216742 h 2116394"/>
                  <a:gd name="connsiteX4" fmla="*/ 0 w 464574"/>
                  <a:gd name="connsiteY4" fmla="*/ 0 h 2116394"/>
                  <a:gd name="connsiteX0" fmla="*/ 0 w 642848"/>
                  <a:gd name="connsiteY0" fmla="*/ 0 h 2116394"/>
                  <a:gd name="connsiteX1" fmla="*/ 0 w 642848"/>
                  <a:gd name="connsiteY1" fmla="*/ 2116394 h 2116394"/>
                  <a:gd name="connsiteX2" fmla="*/ 642848 w 642848"/>
                  <a:gd name="connsiteY2" fmla="*/ 2116394 h 2116394"/>
                  <a:gd name="connsiteX3" fmla="*/ 299093 w 642848"/>
                  <a:gd name="connsiteY3" fmla="*/ 1216742 h 2116394"/>
                  <a:gd name="connsiteX4" fmla="*/ 0 w 642848"/>
                  <a:gd name="connsiteY4" fmla="*/ 0 h 2116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848" h="2116394">
                    <a:moveTo>
                      <a:pt x="0" y="0"/>
                    </a:moveTo>
                    <a:lnTo>
                      <a:pt x="0" y="2116394"/>
                    </a:lnTo>
                    <a:lnTo>
                      <a:pt x="642848" y="2116394"/>
                    </a:lnTo>
                    <a:lnTo>
                      <a:pt x="299093" y="1216742"/>
                    </a:lnTo>
                    <a:lnTo>
                      <a:pt x="0" y="0"/>
                    </a:lnTo>
                    <a:close/>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3" name="直接连接符 72"/>
              <p:cNvCxnSpPr/>
              <p:nvPr/>
            </p:nvCxnSpPr>
            <p:spPr bwMode="auto">
              <a:xfrm>
                <a:off x="5241757" y="1466423"/>
                <a:ext cx="0" cy="211611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任意多边形 106"/>
              <p:cNvSpPr/>
              <p:nvPr/>
            </p:nvSpPr>
            <p:spPr bwMode="auto">
              <a:xfrm>
                <a:off x="6193684" y="1463143"/>
                <a:ext cx="567948" cy="2116396"/>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464574"/>
                  <a:gd name="connsiteY0" fmla="*/ 0 h 2116394"/>
                  <a:gd name="connsiteX1" fmla="*/ 0 w 464574"/>
                  <a:gd name="connsiteY1" fmla="*/ 2116394 h 2116394"/>
                  <a:gd name="connsiteX2" fmla="*/ 464574 w 464574"/>
                  <a:gd name="connsiteY2" fmla="*/ 2116394 h 2116394"/>
                  <a:gd name="connsiteX3" fmla="*/ 331838 w 464574"/>
                  <a:gd name="connsiteY3" fmla="*/ 1216742 h 2116394"/>
                  <a:gd name="connsiteX4" fmla="*/ 0 w 464574"/>
                  <a:gd name="connsiteY4" fmla="*/ 0 h 2116394"/>
                  <a:gd name="connsiteX0" fmla="*/ 0 w 464574"/>
                  <a:gd name="connsiteY0" fmla="*/ 0 h 2116394"/>
                  <a:gd name="connsiteX1" fmla="*/ 0 w 464574"/>
                  <a:gd name="connsiteY1" fmla="*/ 2116394 h 2116394"/>
                  <a:gd name="connsiteX2" fmla="*/ 464574 w 464574"/>
                  <a:gd name="connsiteY2" fmla="*/ 2116394 h 2116394"/>
                  <a:gd name="connsiteX3" fmla="*/ 299093 w 464574"/>
                  <a:gd name="connsiteY3" fmla="*/ 1216742 h 2116394"/>
                  <a:gd name="connsiteX4" fmla="*/ 0 w 464574"/>
                  <a:gd name="connsiteY4" fmla="*/ 0 h 2116394"/>
                  <a:gd name="connsiteX0" fmla="*/ 0 w 642848"/>
                  <a:gd name="connsiteY0" fmla="*/ 0 h 2116394"/>
                  <a:gd name="connsiteX1" fmla="*/ 0 w 642848"/>
                  <a:gd name="connsiteY1" fmla="*/ 2116394 h 2116394"/>
                  <a:gd name="connsiteX2" fmla="*/ 642848 w 642848"/>
                  <a:gd name="connsiteY2" fmla="*/ 2116394 h 2116394"/>
                  <a:gd name="connsiteX3" fmla="*/ 299093 w 642848"/>
                  <a:gd name="connsiteY3" fmla="*/ 1216742 h 2116394"/>
                  <a:gd name="connsiteX4" fmla="*/ 0 w 642848"/>
                  <a:gd name="connsiteY4" fmla="*/ 0 h 2116394"/>
                  <a:gd name="connsiteX0" fmla="*/ 0 w 642848"/>
                  <a:gd name="connsiteY0" fmla="*/ 0 h 2116394"/>
                  <a:gd name="connsiteX1" fmla="*/ 0 w 642848"/>
                  <a:gd name="connsiteY1" fmla="*/ 2116394 h 2116394"/>
                  <a:gd name="connsiteX2" fmla="*/ 642848 w 642848"/>
                  <a:gd name="connsiteY2" fmla="*/ 2116394 h 2116394"/>
                  <a:gd name="connsiteX3" fmla="*/ 357081 w 642848"/>
                  <a:gd name="connsiteY3" fmla="*/ 1202982 h 2116394"/>
                  <a:gd name="connsiteX4" fmla="*/ 0 w 642848"/>
                  <a:gd name="connsiteY4" fmla="*/ 0 h 2116394"/>
                  <a:gd name="connsiteX0" fmla="*/ 0 w 642848"/>
                  <a:gd name="connsiteY0" fmla="*/ 0 h 2116394"/>
                  <a:gd name="connsiteX1" fmla="*/ 0 w 642848"/>
                  <a:gd name="connsiteY1" fmla="*/ 2116394 h 2116394"/>
                  <a:gd name="connsiteX2" fmla="*/ 642848 w 642848"/>
                  <a:gd name="connsiteY2" fmla="*/ 2116394 h 2116394"/>
                  <a:gd name="connsiteX3" fmla="*/ 415069 w 642848"/>
                  <a:gd name="connsiteY3" fmla="*/ 1216743 h 2116394"/>
                  <a:gd name="connsiteX4" fmla="*/ 0 w 642848"/>
                  <a:gd name="connsiteY4" fmla="*/ 0 h 2116394"/>
                  <a:gd name="connsiteX0" fmla="*/ 0 w 567948"/>
                  <a:gd name="connsiteY0" fmla="*/ 0 h 2116394"/>
                  <a:gd name="connsiteX1" fmla="*/ 0 w 567948"/>
                  <a:gd name="connsiteY1" fmla="*/ 2116394 h 2116394"/>
                  <a:gd name="connsiteX2" fmla="*/ 567948 w 567948"/>
                  <a:gd name="connsiteY2" fmla="*/ 2116394 h 2116394"/>
                  <a:gd name="connsiteX3" fmla="*/ 415069 w 567948"/>
                  <a:gd name="connsiteY3" fmla="*/ 1216743 h 2116394"/>
                  <a:gd name="connsiteX4" fmla="*/ 0 w 567948"/>
                  <a:gd name="connsiteY4" fmla="*/ 0 h 2116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948" h="2116394">
                    <a:moveTo>
                      <a:pt x="0" y="0"/>
                    </a:moveTo>
                    <a:lnTo>
                      <a:pt x="0" y="2116394"/>
                    </a:lnTo>
                    <a:lnTo>
                      <a:pt x="567948" y="2116394"/>
                    </a:lnTo>
                    <a:lnTo>
                      <a:pt x="415069" y="1216743"/>
                    </a:lnTo>
                    <a:lnTo>
                      <a:pt x="0" y="0"/>
                    </a:lnTo>
                    <a:close/>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cxnSp>
          <p:nvCxnSpPr>
            <p:cNvPr id="75" name="直接连接符 74"/>
            <p:cNvCxnSpPr/>
            <p:nvPr/>
          </p:nvCxnSpPr>
          <p:spPr bwMode="auto">
            <a:xfrm>
              <a:off x="2483095" y="5110148"/>
              <a:ext cx="273660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p:cNvCxnSpPr/>
            <p:nvPr/>
          </p:nvCxnSpPr>
          <p:spPr bwMode="auto">
            <a:xfrm>
              <a:off x="2522192" y="3485158"/>
              <a:ext cx="2734500"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p:cNvCxnSpPr/>
            <p:nvPr/>
          </p:nvCxnSpPr>
          <p:spPr bwMode="auto">
            <a:xfrm>
              <a:off x="2532568" y="4408478"/>
              <a:ext cx="2744282"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2"/>
            <p:cNvSpPr txBox="1">
              <a:spLocks noChangeArrowheads="1"/>
            </p:cNvSpPr>
            <p:nvPr/>
          </p:nvSpPr>
          <p:spPr bwMode="auto">
            <a:xfrm>
              <a:off x="3038475" y="5133975"/>
              <a:ext cx="1619250" cy="517065"/>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A50021"/>
                  </a:solidFill>
                  <a:latin typeface="Symbol" panose="05050102010706020507" pitchFamily="18" charset="2"/>
                  <a:ea typeface="黑体" panose="02010609060101010101" pitchFamily="49" charset="-122"/>
                </a:rPr>
                <a:t></a:t>
              </a:r>
              <a:r>
                <a:rPr kumimoji="1" lang="en-US" altLang="zh-CN" sz="2400" b="1" baseline="-25000" dirty="0" smtClean="0">
                  <a:solidFill>
                    <a:srgbClr val="A50021"/>
                  </a:solidFill>
                  <a:latin typeface="Symbol" panose="05050102010706020507" pitchFamily="18" charset="2"/>
                  <a:ea typeface="黑体" panose="02010609060101010101" pitchFamily="49" charset="-122"/>
                </a:rPr>
                <a:t>1</a:t>
              </a:r>
              <a:r>
                <a:rPr kumimoji="1" lang="en-US" altLang="zh-CN" sz="2400" b="1" i="1" baseline="-25000" dirty="0" smtClean="0">
                  <a:solidFill>
                    <a:srgbClr val="A50021"/>
                  </a:solidFill>
                  <a:latin typeface="Symbol" panose="05050102010706020507" pitchFamily="18" charset="2"/>
                  <a:ea typeface="黑体" panose="02010609060101010101" pitchFamily="49" charset="-122"/>
                </a:rPr>
                <a:t> </a:t>
              </a:r>
              <a:r>
                <a:rPr kumimoji="1" lang="en-US" altLang="zh-CN" sz="2400" b="1" i="1" dirty="0">
                  <a:solidFill>
                    <a:srgbClr val="A50021"/>
                  </a:solidFill>
                  <a:latin typeface="Symbol" panose="05050102010706020507" pitchFamily="18" charset="2"/>
                  <a:ea typeface="黑体" panose="02010609060101010101" pitchFamily="49" charset="-122"/>
                  <a:sym typeface="Symbol" panose="05050102010706020507" pitchFamily="18" charset="2"/>
                </a:rPr>
                <a:t>=</a:t>
              </a:r>
              <a:r>
                <a:rPr kumimoji="1" lang="en-US" altLang="zh-CN" sz="2400" b="1" i="1" dirty="0">
                  <a:solidFill>
                    <a:srgbClr val="A50021"/>
                  </a:solidFill>
                  <a:latin typeface="Symbol" panose="05050102010706020507" pitchFamily="18" charset="2"/>
                  <a:ea typeface="黑体" panose="02010609060101010101" pitchFamily="49" charset="-122"/>
                </a:rPr>
                <a:t> </a:t>
              </a:r>
              <a:r>
                <a:rPr kumimoji="1" lang="en-US" altLang="zh-CN" sz="2400" b="1" baseline="-25000" dirty="0" smtClean="0">
                  <a:solidFill>
                    <a:srgbClr val="A50021"/>
                  </a:solidFill>
                  <a:latin typeface="Symbol" panose="05050102010706020507" pitchFamily="18" charset="2"/>
                  <a:ea typeface="黑体" panose="02010609060101010101" pitchFamily="49" charset="-122"/>
                </a:rPr>
                <a:t>2</a:t>
              </a:r>
              <a:r>
                <a:rPr kumimoji="1" lang="en-US" altLang="zh-CN" sz="2400" b="1" dirty="0" smtClean="0">
                  <a:solidFill>
                    <a:srgbClr val="A50021"/>
                  </a:solidFill>
                  <a:latin typeface="Symbol" panose="05050102010706020507" pitchFamily="18" charset="2"/>
                  <a:ea typeface="黑体" panose="02010609060101010101" pitchFamily="49" charset="-122"/>
                </a:rPr>
                <a:t> </a:t>
              </a:r>
              <a:r>
                <a:rPr kumimoji="1" lang="zh-CN" altLang="en-US" sz="2400" b="1" dirty="0">
                  <a:solidFill>
                    <a:srgbClr val="A50021"/>
                  </a:solidFill>
                  <a:latin typeface="Symbol" panose="05050102010706020507" pitchFamily="18" charset="2"/>
                  <a:ea typeface="黑体" panose="02010609060101010101" pitchFamily="49" charset="-122"/>
                </a:rPr>
                <a:t>时</a:t>
              </a:r>
            </a:p>
          </p:txBody>
        </p:sp>
        <p:sp>
          <p:nvSpPr>
            <p:cNvPr id="109" name="Text Box 108"/>
            <p:cNvSpPr txBox="1">
              <a:spLocks noChangeArrowheads="1"/>
            </p:cNvSpPr>
            <p:nvPr/>
          </p:nvSpPr>
          <p:spPr bwMode="auto">
            <a:xfrm>
              <a:off x="2769683" y="3895725"/>
              <a:ext cx="108585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  g</a:t>
              </a:r>
              <a:r>
                <a:rPr kumimoji="1" lang="en-US" altLang="zh-CN" sz="2000" b="1" baseline="-25000" dirty="0">
                  <a:solidFill>
                    <a:srgbClr val="000066"/>
                  </a:solidFill>
                  <a:latin typeface="Times New Roman" panose="02020603050405020304" pitchFamily="18" charset="0"/>
                </a:rPr>
                <a:t>2</a:t>
              </a:r>
              <a:r>
                <a:rPr kumimoji="1" lang="en-US" altLang="zh-CN" sz="2000" b="1" i="1" dirty="0">
                  <a:solidFill>
                    <a:srgbClr val="000066"/>
                  </a:solidFill>
                  <a:latin typeface="Times New Roman" panose="02020603050405020304" pitchFamily="18" charset="0"/>
                </a:rPr>
                <a:t> </a:t>
              </a:r>
              <a:r>
                <a:rPr kumimoji="1" lang="en-US" altLang="zh-CN" sz="2000" b="1" dirty="0">
                  <a:solidFill>
                    <a:srgbClr val="000066"/>
                  </a:solidFill>
                  <a:latin typeface="Times New Roman" panose="02020603050405020304" pitchFamily="18" charset="0"/>
                  <a:sym typeface="Symbol" panose="05050102010706020507" pitchFamily="18" charset="2"/>
                </a:rPr>
                <a:t>&gt;</a:t>
              </a:r>
              <a:r>
                <a:rPr kumimoji="1" lang="en-US" altLang="zh-CN" sz="2000" b="1" i="1" dirty="0">
                  <a:solidFill>
                    <a:srgbClr val="000066"/>
                  </a:solidFill>
                  <a:latin typeface="Times New Roman" panose="02020603050405020304" pitchFamily="18" charset="0"/>
                </a:rPr>
                <a:t> </a:t>
              </a: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1</a:t>
              </a:r>
            </a:p>
          </p:txBody>
        </p:sp>
        <p:sp>
          <p:nvSpPr>
            <p:cNvPr id="111" name="Text Box 110"/>
            <p:cNvSpPr txBox="1">
              <a:spLocks noChangeArrowheads="1"/>
            </p:cNvSpPr>
            <p:nvPr/>
          </p:nvSpPr>
          <p:spPr bwMode="auto">
            <a:xfrm>
              <a:off x="4238625" y="3895725"/>
              <a:ext cx="1019175"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  g</a:t>
              </a:r>
              <a:r>
                <a:rPr kumimoji="1" lang="en-US" altLang="zh-CN" sz="2000" b="1" baseline="-25000" dirty="0">
                  <a:solidFill>
                    <a:srgbClr val="000066"/>
                  </a:solidFill>
                  <a:latin typeface="Times New Roman" panose="02020603050405020304" pitchFamily="18" charset="0"/>
                </a:rPr>
                <a:t>2</a:t>
              </a:r>
              <a:r>
                <a:rPr kumimoji="1" lang="en-US" altLang="zh-CN" sz="2000" b="1" i="1" dirty="0">
                  <a:solidFill>
                    <a:srgbClr val="000066"/>
                  </a:solidFill>
                  <a:latin typeface="Times New Roman" panose="02020603050405020304" pitchFamily="18" charset="0"/>
                </a:rPr>
                <a:t> </a:t>
              </a:r>
              <a:r>
                <a:rPr kumimoji="1" lang="en-US" altLang="zh-CN" sz="2000" b="1" dirty="0">
                  <a:solidFill>
                    <a:srgbClr val="000066"/>
                  </a:solidFill>
                  <a:latin typeface="Times New Roman" panose="02020603050405020304" pitchFamily="18" charset="0"/>
                  <a:sym typeface="Symbol" panose="05050102010706020507" pitchFamily="18" charset="2"/>
                </a:rPr>
                <a:t>&lt;</a:t>
              </a:r>
              <a:r>
                <a:rPr kumimoji="1" lang="en-US" altLang="zh-CN" sz="2000" b="1" i="1" dirty="0">
                  <a:solidFill>
                    <a:srgbClr val="000066"/>
                  </a:solidFill>
                  <a:latin typeface="Times New Roman" panose="02020603050405020304" pitchFamily="18" charset="0"/>
                </a:rPr>
                <a:t> </a:t>
              </a: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1</a:t>
              </a:r>
            </a:p>
          </p:txBody>
        </p:sp>
      </p:grpSp>
      <p:grpSp>
        <p:nvGrpSpPr>
          <p:cNvPr id="5" name="组合 4"/>
          <p:cNvGrpSpPr/>
          <p:nvPr/>
        </p:nvGrpSpPr>
        <p:grpSpPr>
          <a:xfrm>
            <a:off x="5771406" y="3477814"/>
            <a:ext cx="3086344" cy="2129414"/>
            <a:chOff x="5771406" y="3477814"/>
            <a:chExt cx="3086344" cy="2129414"/>
          </a:xfrm>
        </p:grpSpPr>
        <p:sp>
          <p:nvSpPr>
            <p:cNvPr id="113" name="任意多边形 112"/>
            <p:cNvSpPr/>
            <p:nvPr/>
          </p:nvSpPr>
          <p:spPr bwMode="auto">
            <a:xfrm>
              <a:off x="7466029" y="3483651"/>
              <a:ext cx="980402" cy="1632729"/>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296653 w 641555"/>
                <a:gd name="connsiteY3" fmla="*/ 1202430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301679 w 641555"/>
                <a:gd name="connsiteY3" fmla="*/ 1221513 h 2116394"/>
                <a:gd name="connsiteX4" fmla="*/ 641555 w 641555"/>
                <a:gd name="connsiteY4" fmla="*/ 1216742 h 2116394"/>
                <a:gd name="connsiteX5" fmla="*/ 0 w 641555"/>
                <a:gd name="connsiteY5" fmla="*/ 0 h 2116394"/>
                <a:gd name="connsiteX0" fmla="*/ 0 w 641555"/>
                <a:gd name="connsiteY0" fmla="*/ 0 h 2121164"/>
                <a:gd name="connsiteX1" fmla="*/ 0 w 641555"/>
                <a:gd name="connsiteY1" fmla="*/ 2116394 h 2121164"/>
                <a:gd name="connsiteX2" fmla="*/ 532430 w 641555"/>
                <a:gd name="connsiteY2" fmla="*/ 2121164 h 2121164"/>
                <a:gd name="connsiteX3" fmla="*/ 301679 w 641555"/>
                <a:gd name="connsiteY3" fmla="*/ 1221513 h 2121164"/>
                <a:gd name="connsiteX4" fmla="*/ 641555 w 641555"/>
                <a:gd name="connsiteY4" fmla="*/ 1216742 h 2121164"/>
                <a:gd name="connsiteX5" fmla="*/ 0 w 641555"/>
                <a:gd name="connsiteY5" fmla="*/ 0 h 2121164"/>
                <a:gd name="connsiteX0" fmla="*/ 0 w 641555"/>
                <a:gd name="connsiteY0" fmla="*/ 0 h 2121164"/>
                <a:gd name="connsiteX1" fmla="*/ 0 w 641555"/>
                <a:gd name="connsiteY1" fmla="*/ 2116394 h 2121164"/>
                <a:gd name="connsiteX2" fmla="*/ 532430 w 641555"/>
                <a:gd name="connsiteY2" fmla="*/ 2121164 h 2121164"/>
                <a:gd name="connsiteX3" fmla="*/ 394666 w 641555"/>
                <a:gd name="connsiteY3" fmla="*/ 1231055 h 2121164"/>
                <a:gd name="connsiteX4" fmla="*/ 641555 w 641555"/>
                <a:gd name="connsiteY4" fmla="*/ 1216742 h 2121164"/>
                <a:gd name="connsiteX5" fmla="*/ 0 w 641555"/>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62067 w 532430"/>
                <a:gd name="connsiteY4" fmla="*/ 1235825 h 2121164"/>
                <a:gd name="connsiteX5" fmla="*/ 0 w 532430"/>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60438 w 532430"/>
                <a:gd name="connsiteY4" fmla="*/ 1238919 h 2121164"/>
                <a:gd name="connsiteX5" fmla="*/ 0 w 532430"/>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58808 w 532430"/>
                <a:gd name="connsiteY4" fmla="*/ 1232732 h 2121164"/>
                <a:gd name="connsiteX5" fmla="*/ 0 w 532430"/>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94666 w 670949"/>
                <a:gd name="connsiteY3" fmla="*/ 1231055 h 2121164"/>
                <a:gd name="connsiteX4" fmla="*/ 258808 w 670949"/>
                <a:gd name="connsiteY4" fmla="*/ 1232732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94666 w 670949"/>
                <a:gd name="connsiteY3" fmla="*/ 1231055 h 2121164"/>
                <a:gd name="connsiteX4" fmla="*/ 263697 w 670949"/>
                <a:gd name="connsiteY4" fmla="*/ 1223451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84889 w 670949"/>
                <a:gd name="connsiteY3" fmla="*/ 1218680 h 2121164"/>
                <a:gd name="connsiteX4" fmla="*/ 263697 w 670949"/>
                <a:gd name="connsiteY4" fmla="*/ 1223451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84889 w 670949"/>
                <a:gd name="connsiteY3" fmla="*/ 1218680 h 2121164"/>
                <a:gd name="connsiteX4" fmla="*/ 263697 w 670949"/>
                <a:gd name="connsiteY4" fmla="*/ 1223451 h 2121164"/>
                <a:gd name="connsiteX5" fmla="*/ 0 w 670949"/>
                <a:gd name="connsiteY5" fmla="*/ 0 h 212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949" h="2121164">
                  <a:moveTo>
                    <a:pt x="0" y="0"/>
                  </a:moveTo>
                  <a:lnTo>
                    <a:pt x="0" y="2116394"/>
                  </a:lnTo>
                  <a:lnTo>
                    <a:pt x="670949" y="2121164"/>
                  </a:lnTo>
                  <a:lnTo>
                    <a:pt x="384889" y="1218680"/>
                  </a:lnTo>
                  <a:lnTo>
                    <a:pt x="263697" y="1223451"/>
                  </a:lnTo>
                  <a:lnTo>
                    <a:pt x="0" y="0"/>
                  </a:lnTo>
                  <a:close/>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9" name="任意多边形 88"/>
            <p:cNvSpPr/>
            <p:nvPr/>
          </p:nvSpPr>
          <p:spPr bwMode="auto">
            <a:xfrm>
              <a:off x="5792122" y="3481209"/>
              <a:ext cx="927925" cy="1632729"/>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296653 w 641555"/>
                <a:gd name="connsiteY3" fmla="*/ 1202430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301679 w 641555"/>
                <a:gd name="connsiteY3" fmla="*/ 1221513 h 2116394"/>
                <a:gd name="connsiteX4" fmla="*/ 641555 w 641555"/>
                <a:gd name="connsiteY4" fmla="*/ 1216742 h 2116394"/>
                <a:gd name="connsiteX5" fmla="*/ 0 w 641555"/>
                <a:gd name="connsiteY5" fmla="*/ 0 h 2116394"/>
                <a:gd name="connsiteX0" fmla="*/ 0 w 641555"/>
                <a:gd name="connsiteY0" fmla="*/ 0 h 2121164"/>
                <a:gd name="connsiteX1" fmla="*/ 0 w 641555"/>
                <a:gd name="connsiteY1" fmla="*/ 2116394 h 2121164"/>
                <a:gd name="connsiteX2" fmla="*/ 532430 w 641555"/>
                <a:gd name="connsiteY2" fmla="*/ 2121164 h 2121164"/>
                <a:gd name="connsiteX3" fmla="*/ 301679 w 641555"/>
                <a:gd name="connsiteY3" fmla="*/ 1221513 h 2121164"/>
                <a:gd name="connsiteX4" fmla="*/ 641555 w 641555"/>
                <a:gd name="connsiteY4" fmla="*/ 1216742 h 2121164"/>
                <a:gd name="connsiteX5" fmla="*/ 0 w 641555"/>
                <a:gd name="connsiteY5" fmla="*/ 0 h 2121164"/>
                <a:gd name="connsiteX0" fmla="*/ 0 w 635036"/>
                <a:gd name="connsiteY0" fmla="*/ 0 h 2121164"/>
                <a:gd name="connsiteX1" fmla="*/ 0 w 635036"/>
                <a:gd name="connsiteY1" fmla="*/ 2116394 h 2121164"/>
                <a:gd name="connsiteX2" fmla="*/ 532430 w 635036"/>
                <a:gd name="connsiteY2" fmla="*/ 2121164 h 2121164"/>
                <a:gd name="connsiteX3" fmla="*/ 301679 w 635036"/>
                <a:gd name="connsiteY3" fmla="*/ 1221513 h 2121164"/>
                <a:gd name="connsiteX4" fmla="*/ 635036 w 635036"/>
                <a:gd name="connsiteY4" fmla="*/ 1219835 h 2121164"/>
                <a:gd name="connsiteX5" fmla="*/ 0 w 635036"/>
                <a:gd name="connsiteY5" fmla="*/ 0 h 212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036" h="2121164">
                  <a:moveTo>
                    <a:pt x="0" y="0"/>
                  </a:moveTo>
                  <a:lnTo>
                    <a:pt x="0" y="2116394"/>
                  </a:lnTo>
                  <a:lnTo>
                    <a:pt x="532430" y="2121164"/>
                  </a:lnTo>
                  <a:lnTo>
                    <a:pt x="301679" y="1221513"/>
                  </a:lnTo>
                  <a:lnTo>
                    <a:pt x="635036" y="1219835"/>
                  </a:lnTo>
                  <a:lnTo>
                    <a:pt x="0" y="0"/>
                  </a:lnTo>
                  <a:close/>
                </a:path>
              </a:pathLst>
            </a:custGeom>
            <a:solidFill>
              <a:srgbClr val="FFC000"/>
            </a:solidFill>
            <a:ln w="190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4" name="直接连接符 93"/>
            <p:cNvCxnSpPr/>
            <p:nvPr/>
          </p:nvCxnSpPr>
          <p:spPr bwMode="auto">
            <a:xfrm>
              <a:off x="5795169" y="3486084"/>
              <a:ext cx="0" cy="162884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a:stCxn id="89" idx="0"/>
              <a:endCxn id="89" idx="3"/>
            </p:cNvCxnSpPr>
            <p:nvPr/>
          </p:nvCxnSpPr>
          <p:spPr bwMode="auto">
            <a:xfrm>
              <a:off x="5792122" y="3481209"/>
              <a:ext cx="440818" cy="940238"/>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5778826" y="5110148"/>
              <a:ext cx="273660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102"/>
            <p:cNvCxnSpPr/>
            <p:nvPr/>
          </p:nvCxnSpPr>
          <p:spPr bwMode="auto">
            <a:xfrm>
              <a:off x="5771406" y="3477814"/>
              <a:ext cx="2734500"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104"/>
            <p:cNvCxnSpPr/>
            <p:nvPr/>
          </p:nvCxnSpPr>
          <p:spPr bwMode="auto">
            <a:xfrm>
              <a:off x="5779043" y="4422967"/>
              <a:ext cx="2744282"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接连接符 113"/>
            <p:cNvCxnSpPr/>
            <p:nvPr/>
          </p:nvCxnSpPr>
          <p:spPr bwMode="auto">
            <a:xfrm>
              <a:off x="7469076" y="3480575"/>
              <a:ext cx="0" cy="162884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a:stCxn id="113" idx="0"/>
              <a:endCxn id="113" idx="3"/>
            </p:cNvCxnSpPr>
            <p:nvPr/>
          </p:nvCxnSpPr>
          <p:spPr bwMode="auto">
            <a:xfrm>
              <a:off x="7466029" y="3483651"/>
              <a:ext cx="562406" cy="938058"/>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 Box 124"/>
            <p:cNvSpPr txBox="1">
              <a:spLocks noChangeArrowheads="1"/>
            </p:cNvSpPr>
            <p:nvPr/>
          </p:nvSpPr>
          <p:spPr bwMode="auto">
            <a:xfrm>
              <a:off x="7944013" y="3920656"/>
              <a:ext cx="913737" cy="446276"/>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2</a:t>
              </a:r>
              <a:r>
                <a:rPr kumimoji="1" lang="en-US" altLang="zh-CN" sz="2000" b="1" i="1" baseline="-25000" dirty="0" smtClean="0">
                  <a:solidFill>
                    <a:srgbClr val="000066"/>
                  </a:solidFill>
                  <a:latin typeface="Times New Roman" panose="02020603050405020304" pitchFamily="18" charset="0"/>
                </a:rPr>
                <a:t> </a:t>
              </a:r>
              <a:r>
                <a:rPr kumimoji="1" lang="en-US" altLang="zh-CN" sz="2000" b="1" i="1" dirty="0">
                  <a:solidFill>
                    <a:srgbClr val="000066"/>
                  </a:solidFill>
                  <a:latin typeface="Times New Roman" panose="02020603050405020304" pitchFamily="18" charset="0"/>
                  <a:sym typeface="Symbol" panose="05050102010706020507" pitchFamily="18" charset="2"/>
                </a:rPr>
                <a:t>&lt;</a:t>
              </a:r>
              <a:r>
                <a:rPr kumimoji="1" lang="en-US" altLang="zh-CN" sz="2000" b="1" i="1" dirty="0">
                  <a:solidFill>
                    <a:srgbClr val="000066"/>
                  </a:solidFill>
                  <a:latin typeface="Times New Roman" panose="02020603050405020304" pitchFamily="18" charset="0"/>
                </a:rPr>
                <a:t> </a:t>
              </a:r>
              <a:r>
                <a:rPr kumimoji="1" lang="en-US" altLang="zh-CN" sz="2000" b="1" i="1" dirty="0">
                  <a:solidFill>
                    <a:srgbClr val="000066"/>
                  </a:solidFill>
                  <a:latin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1</a:t>
              </a:r>
              <a:endParaRPr kumimoji="1" lang="en-US" altLang="zh-CN" sz="2000" b="1" baseline="-25000" dirty="0">
                <a:solidFill>
                  <a:srgbClr val="000066"/>
                </a:solidFill>
                <a:latin typeface="Times New Roman" panose="02020603050405020304" pitchFamily="18" charset="0"/>
              </a:endParaRPr>
            </a:p>
          </p:txBody>
        </p:sp>
        <p:sp>
          <p:nvSpPr>
            <p:cNvPr id="132" name="Text Box 112"/>
            <p:cNvSpPr txBox="1">
              <a:spLocks noChangeArrowheads="1"/>
            </p:cNvSpPr>
            <p:nvPr/>
          </p:nvSpPr>
          <p:spPr bwMode="auto">
            <a:xfrm>
              <a:off x="6532658" y="3944509"/>
              <a:ext cx="1066800" cy="446276"/>
            </a:xfrm>
            <a:prstGeom prst="rect">
              <a:avLst/>
            </a:prstGeom>
            <a:noFill/>
            <a:ln>
              <a:noFill/>
            </a:ln>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2</a:t>
              </a:r>
              <a:r>
                <a:rPr kumimoji="1" lang="en-US" altLang="zh-CN" sz="2000" b="1" i="1" baseline="-25000" dirty="0" smtClean="0">
                  <a:solidFill>
                    <a:srgbClr val="000066"/>
                  </a:solidFill>
                  <a:latin typeface="Times New Roman" panose="02020603050405020304" pitchFamily="18" charset="0"/>
                </a:rPr>
                <a:t> </a:t>
              </a:r>
              <a:r>
                <a:rPr kumimoji="1" lang="en-US" altLang="zh-CN" sz="2000" b="1" i="1" dirty="0">
                  <a:solidFill>
                    <a:srgbClr val="000066"/>
                  </a:solidFill>
                  <a:latin typeface="Times New Roman" panose="02020603050405020304" pitchFamily="18" charset="0"/>
                  <a:sym typeface="Symbol" panose="05050102010706020507" pitchFamily="18" charset="2"/>
                </a:rPr>
                <a:t>&gt;</a:t>
              </a:r>
              <a:r>
                <a:rPr kumimoji="1" lang="en-US" altLang="zh-CN" sz="2000" b="1" i="1" dirty="0">
                  <a:solidFill>
                    <a:srgbClr val="000066"/>
                  </a:solidFill>
                  <a:latin typeface="Times New Roman" panose="02020603050405020304" pitchFamily="18" charset="0"/>
                </a:rPr>
                <a:t> </a:t>
              </a:r>
              <a:r>
                <a:rPr kumimoji="1" lang="en-US" altLang="zh-CN" sz="2000" b="1" i="1" dirty="0">
                  <a:solidFill>
                    <a:srgbClr val="000066"/>
                  </a:solidFill>
                  <a:latin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1</a:t>
              </a:r>
              <a:endParaRPr kumimoji="1" lang="en-US" altLang="zh-CN" sz="2000" b="1" baseline="-25000" dirty="0">
                <a:solidFill>
                  <a:srgbClr val="000066"/>
                </a:solidFill>
                <a:latin typeface="Times New Roman" panose="02020603050405020304" pitchFamily="18" charset="0"/>
              </a:endParaRPr>
            </a:p>
          </p:txBody>
        </p:sp>
        <p:sp>
          <p:nvSpPr>
            <p:cNvPr id="133" name="Text Box 111"/>
            <p:cNvSpPr txBox="1">
              <a:spLocks noChangeArrowheads="1"/>
            </p:cNvSpPr>
            <p:nvPr/>
          </p:nvSpPr>
          <p:spPr bwMode="auto">
            <a:xfrm>
              <a:off x="6376283" y="5127930"/>
              <a:ext cx="2057400" cy="479298"/>
            </a:xfrm>
            <a:prstGeom prst="rect">
              <a:avLst/>
            </a:prstGeom>
            <a:noFill/>
            <a:ln>
              <a:noFill/>
            </a:ln>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en-US" altLang="zh-CN" sz="2400" b="1" i="1" dirty="0">
                  <a:solidFill>
                    <a:srgbClr val="A50021"/>
                  </a:solidFill>
                  <a:latin typeface="Symbol" panose="05050102010706020507" pitchFamily="18" charset="2"/>
                </a:rPr>
                <a:t>g</a:t>
              </a:r>
              <a:r>
                <a:rPr kumimoji="1" lang="en-US" altLang="zh-CN" sz="2400" b="1" baseline="-25000" dirty="0">
                  <a:solidFill>
                    <a:srgbClr val="A50021"/>
                  </a:solidFill>
                  <a:latin typeface="Times New Roman" panose="02020603050405020304" pitchFamily="18" charset="0"/>
                </a:rPr>
                <a:t>1</a:t>
              </a:r>
              <a:r>
                <a:rPr kumimoji="1" lang="en-US" altLang="zh-CN" sz="2400" b="1" i="1" dirty="0">
                  <a:solidFill>
                    <a:srgbClr val="A50021"/>
                  </a:solidFill>
                  <a:latin typeface="Times New Roman" panose="02020603050405020304" pitchFamily="18" charset="0"/>
                </a:rPr>
                <a:t> </a:t>
              </a:r>
              <a:r>
                <a:rPr kumimoji="1" lang="en-US" altLang="zh-CN" sz="2400" b="1" dirty="0">
                  <a:solidFill>
                    <a:srgbClr val="A50021"/>
                  </a:solidFill>
                  <a:latin typeface="Times New Roman" panose="02020603050405020304" pitchFamily="18" charset="0"/>
                  <a:sym typeface="Symbol" panose="05050102010706020507" pitchFamily="18" charset="2"/>
                </a:rPr>
                <a:t>=</a:t>
              </a:r>
              <a:r>
                <a:rPr kumimoji="1" lang="en-US" altLang="zh-CN" sz="2400" b="1" i="1" dirty="0">
                  <a:solidFill>
                    <a:srgbClr val="A50021"/>
                  </a:solidFill>
                  <a:latin typeface="Times New Roman" panose="02020603050405020304" pitchFamily="18" charset="0"/>
                </a:rPr>
                <a:t> </a:t>
              </a:r>
              <a:r>
                <a:rPr kumimoji="1" lang="en-US" altLang="zh-CN" sz="2400" b="1" i="1" dirty="0">
                  <a:solidFill>
                    <a:srgbClr val="A50021"/>
                  </a:solidFill>
                  <a:latin typeface="Symbol" panose="05050102010706020507" pitchFamily="18" charset="2"/>
                </a:rPr>
                <a:t>g</a:t>
              </a:r>
              <a:r>
                <a:rPr kumimoji="1" lang="en-US" altLang="zh-CN" sz="2400" b="1" baseline="-25000" dirty="0">
                  <a:solidFill>
                    <a:srgbClr val="A50021"/>
                  </a:solidFill>
                  <a:latin typeface="Times New Roman" panose="02020603050405020304" pitchFamily="18" charset="0"/>
                </a:rPr>
                <a:t>2</a:t>
              </a:r>
              <a:r>
                <a:rPr kumimoji="1" lang="en-US" altLang="zh-CN" sz="2400" b="1" dirty="0">
                  <a:solidFill>
                    <a:srgbClr val="A50021"/>
                  </a:solidFill>
                  <a:latin typeface="Times New Roman" panose="02020603050405020304" pitchFamily="18" charset="0"/>
                </a:rPr>
                <a:t> </a:t>
              </a:r>
              <a:r>
                <a:rPr kumimoji="1" lang="zh-CN" altLang="en-US" sz="2400" b="1" dirty="0">
                  <a:solidFill>
                    <a:srgbClr val="A50021"/>
                  </a:solidFill>
                  <a:latin typeface="黑体" panose="02010609060101010101" pitchFamily="49" charset="-122"/>
                  <a:ea typeface="黑体" panose="02010609060101010101" pitchFamily="49" charset="-122"/>
                </a:rPr>
                <a:t>时</a:t>
              </a:r>
            </a:p>
          </p:txBody>
        </p:sp>
      </p:grpSp>
      <p:graphicFrame>
        <p:nvGraphicFramePr>
          <p:cNvPr id="134" name="Object 0"/>
          <p:cNvGraphicFramePr>
            <a:graphicFrameLocks noChangeAspect="1"/>
          </p:cNvGraphicFramePr>
          <p:nvPr>
            <p:extLst>
              <p:ext uri="{D42A27DB-BD31-4B8C-83A1-F6EECF244321}">
                <p14:modId xmlns:p14="http://schemas.microsoft.com/office/powerpoint/2010/main" val="2764341625"/>
              </p:ext>
            </p:extLst>
          </p:nvPr>
        </p:nvGraphicFramePr>
        <p:xfrm>
          <a:off x="2568575" y="517526"/>
          <a:ext cx="3317875" cy="715962"/>
        </p:xfrm>
        <a:graphic>
          <a:graphicData uri="http://schemas.openxmlformats.org/presentationml/2006/ole">
            <mc:AlternateContent xmlns:mc="http://schemas.openxmlformats.org/markup-compatibility/2006">
              <mc:Choice xmlns:v="urn:schemas-microsoft-com:vml" Requires="v">
                <p:oleObj spid="_x0000_s1747464" name="Equation" r:id="rId10" imgW="1688760" imgH="368280" progId="Equation.DSMT4">
                  <p:embed/>
                </p:oleObj>
              </mc:Choice>
              <mc:Fallback>
                <p:oleObj name="Equation" r:id="rId10" imgW="1688760" imgH="368280" progId="Equation.DSMT4">
                  <p:embed/>
                  <p:pic>
                    <p:nvPicPr>
                      <p:cNvPr id="762880" name="Object 0"/>
                      <p:cNvPicPr>
                        <a:picLocks noChangeAspect="1" noChangeArrowheads="1"/>
                      </p:cNvPicPr>
                      <p:nvPr/>
                    </p:nvPicPr>
                    <p:blipFill>
                      <a:blip r:embed="rId11"/>
                      <a:srcRect/>
                      <a:stretch>
                        <a:fillRect/>
                      </a:stretch>
                    </p:blipFill>
                    <p:spPr bwMode="auto">
                      <a:xfrm>
                        <a:off x="2568575" y="517526"/>
                        <a:ext cx="3317875" cy="715962"/>
                      </a:xfrm>
                      <a:prstGeom prst="rect">
                        <a:avLst/>
                      </a:prstGeom>
                      <a:solidFill>
                        <a:schemeClr val="bg1"/>
                      </a:solidFill>
                      <a:ln>
                        <a:noFill/>
                      </a:ln>
                      <a:extLst/>
                    </p:spPr>
                  </p:pic>
                </p:oleObj>
              </mc:Fallback>
            </mc:AlternateContent>
          </a:graphicData>
        </a:graphic>
      </p:graphicFrame>
      <p:graphicFrame>
        <p:nvGraphicFramePr>
          <p:cNvPr id="135" name="Object 4"/>
          <p:cNvGraphicFramePr>
            <a:graphicFrameLocks noChangeAspect="1"/>
          </p:cNvGraphicFramePr>
          <p:nvPr>
            <p:extLst>
              <p:ext uri="{D42A27DB-BD31-4B8C-83A1-F6EECF244321}">
                <p14:modId xmlns:p14="http://schemas.microsoft.com/office/powerpoint/2010/main" val="1088434004"/>
              </p:ext>
            </p:extLst>
          </p:nvPr>
        </p:nvGraphicFramePr>
        <p:xfrm>
          <a:off x="6791325" y="511175"/>
          <a:ext cx="1036638" cy="722313"/>
        </p:xfrm>
        <a:graphic>
          <a:graphicData uri="http://schemas.openxmlformats.org/presentationml/2006/ole">
            <mc:AlternateContent xmlns:mc="http://schemas.openxmlformats.org/markup-compatibility/2006">
              <mc:Choice xmlns:v="urn:schemas-microsoft-com:vml" Requires="v">
                <p:oleObj spid="_x0000_s1747465" name="Equation" r:id="rId12" imgW="634680" imgH="380880" progId="Equation.DSMT4">
                  <p:embed/>
                </p:oleObj>
              </mc:Choice>
              <mc:Fallback>
                <p:oleObj name="Equation" r:id="rId12" imgW="634680" imgH="380880" progId="Equation.DSMT4">
                  <p:embed/>
                  <p:pic>
                    <p:nvPicPr>
                      <p:cNvPr id="762884" name="Object 4"/>
                      <p:cNvPicPr>
                        <a:picLocks noChangeAspect="1" noChangeArrowheads="1"/>
                      </p:cNvPicPr>
                      <p:nvPr/>
                    </p:nvPicPr>
                    <p:blipFill>
                      <a:blip r:embed="rId13"/>
                      <a:srcRect/>
                      <a:stretch>
                        <a:fillRect/>
                      </a:stretch>
                    </p:blipFill>
                    <p:spPr bwMode="auto">
                      <a:xfrm>
                        <a:off x="6791325" y="511175"/>
                        <a:ext cx="1036638" cy="722313"/>
                      </a:xfrm>
                      <a:prstGeom prst="rect">
                        <a:avLst/>
                      </a:prstGeom>
                      <a:solidFill>
                        <a:schemeClr val="bg1"/>
                      </a:solidFill>
                      <a:ln>
                        <a:noFill/>
                      </a:ln>
                      <a:effectLst/>
                      <a:extLst/>
                    </p:spPr>
                  </p:pic>
                </p:oleObj>
              </mc:Fallback>
            </mc:AlternateContent>
          </a:graphicData>
        </a:graphic>
      </p:graphicFrame>
    </p:spTree>
    <p:extLst>
      <p:ext uri="{BB962C8B-B14F-4D97-AF65-F5344CB8AC3E}">
        <p14:creationId xmlns:p14="http://schemas.microsoft.com/office/powerpoint/2010/main" val="1718071134"/>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wipe(left)">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78</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土上有荷载</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2</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成层填土情况</a:t>
            </a:r>
            <a:endParaRPr kumimoji="1" lang="zh-CN" altLang="en-US" sz="4000" b="1" dirty="0">
              <a:solidFill>
                <a:srgbClr val="000066"/>
              </a:solidFill>
              <a:ea typeface="黑体" pitchFamily="2" charset="-122"/>
              <a:cs typeface="Times New Roman" panose="02020603050405020304" pitchFamily="18" charset="0"/>
            </a:endParaRPr>
          </a:p>
        </p:txBody>
      </p:sp>
      <p:sp>
        <p:nvSpPr>
          <p:cNvPr id="8" name="Rectangle 3"/>
          <p:cNvSpPr txBox="1">
            <a:spLocks noChangeArrowheads="1"/>
          </p:cNvSpPr>
          <p:nvPr/>
        </p:nvSpPr>
        <p:spPr bwMode="auto">
          <a:xfrm>
            <a:off x="432532" y="536298"/>
            <a:ext cx="20344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en-US" altLang="zh-CN" sz="2400" b="1" kern="0" dirty="0" smtClean="0">
                <a:solidFill>
                  <a:srgbClr val="A50021"/>
                </a:solidFill>
                <a:latin typeface="微软雅黑" panose="020B0503020204020204" pitchFamily="34" charset="-122"/>
                <a:ea typeface="微软雅黑" panose="020B0503020204020204" pitchFamily="34" charset="-122"/>
              </a:rPr>
              <a:t> </a:t>
            </a:r>
            <a:r>
              <a:rPr lang="zh-CN" altLang="en-US" sz="2400" b="1" kern="0" dirty="0" smtClean="0">
                <a:solidFill>
                  <a:srgbClr val="A50021"/>
                </a:solidFill>
                <a:latin typeface="微软雅黑" panose="020B0503020204020204" pitchFamily="34" charset="-122"/>
                <a:ea typeface="微软雅黑" panose="020B0503020204020204" pitchFamily="34" charset="-122"/>
              </a:rPr>
              <a:t>黏性土</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bwMode="auto">
          <a:xfrm>
            <a:off x="793185" y="3039751"/>
            <a:ext cx="33528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p:cNvCxnSpPr/>
          <p:nvPr/>
        </p:nvCxnSpPr>
        <p:spPr bwMode="auto">
          <a:xfrm>
            <a:off x="2079103" y="1426921"/>
            <a:ext cx="2066882"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p:cNvCxnSpPr/>
          <p:nvPr/>
        </p:nvCxnSpPr>
        <p:spPr bwMode="auto">
          <a:xfrm>
            <a:off x="2106142" y="2355918"/>
            <a:ext cx="203984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任意多边形 9"/>
          <p:cNvSpPr/>
          <p:nvPr/>
        </p:nvSpPr>
        <p:spPr bwMode="auto">
          <a:xfrm>
            <a:off x="1006904" y="1425299"/>
            <a:ext cx="1118769" cy="1607201"/>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43" name="Group 12"/>
          <p:cNvGrpSpPr>
            <a:grpSpLocks/>
          </p:cNvGrpSpPr>
          <p:nvPr/>
        </p:nvGrpSpPr>
        <p:grpSpPr bwMode="auto">
          <a:xfrm>
            <a:off x="2492820" y="1435478"/>
            <a:ext cx="454614" cy="63332"/>
            <a:chOff x="2274" y="1204"/>
            <a:chExt cx="270" cy="44"/>
          </a:xfrm>
        </p:grpSpPr>
        <p:sp>
          <p:nvSpPr>
            <p:cNvPr id="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12"/>
          <p:cNvGrpSpPr>
            <a:grpSpLocks/>
          </p:cNvGrpSpPr>
          <p:nvPr/>
        </p:nvGrpSpPr>
        <p:grpSpPr bwMode="auto">
          <a:xfrm>
            <a:off x="3193852" y="1437802"/>
            <a:ext cx="454614" cy="63332"/>
            <a:chOff x="2274" y="1204"/>
            <a:chExt cx="270" cy="44"/>
          </a:xfrm>
        </p:grpSpPr>
        <p:sp>
          <p:nvSpPr>
            <p:cNvPr id="5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 name="Line 89"/>
          <p:cNvSpPr>
            <a:spLocks noChangeAspect="1" noChangeShapeType="1"/>
          </p:cNvSpPr>
          <p:nvPr/>
        </p:nvSpPr>
        <p:spPr bwMode="auto">
          <a:xfrm rot="5400000">
            <a:off x="3398935" y="1896909"/>
            <a:ext cx="91584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Text Box 45"/>
          <p:cNvSpPr txBox="1">
            <a:spLocks noChangeArrowheads="1"/>
          </p:cNvSpPr>
          <p:nvPr/>
        </p:nvSpPr>
        <p:spPr bwMode="auto">
          <a:xfrm>
            <a:off x="2372827" y="1662338"/>
            <a:ext cx="156837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1</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1</a:t>
            </a:r>
            <a:r>
              <a:rPr kumimoji="1" lang="en-US" altLang="zh-CN" sz="2000" b="1" i="1" dirty="0" smtClean="0">
                <a:solidFill>
                  <a:srgbClr val="000066"/>
                </a:solidFill>
                <a:latin typeface="Times New Roman" panose="02020603050405020304" pitchFamily="18" charset="0"/>
              </a:rPr>
              <a:t>   c</a:t>
            </a:r>
            <a:r>
              <a:rPr kumimoji="1" lang="en-US" altLang="zh-CN" sz="2000" b="1" baseline="-25000" dirty="0" smtClean="0">
                <a:solidFill>
                  <a:srgbClr val="000066"/>
                </a:solidFill>
                <a:latin typeface="Times New Roman" panose="02020603050405020304" pitchFamily="18" charset="0"/>
              </a:rPr>
              <a:t>1</a:t>
            </a:r>
            <a:endParaRPr kumimoji="1" lang="en-US" altLang="zh-CN" sz="2000" b="1" dirty="0">
              <a:solidFill>
                <a:srgbClr val="000066"/>
              </a:solidFill>
              <a:latin typeface="Times New Roman" panose="02020603050405020304" pitchFamily="18" charset="0"/>
            </a:endParaRPr>
          </a:p>
        </p:txBody>
      </p:sp>
      <p:sp>
        <p:nvSpPr>
          <p:cNvPr id="86" name="Text Box 46"/>
          <p:cNvSpPr txBox="1">
            <a:spLocks noChangeArrowheads="1"/>
          </p:cNvSpPr>
          <p:nvPr/>
        </p:nvSpPr>
        <p:spPr bwMode="auto">
          <a:xfrm>
            <a:off x="2340871" y="2466460"/>
            <a:ext cx="1543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a:solidFill>
                  <a:srgbClr val="000066"/>
                </a:solidFill>
                <a:latin typeface="Symbol" panose="05050102010706020507" pitchFamily="18" charset="2"/>
              </a:rPr>
              <a:t>g</a:t>
            </a:r>
            <a:r>
              <a:rPr kumimoji="1" lang="en-US" altLang="zh-CN" sz="2000" b="1" baseline="-25000" dirty="0">
                <a:solidFill>
                  <a:srgbClr val="000066"/>
                </a:solidFill>
                <a:latin typeface="Times New Roman" panose="02020603050405020304" pitchFamily="18" charset="0"/>
              </a:rPr>
              <a:t>2</a:t>
            </a:r>
            <a:r>
              <a:rPr kumimoji="1" lang="en-US" altLang="zh-CN" sz="2000" b="1" i="1"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rPr>
              <a:t>2</a:t>
            </a:r>
            <a:r>
              <a:rPr kumimoji="1" lang="en-US" altLang="zh-CN" sz="2000" b="1" i="1" dirty="0" smtClean="0">
                <a:solidFill>
                  <a:srgbClr val="000066"/>
                </a:solidFill>
                <a:latin typeface="Times New Roman" panose="02020603050405020304" pitchFamily="18" charset="0"/>
              </a:rPr>
              <a:t>   c</a:t>
            </a:r>
            <a:r>
              <a:rPr kumimoji="1" lang="en-US" altLang="zh-CN" sz="2000" b="1" baseline="-25000" dirty="0" smtClean="0">
                <a:solidFill>
                  <a:srgbClr val="000066"/>
                </a:solidFill>
                <a:latin typeface="Times New Roman" panose="02020603050405020304" pitchFamily="18" charset="0"/>
              </a:rPr>
              <a:t>2</a:t>
            </a:r>
            <a:endParaRPr kumimoji="1" lang="en-US" altLang="zh-CN" sz="2000" b="1" dirty="0">
              <a:solidFill>
                <a:srgbClr val="000066"/>
              </a:solidFill>
              <a:latin typeface="Times New Roman" panose="02020603050405020304" pitchFamily="18" charset="0"/>
            </a:endParaRPr>
          </a:p>
        </p:txBody>
      </p:sp>
      <p:sp>
        <p:nvSpPr>
          <p:cNvPr id="87" name="Line 89"/>
          <p:cNvSpPr>
            <a:spLocks noChangeAspect="1" noChangeShapeType="1"/>
          </p:cNvSpPr>
          <p:nvPr/>
        </p:nvSpPr>
        <p:spPr bwMode="auto">
          <a:xfrm rot="5400000">
            <a:off x="3524942" y="2691810"/>
            <a:ext cx="673659"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Text Box 61"/>
          <p:cNvSpPr txBox="1">
            <a:spLocks noChangeArrowheads="1"/>
          </p:cNvSpPr>
          <p:nvPr/>
        </p:nvSpPr>
        <p:spPr bwMode="auto">
          <a:xfrm>
            <a:off x="3929704" y="1616929"/>
            <a:ext cx="547534" cy="37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92" name="Text Box 62"/>
          <p:cNvSpPr txBox="1">
            <a:spLocks noChangeArrowheads="1"/>
          </p:cNvSpPr>
          <p:nvPr/>
        </p:nvSpPr>
        <p:spPr bwMode="auto">
          <a:xfrm>
            <a:off x="3882079" y="2438080"/>
            <a:ext cx="547534" cy="37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a:solidFill>
                  <a:srgbClr val="000066"/>
                </a:solidFill>
                <a:latin typeface="Times New Roman" panose="02020603050405020304" pitchFamily="18" charset="0"/>
              </a:rPr>
              <a:t>H</a:t>
            </a:r>
            <a:r>
              <a:rPr kumimoji="1" lang="en-US" altLang="zh-CN" sz="2400" b="1" baseline="-25000">
                <a:solidFill>
                  <a:srgbClr val="000066"/>
                </a:solidFill>
                <a:latin typeface="Times New Roman" panose="02020603050405020304" pitchFamily="18" charset="0"/>
              </a:rPr>
              <a:t>2</a:t>
            </a:r>
            <a:endParaRPr kumimoji="1" lang="en-US" altLang="zh-CN" sz="2400" b="1">
              <a:solidFill>
                <a:srgbClr val="000066"/>
              </a:solidFill>
              <a:latin typeface="Times New Roman" panose="02020603050405020304" pitchFamily="18" charset="0"/>
            </a:endParaRPr>
          </a:p>
        </p:txBody>
      </p:sp>
      <p:graphicFrame>
        <p:nvGraphicFramePr>
          <p:cNvPr id="135" name="Object 4"/>
          <p:cNvGraphicFramePr>
            <a:graphicFrameLocks noChangeAspect="1"/>
          </p:cNvGraphicFramePr>
          <p:nvPr>
            <p:extLst>
              <p:ext uri="{D42A27DB-BD31-4B8C-83A1-F6EECF244321}">
                <p14:modId xmlns:p14="http://schemas.microsoft.com/office/powerpoint/2010/main" val="559178266"/>
              </p:ext>
            </p:extLst>
          </p:nvPr>
        </p:nvGraphicFramePr>
        <p:xfrm>
          <a:off x="6981825" y="444500"/>
          <a:ext cx="1042988" cy="722313"/>
        </p:xfrm>
        <a:graphic>
          <a:graphicData uri="http://schemas.openxmlformats.org/presentationml/2006/ole">
            <mc:AlternateContent xmlns:mc="http://schemas.openxmlformats.org/markup-compatibility/2006">
              <mc:Choice xmlns:v="urn:schemas-microsoft-com:vml" Requires="v">
                <p:oleObj spid="_x0000_s1750320" name="Equation" r:id="rId4" imgW="634680" imgH="380880" progId="Equation.DSMT4">
                  <p:embed/>
                </p:oleObj>
              </mc:Choice>
              <mc:Fallback>
                <p:oleObj name="Equation" r:id="rId4" imgW="634680" imgH="380880" progId="Equation.DSMT4">
                  <p:embed/>
                  <p:pic>
                    <p:nvPicPr>
                      <p:cNvPr id="135" name="Object 4"/>
                      <p:cNvPicPr>
                        <a:picLocks noChangeAspect="1" noChangeArrowheads="1"/>
                      </p:cNvPicPr>
                      <p:nvPr/>
                    </p:nvPicPr>
                    <p:blipFill>
                      <a:blip r:embed="rId5"/>
                      <a:srcRect/>
                      <a:stretch>
                        <a:fillRect/>
                      </a:stretch>
                    </p:blipFill>
                    <p:spPr bwMode="auto">
                      <a:xfrm>
                        <a:off x="6981825" y="444500"/>
                        <a:ext cx="1042988" cy="722313"/>
                      </a:xfrm>
                      <a:prstGeom prst="rect">
                        <a:avLst/>
                      </a:prstGeom>
                      <a:solidFill>
                        <a:schemeClr val="bg1"/>
                      </a:solidFill>
                      <a:ln>
                        <a:noFill/>
                      </a:ln>
                      <a:effectLst/>
                      <a:extLst/>
                    </p:spPr>
                  </p:pic>
                </p:oleObj>
              </mc:Fallback>
            </mc:AlternateContent>
          </a:graphicData>
        </a:graphic>
      </p:graphicFrame>
      <p:graphicFrame>
        <p:nvGraphicFramePr>
          <p:cNvPr id="68" name="Object 0"/>
          <p:cNvGraphicFramePr>
            <a:graphicFrameLocks noChangeAspect="1"/>
          </p:cNvGraphicFramePr>
          <p:nvPr>
            <p:extLst>
              <p:ext uri="{D42A27DB-BD31-4B8C-83A1-F6EECF244321}">
                <p14:modId xmlns:p14="http://schemas.microsoft.com/office/powerpoint/2010/main" val="1957960247"/>
              </p:ext>
            </p:extLst>
          </p:nvPr>
        </p:nvGraphicFramePr>
        <p:xfrm>
          <a:off x="2179638" y="544513"/>
          <a:ext cx="2735262" cy="565150"/>
        </p:xfrm>
        <a:graphic>
          <a:graphicData uri="http://schemas.openxmlformats.org/presentationml/2006/ole">
            <mc:AlternateContent xmlns:mc="http://schemas.openxmlformats.org/markup-compatibility/2006">
              <mc:Choice xmlns:v="urn:schemas-microsoft-com:vml" Requires="v">
                <p:oleObj spid="_x0000_s1750321" name="Equation" r:id="rId6" imgW="1282680" imgH="266400" progId="Equation.DSMT4">
                  <p:embed/>
                </p:oleObj>
              </mc:Choice>
              <mc:Fallback>
                <p:oleObj name="Equation" r:id="rId6" imgW="1282680" imgH="266400" progId="Equation.DSMT4">
                  <p:embed/>
                  <p:pic>
                    <p:nvPicPr>
                      <p:cNvPr id="763904" name="Object 0"/>
                      <p:cNvPicPr>
                        <a:picLocks noChangeAspect="1" noChangeArrowheads="1"/>
                      </p:cNvPicPr>
                      <p:nvPr/>
                    </p:nvPicPr>
                    <p:blipFill>
                      <a:blip r:embed="rId7"/>
                      <a:srcRect/>
                      <a:stretch>
                        <a:fillRect/>
                      </a:stretch>
                    </p:blipFill>
                    <p:spPr bwMode="auto">
                      <a:xfrm>
                        <a:off x="2179638" y="544513"/>
                        <a:ext cx="2735262" cy="565150"/>
                      </a:xfrm>
                      <a:prstGeom prst="rect">
                        <a:avLst/>
                      </a:prstGeom>
                      <a:noFill/>
                      <a:ln>
                        <a:noFill/>
                      </a:ln>
                      <a:extLst/>
                    </p:spPr>
                  </p:pic>
                </p:oleObj>
              </mc:Fallback>
            </mc:AlternateContent>
          </a:graphicData>
        </a:graphic>
      </p:graphicFrame>
      <p:grpSp>
        <p:nvGrpSpPr>
          <p:cNvPr id="2" name="组合 1"/>
          <p:cNvGrpSpPr/>
          <p:nvPr/>
        </p:nvGrpSpPr>
        <p:grpSpPr>
          <a:xfrm>
            <a:off x="4979583" y="1211360"/>
            <a:ext cx="4031067" cy="2231928"/>
            <a:chOff x="4979583" y="1211360"/>
            <a:chExt cx="4031067" cy="2231928"/>
          </a:xfrm>
        </p:grpSpPr>
        <p:sp>
          <p:nvSpPr>
            <p:cNvPr id="125" name="任意多边形 124"/>
            <p:cNvSpPr/>
            <p:nvPr/>
          </p:nvSpPr>
          <p:spPr bwMode="auto">
            <a:xfrm>
              <a:off x="5048262" y="1571950"/>
              <a:ext cx="937451" cy="1460044"/>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641555"/>
                <a:gd name="connsiteY0" fmla="*/ 0 h 1896820"/>
                <a:gd name="connsiteX1" fmla="*/ 0 w 641555"/>
                <a:gd name="connsiteY1" fmla="*/ 1896820 h 1896820"/>
                <a:gd name="connsiteX2" fmla="*/ 464574 w 641555"/>
                <a:gd name="connsiteY2" fmla="*/ 1896820 h 1896820"/>
                <a:gd name="connsiteX3" fmla="*/ 331838 w 641555"/>
                <a:gd name="connsiteY3" fmla="*/ 997168 h 1896820"/>
                <a:gd name="connsiteX4" fmla="*/ 641555 w 641555"/>
                <a:gd name="connsiteY4" fmla="*/ 997168 h 1896820"/>
                <a:gd name="connsiteX5" fmla="*/ 0 w 641555"/>
                <a:gd name="connsiteY5" fmla="*/ 0 h 189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1555" h="1896820">
                  <a:moveTo>
                    <a:pt x="0" y="0"/>
                  </a:moveTo>
                  <a:lnTo>
                    <a:pt x="0" y="1896820"/>
                  </a:lnTo>
                  <a:lnTo>
                    <a:pt x="464574" y="1896820"/>
                  </a:lnTo>
                  <a:lnTo>
                    <a:pt x="331838" y="997168"/>
                  </a:lnTo>
                  <a:lnTo>
                    <a:pt x="641555" y="997168"/>
                  </a:lnTo>
                  <a:lnTo>
                    <a:pt x="0" y="0"/>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04" name="直接连接符 103"/>
            <p:cNvCxnSpPr/>
            <p:nvPr/>
          </p:nvCxnSpPr>
          <p:spPr bwMode="auto">
            <a:xfrm>
              <a:off x="5056955" y="1571682"/>
              <a:ext cx="929151" cy="75937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p:nvPr/>
          </p:nvCxnSpPr>
          <p:spPr bwMode="auto">
            <a:xfrm>
              <a:off x="5046111" y="1399861"/>
              <a:ext cx="0" cy="162884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5539425" y="2336311"/>
              <a:ext cx="189453" cy="69333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p:nvPr/>
          </p:nvCxnSpPr>
          <p:spPr bwMode="auto">
            <a:xfrm>
              <a:off x="4987260" y="3031875"/>
              <a:ext cx="256198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p:nvPr/>
          </p:nvCxnSpPr>
          <p:spPr bwMode="auto">
            <a:xfrm>
              <a:off x="4979840" y="1400535"/>
              <a:ext cx="2569400"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4979583" y="2330205"/>
              <a:ext cx="2569657"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71" name="Object 1"/>
            <p:cNvGraphicFramePr>
              <a:graphicFrameLocks noChangeAspect="1"/>
            </p:cNvGraphicFramePr>
            <p:nvPr>
              <p:extLst>
                <p:ext uri="{D42A27DB-BD31-4B8C-83A1-F6EECF244321}">
                  <p14:modId xmlns:p14="http://schemas.microsoft.com/office/powerpoint/2010/main" val="332482516"/>
                </p:ext>
              </p:extLst>
            </p:nvPr>
          </p:nvGraphicFramePr>
          <p:xfrm>
            <a:off x="5986463" y="1847850"/>
            <a:ext cx="2128837" cy="444500"/>
          </p:xfrm>
          <a:graphic>
            <a:graphicData uri="http://schemas.openxmlformats.org/presentationml/2006/ole">
              <mc:AlternateContent xmlns:mc="http://schemas.openxmlformats.org/markup-compatibility/2006">
                <mc:Choice xmlns:v="urn:schemas-microsoft-com:vml" Requires="v">
                  <p:oleObj spid="_x0000_s1750322" name="Equation" r:id="rId8" imgW="1155600" imgH="241200" progId="Equation.DSMT4">
                    <p:embed/>
                  </p:oleObj>
                </mc:Choice>
                <mc:Fallback>
                  <p:oleObj name="Equation" r:id="rId8" imgW="1155600" imgH="241200" progId="Equation.DSMT4">
                    <p:embed/>
                    <p:pic>
                      <p:nvPicPr>
                        <p:cNvPr id="763905" name="Object 1"/>
                        <p:cNvPicPr>
                          <a:picLocks noChangeAspect="1" noChangeArrowheads="1"/>
                        </p:cNvPicPr>
                        <p:nvPr/>
                      </p:nvPicPr>
                      <p:blipFill>
                        <a:blip r:embed="rId9"/>
                        <a:srcRect/>
                        <a:stretch>
                          <a:fillRect/>
                        </a:stretch>
                      </p:blipFill>
                      <p:spPr bwMode="auto">
                        <a:xfrm>
                          <a:off x="5986463" y="1847850"/>
                          <a:ext cx="2128837" cy="444500"/>
                        </a:xfrm>
                        <a:prstGeom prst="rect">
                          <a:avLst/>
                        </a:prstGeom>
                        <a:noFill/>
                        <a:ln>
                          <a:noFill/>
                        </a:ln>
                        <a:effectLst/>
                        <a:extLst/>
                      </p:spPr>
                    </p:pic>
                  </p:oleObj>
                </mc:Fallback>
              </mc:AlternateContent>
            </a:graphicData>
          </a:graphic>
        </p:graphicFrame>
        <p:graphicFrame>
          <p:nvGraphicFramePr>
            <p:cNvPr id="74" name="Object 2"/>
            <p:cNvGraphicFramePr>
              <a:graphicFrameLocks noChangeAspect="1"/>
            </p:cNvGraphicFramePr>
            <p:nvPr>
              <p:extLst>
                <p:ext uri="{D42A27DB-BD31-4B8C-83A1-F6EECF244321}">
                  <p14:modId xmlns:p14="http://schemas.microsoft.com/office/powerpoint/2010/main" val="531169735"/>
                </p:ext>
              </p:extLst>
            </p:nvPr>
          </p:nvGraphicFramePr>
          <p:xfrm>
            <a:off x="5761038" y="2312988"/>
            <a:ext cx="2151062" cy="441325"/>
          </p:xfrm>
          <a:graphic>
            <a:graphicData uri="http://schemas.openxmlformats.org/presentationml/2006/ole">
              <mc:AlternateContent xmlns:mc="http://schemas.openxmlformats.org/markup-compatibility/2006">
                <mc:Choice xmlns:v="urn:schemas-microsoft-com:vml" Requires="v">
                  <p:oleObj spid="_x0000_s1750323" name="Equation" r:id="rId10" imgW="1168200" imgH="241200" progId="Equation.DSMT4">
                    <p:embed/>
                  </p:oleObj>
                </mc:Choice>
                <mc:Fallback>
                  <p:oleObj name="Equation" r:id="rId10" imgW="1168200" imgH="241200" progId="Equation.DSMT4">
                    <p:embed/>
                    <p:pic>
                      <p:nvPicPr>
                        <p:cNvPr id="763906" name="Object 2"/>
                        <p:cNvPicPr>
                          <a:picLocks noChangeAspect="1" noChangeArrowheads="1"/>
                        </p:cNvPicPr>
                        <p:nvPr/>
                      </p:nvPicPr>
                      <p:blipFill>
                        <a:blip r:embed="rId11"/>
                        <a:srcRect/>
                        <a:stretch>
                          <a:fillRect/>
                        </a:stretch>
                      </p:blipFill>
                      <p:spPr bwMode="auto">
                        <a:xfrm>
                          <a:off x="5761038" y="2312988"/>
                          <a:ext cx="2151062" cy="441325"/>
                        </a:xfrm>
                        <a:prstGeom prst="rect">
                          <a:avLst/>
                        </a:prstGeom>
                        <a:noFill/>
                        <a:ln>
                          <a:noFill/>
                        </a:ln>
                        <a:effectLst/>
                        <a:extLst/>
                      </p:spPr>
                    </p:pic>
                  </p:oleObj>
                </mc:Fallback>
              </mc:AlternateContent>
            </a:graphicData>
          </a:graphic>
        </p:graphicFrame>
        <p:graphicFrame>
          <p:nvGraphicFramePr>
            <p:cNvPr id="79" name="Object 3"/>
            <p:cNvGraphicFramePr>
              <a:graphicFrameLocks noChangeAspect="1"/>
            </p:cNvGraphicFramePr>
            <p:nvPr>
              <p:extLst>
                <p:ext uri="{D42A27DB-BD31-4B8C-83A1-F6EECF244321}">
                  <p14:modId xmlns:p14="http://schemas.microsoft.com/office/powerpoint/2010/main" val="2989170591"/>
                </p:ext>
              </p:extLst>
            </p:nvPr>
          </p:nvGraphicFramePr>
          <p:xfrm>
            <a:off x="5794375" y="2990850"/>
            <a:ext cx="3216275" cy="452438"/>
          </p:xfrm>
          <a:graphic>
            <a:graphicData uri="http://schemas.openxmlformats.org/presentationml/2006/ole">
              <mc:AlternateContent xmlns:mc="http://schemas.openxmlformats.org/markup-compatibility/2006">
                <mc:Choice xmlns:v="urn:schemas-microsoft-com:vml" Requires="v">
                  <p:oleObj spid="_x0000_s1750324" name="Equation" r:id="rId12" imgW="1714320" imgH="241200" progId="Equation.DSMT4">
                    <p:embed/>
                  </p:oleObj>
                </mc:Choice>
                <mc:Fallback>
                  <p:oleObj name="Equation" r:id="rId12" imgW="1714320" imgH="241200" progId="Equation.DSMT4">
                    <p:embed/>
                    <p:pic>
                      <p:nvPicPr>
                        <p:cNvPr id="763907" name="Object 3"/>
                        <p:cNvPicPr>
                          <a:picLocks noChangeAspect="1" noChangeArrowheads="1"/>
                        </p:cNvPicPr>
                        <p:nvPr/>
                      </p:nvPicPr>
                      <p:blipFill>
                        <a:blip r:embed="rId13"/>
                        <a:srcRect/>
                        <a:stretch>
                          <a:fillRect/>
                        </a:stretch>
                      </p:blipFill>
                      <p:spPr bwMode="auto">
                        <a:xfrm>
                          <a:off x="5794375" y="2990850"/>
                          <a:ext cx="3216275" cy="452438"/>
                        </a:xfrm>
                        <a:prstGeom prst="rect">
                          <a:avLst/>
                        </a:prstGeom>
                        <a:noFill/>
                        <a:ln>
                          <a:noFill/>
                        </a:ln>
                        <a:effectLst/>
                        <a:extLst/>
                      </p:spPr>
                    </p:pic>
                  </p:oleObj>
                </mc:Fallback>
              </mc:AlternateContent>
            </a:graphicData>
          </a:graphic>
        </p:graphicFrame>
        <p:sp>
          <p:nvSpPr>
            <p:cNvPr id="80" name="Line 89"/>
            <p:cNvSpPr>
              <a:spLocks noChangeAspect="1" noChangeShapeType="1"/>
            </p:cNvSpPr>
            <p:nvPr/>
          </p:nvSpPr>
          <p:spPr bwMode="auto">
            <a:xfrm rot="5400000">
              <a:off x="5394245" y="1495383"/>
              <a:ext cx="17793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81" name="Text Box 57"/>
            <p:cNvSpPr txBox="1">
              <a:spLocks noChangeArrowheads="1"/>
            </p:cNvSpPr>
            <p:nvPr/>
          </p:nvSpPr>
          <p:spPr bwMode="auto">
            <a:xfrm>
              <a:off x="5605707" y="1211360"/>
              <a:ext cx="456506" cy="483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smtClean="0">
                  <a:solidFill>
                    <a:srgbClr val="000066"/>
                  </a:solidFill>
                  <a:sym typeface="Symbol" pitchFamily="18" charset="2"/>
                </a:rPr>
                <a:t>z</a:t>
              </a:r>
              <a:r>
                <a:rPr lang="en-US" altLang="zh-CN" sz="2400" b="1" baseline="-25000" dirty="0" smtClean="0">
                  <a:solidFill>
                    <a:srgbClr val="000066"/>
                  </a:solidFill>
                  <a:sym typeface="Symbol" pitchFamily="18" charset="2"/>
                </a:rPr>
                <a:t>0</a:t>
              </a:r>
              <a:endParaRPr lang="en-US" altLang="zh-CN" sz="2400" b="1" baseline="-25000" dirty="0">
                <a:solidFill>
                  <a:srgbClr val="000066"/>
                </a:solidFill>
                <a:sym typeface="Symbol" pitchFamily="18" charset="2"/>
              </a:endParaRPr>
            </a:p>
          </p:txBody>
        </p:sp>
        <p:cxnSp>
          <p:nvCxnSpPr>
            <p:cNvPr id="82" name="直接连接符 81"/>
            <p:cNvCxnSpPr/>
            <p:nvPr/>
          </p:nvCxnSpPr>
          <p:spPr bwMode="auto">
            <a:xfrm flipH="1">
              <a:off x="5111004" y="1574238"/>
              <a:ext cx="53429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84" name="对象 83"/>
          <p:cNvGraphicFramePr>
            <a:graphicFrameLocks noChangeAspect="1"/>
          </p:cNvGraphicFramePr>
          <p:nvPr>
            <p:extLst>
              <p:ext uri="{D42A27DB-BD31-4B8C-83A1-F6EECF244321}">
                <p14:modId xmlns:p14="http://schemas.microsoft.com/office/powerpoint/2010/main" val="3618030350"/>
              </p:ext>
            </p:extLst>
          </p:nvPr>
        </p:nvGraphicFramePr>
        <p:xfrm>
          <a:off x="5213350" y="369888"/>
          <a:ext cx="1341438" cy="831850"/>
        </p:xfrm>
        <a:graphic>
          <a:graphicData uri="http://schemas.openxmlformats.org/presentationml/2006/ole">
            <mc:AlternateContent xmlns:mc="http://schemas.openxmlformats.org/markup-compatibility/2006">
              <mc:Choice xmlns:v="urn:schemas-microsoft-com:vml" Requires="v">
                <p:oleObj spid="_x0000_s1750325" name="Equation" r:id="rId14" imgW="698400" imgH="431640" progId="Equation.DSMT4">
                  <p:embed/>
                </p:oleObj>
              </mc:Choice>
              <mc:Fallback>
                <p:oleObj name="Equation" r:id="rId14" imgW="698400" imgH="431640" progId="Equation.DSMT4">
                  <p:embed/>
                  <p:pic>
                    <p:nvPicPr>
                      <p:cNvPr id="229" name="对象 228"/>
                      <p:cNvPicPr>
                        <a:picLocks noChangeAspect="1" noChangeArrowheads="1"/>
                      </p:cNvPicPr>
                      <p:nvPr/>
                    </p:nvPicPr>
                    <p:blipFill>
                      <a:blip r:embed="rId15"/>
                      <a:srcRect/>
                      <a:stretch>
                        <a:fillRect/>
                      </a:stretch>
                    </p:blipFill>
                    <p:spPr bwMode="auto">
                      <a:xfrm>
                        <a:off x="5213350" y="369888"/>
                        <a:ext cx="1341438" cy="831850"/>
                      </a:xfrm>
                      <a:prstGeom prst="rect">
                        <a:avLst/>
                      </a:prstGeom>
                      <a:noFill/>
                      <a:ln>
                        <a:noFill/>
                      </a:ln>
                      <a:effectLst/>
                    </p:spPr>
                  </p:pic>
                </p:oleObj>
              </mc:Fallback>
            </mc:AlternateContent>
          </a:graphicData>
        </a:graphic>
      </p:graphicFrame>
      <p:grpSp>
        <p:nvGrpSpPr>
          <p:cNvPr id="3" name="组合 2"/>
          <p:cNvGrpSpPr/>
          <p:nvPr/>
        </p:nvGrpSpPr>
        <p:grpSpPr>
          <a:xfrm>
            <a:off x="964495" y="3655503"/>
            <a:ext cx="5534946" cy="1634350"/>
            <a:chOff x="964495" y="3655503"/>
            <a:chExt cx="5534946" cy="1634350"/>
          </a:xfrm>
        </p:grpSpPr>
        <p:sp>
          <p:nvSpPr>
            <p:cNvPr id="113" name="任意多边形 112"/>
            <p:cNvSpPr/>
            <p:nvPr/>
          </p:nvSpPr>
          <p:spPr bwMode="auto">
            <a:xfrm>
              <a:off x="4565719" y="3665159"/>
              <a:ext cx="1033029" cy="1622861"/>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296653 w 641555"/>
                <a:gd name="connsiteY3" fmla="*/ 1202430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301679 w 641555"/>
                <a:gd name="connsiteY3" fmla="*/ 1221513 h 2116394"/>
                <a:gd name="connsiteX4" fmla="*/ 641555 w 641555"/>
                <a:gd name="connsiteY4" fmla="*/ 1216742 h 2116394"/>
                <a:gd name="connsiteX5" fmla="*/ 0 w 641555"/>
                <a:gd name="connsiteY5" fmla="*/ 0 h 2116394"/>
                <a:gd name="connsiteX0" fmla="*/ 0 w 641555"/>
                <a:gd name="connsiteY0" fmla="*/ 0 h 2121164"/>
                <a:gd name="connsiteX1" fmla="*/ 0 w 641555"/>
                <a:gd name="connsiteY1" fmla="*/ 2116394 h 2121164"/>
                <a:gd name="connsiteX2" fmla="*/ 532430 w 641555"/>
                <a:gd name="connsiteY2" fmla="*/ 2121164 h 2121164"/>
                <a:gd name="connsiteX3" fmla="*/ 301679 w 641555"/>
                <a:gd name="connsiteY3" fmla="*/ 1221513 h 2121164"/>
                <a:gd name="connsiteX4" fmla="*/ 641555 w 641555"/>
                <a:gd name="connsiteY4" fmla="*/ 1216742 h 2121164"/>
                <a:gd name="connsiteX5" fmla="*/ 0 w 641555"/>
                <a:gd name="connsiteY5" fmla="*/ 0 h 2121164"/>
                <a:gd name="connsiteX0" fmla="*/ 0 w 641555"/>
                <a:gd name="connsiteY0" fmla="*/ 0 h 2121164"/>
                <a:gd name="connsiteX1" fmla="*/ 0 w 641555"/>
                <a:gd name="connsiteY1" fmla="*/ 2116394 h 2121164"/>
                <a:gd name="connsiteX2" fmla="*/ 532430 w 641555"/>
                <a:gd name="connsiteY2" fmla="*/ 2121164 h 2121164"/>
                <a:gd name="connsiteX3" fmla="*/ 394666 w 641555"/>
                <a:gd name="connsiteY3" fmla="*/ 1231055 h 2121164"/>
                <a:gd name="connsiteX4" fmla="*/ 641555 w 641555"/>
                <a:gd name="connsiteY4" fmla="*/ 1216742 h 2121164"/>
                <a:gd name="connsiteX5" fmla="*/ 0 w 641555"/>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62067 w 532430"/>
                <a:gd name="connsiteY4" fmla="*/ 1235825 h 2121164"/>
                <a:gd name="connsiteX5" fmla="*/ 0 w 532430"/>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60438 w 532430"/>
                <a:gd name="connsiteY4" fmla="*/ 1238919 h 2121164"/>
                <a:gd name="connsiteX5" fmla="*/ 0 w 532430"/>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94666 w 532430"/>
                <a:gd name="connsiteY3" fmla="*/ 1231055 h 2121164"/>
                <a:gd name="connsiteX4" fmla="*/ 258808 w 532430"/>
                <a:gd name="connsiteY4" fmla="*/ 1232732 h 2121164"/>
                <a:gd name="connsiteX5" fmla="*/ 0 w 532430"/>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94666 w 670949"/>
                <a:gd name="connsiteY3" fmla="*/ 1231055 h 2121164"/>
                <a:gd name="connsiteX4" fmla="*/ 258808 w 670949"/>
                <a:gd name="connsiteY4" fmla="*/ 1232732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94666 w 670949"/>
                <a:gd name="connsiteY3" fmla="*/ 1231055 h 2121164"/>
                <a:gd name="connsiteX4" fmla="*/ 263697 w 670949"/>
                <a:gd name="connsiteY4" fmla="*/ 1223451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84889 w 670949"/>
                <a:gd name="connsiteY3" fmla="*/ 1218680 h 2121164"/>
                <a:gd name="connsiteX4" fmla="*/ 263697 w 670949"/>
                <a:gd name="connsiteY4" fmla="*/ 1223451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84889 w 670949"/>
                <a:gd name="connsiteY3" fmla="*/ 1218680 h 2121164"/>
                <a:gd name="connsiteX4" fmla="*/ 263697 w 670949"/>
                <a:gd name="connsiteY4" fmla="*/ 1223451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84889 w 670949"/>
                <a:gd name="connsiteY3" fmla="*/ 1218680 h 2121164"/>
                <a:gd name="connsiteX4" fmla="*/ 459535 w 670949"/>
                <a:gd name="connsiteY4" fmla="*/ 1214905 h 2121164"/>
                <a:gd name="connsiteX5" fmla="*/ 0 w 670949"/>
                <a:gd name="connsiteY5" fmla="*/ 0 h 2121164"/>
                <a:gd name="connsiteX0" fmla="*/ 0 w 670949"/>
                <a:gd name="connsiteY0" fmla="*/ 0 h 2121164"/>
                <a:gd name="connsiteX1" fmla="*/ 0 w 670949"/>
                <a:gd name="connsiteY1" fmla="*/ 2116394 h 2121164"/>
                <a:gd name="connsiteX2" fmla="*/ 670949 w 670949"/>
                <a:gd name="connsiteY2" fmla="*/ 2121164 h 2121164"/>
                <a:gd name="connsiteX3" fmla="*/ 364630 w 670949"/>
                <a:gd name="connsiteY3" fmla="*/ 1218680 h 2121164"/>
                <a:gd name="connsiteX4" fmla="*/ 459535 w 670949"/>
                <a:gd name="connsiteY4" fmla="*/ 1214905 h 2121164"/>
                <a:gd name="connsiteX5" fmla="*/ 0 w 670949"/>
                <a:gd name="connsiteY5" fmla="*/ 0 h 2121164"/>
                <a:gd name="connsiteX0" fmla="*/ 0 w 706965"/>
                <a:gd name="connsiteY0" fmla="*/ 0 h 2116394"/>
                <a:gd name="connsiteX1" fmla="*/ 0 w 706965"/>
                <a:gd name="connsiteY1" fmla="*/ 2116394 h 2116394"/>
                <a:gd name="connsiteX2" fmla="*/ 706965 w 706965"/>
                <a:gd name="connsiteY2" fmla="*/ 2108344 h 2116394"/>
                <a:gd name="connsiteX3" fmla="*/ 364630 w 706965"/>
                <a:gd name="connsiteY3" fmla="*/ 1218680 h 2116394"/>
                <a:gd name="connsiteX4" fmla="*/ 459535 w 706965"/>
                <a:gd name="connsiteY4" fmla="*/ 1214905 h 2116394"/>
                <a:gd name="connsiteX5" fmla="*/ 0 w 706965"/>
                <a:gd name="connsiteY5" fmla="*/ 0 h 2116394"/>
                <a:gd name="connsiteX0" fmla="*/ 0 w 706965"/>
                <a:gd name="connsiteY0" fmla="*/ 0 h 2108344"/>
                <a:gd name="connsiteX1" fmla="*/ 0 w 706965"/>
                <a:gd name="connsiteY1" fmla="*/ 2103574 h 2108344"/>
                <a:gd name="connsiteX2" fmla="*/ 706965 w 706965"/>
                <a:gd name="connsiteY2" fmla="*/ 2108344 h 2108344"/>
                <a:gd name="connsiteX3" fmla="*/ 364630 w 706965"/>
                <a:gd name="connsiteY3" fmla="*/ 1218680 h 2108344"/>
                <a:gd name="connsiteX4" fmla="*/ 459535 w 706965"/>
                <a:gd name="connsiteY4" fmla="*/ 1214905 h 2108344"/>
                <a:gd name="connsiteX5" fmla="*/ 0 w 706965"/>
                <a:gd name="connsiteY5" fmla="*/ 0 h 210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965" h="2108344">
                  <a:moveTo>
                    <a:pt x="0" y="0"/>
                  </a:moveTo>
                  <a:lnTo>
                    <a:pt x="0" y="2103574"/>
                  </a:lnTo>
                  <a:lnTo>
                    <a:pt x="706965" y="2108344"/>
                  </a:lnTo>
                  <a:lnTo>
                    <a:pt x="364630" y="1218680"/>
                  </a:lnTo>
                  <a:lnTo>
                    <a:pt x="459535" y="1214905"/>
                  </a:lnTo>
                  <a:lnTo>
                    <a:pt x="0" y="0"/>
                  </a:lnTo>
                  <a:close/>
                </a:path>
              </a:pathLst>
            </a:custGeom>
            <a:solidFill>
              <a:srgbClr val="FFC000"/>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9" name="任意多边形 88"/>
            <p:cNvSpPr/>
            <p:nvPr/>
          </p:nvSpPr>
          <p:spPr bwMode="auto">
            <a:xfrm>
              <a:off x="2886871" y="3989648"/>
              <a:ext cx="1054159" cy="1290522"/>
            </a:xfrm>
            <a:custGeom>
              <a:avLst/>
              <a:gdLst>
                <a:gd name="connsiteX0" fmla="*/ 0 w 641555"/>
                <a:gd name="connsiteY0" fmla="*/ 0 h 2116394"/>
                <a:gd name="connsiteX1" fmla="*/ 0 w 641555"/>
                <a:gd name="connsiteY1" fmla="*/ 2116394 h 2116394"/>
                <a:gd name="connsiteX2" fmla="*/ 464574 w 641555"/>
                <a:gd name="connsiteY2" fmla="*/ 2116394 h 2116394"/>
                <a:gd name="connsiteX3" fmla="*/ 331838 w 641555"/>
                <a:gd name="connsiteY3" fmla="*/ 1216742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296653 w 641555"/>
                <a:gd name="connsiteY3" fmla="*/ 1202430 h 2116394"/>
                <a:gd name="connsiteX4" fmla="*/ 641555 w 641555"/>
                <a:gd name="connsiteY4" fmla="*/ 1216742 h 2116394"/>
                <a:gd name="connsiteX5" fmla="*/ 0 w 641555"/>
                <a:gd name="connsiteY5" fmla="*/ 0 h 2116394"/>
                <a:gd name="connsiteX0" fmla="*/ 0 w 641555"/>
                <a:gd name="connsiteY0" fmla="*/ 0 h 2116394"/>
                <a:gd name="connsiteX1" fmla="*/ 0 w 641555"/>
                <a:gd name="connsiteY1" fmla="*/ 2116394 h 2116394"/>
                <a:gd name="connsiteX2" fmla="*/ 464574 w 641555"/>
                <a:gd name="connsiteY2" fmla="*/ 2116394 h 2116394"/>
                <a:gd name="connsiteX3" fmla="*/ 301679 w 641555"/>
                <a:gd name="connsiteY3" fmla="*/ 1221513 h 2116394"/>
                <a:gd name="connsiteX4" fmla="*/ 641555 w 641555"/>
                <a:gd name="connsiteY4" fmla="*/ 1216742 h 2116394"/>
                <a:gd name="connsiteX5" fmla="*/ 0 w 641555"/>
                <a:gd name="connsiteY5" fmla="*/ 0 h 2116394"/>
                <a:gd name="connsiteX0" fmla="*/ 0 w 641555"/>
                <a:gd name="connsiteY0" fmla="*/ 0 h 2121164"/>
                <a:gd name="connsiteX1" fmla="*/ 0 w 641555"/>
                <a:gd name="connsiteY1" fmla="*/ 2116394 h 2121164"/>
                <a:gd name="connsiteX2" fmla="*/ 532430 w 641555"/>
                <a:gd name="connsiteY2" fmla="*/ 2121164 h 2121164"/>
                <a:gd name="connsiteX3" fmla="*/ 301679 w 641555"/>
                <a:gd name="connsiteY3" fmla="*/ 1221513 h 2121164"/>
                <a:gd name="connsiteX4" fmla="*/ 641555 w 641555"/>
                <a:gd name="connsiteY4" fmla="*/ 1216742 h 2121164"/>
                <a:gd name="connsiteX5" fmla="*/ 0 w 641555"/>
                <a:gd name="connsiteY5" fmla="*/ 0 h 2121164"/>
                <a:gd name="connsiteX0" fmla="*/ 0 w 635036"/>
                <a:gd name="connsiteY0" fmla="*/ 0 h 2121164"/>
                <a:gd name="connsiteX1" fmla="*/ 0 w 635036"/>
                <a:gd name="connsiteY1" fmla="*/ 2116394 h 2121164"/>
                <a:gd name="connsiteX2" fmla="*/ 532430 w 635036"/>
                <a:gd name="connsiteY2" fmla="*/ 2121164 h 2121164"/>
                <a:gd name="connsiteX3" fmla="*/ 301679 w 635036"/>
                <a:gd name="connsiteY3" fmla="*/ 1221513 h 2121164"/>
                <a:gd name="connsiteX4" fmla="*/ 635036 w 635036"/>
                <a:gd name="connsiteY4" fmla="*/ 1219835 h 2121164"/>
                <a:gd name="connsiteX5" fmla="*/ 0 w 635036"/>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301679 w 532430"/>
                <a:gd name="connsiteY3" fmla="*/ 1221513 h 2121164"/>
                <a:gd name="connsiteX4" fmla="*/ 277448 w 532430"/>
                <a:gd name="connsiteY4" fmla="*/ 769461 h 2121164"/>
                <a:gd name="connsiteX5" fmla="*/ 0 w 532430"/>
                <a:gd name="connsiteY5" fmla="*/ 0 h 2121164"/>
                <a:gd name="connsiteX0" fmla="*/ 0 w 532430"/>
                <a:gd name="connsiteY0" fmla="*/ 0 h 2121164"/>
                <a:gd name="connsiteX1" fmla="*/ 0 w 532430"/>
                <a:gd name="connsiteY1" fmla="*/ 2116394 h 2121164"/>
                <a:gd name="connsiteX2" fmla="*/ 532430 w 532430"/>
                <a:gd name="connsiteY2" fmla="*/ 2121164 h 2121164"/>
                <a:gd name="connsiteX3" fmla="*/ 418583 w 532430"/>
                <a:gd name="connsiteY3" fmla="*/ 764611 h 2121164"/>
                <a:gd name="connsiteX4" fmla="*/ 277448 w 532430"/>
                <a:gd name="connsiteY4" fmla="*/ 769461 h 2121164"/>
                <a:gd name="connsiteX5" fmla="*/ 0 w 532430"/>
                <a:gd name="connsiteY5" fmla="*/ 0 h 2121164"/>
                <a:gd name="connsiteX0" fmla="*/ 0 w 718101"/>
                <a:gd name="connsiteY0" fmla="*/ 0 h 2116394"/>
                <a:gd name="connsiteX1" fmla="*/ 0 w 718101"/>
                <a:gd name="connsiteY1" fmla="*/ 2116394 h 2116394"/>
                <a:gd name="connsiteX2" fmla="*/ 718101 w 718101"/>
                <a:gd name="connsiteY2" fmla="*/ 1677316 h 2116394"/>
                <a:gd name="connsiteX3" fmla="*/ 418583 w 718101"/>
                <a:gd name="connsiteY3" fmla="*/ 764611 h 2116394"/>
                <a:gd name="connsiteX4" fmla="*/ 277448 w 718101"/>
                <a:gd name="connsiteY4" fmla="*/ 769461 h 2116394"/>
                <a:gd name="connsiteX5" fmla="*/ 0 w 718101"/>
                <a:gd name="connsiteY5" fmla="*/ 0 h 2116394"/>
                <a:gd name="connsiteX0" fmla="*/ 0 w 718101"/>
                <a:gd name="connsiteY0" fmla="*/ 0 h 1677315"/>
                <a:gd name="connsiteX1" fmla="*/ 0 w 718101"/>
                <a:gd name="connsiteY1" fmla="*/ 1659492 h 1677315"/>
                <a:gd name="connsiteX2" fmla="*/ 718101 w 718101"/>
                <a:gd name="connsiteY2" fmla="*/ 1677316 h 1677315"/>
                <a:gd name="connsiteX3" fmla="*/ 418583 w 718101"/>
                <a:gd name="connsiteY3" fmla="*/ 764611 h 1677315"/>
                <a:gd name="connsiteX4" fmla="*/ 277448 w 718101"/>
                <a:gd name="connsiteY4" fmla="*/ 769461 h 1677315"/>
                <a:gd name="connsiteX5" fmla="*/ 0 w 718101"/>
                <a:gd name="connsiteY5" fmla="*/ 0 h 1677315"/>
                <a:gd name="connsiteX0" fmla="*/ 6876 w 718101"/>
                <a:gd name="connsiteY0" fmla="*/ 0 h 1677316"/>
                <a:gd name="connsiteX1" fmla="*/ 0 w 718101"/>
                <a:gd name="connsiteY1" fmla="*/ 1659492 h 1677316"/>
                <a:gd name="connsiteX2" fmla="*/ 718101 w 718101"/>
                <a:gd name="connsiteY2" fmla="*/ 1677316 h 1677316"/>
                <a:gd name="connsiteX3" fmla="*/ 418583 w 718101"/>
                <a:gd name="connsiteY3" fmla="*/ 764611 h 1677316"/>
                <a:gd name="connsiteX4" fmla="*/ 277448 w 718101"/>
                <a:gd name="connsiteY4" fmla="*/ 769461 h 1677316"/>
                <a:gd name="connsiteX5" fmla="*/ 6876 w 718101"/>
                <a:gd name="connsiteY5" fmla="*/ 0 h 1677316"/>
                <a:gd name="connsiteX0" fmla="*/ 0 w 720229"/>
                <a:gd name="connsiteY0" fmla="*/ 0 h 1681590"/>
                <a:gd name="connsiteX1" fmla="*/ 2128 w 720229"/>
                <a:gd name="connsiteY1" fmla="*/ 1663766 h 1681590"/>
                <a:gd name="connsiteX2" fmla="*/ 720229 w 720229"/>
                <a:gd name="connsiteY2" fmla="*/ 1681590 h 1681590"/>
                <a:gd name="connsiteX3" fmla="*/ 420711 w 720229"/>
                <a:gd name="connsiteY3" fmla="*/ 768885 h 1681590"/>
                <a:gd name="connsiteX4" fmla="*/ 279576 w 720229"/>
                <a:gd name="connsiteY4" fmla="*/ 773735 h 1681590"/>
                <a:gd name="connsiteX5" fmla="*/ 0 w 720229"/>
                <a:gd name="connsiteY5" fmla="*/ 0 h 1681590"/>
                <a:gd name="connsiteX0" fmla="*/ 0 w 722480"/>
                <a:gd name="connsiteY0" fmla="*/ 0 h 1694409"/>
                <a:gd name="connsiteX1" fmla="*/ 4379 w 722480"/>
                <a:gd name="connsiteY1" fmla="*/ 1676585 h 1694409"/>
                <a:gd name="connsiteX2" fmla="*/ 722480 w 722480"/>
                <a:gd name="connsiteY2" fmla="*/ 1694409 h 1694409"/>
                <a:gd name="connsiteX3" fmla="*/ 422962 w 722480"/>
                <a:gd name="connsiteY3" fmla="*/ 781704 h 1694409"/>
                <a:gd name="connsiteX4" fmla="*/ 281827 w 722480"/>
                <a:gd name="connsiteY4" fmla="*/ 786554 h 1694409"/>
                <a:gd name="connsiteX5" fmla="*/ 0 w 722480"/>
                <a:gd name="connsiteY5" fmla="*/ 0 h 1694409"/>
                <a:gd name="connsiteX0" fmla="*/ 0 w 719220"/>
                <a:gd name="connsiteY0" fmla="*/ 0 h 1694409"/>
                <a:gd name="connsiteX1" fmla="*/ 1119 w 719220"/>
                <a:gd name="connsiteY1" fmla="*/ 1676585 h 1694409"/>
                <a:gd name="connsiteX2" fmla="*/ 719220 w 719220"/>
                <a:gd name="connsiteY2" fmla="*/ 1694409 h 1694409"/>
                <a:gd name="connsiteX3" fmla="*/ 419702 w 719220"/>
                <a:gd name="connsiteY3" fmla="*/ 781704 h 1694409"/>
                <a:gd name="connsiteX4" fmla="*/ 278567 w 719220"/>
                <a:gd name="connsiteY4" fmla="*/ 786554 h 1694409"/>
                <a:gd name="connsiteX5" fmla="*/ 0 w 719220"/>
                <a:gd name="connsiteY5" fmla="*/ 0 h 1694409"/>
                <a:gd name="connsiteX0" fmla="*/ 3837 w 718168"/>
                <a:gd name="connsiteY0" fmla="*/ 0 h 1694409"/>
                <a:gd name="connsiteX1" fmla="*/ 67 w 718168"/>
                <a:gd name="connsiteY1" fmla="*/ 1676585 h 1694409"/>
                <a:gd name="connsiteX2" fmla="*/ 718168 w 718168"/>
                <a:gd name="connsiteY2" fmla="*/ 1694409 h 1694409"/>
                <a:gd name="connsiteX3" fmla="*/ 418650 w 718168"/>
                <a:gd name="connsiteY3" fmla="*/ 781704 h 1694409"/>
                <a:gd name="connsiteX4" fmla="*/ 277515 w 718168"/>
                <a:gd name="connsiteY4" fmla="*/ 786554 h 1694409"/>
                <a:gd name="connsiteX5" fmla="*/ 3837 w 718168"/>
                <a:gd name="connsiteY5" fmla="*/ 0 h 1694409"/>
                <a:gd name="connsiteX0" fmla="*/ 3837 w 721427"/>
                <a:gd name="connsiteY0" fmla="*/ 0 h 1676585"/>
                <a:gd name="connsiteX1" fmla="*/ 67 w 721427"/>
                <a:gd name="connsiteY1" fmla="*/ 1676585 h 1676585"/>
                <a:gd name="connsiteX2" fmla="*/ 721427 w 721427"/>
                <a:gd name="connsiteY2" fmla="*/ 1675848 h 1676585"/>
                <a:gd name="connsiteX3" fmla="*/ 418650 w 721427"/>
                <a:gd name="connsiteY3" fmla="*/ 781704 h 1676585"/>
                <a:gd name="connsiteX4" fmla="*/ 277515 w 721427"/>
                <a:gd name="connsiteY4" fmla="*/ 786554 h 1676585"/>
                <a:gd name="connsiteX5" fmla="*/ 3837 w 721427"/>
                <a:gd name="connsiteY5" fmla="*/ 0 h 167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1427" h="1676585">
                  <a:moveTo>
                    <a:pt x="3837" y="0"/>
                  </a:moveTo>
                  <a:cubicBezTo>
                    <a:pt x="4546" y="554589"/>
                    <a:pt x="-642" y="1121996"/>
                    <a:pt x="67" y="1676585"/>
                  </a:cubicBezTo>
                  <a:lnTo>
                    <a:pt x="721427" y="1675848"/>
                  </a:lnTo>
                  <a:lnTo>
                    <a:pt x="418650" y="781704"/>
                  </a:lnTo>
                  <a:lnTo>
                    <a:pt x="277515" y="786554"/>
                  </a:lnTo>
                  <a:cubicBezTo>
                    <a:pt x="183573" y="524369"/>
                    <a:pt x="97779" y="262185"/>
                    <a:pt x="3837" y="0"/>
                  </a:cubicBezTo>
                  <a:close/>
                </a:path>
              </a:pathLst>
            </a:custGeom>
            <a:solidFill>
              <a:srgbClr val="FFC000"/>
            </a:solidFill>
            <a:ln w="1905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94" name="直接连接符 93"/>
            <p:cNvCxnSpPr/>
            <p:nvPr/>
          </p:nvCxnSpPr>
          <p:spPr bwMode="auto">
            <a:xfrm>
              <a:off x="2884991" y="3661012"/>
              <a:ext cx="0" cy="162884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2893925" y="3672673"/>
              <a:ext cx="607925" cy="929472"/>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2880553" y="5285076"/>
              <a:ext cx="3508298"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102"/>
            <p:cNvCxnSpPr/>
            <p:nvPr/>
          </p:nvCxnSpPr>
          <p:spPr bwMode="auto">
            <a:xfrm>
              <a:off x="2885038" y="3660693"/>
              <a:ext cx="3483913"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104"/>
            <p:cNvCxnSpPr/>
            <p:nvPr/>
          </p:nvCxnSpPr>
          <p:spPr bwMode="auto">
            <a:xfrm>
              <a:off x="2883151" y="4597895"/>
              <a:ext cx="3484227" cy="0"/>
            </a:xfrm>
            <a:prstGeom prst="line">
              <a:avLst/>
            </a:prstGeom>
            <a:noFill/>
            <a:ln w="1270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102"/>
            <p:cNvSpPr txBox="1">
              <a:spLocks noChangeArrowheads="1"/>
            </p:cNvSpPr>
            <p:nvPr/>
          </p:nvSpPr>
          <p:spPr bwMode="auto">
            <a:xfrm>
              <a:off x="964495" y="3904886"/>
              <a:ext cx="1708454" cy="963341"/>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lnSpc>
                  <a:spcPct val="100000"/>
                </a:lnSpc>
                <a:spcBef>
                  <a:spcPts val="600"/>
                </a:spcBef>
              </a:pPr>
              <a:r>
                <a:rPr kumimoji="1" lang="en-US" altLang="zh-CN" sz="2400" b="1" i="1" dirty="0">
                  <a:solidFill>
                    <a:srgbClr val="A50021"/>
                  </a:solidFill>
                  <a:latin typeface="Symbol" panose="05050102010706020507" pitchFamily="18" charset="2"/>
                  <a:ea typeface="黑体" panose="02010609060101010101" pitchFamily="49" charset="-122"/>
                </a:rPr>
                <a:t></a:t>
              </a:r>
              <a:r>
                <a:rPr kumimoji="1" lang="en-US" altLang="zh-CN" sz="2400" b="1" baseline="-25000" dirty="0" smtClean="0">
                  <a:solidFill>
                    <a:srgbClr val="A50021"/>
                  </a:solidFill>
                  <a:latin typeface="Symbol" panose="05050102010706020507" pitchFamily="18" charset="2"/>
                  <a:ea typeface="黑体" panose="02010609060101010101" pitchFamily="49" charset="-122"/>
                </a:rPr>
                <a:t>1</a:t>
              </a:r>
              <a:r>
                <a:rPr kumimoji="1" lang="en-US" altLang="zh-CN" sz="2400" b="1" i="1" baseline="-25000" dirty="0" smtClean="0">
                  <a:solidFill>
                    <a:srgbClr val="A50021"/>
                  </a:solidFill>
                  <a:latin typeface="Symbol" panose="05050102010706020507" pitchFamily="18" charset="2"/>
                  <a:ea typeface="黑体" panose="02010609060101010101" pitchFamily="49" charset="-122"/>
                </a:rPr>
                <a:t> </a:t>
              </a:r>
              <a:r>
                <a:rPr kumimoji="1" lang="en-US" altLang="zh-CN" sz="2400" b="1" i="1" dirty="0">
                  <a:solidFill>
                    <a:srgbClr val="A50021"/>
                  </a:solidFill>
                  <a:latin typeface="Symbol" panose="05050102010706020507" pitchFamily="18" charset="2"/>
                  <a:ea typeface="黑体" panose="02010609060101010101" pitchFamily="49" charset="-122"/>
                  <a:sym typeface="Symbol" panose="05050102010706020507" pitchFamily="18" charset="2"/>
                </a:rPr>
                <a:t>=</a:t>
              </a:r>
              <a:r>
                <a:rPr kumimoji="1" lang="en-US" altLang="zh-CN" sz="2400" b="1" i="1" dirty="0">
                  <a:solidFill>
                    <a:srgbClr val="A50021"/>
                  </a:solidFill>
                  <a:latin typeface="Symbol" panose="05050102010706020507" pitchFamily="18" charset="2"/>
                  <a:ea typeface="黑体" panose="02010609060101010101" pitchFamily="49" charset="-122"/>
                </a:rPr>
                <a:t> </a:t>
              </a:r>
              <a:r>
                <a:rPr kumimoji="1" lang="en-US" altLang="zh-CN" sz="2400" b="1" baseline="-25000" dirty="0" smtClean="0">
                  <a:solidFill>
                    <a:srgbClr val="A50021"/>
                  </a:solidFill>
                  <a:latin typeface="Symbol" panose="05050102010706020507" pitchFamily="18" charset="2"/>
                  <a:ea typeface="黑体" panose="02010609060101010101" pitchFamily="49" charset="-122"/>
                </a:rPr>
                <a:t>2</a:t>
              </a:r>
              <a:r>
                <a:rPr kumimoji="1" lang="en-US" altLang="zh-CN" sz="2400" b="1" dirty="0" smtClean="0">
                  <a:solidFill>
                    <a:srgbClr val="A50021"/>
                  </a:solidFill>
                  <a:latin typeface="Symbol" panose="05050102010706020507" pitchFamily="18" charset="2"/>
                  <a:ea typeface="黑体" panose="02010609060101010101" pitchFamily="49" charset="-122"/>
                </a:rPr>
                <a:t>   </a:t>
              </a:r>
            </a:p>
            <a:p>
              <a:pPr eaLnBrk="1" hangingPunct="1">
                <a:lnSpc>
                  <a:spcPct val="100000"/>
                </a:lnSpc>
                <a:spcBef>
                  <a:spcPts val="600"/>
                </a:spcBef>
              </a:pPr>
              <a:r>
                <a:rPr kumimoji="1" lang="en-US" altLang="zh-CN" sz="2400" b="1" dirty="0" smtClean="0">
                  <a:solidFill>
                    <a:srgbClr val="A50021"/>
                  </a:solidFill>
                  <a:latin typeface="Symbol" panose="05050102010706020507" pitchFamily="18" charset="2"/>
                  <a:ea typeface="黑体" panose="02010609060101010101" pitchFamily="49" charset="-122"/>
                </a:rPr>
                <a:t> </a:t>
              </a:r>
              <a:r>
                <a:rPr kumimoji="1" lang="en-US" altLang="zh-CN" sz="2400" b="1" i="1" dirty="0" smtClean="0">
                  <a:solidFill>
                    <a:srgbClr val="A50021"/>
                  </a:solidFill>
                  <a:latin typeface="Symbol" panose="05050102010706020507" pitchFamily="18" charset="2"/>
                </a:rPr>
                <a:t>g</a:t>
              </a:r>
              <a:r>
                <a:rPr kumimoji="1" lang="en-US" altLang="zh-CN" sz="2400" b="1" baseline="-25000" dirty="0" smtClean="0">
                  <a:solidFill>
                    <a:srgbClr val="A50021"/>
                  </a:solidFill>
                  <a:latin typeface="Times New Roman" panose="02020603050405020304" pitchFamily="18" charset="0"/>
                </a:rPr>
                <a:t>1</a:t>
              </a:r>
              <a:r>
                <a:rPr kumimoji="1" lang="en-US" altLang="zh-CN" sz="2400" b="1" i="1" dirty="0" smtClean="0">
                  <a:solidFill>
                    <a:srgbClr val="A50021"/>
                  </a:solidFill>
                  <a:latin typeface="Times New Roman" panose="02020603050405020304" pitchFamily="18" charset="0"/>
                </a:rPr>
                <a:t> </a:t>
              </a:r>
              <a:r>
                <a:rPr kumimoji="1" lang="en-US" altLang="zh-CN" sz="2400" b="1" dirty="0">
                  <a:solidFill>
                    <a:srgbClr val="A50021"/>
                  </a:solidFill>
                  <a:latin typeface="Times New Roman" panose="02020603050405020304" pitchFamily="18" charset="0"/>
                  <a:sym typeface="Symbol" panose="05050102010706020507" pitchFamily="18" charset="2"/>
                </a:rPr>
                <a:t>=</a:t>
              </a:r>
              <a:r>
                <a:rPr kumimoji="1" lang="en-US" altLang="zh-CN" sz="2400" b="1" i="1" dirty="0">
                  <a:solidFill>
                    <a:srgbClr val="A50021"/>
                  </a:solidFill>
                  <a:latin typeface="Times New Roman" panose="02020603050405020304" pitchFamily="18" charset="0"/>
                </a:rPr>
                <a:t> </a:t>
              </a:r>
              <a:r>
                <a:rPr kumimoji="1" lang="en-US" altLang="zh-CN" sz="2400" b="1" i="1" dirty="0" smtClean="0">
                  <a:solidFill>
                    <a:srgbClr val="A50021"/>
                  </a:solidFill>
                  <a:latin typeface="Symbol" panose="05050102010706020507" pitchFamily="18" charset="2"/>
                </a:rPr>
                <a:t>g</a:t>
              </a:r>
              <a:r>
                <a:rPr kumimoji="1" lang="en-US" altLang="zh-CN" sz="2400" b="1" baseline="-25000" dirty="0" smtClean="0">
                  <a:solidFill>
                    <a:srgbClr val="A50021"/>
                  </a:solidFill>
                  <a:latin typeface="Times New Roman" panose="02020603050405020304" pitchFamily="18" charset="0"/>
                </a:rPr>
                <a:t>2 </a:t>
              </a:r>
              <a:r>
                <a:rPr kumimoji="1" lang="zh-CN" altLang="en-US" sz="2400" b="1" dirty="0" smtClean="0">
                  <a:solidFill>
                    <a:srgbClr val="A50021"/>
                  </a:solidFill>
                  <a:latin typeface="Symbol" panose="05050102010706020507" pitchFamily="18" charset="2"/>
                  <a:ea typeface="黑体" panose="02010609060101010101" pitchFamily="49" charset="-122"/>
                </a:rPr>
                <a:t>时</a:t>
              </a:r>
              <a:endParaRPr kumimoji="1" lang="zh-CN" altLang="en-US" sz="2400" b="1" dirty="0">
                <a:solidFill>
                  <a:srgbClr val="A50021"/>
                </a:solidFill>
                <a:latin typeface="Symbol" panose="05050102010706020507" pitchFamily="18" charset="2"/>
                <a:ea typeface="黑体" panose="02010609060101010101" pitchFamily="49" charset="-122"/>
              </a:endParaRPr>
            </a:p>
          </p:txBody>
        </p:sp>
        <p:cxnSp>
          <p:nvCxnSpPr>
            <p:cNvPr id="114" name="直接连接符 113"/>
            <p:cNvCxnSpPr/>
            <p:nvPr/>
          </p:nvCxnSpPr>
          <p:spPr bwMode="auto">
            <a:xfrm>
              <a:off x="4558898" y="3655503"/>
              <a:ext cx="0" cy="162884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接连接符 126"/>
            <p:cNvCxnSpPr>
              <a:stCxn id="16" idx="1"/>
            </p:cNvCxnSpPr>
            <p:nvPr/>
          </p:nvCxnSpPr>
          <p:spPr bwMode="auto">
            <a:xfrm>
              <a:off x="5239709" y="4598314"/>
              <a:ext cx="493382" cy="690733"/>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Text Box 112"/>
            <p:cNvSpPr txBox="1">
              <a:spLocks noChangeArrowheads="1"/>
            </p:cNvSpPr>
            <p:nvPr/>
          </p:nvSpPr>
          <p:spPr bwMode="auto">
            <a:xfrm>
              <a:off x="3160930" y="3816830"/>
              <a:ext cx="1442831" cy="417871"/>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50000"/>
                </a:spcBef>
              </a:pPr>
              <a:r>
                <a:rPr kumimoji="1" lang="en-US" altLang="zh-CN" sz="2000" b="1" i="1" dirty="0" smtClean="0">
                  <a:solidFill>
                    <a:srgbClr val="000066"/>
                  </a:solidFill>
                  <a:latin typeface="Times New Roman" panose="02020603050405020304" pitchFamily="18" charset="0"/>
                  <a:cs typeface="Times New Roman" panose="02020603050405020304" pitchFamily="18" charset="0"/>
                </a:rPr>
                <a:t>c</a:t>
              </a:r>
              <a:r>
                <a:rPr kumimoji="1" lang="en-US" altLang="zh-CN" sz="2000" b="1" baseline="-25000" dirty="0" smtClean="0">
                  <a:solidFill>
                    <a:srgbClr val="000066"/>
                  </a:solidFill>
                  <a:latin typeface="Times New Roman" panose="02020603050405020304" pitchFamily="18" charset="0"/>
                </a:rPr>
                <a:t>1</a:t>
              </a:r>
              <a:r>
                <a:rPr kumimoji="1" lang="en-US" altLang="zh-CN" sz="2000" b="1" i="1" baseline="-25000"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&gt;</a:t>
              </a:r>
              <a:r>
                <a:rPr kumimoji="1" lang="en-US" altLang="zh-CN" sz="2000" b="1" dirty="0" smtClean="0">
                  <a:solidFill>
                    <a:srgbClr val="000066"/>
                  </a:solidFill>
                  <a:latin typeface="Times New Roman" panose="02020603050405020304" pitchFamily="18" charset="0"/>
                  <a:sym typeface="Symbol" panose="05050102010706020507" pitchFamily="18" charset="2"/>
                </a:rPr>
                <a:t>0  </a:t>
              </a:r>
              <a:r>
                <a:rPr kumimoji="1" lang="en-US" altLang="zh-CN" sz="2000" b="1" i="1" dirty="0">
                  <a:solidFill>
                    <a:srgbClr val="000066"/>
                  </a:solidFill>
                  <a:latin typeface="Times New Roman" panose="02020603050405020304" pitchFamily="18" charset="0"/>
                  <a:cs typeface="Times New Roman" panose="02020603050405020304" pitchFamily="18" charset="0"/>
                </a:rPr>
                <a:t>c</a:t>
              </a:r>
              <a:r>
                <a:rPr kumimoji="1" lang="en-US" altLang="zh-CN" sz="2000" b="1" baseline="-25000" dirty="0">
                  <a:solidFill>
                    <a:srgbClr val="000066"/>
                  </a:solidFill>
                  <a:latin typeface="Times New Roman" panose="02020603050405020304" pitchFamily="18" charset="0"/>
                </a:rPr>
                <a:t>2</a:t>
              </a:r>
              <a:r>
                <a:rPr kumimoji="1" lang="en-US" altLang="zh-CN" sz="2000" b="1" i="1" baseline="-25000"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0</a:t>
              </a:r>
              <a:r>
                <a:rPr kumimoji="1" lang="en-US" altLang="zh-CN" sz="2000" b="1" i="1" dirty="0" smtClean="0">
                  <a:solidFill>
                    <a:srgbClr val="000066"/>
                  </a:solidFill>
                  <a:latin typeface="Times New Roman" panose="02020603050405020304" pitchFamily="18" charset="0"/>
                </a:rPr>
                <a:t> </a:t>
              </a:r>
              <a:endParaRPr kumimoji="1" lang="en-US" altLang="zh-CN" sz="2000" b="1" baseline="-25000" dirty="0">
                <a:solidFill>
                  <a:srgbClr val="000066"/>
                </a:solidFill>
                <a:latin typeface="Times New Roman" panose="02020603050405020304" pitchFamily="18" charset="0"/>
              </a:endParaRPr>
            </a:p>
          </p:txBody>
        </p:sp>
        <p:sp>
          <p:nvSpPr>
            <p:cNvPr id="13" name="任意多边形 12"/>
            <p:cNvSpPr/>
            <p:nvPr/>
          </p:nvSpPr>
          <p:spPr bwMode="auto">
            <a:xfrm>
              <a:off x="2883614" y="3969099"/>
              <a:ext cx="1055077" cy="1311310"/>
            </a:xfrm>
            <a:custGeom>
              <a:avLst/>
              <a:gdLst>
                <a:gd name="connsiteX0" fmla="*/ 0 w 1055077"/>
                <a:gd name="connsiteY0" fmla="*/ 0 h 1311310"/>
                <a:gd name="connsiteX1" fmla="*/ 417007 w 1055077"/>
                <a:gd name="connsiteY1" fmla="*/ 628022 h 1311310"/>
                <a:gd name="connsiteX2" fmla="*/ 622998 w 1055077"/>
                <a:gd name="connsiteY2" fmla="*/ 628022 h 1311310"/>
                <a:gd name="connsiteX3" fmla="*/ 1055077 w 1055077"/>
                <a:gd name="connsiteY3" fmla="*/ 1311310 h 1311310"/>
              </a:gdLst>
              <a:ahLst/>
              <a:cxnLst>
                <a:cxn ang="0">
                  <a:pos x="connsiteX0" y="connsiteY0"/>
                </a:cxn>
                <a:cxn ang="0">
                  <a:pos x="connsiteX1" y="connsiteY1"/>
                </a:cxn>
                <a:cxn ang="0">
                  <a:pos x="connsiteX2" y="connsiteY2"/>
                </a:cxn>
                <a:cxn ang="0">
                  <a:pos x="connsiteX3" y="connsiteY3"/>
                </a:cxn>
              </a:cxnLst>
              <a:rect l="l" t="t" r="r" b="b"/>
              <a:pathLst>
                <a:path w="1055077" h="1311310">
                  <a:moveTo>
                    <a:pt x="0" y="0"/>
                  </a:moveTo>
                  <a:lnTo>
                    <a:pt x="417007" y="628022"/>
                  </a:lnTo>
                  <a:lnTo>
                    <a:pt x="622998" y="628022"/>
                  </a:lnTo>
                  <a:lnTo>
                    <a:pt x="1055077" y="1311310"/>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 name="任意多边形 15"/>
            <p:cNvSpPr/>
            <p:nvPr/>
          </p:nvSpPr>
          <p:spPr bwMode="auto">
            <a:xfrm>
              <a:off x="4555554" y="3657600"/>
              <a:ext cx="1049258" cy="1631447"/>
            </a:xfrm>
            <a:custGeom>
              <a:avLst/>
              <a:gdLst>
                <a:gd name="connsiteX0" fmla="*/ 0 w 1049258"/>
                <a:gd name="connsiteY0" fmla="*/ 0 h 1631447"/>
                <a:gd name="connsiteX1" fmla="*/ 684155 w 1049258"/>
                <a:gd name="connsiteY1" fmla="*/ 940714 h 1631447"/>
                <a:gd name="connsiteX2" fmla="*/ 542719 w 1049258"/>
                <a:gd name="connsiteY2" fmla="*/ 940714 h 1631447"/>
                <a:gd name="connsiteX3" fmla="*/ 1049258 w 1049258"/>
                <a:gd name="connsiteY3" fmla="*/ 1631447 h 1631447"/>
              </a:gdLst>
              <a:ahLst/>
              <a:cxnLst>
                <a:cxn ang="0">
                  <a:pos x="connsiteX0" y="connsiteY0"/>
                </a:cxn>
                <a:cxn ang="0">
                  <a:pos x="connsiteX1" y="connsiteY1"/>
                </a:cxn>
                <a:cxn ang="0">
                  <a:pos x="connsiteX2" y="connsiteY2"/>
                </a:cxn>
                <a:cxn ang="0">
                  <a:pos x="connsiteX3" y="connsiteY3"/>
                </a:cxn>
              </a:cxnLst>
              <a:rect l="l" t="t" r="r" b="b"/>
              <a:pathLst>
                <a:path w="1049258" h="1631447">
                  <a:moveTo>
                    <a:pt x="0" y="0"/>
                  </a:moveTo>
                  <a:lnTo>
                    <a:pt x="684155" y="940714"/>
                  </a:lnTo>
                  <a:lnTo>
                    <a:pt x="542719" y="940714"/>
                  </a:lnTo>
                  <a:lnTo>
                    <a:pt x="1049258" y="1631447"/>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0" name="Text Box 112"/>
            <p:cNvSpPr txBox="1">
              <a:spLocks noChangeArrowheads="1"/>
            </p:cNvSpPr>
            <p:nvPr/>
          </p:nvSpPr>
          <p:spPr bwMode="auto">
            <a:xfrm>
              <a:off x="5056610" y="3811348"/>
              <a:ext cx="1442831" cy="417871"/>
            </a:xfrm>
            <a:prstGeom prst="rect">
              <a:avLst/>
            </a:prstGeom>
            <a:noFill/>
            <a:ln>
              <a:noFill/>
            </a:ln>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50000"/>
                </a:spcBef>
              </a:pPr>
              <a:r>
                <a:rPr kumimoji="1" lang="en-US" altLang="zh-CN" sz="2000" b="1" i="1" dirty="0" smtClean="0">
                  <a:solidFill>
                    <a:srgbClr val="000066"/>
                  </a:solidFill>
                  <a:latin typeface="Times New Roman" panose="02020603050405020304" pitchFamily="18" charset="0"/>
                  <a:cs typeface="Times New Roman" panose="02020603050405020304" pitchFamily="18" charset="0"/>
                </a:rPr>
                <a:t>c</a:t>
              </a:r>
              <a:r>
                <a:rPr kumimoji="1" lang="en-US" altLang="zh-CN" sz="2000" b="1" baseline="-25000" dirty="0" smtClean="0">
                  <a:solidFill>
                    <a:srgbClr val="000066"/>
                  </a:solidFill>
                  <a:latin typeface="Times New Roman" panose="02020603050405020304" pitchFamily="18" charset="0"/>
                </a:rPr>
                <a:t>1</a:t>
              </a:r>
              <a:r>
                <a:rPr kumimoji="1" lang="en-US" altLang="zh-CN" sz="2000" b="1" i="1" baseline="-25000" dirty="0" smtClean="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a:t>
              </a:r>
              <a:r>
                <a:rPr kumimoji="1" lang="en-US" altLang="zh-CN" sz="2000" b="1" dirty="0" smtClean="0">
                  <a:solidFill>
                    <a:srgbClr val="000066"/>
                  </a:solidFill>
                  <a:latin typeface="Times New Roman" panose="02020603050405020304" pitchFamily="18" charset="0"/>
                  <a:sym typeface="Symbol" panose="05050102010706020507" pitchFamily="18" charset="2"/>
                </a:rPr>
                <a:t>0  </a:t>
              </a:r>
              <a:r>
                <a:rPr kumimoji="1" lang="en-US" altLang="zh-CN" sz="2000" b="1" i="1" dirty="0">
                  <a:solidFill>
                    <a:srgbClr val="000066"/>
                  </a:solidFill>
                  <a:latin typeface="Times New Roman" panose="02020603050405020304" pitchFamily="18" charset="0"/>
                  <a:cs typeface="Times New Roman" panose="02020603050405020304" pitchFamily="18" charset="0"/>
                </a:rPr>
                <a:t>c</a:t>
              </a:r>
              <a:r>
                <a:rPr kumimoji="1" lang="en-US" altLang="zh-CN" sz="2000" b="1" baseline="-25000" dirty="0">
                  <a:solidFill>
                    <a:srgbClr val="000066"/>
                  </a:solidFill>
                  <a:latin typeface="Times New Roman" panose="02020603050405020304" pitchFamily="18" charset="0"/>
                </a:rPr>
                <a:t>2</a:t>
              </a:r>
              <a:r>
                <a:rPr kumimoji="1" lang="en-US" altLang="zh-CN" sz="2000" b="1" i="1" baseline="-25000" dirty="0">
                  <a:solidFill>
                    <a:srgbClr val="000066"/>
                  </a:solidFill>
                  <a:latin typeface="Times New Roman" panose="02020603050405020304" pitchFamily="18" charset="0"/>
                </a:rPr>
                <a:t> </a:t>
              </a:r>
              <a:r>
                <a:rPr kumimoji="1" lang="en-US" altLang="zh-CN" sz="2000" b="1" i="1" dirty="0" smtClean="0">
                  <a:solidFill>
                    <a:srgbClr val="000066"/>
                  </a:solidFill>
                  <a:latin typeface="Times New Roman" panose="02020603050405020304" pitchFamily="18" charset="0"/>
                  <a:sym typeface="Symbol" panose="05050102010706020507" pitchFamily="18" charset="2"/>
                </a:rPr>
                <a:t>&gt;</a:t>
              </a:r>
              <a:r>
                <a:rPr kumimoji="1" lang="en-US" altLang="zh-CN" sz="2000" b="1" dirty="0" smtClean="0">
                  <a:solidFill>
                    <a:srgbClr val="000066"/>
                  </a:solidFill>
                  <a:latin typeface="Times New Roman" panose="02020603050405020304" pitchFamily="18" charset="0"/>
                  <a:sym typeface="Symbol" panose="05050102010706020507" pitchFamily="18" charset="2"/>
                </a:rPr>
                <a:t>0</a:t>
              </a:r>
              <a:r>
                <a:rPr kumimoji="1" lang="en-US" altLang="zh-CN" sz="2000" b="1" i="1" dirty="0" smtClean="0">
                  <a:solidFill>
                    <a:srgbClr val="000066"/>
                  </a:solidFill>
                  <a:latin typeface="Times New Roman" panose="02020603050405020304" pitchFamily="18" charset="0"/>
                </a:rPr>
                <a:t> </a:t>
              </a:r>
              <a:endParaRPr kumimoji="1" lang="en-US" altLang="zh-CN" sz="2000" b="1" baseline="-25000" dirty="0">
                <a:solidFill>
                  <a:srgbClr val="000066"/>
                </a:solidFill>
                <a:latin typeface="Times New Roman" panose="02020603050405020304" pitchFamily="18" charset="0"/>
              </a:endParaRPr>
            </a:p>
          </p:txBody>
        </p:sp>
      </p:grpSp>
    </p:spTree>
    <p:extLst>
      <p:ext uri="{BB962C8B-B14F-4D97-AF65-F5344CB8AC3E}">
        <p14:creationId xmlns:p14="http://schemas.microsoft.com/office/powerpoint/2010/main" val="396771693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79</a:t>
            </a:fld>
            <a:endParaRPr lang="zh-CN" altLang="en-US" dirty="0">
              <a:solidFill>
                <a:srgbClr val="C00000"/>
              </a:solidFill>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3.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土中有水</a:t>
            </a:r>
          </a:p>
        </p:txBody>
      </p:sp>
      <p:grpSp>
        <p:nvGrpSpPr>
          <p:cNvPr id="30" name="组合 29"/>
          <p:cNvGrpSpPr/>
          <p:nvPr/>
        </p:nvGrpSpPr>
        <p:grpSpPr>
          <a:xfrm>
            <a:off x="4857337" y="603772"/>
            <a:ext cx="3352301" cy="2543087"/>
            <a:chOff x="4887652" y="802140"/>
            <a:chExt cx="3352301" cy="2543087"/>
          </a:xfrm>
        </p:grpSpPr>
        <p:sp>
          <p:nvSpPr>
            <p:cNvPr id="117" name="Freeform 7"/>
            <p:cNvSpPr>
              <a:spLocks noChangeAspect="1"/>
            </p:cNvSpPr>
            <p:nvPr/>
          </p:nvSpPr>
          <p:spPr bwMode="auto">
            <a:xfrm>
              <a:off x="4894250" y="1050162"/>
              <a:ext cx="3345703" cy="2295065"/>
            </a:xfrm>
            <a:custGeom>
              <a:avLst/>
              <a:gdLst>
                <a:gd name="T0" fmla="*/ 2388 w 4284"/>
                <a:gd name="T1" fmla="*/ 2466 h 3066"/>
                <a:gd name="T2" fmla="*/ 0 w 4284"/>
                <a:gd name="T3" fmla="*/ 2466 h 3066"/>
                <a:gd name="T4" fmla="*/ 0 w 4284"/>
                <a:gd name="T5" fmla="*/ 3066 h 3066"/>
                <a:gd name="T6" fmla="*/ 4284 w 4284"/>
                <a:gd name="T7" fmla="*/ 3066 h 3066"/>
                <a:gd name="T8" fmla="*/ 4284 w 4284"/>
                <a:gd name="T9" fmla="*/ 0 h 3066"/>
                <a:gd name="T10" fmla="*/ 4224 w 4284"/>
                <a:gd name="T11" fmla="*/ 36 h 3066"/>
                <a:gd name="T12" fmla="*/ 4164 w 4284"/>
                <a:gd name="T13" fmla="*/ 48 h 3066"/>
                <a:gd name="T14" fmla="*/ 4092 w 4284"/>
                <a:gd name="T15" fmla="*/ 66 h 3066"/>
                <a:gd name="T16" fmla="*/ 4074 w 4284"/>
                <a:gd name="T17" fmla="*/ 108 h 3066"/>
                <a:gd name="T18" fmla="*/ 4038 w 4284"/>
                <a:gd name="T19" fmla="*/ 84 h 3066"/>
                <a:gd name="T20" fmla="*/ 4002 w 4284"/>
                <a:gd name="T21" fmla="*/ 90 h 3066"/>
                <a:gd name="T22" fmla="*/ 3936 w 4284"/>
                <a:gd name="T23" fmla="*/ 120 h 3066"/>
                <a:gd name="T24" fmla="*/ 3846 w 4284"/>
                <a:gd name="T25" fmla="*/ 132 h 3066"/>
                <a:gd name="T26" fmla="*/ 3762 w 4284"/>
                <a:gd name="T27" fmla="*/ 138 h 3066"/>
                <a:gd name="T28" fmla="*/ 3630 w 4284"/>
                <a:gd name="T29" fmla="*/ 162 h 3066"/>
                <a:gd name="T30" fmla="*/ 3534 w 4284"/>
                <a:gd name="T31" fmla="*/ 186 h 3066"/>
                <a:gd name="T32" fmla="*/ 3468 w 4284"/>
                <a:gd name="T33" fmla="*/ 198 h 3066"/>
                <a:gd name="T34" fmla="*/ 3378 w 4284"/>
                <a:gd name="T35" fmla="*/ 222 h 3066"/>
                <a:gd name="T36" fmla="*/ 3300 w 4284"/>
                <a:gd name="T37" fmla="*/ 252 h 3066"/>
                <a:gd name="T38" fmla="*/ 3252 w 4284"/>
                <a:gd name="T39" fmla="*/ 288 h 3066"/>
                <a:gd name="T40" fmla="*/ 3216 w 4284"/>
                <a:gd name="T41" fmla="*/ 246 h 3066"/>
                <a:gd name="T42" fmla="*/ 3078 w 4284"/>
                <a:gd name="T43" fmla="*/ 288 h 3066"/>
                <a:gd name="T44" fmla="*/ 3000 w 4284"/>
                <a:gd name="T45" fmla="*/ 312 h 3066"/>
                <a:gd name="T46" fmla="*/ 2934 w 4284"/>
                <a:gd name="T47" fmla="*/ 318 h 3066"/>
                <a:gd name="T48" fmla="*/ 2826 w 4284"/>
                <a:gd name="T49" fmla="*/ 342 h 3066"/>
                <a:gd name="T50" fmla="*/ 2748 w 4284"/>
                <a:gd name="T51" fmla="*/ 354 h 3066"/>
                <a:gd name="T52" fmla="*/ 2670 w 4284"/>
                <a:gd name="T53" fmla="*/ 372 h 3066"/>
                <a:gd name="T54" fmla="*/ 2598 w 4284"/>
                <a:gd name="T55" fmla="*/ 396 h 3066"/>
                <a:gd name="T56" fmla="*/ 2448 w 4284"/>
                <a:gd name="T57" fmla="*/ 432 h 3066"/>
                <a:gd name="T58" fmla="*/ 2298 w 4284"/>
                <a:gd name="T59" fmla="*/ 462 h 3066"/>
                <a:gd name="T60" fmla="*/ 2238 w 4284"/>
                <a:gd name="T61" fmla="*/ 492 h 3066"/>
                <a:gd name="T62" fmla="*/ 2112 w 4284"/>
                <a:gd name="T63" fmla="*/ 498 h 3066"/>
                <a:gd name="T64" fmla="*/ 1986 w 4284"/>
                <a:gd name="T65" fmla="*/ 540 h 3066"/>
                <a:gd name="T66" fmla="*/ 1866 w 4284"/>
                <a:gd name="T67" fmla="*/ 570 h 3066"/>
                <a:gd name="T68" fmla="*/ 1812 w 4284"/>
                <a:gd name="T69" fmla="*/ 570 h 3066"/>
                <a:gd name="T70" fmla="*/ 2388 w 4284"/>
                <a:gd name="T71" fmla="*/ 2466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84" h="3066">
                  <a:moveTo>
                    <a:pt x="2388" y="2466"/>
                  </a:moveTo>
                  <a:lnTo>
                    <a:pt x="0" y="2466"/>
                  </a:lnTo>
                  <a:lnTo>
                    <a:pt x="0" y="3066"/>
                  </a:lnTo>
                  <a:lnTo>
                    <a:pt x="4284" y="3066"/>
                  </a:lnTo>
                  <a:lnTo>
                    <a:pt x="4284" y="0"/>
                  </a:lnTo>
                  <a:lnTo>
                    <a:pt x="4224" y="36"/>
                  </a:lnTo>
                  <a:lnTo>
                    <a:pt x="4164" y="48"/>
                  </a:lnTo>
                  <a:lnTo>
                    <a:pt x="4092" y="66"/>
                  </a:lnTo>
                  <a:lnTo>
                    <a:pt x="4074" y="108"/>
                  </a:lnTo>
                  <a:lnTo>
                    <a:pt x="4038" y="84"/>
                  </a:lnTo>
                  <a:lnTo>
                    <a:pt x="4002" y="90"/>
                  </a:lnTo>
                  <a:lnTo>
                    <a:pt x="3936" y="120"/>
                  </a:lnTo>
                  <a:lnTo>
                    <a:pt x="3846" y="132"/>
                  </a:lnTo>
                  <a:lnTo>
                    <a:pt x="3762" y="138"/>
                  </a:lnTo>
                  <a:lnTo>
                    <a:pt x="3630" y="162"/>
                  </a:lnTo>
                  <a:lnTo>
                    <a:pt x="3534" y="186"/>
                  </a:lnTo>
                  <a:lnTo>
                    <a:pt x="3468" y="198"/>
                  </a:lnTo>
                  <a:lnTo>
                    <a:pt x="3378" y="222"/>
                  </a:lnTo>
                  <a:lnTo>
                    <a:pt x="3300" y="252"/>
                  </a:lnTo>
                  <a:lnTo>
                    <a:pt x="3252" y="288"/>
                  </a:lnTo>
                  <a:lnTo>
                    <a:pt x="3216" y="246"/>
                  </a:lnTo>
                  <a:lnTo>
                    <a:pt x="3078" y="288"/>
                  </a:lnTo>
                  <a:lnTo>
                    <a:pt x="3000" y="312"/>
                  </a:lnTo>
                  <a:lnTo>
                    <a:pt x="2934" y="318"/>
                  </a:lnTo>
                  <a:lnTo>
                    <a:pt x="2826" y="342"/>
                  </a:lnTo>
                  <a:lnTo>
                    <a:pt x="2748" y="354"/>
                  </a:lnTo>
                  <a:lnTo>
                    <a:pt x="2670" y="372"/>
                  </a:lnTo>
                  <a:lnTo>
                    <a:pt x="2598" y="396"/>
                  </a:lnTo>
                  <a:lnTo>
                    <a:pt x="2448" y="432"/>
                  </a:lnTo>
                  <a:lnTo>
                    <a:pt x="2298" y="462"/>
                  </a:lnTo>
                  <a:lnTo>
                    <a:pt x="2238" y="492"/>
                  </a:lnTo>
                  <a:lnTo>
                    <a:pt x="2112" y="498"/>
                  </a:lnTo>
                  <a:lnTo>
                    <a:pt x="1986" y="540"/>
                  </a:lnTo>
                  <a:lnTo>
                    <a:pt x="1866" y="570"/>
                  </a:lnTo>
                  <a:lnTo>
                    <a:pt x="1812" y="570"/>
                  </a:lnTo>
                  <a:lnTo>
                    <a:pt x="2388" y="2466"/>
                  </a:lnTo>
                  <a:close/>
                </a:path>
              </a:pathLst>
            </a:custGeom>
            <a:pattFill prst="pct5">
              <a:fgClr>
                <a:schemeClr val="tx1"/>
              </a:fgClr>
              <a:bgClr>
                <a:srgbClr val="F5D0AB"/>
              </a:bgClr>
            </a:pattFill>
            <a:ln>
              <a:noFill/>
            </a:ln>
            <a:effectLst/>
            <a:extLst/>
          </p:spPr>
          <p:txBody>
            <a:bodyPr/>
            <a:lstStyle/>
            <a:p>
              <a:endParaRPr lang="zh-CN" altLang="en-US" sz="2600" b="1">
                <a:latin typeface="微软雅黑" panose="020B0503020204020204" pitchFamily="34" charset="-122"/>
                <a:ea typeface="微软雅黑" panose="020B0503020204020204" pitchFamily="34" charset="-122"/>
              </a:endParaRPr>
            </a:p>
          </p:txBody>
        </p:sp>
        <p:cxnSp>
          <p:nvCxnSpPr>
            <p:cNvPr id="118" name="直接连接符 117"/>
            <p:cNvCxnSpPr/>
            <p:nvPr/>
          </p:nvCxnSpPr>
          <p:spPr bwMode="auto">
            <a:xfrm>
              <a:off x="4887652" y="2900632"/>
              <a:ext cx="1237139" cy="489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Freeform 8"/>
            <p:cNvSpPr>
              <a:spLocks noChangeAspect="1"/>
            </p:cNvSpPr>
            <p:nvPr/>
          </p:nvSpPr>
          <p:spPr bwMode="auto">
            <a:xfrm>
              <a:off x="6009223" y="1467855"/>
              <a:ext cx="881971" cy="1630350"/>
            </a:xfrm>
            <a:custGeom>
              <a:avLst/>
              <a:gdLst>
                <a:gd name="T0" fmla="*/ 966 w 1128"/>
                <a:gd name="T1" fmla="*/ 1842 h 2178"/>
                <a:gd name="T2" fmla="*/ 1128 w 1128"/>
                <a:gd name="T3" fmla="*/ 1842 h 2178"/>
                <a:gd name="T4" fmla="*/ 1128 w 1128"/>
                <a:gd name="T5" fmla="*/ 2178 h 2178"/>
                <a:gd name="T6" fmla="*/ 0 w 1128"/>
                <a:gd name="T7" fmla="*/ 2178 h 2178"/>
                <a:gd name="T8" fmla="*/ 6 w 1128"/>
                <a:gd name="T9" fmla="*/ 1962 h 2178"/>
                <a:gd name="T10" fmla="*/ 240 w 1128"/>
                <a:gd name="T11" fmla="*/ 1830 h 2178"/>
                <a:gd name="T12" fmla="*/ 276 w 1128"/>
                <a:gd name="T13" fmla="*/ 6 h 2178"/>
                <a:gd name="T14" fmla="*/ 402 w 1128"/>
                <a:gd name="T15" fmla="*/ 0 h 2178"/>
                <a:gd name="T16" fmla="*/ 966 w 1128"/>
                <a:gd name="T17" fmla="*/ 1842 h 2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8" h="2178">
                  <a:moveTo>
                    <a:pt x="966" y="1842"/>
                  </a:moveTo>
                  <a:lnTo>
                    <a:pt x="1128" y="1842"/>
                  </a:lnTo>
                  <a:lnTo>
                    <a:pt x="1128" y="2178"/>
                  </a:lnTo>
                  <a:lnTo>
                    <a:pt x="0" y="2178"/>
                  </a:lnTo>
                  <a:lnTo>
                    <a:pt x="6" y="1962"/>
                  </a:lnTo>
                  <a:lnTo>
                    <a:pt x="240" y="1830"/>
                  </a:lnTo>
                  <a:lnTo>
                    <a:pt x="276" y="6"/>
                  </a:lnTo>
                  <a:lnTo>
                    <a:pt x="402" y="0"/>
                  </a:lnTo>
                  <a:lnTo>
                    <a:pt x="966" y="1842"/>
                  </a:lnTo>
                  <a:close/>
                </a:path>
              </a:pathLst>
            </a:custGeom>
            <a:pattFill prst="dkUpDiag">
              <a:fgClr>
                <a:srgbClr val="9966FF"/>
              </a:fgClr>
              <a:bgClr>
                <a:schemeClr val="bg1"/>
              </a:bgClr>
            </a:pattFill>
            <a:ln w="9525" cap="flat" cmpd="sng">
              <a:solidFill>
                <a:srgbClr val="000000"/>
              </a:solidFill>
              <a:prstDash val="solid"/>
              <a:round/>
              <a:headEnd/>
              <a:tailEnd/>
            </a:ln>
            <a:effectLs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0" name="Freeform 11"/>
            <p:cNvSpPr>
              <a:spLocks noChangeAspect="1"/>
            </p:cNvSpPr>
            <p:nvPr/>
          </p:nvSpPr>
          <p:spPr bwMode="auto">
            <a:xfrm>
              <a:off x="6407100" y="1481329"/>
              <a:ext cx="680243" cy="1477644"/>
            </a:xfrm>
            <a:custGeom>
              <a:avLst/>
              <a:gdLst>
                <a:gd name="T0" fmla="*/ 426 w 870"/>
                <a:gd name="T1" fmla="*/ 54 h 1974"/>
                <a:gd name="T2" fmla="*/ 240 w 870"/>
                <a:gd name="T3" fmla="*/ 54 h 1974"/>
                <a:gd name="T4" fmla="*/ 246 w 870"/>
                <a:gd name="T5" fmla="*/ 0 h 1974"/>
                <a:gd name="T6" fmla="*/ 0 w 870"/>
                <a:gd name="T7" fmla="*/ 66 h 1974"/>
                <a:gd name="T8" fmla="*/ 516 w 870"/>
                <a:gd name="T9" fmla="*/ 1692 h 1974"/>
                <a:gd name="T10" fmla="*/ 564 w 870"/>
                <a:gd name="T11" fmla="*/ 1716 h 1974"/>
                <a:gd name="T12" fmla="*/ 582 w 870"/>
                <a:gd name="T13" fmla="*/ 1752 h 1974"/>
                <a:gd name="T14" fmla="*/ 606 w 870"/>
                <a:gd name="T15" fmla="*/ 1788 h 1974"/>
                <a:gd name="T16" fmla="*/ 870 w 870"/>
                <a:gd name="T17" fmla="*/ 1788 h 1974"/>
                <a:gd name="T18" fmla="*/ 870 w 870"/>
                <a:gd name="T19" fmla="*/ 1974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0" h="1974">
                  <a:moveTo>
                    <a:pt x="426" y="54"/>
                  </a:moveTo>
                  <a:lnTo>
                    <a:pt x="240" y="54"/>
                  </a:lnTo>
                  <a:lnTo>
                    <a:pt x="246" y="0"/>
                  </a:lnTo>
                  <a:lnTo>
                    <a:pt x="0" y="66"/>
                  </a:lnTo>
                  <a:lnTo>
                    <a:pt x="516" y="1692"/>
                  </a:lnTo>
                  <a:lnTo>
                    <a:pt x="564" y="1716"/>
                  </a:lnTo>
                  <a:lnTo>
                    <a:pt x="582" y="1752"/>
                  </a:lnTo>
                  <a:lnTo>
                    <a:pt x="606" y="1788"/>
                  </a:lnTo>
                  <a:lnTo>
                    <a:pt x="870" y="1788"/>
                  </a:lnTo>
                  <a:lnTo>
                    <a:pt x="870" y="1974"/>
                  </a:lnTo>
                </a:path>
              </a:pathLst>
            </a:custGeom>
            <a:noFill/>
            <a:ln w="63500" cap="flat" cmpd="sng">
              <a:solidFill>
                <a:srgbClr val="C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nvGrpSpPr>
            <p:cNvPr id="121" name="Group 12"/>
            <p:cNvGrpSpPr>
              <a:grpSpLocks noChangeAspect="1"/>
            </p:cNvGrpSpPr>
            <p:nvPr/>
          </p:nvGrpSpPr>
          <p:grpSpPr bwMode="auto">
            <a:xfrm>
              <a:off x="6331362" y="1360063"/>
              <a:ext cx="98518" cy="121266"/>
              <a:chOff x="2514" y="828"/>
              <a:chExt cx="126" cy="162"/>
            </a:xfrm>
          </p:grpSpPr>
          <p:sp>
            <p:nvSpPr>
              <p:cNvPr id="122" name="Freeform 1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3" name="Freeform 1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4" name="Freeform 1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6" name="Freeform 1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28" name="Freeform 1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29" name="Group 18"/>
            <p:cNvGrpSpPr>
              <a:grpSpLocks noChangeAspect="1"/>
            </p:cNvGrpSpPr>
            <p:nvPr/>
          </p:nvGrpSpPr>
          <p:grpSpPr bwMode="auto">
            <a:xfrm>
              <a:off x="6400168" y="1337607"/>
              <a:ext cx="98518" cy="121266"/>
              <a:chOff x="2514" y="828"/>
              <a:chExt cx="126" cy="162"/>
            </a:xfrm>
          </p:grpSpPr>
          <p:sp>
            <p:nvSpPr>
              <p:cNvPr id="130" name="Freeform 1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5" name="Freeform 2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6" name="Freeform 2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7" name="Freeform 2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38" name="Freeform 2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39" name="Group 24"/>
            <p:cNvGrpSpPr>
              <a:grpSpLocks noChangeAspect="1"/>
            </p:cNvGrpSpPr>
            <p:nvPr/>
          </p:nvGrpSpPr>
          <p:grpSpPr bwMode="auto">
            <a:xfrm>
              <a:off x="6465065" y="1322635"/>
              <a:ext cx="98518" cy="121266"/>
              <a:chOff x="2514" y="828"/>
              <a:chExt cx="126" cy="162"/>
            </a:xfrm>
          </p:grpSpPr>
          <p:sp>
            <p:nvSpPr>
              <p:cNvPr id="140" name="Freeform 2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1" name="Freeform 2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2" name="Freeform 2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3" name="Freeform 2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4" name="Freeform 2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45" name="Group 30"/>
            <p:cNvGrpSpPr>
              <a:grpSpLocks noChangeAspect="1"/>
            </p:cNvGrpSpPr>
            <p:nvPr/>
          </p:nvGrpSpPr>
          <p:grpSpPr bwMode="auto">
            <a:xfrm>
              <a:off x="6530743" y="1304670"/>
              <a:ext cx="98518" cy="121266"/>
              <a:chOff x="2514" y="828"/>
              <a:chExt cx="126" cy="162"/>
            </a:xfrm>
          </p:grpSpPr>
          <p:sp>
            <p:nvSpPr>
              <p:cNvPr id="146" name="Freeform 3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7" name="Freeform 3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8" name="Freeform 3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49" name="Freeform 3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0" name="Freeform 3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51" name="Group 36"/>
            <p:cNvGrpSpPr>
              <a:grpSpLocks noChangeAspect="1"/>
            </p:cNvGrpSpPr>
            <p:nvPr/>
          </p:nvGrpSpPr>
          <p:grpSpPr bwMode="auto">
            <a:xfrm>
              <a:off x="6592513" y="1304670"/>
              <a:ext cx="98518" cy="121266"/>
              <a:chOff x="2514" y="828"/>
              <a:chExt cx="126" cy="162"/>
            </a:xfrm>
          </p:grpSpPr>
          <p:sp>
            <p:nvSpPr>
              <p:cNvPr id="152" name="Freeform 3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3" name="Freeform 3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4" name="Freeform 3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5" name="Freeform 4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6" name="Freeform 4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57" name="Group 42"/>
            <p:cNvGrpSpPr>
              <a:grpSpLocks noChangeAspect="1"/>
            </p:cNvGrpSpPr>
            <p:nvPr/>
          </p:nvGrpSpPr>
          <p:grpSpPr bwMode="auto">
            <a:xfrm>
              <a:off x="6669919" y="1282214"/>
              <a:ext cx="98518" cy="121266"/>
              <a:chOff x="2514" y="828"/>
              <a:chExt cx="126" cy="162"/>
            </a:xfrm>
          </p:grpSpPr>
          <p:sp>
            <p:nvSpPr>
              <p:cNvPr id="158" name="Freeform 4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59" name="Freeform 4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0" name="Freeform 4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1" name="Freeform 4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2" name="Freeform 4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63" name="Group 48"/>
            <p:cNvGrpSpPr>
              <a:grpSpLocks noChangeAspect="1"/>
            </p:cNvGrpSpPr>
            <p:nvPr/>
          </p:nvGrpSpPr>
          <p:grpSpPr bwMode="auto">
            <a:xfrm>
              <a:off x="6749673" y="1259757"/>
              <a:ext cx="98518" cy="121266"/>
              <a:chOff x="2514" y="828"/>
              <a:chExt cx="126" cy="162"/>
            </a:xfrm>
          </p:grpSpPr>
          <p:sp>
            <p:nvSpPr>
              <p:cNvPr id="164" name="Freeform 4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5" name="Freeform 5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6" name="Freeform 5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7" name="Freeform 5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68" name="Freeform 5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69" name="Group 54"/>
            <p:cNvGrpSpPr>
              <a:grpSpLocks noChangeAspect="1"/>
            </p:cNvGrpSpPr>
            <p:nvPr/>
          </p:nvGrpSpPr>
          <p:grpSpPr bwMode="auto">
            <a:xfrm>
              <a:off x="6820042" y="1245535"/>
              <a:ext cx="98518" cy="121266"/>
              <a:chOff x="2514" y="828"/>
              <a:chExt cx="126" cy="162"/>
            </a:xfrm>
          </p:grpSpPr>
          <p:sp>
            <p:nvSpPr>
              <p:cNvPr id="170" name="Freeform 5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1" name="Freeform 5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2" name="Freeform 5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3" name="Freeform 5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4" name="Freeform 5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75" name="Group 60"/>
            <p:cNvGrpSpPr>
              <a:grpSpLocks noChangeAspect="1"/>
            </p:cNvGrpSpPr>
            <p:nvPr/>
          </p:nvGrpSpPr>
          <p:grpSpPr bwMode="auto">
            <a:xfrm>
              <a:off x="6896668" y="1224575"/>
              <a:ext cx="98518" cy="121266"/>
              <a:chOff x="2514" y="828"/>
              <a:chExt cx="126" cy="162"/>
            </a:xfrm>
          </p:grpSpPr>
          <p:sp>
            <p:nvSpPr>
              <p:cNvPr id="176" name="Freeform 6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7" name="Freeform 6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8" name="Freeform 6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79" name="Freeform 6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0" name="Freeform 6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81" name="Group 66"/>
            <p:cNvGrpSpPr>
              <a:grpSpLocks noChangeAspect="1"/>
            </p:cNvGrpSpPr>
            <p:nvPr/>
          </p:nvGrpSpPr>
          <p:grpSpPr bwMode="auto">
            <a:xfrm>
              <a:off x="6973293" y="1202119"/>
              <a:ext cx="98518" cy="121266"/>
              <a:chOff x="2514" y="828"/>
              <a:chExt cx="126" cy="162"/>
            </a:xfrm>
          </p:grpSpPr>
          <p:sp>
            <p:nvSpPr>
              <p:cNvPr id="182" name="Freeform 6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3" name="Freeform 6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4" name="Freeform 6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5" name="Freeform 7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6" name="Freeform 7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87" name="Group 72"/>
            <p:cNvGrpSpPr>
              <a:grpSpLocks noChangeAspect="1"/>
            </p:cNvGrpSpPr>
            <p:nvPr/>
          </p:nvGrpSpPr>
          <p:grpSpPr bwMode="auto">
            <a:xfrm>
              <a:off x="7048354" y="1196130"/>
              <a:ext cx="98518" cy="121266"/>
              <a:chOff x="2514" y="828"/>
              <a:chExt cx="126" cy="162"/>
            </a:xfrm>
          </p:grpSpPr>
          <p:sp>
            <p:nvSpPr>
              <p:cNvPr id="188" name="Freeform 7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89" name="Freeform 7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0" name="Freeform 7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1" name="Freeform 7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2" name="Freeform 7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93" name="Group 78"/>
            <p:cNvGrpSpPr>
              <a:grpSpLocks noChangeAspect="1"/>
            </p:cNvGrpSpPr>
            <p:nvPr/>
          </p:nvGrpSpPr>
          <p:grpSpPr bwMode="auto">
            <a:xfrm>
              <a:off x="7121070" y="1177416"/>
              <a:ext cx="98518" cy="121266"/>
              <a:chOff x="2514" y="828"/>
              <a:chExt cx="126" cy="162"/>
            </a:xfrm>
          </p:grpSpPr>
          <p:sp>
            <p:nvSpPr>
              <p:cNvPr id="194" name="Freeform 7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5" name="Freeform 8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6" name="Freeform 8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7" name="Freeform 8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198" name="Freeform 8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199" name="Group 84"/>
            <p:cNvGrpSpPr>
              <a:grpSpLocks noChangeAspect="1"/>
            </p:cNvGrpSpPr>
            <p:nvPr/>
          </p:nvGrpSpPr>
          <p:grpSpPr bwMode="auto">
            <a:xfrm>
              <a:off x="7194567" y="1169182"/>
              <a:ext cx="98518" cy="121266"/>
              <a:chOff x="2514" y="828"/>
              <a:chExt cx="126" cy="162"/>
            </a:xfrm>
          </p:grpSpPr>
          <p:sp>
            <p:nvSpPr>
              <p:cNvPr id="200" name="Freeform 85"/>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1" name="Freeform 86"/>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2" name="Freeform 87"/>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3" name="Freeform 88"/>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4" name="Freeform 89"/>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05" name="Group 90"/>
            <p:cNvGrpSpPr>
              <a:grpSpLocks noChangeAspect="1"/>
            </p:cNvGrpSpPr>
            <p:nvPr/>
          </p:nvGrpSpPr>
          <p:grpSpPr bwMode="auto">
            <a:xfrm>
              <a:off x="7266501" y="1148223"/>
              <a:ext cx="98518" cy="121266"/>
              <a:chOff x="2514" y="828"/>
              <a:chExt cx="126" cy="162"/>
            </a:xfrm>
          </p:grpSpPr>
          <p:sp>
            <p:nvSpPr>
              <p:cNvPr id="206" name="Freeform 9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7" name="Freeform 9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8" name="Freeform 9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09" name="Freeform 9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0" name="Freeform 9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11" name="Group 96"/>
            <p:cNvGrpSpPr>
              <a:grpSpLocks noChangeAspect="1"/>
            </p:cNvGrpSpPr>
            <p:nvPr/>
          </p:nvGrpSpPr>
          <p:grpSpPr bwMode="auto">
            <a:xfrm>
              <a:off x="7334526" y="1126514"/>
              <a:ext cx="98518" cy="121266"/>
              <a:chOff x="2514" y="828"/>
              <a:chExt cx="126" cy="162"/>
            </a:xfrm>
          </p:grpSpPr>
          <p:sp>
            <p:nvSpPr>
              <p:cNvPr id="212" name="Freeform 9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3" name="Freeform 9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4" name="Freeform 9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5" name="Freeform 10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6" name="Freeform 10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17" name="Group 102"/>
            <p:cNvGrpSpPr>
              <a:grpSpLocks noChangeAspect="1"/>
            </p:cNvGrpSpPr>
            <p:nvPr/>
          </p:nvGrpSpPr>
          <p:grpSpPr bwMode="auto">
            <a:xfrm>
              <a:off x="7404895" y="1139989"/>
              <a:ext cx="98518" cy="121266"/>
              <a:chOff x="2514" y="828"/>
              <a:chExt cx="126" cy="162"/>
            </a:xfrm>
          </p:grpSpPr>
          <p:sp>
            <p:nvSpPr>
              <p:cNvPr id="218" name="Freeform 10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19" name="Freeform 10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0" name="Freeform 10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1" name="Freeform 10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2" name="Freeform 10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23" name="Group 108"/>
            <p:cNvGrpSpPr>
              <a:grpSpLocks noChangeAspect="1"/>
            </p:cNvGrpSpPr>
            <p:nvPr/>
          </p:nvGrpSpPr>
          <p:grpSpPr bwMode="auto">
            <a:xfrm>
              <a:off x="7479175" y="1107801"/>
              <a:ext cx="98518" cy="121266"/>
              <a:chOff x="2514" y="828"/>
              <a:chExt cx="126" cy="162"/>
            </a:xfrm>
          </p:grpSpPr>
          <p:sp>
            <p:nvSpPr>
              <p:cNvPr id="224" name="Freeform 109"/>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5" name="Freeform 110"/>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6" name="Freeform 111"/>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7" name="Freeform 112"/>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28" name="Freeform 113"/>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65" name="Group 150"/>
            <p:cNvGrpSpPr>
              <a:grpSpLocks noChangeAspect="1"/>
            </p:cNvGrpSpPr>
            <p:nvPr/>
          </p:nvGrpSpPr>
          <p:grpSpPr bwMode="auto">
            <a:xfrm>
              <a:off x="7988967" y="1003752"/>
              <a:ext cx="98518" cy="121266"/>
              <a:chOff x="2514" y="828"/>
              <a:chExt cx="126" cy="162"/>
            </a:xfrm>
          </p:grpSpPr>
          <p:sp>
            <p:nvSpPr>
              <p:cNvPr id="266" name="Freeform 151"/>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67" name="Freeform 152"/>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68" name="Freeform 153"/>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69" name="Freeform 154"/>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0" name="Freeform 155"/>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71" name="Group 156"/>
            <p:cNvGrpSpPr>
              <a:grpSpLocks noChangeAspect="1"/>
            </p:cNvGrpSpPr>
            <p:nvPr/>
          </p:nvGrpSpPr>
          <p:grpSpPr bwMode="auto">
            <a:xfrm>
              <a:off x="8048390" y="1009740"/>
              <a:ext cx="98518" cy="121266"/>
              <a:chOff x="2514" y="828"/>
              <a:chExt cx="126" cy="162"/>
            </a:xfrm>
          </p:grpSpPr>
          <p:sp>
            <p:nvSpPr>
              <p:cNvPr id="272" name="Freeform 157"/>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3" name="Freeform 158"/>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4" name="Freeform 159"/>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5" name="Freeform 160"/>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6" name="Freeform 161"/>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grpSp>
          <p:nvGrpSpPr>
            <p:cNvPr id="277" name="Group 162"/>
            <p:cNvGrpSpPr>
              <a:grpSpLocks noChangeAspect="1"/>
            </p:cNvGrpSpPr>
            <p:nvPr/>
          </p:nvGrpSpPr>
          <p:grpSpPr bwMode="auto">
            <a:xfrm>
              <a:off x="8132052" y="964827"/>
              <a:ext cx="98518" cy="121266"/>
              <a:chOff x="2514" y="828"/>
              <a:chExt cx="126" cy="162"/>
            </a:xfrm>
          </p:grpSpPr>
          <p:sp>
            <p:nvSpPr>
              <p:cNvPr id="278" name="Freeform 163"/>
              <p:cNvSpPr>
                <a:spLocks noChangeAspect="1"/>
              </p:cNvSpPr>
              <p:nvPr/>
            </p:nvSpPr>
            <p:spPr bwMode="auto">
              <a:xfrm>
                <a:off x="2514" y="921"/>
                <a:ext cx="61" cy="66"/>
              </a:xfrm>
              <a:custGeom>
                <a:avLst/>
                <a:gdLst>
                  <a:gd name="T0" fmla="*/ 0 w 61"/>
                  <a:gd name="T1" fmla="*/ 17 h 66"/>
                  <a:gd name="T2" fmla="*/ 12 w 61"/>
                  <a:gd name="T3" fmla="*/ 47 h 66"/>
                  <a:gd name="T4" fmla="*/ 44 w 61"/>
                  <a:gd name="T5" fmla="*/ 65 h 66"/>
                  <a:gd name="T6" fmla="*/ 56 w 61"/>
                  <a:gd name="T7" fmla="*/ 63 h 66"/>
                  <a:gd name="T8" fmla="*/ 32 w 61"/>
                  <a:gd name="T9" fmla="*/ 47 h 66"/>
                  <a:gd name="T10" fmla="*/ 14 w 61"/>
                  <a:gd name="T11" fmla="*/ 11 h 66"/>
                  <a:gd name="T12" fmla="*/ 0 w 61"/>
                  <a:gd name="T13" fmla="*/ 17 h 66"/>
                </a:gdLst>
                <a:ahLst/>
                <a:cxnLst>
                  <a:cxn ang="0">
                    <a:pos x="T0" y="T1"/>
                  </a:cxn>
                  <a:cxn ang="0">
                    <a:pos x="T2" y="T3"/>
                  </a:cxn>
                  <a:cxn ang="0">
                    <a:pos x="T4" y="T5"/>
                  </a:cxn>
                  <a:cxn ang="0">
                    <a:pos x="T6" y="T7"/>
                  </a:cxn>
                  <a:cxn ang="0">
                    <a:pos x="T8" y="T9"/>
                  </a:cxn>
                  <a:cxn ang="0">
                    <a:pos x="T10" y="T11"/>
                  </a:cxn>
                  <a:cxn ang="0">
                    <a:pos x="T12" y="T13"/>
                  </a:cxn>
                </a:cxnLst>
                <a:rect l="0" t="0" r="r" b="b"/>
                <a:pathLst>
                  <a:path w="61" h="66">
                    <a:moveTo>
                      <a:pt x="0" y="17"/>
                    </a:moveTo>
                    <a:cubicBezTo>
                      <a:pt x="5" y="24"/>
                      <a:pt x="6" y="43"/>
                      <a:pt x="12" y="47"/>
                    </a:cubicBezTo>
                    <a:cubicBezTo>
                      <a:pt x="21" y="54"/>
                      <a:pt x="33" y="61"/>
                      <a:pt x="44" y="65"/>
                    </a:cubicBezTo>
                    <a:cubicBezTo>
                      <a:pt x="48" y="64"/>
                      <a:pt x="53" y="66"/>
                      <a:pt x="56" y="63"/>
                    </a:cubicBezTo>
                    <a:cubicBezTo>
                      <a:pt x="61" y="58"/>
                      <a:pt x="34" y="48"/>
                      <a:pt x="32" y="47"/>
                    </a:cubicBezTo>
                    <a:cubicBezTo>
                      <a:pt x="26" y="38"/>
                      <a:pt x="24" y="18"/>
                      <a:pt x="14" y="11"/>
                    </a:cubicBezTo>
                    <a:cubicBezTo>
                      <a:pt x="3" y="4"/>
                      <a:pt x="0" y="0"/>
                      <a:pt x="0" y="17"/>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79" name="Freeform 164"/>
              <p:cNvSpPr>
                <a:spLocks noChangeAspect="1"/>
              </p:cNvSpPr>
              <p:nvPr/>
            </p:nvSpPr>
            <p:spPr bwMode="auto">
              <a:xfrm>
                <a:off x="2544" y="886"/>
                <a:ext cx="43" cy="102"/>
              </a:xfrm>
              <a:custGeom>
                <a:avLst/>
                <a:gdLst>
                  <a:gd name="T0" fmla="*/ 0 w 43"/>
                  <a:gd name="T1" fmla="*/ 0 h 102"/>
                  <a:gd name="T2" fmla="*/ 14 w 43"/>
                  <a:gd name="T3" fmla="*/ 72 h 102"/>
                  <a:gd name="T4" fmla="*/ 24 w 43"/>
                  <a:gd name="T5" fmla="*/ 102 h 102"/>
                  <a:gd name="T6" fmla="*/ 10 w 43"/>
                  <a:gd name="T7" fmla="*/ 32 h 102"/>
                  <a:gd name="T8" fmla="*/ 2 w 43"/>
                  <a:gd name="T9" fmla="*/ 18 h 102"/>
                </a:gdLst>
                <a:ahLst/>
                <a:cxnLst>
                  <a:cxn ang="0">
                    <a:pos x="T0" y="T1"/>
                  </a:cxn>
                  <a:cxn ang="0">
                    <a:pos x="T2" y="T3"/>
                  </a:cxn>
                  <a:cxn ang="0">
                    <a:pos x="T4" y="T5"/>
                  </a:cxn>
                  <a:cxn ang="0">
                    <a:pos x="T6" y="T7"/>
                  </a:cxn>
                  <a:cxn ang="0">
                    <a:pos x="T8" y="T9"/>
                  </a:cxn>
                </a:cxnLst>
                <a:rect l="0" t="0" r="r" b="b"/>
                <a:pathLst>
                  <a:path w="43" h="102">
                    <a:moveTo>
                      <a:pt x="0" y="0"/>
                    </a:moveTo>
                    <a:cubicBezTo>
                      <a:pt x="3" y="25"/>
                      <a:pt x="0" y="50"/>
                      <a:pt x="14" y="72"/>
                    </a:cubicBezTo>
                    <a:cubicBezTo>
                      <a:pt x="17" y="83"/>
                      <a:pt x="11" y="98"/>
                      <a:pt x="24" y="102"/>
                    </a:cubicBezTo>
                    <a:cubicBezTo>
                      <a:pt x="43" y="73"/>
                      <a:pt x="31" y="53"/>
                      <a:pt x="10" y="32"/>
                    </a:cubicBezTo>
                    <a:cubicBezTo>
                      <a:pt x="6" y="28"/>
                      <a:pt x="6" y="22"/>
                      <a:pt x="2" y="18"/>
                    </a:cubicBezTo>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80" name="Freeform 165"/>
              <p:cNvSpPr>
                <a:spLocks noChangeAspect="1"/>
              </p:cNvSpPr>
              <p:nvPr/>
            </p:nvSpPr>
            <p:spPr bwMode="auto">
              <a:xfrm>
                <a:off x="2590" y="850"/>
                <a:ext cx="50" cy="128"/>
              </a:xfrm>
              <a:custGeom>
                <a:avLst/>
                <a:gdLst>
                  <a:gd name="T0" fmla="*/ 36 w 50"/>
                  <a:gd name="T1" fmla="*/ 0 h 128"/>
                  <a:gd name="T2" fmla="*/ 10 w 50"/>
                  <a:gd name="T3" fmla="*/ 80 h 128"/>
                  <a:gd name="T4" fmla="*/ 0 w 50"/>
                  <a:gd name="T5" fmla="*/ 112 h 128"/>
                  <a:gd name="T6" fmla="*/ 10 w 50"/>
                  <a:gd name="T7" fmla="*/ 118 h 128"/>
                  <a:gd name="T8" fmla="*/ 14 w 50"/>
                  <a:gd name="T9" fmla="*/ 106 h 128"/>
                  <a:gd name="T10" fmla="*/ 34 w 50"/>
                  <a:gd name="T11" fmla="*/ 70 h 128"/>
                  <a:gd name="T12" fmla="*/ 46 w 50"/>
                  <a:gd name="T13" fmla="*/ 38 h 128"/>
                  <a:gd name="T14" fmla="*/ 36 w 50"/>
                  <a:gd name="T15" fmla="*/ 0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8">
                    <a:moveTo>
                      <a:pt x="36" y="0"/>
                    </a:moveTo>
                    <a:cubicBezTo>
                      <a:pt x="44" y="30"/>
                      <a:pt x="31" y="59"/>
                      <a:pt x="10" y="80"/>
                    </a:cubicBezTo>
                    <a:cubicBezTo>
                      <a:pt x="6" y="91"/>
                      <a:pt x="2" y="100"/>
                      <a:pt x="0" y="112"/>
                    </a:cubicBezTo>
                    <a:cubicBezTo>
                      <a:pt x="1" y="115"/>
                      <a:pt x="1" y="128"/>
                      <a:pt x="10" y="118"/>
                    </a:cubicBezTo>
                    <a:cubicBezTo>
                      <a:pt x="13" y="115"/>
                      <a:pt x="12" y="110"/>
                      <a:pt x="14" y="106"/>
                    </a:cubicBezTo>
                    <a:cubicBezTo>
                      <a:pt x="22" y="94"/>
                      <a:pt x="26" y="82"/>
                      <a:pt x="34" y="70"/>
                    </a:cubicBezTo>
                    <a:cubicBezTo>
                      <a:pt x="37" y="58"/>
                      <a:pt x="42" y="49"/>
                      <a:pt x="46" y="38"/>
                    </a:cubicBezTo>
                    <a:cubicBezTo>
                      <a:pt x="45" y="24"/>
                      <a:pt x="50" y="7"/>
                      <a:pt x="36"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81" name="Freeform 166"/>
              <p:cNvSpPr>
                <a:spLocks noChangeAspect="1"/>
              </p:cNvSpPr>
              <p:nvPr/>
            </p:nvSpPr>
            <p:spPr bwMode="auto">
              <a:xfrm>
                <a:off x="2563" y="882"/>
                <a:ext cx="38" cy="98"/>
              </a:xfrm>
              <a:custGeom>
                <a:avLst/>
                <a:gdLst>
                  <a:gd name="T0" fmla="*/ 7 w 38"/>
                  <a:gd name="T1" fmla="*/ 0 h 98"/>
                  <a:gd name="T2" fmla="*/ 9 w 38"/>
                  <a:gd name="T3" fmla="*/ 78 h 98"/>
                  <a:gd name="T4" fmla="*/ 19 w 38"/>
                  <a:gd name="T5" fmla="*/ 98 h 98"/>
                  <a:gd name="T6" fmla="*/ 7 w 38"/>
                  <a:gd name="T7" fmla="*/ 0 h 98"/>
                </a:gdLst>
                <a:ahLst/>
                <a:cxnLst>
                  <a:cxn ang="0">
                    <a:pos x="T0" y="T1"/>
                  </a:cxn>
                  <a:cxn ang="0">
                    <a:pos x="T2" y="T3"/>
                  </a:cxn>
                  <a:cxn ang="0">
                    <a:pos x="T4" y="T5"/>
                  </a:cxn>
                  <a:cxn ang="0">
                    <a:pos x="T6" y="T7"/>
                  </a:cxn>
                </a:cxnLst>
                <a:rect l="0" t="0" r="r" b="b"/>
                <a:pathLst>
                  <a:path w="38" h="98">
                    <a:moveTo>
                      <a:pt x="7" y="0"/>
                    </a:moveTo>
                    <a:cubicBezTo>
                      <a:pt x="5" y="28"/>
                      <a:pt x="0" y="51"/>
                      <a:pt x="9" y="78"/>
                    </a:cubicBezTo>
                    <a:cubicBezTo>
                      <a:pt x="12" y="86"/>
                      <a:pt x="9" y="95"/>
                      <a:pt x="19" y="98"/>
                    </a:cubicBezTo>
                    <a:cubicBezTo>
                      <a:pt x="38" y="69"/>
                      <a:pt x="9" y="30"/>
                      <a:pt x="7"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82" name="Freeform 167"/>
              <p:cNvSpPr>
                <a:spLocks noChangeAspect="1"/>
              </p:cNvSpPr>
              <p:nvPr/>
            </p:nvSpPr>
            <p:spPr bwMode="auto">
              <a:xfrm>
                <a:off x="2561" y="828"/>
                <a:ext cx="43" cy="162"/>
              </a:xfrm>
              <a:custGeom>
                <a:avLst/>
                <a:gdLst>
                  <a:gd name="T0" fmla="*/ 31 w 43"/>
                  <a:gd name="T1" fmla="*/ 0 h 162"/>
                  <a:gd name="T2" fmla="*/ 15 w 43"/>
                  <a:gd name="T3" fmla="*/ 112 h 162"/>
                  <a:gd name="T4" fmla="*/ 31 w 43"/>
                  <a:gd name="T5" fmla="*/ 152 h 162"/>
                  <a:gd name="T6" fmla="*/ 43 w 43"/>
                  <a:gd name="T7" fmla="*/ 80 h 162"/>
                  <a:gd name="T8" fmla="*/ 31 w 43"/>
                  <a:gd name="T9" fmla="*/ 0 h 162"/>
                </a:gdLst>
                <a:ahLst/>
                <a:cxnLst>
                  <a:cxn ang="0">
                    <a:pos x="T0" y="T1"/>
                  </a:cxn>
                  <a:cxn ang="0">
                    <a:pos x="T2" y="T3"/>
                  </a:cxn>
                  <a:cxn ang="0">
                    <a:pos x="T4" y="T5"/>
                  </a:cxn>
                  <a:cxn ang="0">
                    <a:pos x="T6" y="T7"/>
                  </a:cxn>
                  <a:cxn ang="0">
                    <a:pos x="T8" y="T9"/>
                  </a:cxn>
                </a:cxnLst>
                <a:rect l="0" t="0" r="r" b="b"/>
                <a:pathLst>
                  <a:path w="43" h="162">
                    <a:moveTo>
                      <a:pt x="31" y="0"/>
                    </a:moveTo>
                    <a:cubicBezTo>
                      <a:pt x="30" y="49"/>
                      <a:pt x="29" y="71"/>
                      <a:pt x="15" y="112"/>
                    </a:cubicBezTo>
                    <a:cubicBezTo>
                      <a:pt x="13" y="133"/>
                      <a:pt x="0" y="162"/>
                      <a:pt x="31" y="152"/>
                    </a:cubicBezTo>
                    <a:cubicBezTo>
                      <a:pt x="25" y="120"/>
                      <a:pt x="36" y="109"/>
                      <a:pt x="43" y="80"/>
                    </a:cubicBezTo>
                    <a:cubicBezTo>
                      <a:pt x="41" y="10"/>
                      <a:pt x="43" y="36"/>
                      <a:pt x="31" y="0"/>
                    </a:cubicBezTo>
                    <a:close/>
                  </a:path>
                </a:pathLst>
              </a:custGeom>
              <a:solidFill>
                <a:srgbClr val="008000"/>
              </a:solidFill>
              <a:ln w="9525" cap="flat" cmpd="sng">
                <a:gradFill>
                  <a:gsLst>
                    <a:gs pos="0">
                      <a:srgbClr val="92D050"/>
                    </a:gs>
                    <a:gs pos="50000">
                      <a:srgbClr val="339933"/>
                    </a:gs>
                    <a:gs pos="100000">
                      <a:srgbClr val="006600"/>
                    </a:gs>
                  </a:gsLst>
                  <a:lin ang="5400000" scaled="0"/>
                </a:gra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grpSp>
        <p:sp>
          <p:nvSpPr>
            <p:cNvPr id="283" name="Text Box 172"/>
            <p:cNvSpPr txBox="1">
              <a:spLocks noChangeAspect="1" noChangeArrowheads="1"/>
            </p:cNvSpPr>
            <p:nvPr/>
          </p:nvSpPr>
          <p:spPr bwMode="auto">
            <a:xfrm>
              <a:off x="6696936" y="1680573"/>
              <a:ext cx="1418347"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土工织物反滤</a:t>
              </a:r>
            </a:p>
          </p:txBody>
        </p:sp>
        <p:sp>
          <p:nvSpPr>
            <p:cNvPr id="284" name="Text Box 173"/>
            <p:cNvSpPr txBox="1">
              <a:spLocks noChangeAspect="1" noChangeArrowheads="1"/>
            </p:cNvSpPr>
            <p:nvPr/>
          </p:nvSpPr>
          <p:spPr bwMode="auto">
            <a:xfrm>
              <a:off x="6790481" y="2021849"/>
              <a:ext cx="1165796"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砂砾石料</a:t>
              </a:r>
            </a:p>
          </p:txBody>
        </p:sp>
        <p:sp>
          <p:nvSpPr>
            <p:cNvPr id="285" name="Line 175"/>
            <p:cNvSpPr>
              <a:spLocks noChangeAspect="1" noChangeShapeType="1"/>
            </p:cNvSpPr>
            <p:nvPr/>
          </p:nvSpPr>
          <p:spPr bwMode="auto">
            <a:xfrm flipH="1">
              <a:off x="6598413" y="2205656"/>
              <a:ext cx="222317" cy="878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86" name="Text Box 170"/>
            <p:cNvSpPr txBox="1">
              <a:spLocks noChangeAspect="1" noChangeArrowheads="1"/>
            </p:cNvSpPr>
            <p:nvPr/>
          </p:nvSpPr>
          <p:spPr bwMode="auto">
            <a:xfrm>
              <a:off x="5357120" y="2330700"/>
              <a:ext cx="815510" cy="37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排水孔</a:t>
              </a:r>
            </a:p>
          </p:txBody>
        </p:sp>
        <p:grpSp>
          <p:nvGrpSpPr>
            <p:cNvPr id="287" name="组合 286"/>
            <p:cNvGrpSpPr/>
            <p:nvPr/>
          </p:nvGrpSpPr>
          <p:grpSpPr>
            <a:xfrm>
              <a:off x="6197119" y="802140"/>
              <a:ext cx="1582307" cy="2040813"/>
              <a:chOff x="3871571" y="1203103"/>
              <a:chExt cx="2951188" cy="3806357"/>
            </a:xfrm>
          </p:grpSpPr>
          <p:sp>
            <p:nvSpPr>
              <p:cNvPr id="288" name="Rectangle 9"/>
              <p:cNvSpPr>
                <a:spLocks noChangeAspect="1" noChangeArrowheads="1"/>
              </p:cNvSpPr>
              <p:nvPr/>
            </p:nvSpPr>
            <p:spPr bwMode="auto">
              <a:xfrm>
                <a:off x="3871571" y="4924295"/>
                <a:ext cx="1076236" cy="62827"/>
              </a:xfrm>
              <a:prstGeom prst="rect">
                <a:avLst/>
              </a:prstGeom>
              <a:solidFill>
                <a:srgbClr val="CC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66"/>
                  </a:solidFill>
                  <a:latin typeface="幼圆" panose="02010509060101010101" pitchFamily="49" charset="-122"/>
                  <a:ea typeface="幼圆" panose="02010509060101010101" pitchFamily="49" charset="-122"/>
                </a:endParaRPr>
              </a:p>
            </p:txBody>
          </p:sp>
          <p:sp>
            <p:nvSpPr>
              <p:cNvPr id="289" name="Oval 10"/>
              <p:cNvSpPr>
                <a:spLocks noChangeAspect="1" noChangeArrowheads="1"/>
              </p:cNvSpPr>
              <p:nvPr/>
            </p:nvSpPr>
            <p:spPr bwMode="auto">
              <a:xfrm>
                <a:off x="4900688" y="4882411"/>
                <a:ext cx="132707" cy="127049"/>
              </a:xfrm>
              <a:prstGeom prst="ellipse">
                <a:avLst/>
              </a:prstGeom>
              <a:solidFill>
                <a:srgbClr val="CC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66"/>
                  </a:solidFill>
                  <a:latin typeface="幼圆" panose="02010509060101010101" pitchFamily="49" charset="-122"/>
                  <a:ea typeface="幼圆" panose="02010509060101010101" pitchFamily="49" charset="-122"/>
                </a:endParaRPr>
              </a:p>
            </p:txBody>
          </p:sp>
          <p:sp>
            <p:nvSpPr>
              <p:cNvPr id="290" name="Text Box 168"/>
              <p:cNvSpPr txBox="1">
                <a:spLocks noChangeAspect="1" noChangeArrowheads="1"/>
              </p:cNvSpPr>
              <p:nvPr/>
            </p:nvSpPr>
            <p:spPr bwMode="auto">
              <a:xfrm>
                <a:off x="5301736" y="4240809"/>
                <a:ext cx="1521023" cy="70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a:solidFill>
                      <a:srgbClr val="000066"/>
                    </a:solidFill>
                    <a:latin typeface="幼圆" panose="02010509060101010101" pitchFamily="49" charset="-122"/>
                    <a:ea typeface="幼圆" panose="02010509060101010101" pitchFamily="49" charset="-122"/>
                  </a:rPr>
                  <a:t>排水管</a:t>
                </a:r>
              </a:p>
            </p:txBody>
          </p:sp>
          <p:sp>
            <p:nvSpPr>
              <p:cNvPr id="294" name="Text Box 168"/>
              <p:cNvSpPr txBox="1">
                <a:spLocks noChangeAspect="1" noChangeArrowheads="1"/>
              </p:cNvSpPr>
              <p:nvPr/>
            </p:nvSpPr>
            <p:spPr bwMode="auto">
              <a:xfrm>
                <a:off x="5244887" y="1203103"/>
                <a:ext cx="1521024" cy="63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1600" b="1" dirty="0" smtClean="0">
                    <a:solidFill>
                      <a:srgbClr val="000066"/>
                    </a:solidFill>
                    <a:latin typeface="幼圆" panose="02010509060101010101" pitchFamily="49" charset="-122"/>
                    <a:ea typeface="幼圆" panose="02010509060101010101" pitchFamily="49" charset="-122"/>
                  </a:rPr>
                  <a:t>排水沟</a:t>
                </a:r>
                <a:endParaRPr lang="zh-CN" altLang="en-US" sz="1600" b="1" dirty="0">
                  <a:solidFill>
                    <a:srgbClr val="000066"/>
                  </a:solidFill>
                  <a:latin typeface="幼圆" panose="02010509060101010101" pitchFamily="49" charset="-122"/>
                  <a:ea typeface="幼圆" panose="02010509060101010101" pitchFamily="49" charset="-122"/>
                </a:endParaRPr>
              </a:p>
            </p:txBody>
          </p:sp>
        </p:grpSp>
        <p:sp>
          <p:nvSpPr>
            <p:cNvPr id="291" name="Line 175"/>
            <p:cNvSpPr>
              <a:spLocks noChangeAspect="1" noChangeShapeType="1"/>
            </p:cNvSpPr>
            <p:nvPr/>
          </p:nvSpPr>
          <p:spPr bwMode="auto">
            <a:xfrm flipH="1">
              <a:off x="6567933" y="1906454"/>
              <a:ext cx="222317" cy="878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92" name="Line 175"/>
            <p:cNvSpPr>
              <a:spLocks noChangeAspect="1" noChangeShapeType="1"/>
            </p:cNvSpPr>
            <p:nvPr/>
          </p:nvSpPr>
          <p:spPr bwMode="auto">
            <a:xfrm flipH="1">
              <a:off x="6780044" y="2713242"/>
              <a:ext cx="238057" cy="9410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93" name="Line 175"/>
            <p:cNvSpPr>
              <a:spLocks noChangeShapeType="1"/>
            </p:cNvSpPr>
            <p:nvPr/>
          </p:nvSpPr>
          <p:spPr bwMode="auto">
            <a:xfrm>
              <a:off x="5941539" y="2698313"/>
              <a:ext cx="204651" cy="1208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b="1">
                <a:latin typeface="微软雅黑" panose="020B0503020204020204" pitchFamily="34" charset="-122"/>
                <a:ea typeface="微软雅黑" panose="020B0503020204020204" pitchFamily="34" charset="-122"/>
              </a:endParaRPr>
            </a:p>
          </p:txBody>
        </p:sp>
        <p:sp>
          <p:nvSpPr>
            <p:cNvPr id="29" name="任意多边形 28"/>
            <p:cNvSpPr/>
            <p:nvPr/>
          </p:nvSpPr>
          <p:spPr bwMode="auto">
            <a:xfrm>
              <a:off x="7570446" y="1102328"/>
              <a:ext cx="417931" cy="176709"/>
            </a:xfrm>
            <a:custGeom>
              <a:avLst/>
              <a:gdLst>
                <a:gd name="connsiteX0" fmla="*/ 0 w 370248"/>
                <a:gd name="connsiteY0" fmla="*/ 44879 h 131831"/>
                <a:gd name="connsiteX1" fmla="*/ 72928 w 370248"/>
                <a:gd name="connsiteY1" fmla="*/ 131831 h 131831"/>
                <a:gd name="connsiteX2" fmla="*/ 238417 w 370248"/>
                <a:gd name="connsiteY2" fmla="*/ 131831 h 131831"/>
                <a:gd name="connsiteX3" fmla="*/ 370248 w 370248"/>
                <a:gd name="connsiteY3" fmla="*/ 0 h 131831"/>
                <a:gd name="connsiteX0" fmla="*/ 0 w 401102"/>
                <a:gd name="connsiteY0" fmla="*/ 72928 h 159880"/>
                <a:gd name="connsiteX1" fmla="*/ 72928 w 401102"/>
                <a:gd name="connsiteY1" fmla="*/ 159880 h 159880"/>
                <a:gd name="connsiteX2" fmla="*/ 238417 w 401102"/>
                <a:gd name="connsiteY2" fmla="*/ 159880 h 159880"/>
                <a:gd name="connsiteX3" fmla="*/ 401102 w 401102"/>
                <a:gd name="connsiteY3" fmla="*/ 0 h 159880"/>
                <a:gd name="connsiteX0" fmla="*/ 0 w 417931"/>
                <a:gd name="connsiteY0" fmla="*/ 89757 h 176709"/>
                <a:gd name="connsiteX1" fmla="*/ 72928 w 417931"/>
                <a:gd name="connsiteY1" fmla="*/ 176709 h 176709"/>
                <a:gd name="connsiteX2" fmla="*/ 238417 w 417931"/>
                <a:gd name="connsiteY2" fmla="*/ 176709 h 176709"/>
                <a:gd name="connsiteX3" fmla="*/ 417931 w 417931"/>
                <a:gd name="connsiteY3" fmla="*/ 0 h 176709"/>
                <a:gd name="connsiteX0" fmla="*/ 0 w 417931"/>
                <a:gd name="connsiteY0" fmla="*/ 89757 h 176709"/>
                <a:gd name="connsiteX1" fmla="*/ 72928 w 417931"/>
                <a:gd name="connsiteY1" fmla="*/ 176709 h 176709"/>
                <a:gd name="connsiteX2" fmla="*/ 238417 w 417931"/>
                <a:gd name="connsiteY2" fmla="*/ 176709 h 176709"/>
                <a:gd name="connsiteX3" fmla="*/ 417931 w 417931"/>
                <a:gd name="connsiteY3" fmla="*/ 0 h 176709"/>
              </a:gdLst>
              <a:ahLst/>
              <a:cxnLst>
                <a:cxn ang="0">
                  <a:pos x="connsiteX0" y="connsiteY0"/>
                </a:cxn>
                <a:cxn ang="0">
                  <a:pos x="connsiteX1" y="connsiteY1"/>
                </a:cxn>
                <a:cxn ang="0">
                  <a:pos x="connsiteX2" y="connsiteY2"/>
                </a:cxn>
                <a:cxn ang="0">
                  <a:pos x="connsiteX3" y="connsiteY3"/>
                </a:cxn>
              </a:cxnLst>
              <a:rect l="l" t="t" r="r" b="b"/>
              <a:pathLst>
                <a:path w="417931" h="176709">
                  <a:moveTo>
                    <a:pt x="0" y="89757"/>
                  </a:moveTo>
                  <a:lnTo>
                    <a:pt x="72928" y="176709"/>
                  </a:lnTo>
                  <a:lnTo>
                    <a:pt x="238417" y="176709"/>
                  </a:lnTo>
                  <a:lnTo>
                    <a:pt x="417931" y="0"/>
                  </a:lnTo>
                </a:path>
              </a:pathLst>
            </a:custGeom>
            <a:solidFill>
              <a:schemeClr val="bg1"/>
            </a:solidFill>
            <a:ln w="31750" cap="flat" cmpd="sng" algn="ctr">
              <a:solidFill>
                <a:srgbClr val="000066"/>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sp>
        <p:nvSpPr>
          <p:cNvPr id="31" name="矩形 30"/>
          <p:cNvSpPr/>
          <p:nvPr/>
        </p:nvSpPr>
        <p:spPr>
          <a:xfrm>
            <a:off x="771525" y="1152969"/>
            <a:ext cx="3848100" cy="978729"/>
          </a:xfrm>
          <a:prstGeom prst="rect">
            <a:avLst/>
          </a:prstGeom>
        </p:spPr>
        <p:txBody>
          <a:bodyPr wrap="square">
            <a:spAutoFit/>
          </a:bodyPr>
          <a:lstStyle/>
          <a:p>
            <a:pPr>
              <a:lnSpc>
                <a:spcPct val="120000"/>
              </a:lnSpc>
            </a:pPr>
            <a:r>
              <a:rPr lang="zh-CN" altLang="en-US" sz="24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墙</a:t>
            </a:r>
            <a:r>
              <a:rPr lang="zh-CN" altLang="en-US" sz="24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内设排水孔及反滤层，填土表面设沟、堤等截流</a:t>
            </a:r>
          </a:p>
        </p:txBody>
      </p:sp>
      <p:sp>
        <p:nvSpPr>
          <p:cNvPr id="295" name="Text Box 29"/>
          <p:cNvSpPr txBox="1">
            <a:spLocks noChangeArrowheads="1"/>
          </p:cNvSpPr>
          <p:nvPr/>
        </p:nvSpPr>
        <p:spPr bwMode="auto">
          <a:xfrm>
            <a:off x="852818" y="3222296"/>
            <a:ext cx="7586331" cy="222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61950" indent="-361950">
              <a:lnSpc>
                <a:spcPct val="120000"/>
              </a:lnSpc>
              <a:spcBef>
                <a:spcPts val="200"/>
              </a:spcBef>
              <a:spcAft>
                <a:spcPts val="200"/>
              </a:spcAft>
              <a:buClr>
                <a:srgbClr val="A50021"/>
              </a:buClr>
              <a:buSzPct val="100000"/>
              <a:buFont typeface="+mj-lt"/>
              <a:buAutoNum type="arabicPeriod"/>
              <a:tabLst>
                <a:tab pos="266700" algn="l"/>
              </a:tabLst>
            </a:pPr>
            <a:r>
              <a:rPr kumimoji="1" lang="en-US" altLang="zh-CN" sz="2200" b="1" dirty="0" err="1" smtClean="0">
                <a:solidFill>
                  <a:srgbClr val="000066"/>
                </a:solidFill>
                <a:ea typeface="幼圆" panose="02010509060101010101" pitchFamily="49" charset="-122"/>
                <a:sym typeface="Symbol" panose="05050102010706020507" pitchFamily="18" charset="2"/>
              </a:rPr>
              <a:t>地下水位以下填土重量因受到水的浮力而减小，计算土压力时应用浮重度</a:t>
            </a:r>
            <a:r>
              <a:rPr kumimoji="1" lang="en-US" altLang="zh-CN" sz="2200" b="1" i="1" dirty="0" smtClean="0">
                <a:solidFill>
                  <a:srgbClr val="000066"/>
                </a:solidFill>
                <a:ea typeface="幼圆" panose="02010509060101010101" pitchFamily="49" charset="-122"/>
                <a:sym typeface="Symbol" panose="05050102010706020507" pitchFamily="18" charset="2"/>
              </a:rPr>
              <a:t> </a:t>
            </a:r>
            <a:r>
              <a:rPr kumimoji="1" lang="en-US" altLang="zh-CN" sz="2200" b="1" dirty="0" smtClean="0">
                <a:solidFill>
                  <a:srgbClr val="000066"/>
                </a:solidFill>
                <a:ea typeface="幼圆" panose="02010509060101010101" pitchFamily="49" charset="-122"/>
                <a:sym typeface="Symbol" panose="05050102010706020507" pitchFamily="18" charset="2"/>
              </a:rPr>
              <a:t></a:t>
            </a:r>
          </a:p>
          <a:p>
            <a:pPr marL="361950" indent="-361950">
              <a:lnSpc>
                <a:spcPct val="120000"/>
              </a:lnSpc>
              <a:spcBef>
                <a:spcPts val="200"/>
              </a:spcBef>
              <a:spcAft>
                <a:spcPts val="200"/>
              </a:spcAft>
              <a:buClr>
                <a:srgbClr val="A50021"/>
              </a:buClr>
              <a:buSzPct val="100000"/>
              <a:buFont typeface="+mj-lt"/>
              <a:buAutoNum type="arabicPeriod"/>
              <a:tabLst>
                <a:tab pos="266700" algn="l"/>
              </a:tabLst>
            </a:pPr>
            <a:r>
              <a:rPr kumimoji="1" lang="en-US" altLang="zh-CN" sz="2200" b="1" dirty="0" err="1" smtClean="0">
                <a:solidFill>
                  <a:srgbClr val="000066"/>
                </a:solidFill>
                <a:ea typeface="幼圆" panose="02010509060101010101" pitchFamily="49" charset="-122"/>
                <a:sym typeface="Symbol" panose="05050102010706020507" pitchFamily="18" charset="2"/>
              </a:rPr>
              <a:t>地下水对填土强度指标</a:t>
            </a:r>
            <a:r>
              <a:rPr kumimoji="1" lang="zh-CN" altLang="en-US" sz="2200" b="1" dirty="0" smtClean="0">
                <a:solidFill>
                  <a:srgbClr val="000066"/>
                </a:solidFill>
                <a:ea typeface="幼圆" panose="02010509060101010101" pitchFamily="49" charset="-122"/>
                <a:sym typeface="Symbol" panose="05050102010706020507" pitchFamily="18" charset="2"/>
              </a:rPr>
              <a:t>的</a:t>
            </a:r>
            <a:r>
              <a:rPr kumimoji="1" lang="en-US" altLang="zh-CN" sz="2200" b="1" dirty="0" err="1" smtClean="0">
                <a:solidFill>
                  <a:srgbClr val="000066"/>
                </a:solidFill>
                <a:ea typeface="幼圆" panose="02010509060101010101" pitchFamily="49" charset="-122"/>
                <a:sym typeface="Symbol" panose="05050102010706020507" pitchFamily="18" charset="2"/>
              </a:rPr>
              <a:t>影响</a:t>
            </a:r>
            <a:r>
              <a:rPr kumimoji="1" lang="zh-CN" altLang="en-US" sz="2200" b="1" dirty="0" smtClean="0">
                <a:solidFill>
                  <a:srgbClr val="000066"/>
                </a:solidFill>
                <a:ea typeface="幼圆" panose="02010509060101010101" pitchFamily="49" charset="-122"/>
                <a:sym typeface="Symbol" panose="05050102010706020507" pitchFamily="18" charset="2"/>
              </a:rPr>
              <a:t>：</a:t>
            </a:r>
            <a:r>
              <a:rPr kumimoji="1" lang="en-US" altLang="zh-CN" sz="2200" b="1" dirty="0" err="1" smtClean="0">
                <a:solidFill>
                  <a:srgbClr val="000066"/>
                </a:solidFill>
                <a:ea typeface="幼圆" panose="02010509060101010101" pitchFamily="49" charset="-122"/>
                <a:sym typeface="Symbol" panose="05050102010706020507" pitchFamily="18" charset="2"/>
              </a:rPr>
              <a:t>对无</a:t>
            </a:r>
            <a:r>
              <a:rPr kumimoji="1" lang="zh-CN" altLang="en-US" sz="2200" b="1" dirty="0" smtClean="0">
                <a:solidFill>
                  <a:srgbClr val="000066"/>
                </a:solidFill>
                <a:ea typeface="幼圆" panose="02010509060101010101" pitchFamily="49" charset="-122"/>
                <a:sym typeface="Symbol" panose="05050102010706020507" pitchFamily="18" charset="2"/>
              </a:rPr>
              <a:t>砂土</a:t>
            </a:r>
            <a:r>
              <a:rPr kumimoji="1" lang="en-US" altLang="zh-CN" sz="2200" b="1" dirty="0" err="1" smtClean="0">
                <a:solidFill>
                  <a:srgbClr val="000066"/>
                </a:solidFill>
                <a:ea typeface="幼圆" panose="02010509060101010101" pitchFamily="49" charset="-122"/>
                <a:sym typeface="Symbol" panose="05050102010706020507" pitchFamily="18" charset="2"/>
              </a:rPr>
              <a:t>的影响可忽略</a:t>
            </a:r>
            <a:r>
              <a:rPr kumimoji="1" lang="zh-CN" altLang="en-US" sz="2200" b="1" dirty="0" smtClean="0">
                <a:solidFill>
                  <a:srgbClr val="000066"/>
                </a:solidFill>
                <a:ea typeface="幼圆" panose="02010509060101010101" pitchFamily="49" charset="-122"/>
                <a:sym typeface="Symbol" panose="05050102010706020507" pitchFamily="18" charset="2"/>
              </a:rPr>
              <a:t>；</a:t>
            </a:r>
            <a:r>
              <a:rPr kumimoji="1" lang="en-US" altLang="zh-CN" sz="2200" b="1" dirty="0" err="1" smtClean="0">
                <a:solidFill>
                  <a:srgbClr val="000066"/>
                </a:solidFill>
                <a:ea typeface="幼圆" panose="02010509060101010101" pitchFamily="49" charset="-122"/>
                <a:sym typeface="Symbol" panose="05050102010706020507" pitchFamily="18" charset="2"/>
              </a:rPr>
              <a:t>对黏性填土，地下水将使</a:t>
            </a:r>
            <a:r>
              <a:rPr kumimoji="1" lang="en-US" altLang="zh-CN" sz="2200" b="1" i="1" dirty="0" err="1" smtClean="0">
                <a:solidFill>
                  <a:srgbClr val="000066"/>
                </a:solidFill>
                <a:ea typeface="幼圆" panose="02010509060101010101" pitchFamily="49" charset="-122"/>
                <a:sym typeface="Symbol" panose="05050102010706020507" pitchFamily="18" charset="2"/>
              </a:rPr>
              <a:t>c</a:t>
            </a:r>
            <a:r>
              <a:rPr kumimoji="1" lang="en-US" altLang="zh-CN" sz="2200" b="1" dirty="0">
                <a:solidFill>
                  <a:srgbClr val="000066"/>
                </a:solidFill>
                <a:ea typeface="幼圆" panose="02010509060101010101" pitchFamily="49" charset="-122"/>
                <a:sym typeface="Symbol" panose="05050102010706020507" pitchFamily="18" charset="2"/>
              </a:rPr>
              <a:t>、 </a:t>
            </a:r>
            <a:r>
              <a:rPr kumimoji="1" lang="en-US" altLang="zh-CN" sz="2200" b="1" i="1" dirty="0">
                <a:solidFill>
                  <a:srgbClr val="000066"/>
                </a:solidFill>
                <a:ea typeface="幼圆" panose="02010509060101010101" pitchFamily="49" charset="-122"/>
                <a:sym typeface="Symbol" panose="05050102010706020507" pitchFamily="18" charset="2"/>
              </a:rPr>
              <a:t></a:t>
            </a:r>
            <a:r>
              <a:rPr kumimoji="1" lang="en-US" altLang="zh-CN" sz="2200" b="1" dirty="0">
                <a:solidFill>
                  <a:srgbClr val="000066"/>
                </a:solidFill>
                <a:ea typeface="幼圆" panose="02010509060101010101" pitchFamily="49" charset="-122"/>
                <a:sym typeface="Symbol" panose="05050102010706020507" pitchFamily="18" charset="2"/>
              </a:rPr>
              <a:t> </a:t>
            </a:r>
            <a:r>
              <a:rPr kumimoji="1" lang="en-US" altLang="zh-CN" sz="2200" b="1" dirty="0" err="1">
                <a:solidFill>
                  <a:srgbClr val="000066"/>
                </a:solidFill>
                <a:ea typeface="幼圆" panose="02010509060101010101" pitchFamily="49" charset="-122"/>
                <a:sym typeface="Symbol" panose="05050102010706020507" pitchFamily="18" charset="2"/>
              </a:rPr>
              <a:t>值减小</a:t>
            </a:r>
            <a:r>
              <a:rPr kumimoji="1" lang="en-US" altLang="zh-CN" sz="2200" b="1" dirty="0" err="1" smtClean="0">
                <a:solidFill>
                  <a:srgbClr val="000066"/>
                </a:solidFill>
                <a:ea typeface="幼圆" panose="02010509060101010101" pitchFamily="49" charset="-122"/>
                <a:sym typeface="Symbol" panose="05050102010706020507" pitchFamily="18" charset="2"/>
              </a:rPr>
              <a:t>，使土压力增大</a:t>
            </a:r>
            <a:endParaRPr kumimoji="1" lang="en-US" altLang="zh-CN" sz="2200" b="1" dirty="0" smtClean="0">
              <a:solidFill>
                <a:srgbClr val="000066"/>
              </a:solidFill>
              <a:ea typeface="幼圆" panose="02010509060101010101" pitchFamily="49" charset="-122"/>
              <a:sym typeface="Symbol" panose="05050102010706020507" pitchFamily="18" charset="2"/>
            </a:endParaRPr>
          </a:p>
          <a:p>
            <a:pPr marL="361950" indent="-361950">
              <a:lnSpc>
                <a:spcPct val="120000"/>
              </a:lnSpc>
              <a:spcBef>
                <a:spcPts val="200"/>
              </a:spcBef>
              <a:spcAft>
                <a:spcPts val="200"/>
              </a:spcAft>
              <a:buClr>
                <a:srgbClr val="A50021"/>
              </a:buClr>
              <a:buSzPct val="100000"/>
              <a:buFont typeface="+mj-lt"/>
              <a:buAutoNum type="arabicPeriod"/>
              <a:tabLst>
                <a:tab pos="266700" algn="l"/>
              </a:tabLst>
            </a:pPr>
            <a:r>
              <a:rPr kumimoji="1" lang="en-US" altLang="zh-CN" sz="2200" b="1" dirty="0" err="1" smtClean="0">
                <a:solidFill>
                  <a:srgbClr val="000066"/>
                </a:solidFill>
                <a:ea typeface="幼圆" panose="02010509060101010101" pitchFamily="49" charset="-122"/>
                <a:sym typeface="Symbol" panose="05050102010706020507" pitchFamily="18" charset="2"/>
              </a:rPr>
              <a:t>地下水对墙背产生静水压力作用</a:t>
            </a:r>
            <a:endParaRPr kumimoji="1" lang="zh-CN" altLang="en-US" sz="2200" b="1" dirty="0">
              <a:solidFill>
                <a:srgbClr val="000066"/>
              </a:solidFill>
              <a:ea typeface="幼圆" panose="02010509060101010101" pitchFamily="49" charset="-122"/>
            </a:endParaRPr>
          </a:p>
        </p:txBody>
      </p:sp>
      <p:sp>
        <p:nvSpPr>
          <p:cNvPr id="296" name="Rectangle 3"/>
          <p:cNvSpPr txBox="1">
            <a:spLocks noChangeArrowheads="1"/>
          </p:cNvSpPr>
          <p:nvPr/>
        </p:nvSpPr>
        <p:spPr bwMode="auto">
          <a:xfrm>
            <a:off x="413482" y="536298"/>
            <a:ext cx="2767868"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挡土墙排水设计</a:t>
            </a:r>
          </a:p>
        </p:txBody>
      </p:sp>
      <p:sp>
        <p:nvSpPr>
          <p:cNvPr id="297" name="Rectangle 3"/>
          <p:cNvSpPr txBox="1">
            <a:spLocks noChangeArrowheads="1"/>
          </p:cNvSpPr>
          <p:nvPr/>
        </p:nvSpPr>
        <p:spPr bwMode="auto">
          <a:xfrm>
            <a:off x="394431" y="2517498"/>
            <a:ext cx="3634643"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地下水对土压力的影响</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298"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土中有</a:t>
            </a:r>
            <a:r>
              <a:rPr lang="zh-CN" altLang="en-US" sz="1800" b="1" kern="900" spc="130" dirty="0" smtClean="0">
                <a:solidFill>
                  <a:srgbClr val="000066"/>
                </a:solidFill>
                <a:ea typeface="黑体" panose="02010609060101010101" pitchFamily="49" charset="-122"/>
                <a:cs typeface="Times New Roman" panose="02020603050405020304" pitchFamily="18" charset="0"/>
              </a:rPr>
              <a:t>水</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659727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barn(inVertical)">
                                      <p:cBhvr>
                                        <p:cTn id="7" dur="500"/>
                                        <p:tgtEl>
                                          <p:spTgt spid="29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97"/>
                                        </p:tgtEl>
                                        <p:attrNameLst>
                                          <p:attrName>style.visibility</p:attrName>
                                        </p:attrNameLst>
                                      </p:cBhvr>
                                      <p:to>
                                        <p:strVal val="visible"/>
                                      </p:to>
                                    </p:set>
                                    <p:animEffect transition="in" filter="barn(inVertical)">
                                      <p:cBhvr>
                                        <p:cTn id="10" dur="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p:bldP spid="29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bwMode="auto">
          <a:xfrm>
            <a:off x="2276475" y="2305050"/>
            <a:ext cx="1876425" cy="1095375"/>
          </a:xfrm>
          <a:prstGeom prst="rect">
            <a:avLst/>
          </a:prstGeom>
          <a:solidFill>
            <a:srgbClr val="6699FF"/>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80</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土中有</a:t>
            </a:r>
            <a:r>
              <a:rPr lang="zh-CN" altLang="en-US" sz="1800" b="1" kern="900" spc="130" dirty="0" smtClean="0">
                <a:solidFill>
                  <a:srgbClr val="000066"/>
                </a:solidFill>
                <a:ea typeface="黑体" panose="02010609060101010101" pitchFamily="49" charset="-122"/>
                <a:cs typeface="Times New Roman" panose="02020603050405020304" pitchFamily="18" charset="0"/>
              </a:rPr>
              <a:t>水</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3.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土中有水</a:t>
            </a:r>
          </a:p>
        </p:txBody>
      </p:sp>
      <p:sp>
        <p:nvSpPr>
          <p:cNvPr id="296" name="Rectangle 3"/>
          <p:cNvSpPr txBox="1">
            <a:spLocks noChangeArrowheads="1"/>
          </p:cNvSpPr>
          <p:nvPr/>
        </p:nvSpPr>
        <p:spPr bwMode="auto">
          <a:xfrm>
            <a:off x="413482" y="612498"/>
            <a:ext cx="2767868"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静水情况</a:t>
            </a:r>
          </a:p>
        </p:txBody>
      </p:sp>
      <p:sp>
        <p:nvSpPr>
          <p:cNvPr id="309" name="矩形 308"/>
          <p:cNvSpPr/>
          <p:nvPr/>
        </p:nvSpPr>
        <p:spPr>
          <a:xfrm>
            <a:off x="2314575" y="676719"/>
            <a:ext cx="1828800" cy="476669"/>
          </a:xfrm>
          <a:prstGeom prst="rect">
            <a:avLst/>
          </a:prstGeom>
        </p:spPr>
        <p:txBody>
          <a:bodyPr wrap="square">
            <a:spAutoFit/>
          </a:bodyPr>
          <a:lstStyle/>
          <a:p>
            <a:pPr>
              <a:lnSpc>
                <a:spcPct val="120000"/>
              </a:lnSpc>
            </a:pPr>
            <a:r>
              <a:rPr lang="zh-CN" altLang="en-US" sz="24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砂性土为例</a:t>
            </a:r>
            <a:endParaRPr lang="zh-CN" altLang="en-US" sz="24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326" name="Text Box 48"/>
          <p:cNvSpPr txBox="1">
            <a:spLocks noChangeArrowheads="1"/>
          </p:cNvSpPr>
          <p:nvPr/>
        </p:nvSpPr>
        <p:spPr bwMode="auto">
          <a:xfrm>
            <a:off x="1647824" y="4052288"/>
            <a:ext cx="6438901"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271463" indent="-271463" eaLnBrk="1" hangingPunct="1">
              <a:spcBef>
                <a:spcPts val="0"/>
              </a:spcBef>
              <a:buClr>
                <a:srgbClr val="A50021"/>
              </a:buClr>
              <a:buSzPct val="130000"/>
              <a:buFont typeface="Arial" panose="020B0604020202020204" pitchFamily="34" charset="0"/>
              <a:buChar char="•"/>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水下部分用浮重</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度</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a:spcBef>
                <a:spcPts val="0"/>
              </a:spcBef>
              <a:buClr>
                <a:srgbClr val="A50021"/>
              </a:buClr>
              <a:buSzPct val="130000"/>
              <a:buFont typeface="Arial" panose="020B0604020202020204" pitchFamily="34" charset="0"/>
              <a:buChar char="•"/>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如果</a:t>
            </a:r>
            <a:r>
              <a:rPr kumimoji="1"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地下水对填土强度指标</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有</a:t>
            </a:r>
            <a:r>
              <a:rPr kumimoji="1"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影响</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变化</a:t>
            </a:r>
            <a:endPar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271463" indent="-271463">
              <a:spcBef>
                <a:spcPts val="0"/>
              </a:spcBef>
              <a:buClr>
                <a:srgbClr val="A50021"/>
              </a:buClr>
              <a:buSzPct val="130000"/>
              <a:buFont typeface="Arial" panose="020B0604020202020204" pitchFamily="34" charset="0"/>
              <a:buChar char="•"/>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水</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压力</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r>
              <a:rPr lang="en-US" altLang="zh-CN" sz="20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w</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垂直</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墙背</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271463" indent="-271463" eaLnBrk="1" hangingPunct="1">
              <a:spcBef>
                <a:spcPts val="0"/>
              </a:spcBef>
              <a:buClr>
                <a:srgbClr val="A50021"/>
              </a:buClr>
              <a:buSzPct val="130000"/>
              <a:buFont typeface="Arial" panose="020B0604020202020204" pitchFamily="34" charset="0"/>
              <a:buChar char="•"/>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总压力： </a:t>
            </a:r>
            <a:r>
              <a:rPr lang="en-US" altLang="zh-CN" sz="2000" b="1" i="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r>
              <a:rPr lang="en-US" altLang="zh-CN" sz="20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a:t>
            </a:r>
            <a:r>
              <a:rPr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E</a:t>
            </a:r>
            <a:r>
              <a:rPr lang="en-US" altLang="zh-CN" sz="20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w</a:t>
            </a:r>
            <a:endParaRPr lang="zh-CN" altLang="en-US"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任意多边形 3"/>
          <p:cNvSpPr/>
          <p:nvPr/>
        </p:nvSpPr>
        <p:spPr bwMode="auto">
          <a:xfrm>
            <a:off x="7231053" y="2257765"/>
            <a:ext cx="734885" cy="1156848"/>
          </a:xfrm>
          <a:custGeom>
            <a:avLst/>
            <a:gdLst>
              <a:gd name="connsiteX0" fmla="*/ 734885 w 734885"/>
              <a:gd name="connsiteY0" fmla="*/ 1295867 h 1295867"/>
              <a:gd name="connsiteX1" fmla="*/ 5609 w 734885"/>
              <a:gd name="connsiteY1" fmla="*/ 1295867 h 1295867"/>
              <a:gd name="connsiteX2" fmla="*/ 0 w 734885"/>
              <a:gd name="connsiteY2" fmla="*/ 0 h 1295867"/>
              <a:gd name="connsiteX3" fmla="*/ 734885 w 734885"/>
              <a:gd name="connsiteY3" fmla="*/ 1295867 h 1295867"/>
            </a:gdLst>
            <a:ahLst/>
            <a:cxnLst>
              <a:cxn ang="0">
                <a:pos x="connsiteX0" y="connsiteY0"/>
              </a:cxn>
              <a:cxn ang="0">
                <a:pos x="connsiteX1" y="connsiteY1"/>
              </a:cxn>
              <a:cxn ang="0">
                <a:pos x="connsiteX2" y="connsiteY2"/>
              </a:cxn>
              <a:cxn ang="0">
                <a:pos x="connsiteX3" y="connsiteY3"/>
              </a:cxn>
            </a:cxnLst>
            <a:rect l="l" t="t" r="r" b="b"/>
            <a:pathLst>
              <a:path w="734885" h="1295867">
                <a:moveTo>
                  <a:pt x="734885" y="1295867"/>
                </a:moveTo>
                <a:lnTo>
                  <a:pt x="5609" y="1295867"/>
                </a:lnTo>
                <a:cubicBezTo>
                  <a:pt x="3739" y="863911"/>
                  <a:pt x="1870" y="431956"/>
                  <a:pt x="0" y="0"/>
                </a:cubicBezTo>
                <a:lnTo>
                  <a:pt x="734885" y="1295867"/>
                </a:lnTo>
                <a:close/>
              </a:path>
            </a:pathLst>
          </a:custGeom>
          <a:solidFill>
            <a:srgbClr val="6699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29" name="直接连接符 228"/>
          <p:cNvCxnSpPr/>
          <p:nvPr/>
        </p:nvCxnSpPr>
        <p:spPr bwMode="auto">
          <a:xfrm>
            <a:off x="966788" y="3397332"/>
            <a:ext cx="33528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229"/>
          <p:cNvCxnSpPr/>
          <p:nvPr/>
        </p:nvCxnSpPr>
        <p:spPr bwMode="auto">
          <a:xfrm>
            <a:off x="2252706" y="1532895"/>
            <a:ext cx="2066882"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连接符 230"/>
          <p:cNvCxnSpPr/>
          <p:nvPr/>
        </p:nvCxnSpPr>
        <p:spPr bwMode="auto">
          <a:xfrm>
            <a:off x="2279745" y="2304214"/>
            <a:ext cx="203984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3" name="任意多边形 232"/>
          <p:cNvSpPr/>
          <p:nvPr/>
        </p:nvSpPr>
        <p:spPr bwMode="auto">
          <a:xfrm>
            <a:off x="5176299" y="1508481"/>
            <a:ext cx="954157" cy="1888147"/>
          </a:xfrm>
          <a:custGeom>
            <a:avLst/>
            <a:gdLst>
              <a:gd name="connsiteX0" fmla="*/ 0 w 954157"/>
              <a:gd name="connsiteY0" fmla="*/ 0 h 2115047"/>
              <a:gd name="connsiteX1" fmla="*/ 0 w 954157"/>
              <a:gd name="connsiteY1" fmla="*/ 2115047 h 2115047"/>
              <a:gd name="connsiteX2" fmla="*/ 954157 w 954157"/>
              <a:gd name="connsiteY2" fmla="*/ 2115047 h 2115047"/>
              <a:gd name="connsiteX3" fmla="*/ 652007 w 954157"/>
              <a:gd name="connsiteY3" fmla="*/ 1200647 h 2115047"/>
              <a:gd name="connsiteX4" fmla="*/ 0 w 954157"/>
              <a:gd name="connsiteY4" fmla="*/ 0 h 2115047"/>
              <a:gd name="connsiteX0" fmla="*/ 0 w 954157"/>
              <a:gd name="connsiteY0" fmla="*/ 0 h 2115047"/>
              <a:gd name="connsiteX1" fmla="*/ 0 w 954157"/>
              <a:gd name="connsiteY1" fmla="*/ 2115047 h 2115047"/>
              <a:gd name="connsiteX2" fmla="*/ 954157 w 954157"/>
              <a:gd name="connsiteY2" fmla="*/ 2115047 h 2115047"/>
              <a:gd name="connsiteX3" fmla="*/ 585639 w 954157"/>
              <a:gd name="connsiteY3" fmla="*/ 824564 h 2115047"/>
              <a:gd name="connsiteX4" fmla="*/ 0 w 954157"/>
              <a:gd name="connsiteY4" fmla="*/ 0 h 2115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157" h="2115047">
                <a:moveTo>
                  <a:pt x="0" y="0"/>
                </a:moveTo>
                <a:lnTo>
                  <a:pt x="0" y="2115047"/>
                </a:lnTo>
                <a:lnTo>
                  <a:pt x="954157" y="2115047"/>
                </a:lnTo>
                <a:lnTo>
                  <a:pt x="585639" y="824564"/>
                </a:lnTo>
                <a:lnTo>
                  <a:pt x="0" y="0"/>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34" name="任意多边形 233"/>
          <p:cNvSpPr/>
          <p:nvPr/>
        </p:nvSpPr>
        <p:spPr bwMode="auto">
          <a:xfrm>
            <a:off x="1180507" y="1531013"/>
            <a:ext cx="1118769" cy="1864002"/>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35" name="Group 12"/>
          <p:cNvGrpSpPr>
            <a:grpSpLocks/>
          </p:cNvGrpSpPr>
          <p:nvPr/>
        </p:nvGrpSpPr>
        <p:grpSpPr bwMode="auto">
          <a:xfrm>
            <a:off x="2666423" y="1529926"/>
            <a:ext cx="454614" cy="73451"/>
            <a:chOff x="2274" y="1204"/>
            <a:chExt cx="270" cy="44"/>
          </a:xfrm>
        </p:grpSpPr>
        <p:sp>
          <p:nvSpPr>
            <p:cNvPr id="236"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7"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8"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9"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3" name="Group 12"/>
          <p:cNvGrpSpPr>
            <a:grpSpLocks/>
          </p:cNvGrpSpPr>
          <p:nvPr/>
        </p:nvGrpSpPr>
        <p:grpSpPr bwMode="auto">
          <a:xfrm>
            <a:off x="3367455" y="1526529"/>
            <a:ext cx="454614" cy="73451"/>
            <a:chOff x="2274" y="1204"/>
            <a:chExt cx="270" cy="44"/>
          </a:xfrm>
        </p:grpSpPr>
        <p:sp>
          <p:nvSpPr>
            <p:cNvPr id="2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1" name="Line 89"/>
          <p:cNvSpPr>
            <a:spLocks noChangeAspect="1" noChangeShapeType="1"/>
          </p:cNvSpPr>
          <p:nvPr/>
        </p:nvSpPr>
        <p:spPr bwMode="auto">
          <a:xfrm rot="5400000">
            <a:off x="3849798" y="1918053"/>
            <a:ext cx="742323"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2" name="Text Box 45"/>
          <p:cNvSpPr txBox="1">
            <a:spLocks noChangeArrowheads="1"/>
          </p:cNvSpPr>
          <p:nvPr/>
        </p:nvSpPr>
        <p:spPr bwMode="auto">
          <a:xfrm>
            <a:off x="2546430" y="1805926"/>
            <a:ext cx="853995" cy="40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200" b="1" i="1" dirty="0" smtClean="0">
                <a:solidFill>
                  <a:srgbClr val="000066"/>
                </a:solidFill>
                <a:latin typeface="Symbol" panose="05050102010706020507" pitchFamily="18" charset="2"/>
              </a:rPr>
              <a:t>g</a:t>
            </a:r>
            <a:r>
              <a:rPr kumimoji="1" lang="en-US" altLang="zh-CN" sz="2200" b="1" i="1" dirty="0" smtClean="0">
                <a:solidFill>
                  <a:srgbClr val="000066"/>
                </a:solidFill>
                <a:latin typeface="Times New Roman" panose="02020603050405020304" pitchFamily="18" charset="0"/>
              </a:rPr>
              <a:t>   </a:t>
            </a:r>
            <a:r>
              <a:rPr kumimoji="1" lang="en-US" altLang="zh-CN" sz="2200" b="1" i="1" dirty="0" smtClean="0">
                <a:solidFill>
                  <a:srgbClr val="000066"/>
                </a:solidFill>
                <a:latin typeface="Times New Roman" panose="02020603050405020304" pitchFamily="18" charset="0"/>
                <a:sym typeface="Symbol" panose="05050102010706020507" pitchFamily="18" charset="2"/>
              </a:rPr>
              <a:t></a:t>
            </a:r>
            <a:endParaRPr kumimoji="1" lang="en-US" altLang="zh-CN" sz="2200" b="1" dirty="0">
              <a:solidFill>
                <a:srgbClr val="000066"/>
              </a:solidFill>
              <a:latin typeface="Times New Roman" panose="02020603050405020304" pitchFamily="18" charset="0"/>
            </a:endParaRPr>
          </a:p>
        </p:txBody>
      </p:sp>
      <p:sp>
        <p:nvSpPr>
          <p:cNvPr id="253" name="Text Box 46"/>
          <p:cNvSpPr txBox="1">
            <a:spLocks noChangeArrowheads="1"/>
          </p:cNvSpPr>
          <p:nvPr/>
        </p:nvSpPr>
        <p:spPr bwMode="auto">
          <a:xfrm>
            <a:off x="2514475" y="2610985"/>
            <a:ext cx="1001235" cy="48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50000"/>
              </a:spcBef>
            </a:pPr>
            <a:r>
              <a:rPr kumimoji="1" lang="en-US" altLang="zh-CN" sz="2200" b="1" i="1" dirty="0" smtClean="0">
                <a:solidFill>
                  <a:srgbClr val="000066"/>
                </a:solidFill>
                <a:latin typeface="Symbol" panose="05050102010706020507" pitchFamily="18" charset="2"/>
              </a:rPr>
              <a:t>g </a:t>
            </a:r>
            <a:r>
              <a:rPr kumimoji="1" lang="en-US" altLang="zh-CN" sz="2200" b="1" i="1" dirty="0" smtClean="0">
                <a:solidFill>
                  <a:srgbClr val="000066"/>
                </a:solidFill>
                <a:latin typeface="Symbol" panose="05050102010706020507" pitchFamily="18" charset="2"/>
                <a:sym typeface="Symbol" panose="05050102010706020507" pitchFamily="18" charset="2"/>
              </a:rPr>
              <a:t></a:t>
            </a:r>
            <a:r>
              <a:rPr kumimoji="1" lang="en-US" altLang="zh-CN" sz="2200" b="1" i="1" dirty="0" smtClean="0">
                <a:solidFill>
                  <a:srgbClr val="000066"/>
                </a:solidFill>
                <a:latin typeface="Times New Roman" panose="02020603050405020304" pitchFamily="18" charset="0"/>
              </a:rPr>
              <a:t>   </a:t>
            </a:r>
            <a:r>
              <a:rPr kumimoji="1" lang="en-US" altLang="zh-CN" sz="2200" b="1" i="1" dirty="0" smtClean="0">
                <a:solidFill>
                  <a:srgbClr val="000066"/>
                </a:solidFill>
                <a:latin typeface="Times New Roman" panose="02020603050405020304" pitchFamily="18" charset="0"/>
                <a:sym typeface="Symbol" panose="05050102010706020507" pitchFamily="18" charset="2"/>
              </a:rPr>
              <a:t></a:t>
            </a:r>
            <a:endParaRPr kumimoji="1" lang="en-US" altLang="zh-CN" sz="2200" b="1" dirty="0">
              <a:solidFill>
                <a:srgbClr val="000066"/>
              </a:solidFill>
              <a:latin typeface="Times New Roman" panose="02020603050405020304" pitchFamily="18" charset="0"/>
            </a:endParaRPr>
          </a:p>
        </p:txBody>
      </p:sp>
      <p:sp>
        <p:nvSpPr>
          <p:cNvPr id="254" name="Line 89"/>
          <p:cNvSpPr>
            <a:spLocks noChangeAspect="1" noChangeShapeType="1"/>
          </p:cNvSpPr>
          <p:nvPr/>
        </p:nvSpPr>
        <p:spPr bwMode="auto">
          <a:xfrm rot="5400000">
            <a:off x="3675212" y="2839874"/>
            <a:ext cx="1101325"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5" name="Text Box 61"/>
          <p:cNvSpPr txBox="1">
            <a:spLocks noChangeArrowheads="1"/>
          </p:cNvSpPr>
          <p:nvPr/>
        </p:nvSpPr>
        <p:spPr bwMode="auto">
          <a:xfrm>
            <a:off x="4293807" y="1753262"/>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256" name="Text Box 62"/>
          <p:cNvSpPr txBox="1">
            <a:spLocks noChangeArrowheads="1"/>
          </p:cNvSpPr>
          <p:nvPr/>
        </p:nvSpPr>
        <p:spPr bwMode="auto">
          <a:xfrm>
            <a:off x="4274757" y="2514710"/>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2</a:t>
            </a:r>
            <a:endParaRPr kumimoji="1" lang="en-US" altLang="zh-CN" sz="2400" b="1" dirty="0">
              <a:solidFill>
                <a:srgbClr val="000066"/>
              </a:solidFill>
              <a:latin typeface="Times New Roman" panose="02020603050405020304" pitchFamily="18" charset="0"/>
            </a:endParaRPr>
          </a:p>
        </p:txBody>
      </p:sp>
      <p:cxnSp>
        <p:nvCxnSpPr>
          <p:cNvPr id="257" name="直接连接符 256"/>
          <p:cNvCxnSpPr/>
          <p:nvPr/>
        </p:nvCxnSpPr>
        <p:spPr bwMode="auto">
          <a:xfrm>
            <a:off x="5175969" y="1516570"/>
            <a:ext cx="0" cy="188910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直接连接符 257"/>
          <p:cNvCxnSpPr/>
          <p:nvPr/>
        </p:nvCxnSpPr>
        <p:spPr bwMode="auto">
          <a:xfrm>
            <a:off x="5178670" y="3402159"/>
            <a:ext cx="292417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连接符 258"/>
          <p:cNvCxnSpPr/>
          <p:nvPr/>
        </p:nvCxnSpPr>
        <p:spPr bwMode="auto">
          <a:xfrm>
            <a:off x="5171250" y="1517526"/>
            <a:ext cx="2982869"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直接连接符 259"/>
          <p:cNvCxnSpPr/>
          <p:nvPr/>
        </p:nvCxnSpPr>
        <p:spPr bwMode="auto">
          <a:xfrm>
            <a:off x="5170993" y="2259223"/>
            <a:ext cx="2955830"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 name="任意多边形 260"/>
          <p:cNvSpPr/>
          <p:nvPr/>
        </p:nvSpPr>
        <p:spPr bwMode="auto">
          <a:xfrm>
            <a:off x="5185494" y="1510478"/>
            <a:ext cx="923925" cy="1887703"/>
          </a:xfrm>
          <a:custGeom>
            <a:avLst/>
            <a:gdLst>
              <a:gd name="connsiteX0" fmla="*/ 0 w 923925"/>
              <a:gd name="connsiteY0" fmla="*/ 0 h 2114550"/>
              <a:gd name="connsiteX1" fmla="*/ 638175 w 923925"/>
              <a:gd name="connsiteY1" fmla="*/ 1219200 h 2114550"/>
              <a:gd name="connsiteX2" fmla="*/ 923925 w 923925"/>
              <a:gd name="connsiteY2" fmla="*/ 2114550 h 2114550"/>
              <a:gd name="connsiteX0" fmla="*/ 0 w 923925"/>
              <a:gd name="connsiteY0" fmla="*/ 0 h 2114550"/>
              <a:gd name="connsiteX1" fmla="*/ 582757 w 923925"/>
              <a:gd name="connsiteY1" fmla="*/ 837430 h 2114550"/>
              <a:gd name="connsiteX2" fmla="*/ 923925 w 923925"/>
              <a:gd name="connsiteY2" fmla="*/ 2114550 h 2114550"/>
            </a:gdLst>
            <a:ahLst/>
            <a:cxnLst>
              <a:cxn ang="0">
                <a:pos x="connsiteX0" y="connsiteY0"/>
              </a:cxn>
              <a:cxn ang="0">
                <a:pos x="connsiteX1" y="connsiteY1"/>
              </a:cxn>
              <a:cxn ang="0">
                <a:pos x="connsiteX2" y="connsiteY2"/>
              </a:cxn>
            </a:cxnLst>
            <a:rect l="l" t="t" r="r" b="b"/>
            <a:pathLst>
              <a:path w="923925" h="2114550">
                <a:moveTo>
                  <a:pt x="0" y="0"/>
                </a:moveTo>
                <a:lnTo>
                  <a:pt x="582757" y="837430"/>
                </a:lnTo>
                <a:lnTo>
                  <a:pt x="923925" y="2114550"/>
                </a:lnTo>
              </a:path>
            </a:pathLst>
          </a:cu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99" name="直接连接符 298"/>
          <p:cNvCxnSpPr/>
          <p:nvPr/>
        </p:nvCxnSpPr>
        <p:spPr bwMode="auto">
          <a:xfrm>
            <a:off x="7231781" y="1518600"/>
            <a:ext cx="0" cy="188910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10" name="Group 79"/>
          <p:cNvGrpSpPr>
            <a:grpSpLocks/>
          </p:cNvGrpSpPr>
          <p:nvPr/>
        </p:nvGrpSpPr>
        <p:grpSpPr bwMode="auto">
          <a:xfrm>
            <a:off x="3302001" y="2187174"/>
            <a:ext cx="223838" cy="236672"/>
            <a:chOff x="158" y="3099"/>
            <a:chExt cx="141" cy="167"/>
          </a:xfrm>
        </p:grpSpPr>
        <p:sp>
          <p:nvSpPr>
            <p:cNvPr id="311" name="Freeform 80"/>
            <p:cNvSpPr>
              <a:spLocks noChangeAspect="1"/>
            </p:cNvSpPr>
            <p:nvPr/>
          </p:nvSpPr>
          <p:spPr bwMode="auto">
            <a:xfrm>
              <a:off x="158" y="3205"/>
              <a:ext cx="141" cy="1"/>
            </a:xfrm>
            <a:custGeom>
              <a:avLst/>
              <a:gdLst>
                <a:gd name="T0" fmla="*/ 0 w 141"/>
                <a:gd name="T1" fmla="*/ 0 h 1"/>
                <a:gd name="T2" fmla="*/ 141 w 141"/>
                <a:gd name="T3" fmla="*/ 1 h 1"/>
              </a:gdLst>
              <a:ahLst/>
              <a:cxnLst>
                <a:cxn ang="0">
                  <a:pos x="T0" y="T1"/>
                </a:cxn>
                <a:cxn ang="0">
                  <a:pos x="T2" y="T3"/>
                </a:cxn>
              </a:cxnLst>
              <a:rect l="0" t="0" r="r" b="b"/>
              <a:pathLst>
                <a:path w="141" h="1">
                  <a:moveTo>
                    <a:pt x="0" y="0"/>
                  </a:moveTo>
                  <a:lnTo>
                    <a:pt x="141"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2" name="Freeform 81"/>
            <p:cNvSpPr>
              <a:spLocks noChangeAspect="1"/>
            </p:cNvSpPr>
            <p:nvPr/>
          </p:nvSpPr>
          <p:spPr bwMode="auto">
            <a:xfrm>
              <a:off x="186" y="3238"/>
              <a:ext cx="89" cy="0"/>
            </a:xfrm>
            <a:custGeom>
              <a:avLst/>
              <a:gdLst>
                <a:gd name="T0" fmla="*/ 0 w 198"/>
                <a:gd name="T1" fmla="*/ 0 h 1"/>
                <a:gd name="T2" fmla="*/ 198 w 198"/>
                <a:gd name="T3" fmla="*/ 1 h 1"/>
              </a:gdLst>
              <a:ahLst/>
              <a:cxnLst>
                <a:cxn ang="0">
                  <a:pos x="T0" y="T1"/>
                </a:cxn>
                <a:cxn ang="0">
                  <a:pos x="T2" y="T3"/>
                </a:cxn>
              </a:cxnLst>
              <a:rect l="0" t="0" r="r" b="b"/>
              <a:pathLst>
                <a:path w="198" h="1">
                  <a:moveTo>
                    <a:pt x="0" y="0"/>
                  </a:moveTo>
                  <a:lnTo>
                    <a:pt x="198"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3" name="AutoShape 82"/>
            <p:cNvSpPr>
              <a:spLocks noChangeAspect="1" noChangeArrowheads="1"/>
            </p:cNvSpPr>
            <p:nvPr/>
          </p:nvSpPr>
          <p:spPr bwMode="auto">
            <a:xfrm flipV="1">
              <a:off x="183" y="3099"/>
              <a:ext cx="102" cy="75"/>
            </a:xfrm>
            <a:prstGeom prst="triangle">
              <a:avLst>
                <a:gd name="adj" fmla="val 50000"/>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4" name="Freeform 83"/>
            <p:cNvSpPr>
              <a:spLocks noChangeAspect="1"/>
            </p:cNvSpPr>
            <p:nvPr/>
          </p:nvSpPr>
          <p:spPr bwMode="auto">
            <a:xfrm>
              <a:off x="211" y="3266"/>
              <a:ext cx="42" cy="0"/>
            </a:xfrm>
            <a:custGeom>
              <a:avLst/>
              <a:gdLst>
                <a:gd name="T0" fmla="*/ 0 w 94"/>
                <a:gd name="T1" fmla="*/ 0 h 1"/>
                <a:gd name="T2" fmla="*/ 94 w 94"/>
                <a:gd name="T3" fmla="*/ 1 h 1"/>
              </a:gdLst>
              <a:ahLst/>
              <a:cxnLst>
                <a:cxn ang="0">
                  <a:pos x="T0" y="T1"/>
                </a:cxn>
                <a:cxn ang="0">
                  <a:pos x="T2" y="T3"/>
                </a:cxn>
              </a:cxnLst>
              <a:rect l="0" t="0" r="r" b="b"/>
              <a:pathLst>
                <a:path w="94" h="1">
                  <a:moveTo>
                    <a:pt x="0" y="0"/>
                  </a:moveTo>
                  <a:lnTo>
                    <a:pt x="94"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17" name="Text Box 11"/>
          <p:cNvSpPr txBox="1">
            <a:spLocks noChangeArrowheads="1"/>
          </p:cNvSpPr>
          <p:nvPr/>
        </p:nvSpPr>
        <p:spPr bwMode="auto">
          <a:xfrm>
            <a:off x="7777345" y="3427417"/>
            <a:ext cx="88421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w</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i="1" baseline="-25000" dirty="0" smtClean="0">
                <a:solidFill>
                  <a:srgbClr val="000066"/>
                </a:solidFill>
                <a:latin typeface="Times New Roman" panose="02020603050405020304" pitchFamily="18" charset="0"/>
                <a:cs typeface="Times New Roman" panose="02020603050405020304" pitchFamily="18" charset="0"/>
              </a:rPr>
              <a:t>2</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321" name="Text Box 9"/>
          <p:cNvSpPr txBox="1">
            <a:spLocks noChangeArrowheads="1"/>
          </p:cNvSpPr>
          <p:nvPr/>
        </p:nvSpPr>
        <p:spPr bwMode="auto">
          <a:xfrm>
            <a:off x="5578690" y="3449745"/>
            <a:ext cx="2106246"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2</a:t>
            </a:r>
            <a:r>
              <a:rPr lang="en-US" altLang="zh-CN" sz="2000" b="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323" name="Text Box 9"/>
          <p:cNvSpPr txBox="1">
            <a:spLocks noChangeArrowheads="1"/>
          </p:cNvSpPr>
          <p:nvPr/>
        </p:nvSpPr>
        <p:spPr bwMode="auto">
          <a:xfrm>
            <a:off x="5746992" y="1783173"/>
            <a:ext cx="1091130" cy="37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a</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cxnSp>
        <p:nvCxnSpPr>
          <p:cNvPr id="3" name="直接连接符 2"/>
          <p:cNvCxnSpPr/>
          <p:nvPr/>
        </p:nvCxnSpPr>
        <p:spPr bwMode="auto">
          <a:xfrm>
            <a:off x="7231053" y="2252757"/>
            <a:ext cx="734886" cy="1151841"/>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4" name="Text Box 65"/>
          <p:cNvSpPr txBox="1">
            <a:spLocks noChangeArrowheads="1"/>
          </p:cNvSpPr>
          <p:nvPr/>
        </p:nvSpPr>
        <p:spPr bwMode="auto">
          <a:xfrm>
            <a:off x="4924425" y="1047749"/>
            <a:ext cx="1476481" cy="46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400" b="1" dirty="0">
                <a:solidFill>
                  <a:srgbClr val="A50021"/>
                </a:solidFill>
                <a:latin typeface="幼圆" panose="02010509060101010101" pitchFamily="49" charset="-122"/>
                <a:ea typeface="幼圆" panose="02010509060101010101" pitchFamily="49" charset="-122"/>
              </a:rPr>
              <a:t>土压力 </a:t>
            </a:r>
          </a:p>
        </p:txBody>
      </p:sp>
      <p:sp>
        <p:nvSpPr>
          <p:cNvPr id="325" name="Text Box 72"/>
          <p:cNvSpPr txBox="1">
            <a:spLocks noChangeArrowheads="1"/>
          </p:cNvSpPr>
          <p:nvPr/>
        </p:nvSpPr>
        <p:spPr bwMode="auto">
          <a:xfrm>
            <a:off x="6829426" y="1047749"/>
            <a:ext cx="1428750" cy="46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400" b="1">
                <a:solidFill>
                  <a:srgbClr val="A50021"/>
                </a:solidFill>
                <a:latin typeface="幼圆" panose="02010509060101010101" pitchFamily="49" charset="-122"/>
                <a:ea typeface="幼圆" panose="02010509060101010101" pitchFamily="49" charset="-122"/>
              </a:rPr>
              <a:t>水压力</a:t>
            </a:r>
          </a:p>
        </p:txBody>
      </p:sp>
      <p:sp>
        <p:nvSpPr>
          <p:cNvPr id="327" name="Text Box 827"/>
          <p:cNvSpPr txBox="1">
            <a:spLocks noChangeArrowheads="1"/>
          </p:cNvSpPr>
          <p:nvPr/>
        </p:nvSpPr>
        <p:spPr bwMode="auto">
          <a:xfrm flipH="1">
            <a:off x="5872005" y="2313640"/>
            <a:ext cx="765917"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328" name="直接箭头连接符 327"/>
          <p:cNvCxnSpPr/>
          <p:nvPr/>
        </p:nvCxnSpPr>
        <p:spPr bwMode="auto">
          <a:xfrm flipH="1">
            <a:off x="5495175" y="2799320"/>
            <a:ext cx="838950"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9" name="Text Box 827"/>
          <p:cNvSpPr txBox="1">
            <a:spLocks noChangeArrowheads="1"/>
          </p:cNvSpPr>
          <p:nvPr/>
        </p:nvSpPr>
        <p:spPr bwMode="auto">
          <a:xfrm flipH="1">
            <a:off x="7757955" y="2585741"/>
            <a:ext cx="765917"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000066"/>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000066"/>
                </a:solidFill>
                <a:latin typeface="Times New Roman" panose="02020603050405020304" pitchFamily="18" charset="0"/>
                <a:cs typeface="Times New Roman" panose="02020603050405020304" pitchFamily="18" charset="0"/>
              </a:rPr>
              <a:t>w</a:t>
            </a:r>
            <a:endParaRPr lang="en-US" altLang="zh-CN" sz="2400" b="1" baseline="-25000" dirty="0">
              <a:solidFill>
                <a:srgbClr val="000066"/>
              </a:solidFill>
              <a:latin typeface="Times New Roman" panose="02020603050405020304" pitchFamily="18" charset="0"/>
              <a:cs typeface="Times New Roman" panose="02020603050405020304" pitchFamily="18" charset="0"/>
            </a:endParaRPr>
          </a:p>
        </p:txBody>
      </p:sp>
      <p:cxnSp>
        <p:nvCxnSpPr>
          <p:cNvPr id="330" name="直接箭头连接符 329"/>
          <p:cNvCxnSpPr/>
          <p:nvPr/>
        </p:nvCxnSpPr>
        <p:spPr bwMode="auto">
          <a:xfrm flipH="1">
            <a:off x="7381125" y="3071421"/>
            <a:ext cx="838950" cy="0"/>
          </a:xfrm>
          <a:prstGeom prst="straightConnector1">
            <a:avLst/>
          </a:prstGeom>
          <a:noFill/>
          <a:ln w="5715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1" name="Text Box 73"/>
          <p:cNvSpPr txBox="1">
            <a:spLocks noChangeArrowheads="1"/>
          </p:cNvSpPr>
          <p:nvPr/>
        </p:nvSpPr>
        <p:spPr bwMode="auto">
          <a:xfrm>
            <a:off x="2105025" y="3536950"/>
            <a:ext cx="1981200" cy="30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r>
              <a:rPr lang="zh-CN" altLang="en-US" sz="2200" b="1" dirty="0" smtClean="0">
                <a:solidFill>
                  <a:srgbClr val="993300"/>
                </a:solidFill>
                <a:latin typeface="幼圆" panose="02010509060101010101" pitchFamily="49" charset="-122"/>
                <a:ea typeface="幼圆" panose="02010509060101010101" pitchFamily="49" charset="-122"/>
              </a:rPr>
              <a:t>不透水地基</a:t>
            </a:r>
            <a:endParaRPr lang="zh-CN" altLang="en-US" sz="2200" b="1" dirty="0">
              <a:solidFill>
                <a:srgbClr val="993300"/>
              </a:solidFill>
              <a:latin typeface="幼圆" panose="02010509060101010101" pitchFamily="49" charset="-122"/>
              <a:ea typeface="幼圆" panose="02010509060101010101" pitchFamily="49" charset="-122"/>
            </a:endParaRPr>
          </a:p>
        </p:txBody>
      </p:sp>
      <p:sp>
        <p:nvSpPr>
          <p:cNvPr id="8" name="矩形 7"/>
          <p:cNvSpPr/>
          <p:nvPr/>
        </p:nvSpPr>
        <p:spPr bwMode="auto">
          <a:xfrm>
            <a:off x="990600" y="3409950"/>
            <a:ext cx="3305175" cy="108000"/>
          </a:xfrm>
          <a:prstGeom prst="rect">
            <a:avLst/>
          </a:prstGeom>
          <a:pattFill prst="wdDnDiag">
            <a:fgClr>
              <a:srgbClr val="996600"/>
            </a:fgClr>
            <a:bgClr>
              <a:schemeClr val="bg1"/>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34038244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26">
                                            <p:txEl>
                                              <p:pRg st="0" end="0"/>
                                            </p:txEl>
                                          </p:spTgt>
                                        </p:tgtEl>
                                        <p:attrNameLst>
                                          <p:attrName>style.visibility</p:attrName>
                                        </p:attrNameLst>
                                      </p:cBhvr>
                                      <p:to>
                                        <p:strVal val="visible"/>
                                      </p:to>
                                    </p:set>
                                    <p:animEffect transition="in" filter="fade">
                                      <p:cBhvr>
                                        <p:cTn id="7" dur="1000"/>
                                        <p:tgtEl>
                                          <p:spTgt spid="326">
                                            <p:txEl>
                                              <p:pRg st="0" end="0"/>
                                            </p:txEl>
                                          </p:spTgt>
                                        </p:tgtEl>
                                      </p:cBhvr>
                                    </p:animEffect>
                                    <p:anim calcmode="lin" valueType="num">
                                      <p:cBhvr>
                                        <p:cTn id="8" dur="1000" fill="hold"/>
                                        <p:tgtEl>
                                          <p:spTgt spid="3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26">
                                            <p:txEl>
                                              <p:pRg st="1" end="1"/>
                                            </p:txEl>
                                          </p:spTgt>
                                        </p:tgtEl>
                                        <p:attrNameLst>
                                          <p:attrName>style.visibility</p:attrName>
                                        </p:attrNameLst>
                                      </p:cBhvr>
                                      <p:to>
                                        <p:strVal val="visible"/>
                                      </p:to>
                                    </p:set>
                                    <p:animEffect transition="in" filter="fade">
                                      <p:cBhvr>
                                        <p:cTn id="13" dur="1000"/>
                                        <p:tgtEl>
                                          <p:spTgt spid="326">
                                            <p:txEl>
                                              <p:pRg st="1" end="1"/>
                                            </p:txEl>
                                          </p:spTgt>
                                        </p:tgtEl>
                                      </p:cBhvr>
                                    </p:animEffect>
                                    <p:anim calcmode="lin" valueType="num">
                                      <p:cBhvr>
                                        <p:cTn id="14" dur="1000" fill="hold"/>
                                        <p:tgtEl>
                                          <p:spTgt spid="32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26">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26">
                                            <p:txEl>
                                              <p:pRg st="2" end="2"/>
                                            </p:txEl>
                                          </p:spTgt>
                                        </p:tgtEl>
                                        <p:attrNameLst>
                                          <p:attrName>style.visibility</p:attrName>
                                        </p:attrNameLst>
                                      </p:cBhvr>
                                      <p:to>
                                        <p:strVal val="visible"/>
                                      </p:to>
                                    </p:set>
                                    <p:animEffect transition="in" filter="fade">
                                      <p:cBhvr>
                                        <p:cTn id="19" dur="1000"/>
                                        <p:tgtEl>
                                          <p:spTgt spid="326">
                                            <p:txEl>
                                              <p:pRg st="2" end="2"/>
                                            </p:txEl>
                                          </p:spTgt>
                                        </p:tgtEl>
                                      </p:cBhvr>
                                    </p:animEffect>
                                    <p:anim calcmode="lin" valueType="num">
                                      <p:cBhvr>
                                        <p:cTn id="20" dur="1000" fill="hold"/>
                                        <p:tgtEl>
                                          <p:spTgt spid="32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26">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26">
                                            <p:txEl>
                                              <p:pRg st="3" end="3"/>
                                            </p:txEl>
                                          </p:spTgt>
                                        </p:tgtEl>
                                        <p:attrNameLst>
                                          <p:attrName>style.visibility</p:attrName>
                                        </p:attrNameLst>
                                      </p:cBhvr>
                                      <p:to>
                                        <p:strVal val="visible"/>
                                      </p:to>
                                    </p:set>
                                    <p:animEffect transition="in" filter="fade">
                                      <p:cBhvr>
                                        <p:cTn id="25" dur="1000"/>
                                        <p:tgtEl>
                                          <p:spTgt spid="326">
                                            <p:txEl>
                                              <p:pRg st="3" end="3"/>
                                            </p:txEl>
                                          </p:spTgt>
                                        </p:tgtEl>
                                      </p:cBhvr>
                                    </p:animEffect>
                                    <p:anim calcmode="lin" valueType="num">
                                      <p:cBhvr>
                                        <p:cTn id="26" dur="1000" fill="hold"/>
                                        <p:tgtEl>
                                          <p:spTgt spid="326">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2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 grpId="0" uiExpand="1"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bwMode="auto">
          <a:xfrm>
            <a:off x="198784" y="3368635"/>
            <a:ext cx="3657600" cy="252000"/>
          </a:xfrm>
          <a:prstGeom prst="rect">
            <a:avLst/>
          </a:prstGeom>
          <a:solidFill>
            <a:srgbClr val="6699FF"/>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1" name="组合 20"/>
          <p:cNvGrpSpPr/>
          <p:nvPr/>
        </p:nvGrpSpPr>
        <p:grpSpPr>
          <a:xfrm>
            <a:off x="7205886" y="929916"/>
            <a:ext cx="1901229" cy="2850714"/>
            <a:chOff x="7205886" y="929916"/>
            <a:chExt cx="1901229" cy="2850714"/>
          </a:xfrm>
        </p:grpSpPr>
        <p:sp>
          <p:nvSpPr>
            <p:cNvPr id="233" name="任意多边形 232"/>
            <p:cNvSpPr/>
            <p:nvPr/>
          </p:nvSpPr>
          <p:spPr bwMode="auto">
            <a:xfrm>
              <a:off x="7472596" y="1462861"/>
              <a:ext cx="1085211" cy="1906018"/>
            </a:xfrm>
            <a:custGeom>
              <a:avLst/>
              <a:gdLst>
                <a:gd name="connsiteX0" fmla="*/ 0 w 954157"/>
                <a:gd name="connsiteY0" fmla="*/ 0 h 2115047"/>
                <a:gd name="connsiteX1" fmla="*/ 0 w 954157"/>
                <a:gd name="connsiteY1" fmla="*/ 2115047 h 2115047"/>
                <a:gd name="connsiteX2" fmla="*/ 954157 w 954157"/>
                <a:gd name="connsiteY2" fmla="*/ 2115047 h 2115047"/>
                <a:gd name="connsiteX3" fmla="*/ 652007 w 954157"/>
                <a:gd name="connsiteY3" fmla="*/ 1200647 h 2115047"/>
                <a:gd name="connsiteX4" fmla="*/ 0 w 954157"/>
                <a:gd name="connsiteY4" fmla="*/ 0 h 2115047"/>
                <a:gd name="connsiteX0" fmla="*/ 0 w 954157"/>
                <a:gd name="connsiteY0" fmla="*/ 0 h 2115047"/>
                <a:gd name="connsiteX1" fmla="*/ 0 w 954157"/>
                <a:gd name="connsiteY1" fmla="*/ 2115047 h 2115047"/>
                <a:gd name="connsiteX2" fmla="*/ 954157 w 954157"/>
                <a:gd name="connsiteY2" fmla="*/ 2115047 h 2115047"/>
                <a:gd name="connsiteX3" fmla="*/ 585639 w 954157"/>
                <a:gd name="connsiteY3" fmla="*/ 824564 h 2115047"/>
                <a:gd name="connsiteX4" fmla="*/ 0 w 954157"/>
                <a:gd name="connsiteY4" fmla="*/ 0 h 2115047"/>
                <a:gd name="connsiteX0" fmla="*/ 0 w 954157"/>
                <a:gd name="connsiteY0" fmla="*/ 0 h 2115047"/>
                <a:gd name="connsiteX1" fmla="*/ 0 w 954157"/>
                <a:gd name="connsiteY1" fmla="*/ 2115047 h 2115047"/>
                <a:gd name="connsiteX2" fmla="*/ 954157 w 954157"/>
                <a:gd name="connsiteY2" fmla="*/ 2115047 h 2115047"/>
                <a:gd name="connsiteX3" fmla="*/ 585639 w 954157"/>
                <a:gd name="connsiteY3" fmla="*/ 824564 h 2115047"/>
                <a:gd name="connsiteX4" fmla="*/ 269984 w 954157"/>
                <a:gd name="connsiteY4" fmla="*/ 839919 h 2115047"/>
                <a:gd name="connsiteX5" fmla="*/ 0 w 954157"/>
                <a:gd name="connsiteY5" fmla="*/ 0 h 2115047"/>
                <a:gd name="connsiteX0" fmla="*/ 0 w 954157"/>
                <a:gd name="connsiteY0" fmla="*/ 0 h 2115047"/>
                <a:gd name="connsiteX1" fmla="*/ 0 w 954157"/>
                <a:gd name="connsiteY1" fmla="*/ 2115047 h 2115047"/>
                <a:gd name="connsiteX2" fmla="*/ 954157 w 954157"/>
                <a:gd name="connsiteY2" fmla="*/ 2115047 h 2115047"/>
                <a:gd name="connsiteX3" fmla="*/ 585639 w 954157"/>
                <a:gd name="connsiteY3" fmla="*/ 824564 h 2115047"/>
                <a:gd name="connsiteX4" fmla="*/ 269984 w 954157"/>
                <a:gd name="connsiteY4" fmla="*/ 839919 h 2115047"/>
                <a:gd name="connsiteX5" fmla="*/ 0 w 954157"/>
                <a:gd name="connsiteY5" fmla="*/ 0 h 2115047"/>
                <a:gd name="connsiteX0" fmla="*/ 0 w 954157"/>
                <a:gd name="connsiteY0" fmla="*/ 0 h 2115047"/>
                <a:gd name="connsiteX1" fmla="*/ 0 w 954157"/>
                <a:gd name="connsiteY1" fmla="*/ 2115047 h 2115047"/>
                <a:gd name="connsiteX2" fmla="*/ 954157 w 954157"/>
                <a:gd name="connsiteY2" fmla="*/ 2115047 h 2115047"/>
                <a:gd name="connsiteX3" fmla="*/ 451607 w 954157"/>
                <a:gd name="connsiteY3" fmla="*/ 861265 h 2115047"/>
                <a:gd name="connsiteX4" fmla="*/ 269984 w 954157"/>
                <a:gd name="connsiteY4" fmla="*/ 839919 h 2115047"/>
                <a:gd name="connsiteX5" fmla="*/ 0 w 954157"/>
                <a:gd name="connsiteY5" fmla="*/ 0 h 2115047"/>
                <a:gd name="connsiteX0" fmla="*/ 0 w 1085211"/>
                <a:gd name="connsiteY0" fmla="*/ 0 h 2135066"/>
                <a:gd name="connsiteX1" fmla="*/ 0 w 1085211"/>
                <a:gd name="connsiteY1" fmla="*/ 2115047 h 2135066"/>
                <a:gd name="connsiteX2" fmla="*/ 1085211 w 1085211"/>
                <a:gd name="connsiteY2" fmla="*/ 2135066 h 2135066"/>
                <a:gd name="connsiteX3" fmla="*/ 451607 w 1085211"/>
                <a:gd name="connsiteY3" fmla="*/ 861265 h 2135066"/>
                <a:gd name="connsiteX4" fmla="*/ 269984 w 1085211"/>
                <a:gd name="connsiteY4" fmla="*/ 839919 h 2135066"/>
                <a:gd name="connsiteX5" fmla="*/ 0 w 1085211"/>
                <a:gd name="connsiteY5" fmla="*/ 0 h 2135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5211" h="2135066">
                  <a:moveTo>
                    <a:pt x="0" y="0"/>
                  </a:moveTo>
                  <a:lnTo>
                    <a:pt x="0" y="2115047"/>
                  </a:lnTo>
                  <a:lnTo>
                    <a:pt x="1085211" y="2135066"/>
                  </a:lnTo>
                  <a:lnTo>
                    <a:pt x="451607" y="861265"/>
                  </a:lnTo>
                  <a:lnTo>
                    <a:pt x="269984" y="839919"/>
                  </a:lnTo>
                  <a:lnTo>
                    <a:pt x="0" y="0"/>
                  </a:lnTo>
                  <a:close/>
                </a:path>
              </a:pathLst>
            </a:custGeom>
            <a:solidFill>
              <a:srgbClr val="CCECFF"/>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257" name="直接连接符 256"/>
            <p:cNvCxnSpPr/>
            <p:nvPr/>
          </p:nvCxnSpPr>
          <p:spPr bwMode="auto">
            <a:xfrm>
              <a:off x="7472266" y="1470949"/>
              <a:ext cx="0" cy="188910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1" name="Text Box 9"/>
            <p:cNvSpPr txBox="1">
              <a:spLocks noChangeArrowheads="1"/>
            </p:cNvSpPr>
            <p:nvPr/>
          </p:nvSpPr>
          <p:spPr bwMode="auto">
            <a:xfrm>
              <a:off x="7259525" y="3363721"/>
              <a:ext cx="1847590"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000066"/>
                  </a:solidFill>
                  <a:latin typeface="Times New Roman" panose="02020603050405020304" pitchFamily="18" charset="0"/>
                  <a:cs typeface="Times New Roman" panose="02020603050405020304" pitchFamily="18" charset="0"/>
                  <a:sym typeface="Symbol"/>
                </a:rPr>
                <a:t>sat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2</a:t>
              </a:r>
              <a:r>
                <a:rPr lang="en-US" altLang="zh-CN" sz="2000" b="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dirty="0" err="1"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324" name="Text Box 65"/>
            <p:cNvSpPr txBox="1">
              <a:spLocks noChangeArrowheads="1"/>
            </p:cNvSpPr>
            <p:nvPr/>
          </p:nvSpPr>
          <p:spPr bwMode="auto">
            <a:xfrm>
              <a:off x="7205886" y="929916"/>
              <a:ext cx="1476481" cy="46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400" b="1" dirty="0">
                  <a:solidFill>
                    <a:srgbClr val="A50021"/>
                  </a:solidFill>
                  <a:latin typeface="幼圆" panose="02010509060101010101" pitchFamily="49" charset="-122"/>
                  <a:ea typeface="幼圆" panose="02010509060101010101" pitchFamily="49" charset="-122"/>
                </a:rPr>
                <a:t>土压力 </a:t>
              </a:r>
            </a:p>
          </p:txBody>
        </p:sp>
        <p:sp>
          <p:nvSpPr>
            <p:cNvPr id="327" name="Text Box 827"/>
            <p:cNvSpPr txBox="1">
              <a:spLocks noChangeArrowheads="1"/>
            </p:cNvSpPr>
            <p:nvPr/>
          </p:nvSpPr>
          <p:spPr bwMode="auto">
            <a:xfrm flipH="1">
              <a:off x="8492763" y="2556309"/>
              <a:ext cx="518659" cy="4830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i="1" dirty="0" err="1" smtClean="0">
                  <a:solidFill>
                    <a:srgbClr val="C00000"/>
                  </a:solidFill>
                  <a:latin typeface="Times New Roman" panose="02020603050405020304" pitchFamily="18" charset="0"/>
                  <a:cs typeface="Times New Roman" panose="02020603050405020304" pitchFamily="18" charset="0"/>
                </a:rPr>
                <a:t>E</a:t>
              </a:r>
              <a:r>
                <a:rPr lang="en-US" altLang="zh-CN" sz="2400" b="1" baseline="-25000" dirty="0" err="1" smtClean="0">
                  <a:solidFill>
                    <a:srgbClr val="C00000"/>
                  </a:solidFill>
                  <a:latin typeface="Times New Roman" panose="02020603050405020304" pitchFamily="18" charset="0"/>
                  <a:cs typeface="Times New Roman" panose="02020603050405020304" pitchFamily="18" charset="0"/>
                </a:rPr>
                <a:t>a</a:t>
              </a:r>
              <a:endParaRPr lang="en-US" altLang="zh-CN" sz="2400" b="1" baseline="-25000" dirty="0">
                <a:solidFill>
                  <a:srgbClr val="C00000"/>
                </a:solidFill>
                <a:latin typeface="Times New Roman" panose="02020603050405020304" pitchFamily="18" charset="0"/>
                <a:cs typeface="Times New Roman" panose="02020603050405020304" pitchFamily="18" charset="0"/>
              </a:endParaRPr>
            </a:p>
          </p:txBody>
        </p:sp>
        <p:cxnSp>
          <p:nvCxnSpPr>
            <p:cNvPr id="328" name="直接箭头连接符 327"/>
            <p:cNvCxnSpPr/>
            <p:nvPr/>
          </p:nvCxnSpPr>
          <p:spPr bwMode="auto">
            <a:xfrm flipH="1">
              <a:off x="7731658" y="2701019"/>
              <a:ext cx="838950" cy="0"/>
            </a:xfrm>
            <a:prstGeom prst="straightConnector1">
              <a:avLst/>
            </a:prstGeom>
            <a:noFill/>
            <a:ln w="5715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7483482" y="1492797"/>
              <a:ext cx="259098" cy="719877"/>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7927247" y="2221608"/>
              <a:ext cx="625486" cy="114374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Text Box 9"/>
            <p:cNvSpPr txBox="1">
              <a:spLocks noChangeArrowheads="1"/>
            </p:cNvSpPr>
            <p:nvPr/>
          </p:nvSpPr>
          <p:spPr bwMode="auto">
            <a:xfrm>
              <a:off x="7706184" y="1774645"/>
              <a:ext cx="938473"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a</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sp>
          <p:nvSpPr>
            <p:cNvPr id="107" name="Text Box 9"/>
            <p:cNvSpPr txBox="1">
              <a:spLocks noChangeArrowheads="1"/>
            </p:cNvSpPr>
            <p:nvPr/>
          </p:nvSpPr>
          <p:spPr bwMode="auto">
            <a:xfrm>
              <a:off x="8029406" y="2173230"/>
              <a:ext cx="93847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K</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a</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grpSp>
      <p:grpSp>
        <p:nvGrpSpPr>
          <p:cNvPr id="20" name="组合 19"/>
          <p:cNvGrpSpPr/>
          <p:nvPr/>
        </p:nvGrpSpPr>
        <p:grpSpPr>
          <a:xfrm>
            <a:off x="5364164" y="931466"/>
            <a:ext cx="2096694" cy="3299643"/>
            <a:chOff x="5364164" y="931466"/>
            <a:chExt cx="2096694" cy="3299643"/>
          </a:xfrm>
        </p:grpSpPr>
        <p:sp>
          <p:nvSpPr>
            <p:cNvPr id="14" name="任意多边形 13"/>
            <p:cNvSpPr/>
            <p:nvPr/>
          </p:nvSpPr>
          <p:spPr bwMode="auto">
            <a:xfrm>
              <a:off x="5942047" y="1468411"/>
              <a:ext cx="808074" cy="1892595"/>
            </a:xfrm>
            <a:custGeom>
              <a:avLst/>
              <a:gdLst>
                <a:gd name="connsiteX0" fmla="*/ 0 w 808074"/>
                <a:gd name="connsiteY0" fmla="*/ 0 h 1892595"/>
                <a:gd name="connsiteX1" fmla="*/ 0 w 808074"/>
                <a:gd name="connsiteY1" fmla="*/ 1892595 h 1892595"/>
                <a:gd name="connsiteX2" fmla="*/ 808074 w 808074"/>
                <a:gd name="connsiteY2" fmla="*/ 1892595 h 1892595"/>
                <a:gd name="connsiteX3" fmla="*/ 212651 w 808074"/>
                <a:gd name="connsiteY3" fmla="*/ 749595 h 1892595"/>
                <a:gd name="connsiteX4" fmla="*/ 0 w 808074"/>
                <a:gd name="connsiteY4" fmla="*/ 0 h 1892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074" h="1892595">
                  <a:moveTo>
                    <a:pt x="0" y="0"/>
                  </a:moveTo>
                  <a:lnTo>
                    <a:pt x="0" y="1892595"/>
                  </a:lnTo>
                  <a:lnTo>
                    <a:pt x="808074" y="1892595"/>
                  </a:lnTo>
                  <a:lnTo>
                    <a:pt x="212651" y="749595"/>
                  </a:lnTo>
                  <a:lnTo>
                    <a:pt x="0" y="0"/>
                  </a:lnTo>
                  <a:close/>
                </a:path>
              </a:pathLst>
            </a:custGeom>
            <a:solidFill>
              <a:srgbClr val="CCFFCC"/>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1" name="Text Box 95"/>
            <p:cNvSpPr txBox="1">
              <a:spLocks noChangeArrowheads="1"/>
            </p:cNvSpPr>
            <p:nvPr/>
          </p:nvSpPr>
          <p:spPr bwMode="auto">
            <a:xfrm>
              <a:off x="5364164" y="931466"/>
              <a:ext cx="2096694"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400" b="1" dirty="0">
                  <a:solidFill>
                    <a:srgbClr val="A50021"/>
                  </a:solidFill>
                  <a:latin typeface="幼圆" panose="02010509060101010101" pitchFamily="49" charset="-122"/>
                  <a:ea typeface="幼圆" panose="02010509060101010101" pitchFamily="49" charset="-122"/>
                </a:rPr>
                <a:t>竖</a:t>
              </a:r>
              <a:r>
                <a:rPr kumimoji="1" lang="zh-CN" altLang="en-US" sz="2400" b="1" dirty="0" smtClean="0">
                  <a:solidFill>
                    <a:srgbClr val="A50021"/>
                  </a:solidFill>
                  <a:latin typeface="幼圆" panose="02010509060101010101" pitchFamily="49" charset="-122"/>
                  <a:ea typeface="幼圆" panose="02010509060101010101" pitchFamily="49" charset="-122"/>
                </a:rPr>
                <a:t>向</a:t>
              </a:r>
              <a:r>
                <a:rPr kumimoji="1" lang="zh-CN" altLang="en-US" sz="2400" b="1" dirty="0">
                  <a:solidFill>
                    <a:srgbClr val="A50021"/>
                  </a:solidFill>
                  <a:latin typeface="幼圆" panose="02010509060101010101" pitchFamily="49" charset="-122"/>
                  <a:ea typeface="幼圆" panose="02010509060101010101" pitchFamily="49" charset="-122"/>
                </a:rPr>
                <a:t>有效</a:t>
              </a:r>
              <a:r>
                <a:rPr kumimoji="1" lang="zh-CN" altLang="en-US" sz="2400" b="1" dirty="0" smtClean="0">
                  <a:solidFill>
                    <a:srgbClr val="A50021"/>
                  </a:solidFill>
                  <a:latin typeface="幼圆" panose="02010509060101010101" pitchFamily="49" charset="-122"/>
                  <a:ea typeface="幼圆" panose="02010509060101010101" pitchFamily="49" charset="-122"/>
                </a:rPr>
                <a:t>应力 </a:t>
              </a:r>
              <a:endParaRPr kumimoji="1" lang="zh-CN" altLang="en-US" sz="2400" b="1" dirty="0">
                <a:solidFill>
                  <a:srgbClr val="A50021"/>
                </a:solidFill>
                <a:latin typeface="幼圆" panose="02010509060101010101" pitchFamily="49" charset="-122"/>
                <a:ea typeface="幼圆" panose="02010509060101010101" pitchFamily="49" charset="-122"/>
              </a:endParaRPr>
            </a:p>
          </p:txBody>
        </p:sp>
        <p:cxnSp>
          <p:nvCxnSpPr>
            <p:cNvPr id="12" name="直接连接符 11"/>
            <p:cNvCxnSpPr/>
            <p:nvPr/>
          </p:nvCxnSpPr>
          <p:spPr bwMode="auto">
            <a:xfrm>
              <a:off x="5945148" y="1487904"/>
              <a:ext cx="0" cy="1876425"/>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任意多边形 12"/>
            <p:cNvSpPr/>
            <p:nvPr/>
          </p:nvSpPr>
          <p:spPr bwMode="auto">
            <a:xfrm>
              <a:off x="5952679" y="1484360"/>
              <a:ext cx="786810" cy="1887279"/>
            </a:xfrm>
            <a:custGeom>
              <a:avLst/>
              <a:gdLst>
                <a:gd name="connsiteX0" fmla="*/ 0 w 786810"/>
                <a:gd name="connsiteY0" fmla="*/ 0 h 1887279"/>
                <a:gd name="connsiteX1" fmla="*/ 207335 w 786810"/>
                <a:gd name="connsiteY1" fmla="*/ 738963 h 1887279"/>
                <a:gd name="connsiteX2" fmla="*/ 786810 w 786810"/>
                <a:gd name="connsiteY2" fmla="*/ 1887279 h 1887279"/>
              </a:gdLst>
              <a:ahLst/>
              <a:cxnLst>
                <a:cxn ang="0">
                  <a:pos x="connsiteX0" y="connsiteY0"/>
                </a:cxn>
                <a:cxn ang="0">
                  <a:pos x="connsiteX1" y="connsiteY1"/>
                </a:cxn>
                <a:cxn ang="0">
                  <a:pos x="connsiteX2" y="connsiteY2"/>
                </a:cxn>
              </a:cxnLst>
              <a:rect l="l" t="t" r="r" b="b"/>
              <a:pathLst>
                <a:path w="786810" h="1887279">
                  <a:moveTo>
                    <a:pt x="0" y="0"/>
                  </a:moveTo>
                  <a:lnTo>
                    <a:pt x="207335" y="738963"/>
                  </a:lnTo>
                  <a:lnTo>
                    <a:pt x="786810" y="1887279"/>
                  </a:ln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4" name="Text Box 9"/>
            <p:cNvSpPr txBox="1">
              <a:spLocks noChangeArrowheads="1"/>
            </p:cNvSpPr>
            <p:nvPr/>
          </p:nvSpPr>
          <p:spPr bwMode="auto">
            <a:xfrm>
              <a:off x="5695658" y="3365396"/>
              <a:ext cx="133824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baseline="-25000" dirty="0" smtClean="0">
                  <a:solidFill>
                    <a:srgbClr val="000066"/>
                  </a:solidFill>
                  <a:latin typeface="Times New Roman" panose="02020603050405020304" pitchFamily="18" charset="0"/>
                  <a:cs typeface="Times New Roman" panose="02020603050405020304" pitchFamily="18" charset="0"/>
                  <a:sym typeface="Symbol"/>
                </a:rPr>
                <a:t>sat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2</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sp>
          <p:nvSpPr>
            <p:cNvPr id="105" name="Text Box 9"/>
            <p:cNvSpPr txBox="1">
              <a:spLocks noChangeArrowheads="1"/>
            </p:cNvSpPr>
            <p:nvPr/>
          </p:nvSpPr>
          <p:spPr bwMode="auto">
            <a:xfrm>
              <a:off x="6109652" y="1799765"/>
              <a:ext cx="57673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sp>
          <p:nvSpPr>
            <p:cNvPr id="150" name="Text Box 9"/>
            <p:cNvSpPr txBox="1">
              <a:spLocks noChangeArrowheads="1"/>
            </p:cNvSpPr>
            <p:nvPr/>
          </p:nvSpPr>
          <p:spPr bwMode="auto">
            <a:xfrm>
              <a:off x="5702401" y="3784833"/>
              <a:ext cx="141049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a:rPr>
                <a:t> </a:t>
              </a:r>
              <a:r>
                <a:rPr lang="en-US" altLang="zh-CN" sz="2000" b="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H</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2</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grpSp>
      <p:sp>
        <p:nvSpPr>
          <p:cNvPr id="9" name="矩形 8"/>
          <p:cNvSpPr/>
          <p:nvPr/>
        </p:nvSpPr>
        <p:spPr bwMode="auto">
          <a:xfrm>
            <a:off x="1952626" y="2268954"/>
            <a:ext cx="1911708" cy="1095375"/>
          </a:xfrm>
          <a:prstGeom prst="rect">
            <a:avLst/>
          </a:prstGeom>
          <a:solidFill>
            <a:srgbClr val="6699FF"/>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81</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填</a:t>
            </a:r>
            <a:r>
              <a:rPr lang="zh-CN" altLang="en-US" sz="1800" b="1" kern="900" spc="130" dirty="0">
                <a:solidFill>
                  <a:srgbClr val="000066"/>
                </a:solidFill>
                <a:ea typeface="黑体" panose="02010609060101010101" pitchFamily="49" charset="-122"/>
                <a:cs typeface="Times New Roman" panose="02020603050405020304" pitchFamily="18" charset="0"/>
              </a:rPr>
              <a:t>土中有</a:t>
            </a:r>
            <a:r>
              <a:rPr lang="zh-CN" altLang="en-US" sz="1800" b="1" kern="900" spc="130" dirty="0" smtClean="0">
                <a:solidFill>
                  <a:srgbClr val="000066"/>
                </a:solidFill>
                <a:ea typeface="黑体" panose="02010609060101010101" pitchFamily="49" charset="-122"/>
                <a:cs typeface="Times New Roman" panose="02020603050405020304" pitchFamily="18" charset="0"/>
              </a:rPr>
              <a:t>水</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3" name="Text Box 2"/>
          <p:cNvSpPr txBox="1">
            <a:spLocks noChangeArrowheads="1"/>
          </p:cNvSpPr>
          <p:nvPr/>
        </p:nvSpPr>
        <p:spPr bwMode="auto">
          <a:xfrm>
            <a:off x="1729626" y="5763754"/>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3. </a:t>
            </a:r>
            <a:r>
              <a:rPr kumimoji="1" lang="zh-CN" altLang="en-US" sz="4000" b="1" dirty="0" smtClean="0">
                <a:solidFill>
                  <a:srgbClr val="000066"/>
                </a:solidFill>
                <a:ea typeface="黑体" pitchFamily="2" charset="-122"/>
                <a:cs typeface="Times New Roman" panose="02020603050405020304" pitchFamily="18" charset="0"/>
              </a:rPr>
              <a:t>填</a:t>
            </a:r>
            <a:r>
              <a:rPr kumimoji="1" lang="zh-CN" altLang="en-US" sz="4000" b="1" dirty="0">
                <a:solidFill>
                  <a:srgbClr val="000066"/>
                </a:solidFill>
                <a:ea typeface="黑体" pitchFamily="2" charset="-122"/>
                <a:cs typeface="Times New Roman" panose="02020603050405020304" pitchFamily="18" charset="0"/>
              </a:rPr>
              <a:t>土中有水</a:t>
            </a:r>
          </a:p>
        </p:txBody>
      </p:sp>
      <p:sp>
        <p:nvSpPr>
          <p:cNvPr id="296" name="Rectangle 3"/>
          <p:cNvSpPr txBox="1">
            <a:spLocks noChangeArrowheads="1"/>
          </p:cNvSpPr>
          <p:nvPr/>
        </p:nvSpPr>
        <p:spPr bwMode="auto">
          <a:xfrm>
            <a:off x="413482" y="591232"/>
            <a:ext cx="2767868"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渗流</a:t>
            </a:r>
            <a:r>
              <a:rPr lang="zh-CN" altLang="en-US" sz="2400" b="1" kern="0" dirty="0" smtClean="0">
                <a:solidFill>
                  <a:srgbClr val="A50021"/>
                </a:solidFill>
                <a:latin typeface="微软雅黑" panose="020B0503020204020204" pitchFamily="34" charset="-122"/>
                <a:ea typeface="微软雅黑" panose="020B0503020204020204" pitchFamily="34" charset="-122"/>
              </a:rPr>
              <a:t>情况</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326" name="Text Box 48"/>
          <p:cNvSpPr txBox="1">
            <a:spLocks noChangeArrowheads="1"/>
          </p:cNvSpPr>
          <p:nvPr/>
        </p:nvSpPr>
        <p:spPr bwMode="auto">
          <a:xfrm>
            <a:off x="870869" y="4182478"/>
            <a:ext cx="7707647" cy="1246495"/>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342900" indent="-342900">
              <a:buClr>
                <a:srgbClr val="A50021"/>
              </a:buClr>
              <a:buSzPct val="130000"/>
              <a:buFont typeface="Wingdings" panose="05000000000000000000" pitchFamily="2" charset="2"/>
              <a:buChar char="F"/>
            </a:pPr>
            <a:r>
              <a:rPr lang="en-US" altLang="zh-CN" sz="2000" b="1" i="1" dirty="0" err="1">
                <a:solidFill>
                  <a:srgbClr val="000066"/>
                </a:solidFill>
                <a:latin typeface="Times New Roman" panose="02020603050405020304" pitchFamily="18" charset="0"/>
                <a:cs typeface="Times New Roman" panose="02020603050405020304" pitchFamily="18" charset="0"/>
              </a:rPr>
              <a:t>K</a:t>
            </a:r>
            <a:r>
              <a:rPr lang="en-US" altLang="zh-CN" sz="2000" b="1" dirty="0" err="1">
                <a:solidFill>
                  <a:srgbClr val="000066"/>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为</a:t>
            </a:r>
            <a:r>
              <a:rPr kumimoji="1" lang="en-US" altLang="zh-CN" sz="2000" b="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水下填土</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的</a:t>
            </a:r>
            <a:r>
              <a:rPr lang="zh-CN" altLang="en-US" sz="2000" b="1" dirty="0">
                <a:solidFill>
                  <a:srgbClr val="000066"/>
                </a:solidFill>
                <a:ea typeface="幼圆" panose="02010509060101010101" pitchFamily="49" charset="-122"/>
                <a:cs typeface="Times New Roman" panose="02020603050405020304" pitchFamily="18" charset="0"/>
                <a:sym typeface="Symbol" pitchFamily="18" charset="2"/>
              </a:rPr>
              <a:t>土压力</a:t>
            </a:r>
            <a:r>
              <a:rPr lang="zh-CN" altLang="en-US" sz="2000" b="1" dirty="0" smtClean="0">
                <a:solidFill>
                  <a:srgbClr val="000066"/>
                </a:solidFill>
                <a:ea typeface="幼圆" panose="02010509060101010101" pitchFamily="49" charset="-122"/>
                <a:cs typeface="Times New Roman" panose="02020603050405020304" pitchFamily="18" charset="0"/>
                <a:sym typeface="Symbol" pitchFamily="18" charset="2"/>
              </a:rPr>
              <a:t>系数</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eaLnBrk="1" hangingPunct="1">
              <a:buClr>
                <a:srgbClr val="A50021"/>
              </a:buClr>
              <a:buSzPct val="130000"/>
              <a:buFont typeface="Wingdings" panose="05000000000000000000" pitchFamily="2" charset="2"/>
              <a:buChar char="F"/>
            </a:pPr>
            <a:r>
              <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计算自重应力时，先计算总应力，计算孔压，再计算</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有效应力</a:t>
            </a:r>
            <a:endPar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a:p>
            <a:pPr marL="342900" indent="-342900" eaLnBrk="1" hangingPunct="1">
              <a:buClr>
                <a:srgbClr val="A50021"/>
              </a:buClr>
              <a:buSzPct val="130000"/>
              <a:buFont typeface="Wingdings" panose="05000000000000000000" pitchFamily="2" charset="2"/>
              <a:buChar char="F"/>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在一般情况下，需进行渗流计算确定土层中的孔隙水压力分布</a:t>
            </a:r>
            <a:endParaRPr lang="zh-CN" altLang="en-US" sz="2000" b="1" baseline="-25000"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229" name="直接连接符 228"/>
          <p:cNvCxnSpPr/>
          <p:nvPr/>
        </p:nvCxnSpPr>
        <p:spPr bwMode="auto">
          <a:xfrm>
            <a:off x="203370" y="3361236"/>
            <a:ext cx="383381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229"/>
          <p:cNvCxnSpPr/>
          <p:nvPr/>
        </p:nvCxnSpPr>
        <p:spPr bwMode="auto">
          <a:xfrm>
            <a:off x="1928856" y="1496799"/>
            <a:ext cx="2117162"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连接符 230"/>
          <p:cNvCxnSpPr/>
          <p:nvPr/>
        </p:nvCxnSpPr>
        <p:spPr bwMode="auto">
          <a:xfrm>
            <a:off x="1955895" y="2268118"/>
            <a:ext cx="2039843"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任意多边形 233"/>
          <p:cNvSpPr/>
          <p:nvPr/>
        </p:nvSpPr>
        <p:spPr bwMode="auto">
          <a:xfrm>
            <a:off x="856657" y="1494917"/>
            <a:ext cx="1118769" cy="1864002"/>
          </a:xfrm>
          <a:custGeom>
            <a:avLst/>
            <a:gdLst>
              <a:gd name="connsiteX0" fmla="*/ 0 w 891960"/>
              <a:gd name="connsiteY0" fmla="*/ 1514650 h 1514650"/>
              <a:gd name="connsiteX1" fmla="*/ 891960 w 891960"/>
              <a:gd name="connsiteY1" fmla="*/ 1514650 h 1514650"/>
              <a:gd name="connsiteX2" fmla="*/ 891960 w 891960"/>
              <a:gd name="connsiteY2" fmla="*/ 0 h 1514650"/>
              <a:gd name="connsiteX3" fmla="*/ 460005 w 891960"/>
              <a:gd name="connsiteY3" fmla="*/ 0 h 1514650"/>
              <a:gd name="connsiteX4" fmla="*/ 0 w 891960"/>
              <a:gd name="connsiteY4" fmla="*/ 1514650 h 1514650"/>
              <a:gd name="connsiteX0" fmla="*/ 0 w 990612"/>
              <a:gd name="connsiteY0" fmla="*/ 1514650 h 1514650"/>
              <a:gd name="connsiteX1" fmla="*/ 990612 w 990612"/>
              <a:gd name="connsiteY1" fmla="*/ 1514650 h 1514650"/>
              <a:gd name="connsiteX2" fmla="*/ 990612 w 990612"/>
              <a:gd name="connsiteY2" fmla="*/ 0 h 1514650"/>
              <a:gd name="connsiteX3" fmla="*/ 558657 w 990612"/>
              <a:gd name="connsiteY3" fmla="*/ 0 h 1514650"/>
              <a:gd name="connsiteX4" fmla="*/ 0 w 990612"/>
              <a:gd name="connsiteY4" fmla="*/ 1514650 h 1514650"/>
              <a:gd name="connsiteX0" fmla="*/ 0 w 1053391"/>
              <a:gd name="connsiteY0" fmla="*/ 1514650 h 1514650"/>
              <a:gd name="connsiteX1" fmla="*/ 1053391 w 1053391"/>
              <a:gd name="connsiteY1" fmla="*/ 1514650 h 1514650"/>
              <a:gd name="connsiteX2" fmla="*/ 1053391 w 1053391"/>
              <a:gd name="connsiteY2" fmla="*/ 0 h 1514650"/>
              <a:gd name="connsiteX3" fmla="*/ 621436 w 1053391"/>
              <a:gd name="connsiteY3" fmla="*/ 0 h 1514650"/>
              <a:gd name="connsiteX4" fmla="*/ 0 w 1053391"/>
              <a:gd name="connsiteY4" fmla="*/ 1514650 h 15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391" h="1514650">
                <a:moveTo>
                  <a:pt x="0" y="1514650"/>
                </a:moveTo>
                <a:lnTo>
                  <a:pt x="1053391" y="1514650"/>
                </a:lnTo>
                <a:lnTo>
                  <a:pt x="1053391" y="0"/>
                </a:lnTo>
                <a:lnTo>
                  <a:pt x="621436" y="0"/>
                </a:lnTo>
                <a:lnTo>
                  <a:pt x="0" y="1514650"/>
                </a:lnTo>
                <a:close/>
              </a:path>
            </a:pathLst>
          </a:custGeom>
          <a:pattFill prst="dkUp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35" name="Group 12"/>
          <p:cNvGrpSpPr>
            <a:grpSpLocks/>
          </p:cNvGrpSpPr>
          <p:nvPr/>
        </p:nvGrpSpPr>
        <p:grpSpPr bwMode="auto">
          <a:xfrm>
            <a:off x="2140553" y="1493830"/>
            <a:ext cx="454614" cy="73451"/>
            <a:chOff x="2274" y="1204"/>
            <a:chExt cx="270" cy="44"/>
          </a:xfrm>
        </p:grpSpPr>
        <p:sp>
          <p:nvSpPr>
            <p:cNvPr id="236"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7"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8"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9"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0"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1"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2"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3" name="Group 12"/>
          <p:cNvGrpSpPr>
            <a:grpSpLocks/>
          </p:cNvGrpSpPr>
          <p:nvPr/>
        </p:nvGrpSpPr>
        <p:grpSpPr bwMode="auto">
          <a:xfrm>
            <a:off x="2841585" y="1490433"/>
            <a:ext cx="454614" cy="73451"/>
            <a:chOff x="2274" y="1204"/>
            <a:chExt cx="270" cy="44"/>
          </a:xfrm>
        </p:grpSpPr>
        <p:sp>
          <p:nvSpPr>
            <p:cNvPr id="244"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7"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8"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0"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1" name="Line 89"/>
          <p:cNvSpPr>
            <a:spLocks noChangeAspect="1" noChangeShapeType="1"/>
          </p:cNvSpPr>
          <p:nvPr/>
        </p:nvSpPr>
        <p:spPr bwMode="auto">
          <a:xfrm rot="5400000">
            <a:off x="3551647" y="1873792"/>
            <a:ext cx="74799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 name="Line 89"/>
          <p:cNvSpPr>
            <a:spLocks noChangeAspect="1" noChangeShapeType="1"/>
          </p:cNvSpPr>
          <p:nvPr/>
        </p:nvSpPr>
        <p:spPr bwMode="auto">
          <a:xfrm rot="5400000">
            <a:off x="3380653" y="2809863"/>
            <a:ext cx="108915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5" name="Text Box 61"/>
          <p:cNvSpPr txBox="1">
            <a:spLocks noChangeArrowheads="1"/>
          </p:cNvSpPr>
          <p:nvPr/>
        </p:nvSpPr>
        <p:spPr bwMode="auto">
          <a:xfrm>
            <a:off x="3993164" y="1717166"/>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256" name="Text Box 62"/>
          <p:cNvSpPr txBox="1">
            <a:spLocks noChangeArrowheads="1"/>
          </p:cNvSpPr>
          <p:nvPr/>
        </p:nvSpPr>
        <p:spPr bwMode="auto">
          <a:xfrm>
            <a:off x="3974114" y="2478614"/>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2</a:t>
            </a:r>
            <a:endParaRPr kumimoji="1" lang="en-US" altLang="zh-CN" sz="2400" b="1" dirty="0">
              <a:solidFill>
                <a:srgbClr val="000066"/>
              </a:solidFill>
              <a:latin typeface="Times New Roman" panose="02020603050405020304" pitchFamily="18" charset="0"/>
            </a:endParaRPr>
          </a:p>
        </p:txBody>
      </p:sp>
      <p:grpSp>
        <p:nvGrpSpPr>
          <p:cNvPr id="8" name="组合 7"/>
          <p:cNvGrpSpPr/>
          <p:nvPr/>
        </p:nvGrpSpPr>
        <p:grpSpPr>
          <a:xfrm>
            <a:off x="4585093" y="1481430"/>
            <a:ext cx="4115882" cy="1884633"/>
            <a:chOff x="4585093" y="1481430"/>
            <a:chExt cx="4115882" cy="1884633"/>
          </a:xfrm>
        </p:grpSpPr>
        <p:cxnSp>
          <p:nvCxnSpPr>
            <p:cNvPr id="258" name="直接连接符 257"/>
            <p:cNvCxnSpPr/>
            <p:nvPr/>
          </p:nvCxnSpPr>
          <p:spPr bwMode="auto">
            <a:xfrm>
              <a:off x="4592770" y="3366063"/>
              <a:ext cx="4108205"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连接符 258"/>
            <p:cNvCxnSpPr/>
            <p:nvPr/>
          </p:nvCxnSpPr>
          <p:spPr bwMode="auto">
            <a:xfrm>
              <a:off x="4585350" y="1481430"/>
              <a:ext cx="4039425"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直接连接符 259"/>
            <p:cNvCxnSpPr/>
            <p:nvPr/>
          </p:nvCxnSpPr>
          <p:spPr bwMode="auto">
            <a:xfrm>
              <a:off x="4585093" y="2223127"/>
              <a:ext cx="4011107" cy="0"/>
            </a:xfrm>
            <a:prstGeom prst="line">
              <a:avLst/>
            </a:prstGeom>
            <a:noFill/>
            <a:ln w="19050" cap="flat" cmpd="sng" algn="ctr">
              <a:solidFill>
                <a:srgbClr val="00006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0" name="Group 79"/>
          <p:cNvGrpSpPr>
            <a:grpSpLocks/>
          </p:cNvGrpSpPr>
          <p:nvPr/>
        </p:nvGrpSpPr>
        <p:grpSpPr bwMode="auto">
          <a:xfrm>
            <a:off x="2733600" y="2151078"/>
            <a:ext cx="223838" cy="236672"/>
            <a:chOff x="158" y="3099"/>
            <a:chExt cx="141" cy="167"/>
          </a:xfrm>
        </p:grpSpPr>
        <p:sp>
          <p:nvSpPr>
            <p:cNvPr id="311" name="Freeform 80"/>
            <p:cNvSpPr>
              <a:spLocks noChangeAspect="1"/>
            </p:cNvSpPr>
            <p:nvPr/>
          </p:nvSpPr>
          <p:spPr bwMode="auto">
            <a:xfrm>
              <a:off x="158" y="3205"/>
              <a:ext cx="141" cy="1"/>
            </a:xfrm>
            <a:custGeom>
              <a:avLst/>
              <a:gdLst>
                <a:gd name="T0" fmla="*/ 0 w 141"/>
                <a:gd name="T1" fmla="*/ 0 h 1"/>
                <a:gd name="T2" fmla="*/ 141 w 141"/>
                <a:gd name="T3" fmla="*/ 1 h 1"/>
              </a:gdLst>
              <a:ahLst/>
              <a:cxnLst>
                <a:cxn ang="0">
                  <a:pos x="T0" y="T1"/>
                </a:cxn>
                <a:cxn ang="0">
                  <a:pos x="T2" y="T3"/>
                </a:cxn>
              </a:cxnLst>
              <a:rect l="0" t="0" r="r" b="b"/>
              <a:pathLst>
                <a:path w="141" h="1">
                  <a:moveTo>
                    <a:pt x="0" y="0"/>
                  </a:moveTo>
                  <a:lnTo>
                    <a:pt x="141"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2" name="Freeform 81"/>
            <p:cNvSpPr>
              <a:spLocks noChangeAspect="1"/>
            </p:cNvSpPr>
            <p:nvPr/>
          </p:nvSpPr>
          <p:spPr bwMode="auto">
            <a:xfrm>
              <a:off x="186" y="3238"/>
              <a:ext cx="89" cy="0"/>
            </a:xfrm>
            <a:custGeom>
              <a:avLst/>
              <a:gdLst>
                <a:gd name="T0" fmla="*/ 0 w 198"/>
                <a:gd name="T1" fmla="*/ 0 h 1"/>
                <a:gd name="T2" fmla="*/ 198 w 198"/>
                <a:gd name="T3" fmla="*/ 1 h 1"/>
              </a:gdLst>
              <a:ahLst/>
              <a:cxnLst>
                <a:cxn ang="0">
                  <a:pos x="T0" y="T1"/>
                </a:cxn>
                <a:cxn ang="0">
                  <a:pos x="T2" y="T3"/>
                </a:cxn>
              </a:cxnLst>
              <a:rect l="0" t="0" r="r" b="b"/>
              <a:pathLst>
                <a:path w="198" h="1">
                  <a:moveTo>
                    <a:pt x="0" y="0"/>
                  </a:moveTo>
                  <a:lnTo>
                    <a:pt x="198"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3" name="AutoShape 82"/>
            <p:cNvSpPr>
              <a:spLocks noChangeAspect="1" noChangeArrowheads="1"/>
            </p:cNvSpPr>
            <p:nvPr/>
          </p:nvSpPr>
          <p:spPr bwMode="auto">
            <a:xfrm flipV="1">
              <a:off x="183" y="3099"/>
              <a:ext cx="102" cy="75"/>
            </a:xfrm>
            <a:prstGeom prst="triangle">
              <a:avLst>
                <a:gd name="adj" fmla="val 50000"/>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4" name="Freeform 83"/>
            <p:cNvSpPr>
              <a:spLocks noChangeAspect="1"/>
            </p:cNvSpPr>
            <p:nvPr/>
          </p:nvSpPr>
          <p:spPr bwMode="auto">
            <a:xfrm>
              <a:off x="211" y="3266"/>
              <a:ext cx="42" cy="0"/>
            </a:xfrm>
            <a:custGeom>
              <a:avLst/>
              <a:gdLst>
                <a:gd name="T0" fmla="*/ 0 w 94"/>
                <a:gd name="T1" fmla="*/ 0 h 1"/>
                <a:gd name="T2" fmla="*/ 94 w 94"/>
                <a:gd name="T3" fmla="*/ 1 h 1"/>
              </a:gdLst>
              <a:ahLst/>
              <a:cxnLst>
                <a:cxn ang="0">
                  <a:pos x="T0" y="T1"/>
                </a:cxn>
                <a:cxn ang="0">
                  <a:pos x="T2" y="T3"/>
                </a:cxn>
              </a:cxnLst>
              <a:rect l="0" t="0" r="r" b="b"/>
              <a:pathLst>
                <a:path w="94" h="1">
                  <a:moveTo>
                    <a:pt x="0" y="0"/>
                  </a:moveTo>
                  <a:lnTo>
                    <a:pt x="94"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25" name="Text Box 72"/>
          <p:cNvSpPr txBox="1">
            <a:spLocks noChangeArrowheads="1"/>
          </p:cNvSpPr>
          <p:nvPr/>
        </p:nvSpPr>
        <p:spPr bwMode="auto">
          <a:xfrm>
            <a:off x="4531471" y="935453"/>
            <a:ext cx="838199"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400" b="1" dirty="0">
                <a:solidFill>
                  <a:srgbClr val="A50021"/>
                </a:solidFill>
                <a:latin typeface="幼圆" panose="02010509060101010101" pitchFamily="49" charset="-122"/>
                <a:ea typeface="幼圆" panose="02010509060101010101" pitchFamily="49" charset="-122"/>
              </a:rPr>
              <a:t>孔</a:t>
            </a:r>
            <a:r>
              <a:rPr kumimoji="1" lang="zh-CN" altLang="en-US" sz="2400" b="1" dirty="0" smtClean="0">
                <a:solidFill>
                  <a:srgbClr val="A50021"/>
                </a:solidFill>
                <a:latin typeface="幼圆" panose="02010509060101010101" pitchFamily="49" charset="-122"/>
                <a:ea typeface="幼圆" panose="02010509060101010101" pitchFamily="49" charset="-122"/>
              </a:rPr>
              <a:t>压</a:t>
            </a:r>
            <a:endParaRPr kumimoji="1" lang="zh-CN" altLang="en-US" sz="2400" b="1" dirty="0">
              <a:solidFill>
                <a:srgbClr val="A50021"/>
              </a:solidFill>
              <a:latin typeface="幼圆" panose="02010509060101010101" pitchFamily="49" charset="-122"/>
              <a:ea typeface="幼圆" panose="02010509060101010101" pitchFamily="49" charset="-122"/>
            </a:endParaRPr>
          </a:p>
        </p:txBody>
      </p:sp>
      <p:sp>
        <p:nvSpPr>
          <p:cNvPr id="331" name="Text Box 73"/>
          <p:cNvSpPr txBox="1">
            <a:spLocks noChangeArrowheads="1"/>
          </p:cNvSpPr>
          <p:nvPr/>
        </p:nvSpPr>
        <p:spPr bwMode="auto">
          <a:xfrm>
            <a:off x="1711325" y="3660131"/>
            <a:ext cx="1276350" cy="38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r>
              <a:rPr lang="zh-CN" altLang="en-US" sz="2200" b="1" dirty="0" smtClean="0">
                <a:solidFill>
                  <a:srgbClr val="993300"/>
                </a:solidFill>
                <a:latin typeface="幼圆" panose="02010509060101010101" pitchFamily="49" charset="-122"/>
                <a:ea typeface="幼圆" panose="02010509060101010101" pitchFamily="49" charset="-122"/>
              </a:rPr>
              <a:t>透水地基</a:t>
            </a:r>
            <a:endParaRPr lang="zh-CN" altLang="en-US" sz="2200" b="1" dirty="0">
              <a:solidFill>
                <a:srgbClr val="993300"/>
              </a:solidFill>
              <a:latin typeface="幼圆" panose="02010509060101010101" pitchFamily="49" charset="-122"/>
              <a:ea typeface="幼圆" panose="02010509060101010101" pitchFamily="49" charset="-122"/>
            </a:endParaRPr>
          </a:p>
        </p:txBody>
      </p:sp>
      <p:sp>
        <p:nvSpPr>
          <p:cNvPr id="60" name="Oval 58"/>
          <p:cNvSpPr>
            <a:spLocks noChangeArrowheads="1"/>
          </p:cNvSpPr>
          <p:nvPr/>
        </p:nvSpPr>
        <p:spPr bwMode="auto">
          <a:xfrm>
            <a:off x="764634" y="347000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1" name="Oval 59"/>
          <p:cNvSpPr>
            <a:spLocks noChangeArrowheads="1"/>
          </p:cNvSpPr>
          <p:nvPr/>
        </p:nvSpPr>
        <p:spPr bwMode="auto">
          <a:xfrm>
            <a:off x="1062701" y="349195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 name="Oval 62"/>
          <p:cNvSpPr>
            <a:spLocks noChangeArrowheads="1"/>
          </p:cNvSpPr>
          <p:nvPr/>
        </p:nvSpPr>
        <p:spPr bwMode="auto">
          <a:xfrm>
            <a:off x="1281684" y="344829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5" name="Oval 63"/>
          <p:cNvSpPr>
            <a:spLocks noChangeArrowheads="1"/>
          </p:cNvSpPr>
          <p:nvPr/>
        </p:nvSpPr>
        <p:spPr bwMode="auto">
          <a:xfrm>
            <a:off x="1735162" y="356653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 name="Oval 64"/>
          <p:cNvSpPr>
            <a:spLocks noChangeArrowheads="1"/>
          </p:cNvSpPr>
          <p:nvPr/>
        </p:nvSpPr>
        <p:spPr bwMode="auto">
          <a:xfrm>
            <a:off x="1499445" y="347299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3" name="Oval 74"/>
          <p:cNvSpPr>
            <a:spLocks noChangeArrowheads="1"/>
          </p:cNvSpPr>
          <p:nvPr/>
        </p:nvSpPr>
        <p:spPr bwMode="auto">
          <a:xfrm>
            <a:off x="913264" y="3575629"/>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4" name="Oval 102"/>
          <p:cNvSpPr>
            <a:spLocks noChangeArrowheads="1"/>
          </p:cNvSpPr>
          <p:nvPr/>
        </p:nvSpPr>
        <p:spPr bwMode="auto">
          <a:xfrm>
            <a:off x="356171" y="343718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5" name="Oval 103"/>
          <p:cNvSpPr>
            <a:spLocks noChangeArrowheads="1"/>
          </p:cNvSpPr>
          <p:nvPr/>
        </p:nvSpPr>
        <p:spPr bwMode="auto">
          <a:xfrm>
            <a:off x="596692" y="358085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7" name="Oval 105"/>
          <p:cNvSpPr>
            <a:spLocks noChangeArrowheads="1"/>
          </p:cNvSpPr>
          <p:nvPr/>
        </p:nvSpPr>
        <p:spPr bwMode="auto">
          <a:xfrm>
            <a:off x="2563475" y="356218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78" name="Oval 106"/>
          <p:cNvSpPr>
            <a:spLocks noChangeArrowheads="1"/>
          </p:cNvSpPr>
          <p:nvPr/>
        </p:nvSpPr>
        <p:spPr bwMode="auto">
          <a:xfrm>
            <a:off x="318886" y="3589137"/>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79" name="Group 79"/>
          <p:cNvGrpSpPr>
            <a:grpSpLocks/>
          </p:cNvGrpSpPr>
          <p:nvPr/>
        </p:nvGrpSpPr>
        <p:grpSpPr bwMode="auto">
          <a:xfrm>
            <a:off x="396876" y="3254657"/>
            <a:ext cx="223838" cy="236672"/>
            <a:chOff x="158" y="3099"/>
            <a:chExt cx="141" cy="167"/>
          </a:xfrm>
        </p:grpSpPr>
        <p:sp>
          <p:nvSpPr>
            <p:cNvPr id="80" name="Freeform 80"/>
            <p:cNvSpPr>
              <a:spLocks noChangeAspect="1"/>
            </p:cNvSpPr>
            <p:nvPr/>
          </p:nvSpPr>
          <p:spPr bwMode="auto">
            <a:xfrm>
              <a:off x="158" y="3205"/>
              <a:ext cx="141" cy="1"/>
            </a:xfrm>
            <a:custGeom>
              <a:avLst/>
              <a:gdLst>
                <a:gd name="T0" fmla="*/ 0 w 141"/>
                <a:gd name="T1" fmla="*/ 0 h 1"/>
                <a:gd name="T2" fmla="*/ 141 w 141"/>
                <a:gd name="T3" fmla="*/ 1 h 1"/>
              </a:gdLst>
              <a:ahLst/>
              <a:cxnLst>
                <a:cxn ang="0">
                  <a:pos x="T0" y="T1"/>
                </a:cxn>
                <a:cxn ang="0">
                  <a:pos x="T2" y="T3"/>
                </a:cxn>
              </a:cxnLst>
              <a:rect l="0" t="0" r="r" b="b"/>
              <a:pathLst>
                <a:path w="141" h="1">
                  <a:moveTo>
                    <a:pt x="0" y="0"/>
                  </a:moveTo>
                  <a:lnTo>
                    <a:pt x="141"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 name="Freeform 81"/>
            <p:cNvSpPr>
              <a:spLocks noChangeAspect="1"/>
            </p:cNvSpPr>
            <p:nvPr/>
          </p:nvSpPr>
          <p:spPr bwMode="auto">
            <a:xfrm>
              <a:off x="186" y="3238"/>
              <a:ext cx="89" cy="0"/>
            </a:xfrm>
            <a:custGeom>
              <a:avLst/>
              <a:gdLst>
                <a:gd name="T0" fmla="*/ 0 w 198"/>
                <a:gd name="T1" fmla="*/ 0 h 1"/>
                <a:gd name="T2" fmla="*/ 198 w 198"/>
                <a:gd name="T3" fmla="*/ 1 h 1"/>
              </a:gdLst>
              <a:ahLst/>
              <a:cxnLst>
                <a:cxn ang="0">
                  <a:pos x="T0" y="T1"/>
                </a:cxn>
                <a:cxn ang="0">
                  <a:pos x="T2" y="T3"/>
                </a:cxn>
              </a:cxnLst>
              <a:rect l="0" t="0" r="r" b="b"/>
              <a:pathLst>
                <a:path w="198" h="1">
                  <a:moveTo>
                    <a:pt x="0" y="0"/>
                  </a:moveTo>
                  <a:lnTo>
                    <a:pt x="198"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 name="AutoShape 82"/>
            <p:cNvSpPr>
              <a:spLocks noChangeAspect="1" noChangeArrowheads="1"/>
            </p:cNvSpPr>
            <p:nvPr/>
          </p:nvSpPr>
          <p:spPr bwMode="auto">
            <a:xfrm flipV="1">
              <a:off x="183" y="3099"/>
              <a:ext cx="102" cy="75"/>
            </a:xfrm>
            <a:prstGeom prst="triangle">
              <a:avLst>
                <a:gd name="adj" fmla="val 50000"/>
              </a:avLst>
            </a:prstGeom>
            <a:noFill/>
            <a:ln w="190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83"/>
            <p:cNvSpPr>
              <a:spLocks noChangeAspect="1"/>
            </p:cNvSpPr>
            <p:nvPr/>
          </p:nvSpPr>
          <p:spPr bwMode="auto">
            <a:xfrm>
              <a:off x="211" y="3266"/>
              <a:ext cx="42" cy="0"/>
            </a:xfrm>
            <a:custGeom>
              <a:avLst/>
              <a:gdLst>
                <a:gd name="T0" fmla="*/ 0 w 94"/>
                <a:gd name="T1" fmla="*/ 0 h 1"/>
                <a:gd name="T2" fmla="*/ 94 w 94"/>
                <a:gd name="T3" fmla="*/ 1 h 1"/>
              </a:gdLst>
              <a:ahLst/>
              <a:cxnLst>
                <a:cxn ang="0">
                  <a:pos x="T0" y="T1"/>
                </a:cxn>
                <a:cxn ang="0">
                  <a:pos x="T2" y="T3"/>
                </a:cxn>
              </a:cxnLst>
              <a:rect l="0" t="0" r="r" b="b"/>
              <a:pathLst>
                <a:path w="94" h="1">
                  <a:moveTo>
                    <a:pt x="0" y="0"/>
                  </a:moveTo>
                  <a:lnTo>
                    <a:pt x="94" y="1"/>
                  </a:lnTo>
                </a:path>
              </a:pathLst>
            </a:custGeom>
            <a:noFill/>
            <a:ln w="19050" cmpd="sng">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 name="组合 9"/>
          <p:cNvGrpSpPr/>
          <p:nvPr/>
        </p:nvGrpSpPr>
        <p:grpSpPr>
          <a:xfrm>
            <a:off x="4723278" y="1775068"/>
            <a:ext cx="601447" cy="1596536"/>
            <a:chOff x="4723278" y="1775068"/>
            <a:chExt cx="601447" cy="1596536"/>
          </a:xfrm>
        </p:grpSpPr>
        <p:cxnSp>
          <p:nvCxnSpPr>
            <p:cNvPr id="299" name="直接连接符 298"/>
            <p:cNvCxnSpPr/>
            <p:nvPr/>
          </p:nvCxnSpPr>
          <p:spPr bwMode="auto">
            <a:xfrm>
              <a:off x="5017106" y="2221329"/>
              <a:ext cx="0" cy="1150275"/>
            </a:xfrm>
            <a:prstGeom prst="line">
              <a:avLst/>
            </a:prstGeom>
            <a:noFill/>
            <a:ln w="28575" cap="flat" cmpd="sng" algn="ctr">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Rectangle 40"/>
            <p:cNvSpPr>
              <a:spLocks noChangeArrowheads="1"/>
            </p:cNvSpPr>
            <p:nvPr/>
          </p:nvSpPr>
          <p:spPr bwMode="auto">
            <a:xfrm>
              <a:off x="4723278" y="1775068"/>
              <a:ext cx="601447" cy="417871"/>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sz="2000" b="1" i="1" dirty="0">
                  <a:solidFill>
                    <a:srgbClr val="000000"/>
                  </a:solidFill>
                  <a:latin typeface="Times New Roman" panose="02020603050405020304" pitchFamily="18" charset="0"/>
                  <a:cs typeface="Times New Roman" panose="02020603050405020304" pitchFamily="18" charset="0"/>
                  <a:sym typeface="Symbol" pitchFamily="18" charset="2"/>
                </a:rPr>
                <a:t>u=0</a:t>
              </a:r>
              <a:endParaRPr lang="en-US" altLang="zh-CN" sz="2000" b="1" i="1" baseline="-25000" dirty="0">
                <a:solidFill>
                  <a:srgbClr val="000000"/>
                </a:solidFill>
                <a:latin typeface="Times New Roman" panose="02020603050405020304" pitchFamily="18" charset="0"/>
                <a:cs typeface="Times New Roman" panose="02020603050405020304" pitchFamily="18" charset="0"/>
              </a:endParaRPr>
            </a:p>
          </p:txBody>
        </p:sp>
      </p:grpSp>
      <p:sp>
        <p:nvSpPr>
          <p:cNvPr id="110" name="Rectangle 37"/>
          <p:cNvSpPr>
            <a:spLocks noChangeArrowheads="1"/>
          </p:cNvSpPr>
          <p:nvPr/>
        </p:nvSpPr>
        <p:spPr bwMode="auto">
          <a:xfrm>
            <a:off x="4391108" y="3500854"/>
            <a:ext cx="1336017" cy="80021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ts val="0"/>
              </a:spcBef>
              <a:spcAft>
                <a:spcPts val="0"/>
              </a:spcAft>
            </a:pPr>
            <a:r>
              <a:rPr lang="zh-CN" altLang="en-US" sz="2000" b="1" dirty="0" smtClean="0">
                <a:solidFill>
                  <a:srgbClr val="C00000"/>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有效应力</a:t>
            </a:r>
            <a:endParaRPr lang="en-US" altLang="zh-CN" sz="2000" b="1" dirty="0" smtClean="0">
              <a:solidFill>
                <a:srgbClr val="C00000"/>
              </a:solidFill>
              <a:latin typeface="幼圆" panose="02010509060101010101" pitchFamily="49" charset="-122"/>
              <a:ea typeface="幼圆" panose="02010509060101010101" pitchFamily="49" charset="-122"/>
              <a:cs typeface="Times New Roman" panose="02020603050405020304" pitchFamily="18" charset="0"/>
              <a:sym typeface="Symbol" pitchFamily="18" charset="2"/>
            </a:endParaRPr>
          </a:p>
          <a:p>
            <a:pPr algn="ctr">
              <a:spcBef>
                <a:spcPts val="0"/>
              </a:spcBef>
              <a:spcAft>
                <a:spcPts val="0"/>
              </a:spcAft>
            </a:pPr>
            <a:r>
              <a:rPr lang="en-US" altLang="zh-CN" sz="2000" b="1" dirty="0" smtClean="0">
                <a:solidFill>
                  <a:srgbClr val="C00000"/>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a:t>
            </a:r>
            <a:r>
              <a:rPr lang="zh-CN" altLang="en-US" sz="2000" b="1" dirty="0" smtClean="0">
                <a:solidFill>
                  <a:srgbClr val="C00000"/>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总</a:t>
            </a:r>
            <a:r>
              <a:rPr lang="zh-CN" altLang="en-US" sz="2000" b="1" dirty="0">
                <a:solidFill>
                  <a:srgbClr val="C00000"/>
                </a:solidFill>
                <a:latin typeface="幼圆" panose="02010509060101010101" pitchFamily="49" charset="-122"/>
                <a:ea typeface="幼圆" panose="02010509060101010101" pitchFamily="49" charset="-122"/>
                <a:cs typeface="Times New Roman" panose="02020603050405020304" pitchFamily="18" charset="0"/>
                <a:sym typeface="Symbol" pitchFamily="18" charset="2"/>
              </a:rPr>
              <a:t>应力</a:t>
            </a:r>
            <a:endParaRPr lang="zh-CN" altLang="en-US" sz="2000" b="1" baseline="-25000" dirty="0">
              <a:solidFill>
                <a:srgbClr val="C00000"/>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114" name="Line 21"/>
          <p:cNvSpPr>
            <a:spLocks noChangeShapeType="1"/>
          </p:cNvSpPr>
          <p:nvPr/>
        </p:nvSpPr>
        <p:spPr bwMode="auto">
          <a:xfrm>
            <a:off x="2629303" y="2657134"/>
            <a:ext cx="0" cy="4683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5" name="Line 22"/>
          <p:cNvSpPr>
            <a:spLocks noChangeShapeType="1"/>
          </p:cNvSpPr>
          <p:nvPr/>
        </p:nvSpPr>
        <p:spPr bwMode="auto">
          <a:xfrm>
            <a:off x="2781703" y="2657134"/>
            <a:ext cx="0" cy="4683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6" name="Line 23"/>
          <p:cNvSpPr>
            <a:spLocks noChangeShapeType="1"/>
          </p:cNvSpPr>
          <p:nvPr/>
        </p:nvSpPr>
        <p:spPr bwMode="auto">
          <a:xfrm>
            <a:off x="2934103" y="2657134"/>
            <a:ext cx="0" cy="4683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7" name="Line 24"/>
          <p:cNvSpPr>
            <a:spLocks noChangeShapeType="1"/>
          </p:cNvSpPr>
          <p:nvPr/>
        </p:nvSpPr>
        <p:spPr bwMode="auto">
          <a:xfrm>
            <a:off x="3086503" y="2657134"/>
            <a:ext cx="0" cy="4683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 name="任意多边形 1"/>
          <p:cNvSpPr/>
          <p:nvPr/>
        </p:nvSpPr>
        <p:spPr bwMode="auto">
          <a:xfrm>
            <a:off x="1343936" y="3508578"/>
            <a:ext cx="95655" cy="56744"/>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Lst>
            <a:ahLst/>
            <a:cxnLst>
              <a:cxn ang="0">
                <a:pos x="connsiteX0" y="connsiteY0"/>
              </a:cxn>
              <a:cxn ang="0">
                <a:pos x="connsiteX1" y="connsiteY1"/>
              </a:cxn>
              <a:cxn ang="0">
                <a:pos x="connsiteX2" y="connsiteY2"/>
              </a:cxn>
              <a:cxn ang="0">
                <a:pos x="connsiteX3" y="connsiteY3"/>
              </a:cxn>
            </a:cxnLst>
            <a:rect l="l" t="t" r="r" b="b"/>
            <a:pathLst>
              <a:path w="95655" h="56744">
                <a:moveTo>
                  <a:pt x="0" y="0"/>
                </a:move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9" name="任意多边形 88"/>
          <p:cNvSpPr/>
          <p:nvPr/>
        </p:nvSpPr>
        <p:spPr bwMode="auto">
          <a:xfrm rot="16200000">
            <a:off x="975869" y="3535414"/>
            <a:ext cx="73903" cy="48639"/>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 name="connsiteX0" fmla="*/ 0 w 95655"/>
              <a:gd name="connsiteY0" fmla="*/ 0 h 56744"/>
              <a:gd name="connsiteX1" fmla="*/ 69715 w 95655"/>
              <a:gd name="connsiteY1" fmla="*/ 24319 h 56744"/>
              <a:gd name="connsiteX2" fmla="*/ 95655 w 95655"/>
              <a:gd name="connsiteY2" fmla="*/ 45396 h 56744"/>
              <a:gd name="connsiteX3" fmla="*/ 19455 w 95655"/>
              <a:gd name="connsiteY3" fmla="*/ 56744 h 56744"/>
              <a:gd name="connsiteX4" fmla="*/ 0 w 95655"/>
              <a:gd name="connsiteY4" fmla="*/ 0 h 5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55" h="56744">
                <a:moveTo>
                  <a:pt x="0" y="0"/>
                </a:moveTo>
                <a:cubicBezTo>
                  <a:pt x="16213" y="6485"/>
                  <a:pt x="53502" y="17834"/>
                  <a:pt x="69715" y="24319"/>
                </a:cubicBez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 name="任意多边形 2"/>
          <p:cNvSpPr/>
          <p:nvPr/>
        </p:nvSpPr>
        <p:spPr bwMode="auto">
          <a:xfrm>
            <a:off x="342361" y="3543403"/>
            <a:ext cx="79456" cy="41317"/>
          </a:xfrm>
          <a:custGeom>
            <a:avLst/>
            <a:gdLst>
              <a:gd name="connsiteX0" fmla="*/ 47030 w 79456"/>
              <a:gd name="connsiteY0" fmla="*/ 2676 h 41317"/>
              <a:gd name="connsiteX1" fmla="*/ 3256 w 79456"/>
              <a:gd name="connsiteY1" fmla="*/ 2676 h 41317"/>
              <a:gd name="connsiteX2" fmla="*/ 13 w 79456"/>
              <a:gd name="connsiteY2" fmla="*/ 12404 h 41317"/>
              <a:gd name="connsiteX3" fmla="*/ 1634 w 79456"/>
              <a:gd name="connsiteY3" fmla="*/ 28616 h 41317"/>
              <a:gd name="connsiteX4" fmla="*/ 11362 w 79456"/>
              <a:gd name="connsiteY4" fmla="*/ 31859 h 41317"/>
              <a:gd name="connsiteX5" fmla="*/ 22711 w 79456"/>
              <a:gd name="connsiteY5" fmla="*/ 35101 h 41317"/>
              <a:gd name="connsiteX6" fmla="*/ 34060 w 79456"/>
              <a:gd name="connsiteY6" fmla="*/ 38344 h 41317"/>
              <a:gd name="connsiteX7" fmla="*/ 43787 w 79456"/>
              <a:gd name="connsiteY7" fmla="*/ 39965 h 41317"/>
              <a:gd name="connsiteX8" fmla="*/ 77834 w 79456"/>
              <a:gd name="connsiteY8" fmla="*/ 33480 h 41317"/>
              <a:gd name="connsiteX9" fmla="*/ 79456 w 79456"/>
              <a:gd name="connsiteY9" fmla="*/ 28616 h 41317"/>
              <a:gd name="connsiteX10" fmla="*/ 77834 w 79456"/>
              <a:gd name="connsiteY10" fmla="*/ 18889 h 41317"/>
              <a:gd name="connsiteX11" fmla="*/ 76213 w 79456"/>
              <a:gd name="connsiteY11" fmla="*/ 12404 h 41317"/>
              <a:gd name="connsiteX12" fmla="*/ 69728 w 79456"/>
              <a:gd name="connsiteY12" fmla="*/ 10782 h 41317"/>
              <a:gd name="connsiteX13" fmla="*/ 60000 w 79456"/>
              <a:gd name="connsiteY13" fmla="*/ 9161 h 41317"/>
              <a:gd name="connsiteX14" fmla="*/ 55136 w 79456"/>
              <a:gd name="connsiteY14" fmla="*/ 7540 h 41317"/>
              <a:gd name="connsiteX15" fmla="*/ 47030 w 79456"/>
              <a:gd name="connsiteY15" fmla="*/ 2676 h 4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456" h="41317">
                <a:moveTo>
                  <a:pt x="47030" y="2676"/>
                </a:moveTo>
                <a:cubicBezTo>
                  <a:pt x="38383" y="1865"/>
                  <a:pt x="22435" y="-2918"/>
                  <a:pt x="3256" y="2676"/>
                </a:cubicBezTo>
                <a:cubicBezTo>
                  <a:pt x="-25" y="3633"/>
                  <a:pt x="13" y="12404"/>
                  <a:pt x="13" y="12404"/>
                </a:cubicBezTo>
                <a:cubicBezTo>
                  <a:pt x="553" y="17808"/>
                  <a:pt x="-1103" y="23925"/>
                  <a:pt x="1634" y="28616"/>
                </a:cubicBezTo>
                <a:cubicBezTo>
                  <a:pt x="3356" y="31568"/>
                  <a:pt x="8119" y="30778"/>
                  <a:pt x="11362" y="31859"/>
                </a:cubicBezTo>
                <a:cubicBezTo>
                  <a:pt x="23028" y="35748"/>
                  <a:pt x="8456" y="31028"/>
                  <a:pt x="22711" y="35101"/>
                </a:cubicBezTo>
                <a:cubicBezTo>
                  <a:pt x="29931" y="37164"/>
                  <a:pt x="25602" y="36653"/>
                  <a:pt x="34060" y="38344"/>
                </a:cubicBezTo>
                <a:cubicBezTo>
                  <a:pt x="37283" y="38989"/>
                  <a:pt x="40545" y="39425"/>
                  <a:pt x="43787" y="39965"/>
                </a:cubicBezTo>
                <a:cubicBezTo>
                  <a:pt x="64425" y="38879"/>
                  <a:pt x="71184" y="46779"/>
                  <a:pt x="77834" y="33480"/>
                </a:cubicBezTo>
                <a:cubicBezTo>
                  <a:pt x="78598" y="31951"/>
                  <a:pt x="78915" y="30237"/>
                  <a:pt x="79456" y="28616"/>
                </a:cubicBezTo>
                <a:cubicBezTo>
                  <a:pt x="78915" y="25374"/>
                  <a:pt x="78479" y="22112"/>
                  <a:pt x="77834" y="18889"/>
                </a:cubicBezTo>
                <a:cubicBezTo>
                  <a:pt x="77397" y="16704"/>
                  <a:pt x="77788" y="13980"/>
                  <a:pt x="76213" y="12404"/>
                </a:cubicBezTo>
                <a:cubicBezTo>
                  <a:pt x="74637" y="10828"/>
                  <a:pt x="71913" y="11219"/>
                  <a:pt x="69728" y="10782"/>
                </a:cubicBezTo>
                <a:cubicBezTo>
                  <a:pt x="66504" y="10137"/>
                  <a:pt x="63209" y="9874"/>
                  <a:pt x="60000" y="9161"/>
                </a:cubicBezTo>
                <a:cubicBezTo>
                  <a:pt x="58332" y="8790"/>
                  <a:pt x="56794" y="7955"/>
                  <a:pt x="55136" y="7540"/>
                </a:cubicBezTo>
                <a:cubicBezTo>
                  <a:pt x="43988" y="4752"/>
                  <a:pt x="55677" y="3487"/>
                  <a:pt x="47030" y="2676"/>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2608845" y="3545824"/>
            <a:ext cx="85996" cy="49869"/>
          </a:xfrm>
          <a:custGeom>
            <a:avLst/>
            <a:gdLst>
              <a:gd name="connsiteX0" fmla="*/ 85928 w 85996"/>
              <a:gd name="connsiteY0" fmla="*/ 2852 h 49869"/>
              <a:gd name="connsiteX1" fmla="*/ 72957 w 85996"/>
              <a:gd name="connsiteY1" fmla="*/ 7716 h 49869"/>
              <a:gd name="connsiteX2" fmla="*/ 63230 w 85996"/>
              <a:gd name="connsiteY2" fmla="*/ 10959 h 49869"/>
              <a:gd name="connsiteX3" fmla="*/ 43774 w 85996"/>
              <a:gd name="connsiteY3" fmla="*/ 17444 h 49869"/>
              <a:gd name="connsiteX4" fmla="*/ 34047 w 85996"/>
              <a:gd name="connsiteY4" fmla="*/ 20686 h 49869"/>
              <a:gd name="connsiteX5" fmla="*/ 29183 w 85996"/>
              <a:gd name="connsiteY5" fmla="*/ 22308 h 49869"/>
              <a:gd name="connsiteX6" fmla="*/ 9728 w 85996"/>
              <a:gd name="connsiteY6" fmla="*/ 25550 h 49869"/>
              <a:gd name="connsiteX7" fmla="*/ 0 w 85996"/>
              <a:gd name="connsiteY7" fmla="*/ 28793 h 49869"/>
              <a:gd name="connsiteX8" fmla="*/ 1621 w 85996"/>
              <a:gd name="connsiteY8" fmla="*/ 33657 h 49869"/>
              <a:gd name="connsiteX9" fmla="*/ 11349 w 85996"/>
              <a:gd name="connsiteY9" fmla="*/ 36899 h 49869"/>
              <a:gd name="connsiteX10" fmla="*/ 16213 w 85996"/>
              <a:gd name="connsiteY10" fmla="*/ 38521 h 49869"/>
              <a:gd name="connsiteX11" fmla="*/ 34047 w 85996"/>
              <a:gd name="connsiteY11" fmla="*/ 41763 h 49869"/>
              <a:gd name="connsiteX12" fmla="*/ 40532 w 85996"/>
              <a:gd name="connsiteY12" fmla="*/ 43384 h 49869"/>
              <a:gd name="connsiteX13" fmla="*/ 50260 w 85996"/>
              <a:gd name="connsiteY13" fmla="*/ 45006 h 49869"/>
              <a:gd name="connsiteX14" fmla="*/ 55123 w 85996"/>
              <a:gd name="connsiteY14" fmla="*/ 46627 h 49869"/>
              <a:gd name="connsiteX15" fmla="*/ 66472 w 85996"/>
              <a:gd name="connsiteY15" fmla="*/ 48248 h 49869"/>
              <a:gd name="connsiteX16" fmla="*/ 74579 w 85996"/>
              <a:gd name="connsiteY16" fmla="*/ 49869 h 49869"/>
              <a:gd name="connsiteX17" fmla="*/ 77821 w 85996"/>
              <a:gd name="connsiteY17" fmla="*/ 45006 h 49869"/>
              <a:gd name="connsiteX18" fmla="*/ 85928 w 85996"/>
              <a:gd name="connsiteY18" fmla="*/ 2852 h 4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996" h="49869">
                <a:moveTo>
                  <a:pt x="85928" y="2852"/>
                </a:moveTo>
                <a:cubicBezTo>
                  <a:pt x="85117" y="-3363"/>
                  <a:pt x="86618" y="1644"/>
                  <a:pt x="72957" y="7716"/>
                </a:cubicBezTo>
                <a:cubicBezTo>
                  <a:pt x="69834" y="9104"/>
                  <a:pt x="66472" y="9878"/>
                  <a:pt x="63230" y="10959"/>
                </a:cubicBezTo>
                <a:lnTo>
                  <a:pt x="43774" y="17444"/>
                </a:lnTo>
                <a:lnTo>
                  <a:pt x="34047" y="20686"/>
                </a:lnTo>
                <a:cubicBezTo>
                  <a:pt x="32426" y="21227"/>
                  <a:pt x="30879" y="22096"/>
                  <a:pt x="29183" y="22308"/>
                </a:cubicBezTo>
                <a:cubicBezTo>
                  <a:pt x="19991" y="23457"/>
                  <a:pt x="17377" y="23255"/>
                  <a:pt x="9728" y="25550"/>
                </a:cubicBezTo>
                <a:cubicBezTo>
                  <a:pt x="6454" y="26532"/>
                  <a:pt x="0" y="28793"/>
                  <a:pt x="0" y="28793"/>
                </a:cubicBezTo>
                <a:cubicBezTo>
                  <a:pt x="540" y="30414"/>
                  <a:pt x="230" y="32664"/>
                  <a:pt x="1621" y="33657"/>
                </a:cubicBezTo>
                <a:cubicBezTo>
                  <a:pt x="4402" y="35644"/>
                  <a:pt x="8106" y="35818"/>
                  <a:pt x="11349" y="36899"/>
                </a:cubicBezTo>
                <a:cubicBezTo>
                  <a:pt x="12970" y="37439"/>
                  <a:pt x="14527" y="38240"/>
                  <a:pt x="16213" y="38521"/>
                </a:cubicBezTo>
                <a:cubicBezTo>
                  <a:pt x="23249" y="39694"/>
                  <a:pt x="27252" y="40253"/>
                  <a:pt x="34047" y="41763"/>
                </a:cubicBezTo>
                <a:cubicBezTo>
                  <a:pt x="36222" y="42246"/>
                  <a:pt x="38347" y="42947"/>
                  <a:pt x="40532" y="43384"/>
                </a:cubicBezTo>
                <a:cubicBezTo>
                  <a:pt x="43756" y="44029"/>
                  <a:pt x="47051" y="44293"/>
                  <a:pt x="50260" y="45006"/>
                </a:cubicBezTo>
                <a:cubicBezTo>
                  <a:pt x="51928" y="45377"/>
                  <a:pt x="53447" y="46292"/>
                  <a:pt x="55123" y="46627"/>
                </a:cubicBezTo>
                <a:cubicBezTo>
                  <a:pt x="58870" y="47376"/>
                  <a:pt x="62703" y="47620"/>
                  <a:pt x="66472" y="48248"/>
                </a:cubicBezTo>
                <a:cubicBezTo>
                  <a:pt x="69190" y="48701"/>
                  <a:pt x="71877" y="49329"/>
                  <a:pt x="74579" y="49869"/>
                </a:cubicBezTo>
                <a:cubicBezTo>
                  <a:pt x="75660" y="48248"/>
                  <a:pt x="77348" y="46896"/>
                  <a:pt x="77821" y="45006"/>
                </a:cubicBezTo>
                <a:cubicBezTo>
                  <a:pt x="80100" y="35891"/>
                  <a:pt x="86739" y="9067"/>
                  <a:pt x="85928" y="2852"/>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 name="任意多边形 4"/>
          <p:cNvSpPr/>
          <p:nvPr/>
        </p:nvSpPr>
        <p:spPr bwMode="auto">
          <a:xfrm>
            <a:off x="215630" y="3459804"/>
            <a:ext cx="61629" cy="38911"/>
          </a:xfrm>
          <a:custGeom>
            <a:avLst/>
            <a:gdLst>
              <a:gd name="connsiteX0" fmla="*/ 0 w 61629"/>
              <a:gd name="connsiteY0" fmla="*/ 16213 h 38911"/>
              <a:gd name="connsiteX1" fmla="*/ 1621 w 61629"/>
              <a:gd name="connsiteY1" fmla="*/ 24319 h 38911"/>
              <a:gd name="connsiteX2" fmla="*/ 9727 w 61629"/>
              <a:gd name="connsiteY2" fmla="*/ 32426 h 38911"/>
              <a:gd name="connsiteX3" fmla="*/ 19455 w 61629"/>
              <a:gd name="connsiteY3" fmla="*/ 35668 h 38911"/>
              <a:gd name="connsiteX4" fmla="*/ 24319 w 61629"/>
              <a:gd name="connsiteY4" fmla="*/ 37290 h 38911"/>
              <a:gd name="connsiteX5" fmla="*/ 29183 w 61629"/>
              <a:gd name="connsiteY5" fmla="*/ 38911 h 38911"/>
              <a:gd name="connsiteX6" fmla="*/ 50259 w 61629"/>
              <a:gd name="connsiteY6" fmla="*/ 35668 h 38911"/>
              <a:gd name="connsiteX7" fmla="*/ 55123 w 61629"/>
              <a:gd name="connsiteY7" fmla="*/ 32426 h 38911"/>
              <a:gd name="connsiteX8" fmla="*/ 59987 w 61629"/>
              <a:gd name="connsiteY8" fmla="*/ 17834 h 38911"/>
              <a:gd name="connsiteX9" fmla="*/ 55123 w 61629"/>
              <a:gd name="connsiteY9" fmla="*/ 12970 h 38911"/>
              <a:gd name="connsiteX10" fmla="*/ 48638 w 61629"/>
              <a:gd name="connsiteY10" fmla="*/ 3243 h 38911"/>
              <a:gd name="connsiteX11" fmla="*/ 38910 w 61629"/>
              <a:gd name="connsiteY11" fmla="*/ 0 h 38911"/>
              <a:gd name="connsiteX12" fmla="*/ 17834 w 61629"/>
              <a:gd name="connsiteY12" fmla="*/ 1622 h 38911"/>
              <a:gd name="connsiteX13" fmla="*/ 8106 w 61629"/>
              <a:gd name="connsiteY13" fmla="*/ 4864 h 38911"/>
              <a:gd name="connsiteX14" fmla="*/ 0 w 61629"/>
              <a:gd name="connsiteY14" fmla="*/ 16213 h 3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629" h="38911">
                <a:moveTo>
                  <a:pt x="0" y="16213"/>
                </a:moveTo>
                <a:cubicBezTo>
                  <a:pt x="540" y="18915"/>
                  <a:pt x="653" y="21739"/>
                  <a:pt x="1621" y="24319"/>
                </a:cubicBezTo>
                <a:cubicBezTo>
                  <a:pt x="3026" y="28064"/>
                  <a:pt x="6162" y="30841"/>
                  <a:pt x="9727" y="32426"/>
                </a:cubicBezTo>
                <a:cubicBezTo>
                  <a:pt x="12850" y="33814"/>
                  <a:pt x="16212" y="34587"/>
                  <a:pt x="19455" y="35668"/>
                </a:cubicBezTo>
                <a:lnTo>
                  <a:pt x="24319" y="37290"/>
                </a:lnTo>
                <a:lnTo>
                  <a:pt x="29183" y="38911"/>
                </a:lnTo>
                <a:cubicBezTo>
                  <a:pt x="33847" y="38445"/>
                  <a:pt x="44412" y="38592"/>
                  <a:pt x="50259" y="35668"/>
                </a:cubicBezTo>
                <a:cubicBezTo>
                  <a:pt x="52002" y="34797"/>
                  <a:pt x="53502" y="33507"/>
                  <a:pt x="55123" y="32426"/>
                </a:cubicBezTo>
                <a:cubicBezTo>
                  <a:pt x="59302" y="26157"/>
                  <a:pt x="64267" y="24255"/>
                  <a:pt x="59987" y="17834"/>
                </a:cubicBezTo>
                <a:cubicBezTo>
                  <a:pt x="58715" y="15926"/>
                  <a:pt x="56531" y="14780"/>
                  <a:pt x="55123" y="12970"/>
                </a:cubicBezTo>
                <a:cubicBezTo>
                  <a:pt x="52731" y="9894"/>
                  <a:pt x="52335" y="4475"/>
                  <a:pt x="48638" y="3243"/>
                </a:cubicBezTo>
                <a:lnTo>
                  <a:pt x="38910" y="0"/>
                </a:lnTo>
                <a:cubicBezTo>
                  <a:pt x="31885" y="541"/>
                  <a:pt x="24794" y="523"/>
                  <a:pt x="17834" y="1622"/>
                </a:cubicBezTo>
                <a:cubicBezTo>
                  <a:pt x="14458" y="2155"/>
                  <a:pt x="8106" y="4864"/>
                  <a:pt x="8106" y="4864"/>
                </a:cubicBezTo>
                <a:lnTo>
                  <a:pt x="0" y="16213"/>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 name="任意多边形 5"/>
          <p:cNvSpPr/>
          <p:nvPr/>
        </p:nvSpPr>
        <p:spPr bwMode="auto">
          <a:xfrm>
            <a:off x="884621" y="3426611"/>
            <a:ext cx="45992" cy="59134"/>
          </a:xfrm>
          <a:custGeom>
            <a:avLst/>
            <a:gdLst>
              <a:gd name="connsiteX0" fmla="*/ 596 w 45992"/>
              <a:gd name="connsiteY0" fmla="*/ 768 h 59134"/>
              <a:gd name="connsiteX1" fmla="*/ 13566 w 45992"/>
              <a:gd name="connsiteY1" fmla="*/ 2389 h 59134"/>
              <a:gd name="connsiteX2" fmla="*/ 18430 w 45992"/>
              <a:gd name="connsiteY2" fmla="*/ 4010 h 59134"/>
              <a:gd name="connsiteX3" fmla="*/ 33022 w 45992"/>
              <a:gd name="connsiteY3" fmla="*/ 5632 h 59134"/>
              <a:gd name="connsiteX4" fmla="*/ 42749 w 45992"/>
              <a:gd name="connsiteY4" fmla="*/ 10495 h 59134"/>
              <a:gd name="connsiteX5" fmla="*/ 45992 w 45992"/>
              <a:gd name="connsiteY5" fmla="*/ 20223 h 59134"/>
              <a:gd name="connsiteX6" fmla="*/ 44370 w 45992"/>
              <a:gd name="connsiteY6" fmla="*/ 25087 h 59134"/>
              <a:gd name="connsiteX7" fmla="*/ 42749 w 45992"/>
              <a:gd name="connsiteY7" fmla="*/ 41300 h 59134"/>
              <a:gd name="connsiteX8" fmla="*/ 33022 w 45992"/>
              <a:gd name="connsiteY8" fmla="*/ 46163 h 59134"/>
              <a:gd name="connsiteX9" fmla="*/ 23294 w 45992"/>
              <a:gd name="connsiteY9" fmla="*/ 54270 h 59134"/>
              <a:gd name="connsiteX10" fmla="*/ 21673 w 45992"/>
              <a:gd name="connsiteY10" fmla="*/ 59134 h 59134"/>
              <a:gd name="connsiteX11" fmla="*/ 16809 w 45992"/>
              <a:gd name="connsiteY11" fmla="*/ 44542 h 59134"/>
              <a:gd name="connsiteX12" fmla="*/ 15188 w 45992"/>
              <a:gd name="connsiteY12" fmla="*/ 39678 h 59134"/>
              <a:gd name="connsiteX13" fmla="*/ 11945 w 45992"/>
              <a:gd name="connsiteY13" fmla="*/ 34815 h 59134"/>
              <a:gd name="connsiteX14" fmla="*/ 10324 w 45992"/>
              <a:gd name="connsiteY14" fmla="*/ 29951 h 59134"/>
              <a:gd name="connsiteX15" fmla="*/ 2217 w 45992"/>
              <a:gd name="connsiteY15" fmla="*/ 15359 h 59134"/>
              <a:gd name="connsiteX16" fmla="*/ 596 w 45992"/>
              <a:gd name="connsiteY16" fmla="*/ 768 h 59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92" h="59134">
                <a:moveTo>
                  <a:pt x="596" y="768"/>
                </a:moveTo>
                <a:cubicBezTo>
                  <a:pt x="2487" y="-1393"/>
                  <a:pt x="9279" y="1610"/>
                  <a:pt x="13566" y="2389"/>
                </a:cubicBezTo>
                <a:cubicBezTo>
                  <a:pt x="15247" y="2695"/>
                  <a:pt x="16744" y="3729"/>
                  <a:pt x="18430" y="4010"/>
                </a:cubicBezTo>
                <a:cubicBezTo>
                  <a:pt x="23257" y="4815"/>
                  <a:pt x="28158" y="5091"/>
                  <a:pt x="33022" y="5632"/>
                </a:cubicBezTo>
                <a:cubicBezTo>
                  <a:pt x="35671" y="6515"/>
                  <a:pt x="41095" y="7849"/>
                  <a:pt x="42749" y="10495"/>
                </a:cubicBezTo>
                <a:cubicBezTo>
                  <a:pt x="44561" y="13393"/>
                  <a:pt x="45992" y="20223"/>
                  <a:pt x="45992" y="20223"/>
                </a:cubicBezTo>
                <a:cubicBezTo>
                  <a:pt x="45451" y="21844"/>
                  <a:pt x="44630" y="23398"/>
                  <a:pt x="44370" y="25087"/>
                </a:cubicBezTo>
                <a:cubicBezTo>
                  <a:pt x="43544" y="30455"/>
                  <a:pt x="44467" y="36147"/>
                  <a:pt x="42749" y="41300"/>
                </a:cubicBezTo>
                <a:cubicBezTo>
                  <a:pt x="41964" y="43656"/>
                  <a:pt x="34910" y="45534"/>
                  <a:pt x="33022" y="46163"/>
                </a:cubicBezTo>
                <a:cubicBezTo>
                  <a:pt x="29434" y="48556"/>
                  <a:pt x="25790" y="50525"/>
                  <a:pt x="23294" y="54270"/>
                </a:cubicBezTo>
                <a:cubicBezTo>
                  <a:pt x="22346" y="55692"/>
                  <a:pt x="22213" y="57513"/>
                  <a:pt x="21673" y="59134"/>
                </a:cubicBezTo>
                <a:lnTo>
                  <a:pt x="16809" y="44542"/>
                </a:lnTo>
                <a:cubicBezTo>
                  <a:pt x="16269" y="42921"/>
                  <a:pt x="16136" y="41100"/>
                  <a:pt x="15188" y="39678"/>
                </a:cubicBezTo>
                <a:lnTo>
                  <a:pt x="11945" y="34815"/>
                </a:lnTo>
                <a:cubicBezTo>
                  <a:pt x="11405" y="33194"/>
                  <a:pt x="11154" y="31445"/>
                  <a:pt x="10324" y="29951"/>
                </a:cubicBezTo>
                <a:cubicBezTo>
                  <a:pt x="7781" y="25374"/>
                  <a:pt x="2927" y="21037"/>
                  <a:pt x="2217" y="15359"/>
                </a:cubicBezTo>
                <a:cubicBezTo>
                  <a:pt x="1882" y="12678"/>
                  <a:pt x="-1295" y="2929"/>
                  <a:pt x="596" y="768"/>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 name="任意多边形 6"/>
          <p:cNvSpPr/>
          <p:nvPr/>
        </p:nvSpPr>
        <p:spPr bwMode="auto">
          <a:xfrm>
            <a:off x="1137572" y="3439928"/>
            <a:ext cx="96431" cy="37573"/>
          </a:xfrm>
          <a:custGeom>
            <a:avLst/>
            <a:gdLst>
              <a:gd name="connsiteX0" fmla="*/ 63613 w 96431"/>
              <a:gd name="connsiteY0" fmla="*/ 284 h 37573"/>
              <a:gd name="connsiteX1" fmla="*/ 45779 w 96431"/>
              <a:gd name="connsiteY1" fmla="*/ 6769 h 37573"/>
              <a:gd name="connsiteX2" fmla="*/ 40915 w 96431"/>
              <a:gd name="connsiteY2" fmla="*/ 8390 h 37573"/>
              <a:gd name="connsiteX3" fmla="*/ 27945 w 96431"/>
              <a:gd name="connsiteY3" fmla="*/ 10012 h 37573"/>
              <a:gd name="connsiteX4" fmla="*/ 14975 w 96431"/>
              <a:gd name="connsiteY4" fmla="*/ 13254 h 37573"/>
              <a:gd name="connsiteX5" fmla="*/ 5247 w 96431"/>
              <a:gd name="connsiteY5" fmla="*/ 16497 h 37573"/>
              <a:gd name="connsiteX6" fmla="*/ 384 w 96431"/>
              <a:gd name="connsiteY6" fmla="*/ 19739 h 37573"/>
              <a:gd name="connsiteX7" fmla="*/ 6869 w 96431"/>
              <a:gd name="connsiteY7" fmla="*/ 26224 h 37573"/>
              <a:gd name="connsiteX8" fmla="*/ 14975 w 96431"/>
              <a:gd name="connsiteY8" fmla="*/ 27846 h 37573"/>
              <a:gd name="connsiteX9" fmla="*/ 27945 w 96431"/>
              <a:gd name="connsiteY9" fmla="*/ 31088 h 37573"/>
              <a:gd name="connsiteX10" fmla="*/ 40915 w 96431"/>
              <a:gd name="connsiteY10" fmla="*/ 32710 h 37573"/>
              <a:gd name="connsiteX11" fmla="*/ 52264 w 96431"/>
              <a:gd name="connsiteY11" fmla="*/ 35952 h 37573"/>
              <a:gd name="connsiteX12" fmla="*/ 70098 w 96431"/>
              <a:gd name="connsiteY12" fmla="*/ 37573 h 37573"/>
              <a:gd name="connsiteX13" fmla="*/ 96039 w 96431"/>
              <a:gd name="connsiteY13" fmla="*/ 35952 h 37573"/>
              <a:gd name="connsiteX14" fmla="*/ 91175 w 96431"/>
              <a:gd name="connsiteY14" fmla="*/ 32710 h 37573"/>
              <a:gd name="connsiteX15" fmla="*/ 89554 w 96431"/>
              <a:gd name="connsiteY15" fmla="*/ 27846 h 37573"/>
              <a:gd name="connsiteX16" fmla="*/ 76584 w 96431"/>
              <a:gd name="connsiteY16" fmla="*/ 16497 h 37573"/>
              <a:gd name="connsiteX17" fmla="*/ 71720 w 96431"/>
              <a:gd name="connsiteY17" fmla="*/ 14876 h 37573"/>
              <a:gd name="connsiteX18" fmla="*/ 63613 w 96431"/>
              <a:gd name="connsiteY18" fmla="*/ 284 h 3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431" h="37573">
                <a:moveTo>
                  <a:pt x="63613" y="284"/>
                </a:moveTo>
                <a:cubicBezTo>
                  <a:pt x="59289" y="-1067"/>
                  <a:pt x="58268" y="2607"/>
                  <a:pt x="45779" y="6769"/>
                </a:cubicBezTo>
                <a:cubicBezTo>
                  <a:pt x="44158" y="7309"/>
                  <a:pt x="42611" y="8178"/>
                  <a:pt x="40915" y="8390"/>
                </a:cubicBezTo>
                <a:cubicBezTo>
                  <a:pt x="36592" y="8931"/>
                  <a:pt x="32227" y="9209"/>
                  <a:pt x="27945" y="10012"/>
                </a:cubicBezTo>
                <a:cubicBezTo>
                  <a:pt x="23565" y="10833"/>
                  <a:pt x="19203" y="11845"/>
                  <a:pt x="14975" y="13254"/>
                </a:cubicBezTo>
                <a:lnTo>
                  <a:pt x="5247" y="16497"/>
                </a:lnTo>
                <a:cubicBezTo>
                  <a:pt x="3626" y="17578"/>
                  <a:pt x="1107" y="17930"/>
                  <a:pt x="384" y="19739"/>
                </a:cubicBezTo>
                <a:cubicBezTo>
                  <a:pt x="-1581" y="24653"/>
                  <a:pt x="4510" y="25634"/>
                  <a:pt x="6869" y="26224"/>
                </a:cubicBezTo>
                <a:cubicBezTo>
                  <a:pt x="9542" y="26892"/>
                  <a:pt x="12290" y="27226"/>
                  <a:pt x="14975" y="27846"/>
                </a:cubicBezTo>
                <a:cubicBezTo>
                  <a:pt x="19317" y="28848"/>
                  <a:pt x="23523" y="30535"/>
                  <a:pt x="27945" y="31088"/>
                </a:cubicBezTo>
                <a:lnTo>
                  <a:pt x="40915" y="32710"/>
                </a:lnTo>
                <a:cubicBezTo>
                  <a:pt x="44249" y="33821"/>
                  <a:pt x="48872" y="35500"/>
                  <a:pt x="52264" y="35952"/>
                </a:cubicBezTo>
                <a:cubicBezTo>
                  <a:pt x="58181" y="36741"/>
                  <a:pt x="64153" y="37033"/>
                  <a:pt x="70098" y="37573"/>
                </a:cubicBezTo>
                <a:cubicBezTo>
                  <a:pt x="78745" y="37033"/>
                  <a:pt x="87597" y="37900"/>
                  <a:pt x="96039" y="35952"/>
                </a:cubicBezTo>
                <a:cubicBezTo>
                  <a:pt x="97938" y="35514"/>
                  <a:pt x="92392" y="34231"/>
                  <a:pt x="91175" y="32710"/>
                </a:cubicBezTo>
                <a:cubicBezTo>
                  <a:pt x="90107" y="31376"/>
                  <a:pt x="90318" y="29375"/>
                  <a:pt x="89554" y="27846"/>
                </a:cubicBezTo>
                <a:cubicBezTo>
                  <a:pt x="86906" y="22551"/>
                  <a:pt x="82419" y="18442"/>
                  <a:pt x="76584" y="16497"/>
                </a:cubicBezTo>
                <a:lnTo>
                  <a:pt x="71720" y="14876"/>
                </a:lnTo>
                <a:cubicBezTo>
                  <a:pt x="61542" y="8090"/>
                  <a:pt x="67937" y="1635"/>
                  <a:pt x="63613" y="284"/>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5" name="任意多边形 94"/>
          <p:cNvSpPr/>
          <p:nvPr/>
        </p:nvSpPr>
        <p:spPr bwMode="auto">
          <a:xfrm rot="16200000">
            <a:off x="1990392" y="3539082"/>
            <a:ext cx="95655" cy="56744"/>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Lst>
            <a:ahLst/>
            <a:cxnLst>
              <a:cxn ang="0">
                <a:pos x="connsiteX0" y="connsiteY0"/>
              </a:cxn>
              <a:cxn ang="0">
                <a:pos x="connsiteX1" y="connsiteY1"/>
              </a:cxn>
              <a:cxn ang="0">
                <a:pos x="connsiteX2" y="connsiteY2"/>
              </a:cxn>
              <a:cxn ang="0">
                <a:pos x="connsiteX3" y="connsiteY3"/>
              </a:cxn>
            </a:cxnLst>
            <a:rect l="l" t="t" r="r" b="b"/>
            <a:pathLst>
              <a:path w="95655" h="56744">
                <a:moveTo>
                  <a:pt x="0" y="0"/>
                </a:move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6" name="任意多边形 95"/>
          <p:cNvSpPr/>
          <p:nvPr/>
        </p:nvSpPr>
        <p:spPr bwMode="auto">
          <a:xfrm rot="10800000">
            <a:off x="1815047" y="3541636"/>
            <a:ext cx="73903" cy="48639"/>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 name="connsiteX0" fmla="*/ 0 w 95655"/>
              <a:gd name="connsiteY0" fmla="*/ 0 h 56744"/>
              <a:gd name="connsiteX1" fmla="*/ 69715 w 95655"/>
              <a:gd name="connsiteY1" fmla="*/ 24319 h 56744"/>
              <a:gd name="connsiteX2" fmla="*/ 95655 w 95655"/>
              <a:gd name="connsiteY2" fmla="*/ 45396 h 56744"/>
              <a:gd name="connsiteX3" fmla="*/ 19455 w 95655"/>
              <a:gd name="connsiteY3" fmla="*/ 56744 h 56744"/>
              <a:gd name="connsiteX4" fmla="*/ 0 w 95655"/>
              <a:gd name="connsiteY4" fmla="*/ 0 h 5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55" h="56744">
                <a:moveTo>
                  <a:pt x="0" y="0"/>
                </a:moveTo>
                <a:cubicBezTo>
                  <a:pt x="16213" y="6485"/>
                  <a:pt x="53502" y="17834"/>
                  <a:pt x="69715" y="24319"/>
                </a:cubicBez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7" name="任意多边形 96"/>
          <p:cNvSpPr/>
          <p:nvPr/>
        </p:nvSpPr>
        <p:spPr bwMode="auto">
          <a:xfrm rot="16200000">
            <a:off x="793121" y="3546624"/>
            <a:ext cx="79456" cy="41317"/>
          </a:xfrm>
          <a:custGeom>
            <a:avLst/>
            <a:gdLst>
              <a:gd name="connsiteX0" fmla="*/ 47030 w 79456"/>
              <a:gd name="connsiteY0" fmla="*/ 2676 h 41317"/>
              <a:gd name="connsiteX1" fmla="*/ 3256 w 79456"/>
              <a:gd name="connsiteY1" fmla="*/ 2676 h 41317"/>
              <a:gd name="connsiteX2" fmla="*/ 13 w 79456"/>
              <a:gd name="connsiteY2" fmla="*/ 12404 h 41317"/>
              <a:gd name="connsiteX3" fmla="*/ 1634 w 79456"/>
              <a:gd name="connsiteY3" fmla="*/ 28616 h 41317"/>
              <a:gd name="connsiteX4" fmla="*/ 11362 w 79456"/>
              <a:gd name="connsiteY4" fmla="*/ 31859 h 41317"/>
              <a:gd name="connsiteX5" fmla="*/ 22711 w 79456"/>
              <a:gd name="connsiteY5" fmla="*/ 35101 h 41317"/>
              <a:gd name="connsiteX6" fmla="*/ 34060 w 79456"/>
              <a:gd name="connsiteY6" fmla="*/ 38344 h 41317"/>
              <a:gd name="connsiteX7" fmla="*/ 43787 w 79456"/>
              <a:gd name="connsiteY7" fmla="*/ 39965 h 41317"/>
              <a:gd name="connsiteX8" fmla="*/ 77834 w 79456"/>
              <a:gd name="connsiteY8" fmla="*/ 33480 h 41317"/>
              <a:gd name="connsiteX9" fmla="*/ 79456 w 79456"/>
              <a:gd name="connsiteY9" fmla="*/ 28616 h 41317"/>
              <a:gd name="connsiteX10" fmla="*/ 77834 w 79456"/>
              <a:gd name="connsiteY10" fmla="*/ 18889 h 41317"/>
              <a:gd name="connsiteX11" fmla="*/ 76213 w 79456"/>
              <a:gd name="connsiteY11" fmla="*/ 12404 h 41317"/>
              <a:gd name="connsiteX12" fmla="*/ 69728 w 79456"/>
              <a:gd name="connsiteY12" fmla="*/ 10782 h 41317"/>
              <a:gd name="connsiteX13" fmla="*/ 60000 w 79456"/>
              <a:gd name="connsiteY13" fmla="*/ 9161 h 41317"/>
              <a:gd name="connsiteX14" fmla="*/ 55136 w 79456"/>
              <a:gd name="connsiteY14" fmla="*/ 7540 h 41317"/>
              <a:gd name="connsiteX15" fmla="*/ 47030 w 79456"/>
              <a:gd name="connsiteY15" fmla="*/ 2676 h 4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456" h="41317">
                <a:moveTo>
                  <a:pt x="47030" y="2676"/>
                </a:moveTo>
                <a:cubicBezTo>
                  <a:pt x="38383" y="1865"/>
                  <a:pt x="22435" y="-2918"/>
                  <a:pt x="3256" y="2676"/>
                </a:cubicBezTo>
                <a:cubicBezTo>
                  <a:pt x="-25" y="3633"/>
                  <a:pt x="13" y="12404"/>
                  <a:pt x="13" y="12404"/>
                </a:cubicBezTo>
                <a:cubicBezTo>
                  <a:pt x="553" y="17808"/>
                  <a:pt x="-1103" y="23925"/>
                  <a:pt x="1634" y="28616"/>
                </a:cubicBezTo>
                <a:cubicBezTo>
                  <a:pt x="3356" y="31568"/>
                  <a:pt x="8119" y="30778"/>
                  <a:pt x="11362" y="31859"/>
                </a:cubicBezTo>
                <a:cubicBezTo>
                  <a:pt x="23028" y="35748"/>
                  <a:pt x="8456" y="31028"/>
                  <a:pt x="22711" y="35101"/>
                </a:cubicBezTo>
                <a:cubicBezTo>
                  <a:pt x="29931" y="37164"/>
                  <a:pt x="25602" y="36653"/>
                  <a:pt x="34060" y="38344"/>
                </a:cubicBezTo>
                <a:cubicBezTo>
                  <a:pt x="37283" y="38989"/>
                  <a:pt x="40545" y="39425"/>
                  <a:pt x="43787" y="39965"/>
                </a:cubicBezTo>
                <a:cubicBezTo>
                  <a:pt x="64425" y="38879"/>
                  <a:pt x="71184" y="46779"/>
                  <a:pt x="77834" y="33480"/>
                </a:cubicBezTo>
                <a:cubicBezTo>
                  <a:pt x="78598" y="31951"/>
                  <a:pt x="78915" y="30237"/>
                  <a:pt x="79456" y="28616"/>
                </a:cubicBezTo>
                <a:cubicBezTo>
                  <a:pt x="78915" y="25374"/>
                  <a:pt x="78479" y="22112"/>
                  <a:pt x="77834" y="18889"/>
                </a:cubicBezTo>
                <a:cubicBezTo>
                  <a:pt x="77397" y="16704"/>
                  <a:pt x="77788" y="13980"/>
                  <a:pt x="76213" y="12404"/>
                </a:cubicBezTo>
                <a:cubicBezTo>
                  <a:pt x="74637" y="10828"/>
                  <a:pt x="71913" y="11219"/>
                  <a:pt x="69728" y="10782"/>
                </a:cubicBezTo>
                <a:cubicBezTo>
                  <a:pt x="66504" y="10137"/>
                  <a:pt x="63209" y="9874"/>
                  <a:pt x="60000" y="9161"/>
                </a:cubicBezTo>
                <a:cubicBezTo>
                  <a:pt x="58332" y="8790"/>
                  <a:pt x="56794" y="7955"/>
                  <a:pt x="55136" y="7540"/>
                </a:cubicBezTo>
                <a:cubicBezTo>
                  <a:pt x="43988" y="4752"/>
                  <a:pt x="55677" y="3487"/>
                  <a:pt x="47030" y="2676"/>
                </a:cubicBezTo>
                <a:close/>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8" name="任意多边形 97"/>
          <p:cNvSpPr/>
          <p:nvPr/>
        </p:nvSpPr>
        <p:spPr bwMode="auto">
          <a:xfrm rot="16200000">
            <a:off x="646218" y="3469017"/>
            <a:ext cx="85996" cy="49869"/>
          </a:xfrm>
          <a:custGeom>
            <a:avLst/>
            <a:gdLst>
              <a:gd name="connsiteX0" fmla="*/ 85928 w 85996"/>
              <a:gd name="connsiteY0" fmla="*/ 2852 h 49869"/>
              <a:gd name="connsiteX1" fmla="*/ 72957 w 85996"/>
              <a:gd name="connsiteY1" fmla="*/ 7716 h 49869"/>
              <a:gd name="connsiteX2" fmla="*/ 63230 w 85996"/>
              <a:gd name="connsiteY2" fmla="*/ 10959 h 49869"/>
              <a:gd name="connsiteX3" fmla="*/ 43774 w 85996"/>
              <a:gd name="connsiteY3" fmla="*/ 17444 h 49869"/>
              <a:gd name="connsiteX4" fmla="*/ 34047 w 85996"/>
              <a:gd name="connsiteY4" fmla="*/ 20686 h 49869"/>
              <a:gd name="connsiteX5" fmla="*/ 29183 w 85996"/>
              <a:gd name="connsiteY5" fmla="*/ 22308 h 49869"/>
              <a:gd name="connsiteX6" fmla="*/ 9728 w 85996"/>
              <a:gd name="connsiteY6" fmla="*/ 25550 h 49869"/>
              <a:gd name="connsiteX7" fmla="*/ 0 w 85996"/>
              <a:gd name="connsiteY7" fmla="*/ 28793 h 49869"/>
              <a:gd name="connsiteX8" fmla="*/ 1621 w 85996"/>
              <a:gd name="connsiteY8" fmla="*/ 33657 h 49869"/>
              <a:gd name="connsiteX9" fmla="*/ 11349 w 85996"/>
              <a:gd name="connsiteY9" fmla="*/ 36899 h 49869"/>
              <a:gd name="connsiteX10" fmla="*/ 16213 w 85996"/>
              <a:gd name="connsiteY10" fmla="*/ 38521 h 49869"/>
              <a:gd name="connsiteX11" fmla="*/ 34047 w 85996"/>
              <a:gd name="connsiteY11" fmla="*/ 41763 h 49869"/>
              <a:gd name="connsiteX12" fmla="*/ 40532 w 85996"/>
              <a:gd name="connsiteY12" fmla="*/ 43384 h 49869"/>
              <a:gd name="connsiteX13" fmla="*/ 50260 w 85996"/>
              <a:gd name="connsiteY13" fmla="*/ 45006 h 49869"/>
              <a:gd name="connsiteX14" fmla="*/ 55123 w 85996"/>
              <a:gd name="connsiteY14" fmla="*/ 46627 h 49869"/>
              <a:gd name="connsiteX15" fmla="*/ 66472 w 85996"/>
              <a:gd name="connsiteY15" fmla="*/ 48248 h 49869"/>
              <a:gd name="connsiteX16" fmla="*/ 74579 w 85996"/>
              <a:gd name="connsiteY16" fmla="*/ 49869 h 49869"/>
              <a:gd name="connsiteX17" fmla="*/ 77821 w 85996"/>
              <a:gd name="connsiteY17" fmla="*/ 45006 h 49869"/>
              <a:gd name="connsiteX18" fmla="*/ 85928 w 85996"/>
              <a:gd name="connsiteY18" fmla="*/ 2852 h 4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996" h="49869">
                <a:moveTo>
                  <a:pt x="85928" y="2852"/>
                </a:moveTo>
                <a:cubicBezTo>
                  <a:pt x="85117" y="-3363"/>
                  <a:pt x="86618" y="1644"/>
                  <a:pt x="72957" y="7716"/>
                </a:cubicBezTo>
                <a:cubicBezTo>
                  <a:pt x="69834" y="9104"/>
                  <a:pt x="66472" y="9878"/>
                  <a:pt x="63230" y="10959"/>
                </a:cubicBezTo>
                <a:lnTo>
                  <a:pt x="43774" y="17444"/>
                </a:lnTo>
                <a:lnTo>
                  <a:pt x="34047" y="20686"/>
                </a:lnTo>
                <a:cubicBezTo>
                  <a:pt x="32426" y="21227"/>
                  <a:pt x="30879" y="22096"/>
                  <a:pt x="29183" y="22308"/>
                </a:cubicBezTo>
                <a:cubicBezTo>
                  <a:pt x="19991" y="23457"/>
                  <a:pt x="17377" y="23255"/>
                  <a:pt x="9728" y="25550"/>
                </a:cubicBezTo>
                <a:cubicBezTo>
                  <a:pt x="6454" y="26532"/>
                  <a:pt x="0" y="28793"/>
                  <a:pt x="0" y="28793"/>
                </a:cubicBezTo>
                <a:cubicBezTo>
                  <a:pt x="540" y="30414"/>
                  <a:pt x="230" y="32664"/>
                  <a:pt x="1621" y="33657"/>
                </a:cubicBezTo>
                <a:cubicBezTo>
                  <a:pt x="4402" y="35644"/>
                  <a:pt x="8106" y="35818"/>
                  <a:pt x="11349" y="36899"/>
                </a:cubicBezTo>
                <a:cubicBezTo>
                  <a:pt x="12970" y="37439"/>
                  <a:pt x="14527" y="38240"/>
                  <a:pt x="16213" y="38521"/>
                </a:cubicBezTo>
                <a:cubicBezTo>
                  <a:pt x="23249" y="39694"/>
                  <a:pt x="27252" y="40253"/>
                  <a:pt x="34047" y="41763"/>
                </a:cubicBezTo>
                <a:cubicBezTo>
                  <a:pt x="36222" y="42246"/>
                  <a:pt x="38347" y="42947"/>
                  <a:pt x="40532" y="43384"/>
                </a:cubicBezTo>
                <a:cubicBezTo>
                  <a:pt x="43756" y="44029"/>
                  <a:pt x="47051" y="44293"/>
                  <a:pt x="50260" y="45006"/>
                </a:cubicBezTo>
                <a:cubicBezTo>
                  <a:pt x="51928" y="45377"/>
                  <a:pt x="53447" y="46292"/>
                  <a:pt x="55123" y="46627"/>
                </a:cubicBezTo>
                <a:cubicBezTo>
                  <a:pt x="58870" y="47376"/>
                  <a:pt x="62703" y="47620"/>
                  <a:pt x="66472" y="48248"/>
                </a:cubicBezTo>
                <a:cubicBezTo>
                  <a:pt x="69190" y="48701"/>
                  <a:pt x="71877" y="49329"/>
                  <a:pt x="74579" y="49869"/>
                </a:cubicBezTo>
                <a:cubicBezTo>
                  <a:pt x="75660" y="48248"/>
                  <a:pt x="77348" y="46896"/>
                  <a:pt x="77821" y="45006"/>
                </a:cubicBezTo>
                <a:cubicBezTo>
                  <a:pt x="80100" y="35891"/>
                  <a:pt x="86739" y="9067"/>
                  <a:pt x="85928" y="2852"/>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9" name="任意多边形 98"/>
          <p:cNvSpPr/>
          <p:nvPr/>
        </p:nvSpPr>
        <p:spPr bwMode="auto">
          <a:xfrm rot="16200000">
            <a:off x="1358958" y="3405815"/>
            <a:ext cx="61629" cy="38911"/>
          </a:xfrm>
          <a:custGeom>
            <a:avLst/>
            <a:gdLst>
              <a:gd name="connsiteX0" fmla="*/ 0 w 61629"/>
              <a:gd name="connsiteY0" fmla="*/ 16213 h 38911"/>
              <a:gd name="connsiteX1" fmla="*/ 1621 w 61629"/>
              <a:gd name="connsiteY1" fmla="*/ 24319 h 38911"/>
              <a:gd name="connsiteX2" fmla="*/ 9727 w 61629"/>
              <a:gd name="connsiteY2" fmla="*/ 32426 h 38911"/>
              <a:gd name="connsiteX3" fmla="*/ 19455 w 61629"/>
              <a:gd name="connsiteY3" fmla="*/ 35668 h 38911"/>
              <a:gd name="connsiteX4" fmla="*/ 24319 w 61629"/>
              <a:gd name="connsiteY4" fmla="*/ 37290 h 38911"/>
              <a:gd name="connsiteX5" fmla="*/ 29183 w 61629"/>
              <a:gd name="connsiteY5" fmla="*/ 38911 h 38911"/>
              <a:gd name="connsiteX6" fmla="*/ 50259 w 61629"/>
              <a:gd name="connsiteY6" fmla="*/ 35668 h 38911"/>
              <a:gd name="connsiteX7" fmla="*/ 55123 w 61629"/>
              <a:gd name="connsiteY7" fmla="*/ 32426 h 38911"/>
              <a:gd name="connsiteX8" fmla="*/ 59987 w 61629"/>
              <a:gd name="connsiteY8" fmla="*/ 17834 h 38911"/>
              <a:gd name="connsiteX9" fmla="*/ 55123 w 61629"/>
              <a:gd name="connsiteY9" fmla="*/ 12970 h 38911"/>
              <a:gd name="connsiteX10" fmla="*/ 48638 w 61629"/>
              <a:gd name="connsiteY10" fmla="*/ 3243 h 38911"/>
              <a:gd name="connsiteX11" fmla="*/ 38910 w 61629"/>
              <a:gd name="connsiteY11" fmla="*/ 0 h 38911"/>
              <a:gd name="connsiteX12" fmla="*/ 17834 w 61629"/>
              <a:gd name="connsiteY12" fmla="*/ 1622 h 38911"/>
              <a:gd name="connsiteX13" fmla="*/ 8106 w 61629"/>
              <a:gd name="connsiteY13" fmla="*/ 4864 h 38911"/>
              <a:gd name="connsiteX14" fmla="*/ 0 w 61629"/>
              <a:gd name="connsiteY14" fmla="*/ 16213 h 3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629" h="38911">
                <a:moveTo>
                  <a:pt x="0" y="16213"/>
                </a:moveTo>
                <a:cubicBezTo>
                  <a:pt x="540" y="18915"/>
                  <a:pt x="653" y="21739"/>
                  <a:pt x="1621" y="24319"/>
                </a:cubicBezTo>
                <a:cubicBezTo>
                  <a:pt x="3026" y="28064"/>
                  <a:pt x="6162" y="30841"/>
                  <a:pt x="9727" y="32426"/>
                </a:cubicBezTo>
                <a:cubicBezTo>
                  <a:pt x="12850" y="33814"/>
                  <a:pt x="16212" y="34587"/>
                  <a:pt x="19455" y="35668"/>
                </a:cubicBezTo>
                <a:lnTo>
                  <a:pt x="24319" y="37290"/>
                </a:lnTo>
                <a:lnTo>
                  <a:pt x="29183" y="38911"/>
                </a:lnTo>
                <a:cubicBezTo>
                  <a:pt x="33847" y="38445"/>
                  <a:pt x="44412" y="38592"/>
                  <a:pt x="50259" y="35668"/>
                </a:cubicBezTo>
                <a:cubicBezTo>
                  <a:pt x="52002" y="34797"/>
                  <a:pt x="53502" y="33507"/>
                  <a:pt x="55123" y="32426"/>
                </a:cubicBezTo>
                <a:cubicBezTo>
                  <a:pt x="59302" y="26157"/>
                  <a:pt x="64267" y="24255"/>
                  <a:pt x="59987" y="17834"/>
                </a:cubicBezTo>
                <a:cubicBezTo>
                  <a:pt x="58715" y="15926"/>
                  <a:pt x="56531" y="14780"/>
                  <a:pt x="55123" y="12970"/>
                </a:cubicBezTo>
                <a:cubicBezTo>
                  <a:pt x="52731" y="9894"/>
                  <a:pt x="52335" y="4475"/>
                  <a:pt x="48638" y="3243"/>
                </a:cubicBezTo>
                <a:lnTo>
                  <a:pt x="38910" y="0"/>
                </a:lnTo>
                <a:cubicBezTo>
                  <a:pt x="31885" y="541"/>
                  <a:pt x="24794" y="523"/>
                  <a:pt x="17834" y="1622"/>
                </a:cubicBezTo>
                <a:cubicBezTo>
                  <a:pt x="14458" y="2155"/>
                  <a:pt x="8106" y="4864"/>
                  <a:pt x="8106" y="4864"/>
                </a:cubicBezTo>
                <a:lnTo>
                  <a:pt x="0" y="16213"/>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0" name="任意多边形 99"/>
          <p:cNvSpPr/>
          <p:nvPr/>
        </p:nvSpPr>
        <p:spPr bwMode="auto">
          <a:xfrm rot="16200000">
            <a:off x="1219349" y="3543092"/>
            <a:ext cx="45992" cy="59134"/>
          </a:xfrm>
          <a:custGeom>
            <a:avLst/>
            <a:gdLst>
              <a:gd name="connsiteX0" fmla="*/ 596 w 45992"/>
              <a:gd name="connsiteY0" fmla="*/ 768 h 59134"/>
              <a:gd name="connsiteX1" fmla="*/ 13566 w 45992"/>
              <a:gd name="connsiteY1" fmla="*/ 2389 h 59134"/>
              <a:gd name="connsiteX2" fmla="*/ 18430 w 45992"/>
              <a:gd name="connsiteY2" fmla="*/ 4010 h 59134"/>
              <a:gd name="connsiteX3" fmla="*/ 33022 w 45992"/>
              <a:gd name="connsiteY3" fmla="*/ 5632 h 59134"/>
              <a:gd name="connsiteX4" fmla="*/ 42749 w 45992"/>
              <a:gd name="connsiteY4" fmla="*/ 10495 h 59134"/>
              <a:gd name="connsiteX5" fmla="*/ 45992 w 45992"/>
              <a:gd name="connsiteY5" fmla="*/ 20223 h 59134"/>
              <a:gd name="connsiteX6" fmla="*/ 44370 w 45992"/>
              <a:gd name="connsiteY6" fmla="*/ 25087 h 59134"/>
              <a:gd name="connsiteX7" fmla="*/ 42749 w 45992"/>
              <a:gd name="connsiteY7" fmla="*/ 41300 h 59134"/>
              <a:gd name="connsiteX8" fmla="*/ 33022 w 45992"/>
              <a:gd name="connsiteY8" fmla="*/ 46163 h 59134"/>
              <a:gd name="connsiteX9" fmla="*/ 23294 w 45992"/>
              <a:gd name="connsiteY9" fmla="*/ 54270 h 59134"/>
              <a:gd name="connsiteX10" fmla="*/ 21673 w 45992"/>
              <a:gd name="connsiteY10" fmla="*/ 59134 h 59134"/>
              <a:gd name="connsiteX11" fmla="*/ 16809 w 45992"/>
              <a:gd name="connsiteY11" fmla="*/ 44542 h 59134"/>
              <a:gd name="connsiteX12" fmla="*/ 15188 w 45992"/>
              <a:gd name="connsiteY12" fmla="*/ 39678 h 59134"/>
              <a:gd name="connsiteX13" fmla="*/ 11945 w 45992"/>
              <a:gd name="connsiteY13" fmla="*/ 34815 h 59134"/>
              <a:gd name="connsiteX14" fmla="*/ 10324 w 45992"/>
              <a:gd name="connsiteY14" fmla="*/ 29951 h 59134"/>
              <a:gd name="connsiteX15" fmla="*/ 2217 w 45992"/>
              <a:gd name="connsiteY15" fmla="*/ 15359 h 59134"/>
              <a:gd name="connsiteX16" fmla="*/ 596 w 45992"/>
              <a:gd name="connsiteY16" fmla="*/ 768 h 59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92" h="59134">
                <a:moveTo>
                  <a:pt x="596" y="768"/>
                </a:moveTo>
                <a:cubicBezTo>
                  <a:pt x="2487" y="-1393"/>
                  <a:pt x="9279" y="1610"/>
                  <a:pt x="13566" y="2389"/>
                </a:cubicBezTo>
                <a:cubicBezTo>
                  <a:pt x="15247" y="2695"/>
                  <a:pt x="16744" y="3729"/>
                  <a:pt x="18430" y="4010"/>
                </a:cubicBezTo>
                <a:cubicBezTo>
                  <a:pt x="23257" y="4815"/>
                  <a:pt x="28158" y="5091"/>
                  <a:pt x="33022" y="5632"/>
                </a:cubicBezTo>
                <a:cubicBezTo>
                  <a:pt x="35671" y="6515"/>
                  <a:pt x="41095" y="7849"/>
                  <a:pt x="42749" y="10495"/>
                </a:cubicBezTo>
                <a:cubicBezTo>
                  <a:pt x="44561" y="13393"/>
                  <a:pt x="45992" y="20223"/>
                  <a:pt x="45992" y="20223"/>
                </a:cubicBezTo>
                <a:cubicBezTo>
                  <a:pt x="45451" y="21844"/>
                  <a:pt x="44630" y="23398"/>
                  <a:pt x="44370" y="25087"/>
                </a:cubicBezTo>
                <a:cubicBezTo>
                  <a:pt x="43544" y="30455"/>
                  <a:pt x="44467" y="36147"/>
                  <a:pt x="42749" y="41300"/>
                </a:cubicBezTo>
                <a:cubicBezTo>
                  <a:pt x="41964" y="43656"/>
                  <a:pt x="34910" y="45534"/>
                  <a:pt x="33022" y="46163"/>
                </a:cubicBezTo>
                <a:cubicBezTo>
                  <a:pt x="29434" y="48556"/>
                  <a:pt x="25790" y="50525"/>
                  <a:pt x="23294" y="54270"/>
                </a:cubicBezTo>
                <a:cubicBezTo>
                  <a:pt x="22346" y="55692"/>
                  <a:pt x="22213" y="57513"/>
                  <a:pt x="21673" y="59134"/>
                </a:cubicBezTo>
                <a:lnTo>
                  <a:pt x="16809" y="44542"/>
                </a:lnTo>
                <a:cubicBezTo>
                  <a:pt x="16269" y="42921"/>
                  <a:pt x="16136" y="41100"/>
                  <a:pt x="15188" y="39678"/>
                </a:cubicBezTo>
                <a:lnTo>
                  <a:pt x="11945" y="34815"/>
                </a:lnTo>
                <a:cubicBezTo>
                  <a:pt x="11405" y="33194"/>
                  <a:pt x="11154" y="31445"/>
                  <a:pt x="10324" y="29951"/>
                </a:cubicBezTo>
                <a:cubicBezTo>
                  <a:pt x="7781" y="25374"/>
                  <a:pt x="2927" y="21037"/>
                  <a:pt x="2217" y="15359"/>
                </a:cubicBezTo>
                <a:cubicBezTo>
                  <a:pt x="1882" y="12678"/>
                  <a:pt x="-1295" y="2929"/>
                  <a:pt x="596" y="768"/>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1" name="任意多边形 100"/>
          <p:cNvSpPr/>
          <p:nvPr/>
        </p:nvSpPr>
        <p:spPr bwMode="auto">
          <a:xfrm rot="16200000">
            <a:off x="1524787" y="3537069"/>
            <a:ext cx="96431" cy="37573"/>
          </a:xfrm>
          <a:custGeom>
            <a:avLst/>
            <a:gdLst>
              <a:gd name="connsiteX0" fmla="*/ 63613 w 96431"/>
              <a:gd name="connsiteY0" fmla="*/ 284 h 37573"/>
              <a:gd name="connsiteX1" fmla="*/ 45779 w 96431"/>
              <a:gd name="connsiteY1" fmla="*/ 6769 h 37573"/>
              <a:gd name="connsiteX2" fmla="*/ 40915 w 96431"/>
              <a:gd name="connsiteY2" fmla="*/ 8390 h 37573"/>
              <a:gd name="connsiteX3" fmla="*/ 27945 w 96431"/>
              <a:gd name="connsiteY3" fmla="*/ 10012 h 37573"/>
              <a:gd name="connsiteX4" fmla="*/ 14975 w 96431"/>
              <a:gd name="connsiteY4" fmla="*/ 13254 h 37573"/>
              <a:gd name="connsiteX5" fmla="*/ 5247 w 96431"/>
              <a:gd name="connsiteY5" fmla="*/ 16497 h 37573"/>
              <a:gd name="connsiteX6" fmla="*/ 384 w 96431"/>
              <a:gd name="connsiteY6" fmla="*/ 19739 h 37573"/>
              <a:gd name="connsiteX7" fmla="*/ 6869 w 96431"/>
              <a:gd name="connsiteY7" fmla="*/ 26224 h 37573"/>
              <a:gd name="connsiteX8" fmla="*/ 14975 w 96431"/>
              <a:gd name="connsiteY8" fmla="*/ 27846 h 37573"/>
              <a:gd name="connsiteX9" fmla="*/ 27945 w 96431"/>
              <a:gd name="connsiteY9" fmla="*/ 31088 h 37573"/>
              <a:gd name="connsiteX10" fmla="*/ 40915 w 96431"/>
              <a:gd name="connsiteY10" fmla="*/ 32710 h 37573"/>
              <a:gd name="connsiteX11" fmla="*/ 52264 w 96431"/>
              <a:gd name="connsiteY11" fmla="*/ 35952 h 37573"/>
              <a:gd name="connsiteX12" fmla="*/ 70098 w 96431"/>
              <a:gd name="connsiteY12" fmla="*/ 37573 h 37573"/>
              <a:gd name="connsiteX13" fmla="*/ 96039 w 96431"/>
              <a:gd name="connsiteY13" fmla="*/ 35952 h 37573"/>
              <a:gd name="connsiteX14" fmla="*/ 91175 w 96431"/>
              <a:gd name="connsiteY14" fmla="*/ 32710 h 37573"/>
              <a:gd name="connsiteX15" fmla="*/ 89554 w 96431"/>
              <a:gd name="connsiteY15" fmla="*/ 27846 h 37573"/>
              <a:gd name="connsiteX16" fmla="*/ 76584 w 96431"/>
              <a:gd name="connsiteY16" fmla="*/ 16497 h 37573"/>
              <a:gd name="connsiteX17" fmla="*/ 71720 w 96431"/>
              <a:gd name="connsiteY17" fmla="*/ 14876 h 37573"/>
              <a:gd name="connsiteX18" fmla="*/ 63613 w 96431"/>
              <a:gd name="connsiteY18" fmla="*/ 284 h 3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431" h="37573">
                <a:moveTo>
                  <a:pt x="63613" y="284"/>
                </a:moveTo>
                <a:cubicBezTo>
                  <a:pt x="59289" y="-1067"/>
                  <a:pt x="58268" y="2607"/>
                  <a:pt x="45779" y="6769"/>
                </a:cubicBezTo>
                <a:cubicBezTo>
                  <a:pt x="44158" y="7309"/>
                  <a:pt x="42611" y="8178"/>
                  <a:pt x="40915" y="8390"/>
                </a:cubicBezTo>
                <a:cubicBezTo>
                  <a:pt x="36592" y="8931"/>
                  <a:pt x="32227" y="9209"/>
                  <a:pt x="27945" y="10012"/>
                </a:cubicBezTo>
                <a:cubicBezTo>
                  <a:pt x="23565" y="10833"/>
                  <a:pt x="19203" y="11845"/>
                  <a:pt x="14975" y="13254"/>
                </a:cubicBezTo>
                <a:lnTo>
                  <a:pt x="5247" y="16497"/>
                </a:lnTo>
                <a:cubicBezTo>
                  <a:pt x="3626" y="17578"/>
                  <a:pt x="1107" y="17930"/>
                  <a:pt x="384" y="19739"/>
                </a:cubicBezTo>
                <a:cubicBezTo>
                  <a:pt x="-1581" y="24653"/>
                  <a:pt x="4510" y="25634"/>
                  <a:pt x="6869" y="26224"/>
                </a:cubicBezTo>
                <a:cubicBezTo>
                  <a:pt x="9542" y="26892"/>
                  <a:pt x="12290" y="27226"/>
                  <a:pt x="14975" y="27846"/>
                </a:cubicBezTo>
                <a:cubicBezTo>
                  <a:pt x="19317" y="28848"/>
                  <a:pt x="23523" y="30535"/>
                  <a:pt x="27945" y="31088"/>
                </a:cubicBezTo>
                <a:lnTo>
                  <a:pt x="40915" y="32710"/>
                </a:lnTo>
                <a:cubicBezTo>
                  <a:pt x="44249" y="33821"/>
                  <a:pt x="48872" y="35500"/>
                  <a:pt x="52264" y="35952"/>
                </a:cubicBezTo>
                <a:cubicBezTo>
                  <a:pt x="58181" y="36741"/>
                  <a:pt x="64153" y="37033"/>
                  <a:pt x="70098" y="37573"/>
                </a:cubicBezTo>
                <a:cubicBezTo>
                  <a:pt x="78745" y="37033"/>
                  <a:pt x="87597" y="37900"/>
                  <a:pt x="96039" y="35952"/>
                </a:cubicBezTo>
                <a:cubicBezTo>
                  <a:pt x="97938" y="35514"/>
                  <a:pt x="92392" y="34231"/>
                  <a:pt x="91175" y="32710"/>
                </a:cubicBezTo>
                <a:cubicBezTo>
                  <a:pt x="90107" y="31376"/>
                  <a:pt x="90318" y="29375"/>
                  <a:pt x="89554" y="27846"/>
                </a:cubicBezTo>
                <a:cubicBezTo>
                  <a:pt x="86906" y="22551"/>
                  <a:pt x="82419" y="18442"/>
                  <a:pt x="76584" y="16497"/>
                </a:cubicBezTo>
                <a:lnTo>
                  <a:pt x="71720" y="14876"/>
                </a:lnTo>
                <a:cubicBezTo>
                  <a:pt x="61542" y="8090"/>
                  <a:pt x="67937" y="1635"/>
                  <a:pt x="63613" y="284"/>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02" name="Oval 58"/>
          <p:cNvSpPr>
            <a:spLocks noChangeArrowheads="1"/>
          </p:cNvSpPr>
          <p:nvPr/>
        </p:nvSpPr>
        <p:spPr bwMode="auto">
          <a:xfrm>
            <a:off x="3506146" y="344864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3" name="Oval 59"/>
          <p:cNvSpPr>
            <a:spLocks noChangeArrowheads="1"/>
          </p:cNvSpPr>
          <p:nvPr/>
        </p:nvSpPr>
        <p:spPr bwMode="auto">
          <a:xfrm>
            <a:off x="2672002" y="3432498"/>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9" name="Oval 63"/>
          <p:cNvSpPr>
            <a:spLocks noChangeArrowheads="1"/>
          </p:cNvSpPr>
          <p:nvPr/>
        </p:nvSpPr>
        <p:spPr bwMode="auto">
          <a:xfrm>
            <a:off x="1794346" y="350206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1" name="Oval 64"/>
          <p:cNvSpPr>
            <a:spLocks noChangeArrowheads="1"/>
          </p:cNvSpPr>
          <p:nvPr/>
        </p:nvSpPr>
        <p:spPr bwMode="auto">
          <a:xfrm>
            <a:off x="2437557" y="339976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2" name="Oval 74"/>
          <p:cNvSpPr>
            <a:spLocks noChangeArrowheads="1"/>
          </p:cNvSpPr>
          <p:nvPr/>
        </p:nvSpPr>
        <p:spPr bwMode="auto">
          <a:xfrm>
            <a:off x="3654776" y="3576371"/>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3" name="Oval 102"/>
          <p:cNvSpPr>
            <a:spLocks noChangeArrowheads="1"/>
          </p:cNvSpPr>
          <p:nvPr/>
        </p:nvSpPr>
        <p:spPr bwMode="auto">
          <a:xfrm>
            <a:off x="2235534" y="3402104"/>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8" name="Oval 103"/>
          <p:cNvSpPr>
            <a:spLocks noChangeArrowheads="1"/>
          </p:cNvSpPr>
          <p:nvPr/>
        </p:nvSpPr>
        <p:spPr bwMode="auto">
          <a:xfrm>
            <a:off x="2088033" y="350350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9" name="Oval 105"/>
          <p:cNvSpPr>
            <a:spLocks noChangeArrowheads="1"/>
          </p:cNvSpPr>
          <p:nvPr/>
        </p:nvSpPr>
        <p:spPr bwMode="auto">
          <a:xfrm>
            <a:off x="2491228" y="3595477"/>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0" name="Oval 106"/>
          <p:cNvSpPr>
            <a:spLocks noChangeArrowheads="1"/>
          </p:cNvSpPr>
          <p:nvPr/>
        </p:nvSpPr>
        <p:spPr bwMode="auto">
          <a:xfrm>
            <a:off x="3356958" y="3524002"/>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21" name="任意多边形 120"/>
          <p:cNvSpPr/>
          <p:nvPr/>
        </p:nvSpPr>
        <p:spPr bwMode="auto">
          <a:xfrm>
            <a:off x="2282048" y="3435350"/>
            <a:ext cx="95655" cy="56744"/>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Lst>
            <a:ahLst/>
            <a:cxnLst>
              <a:cxn ang="0">
                <a:pos x="connsiteX0" y="connsiteY0"/>
              </a:cxn>
              <a:cxn ang="0">
                <a:pos x="connsiteX1" y="connsiteY1"/>
              </a:cxn>
              <a:cxn ang="0">
                <a:pos x="connsiteX2" y="connsiteY2"/>
              </a:cxn>
              <a:cxn ang="0">
                <a:pos x="connsiteX3" y="connsiteY3"/>
              </a:cxn>
            </a:cxnLst>
            <a:rect l="l" t="t" r="r" b="b"/>
            <a:pathLst>
              <a:path w="95655" h="56744">
                <a:moveTo>
                  <a:pt x="0" y="0"/>
                </a:move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2" name="任意多边形 121"/>
          <p:cNvSpPr/>
          <p:nvPr/>
        </p:nvSpPr>
        <p:spPr bwMode="auto">
          <a:xfrm rot="16200000">
            <a:off x="3714618" y="3545951"/>
            <a:ext cx="73903" cy="48639"/>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 name="connsiteX0" fmla="*/ 0 w 95655"/>
              <a:gd name="connsiteY0" fmla="*/ 0 h 56744"/>
              <a:gd name="connsiteX1" fmla="*/ 69715 w 95655"/>
              <a:gd name="connsiteY1" fmla="*/ 24319 h 56744"/>
              <a:gd name="connsiteX2" fmla="*/ 95655 w 95655"/>
              <a:gd name="connsiteY2" fmla="*/ 45396 h 56744"/>
              <a:gd name="connsiteX3" fmla="*/ 19455 w 95655"/>
              <a:gd name="connsiteY3" fmla="*/ 56744 h 56744"/>
              <a:gd name="connsiteX4" fmla="*/ 0 w 95655"/>
              <a:gd name="connsiteY4" fmla="*/ 0 h 5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55" h="56744">
                <a:moveTo>
                  <a:pt x="0" y="0"/>
                </a:moveTo>
                <a:cubicBezTo>
                  <a:pt x="16213" y="6485"/>
                  <a:pt x="53502" y="17834"/>
                  <a:pt x="69715" y="24319"/>
                </a:cubicBez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3" name="任意多边形 122"/>
          <p:cNvSpPr/>
          <p:nvPr/>
        </p:nvSpPr>
        <p:spPr bwMode="auto">
          <a:xfrm>
            <a:off x="3071511" y="3536950"/>
            <a:ext cx="79456" cy="41317"/>
          </a:xfrm>
          <a:custGeom>
            <a:avLst/>
            <a:gdLst>
              <a:gd name="connsiteX0" fmla="*/ 47030 w 79456"/>
              <a:gd name="connsiteY0" fmla="*/ 2676 h 41317"/>
              <a:gd name="connsiteX1" fmla="*/ 3256 w 79456"/>
              <a:gd name="connsiteY1" fmla="*/ 2676 h 41317"/>
              <a:gd name="connsiteX2" fmla="*/ 13 w 79456"/>
              <a:gd name="connsiteY2" fmla="*/ 12404 h 41317"/>
              <a:gd name="connsiteX3" fmla="*/ 1634 w 79456"/>
              <a:gd name="connsiteY3" fmla="*/ 28616 h 41317"/>
              <a:gd name="connsiteX4" fmla="*/ 11362 w 79456"/>
              <a:gd name="connsiteY4" fmla="*/ 31859 h 41317"/>
              <a:gd name="connsiteX5" fmla="*/ 22711 w 79456"/>
              <a:gd name="connsiteY5" fmla="*/ 35101 h 41317"/>
              <a:gd name="connsiteX6" fmla="*/ 34060 w 79456"/>
              <a:gd name="connsiteY6" fmla="*/ 38344 h 41317"/>
              <a:gd name="connsiteX7" fmla="*/ 43787 w 79456"/>
              <a:gd name="connsiteY7" fmla="*/ 39965 h 41317"/>
              <a:gd name="connsiteX8" fmla="*/ 77834 w 79456"/>
              <a:gd name="connsiteY8" fmla="*/ 33480 h 41317"/>
              <a:gd name="connsiteX9" fmla="*/ 79456 w 79456"/>
              <a:gd name="connsiteY9" fmla="*/ 28616 h 41317"/>
              <a:gd name="connsiteX10" fmla="*/ 77834 w 79456"/>
              <a:gd name="connsiteY10" fmla="*/ 18889 h 41317"/>
              <a:gd name="connsiteX11" fmla="*/ 76213 w 79456"/>
              <a:gd name="connsiteY11" fmla="*/ 12404 h 41317"/>
              <a:gd name="connsiteX12" fmla="*/ 69728 w 79456"/>
              <a:gd name="connsiteY12" fmla="*/ 10782 h 41317"/>
              <a:gd name="connsiteX13" fmla="*/ 60000 w 79456"/>
              <a:gd name="connsiteY13" fmla="*/ 9161 h 41317"/>
              <a:gd name="connsiteX14" fmla="*/ 55136 w 79456"/>
              <a:gd name="connsiteY14" fmla="*/ 7540 h 41317"/>
              <a:gd name="connsiteX15" fmla="*/ 47030 w 79456"/>
              <a:gd name="connsiteY15" fmla="*/ 2676 h 4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456" h="41317">
                <a:moveTo>
                  <a:pt x="47030" y="2676"/>
                </a:moveTo>
                <a:cubicBezTo>
                  <a:pt x="38383" y="1865"/>
                  <a:pt x="22435" y="-2918"/>
                  <a:pt x="3256" y="2676"/>
                </a:cubicBezTo>
                <a:cubicBezTo>
                  <a:pt x="-25" y="3633"/>
                  <a:pt x="13" y="12404"/>
                  <a:pt x="13" y="12404"/>
                </a:cubicBezTo>
                <a:cubicBezTo>
                  <a:pt x="553" y="17808"/>
                  <a:pt x="-1103" y="23925"/>
                  <a:pt x="1634" y="28616"/>
                </a:cubicBezTo>
                <a:cubicBezTo>
                  <a:pt x="3356" y="31568"/>
                  <a:pt x="8119" y="30778"/>
                  <a:pt x="11362" y="31859"/>
                </a:cubicBezTo>
                <a:cubicBezTo>
                  <a:pt x="23028" y="35748"/>
                  <a:pt x="8456" y="31028"/>
                  <a:pt x="22711" y="35101"/>
                </a:cubicBezTo>
                <a:cubicBezTo>
                  <a:pt x="29931" y="37164"/>
                  <a:pt x="25602" y="36653"/>
                  <a:pt x="34060" y="38344"/>
                </a:cubicBezTo>
                <a:cubicBezTo>
                  <a:pt x="37283" y="38989"/>
                  <a:pt x="40545" y="39425"/>
                  <a:pt x="43787" y="39965"/>
                </a:cubicBezTo>
                <a:cubicBezTo>
                  <a:pt x="64425" y="38879"/>
                  <a:pt x="71184" y="46779"/>
                  <a:pt x="77834" y="33480"/>
                </a:cubicBezTo>
                <a:cubicBezTo>
                  <a:pt x="78598" y="31951"/>
                  <a:pt x="78915" y="30237"/>
                  <a:pt x="79456" y="28616"/>
                </a:cubicBezTo>
                <a:cubicBezTo>
                  <a:pt x="78915" y="25374"/>
                  <a:pt x="78479" y="22112"/>
                  <a:pt x="77834" y="18889"/>
                </a:cubicBezTo>
                <a:cubicBezTo>
                  <a:pt x="77397" y="16704"/>
                  <a:pt x="77788" y="13980"/>
                  <a:pt x="76213" y="12404"/>
                </a:cubicBezTo>
                <a:cubicBezTo>
                  <a:pt x="74637" y="10828"/>
                  <a:pt x="71913" y="11219"/>
                  <a:pt x="69728" y="10782"/>
                </a:cubicBezTo>
                <a:cubicBezTo>
                  <a:pt x="66504" y="10137"/>
                  <a:pt x="63209" y="9874"/>
                  <a:pt x="60000" y="9161"/>
                </a:cubicBezTo>
                <a:cubicBezTo>
                  <a:pt x="58332" y="8790"/>
                  <a:pt x="56794" y="7955"/>
                  <a:pt x="55136" y="7540"/>
                </a:cubicBezTo>
                <a:cubicBezTo>
                  <a:pt x="43988" y="4752"/>
                  <a:pt x="55677" y="3487"/>
                  <a:pt x="47030" y="2676"/>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4" name="任意多边形 123"/>
          <p:cNvSpPr/>
          <p:nvPr/>
        </p:nvSpPr>
        <p:spPr bwMode="auto">
          <a:xfrm>
            <a:off x="2090937" y="3411923"/>
            <a:ext cx="85996" cy="49869"/>
          </a:xfrm>
          <a:custGeom>
            <a:avLst/>
            <a:gdLst>
              <a:gd name="connsiteX0" fmla="*/ 85928 w 85996"/>
              <a:gd name="connsiteY0" fmla="*/ 2852 h 49869"/>
              <a:gd name="connsiteX1" fmla="*/ 72957 w 85996"/>
              <a:gd name="connsiteY1" fmla="*/ 7716 h 49869"/>
              <a:gd name="connsiteX2" fmla="*/ 63230 w 85996"/>
              <a:gd name="connsiteY2" fmla="*/ 10959 h 49869"/>
              <a:gd name="connsiteX3" fmla="*/ 43774 w 85996"/>
              <a:gd name="connsiteY3" fmla="*/ 17444 h 49869"/>
              <a:gd name="connsiteX4" fmla="*/ 34047 w 85996"/>
              <a:gd name="connsiteY4" fmla="*/ 20686 h 49869"/>
              <a:gd name="connsiteX5" fmla="*/ 29183 w 85996"/>
              <a:gd name="connsiteY5" fmla="*/ 22308 h 49869"/>
              <a:gd name="connsiteX6" fmla="*/ 9728 w 85996"/>
              <a:gd name="connsiteY6" fmla="*/ 25550 h 49869"/>
              <a:gd name="connsiteX7" fmla="*/ 0 w 85996"/>
              <a:gd name="connsiteY7" fmla="*/ 28793 h 49869"/>
              <a:gd name="connsiteX8" fmla="*/ 1621 w 85996"/>
              <a:gd name="connsiteY8" fmla="*/ 33657 h 49869"/>
              <a:gd name="connsiteX9" fmla="*/ 11349 w 85996"/>
              <a:gd name="connsiteY9" fmla="*/ 36899 h 49869"/>
              <a:gd name="connsiteX10" fmla="*/ 16213 w 85996"/>
              <a:gd name="connsiteY10" fmla="*/ 38521 h 49869"/>
              <a:gd name="connsiteX11" fmla="*/ 34047 w 85996"/>
              <a:gd name="connsiteY11" fmla="*/ 41763 h 49869"/>
              <a:gd name="connsiteX12" fmla="*/ 40532 w 85996"/>
              <a:gd name="connsiteY12" fmla="*/ 43384 h 49869"/>
              <a:gd name="connsiteX13" fmla="*/ 50260 w 85996"/>
              <a:gd name="connsiteY13" fmla="*/ 45006 h 49869"/>
              <a:gd name="connsiteX14" fmla="*/ 55123 w 85996"/>
              <a:gd name="connsiteY14" fmla="*/ 46627 h 49869"/>
              <a:gd name="connsiteX15" fmla="*/ 66472 w 85996"/>
              <a:gd name="connsiteY15" fmla="*/ 48248 h 49869"/>
              <a:gd name="connsiteX16" fmla="*/ 74579 w 85996"/>
              <a:gd name="connsiteY16" fmla="*/ 49869 h 49869"/>
              <a:gd name="connsiteX17" fmla="*/ 77821 w 85996"/>
              <a:gd name="connsiteY17" fmla="*/ 45006 h 49869"/>
              <a:gd name="connsiteX18" fmla="*/ 85928 w 85996"/>
              <a:gd name="connsiteY18" fmla="*/ 2852 h 4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996" h="49869">
                <a:moveTo>
                  <a:pt x="85928" y="2852"/>
                </a:moveTo>
                <a:cubicBezTo>
                  <a:pt x="85117" y="-3363"/>
                  <a:pt x="86618" y="1644"/>
                  <a:pt x="72957" y="7716"/>
                </a:cubicBezTo>
                <a:cubicBezTo>
                  <a:pt x="69834" y="9104"/>
                  <a:pt x="66472" y="9878"/>
                  <a:pt x="63230" y="10959"/>
                </a:cubicBezTo>
                <a:lnTo>
                  <a:pt x="43774" y="17444"/>
                </a:lnTo>
                <a:lnTo>
                  <a:pt x="34047" y="20686"/>
                </a:lnTo>
                <a:cubicBezTo>
                  <a:pt x="32426" y="21227"/>
                  <a:pt x="30879" y="22096"/>
                  <a:pt x="29183" y="22308"/>
                </a:cubicBezTo>
                <a:cubicBezTo>
                  <a:pt x="19991" y="23457"/>
                  <a:pt x="17377" y="23255"/>
                  <a:pt x="9728" y="25550"/>
                </a:cubicBezTo>
                <a:cubicBezTo>
                  <a:pt x="6454" y="26532"/>
                  <a:pt x="0" y="28793"/>
                  <a:pt x="0" y="28793"/>
                </a:cubicBezTo>
                <a:cubicBezTo>
                  <a:pt x="540" y="30414"/>
                  <a:pt x="230" y="32664"/>
                  <a:pt x="1621" y="33657"/>
                </a:cubicBezTo>
                <a:cubicBezTo>
                  <a:pt x="4402" y="35644"/>
                  <a:pt x="8106" y="35818"/>
                  <a:pt x="11349" y="36899"/>
                </a:cubicBezTo>
                <a:cubicBezTo>
                  <a:pt x="12970" y="37439"/>
                  <a:pt x="14527" y="38240"/>
                  <a:pt x="16213" y="38521"/>
                </a:cubicBezTo>
                <a:cubicBezTo>
                  <a:pt x="23249" y="39694"/>
                  <a:pt x="27252" y="40253"/>
                  <a:pt x="34047" y="41763"/>
                </a:cubicBezTo>
                <a:cubicBezTo>
                  <a:pt x="36222" y="42246"/>
                  <a:pt x="38347" y="42947"/>
                  <a:pt x="40532" y="43384"/>
                </a:cubicBezTo>
                <a:cubicBezTo>
                  <a:pt x="43756" y="44029"/>
                  <a:pt x="47051" y="44293"/>
                  <a:pt x="50260" y="45006"/>
                </a:cubicBezTo>
                <a:cubicBezTo>
                  <a:pt x="51928" y="45377"/>
                  <a:pt x="53447" y="46292"/>
                  <a:pt x="55123" y="46627"/>
                </a:cubicBezTo>
                <a:cubicBezTo>
                  <a:pt x="58870" y="47376"/>
                  <a:pt x="62703" y="47620"/>
                  <a:pt x="66472" y="48248"/>
                </a:cubicBezTo>
                <a:cubicBezTo>
                  <a:pt x="69190" y="48701"/>
                  <a:pt x="71877" y="49329"/>
                  <a:pt x="74579" y="49869"/>
                </a:cubicBezTo>
                <a:cubicBezTo>
                  <a:pt x="75660" y="48248"/>
                  <a:pt x="77348" y="46896"/>
                  <a:pt x="77821" y="45006"/>
                </a:cubicBezTo>
                <a:cubicBezTo>
                  <a:pt x="80100" y="35891"/>
                  <a:pt x="86739" y="9067"/>
                  <a:pt x="85928" y="2852"/>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5" name="任意多边形 124"/>
          <p:cNvSpPr/>
          <p:nvPr/>
        </p:nvSpPr>
        <p:spPr bwMode="auto">
          <a:xfrm>
            <a:off x="2927284" y="3439657"/>
            <a:ext cx="61629" cy="38911"/>
          </a:xfrm>
          <a:custGeom>
            <a:avLst/>
            <a:gdLst>
              <a:gd name="connsiteX0" fmla="*/ 0 w 61629"/>
              <a:gd name="connsiteY0" fmla="*/ 16213 h 38911"/>
              <a:gd name="connsiteX1" fmla="*/ 1621 w 61629"/>
              <a:gd name="connsiteY1" fmla="*/ 24319 h 38911"/>
              <a:gd name="connsiteX2" fmla="*/ 9727 w 61629"/>
              <a:gd name="connsiteY2" fmla="*/ 32426 h 38911"/>
              <a:gd name="connsiteX3" fmla="*/ 19455 w 61629"/>
              <a:gd name="connsiteY3" fmla="*/ 35668 h 38911"/>
              <a:gd name="connsiteX4" fmla="*/ 24319 w 61629"/>
              <a:gd name="connsiteY4" fmla="*/ 37290 h 38911"/>
              <a:gd name="connsiteX5" fmla="*/ 29183 w 61629"/>
              <a:gd name="connsiteY5" fmla="*/ 38911 h 38911"/>
              <a:gd name="connsiteX6" fmla="*/ 50259 w 61629"/>
              <a:gd name="connsiteY6" fmla="*/ 35668 h 38911"/>
              <a:gd name="connsiteX7" fmla="*/ 55123 w 61629"/>
              <a:gd name="connsiteY7" fmla="*/ 32426 h 38911"/>
              <a:gd name="connsiteX8" fmla="*/ 59987 w 61629"/>
              <a:gd name="connsiteY8" fmla="*/ 17834 h 38911"/>
              <a:gd name="connsiteX9" fmla="*/ 55123 w 61629"/>
              <a:gd name="connsiteY9" fmla="*/ 12970 h 38911"/>
              <a:gd name="connsiteX10" fmla="*/ 48638 w 61629"/>
              <a:gd name="connsiteY10" fmla="*/ 3243 h 38911"/>
              <a:gd name="connsiteX11" fmla="*/ 38910 w 61629"/>
              <a:gd name="connsiteY11" fmla="*/ 0 h 38911"/>
              <a:gd name="connsiteX12" fmla="*/ 17834 w 61629"/>
              <a:gd name="connsiteY12" fmla="*/ 1622 h 38911"/>
              <a:gd name="connsiteX13" fmla="*/ 8106 w 61629"/>
              <a:gd name="connsiteY13" fmla="*/ 4864 h 38911"/>
              <a:gd name="connsiteX14" fmla="*/ 0 w 61629"/>
              <a:gd name="connsiteY14" fmla="*/ 16213 h 3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629" h="38911">
                <a:moveTo>
                  <a:pt x="0" y="16213"/>
                </a:moveTo>
                <a:cubicBezTo>
                  <a:pt x="540" y="18915"/>
                  <a:pt x="653" y="21739"/>
                  <a:pt x="1621" y="24319"/>
                </a:cubicBezTo>
                <a:cubicBezTo>
                  <a:pt x="3026" y="28064"/>
                  <a:pt x="6162" y="30841"/>
                  <a:pt x="9727" y="32426"/>
                </a:cubicBezTo>
                <a:cubicBezTo>
                  <a:pt x="12850" y="33814"/>
                  <a:pt x="16212" y="34587"/>
                  <a:pt x="19455" y="35668"/>
                </a:cubicBezTo>
                <a:lnTo>
                  <a:pt x="24319" y="37290"/>
                </a:lnTo>
                <a:lnTo>
                  <a:pt x="29183" y="38911"/>
                </a:lnTo>
                <a:cubicBezTo>
                  <a:pt x="33847" y="38445"/>
                  <a:pt x="44412" y="38592"/>
                  <a:pt x="50259" y="35668"/>
                </a:cubicBezTo>
                <a:cubicBezTo>
                  <a:pt x="52002" y="34797"/>
                  <a:pt x="53502" y="33507"/>
                  <a:pt x="55123" y="32426"/>
                </a:cubicBezTo>
                <a:cubicBezTo>
                  <a:pt x="59302" y="26157"/>
                  <a:pt x="64267" y="24255"/>
                  <a:pt x="59987" y="17834"/>
                </a:cubicBezTo>
                <a:cubicBezTo>
                  <a:pt x="58715" y="15926"/>
                  <a:pt x="56531" y="14780"/>
                  <a:pt x="55123" y="12970"/>
                </a:cubicBezTo>
                <a:cubicBezTo>
                  <a:pt x="52731" y="9894"/>
                  <a:pt x="52335" y="4475"/>
                  <a:pt x="48638" y="3243"/>
                </a:cubicBezTo>
                <a:lnTo>
                  <a:pt x="38910" y="0"/>
                </a:lnTo>
                <a:cubicBezTo>
                  <a:pt x="31885" y="541"/>
                  <a:pt x="24794" y="523"/>
                  <a:pt x="17834" y="1622"/>
                </a:cubicBezTo>
                <a:cubicBezTo>
                  <a:pt x="14458" y="2155"/>
                  <a:pt x="8106" y="4864"/>
                  <a:pt x="8106" y="4864"/>
                </a:cubicBezTo>
                <a:lnTo>
                  <a:pt x="0" y="16213"/>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6" name="任意多边形 125"/>
          <p:cNvSpPr/>
          <p:nvPr/>
        </p:nvSpPr>
        <p:spPr bwMode="auto">
          <a:xfrm>
            <a:off x="3626133" y="3454983"/>
            <a:ext cx="45992" cy="59134"/>
          </a:xfrm>
          <a:custGeom>
            <a:avLst/>
            <a:gdLst>
              <a:gd name="connsiteX0" fmla="*/ 596 w 45992"/>
              <a:gd name="connsiteY0" fmla="*/ 768 h 59134"/>
              <a:gd name="connsiteX1" fmla="*/ 13566 w 45992"/>
              <a:gd name="connsiteY1" fmla="*/ 2389 h 59134"/>
              <a:gd name="connsiteX2" fmla="*/ 18430 w 45992"/>
              <a:gd name="connsiteY2" fmla="*/ 4010 h 59134"/>
              <a:gd name="connsiteX3" fmla="*/ 33022 w 45992"/>
              <a:gd name="connsiteY3" fmla="*/ 5632 h 59134"/>
              <a:gd name="connsiteX4" fmla="*/ 42749 w 45992"/>
              <a:gd name="connsiteY4" fmla="*/ 10495 h 59134"/>
              <a:gd name="connsiteX5" fmla="*/ 45992 w 45992"/>
              <a:gd name="connsiteY5" fmla="*/ 20223 h 59134"/>
              <a:gd name="connsiteX6" fmla="*/ 44370 w 45992"/>
              <a:gd name="connsiteY6" fmla="*/ 25087 h 59134"/>
              <a:gd name="connsiteX7" fmla="*/ 42749 w 45992"/>
              <a:gd name="connsiteY7" fmla="*/ 41300 h 59134"/>
              <a:gd name="connsiteX8" fmla="*/ 33022 w 45992"/>
              <a:gd name="connsiteY8" fmla="*/ 46163 h 59134"/>
              <a:gd name="connsiteX9" fmla="*/ 23294 w 45992"/>
              <a:gd name="connsiteY9" fmla="*/ 54270 h 59134"/>
              <a:gd name="connsiteX10" fmla="*/ 21673 w 45992"/>
              <a:gd name="connsiteY10" fmla="*/ 59134 h 59134"/>
              <a:gd name="connsiteX11" fmla="*/ 16809 w 45992"/>
              <a:gd name="connsiteY11" fmla="*/ 44542 h 59134"/>
              <a:gd name="connsiteX12" fmla="*/ 15188 w 45992"/>
              <a:gd name="connsiteY12" fmla="*/ 39678 h 59134"/>
              <a:gd name="connsiteX13" fmla="*/ 11945 w 45992"/>
              <a:gd name="connsiteY13" fmla="*/ 34815 h 59134"/>
              <a:gd name="connsiteX14" fmla="*/ 10324 w 45992"/>
              <a:gd name="connsiteY14" fmla="*/ 29951 h 59134"/>
              <a:gd name="connsiteX15" fmla="*/ 2217 w 45992"/>
              <a:gd name="connsiteY15" fmla="*/ 15359 h 59134"/>
              <a:gd name="connsiteX16" fmla="*/ 596 w 45992"/>
              <a:gd name="connsiteY16" fmla="*/ 768 h 59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92" h="59134">
                <a:moveTo>
                  <a:pt x="596" y="768"/>
                </a:moveTo>
                <a:cubicBezTo>
                  <a:pt x="2487" y="-1393"/>
                  <a:pt x="9279" y="1610"/>
                  <a:pt x="13566" y="2389"/>
                </a:cubicBezTo>
                <a:cubicBezTo>
                  <a:pt x="15247" y="2695"/>
                  <a:pt x="16744" y="3729"/>
                  <a:pt x="18430" y="4010"/>
                </a:cubicBezTo>
                <a:cubicBezTo>
                  <a:pt x="23257" y="4815"/>
                  <a:pt x="28158" y="5091"/>
                  <a:pt x="33022" y="5632"/>
                </a:cubicBezTo>
                <a:cubicBezTo>
                  <a:pt x="35671" y="6515"/>
                  <a:pt x="41095" y="7849"/>
                  <a:pt x="42749" y="10495"/>
                </a:cubicBezTo>
                <a:cubicBezTo>
                  <a:pt x="44561" y="13393"/>
                  <a:pt x="45992" y="20223"/>
                  <a:pt x="45992" y="20223"/>
                </a:cubicBezTo>
                <a:cubicBezTo>
                  <a:pt x="45451" y="21844"/>
                  <a:pt x="44630" y="23398"/>
                  <a:pt x="44370" y="25087"/>
                </a:cubicBezTo>
                <a:cubicBezTo>
                  <a:pt x="43544" y="30455"/>
                  <a:pt x="44467" y="36147"/>
                  <a:pt x="42749" y="41300"/>
                </a:cubicBezTo>
                <a:cubicBezTo>
                  <a:pt x="41964" y="43656"/>
                  <a:pt x="34910" y="45534"/>
                  <a:pt x="33022" y="46163"/>
                </a:cubicBezTo>
                <a:cubicBezTo>
                  <a:pt x="29434" y="48556"/>
                  <a:pt x="25790" y="50525"/>
                  <a:pt x="23294" y="54270"/>
                </a:cubicBezTo>
                <a:cubicBezTo>
                  <a:pt x="22346" y="55692"/>
                  <a:pt x="22213" y="57513"/>
                  <a:pt x="21673" y="59134"/>
                </a:cubicBezTo>
                <a:lnTo>
                  <a:pt x="16809" y="44542"/>
                </a:lnTo>
                <a:cubicBezTo>
                  <a:pt x="16269" y="42921"/>
                  <a:pt x="16136" y="41100"/>
                  <a:pt x="15188" y="39678"/>
                </a:cubicBezTo>
                <a:lnTo>
                  <a:pt x="11945" y="34815"/>
                </a:lnTo>
                <a:cubicBezTo>
                  <a:pt x="11405" y="33194"/>
                  <a:pt x="11154" y="31445"/>
                  <a:pt x="10324" y="29951"/>
                </a:cubicBezTo>
                <a:cubicBezTo>
                  <a:pt x="7781" y="25374"/>
                  <a:pt x="2927" y="21037"/>
                  <a:pt x="2217" y="15359"/>
                </a:cubicBezTo>
                <a:cubicBezTo>
                  <a:pt x="1882" y="12678"/>
                  <a:pt x="-1295" y="2929"/>
                  <a:pt x="596" y="768"/>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8" name="任意多边形 127"/>
          <p:cNvSpPr/>
          <p:nvPr/>
        </p:nvSpPr>
        <p:spPr bwMode="auto">
          <a:xfrm rot="16200000">
            <a:off x="3177996" y="3438865"/>
            <a:ext cx="95655" cy="56744"/>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Lst>
            <a:ahLst/>
            <a:cxnLst>
              <a:cxn ang="0">
                <a:pos x="connsiteX0" y="connsiteY0"/>
              </a:cxn>
              <a:cxn ang="0">
                <a:pos x="connsiteX1" y="connsiteY1"/>
              </a:cxn>
              <a:cxn ang="0">
                <a:pos x="connsiteX2" y="connsiteY2"/>
              </a:cxn>
              <a:cxn ang="0">
                <a:pos x="connsiteX3" y="connsiteY3"/>
              </a:cxn>
            </a:cxnLst>
            <a:rect l="l" t="t" r="r" b="b"/>
            <a:pathLst>
              <a:path w="95655" h="56744">
                <a:moveTo>
                  <a:pt x="0" y="0"/>
                </a:move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29" name="任意多边形 128"/>
          <p:cNvSpPr/>
          <p:nvPr/>
        </p:nvSpPr>
        <p:spPr bwMode="auto">
          <a:xfrm rot="10800000">
            <a:off x="2762943" y="3437330"/>
            <a:ext cx="73903" cy="48639"/>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 name="connsiteX0" fmla="*/ 0 w 95655"/>
              <a:gd name="connsiteY0" fmla="*/ 0 h 56744"/>
              <a:gd name="connsiteX1" fmla="*/ 69715 w 95655"/>
              <a:gd name="connsiteY1" fmla="*/ 24319 h 56744"/>
              <a:gd name="connsiteX2" fmla="*/ 95655 w 95655"/>
              <a:gd name="connsiteY2" fmla="*/ 45396 h 56744"/>
              <a:gd name="connsiteX3" fmla="*/ 19455 w 95655"/>
              <a:gd name="connsiteY3" fmla="*/ 56744 h 56744"/>
              <a:gd name="connsiteX4" fmla="*/ 0 w 95655"/>
              <a:gd name="connsiteY4" fmla="*/ 0 h 5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55" h="56744">
                <a:moveTo>
                  <a:pt x="0" y="0"/>
                </a:moveTo>
                <a:cubicBezTo>
                  <a:pt x="16213" y="6485"/>
                  <a:pt x="53502" y="17834"/>
                  <a:pt x="69715" y="24319"/>
                </a:cubicBez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0" name="任意多边形 129"/>
          <p:cNvSpPr/>
          <p:nvPr/>
        </p:nvSpPr>
        <p:spPr bwMode="auto">
          <a:xfrm rot="16200000">
            <a:off x="2183561" y="3476563"/>
            <a:ext cx="79456" cy="41317"/>
          </a:xfrm>
          <a:custGeom>
            <a:avLst/>
            <a:gdLst>
              <a:gd name="connsiteX0" fmla="*/ 47030 w 79456"/>
              <a:gd name="connsiteY0" fmla="*/ 2676 h 41317"/>
              <a:gd name="connsiteX1" fmla="*/ 3256 w 79456"/>
              <a:gd name="connsiteY1" fmla="*/ 2676 h 41317"/>
              <a:gd name="connsiteX2" fmla="*/ 13 w 79456"/>
              <a:gd name="connsiteY2" fmla="*/ 12404 h 41317"/>
              <a:gd name="connsiteX3" fmla="*/ 1634 w 79456"/>
              <a:gd name="connsiteY3" fmla="*/ 28616 h 41317"/>
              <a:gd name="connsiteX4" fmla="*/ 11362 w 79456"/>
              <a:gd name="connsiteY4" fmla="*/ 31859 h 41317"/>
              <a:gd name="connsiteX5" fmla="*/ 22711 w 79456"/>
              <a:gd name="connsiteY5" fmla="*/ 35101 h 41317"/>
              <a:gd name="connsiteX6" fmla="*/ 34060 w 79456"/>
              <a:gd name="connsiteY6" fmla="*/ 38344 h 41317"/>
              <a:gd name="connsiteX7" fmla="*/ 43787 w 79456"/>
              <a:gd name="connsiteY7" fmla="*/ 39965 h 41317"/>
              <a:gd name="connsiteX8" fmla="*/ 77834 w 79456"/>
              <a:gd name="connsiteY8" fmla="*/ 33480 h 41317"/>
              <a:gd name="connsiteX9" fmla="*/ 79456 w 79456"/>
              <a:gd name="connsiteY9" fmla="*/ 28616 h 41317"/>
              <a:gd name="connsiteX10" fmla="*/ 77834 w 79456"/>
              <a:gd name="connsiteY10" fmla="*/ 18889 h 41317"/>
              <a:gd name="connsiteX11" fmla="*/ 76213 w 79456"/>
              <a:gd name="connsiteY11" fmla="*/ 12404 h 41317"/>
              <a:gd name="connsiteX12" fmla="*/ 69728 w 79456"/>
              <a:gd name="connsiteY12" fmla="*/ 10782 h 41317"/>
              <a:gd name="connsiteX13" fmla="*/ 60000 w 79456"/>
              <a:gd name="connsiteY13" fmla="*/ 9161 h 41317"/>
              <a:gd name="connsiteX14" fmla="*/ 55136 w 79456"/>
              <a:gd name="connsiteY14" fmla="*/ 7540 h 41317"/>
              <a:gd name="connsiteX15" fmla="*/ 47030 w 79456"/>
              <a:gd name="connsiteY15" fmla="*/ 2676 h 4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456" h="41317">
                <a:moveTo>
                  <a:pt x="47030" y="2676"/>
                </a:moveTo>
                <a:cubicBezTo>
                  <a:pt x="38383" y="1865"/>
                  <a:pt x="22435" y="-2918"/>
                  <a:pt x="3256" y="2676"/>
                </a:cubicBezTo>
                <a:cubicBezTo>
                  <a:pt x="-25" y="3633"/>
                  <a:pt x="13" y="12404"/>
                  <a:pt x="13" y="12404"/>
                </a:cubicBezTo>
                <a:cubicBezTo>
                  <a:pt x="553" y="17808"/>
                  <a:pt x="-1103" y="23925"/>
                  <a:pt x="1634" y="28616"/>
                </a:cubicBezTo>
                <a:cubicBezTo>
                  <a:pt x="3356" y="31568"/>
                  <a:pt x="8119" y="30778"/>
                  <a:pt x="11362" y="31859"/>
                </a:cubicBezTo>
                <a:cubicBezTo>
                  <a:pt x="23028" y="35748"/>
                  <a:pt x="8456" y="31028"/>
                  <a:pt x="22711" y="35101"/>
                </a:cubicBezTo>
                <a:cubicBezTo>
                  <a:pt x="29931" y="37164"/>
                  <a:pt x="25602" y="36653"/>
                  <a:pt x="34060" y="38344"/>
                </a:cubicBezTo>
                <a:cubicBezTo>
                  <a:pt x="37283" y="38989"/>
                  <a:pt x="40545" y="39425"/>
                  <a:pt x="43787" y="39965"/>
                </a:cubicBezTo>
                <a:cubicBezTo>
                  <a:pt x="64425" y="38879"/>
                  <a:pt x="71184" y="46779"/>
                  <a:pt x="77834" y="33480"/>
                </a:cubicBezTo>
                <a:cubicBezTo>
                  <a:pt x="78598" y="31951"/>
                  <a:pt x="78915" y="30237"/>
                  <a:pt x="79456" y="28616"/>
                </a:cubicBezTo>
                <a:cubicBezTo>
                  <a:pt x="78915" y="25374"/>
                  <a:pt x="78479" y="22112"/>
                  <a:pt x="77834" y="18889"/>
                </a:cubicBezTo>
                <a:cubicBezTo>
                  <a:pt x="77397" y="16704"/>
                  <a:pt x="77788" y="13980"/>
                  <a:pt x="76213" y="12404"/>
                </a:cubicBezTo>
                <a:cubicBezTo>
                  <a:pt x="74637" y="10828"/>
                  <a:pt x="71913" y="11219"/>
                  <a:pt x="69728" y="10782"/>
                </a:cubicBezTo>
                <a:cubicBezTo>
                  <a:pt x="66504" y="10137"/>
                  <a:pt x="63209" y="9874"/>
                  <a:pt x="60000" y="9161"/>
                </a:cubicBezTo>
                <a:cubicBezTo>
                  <a:pt x="58332" y="8790"/>
                  <a:pt x="56794" y="7955"/>
                  <a:pt x="55136" y="7540"/>
                </a:cubicBezTo>
                <a:cubicBezTo>
                  <a:pt x="43988" y="4752"/>
                  <a:pt x="55677" y="3487"/>
                  <a:pt x="47030" y="2676"/>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1" name="任意多边形 130"/>
          <p:cNvSpPr/>
          <p:nvPr/>
        </p:nvSpPr>
        <p:spPr bwMode="auto">
          <a:xfrm rot="16200000">
            <a:off x="3391462" y="3512015"/>
            <a:ext cx="85996" cy="49869"/>
          </a:xfrm>
          <a:custGeom>
            <a:avLst/>
            <a:gdLst>
              <a:gd name="connsiteX0" fmla="*/ 85928 w 85996"/>
              <a:gd name="connsiteY0" fmla="*/ 2852 h 49869"/>
              <a:gd name="connsiteX1" fmla="*/ 72957 w 85996"/>
              <a:gd name="connsiteY1" fmla="*/ 7716 h 49869"/>
              <a:gd name="connsiteX2" fmla="*/ 63230 w 85996"/>
              <a:gd name="connsiteY2" fmla="*/ 10959 h 49869"/>
              <a:gd name="connsiteX3" fmla="*/ 43774 w 85996"/>
              <a:gd name="connsiteY3" fmla="*/ 17444 h 49869"/>
              <a:gd name="connsiteX4" fmla="*/ 34047 w 85996"/>
              <a:gd name="connsiteY4" fmla="*/ 20686 h 49869"/>
              <a:gd name="connsiteX5" fmla="*/ 29183 w 85996"/>
              <a:gd name="connsiteY5" fmla="*/ 22308 h 49869"/>
              <a:gd name="connsiteX6" fmla="*/ 9728 w 85996"/>
              <a:gd name="connsiteY6" fmla="*/ 25550 h 49869"/>
              <a:gd name="connsiteX7" fmla="*/ 0 w 85996"/>
              <a:gd name="connsiteY7" fmla="*/ 28793 h 49869"/>
              <a:gd name="connsiteX8" fmla="*/ 1621 w 85996"/>
              <a:gd name="connsiteY8" fmla="*/ 33657 h 49869"/>
              <a:gd name="connsiteX9" fmla="*/ 11349 w 85996"/>
              <a:gd name="connsiteY9" fmla="*/ 36899 h 49869"/>
              <a:gd name="connsiteX10" fmla="*/ 16213 w 85996"/>
              <a:gd name="connsiteY10" fmla="*/ 38521 h 49869"/>
              <a:gd name="connsiteX11" fmla="*/ 34047 w 85996"/>
              <a:gd name="connsiteY11" fmla="*/ 41763 h 49869"/>
              <a:gd name="connsiteX12" fmla="*/ 40532 w 85996"/>
              <a:gd name="connsiteY12" fmla="*/ 43384 h 49869"/>
              <a:gd name="connsiteX13" fmla="*/ 50260 w 85996"/>
              <a:gd name="connsiteY13" fmla="*/ 45006 h 49869"/>
              <a:gd name="connsiteX14" fmla="*/ 55123 w 85996"/>
              <a:gd name="connsiteY14" fmla="*/ 46627 h 49869"/>
              <a:gd name="connsiteX15" fmla="*/ 66472 w 85996"/>
              <a:gd name="connsiteY15" fmla="*/ 48248 h 49869"/>
              <a:gd name="connsiteX16" fmla="*/ 74579 w 85996"/>
              <a:gd name="connsiteY16" fmla="*/ 49869 h 49869"/>
              <a:gd name="connsiteX17" fmla="*/ 77821 w 85996"/>
              <a:gd name="connsiteY17" fmla="*/ 45006 h 49869"/>
              <a:gd name="connsiteX18" fmla="*/ 85928 w 85996"/>
              <a:gd name="connsiteY18" fmla="*/ 2852 h 4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996" h="49869">
                <a:moveTo>
                  <a:pt x="85928" y="2852"/>
                </a:moveTo>
                <a:cubicBezTo>
                  <a:pt x="85117" y="-3363"/>
                  <a:pt x="86618" y="1644"/>
                  <a:pt x="72957" y="7716"/>
                </a:cubicBezTo>
                <a:cubicBezTo>
                  <a:pt x="69834" y="9104"/>
                  <a:pt x="66472" y="9878"/>
                  <a:pt x="63230" y="10959"/>
                </a:cubicBezTo>
                <a:lnTo>
                  <a:pt x="43774" y="17444"/>
                </a:lnTo>
                <a:lnTo>
                  <a:pt x="34047" y="20686"/>
                </a:lnTo>
                <a:cubicBezTo>
                  <a:pt x="32426" y="21227"/>
                  <a:pt x="30879" y="22096"/>
                  <a:pt x="29183" y="22308"/>
                </a:cubicBezTo>
                <a:cubicBezTo>
                  <a:pt x="19991" y="23457"/>
                  <a:pt x="17377" y="23255"/>
                  <a:pt x="9728" y="25550"/>
                </a:cubicBezTo>
                <a:cubicBezTo>
                  <a:pt x="6454" y="26532"/>
                  <a:pt x="0" y="28793"/>
                  <a:pt x="0" y="28793"/>
                </a:cubicBezTo>
                <a:cubicBezTo>
                  <a:pt x="540" y="30414"/>
                  <a:pt x="230" y="32664"/>
                  <a:pt x="1621" y="33657"/>
                </a:cubicBezTo>
                <a:cubicBezTo>
                  <a:pt x="4402" y="35644"/>
                  <a:pt x="8106" y="35818"/>
                  <a:pt x="11349" y="36899"/>
                </a:cubicBezTo>
                <a:cubicBezTo>
                  <a:pt x="12970" y="37439"/>
                  <a:pt x="14527" y="38240"/>
                  <a:pt x="16213" y="38521"/>
                </a:cubicBezTo>
                <a:cubicBezTo>
                  <a:pt x="23249" y="39694"/>
                  <a:pt x="27252" y="40253"/>
                  <a:pt x="34047" y="41763"/>
                </a:cubicBezTo>
                <a:cubicBezTo>
                  <a:pt x="36222" y="42246"/>
                  <a:pt x="38347" y="42947"/>
                  <a:pt x="40532" y="43384"/>
                </a:cubicBezTo>
                <a:cubicBezTo>
                  <a:pt x="43756" y="44029"/>
                  <a:pt x="47051" y="44293"/>
                  <a:pt x="50260" y="45006"/>
                </a:cubicBezTo>
                <a:cubicBezTo>
                  <a:pt x="51928" y="45377"/>
                  <a:pt x="53447" y="46292"/>
                  <a:pt x="55123" y="46627"/>
                </a:cubicBezTo>
                <a:cubicBezTo>
                  <a:pt x="58870" y="47376"/>
                  <a:pt x="62703" y="47620"/>
                  <a:pt x="66472" y="48248"/>
                </a:cubicBezTo>
                <a:cubicBezTo>
                  <a:pt x="69190" y="48701"/>
                  <a:pt x="71877" y="49329"/>
                  <a:pt x="74579" y="49869"/>
                </a:cubicBezTo>
                <a:cubicBezTo>
                  <a:pt x="75660" y="48248"/>
                  <a:pt x="77348" y="46896"/>
                  <a:pt x="77821" y="45006"/>
                </a:cubicBezTo>
                <a:cubicBezTo>
                  <a:pt x="80100" y="35891"/>
                  <a:pt x="86739" y="9067"/>
                  <a:pt x="85928" y="2852"/>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2" name="任意多边形 131"/>
          <p:cNvSpPr/>
          <p:nvPr/>
        </p:nvSpPr>
        <p:spPr bwMode="auto">
          <a:xfrm rot="16200000">
            <a:off x="1648256" y="3463889"/>
            <a:ext cx="61629" cy="38911"/>
          </a:xfrm>
          <a:custGeom>
            <a:avLst/>
            <a:gdLst>
              <a:gd name="connsiteX0" fmla="*/ 0 w 61629"/>
              <a:gd name="connsiteY0" fmla="*/ 16213 h 38911"/>
              <a:gd name="connsiteX1" fmla="*/ 1621 w 61629"/>
              <a:gd name="connsiteY1" fmla="*/ 24319 h 38911"/>
              <a:gd name="connsiteX2" fmla="*/ 9727 w 61629"/>
              <a:gd name="connsiteY2" fmla="*/ 32426 h 38911"/>
              <a:gd name="connsiteX3" fmla="*/ 19455 w 61629"/>
              <a:gd name="connsiteY3" fmla="*/ 35668 h 38911"/>
              <a:gd name="connsiteX4" fmla="*/ 24319 w 61629"/>
              <a:gd name="connsiteY4" fmla="*/ 37290 h 38911"/>
              <a:gd name="connsiteX5" fmla="*/ 29183 w 61629"/>
              <a:gd name="connsiteY5" fmla="*/ 38911 h 38911"/>
              <a:gd name="connsiteX6" fmla="*/ 50259 w 61629"/>
              <a:gd name="connsiteY6" fmla="*/ 35668 h 38911"/>
              <a:gd name="connsiteX7" fmla="*/ 55123 w 61629"/>
              <a:gd name="connsiteY7" fmla="*/ 32426 h 38911"/>
              <a:gd name="connsiteX8" fmla="*/ 59987 w 61629"/>
              <a:gd name="connsiteY8" fmla="*/ 17834 h 38911"/>
              <a:gd name="connsiteX9" fmla="*/ 55123 w 61629"/>
              <a:gd name="connsiteY9" fmla="*/ 12970 h 38911"/>
              <a:gd name="connsiteX10" fmla="*/ 48638 w 61629"/>
              <a:gd name="connsiteY10" fmla="*/ 3243 h 38911"/>
              <a:gd name="connsiteX11" fmla="*/ 38910 w 61629"/>
              <a:gd name="connsiteY11" fmla="*/ 0 h 38911"/>
              <a:gd name="connsiteX12" fmla="*/ 17834 w 61629"/>
              <a:gd name="connsiteY12" fmla="*/ 1622 h 38911"/>
              <a:gd name="connsiteX13" fmla="*/ 8106 w 61629"/>
              <a:gd name="connsiteY13" fmla="*/ 4864 h 38911"/>
              <a:gd name="connsiteX14" fmla="*/ 0 w 61629"/>
              <a:gd name="connsiteY14" fmla="*/ 16213 h 3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629" h="38911">
                <a:moveTo>
                  <a:pt x="0" y="16213"/>
                </a:moveTo>
                <a:cubicBezTo>
                  <a:pt x="540" y="18915"/>
                  <a:pt x="653" y="21739"/>
                  <a:pt x="1621" y="24319"/>
                </a:cubicBezTo>
                <a:cubicBezTo>
                  <a:pt x="3026" y="28064"/>
                  <a:pt x="6162" y="30841"/>
                  <a:pt x="9727" y="32426"/>
                </a:cubicBezTo>
                <a:cubicBezTo>
                  <a:pt x="12850" y="33814"/>
                  <a:pt x="16212" y="34587"/>
                  <a:pt x="19455" y="35668"/>
                </a:cubicBezTo>
                <a:lnTo>
                  <a:pt x="24319" y="37290"/>
                </a:lnTo>
                <a:lnTo>
                  <a:pt x="29183" y="38911"/>
                </a:lnTo>
                <a:cubicBezTo>
                  <a:pt x="33847" y="38445"/>
                  <a:pt x="44412" y="38592"/>
                  <a:pt x="50259" y="35668"/>
                </a:cubicBezTo>
                <a:cubicBezTo>
                  <a:pt x="52002" y="34797"/>
                  <a:pt x="53502" y="33507"/>
                  <a:pt x="55123" y="32426"/>
                </a:cubicBezTo>
                <a:cubicBezTo>
                  <a:pt x="59302" y="26157"/>
                  <a:pt x="64267" y="24255"/>
                  <a:pt x="59987" y="17834"/>
                </a:cubicBezTo>
                <a:cubicBezTo>
                  <a:pt x="58715" y="15926"/>
                  <a:pt x="56531" y="14780"/>
                  <a:pt x="55123" y="12970"/>
                </a:cubicBezTo>
                <a:cubicBezTo>
                  <a:pt x="52731" y="9894"/>
                  <a:pt x="52335" y="4475"/>
                  <a:pt x="48638" y="3243"/>
                </a:cubicBezTo>
                <a:lnTo>
                  <a:pt x="38910" y="0"/>
                </a:lnTo>
                <a:cubicBezTo>
                  <a:pt x="31885" y="541"/>
                  <a:pt x="24794" y="523"/>
                  <a:pt x="17834" y="1622"/>
                </a:cubicBezTo>
                <a:cubicBezTo>
                  <a:pt x="14458" y="2155"/>
                  <a:pt x="8106" y="4864"/>
                  <a:pt x="8106" y="4864"/>
                </a:cubicBezTo>
                <a:lnTo>
                  <a:pt x="0" y="16213"/>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4" name="任意多边形 133"/>
          <p:cNvSpPr/>
          <p:nvPr/>
        </p:nvSpPr>
        <p:spPr bwMode="auto">
          <a:xfrm rot="16200000">
            <a:off x="1859649" y="3469948"/>
            <a:ext cx="96431" cy="37573"/>
          </a:xfrm>
          <a:custGeom>
            <a:avLst/>
            <a:gdLst>
              <a:gd name="connsiteX0" fmla="*/ 63613 w 96431"/>
              <a:gd name="connsiteY0" fmla="*/ 284 h 37573"/>
              <a:gd name="connsiteX1" fmla="*/ 45779 w 96431"/>
              <a:gd name="connsiteY1" fmla="*/ 6769 h 37573"/>
              <a:gd name="connsiteX2" fmla="*/ 40915 w 96431"/>
              <a:gd name="connsiteY2" fmla="*/ 8390 h 37573"/>
              <a:gd name="connsiteX3" fmla="*/ 27945 w 96431"/>
              <a:gd name="connsiteY3" fmla="*/ 10012 h 37573"/>
              <a:gd name="connsiteX4" fmla="*/ 14975 w 96431"/>
              <a:gd name="connsiteY4" fmla="*/ 13254 h 37573"/>
              <a:gd name="connsiteX5" fmla="*/ 5247 w 96431"/>
              <a:gd name="connsiteY5" fmla="*/ 16497 h 37573"/>
              <a:gd name="connsiteX6" fmla="*/ 384 w 96431"/>
              <a:gd name="connsiteY6" fmla="*/ 19739 h 37573"/>
              <a:gd name="connsiteX7" fmla="*/ 6869 w 96431"/>
              <a:gd name="connsiteY7" fmla="*/ 26224 h 37573"/>
              <a:gd name="connsiteX8" fmla="*/ 14975 w 96431"/>
              <a:gd name="connsiteY8" fmla="*/ 27846 h 37573"/>
              <a:gd name="connsiteX9" fmla="*/ 27945 w 96431"/>
              <a:gd name="connsiteY9" fmla="*/ 31088 h 37573"/>
              <a:gd name="connsiteX10" fmla="*/ 40915 w 96431"/>
              <a:gd name="connsiteY10" fmla="*/ 32710 h 37573"/>
              <a:gd name="connsiteX11" fmla="*/ 52264 w 96431"/>
              <a:gd name="connsiteY11" fmla="*/ 35952 h 37573"/>
              <a:gd name="connsiteX12" fmla="*/ 70098 w 96431"/>
              <a:gd name="connsiteY12" fmla="*/ 37573 h 37573"/>
              <a:gd name="connsiteX13" fmla="*/ 96039 w 96431"/>
              <a:gd name="connsiteY13" fmla="*/ 35952 h 37573"/>
              <a:gd name="connsiteX14" fmla="*/ 91175 w 96431"/>
              <a:gd name="connsiteY14" fmla="*/ 32710 h 37573"/>
              <a:gd name="connsiteX15" fmla="*/ 89554 w 96431"/>
              <a:gd name="connsiteY15" fmla="*/ 27846 h 37573"/>
              <a:gd name="connsiteX16" fmla="*/ 76584 w 96431"/>
              <a:gd name="connsiteY16" fmla="*/ 16497 h 37573"/>
              <a:gd name="connsiteX17" fmla="*/ 71720 w 96431"/>
              <a:gd name="connsiteY17" fmla="*/ 14876 h 37573"/>
              <a:gd name="connsiteX18" fmla="*/ 63613 w 96431"/>
              <a:gd name="connsiteY18" fmla="*/ 284 h 3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431" h="37573">
                <a:moveTo>
                  <a:pt x="63613" y="284"/>
                </a:moveTo>
                <a:cubicBezTo>
                  <a:pt x="59289" y="-1067"/>
                  <a:pt x="58268" y="2607"/>
                  <a:pt x="45779" y="6769"/>
                </a:cubicBezTo>
                <a:cubicBezTo>
                  <a:pt x="44158" y="7309"/>
                  <a:pt x="42611" y="8178"/>
                  <a:pt x="40915" y="8390"/>
                </a:cubicBezTo>
                <a:cubicBezTo>
                  <a:pt x="36592" y="8931"/>
                  <a:pt x="32227" y="9209"/>
                  <a:pt x="27945" y="10012"/>
                </a:cubicBezTo>
                <a:cubicBezTo>
                  <a:pt x="23565" y="10833"/>
                  <a:pt x="19203" y="11845"/>
                  <a:pt x="14975" y="13254"/>
                </a:cubicBezTo>
                <a:lnTo>
                  <a:pt x="5247" y="16497"/>
                </a:lnTo>
                <a:cubicBezTo>
                  <a:pt x="3626" y="17578"/>
                  <a:pt x="1107" y="17930"/>
                  <a:pt x="384" y="19739"/>
                </a:cubicBezTo>
                <a:cubicBezTo>
                  <a:pt x="-1581" y="24653"/>
                  <a:pt x="4510" y="25634"/>
                  <a:pt x="6869" y="26224"/>
                </a:cubicBezTo>
                <a:cubicBezTo>
                  <a:pt x="9542" y="26892"/>
                  <a:pt x="12290" y="27226"/>
                  <a:pt x="14975" y="27846"/>
                </a:cubicBezTo>
                <a:cubicBezTo>
                  <a:pt x="19317" y="28848"/>
                  <a:pt x="23523" y="30535"/>
                  <a:pt x="27945" y="31088"/>
                </a:cubicBezTo>
                <a:lnTo>
                  <a:pt x="40915" y="32710"/>
                </a:lnTo>
                <a:cubicBezTo>
                  <a:pt x="44249" y="33821"/>
                  <a:pt x="48872" y="35500"/>
                  <a:pt x="52264" y="35952"/>
                </a:cubicBezTo>
                <a:cubicBezTo>
                  <a:pt x="58181" y="36741"/>
                  <a:pt x="64153" y="37033"/>
                  <a:pt x="70098" y="37573"/>
                </a:cubicBezTo>
                <a:cubicBezTo>
                  <a:pt x="78745" y="37033"/>
                  <a:pt x="87597" y="37900"/>
                  <a:pt x="96039" y="35952"/>
                </a:cubicBezTo>
                <a:cubicBezTo>
                  <a:pt x="97938" y="35514"/>
                  <a:pt x="92392" y="34231"/>
                  <a:pt x="91175" y="32710"/>
                </a:cubicBezTo>
                <a:cubicBezTo>
                  <a:pt x="90107" y="31376"/>
                  <a:pt x="90318" y="29375"/>
                  <a:pt x="89554" y="27846"/>
                </a:cubicBezTo>
                <a:cubicBezTo>
                  <a:pt x="86906" y="22551"/>
                  <a:pt x="82419" y="18442"/>
                  <a:pt x="76584" y="16497"/>
                </a:cubicBezTo>
                <a:lnTo>
                  <a:pt x="71720" y="14876"/>
                </a:lnTo>
                <a:cubicBezTo>
                  <a:pt x="61542" y="8090"/>
                  <a:pt x="67937" y="1635"/>
                  <a:pt x="63613" y="284"/>
                </a:cubicBez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35" name="Oval 58"/>
          <p:cNvSpPr>
            <a:spLocks noChangeArrowheads="1"/>
          </p:cNvSpPr>
          <p:nvPr/>
        </p:nvSpPr>
        <p:spPr bwMode="auto">
          <a:xfrm>
            <a:off x="1125070" y="3530502"/>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6" name="Oval 59"/>
          <p:cNvSpPr>
            <a:spLocks noChangeArrowheads="1"/>
          </p:cNvSpPr>
          <p:nvPr/>
        </p:nvSpPr>
        <p:spPr bwMode="auto">
          <a:xfrm>
            <a:off x="1018595" y="3490952"/>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7" name="Oval 62"/>
          <p:cNvSpPr>
            <a:spLocks noChangeArrowheads="1"/>
          </p:cNvSpPr>
          <p:nvPr/>
        </p:nvSpPr>
        <p:spPr bwMode="auto">
          <a:xfrm>
            <a:off x="1434084" y="360069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8" name="Oval 63"/>
          <p:cNvSpPr>
            <a:spLocks noChangeArrowheads="1"/>
          </p:cNvSpPr>
          <p:nvPr/>
        </p:nvSpPr>
        <p:spPr bwMode="auto">
          <a:xfrm>
            <a:off x="1579072" y="3424708"/>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39" name="Oval 64"/>
          <p:cNvSpPr>
            <a:spLocks noChangeArrowheads="1"/>
          </p:cNvSpPr>
          <p:nvPr/>
        </p:nvSpPr>
        <p:spPr bwMode="auto">
          <a:xfrm>
            <a:off x="2165763" y="3583948"/>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0" name="Oval 74"/>
          <p:cNvSpPr>
            <a:spLocks noChangeArrowheads="1"/>
          </p:cNvSpPr>
          <p:nvPr/>
        </p:nvSpPr>
        <p:spPr bwMode="auto">
          <a:xfrm>
            <a:off x="1239777" y="349327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1" name="Oval 102"/>
          <p:cNvSpPr>
            <a:spLocks noChangeArrowheads="1"/>
          </p:cNvSpPr>
          <p:nvPr/>
        </p:nvSpPr>
        <p:spPr bwMode="auto">
          <a:xfrm>
            <a:off x="480941" y="3553661"/>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2" name="Oval 103"/>
          <p:cNvSpPr>
            <a:spLocks noChangeArrowheads="1"/>
          </p:cNvSpPr>
          <p:nvPr/>
        </p:nvSpPr>
        <p:spPr bwMode="auto">
          <a:xfrm>
            <a:off x="3568652" y="3512387"/>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3" name="Oval 105"/>
          <p:cNvSpPr>
            <a:spLocks noChangeArrowheads="1"/>
          </p:cNvSpPr>
          <p:nvPr/>
        </p:nvSpPr>
        <p:spPr bwMode="auto">
          <a:xfrm>
            <a:off x="242260" y="353695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4" name="Oval 106"/>
          <p:cNvSpPr>
            <a:spLocks noChangeArrowheads="1"/>
          </p:cNvSpPr>
          <p:nvPr/>
        </p:nvSpPr>
        <p:spPr bwMode="auto">
          <a:xfrm>
            <a:off x="655670" y="3516487"/>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5" name="Oval 63"/>
          <p:cNvSpPr>
            <a:spLocks noChangeArrowheads="1"/>
          </p:cNvSpPr>
          <p:nvPr/>
        </p:nvSpPr>
        <p:spPr bwMode="auto">
          <a:xfrm>
            <a:off x="1954210" y="342681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6" name="Oval 64"/>
          <p:cNvSpPr>
            <a:spLocks noChangeArrowheads="1"/>
          </p:cNvSpPr>
          <p:nvPr/>
        </p:nvSpPr>
        <p:spPr bwMode="auto">
          <a:xfrm>
            <a:off x="1033611" y="3417804"/>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7" name="Oval 103"/>
          <p:cNvSpPr>
            <a:spLocks noChangeArrowheads="1"/>
          </p:cNvSpPr>
          <p:nvPr/>
        </p:nvSpPr>
        <p:spPr bwMode="auto">
          <a:xfrm>
            <a:off x="796054" y="3435698"/>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8" name="Oval 58"/>
          <p:cNvSpPr>
            <a:spLocks noChangeArrowheads="1"/>
          </p:cNvSpPr>
          <p:nvPr/>
        </p:nvSpPr>
        <p:spPr bwMode="auto">
          <a:xfrm>
            <a:off x="3085326" y="3424609"/>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9" name="Oval 59"/>
          <p:cNvSpPr>
            <a:spLocks noChangeArrowheads="1"/>
          </p:cNvSpPr>
          <p:nvPr/>
        </p:nvSpPr>
        <p:spPr bwMode="auto">
          <a:xfrm>
            <a:off x="3287658" y="3599200"/>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2" name="Oval 74"/>
          <p:cNvSpPr>
            <a:spLocks noChangeArrowheads="1"/>
          </p:cNvSpPr>
          <p:nvPr/>
        </p:nvSpPr>
        <p:spPr bwMode="auto">
          <a:xfrm>
            <a:off x="3233956" y="353023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3" name="Oval 103"/>
          <p:cNvSpPr>
            <a:spLocks noChangeArrowheads="1"/>
          </p:cNvSpPr>
          <p:nvPr/>
        </p:nvSpPr>
        <p:spPr bwMode="auto">
          <a:xfrm>
            <a:off x="2892763" y="3474334"/>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4" name="Oval 58"/>
          <p:cNvSpPr>
            <a:spLocks noChangeArrowheads="1"/>
          </p:cNvSpPr>
          <p:nvPr/>
        </p:nvSpPr>
        <p:spPr bwMode="auto">
          <a:xfrm>
            <a:off x="2577118" y="3450113"/>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5" name="Oval 59"/>
          <p:cNvSpPr>
            <a:spLocks noChangeArrowheads="1"/>
          </p:cNvSpPr>
          <p:nvPr/>
        </p:nvSpPr>
        <p:spPr bwMode="auto">
          <a:xfrm>
            <a:off x="3339287" y="3445556"/>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7" name="Oval 63"/>
          <p:cNvSpPr>
            <a:spLocks noChangeArrowheads="1"/>
          </p:cNvSpPr>
          <p:nvPr/>
        </p:nvSpPr>
        <p:spPr bwMode="auto">
          <a:xfrm>
            <a:off x="3731803" y="3409705"/>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8" name="Oval 102"/>
          <p:cNvSpPr>
            <a:spLocks noChangeArrowheads="1"/>
          </p:cNvSpPr>
          <p:nvPr/>
        </p:nvSpPr>
        <p:spPr bwMode="auto">
          <a:xfrm>
            <a:off x="2829263" y="3544184"/>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59" name="Oval 103"/>
          <p:cNvSpPr>
            <a:spLocks noChangeArrowheads="1"/>
          </p:cNvSpPr>
          <p:nvPr/>
        </p:nvSpPr>
        <p:spPr bwMode="auto">
          <a:xfrm>
            <a:off x="2349003" y="3532807"/>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0" name="Oval 106"/>
          <p:cNvSpPr>
            <a:spLocks noChangeArrowheads="1"/>
          </p:cNvSpPr>
          <p:nvPr/>
        </p:nvSpPr>
        <p:spPr bwMode="auto">
          <a:xfrm>
            <a:off x="3003992" y="3477154"/>
            <a:ext cx="14400" cy="14400"/>
          </a:xfrm>
          <a:prstGeom prst="ellipse">
            <a:avLst/>
          </a:prstGeom>
          <a:solidFill>
            <a:schemeClr val="tx1"/>
          </a:solidFill>
          <a:ln w="9525">
            <a:solidFill>
              <a:srgbClr val="000066"/>
            </a:solidFill>
            <a:round/>
            <a:headEnd/>
            <a:tailEnd/>
          </a:ln>
          <a:effectLs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1" name="任意多边形 160"/>
          <p:cNvSpPr/>
          <p:nvPr/>
        </p:nvSpPr>
        <p:spPr bwMode="auto">
          <a:xfrm rot="16200000">
            <a:off x="2463694" y="3475679"/>
            <a:ext cx="73903" cy="48639"/>
          </a:xfrm>
          <a:custGeom>
            <a:avLst/>
            <a:gdLst>
              <a:gd name="connsiteX0" fmla="*/ 0 w 95655"/>
              <a:gd name="connsiteY0" fmla="*/ 0 h 56744"/>
              <a:gd name="connsiteX1" fmla="*/ 95655 w 95655"/>
              <a:gd name="connsiteY1" fmla="*/ 45396 h 56744"/>
              <a:gd name="connsiteX2" fmla="*/ 19455 w 95655"/>
              <a:gd name="connsiteY2" fmla="*/ 56744 h 56744"/>
              <a:gd name="connsiteX3" fmla="*/ 0 w 95655"/>
              <a:gd name="connsiteY3" fmla="*/ 0 h 56744"/>
              <a:gd name="connsiteX0" fmla="*/ 0 w 95655"/>
              <a:gd name="connsiteY0" fmla="*/ 0 h 56744"/>
              <a:gd name="connsiteX1" fmla="*/ 69715 w 95655"/>
              <a:gd name="connsiteY1" fmla="*/ 24319 h 56744"/>
              <a:gd name="connsiteX2" fmla="*/ 95655 w 95655"/>
              <a:gd name="connsiteY2" fmla="*/ 45396 h 56744"/>
              <a:gd name="connsiteX3" fmla="*/ 19455 w 95655"/>
              <a:gd name="connsiteY3" fmla="*/ 56744 h 56744"/>
              <a:gd name="connsiteX4" fmla="*/ 0 w 95655"/>
              <a:gd name="connsiteY4" fmla="*/ 0 h 5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55" h="56744">
                <a:moveTo>
                  <a:pt x="0" y="0"/>
                </a:moveTo>
                <a:cubicBezTo>
                  <a:pt x="16213" y="6485"/>
                  <a:pt x="53502" y="17834"/>
                  <a:pt x="69715" y="24319"/>
                </a:cubicBezTo>
                <a:lnTo>
                  <a:pt x="95655" y="45396"/>
                </a:lnTo>
                <a:lnTo>
                  <a:pt x="19455" y="56744"/>
                </a:lnTo>
                <a:lnTo>
                  <a:pt x="0" y="0"/>
                </a:lnTo>
                <a:close/>
              </a:path>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51" name="Text Box 9"/>
          <p:cNvSpPr txBox="1">
            <a:spLocks noChangeArrowheads="1"/>
          </p:cNvSpPr>
          <p:nvPr/>
        </p:nvSpPr>
        <p:spPr bwMode="auto">
          <a:xfrm>
            <a:off x="6890583" y="3346513"/>
            <a:ext cx="537906" cy="110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80000"/>
              </a:lnSpc>
              <a:spcBef>
                <a:spcPts val="0"/>
              </a:spcBef>
              <a:spcAft>
                <a:spcPts val="0"/>
              </a:spcAft>
            </a:pPr>
            <a:r>
              <a:rPr lang="en-US" altLang="zh-CN" sz="4000" b="1" dirty="0" smtClean="0">
                <a:solidFill>
                  <a:srgbClr val="A50021"/>
                </a:solidFill>
                <a:latin typeface="Times New Roman" panose="02020603050405020304" pitchFamily="18" charset="0"/>
                <a:cs typeface="Times New Roman" panose="02020603050405020304" pitchFamily="18" charset="0"/>
                <a:sym typeface="Wingdings" panose="05000000000000000000" pitchFamily="2" charset="2"/>
              </a:rPr>
              <a:t></a:t>
            </a:r>
          </a:p>
          <a:p>
            <a:pPr algn="l">
              <a:lnSpc>
                <a:spcPct val="80000"/>
              </a:lnSpc>
              <a:spcBef>
                <a:spcPts val="0"/>
              </a:spcBef>
              <a:spcAft>
                <a:spcPts val="0"/>
              </a:spcAft>
            </a:pPr>
            <a:r>
              <a:rPr lang="en-US" altLang="zh-CN" sz="4000" b="1" dirty="0" smtClean="0">
                <a:solidFill>
                  <a:srgbClr val="A50021"/>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4000" b="1" dirty="0">
              <a:solidFill>
                <a:srgbClr val="A50021"/>
              </a:solidFill>
              <a:latin typeface="Times New Roman" panose="02020603050405020304" pitchFamily="18" charset="0"/>
              <a:cs typeface="Times New Roman" panose="02020603050405020304" pitchFamily="18" charset="0"/>
            </a:endParaRPr>
          </a:p>
        </p:txBody>
      </p:sp>
      <p:sp>
        <p:nvSpPr>
          <p:cNvPr id="162" name="Text Box 9"/>
          <p:cNvSpPr txBox="1">
            <a:spLocks noChangeArrowheads="1"/>
          </p:cNvSpPr>
          <p:nvPr/>
        </p:nvSpPr>
        <p:spPr bwMode="auto">
          <a:xfrm>
            <a:off x="5999110" y="3612202"/>
            <a:ext cx="6835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80000"/>
              </a:lnSpc>
              <a:spcBef>
                <a:spcPts val="0"/>
              </a:spcBef>
              <a:spcAft>
                <a:spcPts val="0"/>
              </a:spcAft>
            </a:pPr>
            <a:r>
              <a:rPr lang="zh-CN" altLang="en-US" sz="4000" b="1" dirty="0" smtClean="0">
                <a:solidFill>
                  <a:srgbClr val="A50021"/>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4000" b="1" dirty="0">
              <a:solidFill>
                <a:srgbClr val="A500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34975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wipe(up)">
                                      <p:cBhvr>
                                        <p:cTn id="11" dur="500"/>
                                        <p:tgtEl>
                                          <p:spTgt spid="1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par>
                          <p:cTn id="17" fill="hold">
                            <p:stCondLst>
                              <p:cond delay="500"/>
                            </p:stCondLst>
                            <p:childTnLst>
                              <p:par>
                                <p:cTn id="18" presetID="22" presetClass="entr" presetSubtype="8" repeatCount="3000" fill="hold" grpId="0" nodeType="afterEffect">
                                  <p:stCondLst>
                                    <p:cond delay="0"/>
                                  </p:stCondLst>
                                  <p:childTnLst>
                                    <p:set>
                                      <p:cBhvr>
                                        <p:cTn id="19" dur="1" fill="hold">
                                          <p:stCondLst>
                                            <p:cond delay="0"/>
                                          </p:stCondLst>
                                        </p:cTn>
                                        <p:tgtEl>
                                          <p:spTgt spid="162"/>
                                        </p:tgtEl>
                                        <p:attrNameLst>
                                          <p:attrName>style.visibility</p:attrName>
                                        </p:attrNameLst>
                                      </p:cBhvr>
                                      <p:to>
                                        <p:strVal val="visible"/>
                                      </p:to>
                                    </p:set>
                                    <p:animEffect transition="in" filter="wipe(left)">
                                      <p:cBhvr>
                                        <p:cTn id="20" dur="500"/>
                                        <p:tgtEl>
                                          <p:spTgt spid="16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51"/>
                                        </p:tgtEl>
                                        <p:attrNameLst>
                                          <p:attrName>style.visibility</p:attrName>
                                        </p:attrNameLst>
                                      </p:cBhvr>
                                      <p:to>
                                        <p:strVal val="visible"/>
                                      </p:to>
                                    </p:set>
                                    <p:animEffect transition="in" filter="wipe(up)">
                                      <p:cBhvr>
                                        <p:cTn id="25" dur="500"/>
                                        <p:tgtEl>
                                          <p:spTgt spid="1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up)">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326"/>
                                        </p:tgtEl>
                                        <p:attrNameLst>
                                          <p:attrName>style.visibility</p:attrName>
                                        </p:attrNameLst>
                                      </p:cBhvr>
                                      <p:to>
                                        <p:strVal val="visible"/>
                                      </p:to>
                                    </p:set>
                                    <p:anim calcmode="lin" valueType="num">
                                      <p:cBhvr>
                                        <p:cTn id="35" dur="1000" fill="hold"/>
                                        <p:tgtEl>
                                          <p:spTgt spid="326"/>
                                        </p:tgtEl>
                                        <p:attrNameLst>
                                          <p:attrName>ppt_w</p:attrName>
                                        </p:attrNameLst>
                                      </p:cBhvr>
                                      <p:tavLst>
                                        <p:tav tm="0">
                                          <p:val>
                                            <p:fltVal val="0"/>
                                          </p:val>
                                        </p:tav>
                                        <p:tav tm="100000">
                                          <p:val>
                                            <p:strVal val="#ppt_w"/>
                                          </p:val>
                                        </p:tav>
                                      </p:tavLst>
                                    </p:anim>
                                    <p:anim calcmode="lin" valueType="num">
                                      <p:cBhvr>
                                        <p:cTn id="36" dur="1000" fill="hold"/>
                                        <p:tgtEl>
                                          <p:spTgt spid="326"/>
                                        </p:tgtEl>
                                        <p:attrNameLst>
                                          <p:attrName>ppt_h</p:attrName>
                                        </p:attrNameLst>
                                      </p:cBhvr>
                                      <p:tavLst>
                                        <p:tav tm="0">
                                          <p:val>
                                            <p:fltVal val="0"/>
                                          </p:val>
                                        </p:tav>
                                        <p:tav tm="100000">
                                          <p:val>
                                            <p:strVal val="#ppt_h"/>
                                          </p:val>
                                        </p:tav>
                                      </p:tavLst>
                                    </p:anim>
                                    <p:anim calcmode="lin" valueType="num">
                                      <p:cBhvr>
                                        <p:cTn id="37" dur="1000" fill="hold"/>
                                        <p:tgtEl>
                                          <p:spTgt spid="326"/>
                                        </p:tgtEl>
                                        <p:attrNameLst>
                                          <p:attrName>style.rotation</p:attrName>
                                        </p:attrNameLst>
                                      </p:cBhvr>
                                      <p:tavLst>
                                        <p:tav tm="0">
                                          <p:val>
                                            <p:fltVal val="90"/>
                                          </p:val>
                                        </p:tav>
                                        <p:tav tm="100000">
                                          <p:val>
                                            <p:fltVal val="0"/>
                                          </p:val>
                                        </p:tav>
                                      </p:tavLst>
                                    </p:anim>
                                    <p:animEffect transition="in" filter="fade">
                                      <p:cBhvr>
                                        <p:cTn id="38" dur="10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 grpId="0" animBg="1" autoUpdateAnimBg="0"/>
      <p:bldP spid="110" grpId="0"/>
      <p:bldP spid="151" grpId="0"/>
      <p:bldP spid="16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bwMode="auto">
          <a:xfrm>
            <a:off x="6738072" y="1243135"/>
            <a:ext cx="1877611" cy="2304992"/>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1481960"/>
              <a:gd name="connsiteY0" fmla="*/ 280664 h 1688973"/>
              <a:gd name="connsiteX1" fmla="*/ 290339 w 1481960"/>
              <a:gd name="connsiteY1" fmla="*/ 1688973 h 1688973"/>
              <a:gd name="connsiteX2" fmla="*/ 1481960 w 1481960"/>
              <a:gd name="connsiteY2" fmla="*/ 0 h 1688973"/>
              <a:gd name="connsiteX3" fmla="*/ 0 w 1481960"/>
              <a:gd name="connsiteY3" fmla="*/ 280664 h 1688973"/>
              <a:gd name="connsiteX0" fmla="*/ 0 w 1481960"/>
              <a:gd name="connsiteY0" fmla="*/ 280664 h 1819283"/>
              <a:gd name="connsiteX1" fmla="*/ 781508 w 1481960"/>
              <a:gd name="connsiteY1" fmla="*/ 1819283 h 1819283"/>
              <a:gd name="connsiteX2" fmla="*/ 1481960 w 1481960"/>
              <a:gd name="connsiteY2" fmla="*/ 0 h 1819283"/>
              <a:gd name="connsiteX3" fmla="*/ 0 w 1481960"/>
              <a:gd name="connsiteY3" fmla="*/ 280664 h 1819283"/>
              <a:gd name="connsiteX0" fmla="*/ 0 w 1481960"/>
              <a:gd name="connsiteY0" fmla="*/ 280664 h 1819283"/>
              <a:gd name="connsiteX1" fmla="*/ 1455 w 1481960"/>
              <a:gd name="connsiteY1" fmla="*/ 266290 h 1819283"/>
              <a:gd name="connsiteX2" fmla="*/ 781508 w 1481960"/>
              <a:gd name="connsiteY2" fmla="*/ 1819283 h 1819283"/>
              <a:gd name="connsiteX3" fmla="*/ 1481960 w 1481960"/>
              <a:gd name="connsiteY3" fmla="*/ 0 h 1819283"/>
              <a:gd name="connsiteX4" fmla="*/ 0 w 1481960"/>
              <a:gd name="connsiteY4" fmla="*/ 280664 h 1819283"/>
              <a:gd name="connsiteX0" fmla="*/ 5849 w 1487809"/>
              <a:gd name="connsiteY0" fmla="*/ 280664 h 1819283"/>
              <a:gd name="connsiteX1" fmla="*/ 135 w 1487809"/>
              <a:gd name="connsiteY1" fmla="*/ 263900 h 1819283"/>
              <a:gd name="connsiteX2" fmla="*/ 787357 w 1487809"/>
              <a:gd name="connsiteY2" fmla="*/ 1819283 h 1819283"/>
              <a:gd name="connsiteX3" fmla="*/ 1487809 w 1487809"/>
              <a:gd name="connsiteY3" fmla="*/ 0 h 1819283"/>
              <a:gd name="connsiteX4" fmla="*/ 5849 w 1487809"/>
              <a:gd name="connsiteY4" fmla="*/ 280664 h 1819283"/>
              <a:gd name="connsiteX0" fmla="*/ 781508 w 1481960"/>
              <a:gd name="connsiteY0" fmla="*/ 1819283 h 1819283"/>
              <a:gd name="connsiteX1" fmla="*/ 1481960 w 1481960"/>
              <a:gd name="connsiteY1" fmla="*/ 0 h 1819283"/>
              <a:gd name="connsiteX2" fmla="*/ 0 w 1481960"/>
              <a:gd name="connsiteY2" fmla="*/ 280664 h 1819283"/>
              <a:gd name="connsiteX3" fmla="*/ 66458 w 1481960"/>
              <a:gd name="connsiteY3" fmla="*/ 336072 h 1819283"/>
              <a:gd name="connsiteX0" fmla="*/ 781508 w 1481960"/>
              <a:gd name="connsiteY0" fmla="*/ 1819283 h 1819283"/>
              <a:gd name="connsiteX1" fmla="*/ 1481960 w 1481960"/>
              <a:gd name="connsiteY1" fmla="*/ 0 h 1819283"/>
              <a:gd name="connsiteX2" fmla="*/ 0 w 1481960"/>
              <a:gd name="connsiteY2" fmla="*/ 280664 h 1819283"/>
              <a:gd name="connsiteX0" fmla="*/ 781508 w 1481960"/>
              <a:gd name="connsiteY0" fmla="*/ 1819283 h 1819283"/>
              <a:gd name="connsiteX1" fmla="*/ 1481960 w 1481960"/>
              <a:gd name="connsiteY1" fmla="*/ 0 h 1819283"/>
              <a:gd name="connsiteX2" fmla="*/ 0 w 1481960"/>
              <a:gd name="connsiteY2" fmla="*/ 268715 h 1819283"/>
            </a:gdLst>
            <a:ahLst/>
            <a:cxnLst>
              <a:cxn ang="0">
                <a:pos x="connsiteX0" y="connsiteY0"/>
              </a:cxn>
              <a:cxn ang="0">
                <a:pos x="connsiteX1" y="connsiteY1"/>
              </a:cxn>
              <a:cxn ang="0">
                <a:pos x="connsiteX2" y="connsiteY2"/>
              </a:cxn>
            </a:cxnLst>
            <a:rect l="l" t="t" r="r" b="b"/>
            <a:pathLst>
              <a:path w="1481960" h="1819283">
                <a:moveTo>
                  <a:pt x="781508" y="1819283"/>
                </a:moveTo>
                <a:lnTo>
                  <a:pt x="1481960" y="0"/>
                </a:lnTo>
                <a:lnTo>
                  <a:pt x="0" y="268715"/>
                </a:lnTo>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5386030" y="1737101"/>
            <a:ext cx="2335794" cy="1801640"/>
          </a:xfrm>
          <a:custGeom>
            <a:avLst/>
            <a:gdLst>
              <a:gd name="connsiteX0" fmla="*/ 0 w 2335794"/>
              <a:gd name="connsiteY0" fmla="*/ 0 h 1801640"/>
              <a:gd name="connsiteX1" fmla="*/ 529627 w 2335794"/>
              <a:gd name="connsiteY1" fmla="*/ 0 h 1801640"/>
              <a:gd name="connsiteX2" fmla="*/ 2335794 w 2335794"/>
              <a:gd name="connsiteY2" fmla="*/ 1801640 h 1801640"/>
              <a:gd name="connsiteX3" fmla="*/ 9053 w 2335794"/>
              <a:gd name="connsiteY3" fmla="*/ 1801640 h 1801640"/>
            </a:gdLst>
            <a:ahLst/>
            <a:cxnLst>
              <a:cxn ang="0">
                <a:pos x="connsiteX0" y="connsiteY0"/>
              </a:cxn>
              <a:cxn ang="0">
                <a:pos x="connsiteX1" y="connsiteY1"/>
              </a:cxn>
              <a:cxn ang="0">
                <a:pos x="connsiteX2" y="connsiteY2"/>
              </a:cxn>
              <a:cxn ang="0">
                <a:pos x="connsiteX3" y="connsiteY3"/>
              </a:cxn>
            </a:cxnLst>
            <a:rect l="l" t="t" r="r" b="b"/>
            <a:pathLst>
              <a:path w="2335794" h="1801640">
                <a:moveTo>
                  <a:pt x="0" y="0"/>
                </a:moveTo>
                <a:lnTo>
                  <a:pt x="529627" y="0"/>
                </a:lnTo>
                <a:lnTo>
                  <a:pt x="2335794" y="1801640"/>
                </a:lnTo>
                <a:lnTo>
                  <a:pt x="9053" y="1801640"/>
                </a:lnTo>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82</a:t>
            </a:fld>
            <a:endParaRPr lang="zh-CN" altLang="en-US" dirty="0">
              <a:solidFill>
                <a:srgbClr val="C00000"/>
              </a:solidFill>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4.  </a:t>
            </a:r>
            <a:r>
              <a:rPr kumimoji="1" lang="zh-CN" altLang="en-US" sz="4000" b="1" dirty="0" smtClean="0">
                <a:solidFill>
                  <a:srgbClr val="000066"/>
                </a:solidFill>
                <a:ea typeface="黑体" pitchFamily="2" charset="-122"/>
                <a:cs typeface="Times New Roman" panose="02020603050405020304" pitchFamily="18" charset="0"/>
              </a:rPr>
              <a:t>坦 墙</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556226"/>
            <a:ext cx="3868807"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坦墙及第二滑裂面</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8" name="Line 60"/>
          <p:cNvSpPr>
            <a:spLocks noChangeShapeType="1"/>
          </p:cNvSpPr>
          <p:nvPr/>
        </p:nvSpPr>
        <p:spPr bwMode="auto">
          <a:xfrm>
            <a:off x="5907909" y="1740593"/>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61"/>
          <p:cNvSpPr>
            <a:spLocks noChangeArrowheads="1"/>
          </p:cNvSpPr>
          <p:nvPr/>
        </p:nvSpPr>
        <p:spPr bwMode="auto">
          <a:xfrm>
            <a:off x="5893874" y="1887656"/>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10" name="Line 70"/>
          <p:cNvSpPr>
            <a:spLocks noChangeShapeType="1"/>
          </p:cNvSpPr>
          <p:nvPr/>
        </p:nvSpPr>
        <p:spPr bwMode="auto">
          <a:xfrm flipV="1">
            <a:off x="7736451" y="1232399"/>
            <a:ext cx="867511" cy="2301647"/>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任意多边形 15"/>
          <p:cNvSpPr/>
          <p:nvPr/>
        </p:nvSpPr>
        <p:spPr bwMode="auto">
          <a:xfrm rot="18139897">
            <a:off x="5927938" y="1837087"/>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7712452" y="3544431"/>
            <a:ext cx="12305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75"/>
          <p:cNvSpPr txBox="1">
            <a:spLocks noChangeArrowheads="1"/>
          </p:cNvSpPr>
          <p:nvPr/>
        </p:nvSpPr>
        <p:spPr bwMode="auto">
          <a:xfrm>
            <a:off x="5756319" y="1283342"/>
            <a:ext cx="358766" cy="45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0" name="Text Box 75"/>
          <p:cNvSpPr txBox="1">
            <a:spLocks noChangeArrowheads="1"/>
          </p:cNvSpPr>
          <p:nvPr/>
        </p:nvSpPr>
        <p:spPr bwMode="auto">
          <a:xfrm>
            <a:off x="7583040" y="3479426"/>
            <a:ext cx="38963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1" name="Text Box 75"/>
          <p:cNvSpPr txBox="1">
            <a:spLocks noChangeArrowheads="1"/>
          </p:cNvSpPr>
          <p:nvPr/>
        </p:nvSpPr>
        <p:spPr bwMode="auto">
          <a:xfrm>
            <a:off x="6521744" y="1161383"/>
            <a:ext cx="3511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6" name="Text Box 75"/>
          <p:cNvSpPr txBox="1">
            <a:spLocks noChangeArrowheads="1"/>
          </p:cNvSpPr>
          <p:nvPr/>
        </p:nvSpPr>
        <p:spPr bwMode="auto">
          <a:xfrm rot="17452559">
            <a:off x="7702939" y="2199485"/>
            <a:ext cx="151141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第一滑裂面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grpSp>
        <p:nvGrpSpPr>
          <p:cNvPr id="2" name="组合 1"/>
          <p:cNvGrpSpPr/>
          <p:nvPr/>
        </p:nvGrpSpPr>
        <p:grpSpPr>
          <a:xfrm>
            <a:off x="7320217" y="1962315"/>
            <a:ext cx="640601" cy="867311"/>
            <a:chOff x="7320217" y="1962315"/>
            <a:chExt cx="640601" cy="867311"/>
          </a:xfrm>
        </p:grpSpPr>
        <p:sp>
          <p:nvSpPr>
            <p:cNvPr id="12" name="Text Box 75"/>
            <p:cNvSpPr txBox="1">
              <a:spLocks noChangeArrowheads="1"/>
            </p:cNvSpPr>
            <p:nvPr/>
          </p:nvSpPr>
          <p:spPr bwMode="auto">
            <a:xfrm>
              <a:off x="7434408" y="1962315"/>
              <a:ext cx="526410"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C00000"/>
                  </a:solidFill>
                  <a:latin typeface="Times New Roman" panose="02020603050405020304" pitchFamily="18" charset="0"/>
                  <a:sym typeface="Symbol" panose="05050102010706020507" pitchFamily="18" charset="2"/>
                </a:rPr>
                <a:t>E</a:t>
              </a:r>
              <a:r>
                <a:rPr kumimoji="1" lang="en-US" altLang="zh-CN" sz="2000" b="1" dirty="0" err="1" smtClean="0">
                  <a:solidFill>
                    <a:srgbClr val="C00000"/>
                  </a:solidFill>
                  <a:latin typeface="Times New Roman" panose="02020603050405020304" pitchFamily="18" charset="0"/>
                  <a:sym typeface="Symbol"/>
                </a:rPr>
                <a:t></a:t>
              </a:r>
              <a:r>
                <a:rPr kumimoji="1" lang="en-US" altLang="zh-CN" sz="20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grpSp>
          <p:nvGrpSpPr>
            <p:cNvPr id="27" name="组合 26"/>
            <p:cNvGrpSpPr/>
            <p:nvPr/>
          </p:nvGrpSpPr>
          <p:grpSpPr>
            <a:xfrm rot="21318515" flipV="1">
              <a:off x="7320217" y="2328499"/>
              <a:ext cx="420873" cy="501127"/>
              <a:chOff x="6840700" y="1909625"/>
              <a:chExt cx="332186" cy="395529"/>
            </a:xfrm>
          </p:grpSpPr>
          <p:cxnSp>
            <p:nvCxnSpPr>
              <p:cNvPr id="28" name="直接连接符 27"/>
              <p:cNvCxnSpPr/>
              <p:nvPr/>
            </p:nvCxnSpPr>
            <p:spPr bwMode="auto">
              <a:xfrm rot="11211980" flipH="1" flipV="1">
                <a:off x="6840700" y="1985722"/>
                <a:ext cx="332186" cy="71408"/>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任意多边形 28"/>
              <p:cNvSpPr/>
              <p:nvPr/>
            </p:nvSpPr>
            <p:spPr bwMode="auto">
              <a:xfrm rot="6659934" flipV="1">
                <a:off x="6852243" y="1908938"/>
                <a:ext cx="72000" cy="73374"/>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0" name="任意多边形 29"/>
              <p:cNvSpPr/>
              <p:nvPr/>
            </p:nvSpPr>
            <p:spPr bwMode="auto">
              <a:xfrm rot="11211980" flipV="1">
                <a:off x="7018062" y="2044945"/>
                <a:ext cx="80797" cy="121371"/>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31" name="直接箭头连接符 30"/>
              <p:cNvCxnSpPr/>
              <p:nvPr/>
            </p:nvCxnSpPr>
            <p:spPr bwMode="auto">
              <a:xfrm rot="10380538">
                <a:off x="6862652" y="1954018"/>
                <a:ext cx="260200" cy="351136"/>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Rectangle 74"/>
            <p:cNvSpPr>
              <a:spLocks noChangeArrowheads="1"/>
            </p:cNvSpPr>
            <p:nvPr/>
          </p:nvSpPr>
          <p:spPr bwMode="auto">
            <a:xfrm>
              <a:off x="7588111" y="2216086"/>
              <a:ext cx="340158" cy="4462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cxnSp>
        <p:nvCxnSpPr>
          <p:cNvPr id="34" name="直接连接符 33"/>
          <p:cNvCxnSpPr/>
          <p:nvPr/>
        </p:nvCxnSpPr>
        <p:spPr bwMode="auto">
          <a:xfrm flipV="1">
            <a:off x="5916787" y="1196003"/>
            <a:ext cx="2890164" cy="541959"/>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p:nvPr/>
        </p:nvCxnSpPr>
        <p:spPr bwMode="auto">
          <a:xfrm>
            <a:off x="5950641" y="1752767"/>
            <a:ext cx="663977"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任意多边形 35"/>
          <p:cNvSpPr/>
          <p:nvPr/>
        </p:nvSpPr>
        <p:spPr bwMode="auto">
          <a:xfrm rot="8053380" flipV="1">
            <a:off x="6453802" y="1637398"/>
            <a:ext cx="67296" cy="10141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37" name="Rectangle 74"/>
          <p:cNvSpPr>
            <a:spLocks noChangeArrowheads="1"/>
          </p:cNvSpPr>
          <p:nvPr/>
        </p:nvSpPr>
        <p:spPr bwMode="auto">
          <a:xfrm>
            <a:off x="6451453" y="1528712"/>
            <a:ext cx="412693" cy="52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sp>
        <p:nvSpPr>
          <p:cNvPr id="49" name="Text Box 75"/>
          <p:cNvSpPr txBox="1">
            <a:spLocks noChangeArrowheads="1"/>
          </p:cNvSpPr>
          <p:nvPr/>
        </p:nvSpPr>
        <p:spPr bwMode="auto">
          <a:xfrm>
            <a:off x="8363245" y="805783"/>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51" name="Line 70"/>
          <p:cNvSpPr>
            <a:spLocks noChangeShapeType="1"/>
          </p:cNvSpPr>
          <p:nvPr/>
        </p:nvSpPr>
        <p:spPr bwMode="auto">
          <a:xfrm flipH="1" flipV="1">
            <a:off x="6737384" y="1595180"/>
            <a:ext cx="991702" cy="1942491"/>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Text Box 75"/>
          <p:cNvSpPr txBox="1">
            <a:spLocks noChangeArrowheads="1"/>
          </p:cNvSpPr>
          <p:nvPr/>
        </p:nvSpPr>
        <p:spPr bwMode="auto">
          <a:xfrm>
            <a:off x="6670075" y="714173"/>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第二滑裂面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55" name="直接连接符 54"/>
          <p:cNvCxnSpPr/>
          <p:nvPr/>
        </p:nvCxnSpPr>
        <p:spPr bwMode="auto">
          <a:xfrm flipV="1">
            <a:off x="7025252" y="1146512"/>
            <a:ext cx="325129" cy="91010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矩形 60"/>
          <p:cNvSpPr/>
          <p:nvPr/>
        </p:nvSpPr>
        <p:spPr>
          <a:xfrm>
            <a:off x="651946" y="1195170"/>
            <a:ext cx="4672676" cy="2462213"/>
          </a:xfrm>
          <a:prstGeom prst="rect">
            <a:avLst/>
          </a:prstGeom>
        </p:spPr>
        <p:txBody>
          <a:bodyPr wrap="square">
            <a:spAutoFit/>
          </a:bodyPr>
          <a:lstStyle/>
          <a:p>
            <a:pPr marL="266700" indent="-266700">
              <a:lnSpc>
                <a:spcPct val="120000"/>
              </a:lnSpc>
              <a:spcBef>
                <a:spcPts val="300"/>
              </a:spcBef>
              <a:spcAft>
                <a:spcPts val="300"/>
              </a:spcAft>
              <a:buClr>
                <a:srgbClr val="C00000"/>
              </a:buClr>
              <a:buFont typeface="Wingdings" panose="05000000000000000000" pitchFamily="2" charset="2"/>
              <a:buChar char="Ø"/>
            </a:pPr>
            <a:r>
              <a:rPr lang="zh-CN" altLang="en-US" sz="2000" b="1" dirty="0" smtClean="0">
                <a:solidFill>
                  <a:srgbClr val="000066"/>
                </a:solidFill>
                <a:ea typeface="幼圆" panose="02010509060101010101" pitchFamily="49" charset="-122"/>
                <a:cs typeface="Times New Roman" panose="02020603050405020304" pitchFamily="18" charset="0"/>
              </a:rPr>
              <a:t>当墙背粗糙度较大、墙背较平缓时，破坏滑动土楔不再沿墙背</a:t>
            </a:r>
            <a:r>
              <a:rPr lang="en-US" altLang="zh-CN" sz="2000" b="1" dirty="0" smtClean="0">
                <a:solidFill>
                  <a:srgbClr val="000066"/>
                </a:solidFill>
                <a:ea typeface="幼圆" panose="02010509060101010101" pitchFamily="49" charset="-122"/>
                <a:cs typeface="Times New Roman" panose="02020603050405020304" pitchFamily="18" charset="0"/>
              </a:rPr>
              <a:t>AB</a:t>
            </a:r>
            <a:r>
              <a:rPr lang="zh-CN" altLang="en-US" sz="2000" b="1" dirty="0" smtClean="0">
                <a:solidFill>
                  <a:srgbClr val="000066"/>
                </a:solidFill>
                <a:ea typeface="幼圆" panose="02010509060101010101" pitchFamily="49" charset="-122"/>
                <a:cs typeface="Times New Roman" panose="02020603050405020304" pitchFamily="18" charset="0"/>
              </a:rPr>
              <a:t>滑动，</a:t>
            </a:r>
            <a:r>
              <a:rPr lang="zh-CN" altLang="en-US" sz="2000" b="1" dirty="0">
                <a:solidFill>
                  <a:srgbClr val="000066"/>
                </a:solidFill>
                <a:ea typeface="幼圆" panose="02010509060101010101" pitchFamily="49" charset="-122"/>
                <a:cs typeface="Times New Roman" panose="02020603050405020304" pitchFamily="18" charset="0"/>
              </a:rPr>
              <a:t>而是</a:t>
            </a:r>
            <a:r>
              <a:rPr lang="zh-CN" altLang="en-US" sz="2000" b="1" dirty="0" smtClean="0">
                <a:solidFill>
                  <a:srgbClr val="000066"/>
                </a:solidFill>
                <a:ea typeface="幼圆" panose="02010509060101010101" pitchFamily="49" charset="-122"/>
                <a:cs typeface="Times New Roman" panose="02020603050405020304" pitchFamily="18" charset="0"/>
              </a:rPr>
              <a:t>沿土中的</a:t>
            </a:r>
            <a:r>
              <a:rPr lang="zh-CN" altLang="en-US" sz="2000" b="1" dirty="0">
                <a:solidFill>
                  <a:srgbClr val="000066"/>
                </a:solidFill>
                <a:ea typeface="幼圆" panose="02010509060101010101" pitchFamily="49" charset="-122"/>
                <a:cs typeface="Times New Roman" panose="02020603050405020304" pitchFamily="18" charset="0"/>
              </a:rPr>
              <a:t>两个</a:t>
            </a:r>
            <a:r>
              <a:rPr lang="zh-CN" altLang="en-US" sz="2000" b="1" dirty="0" smtClean="0">
                <a:solidFill>
                  <a:srgbClr val="000066"/>
                </a:solidFill>
                <a:ea typeface="幼圆" panose="02010509060101010101" pitchFamily="49" charset="-122"/>
                <a:cs typeface="Times New Roman" panose="02020603050405020304" pitchFamily="18" charset="0"/>
              </a:rPr>
              <a:t>滑动面</a:t>
            </a:r>
            <a:r>
              <a:rPr lang="en-US" altLang="zh-CN" sz="2000" b="1" dirty="0" smtClean="0">
                <a:solidFill>
                  <a:srgbClr val="000066"/>
                </a:solidFill>
                <a:ea typeface="幼圆" panose="02010509060101010101" pitchFamily="49" charset="-122"/>
                <a:cs typeface="Times New Roman" panose="02020603050405020304" pitchFamily="18" charset="0"/>
              </a:rPr>
              <a:t>BD</a:t>
            </a:r>
            <a:r>
              <a:rPr lang="zh-CN" altLang="en-US" sz="2000" b="1" dirty="0" smtClean="0">
                <a:solidFill>
                  <a:srgbClr val="000066"/>
                </a:solidFill>
                <a:ea typeface="幼圆" panose="02010509060101010101" pitchFamily="49" charset="-122"/>
                <a:cs typeface="Times New Roman" panose="02020603050405020304" pitchFamily="18" charset="0"/>
              </a:rPr>
              <a:t>和</a:t>
            </a:r>
            <a:r>
              <a:rPr lang="en-US" altLang="zh-CN" sz="2000" b="1" dirty="0" smtClean="0">
                <a:solidFill>
                  <a:srgbClr val="000066"/>
                </a:solidFill>
                <a:ea typeface="幼圆" panose="02010509060101010101" pitchFamily="49" charset="-122"/>
                <a:cs typeface="Times New Roman" panose="02020603050405020304" pitchFamily="18" charset="0"/>
              </a:rPr>
              <a:t>BC</a:t>
            </a:r>
            <a:r>
              <a:rPr lang="zh-CN" altLang="en-US" sz="2000" b="1" dirty="0" smtClean="0">
                <a:solidFill>
                  <a:srgbClr val="000066"/>
                </a:solidFill>
                <a:ea typeface="幼圆" panose="02010509060101010101" pitchFamily="49" charset="-122"/>
                <a:cs typeface="Times New Roman" panose="02020603050405020304" pitchFamily="18" charset="0"/>
              </a:rPr>
              <a:t>滑动</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266700" indent="-266700">
              <a:lnSpc>
                <a:spcPct val="120000"/>
              </a:lnSpc>
              <a:spcBef>
                <a:spcPts val="300"/>
              </a:spcBef>
              <a:spcAft>
                <a:spcPts val="300"/>
              </a:spcAft>
              <a:buClr>
                <a:srgbClr val="C00000"/>
              </a:buClr>
              <a:buFont typeface="Wingdings" panose="05000000000000000000" pitchFamily="2" charset="2"/>
              <a:buChar char="Ø"/>
            </a:pPr>
            <a:r>
              <a:rPr lang="zh-CN" altLang="en-US" sz="2000" b="1" dirty="0" smtClean="0">
                <a:solidFill>
                  <a:srgbClr val="000066"/>
                </a:solidFill>
                <a:ea typeface="幼圆" panose="02010509060101010101" pitchFamily="49" charset="-122"/>
                <a:cs typeface="Times New Roman" panose="02020603050405020304" pitchFamily="18" charset="0"/>
              </a:rPr>
              <a:t>分别称</a:t>
            </a:r>
            <a:r>
              <a:rPr lang="en-US" altLang="zh-CN" sz="2000" b="1" dirty="0" smtClean="0">
                <a:solidFill>
                  <a:srgbClr val="000066"/>
                </a:solidFill>
                <a:ea typeface="幼圆" panose="02010509060101010101" pitchFamily="49" charset="-122"/>
                <a:cs typeface="Times New Roman" panose="02020603050405020304" pitchFamily="18" charset="0"/>
              </a:rPr>
              <a:t>BD</a:t>
            </a:r>
            <a:r>
              <a:rPr lang="zh-CN" altLang="en-US" sz="2000" b="1" dirty="0" smtClean="0">
                <a:solidFill>
                  <a:srgbClr val="000066"/>
                </a:solidFill>
                <a:ea typeface="幼圆" panose="02010509060101010101" pitchFamily="49" charset="-122"/>
                <a:cs typeface="Times New Roman" panose="02020603050405020304" pitchFamily="18" charset="0"/>
              </a:rPr>
              <a:t>和</a:t>
            </a:r>
            <a:r>
              <a:rPr lang="en-US" altLang="zh-CN" sz="2000" b="1" dirty="0">
                <a:solidFill>
                  <a:srgbClr val="000066"/>
                </a:solidFill>
                <a:ea typeface="幼圆" panose="02010509060101010101" pitchFamily="49" charset="-122"/>
                <a:cs typeface="Times New Roman" panose="02020603050405020304" pitchFamily="18" charset="0"/>
              </a:rPr>
              <a:t>BC</a:t>
            </a:r>
            <a:r>
              <a:rPr lang="zh-CN" altLang="en-US" sz="2000" b="1" dirty="0">
                <a:solidFill>
                  <a:srgbClr val="000066"/>
                </a:solidFill>
                <a:ea typeface="幼圆" panose="02010509060101010101" pitchFamily="49" charset="-122"/>
                <a:cs typeface="Times New Roman" panose="02020603050405020304" pitchFamily="18" charset="0"/>
              </a:rPr>
              <a:t>为第一</a:t>
            </a:r>
            <a:r>
              <a:rPr lang="zh-CN" altLang="en-US" sz="2000" b="1" dirty="0" smtClean="0">
                <a:solidFill>
                  <a:srgbClr val="000066"/>
                </a:solidFill>
                <a:ea typeface="幼圆" panose="02010509060101010101" pitchFamily="49" charset="-122"/>
                <a:cs typeface="Times New Roman" panose="02020603050405020304" pitchFamily="18" charset="0"/>
              </a:rPr>
              <a:t>和第二滑动面</a:t>
            </a:r>
            <a:endParaRPr lang="en-US" altLang="zh-CN" sz="2000" b="1" dirty="0" smtClean="0">
              <a:solidFill>
                <a:srgbClr val="000066"/>
              </a:solidFill>
              <a:ea typeface="幼圆" panose="02010509060101010101" pitchFamily="49" charset="-122"/>
              <a:cs typeface="Times New Roman" panose="02020603050405020304" pitchFamily="18" charset="0"/>
            </a:endParaRPr>
          </a:p>
          <a:p>
            <a:pPr marL="266700" indent="-266700">
              <a:lnSpc>
                <a:spcPct val="120000"/>
              </a:lnSpc>
              <a:spcBef>
                <a:spcPts val="300"/>
              </a:spcBef>
              <a:spcAft>
                <a:spcPts val="300"/>
              </a:spcAft>
              <a:buClr>
                <a:srgbClr val="C00000"/>
              </a:buClr>
              <a:buFont typeface="Wingdings" panose="05000000000000000000" pitchFamily="2" charset="2"/>
              <a:buChar char="Ø"/>
            </a:pPr>
            <a:r>
              <a:rPr lang="zh-CN" altLang="en-US" sz="2000" b="1" dirty="0" smtClean="0">
                <a:solidFill>
                  <a:srgbClr val="000066"/>
                </a:solidFill>
                <a:ea typeface="幼圆" panose="02010509060101010101" pitchFamily="49" charset="-122"/>
                <a:cs typeface="Times New Roman" panose="02020603050405020304" pitchFamily="18" charset="0"/>
              </a:rPr>
              <a:t>工程中把出现第二滑动面的挡土墙定义为</a:t>
            </a:r>
            <a:r>
              <a:rPr lang="zh-CN" altLang="en-US" sz="2000" b="1" dirty="0" smtClean="0">
                <a:solidFill>
                  <a:srgbClr val="C00000"/>
                </a:solidFill>
                <a:latin typeface="黑体" panose="02010609060101010101" pitchFamily="49" charset="-122"/>
                <a:ea typeface="黑体" panose="02010609060101010101" pitchFamily="49" charset="-122"/>
                <a:cs typeface="Times New Roman" panose="02020603050405020304" pitchFamily="18" charset="0"/>
              </a:rPr>
              <a:t>坦墙</a:t>
            </a:r>
            <a:endPar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64" name="Rectangle 3"/>
          <p:cNvSpPr txBox="1">
            <a:spLocks noChangeArrowheads="1"/>
          </p:cNvSpPr>
          <p:nvPr/>
        </p:nvSpPr>
        <p:spPr bwMode="auto">
          <a:xfrm>
            <a:off x="418167" y="3730112"/>
            <a:ext cx="3411449"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a:solidFill>
                  <a:srgbClr val="A50021"/>
                </a:solidFill>
                <a:latin typeface="微软雅黑" panose="020B0503020204020204" pitchFamily="34" charset="-122"/>
                <a:ea typeface="微软雅黑" panose="020B0503020204020204" pitchFamily="34" charset="-122"/>
              </a:rPr>
              <a:t>产生</a:t>
            </a:r>
            <a:r>
              <a:rPr lang="zh-CN" altLang="en-US" sz="2400" b="1" kern="0" dirty="0" smtClean="0">
                <a:solidFill>
                  <a:srgbClr val="A50021"/>
                </a:solidFill>
                <a:latin typeface="微软雅黑" panose="020B0503020204020204" pitchFamily="34" charset="-122"/>
                <a:ea typeface="微软雅黑" panose="020B0503020204020204" pitchFamily="34" charset="-122"/>
              </a:rPr>
              <a:t>第二滑裂面条件</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67" name="Text Box 48"/>
          <p:cNvSpPr txBox="1">
            <a:spLocks noChangeArrowheads="1"/>
          </p:cNvSpPr>
          <p:nvPr/>
        </p:nvSpPr>
        <p:spPr bwMode="auto">
          <a:xfrm>
            <a:off x="3852124" y="3880509"/>
            <a:ext cx="4477062" cy="389337"/>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临界</a:t>
            </a:r>
            <a:r>
              <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墙背</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倾斜角</a:t>
            </a:r>
            <a:r>
              <a:rPr kumimoji="1" lang="en-US" altLang="zh-CN" sz="2200" b="1" dirty="0" err="1" smtClean="0">
                <a:solidFill>
                  <a:srgbClr val="000066"/>
                </a:solidFill>
                <a:latin typeface="Symbol" panose="05050102010706020507" pitchFamily="18" charset="2"/>
              </a:rPr>
              <a:t>a</a:t>
            </a:r>
            <a:r>
              <a:rPr kumimoji="1" lang="en-US" altLang="zh-CN" sz="2200" b="1" baseline="-25000" dirty="0" err="1" smtClean="0">
                <a:solidFill>
                  <a:srgbClr val="000066"/>
                </a:solidFill>
                <a:latin typeface="Times New Roman" panose="02020603050405020304" pitchFamily="18" charset="0"/>
              </a:rPr>
              <a:t>cr</a:t>
            </a:r>
            <a:r>
              <a:rPr lang="en-US" altLang="zh-CN"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 </a:t>
            </a:r>
            <a:r>
              <a:rPr kumimoji="1" lang="zh-CN" altLang="en-US" sz="2200" b="1" dirty="0" smtClean="0">
                <a:solidFill>
                  <a:srgbClr val="C0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200" b="1" dirty="0" err="1" smtClean="0">
                <a:solidFill>
                  <a:srgbClr val="000066"/>
                </a:solidFill>
                <a:latin typeface="Symbol" panose="05050102010706020507" pitchFamily="18" charset="2"/>
              </a:rPr>
              <a:t>a</a:t>
            </a:r>
            <a:r>
              <a:rPr kumimoji="1" lang="en-US" altLang="zh-CN" sz="2200" b="1" baseline="-25000" dirty="0" err="1" smtClean="0">
                <a:solidFill>
                  <a:srgbClr val="000066"/>
                </a:solidFill>
                <a:latin typeface="Times New Roman" panose="02020603050405020304" pitchFamily="18" charset="0"/>
              </a:rPr>
              <a:t>cr</a:t>
            </a:r>
            <a:r>
              <a:rPr kumimoji="1" lang="en-US" altLang="zh-CN" sz="2200" b="1" dirty="0" smtClean="0">
                <a:solidFill>
                  <a:srgbClr val="000066"/>
                </a:solidFill>
                <a:latin typeface="Times New Roman" panose="02020603050405020304" pitchFamily="18" charset="0"/>
              </a:rPr>
              <a:t>= </a:t>
            </a:r>
            <a:r>
              <a:rPr kumimoji="1" lang="en-US" altLang="zh-CN" sz="2200" b="1" i="1" dirty="0" smtClean="0">
                <a:solidFill>
                  <a:srgbClr val="000066"/>
                </a:solidFill>
                <a:latin typeface="Times New Roman" panose="02020603050405020304" pitchFamily="18" charset="0"/>
              </a:rPr>
              <a:t>f </a:t>
            </a:r>
            <a:r>
              <a:rPr kumimoji="1" lang="en-US" altLang="zh-CN" sz="2200" b="1" dirty="0" smtClean="0">
                <a:solidFill>
                  <a:srgbClr val="000066"/>
                </a:solidFill>
                <a:latin typeface="Times New Roman" panose="02020603050405020304" pitchFamily="18" charset="0"/>
              </a:rPr>
              <a:t>(</a:t>
            </a:r>
            <a:r>
              <a:rPr kumimoji="1" lang="en-US" altLang="zh-CN" sz="2200" b="1" i="1" dirty="0" smtClean="0">
                <a:solidFill>
                  <a:srgbClr val="000066"/>
                </a:solidFill>
                <a:sym typeface="Symbol" panose="05050102010706020507" pitchFamily="18" charset="2"/>
              </a:rPr>
              <a:t></a:t>
            </a:r>
            <a:r>
              <a:rPr lang="en-US" altLang="zh-CN"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sym typeface="Symbol" panose="05050102010706020507" pitchFamily="18" charset="2"/>
              </a:rPr>
              <a:t>,</a:t>
            </a:r>
            <a:r>
              <a:rPr kumimoji="1" lang="en-US" altLang="zh-CN" sz="2200" b="1" i="1" dirty="0" smtClean="0">
                <a:solidFill>
                  <a:srgbClr val="000066"/>
                </a:solidFill>
                <a:sym typeface="Symbol" panose="05050102010706020507" pitchFamily="18" charset="2"/>
              </a:rPr>
              <a:t>, </a:t>
            </a:r>
            <a:r>
              <a:rPr kumimoji="1" lang="en-US" altLang="zh-CN" sz="2200" b="1" i="1" dirty="0" smtClean="0">
                <a:solidFill>
                  <a:srgbClr val="000066"/>
                </a:solidFill>
                <a:sym typeface="Symbol"/>
              </a:rPr>
              <a:t> </a:t>
            </a:r>
            <a:r>
              <a:rPr kumimoji="1" lang="en-US" altLang="zh-CN" sz="2200" b="1" dirty="0" smtClean="0">
                <a:solidFill>
                  <a:srgbClr val="000066"/>
                </a:solidFill>
                <a:sym typeface="Symbol"/>
              </a:rPr>
              <a:t>)</a:t>
            </a:r>
            <a:endPar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38" name="Text Box 48"/>
          <p:cNvSpPr txBox="1">
            <a:spLocks noChangeArrowheads="1"/>
          </p:cNvSpPr>
          <p:nvPr/>
        </p:nvSpPr>
        <p:spPr bwMode="auto">
          <a:xfrm>
            <a:off x="1552523" y="4605717"/>
            <a:ext cx="1706709" cy="353943"/>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342900" indent="-342900">
              <a:buClr>
                <a:srgbClr val="A50021"/>
              </a:buClr>
              <a:buSzPct val="130000"/>
              <a:buFont typeface="Wingdings" panose="05000000000000000000" pitchFamily="2" charset="2"/>
              <a:buChar char="F"/>
            </a:pPr>
            <a:r>
              <a:rPr lang="zh-CN" altLang="en-US" sz="2000" b="1" dirty="0" smtClean="0">
                <a:solidFill>
                  <a:srgbClr val="000066"/>
                </a:solidFill>
                <a:latin typeface="Times New Roman" panose="02020603050405020304" pitchFamily="18" charset="0"/>
                <a:cs typeface="Times New Roman" panose="02020603050405020304" pitchFamily="18" charset="0"/>
              </a:rPr>
              <a:t>当</a:t>
            </a:r>
            <a:r>
              <a:rPr kumimoji="1"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a:t>
            </a:r>
            <a:endParaRPr kumimoji="1" lang="en-US" altLang="zh-CN" sz="2000" b="1" dirty="0">
              <a:solidFill>
                <a:srgbClr val="C00000"/>
              </a:solidFill>
              <a:latin typeface="Times New Roman" panose="02020603050405020304" pitchFamily="18" charset="0"/>
            </a:endParaRPr>
          </a:p>
        </p:txBody>
      </p:sp>
      <p:sp>
        <p:nvSpPr>
          <p:cNvPr id="39" name="Text Box 48"/>
          <p:cNvSpPr txBox="1">
            <a:spLocks noChangeArrowheads="1"/>
          </p:cNvSpPr>
          <p:nvPr/>
        </p:nvSpPr>
        <p:spPr bwMode="auto">
          <a:xfrm>
            <a:off x="1569123" y="5253624"/>
            <a:ext cx="2305760" cy="353943"/>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342900" indent="-342900">
              <a:buClr>
                <a:srgbClr val="A50021"/>
              </a:buClr>
              <a:buSzPct val="130000"/>
              <a:buFont typeface="Wingdings" panose="05000000000000000000" pitchFamily="2" charset="2"/>
              <a:buChar char="F"/>
            </a:pPr>
            <a:r>
              <a:rPr lang="zh-CN" altLang="en-US" sz="2000" b="1" dirty="0" smtClean="0">
                <a:solidFill>
                  <a:srgbClr val="000066"/>
                </a:solidFill>
                <a:latin typeface="Times New Roman" panose="02020603050405020304" pitchFamily="18" charset="0"/>
                <a:cs typeface="Times New Roman" panose="02020603050405020304" pitchFamily="18" charset="0"/>
              </a:rPr>
              <a:t>当</a:t>
            </a:r>
            <a:r>
              <a:rPr kumimoji="1"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b="1" i="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000" b="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和</a:t>
            </a:r>
            <a:r>
              <a:rPr kumimoji="1" lang="en-US" altLang="zh-CN" sz="2000" b="1" i="1" dirty="0">
                <a:solidFill>
                  <a:srgbClr val="000066"/>
                </a:solidFill>
                <a:latin typeface="Times New Roman" panose="02020603050405020304" pitchFamily="18" charset="0"/>
                <a:cs typeface="Times New Roman" panose="02020603050405020304" pitchFamily="18" charset="0"/>
                <a:sym typeface="Symbol"/>
              </a:rPr>
              <a:t> </a:t>
            </a:r>
            <a:r>
              <a:rPr kumimoji="1" lang="en-US" altLang="zh-CN" sz="2000" b="1" dirty="0" smtClean="0">
                <a:solidFill>
                  <a:srgbClr val="000066"/>
                </a:solidFill>
                <a:latin typeface="Times New Roman" panose="02020603050405020304" pitchFamily="18" charset="0"/>
                <a:cs typeface="Times New Roman" panose="02020603050405020304" pitchFamily="18" charset="0"/>
                <a:sym typeface="Symbol" panose="05050102010706020507" pitchFamily="18" charset="2"/>
              </a:rPr>
              <a:t>=0</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a:t>
            </a:r>
            <a:endParaRPr kumimoji="1" lang="en-US" altLang="zh-CN" sz="2000" b="1" dirty="0">
              <a:solidFill>
                <a:srgbClr val="C00000"/>
              </a:solidFill>
              <a:latin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60914197"/>
              </p:ext>
            </p:extLst>
          </p:nvPr>
        </p:nvGraphicFramePr>
        <p:xfrm>
          <a:off x="4157663" y="4448175"/>
          <a:ext cx="3273425" cy="660400"/>
        </p:xfrm>
        <a:graphic>
          <a:graphicData uri="http://schemas.openxmlformats.org/presentationml/2006/ole">
            <mc:AlternateContent xmlns:mc="http://schemas.openxmlformats.org/markup-compatibility/2006">
              <mc:Choice xmlns:v="urn:schemas-microsoft-com:vml" Requires="v">
                <p:oleObj spid="_x0000_s1723680" name="Equation" r:id="rId4" imgW="2120760" imgH="431640" progId="Equation.DSMT4">
                  <p:embed/>
                </p:oleObj>
              </mc:Choice>
              <mc:Fallback>
                <p:oleObj name="Equation" r:id="rId4" imgW="2120760" imgH="431640" progId="Equation.DSMT4">
                  <p:embed/>
                  <p:pic>
                    <p:nvPicPr>
                      <p:cNvPr id="0" name="Object 0"/>
                      <p:cNvPicPr>
                        <a:picLocks noChangeAspect="1" noChangeArrowheads="1"/>
                      </p:cNvPicPr>
                      <p:nvPr/>
                    </p:nvPicPr>
                    <p:blipFill>
                      <a:blip r:embed="rId5"/>
                      <a:srcRect/>
                      <a:stretch>
                        <a:fillRect/>
                      </a:stretch>
                    </p:blipFill>
                    <p:spPr bwMode="auto">
                      <a:xfrm>
                        <a:off x="4157663" y="4448175"/>
                        <a:ext cx="3273425" cy="660400"/>
                      </a:xfrm>
                      <a:prstGeom prst="rect">
                        <a:avLst/>
                      </a:prstGeom>
                      <a:solidFill>
                        <a:schemeClr val="bg1"/>
                      </a:solidFill>
                      <a:ln>
                        <a:noFill/>
                      </a:ln>
                    </p:spPr>
                  </p:pic>
                </p:oleObj>
              </mc:Fallback>
            </mc:AlternateContent>
          </a:graphicData>
        </a:graphic>
      </p:graphicFrame>
      <p:sp>
        <p:nvSpPr>
          <p:cNvPr id="40" name="Text Box 48"/>
          <p:cNvSpPr txBox="1">
            <a:spLocks noChangeArrowheads="1"/>
          </p:cNvSpPr>
          <p:nvPr/>
        </p:nvSpPr>
        <p:spPr bwMode="auto">
          <a:xfrm>
            <a:off x="4066368" y="5243060"/>
            <a:ext cx="1592045" cy="324576"/>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kumimoji="1" lang="en-US" altLang="zh-CN" sz="2000" b="1" dirty="0" err="1" smtClean="0">
                <a:solidFill>
                  <a:srgbClr val="000066"/>
                </a:solidFill>
                <a:latin typeface="Symbol" panose="05050102010706020507" pitchFamily="18" charset="2"/>
              </a:rPr>
              <a:t>a</a:t>
            </a:r>
            <a:r>
              <a:rPr kumimoji="1" lang="en-US" altLang="zh-CN" sz="2000" b="1" baseline="-25000" dirty="0" err="1" smtClean="0">
                <a:solidFill>
                  <a:srgbClr val="000066"/>
                </a:solidFill>
                <a:latin typeface="Times New Roman" panose="02020603050405020304" pitchFamily="18" charset="0"/>
              </a:rPr>
              <a:t>cr</a:t>
            </a:r>
            <a:r>
              <a:rPr kumimoji="1" lang="en-US" altLang="zh-CN" sz="2000" b="1" dirty="0" smtClean="0">
                <a:solidFill>
                  <a:srgbClr val="000066"/>
                </a:solidFill>
                <a:latin typeface="Times New Roman" panose="02020603050405020304" pitchFamily="18" charset="0"/>
              </a:rPr>
              <a:t>=45</a:t>
            </a:r>
            <a:r>
              <a:rPr kumimoji="1" lang="en-US" altLang="zh-CN" sz="2000" b="1" baseline="30000" dirty="0" smtClean="0">
                <a:solidFill>
                  <a:srgbClr val="000066"/>
                </a:solidFill>
                <a:latin typeface="Times New Roman" panose="02020603050405020304" pitchFamily="18" charset="0"/>
              </a:rPr>
              <a:t>o </a:t>
            </a:r>
            <a:r>
              <a:rPr kumimoji="1" lang="en-US" altLang="zh-CN" sz="2000" b="1" dirty="0" smtClean="0">
                <a:solidFill>
                  <a:srgbClr val="000066"/>
                </a:solidFill>
                <a:latin typeface="Times New Roman" panose="02020603050405020304" pitchFamily="18" charset="0"/>
              </a:rPr>
              <a:t>-</a:t>
            </a:r>
            <a:r>
              <a:rPr kumimoji="1" lang="en-US" altLang="zh-CN" sz="2000" b="1" dirty="0" smtClean="0">
                <a:solidFill>
                  <a:srgbClr val="000066"/>
                </a:solidFill>
                <a:latin typeface="Symbol" panose="05050102010706020507" pitchFamily="18" charset="2"/>
              </a:rPr>
              <a:t> </a:t>
            </a:r>
            <a:r>
              <a:rPr kumimoji="1" lang="en-US" altLang="zh-CN" sz="2000" b="1" dirty="0" smtClean="0">
                <a:solidFill>
                  <a:srgbClr val="000066"/>
                </a:solidFill>
                <a:latin typeface="Symbol" panose="05050102010706020507" pitchFamily="18" charset="2"/>
                <a:sym typeface="Symbol"/>
              </a:rPr>
              <a:t></a:t>
            </a:r>
            <a:r>
              <a:rPr kumimoji="1" lang="en-US" altLang="zh-CN" sz="2000" b="1" dirty="0" smtClean="0">
                <a:solidFill>
                  <a:srgbClr val="000066"/>
                </a:solidFill>
                <a:latin typeface="Times New Roman" panose="02020603050405020304" pitchFamily="18" charset="0"/>
              </a:rPr>
              <a:t>/2</a:t>
            </a:r>
            <a:endParaRPr kumimoji="1" lang="en-US" altLang="zh-CN" sz="2000" b="1" dirty="0">
              <a:solidFill>
                <a:srgbClr val="000066"/>
              </a:solidFill>
              <a:latin typeface="Times New Roman" panose="02020603050405020304" pitchFamily="18" charset="0"/>
            </a:endParaRPr>
          </a:p>
        </p:txBody>
      </p:sp>
      <p:sp>
        <p:nvSpPr>
          <p:cNvPr id="41"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坦墙</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42" name="Group 12"/>
          <p:cNvGrpSpPr>
            <a:grpSpLocks/>
          </p:cNvGrpSpPr>
          <p:nvPr/>
        </p:nvGrpSpPr>
        <p:grpSpPr bwMode="auto">
          <a:xfrm rot="21051292">
            <a:off x="7398806" y="1423084"/>
            <a:ext cx="454614" cy="73451"/>
            <a:chOff x="2274" y="1204"/>
            <a:chExt cx="270" cy="44"/>
          </a:xfrm>
        </p:grpSpPr>
        <p:sp>
          <p:nvSpPr>
            <p:cNvPr id="43"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12"/>
          <p:cNvGrpSpPr>
            <a:grpSpLocks/>
          </p:cNvGrpSpPr>
          <p:nvPr/>
        </p:nvGrpSpPr>
        <p:grpSpPr bwMode="auto">
          <a:xfrm rot="21051292">
            <a:off x="8057456" y="1304629"/>
            <a:ext cx="454614" cy="73451"/>
            <a:chOff x="2274" y="1204"/>
            <a:chExt cx="270" cy="44"/>
          </a:xfrm>
        </p:grpSpPr>
        <p:sp>
          <p:nvSpPr>
            <p:cNvPr id="54"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89402122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left)">
                                      <p:cBhvr>
                                        <p:cTn id="11" dur="500"/>
                                        <p:tgtEl>
                                          <p:spTgt spid="6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left)">
                                      <p:cBhvr>
                                        <p:cTn id="16" dur="500"/>
                                        <p:tgtEl>
                                          <p:spTgt spid="3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wipe(left)">
                                      <p:cBhvr>
                                        <p:cTn id="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7" grpId="0"/>
      <p:bldP spid="38" grpId="0" animBg="1"/>
      <p:bldP spid="39" grpId="0" animBg="1"/>
      <p:bldP spid="4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任意多边形 80"/>
          <p:cNvSpPr/>
          <p:nvPr/>
        </p:nvSpPr>
        <p:spPr bwMode="auto">
          <a:xfrm>
            <a:off x="2661113" y="1830026"/>
            <a:ext cx="2354822" cy="1814185"/>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1481960"/>
              <a:gd name="connsiteY0" fmla="*/ 280664 h 1688973"/>
              <a:gd name="connsiteX1" fmla="*/ 290339 w 1481960"/>
              <a:gd name="connsiteY1" fmla="*/ 1688973 h 1688973"/>
              <a:gd name="connsiteX2" fmla="*/ 1481960 w 1481960"/>
              <a:gd name="connsiteY2" fmla="*/ 0 h 1688973"/>
              <a:gd name="connsiteX3" fmla="*/ 0 w 1481960"/>
              <a:gd name="connsiteY3" fmla="*/ 280664 h 1688973"/>
              <a:gd name="connsiteX0" fmla="*/ 0 w 1481960"/>
              <a:gd name="connsiteY0" fmla="*/ 280664 h 1819283"/>
              <a:gd name="connsiteX1" fmla="*/ 781508 w 1481960"/>
              <a:gd name="connsiteY1" fmla="*/ 1819283 h 1819283"/>
              <a:gd name="connsiteX2" fmla="*/ 1481960 w 1481960"/>
              <a:gd name="connsiteY2" fmla="*/ 0 h 1819283"/>
              <a:gd name="connsiteX3" fmla="*/ 0 w 1481960"/>
              <a:gd name="connsiteY3" fmla="*/ 280664 h 1819283"/>
              <a:gd name="connsiteX0" fmla="*/ 0 w 1626303"/>
              <a:gd name="connsiteY0" fmla="*/ 398495 h 1819283"/>
              <a:gd name="connsiteX1" fmla="*/ 925851 w 1626303"/>
              <a:gd name="connsiteY1" fmla="*/ 1819283 h 1819283"/>
              <a:gd name="connsiteX2" fmla="*/ 1626303 w 1626303"/>
              <a:gd name="connsiteY2" fmla="*/ 0 h 1819283"/>
              <a:gd name="connsiteX3" fmla="*/ 0 w 1626303"/>
              <a:gd name="connsiteY3" fmla="*/ 398495 h 1819283"/>
              <a:gd name="connsiteX0" fmla="*/ 0 w 1856074"/>
              <a:gd name="connsiteY0" fmla="*/ 12597 h 1433385"/>
              <a:gd name="connsiteX1" fmla="*/ 925851 w 1856074"/>
              <a:gd name="connsiteY1" fmla="*/ 1433385 h 1433385"/>
              <a:gd name="connsiteX2" fmla="*/ 1856074 w 1856074"/>
              <a:gd name="connsiteY2" fmla="*/ 0 h 1433385"/>
              <a:gd name="connsiteX3" fmla="*/ 0 w 1856074"/>
              <a:gd name="connsiteY3" fmla="*/ 12597 h 1433385"/>
              <a:gd name="connsiteX0" fmla="*/ 0 w 928868"/>
              <a:gd name="connsiteY0" fmla="*/ 7585 h 1428373"/>
              <a:gd name="connsiteX1" fmla="*/ 925851 w 928868"/>
              <a:gd name="connsiteY1" fmla="*/ 1428373 h 1428373"/>
              <a:gd name="connsiteX2" fmla="*/ 928868 w 928868"/>
              <a:gd name="connsiteY2" fmla="*/ 0 h 1428373"/>
              <a:gd name="connsiteX3" fmla="*/ 0 w 928868"/>
              <a:gd name="connsiteY3" fmla="*/ 7585 h 1428373"/>
              <a:gd name="connsiteX0" fmla="*/ 0 w 928868"/>
              <a:gd name="connsiteY0" fmla="*/ 902 h 1428373"/>
              <a:gd name="connsiteX1" fmla="*/ 925851 w 928868"/>
              <a:gd name="connsiteY1" fmla="*/ 1428373 h 1428373"/>
              <a:gd name="connsiteX2" fmla="*/ 928868 w 928868"/>
              <a:gd name="connsiteY2" fmla="*/ 0 h 1428373"/>
              <a:gd name="connsiteX3" fmla="*/ 0 w 928868"/>
              <a:gd name="connsiteY3" fmla="*/ 902 h 1428373"/>
              <a:gd name="connsiteX0" fmla="*/ 0 w 1212088"/>
              <a:gd name="connsiteY0" fmla="*/ 3116 h 1430587"/>
              <a:gd name="connsiteX1" fmla="*/ 925851 w 1212088"/>
              <a:gd name="connsiteY1" fmla="*/ 1430587 h 1430587"/>
              <a:gd name="connsiteX2" fmla="*/ 1212088 w 1212088"/>
              <a:gd name="connsiteY2" fmla="*/ 0 h 1430587"/>
              <a:gd name="connsiteX3" fmla="*/ 0 w 1212088"/>
              <a:gd name="connsiteY3" fmla="*/ 3116 h 1430587"/>
              <a:gd name="connsiteX0" fmla="*/ 0 w 1212088"/>
              <a:gd name="connsiteY0" fmla="*/ 3116 h 1430587"/>
              <a:gd name="connsiteX1" fmla="*/ 925851 w 1212088"/>
              <a:gd name="connsiteY1" fmla="*/ 1430587 h 1430587"/>
              <a:gd name="connsiteX2" fmla="*/ 1212088 w 1212088"/>
              <a:gd name="connsiteY2" fmla="*/ 0 h 1430587"/>
              <a:gd name="connsiteX3" fmla="*/ 0 w 1212088"/>
              <a:gd name="connsiteY3" fmla="*/ 3116 h 1430587"/>
              <a:gd name="connsiteX0" fmla="*/ 0 w 1212088"/>
              <a:gd name="connsiteY0" fmla="*/ 3116 h 1423946"/>
              <a:gd name="connsiteX1" fmla="*/ 603416 w 1212088"/>
              <a:gd name="connsiteY1" fmla="*/ 1423946 h 1423946"/>
              <a:gd name="connsiteX2" fmla="*/ 1212088 w 1212088"/>
              <a:gd name="connsiteY2" fmla="*/ 0 h 1423946"/>
              <a:gd name="connsiteX3" fmla="*/ 0 w 1212088"/>
              <a:gd name="connsiteY3" fmla="*/ 3116 h 1423946"/>
              <a:gd name="connsiteX0" fmla="*/ 0 w 1219350"/>
              <a:gd name="connsiteY0" fmla="*/ 0 h 1431899"/>
              <a:gd name="connsiteX1" fmla="*/ 610678 w 1219350"/>
              <a:gd name="connsiteY1" fmla="*/ 1431899 h 1431899"/>
              <a:gd name="connsiteX2" fmla="*/ 1219350 w 1219350"/>
              <a:gd name="connsiteY2" fmla="*/ 7953 h 1431899"/>
              <a:gd name="connsiteX3" fmla="*/ 0 w 1219350"/>
              <a:gd name="connsiteY3" fmla="*/ 0 h 1431899"/>
            </a:gdLst>
            <a:ahLst/>
            <a:cxnLst>
              <a:cxn ang="0">
                <a:pos x="connsiteX0" y="connsiteY0"/>
              </a:cxn>
              <a:cxn ang="0">
                <a:pos x="connsiteX1" y="connsiteY1"/>
              </a:cxn>
              <a:cxn ang="0">
                <a:pos x="connsiteX2" y="connsiteY2"/>
              </a:cxn>
              <a:cxn ang="0">
                <a:pos x="connsiteX3" y="connsiteY3"/>
              </a:cxn>
            </a:cxnLst>
            <a:rect l="l" t="t" r="r" b="b"/>
            <a:pathLst>
              <a:path w="1219350" h="1431899">
                <a:moveTo>
                  <a:pt x="0" y="0"/>
                </a:moveTo>
                <a:lnTo>
                  <a:pt x="610678" y="1431899"/>
                </a:lnTo>
                <a:lnTo>
                  <a:pt x="1219350" y="7953"/>
                </a:lnTo>
                <a:lnTo>
                  <a:pt x="0" y="0"/>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1495898" y="1837744"/>
            <a:ext cx="2335794" cy="1801640"/>
          </a:xfrm>
          <a:custGeom>
            <a:avLst/>
            <a:gdLst>
              <a:gd name="connsiteX0" fmla="*/ 0 w 2335794"/>
              <a:gd name="connsiteY0" fmla="*/ 0 h 1801640"/>
              <a:gd name="connsiteX1" fmla="*/ 529627 w 2335794"/>
              <a:gd name="connsiteY1" fmla="*/ 0 h 1801640"/>
              <a:gd name="connsiteX2" fmla="*/ 2335794 w 2335794"/>
              <a:gd name="connsiteY2" fmla="*/ 1801640 h 1801640"/>
              <a:gd name="connsiteX3" fmla="*/ 9053 w 2335794"/>
              <a:gd name="connsiteY3" fmla="*/ 1801640 h 1801640"/>
            </a:gdLst>
            <a:ahLst/>
            <a:cxnLst>
              <a:cxn ang="0">
                <a:pos x="connsiteX0" y="connsiteY0"/>
              </a:cxn>
              <a:cxn ang="0">
                <a:pos x="connsiteX1" y="connsiteY1"/>
              </a:cxn>
              <a:cxn ang="0">
                <a:pos x="connsiteX2" y="connsiteY2"/>
              </a:cxn>
              <a:cxn ang="0">
                <a:pos x="connsiteX3" y="connsiteY3"/>
              </a:cxn>
            </a:cxnLst>
            <a:rect l="l" t="t" r="r" b="b"/>
            <a:pathLst>
              <a:path w="2335794" h="1801640">
                <a:moveTo>
                  <a:pt x="0" y="0"/>
                </a:moveTo>
                <a:lnTo>
                  <a:pt x="529627" y="0"/>
                </a:lnTo>
                <a:lnTo>
                  <a:pt x="2335794" y="1801640"/>
                </a:lnTo>
                <a:lnTo>
                  <a:pt x="9053" y="1801640"/>
                </a:lnTo>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83</a:t>
            </a:fld>
            <a:endParaRPr lang="zh-CN" altLang="en-US" dirty="0">
              <a:solidFill>
                <a:srgbClr val="C00000"/>
              </a:solidFill>
            </a:endParaRPr>
          </a:p>
        </p:txBody>
      </p:sp>
      <p:sp>
        <p:nvSpPr>
          <p:cNvPr id="63" name="Text Box 2"/>
          <p:cNvSpPr txBox="1">
            <a:spLocks noChangeArrowheads="1"/>
          </p:cNvSpPr>
          <p:nvPr/>
        </p:nvSpPr>
        <p:spPr bwMode="auto">
          <a:xfrm>
            <a:off x="1729626" y="5723367"/>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4.  </a:t>
            </a:r>
            <a:r>
              <a:rPr kumimoji="1" lang="zh-CN" altLang="en-US" sz="4000" b="1" dirty="0" smtClean="0">
                <a:solidFill>
                  <a:srgbClr val="000066"/>
                </a:solidFill>
                <a:ea typeface="黑体" pitchFamily="2" charset="-122"/>
                <a:cs typeface="Times New Roman" panose="02020603050405020304" pitchFamily="18" charset="0"/>
              </a:rPr>
              <a:t>坦 墙</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556226"/>
            <a:ext cx="2963462"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坦墙土压力计算</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8" name="Line 60"/>
          <p:cNvSpPr>
            <a:spLocks noChangeShapeType="1"/>
          </p:cNvSpPr>
          <p:nvPr/>
        </p:nvSpPr>
        <p:spPr bwMode="auto">
          <a:xfrm>
            <a:off x="2017777" y="1841236"/>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61"/>
          <p:cNvSpPr>
            <a:spLocks noChangeArrowheads="1"/>
          </p:cNvSpPr>
          <p:nvPr/>
        </p:nvSpPr>
        <p:spPr bwMode="auto">
          <a:xfrm>
            <a:off x="2003742" y="1988299"/>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16" name="任意多边形 15"/>
          <p:cNvSpPr/>
          <p:nvPr/>
        </p:nvSpPr>
        <p:spPr bwMode="auto">
          <a:xfrm rot="18139897">
            <a:off x="2037806" y="1937730"/>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3822320" y="3642269"/>
            <a:ext cx="12305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75"/>
          <p:cNvSpPr txBox="1">
            <a:spLocks noChangeArrowheads="1"/>
          </p:cNvSpPr>
          <p:nvPr/>
        </p:nvSpPr>
        <p:spPr bwMode="auto">
          <a:xfrm>
            <a:off x="1836331" y="1457863"/>
            <a:ext cx="358766" cy="45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0" name="Text Box 75"/>
          <p:cNvSpPr txBox="1">
            <a:spLocks noChangeArrowheads="1"/>
          </p:cNvSpPr>
          <p:nvPr/>
        </p:nvSpPr>
        <p:spPr bwMode="auto">
          <a:xfrm>
            <a:off x="3623713" y="3622037"/>
            <a:ext cx="389632"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C</a:t>
            </a:r>
          </a:p>
        </p:txBody>
      </p:sp>
      <p:grpSp>
        <p:nvGrpSpPr>
          <p:cNvPr id="13" name="组合 12"/>
          <p:cNvGrpSpPr/>
          <p:nvPr/>
        </p:nvGrpSpPr>
        <p:grpSpPr>
          <a:xfrm>
            <a:off x="2819802" y="1156547"/>
            <a:ext cx="1526508" cy="1056017"/>
            <a:chOff x="2819802" y="1156547"/>
            <a:chExt cx="1526508" cy="1056017"/>
          </a:xfrm>
        </p:grpSpPr>
        <p:sp>
          <p:nvSpPr>
            <p:cNvPr id="56" name="Text Box 75"/>
            <p:cNvSpPr txBox="1">
              <a:spLocks noChangeArrowheads="1"/>
            </p:cNvSpPr>
            <p:nvPr/>
          </p:nvSpPr>
          <p:spPr bwMode="auto">
            <a:xfrm>
              <a:off x="2819802" y="1156547"/>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第二滑裂面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55" name="直接连接符 54"/>
            <p:cNvCxnSpPr/>
            <p:nvPr/>
          </p:nvCxnSpPr>
          <p:spPr bwMode="auto">
            <a:xfrm flipV="1">
              <a:off x="2943031" y="1548144"/>
              <a:ext cx="243789" cy="66442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7" name="Text Box 48"/>
          <p:cNvSpPr txBox="1">
            <a:spLocks noChangeArrowheads="1"/>
          </p:cNvSpPr>
          <p:nvPr/>
        </p:nvSpPr>
        <p:spPr bwMode="auto">
          <a:xfrm>
            <a:off x="1301037" y="3981074"/>
            <a:ext cx="5463906" cy="1600438"/>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182563" indent="-182563">
              <a:buClr>
                <a:srgbClr val="A50021"/>
              </a:buClr>
              <a:buSzPct val="130000"/>
              <a:buFont typeface="Arial" panose="020B0604020202020204" pitchFamily="34" charset="0"/>
              <a:buChar char="•"/>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第二滑裂面和竖直方向夹角：</a:t>
            </a:r>
            <a:r>
              <a:rPr kumimoji="1" lang="en-US" altLang="zh-CN" sz="2000" b="1" dirty="0" err="1" smtClean="0">
                <a:solidFill>
                  <a:srgbClr val="000066"/>
                </a:solidFill>
                <a:latin typeface="Symbol" panose="05050102010706020507" pitchFamily="18" charset="2"/>
              </a:rPr>
              <a:t>a</a:t>
            </a:r>
            <a:r>
              <a:rPr kumimoji="1" lang="en-US" altLang="zh-CN" sz="2000" b="1" baseline="-25000" dirty="0" err="1" smtClean="0">
                <a:solidFill>
                  <a:srgbClr val="000066"/>
                </a:solidFill>
                <a:latin typeface="Times New Roman" panose="02020603050405020304" pitchFamily="18" charset="0"/>
              </a:rPr>
              <a:t>cr</a:t>
            </a:r>
            <a:r>
              <a:rPr kumimoji="1" lang="en-US" altLang="zh-CN" sz="2000" b="1" dirty="0" smtClean="0">
                <a:solidFill>
                  <a:srgbClr val="000066"/>
                </a:solidFill>
                <a:latin typeface="Times New Roman" panose="02020603050405020304" pitchFamily="18" charset="0"/>
              </a:rPr>
              <a:t>=45</a:t>
            </a:r>
            <a:r>
              <a:rPr kumimoji="1" lang="en-US" altLang="zh-CN" sz="2000" b="1" baseline="30000" dirty="0" smtClean="0">
                <a:solidFill>
                  <a:srgbClr val="000066"/>
                </a:solidFill>
                <a:latin typeface="Times New Roman" panose="02020603050405020304" pitchFamily="18" charset="0"/>
              </a:rPr>
              <a:t>o </a:t>
            </a:r>
            <a:r>
              <a:rPr kumimoji="1" lang="en-US" altLang="zh-CN" sz="2000" b="1" dirty="0" smtClean="0">
                <a:solidFill>
                  <a:srgbClr val="000066"/>
                </a:solidFill>
                <a:latin typeface="Times New Roman" panose="02020603050405020304" pitchFamily="18" charset="0"/>
              </a:rPr>
              <a:t>-</a:t>
            </a:r>
            <a:r>
              <a:rPr kumimoji="1" lang="en-US" altLang="zh-CN" sz="2000" b="1" dirty="0" smtClean="0">
                <a:solidFill>
                  <a:srgbClr val="000066"/>
                </a:solidFill>
                <a:latin typeface="Symbol" panose="05050102010706020507" pitchFamily="18" charset="2"/>
              </a:rPr>
              <a:t> </a:t>
            </a:r>
            <a:r>
              <a:rPr kumimoji="1" lang="en-US" altLang="zh-CN" sz="2000" b="1" dirty="0" smtClean="0">
                <a:solidFill>
                  <a:srgbClr val="000066"/>
                </a:solidFill>
                <a:latin typeface="Symbol" panose="05050102010706020507" pitchFamily="18" charset="2"/>
                <a:sym typeface="Symbol"/>
              </a:rPr>
              <a:t></a:t>
            </a:r>
            <a:r>
              <a:rPr kumimoji="1" lang="en-US" altLang="zh-CN" sz="2000" b="1" dirty="0" smtClean="0">
                <a:solidFill>
                  <a:srgbClr val="000066"/>
                </a:solidFill>
                <a:latin typeface="Times New Roman" panose="02020603050405020304" pitchFamily="18" charset="0"/>
              </a:rPr>
              <a:t>/2</a:t>
            </a:r>
          </a:p>
          <a:p>
            <a:pPr marL="182563" indent="-182563">
              <a:buClr>
                <a:srgbClr val="A50021"/>
              </a:buClr>
              <a:buSzPct val="130000"/>
              <a:buFont typeface="Arial" panose="020B0604020202020204" pitchFamily="34" charset="0"/>
              <a:buChar char="•"/>
            </a:pPr>
            <a:r>
              <a:rPr kumimoji="1" lang="zh-CN" altLang="pt-BR"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第</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一</a:t>
            </a:r>
            <a:r>
              <a:rPr kumimoji="1" lang="zh-CN" altLang="pt-BR"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滑裂面</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和竖直方向夹角</a:t>
            </a:r>
            <a:r>
              <a:rPr kumimoji="1" lang="zh-CN" altLang="pt-BR"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pt-BR"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45</a:t>
            </a:r>
            <a:r>
              <a:rPr kumimoji="1" lang="en-US" altLang="zh-CN" sz="2000" b="1" baseline="30000" dirty="0" smtClean="0">
                <a:solidFill>
                  <a:srgbClr val="000066"/>
                </a:solidFill>
                <a:latin typeface="Times New Roman" panose="02020603050405020304" pitchFamily="18" charset="0"/>
              </a:rPr>
              <a:t>o</a:t>
            </a:r>
            <a:r>
              <a:rPr kumimoji="1" lang="pt-BR"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 /2</a:t>
            </a:r>
          </a:p>
          <a:p>
            <a:pPr marL="182563" indent="-182563">
              <a:buClr>
                <a:srgbClr val="A50021"/>
              </a:buClr>
              <a:buSzPct val="130000"/>
              <a:buFont typeface="Arial" panose="020B0604020202020204" pitchFamily="34" charset="0"/>
              <a:buChar char="•"/>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滑动土楔以竖直面</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CD</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面为对称面下滑。</a:t>
            </a:r>
            <a:r>
              <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CD</a:t>
            </a: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可视为无剪应力的光滑面</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p:txBody>
      </p:sp>
      <p:cxnSp>
        <p:nvCxnSpPr>
          <p:cNvPr id="70" name="直接连接符 69"/>
          <p:cNvCxnSpPr/>
          <p:nvPr/>
        </p:nvCxnSpPr>
        <p:spPr bwMode="auto">
          <a:xfrm flipV="1">
            <a:off x="2045570" y="1828993"/>
            <a:ext cx="3271303" cy="58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 name="组合 10"/>
          <p:cNvGrpSpPr/>
          <p:nvPr/>
        </p:nvGrpSpPr>
        <p:grpSpPr>
          <a:xfrm>
            <a:off x="3639360" y="1477483"/>
            <a:ext cx="351108" cy="2160208"/>
            <a:chOff x="3639360" y="1477483"/>
            <a:chExt cx="351108" cy="2160208"/>
          </a:xfrm>
        </p:grpSpPr>
        <p:sp>
          <p:nvSpPr>
            <p:cNvPr id="21" name="Text Box 75"/>
            <p:cNvSpPr txBox="1">
              <a:spLocks noChangeArrowheads="1"/>
            </p:cNvSpPr>
            <p:nvPr/>
          </p:nvSpPr>
          <p:spPr bwMode="auto">
            <a:xfrm>
              <a:off x="3639360" y="1477483"/>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73" name="直接连接符 72"/>
            <p:cNvCxnSpPr>
              <a:stCxn id="72" idx="0"/>
            </p:cNvCxnSpPr>
            <p:nvPr/>
          </p:nvCxnSpPr>
          <p:spPr bwMode="auto">
            <a:xfrm flipV="1">
              <a:off x="3834551" y="1833883"/>
              <a:ext cx="8085" cy="1803808"/>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 name="组合 1"/>
          <p:cNvGrpSpPr/>
          <p:nvPr/>
        </p:nvGrpSpPr>
        <p:grpSpPr>
          <a:xfrm>
            <a:off x="2505732" y="1477662"/>
            <a:ext cx="1329490" cy="2156919"/>
            <a:chOff x="2505732" y="1477662"/>
            <a:chExt cx="1329490" cy="2156919"/>
          </a:xfrm>
        </p:grpSpPr>
        <p:sp>
          <p:nvSpPr>
            <p:cNvPr id="51" name="Line 70"/>
            <p:cNvSpPr>
              <a:spLocks noChangeShapeType="1"/>
            </p:cNvSpPr>
            <p:nvPr/>
          </p:nvSpPr>
          <p:spPr bwMode="auto">
            <a:xfrm flipH="1" flipV="1">
              <a:off x="2666980" y="1841347"/>
              <a:ext cx="1168242" cy="179323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Text Box 75"/>
            <p:cNvSpPr txBox="1">
              <a:spLocks noChangeArrowheads="1"/>
            </p:cNvSpPr>
            <p:nvPr/>
          </p:nvSpPr>
          <p:spPr bwMode="auto">
            <a:xfrm>
              <a:off x="2505732" y="1477662"/>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3" name="组合 2"/>
          <p:cNvGrpSpPr/>
          <p:nvPr/>
        </p:nvGrpSpPr>
        <p:grpSpPr>
          <a:xfrm>
            <a:off x="1205248" y="1846941"/>
            <a:ext cx="1556936" cy="1049427"/>
            <a:chOff x="1205248" y="1846941"/>
            <a:chExt cx="1556936" cy="1049427"/>
          </a:xfrm>
        </p:grpSpPr>
        <p:sp>
          <p:nvSpPr>
            <p:cNvPr id="82" name="Line 60"/>
            <p:cNvSpPr>
              <a:spLocks noChangeShapeType="1"/>
            </p:cNvSpPr>
            <p:nvPr/>
          </p:nvSpPr>
          <p:spPr bwMode="auto">
            <a:xfrm>
              <a:off x="2659954" y="1846941"/>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任意多边形 82"/>
            <p:cNvSpPr/>
            <p:nvPr/>
          </p:nvSpPr>
          <p:spPr bwMode="auto">
            <a:xfrm rot="18139897">
              <a:off x="2673143" y="1974449"/>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5" name="Text Box 48"/>
            <p:cNvSpPr txBox="1">
              <a:spLocks noChangeArrowheads="1"/>
            </p:cNvSpPr>
            <p:nvPr/>
          </p:nvSpPr>
          <p:spPr bwMode="auto">
            <a:xfrm>
              <a:off x="1205248" y="2571792"/>
              <a:ext cx="1501576" cy="324576"/>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kumimoji="1" lang="en-US" altLang="zh-CN" sz="2000" b="1" dirty="0" err="1" smtClean="0">
                  <a:solidFill>
                    <a:srgbClr val="000066"/>
                  </a:solidFill>
                  <a:latin typeface="Symbol" panose="05050102010706020507" pitchFamily="18" charset="2"/>
                </a:rPr>
                <a:t>a</a:t>
              </a:r>
              <a:r>
                <a:rPr kumimoji="1" lang="en-US" altLang="zh-CN" sz="2000" b="1" baseline="-25000" dirty="0" err="1" smtClean="0">
                  <a:solidFill>
                    <a:srgbClr val="000066"/>
                  </a:solidFill>
                  <a:latin typeface="Times New Roman" panose="02020603050405020304" pitchFamily="18" charset="0"/>
                </a:rPr>
                <a:t>cr</a:t>
              </a:r>
              <a:r>
                <a:rPr kumimoji="1" lang="en-US" altLang="zh-CN" sz="2000" b="1" dirty="0" smtClean="0">
                  <a:solidFill>
                    <a:srgbClr val="000066"/>
                  </a:solidFill>
                  <a:latin typeface="Times New Roman" panose="02020603050405020304" pitchFamily="18" charset="0"/>
                </a:rPr>
                <a:t>=45</a:t>
              </a:r>
              <a:r>
                <a:rPr kumimoji="1" lang="en-US" altLang="zh-CN" sz="2000" b="1" baseline="30000" dirty="0" smtClean="0">
                  <a:solidFill>
                    <a:srgbClr val="000066"/>
                  </a:solidFill>
                  <a:latin typeface="Times New Roman" panose="02020603050405020304" pitchFamily="18" charset="0"/>
                </a:rPr>
                <a:t>o </a:t>
              </a:r>
              <a:r>
                <a:rPr kumimoji="1" lang="en-US" altLang="zh-CN" sz="2000" b="1" dirty="0" smtClean="0">
                  <a:solidFill>
                    <a:srgbClr val="000066"/>
                  </a:solidFill>
                  <a:latin typeface="Times New Roman" panose="02020603050405020304" pitchFamily="18" charset="0"/>
                </a:rPr>
                <a:t>-</a:t>
              </a:r>
              <a:r>
                <a:rPr kumimoji="1" lang="en-US" altLang="zh-CN" sz="2000" b="1" dirty="0" smtClean="0">
                  <a:solidFill>
                    <a:srgbClr val="000066"/>
                  </a:solidFill>
                  <a:latin typeface="Symbol" panose="05050102010706020507" pitchFamily="18" charset="2"/>
                </a:rPr>
                <a:t> </a:t>
              </a:r>
              <a:r>
                <a:rPr kumimoji="1" lang="en-US" altLang="zh-CN" sz="2000" b="1" dirty="0" smtClean="0">
                  <a:solidFill>
                    <a:srgbClr val="000066"/>
                  </a:solidFill>
                  <a:latin typeface="Symbol" panose="05050102010706020507" pitchFamily="18" charset="2"/>
                  <a:sym typeface="Symbol"/>
                </a:rPr>
                <a:t></a:t>
              </a:r>
              <a:r>
                <a:rPr kumimoji="1" lang="en-US" altLang="zh-CN" sz="2000" b="1" dirty="0" smtClean="0">
                  <a:solidFill>
                    <a:srgbClr val="000066"/>
                  </a:solidFill>
                  <a:latin typeface="Times New Roman" panose="02020603050405020304" pitchFamily="18" charset="0"/>
                </a:rPr>
                <a:t>/2</a:t>
              </a:r>
              <a:endParaRPr kumimoji="1" lang="en-US" altLang="zh-CN" sz="2000" b="1" dirty="0">
                <a:solidFill>
                  <a:srgbClr val="000066"/>
                </a:solidFill>
                <a:latin typeface="Times New Roman" panose="02020603050405020304" pitchFamily="18" charset="0"/>
              </a:endParaRPr>
            </a:p>
          </p:txBody>
        </p:sp>
        <p:cxnSp>
          <p:nvCxnSpPr>
            <p:cNvPr id="86" name="直接连接符 85"/>
            <p:cNvCxnSpPr/>
            <p:nvPr/>
          </p:nvCxnSpPr>
          <p:spPr bwMode="auto">
            <a:xfrm flipH="1">
              <a:off x="2118510" y="2109455"/>
              <a:ext cx="633741" cy="516048"/>
            </a:xfrm>
            <a:prstGeom prst="line">
              <a:avLst/>
            </a:prstGeom>
            <a:noFill/>
            <a:ln w="63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 name="组合 9"/>
          <p:cNvGrpSpPr/>
          <p:nvPr/>
        </p:nvGrpSpPr>
        <p:grpSpPr>
          <a:xfrm>
            <a:off x="3869088" y="3064049"/>
            <a:ext cx="1391802" cy="386014"/>
            <a:chOff x="3869088" y="3064049"/>
            <a:chExt cx="1391802" cy="386014"/>
          </a:xfrm>
        </p:grpSpPr>
        <p:sp>
          <p:nvSpPr>
            <p:cNvPr id="78" name="任意多边形 77"/>
            <p:cNvSpPr/>
            <p:nvPr/>
          </p:nvSpPr>
          <p:spPr bwMode="auto">
            <a:xfrm rot="8810120">
              <a:off x="3869088" y="3357103"/>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9" name="Text Box 48"/>
            <p:cNvSpPr txBox="1">
              <a:spLocks noChangeArrowheads="1"/>
            </p:cNvSpPr>
            <p:nvPr/>
          </p:nvSpPr>
          <p:spPr bwMode="auto">
            <a:xfrm>
              <a:off x="4290015" y="3064049"/>
              <a:ext cx="970875" cy="324576"/>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kumimoji="1" lang="en-US" altLang="zh-CN" sz="2000" b="1" dirty="0" smtClean="0">
                  <a:solidFill>
                    <a:srgbClr val="000066"/>
                  </a:solidFill>
                  <a:latin typeface="Times New Roman" panose="02020603050405020304" pitchFamily="18" charset="0"/>
                </a:rPr>
                <a:t>45</a:t>
              </a:r>
              <a:r>
                <a:rPr kumimoji="1" lang="en-US" altLang="zh-CN" sz="2000" b="1" baseline="30000" dirty="0" smtClean="0">
                  <a:solidFill>
                    <a:srgbClr val="000066"/>
                  </a:solidFill>
                  <a:latin typeface="Times New Roman" panose="02020603050405020304" pitchFamily="18" charset="0"/>
                </a:rPr>
                <a:t>o </a:t>
              </a:r>
              <a:r>
                <a:rPr kumimoji="1" lang="en-US" altLang="zh-CN" sz="2000" b="1" dirty="0" smtClean="0">
                  <a:solidFill>
                    <a:srgbClr val="000066"/>
                  </a:solidFill>
                  <a:latin typeface="Times New Roman" panose="02020603050405020304" pitchFamily="18" charset="0"/>
                </a:rPr>
                <a:t>-</a:t>
              </a:r>
              <a:r>
                <a:rPr kumimoji="1" lang="en-US" altLang="zh-CN" sz="2000" b="1" dirty="0" smtClean="0">
                  <a:solidFill>
                    <a:srgbClr val="000066"/>
                  </a:solidFill>
                  <a:latin typeface="Symbol" panose="05050102010706020507" pitchFamily="18" charset="2"/>
                </a:rPr>
                <a:t> </a:t>
              </a:r>
              <a:r>
                <a:rPr kumimoji="1" lang="en-US" altLang="zh-CN" sz="2000" b="1" dirty="0" smtClean="0">
                  <a:solidFill>
                    <a:srgbClr val="000066"/>
                  </a:solidFill>
                  <a:latin typeface="Symbol" panose="05050102010706020507" pitchFamily="18" charset="2"/>
                  <a:sym typeface="Symbol"/>
                </a:rPr>
                <a:t></a:t>
              </a:r>
              <a:r>
                <a:rPr kumimoji="1" lang="en-US" altLang="zh-CN" sz="2000" b="1" dirty="0" smtClean="0">
                  <a:solidFill>
                    <a:srgbClr val="000066"/>
                  </a:solidFill>
                  <a:latin typeface="Times New Roman" panose="02020603050405020304" pitchFamily="18" charset="0"/>
                </a:rPr>
                <a:t>/2</a:t>
              </a:r>
              <a:endParaRPr kumimoji="1" lang="en-US" altLang="zh-CN" sz="2000" b="1" dirty="0">
                <a:solidFill>
                  <a:srgbClr val="000066"/>
                </a:solidFill>
                <a:latin typeface="Times New Roman" panose="02020603050405020304" pitchFamily="18" charset="0"/>
              </a:endParaRPr>
            </a:p>
          </p:txBody>
        </p:sp>
        <p:sp>
          <p:nvSpPr>
            <p:cNvPr id="88" name="任意多边形 87"/>
            <p:cNvSpPr/>
            <p:nvPr/>
          </p:nvSpPr>
          <p:spPr bwMode="auto">
            <a:xfrm>
              <a:off x="3909817" y="3228773"/>
              <a:ext cx="335902" cy="119432"/>
            </a:xfrm>
            <a:custGeom>
              <a:avLst/>
              <a:gdLst>
                <a:gd name="connsiteX0" fmla="*/ 0 w 235131"/>
                <a:gd name="connsiteY0" fmla="*/ 119432 h 119432"/>
                <a:gd name="connsiteX1" fmla="*/ 82109 w 235131"/>
                <a:gd name="connsiteY1" fmla="*/ 22394 h 119432"/>
                <a:gd name="connsiteX2" fmla="*/ 235131 w 235131"/>
                <a:gd name="connsiteY2" fmla="*/ 0 h 119432"/>
              </a:gdLst>
              <a:ahLst/>
              <a:cxnLst>
                <a:cxn ang="0">
                  <a:pos x="connsiteX0" y="connsiteY0"/>
                </a:cxn>
                <a:cxn ang="0">
                  <a:pos x="connsiteX1" y="connsiteY1"/>
                </a:cxn>
                <a:cxn ang="0">
                  <a:pos x="connsiteX2" y="connsiteY2"/>
                </a:cxn>
              </a:cxnLst>
              <a:rect l="l" t="t" r="r" b="b"/>
              <a:pathLst>
                <a:path w="235131" h="119432">
                  <a:moveTo>
                    <a:pt x="0" y="119432"/>
                  </a:moveTo>
                  <a:cubicBezTo>
                    <a:pt x="21460" y="80865"/>
                    <a:pt x="42921" y="42299"/>
                    <a:pt x="82109" y="22394"/>
                  </a:cubicBezTo>
                  <a:cubicBezTo>
                    <a:pt x="121298" y="2489"/>
                    <a:pt x="178214" y="1244"/>
                    <a:pt x="235131" y="0"/>
                  </a:cubicBezTo>
                </a:path>
              </a:pathLst>
            </a:custGeom>
            <a:noFill/>
            <a:ln w="63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5" name="组合 4"/>
          <p:cNvGrpSpPr/>
          <p:nvPr/>
        </p:nvGrpSpPr>
        <p:grpSpPr>
          <a:xfrm>
            <a:off x="3834551" y="1471040"/>
            <a:ext cx="1425851" cy="2166651"/>
            <a:chOff x="3834551" y="1471040"/>
            <a:chExt cx="1425851" cy="2166651"/>
          </a:xfrm>
        </p:grpSpPr>
        <p:sp>
          <p:nvSpPr>
            <p:cNvPr id="72" name="Line 70"/>
            <p:cNvSpPr>
              <a:spLocks noChangeShapeType="1"/>
            </p:cNvSpPr>
            <p:nvPr/>
          </p:nvSpPr>
          <p:spPr bwMode="auto">
            <a:xfrm flipV="1">
              <a:off x="3834551" y="1844457"/>
              <a:ext cx="1168242" cy="179323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Text Box 75"/>
            <p:cNvSpPr txBox="1">
              <a:spLocks noChangeArrowheads="1"/>
            </p:cNvSpPr>
            <p:nvPr/>
          </p:nvSpPr>
          <p:spPr bwMode="auto">
            <a:xfrm>
              <a:off x="4812935" y="1471040"/>
              <a:ext cx="44746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r>
                <a:rPr kumimoji="1" lang="en-US" altLang="zh-CN" sz="2000" b="1" dirty="0" smtClean="0">
                  <a:solidFill>
                    <a:srgbClr val="000066"/>
                  </a:solidFill>
                  <a:latin typeface="Times New Roman" panose="02020603050405020304" pitchFamily="18" charset="0"/>
                  <a:sym typeface="Symbol"/>
                </a:rPr>
                <a:t></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grpSp>
        <p:nvGrpSpPr>
          <p:cNvPr id="7" name="组合 6"/>
          <p:cNvGrpSpPr/>
          <p:nvPr/>
        </p:nvGrpSpPr>
        <p:grpSpPr>
          <a:xfrm>
            <a:off x="4654580" y="2146733"/>
            <a:ext cx="1526508" cy="653151"/>
            <a:chOff x="4654580" y="2146733"/>
            <a:chExt cx="1526508" cy="653151"/>
          </a:xfrm>
        </p:grpSpPr>
        <p:sp>
          <p:nvSpPr>
            <p:cNvPr id="101" name="Text Box 75"/>
            <p:cNvSpPr txBox="1">
              <a:spLocks noChangeArrowheads="1"/>
            </p:cNvSpPr>
            <p:nvPr/>
          </p:nvSpPr>
          <p:spPr bwMode="auto">
            <a:xfrm>
              <a:off x="4654580" y="2353608"/>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第一滑裂面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102" name="直接连接符 101"/>
            <p:cNvCxnSpPr/>
            <p:nvPr/>
          </p:nvCxnSpPr>
          <p:spPr bwMode="auto">
            <a:xfrm>
              <a:off x="4798112" y="2146733"/>
              <a:ext cx="247605" cy="256561"/>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1" name="矩形 120"/>
          <p:cNvSpPr/>
          <p:nvPr/>
        </p:nvSpPr>
        <p:spPr>
          <a:xfrm>
            <a:off x="3627326" y="649556"/>
            <a:ext cx="3235201" cy="446276"/>
          </a:xfrm>
          <a:prstGeom prst="rect">
            <a:avLst/>
          </a:prstGeom>
          <a:solidFill>
            <a:srgbClr val="FFFF00"/>
          </a:solidFill>
        </p:spPr>
        <p:txBody>
          <a:bodyPr wrap="square">
            <a:spAutoFit/>
          </a:bodyPr>
          <a:lstStyle/>
          <a:p>
            <a:pPr eaLnBrk="1" hangingPunct="1"/>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条件：填</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土</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面</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水平</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a:t>
            </a:r>
            <a:r>
              <a:rPr lang="en-US" altLang="zh-CN"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 </a:t>
            </a:r>
            <a:r>
              <a:rPr lang="zh-CN" altLang="en-US" sz="2000" b="1" dirty="0" smtClean="0">
                <a:solidFill>
                  <a:srgbClr val="993300"/>
                </a:solidFill>
                <a:ea typeface="黑体" panose="02010609060101010101" pitchFamily="49" charset="-122"/>
                <a:cs typeface="Times New Roman" panose="02020603050405020304" pitchFamily="18" charset="0"/>
                <a:sym typeface="Symbol"/>
              </a:rPr>
              <a:t></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a:t>
            </a:r>
            <a:endParaRPr lang="zh-CN" altLang="en-US" sz="2000" b="1" dirty="0">
              <a:solidFill>
                <a:srgbClr val="993300"/>
              </a:solidFill>
              <a:ea typeface="黑体" panose="02010609060101010101" pitchFamily="49" charset="-122"/>
              <a:cs typeface="Times New Roman" panose="02020603050405020304" pitchFamily="18" charset="0"/>
            </a:endParaRPr>
          </a:p>
        </p:txBody>
      </p:sp>
      <p:sp>
        <p:nvSpPr>
          <p:cNvPr id="128"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坦墙</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129" name="Group 12"/>
          <p:cNvGrpSpPr>
            <a:grpSpLocks/>
          </p:cNvGrpSpPr>
          <p:nvPr/>
        </p:nvGrpSpPr>
        <p:grpSpPr bwMode="auto">
          <a:xfrm>
            <a:off x="3289903" y="1836730"/>
            <a:ext cx="454614" cy="73451"/>
            <a:chOff x="2274" y="1204"/>
            <a:chExt cx="270" cy="44"/>
          </a:xfrm>
        </p:grpSpPr>
        <p:sp>
          <p:nvSpPr>
            <p:cNvPr id="130"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7" name="Group 12"/>
          <p:cNvGrpSpPr>
            <a:grpSpLocks/>
          </p:cNvGrpSpPr>
          <p:nvPr/>
        </p:nvGrpSpPr>
        <p:grpSpPr bwMode="auto">
          <a:xfrm>
            <a:off x="3990935" y="1833333"/>
            <a:ext cx="454614" cy="73451"/>
            <a:chOff x="2274" y="1204"/>
            <a:chExt cx="270" cy="44"/>
          </a:xfrm>
        </p:grpSpPr>
        <p:sp>
          <p:nvSpPr>
            <p:cNvPr id="138"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9" name="AutoShape 23"/>
          <p:cNvSpPr>
            <a:spLocks noChangeArrowheads="1"/>
          </p:cNvSpPr>
          <p:nvPr/>
        </p:nvSpPr>
        <p:spPr bwMode="auto">
          <a:xfrm>
            <a:off x="6946454" y="4620340"/>
            <a:ext cx="430805" cy="380463"/>
          </a:xfrm>
          <a:prstGeom prst="homePlate">
            <a:avLst>
              <a:gd name="adj" fmla="val 27029"/>
            </a:avLst>
          </a:prstGeom>
          <a:solidFill>
            <a:srgbClr val="FF9900"/>
          </a:solidFill>
          <a:ln w="9525">
            <a:solidFill>
              <a:schemeClr val="tx1"/>
            </a:solidFill>
            <a:miter lim="800000"/>
            <a:headEnd/>
            <a:tailEnd/>
          </a:ln>
        </p:spPr>
        <p:txBody>
          <a:bodyPr anchor="ctr"/>
          <a:lstStyle/>
          <a:p>
            <a:endParaRPr lang="zh-CN" altLang="en-US"/>
          </a:p>
        </p:txBody>
      </p:sp>
      <p:sp>
        <p:nvSpPr>
          <p:cNvPr id="80" name="Rectangle 3"/>
          <p:cNvSpPr txBox="1">
            <a:spLocks noChangeArrowheads="1"/>
          </p:cNvSpPr>
          <p:nvPr/>
        </p:nvSpPr>
        <p:spPr bwMode="auto">
          <a:xfrm>
            <a:off x="7512587" y="4348619"/>
            <a:ext cx="1251087" cy="107488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25000"/>
              </a:lnSpc>
              <a:spcBef>
                <a:spcPct val="0"/>
              </a:spcBef>
              <a:buClr>
                <a:srgbClr val="C00000"/>
              </a:buClr>
              <a:buSzPct val="100000"/>
              <a:buNone/>
            </a:pPr>
            <a:r>
              <a:rPr lang="zh-CN" altLang="en-US" sz="2400" b="1" kern="0" dirty="0" smtClean="0">
                <a:solidFill>
                  <a:srgbClr val="A50021"/>
                </a:solidFill>
                <a:latin typeface="黑体" panose="02010609060101010101" pitchFamily="49" charset="-122"/>
                <a:ea typeface="黑体" panose="02010609060101010101" pitchFamily="49" charset="-122"/>
              </a:rPr>
              <a:t>朗肯理论计算</a:t>
            </a:r>
            <a:endParaRPr lang="zh-CN" altLang="en-US" sz="2400" b="1" kern="0" dirty="0">
              <a:solidFill>
                <a:srgbClr val="A5002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82646580"/>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67">
                                            <p:txEl>
                                              <p:pRg st="0" end="0"/>
                                            </p:txEl>
                                          </p:spTgt>
                                        </p:tgtEl>
                                        <p:attrNameLst>
                                          <p:attrName>style.visibility</p:attrName>
                                        </p:attrNameLst>
                                      </p:cBhvr>
                                      <p:to>
                                        <p:strVal val="visible"/>
                                      </p:to>
                                    </p:set>
                                    <p:animEffect transition="in" filter="wipe(left)">
                                      <p:cBhvr>
                                        <p:cTn id="18" dur="500"/>
                                        <p:tgtEl>
                                          <p:spTgt spid="6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childTnLst>
                          </p:cTn>
                        </p:par>
                        <p:par>
                          <p:cTn id="32" fill="hold">
                            <p:stCondLst>
                              <p:cond delay="500"/>
                            </p:stCondLst>
                            <p:childTnLst>
                              <p:par>
                                <p:cTn id="33" presetID="22" presetClass="entr" presetSubtype="4"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67">
                                            <p:txEl>
                                              <p:pRg st="1" end="1"/>
                                            </p:txEl>
                                          </p:spTgt>
                                        </p:tgtEl>
                                        <p:attrNameLst>
                                          <p:attrName>style.visibility</p:attrName>
                                        </p:attrNameLst>
                                      </p:cBhvr>
                                      <p:to>
                                        <p:strVal val="visible"/>
                                      </p:to>
                                    </p:set>
                                    <p:animEffect transition="in" filter="wipe(left)">
                                      <p:cBhvr>
                                        <p:cTn id="39" dur="500"/>
                                        <p:tgtEl>
                                          <p:spTgt spid="6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7">
                                            <p:txEl>
                                              <p:pRg st="2" end="2"/>
                                            </p:txEl>
                                          </p:spTgt>
                                        </p:tgtEl>
                                        <p:attrNameLst>
                                          <p:attrName>style.visibility</p:attrName>
                                        </p:attrNameLst>
                                      </p:cBhvr>
                                      <p:to>
                                        <p:strVal val="visible"/>
                                      </p:to>
                                    </p:set>
                                    <p:animEffect transition="in" filter="wipe(left)">
                                      <p:cBhvr>
                                        <p:cTn id="44" dur="500"/>
                                        <p:tgtEl>
                                          <p:spTgt spid="67">
                                            <p:txEl>
                                              <p:pRg st="2" end="2"/>
                                            </p:txEl>
                                          </p:spTgt>
                                        </p:tgtEl>
                                      </p:cBhvr>
                                    </p:animEffect>
                                  </p:childTnLst>
                                </p:cTn>
                              </p:par>
                            </p:childTnLst>
                          </p:cTn>
                        </p:par>
                        <p:par>
                          <p:cTn id="45" fill="hold">
                            <p:stCondLst>
                              <p:cond delay="500"/>
                            </p:stCondLst>
                            <p:childTnLst>
                              <p:par>
                                <p:cTn id="46" presetID="22" presetClass="entr" presetSubtype="4" fill="hold" grpId="0"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down)">
                                      <p:cBhvr>
                                        <p:cTn id="48" dur="500"/>
                                        <p:tgtEl>
                                          <p:spTgt spid="8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wipe(left)">
                                      <p:cBhvr>
                                        <p:cTn id="53" dur="1000"/>
                                        <p:tgtEl>
                                          <p:spTgt spid="79"/>
                                        </p:tgtEl>
                                      </p:cBhvr>
                                    </p:animEffect>
                                  </p:childTnLst>
                                </p:cTn>
                              </p:par>
                            </p:childTnLst>
                          </p:cTn>
                        </p:par>
                        <p:par>
                          <p:cTn id="54" fill="hold">
                            <p:stCondLst>
                              <p:cond delay="1000"/>
                            </p:stCondLst>
                            <p:childTnLst>
                              <p:par>
                                <p:cTn id="55" presetID="31" presetClass="entr" presetSubtype="0" fill="hold" grpId="0" nodeType="afterEffect">
                                  <p:stCondLst>
                                    <p:cond delay="0"/>
                                  </p:stCondLst>
                                  <p:childTnLst>
                                    <p:set>
                                      <p:cBhvr>
                                        <p:cTn id="56" dur="1" fill="hold">
                                          <p:stCondLst>
                                            <p:cond delay="0"/>
                                          </p:stCondLst>
                                        </p:cTn>
                                        <p:tgtEl>
                                          <p:spTgt spid="80"/>
                                        </p:tgtEl>
                                        <p:attrNameLst>
                                          <p:attrName>style.visibility</p:attrName>
                                        </p:attrNameLst>
                                      </p:cBhvr>
                                      <p:to>
                                        <p:strVal val="visible"/>
                                      </p:to>
                                    </p:set>
                                    <p:anim calcmode="lin" valueType="num">
                                      <p:cBhvr>
                                        <p:cTn id="57" dur="1000" fill="hold"/>
                                        <p:tgtEl>
                                          <p:spTgt spid="80"/>
                                        </p:tgtEl>
                                        <p:attrNameLst>
                                          <p:attrName>ppt_w</p:attrName>
                                        </p:attrNameLst>
                                      </p:cBhvr>
                                      <p:tavLst>
                                        <p:tav tm="0">
                                          <p:val>
                                            <p:fltVal val="0"/>
                                          </p:val>
                                        </p:tav>
                                        <p:tav tm="100000">
                                          <p:val>
                                            <p:strVal val="#ppt_w"/>
                                          </p:val>
                                        </p:tav>
                                      </p:tavLst>
                                    </p:anim>
                                    <p:anim calcmode="lin" valueType="num">
                                      <p:cBhvr>
                                        <p:cTn id="58" dur="1000" fill="hold"/>
                                        <p:tgtEl>
                                          <p:spTgt spid="80"/>
                                        </p:tgtEl>
                                        <p:attrNameLst>
                                          <p:attrName>ppt_h</p:attrName>
                                        </p:attrNameLst>
                                      </p:cBhvr>
                                      <p:tavLst>
                                        <p:tav tm="0">
                                          <p:val>
                                            <p:fltVal val="0"/>
                                          </p:val>
                                        </p:tav>
                                        <p:tav tm="100000">
                                          <p:val>
                                            <p:strVal val="#ppt_h"/>
                                          </p:val>
                                        </p:tav>
                                      </p:tavLst>
                                    </p:anim>
                                    <p:anim calcmode="lin" valueType="num">
                                      <p:cBhvr>
                                        <p:cTn id="59" dur="1000" fill="hold"/>
                                        <p:tgtEl>
                                          <p:spTgt spid="80"/>
                                        </p:tgtEl>
                                        <p:attrNameLst>
                                          <p:attrName>style.rotation</p:attrName>
                                        </p:attrNameLst>
                                      </p:cBhvr>
                                      <p:tavLst>
                                        <p:tav tm="0">
                                          <p:val>
                                            <p:fltVal val="90"/>
                                          </p:val>
                                        </p:tav>
                                        <p:tav tm="100000">
                                          <p:val>
                                            <p:fltVal val="0"/>
                                          </p:val>
                                        </p:tav>
                                      </p:tavLst>
                                    </p:anim>
                                    <p:animEffect transition="in" filter="fade">
                                      <p:cBhvr>
                                        <p:cTn id="60" dur="1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67" grpId="0" uiExpand="1" build="p"/>
      <p:bldP spid="79" grpId="0" animBg="1"/>
      <p:bldP spid="8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bwMode="auto">
          <a:xfrm>
            <a:off x="1439254" y="1603076"/>
            <a:ext cx="2335794" cy="1801640"/>
          </a:xfrm>
          <a:custGeom>
            <a:avLst/>
            <a:gdLst>
              <a:gd name="connsiteX0" fmla="*/ 0 w 2335794"/>
              <a:gd name="connsiteY0" fmla="*/ 0 h 1801640"/>
              <a:gd name="connsiteX1" fmla="*/ 529627 w 2335794"/>
              <a:gd name="connsiteY1" fmla="*/ 0 h 1801640"/>
              <a:gd name="connsiteX2" fmla="*/ 2335794 w 2335794"/>
              <a:gd name="connsiteY2" fmla="*/ 1801640 h 1801640"/>
              <a:gd name="connsiteX3" fmla="*/ 9053 w 2335794"/>
              <a:gd name="connsiteY3" fmla="*/ 1801640 h 1801640"/>
            </a:gdLst>
            <a:ahLst/>
            <a:cxnLst>
              <a:cxn ang="0">
                <a:pos x="connsiteX0" y="connsiteY0"/>
              </a:cxn>
              <a:cxn ang="0">
                <a:pos x="connsiteX1" y="connsiteY1"/>
              </a:cxn>
              <a:cxn ang="0">
                <a:pos x="connsiteX2" y="connsiteY2"/>
              </a:cxn>
              <a:cxn ang="0">
                <a:pos x="connsiteX3" y="connsiteY3"/>
              </a:cxn>
            </a:cxnLst>
            <a:rect l="l" t="t" r="r" b="b"/>
            <a:pathLst>
              <a:path w="2335794" h="1801640">
                <a:moveTo>
                  <a:pt x="0" y="0"/>
                </a:moveTo>
                <a:lnTo>
                  <a:pt x="529627" y="0"/>
                </a:lnTo>
                <a:lnTo>
                  <a:pt x="2335794" y="1801640"/>
                </a:lnTo>
                <a:lnTo>
                  <a:pt x="9053" y="1801640"/>
                </a:lnTo>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3" name="组合 22"/>
          <p:cNvGrpSpPr/>
          <p:nvPr/>
        </p:nvGrpSpPr>
        <p:grpSpPr>
          <a:xfrm>
            <a:off x="1991433" y="1604384"/>
            <a:ext cx="1933461" cy="1809718"/>
            <a:chOff x="2048077" y="1839052"/>
            <a:chExt cx="1933461" cy="1809718"/>
          </a:xfrm>
        </p:grpSpPr>
        <p:sp>
          <p:nvSpPr>
            <p:cNvPr id="6" name="任意多边形 5"/>
            <p:cNvSpPr/>
            <p:nvPr/>
          </p:nvSpPr>
          <p:spPr bwMode="auto">
            <a:xfrm>
              <a:off x="2048077" y="1839052"/>
              <a:ext cx="1793840" cy="1809718"/>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1481960"/>
                <a:gd name="connsiteY0" fmla="*/ 280664 h 1688973"/>
                <a:gd name="connsiteX1" fmla="*/ 290339 w 1481960"/>
                <a:gd name="connsiteY1" fmla="*/ 1688973 h 1688973"/>
                <a:gd name="connsiteX2" fmla="*/ 1481960 w 1481960"/>
                <a:gd name="connsiteY2" fmla="*/ 0 h 1688973"/>
                <a:gd name="connsiteX3" fmla="*/ 0 w 1481960"/>
                <a:gd name="connsiteY3" fmla="*/ 280664 h 1688973"/>
                <a:gd name="connsiteX0" fmla="*/ 0 w 1481960"/>
                <a:gd name="connsiteY0" fmla="*/ 280664 h 1819283"/>
                <a:gd name="connsiteX1" fmla="*/ 781508 w 1481960"/>
                <a:gd name="connsiteY1" fmla="*/ 1819283 h 1819283"/>
                <a:gd name="connsiteX2" fmla="*/ 1481960 w 1481960"/>
                <a:gd name="connsiteY2" fmla="*/ 0 h 1819283"/>
                <a:gd name="connsiteX3" fmla="*/ 0 w 1481960"/>
                <a:gd name="connsiteY3" fmla="*/ 280664 h 1819283"/>
                <a:gd name="connsiteX0" fmla="*/ 0 w 1626303"/>
                <a:gd name="connsiteY0" fmla="*/ 398495 h 1819283"/>
                <a:gd name="connsiteX1" fmla="*/ 925851 w 1626303"/>
                <a:gd name="connsiteY1" fmla="*/ 1819283 h 1819283"/>
                <a:gd name="connsiteX2" fmla="*/ 1626303 w 1626303"/>
                <a:gd name="connsiteY2" fmla="*/ 0 h 1819283"/>
                <a:gd name="connsiteX3" fmla="*/ 0 w 1626303"/>
                <a:gd name="connsiteY3" fmla="*/ 398495 h 1819283"/>
                <a:gd name="connsiteX0" fmla="*/ 0 w 1856074"/>
                <a:gd name="connsiteY0" fmla="*/ 12597 h 1433385"/>
                <a:gd name="connsiteX1" fmla="*/ 925851 w 1856074"/>
                <a:gd name="connsiteY1" fmla="*/ 1433385 h 1433385"/>
                <a:gd name="connsiteX2" fmla="*/ 1856074 w 1856074"/>
                <a:gd name="connsiteY2" fmla="*/ 0 h 1433385"/>
                <a:gd name="connsiteX3" fmla="*/ 0 w 1856074"/>
                <a:gd name="connsiteY3" fmla="*/ 12597 h 1433385"/>
                <a:gd name="connsiteX0" fmla="*/ 0 w 928868"/>
                <a:gd name="connsiteY0" fmla="*/ 7585 h 1428373"/>
                <a:gd name="connsiteX1" fmla="*/ 925851 w 928868"/>
                <a:gd name="connsiteY1" fmla="*/ 1428373 h 1428373"/>
                <a:gd name="connsiteX2" fmla="*/ 928868 w 928868"/>
                <a:gd name="connsiteY2" fmla="*/ 0 h 1428373"/>
                <a:gd name="connsiteX3" fmla="*/ 0 w 928868"/>
                <a:gd name="connsiteY3" fmla="*/ 7585 h 1428373"/>
                <a:gd name="connsiteX0" fmla="*/ 0 w 928868"/>
                <a:gd name="connsiteY0" fmla="*/ 902 h 1428373"/>
                <a:gd name="connsiteX1" fmla="*/ 925851 w 928868"/>
                <a:gd name="connsiteY1" fmla="*/ 1428373 h 1428373"/>
                <a:gd name="connsiteX2" fmla="*/ 928868 w 928868"/>
                <a:gd name="connsiteY2" fmla="*/ 0 h 1428373"/>
                <a:gd name="connsiteX3" fmla="*/ 0 w 928868"/>
                <a:gd name="connsiteY3" fmla="*/ 902 h 1428373"/>
              </a:gdLst>
              <a:ahLst/>
              <a:cxnLst>
                <a:cxn ang="0">
                  <a:pos x="connsiteX0" y="connsiteY0"/>
                </a:cxn>
                <a:cxn ang="0">
                  <a:pos x="connsiteX1" y="connsiteY1"/>
                </a:cxn>
                <a:cxn ang="0">
                  <a:pos x="connsiteX2" y="connsiteY2"/>
                </a:cxn>
                <a:cxn ang="0">
                  <a:pos x="connsiteX3" y="connsiteY3"/>
                </a:cxn>
              </a:cxnLst>
              <a:rect l="l" t="t" r="r" b="b"/>
              <a:pathLst>
                <a:path w="928868" h="1428373">
                  <a:moveTo>
                    <a:pt x="0" y="902"/>
                  </a:moveTo>
                  <a:lnTo>
                    <a:pt x="925851" y="1428373"/>
                  </a:lnTo>
                  <a:cubicBezTo>
                    <a:pt x="926857" y="952249"/>
                    <a:pt x="927862" y="476124"/>
                    <a:pt x="928868" y="0"/>
                  </a:cubicBezTo>
                  <a:lnTo>
                    <a:pt x="0" y="902"/>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nvGrpSpPr>
            <p:cNvPr id="22" name="组合 21"/>
            <p:cNvGrpSpPr/>
            <p:nvPr/>
          </p:nvGrpSpPr>
          <p:grpSpPr>
            <a:xfrm>
              <a:off x="2348334" y="2903080"/>
              <a:ext cx="712911" cy="607586"/>
              <a:chOff x="2348334" y="2903080"/>
              <a:chExt cx="712911" cy="607586"/>
            </a:xfrm>
          </p:grpSpPr>
          <p:cxnSp>
            <p:nvCxnSpPr>
              <p:cNvPr id="93" name="直接箭头连接符 92"/>
              <p:cNvCxnSpPr/>
              <p:nvPr/>
            </p:nvCxnSpPr>
            <p:spPr bwMode="auto">
              <a:xfrm flipV="1">
                <a:off x="2828872" y="2903080"/>
                <a:ext cx="232373" cy="607586"/>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Text Box 75"/>
              <p:cNvSpPr txBox="1">
                <a:spLocks noChangeArrowheads="1"/>
              </p:cNvSpPr>
              <p:nvPr/>
            </p:nvSpPr>
            <p:spPr bwMode="auto">
              <a:xfrm>
                <a:off x="2348334" y="2998220"/>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grpSp>
        <p:grpSp>
          <p:nvGrpSpPr>
            <p:cNvPr id="15" name="组合 14"/>
            <p:cNvGrpSpPr/>
            <p:nvPr/>
          </p:nvGrpSpPr>
          <p:grpSpPr>
            <a:xfrm>
              <a:off x="3328235" y="2012485"/>
              <a:ext cx="653303" cy="955353"/>
              <a:chOff x="3328235" y="2012485"/>
              <a:chExt cx="653303" cy="955353"/>
            </a:xfrm>
          </p:grpSpPr>
          <p:cxnSp>
            <p:nvCxnSpPr>
              <p:cNvPr id="98" name="直接箭头连接符 97"/>
              <p:cNvCxnSpPr/>
              <p:nvPr/>
            </p:nvCxnSpPr>
            <p:spPr bwMode="auto">
              <a:xfrm>
                <a:off x="3328235" y="2061391"/>
                <a:ext cx="0" cy="906447"/>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75"/>
              <p:cNvSpPr txBox="1">
                <a:spLocks noChangeArrowheads="1"/>
              </p:cNvSpPr>
              <p:nvPr/>
            </p:nvSpPr>
            <p:spPr bwMode="auto">
              <a:xfrm>
                <a:off x="3353002" y="2012485"/>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000066"/>
                    </a:solidFill>
                    <a:latin typeface="Times New Roman" panose="02020603050405020304" pitchFamily="18" charset="0"/>
                    <a:sym typeface="Symbol" panose="05050102010706020507" pitchFamily="18" charset="2"/>
                  </a:rPr>
                  <a:t>W</a:t>
                </a:r>
                <a:endParaRPr kumimoji="1" lang="en-US" altLang="zh-CN" sz="2400" b="1" dirty="0">
                  <a:solidFill>
                    <a:srgbClr val="000066"/>
                  </a:solidFill>
                  <a:latin typeface="Times New Roman" panose="02020603050405020304" pitchFamily="18" charset="0"/>
                  <a:sym typeface="Symbol" panose="05050102010706020507" pitchFamily="18" charset="2"/>
                </a:endParaRPr>
              </a:p>
            </p:txBody>
          </p:sp>
        </p:grpSp>
      </p:gr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84</a:t>
            </a:fld>
            <a:endParaRPr lang="zh-CN" altLang="en-US" dirty="0">
              <a:solidFill>
                <a:srgbClr val="C00000"/>
              </a:solidFill>
            </a:endParaRPr>
          </a:p>
        </p:txBody>
      </p:sp>
      <p:sp>
        <p:nvSpPr>
          <p:cNvPr id="63" name="Text Box 2"/>
          <p:cNvSpPr txBox="1">
            <a:spLocks noChangeArrowheads="1"/>
          </p:cNvSpPr>
          <p:nvPr/>
        </p:nvSpPr>
        <p:spPr bwMode="auto">
          <a:xfrm>
            <a:off x="1729626" y="5723367"/>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4.  </a:t>
            </a:r>
            <a:r>
              <a:rPr kumimoji="1" lang="zh-CN" altLang="en-US" sz="4000" b="1" dirty="0" smtClean="0">
                <a:solidFill>
                  <a:srgbClr val="000066"/>
                </a:solidFill>
                <a:ea typeface="黑体" pitchFamily="2" charset="-122"/>
                <a:cs typeface="Times New Roman" panose="02020603050405020304" pitchFamily="18" charset="0"/>
              </a:rPr>
              <a:t>坦 墙</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556226"/>
            <a:ext cx="459549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坦墙土压力</a:t>
            </a:r>
            <a:r>
              <a:rPr lang="zh-CN" altLang="en-US" sz="2400" b="1" kern="0" dirty="0">
                <a:solidFill>
                  <a:srgbClr val="A50021"/>
                </a:solidFill>
                <a:latin typeface="微软雅黑" panose="020B0503020204020204" pitchFamily="34" charset="-122"/>
                <a:ea typeface="微软雅黑" panose="020B0503020204020204" pitchFamily="34" charset="-122"/>
              </a:rPr>
              <a:t>计算（朗肯</a:t>
            </a:r>
            <a:r>
              <a:rPr lang="zh-CN" altLang="en-US" sz="2400" b="1" kern="0" dirty="0" smtClean="0">
                <a:solidFill>
                  <a:srgbClr val="A50021"/>
                </a:solidFill>
                <a:latin typeface="微软雅黑" panose="020B0503020204020204" pitchFamily="34" charset="-122"/>
                <a:ea typeface="微软雅黑" panose="020B0503020204020204" pitchFamily="34" charset="-122"/>
              </a:rPr>
              <a:t>理论）</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8" name="Line 60"/>
          <p:cNvSpPr>
            <a:spLocks noChangeShapeType="1"/>
          </p:cNvSpPr>
          <p:nvPr/>
        </p:nvSpPr>
        <p:spPr bwMode="auto">
          <a:xfrm>
            <a:off x="1961133" y="1606568"/>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61"/>
          <p:cNvSpPr>
            <a:spLocks noChangeArrowheads="1"/>
          </p:cNvSpPr>
          <p:nvPr/>
        </p:nvSpPr>
        <p:spPr bwMode="auto">
          <a:xfrm>
            <a:off x="1947098" y="1753631"/>
            <a:ext cx="3861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993300"/>
                </a:solidFill>
                <a:latin typeface="Times New Roman" panose="02020603050405020304" pitchFamily="18" charset="0"/>
                <a:ea typeface="仿宋_GB2312" pitchFamily="49" charset="-122"/>
                <a:sym typeface="Symbol" panose="05050102010706020507" pitchFamily="18" charset="2"/>
              </a:rPr>
              <a:t></a:t>
            </a:r>
          </a:p>
        </p:txBody>
      </p:sp>
      <p:sp>
        <p:nvSpPr>
          <p:cNvPr id="16" name="任意多边形 15"/>
          <p:cNvSpPr/>
          <p:nvPr/>
        </p:nvSpPr>
        <p:spPr bwMode="auto">
          <a:xfrm rot="18139897">
            <a:off x="1981162" y="1703062"/>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3765676" y="3410406"/>
            <a:ext cx="12305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75"/>
          <p:cNvSpPr txBox="1">
            <a:spLocks noChangeArrowheads="1"/>
          </p:cNvSpPr>
          <p:nvPr/>
        </p:nvSpPr>
        <p:spPr bwMode="auto">
          <a:xfrm>
            <a:off x="1779687" y="1223195"/>
            <a:ext cx="358766" cy="45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0" name="Text Box 75"/>
          <p:cNvSpPr txBox="1">
            <a:spLocks noChangeArrowheads="1"/>
          </p:cNvSpPr>
          <p:nvPr/>
        </p:nvSpPr>
        <p:spPr bwMode="auto">
          <a:xfrm>
            <a:off x="3647990" y="3338816"/>
            <a:ext cx="389632"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C</a:t>
            </a:r>
          </a:p>
        </p:txBody>
      </p:sp>
      <p:sp>
        <p:nvSpPr>
          <p:cNvPr id="67" name="Text Box 48"/>
          <p:cNvSpPr txBox="1">
            <a:spLocks noChangeArrowheads="1"/>
          </p:cNvSpPr>
          <p:nvPr/>
        </p:nvSpPr>
        <p:spPr bwMode="auto">
          <a:xfrm>
            <a:off x="1454783" y="3794958"/>
            <a:ext cx="6451135" cy="1246495"/>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266700" indent="-266700">
              <a:buClr>
                <a:srgbClr val="A50021"/>
              </a:buClr>
              <a:buSzPct val="100000"/>
              <a:buFont typeface="+mj-lt"/>
              <a:buAutoNum type="arabicPeriod"/>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假想竖直面</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CD</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面为光滑墙背</a:t>
            </a:r>
            <a:endParaRPr kumimoji="1" lang="en-US" altLang="zh-CN"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266700" indent="-266700">
              <a:buClr>
                <a:srgbClr val="A50021"/>
              </a:buClr>
              <a:buSzPct val="100000"/>
              <a:buFont typeface="+mj-lt"/>
              <a:buAutoNum type="arabicPeriod"/>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利用朗肯主动土压力公式计算，</a:t>
            </a:r>
            <a:r>
              <a:rPr kumimoji="1" lang="en-US" altLang="zh-CN" sz="2000" b="1" i="1" dirty="0" err="1">
                <a:solidFill>
                  <a:srgbClr val="990000"/>
                </a:solidFill>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b="1" dirty="0" err="1">
                <a:solidFill>
                  <a:srgbClr val="99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err="1">
                <a:solidFill>
                  <a:srgbClr val="990000"/>
                </a:solidFill>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000" b="1" i="1" dirty="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b="1" dirty="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1/2</a:t>
            </a:r>
            <a:r>
              <a:rPr kumimoji="1" lang="en-US" altLang="zh-CN" sz="2000" b="1" i="1" dirty="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K</a:t>
            </a:r>
            <a:r>
              <a:rPr kumimoji="1" lang="en-US" altLang="zh-CN" sz="2000" b="1" baseline="-25000" dirty="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000" b="1" i="1" dirty="0" smtClean="0">
                <a:solidFill>
                  <a:srgbClr val="99000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 </a:t>
            </a:r>
            <a:r>
              <a:rPr kumimoji="1" lang="en-US" altLang="zh-CN" sz="2000" b="1" i="1" dirty="0" smtClean="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H</a:t>
            </a:r>
            <a:r>
              <a:rPr kumimoji="1" lang="en-US" altLang="zh-CN" sz="2000" b="1" i="1" baseline="30000" dirty="0" smtClean="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2000" b="1" i="1" dirty="0" smtClean="0">
                <a:solidFill>
                  <a:srgbClr val="9900CC"/>
                </a:solidFill>
                <a:latin typeface="Times New Roman" panose="02020603050405020304" pitchFamily="18" charset="0"/>
                <a:ea typeface="幼圆" panose="02010509060101010101" pitchFamily="49" charset="-122"/>
                <a:cs typeface="Times New Roman" panose="02020603050405020304" pitchFamily="18" charset="0"/>
              </a:rPr>
              <a:t> </a:t>
            </a:r>
          </a:p>
          <a:p>
            <a:pPr marL="266700" indent="-266700">
              <a:buClr>
                <a:srgbClr val="A50021"/>
              </a:buClr>
              <a:buSzPct val="100000"/>
              <a:buFont typeface="+mj-lt"/>
              <a:buAutoNum type="arabicPeriod"/>
            </a:pP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取三角形</a:t>
            </a:r>
            <a:r>
              <a:rPr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ACD</a:t>
            </a:r>
            <a:r>
              <a:rPr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rPr>
              <a:t>为隔离体，确定墙背土压力</a:t>
            </a:r>
            <a:r>
              <a:rPr kumimoji="1" lang="en-US" altLang="zh-CN" sz="2000" b="1" i="1" dirty="0" err="1" smtClean="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b="1" baseline="-25000" dirty="0" err="1" smtClean="0">
                <a:solidFill>
                  <a:srgbClr val="990000"/>
                </a:solidFill>
                <a:latin typeface="Times New Roman" panose="02020603050405020304" pitchFamily="18" charset="0"/>
                <a:ea typeface="幼圆" panose="02010509060101010101" pitchFamily="49" charset="-122"/>
                <a:cs typeface="Times New Roman" panose="02020603050405020304" pitchFamily="18" charset="0"/>
              </a:rPr>
              <a:t>a</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70" name="直接连接符 69"/>
          <p:cNvCxnSpPr/>
          <p:nvPr/>
        </p:nvCxnSpPr>
        <p:spPr bwMode="auto">
          <a:xfrm flipV="1">
            <a:off x="1962614" y="1594325"/>
            <a:ext cx="3271303" cy="58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 name="组合 10"/>
          <p:cNvGrpSpPr/>
          <p:nvPr/>
        </p:nvGrpSpPr>
        <p:grpSpPr>
          <a:xfrm>
            <a:off x="3582716" y="1242815"/>
            <a:ext cx="351108" cy="2160208"/>
            <a:chOff x="3639360" y="1477483"/>
            <a:chExt cx="351108" cy="2160208"/>
          </a:xfrm>
        </p:grpSpPr>
        <p:sp>
          <p:nvSpPr>
            <p:cNvPr id="21" name="Text Box 75"/>
            <p:cNvSpPr txBox="1">
              <a:spLocks noChangeArrowheads="1"/>
            </p:cNvSpPr>
            <p:nvPr/>
          </p:nvSpPr>
          <p:spPr bwMode="auto">
            <a:xfrm>
              <a:off x="3639360" y="1477483"/>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73" name="直接连接符 72"/>
            <p:cNvCxnSpPr>
              <a:stCxn id="72" idx="0"/>
            </p:cNvCxnSpPr>
            <p:nvPr/>
          </p:nvCxnSpPr>
          <p:spPr bwMode="auto">
            <a:xfrm flipV="1">
              <a:off x="3834551" y="1833883"/>
              <a:ext cx="8085" cy="1803808"/>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 name="组合 13"/>
          <p:cNvGrpSpPr/>
          <p:nvPr/>
        </p:nvGrpSpPr>
        <p:grpSpPr>
          <a:xfrm>
            <a:off x="3769354" y="2068240"/>
            <a:ext cx="747201" cy="528508"/>
            <a:chOff x="3825998" y="2302908"/>
            <a:chExt cx="747201" cy="528508"/>
          </a:xfrm>
        </p:grpSpPr>
        <p:sp>
          <p:nvSpPr>
            <p:cNvPr id="12" name="Text Box 75"/>
            <p:cNvSpPr txBox="1">
              <a:spLocks noChangeArrowheads="1"/>
            </p:cNvSpPr>
            <p:nvPr/>
          </p:nvSpPr>
          <p:spPr bwMode="auto">
            <a:xfrm>
              <a:off x="3944663" y="2302908"/>
              <a:ext cx="628536"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dirty="0" err="1" smtClean="0">
                  <a:solidFill>
                    <a:srgbClr val="C00000"/>
                  </a:solidFill>
                  <a:latin typeface="Times New Roman" panose="02020603050405020304" pitchFamily="18" charset="0"/>
                  <a:sym typeface="Symbol"/>
                </a:rPr>
                <a:t></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cxnSp>
          <p:nvCxnSpPr>
            <p:cNvPr id="76" name="直接箭头连接符 75"/>
            <p:cNvCxnSpPr/>
            <p:nvPr/>
          </p:nvCxnSpPr>
          <p:spPr bwMode="auto">
            <a:xfrm flipH="1">
              <a:off x="3825998" y="2831416"/>
              <a:ext cx="480248" cy="0"/>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1" name="矩形 120"/>
          <p:cNvSpPr/>
          <p:nvPr/>
        </p:nvSpPr>
        <p:spPr>
          <a:xfrm>
            <a:off x="5302377" y="706200"/>
            <a:ext cx="3235201" cy="446276"/>
          </a:xfrm>
          <a:prstGeom prst="rect">
            <a:avLst/>
          </a:prstGeom>
          <a:solidFill>
            <a:srgbClr val="FFFF00"/>
          </a:solidFill>
        </p:spPr>
        <p:txBody>
          <a:bodyPr wrap="square">
            <a:spAutoFit/>
          </a:bodyPr>
          <a:lstStyle/>
          <a:p>
            <a:pPr eaLnBrk="1" hangingPunct="1"/>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条件：填</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土</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面</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水平</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a:t>
            </a:r>
            <a:r>
              <a:rPr lang="en-US" altLang="zh-CN"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 </a:t>
            </a:r>
            <a:r>
              <a:rPr lang="zh-CN" altLang="en-US" sz="2000" b="1" dirty="0" smtClean="0">
                <a:solidFill>
                  <a:srgbClr val="993300"/>
                </a:solidFill>
                <a:ea typeface="黑体" panose="02010609060101010101" pitchFamily="49" charset="-122"/>
                <a:cs typeface="Times New Roman" panose="02020603050405020304" pitchFamily="18" charset="0"/>
                <a:sym typeface="Symbol"/>
              </a:rPr>
              <a:t></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a:t>
            </a:r>
            <a:endParaRPr lang="zh-CN" altLang="en-US" sz="2000" b="1" dirty="0">
              <a:solidFill>
                <a:srgbClr val="993300"/>
              </a:solidFill>
              <a:ea typeface="黑体" panose="02010609060101010101" pitchFamily="49" charset="-122"/>
              <a:cs typeface="Times New Roman" panose="02020603050405020304" pitchFamily="18" charset="0"/>
            </a:endParaRPr>
          </a:p>
        </p:txBody>
      </p:sp>
      <p:sp>
        <p:nvSpPr>
          <p:cNvPr id="126" name="矩形 125"/>
          <p:cNvSpPr/>
          <p:nvPr/>
        </p:nvSpPr>
        <p:spPr>
          <a:xfrm>
            <a:off x="1678221" y="5213198"/>
            <a:ext cx="4531748" cy="481670"/>
          </a:xfrm>
          <a:prstGeom prst="rect">
            <a:avLst/>
          </a:prstGeom>
          <a:solidFill>
            <a:srgbClr val="FFFF00"/>
          </a:solidFill>
        </p:spPr>
        <p:txBody>
          <a:bodyPr wrap="square">
            <a:spAutoFit/>
          </a:bodyPr>
          <a:lstStyle/>
          <a:p>
            <a:pPr marL="342900" indent="-342900" eaLnBrk="1" hangingPunct="1">
              <a:buSzPct val="130000"/>
              <a:buFont typeface="Wingdings" panose="05000000000000000000" pitchFamily="2" charset="2"/>
              <a:buChar char="F"/>
            </a:pPr>
            <a:r>
              <a:rPr lang="zh-CN" altLang="en-US" sz="22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问题：可否采用库伦理论计算？ </a:t>
            </a:r>
            <a:endParaRPr lang="zh-CN" altLang="en-US" sz="2200" b="1" dirty="0">
              <a:solidFill>
                <a:srgbClr val="993300"/>
              </a:solidFill>
              <a:ea typeface="黑体" panose="02010609060101010101" pitchFamily="49" charset="-122"/>
              <a:cs typeface="Times New Roman" panose="02020603050405020304" pitchFamily="18" charset="0"/>
            </a:endParaRPr>
          </a:p>
        </p:txBody>
      </p:sp>
      <p:sp>
        <p:nvSpPr>
          <p:cNvPr id="128"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坦墙</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129" name="Group 12"/>
          <p:cNvGrpSpPr>
            <a:grpSpLocks/>
          </p:cNvGrpSpPr>
          <p:nvPr/>
        </p:nvGrpSpPr>
        <p:grpSpPr bwMode="auto">
          <a:xfrm>
            <a:off x="3233259" y="1602062"/>
            <a:ext cx="454614" cy="73451"/>
            <a:chOff x="2274" y="1204"/>
            <a:chExt cx="270" cy="44"/>
          </a:xfrm>
        </p:grpSpPr>
        <p:sp>
          <p:nvSpPr>
            <p:cNvPr id="130"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7" name="Group 12"/>
          <p:cNvGrpSpPr>
            <a:grpSpLocks/>
          </p:cNvGrpSpPr>
          <p:nvPr/>
        </p:nvGrpSpPr>
        <p:grpSpPr bwMode="auto">
          <a:xfrm>
            <a:off x="3934291" y="1598665"/>
            <a:ext cx="454614" cy="73451"/>
            <a:chOff x="2274" y="1204"/>
            <a:chExt cx="270" cy="44"/>
          </a:xfrm>
        </p:grpSpPr>
        <p:sp>
          <p:nvSpPr>
            <p:cNvPr id="138"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 name="组合 25"/>
          <p:cNvGrpSpPr/>
          <p:nvPr/>
        </p:nvGrpSpPr>
        <p:grpSpPr>
          <a:xfrm>
            <a:off x="5445250" y="1460065"/>
            <a:ext cx="3585461" cy="1603251"/>
            <a:chOff x="5445250" y="1460065"/>
            <a:chExt cx="3585461" cy="1603251"/>
          </a:xfrm>
        </p:grpSpPr>
        <p:grpSp>
          <p:nvGrpSpPr>
            <p:cNvPr id="113" name="组合 112"/>
            <p:cNvGrpSpPr/>
            <p:nvPr/>
          </p:nvGrpSpPr>
          <p:grpSpPr>
            <a:xfrm>
              <a:off x="5967272" y="1934646"/>
              <a:ext cx="496643" cy="1128670"/>
              <a:chOff x="7122524" y="2234394"/>
              <a:chExt cx="399410" cy="907698"/>
            </a:xfrm>
          </p:grpSpPr>
          <p:cxnSp>
            <p:nvCxnSpPr>
              <p:cNvPr id="106" name="直接箭头连接符 105"/>
              <p:cNvCxnSpPr/>
              <p:nvPr/>
            </p:nvCxnSpPr>
            <p:spPr bwMode="auto">
              <a:xfrm flipH="1">
                <a:off x="7122524" y="2234394"/>
                <a:ext cx="399410" cy="0"/>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箭头连接符 106"/>
              <p:cNvCxnSpPr/>
              <p:nvPr/>
            </p:nvCxnSpPr>
            <p:spPr bwMode="auto">
              <a:xfrm flipV="1">
                <a:off x="7173441" y="2241755"/>
                <a:ext cx="336913" cy="880927"/>
              </a:xfrm>
              <a:prstGeom prst="straightConnector1">
                <a:avLst/>
              </a:prstGeom>
              <a:noFill/>
              <a:ln w="28575"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箭头连接符 110"/>
              <p:cNvCxnSpPr/>
              <p:nvPr/>
            </p:nvCxnSpPr>
            <p:spPr bwMode="auto">
              <a:xfrm>
                <a:off x="7149547" y="2235645"/>
                <a:ext cx="0" cy="906447"/>
              </a:xfrm>
              <a:prstGeom prst="straightConnector1">
                <a:avLst/>
              </a:prstGeom>
              <a:noFill/>
              <a:ln w="28575"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4" name="Text Box 75"/>
            <p:cNvSpPr txBox="1">
              <a:spLocks noChangeArrowheads="1"/>
            </p:cNvSpPr>
            <p:nvPr/>
          </p:nvSpPr>
          <p:spPr bwMode="auto">
            <a:xfrm>
              <a:off x="6012533" y="1460065"/>
              <a:ext cx="588643" cy="48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dirty="0" err="1" smtClean="0">
                  <a:solidFill>
                    <a:srgbClr val="C00000"/>
                  </a:solidFill>
                  <a:latin typeface="Times New Roman" panose="02020603050405020304" pitchFamily="18" charset="0"/>
                  <a:sym typeface="Symbol"/>
                </a:rPr>
                <a:t></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sp>
          <p:nvSpPr>
            <p:cNvPr id="115" name="Text Box 75"/>
            <p:cNvSpPr txBox="1">
              <a:spLocks noChangeArrowheads="1"/>
            </p:cNvSpPr>
            <p:nvPr/>
          </p:nvSpPr>
          <p:spPr bwMode="auto">
            <a:xfrm>
              <a:off x="6309937" y="2336821"/>
              <a:ext cx="588643" cy="48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sp>
          <p:nvSpPr>
            <p:cNvPr id="116" name="Text Box 75"/>
            <p:cNvSpPr txBox="1">
              <a:spLocks noChangeArrowheads="1"/>
            </p:cNvSpPr>
            <p:nvPr/>
          </p:nvSpPr>
          <p:spPr bwMode="auto">
            <a:xfrm>
              <a:off x="5445250" y="2198193"/>
              <a:ext cx="588643" cy="452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000066"/>
                  </a:solidFill>
                  <a:latin typeface="Times New Roman" panose="02020603050405020304" pitchFamily="18" charset="0"/>
                  <a:sym typeface="Symbol" panose="05050102010706020507" pitchFamily="18" charset="2"/>
                </a:rPr>
                <a:t>W</a:t>
              </a:r>
              <a:endParaRPr kumimoji="1" lang="en-US" altLang="zh-CN" sz="2400" b="1" dirty="0">
                <a:solidFill>
                  <a:srgbClr val="000066"/>
                </a:solidFill>
                <a:latin typeface="Times New Roman" panose="02020603050405020304" pitchFamily="18" charset="0"/>
                <a:sym typeface="Symbol" panose="05050102010706020507" pitchFamily="18" charset="2"/>
              </a:endParaRPr>
            </a:p>
          </p:txBody>
        </p:sp>
        <p:graphicFrame>
          <p:nvGraphicFramePr>
            <p:cNvPr id="79" name="Object 0"/>
            <p:cNvGraphicFramePr>
              <a:graphicFrameLocks noChangeAspect="1"/>
            </p:cNvGraphicFramePr>
            <p:nvPr>
              <p:extLst>
                <p:ext uri="{D42A27DB-BD31-4B8C-83A1-F6EECF244321}">
                  <p14:modId xmlns:p14="http://schemas.microsoft.com/office/powerpoint/2010/main" val="42962463"/>
                </p:ext>
              </p:extLst>
            </p:nvPr>
          </p:nvGraphicFramePr>
          <p:xfrm>
            <a:off x="7078466" y="2345693"/>
            <a:ext cx="1952245" cy="521615"/>
          </p:xfrm>
          <a:graphic>
            <a:graphicData uri="http://schemas.openxmlformats.org/presentationml/2006/ole">
              <mc:AlternateContent xmlns:mc="http://schemas.openxmlformats.org/markup-compatibility/2006">
                <mc:Choice xmlns:v="urn:schemas-microsoft-com:vml" Requires="v">
                  <p:oleObj spid="_x0000_s1744038" name="Equation" r:id="rId4" imgW="1091880" imgH="291960" progId="Equation.DSMT4">
                    <p:embed/>
                  </p:oleObj>
                </mc:Choice>
                <mc:Fallback>
                  <p:oleObj name="Equation" r:id="rId4" imgW="1091880" imgH="291960" progId="Equation.DSMT4">
                    <p:embed/>
                    <p:pic>
                      <p:nvPicPr>
                        <p:cNvPr id="769024" name="Object 0"/>
                        <p:cNvPicPr>
                          <a:picLocks noChangeAspect="1" noChangeArrowheads="1"/>
                        </p:cNvPicPr>
                        <p:nvPr/>
                      </p:nvPicPr>
                      <p:blipFill>
                        <a:blip r:embed="rId5"/>
                        <a:srcRect/>
                        <a:stretch>
                          <a:fillRect/>
                        </a:stretch>
                      </p:blipFill>
                      <p:spPr bwMode="auto">
                        <a:xfrm>
                          <a:off x="7078466" y="2345693"/>
                          <a:ext cx="1952245" cy="521615"/>
                        </a:xfrm>
                        <a:prstGeom prst="rect">
                          <a:avLst/>
                        </a:prstGeom>
                        <a:noFill/>
                        <a:ln w="9525">
                          <a:noFill/>
                          <a:miter lim="800000"/>
                          <a:headEnd/>
                          <a:tailEnd/>
                        </a:ln>
                        <a:effectLst/>
                        <a:extLst/>
                      </p:spPr>
                    </p:pic>
                  </p:oleObj>
                </mc:Fallback>
              </mc:AlternateContent>
            </a:graphicData>
          </a:graphic>
        </p:graphicFrame>
        <p:sp>
          <p:nvSpPr>
            <p:cNvPr id="80" name="Text Box 75"/>
            <p:cNvSpPr txBox="1">
              <a:spLocks noChangeArrowheads="1"/>
            </p:cNvSpPr>
            <p:nvPr/>
          </p:nvSpPr>
          <p:spPr bwMode="auto">
            <a:xfrm>
              <a:off x="7104809" y="1735245"/>
              <a:ext cx="167505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直角三角形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grpSp>
    </p:spTree>
    <p:extLst>
      <p:ext uri="{BB962C8B-B14F-4D97-AF65-F5344CB8AC3E}">
        <p14:creationId xmlns:p14="http://schemas.microsoft.com/office/powerpoint/2010/main" val="316247372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
                                            <p:txEl>
                                              <p:pRg st="0" end="0"/>
                                            </p:txEl>
                                          </p:spTgt>
                                        </p:tgtEl>
                                        <p:attrNameLst>
                                          <p:attrName>style.visibility</p:attrName>
                                        </p:attrNameLst>
                                      </p:cBhvr>
                                      <p:to>
                                        <p:strVal val="visible"/>
                                      </p:to>
                                    </p:set>
                                    <p:animEffect transition="in" filter="wipe(left)">
                                      <p:cBhvr>
                                        <p:cTn id="11" dur="500"/>
                                        <p:tgtEl>
                                          <p:spTgt spid="6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7">
                                            <p:txEl>
                                              <p:pRg st="1" end="1"/>
                                            </p:txEl>
                                          </p:spTgt>
                                        </p:tgtEl>
                                        <p:attrNameLst>
                                          <p:attrName>style.visibility</p:attrName>
                                        </p:attrNameLst>
                                      </p:cBhvr>
                                      <p:to>
                                        <p:strVal val="visible"/>
                                      </p:to>
                                    </p:set>
                                    <p:animEffect transition="in" filter="wipe(left)">
                                      <p:cBhvr>
                                        <p:cTn id="16" dur="500"/>
                                        <p:tgtEl>
                                          <p:spTgt spid="67">
                                            <p:txEl>
                                              <p:pRg st="1" end="1"/>
                                            </p:txEl>
                                          </p:spTgt>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righ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7">
                                            <p:txEl>
                                              <p:pRg st="2" end="2"/>
                                            </p:txEl>
                                          </p:spTgt>
                                        </p:tgtEl>
                                        <p:attrNameLst>
                                          <p:attrName>style.visibility</p:attrName>
                                        </p:attrNameLst>
                                      </p:cBhvr>
                                      <p:to>
                                        <p:strVal val="visible"/>
                                      </p:to>
                                    </p:set>
                                    <p:animEffect transition="in" filter="wipe(left)">
                                      <p:cBhvr>
                                        <p:cTn id="25" dur="500"/>
                                        <p:tgtEl>
                                          <p:spTgt spid="67">
                                            <p:txEl>
                                              <p:pRg st="2" end="2"/>
                                            </p:txEl>
                                          </p:spTgt>
                                        </p:tgtEl>
                                      </p:cBhvr>
                                    </p:animEffect>
                                  </p:childTnLst>
                                </p:cTn>
                              </p:par>
                            </p:childTnLst>
                          </p:cTn>
                        </p:par>
                        <p:par>
                          <p:cTn id="26" fill="hold">
                            <p:stCondLst>
                              <p:cond delay="500"/>
                            </p:stCondLst>
                            <p:childTnLst>
                              <p:par>
                                <p:cTn id="27" presetID="22" presetClass="entr" presetSubtype="4"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down)">
                                      <p:cBhvr>
                                        <p:cTn id="29" dur="500"/>
                                        <p:tgtEl>
                                          <p:spTgt spid="23"/>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126"/>
                                        </p:tgtEl>
                                        <p:attrNameLst>
                                          <p:attrName>style.visibility</p:attrName>
                                        </p:attrNameLst>
                                      </p:cBhvr>
                                      <p:to>
                                        <p:strVal val="visible"/>
                                      </p:to>
                                    </p:set>
                                    <p:anim calcmode="lin" valueType="num">
                                      <p:cBhvr>
                                        <p:cTn id="38" dur="1000" fill="hold"/>
                                        <p:tgtEl>
                                          <p:spTgt spid="126"/>
                                        </p:tgtEl>
                                        <p:attrNameLst>
                                          <p:attrName>ppt_w</p:attrName>
                                        </p:attrNameLst>
                                      </p:cBhvr>
                                      <p:tavLst>
                                        <p:tav tm="0">
                                          <p:val>
                                            <p:fltVal val="0"/>
                                          </p:val>
                                        </p:tav>
                                        <p:tav tm="100000">
                                          <p:val>
                                            <p:strVal val="#ppt_w"/>
                                          </p:val>
                                        </p:tav>
                                      </p:tavLst>
                                    </p:anim>
                                    <p:anim calcmode="lin" valueType="num">
                                      <p:cBhvr>
                                        <p:cTn id="39" dur="1000" fill="hold"/>
                                        <p:tgtEl>
                                          <p:spTgt spid="126"/>
                                        </p:tgtEl>
                                        <p:attrNameLst>
                                          <p:attrName>ppt_h</p:attrName>
                                        </p:attrNameLst>
                                      </p:cBhvr>
                                      <p:tavLst>
                                        <p:tav tm="0">
                                          <p:val>
                                            <p:fltVal val="0"/>
                                          </p:val>
                                        </p:tav>
                                        <p:tav tm="100000">
                                          <p:val>
                                            <p:strVal val="#ppt_h"/>
                                          </p:val>
                                        </p:tav>
                                      </p:tavLst>
                                    </p:anim>
                                    <p:anim calcmode="lin" valueType="num">
                                      <p:cBhvr>
                                        <p:cTn id="40" dur="1000" fill="hold"/>
                                        <p:tgtEl>
                                          <p:spTgt spid="126"/>
                                        </p:tgtEl>
                                        <p:attrNameLst>
                                          <p:attrName>style.rotation</p:attrName>
                                        </p:attrNameLst>
                                      </p:cBhvr>
                                      <p:tavLst>
                                        <p:tav tm="0">
                                          <p:val>
                                            <p:fltVal val="90"/>
                                          </p:val>
                                        </p:tav>
                                        <p:tav tm="100000">
                                          <p:val>
                                            <p:fltVal val="0"/>
                                          </p:val>
                                        </p:tav>
                                      </p:tavLst>
                                    </p:anim>
                                    <p:animEffect transition="in" filter="fade">
                                      <p:cBhvr>
                                        <p:cTn id="41" dur="10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uiExpand="1" build="p"/>
      <p:bldP spid="12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bwMode="auto">
          <a:xfrm>
            <a:off x="4824077" y="1847729"/>
            <a:ext cx="1490642" cy="1622862"/>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1481960"/>
              <a:gd name="connsiteY0" fmla="*/ 280664 h 1688973"/>
              <a:gd name="connsiteX1" fmla="*/ 290339 w 1481960"/>
              <a:gd name="connsiteY1" fmla="*/ 1688973 h 1688973"/>
              <a:gd name="connsiteX2" fmla="*/ 1481960 w 1481960"/>
              <a:gd name="connsiteY2" fmla="*/ 0 h 1688973"/>
              <a:gd name="connsiteX3" fmla="*/ 0 w 1481960"/>
              <a:gd name="connsiteY3" fmla="*/ 280664 h 1688973"/>
              <a:gd name="connsiteX0" fmla="*/ 0 w 1481960"/>
              <a:gd name="connsiteY0" fmla="*/ 280664 h 1819283"/>
              <a:gd name="connsiteX1" fmla="*/ 781508 w 1481960"/>
              <a:gd name="connsiteY1" fmla="*/ 1819283 h 1819283"/>
              <a:gd name="connsiteX2" fmla="*/ 1481960 w 1481960"/>
              <a:gd name="connsiteY2" fmla="*/ 0 h 1819283"/>
              <a:gd name="connsiteX3" fmla="*/ 0 w 1481960"/>
              <a:gd name="connsiteY3" fmla="*/ 280664 h 1819283"/>
              <a:gd name="connsiteX0" fmla="*/ 0 w 1626303"/>
              <a:gd name="connsiteY0" fmla="*/ 398495 h 1819283"/>
              <a:gd name="connsiteX1" fmla="*/ 925851 w 1626303"/>
              <a:gd name="connsiteY1" fmla="*/ 1819283 h 1819283"/>
              <a:gd name="connsiteX2" fmla="*/ 1626303 w 1626303"/>
              <a:gd name="connsiteY2" fmla="*/ 0 h 1819283"/>
              <a:gd name="connsiteX3" fmla="*/ 0 w 1626303"/>
              <a:gd name="connsiteY3" fmla="*/ 398495 h 1819283"/>
              <a:gd name="connsiteX0" fmla="*/ 0 w 1856074"/>
              <a:gd name="connsiteY0" fmla="*/ 12597 h 1433385"/>
              <a:gd name="connsiteX1" fmla="*/ 925851 w 1856074"/>
              <a:gd name="connsiteY1" fmla="*/ 1433385 h 1433385"/>
              <a:gd name="connsiteX2" fmla="*/ 1856074 w 1856074"/>
              <a:gd name="connsiteY2" fmla="*/ 0 h 1433385"/>
              <a:gd name="connsiteX3" fmla="*/ 0 w 1856074"/>
              <a:gd name="connsiteY3" fmla="*/ 12597 h 1433385"/>
              <a:gd name="connsiteX0" fmla="*/ 0 w 928868"/>
              <a:gd name="connsiteY0" fmla="*/ 7585 h 1428373"/>
              <a:gd name="connsiteX1" fmla="*/ 925851 w 928868"/>
              <a:gd name="connsiteY1" fmla="*/ 1428373 h 1428373"/>
              <a:gd name="connsiteX2" fmla="*/ 928868 w 928868"/>
              <a:gd name="connsiteY2" fmla="*/ 0 h 1428373"/>
              <a:gd name="connsiteX3" fmla="*/ 0 w 928868"/>
              <a:gd name="connsiteY3" fmla="*/ 7585 h 1428373"/>
              <a:gd name="connsiteX0" fmla="*/ 0 w 928868"/>
              <a:gd name="connsiteY0" fmla="*/ 902 h 1428373"/>
              <a:gd name="connsiteX1" fmla="*/ 925851 w 928868"/>
              <a:gd name="connsiteY1" fmla="*/ 1428373 h 1428373"/>
              <a:gd name="connsiteX2" fmla="*/ 928868 w 928868"/>
              <a:gd name="connsiteY2" fmla="*/ 0 h 1428373"/>
              <a:gd name="connsiteX3" fmla="*/ 0 w 928868"/>
              <a:gd name="connsiteY3" fmla="*/ 902 h 1428373"/>
              <a:gd name="connsiteX0" fmla="*/ 0 w 928868"/>
              <a:gd name="connsiteY0" fmla="*/ 902 h 1428373"/>
              <a:gd name="connsiteX1" fmla="*/ 277596 w 928868"/>
              <a:gd name="connsiteY1" fmla="*/ 1265896 h 1428373"/>
              <a:gd name="connsiteX2" fmla="*/ 925851 w 928868"/>
              <a:gd name="connsiteY2" fmla="*/ 1428373 h 1428373"/>
              <a:gd name="connsiteX3" fmla="*/ 928868 w 928868"/>
              <a:gd name="connsiteY3" fmla="*/ 0 h 1428373"/>
              <a:gd name="connsiteX4" fmla="*/ 0 w 928868"/>
              <a:gd name="connsiteY4" fmla="*/ 902 h 1428373"/>
              <a:gd name="connsiteX0" fmla="*/ 0 w 936220"/>
              <a:gd name="connsiteY0" fmla="*/ 902 h 1302857"/>
              <a:gd name="connsiteX1" fmla="*/ 277596 w 936220"/>
              <a:gd name="connsiteY1" fmla="*/ 1265896 h 1302857"/>
              <a:gd name="connsiteX2" fmla="*/ 936144 w 936220"/>
              <a:gd name="connsiteY2" fmla="*/ 1302857 h 1302857"/>
              <a:gd name="connsiteX3" fmla="*/ 928868 w 936220"/>
              <a:gd name="connsiteY3" fmla="*/ 0 h 1302857"/>
              <a:gd name="connsiteX4" fmla="*/ 0 w 936220"/>
              <a:gd name="connsiteY4" fmla="*/ 902 h 1302857"/>
              <a:gd name="connsiteX0" fmla="*/ 0 w 936220"/>
              <a:gd name="connsiteY0" fmla="*/ 902 h 1290305"/>
              <a:gd name="connsiteX1" fmla="*/ 277596 w 936220"/>
              <a:gd name="connsiteY1" fmla="*/ 1265896 h 1290305"/>
              <a:gd name="connsiteX2" fmla="*/ 936144 w 936220"/>
              <a:gd name="connsiteY2" fmla="*/ 1290305 h 1290305"/>
              <a:gd name="connsiteX3" fmla="*/ 928868 w 936220"/>
              <a:gd name="connsiteY3" fmla="*/ 0 h 1290305"/>
              <a:gd name="connsiteX4" fmla="*/ 0 w 936220"/>
              <a:gd name="connsiteY4" fmla="*/ 902 h 1290305"/>
              <a:gd name="connsiteX0" fmla="*/ 0 w 934181"/>
              <a:gd name="connsiteY0" fmla="*/ 902 h 1280891"/>
              <a:gd name="connsiteX1" fmla="*/ 277596 w 934181"/>
              <a:gd name="connsiteY1" fmla="*/ 1265896 h 1280891"/>
              <a:gd name="connsiteX2" fmla="*/ 934085 w 934181"/>
              <a:gd name="connsiteY2" fmla="*/ 1280891 h 1280891"/>
              <a:gd name="connsiteX3" fmla="*/ 928868 w 934181"/>
              <a:gd name="connsiteY3" fmla="*/ 0 h 1280891"/>
              <a:gd name="connsiteX4" fmla="*/ 0 w 934181"/>
              <a:gd name="connsiteY4" fmla="*/ 902 h 1280891"/>
              <a:gd name="connsiteX0" fmla="*/ 42733 w 976914"/>
              <a:gd name="connsiteY0" fmla="*/ 66292 h 1346281"/>
              <a:gd name="connsiteX1" fmla="*/ 240042 w 976914"/>
              <a:gd name="connsiteY1" fmla="*/ 104368 h 1346281"/>
              <a:gd name="connsiteX2" fmla="*/ 320329 w 976914"/>
              <a:gd name="connsiteY2" fmla="*/ 1331286 h 1346281"/>
              <a:gd name="connsiteX3" fmla="*/ 976818 w 976914"/>
              <a:gd name="connsiteY3" fmla="*/ 1346281 h 1346281"/>
              <a:gd name="connsiteX4" fmla="*/ 971601 w 976914"/>
              <a:gd name="connsiteY4" fmla="*/ 65390 h 1346281"/>
              <a:gd name="connsiteX5" fmla="*/ 42733 w 976914"/>
              <a:gd name="connsiteY5" fmla="*/ 66292 h 1346281"/>
              <a:gd name="connsiteX0" fmla="*/ 732965 w 738278"/>
              <a:gd name="connsiteY0" fmla="*/ 0 h 1280891"/>
              <a:gd name="connsiteX1" fmla="*/ 1406 w 738278"/>
              <a:gd name="connsiteY1" fmla="*/ 38978 h 1280891"/>
              <a:gd name="connsiteX2" fmla="*/ 81693 w 738278"/>
              <a:gd name="connsiteY2" fmla="*/ 1265896 h 1280891"/>
              <a:gd name="connsiteX3" fmla="*/ 738182 w 738278"/>
              <a:gd name="connsiteY3" fmla="*/ 1280891 h 1280891"/>
              <a:gd name="connsiteX4" fmla="*/ 732965 w 738278"/>
              <a:gd name="connsiteY4" fmla="*/ 0 h 1280891"/>
              <a:gd name="connsiteX0" fmla="*/ 731559 w 736872"/>
              <a:gd name="connsiteY0" fmla="*/ 0 h 1280891"/>
              <a:gd name="connsiteX1" fmla="*/ 0 w 736872"/>
              <a:gd name="connsiteY1" fmla="*/ 38978 h 1280891"/>
              <a:gd name="connsiteX2" fmla="*/ 80287 w 736872"/>
              <a:gd name="connsiteY2" fmla="*/ 1265896 h 1280891"/>
              <a:gd name="connsiteX3" fmla="*/ 736776 w 736872"/>
              <a:gd name="connsiteY3" fmla="*/ 1280891 h 1280891"/>
              <a:gd name="connsiteX4" fmla="*/ 731559 w 736872"/>
              <a:gd name="connsiteY4" fmla="*/ 0 h 1280891"/>
              <a:gd name="connsiteX0" fmla="*/ 766556 w 771869"/>
              <a:gd name="connsiteY0" fmla="*/ 0 h 1280891"/>
              <a:gd name="connsiteX1" fmla="*/ 0 w 771869"/>
              <a:gd name="connsiteY1" fmla="*/ 1323 h 1280891"/>
              <a:gd name="connsiteX2" fmla="*/ 115284 w 771869"/>
              <a:gd name="connsiteY2" fmla="*/ 1265896 h 1280891"/>
              <a:gd name="connsiteX3" fmla="*/ 771773 w 771869"/>
              <a:gd name="connsiteY3" fmla="*/ 1280891 h 1280891"/>
              <a:gd name="connsiteX4" fmla="*/ 766556 w 771869"/>
              <a:gd name="connsiteY4" fmla="*/ 0 h 1280891"/>
              <a:gd name="connsiteX0" fmla="*/ 766556 w 771869"/>
              <a:gd name="connsiteY0" fmla="*/ 0 h 1280891"/>
              <a:gd name="connsiteX1" fmla="*/ 0 w 771869"/>
              <a:gd name="connsiteY1" fmla="*/ 1323 h 1280891"/>
              <a:gd name="connsiteX2" fmla="*/ 100873 w 771869"/>
              <a:gd name="connsiteY2" fmla="*/ 1272173 h 1280891"/>
              <a:gd name="connsiteX3" fmla="*/ 771773 w 771869"/>
              <a:gd name="connsiteY3" fmla="*/ 1280891 h 1280891"/>
              <a:gd name="connsiteX4" fmla="*/ 766556 w 771869"/>
              <a:gd name="connsiteY4" fmla="*/ 0 h 1280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69" h="1280891">
                <a:moveTo>
                  <a:pt x="766556" y="0"/>
                </a:moveTo>
                <a:lnTo>
                  <a:pt x="0" y="1323"/>
                </a:lnTo>
                <a:lnTo>
                  <a:pt x="100873" y="1272173"/>
                </a:lnTo>
                <a:lnTo>
                  <a:pt x="771773" y="1280891"/>
                </a:lnTo>
                <a:cubicBezTo>
                  <a:pt x="772779" y="804767"/>
                  <a:pt x="765550" y="476124"/>
                  <a:pt x="766556" y="0"/>
                </a:cubicBez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9" name="Freeform 32" descr="大纸屑"/>
          <p:cNvSpPr>
            <a:spLocks/>
          </p:cNvSpPr>
          <p:nvPr/>
        </p:nvSpPr>
        <p:spPr bwMode="auto">
          <a:xfrm>
            <a:off x="3902043" y="1850494"/>
            <a:ext cx="2399168" cy="1802753"/>
          </a:xfrm>
          <a:custGeom>
            <a:avLst/>
            <a:gdLst>
              <a:gd name="T0" fmla="*/ 942 w 942"/>
              <a:gd name="T1" fmla="*/ 1473 h 1473"/>
              <a:gd name="T2" fmla="*/ 939 w 942"/>
              <a:gd name="T3" fmla="*/ 1305 h 1473"/>
              <a:gd name="T4" fmla="*/ 468 w 942"/>
              <a:gd name="T5" fmla="*/ 1305 h 1473"/>
              <a:gd name="T6" fmla="*/ 390 w 942"/>
              <a:gd name="T7" fmla="*/ 1233 h 1473"/>
              <a:gd name="T8" fmla="*/ 369 w 942"/>
              <a:gd name="T9" fmla="*/ 0 h 1473"/>
              <a:gd name="T10" fmla="*/ 258 w 942"/>
              <a:gd name="T11" fmla="*/ 0 h 1473"/>
              <a:gd name="T12" fmla="*/ 192 w 942"/>
              <a:gd name="T13" fmla="*/ 1317 h 1473"/>
              <a:gd name="T14" fmla="*/ 0 w 942"/>
              <a:gd name="T15" fmla="*/ 1317 h 1473"/>
              <a:gd name="T16" fmla="*/ 0 w 942"/>
              <a:gd name="T17" fmla="*/ 1467 h 1473"/>
              <a:gd name="T18" fmla="*/ 942 w 942"/>
              <a:gd name="T19" fmla="*/ 1473 h 14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42"/>
              <a:gd name="T31" fmla="*/ 0 h 1473"/>
              <a:gd name="T32" fmla="*/ 942 w 942"/>
              <a:gd name="T33" fmla="*/ 1473 h 1473"/>
              <a:gd name="connsiteX0" fmla="*/ 10000 w 10000"/>
              <a:gd name="connsiteY0" fmla="*/ 10000 h 10000"/>
              <a:gd name="connsiteX1" fmla="*/ 9968 w 10000"/>
              <a:gd name="connsiteY1" fmla="*/ 8859 h 10000"/>
              <a:gd name="connsiteX2" fmla="*/ 4968 w 10000"/>
              <a:gd name="connsiteY2" fmla="*/ 8859 h 10000"/>
              <a:gd name="connsiteX3" fmla="*/ 3917 w 10000"/>
              <a:gd name="connsiteY3" fmla="*/ 0 h 10000"/>
              <a:gd name="connsiteX4" fmla="*/ 2739 w 10000"/>
              <a:gd name="connsiteY4" fmla="*/ 0 h 10000"/>
              <a:gd name="connsiteX5" fmla="*/ 2038 w 10000"/>
              <a:gd name="connsiteY5" fmla="*/ 8941 h 10000"/>
              <a:gd name="connsiteX6" fmla="*/ 0 w 10000"/>
              <a:gd name="connsiteY6" fmla="*/ 8941 h 10000"/>
              <a:gd name="connsiteX7" fmla="*/ 0 w 10000"/>
              <a:gd name="connsiteY7" fmla="*/ 9959 h 10000"/>
              <a:gd name="connsiteX8" fmla="*/ 10000 w 10000"/>
              <a:gd name="connsiteY8" fmla="*/ 10000 h 10000"/>
              <a:gd name="connsiteX0" fmla="*/ 10000 w 10000"/>
              <a:gd name="connsiteY0" fmla="*/ 10000 h 10000"/>
              <a:gd name="connsiteX1" fmla="*/ 9968 w 10000"/>
              <a:gd name="connsiteY1" fmla="*/ 8859 h 10000"/>
              <a:gd name="connsiteX2" fmla="*/ 4670 w 10000"/>
              <a:gd name="connsiteY2" fmla="*/ 8859 h 10000"/>
              <a:gd name="connsiteX3" fmla="*/ 3917 w 10000"/>
              <a:gd name="connsiteY3" fmla="*/ 0 h 10000"/>
              <a:gd name="connsiteX4" fmla="*/ 2739 w 10000"/>
              <a:gd name="connsiteY4" fmla="*/ 0 h 10000"/>
              <a:gd name="connsiteX5" fmla="*/ 2038 w 10000"/>
              <a:gd name="connsiteY5" fmla="*/ 8941 h 10000"/>
              <a:gd name="connsiteX6" fmla="*/ 0 w 10000"/>
              <a:gd name="connsiteY6" fmla="*/ 8941 h 10000"/>
              <a:gd name="connsiteX7" fmla="*/ 0 w 10000"/>
              <a:gd name="connsiteY7" fmla="*/ 9959 h 10000"/>
              <a:gd name="connsiteX8" fmla="*/ 10000 w 10000"/>
              <a:gd name="connsiteY8"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10000" y="10000"/>
                </a:moveTo>
                <a:cubicBezTo>
                  <a:pt x="9989" y="9620"/>
                  <a:pt x="9979" y="9239"/>
                  <a:pt x="9968" y="8859"/>
                </a:cubicBezTo>
                <a:lnTo>
                  <a:pt x="4670" y="8859"/>
                </a:lnTo>
                <a:lnTo>
                  <a:pt x="3917" y="0"/>
                </a:lnTo>
                <a:lnTo>
                  <a:pt x="2739" y="0"/>
                </a:lnTo>
                <a:cubicBezTo>
                  <a:pt x="2505" y="2980"/>
                  <a:pt x="2272" y="5961"/>
                  <a:pt x="2038" y="8941"/>
                </a:cubicBezTo>
                <a:lnTo>
                  <a:pt x="0" y="8941"/>
                </a:lnTo>
                <a:lnTo>
                  <a:pt x="0" y="9959"/>
                </a:lnTo>
                <a:lnTo>
                  <a:pt x="10000" y="10000"/>
                </a:lnTo>
                <a:close/>
              </a:path>
            </a:pathLst>
          </a:custGeom>
          <a:pattFill prst="ltDnDiag">
            <a:fgClr>
              <a:srgbClr val="9966FF"/>
            </a:fgClr>
            <a:bgClr>
              <a:schemeClr val="bg1"/>
            </a:bgClr>
          </a:pattFill>
          <a:ln w="31750">
            <a:solidFill>
              <a:schemeClr val="tx1"/>
            </a:solidFill>
            <a:round/>
            <a:headEnd/>
            <a:tailEnd/>
          </a:ln>
        </p:spPr>
        <p:txBody>
          <a:bodyPr/>
          <a:lstStyle/>
          <a:p>
            <a:endParaRPr lang="zh-CN" altLang="en-US"/>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85</a:t>
            </a:fld>
            <a:endParaRPr lang="zh-CN" altLang="en-US" dirty="0">
              <a:solidFill>
                <a:srgbClr val="C00000"/>
              </a:solidFill>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4.  </a:t>
            </a:r>
            <a:r>
              <a:rPr kumimoji="1" lang="zh-CN" altLang="en-US" sz="4000" b="1" dirty="0" smtClean="0">
                <a:solidFill>
                  <a:srgbClr val="000066"/>
                </a:solidFill>
                <a:ea typeface="黑体" pitchFamily="2" charset="-122"/>
                <a:cs typeface="Times New Roman" panose="02020603050405020304" pitchFamily="18" charset="0"/>
              </a:rPr>
              <a:t>坦 墙</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556226"/>
            <a:ext cx="3648156"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en-US" altLang="zh-CN" sz="2400" b="1" kern="0" dirty="0" smtClean="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400" b="1" kern="0" dirty="0" smtClean="0">
                <a:solidFill>
                  <a:srgbClr val="A50021"/>
                </a:solidFill>
                <a:latin typeface="微软雅黑" panose="020B0503020204020204" pitchFamily="34" charset="-122"/>
                <a:ea typeface="微软雅黑" panose="020B0503020204020204" pitchFamily="34" charset="-122"/>
              </a:rPr>
              <a:t>型挡土墙土压力计算</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8" name="Line 60"/>
          <p:cNvSpPr>
            <a:spLocks noChangeShapeType="1"/>
          </p:cNvSpPr>
          <p:nvPr/>
        </p:nvSpPr>
        <p:spPr bwMode="auto">
          <a:xfrm>
            <a:off x="4823854" y="1849914"/>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 Box 75"/>
          <p:cNvSpPr txBox="1">
            <a:spLocks noChangeArrowheads="1"/>
          </p:cNvSpPr>
          <p:nvPr/>
        </p:nvSpPr>
        <p:spPr bwMode="auto">
          <a:xfrm>
            <a:off x="6407205" y="2311586"/>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i="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sp>
        <p:nvSpPr>
          <p:cNvPr id="16" name="任意多边形 15"/>
          <p:cNvSpPr/>
          <p:nvPr/>
        </p:nvSpPr>
        <p:spPr bwMode="auto">
          <a:xfrm rot="18139897">
            <a:off x="4835933" y="1954495"/>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18" name="直接连接符 17"/>
          <p:cNvCxnSpPr/>
          <p:nvPr/>
        </p:nvCxnSpPr>
        <p:spPr bwMode="auto">
          <a:xfrm>
            <a:off x="6284862" y="3653752"/>
            <a:ext cx="1230500"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75"/>
          <p:cNvSpPr txBox="1">
            <a:spLocks noChangeArrowheads="1"/>
          </p:cNvSpPr>
          <p:nvPr/>
        </p:nvSpPr>
        <p:spPr bwMode="auto">
          <a:xfrm>
            <a:off x="6119721" y="1462564"/>
            <a:ext cx="358766" cy="45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20" name="Text Box 75"/>
          <p:cNvSpPr txBox="1">
            <a:spLocks noChangeArrowheads="1"/>
          </p:cNvSpPr>
          <p:nvPr/>
        </p:nvSpPr>
        <p:spPr bwMode="auto">
          <a:xfrm>
            <a:off x="4998823" y="3054151"/>
            <a:ext cx="389632"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C</a:t>
            </a:r>
          </a:p>
        </p:txBody>
      </p:sp>
      <p:sp>
        <p:nvSpPr>
          <p:cNvPr id="21" name="Text Box 75"/>
          <p:cNvSpPr txBox="1">
            <a:spLocks noChangeArrowheads="1"/>
          </p:cNvSpPr>
          <p:nvPr/>
        </p:nvSpPr>
        <p:spPr bwMode="auto">
          <a:xfrm>
            <a:off x="4630914" y="1446404"/>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51" name="Line 70"/>
          <p:cNvSpPr>
            <a:spLocks noChangeShapeType="1"/>
          </p:cNvSpPr>
          <p:nvPr/>
        </p:nvSpPr>
        <p:spPr bwMode="auto">
          <a:xfrm flipH="1" flipV="1">
            <a:off x="5129522" y="1850025"/>
            <a:ext cx="1168242" cy="179323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Text Box 75"/>
          <p:cNvSpPr txBox="1">
            <a:spLocks noChangeArrowheads="1"/>
          </p:cNvSpPr>
          <p:nvPr/>
        </p:nvSpPr>
        <p:spPr bwMode="auto">
          <a:xfrm>
            <a:off x="5282344" y="1165225"/>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第二滑裂面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55" name="直接连接符 54"/>
          <p:cNvCxnSpPr/>
          <p:nvPr/>
        </p:nvCxnSpPr>
        <p:spPr bwMode="auto">
          <a:xfrm flipV="1">
            <a:off x="5405573" y="1556822"/>
            <a:ext cx="243789" cy="664420"/>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 Box 48"/>
          <p:cNvSpPr txBox="1">
            <a:spLocks noChangeArrowheads="1"/>
          </p:cNvSpPr>
          <p:nvPr/>
        </p:nvSpPr>
        <p:spPr bwMode="auto">
          <a:xfrm>
            <a:off x="2070101" y="3960676"/>
            <a:ext cx="6591300" cy="1600438"/>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182563" indent="-182563">
              <a:buClr>
                <a:srgbClr val="A50021"/>
              </a:buClr>
              <a:buSzPct val="130000"/>
              <a:buFont typeface="Arial" panose="020B0604020202020204" pitchFamily="34" charset="0"/>
              <a:buChar char="•"/>
            </a:pP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DB</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连线倾角</a:t>
            </a:r>
            <a:r>
              <a:rPr kumimoji="1" lang="en-US" altLang="zh-CN" sz="2000" b="1" dirty="0" smtClean="0">
                <a:solidFill>
                  <a:srgbClr val="000066"/>
                </a:solidFill>
                <a:latin typeface="Symbol" panose="05050102010706020507" pitchFamily="18" charset="2"/>
              </a:rPr>
              <a:t>a</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&gt;</a:t>
            </a:r>
            <a:r>
              <a:rPr kumimoji="1" lang="en-US" altLang="zh-CN" sz="2000" b="1" dirty="0" err="1" smtClean="0">
                <a:solidFill>
                  <a:srgbClr val="000066"/>
                </a:solidFill>
                <a:latin typeface="Symbol" panose="05050102010706020507" pitchFamily="18" charset="2"/>
              </a:rPr>
              <a:t>a</a:t>
            </a:r>
            <a:r>
              <a:rPr kumimoji="1" lang="en-US" altLang="zh-CN" sz="2000" b="1" baseline="-25000" dirty="0" err="1" smtClean="0">
                <a:solidFill>
                  <a:srgbClr val="000066"/>
                </a:solidFill>
                <a:latin typeface="Times New Roman" panose="02020603050405020304" pitchFamily="18" charset="0"/>
              </a:rPr>
              <a:t>cr</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时，可按坦墙方法进行计算</a:t>
            </a:r>
            <a:endPar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182563" indent="-182563">
              <a:buClr>
                <a:srgbClr val="A50021"/>
              </a:buClr>
              <a:buSzPct val="130000"/>
              <a:buFont typeface="Arial" panose="020B0604020202020204" pitchFamily="34" charset="0"/>
              <a:buChar char="•"/>
            </a:pPr>
            <a:r>
              <a:rPr kumimoji="1"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用朗肯理论</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求出作用在竖直面</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AB</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上的主动土压力</a:t>
            </a:r>
            <a:r>
              <a:rPr kumimoji="1" lang="en-US" altLang="zh-CN" sz="2000" b="1" i="1"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E</a:t>
            </a:r>
            <a:r>
              <a:rPr kumimoji="1" lang="en-US" altLang="zh-CN" sz="2000" b="1" baseline="-25000" dirty="0" err="1"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a:t>
            </a:r>
            <a:endParaRPr kumimoji="1" lang="en-US" altLang="zh-CN" sz="2000" b="1" baseline="-25000"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182563" indent="-182563">
              <a:buClr>
                <a:srgbClr val="A50021"/>
              </a:buClr>
              <a:buSzPct val="130000"/>
              <a:buFont typeface="Arial" panose="020B0604020202020204" pitchFamily="34" charset="0"/>
              <a:buChar char="•"/>
            </a:pP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进行稳定分析时，底板以上</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DCEA</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范围内的土重</a:t>
            </a:r>
            <a:r>
              <a:rPr kumimoji="1" lang="en-US" altLang="zh-CN"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W</a:t>
            </a:r>
            <a:r>
              <a:rPr kumimoji="1" lang="zh-CN" altLang="en-US" sz="2000" b="1" dirty="0" smtClean="0">
                <a:solidFill>
                  <a:srgbClr val="000066"/>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可作为墙身重量的一部分来考虑</a:t>
            </a:r>
            <a:endParaRPr lang="zh-CN" altLang="en-US" sz="2000" b="1" dirty="0">
              <a:solidFill>
                <a:srgbClr val="000066"/>
              </a:solidFill>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70" name="直接连接符 69"/>
          <p:cNvCxnSpPr/>
          <p:nvPr/>
        </p:nvCxnSpPr>
        <p:spPr bwMode="auto">
          <a:xfrm flipV="1">
            <a:off x="4508112" y="1837671"/>
            <a:ext cx="3271303" cy="5873"/>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Line 70"/>
          <p:cNvSpPr>
            <a:spLocks noChangeShapeType="1"/>
          </p:cNvSpPr>
          <p:nvPr/>
        </p:nvSpPr>
        <p:spPr bwMode="auto">
          <a:xfrm flipV="1">
            <a:off x="6301069" y="1853135"/>
            <a:ext cx="1168242" cy="179323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73" name="直接连接符 72"/>
          <p:cNvCxnSpPr>
            <a:stCxn id="72" idx="0"/>
          </p:cNvCxnSpPr>
          <p:nvPr/>
        </p:nvCxnSpPr>
        <p:spPr bwMode="auto">
          <a:xfrm flipV="1">
            <a:off x="6301069" y="1842561"/>
            <a:ext cx="8085" cy="1803808"/>
          </a:xfrm>
          <a:prstGeom prst="line">
            <a:avLst/>
          </a:prstGeom>
          <a:noFill/>
          <a:ln w="2857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箭头连接符 75"/>
          <p:cNvCxnSpPr/>
          <p:nvPr/>
        </p:nvCxnSpPr>
        <p:spPr bwMode="auto">
          <a:xfrm flipH="1">
            <a:off x="6288540" y="2840094"/>
            <a:ext cx="480248" cy="0"/>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Line 60"/>
          <p:cNvSpPr>
            <a:spLocks noChangeShapeType="1"/>
          </p:cNvSpPr>
          <p:nvPr/>
        </p:nvSpPr>
        <p:spPr bwMode="auto">
          <a:xfrm>
            <a:off x="5122496" y="1855619"/>
            <a:ext cx="0" cy="5400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任意多边形 82"/>
          <p:cNvSpPr/>
          <p:nvPr/>
        </p:nvSpPr>
        <p:spPr bwMode="auto">
          <a:xfrm rot="18139897">
            <a:off x="5135685" y="1983127"/>
            <a:ext cx="85121" cy="9296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84" name="Text Box 75"/>
          <p:cNvSpPr txBox="1">
            <a:spLocks noChangeArrowheads="1"/>
          </p:cNvSpPr>
          <p:nvPr/>
        </p:nvSpPr>
        <p:spPr bwMode="auto">
          <a:xfrm>
            <a:off x="6149039" y="3577534"/>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85" name="Text Box 48"/>
          <p:cNvSpPr txBox="1">
            <a:spLocks noChangeArrowheads="1"/>
          </p:cNvSpPr>
          <p:nvPr/>
        </p:nvSpPr>
        <p:spPr bwMode="auto">
          <a:xfrm>
            <a:off x="5143309" y="2079842"/>
            <a:ext cx="391777" cy="324576"/>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kumimoji="1" lang="en-US" altLang="zh-CN" sz="2000" b="1" dirty="0" err="1" smtClean="0">
                <a:solidFill>
                  <a:srgbClr val="000066"/>
                </a:solidFill>
                <a:latin typeface="Symbol" panose="05050102010706020507" pitchFamily="18" charset="2"/>
              </a:rPr>
              <a:t>a</a:t>
            </a:r>
            <a:r>
              <a:rPr kumimoji="1" lang="en-US" altLang="zh-CN" sz="2000" b="1" baseline="-25000" dirty="0" err="1" smtClean="0">
                <a:solidFill>
                  <a:srgbClr val="000066"/>
                </a:solidFill>
                <a:latin typeface="Times New Roman" panose="02020603050405020304" pitchFamily="18" charset="0"/>
              </a:rPr>
              <a:t>cr</a:t>
            </a:r>
            <a:endParaRPr kumimoji="1" lang="en-US" altLang="zh-CN" sz="2000" b="1" dirty="0">
              <a:solidFill>
                <a:srgbClr val="000066"/>
              </a:solidFill>
              <a:latin typeface="Times New Roman" panose="02020603050405020304" pitchFamily="18" charset="0"/>
            </a:endParaRPr>
          </a:p>
        </p:txBody>
      </p:sp>
      <p:sp>
        <p:nvSpPr>
          <p:cNvPr id="91" name="Text Box 75"/>
          <p:cNvSpPr txBox="1">
            <a:spLocks noChangeArrowheads="1"/>
          </p:cNvSpPr>
          <p:nvPr/>
        </p:nvSpPr>
        <p:spPr bwMode="auto">
          <a:xfrm>
            <a:off x="7275477" y="1479718"/>
            <a:ext cx="44746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r>
              <a:rPr kumimoji="1" lang="en-US" altLang="zh-CN" sz="2000" b="1" dirty="0" smtClean="0">
                <a:solidFill>
                  <a:srgbClr val="000066"/>
                </a:solidFill>
                <a:latin typeface="Times New Roman" panose="02020603050405020304" pitchFamily="18" charset="0"/>
                <a:sym typeface="Symbol"/>
              </a:rPr>
              <a:t></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98" name="直接箭头连接符 97"/>
          <p:cNvCxnSpPr/>
          <p:nvPr/>
        </p:nvCxnSpPr>
        <p:spPr bwMode="auto">
          <a:xfrm>
            <a:off x="5647653" y="2316560"/>
            <a:ext cx="0" cy="906447"/>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75"/>
          <p:cNvSpPr txBox="1">
            <a:spLocks noChangeArrowheads="1"/>
          </p:cNvSpPr>
          <p:nvPr/>
        </p:nvSpPr>
        <p:spPr bwMode="auto">
          <a:xfrm>
            <a:off x="5694894" y="2059263"/>
            <a:ext cx="545898"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000066"/>
                </a:solidFill>
                <a:latin typeface="Times New Roman" panose="02020603050405020304" pitchFamily="18" charset="0"/>
                <a:sym typeface="Symbol" panose="05050102010706020507" pitchFamily="18" charset="2"/>
              </a:rPr>
              <a:t>W</a:t>
            </a:r>
            <a:endParaRPr kumimoji="1" lang="en-US" altLang="zh-CN" sz="2400" b="1" dirty="0">
              <a:solidFill>
                <a:srgbClr val="000066"/>
              </a:solidFill>
              <a:latin typeface="Times New Roman" panose="02020603050405020304" pitchFamily="18" charset="0"/>
              <a:sym typeface="Symbol" panose="05050102010706020507" pitchFamily="18" charset="2"/>
            </a:endParaRPr>
          </a:p>
        </p:txBody>
      </p:sp>
      <p:sp>
        <p:nvSpPr>
          <p:cNvPr id="101" name="Text Box 75"/>
          <p:cNvSpPr txBox="1">
            <a:spLocks noChangeArrowheads="1"/>
          </p:cNvSpPr>
          <p:nvPr/>
        </p:nvSpPr>
        <p:spPr bwMode="auto">
          <a:xfrm>
            <a:off x="7117122" y="2362286"/>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第一滑裂面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102" name="直接连接符 101"/>
          <p:cNvCxnSpPr/>
          <p:nvPr/>
        </p:nvCxnSpPr>
        <p:spPr bwMode="auto">
          <a:xfrm>
            <a:off x="7260654" y="2155411"/>
            <a:ext cx="247605" cy="256561"/>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矩形 120"/>
          <p:cNvSpPr/>
          <p:nvPr/>
        </p:nvSpPr>
        <p:spPr>
          <a:xfrm>
            <a:off x="4137710" y="649556"/>
            <a:ext cx="3235201" cy="446276"/>
          </a:xfrm>
          <a:prstGeom prst="rect">
            <a:avLst/>
          </a:prstGeom>
          <a:solidFill>
            <a:srgbClr val="FFFF00"/>
          </a:solidFill>
        </p:spPr>
        <p:txBody>
          <a:bodyPr wrap="square">
            <a:spAutoFit/>
          </a:bodyPr>
          <a:lstStyle/>
          <a:p>
            <a:pPr eaLnBrk="1" hangingPunct="1"/>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条件：填</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土</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面</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水平</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a:t>
            </a:r>
            <a:r>
              <a:rPr lang="en-US" altLang="zh-CN"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 </a:t>
            </a:r>
            <a:r>
              <a:rPr lang="zh-CN" altLang="en-US" sz="2000" b="1" dirty="0" smtClean="0">
                <a:solidFill>
                  <a:srgbClr val="993300"/>
                </a:solidFill>
                <a:ea typeface="黑体" panose="02010609060101010101" pitchFamily="49" charset="-122"/>
                <a:cs typeface="Times New Roman" panose="02020603050405020304" pitchFamily="18" charset="0"/>
                <a:sym typeface="Symbol"/>
              </a:rPr>
              <a:t></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a:t>
            </a:r>
            <a:endParaRPr lang="zh-CN" altLang="en-US" sz="2000" b="1" dirty="0">
              <a:solidFill>
                <a:srgbClr val="993300"/>
              </a:solidFill>
              <a:ea typeface="黑体" panose="02010609060101010101" pitchFamily="49" charset="-122"/>
              <a:cs typeface="Times New Roman" panose="02020603050405020304" pitchFamily="18" charset="0"/>
            </a:endParaRPr>
          </a:p>
        </p:txBody>
      </p:sp>
      <p:sp>
        <p:nvSpPr>
          <p:cNvPr id="125" name="Rectangle 3"/>
          <p:cNvSpPr txBox="1">
            <a:spLocks noChangeArrowheads="1"/>
          </p:cNvSpPr>
          <p:nvPr/>
        </p:nvSpPr>
        <p:spPr bwMode="auto">
          <a:xfrm>
            <a:off x="837501" y="3914515"/>
            <a:ext cx="1397385" cy="107488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25000"/>
              </a:lnSpc>
              <a:spcBef>
                <a:spcPct val="0"/>
              </a:spcBef>
              <a:buClr>
                <a:srgbClr val="C00000"/>
              </a:buClr>
              <a:buSzPct val="100000"/>
              <a:buNone/>
            </a:pPr>
            <a:r>
              <a:rPr lang="zh-CN" altLang="en-US" sz="2400" b="1" kern="0" dirty="0" smtClean="0">
                <a:solidFill>
                  <a:srgbClr val="A50021"/>
                </a:solidFill>
                <a:latin typeface="微软雅黑" panose="020B0503020204020204" pitchFamily="34" charset="-122"/>
                <a:ea typeface="微软雅黑" panose="020B0503020204020204" pitchFamily="34" charset="-122"/>
              </a:rPr>
              <a:t>朗肯理论计算</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cxnSp>
        <p:nvCxnSpPr>
          <p:cNvPr id="3" name="直接连接符 2"/>
          <p:cNvCxnSpPr>
            <a:stCxn id="8" idx="0"/>
            <a:endCxn id="79" idx="0"/>
          </p:cNvCxnSpPr>
          <p:nvPr/>
        </p:nvCxnSpPr>
        <p:spPr bwMode="auto">
          <a:xfrm>
            <a:off x="4823854" y="1849914"/>
            <a:ext cx="1477357" cy="1803333"/>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 name="组合 10"/>
          <p:cNvGrpSpPr/>
          <p:nvPr/>
        </p:nvGrpSpPr>
        <p:grpSpPr>
          <a:xfrm>
            <a:off x="847313" y="1497468"/>
            <a:ext cx="2508381" cy="2100404"/>
            <a:chOff x="606013" y="1484768"/>
            <a:chExt cx="2508381" cy="2100404"/>
          </a:xfrm>
        </p:grpSpPr>
        <p:sp>
          <p:nvSpPr>
            <p:cNvPr id="50" name="Freeform 74" descr="25%"/>
            <p:cNvSpPr>
              <a:spLocks/>
            </p:cNvSpPr>
            <p:nvPr/>
          </p:nvSpPr>
          <p:spPr bwMode="auto">
            <a:xfrm>
              <a:off x="915558" y="1484768"/>
              <a:ext cx="1729182" cy="676751"/>
            </a:xfrm>
            <a:custGeom>
              <a:avLst/>
              <a:gdLst>
                <a:gd name="T0" fmla="*/ 909 w 972"/>
                <a:gd name="T1" fmla="*/ 0 h 492"/>
                <a:gd name="T2" fmla="*/ 0 w 972"/>
                <a:gd name="T3" fmla="*/ 474 h 492"/>
                <a:gd name="T4" fmla="*/ 69 w 972"/>
                <a:gd name="T5" fmla="*/ 492 h 492"/>
                <a:gd name="T6" fmla="*/ 972 w 972"/>
                <a:gd name="T7" fmla="*/ 30 h 492"/>
                <a:gd name="T8" fmla="*/ 909 w 972"/>
                <a:gd name="T9" fmla="*/ 0 h 492"/>
                <a:gd name="T10" fmla="*/ 0 60000 65536"/>
                <a:gd name="T11" fmla="*/ 0 60000 65536"/>
                <a:gd name="T12" fmla="*/ 0 60000 65536"/>
                <a:gd name="T13" fmla="*/ 0 60000 65536"/>
                <a:gd name="T14" fmla="*/ 0 60000 65536"/>
                <a:gd name="T15" fmla="*/ 0 w 972"/>
                <a:gd name="T16" fmla="*/ 0 h 492"/>
                <a:gd name="T17" fmla="*/ 972 w 972"/>
                <a:gd name="T18" fmla="*/ 492 h 492"/>
              </a:gdLst>
              <a:ahLst/>
              <a:cxnLst>
                <a:cxn ang="T10">
                  <a:pos x="T0" y="T1"/>
                </a:cxn>
                <a:cxn ang="T11">
                  <a:pos x="T2" y="T3"/>
                </a:cxn>
                <a:cxn ang="T12">
                  <a:pos x="T4" y="T5"/>
                </a:cxn>
                <a:cxn ang="T13">
                  <a:pos x="T6" y="T7"/>
                </a:cxn>
                <a:cxn ang="T14">
                  <a:pos x="T8" y="T9"/>
                </a:cxn>
              </a:cxnLst>
              <a:rect l="T15" t="T16" r="T17" b="T18"/>
              <a:pathLst>
                <a:path w="972" h="492">
                  <a:moveTo>
                    <a:pt x="909" y="0"/>
                  </a:moveTo>
                  <a:lnTo>
                    <a:pt x="0" y="474"/>
                  </a:lnTo>
                  <a:lnTo>
                    <a:pt x="69" y="492"/>
                  </a:lnTo>
                  <a:lnTo>
                    <a:pt x="972" y="30"/>
                  </a:lnTo>
                  <a:lnTo>
                    <a:pt x="909" y="0"/>
                  </a:lnTo>
                  <a:close/>
                </a:path>
              </a:pathLst>
            </a:custGeom>
            <a:solidFill>
              <a:srgbClr val="CCCCFF"/>
            </a:solidFill>
            <a:ln w="25400">
              <a:solidFill>
                <a:schemeClr val="tx1"/>
              </a:solidFill>
              <a:round/>
              <a:headEnd/>
              <a:tailEnd/>
            </a:ln>
          </p:spPr>
          <p:txBody>
            <a:bodyPr/>
            <a:lstStyle/>
            <a:p>
              <a:endParaRPr lang="zh-CN" altLang="en-US"/>
            </a:p>
          </p:txBody>
        </p:sp>
        <p:sp>
          <p:nvSpPr>
            <p:cNvPr id="52" name="Freeform 75" descr="25%"/>
            <p:cNvSpPr>
              <a:spLocks/>
            </p:cNvSpPr>
            <p:nvPr/>
          </p:nvSpPr>
          <p:spPr bwMode="auto">
            <a:xfrm>
              <a:off x="1022446" y="1537654"/>
              <a:ext cx="1713171" cy="1744147"/>
            </a:xfrm>
            <a:custGeom>
              <a:avLst/>
              <a:gdLst>
                <a:gd name="T0" fmla="*/ 0 w 963"/>
                <a:gd name="T1" fmla="*/ 441 h 1263"/>
                <a:gd name="T2" fmla="*/ 3 w 963"/>
                <a:gd name="T3" fmla="*/ 1263 h 1263"/>
                <a:gd name="T4" fmla="*/ 963 w 963"/>
                <a:gd name="T5" fmla="*/ 708 h 1263"/>
                <a:gd name="T6" fmla="*/ 909 w 963"/>
                <a:gd name="T7" fmla="*/ 0 h 1263"/>
                <a:gd name="T8" fmla="*/ 0 w 963"/>
                <a:gd name="T9" fmla="*/ 468 h 1263"/>
                <a:gd name="T10" fmla="*/ 0 60000 65536"/>
                <a:gd name="T11" fmla="*/ 0 60000 65536"/>
                <a:gd name="T12" fmla="*/ 0 60000 65536"/>
                <a:gd name="T13" fmla="*/ 0 60000 65536"/>
                <a:gd name="T14" fmla="*/ 0 60000 65536"/>
                <a:gd name="T15" fmla="*/ 0 w 963"/>
                <a:gd name="T16" fmla="*/ 0 h 1263"/>
                <a:gd name="T17" fmla="*/ 963 w 963"/>
                <a:gd name="T18" fmla="*/ 1263 h 1263"/>
              </a:gdLst>
              <a:ahLst/>
              <a:cxnLst>
                <a:cxn ang="T10">
                  <a:pos x="T0" y="T1"/>
                </a:cxn>
                <a:cxn ang="T11">
                  <a:pos x="T2" y="T3"/>
                </a:cxn>
                <a:cxn ang="T12">
                  <a:pos x="T4" y="T5"/>
                </a:cxn>
                <a:cxn ang="T13">
                  <a:pos x="T6" y="T7"/>
                </a:cxn>
                <a:cxn ang="T14">
                  <a:pos x="T8" y="T9"/>
                </a:cxn>
              </a:cxnLst>
              <a:rect l="T15" t="T16" r="T17" b="T18"/>
              <a:pathLst>
                <a:path w="963" h="1263">
                  <a:moveTo>
                    <a:pt x="0" y="441"/>
                  </a:moveTo>
                  <a:lnTo>
                    <a:pt x="3" y="1263"/>
                  </a:lnTo>
                  <a:lnTo>
                    <a:pt x="963" y="708"/>
                  </a:lnTo>
                  <a:lnTo>
                    <a:pt x="909" y="0"/>
                  </a:lnTo>
                  <a:lnTo>
                    <a:pt x="0" y="468"/>
                  </a:lnTo>
                </a:path>
              </a:pathLst>
            </a:custGeom>
            <a:solidFill>
              <a:srgbClr val="CCCCFF"/>
            </a:solidFill>
            <a:ln w="25400">
              <a:noFill/>
              <a:round/>
              <a:headEnd/>
              <a:tailEnd/>
            </a:ln>
          </p:spPr>
          <p:txBody>
            <a:bodyPr/>
            <a:lstStyle/>
            <a:p>
              <a:endParaRPr lang="zh-CN" altLang="en-US"/>
            </a:p>
          </p:txBody>
        </p:sp>
        <p:sp>
          <p:nvSpPr>
            <p:cNvPr id="54" name="Freeform 76" descr="25%"/>
            <p:cNvSpPr>
              <a:spLocks/>
            </p:cNvSpPr>
            <p:nvPr/>
          </p:nvSpPr>
          <p:spPr bwMode="auto">
            <a:xfrm>
              <a:off x="910221" y="2142262"/>
              <a:ext cx="128088" cy="1118290"/>
            </a:xfrm>
            <a:custGeom>
              <a:avLst/>
              <a:gdLst>
                <a:gd name="T0" fmla="*/ 6 w 72"/>
                <a:gd name="T1" fmla="*/ 0 h 813"/>
                <a:gd name="T2" fmla="*/ 69 w 72"/>
                <a:gd name="T3" fmla="*/ 21 h 813"/>
                <a:gd name="T4" fmla="*/ 72 w 72"/>
                <a:gd name="T5" fmla="*/ 813 h 813"/>
                <a:gd name="T6" fmla="*/ 0 w 72"/>
                <a:gd name="T7" fmla="*/ 789 h 813"/>
                <a:gd name="T8" fmla="*/ 6 w 72"/>
                <a:gd name="T9" fmla="*/ 0 h 813"/>
                <a:gd name="T10" fmla="*/ 0 60000 65536"/>
                <a:gd name="T11" fmla="*/ 0 60000 65536"/>
                <a:gd name="T12" fmla="*/ 0 60000 65536"/>
                <a:gd name="T13" fmla="*/ 0 60000 65536"/>
                <a:gd name="T14" fmla="*/ 0 60000 65536"/>
                <a:gd name="T15" fmla="*/ 0 w 72"/>
                <a:gd name="T16" fmla="*/ 0 h 813"/>
                <a:gd name="T17" fmla="*/ 72 w 72"/>
                <a:gd name="T18" fmla="*/ 813 h 813"/>
              </a:gdLst>
              <a:ahLst/>
              <a:cxnLst>
                <a:cxn ang="T10">
                  <a:pos x="T0" y="T1"/>
                </a:cxn>
                <a:cxn ang="T11">
                  <a:pos x="T2" y="T3"/>
                </a:cxn>
                <a:cxn ang="T12">
                  <a:pos x="T4" y="T5"/>
                </a:cxn>
                <a:cxn ang="T13">
                  <a:pos x="T6" y="T7"/>
                </a:cxn>
                <a:cxn ang="T14">
                  <a:pos x="T8" y="T9"/>
                </a:cxn>
              </a:cxnLst>
              <a:rect l="T15" t="T16" r="T17" b="T18"/>
              <a:pathLst>
                <a:path w="72" h="813">
                  <a:moveTo>
                    <a:pt x="6" y="0"/>
                  </a:moveTo>
                  <a:lnTo>
                    <a:pt x="69" y="21"/>
                  </a:lnTo>
                  <a:lnTo>
                    <a:pt x="72" y="813"/>
                  </a:lnTo>
                  <a:lnTo>
                    <a:pt x="0" y="789"/>
                  </a:lnTo>
                  <a:lnTo>
                    <a:pt x="6" y="0"/>
                  </a:lnTo>
                  <a:close/>
                </a:path>
              </a:pathLst>
            </a:custGeom>
            <a:pattFill prst="ltDnDiag">
              <a:fgClr>
                <a:srgbClr val="CCCCFF"/>
              </a:fgClr>
              <a:bgClr>
                <a:schemeClr val="bg1"/>
              </a:bgClr>
            </a:pattFill>
            <a:ln w="25400">
              <a:solidFill>
                <a:schemeClr val="tx1"/>
              </a:solidFill>
              <a:round/>
              <a:headEnd/>
              <a:tailEnd/>
            </a:ln>
          </p:spPr>
          <p:txBody>
            <a:bodyPr/>
            <a:lstStyle/>
            <a:p>
              <a:endParaRPr lang="zh-CN" altLang="en-US"/>
            </a:p>
          </p:txBody>
        </p:sp>
        <p:sp>
          <p:nvSpPr>
            <p:cNvPr id="57" name="Freeform 77" descr="25%"/>
            <p:cNvSpPr>
              <a:spLocks/>
            </p:cNvSpPr>
            <p:nvPr/>
          </p:nvSpPr>
          <p:spPr bwMode="auto">
            <a:xfrm>
              <a:off x="1048982" y="2491641"/>
              <a:ext cx="2065412" cy="874824"/>
            </a:xfrm>
            <a:custGeom>
              <a:avLst/>
              <a:gdLst>
                <a:gd name="T0" fmla="*/ 0 w 1161"/>
                <a:gd name="T1" fmla="*/ 558 h 636"/>
                <a:gd name="T2" fmla="*/ 954 w 1161"/>
                <a:gd name="T3" fmla="*/ 0 h 636"/>
                <a:gd name="T4" fmla="*/ 1161 w 1161"/>
                <a:gd name="T5" fmla="*/ 69 h 636"/>
                <a:gd name="T6" fmla="*/ 267 w 1161"/>
                <a:gd name="T7" fmla="*/ 636 h 636"/>
                <a:gd name="T8" fmla="*/ 0 w 1161"/>
                <a:gd name="T9" fmla="*/ 558 h 636"/>
                <a:gd name="T10" fmla="*/ 0 60000 65536"/>
                <a:gd name="T11" fmla="*/ 0 60000 65536"/>
                <a:gd name="T12" fmla="*/ 0 60000 65536"/>
                <a:gd name="T13" fmla="*/ 0 60000 65536"/>
                <a:gd name="T14" fmla="*/ 0 60000 65536"/>
                <a:gd name="T15" fmla="*/ 0 w 1161"/>
                <a:gd name="T16" fmla="*/ 0 h 636"/>
                <a:gd name="T17" fmla="*/ 1161 w 1161"/>
                <a:gd name="T18" fmla="*/ 636 h 636"/>
              </a:gdLst>
              <a:ahLst/>
              <a:cxnLst>
                <a:cxn ang="T10">
                  <a:pos x="T0" y="T1"/>
                </a:cxn>
                <a:cxn ang="T11">
                  <a:pos x="T2" y="T3"/>
                </a:cxn>
                <a:cxn ang="T12">
                  <a:pos x="T4" y="T5"/>
                </a:cxn>
                <a:cxn ang="T13">
                  <a:pos x="T6" y="T7"/>
                </a:cxn>
                <a:cxn ang="T14">
                  <a:pos x="T8" y="T9"/>
                </a:cxn>
              </a:cxnLst>
              <a:rect l="T15" t="T16" r="T17" b="T18"/>
              <a:pathLst>
                <a:path w="1161" h="636">
                  <a:moveTo>
                    <a:pt x="0" y="558"/>
                  </a:moveTo>
                  <a:lnTo>
                    <a:pt x="954" y="0"/>
                  </a:lnTo>
                  <a:lnTo>
                    <a:pt x="1161" y="69"/>
                  </a:lnTo>
                  <a:lnTo>
                    <a:pt x="267" y="636"/>
                  </a:lnTo>
                  <a:lnTo>
                    <a:pt x="0" y="558"/>
                  </a:lnTo>
                  <a:close/>
                </a:path>
              </a:pathLst>
            </a:custGeom>
            <a:solidFill>
              <a:srgbClr val="CCCCFF"/>
            </a:solidFill>
            <a:ln w="25400">
              <a:solidFill>
                <a:schemeClr val="tx1"/>
              </a:solidFill>
              <a:round/>
              <a:headEnd/>
              <a:tailEnd/>
            </a:ln>
          </p:spPr>
          <p:txBody>
            <a:bodyPr/>
            <a:lstStyle/>
            <a:p>
              <a:endParaRPr lang="zh-CN" altLang="en-US"/>
            </a:p>
          </p:txBody>
        </p:sp>
        <p:grpSp>
          <p:nvGrpSpPr>
            <p:cNvPr id="58" name="Group 78" descr="25%"/>
            <p:cNvGrpSpPr>
              <a:grpSpLocks/>
            </p:cNvGrpSpPr>
            <p:nvPr/>
          </p:nvGrpSpPr>
          <p:grpSpPr bwMode="auto">
            <a:xfrm>
              <a:off x="1363864" y="2062482"/>
              <a:ext cx="544372" cy="1159555"/>
              <a:chOff x="1866" y="3165"/>
              <a:chExt cx="306" cy="843"/>
            </a:xfrm>
          </p:grpSpPr>
          <p:sp>
            <p:nvSpPr>
              <p:cNvPr id="68" name="Freeform 79" descr="25%"/>
              <p:cNvSpPr>
                <a:spLocks/>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solidFill>
                <a:srgbClr val="ECCD88"/>
              </a:solidFill>
              <a:ln w="25400">
                <a:solidFill>
                  <a:schemeClr val="tx1"/>
                </a:solidFill>
                <a:round/>
                <a:headEnd/>
                <a:tailEnd/>
              </a:ln>
            </p:spPr>
            <p:txBody>
              <a:bodyPr/>
              <a:lstStyle/>
              <a:p>
                <a:endParaRPr lang="zh-CN" altLang="en-US"/>
              </a:p>
            </p:txBody>
          </p:sp>
          <p:sp>
            <p:nvSpPr>
              <p:cNvPr id="69" name="Freeform 80" descr="25%"/>
              <p:cNvSpPr>
                <a:spLocks/>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solidFill>
                <a:srgbClr val="ECCD88"/>
              </a:solidFill>
              <a:ln w="25400">
                <a:solidFill>
                  <a:schemeClr val="tx1"/>
                </a:solidFill>
                <a:round/>
                <a:headEnd/>
                <a:tailEnd/>
              </a:ln>
            </p:spPr>
            <p:txBody>
              <a:bodyPr/>
              <a:lstStyle/>
              <a:p>
                <a:endParaRPr lang="zh-CN" altLang="en-US"/>
              </a:p>
            </p:txBody>
          </p:sp>
          <p:sp>
            <p:nvSpPr>
              <p:cNvPr id="71" name="Freeform 81" descr="25%"/>
              <p:cNvSpPr>
                <a:spLocks/>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solidFill>
                <a:srgbClr val="ECCF8D"/>
              </a:solidFill>
              <a:ln w="25400">
                <a:solidFill>
                  <a:schemeClr val="tx1"/>
                </a:solidFill>
                <a:round/>
                <a:headEnd/>
                <a:tailEnd/>
              </a:ln>
            </p:spPr>
            <p:txBody>
              <a:bodyPr/>
              <a:lstStyle/>
              <a:p>
                <a:endParaRPr lang="zh-CN" altLang="en-US"/>
              </a:p>
            </p:txBody>
          </p:sp>
        </p:grpSp>
        <p:grpSp>
          <p:nvGrpSpPr>
            <p:cNvPr id="59" name="Group 82" descr="25%"/>
            <p:cNvGrpSpPr>
              <a:grpSpLocks/>
            </p:cNvGrpSpPr>
            <p:nvPr/>
          </p:nvGrpSpPr>
          <p:grpSpPr bwMode="auto">
            <a:xfrm>
              <a:off x="2143063" y="1748866"/>
              <a:ext cx="507013" cy="1110037"/>
              <a:chOff x="1866" y="3165"/>
              <a:chExt cx="306" cy="843"/>
            </a:xfrm>
          </p:grpSpPr>
          <p:sp>
            <p:nvSpPr>
              <p:cNvPr id="64" name="Freeform 83" descr="25%"/>
              <p:cNvSpPr>
                <a:spLocks/>
              </p:cNvSpPr>
              <p:nvPr/>
            </p:nvSpPr>
            <p:spPr bwMode="auto">
              <a:xfrm>
                <a:off x="1869" y="3192"/>
                <a:ext cx="249" cy="816"/>
              </a:xfrm>
              <a:custGeom>
                <a:avLst/>
                <a:gdLst>
                  <a:gd name="T0" fmla="*/ 0 w 249"/>
                  <a:gd name="T1" fmla="*/ 0 h 816"/>
                  <a:gd name="T2" fmla="*/ 3 w 249"/>
                  <a:gd name="T3" fmla="*/ 741 h 816"/>
                  <a:gd name="T4" fmla="*/ 249 w 249"/>
                  <a:gd name="T5" fmla="*/ 816 h 816"/>
                  <a:gd name="T6" fmla="*/ 33 w 249"/>
                  <a:gd name="T7" fmla="*/ 9 h 816"/>
                  <a:gd name="T8" fmla="*/ 0 w 249"/>
                  <a:gd name="T9" fmla="*/ 0 h 816"/>
                  <a:gd name="T10" fmla="*/ 0 60000 65536"/>
                  <a:gd name="T11" fmla="*/ 0 60000 65536"/>
                  <a:gd name="T12" fmla="*/ 0 60000 65536"/>
                  <a:gd name="T13" fmla="*/ 0 60000 65536"/>
                  <a:gd name="T14" fmla="*/ 0 60000 65536"/>
                  <a:gd name="T15" fmla="*/ 0 w 249"/>
                  <a:gd name="T16" fmla="*/ 0 h 816"/>
                  <a:gd name="T17" fmla="*/ 249 w 249"/>
                  <a:gd name="T18" fmla="*/ 816 h 816"/>
                </a:gdLst>
                <a:ahLst/>
                <a:cxnLst>
                  <a:cxn ang="T10">
                    <a:pos x="T0" y="T1"/>
                  </a:cxn>
                  <a:cxn ang="T11">
                    <a:pos x="T2" y="T3"/>
                  </a:cxn>
                  <a:cxn ang="T12">
                    <a:pos x="T4" y="T5"/>
                  </a:cxn>
                  <a:cxn ang="T13">
                    <a:pos x="T6" y="T7"/>
                  </a:cxn>
                  <a:cxn ang="T14">
                    <a:pos x="T8" y="T9"/>
                  </a:cxn>
                </a:cxnLst>
                <a:rect l="T15" t="T16" r="T17" b="T18"/>
                <a:pathLst>
                  <a:path w="249" h="816">
                    <a:moveTo>
                      <a:pt x="0" y="0"/>
                    </a:moveTo>
                    <a:lnTo>
                      <a:pt x="3" y="741"/>
                    </a:lnTo>
                    <a:lnTo>
                      <a:pt x="249" y="816"/>
                    </a:lnTo>
                    <a:lnTo>
                      <a:pt x="33" y="9"/>
                    </a:lnTo>
                    <a:lnTo>
                      <a:pt x="0" y="0"/>
                    </a:lnTo>
                    <a:close/>
                  </a:path>
                </a:pathLst>
              </a:custGeom>
              <a:solidFill>
                <a:srgbClr val="ECCF8D"/>
              </a:solidFill>
              <a:ln w="25400">
                <a:solidFill>
                  <a:schemeClr val="tx1"/>
                </a:solidFill>
                <a:round/>
                <a:headEnd/>
                <a:tailEnd/>
              </a:ln>
            </p:spPr>
            <p:txBody>
              <a:bodyPr/>
              <a:lstStyle/>
              <a:p>
                <a:endParaRPr lang="zh-CN" altLang="en-US"/>
              </a:p>
            </p:txBody>
          </p:sp>
          <p:sp>
            <p:nvSpPr>
              <p:cNvPr id="65" name="Freeform 84" descr="25%"/>
              <p:cNvSpPr>
                <a:spLocks/>
              </p:cNvSpPr>
              <p:nvPr/>
            </p:nvSpPr>
            <p:spPr bwMode="auto">
              <a:xfrm>
                <a:off x="1866" y="3165"/>
                <a:ext cx="84" cy="36"/>
              </a:xfrm>
              <a:custGeom>
                <a:avLst/>
                <a:gdLst>
                  <a:gd name="T0" fmla="*/ 0 w 84"/>
                  <a:gd name="T1" fmla="*/ 27 h 36"/>
                  <a:gd name="T2" fmla="*/ 42 w 84"/>
                  <a:gd name="T3" fmla="*/ 0 h 36"/>
                  <a:gd name="T4" fmla="*/ 84 w 84"/>
                  <a:gd name="T5" fmla="*/ 9 h 36"/>
                  <a:gd name="T6" fmla="*/ 36 w 84"/>
                  <a:gd name="T7" fmla="*/ 36 h 36"/>
                  <a:gd name="T8" fmla="*/ 0 w 84"/>
                  <a:gd name="T9" fmla="*/ 27 h 36"/>
                  <a:gd name="T10" fmla="*/ 0 60000 65536"/>
                  <a:gd name="T11" fmla="*/ 0 60000 65536"/>
                  <a:gd name="T12" fmla="*/ 0 60000 65536"/>
                  <a:gd name="T13" fmla="*/ 0 60000 65536"/>
                  <a:gd name="T14" fmla="*/ 0 60000 65536"/>
                  <a:gd name="T15" fmla="*/ 0 w 84"/>
                  <a:gd name="T16" fmla="*/ 0 h 36"/>
                  <a:gd name="T17" fmla="*/ 84 w 84"/>
                  <a:gd name="T18" fmla="*/ 36 h 36"/>
                </a:gdLst>
                <a:ahLst/>
                <a:cxnLst>
                  <a:cxn ang="T10">
                    <a:pos x="T0" y="T1"/>
                  </a:cxn>
                  <a:cxn ang="T11">
                    <a:pos x="T2" y="T3"/>
                  </a:cxn>
                  <a:cxn ang="T12">
                    <a:pos x="T4" y="T5"/>
                  </a:cxn>
                  <a:cxn ang="T13">
                    <a:pos x="T6" y="T7"/>
                  </a:cxn>
                  <a:cxn ang="T14">
                    <a:pos x="T8" y="T9"/>
                  </a:cxn>
                </a:cxnLst>
                <a:rect l="T15" t="T16" r="T17" b="T18"/>
                <a:pathLst>
                  <a:path w="84" h="36">
                    <a:moveTo>
                      <a:pt x="0" y="27"/>
                    </a:moveTo>
                    <a:lnTo>
                      <a:pt x="42" y="0"/>
                    </a:lnTo>
                    <a:lnTo>
                      <a:pt x="84" y="9"/>
                    </a:lnTo>
                    <a:lnTo>
                      <a:pt x="36" y="36"/>
                    </a:lnTo>
                    <a:lnTo>
                      <a:pt x="0" y="27"/>
                    </a:lnTo>
                    <a:close/>
                  </a:path>
                </a:pathLst>
              </a:custGeom>
              <a:solidFill>
                <a:srgbClr val="ECCF8D"/>
              </a:solidFill>
              <a:ln w="25400">
                <a:solidFill>
                  <a:schemeClr val="tx1"/>
                </a:solidFill>
                <a:round/>
                <a:headEnd/>
                <a:tailEnd/>
              </a:ln>
            </p:spPr>
            <p:txBody>
              <a:bodyPr/>
              <a:lstStyle/>
              <a:p>
                <a:endParaRPr lang="zh-CN" altLang="en-US"/>
              </a:p>
            </p:txBody>
          </p:sp>
          <p:sp>
            <p:nvSpPr>
              <p:cNvPr id="66" name="Freeform 85" descr="25%"/>
              <p:cNvSpPr>
                <a:spLocks/>
              </p:cNvSpPr>
              <p:nvPr/>
            </p:nvSpPr>
            <p:spPr bwMode="auto">
              <a:xfrm>
                <a:off x="1908" y="3171"/>
                <a:ext cx="264" cy="837"/>
              </a:xfrm>
              <a:custGeom>
                <a:avLst/>
                <a:gdLst>
                  <a:gd name="T0" fmla="*/ 42 w 264"/>
                  <a:gd name="T1" fmla="*/ 0 h 846"/>
                  <a:gd name="T2" fmla="*/ 264 w 264"/>
                  <a:gd name="T3" fmla="*/ 671 h 846"/>
                  <a:gd name="T4" fmla="*/ 210 w 264"/>
                  <a:gd name="T5" fmla="*/ 697 h 846"/>
                  <a:gd name="T6" fmla="*/ 0 w 264"/>
                  <a:gd name="T7" fmla="*/ 36 h 846"/>
                  <a:gd name="T8" fmla="*/ 42 w 264"/>
                  <a:gd name="T9" fmla="*/ 0 h 846"/>
                  <a:gd name="T10" fmla="*/ 0 60000 65536"/>
                  <a:gd name="T11" fmla="*/ 0 60000 65536"/>
                  <a:gd name="T12" fmla="*/ 0 60000 65536"/>
                  <a:gd name="T13" fmla="*/ 0 60000 65536"/>
                  <a:gd name="T14" fmla="*/ 0 60000 65536"/>
                  <a:gd name="T15" fmla="*/ 0 w 264"/>
                  <a:gd name="T16" fmla="*/ 0 h 846"/>
                  <a:gd name="T17" fmla="*/ 264 w 264"/>
                  <a:gd name="T18" fmla="*/ 846 h 846"/>
                </a:gdLst>
                <a:ahLst/>
                <a:cxnLst>
                  <a:cxn ang="T10">
                    <a:pos x="T0" y="T1"/>
                  </a:cxn>
                  <a:cxn ang="T11">
                    <a:pos x="T2" y="T3"/>
                  </a:cxn>
                  <a:cxn ang="T12">
                    <a:pos x="T4" y="T5"/>
                  </a:cxn>
                  <a:cxn ang="T13">
                    <a:pos x="T6" y="T7"/>
                  </a:cxn>
                  <a:cxn ang="T14">
                    <a:pos x="T8" y="T9"/>
                  </a:cxn>
                </a:cxnLst>
                <a:rect l="T15" t="T16" r="T17" b="T18"/>
                <a:pathLst>
                  <a:path w="264" h="846">
                    <a:moveTo>
                      <a:pt x="42" y="0"/>
                    </a:moveTo>
                    <a:lnTo>
                      <a:pt x="264" y="813"/>
                    </a:lnTo>
                    <a:lnTo>
                      <a:pt x="210" y="846"/>
                    </a:lnTo>
                    <a:lnTo>
                      <a:pt x="0" y="36"/>
                    </a:lnTo>
                    <a:lnTo>
                      <a:pt x="42" y="0"/>
                    </a:lnTo>
                    <a:close/>
                  </a:path>
                </a:pathLst>
              </a:custGeom>
              <a:solidFill>
                <a:srgbClr val="ECCF8D"/>
              </a:solidFill>
              <a:ln w="25400">
                <a:solidFill>
                  <a:schemeClr val="tx1"/>
                </a:solidFill>
                <a:round/>
                <a:headEnd/>
                <a:tailEnd/>
              </a:ln>
            </p:spPr>
            <p:txBody>
              <a:bodyPr/>
              <a:lstStyle/>
              <a:p>
                <a:endParaRPr lang="zh-CN" altLang="en-US"/>
              </a:p>
            </p:txBody>
          </p:sp>
        </p:grpSp>
        <p:sp>
          <p:nvSpPr>
            <p:cNvPr id="60" name="Freeform 86" descr="25%"/>
            <p:cNvSpPr>
              <a:spLocks/>
            </p:cNvSpPr>
            <p:nvPr/>
          </p:nvSpPr>
          <p:spPr bwMode="auto">
            <a:xfrm>
              <a:off x="1518637" y="2582425"/>
              <a:ext cx="1595757" cy="1002747"/>
            </a:xfrm>
            <a:custGeom>
              <a:avLst/>
              <a:gdLst>
                <a:gd name="T0" fmla="*/ 0 w 897"/>
                <a:gd name="T1" fmla="*/ 729 h 729"/>
                <a:gd name="T2" fmla="*/ 897 w 897"/>
                <a:gd name="T3" fmla="*/ 102 h 729"/>
                <a:gd name="T4" fmla="*/ 897 w 897"/>
                <a:gd name="T5" fmla="*/ 0 h 729"/>
                <a:gd name="T6" fmla="*/ 3 w 897"/>
                <a:gd name="T7" fmla="*/ 570 h 729"/>
                <a:gd name="T8" fmla="*/ 0 w 897"/>
                <a:gd name="T9" fmla="*/ 729 h 729"/>
                <a:gd name="T10" fmla="*/ 0 60000 65536"/>
                <a:gd name="T11" fmla="*/ 0 60000 65536"/>
                <a:gd name="T12" fmla="*/ 0 60000 65536"/>
                <a:gd name="T13" fmla="*/ 0 60000 65536"/>
                <a:gd name="T14" fmla="*/ 0 60000 65536"/>
                <a:gd name="T15" fmla="*/ 0 w 897"/>
                <a:gd name="T16" fmla="*/ 0 h 729"/>
                <a:gd name="T17" fmla="*/ 897 w 897"/>
                <a:gd name="T18" fmla="*/ 729 h 729"/>
              </a:gdLst>
              <a:ahLst/>
              <a:cxnLst>
                <a:cxn ang="T10">
                  <a:pos x="T0" y="T1"/>
                </a:cxn>
                <a:cxn ang="T11">
                  <a:pos x="T2" y="T3"/>
                </a:cxn>
                <a:cxn ang="T12">
                  <a:pos x="T4" y="T5"/>
                </a:cxn>
                <a:cxn ang="T13">
                  <a:pos x="T6" y="T7"/>
                </a:cxn>
                <a:cxn ang="T14">
                  <a:pos x="T8" y="T9"/>
                </a:cxn>
              </a:cxnLst>
              <a:rect l="T15" t="T16" r="T17" b="T18"/>
              <a:pathLst>
                <a:path w="897" h="729">
                  <a:moveTo>
                    <a:pt x="0" y="729"/>
                  </a:moveTo>
                  <a:lnTo>
                    <a:pt x="897" y="102"/>
                  </a:lnTo>
                  <a:lnTo>
                    <a:pt x="897" y="0"/>
                  </a:lnTo>
                  <a:lnTo>
                    <a:pt x="3" y="570"/>
                  </a:lnTo>
                  <a:lnTo>
                    <a:pt x="0" y="729"/>
                  </a:lnTo>
                  <a:close/>
                </a:path>
              </a:pathLst>
            </a:custGeom>
            <a:solidFill>
              <a:srgbClr val="CCCCFF"/>
            </a:solidFill>
            <a:ln w="25400">
              <a:solidFill>
                <a:schemeClr val="tx1"/>
              </a:solidFill>
              <a:round/>
              <a:headEnd/>
              <a:tailEnd/>
            </a:ln>
          </p:spPr>
          <p:txBody>
            <a:bodyPr/>
            <a:lstStyle/>
            <a:p>
              <a:endParaRPr lang="zh-CN" altLang="en-US"/>
            </a:p>
          </p:txBody>
        </p:sp>
        <p:sp>
          <p:nvSpPr>
            <p:cNvPr id="61" name="Freeform 87" descr="25%"/>
            <p:cNvSpPr>
              <a:spLocks/>
            </p:cNvSpPr>
            <p:nvPr/>
          </p:nvSpPr>
          <p:spPr bwMode="auto">
            <a:xfrm>
              <a:off x="606013" y="3036343"/>
              <a:ext cx="298871" cy="193947"/>
            </a:xfrm>
            <a:custGeom>
              <a:avLst/>
              <a:gdLst>
                <a:gd name="T0" fmla="*/ 0 w 168"/>
                <a:gd name="T1" fmla="*/ 84 h 141"/>
                <a:gd name="T2" fmla="*/ 165 w 168"/>
                <a:gd name="T3" fmla="*/ 0 h 141"/>
                <a:gd name="T4" fmla="*/ 168 w 168"/>
                <a:gd name="T5" fmla="*/ 141 h 141"/>
                <a:gd name="T6" fmla="*/ 0 w 168"/>
                <a:gd name="T7" fmla="*/ 84 h 141"/>
                <a:gd name="T8" fmla="*/ 0 60000 65536"/>
                <a:gd name="T9" fmla="*/ 0 60000 65536"/>
                <a:gd name="T10" fmla="*/ 0 60000 65536"/>
                <a:gd name="T11" fmla="*/ 0 60000 65536"/>
                <a:gd name="T12" fmla="*/ 0 w 168"/>
                <a:gd name="T13" fmla="*/ 0 h 141"/>
                <a:gd name="T14" fmla="*/ 168 w 168"/>
                <a:gd name="T15" fmla="*/ 141 h 141"/>
              </a:gdLst>
              <a:ahLst/>
              <a:cxnLst>
                <a:cxn ang="T8">
                  <a:pos x="T0" y="T1"/>
                </a:cxn>
                <a:cxn ang="T9">
                  <a:pos x="T2" y="T3"/>
                </a:cxn>
                <a:cxn ang="T10">
                  <a:pos x="T4" y="T5"/>
                </a:cxn>
                <a:cxn ang="T11">
                  <a:pos x="T6" y="T7"/>
                </a:cxn>
              </a:cxnLst>
              <a:rect l="T12" t="T13" r="T14" b="T15"/>
              <a:pathLst>
                <a:path w="168" h="141">
                  <a:moveTo>
                    <a:pt x="0" y="84"/>
                  </a:moveTo>
                  <a:lnTo>
                    <a:pt x="165" y="0"/>
                  </a:lnTo>
                  <a:lnTo>
                    <a:pt x="168" y="141"/>
                  </a:lnTo>
                  <a:lnTo>
                    <a:pt x="0" y="84"/>
                  </a:lnTo>
                  <a:close/>
                </a:path>
              </a:pathLst>
            </a:custGeom>
            <a:solidFill>
              <a:srgbClr val="CCCCFF"/>
            </a:solidFill>
            <a:ln w="25400">
              <a:solidFill>
                <a:schemeClr val="tx1"/>
              </a:solidFill>
              <a:round/>
              <a:headEnd/>
              <a:tailEnd/>
            </a:ln>
          </p:spPr>
          <p:txBody>
            <a:bodyPr/>
            <a:lstStyle/>
            <a:p>
              <a:endParaRPr lang="zh-CN" altLang="en-US"/>
            </a:p>
          </p:txBody>
        </p:sp>
        <p:sp>
          <p:nvSpPr>
            <p:cNvPr id="62" name="Freeform 88" descr="25%"/>
            <p:cNvSpPr>
              <a:spLocks/>
            </p:cNvSpPr>
            <p:nvPr/>
          </p:nvSpPr>
          <p:spPr bwMode="auto">
            <a:xfrm>
              <a:off x="611350" y="3151886"/>
              <a:ext cx="912624" cy="429159"/>
            </a:xfrm>
            <a:custGeom>
              <a:avLst/>
              <a:gdLst>
                <a:gd name="T0" fmla="*/ 0 w 513"/>
                <a:gd name="T1" fmla="*/ 0 h 312"/>
                <a:gd name="T2" fmla="*/ 513 w 513"/>
                <a:gd name="T3" fmla="*/ 156 h 312"/>
                <a:gd name="T4" fmla="*/ 513 w 513"/>
                <a:gd name="T5" fmla="*/ 312 h 312"/>
                <a:gd name="T6" fmla="*/ 420 w 513"/>
                <a:gd name="T7" fmla="*/ 285 h 312"/>
                <a:gd name="T8" fmla="*/ 423 w 513"/>
                <a:gd name="T9" fmla="*/ 225 h 312"/>
                <a:gd name="T10" fmla="*/ 0 w 513"/>
                <a:gd name="T11" fmla="*/ 93 h 312"/>
                <a:gd name="T12" fmla="*/ 0 w 513"/>
                <a:gd name="T13" fmla="*/ 0 h 312"/>
                <a:gd name="T14" fmla="*/ 0 60000 65536"/>
                <a:gd name="T15" fmla="*/ 0 60000 65536"/>
                <a:gd name="T16" fmla="*/ 0 60000 65536"/>
                <a:gd name="T17" fmla="*/ 0 60000 65536"/>
                <a:gd name="T18" fmla="*/ 0 60000 65536"/>
                <a:gd name="T19" fmla="*/ 0 60000 65536"/>
                <a:gd name="T20" fmla="*/ 0 60000 65536"/>
                <a:gd name="T21" fmla="*/ 0 w 513"/>
                <a:gd name="T22" fmla="*/ 0 h 312"/>
                <a:gd name="T23" fmla="*/ 513 w 513"/>
                <a:gd name="T24" fmla="*/ 312 h 3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3" h="312">
                  <a:moveTo>
                    <a:pt x="0" y="0"/>
                  </a:moveTo>
                  <a:lnTo>
                    <a:pt x="513" y="156"/>
                  </a:lnTo>
                  <a:lnTo>
                    <a:pt x="513" y="312"/>
                  </a:lnTo>
                  <a:lnTo>
                    <a:pt x="420" y="285"/>
                  </a:lnTo>
                  <a:lnTo>
                    <a:pt x="423" y="225"/>
                  </a:lnTo>
                  <a:lnTo>
                    <a:pt x="0" y="93"/>
                  </a:lnTo>
                  <a:lnTo>
                    <a:pt x="0" y="0"/>
                  </a:lnTo>
                  <a:close/>
                </a:path>
              </a:pathLst>
            </a:custGeom>
            <a:pattFill prst="ltDnDiag">
              <a:fgClr>
                <a:srgbClr val="CCCCFF"/>
              </a:fgClr>
              <a:bgClr>
                <a:schemeClr val="bg1"/>
              </a:bgClr>
            </a:pattFill>
            <a:ln w="25400">
              <a:solidFill>
                <a:schemeClr val="tx1"/>
              </a:solidFill>
              <a:round/>
              <a:headEnd/>
              <a:tailEnd/>
            </a:ln>
          </p:spPr>
          <p:txBody>
            <a:bodyPr/>
            <a:lstStyle/>
            <a:p>
              <a:endParaRPr lang="zh-CN" altLang="en-US"/>
            </a:p>
          </p:txBody>
        </p:sp>
        <p:cxnSp>
          <p:nvCxnSpPr>
            <p:cNvPr id="10" name="直接连接符 9"/>
            <p:cNvCxnSpPr>
              <a:stCxn id="50" idx="3"/>
              <a:endCxn id="57" idx="1"/>
            </p:cNvCxnSpPr>
            <p:nvPr/>
          </p:nvCxnSpPr>
          <p:spPr bwMode="auto">
            <a:xfrm>
              <a:off x="2644740" y="1526033"/>
              <a:ext cx="101402" cy="965608"/>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0" name="Text Box 75"/>
          <p:cNvSpPr txBox="1">
            <a:spLocks noChangeArrowheads="1"/>
          </p:cNvSpPr>
          <p:nvPr/>
        </p:nvSpPr>
        <p:spPr bwMode="auto">
          <a:xfrm>
            <a:off x="6237939" y="3158434"/>
            <a:ext cx="351108"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a:solidFill>
                  <a:srgbClr val="000066"/>
                </a:solidFill>
                <a:latin typeface="Times New Roman" panose="02020603050405020304" pitchFamily="18" charset="0"/>
                <a:sym typeface="Symbol" panose="05050102010706020507" pitchFamily="18" charset="2"/>
              </a:rPr>
              <a:t>E</a:t>
            </a:r>
          </a:p>
        </p:txBody>
      </p:sp>
      <p:sp>
        <p:nvSpPr>
          <p:cNvPr id="122"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坦墙</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grpSp>
        <p:nvGrpSpPr>
          <p:cNvPr id="123" name="Group 12"/>
          <p:cNvGrpSpPr>
            <a:grpSpLocks/>
          </p:cNvGrpSpPr>
          <p:nvPr/>
        </p:nvGrpSpPr>
        <p:grpSpPr bwMode="auto">
          <a:xfrm>
            <a:off x="5702903" y="1836730"/>
            <a:ext cx="454614" cy="73451"/>
            <a:chOff x="2274" y="1204"/>
            <a:chExt cx="270" cy="44"/>
          </a:xfrm>
        </p:grpSpPr>
        <p:sp>
          <p:nvSpPr>
            <p:cNvPr id="124"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 name="Group 12"/>
          <p:cNvGrpSpPr>
            <a:grpSpLocks/>
          </p:cNvGrpSpPr>
          <p:nvPr/>
        </p:nvGrpSpPr>
        <p:grpSpPr bwMode="auto">
          <a:xfrm>
            <a:off x="6403935" y="1833333"/>
            <a:ext cx="454614" cy="73451"/>
            <a:chOff x="2274" y="1204"/>
            <a:chExt cx="270" cy="44"/>
          </a:xfrm>
        </p:grpSpPr>
        <p:sp>
          <p:nvSpPr>
            <p:cNvPr id="134"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 name="Rectangle 61"/>
          <p:cNvSpPr>
            <a:spLocks noChangeArrowheads="1"/>
          </p:cNvSpPr>
          <p:nvPr/>
        </p:nvSpPr>
        <p:spPr bwMode="auto">
          <a:xfrm>
            <a:off x="4756507" y="1965886"/>
            <a:ext cx="386175"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仿宋_GB2312" pitchFamily="49" charset="-122"/>
                <a:sym typeface="Symbol" panose="05050102010706020507" pitchFamily="18" charset="2"/>
              </a:rPr>
              <a:t></a:t>
            </a:r>
          </a:p>
        </p:txBody>
      </p:sp>
    </p:spTree>
    <p:extLst>
      <p:ext uri="{BB962C8B-B14F-4D97-AF65-F5344CB8AC3E}">
        <p14:creationId xmlns:p14="http://schemas.microsoft.com/office/powerpoint/2010/main" val="1260594789"/>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任意多边形 48"/>
          <p:cNvSpPr/>
          <p:nvPr/>
        </p:nvSpPr>
        <p:spPr bwMode="auto">
          <a:xfrm>
            <a:off x="2239846" y="2050979"/>
            <a:ext cx="1649867" cy="1784500"/>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 name="connsiteX0" fmla="*/ 0 w 1481960"/>
              <a:gd name="connsiteY0" fmla="*/ 280664 h 1688973"/>
              <a:gd name="connsiteX1" fmla="*/ 290339 w 1481960"/>
              <a:gd name="connsiteY1" fmla="*/ 1688973 h 1688973"/>
              <a:gd name="connsiteX2" fmla="*/ 1481960 w 1481960"/>
              <a:gd name="connsiteY2" fmla="*/ 0 h 1688973"/>
              <a:gd name="connsiteX3" fmla="*/ 0 w 1481960"/>
              <a:gd name="connsiteY3" fmla="*/ 280664 h 1688973"/>
              <a:gd name="connsiteX0" fmla="*/ 0 w 1481960"/>
              <a:gd name="connsiteY0" fmla="*/ 280664 h 1819283"/>
              <a:gd name="connsiteX1" fmla="*/ 781508 w 1481960"/>
              <a:gd name="connsiteY1" fmla="*/ 1819283 h 1819283"/>
              <a:gd name="connsiteX2" fmla="*/ 1481960 w 1481960"/>
              <a:gd name="connsiteY2" fmla="*/ 0 h 1819283"/>
              <a:gd name="connsiteX3" fmla="*/ 0 w 1481960"/>
              <a:gd name="connsiteY3" fmla="*/ 280664 h 1819283"/>
              <a:gd name="connsiteX0" fmla="*/ 0 w 2127868"/>
              <a:gd name="connsiteY0" fmla="*/ 390819 h 1819283"/>
              <a:gd name="connsiteX1" fmla="*/ 1427416 w 2127868"/>
              <a:gd name="connsiteY1" fmla="*/ 1819283 h 1819283"/>
              <a:gd name="connsiteX2" fmla="*/ 2127868 w 2127868"/>
              <a:gd name="connsiteY2" fmla="*/ 0 h 1819283"/>
              <a:gd name="connsiteX3" fmla="*/ 0 w 2127868"/>
              <a:gd name="connsiteY3" fmla="*/ 390819 h 1819283"/>
              <a:gd name="connsiteX0" fmla="*/ 0 w 1427416"/>
              <a:gd name="connsiteY0" fmla="*/ 115433 h 1543897"/>
              <a:gd name="connsiteX1" fmla="*/ 1427416 w 1427416"/>
              <a:gd name="connsiteY1" fmla="*/ 1543897 h 1543897"/>
              <a:gd name="connsiteX2" fmla="*/ 645785 w 1427416"/>
              <a:gd name="connsiteY2" fmla="*/ 0 h 1543897"/>
              <a:gd name="connsiteX3" fmla="*/ 0 w 1427416"/>
              <a:gd name="connsiteY3" fmla="*/ 115433 h 1543897"/>
            </a:gdLst>
            <a:ahLst/>
            <a:cxnLst>
              <a:cxn ang="0">
                <a:pos x="connsiteX0" y="connsiteY0"/>
              </a:cxn>
              <a:cxn ang="0">
                <a:pos x="connsiteX1" y="connsiteY1"/>
              </a:cxn>
              <a:cxn ang="0">
                <a:pos x="connsiteX2" y="connsiteY2"/>
              </a:cxn>
              <a:cxn ang="0">
                <a:pos x="connsiteX3" y="connsiteY3"/>
              </a:cxn>
            </a:cxnLst>
            <a:rect l="l" t="t" r="r" b="b"/>
            <a:pathLst>
              <a:path w="1427416" h="1543897">
                <a:moveTo>
                  <a:pt x="0" y="115433"/>
                </a:moveTo>
                <a:lnTo>
                  <a:pt x="1427416" y="1543897"/>
                </a:lnTo>
                <a:lnTo>
                  <a:pt x="645785" y="0"/>
                </a:lnTo>
                <a:lnTo>
                  <a:pt x="0" y="115433"/>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86</a:t>
            </a:fld>
            <a:endParaRPr lang="zh-CN" altLang="en-US" dirty="0">
              <a:solidFill>
                <a:srgbClr val="C00000"/>
              </a:solidFill>
            </a:endParaRPr>
          </a:p>
        </p:txBody>
      </p:sp>
      <p:sp>
        <p:nvSpPr>
          <p:cNvPr id="53" name="Text Box 7"/>
          <p:cNvSpPr txBox="1">
            <a:spLocks noChangeArrowheads="1"/>
          </p:cNvSpPr>
          <p:nvPr/>
        </p:nvSpPr>
        <p:spPr bwMode="auto">
          <a:xfrm>
            <a:off x="0" y="0"/>
            <a:ext cx="5791200"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坦墙</a:t>
            </a: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4.  </a:t>
            </a:r>
            <a:r>
              <a:rPr kumimoji="1" lang="zh-CN" altLang="en-US" sz="4000" b="1" dirty="0" smtClean="0">
                <a:solidFill>
                  <a:srgbClr val="000066"/>
                </a:solidFill>
                <a:ea typeface="黑体" pitchFamily="2" charset="-122"/>
                <a:cs typeface="Times New Roman" panose="02020603050405020304" pitchFamily="18" charset="0"/>
              </a:rPr>
              <a:t>坦 墙</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556226"/>
            <a:ext cx="2963462"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400" b="1" kern="0" dirty="0" smtClean="0">
                <a:solidFill>
                  <a:srgbClr val="A50021"/>
                </a:solidFill>
                <a:latin typeface="微软雅黑" panose="020B0503020204020204" pitchFamily="34" charset="-122"/>
                <a:ea typeface="微软雅黑" panose="020B0503020204020204" pitchFamily="34" charset="-122"/>
              </a:rPr>
              <a:t>坦墙土压力计算</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56" name="Text Box 75"/>
          <p:cNvSpPr txBox="1">
            <a:spLocks noChangeArrowheads="1"/>
          </p:cNvSpPr>
          <p:nvPr/>
        </p:nvSpPr>
        <p:spPr bwMode="auto">
          <a:xfrm>
            <a:off x="4636927" y="1981146"/>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第一滑裂面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67" name="Text Box 48"/>
          <p:cNvSpPr txBox="1">
            <a:spLocks noChangeArrowheads="1"/>
          </p:cNvSpPr>
          <p:nvPr/>
        </p:nvSpPr>
        <p:spPr bwMode="auto">
          <a:xfrm>
            <a:off x="2341897" y="4280403"/>
            <a:ext cx="6044789" cy="1246495"/>
          </a:xfrm>
          <a:prstGeom prst="rect">
            <a:avLst/>
          </a:prstGeom>
          <a:solidFill>
            <a:schemeClr val="bg1"/>
          </a:solid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marL="182563" indent="-182563">
              <a:buClr>
                <a:srgbClr val="A50021"/>
              </a:buClr>
              <a:buSzPct val="130000"/>
              <a:buFont typeface="Arial" panose="020B0604020202020204" pitchFamily="34" charset="0"/>
              <a:buChar char="•"/>
            </a:pPr>
            <a:r>
              <a:rPr kumimoji="1"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根据</a:t>
            </a:r>
            <a:r>
              <a:rPr kumimoji="1" lang="en-US" altLang="zh-CN" sz="2000" b="1" dirty="0" err="1">
                <a:solidFill>
                  <a:srgbClr val="002060"/>
                </a:solidFill>
                <a:latin typeface="Symbol" panose="05050102010706020507" pitchFamily="18" charset="2"/>
              </a:rPr>
              <a:t>a</a:t>
            </a:r>
            <a:r>
              <a:rPr kumimoji="1" lang="en-US" altLang="zh-CN" sz="2000" b="1" baseline="-25000" dirty="0" err="1">
                <a:solidFill>
                  <a:srgbClr val="002060"/>
                </a:solidFill>
                <a:latin typeface="Times New Roman" panose="02020603050405020304" pitchFamily="18" charset="0"/>
              </a:rPr>
              <a:t>cr</a:t>
            </a:r>
            <a:r>
              <a:rPr kumimoji="1"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确定第二滑动面</a:t>
            </a:r>
            <a:r>
              <a:rPr kumimoji="1" lang="en-US" altLang="zh-CN"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BC</a:t>
            </a:r>
            <a:endParaRPr kumimoji="1" lang="en-US" altLang="zh-CN" sz="2000" b="1" dirty="0">
              <a:solidFill>
                <a:srgbClr val="00206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endParaRPr>
          </a:p>
          <a:p>
            <a:pPr marL="182563" indent="-182563">
              <a:buClr>
                <a:srgbClr val="A50021"/>
              </a:buClr>
              <a:buSzPct val="130000"/>
              <a:buFont typeface="Arial" panose="020B0604020202020204" pitchFamily="34" charset="0"/>
              <a:buChar char="•"/>
            </a:pPr>
            <a:r>
              <a:rPr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假设</a:t>
            </a:r>
            <a:r>
              <a:rPr lang="en-US" altLang="zh-CN"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BC</a:t>
            </a:r>
            <a:r>
              <a:rPr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为墙背确定主动土压力</a:t>
            </a:r>
            <a:r>
              <a:rPr kumimoji="1" lang="en-US" altLang="zh-CN" sz="2000" b="1" i="1" dirty="0" err="1"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b="1" dirty="0" err="1">
                <a:solidFill>
                  <a:srgbClr val="002060"/>
                </a:solidFill>
                <a:latin typeface="Times New Roman" panose="02020603050405020304" pitchFamily="18" charset="0"/>
                <a:ea typeface="幼圆" panose="02010509060101010101" pitchFamily="49" charset="-122"/>
                <a:cs typeface="Times New Roman" panose="02020603050405020304" pitchFamily="18" charset="0"/>
                <a:sym typeface="Symbol" panose="05050102010706020507" pitchFamily="18" charset="2"/>
              </a:rPr>
              <a:t></a:t>
            </a:r>
            <a:r>
              <a:rPr kumimoji="1" lang="en-US" altLang="zh-CN" sz="2000" b="1" baseline="-25000" dirty="0" err="1"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endParaRPr>
          </a:p>
          <a:p>
            <a:pPr marL="182563" indent="-182563">
              <a:buClr>
                <a:srgbClr val="A50021"/>
              </a:buClr>
              <a:buSzPct val="130000"/>
              <a:buFont typeface="Arial" panose="020B0604020202020204" pitchFamily="34" charset="0"/>
              <a:buChar char="•"/>
            </a:pPr>
            <a:r>
              <a:rPr lang="zh-CN" altLang="en-US" sz="2000" b="1" dirty="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取</a:t>
            </a:r>
            <a:r>
              <a:rPr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三角形</a:t>
            </a:r>
            <a:r>
              <a:rPr lang="en-US" altLang="zh-CN"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ACB</a:t>
            </a:r>
            <a:r>
              <a:rPr lang="zh-CN" altLang="en-US" sz="2000" b="1" dirty="0"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为隔离体，确定墙背土压力</a:t>
            </a:r>
            <a:r>
              <a:rPr kumimoji="1" lang="en-US" altLang="zh-CN" sz="2000" b="1" i="1" dirty="0" err="1"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E</a:t>
            </a:r>
            <a:r>
              <a:rPr kumimoji="1" lang="en-US" altLang="zh-CN" sz="2000" b="1" baseline="-25000" dirty="0" err="1" smtClean="0">
                <a:solidFill>
                  <a:srgbClr val="002060"/>
                </a:solidFill>
                <a:latin typeface="Times New Roman" panose="02020603050405020304" pitchFamily="18" charset="0"/>
                <a:ea typeface="幼圆" panose="02010509060101010101" pitchFamily="49" charset="-122"/>
                <a:cs typeface="Times New Roman" panose="02020603050405020304" pitchFamily="18" charset="0"/>
              </a:rPr>
              <a:t>a</a:t>
            </a:r>
            <a:endParaRPr lang="zh-CN" altLang="en-US" sz="2000" b="1" dirty="0">
              <a:solidFill>
                <a:srgbClr val="00206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 name="组合 7"/>
          <p:cNvGrpSpPr/>
          <p:nvPr/>
        </p:nvGrpSpPr>
        <p:grpSpPr>
          <a:xfrm>
            <a:off x="2633036" y="1295085"/>
            <a:ext cx="1526508" cy="1178305"/>
            <a:chOff x="2633036" y="1295085"/>
            <a:chExt cx="1526508" cy="1178305"/>
          </a:xfrm>
        </p:grpSpPr>
        <p:sp>
          <p:nvSpPr>
            <p:cNvPr id="101" name="Text Box 75"/>
            <p:cNvSpPr txBox="1">
              <a:spLocks noChangeArrowheads="1"/>
            </p:cNvSpPr>
            <p:nvPr/>
          </p:nvSpPr>
          <p:spPr bwMode="auto">
            <a:xfrm>
              <a:off x="2633036" y="1295085"/>
              <a:ext cx="152650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第</a:t>
              </a:r>
              <a:r>
                <a:rPr kumimoji="1" lang="zh-CN" altLang="en-US"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二</a:t>
              </a: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102" name="直接连接符 101"/>
            <p:cNvCxnSpPr>
              <a:endCxn id="101" idx="2"/>
            </p:cNvCxnSpPr>
            <p:nvPr/>
          </p:nvCxnSpPr>
          <p:spPr bwMode="auto">
            <a:xfrm flipV="1">
              <a:off x="3247348" y="1741361"/>
              <a:ext cx="148942" cy="732029"/>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1" name="矩形 120"/>
          <p:cNvSpPr/>
          <p:nvPr/>
        </p:nvSpPr>
        <p:spPr>
          <a:xfrm>
            <a:off x="3563528" y="702721"/>
            <a:ext cx="3235201" cy="446276"/>
          </a:xfrm>
          <a:prstGeom prst="rect">
            <a:avLst/>
          </a:prstGeom>
          <a:solidFill>
            <a:srgbClr val="FFFF00"/>
          </a:solidFill>
        </p:spPr>
        <p:txBody>
          <a:bodyPr wrap="square">
            <a:spAutoFit/>
          </a:bodyPr>
          <a:lstStyle/>
          <a:p>
            <a:pPr eaLnBrk="1" hangingPunct="1"/>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条件：填</a:t>
            </a:r>
            <a:r>
              <a:rPr lang="zh-CN" altLang="en-US" sz="2000" b="1" dirty="0">
                <a:solidFill>
                  <a:srgbClr val="993300"/>
                </a:solidFill>
                <a:ea typeface="黑体" panose="02010609060101010101" pitchFamily="49" charset="-122"/>
                <a:cs typeface="Times New Roman" panose="02020603050405020304" pitchFamily="18" charset="0"/>
                <a:sym typeface="Symbol" panose="05050102010706020507" pitchFamily="18" charset="2"/>
              </a:rPr>
              <a:t>土</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面倾斜，</a:t>
            </a:r>
            <a:r>
              <a:rPr lang="en-US" altLang="zh-CN"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 </a:t>
            </a:r>
            <a:r>
              <a:rPr lang="zh-CN" altLang="en-US" sz="2000" b="1" dirty="0" smtClean="0">
                <a:solidFill>
                  <a:srgbClr val="993300"/>
                </a:solidFill>
                <a:ea typeface="黑体" panose="02010609060101010101" pitchFamily="49" charset="-122"/>
                <a:cs typeface="Times New Roman" panose="02020603050405020304" pitchFamily="18" charset="0"/>
                <a:sym typeface="Symbol"/>
              </a:rPr>
              <a:t></a:t>
            </a:r>
            <a:r>
              <a:rPr lang="zh-CN" altLang="en-US" sz="2000" b="1" dirty="0" smtClean="0">
                <a:solidFill>
                  <a:srgbClr val="993300"/>
                </a:solidFill>
                <a:ea typeface="黑体" panose="02010609060101010101" pitchFamily="49" charset="-122"/>
                <a:cs typeface="Times New Roman" panose="02020603050405020304" pitchFamily="18" charset="0"/>
                <a:sym typeface="Symbol" panose="05050102010706020507" pitchFamily="18" charset="2"/>
              </a:rPr>
              <a:t> </a:t>
            </a:r>
            <a:endParaRPr lang="zh-CN" altLang="en-US" sz="2000" b="1" dirty="0">
              <a:solidFill>
                <a:srgbClr val="993300"/>
              </a:solidFill>
              <a:ea typeface="黑体" panose="02010609060101010101" pitchFamily="49" charset="-122"/>
              <a:cs typeface="Times New Roman" panose="02020603050405020304" pitchFamily="18" charset="0"/>
            </a:endParaRPr>
          </a:p>
        </p:txBody>
      </p:sp>
      <p:sp>
        <p:nvSpPr>
          <p:cNvPr id="125" name="Rectangle 3"/>
          <p:cNvSpPr txBox="1">
            <a:spLocks noChangeArrowheads="1"/>
          </p:cNvSpPr>
          <p:nvPr/>
        </p:nvSpPr>
        <p:spPr bwMode="auto">
          <a:xfrm>
            <a:off x="1047051" y="4276417"/>
            <a:ext cx="1397385" cy="107488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marL="0" indent="0">
              <a:lnSpc>
                <a:spcPct val="125000"/>
              </a:lnSpc>
              <a:spcBef>
                <a:spcPct val="0"/>
              </a:spcBef>
              <a:buClr>
                <a:srgbClr val="C00000"/>
              </a:buClr>
              <a:buSzPct val="100000"/>
              <a:buNone/>
            </a:pPr>
            <a:r>
              <a:rPr lang="zh-CN" altLang="en-US" sz="2400" b="1" kern="0" dirty="0">
                <a:solidFill>
                  <a:srgbClr val="A50021"/>
                </a:solidFill>
                <a:latin typeface="微软雅黑" panose="020B0503020204020204" pitchFamily="34" charset="-122"/>
                <a:ea typeface="微软雅黑" panose="020B0503020204020204" pitchFamily="34" charset="-122"/>
              </a:rPr>
              <a:t>库伦</a:t>
            </a:r>
            <a:r>
              <a:rPr lang="zh-CN" altLang="en-US" sz="2400" b="1" kern="0" dirty="0" smtClean="0">
                <a:solidFill>
                  <a:srgbClr val="A50021"/>
                </a:solidFill>
                <a:latin typeface="微软雅黑" panose="020B0503020204020204" pitchFamily="34" charset="-122"/>
                <a:ea typeface="微软雅黑" panose="020B0503020204020204" pitchFamily="34" charset="-122"/>
              </a:rPr>
              <a:t>理论计算</a:t>
            </a:r>
            <a:endParaRPr lang="zh-CN" altLang="en-US" sz="2400" b="1" kern="0" dirty="0">
              <a:solidFill>
                <a:srgbClr val="A50021"/>
              </a:solidFill>
              <a:latin typeface="微软雅黑" panose="020B0503020204020204" pitchFamily="34" charset="-122"/>
              <a:ea typeface="微软雅黑" panose="020B0503020204020204" pitchFamily="34" charset="-122"/>
            </a:endParaRPr>
          </a:p>
        </p:txBody>
      </p:sp>
      <p:sp>
        <p:nvSpPr>
          <p:cNvPr id="50" name="任意多边形 49"/>
          <p:cNvSpPr/>
          <p:nvPr/>
        </p:nvSpPr>
        <p:spPr bwMode="auto">
          <a:xfrm>
            <a:off x="1752970" y="2183312"/>
            <a:ext cx="2130903" cy="1643604"/>
          </a:xfrm>
          <a:custGeom>
            <a:avLst/>
            <a:gdLst>
              <a:gd name="connsiteX0" fmla="*/ 0 w 2335794"/>
              <a:gd name="connsiteY0" fmla="*/ 0 h 1801640"/>
              <a:gd name="connsiteX1" fmla="*/ 529627 w 2335794"/>
              <a:gd name="connsiteY1" fmla="*/ 0 h 1801640"/>
              <a:gd name="connsiteX2" fmla="*/ 2335794 w 2335794"/>
              <a:gd name="connsiteY2" fmla="*/ 1801640 h 1801640"/>
              <a:gd name="connsiteX3" fmla="*/ 9053 w 2335794"/>
              <a:gd name="connsiteY3" fmla="*/ 1801640 h 1801640"/>
            </a:gdLst>
            <a:ahLst/>
            <a:cxnLst>
              <a:cxn ang="0">
                <a:pos x="connsiteX0" y="connsiteY0"/>
              </a:cxn>
              <a:cxn ang="0">
                <a:pos x="connsiteX1" y="connsiteY1"/>
              </a:cxn>
              <a:cxn ang="0">
                <a:pos x="connsiteX2" y="connsiteY2"/>
              </a:cxn>
              <a:cxn ang="0">
                <a:pos x="connsiteX3" y="connsiteY3"/>
              </a:cxn>
            </a:cxnLst>
            <a:rect l="l" t="t" r="r" b="b"/>
            <a:pathLst>
              <a:path w="2335794" h="1801640">
                <a:moveTo>
                  <a:pt x="0" y="0"/>
                </a:moveTo>
                <a:lnTo>
                  <a:pt x="529627" y="0"/>
                </a:lnTo>
                <a:lnTo>
                  <a:pt x="2335794" y="1801640"/>
                </a:lnTo>
                <a:lnTo>
                  <a:pt x="9053" y="1801640"/>
                </a:lnTo>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2" name="Line 60"/>
          <p:cNvSpPr>
            <a:spLocks noChangeShapeType="1"/>
          </p:cNvSpPr>
          <p:nvPr/>
        </p:nvSpPr>
        <p:spPr bwMode="auto">
          <a:xfrm>
            <a:off x="2229071" y="2186497"/>
            <a:ext cx="0" cy="49263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Rectangle 61"/>
          <p:cNvSpPr>
            <a:spLocks noChangeArrowheads="1"/>
          </p:cNvSpPr>
          <p:nvPr/>
        </p:nvSpPr>
        <p:spPr bwMode="auto">
          <a:xfrm>
            <a:off x="2216267" y="2320660"/>
            <a:ext cx="35230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dirty="0">
                <a:solidFill>
                  <a:srgbClr val="000066"/>
                </a:solidFill>
                <a:latin typeface="Times New Roman" panose="02020603050405020304" pitchFamily="18" charset="0"/>
                <a:ea typeface="仿宋_GB2312" pitchFamily="49" charset="-122"/>
                <a:sym typeface="Symbol" panose="05050102010706020507" pitchFamily="18" charset="2"/>
              </a:rPr>
              <a:t></a:t>
            </a:r>
          </a:p>
        </p:txBody>
      </p:sp>
      <p:sp>
        <p:nvSpPr>
          <p:cNvPr id="57" name="Line 70"/>
          <p:cNvSpPr>
            <a:spLocks noChangeShapeType="1"/>
          </p:cNvSpPr>
          <p:nvPr/>
        </p:nvSpPr>
        <p:spPr bwMode="auto">
          <a:xfrm flipV="1">
            <a:off x="3897217" y="1722881"/>
            <a:ext cx="791415" cy="2099751"/>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任意多边形 58"/>
          <p:cNvSpPr/>
          <p:nvPr/>
        </p:nvSpPr>
        <p:spPr bwMode="auto">
          <a:xfrm rot="18139897">
            <a:off x="2247343" y="2274527"/>
            <a:ext cx="77654" cy="8480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60" name="直接连接符 59"/>
          <p:cNvCxnSpPr/>
          <p:nvPr/>
        </p:nvCxnSpPr>
        <p:spPr bwMode="auto">
          <a:xfrm>
            <a:off x="3875323" y="3832106"/>
            <a:ext cx="112256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 Box 75"/>
          <p:cNvSpPr txBox="1">
            <a:spLocks noChangeArrowheads="1"/>
          </p:cNvSpPr>
          <p:nvPr/>
        </p:nvSpPr>
        <p:spPr bwMode="auto">
          <a:xfrm>
            <a:off x="2090778" y="1769356"/>
            <a:ext cx="327296" cy="415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62" name="Text Box 75"/>
          <p:cNvSpPr txBox="1">
            <a:spLocks noChangeArrowheads="1"/>
          </p:cNvSpPr>
          <p:nvPr/>
        </p:nvSpPr>
        <p:spPr bwMode="auto">
          <a:xfrm>
            <a:off x="3757263" y="3772803"/>
            <a:ext cx="355454" cy="40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7" name="组合 6"/>
          <p:cNvGrpSpPr/>
          <p:nvPr/>
        </p:nvGrpSpPr>
        <p:grpSpPr>
          <a:xfrm>
            <a:off x="6780617" y="1758144"/>
            <a:ext cx="1608476" cy="2180628"/>
            <a:chOff x="6780617" y="1758144"/>
            <a:chExt cx="1608476" cy="2180628"/>
          </a:xfrm>
        </p:grpSpPr>
        <p:sp>
          <p:nvSpPr>
            <p:cNvPr id="12" name="Text Box 75"/>
            <p:cNvSpPr txBox="1">
              <a:spLocks noChangeArrowheads="1"/>
            </p:cNvSpPr>
            <p:nvPr/>
          </p:nvSpPr>
          <p:spPr bwMode="auto">
            <a:xfrm>
              <a:off x="7343411" y="3279525"/>
              <a:ext cx="628536" cy="48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dirty="0" err="1" smtClean="0">
                  <a:solidFill>
                    <a:srgbClr val="C00000"/>
                  </a:solidFill>
                  <a:latin typeface="Times New Roman" panose="02020603050405020304" pitchFamily="18" charset="0"/>
                  <a:sym typeface="Symbol"/>
                </a:rPr>
                <a:t></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cxnSp>
          <p:nvCxnSpPr>
            <p:cNvPr id="107" name="直接箭头连接符 106"/>
            <p:cNvCxnSpPr/>
            <p:nvPr/>
          </p:nvCxnSpPr>
          <p:spPr bwMode="auto">
            <a:xfrm flipV="1">
              <a:off x="6946524" y="1758144"/>
              <a:ext cx="790889" cy="2147448"/>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直接箭头连接符 110"/>
            <p:cNvCxnSpPr/>
            <p:nvPr/>
          </p:nvCxnSpPr>
          <p:spPr bwMode="auto">
            <a:xfrm>
              <a:off x="7747253" y="1768136"/>
              <a:ext cx="0" cy="1203500"/>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Text Box 75"/>
            <p:cNvSpPr txBox="1">
              <a:spLocks noChangeArrowheads="1"/>
            </p:cNvSpPr>
            <p:nvPr/>
          </p:nvSpPr>
          <p:spPr bwMode="auto">
            <a:xfrm>
              <a:off x="6780617" y="2345394"/>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sp>
          <p:nvSpPr>
            <p:cNvPr id="116" name="Text Box 75"/>
            <p:cNvSpPr txBox="1">
              <a:spLocks noChangeArrowheads="1"/>
            </p:cNvSpPr>
            <p:nvPr/>
          </p:nvSpPr>
          <p:spPr bwMode="auto">
            <a:xfrm>
              <a:off x="7760557" y="2229268"/>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sym typeface="Symbol" panose="05050102010706020507" pitchFamily="18" charset="2"/>
                </a:rPr>
                <a:t>W</a:t>
              </a:r>
              <a:endParaRPr kumimoji="1" lang="en-US" altLang="zh-CN" sz="2400" b="1" i="1" dirty="0">
                <a:solidFill>
                  <a:srgbClr val="000066"/>
                </a:solidFill>
                <a:latin typeface="Times New Roman" panose="02020603050405020304" pitchFamily="18" charset="0"/>
                <a:sym typeface="Symbol" panose="05050102010706020507" pitchFamily="18" charset="2"/>
              </a:endParaRPr>
            </a:p>
          </p:txBody>
        </p:sp>
        <p:cxnSp>
          <p:nvCxnSpPr>
            <p:cNvPr id="103" name="直接箭头连接符 102"/>
            <p:cNvCxnSpPr/>
            <p:nvPr/>
          </p:nvCxnSpPr>
          <p:spPr bwMode="auto">
            <a:xfrm flipH="1">
              <a:off x="6942793" y="2951240"/>
              <a:ext cx="795102" cy="987532"/>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3525617" y="2382420"/>
            <a:ext cx="634973" cy="808166"/>
            <a:chOff x="3525617" y="2382420"/>
            <a:chExt cx="634973" cy="808166"/>
          </a:xfrm>
        </p:grpSpPr>
        <p:sp>
          <p:nvSpPr>
            <p:cNvPr id="58" name="Text Box 75"/>
            <p:cNvSpPr txBox="1">
              <a:spLocks noChangeArrowheads="1"/>
            </p:cNvSpPr>
            <p:nvPr/>
          </p:nvSpPr>
          <p:spPr bwMode="auto">
            <a:xfrm>
              <a:off x="3621667" y="2382420"/>
              <a:ext cx="538923" cy="416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i="1" dirty="0" err="1" smtClean="0">
                  <a:solidFill>
                    <a:srgbClr val="C00000"/>
                  </a:solidFill>
                  <a:latin typeface="Times New Roman" panose="02020603050405020304" pitchFamily="18" charset="0"/>
                  <a:sym typeface="Symbol" panose="05050102010706020507" pitchFamily="18" charset="2"/>
                </a:rPr>
                <a:t>E</a:t>
              </a:r>
              <a:r>
                <a:rPr kumimoji="1" lang="en-US" altLang="zh-CN" sz="2000" b="1" dirty="0" err="1" smtClean="0">
                  <a:solidFill>
                    <a:srgbClr val="C00000"/>
                  </a:solidFill>
                  <a:latin typeface="Times New Roman" panose="02020603050405020304" pitchFamily="18" charset="0"/>
                  <a:sym typeface="Symbol"/>
                </a:rPr>
                <a:t></a:t>
              </a:r>
              <a:r>
                <a:rPr kumimoji="1" lang="en-US" altLang="zh-CN" sz="20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000" b="1" baseline="-25000" dirty="0">
                <a:solidFill>
                  <a:srgbClr val="C00000"/>
                </a:solidFill>
                <a:latin typeface="Times New Roman" panose="02020603050405020304" pitchFamily="18" charset="0"/>
                <a:sym typeface="Symbol" panose="05050102010706020507" pitchFamily="18" charset="2"/>
              </a:endParaRPr>
            </a:p>
          </p:txBody>
        </p:sp>
        <p:cxnSp>
          <p:nvCxnSpPr>
            <p:cNvPr id="68" name="直接连接符 67"/>
            <p:cNvCxnSpPr/>
            <p:nvPr/>
          </p:nvCxnSpPr>
          <p:spPr bwMode="auto">
            <a:xfrm rot="10106535" flipH="1">
              <a:off x="3525617" y="3009180"/>
              <a:ext cx="383955" cy="82536"/>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任意多边形 68"/>
            <p:cNvSpPr/>
            <p:nvPr/>
          </p:nvSpPr>
          <p:spPr bwMode="auto">
            <a:xfrm rot="14658581">
              <a:off x="3546584" y="3106571"/>
              <a:ext cx="83221" cy="84809"/>
            </a:xfrm>
            <a:custGeom>
              <a:avLst/>
              <a:gdLst>
                <a:gd name="connsiteX0" fmla="*/ 0 w 92075"/>
                <a:gd name="connsiteY0" fmla="*/ 0 h 90488"/>
                <a:gd name="connsiteX1" fmla="*/ 0 w 92075"/>
                <a:gd name="connsiteY1" fmla="*/ 90488 h 90488"/>
                <a:gd name="connsiteX2" fmla="*/ 92075 w 92075"/>
                <a:gd name="connsiteY2" fmla="*/ 90488 h 90488"/>
              </a:gdLst>
              <a:ahLst/>
              <a:cxnLst>
                <a:cxn ang="0">
                  <a:pos x="connsiteX0" y="connsiteY0"/>
                </a:cxn>
                <a:cxn ang="0">
                  <a:pos x="connsiteX1" y="connsiteY1"/>
                </a:cxn>
                <a:cxn ang="0">
                  <a:pos x="connsiteX2" y="connsiteY2"/>
                </a:cxn>
              </a:cxnLst>
              <a:rect l="l" t="t" r="r" b="b"/>
              <a:pathLst>
                <a:path w="92075" h="90488">
                  <a:moveTo>
                    <a:pt x="0" y="0"/>
                  </a:moveTo>
                  <a:lnTo>
                    <a:pt x="0" y="90488"/>
                  </a:lnTo>
                  <a:lnTo>
                    <a:pt x="92075" y="90488"/>
                  </a:ln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任意多边形 70"/>
            <p:cNvSpPr/>
            <p:nvPr/>
          </p:nvSpPr>
          <p:spPr bwMode="auto">
            <a:xfrm rot="10106535">
              <a:off x="3722459" y="2878420"/>
              <a:ext cx="93389" cy="14028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4" name="直接箭头连接符 73"/>
            <p:cNvCxnSpPr/>
            <p:nvPr/>
          </p:nvCxnSpPr>
          <p:spPr bwMode="auto">
            <a:xfrm rot="10937977" flipV="1">
              <a:off x="3540819" y="2724250"/>
              <a:ext cx="300750" cy="405857"/>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Rectangle 74"/>
            <p:cNvSpPr>
              <a:spLocks noChangeArrowheads="1"/>
            </p:cNvSpPr>
            <p:nvPr/>
          </p:nvSpPr>
          <p:spPr bwMode="auto">
            <a:xfrm>
              <a:off x="3761889" y="2620281"/>
              <a:ext cx="310320" cy="40713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993300"/>
                  </a:solidFill>
                  <a:latin typeface="Times New Roman" panose="02020603050405020304" pitchFamily="18" charset="0"/>
                  <a:sym typeface="Symbol" panose="05050102010706020507" pitchFamily="18" charset="2"/>
                </a:rPr>
                <a:t></a:t>
              </a:r>
              <a:endParaRPr kumimoji="1" lang="en-US" altLang="zh-CN" sz="2000" b="1" i="1" dirty="0">
                <a:solidFill>
                  <a:srgbClr val="993300"/>
                </a:solidFill>
                <a:latin typeface="Times New Roman" panose="02020603050405020304" pitchFamily="18" charset="0"/>
                <a:sym typeface="Symbol" panose="05050102010706020507" pitchFamily="18" charset="2"/>
              </a:endParaRPr>
            </a:p>
          </p:txBody>
        </p:sp>
      </p:grpSp>
      <p:cxnSp>
        <p:nvCxnSpPr>
          <p:cNvPr id="77" name="直接连接符 76"/>
          <p:cNvCxnSpPr/>
          <p:nvPr/>
        </p:nvCxnSpPr>
        <p:spPr bwMode="auto">
          <a:xfrm flipV="1">
            <a:off x="2237170" y="1689678"/>
            <a:ext cx="2636645" cy="494419"/>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Text Box 75"/>
          <p:cNvSpPr txBox="1">
            <a:spLocks noChangeArrowheads="1"/>
          </p:cNvSpPr>
          <p:nvPr/>
        </p:nvSpPr>
        <p:spPr bwMode="auto">
          <a:xfrm>
            <a:off x="4469030" y="1333687"/>
            <a:ext cx="320310" cy="38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D</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nvGrpSpPr>
          <p:cNvPr id="3" name="组合 2"/>
          <p:cNvGrpSpPr/>
          <p:nvPr/>
        </p:nvGrpSpPr>
        <p:grpSpPr>
          <a:xfrm>
            <a:off x="2789061" y="1658095"/>
            <a:ext cx="1101437" cy="2167845"/>
            <a:chOff x="2789061" y="1658095"/>
            <a:chExt cx="1101437" cy="2167845"/>
          </a:xfrm>
        </p:grpSpPr>
        <p:sp>
          <p:nvSpPr>
            <p:cNvPr id="64" name="Text Box 75"/>
            <p:cNvSpPr txBox="1">
              <a:spLocks noChangeArrowheads="1"/>
            </p:cNvSpPr>
            <p:nvPr/>
          </p:nvSpPr>
          <p:spPr bwMode="auto">
            <a:xfrm>
              <a:off x="2789061" y="1658095"/>
              <a:ext cx="320310" cy="40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90" name="Line 70"/>
            <p:cNvSpPr>
              <a:spLocks noChangeShapeType="1"/>
            </p:cNvSpPr>
            <p:nvPr/>
          </p:nvSpPr>
          <p:spPr bwMode="auto">
            <a:xfrm flipH="1" flipV="1">
              <a:off x="2985786" y="2053840"/>
              <a:ext cx="904712" cy="1772100"/>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组合 1"/>
          <p:cNvGrpSpPr/>
          <p:nvPr/>
        </p:nvGrpSpPr>
        <p:grpSpPr>
          <a:xfrm>
            <a:off x="2678469" y="2053478"/>
            <a:ext cx="419350" cy="492632"/>
            <a:chOff x="2678469" y="2053478"/>
            <a:chExt cx="419350" cy="492632"/>
          </a:xfrm>
        </p:grpSpPr>
        <p:sp>
          <p:nvSpPr>
            <p:cNvPr id="85" name="Text Box 48"/>
            <p:cNvSpPr txBox="1">
              <a:spLocks noChangeArrowheads="1"/>
            </p:cNvSpPr>
            <p:nvPr/>
          </p:nvSpPr>
          <p:spPr bwMode="auto">
            <a:xfrm>
              <a:off x="2678469" y="2062157"/>
              <a:ext cx="403920" cy="324576"/>
            </a:xfrm>
            <a:prstGeom prst="rect">
              <a:avLst/>
            </a:prstGeom>
            <a:noFill/>
            <a:ln>
              <a:noFill/>
            </a:ln>
            <a:extLst/>
          </p:spPr>
          <p:txBody>
            <a:bodyPr wrap="square" lIns="0" tIns="0" rIns="0" b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buClr>
                  <a:srgbClr val="A50021"/>
                </a:buClr>
                <a:buSzPct val="130000"/>
              </a:pPr>
              <a:r>
                <a:rPr kumimoji="1" lang="en-US" altLang="zh-CN" sz="2000" b="1" dirty="0" err="1" smtClean="0">
                  <a:solidFill>
                    <a:srgbClr val="C00000"/>
                  </a:solidFill>
                  <a:latin typeface="Symbol" panose="05050102010706020507" pitchFamily="18" charset="2"/>
                </a:rPr>
                <a:t>a</a:t>
              </a:r>
              <a:r>
                <a:rPr kumimoji="1" lang="en-US" altLang="zh-CN" sz="2000" b="1" baseline="-25000" dirty="0" err="1" smtClean="0">
                  <a:solidFill>
                    <a:srgbClr val="C00000"/>
                  </a:solidFill>
                  <a:latin typeface="Times New Roman" panose="02020603050405020304" pitchFamily="18" charset="0"/>
                </a:rPr>
                <a:t>cr</a:t>
              </a:r>
              <a:endParaRPr kumimoji="1" lang="en-US" altLang="zh-CN" sz="2000" b="1" dirty="0">
                <a:solidFill>
                  <a:srgbClr val="C00000"/>
                </a:solidFill>
                <a:latin typeface="Times New Roman" panose="02020603050405020304" pitchFamily="18" charset="0"/>
              </a:endParaRPr>
            </a:p>
          </p:txBody>
        </p:sp>
        <p:sp>
          <p:nvSpPr>
            <p:cNvPr id="95" name="Line 60"/>
            <p:cNvSpPr>
              <a:spLocks noChangeShapeType="1"/>
            </p:cNvSpPr>
            <p:nvPr/>
          </p:nvSpPr>
          <p:spPr bwMode="auto">
            <a:xfrm>
              <a:off x="2999882" y="2053478"/>
              <a:ext cx="0" cy="49263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任意多边形 96"/>
            <p:cNvSpPr/>
            <p:nvPr/>
          </p:nvSpPr>
          <p:spPr bwMode="auto">
            <a:xfrm rot="18139897">
              <a:off x="3016589" y="2270406"/>
              <a:ext cx="77654" cy="84806"/>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6" name="组合 5"/>
          <p:cNvGrpSpPr/>
          <p:nvPr/>
        </p:nvGrpSpPr>
        <p:grpSpPr>
          <a:xfrm>
            <a:off x="2350517" y="2508894"/>
            <a:ext cx="628536" cy="762786"/>
            <a:chOff x="2350517" y="2508894"/>
            <a:chExt cx="628536" cy="762786"/>
          </a:xfrm>
        </p:grpSpPr>
        <p:cxnSp>
          <p:nvCxnSpPr>
            <p:cNvPr id="98" name="直接箭头连接符 97"/>
            <p:cNvCxnSpPr/>
            <p:nvPr/>
          </p:nvCxnSpPr>
          <p:spPr bwMode="auto">
            <a:xfrm>
              <a:off x="2907077" y="2508894"/>
              <a:ext cx="0" cy="707652"/>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75"/>
            <p:cNvSpPr txBox="1">
              <a:spLocks noChangeArrowheads="1"/>
            </p:cNvSpPr>
            <p:nvPr/>
          </p:nvSpPr>
          <p:spPr bwMode="auto">
            <a:xfrm>
              <a:off x="2350517" y="2788663"/>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000066"/>
                  </a:solidFill>
                  <a:latin typeface="Times New Roman" panose="02020603050405020304" pitchFamily="18" charset="0"/>
                  <a:sym typeface="Symbol" panose="05050102010706020507" pitchFamily="18" charset="2"/>
                </a:rPr>
                <a:t>W</a:t>
              </a:r>
              <a:endParaRPr kumimoji="1" lang="en-US" altLang="zh-CN" sz="2400" b="1" dirty="0">
                <a:solidFill>
                  <a:srgbClr val="000066"/>
                </a:solidFill>
                <a:latin typeface="Times New Roman" panose="02020603050405020304" pitchFamily="18" charset="0"/>
                <a:sym typeface="Symbol" panose="05050102010706020507" pitchFamily="18" charset="2"/>
              </a:endParaRPr>
            </a:p>
          </p:txBody>
        </p:sp>
      </p:grpSp>
      <p:cxnSp>
        <p:nvCxnSpPr>
          <p:cNvPr id="99" name="直接连接符 98"/>
          <p:cNvCxnSpPr/>
          <p:nvPr/>
        </p:nvCxnSpPr>
        <p:spPr bwMode="auto">
          <a:xfrm flipH="1">
            <a:off x="4363503" y="2444436"/>
            <a:ext cx="380513" cy="209817"/>
          </a:xfrm>
          <a:prstGeom prst="line">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组合 4"/>
          <p:cNvGrpSpPr/>
          <p:nvPr/>
        </p:nvGrpSpPr>
        <p:grpSpPr>
          <a:xfrm>
            <a:off x="2412855" y="3176968"/>
            <a:ext cx="813579" cy="889516"/>
            <a:chOff x="2412855" y="3176968"/>
            <a:chExt cx="813579" cy="889516"/>
          </a:xfrm>
        </p:grpSpPr>
        <p:cxnSp>
          <p:nvCxnSpPr>
            <p:cNvPr id="104" name="直接箭头连接符 103"/>
            <p:cNvCxnSpPr/>
            <p:nvPr/>
          </p:nvCxnSpPr>
          <p:spPr bwMode="auto">
            <a:xfrm flipV="1">
              <a:off x="2939778" y="3176968"/>
              <a:ext cx="286656" cy="778339"/>
            </a:xfrm>
            <a:prstGeom prst="straightConnector1">
              <a:avLst/>
            </a:prstGeom>
            <a:noFill/>
            <a:ln w="38100" cap="flat" cmpd="sng" algn="ctr">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Text Box 75"/>
            <p:cNvSpPr txBox="1">
              <a:spLocks noChangeArrowheads="1"/>
            </p:cNvSpPr>
            <p:nvPr/>
          </p:nvSpPr>
          <p:spPr bwMode="auto">
            <a:xfrm>
              <a:off x="2412855" y="3583467"/>
              <a:ext cx="628536"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C00000"/>
                  </a:solidFill>
                  <a:latin typeface="Times New Roman" panose="02020603050405020304" pitchFamily="18" charset="0"/>
                  <a:sym typeface="Symbol" panose="05050102010706020507" pitchFamily="18" charset="2"/>
                </a:rPr>
                <a:t>E</a:t>
              </a:r>
              <a:r>
                <a:rPr kumimoji="1" lang="en-US" altLang="zh-CN" sz="2400" b="1" baseline="-25000" dirty="0" err="1" smtClean="0">
                  <a:solidFill>
                    <a:srgbClr val="C00000"/>
                  </a:solidFill>
                  <a:latin typeface="Times New Roman" panose="02020603050405020304" pitchFamily="18" charset="0"/>
                  <a:sym typeface="Symbol" panose="05050102010706020507" pitchFamily="18" charset="2"/>
                </a:rPr>
                <a:t>a</a:t>
              </a:r>
              <a:endParaRPr kumimoji="1" lang="en-US" altLang="zh-CN" sz="2400" b="1" baseline="-25000" dirty="0">
                <a:solidFill>
                  <a:srgbClr val="C00000"/>
                </a:solidFill>
                <a:latin typeface="Times New Roman" panose="02020603050405020304" pitchFamily="18" charset="0"/>
                <a:sym typeface="Symbol" panose="05050102010706020507" pitchFamily="18" charset="2"/>
              </a:endParaRPr>
            </a:p>
          </p:txBody>
        </p:sp>
      </p:grpSp>
      <p:graphicFrame>
        <p:nvGraphicFramePr>
          <p:cNvPr id="25" name="对象 24"/>
          <p:cNvGraphicFramePr>
            <a:graphicFrameLocks noChangeAspect="1"/>
          </p:cNvGraphicFramePr>
          <p:nvPr>
            <p:extLst>
              <p:ext uri="{D42A27DB-BD31-4B8C-83A1-F6EECF244321}">
                <p14:modId xmlns:p14="http://schemas.microsoft.com/office/powerpoint/2010/main" val="283955017"/>
              </p:ext>
            </p:extLst>
          </p:nvPr>
        </p:nvGraphicFramePr>
        <p:xfrm>
          <a:off x="5146675" y="3089275"/>
          <a:ext cx="1501775" cy="484188"/>
        </p:xfrm>
        <a:graphic>
          <a:graphicData uri="http://schemas.openxmlformats.org/presentationml/2006/ole">
            <mc:AlternateContent xmlns:mc="http://schemas.openxmlformats.org/markup-compatibility/2006">
              <mc:Choice xmlns:v="urn:schemas-microsoft-com:vml" Requires="v">
                <p:oleObj spid="_x0000_s1726748" name="Equation" r:id="rId4" imgW="787320" imgH="253800" progId="Equation.DSMT4">
                  <p:embed/>
                </p:oleObj>
              </mc:Choice>
              <mc:Fallback>
                <p:oleObj name="Equation" r:id="rId4" imgW="787320" imgH="253800" progId="Equation.DSMT4">
                  <p:embed/>
                  <p:pic>
                    <p:nvPicPr>
                      <p:cNvPr id="0" name="Object 76"/>
                      <p:cNvPicPr>
                        <a:picLocks noChangeAspect="1" noChangeArrowheads="1"/>
                      </p:cNvPicPr>
                      <p:nvPr/>
                    </p:nvPicPr>
                    <p:blipFill>
                      <a:blip r:embed="rId5"/>
                      <a:srcRect/>
                      <a:stretch>
                        <a:fillRect/>
                      </a:stretch>
                    </p:blipFill>
                    <p:spPr bwMode="auto">
                      <a:xfrm>
                        <a:off x="5146675" y="3089275"/>
                        <a:ext cx="1501775" cy="484188"/>
                      </a:xfrm>
                      <a:prstGeom prst="rect">
                        <a:avLst/>
                      </a:prstGeom>
                      <a:noFill/>
                      <a:ln w="9525">
                        <a:noFill/>
                        <a:miter lim="800000"/>
                        <a:headEnd/>
                        <a:tailEnd/>
                      </a:ln>
                      <a:effectLst/>
                    </p:spPr>
                  </p:pic>
                </p:oleObj>
              </mc:Fallback>
            </mc:AlternateContent>
          </a:graphicData>
        </a:graphic>
      </p:graphicFrame>
      <p:grpSp>
        <p:nvGrpSpPr>
          <p:cNvPr id="108" name="Group 12"/>
          <p:cNvGrpSpPr>
            <a:grpSpLocks/>
          </p:cNvGrpSpPr>
          <p:nvPr/>
        </p:nvGrpSpPr>
        <p:grpSpPr bwMode="auto">
          <a:xfrm rot="21117756">
            <a:off x="3537554" y="1906488"/>
            <a:ext cx="454614" cy="73451"/>
            <a:chOff x="2274" y="1204"/>
            <a:chExt cx="270" cy="44"/>
          </a:xfrm>
        </p:grpSpPr>
        <p:sp>
          <p:nvSpPr>
            <p:cNvPr id="109"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2" name="Group 12"/>
          <p:cNvGrpSpPr>
            <a:grpSpLocks/>
          </p:cNvGrpSpPr>
          <p:nvPr/>
        </p:nvGrpSpPr>
        <p:grpSpPr bwMode="auto">
          <a:xfrm rot="21117756">
            <a:off x="4078247" y="1801580"/>
            <a:ext cx="454614" cy="73451"/>
            <a:chOff x="2274" y="1204"/>
            <a:chExt cx="270" cy="44"/>
          </a:xfrm>
        </p:grpSpPr>
        <p:sp>
          <p:nvSpPr>
            <p:cNvPr id="123"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216714223"/>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animEffect transition="in" filter="wipe(left)">
                                      <p:cBhvr>
                                        <p:cTn id="7" dur="500"/>
                                        <p:tgtEl>
                                          <p:spTgt spid="67">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right)">
                                      <p:cBhvr>
                                        <p:cTn id="15" dur="500"/>
                                        <p:tgtEl>
                                          <p:spTgt spid="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7">
                                            <p:txEl>
                                              <p:pRg st="1" end="1"/>
                                            </p:txEl>
                                          </p:spTgt>
                                        </p:tgtEl>
                                        <p:attrNameLst>
                                          <p:attrName>style.visibility</p:attrName>
                                        </p:attrNameLst>
                                      </p:cBhvr>
                                      <p:to>
                                        <p:strVal val="visible"/>
                                      </p:to>
                                    </p:set>
                                    <p:animEffect transition="in" filter="wipe(left)">
                                      <p:cBhvr>
                                        <p:cTn id="24" dur="500"/>
                                        <p:tgtEl>
                                          <p:spTgt spid="67">
                                            <p:txEl>
                                              <p:pRg st="1" end="1"/>
                                            </p:txEl>
                                          </p:spTgt>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7">
                                            <p:txEl>
                                              <p:pRg st="2" end="2"/>
                                            </p:txEl>
                                          </p:spTgt>
                                        </p:tgtEl>
                                        <p:attrNameLst>
                                          <p:attrName>style.visibility</p:attrName>
                                        </p:attrNameLst>
                                      </p:cBhvr>
                                      <p:to>
                                        <p:strVal val="visible"/>
                                      </p:to>
                                    </p:set>
                                    <p:animEffect transition="in" filter="wipe(left)">
                                      <p:cBhvr>
                                        <p:cTn id="33" dur="500"/>
                                        <p:tgtEl>
                                          <p:spTgt spid="67">
                                            <p:txEl>
                                              <p:pRg st="2" end="2"/>
                                            </p:txEl>
                                          </p:spTgt>
                                        </p:tgtEl>
                                      </p:cBhvr>
                                    </p:animEffect>
                                  </p:childTnLst>
                                </p:cTn>
                              </p:par>
                            </p:childTnLst>
                          </p:cTn>
                        </p:par>
                        <p:par>
                          <p:cTn id="34" fill="hold">
                            <p:stCondLst>
                              <p:cond delay="500"/>
                            </p:stCondLst>
                            <p:childTnLst>
                              <p:par>
                                <p:cTn id="35" presetID="22" presetClass="entr" presetSubtype="4" fill="hold" grpId="0" nodeType="after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down)">
                                      <p:cBhvr>
                                        <p:cTn id="37" dur="500"/>
                                        <p:tgtEl>
                                          <p:spTgt spid="49"/>
                                        </p:tgtEl>
                                      </p:cBhvr>
                                    </p:animEffect>
                                  </p:childTnLst>
                                </p:cTn>
                              </p:par>
                            </p:childTnLst>
                          </p:cTn>
                        </p:par>
                        <p:par>
                          <p:cTn id="38" fill="hold">
                            <p:stCondLst>
                              <p:cond delay="1000"/>
                            </p:stCondLst>
                            <p:childTnLst>
                              <p:par>
                                <p:cTn id="39" presetID="22" presetClass="entr" presetSubtype="4"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500"/>
                                        <p:tgtEl>
                                          <p:spTgt spid="6"/>
                                        </p:tgtEl>
                                      </p:cBhvr>
                                    </p:animEffect>
                                  </p:childTnLst>
                                </p:cTn>
                              </p:par>
                            </p:childTnLst>
                          </p:cTn>
                        </p:par>
                        <p:par>
                          <p:cTn id="42" fill="hold">
                            <p:stCondLst>
                              <p:cond delay="1500"/>
                            </p:stCondLst>
                            <p:childTnLst>
                              <p:par>
                                <p:cTn id="43" presetID="22" presetClass="entr" presetSubtype="4" fill="hold"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down)">
                                      <p:cBhvr>
                                        <p:cTn id="45" dur="500"/>
                                        <p:tgtEl>
                                          <p:spTgt spid="5"/>
                                        </p:tgtEl>
                                      </p:cBhvr>
                                    </p:animEffect>
                                  </p:childTnLst>
                                </p:cTn>
                              </p:par>
                              <p:par>
                                <p:cTn id="46" presetID="22" presetClass="entr" presetSubtype="4"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down)">
                                      <p:cBhvr>
                                        <p:cTn id="48" dur="500"/>
                                        <p:tgtEl>
                                          <p:spTgt spid="7"/>
                                        </p:tgtEl>
                                      </p:cBhvr>
                                    </p:animEffect>
                                  </p:childTnLst>
                                </p:cTn>
                              </p:par>
                            </p:childTnLst>
                          </p:cTn>
                        </p:par>
                        <p:par>
                          <p:cTn id="49" fill="hold">
                            <p:stCondLst>
                              <p:cond delay="2000"/>
                            </p:stCondLst>
                            <p:childTnLst>
                              <p:par>
                                <p:cTn id="50" presetID="22" presetClass="entr" presetSubtype="4"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down)">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67"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bwMode="auto">
          <a:xfrm>
            <a:off x="987209" y="3059200"/>
            <a:ext cx="972541" cy="1865799"/>
          </a:xfrm>
          <a:custGeom>
            <a:avLst/>
            <a:gdLst>
              <a:gd name="connsiteX0" fmla="*/ 248421 w 972541"/>
              <a:gd name="connsiteY0" fmla="*/ 0 h 1865799"/>
              <a:gd name="connsiteX1" fmla="*/ 0 w 972541"/>
              <a:gd name="connsiteY1" fmla="*/ 0 h 1865799"/>
              <a:gd name="connsiteX2" fmla="*/ 0 w 972541"/>
              <a:gd name="connsiteY2" fmla="*/ 1865799 h 1865799"/>
              <a:gd name="connsiteX3" fmla="*/ 972541 w 972541"/>
              <a:gd name="connsiteY3" fmla="*/ 1865799 h 1865799"/>
              <a:gd name="connsiteX4" fmla="*/ 507413 w 972541"/>
              <a:gd name="connsiteY4" fmla="*/ 650123 h 1865799"/>
              <a:gd name="connsiteX5" fmla="*/ 248421 w 972541"/>
              <a:gd name="connsiteY5" fmla="*/ 0 h 1865799"/>
              <a:gd name="connsiteX0" fmla="*/ 248421 w 972541"/>
              <a:gd name="connsiteY0" fmla="*/ 0 h 1865799"/>
              <a:gd name="connsiteX1" fmla="*/ 0 w 972541"/>
              <a:gd name="connsiteY1" fmla="*/ 0 h 1865799"/>
              <a:gd name="connsiteX2" fmla="*/ 0 w 972541"/>
              <a:gd name="connsiteY2" fmla="*/ 1865799 h 1865799"/>
              <a:gd name="connsiteX3" fmla="*/ 972541 w 972541"/>
              <a:gd name="connsiteY3" fmla="*/ 1865799 h 1865799"/>
              <a:gd name="connsiteX4" fmla="*/ 369988 w 972541"/>
              <a:gd name="connsiteY4" fmla="*/ 607839 h 1865799"/>
              <a:gd name="connsiteX5" fmla="*/ 248421 w 972541"/>
              <a:gd name="connsiteY5" fmla="*/ 0 h 186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2541" h="1865799">
                <a:moveTo>
                  <a:pt x="248421" y="0"/>
                </a:moveTo>
                <a:lnTo>
                  <a:pt x="0" y="0"/>
                </a:lnTo>
                <a:lnTo>
                  <a:pt x="0" y="1865799"/>
                </a:lnTo>
                <a:lnTo>
                  <a:pt x="972541" y="1865799"/>
                </a:lnTo>
                <a:lnTo>
                  <a:pt x="369988" y="607839"/>
                </a:lnTo>
                <a:lnTo>
                  <a:pt x="248421" y="0"/>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0" name="Rectangle 61"/>
          <p:cNvSpPr>
            <a:spLocks noChangeArrowheads="1"/>
          </p:cNvSpPr>
          <p:nvPr/>
        </p:nvSpPr>
        <p:spPr bwMode="auto">
          <a:xfrm>
            <a:off x="945615" y="3201261"/>
            <a:ext cx="44600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ea typeface="仿宋_GB2312" pitchFamily="49" charset="-122"/>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87</a:t>
            </a:fld>
            <a:endParaRPr lang="zh-CN" altLang="en-US" dirty="0">
              <a:solidFill>
                <a:srgbClr val="C00000"/>
              </a:solidFill>
            </a:endParaRPr>
          </a:p>
        </p:txBody>
      </p:sp>
      <p:sp>
        <p:nvSpPr>
          <p:cNvPr id="53" name="Text Box 7"/>
          <p:cNvSpPr txBox="1">
            <a:spLocks noChangeArrowheads="1"/>
          </p:cNvSpPr>
          <p:nvPr/>
        </p:nvSpPr>
        <p:spPr bwMode="auto">
          <a:xfrm>
            <a:off x="0" y="0"/>
            <a:ext cx="637694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墙</a:t>
            </a:r>
            <a:r>
              <a:rPr lang="zh-CN" altLang="en-US" sz="1800" b="1" kern="900" spc="130" dirty="0">
                <a:solidFill>
                  <a:srgbClr val="000066"/>
                </a:solidFill>
                <a:ea typeface="黑体" panose="02010609060101010101" pitchFamily="49" charset="-122"/>
                <a:cs typeface="Times New Roman" panose="02020603050405020304" pitchFamily="18" charset="0"/>
              </a:rPr>
              <a:t>背形状有变化</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5</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墙</a:t>
            </a:r>
            <a:r>
              <a:rPr kumimoji="1" lang="zh-CN" altLang="en-US" sz="4000" b="1" dirty="0">
                <a:solidFill>
                  <a:srgbClr val="000066"/>
                </a:solidFill>
                <a:ea typeface="黑体" pitchFamily="2" charset="-122"/>
                <a:cs typeface="Times New Roman" panose="02020603050405020304" pitchFamily="18" charset="0"/>
              </a:rPr>
              <a:t>背形状有变化</a:t>
            </a:r>
          </a:p>
        </p:txBody>
      </p:sp>
      <p:sp>
        <p:nvSpPr>
          <p:cNvPr id="296" name="Rectangle 3"/>
          <p:cNvSpPr txBox="1">
            <a:spLocks noChangeArrowheads="1"/>
          </p:cNvSpPr>
          <p:nvPr/>
        </p:nvSpPr>
        <p:spPr bwMode="auto">
          <a:xfrm>
            <a:off x="413481" y="570398"/>
            <a:ext cx="3411096"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墙</a:t>
            </a:r>
            <a:r>
              <a:rPr lang="zh-CN" altLang="en-US" sz="2800" b="1" kern="0" dirty="0">
                <a:solidFill>
                  <a:srgbClr val="A50021"/>
                </a:solidFill>
                <a:latin typeface="微软雅黑" panose="020B0503020204020204" pitchFamily="34" charset="-122"/>
                <a:ea typeface="微软雅黑" panose="020B0503020204020204" pitchFamily="34" charset="-122"/>
              </a:rPr>
              <a:t>背形状有变化</a:t>
            </a:r>
          </a:p>
        </p:txBody>
      </p:sp>
      <p:sp>
        <p:nvSpPr>
          <p:cNvPr id="112" name="Text Box 47"/>
          <p:cNvSpPr txBox="1">
            <a:spLocks noChangeArrowheads="1"/>
          </p:cNvSpPr>
          <p:nvPr/>
        </p:nvSpPr>
        <p:spPr bwMode="auto">
          <a:xfrm>
            <a:off x="1581665" y="278536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FF"/>
                </a:solidFill>
                <a:latin typeface="Times New Roman" panose="02020603050405020304" pitchFamily="18" charset="0"/>
              </a:rPr>
              <a:t>E</a:t>
            </a:r>
            <a:r>
              <a:rPr kumimoji="1" lang="en-US" altLang="zh-CN" sz="2400" b="1" baseline="-25000" dirty="0">
                <a:solidFill>
                  <a:srgbClr val="0000FF"/>
                </a:solidFill>
                <a:latin typeface="Times New Roman" panose="02020603050405020304" pitchFamily="18" charset="0"/>
              </a:rPr>
              <a:t>a1</a:t>
            </a:r>
            <a:endParaRPr kumimoji="1" lang="en-US" altLang="zh-CN" sz="2400" b="1" dirty="0">
              <a:solidFill>
                <a:srgbClr val="0000FF"/>
              </a:solidFill>
              <a:latin typeface="Times New Roman" panose="02020603050405020304" pitchFamily="18" charset="0"/>
            </a:endParaRPr>
          </a:p>
        </p:txBody>
      </p:sp>
      <p:sp>
        <p:nvSpPr>
          <p:cNvPr id="119" name="Line 57"/>
          <p:cNvSpPr>
            <a:spLocks noChangeShapeType="1"/>
          </p:cNvSpPr>
          <p:nvPr/>
        </p:nvSpPr>
        <p:spPr bwMode="auto">
          <a:xfrm flipV="1">
            <a:off x="1312474" y="3237269"/>
            <a:ext cx="408155" cy="204078"/>
          </a:xfrm>
          <a:prstGeom prst="line">
            <a:avLst/>
          </a:prstGeom>
          <a:noFill/>
          <a:ln w="38100">
            <a:solidFill>
              <a:srgbClr val="0000FF"/>
            </a:solidFill>
            <a:round/>
            <a:headEnd type="triangle" w="med" len="me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29" name="Text Box 70"/>
          <p:cNvSpPr txBox="1">
            <a:spLocks noChangeArrowheads="1"/>
          </p:cNvSpPr>
          <p:nvPr/>
        </p:nvSpPr>
        <p:spPr bwMode="auto">
          <a:xfrm>
            <a:off x="2277013" y="347947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993300"/>
                </a:solidFill>
                <a:latin typeface="Times New Roman" panose="02020603050405020304" pitchFamily="18" charset="0"/>
              </a:rPr>
              <a:t>E</a:t>
            </a:r>
            <a:r>
              <a:rPr kumimoji="1" lang="en-US" altLang="zh-CN" sz="2400" b="1" baseline="-25000" dirty="0">
                <a:solidFill>
                  <a:srgbClr val="993300"/>
                </a:solidFill>
                <a:latin typeface="Times New Roman" panose="02020603050405020304" pitchFamily="18" charset="0"/>
              </a:rPr>
              <a:t>a2</a:t>
            </a:r>
            <a:endParaRPr kumimoji="1" lang="en-US" altLang="zh-CN" sz="2400" b="1" dirty="0">
              <a:solidFill>
                <a:srgbClr val="993300"/>
              </a:solidFill>
              <a:latin typeface="Times New Roman" panose="02020603050405020304" pitchFamily="18" charset="0"/>
            </a:endParaRPr>
          </a:p>
        </p:txBody>
      </p:sp>
      <p:sp>
        <p:nvSpPr>
          <p:cNvPr id="133" name="Text Box 76"/>
          <p:cNvSpPr txBox="1">
            <a:spLocks noChangeArrowheads="1"/>
          </p:cNvSpPr>
          <p:nvPr/>
        </p:nvSpPr>
        <p:spPr bwMode="auto">
          <a:xfrm>
            <a:off x="5256976" y="3752418"/>
            <a:ext cx="381000" cy="579438"/>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3200" dirty="0">
                <a:solidFill>
                  <a:schemeClr val="accent1"/>
                </a:solidFill>
                <a:latin typeface="黑体" panose="02010609060101010101" pitchFamily="49" charset="-122"/>
                <a:ea typeface="黑体" panose="02010609060101010101" pitchFamily="49" charset="-122"/>
              </a:rPr>
              <a:t>+</a:t>
            </a:r>
          </a:p>
        </p:txBody>
      </p:sp>
      <p:sp>
        <p:nvSpPr>
          <p:cNvPr id="137" name="Line 48"/>
          <p:cNvSpPr>
            <a:spLocks noChangeShapeType="1"/>
          </p:cNvSpPr>
          <p:nvPr/>
        </p:nvSpPr>
        <p:spPr bwMode="auto">
          <a:xfrm flipV="1">
            <a:off x="1243810" y="2704383"/>
            <a:ext cx="1917686" cy="3561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39" name="Text Box 51"/>
          <p:cNvSpPr txBox="1">
            <a:spLocks noChangeArrowheads="1"/>
          </p:cNvSpPr>
          <p:nvPr/>
        </p:nvSpPr>
        <p:spPr bwMode="auto">
          <a:xfrm>
            <a:off x="1143329" y="2693732"/>
            <a:ext cx="3698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A</a:t>
            </a:r>
          </a:p>
        </p:txBody>
      </p:sp>
      <p:sp>
        <p:nvSpPr>
          <p:cNvPr id="142" name="Line 64"/>
          <p:cNvSpPr>
            <a:spLocks noChangeShapeType="1"/>
          </p:cNvSpPr>
          <p:nvPr/>
        </p:nvSpPr>
        <p:spPr bwMode="auto">
          <a:xfrm>
            <a:off x="1275566" y="3065779"/>
            <a:ext cx="5884776" cy="0"/>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74" name="Text Box 51"/>
          <p:cNvSpPr txBox="1">
            <a:spLocks noChangeArrowheads="1"/>
          </p:cNvSpPr>
          <p:nvPr/>
        </p:nvSpPr>
        <p:spPr bwMode="auto">
          <a:xfrm>
            <a:off x="1063922" y="3526488"/>
            <a:ext cx="355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B</a:t>
            </a:r>
          </a:p>
        </p:txBody>
      </p:sp>
      <p:sp>
        <p:nvSpPr>
          <p:cNvPr id="175" name="Text Box 51"/>
          <p:cNvSpPr txBox="1">
            <a:spLocks noChangeArrowheads="1"/>
          </p:cNvSpPr>
          <p:nvPr/>
        </p:nvSpPr>
        <p:spPr bwMode="auto">
          <a:xfrm>
            <a:off x="1802342" y="4902153"/>
            <a:ext cx="369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C</a:t>
            </a:r>
          </a:p>
        </p:txBody>
      </p:sp>
      <p:sp>
        <p:nvSpPr>
          <p:cNvPr id="176" name="Text Box 51"/>
          <p:cNvSpPr txBox="1">
            <a:spLocks noChangeArrowheads="1"/>
          </p:cNvSpPr>
          <p:nvPr/>
        </p:nvSpPr>
        <p:spPr bwMode="auto">
          <a:xfrm>
            <a:off x="905204" y="2708019"/>
            <a:ext cx="369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smtClean="0">
                <a:solidFill>
                  <a:srgbClr val="000066"/>
                </a:solidFill>
                <a:latin typeface="Times New Roman" panose="02020603050405020304" pitchFamily="18" charset="0"/>
                <a:ea typeface="楷体_GB2312" pitchFamily="49" charset="-122"/>
              </a:rPr>
              <a:t>D</a:t>
            </a:r>
            <a:endParaRPr kumimoji="1" lang="en-US" altLang="zh-CN" sz="2000" b="1" dirty="0">
              <a:solidFill>
                <a:srgbClr val="000066"/>
              </a:solidFill>
              <a:latin typeface="Times New Roman" panose="02020603050405020304" pitchFamily="18" charset="0"/>
              <a:ea typeface="楷体_GB2312" pitchFamily="49" charset="-122"/>
            </a:endParaRPr>
          </a:p>
        </p:txBody>
      </p:sp>
      <p:sp>
        <p:nvSpPr>
          <p:cNvPr id="161" name="任意多边形 160"/>
          <p:cNvSpPr/>
          <p:nvPr/>
        </p:nvSpPr>
        <p:spPr bwMode="auto">
          <a:xfrm rot="18139897">
            <a:off x="1240558" y="3374033"/>
            <a:ext cx="60443" cy="6601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2" name="任意多边形 161"/>
          <p:cNvSpPr/>
          <p:nvPr/>
        </p:nvSpPr>
        <p:spPr bwMode="auto">
          <a:xfrm rot="18139897">
            <a:off x="1389321" y="3914460"/>
            <a:ext cx="80955" cy="11515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3" name="Rectangle 61"/>
          <p:cNvSpPr>
            <a:spLocks noChangeArrowheads="1"/>
          </p:cNvSpPr>
          <p:nvPr/>
        </p:nvSpPr>
        <p:spPr bwMode="auto">
          <a:xfrm>
            <a:off x="1224741" y="3950013"/>
            <a:ext cx="44600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ea typeface="仿宋_GB2312" pitchFamily="49" charset="-122"/>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sp>
        <p:nvSpPr>
          <p:cNvPr id="164" name="Line 69"/>
          <p:cNvSpPr>
            <a:spLocks noChangeShapeType="1"/>
          </p:cNvSpPr>
          <p:nvPr/>
        </p:nvSpPr>
        <p:spPr bwMode="auto">
          <a:xfrm flipV="1">
            <a:off x="1689615" y="3804428"/>
            <a:ext cx="576329" cy="596781"/>
          </a:xfrm>
          <a:prstGeom prst="line">
            <a:avLst/>
          </a:prstGeom>
          <a:noFill/>
          <a:ln w="38100">
            <a:solidFill>
              <a:srgbClr val="993300"/>
            </a:solidFill>
            <a:round/>
            <a:headEnd type="triangle" w="med" len="me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cxnSp>
        <p:nvCxnSpPr>
          <p:cNvPr id="7" name="直接连接符 6"/>
          <p:cNvCxnSpPr/>
          <p:nvPr/>
        </p:nvCxnSpPr>
        <p:spPr bwMode="auto">
          <a:xfrm>
            <a:off x="1229060" y="3059834"/>
            <a:ext cx="0" cy="4067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直接连接符 165"/>
          <p:cNvCxnSpPr/>
          <p:nvPr/>
        </p:nvCxnSpPr>
        <p:spPr bwMode="auto">
          <a:xfrm>
            <a:off x="1358384" y="3688183"/>
            <a:ext cx="0" cy="4067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166"/>
          <p:cNvCxnSpPr/>
          <p:nvPr/>
        </p:nvCxnSpPr>
        <p:spPr bwMode="auto">
          <a:xfrm flipH="1">
            <a:off x="1709911" y="4395857"/>
            <a:ext cx="54181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任意多边形 167"/>
          <p:cNvSpPr/>
          <p:nvPr/>
        </p:nvSpPr>
        <p:spPr bwMode="auto">
          <a:xfrm rot="13437820">
            <a:off x="1852146" y="4222388"/>
            <a:ext cx="157812" cy="134509"/>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 name="connsiteX0" fmla="*/ 879 w 64761"/>
              <a:gd name="connsiteY0" fmla="*/ 0 h 100013"/>
              <a:gd name="connsiteX1" fmla="*/ 19175 w 64761"/>
              <a:gd name="connsiteY1" fmla="*/ 75292 h 100013"/>
              <a:gd name="connsiteX2" fmla="*/ 64761 w 6476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472"/>
              <a:gd name="connsiteX1" fmla="*/ 22286 w 64611"/>
              <a:gd name="connsiteY1" fmla="*/ 81466 h 100472"/>
              <a:gd name="connsiteX2" fmla="*/ 64611 w 64611"/>
              <a:gd name="connsiteY2" fmla="*/ 100013 h 100472"/>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373 w 64255"/>
              <a:gd name="connsiteY0" fmla="*/ 0 h 100013"/>
              <a:gd name="connsiteX1" fmla="*/ 21930 w 64255"/>
              <a:gd name="connsiteY1" fmla="*/ 81466 h 100013"/>
              <a:gd name="connsiteX2" fmla="*/ 64255 w 64255"/>
              <a:gd name="connsiteY2" fmla="*/ 100013 h 100013"/>
            </a:gdLst>
            <a:ahLst/>
            <a:cxnLst>
              <a:cxn ang="0">
                <a:pos x="connsiteX0" y="connsiteY0"/>
              </a:cxn>
              <a:cxn ang="0">
                <a:pos x="connsiteX1" y="connsiteY1"/>
              </a:cxn>
              <a:cxn ang="0">
                <a:pos x="connsiteX2" y="connsiteY2"/>
              </a:cxn>
            </a:cxnLst>
            <a:rect l="l" t="t" r="r" b="b"/>
            <a:pathLst>
              <a:path w="64255" h="100013">
                <a:moveTo>
                  <a:pt x="373" y="0"/>
                </a:moveTo>
                <a:cubicBezTo>
                  <a:pt x="-2442" y="28190"/>
                  <a:pt x="11283" y="64797"/>
                  <a:pt x="21930" y="81466"/>
                </a:cubicBezTo>
                <a:cubicBezTo>
                  <a:pt x="32577" y="98135"/>
                  <a:pt x="38544" y="98276"/>
                  <a:pt x="64255"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69" name="Rectangle 61"/>
          <p:cNvSpPr>
            <a:spLocks noChangeArrowheads="1"/>
          </p:cNvSpPr>
          <p:nvPr/>
        </p:nvSpPr>
        <p:spPr bwMode="auto">
          <a:xfrm>
            <a:off x="1951797" y="4008362"/>
            <a:ext cx="74035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a:rPr>
              <a:t></a:t>
            </a:r>
            <a:r>
              <a:rPr kumimoji="1" lang="en-US" altLang="zh-CN" sz="2000" b="1" dirty="0" smtClean="0">
                <a:solidFill>
                  <a:srgbClr val="000066"/>
                </a:solidFill>
                <a:latin typeface="Times New Roman" panose="02020603050405020304" pitchFamily="18" charset="0"/>
                <a:ea typeface="仿宋_GB2312" pitchFamily="49" charset="-122"/>
                <a:sym typeface="Symbol"/>
              </a:rPr>
              <a:t>+</a:t>
            </a:r>
            <a:r>
              <a:rPr kumimoji="1" lang="en-US" altLang="zh-CN" sz="2000" b="1" i="1" dirty="0"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ea typeface="仿宋_GB2312" pitchFamily="49" charset="-122"/>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cxnSp>
        <p:nvCxnSpPr>
          <p:cNvPr id="170" name="直接连接符 169"/>
          <p:cNvCxnSpPr/>
          <p:nvPr/>
        </p:nvCxnSpPr>
        <p:spPr bwMode="auto">
          <a:xfrm flipH="1">
            <a:off x="1322324" y="3446048"/>
            <a:ext cx="541814"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任意多边形 170"/>
          <p:cNvSpPr/>
          <p:nvPr/>
        </p:nvSpPr>
        <p:spPr bwMode="auto">
          <a:xfrm rot="12531239">
            <a:off x="1626176" y="3322026"/>
            <a:ext cx="91992" cy="105264"/>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 name="connsiteX0" fmla="*/ 879 w 64761"/>
              <a:gd name="connsiteY0" fmla="*/ 0 h 100013"/>
              <a:gd name="connsiteX1" fmla="*/ 19175 w 64761"/>
              <a:gd name="connsiteY1" fmla="*/ 75292 h 100013"/>
              <a:gd name="connsiteX2" fmla="*/ 64761 w 6476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472"/>
              <a:gd name="connsiteX1" fmla="*/ 22286 w 64611"/>
              <a:gd name="connsiteY1" fmla="*/ 81466 h 100472"/>
              <a:gd name="connsiteX2" fmla="*/ 64611 w 64611"/>
              <a:gd name="connsiteY2" fmla="*/ 100013 h 100472"/>
              <a:gd name="connsiteX0" fmla="*/ 729 w 64611"/>
              <a:gd name="connsiteY0" fmla="*/ 0 h 100013"/>
              <a:gd name="connsiteX1" fmla="*/ 22286 w 64611"/>
              <a:gd name="connsiteY1" fmla="*/ 81466 h 100013"/>
              <a:gd name="connsiteX2" fmla="*/ 64611 w 64611"/>
              <a:gd name="connsiteY2" fmla="*/ 100013 h 100013"/>
              <a:gd name="connsiteX0" fmla="*/ 729 w 64611"/>
              <a:gd name="connsiteY0" fmla="*/ 0 h 100013"/>
              <a:gd name="connsiteX1" fmla="*/ 22286 w 64611"/>
              <a:gd name="connsiteY1" fmla="*/ 81466 h 100013"/>
              <a:gd name="connsiteX2" fmla="*/ 64611 w 64611"/>
              <a:gd name="connsiteY2" fmla="*/ 100013 h 100013"/>
              <a:gd name="connsiteX0" fmla="*/ 373 w 64255"/>
              <a:gd name="connsiteY0" fmla="*/ 0 h 100013"/>
              <a:gd name="connsiteX1" fmla="*/ 21930 w 64255"/>
              <a:gd name="connsiteY1" fmla="*/ 81466 h 100013"/>
              <a:gd name="connsiteX2" fmla="*/ 64255 w 64255"/>
              <a:gd name="connsiteY2" fmla="*/ 100013 h 100013"/>
            </a:gdLst>
            <a:ahLst/>
            <a:cxnLst>
              <a:cxn ang="0">
                <a:pos x="connsiteX0" y="connsiteY0"/>
              </a:cxn>
              <a:cxn ang="0">
                <a:pos x="connsiteX1" y="connsiteY1"/>
              </a:cxn>
              <a:cxn ang="0">
                <a:pos x="connsiteX2" y="connsiteY2"/>
              </a:cxn>
            </a:cxnLst>
            <a:rect l="l" t="t" r="r" b="b"/>
            <a:pathLst>
              <a:path w="64255" h="100013">
                <a:moveTo>
                  <a:pt x="373" y="0"/>
                </a:moveTo>
                <a:cubicBezTo>
                  <a:pt x="-2442" y="28190"/>
                  <a:pt x="11283" y="64797"/>
                  <a:pt x="21930" y="81466"/>
                </a:cubicBezTo>
                <a:cubicBezTo>
                  <a:pt x="32577" y="98135"/>
                  <a:pt x="38544" y="98276"/>
                  <a:pt x="64255"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2" name="Rectangle 61"/>
          <p:cNvSpPr>
            <a:spLocks noChangeArrowheads="1"/>
          </p:cNvSpPr>
          <p:nvPr/>
        </p:nvSpPr>
        <p:spPr bwMode="auto">
          <a:xfrm>
            <a:off x="1755161" y="3122048"/>
            <a:ext cx="740358"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a:rPr>
              <a:t></a:t>
            </a:r>
            <a:r>
              <a:rPr kumimoji="1" lang="en-US" altLang="zh-CN" sz="2000" b="1" smtClean="0">
                <a:solidFill>
                  <a:srgbClr val="000066"/>
                </a:solidFill>
                <a:latin typeface="Times New Roman" panose="02020603050405020304" pitchFamily="18" charset="0"/>
                <a:ea typeface="仿宋_GB2312" pitchFamily="49" charset="-122"/>
                <a:sym typeface="Symbol"/>
              </a:rPr>
              <a:t>+</a:t>
            </a:r>
            <a:r>
              <a:rPr kumimoji="1" lang="en-US" altLang="zh-CN" sz="2000" b="1" i="1"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smtClean="0">
                <a:solidFill>
                  <a:srgbClr val="000066"/>
                </a:solidFill>
                <a:latin typeface="Times New Roman" panose="02020603050405020304" pitchFamily="18" charset="0"/>
                <a:ea typeface="仿宋_GB2312" pitchFamily="49" charset="-122"/>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cxnSp>
        <p:nvCxnSpPr>
          <p:cNvPr id="10" name="直接连接符 9"/>
          <p:cNvCxnSpPr>
            <a:stCxn id="3" idx="4"/>
          </p:cNvCxnSpPr>
          <p:nvPr/>
        </p:nvCxnSpPr>
        <p:spPr bwMode="auto">
          <a:xfrm flipH="1" flipV="1">
            <a:off x="1081470" y="3069207"/>
            <a:ext cx="275727" cy="597832"/>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任意多边形 13"/>
          <p:cNvSpPr/>
          <p:nvPr/>
        </p:nvSpPr>
        <p:spPr bwMode="auto">
          <a:xfrm>
            <a:off x="4320611" y="3074373"/>
            <a:ext cx="391131" cy="590400"/>
          </a:xfrm>
          <a:custGeom>
            <a:avLst/>
            <a:gdLst>
              <a:gd name="connsiteX0" fmla="*/ 0 w 391131"/>
              <a:gd name="connsiteY0" fmla="*/ 0 h 586696"/>
              <a:gd name="connsiteX1" fmla="*/ 0 w 391131"/>
              <a:gd name="connsiteY1" fmla="*/ 586696 h 586696"/>
              <a:gd name="connsiteX2" fmla="*/ 391131 w 391131"/>
              <a:gd name="connsiteY2" fmla="*/ 586696 h 586696"/>
              <a:gd name="connsiteX3" fmla="*/ 0 w 391131"/>
              <a:gd name="connsiteY3" fmla="*/ 0 h 586696"/>
            </a:gdLst>
            <a:ahLst/>
            <a:cxnLst>
              <a:cxn ang="0">
                <a:pos x="connsiteX0" y="connsiteY0"/>
              </a:cxn>
              <a:cxn ang="0">
                <a:pos x="connsiteX1" y="connsiteY1"/>
              </a:cxn>
              <a:cxn ang="0">
                <a:pos x="connsiteX2" y="connsiteY2"/>
              </a:cxn>
              <a:cxn ang="0">
                <a:pos x="connsiteX3" y="connsiteY3"/>
              </a:cxn>
            </a:cxnLst>
            <a:rect l="l" t="t" r="r" b="b"/>
            <a:pathLst>
              <a:path w="391131" h="586696">
                <a:moveTo>
                  <a:pt x="0" y="0"/>
                </a:moveTo>
                <a:lnTo>
                  <a:pt x="0" y="586696"/>
                </a:lnTo>
                <a:lnTo>
                  <a:pt x="391131" y="586696"/>
                </a:lnTo>
                <a:lnTo>
                  <a:pt x="0" y="0"/>
                </a:lnTo>
                <a:close/>
              </a:path>
            </a:pathLst>
          </a:custGeom>
          <a:pattFill prst="ltHorz">
            <a:fgClr>
              <a:schemeClr val="accent1">
                <a:lumMod val="90000"/>
              </a:schemeClr>
            </a:fgClr>
            <a:bgClr>
              <a:srgbClr val="6699FF"/>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8" name="Text Box 47"/>
          <p:cNvSpPr txBox="1">
            <a:spLocks noChangeArrowheads="1"/>
          </p:cNvSpPr>
          <p:nvPr/>
        </p:nvSpPr>
        <p:spPr bwMode="auto">
          <a:xfrm>
            <a:off x="4717536" y="3017297"/>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FF"/>
                </a:solidFill>
                <a:latin typeface="Times New Roman" panose="02020603050405020304" pitchFamily="18" charset="0"/>
              </a:rPr>
              <a:t>E</a:t>
            </a:r>
            <a:r>
              <a:rPr kumimoji="1" lang="en-US" altLang="zh-CN" sz="2400" b="1" baseline="-25000" dirty="0">
                <a:solidFill>
                  <a:srgbClr val="0000FF"/>
                </a:solidFill>
                <a:latin typeface="Times New Roman" panose="02020603050405020304" pitchFamily="18" charset="0"/>
              </a:rPr>
              <a:t>a1</a:t>
            </a:r>
            <a:endParaRPr kumimoji="1" lang="en-US" altLang="zh-CN" sz="2400" b="1" dirty="0">
              <a:solidFill>
                <a:srgbClr val="0000FF"/>
              </a:solidFill>
              <a:latin typeface="Times New Roman" panose="02020603050405020304" pitchFamily="18" charset="0"/>
            </a:endParaRPr>
          </a:p>
        </p:txBody>
      </p:sp>
      <p:sp>
        <p:nvSpPr>
          <p:cNvPr id="181" name="Line 80"/>
          <p:cNvSpPr>
            <a:spLocks noChangeShapeType="1"/>
          </p:cNvSpPr>
          <p:nvPr/>
        </p:nvSpPr>
        <p:spPr bwMode="auto">
          <a:xfrm>
            <a:off x="1949910" y="4922901"/>
            <a:ext cx="109300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任意多边形 18"/>
          <p:cNvSpPr/>
          <p:nvPr/>
        </p:nvSpPr>
        <p:spPr bwMode="auto">
          <a:xfrm>
            <a:off x="7368134" y="3673390"/>
            <a:ext cx="1056707" cy="1250487"/>
          </a:xfrm>
          <a:custGeom>
            <a:avLst/>
            <a:gdLst>
              <a:gd name="connsiteX0" fmla="*/ 351226 w 1056707"/>
              <a:gd name="connsiteY0" fmla="*/ 0 h 1250487"/>
              <a:gd name="connsiteX1" fmla="*/ 0 w 1056707"/>
              <a:gd name="connsiteY1" fmla="*/ 0 h 1250487"/>
              <a:gd name="connsiteX2" fmla="*/ 0 w 1056707"/>
              <a:gd name="connsiteY2" fmla="*/ 1250487 h 1250487"/>
              <a:gd name="connsiteX3" fmla="*/ 1056707 w 1056707"/>
              <a:gd name="connsiteY3" fmla="*/ 1250487 h 1250487"/>
              <a:gd name="connsiteX4" fmla="*/ 351226 w 1056707"/>
              <a:gd name="connsiteY4" fmla="*/ 0 h 125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07" h="1250487">
                <a:moveTo>
                  <a:pt x="351226" y="0"/>
                </a:moveTo>
                <a:lnTo>
                  <a:pt x="0" y="0"/>
                </a:lnTo>
                <a:lnTo>
                  <a:pt x="0" y="1250487"/>
                </a:lnTo>
                <a:lnTo>
                  <a:pt x="1056707" y="1250487"/>
                </a:lnTo>
                <a:lnTo>
                  <a:pt x="351226" y="0"/>
                </a:lnTo>
                <a:close/>
              </a:path>
            </a:pathLst>
          </a:custGeom>
          <a:pattFill prst="ltHorz">
            <a:fgClr>
              <a:srgbClr val="FF9999"/>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0" name="任意多边形 19"/>
          <p:cNvSpPr/>
          <p:nvPr/>
        </p:nvSpPr>
        <p:spPr bwMode="auto">
          <a:xfrm>
            <a:off x="7368133" y="3064799"/>
            <a:ext cx="348198" cy="614646"/>
          </a:xfrm>
          <a:custGeom>
            <a:avLst/>
            <a:gdLst>
              <a:gd name="connsiteX0" fmla="*/ 0 w 348198"/>
              <a:gd name="connsiteY0" fmla="*/ 614646 h 614646"/>
              <a:gd name="connsiteX1" fmla="*/ 0 w 348198"/>
              <a:gd name="connsiteY1" fmla="*/ 0 h 614646"/>
              <a:gd name="connsiteX2" fmla="*/ 348198 w 348198"/>
              <a:gd name="connsiteY2" fmla="*/ 608590 h 614646"/>
            </a:gdLst>
            <a:ahLst/>
            <a:cxnLst>
              <a:cxn ang="0">
                <a:pos x="connsiteX0" y="connsiteY0"/>
              </a:cxn>
              <a:cxn ang="0">
                <a:pos x="connsiteX1" y="connsiteY1"/>
              </a:cxn>
              <a:cxn ang="0">
                <a:pos x="connsiteX2" y="connsiteY2"/>
              </a:cxn>
            </a:cxnLst>
            <a:rect l="l" t="t" r="r" b="b"/>
            <a:pathLst>
              <a:path w="348198" h="614646">
                <a:moveTo>
                  <a:pt x="0" y="614646"/>
                </a:moveTo>
                <a:lnTo>
                  <a:pt x="0" y="0"/>
                </a:lnTo>
                <a:lnTo>
                  <a:pt x="348198" y="608590"/>
                </a:lnTo>
              </a:path>
            </a:pathLst>
          </a:cu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82" name="Text Box 70"/>
          <p:cNvSpPr txBox="1">
            <a:spLocks noChangeArrowheads="1"/>
          </p:cNvSpPr>
          <p:nvPr/>
        </p:nvSpPr>
        <p:spPr bwMode="auto">
          <a:xfrm>
            <a:off x="8053139" y="367163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993300"/>
                </a:solidFill>
                <a:latin typeface="Times New Roman" panose="02020603050405020304" pitchFamily="18" charset="0"/>
              </a:rPr>
              <a:t>E</a:t>
            </a:r>
            <a:r>
              <a:rPr kumimoji="1" lang="en-US" altLang="zh-CN" sz="2400" b="1" baseline="-25000" dirty="0">
                <a:solidFill>
                  <a:srgbClr val="993300"/>
                </a:solidFill>
                <a:latin typeface="Times New Roman" panose="02020603050405020304" pitchFamily="18" charset="0"/>
              </a:rPr>
              <a:t>a2</a:t>
            </a:r>
            <a:endParaRPr kumimoji="1" lang="en-US" altLang="zh-CN" sz="2400" b="1" dirty="0">
              <a:solidFill>
                <a:srgbClr val="993300"/>
              </a:solidFill>
              <a:latin typeface="Times New Roman" panose="02020603050405020304" pitchFamily="18" charset="0"/>
            </a:endParaRPr>
          </a:p>
        </p:txBody>
      </p:sp>
      <p:sp>
        <p:nvSpPr>
          <p:cNvPr id="183" name="Line 69"/>
          <p:cNvSpPr>
            <a:spLocks noChangeShapeType="1"/>
          </p:cNvSpPr>
          <p:nvPr/>
        </p:nvSpPr>
        <p:spPr bwMode="auto">
          <a:xfrm flipV="1">
            <a:off x="7394180" y="3901171"/>
            <a:ext cx="576329" cy="596781"/>
          </a:xfrm>
          <a:prstGeom prst="line">
            <a:avLst/>
          </a:prstGeom>
          <a:noFill/>
          <a:ln w="38100">
            <a:solidFill>
              <a:srgbClr val="993300"/>
            </a:solidFill>
            <a:round/>
            <a:headEnd type="triangle" w="med" len="me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grpSp>
        <p:nvGrpSpPr>
          <p:cNvPr id="51" name="Group 12"/>
          <p:cNvGrpSpPr>
            <a:grpSpLocks/>
          </p:cNvGrpSpPr>
          <p:nvPr/>
        </p:nvGrpSpPr>
        <p:grpSpPr bwMode="auto">
          <a:xfrm rot="21017443">
            <a:off x="2454564" y="2792962"/>
            <a:ext cx="454614" cy="73451"/>
            <a:chOff x="2274" y="1204"/>
            <a:chExt cx="270" cy="44"/>
          </a:xfrm>
        </p:grpSpPr>
        <p:sp>
          <p:nvSpPr>
            <p:cNvPr id="52"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0" name="矩形 59"/>
          <p:cNvSpPr/>
          <p:nvPr/>
        </p:nvSpPr>
        <p:spPr>
          <a:xfrm>
            <a:off x="823868" y="1276460"/>
            <a:ext cx="5672797" cy="1006429"/>
          </a:xfrm>
          <a:prstGeom prst="rect">
            <a:avLst/>
          </a:prstGeom>
        </p:spPr>
        <p:txBody>
          <a:bodyPr wrap="square">
            <a:spAutoFit/>
          </a:bodyPr>
          <a:lstStyle/>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用墙背转折点为界，分成上墙与下墙</a:t>
            </a:r>
            <a:endParaRPr lang="en-US" altLang="zh-CN"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分别按库仑理论计算主动土压力，</a:t>
            </a:r>
            <a:r>
              <a:rPr lang="en-US" altLang="zh-CN" sz="2200" b="1" dirty="0" err="1"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再叠加</a:t>
            </a:r>
            <a:endPar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sp>
        <p:nvSpPr>
          <p:cNvPr id="61" name="任意多边形 60"/>
          <p:cNvSpPr/>
          <p:nvPr/>
        </p:nvSpPr>
        <p:spPr bwMode="auto">
          <a:xfrm>
            <a:off x="3691422" y="3069777"/>
            <a:ext cx="381467" cy="594640"/>
          </a:xfrm>
          <a:custGeom>
            <a:avLst/>
            <a:gdLst>
              <a:gd name="connsiteX0" fmla="*/ 381467 w 381467"/>
              <a:gd name="connsiteY0" fmla="*/ 594640 h 594640"/>
              <a:gd name="connsiteX1" fmla="*/ 241222 w 381467"/>
              <a:gd name="connsiteY1" fmla="*/ 0 h 594640"/>
              <a:gd name="connsiteX2" fmla="*/ 0 w 381467"/>
              <a:gd name="connsiteY2" fmla="*/ 0 h 594640"/>
              <a:gd name="connsiteX3" fmla="*/ 0 w 381467"/>
              <a:gd name="connsiteY3" fmla="*/ 594640 h 594640"/>
            </a:gdLst>
            <a:ahLst/>
            <a:cxnLst>
              <a:cxn ang="0">
                <a:pos x="connsiteX0" y="connsiteY0"/>
              </a:cxn>
              <a:cxn ang="0">
                <a:pos x="connsiteX1" y="connsiteY1"/>
              </a:cxn>
              <a:cxn ang="0">
                <a:pos x="connsiteX2" y="connsiteY2"/>
              </a:cxn>
              <a:cxn ang="0">
                <a:pos x="connsiteX3" y="connsiteY3"/>
              </a:cxn>
            </a:cxnLst>
            <a:rect l="l" t="t" r="r" b="b"/>
            <a:pathLst>
              <a:path w="381467" h="594640">
                <a:moveTo>
                  <a:pt x="381467" y="594640"/>
                </a:moveTo>
                <a:lnTo>
                  <a:pt x="241222" y="0"/>
                </a:lnTo>
                <a:lnTo>
                  <a:pt x="0" y="0"/>
                </a:lnTo>
                <a:lnTo>
                  <a:pt x="0" y="594640"/>
                </a:lnTo>
              </a:path>
            </a:pathLst>
          </a:custGeom>
          <a:pattFill prst="ltDn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Text Box 51"/>
          <p:cNvSpPr txBox="1">
            <a:spLocks noChangeArrowheads="1"/>
          </p:cNvSpPr>
          <p:nvPr/>
        </p:nvSpPr>
        <p:spPr bwMode="auto">
          <a:xfrm>
            <a:off x="3392069" y="3460105"/>
            <a:ext cx="355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B</a:t>
            </a:r>
          </a:p>
        </p:txBody>
      </p:sp>
      <p:sp>
        <p:nvSpPr>
          <p:cNvPr id="66" name="Text Box 51"/>
          <p:cNvSpPr txBox="1">
            <a:spLocks noChangeArrowheads="1"/>
          </p:cNvSpPr>
          <p:nvPr/>
        </p:nvSpPr>
        <p:spPr bwMode="auto">
          <a:xfrm>
            <a:off x="3420987" y="2728326"/>
            <a:ext cx="3698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A</a:t>
            </a:r>
          </a:p>
        </p:txBody>
      </p:sp>
      <p:sp>
        <p:nvSpPr>
          <p:cNvPr id="67" name="任意多边形 66"/>
          <p:cNvSpPr/>
          <p:nvPr/>
        </p:nvSpPr>
        <p:spPr bwMode="auto">
          <a:xfrm>
            <a:off x="6043020" y="3064166"/>
            <a:ext cx="976108" cy="1862459"/>
          </a:xfrm>
          <a:custGeom>
            <a:avLst/>
            <a:gdLst>
              <a:gd name="connsiteX0" fmla="*/ 976108 w 976108"/>
              <a:gd name="connsiteY0" fmla="*/ 1862459 h 1862459"/>
              <a:gd name="connsiteX1" fmla="*/ 0 w 976108"/>
              <a:gd name="connsiteY1" fmla="*/ 1862459 h 1862459"/>
              <a:gd name="connsiteX2" fmla="*/ 0 w 976108"/>
              <a:gd name="connsiteY2" fmla="*/ 0 h 1862459"/>
              <a:gd name="connsiteX3" fmla="*/ 95367 w 976108"/>
              <a:gd name="connsiteY3" fmla="*/ 0 h 1862459"/>
              <a:gd name="connsiteX4" fmla="*/ 976108 w 976108"/>
              <a:gd name="connsiteY4" fmla="*/ 1862459 h 1862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108" h="1862459">
                <a:moveTo>
                  <a:pt x="976108" y="1862459"/>
                </a:moveTo>
                <a:lnTo>
                  <a:pt x="0" y="1862459"/>
                </a:lnTo>
                <a:lnTo>
                  <a:pt x="0" y="0"/>
                </a:lnTo>
                <a:lnTo>
                  <a:pt x="95367" y="0"/>
                </a:lnTo>
                <a:lnTo>
                  <a:pt x="976108" y="1862459"/>
                </a:lnTo>
                <a:close/>
              </a:path>
            </a:pathLst>
          </a:custGeom>
          <a:pattFill prst="ltDnDiag">
            <a:fgClr>
              <a:srgbClr val="9966FF"/>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8" name="Text Box 51"/>
          <p:cNvSpPr txBox="1">
            <a:spLocks noChangeArrowheads="1"/>
          </p:cNvSpPr>
          <p:nvPr/>
        </p:nvSpPr>
        <p:spPr bwMode="auto">
          <a:xfrm>
            <a:off x="6819627" y="4884811"/>
            <a:ext cx="369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C</a:t>
            </a:r>
          </a:p>
        </p:txBody>
      </p:sp>
      <p:sp>
        <p:nvSpPr>
          <p:cNvPr id="69" name="Text Box 51"/>
          <p:cNvSpPr txBox="1">
            <a:spLocks noChangeArrowheads="1"/>
          </p:cNvSpPr>
          <p:nvPr/>
        </p:nvSpPr>
        <p:spPr bwMode="auto">
          <a:xfrm>
            <a:off x="5988854" y="2737003"/>
            <a:ext cx="369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smtClean="0">
                <a:solidFill>
                  <a:srgbClr val="000066"/>
                </a:solidFill>
                <a:latin typeface="Times New Roman" panose="02020603050405020304" pitchFamily="18" charset="0"/>
                <a:ea typeface="楷体_GB2312" pitchFamily="49" charset="-122"/>
              </a:rPr>
              <a:t>D</a:t>
            </a:r>
            <a:endParaRPr kumimoji="1" lang="en-US" altLang="zh-CN" sz="2000" b="1" dirty="0">
              <a:solidFill>
                <a:srgbClr val="000066"/>
              </a:solidFill>
              <a:latin typeface="Times New Roman" panose="02020603050405020304" pitchFamily="18" charset="0"/>
              <a:ea typeface="楷体_GB2312" pitchFamily="49" charset="-122"/>
            </a:endParaRPr>
          </a:p>
        </p:txBody>
      </p:sp>
      <p:sp>
        <p:nvSpPr>
          <p:cNvPr id="70" name="任意多边形 69"/>
          <p:cNvSpPr/>
          <p:nvPr/>
        </p:nvSpPr>
        <p:spPr bwMode="auto">
          <a:xfrm rot="18139897">
            <a:off x="6556170" y="4140602"/>
            <a:ext cx="80955" cy="115155"/>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71" name="Rectangle 61"/>
          <p:cNvSpPr>
            <a:spLocks noChangeArrowheads="1"/>
          </p:cNvSpPr>
          <p:nvPr/>
        </p:nvSpPr>
        <p:spPr bwMode="auto">
          <a:xfrm>
            <a:off x="6391590" y="4176155"/>
            <a:ext cx="44600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ea typeface="仿宋_GB2312" pitchFamily="49" charset="-122"/>
                <a:sym typeface="Symbol" panose="05050102010706020507" pitchFamily="18" charset="2"/>
              </a:rPr>
              <a:t>2</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cxnSp>
        <p:nvCxnSpPr>
          <p:cNvPr id="72" name="直接连接符 71"/>
          <p:cNvCxnSpPr/>
          <p:nvPr/>
        </p:nvCxnSpPr>
        <p:spPr bwMode="auto">
          <a:xfrm>
            <a:off x="6525233" y="3914325"/>
            <a:ext cx="0" cy="4067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Rectangle 61"/>
          <p:cNvSpPr>
            <a:spLocks noChangeArrowheads="1"/>
          </p:cNvSpPr>
          <p:nvPr/>
        </p:nvSpPr>
        <p:spPr bwMode="auto">
          <a:xfrm>
            <a:off x="3634736" y="3191430"/>
            <a:ext cx="44600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spcBef>
                <a:spcPct val="20000"/>
              </a:spcBef>
            </a:pPr>
            <a:r>
              <a:rPr kumimoji="1" lang="en-US" altLang="zh-CN" sz="2000" b="1" i="1" dirty="0" smtClean="0">
                <a:solidFill>
                  <a:srgbClr val="000066"/>
                </a:solidFill>
                <a:latin typeface="Times New Roman" panose="02020603050405020304" pitchFamily="18" charset="0"/>
                <a:ea typeface="仿宋_GB2312" pitchFamily="49" charset="-122"/>
                <a:sym typeface="Symbol" panose="05050102010706020507" pitchFamily="18" charset="2"/>
              </a:rPr>
              <a:t></a:t>
            </a:r>
            <a:r>
              <a:rPr kumimoji="1" lang="en-US" altLang="zh-CN" sz="2000" b="1" baseline="-25000" dirty="0" smtClean="0">
                <a:solidFill>
                  <a:srgbClr val="000066"/>
                </a:solidFill>
                <a:latin typeface="Times New Roman" panose="02020603050405020304" pitchFamily="18" charset="0"/>
                <a:ea typeface="仿宋_GB2312" pitchFamily="49" charset="-122"/>
                <a:sym typeface="Symbol" panose="05050102010706020507" pitchFamily="18" charset="2"/>
              </a:rPr>
              <a:t>1</a:t>
            </a:r>
            <a:endParaRPr kumimoji="1" lang="en-US" altLang="zh-CN" sz="2000" b="1" baseline="-25000" dirty="0">
              <a:solidFill>
                <a:srgbClr val="000066"/>
              </a:solidFill>
              <a:latin typeface="Times New Roman" panose="02020603050405020304" pitchFamily="18" charset="0"/>
              <a:ea typeface="仿宋_GB2312" pitchFamily="49" charset="-122"/>
              <a:sym typeface="Symbol" panose="05050102010706020507" pitchFamily="18" charset="2"/>
            </a:endParaRPr>
          </a:p>
        </p:txBody>
      </p:sp>
      <p:sp>
        <p:nvSpPr>
          <p:cNvPr id="74" name="任意多边形 73"/>
          <p:cNvSpPr/>
          <p:nvPr/>
        </p:nvSpPr>
        <p:spPr bwMode="auto">
          <a:xfrm rot="18139897">
            <a:off x="3929679" y="3364202"/>
            <a:ext cx="60443" cy="66010"/>
          </a:xfrm>
          <a:custGeom>
            <a:avLst/>
            <a:gdLst>
              <a:gd name="connsiteX0" fmla="*/ 4888 w 55688"/>
              <a:gd name="connsiteY0" fmla="*/ 0 h 100013"/>
              <a:gd name="connsiteX1" fmla="*/ 4888 w 55688"/>
              <a:gd name="connsiteY1" fmla="*/ 60325 h 100013"/>
              <a:gd name="connsiteX2" fmla="*/ 55688 w 55688"/>
              <a:gd name="connsiteY2" fmla="*/ 100013 h 100013"/>
              <a:gd name="connsiteX0" fmla="*/ 6646 w 57446"/>
              <a:gd name="connsiteY0" fmla="*/ 0 h 100013"/>
              <a:gd name="connsiteX1" fmla="*/ 4030 w 57446"/>
              <a:gd name="connsiteY1" fmla="*/ 55093 h 100013"/>
              <a:gd name="connsiteX2" fmla="*/ 57446 w 57446"/>
              <a:gd name="connsiteY2" fmla="*/ 100013 h 100013"/>
              <a:gd name="connsiteX0" fmla="*/ 1651 w 65533"/>
              <a:gd name="connsiteY0" fmla="*/ 0 h 100013"/>
              <a:gd name="connsiteX1" fmla="*/ 12117 w 65533"/>
              <a:gd name="connsiteY1" fmla="*/ 55093 h 100013"/>
              <a:gd name="connsiteX2" fmla="*/ 65533 w 65533"/>
              <a:gd name="connsiteY2" fmla="*/ 100013 h 100013"/>
              <a:gd name="connsiteX0" fmla="*/ 1047 w 64929"/>
              <a:gd name="connsiteY0" fmla="*/ 0 h 100013"/>
              <a:gd name="connsiteX1" fmla="*/ 16745 w 64929"/>
              <a:gd name="connsiteY1" fmla="*/ 64249 h 100013"/>
              <a:gd name="connsiteX2" fmla="*/ 64929 w 64929"/>
              <a:gd name="connsiteY2" fmla="*/ 100013 h 100013"/>
              <a:gd name="connsiteX0" fmla="*/ 1047 w 64929"/>
              <a:gd name="connsiteY0" fmla="*/ 0 h 100013"/>
              <a:gd name="connsiteX1" fmla="*/ 16745 w 64929"/>
              <a:gd name="connsiteY1" fmla="*/ 60325 h 100013"/>
              <a:gd name="connsiteX2" fmla="*/ 64929 w 64929"/>
              <a:gd name="connsiteY2" fmla="*/ 100013 h 100013"/>
              <a:gd name="connsiteX0" fmla="*/ 1451 w 65333"/>
              <a:gd name="connsiteY0" fmla="*/ 0 h 100013"/>
              <a:gd name="connsiteX1" fmla="*/ 13224 w 65333"/>
              <a:gd name="connsiteY1" fmla="*/ 62942 h 100013"/>
              <a:gd name="connsiteX2" fmla="*/ 65333 w 65333"/>
              <a:gd name="connsiteY2" fmla="*/ 100013 h 100013"/>
            </a:gdLst>
            <a:ahLst/>
            <a:cxnLst>
              <a:cxn ang="0">
                <a:pos x="connsiteX0" y="connsiteY0"/>
              </a:cxn>
              <a:cxn ang="0">
                <a:pos x="connsiteX1" y="connsiteY1"/>
              </a:cxn>
              <a:cxn ang="0">
                <a:pos x="connsiteX2" y="connsiteY2"/>
              </a:cxn>
            </a:cxnLst>
            <a:rect l="l" t="t" r="r" b="b"/>
            <a:pathLst>
              <a:path w="65333" h="100013">
                <a:moveTo>
                  <a:pt x="1451" y="0"/>
                </a:moveTo>
                <a:cubicBezTo>
                  <a:pt x="-2783" y="21828"/>
                  <a:pt x="2577" y="46273"/>
                  <a:pt x="13224" y="62942"/>
                </a:cubicBezTo>
                <a:cubicBezTo>
                  <a:pt x="23871" y="79611"/>
                  <a:pt x="44166" y="88503"/>
                  <a:pt x="65333" y="100013"/>
                </a:cubicBezTo>
              </a:path>
            </a:pathLst>
          </a:cu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5" name="直接连接符 74"/>
          <p:cNvCxnSpPr/>
          <p:nvPr/>
        </p:nvCxnSpPr>
        <p:spPr bwMode="auto">
          <a:xfrm>
            <a:off x="3918181" y="3050003"/>
            <a:ext cx="0" cy="4067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Line 64"/>
          <p:cNvSpPr>
            <a:spLocks noChangeShapeType="1"/>
          </p:cNvSpPr>
          <p:nvPr/>
        </p:nvSpPr>
        <p:spPr bwMode="auto">
          <a:xfrm>
            <a:off x="1381498" y="3672736"/>
            <a:ext cx="5778844" cy="0"/>
          </a:xfrm>
          <a:prstGeom prst="line">
            <a:avLst/>
          </a:prstGeom>
          <a:noFill/>
          <a:ln w="9525">
            <a:solidFill>
              <a:schemeClr val="tx1"/>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76" name="Line 57"/>
          <p:cNvSpPr>
            <a:spLocks noChangeShapeType="1"/>
          </p:cNvSpPr>
          <p:nvPr/>
        </p:nvSpPr>
        <p:spPr bwMode="auto">
          <a:xfrm flipV="1">
            <a:off x="4304309" y="3251758"/>
            <a:ext cx="408155" cy="204078"/>
          </a:xfrm>
          <a:prstGeom prst="line">
            <a:avLst/>
          </a:prstGeom>
          <a:noFill/>
          <a:ln w="38100">
            <a:solidFill>
              <a:srgbClr val="0000FF"/>
            </a:solidFill>
            <a:round/>
            <a:headEnd type="triangle" w="med" len="me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Tree>
    <p:extLst>
      <p:ext uri="{BB962C8B-B14F-4D97-AF65-F5344CB8AC3E}">
        <p14:creationId xmlns:p14="http://schemas.microsoft.com/office/powerpoint/2010/main" val="2176769330"/>
      </p:ext>
    </p:extLst>
  </p:cSld>
  <p:clrMapOvr>
    <a:masterClrMapping/>
  </p:clrMapOvr>
  <p:transition spd="med">
    <p:wipe di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任意多边形 48"/>
          <p:cNvSpPr/>
          <p:nvPr/>
        </p:nvSpPr>
        <p:spPr bwMode="auto">
          <a:xfrm>
            <a:off x="5895275" y="2510884"/>
            <a:ext cx="1708768" cy="2503283"/>
          </a:xfrm>
          <a:custGeom>
            <a:avLst/>
            <a:gdLst>
              <a:gd name="connsiteX0" fmla="*/ 0 w 1738265"/>
              <a:gd name="connsiteY0" fmla="*/ 0 h 2503283"/>
              <a:gd name="connsiteX1" fmla="*/ 0 w 1738265"/>
              <a:gd name="connsiteY1" fmla="*/ 2503283 h 2503283"/>
              <a:gd name="connsiteX2" fmla="*/ 1738265 w 1738265"/>
              <a:gd name="connsiteY2" fmla="*/ 2498756 h 2503283"/>
              <a:gd name="connsiteX3" fmla="*/ 0 w 1738265"/>
              <a:gd name="connsiteY3" fmla="*/ 0 h 2503283"/>
              <a:gd name="connsiteX0" fmla="*/ 0 w 1708768"/>
              <a:gd name="connsiteY0" fmla="*/ 0 h 2503283"/>
              <a:gd name="connsiteX1" fmla="*/ 0 w 1708768"/>
              <a:gd name="connsiteY1" fmla="*/ 2503283 h 2503283"/>
              <a:gd name="connsiteX2" fmla="*/ 1708768 w 1708768"/>
              <a:gd name="connsiteY2" fmla="*/ 2496487 h 2503283"/>
              <a:gd name="connsiteX3" fmla="*/ 0 w 1708768"/>
              <a:gd name="connsiteY3" fmla="*/ 0 h 2503283"/>
            </a:gdLst>
            <a:ahLst/>
            <a:cxnLst>
              <a:cxn ang="0">
                <a:pos x="connsiteX0" y="connsiteY0"/>
              </a:cxn>
              <a:cxn ang="0">
                <a:pos x="connsiteX1" y="connsiteY1"/>
              </a:cxn>
              <a:cxn ang="0">
                <a:pos x="connsiteX2" y="connsiteY2"/>
              </a:cxn>
              <a:cxn ang="0">
                <a:pos x="connsiteX3" y="connsiteY3"/>
              </a:cxn>
            </a:cxnLst>
            <a:rect l="l" t="t" r="r" b="b"/>
            <a:pathLst>
              <a:path w="1708768" h="2503283">
                <a:moveTo>
                  <a:pt x="0" y="0"/>
                </a:moveTo>
                <a:lnTo>
                  <a:pt x="0" y="2503283"/>
                </a:lnTo>
                <a:lnTo>
                  <a:pt x="1708768" y="2496487"/>
                </a:lnTo>
                <a:lnTo>
                  <a:pt x="0" y="0"/>
                </a:lnTo>
                <a:close/>
              </a:path>
            </a:pathLst>
          </a:custGeom>
          <a:pattFill prst="ltHorz">
            <a:fgClr>
              <a:srgbClr val="3366FF"/>
            </a:fgClr>
            <a:bgClr>
              <a:schemeClr val="bg1"/>
            </a:bgClr>
          </a:patt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0" name="任意多边形 49"/>
          <p:cNvSpPr/>
          <p:nvPr/>
        </p:nvSpPr>
        <p:spPr bwMode="auto">
          <a:xfrm>
            <a:off x="5895308" y="3608599"/>
            <a:ext cx="1394200" cy="918938"/>
          </a:xfrm>
          <a:custGeom>
            <a:avLst/>
            <a:gdLst>
              <a:gd name="connsiteX0" fmla="*/ 774072 w 1407814"/>
              <a:gd name="connsiteY0" fmla="*/ 0 h 914400"/>
              <a:gd name="connsiteX1" fmla="*/ 0 w 1407814"/>
              <a:gd name="connsiteY1" fmla="*/ 0 h 914400"/>
              <a:gd name="connsiteX2" fmla="*/ 1407814 w 1407814"/>
              <a:gd name="connsiteY2" fmla="*/ 914400 h 914400"/>
              <a:gd name="connsiteX3" fmla="*/ 774072 w 1407814"/>
              <a:gd name="connsiteY3" fmla="*/ 0 h 914400"/>
              <a:gd name="connsiteX0" fmla="*/ 760458 w 1394200"/>
              <a:gd name="connsiteY0" fmla="*/ 4538 h 918938"/>
              <a:gd name="connsiteX1" fmla="*/ 0 w 1394200"/>
              <a:gd name="connsiteY1" fmla="*/ 0 h 918938"/>
              <a:gd name="connsiteX2" fmla="*/ 1394200 w 1394200"/>
              <a:gd name="connsiteY2" fmla="*/ 918938 h 918938"/>
              <a:gd name="connsiteX3" fmla="*/ 760458 w 1394200"/>
              <a:gd name="connsiteY3" fmla="*/ 4538 h 918938"/>
            </a:gdLst>
            <a:ahLst/>
            <a:cxnLst>
              <a:cxn ang="0">
                <a:pos x="connsiteX0" y="connsiteY0"/>
              </a:cxn>
              <a:cxn ang="0">
                <a:pos x="connsiteX1" y="connsiteY1"/>
              </a:cxn>
              <a:cxn ang="0">
                <a:pos x="connsiteX2" y="connsiteY2"/>
              </a:cxn>
              <a:cxn ang="0">
                <a:pos x="connsiteX3" y="connsiteY3"/>
              </a:cxn>
            </a:cxnLst>
            <a:rect l="l" t="t" r="r" b="b"/>
            <a:pathLst>
              <a:path w="1394200" h="918938">
                <a:moveTo>
                  <a:pt x="760458" y="4538"/>
                </a:moveTo>
                <a:lnTo>
                  <a:pt x="0" y="0"/>
                </a:lnTo>
                <a:lnTo>
                  <a:pt x="1394200" y="918938"/>
                </a:lnTo>
                <a:lnTo>
                  <a:pt x="760458" y="4538"/>
                </a:lnTo>
                <a:close/>
              </a:path>
            </a:pathLst>
          </a:custGeom>
          <a:solidFill>
            <a:srgbClr val="FFC0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9" name="任意多边形 8"/>
          <p:cNvSpPr/>
          <p:nvPr/>
        </p:nvSpPr>
        <p:spPr bwMode="auto">
          <a:xfrm>
            <a:off x="1892802" y="2522630"/>
            <a:ext cx="1522071" cy="2482770"/>
          </a:xfrm>
          <a:custGeom>
            <a:avLst/>
            <a:gdLst>
              <a:gd name="connsiteX0" fmla="*/ 468774 w 1522071"/>
              <a:gd name="connsiteY0" fmla="*/ 0 h 2482770"/>
              <a:gd name="connsiteX1" fmla="*/ 844952 w 1522071"/>
              <a:gd name="connsiteY1" fmla="*/ 0 h 2482770"/>
              <a:gd name="connsiteX2" fmla="*/ 943336 w 1522071"/>
              <a:gd name="connsiteY2" fmla="*/ 931762 h 2482770"/>
              <a:gd name="connsiteX3" fmla="*/ 1522071 w 1522071"/>
              <a:gd name="connsiteY3" fmla="*/ 931762 h 2482770"/>
              <a:gd name="connsiteX4" fmla="*/ 1522071 w 1522071"/>
              <a:gd name="connsiteY4" fmla="*/ 1076446 h 2482770"/>
              <a:gd name="connsiteX5" fmla="*/ 966486 w 1522071"/>
              <a:gd name="connsiteY5" fmla="*/ 1232704 h 2482770"/>
              <a:gd name="connsiteX6" fmla="*/ 1122744 w 1522071"/>
              <a:gd name="connsiteY6" fmla="*/ 2482770 h 2482770"/>
              <a:gd name="connsiteX7" fmla="*/ 0 w 1522071"/>
              <a:gd name="connsiteY7" fmla="*/ 2482770 h 2482770"/>
              <a:gd name="connsiteX8" fmla="*/ 0 w 1522071"/>
              <a:gd name="connsiteY8" fmla="*/ 2199190 h 2482770"/>
              <a:gd name="connsiteX9" fmla="*/ 196769 w 1522071"/>
              <a:gd name="connsiteY9" fmla="*/ 2199190 h 2482770"/>
              <a:gd name="connsiteX10" fmla="*/ 468774 w 1522071"/>
              <a:gd name="connsiteY10" fmla="*/ 0 h 248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2071" h="2482770">
                <a:moveTo>
                  <a:pt x="468774" y="0"/>
                </a:moveTo>
                <a:lnTo>
                  <a:pt x="844952" y="0"/>
                </a:lnTo>
                <a:lnTo>
                  <a:pt x="943336" y="931762"/>
                </a:lnTo>
                <a:lnTo>
                  <a:pt x="1522071" y="931762"/>
                </a:lnTo>
                <a:lnTo>
                  <a:pt x="1522071" y="1076446"/>
                </a:lnTo>
                <a:lnTo>
                  <a:pt x="966486" y="1232704"/>
                </a:lnTo>
                <a:lnTo>
                  <a:pt x="1122744" y="2482770"/>
                </a:lnTo>
                <a:lnTo>
                  <a:pt x="0" y="2482770"/>
                </a:lnTo>
                <a:lnTo>
                  <a:pt x="0" y="2199190"/>
                </a:lnTo>
                <a:lnTo>
                  <a:pt x="196769" y="2199190"/>
                </a:lnTo>
                <a:lnTo>
                  <a:pt x="468774" y="0"/>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88</a:t>
            </a:fld>
            <a:endParaRPr lang="zh-CN" altLang="en-US" dirty="0">
              <a:solidFill>
                <a:srgbClr val="C00000"/>
              </a:solidFill>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5</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墙</a:t>
            </a:r>
            <a:r>
              <a:rPr kumimoji="1" lang="zh-CN" altLang="en-US" sz="4000" b="1" dirty="0">
                <a:solidFill>
                  <a:srgbClr val="000066"/>
                </a:solidFill>
                <a:ea typeface="黑体" pitchFamily="2" charset="-122"/>
                <a:cs typeface="Times New Roman" panose="02020603050405020304" pitchFamily="18" charset="0"/>
              </a:rPr>
              <a:t>背形状有变化</a:t>
            </a:r>
          </a:p>
        </p:txBody>
      </p:sp>
      <p:sp>
        <p:nvSpPr>
          <p:cNvPr id="296" name="Rectangle 3"/>
          <p:cNvSpPr txBox="1">
            <a:spLocks noChangeArrowheads="1"/>
          </p:cNvSpPr>
          <p:nvPr/>
        </p:nvSpPr>
        <p:spPr bwMode="auto">
          <a:xfrm>
            <a:off x="413481" y="498839"/>
            <a:ext cx="5299256"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墙背有</a:t>
            </a:r>
            <a:r>
              <a:rPr lang="zh-CN" altLang="en-US" sz="2800" b="1" kern="0" dirty="0">
                <a:solidFill>
                  <a:srgbClr val="A50021"/>
                </a:solidFill>
                <a:latin typeface="微软雅黑" panose="020B0503020204020204" pitchFamily="34" charset="-122"/>
                <a:ea typeface="微软雅黑" panose="020B0503020204020204" pitchFamily="34" charset="-122"/>
              </a:rPr>
              <a:t>减载</a:t>
            </a:r>
            <a:r>
              <a:rPr lang="zh-CN" altLang="en-US" sz="2800" b="1" kern="0" dirty="0" smtClean="0">
                <a:solidFill>
                  <a:srgbClr val="A50021"/>
                </a:solidFill>
                <a:latin typeface="微软雅黑" panose="020B0503020204020204" pitchFamily="34" charset="-122"/>
                <a:ea typeface="微软雅黑" panose="020B0503020204020204" pitchFamily="34" charset="-122"/>
              </a:rPr>
              <a:t>平台的情况</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sp>
        <p:nvSpPr>
          <p:cNvPr id="139" name="Text Box 51"/>
          <p:cNvSpPr txBox="1">
            <a:spLocks noChangeArrowheads="1"/>
          </p:cNvSpPr>
          <p:nvPr/>
        </p:nvSpPr>
        <p:spPr bwMode="auto">
          <a:xfrm>
            <a:off x="3227564" y="2151796"/>
            <a:ext cx="36988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A</a:t>
            </a:r>
          </a:p>
        </p:txBody>
      </p:sp>
      <p:sp>
        <p:nvSpPr>
          <p:cNvPr id="175" name="Text Box 51"/>
          <p:cNvSpPr txBox="1">
            <a:spLocks noChangeArrowheads="1"/>
          </p:cNvSpPr>
          <p:nvPr/>
        </p:nvSpPr>
        <p:spPr bwMode="auto">
          <a:xfrm>
            <a:off x="2522905" y="3649561"/>
            <a:ext cx="3698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C</a:t>
            </a:r>
          </a:p>
        </p:txBody>
      </p:sp>
      <p:sp>
        <p:nvSpPr>
          <p:cNvPr id="60" name="矩形 59"/>
          <p:cNvSpPr/>
          <p:nvPr/>
        </p:nvSpPr>
        <p:spPr>
          <a:xfrm>
            <a:off x="823868" y="1220803"/>
            <a:ext cx="7822195" cy="904863"/>
          </a:xfrm>
          <a:prstGeom prst="rect">
            <a:avLst/>
          </a:prstGeom>
        </p:spPr>
        <p:txBody>
          <a:bodyPr wrap="square">
            <a:spAutoFit/>
          </a:bodyPr>
          <a:lstStyle/>
          <a:p>
            <a:pPr>
              <a:lnSpc>
                <a:spcPct val="120000"/>
              </a:lnSpc>
            </a:pPr>
            <a:r>
              <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rPr>
              <a:t>减载</a:t>
            </a:r>
            <a:r>
              <a:rPr lang="zh-CN" altLang="en-US" sz="2200" b="1" dirty="0" smtClean="0">
                <a:solidFill>
                  <a:srgbClr val="000066"/>
                </a:solidFill>
                <a:latin typeface="幼圆" panose="02010509060101010101" pitchFamily="49" charset="-122"/>
                <a:ea typeface="幼圆" panose="02010509060101010101" pitchFamily="49" charset="-122"/>
                <a:cs typeface="Times New Roman" panose="02020603050405020304" pitchFamily="18" charset="0"/>
              </a:rPr>
              <a:t>平台可有效地提高重力式挡土墙的抗倾覆稳定安全系数，并使墙底压力更均匀</a:t>
            </a:r>
            <a:endParaRPr lang="zh-CN" altLang="en-US" sz="2200" b="1" dirty="0">
              <a:solidFill>
                <a:srgbClr val="000066"/>
              </a:solidFill>
              <a:latin typeface="幼圆" panose="02010509060101010101" pitchFamily="49" charset="-122"/>
              <a:ea typeface="幼圆" panose="02010509060101010101" pitchFamily="49" charset="-122"/>
              <a:cs typeface="Times New Roman" panose="02020603050405020304" pitchFamily="18" charset="0"/>
            </a:endParaRPr>
          </a:p>
        </p:txBody>
      </p:sp>
      <p:cxnSp>
        <p:nvCxnSpPr>
          <p:cNvPr id="12" name="直接连接符 11"/>
          <p:cNvCxnSpPr/>
          <p:nvPr/>
        </p:nvCxnSpPr>
        <p:spPr bwMode="auto">
          <a:xfrm>
            <a:off x="2739214" y="2522630"/>
            <a:ext cx="1980675"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flipH="1">
            <a:off x="2957673" y="2138904"/>
            <a:ext cx="1167797" cy="2403508"/>
          </a:xfrm>
          <a:prstGeom prst="line">
            <a:avLst/>
          </a:prstGeom>
          <a:noFill/>
          <a:ln w="127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p:cNvCxnSpPr/>
          <p:nvPr/>
        </p:nvCxnSpPr>
        <p:spPr bwMode="auto">
          <a:xfrm>
            <a:off x="3402591" y="2522630"/>
            <a:ext cx="0" cy="931762"/>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p:cNvCxnSpPr/>
          <p:nvPr/>
        </p:nvCxnSpPr>
        <p:spPr bwMode="auto">
          <a:xfrm>
            <a:off x="3438022" y="3602585"/>
            <a:ext cx="2422089" cy="0"/>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2969247" y="4540908"/>
            <a:ext cx="4306196" cy="0"/>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3027121" y="5005902"/>
            <a:ext cx="1587103"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5895056" y="2512305"/>
            <a:ext cx="0" cy="2500131"/>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a:endCxn id="50" idx="0"/>
          </p:cNvCxnSpPr>
          <p:nvPr/>
        </p:nvCxnSpPr>
        <p:spPr bwMode="auto">
          <a:xfrm>
            <a:off x="5902104" y="2511055"/>
            <a:ext cx="753662" cy="1102082"/>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a:off x="5893050" y="5007664"/>
            <a:ext cx="1717856"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Line 89"/>
          <p:cNvSpPr>
            <a:spLocks noChangeAspect="1" noChangeShapeType="1"/>
          </p:cNvSpPr>
          <p:nvPr/>
        </p:nvSpPr>
        <p:spPr bwMode="auto">
          <a:xfrm>
            <a:off x="5905196" y="5213108"/>
            <a:ext cx="1696657"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Text Box 54"/>
          <p:cNvSpPr txBox="1">
            <a:spLocks noChangeArrowheads="1"/>
          </p:cNvSpPr>
          <p:nvPr/>
        </p:nvSpPr>
        <p:spPr bwMode="auto">
          <a:xfrm>
            <a:off x="6648440" y="3040806"/>
            <a:ext cx="926038"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H</a:t>
            </a:r>
            <a:r>
              <a:rPr lang="en-US" altLang="zh-CN" sz="2000" b="1" baseline="-25000" dirty="0" smtClean="0">
                <a:solidFill>
                  <a:srgbClr val="000066"/>
                </a:solidFill>
                <a:latin typeface="Times New Roman" panose="02020603050405020304" pitchFamily="18" charset="0"/>
                <a:cs typeface="Times New Roman" panose="02020603050405020304" pitchFamily="18" charset="0"/>
                <a:sym typeface="Symbol" pitchFamily="18" charset="2"/>
              </a:rPr>
              <a:t>1</a:t>
            </a:r>
            <a:r>
              <a:rPr lang="en-US" altLang="zh-CN" sz="2000" b="1" i="1" dirty="0"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smtClean="0">
                <a:solidFill>
                  <a:srgbClr val="000066"/>
                </a:solidFill>
                <a:latin typeface="Times New Roman" panose="02020603050405020304" pitchFamily="18" charset="0"/>
                <a:cs typeface="Times New Roman" panose="02020603050405020304" pitchFamily="18" charset="0"/>
              </a:rPr>
              <a:t>a</a:t>
            </a:r>
            <a:endParaRPr lang="en-US" altLang="zh-CN" sz="2000" b="1" baseline="-25000" dirty="0">
              <a:solidFill>
                <a:srgbClr val="000066"/>
              </a:solidFill>
              <a:latin typeface="Times New Roman" panose="02020603050405020304" pitchFamily="18" charset="0"/>
              <a:cs typeface="Times New Roman" panose="02020603050405020304" pitchFamily="18" charset="0"/>
            </a:endParaRPr>
          </a:p>
        </p:txBody>
      </p:sp>
      <p:sp>
        <p:nvSpPr>
          <p:cNvPr id="82" name="Text Box 40"/>
          <p:cNvSpPr txBox="1">
            <a:spLocks noChangeArrowheads="1"/>
          </p:cNvSpPr>
          <p:nvPr/>
        </p:nvSpPr>
        <p:spPr bwMode="auto">
          <a:xfrm>
            <a:off x="4145080" y="2081361"/>
            <a:ext cx="106781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83" name="任意多边形 82"/>
          <p:cNvSpPr/>
          <p:nvPr/>
        </p:nvSpPr>
        <p:spPr bwMode="auto">
          <a:xfrm rot="306631">
            <a:off x="4007209" y="2360604"/>
            <a:ext cx="150882" cy="15390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12700"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84" name="直接连接符 83"/>
          <p:cNvCxnSpPr/>
          <p:nvPr/>
        </p:nvCxnSpPr>
        <p:spPr bwMode="auto">
          <a:xfrm>
            <a:off x="5898161" y="5064099"/>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Line 89"/>
          <p:cNvSpPr>
            <a:spLocks noChangeAspect="1" noChangeShapeType="1"/>
          </p:cNvSpPr>
          <p:nvPr/>
        </p:nvSpPr>
        <p:spPr bwMode="auto">
          <a:xfrm rot="5400000">
            <a:off x="3765833" y="3059650"/>
            <a:ext cx="106326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89"/>
          <p:cNvSpPr>
            <a:spLocks noChangeAspect="1" noChangeShapeType="1"/>
          </p:cNvSpPr>
          <p:nvPr/>
        </p:nvSpPr>
        <p:spPr bwMode="auto">
          <a:xfrm rot="5400000">
            <a:off x="3608063" y="4313497"/>
            <a:ext cx="1399201"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Text Box 61"/>
          <p:cNvSpPr txBox="1">
            <a:spLocks noChangeArrowheads="1"/>
          </p:cNvSpPr>
          <p:nvPr/>
        </p:nvSpPr>
        <p:spPr bwMode="auto">
          <a:xfrm>
            <a:off x="4280464" y="2803097"/>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1</a:t>
            </a:r>
            <a:endParaRPr kumimoji="1" lang="en-US" altLang="zh-CN" sz="2400" b="1" dirty="0">
              <a:solidFill>
                <a:srgbClr val="000066"/>
              </a:solidFill>
              <a:latin typeface="Times New Roman" panose="02020603050405020304" pitchFamily="18" charset="0"/>
            </a:endParaRPr>
          </a:p>
        </p:txBody>
      </p:sp>
      <p:sp>
        <p:nvSpPr>
          <p:cNvPr id="89" name="Text Box 62"/>
          <p:cNvSpPr txBox="1">
            <a:spLocks noChangeArrowheads="1"/>
          </p:cNvSpPr>
          <p:nvPr/>
        </p:nvSpPr>
        <p:spPr bwMode="auto">
          <a:xfrm>
            <a:off x="4314260" y="3987388"/>
            <a:ext cx="547534" cy="43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a:solidFill>
                  <a:srgbClr val="000066"/>
                </a:solidFill>
                <a:latin typeface="Times New Roman" panose="02020603050405020304" pitchFamily="18" charset="0"/>
              </a:rPr>
              <a:t>H</a:t>
            </a:r>
            <a:r>
              <a:rPr kumimoji="1" lang="en-US" altLang="zh-CN" sz="2400" b="1" baseline="-25000" dirty="0">
                <a:solidFill>
                  <a:srgbClr val="000066"/>
                </a:solidFill>
                <a:latin typeface="Times New Roman" panose="02020603050405020304" pitchFamily="18" charset="0"/>
              </a:rPr>
              <a:t>2</a:t>
            </a:r>
            <a:endParaRPr kumimoji="1" lang="en-US" altLang="zh-CN" sz="2400" b="1" dirty="0">
              <a:solidFill>
                <a:srgbClr val="000066"/>
              </a:solidFill>
              <a:latin typeface="Times New Roman" panose="02020603050405020304" pitchFamily="18" charset="0"/>
            </a:endParaRPr>
          </a:p>
        </p:txBody>
      </p:sp>
      <p:sp>
        <p:nvSpPr>
          <p:cNvPr id="90" name="Text Box 51"/>
          <p:cNvSpPr txBox="1">
            <a:spLocks noChangeArrowheads="1"/>
          </p:cNvSpPr>
          <p:nvPr/>
        </p:nvSpPr>
        <p:spPr bwMode="auto">
          <a:xfrm>
            <a:off x="3358703" y="3561252"/>
            <a:ext cx="356187"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smtClean="0">
                <a:solidFill>
                  <a:srgbClr val="000066"/>
                </a:solidFill>
                <a:latin typeface="Times New Roman" panose="02020603050405020304" pitchFamily="18" charset="0"/>
                <a:ea typeface="楷体_GB2312" pitchFamily="49" charset="-122"/>
              </a:rPr>
              <a:t>B</a:t>
            </a:r>
            <a:endParaRPr kumimoji="1" lang="en-US" altLang="zh-CN" sz="2000" b="1" dirty="0">
              <a:solidFill>
                <a:srgbClr val="000066"/>
              </a:solidFill>
              <a:latin typeface="Times New Roman" panose="02020603050405020304" pitchFamily="18" charset="0"/>
              <a:ea typeface="楷体_GB2312" pitchFamily="49" charset="-122"/>
            </a:endParaRPr>
          </a:p>
        </p:txBody>
      </p:sp>
      <p:sp>
        <p:nvSpPr>
          <p:cNvPr id="91" name="Text Box 51"/>
          <p:cNvSpPr txBox="1">
            <a:spLocks noChangeArrowheads="1"/>
          </p:cNvSpPr>
          <p:nvPr/>
        </p:nvSpPr>
        <p:spPr bwMode="auto">
          <a:xfrm>
            <a:off x="2485341" y="3253842"/>
            <a:ext cx="370615"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D</a:t>
            </a:r>
          </a:p>
        </p:txBody>
      </p:sp>
      <p:sp>
        <p:nvSpPr>
          <p:cNvPr id="92" name="Text Box 51"/>
          <p:cNvSpPr txBox="1">
            <a:spLocks noChangeArrowheads="1"/>
          </p:cNvSpPr>
          <p:nvPr/>
        </p:nvSpPr>
        <p:spPr bwMode="auto">
          <a:xfrm>
            <a:off x="2617839" y="4184067"/>
            <a:ext cx="356188" cy="40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a:solidFill>
                  <a:srgbClr val="000066"/>
                </a:solidFill>
                <a:latin typeface="Times New Roman" panose="02020603050405020304" pitchFamily="18" charset="0"/>
                <a:ea typeface="楷体_GB2312" pitchFamily="49" charset="-122"/>
              </a:rPr>
              <a:t>E</a:t>
            </a:r>
          </a:p>
        </p:txBody>
      </p:sp>
      <p:cxnSp>
        <p:nvCxnSpPr>
          <p:cNvPr id="96" name="直接连接符 95"/>
          <p:cNvCxnSpPr/>
          <p:nvPr/>
        </p:nvCxnSpPr>
        <p:spPr bwMode="auto">
          <a:xfrm>
            <a:off x="5879322" y="3605354"/>
            <a:ext cx="77391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5892113" y="3612423"/>
            <a:ext cx="1405956" cy="930257"/>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Text Box 54"/>
          <p:cNvSpPr txBox="1">
            <a:spLocks noChangeArrowheads="1"/>
          </p:cNvSpPr>
          <p:nvPr/>
        </p:nvSpPr>
        <p:spPr bwMode="auto">
          <a:xfrm>
            <a:off x="5907901" y="5196512"/>
            <a:ext cx="1633234"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lang="en-US" altLang="zh-CN" sz="2000" b="1" dirty="0" smtClean="0">
                <a:solidFill>
                  <a:srgbClr val="000066"/>
                </a:solidFill>
                <a:latin typeface="Times New Roman" panose="02020603050405020304" pitchFamily="18" charset="0"/>
                <a:cs typeface="Times New Roman" panose="02020603050405020304" pitchFamily="18" charset="0"/>
                <a:sym typeface="Symbol" pitchFamily="18" charset="2"/>
              </a:rPr>
              <a:t>(</a:t>
            </a:r>
            <a:r>
              <a:rPr lang="en-US" altLang="zh-CN" sz="2000" b="1" i="1" dirty="0" smtClean="0">
                <a:solidFill>
                  <a:srgbClr val="000066"/>
                </a:solidFill>
                <a:cs typeface="Times New Roman" panose="02020603050405020304" pitchFamily="18" charset="0"/>
                <a:sym typeface="Symbol" pitchFamily="18" charset="2"/>
              </a:rPr>
              <a:t>H</a:t>
            </a:r>
            <a:r>
              <a:rPr lang="en-US" altLang="zh-CN" sz="2000" b="1" baseline="-25000" dirty="0" smtClean="0">
                <a:solidFill>
                  <a:srgbClr val="000066"/>
                </a:solidFill>
                <a:cs typeface="Times New Roman" panose="02020603050405020304" pitchFamily="18" charset="0"/>
                <a:sym typeface="Symbol" pitchFamily="18" charset="2"/>
              </a:rPr>
              <a:t>1</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+H</a:t>
            </a:r>
            <a:r>
              <a:rPr lang="en-US" altLang="zh-CN" sz="2000" b="1" baseline="-25000" dirty="0" smtClean="0">
                <a:solidFill>
                  <a:srgbClr val="000066"/>
                </a:solidFill>
                <a:latin typeface="Times New Roman" panose="02020603050405020304" pitchFamily="18" charset="0"/>
                <a:cs typeface="Times New Roman" panose="02020603050405020304" pitchFamily="18" charset="0"/>
                <a:sym typeface="Symbol" pitchFamily="18" charset="2"/>
              </a:rPr>
              <a:t>2</a:t>
            </a:r>
            <a:r>
              <a:rPr lang="en-US" altLang="zh-CN" sz="2000" b="1" dirty="0" smtClean="0">
                <a:solidFill>
                  <a:srgbClr val="000066"/>
                </a:solidFill>
                <a:cs typeface="Times New Roman" panose="02020603050405020304" pitchFamily="18" charset="0"/>
                <a:sym typeface="Symbol" pitchFamily="18" charset="2"/>
              </a:rPr>
              <a:t>)</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i="1" baseline="-25000" dirty="0" err="1" smtClean="0">
                <a:solidFill>
                  <a:srgbClr val="000066"/>
                </a:solidFill>
                <a:latin typeface="Times New Roman" panose="02020603050405020304" pitchFamily="18" charset="0"/>
                <a:cs typeface="Times New Roman" panose="02020603050405020304" pitchFamily="18" charset="0"/>
              </a:rPr>
              <a:t>a</a:t>
            </a:r>
            <a:endParaRPr lang="en-US" altLang="zh-CN" sz="2000" b="1" i="1" baseline="-25000" dirty="0">
              <a:solidFill>
                <a:srgbClr val="000066"/>
              </a:solidFill>
              <a:latin typeface="Times New Roman" panose="02020603050405020304" pitchFamily="18" charset="0"/>
              <a:cs typeface="Times New Roman" panose="02020603050405020304" pitchFamily="18" charset="0"/>
            </a:endParaRPr>
          </a:p>
        </p:txBody>
      </p:sp>
      <p:cxnSp>
        <p:nvCxnSpPr>
          <p:cNvPr id="101" name="直接箭头连接符 100"/>
          <p:cNvCxnSpPr/>
          <p:nvPr/>
        </p:nvCxnSpPr>
        <p:spPr bwMode="auto">
          <a:xfrm>
            <a:off x="3018081" y="2618380"/>
            <a:ext cx="0" cy="438288"/>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 Box 75"/>
          <p:cNvSpPr txBox="1">
            <a:spLocks noChangeArrowheads="1"/>
          </p:cNvSpPr>
          <p:nvPr/>
        </p:nvSpPr>
        <p:spPr bwMode="auto">
          <a:xfrm>
            <a:off x="2956338" y="2912217"/>
            <a:ext cx="57739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sym typeface="Symbol" panose="05050102010706020507" pitchFamily="18" charset="2"/>
              </a:rPr>
              <a:t>W</a:t>
            </a:r>
            <a:endParaRPr kumimoji="1" lang="en-US" altLang="zh-CN" sz="2400" b="1" i="1" dirty="0">
              <a:solidFill>
                <a:srgbClr val="000066"/>
              </a:solidFill>
              <a:latin typeface="Times New Roman" panose="02020603050405020304" pitchFamily="18" charset="0"/>
              <a:sym typeface="Symbol" panose="05050102010706020507" pitchFamily="18" charset="2"/>
            </a:endParaRPr>
          </a:p>
        </p:txBody>
      </p:sp>
      <p:sp>
        <p:nvSpPr>
          <p:cNvPr id="104" name="Text Box 75"/>
          <p:cNvSpPr txBox="1">
            <a:spLocks noChangeArrowheads="1"/>
          </p:cNvSpPr>
          <p:nvPr/>
        </p:nvSpPr>
        <p:spPr bwMode="auto">
          <a:xfrm>
            <a:off x="3218835" y="4046042"/>
            <a:ext cx="10393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44" name="直接连接符 43"/>
          <p:cNvCxnSpPr/>
          <p:nvPr/>
        </p:nvCxnSpPr>
        <p:spPr bwMode="auto">
          <a:xfrm>
            <a:off x="3273483" y="3978102"/>
            <a:ext cx="126609" cy="14067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Text Box 51"/>
          <p:cNvSpPr txBox="1">
            <a:spLocks noChangeArrowheads="1"/>
          </p:cNvSpPr>
          <p:nvPr/>
        </p:nvSpPr>
        <p:spPr bwMode="auto">
          <a:xfrm>
            <a:off x="5422762" y="3554545"/>
            <a:ext cx="43473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smtClean="0">
                <a:solidFill>
                  <a:srgbClr val="000066"/>
                </a:solidFill>
                <a:latin typeface="Times New Roman" panose="02020603050405020304" pitchFamily="18" charset="0"/>
                <a:ea typeface="楷体_GB2312" pitchFamily="49" charset="-122"/>
              </a:rPr>
              <a:t>C</a:t>
            </a:r>
            <a:r>
              <a:rPr kumimoji="1" lang="en-US" altLang="zh-CN" sz="2000" b="1" dirty="0" smtClean="0">
                <a:solidFill>
                  <a:srgbClr val="000066"/>
                </a:solidFill>
                <a:latin typeface="Times New Roman" panose="02020603050405020304" pitchFamily="18" charset="0"/>
                <a:ea typeface="楷体_GB2312" pitchFamily="49" charset="-122"/>
                <a:sym typeface="Symbol"/>
              </a:rPr>
              <a:t></a:t>
            </a:r>
            <a:endParaRPr kumimoji="1" lang="en-US" altLang="zh-CN" sz="2000" b="1" dirty="0">
              <a:solidFill>
                <a:srgbClr val="000066"/>
              </a:solidFill>
              <a:latin typeface="Times New Roman" panose="02020603050405020304" pitchFamily="18" charset="0"/>
              <a:ea typeface="楷体_GB2312" pitchFamily="49" charset="-122"/>
            </a:endParaRPr>
          </a:p>
        </p:txBody>
      </p:sp>
      <p:cxnSp>
        <p:nvCxnSpPr>
          <p:cNvPr id="46" name="直接箭头连接符 45"/>
          <p:cNvCxnSpPr/>
          <p:nvPr/>
        </p:nvCxnSpPr>
        <p:spPr bwMode="auto">
          <a:xfrm flipV="1">
            <a:off x="6236242" y="3295819"/>
            <a:ext cx="485335" cy="267286"/>
          </a:xfrm>
          <a:prstGeom prst="straightConnector1">
            <a:avLst/>
          </a:prstGeom>
          <a:noFill/>
          <a:ln w="1270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接连接符 112"/>
          <p:cNvCxnSpPr/>
          <p:nvPr/>
        </p:nvCxnSpPr>
        <p:spPr bwMode="auto">
          <a:xfrm>
            <a:off x="7607758" y="5071645"/>
            <a:ext cx="0" cy="227884"/>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直接连接符 114"/>
          <p:cNvCxnSpPr/>
          <p:nvPr/>
        </p:nvCxnSpPr>
        <p:spPr bwMode="auto">
          <a:xfrm>
            <a:off x="7293967" y="4543533"/>
            <a:ext cx="321864" cy="468755"/>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连接符 115"/>
          <p:cNvCxnSpPr/>
          <p:nvPr/>
        </p:nvCxnSpPr>
        <p:spPr bwMode="auto">
          <a:xfrm>
            <a:off x="6646799" y="3599636"/>
            <a:ext cx="648114" cy="943897"/>
          </a:xfrm>
          <a:prstGeom prst="line">
            <a:avLst/>
          </a:prstGeom>
          <a:noFill/>
          <a:ln w="1270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51"/>
          <p:cNvSpPr txBox="1">
            <a:spLocks noChangeArrowheads="1"/>
          </p:cNvSpPr>
          <p:nvPr/>
        </p:nvSpPr>
        <p:spPr bwMode="auto">
          <a:xfrm>
            <a:off x="7403226" y="4316055"/>
            <a:ext cx="420307" cy="405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10000"/>
              </a:lnSpc>
              <a:spcBef>
                <a:spcPct val="50000"/>
              </a:spcBef>
            </a:pPr>
            <a:r>
              <a:rPr kumimoji="1" lang="en-US" altLang="zh-CN" sz="2000" b="1" dirty="0" smtClean="0">
                <a:solidFill>
                  <a:srgbClr val="000066"/>
                </a:solidFill>
                <a:latin typeface="Times New Roman" panose="02020603050405020304" pitchFamily="18" charset="0"/>
                <a:ea typeface="楷体_GB2312" pitchFamily="49" charset="-122"/>
              </a:rPr>
              <a:t>E</a:t>
            </a:r>
            <a:r>
              <a:rPr kumimoji="1" lang="en-US" altLang="zh-CN" sz="2000" b="1" dirty="0" smtClean="0">
                <a:solidFill>
                  <a:srgbClr val="000066"/>
                </a:solidFill>
                <a:latin typeface="Times New Roman" panose="02020603050405020304" pitchFamily="18" charset="0"/>
                <a:ea typeface="楷体_GB2312" pitchFamily="49" charset="-122"/>
                <a:sym typeface="Symbol"/>
              </a:rPr>
              <a:t></a:t>
            </a:r>
            <a:endParaRPr kumimoji="1" lang="en-US" altLang="zh-CN" sz="2000" b="1" dirty="0">
              <a:solidFill>
                <a:srgbClr val="000066"/>
              </a:solidFill>
              <a:latin typeface="Times New Roman" panose="02020603050405020304" pitchFamily="18" charset="0"/>
              <a:ea typeface="楷体_GB2312" pitchFamily="49" charset="-122"/>
            </a:endParaRPr>
          </a:p>
        </p:txBody>
      </p:sp>
      <p:sp>
        <p:nvSpPr>
          <p:cNvPr id="128" name="AutoShape 7"/>
          <p:cNvSpPr>
            <a:spLocks noChangeArrowheads="1"/>
          </p:cNvSpPr>
          <p:nvPr/>
        </p:nvSpPr>
        <p:spPr bwMode="auto">
          <a:xfrm>
            <a:off x="516973" y="3063971"/>
            <a:ext cx="1524000" cy="458921"/>
          </a:xfrm>
          <a:prstGeom prst="wedgeRoundRectCallout">
            <a:avLst>
              <a:gd name="adj1" fmla="val 103054"/>
              <a:gd name="adj2" fmla="val 94638"/>
              <a:gd name="adj3" fmla="val 16667"/>
            </a:avLst>
          </a:prstGeom>
          <a:solidFill>
            <a:schemeClr val="bg1"/>
          </a:solidFill>
          <a:ln w="19050" algn="ctr">
            <a:solidFill>
              <a:srgbClr val="990033"/>
            </a:solidFill>
            <a:miter lim="800000"/>
            <a:headEnd/>
            <a:tailEnd/>
          </a:ln>
          <a:extLst/>
        </p:spPr>
        <p:txBody>
          <a:bodyPr lIns="0" r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r>
              <a:rPr lang="zh-CN" altLang="en-US"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土压力为</a:t>
            </a:r>
            <a:r>
              <a:rPr lang="en-US" altLang="zh-CN" sz="2000" b="1">
                <a:solidFill>
                  <a:srgbClr val="000066"/>
                </a:solidFill>
                <a:latin typeface="Times New Roman" panose="02020603050405020304" pitchFamily="18" charset="0"/>
                <a:ea typeface="幼圆" panose="02010509060101010101" pitchFamily="49" charset="-122"/>
                <a:cs typeface="Times New Roman" panose="02020603050405020304" pitchFamily="18" charset="0"/>
              </a:rPr>
              <a:t>0</a:t>
            </a:r>
          </a:p>
        </p:txBody>
      </p:sp>
      <p:sp>
        <p:nvSpPr>
          <p:cNvPr id="130" name="AutoShape 7"/>
          <p:cNvSpPr>
            <a:spLocks noChangeArrowheads="1"/>
          </p:cNvSpPr>
          <p:nvPr/>
        </p:nvSpPr>
        <p:spPr bwMode="auto">
          <a:xfrm>
            <a:off x="7650120" y="3124863"/>
            <a:ext cx="1191729" cy="885349"/>
          </a:xfrm>
          <a:prstGeom prst="wedgeRoundRectCallout">
            <a:avLst>
              <a:gd name="adj1" fmla="val -145256"/>
              <a:gd name="adj2" fmla="val 31461"/>
              <a:gd name="adj3" fmla="val 16667"/>
            </a:avLst>
          </a:prstGeom>
          <a:noFill/>
          <a:ln w="19050" algn="ctr">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wrap="square" lIns="0" rIns="0">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spcBef>
                <a:spcPct val="50000"/>
              </a:spcBef>
            </a:pPr>
            <a:r>
              <a:rPr kumimoji="1" lang="zh-CN" altLang="en-US"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减载</a:t>
            </a: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平台</a:t>
            </a:r>
            <a:r>
              <a:rPr kumimoji="1" lang="en-US" altLang="zh-CN"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
            </a:r>
            <a:br>
              <a:rPr kumimoji="1" lang="en-US" altLang="zh-CN"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b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的</a:t>
            </a:r>
            <a:r>
              <a:rPr kumimoji="1" lang="zh-CN" altLang="en-US" sz="2000" b="1" dirty="0">
                <a:solidFill>
                  <a:srgbClr val="000066"/>
                </a:solidFill>
                <a:latin typeface="幼圆" panose="02010509060101010101" pitchFamily="49" charset="-122"/>
                <a:ea typeface="幼圆" panose="02010509060101010101" pitchFamily="49" charset="-122"/>
                <a:sym typeface="Symbol" panose="05050102010706020507" pitchFamily="18" charset="2"/>
              </a:rPr>
              <a:t>作用</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grpSp>
        <p:nvGrpSpPr>
          <p:cNvPr id="131" name="Group 12"/>
          <p:cNvGrpSpPr>
            <a:grpSpLocks/>
          </p:cNvGrpSpPr>
          <p:nvPr/>
        </p:nvGrpSpPr>
        <p:grpSpPr bwMode="auto">
          <a:xfrm>
            <a:off x="2881517" y="2517145"/>
            <a:ext cx="454614" cy="73451"/>
            <a:chOff x="2274" y="1204"/>
            <a:chExt cx="270" cy="44"/>
          </a:xfrm>
        </p:grpSpPr>
        <p:sp>
          <p:nvSpPr>
            <p:cNvPr id="132"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 name="Text Box 7"/>
          <p:cNvSpPr txBox="1">
            <a:spLocks noChangeArrowheads="1"/>
          </p:cNvSpPr>
          <p:nvPr/>
        </p:nvSpPr>
        <p:spPr bwMode="auto">
          <a:xfrm>
            <a:off x="0" y="0"/>
            <a:ext cx="637694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墙</a:t>
            </a:r>
            <a:r>
              <a:rPr lang="zh-CN" altLang="en-US" sz="1800" b="1" kern="900" spc="130" dirty="0">
                <a:solidFill>
                  <a:srgbClr val="000066"/>
                </a:solidFill>
                <a:ea typeface="黑体" panose="02010609060101010101" pitchFamily="49" charset="-122"/>
                <a:cs typeface="Times New Roman" panose="02020603050405020304" pitchFamily="18" charset="0"/>
              </a:rPr>
              <a:t>背形状有变化</a:t>
            </a:r>
          </a:p>
        </p:txBody>
      </p:sp>
    </p:spTree>
    <p:extLst>
      <p:ext uri="{BB962C8B-B14F-4D97-AF65-F5344CB8AC3E}">
        <p14:creationId xmlns:p14="http://schemas.microsoft.com/office/powerpoint/2010/main" val="59888303"/>
      </p:ext>
    </p:extLst>
  </p:cSld>
  <p:clrMapOvr>
    <a:masterClrMapping/>
  </p:clrMapOvr>
  <p:transition spd="med">
    <p:wipe di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89</a:t>
            </a:fld>
            <a:endParaRPr lang="zh-CN" altLang="en-US" dirty="0">
              <a:solidFill>
                <a:srgbClr val="C00000"/>
              </a:solidFill>
            </a:endParaRPr>
          </a:p>
        </p:txBody>
      </p:sp>
      <p:sp>
        <p:nvSpPr>
          <p:cNvPr id="53" name="Text Box 7"/>
          <p:cNvSpPr txBox="1">
            <a:spLocks noChangeArrowheads="1"/>
          </p:cNvSpPr>
          <p:nvPr/>
        </p:nvSpPr>
        <p:spPr bwMode="auto">
          <a:xfrm>
            <a:off x="0" y="0"/>
            <a:ext cx="60111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墙</a:t>
            </a:r>
            <a:r>
              <a:rPr lang="zh-CN" altLang="en-US" sz="1800" b="1" kern="900" spc="130" dirty="0">
                <a:solidFill>
                  <a:srgbClr val="000066"/>
                </a:solidFill>
                <a:ea typeface="黑体" panose="02010609060101010101" pitchFamily="49" charset="-122"/>
                <a:cs typeface="Times New Roman" panose="02020603050405020304" pitchFamily="18" charset="0"/>
              </a:rPr>
              <a:t>后填土受限制</a:t>
            </a:r>
          </a:p>
          <a:p>
            <a:pPr eaLnBrk="1" fontAlgn="ctr" hangingPunct="1">
              <a:lnSpc>
                <a:spcPct val="100000"/>
              </a:lnSpc>
              <a:spcBef>
                <a:spcPct val="0"/>
              </a:spcBef>
              <a:spcAft>
                <a:spcPct val="0"/>
              </a:spcAft>
            </a:pPr>
            <a:endParaRPr lang="zh-CN" altLang="en-US" sz="1800" b="1" kern="900" spc="130" dirty="0">
              <a:solidFill>
                <a:srgbClr val="000066"/>
              </a:solidFill>
              <a:ea typeface="黑体" panose="02010609060101010101" pitchFamily="49" charset="-122"/>
              <a:cs typeface="Times New Roman" panose="02020603050405020304" pitchFamily="18" charset="0"/>
            </a:endParaRP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smtClean="0">
                <a:solidFill>
                  <a:srgbClr val="000066"/>
                </a:solidFill>
                <a:ea typeface="黑体" pitchFamily="2" charset="-122"/>
                <a:cs typeface="Times New Roman" panose="02020603050405020304" pitchFamily="18" charset="0"/>
              </a:rPr>
              <a:t>6.  </a:t>
            </a:r>
            <a:r>
              <a:rPr kumimoji="1" lang="zh-CN" altLang="en-US" sz="4000" b="1" dirty="0" smtClean="0">
                <a:solidFill>
                  <a:srgbClr val="000066"/>
                </a:solidFill>
                <a:ea typeface="黑体" pitchFamily="2" charset="-122"/>
                <a:cs typeface="Times New Roman" panose="02020603050405020304" pitchFamily="18" charset="0"/>
              </a:rPr>
              <a:t>墙</a:t>
            </a:r>
            <a:r>
              <a:rPr kumimoji="1" lang="zh-CN" altLang="en-US" sz="4000" b="1" dirty="0">
                <a:solidFill>
                  <a:srgbClr val="000066"/>
                </a:solidFill>
                <a:ea typeface="黑体" pitchFamily="2" charset="-122"/>
                <a:cs typeface="Times New Roman" panose="02020603050405020304" pitchFamily="18" charset="0"/>
              </a:rPr>
              <a:t>后填土受</a:t>
            </a:r>
            <a:r>
              <a:rPr kumimoji="1" lang="zh-CN" altLang="en-US" sz="4000" b="1" dirty="0" smtClean="0">
                <a:solidFill>
                  <a:srgbClr val="000066"/>
                </a:solidFill>
                <a:ea typeface="黑体" pitchFamily="2" charset="-122"/>
                <a:cs typeface="Times New Roman" panose="02020603050405020304" pitchFamily="18" charset="0"/>
              </a:rPr>
              <a:t>限制</a:t>
            </a:r>
            <a:endParaRPr kumimoji="1" lang="zh-CN" altLang="en-US" sz="4000" b="1" dirty="0">
              <a:solidFill>
                <a:srgbClr val="000066"/>
              </a:solidFill>
              <a:ea typeface="黑体" pitchFamily="2" charset="-122"/>
              <a:cs typeface="Times New Roman" panose="02020603050405020304" pitchFamily="18" charset="0"/>
            </a:endParaRPr>
          </a:p>
        </p:txBody>
      </p:sp>
      <p:sp>
        <p:nvSpPr>
          <p:cNvPr id="296" name="Rectangle 3"/>
          <p:cNvSpPr txBox="1">
            <a:spLocks noChangeArrowheads="1"/>
          </p:cNvSpPr>
          <p:nvPr/>
        </p:nvSpPr>
        <p:spPr bwMode="auto">
          <a:xfrm>
            <a:off x="413481" y="616528"/>
            <a:ext cx="5299256"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墙</a:t>
            </a:r>
            <a:r>
              <a:rPr lang="zh-CN" altLang="en-US" sz="2800" b="1" kern="0" dirty="0">
                <a:solidFill>
                  <a:srgbClr val="A50021"/>
                </a:solidFill>
                <a:latin typeface="微软雅黑" panose="020B0503020204020204" pitchFamily="34" charset="-122"/>
                <a:ea typeface="微软雅黑" panose="020B0503020204020204" pitchFamily="34" charset="-122"/>
              </a:rPr>
              <a:t>后填土受限制</a:t>
            </a:r>
          </a:p>
        </p:txBody>
      </p:sp>
      <p:sp>
        <p:nvSpPr>
          <p:cNvPr id="5" name="矩形 4"/>
          <p:cNvSpPr/>
          <p:nvPr/>
        </p:nvSpPr>
        <p:spPr>
          <a:xfrm>
            <a:off x="4687057" y="3795726"/>
            <a:ext cx="3280150" cy="1697901"/>
          </a:xfrm>
          <a:prstGeom prst="rect">
            <a:avLst/>
          </a:prstGeom>
        </p:spPr>
        <p:txBody>
          <a:bodyPr wrap="square">
            <a:spAutoFit/>
          </a:bodyPr>
          <a:lstStyle/>
          <a:p>
            <a:pPr marL="342900" indent="-342900" eaLnBrk="1" hangingPunct="1">
              <a:lnSpc>
                <a:spcPct val="125000"/>
              </a:lnSpc>
              <a:spcBef>
                <a:spcPts val="300"/>
              </a:spcBef>
              <a:spcAft>
                <a:spcPts val="300"/>
              </a:spcAft>
              <a:buClr>
                <a:srgbClr val="C00000"/>
              </a:buClr>
              <a:buSzPct val="130000"/>
              <a:buFont typeface="Wingdings" panose="05000000000000000000" pitchFamily="2" charset="2"/>
              <a:buChar char="F"/>
            </a:pPr>
            <a:r>
              <a:rPr kumimoji="1" lang="zh-CN" altLang="en-US" sz="2200" b="1" dirty="0" smtClean="0">
                <a:solidFill>
                  <a:srgbClr val="000066"/>
                </a:solidFill>
                <a:ea typeface="幼圆" panose="02010509060101010101" pitchFamily="49" charset="-122"/>
                <a:cs typeface="Times New Roman" panose="02020603050405020304" pitchFamily="18" charset="0"/>
              </a:rPr>
              <a:t> 滑</a:t>
            </a:r>
            <a:r>
              <a:rPr kumimoji="1" lang="zh-CN" altLang="en-US" sz="2200" b="1" dirty="0">
                <a:solidFill>
                  <a:srgbClr val="000066"/>
                </a:solidFill>
                <a:ea typeface="幼圆" panose="02010509060101010101" pitchFamily="49" charset="-122"/>
                <a:cs typeface="Times New Roman" panose="02020603050405020304" pitchFamily="18" charset="0"/>
              </a:rPr>
              <a:t>裂面</a:t>
            </a:r>
            <a:r>
              <a:rPr kumimoji="1" lang="en-US" altLang="zh-CN" sz="2200" b="1" dirty="0">
                <a:solidFill>
                  <a:srgbClr val="000066"/>
                </a:solidFill>
                <a:ea typeface="幼圆" panose="02010509060101010101" pitchFamily="49" charset="-122"/>
                <a:cs typeface="Times New Roman" panose="02020603050405020304" pitchFamily="18" charset="0"/>
              </a:rPr>
              <a:t>BC</a:t>
            </a:r>
            <a:r>
              <a:rPr kumimoji="1" lang="zh-CN" altLang="en-US" sz="2200" b="1" dirty="0">
                <a:solidFill>
                  <a:srgbClr val="000066"/>
                </a:solidFill>
                <a:ea typeface="幼圆" panose="02010509060101010101" pitchFamily="49" charset="-122"/>
                <a:cs typeface="Times New Roman" panose="02020603050405020304" pitchFamily="18" charset="0"/>
              </a:rPr>
              <a:t>可能的位置</a:t>
            </a:r>
          </a:p>
          <a:p>
            <a:pPr marL="715963" lvl="1" indent="-258763">
              <a:lnSpc>
                <a:spcPct val="100000"/>
              </a:lnSpc>
              <a:spcBef>
                <a:spcPts val="200"/>
              </a:spcBef>
              <a:spcAft>
                <a:spcPts val="200"/>
              </a:spcAft>
              <a:buClr>
                <a:srgbClr val="C00000"/>
              </a:buClr>
              <a:buSzPct val="130000"/>
              <a:buFont typeface="Arial" panose="020B0604020202020204" pitchFamily="34" charset="0"/>
              <a:buChar char="•"/>
            </a:pPr>
            <a:r>
              <a:rPr kumimoji="1" lang="zh-CN" altLang="en-US" sz="2200" b="1" dirty="0" smtClean="0">
                <a:solidFill>
                  <a:srgbClr val="000066"/>
                </a:solidFill>
                <a:ea typeface="幼圆" panose="02010509060101010101" pitchFamily="49" charset="-122"/>
                <a:cs typeface="Times New Roman" panose="02020603050405020304" pitchFamily="18" charset="0"/>
              </a:rPr>
              <a:t>在</a:t>
            </a:r>
            <a:r>
              <a:rPr kumimoji="1" lang="zh-CN" altLang="en-US" sz="2200" b="1" dirty="0">
                <a:solidFill>
                  <a:srgbClr val="000066"/>
                </a:solidFill>
                <a:ea typeface="幼圆" panose="02010509060101010101" pitchFamily="49" charset="-122"/>
                <a:cs typeface="Times New Roman" panose="02020603050405020304" pitchFamily="18" charset="0"/>
              </a:rPr>
              <a:t>填土中</a:t>
            </a:r>
          </a:p>
          <a:p>
            <a:pPr marL="715963" lvl="1" indent="-258763">
              <a:lnSpc>
                <a:spcPct val="100000"/>
              </a:lnSpc>
              <a:spcBef>
                <a:spcPts val="200"/>
              </a:spcBef>
              <a:spcAft>
                <a:spcPts val="200"/>
              </a:spcAft>
              <a:buClr>
                <a:srgbClr val="C00000"/>
              </a:buClr>
              <a:buSzPct val="130000"/>
              <a:buFont typeface="Arial" panose="020B0604020202020204" pitchFamily="34" charset="0"/>
              <a:buChar char="•"/>
            </a:pPr>
            <a:r>
              <a:rPr kumimoji="1" lang="zh-CN" altLang="en-US" sz="2200" b="1" dirty="0" smtClean="0">
                <a:solidFill>
                  <a:srgbClr val="000066"/>
                </a:solidFill>
                <a:ea typeface="幼圆" panose="02010509060101010101" pitchFamily="49" charset="-122"/>
                <a:cs typeface="Times New Roman" panose="02020603050405020304" pitchFamily="18" charset="0"/>
              </a:rPr>
              <a:t>在</a:t>
            </a:r>
            <a:r>
              <a:rPr kumimoji="1" lang="zh-CN" altLang="en-US" sz="2200" b="1" dirty="0">
                <a:solidFill>
                  <a:srgbClr val="000066"/>
                </a:solidFill>
                <a:ea typeface="幼圆" panose="02010509060101010101" pitchFamily="49" charset="-122"/>
                <a:cs typeface="Times New Roman" panose="02020603050405020304" pitchFamily="18" charset="0"/>
              </a:rPr>
              <a:t>老土中</a:t>
            </a:r>
          </a:p>
          <a:p>
            <a:pPr marL="715963" lvl="1" indent="-258763">
              <a:lnSpc>
                <a:spcPct val="100000"/>
              </a:lnSpc>
              <a:spcBef>
                <a:spcPts val="200"/>
              </a:spcBef>
              <a:spcAft>
                <a:spcPts val="200"/>
              </a:spcAft>
              <a:buClr>
                <a:srgbClr val="C00000"/>
              </a:buClr>
              <a:buSzPct val="130000"/>
              <a:buFont typeface="Arial" panose="020B0604020202020204" pitchFamily="34" charset="0"/>
              <a:buChar char="•"/>
            </a:pPr>
            <a:r>
              <a:rPr kumimoji="1" lang="zh-CN" altLang="en-US" sz="2200" b="1" dirty="0" smtClean="0">
                <a:solidFill>
                  <a:srgbClr val="000066"/>
                </a:solidFill>
                <a:ea typeface="幼圆" panose="02010509060101010101" pitchFamily="49" charset="-122"/>
                <a:cs typeface="Times New Roman" panose="02020603050405020304" pitchFamily="18" charset="0"/>
              </a:rPr>
              <a:t>在界面</a:t>
            </a:r>
            <a:r>
              <a:rPr kumimoji="1" lang="zh-CN" altLang="en-US" sz="2200" b="1" dirty="0">
                <a:solidFill>
                  <a:srgbClr val="000066"/>
                </a:solidFill>
                <a:ea typeface="幼圆" panose="02010509060101010101" pitchFamily="49" charset="-122"/>
                <a:cs typeface="Times New Roman" panose="02020603050405020304" pitchFamily="18" charset="0"/>
              </a:rPr>
              <a:t>上</a:t>
            </a:r>
          </a:p>
        </p:txBody>
      </p:sp>
      <p:grpSp>
        <p:nvGrpSpPr>
          <p:cNvPr id="14" name="组合 13"/>
          <p:cNvGrpSpPr/>
          <p:nvPr/>
        </p:nvGrpSpPr>
        <p:grpSpPr>
          <a:xfrm>
            <a:off x="4609740" y="866694"/>
            <a:ext cx="3306086" cy="2920820"/>
            <a:chOff x="4609740" y="676602"/>
            <a:chExt cx="3306086" cy="3309688"/>
          </a:xfrm>
        </p:grpSpPr>
        <p:sp>
          <p:nvSpPr>
            <p:cNvPr id="8" name="任意多边形 7"/>
            <p:cNvSpPr/>
            <p:nvPr/>
          </p:nvSpPr>
          <p:spPr bwMode="auto">
            <a:xfrm>
              <a:off x="5757147" y="769119"/>
              <a:ext cx="2158679" cy="2870522"/>
            </a:xfrm>
            <a:custGeom>
              <a:avLst/>
              <a:gdLst>
                <a:gd name="connsiteX0" fmla="*/ 0 w 2158679"/>
                <a:gd name="connsiteY0" fmla="*/ 2870522 h 2870522"/>
                <a:gd name="connsiteX1" fmla="*/ 2158679 w 2158679"/>
                <a:gd name="connsiteY1" fmla="*/ 2870522 h 2870522"/>
                <a:gd name="connsiteX2" fmla="*/ 2158679 w 2158679"/>
                <a:gd name="connsiteY2" fmla="*/ 0 h 2870522"/>
                <a:gd name="connsiteX3" fmla="*/ 1053296 w 2158679"/>
                <a:gd name="connsiteY3" fmla="*/ 318304 h 2870522"/>
                <a:gd name="connsiteX4" fmla="*/ 0 w 2158679"/>
                <a:gd name="connsiteY4" fmla="*/ 2870522 h 2870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679" h="2870522">
                  <a:moveTo>
                    <a:pt x="0" y="2870522"/>
                  </a:moveTo>
                  <a:lnTo>
                    <a:pt x="2158679" y="2870522"/>
                  </a:lnTo>
                  <a:lnTo>
                    <a:pt x="2158679" y="0"/>
                  </a:lnTo>
                  <a:lnTo>
                    <a:pt x="1053296" y="318304"/>
                  </a:lnTo>
                  <a:lnTo>
                    <a:pt x="0" y="2870522"/>
                  </a:lnTo>
                  <a:close/>
                </a:path>
              </a:pathLst>
            </a:custGeom>
            <a:solidFill>
              <a:srgbClr val="CC9900"/>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7" name="Text Box 75"/>
            <p:cNvSpPr txBox="1">
              <a:spLocks noChangeArrowheads="1"/>
            </p:cNvSpPr>
            <p:nvPr/>
          </p:nvSpPr>
          <p:spPr bwMode="auto">
            <a:xfrm>
              <a:off x="4973770" y="1127315"/>
              <a:ext cx="380431"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A</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sp>
          <p:nvSpPr>
            <p:cNvPr id="59" name="任意多边形 58"/>
            <p:cNvSpPr/>
            <p:nvPr/>
          </p:nvSpPr>
          <p:spPr bwMode="auto">
            <a:xfrm>
              <a:off x="5274178" y="1101599"/>
              <a:ext cx="1525639" cy="2523140"/>
            </a:xfrm>
            <a:custGeom>
              <a:avLst/>
              <a:gdLst>
                <a:gd name="connsiteX0" fmla="*/ 0 w 1094611"/>
                <a:gd name="connsiteY0" fmla="*/ 400468 h 1808777"/>
                <a:gd name="connsiteX1" fmla="*/ 290339 w 1094611"/>
                <a:gd name="connsiteY1" fmla="*/ 1808777 h 1808777"/>
                <a:gd name="connsiteX2" fmla="*/ 1094611 w 1094611"/>
                <a:gd name="connsiteY2" fmla="*/ 0 h 1808777"/>
                <a:gd name="connsiteX3" fmla="*/ 814284 w 1094611"/>
                <a:gd name="connsiteY3" fmla="*/ 70082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814284 w 1094611"/>
                <a:gd name="connsiteY4" fmla="*/ 70082 h 1808777"/>
                <a:gd name="connsiteX5" fmla="*/ 530619 w 1094611"/>
                <a:gd name="connsiteY5" fmla="*/ 176873 h 1808777"/>
                <a:gd name="connsiteX6" fmla="*/ 240281 w 1094611"/>
                <a:gd name="connsiteY6" fmla="*/ 290339 h 1808777"/>
                <a:gd name="connsiteX7" fmla="*/ 0 w 1094611"/>
                <a:gd name="connsiteY7"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824846 w 1094611"/>
                <a:gd name="connsiteY3" fmla="*/ 57836 h 1808777"/>
                <a:gd name="connsiteX4" fmla="*/ 530619 w 1094611"/>
                <a:gd name="connsiteY4" fmla="*/ 176873 h 1808777"/>
                <a:gd name="connsiteX5" fmla="*/ 240281 w 1094611"/>
                <a:gd name="connsiteY5" fmla="*/ 290339 h 1808777"/>
                <a:gd name="connsiteX6" fmla="*/ 0 w 1094611"/>
                <a:gd name="connsiteY6"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530619 w 1094611"/>
                <a:gd name="connsiteY3" fmla="*/ 176873 h 1808777"/>
                <a:gd name="connsiteX4" fmla="*/ 240281 w 1094611"/>
                <a:gd name="connsiteY4" fmla="*/ 290339 h 1808777"/>
                <a:gd name="connsiteX5" fmla="*/ 0 w 1094611"/>
                <a:gd name="connsiteY5"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240281 w 1094611"/>
                <a:gd name="connsiteY3" fmla="*/ 290339 h 1808777"/>
                <a:gd name="connsiteX4" fmla="*/ 0 w 1094611"/>
                <a:gd name="connsiteY4" fmla="*/ 400468 h 1808777"/>
                <a:gd name="connsiteX0" fmla="*/ 0 w 1094611"/>
                <a:gd name="connsiteY0" fmla="*/ 400468 h 1808777"/>
                <a:gd name="connsiteX1" fmla="*/ 290339 w 1094611"/>
                <a:gd name="connsiteY1" fmla="*/ 1808777 h 1808777"/>
                <a:gd name="connsiteX2" fmla="*/ 1094611 w 1094611"/>
                <a:gd name="connsiteY2" fmla="*/ 0 h 1808777"/>
                <a:gd name="connsiteX3" fmla="*/ 0 w 1094611"/>
                <a:gd name="connsiteY3" fmla="*/ 400468 h 1808777"/>
                <a:gd name="connsiteX0" fmla="*/ 0 w 927307"/>
                <a:gd name="connsiteY0" fmla="*/ 334124 h 1742433"/>
                <a:gd name="connsiteX1" fmla="*/ 290339 w 927307"/>
                <a:gd name="connsiteY1" fmla="*/ 1742433 h 1742433"/>
                <a:gd name="connsiteX2" fmla="*/ 927307 w 927307"/>
                <a:gd name="connsiteY2" fmla="*/ 0 h 1742433"/>
                <a:gd name="connsiteX3" fmla="*/ 0 w 927307"/>
                <a:gd name="connsiteY3" fmla="*/ 334124 h 1742433"/>
              </a:gdLst>
              <a:ahLst/>
              <a:cxnLst>
                <a:cxn ang="0">
                  <a:pos x="connsiteX0" y="connsiteY0"/>
                </a:cxn>
                <a:cxn ang="0">
                  <a:pos x="connsiteX1" y="connsiteY1"/>
                </a:cxn>
                <a:cxn ang="0">
                  <a:pos x="connsiteX2" y="connsiteY2"/>
                </a:cxn>
                <a:cxn ang="0">
                  <a:pos x="connsiteX3" y="connsiteY3"/>
                </a:cxn>
              </a:cxnLst>
              <a:rect l="l" t="t" r="r" b="b"/>
              <a:pathLst>
                <a:path w="927307" h="1742433">
                  <a:moveTo>
                    <a:pt x="0" y="334124"/>
                  </a:moveTo>
                  <a:lnTo>
                    <a:pt x="290339" y="1742433"/>
                  </a:lnTo>
                  <a:lnTo>
                    <a:pt x="927307" y="0"/>
                  </a:lnTo>
                  <a:lnTo>
                    <a:pt x="0" y="334124"/>
                  </a:lnTo>
                  <a:close/>
                </a:path>
              </a:pathLst>
            </a:custGeom>
            <a:solidFill>
              <a:schemeClr val="accent6">
                <a:lumMod val="40000"/>
                <a:lumOff val="60000"/>
              </a:schemeClr>
            </a:solidFill>
            <a:ln w="12700"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1" name="任意多边形 60"/>
            <p:cNvSpPr/>
            <p:nvPr/>
          </p:nvSpPr>
          <p:spPr bwMode="auto">
            <a:xfrm>
              <a:off x="4609740" y="1582009"/>
              <a:ext cx="1130664" cy="2059968"/>
            </a:xfrm>
            <a:custGeom>
              <a:avLst/>
              <a:gdLst>
                <a:gd name="connsiteX0" fmla="*/ 685110 w 685110"/>
                <a:gd name="connsiteY0" fmla="*/ 1419944 h 1419944"/>
                <a:gd name="connsiteX1" fmla="*/ 406094 w 685110"/>
                <a:gd name="connsiteY1" fmla="*/ 0 h 1419944"/>
                <a:gd name="connsiteX2" fmla="*/ 121552 w 685110"/>
                <a:gd name="connsiteY2" fmla="*/ 0 h 1419944"/>
                <a:gd name="connsiteX3" fmla="*/ 0 w 685110"/>
                <a:gd name="connsiteY3" fmla="*/ 1414419 h 1419944"/>
                <a:gd name="connsiteX4" fmla="*/ 685110 w 685110"/>
                <a:gd name="connsiteY4" fmla="*/ 1419944 h 14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10" h="1419944">
                  <a:moveTo>
                    <a:pt x="685110" y="1419944"/>
                  </a:moveTo>
                  <a:lnTo>
                    <a:pt x="406094" y="0"/>
                  </a:lnTo>
                  <a:lnTo>
                    <a:pt x="121552" y="0"/>
                  </a:lnTo>
                  <a:lnTo>
                    <a:pt x="0" y="1414419"/>
                  </a:lnTo>
                  <a:lnTo>
                    <a:pt x="685110" y="1419944"/>
                  </a:lnTo>
                  <a:close/>
                </a:path>
              </a:pathLst>
            </a:custGeom>
            <a:pattFill prst="ltDnDiag">
              <a:fgClr>
                <a:srgbClr val="9966FF"/>
              </a:fgClr>
              <a:bgClr>
                <a:schemeClr val="bg1"/>
              </a:bgClr>
            </a:pattFill>
            <a:ln w="19050"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65" name="Line 70"/>
            <p:cNvSpPr>
              <a:spLocks noChangeShapeType="1"/>
            </p:cNvSpPr>
            <p:nvPr/>
          </p:nvSpPr>
          <p:spPr bwMode="auto">
            <a:xfrm flipV="1">
              <a:off x="5751132" y="1095031"/>
              <a:ext cx="1067068" cy="2543604"/>
            </a:xfrm>
            <a:prstGeom prst="line">
              <a:avLst/>
            </a:prstGeom>
            <a:noFill/>
            <a:ln w="1905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72" name="直接连接符 71"/>
            <p:cNvCxnSpPr/>
            <p:nvPr/>
          </p:nvCxnSpPr>
          <p:spPr bwMode="auto">
            <a:xfrm>
              <a:off x="5232547" y="3640955"/>
              <a:ext cx="2679543"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75"/>
            <p:cNvSpPr txBox="1">
              <a:spLocks noChangeArrowheads="1"/>
            </p:cNvSpPr>
            <p:nvPr/>
          </p:nvSpPr>
          <p:spPr bwMode="auto">
            <a:xfrm>
              <a:off x="6576395" y="676602"/>
              <a:ext cx="39957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C</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cxnSp>
          <p:nvCxnSpPr>
            <p:cNvPr id="95" name="直接连接符 94"/>
            <p:cNvCxnSpPr>
              <a:endCxn id="8" idx="2"/>
            </p:cNvCxnSpPr>
            <p:nvPr/>
          </p:nvCxnSpPr>
          <p:spPr bwMode="auto">
            <a:xfrm flipV="1">
              <a:off x="5269929" y="769119"/>
              <a:ext cx="2645897" cy="81001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1" name="Group 12"/>
            <p:cNvGrpSpPr>
              <a:grpSpLocks/>
            </p:cNvGrpSpPr>
            <p:nvPr/>
          </p:nvGrpSpPr>
          <p:grpSpPr bwMode="auto">
            <a:xfrm rot="20586691">
              <a:off x="7185861" y="931299"/>
              <a:ext cx="454614" cy="82278"/>
              <a:chOff x="2274" y="1204"/>
              <a:chExt cx="270" cy="44"/>
            </a:xfrm>
          </p:grpSpPr>
          <p:sp>
            <p:nvSpPr>
              <p:cNvPr id="122"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7" name="Group 12"/>
            <p:cNvGrpSpPr>
              <a:grpSpLocks/>
            </p:cNvGrpSpPr>
            <p:nvPr/>
          </p:nvGrpSpPr>
          <p:grpSpPr bwMode="auto">
            <a:xfrm rot="20586691">
              <a:off x="5877185" y="1319874"/>
              <a:ext cx="454614" cy="82278"/>
              <a:chOff x="2274" y="1204"/>
              <a:chExt cx="270" cy="44"/>
            </a:xfrm>
          </p:grpSpPr>
          <p:sp>
            <p:nvSpPr>
              <p:cNvPr id="142" name="Line 13"/>
              <p:cNvSpPr>
                <a:spLocks noChangeShapeType="1"/>
              </p:cNvSpPr>
              <p:nvPr/>
            </p:nvSpPr>
            <p:spPr bwMode="auto">
              <a:xfrm flipH="1">
                <a:off x="2274" y="1210"/>
                <a:ext cx="28"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 name="Line 14"/>
              <p:cNvSpPr>
                <a:spLocks noChangeShapeType="1"/>
              </p:cNvSpPr>
              <p:nvPr/>
            </p:nvSpPr>
            <p:spPr bwMode="auto">
              <a:xfrm flipH="1">
                <a:off x="2304" y="1214"/>
                <a:ext cx="34"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 name="Line 15"/>
              <p:cNvSpPr>
                <a:spLocks noChangeShapeType="1"/>
              </p:cNvSpPr>
              <p:nvPr/>
            </p:nvSpPr>
            <p:spPr bwMode="auto">
              <a:xfrm flipH="1">
                <a:off x="2346" y="1206"/>
                <a:ext cx="3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Line 16"/>
              <p:cNvSpPr>
                <a:spLocks noChangeShapeType="1"/>
              </p:cNvSpPr>
              <p:nvPr/>
            </p:nvSpPr>
            <p:spPr bwMode="auto">
              <a:xfrm>
                <a:off x="2376" y="1206"/>
                <a:ext cx="40" cy="3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 name="Line 17"/>
              <p:cNvSpPr>
                <a:spLocks noChangeShapeType="1"/>
              </p:cNvSpPr>
              <p:nvPr/>
            </p:nvSpPr>
            <p:spPr bwMode="auto">
              <a:xfrm>
                <a:off x="2420" y="1210"/>
                <a:ext cx="40" cy="3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 name="Line 18"/>
              <p:cNvSpPr>
                <a:spLocks noChangeShapeType="1"/>
              </p:cNvSpPr>
              <p:nvPr/>
            </p:nvSpPr>
            <p:spPr bwMode="auto">
              <a:xfrm flipV="1">
                <a:off x="2460" y="1204"/>
                <a:ext cx="46" cy="4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 name="Line 19"/>
              <p:cNvSpPr>
                <a:spLocks noChangeShapeType="1"/>
              </p:cNvSpPr>
              <p:nvPr/>
            </p:nvSpPr>
            <p:spPr bwMode="auto">
              <a:xfrm flipV="1">
                <a:off x="2512" y="1208"/>
                <a:ext cx="32" cy="3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8" name="Rectangle 102"/>
            <p:cNvSpPr>
              <a:spLocks noChangeArrowheads="1"/>
            </p:cNvSpPr>
            <p:nvPr/>
          </p:nvSpPr>
          <p:spPr bwMode="auto">
            <a:xfrm>
              <a:off x="5268413" y="1576798"/>
              <a:ext cx="104493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algn="ctr" eaLnBrk="1" hangingPunct="1">
                <a:lnSpc>
                  <a:spcPct val="100000"/>
                </a:lnSpc>
                <a:spcBef>
                  <a:spcPts val="0"/>
                </a:spcBef>
                <a:spcAft>
                  <a:spcPts val="0"/>
                </a:spcAft>
              </a:pPr>
              <a:r>
                <a:rPr kumimoji="1" lang="zh-CN" altLang="en-US" sz="2200" b="1" dirty="0" smtClean="0">
                  <a:solidFill>
                    <a:srgbClr val="993300"/>
                  </a:solidFill>
                  <a:latin typeface="幼圆" panose="02010509060101010101" pitchFamily="49" charset="-122"/>
                  <a:ea typeface="幼圆" panose="02010509060101010101" pitchFamily="49" charset="-122"/>
                </a:rPr>
                <a:t>新</a:t>
              </a:r>
              <a:endParaRPr kumimoji="1" lang="en-US" altLang="zh-CN" sz="2200" b="1" dirty="0" smtClean="0">
                <a:solidFill>
                  <a:srgbClr val="993300"/>
                </a:solidFill>
                <a:latin typeface="幼圆" panose="02010509060101010101" pitchFamily="49" charset="-122"/>
                <a:ea typeface="幼圆" panose="02010509060101010101" pitchFamily="49" charset="-122"/>
              </a:endParaRPr>
            </a:p>
            <a:p>
              <a:pPr algn="ctr" eaLnBrk="1" hangingPunct="1">
                <a:lnSpc>
                  <a:spcPct val="100000"/>
                </a:lnSpc>
                <a:spcBef>
                  <a:spcPts val="0"/>
                </a:spcBef>
                <a:spcAft>
                  <a:spcPts val="0"/>
                </a:spcAft>
              </a:pPr>
              <a:r>
                <a:rPr kumimoji="1" lang="zh-CN" altLang="en-US" sz="2200" b="1" dirty="0" smtClean="0">
                  <a:solidFill>
                    <a:srgbClr val="993300"/>
                  </a:solidFill>
                  <a:latin typeface="幼圆" panose="02010509060101010101" pitchFamily="49" charset="-122"/>
                  <a:ea typeface="幼圆" panose="02010509060101010101" pitchFamily="49" charset="-122"/>
                </a:rPr>
                <a:t>填</a:t>
              </a:r>
              <a:endParaRPr kumimoji="1" lang="en-US" altLang="zh-CN" sz="2200" b="1" dirty="0" smtClean="0">
                <a:solidFill>
                  <a:srgbClr val="993300"/>
                </a:solidFill>
                <a:latin typeface="幼圆" panose="02010509060101010101" pitchFamily="49" charset="-122"/>
                <a:ea typeface="幼圆" panose="02010509060101010101" pitchFamily="49" charset="-122"/>
              </a:endParaRPr>
            </a:p>
            <a:p>
              <a:pPr algn="ctr" eaLnBrk="1" hangingPunct="1">
                <a:lnSpc>
                  <a:spcPct val="100000"/>
                </a:lnSpc>
                <a:spcBef>
                  <a:spcPts val="0"/>
                </a:spcBef>
                <a:spcAft>
                  <a:spcPts val="0"/>
                </a:spcAft>
              </a:pPr>
              <a:r>
                <a:rPr kumimoji="1" lang="zh-CN" altLang="en-US" sz="2200" b="1" dirty="0" smtClean="0">
                  <a:solidFill>
                    <a:srgbClr val="993300"/>
                  </a:solidFill>
                  <a:latin typeface="幼圆" panose="02010509060101010101" pitchFamily="49" charset="-122"/>
                  <a:ea typeface="幼圆" panose="02010509060101010101" pitchFamily="49" charset="-122"/>
                </a:rPr>
                <a:t>土</a:t>
              </a:r>
              <a:endParaRPr kumimoji="1" lang="zh-CN" altLang="en-US" sz="2200" b="1" i="1" baseline="-25000" dirty="0">
                <a:solidFill>
                  <a:srgbClr val="993300"/>
                </a:solidFill>
                <a:latin typeface="幼圆" panose="02010509060101010101" pitchFamily="49" charset="-122"/>
                <a:ea typeface="幼圆" panose="02010509060101010101" pitchFamily="49" charset="-122"/>
              </a:endParaRPr>
            </a:p>
          </p:txBody>
        </p:sp>
        <p:sp>
          <p:nvSpPr>
            <p:cNvPr id="219" name="Rectangle 103"/>
            <p:cNvSpPr>
              <a:spLocks noChangeArrowheads="1"/>
            </p:cNvSpPr>
            <p:nvPr/>
          </p:nvSpPr>
          <p:spPr bwMode="auto">
            <a:xfrm>
              <a:off x="6533330" y="2486291"/>
              <a:ext cx="972709" cy="48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200" b="1" dirty="0" smtClean="0">
                  <a:solidFill>
                    <a:srgbClr val="000066"/>
                  </a:solidFill>
                  <a:latin typeface="幼圆" panose="02010509060101010101" pitchFamily="49" charset="-122"/>
                  <a:ea typeface="幼圆" panose="02010509060101010101" pitchFamily="49" charset="-122"/>
                </a:rPr>
                <a:t>老 土</a:t>
              </a:r>
              <a:endParaRPr kumimoji="1" lang="zh-CN" altLang="en-US" sz="2200" b="1" baseline="-25000" dirty="0">
                <a:solidFill>
                  <a:srgbClr val="000066"/>
                </a:solidFill>
                <a:latin typeface="幼圆" panose="02010509060101010101" pitchFamily="49" charset="-122"/>
                <a:ea typeface="幼圆" panose="02010509060101010101" pitchFamily="49" charset="-122"/>
              </a:endParaRPr>
            </a:p>
          </p:txBody>
        </p:sp>
        <p:cxnSp>
          <p:nvCxnSpPr>
            <p:cNvPr id="3" name="直接连接符 2"/>
            <p:cNvCxnSpPr>
              <a:stCxn id="59" idx="1"/>
            </p:cNvCxnSpPr>
            <p:nvPr/>
          </p:nvCxnSpPr>
          <p:spPr bwMode="auto">
            <a:xfrm flipV="1">
              <a:off x="5751854" y="1214182"/>
              <a:ext cx="683457" cy="2410557"/>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直接连接符 221"/>
            <p:cNvCxnSpPr/>
            <p:nvPr/>
          </p:nvCxnSpPr>
          <p:spPr bwMode="auto">
            <a:xfrm flipV="1">
              <a:off x="5751854" y="977464"/>
              <a:ext cx="1538939" cy="2653062"/>
            </a:xfrm>
            <a:prstGeom prst="line">
              <a:avLst/>
            </a:prstGeom>
            <a:noFill/>
            <a:ln w="19050"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4" name="Text Box 75"/>
            <p:cNvSpPr txBox="1">
              <a:spLocks noChangeArrowheads="1"/>
            </p:cNvSpPr>
            <p:nvPr/>
          </p:nvSpPr>
          <p:spPr bwMode="auto">
            <a:xfrm>
              <a:off x="5573258" y="3568419"/>
              <a:ext cx="399579" cy="41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000" b="1" dirty="0" smtClean="0">
                  <a:solidFill>
                    <a:srgbClr val="000066"/>
                  </a:solidFill>
                  <a:latin typeface="Times New Roman" panose="02020603050405020304" pitchFamily="18" charset="0"/>
                  <a:sym typeface="Symbol" panose="05050102010706020507" pitchFamily="18" charset="2"/>
                </a:rPr>
                <a:t>B</a:t>
              </a:r>
              <a:endParaRPr kumimoji="1" lang="en-US" altLang="zh-CN" sz="2000" b="1" dirty="0">
                <a:solidFill>
                  <a:srgbClr val="000066"/>
                </a:solidFill>
                <a:latin typeface="Times New Roman" panose="02020603050405020304" pitchFamily="18" charset="0"/>
                <a:sym typeface="Symbol" panose="05050102010706020507" pitchFamily="18" charset="2"/>
              </a:endParaRPr>
            </a:p>
          </p:txBody>
        </p:sp>
      </p:grpSp>
      <p:pic>
        <p:nvPicPr>
          <p:cNvPr id="225" name="图片 2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974" y="1606163"/>
            <a:ext cx="2705042" cy="3606722"/>
          </a:xfrm>
          <a:prstGeom prst="rect">
            <a:avLst/>
          </a:prstGeom>
        </p:spPr>
      </p:pic>
    </p:spTree>
    <p:extLst>
      <p:ext uri="{BB962C8B-B14F-4D97-AF65-F5344CB8AC3E}">
        <p14:creationId xmlns:p14="http://schemas.microsoft.com/office/powerpoint/2010/main" val="1241460793"/>
      </p:ext>
    </p:extLst>
  </p:cSld>
  <p:clrMapOvr>
    <a:masterClrMapping/>
  </p:clrMapOvr>
  <p:transition spd="med">
    <p:wipe di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90</a:t>
            </a:fld>
            <a:endParaRPr lang="zh-CN" altLang="en-US" dirty="0">
              <a:solidFill>
                <a:srgbClr val="C00000"/>
              </a:solidFill>
            </a:endParaRPr>
          </a:p>
        </p:txBody>
      </p:sp>
      <p:sp>
        <p:nvSpPr>
          <p:cNvPr id="53" name="Text Box 7"/>
          <p:cNvSpPr txBox="1">
            <a:spLocks noChangeArrowheads="1"/>
          </p:cNvSpPr>
          <p:nvPr/>
        </p:nvSpPr>
        <p:spPr bwMode="auto">
          <a:xfrm>
            <a:off x="0" y="0"/>
            <a:ext cx="60111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加</a:t>
            </a:r>
            <a:r>
              <a:rPr lang="zh-CN" altLang="en-US" sz="1800" b="1" kern="900" spc="130" dirty="0">
                <a:solidFill>
                  <a:srgbClr val="000066"/>
                </a:solidFill>
                <a:ea typeface="黑体" panose="02010609060101010101" pitchFamily="49" charset="-122"/>
                <a:cs typeface="Times New Roman" panose="02020603050405020304" pitchFamily="18" charset="0"/>
              </a:rPr>
              <a:t>筋土挡墙</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7</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加</a:t>
            </a:r>
            <a:r>
              <a:rPr kumimoji="1" lang="zh-CN" altLang="en-US" sz="4000" b="1" dirty="0">
                <a:solidFill>
                  <a:srgbClr val="000066"/>
                </a:solidFill>
                <a:ea typeface="黑体" pitchFamily="2" charset="-122"/>
                <a:cs typeface="Times New Roman" panose="02020603050405020304" pitchFamily="18" charset="0"/>
              </a:rPr>
              <a:t>筋土挡墙</a:t>
            </a:r>
          </a:p>
        </p:txBody>
      </p:sp>
      <p:sp>
        <p:nvSpPr>
          <p:cNvPr id="296" name="Rectangle 3"/>
          <p:cNvSpPr txBox="1">
            <a:spLocks noChangeArrowheads="1"/>
          </p:cNvSpPr>
          <p:nvPr/>
        </p:nvSpPr>
        <p:spPr bwMode="auto">
          <a:xfrm>
            <a:off x="442977" y="616528"/>
            <a:ext cx="2646809"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工程实例</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pic>
        <p:nvPicPr>
          <p:cNvPr id="6" name="Picture 20" descr="挡土墙-土工格栅加筋"/>
          <p:cNvPicPr>
            <a:picLocks noChangeAspect="1" noChangeArrowheads="1"/>
          </p:cNvPicPr>
          <p:nvPr/>
        </p:nvPicPr>
        <p:blipFill>
          <a:blip r:embed="rId3" cstate="print">
            <a:extLst>
              <a:ext uri="{28A0092B-C50C-407E-A947-70E740481C1C}">
                <a14:useLocalDpi xmlns:a14="http://schemas.microsoft.com/office/drawing/2010/main" val="0"/>
              </a:ext>
            </a:extLst>
          </a:blip>
          <a:srcRect l="3346" t="7846" r="1306"/>
          <a:stretch>
            <a:fillRect/>
          </a:stretch>
        </p:blipFill>
        <p:spPr bwMode="auto">
          <a:xfrm>
            <a:off x="4355692" y="819902"/>
            <a:ext cx="3932904" cy="4860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1" descr="s14"/>
          <p:cNvPicPr>
            <a:picLocks noChangeAspect="1" noChangeArrowheads="1"/>
          </p:cNvPicPr>
          <p:nvPr/>
        </p:nvPicPr>
        <p:blipFill>
          <a:blip r:embed="rId4">
            <a:extLst>
              <a:ext uri="{28A0092B-C50C-407E-A947-70E740481C1C}">
                <a14:useLocalDpi xmlns:a14="http://schemas.microsoft.com/office/drawing/2010/main" val="0"/>
              </a:ext>
            </a:extLst>
          </a:blip>
          <a:srcRect l="1563" r="4688" b="4686"/>
          <a:stretch>
            <a:fillRect/>
          </a:stretch>
        </p:blipFill>
        <p:spPr bwMode="auto">
          <a:xfrm>
            <a:off x="722671" y="1408476"/>
            <a:ext cx="3192689" cy="196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2"/>
          <p:cNvPicPr>
            <a:picLocks noChangeAspect="1" noChangeArrowheads="1"/>
          </p:cNvPicPr>
          <p:nvPr/>
        </p:nvPicPr>
        <p:blipFill rotWithShape="1">
          <a:blip r:embed="rId5">
            <a:extLst>
              <a:ext uri="{28A0092B-C50C-407E-A947-70E740481C1C}">
                <a14:useLocalDpi xmlns:a14="http://schemas.microsoft.com/office/drawing/2010/main" val="0"/>
              </a:ext>
            </a:extLst>
          </a:blip>
          <a:srcRect b="4343"/>
          <a:stretch/>
        </p:blipFill>
        <p:spPr bwMode="auto">
          <a:xfrm>
            <a:off x="715297" y="3433714"/>
            <a:ext cx="3192689" cy="211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9113612"/>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ox(in)">
                                      <p:cBhvr>
                                        <p:cTn id="11" dur="500"/>
                                        <p:tgtEl>
                                          <p:spTgt spid="8"/>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91</a:t>
            </a:fld>
            <a:endParaRPr lang="zh-CN" altLang="en-US" dirty="0">
              <a:solidFill>
                <a:srgbClr val="C00000"/>
              </a:solidFill>
            </a:endParaRPr>
          </a:p>
        </p:txBody>
      </p:sp>
      <p:sp>
        <p:nvSpPr>
          <p:cNvPr id="53" name="Text Box 7"/>
          <p:cNvSpPr txBox="1">
            <a:spLocks noChangeArrowheads="1"/>
          </p:cNvSpPr>
          <p:nvPr/>
        </p:nvSpPr>
        <p:spPr bwMode="auto">
          <a:xfrm>
            <a:off x="0" y="0"/>
            <a:ext cx="60111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加</a:t>
            </a:r>
            <a:r>
              <a:rPr lang="zh-CN" altLang="en-US" sz="1800" b="1" kern="900" spc="130" dirty="0">
                <a:solidFill>
                  <a:srgbClr val="000066"/>
                </a:solidFill>
                <a:ea typeface="黑体" panose="02010609060101010101" pitchFamily="49" charset="-122"/>
                <a:cs typeface="Times New Roman" panose="02020603050405020304" pitchFamily="18" charset="0"/>
              </a:rPr>
              <a:t>筋土挡墙</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7</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加</a:t>
            </a:r>
            <a:r>
              <a:rPr kumimoji="1" lang="zh-CN" altLang="en-US" sz="4000" b="1" dirty="0">
                <a:solidFill>
                  <a:srgbClr val="000066"/>
                </a:solidFill>
                <a:ea typeface="黑体" pitchFamily="2" charset="-122"/>
                <a:cs typeface="Times New Roman" panose="02020603050405020304" pitchFamily="18" charset="0"/>
              </a:rPr>
              <a:t>筋土挡墙</a:t>
            </a:r>
          </a:p>
        </p:txBody>
      </p:sp>
      <p:sp>
        <p:nvSpPr>
          <p:cNvPr id="296" name="Rectangle 3"/>
          <p:cNvSpPr txBox="1">
            <a:spLocks noChangeArrowheads="1"/>
          </p:cNvSpPr>
          <p:nvPr/>
        </p:nvSpPr>
        <p:spPr bwMode="auto">
          <a:xfrm>
            <a:off x="442977" y="616528"/>
            <a:ext cx="370132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筋材的工作原理</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sp>
        <p:nvSpPr>
          <p:cNvPr id="11" name="Rectangle 6"/>
          <p:cNvSpPr>
            <a:spLocks noChangeArrowheads="1"/>
          </p:cNvSpPr>
          <p:nvPr/>
        </p:nvSpPr>
        <p:spPr bwMode="auto">
          <a:xfrm>
            <a:off x="1051635" y="2355834"/>
            <a:ext cx="125603" cy="2461696"/>
          </a:xfrm>
          <a:prstGeom prst="rect">
            <a:avLst/>
          </a:prstGeom>
          <a:pattFill prst="ltDnDiag">
            <a:fgClr>
              <a:srgbClr val="996600"/>
            </a:fgClr>
            <a:bgClr>
              <a:schemeClr val="bg1"/>
            </a:bgClr>
          </a:pattFill>
          <a:ln w="19050">
            <a:solidFill>
              <a:srgbClr val="000066"/>
            </a:solidFill>
            <a:miter lim="800000"/>
            <a:headEnd/>
            <a:tailEnd/>
          </a:ln>
          <a:effectLs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12" name="Line 7"/>
          <p:cNvSpPr>
            <a:spLocks noChangeShapeType="1"/>
          </p:cNvSpPr>
          <p:nvPr/>
        </p:nvSpPr>
        <p:spPr bwMode="auto">
          <a:xfrm>
            <a:off x="1177239" y="2352120"/>
            <a:ext cx="2669452" cy="0"/>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19" name="Line 13"/>
          <p:cNvSpPr>
            <a:spLocks noChangeShapeType="1"/>
          </p:cNvSpPr>
          <p:nvPr/>
        </p:nvSpPr>
        <p:spPr bwMode="auto">
          <a:xfrm>
            <a:off x="1177481" y="2735272"/>
            <a:ext cx="179617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0" name="Line 14"/>
          <p:cNvSpPr>
            <a:spLocks noChangeShapeType="1"/>
          </p:cNvSpPr>
          <p:nvPr/>
        </p:nvSpPr>
        <p:spPr bwMode="auto">
          <a:xfrm flipV="1">
            <a:off x="1166041" y="3118424"/>
            <a:ext cx="178473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1" name="Line 15"/>
          <p:cNvSpPr>
            <a:spLocks noChangeShapeType="1"/>
          </p:cNvSpPr>
          <p:nvPr/>
        </p:nvSpPr>
        <p:spPr bwMode="auto">
          <a:xfrm>
            <a:off x="1166041" y="3536407"/>
            <a:ext cx="180761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2" name="Line 16"/>
          <p:cNvSpPr>
            <a:spLocks noChangeShapeType="1"/>
          </p:cNvSpPr>
          <p:nvPr/>
        </p:nvSpPr>
        <p:spPr bwMode="auto">
          <a:xfrm flipV="1">
            <a:off x="1166041" y="3954391"/>
            <a:ext cx="179617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3" name="Line 17"/>
          <p:cNvSpPr>
            <a:spLocks noChangeShapeType="1"/>
          </p:cNvSpPr>
          <p:nvPr/>
        </p:nvSpPr>
        <p:spPr bwMode="auto">
          <a:xfrm flipV="1">
            <a:off x="1166041" y="4372375"/>
            <a:ext cx="177329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cxnSp>
        <p:nvCxnSpPr>
          <p:cNvPr id="3" name="直接连接符 2"/>
          <p:cNvCxnSpPr/>
          <p:nvPr/>
        </p:nvCxnSpPr>
        <p:spPr bwMode="auto">
          <a:xfrm flipV="1">
            <a:off x="1176905" y="2353588"/>
            <a:ext cx="1481358" cy="2458574"/>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组合 4"/>
          <p:cNvGrpSpPr/>
          <p:nvPr/>
        </p:nvGrpSpPr>
        <p:grpSpPr>
          <a:xfrm>
            <a:off x="1264587" y="4453340"/>
            <a:ext cx="1192571" cy="410882"/>
            <a:chOff x="1264587" y="4453340"/>
            <a:chExt cx="1192571" cy="410882"/>
          </a:xfrm>
        </p:grpSpPr>
        <p:sp>
          <p:nvSpPr>
            <p:cNvPr id="68" name="Text Box 40"/>
            <p:cNvSpPr txBox="1">
              <a:spLocks noChangeArrowheads="1"/>
            </p:cNvSpPr>
            <p:nvPr/>
          </p:nvSpPr>
          <p:spPr bwMode="auto">
            <a:xfrm>
              <a:off x="1389339" y="4453340"/>
              <a:ext cx="106781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i="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69" name="任意多边形 68"/>
            <p:cNvSpPr/>
            <p:nvPr/>
          </p:nvSpPr>
          <p:spPr bwMode="auto">
            <a:xfrm rot="472699">
              <a:off x="1264587" y="4645317"/>
              <a:ext cx="150882" cy="15390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12700"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grpSp>
      <p:grpSp>
        <p:nvGrpSpPr>
          <p:cNvPr id="2" name="组合 1"/>
          <p:cNvGrpSpPr/>
          <p:nvPr/>
        </p:nvGrpSpPr>
        <p:grpSpPr>
          <a:xfrm>
            <a:off x="2008863" y="3479918"/>
            <a:ext cx="963015" cy="118740"/>
            <a:chOff x="2008863" y="3479918"/>
            <a:chExt cx="963015" cy="118740"/>
          </a:xfrm>
        </p:grpSpPr>
        <p:cxnSp>
          <p:nvCxnSpPr>
            <p:cNvPr id="77" name="直接箭头连接符 76"/>
            <p:cNvCxnSpPr/>
            <p:nvPr/>
          </p:nvCxnSpPr>
          <p:spPr bwMode="auto">
            <a:xfrm>
              <a:off x="2008863" y="347991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箭头连接符 77"/>
            <p:cNvCxnSpPr/>
            <p:nvPr/>
          </p:nvCxnSpPr>
          <p:spPr bwMode="auto">
            <a:xfrm>
              <a:off x="2256630" y="347991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箭头连接符 78"/>
            <p:cNvCxnSpPr/>
            <p:nvPr/>
          </p:nvCxnSpPr>
          <p:spPr bwMode="auto">
            <a:xfrm>
              <a:off x="2504397" y="347991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直接箭头连接符 79"/>
            <p:cNvCxnSpPr/>
            <p:nvPr/>
          </p:nvCxnSpPr>
          <p:spPr bwMode="auto">
            <a:xfrm>
              <a:off x="2752164" y="347991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82"/>
            <p:cNvCxnSpPr/>
            <p:nvPr/>
          </p:nvCxnSpPr>
          <p:spPr bwMode="auto">
            <a:xfrm>
              <a:off x="2009794" y="359865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83"/>
            <p:cNvCxnSpPr/>
            <p:nvPr/>
          </p:nvCxnSpPr>
          <p:spPr bwMode="auto">
            <a:xfrm>
              <a:off x="2257561" y="359865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84"/>
            <p:cNvCxnSpPr/>
            <p:nvPr/>
          </p:nvCxnSpPr>
          <p:spPr bwMode="auto">
            <a:xfrm>
              <a:off x="2505328" y="359865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箭头连接符 85"/>
            <p:cNvCxnSpPr/>
            <p:nvPr/>
          </p:nvCxnSpPr>
          <p:spPr bwMode="auto">
            <a:xfrm>
              <a:off x="2753095" y="3598658"/>
              <a:ext cx="218783" cy="0"/>
            </a:xfrm>
            <a:prstGeom prst="straightConnector1">
              <a:avLst/>
            </a:prstGeom>
            <a:noFill/>
            <a:ln w="12700" cap="flat" cmpd="sng" algn="ctr">
              <a:solidFill>
                <a:srgbClr val="FF0000"/>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1186090" y="3480853"/>
            <a:ext cx="715248" cy="118740"/>
            <a:chOff x="1186090" y="3480853"/>
            <a:chExt cx="715248" cy="118740"/>
          </a:xfrm>
        </p:grpSpPr>
        <p:cxnSp>
          <p:nvCxnSpPr>
            <p:cNvPr id="87" name="直接箭头连接符 86"/>
            <p:cNvCxnSpPr/>
            <p:nvPr/>
          </p:nvCxnSpPr>
          <p:spPr bwMode="auto">
            <a:xfrm flipH="1">
              <a:off x="1186090" y="348085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87"/>
            <p:cNvCxnSpPr/>
            <p:nvPr/>
          </p:nvCxnSpPr>
          <p:spPr bwMode="auto">
            <a:xfrm flipH="1">
              <a:off x="1433857" y="348085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p:nvPr/>
          </p:nvCxnSpPr>
          <p:spPr bwMode="auto">
            <a:xfrm flipH="1">
              <a:off x="1681624" y="348085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箭头连接符 89"/>
            <p:cNvCxnSpPr/>
            <p:nvPr/>
          </p:nvCxnSpPr>
          <p:spPr bwMode="auto">
            <a:xfrm flipH="1">
              <a:off x="1187021" y="359959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箭头连接符 90"/>
            <p:cNvCxnSpPr/>
            <p:nvPr/>
          </p:nvCxnSpPr>
          <p:spPr bwMode="auto">
            <a:xfrm flipH="1">
              <a:off x="1434788" y="359959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箭头连接符 91"/>
            <p:cNvCxnSpPr/>
            <p:nvPr/>
          </p:nvCxnSpPr>
          <p:spPr bwMode="auto">
            <a:xfrm flipH="1">
              <a:off x="1682555" y="3599593"/>
              <a:ext cx="218783" cy="0"/>
            </a:xfrm>
            <a:prstGeom prst="straightConnector1">
              <a:avLst/>
            </a:prstGeom>
            <a:noFill/>
            <a:ln w="12700" cap="flat" cmpd="sng" algn="ctr">
              <a:solidFill>
                <a:srgbClr val="0000FF"/>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3" name="Line 89"/>
          <p:cNvSpPr>
            <a:spLocks noChangeAspect="1" noChangeShapeType="1"/>
          </p:cNvSpPr>
          <p:nvPr/>
        </p:nvSpPr>
        <p:spPr bwMode="auto">
          <a:xfrm rot="5400000">
            <a:off x="-501344" y="3583778"/>
            <a:ext cx="250007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Text Box 62"/>
          <p:cNvSpPr txBox="1">
            <a:spLocks noChangeArrowheads="1"/>
          </p:cNvSpPr>
          <p:nvPr/>
        </p:nvSpPr>
        <p:spPr bwMode="auto">
          <a:xfrm>
            <a:off x="278213" y="3327430"/>
            <a:ext cx="469208"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rPr>
              <a:t>H</a:t>
            </a:r>
            <a:endParaRPr kumimoji="1" lang="en-US" altLang="zh-CN" sz="2400" b="1" dirty="0">
              <a:solidFill>
                <a:srgbClr val="000066"/>
              </a:solidFill>
              <a:latin typeface="Times New Roman" panose="02020603050405020304" pitchFamily="18" charset="0"/>
            </a:endParaRPr>
          </a:p>
        </p:txBody>
      </p:sp>
      <p:cxnSp>
        <p:nvCxnSpPr>
          <p:cNvPr id="95" name="直接连接符 94"/>
          <p:cNvCxnSpPr/>
          <p:nvPr/>
        </p:nvCxnSpPr>
        <p:spPr bwMode="auto">
          <a:xfrm>
            <a:off x="628151" y="2345637"/>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629476" y="4833815"/>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Line 7"/>
          <p:cNvSpPr>
            <a:spLocks noChangeShapeType="1"/>
          </p:cNvSpPr>
          <p:nvPr/>
        </p:nvSpPr>
        <p:spPr bwMode="auto">
          <a:xfrm>
            <a:off x="1099051" y="4818350"/>
            <a:ext cx="2747640" cy="0"/>
          </a:xfrm>
          <a:prstGeom prst="line">
            <a:avLst/>
          </a:prstGeom>
          <a:noFill/>
          <a:ln w="190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grpSp>
        <p:nvGrpSpPr>
          <p:cNvPr id="100" name="Group 12"/>
          <p:cNvGrpSpPr>
            <a:grpSpLocks/>
          </p:cNvGrpSpPr>
          <p:nvPr/>
        </p:nvGrpSpPr>
        <p:grpSpPr bwMode="auto">
          <a:xfrm>
            <a:off x="1712671" y="2358122"/>
            <a:ext cx="454614" cy="73451"/>
            <a:chOff x="2274" y="1204"/>
            <a:chExt cx="270" cy="44"/>
          </a:xfrm>
        </p:grpSpPr>
        <p:sp>
          <p:nvSpPr>
            <p:cNvPr id="101"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8" name="Group 12"/>
          <p:cNvGrpSpPr>
            <a:grpSpLocks/>
          </p:cNvGrpSpPr>
          <p:nvPr/>
        </p:nvGrpSpPr>
        <p:grpSpPr bwMode="auto">
          <a:xfrm>
            <a:off x="2898740" y="2359448"/>
            <a:ext cx="454614" cy="73451"/>
            <a:chOff x="2274" y="1204"/>
            <a:chExt cx="270" cy="44"/>
          </a:xfrm>
        </p:grpSpPr>
        <p:sp>
          <p:nvSpPr>
            <p:cNvPr id="109" name="Line 13"/>
            <p:cNvSpPr>
              <a:spLocks noChangeShapeType="1"/>
            </p:cNvSpPr>
            <p:nvPr/>
          </p:nvSpPr>
          <p:spPr bwMode="auto">
            <a:xfrm flipH="1">
              <a:off x="2274" y="1210"/>
              <a:ext cx="28"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 name="Line 14"/>
            <p:cNvSpPr>
              <a:spLocks noChangeShapeType="1"/>
            </p:cNvSpPr>
            <p:nvPr/>
          </p:nvSpPr>
          <p:spPr bwMode="auto">
            <a:xfrm flipH="1">
              <a:off x="2304" y="1214"/>
              <a:ext cx="34"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15"/>
            <p:cNvSpPr>
              <a:spLocks noChangeShapeType="1"/>
            </p:cNvSpPr>
            <p:nvPr/>
          </p:nvSpPr>
          <p:spPr bwMode="auto">
            <a:xfrm flipH="1">
              <a:off x="2346" y="1206"/>
              <a:ext cx="3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 name="Line 16"/>
            <p:cNvSpPr>
              <a:spLocks noChangeShapeType="1"/>
            </p:cNvSpPr>
            <p:nvPr/>
          </p:nvSpPr>
          <p:spPr bwMode="auto">
            <a:xfrm>
              <a:off x="2376" y="1206"/>
              <a:ext cx="40" cy="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 name="Line 17"/>
            <p:cNvSpPr>
              <a:spLocks noChangeShapeType="1"/>
            </p:cNvSpPr>
            <p:nvPr/>
          </p:nvSpPr>
          <p:spPr bwMode="auto">
            <a:xfrm>
              <a:off x="2420" y="1210"/>
              <a:ext cx="40" cy="3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 name="Line 18"/>
            <p:cNvSpPr>
              <a:spLocks noChangeShapeType="1"/>
            </p:cNvSpPr>
            <p:nvPr/>
          </p:nvSpPr>
          <p:spPr bwMode="auto">
            <a:xfrm flipV="1">
              <a:off x="2460" y="1204"/>
              <a:ext cx="46" cy="4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 name="Line 19"/>
            <p:cNvSpPr>
              <a:spLocks noChangeShapeType="1"/>
            </p:cNvSpPr>
            <p:nvPr/>
          </p:nvSpPr>
          <p:spPr bwMode="auto">
            <a:xfrm flipV="1">
              <a:off x="2512" y="1208"/>
              <a:ext cx="32" cy="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6" name="矩形 115"/>
          <p:cNvSpPr/>
          <p:nvPr/>
        </p:nvSpPr>
        <p:spPr>
          <a:xfrm>
            <a:off x="4397071" y="1022018"/>
            <a:ext cx="4349364" cy="4358116"/>
          </a:xfrm>
          <a:prstGeom prst="rect">
            <a:avLst/>
          </a:prstGeom>
        </p:spPr>
        <p:txBody>
          <a:bodyPr wrap="square">
            <a:spAutoFit/>
          </a:bodyPr>
          <a:lstStyle/>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ea typeface="幼圆" panose="02010509060101010101" pitchFamily="49" charset="-122"/>
                <a:cs typeface="Times New Roman" panose="02020603050405020304" pitchFamily="18" charset="0"/>
              </a:rPr>
              <a:t>对于刚性不是很大的筋材，加筋土体中的滑动面是一个约与水平面夹角为</a:t>
            </a:r>
            <a:r>
              <a:rPr lang="en-US" altLang="zh-CN" sz="2200" b="1" dirty="0" smtClean="0">
                <a:solidFill>
                  <a:srgbClr val="000066"/>
                </a:solidFill>
                <a:ea typeface="幼圆" panose="02010509060101010101" pitchFamily="49" charset="-122"/>
                <a:cs typeface="Times New Roman" panose="02020603050405020304" pitchFamily="18" charset="0"/>
              </a:rPr>
              <a:t>45</a:t>
            </a:r>
            <a:r>
              <a:rPr lang="en-US" altLang="zh-CN" sz="2200" b="1" dirty="0" smtClean="0">
                <a:solidFill>
                  <a:srgbClr val="000066"/>
                </a:solidFill>
                <a:cs typeface="Times New Roman" panose="02020603050405020304" pitchFamily="18" charset="0"/>
                <a:sym typeface="Symbol" pitchFamily="18" charset="2"/>
              </a:rPr>
              <a:t></a:t>
            </a:r>
            <a:r>
              <a:rPr lang="zh-CN" altLang="en-US" sz="2200" b="1" dirty="0" smtClean="0">
                <a:solidFill>
                  <a:srgbClr val="000066"/>
                </a:solidFill>
                <a:ea typeface="幼圆" panose="02010509060101010101" pitchFamily="49" charset="-122"/>
                <a:cs typeface="Times New Roman" panose="02020603050405020304" pitchFamily="18" charset="0"/>
              </a:rPr>
              <a:t>＋</a:t>
            </a:r>
            <a:r>
              <a:rPr lang="zh-CN" altLang="en-US" sz="2200" b="1" i="1" dirty="0" smtClean="0">
                <a:solidFill>
                  <a:srgbClr val="000066"/>
                </a:solidFill>
                <a:sym typeface="Symbol" pitchFamily="18" charset="2"/>
              </a:rPr>
              <a:t></a:t>
            </a:r>
            <a:r>
              <a:rPr lang="zh-CN" altLang="en-US" sz="2200" b="1" dirty="0" smtClean="0">
                <a:solidFill>
                  <a:srgbClr val="000066"/>
                </a:solidFill>
                <a:sym typeface="Symbol" pitchFamily="18" charset="2"/>
              </a:rPr>
              <a:t> </a:t>
            </a:r>
            <a:r>
              <a:rPr lang="en-US" altLang="zh-CN" sz="2200" b="1" dirty="0" smtClean="0">
                <a:solidFill>
                  <a:srgbClr val="000066"/>
                </a:solidFill>
                <a:ea typeface="幼圆" panose="02010509060101010101" pitchFamily="49" charset="-122"/>
                <a:cs typeface="Times New Roman" panose="02020603050405020304" pitchFamily="18" charset="0"/>
              </a:rPr>
              <a:t>/2的平面</a:t>
            </a:r>
          </a:p>
          <a:p>
            <a:pPr marL="342900" indent="-342900">
              <a:lnSpc>
                <a:spcPct val="120000"/>
              </a:lnSpc>
              <a:buClr>
                <a:srgbClr val="C00000"/>
              </a:buClr>
              <a:buFont typeface="Wingdings" panose="05000000000000000000" pitchFamily="2" charset="2"/>
              <a:buChar char="Ø"/>
            </a:pPr>
            <a:r>
              <a:rPr lang="zh-CN" altLang="en-US" sz="2200" b="1" dirty="0">
                <a:solidFill>
                  <a:srgbClr val="000066"/>
                </a:solidFill>
                <a:ea typeface="幼圆" panose="02010509060101010101" pitchFamily="49" charset="-122"/>
                <a:cs typeface="Times New Roman" panose="02020603050405020304" pitchFamily="18" charset="0"/>
              </a:rPr>
              <a:t>筋材</a:t>
            </a:r>
            <a:r>
              <a:rPr lang="zh-CN" altLang="en-US" sz="2200" b="1" dirty="0" smtClean="0">
                <a:solidFill>
                  <a:srgbClr val="000066"/>
                </a:solidFill>
                <a:ea typeface="幼圆" panose="02010509060101010101" pitchFamily="49" charset="-122"/>
                <a:cs typeface="Times New Roman" panose="02020603050405020304" pitchFamily="18" charset="0"/>
              </a:rPr>
              <a:t>在滑动面两侧所受的摩擦力方向相反，在与滑动面相交处筋材的拉力最大</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ea typeface="幼圆" panose="02010509060101010101" pitchFamily="49" charset="-122"/>
                <a:cs typeface="Times New Roman" panose="02020603050405020304" pitchFamily="18" charset="0"/>
              </a:rPr>
              <a:t>主动区的土压力被滑动面外筋材的拉力所平衡，筋材又被锚固在滑动面后的土体中，从而保证了墙的稳定性</a:t>
            </a:r>
            <a:endParaRPr lang="zh-CN" altLang="en-US" sz="2200" b="1" dirty="0">
              <a:solidFill>
                <a:srgbClr val="000066"/>
              </a:solidFill>
              <a:ea typeface="幼圆" panose="02010509060101010101" pitchFamily="49" charset="-122"/>
              <a:cs typeface="Times New Roman" panose="02020603050405020304" pitchFamily="18" charset="0"/>
            </a:endParaRPr>
          </a:p>
        </p:txBody>
      </p:sp>
      <p:grpSp>
        <p:nvGrpSpPr>
          <p:cNvPr id="6" name="组合 5"/>
          <p:cNvGrpSpPr/>
          <p:nvPr/>
        </p:nvGrpSpPr>
        <p:grpSpPr>
          <a:xfrm>
            <a:off x="2303422" y="2642152"/>
            <a:ext cx="1946848" cy="446276"/>
            <a:chOff x="2303422" y="2642152"/>
            <a:chExt cx="1946848" cy="446276"/>
          </a:xfrm>
        </p:grpSpPr>
        <p:sp>
          <p:nvSpPr>
            <p:cNvPr id="117" name="Text Box 75"/>
            <p:cNvSpPr txBox="1">
              <a:spLocks noChangeArrowheads="1"/>
            </p:cNvSpPr>
            <p:nvPr/>
          </p:nvSpPr>
          <p:spPr bwMode="auto">
            <a:xfrm>
              <a:off x="3210883" y="2642152"/>
              <a:ext cx="1039387"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滑裂面</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cxnSp>
          <p:nvCxnSpPr>
            <p:cNvPr id="118" name="直接连接符 117"/>
            <p:cNvCxnSpPr/>
            <p:nvPr/>
          </p:nvCxnSpPr>
          <p:spPr bwMode="auto">
            <a:xfrm flipV="1">
              <a:off x="2303422" y="2838615"/>
              <a:ext cx="908904" cy="1137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1" name="Line 89"/>
          <p:cNvSpPr>
            <a:spLocks noChangeAspect="1" noChangeShapeType="1"/>
          </p:cNvSpPr>
          <p:nvPr/>
        </p:nvSpPr>
        <p:spPr bwMode="auto">
          <a:xfrm>
            <a:off x="1160618" y="2098209"/>
            <a:ext cx="1821120"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2" name="直接连接符 121"/>
          <p:cNvCxnSpPr/>
          <p:nvPr/>
        </p:nvCxnSpPr>
        <p:spPr bwMode="auto">
          <a:xfrm rot="16200000">
            <a:off x="1042944" y="2076617"/>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连接符 122"/>
          <p:cNvCxnSpPr/>
          <p:nvPr/>
        </p:nvCxnSpPr>
        <p:spPr bwMode="auto">
          <a:xfrm rot="16200000">
            <a:off x="2849215" y="2083989"/>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Text Box 75"/>
          <p:cNvSpPr txBox="1">
            <a:spLocks noChangeArrowheads="1"/>
          </p:cNvSpPr>
          <p:nvPr/>
        </p:nvSpPr>
        <p:spPr bwMode="auto">
          <a:xfrm>
            <a:off x="1454970" y="1641614"/>
            <a:ext cx="1264375"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20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加筋土体</a:t>
            </a:r>
            <a:endParaRPr kumimoji="1" lang="en-US" altLang="zh-CN" sz="20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62" name="Text Box 75"/>
          <p:cNvSpPr txBox="1">
            <a:spLocks noChangeArrowheads="1"/>
          </p:cNvSpPr>
          <p:nvPr/>
        </p:nvSpPr>
        <p:spPr bwMode="auto">
          <a:xfrm>
            <a:off x="1134621" y="3091543"/>
            <a:ext cx="899452"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smtClean="0">
                <a:solidFill>
                  <a:srgbClr val="000066"/>
                </a:solidFill>
                <a:latin typeface="幼圆" panose="02010509060101010101" pitchFamily="49" charset="-122"/>
                <a:ea typeface="幼圆" panose="02010509060101010101" pitchFamily="49" charset="-122"/>
                <a:sym typeface="Symbol" panose="05050102010706020507" pitchFamily="18" charset="2"/>
              </a:rPr>
              <a:t>主动区</a:t>
            </a:r>
            <a:endParaRPr kumimoji="1" lang="en-US" altLang="zh-CN" sz="18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
        <p:nvSpPr>
          <p:cNvPr id="64" name="Text Box 75"/>
          <p:cNvSpPr txBox="1">
            <a:spLocks noChangeArrowheads="1"/>
          </p:cNvSpPr>
          <p:nvPr/>
        </p:nvSpPr>
        <p:spPr bwMode="auto">
          <a:xfrm>
            <a:off x="2139215" y="3100872"/>
            <a:ext cx="899452" cy="37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zh-CN" altLang="en-US" sz="1800" b="1" dirty="0">
                <a:solidFill>
                  <a:srgbClr val="000066"/>
                </a:solidFill>
                <a:latin typeface="幼圆" panose="02010509060101010101" pitchFamily="49" charset="-122"/>
                <a:ea typeface="幼圆" panose="02010509060101010101" pitchFamily="49" charset="-122"/>
                <a:sym typeface="Symbol" panose="05050102010706020507" pitchFamily="18" charset="2"/>
              </a:rPr>
              <a:t>锚固区</a:t>
            </a:r>
            <a:endParaRPr kumimoji="1" lang="en-US" altLang="zh-CN" sz="1800" b="1" dirty="0">
              <a:solidFill>
                <a:srgbClr val="000066"/>
              </a:solidFill>
              <a:latin typeface="幼圆" panose="02010509060101010101" pitchFamily="49" charset="-122"/>
              <a:ea typeface="幼圆" panose="02010509060101010101" pitchFamily="49" charset="-122"/>
              <a:sym typeface="Symbol" panose="05050102010706020507" pitchFamily="18" charset="2"/>
            </a:endParaRPr>
          </a:p>
        </p:txBody>
      </p:sp>
    </p:spTree>
    <p:extLst>
      <p:ext uri="{BB962C8B-B14F-4D97-AF65-F5344CB8AC3E}">
        <p14:creationId xmlns:p14="http://schemas.microsoft.com/office/powerpoint/2010/main" val="3959841757"/>
      </p:ext>
    </p:extLst>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animEffect transition="in" filter="wipe(left)">
                                      <p:cBhvr>
                                        <p:cTn id="7" dur="500"/>
                                        <p:tgtEl>
                                          <p:spTgt spid="116">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6">
                                            <p:txEl>
                                              <p:pRg st="1" end="1"/>
                                            </p:txEl>
                                          </p:spTgt>
                                        </p:tgtEl>
                                        <p:attrNameLst>
                                          <p:attrName>style.visibility</p:attrName>
                                        </p:attrNameLst>
                                      </p:cBhvr>
                                      <p:to>
                                        <p:strVal val="visible"/>
                                      </p:to>
                                    </p:set>
                                    <p:animEffect transition="in" filter="wipe(left)">
                                      <p:cBhvr>
                                        <p:cTn id="24" dur="500"/>
                                        <p:tgtEl>
                                          <p:spTgt spid="116">
                                            <p:txEl>
                                              <p:pRg st="1" end="1"/>
                                            </p:txEl>
                                          </p:spTgt>
                                        </p:tgtEl>
                                      </p:cBhvr>
                                    </p:animEffect>
                                  </p:childTnLst>
                                </p:cTn>
                              </p:par>
                            </p:childTnLst>
                          </p:cTn>
                        </p:par>
                        <p:par>
                          <p:cTn id="25" fill="hold">
                            <p:stCondLst>
                              <p:cond delay="500"/>
                            </p:stCondLst>
                            <p:childTnLst>
                              <p:par>
                                <p:cTn id="26" presetID="22" presetClass="entr" presetSubtype="8" repeatCount="4000"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par>
                          <p:cTn id="29" fill="hold">
                            <p:stCondLst>
                              <p:cond delay="2500"/>
                            </p:stCondLst>
                            <p:childTnLst>
                              <p:par>
                                <p:cTn id="30" presetID="22" presetClass="entr" presetSubtype="2" repeatCount="400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6">
                                            <p:txEl>
                                              <p:pRg st="2" end="2"/>
                                            </p:txEl>
                                          </p:spTgt>
                                        </p:tgtEl>
                                        <p:attrNameLst>
                                          <p:attrName>style.visibility</p:attrName>
                                        </p:attrNameLst>
                                      </p:cBhvr>
                                      <p:to>
                                        <p:strVal val="visible"/>
                                      </p:to>
                                    </p:set>
                                    <p:animEffect transition="in" filter="wipe(left)">
                                      <p:cBhvr>
                                        <p:cTn id="37" dur="500"/>
                                        <p:tgtEl>
                                          <p:spTgt spid="116">
                                            <p:txEl>
                                              <p:pRg st="2" end="2"/>
                                            </p:txEl>
                                          </p:spTgt>
                                        </p:tgtEl>
                                      </p:cBhvr>
                                    </p:animEffect>
                                  </p:childTnLst>
                                </p:cTn>
                              </p:par>
                            </p:childTnLst>
                          </p:cTn>
                        </p:par>
                        <p:par>
                          <p:cTn id="38" fill="hold">
                            <p:stCondLst>
                              <p:cond delay="500"/>
                            </p:stCondLst>
                            <p:childTnLst>
                              <p:par>
                                <p:cTn id="39" presetID="22" presetClass="entr" presetSubtype="8" repeatCount="3000" fill="hold" grpId="0" nodeType="after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wipe(left)">
                                      <p:cBhvr>
                                        <p:cTn id="41" dur="500"/>
                                        <p:tgtEl>
                                          <p:spTgt spid="62"/>
                                        </p:tgtEl>
                                      </p:cBhvr>
                                    </p:animEffect>
                                  </p:childTnLst>
                                </p:cTn>
                              </p:par>
                            </p:childTnLst>
                          </p:cTn>
                        </p:par>
                        <p:par>
                          <p:cTn id="42" fill="hold">
                            <p:stCondLst>
                              <p:cond delay="2000"/>
                            </p:stCondLst>
                            <p:childTnLst>
                              <p:par>
                                <p:cTn id="43" presetID="22" presetClass="entr" presetSubtype="8" repeatCount="3000" fill="hold" grpId="0" nodeType="afterEffect">
                                  <p:stCondLst>
                                    <p:cond delay="0"/>
                                  </p:stCondLst>
                                  <p:childTnLst>
                                    <p:set>
                                      <p:cBhvr>
                                        <p:cTn id="44" dur="1" fill="hold">
                                          <p:stCondLst>
                                            <p:cond delay="0"/>
                                          </p:stCondLst>
                                        </p:cTn>
                                        <p:tgtEl>
                                          <p:spTgt spid="64"/>
                                        </p:tgtEl>
                                        <p:attrNameLst>
                                          <p:attrName>style.visibility</p:attrName>
                                        </p:attrNameLst>
                                      </p:cBhvr>
                                      <p:to>
                                        <p:strVal val="visible"/>
                                      </p:to>
                                    </p:set>
                                    <p:animEffect transition="in" filter="wipe(left)">
                                      <p:cBhvr>
                                        <p:cTn id="4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uiExpand="1" build="p"/>
      <p:bldP spid="62" grpId="0"/>
      <p:bldP spid="6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168842" y="2126404"/>
            <a:ext cx="1796995" cy="2456953"/>
          </a:xfrm>
          <a:prstGeom prst="rect">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92</a:t>
            </a:fld>
            <a:endParaRPr lang="zh-CN" altLang="en-US" dirty="0">
              <a:solidFill>
                <a:srgbClr val="C00000"/>
              </a:solidFill>
            </a:endParaRPr>
          </a:p>
        </p:txBody>
      </p:sp>
      <p:sp>
        <p:nvSpPr>
          <p:cNvPr id="53" name="Text Box 7"/>
          <p:cNvSpPr txBox="1">
            <a:spLocks noChangeArrowheads="1"/>
          </p:cNvSpPr>
          <p:nvPr/>
        </p:nvSpPr>
        <p:spPr bwMode="auto">
          <a:xfrm>
            <a:off x="0" y="0"/>
            <a:ext cx="60111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加</a:t>
            </a:r>
            <a:r>
              <a:rPr lang="zh-CN" altLang="en-US" sz="1800" b="1" kern="900" spc="130" dirty="0">
                <a:solidFill>
                  <a:srgbClr val="000066"/>
                </a:solidFill>
                <a:ea typeface="黑体" panose="02010609060101010101" pitchFamily="49" charset="-122"/>
                <a:cs typeface="Times New Roman" panose="02020603050405020304" pitchFamily="18" charset="0"/>
              </a:rPr>
              <a:t>筋土挡墙</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7</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加</a:t>
            </a:r>
            <a:r>
              <a:rPr kumimoji="1" lang="zh-CN" altLang="en-US" sz="4000" b="1" dirty="0">
                <a:solidFill>
                  <a:srgbClr val="000066"/>
                </a:solidFill>
                <a:ea typeface="黑体" pitchFamily="2" charset="-122"/>
                <a:cs typeface="Times New Roman" panose="02020603050405020304" pitchFamily="18" charset="0"/>
              </a:rPr>
              <a:t>筋土挡墙</a:t>
            </a:r>
          </a:p>
        </p:txBody>
      </p:sp>
      <p:sp>
        <p:nvSpPr>
          <p:cNvPr id="296" name="Rectangle 3"/>
          <p:cNvSpPr txBox="1">
            <a:spLocks noChangeArrowheads="1"/>
          </p:cNvSpPr>
          <p:nvPr/>
        </p:nvSpPr>
        <p:spPr bwMode="auto">
          <a:xfrm>
            <a:off x="442977" y="616528"/>
            <a:ext cx="370132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整体稳定性</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sp>
        <p:nvSpPr>
          <p:cNvPr id="19" name="Line 13"/>
          <p:cNvSpPr>
            <a:spLocks noChangeShapeType="1"/>
          </p:cNvSpPr>
          <p:nvPr/>
        </p:nvSpPr>
        <p:spPr bwMode="auto">
          <a:xfrm>
            <a:off x="1177481" y="2500139"/>
            <a:ext cx="179617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0" name="Line 14"/>
          <p:cNvSpPr>
            <a:spLocks noChangeShapeType="1"/>
          </p:cNvSpPr>
          <p:nvPr/>
        </p:nvSpPr>
        <p:spPr bwMode="auto">
          <a:xfrm flipV="1">
            <a:off x="1166041" y="2883291"/>
            <a:ext cx="178473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1" name="Line 15"/>
          <p:cNvSpPr>
            <a:spLocks noChangeShapeType="1"/>
          </p:cNvSpPr>
          <p:nvPr/>
        </p:nvSpPr>
        <p:spPr bwMode="auto">
          <a:xfrm>
            <a:off x="1166041" y="3301274"/>
            <a:ext cx="180761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2" name="Line 16"/>
          <p:cNvSpPr>
            <a:spLocks noChangeShapeType="1"/>
          </p:cNvSpPr>
          <p:nvPr/>
        </p:nvSpPr>
        <p:spPr bwMode="auto">
          <a:xfrm flipV="1">
            <a:off x="1166041" y="3719258"/>
            <a:ext cx="179617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3" name="Line 17"/>
          <p:cNvSpPr>
            <a:spLocks noChangeShapeType="1"/>
          </p:cNvSpPr>
          <p:nvPr/>
        </p:nvSpPr>
        <p:spPr bwMode="auto">
          <a:xfrm flipV="1">
            <a:off x="1166041" y="4137242"/>
            <a:ext cx="177329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93" name="Line 89"/>
          <p:cNvSpPr>
            <a:spLocks noChangeAspect="1" noChangeShapeType="1"/>
          </p:cNvSpPr>
          <p:nvPr/>
        </p:nvSpPr>
        <p:spPr bwMode="auto">
          <a:xfrm rot="5400000">
            <a:off x="-501344" y="3348645"/>
            <a:ext cx="250007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Text Box 62"/>
          <p:cNvSpPr txBox="1">
            <a:spLocks noChangeArrowheads="1"/>
          </p:cNvSpPr>
          <p:nvPr/>
        </p:nvSpPr>
        <p:spPr bwMode="auto">
          <a:xfrm>
            <a:off x="278213" y="3092297"/>
            <a:ext cx="469208"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rPr>
              <a:t>H</a:t>
            </a:r>
            <a:endParaRPr kumimoji="1" lang="en-US" altLang="zh-CN" sz="2400" b="1" dirty="0">
              <a:solidFill>
                <a:srgbClr val="000066"/>
              </a:solidFill>
              <a:latin typeface="Times New Roman" panose="02020603050405020304" pitchFamily="18" charset="0"/>
            </a:endParaRPr>
          </a:p>
        </p:txBody>
      </p:sp>
      <p:cxnSp>
        <p:nvCxnSpPr>
          <p:cNvPr id="95" name="直接连接符 94"/>
          <p:cNvCxnSpPr/>
          <p:nvPr/>
        </p:nvCxnSpPr>
        <p:spPr bwMode="auto">
          <a:xfrm>
            <a:off x="628151" y="2110504"/>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629476" y="4598682"/>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矩形 115"/>
          <p:cNvSpPr/>
          <p:nvPr/>
        </p:nvSpPr>
        <p:spPr>
          <a:xfrm>
            <a:off x="4405780" y="1100398"/>
            <a:ext cx="4349364" cy="3951851"/>
          </a:xfrm>
          <a:prstGeom prst="rect">
            <a:avLst/>
          </a:prstGeom>
        </p:spPr>
        <p:txBody>
          <a:bodyPr wrap="square">
            <a:spAutoFit/>
          </a:bodyPr>
          <a:lstStyle/>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ea typeface="幼圆" panose="02010509060101010101" pitchFamily="49" charset="-122"/>
                <a:cs typeface="Times New Roman" panose="02020603050405020304" pitchFamily="18" charset="0"/>
              </a:rPr>
              <a:t>整体稳定亦称外部稳定，一般设计加筋长度为</a:t>
            </a:r>
            <a:r>
              <a:rPr lang="en-US" altLang="zh-CN" sz="2200" b="1" dirty="0" smtClean="0">
                <a:solidFill>
                  <a:srgbClr val="000066"/>
                </a:solidFill>
                <a:ea typeface="幼圆" panose="02010509060101010101" pitchFamily="49" charset="-122"/>
                <a:cs typeface="Times New Roman" panose="02020603050405020304" pitchFamily="18" charset="0"/>
              </a:rPr>
              <a:t>(0.7~0.8)</a:t>
            </a:r>
            <a:r>
              <a:rPr lang="en-US" altLang="zh-CN" sz="2200" b="1" i="1" dirty="0" err="1" smtClean="0">
                <a:solidFill>
                  <a:srgbClr val="000066"/>
                </a:solidFill>
                <a:ea typeface="幼圆" panose="02010509060101010101" pitchFamily="49" charset="-122"/>
                <a:cs typeface="Times New Roman" panose="02020603050405020304" pitchFamily="18" charset="0"/>
              </a:rPr>
              <a:t>H</a:t>
            </a:r>
            <a:r>
              <a:rPr lang="en-US" altLang="zh-CN" sz="2200" b="1" dirty="0" err="1" smtClean="0">
                <a:solidFill>
                  <a:srgbClr val="000066"/>
                </a:solidFill>
                <a:ea typeface="幼圆" panose="02010509060101010101" pitchFamily="49" charset="-122"/>
                <a:cs typeface="Times New Roman" panose="02020603050405020304" pitchFamily="18" charset="0"/>
              </a:rPr>
              <a:t>，这就形成了一个由加筋土体组成的重力式挡土墙</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buClr>
                <a:srgbClr val="C00000"/>
              </a:buClr>
              <a:buFont typeface="Wingdings" panose="05000000000000000000" pitchFamily="2" charset="2"/>
              <a:buChar char="Ø"/>
            </a:pPr>
            <a:r>
              <a:rPr lang="en-US" altLang="zh-CN" sz="2200" b="1" dirty="0" err="1" smtClean="0">
                <a:solidFill>
                  <a:srgbClr val="000066"/>
                </a:solidFill>
                <a:ea typeface="幼圆" panose="02010509060101010101" pitchFamily="49" charset="-122"/>
                <a:cs typeface="Times New Roman" panose="02020603050405020304" pitchFamily="18" charset="0"/>
              </a:rPr>
              <a:t>整体抗滑稳定安全系数可以通过加筋土体自重</a:t>
            </a:r>
            <a:r>
              <a:rPr lang="en-US" altLang="zh-CN" sz="2200" b="1" i="1" dirty="0" err="1" smtClean="0">
                <a:solidFill>
                  <a:srgbClr val="000066"/>
                </a:solidFill>
                <a:ea typeface="幼圆" panose="02010509060101010101" pitchFamily="49" charset="-122"/>
                <a:cs typeface="Times New Roman" panose="02020603050405020304" pitchFamily="18" charset="0"/>
              </a:rPr>
              <a:t>W</a:t>
            </a:r>
            <a:r>
              <a:rPr lang="en-US" altLang="zh-CN" sz="2200" b="1" dirty="0" err="1" smtClean="0">
                <a:solidFill>
                  <a:srgbClr val="000066"/>
                </a:solidFill>
                <a:ea typeface="幼圆" panose="02010509060101010101" pitchFamily="49" charset="-122"/>
                <a:cs typeface="Times New Roman" panose="02020603050405020304" pitchFamily="18" charset="0"/>
              </a:rPr>
              <a:t>在基底产生阻力与主动</a:t>
            </a:r>
            <a:r>
              <a:rPr lang="zh-CN" altLang="en-US" sz="2200" b="1" dirty="0" smtClean="0">
                <a:solidFill>
                  <a:srgbClr val="000066"/>
                </a:solidFill>
                <a:ea typeface="幼圆" panose="02010509060101010101" pitchFamily="49" charset="-122"/>
                <a:cs typeface="Times New Roman" panose="02020603050405020304" pitchFamily="18" charset="0"/>
              </a:rPr>
              <a:t>土</a:t>
            </a:r>
            <a:r>
              <a:rPr lang="en-US" altLang="zh-CN" sz="2200" b="1" dirty="0" err="1" smtClean="0">
                <a:solidFill>
                  <a:srgbClr val="000066"/>
                </a:solidFill>
                <a:ea typeface="幼圆" panose="02010509060101010101" pitchFamily="49" charset="-122"/>
                <a:cs typeface="Times New Roman" panose="02020603050405020304" pitchFamily="18" charset="0"/>
              </a:rPr>
              <a:t>压力</a:t>
            </a:r>
            <a:r>
              <a:rPr lang="en-US" altLang="zh-CN" sz="2200" b="1" i="1" dirty="0" err="1" smtClean="0">
                <a:solidFill>
                  <a:srgbClr val="000066"/>
                </a:solidFill>
                <a:ea typeface="幼圆" panose="02010509060101010101" pitchFamily="49" charset="-122"/>
                <a:cs typeface="Times New Roman" panose="02020603050405020304" pitchFamily="18" charset="0"/>
              </a:rPr>
              <a:t>E</a:t>
            </a:r>
            <a:r>
              <a:rPr lang="en-US" altLang="zh-CN" sz="2200" b="1" baseline="-25000" dirty="0" err="1" smtClean="0">
                <a:solidFill>
                  <a:srgbClr val="000066"/>
                </a:solidFill>
                <a:ea typeface="幼圆" panose="02010509060101010101" pitchFamily="49" charset="-122"/>
                <a:cs typeface="Times New Roman" panose="02020603050405020304" pitchFamily="18" charset="0"/>
              </a:rPr>
              <a:t>a</a:t>
            </a:r>
            <a:r>
              <a:rPr lang="en-US" altLang="zh-CN" sz="2200" b="1" dirty="0" err="1" smtClean="0">
                <a:solidFill>
                  <a:srgbClr val="000066"/>
                </a:solidFill>
                <a:ea typeface="幼圆" panose="02010509060101010101" pitchFamily="49" charset="-122"/>
                <a:cs typeface="Times New Roman" panose="02020603050405020304" pitchFamily="18" charset="0"/>
              </a:rPr>
              <a:t>之比计算</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buClr>
                <a:srgbClr val="C00000"/>
              </a:buClr>
              <a:buFont typeface="Wingdings" panose="05000000000000000000" pitchFamily="2" charset="2"/>
              <a:buChar char="Ø"/>
            </a:pPr>
            <a:r>
              <a:rPr lang="en-US" altLang="zh-CN" sz="2200" b="1" dirty="0" err="1" smtClean="0">
                <a:solidFill>
                  <a:srgbClr val="000066"/>
                </a:solidFill>
                <a:ea typeface="幼圆" panose="02010509060101010101" pitchFamily="49" charset="-122"/>
                <a:cs typeface="Times New Roman" panose="02020603050405020304" pitchFamily="18" charset="0"/>
              </a:rPr>
              <a:t>主动土压力可通过朗肯土压力理论计算</a:t>
            </a:r>
            <a:endParaRPr lang="zh-CN" altLang="en-US" sz="2200" b="1" dirty="0">
              <a:solidFill>
                <a:srgbClr val="000066"/>
              </a:solidFill>
              <a:ea typeface="幼圆" panose="02010509060101010101" pitchFamily="49" charset="-122"/>
              <a:cs typeface="Times New Roman" panose="02020603050405020304" pitchFamily="18" charset="0"/>
            </a:endParaRPr>
          </a:p>
        </p:txBody>
      </p:sp>
      <p:sp>
        <p:nvSpPr>
          <p:cNvPr id="121" name="Line 89"/>
          <p:cNvSpPr>
            <a:spLocks noChangeAspect="1" noChangeShapeType="1"/>
          </p:cNvSpPr>
          <p:nvPr/>
        </p:nvSpPr>
        <p:spPr bwMode="auto">
          <a:xfrm>
            <a:off x="1160618" y="1863076"/>
            <a:ext cx="1821120"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2" name="直接连接符 121"/>
          <p:cNvCxnSpPr/>
          <p:nvPr/>
        </p:nvCxnSpPr>
        <p:spPr bwMode="auto">
          <a:xfrm rot="16200000">
            <a:off x="1042944" y="1841484"/>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连接符 122"/>
          <p:cNvCxnSpPr/>
          <p:nvPr/>
        </p:nvCxnSpPr>
        <p:spPr bwMode="auto">
          <a:xfrm rot="16200000">
            <a:off x="2849215" y="1848856"/>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箭头连接符 58"/>
          <p:cNvCxnSpPr/>
          <p:nvPr/>
        </p:nvCxnSpPr>
        <p:spPr bwMode="auto">
          <a:xfrm>
            <a:off x="2024168" y="2661542"/>
            <a:ext cx="0" cy="935854"/>
          </a:xfrm>
          <a:prstGeom prst="straightConnector1">
            <a:avLst/>
          </a:prstGeom>
          <a:noFill/>
          <a:ln w="38100" cap="flat" cmpd="sng" algn="ctr">
            <a:solidFill>
              <a:srgbClr val="000066"/>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75"/>
          <p:cNvSpPr txBox="1">
            <a:spLocks noChangeArrowheads="1"/>
          </p:cNvSpPr>
          <p:nvPr/>
        </p:nvSpPr>
        <p:spPr bwMode="auto">
          <a:xfrm>
            <a:off x="2208915" y="2867914"/>
            <a:ext cx="577397"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sym typeface="Symbol" panose="05050102010706020507" pitchFamily="18" charset="2"/>
              </a:rPr>
              <a:t>W</a:t>
            </a:r>
            <a:endParaRPr kumimoji="1" lang="en-US" altLang="zh-CN" sz="2400" b="1" i="1" dirty="0">
              <a:solidFill>
                <a:srgbClr val="000066"/>
              </a:solidFill>
              <a:latin typeface="Times New Roman" panose="02020603050405020304" pitchFamily="18" charset="0"/>
              <a:sym typeface="Symbol" panose="05050102010706020507" pitchFamily="18" charset="2"/>
            </a:endParaRPr>
          </a:p>
        </p:txBody>
      </p:sp>
      <p:sp>
        <p:nvSpPr>
          <p:cNvPr id="62" name="Text Box 62"/>
          <p:cNvSpPr txBox="1">
            <a:spLocks noChangeArrowheads="1"/>
          </p:cNvSpPr>
          <p:nvPr/>
        </p:nvSpPr>
        <p:spPr bwMode="auto">
          <a:xfrm>
            <a:off x="1885701" y="1392042"/>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rPr>
              <a:t>L</a:t>
            </a:r>
            <a:endParaRPr kumimoji="1" lang="en-US" altLang="zh-CN" sz="2400" b="1" dirty="0">
              <a:solidFill>
                <a:srgbClr val="000066"/>
              </a:solidFill>
              <a:latin typeface="Times New Roman" panose="02020603050405020304" pitchFamily="18" charset="0"/>
            </a:endParaRPr>
          </a:p>
        </p:txBody>
      </p:sp>
      <p:grpSp>
        <p:nvGrpSpPr>
          <p:cNvPr id="5" name="组合 4"/>
          <p:cNvGrpSpPr/>
          <p:nvPr/>
        </p:nvGrpSpPr>
        <p:grpSpPr>
          <a:xfrm>
            <a:off x="1206711" y="4707295"/>
            <a:ext cx="1759125" cy="90747"/>
            <a:chOff x="1206712" y="4942429"/>
            <a:chExt cx="962084" cy="0"/>
          </a:xfrm>
        </p:grpSpPr>
        <p:cxnSp>
          <p:nvCxnSpPr>
            <p:cNvPr id="64" name="直接箭头连接符 63"/>
            <p:cNvCxnSpPr/>
            <p:nvPr/>
          </p:nvCxnSpPr>
          <p:spPr bwMode="auto">
            <a:xfrm>
              <a:off x="1206712" y="4942429"/>
              <a:ext cx="218783" cy="0"/>
            </a:xfrm>
            <a:prstGeom prst="straightConnector1">
              <a:avLst/>
            </a:prstGeom>
            <a:noFill/>
            <a:ln w="28575"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箭头连接符 64"/>
            <p:cNvCxnSpPr/>
            <p:nvPr/>
          </p:nvCxnSpPr>
          <p:spPr bwMode="auto">
            <a:xfrm>
              <a:off x="1454479" y="4942429"/>
              <a:ext cx="218783" cy="0"/>
            </a:xfrm>
            <a:prstGeom prst="straightConnector1">
              <a:avLst/>
            </a:prstGeom>
            <a:noFill/>
            <a:ln w="28575"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a:off x="1702246" y="4942429"/>
              <a:ext cx="218783" cy="0"/>
            </a:xfrm>
            <a:prstGeom prst="straightConnector1">
              <a:avLst/>
            </a:prstGeom>
            <a:noFill/>
            <a:ln w="28575"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箭头连接符 66"/>
            <p:cNvCxnSpPr/>
            <p:nvPr/>
          </p:nvCxnSpPr>
          <p:spPr bwMode="auto">
            <a:xfrm>
              <a:off x="1950013" y="4942429"/>
              <a:ext cx="218783" cy="0"/>
            </a:xfrm>
            <a:prstGeom prst="straightConnector1">
              <a:avLst/>
            </a:prstGeom>
            <a:noFill/>
            <a:ln w="28575" cap="flat" cmpd="sng" algn="ctr">
              <a:solidFill>
                <a:srgbClr val="000066"/>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1" name="直角三角形 70"/>
          <p:cNvSpPr/>
          <p:nvPr/>
        </p:nvSpPr>
        <p:spPr bwMode="auto">
          <a:xfrm>
            <a:off x="3128893" y="2127728"/>
            <a:ext cx="1081497" cy="2439519"/>
          </a:xfrm>
          <a:prstGeom prst="rtTriangle">
            <a:avLst/>
          </a:prstGeom>
          <a:solidFill>
            <a:srgbClr val="CCECFF"/>
          </a:solidFill>
          <a:ln w="1905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cxnSp>
        <p:nvCxnSpPr>
          <p:cNvPr id="72" name="直接箭头连接符 71"/>
          <p:cNvCxnSpPr>
            <a:stCxn id="71" idx="4"/>
          </p:cNvCxnSpPr>
          <p:nvPr/>
        </p:nvCxnSpPr>
        <p:spPr bwMode="auto">
          <a:xfrm flipH="1">
            <a:off x="3134246" y="4567247"/>
            <a:ext cx="1076144" cy="2452"/>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箭头连接符 72"/>
          <p:cNvCxnSpPr/>
          <p:nvPr/>
        </p:nvCxnSpPr>
        <p:spPr bwMode="auto">
          <a:xfrm flipH="1">
            <a:off x="3136870" y="4263168"/>
            <a:ext cx="940713"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箭头连接符 73"/>
          <p:cNvCxnSpPr/>
          <p:nvPr/>
        </p:nvCxnSpPr>
        <p:spPr bwMode="auto">
          <a:xfrm flipH="1">
            <a:off x="3136869" y="3967095"/>
            <a:ext cx="814984"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p:nvPr/>
        </p:nvCxnSpPr>
        <p:spPr bwMode="auto">
          <a:xfrm flipH="1">
            <a:off x="3136869" y="3363971"/>
            <a:ext cx="542765"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箭头连接符 75"/>
          <p:cNvCxnSpPr/>
          <p:nvPr/>
        </p:nvCxnSpPr>
        <p:spPr bwMode="auto">
          <a:xfrm flipH="1">
            <a:off x="3136870" y="3054927"/>
            <a:ext cx="392073"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80"/>
          <p:cNvCxnSpPr/>
          <p:nvPr/>
        </p:nvCxnSpPr>
        <p:spPr bwMode="auto">
          <a:xfrm flipH="1">
            <a:off x="3136868" y="2747874"/>
            <a:ext cx="277775"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81"/>
          <p:cNvCxnSpPr/>
          <p:nvPr/>
        </p:nvCxnSpPr>
        <p:spPr bwMode="auto">
          <a:xfrm flipH="1">
            <a:off x="3132106" y="2435123"/>
            <a:ext cx="137757"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箭头连接符 95"/>
          <p:cNvCxnSpPr/>
          <p:nvPr/>
        </p:nvCxnSpPr>
        <p:spPr bwMode="auto">
          <a:xfrm flipH="1">
            <a:off x="3143221" y="3668774"/>
            <a:ext cx="679632"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3130939" y="2138171"/>
            <a:ext cx="0" cy="2427342"/>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a:off x="3139909" y="2142416"/>
            <a:ext cx="1074153" cy="242850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Text Box 62"/>
          <p:cNvSpPr txBox="1">
            <a:spLocks noChangeArrowheads="1"/>
          </p:cNvSpPr>
          <p:nvPr/>
        </p:nvSpPr>
        <p:spPr bwMode="auto">
          <a:xfrm>
            <a:off x="3767490" y="3033157"/>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A50021"/>
                </a:solidFill>
                <a:latin typeface="Times New Roman" panose="02020603050405020304" pitchFamily="18" charset="0"/>
              </a:rPr>
              <a:t>p</a:t>
            </a:r>
            <a:r>
              <a:rPr kumimoji="1" lang="en-US" altLang="zh-CN" sz="2400" b="1" baseline="-25000" dirty="0" smtClean="0">
                <a:solidFill>
                  <a:srgbClr val="A50021"/>
                </a:solidFill>
                <a:latin typeface="Times New Roman" panose="02020603050405020304" pitchFamily="18" charset="0"/>
              </a:rPr>
              <a:t>a</a:t>
            </a:r>
            <a:endParaRPr kumimoji="1" lang="en-US" altLang="zh-CN" sz="2400" b="1" baseline="-25000" dirty="0">
              <a:solidFill>
                <a:srgbClr val="A50021"/>
              </a:solidFill>
              <a:latin typeface="Times New Roman" panose="02020603050405020304" pitchFamily="18" charset="0"/>
            </a:endParaRPr>
          </a:p>
        </p:txBody>
      </p:sp>
    </p:spTree>
    <p:extLst>
      <p:ext uri="{BB962C8B-B14F-4D97-AF65-F5344CB8AC3E}">
        <p14:creationId xmlns:p14="http://schemas.microsoft.com/office/powerpoint/2010/main" val="2632592585"/>
      </p:ext>
    </p:extLst>
  </p:cSld>
  <p:clrMapOvr>
    <a:masterClrMapping/>
  </p:clrMapOvr>
  <p:transition spd="med">
    <p:wipe dir="d"/>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直角三角形 70"/>
          <p:cNvSpPr/>
          <p:nvPr/>
        </p:nvSpPr>
        <p:spPr bwMode="auto">
          <a:xfrm>
            <a:off x="3077275" y="2127728"/>
            <a:ext cx="1081497" cy="2439519"/>
          </a:xfrm>
          <a:prstGeom prst="rtTriangle">
            <a:avLst/>
          </a:prstGeom>
          <a:solidFill>
            <a:srgbClr val="CCECFF"/>
          </a:solidFill>
          <a:ln w="19050"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4" name="任意多边形 3"/>
          <p:cNvSpPr/>
          <p:nvPr/>
        </p:nvSpPr>
        <p:spPr bwMode="auto">
          <a:xfrm>
            <a:off x="3084649" y="3089892"/>
            <a:ext cx="610187" cy="420364"/>
          </a:xfrm>
          <a:custGeom>
            <a:avLst/>
            <a:gdLst>
              <a:gd name="connsiteX0" fmla="*/ 619712 w 619712"/>
              <a:gd name="connsiteY0" fmla="*/ 420364 h 420364"/>
              <a:gd name="connsiteX1" fmla="*/ 0 w 619712"/>
              <a:gd name="connsiteY1" fmla="*/ 420364 h 420364"/>
              <a:gd name="connsiteX2" fmla="*/ 0 w 619712"/>
              <a:gd name="connsiteY2" fmla="*/ 0 h 420364"/>
              <a:gd name="connsiteX3" fmla="*/ 429032 w 619712"/>
              <a:gd name="connsiteY3" fmla="*/ 0 h 420364"/>
              <a:gd name="connsiteX4" fmla="*/ 619712 w 619712"/>
              <a:gd name="connsiteY4" fmla="*/ 420364 h 420364"/>
              <a:gd name="connsiteX0" fmla="*/ 610187 w 610187"/>
              <a:gd name="connsiteY0" fmla="*/ 420364 h 420364"/>
              <a:gd name="connsiteX1" fmla="*/ 0 w 610187"/>
              <a:gd name="connsiteY1" fmla="*/ 420364 h 420364"/>
              <a:gd name="connsiteX2" fmla="*/ 0 w 610187"/>
              <a:gd name="connsiteY2" fmla="*/ 0 h 420364"/>
              <a:gd name="connsiteX3" fmla="*/ 429032 w 610187"/>
              <a:gd name="connsiteY3" fmla="*/ 0 h 420364"/>
              <a:gd name="connsiteX4" fmla="*/ 610187 w 610187"/>
              <a:gd name="connsiteY4" fmla="*/ 420364 h 420364"/>
              <a:gd name="connsiteX0" fmla="*/ 610187 w 610187"/>
              <a:gd name="connsiteY0" fmla="*/ 420364 h 420364"/>
              <a:gd name="connsiteX1" fmla="*/ 0 w 610187"/>
              <a:gd name="connsiteY1" fmla="*/ 420364 h 420364"/>
              <a:gd name="connsiteX2" fmla="*/ 0 w 610187"/>
              <a:gd name="connsiteY2" fmla="*/ 0 h 420364"/>
              <a:gd name="connsiteX3" fmla="*/ 424270 w 610187"/>
              <a:gd name="connsiteY3" fmla="*/ 0 h 420364"/>
              <a:gd name="connsiteX4" fmla="*/ 610187 w 610187"/>
              <a:gd name="connsiteY4" fmla="*/ 420364 h 420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187" h="420364">
                <a:moveTo>
                  <a:pt x="610187" y="420364"/>
                </a:moveTo>
                <a:lnTo>
                  <a:pt x="0" y="420364"/>
                </a:lnTo>
                <a:lnTo>
                  <a:pt x="0" y="0"/>
                </a:lnTo>
                <a:lnTo>
                  <a:pt x="424270" y="0"/>
                </a:lnTo>
                <a:lnTo>
                  <a:pt x="610187" y="420364"/>
                </a:lnTo>
                <a:close/>
              </a:path>
            </a:pathLst>
          </a:custGeom>
          <a:pattFill prst="wdUpDiag">
            <a:fgClr>
              <a:schemeClr val="accent2">
                <a:lumMod val="75000"/>
              </a:schemeClr>
            </a:fgClr>
            <a:bgClr>
              <a:schemeClr val="bg1"/>
            </a:bgClr>
          </a:patt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2" name="矩形 1"/>
          <p:cNvSpPr/>
          <p:nvPr/>
        </p:nvSpPr>
        <p:spPr bwMode="auto">
          <a:xfrm>
            <a:off x="1117224" y="2126404"/>
            <a:ext cx="1796995" cy="2456953"/>
          </a:xfrm>
          <a:prstGeom prst="rect">
            <a:avLst/>
          </a:prstGeom>
          <a:solidFill>
            <a:srgbClr val="FFC000"/>
          </a:solidFill>
          <a:ln w="12700" cap="flat" cmpd="sng" algn="ctr">
            <a:solidFill>
              <a:schemeClr val="tx1"/>
            </a:solid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93</a:t>
            </a:fld>
            <a:endParaRPr lang="zh-CN" altLang="en-US" dirty="0">
              <a:solidFill>
                <a:srgbClr val="C00000"/>
              </a:solidFill>
            </a:endParaRPr>
          </a:p>
        </p:txBody>
      </p:sp>
      <p:sp>
        <p:nvSpPr>
          <p:cNvPr id="53" name="Text Box 7"/>
          <p:cNvSpPr txBox="1">
            <a:spLocks noChangeArrowheads="1"/>
          </p:cNvSpPr>
          <p:nvPr/>
        </p:nvSpPr>
        <p:spPr bwMode="auto">
          <a:xfrm>
            <a:off x="0" y="0"/>
            <a:ext cx="6011186"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 </a:t>
            </a:r>
            <a:r>
              <a:rPr lang="en-US" altLang="zh-CN" sz="1800" b="1" kern="900" spc="130" dirty="0" smtClean="0">
                <a:solidFill>
                  <a:srgbClr val="000066"/>
                </a:solidFill>
                <a:ea typeface="黑体" panose="02010609060101010101" pitchFamily="49" charset="-122"/>
                <a:cs typeface="Times New Roman" panose="02020603050405020304" pitchFamily="18" charset="0"/>
              </a:rPr>
              <a:t>- </a:t>
            </a:r>
            <a:r>
              <a:rPr lang="zh-CN" altLang="en-US" sz="1800" b="1" kern="900" spc="130" dirty="0" smtClean="0">
                <a:solidFill>
                  <a:srgbClr val="000066"/>
                </a:solidFill>
                <a:ea typeface="黑体" panose="02010609060101010101" pitchFamily="49" charset="-122"/>
                <a:cs typeface="Times New Roman" panose="02020603050405020304" pitchFamily="18" charset="0"/>
              </a:rPr>
              <a:t>加</a:t>
            </a:r>
            <a:r>
              <a:rPr lang="zh-CN" altLang="en-US" sz="1800" b="1" kern="900" spc="130" dirty="0">
                <a:solidFill>
                  <a:srgbClr val="000066"/>
                </a:solidFill>
                <a:ea typeface="黑体" panose="02010609060101010101" pitchFamily="49" charset="-122"/>
                <a:cs typeface="Times New Roman" panose="02020603050405020304" pitchFamily="18" charset="0"/>
              </a:rPr>
              <a:t>筋土挡墙</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en-US" altLang="zh-CN" sz="4000" b="1" dirty="0">
                <a:solidFill>
                  <a:srgbClr val="000066"/>
                </a:solidFill>
                <a:ea typeface="黑体" pitchFamily="2" charset="-122"/>
                <a:cs typeface="Times New Roman" panose="02020603050405020304" pitchFamily="18" charset="0"/>
              </a:rPr>
              <a:t>7</a:t>
            </a:r>
            <a:r>
              <a:rPr kumimoji="1" lang="en-US" altLang="zh-CN" sz="4000" b="1" dirty="0" smtClean="0">
                <a:solidFill>
                  <a:srgbClr val="000066"/>
                </a:solidFill>
                <a:ea typeface="黑体" pitchFamily="2" charset="-122"/>
                <a:cs typeface="Times New Roman" panose="02020603050405020304" pitchFamily="18" charset="0"/>
              </a:rPr>
              <a:t>.  </a:t>
            </a:r>
            <a:r>
              <a:rPr kumimoji="1" lang="zh-CN" altLang="en-US" sz="4000" b="1" dirty="0" smtClean="0">
                <a:solidFill>
                  <a:srgbClr val="000066"/>
                </a:solidFill>
                <a:ea typeface="黑体" pitchFamily="2" charset="-122"/>
                <a:cs typeface="Times New Roman" panose="02020603050405020304" pitchFamily="18" charset="0"/>
              </a:rPr>
              <a:t>加</a:t>
            </a:r>
            <a:r>
              <a:rPr kumimoji="1" lang="zh-CN" altLang="en-US" sz="4000" b="1" dirty="0">
                <a:solidFill>
                  <a:srgbClr val="000066"/>
                </a:solidFill>
                <a:ea typeface="黑体" pitchFamily="2" charset="-122"/>
                <a:cs typeface="Times New Roman" panose="02020603050405020304" pitchFamily="18" charset="0"/>
              </a:rPr>
              <a:t>筋土挡墙</a:t>
            </a:r>
          </a:p>
        </p:txBody>
      </p:sp>
      <p:sp>
        <p:nvSpPr>
          <p:cNvPr id="296" name="Rectangle 3"/>
          <p:cNvSpPr txBox="1">
            <a:spLocks noChangeArrowheads="1"/>
          </p:cNvSpPr>
          <p:nvPr/>
        </p:nvSpPr>
        <p:spPr bwMode="auto">
          <a:xfrm>
            <a:off x="442977" y="616528"/>
            <a:ext cx="3701320" cy="632714"/>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fontAlgn="base">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a:lstStyle>
          <a:p>
            <a:pPr>
              <a:lnSpc>
                <a:spcPct val="150000"/>
              </a:lnSpc>
              <a:spcBef>
                <a:spcPct val="0"/>
              </a:spcBef>
              <a:buClr>
                <a:srgbClr val="C00000"/>
              </a:buClr>
              <a:buSzPct val="100000"/>
              <a:buFont typeface="Wingdings" panose="05000000000000000000" pitchFamily="2" charset="2"/>
              <a:buChar char="n"/>
            </a:pPr>
            <a:r>
              <a:rPr lang="zh-CN" altLang="en-US" sz="2800" b="1" kern="0" dirty="0" smtClean="0">
                <a:solidFill>
                  <a:srgbClr val="A50021"/>
                </a:solidFill>
                <a:latin typeface="微软雅黑" panose="020B0503020204020204" pitchFamily="34" charset="-122"/>
                <a:ea typeface="微软雅黑" panose="020B0503020204020204" pitchFamily="34" charset="-122"/>
              </a:rPr>
              <a:t> </a:t>
            </a:r>
            <a:r>
              <a:rPr lang="zh-CN" altLang="en-US" sz="2800" b="1" kern="0" dirty="0">
                <a:solidFill>
                  <a:srgbClr val="A50021"/>
                </a:solidFill>
                <a:latin typeface="微软雅黑" panose="020B0503020204020204" pitchFamily="34" charset="-122"/>
                <a:ea typeface="微软雅黑" panose="020B0503020204020204" pitchFamily="34" charset="-122"/>
              </a:rPr>
              <a:t>内部</a:t>
            </a:r>
            <a:r>
              <a:rPr lang="zh-CN" altLang="en-US" sz="2800" b="1" kern="0" dirty="0" smtClean="0">
                <a:solidFill>
                  <a:srgbClr val="A50021"/>
                </a:solidFill>
                <a:latin typeface="微软雅黑" panose="020B0503020204020204" pitchFamily="34" charset="-122"/>
                <a:ea typeface="微软雅黑" panose="020B0503020204020204" pitchFamily="34" charset="-122"/>
              </a:rPr>
              <a:t>稳定性</a:t>
            </a:r>
            <a:endParaRPr lang="zh-CN" altLang="en-US" sz="2800" b="1" kern="0" dirty="0">
              <a:solidFill>
                <a:srgbClr val="A50021"/>
              </a:solidFill>
              <a:latin typeface="微软雅黑" panose="020B0503020204020204" pitchFamily="34" charset="-122"/>
              <a:ea typeface="微软雅黑" panose="020B0503020204020204" pitchFamily="34" charset="-122"/>
            </a:endParaRPr>
          </a:p>
        </p:txBody>
      </p:sp>
      <p:sp>
        <p:nvSpPr>
          <p:cNvPr id="19" name="Line 13"/>
          <p:cNvSpPr>
            <a:spLocks noChangeShapeType="1"/>
          </p:cNvSpPr>
          <p:nvPr/>
        </p:nvSpPr>
        <p:spPr bwMode="auto">
          <a:xfrm>
            <a:off x="1125863" y="2500139"/>
            <a:ext cx="1784794"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0" name="Line 14"/>
          <p:cNvSpPr>
            <a:spLocks noChangeShapeType="1"/>
          </p:cNvSpPr>
          <p:nvPr/>
        </p:nvSpPr>
        <p:spPr bwMode="auto">
          <a:xfrm flipV="1">
            <a:off x="1114423" y="2883291"/>
            <a:ext cx="179861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1" name="Line 15"/>
          <p:cNvSpPr>
            <a:spLocks noChangeShapeType="1"/>
          </p:cNvSpPr>
          <p:nvPr/>
        </p:nvSpPr>
        <p:spPr bwMode="auto">
          <a:xfrm>
            <a:off x="1114423" y="3301274"/>
            <a:ext cx="1798615"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2" name="Line 16"/>
          <p:cNvSpPr>
            <a:spLocks noChangeShapeType="1"/>
          </p:cNvSpPr>
          <p:nvPr/>
        </p:nvSpPr>
        <p:spPr bwMode="auto">
          <a:xfrm flipV="1">
            <a:off x="1114423" y="3719258"/>
            <a:ext cx="1796176"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3" name="Line 17"/>
          <p:cNvSpPr>
            <a:spLocks noChangeShapeType="1"/>
          </p:cNvSpPr>
          <p:nvPr/>
        </p:nvSpPr>
        <p:spPr bwMode="auto">
          <a:xfrm flipV="1">
            <a:off x="1114423" y="4137242"/>
            <a:ext cx="1791472" cy="0"/>
          </a:xfrm>
          <a:prstGeom prst="line">
            <a:avLst/>
          </a:prstGeom>
          <a:noFill/>
          <a:ln w="38100" cmpd="dbl">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93" name="Line 89"/>
          <p:cNvSpPr>
            <a:spLocks noChangeAspect="1" noChangeShapeType="1"/>
          </p:cNvSpPr>
          <p:nvPr/>
        </p:nvSpPr>
        <p:spPr bwMode="auto">
          <a:xfrm rot="5400000">
            <a:off x="3171007" y="3333896"/>
            <a:ext cx="2500078"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Text Box 62"/>
          <p:cNvSpPr txBox="1">
            <a:spLocks noChangeArrowheads="1"/>
          </p:cNvSpPr>
          <p:nvPr/>
        </p:nvSpPr>
        <p:spPr bwMode="auto">
          <a:xfrm>
            <a:off x="4345528" y="3092296"/>
            <a:ext cx="469208" cy="51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rPr>
              <a:t>H</a:t>
            </a:r>
            <a:endParaRPr kumimoji="1" lang="en-US" altLang="zh-CN" sz="2400" b="1" dirty="0">
              <a:solidFill>
                <a:srgbClr val="000066"/>
              </a:solidFill>
              <a:latin typeface="Times New Roman" panose="02020603050405020304" pitchFamily="18" charset="0"/>
            </a:endParaRPr>
          </a:p>
        </p:txBody>
      </p:sp>
      <p:cxnSp>
        <p:nvCxnSpPr>
          <p:cNvPr id="95" name="直接连接符 94"/>
          <p:cNvCxnSpPr/>
          <p:nvPr/>
        </p:nvCxnSpPr>
        <p:spPr bwMode="auto">
          <a:xfrm>
            <a:off x="4322624" y="2095755"/>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4323949" y="4583933"/>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矩形 115"/>
          <p:cNvSpPr/>
          <p:nvPr/>
        </p:nvSpPr>
        <p:spPr>
          <a:xfrm>
            <a:off x="4895850" y="938167"/>
            <a:ext cx="3859294" cy="1412694"/>
          </a:xfrm>
          <a:prstGeom prst="rect">
            <a:avLst/>
          </a:prstGeom>
        </p:spPr>
        <p:txBody>
          <a:bodyPr wrap="square">
            <a:spAutoFit/>
          </a:bodyPr>
          <a:lstStyle/>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ea typeface="幼圆" panose="02010509060101010101" pitchFamily="49" charset="-122"/>
                <a:cs typeface="Times New Roman" panose="02020603050405020304" pitchFamily="18" charset="0"/>
              </a:rPr>
              <a:t>内部稳定主要是验算筋材抗拉断破坏和抗拔出稳定</a:t>
            </a:r>
            <a:endParaRPr lang="en-US" altLang="zh-CN" sz="2200" b="1" dirty="0" smtClean="0">
              <a:solidFill>
                <a:srgbClr val="000066"/>
              </a:solidFill>
              <a:ea typeface="幼圆" panose="02010509060101010101" pitchFamily="49" charset="-122"/>
              <a:cs typeface="Times New Roman" panose="02020603050405020304" pitchFamily="18" charset="0"/>
            </a:endParaRPr>
          </a:p>
          <a:p>
            <a:pPr marL="342900" indent="-342900">
              <a:lnSpc>
                <a:spcPct val="120000"/>
              </a:lnSpc>
              <a:buClr>
                <a:srgbClr val="C00000"/>
              </a:buClr>
              <a:buFont typeface="Wingdings" panose="05000000000000000000" pitchFamily="2" charset="2"/>
              <a:buChar char="Ø"/>
            </a:pPr>
            <a:r>
              <a:rPr lang="zh-CN" altLang="en-US" sz="2200" b="1" dirty="0">
                <a:solidFill>
                  <a:srgbClr val="000066"/>
                </a:solidFill>
                <a:ea typeface="幼圆" panose="02010509060101010101" pitchFamily="49" charset="-122"/>
                <a:cs typeface="Times New Roman" panose="02020603050405020304" pitchFamily="18" charset="0"/>
              </a:rPr>
              <a:t>抗拉断</a:t>
            </a:r>
            <a:r>
              <a:rPr lang="zh-CN" altLang="en-US" sz="2200" b="1" dirty="0" smtClean="0">
                <a:solidFill>
                  <a:srgbClr val="000066"/>
                </a:solidFill>
                <a:ea typeface="幼圆" panose="02010509060101010101" pitchFamily="49" charset="-122"/>
                <a:cs typeface="Times New Roman" panose="02020603050405020304" pitchFamily="18" charset="0"/>
              </a:rPr>
              <a:t>破坏：</a:t>
            </a:r>
            <a:endParaRPr lang="zh-CN" altLang="en-US" sz="2200" b="1" dirty="0">
              <a:solidFill>
                <a:srgbClr val="000066"/>
              </a:solidFill>
              <a:ea typeface="幼圆" panose="02010509060101010101" pitchFamily="49" charset="-122"/>
              <a:cs typeface="Times New Roman" panose="02020603050405020304" pitchFamily="18" charset="0"/>
            </a:endParaRPr>
          </a:p>
        </p:txBody>
      </p:sp>
      <p:sp>
        <p:nvSpPr>
          <p:cNvPr id="121" name="Line 89"/>
          <p:cNvSpPr>
            <a:spLocks noChangeAspect="1" noChangeShapeType="1"/>
          </p:cNvSpPr>
          <p:nvPr/>
        </p:nvSpPr>
        <p:spPr bwMode="auto">
          <a:xfrm>
            <a:off x="1109000" y="1863076"/>
            <a:ext cx="1821120"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2" name="直接连接符 121"/>
          <p:cNvCxnSpPr/>
          <p:nvPr/>
        </p:nvCxnSpPr>
        <p:spPr bwMode="auto">
          <a:xfrm rot="16200000">
            <a:off x="991326" y="1841484"/>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直接连接符 122"/>
          <p:cNvCxnSpPr/>
          <p:nvPr/>
        </p:nvCxnSpPr>
        <p:spPr bwMode="auto">
          <a:xfrm rot="16200000">
            <a:off x="2797597" y="1848856"/>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62"/>
          <p:cNvSpPr txBox="1">
            <a:spLocks noChangeArrowheads="1"/>
          </p:cNvSpPr>
          <p:nvPr/>
        </p:nvSpPr>
        <p:spPr bwMode="auto">
          <a:xfrm>
            <a:off x="1885701" y="1392042"/>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000066"/>
                </a:solidFill>
                <a:latin typeface="Times New Roman" panose="02020603050405020304" pitchFamily="18" charset="0"/>
              </a:rPr>
              <a:t>L</a:t>
            </a:r>
            <a:endParaRPr kumimoji="1" lang="en-US" altLang="zh-CN" sz="2400" b="1" dirty="0">
              <a:solidFill>
                <a:srgbClr val="000066"/>
              </a:solidFill>
              <a:latin typeface="Times New Roman" panose="02020603050405020304" pitchFamily="18" charset="0"/>
            </a:endParaRPr>
          </a:p>
        </p:txBody>
      </p:sp>
      <p:cxnSp>
        <p:nvCxnSpPr>
          <p:cNvPr id="72" name="直接箭头连接符 71"/>
          <p:cNvCxnSpPr>
            <a:stCxn id="71" idx="4"/>
          </p:cNvCxnSpPr>
          <p:nvPr/>
        </p:nvCxnSpPr>
        <p:spPr bwMode="auto">
          <a:xfrm flipH="1">
            <a:off x="3082628" y="4567247"/>
            <a:ext cx="1076144" cy="2452"/>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箭头连接符 72"/>
          <p:cNvCxnSpPr/>
          <p:nvPr/>
        </p:nvCxnSpPr>
        <p:spPr bwMode="auto">
          <a:xfrm flipH="1">
            <a:off x="3085253" y="4141721"/>
            <a:ext cx="896967"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p:nvPr/>
        </p:nvCxnSpPr>
        <p:spPr bwMode="auto">
          <a:xfrm flipH="1">
            <a:off x="3085252" y="3294917"/>
            <a:ext cx="518349"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80"/>
          <p:cNvCxnSpPr/>
          <p:nvPr/>
        </p:nvCxnSpPr>
        <p:spPr bwMode="auto">
          <a:xfrm flipH="1">
            <a:off x="3082870" y="2878847"/>
            <a:ext cx="330231"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81"/>
          <p:cNvCxnSpPr/>
          <p:nvPr/>
        </p:nvCxnSpPr>
        <p:spPr bwMode="auto">
          <a:xfrm flipH="1">
            <a:off x="3080489" y="2492273"/>
            <a:ext cx="161162"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箭头连接符 95"/>
          <p:cNvCxnSpPr/>
          <p:nvPr/>
        </p:nvCxnSpPr>
        <p:spPr bwMode="auto">
          <a:xfrm flipH="1">
            <a:off x="3091603" y="3714018"/>
            <a:ext cx="679632" cy="0"/>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3079321" y="2138171"/>
            <a:ext cx="0" cy="2427342"/>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直接连接符 119"/>
          <p:cNvCxnSpPr/>
          <p:nvPr/>
        </p:nvCxnSpPr>
        <p:spPr bwMode="auto">
          <a:xfrm>
            <a:off x="3088291" y="2142416"/>
            <a:ext cx="1074153" cy="2428503"/>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Text Box 62"/>
          <p:cNvSpPr txBox="1">
            <a:spLocks noChangeArrowheads="1"/>
          </p:cNvSpPr>
          <p:nvPr/>
        </p:nvSpPr>
        <p:spPr bwMode="auto">
          <a:xfrm>
            <a:off x="3861321" y="3406572"/>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A50021"/>
                </a:solidFill>
                <a:latin typeface="Times New Roman" panose="02020603050405020304" pitchFamily="18" charset="0"/>
              </a:rPr>
              <a:t>p</a:t>
            </a:r>
            <a:r>
              <a:rPr kumimoji="1" lang="en-US" altLang="zh-CN" sz="2400" b="1" baseline="-25000" dirty="0" smtClean="0">
                <a:solidFill>
                  <a:srgbClr val="A50021"/>
                </a:solidFill>
                <a:latin typeface="Times New Roman" panose="02020603050405020304" pitchFamily="18" charset="0"/>
              </a:rPr>
              <a:t>a</a:t>
            </a:r>
            <a:endParaRPr kumimoji="1" lang="en-US" altLang="zh-CN" sz="2400" b="1" baseline="-25000" dirty="0">
              <a:solidFill>
                <a:srgbClr val="A50021"/>
              </a:solidFill>
              <a:latin typeface="Times New Roman" panose="02020603050405020304" pitchFamily="18" charset="0"/>
            </a:endParaRPr>
          </a:p>
        </p:txBody>
      </p:sp>
      <p:cxnSp>
        <p:nvCxnSpPr>
          <p:cNvPr id="40" name="直接连接符 39"/>
          <p:cNvCxnSpPr/>
          <p:nvPr/>
        </p:nvCxnSpPr>
        <p:spPr bwMode="auto">
          <a:xfrm flipV="1">
            <a:off x="1116578" y="2118451"/>
            <a:ext cx="1481358" cy="2458574"/>
          </a:xfrm>
          <a:prstGeom prst="line">
            <a:avLst/>
          </a:prstGeom>
          <a:noFill/>
          <a:ln w="12700"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Text Box 40"/>
          <p:cNvSpPr txBox="1">
            <a:spLocks noChangeArrowheads="1"/>
          </p:cNvSpPr>
          <p:nvPr/>
        </p:nvSpPr>
        <p:spPr bwMode="auto">
          <a:xfrm>
            <a:off x="1329012" y="4218203"/>
            <a:ext cx="1067819"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800" b="1" dirty="0" smtClean="0">
                <a:solidFill>
                  <a:srgbClr val="000000"/>
                </a:solidFill>
                <a:sym typeface="Symbol" pitchFamily="18" charset="2"/>
              </a:rPr>
              <a:t>45</a:t>
            </a:r>
            <a:r>
              <a:rPr lang="zh-CN" altLang="en-US" sz="1800" b="1" dirty="0" smtClean="0">
                <a:solidFill>
                  <a:srgbClr val="000000"/>
                </a:solidFill>
                <a:sym typeface="Symbol" pitchFamily="18" charset="2"/>
              </a:rPr>
              <a:t>＋</a:t>
            </a:r>
            <a:r>
              <a:rPr lang="zh-CN" altLang="en-US" sz="1800" b="1" dirty="0">
                <a:solidFill>
                  <a:srgbClr val="000000"/>
                </a:solidFill>
                <a:sym typeface="Symbol" pitchFamily="18" charset="2"/>
              </a:rPr>
              <a:t></a:t>
            </a:r>
            <a:r>
              <a:rPr lang="en-US" altLang="zh-CN" sz="1800" b="1" dirty="0">
                <a:solidFill>
                  <a:srgbClr val="000000"/>
                </a:solidFill>
                <a:sym typeface="Symbol" pitchFamily="18" charset="2"/>
              </a:rPr>
              <a:t>/2</a:t>
            </a:r>
            <a:endParaRPr lang="en-US" altLang="zh-CN" sz="1800" b="1" dirty="0">
              <a:solidFill>
                <a:srgbClr val="000000"/>
              </a:solidFill>
            </a:endParaRPr>
          </a:p>
        </p:txBody>
      </p:sp>
      <p:sp>
        <p:nvSpPr>
          <p:cNvPr id="42" name="任意多边形 41"/>
          <p:cNvSpPr/>
          <p:nvPr/>
        </p:nvSpPr>
        <p:spPr bwMode="auto">
          <a:xfrm rot="472699">
            <a:off x="1204260" y="4410180"/>
            <a:ext cx="150882" cy="153901"/>
          </a:xfrm>
          <a:custGeom>
            <a:avLst/>
            <a:gdLst>
              <a:gd name="connsiteX0" fmla="*/ 82339 w 84333"/>
              <a:gd name="connsiteY0" fmla="*/ 177679 h 177679"/>
              <a:gd name="connsiteX1" fmla="*/ 73672 w 84333"/>
              <a:gd name="connsiteY1" fmla="*/ 82339 h 177679"/>
              <a:gd name="connsiteX2" fmla="*/ 0 w 84333"/>
              <a:gd name="connsiteY2" fmla="*/ 0 h 177679"/>
              <a:gd name="connsiteX0" fmla="*/ 82339 w 82657"/>
              <a:gd name="connsiteY0" fmla="*/ 177679 h 177679"/>
              <a:gd name="connsiteX1" fmla="*/ 58203 w 82657"/>
              <a:gd name="connsiteY1" fmla="*/ 52563 h 177679"/>
              <a:gd name="connsiteX2" fmla="*/ 0 w 82657"/>
              <a:gd name="connsiteY2" fmla="*/ 0 h 177679"/>
              <a:gd name="connsiteX0" fmla="*/ 82339 w 82606"/>
              <a:gd name="connsiteY0" fmla="*/ 177679 h 177679"/>
              <a:gd name="connsiteX1" fmla="*/ 55263 w 82606"/>
              <a:gd name="connsiteY1" fmla="*/ 51002 h 177679"/>
              <a:gd name="connsiteX2" fmla="*/ 0 w 82606"/>
              <a:gd name="connsiteY2" fmla="*/ 0 h 177679"/>
              <a:gd name="connsiteX0" fmla="*/ 82339 w 82731"/>
              <a:gd name="connsiteY0" fmla="*/ 177679 h 177679"/>
              <a:gd name="connsiteX1" fmla="*/ 61142 w 82731"/>
              <a:gd name="connsiteY1" fmla="*/ 54124 h 177679"/>
              <a:gd name="connsiteX2" fmla="*/ 0 w 82731"/>
              <a:gd name="connsiteY2" fmla="*/ 0 h 177679"/>
            </a:gdLst>
            <a:ahLst/>
            <a:cxnLst>
              <a:cxn ang="0">
                <a:pos x="connsiteX0" y="connsiteY0"/>
              </a:cxn>
              <a:cxn ang="0">
                <a:pos x="connsiteX1" y="connsiteY1"/>
              </a:cxn>
              <a:cxn ang="0">
                <a:pos x="connsiteX2" y="connsiteY2"/>
              </a:cxn>
            </a:cxnLst>
            <a:rect l="l" t="t" r="r" b="b"/>
            <a:pathLst>
              <a:path w="82731" h="177679">
                <a:moveTo>
                  <a:pt x="82339" y="177679"/>
                </a:moveTo>
                <a:cubicBezTo>
                  <a:pt x="84867" y="144815"/>
                  <a:pt x="74865" y="83737"/>
                  <a:pt x="61142" y="54124"/>
                </a:cubicBezTo>
                <a:cubicBezTo>
                  <a:pt x="47419" y="24511"/>
                  <a:pt x="29974" y="26363"/>
                  <a:pt x="0" y="0"/>
                </a:cubicBezTo>
              </a:path>
            </a:pathLst>
          </a:custGeom>
          <a:noFill/>
          <a:ln w="12700" cap="flat" cmpd="sng" algn="ctr">
            <a:solidFill>
              <a:srgbClr val="C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358775" algn="l" defTabSz="914400" rtl="0" eaLnBrk="1" fontAlgn="base" latinLnBrk="0" hangingPunct="1">
              <a:lnSpc>
                <a:spcPct val="115000"/>
              </a:lnSpc>
              <a:spcBef>
                <a:spcPct val="15000"/>
              </a:spcBef>
              <a:spcAft>
                <a:spcPct val="15000"/>
              </a:spcAft>
              <a:buClrTx/>
              <a:buSzTx/>
              <a:buFontTx/>
              <a:buNone/>
              <a:tabLst/>
            </a:pPr>
            <a:endParaRPr kumimoji="0" lang="zh-CN" altLang="en-US" sz="1400" b="0" i="0" u="none" strike="noStrike" cap="none" normalizeH="0" baseline="0" smtClean="0">
              <a:ln>
                <a:noFill/>
              </a:ln>
              <a:solidFill>
                <a:schemeClr val="tx1"/>
              </a:solidFill>
              <a:effectLst/>
              <a:latin typeface="Times New Roman" pitchFamily="18" charset="0"/>
              <a:ea typeface="宋体" charset="-122"/>
            </a:endParaRPr>
          </a:p>
        </p:txBody>
      </p:sp>
      <p:sp>
        <p:nvSpPr>
          <p:cNvPr id="54" name="Line 89"/>
          <p:cNvSpPr>
            <a:spLocks noChangeAspect="1" noChangeShapeType="1"/>
          </p:cNvSpPr>
          <p:nvPr/>
        </p:nvSpPr>
        <p:spPr bwMode="auto">
          <a:xfrm rot="5400000">
            <a:off x="1173548" y="3109263"/>
            <a:ext cx="423574"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组合 5"/>
          <p:cNvGrpSpPr/>
          <p:nvPr/>
        </p:nvGrpSpPr>
        <p:grpSpPr>
          <a:xfrm>
            <a:off x="456867" y="2118270"/>
            <a:ext cx="469208" cy="1202780"/>
            <a:chOff x="456867" y="2118270"/>
            <a:chExt cx="469208" cy="1202780"/>
          </a:xfrm>
        </p:grpSpPr>
        <p:sp>
          <p:nvSpPr>
            <p:cNvPr id="49" name="Line 89"/>
            <p:cNvSpPr>
              <a:spLocks noChangeAspect="1" noChangeShapeType="1"/>
            </p:cNvSpPr>
            <p:nvPr/>
          </p:nvSpPr>
          <p:spPr bwMode="auto">
            <a:xfrm rot="5400000">
              <a:off x="196467" y="2719660"/>
              <a:ext cx="1202780"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0" name="直接连接符 49"/>
            <p:cNvCxnSpPr/>
            <p:nvPr/>
          </p:nvCxnSpPr>
          <p:spPr bwMode="auto">
            <a:xfrm>
              <a:off x="677313" y="2130168"/>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678638" y="3313111"/>
              <a:ext cx="246490" cy="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 Box 62"/>
            <p:cNvSpPr txBox="1">
              <a:spLocks noChangeArrowheads="1"/>
            </p:cNvSpPr>
            <p:nvPr/>
          </p:nvSpPr>
          <p:spPr bwMode="auto">
            <a:xfrm>
              <a:off x="456867" y="2477780"/>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dirty="0" smtClean="0">
                  <a:solidFill>
                    <a:srgbClr val="000066"/>
                  </a:solidFill>
                  <a:latin typeface="Times New Roman" panose="02020603050405020304" pitchFamily="18" charset="0"/>
                </a:rPr>
                <a:t>z</a:t>
              </a:r>
              <a:endParaRPr kumimoji="1" lang="en-US" altLang="zh-CN" sz="2400" b="1" dirty="0">
                <a:solidFill>
                  <a:srgbClr val="000066"/>
                </a:solidFill>
                <a:latin typeface="Times New Roman" panose="02020603050405020304" pitchFamily="18" charset="0"/>
              </a:endParaRPr>
            </a:p>
          </p:txBody>
        </p:sp>
      </p:grpSp>
      <p:sp>
        <p:nvSpPr>
          <p:cNvPr id="56" name="Text Box 62"/>
          <p:cNvSpPr txBox="1">
            <a:spLocks noChangeArrowheads="1"/>
          </p:cNvSpPr>
          <p:nvPr/>
        </p:nvSpPr>
        <p:spPr bwMode="auto">
          <a:xfrm>
            <a:off x="1361433" y="2785038"/>
            <a:ext cx="469208"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err="1" smtClean="0">
                <a:solidFill>
                  <a:srgbClr val="000066"/>
                </a:solidFill>
                <a:latin typeface="Times New Roman" panose="02020603050405020304" pitchFamily="18" charset="0"/>
              </a:rPr>
              <a:t>s</a:t>
            </a:r>
            <a:r>
              <a:rPr kumimoji="1" lang="en-US" altLang="zh-CN" sz="2400" b="1" baseline="-25000" dirty="0" err="1" smtClean="0">
                <a:solidFill>
                  <a:srgbClr val="000066"/>
                </a:solidFill>
                <a:latin typeface="Times New Roman" panose="02020603050405020304" pitchFamily="18" charset="0"/>
              </a:rPr>
              <a:t>vi</a:t>
            </a:r>
            <a:endParaRPr kumimoji="1" lang="en-US" altLang="zh-CN" sz="2400" b="1" baseline="-25000" dirty="0">
              <a:solidFill>
                <a:srgbClr val="000066"/>
              </a:solidFill>
              <a:latin typeface="Times New Roman" panose="02020603050405020304" pitchFamily="18" charset="0"/>
            </a:endParaRPr>
          </a:p>
        </p:txBody>
      </p:sp>
      <p:grpSp>
        <p:nvGrpSpPr>
          <p:cNvPr id="3" name="组合 2"/>
          <p:cNvGrpSpPr/>
          <p:nvPr/>
        </p:nvGrpSpPr>
        <p:grpSpPr>
          <a:xfrm>
            <a:off x="1873458" y="3276806"/>
            <a:ext cx="1031976" cy="483017"/>
            <a:chOff x="1873458" y="3276806"/>
            <a:chExt cx="1031976" cy="483017"/>
          </a:xfrm>
        </p:grpSpPr>
        <p:sp>
          <p:nvSpPr>
            <p:cNvPr id="57" name="Line 89"/>
            <p:cNvSpPr>
              <a:spLocks noChangeAspect="1" noChangeShapeType="1"/>
            </p:cNvSpPr>
            <p:nvPr/>
          </p:nvSpPr>
          <p:spPr bwMode="auto">
            <a:xfrm>
              <a:off x="1873458" y="3409202"/>
              <a:ext cx="1031976" cy="0"/>
            </a:xfrm>
            <a:prstGeom prst="line">
              <a:avLst/>
            </a:prstGeom>
            <a:noFill/>
            <a:ln w="9525">
              <a:solidFill>
                <a:srgbClr val="00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8" name="直接连接符 57"/>
            <p:cNvCxnSpPr/>
            <p:nvPr/>
          </p:nvCxnSpPr>
          <p:spPr bwMode="auto">
            <a:xfrm flipV="1">
              <a:off x="1879029" y="3345479"/>
              <a:ext cx="0" cy="246490"/>
            </a:xfrm>
            <a:prstGeom prst="line">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 Box 62"/>
            <p:cNvSpPr txBox="1">
              <a:spLocks noChangeArrowheads="1"/>
            </p:cNvSpPr>
            <p:nvPr/>
          </p:nvSpPr>
          <p:spPr bwMode="auto">
            <a:xfrm>
              <a:off x="2118516" y="3276806"/>
              <a:ext cx="528821" cy="48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a:solidFill>
                    <a:srgbClr val="1C1C1C"/>
                  </a:solidFill>
                  <a:latin typeface="Arial" panose="020B0604020202020204" pitchFamily="34" charset="0"/>
                  <a:ea typeface="SimSun" panose="02010600030101010101" pitchFamily="2" charset="-122"/>
                </a:defRPr>
              </a:lvl1pPr>
              <a:lvl2pPr marL="742950" indent="-285750">
                <a:defRPr sz="4400">
                  <a:solidFill>
                    <a:srgbClr val="1C1C1C"/>
                  </a:solidFill>
                  <a:latin typeface="Arial" panose="020B0604020202020204" pitchFamily="34" charset="0"/>
                  <a:ea typeface="SimSun" panose="02010600030101010101" pitchFamily="2" charset="-122"/>
                </a:defRPr>
              </a:lvl2pPr>
              <a:lvl3pPr marL="1143000" indent="-228600">
                <a:defRPr sz="4400">
                  <a:solidFill>
                    <a:srgbClr val="1C1C1C"/>
                  </a:solidFill>
                  <a:latin typeface="Arial" panose="020B0604020202020204" pitchFamily="34" charset="0"/>
                  <a:ea typeface="SimSun" panose="02010600030101010101" pitchFamily="2" charset="-122"/>
                </a:defRPr>
              </a:lvl3pPr>
              <a:lvl4pPr marL="1600200" indent="-228600">
                <a:defRPr sz="4400">
                  <a:solidFill>
                    <a:srgbClr val="1C1C1C"/>
                  </a:solidFill>
                  <a:latin typeface="Arial" panose="020B0604020202020204" pitchFamily="34" charset="0"/>
                  <a:ea typeface="SimSun" panose="02010600030101010101" pitchFamily="2" charset="-122"/>
                </a:defRPr>
              </a:lvl4pPr>
              <a:lvl5pPr marL="2057400" indent="-228600">
                <a:defRPr sz="4400">
                  <a:solidFill>
                    <a:srgbClr val="1C1C1C"/>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sz="4400">
                  <a:solidFill>
                    <a:srgbClr val="1C1C1C"/>
                  </a:solidFill>
                  <a:latin typeface="Arial" panose="020B0604020202020204" pitchFamily="34" charset="0"/>
                  <a:ea typeface="SimSun" panose="02010600030101010101" pitchFamily="2" charset="-122"/>
                </a:defRPr>
              </a:lvl9pPr>
            </a:lstStyle>
            <a:p>
              <a:pPr eaLnBrk="1" hangingPunct="1">
                <a:spcBef>
                  <a:spcPct val="50000"/>
                </a:spcBef>
              </a:pPr>
              <a:r>
                <a:rPr kumimoji="1" lang="en-US" altLang="zh-CN" sz="2400" b="1" i="1" dirty="0" smtClean="0">
                  <a:solidFill>
                    <a:srgbClr val="A50021"/>
                  </a:solidFill>
                  <a:latin typeface="Times New Roman" panose="02020603050405020304" pitchFamily="18" charset="0"/>
                </a:rPr>
                <a:t>L</a:t>
              </a:r>
              <a:r>
                <a:rPr kumimoji="1" lang="en-US" altLang="zh-CN" sz="2400" b="1" baseline="-25000" dirty="0" smtClean="0">
                  <a:solidFill>
                    <a:srgbClr val="A50021"/>
                  </a:solidFill>
                  <a:latin typeface="Times New Roman" panose="02020603050405020304" pitchFamily="18" charset="0"/>
                </a:rPr>
                <a:t>ei</a:t>
              </a:r>
              <a:endParaRPr kumimoji="1" lang="en-US" altLang="zh-CN" sz="2400" b="1" baseline="-25000" dirty="0">
                <a:solidFill>
                  <a:srgbClr val="A50021"/>
                </a:solidFill>
                <a:latin typeface="Times New Roman" panose="02020603050405020304" pitchFamily="18" charset="0"/>
              </a:endParaRPr>
            </a:p>
          </p:txBody>
        </p:sp>
      </p:grpSp>
      <p:sp>
        <p:nvSpPr>
          <p:cNvPr id="68" name="Text Box 54"/>
          <p:cNvSpPr txBox="1">
            <a:spLocks noChangeArrowheads="1"/>
          </p:cNvSpPr>
          <p:nvPr/>
        </p:nvSpPr>
        <p:spPr bwMode="auto">
          <a:xfrm>
            <a:off x="5561313" y="2335329"/>
            <a:ext cx="2227416"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i="1" dirty="0" err="1" smtClean="0">
                <a:solidFill>
                  <a:srgbClr val="000066"/>
                </a:solidFill>
                <a:cs typeface="Times New Roman" panose="02020603050405020304" pitchFamily="18" charset="0"/>
                <a:sym typeface="Symbol" pitchFamily="18" charset="2"/>
              </a:rPr>
              <a:t>T</a:t>
            </a:r>
            <a:r>
              <a:rPr lang="en-US" altLang="zh-CN" sz="2000" b="1" baseline="-25000" dirty="0" err="1" smtClean="0">
                <a:solidFill>
                  <a:srgbClr val="000066"/>
                </a:solidFill>
                <a:cs typeface="Times New Roman" panose="02020603050405020304" pitchFamily="18" charset="0"/>
                <a:sym typeface="Symbol" pitchFamily="18" charset="2"/>
              </a:rPr>
              <a:t>i</a:t>
            </a:r>
            <a:r>
              <a:rPr lang="en-US" altLang="zh-CN" sz="2000" b="1" i="1" dirty="0">
                <a:solidFill>
                  <a:srgbClr val="000066"/>
                </a:solidFill>
                <a:cs typeface="Times New Roman" panose="02020603050405020304" pitchFamily="18" charset="0"/>
                <a:sym typeface="Symbol" pitchFamily="18" charset="2"/>
              </a:rPr>
              <a:t> </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 </a:t>
            </a:r>
            <a:r>
              <a:rPr lang="en-US" altLang="zh-CN" sz="2000" b="1" dirty="0" smtClean="0">
                <a:solidFill>
                  <a:srgbClr val="000066"/>
                </a:solidFill>
                <a:latin typeface="Times New Roman" panose="02020603050405020304" pitchFamily="18" charset="0"/>
                <a:cs typeface="Times New Roman" panose="02020603050405020304" pitchFamily="18" charset="0"/>
                <a:sym typeface="Symbol" pitchFamily="18" charset="2"/>
              </a:rPr>
              <a:t>z</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lang="en-US" altLang="zh-CN" sz="2000" b="1" i="1" dirty="0" err="1" smtClean="0">
                <a:solidFill>
                  <a:srgbClr val="000066"/>
                </a:solidFill>
                <a:latin typeface="Times New Roman" panose="02020603050405020304" pitchFamily="18" charset="0"/>
                <a:cs typeface="Times New Roman" panose="02020603050405020304" pitchFamily="18" charset="0"/>
              </a:rPr>
              <a:t>K</a:t>
            </a:r>
            <a:r>
              <a:rPr lang="en-US" altLang="zh-CN" sz="2000" b="1" baseline="-25000" dirty="0" err="1" smtClean="0">
                <a:solidFill>
                  <a:srgbClr val="000066"/>
                </a:solidFill>
                <a:latin typeface="Times New Roman" panose="02020603050405020304" pitchFamily="18" charset="0"/>
                <a:cs typeface="Times New Roman" panose="02020603050405020304" pitchFamily="18" charset="0"/>
              </a:rPr>
              <a:t>a</a:t>
            </a:r>
            <a:r>
              <a:rPr kumimoji="1" lang="en-US" altLang="zh-CN" sz="2000" b="1" i="1" dirty="0">
                <a:solidFill>
                  <a:srgbClr val="000066"/>
                </a:solidFill>
              </a:rPr>
              <a:t> </a:t>
            </a:r>
            <a:r>
              <a:rPr kumimoji="1" lang="en-US" altLang="zh-CN" sz="2000" b="1" i="1" dirty="0" err="1" smtClean="0">
                <a:solidFill>
                  <a:srgbClr val="000066"/>
                </a:solidFill>
              </a:rPr>
              <a:t>s</a:t>
            </a:r>
            <a:r>
              <a:rPr kumimoji="1" lang="en-US" altLang="zh-CN" sz="2000" b="1" baseline="-25000" dirty="0" err="1" smtClean="0">
                <a:solidFill>
                  <a:srgbClr val="000066"/>
                </a:solidFill>
              </a:rPr>
              <a:t>vi</a:t>
            </a:r>
            <a:r>
              <a:rPr kumimoji="1" lang="en-US" altLang="zh-CN" sz="2000" b="1" dirty="0" smtClean="0">
                <a:solidFill>
                  <a:srgbClr val="000066"/>
                </a:solidFill>
              </a:rPr>
              <a:t> </a:t>
            </a:r>
            <a:r>
              <a:rPr kumimoji="1" lang="en-US" altLang="zh-CN" sz="2000" b="1" dirty="0">
                <a:solidFill>
                  <a:srgbClr val="000066"/>
                </a:solidFill>
                <a:sym typeface="Symbol" panose="05050102010706020507" pitchFamily="18" charset="2"/>
              </a:rPr>
              <a:t> </a:t>
            </a:r>
            <a:r>
              <a:rPr kumimoji="1" lang="en-US" altLang="zh-CN" sz="2000" b="1" dirty="0" smtClean="0">
                <a:solidFill>
                  <a:srgbClr val="000066"/>
                </a:solidFill>
                <a:sym typeface="Symbol" panose="05050102010706020507" pitchFamily="18" charset="2"/>
              </a:rPr>
              <a:t> </a:t>
            </a:r>
            <a:r>
              <a:rPr kumimoji="1" lang="en-US" altLang="zh-CN" sz="2000" b="1" i="1" dirty="0" smtClean="0">
                <a:solidFill>
                  <a:srgbClr val="000066"/>
                </a:solidFill>
                <a:sym typeface="Symbol" panose="05050102010706020507" pitchFamily="18" charset="2"/>
              </a:rPr>
              <a:t>T</a:t>
            </a:r>
            <a:r>
              <a:rPr kumimoji="1" lang="en-US" altLang="zh-CN" sz="2000" b="1" baseline="-25000" dirty="0" smtClean="0">
                <a:solidFill>
                  <a:srgbClr val="000066"/>
                </a:solidFill>
                <a:sym typeface="Symbol" panose="05050102010706020507" pitchFamily="18" charset="2"/>
              </a:rPr>
              <a:t>a</a:t>
            </a:r>
            <a:endParaRPr kumimoji="1" lang="en-US" altLang="zh-CN" sz="2000" b="1" baseline="-25000" dirty="0">
              <a:solidFill>
                <a:srgbClr val="000066"/>
              </a:solidFill>
            </a:endParaRPr>
          </a:p>
        </p:txBody>
      </p:sp>
      <p:sp>
        <p:nvSpPr>
          <p:cNvPr id="69" name="Text Box 54"/>
          <p:cNvSpPr txBox="1">
            <a:spLocks noChangeArrowheads="1"/>
          </p:cNvSpPr>
          <p:nvPr/>
        </p:nvSpPr>
        <p:spPr bwMode="auto">
          <a:xfrm>
            <a:off x="5757959" y="2849107"/>
            <a:ext cx="303208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1800" b="1" i="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T</a:t>
            </a:r>
            <a:r>
              <a:rPr kumimoji="1" lang="en-US" altLang="zh-CN" sz="18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a</a:t>
            </a:r>
            <a:r>
              <a:rPr kumimoji="1" lang="en-US" altLang="zh-CN" sz="1800" b="1" i="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1800" b="1" dirty="0" err="1" smtClean="0">
                <a:solidFill>
                  <a:srgbClr val="000066"/>
                </a:solidFill>
                <a:ea typeface="幼圆" panose="02010509060101010101" pitchFamily="49" charset="-122"/>
                <a:cs typeface="Times New Roman" panose="02020603050405020304" pitchFamily="18" charset="0"/>
                <a:sym typeface="Symbol" panose="05050102010706020507" pitchFamily="18" charset="2"/>
              </a:rPr>
              <a:t>筋材设计容许抗拉强度</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endParaRPr kumimoji="1" lang="en-US" altLang="zh-CN" sz="1800" b="1" dirty="0">
              <a:solidFill>
                <a:srgbClr val="000066"/>
              </a:solidFill>
              <a:ea typeface="幼圆" panose="02010509060101010101" pitchFamily="49" charset="-122"/>
              <a:cs typeface="Times New Roman" panose="02020603050405020304" pitchFamily="18" charset="0"/>
            </a:endParaRPr>
          </a:p>
        </p:txBody>
      </p:sp>
      <p:sp>
        <p:nvSpPr>
          <p:cNvPr id="70" name="矩形 69"/>
          <p:cNvSpPr/>
          <p:nvPr/>
        </p:nvSpPr>
        <p:spPr>
          <a:xfrm>
            <a:off x="4895853" y="3347070"/>
            <a:ext cx="2633199" cy="498598"/>
          </a:xfrm>
          <a:prstGeom prst="rect">
            <a:avLst/>
          </a:prstGeom>
        </p:spPr>
        <p:txBody>
          <a:bodyPr wrap="square">
            <a:spAutoFit/>
          </a:bodyPr>
          <a:lstStyle/>
          <a:p>
            <a:pPr marL="342900" indent="-342900">
              <a:lnSpc>
                <a:spcPct val="120000"/>
              </a:lnSpc>
              <a:buClr>
                <a:srgbClr val="C00000"/>
              </a:buClr>
              <a:buFont typeface="Wingdings" panose="05000000000000000000" pitchFamily="2" charset="2"/>
              <a:buChar char="Ø"/>
            </a:pPr>
            <a:r>
              <a:rPr lang="zh-CN" altLang="en-US" sz="2200" b="1" dirty="0" smtClean="0">
                <a:solidFill>
                  <a:srgbClr val="000066"/>
                </a:solidFill>
                <a:ea typeface="幼圆" panose="02010509060101010101" pitchFamily="49" charset="-122"/>
                <a:cs typeface="Times New Roman" panose="02020603050405020304" pitchFamily="18" charset="0"/>
              </a:rPr>
              <a:t>有效锚固长度：</a:t>
            </a:r>
            <a:endParaRPr lang="zh-CN" altLang="en-US" sz="2200" b="1" dirty="0">
              <a:solidFill>
                <a:srgbClr val="000066"/>
              </a:solidFill>
              <a:ea typeface="幼圆" panose="02010509060101010101" pitchFamily="49" charset="-122"/>
              <a:cs typeface="Times New Roman" panose="02020603050405020304" pitchFamily="18" charset="0"/>
            </a:endParaRPr>
          </a:p>
        </p:txBody>
      </p:sp>
      <p:grpSp>
        <p:nvGrpSpPr>
          <p:cNvPr id="5" name="组合 4"/>
          <p:cNvGrpSpPr/>
          <p:nvPr/>
        </p:nvGrpSpPr>
        <p:grpSpPr>
          <a:xfrm>
            <a:off x="5566229" y="3859329"/>
            <a:ext cx="3123027" cy="1635042"/>
            <a:chOff x="5566229" y="3859329"/>
            <a:chExt cx="3123027" cy="1635042"/>
          </a:xfrm>
        </p:grpSpPr>
        <p:sp>
          <p:nvSpPr>
            <p:cNvPr id="77" name="Text Box 54"/>
            <p:cNvSpPr txBox="1">
              <a:spLocks noChangeArrowheads="1"/>
            </p:cNvSpPr>
            <p:nvPr/>
          </p:nvSpPr>
          <p:spPr bwMode="auto">
            <a:xfrm>
              <a:off x="5566229" y="3859329"/>
              <a:ext cx="2137344"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smtClean="0">
                  <a:solidFill>
                    <a:srgbClr val="000066"/>
                  </a:solidFill>
                  <a:cs typeface="Times New Roman" panose="02020603050405020304" pitchFamily="18" charset="0"/>
                  <a:sym typeface="Symbol" pitchFamily="18" charset="2"/>
                </a:rPr>
                <a:t>2</a:t>
              </a:r>
              <a:r>
                <a:rPr lang="en-US" altLang="zh-CN" sz="2000" b="1" i="1" dirty="0" smtClean="0">
                  <a:solidFill>
                    <a:srgbClr val="000066"/>
                  </a:solidFill>
                  <a:cs typeface="Times New Roman" panose="02020603050405020304" pitchFamily="18" charset="0"/>
                  <a:sym typeface="Symbol" pitchFamily="18" charset="2"/>
                </a:rPr>
                <a:t></a:t>
              </a:r>
              <a:r>
                <a:rPr lang="en-US" altLang="zh-CN" sz="2000" b="1" baseline="-25000" dirty="0" smtClean="0">
                  <a:solidFill>
                    <a:srgbClr val="000066"/>
                  </a:solidFill>
                  <a:cs typeface="Times New Roman" panose="02020603050405020304" pitchFamily="18" charset="0"/>
                  <a:sym typeface="Symbol" pitchFamily="18" charset="2"/>
                </a:rPr>
                <a:t>vi</a:t>
              </a:r>
              <a:r>
                <a:rPr lang="en-US" altLang="zh-CN" sz="2000" b="1" i="1" baseline="-25000" dirty="0" smtClean="0">
                  <a:solidFill>
                    <a:srgbClr val="000066"/>
                  </a:solidFill>
                  <a:cs typeface="Times New Roman" panose="02020603050405020304" pitchFamily="18" charset="0"/>
                  <a:sym typeface="Symbol" pitchFamily="18" charset="2"/>
                </a:rPr>
                <a:t> </a:t>
              </a:r>
              <a:r>
                <a:rPr lang="en-US" altLang="zh-CN" sz="2000" b="1" i="1" dirty="0" smtClean="0">
                  <a:solidFill>
                    <a:srgbClr val="000066"/>
                  </a:solidFill>
                  <a:cs typeface="Times New Roman" panose="02020603050405020304" pitchFamily="18" charset="0"/>
                  <a:sym typeface="Symbol" pitchFamily="18" charset="2"/>
                </a:rPr>
                <a:t>L</a:t>
              </a:r>
              <a:r>
                <a:rPr lang="en-US" altLang="zh-CN" sz="2000" b="1" i="1" baseline="-25000" dirty="0" smtClean="0">
                  <a:solidFill>
                    <a:srgbClr val="000066"/>
                  </a:solidFill>
                  <a:cs typeface="Times New Roman" panose="02020603050405020304" pitchFamily="18" charset="0"/>
                  <a:sym typeface="Symbol" pitchFamily="18" charset="2"/>
                </a:rPr>
                <a:t>e</a:t>
              </a:r>
              <a:r>
                <a:rPr lang="en-US" altLang="zh-CN" sz="2000" b="1" baseline="-25000" dirty="0" smtClean="0">
                  <a:solidFill>
                    <a:srgbClr val="000066"/>
                  </a:solidFill>
                  <a:cs typeface="Times New Roman" panose="02020603050405020304" pitchFamily="18" charset="0"/>
                  <a:sym typeface="Symbol" pitchFamily="18" charset="2"/>
                </a:rPr>
                <a:t>i </a:t>
              </a:r>
              <a:r>
                <a:rPr lang="en-US" altLang="zh-CN" sz="2000" b="1" i="1" dirty="0" smtClean="0">
                  <a:solidFill>
                    <a:srgbClr val="000066"/>
                  </a:solidFill>
                  <a:cs typeface="Times New Roman" panose="02020603050405020304" pitchFamily="18" charset="0"/>
                  <a:sym typeface="Symbol" pitchFamily="18" charset="2"/>
                </a:rPr>
                <a:t>f </a:t>
              </a:r>
              <a:r>
                <a:rPr lang="en-US" altLang="zh-CN" sz="2000" b="1" i="1" dirty="0" smtClean="0">
                  <a:solidFill>
                    <a:srgbClr val="000066"/>
                  </a:solidFill>
                  <a:latin typeface="Times New Roman" panose="02020603050405020304" pitchFamily="18" charset="0"/>
                  <a:cs typeface="Times New Roman" panose="02020603050405020304" pitchFamily="18" charset="0"/>
                  <a:sym typeface="Symbol" pitchFamily="18" charset="2"/>
                </a:rPr>
                <a:t> </a:t>
              </a:r>
              <a:r>
                <a:rPr kumimoji="1" lang="en-US" altLang="zh-CN" sz="2000" b="1" dirty="0" smtClean="0">
                  <a:solidFill>
                    <a:srgbClr val="000066"/>
                  </a:solidFill>
                  <a:sym typeface="Symbol" panose="05050102010706020507" pitchFamily="18" charset="2"/>
                </a:rPr>
                <a:t> </a:t>
              </a:r>
              <a:r>
                <a:rPr kumimoji="1" lang="en-US" altLang="zh-CN" sz="2000" b="1" i="1" baseline="-25000" dirty="0" smtClean="0">
                  <a:solidFill>
                    <a:srgbClr val="000066"/>
                  </a:solidFill>
                  <a:sym typeface="Symbol" panose="05050102010706020507" pitchFamily="18" charset="2"/>
                </a:rPr>
                <a:t> </a:t>
              </a:r>
              <a:r>
                <a:rPr lang="en-US" altLang="zh-CN" sz="2000" b="1" i="1" dirty="0" smtClean="0">
                  <a:solidFill>
                    <a:srgbClr val="000066"/>
                  </a:solidFill>
                  <a:cs typeface="Times New Roman" panose="02020603050405020304" pitchFamily="18" charset="0"/>
                  <a:sym typeface="Symbol" pitchFamily="18" charset="2"/>
                </a:rPr>
                <a:t>f</a:t>
              </a:r>
              <a:r>
                <a:rPr lang="en-US" altLang="zh-CN" sz="2000" b="1" baseline="-25000" dirty="0" smtClean="0">
                  <a:solidFill>
                    <a:srgbClr val="000066"/>
                  </a:solidFill>
                  <a:cs typeface="Times New Roman" panose="02020603050405020304" pitchFamily="18" charset="0"/>
                  <a:sym typeface="Symbol" pitchFamily="18" charset="2"/>
                </a:rPr>
                <a:t>s</a:t>
              </a:r>
              <a:r>
                <a:rPr lang="en-US" altLang="zh-CN" sz="2000" b="1" i="1" baseline="-25000" dirty="0" smtClean="0">
                  <a:solidFill>
                    <a:srgbClr val="000066"/>
                  </a:solidFill>
                  <a:cs typeface="Times New Roman" panose="02020603050405020304" pitchFamily="18" charset="0"/>
                  <a:sym typeface="Symbol" pitchFamily="18" charset="2"/>
                </a:rPr>
                <a:t> </a:t>
              </a:r>
              <a:r>
                <a:rPr lang="en-US" altLang="zh-CN" sz="2000" b="1" i="1" dirty="0" err="1" smtClean="0">
                  <a:solidFill>
                    <a:srgbClr val="000066"/>
                  </a:solidFill>
                  <a:cs typeface="Times New Roman" panose="02020603050405020304" pitchFamily="18" charset="0"/>
                  <a:sym typeface="Symbol" pitchFamily="18" charset="2"/>
                </a:rPr>
                <a:t>T</a:t>
              </a:r>
              <a:r>
                <a:rPr lang="en-US" altLang="zh-CN" sz="2000" b="1" baseline="-25000" dirty="0" err="1" smtClean="0">
                  <a:solidFill>
                    <a:srgbClr val="000066"/>
                  </a:solidFill>
                  <a:cs typeface="Times New Roman" panose="02020603050405020304" pitchFamily="18" charset="0"/>
                </a:rPr>
                <a:t>i</a:t>
              </a:r>
              <a:endParaRPr kumimoji="1" lang="en-US" altLang="zh-CN" sz="2000" b="1" baseline="-25000" dirty="0">
                <a:solidFill>
                  <a:srgbClr val="000066"/>
                </a:solidFill>
              </a:endParaRPr>
            </a:p>
          </p:txBody>
        </p:sp>
        <p:sp>
          <p:nvSpPr>
            <p:cNvPr id="78" name="Text Box 54"/>
            <p:cNvSpPr txBox="1">
              <a:spLocks noChangeArrowheads="1"/>
            </p:cNvSpPr>
            <p:nvPr/>
          </p:nvSpPr>
          <p:spPr bwMode="auto">
            <a:xfrm>
              <a:off x="5571146" y="4402606"/>
              <a:ext cx="303208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800" b="1" i="1" dirty="0">
                  <a:solidFill>
                    <a:srgbClr val="000066"/>
                  </a:solidFill>
                  <a:cs typeface="Times New Roman" panose="02020603050405020304" pitchFamily="18" charset="0"/>
                  <a:sym typeface="Symbol" pitchFamily="18" charset="2"/>
                </a:rPr>
                <a:t></a:t>
              </a:r>
              <a:r>
                <a:rPr lang="en-US" altLang="zh-CN" sz="1800" b="1" baseline="-25000" dirty="0">
                  <a:solidFill>
                    <a:srgbClr val="000066"/>
                  </a:solidFill>
                  <a:cs typeface="Times New Roman" panose="02020603050405020304" pitchFamily="18" charset="0"/>
                  <a:sym typeface="Symbol" pitchFamily="18" charset="2"/>
                </a:rPr>
                <a:t>vi</a:t>
              </a:r>
              <a:r>
                <a:rPr kumimoji="1" lang="en-US" altLang="zh-CN" sz="1800" b="1" baseline="-25000"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en-US" altLang="zh-CN" sz="1800" b="1" dirty="0" err="1" smtClean="0">
                  <a:solidFill>
                    <a:srgbClr val="000066"/>
                  </a:solidFill>
                  <a:ea typeface="幼圆" panose="02010509060101010101" pitchFamily="49" charset="-122"/>
                  <a:cs typeface="Times New Roman" panose="02020603050405020304" pitchFamily="18" charset="0"/>
                  <a:sym typeface="Symbol" panose="05050102010706020507" pitchFamily="18" charset="2"/>
                </a:rPr>
                <a:t>筋材</a:t>
              </a:r>
              <a:r>
                <a:rPr kumimoji="1" lang="zh-CN" altLang="en-US"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上有效法向应力</a:t>
              </a:r>
              <a:endParaRPr kumimoji="1" lang="en-US" altLang="zh-CN" sz="1800" b="1" dirty="0">
                <a:solidFill>
                  <a:srgbClr val="000066"/>
                </a:solidFill>
                <a:ea typeface="幼圆" panose="02010509060101010101" pitchFamily="49" charset="-122"/>
                <a:cs typeface="Times New Roman" panose="02020603050405020304" pitchFamily="18" charset="0"/>
              </a:endParaRPr>
            </a:p>
          </p:txBody>
        </p:sp>
        <p:sp>
          <p:nvSpPr>
            <p:cNvPr id="79" name="Text Box 54"/>
            <p:cNvSpPr txBox="1">
              <a:spLocks noChangeArrowheads="1"/>
            </p:cNvSpPr>
            <p:nvPr/>
          </p:nvSpPr>
          <p:spPr bwMode="auto">
            <a:xfrm>
              <a:off x="5657176" y="4746734"/>
              <a:ext cx="3032080"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800" b="1" i="1" dirty="0" smtClean="0">
                  <a:solidFill>
                    <a:srgbClr val="000066"/>
                  </a:solidFill>
                  <a:cs typeface="Times New Roman" panose="02020603050405020304" pitchFamily="18" charset="0"/>
                  <a:sym typeface="Symbol" pitchFamily="18" charset="2"/>
                </a:rPr>
                <a:t>f  </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筋</a:t>
              </a:r>
              <a:r>
                <a:rPr kumimoji="1" lang="zh-CN" altLang="en-US"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土摩擦系数</a:t>
              </a:r>
              <a:endParaRPr kumimoji="1" lang="en-US" altLang="zh-CN" sz="1800" b="1" dirty="0">
                <a:solidFill>
                  <a:srgbClr val="000066"/>
                </a:solidFill>
                <a:ea typeface="幼圆" panose="02010509060101010101" pitchFamily="49" charset="-122"/>
                <a:cs typeface="Times New Roman" panose="02020603050405020304" pitchFamily="18" charset="0"/>
              </a:endParaRPr>
            </a:p>
          </p:txBody>
        </p:sp>
        <p:sp>
          <p:nvSpPr>
            <p:cNvPr id="80" name="Text Box 54"/>
            <p:cNvSpPr txBox="1">
              <a:spLocks noChangeArrowheads="1"/>
            </p:cNvSpPr>
            <p:nvPr/>
          </p:nvSpPr>
          <p:spPr bwMode="auto">
            <a:xfrm>
              <a:off x="5654718" y="5083489"/>
              <a:ext cx="2508514"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800" b="1" i="1" dirty="0">
                  <a:solidFill>
                    <a:srgbClr val="000066"/>
                  </a:solidFill>
                  <a:cs typeface="Times New Roman" panose="02020603050405020304" pitchFamily="18" charset="0"/>
                  <a:sym typeface="Symbol" pitchFamily="18" charset="2"/>
                </a:rPr>
                <a:t>f</a:t>
              </a:r>
              <a:r>
                <a:rPr lang="en-US" altLang="zh-CN" sz="1800" b="1" baseline="-25000" dirty="0">
                  <a:solidFill>
                    <a:srgbClr val="000066"/>
                  </a:solidFill>
                  <a:cs typeface="Times New Roman" panose="02020603050405020304" pitchFamily="18" charset="0"/>
                  <a:sym typeface="Symbol" pitchFamily="18" charset="2"/>
                </a:rPr>
                <a:t>s</a:t>
              </a:r>
              <a:r>
                <a:rPr lang="en-US" altLang="zh-CN" sz="1800" b="1" i="1" dirty="0" smtClean="0">
                  <a:solidFill>
                    <a:srgbClr val="000066"/>
                  </a:solidFill>
                  <a:cs typeface="Times New Roman" panose="02020603050405020304" pitchFamily="18" charset="0"/>
                  <a:sym typeface="Symbol" pitchFamily="18" charset="2"/>
                </a:rPr>
                <a:t> </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  </a:t>
              </a:r>
              <a:r>
                <a:rPr kumimoji="1" lang="zh-CN" altLang="en-US"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安全系数，取</a:t>
              </a:r>
              <a:r>
                <a:rPr kumimoji="1" lang="en-US" altLang="zh-CN" sz="1800" b="1" dirty="0" smtClean="0">
                  <a:solidFill>
                    <a:srgbClr val="000066"/>
                  </a:solidFill>
                  <a:ea typeface="幼圆" panose="02010509060101010101" pitchFamily="49" charset="-122"/>
                  <a:cs typeface="Times New Roman" panose="02020603050405020304" pitchFamily="18" charset="0"/>
                  <a:sym typeface="Symbol" panose="05050102010706020507" pitchFamily="18" charset="2"/>
                </a:rPr>
                <a:t>1.3</a:t>
              </a:r>
              <a:endParaRPr kumimoji="1" lang="en-US" altLang="zh-CN" sz="1800" b="1" dirty="0">
                <a:solidFill>
                  <a:srgbClr val="000066"/>
                </a:solidFill>
                <a:ea typeface="幼圆" panose="02010509060101010101" pitchFamily="49" charset="-122"/>
                <a:cs typeface="Times New Roman" panose="02020603050405020304" pitchFamily="18" charset="0"/>
              </a:endParaRPr>
            </a:p>
          </p:txBody>
        </p:sp>
      </p:grpSp>
      <p:sp>
        <p:nvSpPr>
          <p:cNvPr id="52" name="Line 15"/>
          <p:cNvSpPr>
            <a:spLocks noChangeShapeType="1"/>
          </p:cNvSpPr>
          <p:nvPr/>
        </p:nvSpPr>
        <p:spPr bwMode="auto">
          <a:xfrm>
            <a:off x="1107797" y="3294649"/>
            <a:ext cx="1798615" cy="0"/>
          </a:xfrm>
          <a:prstGeom prst="line">
            <a:avLst/>
          </a:prstGeom>
          <a:noFill/>
          <a:ln w="57150"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91772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animEffect transition="in" filter="wipe(left)">
                                      <p:cBhvr>
                                        <p:cTn id="7" dur="500"/>
                                        <p:tgtEl>
                                          <p:spTgt spid="1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4" repeatCount="4000" fill="hold" grpId="0" nodeType="after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wipe(down)">
                                      <p:cBhvr>
                                        <p:cTn id="16" dur="500"/>
                                        <p:tgtEl>
                                          <p:spTgt spid="52"/>
                                        </p:tgtEl>
                                      </p:cBhvr>
                                    </p:animEffect>
                                  </p:childTnLst>
                                </p:cTn>
                              </p:par>
                            </p:childTnLst>
                          </p:cTn>
                        </p:par>
                        <p:par>
                          <p:cTn id="17" fill="hold">
                            <p:stCondLst>
                              <p:cond delay="2500"/>
                            </p:stCondLst>
                            <p:childTnLst>
                              <p:par>
                                <p:cTn id="18" presetID="22" presetClass="entr" presetSubtype="8" repeatCount="300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6">
                                            <p:txEl>
                                              <p:pRg st="1" end="1"/>
                                            </p:txEl>
                                          </p:spTgt>
                                        </p:tgtEl>
                                        <p:attrNameLst>
                                          <p:attrName>style.visibility</p:attrName>
                                        </p:attrNameLst>
                                      </p:cBhvr>
                                      <p:to>
                                        <p:strVal val="visible"/>
                                      </p:to>
                                    </p:set>
                                    <p:animEffect transition="in" filter="wipe(left)">
                                      <p:cBhvr>
                                        <p:cTn id="25" dur="500"/>
                                        <p:tgtEl>
                                          <p:spTgt spid="116">
                                            <p:txEl>
                                              <p:pRg st="1" end="1"/>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wipe(left)">
                                      <p:cBhvr>
                                        <p:cTn id="29" dur="500"/>
                                        <p:tgtEl>
                                          <p:spTgt spid="6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wipe(left)">
                                      <p:cBhvr>
                                        <p:cTn id="33" dur="500"/>
                                        <p:tgtEl>
                                          <p:spTgt spid="6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wipe(down)">
                                      <p:cBhvr>
                                        <p:cTn id="38" dur="500"/>
                                        <p:tgtEl>
                                          <p:spTgt spid="70"/>
                                        </p:tgtEl>
                                      </p:cBhvr>
                                    </p:animEffect>
                                  </p:childTnLst>
                                </p:cTn>
                              </p:par>
                            </p:childTnLst>
                          </p:cTn>
                        </p:par>
                        <p:par>
                          <p:cTn id="39" fill="hold">
                            <p:stCondLst>
                              <p:cond delay="500"/>
                            </p:stCondLst>
                            <p:childTnLst>
                              <p:par>
                                <p:cTn id="40" presetID="22" presetClass="entr" presetSubtype="4" repeatCount="3000"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par>
                          <p:cTn id="43" fill="hold">
                            <p:stCondLst>
                              <p:cond delay="2000"/>
                            </p:stCondLst>
                            <p:childTnLst>
                              <p:par>
                                <p:cTn id="44" presetID="22" presetClass="entr" presetSubtype="4"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6" grpId="0" uiExpand="1" build="p"/>
      <p:bldP spid="68" grpId="0"/>
      <p:bldP spid="69" grpId="0"/>
      <p:bldP spid="70" grpId="0"/>
      <p:bldP spid="5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94</a:t>
            </a:fld>
            <a:endParaRPr lang="zh-CN" altLang="en-US" dirty="0">
              <a:solidFill>
                <a:srgbClr val="C00000"/>
              </a:solidFill>
            </a:endParaRPr>
          </a:p>
        </p:txBody>
      </p:sp>
      <p:sp>
        <p:nvSpPr>
          <p:cNvPr id="53" name="Text Box 7"/>
          <p:cNvSpPr txBox="1">
            <a:spLocks noChangeArrowheads="1"/>
          </p:cNvSpPr>
          <p:nvPr/>
        </p:nvSpPr>
        <p:spPr bwMode="auto">
          <a:xfrm>
            <a:off x="0" y="0"/>
            <a:ext cx="4294598" cy="366713"/>
          </a:xfrm>
          <a:prstGeom prst="rect">
            <a:avLst/>
          </a:prstGeom>
          <a:solidFill>
            <a:srgbClr val="FFCC66">
              <a:alpha val="5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Times New Roman" pitchFamily="18" charset="0"/>
                <a:ea typeface="宋体" pitchFamily="2" charset="-122"/>
              </a:defRPr>
            </a:lvl1pPr>
            <a:lvl2pPr marL="742950" indent="-285750" eaLnBrk="0" hangingPunct="0">
              <a:defRPr sz="1400">
                <a:solidFill>
                  <a:schemeClr val="tx1"/>
                </a:solidFill>
                <a:latin typeface="Times New Roman" pitchFamily="18" charset="0"/>
                <a:ea typeface="宋体" pitchFamily="2" charset="-122"/>
              </a:defRPr>
            </a:lvl2pPr>
            <a:lvl3pPr marL="1143000" indent="-228600" eaLnBrk="0" hangingPunct="0">
              <a:defRPr sz="1400">
                <a:solidFill>
                  <a:schemeClr val="tx1"/>
                </a:solidFill>
                <a:latin typeface="Times New Roman" pitchFamily="18" charset="0"/>
                <a:ea typeface="宋体" pitchFamily="2" charset="-122"/>
              </a:defRPr>
            </a:lvl3pPr>
            <a:lvl4pPr marL="1600200" indent="-228600" eaLnBrk="0" hangingPunct="0">
              <a:defRPr sz="1400">
                <a:solidFill>
                  <a:schemeClr val="tx1"/>
                </a:solidFill>
                <a:latin typeface="Times New Roman" pitchFamily="18" charset="0"/>
                <a:ea typeface="宋体" pitchFamily="2" charset="-122"/>
              </a:defRPr>
            </a:lvl4pPr>
            <a:lvl5pPr marL="2057400" indent="-228600" eaLnBrk="0" hangingPunct="0">
              <a:defRPr sz="1400">
                <a:solidFill>
                  <a:schemeClr val="tx1"/>
                </a:solidFill>
                <a:latin typeface="Times New Roman" pitchFamily="18" charset="0"/>
                <a:ea typeface="宋体" pitchFamily="2"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pitchFamily="2" charset="-122"/>
              </a:defRPr>
            </a:lvl9pPr>
          </a:lstStyle>
          <a:p>
            <a:pPr eaLnBrk="1" fontAlgn="ctr" hangingPunct="1">
              <a:lnSpc>
                <a:spcPct val="100000"/>
              </a:lnSpc>
              <a:spcBef>
                <a:spcPct val="0"/>
              </a:spcBef>
              <a:spcAft>
                <a:spcPct val="0"/>
              </a:spcAft>
            </a:pPr>
            <a:r>
              <a:rPr lang="en-US" altLang="zh-CN" sz="1800" b="1" kern="900" spc="130" dirty="0" smtClean="0">
                <a:solidFill>
                  <a:srgbClr val="000066"/>
                </a:solidFill>
                <a:ea typeface="黑体" panose="02010609060101010101" pitchFamily="49" charset="-122"/>
                <a:cs typeface="Times New Roman" panose="02020603050405020304" pitchFamily="18" charset="0"/>
              </a:rPr>
              <a:t>§6.6  </a:t>
            </a:r>
            <a:r>
              <a:rPr lang="zh-CN" altLang="en-US" sz="1800" b="1" kern="900" spc="130" dirty="0" smtClean="0">
                <a:solidFill>
                  <a:srgbClr val="000066"/>
                </a:solidFill>
                <a:ea typeface="黑体" panose="02010609060101010101" pitchFamily="49" charset="-122"/>
                <a:cs typeface="Times New Roman" panose="02020603050405020304" pitchFamily="18" charset="0"/>
              </a:rPr>
              <a:t>几种</a:t>
            </a:r>
            <a:r>
              <a:rPr lang="zh-CN" altLang="en-US" sz="1800" b="1" kern="900" spc="130" dirty="0">
                <a:solidFill>
                  <a:srgbClr val="000066"/>
                </a:solidFill>
                <a:ea typeface="黑体" panose="02010609060101010101" pitchFamily="49" charset="-122"/>
                <a:cs typeface="Times New Roman" panose="02020603050405020304" pitchFamily="18" charset="0"/>
              </a:rPr>
              <a:t>常见的主动土压力计算</a:t>
            </a:r>
          </a:p>
        </p:txBody>
      </p:sp>
      <p:sp>
        <p:nvSpPr>
          <p:cNvPr id="63" name="Text Box 2"/>
          <p:cNvSpPr txBox="1">
            <a:spLocks noChangeArrowheads="1"/>
          </p:cNvSpPr>
          <p:nvPr/>
        </p:nvSpPr>
        <p:spPr bwMode="auto">
          <a:xfrm>
            <a:off x="1729626" y="5691563"/>
            <a:ext cx="64611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algn="ctr" eaLnBrk="1" hangingPunct="1">
              <a:lnSpc>
                <a:spcPct val="100000"/>
              </a:lnSpc>
              <a:spcBef>
                <a:spcPct val="0"/>
              </a:spcBef>
              <a:spcAft>
                <a:spcPct val="0"/>
              </a:spcAft>
            </a:pPr>
            <a:r>
              <a:rPr kumimoji="1" lang="zh-CN" altLang="en-US" sz="4000" b="1" dirty="0">
                <a:solidFill>
                  <a:srgbClr val="000066"/>
                </a:solidFill>
                <a:latin typeface="黑体" pitchFamily="2" charset="-122"/>
                <a:ea typeface="黑体" pitchFamily="2" charset="-122"/>
              </a:rPr>
              <a:t>小</a:t>
            </a:r>
            <a:r>
              <a:rPr kumimoji="1" lang="zh-CN" altLang="en-US" sz="4000" b="1" dirty="0" smtClean="0">
                <a:solidFill>
                  <a:srgbClr val="000066"/>
                </a:solidFill>
                <a:latin typeface="黑体" pitchFamily="2" charset="-122"/>
                <a:ea typeface="黑体" pitchFamily="2" charset="-122"/>
              </a:rPr>
              <a:t>   结</a:t>
            </a:r>
            <a:endParaRPr kumimoji="1" lang="zh-CN" altLang="en-US" sz="4000" b="1" dirty="0">
              <a:solidFill>
                <a:srgbClr val="000066"/>
              </a:solidFill>
              <a:latin typeface="黑体" pitchFamily="2" charset="-122"/>
              <a:ea typeface="黑体" pitchFamily="2" charset="-122"/>
            </a:endParaRPr>
          </a:p>
        </p:txBody>
      </p:sp>
      <p:sp>
        <p:nvSpPr>
          <p:cNvPr id="51" name="Text Box 3"/>
          <p:cNvSpPr txBox="1">
            <a:spLocks noChangeArrowheads="1"/>
          </p:cNvSpPr>
          <p:nvPr/>
        </p:nvSpPr>
        <p:spPr bwMode="auto">
          <a:xfrm>
            <a:off x="2341615" y="1138521"/>
            <a:ext cx="4137992" cy="3520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填</a:t>
            </a:r>
            <a:r>
              <a:rPr lang="zh-CN" altLang="en-US" sz="2600" b="1" dirty="0">
                <a:solidFill>
                  <a:srgbClr val="000066"/>
                </a:solidFill>
                <a:ea typeface="幼圆" pitchFamily="49" charset="-122"/>
                <a:cs typeface="Times New Roman" panose="02020603050405020304" pitchFamily="18" charset="0"/>
              </a:rPr>
              <a:t>土上有荷载</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成层</a:t>
            </a:r>
            <a:r>
              <a:rPr lang="zh-CN" altLang="en-US" sz="2600" b="1" dirty="0">
                <a:solidFill>
                  <a:srgbClr val="000066"/>
                </a:solidFill>
                <a:ea typeface="幼圆" pitchFamily="49" charset="-122"/>
                <a:cs typeface="Times New Roman" panose="02020603050405020304" pitchFamily="18" charset="0"/>
              </a:rPr>
              <a:t>填土情况</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填</a:t>
            </a:r>
            <a:r>
              <a:rPr lang="zh-CN" altLang="en-US" sz="2600" b="1" dirty="0">
                <a:solidFill>
                  <a:srgbClr val="000066"/>
                </a:solidFill>
                <a:ea typeface="幼圆" pitchFamily="49" charset="-122"/>
                <a:cs typeface="Times New Roman" panose="02020603050405020304" pitchFamily="18" charset="0"/>
              </a:rPr>
              <a:t>土中有水</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坦</a:t>
            </a:r>
            <a:r>
              <a:rPr lang="zh-CN" altLang="en-US" sz="2600" b="1" dirty="0">
                <a:solidFill>
                  <a:srgbClr val="000066"/>
                </a:solidFill>
                <a:ea typeface="幼圆" pitchFamily="49" charset="-122"/>
                <a:cs typeface="Times New Roman" panose="02020603050405020304" pitchFamily="18" charset="0"/>
              </a:rPr>
              <a:t>墙</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墙</a:t>
            </a:r>
            <a:r>
              <a:rPr lang="zh-CN" altLang="en-US" sz="2600" b="1" dirty="0">
                <a:solidFill>
                  <a:srgbClr val="000066"/>
                </a:solidFill>
                <a:ea typeface="幼圆" pitchFamily="49" charset="-122"/>
                <a:cs typeface="Times New Roman" panose="02020603050405020304" pitchFamily="18" charset="0"/>
              </a:rPr>
              <a:t>背形状有变化</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墙</a:t>
            </a:r>
            <a:r>
              <a:rPr lang="zh-CN" altLang="en-US" sz="2600" b="1" dirty="0">
                <a:solidFill>
                  <a:srgbClr val="000066"/>
                </a:solidFill>
                <a:ea typeface="幼圆" pitchFamily="49" charset="-122"/>
                <a:cs typeface="Times New Roman" panose="02020603050405020304" pitchFamily="18" charset="0"/>
              </a:rPr>
              <a:t>后填土受限制</a:t>
            </a:r>
          </a:p>
          <a:p>
            <a:pPr marL="514350" indent="-514350" eaLnBrk="1" hangingPunct="1">
              <a:lnSpc>
                <a:spcPct val="100000"/>
              </a:lnSpc>
              <a:spcBef>
                <a:spcPct val="30000"/>
              </a:spcBef>
              <a:spcAft>
                <a:spcPct val="0"/>
              </a:spcAft>
              <a:buClr>
                <a:srgbClr val="A50021"/>
              </a:buClr>
              <a:buSzPct val="100000"/>
              <a:buFont typeface="+mj-lt"/>
              <a:buAutoNum type="arabicPeriod"/>
            </a:pPr>
            <a:r>
              <a:rPr lang="zh-CN" altLang="en-US" sz="2600" b="1" dirty="0" smtClean="0">
                <a:solidFill>
                  <a:srgbClr val="000066"/>
                </a:solidFill>
                <a:ea typeface="幼圆" pitchFamily="49" charset="-122"/>
                <a:cs typeface="Times New Roman" panose="02020603050405020304" pitchFamily="18" charset="0"/>
              </a:rPr>
              <a:t>加</a:t>
            </a:r>
            <a:r>
              <a:rPr lang="zh-CN" altLang="en-US" sz="2600" b="1" dirty="0">
                <a:solidFill>
                  <a:srgbClr val="000066"/>
                </a:solidFill>
                <a:ea typeface="幼圆" pitchFamily="49" charset="-122"/>
                <a:cs typeface="Times New Roman" panose="02020603050405020304" pitchFamily="18" charset="0"/>
              </a:rPr>
              <a:t>筋土挡墙</a:t>
            </a:r>
          </a:p>
        </p:txBody>
      </p:sp>
    </p:spTree>
    <p:extLst>
      <p:ext uri="{BB962C8B-B14F-4D97-AF65-F5344CB8AC3E}">
        <p14:creationId xmlns:p14="http://schemas.microsoft.com/office/powerpoint/2010/main" val="1790504998"/>
      </p:ext>
    </p:extLst>
  </p:cSld>
  <p:clrMapOvr>
    <a:masterClrMapping/>
  </p:clrMapOvr>
  <p:transition spd="med">
    <p:wipe dir="d"/>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1519200" y="863600"/>
            <a:ext cx="69047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52538" indent="-1252538"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00000"/>
              </a:lnSpc>
              <a:spcBef>
                <a:spcPct val="0"/>
              </a:spcBef>
              <a:spcAft>
                <a:spcPct val="0"/>
              </a:spcAft>
            </a:pPr>
            <a:r>
              <a:rPr lang="zh-CN" altLang="en-US" sz="3600" b="1" dirty="0">
                <a:solidFill>
                  <a:srgbClr val="000066"/>
                </a:solidFill>
                <a:latin typeface="黑体" pitchFamily="2" charset="-122"/>
                <a:ea typeface="黑体" pitchFamily="2" charset="-122"/>
              </a:rPr>
              <a:t>第六章： </a:t>
            </a:r>
            <a:r>
              <a:rPr lang="zh-CN" altLang="en-US" sz="3600" b="1" dirty="0" smtClean="0">
                <a:solidFill>
                  <a:srgbClr val="000066"/>
                </a:solidFill>
                <a:latin typeface="黑体" pitchFamily="2" charset="-122"/>
                <a:ea typeface="黑体" pitchFamily="2" charset="-122"/>
                <a:sym typeface="Symbol" pitchFamily="18" charset="2"/>
              </a:rPr>
              <a:t>挡</a:t>
            </a:r>
            <a:r>
              <a:rPr lang="zh-CN" altLang="en-US" sz="3600" b="1" dirty="0">
                <a:solidFill>
                  <a:srgbClr val="000066"/>
                </a:solidFill>
                <a:latin typeface="黑体" pitchFamily="2" charset="-122"/>
                <a:ea typeface="黑体" pitchFamily="2" charset="-122"/>
                <a:sym typeface="Symbol" pitchFamily="18" charset="2"/>
              </a:rPr>
              <a:t>土结构物上的土压力</a:t>
            </a:r>
            <a:endParaRPr lang="en-US" altLang="zh-CN" sz="3600" b="1" dirty="0">
              <a:solidFill>
                <a:srgbClr val="000066"/>
              </a:solidFill>
              <a:latin typeface="黑体" pitchFamily="2" charset="-122"/>
              <a:ea typeface="黑体" pitchFamily="2" charset="-122"/>
            </a:endParaRPr>
          </a:p>
        </p:txBody>
      </p:sp>
      <p:sp>
        <p:nvSpPr>
          <p:cNvPr id="6" name="灯片编号占位符 1"/>
          <p:cNvSpPr txBox="1">
            <a:spLocks/>
          </p:cNvSpPr>
          <p:nvPr/>
        </p:nvSpPr>
        <p:spPr>
          <a:xfrm>
            <a:off x="6546643" y="6365228"/>
            <a:ext cx="2133600" cy="365125"/>
          </a:xfrm>
          <a:prstGeom prst="rect">
            <a:avLst/>
          </a:prstGeom>
        </p:spPr>
        <p:txBody>
          <a:bodyPr/>
          <a:lstStyle>
            <a:defPPr>
              <a:defRPr lang="en-US"/>
            </a:defPPr>
            <a:lvl1pPr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1pPr>
            <a:lvl2pPr marL="4572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2pPr>
            <a:lvl3pPr marL="9144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3pPr>
            <a:lvl4pPr marL="13716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4pPr>
            <a:lvl5pPr marL="1828800" algn="l" rtl="0" fontAlgn="base">
              <a:lnSpc>
                <a:spcPct val="115000"/>
              </a:lnSpc>
              <a:spcBef>
                <a:spcPct val="15000"/>
              </a:spcBef>
              <a:spcAft>
                <a:spcPct val="15000"/>
              </a:spcAft>
              <a:defRPr sz="1400" kern="1200">
                <a:solidFill>
                  <a:schemeClr val="tx1"/>
                </a:solidFill>
                <a:latin typeface="Times New Roman" pitchFamily="18" charset="0"/>
                <a:ea typeface="宋体" charset="-122"/>
                <a:cs typeface="+mn-cs"/>
              </a:defRPr>
            </a:lvl5pPr>
            <a:lvl6pPr marL="2286000" algn="l" defTabSz="914400" rtl="0" eaLnBrk="1" latinLnBrk="0" hangingPunct="1">
              <a:defRPr sz="1400" kern="1200">
                <a:solidFill>
                  <a:schemeClr val="tx1"/>
                </a:solidFill>
                <a:latin typeface="Times New Roman" pitchFamily="18" charset="0"/>
                <a:ea typeface="宋体" charset="-122"/>
                <a:cs typeface="+mn-cs"/>
              </a:defRPr>
            </a:lvl6pPr>
            <a:lvl7pPr marL="2743200" algn="l" defTabSz="914400" rtl="0" eaLnBrk="1" latinLnBrk="0" hangingPunct="1">
              <a:defRPr sz="1400" kern="1200">
                <a:solidFill>
                  <a:schemeClr val="tx1"/>
                </a:solidFill>
                <a:latin typeface="Times New Roman" pitchFamily="18" charset="0"/>
                <a:ea typeface="宋体" charset="-122"/>
                <a:cs typeface="+mn-cs"/>
              </a:defRPr>
            </a:lvl7pPr>
            <a:lvl8pPr marL="3200400" algn="l" defTabSz="914400" rtl="0" eaLnBrk="1" latinLnBrk="0" hangingPunct="1">
              <a:defRPr sz="1400" kern="1200">
                <a:solidFill>
                  <a:schemeClr val="tx1"/>
                </a:solidFill>
                <a:latin typeface="Times New Roman" pitchFamily="18" charset="0"/>
                <a:ea typeface="宋体" charset="-122"/>
                <a:cs typeface="+mn-cs"/>
              </a:defRPr>
            </a:lvl8pPr>
            <a:lvl9pPr marL="3657600" algn="l" defTabSz="914400" rtl="0" eaLnBrk="1" latinLnBrk="0" hangingPunct="1">
              <a:defRPr sz="1400" kern="1200">
                <a:solidFill>
                  <a:schemeClr val="tx1"/>
                </a:solidFill>
                <a:latin typeface="Times New Roman" pitchFamily="18" charset="0"/>
                <a:ea typeface="宋体" charset="-122"/>
                <a:cs typeface="+mn-cs"/>
              </a:defRPr>
            </a:lvl9pPr>
          </a:lstStyle>
          <a:p>
            <a:pPr algn="r"/>
            <a:fld id="{21B3B741-5216-414E-B74B-795A24EA3A0B}" type="slidenum">
              <a:rPr lang="zh-CN" altLang="en-US" smtClean="0">
                <a:solidFill>
                  <a:srgbClr val="C00000"/>
                </a:solidFill>
              </a:rPr>
              <a:pPr algn="r"/>
              <a:t>95</a:t>
            </a:fld>
            <a:endParaRPr lang="zh-CN" altLang="en-US" dirty="0">
              <a:solidFill>
                <a:srgbClr val="C00000"/>
              </a:solidFill>
            </a:endParaRPr>
          </a:p>
        </p:txBody>
      </p:sp>
      <p:sp>
        <p:nvSpPr>
          <p:cNvPr id="7" name="Text Box 28"/>
          <p:cNvSpPr txBox="1">
            <a:spLocks noChangeArrowheads="1"/>
          </p:cNvSpPr>
          <p:nvPr/>
        </p:nvSpPr>
        <p:spPr bwMode="auto">
          <a:xfrm>
            <a:off x="1987550" y="1922463"/>
            <a:ext cx="6364288"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609600" indent="-609600" eaLnBrk="0" hangingPunct="0">
              <a:defRPr sz="1400">
                <a:solidFill>
                  <a:schemeClr val="tx1"/>
                </a:solidFill>
                <a:latin typeface="Times New Roman" pitchFamily="18" charset="0"/>
                <a:ea typeface="宋体" charset="-122"/>
              </a:defRPr>
            </a:lvl1pPr>
            <a:lvl2pPr marL="742950" indent="-285750" eaLnBrk="0" hangingPunct="0">
              <a:defRPr sz="1400">
                <a:solidFill>
                  <a:schemeClr val="tx1"/>
                </a:solidFill>
                <a:latin typeface="Times New Roman" pitchFamily="18" charset="0"/>
                <a:ea typeface="宋体" charset="-122"/>
              </a:defRPr>
            </a:lvl2pPr>
            <a:lvl3pPr marL="1143000" indent="-228600" eaLnBrk="0" hangingPunct="0">
              <a:defRPr sz="1400">
                <a:solidFill>
                  <a:schemeClr val="tx1"/>
                </a:solidFill>
                <a:latin typeface="Times New Roman" pitchFamily="18" charset="0"/>
                <a:ea typeface="宋体" charset="-122"/>
              </a:defRPr>
            </a:lvl3pPr>
            <a:lvl4pPr marL="1600200" indent="-228600" eaLnBrk="0" hangingPunct="0">
              <a:defRPr sz="1400">
                <a:solidFill>
                  <a:schemeClr val="tx1"/>
                </a:solidFill>
                <a:latin typeface="Times New Roman" pitchFamily="18" charset="0"/>
                <a:ea typeface="宋体" charset="-122"/>
              </a:defRPr>
            </a:lvl4pPr>
            <a:lvl5pPr marL="2057400" indent="-228600" eaLnBrk="0" hangingPunct="0">
              <a:defRPr sz="1400">
                <a:solidFill>
                  <a:schemeClr val="tx1"/>
                </a:solidFill>
                <a:latin typeface="Times New Roman" pitchFamily="18" charset="0"/>
                <a:ea typeface="宋体" charset="-122"/>
              </a:defRPr>
            </a:lvl5pPr>
            <a:lvl6pPr marL="25146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6pPr>
            <a:lvl7pPr marL="29718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7pPr>
            <a:lvl8pPr marL="34290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8pPr>
            <a:lvl9pPr marL="3886200" indent="-228600" eaLnBrk="0" fontAlgn="base" hangingPunct="0">
              <a:lnSpc>
                <a:spcPct val="115000"/>
              </a:lnSpc>
              <a:spcBef>
                <a:spcPct val="15000"/>
              </a:spcBef>
              <a:spcAft>
                <a:spcPct val="15000"/>
              </a:spcAft>
              <a:defRPr sz="1400">
                <a:solidFill>
                  <a:schemeClr val="tx1"/>
                </a:solidFill>
                <a:latin typeface="Times New Roman" pitchFamily="18" charset="0"/>
                <a:ea typeface="宋体" charset="-122"/>
              </a:defRPr>
            </a:lvl9pPr>
          </a:lstStyle>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§6.1  </a:t>
            </a:r>
            <a:r>
              <a:rPr kumimoji="1" lang="zh-CN" altLang="en-US" sz="2800" b="1" dirty="0" smtClean="0">
                <a:solidFill>
                  <a:srgbClr val="000066"/>
                </a:solidFill>
                <a:ea typeface="幼圆" pitchFamily="49" charset="-122"/>
                <a:cs typeface="Times New Roman" panose="02020603050405020304" pitchFamily="18" charset="0"/>
              </a:rPr>
              <a:t>概述 </a:t>
            </a:r>
            <a:r>
              <a:rPr kumimoji="1" lang="en-US" altLang="zh-CN" sz="2800" b="1" dirty="0" smtClean="0">
                <a:solidFill>
                  <a:srgbClr val="000066"/>
                </a:solidFill>
                <a:ea typeface="幼圆" pitchFamily="49" charset="-122"/>
                <a:cs typeface="Times New Roman" panose="02020603050405020304" pitchFamily="18" charset="0"/>
              </a:rPr>
              <a:t>- </a:t>
            </a:r>
            <a:r>
              <a:rPr kumimoji="1" lang="zh-CN" altLang="en-US" sz="2800" b="1" dirty="0" smtClean="0">
                <a:solidFill>
                  <a:srgbClr val="000066"/>
                </a:solidFill>
                <a:ea typeface="幼圆" pitchFamily="49" charset="-122"/>
                <a:cs typeface="Times New Roman" panose="02020603050405020304" pitchFamily="18" charset="0"/>
              </a:rPr>
              <a:t>挡</a:t>
            </a:r>
            <a:r>
              <a:rPr kumimoji="1" lang="zh-CN" altLang="en-US" sz="2800" b="1" dirty="0">
                <a:solidFill>
                  <a:srgbClr val="000066"/>
                </a:solidFill>
                <a:ea typeface="幼圆" pitchFamily="49" charset="-122"/>
                <a:cs typeface="Times New Roman" panose="02020603050405020304" pitchFamily="18" charset="0"/>
              </a:rPr>
              <a:t>土结构物及</a:t>
            </a:r>
            <a:r>
              <a:rPr kumimoji="1" lang="zh-CN" altLang="en-US" sz="2800" b="1" dirty="0" smtClean="0">
                <a:solidFill>
                  <a:srgbClr val="000066"/>
                </a:solidFill>
                <a:ea typeface="幼圆" pitchFamily="49" charset="-122"/>
                <a:cs typeface="Times New Roman" panose="02020603050405020304" pitchFamily="18" charset="0"/>
              </a:rPr>
              <a:t>土压力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§6.2  </a:t>
            </a:r>
            <a:r>
              <a:rPr kumimoji="1" lang="zh-CN" altLang="en-US" sz="2800" b="1" dirty="0" smtClean="0">
                <a:solidFill>
                  <a:srgbClr val="000066"/>
                </a:solidFill>
                <a:ea typeface="幼圆" pitchFamily="49" charset="-122"/>
                <a:cs typeface="Times New Roman" panose="02020603050405020304" pitchFamily="18" charset="0"/>
              </a:rPr>
              <a:t>静止土压力计算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§6.3  </a:t>
            </a:r>
            <a:r>
              <a:rPr kumimoji="1" lang="zh-CN" altLang="en-US" sz="2800" b="1" dirty="0" smtClean="0">
                <a:solidFill>
                  <a:srgbClr val="000066"/>
                </a:solidFill>
                <a:ea typeface="幼圆" pitchFamily="49" charset="-122"/>
                <a:cs typeface="Times New Roman" panose="02020603050405020304" pitchFamily="18" charset="0"/>
              </a:rPr>
              <a:t>朗肯</a:t>
            </a:r>
            <a:r>
              <a:rPr kumimoji="1" lang="en-US" altLang="zh-CN" sz="2800" b="1" dirty="0">
                <a:solidFill>
                  <a:srgbClr val="000066"/>
                </a:solidFill>
                <a:ea typeface="幼圆" pitchFamily="49" charset="-122"/>
                <a:cs typeface="Times New Roman" panose="02020603050405020304" pitchFamily="18" charset="0"/>
              </a:rPr>
              <a:t>(</a:t>
            </a:r>
            <a:r>
              <a:rPr kumimoji="1" lang="en-US" altLang="zh-CN" sz="2800" b="1" dirty="0" err="1">
                <a:solidFill>
                  <a:srgbClr val="000066"/>
                </a:solidFill>
                <a:ea typeface="幼圆" pitchFamily="49" charset="-122"/>
                <a:cs typeface="Times New Roman" panose="02020603050405020304" pitchFamily="18" charset="0"/>
              </a:rPr>
              <a:t>Rankine</a:t>
            </a:r>
            <a:r>
              <a:rPr kumimoji="1" lang="en-US" altLang="zh-CN" sz="2800" b="1" dirty="0">
                <a:solidFill>
                  <a:srgbClr val="000066"/>
                </a:solidFill>
                <a:ea typeface="幼圆" pitchFamily="49" charset="-122"/>
                <a:cs typeface="Times New Roman" panose="02020603050405020304" pitchFamily="18" charset="0"/>
              </a:rPr>
              <a:t>)</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§6.4  </a:t>
            </a:r>
            <a:r>
              <a:rPr kumimoji="1" lang="zh-CN" altLang="en-US" sz="2800" b="1" dirty="0" smtClean="0">
                <a:solidFill>
                  <a:srgbClr val="000066"/>
                </a:solidFill>
                <a:ea typeface="幼圆" pitchFamily="49" charset="-122"/>
                <a:cs typeface="Times New Roman" panose="02020603050405020304" pitchFamily="18" charset="0"/>
              </a:rPr>
              <a:t>库仑</a:t>
            </a:r>
            <a:r>
              <a:rPr kumimoji="1" lang="en-US" altLang="zh-CN" sz="2800" b="1" dirty="0">
                <a:solidFill>
                  <a:srgbClr val="000066"/>
                </a:solidFill>
                <a:ea typeface="幼圆" pitchFamily="49" charset="-122"/>
                <a:cs typeface="Times New Roman" panose="02020603050405020304" pitchFamily="18" charset="0"/>
              </a:rPr>
              <a:t>(Coulomb)</a:t>
            </a:r>
            <a:r>
              <a:rPr kumimoji="1" lang="zh-CN" altLang="en-US" sz="2800" b="1" dirty="0">
                <a:solidFill>
                  <a:srgbClr val="000066"/>
                </a:solidFill>
                <a:ea typeface="幼圆" pitchFamily="49" charset="-122"/>
                <a:cs typeface="Times New Roman" panose="02020603050405020304" pitchFamily="18" charset="0"/>
              </a:rPr>
              <a:t>土压力</a:t>
            </a:r>
            <a:r>
              <a:rPr kumimoji="1" lang="zh-CN" altLang="en-US" sz="2800" b="1" dirty="0" smtClean="0">
                <a:solidFill>
                  <a:srgbClr val="000066"/>
                </a:solidFill>
                <a:ea typeface="幼圆" pitchFamily="49" charset="-122"/>
                <a:cs typeface="Times New Roman" panose="02020603050405020304" pitchFamily="18" charset="0"/>
              </a:rPr>
              <a:t>理论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§6.5  </a:t>
            </a:r>
            <a:r>
              <a:rPr kumimoji="1" lang="zh-CN" altLang="en-US" sz="2800" b="1" dirty="0">
                <a:solidFill>
                  <a:srgbClr val="000066"/>
                </a:solidFill>
                <a:ea typeface="幼圆" pitchFamily="49" charset="-122"/>
                <a:cs typeface="Times New Roman" panose="02020603050405020304" pitchFamily="18" charset="0"/>
              </a:rPr>
              <a:t>两种土压力理论的</a:t>
            </a:r>
            <a:r>
              <a:rPr kumimoji="1" lang="zh-CN" altLang="en-US" sz="2800" b="1" dirty="0" smtClean="0">
                <a:solidFill>
                  <a:srgbClr val="000066"/>
                </a:solidFill>
                <a:ea typeface="幼圆" pitchFamily="49" charset="-122"/>
                <a:cs typeface="Times New Roman" panose="02020603050405020304" pitchFamily="18" charset="0"/>
              </a:rPr>
              <a:t>比较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a:p>
            <a:pPr eaLnBrk="1" hangingPunct="1">
              <a:lnSpc>
                <a:spcPct val="130000"/>
              </a:lnSpc>
              <a:spcBef>
                <a:spcPct val="10000"/>
              </a:spcBef>
              <a:spcAft>
                <a:spcPct val="10000"/>
              </a:spcAft>
            </a:pPr>
            <a:r>
              <a:rPr kumimoji="1" lang="en-US" altLang="zh-CN" sz="2800" b="1" dirty="0" smtClean="0">
                <a:solidFill>
                  <a:srgbClr val="000066"/>
                </a:solidFill>
                <a:ea typeface="幼圆" pitchFamily="49" charset="-122"/>
                <a:cs typeface="Times New Roman" panose="02020603050405020304" pitchFamily="18" charset="0"/>
              </a:rPr>
              <a:t>§6.6  </a:t>
            </a:r>
            <a:r>
              <a:rPr kumimoji="1" lang="zh-CN" altLang="en-US" sz="2800" b="1" dirty="0">
                <a:solidFill>
                  <a:srgbClr val="000066"/>
                </a:solidFill>
                <a:ea typeface="幼圆" pitchFamily="49" charset="-122"/>
                <a:cs typeface="Times New Roman" panose="02020603050405020304" pitchFamily="18" charset="0"/>
              </a:rPr>
              <a:t>几种常见的主动土压力</a:t>
            </a:r>
            <a:r>
              <a:rPr kumimoji="1" lang="zh-CN" altLang="en-US" sz="2800" b="1" dirty="0" smtClean="0">
                <a:solidFill>
                  <a:srgbClr val="000066"/>
                </a:solidFill>
                <a:ea typeface="幼圆" pitchFamily="49" charset="-122"/>
                <a:cs typeface="Times New Roman" panose="02020603050405020304" pitchFamily="18" charset="0"/>
              </a:rPr>
              <a:t>计算 </a:t>
            </a:r>
            <a:r>
              <a:rPr kumimoji="1" lang="zh-CN" altLang="en-US" sz="2800" b="1" dirty="0">
                <a:solidFill>
                  <a:srgbClr val="A50021"/>
                </a:solidFill>
                <a:latin typeface="幼圆" pitchFamily="49" charset="-122"/>
                <a:ea typeface="幼圆" pitchFamily="49" charset="-122"/>
                <a:sym typeface="Symbol" pitchFamily="18" charset="2"/>
              </a:rPr>
              <a:t></a:t>
            </a:r>
            <a:endParaRPr kumimoji="1" lang="zh-CN" altLang="en-US" sz="2800" b="1" dirty="0">
              <a:solidFill>
                <a:srgbClr val="000066"/>
              </a:solidFill>
              <a:ea typeface="幼圆" pitchFamily="49" charset="-122"/>
              <a:cs typeface="Times New Roman" panose="02020603050405020304" pitchFamily="18" charset="0"/>
            </a:endParaRPr>
          </a:p>
        </p:txBody>
      </p:sp>
    </p:spTree>
    <p:extLst>
      <p:ext uri="{BB962C8B-B14F-4D97-AF65-F5344CB8AC3E}">
        <p14:creationId xmlns:p14="http://schemas.microsoft.com/office/powerpoint/2010/main" val="85887407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华文新魏"/>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
      <a:clrScheme name="吉祥如意 9">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吉祥如意 10">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吉祥如意 11">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吉祥如意 12">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fontScheme name="Eclipse">
      <a:majorFont>
        <a:latin typeface="Arial"/>
        <a:ea typeface="华文新魏"/>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spAutoFit/>
      </a:bodyPr>
      <a:lstStyle>
        <a:defPPr marL="0" marR="0" indent="358775" algn="l" defTabSz="914400" rtl="0" eaLnBrk="1" fontAlgn="base" latinLnBrk="0" hangingPunct="1">
          <a:lnSpc>
            <a:spcPct val="115000"/>
          </a:lnSpc>
          <a:spcBef>
            <a:spcPct val="15000"/>
          </a:spcBef>
          <a:spcAft>
            <a:spcPct val="1500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
      <a:clrScheme name="Eclipse 1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0066"/>
        </a:hlink>
        <a:folHlink>
          <a:srgbClr val="B2B2B2"/>
        </a:folHlink>
      </a:clrScheme>
      <a:clrMap bg1="lt1" tx1="dk1" bg2="lt2" tx2="dk2" accent1="accent1" accent2="accent2" accent3="accent3" accent4="accent4" accent5="accent5" accent6="accent6" hlink="hlink" folHlink="folHlink"/>
    </a:extraClrScheme>
    <a:extraClrScheme>
      <a:clrScheme name="Eclipse 12">
        <a:dk1>
          <a:srgbClr val="000000"/>
        </a:dk1>
        <a:lt1>
          <a:srgbClr val="FFFFFF"/>
        </a:lt1>
        <a:dk2>
          <a:srgbClr val="006666"/>
        </a:dk2>
        <a:lt2>
          <a:srgbClr val="5F5F5F"/>
        </a:lt2>
        <a:accent1>
          <a:srgbClr val="FFFF66"/>
        </a:accent1>
        <a:accent2>
          <a:srgbClr val="99CCCC"/>
        </a:accent2>
        <a:accent3>
          <a:srgbClr val="FFFFFF"/>
        </a:accent3>
        <a:accent4>
          <a:srgbClr val="000000"/>
        </a:accent4>
        <a:accent5>
          <a:srgbClr val="FFFFB8"/>
        </a:accent5>
        <a:accent6>
          <a:srgbClr val="8AB9B9"/>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Eclipse 13">
        <a:dk1>
          <a:srgbClr val="000000"/>
        </a:dk1>
        <a:lt1>
          <a:srgbClr val="FFFFFF"/>
        </a:lt1>
        <a:dk2>
          <a:srgbClr val="006666"/>
        </a:dk2>
        <a:lt2>
          <a:srgbClr val="5F5F5F"/>
        </a:lt2>
        <a:accent1>
          <a:srgbClr val="FFFF66"/>
        </a:accent1>
        <a:accent2>
          <a:srgbClr val="FF9933"/>
        </a:accent2>
        <a:accent3>
          <a:srgbClr val="FFFFFF"/>
        </a:accent3>
        <a:accent4>
          <a:srgbClr val="000000"/>
        </a:accent4>
        <a:accent5>
          <a:srgbClr val="FFFFB8"/>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
      <a:clrScheme name="Eclipse 14">
        <a:dk1>
          <a:srgbClr val="000000"/>
        </a:dk1>
        <a:lt1>
          <a:srgbClr val="FFFFFF"/>
        </a:lt1>
        <a:dk2>
          <a:srgbClr val="006666"/>
        </a:dk2>
        <a:lt2>
          <a:srgbClr val="5F5F5F"/>
        </a:lt2>
        <a:accent1>
          <a:srgbClr val="FFFF99"/>
        </a:accent1>
        <a:accent2>
          <a:srgbClr val="FF9933"/>
        </a:accent2>
        <a:accent3>
          <a:srgbClr val="FFFFFF"/>
        </a:accent3>
        <a:accent4>
          <a:srgbClr val="000000"/>
        </a:accent4>
        <a:accent5>
          <a:srgbClr val="FFFFCA"/>
        </a:accent5>
        <a:accent6>
          <a:srgbClr val="E78A2D"/>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42415</TotalTime>
  <Words>6983</Words>
  <Application>Microsoft Office PowerPoint</Application>
  <PresentationFormat>全屏显示(4:3)</PresentationFormat>
  <Paragraphs>1545</Paragraphs>
  <Slides>95</Slides>
  <Notes>94</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95</vt:i4>
      </vt:variant>
    </vt:vector>
  </HeadingPairs>
  <TitlesOfParts>
    <vt:vector size="114" baseType="lpstr">
      <vt:lpstr>仿宋_GB2312</vt:lpstr>
      <vt:lpstr>黑体</vt:lpstr>
      <vt:lpstr>华文新魏</vt:lpstr>
      <vt:lpstr>楷体_GB2312</vt:lpstr>
      <vt:lpstr>宋体</vt:lpstr>
      <vt:lpstr>宋体</vt:lpstr>
      <vt:lpstr>微软雅黑</vt:lpstr>
      <vt:lpstr>幼圆</vt:lpstr>
      <vt:lpstr>Arial</vt:lpstr>
      <vt:lpstr>Symbol</vt:lpstr>
      <vt:lpstr>Times New Roman</vt:lpstr>
      <vt:lpstr>Verdana</vt:lpstr>
      <vt:lpstr>Webdings</vt:lpstr>
      <vt:lpstr>Wingdings</vt:lpstr>
      <vt:lpstr>Wingdings 2</vt:lpstr>
      <vt:lpstr>吉祥如意</vt:lpstr>
      <vt:lpstr>Eclipse</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zhang0</dc:creator>
  <cp:lastModifiedBy>Administrator</cp:lastModifiedBy>
  <cp:revision>3317</cp:revision>
  <cp:lastPrinted>2017-12-14T12:33:21Z</cp:lastPrinted>
  <dcterms:created xsi:type="dcterms:W3CDTF">1601-01-01T00:00:00Z</dcterms:created>
  <dcterms:modified xsi:type="dcterms:W3CDTF">2020-11-24T08:41:50Z</dcterms:modified>
</cp:coreProperties>
</file>