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9"/>
    <p:sldId id="307" r:id="rId20"/>
    <p:sldId id="308" r:id="rId21"/>
    <p:sldId id="309" r:id="rId22"/>
    <p:sldId id="310" r:id="rId23"/>
    <p:sldId id="311" r:id="rId24"/>
    <p:sldId id="312" r:id="rId25"/>
    <p:sldId id="313" r:id="rId26"/>
    <p:sldId id="314" r:id="rId27"/>
    <p:sldId id="315" r:id="rId28"/>
    <p:sldId id="316" r:id="rId29"/>
    <p:sldId id="317" r:id="rId30"/>
    <p:sldId id="318" r:id="rId31"/>
    <p:sldId id="319" r:id="rId32"/>
    <p:sldId id="320" r:id="rId33"/>
    <p:sldId id="321" r:id="rId34"/>
    <p:sldId id="322" r:id="rId35"/>
    <p:sldId id="323" r:id="rId36"/>
    <p:sldId id="324" r:id="rId37"/>
    <p:sldId id="325" r:id="rId38"/>
    <p:sldId id="326" r:id="rId39"/>
    <p:sldId id="327" r:id="rId40"/>
    <p:sldId id="328" r:id="rId41"/>
    <p:sldId id="329" r:id="rId42"/>
    <p:sldId id="330" r:id="rId43"/>
    <p:sldId id="331" r:id="rId44"/>
    <p:sldId id="332" r:id="rId45"/>
    <p:sldId id="333" r:id="rId46"/>
    <p:sldId id="334" r:id="rId47"/>
    <p:sldId id="335" r:id="rId48"/>
    <p:sldId id="336" r:id="rId49"/>
    <p:sldId id="337" r:id="rId50"/>
    <p:sldId id="338" r:id="rId51"/>
    <p:sldId id="339" r:id="rId52"/>
    <p:sldId id="340" r:id="rId53"/>
    <p:sldId id="341" r:id="rId54"/>
    <p:sldId id="342" r:id="rId55"/>
    <p:sldId id="343" r:id="rId56"/>
    <p:sldId id="344" r:id="rId5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1" d="100"/>
          <a:sy n="91" d="100"/>
        </p:scale>
        <p:origin x="9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0" Type="http://schemas.openxmlformats.org/officeDocument/2006/relationships/tableStyles" Target="tableStyles.xml"/><Relationship Id="rId6" Type="http://schemas.openxmlformats.org/officeDocument/2006/relationships/slide" Target="slides/slide4.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5.vml.rels><?xml version="1.0" encoding="UTF-8" standalone="yes"?>
<Relationships xmlns="http://schemas.openxmlformats.org/package/2006/relationships"><Relationship Id="rId4" Type="http://schemas.openxmlformats.org/officeDocument/2006/relationships/image" Target="../media/image44.wmf"/><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image" Target="../media/image55.wmf"/></Relationships>
</file>

<file path=ppt/drawings/_rels/vmlDrawing19.vml.rels><?xml version="1.0" encoding="UTF-8" standalone="yes"?>
<Relationships xmlns="http://schemas.openxmlformats.org/package/2006/relationships"><Relationship Id="rId6" Type="http://schemas.openxmlformats.org/officeDocument/2006/relationships/image" Target="../media/image50.wmf"/><Relationship Id="rId5" Type="http://schemas.openxmlformats.org/officeDocument/2006/relationships/image" Target="../media/image62.wmf"/><Relationship Id="rId4" Type="http://schemas.openxmlformats.org/officeDocument/2006/relationships/image" Target="../media/image61.wmf"/><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6.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67.emf"/></Relationships>
</file>

<file path=ppt/drawings/_rels/vmlDrawing23.vml.rels><?xml version="1.0" encoding="UTF-8" standalone="yes"?>
<Relationships xmlns="http://schemas.openxmlformats.org/package/2006/relationships"><Relationship Id="rId4" Type="http://schemas.openxmlformats.org/officeDocument/2006/relationships/image" Target="../media/image72.wmf"/><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7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B26AF6-3BDA-4202-A13C-4FB28D2DEB3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32FBE0-F2CA-480C-9843-BCA16D63035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ChangeArrowheads="1" noTextEdit="1"/>
          </p:cNvSpPr>
          <p:nvPr>
            <p:ph type="sldImg" idx="4294967295"/>
          </p:nvPr>
        </p:nvSpPr>
        <p:spPr bwMode="auto">
          <a:ln>
            <a:solidFill>
              <a:srgbClr val="000000"/>
            </a:solidFill>
            <a:miter lim="800000"/>
          </a:ln>
        </p:spPr>
      </p:sp>
      <p:sp>
        <p:nvSpPr>
          <p:cNvPr id="39939" name="备注占位符 2"/>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3994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AE28284-FFEB-4611-B932-4902A06EB737}" type="slidenum">
              <a:rPr lang="zh-CN" altLang="en-US" smtClean="0"/>
            </a:fld>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29842" y="2505075"/>
            <a:ext cx="3868340"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505075"/>
            <a:ext cx="3887391"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jpe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8.wmf"/><Relationship Id="rId3" Type="http://schemas.openxmlformats.org/officeDocument/2006/relationships/oleObject" Target="../embeddings/oleObject2.bin"/><Relationship Id="rId2" Type="http://schemas.openxmlformats.org/officeDocument/2006/relationships/image" Target="../media/image7.wmf"/><Relationship Id="rId1"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7.xml"/><Relationship Id="rId3" Type="http://schemas.openxmlformats.org/officeDocument/2006/relationships/tags" Target="../tags/tag1.xml"/><Relationship Id="rId2" Type="http://schemas.openxmlformats.org/officeDocument/2006/relationships/image" Target="../media/image9.emf"/><Relationship Id="rId1" Type="http://schemas.openxmlformats.org/officeDocument/2006/relationships/oleObject" Target="../embeddings/oleObject3.bin"/></Relationships>
</file>

<file path=ppt/slides/_rels/slide14.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7.xml"/><Relationship Id="rId3" Type="http://schemas.openxmlformats.org/officeDocument/2006/relationships/tags" Target="../tags/tag2.xml"/><Relationship Id="rId2" Type="http://schemas.openxmlformats.org/officeDocument/2006/relationships/image" Target="../media/image10.wmf"/><Relationship Id="rId1" Type="http://schemas.openxmlformats.org/officeDocument/2006/relationships/oleObject" Target="../embeddings/oleObject4.bin"/></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vmlDrawing" Target="../drawings/vmlDrawing4.vml"/><Relationship Id="rId7" Type="http://schemas.openxmlformats.org/officeDocument/2006/relationships/slideLayout" Target="../slideLayouts/slideLayout7.xml"/><Relationship Id="rId6" Type="http://schemas.openxmlformats.org/officeDocument/2006/relationships/image" Target="../media/image13.wmf"/><Relationship Id="rId5" Type="http://schemas.openxmlformats.org/officeDocument/2006/relationships/oleObject" Target="../embeddings/oleObject7.bin"/><Relationship Id="rId4" Type="http://schemas.openxmlformats.org/officeDocument/2006/relationships/image" Target="../media/image12.wmf"/><Relationship Id="rId3" Type="http://schemas.openxmlformats.org/officeDocument/2006/relationships/oleObject" Target="../embeddings/oleObject6.bin"/><Relationship Id="rId2" Type="http://schemas.openxmlformats.org/officeDocument/2006/relationships/image" Target="../media/image11.wmf"/><Relationship Id="rId1" Type="http://schemas.openxmlformats.org/officeDocument/2006/relationships/oleObject" Target="../embeddings/oleObject5.bin"/></Relationships>
</file>

<file path=ppt/slides/_rels/slide16.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7.xml"/><Relationship Id="rId4" Type="http://schemas.openxmlformats.org/officeDocument/2006/relationships/image" Target="../media/image15.wmf"/><Relationship Id="rId3" Type="http://schemas.openxmlformats.org/officeDocument/2006/relationships/oleObject" Target="../embeddings/oleObject9.bin"/><Relationship Id="rId2" Type="http://schemas.openxmlformats.org/officeDocument/2006/relationships/image" Target="../media/image14.wmf"/><Relationship Id="rId1" Type="http://schemas.openxmlformats.org/officeDocument/2006/relationships/oleObject" Target="../embeddings/oleObject8.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4.xml"/><Relationship Id="rId2" Type="http://schemas.openxmlformats.org/officeDocument/2006/relationships/image" Target="../media/image17.png"/><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8" Type="http://schemas.openxmlformats.org/officeDocument/2006/relationships/vmlDrawing" Target="../drawings/vmlDrawing6.vml"/><Relationship Id="rId7" Type="http://schemas.openxmlformats.org/officeDocument/2006/relationships/slideLayout" Target="../slideLayouts/slideLayout7.xml"/><Relationship Id="rId6" Type="http://schemas.openxmlformats.org/officeDocument/2006/relationships/image" Target="../media/image20.wmf"/><Relationship Id="rId5" Type="http://schemas.openxmlformats.org/officeDocument/2006/relationships/oleObject" Target="../embeddings/oleObject12.bin"/><Relationship Id="rId4" Type="http://schemas.openxmlformats.org/officeDocument/2006/relationships/image" Target="../media/image19.wmf"/><Relationship Id="rId3" Type="http://schemas.openxmlformats.org/officeDocument/2006/relationships/oleObject" Target="../embeddings/oleObject11.bin"/><Relationship Id="rId2" Type="http://schemas.openxmlformats.org/officeDocument/2006/relationships/image" Target="../media/image18.wmf"/><Relationship Id="rId1" Type="http://schemas.openxmlformats.org/officeDocument/2006/relationships/oleObject" Target="../embeddings/oleObject10.bin"/></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21.wmf"/><Relationship Id="rId1" Type="http://schemas.openxmlformats.org/officeDocument/2006/relationships/oleObject" Target="../embeddings/oleObject13.bin"/></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xml"/><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7.xml"/><Relationship Id="rId4" Type="http://schemas.openxmlformats.org/officeDocument/2006/relationships/tags" Target="../tags/tag6.xml"/><Relationship Id="rId3" Type="http://schemas.openxmlformats.org/officeDocument/2006/relationships/image" Target="../media/image24.png"/><Relationship Id="rId2" Type="http://schemas.openxmlformats.org/officeDocument/2006/relationships/image" Target="../media/image23.emf"/><Relationship Id="rId1" Type="http://schemas.openxmlformats.org/officeDocument/2006/relationships/oleObject" Target="../embeddings/oleObject14.bin"/></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xml"/><Relationship Id="rId1" Type="http://schemas.openxmlformats.org/officeDocument/2006/relationships/image" Target="../media/image25.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image" Target="../media/image26.png"/></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9.xml"/><Relationship Id="rId7" Type="http://schemas.openxmlformats.org/officeDocument/2006/relationships/image" Target="../media/image26.png"/><Relationship Id="rId6" Type="http://schemas.openxmlformats.org/officeDocument/2006/relationships/image" Target="../media/image29.wmf"/><Relationship Id="rId5" Type="http://schemas.openxmlformats.org/officeDocument/2006/relationships/oleObject" Target="../embeddings/oleObject17.bin"/><Relationship Id="rId4" Type="http://schemas.openxmlformats.org/officeDocument/2006/relationships/image" Target="../media/image28.wmf"/><Relationship Id="rId3" Type="http://schemas.openxmlformats.org/officeDocument/2006/relationships/oleObject" Target="../embeddings/oleObject16.bin"/><Relationship Id="rId2" Type="http://schemas.openxmlformats.org/officeDocument/2006/relationships/image" Target="../media/image27.wmf"/><Relationship Id="rId10" Type="http://schemas.openxmlformats.org/officeDocument/2006/relationships/vmlDrawing" Target="../drawings/vmlDrawing9.vml"/><Relationship Id="rId1" Type="http://schemas.openxmlformats.org/officeDocument/2006/relationships/oleObject" Target="../embeddings/oleObject15.bin"/></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29.wmf"/><Relationship Id="rId1" Type="http://schemas.openxmlformats.org/officeDocument/2006/relationships/oleObject" Target="../embeddings/oleObject18.bin"/></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xml"/><Relationship Id="rId1" Type="http://schemas.openxmlformats.org/officeDocument/2006/relationships/image" Target="../media/image30.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wmf"/></Relationships>
</file>

<file path=ppt/slides/_rels/slide31.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7.xml"/><Relationship Id="rId4" Type="http://schemas.openxmlformats.org/officeDocument/2006/relationships/tags" Target="../tags/tag11.xml"/><Relationship Id="rId3" Type="http://schemas.openxmlformats.org/officeDocument/2006/relationships/image" Target="../media/image33.emf"/><Relationship Id="rId2" Type="http://schemas.openxmlformats.org/officeDocument/2006/relationships/oleObject" Target="../embeddings/oleObject19.bin"/><Relationship Id="rId1" Type="http://schemas.openxmlformats.org/officeDocument/2006/relationships/image" Target="../media/image32.png"/></Relationships>
</file>

<file path=ppt/slides/_rels/slide32.xml.rels><?xml version="1.0" encoding="UTF-8" standalone="yes"?>
<Relationships xmlns="http://schemas.openxmlformats.org/package/2006/relationships"><Relationship Id="rId6" Type="http://schemas.openxmlformats.org/officeDocument/2006/relationships/vmlDrawing" Target="../drawings/vmlDrawing12.vml"/><Relationship Id="rId5" Type="http://schemas.openxmlformats.org/officeDocument/2006/relationships/slideLayout" Target="../slideLayouts/slideLayout7.xml"/><Relationship Id="rId4" Type="http://schemas.openxmlformats.org/officeDocument/2006/relationships/image" Target="../media/image35.wmf"/><Relationship Id="rId3" Type="http://schemas.openxmlformats.org/officeDocument/2006/relationships/oleObject" Target="../embeddings/oleObject21.bin"/><Relationship Id="rId2" Type="http://schemas.openxmlformats.org/officeDocument/2006/relationships/image" Target="../media/image34.wmf"/><Relationship Id="rId1" Type="http://schemas.openxmlformats.org/officeDocument/2006/relationships/oleObject" Target="../embeddings/oleObject20.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slideLayout" Target="../slideLayouts/slideLayout7.xml"/><Relationship Id="rId4" Type="http://schemas.openxmlformats.org/officeDocument/2006/relationships/tags" Target="../tags/tag12.xml"/><Relationship Id="rId3" Type="http://schemas.openxmlformats.org/officeDocument/2006/relationships/image" Target="../media/image37.png"/><Relationship Id="rId2" Type="http://schemas.openxmlformats.org/officeDocument/2006/relationships/image" Target="../media/image36.wmf"/><Relationship Id="rId1" Type="http://schemas.openxmlformats.org/officeDocument/2006/relationships/oleObject" Target="../embeddings/oleObject22.bin"/></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39.wmf"/><Relationship Id="rId1" Type="http://schemas.openxmlformats.org/officeDocument/2006/relationships/oleObject" Target="../embeddings/oleObject23.bin"/></Relationships>
</file>

<file path=ppt/slides/_rels/slide37.xml.rels><?xml version="1.0" encoding="UTF-8" standalone="yes"?>
<Relationships xmlns="http://schemas.openxmlformats.org/package/2006/relationships"><Relationship Id="rId9" Type="http://schemas.openxmlformats.org/officeDocument/2006/relationships/image" Target="../media/image44.wmf"/><Relationship Id="rId8" Type="http://schemas.openxmlformats.org/officeDocument/2006/relationships/oleObject" Target="../embeddings/oleObject27.bin"/><Relationship Id="rId7" Type="http://schemas.openxmlformats.org/officeDocument/2006/relationships/image" Target="../media/image43.png"/><Relationship Id="rId6" Type="http://schemas.openxmlformats.org/officeDocument/2006/relationships/image" Target="../media/image42.wmf"/><Relationship Id="rId5" Type="http://schemas.openxmlformats.org/officeDocument/2006/relationships/oleObject" Target="../embeddings/oleObject26.bin"/><Relationship Id="rId4" Type="http://schemas.openxmlformats.org/officeDocument/2006/relationships/image" Target="../media/image41.wmf"/><Relationship Id="rId3" Type="http://schemas.openxmlformats.org/officeDocument/2006/relationships/oleObject" Target="../embeddings/oleObject25.bin"/><Relationship Id="rId2" Type="http://schemas.openxmlformats.org/officeDocument/2006/relationships/image" Target="../media/image40.wmf"/><Relationship Id="rId12" Type="http://schemas.openxmlformats.org/officeDocument/2006/relationships/vmlDrawing" Target="../drawings/vmlDrawing15.vml"/><Relationship Id="rId11" Type="http://schemas.openxmlformats.org/officeDocument/2006/relationships/slideLayout" Target="../slideLayouts/slideLayout7.xml"/><Relationship Id="rId10" Type="http://schemas.openxmlformats.org/officeDocument/2006/relationships/tags" Target="../tags/tag13.xml"/><Relationship Id="rId1" Type="http://schemas.openxmlformats.org/officeDocument/2006/relationships/oleObject" Target="../embeddings/oleObject24.bin"/></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6.png"/><Relationship Id="rId1" Type="http://schemas.openxmlformats.org/officeDocument/2006/relationships/image" Target="../media/image45.png"/></Relationships>
</file>

<file path=ppt/slides/_rels/slide39.xml.rels><?xml version="1.0" encoding="UTF-8" standalone="yes"?>
<Relationships xmlns="http://schemas.openxmlformats.org/package/2006/relationships"><Relationship Id="rId5" Type="http://schemas.openxmlformats.org/officeDocument/2006/relationships/vmlDrawing" Target="../drawings/vmlDrawing16.vml"/><Relationship Id="rId4" Type="http://schemas.openxmlformats.org/officeDocument/2006/relationships/slideLayout" Target="../slideLayouts/slideLayout7.xml"/><Relationship Id="rId3" Type="http://schemas.openxmlformats.org/officeDocument/2006/relationships/image" Target="../media/image48.png"/><Relationship Id="rId2" Type="http://schemas.openxmlformats.org/officeDocument/2006/relationships/image" Target="../media/image47.wmf"/><Relationship Id="rId1" Type="http://schemas.openxmlformats.org/officeDocument/2006/relationships/oleObject" Target="../embeddings/oleObject28.bin"/></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9" Type="http://schemas.openxmlformats.org/officeDocument/2006/relationships/vmlDrawing" Target="../drawings/vmlDrawing17.vml"/><Relationship Id="rId8" Type="http://schemas.openxmlformats.org/officeDocument/2006/relationships/slideLayout" Target="../slideLayouts/slideLayout7.xml"/><Relationship Id="rId7" Type="http://schemas.openxmlformats.org/officeDocument/2006/relationships/tags" Target="../tags/tag14.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wmf"/><Relationship Id="rId3" Type="http://schemas.openxmlformats.org/officeDocument/2006/relationships/oleObject" Target="../embeddings/oleObject30.bin"/><Relationship Id="rId2" Type="http://schemas.openxmlformats.org/officeDocument/2006/relationships/image" Target="../media/image50.wmf"/><Relationship Id="rId1" Type="http://schemas.openxmlformats.org/officeDocument/2006/relationships/oleObject" Target="../embeddings/oleObject29.bin"/></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4.png"/></Relationships>
</file>

<file path=ppt/slides/_rels/slide44.xml.rels><?xml version="1.0" encoding="UTF-8" standalone="yes"?>
<Relationships xmlns="http://schemas.openxmlformats.org/package/2006/relationships"><Relationship Id="rId9" Type="http://schemas.openxmlformats.org/officeDocument/2006/relationships/vmlDrawing" Target="../drawings/vmlDrawing18.vml"/><Relationship Id="rId8" Type="http://schemas.openxmlformats.org/officeDocument/2006/relationships/slideLayout" Target="../slideLayouts/slideLayout7.xml"/><Relationship Id="rId7" Type="http://schemas.openxmlformats.org/officeDocument/2006/relationships/tags" Target="../tags/tag15.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wmf"/><Relationship Id="rId3" Type="http://schemas.openxmlformats.org/officeDocument/2006/relationships/oleObject" Target="../embeddings/oleObject32.bin"/><Relationship Id="rId2" Type="http://schemas.openxmlformats.org/officeDocument/2006/relationships/image" Target="../media/image55.wmf"/><Relationship Id="rId1" Type="http://schemas.openxmlformats.org/officeDocument/2006/relationships/oleObject" Target="../embeddings/oleObject31.bin"/></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37.bin"/><Relationship Id="rId8" Type="http://schemas.openxmlformats.org/officeDocument/2006/relationships/image" Target="../media/image61.wmf"/><Relationship Id="rId7" Type="http://schemas.openxmlformats.org/officeDocument/2006/relationships/oleObject" Target="../embeddings/oleObject36.bin"/><Relationship Id="rId6" Type="http://schemas.openxmlformats.org/officeDocument/2006/relationships/image" Target="../media/image60.wmf"/><Relationship Id="rId5" Type="http://schemas.openxmlformats.org/officeDocument/2006/relationships/oleObject" Target="../embeddings/oleObject35.bin"/><Relationship Id="rId4" Type="http://schemas.openxmlformats.org/officeDocument/2006/relationships/image" Target="../media/image59.wmf"/><Relationship Id="rId3" Type="http://schemas.openxmlformats.org/officeDocument/2006/relationships/oleObject" Target="../embeddings/oleObject34.bin"/><Relationship Id="rId2" Type="http://schemas.openxmlformats.org/officeDocument/2006/relationships/image" Target="../media/image56.wmf"/><Relationship Id="rId16" Type="http://schemas.openxmlformats.org/officeDocument/2006/relationships/vmlDrawing" Target="../drawings/vmlDrawing19.vml"/><Relationship Id="rId15" Type="http://schemas.openxmlformats.org/officeDocument/2006/relationships/slideLayout" Target="../slideLayouts/slideLayout7.xml"/><Relationship Id="rId14" Type="http://schemas.openxmlformats.org/officeDocument/2006/relationships/tags" Target="../tags/tag16.xml"/><Relationship Id="rId13" Type="http://schemas.openxmlformats.org/officeDocument/2006/relationships/image" Target="../media/image57.png"/><Relationship Id="rId12" Type="http://schemas.openxmlformats.org/officeDocument/2006/relationships/image" Target="../media/image50.wmf"/><Relationship Id="rId11" Type="http://schemas.openxmlformats.org/officeDocument/2006/relationships/oleObject" Target="../embeddings/oleObject38.bin"/><Relationship Id="rId10" Type="http://schemas.openxmlformats.org/officeDocument/2006/relationships/image" Target="../media/image62.wmf"/><Relationship Id="rId1" Type="http://schemas.openxmlformats.org/officeDocument/2006/relationships/oleObject" Target="../embeddings/oleObject33.bin"/></Relationships>
</file>

<file path=ppt/slides/_rels/slide46.xml.rels><?xml version="1.0" encoding="UTF-8" standalone="yes"?>
<Relationships xmlns="http://schemas.openxmlformats.org/package/2006/relationships"><Relationship Id="rId5" Type="http://schemas.openxmlformats.org/officeDocument/2006/relationships/vmlDrawing" Target="../drawings/vmlDrawing20.vml"/><Relationship Id="rId4" Type="http://schemas.openxmlformats.org/officeDocument/2006/relationships/slideLayout" Target="../slideLayouts/slideLayout7.xml"/><Relationship Id="rId3" Type="http://schemas.openxmlformats.org/officeDocument/2006/relationships/image" Target="../media/image63.png"/><Relationship Id="rId2" Type="http://schemas.openxmlformats.org/officeDocument/2006/relationships/image" Target="../media/image61.wmf"/><Relationship Id="rId1" Type="http://schemas.openxmlformats.org/officeDocument/2006/relationships/oleObject" Target="../embeddings/oleObject39.bin"/></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7.xml"/><Relationship Id="rId1" Type="http://schemas.openxmlformats.org/officeDocument/2006/relationships/image" Target="../media/image64.png"/></Relationships>
</file>

<file path=ppt/slides/_rels/slide48.xml.rels><?xml version="1.0" encoding="UTF-8" standalone="yes"?>
<Relationships xmlns="http://schemas.openxmlformats.org/package/2006/relationships"><Relationship Id="rId7" Type="http://schemas.openxmlformats.org/officeDocument/2006/relationships/vmlDrawing" Target="../drawings/vmlDrawing21.vml"/><Relationship Id="rId6"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15.wmf"/><Relationship Id="rId3" Type="http://schemas.openxmlformats.org/officeDocument/2006/relationships/oleObject" Target="../embeddings/oleObject41.bin"/><Relationship Id="rId2" Type="http://schemas.openxmlformats.org/officeDocument/2006/relationships/image" Target="../media/image14.wmf"/><Relationship Id="rId1" Type="http://schemas.openxmlformats.org/officeDocument/2006/relationships/oleObject" Target="../embeddings/oleObject40.bin"/></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6.png"/></Relationships>
</file>

<file path=ppt/slides/_rels/slide50.xml.rels><?xml version="1.0" encoding="UTF-8" standalone="yes"?>
<Relationships xmlns="http://schemas.openxmlformats.org/package/2006/relationships"><Relationship Id="rId5" Type="http://schemas.openxmlformats.org/officeDocument/2006/relationships/vmlDrawing" Target="../drawings/vmlDrawing22.vml"/><Relationship Id="rId4" Type="http://schemas.openxmlformats.org/officeDocument/2006/relationships/slideLayout" Target="../slideLayouts/slideLayout7.xml"/><Relationship Id="rId3" Type="http://schemas.openxmlformats.org/officeDocument/2006/relationships/image" Target="../media/image68.png"/><Relationship Id="rId2" Type="http://schemas.openxmlformats.org/officeDocument/2006/relationships/image" Target="../media/image67.emf"/><Relationship Id="rId1" Type="http://schemas.openxmlformats.org/officeDocument/2006/relationships/oleObject" Target="../embeddings/oleObject42.bin"/></Relationships>
</file>

<file path=ppt/slides/_rels/slide51.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image" Target="../media/image72.wmf"/><Relationship Id="rId7" Type="http://schemas.openxmlformats.org/officeDocument/2006/relationships/oleObject" Target="../embeddings/oleObject46.bin"/><Relationship Id="rId6" Type="http://schemas.openxmlformats.org/officeDocument/2006/relationships/image" Target="../media/image71.wmf"/><Relationship Id="rId5" Type="http://schemas.openxmlformats.org/officeDocument/2006/relationships/oleObject" Target="../embeddings/oleObject45.bin"/><Relationship Id="rId4" Type="http://schemas.openxmlformats.org/officeDocument/2006/relationships/image" Target="../media/image70.wmf"/><Relationship Id="rId3" Type="http://schemas.openxmlformats.org/officeDocument/2006/relationships/oleObject" Target="../embeddings/oleObject44.bin"/><Relationship Id="rId2" Type="http://schemas.openxmlformats.org/officeDocument/2006/relationships/image" Target="../media/image69.wmf"/><Relationship Id="rId11" Type="http://schemas.openxmlformats.org/officeDocument/2006/relationships/vmlDrawing" Target="../drawings/vmlDrawing23.vml"/><Relationship Id="rId10" Type="http://schemas.openxmlformats.org/officeDocument/2006/relationships/slideLayout" Target="../slideLayouts/slideLayout7.xml"/><Relationship Id="rId1" Type="http://schemas.openxmlformats.org/officeDocument/2006/relationships/oleObject" Target="../embeddings/oleObject43.bin"/></Relationships>
</file>

<file path=ppt/slides/_rels/slide52.xml.rels><?xml version="1.0" encoding="UTF-8" standalone="yes"?>
<Relationships xmlns="http://schemas.openxmlformats.org/package/2006/relationships"><Relationship Id="rId5" Type="http://schemas.openxmlformats.org/officeDocument/2006/relationships/vmlDrawing" Target="../drawings/vmlDrawing24.vml"/><Relationship Id="rId4" Type="http://schemas.openxmlformats.org/officeDocument/2006/relationships/slideLayout" Target="../slideLayouts/slideLayout7.xml"/><Relationship Id="rId3" Type="http://schemas.openxmlformats.org/officeDocument/2006/relationships/tags" Target="../tags/tag19.xml"/><Relationship Id="rId2" Type="http://schemas.openxmlformats.org/officeDocument/2006/relationships/image" Target="../media/image73.wmf"/><Relationship Id="rId1" Type="http://schemas.openxmlformats.org/officeDocument/2006/relationships/oleObject" Target="../embeddings/oleObject47.bin"/></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0.xml"/></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21.xml"/><Relationship Id="rId2" Type="http://schemas.openxmlformats.org/officeDocument/2006/relationships/image" Target="../media/image75.png"/><Relationship Id="rId1"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5361"/>
          <p:cNvSpPr>
            <a:spLocks noGrp="1" noChangeArrowheads="1"/>
          </p:cNvSpPr>
          <p:nvPr>
            <p:ph type="ctrTitle"/>
          </p:nvPr>
        </p:nvSpPr>
        <p:spPr>
          <a:xfrm>
            <a:off x="685800" y="2130425"/>
            <a:ext cx="7772400" cy="1470025"/>
          </a:xfrm>
        </p:spPr>
        <p:txBody>
          <a:bodyPr anchor="ctr"/>
          <a:lstStyle/>
          <a:p>
            <a:pPr eaLnBrk="1" hangingPunct="1"/>
            <a:r>
              <a:rPr lang="en-US" altLang="zh-CN" sz="4600" b="1" smtClean="0">
                <a:solidFill>
                  <a:schemeClr val="tx1"/>
                </a:solidFill>
                <a:latin typeface="黑体" panose="02010609060101010101" pitchFamily="49" charset="-122"/>
                <a:ea typeface="黑体" panose="02010609060101010101" pitchFamily="49" charset="-122"/>
              </a:rPr>
              <a:t>02</a:t>
            </a:r>
            <a:r>
              <a:rPr lang="zh-CN" altLang="en-US" sz="4600" b="1" smtClean="0">
                <a:solidFill>
                  <a:schemeClr val="tx1"/>
                </a:solidFill>
                <a:latin typeface="黑体" panose="02010609060101010101" pitchFamily="49" charset="-122"/>
                <a:ea typeface="黑体" panose="02010609060101010101" pitchFamily="49" charset="-122"/>
              </a:rPr>
              <a:t> 能量</a:t>
            </a:r>
            <a:endParaRPr lang="en-US" altLang="zh-CN" sz="4600" b="1" smtClean="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64515"/>
          <p:cNvSpPr>
            <a:spLocks noChangeArrowheads="1"/>
          </p:cNvSpPr>
          <p:nvPr/>
        </p:nvSpPr>
        <p:spPr bwMode="auto">
          <a:xfrm>
            <a:off x="1835150" y="2636838"/>
            <a:ext cx="69850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4800" b="1">
                <a:latin typeface="黑体" panose="02010609060101010101" pitchFamily="49" charset="-122"/>
                <a:ea typeface="黑体" panose="02010609060101010101" pitchFamily="49" charset="-122"/>
              </a:rPr>
              <a:t>2-1  </a:t>
            </a:r>
            <a:r>
              <a:rPr lang="zh-CN" altLang="en-US" sz="4800" b="1">
                <a:latin typeface="黑体" panose="02010609060101010101" pitchFamily="49" charset="-122"/>
                <a:ea typeface="黑体" panose="02010609060101010101" pitchFamily="49" charset="-122"/>
              </a:rPr>
              <a:t>能量发展概述</a:t>
            </a:r>
            <a:endParaRPr lang="en-US" altLang="zh-CN" sz="4800" b="1">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图片 17409" descr="OC0811004_ThomasYoung"/>
          <p:cNvPicPr>
            <a:picLocks noChangeAspect="1" noChangeArrowheads="1"/>
          </p:cNvPicPr>
          <p:nvPr/>
        </p:nvPicPr>
        <p:blipFill>
          <a:blip r:embed="rId1">
            <a:extLst>
              <a:ext uri="{28A0092B-C50C-407E-A947-70E740481C1C}">
                <a14:useLocalDpi xmlns:a14="http://schemas.microsoft.com/office/drawing/2010/main" val="0"/>
              </a:ext>
            </a:extLst>
          </a:blip>
          <a:srcRect r="14781"/>
          <a:stretch>
            <a:fillRect/>
          </a:stretch>
        </p:blipFill>
        <p:spPr bwMode="auto">
          <a:xfrm>
            <a:off x="885190" y="1557655"/>
            <a:ext cx="2171065" cy="255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文本框 17410"/>
          <p:cNvSpPr txBox="1">
            <a:spLocks noChangeArrowheads="1"/>
          </p:cNvSpPr>
          <p:nvPr/>
        </p:nvSpPr>
        <p:spPr bwMode="auto">
          <a:xfrm>
            <a:off x="684213" y="4221163"/>
            <a:ext cx="2711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托马斯 杨（</a:t>
            </a:r>
            <a:r>
              <a:rPr lang="en-US" altLang="zh-CN"/>
              <a:t>1773-1829</a:t>
            </a:r>
            <a:r>
              <a:rPr lang="zh-CN" altLang="en-US"/>
              <a:t>）</a:t>
            </a:r>
            <a:endParaRPr lang="zh-CN" altLang="en-US"/>
          </a:p>
        </p:txBody>
      </p:sp>
      <p:sp>
        <p:nvSpPr>
          <p:cNvPr id="17417" name="矩形 17416"/>
          <p:cNvSpPr>
            <a:spLocks noChangeArrowheads="1"/>
          </p:cNvSpPr>
          <p:nvPr/>
        </p:nvSpPr>
        <p:spPr bwMode="auto">
          <a:xfrm>
            <a:off x="684213" y="5029200"/>
            <a:ext cx="79216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latin typeface="楷体_GB2312" pitchFamily="49" charset="-122"/>
                <a:ea typeface="楷体_GB2312" pitchFamily="49" charset="-122"/>
              </a:rPr>
              <a:t>英国人，光波学、声波学、力学、生理学、语言学、音乐等应力和应变关系的杨氏模量；最先破译古埃及象形文字  </a:t>
            </a:r>
            <a:endParaRPr lang="zh-CN" altLang="en-US" sz="2400" b="1">
              <a:latin typeface="楷体_GB2312" pitchFamily="49" charset="-122"/>
              <a:ea typeface="楷体_GB2312" pitchFamily="49" charset="-122"/>
            </a:endParaRPr>
          </a:p>
        </p:txBody>
      </p:sp>
      <p:sp>
        <p:nvSpPr>
          <p:cNvPr id="17418" name="矩形 17417"/>
          <p:cNvSpPr>
            <a:spLocks noChangeArrowheads="1"/>
          </p:cNvSpPr>
          <p:nvPr/>
        </p:nvSpPr>
        <p:spPr bwMode="auto">
          <a:xfrm>
            <a:off x="3492500" y="1989138"/>
            <a:ext cx="5256213"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800" b="1">
                <a:latin typeface="黑体" panose="02010609060101010101" pitchFamily="49" charset="-122"/>
                <a:ea typeface="黑体" panose="02010609060101010101" pitchFamily="49" charset="-122"/>
              </a:rPr>
              <a:t>1807</a:t>
            </a:r>
            <a:r>
              <a:rPr lang="zh-CN" altLang="en-US" sz="2800" b="1">
                <a:latin typeface="黑体" panose="02010609060101010101" pitchFamily="49" charset="-122"/>
                <a:ea typeface="黑体" panose="02010609060101010101" pitchFamily="49" charset="-122"/>
              </a:rPr>
              <a:t>年，他在</a:t>
            </a:r>
            <a:r>
              <a:rPr lang="en-US" altLang="zh-CN" sz="2800" b="1">
                <a:latin typeface="黑体" panose="02010609060101010101" pitchFamily="49" charset="-122"/>
                <a:ea typeface="黑体" panose="02010609060101010101" pitchFamily="49" charset="-122"/>
              </a:rPr>
              <a:t>《</a:t>
            </a:r>
            <a:r>
              <a:rPr lang="zh-CN" altLang="en-US" sz="2800" b="1">
                <a:latin typeface="黑体" panose="02010609060101010101" pitchFamily="49" charset="-122"/>
                <a:ea typeface="黑体" panose="02010609060101010101" pitchFamily="49" charset="-122"/>
              </a:rPr>
              <a:t>自然哲学讲义</a:t>
            </a:r>
            <a:r>
              <a:rPr lang="en-US" altLang="zh-CN" sz="2800" b="1">
                <a:latin typeface="黑体" panose="02010609060101010101" pitchFamily="49" charset="-122"/>
                <a:ea typeface="黑体" panose="02010609060101010101" pitchFamily="49" charset="-122"/>
              </a:rPr>
              <a:t>》</a:t>
            </a:r>
            <a:r>
              <a:rPr lang="zh-CN" altLang="en-US" sz="2800" b="1">
                <a:latin typeface="黑体" panose="02010609060101010101" pitchFamily="49" charset="-122"/>
                <a:ea typeface="黑体" panose="02010609060101010101" pitchFamily="49" charset="-122"/>
              </a:rPr>
              <a:t>中首先提出：用能量（</a:t>
            </a:r>
            <a:r>
              <a:rPr lang="en-US" altLang="zh-CN" sz="2800" b="1">
                <a:latin typeface="Times New Roman" panose="02020603050405020304" pitchFamily="18" charset="0"/>
                <a:ea typeface="黑体" panose="02010609060101010101" pitchFamily="49" charset="-122"/>
              </a:rPr>
              <a:t>energy</a:t>
            </a:r>
            <a:r>
              <a:rPr lang="zh-CN" altLang="en-US" sz="2800" b="1">
                <a:latin typeface="黑体" panose="02010609060101010101" pitchFamily="49" charset="-122"/>
                <a:ea typeface="黑体" panose="02010609060101010101" pitchFamily="49" charset="-122"/>
              </a:rPr>
              <a:t>）表示物体的质量与速度平方的乘积（局限在</a:t>
            </a:r>
            <a:r>
              <a:rPr lang="zh-CN" altLang="en-US" sz="2800" b="1">
                <a:solidFill>
                  <a:srgbClr val="FF0000"/>
                </a:solidFill>
                <a:latin typeface="黑体" panose="02010609060101010101" pitchFamily="49" charset="-122"/>
                <a:ea typeface="黑体" panose="02010609060101010101" pitchFamily="49" charset="-122"/>
              </a:rPr>
              <a:t>机械能</a:t>
            </a:r>
            <a:r>
              <a:rPr lang="zh-CN" altLang="en-US" sz="2800" b="1">
                <a:latin typeface="黑体" panose="02010609060101010101" pitchFamily="49" charset="-122"/>
                <a:ea typeface="黑体" panose="02010609060101010101" pitchFamily="49" charset="-122"/>
              </a:rPr>
              <a:t>范畴 ） </a:t>
            </a:r>
            <a:endParaRPr lang="zh-CN" altLang="en-US" sz="2800" b="1">
              <a:latin typeface="黑体" panose="02010609060101010101" pitchFamily="49" charset="-122"/>
              <a:ea typeface="黑体" panose="02010609060101010101" pitchFamily="49" charset="-122"/>
            </a:endParaRPr>
          </a:p>
        </p:txBody>
      </p:sp>
      <p:sp>
        <p:nvSpPr>
          <p:cNvPr id="26630" name="矩形 17423"/>
          <p:cNvSpPr>
            <a:spLocks noChangeArrowheads="1"/>
          </p:cNvSpPr>
          <p:nvPr/>
        </p:nvSpPr>
        <p:spPr bwMode="auto">
          <a:xfrm>
            <a:off x="2124075" y="188913"/>
            <a:ext cx="50419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4800" b="1">
                <a:solidFill>
                  <a:schemeClr val="hlink"/>
                </a:solidFill>
                <a:latin typeface="黑体" panose="02010609060101010101" pitchFamily="49" charset="-122"/>
                <a:ea typeface="黑体" panose="02010609060101010101" pitchFamily="49" charset="-122"/>
              </a:rPr>
              <a:t>能量的最先提出</a:t>
            </a:r>
            <a:endParaRPr lang="en-US" altLang="zh-CN" sz="4800" b="1">
              <a:solidFill>
                <a:schemeClr val="hlink"/>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17"/>
                                        </p:tgtEl>
                                        <p:attrNameLst>
                                          <p:attrName>style.visibility</p:attrName>
                                        </p:attrNameLst>
                                      </p:cBhvr>
                                      <p:to>
                                        <p:strVal val="visible"/>
                                      </p:to>
                                    </p:set>
                                    <p:animEffect transition="in" filter="blinds(horizontal)">
                                      <p:cBhvr>
                                        <p:cTn id="7" dur="500"/>
                                        <p:tgtEl>
                                          <p:spTgt spid="1741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418"/>
                                        </p:tgtEl>
                                        <p:attrNameLst>
                                          <p:attrName>style.visibility</p:attrName>
                                        </p:attrNameLst>
                                      </p:cBhvr>
                                      <p:to>
                                        <p:strVal val="visible"/>
                                      </p:to>
                                    </p:set>
                                    <p:animEffect transition="in" filter="blinds(horizontal)">
                                      <p:cBhvr>
                                        <p:cTn id="12" dur="500"/>
                                        <p:tgtEl>
                                          <p:spTgt spid="17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7" grpId="0"/>
      <p:bldP spid="174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矩形 66563"/>
          <p:cNvSpPr>
            <a:spLocks noChangeArrowheads="1"/>
          </p:cNvSpPr>
          <p:nvPr/>
        </p:nvSpPr>
        <p:spPr bwMode="auto">
          <a:xfrm>
            <a:off x="827088" y="1052513"/>
            <a:ext cx="7561262"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800" b="1">
                <a:solidFill>
                  <a:srgbClr val="FF0000"/>
                </a:solidFill>
                <a:latin typeface="黑体" panose="02010609060101010101" pitchFamily="49" charset="-122"/>
                <a:ea typeface="黑体" panose="02010609060101010101" pitchFamily="49" charset="-122"/>
              </a:rPr>
              <a:t>19</a:t>
            </a:r>
            <a:r>
              <a:rPr lang="zh-CN" altLang="en-US" sz="2800" b="1">
                <a:solidFill>
                  <a:srgbClr val="FF0000"/>
                </a:solidFill>
                <a:latin typeface="黑体" panose="02010609060101010101" pitchFamily="49" charset="-122"/>
                <a:ea typeface="黑体" panose="02010609060101010101" pitchFamily="49" charset="-122"/>
              </a:rPr>
              <a:t>世纪中期之前</a:t>
            </a:r>
            <a:r>
              <a:rPr lang="zh-CN" altLang="en-US" sz="2800" b="1">
                <a:latin typeface="黑体" panose="02010609060101010101" pitchFamily="49" charset="-122"/>
                <a:ea typeface="黑体" panose="02010609060101010101" pitchFamily="49" charset="-122"/>
              </a:rPr>
              <a:t>，很多科学家甚至包括那些对于建立能量守恒原理作出重要贡献的科学家还没有一个人直接使用过“能量”这个词，普遍还是用“力”表示能量。 </a:t>
            </a:r>
            <a:endParaRPr lang="zh-CN" altLang="en-US" sz="2800" b="1">
              <a:latin typeface="黑体" panose="02010609060101010101" pitchFamily="49" charset="-122"/>
              <a:ea typeface="黑体" panose="02010609060101010101" pitchFamily="49" charset="-122"/>
            </a:endParaRPr>
          </a:p>
        </p:txBody>
      </p:sp>
      <p:sp>
        <p:nvSpPr>
          <p:cNvPr id="27651" name="矩形 66565"/>
          <p:cNvSpPr>
            <a:spLocks noChangeArrowheads="1"/>
          </p:cNvSpPr>
          <p:nvPr/>
        </p:nvSpPr>
        <p:spPr bwMode="auto">
          <a:xfrm>
            <a:off x="287338" y="260350"/>
            <a:ext cx="88566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a:latin typeface="黑体" panose="02010609060101010101" pitchFamily="49" charset="-122"/>
                <a:ea typeface="黑体" panose="02010609060101010101" pitchFamily="49" charset="-122"/>
              </a:rPr>
              <a:t>“能量”这个词提出后，并未引起科学界的重视和采用</a:t>
            </a:r>
            <a:endParaRPr lang="zh-CN" altLang="en-US" sz="2800" b="1">
              <a:latin typeface="黑体" panose="02010609060101010101" pitchFamily="49" charset="-122"/>
              <a:ea typeface="黑体" panose="02010609060101010101" pitchFamily="49" charset="-122"/>
            </a:endParaRPr>
          </a:p>
        </p:txBody>
      </p:sp>
      <p:grpSp>
        <p:nvGrpSpPr>
          <p:cNvPr id="66575" name="组合 66574"/>
          <p:cNvGrpSpPr/>
          <p:nvPr/>
        </p:nvGrpSpPr>
        <p:grpSpPr bwMode="auto">
          <a:xfrm>
            <a:off x="288925" y="3357563"/>
            <a:ext cx="4464050" cy="2519362"/>
            <a:chOff x="182" y="2115"/>
            <a:chExt cx="2812" cy="1587"/>
          </a:xfrm>
        </p:grpSpPr>
        <p:pic>
          <p:nvPicPr>
            <p:cNvPr id="27658" name="图片 66567" descr="20140625020346-127470527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3" y="2181"/>
              <a:ext cx="878" cy="1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9" name="矩形 66568"/>
            <p:cNvSpPr>
              <a:spLocks noChangeArrowheads="1"/>
            </p:cNvSpPr>
            <p:nvPr/>
          </p:nvSpPr>
          <p:spPr bwMode="auto">
            <a:xfrm>
              <a:off x="227" y="3249"/>
              <a:ext cx="1271"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William Hamilton</a:t>
              </a:r>
              <a:endParaRPr lang="en-US" altLang="zh-CN"/>
            </a:p>
            <a:p>
              <a:r>
                <a:rPr lang="zh-CN" altLang="en-US"/>
                <a:t>（</a:t>
              </a:r>
              <a:r>
                <a:rPr lang="en-US" altLang="zh-CN"/>
                <a:t>1805-1865</a:t>
              </a:r>
              <a:r>
                <a:rPr lang="zh-CN" altLang="en-US"/>
                <a:t>） </a:t>
              </a:r>
              <a:endParaRPr lang="zh-CN" altLang="en-US"/>
            </a:p>
          </p:txBody>
        </p:sp>
        <p:sp>
          <p:nvSpPr>
            <p:cNvPr id="27660" name="矩形 66569"/>
            <p:cNvSpPr>
              <a:spLocks noChangeArrowheads="1"/>
            </p:cNvSpPr>
            <p:nvPr/>
          </p:nvSpPr>
          <p:spPr bwMode="auto">
            <a:xfrm>
              <a:off x="1406" y="2433"/>
              <a:ext cx="1588"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ea typeface="楷体_GB2312" pitchFamily="49" charset="-122"/>
                </a:rPr>
                <a:t>把现在的势能叫做张力之和，动能叫做活力之和</a:t>
              </a:r>
              <a:endParaRPr lang="zh-CN" altLang="en-US" sz="2400" b="1">
                <a:ea typeface="楷体_GB2312" pitchFamily="49" charset="-122"/>
              </a:endParaRPr>
            </a:p>
          </p:txBody>
        </p:sp>
        <p:sp>
          <p:nvSpPr>
            <p:cNvPr id="27661" name="矩形 66570"/>
            <p:cNvSpPr>
              <a:spLocks noChangeArrowheads="1"/>
            </p:cNvSpPr>
            <p:nvPr/>
          </p:nvSpPr>
          <p:spPr bwMode="auto">
            <a:xfrm>
              <a:off x="182" y="2115"/>
              <a:ext cx="2812" cy="1587"/>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grpSp>
      <p:grpSp>
        <p:nvGrpSpPr>
          <p:cNvPr id="66576" name="组合 66575"/>
          <p:cNvGrpSpPr/>
          <p:nvPr/>
        </p:nvGrpSpPr>
        <p:grpSpPr bwMode="auto">
          <a:xfrm>
            <a:off x="5184775" y="3357563"/>
            <a:ext cx="3708400" cy="2520950"/>
            <a:chOff x="3266" y="2115"/>
            <a:chExt cx="2336" cy="1588"/>
          </a:xfrm>
        </p:grpSpPr>
        <p:sp>
          <p:nvSpPr>
            <p:cNvPr id="27654" name="矩形 66564"/>
            <p:cNvSpPr>
              <a:spLocks noChangeArrowheads="1"/>
            </p:cNvSpPr>
            <p:nvPr/>
          </p:nvSpPr>
          <p:spPr bwMode="auto">
            <a:xfrm>
              <a:off x="4513" y="2251"/>
              <a:ext cx="1089"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ea typeface="楷体_GB2312" pitchFamily="49" charset="-122"/>
                </a:rPr>
                <a:t>运动的力</a:t>
              </a:r>
              <a:endParaRPr lang="zh-CN" altLang="en-US" sz="2400" b="1">
                <a:ea typeface="楷体_GB2312" pitchFamily="49" charset="-122"/>
              </a:endParaRPr>
            </a:p>
            <a:p>
              <a:r>
                <a:rPr lang="zh-CN" altLang="en-US" sz="2400" b="1">
                  <a:ea typeface="楷体_GB2312" pitchFamily="49" charset="-122"/>
                </a:rPr>
                <a:t>降落力</a:t>
              </a:r>
              <a:endParaRPr lang="zh-CN" altLang="en-US" sz="2400" b="1">
                <a:ea typeface="楷体_GB2312" pitchFamily="49" charset="-122"/>
              </a:endParaRPr>
            </a:p>
            <a:p>
              <a:r>
                <a:rPr lang="zh-CN" altLang="en-US" sz="2400" b="1">
                  <a:ea typeface="楷体_GB2312" pitchFamily="49" charset="-122"/>
                </a:rPr>
                <a:t>化学力等</a:t>
              </a:r>
              <a:endParaRPr lang="zh-CN" altLang="en-US" sz="2400" b="1">
                <a:ea typeface="楷体_GB2312" pitchFamily="49" charset="-122"/>
              </a:endParaRPr>
            </a:p>
          </p:txBody>
        </p:sp>
        <p:pic>
          <p:nvPicPr>
            <p:cNvPr id="27655" name="图片 66571" descr="may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2" y="2206"/>
              <a:ext cx="943" cy="1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6" name="矩形 66572"/>
            <p:cNvSpPr>
              <a:spLocks noChangeArrowheads="1"/>
            </p:cNvSpPr>
            <p:nvPr/>
          </p:nvSpPr>
          <p:spPr bwMode="auto">
            <a:xfrm>
              <a:off x="3357" y="3253"/>
              <a:ext cx="139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t>Julius Robert Mayer</a:t>
              </a:r>
              <a:endParaRPr lang="en-US" altLang="zh-CN"/>
            </a:p>
            <a:p>
              <a:pPr algn="ctr"/>
              <a:r>
                <a:rPr lang="zh-CN" altLang="en-US"/>
                <a:t>（</a:t>
              </a:r>
              <a:r>
                <a:rPr lang="en-US" altLang="zh-CN"/>
                <a:t>1814~1878</a:t>
              </a:r>
              <a:r>
                <a:rPr lang="zh-CN" altLang="en-US"/>
                <a:t>） </a:t>
              </a:r>
              <a:endParaRPr lang="zh-CN" altLang="en-US"/>
            </a:p>
          </p:txBody>
        </p:sp>
        <p:sp>
          <p:nvSpPr>
            <p:cNvPr id="27657" name="矩形 66573"/>
            <p:cNvSpPr>
              <a:spLocks noChangeArrowheads="1"/>
            </p:cNvSpPr>
            <p:nvPr/>
          </p:nvSpPr>
          <p:spPr bwMode="auto">
            <a:xfrm>
              <a:off x="3266" y="2115"/>
              <a:ext cx="2268" cy="1588"/>
            </a:xfrm>
            <a:prstGeom prst="rect">
              <a:avLst/>
            </a:prstGeom>
            <a:noFill/>
            <a:ln w="25400">
              <a:solidFill>
                <a:srgbClr val="CC99FF"/>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6564"/>
                                        </p:tgtEl>
                                        <p:attrNameLst>
                                          <p:attrName>style.visibility</p:attrName>
                                        </p:attrNameLst>
                                      </p:cBhvr>
                                      <p:to>
                                        <p:strVal val="visible"/>
                                      </p:to>
                                    </p:set>
                                    <p:animEffect transition="in" filter="blinds(horizontal)">
                                      <p:cBhvr>
                                        <p:cTn id="7" dur="500"/>
                                        <p:tgtEl>
                                          <p:spTgt spid="6656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6575"/>
                                        </p:tgtEl>
                                        <p:attrNameLst>
                                          <p:attrName>style.visibility</p:attrName>
                                        </p:attrNameLst>
                                      </p:cBhvr>
                                      <p:to>
                                        <p:strVal val="visible"/>
                                      </p:to>
                                    </p:set>
                                    <p:animEffect transition="in" filter="blinds(horizontal)">
                                      <p:cBhvr>
                                        <p:cTn id="12" dur="500"/>
                                        <p:tgtEl>
                                          <p:spTgt spid="6657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6576"/>
                                        </p:tgtEl>
                                        <p:attrNameLst>
                                          <p:attrName>style.visibility</p:attrName>
                                        </p:attrNameLst>
                                      </p:cBhvr>
                                      <p:to>
                                        <p:strVal val="visible"/>
                                      </p:to>
                                    </p:set>
                                    <p:animEffect transition="in" filter="blinds(horizontal)">
                                      <p:cBhvr>
                                        <p:cTn id="17" dur="500"/>
                                        <p:tgtEl>
                                          <p:spTgt spid="665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图片 16387" descr="kelvi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5650" y="1373188"/>
            <a:ext cx="2198688" cy="283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矩形 16388"/>
          <p:cNvSpPr>
            <a:spLocks noChangeArrowheads="1"/>
          </p:cNvSpPr>
          <p:nvPr/>
        </p:nvSpPr>
        <p:spPr bwMode="auto">
          <a:xfrm>
            <a:off x="684213" y="4397375"/>
            <a:ext cx="2419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开尔文（</a:t>
            </a:r>
            <a:r>
              <a:rPr lang="en-US" altLang="zh-CN"/>
              <a:t>1824-1907</a:t>
            </a:r>
            <a:r>
              <a:rPr lang="zh-CN" altLang="en-US"/>
              <a:t>）</a:t>
            </a:r>
            <a:endParaRPr lang="zh-CN" altLang="en-US"/>
          </a:p>
        </p:txBody>
      </p:sp>
      <p:sp>
        <p:nvSpPr>
          <p:cNvPr id="28676" name="文本框 16389"/>
          <p:cNvSpPr txBox="1">
            <a:spLocks noChangeArrowheads="1"/>
          </p:cNvSpPr>
          <p:nvPr/>
        </p:nvSpPr>
        <p:spPr bwMode="auto">
          <a:xfrm>
            <a:off x="3635375" y="1125538"/>
            <a:ext cx="45354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3600" b="1">
                <a:solidFill>
                  <a:srgbClr val="FF0000"/>
                </a:solidFill>
                <a:latin typeface="黑体" panose="02010609060101010101" pitchFamily="49" charset="-122"/>
                <a:ea typeface="黑体" panose="02010609060101010101" pitchFamily="49" charset="-122"/>
              </a:rPr>
              <a:t>1851</a:t>
            </a:r>
            <a:r>
              <a:rPr lang="zh-CN" altLang="en-US" sz="3600" b="1">
                <a:latin typeface="黑体" panose="02010609060101010101" pitchFamily="49" charset="-122"/>
                <a:ea typeface="黑体" panose="02010609060101010101" pitchFamily="49" charset="-122"/>
              </a:rPr>
              <a:t>年再次提出能量</a:t>
            </a:r>
            <a:endParaRPr lang="zh-CN" altLang="en-US" sz="3600" b="1">
              <a:latin typeface="黑体" panose="02010609060101010101" pitchFamily="49" charset="-122"/>
              <a:ea typeface="黑体" panose="02010609060101010101" pitchFamily="49" charset="-122"/>
            </a:endParaRPr>
          </a:p>
        </p:txBody>
      </p:sp>
      <p:sp>
        <p:nvSpPr>
          <p:cNvPr id="28677" name="矩形 16390"/>
          <p:cNvSpPr>
            <a:spLocks noChangeArrowheads="1"/>
          </p:cNvSpPr>
          <p:nvPr/>
        </p:nvSpPr>
        <p:spPr bwMode="auto">
          <a:xfrm>
            <a:off x="3635375" y="1989138"/>
            <a:ext cx="5183188"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3600" b="1">
                <a:latin typeface="黑体" panose="02010609060101010101" pitchFamily="49" charset="-122"/>
                <a:ea typeface="黑体" panose="02010609060101010101" pitchFamily="49" charset="-122"/>
              </a:rPr>
              <a:t>能量包括</a:t>
            </a:r>
            <a:r>
              <a:rPr lang="zh-CN" altLang="en-US" sz="3600" b="1">
                <a:solidFill>
                  <a:srgbClr val="FF0000"/>
                </a:solidFill>
                <a:latin typeface="黑体" panose="02010609060101010101" pitchFamily="49" charset="-122"/>
                <a:ea typeface="黑体" panose="02010609060101010101" pitchFamily="49" charset="-122"/>
              </a:rPr>
              <a:t>机械能</a:t>
            </a:r>
            <a:r>
              <a:rPr lang="zh-CN" altLang="en-US" sz="3600" b="1">
                <a:latin typeface="黑体" panose="02010609060101010101" pitchFamily="49" charset="-122"/>
                <a:ea typeface="黑体" panose="02010609060101010101" pitchFamily="49" charset="-122"/>
              </a:rPr>
              <a:t>和</a:t>
            </a:r>
            <a:r>
              <a:rPr lang="zh-CN" altLang="en-US" sz="3600" b="1">
                <a:solidFill>
                  <a:srgbClr val="FF0000"/>
                </a:solidFill>
                <a:latin typeface="黑体" panose="02010609060101010101" pitchFamily="49" charset="-122"/>
                <a:ea typeface="黑体" panose="02010609060101010101" pitchFamily="49" charset="-122"/>
              </a:rPr>
              <a:t>热能</a:t>
            </a:r>
            <a:r>
              <a:rPr lang="zh-CN" altLang="en-US" sz="3600" b="1">
                <a:latin typeface="黑体" panose="02010609060101010101" pitchFamily="49" charset="-122"/>
                <a:ea typeface="黑体" panose="02010609060101010101" pitchFamily="49" charset="-122"/>
              </a:rPr>
              <a:t>两种 </a:t>
            </a:r>
            <a:endParaRPr lang="zh-CN" altLang="en-US" sz="3600" b="1">
              <a:latin typeface="黑体" panose="02010609060101010101" pitchFamily="49" charset="-122"/>
              <a:ea typeface="黑体" panose="02010609060101010101" pitchFamily="49" charset="-122"/>
            </a:endParaRPr>
          </a:p>
        </p:txBody>
      </p:sp>
      <p:sp>
        <p:nvSpPr>
          <p:cNvPr id="28678" name="矩形 16391"/>
          <p:cNvSpPr>
            <a:spLocks noChangeArrowheads="1"/>
          </p:cNvSpPr>
          <p:nvPr/>
        </p:nvSpPr>
        <p:spPr bwMode="auto">
          <a:xfrm>
            <a:off x="3563938" y="3357563"/>
            <a:ext cx="5364162"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3600" b="1">
                <a:latin typeface="黑体" panose="02010609060101010101" pitchFamily="49" charset="-122"/>
                <a:ea typeface="黑体" panose="02010609060101010101" pitchFamily="49" charset="-122"/>
              </a:rPr>
              <a:t>随后，又把能量概念进一步普遍化，推广到</a:t>
            </a:r>
            <a:r>
              <a:rPr lang="zh-CN" altLang="en-US" sz="3600" b="1">
                <a:solidFill>
                  <a:srgbClr val="FF0000"/>
                </a:solidFill>
                <a:latin typeface="黑体" panose="02010609060101010101" pitchFamily="49" charset="-122"/>
                <a:ea typeface="黑体" panose="02010609060101010101" pitchFamily="49" charset="-122"/>
              </a:rPr>
              <a:t>光、化学</a:t>
            </a:r>
            <a:r>
              <a:rPr lang="zh-CN" altLang="en-US" sz="3600" b="1">
                <a:latin typeface="黑体" panose="02010609060101010101" pitchFamily="49" charset="-122"/>
                <a:ea typeface="黑体" panose="02010609060101010101" pitchFamily="49" charset="-122"/>
              </a:rPr>
              <a:t>和</a:t>
            </a:r>
            <a:r>
              <a:rPr lang="zh-CN" altLang="en-US" sz="3600" b="1">
                <a:solidFill>
                  <a:srgbClr val="FF0000"/>
                </a:solidFill>
                <a:latin typeface="黑体" panose="02010609060101010101" pitchFamily="49" charset="-122"/>
                <a:ea typeface="黑体" panose="02010609060101010101" pitchFamily="49" charset="-122"/>
              </a:rPr>
              <a:t>生物</a:t>
            </a:r>
            <a:r>
              <a:rPr lang="zh-CN" altLang="en-US" sz="3600" b="1">
                <a:latin typeface="黑体" panose="02010609060101010101" pitchFamily="49" charset="-122"/>
                <a:ea typeface="黑体" panose="02010609060101010101" pitchFamily="49" charset="-122"/>
              </a:rPr>
              <a:t>等领域，提出能量是各种物质运动形态的运动能力的共同量度 </a:t>
            </a:r>
            <a:endParaRPr lang="zh-CN" altLang="en-US" sz="3600" b="1">
              <a:latin typeface="黑体" panose="02010609060101010101" pitchFamily="49" charset="-122"/>
              <a:ea typeface="黑体" panose="02010609060101010101" pitchFamily="49" charset="-122"/>
            </a:endParaRPr>
          </a:p>
        </p:txBody>
      </p:sp>
      <p:sp>
        <p:nvSpPr>
          <p:cNvPr id="28679" name="矩形 16392"/>
          <p:cNvSpPr>
            <a:spLocks noChangeArrowheads="1"/>
          </p:cNvSpPr>
          <p:nvPr/>
        </p:nvSpPr>
        <p:spPr bwMode="auto">
          <a:xfrm>
            <a:off x="1619250" y="188913"/>
            <a:ext cx="61214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4800" b="1">
                <a:solidFill>
                  <a:schemeClr val="hlink"/>
                </a:solidFill>
                <a:latin typeface="黑体" panose="02010609060101010101" pitchFamily="49" charset="-122"/>
                <a:ea typeface="黑体" panose="02010609060101010101" pitchFamily="49" charset="-122"/>
              </a:rPr>
              <a:t>能量的重要发展（</a:t>
            </a:r>
            <a:r>
              <a:rPr lang="en-US" altLang="zh-CN" sz="4800" b="1">
                <a:solidFill>
                  <a:schemeClr val="hlink"/>
                </a:solidFill>
                <a:latin typeface="黑体" panose="02010609060101010101" pitchFamily="49" charset="-122"/>
                <a:ea typeface="黑体" panose="02010609060101010101" pitchFamily="49" charset="-122"/>
              </a:rPr>
              <a:t>I</a:t>
            </a:r>
            <a:r>
              <a:rPr lang="zh-CN" altLang="en-US" sz="4800" b="1">
                <a:solidFill>
                  <a:schemeClr val="hlink"/>
                </a:solidFill>
                <a:latin typeface="黑体" panose="02010609060101010101" pitchFamily="49" charset="-122"/>
                <a:ea typeface="黑体" panose="02010609060101010101" pitchFamily="49" charset="-122"/>
              </a:rPr>
              <a:t>）</a:t>
            </a:r>
            <a:endParaRPr lang="en-US" altLang="zh-CN" sz="4800" b="1">
              <a:solidFill>
                <a:schemeClr val="hlink"/>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矩形 18436"/>
          <p:cNvSpPr>
            <a:spLocks noChangeArrowheads="1"/>
          </p:cNvSpPr>
          <p:nvPr/>
        </p:nvSpPr>
        <p:spPr bwMode="auto">
          <a:xfrm>
            <a:off x="3348038" y="1341438"/>
            <a:ext cx="4897437" cy="308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a:latin typeface="黑体" panose="02010609060101010101" pitchFamily="49" charset="-122"/>
                <a:ea typeface="黑体" panose="02010609060101010101" pitchFamily="49" charset="-122"/>
              </a:rPr>
              <a:t>自</a:t>
            </a:r>
            <a:r>
              <a:rPr lang="en-US" altLang="zh-CN" sz="2800" b="1">
                <a:latin typeface="黑体" panose="02010609060101010101" pitchFamily="49" charset="-122"/>
                <a:ea typeface="黑体" panose="02010609060101010101" pitchFamily="49" charset="-122"/>
              </a:rPr>
              <a:t>1896</a:t>
            </a:r>
            <a:r>
              <a:rPr lang="zh-CN" altLang="en-US" sz="2800" b="1">
                <a:latin typeface="黑体" panose="02010609060101010101" pitchFamily="49" charset="-122"/>
                <a:ea typeface="黑体" panose="02010609060101010101" pitchFamily="49" charset="-122"/>
              </a:rPr>
              <a:t>年以来，发现了放射性元素，一些科学家将放射性辐射能量的来源追迹至放射性元素的原子本身</a:t>
            </a:r>
            <a:endParaRPr lang="zh-CN" altLang="en-US" sz="2800" b="1">
              <a:latin typeface="黑体" panose="02010609060101010101" pitchFamily="49" charset="-122"/>
              <a:ea typeface="黑体" panose="02010609060101010101" pitchFamily="49" charset="-122"/>
            </a:endParaRPr>
          </a:p>
          <a:p>
            <a:r>
              <a:rPr lang="zh-CN" altLang="en-US" sz="2800" b="1">
                <a:latin typeface="黑体" panose="02010609060101010101" pitchFamily="49" charset="-122"/>
                <a:ea typeface="黑体" panose="02010609060101010101" pitchFamily="49" charset="-122"/>
              </a:rPr>
              <a:t>最早提出此观点的是英国物理学家卢瑟福，在</a:t>
            </a:r>
            <a:r>
              <a:rPr lang="en-US" altLang="zh-CN" sz="2800" b="1">
                <a:latin typeface="黑体" panose="02010609060101010101" pitchFamily="49" charset="-122"/>
                <a:ea typeface="黑体" panose="02010609060101010101" pitchFamily="49" charset="-122"/>
              </a:rPr>
              <a:t>1903</a:t>
            </a:r>
            <a:r>
              <a:rPr lang="zh-CN" altLang="en-US" sz="2800" b="1">
                <a:latin typeface="黑体" panose="02010609060101010101" pitchFamily="49" charset="-122"/>
                <a:ea typeface="黑体" panose="02010609060101010101" pitchFamily="49" charset="-122"/>
              </a:rPr>
              <a:t>年正式提出“原子能”一词。 </a:t>
            </a:r>
            <a:endParaRPr lang="zh-CN" altLang="en-US" sz="2800" b="1">
              <a:latin typeface="黑体" panose="02010609060101010101" pitchFamily="49" charset="-122"/>
              <a:ea typeface="黑体" panose="02010609060101010101" pitchFamily="49" charset="-122"/>
            </a:endParaRPr>
          </a:p>
        </p:txBody>
      </p:sp>
      <p:pic>
        <p:nvPicPr>
          <p:cNvPr id="29699" name="图片 18439" descr="0130000009834212336341176453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2775" y="2133600"/>
            <a:ext cx="1854200" cy="259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矩形 18440"/>
          <p:cNvSpPr>
            <a:spLocks noChangeArrowheads="1"/>
          </p:cNvSpPr>
          <p:nvPr/>
        </p:nvSpPr>
        <p:spPr bwMode="auto">
          <a:xfrm>
            <a:off x="107950" y="4797425"/>
            <a:ext cx="2962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a:t>Ernest Rutherford</a:t>
            </a:r>
            <a:r>
              <a:rPr lang="zh-CN" altLang="en-US" sz="1600"/>
              <a:t>，</a:t>
            </a:r>
            <a:r>
              <a:rPr lang="en-US" altLang="zh-CN" sz="1600"/>
              <a:t>1871-1937</a:t>
            </a:r>
            <a:endParaRPr lang="zh-CN" altLang="en-US" sz="1600"/>
          </a:p>
        </p:txBody>
      </p:sp>
      <p:sp>
        <p:nvSpPr>
          <p:cNvPr id="18442" name="矩形 18441"/>
          <p:cNvSpPr>
            <a:spLocks noChangeArrowheads="1"/>
          </p:cNvSpPr>
          <p:nvPr/>
        </p:nvSpPr>
        <p:spPr bwMode="auto">
          <a:xfrm>
            <a:off x="3348038" y="4752975"/>
            <a:ext cx="541496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a:latin typeface="黑体" panose="02010609060101010101" pitchFamily="49" charset="-122"/>
                <a:ea typeface="黑体" panose="02010609060101010101" pitchFamily="49" charset="-122"/>
              </a:rPr>
              <a:t>放射性过程中出现的质量亏损？ </a:t>
            </a:r>
            <a:endParaRPr lang="zh-CN" altLang="en-US" sz="2800" b="1">
              <a:latin typeface="黑体" panose="02010609060101010101" pitchFamily="49" charset="-122"/>
              <a:ea typeface="黑体" panose="02010609060101010101" pitchFamily="49" charset="-122"/>
            </a:endParaRPr>
          </a:p>
        </p:txBody>
      </p:sp>
      <p:sp>
        <p:nvSpPr>
          <p:cNvPr id="18443" name="矩形 18442"/>
          <p:cNvSpPr>
            <a:spLocks noChangeArrowheads="1"/>
          </p:cNvSpPr>
          <p:nvPr/>
        </p:nvSpPr>
        <p:spPr bwMode="auto">
          <a:xfrm>
            <a:off x="5219700" y="5445125"/>
            <a:ext cx="1204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3200" b="1">
                <a:solidFill>
                  <a:srgbClr val="FF0000"/>
                </a:solidFill>
                <a:latin typeface="楷体_GB2312" pitchFamily="49" charset="-122"/>
                <a:ea typeface="楷体_GB2312" pitchFamily="49" charset="-122"/>
              </a:rPr>
              <a:t>困惑 </a:t>
            </a:r>
            <a:endParaRPr lang="zh-CN" altLang="en-US" sz="3200" b="1">
              <a:solidFill>
                <a:srgbClr val="FF0000"/>
              </a:solidFill>
              <a:latin typeface="楷体_GB2312" pitchFamily="49" charset="-122"/>
              <a:ea typeface="楷体_GB2312" pitchFamily="49" charset="-122"/>
            </a:endParaRPr>
          </a:p>
        </p:txBody>
      </p:sp>
      <p:sp>
        <p:nvSpPr>
          <p:cNvPr id="29703" name="右箭头 18451"/>
          <p:cNvSpPr>
            <a:spLocks noChangeArrowheads="1"/>
          </p:cNvSpPr>
          <p:nvPr/>
        </p:nvSpPr>
        <p:spPr bwMode="auto">
          <a:xfrm>
            <a:off x="2628900" y="3213100"/>
            <a:ext cx="576263" cy="215900"/>
          </a:xfrm>
          <a:prstGeom prst="rightArrow">
            <a:avLst>
              <a:gd name="adj1" fmla="val 50000"/>
              <a:gd name="adj2" fmla="val 66703"/>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9704" name="矩形 18452"/>
          <p:cNvSpPr>
            <a:spLocks noChangeArrowheads="1"/>
          </p:cNvSpPr>
          <p:nvPr/>
        </p:nvSpPr>
        <p:spPr bwMode="auto">
          <a:xfrm>
            <a:off x="1258888" y="260350"/>
            <a:ext cx="72009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4800" b="1">
                <a:solidFill>
                  <a:schemeClr val="hlink"/>
                </a:solidFill>
                <a:latin typeface="黑体" panose="02010609060101010101" pitchFamily="49" charset="-122"/>
                <a:ea typeface="黑体" panose="02010609060101010101" pitchFamily="49" charset="-122"/>
              </a:rPr>
              <a:t>能量的重要发展（</a:t>
            </a:r>
            <a:r>
              <a:rPr lang="en-US" altLang="zh-CN" sz="4800" b="1">
                <a:solidFill>
                  <a:schemeClr val="hlink"/>
                </a:solidFill>
                <a:latin typeface="黑体" panose="02010609060101010101" pitchFamily="49" charset="-122"/>
                <a:ea typeface="黑体" panose="02010609060101010101" pitchFamily="49" charset="-122"/>
              </a:rPr>
              <a:t>II</a:t>
            </a:r>
            <a:r>
              <a:rPr lang="zh-CN" altLang="en-US" sz="4800" b="1">
                <a:solidFill>
                  <a:schemeClr val="hlink"/>
                </a:solidFill>
                <a:latin typeface="黑体" panose="02010609060101010101" pitchFamily="49" charset="-122"/>
                <a:ea typeface="黑体" panose="02010609060101010101" pitchFamily="49" charset="-122"/>
              </a:rPr>
              <a:t>）</a:t>
            </a:r>
            <a:endParaRPr lang="en-US" altLang="zh-CN" sz="4800" b="1">
              <a:solidFill>
                <a:schemeClr val="hlink"/>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42"/>
                                        </p:tgtEl>
                                        <p:attrNameLst>
                                          <p:attrName>style.visibility</p:attrName>
                                        </p:attrNameLst>
                                      </p:cBhvr>
                                      <p:to>
                                        <p:strVal val="visible"/>
                                      </p:to>
                                    </p:set>
                                    <p:animEffect transition="in" filter="blinds(horizontal)">
                                      <p:cBhvr>
                                        <p:cTn id="7" dur="500"/>
                                        <p:tgtEl>
                                          <p:spTgt spid="1844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8443"/>
                                        </p:tgtEl>
                                        <p:attrNameLst>
                                          <p:attrName>style.visibility</p:attrName>
                                        </p:attrNameLst>
                                      </p:cBhvr>
                                      <p:to>
                                        <p:strVal val="visible"/>
                                      </p:to>
                                    </p:set>
                                    <p:animEffect transition="in" filter="blinds(horizontal)">
                                      <p:cBhvr>
                                        <p:cTn id="10" dur="500"/>
                                        <p:tgtEl>
                                          <p:spTgt spid="184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2" grpId="0"/>
      <p:bldP spid="1844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矩形 19459"/>
          <p:cNvSpPr>
            <a:spLocks noChangeArrowheads="1"/>
          </p:cNvSpPr>
          <p:nvPr/>
        </p:nvSpPr>
        <p:spPr bwMode="auto">
          <a:xfrm>
            <a:off x="107950" y="2492375"/>
            <a:ext cx="25828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a:t>Albert Einstein,1879-1955</a:t>
            </a:r>
            <a:r>
              <a:rPr lang="en-US" altLang="zh-CN"/>
              <a:t> </a:t>
            </a:r>
            <a:endParaRPr lang="en-US" altLang="zh-CN"/>
          </a:p>
        </p:txBody>
      </p:sp>
      <p:sp>
        <p:nvSpPr>
          <p:cNvPr id="19461" name="矩形 19460"/>
          <p:cNvSpPr>
            <a:spLocks noChangeArrowheads="1"/>
          </p:cNvSpPr>
          <p:nvPr/>
        </p:nvSpPr>
        <p:spPr bwMode="auto">
          <a:xfrm>
            <a:off x="2700338" y="1484313"/>
            <a:ext cx="5975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3200" b="1">
                <a:solidFill>
                  <a:srgbClr val="FF0000"/>
                </a:solidFill>
                <a:latin typeface="黑体" panose="02010609060101010101" pitchFamily="49" charset="-122"/>
                <a:ea typeface="黑体" panose="02010609060101010101" pitchFamily="49" charset="-122"/>
              </a:rPr>
              <a:t>物体的质量是它所含能量的量度</a:t>
            </a:r>
            <a:r>
              <a:rPr lang="zh-CN" altLang="en-US" sz="3200">
                <a:latin typeface="楷体_GB2312" pitchFamily="49" charset="-122"/>
                <a:ea typeface="楷体_GB2312" pitchFamily="49" charset="-122"/>
              </a:rPr>
              <a:t> </a:t>
            </a:r>
            <a:endParaRPr lang="zh-CN" altLang="en-US" sz="3200">
              <a:latin typeface="楷体_GB2312" pitchFamily="49" charset="-122"/>
              <a:ea typeface="楷体_GB2312" pitchFamily="49" charset="-122"/>
            </a:endParaRPr>
          </a:p>
        </p:txBody>
      </p:sp>
      <p:sp>
        <p:nvSpPr>
          <p:cNvPr id="19463" name="矩形 19462"/>
          <p:cNvSpPr>
            <a:spLocks noChangeArrowheads="1"/>
          </p:cNvSpPr>
          <p:nvPr/>
        </p:nvSpPr>
        <p:spPr bwMode="auto">
          <a:xfrm>
            <a:off x="2771775" y="2506663"/>
            <a:ext cx="60483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3200" b="1">
                <a:ea typeface="黑体" panose="02010609060101010101" pitchFamily="49" charset="-122"/>
              </a:rPr>
              <a:t>原来的原子的质量有很大一部分转化为散发的辐射能量</a:t>
            </a:r>
            <a:r>
              <a:rPr lang="zh-CN" altLang="en-US" sz="3200"/>
              <a:t> </a:t>
            </a:r>
            <a:endParaRPr lang="zh-CN" altLang="en-US" sz="3200"/>
          </a:p>
        </p:txBody>
      </p:sp>
      <p:sp>
        <p:nvSpPr>
          <p:cNvPr id="19464" name="文本框 19463"/>
          <p:cNvSpPr txBox="1">
            <a:spLocks noChangeArrowheads="1"/>
          </p:cNvSpPr>
          <p:nvPr/>
        </p:nvSpPr>
        <p:spPr bwMode="auto">
          <a:xfrm>
            <a:off x="323850" y="5873750"/>
            <a:ext cx="84978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3200" b="1">
                <a:latin typeface="黑体" panose="02010609060101010101" pitchFamily="49" charset="-122"/>
                <a:ea typeface="黑体" panose="02010609060101010101" pitchFamily="49" charset="-122"/>
              </a:rPr>
              <a:t>这成为</a:t>
            </a:r>
            <a:r>
              <a:rPr lang="en-US" altLang="zh-CN" sz="3200" b="1">
                <a:solidFill>
                  <a:srgbClr val="FF0000"/>
                </a:solidFill>
                <a:latin typeface="黑体" panose="02010609060101010101" pitchFamily="49" charset="-122"/>
                <a:ea typeface="黑体" panose="02010609060101010101" pitchFamily="49" charset="-122"/>
              </a:rPr>
              <a:t>20</a:t>
            </a:r>
            <a:r>
              <a:rPr lang="zh-CN" altLang="en-US" sz="3200" b="1">
                <a:solidFill>
                  <a:srgbClr val="FF0000"/>
                </a:solidFill>
                <a:latin typeface="黑体" panose="02010609060101010101" pitchFamily="49" charset="-122"/>
                <a:ea typeface="黑体" panose="02010609060101010101" pitchFamily="49" charset="-122"/>
              </a:rPr>
              <a:t>世纪初</a:t>
            </a:r>
            <a:r>
              <a:rPr lang="zh-CN" altLang="en-US" sz="3200" b="1">
                <a:latin typeface="黑体" panose="02010609060101010101" pitchFamily="49" charset="-122"/>
                <a:ea typeface="黑体" panose="02010609060101010101" pitchFamily="49" charset="-122"/>
              </a:rPr>
              <a:t>能量概念发展的一个重要成就</a:t>
            </a:r>
            <a:endParaRPr lang="zh-CN" altLang="en-US" sz="3200" b="1">
              <a:latin typeface="黑体" panose="02010609060101010101" pitchFamily="49" charset="-122"/>
              <a:ea typeface="黑体" panose="02010609060101010101" pitchFamily="49" charset="-122"/>
            </a:endParaRPr>
          </a:p>
        </p:txBody>
      </p:sp>
      <p:sp>
        <p:nvSpPr>
          <p:cNvPr id="19465" name="矩形 19464"/>
          <p:cNvSpPr>
            <a:spLocks noChangeArrowheads="1"/>
          </p:cNvSpPr>
          <p:nvPr/>
        </p:nvSpPr>
        <p:spPr bwMode="auto">
          <a:xfrm>
            <a:off x="611188" y="3962400"/>
            <a:ext cx="8208962"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3200" b="1">
                <a:latin typeface="黑体" panose="02010609060101010101" pitchFamily="49" charset="-122"/>
                <a:ea typeface="黑体" panose="02010609060101010101" pitchFamily="49" charset="-122"/>
              </a:rPr>
              <a:t>质能关系的提出使得能量的概念具有更普遍性的含义，即能量不仅是物质运动能力的量度，而且可作为物质质量的一种量度</a:t>
            </a:r>
            <a:r>
              <a:rPr lang="zh-CN" altLang="en-US" sz="2400" b="1">
                <a:latin typeface="楷体_GB2312" pitchFamily="49" charset="-122"/>
                <a:ea typeface="楷体_GB2312" pitchFamily="49" charset="-122"/>
              </a:rPr>
              <a:t> </a:t>
            </a:r>
            <a:endParaRPr lang="zh-CN" altLang="en-US" sz="2400" b="1">
              <a:latin typeface="楷体_GB2312" pitchFamily="49" charset="-122"/>
              <a:ea typeface="楷体_GB2312" pitchFamily="49" charset="-122"/>
            </a:endParaRPr>
          </a:p>
        </p:txBody>
      </p:sp>
      <p:pic>
        <p:nvPicPr>
          <p:cNvPr id="30727" name="图片 19466" descr="2013072423214912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825" y="260350"/>
            <a:ext cx="2098675" cy="218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8" name="矩形 19468"/>
          <p:cNvSpPr>
            <a:spLocks noChangeArrowheads="1"/>
          </p:cNvSpPr>
          <p:nvPr/>
        </p:nvSpPr>
        <p:spPr bwMode="auto">
          <a:xfrm>
            <a:off x="2484438" y="374650"/>
            <a:ext cx="642143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ea typeface="黑体" panose="02010609060101010101" pitchFamily="49" charset="-122"/>
              </a:rPr>
              <a:t>1907</a:t>
            </a:r>
            <a:r>
              <a:rPr lang="zh-CN" altLang="en-US" sz="2400" b="1">
                <a:ea typeface="黑体" panose="02010609060101010101" pitchFamily="49" charset="-122"/>
              </a:rPr>
              <a:t>年爱因斯坦根据他的质能关系（</a:t>
            </a:r>
            <a:r>
              <a:rPr lang="en-US" altLang="zh-CN" sz="2400" b="1">
                <a:ea typeface="黑体" panose="02010609060101010101" pitchFamily="49" charset="-122"/>
              </a:rPr>
              <a:t>mass-energy relation</a:t>
            </a:r>
            <a:r>
              <a:rPr lang="zh-CN" altLang="en-US" sz="2400" b="1">
                <a:ea typeface="黑体" panose="02010609060101010101" pitchFamily="49" charset="-122"/>
              </a:rPr>
              <a:t>），对这一问题作了解答 </a:t>
            </a:r>
            <a:endParaRPr lang="zh-CN" altLang="en-US" sz="2400" b="1">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61"/>
                                        </p:tgtEl>
                                        <p:attrNameLst>
                                          <p:attrName>style.visibility</p:attrName>
                                        </p:attrNameLst>
                                      </p:cBhvr>
                                      <p:to>
                                        <p:strVal val="visible"/>
                                      </p:to>
                                    </p:set>
                                    <p:animEffect transition="in" filter="blinds(horizontal)">
                                      <p:cBhvr>
                                        <p:cTn id="7" dur="500"/>
                                        <p:tgtEl>
                                          <p:spTgt spid="1946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463"/>
                                        </p:tgtEl>
                                        <p:attrNameLst>
                                          <p:attrName>style.visibility</p:attrName>
                                        </p:attrNameLst>
                                      </p:cBhvr>
                                      <p:to>
                                        <p:strVal val="visible"/>
                                      </p:to>
                                    </p:set>
                                    <p:animEffect transition="in" filter="blinds(horizontal)">
                                      <p:cBhvr>
                                        <p:cTn id="12" dur="500"/>
                                        <p:tgtEl>
                                          <p:spTgt spid="1946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9465"/>
                                        </p:tgtEl>
                                        <p:attrNameLst>
                                          <p:attrName>style.visibility</p:attrName>
                                        </p:attrNameLst>
                                      </p:cBhvr>
                                      <p:to>
                                        <p:strVal val="visible"/>
                                      </p:to>
                                    </p:set>
                                    <p:animEffect transition="in" filter="blinds(horizontal)">
                                      <p:cBhvr>
                                        <p:cTn id="17" dur="500"/>
                                        <p:tgtEl>
                                          <p:spTgt spid="1946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9464"/>
                                        </p:tgtEl>
                                        <p:attrNameLst>
                                          <p:attrName>style.visibility</p:attrName>
                                        </p:attrNameLst>
                                      </p:cBhvr>
                                      <p:to>
                                        <p:strVal val="visible"/>
                                      </p:to>
                                    </p:set>
                                    <p:animEffect transition="in" filter="blinds(horizontal)">
                                      <p:cBhvr>
                                        <p:cTn id="22" dur="500"/>
                                        <p:tgtEl>
                                          <p:spTgt spid="194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p:bldP spid="19463" grpId="0"/>
      <p:bldP spid="19464" grpId="0"/>
      <p:bldP spid="1946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20481"/>
          <p:cNvSpPr>
            <a:spLocks noGrp="1" noChangeArrowheads="1"/>
          </p:cNvSpPr>
          <p:nvPr>
            <p:ph type="ctrTitle"/>
          </p:nvPr>
        </p:nvSpPr>
        <p:spPr>
          <a:xfrm>
            <a:off x="1042988" y="1484313"/>
            <a:ext cx="6911975" cy="1676400"/>
          </a:xfrm>
        </p:spPr>
        <p:txBody>
          <a:bodyPr/>
          <a:lstStyle/>
          <a:p>
            <a:pPr eaLnBrk="1" hangingPunct="1"/>
            <a:r>
              <a:rPr lang="en-US" altLang="zh-CN" sz="4400" b="1" smtClean="0">
                <a:solidFill>
                  <a:schemeClr val="tx1"/>
                </a:solidFill>
                <a:latin typeface="黑体" panose="02010609060101010101" pitchFamily="49" charset="-122"/>
                <a:ea typeface="黑体" panose="02010609060101010101" pitchFamily="49" charset="-122"/>
              </a:rPr>
              <a:t>§2</a:t>
            </a:r>
            <a:r>
              <a:rPr lang="zh-CN" altLang="en-US" sz="4400" b="1" smtClean="0">
                <a:solidFill>
                  <a:schemeClr val="tx1"/>
                </a:solidFill>
                <a:latin typeface="黑体" panose="02010609060101010101" pitchFamily="49" charset="-122"/>
                <a:ea typeface="黑体" panose="02010609060101010101" pitchFamily="49" charset="-122"/>
              </a:rPr>
              <a:t>－</a:t>
            </a:r>
            <a:r>
              <a:rPr lang="en-US" altLang="zh-CN" sz="4400" b="1" smtClean="0">
                <a:solidFill>
                  <a:schemeClr val="tx1"/>
                </a:solidFill>
                <a:latin typeface="黑体" panose="02010609060101010101" pitchFamily="49" charset="-122"/>
                <a:ea typeface="黑体" panose="02010609060101010101" pitchFamily="49" charset="-122"/>
              </a:rPr>
              <a:t>2</a:t>
            </a:r>
            <a:r>
              <a:rPr lang="zh-CN" altLang="en-US" sz="4400" b="1" smtClean="0">
                <a:solidFill>
                  <a:schemeClr val="tx1"/>
                </a:solidFill>
                <a:latin typeface="黑体" panose="02010609060101010101" pitchFamily="49" charset="-122"/>
                <a:ea typeface="黑体" panose="02010609060101010101" pitchFamily="49" charset="-122"/>
              </a:rPr>
              <a:t>　热力系的储存能</a:t>
            </a:r>
            <a:endParaRPr lang="zh-CN" altLang="en-US" sz="4400" b="1" smtClean="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矩形 22539"/>
          <p:cNvSpPr>
            <a:spLocks noChangeArrowheads="1"/>
          </p:cNvSpPr>
          <p:nvPr/>
        </p:nvSpPr>
        <p:spPr bwMode="auto">
          <a:xfrm>
            <a:off x="468313" y="692150"/>
            <a:ext cx="7850187"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71500" indent="-5715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3600" b="1">
                <a:latin typeface="Times New Roman" panose="02020603050405020304" pitchFamily="18" charset="0"/>
                <a:ea typeface="黑体" panose="02010609060101010101" pitchFamily="49" charset="-122"/>
              </a:rPr>
              <a:t>储存在热力系统中的能量称为储存能，是系统所具有的能量</a:t>
            </a:r>
            <a:endParaRPr lang="en-US" altLang="zh-CN" sz="3600" b="1">
              <a:latin typeface="Times New Roman" panose="02020603050405020304" pitchFamily="18" charset="0"/>
              <a:ea typeface="黑体" panose="02010609060101010101" pitchFamily="49" charset="-122"/>
            </a:endParaRPr>
          </a:p>
          <a:p>
            <a:pPr eaLnBrk="1" hangingPunct="1">
              <a:spcBef>
                <a:spcPct val="0"/>
              </a:spcBef>
            </a:pPr>
            <a:r>
              <a:rPr lang="zh-CN" altLang="en-US" sz="3600" b="1">
                <a:latin typeface="Times New Roman" panose="02020603050405020304" pitchFamily="18" charset="0"/>
                <a:ea typeface="黑体" panose="02010609060101010101" pitchFamily="49" charset="-122"/>
              </a:rPr>
              <a:t>储存的能量以多种形式存在，如微观动能和势能、宏观动能和势能、电能、磁能、化学能、核能等，它们之和称为系统的</a:t>
            </a:r>
            <a:r>
              <a:rPr lang="zh-CN" altLang="en-US" sz="3600" b="1">
                <a:solidFill>
                  <a:srgbClr val="FF0000"/>
                </a:solidFill>
                <a:latin typeface="Times New Roman" panose="02020603050405020304" pitchFamily="18" charset="0"/>
                <a:ea typeface="黑体" panose="02010609060101010101" pitchFamily="49" charset="-122"/>
              </a:rPr>
              <a:t>总能</a:t>
            </a:r>
            <a:r>
              <a:rPr lang="zh-CN" altLang="en-US" sz="3600" b="1">
                <a:latin typeface="Times New Roman" panose="02020603050405020304" pitchFamily="18" charset="0"/>
                <a:ea typeface="黑体" panose="02010609060101010101" pitchFamily="49" charset="-122"/>
              </a:rPr>
              <a:t>（</a:t>
            </a:r>
            <a:r>
              <a:rPr lang="en-US" altLang="zh-CN" sz="3600" b="1">
                <a:latin typeface="Times New Roman" panose="02020603050405020304" pitchFamily="18" charset="0"/>
                <a:ea typeface="黑体" panose="02010609060101010101" pitchFamily="49" charset="-122"/>
              </a:rPr>
              <a:t>total energy</a:t>
            </a:r>
            <a:r>
              <a:rPr lang="zh-CN" altLang="en-US" sz="3600" b="1">
                <a:latin typeface="Times New Roman" panose="02020603050405020304" pitchFamily="18" charset="0"/>
                <a:ea typeface="黑体" panose="02010609060101010101" pitchFamily="49" charset="-122"/>
              </a:rPr>
              <a:t>），用符号</a:t>
            </a:r>
            <a:r>
              <a:rPr lang="en-US" altLang="zh-CN" sz="3600" b="1" i="1">
                <a:solidFill>
                  <a:srgbClr val="FF0000"/>
                </a:solidFill>
                <a:latin typeface="Times New Roman" panose="02020603050405020304" pitchFamily="18" charset="0"/>
                <a:ea typeface="黑体" panose="02010609060101010101" pitchFamily="49" charset="-122"/>
              </a:rPr>
              <a:t>E</a:t>
            </a:r>
            <a:r>
              <a:rPr lang="zh-CN" altLang="en-US" sz="3600" b="1">
                <a:latin typeface="Times New Roman" panose="02020603050405020304" pitchFamily="18" charset="0"/>
                <a:ea typeface="黑体" panose="02010609060101010101" pitchFamily="49" charset="-122"/>
              </a:rPr>
              <a:t>表示</a:t>
            </a:r>
            <a:endParaRPr lang="en-US" altLang="zh-CN" sz="3600" b="1">
              <a:latin typeface="Times New Roman" panose="02020603050405020304" pitchFamily="18" charset="0"/>
              <a:ea typeface="黑体" panose="02010609060101010101" pitchFamily="49" charset="-122"/>
            </a:endParaRPr>
          </a:p>
          <a:p>
            <a:pPr eaLnBrk="1" hangingPunct="1">
              <a:spcBef>
                <a:spcPct val="0"/>
              </a:spcBef>
            </a:pPr>
            <a:r>
              <a:rPr lang="zh-CN" altLang="en-US" sz="3600" b="1">
                <a:latin typeface="Times New Roman" panose="02020603050405020304" pitchFamily="18" charset="0"/>
                <a:ea typeface="黑体" panose="02010609060101010101" pitchFamily="49" charset="-122"/>
              </a:rPr>
              <a:t>单位质量的系统的总能，即</a:t>
            </a:r>
            <a:r>
              <a:rPr lang="en-US" altLang="zh-CN" sz="3600" b="1" i="1">
                <a:latin typeface="Times New Roman" panose="02020603050405020304" pitchFamily="18" charset="0"/>
                <a:ea typeface="黑体" panose="02010609060101010101" pitchFamily="49" charset="-122"/>
              </a:rPr>
              <a:t>E/m</a:t>
            </a:r>
            <a:r>
              <a:rPr lang="zh-CN" altLang="en-US" sz="3600" b="1">
                <a:latin typeface="Times New Roman" panose="02020603050405020304" pitchFamily="18" charset="0"/>
                <a:ea typeface="黑体" panose="02010609060101010101" pitchFamily="49" charset="-122"/>
              </a:rPr>
              <a:t>，称为</a:t>
            </a:r>
            <a:r>
              <a:rPr lang="zh-CN" altLang="en-US" sz="3600" b="1">
                <a:solidFill>
                  <a:srgbClr val="FF0000"/>
                </a:solidFill>
                <a:latin typeface="Times New Roman" panose="02020603050405020304" pitchFamily="18" charset="0"/>
                <a:ea typeface="黑体" panose="02010609060101010101" pitchFamily="49" charset="-122"/>
              </a:rPr>
              <a:t>比总能</a:t>
            </a:r>
            <a:r>
              <a:rPr lang="zh-CN" altLang="en-US" sz="3600" b="1">
                <a:latin typeface="Times New Roman" panose="02020603050405020304" pitchFamily="18" charset="0"/>
                <a:ea typeface="黑体" panose="02010609060101010101" pitchFamily="49" charset="-122"/>
              </a:rPr>
              <a:t>，用</a:t>
            </a:r>
            <a:r>
              <a:rPr lang="en-US" altLang="zh-CN" sz="3600" b="1" i="1">
                <a:solidFill>
                  <a:srgbClr val="FF0000"/>
                </a:solidFill>
                <a:latin typeface="Times New Roman" panose="02020603050405020304" pitchFamily="18" charset="0"/>
                <a:ea typeface="黑体" panose="02010609060101010101" pitchFamily="49" charset="-122"/>
              </a:rPr>
              <a:t>e</a:t>
            </a:r>
            <a:r>
              <a:rPr lang="zh-CN" altLang="en-US" sz="3600" b="1">
                <a:latin typeface="Times New Roman" panose="02020603050405020304" pitchFamily="18" charset="0"/>
                <a:ea typeface="黑体" panose="02010609060101010101" pitchFamily="49" charset="-122"/>
              </a:rPr>
              <a:t>表示</a:t>
            </a:r>
            <a:endParaRPr lang="zh-CN" altLang="en-US" sz="3600" b="1">
              <a:latin typeface="Times New Roman" panose="02020603050405020304" pitchFamily="18" charset="0"/>
              <a:ea typeface="黑体" panose="02010609060101010101" pitchFamily="49" charset="-122"/>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文本框 24577"/>
          <p:cNvSpPr txBox="1">
            <a:spLocks noChangeArrowheads="1"/>
          </p:cNvSpPr>
          <p:nvPr/>
        </p:nvSpPr>
        <p:spPr bwMode="auto">
          <a:xfrm>
            <a:off x="684213" y="836613"/>
            <a:ext cx="79025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4000" b="1">
                <a:latin typeface="Times New Roman" panose="02020603050405020304" pitchFamily="18" charset="0"/>
                <a:ea typeface="黑体" panose="02010609060101010101" pitchFamily="49" charset="-122"/>
              </a:rPr>
              <a:t>组成系统</a:t>
            </a:r>
            <a:r>
              <a:rPr lang="zh-CN" altLang="en-US" sz="4000" b="1">
                <a:solidFill>
                  <a:srgbClr val="FF0000"/>
                </a:solidFill>
                <a:latin typeface="Times New Roman" panose="02020603050405020304" pitchFamily="18" charset="0"/>
                <a:ea typeface="黑体" panose="02010609060101010101" pitchFamily="49" charset="-122"/>
              </a:rPr>
              <a:t>总能</a:t>
            </a:r>
            <a:r>
              <a:rPr lang="zh-CN" altLang="en-US" sz="4000" b="1">
                <a:latin typeface="Times New Roman" panose="02020603050405020304" pitchFamily="18" charset="0"/>
                <a:ea typeface="黑体" panose="02010609060101010101" pitchFamily="49" charset="-122"/>
              </a:rPr>
              <a:t>的各种能量分为两类</a:t>
            </a:r>
            <a:endParaRPr lang="zh-CN" altLang="en-US" sz="4000" b="1">
              <a:latin typeface="Times New Roman" panose="02020603050405020304" pitchFamily="18" charset="0"/>
              <a:ea typeface="黑体" panose="02010609060101010101" pitchFamily="49" charset="-122"/>
            </a:endParaRPr>
          </a:p>
        </p:txBody>
      </p:sp>
      <p:sp>
        <p:nvSpPr>
          <p:cNvPr id="33795" name="直接连接符 24578"/>
          <p:cNvSpPr>
            <a:spLocks noChangeShapeType="1"/>
          </p:cNvSpPr>
          <p:nvPr/>
        </p:nvSpPr>
        <p:spPr bwMode="auto">
          <a:xfrm flipH="1">
            <a:off x="2268538" y="1655763"/>
            <a:ext cx="952500" cy="47625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796" name="直接连接符 24579"/>
          <p:cNvSpPr>
            <a:spLocks noChangeShapeType="1"/>
          </p:cNvSpPr>
          <p:nvPr/>
        </p:nvSpPr>
        <p:spPr bwMode="auto">
          <a:xfrm>
            <a:off x="3708400" y="1644650"/>
            <a:ext cx="1052513" cy="47625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797" name="文本框 24577"/>
          <p:cNvSpPr txBox="1">
            <a:spLocks noChangeArrowheads="1"/>
          </p:cNvSpPr>
          <p:nvPr/>
        </p:nvSpPr>
        <p:spPr bwMode="auto">
          <a:xfrm>
            <a:off x="1146175" y="2239963"/>
            <a:ext cx="22431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4000" b="1">
                <a:latin typeface="Times New Roman" panose="02020603050405020304" pitchFamily="18" charset="0"/>
                <a:ea typeface="黑体" panose="02010609060101010101" pitchFamily="49" charset="-122"/>
              </a:rPr>
              <a:t>宏观能量</a:t>
            </a:r>
            <a:endParaRPr lang="zh-CN" altLang="en-US" sz="4000" b="1">
              <a:latin typeface="Times New Roman" panose="02020603050405020304" pitchFamily="18" charset="0"/>
              <a:ea typeface="黑体" panose="02010609060101010101" pitchFamily="49" charset="-122"/>
            </a:endParaRPr>
          </a:p>
        </p:txBody>
      </p:sp>
      <p:sp>
        <p:nvSpPr>
          <p:cNvPr id="33798" name="文本框 24577"/>
          <p:cNvSpPr txBox="1">
            <a:spLocks noChangeArrowheads="1"/>
          </p:cNvSpPr>
          <p:nvPr/>
        </p:nvSpPr>
        <p:spPr bwMode="auto">
          <a:xfrm>
            <a:off x="3924300" y="2239963"/>
            <a:ext cx="22431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4000" b="1">
                <a:latin typeface="Times New Roman" panose="02020603050405020304" pitchFamily="18" charset="0"/>
                <a:ea typeface="黑体" panose="02010609060101010101" pitchFamily="49" charset="-122"/>
              </a:rPr>
              <a:t>微观能量</a:t>
            </a:r>
            <a:endParaRPr lang="zh-CN" altLang="en-US" sz="4000" b="1">
              <a:latin typeface="Times New Roman" panose="02020603050405020304" pitchFamily="18" charset="0"/>
              <a:ea typeface="黑体" panose="02010609060101010101" pitchFamily="49" charset="-122"/>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矩形 22539"/>
          <p:cNvSpPr>
            <a:spLocks noChangeArrowheads="1"/>
          </p:cNvSpPr>
          <p:nvPr/>
        </p:nvSpPr>
        <p:spPr bwMode="auto">
          <a:xfrm>
            <a:off x="323850" y="260350"/>
            <a:ext cx="785018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400" b="1">
                <a:latin typeface="黑体" panose="02010609060101010101" pitchFamily="49" charset="-122"/>
                <a:ea typeface="黑体" panose="02010609060101010101" pitchFamily="49" charset="-122"/>
              </a:rPr>
              <a:t>一、宏观能量</a:t>
            </a:r>
            <a:endParaRPr lang="zh-CN" altLang="en-US" sz="4400" b="1">
              <a:latin typeface="黑体" panose="02010609060101010101" pitchFamily="49" charset="-122"/>
              <a:ea typeface="黑体" panose="02010609060101010101" pitchFamily="49" charset="-122"/>
            </a:endParaRPr>
          </a:p>
        </p:txBody>
      </p:sp>
      <p:sp>
        <p:nvSpPr>
          <p:cNvPr id="34819" name="矩形 22539"/>
          <p:cNvSpPr>
            <a:spLocks noChangeArrowheads="1"/>
          </p:cNvSpPr>
          <p:nvPr/>
        </p:nvSpPr>
        <p:spPr bwMode="auto">
          <a:xfrm>
            <a:off x="395288" y="1196975"/>
            <a:ext cx="7850187"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b="1">
                <a:latin typeface="黑体" panose="02010609060101010101" pitchFamily="49" charset="-122"/>
                <a:ea typeface="黑体" panose="02010609060101010101" pitchFamily="49" charset="-122"/>
              </a:rPr>
              <a:t>宏观能量是在系统外的参考坐标系中，热力系</a:t>
            </a:r>
            <a:r>
              <a:rPr lang="zh-CN" altLang="en-US" b="1">
                <a:solidFill>
                  <a:srgbClr val="FF0000"/>
                </a:solidFill>
                <a:latin typeface="黑体" panose="02010609060101010101" pitchFamily="49" charset="-122"/>
                <a:ea typeface="黑体" panose="02010609060101010101" pitchFamily="49" charset="-122"/>
              </a:rPr>
              <a:t>作为一个整体</a:t>
            </a:r>
            <a:r>
              <a:rPr lang="zh-CN" altLang="en-US" b="1">
                <a:latin typeface="黑体" panose="02010609060101010101" pitchFamily="49" charset="-122"/>
                <a:ea typeface="黑体" panose="02010609060101010101" pitchFamily="49" charset="-122"/>
              </a:rPr>
              <a:t>所具有的能量</a:t>
            </a:r>
            <a:endParaRPr lang="en-US" altLang="zh-CN" b="1">
              <a:latin typeface="黑体" panose="02010609060101010101" pitchFamily="49" charset="-122"/>
              <a:ea typeface="黑体" panose="02010609060101010101" pitchFamily="49" charset="-122"/>
            </a:endParaRPr>
          </a:p>
          <a:p>
            <a:pPr eaLnBrk="1" hangingPunct="1">
              <a:spcBef>
                <a:spcPct val="0"/>
              </a:spcBef>
            </a:pPr>
            <a:r>
              <a:rPr lang="zh-CN" altLang="en-US" b="1">
                <a:latin typeface="黑体" panose="02010609060101010101" pitchFamily="49" charset="-122"/>
                <a:ea typeface="黑体" panose="02010609060101010101" pitchFamily="49" charset="-122"/>
              </a:rPr>
              <a:t>宏观能量由物体的宏观运动或外部作用力（如重力、电磁力和表面张力等）所引起，又称为</a:t>
            </a:r>
            <a:r>
              <a:rPr lang="zh-CN" altLang="en-US" b="1">
                <a:solidFill>
                  <a:srgbClr val="FF0000"/>
                </a:solidFill>
                <a:latin typeface="黑体" panose="02010609060101010101" pitchFamily="49" charset="-122"/>
                <a:ea typeface="黑体" panose="02010609060101010101" pitchFamily="49" charset="-122"/>
              </a:rPr>
              <a:t>外部储存能</a:t>
            </a:r>
            <a:endParaRPr lang="zh-CN" altLang="en-US" b="1">
              <a:solidFill>
                <a:srgbClr val="FF0000"/>
              </a:solidFill>
              <a:latin typeface="黑体" panose="02010609060101010101" pitchFamily="49" charset="-122"/>
              <a:ea typeface="黑体" panose="02010609060101010101" pitchFamily="49" charset="-122"/>
            </a:endParaRPr>
          </a:p>
        </p:txBody>
      </p:sp>
      <p:sp>
        <p:nvSpPr>
          <p:cNvPr id="34820" name="文本框 24606"/>
          <p:cNvSpPr txBox="1">
            <a:spLocks noChangeArrowheads="1"/>
          </p:cNvSpPr>
          <p:nvPr/>
        </p:nvSpPr>
        <p:spPr bwMode="auto">
          <a:xfrm>
            <a:off x="406400" y="4768850"/>
            <a:ext cx="2622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latin typeface="Times New Roman" panose="02020603050405020304" pitchFamily="18" charset="0"/>
                <a:ea typeface="黑体" panose="02010609060101010101" pitchFamily="49" charset="-122"/>
              </a:rPr>
              <a:t>简单可压缩系</a:t>
            </a:r>
            <a:endParaRPr lang="zh-CN" altLang="en-US" sz="3200">
              <a:latin typeface="Times New Roman" panose="02020603050405020304" pitchFamily="18" charset="0"/>
              <a:ea typeface="黑体" panose="02010609060101010101" pitchFamily="49" charset="-122"/>
            </a:endParaRPr>
          </a:p>
        </p:txBody>
      </p:sp>
      <p:sp>
        <p:nvSpPr>
          <p:cNvPr id="34821" name="矩形 6"/>
          <p:cNvSpPr>
            <a:spLocks noChangeArrowheads="1"/>
          </p:cNvSpPr>
          <p:nvPr/>
        </p:nvSpPr>
        <p:spPr bwMode="auto">
          <a:xfrm>
            <a:off x="5500688" y="43688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solidFill>
                  <a:srgbClr val="FF0000"/>
                </a:solidFill>
                <a:latin typeface="黑体" panose="02010609060101010101" pitchFamily="49" charset="-122"/>
                <a:ea typeface="黑体" panose="02010609060101010101" pitchFamily="49" charset="-122"/>
              </a:rPr>
              <a:t>宏观动能</a:t>
            </a:r>
            <a:endParaRPr lang="zh-CN" altLang="en-US"/>
          </a:p>
        </p:txBody>
      </p:sp>
      <p:sp>
        <p:nvSpPr>
          <p:cNvPr id="34822" name="矩形 8"/>
          <p:cNvSpPr>
            <a:spLocks noChangeArrowheads="1"/>
          </p:cNvSpPr>
          <p:nvPr/>
        </p:nvSpPr>
        <p:spPr bwMode="auto">
          <a:xfrm>
            <a:off x="5508625" y="53594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solidFill>
                  <a:srgbClr val="FF0000"/>
                </a:solidFill>
                <a:latin typeface="黑体" panose="02010609060101010101" pitchFamily="49" charset="-122"/>
                <a:ea typeface="黑体" panose="02010609060101010101" pitchFamily="49" charset="-122"/>
              </a:rPr>
              <a:t>重力势能</a:t>
            </a:r>
            <a:endParaRPr lang="zh-CN" altLang="en-US"/>
          </a:p>
        </p:txBody>
      </p:sp>
      <p:sp>
        <p:nvSpPr>
          <p:cNvPr id="34823" name="矩形 24604"/>
          <p:cNvSpPr>
            <a:spLocks noChangeArrowheads="1"/>
          </p:cNvSpPr>
          <p:nvPr/>
        </p:nvSpPr>
        <p:spPr bwMode="auto">
          <a:xfrm>
            <a:off x="3203575" y="4171950"/>
            <a:ext cx="4537075" cy="1920875"/>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4824" name="对象 2"/>
          <p:cNvGraphicFramePr>
            <a:graphicFrameLocks noChangeAspect="1"/>
          </p:cNvGraphicFramePr>
          <p:nvPr/>
        </p:nvGraphicFramePr>
        <p:xfrm>
          <a:off x="3349625" y="4227513"/>
          <a:ext cx="1635125" cy="904875"/>
        </p:xfrm>
        <a:graphic>
          <a:graphicData uri="http://schemas.openxmlformats.org/presentationml/2006/ole">
            <mc:AlternateContent xmlns:mc="http://schemas.openxmlformats.org/markup-compatibility/2006">
              <mc:Choice xmlns:v="urn:schemas-microsoft-com:vml" Requires="v">
                <p:oleObj spid="_x0000_s20484" name="" r:id="rId1" imgW="711200" imgH="393700" progId="Equation.DSMT4">
                  <p:embed/>
                </p:oleObj>
              </mc:Choice>
              <mc:Fallback>
                <p:oleObj name="" r:id="rId1" imgW="711200" imgH="393700" progId="Equation.DSMT4">
                  <p:embed/>
                  <p:pic>
                    <p:nvPicPr>
                      <p:cNvPr id="0" name="对象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9625" y="4227513"/>
                        <a:ext cx="16351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4825" name="对象 13"/>
          <p:cNvGraphicFramePr>
            <a:graphicFrameLocks noChangeAspect="1"/>
          </p:cNvGraphicFramePr>
          <p:nvPr/>
        </p:nvGraphicFramePr>
        <p:xfrm>
          <a:off x="3467100" y="5370513"/>
          <a:ext cx="1400175" cy="554037"/>
        </p:xfrm>
        <a:graphic>
          <a:graphicData uri="http://schemas.openxmlformats.org/presentationml/2006/ole">
            <mc:AlternateContent xmlns:mc="http://schemas.openxmlformats.org/markup-compatibility/2006">
              <mc:Choice xmlns:v="urn:schemas-microsoft-com:vml" Requires="v">
                <p:oleObj spid="_x0000_s20485" name="" r:id="rId3" imgW="609600" imgH="241300" progId="Equation.DSMT4">
                  <p:embed/>
                </p:oleObj>
              </mc:Choice>
              <mc:Fallback>
                <p:oleObj name="" r:id="rId3" imgW="609600" imgH="241300" progId="Equation.DSMT4">
                  <p:embed/>
                  <p:pic>
                    <p:nvPicPr>
                      <p:cNvPr id="0" name="对象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7100" y="5370513"/>
                        <a:ext cx="140017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矩形 22539"/>
          <p:cNvSpPr>
            <a:spLocks noChangeArrowheads="1"/>
          </p:cNvSpPr>
          <p:nvPr/>
        </p:nvSpPr>
        <p:spPr bwMode="auto">
          <a:xfrm>
            <a:off x="323850" y="260350"/>
            <a:ext cx="785018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400" b="1">
                <a:latin typeface="黑体" panose="02010609060101010101" pitchFamily="49" charset="-122"/>
                <a:ea typeface="黑体" panose="02010609060101010101" pitchFamily="49" charset="-122"/>
              </a:rPr>
              <a:t>二、微观能量</a:t>
            </a:r>
            <a:endParaRPr lang="zh-CN" altLang="en-US" sz="4400" b="1">
              <a:latin typeface="黑体" panose="02010609060101010101" pitchFamily="49" charset="-122"/>
              <a:ea typeface="黑体" panose="02010609060101010101" pitchFamily="49" charset="-122"/>
            </a:endParaRPr>
          </a:p>
        </p:txBody>
      </p:sp>
      <p:sp>
        <p:nvSpPr>
          <p:cNvPr id="35843" name="矩形 22539"/>
          <p:cNvSpPr>
            <a:spLocks noChangeArrowheads="1"/>
          </p:cNvSpPr>
          <p:nvPr/>
        </p:nvSpPr>
        <p:spPr bwMode="auto">
          <a:xfrm>
            <a:off x="395288" y="1196975"/>
            <a:ext cx="7850187"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b="1">
                <a:latin typeface="Times New Roman" panose="02020603050405020304" pitchFamily="18" charset="0"/>
                <a:ea typeface="黑体" panose="02010609060101010101" pitchFamily="49" charset="-122"/>
              </a:rPr>
              <a:t>微观形式的能量与系统内部粒子的微观运动和粒子空间位形有关，与外部参考系无关，是内部储存能</a:t>
            </a:r>
            <a:endParaRPr lang="en-US" altLang="zh-CN" b="1">
              <a:latin typeface="Times New Roman" panose="02020603050405020304" pitchFamily="18" charset="0"/>
              <a:ea typeface="黑体" panose="02010609060101010101" pitchFamily="49" charset="-122"/>
            </a:endParaRPr>
          </a:p>
          <a:p>
            <a:pPr eaLnBrk="1" hangingPunct="1">
              <a:spcBef>
                <a:spcPct val="0"/>
              </a:spcBef>
            </a:pPr>
            <a:r>
              <a:rPr lang="zh-CN" altLang="en-US" b="1">
                <a:latin typeface="Times New Roman" panose="02020603050405020304" pitchFamily="18" charset="0"/>
                <a:ea typeface="黑体" panose="02010609060101010101" pitchFamily="49" charset="-122"/>
              </a:rPr>
              <a:t>它等于系统内部所有微观形式的能量的总和，称为系统的</a:t>
            </a:r>
            <a:r>
              <a:rPr lang="zh-CN" altLang="en-US" b="1">
                <a:solidFill>
                  <a:srgbClr val="FF0000"/>
                </a:solidFill>
                <a:latin typeface="Times New Roman" panose="02020603050405020304" pitchFamily="18" charset="0"/>
                <a:ea typeface="黑体" panose="02010609060101010101" pitchFamily="49" charset="-122"/>
              </a:rPr>
              <a:t>热力学能</a:t>
            </a:r>
            <a:r>
              <a:rPr lang="zh-CN" altLang="en-US" b="1">
                <a:latin typeface="Times New Roman" panose="02020603050405020304" pitchFamily="18" charset="0"/>
                <a:ea typeface="黑体" panose="02010609060101010101" pitchFamily="49" charset="-122"/>
              </a:rPr>
              <a:t>（</a:t>
            </a:r>
            <a:r>
              <a:rPr lang="en-US" altLang="zh-CN" b="1">
                <a:latin typeface="Times New Roman" panose="02020603050405020304" pitchFamily="18" charset="0"/>
                <a:ea typeface="黑体" panose="02010609060101010101" pitchFamily="49" charset="-122"/>
              </a:rPr>
              <a:t>internal energy</a:t>
            </a:r>
            <a:r>
              <a:rPr lang="zh-CN" altLang="en-US" b="1">
                <a:latin typeface="Times New Roman" panose="02020603050405020304" pitchFamily="18" charset="0"/>
                <a:ea typeface="黑体" panose="02010609060101010101" pitchFamily="49" charset="-122"/>
              </a:rPr>
              <a:t>），用符号</a:t>
            </a:r>
            <a:r>
              <a:rPr lang="en-US" altLang="zh-CN" b="1" i="1">
                <a:solidFill>
                  <a:srgbClr val="FF0000"/>
                </a:solidFill>
                <a:latin typeface="Times New Roman" panose="02020603050405020304" pitchFamily="18" charset="0"/>
                <a:ea typeface="黑体" panose="02010609060101010101" pitchFamily="49" charset="-122"/>
              </a:rPr>
              <a:t>U</a:t>
            </a:r>
            <a:r>
              <a:rPr lang="zh-CN" altLang="en-US" b="1">
                <a:latin typeface="Times New Roman" panose="02020603050405020304" pitchFamily="18" charset="0"/>
                <a:ea typeface="黑体" panose="02010609060101010101" pitchFamily="49" charset="-122"/>
              </a:rPr>
              <a:t>表示</a:t>
            </a:r>
            <a:endParaRPr lang="zh-CN" altLang="en-US" b="1">
              <a:solidFill>
                <a:srgbClr val="FF0000"/>
              </a:solidFill>
              <a:latin typeface="Times New Roman" panose="02020603050405020304" pitchFamily="18" charset="0"/>
              <a:ea typeface="黑体" panose="02010609060101010101" pitchFamily="49" charset="-122"/>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矩形 23555"/>
          <p:cNvSpPr>
            <a:spLocks noChangeArrowheads="1"/>
          </p:cNvSpPr>
          <p:nvPr/>
        </p:nvSpPr>
        <p:spPr bwMode="auto">
          <a:xfrm>
            <a:off x="1547813" y="314325"/>
            <a:ext cx="52562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000" b="1">
                <a:solidFill>
                  <a:srgbClr val="FF0000"/>
                </a:solidFill>
                <a:ea typeface="黑体" panose="02010609060101010101" pitchFamily="49" charset="-122"/>
              </a:rPr>
              <a:t>所有</a:t>
            </a:r>
            <a:r>
              <a:rPr lang="zh-CN" altLang="en-US" sz="2800" b="1">
                <a:ea typeface="黑体" panose="02010609060101010101" pitchFamily="49" charset="-122"/>
              </a:rPr>
              <a:t>微观形式的能量的总和</a:t>
            </a:r>
            <a:endParaRPr lang="zh-CN" altLang="en-US" sz="2400">
              <a:ea typeface="黑体" panose="02010609060101010101" pitchFamily="49" charset="-122"/>
            </a:endParaRPr>
          </a:p>
        </p:txBody>
      </p:sp>
      <p:graphicFrame>
        <p:nvGraphicFramePr>
          <p:cNvPr id="36867" name="对象 23556"/>
          <p:cNvGraphicFramePr/>
          <p:nvPr/>
        </p:nvGraphicFramePr>
        <p:xfrm>
          <a:off x="755650" y="333375"/>
          <a:ext cx="600075" cy="647700"/>
        </p:xfrm>
        <a:graphic>
          <a:graphicData uri="http://schemas.openxmlformats.org/presentationml/2006/ole">
            <mc:AlternateContent xmlns:mc="http://schemas.openxmlformats.org/markup-compatibility/2006">
              <mc:Choice xmlns:v="urn:schemas-microsoft-com:vml" Requires="v">
                <p:oleObj spid="_x0000_s21507" name="" r:id="rId1" imgW="50800" imgH="59055" progId="Equation.DSMT4">
                  <p:embed/>
                </p:oleObj>
              </mc:Choice>
              <mc:Fallback>
                <p:oleObj name="" r:id="rId1" imgW="50800" imgH="59055" progId="Equation.DSMT4">
                  <p:embed/>
                  <p:pic>
                    <p:nvPicPr>
                      <p:cNvPr id="0" name="对象 2355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333375"/>
                        <a:ext cx="6000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3558" name="矩形 23557"/>
          <p:cNvSpPr>
            <a:spLocks noChangeArrowheads="1"/>
          </p:cNvSpPr>
          <p:nvPr/>
        </p:nvSpPr>
        <p:spPr bwMode="auto">
          <a:xfrm>
            <a:off x="755650" y="1773238"/>
            <a:ext cx="7775575" cy="393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在</a:t>
            </a:r>
            <a:r>
              <a:rPr lang="zh-CN" altLang="en-US" sz="2800" b="1">
                <a:solidFill>
                  <a:srgbClr val="0000FF"/>
                </a:solidFill>
                <a:latin typeface="黑体" panose="02010609060101010101" pitchFamily="49" charset="-122"/>
                <a:ea typeface="黑体" panose="02010609060101010101" pitchFamily="49" charset="-122"/>
              </a:rPr>
              <a:t>分子尺度上</a:t>
            </a:r>
            <a:r>
              <a:rPr lang="zh-CN" altLang="en-US" sz="2800" b="1">
                <a:latin typeface="黑体" panose="02010609060101010101" pitchFamily="49" charset="-122"/>
                <a:ea typeface="黑体" panose="02010609060101010101" pitchFamily="49" charset="-122"/>
              </a:rPr>
              <a:t>，热力学能包括分子移动、转动、振动运动的</a:t>
            </a:r>
            <a:r>
              <a:rPr lang="zh-CN" altLang="en-US" sz="2800" b="1">
                <a:solidFill>
                  <a:srgbClr val="FF0000"/>
                </a:solidFill>
                <a:latin typeface="黑体" panose="02010609060101010101" pitchFamily="49" charset="-122"/>
                <a:ea typeface="黑体" panose="02010609060101010101" pitchFamily="49" charset="-122"/>
              </a:rPr>
              <a:t>动能</a:t>
            </a:r>
            <a:r>
              <a:rPr lang="zh-CN" altLang="en-US" sz="2800" b="1">
                <a:latin typeface="黑体" panose="02010609060101010101" pitchFamily="49" charset="-122"/>
                <a:ea typeface="黑体" panose="02010609060101010101" pitchFamily="49" charset="-122"/>
              </a:rPr>
              <a:t>和分子间由于相互作用力的存在而具有的</a:t>
            </a:r>
            <a:r>
              <a:rPr lang="zh-CN" altLang="en-US" sz="2800" b="1">
                <a:solidFill>
                  <a:srgbClr val="FF0000"/>
                </a:solidFill>
                <a:latin typeface="黑体" panose="02010609060101010101" pitchFamily="49" charset="-122"/>
                <a:ea typeface="黑体" panose="02010609060101010101" pitchFamily="49" charset="-122"/>
              </a:rPr>
              <a:t>位能</a:t>
            </a:r>
            <a:r>
              <a:rPr lang="zh-CN" altLang="en-US" sz="2800" b="1">
                <a:latin typeface="黑体" panose="02010609060101010101" pitchFamily="49" charset="-122"/>
                <a:ea typeface="黑体" panose="02010609060101010101" pitchFamily="49" charset="-122"/>
              </a:rPr>
              <a:t>；</a:t>
            </a:r>
            <a:endParaRPr lang="zh-CN" altLang="en-US" sz="2800" b="1">
              <a:latin typeface="黑体" panose="02010609060101010101" pitchFamily="49" charset="-122"/>
              <a:ea typeface="黑体" panose="02010609060101010101" pitchFamily="49" charset="-122"/>
            </a:endParaRPr>
          </a:p>
          <a:p>
            <a:pPr eaLnBrk="1" hangingPunct="1"/>
            <a:r>
              <a:rPr lang="zh-CN" altLang="en-US" sz="2800" b="1">
                <a:latin typeface="黑体" panose="02010609060101010101" pitchFamily="49" charset="-122"/>
                <a:ea typeface="黑体" panose="02010609060101010101" pitchFamily="49" charset="-122"/>
              </a:rPr>
              <a:t>在</a:t>
            </a:r>
            <a:r>
              <a:rPr lang="zh-CN" altLang="en-US" sz="2800" b="1">
                <a:solidFill>
                  <a:srgbClr val="0000FF"/>
                </a:solidFill>
                <a:latin typeface="黑体" panose="02010609060101010101" pitchFamily="49" charset="-122"/>
                <a:ea typeface="黑体" panose="02010609060101010101" pitchFamily="49" charset="-122"/>
              </a:rPr>
              <a:t>分子尺度以下</a:t>
            </a:r>
            <a:r>
              <a:rPr lang="zh-CN" altLang="en-US" sz="2800" b="1">
                <a:latin typeface="黑体" panose="02010609060101010101" pitchFamily="49" charset="-122"/>
                <a:ea typeface="黑体" panose="02010609060101010101" pitchFamily="49" charset="-122"/>
              </a:rPr>
              <a:t>，热力学能还包括不同原子束缚成分子的能量，电磁偶极矩的能量；</a:t>
            </a:r>
            <a:endParaRPr lang="zh-CN" altLang="en-US" sz="2800" b="1">
              <a:latin typeface="黑体" panose="02010609060101010101" pitchFamily="49" charset="-122"/>
              <a:ea typeface="黑体" panose="02010609060101010101" pitchFamily="49" charset="-122"/>
            </a:endParaRPr>
          </a:p>
          <a:p>
            <a:pPr eaLnBrk="1" hangingPunct="1"/>
            <a:r>
              <a:rPr lang="zh-CN" altLang="en-US" sz="2800" b="1">
                <a:latin typeface="黑体" panose="02010609060101010101" pitchFamily="49" charset="-122"/>
                <a:ea typeface="黑体" panose="02010609060101010101" pitchFamily="49" charset="-122"/>
              </a:rPr>
              <a:t>在</a:t>
            </a:r>
            <a:r>
              <a:rPr lang="zh-CN" altLang="en-US" sz="2800" b="1">
                <a:solidFill>
                  <a:srgbClr val="0000FF"/>
                </a:solidFill>
                <a:latin typeface="黑体" panose="02010609060101010101" pitchFamily="49" charset="-122"/>
                <a:ea typeface="黑体" panose="02010609060101010101" pitchFamily="49" charset="-122"/>
              </a:rPr>
              <a:t>原子尺度内</a:t>
            </a:r>
            <a:r>
              <a:rPr lang="zh-CN" altLang="en-US" sz="2800" b="1">
                <a:latin typeface="黑体" panose="02010609060101010101" pitchFamily="49" charset="-122"/>
                <a:ea typeface="黑体" panose="02010609060101010101" pitchFamily="49" charset="-122"/>
              </a:rPr>
              <a:t>，热力学能还包括自由电子绕核旋转及自旋的能量，自由电子与核束缚在一起的能量，核自旋的能量；</a:t>
            </a:r>
            <a:endParaRPr lang="zh-CN" altLang="en-US" sz="2800" b="1">
              <a:latin typeface="黑体" panose="02010609060101010101" pitchFamily="49" charset="-122"/>
              <a:ea typeface="黑体" panose="02010609060101010101" pitchFamily="49" charset="-122"/>
            </a:endParaRPr>
          </a:p>
          <a:p>
            <a:pPr eaLnBrk="1" hangingPunct="1"/>
            <a:r>
              <a:rPr lang="zh-CN" altLang="en-US" sz="2800" b="1">
                <a:latin typeface="黑体" panose="02010609060101010101" pitchFamily="49" charset="-122"/>
                <a:ea typeface="黑体" panose="02010609060101010101" pitchFamily="49" charset="-122"/>
              </a:rPr>
              <a:t>在</a:t>
            </a:r>
            <a:r>
              <a:rPr lang="zh-CN" altLang="en-US" sz="2800" b="1">
                <a:solidFill>
                  <a:srgbClr val="0000FF"/>
                </a:solidFill>
                <a:latin typeface="黑体" panose="02010609060101010101" pitchFamily="49" charset="-122"/>
                <a:ea typeface="黑体" panose="02010609060101010101" pitchFamily="49" charset="-122"/>
              </a:rPr>
              <a:t>原子核尺度以下</a:t>
            </a:r>
            <a:r>
              <a:rPr lang="zh-CN" altLang="en-US" sz="2800" b="1">
                <a:latin typeface="黑体" panose="02010609060101010101" pitchFamily="49" charset="-122"/>
                <a:ea typeface="黑体" panose="02010609060101010101" pitchFamily="49" charset="-122"/>
              </a:rPr>
              <a:t>，热力学能还包括核能，等等 </a:t>
            </a:r>
            <a:endParaRPr lang="zh-CN" altLang="en-US" sz="2800" b="1">
              <a:latin typeface="黑体" panose="02010609060101010101" pitchFamily="49" charset="-122"/>
              <a:ea typeface="黑体" panose="02010609060101010101" pitchFamily="49" charset="-122"/>
            </a:endParaRPr>
          </a:p>
        </p:txBody>
      </p:sp>
      <p:sp>
        <p:nvSpPr>
          <p:cNvPr id="36869" name="矩形 23562"/>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6870" name="矩形 23563"/>
          <p:cNvSpPr>
            <a:spLocks noChangeArrowheads="1"/>
          </p:cNvSpPr>
          <p:nvPr/>
        </p:nvSpPr>
        <p:spPr bwMode="auto">
          <a:xfrm>
            <a:off x="2555875" y="1125538"/>
            <a:ext cx="52562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FF0000"/>
                </a:solidFill>
                <a:ea typeface="黑体" panose="02010609060101010101" pitchFamily="49" charset="-122"/>
              </a:rPr>
              <a:t>“所有”</a:t>
            </a:r>
            <a:r>
              <a:rPr lang="zh-CN" altLang="en-US" sz="2800" b="1">
                <a:ea typeface="黑体" panose="02010609060101010101" pitchFamily="49" charset="-122"/>
              </a:rPr>
              <a:t>都包括哪些？</a:t>
            </a:r>
            <a:endParaRPr lang="zh-CN" altLang="en-US" sz="2400">
              <a:ea typeface="黑体" panose="02010609060101010101" pitchFamily="49" charset="-122"/>
            </a:endParaRPr>
          </a:p>
        </p:txBody>
      </p:sp>
    </p:spTree>
    <p:custDataLst>
      <p:tags r:id="rId3"/>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558">
                                            <p:txEl>
                                              <p:pRg st="0" end="0"/>
                                            </p:txEl>
                                          </p:spTgt>
                                        </p:tgtEl>
                                        <p:attrNameLst>
                                          <p:attrName>style.visibility</p:attrName>
                                        </p:attrNameLst>
                                      </p:cBhvr>
                                      <p:to>
                                        <p:strVal val="visible"/>
                                      </p:to>
                                    </p:set>
                                    <p:animEffect transition="in" filter="blinds(horizontal)">
                                      <p:cBhvr>
                                        <p:cTn id="7" dur="500"/>
                                        <p:tgtEl>
                                          <p:spTgt spid="235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558">
                                            <p:txEl>
                                              <p:pRg st="1" end="1"/>
                                            </p:txEl>
                                          </p:spTgt>
                                        </p:tgtEl>
                                        <p:attrNameLst>
                                          <p:attrName>style.visibility</p:attrName>
                                        </p:attrNameLst>
                                      </p:cBhvr>
                                      <p:to>
                                        <p:strVal val="visible"/>
                                      </p:to>
                                    </p:set>
                                    <p:animEffect transition="in" filter="blinds(horizontal)">
                                      <p:cBhvr>
                                        <p:cTn id="12" dur="500"/>
                                        <p:tgtEl>
                                          <p:spTgt spid="235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3558">
                                            <p:txEl>
                                              <p:pRg st="2" end="2"/>
                                            </p:txEl>
                                          </p:spTgt>
                                        </p:tgtEl>
                                        <p:attrNameLst>
                                          <p:attrName>style.visibility</p:attrName>
                                        </p:attrNameLst>
                                      </p:cBhvr>
                                      <p:to>
                                        <p:strVal val="visible"/>
                                      </p:to>
                                    </p:set>
                                    <p:animEffect transition="in" filter="blinds(horizontal)">
                                      <p:cBhvr>
                                        <p:cTn id="17" dur="500"/>
                                        <p:tgtEl>
                                          <p:spTgt spid="2355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3558">
                                            <p:txEl>
                                              <p:pRg st="3" end="3"/>
                                            </p:txEl>
                                          </p:spTgt>
                                        </p:tgtEl>
                                        <p:attrNameLst>
                                          <p:attrName>style.visibility</p:attrName>
                                        </p:attrNameLst>
                                      </p:cBhvr>
                                      <p:to>
                                        <p:strVal val="visible"/>
                                      </p:to>
                                    </p:set>
                                    <p:animEffect transition="in" filter="blinds(horizontal)">
                                      <p:cBhvr>
                                        <p:cTn id="22" dur="500"/>
                                        <p:tgtEl>
                                          <p:spTgt spid="2355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矩形 1"/>
          <p:cNvSpPr>
            <a:spLocks noChangeArrowheads="1"/>
          </p:cNvSpPr>
          <p:nvPr/>
        </p:nvSpPr>
        <p:spPr bwMode="auto">
          <a:xfrm>
            <a:off x="611188" y="838200"/>
            <a:ext cx="7546975" cy="353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b="1">
                <a:latin typeface="Times New Roman" panose="02020603050405020304" pitchFamily="18" charset="0"/>
                <a:ea typeface="黑体" panose="02010609060101010101" pitchFamily="49" charset="-122"/>
              </a:rPr>
              <a:t>在工程热力学所讨论的一般热力系所经历的过程里，常常没有分子结构及核的变化</a:t>
            </a:r>
            <a:endParaRPr lang="en-US" altLang="zh-CN" b="1">
              <a:latin typeface="Times New Roman" panose="02020603050405020304" pitchFamily="18" charset="0"/>
              <a:ea typeface="黑体" panose="02010609060101010101" pitchFamily="49" charset="-122"/>
            </a:endParaRPr>
          </a:p>
          <a:p>
            <a:pPr eaLnBrk="1" hangingPunct="1">
              <a:spcBef>
                <a:spcPct val="0"/>
              </a:spcBef>
            </a:pPr>
            <a:r>
              <a:rPr lang="zh-CN" altLang="en-US" b="1">
                <a:latin typeface="Times New Roman" panose="02020603050405020304" pitchFamily="18" charset="0"/>
                <a:ea typeface="黑体" panose="02010609060101010101" pitchFamily="49" charset="-122"/>
              </a:rPr>
              <a:t>这时，热力学能停留在</a:t>
            </a:r>
            <a:r>
              <a:rPr lang="zh-CN" altLang="en-US" b="1">
                <a:solidFill>
                  <a:srgbClr val="FF0000"/>
                </a:solidFill>
                <a:latin typeface="Times New Roman" panose="02020603050405020304" pitchFamily="18" charset="0"/>
                <a:ea typeface="黑体" panose="02010609060101010101" pitchFamily="49" charset="-122"/>
              </a:rPr>
              <a:t>分子尺度上</a:t>
            </a:r>
            <a:r>
              <a:rPr lang="zh-CN" altLang="en-US" b="1">
                <a:latin typeface="Times New Roman" panose="02020603050405020304" pitchFamily="18" charset="0"/>
                <a:ea typeface="黑体" panose="02010609060101010101" pitchFamily="49" charset="-122"/>
              </a:rPr>
              <a:t>，只考虑分子运动的内动能</a:t>
            </a:r>
            <a:r>
              <a:rPr lang="en-US" altLang="zh-CN" b="1" i="1">
                <a:latin typeface="Times New Roman" panose="02020603050405020304" pitchFamily="18" charset="0"/>
                <a:ea typeface="黑体" panose="02010609060101010101" pitchFamily="49" charset="-122"/>
              </a:rPr>
              <a:t>U</a:t>
            </a:r>
            <a:r>
              <a:rPr lang="en-US" altLang="zh-CN" b="1" baseline="-25000">
                <a:latin typeface="Times New Roman" panose="02020603050405020304" pitchFamily="18" charset="0"/>
                <a:ea typeface="黑体" panose="02010609060101010101" pitchFamily="49" charset="-122"/>
              </a:rPr>
              <a:t>k</a:t>
            </a:r>
            <a:r>
              <a:rPr lang="zh-CN" altLang="en-US" b="1">
                <a:latin typeface="Times New Roman" panose="02020603050405020304" pitchFamily="18" charset="0"/>
                <a:ea typeface="黑体" panose="02010609060101010101" pitchFamily="49" charset="-122"/>
              </a:rPr>
              <a:t>及分子间由于相互作用力的存在而具有的内位能</a:t>
            </a:r>
            <a:r>
              <a:rPr lang="en-US" altLang="zh-CN" b="1" i="1">
                <a:latin typeface="Times New Roman" panose="02020603050405020304" pitchFamily="18" charset="0"/>
                <a:ea typeface="黑体" panose="02010609060101010101" pitchFamily="49" charset="-122"/>
              </a:rPr>
              <a:t>U</a:t>
            </a:r>
            <a:r>
              <a:rPr lang="en-US" altLang="zh-CN" b="1" baseline="-25000">
                <a:latin typeface="Times New Roman" panose="02020603050405020304" pitchFamily="18" charset="0"/>
                <a:ea typeface="黑体" panose="02010609060101010101" pitchFamily="49" charset="-122"/>
              </a:rPr>
              <a:t>p</a:t>
            </a:r>
            <a:endParaRPr lang="zh-CN" altLang="en-US" b="1" baseline="-25000">
              <a:latin typeface="Times New Roman" panose="02020603050405020304" pitchFamily="18" charset="0"/>
              <a:ea typeface="黑体" panose="02010609060101010101" pitchFamily="49" charset="-122"/>
            </a:endParaRPr>
          </a:p>
        </p:txBody>
      </p:sp>
      <p:graphicFrame>
        <p:nvGraphicFramePr>
          <p:cNvPr id="37891" name="对象 3"/>
          <p:cNvGraphicFramePr>
            <a:graphicFrameLocks noChangeAspect="1"/>
          </p:cNvGraphicFramePr>
          <p:nvPr/>
        </p:nvGraphicFramePr>
        <p:xfrm>
          <a:off x="3059113" y="4724400"/>
          <a:ext cx="2312987" cy="720725"/>
        </p:xfrm>
        <a:graphic>
          <a:graphicData uri="http://schemas.openxmlformats.org/presentationml/2006/ole">
            <mc:AlternateContent xmlns:mc="http://schemas.openxmlformats.org/markup-compatibility/2006">
              <mc:Choice xmlns:v="urn:schemas-microsoft-com:vml" Requires="v">
                <p:oleObj spid="_x0000_s22531" name="" r:id="rId1" imgW="774065" imgH="241300" progId="Equation.DSMT4">
                  <p:embed/>
                </p:oleObj>
              </mc:Choice>
              <mc:Fallback>
                <p:oleObj name="" r:id="rId1" imgW="774065" imgH="241300" progId="Equation.DSMT4">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113" y="4724400"/>
                        <a:ext cx="231298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3"/>
    </p:custData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914" name="对象 26627"/>
          <p:cNvGraphicFramePr/>
          <p:nvPr/>
        </p:nvGraphicFramePr>
        <p:xfrm>
          <a:off x="755650" y="4286250"/>
          <a:ext cx="2303463" cy="727075"/>
        </p:xfrm>
        <a:graphic>
          <a:graphicData uri="http://schemas.openxmlformats.org/presentationml/2006/ole">
            <mc:AlternateContent xmlns:mc="http://schemas.openxmlformats.org/markup-compatibility/2006">
              <mc:Choice xmlns:v="urn:schemas-microsoft-com:vml" Requires="v">
                <p:oleObj spid="_x0000_s23557" name="" r:id="rId1" imgW="735965" imgH="254000" progId="Equation.DSMT4">
                  <p:embed/>
                </p:oleObj>
              </mc:Choice>
              <mc:Fallback>
                <p:oleObj name="" r:id="rId1" imgW="735965" imgH="254000" progId="Equation.DSMT4">
                  <p:embed/>
                  <p:pic>
                    <p:nvPicPr>
                      <p:cNvPr id="0" name="对象 2662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4286250"/>
                        <a:ext cx="2303463"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8915" name="对象 26628"/>
          <p:cNvGraphicFramePr/>
          <p:nvPr/>
        </p:nvGraphicFramePr>
        <p:xfrm>
          <a:off x="3635375" y="4286250"/>
          <a:ext cx="2305050" cy="719138"/>
        </p:xfrm>
        <a:graphic>
          <a:graphicData uri="http://schemas.openxmlformats.org/presentationml/2006/ole">
            <mc:AlternateContent xmlns:mc="http://schemas.openxmlformats.org/markup-compatibility/2006">
              <mc:Choice xmlns:v="urn:schemas-microsoft-com:vml" Requires="v">
                <p:oleObj spid="_x0000_s23558" name="" r:id="rId3" imgW="774065" imgH="254000" progId="Equation.DSMT4">
                  <p:embed/>
                </p:oleObj>
              </mc:Choice>
              <mc:Fallback>
                <p:oleObj name="" r:id="rId3" imgW="774065" imgH="254000" progId="Equation.DSMT4">
                  <p:embed/>
                  <p:pic>
                    <p:nvPicPr>
                      <p:cNvPr id="0" name="对象 2662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5375" y="4286250"/>
                        <a:ext cx="2305050"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916" name="矩形 26629"/>
          <p:cNvSpPr>
            <a:spLocks noChangeArrowheads="1"/>
          </p:cNvSpPr>
          <p:nvPr/>
        </p:nvSpPr>
        <p:spPr bwMode="auto">
          <a:xfrm>
            <a:off x="414338" y="438150"/>
            <a:ext cx="80279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ea typeface="黑体" panose="02010609060101010101" pitchFamily="49" charset="-122"/>
              </a:rPr>
              <a:t>热力学能</a:t>
            </a:r>
            <a:r>
              <a:rPr lang="en-US" altLang="zh-CN" sz="3200" b="1" i="1">
                <a:latin typeface="Times New Roman" panose="02020603050405020304" pitchFamily="18" charset="0"/>
                <a:ea typeface="黑体" panose="02010609060101010101" pitchFamily="49" charset="-122"/>
              </a:rPr>
              <a:t>U</a:t>
            </a:r>
            <a:r>
              <a:rPr lang="zh-CN" altLang="en-US" sz="3200" b="1">
                <a:ea typeface="黑体" panose="02010609060101010101" pitchFamily="49" charset="-122"/>
              </a:rPr>
              <a:t>是系统的状态参数，是广延量</a:t>
            </a:r>
            <a:endParaRPr lang="zh-CN" altLang="en-US" sz="3200" b="1">
              <a:ea typeface="黑体" panose="02010609060101010101" pitchFamily="49" charset="-122"/>
            </a:endParaRPr>
          </a:p>
        </p:txBody>
      </p:sp>
      <p:sp>
        <p:nvSpPr>
          <p:cNvPr id="38917" name="矩形 26630"/>
          <p:cNvSpPr>
            <a:spLocks noChangeArrowheads="1"/>
          </p:cNvSpPr>
          <p:nvPr/>
        </p:nvSpPr>
        <p:spPr bwMode="auto">
          <a:xfrm>
            <a:off x="403225" y="1858963"/>
            <a:ext cx="7993063" cy="193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根据上一章的状态公理</a:t>
            </a:r>
            <a:r>
              <a:rPr lang="zh-CN" altLang="en-US" sz="3200" b="1">
                <a:ea typeface="黑体" panose="02010609060101010101" pitchFamily="49" charset="-122"/>
              </a:rPr>
              <a:t>，</a:t>
            </a:r>
            <a:r>
              <a:rPr lang="zh-CN" altLang="en-US" sz="3200" b="1">
                <a:latin typeface="黑体" panose="02010609060101010101" pitchFamily="49" charset="-122"/>
                <a:ea typeface="黑体" panose="02010609060101010101" pitchFamily="49" charset="-122"/>
              </a:rPr>
              <a:t>在平衡状态下，简单可压缩系统的内部强度状态参数可由</a:t>
            </a:r>
            <a:r>
              <a:rPr lang="zh-CN" altLang="en-US" sz="4400" b="1">
                <a:solidFill>
                  <a:srgbClr val="FF0000"/>
                </a:solidFill>
                <a:latin typeface="黑体" panose="02010609060101010101" pitchFamily="49" charset="-122"/>
                <a:ea typeface="黑体" panose="02010609060101010101" pitchFamily="49" charset="-122"/>
              </a:rPr>
              <a:t>两个</a:t>
            </a:r>
            <a:r>
              <a:rPr lang="zh-CN" altLang="en-US" sz="3200" b="1">
                <a:latin typeface="黑体" panose="02010609060101010101" pitchFamily="49" charset="-122"/>
                <a:ea typeface="黑体" panose="02010609060101010101" pitchFamily="49" charset="-122"/>
              </a:rPr>
              <a:t>独立的内部强度状态参数来确定</a:t>
            </a:r>
            <a:endParaRPr lang="zh-CN" altLang="en-US" sz="3200" b="1">
              <a:latin typeface="黑体" panose="02010609060101010101" pitchFamily="49" charset="-122"/>
              <a:ea typeface="黑体" panose="02010609060101010101" pitchFamily="49" charset="-122"/>
            </a:endParaRPr>
          </a:p>
        </p:txBody>
      </p:sp>
      <p:graphicFrame>
        <p:nvGraphicFramePr>
          <p:cNvPr id="38918" name="对象 26631"/>
          <p:cNvGraphicFramePr/>
          <p:nvPr/>
        </p:nvGraphicFramePr>
        <p:xfrm>
          <a:off x="6335713" y="4260850"/>
          <a:ext cx="2160587" cy="719138"/>
        </p:xfrm>
        <a:graphic>
          <a:graphicData uri="http://schemas.openxmlformats.org/presentationml/2006/ole">
            <mc:AlternateContent xmlns:mc="http://schemas.openxmlformats.org/markup-compatibility/2006">
              <mc:Choice xmlns:v="urn:schemas-microsoft-com:vml" Requires="v">
                <p:oleObj spid="_x0000_s23559" name="" r:id="rId5" imgW="723265" imgH="254000" progId="Equation.DSMT4">
                  <p:embed/>
                </p:oleObj>
              </mc:Choice>
              <mc:Fallback>
                <p:oleObj name="" r:id="rId5" imgW="723265" imgH="254000" progId="Equation.DSMT4">
                  <p:embed/>
                  <p:pic>
                    <p:nvPicPr>
                      <p:cNvPr id="0" name="对象 2663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35713" y="4260850"/>
                        <a:ext cx="2160587"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919" name="矩形 26629"/>
          <p:cNvSpPr>
            <a:spLocks noChangeArrowheads="1"/>
          </p:cNvSpPr>
          <p:nvPr/>
        </p:nvSpPr>
        <p:spPr bwMode="auto">
          <a:xfrm>
            <a:off x="414338" y="1106488"/>
            <a:ext cx="80279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ea typeface="黑体" panose="02010609060101010101" pitchFamily="49" charset="-122"/>
              </a:rPr>
              <a:t>比热力学能</a:t>
            </a:r>
            <a:r>
              <a:rPr lang="en-US" altLang="zh-CN" sz="3200" b="1" i="1">
                <a:latin typeface="Times New Roman" panose="02020603050405020304" pitchFamily="18" charset="0"/>
                <a:ea typeface="黑体" panose="02010609060101010101" pitchFamily="49" charset="-122"/>
              </a:rPr>
              <a:t>u</a:t>
            </a:r>
            <a:r>
              <a:rPr lang="zh-CN" altLang="en-US" sz="3200" b="1">
                <a:ea typeface="黑体" panose="02010609060101010101" pitchFamily="49" charset="-122"/>
              </a:rPr>
              <a:t>是强度状态参数</a:t>
            </a:r>
            <a:endParaRPr lang="zh-CN" altLang="en-US" sz="3200" b="1">
              <a:ea typeface="黑体" panose="02010609060101010101" pitchFamily="49" charset="-122"/>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矩形 22539"/>
          <p:cNvSpPr>
            <a:spLocks noChangeArrowheads="1"/>
          </p:cNvSpPr>
          <p:nvPr/>
        </p:nvSpPr>
        <p:spPr bwMode="auto">
          <a:xfrm>
            <a:off x="323850" y="260350"/>
            <a:ext cx="7850188"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400" b="1">
                <a:latin typeface="黑体" panose="02010609060101010101" pitchFamily="49" charset="-122"/>
                <a:ea typeface="黑体" panose="02010609060101010101" pitchFamily="49" charset="-122"/>
              </a:rPr>
              <a:t>三、简单可压缩系统的总能</a:t>
            </a:r>
            <a:endParaRPr lang="zh-CN" altLang="en-US" sz="4400" b="1">
              <a:latin typeface="黑体" panose="02010609060101010101" pitchFamily="49" charset="-122"/>
              <a:ea typeface="黑体" panose="02010609060101010101" pitchFamily="49" charset="-122"/>
            </a:endParaRPr>
          </a:p>
        </p:txBody>
      </p:sp>
      <p:sp>
        <p:nvSpPr>
          <p:cNvPr id="40963" name="矩形 22539"/>
          <p:cNvSpPr>
            <a:spLocks noChangeArrowheads="1"/>
          </p:cNvSpPr>
          <p:nvPr/>
        </p:nvSpPr>
        <p:spPr bwMode="auto">
          <a:xfrm>
            <a:off x="395288" y="1196975"/>
            <a:ext cx="7850187"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b="1">
                <a:latin typeface="Times New Roman" panose="02020603050405020304" pitchFamily="18" charset="0"/>
                <a:ea typeface="黑体" panose="02010609060101010101" pitchFamily="49" charset="-122"/>
              </a:rPr>
              <a:t>简单可压缩系统的</a:t>
            </a:r>
            <a:r>
              <a:rPr lang="zh-CN" altLang="en-US" b="1">
                <a:solidFill>
                  <a:srgbClr val="FF0000"/>
                </a:solidFill>
                <a:latin typeface="Times New Roman" panose="02020603050405020304" pitchFamily="18" charset="0"/>
                <a:ea typeface="黑体" panose="02010609060101010101" pitchFamily="49" charset="-122"/>
              </a:rPr>
              <a:t>总能</a:t>
            </a:r>
            <a:r>
              <a:rPr lang="en-US" altLang="zh-CN" b="1" i="1">
                <a:solidFill>
                  <a:srgbClr val="FF0000"/>
                </a:solidFill>
                <a:latin typeface="Times New Roman" panose="02020603050405020304" pitchFamily="18" charset="0"/>
                <a:ea typeface="黑体" panose="02010609060101010101" pitchFamily="49" charset="-122"/>
              </a:rPr>
              <a:t>E</a:t>
            </a:r>
            <a:r>
              <a:rPr lang="zh-CN" altLang="en-US" b="1">
                <a:latin typeface="Times New Roman" panose="02020603050405020304" pitchFamily="18" charset="0"/>
                <a:ea typeface="黑体" panose="02010609060101010101" pitchFamily="49" charset="-122"/>
              </a:rPr>
              <a:t>为宏观能量和微观能量之和，即</a:t>
            </a:r>
            <a:endParaRPr lang="en-US" altLang="zh-CN" b="1">
              <a:latin typeface="Times New Roman" panose="02020603050405020304" pitchFamily="18" charset="0"/>
              <a:ea typeface="黑体" panose="02010609060101010101" pitchFamily="49" charset="-122"/>
            </a:endParaRPr>
          </a:p>
          <a:p>
            <a:pPr eaLnBrk="1" hangingPunct="1">
              <a:spcBef>
                <a:spcPct val="0"/>
              </a:spcBef>
            </a:pPr>
            <a:endParaRPr lang="en-US" altLang="zh-CN" b="1">
              <a:latin typeface="Times New Roman" panose="02020603050405020304" pitchFamily="18" charset="0"/>
              <a:ea typeface="黑体" panose="02010609060101010101" pitchFamily="49" charset="-122"/>
            </a:endParaRPr>
          </a:p>
          <a:p>
            <a:pPr eaLnBrk="1" hangingPunct="1">
              <a:spcBef>
                <a:spcPct val="0"/>
              </a:spcBef>
            </a:pPr>
            <a:endParaRPr lang="en-US" altLang="zh-CN" b="1">
              <a:latin typeface="Times New Roman" panose="02020603050405020304" pitchFamily="18" charset="0"/>
              <a:ea typeface="黑体" panose="02010609060101010101" pitchFamily="49" charset="-122"/>
            </a:endParaRPr>
          </a:p>
          <a:p>
            <a:pPr eaLnBrk="1" hangingPunct="1">
              <a:spcBef>
                <a:spcPct val="0"/>
              </a:spcBef>
            </a:pPr>
            <a:endParaRPr lang="en-US" altLang="zh-CN" b="1">
              <a:latin typeface="Times New Roman" panose="02020603050405020304" pitchFamily="18" charset="0"/>
              <a:ea typeface="黑体" panose="02010609060101010101" pitchFamily="49" charset="-122"/>
            </a:endParaRPr>
          </a:p>
          <a:p>
            <a:pPr eaLnBrk="1" hangingPunct="1">
              <a:spcBef>
                <a:spcPct val="0"/>
              </a:spcBef>
            </a:pPr>
            <a:r>
              <a:rPr lang="zh-CN" altLang="en-US" b="1">
                <a:latin typeface="Times New Roman" panose="02020603050405020304" pitchFamily="18" charset="0"/>
                <a:ea typeface="黑体" panose="02010609060101010101" pitchFamily="49" charset="-122"/>
              </a:rPr>
              <a:t>单位质量的系统具有的总能称为</a:t>
            </a:r>
            <a:r>
              <a:rPr lang="zh-CN" altLang="en-US" b="1">
                <a:solidFill>
                  <a:srgbClr val="FF0000"/>
                </a:solidFill>
                <a:latin typeface="Times New Roman" panose="02020603050405020304" pitchFamily="18" charset="0"/>
                <a:ea typeface="黑体" panose="02010609060101010101" pitchFamily="49" charset="-122"/>
              </a:rPr>
              <a:t>比总能</a:t>
            </a:r>
            <a:r>
              <a:rPr lang="en-US" altLang="zh-CN" b="1" i="1">
                <a:solidFill>
                  <a:srgbClr val="FF0000"/>
                </a:solidFill>
                <a:latin typeface="Times New Roman" panose="02020603050405020304" pitchFamily="18" charset="0"/>
                <a:ea typeface="黑体" panose="02010609060101010101" pitchFamily="49" charset="-122"/>
              </a:rPr>
              <a:t>e</a:t>
            </a:r>
            <a:r>
              <a:rPr lang="zh-CN" altLang="en-US" b="1">
                <a:latin typeface="Times New Roman" panose="02020603050405020304" pitchFamily="18" charset="0"/>
                <a:ea typeface="黑体" panose="02010609060101010101" pitchFamily="49" charset="-122"/>
              </a:rPr>
              <a:t>，其表达式为</a:t>
            </a:r>
            <a:endParaRPr lang="en-US" altLang="zh-CN" b="1">
              <a:latin typeface="Times New Roman" panose="02020603050405020304" pitchFamily="18" charset="0"/>
              <a:ea typeface="黑体" panose="02010609060101010101" pitchFamily="49" charset="-122"/>
            </a:endParaRPr>
          </a:p>
          <a:p>
            <a:pPr eaLnBrk="1" hangingPunct="1">
              <a:spcBef>
                <a:spcPct val="0"/>
              </a:spcBef>
            </a:pPr>
            <a:endParaRPr lang="en-US" altLang="zh-CN" b="1">
              <a:latin typeface="Times New Roman" panose="02020603050405020304" pitchFamily="18" charset="0"/>
              <a:ea typeface="黑体" panose="02010609060101010101" pitchFamily="49" charset="-122"/>
            </a:endParaRPr>
          </a:p>
          <a:p>
            <a:pPr eaLnBrk="1" hangingPunct="1">
              <a:spcBef>
                <a:spcPct val="0"/>
              </a:spcBef>
            </a:pPr>
            <a:endParaRPr lang="zh-CN" altLang="en-US" b="1">
              <a:latin typeface="Times New Roman" panose="02020603050405020304" pitchFamily="18" charset="0"/>
              <a:ea typeface="黑体" panose="02010609060101010101" pitchFamily="49" charset="-122"/>
            </a:endParaRPr>
          </a:p>
        </p:txBody>
      </p:sp>
      <p:graphicFrame>
        <p:nvGraphicFramePr>
          <p:cNvPr id="40964" name="对象 3"/>
          <p:cNvGraphicFramePr>
            <a:graphicFrameLocks noChangeAspect="1"/>
          </p:cNvGraphicFramePr>
          <p:nvPr/>
        </p:nvGraphicFramePr>
        <p:xfrm>
          <a:off x="2627313" y="2420938"/>
          <a:ext cx="3111500" cy="936625"/>
        </p:xfrm>
        <a:graphic>
          <a:graphicData uri="http://schemas.openxmlformats.org/presentationml/2006/ole">
            <mc:AlternateContent xmlns:mc="http://schemas.openxmlformats.org/markup-compatibility/2006">
              <mc:Choice xmlns:v="urn:schemas-microsoft-com:vml" Requires="v">
                <p:oleObj spid="_x0000_s24580" name="" r:id="rId1" imgW="1307465" imgH="393700" progId="Equation.DSMT4">
                  <p:embed/>
                </p:oleObj>
              </mc:Choice>
              <mc:Fallback>
                <p:oleObj name="" r:id="rId1" imgW="1307465" imgH="393700" progId="Equation.DSMT4">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313" y="2420938"/>
                        <a:ext cx="311150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0965" name="对象 5"/>
          <p:cNvGraphicFramePr>
            <a:graphicFrameLocks noChangeAspect="1"/>
          </p:cNvGraphicFramePr>
          <p:nvPr/>
        </p:nvGraphicFramePr>
        <p:xfrm>
          <a:off x="2843213" y="4724400"/>
          <a:ext cx="2384425" cy="923925"/>
        </p:xfrm>
        <a:graphic>
          <a:graphicData uri="http://schemas.openxmlformats.org/presentationml/2006/ole">
            <mc:AlternateContent xmlns:mc="http://schemas.openxmlformats.org/markup-compatibility/2006">
              <mc:Choice xmlns:v="urn:schemas-microsoft-com:vml" Requires="v">
                <p:oleObj spid="_x0000_s24581" name="" r:id="rId3" imgW="1015365" imgH="393700" progId="Equation.DSMT4">
                  <p:embed/>
                </p:oleObj>
              </mc:Choice>
              <mc:Fallback>
                <p:oleObj name="" r:id="rId3" imgW="1015365" imgH="393700" progId="Equation.DSMT4">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4724400"/>
                        <a:ext cx="23844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矩形 10241"/>
          <p:cNvSpPr>
            <a:spLocks noChangeArrowheads="1"/>
          </p:cNvSpPr>
          <p:nvPr/>
        </p:nvSpPr>
        <p:spPr bwMode="auto">
          <a:xfrm>
            <a:off x="468313" y="1905000"/>
            <a:ext cx="77724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Tx/>
              <a:buChar char="§"/>
            </a:pPr>
            <a:r>
              <a:rPr lang="en-US" altLang="zh-CN" sz="4800" b="1">
                <a:latin typeface="黑体" panose="02010609060101010101" pitchFamily="49" charset="-122"/>
                <a:ea typeface="黑体" panose="02010609060101010101" pitchFamily="49" charset="-122"/>
              </a:rPr>
              <a:t>2</a:t>
            </a:r>
            <a:r>
              <a:rPr lang="zh-CN" altLang="en-US" sz="4800" b="1">
                <a:latin typeface="黑体" panose="02010609060101010101" pitchFamily="49" charset="-122"/>
                <a:ea typeface="黑体" panose="02010609060101010101" pitchFamily="49" charset="-122"/>
              </a:rPr>
              <a:t>－</a:t>
            </a:r>
            <a:r>
              <a:rPr lang="en-US" altLang="zh-CN" sz="4800" b="1">
                <a:latin typeface="黑体" panose="02010609060101010101" pitchFamily="49" charset="-122"/>
                <a:ea typeface="黑体" panose="02010609060101010101" pitchFamily="49" charset="-122"/>
              </a:rPr>
              <a:t>3 </a:t>
            </a:r>
            <a:r>
              <a:rPr lang="zh-CN" altLang="en-US" sz="4800" b="1">
                <a:latin typeface="黑体" panose="02010609060101010101" pitchFamily="49" charset="-122"/>
                <a:ea typeface="黑体" panose="02010609060101010101" pitchFamily="49" charset="-122"/>
              </a:rPr>
              <a:t>通过系统边界传递的能量</a:t>
            </a:r>
            <a:r>
              <a:rPr lang="en-US" altLang="zh-CN" sz="4800" b="1">
                <a:ea typeface="黑体" panose="02010609060101010101" pitchFamily="49" charset="-122"/>
              </a:rPr>
              <a:t>——</a:t>
            </a:r>
            <a:r>
              <a:rPr lang="zh-CN" altLang="en-US" sz="4800" b="1">
                <a:latin typeface="黑体" panose="02010609060101010101" pitchFamily="49" charset="-122"/>
                <a:ea typeface="黑体" panose="02010609060101010101" pitchFamily="49" charset="-122"/>
              </a:rPr>
              <a:t>热量和功量</a:t>
            </a:r>
            <a:endParaRPr lang="zh-CN" altLang="en-US" sz="4800" b="1">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矩形 68611"/>
          <p:cNvSpPr>
            <a:spLocks noChangeArrowheads="1"/>
          </p:cNvSpPr>
          <p:nvPr/>
        </p:nvSpPr>
        <p:spPr bwMode="auto">
          <a:xfrm>
            <a:off x="611188" y="1196975"/>
            <a:ext cx="8064500" cy="143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ea typeface="黑体" panose="02010609060101010101" pitchFamily="49" charset="-122"/>
              </a:rPr>
              <a:t>前面所介绍的能量都是热力系</a:t>
            </a:r>
            <a:r>
              <a:rPr lang="zh-CN" altLang="en-US" sz="4400" b="1">
                <a:solidFill>
                  <a:srgbClr val="0000FF"/>
                </a:solidFill>
                <a:ea typeface="黑体" panose="02010609060101010101" pitchFamily="49" charset="-122"/>
              </a:rPr>
              <a:t>所具有</a:t>
            </a:r>
            <a:r>
              <a:rPr lang="zh-CN" altLang="en-US" sz="4400" b="1">
                <a:ea typeface="黑体" panose="02010609060101010101" pitchFamily="49" charset="-122"/>
              </a:rPr>
              <a:t>的能量</a:t>
            </a:r>
            <a:r>
              <a:rPr lang="zh-CN" altLang="en-US" sz="3600" b="1">
                <a:ea typeface="黑体" panose="02010609060101010101" pitchFamily="49" charset="-122"/>
              </a:rPr>
              <a:t>，称为</a:t>
            </a:r>
            <a:r>
              <a:rPr lang="zh-CN" altLang="en-US" sz="4400" b="1">
                <a:solidFill>
                  <a:srgbClr val="0000FF"/>
                </a:solidFill>
                <a:ea typeface="黑体" panose="02010609060101010101" pitchFamily="49" charset="-122"/>
              </a:rPr>
              <a:t>状态量</a:t>
            </a:r>
            <a:endParaRPr lang="zh-CN" altLang="en-US" sz="4400" b="1">
              <a:solidFill>
                <a:srgbClr val="0000FF"/>
              </a:solidFill>
              <a:ea typeface="黑体" panose="02010609060101010101" pitchFamily="49" charset="-122"/>
            </a:endParaRPr>
          </a:p>
        </p:txBody>
      </p:sp>
      <p:sp>
        <p:nvSpPr>
          <p:cNvPr id="68613" name="矩形 68612"/>
          <p:cNvSpPr>
            <a:spLocks noChangeArrowheads="1"/>
          </p:cNvSpPr>
          <p:nvPr/>
        </p:nvSpPr>
        <p:spPr bwMode="auto">
          <a:xfrm>
            <a:off x="755650" y="2997200"/>
            <a:ext cx="7561263"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ea typeface="黑体" panose="02010609060101010101" pitchFamily="49" charset="-122"/>
              </a:rPr>
              <a:t>还有一些能量，虽然也有焦耳的量纲，但它们是热力系</a:t>
            </a:r>
            <a:r>
              <a:rPr lang="zh-CN" altLang="en-US" sz="4400" b="1">
                <a:solidFill>
                  <a:srgbClr val="FF0000"/>
                </a:solidFill>
                <a:ea typeface="黑体" panose="02010609060101010101" pitchFamily="49" charset="-122"/>
              </a:rPr>
              <a:t>与外界进行相互作用时</a:t>
            </a:r>
            <a:r>
              <a:rPr lang="zh-CN" altLang="en-US" sz="3600" b="1">
                <a:ea typeface="黑体" panose="02010609060101010101" pitchFamily="49" charset="-122"/>
              </a:rPr>
              <a:t>，通过热力系</a:t>
            </a:r>
            <a:r>
              <a:rPr lang="zh-CN" altLang="en-US" sz="4400" b="1">
                <a:solidFill>
                  <a:srgbClr val="FF0000"/>
                </a:solidFill>
                <a:ea typeface="黑体" panose="02010609060101010101" pitchFamily="49" charset="-122"/>
              </a:rPr>
              <a:t>边界</a:t>
            </a:r>
            <a:r>
              <a:rPr lang="zh-CN" altLang="en-US" sz="3600" b="1">
                <a:ea typeface="黑体" panose="02010609060101010101" pitchFamily="49" charset="-122"/>
              </a:rPr>
              <a:t>与外界交换的能量，称为</a:t>
            </a:r>
            <a:r>
              <a:rPr lang="zh-CN" altLang="en-US" sz="4400" b="1">
                <a:solidFill>
                  <a:srgbClr val="FF0000"/>
                </a:solidFill>
                <a:ea typeface="黑体" panose="02010609060101010101" pitchFamily="49" charset="-122"/>
              </a:rPr>
              <a:t>过程量</a:t>
            </a:r>
            <a:endParaRPr lang="zh-CN" altLang="en-US" sz="4400" b="1">
              <a:solidFill>
                <a:srgbClr val="FF0000"/>
              </a:solidFill>
              <a:ea typeface="黑体" panose="02010609060101010101" pitchFamily="49" charset="-122"/>
            </a:endParaRPr>
          </a:p>
        </p:txBody>
      </p:sp>
      <p:sp>
        <p:nvSpPr>
          <p:cNvPr id="43012" name="矩形 68613"/>
          <p:cNvSpPr>
            <a:spLocks noChangeArrowheads="1"/>
          </p:cNvSpPr>
          <p:nvPr/>
        </p:nvSpPr>
        <p:spPr bwMode="auto">
          <a:xfrm>
            <a:off x="395288" y="188913"/>
            <a:ext cx="6985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400" b="1">
                <a:latin typeface="黑体" panose="02010609060101010101" pitchFamily="49" charset="-122"/>
                <a:ea typeface="黑体" panose="02010609060101010101" pitchFamily="49" charset="-122"/>
              </a:rPr>
              <a:t>一、过程量及其性质</a:t>
            </a:r>
            <a:endParaRPr lang="zh-CN" altLang="en-US" sz="4400" b="1">
              <a:latin typeface="黑体" panose="02010609060101010101" pitchFamily="49" charset="-122"/>
              <a:ea typeface="黑体" panose="02010609060101010101" pitchFamily="49" charset="-122"/>
            </a:endParaRP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8612"/>
                                        </p:tgtEl>
                                        <p:attrNameLst>
                                          <p:attrName>style.visibility</p:attrName>
                                        </p:attrNameLst>
                                      </p:cBhvr>
                                      <p:to>
                                        <p:strVal val="visible"/>
                                      </p:to>
                                    </p:set>
                                    <p:animEffect transition="in" filter="blinds(horizontal)">
                                      <p:cBhvr>
                                        <p:cTn id="7" dur="500"/>
                                        <p:tgtEl>
                                          <p:spTgt spid="686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8613"/>
                                        </p:tgtEl>
                                        <p:attrNameLst>
                                          <p:attrName>style.visibility</p:attrName>
                                        </p:attrNameLst>
                                      </p:cBhvr>
                                      <p:to>
                                        <p:strVal val="visible"/>
                                      </p:to>
                                    </p:set>
                                    <p:animEffect transition="in" filter="blinds(horizontal)">
                                      <p:cBhvr>
                                        <p:cTn id="12" dur="500"/>
                                        <p:tgtEl>
                                          <p:spTgt spid="686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p:bldP spid="686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矩形 27653"/>
          <p:cNvSpPr>
            <a:spLocks noChangeArrowheads="1"/>
          </p:cNvSpPr>
          <p:nvPr/>
        </p:nvSpPr>
        <p:spPr bwMode="auto">
          <a:xfrm>
            <a:off x="0" y="2882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35" name="矩形 27663"/>
          <p:cNvSpPr>
            <a:spLocks noChangeArrowheads="1"/>
          </p:cNvSpPr>
          <p:nvPr/>
        </p:nvSpPr>
        <p:spPr bwMode="auto">
          <a:xfrm>
            <a:off x="755650" y="196850"/>
            <a:ext cx="92170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400" b="1">
                <a:ea typeface="黑体" panose="02010609060101010101" pitchFamily="49" charset="-122"/>
              </a:rPr>
              <a:t>过程量形式的能量都有哪些？</a:t>
            </a:r>
            <a:endParaRPr lang="zh-CN" altLang="en-US" sz="4400" b="1">
              <a:ea typeface="黑体" panose="02010609060101010101" pitchFamily="49" charset="-122"/>
            </a:endParaRPr>
          </a:p>
        </p:txBody>
      </p:sp>
      <p:sp>
        <p:nvSpPr>
          <p:cNvPr id="44036" name="矩形 27657"/>
          <p:cNvSpPr>
            <a:spLocks noChangeArrowheads="1"/>
          </p:cNvSpPr>
          <p:nvPr/>
        </p:nvSpPr>
        <p:spPr bwMode="auto">
          <a:xfrm>
            <a:off x="827088" y="4652963"/>
            <a:ext cx="26654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FF00FF"/>
                </a:solidFill>
                <a:ea typeface="黑体" panose="02010609060101010101" pitchFamily="49" charset="-122"/>
              </a:rPr>
              <a:t>闭口系</a:t>
            </a:r>
            <a:endParaRPr lang="zh-CN" altLang="en-US" sz="2400" b="1">
              <a:solidFill>
                <a:srgbClr val="FF00FF"/>
              </a:solidFill>
              <a:ea typeface="黑体" panose="02010609060101010101" pitchFamily="49" charset="-122"/>
            </a:endParaRPr>
          </a:p>
          <a:p>
            <a:pPr eaLnBrk="1" hangingPunct="1"/>
            <a:r>
              <a:rPr lang="en-US" altLang="zh-CN" sz="2400" b="1" i="1">
                <a:latin typeface="Times New Roman" panose="02020603050405020304" pitchFamily="18" charset="0"/>
                <a:ea typeface="黑体" panose="02010609060101010101" pitchFamily="49" charset="-122"/>
              </a:rPr>
              <a:t>Q</a:t>
            </a:r>
            <a:r>
              <a:rPr lang="zh-CN" altLang="en-US" sz="2400" b="1">
                <a:ea typeface="黑体" panose="02010609060101010101" pitchFamily="49" charset="-122"/>
              </a:rPr>
              <a:t>：温差引起</a:t>
            </a:r>
            <a:endParaRPr lang="zh-CN" altLang="en-US" sz="2400" b="1">
              <a:ea typeface="黑体" panose="02010609060101010101" pitchFamily="49" charset="-122"/>
            </a:endParaRPr>
          </a:p>
          <a:p>
            <a:pPr eaLnBrk="1" hangingPunct="1"/>
            <a:r>
              <a:rPr lang="en-US" altLang="zh-CN" sz="2400" b="1" i="1">
                <a:latin typeface="Times New Roman" panose="02020603050405020304" pitchFamily="18" charset="0"/>
                <a:ea typeface="黑体" panose="02010609060101010101" pitchFamily="49" charset="-122"/>
              </a:rPr>
              <a:t>W</a:t>
            </a:r>
            <a:r>
              <a:rPr lang="zh-CN" altLang="en-US" sz="2400" b="1">
                <a:ea typeface="黑体" panose="02010609060101010101" pitchFamily="49" charset="-122"/>
              </a:rPr>
              <a:t>：压力差引起</a:t>
            </a:r>
            <a:endParaRPr lang="zh-CN" altLang="en-US" sz="2400" b="1">
              <a:ea typeface="黑体" panose="02010609060101010101" pitchFamily="49" charset="-122"/>
            </a:endParaRPr>
          </a:p>
        </p:txBody>
      </p:sp>
      <p:sp>
        <p:nvSpPr>
          <p:cNvPr id="44037" name="矩形 27664"/>
          <p:cNvSpPr>
            <a:spLocks noChangeArrowheads="1"/>
          </p:cNvSpPr>
          <p:nvPr/>
        </p:nvSpPr>
        <p:spPr bwMode="auto">
          <a:xfrm>
            <a:off x="252413" y="2276475"/>
            <a:ext cx="3600450" cy="3960813"/>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38" name="矩形 27660"/>
          <p:cNvSpPr>
            <a:spLocks noChangeArrowheads="1"/>
          </p:cNvSpPr>
          <p:nvPr/>
        </p:nvSpPr>
        <p:spPr bwMode="auto">
          <a:xfrm>
            <a:off x="4787900" y="4579938"/>
            <a:ext cx="3744913"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FF00FF"/>
                </a:solidFill>
                <a:ea typeface="黑体" panose="02010609060101010101" pitchFamily="49" charset="-122"/>
              </a:rPr>
              <a:t>开口系</a:t>
            </a:r>
            <a:endParaRPr lang="zh-CN" altLang="en-US" sz="2400" b="1">
              <a:solidFill>
                <a:srgbClr val="FF00FF"/>
              </a:solidFill>
              <a:ea typeface="黑体" panose="02010609060101010101" pitchFamily="49" charset="-122"/>
            </a:endParaRPr>
          </a:p>
          <a:p>
            <a:pPr eaLnBrk="1" hangingPunct="1"/>
            <a:r>
              <a:rPr lang="en-US" altLang="zh-CN" sz="2400" b="1" i="1">
                <a:latin typeface="Times New Roman" panose="02020603050405020304" pitchFamily="18" charset="0"/>
                <a:ea typeface="黑体" panose="02010609060101010101" pitchFamily="49" charset="-122"/>
              </a:rPr>
              <a:t>Q</a:t>
            </a:r>
            <a:r>
              <a:rPr lang="zh-CN" altLang="en-US" sz="2400" b="1">
                <a:ea typeface="黑体" panose="02010609060101010101" pitchFamily="49" charset="-122"/>
              </a:rPr>
              <a:t>：温差引起</a:t>
            </a:r>
            <a:endParaRPr lang="zh-CN" altLang="en-US" sz="2400" b="1">
              <a:ea typeface="黑体" panose="02010609060101010101" pitchFamily="49" charset="-122"/>
            </a:endParaRPr>
          </a:p>
          <a:p>
            <a:pPr eaLnBrk="1" hangingPunct="1"/>
            <a:r>
              <a:rPr lang="en-US" altLang="zh-CN" sz="2400" b="1" i="1">
                <a:latin typeface="Times New Roman" panose="02020603050405020304" pitchFamily="18" charset="0"/>
                <a:ea typeface="黑体" panose="02010609060101010101" pitchFamily="49" charset="-122"/>
              </a:rPr>
              <a:t>W</a:t>
            </a:r>
            <a:r>
              <a:rPr lang="zh-CN" altLang="en-US" sz="2400" b="1">
                <a:ea typeface="黑体" panose="02010609060101010101" pitchFamily="49" charset="-122"/>
              </a:rPr>
              <a:t>：压力差引起</a:t>
            </a:r>
            <a:endParaRPr lang="zh-CN" altLang="en-US" sz="2400" b="1">
              <a:ea typeface="黑体" panose="02010609060101010101" pitchFamily="49" charset="-122"/>
            </a:endParaRPr>
          </a:p>
          <a:p>
            <a:pPr eaLnBrk="1" hangingPunct="1"/>
            <a:r>
              <a:rPr lang="zh-CN" altLang="en-US" sz="2400" b="1">
                <a:ea typeface="黑体" panose="02010609060101010101" pitchFamily="49" charset="-122"/>
              </a:rPr>
              <a:t>质量的流入和流出引起</a:t>
            </a:r>
            <a:endParaRPr lang="zh-CN" altLang="en-US" sz="2400" b="1">
              <a:ea typeface="黑体" panose="02010609060101010101" pitchFamily="49" charset="-122"/>
            </a:endParaRPr>
          </a:p>
        </p:txBody>
      </p:sp>
      <p:sp>
        <p:nvSpPr>
          <p:cNvPr id="44039" name="矩形 27665"/>
          <p:cNvSpPr>
            <a:spLocks noChangeArrowheads="1"/>
          </p:cNvSpPr>
          <p:nvPr/>
        </p:nvSpPr>
        <p:spPr bwMode="auto">
          <a:xfrm>
            <a:off x="4067175" y="2276475"/>
            <a:ext cx="4897438" cy="3960813"/>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40" name="矩形 27663"/>
          <p:cNvSpPr>
            <a:spLocks noChangeArrowheads="1"/>
          </p:cNvSpPr>
          <p:nvPr/>
        </p:nvSpPr>
        <p:spPr bwMode="auto">
          <a:xfrm>
            <a:off x="320675" y="1100138"/>
            <a:ext cx="8632825"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ea typeface="黑体" panose="02010609060101010101" pitchFamily="49" charset="-122"/>
              </a:rPr>
              <a:t>1</a:t>
            </a:r>
            <a:r>
              <a:rPr lang="zh-CN" altLang="en-US" sz="3200" b="1">
                <a:ea typeface="黑体" panose="02010609060101010101" pitchFamily="49" charset="-122"/>
              </a:rPr>
              <a:t>、热量；</a:t>
            </a:r>
            <a:r>
              <a:rPr lang="en-US" altLang="zh-CN" sz="3200" b="1">
                <a:ea typeface="黑体" panose="02010609060101010101" pitchFamily="49" charset="-122"/>
              </a:rPr>
              <a:t>2</a:t>
            </a:r>
            <a:r>
              <a:rPr lang="zh-CN" altLang="en-US" sz="3200" b="1">
                <a:ea typeface="黑体" panose="02010609060101010101" pitchFamily="49" charset="-122"/>
              </a:rPr>
              <a:t>、功量；</a:t>
            </a:r>
            <a:r>
              <a:rPr lang="en-US" altLang="zh-CN" sz="3200" b="1">
                <a:ea typeface="黑体" panose="02010609060101010101" pitchFamily="49" charset="-122"/>
              </a:rPr>
              <a:t>3</a:t>
            </a:r>
            <a:r>
              <a:rPr lang="zh-CN" altLang="en-US" sz="3200" b="1">
                <a:ea typeface="黑体" panose="02010609060101010101" pitchFamily="49" charset="-122"/>
              </a:rPr>
              <a:t>、伴随质量所迁移的能量</a:t>
            </a:r>
            <a:endParaRPr lang="zh-CN" altLang="en-US" sz="3200" b="1">
              <a:ea typeface="黑体" panose="02010609060101010101" pitchFamily="49" charset="-122"/>
            </a:endParaRPr>
          </a:p>
        </p:txBody>
      </p:sp>
      <p:pic>
        <p:nvPicPr>
          <p:cNvPr id="44041"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9875" y="2468563"/>
            <a:ext cx="3743325" cy="195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2"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1600" y="2438400"/>
            <a:ext cx="5041900" cy="212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3"/>
    </p:custData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矩形 28677"/>
          <p:cNvSpPr>
            <a:spLocks noChangeArrowheads="1"/>
          </p:cNvSpPr>
          <p:nvPr/>
        </p:nvSpPr>
        <p:spPr bwMode="auto">
          <a:xfrm>
            <a:off x="611188" y="333375"/>
            <a:ext cx="8135937"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latin typeface="黑体" panose="02010609060101010101" pitchFamily="49" charset="-122"/>
                <a:ea typeface="黑体" panose="02010609060101010101" pitchFamily="49" charset="-122"/>
              </a:rPr>
              <a:t>说</a:t>
            </a:r>
            <a:r>
              <a:rPr lang="zh-CN" altLang="en-US" sz="3600" b="1">
                <a:solidFill>
                  <a:srgbClr val="FF0000"/>
                </a:solidFill>
                <a:latin typeface="黑体" panose="02010609060101010101" pitchFamily="49" charset="-122"/>
                <a:ea typeface="黑体" panose="02010609060101010101" pitchFamily="49" charset="-122"/>
              </a:rPr>
              <a:t>某状态下系统具有多少热量或功量</a:t>
            </a:r>
            <a:r>
              <a:rPr lang="zh-CN" altLang="en-US" sz="3600" b="1">
                <a:latin typeface="黑体" panose="02010609060101010101" pitchFamily="49" charset="-122"/>
                <a:ea typeface="黑体" panose="02010609060101010101" pitchFamily="49" charset="-122"/>
              </a:rPr>
              <a:t>是毫无意义的 </a:t>
            </a:r>
            <a:endParaRPr lang="zh-CN" altLang="en-US" sz="3600" b="1">
              <a:latin typeface="黑体" panose="02010609060101010101" pitchFamily="49" charset="-122"/>
              <a:ea typeface="黑体" panose="02010609060101010101" pitchFamily="49" charset="-122"/>
            </a:endParaRPr>
          </a:p>
        </p:txBody>
      </p:sp>
      <p:sp>
        <p:nvSpPr>
          <p:cNvPr id="45059" name="矩形 28681"/>
          <p:cNvSpPr>
            <a:spLocks noChangeArrowheads="1"/>
          </p:cNvSpPr>
          <p:nvPr/>
        </p:nvSpPr>
        <p:spPr bwMode="auto">
          <a:xfrm>
            <a:off x="0" y="3262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5060" name="对象 28680"/>
          <p:cNvGraphicFramePr/>
          <p:nvPr/>
        </p:nvGraphicFramePr>
        <p:xfrm>
          <a:off x="4235450" y="3887788"/>
          <a:ext cx="3744913" cy="835025"/>
        </p:xfrm>
        <a:graphic>
          <a:graphicData uri="http://schemas.openxmlformats.org/presentationml/2006/ole">
            <mc:AlternateContent xmlns:mc="http://schemas.openxmlformats.org/markup-compatibility/2006">
              <mc:Choice xmlns:v="urn:schemas-microsoft-com:vml" Requires="v">
                <p:oleObj spid="_x0000_s25605" name="" r:id="rId1" imgW="1497965" imgH="330200" progId="Equation.DSMT4">
                  <p:embed/>
                </p:oleObj>
              </mc:Choice>
              <mc:Fallback>
                <p:oleObj name="" r:id="rId1" imgW="1497965" imgH="330200" progId="Equation.DSMT4">
                  <p:embed/>
                  <p:pic>
                    <p:nvPicPr>
                      <p:cNvPr id="0" name="对象 2868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5450" y="3887788"/>
                        <a:ext cx="3744913"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61" name="矩形 28683"/>
          <p:cNvSpPr>
            <a:spLocks noChangeArrowheads="1"/>
          </p:cNvSpPr>
          <p:nvPr/>
        </p:nvSpPr>
        <p:spPr bwMode="auto">
          <a:xfrm>
            <a:off x="4327525" y="5805488"/>
            <a:ext cx="170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solidFill>
                  <a:srgbClr val="0000FF"/>
                </a:solidFill>
                <a:ea typeface="黑体" panose="02010609060101010101" pitchFamily="49" charset="-122"/>
              </a:rPr>
              <a:t>不能表示为</a:t>
            </a:r>
            <a:endParaRPr lang="en-US" altLang="zh-CN" sz="2400">
              <a:solidFill>
                <a:srgbClr val="0000FF"/>
              </a:solidFill>
              <a:ea typeface="黑体" panose="02010609060101010101" pitchFamily="49" charset="-122"/>
            </a:endParaRPr>
          </a:p>
        </p:txBody>
      </p:sp>
      <p:sp>
        <p:nvSpPr>
          <p:cNvPr id="45062" name="矩形 28685"/>
          <p:cNvSpPr>
            <a:spLocks noChangeArrowheads="1"/>
          </p:cNvSpPr>
          <p:nvPr/>
        </p:nvSpPr>
        <p:spPr bwMode="auto">
          <a:xfrm>
            <a:off x="0" y="3262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5063" name="对象 28684"/>
          <p:cNvGraphicFramePr/>
          <p:nvPr/>
        </p:nvGraphicFramePr>
        <p:xfrm>
          <a:off x="4787900" y="4897438"/>
          <a:ext cx="2016125" cy="841375"/>
        </p:xfrm>
        <a:graphic>
          <a:graphicData uri="http://schemas.openxmlformats.org/presentationml/2006/ole">
            <mc:AlternateContent xmlns:mc="http://schemas.openxmlformats.org/markup-compatibility/2006">
              <mc:Choice xmlns:v="urn:schemas-microsoft-com:vml" Requires="v">
                <p:oleObj spid="_x0000_s25606" name="" r:id="rId3" imgW="799465" imgH="330200" progId="Equation.DSMT4">
                  <p:embed/>
                </p:oleObj>
              </mc:Choice>
              <mc:Fallback>
                <p:oleObj name="" r:id="rId3" imgW="799465" imgH="330200" progId="Equation.DSMT4">
                  <p:embed/>
                  <p:pic>
                    <p:nvPicPr>
                      <p:cNvPr id="0" name="对象 2868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7900" y="4897438"/>
                        <a:ext cx="2016125"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5064" name="对象 28686"/>
          <p:cNvGraphicFramePr/>
          <p:nvPr/>
        </p:nvGraphicFramePr>
        <p:xfrm>
          <a:off x="6108700" y="5880100"/>
          <a:ext cx="827088" cy="388938"/>
        </p:xfrm>
        <a:graphic>
          <a:graphicData uri="http://schemas.openxmlformats.org/presentationml/2006/ole">
            <mc:AlternateContent xmlns:mc="http://schemas.openxmlformats.org/markup-compatibility/2006">
              <mc:Choice xmlns:v="urn:schemas-microsoft-com:vml" Requires="v">
                <p:oleObj spid="_x0000_s25607" name="" r:id="rId5" imgW="482600" imgH="228600" progId="Equation.DSMT4">
                  <p:embed/>
                </p:oleObj>
              </mc:Choice>
              <mc:Fallback>
                <p:oleObj name="" r:id="rId5" imgW="482600" imgH="228600" progId="Equation.DSMT4">
                  <p:embed/>
                  <p:pic>
                    <p:nvPicPr>
                      <p:cNvPr id="0" name="对象 2868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08700" y="5880100"/>
                        <a:ext cx="827088"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65" name="矩形 3"/>
          <p:cNvSpPr>
            <a:spLocks noChangeArrowheads="1"/>
          </p:cNvSpPr>
          <p:nvPr/>
        </p:nvSpPr>
        <p:spPr bwMode="auto">
          <a:xfrm>
            <a:off x="755650" y="4013200"/>
            <a:ext cx="34496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3200" b="1">
                <a:solidFill>
                  <a:srgbClr val="000000"/>
                </a:solidFill>
                <a:latin typeface="黑体" panose="02010609060101010101" pitchFamily="49" charset="-122"/>
                <a:ea typeface="黑体" panose="02010609060101010101" pitchFamily="49" charset="-122"/>
              </a:rPr>
              <a:t>状态量具有全微分</a:t>
            </a:r>
            <a:endParaRPr lang="zh-CN" altLang="en-US">
              <a:latin typeface="黑体" panose="02010609060101010101" pitchFamily="49" charset="-122"/>
              <a:ea typeface="黑体" panose="02010609060101010101" pitchFamily="49" charset="-122"/>
            </a:endParaRPr>
          </a:p>
        </p:txBody>
      </p:sp>
      <p:sp>
        <p:nvSpPr>
          <p:cNvPr id="45066" name="矩形 16"/>
          <p:cNvSpPr>
            <a:spLocks noChangeArrowheads="1"/>
          </p:cNvSpPr>
          <p:nvPr/>
        </p:nvSpPr>
        <p:spPr bwMode="auto">
          <a:xfrm>
            <a:off x="755650" y="5084763"/>
            <a:ext cx="3857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3200" b="1">
                <a:solidFill>
                  <a:srgbClr val="000000"/>
                </a:solidFill>
                <a:latin typeface="黑体" panose="02010609060101010101" pitchFamily="49" charset="-122"/>
                <a:ea typeface="黑体" panose="02010609060101010101" pitchFamily="49" charset="-122"/>
              </a:rPr>
              <a:t>过程量不具有全微分</a:t>
            </a:r>
            <a:endParaRPr lang="zh-CN" altLang="en-US"/>
          </a:p>
        </p:txBody>
      </p:sp>
      <p:sp>
        <p:nvSpPr>
          <p:cNvPr id="45067" name="矩形 28678"/>
          <p:cNvSpPr>
            <a:spLocks noChangeArrowheads="1"/>
          </p:cNvSpPr>
          <p:nvPr/>
        </p:nvSpPr>
        <p:spPr bwMode="auto">
          <a:xfrm>
            <a:off x="1116013" y="1766888"/>
            <a:ext cx="7089775"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Times New Roman" panose="02020603050405020304" pitchFamily="18" charset="0"/>
                <a:ea typeface="黑体" panose="02010609060101010101" pitchFamily="49" charset="-122"/>
              </a:rPr>
              <a:t>在微元过程中传递的微小过程量用“</a:t>
            </a:r>
            <a:r>
              <a:rPr lang="en-US" altLang="zh-CN" sz="3200" b="1">
                <a:solidFill>
                  <a:srgbClr val="FF0000"/>
                </a:solidFill>
                <a:latin typeface="Times New Roman" panose="02020603050405020304" pitchFamily="18" charset="0"/>
                <a:ea typeface="黑体" panose="02010609060101010101" pitchFamily="49" charset="-122"/>
              </a:rPr>
              <a:t>δ</a:t>
            </a:r>
            <a:r>
              <a:rPr lang="en-US" altLang="zh-CN" sz="3200" b="1">
                <a:latin typeface="Times New Roman" panose="02020603050405020304" pitchFamily="18" charset="0"/>
                <a:ea typeface="黑体" panose="02010609060101010101" pitchFamily="49" charset="-122"/>
              </a:rPr>
              <a:t>”</a:t>
            </a:r>
            <a:r>
              <a:rPr lang="zh-CN" altLang="en-US" sz="3200" b="1">
                <a:latin typeface="Times New Roman" panose="02020603050405020304" pitchFamily="18" charset="0"/>
                <a:ea typeface="黑体" panose="02010609060101010101" pitchFamily="49" charset="-122"/>
              </a:rPr>
              <a:t>表示，以区别于相应过程中任意状态量的变化量“</a:t>
            </a:r>
            <a:r>
              <a:rPr lang="en-US" altLang="zh-CN" sz="3200" b="1">
                <a:solidFill>
                  <a:srgbClr val="FF0000"/>
                </a:solidFill>
                <a:latin typeface="Times New Roman" panose="02020603050405020304" pitchFamily="18" charset="0"/>
                <a:ea typeface="黑体" panose="02010609060101010101" pitchFamily="49" charset="-122"/>
              </a:rPr>
              <a:t>d</a:t>
            </a:r>
            <a:r>
              <a:rPr lang="en-US" altLang="zh-CN" sz="3200" b="1">
                <a:latin typeface="Times New Roman" panose="02020603050405020304" pitchFamily="18" charset="0"/>
                <a:ea typeface="黑体" panose="02010609060101010101" pitchFamily="49" charset="-122"/>
              </a:rPr>
              <a:t>” </a:t>
            </a:r>
            <a:endParaRPr lang="en-US" altLang="zh-CN" sz="3200" b="1">
              <a:latin typeface="Times New Roman" panose="02020603050405020304" pitchFamily="18" charset="0"/>
              <a:ea typeface="黑体" panose="02010609060101010101" pitchFamily="49" charset="-122"/>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矩形 29699"/>
          <p:cNvSpPr>
            <a:spLocks noChangeArrowheads="1"/>
          </p:cNvSpPr>
          <p:nvPr/>
        </p:nvSpPr>
        <p:spPr bwMode="auto">
          <a:xfrm>
            <a:off x="395288" y="188913"/>
            <a:ext cx="6985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000" b="1">
                <a:latin typeface="黑体" panose="02010609060101010101" pitchFamily="49" charset="-122"/>
                <a:ea typeface="黑体" panose="02010609060101010101" pitchFamily="49" charset="-122"/>
              </a:rPr>
              <a:t>二、热量</a:t>
            </a:r>
            <a:endParaRPr lang="zh-CN" altLang="en-US" sz="4000" b="1">
              <a:latin typeface="黑体" panose="02010609060101010101" pitchFamily="49" charset="-122"/>
              <a:ea typeface="黑体" panose="02010609060101010101" pitchFamily="49" charset="-122"/>
            </a:endParaRPr>
          </a:p>
        </p:txBody>
      </p:sp>
      <p:sp>
        <p:nvSpPr>
          <p:cNvPr id="46083" name="矩形 29700"/>
          <p:cNvSpPr>
            <a:spLocks noChangeArrowheads="1"/>
          </p:cNvSpPr>
          <p:nvPr/>
        </p:nvSpPr>
        <p:spPr bwMode="auto">
          <a:xfrm>
            <a:off x="755650" y="1052513"/>
            <a:ext cx="7704138"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ea typeface="黑体" panose="02010609060101010101" pitchFamily="49" charset="-122"/>
              </a:rPr>
              <a:t>热力系与外界之间依靠温差传递的能量称为</a:t>
            </a:r>
            <a:r>
              <a:rPr lang="zh-CN" altLang="en-US" sz="3600" b="1">
                <a:solidFill>
                  <a:srgbClr val="FF0000"/>
                </a:solidFill>
                <a:ea typeface="黑体" panose="02010609060101010101" pitchFamily="49" charset="-122"/>
              </a:rPr>
              <a:t>热量</a:t>
            </a:r>
            <a:r>
              <a:rPr lang="zh-CN" altLang="en-US" sz="3600" b="1">
                <a:ea typeface="黑体" panose="02010609060101010101" pitchFamily="49" charset="-122"/>
              </a:rPr>
              <a:t>，</a:t>
            </a:r>
            <a:r>
              <a:rPr lang="zh-CN" altLang="en-US" sz="3600" b="1">
                <a:solidFill>
                  <a:srgbClr val="0000FF"/>
                </a:solidFill>
                <a:latin typeface="黑体" panose="02010609060101010101" pitchFamily="49" charset="-122"/>
                <a:ea typeface="黑体" panose="02010609060101010101" pitchFamily="49" charset="-122"/>
              </a:rPr>
              <a:t>符号</a:t>
            </a:r>
            <a:r>
              <a:rPr lang="en-US" altLang="zh-CN" sz="3600" b="1" i="1">
                <a:solidFill>
                  <a:srgbClr val="0000FF"/>
                </a:solidFill>
                <a:latin typeface="Times New Roman" panose="02020603050405020304" pitchFamily="18" charset="0"/>
                <a:ea typeface="黑体" panose="02010609060101010101" pitchFamily="49" charset="-122"/>
              </a:rPr>
              <a:t>Q</a:t>
            </a:r>
            <a:r>
              <a:rPr lang="zh-CN" altLang="en-US" sz="3600" b="1">
                <a:solidFill>
                  <a:srgbClr val="0000FF"/>
                </a:solidFill>
                <a:latin typeface="黑体" panose="02010609060101010101" pitchFamily="49" charset="-122"/>
                <a:ea typeface="黑体" panose="02010609060101010101" pitchFamily="49" charset="-122"/>
              </a:rPr>
              <a:t>（单位</a:t>
            </a:r>
            <a:r>
              <a:rPr lang="en-US" altLang="zh-CN" sz="3600" b="1">
                <a:solidFill>
                  <a:srgbClr val="0000FF"/>
                </a:solidFill>
                <a:latin typeface="Times New Roman" panose="02020603050405020304" pitchFamily="18" charset="0"/>
                <a:ea typeface="黑体" panose="02010609060101010101" pitchFamily="49" charset="-122"/>
              </a:rPr>
              <a:t>J</a:t>
            </a:r>
            <a:r>
              <a:rPr lang="zh-CN" altLang="en-US" sz="3600" b="1">
                <a:solidFill>
                  <a:srgbClr val="0000FF"/>
                </a:solidFill>
                <a:latin typeface="Times New Roman" panose="02020603050405020304" pitchFamily="18" charset="0"/>
                <a:ea typeface="黑体" panose="02010609060101010101" pitchFamily="49" charset="-122"/>
              </a:rPr>
              <a:t>或</a:t>
            </a:r>
            <a:r>
              <a:rPr lang="en-US" altLang="zh-CN" sz="3600" b="1">
                <a:solidFill>
                  <a:srgbClr val="0000FF"/>
                </a:solidFill>
                <a:latin typeface="Times New Roman" panose="02020603050405020304" pitchFamily="18" charset="0"/>
                <a:ea typeface="黑体" panose="02010609060101010101" pitchFamily="49" charset="-122"/>
              </a:rPr>
              <a:t>kJ</a:t>
            </a:r>
            <a:r>
              <a:rPr lang="zh-CN" altLang="en-US" sz="3600" b="1">
                <a:solidFill>
                  <a:srgbClr val="0000FF"/>
                </a:solidFill>
                <a:latin typeface="黑体" panose="02010609060101010101" pitchFamily="49" charset="-122"/>
                <a:ea typeface="黑体" panose="02010609060101010101" pitchFamily="49" charset="-122"/>
              </a:rPr>
              <a:t>）</a:t>
            </a:r>
            <a:endParaRPr lang="zh-CN" altLang="en-US" sz="3600" b="1">
              <a:solidFill>
                <a:srgbClr val="0000FF"/>
              </a:solidFill>
              <a:latin typeface="黑体" panose="02010609060101010101" pitchFamily="49" charset="-122"/>
              <a:ea typeface="黑体" panose="02010609060101010101" pitchFamily="49" charset="-122"/>
            </a:endParaRPr>
          </a:p>
          <a:p>
            <a:pPr eaLnBrk="1" hangingPunct="1"/>
            <a:r>
              <a:rPr lang="zh-CN" altLang="en-US"/>
              <a:t> </a:t>
            </a:r>
            <a:endParaRPr lang="zh-CN" altLang="en-US"/>
          </a:p>
        </p:txBody>
      </p:sp>
      <p:sp>
        <p:nvSpPr>
          <p:cNvPr id="46084" name="矩形 29704"/>
          <p:cNvSpPr>
            <a:spLocks noChangeArrowheads="1"/>
          </p:cNvSpPr>
          <p:nvPr/>
        </p:nvSpPr>
        <p:spPr bwMode="auto">
          <a:xfrm>
            <a:off x="755650" y="2420938"/>
            <a:ext cx="76327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latin typeface="黑体" panose="02010609060101010101" pitchFamily="49" charset="-122"/>
                <a:ea typeface="黑体" panose="02010609060101010101" pitchFamily="49" charset="-122"/>
              </a:rPr>
              <a:t>单位质量的系统与外界交换的热量为</a:t>
            </a:r>
            <a:r>
              <a:rPr lang="zh-CN" altLang="en-US" sz="3600" b="1">
                <a:solidFill>
                  <a:srgbClr val="FF0000"/>
                </a:solidFill>
                <a:latin typeface="黑体" panose="02010609060101010101" pitchFamily="49" charset="-122"/>
                <a:ea typeface="黑体" panose="02010609060101010101" pitchFamily="49" charset="-122"/>
              </a:rPr>
              <a:t>比热量</a:t>
            </a:r>
            <a:r>
              <a:rPr lang="zh-CN" altLang="en-US" sz="3600" b="1">
                <a:latin typeface="黑体" panose="02010609060101010101" pitchFamily="49" charset="-122"/>
                <a:ea typeface="黑体" panose="02010609060101010101" pitchFamily="49" charset="-122"/>
              </a:rPr>
              <a:t>，</a:t>
            </a:r>
            <a:r>
              <a:rPr lang="zh-CN" altLang="en-US" sz="3600" b="1">
                <a:solidFill>
                  <a:srgbClr val="0000FF"/>
                </a:solidFill>
                <a:latin typeface="黑体" panose="02010609060101010101" pitchFamily="49" charset="-122"/>
                <a:ea typeface="黑体" panose="02010609060101010101" pitchFamily="49" charset="-122"/>
              </a:rPr>
              <a:t>符号</a:t>
            </a:r>
            <a:r>
              <a:rPr lang="en-US" altLang="zh-CN" sz="3600" b="1" i="1">
                <a:solidFill>
                  <a:srgbClr val="0000FF"/>
                </a:solidFill>
                <a:latin typeface="Times New Roman" panose="02020603050405020304" pitchFamily="18" charset="0"/>
                <a:ea typeface="黑体" panose="02010609060101010101" pitchFamily="49" charset="-122"/>
              </a:rPr>
              <a:t>q</a:t>
            </a:r>
            <a:r>
              <a:rPr lang="zh-CN" altLang="en-US" sz="3600" b="1">
                <a:solidFill>
                  <a:srgbClr val="0000FF"/>
                </a:solidFill>
                <a:latin typeface="Times New Roman" panose="02020603050405020304" pitchFamily="18" charset="0"/>
                <a:ea typeface="黑体" panose="02010609060101010101" pitchFamily="49" charset="-122"/>
              </a:rPr>
              <a:t>，单位</a:t>
            </a:r>
            <a:r>
              <a:rPr lang="en-US" altLang="zh-CN" sz="3600" b="1">
                <a:solidFill>
                  <a:srgbClr val="0000FF"/>
                </a:solidFill>
                <a:latin typeface="Times New Roman" panose="02020603050405020304" pitchFamily="18" charset="0"/>
                <a:ea typeface="黑体" panose="02010609060101010101" pitchFamily="49" charset="-122"/>
              </a:rPr>
              <a:t>J/kg</a:t>
            </a:r>
            <a:r>
              <a:rPr lang="zh-CN" altLang="en-US" sz="3600" b="1">
                <a:solidFill>
                  <a:srgbClr val="0000FF"/>
                </a:solidFill>
                <a:latin typeface="Times New Roman" panose="02020603050405020304" pitchFamily="18" charset="0"/>
                <a:ea typeface="黑体" panose="02010609060101010101" pitchFamily="49" charset="-122"/>
              </a:rPr>
              <a:t>或</a:t>
            </a:r>
            <a:r>
              <a:rPr lang="en-US" altLang="zh-CN" sz="3600" b="1">
                <a:solidFill>
                  <a:srgbClr val="0000FF"/>
                </a:solidFill>
                <a:latin typeface="Times New Roman" panose="02020603050405020304" pitchFamily="18" charset="0"/>
                <a:ea typeface="黑体" panose="02010609060101010101" pitchFamily="49" charset="-122"/>
              </a:rPr>
              <a:t>kJ/kg</a:t>
            </a:r>
            <a:endParaRPr lang="zh-CN" altLang="en-US" sz="3600" b="1">
              <a:solidFill>
                <a:srgbClr val="0000FF"/>
              </a:solidFill>
              <a:latin typeface="Times New Roman" panose="02020603050405020304" pitchFamily="18" charset="0"/>
              <a:ea typeface="黑体" panose="02010609060101010101" pitchFamily="49" charset="-122"/>
            </a:endParaRPr>
          </a:p>
        </p:txBody>
      </p:sp>
      <p:sp>
        <p:nvSpPr>
          <p:cNvPr id="46085" name="矩形 29711"/>
          <p:cNvSpPr>
            <a:spLocks noChangeArrowheads="1"/>
          </p:cNvSpPr>
          <p:nvPr/>
        </p:nvSpPr>
        <p:spPr bwMode="auto">
          <a:xfrm>
            <a:off x="0"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6086" name="对象 29710"/>
          <p:cNvGraphicFramePr/>
          <p:nvPr/>
        </p:nvGraphicFramePr>
        <p:xfrm>
          <a:off x="3154363" y="5516563"/>
          <a:ext cx="2116137" cy="933450"/>
        </p:xfrm>
        <a:graphic>
          <a:graphicData uri="http://schemas.openxmlformats.org/presentationml/2006/ole">
            <mc:AlternateContent xmlns:mc="http://schemas.openxmlformats.org/markup-compatibility/2006">
              <mc:Choice xmlns:v="urn:schemas-microsoft-com:vml" Requires="v">
                <p:oleObj spid="_x0000_s26627" name="" r:id="rId1" imgW="799465" imgH="355600" progId="Equation.DSMT4">
                  <p:embed/>
                </p:oleObj>
              </mc:Choice>
              <mc:Fallback>
                <p:oleObj name="" r:id="rId1" imgW="799465" imgH="355600" progId="Equation.DSMT4">
                  <p:embed/>
                  <p:pic>
                    <p:nvPicPr>
                      <p:cNvPr id="0" name="对象 2971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4363" y="5516563"/>
                        <a:ext cx="2116137"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46087" name="组合 29716"/>
          <p:cNvGrpSpPr/>
          <p:nvPr/>
        </p:nvGrpSpPr>
        <p:grpSpPr bwMode="auto">
          <a:xfrm>
            <a:off x="755650" y="3760788"/>
            <a:ext cx="7848600" cy="2014537"/>
            <a:chOff x="476" y="2369"/>
            <a:chExt cx="4944" cy="1269"/>
          </a:xfrm>
        </p:grpSpPr>
        <p:sp>
          <p:nvSpPr>
            <p:cNvPr id="46088" name="矩形 29713"/>
            <p:cNvSpPr>
              <a:spLocks noChangeArrowheads="1"/>
            </p:cNvSpPr>
            <p:nvPr/>
          </p:nvSpPr>
          <p:spPr bwMode="auto">
            <a:xfrm>
              <a:off x="476" y="2369"/>
              <a:ext cx="4944" cy="1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ea typeface="黑体" panose="02010609060101010101" pitchFamily="49" charset="-122"/>
                </a:rPr>
                <a:t>单位时间内热力系与外界之间交换的热量称为</a:t>
              </a:r>
              <a:r>
                <a:rPr lang="zh-CN" altLang="en-US" sz="3600" b="1">
                  <a:solidFill>
                    <a:srgbClr val="FF0000"/>
                  </a:solidFill>
                  <a:ea typeface="黑体" panose="02010609060101010101" pitchFamily="49" charset="-122"/>
                </a:rPr>
                <a:t>热流量</a:t>
              </a:r>
              <a:r>
                <a:rPr lang="zh-CN" altLang="en-US" sz="3600" b="1">
                  <a:ea typeface="黑体" panose="02010609060101010101" pitchFamily="49" charset="-122"/>
                </a:rPr>
                <a:t>，</a:t>
              </a:r>
              <a:r>
                <a:rPr lang="zh-CN" altLang="en-US" sz="3600" b="1">
                  <a:solidFill>
                    <a:srgbClr val="0000FF"/>
                  </a:solidFill>
                  <a:latin typeface="黑体" panose="02010609060101010101" pitchFamily="49" charset="-122"/>
                  <a:ea typeface="黑体" panose="02010609060101010101" pitchFamily="49" charset="-122"/>
                </a:rPr>
                <a:t>符号</a:t>
              </a:r>
              <a:r>
                <a:rPr lang="en-US" altLang="zh-CN" sz="3600" b="1" i="1">
                  <a:solidFill>
                    <a:srgbClr val="0000FF"/>
                  </a:solidFill>
                  <a:latin typeface="Times New Roman" panose="02020603050405020304" pitchFamily="18" charset="0"/>
                  <a:ea typeface="黑体" panose="02010609060101010101" pitchFamily="49" charset="-122"/>
                </a:rPr>
                <a:t>Q</a:t>
              </a:r>
              <a:r>
                <a:rPr lang="zh-CN" altLang="en-US" sz="3600" b="1">
                  <a:solidFill>
                    <a:srgbClr val="0000FF"/>
                  </a:solidFill>
                  <a:latin typeface="Times New Roman" panose="02020603050405020304" pitchFamily="18" charset="0"/>
                  <a:ea typeface="黑体" panose="02010609060101010101" pitchFamily="49" charset="-122"/>
                </a:rPr>
                <a:t>（单位</a:t>
              </a:r>
              <a:r>
                <a:rPr lang="en-US" altLang="zh-CN" sz="3600" b="1">
                  <a:solidFill>
                    <a:srgbClr val="0000FF"/>
                  </a:solidFill>
                  <a:latin typeface="Times New Roman" panose="02020603050405020304" pitchFamily="18" charset="0"/>
                  <a:ea typeface="黑体" panose="02010609060101010101" pitchFamily="49" charset="-122"/>
                </a:rPr>
                <a:t>J/s=W</a:t>
              </a:r>
              <a:r>
                <a:rPr lang="zh-CN" altLang="en-US" sz="3600" b="1">
                  <a:solidFill>
                    <a:srgbClr val="0000FF"/>
                  </a:solidFill>
                  <a:latin typeface="Times New Roman" panose="02020603050405020304" pitchFamily="18" charset="0"/>
                  <a:ea typeface="黑体" panose="02010609060101010101" pitchFamily="49" charset="-122"/>
                </a:rPr>
                <a:t>，或</a:t>
              </a:r>
              <a:r>
                <a:rPr lang="en-US" altLang="zh-CN" sz="3600" b="1">
                  <a:solidFill>
                    <a:srgbClr val="0000FF"/>
                  </a:solidFill>
                  <a:latin typeface="Times New Roman" panose="02020603050405020304" pitchFamily="18" charset="0"/>
                  <a:ea typeface="黑体" panose="02010609060101010101" pitchFamily="49" charset="-122"/>
                </a:rPr>
                <a:t>kW</a:t>
              </a:r>
              <a:r>
                <a:rPr lang="zh-CN" altLang="en-US" sz="3600" b="1">
                  <a:solidFill>
                    <a:srgbClr val="0000FF"/>
                  </a:solidFill>
                  <a:latin typeface="Times New Roman" panose="02020603050405020304" pitchFamily="18" charset="0"/>
                  <a:ea typeface="黑体" panose="02010609060101010101" pitchFamily="49" charset="-122"/>
                </a:rPr>
                <a:t>）</a:t>
              </a:r>
              <a:endParaRPr lang="zh-CN" altLang="en-US" sz="3600" b="1">
                <a:solidFill>
                  <a:srgbClr val="0000FF"/>
                </a:solidFill>
                <a:latin typeface="Times New Roman" panose="02020603050405020304" pitchFamily="18" charset="0"/>
                <a:ea typeface="黑体" panose="02010609060101010101" pitchFamily="49" charset="-122"/>
              </a:endParaRPr>
            </a:p>
            <a:p>
              <a:pPr eaLnBrk="1" hangingPunct="1"/>
              <a:r>
                <a:rPr lang="zh-CN" altLang="en-US"/>
                <a:t> </a:t>
              </a:r>
              <a:endParaRPr lang="zh-CN" altLang="en-US"/>
            </a:p>
          </p:txBody>
        </p:sp>
        <p:sp>
          <p:nvSpPr>
            <p:cNvPr id="46089" name="矩形 29715"/>
            <p:cNvSpPr>
              <a:spLocks noChangeArrowheads="1"/>
            </p:cNvSpPr>
            <p:nvPr/>
          </p:nvSpPr>
          <p:spPr bwMode="auto">
            <a:xfrm>
              <a:off x="3516" y="2456"/>
              <a:ext cx="261"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600" b="1" i="1">
                  <a:solidFill>
                    <a:srgbClr val="0000FF"/>
                  </a:solidFill>
                  <a:latin typeface="黑体" panose="02010609060101010101" pitchFamily="49" charset="-122"/>
                  <a:ea typeface="黑体" panose="02010609060101010101" pitchFamily="49" charset="-122"/>
                </a:rPr>
                <a:t>.</a:t>
              </a:r>
              <a:endParaRPr lang="en-US" altLang="zh-CN" sz="3600" b="1" i="1">
                <a:solidFill>
                  <a:srgbClr val="0000FF"/>
                </a:solidFill>
                <a:latin typeface="黑体" panose="02010609060101010101" pitchFamily="49" charset="-122"/>
                <a:ea typeface="黑体" panose="02010609060101010101" pitchFamily="49" charset="-122"/>
              </a:endParaRPr>
            </a:p>
          </p:txBody>
        </p:sp>
      </p:gr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矩形 69635"/>
          <p:cNvSpPr>
            <a:spLocks noChangeArrowheads="1"/>
          </p:cNvSpPr>
          <p:nvPr/>
        </p:nvSpPr>
        <p:spPr bwMode="auto">
          <a:xfrm>
            <a:off x="1331913" y="625475"/>
            <a:ext cx="6551612"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solidFill>
                  <a:srgbClr val="FF0000"/>
                </a:solidFill>
                <a:ea typeface="黑体" panose="02010609060101010101" pitchFamily="49" charset="-122"/>
              </a:rPr>
              <a:t>符号规定：</a:t>
            </a:r>
            <a:endParaRPr lang="zh-CN" altLang="en-US" sz="3600" b="1">
              <a:solidFill>
                <a:srgbClr val="FF0000"/>
              </a:solidFill>
              <a:ea typeface="黑体" panose="02010609060101010101" pitchFamily="49" charset="-122"/>
            </a:endParaRPr>
          </a:p>
          <a:p>
            <a:pPr eaLnBrk="1" hangingPunct="1"/>
            <a:r>
              <a:rPr lang="zh-CN" altLang="en-US" sz="3600" b="1">
                <a:solidFill>
                  <a:srgbClr val="FF0000"/>
                </a:solidFill>
                <a:ea typeface="黑体" panose="02010609060101010101" pitchFamily="49" charset="-122"/>
              </a:rPr>
              <a:t>系统吸热为正，系统放热为负</a:t>
            </a:r>
            <a:endParaRPr lang="zh-CN" altLang="en-US" sz="3600" b="1">
              <a:solidFill>
                <a:srgbClr val="FF0000"/>
              </a:solidFill>
              <a:ea typeface="黑体" panose="02010609060101010101" pitchFamily="49" charset="-122"/>
            </a:endParaRPr>
          </a:p>
        </p:txBody>
      </p:sp>
      <p:sp>
        <p:nvSpPr>
          <p:cNvPr id="69638" name="矩形 69637"/>
          <p:cNvSpPr>
            <a:spLocks noChangeArrowheads="1"/>
          </p:cNvSpPr>
          <p:nvPr/>
        </p:nvSpPr>
        <p:spPr bwMode="auto">
          <a:xfrm>
            <a:off x="1690688" y="2492375"/>
            <a:ext cx="5834062" cy="3168650"/>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9640" name="矩形 69639"/>
          <p:cNvSpPr>
            <a:spLocks noChangeArrowheads="1"/>
          </p:cNvSpPr>
          <p:nvPr/>
        </p:nvSpPr>
        <p:spPr bwMode="auto">
          <a:xfrm>
            <a:off x="3851275" y="2708275"/>
            <a:ext cx="37449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000" b="1">
                <a:latin typeface="黑体" panose="02010609060101010101" pitchFamily="49" charset="-122"/>
                <a:ea typeface="黑体" panose="02010609060101010101" pitchFamily="49" charset="-122"/>
              </a:rPr>
              <a:t>绝热系</a:t>
            </a:r>
            <a:endParaRPr lang="zh-CN" altLang="en-US" sz="4000" b="1">
              <a:latin typeface="黑体" panose="02010609060101010101" pitchFamily="49" charset="-122"/>
              <a:ea typeface="黑体" panose="02010609060101010101" pitchFamily="49" charset="-122"/>
            </a:endParaRPr>
          </a:p>
        </p:txBody>
      </p:sp>
      <p:pic>
        <p:nvPicPr>
          <p:cNvPr id="35845"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79613" y="3357563"/>
            <a:ext cx="5402262"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9638"/>
                                        </p:tgtEl>
                                        <p:attrNameLst>
                                          <p:attrName>style.visibility</p:attrName>
                                        </p:attrNameLst>
                                      </p:cBhvr>
                                      <p:to>
                                        <p:strVal val="visible"/>
                                      </p:to>
                                    </p:set>
                                    <p:animEffect transition="in" filter="fade">
                                      <p:cBhvr>
                                        <p:cTn id="7" dur="1000"/>
                                        <p:tgtEl>
                                          <p:spTgt spid="69638"/>
                                        </p:tgtEl>
                                      </p:cBhvr>
                                    </p:animEffect>
                                    <p:anim calcmode="lin" valueType="num">
                                      <p:cBhvr>
                                        <p:cTn id="8" dur="1000" fill="hold"/>
                                        <p:tgtEl>
                                          <p:spTgt spid="69638"/>
                                        </p:tgtEl>
                                        <p:attrNameLst>
                                          <p:attrName>ppt_x</p:attrName>
                                        </p:attrNameLst>
                                      </p:cBhvr>
                                      <p:tavLst>
                                        <p:tav tm="0">
                                          <p:val>
                                            <p:strVal val="#ppt_x"/>
                                          </p:val>
                                        </p:tav>
                                        <p:tav tm="100000">
                                          <p:val>
                                            <p:strVal val="#ppt_x"/>
                                          </p:val>
                                        </p:tav>
                                      </p:tavLst>
                                    </p:anim>
                                    <p:anim calcmode="lin" valueType="num">
                                      <p:cBhvr>
                                        <p:cTn id="9" dur="1000" fill="hold"/>
                                        <p:tgtEl>
                                          <p:spTgt spid="6963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9640"/>
                                        </p:tgtEl>
                                        <p:attrNameLst>
                                          <p:attrName>style.visibility</p:attrName>
                                        </p:attrNameLst>
                                      </p:cBhvr>
                                      <p:to>
                                        <p:strVal val="visible"/>
                                      </p:to>
                                    </p:set>
                                    <p:animEffect transition="in" filter="fade">
                                      <p:cBhvr>
                                        <p:cTn id="12" dur="1000"/>
                                        <p:tgtEl>
                                          <p:spTgt spid="69640"/>
                                        </p:tgtEl>
                                      </p:cBhvr>
                                    </p:animEffect>
                                    <p:anim calcmode="lin" valueType="num">
                                      <p:cBhvr>
                                        <p:cTn id="13" dur="1000" fill="hold"/>
                                        <p:tgtEl>
                                          <p:spTgt spid="69640"/>
                                        </p:tgtEl>
                                        <p:attrNameLst>
                                          <p:attrName>ppt_x</p:attrName>
                                        </p:attrNameLst>
                                      </p:cBhvr>
                                      <p:tavLst>
                                        <p:tav tm="0">
                                          <p:val>
                                            <p:strVal val="#ppt_x"/>
                                          </p:val>
                                        </p:tav>
                                        <p:tav tm="100000">
                                          <p:val>
                                            <p:strVal val="#ppt_x"/>
                                          </p:val>
                                        </p:tav>
                                      </p:tavLst>
                                    </p:anim>
                                    <p:anim calcmode="lin" valueType="num">
                                      <p:cBhvr>
                                        <p:cTn id="14" dur="1000" fill="hold"/>
                                        <p:tgtEl>
                                          <p:spTgt spid="6964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5845"/>
                                        </p:tgtEl>
                                        <p:attrNameLst>
                                          <p:attrName>style.visibility</p:attrName>
                                        </p:attrNameLst>
                                      </p:cBhvr>
                                      <p:to>
                                        <p:strVal val="visible"/>
                                      </p:to>
                                    </p:set>
                                    <p:animEffect transition="in" filter="fade">
                                      <p:cBhvr>
                                        <p:cTn id="17" dur="1000"/>
                                        <p:tgtEl>
                                          <p:spTgt spid="35845"/>
                                        </p:tgtEl>
                                      </p:cBhvr>
                                    </p:animEffect>
                                    <p:anim calcmode="lin" valueType="num">
                                      <p:cBhvr>
                                        <p:cTn id="18" dur="1000" fill="hold"/>
                                        <p:tgtEl>
                                          <p:spTgt spid="35845"/>
                                        </p:tgtEl>
                                        <p:attrNameLst>
                                          <p:attrName>ppt_x</p:attrName>
                                        </p:attrNameLst>
                                      </p:cBhvr>
                                      <p:tavLst>
                                        <p:tav tm="0">
                                          <p:val>
                                            <p:strVal val="#ppt_x"/>
                                          </p:val>
                                        </p:tav>
                                        <p:tav tm="100000">
                                          <p:val>
                                            <p:strVal val="#ppt_x"/>
                                          </p:val>
                                        </p:tav>
                                      </p:tavLst>
                                    </p:anim>
                                    <p:anim calcmode="lin" valueType="num">
                                      <p:cBhvr>
                                        <p:cTn id="19" dur="1000" fill="hold"/>
                                        <p:tgtEl>
                                          <p:spTgt spid="358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8" grpId="0" animBg="1"/>
      <p:bldP spid="6964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矩形 30723"/>
          <p:cNvSpPr>
            <a:spLocks noChangeArrowheads="1"/>
          </p:cNvSpPr>
          <p:nvPr/>
        </p:nvSpPr>
        <p:spPr bwMode="auto">
          <a:xfrm>
            <a:off x="395288" y="115888"/>
            <a:ext cx="6985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000" b="1">
                <a:latin typeface="黑体" panose="02010609060101010101" pitchFamily="49" charset="-122"/>
                <a:ea typeface="黑体" panose="02010609060101010101" pitchFamily="49" charset="-122"/>
              </a:rPr>
              <a:t>三、功量</a:t>
            </a:r>
            <a:endParaRPr lang="zh-CN" altLang="en-US" sz="4000" b="1">
              <a:latin typeface="黑体" panose="02010609060101010101" pitchFamily="49" charset="-122"/>
              <a:ea typeface="黑体" panose="02010609060101010101" pitchFamily="49" charset="-122"/>
            </a:endParaRPr>
          </a:p>
        </p:txBody>
      </p:sp>
      <p:sp>
        <p:nvSpPr>
          <p:cNvPr id="48131" name="矩形 30724"/>
          <p:cNvSpPr>
            <a:spLocks noChangeArrowheads="1"/>
          </p:cNvSpPr>
          <p:nvPr/>
        </p:nvSpPr>
        <p:spPr bwMode="auto">
          <a:xfrm>
            <a:off x="539750" y="981075"/>
            <a:ext cx="79914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Tahoma" panose="020B0604030504040204" pitchFamily="34" charset="0"/>
                <a:ea typeface="黑体" panose="02010609060101010101" pitchFamily="49" charset="-122"/>
              </a:rPr>
              <a:t>功是力和力方向上位移的乘积（功是有序能量的传递）</a:t>
            </a:r>
            <a:endParaRPr lang="zh-CN" altLang="en-US" sz="3200" b="1">
              <a:latin typeface="Tahoma" panose="020B0604030504040204" pitchFamily="34" charset="0"/>
              <a:ea typeface="黑体" panose="02010609060101010101" pitchFamily="49" charset="-122"/>
            </a:endParaRPr>
          </a:p>
        </p:txBody>
      </p:sp>
      <p:graphicFrame>
        <p:nvGraphicFramePr>
          <p:cNvPr id="48132" name="对象 30725"/>
          <p:cNvGraphicFramePr/>
          <p:nvPr/>
        </p:nvGraphicFramePr>
        <p:xfrm>
          <a:off x="885825" y="2636838"/>
          <a:ext cx="2022475" cy="1330325"/>
        </p:xfrm>
        <a:graphic>
          <a:graphicData uri="http://schemas.openxmlformats.org/presentationml/2006/ole">
            <mc:AlternateContent xmlns:mc="http://schemas.openxmlformats.org/markup-compatibility/2006">
              <mc:Choice xmlns:v="urn:schemas-microsoft-com:vml" Requires="v">
                <p:oleObj spid="_x0000_s27651" name="" r:id="rId1" imgW="360045" imgH="228600" progId="Equation.DSMT4">
                  <p:embed/>
                </p:oleObj>
              </mc:Choice>
              <mc:Fallback>
                <p:oleObj name="" r:id="rId1" imgW="360045" imgH="228600" progId="Equation.DSMT4">
                  <p:embed/>
                  <p:pic>
                    <p:nvPicPr>
                      <p:cNvPr id="0" name="对象 3072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825" y="2636838"/>
                        <a:ext cx="2022475" cy="133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30729" name="图片 307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0125" y="2449513"/>
            <a:ext cx="1274763" cy="242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0" name="直接连接符 30729"/>
          <p:cNvSpPr>
            <a:spLocks noChangeShapeType="1"/>
          </p:cNvSpPr>
          <p:nvPr/>
        </p:nvSpPr>
        <p:spPr bwMode="auto">
          <a:xfrm flipV="1">
            <a:off x="4171950" y="1804988"/>
            <a:ext cx="0" cy="790575"/>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31" name="文本框 30730"/>
          <p:cNvSpPr txBox="1">
            <a:spLocks noChangeArrowheads="1"/>
          </p:cNvSpPr>
          <p:nvPr/>
        </p:nvSpPr>
        <p:spPr bwMode="auto">
          <a:xfrm>
            <a:off x="4330700" y="1989138"/>
            <a:ext cx="1465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i="1">
                <a:solidFill>
                  <a:srgbClr val="FF0000"/>
                </a:solidFill>
                <a:latin typeface="Times New Roman" panose="02020603050405020304" pitchFamily="18" charset="0"/>
              </a:rPr>
              <a:t>W</a:t>
            </a:r>
            <a:r>
              <a:rPr lang="en-US" altLang="zh-CN" sz="2400" b="1">
                <a:solidFill>
                  <a:srgbClr val="FF0000"/>
                </a:solidFill>
                <a:latin typeface="Times New Roman" panose="02020603050405020304" pitchFamily="18" charset="0"/>
              </a:rPr>
              <a:t>=10J</a:t>
            </a:r>
            <a:endParaRPr lang="en-US" altLang="zh-CN" sz="2400" b="1">
              <a:solidFill>
                <a:srgbClr val="FF0000"/>
              </a:solidFill>
              <a:latin typeface="Times New Roman" panose="02020603050405020304" pitchFamily="18" charset="0"/>
            </a:endParaRPr>
          </a:p>
        </p:txBody>
      </p:sp>
      <p:pic>
        <p:nvPicPr>
          <p:cNvPr id="30732" name="图片 307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050" y="2520950"/>
            <a:ext cx="1274763" cy="242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3" name="文本框 30732"/>
          <p:cNvSpPr txBox="1">
            <a:spLocks noChangeArrowheads="1"/>
          </p:cNvSpPr>
          <p:nvPr/>
        </p:nvSpPr>
        <p:spPr bwMode="auto">
          <a:xfrm>
            <a:off x="6732588" y="1989138"/>
            <a:ext cx="1373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i="1">
                <a:solidFill>
                  <a:srgbClr val="0000CC"/>
                </a:solidFill>
                <a:latin typeface="Times New Roman" panose="02020603050405020304" pitchFamily="18" charset="0"/>
              </a:rPr>
              <a:t>W</a:t>
            </a:r>
            <a:r>
              <a:rPr lang="en-US" altLang="zh-CN" sz="2400" b="1">
                <a:solidFill>
                  <a:srgbClr val="0000CC"/>
                </a:solidFill>
                <a:latin typeface="Times New Roman" panose="02020603050405020304" pitchFamily="18" charset="0"/>
              </a:rPr>
              <a:t>= - 10J</a:t>
            </a:r>
            <a:endParaRPr lang="en-US" altLang="zh-CN" sz="2400" b="1">
              <a:solidFill>
                <a:srgbClr val="0000CC"/>
              </a:solidFill>
              <a:latin typeface="Times New Roman" panose="02020603050405020304" pitchFamily="18" charset="0"/>
            </a:endParaRPr>
          </a:p>
        </p:txBody>
      </p:sp>
      <p:sp>
        <p:nvSpPr>
          <p:cNvPr id="30734" name="直接连接符 30733"/>
          <p:cNvSpPr>
            <a:spLocks noChangeShapeType="1"/>
          </p:cNvSpPr>
          <p:nvPr/>
        </p:nvSpPr>
        <p:spPr bwMode="auto">
          <a:xfrm>
            <a:off x="6594475" y="1970088"/>
            <a:ext cx="0" cy="695325"/>
          </a:xfrm>
          <a:prstGeom prst="line">
            <a:avLst/>
          </a:prstGeom>
          <a:noFill/>
          <a:ln w="38100">
            <a:solidFill>
              <a:srgbClr val="0000CC"/>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39" name="文本框 30726"/>
          <p:cNvSpPr txBox="1">
            <a:spLocks noChangeArrowheads="1"/>
          </p:cNvSpPr>
          <p:nvPr/>
        </p:nvSpPr>
        <p:spPr bwMode="auto">
          <a:xfrm>
            <a:off x="539750" y="4941888"/>
            <a:ext cx="7713663"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2800" b="1">
                <a:solidFill>
                  <a:srgbClr val="FF33CC"/>
                </a:solidFill>
                <a:latin typeface="Times New Roman" panose="02020603050405020304" pitchFamily="18" charset="0"/>
              </a:rPr>
              <a:t>　</a:t>
            </a:r>
            <a:r>
              <a:rPr lang="zh-CN" altLang="en-US" sz="2800" b="1">
                <a:solidFill>
                  <a:srgbClr val="FF0000"/>
                </a:solidFill>
                <a:latin typeface="黑体" panose="02010609060101010101" pitchFamily="49" charset="-122"/>
                <a:ea typeface="黑体" panose="02010609060101010101" pitchFamily="49" charset="-122"/>
              </a:rPr>
              <a:t>系统对外作功为</a:t>
            </a:r>
            <a:r>
              <a:rPr lang="zh-CN" altLang="en-US" sz="2800" b="1">
                <a:solidFill>
                  <a:srgbClr val="FF0000"/>
                </a:solidFill>
                <a:latin typeface="Times New Roman" panose="02020603050405020304" pitchFamily="18" charset="0"/>
                <a:ea typeface="楷体_GB2312" pitchFamily="49" charset="-122"/>
              </a:rPr>
              <a:t>“</a:t>
            </a:r>
            <a:r>
              <a:rPr lang="en-US" altLang="zh-CN" sz="2800" b="1">
                <a:solidFill>
                  <a:srgbClr val="FF0000"/>
                </a:solidFill>
                <a:latin typeface="楷体_GB2312" pitchFamily="49" charset="-122"/>
                <a:ea typeface="楷体_GB2312" pitchFamily="49" charset="-122"/>
              </a:rPr>
              <a:t>+</a:t>
            </a:r>
            <a:r>
              <a:rPr lang="en-US" altLang="zh-CN" sz="2800" b="1">
                <a:solidFill>
                  <a:srgbClr val="FF0000"/>
                </a:solidFill>
                <a:latin typeface="Times New Roman" panose="02020603050405020304" pitchFamily="18" charset="0"/>
                <a:ea typeface="楷体_GB2312" pitchFamily="49" charset="-122"/>
              </a:rPr>
              <a:t>”</a:t>
            </a:r>
            <a:r>
              <a:rPr lang="zh-CN" altLang="en-US" sz="2800" b="1">
                <a:solidFill>
                  <a:srgbClr val="FF0000"/>
                </a:solidFill>
                <a:latin typeface="Times New Roman" panose="02020603050405020304" pitchFamily="18" charset="0"/>
                <a:ea typeface="楷体_GB2312" pitchFamily="49" charset="-122"/>
              </a:rPr>
              <a:t>，</a:t>
            </a:r>
            <a:r>
              <a:rPr lang="zh-CN" altLang="en-US" sz="2800" b="1">
                <a:solidFill>
                  <a:srgbClr val="0000CC"/>
                </a:solidFill>
                <a:latin typeface="黑体" panose="02010609060101010101" pitchFamily="49" charset="-122"/>
                <a:ea typeface="黑体" panose="02010609060101010101" pitchFamily="49" charset="-122"/>
              </a:rPr>
              <a:t>外界对系统作功为</a:t>
            </a:r>
            <a:r>
              <a:rPr lang="zh-CN" altLang="en-US" sz="2800" b="1">
                <a:solidFill>
                  <a:srgbClr val="0000CC"/>
                </a:solidFill>
                <a:latin typeface="Times New Roman" panose="02020603050405020304" pitchFamily="18" charset="0"/>
                <a:ea typeface="楷体_GB2312" pitchFamily="49" charset="-122"/>
              </a:rPr>
              <a:t>“</a:t>
            </a:r>
            <a:r>
              <a:rPr lang="en-US" altLang="zh-CN" sz="2800" b="1">
                <a:solidFill>
                  <a:srgbClr val="0000CC"/>
                </a:solidFill>
                <a:latin typeface="楷体_GB2312" pitchFamily="49" charset="-122"/>
                <a:ea typeface="楷体_GB2312" pitchFamily="49" charset="-122"/>
              </a:rPr>
              <a:t>-</a:t>
            </a:r>
            <a:r>
              <a:rPr lang="en-US" altLang="zh-CN" sz="2800" b="1">
                <a:solidFill>
                  <a:srgbClr val="0000CC"/>
                </a:solidFill>
                <a:latin typeface="Times New Roman" panose="02020603050405020304" pitchFamily="18" charset="0"/>
                <a:ea typeface="楷体_GB2312" pitchFamily="49" charset="-122"/>
              </a:rPr>
              <a:t>”</a:t>
            </a:r>
            <a:endParaRPr lang="en-US" altLang="zh-CN" sz="2800" b="1">
              <a:solidFill>
                <a:srgbClr val="0000CC"/>
              </a:solidFill>
              <a:latin typeface="Times New Roman" panose="02020603050405020304" pitchFamily="18" charset="0"/>
              <a:ea typeface="楷体_GB2312" pitchFamily="49" charset="-122"/>
            </a:endParaRPr>
          </a:p>
        </p:txBody>
      </p:sp>
      <p:sp>
        <p:nvSpPr>
          <p:cNvPr id="48140" name="文本框 30726"/>
          <p:cNvSpPr txBox="1">
            <a:spLocks noChangeArrowheads="1"/>
          </p:cNvSpPr>
          <p:nvPr/>
        </p:nvSpPr>
        <p:spPr bwMode="auto">
          <a:xfrm>
            <a:off x="1136650" y="5776913"/>
            <a:ext cx="6669088"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2800" b="1">
                <a:latin typeface="Times New Roman" panose="02020603050405020304" pitchFamily="18" charset="0"/>
                <a:ea typeface="黑体" panose="02010609060101010101" pitchFamily="49" charset="-122"/>
              </a:rPr>
              <a:t>功的单位：</a:t>
            </a:r>
            <a:r>
              <a:rPr lang="en-US" altLang="zh-CN" sz="2800" b="1">
                <a:latin typeface="Times New Roman" panose="02020603050405020304" pitchFamily="18" charset="0"/>
                <a:ea typeface="黑体" panose="02010609060101010101" pitchFamily="49" charset="-122"/>
              </a:rPr>
              <a:t>J</a:t>
            </a:r>
            <a:r>
              <a:rPr lang="zh-CN" altLang="en-US" sz="2800" b="1">
                <a:latin typeface="Times New Roman" panose="02020603050405020304" pitchFamily="18" charset="0"/>
                <a:ea typeface="黑体" panose="02010609060101010101" pitchFamily="49" charset="-122"/>
              </a:rPr>
              <a:t>或</a:t>
            </a:r>
            <a:r>
              <a:rPr lang="en-US" altLang="zh-CN" sz="2800" b="1">
                <a:latin typeface="Times New Roman" panose="02020603050405020304" pitchFamily="18" charset="0"/>
                <a:ea typeface="黑体" panose="02010609060101010101" pitchFamily="49" charset="-122"/>
              </a:rPr>
              <a:t>kJ</a:t>
            </a:r>
            <a:r>
              <a:rPr lang="zh-CN" altLang="en-US" sz="2800" b="1">
                <a:latin typeface="Times New Roman" panose="02020603050405020304" pitchFamily="18" charset="0"/>
                <a:ea typeface="黑体" panose="02010609060101010101" pitchFamily="49" charset="-122"/>
              </a:rPr>
              <a:t>；功率的单位：</a:t>
            </a:r>
            <a:r>
              <a:rPr lang="en-US" altLang="zh-CN" sz="2800" b="1">
                <a:latin typeface="Times New Roman" panose="02020603050405020304" pitchFamily="18" charset="0"/>
                <a:ea typeface="黑体" panose="02010609060101010101" pitchFamily="49" charset="-122"/>
              </a:rPr>
              <a:t>W</a:t>
            </a:r>
            <a:r>
              <a:rPr lang="zh-CN" altLang="en-US" sz="2800" b="1">
                <a:latin typeface="Times New Roman" panose="02020603050405020304" pitchFamily="18" charset="0"/>
                <a:ea typeface="黑体" panose="02010609060101010101" pitchFamily="49" charset="-122"/>
              </a:rPr>
              <a:t>或</a:t>
            </a:r>
            <a:r>
              <a:rPr lang="en-US" altLang="zh-CN" sz="2800" b="1">
                <a:latin typeface="Times New Roman" panose="02020603050405020304" pitchFamily="18" charset="0"/>
                <a:ea typeface="黑体" panose="02010609060101010101" pitchFamily="49" charset="-122"/>
              </a:rPr>
              <a:t>kW</a:t>
            </a:r>
            <a:endParaRPr lang="en-US" altLang="zh-CN" sz="2800" b="1">
              <a:latin typeface="Times New Roman" panose="02020603050405020304" pitchFamily="18" charset="0"/>
              <a:ea typeface="黑体" panose="02010609060101010101" pitchFamily="49" charset="-122"/>
            </a:endParaRPr>
          </a:p>
        </p:txBody>
      </p:sp>
    </p:spTree>
    <p:custDataLst>
      <p:tags r:id="rId4"/>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29"/>
                                        </p:tgtEl>
                                        <p:attrNameLst>
                                          <p:attrName>style.visibility</p:attrName>
                                        </p:attrNameLst>
                                      </p:cBhvr>
                                      <p:to>
                                        <p:strVal val="visible"/>
                                      </p:to>
                                    </p:set>
                                    <p:animEffect transition="in" filter="blinds(horizontal)">
                                      <p:cBhvr>
                                        <p:cTn id="7" dur="500"/>
                                        <p:tgtEl>
                                          <p:spTgt spid="3072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0731"/>
                                        </p:tgtEl>
                                        <p:attrNameLst>
                                          <p:attrName>style.visibility</p:attrName>
                                        </p:attrNameLst>
                                      </p:cBhvr>
                                      <p:to>
                                        <p:strVal val="visible"/>
                                      </p:to>
                                    </p:set>
                                    <p:animEffect transition="in" filter="blinds(horizontal)">
                                      <p:cBhvr>
                                        <p:cTn id="10" dur="500"/>
                                        <p:tgtEl>
                                          <p:spTgt spid="30731"/>
                                        </p:tgtEl>
                                      </p:cBhvr>
                                    </p:animEffect>
                                  </p:childTnLst>
                                </p:cTn>
                              </p:par>
                              <p:par>
                                <p:cTn id="11" presetID="3" presetClass="entr" presetSubtype="10" fill="hold" nodeType="withEffect">
                                  <p:stCondLst>
                                    <p:cond delay="0"/>
                                  </p:stCondLst>
                                  <p:childTnLst>
                                    <p:set>
                                      <p:cBhvr>
                                        <p:cTn id="12" dur="1" fill="hold">
                                          <p:stCondLst>
                                            <p:cond delay="0"/>
                                          </p:stCondLst>
                                        </p:cTn>
                                        <p:tgtEl>
                                          <p:spTgt spid="30730"/>
                                        </p:tgtEl>
                                        <p:attrNameLst>
                                          <p:attrName>style.visibility</p:attrName>
                                        </p:attrNameLst>
                                      </p:cBhvr>
                                      <p:to>
                                        <p:strVal val="visible"/>
                                      </p:to>
                                    </p:set>
                                    <p:animEffect transition="in" filter="blinds(horizontal)">
                                      <p:cBhvr>
                                        <p:cTn id="13" dur="500"/>
                                        <p:tgtEl>
                                          <p:spTgt spid="30730"/>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0732"/>
                                        </p:tgtEl>
                                        <p:attrNameLst>
                                          <p:attrName>style.visibility</p:attrName>
                                        </p:attrNameLst>
                                      </p:cBhvr>
                                      <p:to>
                                        <p:strVal val="visible"/>
                                      </p:to>
                                    </p:set>
                                    <p:animEffect transition="in" filter="blinds(horizontal)">
                                      <p:cBhvr>
                                        <p:cTn id="18" dur="500"/>
                                        <p:tgtEl>
                                          <p:spTgt spid="30732"/>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0733"/>
                                        </p:tgtEl>
                                        <p:attrNameLst>
                                          <p:attrName>style.visibility</p:attrName>
                                        </p:attrNameLst>
                                      </p:cBhvr>
                                      <p:to>
                                        <p:strVal val="visible"/>
                                      </p:to>
                                    </p:set>
                                    <p:animEffect transition="in" filter="blinds(horizontal)">
                                      <p:cBhvr>
                                        <p:cTn id="21" dur="500"/>
                                        <p:tgtEl>
                                          <p:spTgt spid="30733"/>
                                        </p:tgtEl>
                                      </p:cBhvr>
                                    </p:animEffect>
                                  </p:childTnLst>
                                </p:cTn>
                              </p:par>
                              <p:par>
                                <p:cTn id="22" presetID="3" presetClass="entr" presetSubtype="10" fill="hold" nodeType="withEffect">
                                  <p:stCondLst>
                                    <p:cond delay="0"/>
                                  </p:stCondLst>
                                  <p:childTnLst>
                                    <p:set>
                                      <p:cBhvr>
                                        <p:cTn id="23" dur="1" fill="hold">
                                          <p:stCondLst>
                                            <p:cond delay="0"/>
                                          </p:stCondLst>
                                        </p:cTn>
                                        <p:tgtEl>
                                          <p:spTgt spid="30734"/>
                                        </p:tgtEl>
                                        <p:attrNameLst>
                                          <p:attrName>style.visibility</p:attrName>
                                        </p:attrNameLst>
                                      </p:cBhvr>
                                      <p:to>
                                        <p:strVal val="visible"/>
                                      </p:to>
                                    </p:set>
                                    <p:animEffect transition="in" filter="blinds(horizontal)">
                                      <p:cBhvr>
                                        <p:cTn id="24" dur="500"/>
                                        <p:tgtEl>
                                          <p:spTgt spid="30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31" grpId="0"/>
      <p:bldP spid="3073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图片 32771" descr="370750_la_10_0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042988" y="1773238"/>
            <a:ext cx="3889375" cy="367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5" name="矩形 32769"/>
          <p:cNvSpPr>
            <a:spLocks noChangeArrowheads="1"/>
          </p:cNvSpPr>
          <p:nvPr/>
        </p:nvSpPr>
        <p:spPr bwMode="auto">
          <a:xfrm>
            <a:off x="611188" y="219076"/>
            <a:ext cx="7777162"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ea typeface="黑体" panose="02010609060101010101" pitchFamily="49" charset="-122"/>
              </a:rPr>
              <a:t>系统和外界交换功量需要有两个条件：</a:t>
            </a:r>
            <a:endParaRPr lang="zh-CN" altLang="en-US" sz="3200" b="1">
              <a:ea typeface="黑体" panose="02010609060101010101" pitchFamily="49" charset="-122"/>
            </a:endParaRPr>
          </a:p>
          <a:p>
            <a:pPr eaLnBrk="1" hangingPunct="1"/>
            <a:r>
              <a:rPr lang="zh-CN" altLang="en-US" sz="3200" b="1">
                <a:ea typeface="黑体" panose="02010609060101010101" pitchFamily="49" charset="-122"/>
              </a:rPr>
              <a:t>其一，必须有</a:t>
            </a:r>
            <a:r>
              <a:rPr lang="zh-CN" altLang="en-US" sz="3200" b="1">
                <a:solidFill>
                  <a:srgbClr val="FF0000"/>
                </a:solidFill>
                <a:ea typeface="黑体" panose="02010609060101010101" pitchFamily="49" charset="-122"/>
              </a:rPr>
              <a:t>力</a:t>
            </a:r>
            <a:r>
              <a:rPr lang="zh-CN" altLang="en-US" sz="3200" b="1">
                <a:ea typeface="黑体" panose="02010609060101010101" pitchFamily="49" charset="-122"/>
              </a:rPr>
              <a:t>作用在边界上；</a:t>
            </a:r>
            <a:endParaRPr lang="zh-CN" altLang="en-US" sz="3200" b="1">
              <a:ea typeface="黑体" panose="02010609060101010101" pitchFamily="49" charset="-122"/>
            </a:endParaRPr>
          </a:p>
          <a:p>
            <a:pPr eaLnBrk="1" hangingPunct="1"/>
            <a:r>
              <a:rPr lang="zh-CN" altLang="en-US" sz="3200" b="1">
                <a:ea typeface="黑体" panose="02010609060101010101" pitchFamily="49" charset="-122"/>
              </a:rPr>
              <a:t>其二，在</a:t>
            </a:r>
            <a:r>
              <a:rPr lang="zh-CN" altLang="en-US" sz="3200" b="1">
                <a:solidFill>
                  <a:srgbClr val="FF0000"/>
                </a:solidFill>
                <a:ea typeface="黑体" panose="02010609060101010101" pitchFamily="49" charset="-122"/>
              </a:rPr>
              <a:t>力的方向</a:t>
            </a:r>
            <a:r>
              <a:rPr lang="zh-CN" altLang="en-US" sz="3200" b="1">
                <a:ea typeface="黑体" panose="02010609060101010101" pitchFamily="49" charset="-122"/>
              </a:rPr>
              <a:t>上必须有</a:t>
            </a:r>
            <a:r>
              <a:rPr lang="zh-CN" altLang="en-US" sz="3200" b="1">
                <a:solidFill>
                  <a:srgbClr val="FF0000"/>
                </a:solidFill>
                <a:ea typeface="黑体" panose="02010609060101010101" pitchFamily="49" charset="-122"/>
              </a:rPr>
              <a:t>位移</a:t>
            </a:r>
            <a:r>
              <a:rPr lang="zh-CN" altLang="en-US" sz="3200" b="1">
                <a:ea typeface="黑体" panose="02010609060101010101" pitchFamily="49" charset="-122"/>
              </a:rPr>
              <a:t>。</a:t>
            </a:r>
            <a:endParaRPr lang="zh-CN" altLang="en-US" sz="3200" b="1">
              <a:ea typeface="黑体" panose="02010609060101010101" pitchFamily="49" charset="-122"/>
            </a:endParaRPr>
          </a:p>
        </p:txBody>
      </p:sp>
      <p:sp>
        <p:nvSpPr>
          <p:cNvPr id="32771" name="矩形 32770"/>
          <p:cNvSpPr>
            <a:spLocks noChangeArrowheads="1"/>
          </p:cNvSpPr>
          <p:nvPr/>
        </p:nvSpPr>
        <p:spPr bwMode="auto">
          <a:xfrm>
            <a:off x="611188" y="5602288"/>
            <a:ext cx="74898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由于无外部作用力作用在系统边界上，因此系统与外界</a:t>
            </a:r>
            <a:r>
              <a:rPr lang="zh-CN" altLang="en-US" sz="3200" b="1">
                <a:solidFill>
                  <a:srgbClr val="FF0000"/>
                </a:solidFill>
                <a:latin typeface="黑体" panose="02010609060101010101" pitchFamily="49" charset="-122"/>
                <a:ea typeface="黑体" panose="02010609060101010101" pitchFamily="49" charset="-122"/>
              </a:rPr>
              <a:t>无功量交换</a:t>
            </a:r>
            <a:r>
              <a:rPr lang="zh-CN" altLang="en-US" sz="3200" b="1">
                <a:latin typeface="黑体" panose="02010609060101010101" pitchFamily="49" charset="-122"/>
                <a:ea typeface="黑体" panose="02010609060101010101" pitchFamily="49" charset="-122"/>
              </a:rPr>
              <a:t>。 </a:t>
            </a:r>
            <a:endParaRPr lang="zh-CN" altLang="en-US" sz="3200" b="1">
              <a:latin typeface="黑体" panose="02010609060101010101" pitchFamily="49" charset="-122"/>
              <a:ea typeface="黑体" panose="02010609060101010101" pitchFamily="49" charset="-122"/>
            </a:endParaRPr>
          </a:p>
        </p:txBody>
      </p:sp>
      <p:sp>
        <p:nvSpPr>
          <p:cNvPr id="49157" name="矩形 32772"/>
          <p:cNvSpPr>
            <a:spLocks noChangeArrowheads="1"/>
          </p:cNvSpPr>
          <p:nvPr/>
        </p:nvSpPr>
        <p:spPr bwMode="auto">
          <a:xfrm>
            <a:off x="5219700" y="2420938"/>
            <a:ext cx="36004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绝热自由膨胀，系统作功</a:t>
            </a:r>
            <a:r>
              <a:rPr lang="en-US" altLang="zh-CN" sz="3200" b="1" i="1">
                <a:latin typeface="Times New Roman" panose="02020603050405020304" pitchFamily="18" charset="0"/>
                <a:ea typeface="黑体" panose="02010609060101010101" pitchFamily="49" charset="-122"/>
              </a:rPr>
              <a:t>W</a:t>
            </a:r>
            <a:r>
              <a:rPr lang="en-US" altLang="zh-CN" sz="3200" b="1">
                <a:latin typeface="Times New Roman" panose="02020603050405020304" pitchFamily="18" charset="0"/>
                <a:ea typeface="黑体" panose="02010609060101010101" pitchFamily="49" charset="-122"/>
              </a:rPr>
              <a:t>=</a:t>
            </a:r>
            <a:r>
              <a:rPr lang="zh-CN" altLang="en-US" sz="3200" b="1">
                <a:latin typeface="黑体" panose="02010609060101010101" pitchFamily="49" charset="-122"/>
                <a:ea typeface="黑体" panose="02010609060101010101" pitchFamily="49" charset="-122"/>
              </a:rPr>
              <a:t>？ </a:t>
            </a:r>
            <a:endParaRPr lang="zh-CN" altLang="en-US" sz="3200" b="1">
              <a:latin typeface="黑体" panose="02010609060101010101" pitchFamily="49" charset="-122"/>
              <a:ea typeface="黑体" panose="02010609060101010101" pitchFamily="49" charset="-122"/>
            </a:endParaRPr>
          </a:p>
        </p:txBody>
      </p:sp>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771"/>
                                        </p:tgtEl>
                                        <p:attrNameLst>
                                          <p:attrName>style.visibility</p:attrName>
                                        </p:attrNameLst>
                                      </p:cBhvr>
                                      <p:to>
                                        <p:strVal val="visible"/>
                                      </p:to>
                                    </p:set>
                                    <p:animEffect transition="in" filter="blinds(horizontal)">
                                      <p:cBhvr>
                                        <p:cTn id="7" dur="500"/>
                                        <p:tgtEl>
                                          <p:spTgt spid="32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33793"/>
          <p:cNvSpPr>
            <a:spLocks noGrp="1" noChangeArrowheads="1"/>
          </p:cNvSpPr>
          <p:nvPr>
            <p:ph type="title"/>
          </p:nvPr>
        </p:nvSpPr>
        <p:spPr/>
        <p:txBody>
          <a:bodyPr/>
          <a:lstStyle/>
          <a:p>
            <a:pPr eaLnBrk="1" hangingPunct="1"/>
            <a:r>
              <a:rPr lang="zh-CN" altLang="en-US" sz="4800" b="1" smtClean="0">
                <a:ea typeface="黑体" panose="02010609060101010101" pitchFamily="49" charset="-122"/>
              </a:rPr>
              <a:t>常见的功量交换形式</a:t>
            </a:r>
            <a:endParaRPr lang="zh-CN" altLang="en-US" sz="4800" b="1" smtClean="0">
              <a:ea typeface="黑体" panose="02010609060101010101" pitchFamily="49" charset="-122"/>
            </a:endParaRPr>
          </a:p>
        </p:txBody>
      </p:sp>
      <p:sp>
        <p:nvSpPr>
          <p:cNvPr id="50179" name="文本占位符 33794"/>
          <p:cNvSpPr>
            <a:spLocks noGrp="1" noChangeArrowheads="1"/>
          </p:cNvSpPr>
          <p:nvPr>
            <p:ph idx="1"/>
          </p:nvPr>
        </p:nvSpPr>
        <p:spPr>
          <a:xfrm>
            <a:off x="457200" y="1600200"/>
            <a:ext cx="8229600" cy="1900238"/>
          </a:xfrm>
        </p:spPr>
        <p:txBody>
          <a:bodyPr>
            <a:normAutofit/>
          </a:bodyPr>
          <a:lstStyle/>
          <a:p>
            <a:pPr eaLnBrk="1" hangingPunct="1">
              <a:buFontTx/>
              <a:buNone/>
            </a:pPr>
            <a:r>
              <a:rPr lang="en-US" altLang="zh-CN" sz="3200" b="1" dirty="0" smtClean="0">
                <a:latin typeface="黑体" panose="02010609060101010101" pitchFamily="49" charset="-122"/>
                <a:ea typeface="黑体" panose="02010609060101010101" pitchFamily="49" charset="-122"/>
              </a:rPr>
              <a:t>1</a:t>
            </a:r>
            <a:r>
              <a:rPr lang="zh-CN" altLang="en-US" sz="3200" b="1" dirty="0" smtClean="0">
                <a:latin typeface="黑体" panose="02010609060101010101" pitchFamily="49" charset="-122"/>
                <a:ea typeface="黑体" panose="02010609060101010101" pitchFamily="49" charset="-122"/>
              </a:rPr>
              <a:t>、体积变化功（机械功）</a:t>
            </a:r>
            <a:endParaRPr lang="zh-CN" altLang="en-US" sz="3200" b="1" dirty="0" smtClean="0">
              <a:latin typeface="黑体" panose="02010609060101010101" pitchFamily="49" charset="-122"/>
              <a:ea typeface="黑体" panose="02010609060101010101" pitchFamily="49" charset="-122"/>
            </a:endParaRPr>
          </a:p>
          <a:p>
            <a:pPr eaLnBrk="1" hangingPunct="1">
              <a:buFontTx/>
              <a:buNone/>
            </a:pPr>
            <a:r>
              <a:rPr lang="en-US" altLang="zh-CN" sz="3200" b="1" dirty="0" smtClean="0">
                <a:latin typeface="黑体" panose="02010609060101010101" pitchFamily="49" charset="-122"/>
                <a:ea typeface="黑体" panose="02010609060101010101" pitchFamily="49" charset="-122"/>
              </a:rPr>
              <a:t>2</a:t>
            </a:r>
            <a:r>
              <a:rPr lang="zh-CN" altLang="en-US" sz="3200" b="1" dirty="0" smtClean="0">
                <a:latin typeface="黑体" panose="02010609060101010101" pitchFamily="49" charset="-122"/>
                <a:ea typeface="黑体" panose="02010609060101010101" pitchFamily="49" charset="-122"/>
              </a:rPr>
              <a:t>、轴功（机械功）</a:t>
            </a:r>
            <a:endParaRPr lang="zh-CN" altLang="en-US" sz="3200" b="1" dirty="0" smtClean="0">
              <a:latin typeface="黑体" panose="02010609060101010101" pitchFamily="49" charset="-122"/>
              <a:ea typeface="黑体" panose="02010609060101010101" pitchFamily="49" charset="-122"/>
            </a:endParaRPr>
          </a:p>
          <a:p>
            <a:pPr eaLnBrk="1" hangingPunct="1">
              <a:buFontTx/>
              <a:buNone/>
            </a:pPr>
            <a:r>
              <a:rPr lang="en-US" altLang="zh-CN" sz="3200" b="1" dirty="0" smtClean="0">
                <a:latin typeface="黑体" panose="02010609060101010101" pitchFamily="49" charset="-122"/>
                <a:ea typeface="黑体" panose="02010609060101010101" pitchFamily="49" charset="-122"/>
              </a:rPr>
              <a:t>3</a:t>
            </a:r>
            <a:r>
              <a:rPr lang="zh-CN" altLang="en-US" sz="3200" b="1" dirty="0" smtClean="0">
                <a:latin typeface="黑体" panose="02010609060101010101" pitchFamily="49" charset="-122"/>
                <a:ea typeface="黑体" panose="02010609060101010101" pitchFamily="49" charset="-122"/>
              </a:rPr>
              <a:t>、电功 </a:t>
            </a:r>
            <a:endParaRPr lang="zh-CN" altLang="en-US" sz="3200" b="1" dirty="0" smtClean="0">
              <a:latin typeface="黑体" panose="02010609060101010101" pitchFamily="49" charset="-122"/>
              <a:ea typeface="黑体" panose="02010609060101010101" pitchFamily="49" charset="-122"/>
            </a:endParaRPr>
          </a:p>
        </p:txBody>
      </p:sp>
      <p:sp>
        <p:nvSpPr>
          <p:cNvPr id="50180" name="矩形 33795"/>
          <p:cNvSpPr>
            <a:spLocks noChangeArrowheads="1"/>
          </p:cNvSpPr>
          <p:nvPr/>
        </p:nvSpPr>
        <p:spPr bwMode="auto">
          <a:xfrm>
            <a:off x="611188" y="3933825"/>
            <a:ext cx="7920037"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在工程热力学中，热量与功量的相互转换常常是通过气体的体积变化（膨胀或压缩）来实现的，因此</a:t>
            </a:r>
            <a:r>
              <a:rPr lang="zh-CN" altLang="en-US" sz="3200" b="1">
                <a:solidFill>
                  <a:srgbClr val="0000FF"/>
                </a:solidFill>
                <a:latin typeface="黑体" panose="02010609060101010101" pitchFamily="49" charset="-122"/>
                <a:ea typeface="黑体" panose="02010609060101010101" pitchFamily="49" charset="-122"/>
              </a:rPr>
              <a:t>体积变化功（膨胀功或压缩功）具有特别重要的意义。 </a:t>
            </a:r>
            <a:endParaRPr lang="zh-CN" altLang="en-US"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矩形 34819"/>
          <p:cNvSpPr>
            <a:spLocks noChangeArrowheads="1"/>
          </p:cNvSpPr>
          <p:nvPr/>
        </p:nvSpPr>
        <p:spPr bwMode="auto">
          <a:xfrm>
            <a:off x="395288" y="188913"/>
            <a:ext cx="6985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latin typeface="黑体" panose="02010609060101010101" pitchFamily="49" charset="-122"/>
                <a:ea typeface="黑体" panose="02010609060101010101" pitchFamily="49" charset="-122"/>
              </a:rPr>
              <a:t>1</a:t>
            </a:r>
            <a:r>
              <a:rPr lang="zh-CN" altLang="en-US" sz="3200" b="1">
                <a:latin typeface="黑体" panose="02010609060101010101" pitchFamily="49" charset="-122"/>
                <a:ea typeface="黑体" panose="02010609060101010101" pitchFamily="49" charset="-122"/>
              </a:rPr>
              <a:t>、体积变化功</a:t>
            </a:r>
            <a:endParaRPr lang="zh-CN" altLang="en-US" sz="3200" b="1">
              <a:latin typeface="黑体" panose="02010609060101010101" pitchFamily="49" charset="-122"/>
              <a:ea typeface="黑体" panose="02010609060101010101" pitchFamily="49" charset="-122"/>
            </a:endParaRPr>
          </a:p>
        </p:txBody>
      </p:sp>
      <p:sp>
        <p:nvSpPr>
          <p:cNvPr id="51203" name="矩形 34821"/>
          <p:cNvSpPr>
            <a:spLocks noChangeArrowheads="1"/>
          </p:cNvSpPr>
          <p:nvPr/>
        </p:nvSpPr>
        <p:spPr bwMode="auto">
          <a:xfrm>
            <a:off x="0" y="1905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1204" name="矩形 34824"/>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1205" name="矩形 34826"/>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1206" name="矩形 34834"/>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1207" name="矩形 34836"/>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1208" name="矩形 34839"/>
          <p:cNvSpPr>
            <a:spLocks noChangeArrowheads="1"/>
          </p:cNvSpPr>
          <p:nvPr/>
        </p:nvSpPr>
        <p:spPr bwMode="auto">
          <a:xfrm>
            <a:off x="684213" y="981075"/>
            <a:ext cx="6985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准平衡过程</a:t>
            </a:r>
            <a:endParaRPr lang="zh-CN" altLang="en-US" sz="3200" b="1">
              <a:latin typeface="黑体" panose="02010609060101010101" pitchFamily="49" charset="-122"/>
              <a:ea typeface="黑体" panose="02010609060101010101" pitchFamily="49" charset="-122"/>
            </a:endParaRPr>
          </a:p>
        </p:txBody>
      </p:sp>
      <p:sp>
        <p:nvSpPr>
          <p:cNvPr id="51209" name="矩形 34843"/>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1210" name="矩形 34846"/>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1211" name="矩形 34850"/>
          <p:cNvSpPr>
            <a:spLocks noChangeArrowheads="1"/>
          </p:cNvSpPr>
          <p:nvPr/>
        </p:nvSpPr>
        <p:spPr bwMode="auto">
          <a:xfrm>
            <a:off x="0"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4854" name="内容占位符 34853"/>
          <p:cNvSpPr>
            <a:spLocks noGrp="1" noChangeArrowheads="1"/>
          </p:cNvSpPr>
          <p:nvPr>
            <p:ph idx="1"/>
          </p:nvPr>
        </p:nvSpPr>
        <p:spPr>
          <a:xfrm>
            <a:off x="338216" y="2818322"/>
            <a:ext cx="8467567" cy="3816350"/>
          </a:xfrm>
        </p:spPr>
        <p:txBody>
          <a:bodyPr>
            <a:noAutofit/>
          </a:bodyPr>
          <a:lstStyle/>
          <a:p>
            <a:pPr eaLnBrk="1" hangingPunct="1"/>
            <a:r>
              <a:rPr lang="zh-CN" altLang="en-US" sz="2800" b="1" dirty="0" smtClean="0">
                <a:latin typeface="黑体" panose="02010609060101010101" pitchFamily="49" charset="-122"/>
                <a:ea typeface="黑体" panose="02010609060101010101" pitchFamily="49" charset="-122"/>
              </a:rPr>
              <a:t>气缸内有一定量的气体，以气体为研究系统，则此系统有一个移动的边界</a:t>
            </a:r>
            <a:r>
              <a:rPr lang="en-US" altLang="zh-CN" sz="2800" b="1" i="1" dirty="0" smtClean="0">
                <a:latin typeface="Times New Roman" panose="02020603050405020304" pitchFamily="18" charset="0"/>
                <a:ea typeface="黑体" panose="02010609060101010101" pitchFamily="49" charset="-122"/>
              </a:rPr>
              <a:t>ab</a:t>
            </a:r>
            <a:endParaRPr lang="zh-CN" altLang="en-US" sz="2800" b="1" dirty="0" smtClean="0">
              <a:latin typeface="黑体" panose="02010609060101010101" pitchFamily="49" charset="-122"/>
              <a:ea typeface="黑体" panose="02010609060101010101" pitchFamily="49" charset="-122"/>
            </a:endParaRPr>
          </a:p>
          <a:p>
            <a:pPr eaLnBrk="1" hangingPunct="1"/>
            <a:r>
              <a:rPr lang="zh-CN" altLang="en-US" sz="2800" b="1" dirty="0" smtClean="0">
                <a:latin typeface="黑体" panose="02010609060101010101" pitchFamily="49" charset="-122"/>
                <a:ea typeface="黑体" panose="02010609060101010101" pitchFamily="49" charset="-122"/>
              </a:rPr>
              <a:t>假定活塞面积为</a:t>
            </a:r>
            <a:r>
              <a:rPr lang="en-US" altLang="zh-CN" sz="2800" b="1" i="1" dirty="0" smtClean="0">
                <a:latin typeface="Times New Roman" panose="02020603050405020304" pitchFamily="18" charset="0"/>
                <a:ea typeface="黑体" panose="02010609060101010101" pitchFamily="49" charset="-122"/>
              </a:rPr>
              <a:t>A</a:t>
            </a:r>
            <a:r>
              <a:rPr lang="zh-CN" altLang="en-US" sz="2800" b="1" dirty="0" smtClean="0">
                <a:latin typeface="黑体" panose="02010609060101010101" pitchFamily="49" charset="-122"/>
                <a:ea typeface="黑体" panose="02010609060101010101" pitchFamily="49" charset="-122"/>
              </a:rPr>
              <a:t>，在边界上系统作用于活塞上的压力为</a:t>
            </a:r>
            <a:r>
              <a:rPr lang="en-US" altLang="zh-CN" sz="2800" b="1" i="1" dirty="0" smtClean="0">
                <a:latin typeface="Times New Roman" panose="02020603050405020304" pitchFamily="18" charset="0"/>
                <a:ea typeface="黑体" panose="02010609060101010101" pitchFamily="49" charset="-122"/>
              </a:rPr>
              <a:t>p</a:t>
            </a:r>
            <a:r>
              <a:rPr lang="zh-CN" altLang="en-US" sz="2800" b="1" dirty="0" smtClean="0">
                <a:latin typeface="黑体" panose="02010609060101010101" pitchFamily="49" charset="-122"/>
                <a:ea typeface="黑体" panose="02010609060101010101" pitchFamily="49" charset="-122"/>
              </a:rPr>
              <a:t>，则总作用力为</a:t>
            </a:r>
            <a:r>
              <a:rPr lang="en-US" altLang="zh-CN" sz="2800" b="1" i="1" dirty="0" err="1" smtClean="0">
                <a:latin typeface="Times New Roman" panose="02020603050405020304" pitchFamily="18" charset="0"/>
                <a:ea typeface="黑体" panose="02010609060101010101" pitchFamily="49" charset="-122"/>
              </a:rPr>
              <a:t>pA</a:t>
            </a:r>
            <a:endParaRPr lang="zh-CN" altLang="en-US" sz="2800" b="1" dirty="0" smtClean="0">
              <a:latin typeface="黑体" panose="02010609060101010101" pitchFamily="49" charset="-122"/>
              <a:ea typeface="黑体" panose="02010609060101010101" pitchFamily="49" charset="-122"/>
            </a:endParaRPr>
          </a:p>
          <a:p>
            <a:pPr eaLnBrk="1" hangingPunct="1"/>
            <a:r>
              <a:rPr lang="zh-CN" altLang="en-US" sz="2800" b="1" dirty="0" smtClean="0">
                <a:latin typeface="黑体" panose="02010609060101010101" pitchFamily="49" charset="-122"/>
                <a:ea typeface="黑体" panose="02010609060101010101" pitchFamily="49" charset="-122"/>
              </a:rPr>
              <a:t>与此同时，外界也施加一相反作用力</a:t>
            </a:r>
            <a:r>
              <a:rPr lang="en-US" altLang="zh-CN" sz="2800" b="1" i="1" dirty="0" err="1" smtClean="0">
                <a:latin typeface="Times New Roman" panose="02020603050405020304" pitchFamily="18" charset="0"/>
                <a:ea typeface="黑体" panose="02010609060101010101" pitchFamily="49" charset="-122"/>
              </a:rPr>
              <a:t>p</a:t>
            </a:r>
            <a:r>
              <a:rPr lang="en-US" altLang="zh-CN" sz="2800" b="1" baseline="-25000" dirty="0" err="1" smtClean="0">
                <a:latin typeface="Times New Roman" panose="02020603050405020304" pitchFamily="18" charset="0"/>
                <a:ea typeface="黑体" panose="02010609060101010101" pitchFamily="49" charset="-122"/>
              </a:rPr>
              <a:t>surr</a:t>
            </a:r>
            <a:r>
              <a:rPr lang="en-US" altLang="zh-CN" sz="2800" b="1" i="1" dirty="0" err="1" smtClean="0">
                <a:latin typeface="Times New Roman" panose="02020603050405020304" pitchFamily="18" charset="0"/>
                <a:ea typeface="黑体" panose="02010609060101010101" pitchFamily="49" charset="-122"/>
              </a:rPr>
              <a:t>A</a:t>
            </a:r>
            <a:r>
              <a:rPr lang="zh-CN" altLang="en-US" sz="2800" b="1" dirty="0" smtClean="0">
                <a:latin typeface="黑体" panose="02010609060101010101" pitchFamily="49" charset="-122"/>
                <a:ea typeface="黑体" panose="02010609060101010101" pitchFamily="49" charset="-122"/>
              </a:rPr>
              <a:t>于边界上</a:t>
            </a:r>
            <a:endParaRPr lang="zh-CN" altLang="en-US" sz="2800" b="1" dirty="0" smtClean="0">
              <a:latin typeface="黑体" panose="02010609060101010101" pitchFamily="49" charset="-122"/>
              <a:ea typeface="黑体" panose="02010609060101010101" pitchFamily="49" charset="-122"/>
            </a:endParaRPr>
          </a:p>
          <a:p>
            <a:pPr eaLnBrk="1" hangingPunct="1"/>
            <a:r>
              <a:rPr lang="zh-CN" altLang="en-US" sz="2800" b="1" dirty="0" smtClean="0">
                <a:latin typeface="黑体" panose="02010609060101010101" pitchFamily="49" charset="-122"/>
                <a:ea typeface="黑体" panose="02010609060101010101" pitchFamily="49" charset="-122"/>
              </a:rPr>
              <a:t>这个反方向的力是系统受到的外力，此外力可来源于活塞与气缸壁面间的摩擦、大气压力、外界负载或其它作用 </a:t>
            </a:r>
            <a:endParaRPr lang="en-US" altLang="zh-CN" sz="2800" dirty="0" smtClean="0">
              <a:latin typeface="黑体" panose="02010609060101010101" pitchFamily="49" charset="-122"/>
              <a:ea typeface="黑体" panose="02010609060101010101" pitchFamily="49" charset="-122"/>
            </a:endParaRPr>
          </a:p>
        </p:txBody>
      </p:sp>
      <p:pic>
        <p:nvPicPr>
          <p:cNvPr id="51213"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79838" y="219075"/>
            <a:ext cx="4468812" cy="233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4854">
                                            <p:txEl>
                                              <p:pRg st="0" end="0"/>
                                            </p:txEl>
                                          </p:spTgt>
                                        </p:tgtEl>
                                        <p:attrNameLst>
                                          <p:attrName>style.visibility</p:attrName>
                                        </p:attrNameLst>
                                      </p:cBhvr>
                                      <p:to>
                                        <p:strVal val="visible"/>
                                      </p:to>
                                    </p:set>
                                    <p:animEffect transition="in" filter="blinds(horizontal)">
                                      <p:cBhvr>
                                        <p:cTn id="7" dur="500"/>
                                        <p:tgtEl>
                                          <p:spTgt spid="348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4854">
                                            <p:txEl>
                                              <p:pRg st="1" end="1"/>
                                            </p:txEl>
                                          </p:spTgt>
                                        </p:tgtEl>
                                        <p:attrNameLst>
                                          <p:attrName>style.visibility</p:attrName>
                                        </p:attrNameLst>
                                      </p:cBhvr>
                                      <p:to>
                                        <p:strVal val="visible"/>
                                      </p:to>
                                    </p:set>
                                    <p:animEffect transition="in" filter="blinds(horizontal)">
                                      <p:cBhvr>
                                        <p:cTn id="12" dur="500"/>
                                        <p:tgtEl>
                                          <p:spTgt spid="3485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4854">
                                            <p:txEl>
                                              <p:pRg st="2" end="2"/>
                                            </p:txEl>
                                          </p:spTgt>
                                        </p:tgtEl>
                                        <p:attrNameLst>
                                          <p:attrName>style.visibility</p:attrName>
                                        </p:attrNameLst>
                                      </p:cBhvr>
                                      <p:to>
                                        <p:strVal val="visible"/>
                                      </p:to>
                                    </p:set>
                                    <p:animEffect transition="in" filter="blinds(horizontal)">
                                      <p:cBhvr>
                                        <p:cTn id="17" dur="500"/>
                                        <p:tgtEl>
                                          <p:spTgt spid="3485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4854">
                                            <p:txEl>
                                              <p:pRg st="3" end="3"/>
                                            </p:txEl>
                                          </p:spTgt>
                                        </p:tgtEl>
                                        <p:attrNameLst>
                                          <p:attrName>style.visibility</p:attrName>
                                        </p:attrNameLst>
                                      </p:cBhvr>
                                      <p:to>
                                        <p:strVal val="visible"/>
                                      </p:to>
                                    </p:set>
                                    <p:animEffect transition="in" filter="blinds(horizontal)">
                                      <p:cBhvr>
                                        <p:cTn id="22" dur="500"/>
                                        <p:tgtEl>
                                          <p:spTgt spid="3485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矩形 105473"/>
          <p:cNvSpPr>
            <a:spLocks noChangeArrowheads="1"/>
          </p:cNvSpPr>
          <p:nvPr/>
        </p:nvSpPr>
        <p:spPr bwMode="auto">
          <a:xfrm>
            <a:off x="395288" y="188913"/>
            <a:ext cx="6985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latin typeface="黑体" panose="02010609060101010101" pitchFamily="49" charset="-122"/>
                <a:ea typeface="黑体" panose="02010609060101010101" pitchFamily="49" charset="-122"/>
              </a:rPr>
              <a:t>1</a:t>
            </a:r>
            <a:r>
              <a:rPr lang="zh-CN" altLang="en-US" sz="3200" b="1">
                <a:latin typeface="黑体" panose="02010609060101010101" pitchFamily="49" charset="-122"/>
                <a:ea typeface="黑体" panose="02010609060101010101" pitchFamily="49" charset="-122"/>
              </a:rPr>
              <a:t>、体积变化功</a:t>
            </a:r>
            <a:endParaRPr lang="zh-CN" altLang="en-US" sz="3200" b="1">
              <a:latin typeface="黑体" panose="02010609060101010101" pitchFamily="49" charset="-122"/>
              <a:ea typeface="黑体" panose="02010609060101010101" pitchFamily="49" charset="-122"/>
            </a:endParaRPr>
          </a:p>
        </p:txBody>
      </p:sp>
      <p:sp>
        <p:nvSpPr>
          <p:cNvPr id="52227" name="矩形 105474"/>
          <p:cNvSpPr>
            <a:spLocks noChangeArrowheads="1"/>
          </p:cNvSpPr>
          <p:nvPr/>
        </p:nvSpPr>
        <p:spPr bwMode="auto">
          <a:xfrm>
            <a:off x="0" y="1905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2228" name="矩形 105475"/>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2229" name="矩形 105476"/>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2230" name="矩形 105477"/>
          <p:cNvSpPr>
            <a:spLocks noChangeArrowheads="1"/>
          </p:cNvSpPr>
          <p:nvPr/>
        </p:nvSpPr>
        <p:spPr bwMode="auto">
          <a:xfrm>
            <a:off x="395288" y="2779713"/>
            <a:ext cx="756126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系统内部及边界上均应满足准平衡条件：</a:t>
            </a:r>
            <a:endParaRPr lang="zh-CN" altLang="en-US" sz="2800" b="1">
              <a:latin typeface="黑体" panose="02010609060101010101" pitchFamily="49" charset="-122"/>
              <a:ea typeface="黑体" panose="02010609060101010101" pitchFamily="49" charset="-122"/>
            </a:endParaRPr>
          </a:p>
        </p:txBody>
      </p:sp>
      <p:sp>
        <p:nvSpPr>
          <p:cNvPr id="52231" name="矩形 105478"/>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2232" name="矩形 105479"/>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2233" name="矩形 105480"/>
          <p:cNvSpPr>
            <a:spLocks noChangeArrowheads="1"/>
          </p:cNvSpPr>
          <p:nvPr/>
        </p:nvSpPr>
        <p:spPr bwMode="auto">
          <a:xfrm>
            <a:off x="684213" y="981075"/>
            <a:ext cx="6985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准平衡过程</a:t>
            </a:r>
            <a:endParaRPr lang="zh-CN" altLang="en-US" sz="3200" b="1">
              <a:latin typeface="黑体" panose="02010609060101010101" pitchFamily="49" charset="-122"/>
              <a:ea typeface="黑体" panose="02010609060101010101" pitchFamily="49" charset="-122"/>
            </a:endParaRPr>
          </a:p>
        </p:txBody>
      </p:sp>
      <p:sp>
        <p:nvSpPr>
          <p:cNvPr id="52234" name="矩形 105482"/>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2235" name="对象 105483"/>
          <p:cNvGraphicFramePr/>
          <p:nvPr/>
        </p:nvGraphicFramePr>
        <p:xfrm>
          <a:off x="6921500" y="2774950"/>
          <a:ext cx="1223963" cy="525463"/>
        </p:xfrm>
        <a:graphic>
          <a:graphicData uri="http://schemas.openxmlformats.org/presentationml/2006/ole">
            <mc:AlternateContent xmlns:mc="http://schemas.openxmlformats.org/markup-compatibility/2006">
              <mc:Choice xmlns:v="urn:schemas-microsoft-com:vml" Requires="v">
                <p:oleObj spid="_x0000_s28677" name="" r:id="rId1" imgW="533400" imgH="228600" progId="Equation.DSMT4">
                  <p:embed/>
                </p:oleObj>
              </mc:Choice>
              <mc:Fallback>
                <p:oleObj name="" r:id="rId1" imgW="533400" imgH="228600" progId="Equation.DSMT4">
                  <p:embed/>
                  <p:pic>
                    <p:nvPicPr>
                      <p:cNvPr id="0" name="对象 10548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1500" y="2774950"/>
                        <a:ext cx="1223963"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2236" name="矩形 105484"/>
          <p:cNvSpPr>
            <a:spLocks noChangeArrowheads="1"/>
          </p:cNvSpPr>
          <p:nvPr/>
        </p:nvSpPr>
        <p:spPr bwMode="auto">
          <a:xfrm>
            <a:off x="395288" y="3371850"/>
            <a:ext cx="3775075"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活塞移动一微小距离</a:t>
            </a:r>
            <a:r>
              <a:rPr lang="en-US" altLang="zh-CN" sz="2800" b="1">
                <a:latin typeface="Times New Roman" panose="02020603050405020304" pitchFamily="18" charset="0"/>
                <a:ea typeface="黑体" panose="02010609060101010101" pitchFamily="49" charset="-122"/>
              </a:rPr>
              <a:t>d</a:t>
            </a:r>
            <a:r>
              <a:rPr lang="en-US" altLang="zh-CN" sz="2800" b="1" i="1">
                <a:latin typeface="Times New Roman" panose="02020603050405020304" pitchFamily="18" charset="0"/>
                <a:ea typeface="黑体" panose="02010609060101010101" pitchFamily="49" charset="-122"/>
              </a:rPr>
              <a:t>x</a:t>
            </a:r>
            <a:r>
              <a:rPr lang="en-US" altLang="zh-CN" sz="2800" b="1">
                <a:latin typeface="Times New Roman" panose="02020603050405020304" pitchFamily="18" charset="0"/>
                <a:ea typeface="黑体" panose="02010609060101010101" pitchFamily="49" charset="-122"/>
              </a:rPr>
              <a:t> </a:t>
            </a:r>
            <a:endParaRPr lang="en-US" altLang="zh-CN" sz="2800" b="1">
              <a:latin typeface="Times New Roman" panose="02020603050405020304" pitchFamily="18" charset="0"/>
              <a:ea typeface="黑体" panose="02010609060101010101" pitchFamily="49" charset="-122"/>
            </a:endParaRPr>
          </a:p>
        </p:txBody>
      </p:sp>
      <p:sp>
        <p:nvSpPr>
          <p:cNvPr id="52237" name="矩形 105485"/>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05487" name="对象 105486"/>
          <p:cNvGraphicFramePr/>
          <p:nvPr/>
        </p:nvGraphicFramePr>
        <p:xfrm>
          <a:off x="2195513" y="4651375"/>
          <a:ext cx="4032250" cy="492125"/>
        </p:xfrm>
        <a:graphic>
          <a:graphicData uri="http://schemas.openxmlformats.org/presentationml/2006/ole">
            <mc:AlternateContent xmlns:mc="http://schemas.openxmlformats.org/markup-compatibility/2006">
              <mc:Choice xmlns:v="urn:schemas-microsoft-com:vml" Requires="v">
                <p:oleObj spid="_x0000_s28678" name="" r:id="rId3" imgW="1879600" imgH="228600" progId="Equation.DSMT4">
                  <p:embed/>
                </p:oleObj>
              </mc:Choice>
              <mc:Fallback>
                <p:oleObj name="" r:id="rId3" imgW="1879600" imgH="228600" progId="Equation.DSMT4">
                  <p:embed/>
                  <p:pic>
                    <p:nvPicPr>
                      <p:cNvPr id="0" name="对象 10548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4651375"/>
                        <a:ext cx="403225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5488" name="矩形 105487"/>
          <p:cNvSpPr>
            <a:spLocks noChangeArrowheads="1"/>
          </p:cNvSpPr>
          <p:nvPr/>
        </p:nvSpPr>
        <p:spPr bwMode="auto">
          <a:xfrm>
            <a:off x="438150" y="4011613"/>
            <a:ext cx="733266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00FF"/>
                </a:solidFill>
                <a:latin typeface="黑体" panose="02010609060101010101" pitchFamily="49" charset="-122"/>
                <a:ea typeface="黑体" panose="02010609060101010101" pitchFamily="49" charset="-122"/>
              </a:rPr>
              <a:t>系统在移动边界上完成的功量（体积变化功）</a:t>
            </a:r>
            <a:r>
              <a:rPr lang="zh-CN" altLang="en-US" sz="2800" b="1">
                <a:latin typeface="楷体_GB2312" pitchFamily="49" charset="-122"/>
                <a:ea typeface="楷体_GB2312" pitchFamily="49" charset="-122"/>
              </a:rPr>
              <a:t> </a:t>
            </a:r>
            <a:endParaRPr lang="zh-CN" altLang="en-US" sz="2800" b="1">
              <a:latin typeface="楷体_GB2312" pitchFamily="49" charset="-122"/>
              <a:ea typeface="楷体_GB2312" pitchFamily="49" charset="-122"/>
            </a:endParaRPr>
          </a:p>
        </p:txBody>
      </p:sp>
      <p:sp>
        <p:nvSpPr>
          <p:cNvPr id="105489" name="矩形 105488"/>
          <p:cNvSpPr>
            <a:spLocks noChangeArrowheads="1"/>
          </p:cNvSpPr>
          <p:nvPr/>
        </p:nvSpPr>
        <p:spPr bwMode="auto">
          <a:xfrm>
            <a:off x="430213" y="5354638"/>
            <a:ext cx="85328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若活塞从位置</a:t>
            </a:r>
            <a:r>
              <a:rPr lang="en-US" altLang="zh-CN" sz="2800" b="1">
                <a:latin typeface="黑体" panose="02010609060101010101" pitchFamily="49" charset="-122"/>
                <a:ea typeface="黑体" panose="02010609060101010101" pitchFamily="49" charset="-122"/>
              </a:rPr>
              <a:t>1</a:t>
            </a:r>
            <a:r>
              <a:rPr lang="zh-CN" altLang="en-US" sz="2800" b="1">
                <a:latin typeface="黑体" panose="02010609060101010101" pitchFamily="49" charset="-122"/>
                <a:ea typeface="黑体" panose="02010609060101010101" pitchFamily="49" charset="-122"/>
              </a:rPr>
              <a:t>移动到位置</a:t>
            </a:r>
            <a:r>
              <a:rPr lang="en-US" altLang="zh-CN" sz="2800" b="1">
                <a:latin typeface="黑体" panose="02010609060101010101" pitchFamily="49" charset="-122"/>
                <a:ea typeface="黑体" panose="02010609060101010101" pitchFamily="49" charset="-122"/>
              </a:rPr>
              <a:t>2</a:t>
            </a:r>
            <a:r>
              <a:rPr lang="zh-CN" altLang="en-US" sz="2800" b="1">
                <a:latin typeface="黑体" panose="02010609060101010101" pitchFamily="49" charset="-122"/>
                <a:ea typeface="黑体" panose="02010609060101010101" pitchFamily="49" charset="-122"/>
              </a:rPr>
              <a:t>，其所作的体积变化功为</a:t>
            </a:r>
            <a:r>
              <a:rPr lang="zh-CN" altLang="en-US" sz="2800" b="1">
                <a:latin typeface="楷体_GB2312" pitchFamily="49" charset="-122"/>
                <a:ea typeface="楷体_GB2312" pitchFamily="49" charset="-122"/>
              </a:rPr>
              <a:t> </a:t>
            </a:r>
            <a:endParaRPr lang="zh-CN" altLang="en-US" sz="2800" b="1">
              <a:latin typeface="楷体_GB2312" pitchFamily="49" charset="-122"/>
              <a:ea typeface="楷体_GB2312" pitchFamily="49" charset="-122"/>
            </a:endParaRPr>
          </a:p>
        </p:txBody>
      </p:sp>
      <p:sp>
        <p:nvSpPr>
          <p:cNvPr id="52241" name="矩形 105489"/>
          <p:cNvSpPr>
            <a:spLocks noChangeArrowheads="1"/>
          </p:cNvSpPr>
          <p:nvPr/>
        </p:nvSpPr>
        <p:spPr bwMode="auto">
          <a:xfrm>
            <a:off x="0"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05491" name="对象 105490"/>
          <p:cNvGraphicFramePr/>
          <p:nvPr/>
        </p:nvGraphicFramePr>
        <p:xfrm>
          <a:off x="1979613" y="5876925"/>
          <a:ext cx="2089150" cy="750888"/>
        </p:xfrm>
        <a:graphic>
          <a:graphicData uri="http://schemas.openxmlformats.org/presentationml/2006/ole">
            <mc:AlternateContent xmlns:mc="http://schemas.openxmlformats.org/markup-compatibility/2006">
              <mc:Choice xmlns:v="urn:schemas-microsoft-com:vml" Requires="v">
                <p:oleObj spid="_x0000_s28679" name="" r:id="rId5" imgW="977265" imgH="355600" progId="Equation.DSMT4">
                  <p:embed/>
                </p:oleObj>
              </mc:Choice>
              <mc:Fallback>
                <p:oleObj name="" r:id="rId5" imgW="977265" imgH="355600" progId="Equation.DSMT4">
                  <p:embed/>
                  <p:pic>
                    <p:nvPicPr>
                      <p:cNvPr id="0" name="对象 10549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613" y="5876925"/>
                        <a:ext cx="2089150"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5492" name="矩形 105491"/>
          <p:cNvSpPr>
            <a:spLocks noChangeArrowheads="1"/>
          </p:cNvSpPr>
          <p:nvPr/>
        </p:nvSpPr>
        <p:spPr bwMode="auto">
          <a:xfrm>
            <a:off x="4572000" y="5949950"/>
            <a:ext cx="3573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solidFill>
                  <a:srgbClr val="FF00FF"/>
                </a:solidFill>
                <a:ea typeface="黑体" panose="02010609060101010101" pitchFamily="49" charset="-122"/>
              </a:rPr>
              <a:t>——</a:t>
            </a:r>
            <a:r>
              <a:rPr lang="zh-CN" altLang="en-US" sz="2800" b="1">
                <a:solidFill>
                  <a:srgbClr val="FF00FF"/>
                </a:solidFill>
                <a:latin typeface="黑体" panose="02010609060101010101" pitchFamily="49" charset="-122"/>
                <a:ea typeface="黑体" panose="02010609060101010101" pitchFamily="49" charset="-122"/>
              </a:rPr>
              <a:t>准静体积变化功</a:t>
            </a:r>
            <a:r>
              <a:rPr lang="zh-CN" altLang="en-US" sz="2800">
                <a:solidFill>
                  <a:srgbClr val="FF00FF"/>
                </a:solidFill>
                <a:latin typeface="黑体" panose="02010609060101010101" pitchFamily="49" charset="-122"/>
                <a:ea typeface="黑体" panose="02010609060101010101" pitchFamily="49" charset="-122"/>
              </a:rPr>
              <a:t> </a:t>
            </a:r>
            <a:endParaRPr lang="zh-CN" altLang="en-US" sz="2800">
              <a:solidFill>
                <a:srgbClr val="FF00FF"/>
              </a:solidFill>
              <a:latin typeface="黑体" panose="02010609060101010101" pitchFamily="49" charset="-122"/>
              <a:ea typeface="黑体" panose="02010609060101010101" pitchFamily="49" charset="-122"/>
            </a:endParaRPr>
          </a:p>
        </p:txBody>
      </p:sp>
      <p:pic>
        <p:nvPicPr>
          <p:cNvPr id="52244" name="图片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79838" y="219075"/>
            <a:ext cx="4468812" cy="233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8"/>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5487"/>
                                        </p:tgtEl>
                                        <p:attrNameLst>
                                          <p:attrName>style.visibility</p:attrName>
                                        </p:attrNameLst>
                                      </p:cBhvr>
                                      <p:to>
                                        <p:strVal val="visible"/>
                                      </p:to>
                                    </p:set>
                                    <p:animEffect transition="in" filter="blinds(horizontal)">
                                      <p:cBhvr>
                                        <p:cTn id="7" dur="500"/>
                                        <p:tgtEl>
                                          <p:spTgt spid="10548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5488"/>
                                        </p:tgtEl>
                                        <p:attrNameLst>
                                          <p:attrName>style.visibility</p:attrName>
                                        </p:attrNameLst>
                                      </p:cBhvr>
                                      <p:to>
                                        <p:strVal val="visible"/>
                                      </p:to>
                                    </p:set>
                                    <p:animEffect transition="in" filter="blinds(horizontal)">
                                      <p:cBhvr>
                                        <p:cTn id="10" dur="500"/>
                                        <p:tgtEl>
                                          <p:spTgt spid="105488"/>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05489"/>
                                        </p:tgtEl>
                                        <p:attrNameLst>
                                          <p:attrName>style.visibility</p:attrName>
                                        </p:attrNameLst>
                                      </p:cBhvr>
                                      <p:to>
                                        <p:strVal val="visible"/>
                                      </p:to>
                                    </p:set>
                                    <p:animEffect transition="in" filter="blinds(horizontal)">
                                      <p:cBhvr>
                                        <p:cTn id="15" dur="500"/>
                                        <p:tgtEl>
                                          <p:spTgt spid="105489"/>
                                        </p:tgtEl>
                                      </p:cBhvr>
                                    </p:animEffect>
                                  </p:childTnLst>
                                </p:cTn>
                              </p:par>
                              <p:par>
                                <p:cTn id="16" presetID="3" presetClass="entr" presetSubtype="10" fill="hold" nodeType="withEffect">
                                  <p:stCondLst>
                                    <p:cond delay="0"/>
                                  </p:stCondLst>
                                  <p:childTnLst>
                                    <p:set>
                                      <p:cBhvr>
                                        <p:cTn id="17" dur="1" fill="hold">
                                          <p:stCondLst>
                                            <p:cond delay="0"/>
                                          </p:stCondLst>
                                        </p:cTn>
                                        <p:tgtEl>
                                          <p:spTgt spid="105491"/>
                                        </p:tgtEl>
                                        <p:attrNameLst>
                                          <p:attrName>style.visibility</p:attrName>
                                        </p:attrNameLst>
                                      </p:cBhvr>
                                      <p:to>
                                        <p:strVal val="visible"/>
                                      </p:to>
                                    </p:set>
                                    <p:animEffect transition="in" filter="blinds(horizontal)">
                                      <p:cBhvr>
                                        <p:cTn id="18" dur="500"/>
                                        <p:tgtEl>
                                          <p:spTgt spid="105491"/>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05492"/>
                                        </p:tgtEl>
                                        <p:attrNameLst>
                                          <p:attrName>style.visibility</p:attrName>
                                        </p:attrNameLst>
                                      </p:cBhvr>
                                      <p:to>
                                        <p:strVal val="visible"/>
                                      </p:to>
                                    </p:set>
                                    <p:animEffect transition="in" filter="blinds(horizontal)">
                                      <p:cBhvr>
                                        <p:cTn id="21" dur="500"/>
                                        <p:tgtEl>
                                          <p:spTgt spid="105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88" grpId="0"/>
      <p:bldP spid="105489" grpId="0"/>
      <p:bldP spid="10549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文本占位符 108546"/>
          <p:cNvSpPr>
            <a:spLocks noGrp="1" noChangeArrowheads="1"/>
          </p:cNvSpPr>
          <p:nvPr>
            <p:ph idx="1"/>
          </p:nvPr>
        </p:nvSpPr>
        <p:spPr>
          <a:xfrm>
            <a:off x="468313" y="2276475"/>
            <a:ext cx="8229600" cy="3905250"/>
          </a:xfrm>
        </p:spPr>
        <p:txBody>
          <a:bodyPr>
            <a:normAutofit/>
          </a:bodyPr>
          <a:lstStyle/>
          <a:p>
            <a:pPr eaLnBrk="1" hangingPunct="1"/>
            <a:r>
              <a:rPr lang="zh-CN" altLang="en-US" sz="3200" b="1" dirty="0" smtClean="0">
                <a:latin typeface="黑体" panose="02010609060101010101" pitchFamily="49" charset="-122"/>
                <a:ea typeface="黑体" panose="02010609060101010101" pitchFamily="49" charset="-122"/>
              </a:rPr>
              <a:t>准静功可以</a:t>
            </a:r>
            <a:r>
              <a:rPr lang="zh-CN" altLang="en-US" sz="3200" b="1" dirty="0" smtClean="0">
                <a:solidFill>
                  <a:srgbClr val="FF0000"/>
                </a:solidFill>
                <a:latin typeface="黑体" panose="02010609060101010101" pitchFamily="49" charset="-122"/>
                <a:ea typeface="黑体" panose="02010609060101010101" pitchFamily="49" charset="-122"/>
              </a:rPr>
              <a:t>仅通过系统内部的参数来描述</a:t>
            </a:r>
            <a:r>
              <a:rPr lang="zh-CN" altLang="en-US" sz="3200" b="1" dirty="0" smtClean="0">
                <a:latin typeface="黑体" panose="02010609060101010101" pitchFamily="49" charset="-122"/>
                <a:ea typeface="黑体" panose="02010609060101010101" pitchFamily="49" charset="-122"/>
              </a:rPr>
              <a:t>，</a:t>
            </a:r>
            <a:r>
              <a:rPr lang="zh-CN" altLang="en-US" sz="3200" b="1" dirty="0" smtClean="0">
                <a:solidFill>
                  <a:srgbClr val="FF0000"/>
                </a:solidFill>
                <a:latin typeface="黑体" panose="02010609060101010101" pitchFamily="49" charset="-122"/>
                <a:ea typeface="黑体" panose="02010609060101010101" pitchFamily="49" charset="-122"/>
              </a:rPr>
              <a:t>而无需考虑外界的情况</a:t>
            </a:r>
            <a:endParaRPr lang="zh-CN" altLang="en-US" sz="3200" b="1" dirty="0" smtClean="0">
              <a:latin typeface="黑体" panose="02010609060101010101" pitchFamily="49" charset="-122"/>
              <a:ea typeface="黑体" panose="02010609060101010101" pitchFamily="49" charset="-122"/>
            </a:endParaRPr>
          </a:p>
          <a:p>
            <a:pPr eaLnBrk="1" hangingPunct="1"/>
            <a:r>
              <a:rPr lang="zh-CN" altLang="en-US" sz="3200" b="1" dirty="0" smtClean="0">
                <a:latin typeface="黑体" panose="02010609060101010101" pitchFamily="49" charset="-122"/>
                <a:ea typeface="黑体" panose="02010609060101010101" pitchFamily="49" charset="-122"/>
              </a:rPr>
              <a:t>它将系统与外界之间功量的交换（</a:t>
            </a:r>
            <a:r>
              <a:rPr lang="en-US" altLang="zh-CN" sz="3200" b="1" i="1" dirty="0" err="1" smtClean="0">
                <a:latin typeface="Times New Roman" panose="02020603050405020304" pitchFamily="18" charset="0"/>
                <a:ea typeface="黑体" panose="02010609060101010101" pitchFamily="49" charset="-122"/>
              </a:rPr>
              <a:t>W</a:t>
            </a:r>
            <a:r>
              <a:rPr lang="en-US" altLang="zh-CN" sz="3200" b="1" baseline="-25000" dirty="0" err="1" smtClean="0">
                <a:latin typeface="Times New Roman" panose="02020603050405020304" pitchFamily="18" charset="0"/>
                <a:ea typeface="黑体" panose="02010609060101010101" pitchFamily="49" charset="-122"/>
              </a:rPr>
              <a:t>b</a:t>
            </a:r>
            <a:r>
              <a:rPr lang="zh-CN" altLang="en-US" sz="3200" b="1" dirty="0" smtClean="0">
                <a:latin typeface="黑体" panose="02010609060101010101" pitchFamily="49" charset="-122"/>
                <a:ea typeface="黑体" panose="02010609060101010101" pitchFamily="49" charset="-122"/>
              </a:rPr>
              <a:t>）与系统状态参数（</a:t>
            </a:r>
            <a:r>
              <a:rPr lang="en-US" altLang="zh-CN" sz="3200" b="1" i="1" dirty="0" smtClean="0">
                <a:latin typeface="Times New Roman" panose="02020603050405020304" pitchFamily="18" charset="0"/>
                <a:ea typeface="黑体" panose="02010609060101010101" pitchFamily="49" charset="-122"/>
              </a:rPr>
              <a:t>p</a:t>
            </a:r>
            <a:r>
              <a:rPr lang="zh-CN" altLang="en-US" sz="3200" b="1" dirty="0" smtClean="0">
                <a:latin typeface="Times New Roman" panose="02020603050405020304" pitchFamily="18" charset="0"/>
                <a:ea typeface="黑体" panose="02010609060101010101" pitchFamily="49" charset="-122"/>
              </a:rPr>
              <a:t>和</a:t>
            </a:r>
            <a:r>
              <a:rPr lang="en-US" altLang="zh-CN" sz="3200" b="1" i="1" dirty="0" smtClean="0">
                <a:latin typeface="Times New Roman" panose="02020603050405020304" pitchFamily="18" charset="0"/>
                <a:ea typeface="黑体" panose="02010609060101010101" pitchFamily="49" charset="-122"/>
              </a:rPr>
              <a:t>V</a:t>
            </a:r>
            <a:r>
              <a:rPr lang="zh-CN" altLang="en-US" sz="3200" b="1" dirty="0" smtClean="0">
                <a:latin typeface="黑体" panose="02010609060101010101" pitchFamily="49" charset="-122"/>
                <a:ea typeface="黑体" panose="02010609060101010101" pitchFamily="49" charset="-122"/>
              </a:rPr>
              <a:t>）的变化过程联系了起来</a:t>
            </a:r>
            <a:endParaRPr lang="zh-CN" altLang="en-US" sz="3200" b="1" dirty="0" smtClean="0">
              <a:latin typeface="黑体" panose="02010609060101010101" pitchFamily="49" charset="-122"/>
              <a:ea typeface="黑体" panose="02010609060101010101" pitchFamily="49" charset="-122"/>
            </a:endParaRPr>
          </a:p>
          <a:p>
            <a:pPr eaLnBrk="1" hangingPunct="1"/>
            <a:r>
              <a:rPr lang="zh-CN" altLang="en-US" sz="3200" b="1" dirty="0" smtClean="0">
                <a:latin typeface="黑体" panose="02010609060101010101" pitchFamily="49" charset="-122"/>
                <a:ea typeface="黑体" panose="02010609060101010101" pitchFamily="49" charset="-122"/>
              </a:rPr>
              <a:t>这充分体现了提出准平衡过程的意义和带来的方便 </a:t>
            </a:r>
            <a:endParaRPr lang="zh-CN" altLang="en-US" sz="3200" b="1" dirty="0" smtClean="0">
              <a:latin typeface="黑体" panose="02010609060101010101" pitchFamily="49" charset="-122"/>
              <a:ea typeface="黑体" panose="02010609060101010101" pitchFamily="49" charset="-122"/>
            </a:endParaRPr>
          </a:p>
        </p:txBody>
      </p:sp>
      <p:graphicFrame>
        <p:nvGraphicFramePr>
          <p:cNvPr id="53251" name="对象 108547"/>
          <p:cNvGraphicFramePr/>
          <p:nvPr/>
        </p:nvGraphicFramePr>
        <p:xfrm>
          <a:off x="900113" y="692150"/>
          <a:ext cx="2663825" cy="957263"/>
        </p:xfrm>
        <a:graphic>
          <a:graphicData uri="http://schemas.openxmlformats.org/presentationml/2006/ole">
            <mc:AlternateContent xmlns:mc="http://schemas.openxmlformats.org/markup-compatibility/2006">
              <mc:Choice xmlns:v="urn:schemas-microsoft-com:vml" Requires="v">
                <p:oleObj spid="_x0000_s29699" name="" r:id="rId1" imgW="977265" imgH="355600" progId="Equation.DSMT4">
                  <p:embed/>
                </p:oleObj>
              </mc:Choice>
              <mc:Fallback>
                <p:oleObj name="" r:id="rId1" imgW="977265" imgH="355600" progId="Equation.DSMT4">
                  <p:embed/>
                  <p:pic>
                    <p:nvPicPr>
                      <p:cNvPr id="0" name="对象 10854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692150"/>
                        <a:ext cx="2663825" cy="95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3252" name="矩形 108548"/>
          <p:cNvSpPr>
            <a:spLocks noChangeArrowheads="1"/>
          </p:cNvSpPr>
          <p:nvPr/>
        </p:nvSpPr>
        <p:spPr bwMode="auto">
          <a:xfrm>
            <a:off x="3779838" y="503238"/>
            <a:ext cx="4521200" cy="119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600" b="1">
                <a:solidFill>
                  <a:srgbClr val="FF00FF"/>
                </a:solidFill>
                <a:ea typeface="黑体" panose="02010609060101010101" pitchFamily="49" charset="-122"/>
              </a:rPr>
              <a:t>——</a:t>
            </a:r>
            <a:r>
              <a:rPr lang="zh-CN" altLang="en-US" sz="3600" b="1">
                <a:solidFill>
                  <a:srgbClr val="FF00FF"/>
                </a:solidFill>
                <a:latin typeface="黑体" panose="02010609060101010101" pitchFamily="49" charset="-122"/>
                <a:ea typeface="黑体" panose="02010609060101010101" pitchFamily="49" charset="-122"/>
              </a:rPr>
              <a:t>准静体积变化功，</a:t>
            </a:r>
            <a:endParaRPr lang="zh-CN" altLang="en-US" sz="3600" b="1">
              <a:solidFill>
                <a:srgbClr val="FF00FF"/>
              </a:solidFill>
              <a:latin typeface="黑体" panose="02010609060101010101" pitchFamily="49" charset="-122"/>
              <a:ea typeface="黑体" panose="02010609060101010101" pitchFamily="49" charset="-122"/>
            </a:endParaRPr>
          </a:p>
          <a:p>
            <a:pPr eaLnBrk="1" hangingPunct="1"/>
            <a:r>
              <a:rPr lang="zh-CN" altLang="en-US" sz="3600" b="1">
                <a:solidFill>
                  <a:srgbClr val="FF00FF"/>
                </a:solidFill>
                <a:latin typeface="黑体" panose="02010609060101010101" pitchFamily="49" charset="-122"/>
                <a:ea typeface="黑体" panose="02010609060101010101" pitchFamily="49" charset="-122"/>
              </a:rPr>
              <a:t>    简称准净功</a:t>
            </a:r>
            <a:r>
              <a:rPr lang="zh-CN" altLang="en-US" sz="2800">
                <a:solidFill>
                  <a:srgbClr val="FF00FF"/>
                </a:solidFill>
                <a:latin typeface="黑体" panose="02010609060101010101" pitchFamily="49" charset="-122"/>
                <a:ea typeface="黑体" panose="02010609060101010101" pitchFamily="49" charset="-122"/>
              </a:rPr>
              <a:t> </a:t>
            </a:r>
            <a:endParaRPr lang="zh-CN" altLang="en-US" sz="2800">
              <a:solidFill>
                <a:srgbClr val="FF00FF"/>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图片 7065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476250"/>
            <a:ext cx="5327650" cy="584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5" name="文本框 70658"/>
          <p:cNvSpPr txBox="1">
            <a:spLocks noChangeArrowheads="1"/>
          </p:cNvSpPr>
          <p:nvPr/>
        </p:nvSpPr>
        <p:spPr bwMode="auto">
          <a:xfrm>
            <a:off x="5292725" y="549275"/>
            <a:ext cx="3703638" cy="230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600" b="1" i="1">
                <a:latin typeface="Times New Roman" panose="02020603050405020304" pitchFamily="18" charset="0"/>
                <a:ea typeface="黑体" panose="02010609060101010101" pitchFamily="49" charset="-122"/>
              </a:rPr>
              <a:t>W</a:t>
            </a:r>
            <a:r>
              <a:rPr lang="en-US" altLang="zh-CN" sz="3600" b="1" baseline="-25000">
                <a:latin typeface="Times New Roman" panose="02020603050405020304" pitchFamily="18" charset="0"/>
                <a:ea typeface="黑体" panose="02010609060101010101" pitchFamily="49" charset="-122"/>
              </a:rPr>
              <a:t>b</a:t>
            </a:r>
            <a:r>
              <a:rPr lang="zh-CN" altLang="en-US" sz="3600" b="1">
                <a:latin typeface="Times New Roman" panose="02020603050405020304" pitchFamily="18" charset="0"/>
                <a:ea typeface="黑体" panose="02010609060101010101" pitchFamily="49" charset="-122"/>
              </a:rPr>
              <a:t>的大小可以用</a:t>
            </a:r>
            <a:r>
              <a:rPr lang="en-US" altLang="zh-CN" sz="3600" b="1" i="1">
                <a:latin typeface="Times New Roman" panose="02020603050405020304" pitchFamily="18" charset="0"/>
                <a:ea typeface="黑体" panose="02010609060101010101" pitchFamily="49" charset="-122"/>
              </a:rPr>
              <a:t>p-V</a:t>
            </a:r>
            <a:r>
              <a:rPr lang="zh-CN" altLang="en-US" sz="3600" b="1">
                <a:latin typeface="Times New Roman" panose="02020603050405020304" pitchFamily="18" charset="0"/>
                <a:ea typeface="黑体" panose="02010609060101010101" pitchFamily="49" charset="-122"/>
              </a:rPr>
              <a:t>图上的面积表示，该图又称示功图</a:t>
            </a:r>
            <a:endParaRPr lang="zh-CN" altLang="en-US" sz="3600" b="1">
              <a:latin typeface="Times New Roman" panose="02020603050405020304" pitchFamily="18" charset="0"/>
              <a:ea typeface="黑体" panose="02010609060101010101" pitchFamily="49" charset="-122"/>
            </a:endParaRPr>
          </a:p>
        </p:txBody>
      </p:sp>
      <p:sp>
        <p:nvSpPr>
          <p:cNvPr id="13368" name="Text Box 56"/>
          <p:cNvSpPr txBox="1">
            <a:spLocks noChangeArrowheads="1"/>
          </p:cNvSpPr>
          <p:nvPr/>
        </p:nvSpPr>
        <p:spPr bwMode="auto">
          <a:xfrm>
            <a:off x="5364163" y="4365625"/>
            <a:ext cx="35274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BB4C01"/>
                </a:solidFill>
                <a:latin typeface="黑体" panose="02010609060101010101" pitchFamily="49" charset="-122"/>
                <a:ea typeface="黑体" panose="02010609060101010101" pitchFamily="49" charset="-122"/>
              </a:rPr>
              <a:t>注意：非准静过程曲线下的面积不代表过程功</a:t>
            </a:r>
            <a:endParaRPr lang="zh-CN" altLang="en-US" sz="2800" b="1">
              <a:solidFill>
                <a:srgbClr val="BB4C01"/>
              </a:solidFill>
              <a:latin typeface="黑体" panose="02010609060101010101" pitchFamily="49" charset="-122"/>
              <a:ea typeface="黑体" panose="02010609060101010101" pitchFamily="49" charset="-122"/>
            </a:endParaRPr>
          </a:p>
        </p:txBody>
      </p:sp>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3368">
                                            <p:txEl>
                                              <p:pRg st="0" end="0"/>
                                            </p:txEl>
                                          </p:spTgt>
                                        </p:tgtEl>
                                        <p:attrNameLst>
                                          <p:attrName>style.visibility</p:attrName>
                                        </p:attrNameLst>
                                      </p:cBhvr>
                                      <p:to>
                                        <p:strVal val="visible"/>
                                      </p:to>
                                    </p:set>
                                    <p:animEffect transition="in" filter="wipe(up)">
                                      <p:cBhvr>
                                        <p:cTn id="7" dur="3000"/>
                                        <p:tgtEl>
                                          <p:spTgt spid="1336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图片 7168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68538" y="547688"/>
            <a:ext cx="4287837" cy="461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299" name="矩形 71684"/>
          <p:cNvSpPr>
            <a:spLocks noChangeArrowheads="1"/>
          </p:cNvSpPr>
          <p:nvPr/>
        </p:nvSpPr>
        <p:spPr bwMode="auto">
          <a:xfrm>
            <a:off x="4500563" y="1384300"/>
            <a:ext cx="44640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latin typeface="黑体" panose="02010609060101010101" pitchFamily="49" charset="-122"/>
                <a:ea typeface="黑体" panose="02010609060101010101" pitchFamily="49" charset="-122"/>
              </a:rPr>
              <a:t>功是过程量</a:t>
            </a:r>
            <a:endParaRPr lang="zh-CN" altLang="en-US" sz="3600" b="1">
              <a:latin typeface="黑体" panose="02010609060101010101" pitchFamily="49" charset="-122"/>
              <a:ea typeface="黑体" panose="02010609060101010101" pitchFamily="49" charset="-122"/>
            </a:endParaRPr>
          </a:p>
        </p:txBody>
      </p:sp>
      <p:sp>
        <p:nvSpPr>
          <p:cNvPr id="55300" name="矩形 71685"/>
          <p:cNvSpPr>
            <a:spLocks noChangeArrowheads="1"/>
          </p:cNvSpPr>
          <p:nvPr/>
        </p:nvSpPr>
        <p:spPr bwMode="auto">
          <a:xfrm>
            <a:off x="2005013" y="5516563"/>
            <a:ext cx="66706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latin typeface="黑体" panose="02010609060101010101" pitchFamily="49" charset="-122"/>
                <a:ea typeface="黑体" panose="02010609060101010101" pitchFamily="49" charset="-122"/>
              </a:rPr>
              <a:t>哪个过程对外作的功大？</a:t>
            </a:r>
            <a:endParaRPr lang="zh-CN" altLang="en-US" sz="3600" b="1">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95513" y="549275"/>
            <a:ext cx="4121150" cy="425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3" name="矩形 35844"/>
          <p:cNvSpPr>
            <a:spLocks noChangeArrowheads="1"/>
          </p:cNvSpPr>
          <p:nvPr/>
        </p:nvSpPr>
        <p:spPr bwMode="auto">
          <a:xfrm>
            <a:off x="0" y="2490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6324" name="矩形 35846"/>
          <p:cNvSpPr>
            <a:spLocks noChangeArrowheads="1"/>
          </p:cNvSpPr>
          <p:nvPr/>
        </p:nvSpPr>
        <p:spPr bwMode="auto">
          <a:xfrm>
            <a:off x="0" y="2490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6325" name="矩形 35849"/>
          <p:cNvSpPr>
            <a:spLocks noChangeArrowheads="1"/>
          </p:cNvSpPr>
          <p:nvPr/>
        </p:nvSpPr>
        <p:spPr bwMode="auto">
          <a:xfrm>
            <a:off x="0" y="2490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5853" name="对象 35852"/>
          <p:cNvGraphicFramePr/>
          <p:nvPr/>
        </p:nvGraphicFramePr>
        <p:xfrm>
          <a:off x="3779838" y="2205038"/>
          <a:ext cx="693737" cy="604837"/>
        </p:xfrm>
        <a:graphic>
          <a:graphicData uri="http://schemas.openxmlformats.org/presentationml/2006/ole">
            <mc:AlternateContent xmlns:mc="http://schemas.openxmlformats.org/markup-compatibility/2006">
              <mc:Choice xmlns:v="urn:schemas-microsoft-com:vml" Requires="v">
                <p:oleObj spid="_x0000_s30723" name="" r:id="rId2" imgW="224155" imgH="198120" progId="Visio.Drawing.11">
                  <p:embed/>
                </p:oleObj>
              </mc:Choice>
              <mc:Fallback>
                <p:oleObj name="" r:id="rId2" imgW="224155" imgH="198120" progId="Visio.Drawing.11">
                  <p:embed/>
                  <p:pic>
                    <p:nvPicPr>
                      <p:cNvPr id="0" name="对象 3585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838" y="2205038"/>
                        <a:ext cx="693737"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6327" name="矩形 35850"/>
          <p:cNvSpPr>
            <a:spLocks noChangeArrowheads="1"/>
          </p:cNvSpPr>
          <p:nvPr/>
        </p:nvSpPr>
        <p:spPr bwMode="auto">
          <a:xfrm>
            <a:off x="1751013" y="5181600"/>
            <a:ext cx="6221412"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黑体" panose="02010609060101010101" pitchFamily="49" charset="-122"/>
              </a:rPr>
              <a:t>气体经历一可逆循环过程</a:t>
            </a:r>
            <a:r>
              <a:rPr lang="en-US" altLang="zh-CN" sz="2800" b="1">
                <a:latin typeface="Times New Roman" panose="02020603050405020304" pitchFamily="18" charset="0"/>
                <a:ea typeface="黑体" panose="02010609060101010101" pitchFamily="49" charset="-122"/>
              </a:rPr>
              <a:t>1-A-2-B-1</a:t>
            </a:r>
            <a:r>
              <a:rPr lang="zh-CN" altLang="en-US" sz="2800" b="1">
                <a:latin typeface="Times New Roman" panose="02020603050405020304" pitchFamily="18" charset="0"/>
                <a:ea typeface="黑体" panose="02010609060101010101" pitchFamily="49" charset="-122"/>
              </a:rPr>
              <a:t>，循环净功量如何在图中表示？</a:t>
            </a:r>
            <a:endParaRPr lang="zh-CN" altLang="en-US" sz="2800" b="1">
              <a:latin typeface="Times New Roman" panose="02020603050405020304" pitchFamily="18" charset="0"/>
              <a:ea typeface="黑体" panose="02010609060101010101" pitchFamily="49" charset="-122"/>
            </a:endParaRPr>
          </a:p>
        </p:txBody>
      </p:sp>
    </p:spTree>
    <p:custDataLst>
      <p:tags r:id="rId4"/>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35853"/>
                                        </p:tgtEl>
                                        <p:attrNameLst>
                                          <p:attrName>style.visibility</p:attrName>
                                        </p:attrNameLst>
                                      </p:cBhvr>
                                      <p:to>
                                        <p:strVal val="visible"/>
                                      </p:to>
                                    </p:set>
                                    <p:anim calcmode="lin" valueType="num">
                                      <p:cBhvr>
                                        <p:cTn id="7" dur="1000" fill="hold"/>
                                        <p:tgtEl>
                                          <p:spTgt spid="35853"/>
                                        </p:tgtEl>
                                        <p:attrNameLst>
                                          <p:attrName>ppt_w</p:attrName>
                                        </p:attrNameLst>
                                      </p:cBhvr>
                                      <p:tavLst>
                                        <p:tav tm="0">
                                          <p:val>
                                            <p:fltVal val="0"/>
                                          </p:val>
                                        </p:tav>
                                        <p:tav tm="100000">
                                          <p:val>
                                            <p:strVal val="#ppt_w"/>
                                          </p:val>
                                        </p:tav>
                                      </p:tavLst>
                                    </p:anim>
                                    <p:anim calcmode="lin" valueType="num">
                                      <p:cBhvr>
                                        <p:cTn id="8" dur="1000" fill="hold"/>
                                        <p:tgtEl>
                                          <p:spTgt spid="35853"/>
                                        </p:tgtEl>
                                        <p:attrNameLst>
                                          <p:attrName>ppt_h</p:attrName>
                                        </p:attrNameLst>
                                      </p:cBhvr>
                                      <p:tavLst>
                                        <p:tav tm="0">
                                          <p:val>
                                            <p:fltVal val="0"/>
                                          </p:val>
                                        </p:tav>
                                        <p:tav tm="100000">
                                          <p:val>
                                            <p:strVal val="#ppt_h"/>
                                          </p:val>
                                        </p:tav>
                                      </p:tavLst>
                                    </p:anim>
                                    <p:anim calcmode="lin" valueType="num">
                                      <p:cBhvr>
                                        <p:cTn id="9" dur="1000" fill="hold"/>
                                        <p:tgtEl>
                                          <p:spTgt spid="35853"/>
                                        </p:tgtEl>
                                        <p:attrNameLst>
                                          <p:attrName>style.rotation</p:attrName>
                                        </p:attrNameLst>
                                      </p:cBhvr>
                                      <p:tavLst>
                                        <p:tav tm="0">
                                          <p:val>
                                            <p:fltVal val="90"/>
                                          </p:val>
                                        </p:tav>
                                        <p:tav tm="100000">
                                          <p:val>
                                            <p:fltVal val="0"/>
                                          </p:val>
                                        </p:tav>
                                      </p:tavLst>
                                    </p:anim>
                                    <p:animEffect transition="in" filter="fade">
                                      <p:cBhvr>
                                        <p:cTn id="10" dur="1000"/>
                                        <p:tgtEl>
                                          <p:spTgt spid="35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矩形 36867"/>
          <p:cNvSpPr>
            <a:spLocks noChangeArrowheads="1"/>
          </p:cNvSpPr>
          <p:nvPr/>
        </p:nvSpPr>
        <p:spPr bwMode="auto">
          <a:xfrm>
            <a:off x="539750" y="279400"/>
            <a:ext cx="6985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000" b="1" dirty="0">
                <a:latin typeface="黑体" panose="02010609060101010101" pitchFamily="49" charset="-122"/>
                <a:ea typeface="黑体" panose="02010609060101010101" pitchFamily="49" charset="-122"/>
              </a:rPr>
              <a:t>说明</a:t>
            </a:r>
            <a:r>
              <a:rPr lang="en-US" altLang="zh-CN" sz="4000" b="1" dirty="0">
                <a:latin typeface="黑体" panose="02010609060101010101" pitchFamily="49" charset="-122"/>
                <a:ea typeface="黑体" panose="02010609060101010101" pitchFamily="49" charset="-122"/>
              </a:rPr>
              <a:t>1</a:t>
            </a:r>
            <a:r>
              <a:rPr lang="zh-CN" altLang="en-US" sz="4000" b="1" dirty="0">
                <a:latin typeface="黑体" panose="02010609060101010101" pitchFamily="49" charset="-122"/>
                <a:ea typeface="黑体" panose="02010609060101010101" pitchFamily="49" charset="-122"/>
              </a:rPr>
              <a:t>：</a:t>
            </a:r>
            <a:endParaRPr lang="zh-CN" altLang="en-US" sz="4000" b="1" dirty="0">
              <a:latin typeface="黑体" panose="02010609060101010101" pitchFamily="49" charset="-122"/>
              <a:ea typeface="黑体" panose="02010609060101010101" pitchFamily="49" charset="-122"/>
            </a:endParaRPr>
          </a:p>
        </p:txBody>
      </p:sp>
      <p:graphicFrame>
        <p:nvGraphicFramePr>
          <p:cNvPr id="57347" name="对象 36869"/>
          <p:cNvGraphicFramePr/>
          <p:nvPr/>
        </p:nvGraphicFramePr>
        <p:xfrm>
          <a:off x="1728788" y="1211263"/>
          <a:ext cx="2295525" cy="709612"/>
        </p:xfrm>
        <a:graphic>
          <a:graphicData uri="http://schemas.openxmlformats.org/presentationml/2006/ole">
            <mc:AlternateContent xmlns:mc="http://schemas.openxmlformats.org/markup-compatibility/2006">
              <mc:Choice xmlns:v="urn:schemas-microsoft-com:vml" Requires="v">
                <p:oleObj spid="_x0000_s31748" name="" r:id="rId1" imgW="736600" imgH="228600" progId="Equation.DSMT4">
                  <p:embed/>
                </p:oleObj>
              </mc:Choice>
              <mc:Fallback>
                <p:oleObj name="" r:id="rId1" imgW="736600" imgH="228600" progId="Equation.DSMT4">
                  <p:embed/>
                  <p:pic>
                    <p:nvPicPr>
                      <p:cNvPr id="0" name="对象 3686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8788" y="1211263"/>
                        <a:ext cx="2295525"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7348" name="对象 36871"/>
          <p:cNvGraphicFramePr/>
          <p:nvPr/>
        </p:nvGraphicFramePr>
        <p:xfrm>
          <a:off x="4321175" y="1057275"/>
          <a:ext cx="2411413" cy="1003300"/>
        </p:xfrm>
        <a:graphic>
          <a:graphicData uri="http://schemas.openxmlformats.org/presentationml/2006/ole">
            <mc:AlternateContent xmlns:mc="http://schemas.openxmlformats.org/markup-compatibility/2006">
              <mc:Choice xmlns:v="urn:schemas-microsoft-com:vml" Requires="v">
                <p:oleObj spid="_x0000_s31749" name="" r:id="rId3" imgW="850265" imgH="355600" progId="Equation.DSMT4">
                  <p:embed/>
                </p:oleObj>
              </mc:Choice>
              <mc:Fallback>
                <p:oleObj name="" r:id="rId3" imgW="850265" imgH="355600" progId="Equation.DSMT4">
                  <p:embed/>
                  <p:pic>
                    <p:nvPicPr>
                      <p:cNvPr id="0" name="对象 3687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1175" y="1057275"/>
                        <a:ext cx="2411413"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7349" name="矩形 36873"/>
          <p:cNvSpPr>
            <a:spLocks noChangeArrowheads="1"/>
          </p:cNvSpPr>
          <p:nvPr/>
        </p:nvSpPr>
        <p:spPr bwMode="auto">
          <a:xfrm>
            <a:off x="384175" y="2459038"/>
            <a:ext cx="8137525"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2800" b="1" dirty="0">
                <a:latin typeface="黑体" panose="02010609060101010101" pitchFamily="49" charset="-122"/>
                <a:ea typeface="黑体" panose="02010609060101010101" pitchFamily="49" charset="-122"/>
              </a:rPr>
              <a:t>在推导以上表达式时，只涉及系统中工质体积的变化量，与此体积的空间几何形状无关。因此，不管工质是处于规则或不规则的容器或流道内，只要工质克服外力发生体积变化，其在边界上完成的准静功都可用上式计算</a:t>
            </a:r>
            <a:endParaRPr lang="en-US" altLang="zh-CN" sz="2800" b="1" dirty="0">
              <a:latin typeface="黑体" panose="02010609060101010101" pitchFamily="49" charset="-122"/>
              <a:ea typeface="黑体" panose="02010609060101010101" pitchFamily="49" charset="-122"/>
            </a:endParaRPr>
          </a:p>
          <a:p>
            <a:pPr eaLnBrk="1" hangingPunct="1">
              <a:spcBef>
                <a:spcPct val="0"/>
              </a:spcBef>
            </a:pPr>
            <a:r>
              <a:rPr lang="zh-CN" altLang="en-US" sz="2800" b="1" dirty="0">
                <a:latin typeface="黑体" panose="02010609060101010101" pitchFamily="49" charset="-122"/>
                <a:ea typeface="黑体" panose="02010609060101010101" pitchFamily="49" charset="-122"/>
              </a:rPr>
              <a:t>工质是固体、液体还是气体均适用（但固体和液体的体积变化一般很小，常忽略体积变化功）  </a:t>
            </a:r>
            <a:endParaRPr lang="zh-CN" altLang="en-US" sz="2800" b="1" dirty="0">
              <a:latin typeface="黑体" panose="02010609060101010101" pitchFamily="49" charset="-122"/>
              <a:ea typeface="黑体" panose="02010609060101010101" pitchFamily="49" charset="-122"/>
            </a:endParaRPr>
          </a:p>
        </p:txBody>
      </p:sp>
      <p:sp>
        <p:nvSpPr>
          <p:cNvPr id="57350" name="矩形 36882"/>
          <p:cNvSpPr>
            <a:spLocks noChangeArrowheads="1"/>
          </p:cNvSpPr>
          <p:nvPr/>
        </p:nvSpPr>
        <p:spPr bwMode="auto">
          <a:xfrm>
            <a:off x="0" y="2581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07521"/>
          <p:cNvSpPr>
            <a:spLocks noGrp="1" noChangeArrowheads="1"/>
          </p:cNvSpPr>
          <p:nvPr>
            <p:ph type="title"/>
          </p:nvPr>
        </p:nvSpPr>
        <p:spPr/>
        <p:txBody>
          <a:bodyPr>
            <a:normAutofit/>
          </a:bodyPr>
          <a:lstStyle/>
          <a:p>
            <a:pPr algn="l" eaLnBrk="1" hangingPunct="1"/>
            <a:r>
              <a:rPr lang="zh-CN" altLang="en-US" sz="4000" b="1" dirty="0" smtClean="0">
                <a:latin typeface="黑体" panose="02010609060101010101" pitchFamily="49" charset="-122"/>
                <a:ea typeface="黑体" panose="02010609060101010101" pitchFamily="49" charset="-122"/>
              </a:rPr>
              <a:t>说明</a:t>
            </a:r>
            <a:r>
              <a:rPr lang="en-US" altLang="zh-CN" sz="4000" b="1" dirty="0" smtClean="0">
                <a:latin typeface="黑体" panose="02010609060101010101" pitchFamily="49" charset="-122"/>
                <a:ea typeface="黑体" panose="02010609060101010101" pitchFamily="49" charset="-122"/>
              </a:rPr>
              <a:t>2</a:t>
            </a:r>
            <a:endParaRPr lang="en-US" altLang="zh-CN" sz="4000" b="1" dirty="0" smtClean="0">
              <a:latin typeface="黑体" panose="02010609060101010101" pitchFamily="49" charset="-122"/>
              <a:ea typeface="黑体" panose="02010609060101010101" pitchFamily="49" charset="-122"/>
            </a:endParaRPr>
          </a:p>
        </p:txBody>
      </p:sp>
      <p:sp>
        <p:nvSpPr>
          <p:cNvPr id="58371" name="文本占位符 107522"/>
          <p:cNvSpPr>
            <a:spLocks noGrp="1" noChangeArrowheads="1"/>
          </p:cNvSpPr>
          <p:nvPr>
            <p:ph idx="1"/>
          </p:nvPr>
        </p:nvSpPr>
        <p:spPr/>
        <p:txBody>
          <a:bodyPr>
            <a:normAutofit/>
          </a:bodyPr>
          <a:lstStyle/>
          <a:p>
            <a:pPr eaLnBrk="1" hangingPunct="1"/>
            <a:r>
              <a:rPr lang="en-US" altLang="zh-CN" sz="2800" b="1" i="1" dirty="0" err="1" smtClean="0">
                <a:latin typeface="Times New Roman" panose="02020603050405020304" pitchFamily="18" charset="0"/>
                <a:ea typeface="黑体" panose="02010609060101010101" pitchFamily="49" charset="-122"/>
              </a:rPr>
              <a:t>p</a:t>
            </a:r>
            <a:r>
              <a:rPr lang="en-US" altLang="zh-CN" sz="2800" b="1" dirty="0" err="1" smtClean="0">
                <a:latin typeface="Times New Roman" panose="02020603050405020304" pitchFamily="18" charset="0"/>
                <a:ea typeface="黑体" panose="02010609060101010101" pitchFamily="49" charset="-122"/>
              </a:rPr>
              <a:t>d</a:t>
            </a:r>
            <a:r>
              <a:rPr lang="en-US" altLang="zh-CN" sz="2800" b="1" i="1" dirty="0" err="1" smtClean="0">
                <a:latin typeface="Times New Roman" panose="02020603050405020304" pitchFamily="18" charset="0"/>
                <a:ea typeface="黑体" panose="02010609060101010101" pitchFamily="49" charset="-122"/>
              </a:rPr>
              <a:t>V</a:t>
            </a:r>
            <a:r>
              <a:rPr lang="zh-CN" altLang="en-US" sz="2800" b="1" dirty="0" smtClean="0">
                <a:latin typeface="黑体" panose="02010609060101010101" pitchFamily="49" charset="-122"/>
                <a:ea typeface="黑体" panose="02010609060101010101" pitchFamily="49" charset="-122"/>
              </a:rPr>
              <a:t>计算得到的体积变化功代表在气体在膨胀过程中通过边界传递到外界的能量（或气体压缩时从外界传递到气体系统的能量）</a:t>
            </a:r>
            <a:endParaRPr lang="zh-CN" altLang="en-US" sz="2800" b="1" dirty="0" smtClean="0">
              <a:latin typeface="黑体" panose="02010609060101010101" pitchFamily="49" charset="-122"/>
              <a:ea typeface="黑体" panose="02010609060101010101" pitchFamily="49" charset="-122"/>
            </a:endParaRPr>
          </a:p>
          <a:p>
            <a:pPr eaLnBrk="1" hangingPunct="1"/>
            <a:r>
              <a:rPr lang="zh-CN" altLang="en-US" sz="2800" b="1" dirty="0" smtClean="0">
                <a:latin typeface="黑体" panose="02010609060101010101" pitchFamily="49" charset="-122"/>
                <a:ea typeface="黑体" panose="02010609060101010101" pitchFamily="49" charset="-122"/>
              </a:rPr>
              <a:t>这部分能量传递出去之后必然要使用到其它地方，并且在使用过程中满足能量守恒</a:t>
            </a:r>
            <a:r>
              <a:rPr lang="zh-CN" altLang="en-US" sz="2800" dirty="0" smtClean="0">
                <a:latin typeface="黑体" panose="02010609060101010101" pitchFamily="49" charset="-122"/>
                <a:ea typeface="黑体" panose="02010609060101010101" pitchFamily="49" charset="-122"/>
              </a:rPr>
              <a:t> </a:t>
            </a:r>
            <a:endParaRPr lang="zh-CN" altLang="en-US" sz="2800" dirty="0" smtClean="0">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矩形 109575"/>
          <p:cNvSpPr>
            <a:spLocks noChangeArrowheads="1"/>
          </p:cNvSpPr>
          <p:nvPr/>
        </p:nvSpPr>
        <p:spPr bwMode="auto">
          <a:xfrm>
            <a:off x="395288" y="2636838"/>
            <a:ext cx="8424862"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latin typeface="黑体" panose="02010609060101010101" pitchFamily="49" charset="-122"/>
                <a:ea typeface="黑体" panose="02010609060101010101" pitchFamily="49" charset="-122"/>
              </a:rPr>
              <a:t>在汽车发动机中，热气体膨胀（假设为准平衡过程）所完成的体积变化功用于克服气缸和活塞之间的摩擦、克服大气压力和带动曲柄连杆机构转动 </a:t>
            </a:r>
            <a:endParaRPr lang="zh-CN" altLang="en-US" sz="2800" b="1" dirty="0">
              <a:latin typeface="黑体" panose="02010609060101010101" pitchFamily="49" charset="-122"/>
              <a:ea typeface="黑体" panose="02010609060101010101" pitchFamily="49" charset="-122"/>
            </a:endParaRPr>
          </a:p>
        </p:txBody>
      </p:sp>
      <p:graphicFrame>
        <p:nvGraphicFramePr>
          <p:cNvPr id="109577" name="对象 109576"/>
          <p:cNvGraphicFramePr>
            <a:graphicFrameLocks noChangeAspect="1"/>
          </p:cNvGraphicFramePr>
          <p:nvPr/>
        </p:nvGraphicFramePr>
        <p:xfrm>
          <a:off x="646113" y="4103688"/>
          <a:ext cx="7850187" cy="647700"/>
        </p:xfrm>
        <a:graphic>
          <a:graphicData uri="http://schemas.openxmlformats.org/presentationml/2006/ole">
            <mc:AlternateContent xmlns:mc="http://schemas.openxmlformats.org/markup-compatibility/2006">
              <mc:Choice xmlns:v="urn:schemas-microsoft-com:vml" Requires="v">
                <p:oleObj spid="_x0000_s32771" name="" r:id="rId1" imgW="4038600" imgH="330200" progId="Equation.DSMT4">
                  <p:embed/>
                </p:oleObj>
              </mc:Choice>
              <mc:Fallback>
                <p:oleObj name="" r:id="rId1" imgW="4038600" imgH="330200" progId="Equation.DSMT4">
                  <p:embed/>
                  <p:pic>
                    <p:nvPicPr>
                      <p:cNvPr id="0" name="对象 10957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113" y="4103688"/>
                        <a:ext cx="785018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9578" name="直接连接符 109577"/>
          <p:cNvSpPr>
            <a:spLocks noChangeShapeType="1"/>
          </p:cNvSpPr>
          <p:nvPr/>
        </p:nvSpPr>
        <p:spPr bwMode="auto">
          <a:xfrm>
            <a:off x="4130675" y="4652963"/>
            <a:ext cx="720725"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9579" name="直接连接符 109578"/>
          <p:cNvSpPr>
            <a:spLocks noChangeShapeType="1"/>
          </p:cNvSpPr>
          <p:nvPr/>
        </p:nvSpPr>
        <p:spPr bwMode="auto">
          <a:xfrm flipH="1" flipV="1">
            <a:off x="4424363" y="4652963"/>
            <a:ext cx="434975" cy="42068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9580" name="矩形 109579"/>
          <p:cNvSpPr>
            <a:spLocks noChangeArrowheads="1"/>
          </p:cNvSpPr>
          <p:nvPr/>
        </p:nvSpPr>
        <p:spPr bwMode="auto">
          <a:xfrm>
            <a:off x="4859338" y="4797425"/>
            <a:ext cx="47529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solidFill>
                  <a:srgbClr val="FF0000"/>
                </a:solidFill>
                <a:latin typeface="黑体" panose="02010609060101010101" pitchFamily="49" charset="-122"/>
                <a:ea typeface="黑体" panose="02010609060101010101" pitchFamily="49" charset="-122"/>
              </a:rPr>
              <a:t>这部分才是有用功</a:t>
            </a:r>
            <a:endParaRPr lang="zh-CN" altLang="en-US" sz="3200" b="1">
              <a:solidFill>
                <a:srgbClr val="FF0000"/>
              </a:solidFill>
              <a:latin typeface="黑体" panose="02010609060101010101" pitchFamily="49" charset="-122"/>
              <a:ea typeface="黑体" panose="02010609060101010101" pitchFamily="49" charset="-122"/>
            </a:endParaRPr>
          </a:p>
        </p:txBody>
      </p:sp>
      <p:sp>
        <p:nvSpPr>
          <p:cNvPr id="109581" name="矩形 109580"/>
          <p:cNvSpPr>
            <a:spLocks noChangeArrowheads="1"/>
          </p:cNvSpPr>
          <p:nvPr/>
        </p:nvSpPr>
        <p:spPr bwMode="auto">
          <a:xfrm>
            <a:off x="453237" y="5599440"/>
            <a:ext cx="823593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latin typeface="黑体" panose="02010609060101010101" pitchFamily="49" charset="-122"/>
                <a:ea typeface="黑体" panose="02010609060101010101" pitchFamily="49" charset="-122"/>
              </a:rPr>
              <a:t>气体膨胀时所作的体积变化功</a:t>
            </a:r>
            <a:r>
              <a:rPr lang="en-US" altLang="zh-CN" sz="2800" b="1" i="1" dirty="0" err="1">
                <a:latin typeface="Times New Roman" panose="02020603050405020304" pitchFamily="18" charset="0"/>
                <a:ea typeface="黑体" panose="02010609060101010101" pitchFamily="49" charset="-122"/>
              </a:rPr>
              <a:t>W</a:t>
            </a:r>
            <a:r>
              <a:rPr lang="en-US" altLang="zh-CN" sz="2800" b="1" baseline="-25000" dirty="0" err="1">
                <a:latin typeface="Times New Roman" panose="02020603050405020304" pitchFamily="18" charset="0"/>
                <a:ea typeface="黑体" panose="02010609060101010101" pitchFamily="49" charset="-122"/>
              </a:rPr>
              <a:t>b</a:t>
            </a:r>
            <a:r>
              <a:rPr lang="zh-CN" altLang="en-US" sz="2800" b="1" dirty="0">
                <a:latin typeface="黑体" panose="02010609060101010101" pitchFamily="49" charset="-122"/>
                <a:ea typeface="黑体" panose="02010609060101010101" pitchFamily="49" charset="-122"/>
              </a:rPr>
              <a:t>不一定都是有用的</a:t>
            </a:r>
            <a:endParaRPr lang="zh-CN" altLang="en-US" sz="2800" b="1" dirty="0">
              <a:latin typeface="黑体" panose="02010609060101010101" pitchFamily="49" charset="-122"/>
              <a:ea typeface="黑体" panose="02010609060101010101" pitchFamily="49" charset="-122"/>
            </a:endParaRPr>
          </a:p>
        </p:txBody>
      </p:sp>
      <p:pic>
        <p:nvPicPr>
          <p:cNvPr id="5940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9750" y="225425"/>
            <a:ext cx="2841625" cy="240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4"/>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9577"/>
                                        </p:tgtEl>
                                        <p:attrNameLst>
                                          <p:attrName>style.visibility</p:attrName>
                                        </p:attrNameLst>
                                      </p:cBhvr>
                                      <p:to>
                                        <p:strVal val="visible"/>
                                      </p:to>
                                    </p:set>
                                    <p:animEffect transition="in" filter="blinds(horizontal)">
                                      <p:cBhvr>
                                        <p:cTn id="7" dur="500"/>
                                        <p:tgtEl>
                                          <p:spTgt spid="10957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9578"/>
                                        </p:tgtEl>
                                        <p:attrNameLst>
                                          <p:attrName>style.visibility</p:attrName>
                                        </p:attrNameLst>
                                      </p:cBhvr>
                                      <p:to>
                                        <p:strVal val="visible"/>
                                      </p:to>
                                    </p:set>
                                    <p:animEffect transition="in" filter="blinds(horizontal)">
                                      <p:cBhvr>
                                        <p:cTn id="12" dur="500"/>
                                        <p:tgtEl>
                                          <p:spTgt spid="109578"/>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109579"/>
                                        </p:tgtEl>
                                        <p:attrNameLst>
                                          <p:attrName>style.visibility</p:attrName>
                                        </p:attrNameLst>
                                      </p:cBhvr>
                                      <p:to>
                                        <p:strVal val="visible"/>
                                      </p:to>
                                    </p:set>
                                    <p:animEffect transition="in" filter="blinds(horizontal)">
                                      <p:cBhvr>
                                        <p:cTn id="16" dur="500"/>
                                        <p:tgtEl>
                                          <p:spTgt spid="109579"/>
                                        </p:tgtEl>
                                      </p:cBhvr>
                                    </p:animEffect>
                                  </p:childTnLst>
                                </p:cTn>
                              </p:par>
                            </p:childTnLst>
                          </p:cTn>
                        </p:par>
                        <p:par>
                          <p:cTn id="17" fill="hold">
                            <p:stCondLst>
                              <p:cond delay="1000"/>
                            </p:stCondLst>
                            <p:childTnLst>
                              <p:par>
                                <p:cTn id="18" presetID="3" presetClass="entr" presetSubtype="10" fill="hold" grpId="0" nodeType="afterEffect">
                                  <p:stCondLst>
                                    <p:cond delay="0"/>
                                  </p:stCondLst>
                                  <p:childTnLst>
                                    <p:set>
                                      <p:cBhvr>
                                        <p:cTn id="19" dur="1" fill="hold">
                                          <p:stCondLst>
                                            <p:cond delay="0"/>
                                          </p:stCondLst>
                                        </p:cTn>
                                        <p:tgtEl>
                                          <p:spTgt spid="109580"/>
                                        </p:tgtEl>
                                        <p:attrNameLst>
                                          <p:attrName>style.visibility</p:attrName>
                                        </p:attrNameLst>
                                      </p:cBhvr>
                                      <p:to>
                                        <p:strVal val="visible"/>
                                      </p:to>
                                    </p:set>
                                    <p:animEffect transition="in" filter="blinds(horizontal)">
                                      <p:cBhvr>
                                        <p:cTn id="20" dur="500"/>
                                        <p:tgtEl>
                                          <p:spTgt spid="109580"/>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09581"/>
                                        </p:tgtEl>
                                        <p:attrNameLst>
                                          <p:attrName>style.visibility</p:attrName>
                                        </p:attrNameLst>
                                      </p:cBhvr>
                                      <p:to>
                                        <p:strVal val="visible"/>
                                      </p:to>
                                    </p:set>
                                    <p:animEffect transition="in" filter="blinds(horizontal)">
                                      <p:cBhvr>
                                        <p:cTn id="25" dur="500"/>
                                        <p:tgtEl>
                                          <p:spTgt spid="109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80" grpId="0"/>
      <p:bldP spid="10958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矩形 100370"/>
          <p:cNvSpPr>
            <a:spLocks noChangeArrowheads="1"/>
          </p:cNvSpPr>
          <p:nvPr/>
        </p:nvSpPr>
        <p:spPr bwMode="auto">
          <a:xfrm>
            <a:off x="1835150" y="404813"/>
            <a:ext cx="70580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solidFill>
                  <a:srgbClr val="FF0000"/>
                </a:solidFill>
                <a:latin typeface="黑体" panose="02010609060101010101" pitchFamily="49" charset="-122"/>
                <a:ea typeface="黑体" panose="02010609060101010101" pitchFamily="49" charset="-122"/>
              </a:rPr>
              <a:t>克服大气压力作功（无用功）</a:t>
            </a:r>
            <a:endParaRPr lang="zh-CN" altLang="en-US" sz="3200" b="1">
              <a:solidFill>
                <a:srgbClr val="FF0000"/>
              </a:solidFill>
              <a:latin typeface="黑体" panose="02010609060101010101" pitchFamily="49" charset="-122"/>
              <a:ea typeface="黑体" panose="02010609060101010101" pitchFamily="49" charset="-122"/>
            </a:endParaRPr>
          </a:p>
        </p:txBody>
      </p:sp>
      <p:sp>
        <p:nvSpPr>
          <p:cNvPr id="60419" name="矩形 100372"/>
          <p:cNvSpPr>
            <a:spLocks noChangeArrowheads="1"/>
          </p:cNvSpPr>
          <p:nvPr/>
        </p:nvSpPr>
        <p:spPr bwMode="auto">
          <a:xfrm>
            <a:off x="0" y="2462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0420" name="矩形 100373"/>
          <p:cNvSpPr>
            <a:spLocks noChangeArrowheads="1"/>
          </p:cNvSpPr>
          <p:nvPr/>
        </p:nvSpPr>
        <p:spPr bwMode="auto">
          <a:xfrm>
            <a:off x="539750" y="5530850"/>
            <a:ext cx="82438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000" b="1">
                <a:latin typeface="黑体" panose="02010609060101010101" pitchFamily="49" charset="-122"/>
                <a:ea typeface="黑体" panose="02010609060101010101" pitchFamily="49" charset="-122"/>
              </a:rPr>
              <a:t>系统在膨胀过程中需要克服大气压力作功</a:t>
            </a:r>
            <a:r>
              <a:rPr lang="en-US" altLang="zh-CN" sz="3000" b="1" i="1">
                <a:latin typeface="Times New Roman" panose="02020603050405020304" pitchFamily="18" charset="0"/>
                <a:ea typeface="黑体" panose="02010609060101010101" pitchFamily="49" charset="-122"/>
              </a:rPr>
              <a:t>p</a:t>
            </a:r>
            <a:r>
              <a:rPr lang="en-US" altLang="zh-CN" sz="3000" b="1" baseline="-25000">
                <a:latin typeface="Times New Roman" panose="02020603050405020304" pitchFamily="18" charset="0"/>
                <a:ea typeface="黑体" panose="02010609060101010101" pitchFamily="49" charset="-122"/>
              </a:rPr>
              <a:t>atm</a:t>
            </a:r>
            <a:r>
              <a:rPr lang="en-US" altLang="zh-CN" sz="3000" b="1">
                <a:latin typeface="Times New Roman" panose="02020603050405020304" pitchFamily="18" charset="0"/>
                <a:ea typeface="黑体" panose="02010609060101010101" pitchFamily="49" charset="-122"/>
              </a:rPr>
              <a:t>d</a:t>
            </a:r>
            <a:r>
              <a:rPr lang="en-US" altLang="zh-CN" sz="3000" b="1" i="1">
                <a:latin typeface="Times New Roman" panose="02020603050405020304" pitchFamily="18" charset="0"/>
                <a:ea typeface="黑体" panose="02010609060101010101" pitchFamily="49" charset="-122"/>
              </a:rPr>
              <a:t>V</a:t>
            </a:r>
            <a:r>
              <a:rPr lang="en-US" altLang="zh-CN" sz="3000" b="1">
                <a:latin typeface="Times New Roman" panose="02020603050405020304" pitchFamily="18" charset="0"/>
                <a:ea typeface="黑体" panose="02010609060101010101" pitchFamily="49" charset="-122"/>
              </a:rPr>
              <a:t> </a:t>
            </a:r>
            <a:endParaRPr lang="en-US" altLang="zh-CN" sz="3000" b="1">
              <a:latin typeface="Times New Roman" panose="02020603050405020304" pitchFamily="18" charset="0"/>
              <a:ea typeface="黑体" panose="02010609060101010101" pitchFamily="49" charset="-122"/>
            </a:endParaRPr>
          </a:p>
        </p:txBody>
      </p:sp>
      <p:pic>
        <p:nvPicPr>
          <p:cNvPr id="60421"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08175" y="1341438"/>
            <a:ext cx="4932363" cy="373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14689"/>
          <p:cNvSpPr>
            <a:spLocks noGrp="1" noChangeArrowheads="1"/>
          </p:cNvSpPr>
          <p:nvPr>
            <p:ph type="title"/>
          </p:nvPr>
        </p:nvSpPr>
        <p:spPr/>
        <p:txBody>
          <a:bodyPr>
            <a:normAutofit/>
          </a:bodyPr>
          <a:lstStyle/>
          <a:p>
            <a:pPr eaLnBrk="1" hangingPunct="1"/>
            <a:r>
              <a:rPr lang="zh-CN" altLang="en-US" sz="4000" b="1" dirty="0" smtClean="0">
                <a:ea typeface="黑体" panose="02010609060101010101" pitchFamily="49" charset="-122"/>
              </a:rPr>
              <a:t>有用功</a:t>
            </a:r>
            <a:endParaRPr lang="zh-CN" altLang="en-US" sz="4000" b="1" dirty="0" smtClean="0">
              <a:ea typeface="黑体" panose="02010609060101010101" pitchFamily="49" charset="-122"/>
            </a:endParaRPr>
          </a:p>
        </p:txBody>
      </p:sp>
      <p:sp>
        <p:nvSpPr>
          <p:cNvPr id="61443" name="文本占位符 114690"/>
          <p:cNvSpPr>
            <a:spLocks noGrp="1" noChangeArrowheads="1"/>
          </p:cNvSpPr>
          <p:nvPr>
            <p:ph idx="1"/>
          </p:nvPr>
        </p:nvSpPr>
        <p:spPr/>
        <p:txBody>
          <a:bodyPr>
            <a:normAutofit/>
          </a:bodyPr>
          <a:lstStyle/>
          <a:p>
            <a:pPr eaLnBrk="1" hangingPunct="1"/>
            <a:r>
              <a:rPr lang="zh-CN" altLang="en-US" sz="3200" b="1" dirty="0" smtClean="0">
                <a:latin typeface="黑体" panose="02010609060101010101" pitchFamily="49" charset="-122"/>
                <a:ea typeface="黑体" panose="02010609060101010101" pitchFamily="49" charset="-122"/>
              </a:rPr>
              <a:t>克服摩擦力所作的功和克服大气压力所作的功无法以有用功的形式输出，体积变化功减去这些功之后余下的才是可以被利用的功（</a:t>
            </a:r>
            <a:r>
              <a:rPr lang="zh-CN" altLang="en-US" sz="3200" b="1" dirty="0" smtClean="0">
                <a:solidFill>
                  <a:srgbClr val="0000FF"/>
                </a:solidFill>
                <a:latin typeface="黑体" panose="02010609060101010101" pitchFamily="49" charset="-122"/>
                <a:ea typeface="黑体" panose="02010609060101010101" pitchFamily="49" charset="-122"/>
              </a:rPr>
              <a:t>用来提升重物、驱动机器等</a:t>
            </a:r>
            <a:r>
              <a:rPr lang="zh-CN" altLang="en-US" sz="3200" b="1" dirty="0" smtClean="0">
                <a:latin typeface="黑体" panose="02010609060101010101" pitchFamily="49" charset="-122"/>
                <a:ea typeface="黑体" panose="02010609060101010101" pitchFamily="49" charset="-122"/>
              </a:rPr>
              <a:t>），称为</a:t>
            </a:r>
            <a:r>
              <a:rPr lang="zh-CN" altLang="en-US" sz="3200" b="1" dirty="0" smtClean="0">
                <a:solidFill>
                  <a:srgbClr val="FF0000"/>
                </a:solidFill>
                <a:latin typeface="黑体" panose="02010609060101010101" pitchFamily="49" charset="-122"/>
                <a:ea typeface="黑体" panose="02010609060101010101" pitchFamily="49" charset="-122"/>
              </a:rPr>
              <a:t>有用功</a:t>
            </a:r>
            <a:r>
              <a:rPr lang="zh-CN" altLang="en-US" sz="3200" b="1" dirty="0" smtClean="0">
                <a:latin typeface="黑体" panose="02010609060101010101" pitchFamily="49" charset="-122"/>
                <a:ea typeface="黑体" panose="02010609060101010101" pitchFamily="49" charset="-122"/>
              </a:rPr>
              <a:t>，用</a:t>
            </a:r>
            <a:r>
              <a:rPr lang="en-US" altLang="zh-CN" sz="3200" b="1" i="1" dirty="0" smtClean="0">
                <a:latin typeface="Times New Roman" panose="02020603050405020304" pitchFamily="18" charset="0"/>
                <a:ea typeface="黑体" panose="02010609060101010101" pitchFamily="49" charset="-122"/>
              </a:rPr>
              <a:t>W</a:t>
            </a:r>
            <a:r>
              <a:rPr lang="en-US" altLang="zh-CN" sz="3200" b="1" baseline="-25000" dirty="0" smtClean="0">
                <a:latin typeface="Times New Roman" panose="02020603050405020304" pitchFamily="18" charset="0"/>
                <a:ea typeface="黑体" panose="02010609060101010101" pitchFamily="49" charset="-122"/>
              </a:rPr>
              <a:t>u</a:t>
            </a:r>
            <a:r>
              <a:rPr lang="zh-CN" altLang="en-US" sz="3200" b="1" dirty="0" smtClean="0">
                <a:latin typeface="黑体" panose="02010609060101010101" pitchFamily="49" charset="-122"/>
                <a:ea typeface="黑体" panose="02010609060101010101" pitchFamily="49" charset="-122"/>
              </a:rPr>
              <a:t>表示（</a:t>
            </a:r>
            <a:r>
              <a:rPr lang="en-US" altLang="zh-CN" sz="3200" b="1" dirty="0" smtClean="0">
                <a:latin typeface="Times New Roman" panose="02020603050405020304" pitchFamily="18" charset="0"/>
                <a:ea typeface="黑体" panose="02010609060101010101" pitchFamily="49" charset="-122"/>
              </a:rPr>
              <a:t>u</a:t>
            </a:r>
            <a:r>
              <a:rPr lang="zh-CN" altLang="en-US" sz="3200" b="1" dirty="0" smtClean="0">
                <a:latin typeface="Times New Roman" panose="02020603050405020304" pitchFamily="18" charset="0"/>
                <a:ea typeface="黑体" panose="02010609060101010101" pitchFamily="49" charset="-122"/>
              </a:rPr>
              <a:t>表示</a:t>
            </a:r>
            <a:r>
              <a:rPr lang="en-US" altLang="zh-CN" sz="3200" b="1" dirty="0" smtClean="0">
                <a:latin typeface="Times New Roman" panose="02020603050405020304" pitchFamily="18" charset="0"/>
                <a:ea typeface="黑体" panose="02010609060101010101" pitchFamily="49" charset="-122"/>
              </a:rPr>
              <a:t>useful</a:t>
            </a:r>
            <a:r>
              <a:rPr lang="zh-CN" altLang="en-US" sz="3200" b="1" dirty="0" smtClean="0">
                <a:latin typeface="黑体" panose="02010609060101010101" pitchFamily="49" charset="-122"/>
                <a:ea typeface="黑体" panose="02010609060101010101" pitchFamily="49" charset="-122"/>
              </a:rPr>
              <a:t>） </a:t>
            </a:r>
            <a:endParaRPr lang="zh-CN" altLang="en-US" sz="3200" b="1" dirty="0" smtClean="0">
              <a:latin typeface="黑体" panose="02010609060101010101" pitchFamily="49" charset="-122"/>
              <a:ea typeface="黑体" panose="02010609060101010101" pitchFamily="49" charset="-122"/>
            </a:endParaRPr>
          </a:p>
        </p:txBody>
      </p:sp>
      <p:sp>
        <p:nvSpPr>
          <p:cNvPr id="61444" name="矩形 114692"/>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1445" name="对象 114691"/>
          <p:cNvGraphicFramePr/>
          <p:nvPr/>
        </p:nvGraphicFramePr>
        <p:xfrm>
          <a:off x="2339975" y="4581525"/>
          <a:ext cx="3744913" cy="595313"/>
        </p:xfrm>
        <a:graphic>
          <a:graphicData uri="http://schemas.openxmlformats.org/presentationml/2006/ole">
            <mc:AlternateContent xmlns:mc="http://schemas.openxmlformats.org/markup-compatibility/2006">
              <mc:Choice xmlns:v="urn:schemas-microsoft-com:vml" Requires="v">
                <p:oleObj spid="_x0000_s33795" name="" r:id="rId1" imgW="1435100" imgH="228600" progId="Equation.DSMT4">
                  <p:embed/>
                </p:oleObj>
              </mc:Choice>
              <mc:Fallback>
                <p:oleObj name="" r:id="rId1" imgW="1435100" imgH="228600" progId="Equation.DSMT4">
                  <p:embed/>
                  <p:pic>
                    <p:nvPicPr>
                      <p:cNvPr id="0" name="对象 11469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975" y="4581525"/>
                        <a:ext cx="3744913"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矩形 76803"/>
          <p:cNvSpPr>
            <a:spLocks noChangeArrowheads="1"/>
          </p:cNvSpPr>
          <p:nvPr/>
        </p:nvSpPr>
        <p:spPr bwMode="auto">
          <a:xfrm>
            <a:off x="107950" y="260350"/>
            <a:ext cx="86042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latin typeface="黑体" panose="02010609060101010101" pitchFamily="49" charset="-122"/>
                <a:ea typeface="黑体" panose="02010609060101010101" pitchFamily="49" charset="-122"/>
              </a:rPr>
              <a:t>说明</a:t>
            </a:r>
            <a:r>
              <a:rPr lang="en-US" altLang="zh-CN" sz="3600" b="1">
                <a:latin typeface="黑体" panose="02010609060101010101" pitchFamily="49" charset="-122"/>
                <a:ea typeface="黑体" panose="02010609060101010101" pitchFamily="49" charset="-122"/>
              </a:rPr>
              <a:t>3</a:t>
            </a:r>
            <a:r>
              <a:rPr lang="zh-CN" altLang="en-US" sz="3600" b="1">
                <a:latin typeface="黑体" panose="02010609060101010101" pitchFamily="49" charset="-122"/>
                <a:ea typeface="黑体" panose="02010609060101010101" pitchFamily="49" charset="-122"/>
              </a:rPr>
              <a:t>、非平衡过程（突然压缩或膨胀）</a:t>
            </a:r>
            <a:endParaRPr lang="zh-CN" altLang="en-US" sz="3600" b="1">
              <a:latin typeface="黑体" panose="02010609060101010101" pitchFamily="49" charset="-122"/>
              <a:ea typeface="黑体" panose="02010609060101010101" pitchFamily="49" charset="-122"/>
            </a:endParaRPr>
          </a:p>
        </p:txBody>
      </p:sp>
      <p:graphicFrame>
        <p:nvGraphicFramePr>
          <p:cNvPr id="76811" name="对象 76810"/>
          <p:cNvGraphicFramePr/>
          <p:nvPr/>
        </p:nvGraphicFramePr>
        <p:xfrm>
          <a:off x="4932363" y="912813"/>
          <a:ext cx="2411412" cy="1003300"/>
        </p:xfrm>
        <a:graphic>
          <a:graphicData uri="http://schemas.openxmlformats.org/presentationml/2006/ole">
            <mc:AlternateContent xmlns:mc="http://schemas.openxmlformats.org/markup-compatibility/2006">
              <mc:Choice xmlns:v="urn:schemas-microsoft-com:vml" Requires="v">
                <p:oleObj spid="_x0000_s34822" name="" r:id="rId1" imgW="850265" imgH="355600" progId="Equation.DSMT4">
                  <p:embed/>
                </p:oleObj>
              </mc:Choice>
              <mc:Fallback>
                <p:oleObj name="" r:id="rId1" imgW="850265" imgH="355600" progId="Equation.DSMT4">
                  <p:embed/>
                  <p:pic>
                    <p:nvPicPr>
                      <p:cNvPr id="0" name="对象 7681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363" y="912813"/>
                        <a:ext cx="2411412"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6816" name="矩形 76815"/>
          <p:cNvSpPr>
            <a:spLocks noChangeArrowheads="1"/>
          </p:cNvSpPr>
          <p:nvPr/>
        </p:nvSpPr>
        <p:spPr bwMode="auto">
          <a:xfrm>
            <a:off x="827088" y="5445125"/>
            <a:ext cx="2447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FF00FF"/>
                </a:solidFill>
                <a:latin typeface="黑体" panose="02010609060101010101" pitchFamily="49" charset="-122"/>
                <a:ea typeface="黑体" panose="02010609060101010101" pitchFamily="49" charset="-122"/>
              </a:rPr>
              <a:t>非平衡过程</a:t>
            </a:r>
            <a:endParaRPr lang="zh-CN" altLang="en-US" sz="2800" b="1">
              <a:solidFill>
                <a:srgbClr val="FF00FF"/>
              </a:solidFill>
              <a:latin typeface="黑体" panose="02010609060101010101" pitchFamily="49" charset="-122"/>
              <a:ea typeface="黑体" panose="02010609060101010101" pitchFamily="49" charset="-122"/>
            </a:endParaRPr>
          </a:p>
        </p:txBody>
      </p:sp>
      <p:sp>
        <p:nvSpPr>
          <p:cNvPr id="76818" name="矩形 76817"/>
          <p:cNvSpPr>
            <a:spLocks noChangeArrowheads="1"/>
          </p:cNvSpPr>
          <p:nvPr/>
        </p:nvSpPr>
        <p:spPr bwMode="auto">
          <a:xfrm>
            <a:off x="3708400" y="1901825"/>
            <a:ext cx="49688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如何计算系统完成的功量？</a:t>
            </a:r>
            <a:endParaRPr lang="zh-CN" altLang="en-US" sz="2800" b="1">
              <a:latin typeface="黑体" panose="02010609060101010101" pitchFamily="49" charset="-122"/>
              <a:ea typeface="黑体" panose="02010609060101010101" pitchFamily="49" charset="-122"/>
            </a:endParaRPr>
          </a:p>
        </p:txBody>
      </p:sp>
      <p:sp>
        <p:nvSpPr>
          <p:cNvPr id="76819" name="矩形 76818"/>
          <p:cNvSpPr>
            <a:spLocks noChangeArrowheads="1"/>
          </p:cNvSpPr>
          <p:nvPr/>
        </p:nvSpPr>
        <p:spPr bwMode="auto">
          <a:xfrm>
            <a:off x="250825" y="1773238"/>
            <a:ext cx="3097213" cy="4392612"/>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471" name="矩形 76820"/>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76820" name="对象 76819"/>
          <p:cNvGraphicFramePr/>
          <p:nvPr/>
        </p:nvGraphicFramePr>
        <p:xfrm>
          <a:off x="4500563" y="3738563"/>
          <a:ext cx="2735262" cy="698500"/>
        </p:xfrm>
        <a:graphic>
          <a:graphicData uri="http://schemas.openxmlformats.org/presentationml/2006/ole">
            <mc:AlternateContent xmlns:mc="http://schemas.openxmlformats.org/markup-compatibility/2006">
              <mc:Choice xmlns:v="urn:schemas-microsoft-com:vml" Requires="v">
                <p:oleObj spid="_x0000_s34823" name="" r:id="rId3" imgW="889000" imgH="228600" progId="Equation.DSMT4">
                  <p:embed/>
                </p:oleObj>
              </mc:Choice>
              <mc:Fallback>
                <p:oleObj name="" r:id="rId3" imgW="889000" imgH="228600" progId="Equation.DSMT4">
                  <p:embed/>
                  <p:pic>
                    <p:nvPicPr>
                      <p:cNvPr id="0" name="对象 7681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0563" y="3738563"/>
                        <a:ext cx="2735262"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6822" name="对象 76821"/>
          <p:cNvGraphicFramePr/>
          <p:nvPr/>
        </p:nvGraphicFramePr>
        <p:xfrm>
          <a:off x="4643438" y="4714875"/>
          <a:ext cx="2447925" cy="874713"/>
        </p:xfrm>
        <a:graphic>
          <a:graphicData uri="http://schemas.openxmlformats.org/presentationml/2006/ole">
            <mc:AlternateContent xmlns:mc="http://schemas.openxmlformats.org/markup-compatibility/2006">
              <mc:Choice xmlns:v="urn:schemas-microsoft-com:vml" Requires="v">
                <p:oleObj spid="_x0000_s34824" name="" r:id="rId5" imgW="989965" imgH="355600" progId="Equation.DSMT4">
                  <p:embed/>
                </p:oleObj>
              </mc:Choice>
              <mc:Fallback>
                <p:oleObj name="" r:id="rId5" imgW="989965" imgH="355600" progId="Equation.DSMT4">
                  <p:embed/>
                  <p:pic>
                    <p:nvPicPr>
                      <p:cNvPr id="0" name="对象 7682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3438" y="4714875"/>
                        <a:ext cx="2447925" cy="87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6824" name="矩形 76823"/>
          <p:cNvSpPr>
            <a:spLocks noChangeArrowheads="1"/>
          </p:cNvSpPr>
          <p:nvPr/>
        </p:nvSpPr>
        <p:spPr bwMode="auto">
          <a:xfrm>
            <a:off x="3708400" y="2627313"/>
            <a:ext cx="49688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FF0000"/>
                </a:solidFill>
                <a:latin typeface="黑体" panose="02010609060101010101" pitchFamily="49" charset="-122"/>
                <a:ea typeface="黑体" panose="02010609060101010101" pitchFamily="49" charset="-122"/>
              </a:rPr>
              <a:t>需利用对系统进行的实际测量（外部参数）来计算： </a:t>
            </a:r>
            <a:endParaRPr lang="zh-CN" altLang="en-US" sz="2800" b="1">
              <a:solidFill>
                <a:srgbClr val="FF0000"/>
              </a:solidFill>
              <a:latin typeface="黑体" panose="02010609060101010101" pitchFamily="49" charset="-122"/>
              <a:ea typeface="黑体" panose="02010609060101010101" pitchFamily="49" charset="-122"/>
            </a:endParaRPr>
          </a:p>
        </p:txBody>
      </p:sp>
      <p:pic>
        <p:nvPicPr>
          <p:cNvPr id="62475" name="图片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950" y="1876425"/>
            <a:ext cx="2871788" cy="332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对象 1"/>
          <p:cNvGraphicFramePr>
            <a:graphicFrameLocks noChangeAspect="1"/>
          </p:cNvGraphicFramePr>
          <p:nvPr/>
        </p:nvGraphicFramePr>
        <p:xfrm>
          <a:off x="1450975" y="1093788"/>
          <a:ext cx="2114550" cy="642937"/>
        </p:xfrm>
        <a:graphic>
          <a:graphicData uri="http://schemas.openxmlformats.org/presentationml/2006/ole">
            <mc:AlternateContent xmlns:mc="http://schemas.openxmlformats.org/markup-compatibility/2006">
              <mc:Choice xmlns:v="urn:schemas-microsoft-com:vml" Requires="v">
                <p:oleObj spid="_x0000_s34825" name="" r:id="rId8" imgW="749300" imgH="228600" progId="Equation.DSMT4">
                  <p:embed/>
                </p:oleObj>
              </mc:Choice>
              <mc:Fallback>
                <p:oleObj name="" r:id="rId8" imgW="749300" imgH="228600" progId="Equation.DSMT4">
                  <p:embed/>
                  <p:pic>
                    <p:nvPicPr>
                      <p:cNvPr id="0" name="对象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50975" y="1093788"/>
                        <a:ext cx="211455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10"/>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6816"/>
                                        </p:tgtEl>
                                        <p:attrNameLst>
                                          <p:attrName>style.visibility</p:attrName>
                                        </p:attrNameLst>
                                      </p:cBhvr>
                                      <p:to>
                                        <p:strVal val="visible"/>
                                      </p:to>
                                    </p:set>
                                    <p:animEffect transition="in" filter="blinds(horizontal)">
                                      <p:cBhvr>
                                        <p:cTn id="7" dur="500"/>
                                        <p:tgtEl>
                                          <p:spTgt spid="76816"/>
                                        </p:tgtEl>
                                      </p:cBhvr>
                                    </p:animEffect>
                                  </p:childTnLst>
                                </p:cTn>
                              </p:par>
                              <p:par>
                                <p:cTn id="8" presetID="3" presetClass="entr" presetSubtype="10" fill="hold" nodeType="withEffect">
                                  <p:stCondLst>
                                    <p:cond delay="0"/>
                                  </p:stCondLst>
                                  <p:childTnLst>
                                    <p:set>
                                      <p:cBhvr>
                                        <p:cTn id="9" dur="1" fill="hold">
                                          <p:stCondLst>
                                            <p:cond delay="0"/>
                                          </p:stCondLst>
                                        </p:cTn>
                                        <p:tgtEl>
                                          <p:spTgt spid="76819"/>
                                        </p:tgtEl>
                                        <p:attrNameLst>
                                          <p:attrName>style.visibility</p:attrName>
                                        </p:attrNameLst>
                                      </p:cBhvr>
                                      <p:to>
                                        <p:strVal val="visible"/>
                                      </p:to>
                                    </p:set>
                                    <p:animEffect transition="in" filter="blinds(horizontal)">
                                      <p:cBhvr>
                                        <p:cTn id="10" dur="500"/>
                                        <p:tgtEl>
                                          <p:spTgt spid="76819"/>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6811"/>
                                        </p:tgtEl>
                                        <p:attrNameLst>
                                          <p:attrName>style.visibility</p:attrName>
                                        </p:attrNameLst>
                                      </p:cBhvr>
                                      <p:to>
                                        <p:strVal val="visible"/>
                                      </p:to>
                                    </p:set>
                                    <p:animEffect transition="in" filter="blinds(horizontal)">
                                      <p:cBhvr>
                                        <p:cTn id="15" dur="500"/>
                                        <p:tgtEl>
                                          <p:spTgt spid="76811"/>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76818"/>
                                        </p:tgtEl>
                                        <p:attrNameLst>
                                          <p:attrName>style.visibility</p:attrName>
                                        </p:attrNameLst>
                                      </p:cBhvr>
                                      <p:to>
                                        <p:strVal val="visible"/>
                                      </p:to>
                                    </p:set>
                                    <p:animEffect transition="in" filter="blinds(horizontal)">
                                      <p:cBhvr>
                                        <p:cTn id="20" dur="500"/>
                                        <p:tgtEl>
                                          <p:spTgt spid="76818"/>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76824"/>
                                        </p:tgtEl>
                                        <p:attrNameLst>
                                          <p:attrName>style.visibility</p:attrName>
                                        </p:attrNameLst>
                                      </p:cBhvr>
                                      <p:to>
                                        <p:strVal val="visible"/>
                                      </p:to>
                                    </p:set>
                                    <p:animEffect transition="in" filter="blinds(horizontal)">
                                      <p:cBhvr>
                                        <p:cTn id="25" dur="500"/>
                                        <p:tgtEl>
                                          <p:spTgt spid="76824"/>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76820"/>
                                        </p:tgtEl>
                                        <p:attrNameLst>
                                          <p:attrName>style.visibility</p:attrName>
                                        </p:attrNameLst>
                                      </p:cBhvr>
                                      <p:to>
                                        <p:strVal val="visible"/>
                                      </p:to>
                                    </p:set>
                                    <p:animEffect transition="in" filter="blinds(horizontal)">
                                      <p:cBhvr>
                                        <p:cTn id="30" dur="500"/>
                                        <p:tgtEl>
                                          <p:spTgt spid="76820"/>
                                        </p:tgtEl>
                                      </p:cBhvr>
                                    </p:animEffect>
                                  </p:childTnLst>
                                </p:cTn>
                              </p:par>
                              <p:par>
                                <p:cTn id="31" presetID="3" presetClass="entr" presetSubtype="10" fill="hold" nodeType="withEffect">
                                  <p:stCondLst>
                                    <p:cond delay="0"/>
                                  </p:stCondLst>
                                  <p:childTnLst>
                                    <p:set>
                                      <p:cBhvr>
                                        <p:cTn id="32" dur="1" fill="hold">
                                          <p:stCondLst>
                                            <p:cond delay="0"/>
                                          </p:stCondLst>
                                        </p:cTn>
                                        <p:tgtEl>
                                          <p:spTgt spid="76822"/>
                                        </p:tgtEl>
                                        <p:attrNameLst>
                                          <p:attrName>style.visibility</p:attrName>
                                        </p:attrNameLst>
                                      </p:cBhvr>
                                      <p:to>
                                        <p:strVal val="visible"/>
                                      </p:to>
                                    </p:set>
                                    <p:animEffect transition="in" filter="blinds(horizontal)">
                                      <p:cBhvr>
                                        <p:cTn id="33" dur="500"/>
                                        <p:tgtEl>
                                          <p:spTgt spid="76822"/>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blinds(horizontal)">
                                      <p:cBhvr>
                                        <p:cTn id="3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16" grpId="0"/>
      <p:bldP spid="76818" grpId="0"/>
      <p:bldP spid="7682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矩形 111617"/>
          <p:cNvSpPr>
            <a:spLocks noChangeArrowheads="1"/>
          </p:cNvSpPr>
          <p:nvPr/>
        </p:nvSpPr>
        <p:spPr bwMode="auto">
          <a:xfrm>
            <a:off x="395288" y="188913"/>
            <a:ext cx="6985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4000" b="1">
                <a:latin typeface="黑体" panose="02010609060101010101" pitchFamily="49" charset="-122"/>
                <a:ea typeface="黑体" panose="02010609060101010101" pitchFamily="49" charset="-122"/>
              </a:rPr>
              <a:t>2</a:t>
            </a:r>
            <a:r>
              <a:rPr lang="zh-CN" altLang="en-US" sz="4000" b="1">
                <a:latin typeface="黑体" panose="02010609060101010101" pitchFamily="49" charset="-122"/>
                <a:ea typeface="黑体" panose="02010609060101010101" pitchFamily="49" charset="-122"/>
              </a:rPr>
              <a:t>、轴功</a:t>
            </a:r>
            <a:endParaRPr lang="zh-CN" altLang="en-US" sz="4000" b="1">
              <a:latin typeface="黑体" panose="02010609060101010101" pitchFamily="49" charset="-122"/>
              <a:ea typeface="黑体" panose="02010609060101010101" pitchFamily="49" charset="-122"/>
            </a:endParaRPr>
          </a:p>
        </p:txBody>
      </p:sp>
      <p:sp>
        <p:nvSpPr>
          <p:cNvPr id="63491" name="矩形 111618"/>
          <p:cNvSpPr>
            <a:spLocks noChangeArrowheads="1"/>
          </p:cNvSpPr>
          <p:nvPr/>
        </p:nvSpPr>
        <p:spPr bwMode="auto">
          <a:xfrm>
            <a:off x="1116013" y="1052513"/>
            <a:ext cx="6985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通过轴的旋转而与外界传递的功量称为轴功，通常用</a:t>
            </a:r>
            <a:r>
              <a:rPr lang="en-US" altLang="zh-CN" sz="3200" b="1" i="1">
                <a:latin typeface="Times New Roman" panose="02020603050405020304" pitchFamily="18" charset="0"/>
                <a:ea typeface="黑体" panose="02010609060101010101" pitchFamily="49" charset="-122"/>
              </a:rPr>
              <a:t>W</a:t>
            </a:r>
            <a:r>
              <a:rPr lang="en-US" altLang="zh-CN" sz="3200" b="1" baseline="-25000">
                <a:latin typeface="Times New Roman" panose="02020603050405020304" pitchFamily="18" charset="0"/>
                <a:ea typeface="黑体" panose="02010609060101010101" pitchFamily="49" charset="-122"/>
              </a:rPr>
              <a:t>s</a:t>
            </a:r>
            <a:r>
              <a:rPr lang="zh-CN" altLang="en-US" sz="3200" b="1">
                <a:latin typeface="黑体" panose="02010609060101010101" pitchFamily="49" charset="-122"/>
                <a:ea typeface="黑体" panose="02010609060101010101" pitchFamily="49" charset="-122"/>
              </a:rPr>
              <a:t>表示 </a:t>
            </a:r>
            <a:endParaRPr lang="zh-CN" altLang="en-US" sz="3200" b="1">
              <a:latin typeface="黑体" panose="02010609060101010101" pitchFamily="49" charset="-122"/>
              <a:ea typeface="黑体" panose="02010609060101010101" pitchFamily="49" charset="-122"/>
            </a:endParaRPr>
          </a:p>
        </p:txBody>
      </p:sp>
      <p:sp>
        <p:nvSpPr>
          <p:cNvPr id="63492" name="矩形 111619"/>
          <p:cNvSpPr>
            <a:spLocks noChangeArrowheads="1"/>
          </p:cNvSpPr>
          <p:nvPr/>
        </p:nvSpPr>
        <p:spPr bwMode="auto">
          <a:xfrm>
            <a:off x="0" y="2552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3493" name="矩形 111621"/>
          <p:cNvSpPr>
            <a:spLocks noChangeArrowheads="1"/>
          </p:cNvSpPr>
          <p:nvPr/>
        </p:nvSpPr>
        <p:spPr bwMode="auto">
          <a:xfrm>
            <a:off x="539750" y="5373688"/>
            <a:ext cx="3311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ea typeface="黑体" panose="02010609060101010101" pitchFamily="49" charset="-122"/>
              </a:rPr>
              <a:t>闭口系与外界交换轴功</a:t>
            </a:r>
            <a:r>
              <a:rPr lang="zh-CN" altLang="en-US"/>
              <a:t> </a:t>
            </a:r>
            <a:endParaRPr lang="zh-CN" altLang="en-US"/>
          </a:p>
        </p:txBody>
      </p:sp>
      <p:sp>
        <p:nvSpPr>
          <p:cNvPr id="63494" name="矩形 111622"/>
          <p:cNvSpPr>
            <a:spLocks noChangeArrowheads="1"/>
          </p:cNvSpPr>
          <p:nvPr/>
        </p:nvSpPr>
        <p:spPr bwMode="auto">
          <a:xfrm>
            <a:off x="0" y="2557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3495" name="矩形 111624"/>
          <p:cNvSpPr>
            <a:spLocks noChangeArrowheads="1"/>
          </p:cNvSpPr>
          <p:nvPr/>
        </p:nvSpPr>
        <p:spPr bwMode="auto">
          <a:xfrm>
            <a:off x="5076825" y="5373688"/>
            <a:ext cx="3311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ea typeface="黑体" panose="02010609060101010101" pitchFamily="49" charset="-122"/>
              </a:rPr>
              <a:t>开口系与外界交换轴功</a:t>
            </a:r>
            <a:r>
              <a:rPr lang="zh-CN" altLang="en-US"/>
              <a:t> </a:t>
            </a:r>
            <a:endParaRPr lang="zh-CN" altLang="en-US"/>
          </a:p>
        </p:txBody>
      </p:sp>
      <p:pic>
        <p:nvPicPr>
          <p:cNvPr id="63496"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95413" y="2370138"/>
            <a:ext cx="2482850" cy="246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7" name="图片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9338" y="2376488"/>
            <a:ext cx="3170237" cy="266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矩形 112641"/>
          <p:cNvSpPr>
            <a:spLocks noChangeArrowheads="1"/>
          </p:cNvSpPr>
          <p:nvPr/>
        </p:nvSpPr>
        <p:spPr bwMode="auto">
          <a:xfrm>
            <a:off x="0" y="2576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4515" name="矩形 112643"/>
          <p:cNvSpPr>
            <a:spLocks noChangeArrowheads="1"/>
          </p:cNvSpPr>
          <p:nvPr/>
        </p:nvSpPr>
        <p:spPr bwMode="auto">
          <a:xfrm>
            <a:off x="395288" y="188913"/>
            <a:ext cx="6985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4000" b="1">
                <a:latin typeface="黑体" panose="02010609060101010101" pitchFamily="49" charset="-122"/>
                <a:ea typeface="黑体" panose="02010609060101010101" pitchFamily="49" charset="-122"/>
              </a:rPr>
              <a:t>3</a:t>
            </a:r>
            <a:r>
              <a:rPr lang="zh-CN" altLang="en-US" sz="4000" b="1">
                <a:latin typeface="黑体" panose="02010609060101010101" pitchFamily="49" charset="-122"/>
                <a:ea typeface="黑体" panose="02010609060101010101" pitchFamily="49" charset="-122"/>
              </a:rPr>
              <a:t>、电功</a:t>
            </a:r>
            <a:endParaRPr lang="zh-CN" altLang="en-US" sz="4000" b="1">
              <a:latin typeface="黑体" panose="02010609060101010101" pitchFamily="49" charset="-122"/>
              <a:ea typeface="黑体" panose="02010609060101010101" pitchFamily="49" charset="-122"/>
            </a:endParaRPr>
          </a:p>
        </p:txBody>
      </p:sp>
      <p:sp>
        <p:nvSpPr>
          <p:cNvPr id="64516" name="矩形 112644"/>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4517" name="矩形 112646"/>
          <p:cNvSpPr>
            <a:spLocks noChangeArrowheads="1"/>
          </p:cNvSpPr>
          <p:nvPr/>
        </p:nvSpPr>
        <p:spPr bwMode="auto">
          <a:xfrm>
            <a:off x="0" y="22955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4518" name="对象 6"/>
          <p:cNvGraphicFramePr>
            <a:graphicFrameLocks noChangeAspect="1"/>
          </p:cNvGraphicFramePr>
          <p:nvPr/>
        </p:nvGraphicFramePr>
        <p:xfrm>
          <a:off x="3108325" y="5113338"/>
          <a:ext cx="2927350" cy="863600"/>
        </p:xfrm>
        <a:graphic>
          <a:graphicData uri="http://schemas.openxmlformats.org/presentationml/2006/ole">
            <mc:AlternateContent xmlns:mc="http://schemas.openxmlformats.org/markup-compatibility/2006">
              <mc:Choice xmlns:v="urn:schemas-microsoft-com:vml" Requires="v">
                <p:oleObj spid="_x0000_s35843" name="" r:id="rId1" imgW="774065" imgH="228600" progId="Equation.DSMT4">
                  <p:embed/>
                </p:oleObj>
              </mc:Choice>
              <mc:Fallback>
                <p:oleObj name="" r:id="rId1" imgW="774065" imgH="228600" progId="Equation.DSMT4">
                  <p:embed/>
                  <p:pic>
                    <p:nvPicPr>
                      <p:cNvPr id="0" name="对象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8325" y="5113338"/>
                        <a:ext cx="292735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64519"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875" y="925513"/>
            <a:ext cx="5084763" cy="362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矩形 113665"/>
          <p:cNvSpPr>
            <a:spLocks noChangeArrowheads="1"/>
          </p:cNvSpPr>
          <p:nvPr/>
        </p:nvSpPr>
        <p:spPr bwMode="auto">
          <a:xfrm>
            <a:off x="0" y="757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5539" name="矩形 113667"/>
          <p:cNvSpPr>
            <a:spLocks noChangeArrowheads="1"/>
          </p:cNvSpPr>
          <p:nvPr/>
        </p:nvSpPr>
        <p:spPr bwMode="auto">
          <a:xfrm>
            <a:off x="0" y="982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5540" name="矩形 113670"/>
          <p:cNvSpPr>
            <a:spLocks noChangeArrowheads="1"/>
          </p:cNvSpPr>
          <p:nvPr/>
        </p:nvSpPr>
        <p:spPr bwMode="auto">
          <a:xfrm>
            <a:off x="1187450" y="4508500"/>
            <a:ext cx="69850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ea typeface="黑体" panose="02010609060101010101" pitchFamily="49" charset="-122"/>
              </a:rPr>
              <a:t>常见的简单可压缩系统及其涉及的功量形式</a:t>
            </a:r>
            <a:endParaRPr lang="zh-CN" altLang="en-US" sz="3600">
              <a:ea typeface="黑体" panose="02010609060101010101" pitchFamily="49" charset="-122"/>
            </a:endParaRPr>
          </a:p>
        </p:txBody>
      </p:sp>
      <p:pic>
        <p:nvPicPr>
          <p:cNvPr id="65541"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7338" y="908050"/>
            <a:ext cx="8785225" cy="289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矩形 50177"/>
          <p:cNvSpPr>
            <a:spLocks noChangeArrowheads="1"/>
          </p:cNvSpPr>
          <p:nvPr/>
        </p:nvSpPr>
        <p:spPr bwMode="auto">
          <a:xfrm>
            <a:off x="609600" y="1905000"/>
            <a:ext cx="77724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Tx/>
              <a:buChar char="§"/>
            </a:pPr>
            <a:r>
              <a:rPr lang="en-US" altLang="zh-CN" sz="4800" b="1">
                <a:latin typeface="黑体" panose="02010609060101010101" pitchFamily="49" charset="-122"/>
                <a:ea typeface="黑体" panose="02010609060101010101" pitchFamily="49" charset="-122"/>
              </a:rPr>
              <a:t>2</a:t>
            </a:r>
            <a:r>
              <a:rPr lang="zh-CN" altLang="en-US" sz="4800" b="1">
                <a:latin typeface="黑体" panose="02010609060101010101" pitchFamily="49" charset="-122"/>
                <a:ea typeface="黑体" panose="02010609060101010101" pitchFamily="49" charset="-122"/>
              </a:rPr>
              <a:t>－</a:t>
            </a:r>
            <a:r>
              <a:rPr lang="en-US" altLang="zh-CN" sz="4800" b="1">
                <a:latin typeface="黑体" panose="02010609060101010101" pitchFamily="49" charset="-122"/>
                <a:ea typeface="黑体" panose="02010609060101010101" pitchFamily="49" charset="-122"/>
              </a:rPr>
              <a:t>4 </a:t>
            </a:r>
            <a:r>
              <a:rPr lang="zh-CN" altLang="en-US" sz="4800" b="1">
                <a:latin typeface="黑体" panose="02010609060101010101" pitchFamily="49" charset="-122"/>
                <a:ea typeface="黑体" panose="02010609060101010101" pitchFamily="49" charset="-122"/>
              </a:rPr>
              <a:t>流动功和焓</a:t>
            </a:r>
            <a:endParaRPr lang="zh-CN" altLang="en-US" sz="4800" b="1">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矩形 51203"/>
          <p:cNvSpPr>
            <a:spLocks noChangeArrowheads="1"/>
          </p:cNvSpPr>
          <p:nvPr/>
        </p:nvSpPr>
        <p:spPr bwMode="auto">
          <a:xfrm>
            <a:off x="395288" y="188913"/>
            <a:ext cx="82089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一、一维流动假设和流体流量的表达式</a:t>
            </a:r>
            <a:endParaRPr lang="zh-CN" altLang="en-US" sz="3200" b="1">
              <a:latin typeface="黑体" panose="02010609060101010101" pitchFamily="49" charset="-122"/>
              <a:ea typeface="黑体" panose="02010609060101010101" pitchFamily="49" charset="-122"/>
            </a:endParaRPr>
          </a:p>
        </p:txBody>
      </p:sp>
      <p:sp>
        <p:nvSpPr>
          <p:cNvPr id="67587" name="矩形 51206"/>
          <p:cNvSpPr>
            <a:spLocks noChangeArrowheads="1"/>
          </p:cNvSpPr>
          <p:nvPr/>
        </p:nvSpPr>
        <p:spPr bwMode="auto">
          <a:xfrm>
            <a:off x="346075" y="855663"/>
            <a:ext cx="8424863"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ea typeface="黑体" panose="02010609060101010101" pitchFamily="49" charset="-122"/>
              </a:rPr>
              <a:t>为了使问题简化，可将流道内同一截面上流体的</a:t>
            </a:r>
            <a:r>
              <a:rPr lang="zh-CN" altLang="en-US" sz="3200" b="1">
                <a:solidFill>
                  <a:srgbClr val="FF0000"/>
                </a:solidFill>
                <a:ea typeface="黑体" panose="02010609060101010101" pitchFamily="49" charset="-122"/>
              </a:rPr>
              <a:t>各同名参数都视为一致</a:t>
            </a:r>
            <a:r>
              <a:rPr lang="zh-CN" altLang="en-US" sz="3200" b="1">
                <a:ea typeface="黑体" panose="02010609060101010101" pitchFamily="49" charset="-122"/>
              </a:rPr>
              <a:t>的，每一流体参数只沿流动方向发生变化</a:t>
            </a:r>
            <a:endParaRPr lang="zh-CN" altLang="en-US" sz="3200" b="1">
              <a:ea typeface="黑体" panose="02010609060101010101" pitchFamily="49" charset="-122"/>
            </a:endParaRPr>
          </a:p>
        </p:txBody>
      </p:sp>
      <p:sp>
        <p:nvSpPr>
          <p:cNvPr id="67588" name="矩形 3"/>
          <p:cNvSpPr>
            <a:spLocks noChangeArrowheads="1"/>
          </p:cNvSpPr>
          <p:nvPr/>
        </p:nvSpPr>
        <p:spPr bwMode="auto">
          <a:xfrm>
            <a:off x="501650" y="4149725"/>
            <a:ext cx="32845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ea typeface="黑体" panose="02010609060101010101" pitchFamily="49" charset="-122"/>
              </a:rPr>
              <a:t>实际情况中，位于流道中间的流体速度最大，壁面处速度为</a:t>
            </a:r>
            <a:r>
              <a:rPr lang="zh-CN" altLang="en-US" sz="2400" b="1">
                <a:latin typeface="Times New Roman" panose="02020603050405020304" pitchFamily="18" charset="0"/>
                <a:ea typeface="黑体" panose="02010609060101010101" pitchFamily="49" charset="-122"/>
              </a:rPr>
              <a:t>0</a:t>
            </a:r>
            <a:endParaRPr lang="zh-CN" altLang="en-US" sz="2400" b="1">
              <a:latin typeface="Times New Roman" panose="02020603050405020304" pitchFamily="18" charset="0"/>
              <a:ea typeface="黑体" panose="02010609060101010101" pitchFamily="49" charset="-122"/>
            </a:endParaRPr>
          </a:p>
        </p:txBody>
      </p:sp>
      <p:sp>
        <p:nvSpPr>
          <p:cNvPr id="5" name="燕尾形箭头 4"/>
          <p:cNvSpPr/>
          <p:nvPr/>
        </p:nvSpPr>
        <p:spPr>
          <a:xfrm>
            <a:off x="3765550" y="3146425"/>
            <a:ext cx="1584325" cy="360363"/>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7590" name="矩形 5"/>
          <p:cNvSpPr>
            <a:spLocks noChangeArrowheads="1"/>
          </p:cNvSpPr>
          <p:nvPr/>
        </p:nvSpPr>
        <p:spPr bwMode="auto">
          <a:xfrm>
            <a:off x="3551238" y="2700338"/>
            <a:ext cx="2041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latin typeface="黑体" panose="02010609060101010101" pitchFamily="49" charset="-122"/>
                <a:ea typeface="黑体" panose="02010609060101010101" pitchFamily="49" charset="-122"/>
              </a:rPr>
              <a:t>一维流动假设</a:t>
            </a:r>
            <a:endParaRPr lang="zh-CN" altLang="en-US" sz="2400"/>
          </a:p>
        </p:txBody>
      </p:sp>
      <p:sp>
        <p:nvSpPr>
          <p:cNvPr id="67591" name="矩形 8"/>
          <p:cNvSpPr>
            <a:spLocks noChangeArrowheads="1"/>
          </p:cNvSpPr>
          <p:nvPr/>
        </p:nvSpPr>
        <p:spPr bwMode="auto">
          <a:xfrm>
            <a:off x="6124575" y="4125913"/>
            <a:ext cx="23860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ea typeface="黑体" panose="02010609060101010101" pitchFamily="49" charset="-122"/>
              </a:rPr>
              <a:t>一维简化后，同一截面上流体的速度相同</a:t>
            </a:r>
            <a:endParaRPr lang="zh-CN" altLang="en-US" sz="2400" b="1">
              <a:ea typeface="黑体" panose="02010609060101010101" pitchFamily="49" charset="-122"/>
            </a:endParaRPr>
          </a:p>
        </p:txBody>
      </p:sp>
      <p:graphicFrame>
        <p:nvGraphicFramePr>
          <p:cNvPr id="67592" name="对象 14"/>
          <p:cNvGraphicFramePr>
            <a:graphicFrameLocks noChangeAspect="1"/>
          </p:cNvGraphicFramePr>
          <p:nvPr/>
        </p:nvGraphicFramePr>
        <p:xfrm>
          <a:off x="7308850" y="5494338"/>
          <a:ext cx="1268413" cy="431800"/>
        </p:xfrm>
        <a:graphic>
          <a:graphicData uri="http://schemas.openxmlformats.org/presentationml/2006/ole">
            <mc:AlternateContent xmlns:mc="http://schemas.openxmlformats.org/markup-compatibility/2006">
              <mc:Choice xmlns:v="urn:schemas-microsoft-com:vml" Requires="v">
                <p:oleObj spid="_x0000_s36868" name="" r:id="rId1" imgW="673100" imgH="228600" progId="Equation.DSMT4">
                  <p:embed/>
                </p:oleObj>
              </mc:Choice>
              <mc:Fallback>
                <p:oleObj name="" r:id="rId1" imgW="673100" imgH="228600" progId="Equation.DSMT4">
                  <p:embed/>
                  <p:pic>
                    <p:nvPicPr>
                      <p:cNvPr id="0" name="对象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8850" y="5494338"/>
                        <a:ext cx="12684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7593" name="对象 10"/>
          <p:cNvGraphicFramePr>
            <a:graphicFrameLocks noChangeAspect="1"/>
          </p:cNvGraphicFramePr>
          <p:nvPr/>
        </p:nvGraphicFramePr>
        <p:xfrm>
          <a:off x="7348538" y="6048375"/>
          <a:ext cx="1108075" cy="444500"/>
        </p:xfrm>
        <a:graphic>
          <a:graphicData uri="http://schemas.openxmlformats.org/presentationml/2006/ole">
            <mc:AlternateContent xmlns:mc="http://schemas.openxmlformats.org/markup-compatibility/2006">
              <mc:Choice xmlns:v="urn:schemas-microsoft-com:vml" Requires="v">
                <p:oleObj spid="_x0000_s36869" name="" r:id="rId3" imgW="571500" imgH="228600" progId="Equation.DSMT4">
                  <p:embed/>
                </p:oleObj>
              </mc:Choice>
              <mc:Fallback>
                <p:oleObj name="" r:id="rId3" imgW="571500" imgH="228600" progId="Equation.DSMT4">
                  <p:embed/>
                  <p:pic>
                    <p:nvPicPr>
                      <p:cNvPr id="0" name="对象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48538" y="6048375"/>
                        <a:ext cx="1108075"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7594" name="矩形 17"/>
          <p:cNvSpPr>
            <a:spLocks noChangeArrowheads="1"/>
          </p:cNvSpPr>
          <p:nvPr/>
        </p:nvSpPr>
        <p:spPr bwMode="auto">
          <a:xfrm>
            <a:off x="5913438" y="5464175"/>
            <a:ext cx="2384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ea typeface="黑体" panose="02010609060101010101" pitchFamily="49" charset="-122"/>
              </a:rPr>
              <a:t>质量流量</a:t>
            </a:r>
            <a:endParaRPr lang="zh-CN" altLang="en-US" sz="2400" b="1">
              <a:ea typeface="黑体" panose="02010609060101010101" pitchFamily="49" charset="-122"/>
            </a:endParaRPr>
          </a:p>
        </p:txBody>
      </p:sp>
      <p:sp>
        <p:nvSpPr>
          <p:cNvPr id="67595" name="矩形 18"/>
          <p:cNvSpPr>
            <a:spLocks noChangeArrowheads="1"/>
          </p:cNvSpPr>
          <p:nvPr/>
        </p:nvSpPr>
        <p:spPr bwMode="auto">
          <a:xfrm>
            <a:off x="5913438" y="6040438"/>
            <a:ext cx="23844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ea typeface="黑体" panose="02010609060101010101" pitchFamily="49" charset="-122"/>
              </a:rPr>
              <a:t>体积流量</a:t>
            </a:r>
            <a:endParaRPr lang="zh-CN" altLang="en-US" sz="2400" b="1">
              <a:ea typeface="黑体" panose="02010609060101010101" pitchFamily="49" charset="-122"/>
            </a:endParaRPr>
          </a:p>
        </p:txBody>
      </p:sp>
      <p:sp>
        <p:nvSpPr>
          <p:cNvPr id="67596" name="矩形 19"/>
          <p:cNvSpPr>
            <a:spLocks noChangeArrowheads="1"/>
          </p:cNvSpPr>
          <p:nvPr/>
        </p:nvSpPr>
        <p:spPr bwMode="auto">
          <a:xfrm>
            <a:off x="5913438" y="5464175"/>
            <a:ext cx="2735262" cy="503238"/>
          </a:xfrm>
          <a:prstGeom prst="rect">
            <a:avLst/>
          </a:prstGeom>
          <a:noFill/>
          <a:ln w="381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7597" name="矩形 20"/>
          <p:cNvSpPr>
            <a:spLocks noChangeArrowheads="1"/>
          </p:cNvSpPr>
          <p:nvPr/>
        </p:nvSpPr>
        <p:spPr bwMode="auto">
          <a:xfrm>
            <a:off x="5913438" y="6069013"/>
            <a:ext cx="2735262" cy="504825"/>
          </a:xfrm>
          <a:prstGeom prst="rect">
            <a:avLst/>
          </a:prstGeom>
          <a:noFill/>
          <a:ln w="381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67598" name="图片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4550" y="2643188"/>
            <a:ext cx="2389188" cy="1287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9" name="图片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7588" y="2722563"/>
            <a:ext cx="2232025" cy="1208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7"/>
    </p:custData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矩形 51203"/>
          <p:cNvSpPr>
            <a:spLocks noChangeArrowheads="1"/>
          </p:cNvSpPr>
          <p:nvPr/>
        </p:nvSpPr>
        <p:spPr bwMode="auto">
          <a:xfrm>
            <a:off x="395288" y="188913"/>
            <a:ext cx="6985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二、流动功（</a:t>
            </a:r>
            <a:r>
              <a:rPr lang="en-US" altLang="zh-CN" sz="3200" b="1">
                <a:latin typeface="Times New Roman" panose="02020603050405020304" pitchFamily="18" charset="0"/>
                <a:ea typeface="黑体" panose="02010609060101010101" pitchFamily="49" charset="-122"/>
              </a:rPr>
              <a:t>flow work</a:t>
            </a:r>
            <a:r>
              <a:rPr lang="zh-CN" altLang="en-US" sz="3200" b="1">
                <a:latin typeface="黑体" panose="02010609060101010101" pitchFamily="49" charset="-122"/>
                <a:ea typeface="黑体" panose="02010609060101010101" pitchFamily="49" charset="-122"/>
              </a:rPr>
              <a:t>）</a:t>
            </a:r>
            <a:endParaRPr lang="zh-CN" altLang="en-US" sz="3200" b="1">
              <a:latin typeface="黑体" panose="02010609060101010101" pitchFamily="49" charset="-122"/>
              <a:ea typeface="黑体" panose="02010609060101010101" pitchFamily="49" charset="-122"/>
            </a:endParaRPr>
          </a:p>
        </p:txBody>
      </p:sp>
      <p:sp>
        <p:nvSpPr>
          <p:cNvPr id="68611" name="矩形 51206"/>
          <p:cNvSpPr>
            <a:spLocks noChangeArrowheads="1"/>
          </p:cNvSpPr>
          <p:nvPr/>
        </p:nvSpPr>
        <p:spPr bwMode="auto">
          <a:xfrm>
            <a:off x="468313" y="981075"/>
            <a:ext cx="8424862"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ea typeface="黑体" panose="02010609060101010101" pitchFamily="49" charset="-122"/>
              </a:rPr>
              <a:t>与闭口系不同，开口系的边界有物质的进出，而将物质移入或移出开口系需要作功，此功称为</a:t>
            </a:r>
            <a:r>
              <a:rPr lang="zh-CN" altLang="en-US" sz="3200" b="1">
                <a:solidFill>
                  <a:srgbClr val="0000FF"/>
                </a:solidFill>
                <a:ea typeface="黑体" panose="02010609060101010101" pitchFamily="49" charset="-122"/>
              </a:rPr>
              <a:t>流动功</a:t>
            </a:r>
            <a:r>
              <a:rPr lang="zh-CN" altLang="en-US" sz="3200" b="1">
                <a:ea typeface="黑体" panose="02010609060101010101" pitchFamily="49" charset="-122"/>
              </a:rPr>
              <a:t>。</a:t>
            </a:r>
            <a:endParaRPr lang="zh-CN" altLang="en-US" sz="3200" b="1">
              <a:ea typeface="黑体" panose="02010609060101010101" pitchFamily="49" charset="-122"/>
            </a:endParaRPr>
          </a:p>
        </p:txBody>
      </p:sp>
      <p:sp>
        <p:nvSpPr>
          <p:cNvPr id="68612" name="矩形 51208"/>
          <p:cNvSpPr>
            <a:spLocks noChangeArrowheads="1"/>
          </p:cNvSpPr>
          <p:nvPr/>
        </p:nvSpPr>
        <p:spPr bwMode="auto">
          <a:xfrm>
            <a:off x="0" y="2495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68613"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484438" y="2708275"/>
            <a:ext cx="3529012" cy="364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9" name="矩形 52228"/>
          <p:cNvSpPr>
            <a:spLocks noChangeArrowheads="1"/>
          </p:cNvSpPr>
          <p:nvPr/>
        </p:nvSpPr>
        <p:spPr bwMode="auto">
          <a:xfrm>
            <a:off x="395288" y="2636838"/>
            <a:ext cx="8518525"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将其上游流体假想为一个活塞，活塞面积为</a:t>
            </a:r>
            <a:r>
              <a:rPr lang="en-US" altLang="zh-CN" sz="2800" b="1" i="1">
                <a:latin typeface="Times New Roman" panose="02020603050405020304" pitchFamily="18" charset="0"/>
                <a:ea typeface="黑体" panose="02010609060101010101" pitchFamily="49" charset="-122"/>
              </a:rPr>
              <a:t>A</a:t>
            </a:r>
            <a:r>
              <a:rPr lang="zh-CN" altLang="en-US" sz="2800" b="1">
                <a:latin typeface="黑体" panose="02010609060101010101" pitchFamily="49" charset="-122"/>
                <a:ea typeface="黑体" panose="02010609060101010101" pitchFamily="49" charset="-122"/>
              </a:rPr>
              <a:t>。流体匀速流过开口系边界，则活塞也为匀速运动，此时活塞对流体的作用力等于流体对活塞的作用力 </a:t>
            </a:r>
            <a:endParaRPr lang="zh-CN" altLang="en-US" sz="2800" b="1">
              <a:latin typeface="黑体" panose="02010609060101010101" pitchFamily="49" charset="-122"/>
              <a:ea typeface="黑体" panose="02010609060101010101" pitchFamily="49" charset="-122"/>
            </a:endParaRPr>
          </a:p>
        </p:txBody>
      </p:sp>
      <p:graphicFrame>
        <p:nvGraphicFramePr>
          <p:cNvPr id="52232" name="对象 52231"/>
          <p:cNvGraphicFramePr/>
          <p:nvPr/>
        </p:nvGraphicFramePr>
        <p:xfrm>
          <a:off x="7308850" y="3573463"/>
          <a:ext cx="1223963" cy="493712"/>
        </p:xfrm>
        <a:graphic>
          <a:graphicData uri="http://schemas.openxmlformats.org/presentationml/2006/ole">
            <mc:AlternateContent xmlns:mc="http://schemas.openxmlformats.org/markup-compatibility/2006">
              <mc:Choice xmlns:v="urn:schemas-microsoft-com:vml" Requires="v">
                <p:oleObj spid="_x0000_s37892" name="" r:id="rId1" imgW="494665" imgH="203200" progId="Equation.DSMT4">
                  <p:embed/>
                </p:oleObj>
              </mc:Choice>
              <mc:Fallback>
                <p:oleObj name="" r:id="rId1" imgW="494665" imgH="203200" progId="Equation.DSMT4">
                  <p:embed/>
                  <p:pic>
                    <p:nvPicPr>
                      <p:cNvPr id="0" name="对象 5223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8850" y="3573463"/>
                        <a:ext cx="1223963"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2234" name="矩形 52233"/>
          <p:cNvSpPr>
            <a:spLocks noChangeArrowheads="1"/>
          </p:cNvSpPr>
          <p:nvPr/>
        </p:nvSpPr>
        <p:spPr bwMode="auto">
          <a:xfrm>
            <a:off x="4356100" y="4262438"/>
            <a:ext cx="2508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功率</a:t>
            </a:r>
            <a:r>
              <a:rPr lang="en-US" altLang="zh-CN" sz="2800" b="1">
                <a:latin typeface="黑体" panose="02010609060101010101" pitchFamily="49" charset="-122"/>
                <a:ea typeface="黑体" panose="02010609060101010101" pitchFamily="49" charset="-122"/>
              </a:rPr>
              <a:t>=</a:t>
            </a:r>
            <a:r>
              <a:rPr lang="zh-CN" altLang="en-US" sz="2800" b="1">
                <a:latin typeface="黑体" panose="02010609060101010101" pitchFamily="49" charset="-122"/>
                <a:ea typeface="黑体" panose="02010609060101010101" pitchFamily="49" charset="-122"/>
              </a:rPr>
              <a:t>力*速度 </a:t>
            </a:r>
            <a:endParaRPr lang="zh-CN" altLang="en-US" sz="2800" b="1">
              <a:latin typeface="黑体" panose="02010609060101010101" pitchFamily="49" charset="-122"/>
              <a:ea typeface="黑体" panose="02010609060101010101" pitchFamily="49" charset="-122"/>
            </a:endParaRPr>
          </a:p>
        </p:txBody>
      </p:sp>
      <p:sp>
        <p:nvSpPr>
          <p:cNvPr id="52235" name="矩形 52234"/>
          <p:cNvSpPr>
            <a:spLocks noChangeArrowheads="1"/>
          </p:cNvSpPr>
          <p:nvPr/>
        </p:nvSpPr>
        <p:spPr bwMode="auto">
          <a:xfrm>
            <a:off x="3348038" y="4794250"/>
            <a:ext cx="53641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单位时间内活塞对流体所作的功 </a:t>
            </a:r>
            <a:endParaRPr lang="zh-CN" altLang="en-US" sz="2800" b="1">
              <a:latin typeface="黑体" panose="02010609060101010101" pitchFamily="49" charset="-122"/>
              <a:ea typeface="黑体" panose="02010609060101010101" pitchFamily="49" charset="-122"/>
            </a:endParaRPr>
          </a:p>
        </p:txBody>
      </p:sp>
      <p:graphicFrame>
        <p:nvGraphicFramePr>
          <p:cNvPr id="52236" name="对象 52235"/>
          <p:cNvGraphicFramePr/>
          <p:nvPr/>
        </p:nvGraphicFramePr>
        <p:xfrm>
          <a:off x="3851275" y="5516563"/>
          <a:ext cx="3744913" cy="774700"/>
        </p:xfrm>
        <a:graphic>
          <a:graphicData uri="http://schemas.openxmlformats.org/presentationml/2006/ole">
            <mc:AlternateContent xmlns:mc="http://schemas.openxmlformats.org/markup-compatibility/2006">
              <mc:Choice xmlns:v="urn:schemas-microsoft-com:vml" Requires="v">
                <p:oleObj spid="_x0000_s37893" name="" r:id="rId3" imgW="1155700" imgH="241300" progId="Equation.DSMT4">
                  <p:embed/>
                </p:oleObj>
              </mc:Choice>
              <mc:Fallback>
                <p:oleObj name="" r:id="rId3" imgW="1155700" imgH="241300" progId="Equation.DSMT4">
                  <p:embed/>
                  <p:pic>
                    <p:nvPicPr>
                      <p:cNvPr id="0" name="对象 5223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1275" y="5516563"/>
                        <a:ext cx="3744913"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9639" name="矩形 52237"/>
          <p:cNvSpPr>
            <a:spLocks noChangeArrowheads="1"/>
          </p:cNvSpPr>
          <p:nvPr/>
        </p:nvSpPr>
        <p:spPr bwMode="auto">
          <a:xfrm>
            <a:off x="5148263" y="188913"/>
            <a:ext cx="3743325"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Times New Roman" panose="02020603050405020304" pitchFamily="18" charset="0"/>
                <a:ea typeface="黑体" panose="02010609060101010101" pitchFamily="49" charset="-122"/>
              </a:rPr>
              <a:t>开始时，质量为</a:t>
            </a:r>
            <a:r>
              <a:rPr lang="en-US" altLang="zh-CN" sz="2400" b="1" i="1">
                <a:latin typeface="Times New Roman" panose="02020603050405020304" pitchFamily="18" charset="0"/>
                <a:ea typeface="黑体" panose="02010609060101010101" pitchFamily="49" charset="-122"/>
              </a:rPr>
              <a:t>m</a:t>
            </a:r>
            <a:r>
              <a:rPr lang="zh-CN" altLang="en-US" sz="2400" b="1">
                <a:latin typeface="Times New Roman" panose="02020603050405020304" pitchFamily="18" charset="0"/>
                <a:ea typeface="黑体" panose="02010609060101010101" pitchFamily="49" charset="-122"/>
              </a:rPr>
              <a:t>，压力为</a:t>
            </a:r>
            <a:r>
              <a:rPr lang="en-US" altLang="zh-CN" sz="2400" b="1" i="1">
                <a:latin typeface="Times New Roman" panose="02020603050405020304" pitchFamily="18" charset="0"/>
                <a:ea typeface="黑体" panose="02010609060101010101" pitchFamily="49" charset="-122"/>
              </a:rPr>
              <a:t>p</a:t>
            </a:r>
            <a:r>
              <a:rPr lang="zh-CN" altLang="en-US" sz="2400" b="1">
                <a:latin typeface="Times New Roman" panose="02020603050405020304" pitchFamily="18" charset="0"/>
                <a:ea typeface="黑体" panose="02010609060101010101" pitchFamily="49" charset="-122"/>
              </a:rPr>
              <a:t>，体积为</a:t>
            </a:r>
            <a:r>
              <a:rPr lang="en-US" altLang="zh-CN" sz="2400" b="1" i="1">
                <a:latin typeface="Times New Roman" panose="02020603050405020304" pitchFamily="18" charset="0"/>
                <a:ea typeface="黑体" panose="02010609060101010101" pitchFamily="49" charset="-122"/>
              </a:rPr>
              <a:t>V</a:t>
            </a:r>
            <a:r>
              <a:rPr lang="zh-CN" altLang="en-US" sz="2400" b="1">
                <a:latin typeface="Times New Roman" panose="02020603050405020304" pitchFamily="18" charset="0"/>
                <a:ea typeface="黑体" panose="02010609060101010101" pitchFamily="49" charset="-122"/>
              </a:rPr>
              <a:t>的流体位于开口系边界（图中虚线框）之外，为了使这部分流体流入开口系，它的上游流体需要对它作功 </a:t>
            </a:r>
            <a:endParaRPr lang="zh-CN" altLang="en-US" sz="2400" b="1">
              <a:latin typeface="Times New Roman" panose="02020603050405020304" pitchFamily="18" charset="0"/>
              <a:ea typeface="黑体" panose="02010609060101010101" pitchFamily="49" charset="-122"/>
            </a:endParaRPr>
          </a:p>
        </p:txBody>
      </p:sp>
      <p:sp>
        <p:nvSpPr>
          <p:cNvPr id="52239" name="矩形 52238"/>
          <p:cNvSpPr>
            <a:spLocks noChangeArrowheads="1"/>
          </p:cNvSpPr>
          <p:nvPr/>
        </p:nvSpPr>
        <p:spPr bwMode="auto">
          <a:xfrm>
            <a:off x="3419475" y="4149725"/>
            <a:ext cx="5111750" cy="2447925"/>
          </a:xfrm>
          <a:prstGeom prst="rect">
            <a:avLst/>
          </a:prstGeom>
          <a:noFill/>
          <a:ln w="381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69641"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13" y="282575"/>
            <a:ext cx="5041901" cy="218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8" name="图片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200" y="4365625"/>
            <a:ext cx="2955925" cy="167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7"/>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2229"/>
                                        </p:tgtEl>
                                        <p:attrNameLst>
                                          <p:attrName>style.visibility</p:attrName>
                                        </p:attrNameLst>
                                      </p:cBhvr>
                                      <p:to>
                                        <p:strVal val="visible"/>
                                      </p:to>
                                    </p:set>
                                    <p:animEffect transition="in" filter="blinds(horizontal)">
                                      <p:cBhvr>
                                        <p:cTn id="7" dur="500"/>
                                        <p:tgtEl>
                                          <p:spTgt spid="52229"/>
                                        </p:tgtEl>
                                      </p:cBhvr>
                                    </p:animEffect>
                                  </p:childTnLst>
                                </p:cTn>
                              </p:par>
                              <p:par>
                                <p:cTn id="8" presetID="3" presetClass="entr" presetSubtype="10" fill="hold" nodeType="withEffect">
                                  <p:stCondLst>
                                    <p:cond delay="0"/>
                                  </p:stCondLst>
                                  <p:childTnLst>
                                    <p:set>
                                      <p:cBhvr>
                                        <p:cTn id="9" dur="1" fill="hold">
                                          <p:stCondLst>
                                            <p:cond delay="0"/>
                                          </p:stCondLst>
                                        </p:cTn>
                                        <p:tgtEl>
                                          <p:spTgt spid="52232"/>
                                        </p:tgtEl>
                                        <p:attrNameLst>
                                          <p:attrName>style.visibility</p:attrName>
                                        </p:attrNameLst>
                                      </p:cBhvr>
                                      <p:to>
                                        <p:strVal val="visible"/>
                                      </p:to>
                                    </p:set>
                                    <p:animEffect transition="in" filter="blinds(horizontal)">
                                      <p:cBhvr>
                                        <p:cTn id="10" dur="500"/>
                                        <p:tgtEl>
                                          <p:spTgt spid="5223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3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52234"/>
                                        </p:tgtEl>
                                        <p:attrNameLst>
                                          <p:attrName>style.visibility</p:attrName>
                                        </p:attrNameLst>
                                      </p:cBhvr>
                                      <p:to>
                                        <p:strVal val="visible"/>
                                      </p:to>
                                    </p:set>
                                    <p:animEffect transition="in" filter="blinds(horizontal)">
                                      <p:cBhvr>
                                        <p:cTn id="19" dur="500"/>
                                        <p:tgtEl>
                                          <p:spTgt spid="52234"/>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52239"/>
                                        </p:tgtEl>
                                        <p:attrNameLst>
                                          <p:attrName>style.visibility</p:attrName>
                                        </p:attrNameLst>
                                      </p:cBhvr>
                                      <p:to>
                                        <p:strVal val="visible"/>
                                      </p:to>
                                    </p:set>
                                    <p:animEffect transition="in" filter="blinds(horizontal)">
                                      <p:cBhvr>
                                        <p:cTn id="24" dur="500"/>
                                        <p:tgtEl>
                                          <p:spTgt spid="52239"/>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52235"/>
                                        </p:tgtEl>
                                        <p:attrNameLst>
                                          <p:attrName>style.visibility</p:attrName>
                                        </p:attrNameLst>
                                      </p:cBhvr>
                                      <p:to>
                                        <p:strVal val="visible"/>
                                      </p:to>
                                    </p:set>
                                    <p:animEffect transition="in" filter="blinds(horizontal)">
                                      <p:cBhvr>
                                        <p:cTn id="27" dur="500"/>
                                        <p:tgtEl>
                                          <p:spTgt spid="52235"/>
                                        </p:tgtEl>
                                      </p:cBhvr>
                                    </p:animEffect>
                                  </p:childTnLst>
                                </p:cTn>
                              </p:par>
                              <p:par>
                                <p:cTn id="28" presetID="3" presetClass="entr" presetSubtype="10" fill="hold" nodeType="withEffect">
                                  <p:stCondLst>
                                    <p:cond delay="0"/>
                                  </p:stCondLst>
                                  <p:childTnLst>
                                    <p:set>
                                      <p:cBhvr>
                                        <p:cTn id="29" dur="1" fill="hold">
                                          <p:stCondLst>
                                            <p:cond delay="0"/>
                                          </p:stCondLst>
                                        </p:cTn>
                                        <p:tgtEl>
                                          <p:spTgt spid="52236"/>
                                        </p:tgtEl>
                                        <p:attrNameLst>
                                          <p:attrName>style.visibility</p:attrName>
                                        </p:attrNameLst>
                                      </p:cBhvr>
                                      <p:to>
                                        <p:strVal val="visible"/>
                                      </p:to>
                                    </p:set>
                                    <p:animEffect transition="in" filter="blinds(horizontal)">
                                      <p:cBhvr>
                                        <p:cTn id="30" dur="500"/>
                                        <p:tgtEl>
                                          <p:spTgt spid="52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p:bldP spid="52234" grpId="0"/>
      <p:bldP spid="5223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矩形 53252"/>
          <p:cNvSpPr>
            <a:spLocks noChangeArrowheads="1"/>
          </p:cNvSpPr>
          <p:nvPr/>
        </p:nvSpPr>
        <p:spPr bwMode="auto">
          <a:xfrm>
            <a:off x="468313" y="2708275"/>
            <a:ext cx="53641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单位时间内活塞对流体所作的功 </a:t>
            </a:r>
            <a:endParaRPr lang="zh-CN" altLang="en-US" sz="2800" b="1">
              <a:latin typeface="黑体" panose="02010609060101010101" pitchFamily="49" charset="-122"/>
              <a:ea typeface="黑体" panose="02010609060101010101" pitchFamily="49" charset="-122"/>
            </a:endParaRPr>
          </a:p>
        </p:txBody>
      </p:sp>
      <p:graphicFrame>
        <p:nvGraphicFramePr>
          <p:cNvPr id="70659" name="对象 53253"/>
          <p:cNvGraphicFramePr/>
          <p:nvPr/>
        </p:nvGraphicFramePr>
        <p:xfrm>
          <a:off x="1187450" y="3357563"/>
          <a:ext cx="2447925" cy="506412"/>
        </p:xfrm>
        <a:graphic>
          <a:graphicData uri="http://schemas.openxmlformats.org/presentationml/2006/ole">
            <mc:AlternateContent xmlns:mc="http://schemas.openxmlformats.org/markup-compatibility/2006">
              <mc:Choice xmlns:v="urn:schemas-microsoft-com:vml" Requires="v">
                <p:oleObj spid="_x0000_s38920" name="" r:id="rId1" imgW="1155700" imgH="241300" progId="Equation.DSMT4">
                  <p:embed/>
                </p:oleObj>
              </mc:Choice>
              <mc:Fallback>
                <p:oleObj name="" r:id="rId1" imgW="1155700" imgH="241300" progId="Equation.DSMT4">
                  <p:embed/>
                  <p:pic>
                    <p:nvPicPr>
                      <p:cNvPr id="0" name="对象 5325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3357563"/>
                        <a:ext cx="2447925"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0660" name="矩形 53255"/>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0661" name="矩形 53259"/>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0662" name="矩形 53262"/>
          <p:cNvSpPr>
            <a:spLocks noChangeArrowheads="1"/>
          </p:cNvSpPr>
          <p:nvPr/>
        </p:nvSpPr>
        <p:spPr bwMode="auto">
          <a:xfrm>
            <a:off x="0" y="3219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3262" name="对象 53261"/>
          <p:cNvGraphicFramePr/>
          <p:nvPr/>
        </p:nvGraphicFramePr>
        <p:xfrm>
          <a:off x="4316413" y="4221163"/>
          <a:ext cx="1952625" cy="831850"/>
        </p:xfrm>
        <a:graphic>
          <a:graphicData uri="http://schemas.openxmlformats.org/presentationml/2006/ole">
            <mc:AlternateContent xmlns:mc="http://schemas.openxmlformats.org/markup-compatibility/2006">
              <mc:Choice xmlns:v="urn:schemas-microsoft-com:vml" Requires="v">
                <p:oleObj spid="_x0000_s38921" name="" r:id="rId3" imgW="977900" imgH="419100" progId="Equation.DSMT4">
                  <p:embed/>
                </p:oleObj>
              </mc:Choice>
              <mc:Fallback>
                <p:oleObj name="" r:id="rId3" imgW="977900" imgH="419100" progId="Equation.DSMT4">
                  <p:embed/>
                  <p:pic>
                    <p:nvPicPr>
                      <p:cNvPr id="0" name="对象 5326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6413" y="4221163"/>
                        <a:ext cx="19526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3264" name="直接连接符 53263"/>
          <p:cNvSpPr>
            <a:spLocks noChangeShapeType="1"/>
          </p:cNvSpPr>
          <p:nvPr/>
        </p:nvSpPr>
        <p:spPr bwMode="auto">
          <a:xfrm flipH="1" flipV="1">
            <a:off x="3708400" y="3716338"/>
            <a:ext cx="935038" cy="650875"/>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665" name="矩形 53265"/>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3265" name="对象 53264"/>
          <p:cNvGraphicFramePr/>
          <p:nvPr/>
        </p:nvGraphicFramePr>
        <p:xfrm>
          <a:off x="908050" y="5140325"/>
          <a:ext cx="1614488" cy="479425"/>
        </p:xfrm>
        <a:graphic>
          <a:graphicData uri="http://schemas.openxmlformats.org/presentationml/2006/ole">
            <mc:AlternateContent xmlns:mc="http://schemas.openxmlformats.org/markup-compatibility/2006">
              <mc:Choice xmlns:v="urn:schemas-microsoft-com:vml" Requires="v">
                <p:oleObj spid="_x0000_s38922" name="" r:id="rId5" imgW="799465" imgH="241300" progId="Equation.DSMT4">
                  <p:embed/>
                </p:oleObj>
              </mc:Choice>
              <mc:Fallback>
                <p:oleObj name="" r:id="rId5" imgW="799465" imgH="241300" progId="Equation.DSMT4">
                  <p:embed/>
                  <p:pic>
                    <p:nvPicPr>
                      <p:cNvPr id="0" name="对象 5326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8050" y="5140325"/>
                        <a:ext cx="16144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0667" name="矩形 53267"/>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3267" name="对象 53266"/>
          <p:cNvGraphicFramePr/>
          <p:nvPr/>
        </p:nvGraphicFramePr>
        <p:xfrm>
          <a:off x="3470275" y="5165725"/>
          <a:ext cx="2233613" cy="461963"/>
        </p:xfrm>
        <a:graphic>
          <a:graphicData uri="http://schemas.openxmlformats.org/presentationml/2006/ole">
            <mc:AlternateContent xmlns:mc="http://schemas.openxmlformats.org/markup-compatibility/2006">
              <mc:Choice xmlns:v="urn:schemas-microsoft-com:vml" Requires="v">
                <p:oleObj spid="_x0000_s38923" name="" r:id="rId7" imgW="1104900" imgH="228600" progId="Equation.DSMT4">
                  <p:embed/>
                </p:oleObj>
              </mc:Choice>
              <mc:Fallback>
                <p:oleObj name="" r:id="rId7" imgW="1104900" imgH="228600" progId="Equation.DSMT4">
                  <p:embed/>
                  <p:pic>
                    <p:nvPicPr>
                      <p:cNvPr id="0" name="对象 5326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70275" y="5165725"/>
                        <a:ext cx="22336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3270" name="对象 53269"/>
          <p:cNvGraphicFramePr/>
          <p:nvPr/>
        </p:nvGraphicFramePr>
        <p:xfrm>
          <a:off x="4167188" y="5891213"/>
          <a:ext cx="1309687" cy="461962"/>
        </p:xfrm>
        <a:graphic>
          <a:graphicData uri="http://schemas.openxmlformats.org/presentationml/2006/ole">
            <mc:AlternateContent xmlns:mc="http://schemas.openxmlformats.org/markup-compatibility/2006">
              <mc:Choice xmlns:v="urn:schemas-microsoft-com:vml" Requires="v">
                <p:oleObj spid="_x0000_s38924" name="" r:id="rId9" imgW="647700" imgH="228600" progId="Equation.DSMT4">
                  <p:embed/>
                </p:oleObj>
              </mc:Choice>
              <mc:Fallback>
                <p:oleObj name="" r:id="rId9" imgW="647700" imgH="228600" progId="Equation.DSMT4">
                  <p:embed/>
                  <p:pic>
                    <p:nvPicPr>
                      <p:cNvPr id="0" name="对象 53269"/>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67188" y="5891213"/>
                        <a:ext cx="13096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3271" name="矩形 53270"/>
          <p:cNvSpPr>
            <a:spLocks noChangeArrowheads="1"/>
          </p:cNvSpPr>
          <p:nvPr/>
        </p:nvSpPr>
        <p:spPr bwMode="auto">
          <a:xfrm>
            <a:off x="581025" y="5861050"/>
            <a:ext cx="32527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若移动的物质是</a:t>
            </a:r>
            <a:r>
              <a:rPr lang="en-US" altLang="zh-CN" sz="2800" b="1">
                <a:latin typeface="Times New Roman" panose="02020603050405020304" pitchFamily="18" charset="0"/>
                <a:ea typeface="黑体" panose="02010609060101010101" pitchFamily="49" charset="-122"/>
              </a:rPr>
              <a:t>1kg</a:t>
            </a:r>
            <a:endParaRPr lang="en-US" altLang="zh-CN" sz="2800" b="1">
              <a:latin typeface="Times New Roman" panose="02020603050405020304" pitchFamily="18" charset="0"/>
              <a:ea typeface="黑体" panose="02010609060101010101" pitchFamily="49" charset="-122"/>
            </a:endParaRPr>
          </a:p>
        </p:txBody>
      </p:sp>
      <p:grpSp>
        <p:nvGrpSpPr>
          <p:cNvPr id="11" name="组合 10"/>
          <p:cNvGrpSpPr/>
          <p:nvPr/>
        </p:nvGrpSpPr>
        <p:grpSpPr bwMode="auto">
          <a:xfrm>
            <a:off x="712788" y="4335463"/>
            <a:ext cx="2665412" cy="461962"/>
            <a:chOff x="713261" y="4335487"/>
            <a:chExt cx="2664296" cy="461665"/>
          </a:xfrm>
        </p:grpSpPr>
        <p:graphicFrame>
          <p:nvGraphicFramePr>
            <p:cNvPr id="70675" name="对象 20"/>
            <p:cNvGraphicFramePr>
              <a:graphicFrameLocks noChangeAspect="1"/>
            </p:cNvGraphicFramePr>
            <p:nvPr/>
          </p:nvGraphicFramePr>
          <p:xfrm>
            <a:off x="2109397" y="4366456"/>
            <a:ext cx="1268160" cy="430696"/>
          </p:xfrm>
          <a:graphic>
            <a:graphicData uri="http://schemas.openxmlformats.org/presentationml/2006/ole">
              <mc:AlternateContent xmlns:mc="http://schemas.openxmlformats.org/markup-compatibility/2006">
                <mc:Choice xmlns:v="urn:schemas-microsoft-com:vml" Requires="v">
                  <p:oleObj spid="_x0000_s38925" name="" r:id="rId11" imgW="673100" imgH="228600" progId="Equation.DSMT4">
                    <p:embed/>
                  </p:oleObj>
                </mc:Choice>
                <mc:Fallback>
                  <p:oleObj name="" r:id="rId11" imgW="673100" imgH="228600" progId="Equation.DSMT4">
                    <p:embed/>
                    <p:pic>
                      <p:nvPicPr>
                        <p:cNvPr id="0" name="对象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09397" y="4366456"/>
                          <a:ext cx="1268160" cy="430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0676" name="矩形 21"/>
            <p:cNvSpPr>
              <a:spLocks noChangeArrowheads="1"/>
            </p:cNvSpPr>
            <p:nvPr/>
          </p:nvSpPr>
          <p:spPr bwMode="auto">
            <a:xfrm>
              <a:off x="713261" y="4335487"/>
              <a:ext cx="23849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ea typeface="黑体" panose="02010609060101010101" pitchFamily="49" charset="-122"/>
                </a:rPr>
                <a:t>质量流量</a:t>
              </a:r>
              <a:endParaRPr lang="zh-CN" altLang="en-US" sz="2400" b="1">
                <a:ea typeface="黑体" panose="02010609060101010101" pitchFamily="49" charset="-122"/>
              </a:endParaRPr>
            </a:p>
          </p:txBody>
        </p:sp>
      </p:grpSp>
      <p:cxnSp>
        <p:nvCxnSpPr>
          <p:cNvPr id="4" name="直接箭头连接符 3"/>
          <p:cNvCxnSpPr/>
          <p:nvPr/>
        </p:nvCxnSpPr>
        <p:spPr>
          <a:xfrm flipV="1">
            <a:off x="3470275" y="4592638"/>
            <a:ext cx="72866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70673" name="图片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55750" y="344488"/>
            <a:ext cx="5041900" cy="218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 name="直接箭头连接符 19"/>
          <p:cNvCxnSpPr/>
          <p:nvPr/>
        </p:nvCxnSpPr>
        <p:spPr>
          <a:xfrm flipV="1">
            <a:off x="2649538" y="5384800"/>
            <a:ext cx="72866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custDataLst>
      <p:tags r:id="rId14"/>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3262"/>
                                        </p:tgtEl>
                                        <p:attrNameLst>
                                          <p:attrName>style.visibility</p:attrName>
                                        </p:attrNameLst>
                                      </p:cBhvr>
                                      <p:to>
                                        <p:strVal val="visible"/>
                                      </p:to>
                                    </p:set>
                                    <p:animEffect transition="in" filter="wipe(left)">
                                      <p:cBhvr>
                                        <p:cTn id="16" dur="500"/>
                                        <p:tgtEl>
                                          <p:spTgt spid="5326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53264"/>
                                        </p:tgtEl>
                                        <p:attrNameLst>
                                          <p:attrName>style.visibility</p:attrName>
                                        </p:attrNameLst>
                                      </p:cBhvr>
                                      <p:to>
                                        <p:strVal val="visible"/>
                                      </p:to>
                                    </p:set>
                                    <p:animEffect transition="in" filter="wipe(down)">
                                      <p:cBhvr>
                                        <p:cTn id="21" dur="500"/>
                                        <p:tgtEl>
                                          <p:spTgt spid="53264"/>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53265"/>
                                        </p:tgtEl>
                                        <p:attrNameLst>
                                          <p:attrName>style.visibility</p:attrName>
                                        </p:attrNameLst>
                                      </p:cBhvr>
                                      <p:to>
                                        <p:strVal val="visible"/>
                                      </p:to>
                                    </p:set>
                                    <p:animEffect transition="in" filter="blinds(horizontal)">
                                      <p:cBhvr>
                                        <p:cTn id="26" dur="500"/>
                                        <p:tgtEl>
                                          <p:spTgt spid="5326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left)">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53267"/>
                                        </p:tgtEl>
                                        <p:attrNameLst>
                                          <p:attrName>style.visibility</p:attrName>
                                        </p:attrNameLst>
                                      </p:cBhvr>
                                      <p:to>
                                        <p:strVal val="visible"/>
                                      </p:to>
                                    </p:set>
                                    <p:animEffect transition="in" filter="blinds(horizontal)">
                                      <p:cBhvr>
                                        <p:cTn id="36" dur="500"/>
                                        <p:tgtEl>
                                          <p:spTgt spid="53267"/>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53270"/>
                                        </p:tgtEl>
                                        <p:attrNameLst>
                                          <p:attrName>style.visibility</p:attrName>
                                        </p:attrNameLst>
                                      </p:cBhvr>
                                      <p:to>
                                        <p:strVal val="visible"/>
                                      </p:to>
                                    </p:set>
                                    <p:animEffect transition="in" filter="blinds(horizontal)">
                                      <p:cBhvr>
                                        <p:cTn id="41" dur="500"/>
                                        <p:tgtEl>
                                          <p:spTgt spid="53270"/>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53271"/>
                                        </p:tgtEl>
                                        <p:attrNameLst>
                                          <p:attrName>style.visibility</p:attrName>
                                        </p:attrNameLst>
                                      </p:cBhvr>
                                      <p:to>
                                        <p:strVal val="visible"/>
                                      </p:to>
                                    </p:set>
                                    <p:animEffect transition="in" filter="blinds(horizontal)">
                                      <p:cBhvr>
                                        <p:cTn id="44" dur="500"/>
                                        <p:tgtEl>
                                          <p:spTgt spid="53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7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矩形 54276"/>
          <p:cNvSpPr>
            <a:spLocks noChangeArrowheads="1"/>
          </p:cNvSpPr>
          <p:nvPr/>
        </p:nvSpPr>
        <p:spPr bwMode="auto">
          <a:xfrm>
            <a:off x="0" y="26241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683" name="矩形 54277"/>
          <p:cNvSpPr>
            <a:spLocks noChangeArrowheads="1"/>
          </p:cNvSpPr>
          <p:nvPr/>
        </p:nvSpPr>
        <p:spPr bwMode="auto">
          <a:xfrm>
            <a:off x="382588" y="3111500"/>
            <a:ext cx="82216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latin typeface="黑体" panose="02010609060101010101" pitchFamily="49" charset="-122"/>
                <a:ea typeface="黑体" panose="02010609060101010101" pitchFamily="49" charset="-122"/>
              </a:rPr>
              <a:t>如果流体离开开口系统，流体对它的下游流体作功 </a:t>
            </a:r>
            <a:endParaRPr lang="zh-CN" altLang="en-US" sz="2800" b="1" dirty="0">
              <a:latin typeface="黑体" panose="02010609060101010101" pitchFamily="49" charset="-122"/>
              <a:ea typeface="黑体" panose="02010609060101010101" pitchFamily="49" charset="-122"/>
            </a:endParaRPr>
          </a:p>
        </p:txBody>
      </p:sp>
      <p:graphicFrame>
        <p:nvGraphicFramePr>
          <p:cNvPr id="71684" name="对象 54278"/>
          <p:cNvGraphicFramePr/>
          <p:nvPr/>
        </p:nvGraphicFramePr>
        <p:xfrm>
          <a:off x="2700338" y="3860800"/>
          <a:ext cx="3313112" cy="684213"/>
        </p:xfrm>
        <a:graphic>
          <a:graphicData uri="http://schemas.openxmlformats.org/presentationml/2006/ole">
            <mc:AlternateContent xmlns:mc="http://schemas.openxmlformats.org/markup-compatibility/2006">
              <mc:Choice xmlns:v="urn:schemas-microsoft-com:vml" Requires="v">
                <p:oleObj spid="_x0000_s39939" name="" r:id="rId1" imgW="1104900" imgH="228600" progId="Equation.DSMT4">
                  <p:embed/>
                </p:oleObj>
              </mc:Choice>
              <mc:Fallback>
                <p:oleObj name="" r:id="rId1" imgW="1104900" imgH="228600" progId="Equation.DSMT4">
                  <p:embed/>
                  <p:pic>
                    <p:nvPicPr>
                      <p:cNvPr id="0" name="对象 5427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0338" y="3860800"/>
                        <a:ext cx="3313112"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685" name="矩形 54281"/>
          <p:cNvSpPr>
            <a:spLocks noChangeArrowheads="1"/>
          </p:cNvSpPr>
          <p:nvPr/>
        </p:nvSpPr>
        <p:spPr bwMode="auto">
          <a:xfrm>
            <a:off x="539750" y="5300663"/>
            <a:ext cx="80645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latin typeface="黑体" panose="02010609060101010101" pitchFamily="49" charset="-122"/>
                <a:ea typeface="黑体" panose="02010609060101010101" pitchFamily="49" charset="-122"/>
              </a:rPr>
              <a:t>功是过程量，</a:t>
            </a:r>
            <a:r>
              <a:rPr lang="zh-CN" altLang="en-US" sz="3200" b="1" dirty="0">
                <a:solidFill>
                  <a:srgbClr val="FF0000"/>
                </a:solidFill>
                <a:latin typeface="黑体" panose="02010609060101010101" pitchFamily="49" charset="-122"/>
                <a:ea typeface="黑体" panose="02010609060101010101" pitchFamily="49" charset="-122"/>
              </a:rPr>
              <a:t>流动功是过程量还是状态量？</a:t>
            </a:r>
            <a:endParaRPr lang="zh-CN" altLang="en-US" sz="3200" b="1" dirty="0">
              <a:solidFill>
                <a:srgbClr val="FF0000"/>
              </a:solidFill>
              <a:latin typeface="黑体" panose="02010609060101010101" pitchFamily="49" charset="-122"/>
              <a:ea typeface="黑体" panose="02010609060101010101" pitchFamily="49" charset="-122"/>
            </a:endParaRPr>
          </a:p>
        </p:txBody>
      </p:sp>
      <p:pic>
        <p:nvPicPr>
          <p:cNvPr id="71686"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490538"/>
            <a:ext cx="5835650" cy="224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矩形 55299"/>
          <p:cNvSpPr>
            <a:spLocks noChangeArrowheads="1"/>
          </p:cNvSpPr>
          <p:nvPr/>
        </p:nvSpPr>
        <p:spPr bwMode="auto">
          <a:xfrm>
            <a:off x="395288" y="184150"/>
            <a:ext cx="8135937"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流动功</a:t>
            </a:r>
            <a:r>
              <a:rPr lang="en-US" altLang="zh-CN" sz="3200" b="1" i="1">
                <a:latin typeface="Times New Roman" panose="02020603050405020304" pitchFamily="18" charset="0"/>
                <a:ea typeface="黑体" panose="02010609060101010101" pitchFamily="49" charset="-122"/>
              </a:rPr>
              <a:t>pV</a:t>
            </a:r>
            <a:r>
              <a:rPr lang="zh-CN" altLang="en-US" sz="3200" b="1">
                <a:latin typeface="黑体" panose="02010609060101010101" pitchFamily="49" charset="-122"/>
                <a:ea typeface="黑体" panose="02010609060101010101" pitchFamily="49" charset="-122"/>
              </a:rPr>
              <a:t>可</a:t>
            </a:r>
            <a:r>
              <a:rPr lang="zh-CN" altLang="en-US" sz="3200" b="1">
                <a:solidFill>
                  <a:srgbClr val="FF0000"/>
                </a:solidFill>
                <a:latin typeface="黑体" panose="02010609060101010101" pitchFamily="49" charset="-122"/>
                <a:ea typeface="黑体" panose="02010609060101010101" pitchFamily="49" charset="-122"/>
              </a:rPr>
              <a:t>视为</a:t>
            </a:r>
            <a:r>
              <a:rPr lang="zh-CN" altLang="en-US" sz="3200" b="1">
                <a:latin typeface="黑体" panose="02010609060101010101" pitchFamily="49" charset="-122"/>
                <a:ea typeface="黑体" panose="02010609060101010101" pitchFamily="49" charset="-122"/>
              </a:rPr>
              <a:t>流动的流体所携带的能量中的一部分（是流动的流体所“</a:t>
            </a:r>
            <a:r>
              <a:rPr lang="zh-CN" altLang="en-US" sz="3200" b="1">
                <a:solidFill>
                  <a:srgbClr val="FF0000"/>
                </a:solidFill>
                <a:latin typeface="黑体" panose="02010609060101010101" pitchFamily="49" charset="-122"/>
                <a:ea typeface="黑体" panose="02010609060101010101" pitchFamily="49" charset="-122"/>
              </a:rPr>
              <a:t>具有</a:t>
            </a:r>
            <a:r>
              <a:rPr lang="zh-CN" altLang="en-US" sz="3200" b="1">
                <a:latin typeface="黑体" panose="02010609060101010101" pitchFamily="49" charset="-122"/>
                <a:ea typeface="黑体" panose="02010609060101010101" pitchFamily="49" charset="-122"/>
              </a:rPr>
              <a:t>”的能量）</a:t>
            </a:r>
            <a:endParaRPr lang="zh-CN" altLang="en-US" sz="3200" b="1">
              <a:latin typeface="黑体" panose="02010609060101010101" pitchFamily="49" charset="-122"/>
              <a:ea typeface="黑体" panose="02010609060101010101" pitchFamily="49" charset="-122"/>
            </a:endParaRPr>
          </a:p>
        </p:txBody>
      </p:sp>
      <p:sp>
        <p:nvSpPr>
          <p:cNvPr id="72707" name="矩形 55301"/>
          <p:cNvSpPr>
            <a:spLocks noChangeArrowheads="1"/>
          </p:cNvSpPr>
          <p:nvPr/>
        </p:nvSpPr>
        <p:spPr bwMode="auto">
          <a:xfrm>
            <a:off x="0" y="2833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708" name="矩形 55306"/>
          <p:cNvSpPr>
            <a:spLocks noChangeArrowheads="1"/>
          </p:cNvSpPr>
          <p:nvPr/>
        </p:nvSpPr>
        <p:spPr bwMode="auto">
          <a:xfrm>
            <a:off x="395288" y="1354138"/>
            <a:ext cx="8640762"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因此，</a:t>
            </a:r>
            <a:r>
              <a:rPr lang="zh-CN" altLang="en-US" sz="3200" b="1">
                <a:solidFill>
                  <a:srgbClr val="FF0000"/>
                </a:solidFill>
                <a:latin typeface="黑体" panose="02010609060101010101" pitchFamily="49" charset="-122"/>
                <a:ea typeface="黑体" panose="02010609060101010101" pitchFamily="49" charset="-122"/>
              </a:rPr>
              <a:t>也可叫做流动能</a:t>
            </a:r>
            <a:r>
              <a:rPr lang="zh-CN" altLang="en-US" sz="3200" b="1">
                <a:latin typeface="黑体" panose="02010609060101010101" pitchFamily="49" charset="-122"/>
                <a:ea typeface="黑体" panose="02010609060101010101" pitchFamily="49" charset="-122"/>
              </a:rPr>
              <a:t>（</a:t>
            </a:r>
            <a:r>
              <a:rPr lang="en-US" altLang="zh-CN" sz="3200" b="1">
                <a:latin typeface="Times New Roman" panose="02020603050405020304" pitchFamily="18" charset="0"/>
                <a:ea typeface="黑体" panose="02010609060101010101" pitchFamily="49" charset="-122"/>
              </a:rPr>
              <a:t>flow energy</a:t>
            </a:r>
            <a:r>
              <a:rPr lang="zh-CN" altLang="en-US" sz="3200" b="1">
                <a:latin typeface="黑体" panose="02010609060101010101" pitchFamily="49" charset="-122"/>
                <a:ea typeface="黑体" panose="02010609060101010101" pitchFamily="49" charset="-122"/>
              </a:rPr>
              <a:t>），这部分能量用于维持流体流入或流出系统边界</a:t>
            </a:r>
            <a:endParaRPr lang="zh-CN" altLang="en-US" sz="3200" b="1">
              <a:latin typeface="黑体" panose="02010609060101010101" pitchFamily="49" charset="-122"/>
              <a:ea typeface="黑体" panose="02010609060101010101" pitchFamily="49" charset="-122"/>
            </a:endParaRPr>
          </a:p>
        </p:txBody>
      </p:sp>
      <p:sp>
        <p:nvSpPr>
          <p:cNvPr id="72709" name="矩形 55307"/>
          <p:cNvSpPr>
            <a:spLocks noChangeArrowheads="1"/>
          </p:cNvSpPr>
          <p:nvPr/>
        </p:nvSpPr>
        <p:spPr bwMode="auto">
          <a:xfrm>
            <a:off x="4211638" y="4064000"/>
            <a:ext cx="439261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t" hangingPunct="1">
              <a:buFont typeface="Wingdings" panose="05000000000000000000" pitchFamily="2" charset="2"/>
              <a:buChar char="Ø"/>
            </a:pPr>
            <a:endParaRPr lang="zh-CN" altLang="en-US" sz="2800" b="1">
              <a:latin typeface="黑体" panose="02010609060101010101" pitchFamily="49" charset="-122"/>
              <a:ea typeface="黑体" panose="02010609060101010101" pitchFamily="49" charset="-122"/>
            </a:endParaRPr>
          </a:p>
          <a:p>
            <a:pPr eaLnBrk="1" hangingPunct="1">
              <a:buFont typeface="Wingdings" panose="05000000000000000000" pitchFamily="2" charset="2"/>
              <a:buChar char="Ø"/>
            </a:pPr>
            <a:endParaRPr lang="zh-CN" altLang="en-US" sz="2800" b="1">
              <a:latin typeface="黑体" panose="02010609060101010101" pitchFamily="49" charset="-122"/>
              <a:ea typeface="黑体" panose="02010609060101010101" pitchFamily="49" charset="-122"/>
            </a:endParaRPr>
          </a:p>
        </p:txBody>
      </p:sp>
      <p:sp>
        <p:nvSpPr>
          <p:cNvPr id="55311" name="内容占位符 55310"/>
          <p:cNvSpPr>
            <a:spLocks noGrp="1" noChangeArrowheads="1"/>
          </p:cNvSpPr>
          <p:nvPr>
            <p:ph sz="half" idx="2"/>
          </p:nvPr>
        </p:nvSpPr>
        <p:spPr>
          <a:xfrm>
            <a:off x="4284663" y="2924175"/>
            <a:ext cx="4319587" cy="3695700"/>
          </a:xfrm>
        </p:spPr>
        <p:txBody>
          <a:bodyPr/>
          <a:lstStyle/>
          <a:p>
            <a:pPr eaLnBrk="1" hangingPunct="1"/>
            <a:r>
              <a:rPr lang="zh-CN" altLang="en-US" sz="2800" b="1" smtClean="0">
                <a:latin typeface="Times New Roman" panose="02020603050405020304" pitchFamily="18" charset="0"/>
                <a:ea typeface="黑体" panose="02010609060101010101" pitchFamily="49" charset="-122"/>
              </a:rPr>
              <a:t>只有当流体流动时，</a:t>
            </a:r>
            <a:r>
              <a:rPr lang="en-US" altLang="zh-CN" sz="2800" b="1" i="1" smtClean="0">
                <a:latin typeface="Times New Roman" panose="02020603050405020304" pitchFamily="18" charset="0"/>
                <a:ea typeface="黑体" panose="02010609060101010101" pitchFamily="49" charset="-122"/>
              </a:rPr>
              <a:t>pV</a:t>
            </a:r>
            <a:r>
              <a:rPr lang="zh-CN" altLang="en-US" sz="2800" b="1" smtClean="0">
                <a:latin typeface="Times New Roman" panose="02020603050405020304" pitchFamily="18" charset="0"/>
                <a:ea typeface="黑体" panose="02010609060101010101" pitchFamily="49" charset="-122"/>
              </a:rPr>
              <a:t>才有物理意义</a:t>
            </a:r>
            <a:endParaRPr lang="zh-CN" altLang="en-US" sz="2800" b="1" smtClean="0">
              <a:latin typeface="Times New Roman" panose="02020603050405020304" pitchFamily="18" charset="0"/>
              <a:ea typeface="黑体" panose="02010609060101010101" pitchFamily="49" charset="-122"/>
            </a:endParaRPr>
          </a:p>
          <a:p>
            <a:pPr eaLnBrk="1" hangingPunct="1"/>
            <a:r>
              <a:rPr lang="zh-CN" altLang="en-US" sz="2800" b="1" smtClean="0">
                <a:latin typeface="Times New Roman" panose="02020603050405020304" pitchFamily="18" charset="0"/>
                <a:ea typeface="黑体" panose="02010609060101010101" pitchFamily="49" charset="-122"/>
              </a:rPr>
              <a:t>当</a:t>
            </a:r>
            <a:r>
              <a:rPr lang="zh-CN" altLang="en-US" sz="2800" b="1" smtClean="0">
                <a:solidFill>
                  <a:srgbClr val="FF0000"/>
                </a:solidFill>
                <a:latin typeface="Times New Roman" panose="02020603050405020304" pitchFamily="18" charset="0"/>
                <a:ea typeface="黑体" panose="02010609060101010101" pitchFamily="49" charset="-122"/>
              </a:rPr>
              <a:t>流体不流动时</a:t>
            </a:r>
            <a:r>
              <a:rPr lang="zh-CN" altLang="en-US" sz="2800" b="1" smtClean="0">
                <a:latin typeface="Times New Roman" panose="02020603050405020304" pitchFamily="18" charset="0"/>
                <a:ea typeface="黑体" panose="02010609060101010101" pitchFamily="49" charset="-122"/>
              </a:rPr>
              <a:t>（例如置于闭口系中），</a:t>
            </a:r>
            <a:r>
              <a:rPr lang="en-US" altLang="zh-CN" sz="2800" b="1" i="1" smtClean="0">
                <a:latin typeface="Times New Roman" panose="02020603050405020304" pitchFamily="18" charset="0"/>
                <a:ea typeface="黑体" panose="02010609060101010101" pitchFamily="49" charset="-122"/>
              </a:rPr>
              <a:t>pV</a:t>
            </a:r>
            <a:r>
              <a:rPr lang="zh-CN" altLang="en-US" sz="2800" b="1" smtClean="0">
                <a:latin typeface="Times New Roman" panose="02020603050405020304" pitchFamily="18" charset="0"/>
                <a:ea typeface="黑体" panose="02010609060101010101" pitchFamily="49" charset="-122"/>
              </a:rPr>
              <a:t>仅是流体压力和体积的乘积，不代表静止流体具有的任何种类的能量，</a:t>
            </a:r>
            <a:r>
              <a:rPr lang="zh-CN" altLang="en-US" sz="2800" b="1" smtClean="0">
                <a:solidFill>
                  <a:srgbClr val="FF0000"/>
                </a:solidFill>
                <a:latin typeface="Times New Roman" panose="02020603050405020304" pitchFamily="18" charset="0"/>
                <a:ea typeface="黑体" panose="02010609060101010101" pitchFamily="49" charset="-122"/>
              </a:rPr>
              <a:t>没有物理意义</a:t>
            </a:r>
            <a:endParaRPr lang="zh-CN" altLang="en-US" sz="2800" b="1" smtClean="0">
              <a:latin typeface="Times New Roman" panose="02020603050405020304" pitchFamily="18" charset="0"/>
              <a:ea typeface="黑体" panose="02010609060101010101" pitchFamily="49" charset="-122"/>
            </a:endParaRPr>
          </a:p>
          <a:p>
            <a:pPr eaLnBrk="1" hangingPunct="1"/>
            <a:endParaRPr lang="zh-CN" altLang="en-US" sz="2800" b="1" smtClean="0">
              <a:cs typeface="Times New Roman" panose="02020603050405020304" pitchFamily="18" charset="0"/>
            </a:endParaRPr>
          </a:p>
        </p:txBody>
      </p:sp>
      <p:pic>
        <p:nvPicPr>
          <p:cNvPr id="72711" name="图片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750" y="2811463"/>
            <a:ext cx="3529013" cy="364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5311">
                                            <p:txEl>
                                              <p:pRg st="0" end="0"/>
                                            </p:txEl>
                                          </p:spTgt>
                                        </p:tgtEl>
                                        <p:attrNameLst>
                                          <p:attrName>style.visibility</p:attrName>
                                        </p:attrNameLst>
                                      </p:cBhvr>
                                      <p:to>
                                        <p:strVal val="visible"/>
                                      </p:to>
                                    </p:set>
                                    <p:animEffect transition="in" filter="blinds(horizontal)">
                                      <p:cBhvr>
                                        <p:cTn id="7" dur="500"/>
                                        <p:tgtEl>
                                          <p:spTgt spid="553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5311">
                                            <p:txEl>
                                              <p:pRg st="1" end="1"/>
                                            </p:txEl>
                                          </p:spTgt>
                                        </p:tgtEl>
                                        <p:attrNameLst>
                                          <p:attrName>style.visibility</p:attrName>
                                        </p:attrNameLst>
                                      </p:cBhvr>
                                      <p:to>
                                        <p:strVal val="visible"/>
                                      </p:to>
                                    </p:set>
                                    <p:animEffect transition="in" filter="blinds(horizontal)">
                                      <p:cBhvr>
                                        <p:cTn id="12" dur="500"/>
                                        <p:tgtEl>
                                          <p:spTgt spid="553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11"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矩形 93188"/>
          <p:cNvSpPr>
            <a:spLocks noChangeArrowheads="1"/>
          </p:cNvSpPr>
          <p:nvPr/>
        </p:nvSpPr>
        <p:spPr bwMode="auto">
          <a:xfrm>
            <a:off x="0" y="32321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73732" name="对象 93187"/>
          <p:cNvGraphicFramePr/>
          <p:nvPr/>
        </p:nvGraphicFramePr>
        <p:xfrm>
          <a:off x="827088" y="981075"/>
          <a:ext cx="3203575" cy="963613"/>
        </p:xfrm>
        <a:graphic>
          <a:graphicData uri="http://schemas.openxmlformats.org/presentationml/2006/ole">
            <mc:AlternateContent xmlns:mc="http://schemas.openxmlformats.org/markup-compatibility/2006">
              <mc:Choice xmlns:v="urn:schemas-microsoft-com:vml" Requires="v">
                <p:oleObj spid="_x0000_s40964" name="" r:id="rId1" imgW="1307465" imgH="393700" progId="Equation.DSMT4">
                  <p:embed/>
                </p:oleObj>
              </mc:Choice>
              <mc:Fallback>
                <p:oleObj name="" r:id="rId1" imgW="1307465" imgH="393700" progId="Equation.DSMT4">
                  <p:embed/>
                  <p:pic>
                    <p:nvPicPr>
                      <p:cNvPr id="0" name="对象 9318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981075"/>
                        <a:ext cx="3203575" cy="96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3733" name="矩形 93190"/>
          <p:cNvSpPr>
            <a:spLocks noChangeArrowheads="1"/>
          </p:cNvSpPr>
          <p:nvPr/>
        </p:nvSpPr>
        <p:spPr bwMode="auto">
          <a:xfrm>
            <a:off x="0" y="32321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73734" name="对象 93189"/>
          <p:cNvGraphicFramePr/>
          <p:nvPr/>
        </p:nvGraphicFramePr>
        <p:xfrm>
          <a:off x="827088" y="2843213"/>
          <a:ext cx="2736850" cy="1060450"/>
        </p:xfrm>
        <a:graphic>
          <a:graphicData uri="http://schemas.openxmlformats.org/presentationml/2006/ole">
            <mc:AlternateContent xmlns:mc="http://schemas.openxmlformats.org/markup-compatibility/2006">
              <mc:Choice xmlns:v="urn:schemas-microsoft-com:vml" Requires="v">
                <p:oleObj spid="_x0000_s40965" name="" r:id="rId3" imgW="1015365" imgH="393700" progId="Equation.DSMT4">
                  <p:embed/>
                </p:oleObj>
              </mc:Choice>
              <mc:Fallback>
                <p:oleObj name="" r:id="rId3" imgW="1015365" imgH="393700" progId="Equation.DSMT4">
                  <p:embed/>
                  <p:pic>
                    <p:nvPicPr>
                      <p:cNvPr id="0" name="对象 9318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2843213"/>
                        <a:ext cx="2736850"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3735" name="矩形 93192"/>
          <p:cNvSpPr>
            <a:spLocks noChangeArrowheads="1"/>
          </p:cNvSpPr>
          <p:nvPr/>
        </p:nvSpPr>
        <p:spPr bwMode="auto">
          <a:xfrm>
            <a:off x="0" y="21685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3736" name="矩形 93193"/>
          <p:cNvSpPr>
            <a:spLocks noChangeArrowheads="1"/>
          </p:cNvSpPr>
          <p:nvPr/>
        </p:nvSpPr>
        <p:spPr bwMode="auto">
          <a:xfrm>
            <a:off x="323850" y="4437063"/>
            <a:ext cx="367188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solidFill>
                  <a:srgbClr val="FF0000"/>
                </a:solidFill>
                <a:latin typeface="黑体" panose="02010609060101010101" pitchFamily="49" charset="-122"/>
                <a:ea typeface="黑体" panose="02010609060101010101" pitchFamily="49" charset="-122"/>
              </a:rPr>
              <a:t>非流动工质：总能由三部分组成</a:t>
            </a:r>
            <a:endParaRPr lang="zh-CN" altLang="en-US" sz="3200" b="1">
              <a:solidFill>
                <a:srgbClr val="FF0000"/>
              </a:solidFill>
              <a:latin typeface="黑体" panose="02010609060101010101" pitchFamily="49" charset="-122"/>
              <a:ea typeface="黑体" panose="02010609060101010101" pitchFamily="49" charset="-122"/>
            </a:endParaRPr>
          </a:p>
        </p:txBody>
      </p:sp>
      <p:pic>
        <p:nvPicPr>
          <p:cNvPr id="73737" name="图片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52925" y="1412875"/>
            <a:ext cx="4206875" cy="468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611793" y="2160519"/>
            <a:ext cx="1422184" cy="584775"/>
          </a:xfrm>
          <a:prstGeom prst="rect">
            <a:avLst/>
          </a:prstGeom>
        </p:spPr>
        <p:txBody>
          <a:bodyPr wrap="none">
            <a:spAutoFit/>
          </a:bodyPr>
          <a:lstStyle/>
          <a:p>
            <a:r>
              <a:rPr lang="zh-CN" altLang="en-US" sz="3200" b="1" dirty="0" smtClean="0">
                <a:latin typeface="黑体" panose="02010609060101010101" pitchFamily="49" charset="-122"/>
                <a:ea typeface="黑体" panose="02010609060101010101" pitchFamily="49" charset="-122"/>
              </a:rPr>
              <a:t>比总能</a:t>
            </a:r>
            <a:endParaRPr lang="zh-CN" altLang="en-US" sz="3200" b="1" dirty="0">
              <a:latin typeface="黑体" panose="02010609060101010101" pitchFamily="49" charset="-122"/>
              <a:ea typeface="黑体" panose="02010609060101010101" pitchFamily="49" charset="-122"/>
            </a:endParaRPr>
          </a:p>
        </p:txBody>
      </p:sp>
      <p:sp>
        <p:nvSpPr>
          <p:cNvPr id="12" name="矩形 11"/>
          <p:cNvSpPr/>
          <p:nvPr/>
        </p:nvSpPr>
        <p:spPr>
          <a:xfrm>
            <a:off x="547809" y="498982"/>
            <a:ext cx="4304383" cy="584775"/>
          </a:xfrm>
          <a:prstGeom prst="rect">
            <a:avLst/>
          </a:prstGeom>
        </p:spPr>
        <p:txBody>
          <a:bodyPr wrap="none">
            <a:spAutoFit/>
          </a:bodyPr>
          <a:lstStyle/>
          <a:p>
            <a:r>
              <a:rPr lang="zh-CN" altLang="en-US" sz="3200" b="1" dirty="0" smtClean="0">
                <a:latin typeface="黑体" panose="02010609060101010101" pitchFamily="49" charset="-122"/>
                <a:ea typeface="黑体" panose="02010609060101010101" pitchFamily="49" charset="-122"/>
              </a:rPr>
              <a:t>简单可压缩系统的总能</a:t>
            </a:r>
            <a:endParaRPr lang="zh-CN" altLang="en-US" sz="3200" b="1" dirty="0">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矩形 94212"/>
          <p:cNvSpPr>
            <a:spLocks noChangeArrowheads="1"/>
          </p:cNvSpPr>
          <p:nvPr/>
        </p:nvSpPr>
        <p:spPr bwMode="auto">
          <a:xfrm>
            <a:off x="0" y="2108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4755" name="矩形 94213"/>
          <p:cNvSpPr>
            <a:spLocks noChangeArrowheads="1"/>
          </p:cNvSpPr>
          <p:nvPr/>
        </p:nvSpPr>
        <p:spPr bwMode="auto">
          <a:xfrm>
            <a:off x="900113" y="4868863"/>
            <a:ext cx="7272337"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solidFill>
                  <a:srgbClr val="FF0000"/>
                </a:solidFill>
                <a:latin typeface="黑体" panose="02010609060101010101" pitchFamily="49" charset="-122"/>
                <a:ea typeface="黑体" panose="02010609060101010101" pitchFamily="49" charset="-122"/>
              </a:rPr>
              <a:t>流动工质：可认为总能由四部分组成，多加了一个“流动能”</a:t>
            </a:r>
            <a:endParaRPr lang="zh-CN" altLang="en-US" sz="3200" b="1">
              <a:solidFill>
                <a:srgbClr val="FF0000"/>
              </a:solidFill>
              <a:latin typeface="黑体" panose="02010609060101010101" pitchFamily="49" charset="-122"/>
              <a:ea typeface="黑体" panose="02010609060101010101" pitchFamily="49" charset="-122"/>
            </a:endParaRPr>
          </a:p>
        </p:txBody>
      </p:sp>
      <p:pic>
        <p:nvPicPr>
          <p:cNvPr id="74756"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79613" y="549275"/>
            <a:ext cx="5297487"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矩形 57348"/>
          <p:cNvSpPr>
            <a:spLocks noChangeArrowheads="1"/>
          </p:cNvSpPr>
          <p:nvPr/>
        </p:nvSpPr>
        <p:spPr bwMode="auto">
          <a:xfrm>
            <a:off x="0" y="2833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75779" name="对象 57347"/>
          <p:cNvGraphicFramePr/>
          <p:nvPr/>
        </p:nvGraphicFramePr>
        <p:xfrm>
          <a:off x="827088" y="-1466850"/>
          <a:ext cx="6265862" cy="3290888"/>
        </p:xfrm>
        <a:graphic>
          <a:graphicData uri="http://schemas.openxmlformats.org/presentationml/2006/ole">
            <mc:AlternateContent xmlns:mc="http://schemas.openxmlformats.org/markup-compatibility/2006">
              <mc:Choice xmlns:v="urn:schemas-microsoft-com:vml" Requires="v">
                <p:oleObj spid="_x0000_s41987" name="" r:id="rId1" imgW="1896745" imgH="995045" progId="Visio.Drawing.11">
                  <p:embed/>
                </p:oleObj>
              </mc:Choice>
              <mc:Fallback>
                <p:oleObj name="" r:id="rId1" imgW="1896745" imgH="995045" progId="Visio.Drawing.11">
                  <p:embed/>
                  <p:pic>
                    <p:nvPicPr>
                      <p:cNvPr id="0" name="对象 5734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1466850"/>
                        <a:ext cx="6265862" cy="329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5780" name="矩形 57351"/>
          <p:cNvSpPr>
            <a:spLocks noChangeArrowheads="1"/>
          </p:cNvSpPr>
          <p:nvPr/>
        </p:nvSpPr>
        <p:spPr bwMode="auto">
          <a:xfrm>
            <a:off x="466725" y="5386388"/>
            <a:ext cx="83534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开口系除热量和功量外，与外界交换的能量还包括由于质量的流入和流出而携带的总能</a:t>
            </a:r>
            <a:r>
              <a:rPr lang="zh-CN" altLang="en-US"/>
              <a:t> </a:t>
            </a:r>
            <a:endParaRPr lang="zh-CN" altLang="en-US"/>
          </a:p>
        </p:txBody>
      </p:sp>
      <p:sp>
        <p:nvSpPr>
          <p:cNvPr id="75781" name="矩形 57353"/>
          <p:cNvSpPr>
            <a:spLocks noChangeArrowheads="1"/>
          </p:cNvSpPr>
          <p:nvPr/>
        </p:nvSpPr>
        <p:spPr bwMode="auto">
          <a:xfrm>
            <a:off x="179388" y="260350"/>
            <a:ext cx="34496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solidFill>
                  <a:srgbClr val="FF0000"/>
                </a:solidFill>
                <a:latin typeface="黑体" panose="02010609060101010101" pitchFamily="49" charset="-122"/>
                <a:ea typeface="黑体" panose="02010609060101010101" pitchFamily="49" charset="-122"/>
              </a:rPr>
              <a:t>流动工质的比总能</a:t>
            </a:r>
            <a:endParaRPr lang="zh-CN" altLang="en-US" sz="3200" b="1">
              <a:solidFill>
                <a:srgbClr val="FF0000"/>
              </a:solidFill>
              <a:latin typeface="黑体" panose="02010609060101010101" pitchFamily="49" charset="-122"/>
              <a:ea typeface="黑体" panose="02010609060101010101" pitchFamily="49" charset="-122"/>
            </a:endParaRPr>
          </a:p>
        </p:txBody>
      </p:sp>
      <p:pic>
        <p:nvPicPr>
          <p:cNvPr id="75782"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2060575"/>
            <a:ext cx="6729412" cy="287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矩形 56323"/>
          <p:cNvSpPr>
            <a:spLocks noChangeArrowheads="1"/>
          </p:cNvSpPr>
          <p:nvPr/>
        </p:nvSpPr>
        <p:spPr bwMode="auto">
          <a:xfrm>
            <a:off x="323850" y="115888"/>
            <a:ext cx="6985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000" b="1">
                <a:latin typeface="黑体" panose="02010609060101010101" pitchFamily="49" charset="-122"/>
                <a:ea typeface="黑体" panose="02010609060101010101" pitchFamily="49" charset="-122"/>
              </a:rPr>
              <a:t>三、焓</a:t>
            </a:r>
            <a:endParaRPr lang="zh-CN" altLang="en-US" sz="4000" b="1">
              <a:latin typeface="黑体" panose="02010609060101010101" pitchFamily="49" charset="-122"/>
              <a:ea typeface="黑体" panose="02010609060101010101" pitchFamily="49" charset="-122"/>
            </a:endParaRPr>
          </a:p>
        </p:txBody>
      </p:sp>
      <p:sp>
        <p:nvSpPr>
          <p:cNvPr id="76803" name="矩形 56329"/>
          <p:cNvSpPr>
            <a:spLocks noChangeArrowheads="1"/>
          </p:cNvSpPr>
          <p:nvPr/>
        </p:nvSpPr>
        <p:spPr bwMode="auto">
          <a:xfrm>
            <a:off x="0" y="4602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6333" name="矩形 56332"/>
          <p:cNvSpPr>
            <a:spLocks noChangeArrowheads="1"/>
          </p:cNvSpPr>
          <p:nvPr/>
        </p:nvSpPr>
        <p:spPr bwMode="auto">
          <a:xfrm>
            <a:off x="179388" y="5373688"/>
            <a:ext cx="84963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latin typeface="黑体" panose="02010609060101010101" pitchFamily="49" charset="-122"/>
                <a:ea typeface="黑体" panose="02010609060101010101" pitchFamily="49" charset="-122"/>
              </a:rPr>
              <a:t>引入焓之后，流体的总能中将不再出现流动功项 </a:t>
            </a:r>
            <a:endParaRPr lang="zh-CN" altLang="en-US" sz="3600" b="1">
              <a:latin typeface="黑体" panose="02010609060101010101" pitchFamily="49" charset="-122"/>
              <a:ea typeface="黑体" panose="02010609060101010101" pitchFamily="49" charset="-122"/>
            </a:endParaRPr>
          </a:p>
        </p:txBody>
      </p:sp>
      <p:sp>
        <p:nvSpPr>
          <p:cNvPr id="56339" name="直接连接符 56338"/>
          <p:cNvSpPr>
            <a:spLocks noChangeShapeType="1"/>
          </p:cNvSpPr>
          <p:nvPr/>
        </p:nvSpPr>
        <p:spPr bwMode="auto">
          <a:xfrm>
            <a:off x="4356100" y="3573463"/>
            <a:ext cx="1439863" cy="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6340" name="对象 56339"/>
          <p:cNvGraphicFramePr/>
          <p:nvPr/>
        </p:nvGraphicFramePr>
        <p:xfrm>
          <a:off x="3563938" y="2589213"/>
          <a:ext cx="4762500" cy="1127125"/>
        </p:xfrm>
        <a:graphic>
          <a:graphicData uri="http://schemas.openxmlformats.org/presentationml/2006/ole">
            <mc:AlternateContent xmlns:mc="http://schemas.openxmlformats.org/markup-compatibility/2006">
              <mc:Choice xmlns:v="urn:schemas-microsoft-com:vml" Requires="v">
                <p:oleObj spid="_x0000_s43014" name="" r:id="rId1" imgW="1663065" imgH="393700" progId="Equation.DSMT4">
                  <p:embed/>
                </p:oleObj>
              </mc:Choice>
              <mc:Fallback>
                <p:oleObj name="" r:id="rId1" imgW="1663065" imgH="393700" progId="Equation.DSMT4">
                  <p:embed/>
                  <p:pic>
                    <p:nvPicPr>
                      <p:cNvPr id="0" name="对象 5633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3938" y="2589213"/>
                        <a:ext cx="47625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6342" name="矩形 56341"/>
          <p:cNvSpPr>
            <a:spLocks noChangeArrowheads="1"/>
          </p:cNvSpPr>
          <p:nvPr/>
        </p:nvSpPr>
        <p:spPr bwMode="auto">
          <a:xfrm>
            <a:off x="3492500" y="1844675"/>
            <a:ext cx="6985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000" b="1">
                <a:latin typeface="黑体" panose="02010609060101010101" pitchFamily="49" charset="-122"/>
                <a:ea typeface="黑体" panose="02010609060101010101" pitchFamily="49" charset="-122"/>
              </a:rPr>
              <a:t>流动工质携带的总能</a:t>
            </a:r>
            <a:endParaRPr lang="zh-CN" altLang="en-US" sz="4000" b="1">
              <a:latin typeface="黑体" panose="02010609060101010101" pitchFamily="49" charset="-122"/>
              <a:ea typeface="黑体" panose="02010609060101010101" pitchFamily="49" charset="-122"/>
            </a:endParaRPr>
          </a:p>
        </p:txBody>
      </p:sp>
      <p:grpSp>
        <p:nvGrpSpPr>
          <p:cNvPr id="56347" name="组合 56346"/>
          <p:cNvGrpSpPr/>
          <p:nvPr/>
        </p:nvGrpSpPr>
        <p:grpSpPr bwMode="auto">
          <a:xfrm>
            <a:off x="3492500" y="3644900"/>
            <a:ext cx="4032250" cy="1541463"/>
            <a:chOff x="2200" y="2296"/>
            <a:chExt cx="2540" cy="971"/>
          </a:xfrm>
        </p:grpSpPr>
        <p:graphicFrame>
          <p:nvGraphicFramePr>
            <p:cNvPr id="76815" name="对象 56328"/>
            <p:cNvGraphicFramePr/>
            <p:nvPr/>
          </p:nvGraphicFramePr>
          <p:xfrm>
            <a:off x="2200" y="2523"/>
            <a:ext cx="2540" cy="744"/>
          </p:xfrm>
          <a:graphic>
            <a:graphicData uri="http://schemas.openxmlformats.org/presentationml/2006/ole">
              <mc:AlternateContent xmlns:mc="http://schemas.openxmlformats.org/markup-compatibility/2006">
                <mc:Choice xmlns:v="urn:schemas-microsoft-com:vml" Requires="v">
                  <p:oleObj spid="_x0000_s43015" name="" r:id="rId3" imgW="1332865" imgH="393700" progId="Equation.DSMT4">
                    <p:embed/>
                  </p:oleObj>
                </mc:Choice>
                <mc:Fallback>
                  <p:oleObj name="" r:id="rId3" imgW="1332865" imgH="393700" progId="Equation.DSMT4">
                    <p:embed/>
                    <p:pic>
                      <p:nvPicPr>
                        <p:cNvPr id="0" name="对象 5632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0" y="2523"/>
                          <a:ext cx="2540" cy="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6816" name="直接连接符 56342"/>
            <p:cNvSpPr>
              <a:spLocks noChangeShapeType="1"/>
            </p:cNvSpPr>
            <p:nvPr/>
          </p:nvSpPr>
          <p:spPr bwMode="auto">
            <a:xfrm flipH="1">
              <a:off x="2925" y="2296"/>
              <a:ext cx="227" cy="31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6348" name="组合 56347"/>
          <p:cNvGrpSpPr/>
          <p:nvPr/>
        </p:nvGrpSpPr>
        <p:grpSpPr bwMode="auto">
          <a:xfrm>
            <a:off x="250825" y="2997200"/>
            <a:ext cx="2952750" cy="2160588"/>
            <a:chOff x="158" y="1888"/>
            <a:chExt cx="1860" cy="1361"/>
          </a:xfrm>
        </p:grpSpPr>
        <p:graphicFrame>
          <p:nvGraphicFramePr>
            <p:cNvPr id="76812" name="对象 56326"/>
            <p:cNvGraphicFramePr/>
            <p:nvPr/>
          </p:nvGraphicFramePr>
          <p:xfrm>
            <a:off x="295" y="2024"/>
            <a:ext cx="1406" cy="428"/>
          </p:xfrm>
          <a:graphic>
            <a:graphicData uri="http://schemas.openxmlformats.org/presentationml/2006/ole">
              <mc:AlternateContent xmlns:mc="http://schemas.openxmlformats.org/markup-compatibility/2006">
                <mc:Choice xmlns:v="urn:schemas-microsoft-com:vml" Requires="v">
                  <p:oleObj spid="_x0000_s43016" name="" r:id="rId5" imgW="660400" imgH="203200" progId="Equation.DSMT4">
                    <p:embed/>
                  </p:oleObj>
                </mc:Choice>
                <mc:Fallback>
                  <p:oleObj name="" r:id="rId5" imgW="660400" imgH="203200" progId="Equation.DSMT4">
                    <p:embed/>
                    <p:pic>
                      <p:nvPicPr>
                        <p:cNvPr id="0" name="对象 5632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 y="2024"/>
                          <a:ext cx="1406"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6813" name="对象 56330"/>
            <p:cNvGraphicFramePr/>
            <p:nvPr/>
          </p:nvGraphicFramePr>
          <p:xfrm>
            <a:off x="249" y="2523"/>
            <a:ext cx="1769" cy="666"/>
          </p:xfrm>
          <a:graphic>
            <a:graphicData uri="http://schemas.openxmlformats.org/presentationml/2006/ole">
              <mc:AlternateContent xmlns:mc="http://schemas.openxmlformats.org/markup-compatibility/2006">
                <mc:Choice xmlns:v="urn:schemas-microsoft-com:vml" Requires="v">
                  <p:oleObj spid="_x0000_s43017" name="" r:id="rId7" imgW="1040765" imgH="393700" progId="Equation.DSMT4">
                    <p:embed/>
                  </p:oleObj>
                </mc:Choice>
                <mc:Fallback>
                  <p:oleObj name="" r:id="rId7" imgW="1040765" imgH="393700" progId="Equation.DSMT4">
                    <p:embed/>
                    <p:pic>
                      <p:nvPicPr>
                        <p:cNvPr id="0" name="对象 5633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9" y="2523"/>
                          <a:ext cx="1769" cy="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6814" name="矩形 56343"/>
            <p:cNvSpPr>
              <a:spLocks noChangeArrowheads="1"/>
            </p:cNvSpPr>
            <p:nvPr/>
          </p:nvSpPr>
          <p:spPr bwMode="auto">
            <a:xfrm>
              <a:off x="158" y="1888"/>
              <a:ext cx="1860" cy="1361"/>
            </a:xfrm>
            <a:prstGeom prst="rect">
              <a:avLst/>
            </a:prstGeom>
            <a:noFill/>
            <a:ln w="381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56345" name="矩形 56344"/>
          <p:cNvSpPr>
            <a:spLocks noChangeArrowheads="1"/>
          </p:cNvSpPr>
          <p:nvPr/>
        </p:nvSpPr>
        <p:spPr bwMode="auto">
          <a:xfrm>
            <a:off x="3492500" y="1557338"/>
            <a:ext cx="5040313" cy="3671887"/>
          </a:xfrm>
          <a:prstGeom prst="rect">
            <a:avLst/>
          </a:prstGeom>
          <a:noFill/>
          <a:ln w="381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6346" name="矩形 56345"/>
          <p:cNvSpPr>
            <a:spLocks noChangeArrowheads="1"/>
          </p:cNvSpPr>
          <p:nvPr/>
        </p:nvSpPr>
        <p:spPr bwMode="auto">
          <a:xfrm>
            <a:off x="323850" y="1125538"/>
            <a:ext cx="6985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000" b="1">
                <a:latin typeface="黑体" panose="02010609060101010101" pitchFamily="49" charset="-122"/>
                <a:ea typeface="黑体" panose="02010609060101010101" pitchFamily="49" charset="-122"/>
              </a:rPr>
              <a:t>为什么引出？</a:t>
            </a:r>
            <a:endParaRPr lang="zh-CN" altLang="en-US" sz="4000" b="1">
              <a:latin typeface="黑体" panose="02010609060101010101" pitchFamily="49" charset="-122"/>
              <a:ea typeface="黑体" panose="02010609060101010101" pitchFamily="49" charset="-122"/>
            </a:endParaRPr>
          </a:p>
        </p:txBody>
      </p:sp>
    </p:spTree>
    <p:custDataLst>
      <p:tags r:id="rId9"/>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6346"/>
                                        </p:tgtEl>
                                        <p:attrNameLst>
                                          <p:attrName>style.visibility</p:attrName>
                                        </p:attrNameLst>
                                      </p:cBhvr>
                                      <p:to>
                                        <p:strVal val="visible"/>
                                      </p:to>
                                    </p:set>
                                    <p:animEffect transition="in" filter="blinds(horizontal)">
                                      <p:cBhvr>
                                        <p:cTn id="7" dur="500"/>
                                        <p:tgtEl>
                                          <p:spTgt spid="563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6345"/>
                                        </p:tgtEl>
                                        <p:attrNameLst>
                                          <p:attrName>style.visibility</p:attrName>
                                        </p:attrNameLst>
                                      </p:cBhvr>
                                      <p:to>
                                        <p:strVal val="visible"/>
                                      </p:to>
                                    </p:set>
                                    <p:animEffect transition="in" filter="wipe(up)">
                                      <p:cBhvr>
                                        <p:cTn id="12" dur="500"/>
                                        <p:tgtEl>
                                          <p:spTgt spid="5634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6342"/>
                                        </p:tgtEl>
                                        <p:attrNameLst>
                                          <p:attrName>style.visibility</p:attrName>
                                        </p:attrNameLst>
                                      </p:cBhvr>
                                      <p:to>
                                        <p:strVal val="visible"/>
                                      </p:to>
                                    </p:set>
                                    <p:animEffect transition="in" filter="blinds(horizontal)">
                                      <p:cBhvr>
                                        <p:cTn id="17" dur="500"/>
                                        <p:tgtEl>
                                          <p:spTgt spid="5634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6340"/>
                                        </p:tgtEl>
                                        <p:attrNameLst>
                                          <p:attrName>style.visibility</p:attrName>
                                        </p:attrNameLst>
                                      </p:cBhvr>
                                      <p:to>
                                        <p:strVal val="visible"/>
                                      </p:to>
                                    </p:set>
                                    <p:animEffect transition="in" filter="blinds(horizontal)">
                                      <p:cBhvr>
                                        <p:cTn id="22" dur="500"/>
                                        <p:tgtEl>
                                          <p:spTgt spid="5634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6339"/>
                                        </p:tgtEl>
                                        <p:attrNameLst>
                                          <p:attrName>style.visibility</p:attrName>
                                        </p:attrNameLst>
                                      </p:cBhvr>
                                      <p:to>
                                        <p:strVal val="visible"/>
                                      </p:to>
                                    </p:set>
                                    <p:animEffect transition="in" filter="wipe(left)">
                                      <p:cBhvr>
                                        <p:cTn id="27" dur="500"/>
                                        <p:tgtEl>
                                          <p:spTgt spid="5633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56347"/>
                                        </p:tgtEl>
                                        <p:attrNameLst>
                                          <p:attrName>style.visibility</p:attrName>
                                        </p:attrNameLst>
                                      </p:cBhvr>
                                      <p:to>
                                        <p:strVal val="visible"/>
                                      </p:to>
                                    </p:set>
                                    <p:animEffect transition="in" filter="wipe(up)">
                                      <p:cBhvr>
                                        <p:cTn id="32" dur="500"/>
                                        <p:tgtEl>
                                          <p:spTgt spid="5634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56348"/>
                                        </p:tgtEl>
                                        <p:attrNameLst>
                                          <p:attrName>style.visibility</p:attrName>
                                        </p:attrNameLst>
                                      </p:cBhvr>
                                      <p:to>
                                        <p:strVal val="visible"/>
                                      </p:to>
                                    </p:set>
                                    <p:animEffect transition="in" filter="wipe(up)">
                                      <p:cBhvr>
                                        <p:cTn id="37" dur="500"/>
                                        <p:tgtEl>
                                          <p:spTgt spid="5634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6333"/>
                                        </p:tgtEl>
                                        <p:attrNameLst>
                                          <p:attrName>style.visibility</p:attrName>
                                        </p:attrNameLst>
                                      </p:cBhvr>
                                      <p:to>
                                        <p:strVal val="visible"/>
                                      </p:to>
                                    </p:set>
                                    <p:animEffect transition="in" filter="blinds(horizontal)">
                                      <p:cBhvr>
                                        <p:cTn id="42" dur="500"/>
                                        <p:tgtEl>
                                          <p:spTgt spid="56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33" grpId="0"/>
      <p:bldP spid="56342" grpId="0"/>
      <p:bldP spid="5634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矩形 95235"/>
          <p:cNvSpPr>
            <a:spLocks noChangeArrowheads="1"/>
          </p:cNvSpPr>
          <p:nvPr/>
        </p:nvSpPr>
        <p:spPr bwMode="auto">
          <a:xfrm>
            <a:off x="395288" y="1557338"/>
            <a:ext cx="8135937"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latin typeface="黑体" panose="02010609060101010101" pitchFamily="49" charset="-122"/>
                <a:ea typeface="黑体" panose="02010609060101010101" pitchFamily="49" charset="-122"/>
              </a:rPr>
              <a:t>焓的物理意义：流动的流体所携带的</a:t>
            </a:r>
            <a:r>
              <a:rPr lang="zh-CN" altLang="en-US" sz="3600" b="1">
                <a:solidFill>
                  <a:srgbClr val="FF0000"/>
                </a:solidFill>
                <a:latin typeface="黑体" panose="02010609060101010101" pitchFamily="49" charset="-122"/>
                <a:ea typeface="黑体" panose="02010609060101010101" pitchFamily="49" charset="-122"/>
              </a:rPr>
              <a:t>热力学能和流动功</a:t>
            </a:r>
            <a:r>
              <a:rPr lang="zh-CN" altLang="en-US" sz="3600" b="1">
                <a:latin typeface="黑体" panose="02010609060101010101" pitchFamily="49" charset="-122"/>
                <a:ea typeface="黑体" panose="02010609060101010101" pitchFamily="49" charset="-122"/>
              </a:rPr>
              <a:t>（流动能）之和 </a:t>
            </a:r>
            <a:endParaRPr lang="zh-CN" altLang="en-US" sz="3600" b="1">
              <a:latin typeface="黑体" panose="02010609060101010101" pitchFamily="49" charset="-122"/>
              <a:ea typeface="黑体" panose="02010609060101010101" pitchFamily="49" charset="-122"/>
            </a:endParaRPr>
          </a:p>
        </p:txBody>
      </p:sp>
      <p:sp>
        <p:nvSpPr>
          <p:cNvPr id="95237" name="矩形 95236"/>
          <p:cNvSpPr>
            <a:spLocks noChangeArrowheads="1"/>
          </p:cNvSpPr>
          <p:nvPr/>
        </p:nvSpPr>
        <p:spPr bwMode="auto">
          <a:xfrm>
            <a:off x="395288" y="3181350"/>
            <a:ext cx="8208962"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solidFill>
                  <a:srgbClr val="0000FF"/>
                </a:solidFill>
                <a:latin typeface="黑体" panose="02010609060101010101" pitchFamily="49" charset="-122"/>
                <a:ea typeface="黑体" panose="02010609060101010101" pitchFamily="49" charset="-122"/>
              </a:rPr>
              <a:t>流体不流动时，具有焓值么？</a:t>
            </a:r>
            <a:endParaRPr lang="zh-CN" altLang="en-US" sz="3600" b="1">
              <a:solidFill>
                <a:srgbClr val="0000FF"/>
              </a:solidFill>
              <a:latin typeface="黑体" panose="02010609060101010101" pitchFamily="49" charset="-122"/>
              <a:ea typeface="黑体" panose="02010609060101010101" pitchFamily="49" charset="-122"/>
            </a:endParaRPr>
          </a:p>
        </p:txBody>
      </p:sp>
      <p:sp>
        <p:nvSpPr>
          <p:cNvPr id="95238" name="矩形 95237"/>
          <p:cNvSpPr>
            <a:spLocks noChangeArrowheads="1"/>
          </p:cNvSpPr>
          <p:nvPr/>
        </p:nvSpPr>
        <p:spPr bwMode="auto">
          <a:xfrm>
            <a:off x="468313" y="3919538"/>
            <a:ext cx="7775575"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solidFill>
                  <a:srgbClr val="0000FF"/>
                </a:solidFill>
                <a:latin typeface="黑体" panose="02010609060101010101" pitchFamily="49" charset="-122"/>
                <a:ea typeface="黑体" panose="02010609060101010101" pitchFamily="49" charset="-122"/>
              </a:rPr>
              <a:t>有，但无物理含义</a:t>
            </a:r>
            <a:endParaRPr lang="zh-CN" altLang="en-US" sz="3600" b="1">
              <a:solidFill>
                <a:srgbClr val="0000FF"/>
              </a:solidFill>
              <a:latin typeface="黑体" panose="02010609060101010101" pitchFamily="49" charset="-122"/>
              <a:ea typeface="黑体" panose="02010609060101010101" pitchFamily="49" charset="-122"/>
            </a:endParaRPr>
          </a:p>
        </p:txBody>
      </p:sp>
      <p:graphicFrame>
        <p:nvGraphicFramePr>
          <p:cNvPr id="77829" name="对象 95238"/>
          <p:cNvGraphicFramePr/>
          <p:nvPr/>
        </p:nvGraphicFramePr>
        <p:xfrm>
          <a:off x="3132138" y="620713"/>
          <a:ext cx="2265362" cy="609600"/>
        </p:xfrm>
        <a:graphic>
          <a:graphicData uri="http://schemas.openxmlformats.org/presentationml/2006/ole">
            <mc:AlternateContent xmlns:mc="http://schemas.openxmlformats.org/markup-compatibility/2006">
              <mc:Choice xmlns:v="urn:schemas-microsoft-com:vml" Requires="v">
                <p:oleObj spid="_x0000_s44035" name="" r:id="rId1" imgW="748665" imgH="203200" progId="Equation.DSMT4">
                  <p:embed/>
                </p:oleObj>
              </mc:Choice>
              <mc:Fallback>
                <p:oleObj name="" r:id="rId1" imgW="748665" imgH="203200" progId="Equation.DSMT4">
                  <p:embed/>
                  <p:pic>
                    <p:nvPicPr>
                      <p:cNvPr id="0" name="对象 9523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2138" y="620713"/>
                        <a:ext cx="226536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3"/>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5237"/>
                                        </p:tgtEl>
                                        <p:attrNameLst>
                                          <p:attrName>style.visibility</p:attrName>
                                        </p:attrNameLst>
                                      </p:cBhvr>
                                      <p:to>
                                        <p:strVal val="visible"/>
                                      </p:to>
                                    </p:set>
                                    <p:animEffect transition="in" filter="blinds(horizontal)">
                                      <p:cBhvr>
                                        <p:cTn id="7" dur="500"/>
                                        <p:tgtEl>
                                          <p:spTgt spid="9523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5238"/>
                                        </p:tgtEl>
                                        <p:attrNameLst>
                                          <p:attrName>style.visibility</p:attrName>
                                        </p:attrNameLst>
                                      </p:cBhvr>
                                      <p:to>
                                        <p:strVal val="visible"/>
                                      </p:to>
                                    </p:set>
                                    <p:animEffect transition="in" filter="blinds(horizontal)">
                                      <p:cBhvr>
                                        <p:cTn id="12" dur="500"/>
                                        <p:tgtEl>
                                          <p:spTgt spid="95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7" grpId="0"/>
      <p:bldP spid="9523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矩形 58371"/>
          <p:cNvSpPr>
            <a:spLocks noChangeArrowheads="1"/>
          </p:cNvSpPr>
          <p:nvPr/>
        </p:nvSpPr>
        <p:spPr bwMode="auto">
          <a:xfrm>
            <a:off x="395288" y="260350"/>
            <a:ext cx="6985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400" b="1">
                <a:latin typeface="黑体" panose="02010609060101010101" pitchFamily="49" charset="-122"/>
                <a:ea typeface="黑体" panose="02010609060101010101" pitchFamily="49" charset="-122"/>
              </a:rPr>
              <a:t>特别指出：</a:t>
            </a:r>
            <a:endParaRPr lang="zh-CN" altLang="en-US" sz="4400" b="1">
              <a:latin typeface="黑体" panose="02010609060101010101" pitchFamily="49" charset="-122"/>
              <a:ea typeface="黑体" panose="02010609060101010101" pitchFamily="49" charset="-122"/>
            </a:endParaRPr>
          </a:p>
        </p:txBody>
      </p:sp>
      <p:sp>
        <p:nvSpPr>
          <p:cNvPr id="78851" name="矩形 58372"/>
          <p:cNvSpPr>
            <a:spLocks noChangeArrowheads="1"/>
          </p:cNvSpPr>
          <p:nvPr/>
        </p:nvSpPr>
        <p:spPr bwMode="auto">
          <a:xfrm>
            <a:off x="323850" y="1120775"/>
            <a:ext cx="8135938"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latin typeface="黑体" panose="02010609060101010101" pitchFamily="49" charset="-122"/>
                <a:ea typeface="黑体" panose="02010609060101010101" pitchFamily="49" charset="-122"/>
              </a:rPr>
              <a:t>1</a:t>
            </a:r>
            <a:r>
              <a:rPr lang="zh-CN" altLang="en-US" sz="3200" b="1">
                <a:latin typeface="黑体" panose="02010609060101010101" pitchFamily="49" charset="-122"/>
                <a:ea typeface="黑体" panose="02010609060101010101" pitchFamily="49" charset="-122"/>
              </a:rPr>
              <a:t>、流动功</a:t>
            </a:r>
            <a:r>
              <a:rPr lang="zh-CN" altLang="en-US" sz="3200" b="1">
                <a:solidFill>
                  <a:srgbClr val="FF0000"/>
                </a:solidFill>
                <a:latin typeface="黑体" panose="02010609060101010101" pitchFamily="49" charset="-122"/>
                <a:ea typeface="黑体" panose="02010609060101010101" pitchFamily="49" charset="-122"/>
              </a:rPr>
              <a:t>视为</a:t>
            </a:r>
            <a:r>
              <a:rPr lang="zh-CN" altLang="en-US" sz="3200" b="1">
                <a:latin typeface="黑体" panose="02010609060101010101" pitchFamily="49" charset="-122"/>
                <a:ea typeface="黑体" panose="02010609060101010101" pitchFamily="49" charset="-122"/>
              </a:rPr>
              <a:t>“流动能”（即流体所</a:t>
            </a:r>
            <a:r>
              <a:rPr lang="zh-CN" altLang="en-US" sz="3200" b="1">
                <a:solidFill>
                  <a:srgbClr val="FF0000"/>
                </a:solidFill>
                <a:latin typeface="黑体" panose="02010609060101010101" pitchFamily="49" charset="-122"/>
                <a:ea typeface="黑体" panose="02010609060101010101" pitchFamily="49" charset="-122"/>
              </a:rPr>
              <a:t>携带</a:t>
            </a:r>
            <a:r>
              <a:rPr lang="zh-CN" altLang="en-US" sz="3200" b="1">
                <a:latin typeface="黑体" panose="02010609060101010101" pitchFamily="49" charset="-122"/>
                <a:ea typeface="黑体" panose="02010609060101010101" pitchFamily="49" charset="-122"/>
              </a:rPr>
              <a:t>的能量中的一部分）是一种理解方式</a:t>
            </a:r>
            <a:endParaRPr lang="zh-CN" altLang="en-US" sz="3200" b="1">
              <a:latin typeface="黑体" panose="02010609060101010101" pitchFamily="49" charset="-122"/>
              <a:ea typeface="黑体" panose="02010609060101010101" pitchFamily="49" charset="-122"/>
            </a:endParaRPr>
          </a:p>
        </p:txBody>
      </p:sp>
      <p:sp>
        <p:nvSpPr>
          <p:cNvPr id="58375" name="矩形 58374"/>
          <p:cNvSpPr>
            <a:spLocks noChangeArrowheads="1"/>
          </p:cNvSpPr>
          <p:nvPr/>
        </p:nvSpPr>
        <p:spPr bwMode="auto">
          <a:xfrm>
            <a:off x="395288" y="4292600"/>
            <a:ext cx="7991475"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latin typeface="Times New Roman" panose="02020603050405020304" pitchFamily="18" charset="0"/>
                <a:ea typeface="黑体" panose="02010609060101010101" pitchFamily="49" charset="-122"/>
              </a:rPr>
              <a:t>3</a:t>
            </a:r>
            <a:r>
              <a:rPr lang="zh-CN" altLang="en-US" sz="3200" b="1">
                <a:latin typeface="Times New Roman" panose="02020603050405020304" pitchFamily="18" charset="0"/>
                <a:ea typeface="黑体" panose="02010609060101010101" pitchFamily="49" charset="-122"/>
              </a:rPr>
              <a:t>、且这种理解方式也给焓（</a:t>
            </a:r>
            <a:r>
              <a:rPr lang="en-US" altLang="zh-CN" sz="3200" b="1" i="1">
                <a:latin typeface="Times New Roman" panose="02020603050405020304" pitchFamily="18" charset="0"/>
                <a:ea typeface="黑体" panose="02010609060101010101" pitchFamily="49" charset="-122"/>
              </a:rPr>
              <a:t>H=U+pV</a:t>
            </a:r>
            <a:r>
              <a:rPr lang="zh-CN" altLang="en-US" sz="3200" b="1">
                <a:latin typeface="Times New Roman" panose="02020603050405020304" pitchFamily="18" charset="0"/>
                <a:ea typeface="黑体" panose="02010609060101010101" pitchFamily="49" charset="-122"/>
              </a:rPr>
              <a:t>）的理解带来方便，否则如果</a:t>
            </a:r>
            <a:r>
              <a:rPr lang="en-US" altLang="zh-CN" sz="3200" b="1" i="1">
                <a:latin typeface="Times New Roman" panose="02020603050405020304" pitchFamily="18" charset="0"/>
                <a:ea typeface="黑体" panose="02010609060101010101" pitchFamily="49" charset="-122"/>
              </a:rPr>
              <a:t>pV</a:t>
            </a:r>
            <a:r>
              <a:rPr lang="zh-CN" altLang="en-US" sz="3200" b="1">
                <a:latin typeface="Times New Roman" panose="02020603050405020304" pitchFamily="18" charset="0"/>
                <a:ea typeface="黑体" panose="02010609060101010101" pitchFamily="49" charset="-122"/>
              </a:rPr>
              <a:t>理解为功（过程量），则</a:t>
            </a:r>
            <a:r>
              <a:rPr lang="zh-CN" altLang="en-US" sz="3200" b="1">
                <a:solidFill>
                  <a:srgbClr val="FF0000"/>
                </a:solidFill>
                <a:latin typeface="Times New Roman" panose="02020603050405020304" pitchFamily="18" charset="0"/>
                <a:ea typeface="黑体" panose="02010609060101010101" pitchFamily="49" charset="-122"/>
              </a:rPr>
              <a:t>状态量</a:t>
            </a:r>
            <a:r>
              <a:rPr lang="en-US" altLang="zh-CN" sz="3200" b="1" i="1">
                <a:solidFill>
                  <a:srgbClr val="FF0000"/>
                </a:solidFill>
                <a:latin typeface="Times New Roman" panose="02020603050405020304" pitchFamily="18" charset="0"/>
                <a:ea typeface="黑体" panose="02010609060101010101" pitchFamily="49" charset="-122"/>
              </a:rPr>
              <a:t>H</a:t>
            </a:r>
            <a:r>
              <a:rPr lang="zh-CN" altLang="en-US" sz="3200" b="1">
                <a:solidFill>
                  <a:srgbClr val="FF0000"/>
                </a:solidFill>
                <a:latin typeface="Times New Roman" panose="02020603050405020304" pitchFamily="18" charset="0"/>
                <a:ea typeface="黑体" panose="02010609060101010101" pitchFamily="49" charset="-122"/>
              </a:rPr>
              <a:t>包括过程量</a:t>
            </a:r>
            <a:r>
              <a:rPr lang="zh-CN" altLang="en-US" sz="3200" b="1">
                <a:latin typeface="Times New Roman" panose="02020603050405020304" pitchFamily="18" charset="0"/>
                <a:ea typeface="黑体" panose="02010609060101010101" pitchFamily="49" charset="-122"/>
              </a:rPr>
              <a:t>不好理解</a:t>
            </a:r>
            <a:endParaRPr lang="zh-CN" altLang="en-US" sz="3200" b="1">
              <a:latin typeface="Times New Roman" panose="02020603050405020304" pitchFamily="18" charset="0"/>
              <a:ea typeface="黑体" panose="02010609060101010101" pitchFamily="49" charset="-122"/>
            </a:endParaRPr>
          </a:p>
        </p:txBody>
      </p:sp>
      <p:sp>
        <p:nvSpPr>
          <p:cNvPr id="58377" name="矩形 58376"/>
          <p:cNvSpPr>
            <a:spLocks noChangeArrowheads="1"/>
          </p:cNvSpPr>
          <p:nvPr/>
        </p:nvSpPr>
        <p:spPr bwMode="auto">
          <a:xfrm>
            <a:off x="323850" y="2492375"/>
            <a:ext cx="8135938"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latin typeface="黑体" panose="02010609060101010101" pitchFamily="49" charset="-122"/>
                <a:ea typeface="黑体" panose="02010609060101010101" pitchFamily="49" charset="-122"/>
              </a:rPr>
              <a:t>2</a:t>
            </a:r>
            <a:r>
              <a:rPr lang="zh-CN" altLang="en-US" sz="3200" b="1">
                <a:latin typeface="黑体" panose="02010609060101010101" pitchFamily="49" charset="-122"/>
                <a:ea typeface="黑体" panose="02010609060101010101" pitchFamily="49" charset="-122"/>
              </a:rPr>
              <a:t>、这种理解方式是考虑到：</a:t>
            </a:r>
            <a:r>
              <a:rPr lang="en-US" altLang="zh-CN" sz="3200" b="1" i="1">
                <a:latin typeface="Times New Roman" panose="02020603050405020304" pitchFamily="18" charset="0"/>
                <a:ea typeface="黑体" panose="02010609060101010101" pitchFamily="49" charset="-122"/>
              </a:rPr>
              <a:t>pV</a:t>
            </a:r>
            <a:r>
              <a:rPr lang="zh-CN" altLang="en-US" sz="3200" b="1">
                <a:latin typeface="黑体" panose="02010609060101010101" pitchFamily="49" charset="-122"/>
                <a:ea typeface="黑体" panose="02010609060101010101" pitchFamily="49" charset="-122"/>
              </a:rPr>
              <a:t>是状态量，与其它形式的功（体积变化功、轴功、电功等）是过程量不同</a:t>
            </a:r>
            <a:endParaRPr lang="zh-CN" altLang="en-US" sz="3200" b="1">
              <a:latin typeface="黑体" panose="02010609060101010101" pitchFamily="49" charset="-122"/>
              <a:ea typeface="黑体" panose="02010609060101010101" pitchFamily="49" charset="-122"/>
            </a:endParaRP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8377"/>
                                        </p:tgtEl>
                                        <p:attrNameLst>
                                          <p:attrName>style.visibility</p:attrName>
                                        </p:attrNameLst>
                                      </p:cBhvr>
                                      <p:to>
                                        <p:strVal val="visible"/>
                                      </p:to>
                                    </p:set>
                                    <p:animEffect transition="in" filter="blinds(horizontal)">
                                      <p:cBhvr>
                                        <p:cTn id="7" dur="500"/>
                                        <p:tgtEl>
                                          <p:spTgt spid="5837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8375"/>
                                        </p:tgtEl>
                                        <p:attrNameLst>
                                          <p:attrName>style.visibility</p:attrName>
                                        </p:attrNameLst>
                                      </p:cBhvr>
                                      <p:to>
                                        <p:strVal val="visible"/>
                                      </p:to>
                                    </p:set>
                                    <p:animEffect transition="in" filter="blinds(horizontal)">
                                      <p:cBhvr>
                                        <p:cTn id="12" dur="500"/>
                                        <p:tgtEl>
                                          <p:spTgt spid="583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5" grpId="0"/>
      <p:bldP spid="5837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矩形 59396"/>
          <p:cNvSpPr>
            <a:spLocks noChangeArrowheads="1"/>
          </p:cNvSpPr>
          <p:nvPr/>
        </p:nvSpPr>
        <p:spPr bwMode="auto">
          <a:xfrm>
            <a:off x="2339975" y="115888"/>
            <a:ext cx="54006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solidFill>
                  <a:srgbClr val="FF0000"/>
                </a:solidFill>
                <a:latin typeface="黑体" panose="02010609060101010101" pitchFamily="49" charset="-122"/>
                <a:ea typeface="黑体" panose="02010609060101010101" pitchFamily="49" charset="-122"/>
              </a:rPr>
              <a:t>允许有其它理解方式！</a:t>
            </a:r>
            <a:endParaRPr lang="zh-CN" altLang="en-US" sz="3200" b="1">
              <a:solidFill>
                <a:srgbClr val="FF0000"/>
              </a:solidFill>
              <a:latin typeface="黑体" panose="02010609060101010101" pitchFamily="49" charset="-122"/>
              <a:ea typeface="黑体" panose="02010609060101010101" pitchFamily="49" charset="-122"/>
            </a:endParaRPr>
          </a:p>
        </p:txBody>
      </p:sp>
      <p:sp>
        <p:nvSpPr>
          <p:cNvPr id="79875" name="矩形 59398"/>
          <p:cNvSpPr>
            <a:spLocks noChangeArrowheads="1"/>
          </p:cNvSpPr>
          <p:nvPr/>
        </p:nvSpPr>
        <p:spPr bwMode="auto">
          <a:xfrm>
            <a:off x="250825" y="765175"/>
            <a:ext cx="84597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黑体" panose="02010609060101010101" pitchFamily="49" charset="-122"/>
                <a:ea typeface="黑体" panose="02010609060101010101" pitchFamily="49" charset="-122"/>
              </a:rPr>
              <a:t>第一种（前几张</a:t>
            </a:r>
            <a:r>
              <a:rPr lang="en-US" altLang="zh-CN" sz="2400" b="1">
                <a:latin typeface="Times New Roman" panose="02020603050405020304" pitchFamily="18" charset="0"/>
                <a:ea typeface="黑体" panose="02010609060101010101" pitchFamily="49" charset="-122"/>
              </a:rPr>
              <a:t>ppt</a:t>
            </a:r>
            <a:r>
              <a:rPr lang="zh-CN" altLang="en-US" sz="2400" b="1">
                <a:latin typeface="黑体" panose="02010609060101010101" pitchFamily="49" charset="-122"/>
                <a:ea typeface="黑体" panose="02010609060101010101" pitchFamily="49" charset="-122"/>
              </a:rPr>
              <a:t>）：流动功</a:t>
            </a:r>
            <a:r>
              <a:rPr lang="zh-CN" altLang="en-US" sz="2400" b="1">
                <a:solidFill>
                  <a:srgbClr val="FF0000"/>
                </a:solidFill>
                <a:latin typeface="黑体" panose="02010609060101010101" pitchFamily="49" charset="-122"/>
                <a:ea typeface="黑体" panose="02010609060101010101" pitchFamily="49" charset="-122"/>
              </a:rPr>
              <a:t>视为</a:t>
            </a:r>
            <a:r>
              <a:rPr lang="zh-CN" altLang="en-US" sz="2400" b="1">
                <a:latin typeface="黑体" panose="02010609060101010101" pitchFamily="49" charset="-122"/>
                <a:ea typeface="黑体" panose="02010609060101010101" pitchFamily="49" charset="-122"/>
              </a:rPr>
              <a:t>流动的流体所</a:t>
            </a:r>
            <a:r>
              <a:rPr lang="zh-CN" altLang="en-US" sz="2400" b="1">
                <a:solidFill>
                  <a:srgbClr val="FF0000"/>
                </a:solidFill>
                <a:latin typeface="黑体" panose="02010609060101010101" pitchFamily="49" charset="-122"/>
                <a:ea typeface="黑体" panose="02010609060101010101" pitchFamily="49" charset="-122"/>
              </a:rPr>
              <a:t>携带</a:t>
            </a:r>
            <a:r>
              <a:rPr lang="zh-CN" altLang="en-US" sz="2400" b="1">
                <a:latin typeface="黑体" panose="02010609060101010101" pitchFamily="49" charset="-122"/>
                <a:ea typeface="黑体" panose="02010609060101010101" pitchFamily="49" charset="-122"/>
              </a:rPr>
              <a:t>的能量中的一部分</a:t>
            </a:r>
            <a:endParaRPr lang="zh-CN" altLang="en-US" sz="2400" b="1">
              <a:latin typeface="黑体" panose="02010609060101010101" pitchFamily="49" charset="-122"/>
              <a:ea typeface="黑体" panose="02010609060101010101" pitchFamily="49" charset="-122"/>
            </a:endParaRPr>
          </a:p>
        </p:txBody>
      </p:sp>
      <p:sp>
        <p:nvSpPr>
          <p:cNvPr id="59401" name="矩形 59400"/>
          <p:cNvSpPr>
            <a:spLocks noChangeArrowheads="1"/>
          </p:cNvSpPr>
          <p:nvPr/>
        </p:nvSpPr>
        <p:spPr bwMode="auto">
          <a:xfrm>
            <a:off x="0" y="2476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9877" name="矩形 59401"/>
          <p:cNvSpPr>
            <a:spLocks noChangeArrowheads="1"/>
          </p:cNvSpPr>
          <p:nvPr/>
        </p:nvSpPr>
        <p:spPr bwMode="auto">
          <a:xfrm>
            <a:off x="250825" y="3357563"/>
            <a:ext cx="84248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黑体" panose="02010609060101010101" pitchFamily="49" charset="-122"/>
                <a:ea typeface="黑体" panose="02010609060101010101" pitchFamily="49" charset="-122"/>
              </a:rPr>
              <a:t>第二种：流动功</a:t>
            </a:r>
            <a:r>
              <a:rPr lang="zh-CN" altLang="en-US" sz="2400" b="1">
                <a:solidFill>
                  <a:srgbClr val="FF0000"/>
                </a:solidFill>
                <a:latin typeface="黑体" panose="02010609060101010101" pitchFamily="49" charset="-122"/>
                <a:ea typeface="黑体" panose="02010609060101010101" pitchFamily="49" charset="-122"/>
              </a:rPr>
              <a:t>视为功量，不是携带</a:t>
            </a:r>
            <a:r>
              <a:rPr lang="zh-CN" altLang="en-US" sz="2400" b="1">
                <a:latin typeface="黑体" panose="02010609060101010101" pitchFamily="49" charset="-122"/>
                <a:ea typeface="黑体" panose="02010609060101010101" pitchFamily="49" charset="-122"/>
              </a:rPr>
              <a:t>能量中的一部分，而是</a:t>
            </a:r>
            <a:r>
              <a:rPr lang="zh-CN" altLang="en-US" sz="2400" b="1">
                <a:solidFill>
                  <a:srgbClr val="0000FF"/>
                </a:solidFill>
                <a:latin typeface="黑体" panose="02010609060101010101" pitchFamily="49" charset="-122"/>
                <a:ea typeface="黑体" panose="02010609060101010101" pitchFamily="49" charset="-122"/>
              </a:rPr>
              <a:t>包含在系统与外界交换的功量之中</a:t>
            </a:r>
            <a:r>
              <a:rPr lang="zh-CN" altLang="en-US" sz="2400" b="1">
                <a:latin typeface="黑体" panose="02010609060101010101" pitchFamily="49" charset="-122"/>
                <a:ea typeface="黑体" panose="02010609060101010101" pitchFamily="49" charset="-122"/>
              </a:rPr>
              <a:t> </a:t>
            </a:r>
            <a:endParaRPr lang="zh-CN" altLang="en-US" sz="2400" b="1">
              <a:latin typeface="黑体" panose="02010609060101010101" pitchFamily="49" charset="-122"/>
              <a:ea typeface="黑体" panose="02010609060101010101" pitchFamily="49" charset="-122"/>
            </a:endParaRPr>
          </a:p>
        </p:txBody>
      </p:sp>
      <p:sp>
        <p:nvSpPr>
          <p:cNvPr id="59405" name="直接连接符 59404"/>
          <p:cNvSpPr>
            <a:spLocks noChangeShapeType="1"/>
          </p:cNvSpPr>
          <p:nvPr/>
        </p:nvSpPr>
        <p:spPr bwMode="auto">
          <a:xfrm>
            <a:off x="6084888" y="5589588"/>
            <a:ext cx="1223962" cy="0"/>
          </a:xfrm>
          <a:prstGeom prst="line">
            <a:avLst/>
          </a:prstGeom>
          <a:noFill/>
          <a:ln w="25400">
            <a:solidFill>
              <a:srgbClr val="FF00FF"/>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9879"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17713" y="1243013"/>
            <a:ext cx="5183187"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80"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4292600"/>
            <a:ext cx="5548313" cy="231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3"/>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59401"/>
                                        </p:tgtEl>
                                        <p:attrNameLst>
                                          <p:attrName>style.visibility</p:attrName>
                                        </p:attrNameLst>
                                      </p:cBhvr>
                                      <p:to>
                                        <p:strVal val="visible"/>
                                      </p:to>
                                    </p:set>
                                    <p:animEffect transition="in" filter="blinds(horizontal)">
                                      <p:cBhvr>
                                        <p:cTn id="7" dur="500"/>
                                        <p:tgtEl>
                                          <p:spTgt spid="59401"/>
                                        </p:tgtEl>
                                      </p:cBhvr>
                                    </p:animEffect>
                                  </p:childTnLst>
                                </p:cTn>
                              </p:par>
                              <p:par>
                                <p:cTn id="8" presetID="3" presetClass="entr" presetSubtype="10" fill="hold" nodeType="withEffect">
                                  <p:stCondLst>
                                    <p:cond delay="0"/>
                                  </p:stCondLst>
                                  <p:childTnLst>
                                    <p:set>
                                      <p:cBhvr>
                                        <p:cTn id="9" dur="1" fill="hold">
                                          <p:stCondLst>
                                            <p:cond delay="0"/>
                                          </p:stCondLst>
                                        </p:cTn>
                                        <p:tgtEl>
                                          <p:spTgt spid="59405"/>
                                        </p:tgtEl>
                                        <p:attrNameLst>
                                          <p:attrName>style.visibility</p:attrName>
                                        </p:attrNameLst>
                                      </p:cBhvr>
                                      <p:to>
                                        <p:strVal val="visible"/>
                                      </p:to>
                                    </p:set>
                                    <p:animEffect transition="in" filter="blinds(horizontal)">
                                      <p:cBhvr>
                                        <p:cTn id="10" dur="500"/>
                                        <p:tgtEl>
                                          <p:spTgt spid="59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TIMING" val="|10.7|15.1|8.3|10.8"/>
</p:tagLst>
</file>

<file path=ppt/tags/tag2.xml><?xml version="1.0" encoding="utf-8"?>
<p:tagLst xmlns:p="http://schemas.openxmlformats.org/presentationml/2006/main">
  <p:tag name="TIMING" val="|4.4"/>
</p:tagLst>
</file>

<file path=ppt/tags/tag3.xml><?xml version="1.0" encoding="utf-8"?>
<p:tagLst xmlns:p="http://schemas.openxmlformats.org/presentationml/2006/main">
  <p:tag name="TIMING" val="|13.5|4"/>
</p:tagLst>
</file>

<file path=ppt/tags/tag4.xml><?xml version="1.0" encoding="utf-8"?>
<p:tagLst xmlns:p="http://schemas.openxmlformats.org/presentationml/2006/main">
  <p:tag name="TIMING" val="|5|25.5|26.8"/>
</p:tagLst>
</file>

<file path=ppt/tags/tag5.xml><?xml version="1.0" encoding="utf-8"?>
<p:tagLst xmlns:p="http://schemas.openxmlformats.org/presentationml/2006/main">
  <p:tag name="TIMING" val="|9.6"/>
</p:tagLst>
</file>

<file path=ppt/tags/tag6.xml><?xml version="1.0" encoding="utf-8"?>
<p:tagLst xmlns:p="http://schemas.openxmlformats.org/presentationml/2006/main">
  <p:tag name="TIMING" val="|82.9|29.9"/>
</p:tagLst>
</file>

<file path=ppt/tags/tag7.xml><?xml version="1.0" encoding="utf-8"?>
<p:tagLst xmlns:p="http://schemas.openxmlformats.org/presentationml/2006/main">
  <p:tag name="TIMING" val="|60"/>
</p:tagLst>
</file>

<file path=ppt/tags/tag8.xml><?xml version="1.0" encoding="utf-8"?>
<p:tagLst xmlns:p="http://schemas.openxmlformats.org/presentationml/2006/main">
  <p:tag name="TIMING" val="|14.9|10.8|14.2|15.6"/>
</p:tagLst>
</file>

<file path=ppt/tags/tag9.xml><?xml version="1.0" encoding="utf-8"?>
<p:tagLst xmlns:p="http://schemas.openxmlformats.org/presentationml/2006/main">
  <p:tag name="TIMING" val="|28.9|28.1"/>
</p:tagLst>
</file>

<file path=ppt/tags/tag10.xml><?xml version="1.0" encoding="utf-8"?>
<p:tagLst xmlns:p="http://schemas.openxmlformats.org/presentationml/2006/main">
  <p:tag name="TIMING" val="|86.8"/>
</p:tagLst>
</file>

<file path=ppt/tags/tag11.xml><?xml version="1.0" encoding="utf-8"?>
<p:tagLst xmlns:p="http://schemas.openxmlformats.org/presentationml/2006/main">
  <p:tag name="TIMING" val="|63.6"/>
</p:tagLst>
</file>

<file path=ppt/tags/tag12.xml><?xml version="1.0" encoding="utf-8"?>
<p:tagLst xmlns:p="http://schemas.openxmlformats.org/presentationml/2006/main">
  <p:tag name="TIMING" val="|31.4|22.6|14.6"/>
</p:tagLst>
</file>

<file path=ppt/tags/tag13.xml><?xml version="1.0" encoding="utf-8"?>
<p:tagLst xmlns:p="http://schemas.openxmlformats.org/presentationml/2006/main">
  <p:tag name="TIMING" val="|16.3|24.7|29.6|15.8|1.6|5.4"/>
</p:tagLst>
</file>

<file path=ppt/tags/tag14.xml><?xml version="1.0" encoding="utf-8"?>
<p:tagLst xmlns:p="http://schemas.openxmlformats.org/presentationml/2006/main">
  <p:tag name="TIMING" val="|246.7|1.5"/>
</p:tagLst>
</file>

<file path=ppt/tags/tag15.xml><?xml version="1.0" encoding="utf-8"?>
<p:tagLst xmlns:p="http://schemas.openxmlformats.org/presentationml/2006/main">
  <p:tag name="TIMING" val="|37.8|30.5|5.7"/>
</p:tagLst>
</file>

<file path=ppt/tags/tag16.xml><?xml version="1.0" encoding="utf-8"?>
<p:tagLst xmlns:p="http://schemas.openxmlformats.org/presentationml/2006/main">
  <p:tag name="TIMING" val="|7|9|1.6|11|9.3|6.3|17.1"/>
</p:tagLst>
</file>

<file path=ppt/tags/tag17.xml><?xml version="1.0" encoding="utf-8"?>
<p:tagLst xmlns:p="http://schemas.openxmlformats.org/presentationml/2006/main">
  <p:tag name="TIMING" val="|129|16.3"/>
</p:tagLst>
</file>

<file path=ppt/tags/tag18.xml><?xml version="1.0" encoding="utf-8"?>
<p:tagLst xmlns:p="http://schemas.openxmlformats.org/presentationml/2006/main">
  <p:tag name="TIMING" val="|12|6|1.2|4.3|8.2|7.1|15.5|10.6"/>
</p:tagLst>
</file>

<file path=ppt/tags/tag19.xml><?xml version="1.0" encoding="utf-8"?>
<p:tagLst xmlns:p="http://schemas.openxmlformats.org/presentationml/2006/main">
  <p:tag name="TIMING" val="|27.3|13.4"/>
</p:tagLst>
</file>

<file path=ppt/tags/tag20.xml><?xml version="1.0" encoding="utf-8"?>
<p:tagLst xmlns:p="http://schemas.openxmlformats.org/presentationml/2006/main">
  <p:tag name="TIMING" val="|17.3|17"/>
</p:tagLst>
</file>

<file path=ppt/tags/tag21.xml><?xml version="1.0" encoding="utf-8"?>
<p:tagLst xmlns:p="http://schemas.openxmlformats.org/presentationml/2006/main">
  <p:tag name="TIMING" val="|26.1|52.6|23.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2">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4317</Words>
  <Application>WPS 演示</Application>
  <PresentationFormat>全屏显示(4:3)</PresentationFormat>
  <Paragraphs>365</Paragraphs>
  <Slides>54</Slides>
  <Notes>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47</vt:i4>
      </vt:variant>
      <vt:variant>
        <vt:lpstr>幻灯片标题</vt:lpstr>
      </vt:variant>
      <vt:variant>
        <vt:i4>54</vt:i4>
      </vt:variant>
    </vt:vector>
  </HeadingPairs>
  <TitlesOfParts>
    <vt:vector size="114" baseType="lpstr">
      <vt:lpstr>Arial</vt:lpstr>
      <vt:lpstr>宋体</vt:lpstr>
      <vt:lpstr>Wingdings</vt:lpstr>
      <vt:lpstr>黑体</vt:lpstr>
      <vt:lpstr>楷体_GB2312</vt:lpstr>
      <vt:lpstr>新宋体</vt:lpstr>
      <vt:lpstr>Times New Roman</vt:lpstr>
      <vt:lpstr>微软雅黑</vt:lpstr>
      <vt:lpstr>Arial Unicode MS</vt:lpstr>
      <vt:lpstr>等线</vt:lpstr>
      <vt:lpstr>Tahoma</vt:lpstr>
      <vt:lpstr>Calibri</vt:lpstr>
      <vt:lpstr>Office 主题</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Visio.Drawing.11</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Visio.Drawing.11</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02 能量</vt:lpstr>
      <vt:lpstr>PowerPoint 演示文稿</vt:lpstr>
      <vt:lpstr>PowerPoint 演示文稿</vt:lpstr>
      <vt:lpstr>PowerPoint 演示文稿</vt:lpstr>
      <vt:lpstr>PowerPoint 演示文稿</vt:lpstr>
      <vt:lpstr>PowerPoint 演示文稿</vt:lpstr>
      <vt:lpstr>PowerPoint 演示文稿</vt:lpstr>
      <vt:lpstr>§2－2　热力系的储存能</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常见的功量交换形式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说明2</vt:lpstr>
      <vt:lpstr>PowerPoint 演示文稿</vt:lpstr>
      <vt:lpstr>PowerPoint 演示文稿</vt:lpstr>
      <vt:lpstr>有用功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第15讲  实际气体的性质</dc:title>
  <dc:creator>jing wu</dc:creator>
  <cp:lastModifiedBy>神力猹</cp:lastModifiedBy>
  <cp:revision>46</cp:revision>
  <dcterms:created xsi:type="dcterms:W3CDTF">2020-05-28T02:02:00Z</dcterms:created>
  <dcterms:modified xsi:type="dcterms:W3CDTF">2021-03-10T05:46:11Z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