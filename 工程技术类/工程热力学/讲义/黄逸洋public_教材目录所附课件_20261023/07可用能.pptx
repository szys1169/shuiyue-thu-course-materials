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63" r:id="rId7"/>
    <p:sldId id="264" r:id="rId8"/>
    <p:sldId id="289" r:id="rId9"/>
    <p:sldId id="290" r:id="rId10"/>
    <p:sldId id="278" r:id="rId11"/>
    <p:sldId id="302" r:id="rId12"/>
    <p:sldId id="291" r:id="rId13"/>
    <p:sldId id="292" r:id="rId14"/>
    <p:sldId id="293" r:id="rId15"/>
    <p:sldId id="294" r:id="rId16"/>
    <p:sldId id="295" r:id="rId17"/>
    <p:sldId id="296" r:id="rId18"/>
    <p:sldId id="297" r:id="rId19"/>
    <p:sldId id="298" r:id="rId20"/>
    <p:sldId id="299" r:id="rId21"/>
    <p:sldId id="300" r:id="rId22"/>
    <p:sldId id="301" r:id="rId23"/>
    <p:sldId id="282" r:id="rId24"/>
    <p:sldId id="283" r:id="rId25"/>
    <p:sldId id="284" r:id="rId26"/>
    <p:sldId id="305" r:id="rId27"/>
    <p:sldId id="306" r:id="rId28"/>
    <p:sldId id="308" r:id="rId29"/>
    <p:sldId id="285" r:id="rId30"/>
    <p:sldId id="281" r:id="rId31"/>
    <p:sldId id="309" r:id="rId32"/>
    <p:sldId id="310" r:id="rId33"/>
    <p:sldId id="311" r:id="rId34"/>
    <p:sldId id="312" r:id="rId35"/>
    <p:sldId id="313" r:id="rId36"/>
    <p:sldId id="314" r:id="rId37"/>
    <p:sldId id="286" r:id="rId38"/>
    <p:sldId id="315" r:id="rId39"/>
    <p:sldId id="316" r:id="rId40"/>
    <p:sldId id="317" r:id="rId41"/>
    <p:sldId id="318" r:id="rId42"/>
    <p:sldId id="319" r:id="rId43"/>
    <p:sldId id="320" r:id="rId44"/>
    <p:sldId id="321" r:id="rId45"/>
    <p:sldId id="322" r:id="rId46"/>
    <p:sldId id="323" r:id="rId47"/>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30B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96" d="100"/>
          <a:sy n="96" d="100"/>
        </p:scale>
        <p:origin x="80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 Id="rId5" Type="http://schemas.openxmlformats.org/officeDocument/2006/relationships/image" Target="../media/image8.wmf"/><Relationship Id="rId4"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wmf"/><Relationship Id="rId5" Type="http://schemas.openxmlformats.org/officeDocument/2006/relationships/image" Target="../media/image19.wmf"/><Relationship Id="rId4" Type="http://schemas.openxmlformats.org/officeDocument/2006/relationships/image" Target="../media/image18.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image" Target="../media/image29.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image" Target="../media/image33.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43.wmf"/><Relationship Id="rId1" Type="http://schemas.openxmlformats.org/officeDocument/2006/relationships/image" Target="../media/image42.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47.wmf"/><Relationship Id="rId1" Type="http://schemas.openxmlformats.org/officeDocument/2006/relationships/image" Target="../media/image46.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16.vml.rels><?xml version="1.0" encoding="UTF-8" standalone="yes"?>
<Relationships xmlns="http://schemas.openxmlformats.org/package/2006/relationships"><Relationship Id="rId8" Type="http://schemas.openxmlformats.org/officeDocument/2006/relationships/image" Target="../media/image60.wmf"/><Relationship Id="rId3" Type="http://schemas.openxmlformats.org/officeDocument/2006/relationships/image" Target="../media/image55.wmf"/><Relationship Id="rId7" Type="http://schemas.openxmlformats.org/officeDocument/2006/relationships/image" Target="../media/image59.wmf"/><Relationship Id="rId2" Type="http://schemas.openxmlformats.org/officeDocument/2006/relationships/image" Target="../media/image54.wmf"/><Relationship Id="rId1" Type="http://schemas.openxmlformats.org/officeDocument/2006/relationships/image" Target="../media/image53.wmf"/><Relationship Id="rId6" Type="http://schemas.openxmlformats.org/officeDocument/2006/relationships/image" Target="../media/image58.wmf"/><Relationship Id="rId5" Type="http://schemas.openxmlformats.org/officeDocument/2006/relationships/image" Target="../media/image57.wmf"/><Relationship Id="rId4" Type="http://schemas.openxmlformats.org/officeDocument/2006/relationships/image" Target="../media/image56.wmf"/><Relationship Id="rId9" Type="http://schemas.openxmlformats.org/officeDocument/2006/relationships/image" Target="../media/image61.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image" Target="../media/image65.wmf"/><Relationship Id="rId1" Type="http://schemas.openxmlformats.org/officeDocument/2006/relationships/image" Target="../media/image64.wmf"/><Relationship Id="rId4" Type="http://schemas.openxmlformats.org/officeDocument/2006/relationships/image" Target="../media/image67.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68.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t>2020/9/19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2585655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t>2020/9/19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9993456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D997B5FA-0921-464F-AAE1-844C04324D75}" type="datetimeFigureOut">
              <a:rPr lang="zh-CN" altLang="en-US" smtClean="0"/>
              <a:t>2020/9/19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5976507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D997B5FA-0921-464F-AAE1-844C04324D75}" type="datetimeFigureOut">
              <a:rPr lang="zh-CN" altLang="en-US" smtClean="0"/>
              <a:t>2020/9/19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0183460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D997B5FA-0921-464F-AAE1-844C04324D75}" type="datetimeFigureOut">
              <a:rPr lang="zh-CN" altLang="en-US" smtClean="0"/>
              <a:t>2020/9/19</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6527164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D997B5FA-0921-464F-AAE1-844C04324D75}" type="datetimeFigureOut">
              <a:rPr lang="zh-CN" altLang="en-US" smtClean="0"/>
              <a:t>2020/9/19</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7269481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97B5FA-0921-464F-AAE1-844C04324D75}" type="datetimeFigureOut">
              <a:rPr lang="zh-CN" altLang="en-US" smtClean="0"/>
              <a:t>2020/9/19</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59089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D997B5FA-0921-464F-AAE1-844C04324D75}" type="datetimeFigureOut">
              <a:rPr lang="zh-CN" altLang="en-US" smtClean="0"/>
              <a:t>2020/9/19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87177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D997B5FA-0921-464F-AAE1-844C04324D75}" type="datetimeFigureOut">
              <a:rPr lang="zh-CN" altLang="en-US" smtClean="0"/>
              <a:t>2020/9/19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0059820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t>2020/9/19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9828101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t>2020/9/19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8292277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2020/9/19</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320474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6.wmf"/><Relationship Id="rId13" Type="http://schemas.openxmlformats.org/officeDocument/2006/relationships/image" Target="../media/image9.png"/><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8.wmf"/><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5.wmf"/><Relationship Id="rId11" Type="http://schemas.openxmlformats.org/officeDocument/2006/relationships/oleObject" Target="../embeddings/oleObject5.bin"/><Relationship Id="rId5" Type="http://schemas.openxmlformats.org/officeDocument/2006/relationships/oleObject" Target="../embeddings/oleObject2.bin"/><Relationship Id="rId10" Type="http://schemas.openxmlformats.org/officeDocument/2006/relationships/image" Target="../media/image7.wmf"/><Relationship Id="rId4" Type="http://schemas.openxmlformats.org/officeDocument/2006/relationships/image" Target="../media/image4.wmf"/><Relationship Id="rId9" Type="http://schemas.openxmlformats.org/officeDocument/2006/relationships/oleObject" Target="../embeddings/oleObject4.bin"/></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2.vml"/><Relationship Id="rId5" Type="http://schemas.openxmlformats.org/officeDocument/2006/relationships/image" Target="../media/image10.png"/><Relationship Id="rId4" Type="http://schemas.openxmlformats.org/officeDocument/2006/relationships/image" Target="../media/image5.w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11.w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4.vml"/><Relationship Id="rId5" Type="http://schemas.openxmlformats.org/officeDocument/2006/relationships/image" Target="../media/image14.png"/><Relationship Id="rId4" Type="http://schemas.openxmlformats.org/officeDocument/2006/relationships/image" Target="../media/image13.emf"/></Relationships>
</file>

<file path=ppt/slides/_rels/slide21.xml.rels><?xml version="1.0" encoding="UTF-8" standalone="yes"?>
<Relationships xmlns="http://schemas.openxmlformats.org/package/2006/relationships"><Relationship Id="rId8" Type="http://schemas.openxmlformats.org/officeDocument/2006/relationships/image" Target="../media/image17.wmf"/><Relationship Id="rId13" Type="http://schemas.openxmlformats.org/officeDocument/2006/relationships/image" Target="../media/image20.png"/><Relationship Id="rId3" Type="http://schemas.openxmlformats.org/officeDocument/2006/relationships/oleObject" Target="../embeddings/oleObject9.bin"/><Relationship Id="rId7" Type="http://schemas.openxmlformats.org/officeDocument/2006/relationships/oleObject" Target="../embeddings/oleObject11.bin"/><Relationship Id="rId12" Type="http://schemas.openxmlformats.org/officeDocument/2006/relationships/image" Target="../media/image19.wmf"/><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16.wmf"/><Relationship Id="rId11" Type="http://schemas.openxmlformats.org/officeDocument/2006/relationships/oleObject" Target="../embeddings/oleObject13.bin"/><Relationship Id="rId5" Type="http://schemas.openxmlformats.org/officeDocument/2006/relationships/oleObject" Target="../embeddings/oleObject10.bin"/><Relationship Id="rId10" Type="http://schemas.openxmlformats.org/officeDocument/2006/relationships/image" Target="../media/image18.wmf"/><Relationship Id="rId4" Type="http://schemas.openxmlformats.org/officeDocument/2006/relationships/image" Target="../media/image15.wmf"/><Relationship Id="rId9" Type="http://schemas.openxmlformats.org/officeDocument/2006/relationships/oleObject" Target="../embeddings/oleObject12.bin"/></Relationships>
</file>

<file path=ppt/slides/_rels/slide22.xml.rels><?xml version="1.0" encoding="UTF-8" standalone="yes"?>
<Relationships xmlns="http://schemas.openxmlformats.org/package/2006/relationships"><Relationship Id="rId8" Type="http://schemas.openxmlformats.org/officeDocument/2006/relationships/image" Target="../media/image23.wmf"/><Relationship Id="rId3" Type="http://schemas.openxmlformats.org/officeDocument/2006/relationships/oleObject" Target="../embeddings/oleObject14.bin"/><Relationship Id="rId7" Type="http://schemas.openxmlformats.org/officeDocument/2006/relationships/oleObject" Target="../embeddings/oleObject16.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22.wmf"/><Relationship Id="rId5" Type="http://schemas.openxmlformats.org/officeDocument/2006/relationships/oleObject" Target="../embeddings/oleObject15.bin"/><Relationship Id="rId4" Type="http://schemas.openxmlformats.org/officeDocument/2006/relationships/image" Target="../media/image21.w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xml"/><Relationship Id="rId1" Type="http://schemas.openxmlformats.org/officeDocument/2006/relationships/vmlDrawing" Target="../drawings/vmlDrawing7.vml"/><Relationship Id="rId6" Type="http://schemas.openxmlformats.org/officeDocument/2006/relationships/image" Target="../media/image25.wmf"/><Relationship Id="rId5" Type="http://schemas.openxmlformats.org/officeDocument/2006/relationships/oleObject" Target="../embeddings/oleObject17.bin"/><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oleObject" Target="../embeddings/oleObject18.bin"/><Relationship Id="rId7" Type="http://schemas.openxmlformats.org/officeDocument/2006/relationships/image" Target="../media/image31.png"/><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30.wmf"/><Relationship Id="rId5" Type="http://schemas.openxmlformats.org/officeDocument/2006/relationships/oleObject" Target="../embeddings/oleObject19.bin"/><Relationship Id="rId4" Type="http://schemas.openxmlformats.org/officeDocument/2006/relationships/image" Target="../media/image29.w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20.bin"/><Relationship Id="rId7" Type="http://schemas.openxmlformats.org/officeDocument/2006/relationships/image" Target="../media/image35.png"/><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34.wmf"/><Relationship Id="rId5" Type="http://schemas.openxmlformats.org/officeDocument/2006/relationships/oleObject" Target="../embeddings/oleObject21.bin"/><Relationship Id="rId4" Type="http://schemas.openxmlformats.org/officeDocument/2006/relationships/image" Target="../media/image33.w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7.xml"/><Relationship Id="rId1" Type="http://schemas.openxmlformats.org/officeDocument/2006/relationships/vmlDrawing" Target="../drawings/vmlDrawing10.vml"/><Relationship Id="rId5" Type="http://schemas.openxmlformats.org/officeDocument/2006/relationships/image" Target="../media/image37.png"/><Relationship Id="rId4" Type="http://schemas.openxmlformats.org/officeDocument/2006/relationships/image" Target="../media/image36.w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7.xml"/><Relationship Id="rId1" Type="http://schemas.openxmlformats.org/officeDocument/2006/relationships/vmlDrawing" Target="../drawings/vmlDrawing11.vml"/><Relationship Id="rId5" Type="http://schemas.openxmlformats.org/officeDocument/2006/relationships/image" Target="../media/image39.png"/><Relationship Id="rId4" Type="http://schemas.openxmlformats.org/officeDocument/2006/relationships/image" Target="../media/image38.w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7.xml"/><Relationship Id="rId1" Type="http://schemas.openxmlformats.org/officeDocument/2006/relationships/vmlDrawing" Target="../drawings/vmlDrawing12.vml"/><Relationship Id="rId5" Type="http://schemas.openxmlformats.org/officeDocument/2006/relationships/image" Target="../media/image41.png"/><Relationship Id="rId4" Type="http://schemas.openxmlformats.org/officeDocument/2006/relationships/image" Target="../media/image40.wmf"/></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image" Target="../media/image43.wmf"/><Relationship Id="rId5" Type="http://schemas.openxmlformats.org/officeDocument/2006/relationships/oleObject" Target="../embeddings/oleObject26.bin"/><Relationship Id="rId4" Type="http://schemas.openxmlformats.org/officeDocument/2006/relationships/image" Target="../media/image42.wmf"/></Relationships>
</file>

<file path=ppt/slides/_rels/slide3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47.wmf"/><Relationship Id="rId5" Type="http://schemas.openxmlformats.org/officeDocument/2006/relationships/oleObject" Target="../embeddings/oleObject28.bin"/><Relationship Id="rId4" Type="http://schemas.openxmlformats.org/officeDocument/2006/relationships/image" Target="../media/image46.wmf"/></Relationships>
</file>

<file path=ppt/slides/_rels/slide37.xml.rels><?xml version="1.0" encoding="UTF-8" standalone="yes"?>
<Relationships xmlns="http://schemas.openxmlformats.org/package/2006/relationships"><Relationship Id="rId2" Type="http://schemas.openxmlformats.org/officeDocument/2006/relationships/image" Target="../media/image48.wmf"/><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7.xml"/><Relationship Id="rId1" Type="http://schemas.openxmlformats.org/officeDocument/2006/relationships/vmlDrawing" Target="../drawings/vmlDrawing15.vml"/><Relationship Id="rId4" Type="http://schemas.openxmlformats.org/officeDocument/2006/relationships/image" Target="../media/image49.w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8" Type="http://schemas.openxmlformats.org/officeDocument/2006/relationships/image" Target="../media/image55.wmf"/><Relationship Id="rId13" Type="http://schemas.openxmlformats.org/officeDocument/2006/relationships/oleObject" Target="../embeddings/oleObject35.bin"/><Relationship Id="rId18" Type="http://schemas.openxmlformats.org/officeDocument/2006/relationships/image" Target="../media/image60.wmf"/><Relationship Id="rId3" Type="http://schemas.openxmlformats.org/officeDocument/2006/relationships/oleObject" Target="../embeddings/oleObject30.bin"/><Relationship Id="rId21" Type="http://schemas.openxmlformats.org/officeDocument/2006/relationships/image" Target="../media/image62.png"/><Relationship Id="rId7" Type="http://schemas.openxmlformats.org/officeDocument/2006/relationships/oleObject" Target="../embeddings/oleObject32.bin"/><Relationship Id="rId12" Type="http://schemas.openxmlformats.org/officeDocument/2006/relationships/image" Target="../media/image57.wmf"/><Relationship Id="rId17" Type="http://schemas.openxmlformats.org/officeDocument/2006/relationships/oleObject" Target="../embeddings/oleObject37.bin"/><Relationship Id="rId2" Type="http://schemas.openxmlformats.org/officeDocument/2006/relationships/slideLayout" Target="../slideLayouts/slideLayout7.xml"/><Relationship Id="rId16" Type="http://schemas.openxmlformats.org/officeDocument/2006/relationships/image" Target="../media/image59.wmf"/><Relationship Id="rId20" Type="http://schemas.openxmlformats.org/officeDocument/2006/relationships/image" Target="../media/image61.wmf"/><Relationship Id="rId1" Type="http://schemas.openxmlformats.org/officeDocument/2006/relationships/vmlDrawing" Target="../drawings/vmlDrawing16.vml"/><Relationship Id="rId6" Type="http://schemas.openxmlformats.org/officeDocument/2006/relationships/image" Target="../media/image54.wmf"/><Relationship Id="rId11" Type="http://schemas.openxmlformats.org/officeDocument/2006/relationships/oleObject" Target="../embeddings/oleObject34.bin"/><Relationship Id="rId5" Type="http://schemas.openxmlformats.org/officeDocument/2006/relationships/oleObject" Target="../embeddings/oleObject31.bin"/><Relationship Id="rId15" Type="http://schemas.openxmlformats.org/officeDocument/2006/relationships/oleObject" Target="../embeddings/oleObject36.bin"/><Relationship Id="rId10" Type="http://schemas.openxmlformats.org/officeDocument/2006/relationships/image" Target="../media/image56.wmf"/><Relationship Id="rId19" Type="http://schemas.openxmlformats.org/officeDocument/2006/relationships/oleObject" Target="../embeddings/oleObject38.bin"/><Relationship Id="rId4" Type="http://schemas.openxmlformats.org/officeDocument/2006/relationships/image" Target="../media/image53.wmf"/><Relationship Id="rId9" Type="http://schemas.openxmlformats.org/officeDocument/2006/relationships/oleObject" Target="../embeddings/oleObject33.bin"/><Relationship Id="rId14" Type="http://schemas.openxmlformats.org/officeDocument/2006/relationships/image" Target="../media/image58.wmf"/><Relationship Id="rId22" Type="http://schemas.openxmlformats.org/officeDocument/2006/relationships/image" Target="../media/image63.png"/></Relationships>
</file>

<file path=ppt/slides/_rels/slide44.xml.rels><?xml version="1.0" encoding="UTF-8" standalone="yes"?>
<Relationships xmlns="http://schemas.openxmlformats.org/package/2006/relationships"><Relationship Id="rId8" Type="http://schemas.openxmlformats.org/officeDocument/2006/relationships/image" Target="../media/image66.wmf"/><Relationship Id="rId3" Type="http://schemas.openxmlformats.org/officeDocument/2006/relationships/oleObject" Target="../embeddings/oleObject39.bin"/><Relationship Id="rId7" Type="http://schemas.openxmlformats.org/officeDocument/2006/relationships/oleObject" Target="../embeddings/oleObject41.bin"/><Relationship Id="rId12" Type="http://schemas.openxmlformats.org/officeDocument/2006/relationships/image" Target="../media/image63.png"/><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image" Target="../media/image65.wmf"/><Relationship Id="rId11" Type="http://schemas.openxmlformats.org/officeDocument/2006/relationships/image" Target="../media/image62.png"/><Relationship Id="rId5" Type="http://schemas.openxmlformats.org/officeDocument/2006/relationships/oleObject" Target="../embeddings/oleObject40.bin"/><Relationship Id="rId10" Type="http://schemas.openxmlformats.org/officeDocument/2006/relationships/image" Target="../media/image67.wmf"/><Relationship Id="rId4" Type="http://schemas.openxmlformats.org/officeDocument/2006/relationships/image" Target="../media/image64.wmf"/><Relationship Id="rId9" Type="http://schemas.openxmlformats.org/officeDocument/2006/relationships/oleObject" Target="../embeddings/oleObject42.bin"/></Relationships>
</file>

<file path=ppt/slides/_rels/slide4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slideLayout" Target="../slideLayouts/slideLayout7.xml"/><Relationship Id="rId1" Type="http://schemas.openxmlformats.org/officeDocument/2006/relationships/vmlDrawing" Target="../drawings/vmlDrawing18.vml"/><Relationship Id="rId5" Type="http://schemas.openxmlformats.org/officeDocument/2006/relationships/image" Target="../media/image68.wmf"/><Relationship Id="rId4" Type="http://schemas.openxmlformats.org/officeDocument/2006/relationships/oleObject" Target="../embeddings/oleObject43.bin"/></Relationships>
</file>

<file path=ppt/slides/_rels/slide4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标题 5121"/>
          <p:cNvSpPr>
            <a:spLocks noGrp="1" noChangeArrowheads="1"/>
          </p:cNvSpPr>
          <p:nvPr>
            <p:ph type="ctrTitle"/>
          </p:nvPr>
        </p:nvSpPr>
        <p:spPr>
          <a:xfrm>
            <a:off x="685800" y="1905000"/>
            <a:ext cx="7772400" cy="1470025"/>
          </a:xfrm>
        </p:spPr>
        <p:txBody>
          <a:bodyPr anchor="ctr"/>
          <a:lstStyle/>
          <a:p>
            <a:r>
              <a:rPr lang="en-US" altLang="zh-CN" sz="4600" b="1" dirty="0" smtClean="0">
                <a:solidFill>
                  <a:schemeClr val="tx1"/>
                </a:solidFill>
                <a:latin typeface="黑体" panose="02010609060101010101" pitchFamily="49" charset="-122"/>
                <a:ea typeface="黑体" panose="02010609060101010101" pitchFamily="49" charset="-122"/>
              </a:rPr>
              <a:t>07</a:t>
            </a:r>
            <a:r>
              <a:rPr lang="zh-CN" altLang="en-US" sz="4600" b="1" dirty="0" smtClean="0">
                <a:solidFill>
                  <a:schemeClr val="tx1"/>
                </a:solidFill>
                <a:latin typeface="黑体" panose="02010609060101010101" pitchFamily="49" charset="-122"/>
                <a:ea typeface="黑体" panose="02010609060101010101" pitchFamily="49" charset="-122"/>
              </a:rPr>
              <a:t> </a:t>
            </a:r>
            <a:r>
              <a:rPr lang="zh-CN" altLang="en-US" sz="4600" b="1" dirty="0" smtClean="0">
                <a:ea typeface="黑体" panose="02010609060101010101" pitchFamily="49" charset="-122"/>
              </a:rPr>
              <a:t>㶲（可用能）</a:t>
            </a:r>
            <a:endParaRPr lang="zh-CN" altLang="en-US" sz="4600" b="1" dirty="0" smtClean="0">
              <a:solidFill>
                <a:schemeClr val="tx1"/>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877875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矩形 419841"/>
          <p:cNvSpPr>
            <a:spLocks noChangeArrowheads="1"/>
          </p:cNvSpPr>
          <p:nvPr/>
        </p:nvSpPr>
        <p:spPr bwMode="auto">
          <a:xfrm>
            <a:off x="381000" y="1905000"/>
            <a:ext cx="83058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p>
            <a:pPr algn="ctr">
              <a:buFontTx/>
              <a:buChar char="§"/>
            </a:pPr>
            <a:r>
              <a:rPr lang="en-US" altLang="zh-CN" sz="3600" b="1" baseline="0" dirty="0">
                <a:latin typeface="黑体" panose="02010609060101010101" pitchFamily="49" charset="-122"/>
                <a:ea typeface="黑体" panose="02010609060101010101" pitchFamily="49" charset="-122"/>
              </a:rPr>
              <a:t>7</a:t>
            </a:r>
            <a:r>
              <a:rPr lang="zh-CN" altLang="en-US" sz="3600" b="1" baseline="0" dirty="0">
                <a:latin typeface="黑体" panose="02010609060101010101" pitchFamily="49" charset="-122"/>
                <a:ea typeface="黑体" panose="02010609060101010101" pitchFamily="49" charset="-122"/>
              </a:rPr>
              <a:t>－</a:t>
            </a:r>
            <a:r>
              <a:rPr lang="en-US" altLang="zh-CN" sz="3600" b="1" baseline="0" dirty="0">
                <a:latin typeface="黑体" panose="02010609060101010101" pitchFamily="49" charset="-122"/>
                <a:ea typeface="黑体" panose="02010609060101010101" pitchFamily="49" charset="-122"/>
              </a:rPr>
              <a:t>1</a:t>
            </a:r>
            <a:r>
              <a:rPr lang="zh-CN" altLang="en-US" sz="3600" b="1" baseline="0" dirty="0">
                <a:latin typeface="黑体" panose="02010609060101010101" pitchFamily="49" charset="-122"/>
                <a:ea typeface="黑体" panose="02010609060101010101" pitchFamily="49" charset="-122"/>
              </a:rPr>
              <a:t>　什么是</a:t>
            </a:r>
            <a:r>
              <a:rPr lang="zh-CN" altLang="en-US" sz="3600" b="1" baseline="0" dirty="0">
                <a:ea typeface="黑体" panose="02010609060101010101" pitchFamily="49" charset="-122"/>
              </a:rPr>
              <a:t>㶲</a:t>
            </a:r>
            <a:r>
              <a:rPr lang="zh-CN" altLang="en-US" sz="3600" b="1" baseline="0" dirty="0">
                <a:latin typeface="黑体" panose="02010609060101010101" pitchFamily="49" charset="-122"/>
                <a:ea typeface="黑体" panose="02010609060101010101" pitchFamily="49" charset="-122"/>
              </a:rPr>
              <a:t>？</a:t>
            </a:r>
          </a:p>
        </p:txBody>
      </p:sp>
    </p:spTree>
    <p:extLst>
      <p:ext uri="{BB962C8B-B14F-4D97-AF65-F5344CB8AC3E}">
        <p14:creationId xmlns:p14="http://schemas.microsoft.com/office/powerpoint/2010/main" val="27423949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矩形 420871"/>
          <p:cNvSpPr>
            <a:spLocks noChangeArrowheads="1"/>
          </p:cNvSpPr>
          <p:nvPr/>
        </p:nvSpPr>
        <p:spPr bwMode="auto">
          <a:xfrm>
            <a:off x="533400" y="1136650"/>
            <a:ext cx="8229600"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3200" b="1" baseline="0" dirty="0">
                <a:latin typeface="Times New Roman" panose="02020603050405020304" pitchFamily="18" charset="0"/>
                <a:ea typeface="黑体" panose="02010609060101010101" pitchFamily="49" charset="-122"/>
                <a:cs typeface="Times New Roman" panose="02020603050405020304" pitchFamily="18" charset="0"/>
              </a:rPr>
              <a:t>能量除了数量（</a:t>
            </a:r>
            <a:r>
              <a:rPr lang="en-US" altLang="zh-CN" sz="3200" b="1" baseline="0" dirty="0">
                <a:latin typeface="Times New Roman" panose="02020603050405020304" pitchFamily="18" charset="0"/>
                <a:ea typeface="黑体" panose="02010609060101010101" pitchFamily="49" charset="-122"/>
                <a:cs typeface="Times New Roman" panose="02020603050405020304" pitchFamily="18" charset="0"/>
              </a:rPr>
              <a:t>quantity</a:t>
            </a:r>
            <a:r>
              <a:rPr lang="zh-CN" altLang="en-US" sz="3200" b="1" baseline="0" dirty="0">
                <a:latin typeface="Times New Roman" panose="02020603050405020304" pitchFamily="18" charset="0"/>
                <a:ea typeface="黑体" panose="02010609060101010101" pitchFamily="49" charset="-122"/>
                <a:cs typeface="Times New Roman" panose="02020603050405020304" pitchFamily="18" charset="0"/>
              </a:rPr>
              <a:t>）的多少，还有品位或品质（</a:t>
            </a:r>
            <a:r>
              <a:rPr lang="en-US" altLang="zh-CN" sz="3200" b="1" baseline="0" dirty="0">
                <a:latin typeface="Times New Roman" panose="02020603050405020304" pitchFamily="18" charset="0"/>
                <a:ea typeface="黑体" panose="02010609060101010101" pitchFamily="49" charset="-122"/>
                <a:cs typeface="Times New Roman" panose="02020603050405020304" pitchFamily="18" charset="0"/>
              </a:rPr>
              <a:t>quality</a:t>
            </a:r>
            <a:r>
              <a:rPr lang="zh-CN" altLang="en-US" sz="3200" b="1" baseline="0" dirty="0">
                <a:latin typeface="Times New Roman" panose="02020603050405020304" pitchFamily="18" charset="0"/>
                <a:ea typeface="黑体" panose="02010609060101010101" pitchFamily="49" charset="-122"/>
                <a:cs typeface="Times New Roman" panose="02020603050405020304" pitchFamily="18" charset="0"/>
              </a:rPr>
              <a:t>）的高低，衡量能量品位的物理量就是㶲，也称为可用能 </a:t>
            </a:r>
          </a:p>
        </p:txBody>
      </p:sp>
    </p:spTree>
    <p:extLst>
      <p:ext uri="{BB962C8B-B14F-4D97-AF65-F5344CB8AC3E}">
        <p14:creationId xmlns:p14="http://schemas.microsoft.com/office/powerpoint/2010/main" val="747234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矩形 535553"/>
          <p:cNvSpPr>
            <a:spLocks noChangeArrowheads="1"/>
          </p:cNvSpPr>
          <p:nvPr/>
        </p:nvSpPr>
        <p:spPr bwMode="auto">
          <a:xfrm>
            <a:off x="419100" y="229404"/>
            <a:ext cx="8305800"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3200" b="1" baseline="0" dirty="0">
                <a:latin typeface="黑体" panose="02010609060101010101" pitchFamily="49" charset="-122"/>
                <a:ea typeface="黑体" panose="02010609060101010101" pitchFamily="49" charset="-122"/>
              </a:rPr>
              <a:t>热</a:t>
            </a:r>
            <a:r>
              <a:rPr lang="zh-CN" altLang="en-US" sz="3200" b="1" baseline="0" dirty="0" smtClean="0">
                <a:latin typeface="黑体" panose="02010609060101010101" pitchFamily="49" charset="-122"/>
                <a:ea typeface="黑体" panose="02010609060101010101" pitchFamily="49" charset="-122"/>
              </a:rPr>
              <a:t>力系的</a:t>
            </a:r>
            <a:r>
              <a:rPr lang="zh-CN" altLang="en-US" sz="3200" b="1" baseline="0" dirty="0">
                <a:ea typeface="黑体" panose="02010609060101010101" pitchFamily="49" charset="-122"/>
              </a:rPr>
              <a:t>㶲</a:t>
            </a:r>
            <a:r>
              <a:rPr lang="zh-CN" altLang="en-US" sz="3200" b="1" baseline="0" dirty="0">
                <a:latin typeface="黑体" panose="02010609060101010101" pitchFamily="49" charset="-122"/>
                <a:ea typeface="黑体" panose="02010609060101010101" pitchFamily="49" charset="-122"/>
              </a:rPr>
              <a:t>（可用能</a:t>
            </a:r>
            <a:r>
              <a:rPr lang="zh-CN" altLang="en-US" sz="3200" b="1" baseline="0" dirty="0" smtClean="0">
                <a:latin typeface="黑体" panose="02010609060101010101" pitchFamily="49" charset="-122"/>
                <a:ea typeface="黑体" panose="02010609060101010101" pitchFamily="49" charset="-122"/>
              </a:rPr>
              <a:t>）的一般定义：热力系在与环境相互作用下</a:t>
            </a:r>
            <a:r>
              <a:rPr lang="zh-CN" altLang="en-US" sz="3200" b="1" baseline="0" dirty="0">
                <a:latin typeface="黑体" panose="02010609060101010101" pitchFamily="49" charset="-122"/>
                <a:ea typeface="黑体" panose="02010609060101010101" pitchFamily="49" charset="-122"/>
              </a:rPr>
              <a:t>，从初始状态到达与环境相平衡的状态，系统能够对外界作出的最大有用功。</a:t>
            </a:r>
          </a:p>
        </p:txBody>
      </p:sp>
      <p:sp>
        <p:nvSpPr>
          <p:cNvPr id="535555" name="矩形 535554"/>
          <p:cNvSpPr>
            <a:spLocks noChangeArrowheads="1"/>
          </p:cNvSpPr>
          <p:nvPr/>
        </p:nvSpPr>
        <p:spPr bwMode="auto">
          <a:xfrm>
            <a:off x="419100" y="2432333"/>
            <a:ext cx="8153400" cy="3662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baseline="0" dirty="0" smtClean="0">
                <a:latin typeface="黑体" panose="02010609060101010101" pitchFamily="49" charset="-122"/>
                <a:ea typeface="黑体" panose="02010609060101010101" pitchFamily="49" charset="-122"/>
              </a:rPr>
              <a:t>热力系能够对外界作功</a:t>
            </a:r>
            <a:r>
              <a:rPr lang="zh-CN" altLang="en-US" sz="3200" b="1" baseline="0" dirty="0">
                <a:latin typeface="黑体" panose="02010609060101010101" pitchFamily="49" charset="-122"/>
                <a:ea typeface="黑体" panose="02010609060101010101" pitchFamily="49" charset="-122"/>
              </a:rPr>
              <a:t>的大小取决于三个方面：系统的初态、末态和过程的具体路径</a:t>
            </a:r>
            <a:r>
              <a:rPr lang="zh-CN" altLang="en-US" sz="3200" b="1" baseline="0" dirty="0" smtClean="0">
                <a:latin typeface="黑体" panose="02010609060101010101" pitchFamily="49" charset="-122"/>
                <a:ea typeface="黑体" panose="02010609060101010101" pitchFamily="49" charset="-122"/>
              </a:rPr>
              <a:t>。</a:t>
            </a:r>
            <a:endParaRPr lang="en-US" altLang="zh-CN" sz="3200" b="1" baseline="0" dirty="0" smtClean="0">
              <a:latin typeface="黑体" panose="02010609060101010101" pitchFamily="49" charset="-122"/>
              <a:ea typeface="黑体" panose="02010609060101010101" pitchFamily="49" charset="-122"/>
            </a:endParaRPr>
          </a:p>
          <a:p>
            <a:endParaRPr lang="zh-CN" altLang="en-US" sz="2800" baseline="0" dirty="0">
              <a:latin typeface="黑体" panose="02010609060101010101" pitchFamily="49" charset="-122"/>
              <a:ea typeface="黑体" panose="02010609060101010101" pitchFamily="49" charset="-122"/>
            </a:endParaRPr>
          </a:p>
          <a:p>
            <a:pPr marL="457200" indent="-457200">
              <a:buFont typeface="Arial" panose="020B0604020202020204" pitchFamily="34" charset="0"/>
              <a:buChar char="•"/>
            </a:pPr>
            <a:r>
              <a:rPr lang="zh-CN" altLang="en-US" sz="2800" baseline="0" dirty="0">
                <a:latin typeface="黑体" panose="02010609060101010101" pitchFamily="49" charset="-122"/>
                <a:ea typeface="黑体" panose="02010609060101010101" pitchFamily="49" charset="-122"/>
              </a:rPr>
              <a:t>系统的</a:t>
            </a:r>
            <a:r>
              <a:rPr lang="zh-CN" altLang="en-US" sz="2800" baseline="0" dirty="0">
                <a:solidFill>
                  <a:srgbClr val="FF0000"/>
                </a:solidFill>
                <a:latin typeface="黑体" panose="02010609060101010101" pitchFamily="49" charset="-122"/>
                <a:ea typeface="黑体" panose="02010609060101010101" pitchFamily="49" charset="-122"/>
              </a:rPr>
              <a:t>初态可以任意指定</a:t>
            </a:r>
            <a:r>
              <a:rPr lang="zh-CN" altLang="en-US" sz="2800" baseline="0" dirty="0">
                <a:latin typeface="黑体" panose="02010609060101010101" pitchFamily="49" charset="-122"/>
                <a:ea typeface="黑体" panose="02010609060101010101" pitchFamily="49" charset="-122"/>
              </a:rPr>
              <a:t>；</a:t>
            </a:r>
          </a:p>
          <a:p>
            <a:pPr marL="457200" indent="-457200">
              <a:buFont typeface="Arial" panose="020B0604020202020204" pitchFamily="34" charset="0"/>
              <a:buChar char="•"/>
            </a:pPr>
            <a:r>
              <a:rPr lang="zh-CN" altLang="en-US" sz="2800" baseline="0" dirty="0">
                <a:latin typeface="黑体" panose="02010609060101010101" pitchFamily="49" charset="-122"/>
                <a:ea typeface="黑体" panose="02010609060101010101" pitchFamily="49" charset="-122"/>
              </a:rPr>
              <a:t>系统的</a:t>
            </a:r>
            <a:r>
              <a:rPr lang="zh-CN" altLang="en-US" sz="2800" baseline="0" dirty="0">
                <a:solidFill>
                  <a:srgbClr val="FF0000"/>
                </a:solidFill>
                <a:latin typeface="黑体" panose="02010609060101010101" pitchFamily="49" charset="-122"/>
                <a:ea typeface="黑体" panose="02010609060101010101" pitchFamily="49" charset="-122"/>
              </a:rPr>
              <a:t>末态是指与环境相平衡的状态</a:t>
            </a:r>
            <a:r>
              <a:rPr lang="zh-CN" altLang="en-US" sz="2800" baseline="0" dirty="0">
                <a:latin typeface="黑体" panose="02010609060101010101" pitchFamily="49" charset="-122"/>
                <a:ea typeface="黑体" panose="02010609060101010101" pitchFamily="49" charset="-122"/>
              </a:rPr>
              <a:t>（又称为</a:t>
            </a:r>
            <a:r>
              <a:rPr lang="en-US" altLang="zh-CN" sz="2800" baseline="0" dirty="0">
                <a:latin typeface="Times New Roman" panose="02020603050405020304" pitchFamily="18" charset="0"/>
                <a:ea typeface="黑体" panose="02010609060101010101" pitchFamily="49" charset="-122"/>
                <a:cs typeface="Times New Roman" panose="02020603050405020304" pitchFamily="18" charset="0"/>
              </a:rPr>
              <a:t>dead state</a:t>
            </a:r>
            <a:r>
              <a:rPr lang="zh-CN" altLang="en-US" sz="2800" baseline="0" dirty="0">
                <a:latin typeface="黑体" panose="02010609060101010101" pitchFamily="49" charset="-122"/>
                <a:ea typeface="黑体" panose="02010609060101010101" pitchFamily="49" charset="-122"/>
              </a:rPr>
              <a:t>，即无法再作功的状态）；</a:t>
            </a:r>
          </a:p>
          <a:p>
            <a:pPr marL="457200" indent="-457200">
              <a:buFont typeface="Arial" panose="020B0604020202020204" pitchFamily="34" charset="0"/>
              <a:buChar char="•"/>
            </a:pPr>
            <a:r>
              <a:rPr lang="zh-CN" altLang="en-US" sz="2800" baseline="0" dirty="0">
                <a:solidFill>
                  <a:srgbClr val="FF0000"/>
                </a:solidFill>
                <a:latin typeface="黑体" panose="02010609060101010101" pitchFamily="49" charset="-122"/>
                <a:ea typeface="黑体" panose="02010609060101010101" pitchFamily="49" charset="-122"/>
              </a:rPr>
              <a:t>具体路径则是指可逆过程</a:t>
            </a:r>
            <a:r>
              <a:rPr lang="zh-CN" altLang="en-US" sz="2800" baseline="0" dirty="0">
                <a:latin typeface="黑体" panose="02010609060101010101" pitchFamily="49" charset="-122"/>
                <a:ea typeface="黑体" panose="02010609060101010101" pitchFamily="49" charset="-122"/>
              </a:rPr>
              <a:t>，因为为了使系统作的有用功为最大值，系统必需经历可逆过程。</a:t>
            </a:r>
          </a:p>
        </p:txBody>
      </p:sp>
    </p:spTree>
    <p:custDataLst>
      <p:tags r:id="rId1"/>
    </p:custDataLst>
    <p:extLst>
      <p:ext uri="{BB962C8B-B14F-4D97-AF65-F5344CB8AC3E}">
        <p14:creationId xmlns:p14="http://schemas.microsoft.com/office/powerpoint/2010/main" val="5968770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35555">
                                            <p:txEl>
                                              <p:pRg st="0" end="0"/>
                                            </p:txEl>
                                          </p:spTgt>
                                        </p:tgtEl>
                                        <p:attrNameLst>
                                          <p:attrName>style.visibility</p:attrName>
                                        </p:attrNameLst>
                                      </p:cBhvr>
                                      <p:to>
                                        <p:strVal val="visible"/>
                                      </p:to>
                                    </p:set>
                                    <p:animEffect transition="in" filter="blinds(horizontal)">
                                      <p:cBhvr>
                                        <p:cTn id="7" dur="500"/>
                                        <p:tgtEl>
                                          <p:spTgt spid="5355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35555">
                                            <p:txEl>
                                              <p:pRg st="2" end="2"/>
                                            </p:txEl>
                                          </p:spTgt>
                                        </p:tgtEl>
                                        <p:attrNameLst>
                                          <p:attrName>style.visibility</p:attrName>
                                        </p:attrNameLst>
                                      </p:cBhvr>
                                      <p:to>
                                        <p:strVal val="visible"/>
                                      </p:to>
                                    </p:set>
                                    <p:animEffect transition="in" filter="blinds(horizontal)">
                                      <p:cBhvr>
                                        <p:cTn id="12" dur="500"/>
                                        <p:tgtEl>
                                          <p:spTgt spid="53555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535555">
                                            <p:txEl>
                                              <p:pRg st="3" end="3"/>
                                            </p:txEl>
                                          </p:spTgt>
                                        </p:tgtEl>
                                        <p:attrNameLst>
                                          <p:attrName>style.visibility</p:attrName>
                                        </p:attrNameLst>
                                      </p:cBhvr>
                                      <p:to>
                                        <p:strVal val="visible"/>
                                      </p:to>
                                    </p:set>
                                    <p:animEffect transition="in" filter="blinds(horizontal)">
                                      <p:cBhvr>
                                        <p:cTn id="17" dur="500"/>
                                        <p:tgtEl>
                                          <p:spTgt spid="535555">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535555">
                                            <p:txEl>
                                              <p:pRg st="4" end="4"/>
                                            </p:txEl>
                                          </p:spTgt>
                                        </p:tgtEl>
                                        <p:attrNameLst>
                                          <p:attrName>style.visibility</p:attrName>
                                        </p:attrNameLst>
                                      </p:cBhvr>
                                      <p:to>
                                        <p:strVal val="visible"/>
                                      </p:to>
                                    </p:set>
                                    <p:animEffect transition="in" filter="blinds(horizontal)">
                                      <p:cBhvr>
                                        <p:cTn id="22" dur="500"/>
                                        <p:tgtEl>
                                          <p:spTgt spid="53555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mod="1"/>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矩形 536577"/>
          <p:cNvSpPr>
            <a:spLocks noChangeArrowheads="1"/>
          </p:cNvSpPr>
          <p:nvPr/>
        </p:nvSpPr>
        <p:spPr bwMode="auto">
          <a:xfrm>
            <a:off x="685800" y="304800"/>
            <a:ext cx="77724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baseline="0" dirty="0">
                <a:latin typeface="黑体" panose="02010609060101010101" pitchFamily="49" charset="-122"/>
                <a:ea typeface="黑体" panose="02010609060101010101" pitchFamily="49" charset="-122"/>
              </a:rPr>
              <a:t>若说到系统具有多少</a:t>
            </a:r>
            <a:r>
              <a:rPr lang="zh-CN" altLang="en-US" sz="3200" b="1" baseline="0" dirty="0">
                <a:ea typeface="黑体" panose="02010609060101010101" pitchFamily="49" charset="-122"/>
              </a:rPr>
              <a:t>㶲</a:t>
            </a:r>
            <a:r>
              <a:rPr lang="zh-CN" altLang="en-US" sz="3200" b="1" baseline="0" dirty="0">
                <a:latin typeface="黑体" panose="02010609060101010101" pitchFamily="49" charset="-122"/>
                <a:ea typeface="黑体" panose="02010609060101010101" pitchFamily="49" charset="-122"/>
              </a:rPr>
              <a:t>（可用能），其数值必然是在</a:t>
            </a:r>
            <a:r>
              <a:rPr lang="zh-CN" altLang="en-US" sz="3200" b="1" baseline="0" dirty="0">
                <a:solidFill>
                  <a:srgbClr val="0000CC"/>
                </a:solidFill>
                <a:latin typeface="黑体" panose="02010609060101010101" pitchFamily="49" charset="-122"/>
                <a:ea typeface="黑体" panose="02010609060101010101" pitchFamily="49" charset="-122"/>
              </a:rPr>
              <a:t>可逆条件</a:t>
            </a:r>
            <a:r>
              <a:rPr lang="zh-CN" altLang="en-US" sz="3200" b="1" baseline="0" dirty="0">
                <a:latin typeface="黑体" panose="02010609060101010101" pitchFamily="49" charset="-122"/>
                <a:ea typeface="黑体" panose="02010609060101010101" pitchFamily="49" charset="-122"/>
              </a:rPr>
              <a:t>下得到的。</a:t>
            </a:r>
          </a:p>
        </p:txBody>
      </p:sp>
      <p:sp>
        <p:nvSpPr>
          <p:cNvPr id="17410" name="矩形 536578"/>
          <p:cNvSpPr>
            <a:spLocks noChangeArrowheads="1"/>
          </p:cNvSpPr>
          <p:nvPr/>
        </p:nvSpPr>
        <p:spPr bwMode="auto">
          <a:xfrm>
            <a:off x="685800" y="1600200"/>
            <a:ext cx="7772400"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baseline="0" dirty="0">
                <a:latin typeface="黑体" panose="02010609060101010101" pitchFamily="49" charset="-122"/>
                <a:ea typeface="黑体" panose="02010609060101010101" pitchFamily="49" charset="-122"/>
              </a:rPr>
              <a:t>系统的</a:t>
            </a:r>
            <a:r>
              <a:rPr lang="zh-CN" altLang="en-US" sz="3200" b="1" baseline="0" dirty="0">
                <a:ea typeface="黑体" panose="02010609060101010101" pitchFamily="49" charset="-122"/>
              </a:rPr>
              <a:t>㶲</a:t>
            </a:r>
            <a:r>
              <a:rPr lang="zh-CN" altLang="en-US" sz="3200" b="1" baseline="0" dirty="0">
                <a:latin typeface="黑体" panose="02010609060101010101" pitchFamily="49" charset="-122"/>
                <a:ea typeface="黑体" panose="02010609060101010101" pitchFamily="49" charset="-122"/>
              </a:rPr>
              <a:t>并不是系统实际输出了多少有用功，而是系统</a:t>
            </a:r>
            <a:r>
              <a:rPr lang="zh-CN" altLang="en-US" sz="3200" b="1" baseline="0" dirty="0">
                <a:solidFill>
                  <a:srgbClr val="0000CC"/>
                </a:solidFill>
                <a:latin typeface="黑体" panose="02010609060101010101" pitchFamily="49" charset="-122"/>
                <a:ea typeface="黑体" panose="02010609060101010101" pitchFamily="49" charset="-122"/>
              </a:rPr>
              <a:t>在不违反任何热力学定律的情况下能够</a:t>
            </a:r>
            <a:r>
              <a:rPr lang="zh-CN" altLang="en-US" sz="3200" b="1" baseline="0" dirty="0" smtClean="0">
                <a:solidFill>
                  <a:srgbClr val="0000CC"/>
                </a:solidFill>
                <a:latin typeface="黑体" panose="02010609060101010101" pitchFamily="49" charset="-122"/>
                <a:ea typeface="黑体" panose="02010609060101010101" pitchFamily="49" charset="-122"/>
              </a:rPr>
              <a:t>输出有用功</a:t>
            </a:r>
            <a:r>
              <a:rPr lang="zh-CN" altLang="en-US" sz="3200" b="1" baseline="0" dirty="0">
                <a:solidFill>
                  <a:srgbClr val="0000CC"/>
                </a:solidFill>
                <a:latin typeface="黑体" panose="02010609060101010101" pitchFamily="49" charset="-122"/>
                <a:ea typeface="黑体" panose="02010609060101010101" pitchFamily="49" charset="-122"/>
              </a:rPr>
              <a:t>的上限</a:t>
            </a:r>
            <a:r>
              <a:rPr lang="zh-CN" altLang="en-US" sz="3200" b="1" baseline="0" dirty="0">
                <a:latin typeface="黑体" panose="02010609060101010101" pitchFamily="49" charset="-122"/>
                <a:ea typeface="黑体" panose="02010609060101010101" pitchFamily="49" charset="-122"/>
              </a:rPr>
              <a:t>。</a:t>
            </a:r>
            <a:r>
              <a:rPr lang="zh-CN" altLang="en-US" sz="2600" b="1" baseline="0" dirty="0">
                <a:latin typeface="黑体" panose="02010609060101010101" pitchFamily="49" charset="-122"/>
                <a:ea typeface="黑体" panose="02010609060101010101" pitchFamily="49" charset="-122"/>
              </a:rPr>
              <a:t> </a:t>
            </a:r>
          </a:p>
        </p:txBody>
      </p:sp>
      <p:sp>
        <p:nvSpPr>
          <p:cNvPr id="536580" name="矩形 536579"/>
          <p:cNvSpPr>
            <a:spLocks noChangeArrowheads="1"/>
          </p:cNvSpPr>
          <p:nvPr/>
        </p:nvSpPr>
        <p:spPr bwMode="auto">
          <a:xfrm>
            <a:off x="3429000" y="4419600"/>
            <a:ext cx="4876800" cy="167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600" baseline="0" dirty="0">
                <a:latin typeface="黑体" panose="02010609060101010101" pitchFamily="49" charset="-122"/>
                <a:ea typeface="黑体" panose="02010609060101010101" pitchFamily="49" charset="-122"/>
              </a:rPr>
              <a:t>年轻母亲在救孩子的危急关头，母爱的本能激发了她体内蕴藏着的</a:t>
            </a:r>
            <a:r>
              <a:rPr lang="zh-CN" altLang="en-US" sz="2600" baseline="0" dirty="0">
                <a:solidFill>
                  <a:srgbClr val="FF0000"/>
                </a:solidFill>
                <a:latin typeface="黑体" panose="02010609060101010101" pitchFamily="49" charset="-122"/>
                <a:ea typeface="黑体" panose="02010609060101010101" pitchFamily="49" charset="-122"/>
              </a:rPr>
              <a:t>巨大潜能</a:t>
            </a:r>
            <a:r>
              <a:rPr lang="zh-CN" altLang="en-US" sz="2600" baseline="0" dirty="0">
                <a:latin typeface="黑体" panose="02010609060101010101" pitchFamily="49" charset="-122"/>
                <a:ea typeface="黑体" panose="02010609060101010101" pitchFamily="49" charset="-122"/>
              </a:rPr>
              <a:t>，使她的奔跑速度远远超过了短跑冠军。 </a:t>
            </a:r>
          </a:p>
        </p:txBody>
      </p:sp>
      <p:pic>
        <p:nvPicPr>
          <p:cNvPr id="536581" name="图片 536580" descr="88160651067619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4191000"/>
            <a:ext cx="2590800" cy="221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3" name="矩形 536581"/>
          <p:cNvSpPr>
            <a:spLocks noChangeArrowheads="1"/>
          </p:cNvSpPr>
          <p:nvPr/>
        </p:nvSpPr>
        <p:spPr bwMode="auto">
          <a:xfrm>
            <a:off x="1828800" y="3252788"/>
            <a:ext cx="521969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baseline="0" dirty="0">
                <a:latin typeface="黑体" panose="02010609060101010101" pitchFamily="49" charset="-122"/>
                <a:ea typeface="黑体" panose="02010609060101010101" pitchFamily="49" charset="-122"/>
              </a:rPr>
              <a:t>作功潜力（</a:t>
            </a:r>
            <a:r>
              <a:rPr lang="en-US" altLang="zh-CN" sz="3200" b="1" baseline="0" dirty="0">
                <a:latin typeface="Times New Roman" panose="02020603050405020304" pitchFamily="18" charset="0"/>
                <a:ea typeface="黑体" panose="02010609060101010101" pitchFamily="49" charset="-122"/>
                <a:cs typeface="Times New Roman" panose="02020603050405020304" pitchFamily="18" charset="0"/>
              </a:rPr>
              <a:t>work potential</a:t>
            </a:r>
            <a:r>
              <a:rPr lang="zh-CN" altLang="en-US" sz="3200" b="1" baseline="0" dirty="0">
                <a:latin typeface="黑体" panose="02010609060101010101" pitchFamily="49" charset="-122"/>
                <a:ea typeface="黑体" panose="02010609060101010101" pitchFamily="49" charset="-122"/>
              </a:rPr>
              <a:t>）</a:t>
            </a:r>
          </a:p>
        </p:txBody>
      </p:sp>
    </p:spTree>
    <p:custDataLst>
      <p:tags r:id="rId1"/>
    </p:custDataLst>
    <p:extLst>
      <p:ext uri="{BB962C8B-B14F-4D97-AF65-F5344CB8AC3E}">
        <p14:creationId xmlns:p14="http://schemas.microsoft.com/office/powerpoint/2010/main" val="42909452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36580"/>
                                        </p:tgtEl>
                                        <p:attrNameLst>
                                          <p:attrName>style.visibility</p:attrName>
                                        </p:attrNameLst>
                                      </p:cBhvr>
                                      <p:to>
                                        <p:strVal val="visible"/>
                                      </p:to>
                                    </p:set>
                                    <p:animEffect transition="in" filter="blinds(horizontal)">
                                      <p:cBhvr>
                                        <p:cTn id="7" dur="500"/>
                                        <p:tgtEl>
                                          <p:spTgt spid="536580"/>
                                        </p:tgtEl>
                                      </p:cBhvr>
                                    </p:animEffect>
                                  </p:childTnLst>
                                </p:cTn>
                              </p:par>
                              <p:par>
                                <p:cTn id="8" presetID="3" presetClass="entr" presetSubtype="10" fill="hold" nodeType="withEffect">
                                  <p:stCondLst>
                                    <p:cond delay="0"/>
                                  </p:stCondLst>
                                  <p:childTnLst>
                                    <p:set>
                                      <p:cBhvr>
                                        <p:cTn id="9" dur="1" fill="hold">
                                          <p:stCondLst>
                                            <p:cond delay="0"/>
                                          </p:stCondLst>
                                        </p:cTn>
                                        <p:tgtEl>
                                          <p:spTgt spid="536581"/>
                                        </p:tgtEl>
                                        <p:attrNameLst>
                                          <p:attrName>style.visibility</p:attrName>
                                        </p:attrNameLst>
                                      </p:cBhvr>
                                      <p:to>
                                        <p:strVal val="visible"/>
                                      </p:to>
                                    </p:set>
                                    <p:animEffect transition="in" filter="blinds(horizontal)">
                                      <p:cBhvr>
                                        <p:cTn id="10" dur="500"/>
                                        <p:tgtEl>
                                          <p:spTgt spid="5365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6580" grpId="0"/>
    </p:bldLst>
  </p:timing>
  <p:extLst mod="1"/>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矩形 503811"/>
          <p:cNvSpPr>
            <a:spLocks noChangeArrowheads="1"/>
          </p:cNvSpPr>
          <p:nvPr/>
        </p:nvSpPr>
        <p:spPr bwMode="auto">
          <a:xfrm>
            <a:off x="533400" y="1196975"/>
            <a:ext cx="8077200"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3200" b="1" baseline="0" dirty="0">
                <a:latin typeface="黑体" panose="02010609060101010101" pitchFamily="49" charset="-122"/>
                <a:ea typeface="黑体" panose="02010609060101010101" pitchFamily="49" charset="-122"/>
              </a:rPr>
              <a:t>系统的㶲的大小不仅与系统所处的状态有关，还取决于环境状态，因此，系统的㶲可称为复合系（</a:t>
            </a:r>
            <a:r>
              <a:rPr lang="zh-CN" altLang="en-US" sz="3200" b="1" baseline="0" dirty="0" smtClean="0">
                <a:latin typeface="黑体" panose="02010609060101010101" pitchFamily="49" charset="-122"/>
                <a:ea typeface="黑体" panose="02010609060101010101" pitchFamily="49" charset="-122"/>
              </a:rPr>
              <a:t>系统</a:t>
            </a:r>
            <a:r>
              <a:rPr lang="en-US" altLang="zh-CN" sz="3200" b="1" baseline="0" dirty="0" smtClean="0">
                <a:latin typeface="黑体" panose="02010609060101010101" pitchFamily="49" charset="-122"/>
                <a:ea typeface="黑体" panose="02010609060101010101" pitchFamily="49" charset="-122"/>
              </a:rPr>
              <a:t>+</a:t>
            </a:r>
            <a:r>
              <a:rPr lang="zh-CN" altLang="en-US" sz="3200" b="1" baseline="0" dirty="0" smtClean="0">
                <a:latin typeface="黑体" panose="02010609060101010101" pitchFamily="49" charset="-122"/>
                <a:ea typeface="黑体" panose="02010609060101010101" pitchFamily="49" charset="-122"/>
              </a:rPr>
              <a:t>环境</a:t>
            </a:r>
            <a:r>
              <a:rPr lang="zh-CN" altLang="en-US" sz="3200" b="1" baseline="0" dirty="0">
                <a:latin typeface="黑体" panose="02010609060101010101" pitchFamily="49" charset="-122"/>
                <a:ea typeface="黑体" panose="02010609060101010101" pitchFamily="49" charset="-122"/>
              </a:rPr>
              <a:t>）的</a:t>
            </a:r>
            <a:r>
              <a:rPr lang="zh-CN" altLang="en-US" sz="3200" b="1" baseline="0" dirty="0" smtClean="0">
                <a:latin typeface="黑体" panose="02010609060101010101" pitchFamily="49" charset="-122"/>
                <a:ea typeface="黑体" panose="02010609060101010101" pitchFamily="49" charset="-122"/>
              </a:rPr>
              <a:t>状态参数。</a:t>
            </a:r>
            <a:endParaRPr lang="zh-CN" altLang="en-US" sz="3200" b="1" baseline="0" dirty="0">
              <a:latin typeface="黑体" panose="02010609060101010101" pitchFamily="49" charset="-122"/>
              <a:ea typeface="黑体" panose="02010609060101010101" pitchFamily="49" charset="-122"/>
            </a:endParaRPr>
          </a:p>
        </p:txBody>
      </p:sp>
      <p:sp>
        <p:nvSpPr>
          <p:cNvPr id="19458" name="标题 503814"/>
          <p:cNvSpPr>
            <a:spLocks noGrp="1" noChangeArrowheads="1"/>
          </p:cNvSpPr>
          <p:nvPr>
            <p:ph type="title"/>
          </p:nvPr>
        </p:nvSpPr>
        <p:spPr>
          <a:xfrm>
            <a:off x="685800" y="274638"/>
            <a:ext cx="8229600" cy="1143000"/>
          </a:xfrm>
        </p:spPr>
        <p:txBody>
          <a:bodyPr/>
          <a:lstStyle/>
          <a:p>
            <a:pPr algn="l"/>
            <a:r>
              <a:rPr lang="zh-CN" altLang="en-US" sz="3600" b="1" dirty="0" smtClean="0">
                <a:solidFill>
                  <a:schemeClr val="tx1"/>
                </a:solidFill>
                <a:latin typeface="黑体" panose="02010609060101010101" pitchFamily="49" charset="-122"/>
                <a:ea typeface="黑体" panose="02010609060101010101" pitchFamily="49" charset="-122"/>
              </a:rPr>
              <a:t>复合系的状态参数</a:t>
            </a:r>
            <a:r>
              <a:rPr lang="zh-CN" altLang="en-US" sz="3200" dirty="0" smtClean="0">
                <a:solidFill>
                  <a:schemeClr val="tx1"/>
                </a:solidFill>
                <a:latin typeface="黑体" panose="02010609060101010101" pitchFamily="49" charset="-122"/>
                <a:ea typeface="黑体" panose="02010609060101010101" pitchFamily="49" charset="-122"/>
              </a:rPr>
              <a:t> </a:t>
            </a:r>
          </a:p>
        </p:txBody>
      </p:sp>
      <p:sp>
        <p:nvSpPr>
          <p:cNvPr id="503816" name="矩形 503815"/>
          <p:cNvSpPr>
            <a:spLocks noChangeArrowheads="1"/>
          </p:cNvSpPr>
          <p:nvPr/>
        </p:nvSpPr>
        <p:spPr bwMode="auto">
          <a:xfrm>
            <a:off x="457200" y="3198813"/>
            <a:ext cx="8077200"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3200" b="1" baseline="0" dirty="0">
                <a:ea typeface="黑体" panose="02010609060101010101" pitchFamily="49" charset="-122"/>
              </a:rPr>
              <a:t>为了增加系统的㶲，可以有两种方式：</a:t>
            </a:r>
          </a:p>
        </p:txBody>
      </p:sp>
      <p:sp>
        <p:nvSpPr>
          <p:cNvPr id="503818" name="矩形 503817"/>
          <p:cNvSpPr>
            <a:spLocks noChangeArrowheads="1"/>
          </p:cNvSpPr>
          <p:nvPr/>
        </p:nvSpPr>
        <p:spPr bwMode="auto">
          <a:xfrm>
            <a:off x="457200" y="3839818"/>
            <a:ext cx="81534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baseline="0" dirty="0">
                <a:ea typeface="黑体" panose="02010609060101010101" pitchFamily="49" charset="-122"/>
              </a:rPr>
              <a:t>改变</a:t>
            </a:r>
            <a:r>
              <a:rPr lang="zh-CN" altLang="en-US" sz="3200" b="1" baseline="0" dirty="0">
                <a:solidFill>
                  <a:srgbClr val="FF0000"/>
                </a:solidFill>
                <a:ea typeface="黑体" panose="02010609060101010101" pitchFamily="49" charset="-122"/>
              </a:rPr>
              <a:t>系统状态</a:t>
            </a:r>
            <a:r>
              <a:rPr lang="zh-CN" altLang="en-US" sz="3200" b="1" baseline="0" dirty="0">
                <a:ea typeface="黑体" panose="02010609060101010101" pitchFamily="49" charset="-122"/>
              </a:rPr>
              <a:t>或改变</a:t>
            </a:r>
            <a:r>
              <a:rPr lang="zh-CN" altLang="en-US" sz="3200" b="1" baseline="0" dirty="0">
                <a:solidFill>
                  <a:srgbClr val="FF0000"/>
                </a:solidFill>
                <a:ea typeface="黑体" panose="02010609060101010101" pitchFamily="49" charset="-122"/>
              </a:rPr>
              <a:t>环境状态</a:t>
            </a:r>
            <a:r>
              <a:rPr lang="zh-CN" altLang="en-US" sz="3200" b="1" baseline="0" dirty="0">
                <a:ea typeface="黑体" panose="02010609060101010101" pitchFamily="49" charset="-122"/>
              </a:rPr>
              <a:t>。但一般来说，环境的状态相对固定，不太容易改变。</a:t>
            </a:r>
          </a:p>
        </p:txBody>
      </p:sp>
    </p:spTree>
    <p:custDataLst>
      <p:tags r:id="rId1"/>
    </p:custDataLst>
    <p:extLst>
      <p:ext uri="{BB962C8B-B14F-4D97-AF65-F5344CB8AC3E}">
        <p14:creationId xmlns:p14="http://schemas.microsoft.com/office/powerpoint/2010/main" val="18559854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03816">
                                            <p:txEl>
                                              <p:pRg st="0" end="0"/>
                                            </p:txEl>
                                          </p:spTgt>
                                        </p:tgtEl>
                                        <p:attrNameLst>
                                          <p:attrName>style.visibility</p:attrName>
                                        </p:attrNameLst>
                                      </p:cBhvr>
                                      <p:to>
                                        <p:strVal val="visible"/>
                                      </p:to>
                                    </p:set>
                                    <p:animEffect transition="in" filter="blinds(horizontal)">
                                      <p:cBhvr>
                                        <p:cTn id="7" dur="500"/>
                                        <p:tgtEl>
                                          <p:spTgt spid="50381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03818"/>
                                        </p:tgtEl>
                                        <p:attrNameLst>
                                          <p:attrName>style.visibility</p:attrName>
                                        </p:attrNameLst>
                                      </p:cBhvr>
                                      <p:to>
                                        <p:strVal val="visible"/>
                                      </p:to>
                                    </p:set>
                                    <p:animEffect transition="in" filter="blinds(horizontal)">
                                      <p:cBhvr>
                                        <p:cTn id="12" dur="500"/>
                                        <p:tgtEl>
                                          <p:spTgt spid="5038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3818" grpId="0"/>
    </p:bldLst>
  </p:timing>
  <p:extLst mod="1"/>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矩形 502787"/>
          <p:cNvSpPr>
            <a:spLocks noChangeArrowheads="1"/>
          </p:cNvSpPr>
          <p:nvPr/>
        </p:nvSpPr>
        <p:spPr bwMode="auto">
          <a:xfrm>
            <a:off x="2295940" y="537358"/>
            <a:ext cx="449353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3200" b="1" baseline="0" dirty="0" smtClean="0">
                <a:latin typeface="黑体" panose="02010609060101010101" pitchFamily="49" charset="-122"/>
                <a:ea typeface="黑体" panose="02010609060101010101" pitchFamily="49" charset="-122"/>
              </a:rPr>
              <a:t>环境大气</a:t>
            </a:r>
            <a:r>
              <a:rPr lang="zh-CN" altLang="en-US" sz="3200" b="1" baseline="0" dirty="0">
                <a:latin typeface="黑体" panose="02010609060101010101" pitchFamily="49" charset="-122"/>
                <a:ea typeface="黑体" panose="02010609060101010101" pitchFamily="49" charset="-122"/>
              </a:rPr>
              <a:t>的㶲是多少？ </a:t>
            </a:r>
          </a:p>
        </p:txBody>
      </p:sp>
      <p:sp>
        <p:nvSpPr>
          <p:cNvPr id="8" name="矩形 7"/>
          <p:cNvSpPr/>
          <p:nvPr/>
        </p:nvSpPr>
        <p:spPr>
          <a:xfrm>
            <a:off x="4000500" y="3009900"/>
            <a:ext cx="4800600" cy="2227263"/>
          </a:xfrm>
          <a:prstGeom prst="rect">
            <a:avLst/>
          </a:prstGeom>
          <a:noFill/>
          <a:ln w="9525">
            <a:noFill/>
          </a:ln>
        </p:spPr>
        <p:txBody>
          <a:bodyPr anchor="ctr">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1"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1"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1"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1"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1" i="0" u="none" kern="1200" baseline="-25000">
                <a:solidFill>
                  <a:schemeClr val="tx1"/>
                </a:solidFill>
                <a:latin typeface="Arial" panose="020B0604020202020204" pitchFamily="34" charset="0"/>
                <a:ea typeface="宋体" panose="02010600030101010101" pitchFamily="2" charset="-122"/>
                <a:cs typeface="+mn-cs"/>
              </a:defRPr>
            </a:lvl9pPr>
          </a:lstStyle>
          <a:p>
            <a:r>
              <a:rPr lang="zh-CN" altLang="en-US" sz="2800" b="1" baseline="0" dirty="0">
                <a:latin typeface="黑体" panose="02010609060101010101" pitchFamily="49" charset="-122"/>
                <a:ea typeface="黑体" panose="02010609060101010101" pitchFamily="49" charset="-122"/>
              </a:rPr>
              <a:t>我们周围的大气环境虽然包含着巨量的能量，但是，由于大气的温度为</a:t>
            </a:r>
            <a:r>
              <a:rPr lang="en-US" altLang="zh-CN" sz="2800" b="1" i="1" baseline="0" dirty="0">
                <a:latin typeface="Times New Roman" panose="02020603050405020304" pitchFamily="18" charset="0"/>
                <a:ea typeface="黑体" panose="02010609060101010101" pitchFamily="49" charset="-122"/>
                <a:cs typeface="Times New Roman" panose="02020603050405020304" pitchFamily="18" charset="0"/>
              </a:rPr>
              <a:t>T</a:t>
            </a:r>
            <a:r>
              <a:rPr lang="en-US" altLang="zh-CN" sz="2800" b="1" baseline="-25000" dirty="0">
                <a:latin typeface="Times New Roman" panose="02020603050405020304" pitchFamily="18" charset="0"/>
                <a:ea typeface="黑体" panose="02010609060101010101" pitchFamily="49" charset="-122"/>
                <a:cs typeface="Times New Roman" panose="02020603050405020304" pitchFamily="18" charset="0"/>
              </a:rPr>
              <a:t>0</a:t>
            </a:r>
            <a:r>
              <a:rPr lang="en-US" altLang="zh-CN" sz="2800" b="1" baseline="0" dirty="0">
                <a:latin typeface="黑体" panose="02010609060101010101" pitchFamily="49" charset="-122"/>
                <a:ea typeface="黑体" panose="02010609060101010101" pitchFamily="49" charset="-122"/>
              </a:rPr>
              <a:t> </a:t>
            </a:r>
            <a:r>
              <a:rPr lang="zh-CN" altLang="en-US" sz="2800" b="1" baseline="0" dirty="0">
                <a:latin typeface="黑体" panose="02010609060101010101" pitchFamily="49" charset="-122"/>
                <a:ea typeface="黑体" panose="02010609060101010101" pitchFamily="49" charset="-122"/>
              </a:rPr>
              <a:t>，压力</a:t>
            </a:r>
            <a:r>
              <a:rPr lang="zh-CN" altLang="en-US" sz="2800" b="1" baseline="0" dirty="0" smtClean="0">
                <a:latin typeface="黑体" panose="02010609060101010101" pitchFamily="49" charset="-122"/>
                <a:ea typeface="黑体" panose="02010609060101010101" pitchFamily="49" charset="-122"/>
              </a:rPr>
              <a:t>为</a:t>
            </a:r>
            <a:r>
              <a:rPr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T</a:t>
            </a:r>
            <a:r>
              <a:rPr lang="en-US" altLang="zh-CN" sz="2800" b="1" baseline="-25000" dirty="0" smtClean="0">
                <a:latin typeface="Times New Roman" panose="02020603050405020304" pitchFamily="18" charset="0"/>
                <a:ea typeface="黑体" panose="02010609060101010101" pitchFamily="49" charset="-122"/>
                <a:cs typeface="Times New Roman" panose="02020603050405020304" pitchFamily="18" charset="0"/>
              </a:rPr>
              <a:t>0 </a:t>
            </a:r>
            <a:r>
              <a:rPr lang="zh-CN" altLang="en-US" sz="2800" b="1" baseline="0" dirty="0" smtClean="0">
                <a:latin typeface="黑体" panose="02010609060101010101" pitchFamily="49" charset="-122"/>
                <a:ea typeface="黑体" panose="02010609060101010101" pitchFamily="49" charset="-122"/>
              </a:rPr>
              <a:t>，</a:t>
            </a:r>
            <a:r>
              <a:rPr lang="zh-CN" altLang="en-US" sz="2800" b="1" baseline="0" dirty="0">
                <a:latin typeface="黑体" panose="02010609060101010101" pitchFamily="49" charset="-122"/>
                <a:ea typeface="黑体" panose="02010609060101010101" pitchFamily="49" charset="-122"/>
              </a:rPr>
              <a:t>大气的㶲为</a:t>
            </a:r>
            <a:r>
              <a:rPr lang="en-US" altLang="zh-CN" sz="2800" b="1" baseline="0" dirty="0">
                <a:latin typeface="Times New Roman" panose="02020603050405020304" pitchFamily="18" charset="0"/>
                <a:ea typeface="黑体" panose="02010609060101010101" pitchFamily="49" charset="-122"/>
                <a:cs typeface="Times New Roman" panose="02020603050405020304" pitchFamily="18" charset="0"/>
              </a:rPr>
              <a:t>0</a:t>
            </a:r>
            <a:r>
              <a:rPr lang="zh-CN" altLang="en-US" sz="2800" b="1" baseline="0" dirty="0">
                <a:latin typeface="黑体" panose="02010609060101010101" pitchFamily="49" charset="-122"/>
                <a:ea typeface="黑体" panose="02010609060101010101" pitchFamily="49" charset="-122"/>
              </a:rPr>
              <a:t>，也就是说，</a:t>
            </a:r>
            <a:r>
              <a:rPr lang="zh-CN" altLang="en-US" sz="2800" b="1" baseline="0" dirty="0">
                <a:solidFill>
                  <a:srgbClr val="FF0000"/>
                </a:solidFill>
                <a:latin typeface="黑体" panose="02010609060101010101" pitchFamily="49" charset="-122"/>
                <a:ea typeface="黑体" panose="02010609060101010101" pitchFamily="49" charset="-122"/>
              </a:rPr>
              <a:t>大气不具有作功潜力</a:t>
            </a:r>
            <a:r>
              <a:rPr lang="zh-CN" altLang="en-US" sz="2800" b="1" baseline="0" dirty="0">
                <a:latin typeface="黑体" panose="02010609060101010101" pitchFamily="49" charset="-122"/>
                <a:ea typeface="黑体" panose="02010609060101010101" pitchFamily="49" charset="-122"/>
              </a:rPr>
              <a:t>。</a:t>
            </a:r>
          </a:p>
        </p:txBody>
      </p:sp>
      <p:sp>
        <p:nvSpPr>
          <p:cNvPr id="9" name="矩形 8"/>
          <p:cNvSpPr/>
          <p:nvPr/>
        </p:nvSpPr>
        <p:spPr>
          <a:xfrm>
            <a:off x="368300" y="1440542"/>
            <a:ext cx="8153400" cy="946150"/>
          </a:xfrm>
          <a:prstGeom prst="rect">
            <a:avLst/>
          </a:prstGeom>
          <a:noFill/>
          <a:ln w="9525">
            <a:noFill/>
          </a:ln>
        </p:spPr>
        <p:txBody>
          <a:bodyPr anchor="ctr">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1"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1"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1"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1"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1" i="0" u="none" kern="1200" baseline="-25000">
                <a:solidFill>
                  <a:schemeClr val="tx1"/>
                </a:solidFill>
                <a:latin typeface="Arial" panose="020B0604020202020204" pitchFamily="34" charset="0"/>
                <a:ea typeface="宋体" panose="02010600030101010101" pitchFamily="2" charset="-122"/>
                <a:cs typeface="+mn-cs"/>
              </a:defRPr>
            </a:lvl9pPr>
          </a:lstStyle>
          <a:p>
            <a:r>
              <a:rPr lang="zh-CN" altLang="en-US" sz="2800" b="1" baseline="0" dirty="0">
                <a:latin typeface="黑体" panose="02010609060101010101" pitchFamily="49" charset="-122"/>
                <a:ea typeface="黑体" panose="02010609060101010101" pitchFamily="49" charset="-122"/>
              </a:rPr>
              <a:t>若系统的初始状态即为与环境相平衡的状态，则系统的㶲是</a:t>
            </a:r>
            <a:r>
              <a:rPr lang="en-US" altLang="zh-CN" sz="2800" b="1" baseline="0" dirty="0">
                <a:latin typeface="黑体" panose="02010609060101010101" pitchFamily="49" charset="-122"/>
                <a:ea typeface="黑体" panose="02010609060101010101" pitchFamily="49" charset="-122"/>
              </a:rPr>
              <a:t>0</a:t>
            </a:r>
          </a:p>
        </p:txBody>
      </p:sp>
      <p:pic>
        <p:nvPicPr>
          <p:cNvPr id="10" name="图片 9" descr="75d596793f922a08e87b7852dd038387"/>
          <p:cNvPicPr>
            <a:picLocks noChangeAspect="1"/>
          </p:cNvPicPr>
          <p:nvPr/>
        </p:nvPicPr>
        <p:blipFill>
          <a:blip r:embed="rId3"/>
          <a:stretch>
            <a:fillRect/>
          </a:stretch>
        </p:blipFill>
        <p:spPr>
          <a:xfrm>
            <a:off x="647700" y="2857500"/>
            <a:ext cx="2971800" cy="2971800"/>
          </a:xfrm>
          <a:prstGeom prst="rect">
            <a:avLst/>
          </a:prstGeom>
          <a:noFill/>
          <a:ln w="9525">
            <a:noFill/>
          </a:ln>
        </p:spPr>
      </p:pic>
    </p:spTree>
    <p:custDataLst>
      <p:tags r:id="rId1"/>
    </p:custDataLst>
    <p:extLst>
      <p:ext uri="{BB962C8B-B14F-4D97-AF65-F5344CB8AC3E}">
        <p14:creationId xmlns:p14="http://schemas.microsoft.com/office/powerpoint/2010/main" val="17686253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46652" y="1887131"/>
            <a:ext cx="8077200" cy="2554545"/>
          </a:xfrm>
          <a:prstGeom prst="rect">
            <a:avLst/>
          </a:prstGeom>
          <a:noFill/>
          <a:ln w="9525">
            <a:noFill/>
          </a:ln>
        </p:spPr>
        <p:txBody>
          <a:bodyPr anchor="ctr">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1"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1"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1"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1"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1" i="0" u="none" kern="1200" baseline="-25000">
                <a:solidFill>
                  <a:schemeClr val="tx1"/>
                </a:solidFill>
                <a:latin typeface="Arial" panose="020B0604020202020204" pitchFamily="34" charset="0"/>
                <a:ea typeface="宋体" panose="02010600030101010101" pitchFamily="2" charset="-122"/>
                <a:cs typeface="+mn-cs"/>
              </a:defRPr>
            </a:lvl9pPr>
          </a:lstStyle>
          <a:p>
            <a:r>
              <a:rPr lang="zh-CN" altLang="en-US" sz="3200" b="1" baseline="0" dirty="0">
                <a:latin typeface="Arial" panose="020B0604020202020204" pitchFamily="34" charset="0"/>
                <a:ea typeface="黑体" panose="02010609060101010101" pitchFamily="49" charset="-122"/>
              </a:rPr>
              <a:t>系统</a:t>
            </a:r>
            <a:r>
              <a:rPr lang="zh-CN" altLang="en-US" sz="3200" b="1" baseline="0" dirty="0" smtClean="0">
                <a:latin typeface="Arial" panose="020B0604020202020204" pitchFamily="34" charset="0"/>
                <a:ea typeface="黑体" panose="02010609060101010101" pitchFamily="49" charset="-122"/>
              </a:rPr>
              <a:t>的宏观动能和重力势能</a:t>
            </a:r>
            <a:r>
              <a:rPr lang="zh-CN" altLang="en-US" sz="3200" b="1" baseline="0" dirty="0">
                <a:latin typeface="Arial" panose="020B0604020202020204" pitchFamily="34" charset="0"/>
                <a:ea typeface="黑体" panose="02010609060101010101" pitchFamily="49" charset="-122"/>
              </a:rPr>
              <a:t>均属于机械能，可全部转化为有用功。因此，</a:t>
            </a:r>
            <a:r>
              <a:rPr lang="zh-CN" altLang="en-US" sz="3200" b="1" baseline="0" dirty="0">
                <a:solidFill>
                  <a:srgbClr val="FF0000"/>
                </a:solidFill>
                <a:latin typeface="Arial" panose="020B0604020202020204" pitchFamily="34" charset="0"/>
                <a:ea typeface="黑体" panose="02010609060101010101" pitchFamily="49" charset="-122"/>
              </a:rPr>
              <a:t>系统</a:t>
            </a:r>
            <a:r>
              <a:rPr lang="zh-CN" altLang="en-US" sz="3200" b="1" baseline="0" dirty="0" smtClean="0">
                <a:solidFill>
                  <a:srgbClr val="FF0000"/>
                </a:solidFill>
                <a:latin typeface="Arial" panose="020B0604020202020204" pitchFamily="34" charset="0"/>
                <a:ea typeface="黑体" panose="02010609060101010101" pitchFamily="49" charset="-122"/>
              </a:rPr>
              <a:t>的宏观动能和重力势能</a:t>
            </a:r>
            <a:r>
              <a:rPr lang="zh-CN" altLang="en-US" sz="3200" b="1" baseline="0" dirty="0">
                <a:solidFill>
                  <a:srgbClr val="FF0000"/>
                </a:solidFill>
                <a:latin typeface="Arial" panose="020B0604020202020204" pitchFamily="34" charset="0"/>
                <a:ea typeface="黑体" panose="02010609060101010101" pitchFamily="49" charset="-122"/>
              </a:rPr>
              <a:t>的㶲就是它们本身</a:t>
            </a:r>
            <a:r>
              <a:rPr lang="zh-CN" altLang="en-US" sz="3200" b="1" baseline="0" dirty="0">
                <a:latin typeface="Arial" panose="020B0604020202020204" pitchFamily="34" charset="0"/>
                <a:ea typeface="黑体" panose="02010609060101010101" pitchFamily="49" charset="-122"/>
              </a:rPr>
              <a:t>，与环境温度和压力无关</a:t>
            </a:r>
          </a:p>
          <a:p>
            <a:endParaRPr lang="zh-CN" altLang="en-US" sz="3200" baseline="0" dirty="0">
              <a:latin typeface="Arial" panose="020B0604020202020204" pitchFamily="34" charset="0"/>
              <a:ea typeface="黑体" panose="02010609060101010101" pitchFamily="49" charset="-122"/>
            </a:endParaRPr>
          </a:p>
        </p:txBody>
      </p:sp>
      <p:sp>
        <p:nvSpPr>
          <p:cNvPr id="3" name="标题 504834"/>
          <p:cNvSpPr>
            <a:spLocks noGrp="1"/>
          </p:cNvSpPr>
          <p:nvPr/>
        </p:nvSpPr>
        <p:spPr>
          <a:xfrm>
            <a:off x="546652" y="494333"/>
            <a:ext cx="8229600" cy="1143000"/>
          </a:xfrm>
          <a:prstGeom prst="rect">
            <a:avLst/>
          </a:prstGeom>
          <a:noFill/>
          <a:ln w="9525">
            <a:noFill/>
          </a:ln>
        </p:spPr>
        <p:txBody>
          <a:bodyPr vert="horz" wrap="square" lIns="91440" tIns="45720" rIns="91440" bIns="45720" anchor="ctr"/>
          <a:lstStyle>
            <a:lvl1pPr marL="0" lvl="0" indent="0" algn="ctr" defTabSz="914400" rtl="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pPr algn="l"/>
            <a:r>
              <a:rPr lang="zh-CN" altLang="en-US" sz="3600" b="1" dirty="0" smtClean="0">
                <a:solidFill>
                  <a:schemeClr val="tx1"/>
                </a:solidFill>
                <a:latin typeface="黑体" panose="02010609060101010101" pitchFamily="49" charset="-122"/>
                <a:ea typeface="黑体" panose="02010609060101010101" pitchFamily="49" charset="-122"/>
              </a:rPr>
              <a:t>宏观动能和重力势能</a:t>
            </a:r>
            <a:r>
              <a:rPr lang="zh-CN" altLang="en-US" sz="3600" b="1" dirty="0">
                <a:solidFill>
                  <a:schemeClr val="tx1"/>
                </a:solidFill>
                <a:latin typeface="黑体" panose="02010609060101010101" pitchFamily="49" charset="-122"/>
                <a:ea typeface="黑体" panose="02010609060101010101" pitchFamily="49" charset="-122"/>
              </a:rPr>
              <a:t>的㶲</a:t>
            </a:r>
          </a:p>
        </p:txBody>
      </p:sp>
    </p:spTree>
    <p:extLst>
      <p:ext uri="{BB962C8B-B14F-4D97-AF65-F5344CB8AC3E}">
        <p14:creationId xmlns:p14="http://schemas.microsoft.com/office/powerpoint/2010/main" val="279226314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34817"/>
          <p:cNvSpPr>
            <a:spLocks noGrp="1"/>
          </p:cNvSpPr>
          <p:nvPr/>
        </p:nvSpPr>
        <p:spPr>
          <a:xfrm>
            <a:off x="390939" y="708991"/>
            <a:ext cx="8229600" cy="3505200"/>
          </a:xfrm>
          <a:prstGeom prst="rect">
            <a:avLst/>
          </a:prstGeom>
          <a:noFill/>
          <a:ln w="9525">
            <a:noFill/>
          </a:ln>
        </p:spPr>
        <p:txBody>
          <a:bodyPr anchor="t"/>
          <a:lstStyle>
            <a:lvl1pPr marL="342900" lvl="0" indent="-342900" algn="l" defTabSz="914400" rtl="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r>
              <a:rPr lang="zh-CN" altLang="en-US" b="1" dirty="0">
                <a:latin typeface="Times New Roman" panose="02020603050405020304" pitchFamily="18" charset="0"/>
                <a:ea typeface="黑体" panose="02010609060101010101" pitchFamily="49" charset="-122"/>
                <a:cs typeface="Times New Roman" panose="02020603050405020304" pitchFamily="18" charset="0"/>
              </a:rPr>
              <a:t>简单可压缩系统，与环境相平衡包括热平衡和力平衡，即系统在末态时的温度等于环境温度</a:t>
            </a:r>
            <a:r>
              <a:rPr lang="en-US" altLang="zh-CN" b="1" i="1" dirty="0">
                <a:latin typeface="Times New Roman" panose="02020603050405020304" pitchFamily="18" charset="0"/>
                <a:ea typeface="黑体" panose="02010609060101010101" pitchFamily="49" charset="-122"/>
                <a:cs typeface="Times New Roman" panose="02020603050405020304" pitchFamily="18" charset="0"/>
              </a:rPr>
              <a:t>T</a:t>
            </a:r>
            <a:r>
              <a:rPr lang="en-US" altLang="zh-CN" b="1" baseline="-25000" dirty="0">
                <a:latin typeface="Times New Roman" panose="02020603050405020304" pitchFamily="18" charset="0"/>
                <a:ea typeface="黑体" panose="02010609060101010101" pitchFamily="49" charset="-122"/>
                <a:cs typeface="Times New Roman" panose="02020603050405020304" pitchFamily="18" charset="0"/>
              </a:rPr>
              <a:t>0</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、压力等于环境压力</a:t>
            </a:r>
            <a:r>
              <a:rPr lang="en-US" altLang="zh-CN" b="1" i="1" dirty="0">
                <a:latin typeface="Times New Roman" panose="02020603050405020304" pitchFamily="18" charset="0"/>
                <a:ea typeface="黑体" panose="02010609060101010101" pitchFamily="49" charset="-122"/>
                <a:cs typeface="Times New Roman" panose="02020603050405020304" pitchFamily="18" charset="0"/>
              </a:rPr>
              <a:t>p</a:t>
            </a:r>
            <a:r>
              <a:rPr lang="en-US" altLang="zh-CN" b="1" baseline="-25000" dirty="0">
                <a:latin typeface="Times New Roman" panose="02020603050405020304" pitchFamily="18" charset="0"/>
                <a:ea typeface="黑体" panose="02010609060101010101" pitchFamily="49" charset="-122"/>
                <a:cs typeface="Times New Roman" panose="02020603050405020304" pitchFamily="18" charset="0"/>
              </a:rPr>
              <a:t>0</a:t>
            </a:r>
            <a:endParaRPr lang="en-US" altLang="zh-CN" b="1" dirty="0">
              <a:latin typeface="Times New Roman" panose="02020603050405020304" pitchFamily="18" charset="0"/>
              <a:ea typeface="黑体" panose="02010609060101010101" pitchFamily="49" charset="-122"/>
              <a:cs typeface="Times New Roman" panose="02020603050405020304" pitchFamily="18" charset="0"/>
            </a:endParaRPr>
          </a:p>
          <a:p>
            <a:r>
              <a:rPr lang="zh-CN" altLang="en-US" b="1" dirty="0">
                <a:latin typeface="Times New Roman" panose="02020603050405020304" pitchFamily="18" charset="0"/>
                <a:ea typeface="黑体" panose="02010609060101010101" pitchFamily="49" charset="-122"/>
                <a:cs typeface="Times New Roman" panose="02020603050405020304" pitchFamily="18" charset="0"/>
              </a:rPr>
              <a:t>非简单可压缩系统，平衡状态还包括系统与环境没有化学反应，没有电、磁和表面张力效应等引起的不平衡</a:t>
            </a:r>
          </a:p>
          <a:p>
            <a:endParaRPr lang="zh-CN" altLang="en-US" b="1"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419138510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矩形 505857"/>
          <p:cNvSpPr>
            <a:spLocks noChangeArrowheads="1"/>
          </p:cNvSpPr>
          <p:nvPr/>
        </p:nvSpPr>
        <p:spPr bwMode="auto">
          <a:xfrm>
            <a:off x="288234" y="1560443"/>
            <a:ext cx="83058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p>
            <a:pPr algn="ctr">
              <a:buFontTx/>
              <a:buChar char="§"/>
            </a:pPr>
            <a:r>
              <a:rPr lang="en-US" altLang="zh-CN" sz="4400" b="1" baseline="0" dirty="0">
                <a:latin typeface="黑体" panose="02010609060101010101" pitchFamily="49" charset="-122"/>
                <a:ea typeface="黑体" panose="02010609060101010101" pitchFamily="49" charset="-122"/>
              </a:rPr>
              <a:t>7</a:t>
            </a:r>
            <a:r>
              <a:rPr lang="zh-CN" altLang="en-US" sz="4400" b="1" baseline="0" dirty="0" smtClean="0">
                <a:latin typeface="黑体" panose="02010609060101010101" pitchFamily="49" charset="-122"/>
                <a:ea typeface="黑体" panose="02010609060101010101" pitchFamily="49" charset="-122"/>
              </a:rPr>
              <a:t>－</a:t>
            </a:r>
            <a:r>
              <a:rPr lang="en-US" altLang="zh-CN" sz="4400" b="1" baseline="0" dirty="0" smtClean="0">
                <a:latin typeface="黑体" panose="02010609060101010101" pitchFamily="49" charset="-122"/>
                <a:ea typeface="黑体" panose="02010609060101010101" pitchFamily="49" charset="-122"/>
              </a:rPr>
              <a:t>2</a:t>
            </a:r>
            <a:r>
              <a:rPr lang="zh-CN" altLang="en-US" sz="4400" b="1" baseline="0" dirty="0">
                <a:latin typeface="黑体" panose="02010609060101010101" pitchFamily="49" charset="-122"/>
                <a:ea typeface="黑体" panose="02010609060101010101" pitchFamily="49" charset="-122"/>
              </a:rPr>
              <a:t>　系统的㶲</a:t>
            </a:r>
          </a:p>
        </p:txBody>
      </p:sp>
    </p:spTree>
    <p:extLst>
      <p:ext uri="{BB962C8B-B14F-4D97-AF65-F5344CB8AC3E}">
        <p14:creationId xmlns:p14="http://schemas.microsoft.com/office/powerpoint/2010/main" val="35562960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矩形 506883"/>
          <p:cNvSpPr>
            <a:spLocks noChangeArrowheads="1"/>
          </p:cNvSpPr>
          <p:nvPr/>
        </p:nvSpPr>
        <p:spPr bwMode="auto">
          <a:xfrm>
            <a:off x="609600" y="1635334"/>
            <a:ext cx="8153400"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3200" b="1" baseline="0" dirty="0">
                <a:latin typeface="黑体" panose="02010609060101010101" pitchFamily="49" charset="-122"/>
                <a:ea typeface="黑体" panose="02010609060101010101" pitchFamily="49" charset="-122"/>
              </a:rPr>
              <a:t>处于某</a:t>
            </a:r>
            <a:r>
              <a:rPr lang="zh-CN" altLang="en-US" sz="3200" b="1" dirty="0">
                <a:latin typeface="黑体" panose="02010609060101010101" pitchFamily="49" charset="-122"/>
                <a:ea typeface="黑体" panose="02010609060101010101" pitchFamily="49" charset="-122"/>
              </a:rPr>
              <a:t>初始状态</a:t>
            </a:r>
            <a:r>
              <a:rPr lang="zh-CN" altLang="en-US" sz="3200" b="1" baseline="0" dirty="0">
                <a:latin typeface="黑体" panose="02010609060101010101" pitchFamily="49" charset="-122"/>
                <a:ea typeface="黑体" panose="02010609060101010101" pitchFamily="49" charset="-122"/>
              </a:rPr>
              <a:t>的闭口</a:t>
            </a:r>
            <a:r>
              <a:rPr lang="zh-CN" altLang="en-US" sz="3200" b="1" baseline="0" dirty="0" smtClean="0">
                <a:latin typeface="黑体" panose="02010609060101010101" pitchFamily="49" charset="-122"/>
                <a:ea typeface="黑体" panose="02010609060101010101" pitchFamily="49" charset="-122"/>
              </a:rPr>
              <a:t>系，</a:t>
            </a:r>
            <a:r>
              <a:rPr lang="zh-CN" altLang="en-US" sz="3200" b="1" baseline="0" dirty="0">
                <a:latin typeface="黑体" panose="02010609060101010101" pitchFamily="49" charset="-122"/>
                <a:ea typeface="黑体" panose="02010609060101010101" pitchFamily="49" charset="-122"/>
              </a:rPr>
              <a:t>在与环境相互作用下，经历</a:t>
            </a:r>
            <a:r>
              <a:rPr lang="zh-CN" altLang="en-US" sz="3200" b="1" baseline="0" dirty="0">
                <a:solidFill>
                  <a:srgbClr val="FF0000"/>
                </a:solidFill>
                <a:latin typeface="黑体" panose="02010609060101010101" pitchFamily="49" charset="-122"/>
                <a:ea typeface="黑体" panose="02010609060101010101" pitchFamily="49" charset="-122"/>
              </a:rPr>
              <a:t>可逆过程</a:t>
            </a:r>
            <a:r>
              <a:rPr lang="zh-CN" altLang="en-US" sz="3200" b="1" baseline="0" dirty="0">
                <a:latin typeface="黑体" panose="02010609060101010101" pitchFamily="49" charset="-122"/>
                <a:ea typeface="黑体" panose="02010609060101010101" pitchFamily="49" charset="-122"/>
              </a:rPr>
              <a:t>到达与环境相平衡的状态时，在过程中所能作出的</a:t>
            </a:r>
            <a:r>
              <a:rPr lang="zh-CN" altLang="en-US" sz="3200" b="1" baseline="0" dirty="0">
                <a:solidFill>
                  <a:srgbClr val="FF0000"/>
                </a:solidFill>
                <a:latin typeface="黑体" panose="02010609060101010101" pitchFamily="49" charset="-122"/>
                <a:ea typeface="黑体" panose="02010609060101010101" pitchFamily="49" charset="-122"/>
              </a:rPr>
              <a:t>最大有用功</a:t>
            </a:r>
            <a:r>
              <a:rPr lang="zh-CN" altLang="en-US" sz="3200" b="1" baseline="0" dirty="0">
                <a:latin typeface="黑体" panose="02010609060101010101" pitchFamily="49" charset="-122"/>
                <a:ea typeface="黑体" panose="02010609060101010101" pitchFamily="49" charset="-122"/>
              </a:rPr>
              <a:t>，称为在该初始状态下</a:t>
            </a:r>
            <a:r>
              <a:rPr lang="zh-CN" altLang="en-US" sz="3200" b="1" baseline="0" dirty="0">
                <a:solidFill>
                  <a:srgbClr val="FF0000"/>
                </a:solidFill>
                <a:latin typeface="黑体" panose="02010609060101010101" pitchFamily="49" charset="-122"/>
                <a:ea typeface="黑体" panose="02010609060101010101" pitchFamily="49" charset="-122"/>
              </a:rPr>
              <a:t>闭口</a:t>
            </a:r>
            <a:r>
              <a:rPr lang="zh-CN" altLang="en-US" sz="3200" b="1" baseline="0" dirty="0" smtClean="0">
                <a:solidFill>
                  <a:srgbClr val="FF0000"/>
                </a:solidFill>
                <a:latin typeface="黑体" panose="02010609060101010101" pitchFamily="49" charset="-122"/>
                <a:ea typeface="黑体" panose="02010609060101010101" pitchFamily="49" charset="-122"/>
              </a:rPr>
              <a:t>系的</a:t>
            </a:r>
            <a:r>
              <a:rPr lang="zh-CN" altLang="en-US" sz="3200" b="1" baseline="0" dirty="0">
                <a:solidFill>
                  <a:srgbClr val="FF0000"/>
                </a:solidFill>
                <a:latin typeface="黑体" panose="02010609060101010101" pitchFamily="49" charset="-122"/>
                <a:ea typeface="黑体" panose="02010609060101010101" pitchFamily="49" charset="-122"/>
              </a:rPr>
              <a:t>㶲</a:t>
            </a:r>
            <a:r>
              <a:rPr lang="zh-CN" altLang="en-US" sz="3200" b="1" baseline="0" dirty="0">
                <a:latin typeface="黑体" panose="02010609060101010101" pitchFamily="49" charset="-122"/>
                <a:ea typeface="黑体" panose="02010609060101010101" pitchFamily="49" charset="-122"/>
              </a:rPr>
              <a:t> </a:t>
            </a:r>
          </a:p>
        </p:txBody>
      </p:sp>
      <p:sp>
        <p:nvSpPr>
          <p:cNvPr id="28674" name="矩形 506884"/>
          <p:cNvSpPr>
            <a:spLocks noChangeArrowheads="1"/>
          </p:cNvSpPr>
          <p:nvPr/>
        </p:nvSpPr>
        <p:spPr bwMode="auto">
          <a:xfrm>
            <a:off x="291548" y="274638"/>
            <a:ext cx="8686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3600" b="1" baseline="0" dirty="0">
                <a:latin typeface="黑体" panose="02010609060101010101" pitchFamily="49" charset="-122"/>
                <a:ea typeface="黑体" panose="02010609060101010101" pitchFamily="49" charset="-122"/>
              </a:rPr>
              <a:t>一、闭口</a:t>
            </a:r>
            <a:r>
              <a:rPr lang="zh-CN" altLang="en-US" sz="3600" b="1" baseline="0" dirty="0" smtClean="0">
                <a:latin typeface="黑体" panose="02010609060101010101" pitchFamily="49" charset="-122"/>
                <a:ea typeface="黑体" panose="02010609060101010101" pitchFamily="49" charset="-122"/>
              </a:rPr>
              <a:t>系的</a:t>
            </a:r>
            <a:r>
              <a:rPr lang="zh-CN" altLang="en-US" sz="3600" b="1" dirty="0">
                <a:latin typeface="黑体" panose="02010609060101010101" pitchFamily="49" charset="-122"/>
                <a:ea typeface="黑体" panose="02010609060101010101" pitchFamily="49" charset="-122"/>
              </a:rPr>
              <a:t>㶲</a:t>
            </a:r>
            <a:r>
              <a:rPr lang="zh-CN" altLang="en-US" sz="3600" b="1" baseline="0" dirty="0" smtClean="0">
                <a:latin typeface="黑体" panose="02010609060101010101" pitchFamily="49" charset="-122"/>
                <a:ea typeface="黑体" panose="02010609060101010101" pitchFamily="49" charset="-122"/>
              </a:rPr>
              <a:t>（热力学能㶲）</a:t>
            </a:r>
            <a:endParaRPr lang="zh-CN" altLang="en-US" sz="3600" b="1" baseline="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9505764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文本占位符 36866"/>
          <p:cNvSpPr>
            <a:spLocks noGrp="1" noChangeArrowheads="1"/>
          </p:cNvSpPr>
          <p:nvPr>
            <p:ph type="body" idx="4294967295"/>
          </p:nvPr>
        </p:nvSpPr>
        <p:spPr>
          <a:xfrm>
            <a:off x="228600" y="1524000"/>
            <a:ext cx="5486400" cy="4648200"/>
          </a:xfrm>
        </p:spPr>
        <p:txBody>
          <a:bodyPr/>
          <a:lstStyle/>
          <a:p>
            <a:r>
              <a:rPr lang="zh-CN" altLang="en-US" sz="2800" b="1" dirty="0" smtClean="0">
                <a:latin typeface="Times New Roman" panose="02020603050405020304" pitchFamily="18" charset="0"/>
                <a:cs typeface="Times New Roman" panose="02020603050405020304" pitchFamily="18" charset="0"/>
              </a:rPr>
              <a:t>活塞</a:t>
            </a:r>
            <a:r>
              <a:rPr lang="en-US" altLang="zh-CN" sz="2800" b="1" dirty="0" smtClean="0">
                <a:latin typeface="Times New Roman" panose="02020603050405020304" pitchFamily="18" charset="0"/>
                <a:cs typeface="Times New Roman" panose="02020603050405020304" pitchFamily="18" charset="0"/>
              </a:rPr>
              <a:t>-</a:t>
            </a:r>
            <a:r>
              <a:rPr lang="zh-CN" altLang="en-US" sz="2800" b="1" dirty="0" smtClean="0">
                <a:latin typeface="Times New Roman" panose="02020603050405020304" pitchFamily="18" charset="0"/>
                <a:cs typeface="Times New Roman" panose="02020603050405020304" pitchFamily="18" charset="0"/>
              </a:rPr>
              <a:t>气缸装置，气缸中的气体质量为</a:t>
            </a:r>
            <a:r>
              <a:rPr lang="en-US" altLang="zh-CN" sz="2800" b="1" i="1" dirty="0" smtClean="0">
                <a:latin typeface="Times New Roman" panose="02020603050405020304" pitchFamily="18" charset="0"/>
                <a:cs typeface="Times New Roman" panose="02020603050405020304" pitchFamily="18" charset="0"/>
              </a:rPr>
              <a:t>m</a:t>
            </a:r>
            <a:r>
              <a:rPr lang="zh-CN" altLang="en-US" sz="2800" b="1" dirty="0" smtClean="0">
                <a:latin typeface="Times New Roman" panose="02020603050405020304" pitchFamily="18" charset="0"/>
                <a:cs typeface="Times New Roman" panose="02020603050405020304" pitchFamily="18" charset="0"/>
              </a:rPr>
              <a:t>，温度为</a:t>
            </a:r>
            <a:r>
              <a:rPr lang="en-US" altLang="zh-CN" sz="2800" b="1" i="1" dirty="0" smtClean="0">
                <a:latin typeface="Times New Roman" panose="02020603050405020304" pitchFamily="18" charset="0"/>
                <a:cs typeface="Times New Roman" panose="02020603050405020304" pitchFamily="18" charset="0"/>
              </a:rPr>
              <a:t>T</a:t>
            </a:r>
            <a:r>
              <a:rPr lang="zh-CN" altLang="en-US" sz="2800" b="1" dirty="0" smtClean="0">
                <a:latin typeface="Times New Roman" panose="02020603050405020304" pitchFamily="18" charset="0"/>
                <a:cs typeface="Times New Roman" panose="02020603050405020304" pitchFamily="18" charset="0"/>
              </a:rPr>
              <a:t>，压力为</a:t>
            </a:r>
            <a:r>
              <a:rPr lang="en-US" altLang="zh-CN" sz="2800" b="1" i="1" dirty="0" smtClean="0">
                <a:latin typeface="Times New Roman" panose="02020603050405020304" pitchFamily="18" charset="0"/>
                <a:cs typeface="Times New Roman" panose="02020603050405020304" pitchFamily="18" charset="0"/>
              </a:rPr>
              <a:t>p</a:t>
            </a:r>
            <a:r>
              <a:rPr lang="zh-CN" altLang="en-US" sz="2800" b="1" dirty="0" smtClean="0">
                <a:latin typeface="Times New Roman" panose="02020603050405020304" pitchFamily="18" charset="0"/>
                <a:cs typeface="Times New Roman" panose="02020603050405020304" pitchFamily="18" charset="0"/>
              </a:rPr>
              <a:t>。以气缸内气体为研究对象，它为闭口系统。初始时系统具有状态参数</a:t>
            </a:r>
            <a:r>
              <a:rPr lang="en-US" altLang="zh-CN" sz="2800" b="1" i="1" dirty="0" smtClean="0">
                <a:latin typeface="Times New Roman" panose="02020603050405020304" pitchFamily="18" charset="0"/>
                <a:cs typeface="Times New Roman" panose="02020603050405020304" pitchFamily="18" charset="0"/>
              </a:rPr>
              <a:t>V</a:t>
            </a:r>
            <a:r>
              <a:rPr lang="zh-CN" altLang="en-US" sz="2800" b="1" dirty="0" smtClean="0">
                <a:latin typeface="Times New Roman" panose="02020603050405020304" pitchFamily="18" charset="0"/>
                <a:cs typeface="Times New Roman" panose="02020603050405020304" pitchFamily="18" charset="0"/>
              </a:rPr>
              <a:t>、</a:t>
            </a:r>
            <a:r>
              <a:rPr lang="en-US" altLang="zh-CN" sz="2800" b="1" i="1" dirty="0" smtClean="0">
                <a:latin typeface="Times New Roman" panose="02020603050405020304" pitchFamily="18" charset="0"/>
                <a:cs typeface="Times New Roman" panose="02020603050405020304" pitchFamily="18" charset="0"/>
              </a:rPr>
              <a:t>U</a:t>
            </a:r>
            <a:r>
              <a:rPr lang="zh-CN" altLang="en-US" sz="2800" b="1" dirty="0" smtClean="0">
                <a:latin typeface="Times New Roman" panose="02020603050405020304" pitchFamily="18" charset="0"/>
                <a:cs typeface="Times New Roman" panose="02020603050405020304" pitchFamily="18" charset="0"/>
              </a:rPr>
              <a:t>、</a:t>
            </a:r>
            <a:r>
              <a:rPr lang="en-US" altLang="zh-CN" sz="2800" b="1" i="1" dirty="0" smtClean="0">
                <a:latin typeface="Times New Roman" panose="02020603050405020304" pitchFamily="18" charset="0"/>
                <a:cs typeface="Times New Roman" panose="02020603050405020304" pitchFamily="18" charset="0"/>
              </a:rPr>
              <a:t>S</a:t>
            </a:r>
            <a:r>
              <a:rPr lang="zh-CN" altLang="en-US" sz="2800" b="1" dirty="0" smtClean="0">
                <a:latin typeface="Times New Roman" panose="02020603050405020304" pitchFamily="18" charset="0"/>
                <a:cs typeface="Times New Roman" panose="02020603050405020304" pitchFamily="18" charset="0"/>
              </a:rPr>
              <a:t>。假设系统的状态经历某微元变化，此过程中系统向环境放热，与此同时系统体积增加</a:t>
            </a:r>
            <a:r>
              <a:rPr lang="en-US" altLang="zh-CN" sz="2800" b="1" dirty="0" err="1" smtClean="0">
                <a:latin typeface="Times New Roman" panose="02020603050405020304" pitchFamily="18" charset="0"/>
                <a:cs typeface="Times New Roman" panose="02020603050405020304" pitchFamily="18" charset="0"/>
              </a:rPr>
              <a:t>d</a:t>
            </a:r>
            <a:r>
              <a:rPr lang="en-US" altLang="zh-CN" sz="2800" b="1" i="1" dirty="0" err="1" smtClean="0">
                <a:latin typeface="Times New Roman" panose="02020603050405020304" pitchFamily="18" charset="0"/>
                <a:cs typeface="Times New Roman" panose="02020603050405020304" pitchFamily="18" charset="0"/>
              </a:rPr>
              <a:t>V</a:t>
            </a:r>
            <a:r>
              <a:rPr lang="zh-CN" altLang="en-US" sz="2800" b="1" dirty="0" smtClean="0">
                <a:latin typeface="Times New Roman" panose="02020603050405020304" pitchFamily="18" charset="0"/>
                <a:cs typeface="Times New Roman" panose="02020603050405020304" pitchFamily="18" charset="0"/>
              </a:rPr>
              <a:t>。</a:t>
            </a:r>
          </a:p>
          <a:p>
            <a:r>
              <a:rPr lang="zh-CN" altLang="en-US" sz="2800" b="1" dirty="0" smtClean="0">
                <a:latin typeface="Times New Roman" panose="02020603050405020304" pitchFamily="18" charset="0"/>
                <a:cs typeface="Times New Roman" panose="02020603050405020304" pitchFamily="18" charset="0"/>
              </a:rPr>
              <a:t>此微元过程能对外界作出的最大有用功 ？</a:t>
            </a:r>
          </a:p>
        </p:txBody>
      </p:sp>
      <p:sp>
        <p:nvSpPr>
          <p:cNvPr id="23555" name="矩形 36867"/>
          <p:cNvSpPr>
            <a:spLocks noChangeArrowheads="1"/>
          </p:cNvSpPr>
          <p:nvPr/>
        </p:nvSpPr>
        <p:spPr bwMode="auto">
          <a:xfrm>
            <a:off x="0" y="23145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6870" name="矩形 36869"/>
          <p:cNvSpPr>
            <a:spLocks noChangeArrowheads="1"/>
          </p:cNvSpPr>
          <p:nvPr/>
        </p:nvSpPr>
        <p:spPr bwMode="auto">
          <a:xfrm>
            <a:off x="7162800" y="2971800"/>
            <a:ext cx="18288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aseline="0" dirty="0">
                <a:solidFill>
                  <a:srgbClr val="FF0000"/>
                </a:solidFill>
                <a:latin typeface="黑体" panose="02010609060101010101" pitchFamily="49" charset="-122"/>
                <a:ea typeface="黑体" panose="02010609060101010101" pitchFamily="49" charset="-122"/>
              </a:rPr>
              <a:t>若热量直接放给环境则把输出有用功的机会浪费了！</a:t>
            </a:r>
          </a:p>
        </p:txBody>
      </p:sp>
      <p:sp>
        <p:nvSpPr>
          <p:cNvPr id="7" name="矩形 506884"/>
          <p:cNvSpPr>
            <a:spLocks noChangeArrowheads="1"/>
          </p:cNvSpPr>
          <p:nvPr/>
        </p:nvSpPr>
        <p:spPr bwMode="auto">
          <a:xfrm>
            <a:off x="291548" y="274638"/>
            <a:ext cx="8686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3600" b="1" baseline="0" dirty="0" smtClean="0">
                <a:latin typeface="黑体" panose="02010609060101010101" pitchFamily="49" charset="-122"/>
                <a:ea typeface="黑体" panose="02010609060101010101" pitchFamily="49" charset="-122"/>
              </a:rPr>
              <a:t>闭口系的</a:t>
            </a:r>
            <a:r>
              <a:rPr lang="zh-CN" altLang="en-US" sz="3600" b="1" dirty="0" smtClean="0">
                <a:latin typeface="黑体" panose="02010609060101010101" pitchFamily="49" charset="-122"/>
                <a:ea typeface="黑体" panose="02010609060101010101" pitchFamily="49" charset="-122"/>
              </a:rPr>
              <a:t>㶲</a:t>
            </a:r>
            <a:r>
              <a:rPr lang="zh-CN" altLang="en-US" sz="3600" b="1" dirty="0">
                <a:latin typeface="黑体" panose="02010609060101010101" pitchFamily="49" charset="-122"/>
                <a:ea typeface="黑体" panose="02010609060101010101" pitchFamily="49" charset="-122"/>
              </a:rPr>
              <a:t>推导</a:t>
            </a:r>
            <a:endParaRPr lang="zh-CN" altLang="en-US" sz="3600" b="1" baseline="0" dirty="0">
              <a:latin typeface="黑体" panose="02010609060101010101" pitchFamily="49" charset="-122"/>
              <a:ea typeface="黑体" panose="02010609060101010101" pitchFamily="49" charset="-122"/>
            </a:endParaRP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18153" y="1696268"/>
            <a:ext cx="2822693" cy="3279932"/>
          </a:xfrm>
          <a:prstGeom prst="rect">
            <a:avLst/>
          </a:prstGeom>
        </p:spPr>
      </p:pic>
    </p:spTree>
    <p:extLst>
      <p:ext uri="{BB962C8B-B14F-4D97-AF65-F5344CB8AC3E}">
        <p14:creationId xmlns:p14="http://schemas.microsoft.com/office/powerpoint/2010/main" val="25717200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6870"/>
                                        </p:tgtEl>
                                        <p:attrNameLst>
                                          <p:attrName>style.visibility</p:attrName>
                                        </p:attrNameLst>
                                      </p:cBhvr>
                                      <p:to>
                                        <p:strVal val="visible"/>
                                      </p:to>
                                    </p:set>
                                    <p:animEffect transition="in" filter="blinds(horizontal)">
                                      <p:cBhvr>
                                        <p:cTn id="7" dur="500"/>
                                        <p:tgtEl>
                                          <p:spTgt spid="368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7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矩形 37889"/>
          <p:cNvSpPr>
            <a:spLocks noChangeArrowheads="1"/>
          </p:cNvSpPr>
          <p:nvPr/>
        </p:nvSpPr>
        <p:spPr bwMode="auto">
          <a:xfrm>
            <a:off x="0" y="21907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4579" name="矩形 37891"/>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37893" name="对象 37892"/>
          <p:cNvGraphicFramePr>
            <a:graphicFrameLocks/>
          </p:cNvGraphicFramePr>
          <p:nvPr>
            <p:extLst>
              <p:ext uri="{D42A27DB-BD31-4B8C-83A1-F6EECF244321}">
                <p14:modId xmlns:p14="http://schemas.microsoft.com/office/powerpoint/2010/main" val="598061608"/>
              </p:ext>
            </p:extLst>
          </p:nvPr>
        </p:nvGraphicFramePr>
        <p:xfrm>
          <a:off x="443654" y="3727450"/>
          <a:ext cx="4953000" cy="671513"/>
        </p:xfrm>
        <a:graphic>
          <a:graphicData uri="http://schemas.openxmlformats.org/presentationml/2006/ole">
            <mc:AlternateContent xmlns:mc="http://schemas.openxmlformats.org/markup-compatibility/2006">
              <mc:Choice xmlns:v="urn:schemas-microsoft-com:vml" Requires="v">
                <p:oleObj spid="_x0000_s16449" r:id="rId3" imgW="3162300" imgH="431800" progId="Equation.DSMT4">
                  <p:embed/>
                </p:oleObj>
              </mc:Choice>
              <mc:Fallback>
                <p:oleObj r:id="rId3" imgW="3162300" imgH="431800" progId="Equation.DSMT4">
                  <p:embed/>
                  <p:pic>
                    <p:nvPicPr>
                      <p:cNvPr id="37893" name="对象 3789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3654" y="3727450"/>
                        <a:ext cx="4953000" cy="67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4581" name="矩形 37893"/>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37895" name="对象 37894"/>
          <p:cNvGraphicFramePr>
            <a:graphicFrameLocks/>
          </p:cNvGraphicFramePr>
          <p:nvPr>
            <p:extLst>
              <p:ext uri="{D42A27DB-BD31-4B8C-83A1-F6EECF244321}">
                <p14:modId xmlns:p14="http://schemas.microsoft.com/office/powerpoint/2010/main" val="1534296294"/>
              </p:ext>
            </p:extLst>
          </p:nvPr>
        </p:nvGraphicFramePr>
        <p:xfrm>
          <a:off x="443654" y="4641850"/>
          <a:ext cx="3810000" cy="436563"/>
        </p:xfrm>
        <a:graphic>
          <a:graphicData uri="http://schemas.openxmlformats.org/presentationml/2006/ole">
            <mc:AlternateContent xmlns:mc="http://schemas.openxmlformats.org/markup-compatibility/2006">
              <mc:Choice xmlns:v="urn:schemas-microsoft-com:vml" Requires="v">
                <p:oleObj spid="_x0000_s16450" r:id="rId5" imgW="2247900" imgH="254000" progId="Equation.DSMT4">
                  <p:embed/>
                </p:oleObj>
              </mc:Choice>
              <mc:Fallback>
                <p:oleObj r:id="rId5" imgW="2247900" imgH="254000" progId="Equation.DSMT4">
                  <p:embed/>
                  <p:pic>
                    <p:nvPicPr>
                      <p:cNvPr id="37895" name="对象 3789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3654" y="4641850"/>
                        <a:ext cx="3810000"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7896" name="右大括号 37895"/>
          <p:cNvSpPr>
            <a:spLocks/>
          </p:cNvSpPr>
          <p:nvPr/>
        </p:nvSpPr>
        <p:spPr bwMode="auto">
          <a:xfrm>
            <a:off x="5472854" y="3956050"/>
            <a:ext cx="152400" cy="990600"/>
          </a:xfrm>
          <a:prstGeom prst="rightBrace">
            <a:avLst>
              <a:gd name="adj1" fmla="val 54106"/>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584" name="矩形 37896"/>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37898" name="对象 37897"/>
          <p:cNvGraphicFramePr>
            <a:graphicFrameLocks/>
          </p:cNvGraphicFramePr>
          <p:nvPr>
            <p:extLst>
              <p:ext uri="{D42A27DB-BD31-4B8C-83A1-F6EECF244321}">
                <p14:modId xmlns:p14="http://schemas.microsoft.com/office/powerpoint/2010/main" val="3637212192"/>
              </p:ext>
            </p:extLst>
          </p:nvPr>
        </p:nvGraphicFramePr>
        <p:xfrm>
          <a:off x="5701454" y="4108450"/>
          <a:ext cx="3054350" cy="806450"/>
        </p:xfrm>
        <a:graphic>
          <a:graphicData uri="http://schemas.openxmlformats.org/presentationml/2006/ole">
            <mc:AlternateContent xmlns:mc="http://schemas.openxmlformats.org/markup-compatibility/2006">
              <mc:Choice xmlns:v="urn:schemas-microsoft-com:vml" Requires="v">
                <p:oleObj spid="_x0000_s16451" r:id="rId7" imgW="1802618" imgH="482391" progId="Equation.DSMT4">
                  <p:embed/>
                </p:oleObj>
              </mc:Choice>
              <mc:Fallback>
                <p:oleObj r:id="rId7" imgW="1802618" imgH="482391" progId="Equation.DSMT4">
                  <p:embed/>
                  <p:pic>
                    <p:nvPicPr>
                      <p:cNvPr id="37898" name="对象 37897"/>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01454" y="4108450"/>
                        <a:ext cx="3054350"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7899" name="对象 37898"/>
          <p:cNvGraphicFramePr>
            <a:graphicFrameLocks/>
          </p:cNvGraphicFramePr>
          <p:nvPr>
            <p:extLst>
              <p:ext uri="{D42A27DB-BD31-4B8C-83A1-F6EECF244321}">
                <p14:modId xmlns:p14="http://schemas.microsoft.com/office/powerpoint/2010/main" val="731962569"/>
              </p:ext>
            </p:extLst>
          </p:nvPr>
        </p:nvGraphicFramePr>
        <p:xfrm>
          <a:off x="1364828" y="5260017"/>
          <a:ext cx="6180137" cy="519113"/>
        </p:xfrm>
        <a:graphic>
          <a:graphicData uri="http://schemas.openxmlformats.org/presentationml/2006/ole">
            <mc:AlternateContent xmlns:mc="http://schemas.openxmlformats.org/markup-compatibility/2006">
              <mc:Choice xmlns:v="urn:schemas-microsoft-com:vml" Requires="v">
                <p:oleObj spid="_x0000_s16452" r:id="rId9" imgW="3058045" imgH="253780" progId="Equation.DSMT4">
                  <p:embed/>
                </p:oleObj>
              </mc:Choice>
              <mc:Fallback>
                <p:oleObj r:id="rId9" imgW="3058045" imgH="253780" progId="Equation.DSMT4">
                  <p:embed/>
                  <p:pic>
                    <p:nvPicPr>
                      <p:cNvPr id="37899" name="对象 37898"/>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64828" y="5260017"/>
                        <a:ext cx="6180137" cy="519113"/>
                      </a:xfrm>
                      <a:prstGeom prst="rect">
                        <a:avLst/>
                      </a:prstGeom>
                      <a:solidFill>
                        <a:schemeClr val="accent1">
                          <a:lumMod val="40000"/>
                          <a:lumOff val="60000"/>
                        </a:schemeClr>
                      </a:solidFill>
                      <a:ln>
                        <a:noFill/>
                      </a:ln>
                    </p:spPr>
                  </p:pic>
                </p:oleObj>
              </mc:Fallback>
            </mc:AlternateContent>
          </a:graphicData>
        </a:graphic>
      </p:graphicFrame>
      <p:graphicFrame>
        <p:nvGraphicFramePr>
          <p:cNvPr id="13" name="对象 506886"/>
          <p:cNvGraphicFramePr>
            <a:graphicFrameLocks/>
          </p:cNvGraphicFramePr>
          <p:nvPr>
            <p:extLst>
              <p:ext uri="{D42A27DB-BD31-4B8C-83A1-F6EECF244321}">
                <p14:modId xmlns:p14="http://schemas.microsoft.com/office/powerpoint/2010/main" val="253839046"/>
              </p:ext>
            </p:extLst>
          </p:nvPr>
        </p:nvGraphicFramePr>
        <p:xfrm>
          <a:off x="3094779" y="5946240"/>
          <a:ext cx="5213350" cy="568325"/>
        </p:xfrm>
        <a:graphic>
          <a:graphicData uri="http://schemas.openxmlformats.org/presentationml/2006/ole">
            <mc:AlternateContent xmlns:mc="http://schemas.openxmlformats.org/markup-compatibility/2006">
              <mc:Choice xmlns:v="urn:schemas-microsoft-com:vml" Requires="v">
                <p:oleObj spid="_x0000_s16453" r:id="rId11" imgW="2361960" imgH="253800" progId="Equation.DSMT4">
                  <p:embed/>
                </p:oleObj>
              </mc:Choice>
              <mc:Fallback>
                <p:oleObj r:id="rId11" imgW="2361960" imgH="253800" progId="Equation.DSMT4">
                  <p:embed/>
                  <p:pic>
                    <p:nvPicPr>
                      <p:cNvPr id="28676" name="对象 506886"/>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94779" y="5946240"/>
                        <a:ext cx="521335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4" name="矩形 506887"/>
          <p:cNvSpPr>
            <a:spLocks noChangeArrowheads="1"/>
          </p:cNvSpPr>
          <p:nvPr/>
        </p:nvSpPr>
        <p:spPr bwMode="auto">
          <a:xfrm>
            <a:off x="658179" y="5960734"/>
            <a:ext cx="23487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baseline="0" dirty="0" smtClean="0">
                <a:solidFill>
                  <a:srgbClr val="FF0000"/>
                </a:solidFill>
                <a:latin typeface="黑体" panose="02010609060101010101" pitchFamily="49" charset="-122"/>
                <a:ea typeface="黑体" panose="02010609060101010101" pitchFamily="49" charset="-122"/>
              </a:rPr>
              <a:t>比热力学能</a:t>
            </a:r>
            <a:r>
              <a:rPr lang="zh-CN" altLang="en-US" sz="2800" b="1" baseline="0" dirty="0" smtClean="0">
                <a:solidFill>
                  <a:srgbClr val="FF0000"/>
                </a:solidFill>
                <a:latin typeface="黑体" panose="02010609060101010101" pitchFamily="49" charset="-122"/>
                <a:ea typeface="黑体" panose="02010609060101010101" pitchFamily="49" charset="-122"/>
                <a:sym typeface="宋体" panose="02010600030101010101" pitchFamily="2" charset="-122"/>
              </a:rPr>
              <a:t>㶲</a:t>
            </a:r>
            <a:endParaRPr lang="zh-CN" altLang="en-US" sz="2800" b="1" baseline="0" dirty="0">
              <a:solidFill>
                <a:srgbClr val="FF0000"/>
              </a:solidFill>
              <a:latin typeface="黑体" panose="02010609060101010101" pitchFamily="49" charset="-122"/>
              <a:ea typeface="黑体" panose="02010609060101010101" pitchFamily="49" charset="-122"/>
            </a:endParaRPr>
          </a:p>
        </p:txBody>
      </p:sp>
      <p:pic>
        <p:nvPicPr>
          <p:cNvPr id="2" name="图片 1"/>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738947" y="143983"/>
            <a:ext cx="6169687" cy="3401863"/>
          </a:xfrm>
          <a:prstGeom prst="rect">
            <a:avLst/>
          </a:prstGeom>
        </p:spPr>
      </p:pic>
    </p:spTree>
    <p:extLst>
      <p:ext uri="{BB962C8B-B14F-4D97-AF65-F5344CB8AC3E}">
        <p14:creationId xmlns:p14="http://schemas.microsoft.com/office/powerpoint/2010/main" val="31658342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7893"/>
                                        </p:tgtEl>
                                        <p:attrNameLst>
                                          <p:attrName>style.visibility</p:attrName>
                                        </p:attrNameLst>
                                      </p:cBhvr>
                                      <p:to>
                                        <p:strVal val="visible"/>
                                      </p:to>
                                    </p:set>
                                    <p:animEffect transition="in" filter="blinds(horizontal)">
                                      <p:cBhvr>
                                        <p:cTn id="7" dur="500"/>
                                        <p:tgtEl>
                                          <p:spTgt spid="3789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7895"/>
                                        </p:tgtEl>
                                        <p:attrNameLst>
                                          <p:attrName>style.visibility</p:attrName>
                                        </p:attrNameLst>
                                      </p:cBhvr>
                                      <p:to>
                                        <p:strVal val="visible"/>
                                      </p:to>
                                    </p:set>
                                    <p:animEffect transition="in" filter="blinds(horizontal)">
                                      <p:cBhvr>
                                        <p:cTn id="12" dur="500"/>
                                        <p:tgtEl>
                                          <p:spTgt spid="3789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7896"/>
                                        </p:tgtEl>
                                        <p:attrNameLst>
                                          <p:attrName>style.visibility</p:attrName>
                                        </p:attrNameLst>
                                      </p:cBhvr>
                                      <p:to>
                                        <p:strVal val="visible"/>
                                      </p:to>
                                    </p:set>
                                    <p:animEffect transition="in" filter="wipe(left)">
                                      <p:cBhvr>
                                        <p:cTn id="17" dur="500"/>
                                        <p:tgtEl>
                                          <p:spTgt spid="3789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7898"/>
                                        </p:tgtEl>
                                        <p:attrNameLst>
                                          <p:attrName>style.visibility</p:attrName>
                                        </p:attrNameLst>
                                      </p:cBhvr>
                                      <p:to>
                                        <p:strVal val="visible"/>
                                      </p:to>
                                    </p:set>
                                    <p:animEffect transition="in" filter="blinds(horizontal)">
                                      <p:cBhvr>
                                        <p:cTn id="22" dur="500"/>
                                        <p:tgtEl>
                                          <p:spTgt spid="3789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7899"/>
                                        </p:tgtEl>
                                        <p:attrNameLst>
                                          <p:attrName>style.visibility</p:attrName>
                                        </p:attrNameLst>
                                      </p:cBhvr>
                                      <p:to>
                                        <p:strVal val="visible"/>
                                      </p:to>
                                    </p:set>
                                    <p:animEffect transition="in" filter="blinds(horizontal)">
                                      <p:cBhvr>
                                        <p:cTn id="27" dur="500"/>
                                        <p:tgtEl>
                                          <p:spTgt spid="378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矩形 38913"/>
          <p:cNvSpPr>
            <a:spLocks noChangeArrowheads="1"/>
          </p:cNvSpPr>
          <p:nvPr/>
        </p:nvSpPr>
        <p:spPr bwMode="auto">
          <a:xfrm>
            <a:off x="0" y="24622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25603" name="对象 38915"/>
          <p:cNvGraphicFramePr>
            <a:graphicFrameLocks noChangeAspect="1"/>
          </p:cNvGraphicFramePr>
          <p:nvPr>
            <p:extLst>
              <p:ext uri="{D42A27DB-BD31-4B8C-83A1-F6EECF244321}">
                <p14:modId xmlns:p14="http://schemas.microsoft.com/office/powerpoint/2010/main" val="4195463492"/>
              </p:ext>
            </p:extLst>
          </p:nvPr>
        </p:nvGraphicFramePr>
        <p:xfrm>
          <a:off x="1611198" y="5159851"/>
          <a:ext cx="5619750" cy="635000"/>
        </p:xfrm>
        <a:graphic>
          <a:graphicData uri="http://schemas.openxmlformats.org/presentationml/2006/ole">
            <mc:AlternateContent xmlns:mc="http://schemas.openxmlformats.org/markup-compatibility/2006">
              <mc:Choice xmlns:v="urn:schemas-microsoft-com:vml" Requires="v">
                <p:oleObj spid="_x0000_s17427" r:id="rId3" imgW="2247900" imgH="254000" progId="Equation.DSMT4">
                  <p:embed/>
                </p:oleObj>
              </mc:Choice>
              <mc:Fallback>
                <p:oleObj r:id="rId3" imgW="2247900" imgH="254000" progId="Equation.DSMT4">
                  <p:embed/>
                  <p:pic>
                    <p:nvPicPr>
                      <p:cNvPr id="25603" name="对象 3891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1198" y="5159851"/>
                        <a:ext cx="56197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5604" name="矩形 38916"/>
          <p:cNvSpPr>
            <a:spLocks noChangeArrowheads="1"/>
          </p:cNvSpPr>
          <p:nvPr/>
        </p:nvSpPr>
        <p:spPr bwMode="auto">
          <a:xfrm>
            <a:off x="1905000" y="457200"/>
            <a:ext cx="503214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aseline="0" dirty="0">
                <a:solidFill>
                  <a:srgbClr val="FF0000"/>
                </a:solidFill>
                <a:latin typeface="黑体" panose="02010609060101010101" pitchFamily="49" charset="-122"/>
                <a:ea typeface="黑体" panose="02010609060101010101" pitchFamily="49" charset="-122"/>
              </a:rPr>
              <a:t>系统克服大气压力作功的说明 </a:t>
            </a:r>
          </a:p>
        </p:txBody>
      </p:sp>
      <p:pic>
        <p:nvPicPr>
          <p:cNvPr id="2" name="图片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01043" y="1481455"/>
            <a:ext cx="4183226" cy="3176683"/>
          </a:xfrm>
          <a:prstGeom prst="rect">
            <a:avLst/>
          </a:prstGeom>
        </p:spPr>
      </p:pic>
    </p:spTree>
    <p:extLst>
      <p:ext uri="{BB962C8B-B14F-4D97-AF65-F5344CB8AC3E}">
        <p14:creationId xmlns:p14="http://schemas.microsoft.com/office/powerpoint/2010/main" val="21080454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矩形 39937"/>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6626" name="文本占位符 39938"/>
          <p:cNvSpPr>
            <a:spLocks noGrp="1" noChangeArrowheads="1"/>
          </p:cNvSpPr>
          <p:nvPr>
            <p:ph type="body" idx="4294967295"/>
          </p:nvPr>
        </p:nvSpPr>
        <p:spPr>
          <a:xfrm>
            <a:off x="381000" y="838199"/>
            <a:ext cx="8229600" cy="2932043"/>
          </a:xfrm>
        </p:spPr>
        <p:txBody>
          <a:bodyPr>
            <a:noAutofit/>
          </a:bodyPr>
          <a:lstStyle/>
          <a:p>
            <a:r>
              <a:rPr lang="zh-CN" altLang="en-US" b="1" dirty="0" smtClean="0">
                <a:latin typeface="黑体" panose="02010609060101010101" pitchFamily="49" charset="-122"/>
                <a:ea typeface="黑体" panose="02010609060101010101" pitchFamily="49" charset="-122"/>
              </a:rPr>
              <a:t>当闭口系和环境的状态确定时，闭口系的</a:t>
            </a:r>
            <a:r>
              <a:rPr lang="zh-CN" altLang="en-US" b="1" dirty="0">
                <a:latin typeface="黑体" panose="02010609060101010101" pitchFamily="49" charset="-122"/>
                <a:ea typeface="黑体" panose="02010609060101010101" pitchFamily="49" charset="-122"/>
              </a:rPr>
              <a:t>㶲</a:t>
            </a:r>
            <a:r>
              <a:rPr lang="zh-CN" altLang="en-US" b="1" dirty="0" smtClean="0">
                <a:latin typeface="黑体" panose="02010609060101010101" pitchFamily="49" charset="-122"/>
                <a:ea typeface="黑体" panose="02010609060101010101" pitchFamily="49" charset="-122"/>
              </a:rPr>
              <a:t>值就确定了，与闭口系从给定状态经历何种可逆过程到达与环境相平衡的状态无关</a:t>
            </a:r>
          </a:p>
          <a:p>
            <a:r>
              <a:rPr lang="zh-CN" altLang="en-US" b="1" dirty="0" smtClean="0">
                <a:latin typeface="黑体" panose="02010609060101010101" pitchFamily="49" charset="-122"/>
                <a:ea typeface="黑体" panose="02010609060101010101" pitchFamily="49" charset="-122"/>
              </a:rPr>
              <a:t>闭口系的㶲是复合系（由所研究的闭口系和环境组成）的状态参数。如果环境的状态确定，闭口系的㶲仅和闭口系的状态有关</a:t>
            </a:r>
            <a:r>
              <a:rPr lang="zh-CN" altLang="en-US" dirty="0" smtClean="0">
                <a:latin typeface="黑体" panose="02010609060101010101" pitchFamily="49" charset="-122"/>
                <a:ea typeface="黑体" panose="02010609060101010101" pitchFamily="49" charset="-122"/>
              </a:rPr>
              <a:t>  </a:t>
            </a:r>
          </a:p>
        </p:txBody>
      </p:sp>
      <p:sp>
        <p:nvSpPr>
          <p:cNvPr id="26627" name="矩形 39939"/>
          <p:cNvSpPr>
            <a:spLocks noChangeArrowheads="1"/>
          </p:cNvSpPr>
          <p:nvPr/>
        </p:nvSpPr>
        <p:spPr bwMode="auto">
          <a:xfrm>
            <a:off x="0" y="22621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9232585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标题 40961"/>
          <p:cNvSpPr>
            <a:spLocks noGrp="1" noChangeArrowheads="1"/>
          </p:cNvSpPr>
          <p:nvPr>
            <p:ph type="title" idx="4294967295"/>
          </p:nvPr>
        </p:nvSpPr>
        <p:spPr>
          <a:xfrm>
            <a:off x="457200" y="274638"/>
            <a:ext cx="8229600" cy="715962"/>
          </a:xfrm>
        </p:spPr>
        <p:txBody>
          <a:bodyPr/>
          <a:lstStyle/>
          <a:p>
            <a:pPr algn="l"/>
            <a:r>
              <a:rPr lang="zh-CN" altLang="en-US" sz="3200" b="1" dirty="0" smtClean="0">
                <a:latin typeface="黑体" panose="02010609060101010101" pitchFamily="49" charset="-122"/>
                <a:ea typeface="黑体" panose="02010609060101010101" pitchFamily="49" charset="-122"/>
              </a:rPr>
              <a:t>若考虑宏观动能和重力势能</a:t>
            </a:r>
          </a:p>
        </p:txBody>
      </p:sp>
      <p:sp>
        <p:nvSpPr>
          <p:cNvPr id="27650" name="矩形 40962"/>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27651" name="对象 40963"/>
          <p:cNvGraphicFramePr>
            <a:graphicFrameLocks/>
          </p:cNvGraphicFramePr>
          <p:nvPr/>
        </p:nvGraphicFramePr>
        <p:xfrm>
          <a:off x="457200" y="1371600"/>
          <a:ext cx="8153400" cy="925513"/>
        </p:xfrm>
        <a:graphic>
          <a:graphicData uri="http://schemas.openxmlformats.org/presentationml/2006/ole">
            <mc:AlternateContent xmlns:mc="http://schemas.openxmlformats.org/markup-compatibility/2006">
              <mc:Choice xmlns:v="urn:schemas-microsoft-com:vml" Requires="v">
                <p:oleObj spid="_x0000_s18444" r:id="rId3" imgW="3440207" imgH="393529" progId="Equation.DSMT4">
                  <p:embed/>
                </p:oleObj>
              </mc:Choice>
              <mc:Fallback>
                <p:oleObj r:id="rId3" imgW="3440207" imgH="393529" progId="Equation.DSMT4">
                  <p:embed/>
                  <p:pic>
                    <p:nvPicPr>
                      <p:cNvPr id="27651" name="对象 4096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1371600"/>
                        <a:ext cx="8153400" cy="92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7652" name="直接连接符 40964"/>
          <p:cNvSpPr>
            <a:spLocks noChangeShapeType="1"/>
          </p:cNvSpPr>
          <p:nvPr/>
        </p:nvSpPr>
        <p:spPr bwMode="auto">
          <a:xfrm>
            <a:off x="1828800" y="990600"/>
            <a:ext cx="3657600"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53" name="直接连接符 40965"/>
          <p:cNvSpPr>
            <a:spLocks noChangeShapeType="1"/>
          </p:cNvSpPr>
          <p:nvPr/>
        </p:nvSpPr>
        <p:spPr bwMode="auto">
          <a:xfrm>
            <a:off x="6629400" y="2438400"/>
            <a:ext cx="2057400" cy="6626"/>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9054751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文本占位符 41985"/>
          <p:cNvSpPr>
            <a:spLocks noGrp="1" noChangeArrowheads="1"/>
          </p:cNvSpPr>
          <p:nvPr>
            <p:ph type="body" idx="4294967295"/>
          </p:nvPr>
        </p:nvSpPr>
        <p:spPr>
          <a:xfrm>
            <a:off x="457200" y="914400"/>
            <a:ext cx="8229600" cy="4525963"/>
          </a:xfrm>
        </p:spPr>
        <p:txBody>
          <a:bodyPr/>
          <a:lstStyle/>
          <a:p>
            <a:pPr>
              <a:lnSpc>
                <a:spcPct val="90000"/>
              </a:lnSpc>
            </a:pPr>
            <a:r>
              <a:rPr lang="zh-CN" altLang="en-US" b="1" dirty="0" smtClean="0">
                <a:latin typeface="黑体" panose="02010609060101010101" pitchFamily="49" charset="-122"/>
                <a:ea typeface="黑体" panose="02010609060101010101" pitchFamily="49" charset="-122"/>
              </a:rPr>
              <a:t>闭口系的㶲是闭口系的状态偏离环境状态的量度。</a:t>
            </a:r>
          </a:p>
          <a:p>
            <a:pPr>
              <a:lnSpc>
                <a:spcPct val="90000"/>
              </a:lnSpc>
            </a:pPr>
            <a:r>
              <a:rPr lang="zh-CN" altLang="en-US" b="1" dirty="0" smtClean="0">
                <a:latin typeface="黑体" panose="02010609060101010101" pitchFamily="49" charset="-122"/>
                <a:ea typeface="黑体" panose="02010609060101010101" pitchFamily="49" charset="-122"/>
              </a:rPr>
              <a:t>只要有偏离，系统都可以自发地变化到与环境相平衡的状态，在此过程中能够输出有用功。</a:t>
            </a:r>
          </a:p>
          <a:p>
            <a:pPr>
              <a:lnSpc>
                <a:spcPct val="90000"/>
              </a:lnSpc>
            </a:pPr>
            <a:r>
              <a:rPr lang="zh-CN" altLang="en-US" b="1" dirty="0" smtClean="0">
                <a:latin typeface="黑体" panose="02010609060101010101" pitchFamily="49" charset="-122"/>
                <a:ea typeface="黑体" panose="02010609060101010101" pitchFamily="49" charset="-122"/>
              </a:rPr>
              <a:t>也就是说，</a:t>
            </a:r>
            <a:r>
              <a:rPr lang="zh-CN" altLang="en-US" b="1" dirty="0" smtClean="0">
                <a:solidFill>
                  <a:srgbClr val="FF0000"/>
                </a:solidFill>
                <a:latin typeface="黑体" panose="02010609060101010101" pitchFamily="49" charset="-122"/>
                <a:ea typeface="黑体" panose="02010609060101010101" pitchFamily="49" charset="-122"/>
              </a:rPr>
              <a:t>只要系统不处于与环境平衡的状态，它就有作功的潜力，且系统的状态越是偏离环境状态，作功的潜力也越大。</a:t>
            </a:r>
          </a:p>
        </p:txBody>
      </p:sp>
      <p:sp>
        <p:nvSpPr>
          <p:cNvPr id="28674" name="矩形 41986"/>
          <p:cNvSpPr>
            <a:spLocks noChangeArrowheads="1"/>
          </p:cNvSpPr>
          <p:nvPr/>
        </p:nvSpPr>
        <p:spPr bwMode="auto">
          <a:xfrm>
            <a:off x="0" y="24145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6733855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矩形 43010"/>
          <p:cNvSpPr>
            <a:spLocks noChangeArrowheads="1"/>
          </p:cNvSpPr>
          <p:nvPr/>
        </p:nvSpPr>
        <p:spPr bwMode="auto">
          <a:xfrm>
            <a:off x="457200" y="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b="1" baseline="-25000">
                <a:solidFill>
                  <a:schemeClr val="tx1"/>
                </a:solidFill>
                <a:latin typeface="Arial" panose="020B0604020202020204" pitchFamily="34" charset="0"/>
                <a:ea typeface="宋体" panose="02010600030101010101" pitchFamily="2" charset="-122"/>
              </a:defRPr>
            </a:lvl1pPr>
            <a:lvl2pPr>
              <a:defRPr sz="2400" b="1" baseline="-25000">
                <a:solidFill>
                  <a:schemeClr val="tx1"/>
                </a:solidFill>
                <a:latin typeface="Arial" panose="020B0604020202020204" pitchFamily="34" charset="0"/>
                <a:ea typeface="宋体" panose="02010600030101010101" pitchFamily="2" charset="-122"/>
              </a:defRPr>
            </a:lvl2pPr>
            <a:lvl3pPr>
              <a:defRPr sz="2400" b="1" baseline="-25000">
                <a:solidFill>
                  <a:schemeClr val="tx1"/>
                </a:solidFill>
                <a:latin typeface="Arial" panose="020B0604020202020204" pitchFamily="34" charset="0"/>
                <a:ea typeface="宋体" panose="02010600030101010101" pitchFamily="2" charset="-122"/>
              </a:defRPr>
            </a:lvl3pPr>
            <a:lvl4pPr>
              <a:defRPr sz="2400" b="1" baseline="-25000">
                <a:solidFill>
                  <a:schemeClr val="tx1"/>
                </a:solidFill>
                <a:latin typeface="Arial" panose="020B0604020202020204" pitchFamily="34" charset="0"/>
                <a:ea typeface="宋体" panose="02010600030101010101" pitchFamily="2" charset="-122"/>
              </a:defRPr>
            </a:lvl4pPr>
            <a:lvl5pPr>
              <a:defRPr sz="2400" b="1" baseline="-25000">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sz="2400" b="1" baseline="-25000">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sz="2400" b="1" baseline="-25000">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sz="2400" b="1" baseline="-25000">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sz="2400" b="1" baseline="-25000">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pPr>
            <a:endParaRPr lang="zh-CN" altLang="en-US" baseline="0" dirty="0">
              <a:solidFill>
                <a:srgbClr val="FF0000"/>
              </a:solidFill>
              <a:latin typeface="黑体" panose="02010609060101010101" pitchFamily="49" charset="-122"/>
              <a:ea typeface="黑体" panose="02010609060101010101" pitchFamily="49" charset="-122"/>
            </a:endParaRPr>
          </a:p>
          <a:p>
            <a:pPr>
              <a:lnSpc>
                <a:spcPct val="90000"/>
              </a:lnSpc>
              <a:spcBef>
                <a:spcPct val="20000"/>
              </a:spcBef>
              <a:buFontTx/>
              <a:buChar char="•"/>
            </a:pPr>
            <a:r>
              <a:rPr lang="zh-CN" altLang="en-US" sz="2800" baseline="0" dirty="0">
                <a:latin typeface="黑体" panose="02010609060101010101" pitchFamily="49" charset="-122"/>
                <a:ea typeface="黑体" panose="02010609060101010101" pitchFamily="49" charset="-122"/>
              </a:rPr>
              <a:t>这意味着，无论闭口系的温度大于或是小于环境的温度，压力大于或是小于环境压力，闭口系的㶲总是大于</a:t>
            </a:r>
            <a:r>
              <a:rPr lang="en-US" altLang="zh-CN" sz="2800" baseline="0" dirty="0">
                <a:latin typeface="黑体" panose="02010609060101010101" pitchFamily="49" charset="-122"/>
                <a:ea typeface="黑体" panose="02010609060101010101" pitchFamily="49" charset="-122"/>
              </a:rPr>
              <a:t>0</a:t>
            </a:r>
          </a:p>
          <a:p>
            <a:pPr>
              <a:lnSpc>
                <a:spcPct val="90000"/>
              </a:lnSpc>
              <a:spcBef>
                <a:spcPct val="20000"/>
              </a:spcBef>
              <a:buFontTx/>
              <a:buChar char="•"/>
            </a:pPr>
            <a:r>
              <a:rPr lang="zh-CN" altLang="en-US" sz="2800" baseline="0" dirty="0">
                <a:latin typeface="黑体" panose="02010609060101010101" pitchFamily="49" charset="-122"/>
                <a:ea typeface="黑体" panose="02010609060101010101" pitchFamily="49" charset="-122"/>
              </a:rPr>
              <a:t>即使闭口系的热力学能很小（例如其温度远低于环境温度），它所具有的㶲（即作功潜力）也可以</a:t>
            </a:r>
            <a:r>
              <a:rPr lang="zh-CN" altLang="en-US" sz="2800" baseline="0" dirty="0" smtClean="0">
                <a:latin typeface="黑体" panose="02010609060101010101" pitchFamily="49" charset="-122"/>
                <a:ea typeface="黑体" panose="02010609060101010101" pitchFamily="49" charset="-122"/>
              </a:rPr>
              <a:t>很大</a:t>
            </a:r>
            <a:endParaRPr lang="zh-CN" altLang="en-US" sz="2800" baseline="0" dirty="0">
              <a:latin typeface="黑体" panose="02010609060101010101" pitchFamily="49" charset="-122"/>
              <a:ea typeface="黑体" panose="02010609060101010101" pitchFamily="49" charset="-122"/>
            </a:endParaRPr>
          </a:p>
        </p:txBody>
      </p:sp>
      <p:sp>
        <p:nvSpPr>
          <p:cNvPr id="29698" name="矩形 43012"/>
          <p:cNvSpPr>
            <a:spLocks noChangeArrowheads="1"/>
          </p:cNvSpPr>
          <p:nvPr/>
        </p:nvSpPr>
        <p:spPr bwMode="auto">
          <a:xfrm>
            <a:off x="0" y="24860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1408" y="2948483"/>
            <a:ext cx="5029636" cy="2895851"/>
          </a:xfrm>
          <a:prstGeom prst="rect">
            <a:avLst/>
          </a:prstGeom>
        </p:spPr>
      </p:pic>
    </p:spTree>
    <p:extLst>
      <p:ext uri="{BB962C8B-B14F-4D97-AF65-F5344CB8AC3E}">
        <p14:creationId xmlns:p14="http://schemas.microsoft.com/office/powerpoint/2010/main" val="16173319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标题 46081"/>
          <p:cNvSpPr>
            <a:spLocks noGrp="1" noChangeArrowheads="1"/>
          </p:cNvSpPr>
          <p:nvPr>
            <p:ph type="title" idx="4294967295"/>
          </p:nvPr>
        </p:nvSpPr>
        <p:spPr>
          <a:xfrm>
            <a:off x="457200" y="249805"/>
            <a:ext cx="8229600" cy="1143000"/>
          </a:xfrm>
        </p:spPr>
        <p:txBody>
          <a:bodyPr/>
          <a:lstStyle/>
          <a:p>
            <a:r>
              <a:rPr lang="zh-CN" altLang="en-US" sz="3600" b="1" dirty="0" smtClean="0">
                <a:latin typeface="黑体" panose="02010609060101010101" pitchFamily="49" charset="-122"/>
                <a:ea typeface="黑体" panose="02010609060101010101" pitchFamily="49" charset="-122"/>
              </a:rPr>
              <a:t>二、流动工质的㶲（焓</a:t>
            </a:r>
            <a:r>
              <a:rPr lang="zh-CN" altLang="en-US" sz="3600" b="1" dirty="0">
                <a:latin typeface="黑体" panose="02010609060101010101" pitchFamily="49" charset="-122"/>
                <a:ea typeface="黑体" panose="02010609060101010101" pitchFamily="49" charset="-122"/>
              </a:rPr>
              <a:t>㶲</a:t>
            </a:r>
            <a:r>
              <a:rPr lang="zh-CN" altLang="en-US" sz="3600" b="1" dirty="0" smtClean="0">
                <a:latin typeface="黑体" panose="02010609060101010101" pitchFamily="49" charset="-122"/>
                <a:ea typeface="黑体" panose="02010609060101010101" pitchFamily="49" charset="-122"/>
              </a:rPr>
              <a:t>）</a:t>
            </a:r>
          </a:p>
        </p:txBody>
      </p:sp>
      <p:sp>
        <p:nvSpPr>
          <p:cNvPr id="30722" name="矩形 46082"/>
          <p:cNvSpPr>
            <a:spLocks noChangeArrowheads="1"/>
          </p:cNvSpPr>
          <p:nvPr/>
        </p:nvSpPr>
        <p:spPr bwMode="auto">
          <a:xfrm>
            <a:off x="0" y="23145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723" name="矩形 46083"/>
          <p:cNvSpPr>
            <a:spLocks noChangeArrowheads="1"/>
          </p:cNvSpPr>
          <p:nvPr/>
        </p:nvSpPr>
        <p:spPr bwMode="auto">
          <a:xfrm>
            <a:off x="0" y="24050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724" name="矩形 46086"/>
          <p:cNvSpPr>
            <a:spLocks noChangeArrowheads="1"/>
          </p:cNvSpPr>
          <p:nvPr/>
        </p:nvSpPr>
        <p:spPr bwMode="auto">
          <a:xfrm>
            <a:off x="533400" y="1651565"/>
            <a:ext cx="8077200"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457200" indent="-457200">
              <a:buFont typeface="Arial" panose="020B0604020202020204" pitchFamily="34" charset="0"/>
              <a:buChar char="•"/>
            </a:pPr>
            <a:r>
              <a:rPr lang="zh-CN" altLang="en-US" sz="2800" b="1" baseline="0" dirty="0">
                <a:latin typeface="黑体" panose="02010609060101010101" pitchFamily="49" charset="-122"/>
                <a:ea typeface="黑体" panose="02010609060101010101" pitchFamily="49" charset="-122"/>
              </a:rPr>
              <a:t>在工程中，能量转换及热量传递过程很多是通过流动工质的状态变化实现的。</a:t>
            </a:r>
          </a:p>
          <a:p>
            <a:pPr marL="457200" indent="-457200">
              <a:buFont typeface="Arial" panose="020B0604020202020204" pitchFamily="34" charset="0"/>
              <a:buChar char="•"/>
            </a:pPr>
            <a:r>
              <a:rPr lang="zh-CN" altLang="en-US" sz="2800" b="1" baseline="0" dirty="0">
                <a:latin typeface="黑体" panose="02010609060101010101" pitchFamily="49" charset="-122"/>
                <a:ea typeface="黑体" panose="02010609060101010101" pitchFamily="49" charset="-122"/>
              </a:rPr>
              <a:t>对于某种流动的工质，它具有的㶲值该如何计算呢</a:t>
            </a:r>
            <a:r>
              <a:rPr lang="zh-CN" altLang="en-US" sz="2800" b="1" baseline="0" dirty="0" smtClean="0">
                <a:latin typeface="黑体" panose="02010609060101010101" pitchFamily="49" charset="-122"/>
                <a:ea typeface="黑体" panose="02010609060101010101" pitchFamily="49" charset="-122"/>
              </a:rPr>
              <a:t>？它</a:t>
            </a:r>
            <a:r>
              <a:rPr lang="zh-CN" altLang="en-US" sz="2800" b="1" baseline="0" dirty="0">
                <a:latin typeface="黑体" panose="02010609060101010101" pitchFamily="49" charset="-122"/>
                <a:ea typeface="黑体" panose="02010609060101010101" pitchFamily="49" charset="-122"/>
              </a:rPr>
              <a:t>与非流动的工质（例如置于闭口系中的工质）具有的㶲又有什么关系呢？</a:t>
            </a:r>
            <a:r>
              <a:rPr lang="zh-CN" altLang="en-US" sz="2800" b="1" dirty="0">
                <a:latin typeface="黑体" panose="02010609060101010101" pitchFamily="49" charset="-122"/>
                <a:ea typeface="黑体" panose="02010609060101010101" pitchFamily="49" charset="-122"/>
              </a:rPr>
              <a:t> </a:t>
            </a:r>
          </a:p>
        </p:txBody>
      </p:sp>
    </p:spTree>
    <p:extLst>
      <p:ext uri="{BB962C8B-B14F-4D97-AF65-F5344CB8AC3E}">
        <p14:creationId xmlns:p14="http://schemas.microsoft.com/office/powerpoint/2010/main" val="17302505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矩形 47105"/>
          <p:cNvSpPr>
            <a:spLocks noChangeArrowheads="1"/>
          </p:cNvSpPr>
          <p:nvPr/>
        </p:nvSpPr>
        <p:spPr bwMode="auto">
          <a:xfrm>
            <a:off x="0" y="2833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31746" name="对象 47106"/>
          <p:cNvGraphicFramePr>
            <a:graphicFrameLocks/>
          </p:cNvGraphicFramePr>
          <p:nvPr>
            <p:extLst>
              <p:ext uri="{D42A27DB-BD31-4B8C-83A1-F6EECF244321}">
                <p14:modId xmlns:p14="http://schemas.microsoft.com/office/powerpoint/2010/main" val="2784946049"/>
              </p:ext>
            </p:extLst>
          </p:nvPr>
        </p:nvGraphicFramePr>
        <p:xfrm>
          <a:off x="-76200" y="254002"/>
          <a:ext cx="4648200" cy="2441575"/>
        </p:xfrm>
        <a:graphic>
          <a:graphicData uri="http://schemas.openxmlformats.org/presentationml/2006/ole">
            <mc:AlternateContent xmlns:mc="http://schemas.openxmlformats.org/markup-compatibility/2006">
              <mc:Choice xmlns:v="urn:schemas-microsoft-com:vml" Requires="v">
                <p:oleObj spid="_x0000_s20509" r:id="rId3" imgW="2579400" imgH="1353240" progId="Visio.Drawing.11">
                  <p:embed/>
                </p:oleObj>
              </mc:Choice>
              <mc:Fallback>
                <p:oleObj r:id="rId3" imgW="2579400" imgH="1353240" progId="Visio.Drawing.11">
                  <p:embed/>
                  <p:pic>
                    <p:nvPicPr>
                      <p:cNvPr id="31746" name="对象 4710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254002"/>
                        <a:ext cx="4648200" cy="2441575"/>
                      </a:xfrm>
                      <a:prstGeom prst="rect">
                        <a:avLst/>
                      </a:prstGeom>
                      <a:noFill/>
                      <a:ln>
                        <a:noFill/>
                      </a:ln>
                    </p:spPr>
                  </p:pic>
                </p:oleObj>
              </mc:Fallback>
            </mc:AlternateContent>
          </a:graphicData>
        </a:graphic>
      </p:graphicFrame>
      <p:sp>
        <p:nvSpPr>
          <p:cNvPr id="31747" name="矩形 47107"/>
          <p:cNvSpPr>
            <a:spLocks noChangeArrowheads="1"/>
          </p:cNvSpPr>
          <p:nvPr/>
        </p:nvSpPr>
        <p:spPr bwMode="auto">
          <a:xfrm>
            <a:off x="4800600" y="533400"/>
            <a:ext cx="35814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baseline="0" dirty="0">
                <a:latin typeface="黑体" panose="02010609060101010101" pitchFamily="49" charset="-122"/>
                <a:ea typeface="黑体" panose="02010609060101010101" pitchFamily="49" charset="-122"/>
              </a:rPr>
              <a:t>非流动工质的总能包括三部分，而流动工质的总能包括四部分</a:t>
            </a:r>
            <a:r>
              <a:rPr lang="zh-CN" altLang="en-US" sz="2800" b="1" dirty="0">
                <a:latin typeface="黑体" panose="02010609060101010101" pitchFamily="49" charset="-122"/>
                <a:ea typeface="黑体" panose="02010609060101010101" pitchFamily="49" charset="-122"/>
              </a:rPr>
              <a:t> </a:t>
            </a:r>
          </a:p>
        </p:txBody>
      </p:sp>
      <p:sp>
        <p:nvSpPr>
          <p:cNvPr id="31748" name="矩形 47108"/>
          <p:cNvSpPr>
            <a:spLocks noChangeArrowheads="1"/>
          </p:cNvSpPr>
          <p:nvPr/>
        </p:nvSpPr>
        <p:spPr bwMode="auto">
          <a:xfrm>
            <a:off x="0" y="2833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1752" name="矩形 47112"/>
          <p:cNvSpPr>
            <a:spLocks noChangeArrowheads="1"/>
          </p:cNvSpPr>
          <p:nvPr/>
        </p:nvSpPr>
        <p:spPr bwMode="auto">
          <a:xfrm>
            <a:off x="4114800" y="3535363"/>
            <a:ext cx="4648200" cy="222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baseline="0" dirty="0">
                <a:latin typeface="黑体" panose="02010609060101010101" pitchFamily="49" charset="-122"/>
                <a:ea typeface="黑体" panose="02010609060101010101" pitchFamily="49" charset="-122"/>
              </a:rPr>
              <a:t>流动能是为了维持流体能够流入或流出系统边界所需要的能量，</a:t>
            </a:r>
            <a:r>
              <a:rPr lang="zh-CN" altLang="en-US" sz="2800" b="1" baseline="0" dirty="0">
                <a:solidFill>
                  <a:srgbClr val="FF0000"/>
                </a:solidFill>
                <a:latin typeface="黑体" panose="02010609060101010101" pitchFamily="49" charset="-122"/>
                <a:ea typeface="黑体" panose="02010609060101010101" pitchFamily="49" charset="-122"/>
              </a:rPr>
              <a:t>它是状态量，可视为流动的流体所携带的能量中的一部分</a:t>
            </a:r>
            <a:endParaRPr lang="zh-CN" altLang="en-US" sz="2800" b="1" baseline="0" dirty="0">
              <a:latin typeface="黑体" panose="02010609060101010101" pitchFamily="49" charset="-122"/>
              <a:ea typeface="黑体" panose="02010609060101010101" pitchFamily="49" charset="-122"/>
            </a:endParaRPr>
          </a:p>
        </p:txBody>
      </p:sp>
      <p:pic>
        <p:nvPicPr>
          <p:cNvPr id="2" name="图片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4688" y="2833688"/>
            <a:ext cx="3731075" cy="3578662"/>
          </a:xfrm>
          <a:prstGeom prst="rect">
            <a:avLst/>
          </a:prstGeom>
        </p:spPr>
      </p:pic>
    </p:spTree>
    <p:extLst>
      <p:ext uri="{BB962C8B-B14F-4D97-AF65-F5344CB8AC3E}">
        <p14:creationId xmlns:p14="http://schemas.microsoft.com/office/powerpoint/2010/main" val="40592644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矩形 49153"/>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2770" name="矩形 49155"/>
          <p:cNvSpPr>
            <a:spLocks noChangeArrowheads="1"/>
          </p:cNvSpPr>
          <p:nvPr/>
        </p:nvSpPr>
        <p:spPr bwMode="auto">
          <a:xfrm>
            <a:off x="0" y="3186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32771" name="对象 49158"/>
          <p:cNvGraphicFramePr>
            <a:graphicFrameLocks/>
          </p:cNvGraphicFramePr>
          <p:nvPr/>
        </p:nvGraphicFramePr>
        <p:xfrm>
          <a:off x="609600" y="1447800"/>
          <a:ext cx="1527175" cy="592138"/>
        </p:xfrm>
        <a:graphic>
          <a:graphicData uri="http://schemas.openxmlformats.org/presentationml/2006/ole">
            <mc:AlternateContent xmlns:mc="http://schemas.openxmlformats.org/markup-compatibility/2006">
              <mc:Choice xmlns:v="urn:schemas-microsoft-com:vml" Requires="v">
                <p:oleObj spid="_x0000_s21568" r:id="rId3" imgW="622030" imgH="241195" progId="Equation.DSMT4">
                  <p:embed/>
                </p:oleObj>
              </mc:Choice>
              <mc:Fallback>
                <p:oleObj r:id="rId3" imgW="622030" imgH="241195" progId="Equation.DSMT4">
                  <p:embed/>
                  <p:pic>
                    <p:nvPicPr>
                      <p:cNvPr id="32771" name="对象 4915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1447800"/>
                        <a:ext cx="1527175" cy="592138"/>
                      </a:xfrm>
                      <a:prstGeom prst="rect">
                        <a:avLst/>
                      </a:prstGeom>
                      <a:solidFill>
                        <a:srgbClr val="FF99CC"/>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2772" name="矩形 49159"/>
          <p:cNvSpPr>
            <a:spLocks noChangeArrowheads="1"/>
          </p:cNvSpPr>
          <p:nvPr/>
        </p:nvSpPr>
        <p:spPr bwMode="auto">
          <a:xfrm>
            <a:off x="533400" y="2712774"/>
            <a:ext cx="79248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baseline="0" dirty="0">
                <a:latin typeface="Times New Roman" panose="02020603050405020304" pitchFamily="18" charset="0"/>
                <a:ea typeface="黑体" panose="02010609060101010101" pitchFamily="49" charset="-122"/>
              </a:rPr>
              <a:t>活塞代表压力为</a:t>
            </a:r>
            <a:r>
              <a:rPr lang="en-US" altLang="zh-CN" sz="2800" b="1" i="1" baseline="0" dirty="0">
                <a:latin typeface="Times New Roman" panose="02020603050405020304" pitchFamily="18" charset="0"/>
                <a:ea typeface="黑体" panose="02010609060101010101" pitchFamily="49" charset="-122"/>
              </a:rPr>
              <a:t>p</a:t>
            </a:r>
            <a:r>
              <a:rPr lang="zh-CN" altLang="en-US" sz="2800" b="1" baseline="0" dirty="0">
                <a:latin typeface="Times New Roman" panose="02020603050405020304" pitchFamily="18" charset="0"/>
                <a:ea typeface="黑体" panose="02010609060101010101" pitchFamily="49" charset="-122"/>
              </a:rPr>
              <a:t>，体积为</a:t>
            </a:r>
            <a:r>
              <a:rPr lang="en-US" altLang="zh-CN" sz="2800" b="1" i="1" baseline="0" dirty="0">
                <a:latin typeface="Times New Roman" panose="02020603050405020304" pitchFamily="18" charset="0"/>
                <a:ea typeface="黑体" panose="02010609060101010101" pitchFamily="49" charset="-122"/>
              </a:rPr>
              <a:t>V</a:t>
            </a:r>
            <a:r>
              <a:rPr lang="zh-CN" altLang="en-US" sz="2800" b="1" baseline="0" dirty="0">
                <a:latin typeface="Times New Roman" panose="02020603050405020304" pitchFamily="18" charset="0"/>
                <a:ea typeface="黑体" panose="02010609060101010101" pitchFamily="49" charset="-122"/>
              </a:rPr>
              <a:t>的流体的下游流体。在流体对下游流体（即活塞）作功过程中，需要推挤压力为</a:t>
            </a:r>
            <a:r>
              <a:rPr lang="en-US" altLang="zh-CN" sz="2800" b="1" i="1" baseline="0" dirty="0">
                <a:latin typeface="Times New Roman" panose="02020603050405020304" pitchFamily="18" charset="0"/>
                <a:ea typeface="黑体" panose="02010609060101010101" pitchFamily="49" charset="-122"/>
              </a:rPr>
              <a:t>p</a:t>
            </a:r>
            <a:r>
              <a:rPr lang="en-US" altLang="zh-CN" sz="2800" b="1" baseline="-25000" dirty="0">
                <a:latin typeface="Times New Roman" panose="02020603050405020304" pitchFamily="18" charset="0"/>
                <a:ea typeface="黑体" panose="02010609060101010101" pitchFamily="49" charset="-122"/>
              </a:rPr>
              <a:t>0</a:t>
            </a:r>
            <a:r>
              <a:rPr lang="zh-CN" altLang="en-US" sz="2800" b="1" baseline="0" dirty="0">
                <a:latin typeface="Times New Roman" panose="02020603050405020304" pitchFamily="18" charset="0"/>
                <a:ea typeface="黑体" panose="02010609060101010101" pitchFamily="49" charset="-122"/>
              </a:rPr>
              <a:t>的环境介质作功，这部分功是无用功，需要从流动能中减去。</a:t>
            </a:r>
          </a:p>
        </p:txBody>
      </p:sp>
      <p:sp>
        <p:nvSpPr>
          <p:cNvPr id="32773" name="矩形 49160"/>
          <p:cNvSpPr>
            <a:spLocks noChangeArrowheads="1"/>
          </p:cNvSpPr>
          <p:nvPr/>
        </p:nvSpPr>
        <p:spPr bwMode="auto">
          <a:xfrm>
            <a:off x="0" y="25955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2775" name="矩形 49162"/>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32776" name="对象 49165"/>
          <p:cNvGraphicFramePr>
            <a:graphicFrameLocks noChangeAspect="1"/>
          </p:cNvGraphicFramePr>
          <p:nvPr>
            <p:extLst>
              <p:ext uri="{D42A27DB-BD31-4B8C-83A1-F6EECF244321}">
                <p14:modId xmlns:p14="http://schemas.microsoft.com/office/powerpoint/2010/main" val="1773072839"/>
              </p:ext>
            </p:extLst>
          </p:nvPr>
        </p:nvGraphicFramePr>
        <p:xfrm>
          <a:off x="533400" y="457200"/>
          <a:ext cx="3046678" cy="602988"/>
        </p:xfrm>
        <a:graphic>
          <a:graphicData uri="http://schemas.openxmlformats.org/presentationml/2006/ole">
            <mc:AlternateContent xmlns:mc="http://schemas.openxmlformats.org/markup-compatibility/2006">
              <mc:Choice xmlns:v="urn:schemas-microsoft-com:vml" Requires="v">
                <p:oleObj spid="_x0000_s21569" r:id="rId5" imgW="1218671" imgH="241195" progId="Equation.DSMT4">
                  <p:embed/>
                </p:oleObj>
              </mc:Choice>
              <mc:Fallback>
                <p:oleObj r:id="rId5" imgW="1218671" imgH="241195" progId="Equation.DSMT4">
                  <p:embed/>
                  <p:pic>
                    <p:nvPicPr>
                      <p:cNvPr id="32776" name="对象 4916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 y="457200"/>
                        <a:ext cx="3046678" cy="602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2777" name="矩形 49168"/>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32778" name="对象 49167"/>
          <p:cNvGraphicFramePr>
            <a:graphicFrameLocks noChangeAspect="1"/>
          </p:cNvGraphicFramePr>
          <p:nvPr>
            <p:extLst>
              <p:ext uri="{D42A27DB-BD31-4B8C-83A1-F6EECF244321}">
                <p14:modId xmlns:p14="http://schemas.microsoft.com/office/powerpoint/2010/main" val="553796041"/>
              </p:ext>
            </p:extLst>
          </p:nvPr>
        </p:nvGraphicFramePr>
        <p:xfrm>
          <a:off x="2119313" y="4530164"/>
          <a:ext cx="4508500" cy="603250"/>
        </p:xfrm>
        <a:graphic>
          <a:graphicData uri="http://schemas.openxmlformats.org/presentationml/2006/ole">
            <mc:AlternateContent xmlns:mc="http://schemas.openxmlformats.org/markup-compatibility/2006">
              <mc:Choice xmlns:v="urn:schemas-microsoft-com:vml" Requires="v">
                <p:oleObj spid="_x0000_s21570" r:id="rId7" imgW="1803400" imgH="241300" progId="Equation.DSMT4">
                  <p:embed/>
                </p:oleObj>
              </mc:Choice>
              <mc:Fallback>
                <p:oleObj r:id="rId7" imgW="1803400" imgH="241300" progId="Equation.DSMT4">
                  <p:embed/>
                  <p:pic>
                    <p:nvPicPr>
                      <p:cNvPr id="32778" name="对象 49167"/>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19313" y="4530164"/>
                        <a:ext cx="4508500" cy="60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2779" name="对象 49169"/>
          <p:cNvGraphicFramePr>
            <a:graphicFrameLocks/>
          </p:cNvGraphicFramePr>
          <p:nvPr>
            <p:extLst>
              <p:ext uri="{D42A27DB-BD31-4B8C-83A1-F6EECF244321}">
                <p14:modId xmlns:p14="http://schemas.microsoft.com/office/powerpoint/2010/main" val="421617318"/>
              </p:ext>
            </p:extLst>
          </p:nvPr>
        </p:nvGraphicFramePr>
        <p:xfrm>
          <a:off x="2414864" y="5340351"/>
          <a:ext cx="3992562" cy="563563"/>
        </p:xfrm>
        <a:graphic>
          <a:graphicData uri="http://schemas.openxmlformats.org/presentationml/2006/ole">
            <mc:AlternateContent xmlns:mc="http://schemas.openxmlformats.org/markup-compatibility/2006">
              <mc:Choice xmlns:v="urn:schemas-microsoft-com:vml" Requires="v">
                <p:oleObj spid="_x0000_s21571" r:id="rId9" imgW="1814525" imgH="253780" progId="Equation.DSMT4">
                  <p:embed/>
                </p:oleObj>
              </mc:Choice>
              <mc:Fallback>
                <p:oleObj r:id="rId9" imgW="1814525" imgH="253780" progId="Equation.DSMT4">
                  <p:embed/>
                  <p:pic>
                    <p:nvPicPr>
                      <p:cNvPr id="32779" name="对象 49169"/>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14864" y="5340351"/>
                        <a:ext cx="3992562" cy="563563"/>
                      </a:xfrm>
                      <a:prstGeom prst="rect">
                        <a:avLst/>
                      </a:prstGeom>
                      <a:solidFill>
                        <a:schemeClr val="accent1">
                          <a:lumMod val="40000"/>
                          <a:lumOff val="60000"/>
                        </a:schemeClr>
                      </a:solidFill>
                      <a:ln>
                        <a:noFill/>
                      </a:ln>
                    </p:spPr>
                  </p:pic>
                </p:oleObj>
              </mc:Fallback>
            </mc:AlternateContent>
          </a:graphicData>
        </a:graphic>
      </p:graphicFrame>
      <p:sp>
        <p:nvSpPr>
          <p:cNvPr id="32780" name="矩形 49171"/>
          <p:cNvSpPr>
            <a:spLocks noChangeArrowheads="1"/>
          </p:cNvSpPr>
          <p:nvPr/>
        </p:nvSpPr>
        <p:spPr bwMode="auto">
          <a:xfrm>
            <a:off x="828951" y="5340351"/>
            <a:ext cx="12557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baseline="0" dirty="0">
                <a:latin typeface="Times New Roman" panose="02020603050405020304" pitchFamily="18" charset="0"/>
                <a:ea typeface="黑体" panose="02010609060101010101" pitchFamily="49" charset="-122"/>
              </a:rPr>
              <a:t>从而有</a:t>
            </a:r>
          </a:p>
        </p:txBody>
      </p:sp>
      <p:graphicFrame>
        <p:nvGraphicFramePr>
          <p:cNvPr id="14" name="对象 436237"/>
          <p:cNvGraphicFramePr>
            <a:graphicFrameLocks/>
          </p:cNvGraphicFramePr>
          <p:nvPr>
            <p:extLst>
              <p:ext uri="{D42A27DB-BD31-4B8C-83A1-F6EECF244321}">
                <p14:modId xmlns:p14="http://schemas.microsoft.com/office/powerpoint/2010/main" val="408354626"/>
              </p:ext>
            </p:extLst>
          </p:nvPr>
        </p:nvGraphicFramePr>
        <p:xfrm>
          <a:off x="2422007" y="6029787"/>
          <a:ext cx="3703637" cy="577850"/>
        </p:xfrm>
        <a:graphic>
          <a:graphicData uri="http://schemas.openxmlformats.org/presentationml/2006/ole">
            <mc:AlternateContent xmlns:mc="http://schemas.openxmlformats.org/markup-compatibility/2006">
              <mc:Choice xmlns:v="urn:schemas-microsoft-com:vml" Requires="v">
                <p:oleObj spid="_x0000_s21572" r:id="rId11" imgW="1612800" imgH="253800" progId="Equation.DSMT4">
                  <p:embed/>
                </p:oleObj>
              </mc:Choice>
              <mc:Fallback>
                <p:oleObj r:id="rId11" imgW="1612800" imgH="253800" progId="Equation.DSMT4">
                  <p:embed/>
                  <p:pic>
                    <p:nvPicPr>
                      <p:cNvPr id="29701" name="对象 436237"/>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22007" y="6029787"/>
                        <a:ext cx="3703637" cy="577850"/>
                      </a:xfrm>
                      <a:prstGeom prst="rect">
                        <a:avLst/>
                      </a:prstGeom>
                      <a:noFill/>
                      <a:ln w="25400">
                        <a:noFill/>
                        <a:miter lim="800000"/>
                        <a:headEnd/>
                        <a:tailEnd/>
                      </a:ln>
                      <a:extLst/>
                    </p:spPr>
                  </p:pic>
                </p:oleObj>
              </mc:Fallback>
            </mc:AlternateContent>
          </a:graphicData>
        </a:graphic>
      </p:graphicFrame>
      <p:sp>
        <p:nvSpPr>
          <p:cNvPr id="15" name="矩形 506887"/>
          <p:cNvSpPr>
            <a:spLocks noChangeArrowheads="1"/>
          </p:cNvSpPr>
          <p:nvPr/>
        </p:nvSpPr>
        <p:spPr bwMode="auto">
          <a:xfrm>
            <a:off x="852620" y="6057102"/>
            <a:ext cx="126669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baseline="0" dirty="0" smtClean="0">
                <a:solidFill>
                  <a:srgbClr val="FF0000"/>
                </a:solidFill>
                <a:latin typeface="黑体" panose="02010609060101010101" pitchFamily="49" charset="-122"/>
                <a:ea typeface="黑体" panose="02010609060101010101" pitchFamily="49" charset="-122"/>
              </a:rPr>
              <a:t>比焓</a:t>
            </a:r>
            <a:r>
              <a:rPr lang="zh-CN" altLang="en-US" sz="2800" b="1" baseline="0" dirty="0" smtClean="0">
                <a:solidFill>
                  <a:srgbClr val="FF0000"/>
                </a:solidFill>
                <a:latin typeface="黑体" panose="02010609060101010101" pitchFamily="49" charset="-122"/>
                <a:ea typeface="黑体" panose="02010609060101010101" pitchFamily="49" charset="-122"/>
                <a:sym typeface="宋体" panose="02010600030101010101" pitchFamily="2" charset="-122"/>
              </a:rPr>
              <a:t>㶲</a:t>
            </a:r>
            <a:endParaRPr lang="zh-CN" altLang="en-US" sz="2800" b="1" baseline="0" dirty="0">
              <a:solidFill>
                <a:srgbClr val="FF0000"/>
              </a:solidFill>
              <a:latin typeface="黑体" panose="02010609060101010101" pitchFamily="49" charset="-122"/>
              <a:ea typeface="黑体" panose="02010609060101010101" pitchFamily="49" charset="-122"/>
            </a:endParaRPr>
          </a:p>
        </p:txBody>
      </p:sp>
      <p:pic>
        <p:nvPicPr>
          <p:cNvPr id="2" name="图片 1"/>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580078" y="76081"/>
            <a:ext cx="4267570" cy="2743438"/>
          </a:xfrm>
          <a:prstGeom prst="rect">
            <a:avLst/>
          </a:prstGeom>
        </p:spPr>
      </p:pic>
    </p:spTree>
    <p:extLst>
      <p:ext uri="{BB962C8B-B14F-4D97-AF65-F5344CB8AC3E}">
        <p14:creationId xmlns:p14="http://schemas.microsoft.com/office/powerpoint/2010/main" val="26717799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矩形 50177"/>
          <p:cNvSpPr>
            <a:spLocks noChangeArrowheads="1"/>
          </p:cNvSpPr>
          <p:nvPr/>
        </p:nvSpPr>
        <p:spPr bwMode="auto">
          <a:xfrm>
            <a:off x="0" y="1814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33794" name="对象 50179"/>
          <p:cNvGraphicFramePr>
            <a:graphicFrameLocks/>
          </p:cNvGraphicFramePr>
          <p:nvPr>
            <p:extLst>
              <p:ext uri="{D42A27DB-BD31-4B8C-83A1-F6EECF244321}">
                <p14:modId xmlns:p14="http://schemas.microsoft.com/office/powerpoint/2010/main" val="97261425"/>
              </p:ext>
            </p:extLst>
          </p:nvPr>
        </p:nvGraphicFramePr>
        <p:xfrm>
          <a:off x="366713" y="1600200"/>
          <a:ext cx="3992562" cy="563563"/>
        </p:xfrm>
        <a:graphic>
          <a:graphicData uri="http://schemas.openxmlformats.org/presentationml/2006/ole">
            <mc:AlternateContent xmlns:mc="http://schemas.openxmlformats.org/markup-compatibility/2006">
              <mc:Choice xmlns:v="urn:schemas-microsoft-com:vml" Requires="v">
                <p:oleObj spid="_x0000_s22563" r:id="rId3" imgW="1814525" imgH="253780" progId="Equation.DSMT4">
                  <p:embed/>
                </p:oleObj>
              </mc:Choice>
              <mc:Fallback>
                <p:oleObj r:id="rId3" imgW="1814525" imgH="253780" progId="Equation.DSMT4">
                  <p:embed/>
                  <p:pic>
                    <p:nvPicPr>
                      <p:cNvPr id="33794" name="对象 5017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6713" y="1600200"/>
                        <a:ext cx="3992562" cy="563563"/>
                      </a:xfrm>
                      <a:prstGeom prst="rect">
                        <a:avLst/>
                      </a:prstGeom>
                      <a:solidFill>
                        <a:schemeClr val="accent1">
                          <a:lumMod val="40000"/>
                          <a:lumOff val="60000"/>
                        </a:schemeClr>
                      </a:solidFill>
                      <a:ln>
                        <a:noFill/>
                      </a:ln>
                    </p:spPr>
                  </p:pic>
                </p:oleObj>
              </mc:Fallback>
            </mc:AlternateContent>
          </a:graphicData>
        </a:graphic>
      </p:graphicFrame>
      <p:sp>
        <p:nvSpPr>
          <p:cNvPr id="33795" name="矩形 50180"/>
          <p:cNvSpPr>
            <a:spLocks noChangeArrowheads="1"/>
          </p:cNvSpPr>
          <p:nvPr/>
        </p:nvSpPr>
        <p:spPr bwMode="auto">
          <a:xfrm>
            <a:off x="4724400" y="1458109"/>
            <a:ext cx="3833813"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流动工质的㶲也总是大于或等于</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0</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么？</a:t>
            </a:r>
          </a:p>
        </p:txBody>
      </p:sp>
      <p:graphicFrame>
        <p:nvGraphicFramePr>
          <p:cNvPr id="33796" name="对象 50181"/>
          <p:cNvGraphicFramePr>
            <a:graphicFrameLocks/>
          </p:cNvGraphicFramePr>
          <p:nvPr>
            <p:extLst>
              <p:ext uri="{D42A27DB-BD31-4B8C-83A1-F6EECF244321}">
                <p14:modId xmlns:p14="http://schemas.microsoft.com/office/powerpoint/2010/main" val="792068787"/>
              </p:ext>
            </p:extLst>
          </p:nvPr>
        </p:nvGraphicFramePr>
        <p:xfrm>
          <a:off x="317500" y="533400"/>
          <a:ext cx="5153025" cy="519113"/>
        </p:xfrm>
        <a:graphic>
          <a:graphicData uri="http://schemas.openxmlformats.org/presentationml/2006/ole">
            <mc:AlternateContent xmlns:mc="http://schemas.openxmlformats.org/markup-compatibility/2006">
              <mc:Choice xmlns:v="urn:schemas-microsoft-com:vml" Requires="v">
                <p:oleObj spid="_x0000_s22564" r:id="rId5" imgW="2550486" imgH="253780" progId="Equation.DSMT4">
                  <p:embed/>
                </p:oleObj>
              </mc:Choice>
              <mc:Fallback>
                <p:oleObj r:id="rId5" imgW="2550486" imgH="253780" progId="Equation.DSMT4">
                  <p:embed/>
                  <p:pic>
                    <p:nvPicPr>
                      <p:cNvPr id="33796" name="对象 5018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7500" y="533400"/>
                        <a:ext cx="5153025" cy="519113"/>
                      </a:xfrm>
                      <a:prstGeom prst="rect">
                        <a:avLst/>
                      </a:prstGeom>
                      <a:solidFill>
                        <a:schemeClr val="accent1">
                          <a:lumMod val="40000"/>
                          <a:lumOff val="60000"/>
                        </a:schemeClr>
                      </a:solidFill>
                      <a:ln>
                        <a:noFill/>
                      </a:ln>
                    </p:spPr>
                  </p:pic>
                </p:oleObj>
              </mc:Fallback>
            </mc:AlternateContent>
          </a:graphicData>
        </a:graphic>
      </p:graphicFrame>
      <p:sp>
        <p:nvSpPr>
          <p:cNvPr id="33797" name="矩形 50182"/>
          <p:cNvSpPr>
            <a:spLocks noChangeArrowheads="1"/>
          </p:cNvSpPr>
          <p:nvPr/>
        </p:nvSpPr>
        <p:spPr bwMode="auto">
          <a:xfrm>
            <a:off x="5791200" y="315109"/>
            <a:ext cx="2855913"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baseline="0" dirty="0">
                <a:latin typeface="Times New Roman" panose="02020603050405020304" pitchFamily="18" charset="0"/>
                <a:ea typeface="黑体" panose="02010609060101010101" pitchFamily="49" charset="-122"/>
                <a:cs typeface="Times New Roman" panose="02020603050405020304" pitchFamily="18" charset="0"/>
              </a:rPr>
              <a:t>闭口系的㶲总是大于或等于</a:t>
            </a:r>
            <a:r>
              <a:rPr lang="en-US" altLang="zh-CN" sz="2800" b="1" baseline="0" dirty="0">
                <a:latin typeface="Times New Roman" panose="02020603050405020304" pitchFamily="18" charset="0"/>
                <a:ea typeface="黑体" panose="02010609060101010101" pitchFamily="49" charset="-122"/>
                <a:cs typeface="Times New Roman" panose="02020603050405020304" pitchFamily="18" charset="0"/>
              </a:rPr>
              <a:t>0</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 </a:t>
            </a:r>
          </a:p>
        </p:txBody>
      </p:sp>
      <p:graphicFrame>
        <p:nvGraphicFramePr>
          <p:cNvPr id="33798" name="对象 50184"/>
          <p:cNvGraphicFramePr>
            <a:graphicFrameLocks noChangeAspect="1"/>
          </p:cNvGraphicFramePr>
          <p:nvPr>
            <p:extLst>
              <p:ext uri="{D42A27DB-BD31-4B8C-83A1-F6EECF244321}">
                <p14:modId xmlns:p14="http://schemas.microsoft.com/office/powerpoint/2010/main" val="364070288"/>
              </p:ext>
            </p:extLst>
          </p:nvPr>
        </p:nvGraphicFramePr>
        <p:xfrm>
          <a:off x="1447800" y="2895599"/>
          <a:ext cx="3046678" cy="602988"/>
        </p:xfrm>
        <a:graphic>
          <a:graphicData uri="http://schemas.openxmlformats.org/presentationml/2006/ole">
            <mc:AlternateContent xmlns:mc="http://schemas.openxmlformats.org/markup-compatibility/2006">
              <mc:Choice xmlns:v="urn:schemas-microsoft-com:vml" Requires="v">
                <p:oleObj spid="_x0000_s22565" r:id="rId7" imgW="1218671" imgH="241195" progId="Equation.DSMT4">
                  <p:embed/>
                </p:oleObj>
              </mc:Choice>
              <mc:Fallback>
                <p:oleObj r:id="rId7" imgW="1218671" imgH="241195" progId="Equation.DSMT4">
                  <p:embed/>
                  <p:pic>
                    <p:nvPicPr>
                      <p:cNvPr id="33798" name="对象 50184"/>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47800" y="2895599"/>
                        <a:ext cx="3046678" cy="602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0186" name="直接连接符 50185"/>
          <p:cNvSpPr>
            <a:spLocks noChangeShapeType="1"/>
          </p:cNvSpPr>
          <p:nvPr/>
        </p:nvSpPr>
        <p:spPr bwMode="auto">
          <a:xfrm>
            <a:off x="3453491" y="3498587"/>
            <a:ext cx="1127125"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187" name="矩形 50186"/>
          <p:cNvSpPr>
            <a:spLocks noChangeArrowheads="1"/>
          </p:cNvSpPr>
          <p:nvPr/>
        </p:nvSpPr>
        <p:spPr bwMode="auto">
          <a:xfrm>
            <a:off x="2059055" y="4094908"/>
            <a:ext cx="4230757"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r>
              <a:rPr lang="zh-CN" altLang="en-US" sz="2800" b="1" baseline="0" dirty="0">
                <a:latin typeface="Times New Roman" panose="02020603050405020304" pitchFamily="18" charset="0"/>
                <a:ea typeface="黑体" panose="02010609060101010101" pitchFamily="49" charset="-122"/>
                <a:cs typeface="Times New Roman" panose="02020603050405020304" pitchFamily="18" charset="0"/>
              </a:rPr>
              <a:t>若</a:t>
            </a:r>
            <a:r>
              <a:rPr lang="en-US" altLang="zh-CN" sz="2800" b="1" i="1" baseline="0" dirty="0" smtClean="0">
                <a:latin typeface="Times New Roman" panose="02020603050405020304" pitchFamily="18" charset="0"/>
                <a:ea typeface="黑体" panose="02010609060101010101" pitchFamily="49" charset="-122"/>
                <a:cs typeface="Times New Roman" panose="02020603050405020304" pitchFamily="18" charset="0"/>
              </a:rPr>
              <a:t>p</a:t>
            </a:r>
            <a:r>
              <a:rPr lang="en-US" altLang="zh-CN" sz="2800" b="1" baseline="0" dirty="0" smtClean="0">
                <a:latin typeface="Times New Roman" panose="02020603050405020304" pitchFamily="18" charset="0"/>
                <a:ea typeface="黑体" panose="02010609060101010101" pitchFamily="49" charset="-122"/>
                <a:cs typeface="Times New Roman" panose="02020603050405020304" pitchFamily="18" charset="0"/>
              </a:rPr>
              <a:t>&lt;</a:t>
            </a:r>
            <a:r>
              <a:rPr lang="en-US" altLang="zh-CN" sz="2800" b="1" i="1" baseline="0" dirty="0" smtClean="0">
                <a:latin typeface="Times New Roman" panose="02020603050405020304" pitchFamily="18" charset="0"/>
                <a:ea typeface="黑体" panose="02010609060101010101" pitchFamily="49" charset="-122"/>
                <a:cs typeface="Times New Roman" panose="02020603050405020304" pitchFamily="18" charset="0"/>
              </a:rPr>
              <a:t>p</a:t>
            </a:r>
            <a:r>
              <a:rPr lang="en-US" altLang="zh-CN" sz="2800" b="1" baseline="-25000" dirty="0" smtClean="0">
                <a:latin typeface="Times New Roman" panose="02020603050405020304" pitchFamily="18" charset="0"/>
                <a:ea typeface="黑体" panose="02010609060101010101" pitchFamily="49" charset="-122"/>
                <a:cs typeface="Times New Roman" panose="02020603050405020304" pitchFamily="18" charset="0"/>
              </a:rPr>
              <a:t>0</a:t>
            </a:r>
            <a:r>
              <a:rPr lang="zh-CN" altLang="en-US" sz="2800" b="1" baseline="0" dirty="0" smtClean="0">
                <a:latin typeface="Times New Roman" panose="02020603050405020304" pitchFamily="18" charset="0"/>
                <a:ea typeface="黑体" panose="02010609060101010101" pitchFamily="49" charset="-122"/>
                <a:cs typeface="Times New Roman" panose="02020603050405020304" pitchFamily="18" charset="0"/>
              </a:rPr>
              <a:t>，则</a:t>
            </a:r>
            <a:r>
              <a:rPr lang="zh-CN" altLang="en-US" sz="2800" b="1" baseline="0" dirty="0">
                <a:latin typeface="Times New Roman" panose="02020603050405020304" pitchFamily="18" charset="0"/>
                <a:ea typeface="黑体" panose="02010609060101010101" pitchFamily="49" charset="-122"/>
                <a:cs typeface="Times New Roman" panose="02020603050405020304" pitchFamily="18" charset="0"/>
              </a:rPr>
              <a:t>此项小于</a:t>
            </a:r>
            <a:r>
              <a:rPr lang="en-US" altLang="zh-CN" sz="2800" b="1" baseline="0" dirty="0">
                <a:latin typeface="Times New Roman" panose="02020603050405020304" pitchFamily="18" charset="0"/>
                <a:ea typeface="黑体" panose="02010609060101010101" pitchFamily="49" charset="-122"/>
                <a:cs typeface="Times New Roman" panose="02020603050405020304" pitchFamily="18" charset="0"/>
              </a:rPr>
              <a:t>0</a:t>
            </a:r>
            <a:r>
              <a:rPr lang="zh-CN" altLang="en-US" sz="2800" b="1" baseline="0" dirty="0">
                <a:latin typeface="Times New Roman" panose="02020603050405020304" pitchFamily="18" charset="0"/>
                <a:ea typeface="黑体" panose="02010609060101010101" pitchFamily="49" charset="-122"/>
                <a:cs typeface="Times New Roman" panose="02020603050405020304" pitchFamily="18" charset="0"/>
              </a:rPr>
              <a:t>，流动工质的㶲</a:t>
            </a:r>
            <a:r>
              <a:rPr lang="zh-CN" altLang="en-US" sz="2800" b="1" baseline="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可能小于</a:t>
            </a:r>
            <a:r>
              <a:rPr lang="en-US" altLang="zh-CN" sz="2800" b="1" baseline="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0 </a:t>
            </a:r>
          </a:p>
        </p:txBody>
      </p:sp>
      <p:sp>
        <p:nvSpPr>
          <p:cNvPr id="2" name="下箭头 1"/>
          <p:cNvSpPr/>
          <p:nvPr/>
        </p:nvSpPr>
        <p:spPr>
          <a:xfrm>
            <a:off x="3796748" y="3544957"/>
            <a:ext cx="220305" cy="50358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255365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0186"/>
                                        </p:tgtEl>
                                        <p:attrNameLst>
                                          <p:attrName>style.visibility</p:attrName>
                                        </p:attrNameLst>
                                      </p:cBhvr>
                                      <p:to>
                                        <p:strVal val="visible"/>
                                      </p:to>
                                    </p:set>
                                    <p:animEffect transition="in" filter="wipe(left)">
                                      <p:cBhvr>
                                        <p:cTn id="7" dur="500"/>
                                        <p:tgtEl>
                                          <p:spTgt spid="501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0187"/>
                                        </p:tgtEl>
                                        <p:attrNameLst>
                                          <p:attrName>style.visibility</p:attrName>
                                        </p:attrNameLst>
                                      </p:cBhvr>
                                      <p:to>
                                        <p:strVal val="visible"/>
                                      </p:to>
                                    </p:set>
                                    <p:animEffect transition="in" filter="blinds(horizontal)">
                                      <p:cBhvr>
                                        <p:cTn id="12" dur="500"/>
                                        <p:tgtEl>
                                          <p:spTgt spid="501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矩形 528385"/>
          <p:cNvSpPr>
            <a:spLocks noChangeArrowheads="1"/>
          </p:cNvSpPr>
          <p:nvPr/>
        </p:nvSpPr>
        <p:spPr bwMode="auto">
          <a:xfrm>
            <a:off x="115955" y="1172818"/>
            <a:ext cx="8928653"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p>
            <a:pPr algn="ctr">
              <a:buFontTx/>
              <a:buChar char="§"/>
            </a:pPr>
            <a:r>
              <a:rPr lang="en-US" altLang="zh-CN" sz="3600" b="1" baseline="0" dirty="0">
                <a:latin typeface="黑体" panose="02010609060101010101" pitchFamily="49" charset="-122"/>
                <a:ea typeface="黑体" panose="02010609060101010101" pitchFamily="49" charset="-122"/>
              </a:rPr>
              <a:t>7</a:t>
            </a:r>
            <a:r>
              <a:rPr lang="zh-CN" altLang="en-US" sz="3600" b="1" baseline="0" dirty="0" smtClean="0">
                <a:latin typeface="黑体" panose="02010609060101010101" pitchFamily="49" charset="-122"/>
                <a:ea typeface="黑体" panose="02010609060101010101" pitchFamily="49" charset="-122"/>
              </a:rPr>
              <a:t>－</a:t>
            </a:r>
            <a:r>
              <a:rPr lang="en-US" altLang="zh-CN" sz="3600" b="1" baseline="0" dirty="0" smtClean="0">
                <a:latin typeface="黑体" panose="02010609060101010101" pitchFamily="49" charset="-122"/>
                <a:ea typeface="黑体" panose="02010609060101010101" pitchFamily="49" charset="-122"/>
              </a:rPr>
              <a:t>3</a:t>
            </a:r>
            <a:r>
              <a:rPr lang="zh-CN" altLang="en-US" sz="3600" b="1" baseline="0" dirty="0">
                <a:latin typeface="黑体" panose="02010609060101010101" pitchFamily="49" charset="-122"/>
                <a:ea typeface="黑体" panose="02010609060101010101" pitchFamily="49" charset="-122"/>
              </a:rPr>
              <a:t>　</a:t>
            </a:r>
            <a:r>
              <a:rPr lang="zh-CN" altLang="en-US" sz="3600" b="1" baseline="0" dirty="0" smtClean="0">
                <a:latin typeface="黑体" panose="02010609060101010101" pitchFamily="49" charset="-122"/>
                <a:ea typeface="黑体" panose="02010609060101010101" pitchFamily="49" charset="-122"/>
              </a:rPr>
              <a:t>进入和离开系统的</a:t>
            </a:r>
            <a:r>
              <a:rPr lang="zh-CN" altLang="en-US" sz="3600" b="1" dirty="0" smtClean="0">
                <a:latin typeface="黑体" panose="02010609060101010101" pitchFamily="49" charset="-122"/>
                <a:ea typeface="黑体" panose="02010609060101010101" pitchFamily="49" charset="-122"/>
              </a:rPr>
              <a:t>㶲量</a:t>
            </a:r>
            <a:endParaRPr lang="zh-CN" altLang="en-US" sz="3600" b="1" baseline="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0786320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532483"/>
          <p:cNvSpPr>
            <a:spLocks noChangeArrowheads="1"/>
          </p:cNvSpPr>
          <p:nvPr/>
        </p:nvSpPr>
        <p:spPr bwMode="auto">
          <a:xfrm>
            <a:off x="887859" y="4136740"/>
            <a:ext cx="7543800"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baseline="0" dirty="0" smtClean="0">
                <a:latin typeface="Times New Roman" panose="02020603050405020304" pitchFamily="18" charset="0"/>
                <a:cs typeface="Times New Roman" panose="02020603050405020304" pitchFamily="18" charset="0"/>
              </a:rPr>
              <a:t>在温度为</a:t>
            </a:r>
            <a:r>
              <a:rPr lang="en-US" altLang="zh-CN" sz="3200" b="1" i="1" dirty="0" smtClean="0">
                <a:latin typeface="Times New Roman" panose="02020603050405020304" pitchFamily="18" charset="0"/>
                <a:cs typeface="Times New Roman" panose="02020603050405020304" pitchFamily="18" charset="0"/>
              </a:rPr>
              <a:t>T</a:t>
            </a:r>
            <a:r>
              <a:rPr lang="en-US" altLang="zh-CN" sz="3200" b="1" baseline="-25000" dirty="0" smtClean="0">
                <a:latin typeface="Times New Roman" panose="02020603050405020304" pitchFamily="18" charset="0"/>
                <a:cs typeface="Times New Roman" panose="02020603050405020304" pitchFamily="18" charset="0"/>
              </a:rPr>
              <a:t>0</a:t>
            </a:r>
            <a:r>
              <a:rPr lang="zh-CN" altLang="en-US" sz="3200" b="1" dirty="0" smtClean="0">
                <a:latin typeface="Times New Roman" panose="02020603050405020304" pitchFamily="18" charset="0"/>
                <a:cs typeface="Times New Roman" panose="02020603050405020304" pitchFamily="18" charset="0"/>
              </a:rPr>
              <a:t>的环境条件下，从</a:t>
            </a:r>
            <a:r>
              <a:rPr lang="zh-CN" altLang="en-US" sz="3200" b="1" baseline="0" dirty="0" smtClean="0">
                <a:latin typeface="Times New Roman" panose="02020603050405020304" pitchFamily="18" charset="0"/>
                <a:cs typeface="Times New Roman" panose="02020603050405020304" pitchFamily="18" charset="0"/>
              </a:rPr>
              <a:t>温度</a:t>
            </a:r>
            <a:r>
              <a:rPr lang="zh-CN" altLang="en-US" sz="3200" b="1" baseline="0" dirty="0">
                <a:latin typeface="Times New Roman" panose="02020603050405020304" pitchFamily="18" charset="0"/>
                <a:cs typeface="Times New Roman" panose="02020603050405020304" pitchFamily="18" charset="0"/>
              </a:rPr>
              <a:t>为</a:t>
            </a:r>
            <a:r>
              <a:rPr lang="en-US" altLang="zh-CN" sz="3200" b="1" i="1" baseline="0" dirty="0">
                <a:latin typeface="Times New Roman" panose="02020603050405020304" pitchFamily="18" charset="0"/>
                <a:cs typeface="Times New Roman" panose="02020603050405020304" pitchFamily="18" charset="0"/>
              </a:rPr>
              <a:t>T</a:t>
            </a:r>
            <a:r>
              <a:rPr lang="zh-CN" altLang="en-US" sz="3200" b="1" baseline="0" dirty="0">
                <a:latin typeface="Times New Roman" panose="02020603050405020304" pitchFamily="18" charset="0"/>
                <a:cs typeface="Times New Roman" panose="02020603050405020304" pitchFamily="18" charset="0"/>
              </a:rPr>
              <a:t>的</a:t>
            </a:r>
            <a:r>
              <a:rPr lang="zh-CN" altLang="en-US" sz="3200" b="1" baseline="0" dirty="0" smtClean="0">
                <a:latin typeface="Times New Roman" panose="02020603050405020304" pitchFamily="18" charset="0"/>
                <a:cs typeface="Times New Roman" panose="02020603050405020304" pitchFamily="18" charset="0"/>
              </a:rPr>
              <a:t>系统传递出热量</a:t>
            </a:r>
            <a:r>
              <a:rPr lang="en-US" altLang="zh-CN" sz="3200" b="1" i="1" baseline="0" dirty="0">
                <a:latin typeface="Times New Roman" panose="02020603050405020304" pitchFamily="18" charset="0"/>
                <a:cs typeface="Times New Roman" panose="02020603050405020304" pitchFamily="18" charset="0"/>
              </a:rPr>
              <a:t>Q</a:t>
            </a:r>
            <a:r>
              <a:rPr lang="zh-CN" altLang="en-US" sz="3200" b="1" baseline="0" dirty="0" smtClean="0">
                <a:latin typeface="Times New Roman" panose="02020603050405020304" pitchFamily="18" charset="0"/>
                <a:cs typeface="Times New Roman" panose="02020603050405020304" pitchFamily="18" charset="0"/>
              </a:rPr>
              <a:t>，此热量所能完成的最大有用功就是</a:t>
            </a:r>
            <a:r>
              <a:rPr lang="zh-CN" altLang="en-US" sz="3200" b="1" dirty="0">
                <a:latin typeface="黑体" panose="02010609060101010101" pitchFamily="49" charset="-122"/>
                <a:ea typeface="黑体" panose="02010609060101010101" pitchFamily="49" charset="-122"/>
              </a:rPr>
              <a:t>热量</a:t>
            </a:r>
            <a:r>
              <a:rPr lang="zh-CN" altLang="en-US" sz="3200" b="1" dirty="0" smtClean="0">
                <a:latin typeface="黑体" panose="02010609060101010101" pitchFamily="49" charset="-122"/>
                <a:ea typeface="黑体" panose="02010609060101010101" pitchFamily="49" charset="-122"/>
              </a:rPr>
              <a:t>㶲，</a:t>
            </a:r>
            <a:r>
              <a:rPr lang="zh-CN" altLang="en-US" sz="3200" b="1" dirty="0">
                <a:latin typeface="黑体" panose="02010609060101010101" pitchFamily="49" charset="-122"/>
                <a:ea typeface="黑体" panose="02010609060101010101" pitchFamily="49" charset="-122"/>
              </a:rPr>
              <a:t>用</a:t>
            </a:r>
            <a:r>
              <a:rPr lang="en-US" altLang="zh-CN" sz="3200" b="1" i="1" dirty="0" err="1">
                <a:latin typeface="Times New Roman" panose="02020603050405020304" pitchFamily="18" charset="0"/>
                <a:ea typeface="黑体" panose="02010609060101010101" pitchFamily="49" charset="-122"/>
                <a:cs typeface="Times New Roman" panose="02020603050405020304" pitchFamily="18" charset="0"/>
              </a:rPr>
              <a:t>E</a:t>
            </a:r>
            <a:r>
              <a:rPr lang="en-US" altLang="zh-CN" sz="3200" b="1" baseline="-25000" dirty="0" err="1">
                <a:latin typeface="Times New Roman" panose="02020603050405020304" pitchFamily="18" charset="0"/>
                <a:ea typeface="黑体" panose="02010609060101010101" pitchFamily="49" charset="-122"/>
                <a:cs typeface="Times New Roman" panose="02020603050405020304" pitchFamily="18" charset="0"/>
              </a:rPr>
              <a:t>x,</a:t>
            </a:r>
            <a:r>
              <a:rPr lang="en-US" altLang="zh-CN" sz="3200" b="1" i="1" baseline="-25000" dirty="0" err="1">
                <a:latin typeface="Times New Roman" panose="02020603050405020304" pitchFamily="18" charset="0"/>
                <a:ea typeface="黑体" panose="02010609060101010101" pitchFamily="49" charset="-122"/>
                <a:cs typeface="Times New Roman" panose="02020603050405020304" pitchFamily="18" charset="0"/>
              </a:rPr>
              <a:t>Q</a:t>
            </a:r>
            <a:r>
              <a:rPr lang="zh-CN" altLang="en-US" sz="3200" b="1" dirty="0">
                <a:latin typeface="黑体" panose="02010609060101010101" pitchFamily="49" charset="-122"/>
                <a:ea typeface="黑体" panose="02010609060101010101" pitchFamily="49" charset="-122"/>
              </a:rPr>
              <a:t>表示</a:t>
            </a:r>
          </a:p>
          <a:p>
            <a:endParaRPr lang="zh-CN" altLang="en-US" sz="3200" b="1" baseline="0" dirty="0">
              <a:latin typeface="Times New Roman" panose="02020603050405020304" pitchFamily="18" charset="0"/>
              <a:cs typeface="Times New Roman" panose="02020603050405020304" pitchFamily="18" charset="0"/>
            </a:endParaRP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57616" y="1392884"/>
            <a:ext cx="5639289" cy="3578662"/>
          </a:xfrm>
          <a:prstGeom prst="rect">
            <a:avLst/>
          </a:prstGeom>
        </p:spPr>
      </p:pic>
      <p:sp>
        <p:nvSpPr>
          <p:cNvPr id="6" name="矩形 528385"/>
          <p:cNvSpPr>
            <a:spLocks noChangeArrowheads="1"/>
          </p:cNvSpPr>
          <p:nvPr/>
        </p:nvSpPr>
        <p:spPr bwMode="auto">
          <a:xfrm>
            <a:off x="-404155" y="0"/>
            <a:ext cx="10019453"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p>
            <a:r>
              <a:rPr lang="zh-CN" altLang="en-US" sz="3600" b="1" baseline="0" dirty="0">
                <a:latin typeface="黑体" panose="02010609060101010101" pitchFamily="49" charset="-122"/>
                <a:ea typeface="黑体" panose="02010609060101010101" pitchFamily="49" charset="-122"/>
              </a:rPr>
              <a:t>一、伴随热量传递而传递的㶲</a:t>
            </a:r>
            <a:r>
              <a:rPr lang="zh-CN" altLang="en-US" sz="3600" b="1" baseline="0" dirty="0" smtClean="0">
                <a:latin typeface="黑体" panose="02010609060101010101" pitchFamily="49" charset="-122"/>
                <a:ea typeface="黑体" panose="02010609060101010101" pitchFamily="49" charset="-122"/>
              </a:rPr>
              <a:t>量（</a:t>
            </a:r>
            <a:r>
              <a:rPr lang="zh-CN" altLang="en-US" sz="3600" b="1" baseline="0" dirty="0">
                <a:latin typeface="黑体" panose="02010609060101010101" pitchFamily="49" charset="-122"/>
                <a:ea typeface="黑体" panose="02010609060101010101" pitchFamily="49" charset="-122"/>
              </a:rPr>
              <a:t>热量㶲）</a:t>
            </a:r>
          </a:p>
        </p:txBody>
      </p:sp>
    </p:spTree>
    <p:extLst>
      <p:ext uri="{BB962C8B-B14F-4D97-AF65-F5344CB8AC3E}">
        <p14:creationId xmlns:p14="http://schemas.microsoft.com/office/powerpoint/2010/main" val="15825745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7845" y="1268627"/>
            <a:ext cx="4766976" cy="3025097"/>
          </a:xfrm>
          <a:prstGeom prst="rect">
            <a:avLst/>
          </a:prstGeom>
        </p:spPr>
      </p:pic>
      <p:sp>
        <p:nvSpPr>
          <p:cNvPr id="24577" name="矩形 529409"/>
          <p:cNvSpPr>
            <a:spLocks noChangeArrowheads="1"/>
          </p:cNvSpPr>
          <p:nvPr/>
        </p:nvSpPr>
        <p:spPr bwMode="auto">
          <a:xfrm>
            <a:off x="0" y="2157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4579" name="矩形 529411"/>
          <p:cNvSpPr>
            <a:spLocks noChangeArrowheads="1"/>
          </p:cNvSpPr>
          <p:nvPr/>
        </p:nvSpPr>
        <p:spPr bwMode="auto">
          <a:xfrm>
            <a:off x="364433" y="251959"/>
            <a:ext cx="408829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en-US" altLang="zh-CN" sz="3600" b="1" i="1" baseline="0" dirty="0">
                <a:latin typeface="Times New Roman" panose="02020603050405020304" pitchFamily="18" charset="0"/>
                <a:cs typeface="Times New Roman" panose="02020603050405020304" pitchFamily="18" charset="0"/>
              </a:rPr>
              <a:t>T&gt;T</a:t>
            </a:r>
            <a:r>
              <a:rPr lang="en-US" altLang="zh-CN" sz="3600" b="1" baseline="-25000" dirty="0">
                <a:latin typeface="Times New Roman" panose="02020603050405020304" pitchFamily="18" charset="0"/>
                <a:cs typeface="Times New Roman" panose="02020603050405020304" pitchFamily="18" charset="0"/>
              </a:rPr>
              <a:t>0</a:t>
            </a:r>
            <a:r>
              <a:rPr lang="en-US" altLang="zh-CN" sz="4000" b="1" i="1" baseline="0" dirty="0">
                <a:latin typeface="Times New Roman" panose="02020603050405020304" pitchFamily="18" charset="0"/>
                <a:cs typeface="Times New Roman" panose="02020603050405020304" pitchFamily="18" charset="0"/>
              </a:rPr>
              <a:t> </a:t>
            </a:r>
          </a:p>
        </p:txBody>
      </p:sp>
      <p:graphicFrame>
        <p:nvGraphicFramePr>
          <p:cNvPr id="529413" name="对象 529412"/>
          <p:cNvGraphicFramePr>
            <a:graphicFrameLocks/>
          </p:cNvGraphicFramePr>
          <p:nvPr>
            <p:extLst>
              <p:ext uri="{D42A27DB-BD31-4B8C-83A1-F6EECF244321}">
                <p14:modId xmlns:p14="http://schemas.microsoft.com/office/powerpoint/2010/main" val="3504713110"/>
              </p:ext>
            </p:extLst>
          </p:nvPr>
        </p:nvGraphicFramePr>
        <p:xfrm>
          <a:off x="5413341" y="1128518"/>
          <a:ext cx="3108325" cy="1079500"/>
        </p:xfrm>
        <a:graphic>
          <a:graphicData uri="http://schemas.openxmlformats.org/presentationml/2006/ole">
            <mc:AlternateContent xmlns:mc="http://schemas.openxmlformats.org/markup-compatibility/2006">
              <mc:Choice xmlns:v="urn:schemas-microsoft-com:vml" Requires="v">
                <p:oleObj spid="_x0000_s14369" r:id="rId5" imgW="1231560" imgH="431640" progId="Equation.DSMT4">
                  <p:embed/>
                </p:oleObj>
              </mc:Choice>
              <mc:Fallback>
                <p:oleObj r:id="rId5" imgW="1231560" imgH="431640" progId="Equation.DSMT4">
                  <p:embed/>
                  <p:pic>
                    <p:nvPicPr>
                      <p:cNvPr id="529413" name="对象 529412"/>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13341" y="1128518"/>
                        <a:ext cx="310832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29414" name="椭圆 529413"/>
          <p:cNvSpPr>
            <a:spLocks noChangeArrowheads="1"/>
          </p:cNvSpPr>
          <p:nvPr/>
        </p:nvSpPr>
        <p:spPr bwMode="auto">
          <a:xfrm>
            <a:off x="1443839" y="2552575"/>
            <a:ext cx="609600" cy="457200"/>
          </a:xfrm>
          <a:prstGeom prst="ellipse">
            <a:avLst/>
          </a:pr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 name="矩形 530437"/>
          <p:cNvSpPr>
            <a:spLocks noChangeArrowheads="1"/>
          </p:cNvSpPr>
          <p:nvPr/>
        </p:nvSpPr>
        <p:spPr bwMode="auto">
          <a:xfrm>
            <a:off x="597845" y="4545496"/>
            <a:ext cx="8216349" cy="1793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800" b="1" baseline="0" dirty="0">
                <a:latin typeface="黑体" panose="02010609060101010101" pitchFamily="49" charset="-122"/>
                <a:ea typeface="黑体" panose="02010609060101010101" pitchFamily="49" charset="-122"/>
              </a:rPr>
              <a:t>热量㶲的大小不仅与热量的数量有关，还与热量的“出处”（即热量来自于什么温度的系统）相关</a:t>
            </a:r>
          </a:p>
        </p:txBody>
      </p:sp>
    </p:spTree>
    <p:custDataLst>
      <p:tags r:id="rId2"/>
    </p:custDataLst>
    <p:extLst>
      <p:ext uri="{BB962C8B-B14F-4D97-AF65-F5344CB8AC3E}">
        <p14:creationId xmlns:p14="http://schemas.microsoft.com/office/powerpoint/2010/main" val="39259011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29414"/>
                                        </p:tgtEl>
                                        <p:attrNameLst>
                                          <p:attrName>style.visibility</p:attrName>
                                        </p:attrNameLst>
                                      </p:cBhvr>
                                      <p:to>
                                        <p:strVal val="visible"/>
                                      </p:to>
                                    </p:set>
                                    <p:animEffect transition="in" filter="blinds(horizontal)">
                                      <p:cBhvr>
                                        <p:cTn id="7" dur="500"/>
                                        <p:tgtEl>
                                          <p:spTgt spid="5294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29413"/>
                                        </p:tgtEl>
                                        <p:attrNameLst>
                                          <p:attrName>style.visibility</p:attrName>
                                        </p:attrNameLst>
                                      </p:cBhvr>
                                      <p:to>
                                        <p:strVal val="visible"/>
                                      </p:to>
                                    </p:set>
                                    <p:animEffect transition="in" filter="blinds(horizontal)">
                                      <p:cBhvr>
                                        <p:cTn id="12" dur="500"/>
                                        <p:tgtEl>
                                          <p:spTgt spid="5294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mod="1"/>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椭圆 531459"/>
          <p:cNvSpPr>
            <a:spLocks noChangeArrowheads="1"/>
          </p:cNvSpPr>
          <p:nvPr/>
        </p:nvSpPr>
        <p:spPr bwMode="auto">
          <a:xfrm>
            <a:off x="3631094" y="2720631"/>
            <a:ext cx="533400" cy="381000"/>
          </a:xfrm>
          <a:prstGeom prst="ellipse">
            <a:avLst/>
          </a:pr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8915" name="矩形 531460"/>
          <p:cNvSpPr>
            <a:spLocks noChangeArrowheads="1"/>
          </p:cNvSpPr>
          <p:nvPr/>
        </p:nvSpPr>
        <p:spPr bwMode="auto">
          <a:xfrm>
            <a:off x="2792894" y="2587608"/>
            <a:ext cx="95571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800" b="0" baseline="0" dirty="0">
                <a:ea typeface="黑体" panose="02010609060101010101" pitchFamily="49" charset="-122"/>
              </a:rPr>
              <a:t>火无</a:t>
            </a:r>
            <a:r>
              <a:rPr lang="zh-CN" altLang="en-US" b="0" dirty="0"/>
              <a:t> </a:t>
            </a:r>
          </a:p>
        </p:txBody>
      </p:sp>
      <p:sp>
        <p:nvSpPr>
          <p:cNvPr id="38917" name="矩形 531463"/>
          <p:cNvSpPr>
            <a:spLocks noChangeArrowheads="1"/>
          </p:cNvSpPr>
          <p:nvPr/>
        </p:nvSpPr>
        <p:spPr bwMode="auto">
          <a:xfrm>
            <a:off x="527549" y="3329483"/>
            <a:ext cx="27432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b="1" baseline="0" dirty="0">
                <a:ea typeface="黑体" panose="02010609060101010101" pitchFamily="49" charset="-122"/>
              </a:rPr>
              <a:t>受热力学第二定律和环境因素</a:t>
            </a:r>
            <a:r>
              <a:rPr lang="en-US" altLang="zh-CN" sz="2400" b="1" baseline="0" dirty="0" smtClean="0">
                <a:ea typeface="黑体" panose="02010609060101010101" pitchFamily="49" charset="-122"/>
              </a:rPr>
              <a:t>(</a:t>
            </a:r>
            <a:r>
              <a:rPr lang="en-US" altLang="zh-CN" sz="2400" b="1" i="1" baseline="0" dirty="0" smtClean="0">
                <a:latin typeface="Times New Roman" panose="02020603050405020304" pitchFamily="18" charset="0"/>
                <a:ea typeface="黑体" panose="02010609060101010101" pitchFamily="49" charset="-122"/>
                <a:cs typeface="Times New Roman" panose="02020603050405020304" pitchFamily="18" charset="0"/>
              </a:rPr>
              <a:t>T</a:t>
            </a:r>
            <a:r>
              <a:rPr lang="en-US" altLang="zh-CN" sz="2400" b="1" baseline="-25000" dirty="0" smtClean="0">
                <a:latin typeface="Times New Roman" panose="02020603050405020304" pitchFamily="18" charset="0"/>
                <a:ea typeface="黑体" panose="02010609060101010101" pitchFamily="49" charset="-122"/>
                <a:cs typeface="Times New Roman" panose="02020603050405020304" pitchFamily="18" charset="0"/>
              </a:rPr>
              <a:t>0</a:t>
            </a:r>
            <a:r>
              <a:rPr lang="en-US" altLang="zh-CN" sz="2400" b="1" baseline="0" dirty="0" smtClean="0">
                <a:latin typeface="Times New Roman" panose="02020603050405020304" pitchFamily="18" charset="0"/>
                <a:ea typeface="黑体" panose="02010609060101010101" pitchFamily="49" charset="-122"/>
                <a:cs typeface="Times New Roman" panose="02020603050405020304" pitchFamily="18" charset="0"/>
              </a:rPr>
              <a:t>≠0</a:t>
            </a:r>
            <a:r>
              <a:rPr lang="en-US" altLang="zh-CN" sz="2400" b="1" baseline="0" dirty="0" smtClean="0">
                <a:ea typeface="黑体" panose="02010609060101010101" pitchFamily="49" charset="-122"/>
              </a:rPr>
              <a:t>)</a:t>
            </a:r>
            <a:r>
              <a:rPr lang="zh-CN" altLang="en-US" sz="2400" b="1" baseline="0" dirty="0">
                <a:ea typeface="黑体" panose="02010609060101010101" pitchFamily="49" charset="-122"/>
              </a:rPr>
              <a:t>约束，</a:t>
            </a:r>
            <a:r>
              <a:rPr lang="zh-CN" altLang="en-US" sz="2400" b="1" baseline="0" dirty="0" smtClean="0">
                <a:ea typeface="黑体" panose="02010609060101010101" pitchFamily="49" charset="-122"/>
              </a:rPr>
              <a:t>并不是</a:t>
            </a:r>
            <a:r>
              <a:rPr lang="zh-CN" altLang="en-US" sz="2400" b="1" baseline="0" dirty="0">
                <a:ea typeface="黑体" panose="02010609060101010101" pitchFamily="49" charset="-122"/>
              </a:rPr>
              <a:t>不可逆性所引起</a:t>
            </a:r>
          </a:p>
        </p:txBody>
      </p:sp>
      <p:sp>
        <p:nvSpPr>
          <p:cNvPr id="38918" name="左弧形箭头 531464"/>
          <p:cNvSpPr>
            <a:spLocks noChangeArrowheads="1"/>
          </p:cNvSpPr>
          <p:nvPr/>
        </p:nvSpPr>
        <p:spPr bwMode="auto">
          <a:xfrm rot="4804204">
            <a:off x="1962631" y="2390432"/>
            <a:ext cx="463550" cy="1117600"/>
          </a:xfrm>
          <a:prstGeom prst="curvedRightArrow">
            <a:avLst>
              <a:gd name="adj1" fmla="val 46609"/>
              <a:gd name="adj2" fmla="val 93217"/>
              <a:gd name="adj3" fmla="val 33319"/>
            </a:avLst>
          </a:prstGeom>
          <a:solidFill>
            <a:schemeClr val="accent1"/>
          </a:solidFill>
          <a:ln w="9525">
            <a:solidFill>
              <a:schemeClr val="tx1"/>
            </a:solidFill>
            <a:miter lim="800000"/>
            <a:headEnd/>
            <a:tailEnd/>
          </a:ln>
        </p:spPr>
        <p:txBody>
          <a:bodyPr rot="10800000" vert="eaVert"/>
          <a:lstStyle/>
          <a:p>
            <a:endParaRPr lang="zh-CN" altLang="en-US"/>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24468" y="540463"/>
            <a:ext cx="4877223" cy="3097036"/>
          </a:xfrm>
          <a:prstGeom prst="rect">
            <a:avLst/>
          </a:prstGeom>
        </p:spPr>
      </p:pic>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96654" y="4088032"/>
            <a:ext cx="3950550" cy="2139881"/>
          </a:xfrm>
          <a:prstGeom prst="rect">
            <a:avLst/>
          </a:prstGeom>
        </p:spPr>
      </p:pic>
    </p:spTree>
    <p:extLst>
      <p:ext uri="{BB962C8B-B14F-4D97-AF65-F5344CB8AC3E}">
        <p14:creationId xmlns:p14="http://schemas.microsoft.com/office/powerpoint/2010/main" val="6426332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矩形 54273"/>
          <p:cNvSpPr>
            <a:spLocks noChangeArrowheads="1"/>
          </p:cNvSpPr>
          <p:nvPr/>
        </p:nvSpPr>
        <p:spPr bwMode="auto">
          <a:xfrm>
            <a:off x="0" y="2157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0962" name="矩形 54275"/>
          <p:cNvSpPr>
            <a:spLocks noChangeArrowheads="1"/>
          </p:cNvSpPr>
          <p:nvPr/>
        </p:nvSpPr>
        <p:spPr bwMode="auto">
          <a:xfrm>
            <a:off x="525780" y="1161885"/>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800" b="1" baseline="0" dirty="0">
                <a:latin typeface="黑体" panose="02010609060101010101" pitchFamily="49" charset="-122"/>
                <a:ea typeface="黑体" panose="02010609060101010101" pitchFamily="49" charset="-122"/>
              </a:rPr>
              <a:t>情况一：体积变化功</a:t>
            </a:r>
            <a:endParaRPr lang="zh-CN" altLang="en-US" sz="4000" b="1" baseline="0" dirty="0">
              <a:latin typeface="黑体" panose="02010609060101010101" pitchFamily="49" charset="-122"/>
              <a:ea typeface="黑体" panose="02010609060101010101" pitchFamily="49" charset="-122"/>
            </a:endParaRPr>
          </a:p>
        </p:txBody>
      </p:sp>
      <p:sp>
        <p:nvSpPr>
          <p:cNvPr id="40964" name="矩形 54277"/>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40965" name="对象 54278"/>
          <p:cNvGraphicFramePr>
            <a:graphicFrameLocks noChangeAspect="1"/>
          </p:cNvGraphicFramePr>
          <p:nvPr>
            <p:extLst>
              <p:ext uri="{D42A27DB-BD31-4B8C-83A1-F6EECF244321}">
                <p14:modId xmlns:p14="http://schemas.microsoft.com/office/powerpoint/2010/main" val="564221488"/>
              </p:ext>
            </p:extLst>
          </p:nvPr>
        </p:nvGraphicFramePr>
        <p:xfrm>
          <a:off x="525780" y="5538588"/>
          <a:ext cx="3679805" cy="634450"/>
        </p:xfrm>
        <a:graphic>
          <a:graphicData uri="http://schemas.openxmlformats.org/presentationml/2006/ole">
            <mc:AlternateContent xmlns:mc="http://schemas.openxmlformats.org/markup-compatibility/2006">
              <mc:Choice xmlns:v="urn:schemas-microsoft-com:vml" Requires="v">
                <p:oleObj spid="_x0000_s25628" r:id="rId3" imgW="1471922" imgH="253780" progId="Equation.DSMT4">
                  <p:embed/>
                </p:oleObj>
              </mc:Choice>
              <mc:Fallback>
                <p:oleObj r:id="rId3" imgW="1471922" imgH="253780" progId="Equation.DSMT4">
                  <p:embed/>
                  <p:pic>
                    <p:nvPicPr>
                      <p:cNvPr id="40965" name="对象 5427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5780" y="5538588"/>
                        <a:ext cx="3679805" cy="63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0966" name="矩形 528385"/>
          <p:cNvSpPr>
            <a:spLocks noChangeArrowheads="1"/>
          </p:cNvSpPr>
          <p:nvPr/>
        </p:nvSpPr>
        <p:spPr bwMode="auto">
          <a:xfrm>
            <a:off x="-517497" y="-33320"/>
            <a:ext cx="8305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p>
            <a:pPr algn="ctr"/>
            <a:r>
              <a:rPr lang="zh-CN" altLang="en-US" sz="3600" b="1" baseline="0" dirty="0">
                <a:latin typeface="黑体" panose="02010609060101010101" pitchFamily="49" charset="-122"/>
                <a:ea typeface="黑体" panose="02010609060101010101" pitchFamily="49" charset="-122"/>
              </a:rPr>
              <a:t>二、伴随功量传递而传递的㶲量</a:t>
            </a:r>
          </a:p>
        </p:txBody>
      </p:sp>
      <p:graphicFrame>
        <p:nvGraphicFramePr>
          <p:cNvPr id="8" name="对象 55300"/>
          <p:cNvGraphicFramePr>
            <a:graphicFrameLocks/>
          </p:cNvGraphicFramePr>
          <p:nvPr>
            <p:extLst>
              <p:ext uri="{D42A27DB-BD31-4B8C-83A1-F6EECF244321}">
                <p14:modId xmlns:p14="http://schemas.microsoft.com/office/powerpoint/2010/main" val="1931889279"/>
              </p:ext>
            </p:extLst>
          </p:nvPr>
        </p:nvGraphicFramePr>
        <p:xfrm>
          <a:off x="5854153" y="5607334"/>
          <a:ext cx="1555750" cy="595313"/>
        </p:xfrm>
        <a:graphic>
          <a:graphicData uri="http://schemas.openxmlformats.org/presentationml/2006/ole">
            <mc:AlternateContent xmlns:mc="http://schemas.openxmlformats.org/markup-compatibility/2006">
              <mc:Choice xmlns:v="urn:schemas-microsoft-com:vml" Requires="v">
                <p:oleObj spid="_x0000_s25629" r:id="rId5" imgW="622030" imgH="241195" progId="Equation.DSMT4">
                  <p:embed/>
                </p:oleObj>
              </mc:Choice>
              <mc:Fallback>
                <p:oleObj r:id="rId5" imgW="622030" imgH="241195" progId="Equation.DSMT4">
                  <p:embed/>
                  <p:pic>
                    <p:nvPicPr>
                      <p:cNvPr id="41987" name="对象 55300"/>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54153" y="5607334"/>
                        <a:ext cx="155575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 name="矩形 55301"/>
          <p:cNvSpPr>
            <a:spLocks noChangeArrowheads="1"/>
          </p:cNvSpPr>
          <p:nvPr/>
        </p:nvSpPr>
        <p:spPr bwMode="auto">
          <a:xfrm>
            <a:off x="4944533" y="1362800"/>
            <a:ext cx="396390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800" b="1" baseline="0" dirty="0">
                <a:latin typeface="黑体" panose="02010609060101010101" pitchFamily="49" charset="-122"/>
                <a:ea typeface="黑体" panose="02010609060101010101" pitchFamily="49" charset="-122"/>
              </a:rPr>
              <a:t>情况二：非体积变化功（轴功、电功等）</a:t>
            </a:r>
            <a:endParaRPr lang="zh-CN" altLang="en-US" sz="4000" b="1" baseline="0" dirty="0">
              <a:latin typeface="黑体" panose="02010609060101010101" pitchFamily="49" charset="-122"/>
              <a:ea typeface="黑体" panose="02010609060101010101" pitchFamily="49" charset="-122"/>
            </a:endParaRPr>
          </a:p>
        </p:txBody>
      </p:sp>
      <p:cxnSp>
        <p:nvCxnSpPr>
          <p:cNvPr id="3" name="直接连接符 2"/>
          <p:cNvCxnSpPr/>
          <p:nvPr/>
        </p:nvCxnSpPr>
        <p:spPr>
          <a:xfrm>
            <a:off x="4632960" y="1767840"/>
            <a:ext cx="6773" cy="4240107"/>
          </a:xfrm>
          <a:prstGeom prst="line">
            <a:avLst/>
          </a:prstGeom>
        </p:spPr>
        <p:style>
          <a:lnRef idx="1">
            <a:schemeClr val="accent1"/>
          </a:lnRef>
          <a:fillRef idx="0">
            <a:schemeClr val="accent1"/>
          </a:fillRef>
          <a:effectRef idx="0">
            <a:schemeClr val="accent1"/>
          </a:effectRef>
          <a:fontRef idx="minor">
            <a:schemeClr val="tx1"/>
          </a:fontRef>
        </p:style>
      </p:cxnSp>
      <p:pic>
        <p:nvPicPr>
          <p:cNvPr id="6" name="图片 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43401" y="2514600"/>
            <a:ext cx="3584759" cy="2712955"/>
          </a:xfrm>
          <a:prstGeom prst="rect">
            <a:avLst/>
          </a:prstGeom>
        </p:spPr>
      </p:pic>
      <p:pic>
        <p:nvPicPr>
          <p:cNvPr id="7" name="图片 6"/>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985745" y="2706715"/>
            <a:ext cx="3922690" cy="2753147"/>
          </a:xfrm>
          <a:prstGeom prst="rect">
            <a:avLst/>
          </a:prstGeom>
        </p:spPr>
      </p:pic>
    </p:spTree>
    <p:extLst>
      <p:ext uri="{BB962C8B-B14F-4D97-AF65-F5344CB8AC3E}">
        <p14:creationId xmlns:p14="http://schemas.microsoft.com/office/powerpoint/2010/main" val="38663696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矩形 56322"/>
          <p:cNvSpPr>
            <a:spLocks noChangeArrowheads="1"/>
          </p:cNvSpPr>
          <p:nvPr/>
        </p:nvSpPr>
        <p:spPr bwMode="auto">
          <a:xfrm>
            <a:off x="0" y="24622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3010" name="矩形 56323"/>
          <p:cNvSpPr>
            <a:spLocks noChangeArrowheads="1"/>
          </p:cNvSpPr>
          <p:nvPr/>
        </p:nvSpPr>
        <p:spPr bwMode="auto">
          <a:xfrm>
            <a:off x="0" y="27987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3011" name="矩形 56324"/>
          <p:cNvSpPr>
            <a:spLocks noChangeArrowheads="1"/>
          </p:cNvSpPr>
          <p:nvPr/>
        </p:nvSpPr>
        <p:spPr bwMode="auto">
          <a:xfrm>
            <a:off x="0" y="2817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3012" name="矩形 56325"/>
          <p:cNvSpPr>
            <a:spLocks noChangeArrowheads="1"/>
          </p:cNvSpPr>
          <p:nvPr/>
        </p:nvSpPr>
        <p:spPr bwMode="auto">
          <a:xfrm>
            <a:off x="0" y="27987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3013" name="矩形 56326"/>
          <p:cNvSpPr>
            <a:spLocks noChangeArrowheads="1"/>
          </p:cNvSpPr>
          <p:nvPr/>
        </p:nvSpPr>
        <p:spPr bwMode="auto">
          <a:xfrm>
            <a:off x="0" y="2438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3014" name="矩形 56327"/>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3015" name="矩形 56328"/>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6330" name="矩形 56329"/>
          <p:cNvSpPr>
            <a:spLocks noChangeArrowheads="1"/>
          </p:cNvSpPr>
          <p:nvPr/>
        </p:nvSpPr>
        <p:spPr bwMode="auto">
          <a:xfrm>
            <a:off x="4663523" y="3647179"/>
            <a:ext cx="4038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0" baseline="0" dirty="0">
                <a:solidFill>
                  <a:srgbClr val="0000CC"/>
                </a:solidFill>
                <a:ea typeface="黑体" panose="02010609060101010101" pitchFamily="49" charset="-122"/>
              </a:rPr>
              <a:t>对于闭口系，无此项</a:t>
            </a:r>
          </a:p>
        </p:txBody>
      </p:sp>
      <p:sp>
        <p:nvSpPr>
          <p:cNvPr id="43017" name="矩形 56330"/>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3020" name="矩形 528385"/>
          <p:cNvSpPr>
            <a:spLocks noGrp="1" noChangeArrowheads="1"/>
          </p:cNvSpPr>
          <p:nvPr>
            <p:ph type="title" idx="4294967295"/>
          </p:nvPr>
        </p:nvSpPr>
        <p:spPr>
          <a:xfrm>
            <a:off x="284094" y="84137"/>
            <a:ext cx="7886700" cy="1325563"/>
          </a:xfrm>
        </p:spPr>
        <p:txBody>
          <a:bodyPr/>
          <a:lstStyle/>
          <a:p>
            <a:r>
              <a:rPr lang="zh-CN" altLang="en-US" sz="3600" b="1" dirty="0" smtClean="0">
                <a:solidFill>
                  <a:schemeClr val="tx1"/>
                </a:solidFill>
                <a:latin typeface="黑体" panose="02010609060101010101" pitchFamily="49" charset="-122"/>
                <a:ea typeface="黑体" panose="02010609060101010101" pitchFamily="49" charset="-122"/>
              </a:rPr>
              <a:t>三、伴随质量传递而传递的㶲量</a:t>
            </a:r>
          </a:p>
        </p:txBody>
      </p:sp>
      <p:sp>
        <p:nvSpPr>
          <p:cNvPr id="43021" name="矩形 56340"/>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43022" name="对象 56339"/>
          <p:cNvGraphicFramePr>
            <a:graphicFrameLocks/>
          </p:cNvGraphicFramePr>
          <p:nvPr>
            <p:extLst>
              <p:ext uri="{D42A27DB-BD31-4B8C-83A1-F6EECF244321}">
                <p14:modId xmlns:p14="http://schemas.microsoft.com/office/powerpoint/2010/main" val="4251835293"/>
              </p:ext>
            </p:extLst>
          </p:nvPr>
        </p:nvGraphicFramePr>
        <p:xfrm>
          <a:off x="3299792" y="1385888"/>
          <a:ext cx="2057400" cy="612775"/>
        </p:xfrm>
        <a:graphic>
          <a:graphicData uri="http://schemas.openxmlformats.org/presentationml/2006/ole">
            <mc:AlternateContent xmlns:mc="http://schemas.openxmlformats.org/markup-compatibility/2006">
              <mc:Choice xmlns:v="urn:schemas-microsoft-com:vml" Requires="v">
                <p:oleObj spid="_x0000_s27678" r:id="rId3" imgW="799753" imgH="241195" progId="Equation.DSMT4">
                  <p:embed/>
                </p:oleObj>
              </mc:Choice>
              <mc:Fallback>
                <p:oleObj r:id="rId3" imgW="799753" imgH="241195" progId="Equation.DSMT4">
                  <p:embed/>
                  <p:pic>
                    <p:nvPicPr>
                      <p:cNvPr id="43022" name="对象 5633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99792" y="1385888"/>
                        <a:ext cx="205740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3023" name="矩形 56342"/>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43024" name="对象 56341"/>
          <p:cNvGraphicFramePr>
            <a:graphicFrameLocks/>
          </p:cNvGraphicFramePr>
          <p:nvPr>
            <p:extLst>
              <p:ext uri="{D42A27DB-BD31-4B8C-83A1-F6EECF244321}">
                <p14:modId xmlns:p14="http://schemas.microsoft.com/office/powerpoint/2010/main" val="1805396302"/>
              </p:ext>
            </p:extLst>
          </p:nvPr>
        </p:nvGraphicFramePr>
        <p:xfrm>
          <a:off x="3299792" y="2189163"/>
          <a:ext cx="2057400" cy="623888"/>
        </p:xfrm>
        <a:graphic>
          <a:graphicData uri="http://schemas.openxmlformats.org/presentationml/2006/ole">
            <mc:AlternateContent xmlns:mc="http://schemas.openxmlformats.org/markup-compatibility/2006">
              <mc:Choice xmlns:v="urn:schemas-microsoft-com:vml" Requires="v">
                <p:oleObj spid="_x0000_s27679" r:id="rId5" imgW="850531" imgH="253890" progId="Equation.DSMT4">
                  <p:embed/>
                </p:oleObj>
              </mc:Choice>
              <mc:Fallback>
                <p:oleObj r:id="rId5" imgW="850531" imgH="253890" progId="Equation.DSMT4">
                  <p:embed/>
                  <p:pic>
                    <p:nvPicPr>
                      <p:cNvPr id="43024" name="对象 5634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99792" y="2189163"/>
                        <a:ext cx="2057400" cy="62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3025" name="矩形 56344"/>
          <p:cNvSpPr>
            <a:spLocks noChangeArrowheads="1"/>
          </p:cNvSpPr>
          <p:nvPr/>
        </p:nvSpPr>
        <p:spPr bwMode="auto">
          <a:xfrm>
            <a:off x="0" y="2690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2" name="图片 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72822" y="3062288"/>
            <a:ext cx="4645555" cy="2432515"/>
          </a:xfrm>
          <a:prstGeom prst="rect">
            <a:avLst/>
          </a:prstGeom>
        </p:spPr>
      </p:pic>
    </p:spTree>
    <p:extLst>
      <p:ext uri="{BB962C8B-B14F-4D97-AF65-F5344CB8AC3E}">
        <p14:creationId xmlns:p14="http://schemas.microsoft.com/office/powerpoint/2010/main" val="1224478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56330"/>
                                        </p:tgtEl>
                                        <p:attrNameLst>
                                          <p:attrName>style.visibility</p:attrName>
                                        </p:attrNameLst>
                                      </p:cBhvr>
                                      <p:to>
                                        <p:strVal val="visible"/>
                                      </p:to>
                                    </p:set>
                                    <p:animEffect transition="in" filter="blinds(horizontal)">
                                      <p:cBhvr>
                                        <p:cTn id="7" dur="500"/>
                                        <p:tgtEl>
                                          <p:spTgt spid="563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3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528385"/>
          <p:cNvSpPr>
            <a:spLocks noChangeArrowheads="1"/>
          </p:cNvSpPr>
          <p:nvPr/>
        </p:nvSpPr>
        <p:spPr bwMode="auto">
          <a:xfrm>
            <a:off x="115955" y="1172818"/>
            <a:ext cx="8928653"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p>
            <a:pPr algn="ctr">
              <a:buFontTx/>
              <a:buChar char="§"/>
            </a:pPr>
            <a:r>
              <a:rPr lang="en-US" altLang="zh-CN" sz="4000" b="1" baseline="0" dirty="0">
                <a:latin typeface="黑体" panose="02010609060101010101" pitchFamily="49" charset="-122"/>
                <a:ea typeface="黑体" panose="02010609060101010101" pitchFamily="49" charset="-122"/>
              </a:rPr>
              <a:t>7</a:t>
            </a:r>
            <a:r>
              <a:rPr lang="zh-CN" altLang="en-US" sz="4000" b="1" baseline="0" dirty="0" smtClean="0">
                <a:latin typeface="黑体" panose="02010609060101010101" pitchFamily="49" charset="-122"/>
                <a:ea typeface="黑体" panose="02010609060101010101" pitchFamily="49" charset="-122"/>
              </a:rPr>
              <a:t>－</a:t>
            </a:r>
            <a:r>
              <a:rPr lang="en-US" altLang="zh-CN" sz="4000" b="1" baseline="0" dirty="0" smtClean="0">
                <a:latin typeface="黑体" panose="02010609060101010101" pitchFamily="49" charset="-122"/>
                <a:ea typeface="黑体" panose="02010609060101010101" pitchFamily="49" charset="-122"/>
              </a:rPr>
              <a:t>4</a:t>
            </a:r>
            <a:r>
              <a:rPr lang="zh-CN" altLang="en-US" sz="4000" b="1" baseline="0" dirty="0" smtClean="0">
                <a:latin typeface="黑体" panose="02010609060101010101" pitchFamily="49" charset="-122"/>
                <a:ea typeface="黑体" panose="02010609060101010101" pitchFamily="49" charset="-122"/>
              </a:rPr>
              <a:t>　</a:t>
            </a:r>
            <a:r>
              <a:rPr lang="zh-CN" altLang="en-US" sz="4000" b="1" dirty="0" smtClean="0">
                <a:latin typeface="黑体" panose="02010609060101010101" pitchFamily="49" charset="-122"/>
                <a:ea typeface="黑体" panose="02010609060101010101" pitchFamily="49" charset="-122"/>
              </a:rPr>
              <a:t>㶲</a:t>
            </a:r>
            <a:r>
              <a:rPr lang="zh-CN" altLang="en-US" sz="4000" b="1" baseline="0" dirty="0" smtClean="0">
                <a:latin typeface="黑体" panose="02010609060101010101" pitchFamily="49" charset="-122"/>
                <a:ea typeface="黑体" panose="02010609060101010101" pitchFamily="49" charset="-122"/>
              </a:rPr>
              <a:t>平衡方程</a:t>
            </a:r>
            <a:endParaRPr lang="zh-CN" altLang="en-US" sz="4000" b="1" baseline="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5457058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矩形 463875"/>
          <p:cNvSpPr>
            <a:spLocks noChangeArrowheads="1"/>
          </p:cNvSpPr>
          <p:nvPr/>
        </p:nvSpPr>
        <p:spPr bwMode="auto">
          <a:xfrm>
            <a:off x="201544" y="2544261"/>
            <a:ext cx="927689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800" b="1" baseline="0" dirty="0">
                <a:latin typeface="黑体" panose="02010609060101010101" pitchFamily="49" charset="-122"/>
                <a:ea typeface="黑体" panose="02010609060101010101" pitchFamily="49" charset="-122"/>
              </a:rPr>
              <a:t>系统</a:t>
            </a:r>
            <a:r>
              <a:rPr lang="zh-CN" altLang="en-US" sz="2800" b="1" baseline="0" dirty="0">
                <a:latin typeface="黑体" panose="02010609060101010101" pitchFamily="49" charset="-122"/>
                <a:ea typeface="黑体" panose="02010609060101010101" pitchFamily="49" charset="-122"/>
                <a:sym typeface="宋体" panose="02010600030101010101" pitchFamily="2" charset="-122"/>
              </a:rPr>
              <a:t>㶲</a:t>
            </a:r>
            <a:r>
              <a:rPr lang="zh-CN" altLang="en-US" sz="2800" b="1" baseline="0" dirty="0">
                <a:latin typeface="黑体" panose="02010609060101010101" pitchFamily="49" charset="-122"/>
                <a:ea typeface="黑体" panose="02010609060101010101" pitchFamily="49" charset="-122"/>
              </a:rPr>
              <a:t>的变化 </a:t>
            </a:r>
            <a:r>
              <a:rPr lang="en-US" altLang="zh-CN" sz="2800" b="1" baseline="0" dirty="0">
                <a:latin typeface="黑体" panose="02010609060101010101" pitchFamily="49" charset="-122"/>
                <a:ea typeface="黑体" panose="02010609060101010101" pitchFamily="49" charset="-122"/>
              </a:rPr>
              <a:t>= </a:t>
            </a:r>
            <a:r>
              <a:rPr lang="zh-CN" altLang="en-US" sz="2800" b="1" baseline="0" dirty="0">
                <a:latin typeface="黑体" panose="02010609060101010101" pitchFamily="49" charset="-122"/>
                <a:ea typeface="黑体" panose="02010609060101010101" pitchFamily="49" charset="-122"/>
              </a:rPr>
              <a:t>进入系统的</a:t>
            </a:r>
            <a:r>
              <a:rPr lang="zh-CN" altLang="en-US" sz="2800" b="1" baseline="0" dirty="0" smtClean="0">
                <a:latin typeface="黑体" panose="02010609060101010101" pitchFamily="49" charset="-122"/>
                <a:ea typeface="黑体" panose="02010609060101010101" pitchFamily="49" charset="-122"/>
                <a:sym typeface="宋体" panose="02010600030101010101" pitchFamily="2" charset="-122"/>
              </a:rPr>
              <a:t>㶲</a:t>
            </a:r>
            <a:r>
              <a:rPr lang="zh-CN" altLang="en-US" sz="2800" b="1" baseline="0" dirty="0" smtClean="0">
                <a:latin typeface="黑体" panose="02010609060101010101" pitchFamily="49" charset="-122"/>
                <a:ea typeface="黑体" panose="02010609060101010101" pitchFamily="49" charset="-122"/>
              </a:rPr>
              <a:t> </a:t>
            </a:r>
            <a:r>
              <a:rPr lang="en-US" altLang="zh-CN" sz="2800" b="1" baseline="0" dirty="0" smtClean="0">
                <a:latin typeface="黑体" panose="02010609060101010101" pitchFamily="49" charset="-122"/>
                <a:ea typeface="黑体" panose="02010609060101010101" pitchFamily="49" charset="-122"/>
              </a:rPr>
              <a:t>- </a:t>
            </a:r>
            <a:r>
              <a:rPr lang="zh-CN" altLang="en-US" sz="2800" b="1" baseline="0" dirty="0">
                <a:latin typeface="黑体" panose="02010609060101010101" pitchFamily="49" charset="-122"/>
                <a:ea typeface="黑体" panose="02010609060101010101" pitchFamily="49" charset="-122"/>
              </a:rPr>
              <a:t>离开系统的</a:t>
            </a:r>
            <a:r>
              <a:rPr lang="zh-CN" altLang="en-US" sz="2800" b="1" baseline="0" dirty="0" smtClean="0">
                <a:latin typeface="黑体" panose="02010609060101010101" pitchFamily="49" charset="-122"/>
                <a:ea typeface="黑体" panose="02010609060101010101" pitchFamily="49" charset="-122"/>
                <a:sym typeface="宋体" panose="02010600030101010101" pitchFamily="2" charset="-122"/>
              </a:rPr>
              <a:t>㶲</a:t>
            </a:r>
            <a:r>
              <a:rPr lang="en-US" altLang="zh-CN" sz="2800" b="1" baseline="0" dirty="0" smtClean="0">
                <a:latin typeface="黑体" panose="02010609060101010101" pitchFamily="49" charset="-122"/>
                <a:ea typeface="黑体" panose="02010609060101010101" pitchFamily="49" charset="-122"/>
              </a:rPr>
              <a:t>–</a:t>
            </a:r>
            <a:r>
              <a:rPr lang="zh-CN" altLang="en-US" sz="2800" b="1" baseline="0" dirty="0" smtClean="0">
                <a:latin typeface="黑体" panose="02010609060101010101" pitchFamily="49" charset="-122"/>
                <a:ea typeface="黑体" panose="02010609060101010101" pitchFamily="49" charset="-122"/>
                <a:sym typeface="宋体" panose="02010600030101010101" pitchFamily="2" charset="-122"/>
              </a:rPr>
              <a:t>㶲</a:t>
            </a:r>
            <a:r>
              <a:rPr lang="zh-CN" altLang="en-US" sz="2800" b="1" baseline="0" dirty="0">
                <a:latin typeface="黑体" panose="02010609060101010101" pitchFamily="49" charset="-122"/>
                <a:ea typeface="黑体" panose="02010609060101010101" pitchFamily="49" charset="-122"/>
              </a:rPr>
              <a:t>损</a:t>
            </a:r>
            <a:r>
              <a:rPr lang="zh-CN" altLang="en-US" b="1" dirty="0">
                <a:latin typeface="黑体" panose="02010609060101010101" pitchFamily="49" charset="-122"/>
                <a:ea typeface="黑体" panose="02010609060101010101" pitchFamily="49" charset="-122"/>
              </a:rPr>
              <a:t> </a:t>
            </a:r>
          </a:p>
        </p:txBody>
      </p:sp>
      <p:sp>
        <p:nvSpPr>
          <p:cNvPr id="30722" name="圆角矩形 463877"/>
          <p:cNvSpPr>
            <a:spLocks noChangeArrowheads="1"/>
          </p:cNvSpPr>
          <p:nvPr/>
        </p:nvSpPr>
        <p:spPr bwMode="auto">
          <a:xfrm>
            <a:off x="284370" y="2494721"/>
            <a:ext cx="8687352" cy="622300"/>
          </a:xfrm>
          <a:prstGeom prst="roundRect">
            <a:avLst>
              <a:gd name="adj" fmla="val 16667"/>
            </a:avLst>
          </a:pr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0723" name="矩形 463885"/>
          <p:cNvSpPr>
            <a:spLocks noChangeArrowheads="1"/>
          </p:cNvSpPr>
          <p:nvPr/>
        </p:nvSpPr>
        <p:spPr bwMode="auto">
          <a:xfrm>
            <a:off x="393700" y="666744"/>
            <a:ext cx="526297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3600" b="1" baseline="0" dirty="0" smtClean="0">
                <a:ea typeface="黑体" panose="02010609060101010101" pitchFamily="49" charset="-122"/>
                <a:sym typeface="宋体" panose="02010600030101010101" pitchFamily="2" charset="-122"/>
              </a:rPr>
              <a:t>一、㶲</a:t>
            </a:r>
            <a:r>
              <a:rPr lang="zh-CN" altLang="en-US" sz="3600" b="1" baseline="0" dirty="0">
                <a:ea typeface="黑体" panose="02010609060101010101" pitchFamily="49" charset="-122"/>
              </a:rPr>
              <a:t>平衡方程一般形式</a:t>
            </a:r>
            <a:endParaRPr lang="zh-CN" altLang="en-US" sz="3600" b="1" dirty="0">
              <a:ea typeface="黑体" panose="02010609060101010101" pitchFamily="49" charset="-122"/>
            </a:endParaRPr>
          </a:p>
        </p:txBody>
      </p:sp>
    </p:spTree>
    <p:extLst>
      <p:ext uri="{BB962C8B-B14F-4D97-AF65-F5344CB8AC3E}">
        <p14:creationId xmlns:p14="http://schemas.microsoft.com/office/powerpoint/2010/main" val="11710445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矩形 58372"/>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6082" name="矩形 58376"/>
          <p:cNvSpPr>
            <a:spLocks noChangeArrowheads="1"/>
          </p:cNvSpPr>
          <p:nvPr/>
        </p:nvSpPr>
        <p:spPr bwMode="auto">
          <a:xfrm>
            <a:off x="0" y="19050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6083" name="矩形 463885"/>
          <p:cNvSpPr>
            <a:spLocks noChangeArrowheads="1"/>
          </p:cNvSpPr>
          <p:nvPr/>
        </p:nvSpPr>
        <p:spPr bwMode="auto">
          <a:xfrm>
            <a:off x="325120" y="336550"/>
            <a:ext cx="523081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3600" b="1" baseline="0" dirty="0">
                <a:ea typeface="黑体" panose="02010609060101010101" pitchFamily="49" charset="-122"/>
                <a:sym typeface="宋体" panose="02010600030101010101" pitchFamily="2" charset="-122"/>
              </a:rPr>
              <a:t>二、闭口系的㶲</a:t>
            </a:r>
            <a:r>
              <a:rPr lang="zh-CN" altLang="en-US" sz="3600" b="1" baseline="0" dirty="0">
                <a:ea typeface="黑体" panose="02010609060101010101" pitchFamily="49" charset="-122"/>
              </a:rPr>
              <a:t>平衡方程</a:t>
            </a:r>
            <a:endParaRPr lang="zh-CN" altLang="en-US" sz="3600" b="1" dirty="0">
              <a:ea typeface="黑体" panose="02010609060101010101" pitchFamily="49" charset="-122"/>
            </a:endParaRPr>
          </a:p>
        </p:txBody>
      </p:sp>
      <p:sp>
        <p:nvSpPr>
          <p:cNvPr id="46084" name="矩形 58380"/>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46085" name="对象 58379"/>
          <p:cNvGraphicFramePr>
            <a:graphicFrameLocks/>
          </p:cNvGraphicFramePr>
          <p:nvPr/>
        </p:nvGraphicFramePr>
        <p:xfrm>
          <a:off x="914400" y="1295400"/>
          <a:ext cx="7086600" cy="960438"/>
        </p:xfrm>
        <a:graphic>
          <a:graphicData uri="http://schemas.openxmlformats.org/presentationml/2006/ole">
            <mc:AlternateContent xmlns:mc="http://schemas.openxmlformats.org/markup-compatibility/2006">
              <mc:Choice xmlns:v="urn:schemas-microsoft-com:vml" Requires="v">
                <p:oleObj spid="_x0000_s28688" r:id="rId3" imgW="3162300" imgH="431800" progId="Equation.DSMT4">
                  <p:embed/>
                </p:oleObj>
              </mc:Choice>
              <mc:Fallback>
                <p:oleObj r:id="rId3" imgW="3162300" imgH="431800" progId="Equation.DSMT4">
                  <p:embed/>
                  <p:pic>
                    <p:nvPicPr>
                      <p:cNvPr id="46085" name="对象 5837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1295400"/>
                        <a:ext cx="7086600" cy="96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6086" name="矩形 58382"/>
          <p:cNvSpPr>
            <a:spLocks noChangeArrowheads="1"/>
          </p:cNvSpPr>
          <p:nvPr/>
        </p:nvSpPr>
        <p:spPr bwMode="auto">
          <a:xfrm>
            <a:off x="0" y="20050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2" name="图片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48304" y="2422111"/>
            <a:ext cx="4724809" cy="4023709"/>
          </a:xfrm>
          <a:prstGeom prst="rect">
            <a:avLst/>
          </a:prstGeom>
        </p:spPr>
      </p:pic>
    </p:spTree>
    <p:extLst>
      <p:ext uri="{BB962C8B-B14F-4D97-AF65-F5344CB8AC3E}">
        <p14:creationId xmlns:p14="http://schemas.microsoft.com/office/powerpoint/2010/main" val="21957338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矩形 59396"/>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7106" name="矩形 59398"/>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7107" name="矩形 59400"/>
          <p:cNvSpPr>
            <a:spLocks noChangeArrowheads="1"/>
          </p:cNvSpPr>
          <p:nvPr/>
        </p:nvSpPr>
        <p:spPr bwMode="auto">
          <a:xfrm>
            <a:off x="0" y="19812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7108" name="矩形 463885"/>
          <p:cNvSpPr>
            <a:spLocks noChangeArrowheads="1"/>
          </p:cNvSpPr>
          <p:nvPr/>
        </p:nvSpPr>
        <p:spPr bwMode="auto">
          <a:xfrm>
            <a:off x="311573" y="269876"/>
            <a:ext cx="523081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3600" b="1" baseline="0" dirty="0">
                <a:ea typeface="黑体" panose="02010609060101010101" pitchFamily="49" charset="-122"/>
                <a:sym typeface="宋体" panose="02010600030101010101" pitchFamily="2" charset="-122"/>
              </a:rPr>
              <a:t>三、开口系的㶲</a:t>
            </a:r>
            <a:r>
              <a:rPr lang="zh-CN" altLang="en-US" sz="3600" b="1" baseline="0" dirty="0">
                <a:ea typeface="黑体" panose="02010609060101010101" pitchFamily="49" charset="-122"/>
              </a:rPr>
              <a:t>平衡方程</a:t>
            </a:r>
            <a:endParaRPr lang="zh-CN" altLang="en-US" sz="3600" b="1" dirty="0">
              <a:ea typeface="黑体" panose="02010609060101010101" pitchFamily="49" charset="-122"/>
            </a:endParaRPr>
          </a:p>
        </p:txBody>
      </p:sp>
      <p:sp>
        <p:nvSpPr>
          <p:cNvPr id="47109" name="矩形 59404"/>
          <p:cNvSpPr>
            <a:spLocks noChangeArrowheads="1"/>
          </p:cNvSpPr>
          <p:nvPr/>
        </p:nvSpPr>
        <p:spPr bwMode="auto">
          <a:xfrm>
            <a:off x="0" y="30480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47110" name="对象 59403"/>
          <p:cNvGraphicFramePr>
            <a:graphicFrameLocks/>
          </p:cNvGraphicFramePr>
          <p:nvPr/>
        </p:nvGraphicFramePr>
        <p:xfrm>
          <a:off x="533400" y="1295400"/>
          <a:ext cx="8229600" cy="1485900"/>
        </p:xfrm>
        <a:graphic>
          <a:graphicData uri="http://schemas.openxmlformats.org/presentationml/2006/ole">
            <mc:AlternateContent xmlns:mc="http://schemas.openxmlformats.org/markup-compatibility/2006">
              <mc:Choice xmlns:v="urn:schemas-microsoft-com:vml" Requires="v">
                <p:oleObj spid="_x0000_s29712" r:id="rId3" imgW="4216400" imgH="762000" progId="Equation.DSMT4">
                  <p:embed/>
                </p:oleObj>
              </mc:Choice>
              <mc:Fallback>
                <p:oleObj r:id="rId3" imgW="4216400" imgH="762000" progId="Equation.DSMT4">
                  <p:embed/>
                  <p:pic>
                    <p:nvPicPr>
                      <p:cNvPr id="47110" name="对象 5940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1295400"/>
                        <a:ext cx="8229600" cy="148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7111" name="矩形 59406"/>
          <p:cNvSpPr>
            <a:spLocks noChangeArrowheads="1"/>
          </p:cNvSpPr>
          <p:nvPr/>
        </p:nvSpPr>
        <p:spPr bwMode="auto">
          <a:xfrm>
            <a:off x="0" y="20764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7113" name="矩形 59407"/>
          <p:cNvSpPr>
            <a:spLocks noChangeArrowheads="1"/>
          </p:cNvSpPr>
          <p:nvPr/>
        </p:nvSpPr>
        <p:spPr bwMode="auto">
          <a:xfrm>
            <a:off x="6248400" y="381000"/>
            <a:ext cx="1962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800" b="0" baseline="0">
                <a:solidFill>
                  <a:srgbClr val="0000CC"/>
                </a:solidFill>
                <a:ea typeface="黑体" panose="02010609060101010101" pitchFamily="49" charset="-122"/>
              </a:rPr>
              <a:t>一般开口系</a:t>
            </a:r>
          </a:p>
        </p:txBody>
      </p:sp>
      <p:pic>
        <p:nvPicPr>
          <p:cNvPr id="2" name="图片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18666" y="2609726"/>
            <a:ext cx="4877223" cy="3639627"/>
          </a:xfrm>
          <a:prstGeom prst="rect">
            <a:avLst/>
          </a:prstGeom>
        </p:spPr>
      </p:pic>
    </p:spTree>
    <p:extLst>
      <p:ext uri="{BB962C8B-B14F-4D97-AF65-F5344CB8AC3E}">
        <p14:creationId xmlns:p14="http://schemas.microsoft.com/office/powerpoint/2010/main" val="31595054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矩形 78850"/>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8130" name="矩形 78851"/>
          <p:cNvSpPr>
            <a:spLocks noChangeArrowheads="1"/>
          </p:cNvSpPr>
          <p:nvPr/>
        </p:nvSpPr>
        <p:spPr bwMode="auto">
          <a:xfrm>
            <a:off x="0" y="19812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8131" name="矩形 463885"/>
          <p:cNvSpPr>
            <a:spLocks noChangeArrowheads="1"/>
          </p:cNvSpPr>
          <p:nvPr/>
        </p:nvSpPr>
        <p:spPr bwMode="auto">
          <a:xfrm>
            <a:off x="413174" y="288132"/>
            <a:ext cx="523081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3600" b="1" baseline="0" dirty="0">
                <a:ea typeface="黑体" panose="02010609060101010101" pitchFamily="49" charset="-122"/>
                <a:sym typeface="宋体" panose="02010600030101010101" pitchFamily="2" charset="-122"/>
              </a:rPr>
              <a:t>三、开口系的㶲</a:t>
            </a:r>
            <a:r>
              <a:rPr lang="zh-CN" altLang="en-US" sz="3600" b="1" baseline="0" dirty="0">
                <a:ea typeface="黑体" panose="02010609060101010101" pitchFamily="49" charset="-122"/>
              </a:rPr>
              <a:t>平衡方程</a:t>
            </a:r>
            <a:endParaRPr lang="zh-CN" altLang="en-US" sz="3600" b="1" dirty="0">
              <a:ea typeface="黑体" panose="02010609060101010101" pitchFamily="49" charset="-122"/>
            </a:endParaRPr>
          </a:p>
        </p:txBody>
      </p:sp>
      <p:sp>
        <p:nvSpPr>
          <p:cNvPr id="48132" name="矩形 78853"/>
          <p:cNvSpPr>
            <a:spLocks noChangeArrowheads="1"/>
          </p:cNvSpPr>
          <p:nvPr/>
        </p:nvSpPr>
        <p:spPr bwMode="auto">
          <a:xfrm>
            <a:off x="0" y="30480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8133" name="矩形 78855"/>
          <p:cNvSpPr>
            <a:spLocks noChangeArrowheads="1"/>
          </p:cNvSpPr>
          <p:nvPr/>
        </p:nvSpPr>
        <p:spPr bwMode="auto">
          <a:xfrm>
            <a:off x="0" y="20764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8134" name="矩形 78857"/>
          <p:cNvSpPr>
            <a:spLocks noChangeArrowheads="1"/>
          </p:cNvSpPr>
          <p:nvPr/>
        </p:nvSpPr>
        <p:spPr bwMode="auto">
          <a:xfrm>
            <a:off x="6248400" y="381000"/>
            <a:ext cx="2317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800" b="0" baseline="0">
                <a:solidFill>
                  <a:srgbClr val="0000CC"/>
                </a:solidFill>
                <a:ea typeface="黑体" panose="02010609060101010101" pitchFamily="49" charset="-122"/>
              </a:rPr>
              <a:t>稳定流动过程</a:t>
            </a:r>
          </a:p>
        </p:txBody>
      </p:sp>
      <p:sp>
        <p:nvSpPr>
          <p:cNvPr id="48135" name="矩形 78859"/>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48136" name="对象 78858"/>
          <p:cNvGraphicFramePr>
            <a:graphicFrameLocks/>
          </p:cNvGraphicFramePr>
          <p:nvPr/>
        </p:nvGraphicFramePr>
        <p:xfrm>
          <a:off x="533400" y="1295400"/>
          <a:ext cx="8001000" cy="981075"/>
        </p:xfrm>
        <a:graphic>
          <a:graphicData uri="http://schemas.openxmlformats.org/presentationml/2006/ole">
            <mc:AlternateContent xmlns:mc="http://schemas.openxmlformats.org/markup-compatibility/2006">
              <mc:Choice xmlns:v="urn:schemas-microsoft-com:vml" Requires="v">
                <p:oleObj spid="_x0000_s30736" r:id="rId3" imgW="3492500" imgH="431800" progId="Equation.DSMT4">
                  <p:embed/>
                </p:oleObj>
              </mc:Choice>
              <mc:Fallback>
                <p:oleObj r:id="rId3" imgW="3492500" imgH="431800" progId="Equation.DSMT4">
                  <p:embed/>
                  <p:pic>
                    <p:nvPicPr>
                      <p:cNvPr id="48136" name="对象 7885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1295400"/>
                        <a:ext cx="8001000"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8137" name="矩形 78861"/>
          <p:cNvSpPr>
            <a:spLocks noChangeArrowheads="1"/>
          </p:cNvSpPr>
          <p:nvPr/>
        </p:nvSpPr>
        <p:spPr bwMode="auto">
          <a:xfrm>
            <a:off x="0" y="2071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2" name="图片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76032" y="2483367"/>
            <a:ext cx="5407621" cy="4102964"/>
          </a:xfrm>
          <a:prstGeom prst="rect">
            <a:avLst/>
          </a:prstGeom>
        </p:spPr>
      </p:pic>
    </p:spTree>
    <p:extLst>
      <p:ext uri="{BB962C8B-B14F-4D97-AF65-F5344CB8AC3E}">
        <p14:creationId xmlns:p14="http://schemas.microsoft.com/office/powerpoint/2010/main" val="14458944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矩形 79875"/>
          <p:cNvSpPr>
            <a:spLocks noChangeArrowheads="1"/>
          </p:cNvSpPr>
          <p:nvPr/>
        </p:nvSpPr>
        <p:spPr bwMode="auto">
          <a:xfrm>
            <a:off x="609600" y="381000"/>
            <a:ext cx="79248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3200" b="1" baseline="0" dirty="0">
                <a:latin typeface="黑体" panose="02010609060101010101" pitchFamily="49" charset="-122"/>
                <a:ea typeface="黑体" panose="02010609060101010101" pitchFamily="49" charset="-122"/>
              </a:rPr>
              <a:t>单股流稳定流动系统（只有一股流体流入控制体，同时只有一股流体流出）</a:t>
            </a:r>
            <a:r>
              <a:rPr lang="zh-CN" altLang="en-US" sz="3200" b="1" dirty="0">
                <a:latin typeface="黑体" panose="02010609060101010101" pitchFamily="49" charset="-122"/>
                <a:ea typeface="黑体" panose="02010609060101010101" pitchFamily="49" charset="-122"/>
              </a:rPr>
              <a:t> </a:t>
            </a:r>
          </a:p>
        </p:txBody>
      </p:sp>
      <p:sp>
        <p:nvSpPr>
          <p:cNvPr id="49154" name="矩形 79877"/>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49155" name="对象 79876"/>
          <p:cNvGraphicFramePr>
            <a:graphicFrameLocks/>
          </p:cNvGraphicFramePr>
          <p:nvPr/>
        </p:nvGraphicFramePr>
        <p:xfrm>
          <a:off x="1447800" y="1981200"/>
          <a:ext cx="6096000" cy="976313"/>
        </p:xfrm>
        <a:graphic>
          <a:graphicData uri="http://schemas.openxmlformats.org/presentationml/2006/ole">
            <mc:AlternateContent xmlns:mc="http://schemas.openxmlformats.org/markup-compatibility/2006">
              <mc:Choice xmlns:v="urn:schemas-microsoft-com:vml" Requires="v">
                <p:oleObj spid="_x0000_s31762" r:id="rId3" imgW="2679700" imgH="431800" progId="Equation.DSMT4">
                  <p:embed/>
                </p:oleObj>
              </mc:Choice>
              <mc:Fallback>
                <p:oleObj r:id="rId3" imgW="2679700" imgH="431800" progId="Equation.DSMT4">
                  <p:embed/>
                  <p:pic>
                    <p:nvPicPr>
                      <p:cNvPr id="49155" name="对象 7987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1981200"/>
                        <a:ext cx="6096000" cy="97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9156" name="矩形 79879"/>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49157" name="对象 79878"/>
          <p:cNvGraphicFramePr>
            <a:graphicFrameLocks/>
          </p:cNvGraphicFramePr>
          <p:nvPr/>
        </p:nvGraphicFramePr>
        <p:xfrm>
          <a:off x="228600" y="3733800"/>
          <a:ext cx="8077200" cy="833438"/>
        </p:xfrm>
        <a:graphic>
          <a:graphicData uri="http://schemas.openxmlformats.org/presentationml/2006/ole">
            <mc:AlternateContent xmlns:mc="http://schemas.openxmlformats.org/markup-compatibility/2006">
              <mc:Choice xmlns:v="urn:schemas-microsoft-com:vml" Requires="v">
                <p:oleObj spid="_x0000_s31763" r:id="rId5" imgW="3784600" imgH="393700" progId="Equation.DSMT4">
                  <p:embed/>
                </p:oleObj>
              </mc:Choice>
              <mc:Fallback>
                <p:oleObj r:id="rId5" imgW="3784600" imgH="393700" progId="Equation.DSMT4">
                  <p:embed/>
                  <p:pic>
                    <p:nvPicPr>
                      <p:cNvPr id="49157" name="对象 79878"/>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 y="3733800"/>
                        <a:ext cx="8077200"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9158" name="直接连接符 79880"/>
          <p:cNvSpPr>
            <a:spLocks noChangeShapeType="1"/>
          </p:cNvSpPr>
          <p:nvPr/>
        </p:nvSpPr>
        <p:spPr bwMode="auto">
          <a:xfrm>
            <a:off x="4724400" y="2895600"/>
            <a:ext cx="1752600" cy="0"/>
          </a:xfrm>
          <a:prstGeom prst="line">
            <a:avLst/>
          </a:prstGeom>
          <a:noFill/>
          <a:ln w="38100">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59" name="直接连接符 79881"/>
          <p:cNvSpPr>
            <a:spLocks noChangeShapeType="1"/>
          </p:cNvSpPr>
          <p:nvPr/>
        </p:nvSpPr>
        <p:spPr bwMode="auto">
          <a:xfrm flipH="1">
            <a:off x="1371600" y="2971800"/>
            <a:ext cx="4038600" cy="838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601963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矩形 61442"/>
          <p:cNvSpPr>
            <a:spLocks noChangeArrowheads="1"/>
          </p:cNvSpPr>
          <p:nvPr/>
        </p:nvSpPr>
        <p:spPr bwMode="auto">
          <a:xfrm>
            <a:off x="609600" y="1219200"/>
            <a:ext cx="24288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en-US" altLang="zh-CN" sz="3200" b="1" baseline="0" dirty="0">
                <a:latin typeface="黑体" panose="02010609060101010101" pitchFamily="49" charset="-122"/>
                <a:ea typeface="黑体" panose="02010609060101010101" pitchFamily="49" charset="-122"/>
              </a:rPr>
              <a:t>1</a:t>
            </a:r>
            <a:r>
              <a:rPr lang="zh-CN" altLang="en-US" sz="3200" b="1" baseline="0" dirty="0">
                <a:latin typeface="黑体" panose="02010609060101010101" pitchFamily="49" charset="-122"/>
                <a:ea typeface="黑体" panose="02010609060101010101" pitchFamily="49" charset="-122"/>
              </a:rPr>
              <a:t>、内部</a:t>
            </a:r>
            <a:r>
              <a:rPr lang="zh-CN" altLang="en-US" sz="3200" b="1" baseline="0" dirty="0">
                <a:latin typeface="黑体" panose="02010609060101010101" pitchFamily="49" charset="-122"/>
                <a:ea typeface="黑体" panose="02010609060101010101" pitchFamily="49" charset="-122"/>
                <a:sym typeface="宋体" panose="02010600030101010101" pitchFamily="2" charset="-122"/>
              </a:rPr>
              <a:t>㶲</a:t>
            </a:r>
            <a:r>
              <a:rPr lang="zh-CN" altLang="en-US" sz="3200" b="1" baseline="0" dirty="0">
                <a:latin typeface="黑体" panose="02010609060101010101" pitchFamily="49" charset="-122"/>
                <a:ea typeface="黑体" panose="02010609060101010101" pitchFamily="49" charset="-122"/>
              </a:rPr>
              <a:t>损</a:t>
            </a:r>
            <a:endParaRPr lang="zh-CN" altLang="en-US" sz="3200" b="1" dirty="0">
              <a:latin typeface="黑体" panose="02010609060101010101" pitchFamily="49" charset="-122"/>
              <a:ea typeface="黑体" panose="02010609060101010101" pitchFamily="49" charset="-122"/>
            </a:endParaRPr>
          </a:p>
        </p:txBody>
      </p:sp>
      <p:sp>
        <p:nvSpPr>
          <p:cNvPr id="50178" name="矩形 61443"/>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0179" name="矩形 61444"/>
          <p:cNvSpPr>
            <a:spLocks noChangeArrowheads="1"/>
          </p:cNvSpPr>
          <p:nvPr/>
        </p:nvSpPr>
        <p:spPr bwMode="auto">
          <a:xfrm>
            <a:off x="0" y="28289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0180" name="矩形 61445"/>
          <p:cNvSpPr>
            <a:spLocks noChangeArrowheads="1"/>
          </p:cNvSpPr>
          <p:nvPr/>
        </p:nvSpPr>
        <p:spPr bwMode="auto">
          <a:xfrm>
            <a:off x="0" y="22812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0181" name="矩形 61447"/>
          <p:cNvSpPr>
            <a:spLocks noChangeArrowheads="1"/>
          </p:cNvSpPr>
          <p:nvPr/>
        </p:nvSpPr>
        <p:spPr bwMode="auto">
          <a:xfrm>
            <a:off x="0" y="2495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0182" name="矩形 61449"/>
          <p:cNvSpPr>
            <a:spLocks noChangeArrowheads="1"/>
          </p:cNvSpPr>
          <p:nvPr/>
        </p:nvSpPr>
        <p:spPr bwMode="auto">
          <a:xfrm>
            <a:off x="0" y="25336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0183" name="矩形 463885"/>
          <p:cNvSpPr>
            <a:spLocks noChangeArrowheads="1"/>
          </p:cNvSpPr>
          <p:nvPr/>
        </p:nvSpPr>
        <p:spPr bwMode="auto">
          <a:xfrm>
            <a:off x="410818" y="282576"/>
            <a:ext cx="47720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3600" b="1" baseline="0" dirty="0">
                <a:ea typeface="黑体" panose="02010609060101010101" pitchFamily="49" charset="-122"/>
                <a:sym typeface="宋体" panose="02010600030101010101" pitchFamily="2" charset="-122"/>
              </a:rPr>
              <a:t>四、㶲</a:t>
            </a:r>
            <a:r>
              <a:rPr lang="zh-CN" altLang="en-US" sz="3600" b="1" baseline="0" dirty="0">
                <a:ea typeface="黑体" panose="02010609060101010101" pitchFamily="49" charset="-122"/>
              </a:rPr>
              <a:t>平衡方程的说明</a:t>
            </a:r>
            <a:endParaRPr lang="zh-CN" altLang="en-US" sz="3600" b="1" dirty="0">
              <a:ea typeface="黑体" panose="02010609060101010101" pitchFamily="49" charset="-122"/>
            </a:endParaRPr>
          </a:p>
        </p:txBody>
      </p:sp>
      <p:sp>
        <p:nvSpPr>
          <p:cNvPr id="50184" name="矩形 61453"/>
          <p:cNvSpPr>
            <a:spLocks noChangeArrowheads="1"/>
          </p:cNvSpPr>
          <p:nvPr/>
        </p:nvSpPr>
        <p:spPr bwMode="auto">
          <a:xfrm>
            <a:off x="609600" y="1981200"/>
            <a:ext cx="7870825"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baseline="0" dirty="0">
                <a:latin typeface="黑体" panose="02010609060101010101" pitchFamily="49" charset="-122"/>
                <a:ea typeface="黑体" panose="02010609060101010101" pitchFamily="49" charset="-122"/>
              </a:rPr>
              <a:t>㶲平衡方程中的㶲损代表由系统内不可逆性引起的</a:t>
            </a:r>
            <a:r>
              <a:rPr lang="zh-CN" altLang="en-US" sz="2800" b="1" baseline="0" dirty="0">
                <a:solidFill>
                  <a:srgbClr val="FF0000"/>
                </a:solidFill>
                <a:latin typeface="黑体" panose="02010609060101010101" pitchFamily="49" charset="-122"/>
                <a:ea typeface="黑体" panose="02010609060101010101" pitchFamily="49" charset="-122"/>
              </a:rPr>
              <a:t>内部㶲损</a:t>
            </a:r>
            <a:r>
              <a:rPr lang="zh-CN" altLang="en-US" sz="2800" b="1" baseline="0" dirty="0">
                <a:latin typeface="黑体" panose="02010609060101010101" pitchFamily="49" charset="-122"/>
                <a:ea typeface="黑体" panose="02010609060101010101" pitchFamily="49" charset="-122"/>
              </a:rPr>
              <a:t>。当需要计算外部㶲损时，可</a:t>
            </a:r>
            <a:r>
              <a:rPr lang="zh-CN" altLang="en-US" sz="2800" b="1" baseline="0" dirty="0">
                <a:solidFill>
                  <a:srgbClr val="FF0000"/>
                </a:solidFill>
                <a:latin typeface="黑体" panose="02010609060101010101" pitchFamily="49" charset="-122"/>
                <a:ea typeface="黑体" panose="02010609060101010101" pitchFamily="49" charset="-122"/>
              </a:rPr>
              <a:t>扩展</a:t>
            </a:r>
            <a:r>
              <a:rPr lang="zh-CN" altLang="en-US" sz="2800" b="1" baseline="0" dirty="0">
                <a:latin typeface="黑体" panose="02010609060101010101" pitchFamily="49" charset="-122"/>
                <a:ea typeface="黑体" panose="02010609060101010101" pitchFamily="49" charset="-122"/>
              </a:rPr>
              <a:t>研究系统，使不可逆性发生在扩展系边界之内，再应用㶲平衡方程求解</a:t>
            </a:r>
            <a:endParaRPr lang="en-US" altLang="zh-CN" sz="2800" b="1" baseline="0" dirty="0">
              <a:latin typeface="黑体" panose="02010609060101010101" pitchFamily="49" charset="-122"/>
              <a:ea typeface="黑体" panose="02010609060101010101" pitchFamily="49" charset="-122"/>
              <a:cs typeface="Times New Roman" panose="02020603050405020304" pitchFamily="18" charset="0"/>
            </a:endParaRP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1434" y="3942038"/>
            <a:ext cx="3200677" cy="2475191"/>
          </a:xfrm>
          <a:prstGeom prst="rect">
            <a:avLst/>
          </a:prstGeom>
        </p:spPr>
      </p:pic>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45012" y="3996907"/>
            <a:ext cx="3273836" cy="2420322"/>
          </a:xfrm>
          <a:prstGeom prst="rect">
            <a:avLst/>
          </a:prstGeom>
        </p:spPr>
      </p:pic>
    </p:spTree>
    <p:extLst>
      <p:ext uri="{BB962C8B-B14F-4D97-AF65-F5344CB8AC3E}">
        <p14:creationId xmlns:p14="http://schemas.microsoft.com/office/powerpoint/2010/main" val="23772416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矩形 80897"/>
          <p:cNvSpPr>
            <a:spLocks noChangeArrowheads="1"/>
          </p:cNvSpPr>
          <p:nvPr/>
        </p:nvSpPr>
        <p:spPr bwMode="auto">
          <a:xfrm>
            <a:off x="609600" y="457200"/>
            <a:ext cx="56927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en-US" altLang="zh-CN" sz="3200" b="1" baseline="0" dirty="0">
                <a:latin typeface="黑体" panose="02010609060101010101" pitchFamily="49" charset="-122"/>
                <a:ea typeface="黑体" panose="02010609060101010101" pitchFamily="49" charset="-122"/>
              </a:rPr>
              <a:t>2</a:t>
            </a:r>
            <a:r>
              <a:rPr lang="zh-CN" altLang="en-US" sz="3200" b="1" baseline="0" dirty="0">
                <a:latin typeface="黑体" panose="02010609060101010101" pitchFamily="49" charset="-122"/>
                <a:ea typeface="黑体" panose="02010609060101010101" pitchFamily="49" charset="-122"/>
              </a:rPr>
              <a:t>、恒温热源或冷源的</a:t>
            </a:r>
            <a:r>
              <a:rPr lang="zh-CN" altLang="en-US" sz="3200" b="1" baseline="0" dirty="0">
                <a:latin typeface="黑体" panose="02010609060101010101" pitchFamily="49" charset="-122"/>
                <a:ea typeface="黑体" panose="02010609060101010101" pitchFamily="49" charset="-122"/>
                <a:sym typeface="宋体" panose="02010600030101010101" pitchFamily="2" charset="-122"/>
              </a:rPr>
              <a:t>㶲的变化</a:t>
            </a:r>
            <a:endParaRPr lang="zh-CN" altLang="en-US" sz="3200" b="1" dirty="0">
              <a:latin typeface="黑体" panose="02010609060101010101" pitchFamily="49" charset="-122"/>
              <a:ea typeface="黑体" panose="02010609060101010101" pitchFamily="49" charset="-122"/>
            </a:endParaRPr>
          </a:p>
        </p:txBody>
      </p:sp>
      <p:sp>
        <p:nvSpPr>
          <p:cNvPr id="51202" name="矩形 80898"/>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1203" name="矩形 80899"/>
          <p:cNvSpPr>
            <a:spLocks noChangeArrowheads="1"/>
          </p:cNvSpPr>
          <p:nvPr/>
        </p:nvSpPr>
        <p:spPr bwMode="auto">
          <a:xfrm>
            <a:off x="0" y="28289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1204" name="矩形 80900"/>
          <p:cNvSpPr>
            <a:spLocks noChangeArrowheads="1"/>
          </p:cNvSpPr>
          <p:nvPr/>
        </p:nvSpPr>
        <p:spPr bwMode="auto">
          <a:xfrm>
            <a:off x="0" y="22812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1205" name="矩形 80901"/>
          <p:cNvSpPr>
            <a:spLocks noChangeArrowheads="1"/>
          </p:cNvSpPr>
          <p:nvPr/>
        </p:nvSpPr>
        <p:spPr bwMode="auto">
          <a:xfrm>
            <a:off x="0" y="2495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1206" name="矩形 80902"/>
          <p:cNvSpPr>
            <a:spLocks noChangeArrowheads="1"/>
          </p:cNvSpPr>
          <p:nvPr/>
        </p:nvSpPr>
        <p:spPr bwMode="auto">
          <a:xfrm>
            <a:off x="0" y="25336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1207" name="矩形 80904"/>
          <p:cNvSpPr>
            <a:spLocks noChangeArrowheads="1"/>
          </p:cNvSpPr>
          <p:nvPr/>
        </p:nvSpPr>
        <p:spPr bwMode="auto">
          <a:xfrm>
            <a:off x="457200" y="1371600"/>
            <a:ext cx="78708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baseline="0" dirty="0">
                <a:latin typeface="黑体" panose="02010609060101010101" pitchFamily="49" charset="-122"/>
                <a:ea typeface="黑体" panose="02010609060101010101" pitchFamily="49" charset="-122"/>
              </a:rPr>
              <a:t>（</a:t>
            </a:r>
            <a:r>
              <a:rPr lang="en-US" altLang="zh-CN" sz="2800" b="1" baseline="0" dirty="0">
                <a:latin typeface="黑体" panose="02010609060101010101" pitchFamily="49" charset="-122"/>
                <a:ea typeface="黑体" panose="02010609060101010101" pitchFamily="49" charset="-122"/>
              </a:rPr>
              <a:t>1</a:t>
            </a:r>
            <a:r>
              <a:rPr lang="zh-CN" altLang="en-US" sz="2800" b="1" baseline="0" dirty="0">
                <a:latin typeface="黑体" panose="02010609060101010101" pitchFamily="49" charset="-122"/>
                <a:ea typeface="黑体" panose="02010609060101010101" pitchFamily="49" charset="-122"/>
              </a:rPr>
              <a:t>）热源或冷</a:t>
            </a:r>
            <a:r>
              <a:rPr lang="zh-CN" altLang="en-US" sz="2800" b="1" baseline="0" dirty="0" smtClean="0">
                <a:latin typeface="黑体" panose="02010609060101010101" pitchFamily="49" charset="-122"/>
                <a:ea typeface="黑体" panose="02010609060101010101" pitchFamily="49" charset="-122"/>
              </a:rPr>
              <a:t>源是固体</a:t>
            </a:r>
            <a:r>
              <a:rPr lang="zh-CN" altLang="en-US" sz="2800" b="1" baseline="0" dirty="0">
                <a:latin typeface="黑体" panose="02010609060101010101" pitchFamily="49" charset="-122"/>
                <a:ea typeface="黑体" panose="02010609060101010101" pitchFamily="49" charset="-122"/>
              </a:rPr>
              <a:t>或液体</a:t>
            </a:r>
            <a:endParaRPr lang="en-US" altLang="zh-CN" sz="2800" b="1" baseline="0" dirty="0">
              <a:latin typeface="黑体" panose="02010609060101010101" pitchFamily="49" charset="-122"/>
              <a:ea typeface="黑体" panose="02010609060101010101" pitchFamily="49" charset="-122"/>
              <a:cs typeface="Times New Roman" panose="02020603050405020304" pitchFamily="18" charset="0"/>
            </a:endParaRPr>
          </a:p>
        </p:txBody>
      </p:sp>
      <p:sp>
        <p:nvSpPr>
          <p:cNvPr id="51208" name="矩形 80909"/>
          <p:cNvSpPr>
            <a:spLocks noChangeArrowheads="1"/>
          </p:cNvSpPr>
          <p:nvPr/>
        </p:nvSpPr>
        <p:spPr bwMode="auto">
          <a:xfrm>
            <a:off x="0" y="31861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51209" name="对象 80908"/>
          <p:cNvGraphicFramePr>
            <a:graphicFrameLocks/>
          </p:cNvGraphicFramePr>
          <p:nvPr/>
        </p:nvGraphicFramePr>
        <p:xfrm>
          <a:off x="2133600" y="2286000"/>
          <a:ext cx="3276600" cy="1038225"/>
        </p:xfrm>
        <a:graphic>
          <a:graphicData uri="http://schemas.openxmlformats.org/presentationml/2006/ole">
            <mc:AlternateContent xmlns:mc="http://schemas.openxmlformats.org/markup-compatibility/2006">
              <mc:Choice xmlns:v="urn:schemas-microsoft-com:vml" Requires="v">
                <p:oleObj spid="_x0000_s33810" r:id="rId3" imgW="1536700" imgH="482600" progId="Equation.DSMT4">
                  <p:embed/>
                </p:oleObj>
              </mc:Choice>
              <mc:Fallback>
                <p:oleObj r:id="rId3" imgW="1536700" imgH="482600" progId="Equation.DSMT4">
                  <p:embed/>
                  <p:pic>
                    <p:nvPicPr>
                      <p:cNvPr id="51209" name="对象 8090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2286000"/>
                        <a:ext cx="3276600" cy="103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1210" name="矩形 80910"/>
          <p:cNvSpPr>
            <a:spLocks noChangeArrowheads="1"/>
          </p:cNvSpPr>
          <p:nvPr/>
        </p:nvSpPr>
        <p:spPr bwMode="auto">
          <a:xfrm>
            <a:off x="533400" y="3810000"/>
            <a:ext cx="78708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dirty="0">
                <a:latin typeface="黑体" panose="02010609060101010101" pitchFamily="49" charset="-122"/>
                <a:ea typeface="黑体" panose="02010609060101010101" pitchFamily="49" charset="-122"/>
              </a:rPr>
              <a:t>（</a:t>
            </a:r>
            <a:r>
              <a:rPr lang="en-US" altLang="zh-CN" sz="2800" b="1" dirty="0">
                <a:latin typeface="黑体" panose="02010609060101010101" pitchFamily="49" charset="-122"/>
                <a:ea typeface="黑体" panose="02010609060101010101" pitchFamily="49" charset="-122"/>
              </a:rPr>
              <a:t>2</a:t>
            </a:r>
            <a:r>
              <a:rPr lang="zh-CN" altLang="en-US" sz="2800" b="1" dirty="0" smtClean="0">
                <a:latin typeface="黑体" panose="02010609060101010101" pitchFamily="49" charset="-122"/>
                <a:ea typeface="黑体" panose="02010609060101010101" pitchFamily="49" charset="-122"/>
              </a:rPr>
              <a:t>）热源或冷源是气体</a:t>
            </a:r>
            <a:endParaRPr lang="en-US" altLang="zh-CN" sz="2800" b="1" dirty="0">
              <a:latin typeface="黑体" panose="02010609060101010101" pitchFamily="49" charset="-122"/>
              <a:ea typeface="黑体" panose="02010609060101010101" pitchFamily="49" charset="-122"/>
            </a:endParaRPr>
          </a:p>
        </p:txBody>
      </p:sp>
      <p:sp>
        <p:nvSpPr>
          <p:cNvPr id="51211" name="矩形 80912"/>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51212" name="对象 80911"/>
          <p:cNvGraphicFramePr>
            <a:graphicFrameLocks/>
          </p:cNvGraphicFramePr>
          <p:nvPr>
            <p:extLst>
              <p:ext uri="{D42A27DB-BD31-4B8C-83A1-F6EECF244321}">
                <p14:modId xmlns:p14="http://schemas.microsoft.com/office/powerpoint/2010/main" val="3639157466"/>
              </p:ext>
            </p:extLst>
          </p:nvPr>
        </p:nvGraphicFramePr>
        <p:xfrm>
          <a:off x="1649412" y="4744279"/>
          <a:ext cx="5638800" cy="568325"/>
        </p:xfrm>
        <a:graphic>
          <a:graphicData uri="http://schemas.openxmlformats.org/presentationml/2006/ole">
            <mc:AlternateContent xmlns:mc="http://schemas.openxmlformats.org/markup-compatibility/2006">
              <mc:Choice xmlns:v="urn:schemas-microsoft-com:vml" Requires="v">
                <p:oleObj spid="_x0000_s33811" r:id="rId5" imgW="2552700" imgH="254000" progId="Equation.DSMT4">
                  <p:embed/>
                </p:oleObj>
              </mc:Choice>
              <mc:Fallback>
                <p:oleObj r:id="rId5" imgW="2552700" imgH="254000" progId="Equation.DSMT4">
                  <p:embed/>
                  <p:pic>
                    <p:nvPicPr>
                      <p:cNvPr id="51212" name="对象 8091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49412" y="4744279"/>
                        <a:ext cx="563880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0729715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69397" y="451247"/>
            <a:ext cx="4817344" cy="646331"/>
          </a:xfrm>
          <a:prstGeom prst="rect">
            <a:avLst/>
          </a:prstGeom>
          <a:noFill/>
          <a:ln w="9525">
            <a:noFill/>
          </a:ln>
        </p:spPr>
        <p:txBody>
          <a:bodyPr wrap="none" anchor="ctr">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1"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1"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1"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1"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1" i="0" u="none" kern="1200" baseline="-25000">
                <a:solidFill>
                  <a:schemeClr val="tx1"/>
                </a:solidFill>
                <a:latin typeface="Arial" panose="020B0604020202020204" pitchFamily="34" charset="0"/>
                <a:ea typeface="宋体" panose="02010600030101010101" pitchFamily="2" charset="-122"/>
                <a:cs typeface="+mn-cs"/>
              </a:defRPr>
            </a:lvl9pPr>
          </a:lstStyle>
          <a:p>
            <a:r>
              <a:rPr lang="zh-CN" altLang="en-US" sz="3600" b="1" baseline="0" dirty="0" smtClean="0">
                <a:latin typeface="黑体" panose="02010609060101010101" pitchFamily="49" charset="-122"/>
                <a:ea typeface="黑体" panose="02010609060101010101" pitchFamily="49" charset="-122"/>
              </a:rPr>
              <a:t>二、</a:t>
            </a:r>
            <a:r>
              <a:rPr lang="zh-CN" altLang="en-US" sz="3600" b="1" baseline="0" dirty="0" smtClean="0">
                <a:latin typeface="黑体" panose="02010609060101010101" pitchFamily="49" charset="-122"/>
                <a:ea typeface="黑体" panose="02010609060101010101" pitchFamily="49" charset="-122"/>
                <a:sym typeface="宋体" panose="02010600030101010101" pitchFamily="2" charset="-122"/>
              </a:rPr>
              <a:t>㶲</a:t>
            </a:r>
            <a:r>
              <a:rPr lang="zh-CN" altLang="en-US" sz="3600" b="1" baseline="0" dirty="0">
                <a:latin typeface="黑体" panose="02010609060101010101" pitchFamily="49" charset="-122"/>
                <a:ea typeface="黑体" panose="02010609060101010101" pitchFamily="49" charset="-122"/>
                <a:sym typeface="宋体" panose="02010600030101010101" pitchFamily="2" charset="-122"/>
              </a:rPr>
              <a:t>损与熵产的关系</a:t>
            </a:r>
            <a:endParaRPr lang="zh-CN" altLang="en-US" sz="3600" b="1" dirty="0">
              <a:latin typeface="黑体" panose="02010609060101010101" pitchFamily="49" charset="-122"/>
              <a:ea typeface="黑体" panose="02010609060101010101" pitchFamily="49" charset="-122"/>
            </a:endParaRPr>
          </a:p>
        </p:txBody>
      </p:sp>
      <p:pic>
        <p:nvPicPr>
          <p:cNvPr id="3" name="对象 463888"/>
          <p:cNvPicPr/>
          <p:nvPr/>
        </p:nvPicPr>
        <p:blipFill>
          <a:blip r:embed="rId2"/>
          <a:stretch>
            <a:fillRect/>
          </a:stretch>
        </p:blipFill>
        <p:spPr>
          <a:xfrm>
            <a:off x="3276600" y="1554162"/>
            <a:ext cx="1581150" cy="723900"/>
          </a:xfrm>
          <a:prstGeom prst="rect">
            <a:avLst/>
          </a:prstGeom>
          <a:noFill/>
          <a:ln w="25400" cap="flat" cmpd="sng">
            <a:solidFill>
              <a:srgbClr val="FF0000"/>
            </a:solidFill>
            <a:prstDash val="solid"/>
            <a:miter/>
            <a:headEnd type="none" w="med" len="med"/>
            <a:tailEnd type="none" w="med" len="med"/>
          </a:ln>
        </p:spPr>
      </p:pic>
      <p:sp>
        <p:nvSpPr>
          <p:cNvPr id="4" name="矩形 3"/>
          <p:cNvSpPr/>
          <p:nvPr/>
        </p:nvSpPr>
        <p:spPr>
          <a:xfrm>
            <a:off x="1981200" y="2773362"/>
            <a:ext cx="4800600" cy="579438"/>
          </a:xfrm>
          <a:prstGeom prst="rect">
            <a:avLst/>
          </a:prstGeom>
          <a:noFill/>
          <a:ln w="9525">
            <a:noFill/>
          </a:ln>
        </p:spPr>
        <p:txBody>
          <a:bodyPr anchor="ctr">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1"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1"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1"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1"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1" i="0" u="none" kern="1200" baseline="-25000">
                <a:solidFill>
                  <a:schemeClr val="tx1"/>
                </a:solidFill>
                <a:latin typeface="Arial" panose="020B0604020202020204" pitchFamily="34" charset="0"/>
                <a:ea typeface="宋体" panose="02010600030101010101" pitchFamily="2" charset="-122"/>
                <a:cs typeface="+mn-cs"/>
              </a:defRPr>
            </a:lvl9pPr>
          </a:lstStyle>
          <a:p>
            <a:r>
              <a:rPr lang="zh-CN" altLang="en-US" sz="3200" b="1" baseline="0" dirty="0">
                <a:latin typeface="Times New Roman" panose="02020603050405020304" pitchFamily="18" charset="0"/>
                <a:ea typeface="黑体" panose="02010609060101010101" pitchFamily="49" charset="-122"/>
              </a:rPr>
              <a:t>闭口系和开口系均适用</a:t>
            </a:r>
            <a:endParaRPr lang="zh-CN" altLang="en-US" sz="3200" b="1" dirty="0">
              <a:latin typeface="Arial" panose="020B0604020202020204" pitchFamily="34" charset="0"/>
              <a:ea typeface="黑体" panose="02010609060101010101" pitchFamily="49" charset="-122"/>
            </a:endParaRPr>
          </a:p>
        </p:txBody>
      </p:sp>
      <p:sp>
        <p:nvSpPr>
          <p:cNvPr id="5" name="矩形 4"/>
          <p:cNvSpPr/>
          <p:nvPr/>
        </p:nvSpPr>
        <p:spPr>
          <a:xfrm>
            <a:off x="381000" y="3840162"/>
            <a:ext cx="8382000" cy="2378075"/>
          </a:xfrm>
          <a:prstGeom prst="rect">
            <a:avLst/>
          </a:prstGeom>
          <a:noFill/>
          <a:ln w="9525">
            <a:noFill/>
          </a:ln>
        </p:spPr>
        <p:txBody>
          <a:bodyPr anchor="ctr">
            <a:spAutoFit/>
          </a:bodyPr>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1" i="0" u="none" kern="1200" baseline="-2500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2500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2500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2500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1" i="0" u="none" kern="1200" baseline="-2500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1" i="0" u="none" kern="1200" baseline="-2500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1" i="0" u="none" kern="1200" baseline="-2500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1" i="0" u="none" kern="1200" baseline="-25000">
                <a:solidFill>
                  <a:schemeClr val="tx1"/>
                </a:solidFill>
                <a:latin typeface="Arial" panose="020B0604020202020204" pitchFamily="34" charset="0"/>
                <a:ea typeface="宋体" panose="02010600030101010101" pitchFamily="2" charset="-122"/>
                <a:cs typeface="+mn-cs"/>
              </a:defRPr>
            </a:lvl9pPr>
          </a:lstStyle>
          <a:p>
            <a:r>
              <a:rPr lang="zh-CN" altLang="en-US" sz="3000" b="1" baseline="0" dirty="0">
                <a:latin typeface="黑体" panose="02010609060101010101" pitchFamily="49" charset="-122"/>
                <a:ea typeface="黑体" panose="02010609060101010101" pitchFamily="49" charset="-122"/>
              </a:rPr>
              <a:t>在不可逆的热力过程中，能量是没有损失的（因为能量是守恒的），损失的是能量的作功能力（或潜力），代表着</a:t>
            </a:r>
            <a:r>
              <a:rPr lang="zh-CN" altLang="en-US" sz="3000" b="1" baseline="0" dirty="0">
                <a:solidFill>
                  <a:srgbClr val="FF0000"/>
                </a:solidFill>
                <a:latin typeface="黑体" panose="02010609060101010101" pitchFamily="49" charset="-122"/>
                <a:ea typeface="黑体" panose="02010609060101010101" pitchFamily="49" charset="-122"/>
              </a:rPr>
              <a:t>能量的“贬值”</a:t>
            </a:r>
            <a:r>
              <a:rPr lang="zh-CN" altLang="en-US" sz="3000" b="1" baseline="0" dirty="0">
                <a:latin typeface="黑体" panose="02010609060101010101" pitchFamily="49" charset="-122"/>
                <a:ea typeface="黑体" panose="02010609060101010101" pitchFamily="49" charset="-122"/>
              </a:rPr>
              <a:t>（</a:t>
            </a:r>
            <a:r>
              <a:rPr lang="en-US" altLang="zh-CN" sz="3000" b="1" baseline="0" dirty="0">
                <a:latin typeface="Times New Roman" panose="02020603050405020304" pitchFamily="18" charset="0"/>
                <a:ea typeface="黑体" panose="02010609060101010101" pitchFamily="49" charset="-122"/>
                <a:cs typeface="Times New Roman" panose="02020603050405020304" pitchFamily="18" charset="0"/>
              </a:rPr>
              <a:t>energy degradation</a:t>
            </a:r>
            <a:r>
              <a:rPr lang="zh-CN" altLang="en-US" sz="3000" b="1" baseline="0" dirty="0">
                <a:latin typeface="黑体" panose="02010609060101010101" pitchFamily="49" charset="-122"/>
                <a:ea typeface="黑体" panose="02010609060101010101" pitchFamily="49" charset="-122"/>
              </a:rPr>
              <a:t>）。</a:t>
            </a:r>
          </a:p>
          <a:p>
            <a:r>
              <a:rPr lang="zh-CN" altLang="en-US" sz="3000" b="1" baseline="0" dirty="0">
                <a:solidFill>
                  <a:srgbClr val="FF0000"/>
                </a:solidFill>
                <a:latin typeface="黑体" panose="02010609060101010101" pitchFamily="49" charset="-122"/>
                <a:ea typeface="黑体" panose="02010609060101010101" pitchFamily="49" charset="-122"/>
              </a:rPr>
              <a:t>减少㶲损失</a:t>
            </a:r>
            <a:r>
              <a:rPr lang="zh-CN" altLang="en-US" sz="3000" b="1" baseline="0" dirty="0">
                <a:latin typeface="黑体" panose="02010609060101010101" pitchFamily="49" charset="-122"/>
                <a:ea typeface="黑体" panose="02010609060101010101" pitchFamily="49" charset="-122"/>
              </a:rPr>
              <a:t>是合理用能及节能的指导方向。 </a:t>
            </a:r>
          </a:p>
        </p:txBody>
      </p:sp>
    </p:spTree>
    <p:extLst>
      <p:ext uri="{BB962C8B-B14F-4D97-AF65-F5344CB8AC3E}">
        <p14:creationId xmlns:p14="http://schemas.microsoft.com/office/powerpoint/2010/main" val="37103340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矩形 528385"/>
          <p:cNvSpPr>
            <a:spLocks noChangeArrowheads="1"/>
          </p:cNvSpPr>
          <p:nvPr/>
        </p:nvSpPr>
        <p:spPr bwMode="auto">
          <a:xfrm>
            <a:off x="381000" y="1981200"/>
            <a:ext cx="83058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p>
            <a:pPr algn="ctr">
              <a:buFontTx/>
              <a:buChar char="§"/>
            </a:pPr>
            <a:r>
              <a:rPr lang="en-US" altLang="zh-CN" sz="3600" b="1" baseline="0" dirty="0">
                <a:latin typeface="黑体" panose="02010609060101010101" pitchFamily="49" charset="-122"/>
                <a:ea typeface="黑体" panose="02010609060101010101" pitchFamily="49" charset="-122"/>
              </a:rPr>
              <a:t>7</a:t>
            </a:r>
            <a:r>
              <a:rPr lang="zh-CN" altLang="en-US" sz="3600" b="1" baseline="0" dirty="0">
                <a:latin typeface="黑体" panose="02010609060101010101" pitchFamily="49" charset="-122"/>
                <a:ea typeface="黑体" panose="02010609060101010101" pitchFamily="49" charset="-122"/>
              </a:rPr>
              <a:t>－</a:t>
            </a:r>
            <a:r>
              <a:rPr lang="en-US" altLang="zh-CN" sz="3600" b="1" baseline="0" dirty="0">
                <a:latin typeface="黑体" panose="02010609060101010101" pitchFamily="49" charset="-122"/>
                <a:ea typeface="黑体" panose="02010609060101010101" pitchFamily="49" charset="-122"/>
              </a:rPr>
              <a:t>5</a:t>
            </a:r>
            <a:r>
              <a:rPr lang="zh-CN" altLang="en-US" sz="3600" b="1" baseline="0" dirty="0">
                <a:latin typeface="黑体" panose="02010609060101010101" pitchFamily="49" charset="-122"/>
                <a:ea typeface="黑体" panose="02010609060101010101" pitchFamily="49" charset="-122"/>
              </a:rPr>
              <a:t>　孤立系的㶲减原理</a:t>
            </a:r>
          </a:p>
        </p:txBody>
      </p:sp>
    </p:spTree>
    <p:extLst>
      <p:ext uri="{BB962C8B-B14F-4D97-AF65-F5344CB8AC3E}">
        <p14:creationId xmlns:p14="http://schemas.microsoft.com/office/powerpoint/2010/main" val="157092515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矩形 83971"/>
          <p:cNvSpPr>
            <a:spLocks noChangeArrowheads="1"/>
          </p:cNvSpPr>
          <p:nvPr/>
        </p:nvSpPr>
        <p:spPr bwMode="auto">
          <a:xfrm>
            <a:off x="533400" y="454532"/>
            <a:ext cx="574708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3200" b="1" baseline="0" dirty="0" smtClean="0">
                <a:latin typeface="黑体" panose="02010609060101010101" pitchFamily="49" charset="-122"/>
                <a:ea typeface="黑体" panose="02010609060101010101" pitchFamily="49" charset="-122"/>
              </a:rPr>
              <a:t>孤立系在热力过程中的</a:t>
            </a:r>
            <a:r>
              <a:rPr lang="zh-CN" altLang="en-US" sz="3200" b="1" baseline="0" dirty="0">
                <a:latin typeface="黑体" panose="02010609060101010101" pitchFamily="49" charset="-122"/>
                <a:ea typeface="黑体" panose="02010609060101010101" pitchFamily="49" charset="-122"/>
              </a:rPr>
              <a:t>㶲变为</a:t>
            </a:r>
            <a:r>
              <a:rPr lang="zh-CN" altLang="en-US" sz="3200" b="1" dirty="0">
                <a:latin typeface="黑体" panose="02010609060101010101" pitchFamily="49" charset="-122"/>
                <a:ea typeface="黑体" panose="02010609060101010101" pitchFamily="49" charset="-122"/>
              </a:rPr>
              <a:t> </a:t>
            </a:r>
          </a:p>
        </p:txBody>
      </p:sp>
      <p:sp>
        <p:nvSpPr>
          <p:cNvPr id="54274" name="矩形 83973"/>
          <p:cNvSpPr>
            <a:spLocks noChangeArrowheads="1"/>
          </p:cNvSpPr>
          <p:nvPr/>
        </p:nvSpPr>
        <p:spPr bwMode="auto">
          <a:xfrm>
            <a:off x="0" y="32813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54275" name="对象 83972"/>
          <p:cNvGraphicFramePr>
            <a:graphicFrameLocks/>
          </p:cNvGraphicFramePr>
          <p:nvPr/>
        </p:nvGraphicFramePr>
        <p:xfrm>
          <a:off x="1524000" y="1524000"/>
          <a:ext cx="5313363" cy="661988"/>
        </p:xfrm>
        <a:graphic>
          <a:graphicData uri="http://schemas.openxmlformats.org/presentationml/2006/ole">
            <mc:AlternateContent xmlns:mc="http://schemas.openxmlformats.org/markup-compatibility/2006">
              <mc:Choice xmlns:v="urn:schemas-microsoft-com:vml" Requires="v">
                <p:oleObj spid="_x0000_s34826" r:id="rId3" imgW="2373870" imgH="291973" progId="Equation.DSMT4">
                  <p:embed/>
                </p:oleObj>
              </mc:Choice>
              <mc:Fallback>
                <p:oleObj r:id="rId3" imgW="2373870" imgH="291973" progId="Equation.DSMT4">
                  <p:embed/>
                  <p:pic>
                    <p:nvPicPr>
                      <p:cNvPr id="54275" name="对象 8397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1524000"/>
                        <a:ext cx="5313363" cy="661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4276" name="矩形 83975"/>
          <p:cNvSpPr>
            <a:spLocks noChangeArrowheads="1"/>
          </p:cNvSpPr>
          <p:nvPr/>
        </p:nvSpPr>
        <p:spPr bwMode="auto">
          <a:xfrm>
            <a:off x="609600" y="3049459"/>
            <a:ext cx="8077200"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3200" b="1" baseline="0" dirty="0">
                <a:latin typeface="黑体" panose="02010609060101010101" pitchFamily="49" charset="-122"/>
                <a:ea typeface="黑体" panose="02010609060101010101" pitchFamily="49" charset="-122"/>
              </a:rPr>
              <a:t>在孤立系内，一切实际过程都朝着使系统的㶲减小的方向进行，在理想情况下（可逆过程），系统的㶲保持不变，而使孤立系的㶲增加的过程是不可能发生的。这一原理即为</a:t>
            </a:r>
            <a:r>
              <a:rPr lang="zh-CN" altLang="en-US" sz="3200" b="1" baseline="0" dirty="0">
                <a:solidFill>
                  <a:srgbClr val="FF0000"/>
                </a:solidFill>
                <a:latin typeface="黑体" panose="02010609060101010101" pitchFamily="49" charset="-122"/>
                <a:ea typeface="黑体" panose="02010609060101010101" pitchFamily="49" charset="-122"/>
              </a:rPr>
              <a:t>孤立系㶲减原理</a:t>
            </a:r>
            <a:r>
              <a:rPr lang="zh-CN" altLang="en-US" sz="3200" b="1" baseline="0" dirty="0">
                <a:latin typeface="黑体" panose="02010609060101010101" pitchFamily="49" charset="-122"/>
                <a:ea typeface="黑体" panose="02010609060101010101" pitchFamily="49" charset="-122"/>
              </a:rPr>
              <a:t>，简称</a:t>
            </a:r>
            <a:r>
              <a:rPr lang="zh-CN" altLang="en-US" sz="3200" b="1" baseline="0" dirty="0">
                <a:solidFill>
                  <a:srgbClr val="FF0000"/>
                </a:solidFill>
                <a:latin typeface="黑体" panose="02010609060101010101" pitchFamily="49" charset="-122"/>
                <a:ea typeface="黑体" panose="02010609060101010101" pitchFamily="49" charset="-122"/>
              </a:rPr>
              <a:t>㶲减原理</a:t>
            </a:r>
            <a:r>
              <a:rPr lang="zh-CN" altLang="en-US" sz="3200" b="1" baseline="0" dirty="0">
                <a:latin typeface="黑体" panose="02010609060101010101" pitchFamily="49" charset="-122"/>
                <a:ea typeface="黑体" panose="02010609060101010101" pitchFamily="49" charset="-122"/>
              </a:rPr>
              <a:t>。 </a:t>
            </a:r>
          </a:p>
        </p:txBody>
      </p:sp>
    </p:spTree>
    <p:extLst>
      <p:ext uri="{BB962C8B-B14F-4D97-AF65-F5344CB8AC3E}">
        <p14:creationId xmlns:p14="http://schemas.microsoft.com/office/powerpoint/2010/main" val="32558212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矩形 528385"/>
          <p:cNvSpPr>
            <a:spLocks noChangeArrowheads="1"/>
          </p:cNvSpPr>
          <p:nvPr/>
        </p:nvSpPr>
        <p:spPr bwMode="auto">
          <a:xfrm>
            <a:off x="381000" y="1981200"/>
            <a:ext cx="83058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p>
            <a:pPr algn="ctr">
              <a:buFontTx/>
              <a:buChar char="§"/>
            </a:pPr>
            <a:r>
              <a:rPr lang="en-US" altLang="zh-CN" sz="3600" b="1" baseline="0" dirty="0">
                <a:latin typeface="黑体" panose="02010609060101010101" pitchFamily="49" charset="-122"/>
                <a:ea typeface="黑体" panose="02010609060101010101" pitchFamily="49" charset="-122"/>
              </a:rPr>
              <a:t>7</a:t>
            </a:r>
            <a:r>
              <a:rPr lang="zh-CN" altLang="en-US" sz="3600" b="1" baseline="0" dirty="0">
                <a:latin typeface="黑体" panose="02010609060101010101" pitchFamily="49" charset="-122"/>
                <a:ea typeface="黑体" panose="02010609060101010101" pitchFamily="49" charset="-122"/>
              </a:rPr>
              <a:t>－</a:t>
            </a:r>
            <a:r>
              <a:rPr lang="en-US" altLang="zh-CN" sz="3600" b="1" baseline="0" dirty="0">
                <a:latin typeface="黑体" panose="02010609060101010101" pitchFamily="49" charset="-122"/>
                <a:ea typeface="黑体" panose="02010609060101010101" pitchFamily="49" charset="-122"/>
              </a:rPr>
              <a:t>6</a:t>
            </a:r>
            <a:r>
              <a:rPr lang="zh-CN" altLang="en-US" sz="3600" b="1" baseline="0" dirty="0">
                <a:latin typeface="黑体" panose="02010609060101010101" pitchFamily="49" charset="-122"/>
                <a:ea typeface="黑体" panose="02010609060101010101" pitchFamily="49" charset="-122"/>
              </a:rPr>
              <a:t>　㶲分析举例</a:t>
            </a:r>
          </a:p>
        </p:txBody>
      </p:sp>
    </p:spTree>
    <p:extLst>
      <p:ext uri="{BB962C8B-B14F-4D97-AF65-F5344CB8AC3E}">
        <p14:creationId xmlns:p14="http://schemas.microsoft.com/office/powerpoint/2010/main" val="37620247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89140" y="2279650"/>
            <a:ext cx="3407959" cy="3962743"/>
          </a:xfrm>
          <a:prstGeom prst="rect">
            <a:avLst/>
          </a:prstGeom>
        </p:spPr>
      </p:pic>
      <p:sp>
        <p:nvSpPr>
          <p:cNvPr id="477190" name="矩形 477189"/>
          <p:cNvSpPr>
            <a:spLocks noChangeArrowheads="1"/>
          </p:cNvSpPr>
          <p:nvPr/>
        </p:nvSpPr>
        <p:spPr bwMode="auto">
          <a:xfrm>
            <a:off x="3048000" y="3268663"/>
            <a:ext cx="2133600" cy="12430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77192" name="矩形 477191"/>
          <p:cNvSpPr>
            <a:spLocks noChangeArrowheads="1"/>
          </p:cNvSpPr>
          <p:nvPr/>
        </p:nvSpPr>
        <p:spPr bwMode="auto">
          <a:xfrm>
            <a:off x="4648200" y="3505200"/>
            <a:ext cx="2133600" cy="12430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6324" name="矩形 477192"/>
          <p:cNvSpPr>
            <a:spLocks noChangeArrowheads="1"/>
          </p:cNvSpPr>
          <p:nvPr/>
        </p:nvSpPr>
        <p:spPr bwMode="auto">
          <a:xfrm>
            <a:off x="457200" y="219075"/>
            <a:ext cx="8229600" cy="206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3200" b="1" baseline="0" dirty="0">
                <a:latin typeface="黑体" panose="02010609060101010101" pitchFamily="49" charset="-122"/>
                <a:ea typeface="黑体" panose="02010609060101010101" pitchFamily="49" charset="-122"/>
                <a:sym typeface="宋体" panose="02010600030101010101" pitchFamily="2" charset="-122"/>
              </a:rPr>
              <a:t>㶲</a:t>
            </a:r>
            <a:r>
              <a:rPr lang="zh-CN" altLang="en-US" sz="3200" b="1" baseline="0" dirty="0">
                <a:latin typeface="黑体" panose="02010609060101010101" pitchFamily="49" charset="-122"/>
                <a:ea typeface="黑体" panose="02010609060101010101" pitchFamily="49" charset="-122"/>
              </a:rPr>
              <a:t>分析作用</a:t>
            </a:r>
            <a:r>
              <a:rPr lang="en-US" altLang="zh-CN" sz="3200" b="1" baseline="0" dirty="0">
                <a:ea typeface="黑体" panose="02010609060101010101" pitchFamily="49" charset="-122"/>
              </a:rPr>
              <a:t>——</a:t>
            </a:r>
            <a:r>
              <a:rPr lang="zh-CN" altLang="en-US" sz="3200" b="1" baseline="0" dirty="0">
                <a:latin typeface="黑体" panose="02010609060101010101" pitchFamily="49" charset="-122"/>
                <a:ea typeface="黑体" panose="02010609060101010101" pitchFamily="49" charset="-122"/>
              </a:rPr>
              <a:t>了解热功转换过程中各个环节的</a:t>
            </a:r>
            <a:r>
              <a:rPr lang="zh-CN" altLang="en-US" sz="3200" b="1" baseline="0" dirty="0">
                <a:latin typeface="黑体" panose="02010609060101010101" pitchFamily="49" charset="-122"/>
                <a:ea typeface="黑体" panose="02010609060101010101" pitchFamily="49" charset="-122"/>
                <a:sym typeface="宋体" panose="02010600030101010101" pitchFamily="2" charset="-122"/>
              </a:rPr>
              <a:t>㶲</a:t>
            </a:r>
            <a:r>
              <a:rPr lang="zh-CN" altLang="en-US" sz="3200" b="1" baseline="0" dirty="0">
                <a:latin typeface="黑体" panose="02010609060101010101" pitchFamily="49" charset="-122"/>
                <a:ea typeface="黑体" panose="02010609060101010101" pitchFamily="49" charset="-122"/>
              </a:rPr>
              <a:t>损失，找出减少</a:t>
            </a:r>
            <a:r>
              <a:rPr lang="zh-CN" altLang="en-US" sz="3200" b="1" baseline="0" dirty="0">
                <a:latin typeface="黑体" panose="02010609060101010101" pitchFamily="49" charset="-122"/>
                <a:ea typeface="黑体" panose="02010609060101010101" pitchFamily="49" charset="-122"/>
                <a:sym typeface="宋体" panose="02010600030101010101" pitchFamily="2" charset="-122"/>
              </a:rPr>
              <a:t>㶲</a:t>
            </a:r>
            <a:r>
              <a:rPr lang="zh-CN" altLang="en-US" sz="3200" b="1" baseline="0" dirty="0">
                <a:latin typeface="黑体" panose="02010609060101010101" pitchFamily="49" charset="-122"/>
                <a:ea typeface="黑体" panose="02010609060101010101" pitchFamily="49" charset="-122"/>
              </a:rPr>
              <a:t>损失的有效措施，为改进过程的热效率、提高能量利用率提供参考。 </a:t>
            </a:r>
          </a:p>
        </p:txBody>
      </p:sp>
    </p:spTree>
    <p:extLst>
      <p:ext uri="{BB962C8B-B14F-4D97-AF65-F5344CB8AC3E}">
        <p14:creationId xmlns:p14="http://schemas.microsoft.com/office/powerpoint/2010/main" val="340843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xit" presetSubtype="10" fill="hold" nodeType="clickEffect">
                                  <p:stCondLst>
                                    <p:cond delay="0"/>
                                  </p:stCondLst>
                                  <p:childTnLst>
                                    <p:animEffect transition="out" filter="blinds(horizontal)">
                                      <p:cBhvr>
                                        <p:cTn id="6" dur="500"/>
                                        <p:tgtEl>
                                          <p:spTgt spid="477192"/>
                                        </p:tgtEl>
                                      </p:cBhvr>
                                    </p:animEffect>
                                    <p:set>
                                      <p:cBhvr>
                                        <p:cTn id="7" dur="1" fill="hold">
                                          <p:stCondLst>
                                            <p:cond delay="499"/>
                                          </p:stCondLst>
                                        </p:cTn>
                                        <p:tgtEl>
                                          <p:spTgt spid="477192"/>
                                        </p:tgtEl>
                                        <p:attrNameLst>
                                          <p:attrName>style.visibility</p:attrName>
                                        </p:attrNameLst>
                                      </p:cBhvr>
                                      <p:to>
                                        <p:strVal val="hidden"/>
                                      </p:to>
                                    </p:se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xit" presetSubtype="10" fill="hold" nodeType="clickEffect">
                                  <p:stCondLst>
                                    <p:cond delay="0"/>
                                  </p:stCondLst>
                                  <p:childTnLst>
                                    <p:animEffect transition="out" filter="blinds(horizontal)">
                                      <p:cBhvr>
                                        <p:cTn id="11" dur="500"/>
                                        <p:tgtEl>
                                          <p:spTgt spid="477190"/>
                                        </p:tgtEl>
                                      </p:cBhvr>
                                    </p:animEffect>
                                    <p:set>
                                      <p:cBhvr>
                                        <p:cTn id="12" dur="1" fill="hold">
                                          <p:stCondLst>
                                            <p:cond delay="499"/>
                                          </p:stCondLst>
                                        </p:cTn>
                                        <p:tgtEl>
                                          <p:spTgt spid="47719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矩形 72705"/>
          <p:cNvSpPr>
            <a:spLocks noChangeArrowheads="1"/>
          </p:cNvSpPr>
          <p:nvPr/>
        </p:nvSpPr>
        <p:spPr bwMode="auto">
          <a:xfrm>
            <a:off x="457200" y="718929"/>
            <a:ext cx="8001000"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2200" b="1" baseline="0" dirty="0">
                <a:latin typeface="Times New Roman" panose="02020603050405020304" pitchFamily="18" charset="0"/>
                <a:ea typeface="宋体" panose="02010600030101010101" pitchFamily="2" charset="-122"/>
                <a:cs typeface="Times New Roman" panose="02020603050405020304" pitchFamily="18" charset="0"/>
              </a:rPr>
              <a:t>1 kg</a:t>
            </a:r>
            <a:r>
              <a:rPr lang="zh-CN" altLang="en-US" sz="2200" b="1" baseline="0" dirty="0">
                <a:latin typeface="Times New Roman" panose="02020603050405020304" pitchFamily="18" charset="0"/>
                <a:ea typeface="宋体" panose="02010600030101010101" pitchFamily="2" charset="-122"/>
                <a:cs typeface="Times New Roman" panose="02020603050405020304" pitchFamily="18" charset="0"/>
              </a:rPr>
              <a:t>空气置于刚性容器中，初始时压力为</a:t>
            </a:r>
            <a:r>
              <a:rPr lang="en-US" altLang="zh-CN" sz="2200" b="1" baseline="0" dirty="0">
                <a:latin typeface="Times New Roman" panose="02020603050405020304" pitchFamily="18" charset="0"/>
                <a:ea typeface="宋体" panose="02010600030101010101" pitchFamily="2" charset="-122"/>
                <a:cs typeface="Times New Roman" panose="02020603050405020304" pitchFamily="18" charset="0"/>
              </a:rPr>
              <a:t>150 </a:t>
            </a:r>
            <a:r>
              <a:rPr lang="en-US" altLang="zh-CN" sz="2200" b="1" baseline="0" dirty="0" err="1">
                <a:latin typeface="Times New Roman" panose="02020603050405020304" pitchFamily="18" charset="0"/>
                <a:ea typeface="宋体" panose="02010600030101010101" pitchFamily="2" charset="-122"/>
                <a:cs typeface="Times New Roman" panose="02020603050405020304" pitchFamily="18" charset="0"/>
              </a:rPr>
              <a:t>kPa</a:t>
            </a:r>
            <a:r>
              <a:rPr lang="zh-CN" altLang="en-US" sz="2200" b="1" baseline="0" dirty="0">
                <a:latin typeface="Times New Roman" panose="02020603050405020304" pitchFamily="18" charset="0"/>
                <a:ea typeface="宋体" panose="02010600030101010101" pitchFamily="2" charset="-122"/>
                <a:cs typeface="Times New Roman" panose="02020603050405020304" pitchFamily="18" charset="0"/>
              </a:rPr>
              <a:t>，温度为</a:t>
            </a:r>
            <a:r>
              <a:rPr lang="en-US" altLang="zh-CN" sz="2200" b="1" baseline="0" dirty="0">
                <a:latin typeface="Times New Roman" panose="02020603050405020304" pitchFamily="18" charset="0"/>
                <a:ea typeface="宋体" panose="02010600030101010101" pitchFamily="2" charset="-122"/>
                <a:cs typeface="Times New Roman" panose="02020603050405020304" pitchFamily="18" charset="0"/>
              </a:rPr>
              <a:t>300 K</a:t>
            </a:r>
            <a:r>
              <a:rPr lang="zh-CN" altLang="en-US" sz="2200" b="1" baseline="0" dirty="0">
                <a:latin typeface="Times New Roman" panose="02020603050405020304" pitchFamily="18" charset="0"/>
                <a:ea typeface="宋体" panose="02010600030101010101" pitchFamily="2" charset="-122"/>
                <a:cs typeface="Times New Roman" panose="02020603050405020304" pitchFamily="18" charset="0"/>
              </a:rPr>
              <a:t>。空气的温度通过以下两种不同的方式上升至</a:t>
            </a:r>
            <a:r>
              <a:rPr lang="en-US" altLang="zh-CN" sz="2200" b="1" baseline="0" dirty="0">
                <a:latin typeface="Times New Roman" panose="02020603050405020304" pitchFamily="18" charset="0"/>
                <a:ea typeface="宋体" panose="02010600030101010101" pitchFamily="2" charset="-122"/>
                <a:cs typeface="Times New Roman" panose="02020603050405020304" pitchFamily="18" charset="0"/>
              </a:rPr>
              <a:t>400 K</a:t>
            </a:r>
            <a:r>
              <a:rPr lang="zh-CN" altLang="en-US" sz="2200" b="1" baseline="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b="1" baseline="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200" b="1" baseline="0" dirty="0">
                <a:latin typeface="Times New Roman" panose="02020603050405020304" pitchFamily="18" charset="0"/>
                <a:ea typeface="宋体" panose="02010600030101010101" pitchFamily="2" charset="-122"/>
                <a:cs typeface="Times New Roman" panose="02020603050405020304" pitchFamily="18" charset="0"/>
              </a:rPr>
              <a:t>）容器壁绝热，外界通过容器内的搅拌器输入轴功；（</a:t>
            </a:r>
            <a:r>
              <a:rPr lang="en-US" altLang="zh-CN" sz="2200" b="1" baseline="0" dirty="0">
                <a:latin typeface="Times New Roman" panose="02020603050405020304" pitchFamily="18" charset="0"/>
                <a:ea typeface="宋体" panose="02010600030101010101" pitchFamily="2" charset="-122"/>
                <a:cs typeface="Times New Roman" panose="02020603050405020304" pitchFamily="18" charset="0"/>
              </a:rPr>
              <a:t>b</a:t>
            </a:r>
            <a:r>
              <a:rPr lang="zh-CN" altLang="en-US" sz="2200" b="1" baseline="0" dirty="0">
                <a:latin typeface="Times New Roman" panose="02020603050405020304" pitchFamily="18" charset="0"/>
                <a:ea typeface="宋体" panose="02010600030101010101" pitchFamily="2" charset="-122"/>
                <a:cs typeface="Times New Roman" panose="02020603050405020304" pitchFamily="18" charset="0"/>
              </a:rPr>
              <a:t>）通过从</a:t>
            </a:r>
            <a:r>
              <a:rPr lang="en-US" altLang="zh-CN" sz="2200" b="1" baseline="0" dirty="0">
                <a:latin typeface="Times New Roman" panose="02020603050405020304" pitchFamily="18" charset="0"/>
                <a:ea typeface="宋体" panose="02010600030101010101" pitchFamily="2" charset="-122"/>
                <a:cs typeface="Times New Roman" panose="02020603050405020304" pitchFamily="18" charset="0"/>
              </a:rPr>
              <a:t>500 K</a:t>
            </a:r>
            <a:r>
              <a:rPr lang="zh-CN" altLang="en-US" sz="2200" b="1" baseline="0" dirty="0">
                <a:latin typeface="Times New Roman" panose="02020603050405020304" pitchFamily="18" charset="0"/>
                <a:ea typeface="宋体" panose="02010600030101010101" pitchFamily="2" charset="-122"/>
                <a:cs typeface="Times New Roman" panose="02020603050405020304" pitchFamily="18" charset="0"/>
              </a:rPr>
              <a:t>的外部热源吸热，容器内空气向周围环境大气的散射忽略不计。假设环境的温度和压力分别为</a:t>
            </a:r>
            <a:r>
              <a:rPr lang="en-US" altLang="zh-CN" sz="2200" b="1" baseline="0" dirty="0">
                <a:latin typeface="Times New Roman" panose="02020603050405020304" pitchFamily="18" charset="0"/>
                <a:ea typeface="宋体" panose="02010600030101010101" pitchFamily="2" charset="-122"/>
                <a:cs typeface="Times New Roman" panose="02020603050405020304" pitchFamily="18" charset="0"/>
              </a:rPr>
              <a:t>300 K</a:t>
            </a:r>
            <a:r>
              <a:rPr lang="zh-CN" altLang="en-US" sz="2200" b="1" baseline="0" dirty="0">
                <a:latin typeface="Times New Roman" panose="02020603050405020304" pitchFamily="18" charset="0"/>
                <a:ea typeface="宋体" panose="02010600030101010101" pitchFamily="2" charset="-122"/>
                <a:cs typeface="Times New Roman" panose="02020603050405020304" pitchFamily="18" charset="0"/>
              </a:rPr>
              <a:t>和</a:t>
            </a:r>
            <a:r>
              <a:rPr lang="en-US" altLang="zh-CN" sz="2200" b="1" baseline="0" dirty="0">
                <a:latin typeface="Times New Roman" panose="02020603050405020304" pitchFamily="18" charset="0"/>
                <a:ea typeface="宋体" panose="02010600030101010101" pitchFamily="2" charset="-122"/>
                <a:cs typeface="Times New Roman" panose="02020603050405020304" pitchFamily="18" charset="0"/>
              </a:rPr>
              <a:t>100 </a:t>
            </a:r>
            <a:r>
              <a:rPr lang="en-US" altLang="zh-CN" sz="2200" b="1" baseline="0" dirty="0" err="1">
                <a:latin typeface="Times New Roman" panose="02020603050405020304" pitchFamily="18" charset="0"/>
                <a:ea typeface="宋体" panose="02010600030101010101" pitchFamily="2" charset="-122"/>
                <a:cs typeface="Times New Roman" panose="02020603050405020304" pitchFamily="18" charset="0"/>
              </a:rPr>
              <a:t>kPa</a:t>
            </a:r>
            <a:r>
              <a:rPr lang="zh-CN" altLang="en-US" sz="2200" b="1" baseline="0" dirty="0">
                <a:latin typeface="Times New Roman" panose="02020603050405020304" pitchFamily="18" charset="0"/>
                <a:ea typeface="宋体" panose="02010600030101010101" pitchFamily="2" charset="-122"/>
                <a:cs typeface="Times New Roman" panose="02020603050405020304" pitchFamily="18" charset="0"/>
              </a:rPr>
              <a:t>，空气视为理想气体。试（</a:t>
            </a:r>
            <a:r>
              <a:rPr lang="en-US" altLang="zh-CN" sz="2200" b="1" baseline="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200" b="1" baseline="0" dirty="0">
                <a:latin typeface="Times New Roman" panose="02020603050405020304" pitchFamily="18" charset="0"/>
                <a:ea typeface="宋体" panose="02010600030101010101" pitchFamily="2" charset="-122"/>
                <a:cs typeface="Times New Roman" panose="02020603050405020304" pitchFamily="18" charset="0"/>
              </a:rPr>
              <a:t>）比较两种方式的㶲损失；（</a:t>
            </a:r>
            <a:r>
              <a:rPr lang="en-US" altLang="zh-CN" sz="2200" b="1" baseline="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200" b="1" baseline="0" dirty="0">
                <a:latin typeface="Times New Roman" panose="02020603050405020304" pitchFamily="18" charset="0"/>
                <a:ea typeface="宋体" panose="02010600030101010101" pitchFamily="2" charset="-122"/>
                <a:cs typeface="Times New Roman" panose="02020603050405020304" pitchFamily="18" charset="0"/>
              </a:rPr>
              <a:t>）设计一个热力过程，使空气状态变化相同时（即从</a:t>
            </a:r>
            <a:r>
              <a:rPr lang="en-US" altLang="zh-CN" sz="2200" b="1" baseline="0" dirty="0">
                <a:latin typeface="Times New Roman" panose="02020603050405020304" pitchFamily="18" charset="0"/>
                <a:ea typeface="宋体" panose="02010600030101010101" pitchFamily="2" charset="-122"/>
                <a:cs typeface="Times New Roman" panose="02020603050405020304" pitchFamily="18" charset="0"/>
              </a:rPr>
              <a:t>300 K</a:t>
            </a:r>
            <a:r>
              <a:rPr lang="zh-CN" altLang="en-US" sz="2200" b="1" baseline="0" dirty="0">
                <a:latin typeface="Times New Roman" panose="02020603050405020304" pitchFamily="18" charset="0"/>
                <a:ea typeface="宋体" panose="02010600030101010101" pitchFamily="2" charset="-122"/>
                <a:cs typeface="Times New Roman" panose="02020603050405020304" pitchFamily="18" charset="0"/>
              </a:rPr>
              <a:t>定容升至</a:t>
            </a:r>
            <a:r>
              <a:rPr lang="en-US" altLang="zh-CN" sz="2200" b="1" baseline="0" dirty="0">
                <a:latin typeface="Times New Roman" panose="02020603050405020304" pitchFamily="18" charset="0"/>
                <a:ea typeface="宋体" panose="02010600030101010101" pitchFamily="2" charset="-122"/>
                <a:cs typeface="Times New Roman" panose="02020603050405020304" pitchFamily="18" charset="0"/>
              </a:rPr>
              <a:t>400 K</a:t>
            </a:r>
            <a:r>
              <a:rPr lang="zh-CN" altLang="en-US" sz="2200" b="1" baseline="0" dirty="0">
                <a:latin typeface="Times New Roman" panose="02020603050405020304" pitchFamily="18" charset="0"/>
                <a:ea typeface="宋体" panose="02010600030101010101" pitchFamily="2" charset="-122"/>
                <a:cs typeface="Times New Roman" panose="02020603050405020304" pitchFamily="18" charset="0"/>
              </a:rPr>
              <a:t>）外界输入的可用能最小。 </a:t>
            </a:r>
          </a:p>
        </p:txBody>
      </p:sp>
      <p:sp>
        <p:nvSpPr>
          <p:cNvPr id="57346" name="矩形 72706"/>
          <p:cNvSpPr>
            <a:spLocks noChangeArrowheads="1"/>
          </p:cNvSpPr>
          <p:nvPr/>
        </p:nvSpPr>
        <p:spPr bwMode="auto">
          <a:xfrm>
            <a:off x="381000" y="150168"/>
            <a:ext cx="495520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400" b="1" baseline="0" dirty="0">
                <a:latin typeface="黑体" panose="02010609060101010101" pitchFamily="49" charset="-122"/>
                <a:ea typeface="黑体" panose="02010609060101010101" pitchFamily="49" charset="-122"/>
              </a:rPr>
              <a:t>㶲分析举例：不同过程的㶲损比较</a:t>
            </a:r>
            <a:r>
              <a:rPr lang="zh-CN" altLang="en-US" sz="2400" b="1" dirty="0">
                <a:latin typeface="黑体" panose="02010609060101010101" pitchFamily="49" charset="-122"/>
                <a:ea typeface="黑体" panose="02010609060101010101" pitchFamily="49" charset="-122"/>
              </a:rPr>
              <a:t> </a:t>
            </a:r>
          </a:p>
        </p:txBody>
      </p:sp>
      <p:sp>
        <p:nvSpPr>
          <p:cNvPr id="57347" name="矩形 72707"/>
          <p:cNvSpPr>
            <a:spLocks noChangeArrowheads="1"/>
          </p:cNvSpPr>
          <p:nvPr/>
        </p:nvSpPr>
        <p:spPr bwMode="auto">
          <a:xfrm>
            <a:off x="0" y="1804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7348" name="矩形 72708"/>
          <p:cNvSpPr>
            <a:spLocks noChangeArrowheads="1"/>
          </p:cNvSpPr>
          <p:nvPr/>
        </p:nvSpPr>
        <p:spPr bwMode="auto">
          <a:xfrm>
            <a:off x="0" y="24003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7349" name="矩形 72709"/>
          <p:cNvSpPr>
            <a:spLocks noChangeArrowheads="1"/>
          </p:cNvSpPr>
          <p:nvPr/>
        </p:nvSpPr>
        <p:spPr bwMode="auto">
          <a:xfrm>
            <a:off x="0" y="24003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7350" name="矩形 72710"/>
          <p:cNvSpPr>
            <a:spLocks noChangeArrowheads="1"/>
          </p:cNvSpPr>
          <p:nvPr/>
        </p:nvSpPr>
        <p:spPr bwMode="auto">
          <a:xfrm>
            <a:off x="0" y="24812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7352" name="矩形 72712"/>
          <p:cNvSpPr>
            <a:spLocks noChangeArrowheads="1"/>
          </p:cNvSpPr>
          <p:nvPr/>
        </p:nvSpPr>
        <p:spPr bwMode="auto">
          <a:xfrm>
            <a:off x="0" y="22002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1054" y="3626792"/>
            <a:ext cx="2511770" cy="1969179"/>
          </a:xfrm>
          <a:prstGeom prst="rect">
            <a:avLst/>
          </a:prstGeom>
        </p:spPr>
      </p:pic>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24211" y="3296204"/>
            <a:ext cx="1944793" cy="3273836"/>
          </a:xfrm>
          <a:prstGeom prst="rect">
            <a:avLst/>
          </a:prstGeom>
        </p:spPr>
      </p:pic>
    </p:spTree>
    <p:extLst>
      <p:ext uri="{BB962C8B-B14F-4D97-AF65-F5344CB8AC3E}">
        <p14:creationId xmlns:p14="http://schemas.microsoft.com/office/powerpoint/2010/main" val="22693404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矩形 73730"/>
          <p:cNvSpPr>
            <a:spLocks noChangeArrowheads="1"/>
          </p:cNvSpPr>
          <p:nvPr/>
        </p:nvSpPr>
        <p:spPr bwMode="auto">
          <a:xfrm>
            <a:off x="0" y="32813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58370" name="对象 73731"/>
          <p:cNvGraphicFramePr>
            <a:graphicFrameLocks/>
          </p:cNvGraphicFramePr>
          <p:nvPr/>
        </p:nvGraphicFramePr>
        <p:xfrm>
          <a:off x="4297363" y="228600"/>
          <a:ext cx="1997075" cy="498475"/>
        </p:xfrm>
        <a:graphic>
          <a:graphicData uri="http://schemas.openxmlformats.org/presentationml/2006/ole">
            <mc:AlternateContent xmlns:mc="http://schemas.openxmlformats.org/markup-compatibility/2006">
              <mc:Choice xmlns:v="urn:schemas-microsoft-com:vml" Requires="v">
                <p:oleObj spid="_x0000_s37974" r:id="rId3" imgW="1180588" imgH="291973" progId="Equation.DSMT4">
                  <p:embed/>
                </p:oleObj>
              </mc:Choice>
              <mc:Fallback>
                <p:oleObj r:id="rId3" imgW="1180588" imgH="291973" progId="Equation.DSMT4">
                  <p:embed/>
                  <p:pic>
                    <p:nvPicPr>
                      <p:cNvPr id="58370" name="对象 7373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97363" y="228600"/>
                        <a:ext cx="1997075"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3733" name="矩形 73732"/>
          <p:cNvSpPr>
            <a:spLocks noChangeArrowheads="1"/>
          </p:cNvSpPr>
          <p:nvPr/>
        </p:nvSpPr>
        <p:spPr bwMode="auto">
          <a:xfrm>
            <a:off x="0" y="31623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58372" name="对象 73733"/>
          <p:cNvGraphicFramePr>
            <a:graphicFrameLocks/>
          </p:cNvGraphicFramePr>
          <p:nvPr/>
        </p:nvGraphicFramePr>
        <p:xfrm>
          <a:off x="4098925" y="685800"/>
          <a:ext cx="3689350" cy="906463"/>
        </p:xfrm>
        <a:graphic>
          <a:graphicData uri="http://schemas.openxmlformats.org/presentationml/2006/ole">
            <mc:AlternateContent xmlns:mc="http://schemas.openxmlformats.org/markup-compatibility/2006">
              <mc:Choice xmlns:v="urn:schemas-microsoft-com:vml" Requires="v">
                <p:oleObj spid="_x0000_s37975" r:id="rId5" imgW="2170758" imgH="533169" progId="Equation.DSMT4">
                  <p:embed/>
                </p:oleObj>
              </mc:Choice>
              <mc:Fallback>
                <p:oleObj r:id="rId5" imgW="2170758" imgH="533169" progId="Equation.DSMT4">
                  <p:embed/>
                  <p:pic>
                    <p:nvPicPr>
                      <p:cNvPr id="58372" name="对象 73733"/>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98925" y="685800"/>
                        <a:ext cx="3689350" cy="90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3735" name="矩形 73734"/>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58374" name="对象 73735"/>
          <p:cNvGraphicFramePr>
            <a:graphicFrameLocks/>
          </p:cNvGraphicFramePr>
          <p:nvPr/>
        </p:nvGraphicFramePr>
        <p:xfrm>
          <a:off x="2733675" y="1676400"/>
          <a:ext cx="6115050" cy="635000"/>
        </p:xfrm>
        <a:graphic>
          <a:graphicData uri="http://schemas.openxmlformats.org/presentationml/2006/ole">
            <mc:AlternateContent xmlns:mc="http://schemas.openxmlformats.org/markup-compatibility/2006">
              <mc:Choice xmlns:v="urn:schemas-microsoft-com:vml" Requires="v">
                <p:oleObj spid="_x0000_s37976" r:id="rId7" imgW="4125709" imgH="431613" progId="Equation.DSMT4">
                  <p:embed/>
                </p:oleObj>
              </mc:Choice>
              <mc:Fallback>
                <p:oleObj r:id="rId7" imgW="4125709" imgH="431613" progId="Equation.DSMT4">
                  <p:embed/>
                  <p:pic>
                    <p:nvPicPr>
                      <p:cNvPr id="58374" name="对象 73735"/>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33675" y="1676400"/>
                        <a:ext cx="61150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3737" name="矩形 73736"/>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58376" name="对象 73737"/>
          <p:cNvGraphicFramePr>
            <a:graphicFrameLocks noChangeAspect="1"/>
          </p:cNvGraphicFramePr>
          <p:nvPr>
            <p:extLst>
              <p:ext uri="{D42A27DB-BD31-4B8C-83A1-F6EECF244321}">
                <p14:modId xmlns:p14="http://schemas.microsoft.com/office/powerpoint/2010/main" val="728556650"/>
              </p:ext>
            </p:extLst>
          </p:nvPr>
        </p:nvGraphicFramePr>
        <p:xfrm>
          <a:off x="1838326" y="2362200"/>
          <a:ext cx="5500675" cy="431426"/>
        </p:xfrm>
        <a:graphic>
          <a:graphicData uri="http://schemas.openxmlformats.org/presentationml/2006/ole">
            <mc:AlternateContent xmlns:mc="http://schemas.openxmlformats.org/markup-compatibility/2006">
              <mc:Choice xmlns:v="urn:schemas-microsoft-com:vml" Requires="v">
                <p:oleObj spid="_x0000_s37977" r:id="rId9" imgW="3235691" imgH="253780" progId="Equation.DSMT4">
                  <p:embed/>
                </p:oleObj>
              </mc:Choice>
              <mc:Fallback>
                <p:oleObj r:id="rId9" imgW="3235691" imgH="253780" progId="Equation.DSMT4">
                  <p:embed/>
                  <p:pic>
                    <p:nvPicPr>
                      <p:cNvPr id="58376" name="对象 73737"/>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38326" y="2362200"/>
                        <a:ext cx="5500675" cy="431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8377" name="直接连接符 73738"/>
          <p:cNvSpPr>
            <a:spLocks noChangeShapeType="1"/>
          </p:cNvSpPr>
          <p:nvPr/>
        </p:nvSpPr>
        <p:spPr bwMode="auto">
          <a:xfrm>
            <a:off x="152400" y="2895600"/>
            <a:ext cx="8686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41" name="矩形 73740"/>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73742" name="对象 73741"/>
          <p:cNvGraphicFramePr>
            <a:graphicFrameLocks noChangeAspect="1"/>
          </p:cNvGraphicFramePr>
          <p:nvPr>
            <p:extLst>
              <p:ext uri="{D42A27DB-BD31-4B8C-83A1-F6EECF244321}">
                <p14:modId xmlns:p14="http://schemas.microsoft.com/office/powerpoint/2010/main" val="892159266"/>
              </p:ext>
            </p:extLst>
          </p:nvPr>
        </p:nvGraphicFramePr>
        <p:xfrm>
          <a:off x="2999411" y="3050166"/>
          <a:ext cx="4339590" cy="734060"/>
        </p:xfrm>
        <a:graphic>
          <a:graphicData uri="http://schemas.openxmlformats.org/presentationml/2006/ole">
            <mc:AlternateContent xmlns:mc="http://schemas.openxmlformats.org/markup-compatibility/2006">
              <mc:Choice xmlns:v="urn:schemas-microsoft-com:vml" Requires="v">
                <p:oleObj spid="_x0000_s37978" r:id="rId11" imgW="2552700" imgH="431800" progId="Equation.DSMT4">
                  <p:embed/>
                </p:oleObj>
              </mc:Choice>
              <mc:Fallback>
                <p:oleObj r:id="rId11" imgW="2552700" imgH="431800" progId="Equation.DSMT4">
                  <p:embed/>
                  <p:pic>
                    <p:nvPicPr>
                      <p:cNvPr id="73742" name="对象 73741"/>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99411" y="3050166"/>
                        <a:ext cx="4339590" cy="734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3743" name="矩形 73742"/>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73744" name="对象 73743"/>
          <p:cNvGraphicFramePr>
            <a:graphicFrameLocks noChangeAspect="1"/>
          </p:cNvGraphicFramePr>
          <p:nvPr>
            <p:extLst>
              <p:ext uri="{D42A27DB-BD31-4B8C-83A1-F6EECF244321}">
                <p14:modId xmlns:p14="http://schemas.microsoft.com/office/powerpoint/2010/main" val="2894797314"/>
              </p:ext>
            </p:extLst>
          </p:nvPr>
        </p:nvGraphicFramePr>
        <p:xfrm>
          <a:off x="3171824" y="3847422"/>
          <a:ext cx="2976836" cy="431426"/>
        </p:xfrm>
        <a:graphic>
          <a:graphicData uri="http://schemas.openxmlformats.org/presentationml/2006/ole">
            <mc:AlternateContent xmlns:mc="http://schemas.openxmlformats.org/markup-compatibility/2006">
              <mc:Choice xmlns:v="urn:schemas-microsoft-com:vml" Requires="v">
                <p:oleObj spid="_x0000_s37979" r:id="rId13" imgW="1751080" imgH="253780" progId="Equation.DSMT4">
                  <p:embed/>
                </p:oleObj>
              </mc:Choice>
              <mc:Fallback>
                <p:oleObj r:id="rId13" imgW="1751080" imgH="253780" progId="Equation.DSMT4">
                  <p:embed/>
                  <p:pic>
                    <p:nvPicPr>
                      <p:cNvPr id="73744" name="对象 73743"/>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71824" y="3847422"/>
                        <a:ext cx="2976836" cy="431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3745" name="矩形 73744"/>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73746" name="对象 73745"/>
          <p:cNvGraphicFramePr>
            <a:graphicFrameLocks noChangeAspect="1"/>
          </p:cNvGraphicFramePr>
          <p:nvPr>
            <p:extLst>
              <p:ext uri="{D42A27DB-BD31-4B8C-83A1-F6EECF244321}">
                <p14:modId xmlns:p14="http://schemas.microsoft.com/office/powerpoint/2010/main" val="283798367"/>
              </p:ext>
            </p:extLst>
          </p:nvPr>
        </p:nvGraphicFramePr>
        <p:xfrm>
          <a:off x="3265805" y="4382408"/>
          <a:ext cx="2612390" cy="777240"/>
        </p:xfrm>
        <a:graphic>
          <a:graphicData uri="http://schemas.openxmlformats.org/presentationml/2006/ole">
            <mc:AlternateContent xmlns:mc="http://schemas.openxmlformats.org/markup-compatibility/2006">
              <mc:Choice xmlns:v="urn:schemas-microsoft-com:vml" Requires="v">
                <p:oleObj spid="_x0000_s37980" r:id="rId15" imgW="1536700" imgH="457200" progId="Equation.DSMT4">
                  <p:embed/>
                </p:oleObj>
              </mc:Choice>
              <mc:Fallback>
                <p:oleObj r:id="rId15" imgW="1536700" imgH="457200" progId="Equation.DSMT4">
                  <p:embed/>
                  <p:pic>
                    <p:nvPicPr>
                      <p:cNvPr id="73746" name="对象 73745"/>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265805" y="4382408"/>
                        <a:ext cx="2612390" cy="777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3747" name="矩形 73746"/>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73748" name="对象 73747"/>
          <p:cNvGraphicFramePr>
            <a:graphicFrameLocks noChangeAspect="1"/>
          </p:cNvGraphicFramePr>
          <p:nvPr>
            <p:extLst>
              <p:ext uri="{D42A27DB-BD31-4B8C-83A1-F6EECF244321}">
                <p14:modId xmlns:p14="http://schemas.microsoft.com/office/powerpoint/2010/main" val="17051030"/>
              </p:ext>
            </p:extLst>
          </p:nvPr>
        </p:nvGraphicFramePr>
        <p:xfrm>
          <a:off x="2255267" y="5201749"/>
          <a:ext cx="6363081" cy="781812"/>
        </p:xfrm>
        <a:graphic>
          <a:graphicData uri="http://schemas.openxmlformats.org/presentationml/2006/ole">
            <mc:AlternateContent xmlns:mc="http://schemas.openxmlformats.org/markup-compatibility/2006">
              <mc:Choice xmlns:v="urn:schemas-microsoft-com:vml" Requires="v">
                <p:oleObj spid="_x0000_s37981" r:id="rId17" imgW="3721100" imgH="457200" progId="Equation.DSMT4">
                  <p:embed/>
                </p:oleObj>
              </mc:Choice>
              <mc:Fallback>
                <p:oleObj r:id="rId17" imgW="3721100" imgH="457200" progId="Equation.DSMT4">
                  <p:embed/>
                  <p:pic>
                    <p:nvPicPr>
                      <p:cNvPr id="73748" name="对象 73747"/>
                      <p:cNvPicPr>
                        <a:picLocks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255267" y="5201749"/>
                        <a:ext cx="6363081" cy="78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3749" name="矩形 73748"/>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73750" name="对象 73749"/>
          <p:cNvGraphicFramePr>
            <a:graphicFrameLocks noChangeAspect="1"/>
          </p:cNvGraphicFramePr>
          <p:nvPr>
            <p:extLst>
              <p:ext uri="{D42A27DB-BD31-4B8C-83A1-F6EECF244321}">
                <p14:modId xmlns:p14="http://schemas.microsoft.com/office/powerpoint/2010/main" val="172921181"/>
              </p:ext>
            </p:extLst>
          </p:nvPr>
        </p:nvGraphicFramePr>
        <p:xfrm>
          <a:off x="2904222" y="6082549"/>
          <a:ext cx="4529968" cy="431426"/>
        </p:xfrm>
        <a:graphic>
          <a:graphicData uri="http://schemas.openxmlformats.org/presentationml/2006/ole">
            <mc:AlternateContent xmlns:mc="http://schemas.openxmlformats.org/markup-compatibility/2006">
              <mc:Choice xmlns:v="urn:schemas-microsoft-com:vml" Requires="v">
                <p:oleObj spid="_x0000_s37982" r:id="rId19" imgW="2664687" imgH="253780" progId="Equation.DSMT4">
                  <p:embed/>
                </p:oleObj>
              </mc:Choice>
              <mc:Fallback>
                <p:oleObj r:id="rId19" imgW="2664687" imgH="253780" progId="Equation.DSMT4">
                  <p:embed/>
                  <p:pic>
                    <p:nvPicPr>
                      <p:cNvPr id="73750" name="对象 73749"/>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904222" y="6082549"/>
                        <a:ext cx="4529968" cy="431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8389" name="直接连接符 73750"/>
          <p:cNvSpPr>
            <a:spLocks noChangeShapeType="1"/>
          </p:cNvSpPr>
          <p:nvPr/>
        </p:nvSpPr>
        <p:spPr bwMode="auto">
          <a:xfrm>
            <a:off x="6430618" y="2743200"/>
            <a:ext cx="990600"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52" name="直接连接符 73751"/>
          <p:cNvSpPr>
            <a:spLocks noChangeShapeType="1"/>
          </p:cNvSpPr>
          <p:nvPr/>
        </p:nvSpPr>
        <p:spPr bwMode="auto">
          <a:xfrm>
            <a:off x="6529730" y="6477000"/>
            <a:ext cx="904460" cy="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2" name="图片 1"/>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341790" y="234768"/>
            <a:ext cx="2438611" cy="1914310"/>
          </a:xfrm>
          <a:prstGeom prst="rect">
            <a:avLst/>
          </a:prstGeom>
        </p:spPr>
      </p:pic>
      <p:pic>
        <p:nvPicPr>
          <p:cNvPr id="3" name="图片 2"/>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346917" y="3131062"/>
            <a:ext cx="1944793" cy="3279932"/>
          </a:xfrm>
          <a:prstGeom prst="rect">
            <a:avLst/>
          </a:prstGeom>
        </p:spPr>
      </p:pic>
    </p:spTree>
    <p:extLst>
      <p:ext uri="{BB962C8B-B14F-4D97-AF65-F5344CB8AC3E}">
        <p14:creationId xmlns:p14="http://schemas.microsoft.com/office/powerpoint/2010/main" val="42865950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3731"/>
                                        </p:tgtEl>
                                        <p:attrNameLst>
                                          <p:attrName>style.visibility</p:attrName>
                                        </p:attrNameLst>
                                      </p:cBhvr>
                                      <p:to>
                                        <p:strVal val="visible"/>
                                      </p:to>
                                    </p:set>
                                    <p:animEffect transition="in" filter="blinds(horizontal)">
                                      <p:cBhvr>
                                        <p:cTn id="7" dur="500"/>
                                        <p:tgtEl>
                                          <p:spTgt spid="73731"/>
                                        </p:tgtEl>
                                      </p:cBhvr>
                                    </p:animEffect>
                                  </p:childTnLst>
                                </p:cTn>
                              </p:par>
                              <p:par>
                                <p:cTn id="8" presetID="3" presetClass="entr" presetSubtype="10" fill="hold" nodeType="withEffect">
                                  <p:stCondLst>
                                    <p:cond delay="0"/>
                                  </p:stCondLst>
                                  <p:childTnLst>
                                    <p:set>
                                      <p:cBhvr>
                                        <p:cTn id="9" dur="1" fill="hold">
                                          <p:stCondLst>
                                            <p:cond delay="0"/>
                                          </p:stCondLst>
                                        </p:cTn>
                                        <p:tgtEl>
                                          <p:spTgt spid="73733"/>
                                        </p:tgtEl>
                                        <p:attrNameLst>
                                          <p:attrName>style.visibility</p:attrName>
                                        </p:attrNameLst>
                                      </p:cBhvr>
                                      <p:to>
                                        <p:strVal val="visible"/>
                                      </p:to>
                                    </p:set>
                                    <p:animEffect transition="in" filter="blinds(horizontal)">
                                      <p:cBhvr>
                                        <p:cTn id="10" dur="500"/>
                                        <p:tgtEl>
                                          <p:spTgt spid="73733"/>
                                        </p:tgtEl>
                                      </p:cBhvr>
                                    </p:animEffect>
                                  </p:childTnLst>
                                </p:cTn>
                              </p:par>
                              <p:par>
                                <p:cTn id="11" presetID="3" presetClass="entr" presetSubtype="10" fill="hold" nodeType="withEffect">
                                  <p:stCondLst>
                                    <p:cond delay="0"/>
                                  </p:stCondLst>
                                  <p:childTnLst>
                                    <p:set>
                                      <p:cBhvr>
                                        <p:cTn id="12" dur="1" fill="hold">
                                          <p:stCondLst>
                                            <p:cond delay="0"/>
                                          </p:stCondLst>
                                        </p:cTn>
                                        <p:tgtEl>
                                          <p:spTgt spid="73735"/>
                                        </p:tgtEl>
                                        <p:attrNameLst>
                                          <p:attrName>style.visibility</p:attrName>
                                        </p:attrNameLst>
                                      </p:cBhvr>
                                      <p:to>
                                        <p:strVal val="visible"/>
                                      </p:to>
                                    </p:set>
                                    <p:animEffect transition="in" filter="blinds(horizontal)">
                                      <p:cBhvr>
                                        <p:cTn id="13" dur="500"/>
                                        <p:tgtEl>
                                          <p:spTgt spid="73735"/>
                                        </p:tgtEl>
                                      </p:cBhvr>
                                    </p:animEffect>
                                  </p:childTnLst>
                                </p:cTn>
                              </p:par>
                              <p:par>
                                <p:cTn id="14" presetID="3" presetClass="entr" presetSubtype="10" fill="hold" nodeType="withEffect">
                                  <p:stCondLst>
                                    <p:cond delay="0"/>
                                  </p:stCondLst>
                                  <p:childTnLst>
                                    <p:set>
                                      <p:cBhvr>
                                        <p:cTn id="15" dur="1" fill="hold">
                                          <p:stCondLst>
                                            <p:cond delay="0"/>
                                          </p:stCondLst>
                                        </p:cTn>
                                        <p:tgtEl>
                                          <p:spTgt spid="73737"/>
                                        </p:tgtEl>
                                        <p:attrNameLst>
                                          <p:attrName>style.visibility</p:attrName>
                                        </p:attrNameLst>
                                      </p:cBhvr>
                                      <p:to>
                                        <p:strVal val="visible"/>
                                      </p:to>
                                    </p:set>
                                    <p:animEffect transition="in" filter="blinds(horizontal)">
                                      <p:cBhvr>
                                        <p:cTn id="16" dur="500"/>
                                        <p:tgtEl>
                                          <p:spTgt spid="73737"/>
                                        </p:tgtEl>
                                      </p:cBhvr>
                                    </p:animEffect>
                                  </p:childTnLst>
                                </p:cTn>
                              </p:par>
                              <p:par>
                                <p:cTn id="17" presetID="3" presetClass="entr" presetSubtype="10" fill="hold" nodeType="withEffect">
                                  <p:stCondLst>
                                    <p:cond delay="0"/>
                                  </p:stCondLst>
                                  <p:childTnLst>
                                    <p:set>
                                      <p:cBhvr>
                                        <p:cTn id="18" dur="1" fill="hold">
                                          <p:stCondLst>
                                            <p:cond delay="0"/>
                                          </p:stCondLst>
                                        </p:cTn>
                                        <p:tgtEl>
                                          <p:spTgt spid="73741"/>
                                        </p:tgtEl>
                                        <p:attrNameLst>
                                          <p:attrName>style.visibility</p:attrName>
                                        </p:attrNameLst>
                                      </p:cBhvr>
                                      <p:to>
                                        <p:strVal val="visible"/>
                                      </p:to>
                                    </p:set>
                                    <p:animEffect transition="in" filter="blinds(horizontal)">
                                      <p:cBhvr>
                                        <p:cTn id="19" dur="500"/>
                                        <p:tgtEl>
                                          <p:spTgt spid="73741"/>
                                        </p:tgtEl>
                                      </p:cBhvr>
                                    </p:animEffect>
                                  </p:childTnLst>
                                </p:cTn>
                              </p:par>
                              <p:par>
                                <p:cTn id="20" presetID="3" presetClass="entr" presetSubtype="10" fill="hold" nodeType="withEffect">
                                  <p:stCondLst>
                                    <p:cond delay="0"/>
                                  </p:stCondLst>
                                  <p:childTnLst>
                                    <p:set>
                                      <p:cBhvr>
                                        <p:cTn id="21" dur="1" fill="hold">
                                          <p:stCondLst>
                                            <p:cond delay="0"/>
                                          </p:stCondLst>
                                        </p:cTn>
                                        <p:tgtEl>
                                          <p:spTgt spid="73742"/>
                                        </p:tgtEl>
                                        <p:attrNameLst>
                                          <p:attrName>style.visibility</p:attrName>
                                        </p:attrNameLst>
                                      </p:cBhvr>
                                      <p:to>
                                        <p:strVal val="visible"/>
                                      </p:to>
                                    </p:set>
                                    <p:animEffect transition="in" filter="blinds(horizontal)">
                                      <p:cBhvr>
                                        <p:cTn id="22" dur="500"/>
                                        <p:tgtEl>
                                          <p:spTgt spid="73742"/>
                                        </p:tgtEl>
                                      </p:cBhvr>
                                    </p:animEffect>
                                  </p:childTnLst>
                                </p:cTn>
                              </p:par>
                              <p:par>
                                <p:cTn id="23" presetID="3" presetClass="entr" presetSubtype="10" fill="hold" nodeType="withEffect">
                                  <p:stCondLst>
                                    <p:cond delay="0"/>
                                  </p:stCondLst>
                                  <p:childTnLst>
                                    <p:set>
                                      <p:cBhvr>
                                        <p:cTn id="24" dur="1" fill="hold">
                                          <p:stCondLst>
                                            <p:cond delay="0"/>
                                          </p:stCondLst>
                                        </p:cTn>
                                        <p:tgtEl>
                                          <p:spTgt spid="73743"/>
                                        </p:tgtEl>
                                        <p:attrNameLst>
                                          <p:attrName>style.visibility</p:attrName>
                                        </p:attrNameLst>
                                      </p:cBhvr>
                                      <p:to>
                                        <p:strVal val="visible"/>
                                      </p:to>
                                    </p:set>
                                    <p:animEffect transition="in" filter="blinds(horizontal)">
                                      <p:cBhvr>
                                        <p:cTn id="25" dur="500"/>
                                        <p:tgtEl>
                                          <p:spTgt spid="73743"/>
                                        </p:tgtEl>
                                      </p:cBhvr>
                                    </p:animEffect>
                                  </p:childTnLst>
                                </p:cTn>
                              </p:par>
                              <p:par>
                                <p:cTn id="26" presetID="3" presetClass="entr" presetSubtype="10" fill="hold" nodeType="withEffect">
                                  <p:stCondLst>
                                    <p:cond delay="0"/>
                                  </p:stCondLst>
                                  <p:childTnLst>
                                    <p:set>
                                      <p:cBhvr>
                                        <p:cTn id="27" dur="1" fill="hold">
                                          <p:stCondLst>
                                            <p:cond delay="0"/>
                                          </p:stCondLst>
                                        </p:cTn>
                                        <p:tgtEl>
                                          <p:spTgt spid="73744"/>
                                        </p:tgtEl>
                                        <p:attrNameLst>
                                          <p:attrName>style.visibility</p:attrName>
                                        </p:attrNameLst>
                                      </p:cBhvr>
                                      <p:to>
                                        <p:strVal val="visible"/>
                                      </p:to>
                                    </p:set>
                                    <p:animEffect transition="in" filter="blinds(horizontal)">
                                      <p:cBhvr>
                                        <p:cTn id="28" dur="500"/>
                                        <p:tgtEl>
                                          <p:spTgt spid="73744"/>
                                        </p:tgtEl>
                                      </p:cBhvr>
                                    </p:animEffect>
                                  </p:childTnLst>
                                </p:cTn>
                              </p:par>
                              <p:par>
                                <p:cTn id="29" presetID="3" presetClass="entr" presetSubtype="10" fill="hold" nodeType="withEffect">
                                  <p:stCondLst>
                                    <p:cond delay="0"/>
                                  </p:stCondLst>
                                  <p:childTnLst>
                                    <p:set>
                                      <p:cBhvr>
                                        <p:cTn id="30" dur="1" fill="hold">
                                          <p:stCondLst>
                                            <p:cond delay="0"/>
                                          </p:stCondLst>
                                        </p:cTn>
                                        <p:tgtEl>
                                          <p:spTgt spid="73745"/>
                                        </p:tgtEl>
                                        <p:attrNameLst>
                                          <p:attrName>style.visibility</p:attrName>
                                        </p:attrNameLst>
                                      </p:cBhvr>
                                      <p:to>
                                        <p:strVal val="visible"/>
                                      </p:to>
                                    </p:set>
                                    <p:animEffect transition="in" filter="blinds(horizontal)">
                                      <p:cBhvr>
                                        <p:cTn id="31" dur="500"/>
                                        <p:tgtEl>
                                          <p:spTgt spid="73745"/>
                                        </p:tgtEl>
                                      </p:cBhvr>
                                    </p:animEffect>
                                  </p:childTnLst>
                                </p:cTn>
                              </p:par>
                              <p:par>
                                <p:cTn id="32" presetID="3" presetClass="entr" presetSubtype="10" fill="hold" nodeType="withEffect">
                                  <p:stCondLst>
                                    <p:cond delay="0"/>
                                  </p:stCondLst>
                                  <p:childTnLst>
                                    <p:set>
                                      <p:cBhvr>
                                        <p:cTn id="33" dur="1" fill="hold">
                                          <p:stCondLst>
                                            <p:cond delay="0"/>
                                          </p:stCondLst>
                                        </p:cTn>
                                        <p:tgtEl>
                                          <p:spTgt spid="73746"/>
                                        </p:tgtEl>
                                        <p:attrNameLst>
                                          <p:attrName>style.visibility</p:attrName>
                                        </p:attrNameLst>
                                      </p:cBhvr>
                                      <p:to>
                                        <p:strVal val="visible"/>
                                      </p:to>
                                    </p:set>
                                    <p:animEffect transition="in" filter="blinds(horizontal)">
                                      <p:cBhvr>
                                        <p:cTn id="34" dur="500"/>
                                        <p:tgtEl>
                                          <p:spTgt spid="73746"/>
                                        </p:tgtEl>
                                      </p:cBhvr>
                                    </p:animEffect>
                                  </p:childTnLst>
                                </p:cTn>
                              </p:par>
                              <p:par>
                                <p:cTn id="35" presetID="3" presetClass="entr" presetSubtype="10" fill="hold" nodeType="withEffect">
                                  <p:stCondLst>
                                    <p:cond delay="0"/>
                                  </p:stCondLst>
                                  <p:childTnLst>
                                    <p:set>
                                      <p:cBhvr>
                                        <p:cTn id="36" dur="1" fill="hold">
                                          <p:stCondLst>
                                            <p:cond delay="0"/>
                                          </p:stCondLst>
                                        </p:cTn>
                                        <p:tgtEl>
                                          <p:spTgt spid="73747"/>
                                        </p:tgtEl>
                                        <p:attrNameLst>
                                          <p:attrName>style.visibility</p:attrName>
                                        </p:attrNameLst>
                                      </p:cBhvr>
                                      <p:to>
                                        <p:strVal val="visible"/>
                                      </p:to>
                                    </p:set>
                                    <p:animEffect transition="in" filter="blinds(horizontal)">
                                      <p:cBhvr>
                                        <p:cTn id="37" dur="500"/>
                                        <p:tgtEl>
                                          <p:spTgt spid="73747"/>
                                        </p:tgtEl>
                                      </p:cBhvr>
                                    </p:animEffect>
                                  </p:childTnLst>
                                </p:cTn>
                              </p:par>
                              <p:par>
                                <p:cTn id="38" presetID="3" presetClass="entr" presetSubtype="10" fill="hold" nodeType="withEffect">
                                  <p:stCondLst>
                                    <p:cond delay="0"/>
                                  </p:stCondLst>
                                  <p:childTnLst>
                                    <p:set>
                                      <p:cBhvr>
                                        <p:cTn id="39" dur="1" fill="hold">
                                          <p:stCondLst>
                                            <p:cond delay="0"/>
                                          </p:stCondLst>
                                        </p:cTn>
                                        <p:tgtEl>
                                          <p:spTgt spid="73748"/>
                                        </p:tgtEl>
                                        <p:attrNameLst>
                                          <p:attrName>style.visibility</p:attrName>
                                        </p:attrNameLst>
                                      </p:cBhvr>
                                      <p:to>
                                        <p:strVal val="visible"/>
                                      </p:to>
                                    </p:set>
                                    <p:animEffect transition="in" filter="blinds(horizontal)">
                                      <p:cBhvr>
                                        <p:cTn id="40" dur="500"/>
                                        <p:tgtEl>
                                          <p:spTgt spid="73748"/>
                                        </p:tgtEl>
                                      </p:cBhvr>
                                    </p:animEffect>
                                  </p:childTnLst>
                                </p:cTn>
                              </p:par>
                              <p:par>
                                <p:cTn id="41" presetID="3" presetClass="entr" presetSubtype="10" fill="hold" nodeType="withEffect">
                                  <p:stCondLst>
                                    <p:cond delay="0"/>
                                  </p:stCondLst>
                                  <p:childTnLst>
                                    <p:set>
                                      <p:cBhvr>
                                        <p:cTn id="42" dur="1" fill="hold">
                                          <p:stCondLst>
                                            <p:cond delay="0"/>
                                          </p:stCondLst>
                                        </p:cTn>
                                        <p:tgtEl>
                                          <p:spTgt spid="73749"/>
                                        </p:tgtEl>
                                        <p:attrNameLst>
                                          <p:attrName>style.visibility</p:attrName>
                                        </p:attrNameLst>
                                      </p:cBhvr>
                                      <p:to>
                                        <p:strVal val="visible"/>
                                      </p:to>
                                    </p:set>
                                    <p:animEffect transition="in" filter="blinds(horizontal)">
                                      <p:cBhvr>
                                        <p:cTn id="43" dur="500"/>
                                        <p:tgtEl>
                                          <p:spTgt spid="73749"/>
                                        </p:tgtEl>
                                      </p:cBhvr>
                                    </p:animEffect>
                                  </p:childTnLst>
                                </p:cTn>
                              </p:par>
                              <p:par>
                                <p:cTn id="44" presetID="3" presetClass="entr" presetSubtype="10" fill="hold" nodeType="withEffect">
                                  <p:stCondLst>
                                    <p:cond delay="0"/>
                                  </p:stCondLst>
                                  <p:childTnLst>
                                    <p:set>
                                      <p:cBhvr>
                                        <p:cTn id="45" dur="1" fill="hold">
                                          <p:stCondLst>
                                            <p:cond delay="0"/>
                                          </p:stCondLst>
                                        </p:cTn>
                                        <p:tgtEl>
                                          <p:spTgt spid="73750"/>
                                        </p:tgtEl>
                                        <p:attrNameLst>
                                          <p:attrName>style.visibility</p:attrName>
                                        </p:attrNameLst>
                                      </p:cBhvr>
                                      <p:to>
                                        <p:strVal val="visible"/>
                                      </p:to>
                                    </p:set>
                                    <p:animEffect transition="in" filter="blinds(horizontal)">
                                      <p:cBhvr>
                                        <p:cTn id="46" dur="500"/>
                                        <p:tgtEl>
                                          <p:spTgt spid="73750"/>
                                        </p:tgtEl>
                                      </p:cBhvr>
                                    </p:animEffect>
                                  </p:childTnLst>
                                </p:cTn>
                              </p:par>
                              <p:par>
                                <p:cTn id="47" presetID="3" presetClass="entr" presetSubtype="10" fill="hold" nodeType="withEffect">
                                  <p:stCondLst>
                                    <p:cond delay="0"/>
                                  </p:stCondLst>
                                  <p:childTnLst>
                                    <p:set>
                                      <p:cBhvr>
                                        <p:cTn id="48" dur="1" fill="hold">
                                          <p:stCondLst>
                                            <p:cond delay="0"/>
                                          </p:stCondLst>
                                        </p:cTn>
                                        <p:tgtEl>
                                          <p:spTgt spid="73752"/>
                                        </p:tgtEl>
                                        <p:attrNameLst>
                                          <p:attrName>style.visibility</p:attrName>
                                        </p:attrNameLst>
                                      </p:cBhvr>
                                      <p:to>
                                        <p:strVal val="visible"/>
                                      </p:to>
                                    </p:set>
                                    <p:animEffect transition="in" filter="blinds(horizontal)">
                                      <p:cBhvr>
                                        <p:cTn id="49" dur="500"/>
                                        <p:tgtEl>
                                          <p:spTgt spid="737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矩形 74753"/>
          <p:cNvSpPr>
            <a:spLocks noChangeArrowheads="1"/>
          </p:cNvSpPr>
          <p:nvPr/>
        </p:nvSpPr>
        <p:spPr bwMode="auto">
          <a:xfrm>
            <a:off x="304800" y="152400"/>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200" b="1" baseline="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200" b="1" baseline="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sz="2200" b="1" baseline="0" dirty="0">
                <a:latin typeface="Times New Roman" panose="02020603050405020304" pitchFamily="18" charset="0"/>
                <a:ea typeface="黑体" panose="02010609060101010101" pitchFamily="49" charset="-122"/>
                <a:cs typeface="Times New Roman" panose="02020603050405020304" pitchFamily="18" charset="0"/>
              </a:rPr>
              <a:t>）设计一个热力过程，使空气状态变化相同时（即从</a:t>
            </a:r>
            <a:r>
              <a:rPr lang="en-US" altLang="zh-CN" sz="2200" b="1" baseline="0" dirty="0">
                <a:latin typeface="Times New Roman" panose="02020603050405020304" pitchFamily="18" charset="0"/>
                <a:ea typeface="黑体" panose="02010609060101010101" pitchFamily="49" charset="-122"/>
                <a:cs typeface="Times New Roman" panose="02020603050405020304" pitchFamily="18" charset="0"/>
              </a:rPr>
              <a:t>300 K</a:t>
            </a:r>
            <a:r>
              <a:rPr lang="zh-CN" altLang="en-US" sz="2200" b="1" baseline="0" dirty="0">
                <a:latin typeface="Times New Roman" panose="02020603050405020304" pitchFamily="18" charset="0"/>
                <a:ea typeface="黑体" panose="02010609060101010101" pitchFamily="49" charset="-122"/>
                <a:cs typeface="Times New Roman" panose="02020603050405020304" pitchFamily="18" charset="0"/>
              </a:rPr>
              <a:t>定容升至</a:t>
            </a:r>
            <a:r>
              <a:rPr lang="en-US" altLang="zh-CN" sz="2200" b="1" baseline="0" dirty="0">
                <a:latin typeface="Times New Roman" panose="02020603050405020304" pitchFamily="18" charset="0"/>
                <a:ea typeface="黑体" panose="02010609060101010101" pitchFamily="49" charset="-122"/>
                <a:cs typeface="Times New Roman" panose="02020603050405020304" pitchFamily="18" charset="0"/>
              </a:rPr>
              <a:t>400 K</a:t>
            </a:r>
            <a:r>
              <a:rPr lang="zh-CN" altLang="en-US" sz="2200" b="1" baseline="0" dirty="0">
                <a:latin typeface="Times New Roman" panose="02020603050405020304" pitchFamily="18" charset="0"/>
                <a:ea typeface="黑体" panose="02010609060101010101" pitchFamily="49" charset="-122"/>
                <a:cs typeface="Times New Roman" panose="02020603050405020304" pitchFamily="18" charset="0"/>
              </a:rPr>
              <a:t>）外界输入的可用能最小。</a:t>
            </a:r>
          </a:p>
        </p:txBody>
      </p:sp>
      <p:sp>
        <p:nvSpPr>
          <p:cNvPr id="59396" name="直接连接符 74756"/>
          <p:cNvSpPr>
            <a:spLocks noChangeShapeType="1"/>
          </p:cNvSpPr>
          <p:nvPr/>
        </p:nvSpPr>
        <p:spPr bwMode="auto">
          <a:xfrm>
            <a:off x="4495800" y="1219200"/>
            <a:ext cx="0" cy="5334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397" name="矩形 74757"/>
          <p:cNvSpPr>
            <a:spLocks noChangeArrowheads="1"/>
          </p:cNvSpPr>
          <p:nvPr/>
        </p:nvSpPr>
        <p:spPr bwMode="auto">
          <a:xfrm>
            <a:off x="0" y="32956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59398" name="对象 74758"/>
          <p:cNvGraphicFramePr>
            <a:graphicFrameLocks/>
          </p:cNvGraphicFramePr>
          <p:nvPr>
            <p:extLst>
              <p:ext uri="{D42A27DB-BD31-4B8C-83A1-F6EECF244321}">
                <p14:modId xmlns:p14="http://schemas.microsoft.com/office/powerpoint/2010/main" val="568324808"/>
              </p:ext>
            </p:extLst>
          </p:nvPr>
        </p:nvGraphicFramePr>
        <p:xfrm>
          <a:off x="225426" y="3980762"/>
          <a:ext cx="3822700" cy="415925"/>
        </p:xfrm>
        <a:graphic>
          <a:graphicData uri="http://schemas.openxmlformats.org/presentationml/2006/ole">
            <mc:AlternateContent xmlns:mc="http://schemas.openxmlformats.org/markup-compatibility/2006">
              <mc:Choice xmlns:v="urn:schemas-microsoft-com:vml" Requires="v">
                <p:oleObj spid="_x0000_s38961" name="Equation" r:id="rId3" imgW="2463480" imgH="266400" progId="Equation.DSMT4">
                  <p:embed/>
                </p:oleObj>
              </mc:Choice>
              <mc:Fallback>
                <p:oleObj name="Equation" r:id="rId3" imgW="2463480" imgH="266400" progId="Equation.DSMT4">
                  <p:embed/>
                  <p:pic>
                    <p:nvPicPr>
                      <p:cNvPr id="59398" name="对象 74758"/>
                      <p:cNvPicPr>
                        <a:picLocks noChangeArrowheads="1"/>
                      </p:cNvPicPr>
                      <p:nvPr/>
                    </p:nvPicPr>
                    <p:blipFill>
                      <a:blip r:embed="rId4"/>
                      <a:srcRect/>
                      <a:stretch>
                        <a:fillRect/>
                      </a:stretch>
                    </p:blipFill>
                    <p:spPr bwMode="auto">
                      <a:xfrm>
                        <a:off x="225426" y="3980762"/>
                        <a:ext cx="382270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9399" name="矩形 74759"/>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9401" name="矩形 74761"/>
          <p:cNvSpPr>
            <a:spLocks noChangeArrowheads="1"/>
          </p:cNvSpPr>
          <p:nvPr/>
        </p:nvSpPr>
        <p:spPr bwMode="auto">
          <a:xfrm>
            <a:off x="457200" y="4679606"/>
            <a:ext cx="3733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000" b="1" baseline="0" dirty="0">
                <a:latin typeface="Times New Roman" panose="02020603050405020304" pitchFamily="18" charset="0"/>
                <a:ea typeface="黑体" panose="02010609060101010101" pitchFamily="49" charset="-122"/>
                <a:cs typeface="Times New Roman" panose="02020603050405020304" pitchFamily="18" charset="0"/>
              </a:rPr>
              <a:t>外界输入轴功</a:t>
            </a:r>
            <a:r>
              <a:rPr lang="en-US" altLang="zh-CN" sz="2000" b="1" baseline="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71.7 kJ</a:t>
            </a:r>
            <a:r>
              <a:rPr lang="zh-CN" altLang="en-US" sz="2000" b="1" baseline="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000" b="1" baseline="0" dirty="0">
                <a:latin typeface="Times New Roman" panose="02020603050405020304" pitchFamily="18" charset="0"/>
                <a:ea typeface="黑体" panose="02010609060101010101" pitchFamily="49" charset="-122"/>
                <a:cs typeface="Times New Roman" panose="02020603050405020304" pitchFamily="18" charset="0"/>
              </a:rPr>
              <a:t>即输入㶲</a:t>
            </a:r>
            <a:r>
              <a:rPr lang="en-US" altLang="zh-CN" sz="2000" b="1" baseline="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71.7 kJ </a:t>
            </a:r>
          </a:p>
        </p:txBody>
      </p:sp>
      <p:graphicFrame>
        <p:nvGraphicFramePr>
          <p:cNvPr id="59402" name="对象 74762"/>
          <p:cNvGraphicFramePr>
            <a:graphicFrameLocks/>
          </p:cNvGraphicFramePr>
          <p:nvPr>
            <p:extLst>
              <p:ext uri="{D42A27DB-BD31-4B8C-83A1-F6EECF244321}">
                <p14:modId xmlns:p14="http://schemas.microsoft.com/office/powerpoint/2010/main" val="2305548207"/>
              </p:ext>
            </p:extLst>
          </p:nvPr>
        </p:nvGraphicFramePr>
        <p:xfrm>
          <a:off x="1386992" y="5551487"/>
          <a:ext cx="1346200" cy="352425"/>
        </p:xfrm>
        <a:graphic>
          <a:graphicData uri="http://schemas.openxmlformats.org/presentationml/2006/ole">
            <mc:AlternateContent xmlns:mc="http://schemas.openxmlformats.org/markup-compatibility/2006">
              <mc:Choice xmlns:v="urn:schemas-microsoft-com:vml" Requires="v">
                <p:oleObj spid="_x0000_s38962" r:id="rId5" imgW="786717" imgH="203024" progId="Equation.DSMT4">
                  <p:embed/>
                </p:oleObj>
              </mc:Choice>
              <mc:Fallback>
                <p:oleObj r:id="rId5" imgW="786717" imgH="203024" progId="Equation.DSMT4">
                  <p:embed/>
                  <p:pic>
                    <p:nvPicPr>
                      <p:cNvPr id="59402" name="对象 74762"/>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86992" y="5551487"/>
                        <a:ext cx="13462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9403" name="矩形 74763"/>
          <p:cNvSpPr>
            <a:spLocks noChangeArrowheads="1"/>
          </p:cNvSpPr>
          <p:nvPr/>
        </p:nvSpPr>
        <p:spPr bwMode="auto">
          <a:xfrm>
            <a:off x="457200" y="6019800"/>
            <a:ext cx="3733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000" b="1" baseline="0" dirty="0">
                <a:latin typeface="Times New Roman" panose="02020603050405020304" pitchFamily="18" charset="0"/>
                <a:ea typeface="黑体" panose="02010609060101010101" pitchFamily="49" charset="-122"/>
                <a:cs typeface="Times New Roman" panose="02020603050405020304" pitchFamily="18" charset="0"/>
              </a:rPr>
              <a:t>空气的</a:t>
            </a:r>
            <a:r>
              <a:rPr lang="zh-CN" altLang="en-US" sz="2000" b="1" baseline="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㶲只增加了</a:t>
            </a:r>
            <a:r>
              <a:rPr lang="en-US" altLang="zh-CN" sz="2000" b="1" baseline="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9.9 kJ </a:t>
            </a:r>
          </a:p>
        </p:txBody>
      </p:sp>
      <p:sp>
        <p:nvSpPr>
          <p:cNvPr id="59404" name="矩形 74764"/>
          <p:cNvSpPr>
            <a:spLocks noChangeArrowheads="1"/>
          </p:cNvSpPr>
          <p:nvPr/>
        </p:nvSpPr>
        <p:spPr bwMode="auto">
          <a:xfrm>
            <a:off x="4800601" y="4664215"/>
            <a:ext cx="419762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r>
              <a:rPr lang="zh-CN" altLang="en-US" sz="2000" b="1" baseline="0" dirty="0">
                <a:latin typeface="Times New Roman" panose="02020603050405020304" pitchFamily="18" charset="0"/>
                <a:ea typeface="黑体" panose="02010609060101010101" pitchFamily="49" charset="-122"/>
                <a:cs typeface="Times New Roman" panose="02020603050405020304" pitchFamily="18" charset="0"/>
              </a:rPr>
              <a:t>空气从外界吸热</a:t>
            </a:r>
            <a:r>
              <a:rPr lang="en-US" altLang="zh-CN" sz="2000" b="1" baseline="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71.7 kJ</a:t>
            </a:r>
            <a:r>
              <a:rPr lang="zh-CN" altLang="en-US" sz="2000" b="1" baseline="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，由</a:t>
            </a:r>
            <a:r>
              <a:rPr lang="en-US" altLang="zh-CN" sz="2000" b="1" baseline="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400K</a:t>
            </a:r>
            <a:r>
              <a:rPr lang="zh-CN" altLang="en-US" sz="2000" b="1" baseline="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热源提供，其中的㶲有</a:t>
            </a:r>
            <a:r>
              <a:rPr lang="en-US" altLang="zh-CN" sz="2000" b="1" baseline="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28.68 kJ </a:t>
            </a:r>
          </a:p>
        </p:txBody>
      </p:sp>
      <p:sp>
        <p:nvSpPr>
          <p:cNvPr id="59405" name="矩形 74765"/>
          <p:cNvSpPr>
            <a:spLocks noChangeArrowheads="1"/>
          </p:cNvSpPr>
          <p:nvPr/>
        </p:nvSpPr>
        <p:spPr bwMode="auto">
          <a:xfrm>
            <a:off x="0" y="32956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59406" name="对象 74766"/>
          <p:cNvGraphicFramePr>
            <a:graphicFrameLocks/>
          </p:cNvGraphicFramePr>
          <p:nvPr>
            <p:extLst>
              <p:ext uri="{D42A27DB-BD31-4B8C-83A1-F6EECF244321}">
                <p14:modId xmlns:p14="http://schemas.microsoft.com/office/powerpoint/2010/main" val="606586132"/>
              </p:ext>
            </p:extLst>
          </p:nvPr>
        </p:nvGraphicFramePr>
        <p:xfrm>
          <a:off x="4953000" y="3998118"/>
          <a:ext cx="3754438" cy="423863"/>
        </p:xfrm>
        <a:graphic>
          <a:graphicData uri="http://schemas.openxmlformats.org/presentationml/2006/ole">
            <mc:AlternateContent xmlns:mc="http://schemas.openxmlformats.org/markup-compatibility/2006">
              <mc:Choice xmlns:v="urn:schemas-microsoft-com:vml" Requires="v">
                <p:oleObj spid="_x0000_s38963" r:id="rId7" imgW="2359128" imgH="266353" progId="Equation.DSMT4">
                  <p:embed/>
                </p:oleObj>
              </mc:Choice>
              <mc:Fallback>
                <p:oleObj r:id="rId7" imgW="2359128" imgH="266353" progId="Equation.DSMT4">
                  <p:embed/>
                  <p:pic>
                    <p:nvPicPr>
                      <p:cNvPr id="59406" name="对象 74766"/>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53000" y="3998118"/>
                        <a:ext cx="3754438"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9407" name="对象 74767"/>
          <p:cNvGraphicFramePr>
            <a:graphicFrameLocks/>
          </p:cNvGraphicFramePr>
          <p:nvPr>
            <p:extLst>
              <p:ext uri="{D42A27DB-BD31-4B8C-83A1-F6EECF244321}">
                <p14:modId xmlns:p14="http://schemas.microsoft.com/office/powerpoint/2010/main" val="2230886048"/>
              </p:ext>
            </p:extLst>
          </p:nvPr>
        </p:nvGraphicFramePr>
        <p:xfrm>
          <a:off x="6156325" y="5551487"/>
          <a:ext cx="1212850" cy="328612"/>
        </p:xfrm>
        <a:graphic>
          <a:graphicData uri="http://schemas.openxmlformats.org/presentationml/2006/ole">
            <mc:AlternateContent xmlns:mc="http://schemas.openxmlformats.org/markup-compatibility/2006">
              <mc:Choice xmlns:v="urn:schemas-microsoft-com:vml" Requires="v">
                <p:oleObj spid="_x0000_s38964" r:id="rId9" imgW="761339" imgH="203024" progId="Equation.DSMT4">
                  <p:embed/>
                </p:oleObj>
              </mc:Choice>
              <mc:Fallback>
                <p:oleObj r:id="rId9" imgW="761339" imgH="203024" progId="Equation.DSMT4">
                  <p:embed/>
                  <p:pic>
                    <p:nvPicPr>
                      <p:cNvPr id="59407" name="对象 74767"/>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156325" y="5551487"/>
                        <a:ext cx="1212850"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9408" name="矩形 74768"/>
          <p:cNvSpPr>
            <a:spLocks noChangeArrowheads="1"/>
          </p:cNvSpPr>
          <p:nvPr/>
        </p:nvSpPr>
        <p:spPr bwMode="auto">
          <a:xfrm>
            <a:off x="4953000" y="6019800"/>
            <a:ext cx="3733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000" b="1" baseline="0" dirty="0">
                <a:latin typeface="Times New Roman" panose="02020603050405020304" pitchFamily="18" charset="0"/>
                <a:ea typeface="黑体" panose="02010609060101010101" pitchFamily="49" charset="-122"/>
                <a:cs typeface="Times New Roman" panose="02020603050405020304" pitchFamily="18" charset="0"/>
              </a:rPr>
              <a:t>空气的</a:t>
            </a:r>
            <a:r>
              <a:rPr lang="zh-CN" altLang="en-US" sz="2000" b="1" baseline="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㶲只增加了</a:t>
            </a:r>
            <a:r>
              <a:rPr lang="en-US" altLang="zh-CN" sz="2000" b="1" baseline="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9.9 kJ </a:t>
            </a:r>
          </a:p>
        </p:txBody>
      </p:sp>
      <p:pic>
        <p:nvPicPr>
          <p:cNvPr id="2" name="图片 1"/>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304368" y="1427933"/>
            <a:ext cx="2438611" cy="1914310"/>
          </a:xfrm>
          <a:prstGeom prst="rect">
            <a:avLst/>
          </a:prstGeom>
        </p:spPr>
      </p:pic>
      <p:pic>
        <p:nvPicPr>
          <p:cNvPr id="3" name="图片 2"/>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5706698" y="702383"/>
            <a:ext cx="1944793" cy="3279932"/>
          </a:xfrm>
          <a:prstGeom prst="rect">
            <a:avLst/>
          </a:prstGeom>
        </p:spPr>
      </p:pic>
    </p:spTree>
    <p:extLst>
      <p:ext uri="{BB962C8B-B14F-4D97-AF65-F5344CB8AC3E}">
        <p14:creationId xmlns:p14="http://schemas.microsoft.com/office/powerpoint/2010/main" val="23521918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25256" y="3424545"/>
            <a:ext cx="4499238" cy="2810500"/>
          </a:xfrm>
          <a:prstGeom prst="rect">
            <a:avLst/>
          </a:prstGeom>
        </p:spPr>
      </p:pic>
      <p:sp>
        <p:nvSpPr>
          <p:cNvPr id="60417" name="矩形 75777"/>
          <p:cNvSpPr>
            <a:spLocks noChangeArrowheads="1"/>
          </p:cNvSpPr>
          <p:nvPr/>
        </p:nvSpPr>
        <p:spPr bwMode="auto">
          <a:xfrm>
            <a:off x="281609" y="292516"/>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200" b="1" baseline="0" dirty="0">
                <a:latin typeface="Times New Roman" panose="02020603050405020304" pitchFamily="18" charset="0"/>
                <a:ea typeface="黑体" panose="02010609060101010101" pitchFamily="49" charset="-122"/>
                <a:cs typeface="Times New Roman" panose="02020603050405020304" pitchFamily="18" charset="0"/>
              </a:rPr>
              <a:t>为了使空气状态变化相同时（即从</a:t>
            </a:r>
            <a:r>
              <a:rPr lang="en-US" altLang="zh-CN" sz="2200" b="1" baseline="0" dirty="0">
                <a:latin typeface="Times New Roman" panose="02020603050405020304" pitchFamily="18" charset="0"/>
                <a:ea typeface="黑体" panose="02010609060101010101" pitchFamily="49" charset="-122"/>
                <a:cs typeface="Times New Roman" panose="02020603050405020304" pitchFamily="18" charset="0"/>
              </a:rPr>
              <a:t>300 K</a:t>
            </a:r>
            <a:r>
              <a:rPr lang="zh-CN" altLang="en-US" sz="2200" b="1" baseline="0" dirty="0">
                <a:latin typeface="Times New Roman" panose="02020603050405020304" pitchFamily="18" charset="0"/>
                <a:ea typeface="黑体" panose="02010609060101010101" pitchFamily="49" charset="-122"/>
                <a:cs typeface="Times New Roman" panose="02020603050405020304" pitchFamily="18" charset="0"/>
              </a:rPr>
              <a:t>定容升至</a:t>
            </a:r>
            <a:r>
              <a:rPr lang="en-US" altLang="zh-CN" sz="2200" b="1" baseline="0" dirty="0">
                <a:latin typeface="Times New Roman" panose="02020603050405020304" pitchFamily="18" charset="0"/>
                <a:ea typeface="黑体" panose="02010609060101010101" pitchFamily="49" charset="-122"/>
                <a:cs typeface="Times New Roman" panose="02020603050405020304" pitchFamily="18" charset="0"/>
              </a:rPr>
              <a:t>400 K</a:t>
            </a:r>
            <a:r>
              <a:rPr lang="zh-CN" altLang="en-US" sz="2200" b="1" baseline="0" dirty="0">
                <a:latin typeface="Times New Roman" panose="02020603050405020304" pitchFamily="18" charset="0"/>
                <a:ea typeface="黑体" panose="02010609060101010101" pitchFamily="49" charset="-122"/>
                <a:cs typeface="Times New Roman" panose="02020603050405020304" pitchFamily="18" charset="0"/>
              </a:rPr>
              <a:t>）外界输入的可用能仅需要</a:t>
            </a:r>
            <a:r>
              <a:rPr lang="en-US" altLang="zh-CN" sz="2200" b="1" baseline="0" dirty="0">
                <a:latin typeface="Times New Roman" panose="02020603050405020304" pitchFamily="18" charset="0"/>
                <a:ea typeface="黑体" panose="02010609060101010101" pitchFamily="49" charset="-122"/>
                <a:cs typeface="Times New Roman" panose="02020603050405020304" pitchFamily="18" charset="0"/>
              </a:rPr>
              <a:t>9.9kJ</a:t>
            </a:r>
          </a:p>
        </p:txBody>
      </p:sp>
      <p:sp>
        <p:nvSpPr>
          <p:cNvPr id="75779" name="矩形 75778"/>
          <p:cNvSpPr>
            <a:spLocks noChangeArrowheads="1"/>
          </p:cNvSpPr>
          <p:nvPr/>
        </p:nvSpPr>
        <p:spPr bwMode="auto">
          <a:xfrm>
            <a:off x="281609" y="1148220"/>
            <a:ext cx="8305800"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200" b="1" baseline="0" dirty="0">
                <a:latin typeface="Times New Roman" panose="02020603050405020304" pitchFamily="18" charset="0"/>
                <a:ea typeface="黑体" panose="02010609060101010101" pitchFamily="49" charset="-122"/>
                <a:cs typeface="Times New Roman" panose="02020603050405020304" pitchFamily="18" charset="0"/>
              </a:rPr>
              <a:t>方式（</a:t>
            </a:r>
            <a:r>
              <a:rPr lang="en-US" altLang="zh-CN" sz="2200" b="1" baseline="0" dirty="0">
                <a:latin typeface="Times New Roman" panose="02020603050405020304" pitchFamily="18" charset="0"/>
                <a:ea typeface="黑体" panose="02010609060101010101" pitchFamily="49" charset="-122"/>
                <a:cs typeface="Times New Roman" panose="02020603050405020304" pitchFamily="18" charset="0"/>
              </a:rPr>
              <a:t>a</a:t>
            </a:r>
            <a:r>
              <a:rPr lang="zh-CN" altLang="en-US" sz="2200" b="1" baseline="0" dirty="0">
                <a:latin typeface="Times New Roman" panose="02020603050405020304" pitchFamily="18" charset="0"/>
                <a:ea typeface="黑体" panose="02010609060101010101" pitchFamily="49" charset="-122"/>
                <a:cs typeface="Times New Roman" panose="02020603050405020304" pitchFamily="18" charset="0"/>
              </a:rPr>
              <a:t>）和（</a:t>
            </a:r>
            <a:r>
              <a:rPr lang="en-US" altLang="zh-CN" sz="2200" b="1" baseline="0" dirty="0">
                <a:latin typeface="Times New Roman" panose="02020603050405020304" pitchFamily="18" charset="0"/>
                <a:ea typeface="黑体" panose="02010609060101010101" pitchFamily="49" charset="-122"/>
                <a:cs typeface="Times New Roman" panose="02020603050405020304" pitchFamily="18" charset="0"/>
              </a:rPr>
              <a:t>b</a:t>
            </a:r>
            <a:r>
              <a:rPr lang="zh-CN" altLang="en-US" sz="2200" b="1" baseline="0" dirty="0">
                <a:latin typeface="Times New Roman" panose="02020603050405020304" pitchFamily="18" charset="0"/>
                <a:ea typeface="黑体" panose="02010609060101010101" pitchFamily="49" charset="-122"/>
                <a:cs typeface="Times New Roman" panose="02020603050405020304" pitchFamily="18" charset="0"/>
              </a:rPr>
              <a:t>）需要的可用能之所以大于</a:t>
            </a:r>
            <a:r>
              <a:rPr lang="en-US" altLang="zh-CN" sz="2200" b="1" baseline="0" dirty="0">
                <a:latin typeface="Times New Roman" panose="02020603050405020304" pitchFamily="18" charset="0"/>
                <a:ea typeface="黑体" panose="02010609060101010101" pitchFamily="49" charset="-122"/>
                <a:cs typeface="Times New Roman" panose="02020603050405020304" pitchFamily="18" charset="0"/>
              </a:rPr>
              <a:t>9.9 kJ</a:t>
            </a:r>
            <a:r>
              <a:rPr lang="zh-CN" altLang="en-US" sz="2200" b="1" baseline="0" dirty="0">
                <a:latin typeface="Times New Roman" panose="02020603050405020304" pitchFamily="18" charset="0"/>
                <a:ea typeface="黑体" panose="02010609060101010101" pitchFamily="49" charset="-122"/>
                <a:cs typeface="Times New Roman" panose="02020603050405020304" pitchFamily="18" charset="0"/>
              </a:rPr>
              <a:t>，是因为有可用能损失</a:t>
            </a:r>
            <a:r>
              <a:rPr lang="zh-CN" altLang="en-US" sz="2200" b="1" baseline="0" dirty="0" smtClean="0">
                <a:latin typeface="Times New Roman" panose="02020603050405020304" pitchFamily="18" charset="0"/>
                <a:ea typeface="黑体" panose="02010609060101010101" pitchFamily="49" charset="-122"/>
                <a:cs typeface="Times New Roman" panose="02020603050405020304" pitchFamily="18" charset="0"/>
              </a:rPr>
              <a:t>。如何</a:t>
            </a:r>
            <a:r>
              <a:rPr lang="zh-CN" altLang="en-US" sz="2200" b="1" baseline="0" dirty="0">
                <a:latin typeface="Times New Roman" panose="02020603050405020304" pitchFamily="18" charset="0"/>
                <a:ea typeface="黑体" panose="02010609060101010101" pitchFamily="49" charset="-122"/>
                <a:cs typeface="Times New Roman" panose="02020603050405020304" pitchFamily="18" charset="0"/>
              </a:rPr>
              <a:t>设计一热力过程使外界输入的可用能最小呢</a:t>
            </a:r>
            <a:r>
              <a:rPr lang="zh-CN" altLang="en-US" sz="2200" b="1" baseline="0" dirty="0" smtClean="0">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200" b="1" baseline="0" dirty="0" smtClean="0">
              <a:latin typeface="Times New Roman" panose="02020603050405020304" pitchFamily="18" charset="0"/>
              <a:ea typeface="黑体" panose="02010609060101010101" pitchFamily="49" charset="-122"/>
              <a:cs typeface="Times New Roman" panose="02020603050405020304" pitchFamily="18" charset="0"/>
            </a:endParaRPr>
          </a:p>
          <a:p>
            <a:r>
              <a:rPr lang="zh-CN" altLang="en-US" sz="2200" b="1" baseline="0" dirty="0" smtClean="0">
                <a:latin typeface="Times New Roman" panose="02020603050405020304" pitchFamily="18" charset="0"/>
                <a:ea typeface="黑体" panose="02010609060101010101" pitchFamily="49" charset="-122"/>
                <a:cs typeface="Times New Roman" panose="02020603050405020304" pitchFamily="18" charset="0"/>
              </a:rPr>
              <a:t>可以</a:t>
            </a:r>
            <a:r>
              <a:rPr lang="zh-CN" altLang="en-US" sz="2200" b="1" baseline="0" dirty="0">
                <a:latin typeface="Times New Roman" panose="02020603050405020304" pitchFamily="18" charset="0"/>
                <a:ea typeface="黑体" panose="02010609060101010101" pitchFamily="49" charset="-122"/>
                <a:cs typeface="Times New Roman" panose="02020603050405020304" pitchFamily="18" charset="0"/>
              </a:rPr>
              <a:t>使用</a:t>
            </a:r>
            <a:r>
              <a:rPr lang="zh-CN" altLang="en-US" sz="2200" b="1" baseline="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可逆热泵</a:t>
            </a:r>
            <a:r>
              <a:rPr lang="zh-CN" altLang="en-US" sz="2200" b="1" baseline="0" dirty="0">
                <a:latin typeface="Times New Roman" panose="02020603050405020304" pitchFamily="18" charset="0"/>
                <a:ea typeface="黑体" panose="02010609060101010101" pitchFamily="49" charset="-122"/>
                <a:cs typeface="Times New Roman" panose="02020603050405020304" pitchFamily="18" charset="0"/>
              </a:rPr>
              <a:t>。 </a:t>
            </a:r>
          </a:p>
        </p:txBody>
      </p:sp>
      <p:sp>
        <p:nvSpPr>
          <p:cNvPr id="60419" name="矩形 75779"/>
          <p:cNvSpPr>
            <a:spLocks noChangeArrowheads="1"/>
          </p:cNvSpPr>
          <p:nvPr/>
        </p:nvSpPr>
        <p:spPr bwMode="auto">
          <a:xfrm>
            <a:off x="0" y="2176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75783" name="对象 75782"/>
          <p:cNvGraphicFramePr>
            <a:graphicFrameLocks/>
          </p:cNvGraphicFramePr>
          <p:nvPr>
            <p:extLst>
              <p:ext uri="{D42A27DB-BD31-4B8C-83A1-F6EECF244321}">
                <p14:modId xmlns:p14="http://schemas.microsoft.com/office/powerpoint/2010/main" val="2236417391"/>
              </p:ext>
            </p:extLst>
          </p:nvPr>
        </p:nvGraphicFramePr>
        <p:xfrm>
          <a:off x="288925" y="2349916"/>
          <a:ext cx="8566150" cy="755650"/>
        </p:xfrm>
        <a:graphic>
          <a:graphicData uri="http://schemas.openxmlformats.org/presentationml/2006/ole">
            <mc:AlternateContent xmlns:mc="http://schemas.openxmlformats.org/markup-compatibility/2006">
              <mc:Choice xmlns:v="urn:schemas-microsoft-com:vml" Requires="v">
                <p:oleObj spid="_x0000_s39952" r:id="rId4" imgW="5027018" imgH="444307" progId="Equation.DSMT4">
                  <p:embed/>
                </p:oleObj>
              </mc:Choice>
              <mc:Fallback>
                <p:oleObj r:id="rId4" imgW="5027018" imgH="444307" progId="Equation.DSMT4">
                  <p:embed/>
                  <p:pic>
                    <p:nvPicPr>
                      <p:cNvPr id="75783" name="对象 75782"/>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8925" y="2349916"/>
                        <a:ext cx="8566150"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5784" name="椭圆 75783"/>
          <p:cNvSpPr>
            <a:spLocks noChangeArrowheads="1"/>
          </p:cNvSpPr>
          <p:nvPr/>
        </p:nvSpPr>
        <p:spPr bwMode="auto">
          <a:xfrm>
            <a:off x="2971800" y="4733927"/>
            <a:ext cx="533400" cy="304800"/>
          </a:xfrm>
          <a:prstGeom prst="ellipse">
            <a:avLst/>
          </a:pr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785" name="椭圆 75784"/>
          <p:cNvSpPr>
            <a:spLocks noChangeArrowheads="1"/>
          </p:cNvSpPr>
          <p:nvPr/>
        </p:nvSpPr>
        <p:spPr bwMode="auto">
          <a:xfrm>
            <a:off x="4343400" y="4733927"/>
            <a:ext cx="533400" cy="304800"/>
          </a:xfrm>
          <a:prstGeom prst="ellipse">
            <a:avLst/>
          </a:pr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786" name="椭圆 75785"/>
          <p:cNvSpPr>
            <a:spLocks noChangeArrowheads="1"/>
          </p:cNvSpPr>
          <p:nvPr/>
        </p:nvSpPr>
        <p:spPr bwMode="auto">
          <a:xfrm>
            <a:off x="6019800" y="4733927"/>
            <a:ext cx="533400" cy="304800"/>
          </a:xfrm>
          <a:prstGeom prst="ellipse">
            <a:avLst/>
          </a:pr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Tree>
    <p:extLst>
      <p:ext uri="{BB962C8B-B14F-4D97-AF65-F5344CB8AC3E}">
        <p14:creationId xmlns:p14="http://schemas.microsoft.com/office/powerpoint/2010/main" val="111548114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5779"/>
                                        </p:tgtEl>
                                        <p:attrNameLst>
                                          <p:attrName>style.visibility</p:attrName>
                                        </p:attrNameLst>
                                      </p:cBhvr>
                                      <p:to>
                                        <p:strVal val="visible"/>
                                      </p:to>
                                    </p:set>
                                    <p:animEffect transition="in" filter="blinds(horizontal)">
                                      <p:cBhvr>
                                        <p:cTn id="7" dur="500"/>
                                        <p:tgtEl>
                                          <p:spTgt spid="7577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2"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75784"/>
                                        </p:tgtEl>
                                        <p:attrNameLst>
                                          <p:attrName>style.visibility</p:attrName>
                                        </p:attrNameLst>
                                      </p:cBhvr>
                                      <p:to>
                                        <p:strVal val="visible"/>
                                      </p:to>
                                    </p:set>
                                    <p:animEffect transition="in" filter="blinds(horizontal)">
                                      <p:cBhvr>
                                        <p:cTn id="19" dur="500"/>
                                        <p:tgtEl>
                                          <p:spTgt spid="75784"/>
                                        </p:tgtEl>
                                      </p:cBhvr>
                                    </p:animEffect>
                                  </p:childTnLst>
                                </p:cTn>
                              </p:par>
                              <p:par>
                                <p:cTn id="20" presetID="3" presetClass="entr" presetSubtype="10" fill="hold" nodeType="withEffect">
                                  <p:stCondLst>
                                    <p:cond delay="0"/>
                                  </p:stCondLst>
                                  <p:childTnLst>
                                    <p:set>
                                      <p:cBhvr>
                                        <p:cTn id="21" dur="1" fill="hold">
                                          <p:stCondLst>
                                            <p:cond delay="0"/>
                                          </p:stCondLst>
                                        </p:cTn>
                                        <p:tgtEl>
                                          <p:spTgt spid="75785"/>
                                        </p:tgtEl>
                                        <p:attrNameLst>
                                          <p:attrName>style.visibility</p:attrName>
                                        </p:attrNameLst>
                                      </p:cBhvr>
                                      <p:to>
                                        <p:strVal val="visible"/>
                                      </p:to>
                                    </p:set>
                                    <p:animEffect transition="in" filter="blinds(horizontal)">
                                      <p:cBhvr>
                                        <p:cTn id="22" dur="500"/>
                                        <p:tgtEl>
                                          <p:spTgt spid="75785"/>
                                        </p:tgtEl>
                                      </p:cBhvr>
                                    </p:animEffect>
                                  </p:childTnLst>
                                </p:cTn>
                              </p:par>
                              <p:par>
                                <p:cTn id="23" presetID="3" presetClass="entr" presetSubtype="10" fill="hold" nodeType="withEffect">
                                  <p:stCondLst>
                                    <p:cond delay="0"/>
                                  </p:stCondLst>
                                  <p:childTnLst>
                                    <p:set>
                                      <p:cBhvr>
                                        <p:cTn id="24" dur="1" fill="hold">
                                          <p:stCondLst>
                                            <p:cond delay="0"/>
                                          </p:stCondLst>
                                        </p:cTn>
                                        <p:tgtEl>
                                          <p:spTgt spid="75786"/>
                                        </p:tgtEl>
                                        <p:attrNameLst>
                                          <p:attrName>style.visibility</p:attrName>
                                        </p:attrNameLst>
                                      </p:cBhvr>
                                      <p:to>
                                        <p:strVal val="visible"/>
                                      </p:to>
                                    </p:set>
                                    <p:animEffect transition="in" filter="blinds(horizontal)">
                                      <p:cBhvr>
                                        <p:cTn id="25" dur="500"/>
                                        <p:tgtEl>
                                          <p:spTgt spid="75786"/>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75783"/>
                                        </p:tgtEl>
                                        <p:attrNameLst>
                                          <p:attrName>style.visibility</p:attrName>
                                        </p:attrNameLst>
                                      </p:cBhvr>
                                      <p:to>
                                        <p:strVal val="visible"/>
                                      </p:to>
                                    </p:set>
                                    <p:animEffect transition="in" filter="blinds(horizontal)">
                                      <p:cBhvr>
                                        <p:cTn id="30" dur="500"/>
                                        <p:tgtEl>
                                          <p:spTgt spid="757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9"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矩形 76803"/>
          <p:cNvSpPr>
            <a:spLocks noChangeArrowheads="1"/>
          </p:cNvSpPr>
          <p:nvPr/>
        </p:nvSpPr>
        <p:spPr bwMode="auto">
          <a:xfrm>
            <a:off x="0" y="23288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1444" name="矩形 76805"/>
          <p:cNvSpPr>
            <a:spLocks noChangeArrowheads="1"/>
          </p:cNvSpPr>
          <p:nvPr/>
        </p:nvSpPr>
        <p:spPr bwMode="auto">
          <a:xfrm>
            <a:off x="1126067" y="4876800"/>
            <a:ext cx="20574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200" b="1" baseline="0" dirty="0">
                <a:latin typeface="黑体" panose="02010609060101010101" pitchFamily="49" charset="-122"/>
                <a:ea typeface="黑体" panose="02010609060101010101" pitchFamily="49" charset="-122"/>
              </a:rPr>
              <a:t>能量传递图</a:t>
            </a:r>
            <a:endParaRPr lang="en-US" altLang="zh-CN" sz="2200" b="1" baseline="0" dirty="0">
              <a:latin typeface="黑体" panose="02010609060101010101" pitchFamily="49" charset="-122"/>
              <a:ea typeface="黑体" panose="02010609060101010101" pitchFamily="49" charset="-122"/>
            </a:endParaRPr>
          </a:p>
        </p:txBody>
      </p:sp>
      <p:sp>
        <p:nvSpPr>
          <p:cNvPr id="61445" name="矩形 76806"/>
          <p:cNvSpPr>
            <a:spLocks noChangeArrowheads="1"/>
          </p:cNvSpPr>
          <p:nvPr/>
        </p:nvSpPr>
        <p:spPr bwMode="auto">
          <a:xfrm>
            <a:off x="5486400" y="4876800"/>
            <a:ext cx="20574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200" b="1" baseline="0" dirty="0">
                <a:latin typeface="黑体" panose="02010609060101010101" pitchFamily="49" charset="-122"/>
                <a:ea typeface="黑体" panose="02010609060101010101" pitchFamily="49" charset="-122"/>
              </a:rPr>
              <a:t>㶲量传递图</a:t>
            </a:r>
            <a:endParaRPr lang="en-US" altLang="zh-CN" sz="2200" b="1" baseline="0" dirty="0">
              <a:latin typeface="黑体" panose="02010609060101010101" pitchFamily="49" charset="-122"/>
              <a:ea typeface="黑体" panose="02010609060101010101" pitchFamily="49" charset="-122"/>
            </a:endParaRP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8072" y="1142999"/>
            <a:ext cx="3292125" cy="3505504"/>
          </a:xfrm>
          <a:prstGeom prst="rect">
            <a:avLst/>
          </a:prstGeom>
        </p:spPr>
      </p:pic>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68268" y="1539274"/>
            <a:ext cx="3657917" cy="2712955"/>
          </a:xfrm>
          <a:prstGeom prst="rect">
            <a:avLst/>
          </a:prstGeom>
        </p:spPr>
      </p:pic>
    </p:spTree>
    <p:extLst>
      <p:ext uri="{BB962C8B-B14F-4D97-AF65-F5344CB8AC3E}">
        <p14:creationId xmlns:p14="http://schemas.microsoft.com/office/powerpoint/2010/main" val="138094827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45.7|10.7|6.2|49.6"/>
</p:tagLst>
</file>

<file path=ppt/tags/tag2.xml><?xml version="1.0" encoding="utf-8"?>
<p:tagLst xmlns:a="http://schemas.openxmlformats.org/drawingml/2006/main" xmlns:r="http://schemas.openxmlformats.org/officeDocument/2006/relationships" xmlns:p="http://schemas.openxmlformats.org/presentationml/2006/main">
  <p:tag name="TIMING" val="|34.8"/>
</p:tagLst>
</file>

<file path=ppt/tags/tag3.xml><?xml version="1.0" encoding="utf-8"?>
<p:tagLst xmlns:a="http://schemas.openxmlformats.org/drawingml/2006/main" xmlns:r="http://schemas.openxmlformats.org/officeDocument/2006/relationships" xmlns:p="http://schemas.openxmlformats.org/presentationml/2006/main">
  <p:tag name="TIMING" val="|22.4|6.7"/>
</p:tagLst>
</file>

<file path=ppt/tags/tag4.xml><?xml version="1.0" encoding="utf-8"?>
<p:tagLst xmlns:a="http://schemas.openxmlformats.org/drawingml/2006/main" xmlns:r="http://schemas.openxmlformats.org/officeDocument/2006/relationships" xmlns:p="http://schemas.openxmlformats.org/presentationml/2006/main">
  <p:tag name="TIMING" val="|17.2"/>
</p:tagLst>
</file>

<file path=ppt/tags/tag5.xml><?xml version="1.0" encoding="utf-8"?>
<p:tagLst xmlns:a="http://schemas.openxmlformats.org/drawingml/2006/main" xmlns:r="http://schemas.openxmlformats.org/officeDocument/2006/relationships" xmlns:p="http://schemas.openxmlformats.org/presentationml/2006/main">
  <p:tag name="TIMING" val="|68.7|1"/>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281</TotalTime>
  <Words>1843</Words>
  <Application>Microsoft Office PowerPoint</Application>
  <PresentationFormat>全屏显示(4:3)</PresentationFormat>
  <Paragraphs>101</Paragraphs>
  <Slides>46</Slides>
  <Notes>0</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3</vt:i4>
      </vt:variant>
      <vt:variant>
        <vt:lpstr>幻灯片标题</vt:lpstr>
      </vt:variant>
      <vt:variant>
        <vt:i4>46</vt:i4>
      </vt:variant>
    </vt:vector>
  </HeadingPairs>
  <TitlesOfParts>
    <vt:vector size="58" baseType="lpstr">
      <vt:lpstr>等线</vt:lpstr>
      <vt:lpstr>等线 Light</vt:lpstr>
      <vt:lpstr>黑体</vt:lpstr>
      <vt:lpstr>宋体</vt:lpstr>
      <vt:lpstr>Arial</vt:lpstr>
      <vt:lpstr>Calibri</vt:lpstr>
      <vt:lpstr>Calibri Light</vt:lpstr>
      <vt:lpstr>Times New Roman</vt:lpstr>
      <vt:lpstr>Office 主题</vt:lpstr>
      <vt:lpstr>MathType 5.0 Equation</vt:lpstr>
      <vt:lpstr>Microsoft Visio 绘图</vt:lpstr>
      <vt:lpstr>Equation</vt:lpstr>
      <vt:lpstr>07 㶲（可用能）</vt:lpstr>
      <vt:lpstr>PowerPoint 演示文稿</vt:lpstr>
      <vt:lpstr>PowerPoint 演示文稿</vt:lpstr>
      <vt:lpstr>PowerPoint 演示文稿</vt:lpstr>
      <vt:lpstr>PowerPoint 演示文稿</vt:lpstr>
      <vt:lpstr>复合系的状态参数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若考虑宏观动能和重力势能</vt:lpstr>
      <vt:lpstr>PowerPoint 演示文稿</vt:lpstr>
      <vt:lpstr>PowerPoint 演示文稿</vt:lpstr>
      <vt:lpstr>二、流动工质的㶲（焓㶲）</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三、伴随质量传递而传递的㶲量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第7讲 㶲</dc:title>
  <dc:creator>jing wu</dc:creator>
  <cp:lastModifiedBy>jingwu</cp:lastModifiedBy>
  <cp:revision>28</cp:revision>
  <dcterms:created xsi:type="dcterms:W3CDTF">2020-04-04T02:38:47Z</dcterms:created>
  <dcterms:modified xsi:type="dcterms:W3CDTF">2020-09-19T14:16:14Z</dcterms:modified>
</cp:coreProperties>
</file>