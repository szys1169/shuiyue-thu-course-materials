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sldIdLst>
    <p:sldId id="726" r:id="rId3"/>
    <p:sldId id="650" r:id="rId4"/>
    <p:sldId id="730" r:id="rId5"/>
    <p:sldId id="685" r:id="rId6"/>
    <p:sldId id="654" r:id="rId7"/>
    <p:sldId id="522" r:id="rId8"/>
    <p:sldId id="512" r:id="rId9"/>
    <p:sldId id="524" r:id="rId10"/>
    <p:sldId id="545" r:id="rId11"/>
    <p:sldId id="526" r:id="rId12"/>
    <p:sldId id="528" r:id="rId13"/>
    <p:sldId id="530" r:id="rId14"/>
    <p:sldId id="531" r:id="rId15"/>
    <p:sldId id="532" r:id="rId16"/>
    <p:sldId id="533" r:id="rId17"/>
    <p:sldId id="534" r:id="rId18"/>
    <p:sldId id="535" r:id="rId19"/>
    <p:sldId id="536" r:id="rId20"/>
    <p:sldId id="539" r:id="rId21"/>
    <p:sldId id="540" r:id="rId22"/>
    <p:sldId id="541" r:id="rId23"/>
    <p:sldId id="542" r:id="rId24"/>
    <p:sldId id="544" r:id="rId25"/>
    <p:sldId id="546" r:id="rId26"/>
    <p:sldId id="547" r:id="rId27"/>
    <p:sldId id="548" r:id="rId28"/>
    <p:sldId id="699" r:id="rId29"/>
    <p:sldId id="700" r:id="rId30"/>
    <p:sldId id="701" r:id="rId31"/>
    <p:sldId id="702" r:id="rId32"/>
    <p:sldId id="703" r:id="rId33"/>
    <p:sldId id="704" r:id="rId34"/>
    <p:sldId id="705" r:id="rId35"/>
    <p:sldId id="706" r:id="rId36"/>
    <p:sldId id="707" r:id="rId37"/>
    <p:sldId id="708" r:id="rId38"/>
    <p:sldId id="709" r:id="rId39"/>
    <p:sldId id="710" r:id="rId40"/>
    <p:sldId id="720" r:id="rId41"/>
    <p:sldId id="721" r:id="rId42"/>
    <p:sldId id="712" r:id="rId43"/>
    <p:sldId id="713" r:id="rId44"/>
    <p:sldId id="714" r:id="rId45"/>
    <p:sldId id="715" r:id="rId46"/>
    <p:sldId id="716" r:id="rId47"/>
    <p:sldId id="717" r:id="rId48"/>
    <p:sldId id="722" r:id="rId49"/>
    <p:sldId id="718" r:id="rId50"/>
    <p:sldId id="747" r:id="rId51"/>
    <p:sldId id="748" r:id="rId52"/>
    <p:sldId id="749" r:id="rId53"/>
    <p:sldId id="750" r:id="rId54"/>
    <p:sldId id="751" r:id="rId55"/>
    <p:sldId id="752" r:id="rId56"/>
    <p:sldId id="753" r:id="rId57"/>
    <p:sldId id="754" r:id="rId58"/>
    <p:sldId id="728" r:id="rId59"/>
    <p:sldId id="736" r:id="rId60"/>
    <p:sldId id="735" r:id="rId61"/>
    <p:sldId id="737" r:id="rId62"/>
    <p:sldId id="755" r:id="rId63"/>
    <p:sldId id="729" r:id="rId64"/>
    <p:sldId id="738" r:id="rId65"/>
    <p:sldId id="739" r:id="rId66"/>
    <p:sldId id="740" r:id="rId67"/>
    <p:sldId id="741" r:id="rId68"/>
    <p:sldId id="742" r:id="rId69"/>
    <p:sldId id="745" r:id="rId70"/>
    <p:sldId id="743" r:id="rId71"/>
    <p:sldId id="744" r:id="rId72"/>
    <p:sldId id="746" r:id="rId73"/>
    <p:sldId id="646" r:id="rId74"/>
  </p:sldIdLst>
  <p:sldSz cx="9144000" cy="6858000" type="screen4x3"/>
  <p:notesSz cx="6858000" cy="9144000"/>
  <p:custDataLst>
    <p:tags r:id="rId79"/>
  </p:custDataLst>
  <p:defaultTextStyle>
    <a:defPPr>
      <a:defRPr lang="en-AU"/>
    </a:defPPr>
    <a:lvl1pPr algn="l" rtl="0" eaLnBrk="0" fontAlgn="base" hangingPunct="0">
      <a:spcBef>
        <a:spcPct val="0"/>
      </a:spcBef>
      <a:spcAft>
        <a:spcPct val="0"/>
      </a:spcAft>
      <a:defRPr sz="4400" kern="1200">
        <a:solidFill>
          <a:srgbClr val="CC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4400" kern="1200">
        <a:solidFill>
          <a:srgbClr val="CC0000"/>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4400" kern="1200">
        <a:solidFill>
          <a:srgbClr val="CC0000"/>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4400" kern="1200">
        <a:solidFill>
          <a:srgbClr val="CC0000"/>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4400" kern="1200">
        <a:solidFill>
          <a:srgbClr val="CC0000"/>
        </a:solidFill>
        <a:latin typeface="Arial" panose="020B0604020202020204" pitchFamily="34" charset="0"/>
        <a:ea typeface="宋体" panose="02010600030101010101" pitchFamily="2" charset="-122"/>
        <a:cs typeface="+mn-cs"/>
      </a:defRPr>
    </a:lvl5pPr>
    <a:lvl6pPr marL="2286000" algn="l" defTabSz="914400" rtl="0" eaLnBrk="1" latinLnBrk="0" hangingPunct="1">
      <a:defRPr sz="4400" kern="1200">
        <a:solidFill>
          <a:srgbClr val="CC0000"/>
        </a:solidFill>
        <a:latin typeface="Arial" panose="020B0604020202020204" pitchFamily="34" charset="0"/>
        <a:ea typeface="宋体" panose="02010600030101010101" pitchFamily="2" charset="-122"/>
        <a:cs typeface="+mn-cs"/>
      </a:defRPr>
    </a:lvl6pPr>
    <a:lvl7pPr marL="2743200" algn="l" defTabSz="914400" rtl="0" eaLnBrk="1" latinLnBrk="0" hangingPunct="1">
      <a:defRPr sz="4400" kern="1200">
        <a:solidFill>
          <a:srgbClr val="CC0000"/>
        </a:solidFill>
        <a:latin typeface="Arial" panose="020B0604020202020204" pitchFamily="34" charset="0"/>
        <a:ea typeface="宋体" panose="02010600030101010101" pitchFamily="2" charset="-122"/>
        <a:cs typeface="+mn-cs"/>
      </a:defRPr>
    </a:lvl7pPr>
    <a:lvl8pPr marL="3200400" algn="l" defTabSz="914400" rtl="0" eaLnBrk="1" latinLnBrk="0" hangingPunct="1">
      <a:defRPr sz="4400" kern="1200">
        <a:solidFill>
          <a:srgbClr val="CC0000"/>
        </a:solidFill>
        <a:latin typeface="Arial" panose="020B0604020202020204" pitchFamily="34" charset="0"/>
        <a:ea typeface="宋体" panose="02010600030101010101" pitchFamily="2" charset="-122"/>
        <a:cs typeface="+mn-cs"/>
      </a:defRPr>
    </a:lvl8pPr>
    <a:lvl9pPr marL="3657600" algn="l" defTabSz="914400" rtl="0" eaLnBrk="1" latinLnBrk="0" hangingPunct="1">
      <a:defRPr sz="4400" kern="1200">
        <a:solidFill>
          <a:srgbClr val="CC0000"/>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8" userDrawn="1">
          <p15:clr>
            <a:srgbClr val="A4A3A4"/>
          </p15:clr>
        </p15:guide>
        <p15:guide id="2" pos="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C00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p:normalViewPr>
  <p:slideViewPr>
    <p:cSldViewPr showGuides="1">
      <p:cViewPr varScale="1">
        <p:scale>
          <a:sx n="111" d="100"/>
          <a:sy n="111" d="100"/>
        </p:scale>
        <p:origin x="1650" y="102"/>
      </p:cViewPr>
      <p:guideLst>
        <p:guide orient="horz" pos="48"/>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9" d="100"/>
          <a:sy n="49" d="100"/>
        </p:scale>
        <p:origin x="-180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9" Type="http://schemas.openxmlformats.org/officeDocument/2006/relationships/tags" Target="tags/tag1.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notesMaster" Target="notesMasters/notesMaster1.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l" eaLnBrk="0" hangingPunct="0">
              <a:defRPr sz="1200">
                <a:solidFill>
                  <a:schemeClr val="tx1"/>
                </a:solidFill>
                <a:latin typeface="Times New Roman" panose="02020603050405020304" pitchFamily="18" charset="0"/>
              </a:defRPr>
            </a:lvl1pPr>
          </a:lstStyle>
          <a:p>
            <a:pPr>
              <a:defRPr/>
            </a:pPr>
            <a:endParaRPr lang="zh-CN" altLang="en-AU"/>
          </a:p>
        </p:txBody>
      </p:sp>
      <p:sp>
        <p:nvSpPr>
          <p:cNvPr id="29699" name="Rectangle 3"/>
          <p:cNvSpPr>
            <a:spLocks noGrp="1" noChangeArrowheads="1"/>
          </p:cNvSpPr>
          <p:nvPr>
            <p:ph type="dt"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r" eaLnBrk="0" hangingPunct="0">
              <a:defRPr sz="1200">
                <a:solidFill>
                  <a:schemeClr val="tx1"/>
                </a:solidFill>
                <a:latin typeface="Times New Roman" panose="02020603050405020304" pitchFamily="18" charset="0"/>
              </a:defRPr>
            </a:lvl1pPr>
          </a:lstStyle>
          <a:p>
            <a:pPr>
              <a:defRPr/>
            </a:pPr>
            <a:endParaRPr lang="en-AU"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9701" name="Rectangle 5"/>
          <p:cNvSpPr>
            <a:spLocks noGrp="1" noChangeArrowheads="1"/>
          </p:cNvSpPr>
          <p:nvPr>
            <p:ph type="body" sz="quarter" idx="3"/>
          </p:nvPr>
        </p:nvSpPr>
        <p:spPr bwMode="auto">
          <a:xfrm>
            <a:off x="914400" y="4343400"/>
            <a:ext cx="5029200" cy="41148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p>
            <a:pPr lvl="0"/>
            <a:r>
              <a:rPr lang="en-AU" altLang="zh-CN" noProof="0" smtClean="0"/>
              <a:t>Click to edit Master text styles</a:t>
            </a:r>
            <a:endParaRPr lang="en-AU" altLang="zh-CN" noProof="0" smtClean="0"/>
          </a:p>
          <a:p>
            <a:pPr lvl="1"/>
            <a:r>
              <a:rPr lang="en-AU" altLang="zh-CN" noProof="0" smtClean="0"/>
              <a:t>Second level</a:t>
            </a:r>
            <a:endParaRPr lang="en-AU" altLang="zh-CN" noProof="0" smtClean="0"/>
          </a:p>
          <a:p>
            <a:pPr lvl="2"/>
            <a:r>
              <a:rPr lang="en-AU" altLang="zh-CN" noProof="0" smtClean="0"/>
              <a:t>Third level</a:t>
            </a:r>
            <a:endParaRPr lang="en-AU" altLang="zh-CN" noProof="0" smtClean="0"/>
          </a:p>
          <a:p>
            <a:pPr lvl="3"/>
            <a:r>
              <a:rPr lang="en-AU" altLang="zh-CN" noProof="0" smtClean="0"/>
              <a:t>Fourth level</a:t>
            </a:r>
            <a:endParaRPr lang="en-AU" altLang="zh-CN" noProof="0" smtClean="0"/>
          </a:p>
          <a:p>
            <a:pPr lvl="4"/>
            <a:r>
              <a:rPr lang="en-AU" altLang="zh-CN" noProof="0" smtClean="0"/>
              <a:t>Fifth level</a:t>
            </a:r>
            <a:endParaRPr lang="en-AU" altLang="zh-CN" noProof="0" smtClean="0"/>
          </a:p>
        </p:txBody>
      </p:sp>
      <p:sp>
        <p:nvSpPr>
          <p:cNvPr id="29702" name="Rectangle 6"/>
          <p:cNvSpPr>
            <a:spLocks noGrp="1" noChangeArrowheads="1"/>
          </p:cNvSpPr>
          <p:nvPr>
            <p:ph type="ftr" sz="quarter" idx="4"/>
          </p:nvPr>
        </p:nvSpPr>
        <p:spPr bwMode="auto">
          <a:xfrm>
            <a:off x="0" y="86868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lstStyle>
            <a:lvl1pPr algn="l" eaLnBrk="0" hangingPunct="0">
              <a:defRPr sz="1200">
                <a:solidFill>
                  <a:schemeClr val="tx1"/>
                </a:solidFill>
                <a:latin typeface="Times New Roman" panose="02020603050405020304" pitchFamily="18" charset="0"/>
              </a:defRPr>
            </a:lvl1pPr>
          </a:lstStyle>
          <a:p>
            <a:pPr>
              <a:defRPr/>
            </a:pPr>
            <a:endParaRPr lang="en-AU" altLang="zh-CN"/>
          </a:p>
        </p:txBody>
      </p:sp>
      <p:sp>
        <p:nvSpPr>
          <p:cNvPr id="29703" name="Rectangle 7"/>
          <p:cNvSpPr>
            <a:spLocks noGrp="1" noChangeArrowheads="1"/>
          </p:cNvSpPr>
          <p:nvPr>
            <p:ph type="sldNum" sz="quarter" idx="5"/>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lstStyle>
            <a:lvl1pPr algn="r" eaLnBrk="0" hangingPunct="0">
              <a:defRPr sz="1200">
                <a:solidFill>
                  <a:schemeClr val="tx1"/>
                </a:solidFill>
                <a:latin typeface="Times New Roman" panose="02020603050405020304" pitchFamily="18" charset="0"/>
              </a:defRPr>
            </a:lvl1pPr>
          </a:lstStyle>
          <a:p>
            <a:pPr>
              <a:defRPr/>
            </a:pPr>
            <a:fld id="{A22D365D-BA5C-4BCD-95AF-517991D3F74C}" type="slidenum">
              <a:rPr lang="zh-CN" altLang="en-AU"/>
            </a:fld>
            <a:endParaRPr lang="en-AU"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50530" name="Rectangle 2"/>
          <p:cNvSpPr>
            <a:spLocks noGrp="1" noRot="1" noChangeArrowheads="1"/>
          </p:cNvSpPr>
          <p:nvPr>
            <p:ph type="ctrTitle"/>
          </p:nvPr>
        </p:nvSpPr>
        <p:spPr>
          <a:xfrm>
            <a:off x="3962400" y="1066800"/>
            <a:ext cx="4648200" cy="1981200"/>
          </a:xfrm>
        </p:spPr>
        <p:txBody>
          <a:bodyPr/>
          <a:lstStyle>
            <a:lvl1pPr>
              <a:defRPr/>
            </a:lvl1pPr>
          </a:lstStyle>
          <a:p>
            <a:r>
              <a:rPr lang="zh-CN" altLang="en-US"/>
              <a:t>单击此处编辑母版标题样式</a:t>
            </a:r>
            <a:endParaRPr lang="zh-CN" altLang="en-US"/>
          </a:p>
        </p:txBody>
      </p:sp>
      <p:sp>
        <p:nvSpPr>
          <p:cNvPr id="150531" name="Rectangle 3"/>
          <p:cNvSpPr>
            <a:spLocks noGrp="1" noRot="1" noChangeArrowheads="1"/>
          </p:cNvSpPr>
          <p:nvPr>
            <p:ph type="subTitle" idx="1"/>
          </p:nvPr>
        </p:nvSpPr>
        <p:spPr>
          <a:xfrm>
            <a:off x="3962400" y="3657600"/>
            <a:ext cx="4572000" cy="16764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a:xfrm>
            <a:off x="301625" y="6076950"/>
            <a:ext cx="2289175" cy="476250"/>
          </a:xfr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076950"/>
            <a:ext cx="2895600" cy="476250"/>
          </a:xfr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076950"/>
            <a:ext cx="2289175" cy="476250"/>
          </a:xfrm>
        </p:spPr>
        <p:txBody>
          <a:bodyPr/>
          <a:lstStyle>
            <a:lvl1pPr>
              <a:defRPr/>
            </a:lvl1pPr>
          </a:lstStyle>
          <a:p>
            <a:pPr>
              <a:defRPr/>
            </a:pPr>
            <a:fld id="{28BBA5B6-0724-4A66-A08D-321A26E8836F}"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37F10D5-768D-42A6-9CB2-A5371B27D479}" type="slidenum">
              <a:rPr lang="zh-CN" altLang="en-US"/>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5494B00-E004-4C5C-B314-760356C1AFD6}" type="slidenum">
              <a:rPr lang="zh-CN" altLang="en-US"/>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4800"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1375"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5041CED-7B8A-4E14-A2A2-FA3B72059FC2}" type="slidenum">
              <a:rPr lang="zh-CN" altLang="en-US"/>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D0D99B97-BB66-4752-AE98-626D774F9907}" type="slidenum">
              <a:rPr lang="zh-CN" altLang="en-US"/>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FF5A1176-9404-49DC-96A3-756B35482DEA}"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1B5334D9-85A0-44B1-887B-F95DD341A76E}" type="slidenum">
              <a:rPr lang="zh-CN" altLang="en-US"/>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5466F28-7260-4CCA-BE20-3C6F1B2A0F8A}" type="slidenum">
              <a:rPr lang="zh-CN" altLang="en-US"/>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91C0F2E7-3899-4A45-B8AA-884634D4CA13}" type="slidenum">
              <a:rPr lang="zh-CN" altLang="en-US"/>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61C4FA1-F2D8-4E77-9C6D-3D6F5483A6E0}" type="slidenum">
              <a:rPr lang="zh-CN" altLang="en-US"/>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10363" y="685800"/>
            <a:ext cx="2135187" cy="5181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685800"/>
            <a:ext cx="6256338" cy="51816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E8C4062-E095-413B-AAE5-43572E194111}" type="slidenum">
              <a:rPr lang="zh-CN" altLang="en-US"/>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301625" y="685800"/>
            <a:ext cx="8540750" cy="1143000"/>
          </a:xfrm>
        </p:spPr>
        <p:txBody>
          <a:bodyPr/>
          <a:lstStyle/>
          <a:p>
            <a:r>
              <a:rPr lang="zh-CN" altLang="en-US" smtClean="0"/>
              <a:t>单击此处编辑母版标题样式</a:t>
            </a:r>
            <a:endParaRPr lang="zh-CN" altLang="en-US"/>
          </a:p>
        </p:txBody>
      </p:sp>
      <p:sp>
        <p:nvSpPr>
          <p:cNvPr id="3" name="图表占位符 2"/>
          <p:cNvSpPr>
            <a:spLocks noGrp="1"/>
          </p:cNvSpPr>
          <p:nvPr>
            <p:ph type="chart" idx="1"/>
          </p:nvPr>
        </p:nvSpPr>
        <p:spPr>
          <a:xfrm>
            <a:off x="304800" y="1981200"/>
            <a:ext cx="8540750" cy="3886200"/>
          </a:xfrm>
        </p:spPr>
        <p:txBody>
          <a:bodyPr/>
          <a:lstStyle/>
          <a:p>
            <a:pPr lvl="0"/>
            <a:endParaRPr lang="zh-CN" altLang="en-US" noProof="0"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374C889-6192-40DF-AB34-C2509A83946A}" type="slidenum">
              <a:rPr lang="zh-CN" altLang="en-US"/>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685800"/>
            <a:ext cx="8543925" cy="51816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D07328CF-404A-4194-B0E3-17A075AD8654}" type="slidenum">
              <a:rPr lang="zh-CN" altLang="en-US"/>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6858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Rectangle 3"/>
          <p:cNvSpPr>
            <a:spLocks noGrp="1" noRot="1" noChangeArrowheads="1"/>
          </p:cNvSpPr>
          <p:nvPr>
            <p:ph type="body" idx="1"/>
          </p:nvPr>
        </p:nvSpPr>
        <p:spPr bwMode="auto">
          <a:xfrm>
            <a:off x="304800" y="1981200"/>
            <a:ext cx="854075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49508" name="Rectangle 4"/>
          <p:cNvSpPr>
            <a:spLocks noGrp="1" noChangeArrowheads="1"/>
          </p:cNvSpPr>
          <p:nvPr>
            <p:ph type="dt" sz="half" idx="2"/>
          </p:nvPr>
        </p:nvSpPr>
        <p:spPr bwMode="auto">
          <a:xfrm>
            <a:off x="301625" y="6019800"/>
            <a:ext cx="2289175" cy="47625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400">
                <a:solidFill>
                  <a:schemeClr val="tx1"/>
                </a:solidFill>
              </a:defRPr>
            </a:lvl1pPr>
          </a:lstStyle>
          <a:p>
            <a:pPr>
              <a:defRPr/>
            </a:pPr>
            <a:endParaRPr lang="en-US" altLang="zh-CN"/>
          </a:p>
        </p:txBody>
      </p:sp>
      <p:sp>
        <p:nvSpPr>
          <p:cNvPr id="149509" name="Rectangle 5"/>
          <p:cNvSpPr>
            <a:spLocks noGrp="1" noChangeArrowheads="1"/>
          </p:cNvSpPr>
          <p:nvPr>
            <p:ph type="ftr" sz="quarter" idx="3"/>
          </p:nvPr>
        </p:nvSpPr>
        <p:spPr bwMode="auto">
          <a:xfrm>
            <a:off x="3124200" y="60198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solidFill>
                  <a:schemeClr val="tx1"/>
                </a:solidFill>
              </a:defRPr>
            </a:lvl1pPr>
          </a:lstStyle>
          <a:p>
            <a:pPr>
              <a:defRPr/>
            </a:pPr>
            <a:endParaRPr lang="en-US" altLang="zh-CN"/>
          </a:p>
        </p:txBody>
      </p:sp>
      <p:sp>
        <p:nvSpPr>
          <p:cNvPr id="149510" name="Rectangle 6"/>
          <p:cNvSpPr>
            <a:spLocks noGrp="1" noChangeArrowheads="1"/>
          </p:cNvSpPr>
          <p:nvPr>
            <p:ph type="sldNum" sz="quarter" idx="4"/>
          </p:nvPr>
        </p:nvSpPr>
        <p:spPr bwMode="auto">
          <a:xfrm>
            <a:off x="6553200" y="6019800"/>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solidFill>
                  <a:schemeClr val="tx1"/>
                </a:solidFill>
              </a:defRPr>
            </a:lvl1pPr>
          </a:lstStyle>
          <a:p>
            <a:pPr>
              <a:defRPr/>
            </a:pPr>
            <a:fld id="{FE25A9E6-2321-4ADE-81BD-51EBDDA12620}"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NULL" TargetMode="Externa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4.bin"/></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5.bin"/></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6.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oleObject" Target="../embeddings/oleObject7.bin"/></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jpe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jpe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jpe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jpe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jpeg"/><Relationship Id="rId1" Type="http://schemas.openxmlformats.org/officeDocument/2006/relationships/image" Target="../media/image30.jpe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jpeg"/><Relationship Id="rId1" Type="http://schemas.openxmlformats.org/officeDocument/2006/relationships/image" Target="../media/image32.jpe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jpeg"/><Relationship Id="rId1" Type="http://schemas.openxmlformats.org/officeDocument/2006/relationships/image" Target="../media/image35.jpe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3799AA8-456D-4E73-9FBB-73D38EE3B0C9}" type="slidenum">
              <a:rPr lang="zh-CN" altLang="en-US" sz="1400" smtClean="0"/>
            </a:fld>
            <a:endParaRPr lang="en-US" altLang="zh-CN" sz="1400" smtClean="0"/>
          </a:p>
        </p:txBody>
      </p:sp>
      <p:sp>
        <p:nvSpPr>
          <p:cNvPr id="4099" name="Text Box 4"/>
          <p:cNvSpPr txBox="1">
            <a:spLocks noChangeArrowheads="1"/>
          </p:cNvSpPr>
          <p:nvPr/>
        </p:nvSpPr>
        <p:spPr bwMode="auto">
          <a:xfrm>
            <a:off x="0" y="654050"/>
            <a:ext cx="91440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AU" altLang="zh-CN" sz="6600" b="1">
                <a:latin typeface="Times New Roman" panose="02020603050405020304" pitchFamily="18" charset="0"/>
              </a:rPr>
              <a:t> </a:t>
            </a:r>
            <a:r>
              <a:rPr lang="zh-CN" altLang="en-AU" sz="6600" b="1">
                <a:latin typeface="Times New Roman" panose="02020603050405020304" pitchFamily="18" charset="0"/>
              </a:rPr>
              <a:t>工程经济学</a:t>
            </a:r>
            <a:endParaRPr lang="zh-CN" altLang="en-AU" sz="6600" b="1">
              <a:latin typeface="Times New Roman" panose="02020603050405020304" pitchFamily="18" charset="0"/>
            </a:endParaRPr>
          </a:p>
        </p:txBody>
      </p:sp>
      <p:sp>
        <p:nvSpPr>
          <p:cNvPr id="4100" name="Text Box 5"/>
          <p:cNvSpPr txBox="1">
            <a:spLocks noChangeArrowheads="1"/>
          </p:cNvSpPr>
          <p:nvPr/>
        </p:nvSpPr>
        <p:spPr bwMode="auto">
          <a:xfrm>
            <a:off x="1854200" y="2254250"/>
            <a:ext cx="5434013"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zh-CN" altLang="en-US" sz="3600" b="1">
                <a:solidFill>
                  <a:schemeClr val="tx2"/>
                </a:solidFill>
              </a:rPr>
              <a:t>工程项目可行性研究案例</a:t>
            </a:r>
            <a:r>
              <a:rPr kumimoji="1" lang="en-US" altLang="zh-CN" sz="3600" b="1">
                <a:solidFill>
                  <a:schemeClr val="tx2"/>
                </a:solidFill>
              </a:rPr>
              <a:t>:</a:t>
            </a:r>
            <a:endParaRPr kumimoji="1" lang="en-US" altLang="zh-CN" sz="3600" b="1">
              <a:solidFill>
                <a:schemeClr val="tx2"/>
              </a:solidFill>
            </a:endParaRPr>
          </a:p>
          <a:p>
            <a:pPr algn="ctr">
              <a:spcBef>
                <a:spcPct val="0"/>
              </a:spcBef>
              <a:buClrTx/>
              <a:buSzTx/>
              <a:buFontTx/>
              <a:buNone/>
            </a:pPr>
            <a:r>
              <a:rPr lang="zh-CN" altLang="en-US">
                <a:solidFill>
                  <a:srgbClr val="CC0000"/>
                </a:solidFill>
              </a:rPr>
              <a:t>嘉兴至绍兴公路可行性研究</a:t>
            </a:r>
            <a:endParaRPr lang="en-US" altLang="zh-CN">
              <a:solidFill>
                <a:srgbClr val="CC0000"/>
              </a:solidFill>
            </a:endParaRPr>
          </a:p>
          <a:p>
            <a:pPr algn="ctr">
              <a:spcBef>
                <a:spcPct val="0"/>
              </a:spcBef>
              <a:buClrTx/>
              <a:buSzTx/>
              <a:buFontTx/>
              <a:buNone/>
            </a:pPr>
            <a:r>
              <a:rPr lang="zh-CN" altLang="en-US">
                <a:solidFill>
                  <a:srgbClr val="CC0000"/>
                </a:solidFill>
              </a:rPr>
              <a:t>某电站可行性研究</a:t>
            </a:r>
            <a:endParaRPr lang="zh-CN" altLang="en-AU" b="1">
              <a:solidFill>
                <a:srgbClr val="CC0000"/>
              </a:solidFill>
            </a:endParaRPr>
          </a:p>
        </p:txBody>
      </p:sp>
      <p:sp>
        <p:nvSpPr>
          <p:cNvPr id="4101" name="Text Box 6"/>
          <p:cNvSpPr txBox="1">
            <a:spLocks noChangeArrowheads="1"/>
          </p:cNvSpPr>
          <p:nvPr/>
        </p:nvSpPr>
        <p:spPr bwMode="auto">
          <a:xfrm>
            <a:off x="3770313" y="3505200"/>
            <a:ext cx="56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AU" sz="2400">
                <a:latin typeface="Times New Roman" panose="02020603050405020304" pitchFamily="18" charset="0"/>
              </a:rPr>
              <a:t>     </a:t>
            </a:r>
            <a:endParaRPr lang="en-AU" altLang="zh-CN" sz="2400">
              <a:latin typeface="Times New Roman" panose="02020603050405020304" pitchFamily="18" charset="0"/>
            </a:endParaRPr>
          </a:p>
        </p:txBody>
      </p:sp>
      <p:sp>
        <p:nvSpPr>
          <p:cNvPr id="4102" name="Rectangle 4"/>
          <p:cNvSpPr>
            <a:spLocks noChangeArrowheads="1"/>
          </p:cNvSpPr>
          <p:nvPr/>
        </p:nvSpPr>
        <p:spPr bwMode="auto">
          <a:xfrm>
            <a:off x="539750" y="4265613"/>
            <a:ext cx="8064500"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3600" b="1" dirty="0">
                <a:latin typeface="Garamond" panose="02020404030301010803" pitchFamily="18" charset="0"/>
              </a:rPr>
              <a:t>唐文哲  教授</a:t>
            </a:r>
            <a:r>
              <a:rPr lang="en-US" altLang="zh-CN" sz="3600" b="1" dirty="0">
                <a:latin typeface="Garamond" panose="02020404030301010803" pitchFamily="18" charset="0"/>
              </a:rPr>
              <a:t>/</a:t>
            </a:r>
            <a:r>
              <a:rPr lang="zh-CN" altLang="en-US" sz="3600" b="1" dirty="0">
                <a:latin typeface="Garamond" panose="02020404030301010803" pitchFamily="18" charset="0"/>
              </a:rPr>
              <a:t>博导</a:t>
            </a:r>
            <a:endParaRPr lang="zh-CN" altLang="en-US" sz="3600" b="1" dirty="0">
              <a:latin typeface="Garamond" panose="02020404030301010803" pitchFamily="18" charset="0"/>
            </a:endParaRPr>
          </a:p>
          <a:p>
            <a:pPr algn="ctr" eaLnBrk="1" hangingPunct="1">
              <a:spcBef>
                <a:spcPct val="0"/>
              </a:spcBef>
              <a:buClrTx/>
              <a:buSzTx/>
              <a:buFontTx/>
              <a:buNone/>
            </a:pPr>
            <a:r>
              <a:rPr lang="zh-CN" altLang="en-US" sz="3600" b="1" dirty="0">
                <a:latin typeface="Garamond" panose="02020404030301010803" pitchFamily="18" charset="0"/>
              </a:rPr>
              <a:t>清华大学土木水利学院</a:t>
            </a:r>
            <a:endParaRPr lang="en-US" altLang="zh-CN" sz="3600" b="1" dirty="0">
              <a:latin typeface="Garamond" panose="02020404030301010803" pitchFamily="18" charset="0"/>
            </a:endParaRPr>
          </a:p>
          <a:p>
            <a:pPr algn="ctr" eaLnBrk="1" hangingPunct="1">
              <a:spcBef>
                <a:spcPct val="0"/>
              </a:spcBef>
              <a:buClrTx/>
              <a:buSzTx/>
              <a:buFontTx/>
              <a:buNone/>
            </a:pPr>
            <a:r>
              <a:rPr lang="en-US" altLang="zh-CN" sz="3600" b="1" dirty="0" smtClean="0">
                <a:latin typeface="Garamond" panose="02020404030301010803" pitchFamily="18" charset="0"/>
              </a:rPr>
              <a:t>2023</a:t>
            </a:r>
            <a:r>
              <a:rPr lang="zh-CN" altLang="en-US" sz="3600" b="1" dirty="0" smtClean="0">
                <a:latin typeface="Garamond" panose="02020404030301010803" pitchFamily="18" charset="0"/>
              </a:rPr>
              <a:t>年</a:t>
            </a:r>
            <a:r>
              <a:rPr lang="en-US" altLang="zh-CN" sz="3600" b="1" dirty="0" smtClean="0">
                <a:latin typeface="Garamond" panose="02020404030301010803" pitchFamily="18" charset="0"/>
              </a:rPr>
              <a:t>11</a:t>
            </a:r>
            <a:r>
              <a:rPr lang="zh-CN" altLang="en-US" sz="3600" b="1" dirty="0" smtClean="0">
                <a:latin typeface="Garamond" panose="02020404030301010803" pitchFamily="18" charset="0"/>
              </a:rPr>
              <a:t>月</a:t>
            </a:r>
            <a:r>
              <a:rPr lang="en-US" altLang="zh-CN" sz="3600" b="1" dirty="0" smtClean="0">
                <a:latin typeface="Garamond" panose="02020404030301010803" pitchFamily="18" charset="0"/>
              </a:rPr>
              <a:t>23</a:t>
            </a:r>
            <a:r>
              <a:rPr lang="zh-CN" altLang="en-US" sz="3600" b="1" smtClean="0">
                <a:latin typeface="Garamond" panose="02020404030301010803" pitchFamily="18" charset="0"/>
              </a:rPr>
              <a:t>日</a:t>
            </a:r>
            <a:endParaRPr lang="zh-CN" altLang="en-US" sz="36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8B8CD4C-0C6B-4582-83BC-157877087D74}" type="slidenum">
              <a:rPr lang="zh-CN" altLang="en-US" sz="1400" smtClean="0"/>
            </a:fld>
            <a:endParaRPr lang="en-US" altLang="zh-CN" sz="1400" smtClean="0"/>
          </a:p>
        </p:txBody>
      </p:sp>
      <p:sp>
        <p:nvSpPr>
          <p:cNvPr id="5123" name="Rectangle 4"/>
          <p:cNvSpPr>
            <a:spLocks noGrp="1" noChangeArrowheads="1"/>
          </p:cNvSpPr>
          <p:nvPr>
            <p:ph type="title"/>
          </p:nvPr>
        </p:nvSpPr>
        <p:spPr>
          <a:xfrm>
            <a:off x="0" y="12700"/>
            <a:ext cx="9144000" cy="609600"/>
          </a:xfrm>
          <a:solidFill>
            <a:srgbClr val="99CCFF"/>
          </a:solidFill>
        </p:spPr>
        <p:txBody>
          <a:bodyPr/>
          <a:lstStyle/>
          <a:p>
            <a:pPr eaLnBrk="1" hangingPunct="1"/>
            <a:r>
              <a:rPr lang="zh-CN" altLang="en-US" sz="3600" b="1" smtClean="0">
                <a:solidFill>
                  <a:srgbClr val="CC0000"/>
                </a:solidFill>
              </a:rPr>
              <a:t>项目投资决策和建设过程中的可行性研究</a:t>
            </a:r>
            <a:endParaRPr lang="en-US" altLang="zh-CN" sz="3600" b="1" smtClean="0">
              <a:solidFill>
                <a:srgbClr val="CC0000"/>
              </a:solidFill>
            </a:endParaRPr>
          </a:p>
        </p:txBody>
      </p:sp>
      <p:sp>
        <p:nvSpPr>
          <p:cNvPr id="5124" name="Rectangle 5"/>
          <p:cNvSpPr>
            <a:spLocks noGrp="1" noChangeArrowheads="1"/>
          </p:cNvSpPr>
          <p:nvPr>
            <p:ph type="body" idx="1"/>
          </p:nvPr>
        </p:nvSpPr>
        <p:spPr>
          <a:xfrm>
            <a:off x="0" y="977900"/>
            <a:ext cx="9144000" cy="5880100"/>
          </a:xfrm>
          <a:solidFill>
            <a:schemeClr val="accent1"/>
          </a:solidFill>
        </p:spPr>
        <p:txBody>
          <a:bodyPr/>
          <a:lstStyle/>
          <a:p>
            <a:pPr eaLnBrk="1" hangingPunct="1"/>
            <a:r>
              <a:rPr lang="zh-CN" altLang="en-US" smtClean="0"/>
              <a:t>可行性研究处于什么位置？</a:t>
            </a:r>
            <a:endParaRPr lang="zh-CN" altLang="en-US" smtClean="0"/>
          </a:p>
        </p:txBody>
      </p:sp>
      <p:sp>
        <p:nvSpPr>
          <p:cNvPr id="5125" name="Text Box 6"/>
          <p:cNvSpPr txBox="1">
            <a:spLocks noChangeArrowheads="1"/>
          </p:cNvSpPr>
          <p:nvPr/>
        </p:nvSpPr>
        <p:spPr bwMode="auto">
          <a:xfrm>
            <a:off x="282575" y="2968625"/>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机会研究</a:t>
            </a:r>
            <a:endParaRPr lang="zh-CN" altLang="en-US" sz="2200" b="1">
              <a:solidFill>
                <a:srgbClr val="000000"/>
              </a:solidFill>
              <a:latin typeface="仿宋_GB2312"/>
              <a:ea typeface="仿宋_GB2312"/>
              <a:cs typeface="仿宋_GB2312"/>
            </a:endParaRPr>
          </a:p>
        </p:txBody>
      </p:sp>
      <p:sp>
        <p:nvSpPr>
          <p:cNvPr id="496647" name="Text Box 7"/>
          <p:cNvSpPr txBox="1">
            <a:spLocks noChangeArrowheads="1"/>
          </p:cNvSpPr>
          <p:nvPr/>
        </p:nvSpPr>
        <p:spPr bwMode="auto">
          <a:xfrm>
            <a:off x="1031875" y="2330450"/>
            <a:ext cx="403225" cy="244633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FF"/>
                </a:solidFill>
                <a:latin typeface="仿宋_GB2312"/>
                <a:ea typeface="仿宋_GB2312"/>
                <a:cs typeface="仿宋_GB2312"/>
              </a:rPr>
              <a:t>初步可行性研究</a:t>
            </a:r>
            <a:endParaRPr lang="zh-CN" altLang="en-US" sz="2200" b="1">
              <a:solidFill>
                <a:srgbClr val="0000FF"/>
              </a:solidFill>
              <a:latin typeface="仿宋_GB2312"/>
              <a:ea typeface="仿宋_GB2312"/>
              <a:cs typeface="仿宋_GB2312"/>
            </a:endParaRPr>
          </a:p>
        </p:txBody>
      </p:sp>
      <p:sp>
        <p:nvSpPr>
          <p:cNvPr id="496648" name="Text Box 8"/>
          <p:cNvSpPr txBox="1">
            <a:spLocks noChangeArrowheads="1"/>
          </p:cNvSpPr>
          <p:nvPr/>
        </p:nvSpPr>
        <p:spPr bwMode="auto">
          <a:xfrm>
            <a:off x="1806575" y="2665413"/>
            <a:ext cx="403225" cy="17764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项目建议书</a:t>
            </a:r>
            <a:endParaRPr lang="zh-CN" altLang="en-US" sz="2200" b="1">
              <a:solidFill>
                <a:srgbClr val="000000"/>
              </a:solidFill>
              <a:latin typeface="仿宋_GB2312"/>
              <a:ea typeface="仿宋_GB2312"/>
              <a:cs typeface="仿宋_GB2312"/>
            </a:endParaRPr>
          </a:p>
        </p:txBody>
      </p:sp>
      <p:sp>
        <p:nvSpPr>
          <p:cNvPr id="496649" name="Text Box 9"/>
          <p:cNvSpPr txBox="1">
            <a:spLocks noChangeArrowheads="1"/>
          </p:cNvSpPr>
          <p:nvPr/>
        </p:nvSpPr>
        <p:spPr bwMode="auto">
          <a:xfrm>
            <a:off x="2530475" y="2665413"/>
            <a:ext cx="403225" cy="17764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FF0000"/>
                </a:solidFill>
                <a:latin typeface="仿宋_GB2312"/>
                <a:ea typeface="仿宋_GB2312"/>
                <a:cs typeface="仿宋_GB2312"/>
              </a:rPr>
              <a:t>可行性研究</a:t>
            </a:r>
            <a:endParaRPr lang="zh-CN" altLang="en-US" sz="2200" b="1">
              <a:solidFill>
                <a:srgbClr val="FF0000"/>
              </a:solidFill>
              <a:latin typeface="仿宋_GB2312"/>
              <a:ea typeface="仿宋_GB2312"/>
              <a:cs typeface="仿宋_GB2312"/>
            </a:endParaRPr>
          </a:p>
        </p:txBody>
      </p:sp>
      <p:sp>
        <p:nvSpPr>
          <p:cNvPr id="496650" name="Text Box 10"/>
          <p:cNvSpPr txBox="1">
            <a:spLocks noChangeArrowheads="1"/>
          </p:cNvSpPr>
          <p:nvPr/>
        </p:nvSpPr>
        <p:spPr bwMode="auto">
          <a:xfrm>
            <a:off x="3216275" y="2832100"/>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项目评估</a:t>
            </a:r>
            <a:endParaRPr lang="zh-CN" altLang="en-US" sz="2200" b="1">
              <a:solidFill>
                <a:srgbClr val="000000"/>
              </a:solidFill>
              <a:latin typeface="仿宋_GB2312"/>
              <a:ea typeface="仿宋_GB2312"/>
              <a:cs typeface="仿宋_GB2312"/>
            </a:endParaRPr>
          </a:p>
        </p:txBody>
      </p:sp>
      <p:sp>
        <p:nvSpPr>
          <p:cNvPr id="496651" name="Text Box 11"/>
          <p:cNvSpPr txBox="1">
            <a:spLocks noChangeArrowheads="1"/>
          </p:cNvSpPr>
          <p:nvPr/>
        </p:nvSpPr>
        <p:spPr bwMode="auto">
          <a:xfrm>
            <a:off x="3863975" y="2832100"/>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投资决策</a:t>
            </a:r>
            <a:endParaRPr lang="zh-CN" altLang="en-US" sz="2200" b="1">
              <a:solidFill>
                <a:srgbClr val="000000"/>
              </a:solidFill>
              <a:latin typeface="仿宋_GB2312"/>
              <a:ea typeface="仿宋_GB2312"/>
              <a:cs typeface="仿宋_GB2312"/>
            </a:endParaRPr>
          </a:p>
        </p:txBody>
      </p:sp>
      <p:sp>
        <p:nvSpPr>
          <p:cNvPr id="496652" name="Text Box 12"/>
          <p:cNvSpPr txBox="1">
            <a:spLocks noChangeArrowheads="1"/>
          </p:cNvSpPr>
          <p:nvPr/>
        </p:nvSpPr>
        <p:spPr bwMode="auto">
          <a:xfrm>
            <a:off x="4511675" y="2832100"/>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谈判签约</a:t>
            </a:r>
            <a:endParaRPr lang="zh-CN" altLang="en-US" sz="2200" b="1">
              <a:solidFill>
                <a:srgbClr val="000000"/>
              </a:solidFill>
              <a:latin typeface="仿宋_GB2312"/>
              <a:ea typeface="仿宋_GB2312"/>
              <a:cs typeface="仿宋_GB2312"/>
            </a:endParaRPr>
          </a:p>
        </p:txBody>
      </p:sp>
      <p:sp>
        <p:nvSpPr>
          <p:cNvPr id="496653" name="Text Box 13"/>
          <p:cNvSpPr txBox="1">
            <a:spLocks noChangeArrowheads="1"/>
          </p:cNvSpPr>
          <p:nvPr/>
        </p:nvSpPr>
        <p:spPr bwMode="auto">
          <a:xfrm>
            <a:off x="5133975" y="2832100"/>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工程设计</a:t>
            </a:r>
            <a:endParaRPr lang="zh-CN" altLang="en-US" sz="2200" b="1">
              <a:solidFill>
                <a:srgbClr val="000000"/>
              </a:solidFill>
              <a:latin typeface="仿宋_GB2312"/>
              <a:ea typeface="仿宋_GB2312"/>
              <a:cs typeface="仿宋_GB2312"/>
            </a:endParaRPr>
          </a:p>
        </p:txBody>
      </p:sp>
      <p:sp>
        <p:nvSpPr>
          <p:cNvPr id="496654" name="Text Box 14"/>
          <p:cNvSpPr txBox="1">
            <a:spLocks noChangeArrowheads="1"/>
          </p:cNvSpPr>
          <p:nvPr/>
        </p:nvSpPr>
        <p:spPr bwMode="auto">
          <a:xfrm>
            <a:off x="5791200" y="2819400"/>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施工安装</a:t>
            </a:r>
            <a:endParaRPr lang="zh-CN" altLang="en-US" sz="2200" b="1">
              <a:solidFill>
                <a:srgbClr val="000000"/>
              </a:solidFill>
              <a:latin typeface="仿宋_GB2312"/>
              <a:ea typeface="仿宋_GB2312"/>
              <a:cs typeface="仿宋_GB2312"/>
            </a:endParaRPr>
          </a:p>
        </p:txBody>
      </p:sp>
      <p:sp>
        <p:nvSpPr>
          <p:cNvPr id="496655" name="Text Box 15"/>
          <p:cNvSpPr txBox="1">
            <a:spLocks noChangeArrowheads="1"/>
          </p:cNvSpPr>
          <p:nvPr/>
        </p:nvSpPr>
        <p:spPr bwMode="auto">
          <a:xfrm>
            <a:off x="6378575" y="2986088"/>
            <a:ext cx="403225" cy="11064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试运转</a:t>
            </a:r>
            <a:endParaRPr lang="zh-CN" altLang="en-US" sz="2200" b="1">
              <a:solidFill>
                <a:srgbClr val="000000"/>
              </a:solidFill>
              <a:latin typeface="仿宋_GB2312"/>
              <a:ea typeface="仿宋_GB2312"/>
              <a:cs typeface="仿宋_GB2312"/>
            </a:endParaRPr>
          </a:p>
        </p:txBody>
      </p:sp>
      <p:sp>
        <p:nvSpPr>
          <p:cNvPr id="496656" name="Text Box 16"/>
          <p:cNvSpPr txBox="1">
            <a:spLocks noChangeArrowheads="1"/>
          </p:cNvSpPr>
          <p:nvPr/>
        </p:nvSpPr>
        <p:spPr bwMode="auto">
          <a:xfrm>
            <a:off x="7008813" y="2819400"/>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竣工验收</a:t>
            </a:r>
            <a:endParaRPr lang="zh-CN" altLang="en-US" sz="2200" b="1">
              <a:solidFill>
                <a:srgbClr val="000000"/>
              </a:solidFill>
              <a:latin typeface="仿宋_GB2312"/>
              <a:ea typeface="仿宋_GB2312"/>
              <a:cs typeface="仿宋_GB2312"/>
            </a:endParaRPr>
          </a:p>
        </p:txBody>
      </p:sp>
      <p:sp>
        <p:nvSpPr>
          <p:cNvPr id="496657" name="Text Box 17"/>
          <p:cNvSpPr txBox="1">
            <a:spLocks noChangeArrowheads="1"/>
          </p:cNvSpPr>
          <p:nvPr/>
        </p:nvSpPr>
        <p:spPr bwMode="auto">
          <a:xfrm>
            <a:off x="7673975" y="3152775"/>
            <a:ext cx="403225" cy="7715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投产</a:t>
            </a:r>
            <a:endParaRPr lang="zh-CN" altLang="en-US" sz="2200" b="1">
              <a:solidFill>
                <a:srgbClr val="000000"/>
              </a:solidFill>
              <a:latin typeface="仿宋_GB2312"/>
              <a:ea typeface="仿宋_GB2312"/>
              <a:cs typeface="仿宋_GB2312"/>
            </a:endParaRPr>
          </a:p>
        </p:txBody>
      </p:sp>
      <p:sp>
        <p:nvSpPr>
          <p:cNvPr id="496658" name="Text Box 18"/>
          <p:cNvSpPr txBox="1">
            <a:spLocks noChangeArrowheads="1"/>
          </p:cNvSpPr>
          <p:nvPr/>
        </p:nvSpPr>
        <p:spPr bwMode="auto">
          <a:xfrm>
            <a:off x="8361363" y="2652713"/>
            <a:ext cx="403225" cy="17764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项目后评价</a:t>
            </a:r>
            <a:endParaRPr lang="zh-CN" altLang="en-US" sz="2200" b="1">
              <a:solidFill>
                <a:srgbClr val="000000"/>
              </a:solidFill>
              <a:latin typeface="仿宋_GB2312"/>
              <a:ea typeface="仿宋_GB2312"/>
              <a:cs typeface="仿宋_GB2312"/>
            </a:endParaRPr>
          </a:p>
        </p:txBody>
      </p:sp>
      <p:sp>
        <p:nvSpPr>
          <p:cNvPr id="496659" name="Line 19"/>
          <p:cNvSpPr>
            <a:spLocks noChangeShapeType="1"/>
          </p:cNvSpPr>
          <p:nvPr/>
        </p:nvSpPr>
        <p:spPr bwMode="auto">
          <a:xfrm>
            <a:off x="685800" y="3492500"/>
            <a:ext cx="3460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0" name="Line 20"/>
          <p:cNvSpPr>
            <a:spLocks noChangeShapeType="1"/>
          </p:cNvSpPr>
          <p:nvPr/>
        </p:nvSpPr>
        <p:spPr bwMode="auto">
          <a:xfrm>
            <a:off x="1435100" y="3492500"/>
            <a:ext cx="3460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1" name="Line 21"/>
          <p:cNvSpPr>
            <a:spLocks noChangeShapeType="1"/>
          </p:cNvSpPr>
          <p:nvPr/>
        </p:nvSpPr>
        <p:spPr bwMode="auto">
          <a:xfrm>
            <a:off x="2209800" y="3505200"/>
            <a:ext cx="3460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2" name="Line 22"/>
          <p:cNvSpPr>
            <a:spLocks noChangeShapeType="1"/>
          </p:cNvSpPr>
          <p:nvPr/>
        </p:nvSpPr>
        <p:spPr bwMode="auto">
          <a:xfrm>
            <a:off x="2933700" y="3505200"/>
            <a:ext cx="2825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3" name="Line 23"/>
          <p:cNvSpPr>
            <a:spLocks noChangeShapeType="1"/>
          </p:cNvSpPr>
          <p:nvPr/>
        </p:nvSpPr>
        <p:spPr bwMode="auto">
          <a:xfrm>
            <a:off x="3619500" y="3530600"/>
            <a:ext cx="2444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4" name="Line 24"/>
          <p:cNvSpPr>
            <a:spLocks noChangeShapeType="1"/>
          </p:cNvSpPr>
          <p:nvPr/>
        </p:nvSpPr>
        <p:spPr bwMode="auto">
          <a:xfrm>
            <a:off x="4267200" y="3530600"/>
            <a:ext cx="2444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5" name="Line 25"/>
          <p:cNvSpPr>
            <a:spLocks noChangeShapeType="1"/>
          </p:cNvSpPr>
          <p:nvPr/>
        </p:nvSpPr>
        <p:spPr bwMode="auto">
          <a:xfrm>
            <a:off x="4914900" y="3530600"/>
            <a:ext cx="2190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6" name="Line 26"/>
          <p:cNvSpPr>
            <a:spLocks noChangeShapeType="1"/>
          </p:cNvSpPr>
          <p:nvPr/>
        </p:nvSpPr>
        <p:spPr bwMode="auto">
          <a:xfrm>
            <a:off x="5537200" y="3530600"/>
            <a:ext cx="2540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7" name="Line 27"/>
          <p:cNvSpPr>
            <a:spLocks noChangeShapeType="1"/>
          </p:cNvSpPr>
          <p:nvPr/>
        </p:nvSpPr>
        <p:spPr bwMode="auto">
          <a:xfrm>
            <a:off x="6194425" y="3530600"/>
            <a:ext cx="18415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8" name="Line 28"/>
          <p:cNvSpPr>
            <a:spLocks noChangeShapeType="1"/>
          </p:cNvSpPr>
          <p:nvPr/>
        </p:nvSpPr>
        <p:spPr bwMode="auto">
          <a:xfrm>
            <a:off x="6805613" y="3530600"/>
            <a:ext cx="2032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9" name="Line 29"/>
          <p:cNvSpPr>
            <a:spLocks noChangeShapeType="1"/>
          </p:cNvSpPr>
          <p:nvPr/>
        </p:nvSpPr>
        <p:spPr bwMode="auto">
          <a:xfrm>
            <a:off x="7432675" y="3530600"/>
            <a:ext cx="2413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70" name="Line 30"/>
          <p:cNvSpPr>
            <a:spLocks noChangeShapeType="1"/>
          </p:cNvSpPr>
          <p:nvPr/>
        </p:nvSpPr>
        <p:spPr bwMode="auto">
          <a:xfrm>
            <a:off x="8077200" y="3530600"/>
            <a:ext cx="284163"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71" name="Line 31"/>
          <p:cNvSpPr>
            <a:spLocks noChangeShapeType="1"/>
          </p:cNvSpPr>
          <p:nvPr/>
        </p:nvSpPr>
        <p:spPr bwMode="auto">
          <a:xfrm>
            <a:off x="1231900" y="4776788"/>
            <a:ext cx="203200" cy="773112"/>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72" name="Text Box 32"/>
          <p:cNvSpPr txBox="1">
            <a:spLocks noChangeArrowheads="1"/>
          </p:cNvSpPr>
          <p:nvPr/>
        </p:nvSpPr>
        <p:spPr bwMode="auto">
          <a:xfrm>
            <a:off x="1031875" y="5549900"/>
            <a:ext cx="16859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200" b="1">
                <a:solidFill>
                  <a:srgbClr val="0000FF"/>
                </a:solidFill>
                <a:latin typeface="仿宋_GB2312"/>
                <a:ea typeface="仿宋_GB2312"/>
                <a:cs typeface="仿宋_GB2312"/>
              </a:rPr>
              <a:t>也叫</a:t>
            </a:r>
            <a:r>
              <a:rPr lang="zh-CN" altLang="en-US" sz="2200" b="1">
                <a:solidFill>
                  <a:srgbClr val="0000FF"/>
                </a:solidFill>
                <a:ea typeface="仿宋_GB2312"/>
                <a:cs typeface="仿宋_GB2312"/>
              </a:rPr>
              <a:t>“</a:t>
            </a:r>
            <a:r>
              <a:rPr lang="zh-CN" altLang="en-US" sz="2200" b="1">
                <a:solidFill>
                  <a:srgbClr val="0000FF"/>
                </a:solidFill>
                <a:latin typeface="仿宋_GB2312"/>
                <a:ea typeface="仿宋_GB2312"/>
                <a:cs typeface="仿宋_GB2312"/>
              </a:rPr>
              <a:t>投资机会研究</a:t>
            </a:r>
            <a:r>
              <a:rPr lang="zh-CN" altLang="en-US" sz="2200" b="1">
                <a:solidFill>
                  <a:srgbClr val="0000FF"/>
                </a:solidFill>
                <a:ea typeface="仿宋_GB2312"/>
                <a:cs typeface="仿宋_GB2312"/>
              </a:rPr>
              <a:t>”</a:t>
            </a:r>
            <a:endParaRPr lang="zh-CN" altLang="en-US" sz="2200" b="1">
              <a:solidFill>
                <a:srgbClr val="0000FF"/>
              </a:solidFill>
              <a:latin typeface="仿宋_GB2312"/>
              <a:ea typeface="仿宋_GB2312"/>
              <a:cs typeface="仿宋_GB2312"/>
            </a:endParaRPr>
          </a:p>
        </p:txBody>
      </p:sp>
      <p:sp>
        <p:nvSpPr>
          <p:cNvPr id="496673" name="Line 33"/>
          <p:cNvSpPr>
            <a:spLocks noChangeShapeType="1"/>
          </p:cNvSpPr>
          <p:nvPr/>
        </p:nvSpPr>
        <p:spPr bwMode="auto">
          <a:xfrm>
            <a:off x="2717800" y="4441825"/>
            <a:ext cx="498475" cy="676275"/>
          </a:xfrm>
          <a:prstGeom prst="line">
            <a:avLst/>
          </a:prstGeom>
          <a:noFill/>
          <a:ln w="9525">
            <a:solidFill>
              <a:srgbClr val="99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74" name="Text Box 34"/>
          <p:cNvSpPr txBox="1">
            <a:spLocks noChangeArrowheads="1"/>
          </p:cNvSpPr>
          <p:nvPr/>
        </p:nvSpPr>
        <p:spPr bwMode="auto">
          <a:xfrm>
            <a:off x="3216275" y="5118100"/>
            <a:ext cx="2574925"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200" b="1">
                <a:solidFill>
                  <a:srgbClr val="FF0000"/>
                </a:solidFill>
                <a:latin typeface="仿宋_GB2312"/>
                <a:ea typeface="仿宋_GB2312"/>
                <a:cs typeface="仿宋_GB2312"/>
              </a:rPr>
              <a:t>可能分为</a:t>
            </a:r>
            <a:r>
              <a:rPr lang="zh-CN" altLang="en-US" sz="2200" b="1">
                <a:solidFill>
                  <a:srgbClr val="FF0000"/>
                </a:solidFill>
                <a:ea typeface="仿宋_GB2312"/>
                <a:cs typeface="仿宋_GB2312"/>
              </a:rPr>
              <a:t>“</a:t>
            </a:r>
            <a:r>
              <a:rPr lang="zh-CN" altLang="en-US" sz="2200" b="1">
                <a:solidFill>
                  <a:srgbClr val="FF0000"/>
                </a:solidFill>
                <a:latin typeface="仿宋_GB2312"/>
                <a:ea typeface="仿宋_GB2312"/>
                <a:cs typeface="仿宋_GB2312"/>
              </a:rPr>
              <a:t>初步可行性研究</a:t>
            </a:r>
            <a:r>
              <a:rPr lang="zh-CN" altLang="en-US" sz="2200" b="1">
                <a:solidFill>
                  <a:srgbClr val="FF0000"/>
                </a:solidFill>
                <a:ea typeface="仿宋_GB2312"/>
                <a:cs typeface="仿宋_GB2312"/>
              </a:rPr>
              <a:t>”</a:t>
            </a:r>
            <a:r>
              <a:rPr lang="zh-CN" altLang="en-US" sz="2200" b="1">
                <a:solidFill>
                  <a:srgbClr val="FF0000"/>
                </a:solidFill>
                <a:latin typeface="仿宋_GB2312"/>
                <a:ea typeface="仿宋_GB2312"/>
                <a:cs typeface="仿宋_GB2312"/>
              </a:rPr>
              <a:t>、</a:t>
            </a:r>
            <a:r>
              <a:rPr lang="zh-CN" altLang="en-US" sz="2200" b="1">
                <a:solidFill>
                  <a:srgbClr val="FF0000"/>
                </a:solidFill>
                <a:ea typeface="仿宋_GB2312"/>
                <a:cs typeface="仿宋_GB2312"/>
              </a:rPr>
              <a:t>“</a:t>
            </a:r>
            <a:r>
              <a:rPr lang="zh-CN" altLang="en-US" sz="2200" b="1">
                <a:solidFill>
                  <a:srgbClr val="FF0000"/>
                </a:solidFill>
                <a:latin typeface="仿宋_GB2312"/>
                <a:ea typeface="仿宋_GB2312"/>
                <a:cs typeface="仿宋_GB2312"/>
              </a:rPr>
              <a:t>详细可行性研究</a:t>
            </a:r>
            <a:r>
              <a:rPr lang="zh-CN" altLang="en-US" sz="2200" b="1">
                <a:solidFill>
                  <a:srgbClr val="FF0000"/>
                </a:solidFill>
                <a:ea typeface="仿宋_GB2312"/>
                <a:cs typeface="仿宋_GB2312"/>
              </a:rPr>
              <a:t>”</a:t>
            </a:r>
            <a:r>
              <a:rPr lang="zh-CN" altLang="en-US" sz="2200" b="1">
                <a:solidFill>
                  <a:srgbClr val="FF0000"/>
                </a:solidFill>
                <a:latin typeface="仿宋_GB2312"/>
                <a:ea typeface="仿宋_GB2312"/>
                <a:cs typeface="仿宋_GB2312"/>
              </a:rPr>
              <a:t>等类别</a:t>
            </a:r>
            <a:endParaRPr lang="zh-CN" altLang="en-US" sz="2200" b="1">
              <a:solidFill>
                <a:srgbClr val="FF0000"/>
              </a:solidFill>
              <a:latin typeface="仿宋_GB2312"/>
              <a:ea typeface="仿宋_GB2312"/>
              <a:cs typeface="仿宋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6659"/>
                                        </p:tgtEl>
                                        <p:attrNameLst>
                                          <p:attrName>style.visibility</p:attrName>
                                        </p:attrNameLst>
                                      </p:cBhvr>
                                      <p:to>
                                        <p:strVal val="visible"/>
                                      </p:to>
                                    </p:set>
                                    <p:animEffect transition="in" filter="blinds(horizontal)">
                                      <p:cBhvr>
                                        <p:cTn id="7" dur="500"/>
                                        <p:tgtEl>
                                          <p:spTgt spid="49665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96647"/>
                                        </p:tgtEl>
                                        <p:attrNameLst>
                                          <p:attrName>style.visibility</p:attrName>
                                        </p:attrNameLst>
                                      </p:cBhvr>
                                      <p:to>
                                        <p:strVal val="visible"/>
                                      </p:to>
                                    </p:set>
                                    <p:animEffect transition="in" filter="blinds(horizontal)">
                                      <p:cBhvr>
                                        <p:cTn id="10" dur="500"/>
                                        <p:tgtEl>
                                          <p:spTgt spid="496647"/>
                                        </p:tgtEl>
                                      </p:cBhvr>
                                    </p:animEffect>
                                  </p:childTnLst>
                                </p:cTn>
                              </p:par>
                              <p:par>
                                <p:cTn id="11" presetID="3" presetClass="entr" presetSubtype="10" fill="hold" nodeType="withEffect">
                                  <p:stCondLst>
                                    <p:cond delay="0"/>
                                  </p:stCondLst>
                                  <p:childTnLst>
                                    <p:set>
                                      <p:cBhvr>
                                        <p:cTn id="12" dur="1" fill="hold">
                                          <p:stCondLst>
                                            <p:cond delay="0"/>
                                          </p:stCondLst>
                                        </p:cTn>
                                        <p:tgtEl>
                                          <p:spTgt spid="496671"/>
                                        </p:tgtEl>
                                        <p:attrNameLst>
                                          <p:attrName>style.visibility</p:attrName>
                                        </p:attrNameLst>
                                      </p:cBhvr>
                                      <p:to>
                                        <p:strVal val="visible"/>
                                      </p:to>
                                    </p:set>
                                    <p:animEffect transition="in" filter="blinds(horizontal)">
                                      <p:cBhvr>
                                        <p:cTn id="13" dur="500"/>
                                        <p:tgtEl>
                                          <p:spTgt spid="49667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96672"/>
                                        </p:tgtEl>
                                        <p:attrNameLst>
                                          <p:attrName>style.visibility</p:attrName>
                                        </p:attrNameLst>
                                      </p:cBhvr>
                                      <p:to>
                                        <p:strVal val="visible"/>
                                      </p:to>
                                    </p:set>
                                    <p:animEffect transition="in" filter="blinds(horizontal)">
                                      <p:cBhvr>
                                        <p:cTn id="16" dur="500"/>
                                        <p:tgtEl>
                                          <p:spTgt spid="49667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96660"/>
                                        </p:tgtEl>
                                        <p:attrNameLst>
                                          <p:attrName>style.visibility</p:attrName>
                                        </p:attrNameLst>
                                      </p:cBhvr>
                                      <p:to>
                                        <p:strVal val="visible"/>
                                      </p:to>
                                    </p:set>
                                    <p:animEffect transition="in" filter="blinds(horizontal)">
                                      <p:cBhvr>
                                        <p:cTn id="21" dur="500"/>
                                        <p:tgtEl>
                                          <p:spTgt spid="496660"/>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96648"/>
                                        </p:tgtEl>
                                        <p:attrNameLst>
                                          <p:attrName>style.visibility</p:attrName>
                                        </p:attrNameLst>
                                      </p:cBhvr>
                                      <p:to>
                                        <p:strVal val="visible"/>
                                      </p:to>
                                    </p:set>
                                    <p:animEffect transition="in" filter="blinds(horizontal)">
                                      <p:cBhvr>
                                        <p:cTn id="24" dur="500"/>
                                        <p:tgtEl>
                                          <p:spTgt spid="496648"/>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496661"/>
                                        </p:tgtEl>
                                        <p:attrNameLst>
                                          <p:attrName>style.visibility</p:attrName>
                                        </p:attrNameLst>
                                      </p:cBhvr>
                                      <p:to>
                                        <p:strVal val="visible"/>
                                      </p:to>
                                    </p:set>
                                    <p:animEffect transition="in" filter="blinds(horizontal)">
                                      <p:cBhvr>
                                        <p:cTn id="29" dur="500"/>
                                        <p:tgtEl>
                                          <p:spTgt spid="496661"/>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496649"/>
                                        </p:tgtEl>
                                        <p:attrNameLst>
                                          <p:attrName>style.visibility</p:attrName>
                                        </p:attrNameLst>
                                      </p:cBhvr>
                                      <p:to>
                                        <p:strVal val="visible"/>
                                      </p:to>
                                    </p:set>
                                    <p:animEffect transition="in" filter="blinds(horizontal)">
                                      <p:cBhvr>
                                        <p:cTn id="32" dur="500"/>
                                        <p:tgtEl>
                                          <p:spTgt spid="496649"/>
                                        </p:tgtEl>
                                      </p:cBhvr>
                                    </p:animEffect>
                                  </p:childTnLst>
                                </p:cTn>
                              </p:par>
                              <p:par>
                                <p:cTn id="33" presetID="3" presetClass="entr" presetSubtype="10" fill="hold" nodeType="withEffect">
                                  <p:stCondLst>
                                    <p:cond delay="0"/>
                                  </p:stCondLst>
                                  <p:childTnLst>
                                    <p:set>
                                      <p:cBhvr>
                                        <p:cTn id="34" dur="1" fill="hold">
                                          <p:stCondLst>
                                            <p:cond delay="0"/>
                                          </p:stCondLst>
                                        </p:cTn>
                                        <p:tgtEl>
                                          <p:spTgt spid="496673"/>
                                        </p:tgtEl>
                                        <p:attrNameLst>
                                          <p:attrName>style.visibility</p:attrName>
                                        </p:attrNameLst>
                                      </p:cBhvr>
                                      <p:to>
                                        <p:strVal val="visible"/>
                                      </p:to>
                                    </p:set>
                                    <p:animEffect transition="in" filter="blinds(horizontal)">
                                      <p:cBhvr>
                                        <p:cTn id="35" dur="500"/>
                                        <p:tgtEl>
                                          <p:spTgt spid="496673"/>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496674"/>
                                        </p:tgtEl>
                                        <p:attrNameLst>
                                          <p:attrName>style.visibility</p:attrName>
                                        </p:attrNameLst>
                                      </p:cBhvr>
                                      <p:to>
                                        <p:strVal val="visible"/>
                                      </p:to>
                                    </p:set>
                                    <p:animEffect transition="in" filter="blinds(horizontal)">
                                      <p:cBhvr>
                                        <p:cTn id="38" dur="500"/>
                                        <p:tgtEl>
                                          <p:spTgt spid="496674"/>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96662"/>
                                        </p:tgtEl>
                                        <p:attrNameLst>
                                          <p:attrName>style.visibility</p:attrName>
                                        </p:attrNameLst>
                                      </p:cBhvr>
                                      <p:to>
                                        <p:strVal val="visible"/>
                                      </p:to>
                                    </p:set>
                                    <p:animEffect transition="in" filter="blinds(horizontal)">
                                      <p:cBhvr>
                                        <p:cTn id="43" dur="500"/>
                                        <p:tgtEl>
                                          <p:spTgt spid="496662"/>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496650"/>
                                        </p:tgtEl>
                                        <p:attrNameLst>
                                          <p:attrName>style.visibility</p:attrName>
                                        </p:attrNameLst>
                                      </p:cBhvr>
                                      <p:to>
                                        <p:strVal val="visible"/>
                                      </p:to>
                                    </p:set>
                                    <p:animEffect transition="in" filter="blinds(horizontal)">
                                      <p:cBhvr>
                                        <p:cTn id="46" dur="500"/>
                                        <p:tgtEl>
                                          <p:spTgt spid="496650"/>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496651"/>
                                        </p:tgtEl>
                                        <p:attrNameLst>
                                          <p:attrName>style.visibility</p:attrName>
                                        </p:attrNameLst>
                                      </p:cBhvr>
                                      <p:to>
                                        <p:strVal val="visible"/>
                                      </p:to>
                                    </p:set>
                                    <p:animEffect transition="in" filter="blinds(horizontal)">
                                      <p:cBhvr>
                                        <p:cTn id="49" dur="500"/>
                                        <p:tgtEl>
                                          <p:spTgt spid="496651"/>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496652"/>
                                        </p:tgtEl>
                                        <p:attrNameLst>
                                          <p:attrName>style.visibility</p:attrName>
                                        </p:attrNameLst>
                                      </p:cBhvr>
                                      <p:to>
                                        <p:strVal val="visible"/>
                                      </p:to>
                                    </p:set>
                                    <p:animEffect transition="in" filter="blinds(horizontal)">
                                      <p:cBhvr>
                                        <p:cTn id="52" dur="500"/>
                                        <p:tgtEl>
                                          <p:spTgt spid="496652"/>
                                        </p:tgtEl>
                                      </p:cBhvr>
                                    </p:animEffect>
                                  </p:childTnLst>
                                </p:cTn>
                              </p:par>
                              <p:par>
                                <p:cTn id="53" presetID="3" presetClass="entr" presetSubtype="10" fill="hold" nodeType="withEffect">
                                  <p:stCondLst>
                                    <p:cond delay="0"/>
                                  </p:stCondLst>
                                  <p:childTnLst>
                                    <p:set>
                                      <p:cBhvr>
                                        <p:cTn id="54" dur="1" fill="hold">
                                          <p:stCondLst>
                                            <p:cond delay="0"/>
                                          </p:stCondLst>
                                        </p:cTn>
                                        <p:tgtEl>
                                          <p:spTgt spid="496664"/>
                                        </p:tgtEl>
                                        <p:attrNameLst>
                                          <p:attrName>style.visibility</p:attrName>
                                        </p:attrNameLst>
                                      </p:cBhvr>
                                      <p:to>
                                        <p:strVal val="visible"/>
                                      </p:to>
                                    </p:set>
                                    <p:animEffect transition="in" filter="blinds(horizontal)">
                                      <p:cBhvr>
                                        <p:cTn id="55" dur="500"/>
                                        <p:tgtEl>
                                          <p:spTgt spid="496664"/>
                                        </p:tgtEl>
                                      </p:cBhvr>
                                    </p:animEffect>
                                  </p:childTnLst>
                                </p:cTn>
                              </p:par>
                              <p:par>
                                <p:cTn id="56" presetID="3" presetClass="entr" presetSubtype="10" fill="hold" nodeType="withEffect">
                                  <p:stCondLst>
                                    <p:cond delay="0"/>
                                  </p:stCondLst>
                                  <p:childTnLst>
                                    <p:set>
                                      <p:cBhvr>
                                        <p:cTn id="57" dur="1" fill="hold">
                                          <p:stCondLst>
                                            <p:cond delay="0"/>
                                          </p:stCondLst>
                                        </p:cTn>
                                        <p:tgtEl>
                                          <p:spTgt spid="496663"/>
                                        </p:tgtEl>
                                        <p:attrNameLst>
                                          <p:attrName>style.visibility</p:attrName>
                                        </p:attrNameLst>
                                      </p:cBhvr>
                                      <p:to>
                                        <p:strVal val="visible"/>
                                      </p:to>
                                    </p:set>
                                    <p:animEffect transition="in" filter="blinds(horizontal)">
                                      <p:cBhvr>
                                        <p:cTn id="58" dur="500"/>
                                        <p:tgtEl>
                                          <p:spTgt spid="496663"/>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496665"/>
                                        </p:tgtEl>
                                        <p:attrNameLst>
                                          <p:attrName>style.visibility</p:attrName>
                                        </p:attrNameLst>
                                      </p:cBhvr>
                                      <p:to>
                                        <p:strVal val="visible"/>
                                      </p:to>
                                    </p:set>
                                    <p:animEffect transition="in" filter="blinds(horizontal)">
                                      <p:cBhvr>
                                        <p:cTn id="63" dur="500"/>
                                        <p:tgtEl>
                                          <p:spTgt spid="496665"/>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496653"/>
                                        </p:tgtEl>
                                        <p:attrNameLst>
                                          <p:attrName>style.visibility</p:attrName>
                                        </p:attrNameLst>
                                      </p:cBhvr>
                                      <p:to>
                                        <p:strVal val="visible"/>
                                      </p:to>
                                    </p:set>
                                    <p:animEffect transition="in" filter="blinds(horizontal)">
                                      <p:cBhvr>
                                        <p:cTn id="66" dur="500"/>
                                        <p:tgtEl>
                                          <p:spTgt spid="496653"/>
                                        </p:tgtEl>
                                      </p:cBhvr>
                                    </p:animEffect>
                                  </p:childTnLst>
                                </p:cTn>
                              </p:par>
                              <p:par>
                                <p:cTn id="67" presetID="3" presetClass="entr" presetSubtype="10" fill="hold" nodeType="withEffect">
                                  <p:stCondLst>
                                    <p:cond delay="0"/>
                                  </p:stCondLst>
                                  <p:childTnLst>
                                    <p:set>
                                      <p:cBhvr>
                                        <p:cTn id="68" dur="1" fill="hold">
                                          <p:stCondLst>
                                            <p:cond delay="0"/>
                                          </p:stCondLst>
                                        </p:cTn>
                                        <p:tgtEl>
                                          <p:spTgt spid="496666"/>
                                        </p:tgtEl>
                                        <p:attrNameLst>
                                          <p:attrName>style.visibility</p:attrName>
                                        </p:attrNameLst>
                                      </p:cBhvr>
                                      <p:to>
                                        <p:strVal val="visible"/>
                                      </p:to>
                                    </p:set>
                                    <p:animEffect transition="in" filter="blinds(horizontal)">
                                      <p:cBhvr>
                                        <p:cTn id="69" dur="500"/>
                                        <p:tgtEl>
                                          <p:spTgt spid="496666"/>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496654"/>
                                        </p:tgtEl>
                                        <p:attrNameLst>
                                          <p:attrName>style.visibility</p:attrName>
                                        </p:attrNameLst>
                                      </p:cBhvr>
                                      <p:to>
                                        <p:strVal val="visible"/>
                                      </p:to>
                                    </p:set>
                                    <p:animEffect transition="in" filter="blinds(horizontal)">
                                      <p:cBhvr>
                                        <p:cTn id="72" dur="500"/>
                                        <p:tgtEl>
                                          <p:spTgt spid="496654"/>
                                        </p:tgtEl>
                                      </p:cBhvr>
                                    </p:animEffect>
                                  </p:childTnLst>
                                </p:cTn>
                              </p:par>
                              <p:par>
                                <p:cTn id="73" presetID="3" presetClass="entr" presetSubtype="10" fill="hold" nodeType="withEffect">
                                  <p:stCondLst>
                                    <p:cond delay="0"/>
                                  </p:stCondLst>
                                  <p:childTnLst>
                                    <p:set>
                                      <p:cBhvr>
                                        <p:cTn id="74" dur="1" fill="hold">
                                          <p:stCondLst>
                                            <p:cond delay="0"/>
                                          </p:stCondLst>
                                        </p:cTn>
                                        <p:tgtEl>
                                          <p:spTgt spid="496667"/>
                                        </p:tgtEl>
                                        <p:attrNameLst>
                                          <p:attrName>style.visibility</p:attrName>
                                        </p:attrNameLst>
                                      </p:cBhvr>
                                      <p:to>
                                        <p:strVal val="visible"/>
                                      </p:to>
                                    </p:set>
                                    <p:animEffect transition="in" filter="blinds(horizontal)">
                                      <p:cBhvr>
                                        <p:cTn id="75" dur="500"/>
                                        <p:tgtEl>
                                          <p:spTgt spid="496667"/>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496655"/>
                                        </p:tgtEl>
                                        <p:attrNameLst>
                                          <p:attrName>style.visibility</p:attrName>
                                        </p:attrNameLst>
                                      </p:cBhvr>
                                      <p:to>
                                        <p:strVal val="visible"/>
                                      </p:to>
                                    </p:set>
                                    <p:animEffect transition="in" filter="blinds(horizontal)">
                                      <p:cBhvr>
                                        <p:cTn id="78" dur="500"/>
                                        <p:tgtEl>
                                          <p:spTgt spid="496655"/>
                                        </p:tgtEl>
                                      </p:cBhvr>
                                    </p:animEffect>
                                  </p:childTnLst>
                                </p:cTn>
                              </p:par>
                              <p:par>
                                <p:cTn id="79" presetID="3" presetClass="entr" presetSubtype="10" fill="hold" nodeType="withEffect">
                                  <p:stCondLst>
                                    <p:cond delay="0"/>
                                  </p:stCondLst>
                                  <p:childTnLst>
                                    <p:set>
                                      <p:cBhvr>
                                        <p:cTn id="80" dur="1" fill="hold">
                                          <p:stCondLst>
                                            <p:cond delay="0"/>
                                          </p:stCondLst>
                                        </p:cTn>
                                        <p:tgtEl>
                                          <p:spTgt spid="496668"/>
                                        </p:tgtEl>
                                        <p:attrNameLst>
                                          <p:attrName>style.visibility</p:attrName>
                                        </p:attrNameLst>
                                      </p:cBhvr>
                                      <p:to>
                                        <p:strVal val="visible"/>
                                      </p:to>
                                    </p:set>
                                    <p:animEffect transition="in" filter="blinds(horizontal)">
                                      <p:cBhvr>
                                        <p:cTn id="81" dur="500"/>
                                        <p:tgtEl>
                                          <p:spTgt spid="496668"/>
                                        </p:tgtEl>
                                      </p:cBhvr>
                                    </p:animEffect>
                                  </p:childTnLst>
                                </p:cTn>
                              </p:par>
                              <p:par>
                                <p:cTn id="82" presetID="3" presetClass="entr" presetSubtype="10" fill="hold" grpId="0" nodeType="withEffect">
                                  <p:stCondLst>
                                    <p:cond delay="0"/>
                                  </p:stCondLst>
                                  <p:childTnLst>
                                    <p:set>
                                      <p:cBhvr>
                                        <p:cTn id="83" dur="1" fill="hold">
                                          <p:stCondLst>
                                            <p:cond delay="0"/>
                                          </p:stCondLst>
                                        </p:cTn>
                                        <p:tgtEl>
                                          <p:spTgt spid="496656"/>
                                        </p:tgtEl>
                                        <p:attrNameLst>
                                          <p:attrName>style.visibility</p:attrName>
                                        </p:attrNameLst>
                                      </p:cBhvr>
                                      <p:to>
                                        <p:strVal val="visible"/>
                                      </p:to>
                                    </p:set>
                                    <p:animEffect transition="in" filter="blinds(horizontal)">
                                      <p:cBhvr>
                                        <p:cTn id="84" dur="500"/>
                                        <p:tgtEl>
                                          <p:spTgt spid="496656"/>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nodeType="clickEffect">
                                  <p:stCondLst>
                                    <p:cond delay="0"/>
                                  </p:stCondLst>
                                  <p:childTnLst>
                                    <p:set>
                                      <p:cBhvr>
                                        <p:cTn id="88" dur="1" fill="hold">
                                          <p:stCondLst>
                                            <p:cond delay="0"/>
                                          </p:stCondLst>
                                        </p:cTn>
                                        <p:tgtEl>
                                          <p:spTgt spid="496669"/>
                                        </p:tgtEl>
                                        <p:attrNameLst>
                                          <p:attrName>style.visibility</p:attrName>
                                        </p:attrNameLst>
                                      </p:cBhvr>
                                      <p:to>
                                        <p:strVal val="visible"/>
                                      </p:to>
                                    </p:set>
                                    <p:animEffect transition="in" filter="blinds(horizontal)">
                                      <p:cBhvr>
                                        <p:cTn id="89" dur="500"/>
                                        <p:tgtEl>
                                          <p:spTgt spid="496669"/>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496657"/>
                                        </p:tgtEl>
                                        <p:attrNameLst>
                                          <p:attrName>style.visibility</p:attrName>
                                        </p:attrNameLst>
                                      </p:cBhvr>
                                      <p:to>
                                        <p:strVal val="visible"/>
                                      </p:to>
                                    </p:set>
                                    <p:animEffect transition="in" filter="blinds(horizontal)">
                                      <p:cBhvr>
                                        <p:cTn id="92" dur="500"/>
                                        <p:tgtEl>
                                          <p:spTgt spid="496657"/>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496670"/>
                                        </p:tgtEl>
                                        <p:attrNameLst>
                                          <p:attrName>style.visibility</p:attrName>
                                        </p:attrNameLst>
                                      </p:cBhvr>
                                      <p:to>
                                        <p:strVal val="visible"/>
                                      </p:to>
                                    </p:set>
                                    <p:animEffect transition="in" filter="blinds(horizontal)">
                                      <p:cBhvr>
                                        <p:cTn id="97" dur="500"/>
                                        <p:tgtEl>
                                          <p:spTgt spid="496670"/>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496658"/>
                                        </p:tgtEl>
                                        <p:attrNameLst>
                                          <p:attrName>style.visibility</p:attrName>
                                        </p:attrNameLst>
                                      </p:cBhvr>
                                      <p:to>
                                        <p:strVal val="visible"/>
                                      </p:to>
                                    </p:set>
                                    <p:animEffect transition="in" filter="blinds(horizontal)">
                                      <p:cBhvr>
                                        <p:cTn id="100" dur="500"/>
                                        <p:tgtEl>
                                          <p:spTgt spid="496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7" grpId="0" animBg="1"/>
      <p:bldP spid="496648" grpId="0" animBg="1"/>
      <p:bldP spid="496649" grpId="0" animBg="1"/>
      <p:bldP spid="496650" grpId="0" animBg="1"/>
      <p:bldP spid="496651" grpId="0" animBg="1"/>
      <p:bldP spid="496652" grpId="0" animBg="1"/>
      <p:bldP spid="496653" grpId="0" animBg="1"/>
      <p:bldP spid="496654" grpId="0" animBg="1"/>
      <p:bldP spid="496655" grpId="0" animBg="1"/>
      <p:bldP spid="496656" grpId="0" animBg="1"/>
      <p:bldP spid="496657" grpId="0" animBg="1"/>
      <p:bldP spid="496658" grpId="0" animBg="1"/>
      <p:bldP spid="496672" grpId="0"/>
      <p:bldP spid="49667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3DEAFD6-691B-48E2-A78A-6BEAD4A28FF7}" type="slidenum">
              <a:rPr lang="zh-CN" altLang="en-US" sz="1400" smtClean="0"/>
            </a:fld>
            <a:endParaRPr lang="en-US" altLang="zh-CN" sz="1400" smtClean="0"/>
          </a:p>
        </p:txBody>
      </p:sp>
      <p:sp>
        <p:nvSpPr>
          <p:cNvPr id="6147"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zh-CN" altLang="en-US" smtClean="0"/>
              <a:t>可行性研究的作用重大</a:t>
            </a:r>
            <a:endParaRPr lang="zh-CN" altLang="en-US" smtClean="0"/>
          </a:p>
        </p:txBody>
      </p:sp>
      <p:sp>
        <p:nvSpPr>
          <p:cNvPr id="6148" name="Rectangle 5"/>
          <p:cNvSpPr>
            <a:spLocks noGrp="1" noChangeArrowheads="1"/>
          </p:cNvSpPr>
          <p:nvPr>
            <p:ph type="body" idx="1"/>
          </p:nvPr>
        </p:nvSpPr>
        <p:spPr>
          <a:xfrm>
            <a:off x="0" y="977900"/>
            <a:ext cx="9144000" cy="5880100"/>
          </a:xfrm>
          <a:solidFill>
            <a:srgbClr val="99CCFF"/>
          </a:solidFill>
        </p:spPr>
        <p:txBody>
          <a:bodyPr/>
          <a:lstStyle/>
          <a:p>
            <a:pPr eaLnBrk="1" hangingPunct="1"/>
            <a:endParaRPr lang="zh-CN" altLang="en-US" smtClean="0"/>
          </a:p>
        </p:txBody>
      </p:sp>
      <p:grpSp>
        <p:nvGrpSpPr>
          <p:cNvPr id="6149" name="Group 6"/>
          <p:cNvGrpSpPr/>
          <p:nvPr/>
        </p:nvGrpSpPr>
        <p:grpSpPr bwMode="auto">
          <a:xfrm>
            <a:off x="1331913" y="1341438"/>
            <a:ext cx="6548437" cy="4102100"/>
            <a:chOff x="624" y="1120"/>
            <a:chExt cx="5104" cy="3137"/>
          </a:xfrm>
        </p:grpSpPr>
        <p:sp>
          <p:nvSpPr>
            <p:cNvPr id="6151" name="Text Box 7"/>
            <p:cNvSpPr txBox="1">
              <a:spLocks noChangeArrowheads="1"/>
            </p:cNvSpPr>
            <p:nvPr/>
          </p:nvSpPr>
          <p:spPr bwMode="auto">
            <a:xfrm>
              <a:off x="5208" y="3720"/>
              <a:ext cx="520" cy="53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000" b="1">
                  <a:solidFill>
                    <a:srgbClr val="000000"/>
                  </a:solidFill>
                  <a:latin typeface="楷体_GB2312"/>
                  <a:ea typeface="楷体_GB2312"/>
                  <a:cs typeface="楷体_GB2312"/>
                </a:rPr>
                <a:t>时间</a:t>
              </a:r>
              <a:endParaRPr lang="zh-CN" altLang="en-US" sz="2000" b="1">
                <a:solidFill>
                  <a:srgbClr val="000000"/>
                </a:solidFill>
                <a:latin typeface="楷体_GB2312"/>
                <a:ea typeface="楷体_GB2312"/>
                <a:cs typeface="楷体_GB2312"/>
              </a:endParaRPr>
            </a:p>
          </p:txBody>
        </p:sp>
        <p:grpSp>
          <p:nvGrpSpPr>
            <p:cNvPr id="6152" name="Group 8"/>
            <p:cNvGrpSpPr/>
            <p:nvPr/>
          </p:nvGrpSpPr>
          <p:grpSpPr bwMode="auto">
            <a:xfrm>
              <a:off x="624" y="1120"/>
              <a:ext cx="4832" cy="3080"/>
              <a:chOff x="624" y="1120"/>
              <a:chExt cx="4832" cy="3080"/>
            </a:xfrm>
          </p:grpSpPr>
          <p:sp>
            <p:nvSpPr>
              <p:cNvPr id="6153" name="Line 9"/>
              <p:cNvSpPr>
                <a:spLocks noChangeShapeType="1"/>
              </p:cNvSpPr>
              <p:nvPr/>
            </p:nvSpPr>
            <p:spPr bwMode="auto">
              <a:xfrm>
                <a:off x="632" y="3896"/>
                <a:ext cx="456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4" name="Line 10"/>
              <p:cNvSpPr>
                <a:spLocks noChangeShapeType="1"/>
              </p:cNvSpPr>
              <p:nvPr/>
            </p:nvSpPr>
            <p:spPr bwMode="auto">
              <a:xfrm flipV="1">
                <a:off x="632" y="1120"/>
                <a:ext cx="0" cy="277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5" name="Freeform 11"/>
              <p:cNvSpPr/>
              <p:nvPr/>
            </p:nvSpPr>
            <p:spPr bwMode="auto">
              <a:xfrm>
                <a:off x="624" y="1432"/>
                <a:ext cx="3672" cy="2464"/>
              </a:xfrm>
              <a:custGeom>
                <a:avLst/>
                <a:gdLst>
                  <a:gd name="T0" fmla="*/ 0 w 3672"/>
                  <a:gd name="T1" fmla="*/ 2464 h 2464"/>
                  <a:gd name="T2" fmla="*/ 1184 w 3672"/>
                  <a:gd name="T3" fmla="*/ 1864 h 2464"/>
                  <a:gd name="T4" fmla="*/ 2304 w 3672"/>
                  <a:gd name="T5" fmla="*/ 352 h 2464"/>
                  <a:gd name="T6" fmla="*/ 3672 w 3672"/>
                  <a:gd name="T7" fmla="*/ 0 h 2464"/>
                  <a:gd name="T8" fmla="*/ 0 60000 65536"/>
                  <a:gd name="T9" fmla="*/ 0 60000 65536"/>
                  <a:gd name="T10" fmla="*/ 0 60000 65536"/>
                  <a:gd name="T11" fmla="*/ 0 60000 65536"/>
                  <a:gd name="T12" fmla="*/ 0 w 3672"/>
                  <a:gd name="T13" fmla="*/ 0 h 2464"/>
                  <a:gd name="T14" fmla="*/ 3672 w 3672"/>
                  <a:gd name="T15" fmla="*/ 2464 h 2464"/>
                </a:gdLst>
                <a:ahLst/>
                <a:cxnLst>
                  <a:cxn ang="T8">
                    <a:pos x="T0" y="T1"/>
                  </a:cxn>
                  <a:cxn ang="T9">
                    <a:pos x="T2" y="T3"/>
                  </a:cxn>
                  <a:cxn ang="T10">
                    <a:pos x="T4" y="T5"/>
                  </a:cxn>
                  <a:cxn ang="T11">
                    <a:pos x="T6" y="T7"/>
                  </a:cxn>
                </a:cxnLst>
                <a:rect l="T12" t="T13" r="T14" b="T15"/>
                <a:pathLst>
                  <a:path w="3672" h="2464">
                    <a:moveTo>
                      <a:pt x="0" y="2464"/>
                    </a:moveTo>
                    <a:cubicBezTo>
                      <a:pt x="400" y="2340"/>
                      <a:pt x="800" y="2216"/>
                      <a:pt x="1184" y="1864"/>
                    </a:cubicBezTo>
                    <a:cubicBezTo>
                      <a:pt x="1568" y="1512"/>
                      <a:pt x="1889" y="663"/>
                      <a:pt x="2304" y="352"/>
                    </a:cubicBezTo>
                    <a:cubicBezTo>
                      <a:pt x="2719" y="41"/>
                      <a:pt x="3195" y="20"/>
                      <a:pt x="3672" y="0"/>
                    </a:cubicBezTo>
                  </a:path>
                </a:pathLst>
              </a:custGeom>
              <a:solidFill>
                <a:srgbClr val="99CCFF"/>
              </a:solidFill>
              <a:ln w="25400">
                <a:solidFill>
                  <a:srgbClr val="000000"/>
                </a:solidFill>
                <a:round/>
              </a:ln>
            </p:spPr>
            <p:txBody>
              <a:bodyPr/>
              <a:lstStyle/>
              <a:p>
                <a:endParaRPr lang="zh-CN" altLang="en-US"/>
              </a:p>
            </p:txBody>
          </p:sp>
          <p:sp>
            <p:nvSpPr>
              <p:cNvPr id="6156" name="Freeform 12"/>
              <p:cNvSpPr/>
              <p:nvPr/>
            </p:nvSpPr>
            <p:spPr bwMode="auto">
              <a:xfrm>
                <a:off x="632" y="1336"/>
                <a:ext cx="3896" cy="2448"/>
              </a:xfrm>
              <a:custGeom>
                <a:avLst/>
                <a:gdLst>
                  <a:gd name="T0" fmla="*/ 0 w 3896"/>
                  <a:gd name="T1" fmla="*/ 0 h 2448"/>
                  <a:gd name="T2" fmla="*/ 888 w 3896"/>
                  <a:gd name="T3" fmla="*/ 456 h 2448"/>
                  <a:gd name="T4" fmla="*/ 1960 w 3896"/>
                  <a:gd name="T5" fmla="*/ 1992 h 2448"/>
                  <a:gd name="T6" fmla="*/ 3896 w 3896"/>
                  <a:gd name="T7" fmla="*/ 2448 h 2448"/>
                  <a:gd name="T8" fmla="*/ 0 60000 65536"/>
                  <a:gd name="T9" fmla="*/ 0 60000 65536"/>
                  <a:gd name="T10" fmla="*/ 0 60000 65536"/>
                  <a:gd name="T11" fmla="*/ 0 60000 65536"/>
                  <a:gd name="T12" fmla="*/ 0 w 3896"/>
                  <a:gd name="T13" fmla="*/ 0 h 2448"/>
                  <a:gd name="T14" fmla="*/ 3896 w 3896"/>
                  <a:gd name="T15" fmla="*/ 2448 h 2448"/>
                </a:gdLst>
                <a:ahLst/>
                <a:cxnLst>
                  <a:cxn ang="T8">
                    <a:pos x="T0" y="T1"/>
                  </a:cxn>
                  <a:cxn ang="T9">
                    <a:pos x="T2" y="T3"/>
                  </a:cxn>
                  <a:cxn ang="T10">
                    <a:pos x="T4" y="T5"/>
                  </a:cxn>
                  <a:cxn ang="T11">
                    <a:pos x="T6" y="T7"/>
                  </a:cxn>
                </a:cxnLst>
                <a:rect l="T12" t="T13" r="T14" b="T15"/>
                <a:pathLst>
                  <a:path w="3896" h="2448">
                    <a:moveTo>
                      <a:pt x="0" y="0"/>
                    </a:moveTo>
                    <a:cubicBezTo>
                      <a:pt x="280" y="62"/>
                      <a:pt x="561" y="124"/>
                      <a:pt x="888" y="456"/>
                    </a:cubicBezTo>
                    <a:cubicBezTo>
                      <a:pt x="1215" y="788"/>
                      <a:pt x="1459" y="1660"/>
                      <a:pt x="1960" y="1992"/>
                    </a:cubicBezTo>
                    <a:cubicBezTo>
                      <a:pt x="2461" y="2324"/>
                      <a:pt x="3178" y="2386"/>
                      <a:pt x="3896" y="2448"/>
                    </a:cubicBezTo>
                  </a:path>
                </a:pathLst>
              </a:custGeom>
              <a:solidFill>
                <a:srgbClr val="99CCFF"/>
              </a:solidFill>
              <a:ln w="25400">
                <a:solidFill>
                  <a:srgbClr val="800000"/>
                </a:solidFill>
                <a:round/>
              </a:ln>
            </p:spPr>
            <p:txBody>
              <a:bodyPr/>
              <a:lstStyle/>
              <a:p>
                <a:endParaRPr lang="zh-CN" altLang="en-US"/>
              </a:p>
            </p:txBody>
          </p:sp>
          <p:sp>
            <p:nvSpPr>
              <p:cNvPr id="6157" name="Text Box 13"/>
              <p:cNvSpPr txBox="1">
                <a:spLocks noChangeArrowheads="1"/>
              </p:cNvSpPr>
              <p:nvPr/>
            </p:nvSpPr>
            <p:spPr bwMode="auto">
              <a:xfrm>
                <a:off x="4376" y="1320"/>
                <a:ext cx="1024" cy="30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000" b="1">
                    <a:solidFill>
                      <a:srgbClr val="000000"/>
                    </a:solidFill>
                    <a:latin typeface="楷体_GB2312"/>
                    <a:ea typeface="楷体_GB2312"/>
                    <a:cs typeface="楷体_GB2312"/>
                  </a:rPr>
                  <a:t>累计成本</a:t>
                </a:r>
                <a:endParaRPr lang="zh-CN" altLang="en-US" sz="2000" b="1">
                  <a:solidFill>
                    <a:srgbClr val="000000"/>
                  </a:solidFill>
                  <a:latin typeface="楷体_GB2312"/>
                  <a:ea typeface="楷体_GB2312"/>
                  <a:cs typeface="楷体_GB2312"/>
                </a:endParaRPr>
              </a:p>
            </p:txBody>
          </p:sp>
          <p:sp>
            <p:nvSpPr>
              <p:cNvPr id="6158" name="Text Box 14"/>
              <p:cNvSpPr txBox="1">
                <a:spLocks noChangeArrowheads="1"/>
              </p:cNvSpPr>
              <p:nvPr/>
            </p:nvSpPr>
            <p:spPr bwMode="auto">
              <a:xfrm>
                <a:off x="4431" y="3208"/>
                <a:ext cx="1025" cy="53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000" b="1">
                    <a:solidFill>
                      <a:srgbClr val="800000"/>
                    </a:solidFill>
                    <a:latin typeface="楷体_GB2312"/>
                    <a:ea typeface="楷体_GB2312"/>
                    <a:cs typeface="楷体_GB2312"/>
                  </a:rPr>
                  <a:t>降低风险的可能性</a:t>
                </a:r>
                <a:endParaRPr lang="zh-CN" altLang="en-US" sz="2000" b="1">
                  <a:solidFill>
                    <a:srgbClr val="800000"/>
                  </a:solidFill>
                  <a:latin typeface="楷体_GB2312"/>
                  <a:ea typeface="楷体_GB2312"/>
                  <a:cs typeface="楷体_GB2312"/>
                </a:endParaRPr>
              </a:p>
            </p:txBody>
          </p:sp>
          <p:sp>
            <p:nvSpPr>
              <p:cNvPr id="6159" name="Line 15"/>
              <p:cNvSpPr>
                <a:spLocks noChangeShapeType="1"/>
              </p:cNvSpPr>
              <p:nvPr/>
            </p:nvSpPr>
            <p:spPr bwMode="auto">
              <a:xfrm>
                <a:off x="880" y="1120"/>
                <a:ext cx="0" cy="2776"/>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6160" name="Text Box 16"/>
              <p:cNvSpPr txBox="1">
                <a:spLocks noChangeArrowheads="1"/>
              </p:cNvSpPr>
              <p:nvPr/>
            </p:nvSpPr>
            <p:spPr bwMode="auto">
              <a:xfrm>
                <a:off x="631" y="3896"/>
                <a:ext cx="1362" cy="30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000" b="1">
                    <a:solidFill>
                      <a:srgbClr val="000000"/>
                    </a:solidFill>
                    <a:latin typeface="楷体_GB2312"/>
                    <a:ea typeface="楷体_GB2312"/>
                    <a:cs typeface="楷体_GB2312"/>
                  </a:rPr>
                  <a:t>可行性研究</a:t>
                </a:r>
                <a:endParaRPr lang="zh-CN" altLang="en-US" sz="2000" b="1">
                  <a:solidFill>
                    <a:srgbClr val="000000"/>
                  </a:solidFill>
                  <a:latin typeface="楷体_GB2312"/>
                  <a:ea typeface="楷体_GB2312"/>
                  <a:cs typeface="楷体_GB2312"/>
                </a:endParaRPr>
              </a:p>
            </p:txBody>
          </p:sp>
        </p:grpSp>
      </p:grpSp>
      <p:sp>
        <p:nvSpPr>
          <p:cNvPr id="6150" name="Text Box 17"/>
          <p:cNvSpPr txBox="1">
            <a:spLocks noChangeArrowheads="1"/>
          </p:cNvSpPr>
          <p:nvPr/>
        </p:nvSpPr>
        <p:spPr bwMode="auto">
          <a:xfrm>
            <a:off x="546100" y="5676900"/>
            <a:ext cx="7915275" cy="100488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400" b="1">
                <a:solidFill>
                  <a:srgbClr val="800000"/>
                </a:solidFill>
                <a:latin typeface="楷体_GB2312"/>
                <a:ea typeface="楷体_GB2312"/>
                <a:cs typeface="楷体_GB2312"/>
              </a:rPr>
              <a:t>据专家测算，在项目前期可以控制</a:t>
            </a:r>
            <a:r>
              <a:rPr lang="en-US" altLang="zh-CN" sz="2400" b="1">
                <a:solidFill>
                  <a:srgbClr val="800000"/>
                </a:solidFill>
                <a:latin typeface="楷体_GB2312"/>
                <a:ea typeface="楷体_GB2312"/>
                <a:cs typeface="楷体_GB2312"/>
              </a:rPr>
              <a:t>70%</a:t>
            </a:r>
            <a:r>
              <a:rPr lang="zh-CN" altLang="en-US" sz="2400" b="1">
                <a:solidFill>
                  <a:srgbClr val="800000"/>
                </a:solidFill>
                <a:latin typeface="楷体_GB2312"/>
                <a:ea typeface="楷体_GB2312"/>
                <a:cs typeface="楷体_GB2312"/>
              </a:rPr>
              <a:t>～</a:t>
            </a:r>
            <a:r>
              <a:rPr lang="en-US" altLang="zh-CN" sz="2400" b="1">
                <a:solidFill>
                  <a:srgbClr val="800000"/>
                </a:solidFill>
                <a:latin typeface="楷体_GB2312"/>
                <a:ea typeface="楷体_GB2312"/>
                <a:cs typeface="楷体_GB2312"/>
              </a:rPr>
              <a:t>85%</a:t>
            </a:r>
            <a:r>
              <a:rPr lang="zh-CN" altLang="en-US" sz="2400" b="1">
                <a:solidFill>
                  <a:srgbClr val="800000"/>
                </a:solidFill>
                <a:latin typeface="楷体_GB2312"/>
                <a:ea typeface="楷体_GB2312"/>
                <a:cs typeface="楷体_GB2312"/>
              </a:rPr>
              <a:t>的工程投资</a:t>
            </a:r>
            <a:endParaRPr lang="zh-CN" altLang="en-US" sz="2400" b="1">
              <a:solidFill>
                <a:srgbClr val="800000"/>
              </a:solidFill>
              <a:latin typeface="楷体_GB2312"/>
              <a:ea typeface="楷体_GB2312"/>
              <a:cs typeface="楷体_GB2312"/>
            </a:endParaRPr>
          </a:p>
          <a:p>
            <a:pPr>
              <a:spcBef>
                <a:spcPct val="50000"/>
              </a:spcBef>
              <a:buClrTx/>
              <a:buSzTx/>
              <a:buFontTx/>
              <a:buNone/>
            </a:pPr>
            <a:r>
              <a:rPr lang="zh-CN" altLang="en-US" sz="2400" b="1">
                <a:solidFill>
                  <a:srgbClr val="800000"/>
                </a:solidFill>
                <a:latin typeface="楷体_GB2312"/>
                <a:ea typeface="楷体_GB2312"/>
                <a:cs typeface="楷体_GB2312"/>
              </a:rPr>
              <a:t>后面的施工、材料、劳务只能控制</a:t>
            </a:r>
            <a:r>
              <a:rPr lang="en-US" altLang="zh-CN" sz="2400" b="1">
                <a:solidFill>
                  <a:srgbClr val="800000"/>
                </a:solidFill>
                <a:latin typeface="楷体_GB2312"/>
                <a:ea typeface="楷体_GB2312"/>
                <a:cs typeface="楷体_GB2312"/>
              </a:rPr>
              <a:t>15%</a:t>
            </a:r>
            <a:r>
              <a:rPr lang="zh-CN" altLang="en-US" sz="2400" b="1">
                <a:solidFill>
                  <a:srgbClr val="800000"/>
                </a:solidFill>
                <a:latin typeface="楷体_GB2312"/>
                <a:ea typeface="楷体_GB2312"/>
                <a:cs typeface="楷体_GB2312"/>
              </a:rPr>
              <a:t>～</a:t>
            </a:r>
            <a:r>
              <a:rPr lang="en-US" altLang="zh-CN" sz="2400" b="1">
                <a:solidFill>
                  <a:srgbClr val="800000"/>
                </a:solidFill>
                <a:latin typeface="楷体_GB2312"/>
                <a:ea typeface="楷体_GB2312"/>
                <a:cs typeface="楷体_GB2312"/>
              </a:rPr>
              <a:t>35%</a:t>
            </a:r>
            <a:r>
              <a:rPr lang="zh-CN" altLang="en-US" sz="2400" b="1">
                <a:solidFill>
                  <a:srgbClr val="800000"/>
                </a:solidFill>
                <a:latin typeface="楷体_GB2312"/>
                <a:ea typeface="楷体_GB2312"/>
                <a:cs typeface="楷体_GB2312"/>
              </a:rPr>
              <a:t>的工程投资</a:t>
            </a:r>
            <a:endParaRPr lang="zh-CN" altLang="en-US" sz="2400" b="1">
              <a:solidFill>
                <a:srgbClr val="800000"/>
              </a:solidFill>
              <a:latin typeface="楷体_GB2312"/>
              <a:ea typeface="楷体_GB2312"/>
              <a:cs typeface="楷体_GB231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9055449-9CD1-4528-886C-DF51A1BC7B7C}" type="slidenum">
              <a:rPr lang="zh-CN" altLang="en-US" sz="1400" smtClean="0"/>
            </a:fld>
            <a:endParaRPr lang="en-US" altLang="zh-CN" sz="1400" smtClean="0"/>
          </a:p>
        </p:txBody>
      </p:sp>
      <p:sp>
        <p:nvSpPr>
          <p:cNvPr id="7171" name="Rectangle 2"/>
          <p:cNvSpPr>
            <a:spLocks noGrp="1" noRot="1" noChangeArrowheads="1"/>
          </p:cNvSpPr>
          <p:nvPr>
            <p:ph type="title"/>
          </p:nvPr>
        </p:nvSpPr>
        <p:spPr/>
        <p:txBody>
          <a:bodyPr/>
          <a:lstStyle/>
          <a:p>
            <a:pPr eaLnBrk="1" hangingPunct="1"/>
            <a:r>
              <a:rPr lang="zh-CN" altLang="en-US" smtClean="0"/>
              <a:t>可行性研究报告的内容</a:t>
            </a:r>
            <a:endParaRPr lang="zh-CN" altLang="en-US" smtClean="0"/>
          </a:p>
        </p:txBody>
      </p:sp>
      <p:sp>
        <p:nvSpPr>
          <p:cNvPr id="7172" name="Rectangle 3"/>
          <p:cNvSpPr>
            <a:spLocks noGrp="1" noRot="1" noChangeArrowheads="1"/>
          </p:cNvSpPr>
          <p:nvPr>
            <p:ph type="body" idx="1"/>
          </p:nvPr>
        </p:nvSpPr>
        <p:spPr/>
        <p:txBody>
          <a:bodyPr/>
          <a:lstStyle/>
          <a:p>
            <a:pPr algn="just" eaLnBrk="1" hangingPunct="1">
              <a:lnSpc>
                <a:spcPct val="80000"/>
              </a:lnSpc>
            </a:pPr>
            <a:r>
              <a:rPr lang="zh-CN" altLang="en-US" sz="2800" b="1" smtClean="0">
                <a:solidFill>
                  <a:srgbClr val="CC0000"/>
                </a:solidFill>
                <a:latin typeface="宋体" panose="02010600030101010101" pitchFamily="2" charset="-122"/>
              </a:rPr>
              <a:t>总论</a:t>
            </a:r>
            <a:endParaRPr lang="zh-CN" altLang="en-US" sz="2800" b="1" smtClean="0">
              <a:solidFill>
                <a:srgbClr val="CC0000"/>
              </a:solidFill>
              <a:latin typeface="宋体" panose="02010600030101010101" pitchFamily="2" charset="-122"/>
            </a:endParaRPr>
          </a:p>
          <a:p>
            <a:pPr algn="just" eaLnBrk="1" hangingPunct="1">
              <a:lnSpc>
                <a:spcPct val="80000"/>
              </a:lnSpc>
            </a:pPr>
            <a:r>
              <a:rPr lang="zh-CN" altLang="en-US" sz="2800" b="1" smtClean="0">
                <a:solidFill>
                  <a:srgbClr val="CC0000"/>
                </a:solidFill>
                <a:latin typeface="宋体" panose="02010600030101010101" pitchFamily="2" charset="-122"/>
              </a:rPr>
              <a:t>市场研究</a:t>
            </a:r>
            <a:endParaRPr lang="zh-CN" altLang="en-US" sz="2800" b="1" smtClean="0">
              <a:solidFill>
                <a:srgbClr val="CC0000"/>
              </a:solidFill>
              <a:latin typeface="宋体" panose="02010600030101010101" pitchFamily="2" charset="-122"/>
            </a:endParaRPr>
          </a:p>
          <a:p>
            <a:pPr algn="just" eaLnBrk="1" hangingPunct="1">
              <a:lnSpc>
                <a:spcPct val="80000"/>
              </a:lnSpc>
            </a:pPr>
            <a:r>
              <a:rPr lang="zh-CN" altLang="en-US" sz="2800" b="1" smtClean="0">
                <a:solidFill>
                  <a:srgbClr val="CC0000"/>
                </a:solidFill>
                <a:latin typeface="宋体" panose="02010600030101010101" pitchFamily="2" charset="-122"/>
              </a:rPr>
              <a:t>投资条件与项目选址</a:t>
            </a:r>
            <a:endParaRPr lang="zh-CN" altLang="en-US" sz="2800" b="1" smtClean="0">
              <a:solidFill>
                <a:srgbClr val="CC0000"/>
              </a:solidFill>
              <a:latin typeface="宋体" panose="02010600030101010101" pitchFamily="2" charset="-122"/>
            </a:endParaRPr>
          </a:p>
          <a:p>
            <a:pPr algn="just" eaLnBrk="1" hangingPunct="1">
              <a:lnSpc>
                <a:spcPct val="80000"/>
              </a:lnSpc>
            </a:pPr>
            <a:r>
              <a:rPr lang="zh-CN" altLang="en-US" sz="2800" b="1" smtClean="0">
                <a:solidFill>
                  <a:srgbClr val="CC0000"/>
                </a:solidFill>
                <a:latin typeface="宋体" panose="02010600030101010101" pitchFamily="2" charset="-122"/>
              </a:rPr>
              <a:t>技术方案</a:t>
            </a:r>
            <a:endParaRPr lang="zh-CN" altLang="en-US" sz="2800" b="1" smtClean="0">
              <a:solidFill>
                <a:srgbClr val="CC0000"/>
              </a:solidFill>
              <a:latin typeface="宋体" panose="02010600030101010101" pitchFamily="2" charset="-122"/>
            </a:endParaRPr>
          </a:p>
          <a:p>
            <a:pPr algn="just" eaLnBrk="1" hangingPunct="1">
              <a:lnSpc>
                <a:spcPct val="80000"/>
              </a:lnSpc>
            </a:pPr>
            <a:r>
              <a:rPr lang="zh-CN" altLang="en-US" sz="2800" b="1" smtClean="0">
                <a:latin typeface="宋体" panose="02010600030101010101" pitchFamily="2" charset="-122"/>
              </a:rPr>
              <a:t>环境影响</a:t>
            </a:r>
            <a:endParaRPr lang="zh-CN" altLang="en-US" sz="2800" b="1" smtClean="0">
              <a:latin typeface="宋体" panose="02010600030101010101" pitchFamily="2" charset="-122"/>
            </a:endParaRPr>
          </a:p>
          <a:p>
            <a:pPr algn="just" eaLnBrk="1" hangingPunct="1">
              <a:lnSpc>
                <a:spcPct val="80000"/>
              </a:lnSpc>
            </a:pPr>
            <a:r>
              <a:rPr lang="zh-CN" altLang="en-US" sz="2800" b="1" smtClean="0">
                <a:latin typeface="宋体" panose="02010600030101010101" pitchFamily="2" charset="-122"/>
              </a:rPr>
              <a:t>项目组织</a:t>
            </a:r>
            <a:r>
              <a:rPr lang="zh-CN" altLang="en-US" sz="2800" smtClean="0"/>
              <a:t>、</a:t>
            </a:r>
            <a:r>
              <a:rPr lang="zh-CN" altLang="en-US" sz="2800" b="1" smtClean="0">
                <a:latin typeface="宋体" panose="02010600030101010101" pitchFamily="2" charset="-122"/>
              </a:rPr>
              <a:t>实施与进度安排</a:t>
            </a:r>
            <a:endParaRPr lang="zh-CN" altLang="en-US" sz="2800" b="1" smtClean="0">
              <a:latin typeface="宋体" panose="02010600030101010101" pitchFamily="2" charset="-122"/>
            </a:endParaRPr>
          </a:p>
          <a:p>
            <a:pPr algn="just" eaLnBrk="1" hangingPunct="1">
              <a:lnSpc>
                <a:spcPct val="80000"/>
              </a:lnSpc>
            </a:pPr>
            <a:r>
              <a:rPr lang="zh-CN" altLang="en-US" sz="2800" b="1" smtClean="0">
                <a:latin typeface="宋体" panose="02010600030101010101" pitchFamily="2" charset="-122"/>
              </a:rPr>
              <a:t>财务分析</a:t>
            </a:r>
            <a:endParaRPr lang="zh-CN" altLang="en-US" sz="2800" smtClean="0">
              <a:latin typeface="宋体" panose="02010600030101010101" pitchFamily="2" charset="-122"/>
            </a:endParaRPr>
          </a:p>
          <a:p>
            <a:pPr algn="just" eaLnBrk="1" hangingPunct="1">
              <a:lnSpc>
                <a:spcPct val="80000"/>
              </a:lnSpc>
            </a:pPr>
            <a:r>
              <a:rPr lang="zh-CN" altLang="en-US" sz="2800" b="1" smtClean="0">
                <a:latin typeface="宋体" panose="02010600030101010101" pitchFamily="2" charset="-122"/>
              </a:rPr>
              <a:t>国民经济与社会效益分析</a:t>
            </a:r>
            <a:endParaRPr lang="zh-CN" altLang="en-US" sz="2800" b="1" smtClean="0">
              <a:latin typeface="宋体" panose="02010600030101010101" pitchFamily="2" charset="-122"/>
            </a:endParaRPr>
          </a:p>
          <a:p>
            <a:pPr algn="just" eaLnBrk="1" hangingPunct="1">
              <a:lnSpc>
                <a:spcPct val="80000"/>
              </a:lnSpc>
            </a:pPr>
            <a:r>
              <a:rPr lang="zh-CN" altLang="en-US" sz="2800" b="1" smtClean="0">
                <a:latin typeface="宋体" panose="02010600030101010101" pitchFamily="2" charset="-122"/>
              </a:rPr>
              <a:t>结论与建议</a:t>
            </a:r>
            <a:endParaRPr lang="zh-CN" altLang="en-US" sz="3600" b="1" smtClean="0">
              <a:latin typeface="宋体" panose="02010600030101010101" pitchFamily="2" charset="-122"/>
            </a:endParaRPr>
          </a:p>
          <a:p>
            <a:pPr eaLnBrk="1" hangingPunct="1">
              <a:lnSpc>
                <a:spcPct val="80000"/>
              </a:lnSpc>
            </a:pPr>
            <a:endParaRPr lang="zh-CN" altLang="en-US" sz="280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B45B10E-5C40-429C-8430-0317C5E3AB14}" type="slidenum">
              <a:rPr lang="zh-CN" altLang="en-US" sz="1400" smtClean="0"/>
            </a:fld>
            <a:endParaRPr lang="en-US" altLang="zh-CN" sz="1400" smtClean="0"/>
          </a:p>
        </p:txBody>
      </p:sp>
      <p:sp>
        <p:nvSpPr>
          <p:cNvPr id="8195"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zh-CN" altLang="en-US" smtClean="0"/>
              <a:t>可行性研究的三条腿</a:t>
            </a:r>
            <a:endParaRPr lang="zh-CN" altLang="en-US" smtClean="0"/>
          </a:p>
        </p:txBody>
      </p:sp>
      <p:sp>
        <p:nvSpPr>
          <p:cNvPr id="8196" name="Rectangle 5"/>
          <p:cNvSpPr>
            <a:spLocks noGrp="1" noChangeArrowheads="1"/>
          </p:cNvSpPr>
          <p:nvPr>
            <p:ph type="body" idx="1"/>
          </p:nvPr>
        </p:nvSpPr>
        <p:spPr>
          <a:xfrm>
            <a:off x="0" y="977900"/>
            <a:ext cx="9144000" cy="5880100"/>
          </a:xfrm>
          <a:solidFill>
            <a:srgbClr val="99CCFF"/>
          </a:solidFill>
        </p:spPr>
        <p:txBody>
          <a:bodyPr/>
          <a:lstStyle/>
          <a:p>
            <a:pPr eaLnBrk="1" hangingPunct="1">
              <a:buFont typeface="Wingdings" panose="05000000000000000000" pitchFamily="2" charset="2"/>
              <a:buNone/>
            </a:pPr>
            <a:endParaRPr lang="zh-CN" altLang="en-US" smtClean="0"/>
          </a:p>
        </p:txBody>
      </p:sp>
      <p:sp>
        <p:nvSpPr>
          <p:cNvPr id="8197" name="Text Box 6"/>
          <p:cNvSpPr txBox="1">
            <a:spLocks noChangeArrowheads="1"/>
          </p:cNvSpPr>
          <p:nvPr/>
        </p:nvSpPr>
        <p:spPr bwMode="auto">
          <a:xfrm>
            <a:off x="3228975" y="2095500"/>
            <a:ext cx="2879725" cy="588963"/>
          </a:xfrm>
          <a:prstGeom prst="rect">
            <a:avLst/>
          </a:prstGeom>
          <a:solidFill>
            <a:srgbClr val="99CCFF"/>
          </a:solidFill>
          <a:ln w="9525">
            <a:solidFill>
              <a:srgbClr val="000000"/>
            </a:solidFill>
            <a:miter lim="800000"/>
          </a:ln>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b="1">
                <a:solidFill>
                  <a:srgbClr val="000000"/>
                </a:solidFill>
                <a:latin typeface="楷体_GB2312"/>
                <a:ea typeface="楷体_GB2312"/>
                <a:cs typeface="楷体_GB2312"/>
              </a:rPr>
              <a:t>可行性研究</a:t>
            </a:r>
            <a:endParaRPr lang="zh-CN" altLang="en-US" b="1">
              <a:solidFill>
                <a:srgbClr val="000000"/>
              </a:solidFill>
              <a:latin typeface="楷体_GB2312"/>
              <a:ea typeface="楷体_GB2312"/>
              <a:cs typeface="楷体_GB2312"/>
            </a:endParaRPr>
          </a:p>
        </p:txBody>
      </p:sp>
      <p:sp>
        <p:nvSpPr>
          <p:cNvPr id="500743" name="Text Box 7"/>
          <p:cNvSpPr txBox="1">
            <a:spLocks noChangeArrowheads="1"/>
          </p:cNvSpPr>
          <p:nvPr/>
        </p:nvSpPr>
        <p:spPr bwMode="auto">
          <a:xfrm>
            <a:off x="790575" y="3911600"/>
            <a:ext cx="2155825" cy="528638"/>
          </a:xfrm>
          <a:prstGeom prst="rect">
            <a:avLst/>
          </a:prstGeom>
          <a:solidFill>
            <a:srgbClr val="99CCFF"/>
          </a:solidFill>
          <a:ln w="9525">
            <a:solidFill>
              <a:srgbClr val="000000"/>
            </a:solidFill>
            <a:miter lim="800000"/>
          </a:ln>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800" b="1">
                <a:solidFill>
                  <a:srgbClr val="FF0000"/>
                </a:solidFill>
                <a:latin typeface="楷体_GB2312"/>
                <a:ea typeface="楷体_GB2312"/>
                <a:cs typeface="楷体_GB2312"/>
              </a:rPr>
              <a:t>市场研究</a:t>
            </a:r>
            <a:endParaRPr lang="en-US" altLang="zh-CN" sz="2800" b="1">
              <a:solidFill>
                <a:srgbClr val="FF0000"/>
              </a:solidFill>
              <a:latin typeface="楷体_GB2312"/>
              <a:ea typeface="楷体_GB2312"/>
              <a:cs typeface="楷体_GB2312"/>
            </a:endParaRPr>
          </a:p>
        </p:txBody>
      </p:sp>
      <p:sp>
        <p:nvSpPr>
          <p:cNvPr id="500744" name="Text Box 8"/>
          <p:cNvSpPr txBox="1">
            <a:spLocks noChangeArrowheads="1"/>
          </p:cNvSpPr>
          <p:nvPr/>
        </p:nvSpPr>
        <p:spPr bwMode="auto">
          <a:xfrm>
            <a:off x="3479800" y="3911600"/>
            <a:ext cx="2155825" cy="528638"/>
          </a:xfrm>
          <a:prstGeom prst="rect">
            <a:avLst/>
          </a:prstGeom>
          <a:solidFill>
            <a:srgbClr val="99CCFF"/>
          </a:solidFill>
          <a:ln w="9525">
            <a:solidFill>
              <a:srgbClr val="000000"/>
            </a:solidFill>
            <a:miter lim="800000"/>
          </a:ln>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800" b="1">
                <a:solidFill>
                  <a:srgbClr val="FF0000"/>
                </a:solidFill>
                <a:latin typeface="楷体_GB2312"/>
                <a:ea typeface="楷体_GB2312"/>
                <a:cs typeface="楷体_GB2312"/>
              </a:rPr>
              <a:t>技术研究</a:t>
            </a:r>
            <a:endParaRPr lang="zh-CN" altLang="en-US" sz="2800" b="1">
              <a:solidFill>
                <a:srgbClr val="FF0000"/>
              </a:solidFill>
              <a:latin typeface="楷体_GB2312"/>
              <a:ea typeface="楷体_GB2312"/>
              <a:cs typeface="楷体_GB2312"/>
            </a:endParaRPr>
          </a:p>
        </p:txBody>
      </p:sp>
      <p:sp>
        <p:nvSpPr>
          <p:cNvPr id="500745" name="Text Box 9"/>
          <p:cNvSpPr txBox="1">
            <a:spLocks noChangeArrowheads="1"/>
          </p:cNvSpPr>
          <p:nvPr/>
        </p:nvSpPr>
        <p:spPr bwMode="auto">
          <a:xfrm>
            <a:off x="6302375" y="3911600"/>
            <a:ext cx="2155825" cy="528638"/>
          </a:xfrm>
          <a:prstGeom prst="rect">
            <a:avLst/>
          </a:prstGeom>
          <a:solidFill>
            <a:srgbClr val="99CCFF"/>
          </a:solidFill>
          <a:ln w="9525">
            <a:solidFill>
              <a:srgbClr val="000000"/>
            </a:solidFill>
            <a:miter lim="800000"/>
          </a:ln>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800" b="1">
                <a:solidFill>
                  <a:srgbClr val="FF0000"/>
                </a:solidFill>
                <a:latin typeface="楷体_GB2312"/>
                <a:ea typeface="楷体_GB2312"/>
                <a:cs typeface="楷体_GB2312"/>
              </a:rPr>
              <a:t>经济评价</a:t>
            </a:r>
            <a:endParaRPr lang="zh-CN" altLang="en-US" sz="2800" b="1">
              <a:solidFill>
                <a:srgbClr val="FF0000"/>
              </a:solidFill>
              <a:latin typeface="楷体_GB2312"/>
              <a:ea typeface="楷体_GB2312"/>
              <a:cs typeface="楷体_GB2312"/>
            </a:endParaRPr>
          </a:p>
        </p:txBody>
      </p:sp>
      <p:sp>
        <p:nvSpPr>
          <p:cNvPr id="500746" name="Line 10"/>
          <p:cNvSpPr>
            <a:spLocks noChangeShapeType="1"/>
          </p:cNvSpPr>
          <p:nvPr/>
        </p:nvSpPr>
        <p:spPr bwMode="auto">
          <a:xfrm>
            <a:off x="1866900" y="3289300"/>
            <a:ext cx="55118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0747" name="Line 11"/>
          <p:cNvSpPr>
            <a:spLocks noChangeShapeType="1"/>
          </p:cNvSpPr>
          <p:nvPr/>
        </p:nvSpPr>
        <p:spPr bwMode="auto">
          <a:xfrm flipV="1">
            <a:off x="1866900" y="3289300"/>
            <a:ext cx="0" cy="622300"/>
          </a:xfrm>
          <a:prstGeom prst="line">
            <a:avLst/>
          </a:prstGeom>
          <a:noFill/>
          <a:ln w="95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0748" name="Line 12"/>
          <p:cNvSpPr>
            <a:spLocks noChangeShapeType="1"/>
          </p:cNvSpPr>
          <p:nvPr/>
        </p:nvSpPr>
        <p:spPr bwMode="auto">
          <a:xfrm flipV="1">
            <a:off x="4521200" y="3289300"/>
            <a:ext cx="0" cy="622300"/>
          </a:xfrm>
          <a:prstGeom prst="line">
            <a:avLst/>
          </a:prstGeom>
          <a:noFill/>
          <a:ln w="95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0749" name="Line 13"/>
          <p:cNvSpPr>
            <a:spLocks noChangeShapeType="1"/>
          </p:cNvSpPr>
          <p:nvPr/>
        </p:nvSpPr>
        <p:spPr bwMode="auto">
          <a:xfrm flipV="1">
            <a:off x="7378700" y="3289300"/>
            <a:ext cx="0" cy="622300"/>
          </a:xfrm>
          <a:prstGeom prst="line">
            <a:avLst/>
          </a:prstGeom>
          <a:noFill/>
          <a:ln w="95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0750" name="AutoShape 14"/>
          <p:cNvSpPr>
            <a:spLocks noChangeArrowheads="1"/>
          </p:cNvSpPr>
          <p:nvPr/>
        </p:nvSpPr>
        <p:spPr bwMode="auto">
          <a:xfrm>
            <a:off x="4432300" y="2684463"/>
            <a:ext cx="177800" cy="604837"/>
          </a:xfrm>
          <a:prstGeom prst="upArrow">
            <a:avLst>
              <a:gd name="adj1" fmla="val 50000"/>
              <a:gd name="adj2" fmla="val 85045"/>
            </a:avLst>
          </a:prstGeom>
          <a:solidFill>
            <a:srgbClr val="99CCFF"/>
          </a:solidFill>
          <a:ln w="9525">
            <a:solidFill>
              <a:schemeClr val="tx1"/>
            </a:solidFill>
            <a:miter lim="800000"/>
          </a:ln>
        </p:spPr>
        <p:txBody>
          <a:bodyPr vert="eaVert"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0750"/>
                                        </p:tgtEl>
                                        <p:attrNameLst>
                                          <p:attrName>style.visibility</p:attrName>
                                        </p:attrNameLst>
                                      </p:cBhvr>
                                      <p:to>
                                        <p:strVal val="visible"/>
                                      </p:to>
                                    </p:set>
                                    <p:anim calcmode="lin" valueType="num">
                                      <p:cBhvr additive="base">
                                        <p:cTn id="7" dur="500" fill="hold"/>
                                        <p:tgtEl>
                                          <p:spTgt spid="500750"/>
                                        </p:tgtEl>
                                        <p:attrNameLst>
                                          <p:attrName>ppt_x</p:attrName>
                                        </p:attrNameLst>
                                      </p:cBhvr>
                                      <p:tavLst>
                                        <p:tav tm="0">
                                          <p:val>
                                            <p:strVal val="#ppt_x"/>
                                          </p:val>
                                        </p:tav>
                                        <p:tav tm="100000">
                                          <p:val>
                                            <p:strVal val="#ppt_x"/>
                                          </p:val>
                                        </p:tav>
                                      </p:tavLst>
                                    </p:anim>
                                    <p:anim calcmode="lin" valueType="num">
                                      <p:cBhvr additive="base">
                                        <p:cTn id="8" dur="500" fill="hold"/>
                                        <p:tgtEl>
                                          <p:spTgt spid="50075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0746"/>
                                        </p:tgtEl>
                                        <p:attrNameLst>
                                          <p:attrName>style.visibility</p:attrName>
                                        </p:attrNameLst>
                                      </p:cBhvr>
                                      <p:to>
                                        <p:strVal val="visible"/>
                                      </p:to>
                                    </p:set>
                                    <p:anim calcmode="lin" valueType="num">
                                      <p:cBhvr additive="base">
                                        <p:cTn id="11" dur="500" fill="hold"/>
                                        <p:tgtEl>
                                          <p:spTgt spid="500746"/>
                                        </p:tgtEl>
                                        <p:attrNameLst>
                                          <p:attrName>ppt_x</p:attrName>
                                        </p:attrNameLst>
                                      </p:cBhvr>
                                      <p:tavLst>
                                        <p:tav tm="0">
                                          <p:val>
                                            <p:strVal val="#ppt_x"/>
                                          </p:val>
                                        </p:tav>
                                        <p:tav tm="100000">
                                          <p:val>
                                            <p:strVal val="#ppt_x"/>
                                          </p:val>
                                        </p:tav>
                                      </p:tavLst>
                                    </p:anim>
                                    <p:anim calcmode="lin" valueType="num">
                                      <p:cBhvr additive="base">
                                        <p:cTn id="12" dur="500" fill="hold"/>
                                        <p:tgtEl>
                                          <p:spTgt spid="50074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0747"/>
                                        </p:tgtEl>
                                        <p:attrNameLst>
                                          <p:attrName>style.visibility</p:attrName>
                                        </p:attrNameLst>
                                      </p:cBhvr>
                                      <p:to>
                                        <p:strVal val="visible"/>
                                      </p:to>
                                    </p:set>
                                    <p:anim calcmode="lin" valueType="num">
                                      <p:cBhvr additive="base">
                                        <p:cTn id="15" dur="500" fill="hold"/>
                                        <p:tgtEl>
                                          <p:spTgt spid="500747"/>
                                        </p:tgtEl>
                                        <p:attrNameLst>
                                          <p:attrName>ppt_x</p:attrName>
                                        </p:attrNameLst>
                                      </p:cBhvr>
                                      <p:tavLst>
                                        <p:tav tm="0">
                                          <p:val>
                                            <p:strVal val="#ppt_x"/>
                                          </p:val>
                                        </p:tav>
                                        <p:tav tm="100000">
                                          <p:val>
                                            <p:strVal val="#ppt_x"/>
                                          </p:val>
                                        </p:tav>
                                      </p:tavLst>
                                    </p:anim>
                                    <p:anim calcmode="lin" valueType="num">
                                      <p:cBhvr additive="base">
                                        <p:cTn id="16" dur="500" fill="hold"/>
                                        <p:tgtEl>
                                          <p:spTgt spid="50074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00743"/>
                                        </p:tgtEl>
                                        <p:attrNameLst>
                                          <p:attrName>style.visibility</p:attrName>
                                        </p:attrNameLst>
                                      </p:cBhvr>
                                      <p:to>
                                        <p:strVal val="visible"/>
                                      </p:to>
                                    </p:set>
                                    <p:anim calcmode="lin" valueType="num">
                                      <p:cBhvr additive="base">
                                        <p:cTn id="19" dur="500" fill="hold"/>
                                        <p:tgtEl>
                                          <p:spTgt spid="500743"/>
                                        </p:tgtEl>
                                        <p:attrNameLst>
                                          <p:attrName>ppt_x</p:attrName>
                                        </p:attrNameLst>
                                      </p:cBhvr>
                                      <p:tavLst>
                                        <p:tav tm="0">
                                          <p:val>
                                            <p:strVal val="#ppt_x"/>
                                          </p:val>
                                        </p:tav>
                                        <p:tav tm="100000">
                                          <p:val>
                                            <p:strVal val="#ppt_x"/>
                                          </p:val>
                                        </p:tav>
                                      </p:tavLst>
                                    </p:anim>
                                    <p:anim calcmode="lin" valueType="num">
                                      <p:cBhvr additive="base">
                                        <p:cTn id="20" dur="500" fill="hold"/>
                                        <p:tgtEl>
                                          <p:spTgt spid="50074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00748"/>
                                        </p:tgtEl>
                                        <p:attrNameLst>
                                          <p:attrName>style.visibility</p:attrName>
                                        </p:attrNameLst>
                                      </p:cBhvr>
                                      <p:to>
                                        <p:strVal val="visible"/>
                                      </p:to>
                                    </p:set>
                                    <p:anim calcmode="lin" valueType="num">
                                      <p:cBhvr additive="base">
                                        <p:cTn id="25" dur="500" fill="hold"/>
                                        <p:tgtEl>
                                          <p:spTgt spid="500748"/>
                                        </p:tgtEl>
                                        <p:attrNameLst>
                                          <p:attrName>ppt_x</p:attrName>
                                        </p:attrNameLst>
                                      </p:cBhvr>
                                      <p:tavLst>
                                        <p:tav tm="0">
                                          <p:val>
                                            <p:strVal val="#ppt_x"/>
                                          </p:val>
                                        </p:tav>
                                        <p:tav tm="100000">
                                          <p:val>
                                            <p:strVal val="#ppt_x"/>
                                          </p:val>
                                        </p:tav>
                                      </p:tavLst>
                                    </p:anim>
                                    <p:anim calcmode="lin" valueType="num">
                                      <p:cBhvr additive="base">
                                        <p:cTn id="26" dur="500" fill="hold"/>
                                        <p:tgtEl>
                                          <p:spTgt spid="50074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00744"/>
                                        </p:tgtEl>
                                        <p:attrNameLst>
                                          <p:attrName>style.visibility</p:attrName>
                                        </p:attrNameLst>
                                      </p:cBhvr>
                                      <p:to>
                                        <p:strVal val="visible"/>
                                      </p:to>
                                    </p:set>
                                    <p:anim calcmode="lin" valueType="num">
                                      <p:cBhvr additive="base">
                                        <p:cTn id="29" dur="500" fill="hold"/>
                                        <p:tgtEl>
                                          <p:spTgt spid="500744"/>
                                        </p:tgtEl>
                                        <p:attrNameLst>
                                          <p:attrName>ppt_x</p:attrName>
                                        </p:attrNameLst>
                                      </p:cBhvr>
                                      <p:tavLst>
                                        <p:tav tm="0">
                                          <p:val>
                                            <p:strVal val="#ppt_x"/>
                                          </p:val>
                                        </p:tav>
                                        <p:tav tm="100000">
                                          <p:val>
                                            <p:strVal val="#ppt_x"/>
                                          </p:val>
                                        </p:tav>
                                      </p:tavLst>
                                    </p:anim>
                                    <p:anim calcmode="lin" valueType="num">
                                      <p:cBhvr additive="base">
                                        <p:cTn id="30" dur="500" fill="hold"/>
                                        <p:tgtEl>
                                          <p:spTgt spid="50074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00749"/>
                                        </p:tgtEl>
                                        <p:attrNameLst>
                                          <p:attrName>style.visibility</p:attrName>
                                        </p:attrNameLst>
                                      </p:cBhvr>
                                      <p:to>
                                        <p:strVal val="visible"/>
                                      </p:to>
                                    </p:set>
                                    <p:anim calcmode="lin" valueType="num">
                                      <p:cBhvr additive="base">
                                        <p:cTn id="35" dur="500" fill="hold"/>
                                        <p:tgtEl>
                                          <p:spTgt spid="500749"/>
                                        </p:tgtEl>
                                        <p:attrNameLst>
                                          <p:attrName>ppt_x</p:attrName>
                                        </p:attrNameLst>
                                      </p:cBhvr>
                                      <p:tavLst>
                                        <p:tav tm="0">
                                          <p:val>
                                            <p:strVal val="#ppt_x"/>
                                          </p:val>
                                        </p:tav>
                                        <p:tav tm="100000">
                                          <p:val>
                                            <p:strVal val="#ppt_x"/>
                                          </p:val>
                                        </p:tav>
                                      </p:tavLst>
                                    </p:anim>
                                    <p:anim calcmode="lin" valueType="num">
                                      <p:cBhvr additive="base">
                                        <p:cTn id="36" dur="500" fill="hold"/>
                                        <p:tgtEl>
                                          <p:spTgt spid="50074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00745"/>
                                        </p:tgtEl>
                                        <p:attrNameLst>
                                          <p:attrName>style.visibility</p:attrName>
                                        </p:attrNameLst>
                                      </p:cBhvr>
                                      <p:to>
                                        <p:strVal val="visible"/>
                                      </p:to>
                                    </p:set>
                                    <p:anim calcmode="lin" valueType="num">
                                      <p:cBhvr additive="base">
                                        <p:cTn id="39" dur="500" fill="hold"/>
                                        <p:tgtEl>
                                          <p:spTgt spid="500745"/>
                                        </p:tgtEl>
                                        <p:attrNameLst>
                                          <p:attrName>ppt_x</p:attrName>
                                        </p:attrNameLst>
                                      </p:cBhvr>
                                      <p:tavLst>
                                        <p:tav tm="0">
                                          <p:val>
                                            <p:strVal val="#ppt_x"/>
                                          </p:val>
                                        </p:tav>
                                        <p:tav tm="100000">
                                          <p:val>
                                            <p:strVal val="#ppt_x"/>
                                          </p:val>
                                        </p:tav>
                                      </p:tavLst>
                                    </p:anim>
                                    <p:anim calcmode="lin" valueType="num">
                                      <p:cBhvr additive="base">
                                        <p:cTn id="40" dur="500" fill="hold"/>
                                        <p:tgtEl>
                                          <p:spTgt spid="5007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43" grpId="0" animBg="1"/>
      <p:bldP spid="500744" grpId="0" animBg="1"/>
      <p:bldP spid="500745" grpId="0" animBg="1"/>
      <p:bldP spid="50075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4A27F23-D157-4CB6-AEC2-54BE9D766992}" type="slidenum">
              <a:rPr lang="zh-CN" altLang="en-US" sz="1400" smtClean="0"/>
            </a:fld>
            <a:endParaRPr lang="en-US" altLang="zh-CN" sz="1400" smtClean="0"/>
          </a:p>
        </p:txBody>
      </p:sp>
      <p:sp>
        <p:nvSpPr>
          <p:cNvPr id="9219" name="Rectangle 2"/>
          <p:cNvSpPr>
            <a:spLocks noGrp="1" noRot="1" noChangeArrowheads="1"/>
          </p:cNvSpPr>
          <p:nvPr>
            <p:ph type="title"/>
          </p:nvPr>
        </p:nvSpPr>
        <p:spPr/>
        <p:txBody>
          <a:bodyPr/>
          <a:lstStyle/>
          <a:p>
            <a:pPr eaLnBrk="1" hangingPunct="1"/>
            <a:r>
              <a:rPr lang="zh-CN" altLang="en-US" sz="4000" smtClean="0"/>
              <a:t>案例</a:t>
            </a:r>
            <a:r>
              <a:rPr lang="en-US" altLang="zh-CN" sz="4000" smtClean="0"/>
              <a:t>:</a:t>
            </a:r>
            <a:r>
              <a:rPr lang="zh-CN" altLang="en-US" sz="4000" smtClean="0"/>
              <a:t>嘉兴至绍兴公路可行性研究</a:t>
            </a:r>
            <a:br>
              <a:rPr lang="zh-CN" altLang="en-US" sz="4000" smtClean="0"/>
            </a:br>
            <a:endParaRPr lang="zh-CN" altLang="en-US" sz="4000" smtClean="0"/>
          </a:p>
        </p:txBody>
      </p:sp>
      <p:sp>
        <p:nvSpPr>
          <p:cNvPr id="9220" name="Rectangle 4"/>
          <p:cNvSpPr>
            <a:spLocks noRot="1" noChangeArrowheads="1"/>
          </p:cNvSpPr>
          <p:nvPr/>
        </p:nvSpPr>
        <p:spPr bwMode="auto">
          <a:xfrm>
            <a:off x="301625" y="6858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br>
              <a:rPr lang="zh-CN" altLang="en-US" sz="4000">
                <a:solidFill>
                  <a:schemeClr val="tx2"/>
                </a:solidFill>
              </a:rPr>
            </a:br>
            <a:endParaRPr lang="zh-CN" altLang="en-US" sz="4000">
              <a:solidFill>
                <a:schemeClr val="tx2"/>
              </a:solidFill>
            </a:endParaRPr>
          </a:p>
        </p:txBody>
      </p:sp>
      <p:pic>
        <p:nvPicPr>
          <p:cNvPr id="9221" name="Picture 5" descr="http://www.99sky.com/news/national/200209/20/20.jpg"/>
          <p:cNvPicPr>
            <a:picLocks noChangeAspect="1" noChangeArrowheads="1"/>
          </p:cNvPicPr>
          <p:nvPr/>
        </p:nvPicPr>
        <p:blipFill>
          <a:blip r:embed="rId1" r:link="rId2">
            <a:lum contrast="36000"/>
            <a:extLst>
              <a:ext uri="{28A0092B-C50C-407E-A947-70E740481C1C}">
                <a14:useLocalDpi xmlns:a14="http://schemas.microsoft.com/office/drawing/2010/main" val="0"/>
              </a:ext>
            </a:extLst>
          </a:blip>
          <a:srcRect r="8125"/>
          <a:stretch>
            <a:fillRect/>
          </a:stretch>
        </p:blipFill>
        <p:spPr bwMode="auto">
          <a:xfrm>
            <a:off x="1331913" y="1773238"/>
            <a:ext cx="5286375" cy="362902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9222" name="Freeform 6"/>
          <p:cNvSpPr/>
          <p:nvPr/>
        </p:nvSpPr>
        <p:spPr bwMode="auto">
          <a:xfrm>
            <a:off x="3503613" y="3457575"/>
            <a:ext cx="142875" cy="1339850"/>
          </a:xfrm>
          <a:custGeom>
            <a:avLst/>
            <a:gdLst>
              <a:gd name="T0" fmla="*/ 2147483646 w 224"/>
              <a:gd name="T1" fmla="*/ 2147483646 h 2110"/>
              <a:gd name="T2" fmla="*/ 2147483646 w 224"/>
              <a:gd name="T3" fmla="*/ 2147483646 h 2110"/>
              <a:gd name="T4" fmla="*/ 2147483646 w 224"/>
              <a:gd name="T5" fmla="*/ 2147483646 h 2110"/>
              <a:gd name="T6" fmla="*/ 2147483646 w 224"/>
              <a:gd name="T7" fmla="*/ 2147483646 h 2110"/>
              <a:gd name="T8" fmla="*/ 2147483646 w 224"/>
              <a:gd name="T9" fmla="*/ 2147483646 h 2110"/>
              <a:gd name="T10" fmla="*/ 0 w 224"/>
              <a:gd name="T11" fmla="*/ 2147483646 h 2110"/>
              <a:gd name="T12" fmla="*/ 2147483646 w 224"/>
              <a:gd name="T13" fmla="*/ 0 h 2110"/>
              <a:gd name="T14" fmla="*/ 0 60000 65536"/>
              <a:gd name="T15" fmla="*/ 0 60000 65536"/>
              <a:gd name="T16" fmla="*/ 0 60000 65536"/>
              <a:gd name="T17" fmla="*/ 0 60000 65536"/>
              <a:gd name="T18" fmla="*/ 0 60000 65536"/>
              <a:gd name="T19" fmla="*/ 0 60000 65536"/>
              <a:gd name="T20" fmla="*/ 0 60000 65536"/>
              <a:gd name="T21" fmla="*/ 0 w 224"/>
              <a:gd name="T22" fmla="*/ 0 h 2110"/>
              <a:gd name="T23" fmla="*/ 224 w 224"/>
              <a:gd name="T24" fmla="*/ 2110 h 21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4" h="2110">
                <a:moveTo>
                  <a:pt x="205" y="2110"/>
                </a:moveTo>
                <a:cubicBezTo>
                  <a:pt x="208" y="2087"/>
                  <a:pt x="224" y="2034"/>
                  <a:pt x="220" y="1975"/>
                </a:cubicBezTo>
                <a:cubicBezTo>
                  <a:pt x="216" y="1916"/>
                  <a:pt x="200" y="1857"/>
                  <a:pt x="180" y="1755"/>
                </a:cubicBezTo>
                <a:cubicBezTo>
                  <a:pt x="160" y="1653"/>
                  <a:pt x="123" y="1493"/>
                  <a:pt x="100" y="1360"/>
                </a:cubicBezTo>
                <a:cubicBezTo>
                  <a:pt x="77" y="1227"/>
                  <a:pt x="57" y="1086"/>
                  <a:pt x="40" y="955"/>
                </a:cubicBezTo>
                <a:cubicBezTo>
                  <a:pt x="23" y="824"/>
                  <a:pt x="0" y="734"/>
                  <a:pt x="0" y="575"/>
                </a:cubicBezTo>
                <a:cubicBezTo>
                  <a:pt x="0" y="416"/>
                  <a:pt x="32" y="120"/>
                  <a:pt x="40" y="0"/>
                </a:cubicBez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3" name="AutoShape 7"/>
          <p:cNvSpPr>
            <a:spLocks noChangeArrowheads="1"/>
          </p:cNvSpPr>
          <p:nvPr/>
        </p:nvSpPr>
        <p:spPr bwMode="auto">
          <a:xfrm>
            <a:off x="4532313" y="3709988"/>
            <a:ext cx="1371600" cy="315912"/>
          </a:xfrm>
          <a:prstGeom prst="wedgeRoundRectCallout">
            <a:avLst>
              <a:gd name="adj1" fmla="val -114352"/>
              <a:gd name="adj2" fmla="val 157028"/>
              <a:gd name="adj3" fmla="val 16667"/>
            </a:avLst>
          </a:prstGeom>
          <a:noFill/>
          <a:ln w="19050">
            <a:solidFill>
              <a:srgbClr val="FFFFFF"/>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AU" sz="1400">
                <a:solidFill>
                  <a:srgbClr val="FFFFFF"/>
                </a:solidFill>
                <a:latin typeface="Times New Roman" panose="02020603050405020304" pitchFamily="18" charset="0"/>
                <a:ea typeface="楷体_GB2312"/>
                <a:cs typeface="Times New Roman" panose="02020603050405020304" pitchFamily="18" charset="0"/>
              </a:rPr>
              <a:t>拟建嘉绍公路</a:t>
            </a:r>
            <a:endParaRPr lang="zh-CN" altLang="en-AU" sz="900">
              <a:ea typeface="楷体_GB2312"/>
              <a:cs typeface="Times New Roman" panose="02020603050405020304" pitchFamily="18" charset="0"/>
            </a:endParaRPr>
          </a:p>
          <a:p>
            <a:pPr>
              <a:spcBef>
                <a:spcPct val="0"/>
              </a:spcBef>
              <a:buClrTx/>
              <a:buSzTx/>
              <a:buFontTx/>
              <a:buNone/>
            </a:pPr>
            <a:endParaRPr lang="zh-CN" altLang="en-AU" sz="2400">
              <a:latin typeface="Times New Roman" panose="02020603050405020304" pitchFamily="18" charset="0"/>
              <a:ea typeface="楷体_GB2312"/>
              <a:cs typeface="Times New Roman" panose="02020603050405020304" pitchFamily="18" charset="0"/>
            </a:endParaRPr>
          </a:p>
        </p:txBody>
      </p:sp>
      <p:sp>
        <p:nvSpPr>
          <p:cNvPr id="9224" name="Freeform 8"/>
          <p:cNvSpPr/>
          <p:nvPr/>
        </p:nvSpPr>
        <p:spPr bwMode="auto">
          <a:xfrm>
            <a:off x="3998913" y="3192463"/>
            <a:ext cx="922337" cy="2105025"/>
          </a:xfrm>
          <a:custGeom>
            <a:avLst/>
            <a:gdLst>
              <a:gd name="T0" fmla="*/ 0 w 1452"/>
              <a:gd name="T1" fmla="*/ 0 h 3315"/>
              <a:gd name="T2" fmla="*/ 2147483646 w 1452"/>
              <a:gd name="T3" fmla="*/ 2147483646 h 3315"/>
              <a:gd name="T4" fmla="*/ 2147483646 w 1452"/>
              <a:gd name="T5" fmla="*/ 2147483646 h 3315"/>
              <a:gd name="T6" fmla="*/ 2147483646 w 1452"/>
              <a:gd name="T7" fmla="*/ 2147483646 h 3315"/>
              <a:gd name="T8" fmla="*/ 2147483646 w 1452"/>
              <a:gd name="T9" fmla="*/ 2147483646 h 3315"/>
              <a:gd name="T10" fmla="*/ 2147483646 w 1452"/>
              <a:gd name="T11" fmla="*/ 2147483646 h 3315"/>
              <a:gd name="T12" fmla="*/ 2147483646 w 1452"/>
              <a:gd name="T13" fmla="*/ 2147483646 h 3315"/>
              <a:gd name="T14" fmla="*/ 2147483646 w 1452"/>
              <a:gd name="T15" fmla="*/ 2147483646 h 3315"/>
              <a:gd name="T16" fmla="*/ 2147483646 w 1452"/>
              <a:gd name="T17" fmla="*/ 2147483646 h 3315"/>
              <a:gd name="T18" fmla="*/ 2147483646 w 1452"/>
              <a:gd name="T19" fmla="*/ 2147483646 h 33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52"/>
              <a:gd name="T31" fmla="*/ 0 h 3315"/>
              <a:gd name="T32" fmla="*/ 1452 w 1452"/>
              <a:gd name="T33" fmla="*/ 3315 h 33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52" h="3315">
                <a:moveTo>
                  <a:pt x="0" y="0"/>
                </a:moveTo>
                <a:cubicBezTo>
                  <a:pt x="15" y="102"/>
                  <a:pt x="73" y="448"/>
                  <a:pt x="90" y="630"/>
                </a:cubicBezTo>
                <a:cubicBezTo>
                  <a:pt x="107" y="812"/>
                  <a:pt x="83" y="985"/>
                  <a:pt x="105" y="1095"/>
                </a:cubicBezTo>
                <a:cubicBezTo>
                  <a:pt x="127" y="1205"/>
                  <a:pt x="173" y="1225"/>
                  <a:pt x="225" y="1290"/>
                </a:cubicBezTo>
                <a:cubicBezTo>
                  <a:pt x="277" y="1355"/>
                  <a:pt x="375" y="1405"/>
                  <a:pt x="420" y="1485"/>
                </a:cubicBezTo>
                <a:cubicBezTo>
                  <a:pt x="465" y="1565"/>
                  <a:pt x="440" y="1668"/>
                  <a:pt x="495" y="1770"/>
                </a:cubicBezTo>
                <a:cubicBezTo>
                  <a:pt x="550" y="1872"/>
                  <a:pt x="608" y="1977"/>
                  <a:pt x="750" y="2100"/>
                </a:cubicBezTo>
                <a:cubicBezTo>
                  <a:pt x="892" y="2223"/>
                  <a:pt x="1248" y="2366"/>
                  <a:pt x="1350" y="2505"/>
                </a:cubicBezTo>
                <a:cubicBezTo>
                  <a:pt x="1452" y="2644"/>
                  <a:pt x="1345" y="2800"/>
                  <a:pt x="1360" y="2935"/>
                </a:cubicBezTo>
                <a:cubicBezTo>
                  <a:pt x="1375" y="3070"/>
                  <a:pt x="1423" y="3236"/>
                  <a:pt x="1440" y="3315"/>
                </a:cubicBezTo>
              </a:path>
            </a:pathLst>
          </a:custGeom>
          <a:noFill/>
          <a:ln w="19050">
            <a:solidFill>
              <a:srgbClr val="33CC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5" name="Rectangle 9"/>
          <p:cNvSpPr>
            <a:spLocks noChangeArrowheads="1"/>
          </p:cNvSpPr>
          <p:nvPr/>
        </p:nvSpPr>
        <p:spPr bwMode="auto">
          <a:xfrm>
            <a:off x="5065713" y="2466975"/>
            <a:ext cx="44450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AU" sz="1400" b="1">
              <a:latin typeface="Times New Roman" panose="02020603050405020304" pitchFamily="18" charset="0"/>
              <a:ea typeface="隶书" panose="02010509060101010101" pitchFamily="49" charset="-122"/>
              <a:cs typeface="Times New Roman" panose="02020603050405020304" pitchFamily="18" charset="0"/>
            </a:endParaRPr>
          </a:p>
          <a:p>
            <a:pPr>
              <a:spcBef>
                <a:spcPct val="0"/>
              </a:spcBef>
              <a:buClrTx/>
              <a:buSzTx/>
              <a:buFontTx/>
              <a:buNone/>
            </a:pPr>
            <a:r>
              <a:rPr lang="zh-CN" altLang="en-AU" sz="1400" b="1">
                <a:latin typeface="Times New Roman" panose="02020603050405020304" pitchFamily="18" charset="0"/>
                <a:ea typeface="隶书" panose="02010509060101010101" pitchFamily="49" charset="-122"/>
                <a:cs typeface="Times New Roman" panose="02020603050405020304" pitchFamily="18" charset="0"/>
              </a:rPr>
              <a:t>上海</a:t>
            </a:r>
            <a:endParaRPr lang="zh-CN" altLang="en-AU" sz="240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9226" name="Rectangle 10"/>
          <p:cNvSpPr>
            <a:spLocks noChangeArrowheads="1"/>
          </p:cNvSpPr>
          <p:nvPr/>
        </p:nvSpPr>
        <p:spPr bwMode="auto">
          <a:xfrm>
            <a:off x="3198813" y="3192463"/>
            <a:ext cx="6223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AU" sz="1400" b="1">
              <a:latin typeface="Times New Roman" panose="02020603050405020304" pitchFamily="18" charset="0"/>
              <a:ea typeface="隶书" panose="02010509060101010101" pitchFamily="49" charset="-122"/>
              <a:cs typeface="Times New Roman" panose="02020603050405020304" pitchFamily="18" charset="0"/>
            </a:endParaRPr>
          </a:p>
          <a:p>
            <a:pPr>
              <a:spcBef>
                <a:spcPct val="0"/>
              </a:spcBef>
              <a:buClrTx/>
              <a:buSzTx/>
              <a:buFontTx/>
              <a:buNone/>
            </a:pPr>
            <a:r>
              <a:rPr lang="zh-CN" altLang="en-AU" sz="1400" b="1">
                <a:latin typeface="Times New Roman" panose="02020603050405020304" pitchFamily="18" charset="0"/>
                <a:ea typeface="隶书" panose="02010509060101010101" pitchFamily="49" charset="-122"/>
                <a:cs typeface="Times New Roman" panose="02020603050405020304" pitchFamily="18" charset="0"/>
              </a:rPr>
              <a:t>嘉兴</a:t>
            </a:r>
            <a:endParaRPr lang="zh-CN" altLang="en-AU" sz="240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9227" name="Rectangle 11"/>
          <p:cNvSpPr>
            <a:spLocks noChangeArrowheads="1"/>
          </p:cNvSpPr>
          <p:nvPr/>
        </p:nvSpPr>
        <p:spPr bwMode="auto">
          <a:xfrm>
            <a:off x="2220913" y="4160838"/>
            <a:ext cx="6223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AU" sz="1400" b="1">
              <a:latin typeface="Times New Roman" panose="02020603050405020304" pitchFamily="18" charset="0"/>
              <a:ea typeface="隶书" panose="02010509060101010101" pitchFamily="49" charset="-122"/>
              <a:cs typeface="Times New Roman" panose="02020603050405020304" pitchFamily="18" charset="0"/>
            </a:endParaRPr>
          </a:p>
          <a:p>
            <a:pPr>
              <a:spcBef>
                <a:spcPct val="0"/>
              </a:spcBef>
              <a:buClrTx/>
              <a:buSzTx/>
              <a:buFontTx/>
              <a:buNone/>
            </a:pPr>
            <a:r>
              <a:rPr lang="zh-CN" altLang="en-AU" sz="1400" b="1">
                <a:latin typeface="Times New Roman" panose="02020603050405020304" pitchFamily="18" charset="0"/>
                <a:ea typeface="隶书" panose="02010509060101010101" pitchFamily="49" charset="-122"/>
                <a:cs typeface="Times New Roman" panose="02020603050405020304" pitchFamily="18" charset="0"/>
              </a:rPr>
              <a:t>杭州</a:t>
            </a:r>
            <a:endParaRPr lang="zh-CN" altLang="en-AU" sz="240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9228" name="Rectangle 12"/>
          <p:cNvSpPr>
            <a:spLocks noChangeArrowheads="1"/>
          </p:cNvSpPr>
          <p:nvPr/>
        </p:nvSpPr>
        <p:spPr bwMode="auto">
          <a:xfrm>
            <a:off x="3021013" y="4886325"/>
            <a:ext cx="622300"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AU" sz="1400" b="1">
              <a:latin typeface="Times New Roman" panose="02020603050405020304" pitchFamily="18" charset="0"/>
              <a:ea typeface="隶书" panose="02010509060101010101" pitchFamily="49" charset="-122"/>
              <a:cs typeface="Times New Roman" panose="02020603050405020304" pitchFamily="18" charset="0"/>
            </a:endParaRPr>
          </a:p>
          <a:p>
            <a:pPr>
              <a:spcBef>
                <a:spcPct val="0"/>
              </a:spcBef>
              <a:buClrTx/>
              <a:buSzTx/>
              <a:buFontTx/>
              <a:buNone/>
            </a:pPr>
            <a:r>
              <a:rPr lang="zh-CN" altLang="en-AU" sz="1400" b="1">
                <a:latin typeface="Times New Roman" panose="02020603050405020304" pitchFamily="18" charset="0"/>
                <a:ea typeface="隶书" panose="02010509060101010101" pitchFamily="49" charset="-122"/>
                <a:cs typeface="Times New Roman" panose="02020603050405020304" pitchFamily="18" charset="0"/>
              </a:rPr>
              <a:t>绍兴</a:t>
            </a:r>
            <a:endParaRPr lang="zh-CN" altLang="en-AU" sz="240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9229" name="Rectangle 13"/>
          <p:cNvSpPr>
            <a:spLocks noChangeArrowheads="1"/>
          </p:cNvSpPr>
          <p:nvPr/>
        </p:nvSpPr>
        <p:spPr bwMode="auto">
          <a:xfrm>
            <a:off x="5154613" y="5127625"/>
            <a:ext cx="9144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AU" sz="1400" b="1">
                <a:latin typeface="Times New Roman" panose="02020603050405020304" pitchFamily="18" charset="0"/>
                <a:ea typeface="隶书" panose="02010509060101010101" pitchFamily="49" charset="-122"/>
                <a:cs typeface="Times New Roman" panose="02020603050405020304" pitchFamily="18" charset="0"/>
              </a:rPr>
              <a:t>宁波</a:t>
            </a:r>
            <a:endParaRPr lang="zh-CN" altLang="en-AU" sz="240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9230" name="Rectangle 14"/>
          <p:cNvSpPr>
            <a:spLocks noChangeArrowheads="1"/>
          </p:cNvSpPr>
          <p:nvPr/>
        </p:nvSpPr>
        <p:spPr bwMode="auto">
          <a:xfrm>
            <a:off x="684213" y="1557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9231" name="Rectangle 15"/>
          <p:cNvSpPr>
            <a:spLocks noChangeArrowheads="1"/>
          </p:cNvSpPr>
          <p:nvPr/>
        </p:nvSpPr>
        <p:spPr bwMode="auto">
          <a:xfrm>
            <a:off x="2339975" y="1773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9232" name="Rectangle 16"/>
          <p:cNvSpPr>
            <a:spLocks noChangeArrowheads="1"/>
          </p:cNvSpPr>
          <p:nvPr/>
        </p:nvSpPr>
        <p:spPr bwMode="auto">
          <a:xfrm>
            <a:off x="0" y="5199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F68BAC1-3913-4BE1-B5E1-1A71A94AD9D2}" type="slidenum">
              <a:rPr lang="zh-CN" altLang="en-US" sz="1400" smtClean="0"/>
            </a:fld>
            <a:endParaRPr lang="en-US" altLang="zh-CN" sz="1400" smtClean="0"/>
          </a:p>
        </p:txBody>
      </p:sp>
      <p:sp>
        <p:nvSpPr>
          <p:cNvPr id="10243" name="Rectangle 2"/>
          <p:cNvSpPr>
            <a:spLocks noGrp="1" noRot="1" noChangeArrowheads="1"/>
          </p:cNvSpPr>
          <p:nvPr>
            <p:ph type="title"/>
          </p:nvPr>
        </p:nvSpPr>
        <p:spPr/>
        <p:txBody>
          <a:bodyPr/>
          <a:lstStyle/>
          <a:p>
            <a:pPr eaLnBrk="1" hangingPunct="1"/>
            <a:r>
              <a:rPr lang="zh-CN" altLang="en-US" smtClean="0"/>
              <a:t>现状评价及发展环境 </a:t>
            </a:r>
            <a:endParaRPr lang="zh-CN" altLang="en-US" smtClean="0"/>
          </a:p>
        </p:txBody>
      </p:sp>
      <p:sp>
        <p:nvSpPr>
          <p:cNvPr id="10244" name="Freeform 341"/>
          <p:cNvSpPr/>
          <p:nvPr/>
        </p:nvSpPr>
        <p:spPr bwMode="auto">
          <a:xfrm>
            <a:off x="2911475" y="2833688"/>
            <a:ext cx="660400" cy="425450"/>
          </a:xfrm>
          <a:custGeom>
            <a:avLst/>
            <a:gdLst>
              <a:gd name="T0" fmla="*/ 0 w 1039"/>
              <a:gd name="T1" fmla="*/ 0 h 670"/>
              <a:gd name="T2" fmla="*/ 2147483646 w 1039"/>
              <a:gd name="T3" fmla="*/ 2147483646 h 670"/>
              <a:gd name="T4" fmla="*/ 0 60000 65536"/>
              <a:gd name="T5" fmla="*/ 0 60000 65536"/>
              <a:gd name="T6" fmla="*/ 0 w 1039"/>
              <a:gd name="T7" fmla="*/ 0 h 670"/>
              <a:gd name="T8" fmla="*/ 1039 w 1039"/>
              <a:gd name="T9" fmla="*/ 670 h 670"/>
            </a:gdLst>
            <a:ahLst/>
            <a:cxnLst>
              <a:cxn ang="T4">
                <a:pos x="T0" y="T1"/>
              </a:cxn>
              <a:cxn ang="T5">
                <a:pos x="T2" y="T3"/>
              </a:cxn>
            </a:cxnLst>
            <a:rect l="T6" t="T7" r="T8" b="T9"/>
            <a:pathLst>
              <a:path w="1039" h="670">
                <a:moveTo>
                  <a:pt x="0" y="0"/>
                </a:moveTo>
                <a:lnTo>
                  <a:pt x="1039" y="670"/>
                </a:lnTo>
              </a:path>
            </a:pathLst>
          </a:custGeom>
          <a:noFill/>
          <a:ln w="63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45" name="Freeform 342"/>
          <p:cNvSpPr/>
          <p:nvPr/>
        </p:nvSpPr>
        <p:spPr bwMode="auto">
          <a:xfrm>
            <a:off x="2917825" y="2827338"/>
            <a:ext cx="1327150" cy="431800"/>
          </a:xfrm>
          <a:custGeom>
            <a:avLst/>
            <a:gdLst>
              <a:gd name="T0" fmla="*/ 0 w 2089"/>
              <a:gd name="T1" fmla="*/ 0 h 679"/>
              <a:gd name="T2" fmla="*/ 2147483646 w 2089"/>
              <a:gd name="T3" fmla="*/ 2147483646 h 679"/>
              <a:gd name="T4" fmla="*/ 0 60000 65536"/>
              <a:gd name="T5" fmla="*/ 0 60000 65536"/>
              <a:gd name="T6" fmla="*/ 0 w 2089"/>
              <a:gd name="T7" fmla="*/ 0 h 679"/>
              <a:gd name="T8" fmla="*/ 2089 w 2089"/>
              <a:gd name="T9" fmla="*/ 679 h 679"/>
            </a:gdLst>
            <a:ahLst/>
            <a:cxnLst>
              <a:cxn ang="T4">
                <a:pos x="T0" y="T1"/>
              </a:cxn>
              <a:cxn ang="T5">
                <a:pos x="T2" y="T3"/>
              </a:cxn>
            </a:cxnLst>
            <a:rect l="T6" t="T7" r="T8" b="T9"/>
            <a:pathLst>
              <a:path w="2089" h="679">
                <a:moveTo>
                  <a:pt x="0" y="0"/>
                </a:moveTo>
                <a:lnTo>
                  <a:pt x="2089" y="679"/>
                </a:lnTo>
              </a:path>
            </a:pathLst>
          </a:custGeom>
          <a:noFill/>
          <a:ln w="63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46" name="Rectangle 343"/>
          <p:cNvSpPr>
            <a:spLocks noChangeArrowheads="1"/>
          </p:cNvSpPr>
          <p:nvPr/>
        </p:nvSpPr>
        <p:spPr bwMode="auto">
          <a:xfrm>
            <a:off x="995363" y="2152650"/>
            <a:ext cx="3505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000" b="1">
                <a:latin typeface="Times New Roman" panose="02020603050405020304" pitchFamily="18" charset="0"/>
                <a:ea typeface="楷体_GB2312"/>
                <a:cs typeface="Times New Roman" panose="02020603050405020304" pitchFamily="18" charset="0"/>
              </a:rPr>
              <a:t>2001</a:t>
            </a:r>
            <a:r>
              <a:rPr lang="zh-CN" altLang="en-AU" sz="2000" b="1">
                <a:latin typeface="Times New Roman" panose="02020603050405020304" pitchFamily="18" charset="0"/>
                <a:ea typeface="黑体" panose="02010609060101010101" pitchFamily="49" charset="-122"/>
                <a:cs typeface="Times New Roman" panose="02020603050405020304" pitchFamily="18" charset="0"/>
              </a:rPr>
              <a:t>年区域客货运量统计表</a:t>
            </a:r>
            <a:endParaRPr lang="zh-CN" altLang="en-AU" sz="2000"/>
          </a:p>
          <a:p>
            <a:pPr>
              <a:spcBef>
                <a:spcPct val="0"/>
              </a:spcBef>
              <a:buClrTx/>
              <a:buSzTx/>
              <a:buFontTx/>
              <a:buNone/>
            </a:pPr>
            <a:endParaRPr lang="zh-CN" altLang="en-AU" sz="2000">
              <a:latin typeface="Times New Roman" panose="02020603050405020304" pitchFamily="18" charset="0"/>
            </a:endParaRPr>
          </a:p>
        </p:txBody>
      </p:sp>
      <p:sp>
        <p:nvSpPr>
          <p:cNvPr id="10247" name="Rectangle 344"/>
          <p:cNvSpPr>
            <a:spLocks noChangeArrowheads="1"/>
          </p:cNvSpPr>
          <p:nvPr/>
        </p:nvSpPr>
        <p:spPr bwMode="auto">
          <a:xfrm>
            <a:off x="995363" y="2168525"/>
            <a:ext cx="1335087"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graphicFrame>
        <p:nvGraphicFramePr>
          <p:cNvPr id="345762" name="Group 674"/>
          <p:cNvGraphicFramePr>
            <a:graphicFrameLocks noGrp="1"/>
          </p:cNvGraphicFramePr>
          <p:nvPr/>
        </p:nvGraphicFramePr>
        <p:xfrm>
          <a:off x="755650" y="2838450"/>
          <a:ext cx="7993063" cy="3092450"/>
        </p:xfrm>
        <a:graphic>
          <a:graphicData uri="http://schemas.openxmlformats.org/drawingml/2006/table">
            <a:tbl>
              <a:tblPr/>
              <a:tblGrid>
                <a:gridCol w="1031875"/>
                <a:gridCol w="1036638"/>
                <a:gridCol w="920750"/>
                <a:gridCol w="920750"/>
                <a:gridCol w="1003300"/>
                <a:gridCol w="996950"/>
                <a:gridCol w="1073150"/>
                <a:gridCol w="1009650"/>
              </a:tblGrid>
              <a:tr h="701184">
                <a:tc gridSpan="2">
                  <a:txBody>
                    <a:bodyPr/>
                    <a:lstStyle>
                      <a:lvl1pPr indent="53975"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53975"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市别</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53975" algn="l"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客、货</a:t>
                      </a:r>
                      <a:r>
                        <a:rPr kumimoji="0" lang="zh-CN" altLang="en-US"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单位</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嘉兴</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绍兴</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杭州</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合计</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全省</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占全省</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r>
              <a:tr h="398544">
                <a:tc rowSpan="3">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客运量</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万人</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7561</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10980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20197</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38738</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132881</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29.2</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98544">
                <a:tc vMerge="1">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万人</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7171</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10719</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18707</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36597</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rowSpan="2">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126008</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rowSpan="2">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29.0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98544">
                <a:tc vMerge="1">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94.8</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97.6</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92.6</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94.5</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vMerge="1">
                  <a:tcPr/>
                </a:tc>
                <a:tc vMerge="1">
                  <a:tcPr/>
                </a:tc>
              </a:tr>
              <a:tr h="398544">
                <a:tc rowSpan="3">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货运量</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万吨</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5448</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5600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15836</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26884</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77832</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34.5</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98544">
                <a:tc vMerge="1">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万吨</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1959</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4975</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11986</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18920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rowSpan="2">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55706</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c rowSpan="2">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34.0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r>
              <a:tr h="398544">
                <a:tc vMerge="1">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36.0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88.8</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75.7</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70.4</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c vMerge="1">
                  <a:tcPr/>
                </a:tc>
                <a:tc vMerge="1">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BF325DC-1747-4974-9518-E205D6EA81A6}" type="slidenum">
              <a:rPr lang="zh-CN" altLang="en-US" sz="1400" smtClean="0"/>
            </a:fld>
            <a:endParaRPr lang="en-US" altLang="zh-CN" sz="1400" smtClean="0"/>
          </a:p>
        </p:txBody>
      </p:sp>
      <p:sp>
        <p:nvSpPr>
          <p:cNvPr id="11267" name="Rectangle 2"/>
          <p:cNvSpPr>
            <a:spLocks noGrp="1" noRot="1" noChangeArrowheads="1"/>
          </p:cNvSpPr>
          <p:nvPr>
            <p:ph type="title"/>
          </p:nvPr>
        </p:nvSpPr>
        <p:spPr>
          <a:xfrm>
            <a:off x="301625" y="685800"/>
            <a:ext cx="8374063" cy="511175"/>
          </a:xfrm>
        </p:spPr>
        <p:txBody>
          <a:bodyPr/>
          <a:lstStyle/>
          <a:p>
            <a:pPr eaLnBrk="1" hangingPunct="1"/>
            <a:br>
              <a:rPr lang="zh-CN" altLang="en-AU" sz="3600" smtClean="0">
                <a:solidFill>
                  <a:schemeClr val="tx1"/>
                </a:solidFill>
              </a:rPr>
            </a:br>
            <a:br>
              <a:rPr lang="zh-CN" altLang="en-AU" sz="3600" smtClean="0">
                <a:solidFill>
                  <a:schemeClr val="tx1"/>
                </a:solidFill>
              </a:rPr>
            </a:br>
            <a:endParaRPr lang="zh-CN" altLang="en-US" sz="3600" smtClean="0">
              <a:solidFill>
                <a:schemeClr val="tx1"/>
              </a:solidFill>
            </a:endParaRPr>
          </a:p>
        </p:txBody>
      </p:sp>
      <p:graphicFrame>
        <p:nvGraphicFramePr>
          <p:cNvPr id="362727" name="Group 231"/>
          <p:cNvGraphicFramePr>
            <a:graphicFrameLocks noGrp="1"/>
          </p:cNvGraphicFramePr>
          <p:nvPr/>
        </p:nvGraphicFramePr>
        <p:xfrm>
          <a:off x="250825" y="2060575"/>
          <a:ext cx="8713788" cy="2892426"/>
        </p:xfrm>
        <a:graphic>
          <a:graphicData uri="http://schemas.openxmlformats.org/drawingml/2006/table">
            <a:tbl>
              <a:tblPr/>
              <a:tblGrid>
                <a:gridCol w="1590675"/>
                <a:gridCol w="885825"/>
                <a:gridCol w="887413"/>
                <a:gridCol w="890587"/>
                <a:gridCol w="887413"/>
                <a:gridCol w="889000"/>
                <a:gridCol w="889000"/>
                <a:gridCol w="887412"/>
                <a:gridCol w="906463"/>
              </a:tblGrid>
              <a:tr h="877887">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1990</a:t>
                      </a: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年</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1995</a:t>
                      </a: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年</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1997</a:t>
                      </a: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年</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1998</a:t>
                      </a: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年</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1999</a:t>
                      </a: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年</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2000</a:t>
                      </a: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年</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2001</a:t>
                      </a: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年</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年均</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增速</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r>
              <a:tr h="671513">
                <a:tc rowSpan="3">
                  <a:txBody>
                    <a:bodyPr/>
                    <a:lstStyle/>
                    <a:p>
                      <a:pPr marL="0" marR="0" lvl="0" indent="66675"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民用汽车</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66675"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其中：</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66675"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普通载货汽车</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66675"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载客汽车</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153611</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359214</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415829</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478293</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575822</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688572</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855642</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33.14%</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671513">
                <a:tc vMerge="1">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97694</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217342</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226474</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251859</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288177</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337804</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406536</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26.82%</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671513">
                <a:tc vMerge="1">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47658</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136643</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179928</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209074</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268442</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323173</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426109</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44.07%</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r>
            </a:tbl>
          </a:graphicData>
        </a:graphic>
      </p:graphicFrame>
      <p:sp>
        <p:nvSpPr>
          <p:cNvPr id="11318" name="Rectangle 233"/>
          <p:cNvSpPr>
            <a:spLocks noChangeArrowheads="1"/>
          </p:cNvSpPr>
          <p:nvPr/>
        </p:nvSpPr>
        <p:spPr bwMode="auto">
          <a:xfrm>
            <a:off x="755650" y="981075"/>
            <a:ext cx="78708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AU" sz="3600" b="1">
                <a:solidFill>
                  <a:srgbClr val="000000"/>
                </a:solidFill>
              </a:rPr>
              <a:t>浙江省民用汽车保有量</a:t>
            </a:r>
            <a:r>
              <a:rPr lang="zh-CN" altLang="en-US" sz="3600" b="1">
                <a:solidFill>
                  <a:srgbClr val="000000"/>
                </a:solidFill>
              </a:rPr>
              <a:t>   </a:t>
            </a:r>
            <a:r>
              <a:rPr lang="zh-CN" altLang="en-US" sz="3600">
                <a:solidFill>
                  <a:srgbClr val="000000"/>
                </a:solidFill>
              </a:rPr>
              <a:t>       </a:t>
            </a:r>
            <a:r>
              <a:rPr lang="zh-CN" altLang="en-AU" sz="3600">
                <a:solidFill>
                  <a:srgbClr val="000000"/>
                </a:solidFill>
              </a:rPr>
              <a:t>单位：辆</a:t>
            </a:r>
            <a:endParaRPr lang="zh-CN" altLang="en-US" sz="3600">
              <a:solidFill>
                <a:srgbClr val="00000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619517B-A0CB-4FD8-9206-52846479B5D6}" type="slidenum">
              <a:rPr lang="zh-CN" altLang="en-US" sz="1400" smtClean="0"/>
            </a:fld>
            <a:endParaRPr lang="en-US" altLang="zh-CN" sz="1400" smtClean="0"/>
          </a:p>
        </p:txBody>
      </p:sp>
      <p:sp>
        <p:nvSpPr>
          <p:cNvPr id="12291" name="Rectangle 4"/>
          <p:cNvSpPr>
            <a:spLocks noGrp="1" noRot="1" noChangeArrowheads="1"/>
          </p:cNvSpPr>
          <p:nvPr>
            <p:ph type="title"/>
          </p:nvPr>
        </p:nvSpPr>
        <p:spPr>
          <a:noFill/>
        </p:spPr>
        <p:txBody>
          <a:bodyPr/>
          <a:lstStyle/>
          <a:p>
            <a:pPr eaLnBrk="1" hangingPunct="1"/>
            <a:r>
              <a:rPr lang="zh-CN" altLang="en-US" smtClean="0"/>
              <a:t>现有公路技术状况 </a:t>
            </a:r>
            <a:endParaRPr lang="zh-CN" altLang="en-US" smtClean="0"/>
          </a:p>
        </p:txBody>
      </p:sp>
      <p:sp>
        <p:nvSpPr>
          <p:cNvPr id="12292" name="Rectangle 5"/>
          <p:cNvSpPr>
            <a:spLocks noGrp="1" noRot="1" noChangeArrowheads="1"/>
          </p:cNvSpPr>
          <p:nvPr>
            <p:ph type="body" idx="1"/>
          </p:nvPr>
        </p:nvSpPr>
        <p:spPr>
          <a:noFill/>
        </p:spPr>
        <p:txBody>
          <a:bodyPr/>
          <a:lstStyle/>
          <a:p>
            <a:pPr eaLnBrk="1" hangingPunct="1">
              <a:lnSpc>
                <a:spcPct val="90000"/>
              </a:lnSpc>
            </a:pPr>
            <a:r>
              <a:rPr lang="zh-CN" altLang="en-US" sz="2800" smtClean="0"/>
              <a:t>随着区域经济的发展，沪杭甬高速公路出现交通量不堪重负的现象 </a:t>
            </a:r>
            <a:endParaRPr lang="zh-CN" altLang="en-US" sz="2800" smtClean="0"/>
          </a:p>
          <a:p>
            <a:pPr eaLnBrk="1" hangingPunct="1">
              <a:lnSpc>
                <a:spcPct val="90000"/>
              </a:lnSpc>
            </a:pPr>
            <a:r>
              <a:rPr lang="zh-CN" altLang="en-US" sz="2800" smtClean="0"/>
              <a:t>嘉兴段和绍兴段的交通量以</a:t>
            </a:r>
            <a:r>
              <a:rPr lang="en-US" altLang="zh-CN" sz="2800" smtClean="0"/>
              <a:t>20%</a:t>
            </a:r>
            <a:r>
              <a:rPr lang="zh-CN" altLang="en-US" sz="2800" smtClean="0"/>
              <a:t>年增长速度在增加，总量的提高极快 </a:t>
            </a:r>
            <a:endParaRPr lang="zh-CN" altLang="en-US" sz="2800" smtClean="0"/>
          </a:p>
          <a:p>
            <a:pPr eaLnBrk="1" hangingPunct="1">
              <a:lnSpc>
                <a:spcPct val="90000"/>
              </a:lnSpc>
            </a:pPr>
            <a:r>
              <a:rPr lang="zh-CN" altLang="en-US" sz="2800" smtClean="0"/>
              <a:t>部分路段已大大超过原设计交通量，由此造成路段车辆通行不畅，事故频发 </a:t>
            </a:r>
            <a:endParaRPr lang="zh-CN" altLang="en-US" sz="2800" smtClean="0"/>
          </a:p>
          <a:p>
            <a:pPr eaLnBrk="1" hangingPunct="1">
              <a:lnSpc>
                <a:spcPct val="90000"/>
              </a:lnSpc>
            </a:pPr>
            <a:r>
              <a:rPr lang="zh-CN" altLang="en-US" sz="2800" smtClean="0"/>
              <a:t>按照日本的评价条件对于年均交通量递增超过</a:t>
            </a:r>
            <a:r>
              <a:rPr lang="en-US" altLang="zh-CN" sz="2800" smtClean="0"/>
              <a:t>20%</a:t>
            </a:r>
            <a:r>
              <a:rPr lang="zh-CN" altLang="en-US" sz="2800" smtClean="0"/>
              <a:t>的该路段已属于不适应状态之一，必须提高道路的通行能力。</a:t>
            </a:r>
            <a:endParaRPr lang="zh-CN" altLang="en-US" sz="280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0978C4E-C921-4B99-BDEF-8746EE93CBF0}" type="slidenum">
              <a:rPr lang="zh-CN" altLang="en-US" sz="1400" smtClean="0"/>
            </a:fld>
            <a:endParaRPr lang="en-US" altLang="zh-CN" sz="1400" smtClean="0"/>
          </a:p>
        </p:txBody>
      </p:sp>
      <p:sp>
        <p:nvSpPr>
          <p:cNvPr id="13315" name="Rectangle 2"/>
          <p:cNvSpPr>
            <a:spLocks noGrp="1" noRot="1" noChangeArrowheads="1"/>
          </p:cNvSpPr>
          <p:nvPr>
            <p:ph type="title"/>
          </p:nvPr>
        </p:nvSpPr>
        <p:spPr/>
        <p:txBody>
          <a:bodyPr/>
          <a:lstStyle/>
          <a:p>
            <a:pPr eaLnBrk="1" hangingPunct="1"/>
            <a:r>
              <a:rPr lang="zh-CN" altLang="en-US" b="1" smtClean="0"/>
              <a:t>对工程的影响因素</a:t>
            </a:r>
            <a:endParaRPr lang="zh-CN" altLang="en-US" b="1" smtClean="0"/>
          </a:p>
        </p:txBody>
      </p:sp>
      <p:sp>
        <p:nvSpPr>
          <p:cNvPr id="13316" name="Rectangle 3"/>
          <p:cNvSpPr>
            <a:spLocks noGrp="1" noRot="1" noChangeArrowheads="1"/>
          </p:cNvSpPr>
          <p:nvPr>
            <p:ph type="body" idx="1"/>
          </p:nvPr>
        </p:nvSpPr>
        <p:spPr/>
        <p:txBody>
          <a:bodyPr/>
          <a:lstStyle/>
          <a:p>
            <a:pPr eaLnBrk="1" hangingPunct="1">
              <a:lnSpc>
                <a:spcPct val="90000"/>
              </a:lnSpc>
            </a:pPr>
            <a:r>
              <a:rPr lang="zh-CN" altLang="en-US" smtClean="0"/>
              <a:t>地形地貌 </a:t>
            </a:r>
            <a:endParaRPr lang="zh-CN" altLang="en-US" smtClean="0"/>
          </a:p>
          <a:p>
            <a:pPr eaLnBrk="1" hangingPunct="1">
              <a:lnSpc>
                <a:spcPct val="90000"/>
              </a:lnSpc>
            </a:pPr>
            <a:r>
              <a:rPr lang="zh-CN" altLang="en-US" smtClean="0"/>
              <a:t>区域地质 </a:t>
            </a:r>
            <a:endParaRPr lang="zh-CN" altLang="en-US" smtClean="0"/>
          </a:p>
          <a:p>
            <a:pPr eaLnBrk="1" hangingPunct="1">
              <a:lnSpc>
                <a:spcPct val="90000"/>
              </a:lnSpc>
            </a:pPr>
            <a:r>
              <a:rPr lang="zh-CN" altLang="en-US" smtClean="0"/>
              <a:t>气候条件</a:t>
            </a:r>
            <a:endParaRPr lang="zh-CN" altLang="en-US" smtClean="0"/>
          </a:p>
          <a:p>
            <a:pPr eaLnBrk="1" hangingPunct="1">
              <a:lnSpc>
                <a:spcPct val="90000"/>
              </a:lnSpc>
            </a:pPr>
            <a:r>
              <a:rPr lang="zh-CN" altLang="en-US" smtClean="0"/>
              <a:t>河流和水文</a:t>
            </a:r>
            <a:endParaRPr lang="zh-CN" altLang="en-US" smtClean="0"/>
          </a:p>
          <a:p>
            <a:pPr eaLnBrk="1" hangingPunct="1">
              <a:lnSpc>
                <a:spcPct val="90000"/>
              </a:lnSpc>
            </a:pPr>
            <a:r>
              <a:rPr lang="zh-CN" altLang="en-US" smtClean="0"/>
              <a:t>筑路材料及运输条件 </a:t>
            </a:r>
            <a:endParaRPr lang="zh-CN" altLang="en-US" smtClean="0"/>
          </a:p>
          <a:p>
            <a:pPr eaLnBrk="1" hangingPunct="1">
              <a:lnSpc>
                <a:spcPct val="90000"/>
              </a:lnSpc>
            </a:pPr>
            <a:r>
              <a:rPr lang="zh-CN" altLang="en-US" smtClean="0"/>
              <a:t>生态与环境</a:t>
            </a:r>
            <a:endParaRPr lang="zh-CN" altLang="en-US" smtClean="0"/>
          </a:p>
          <a:p>
            <a:pPr eaLnBrk="1" hangingPunct="1">
              <a:lnSpc>
                <a:spcPct val="90000"/>
              </a:lnSpc>
            </a:pPr>
            <a:r>
              <a:rPr lang="zh-CN" altLang="en-US" smtClean="0"/>
              <a:t>社会影响</a:t>
            </a:r>
            <a:endParaRPr lang="zh-CN" altLang="en-US" smtClean="0"/>
          </a:p>
          <a:p>
            <a:pPr eaLnBrk="1" hangingPunct="1">
              <a:lnSpc>
                <a:spcPct val="90000"/>
              </a:lnSpc>
            </a:pPr>
            <a:endParaRPr lang="zh-CN" altLang="en-US"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EDEA4E8-17F0-43C3-AF0F-8A4C8D90E6C1}" type="slidenum">
              <a:rPr lang="zh-CN" altLang="en-US" sz="1400" smtClean="0"/>
            </a:fld>
            <a:endParaRPr lang="en-US" altLang="zh-CN" sz="1400" smtClean="0"/>
          </a:p>
        </p:txBody>
      </p:sp>
      <p:sp>
        <p:nvSpPr>
          <p:cNvPr id="14339" name="Rectangle 2"/>
          <p:cNvSpPr>
            <a:spLocks noGrp="1" noRot="1" noChangeArrowheads="1"/>
          </p:cNvSpPr>
          <p:nvPr>
            <p:ph type="title"/>
          </p:nvPr>
        </p:nvSpPr>
        <p:spPr/>
        <p:txBody>
          <a:bodyPr/>
          <a:lstStyle/>
          <a:p>
            <a:pPr eaLnBrk="1" hangingPunct="1"/>
            <a:r>
              <a:rPr lang="zh-CN" altLang="en-US" b="1" smtClean="0"/>
              <a:t>拟建项目与其它交通衔接状况</a:t>
            </a:r>
            <a:r>
              <a:rPr lang="zh-CN" altLang="en-US" smtClean="0"/>
              <a:t> </a:t>
            </a:r>
            <a:endParaRPr lang="zh-CN" altLang="en-US" smtClean="0"/>
          </a:p>
        </p:txBody>
      </p:sp>
      <p:sp>
        <p:nvSpPr>
          <p:cNvPr id="14340" name="Rectangle 3"/>
          <p:cNvSpPr>
            <a:spLocks noGrp="1" noRot="1" noChangeArrowheads="1"/>
          </p:cNvSpPr>
          <p:nvPr>
            <p:ph type="body" idx="1"/>
          </p:nvPr>
        </p:nvSpPr>
        <p:spPr/>
        <p:txBody>
          <a:bodyPr/>
          <a:lstStyle/>
          <a:p>
            <a:pPr eaLnBrk="1" hangingPunct="1"/>
            <a:r>
              <a:rPr lang="zh-CN" altLang="en-US" sz="2800" smtClean="0"/>
              <a:t>与公路网的关系</a:t>
            </a:r>
            <a:endParaRPr lang="zh-CN" altLang="en-US" sz="2800" smtClean="0"/>
          </a:p>
          <a:p>
            <a:pPr eaLnBrk="1" hangingPunct="1"/>
            <a:r>
              <a:rPr lang="zh-CN" altLang="en-US" sz="2800" smtClean="0"/>
              <a:t>与铁路的关系</a:t>
            </a:r>
            <a:endParaRPr lang="zh-CN" altLang="en-US" sz="2800" smtClean="0"/>
          </a:p>
          <a:p>
            <a:pPr eaLnBrk="1" hangingPunct="1"/>
            <a:r>
              <a:rPr lang="zh-CN" altLang="en-US" sz="2800" smtClean="0"/>
              <a:t>与水运的关系</a:t>
            </a:r>
            <a:endParaRPr lang="zh-CN" altLang="en-US" sz="2800" smtClean="0"/>
          </a:p>
          <a:p>
            <a:pPr eaLnBrk="1" hangingPunct="1"/>
            <a:r>
              <a:rPr lang="zh-CN" altLang="en-US" sz="2800" smtClean="0"/>
              <a:t>与航空的关系</a:t>
            </a:r>
            <a:endParaRPr lang="zh-CN" altLang="en-US" sz="2800" smtClean="0"/>
          </a:p>
          <a:p>
            <a:pPr eaLnBrk="1" hangingPunct="1"/>
            <a:r>
              <a:rPr lang="zh-CN" altLang="en-US" sz="2800" smtClean="0"/>
              <a:t>结论</a:t>
            </a:r>
            <a:r>
              <a:rPr lang="en-US" altLang="zh-CN" sz="2800" smtClean="0"/>
              <a:t>:</a:t>
            </a:r>
            <a:r>
              <a:rPr lang="zh-CN" altLang="en-US" sz="2800" smtClean="0"/>
              <a:t>拟建公路为南北走向，将钱塘江两岸道路网有机地连接成一体，使浙江南部及毗邻的福建、江西车辆通过本项目径直地向北去向上海和江苏及以北 </a:t>
            </a:r>
            <a:endParaRPr lang="en-US" altLang="zh-CN" sz="280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6CA669D-6F86-4D34-9D24-593EC8B581F8}" type="slidenum">
              <a:rPr lang="zh-CN" altLang="en-US" sz="1400" smtClean="0"/>
            </a:fld>
            <a:endParaRPr lang="en-US" altLang="zh-CN" sz="1400" smtClean="0"/>
          </a:p>
        </p:txBody>
      </p:sp>
      <p:sp>
        <p:nvSpPr>
          <p:cNvPr id="15363" name="Rectangle 2"/>
          <p:cNvSpPr>
            <a:spLocks noGrp="1" noRot="1" noChangeArrowheads="1"/>
          </p:cNvSpPr>
          <p:nvPr>
            <p:ph type="title"/>
          </p:nvPr>
        </p:nvSpPr>
        <p:spPr/>
        <p:txBody>
          <a:bodyPr/>
          <a:lstStyle/>
          <a:p>
            <a:pPr eaLnBrk="1" hangingPunct="1"/>
            <a:r>
              <a:rPr lang="zh-CN" altLang="en-US" sz="4000" smtClean="0"/>
              <a:t>运输发展预测及建设的必要性</a:t>
            </a:r>
            <a:br>
              <a:rPr lang="zh-CN" altLang="en-US" sz="4000" smtClean="0"/>
            </a:br>
            <a:endParaRPr lang="zh-CN" altLang="en-US" sz="4000" smtClean="0"/>
          </a:p>
        </p:txBody>
      </p:sp>
      <p:sp>
        <p:nvSpPr>
          <p:cNvPr id="15364" name="Rectangle 3"/>
          <p:cNvSpPr>
            <a:spLocks noGrp="1" noRot="1" noChangeArrowheads="1"/>
          </p:cNvSpPr>
          <p:nvPr>
            <p:ph type="body" idx="1"/>
          </p:nvPr>
        </p:nvSpPr>
        <p:spPr/>
        <p:txBody>
          <a:bodyPr/>
          <a:lstStyle/>
          <a:p>
            <a:pPr eaLnBrk="1" hangingPunct="1"/>
            <a:r>
              <a:rPr lang="zh-CN" altLang="en-US" smtClean="0"/>
              <a:t>嘉兴市是浙江北部的经济重镇和重要的交通枢纽，地处杭州湾和钱塘江北岸，东与上海市相邻，西接浙北重镇湖州市</a:t>
            </a:r>
            <a:endParaRPr lang="zh-CN" altLang="en-US" smtClean="0"/>
          </a:p>
          <a:p>
            <a:pPr eaLnBrk="1" hangingPunct="1"/>
            <a:r>
              <a:rPr lang="zh-CN" altLang="en-US" smtClean="0"/>
              <a:t>绍兴市处在浙北平原区，是具有悠久历史的文化名城，绍兴地处钱塘江入海河段的南岸，位于杭甬之间，西邻杭州，东连宁波，北濒杭州湾 </a:t>
            </a:r>
            <a:endParaRPr lang="zh-CN" altLang="en-US"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88B57F8-86D1-4871-809D-1F10579B571B}" type="slidenum">
              <a:rPr lang="zh-CN" altLang="en-US" sz="1400" smtClean="0"/>
            </a:fld>
            <a:endParaRPr lang="en-US" altLang="zh-CN" sz="1400" smtClean="0"/>
          </a:p>
        </p:txBody>
      </p:sp>
      <p:sp>
        <p:nvSpPr>
          <p:cNvPr id="16387" name="Rectangle 2"/>
          <p:cNvSpPr>
            <a:spLocks noGrp="1" noRot="1" noChangeArrowheads="1"/>
          </p:cNvSpPr>
          <p:nvPr>
            <p:ph type="title"/>
          </p:nvPr>
        </p:nvSpPr>
        <p:spPr/>
        <p:txBody>
          <a:bodyPr/>
          <a:lstStyle/>
          <a:p>
            <a:pPr eaLnBrk="1" hangingPunct="1"/>
            <a:r>
              <a:rPr lang="zh-CN" altLang="en-US" smtClean="0"/>
              <a:t>社会经济发展现状 </a:t>
            </a:r>
            <a:endParaRPr lang="zh-CN" altLang="en-US" smtClean="0"/>
          </a:p>
        </p:txBody>
      </p:sp>
      <p:graphicFrame>
        <p:nvGraphicFramePr>
          <p:cNvPr id="16388" name="Object 4"/>
          <p:cNvGraphicFramePr>
            <a:graphicFrameLocks noGrp="1" noChangeAspect="1"/>
          </p:cNvGraphicFramePr>
          <p:nvPr>
            <p:ph idx="1"/>
          </p:nvPr>
        </p:nvGraphicFramePr>
        <p:xfrm>
          <a:off x="250825" y="2090738"/>
          <a:ext cx="8893175" cy="3986212"/>
        </p:xfrm>
        <a:graphic>
          <a:graphicData uri="http://schemas.openxmlformats.org/presentationml/2006/ole">
            <mc:AlternateContent xmlns:mc="http://schemas.openxmlformats.org/markup-compatibility/2006">
              <mc:Choice xmlns:v="urn:schemas-microsoft-com:vml" Requires="v">
                <p:oleObj spid="_x0000_s16390" name="图表" r:id="rId1" imgW="4514850" imgH="2028825" progId="MSGraph.Chart.8">
                  <p:embed/>
                </p:oleObj>
              </mc:Choice>
              <mc:Fallback>
                <p:oleObj name="图表" r:id="rId1" imgW="4514850" imgH="2028825" progId="MSGraph.Char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090738"/>
                        <a:ext cx="8893175" cy="3986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37F1966-C07B-4B1B-ABD2-5229564E1DBB}" type="slidenum">
              <a:rPr lang="zh-CN" altLang="en-US" sz="1400" smtClean="0"/>
            </a:fld>
            <a:endParaRPr lang="en-US" altLang="zh-CN" sz="1400" smtClean="0"/>
          </a:p>
        </p:txBody>
      </p:sp>
      <p:sp>
        <p:nvSpPr>
          <p:cNvPr id="17411" name="Rectangle 2"/>
          <p:cNvSpPr>
            <a:spLocks noGrp="1" noRot="1" noChangeArrowheads="1"/>
          </p:cNvSpPr>
          <p:nvPr>
            <p:ph type="title"/>
          </p:nvPr>
        </p:nvSpPr>
        <p:spPr>
          <a:xfrm>
            <a:off x="179388" y="0"/>
            <a:ext cx="8540750" cy="1143000"/>
          </a:xfrm>
        </p:spPr>
        <p:txBody>
          <a:bodyPr/>
          <a:lstStyle/>
          <a:p>
            <a:pPr eaLnBrk="1" hangingPunct="1"/>
            <a:r>
              <a:rPr lang="zh-CN" altLang="en-AU" b="1" smtClean="0">
                <a:solidFill>
                  <a:schemeClr val="tx1"/>
                </a:solidFill>
              </a:rPr>
              <a:t>浙江省社会经济发展情况表</a:t>
            </a:r>
            <a:endParaRPr lang="zh-CN" altLang="en-US" b="1" smtClean="0">
              <a:solidFill>
                <a:schemeClr val="tx1"/>
              </a:solidFill>
            </a:endParaRPr>
          </a:p>
        </p:txBody>
      </p:sp>
      <p:sp>
        <p:nvSpPr>
          <p:cNvPr id="17412" name="Rectangle 4"/>
          <p:cNvSpPr>
            <a:spLocks noChangeArrowheads="1"/>
          </p:cNvSpPr>
          <p:nvPr/>
        </p:nvSpPr>
        <p:spPr bwMode="auto">
          <a:xfrm>
            <a:off x="960438" y="1149350"/>
            <a:ext cx="14890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AU" sz="900"/>
          </a:p>
          <a:p>
            <a:pPr>
              <a:spcBef>
                <a:spcPct val="0"/>
              </a:spcBef>
              <a:buClrTx/>
              <a:buSzTx/>
              <a:buFontTx/>
              <a:buNone/>
            </a:pPr>
            <a:endParaRPr lang="zh-CN" altLang="en-AU" sz="2400">
              <a:latin typeface="Times New Roman" panose="02020603050405020304" pitchFamily="18" charset="0"/>
            </a:endParaRPr>
          </a:p>
        </p:txBody>
      </p:sp>
      <p:graphicFrame>
        <p:nvGraphicFramePr>
          <p:cNvPr id="372207" name="Group 495"/>
          <p:cNvGraphicFramePr>
            <a:graphicFrameLocks noGrp="1"/>
          </p:cNvGraphicFramePr>
          <p:nvPr/>
        </p:nvGraphicFramePr>
        <p:xfrm>
          <a:off x="250825" y="981075"/>
          <a:ext cx="8424863" cy="5516563"/>
        </p:xfrm>
        <a:graphic>
          <a:graphicData uri="http://schemas.openxmlformats.org/drawingml/2006/table">
            <a:tbl>
              <a:tblPr/>
              <a:tblGrid>
                <a:gridCol w="1243013"/>
                <a:gridCol w="1423987"/>
                <a:gridCol w="1868488"/>
                <a:gridCol w="1560512"/>
                <a:gridCol w="2328863"/>
              </a:tblGrid>
              <a:tr h="579097">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年 份</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人 口</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国内生产总值</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（亿元）</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出口总额</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（亿美元）</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人均国内生产总值</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（元</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人）</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r>
              <a:tr h="33525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1990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4234.91</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897.99</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21.8881</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2122</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3525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1991</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4261.37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1081.75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29.1628</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2540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3525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1992</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4285.91</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1365.06</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35.7127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3187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3525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1993</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4313.30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1909.49</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43.2313</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4431</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3525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1994</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4341.20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2666.86</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60.8657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6149</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3525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1995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4369.63</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3524.79</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76.9782</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8074</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3525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1996</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4400.09</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4146.06</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80.4147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9455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3525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1997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4422.28</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4638.24</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101.1113</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10515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3525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1998</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4446.86</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4987.50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108.6623</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11247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3525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1999</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4467.46</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5364.89</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128.7125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12037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3525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2000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4501.22</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6036.34</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194.4369</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13461</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3525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2001</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4519.84</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6748.20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229.7747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14655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579097">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2002</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4535.98</a:t>
                      </a:r>
                      <a:endParaRPr kumimoji="0" lang="en-AU"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7796.00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294.1820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16838</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35259">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年平均增长率（</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19.57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27.90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18.68</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1" marB="45711"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6DF60BC-9E8C-41BF-83B9-FF2144F82FD5}" type="slidenum">
              <a:rPr lang="zh-CN" altLang="en-US" sz="1400" smtClean="0"/>
            </a:fld>
            <a:endParaRPr lang="en-US" altLang="zh-CN" sz="1400" smtClean="0"/>
          </a:p>
        </p:txBody>
      </p:sp>
      <p:sp>
        <p:nvSpPr>
          <p:cNvPr id="18435" name="Rectangle 2"/>
          <p:cNvSpPr>
            <a:spLocks noGrp="1" noRot="1" noChangeArrowheads="1"/>
          </p:cNvSpPr>
          <p:nvPr>
            <p:ph type="title"/>
          </p:nvPr>
        </p:nvSpPr>
        <p:spPr/>
        <p:txBody>
          <a:bodyPr/>
          <a:lstStyle/>
          <a:p>
            <a:pPr eaLnBrk="1" hangingPunct="1"/>
            <a:r>
              <a:rPr lang="zh-CN" altLang="en-US" smtClean="0"/>
              <a:t>嘉兴市</a:t>
            </a:r>
            <a:endParaRPr lang="zh-CN" altLang="en-US" smtClean="0"/>
          </a:p>
        </p:txBody>
      </p:sp>
      <p:pic>
        <p:nvPicPr>
          <p:cNvPr id="18436" name="Picture 4" descr="ditu5"/>
          <p:cNvPicPr>
            <a:picLocks noChangeAspect="1" noChangeArrowheads="1"/>
          </p:cNvPicPr>
          <p:nvPr/>
        </p:nvPicPr>
        <p:blipFill>
          <a:blip r:embed="rId1">
            <a:lum contrast="36000"/>
            <a:extLst>
              <a:ext uri="{28A0092B-C50C-407E-A947-70E740481C1C}">
                <a14:useLocalDpi xmlns:a14="http://schemas.microsoft.com/office/drawing/2010/main" val="0"/>
              </a:ext>
            </a:extLst>
          </a:blip>
          <a:srcRect r="369" b="903"/>
          <a:stretch>
            <a:fillRect/>
          </a:stretch>
        </p:blipFill>
        <p:spPr bwMode="auto">
          <a:xfrm>
            <a:off x="971550" y="2025650"/>
            <a:ext cx="6840538"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282D9A1-D7A4-41E6-8045-824F4801B871}" type="slidenum">
              <a:rPr lang="zh-CN" altLang="en-US" sz="1400" smtClean="0"/>
            </a:fld>
            <a:endParaRPr lang="en-US" altLang="zh-CN" sz="1400" smtClean="0"/>
          </a:p>
        </p:txBody>
      </p:sp>
      <p:sp>
        <p:nvSpPr>
          <p:cNvPr id="19459" name="Rectangle 2"/>
          <p:cNvSpPr>
            <a:spLocks noGrp="1" noRot="1" noChangeArrowheads="1"/>
          </p:cNvSpPr>
          <p:nvPr>
            <p:ph type="title"/>
          </p:nvPr>
        </p:nvSpPr>
        <p:spPr/>
        <p:txBody>
          <a:bodyPr/>
          <a:lstStyle/>
          <a:p>
            <a:pPr eaLnBrk="1" hangingPunct="1"/>
            <a:r>
              <a:rPr lang="zh-CN" altLang="en-US" smtClean="0"/>
              <a:t>海盐县</a:t>
            </a:r>
            <a:endParaRPr lang="zh-CN" altLang="en-US" smtClean="0"/>
          </a:p>
        </p:txBody>
      </p:sp>
      <p:pic>
        <p:nvPicPr>
          <p:cNvPr id="19460" name="Picture 4" descr="ditu"/>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450" y="1892300"/>
            <a:ext cx="6840538" cy="459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D52D5D6-7A42-4DE5-BCA9-384CE3A17EC6}" type="slidenum">
              <a:rPr lang="zh-CN" altLang="en-US" sz="1400" smtClean="0"/>
            </a:fld>
            <a:endParaRPr lang="en-US" altLang="zh-CN" sz="1400" smtClean="0"/>
          </a:p>
        </p:txBody>
      </p:sp>
      <p:sp>
        <p:nvSpPr>
          <p:cNvPr id="20483" name="Rectangle 2"/>
          <p:cNvSpPr>
            <a:spLocks noGrp="1" noRot="1" noChangeArrowheads="1"/>
          </p:cNvSpPr>
          <p:nvPr>
            <p:ph type="title"/>
          </p:nvPr>
        </p:nvSpPr>
        <p:spPr/>
        <p:txBody>
          <a:bodyPr/>
          <a:lstStyle/>
          <a:p>
            <a:pPr eaLnBrk="1" hangingPunct="1"/>
            <a:r>
              <a:rPr lang="zh-CN" altLang="en-US" smtClean="0"/>
              <a:t>海宁市</a:t>
            </a:r>
            <a:endParaRPr lang="zh-CN" altLang="en-US" smtClean="0"/>
          </a:p>
        </p:txBody>
      </p:sp>
      <p:pic>
        <p:nvPicPr>
          <p:cNvPr id="20484" name="Picture 4" descr="map"/>
          <p:cNvPicPr>
            <a:picLocks noChangeAspect="1" noChangeArrowheads="1"/>
          </p:cNvPicPr>
          <p:nvPr/>
        </p:nvPicPr>
        <p:blipFill>
          <a:blip r:embed="rId1">
            <a:lum bright="-24000" contrast="48000"/>
            <a:extLst>
              <a:ext uri="{28A0092B-C50C-407E-A947-70E740481C1C}">
                <a14:useLocalDpi xmlns:a14="http://schemas.microsoft.com/office/drawing/2010/main" val="0"/>
              </a:ext>
            </a:extLst>
          </a:blip>
          <a:srcRect/>
          <a:stretch>
            <a:fillRect/>
          </a:stretch>
        </p:blipFill>
        <p:spPr bwMode="auto">
          <a:xfrm>
            <a:off x="1258888" y="1816100"/>
            <a:ext cx="6985000" cy="474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B88BAC0-BF67-4D37-BE0C-8FB482848D33}" type="slidenum">
              <a:rPr lang="zh-CN" altLang="en-US" sz="1400" smtClean="0"/>
            </a:fld>
            <a:endParaRPr lang="en-US" altLang="zh-CN" sz="1400" smtClean="0"/>
          </a:p>
        </p:txBody>
      </p:sp>
      <p:sp>
        <p:nvSpPr>
          <p:cNvPr id="21507" name="Rectangle 2"/>
          <p:cNvSpPr>
            <a:spLocks noGrp="1" noRot="1" noChangeArrowheads="1"/>
          </p:cNvSpPr>
          <p:nvPr>
            <p:ph type="title"/>
          </p:nvPr>
        </p:nvSpPr>
        <p:spPr/>
        <p:txBody>
          <a:bodyPr/>
          <a:lstStyle/>
          <a:p>
            <a:pPr eaLnBrk="1" hangingPunct="1"/>
            <a:r>
              <a:rPr lang="zh-CN" altLang="en-US" smtClean="0"/>
              <a:t>绍兴市</a:t>
            </a:r>
            <a:endParaRPr lang="zh-CN" altLang="en-US" smtClean="0"/>
          </a:p>
        </p:txBody>
      </p:sp>
      <p:pic>
        <p:nvPicPr>
          <p:cNvPr id="21508" name="Picture 4" descr="sxgk1"/>
          <p:cNvPicPr>
            <a:picLocks noChangeAspect="1" noChangeArrowheads="1"/>
          </p:cNvPicPr>
          <p:nvPr/>
        </p:nvPicPr>
        <p:blipFill>
          <a:blip r:embed="rId1">
            <a:lum bright="-6000"/>
            <a:extLst>
              <a:ext uri="{28A0092B-C50C-407E-A947-70E740481C1C}">
                <a14:useLocalDpi xmlns:a14="http://schemas.microsoft.com/office/drawing/2010/main" val="0"/>
              </a:ext>
            </a:extLst>
          </a:blip>
          <a:srcRect/>
          <a:stretch>
            <a:fillRect/>
          </a:stretch>
        </p:blipFill>
        <p:spPr bwMode="auto">
          <a:xfrm>
            <a:off x="1187450" y="1916113"/>
            <a:ext cx="6696075"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EE5DFCF-FCC6-430D-A62A-8F798A679BA8}" type="slidenum">
              <a:rPr lang="zh-CN" altLang="en-US" sz="1400" smtClean="0"/>
            </a:fld>
            <a:endParaRPr lang="en-US" altLang="zh-CN" sz="1400" smtClean="0"/>
          </a:p>
        </p:txBody>
      </p:sp>
      <p:sp>
        <p:nvSpPr>
          <p:cNvPr id="22531" name="Rectangle 2"/>
          <p:cNvSpPr>
            <a:spLocks noGrp="1" noRot="1" noChangeArrowheads="1"/>
          </p:cNvSpPr>
          <p:nvPr>
            <p:ph type="title"/>
          </p:nvPr>
        </p:nvSpPr>
        <p:spPr/>
        <p:txBody>
          <a:bodyPr/>
          <a:lstStyle/>
          <a:p>
            <a:pPr eaLnBrk="1" hangingPunct="1"/>
            <a:r>
              <a:rPr lang="zh-CN" altLang="en-US" smtClean="0"/>
              <a:t>上虞市</a:t>
            </a:r>
            <a:endParaRPr lang="zh-CN" altLang="en-US" smtClean="0"/>
          </a:p>
        </p:txBody>
      </p:sp>
      <p:pic>
        <p:nvPicPr>
          <p:cNvPr id="22532" name="Picture 4" descr="map2"/>
          <p:cNvPicPr>
            <a:picLocks noChangeAspect="1" noChangeArrowheads="1"/>
          </p:cNvPicPr>
          <p:nvPr/>
        </p:nvPicPr>
        <p:blipFill>
          <a:blip r:embed="rId1">
            <a:extLst>
              <a:ext uri="{28A0092B-C50C-407E-A947-70E740481C1C}">
                <a14:useLocalDpi xmlns:a14="http://schemas.microsoft.com/office/drawing/2010/main" val="0"/>
              </a:ext>
            </a:extLst>
          </a:blip>
          <a:srcRect l="9404" t="20309" b="-374"/>
          <a:stretch>
            <a:fillRect/>
          </a:stretch>
        </p:blipFill>
        <p:spPr bwMode="auto">
          <a:xfrm>
            <a:off x="250825" y="1844675"/>
            <a:ext cx="8353425" cy="482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9CDAFA1-396F-4249-9B55-FEC08D6EEF64}" type="slidenum">
              <a:rPr lang="zh-CN" altLang="en-US" sz="1400" smtClean="0"/>
            </a:fld>
            <a:endParaRPr lang="en-US" altLang="zh-CN" sz="1400" smtClean="0"/>
          </a:p>
        </p:txBody>
      </p:sp>
      <p:sp>
        <p:nvSpPr>
          <p:cNvPr id="23555" name="Rectangle 2"/>
          <p:cNvSpPr>
            <a:spLocks noGrp="1" noRot="1" noChangeArrowheads="1"/>
          </p:cNvSpPr>
          <p:nvPr>
            <p:ph type="title"/>
          </p:nvPr>
        </p:nvSpPr>
        <p:spPr/>
        <p:txBody>
          <a:bodyPr/>
          <a:lstStyle/>
          <a:p>
            <a:pPr eaLnBrk="1" hangingPunct="1"/>
            <a:r>
              <a:rPr lang="zh-CN" altLang="en-US" smtClean="0"/>
              <a:t>项目影响区社会经济发展规划 </a:t>
            </a:r>
            <a:endParaRPr lang="zh-CN" altLang="en-US" smtClean="0"/>
          </a:p>
        </p:txBody>
      </p:sp>
      <p:sp>
        <p:nvSpPr>
          <p:cNvPr id="23556" name="Rectangle 3"/>
          <p:cNvSpPr>
            <a:spLocks noGrp="1" noRot="1" noChangeArrowheads="1"/>
          </p:cNvSpPr>
          <p:nvPr>
            <p:ph type="body" idx="1"/>
          </p:nvPr>
        </p:nvSpPr>
        <p:spPr/>
        <p:txBody>
          <a:bodyPr/>
          <a:lstStyle/>
          <a:p>
            <a:pPr eaLnBrk="1" hangingPunct="1"/>
            <a:r>
              <a:rPr lang="zh-CN" altLang="en-US" sz="2800" b="1" smtClean="0"/>
              <a:t>以市场为导向，大力调整和优化经济结构</a:t>
            </a:r>
            <a:r>
              <a:rPr lang="zh-CN" altLang="en-US" sz="2800" smtClean="0"/>
              <a:t> </a:t>
            </a:r>
            <a:endParaRPr lang="zh-CN" altLang="en-US" sz="2800" smtClean="0"/>
          </a:p>
          <a:p>
            <a:pPr eaLnBrk="1" hangingPunct="1"/>
            <a:r>
              <a:rPr lang="zh-CN" altLang="en-US" sz="2800" b="1" smtClean="0"/>
              <a:t>深化经济体制改革，再创体制与机制的新优势</a:t>
            </a:r>
            <a:r>
              <a:rPr lang="zh-CN" altLang="en-US" sz="2800" smtClean="0"/>
              <a:t> </a:t>
            </a:r>
            <a:endParaRPr lang="zh-CN" altLang="en-US" sz="2800" smtClean="0"/>
          </a:p>
          <a:p>
            <a:pPr eaLnBrk="1" hangingPunct="1"/>
            <a:r>
              <a:rPr lang="zh-CN" altLang="en-US" sz="2800" b="1" smtClean="0"/>
              <a:t>积极参与国际市场竞争，加快培养和形成开放型经济的新优势</a:t>
            </a:r>
            <a:r>
              <a:rPr lang="zh-CN" altLang="en-US" sz="2800" smtClean="0"/>
              <a:t> </a:t>
            </a:r>
            <a:endParaRPr lang="zh-CN" altLang="en-US" sz="2800" smtClean="0"/>
          </a:p>
          <a:p>
            <a:pPr eaLnBrk="1" hangingPunct="1"/>
            <a:r>
              <a:rPr lang="zh-CN" altLang="en-US" sz="2800" b="1" smtClean="0"/>
              <a:t>继续强化基础设施建设，创建良好的投资环境，为保持社会经济的可持续发展提供后劲</a:t>
            </a:r>
            <a:r>
              <a:rPr lang="zh-CN" altLang="en-US" sz="2800" smtClean="0"/>
              <a:t> </a:t>
            </a:r>
            <a:endParaRPr lang="zh-CN" altLang="en-US" sz="2800" smtClean="0"/>
          </a:p>
          <a:p>
            <a:pPr eaLnBrk="1" hangingPunct="1"/>
            <a:r>
              <a:rPr lang="zh-CN" altLang="en-US" sz="2800" b="1" smtClean="0"/>
              <a:t>努力促进中心城市和小城镇、发达地区与欠发达地区的共同发展，进一步营建区域经济的新优势</a:t>
            </a:r>
            <a:r>
              <a:rPr lang="zh-CN" altLang="en-US" sz="2800" smtClean="0"/>
              <a:t> </a:t>
            </a:r>
            <a:endParaRPr lang="zh-CN" altLang="en-US" sz="280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6C7E19C-B2A2-4130-A627-A0E95C683EED}" type="slidenum">
              <a:rPr lang="zh-CN" altLang="en-US" sz="1400" smtClean="0"/>
            </a:fld>
            <a:endParaRPr lang="en-US" altLang="zh-CN" sz="1400" smtClean="0"/>
          </a:p>
        </p:txBody>
      </p:sp>
      <p:sp>
        <p:nvSpPr>
          <p:cNvPr id="24579" name="Rectangle 2"/>
          <p:cNvSpPr>
            <a:spLocks noGrp="1" noRot="1" noChangeArrowheads="1"/>
          </p:cNvSpPr>
          <p:nvPr>
            <p:ph type="title"/>
          </p:nvPr>
        </p:nvSpPr>
        <p:spPr/>
        <p:txBody>
          <a:bodyPr/>
          <a:lstStyle/>
          <a:p>
            <a:pPr eaLnBrk="1" hangingPunct="1"/>
            <a:r>
              <a:rPr lang="zh-CN" altLang="en-US" sz="4000" b="1" smtClean="0"/>
              <a:t>项目影响区交通运输现状及发展</a:t>
            </a:r>
            <a:br>
              <a:rPr lang="zh-CN" altLang="en-US" sz="4000" b="1" smtClean="0"/>
            </a:br>
            <a:endParaRPr lang="zh-CN" altLang="en-US" sz="4000" b="1" smtClean="0"/>
          </a:p>
        </p:txBody>
      </p:sp>
      <p:sp>
        <p:nvSpPr>
          <p:cNvPr id="24580" name="Rectangle 5"/>
          <p:cNvSpPr>
            <a:spLocks noChangeArrowheads="1"/>
          </p:cNvSpPr>
          <p:nvPr/>
        </p:nvSpPr>
        <p:spPr bwMode="auto">
          <a:xfrm>
            <a:off x="0" y="2138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graphicFrame>
        <p:nvGraphicFramePr>
          <p:cNvPr id="24581" name="Object 4"/>
          <p:cNvGraphicFramePr>
            <a:graphicFrameLocks noChangeAspect="1"/>
          </p:cNvGraphicFramePr>
          <p:nvPr/>
        </p:nvGraphicFramePr>
        <p:xfrm>
          <a:off x="539750" y="1989138"/>
          <a:ext cx="8172450" cy="4359275"/>
        </p:xfrm>
        <a:graphic>
          <a:graphicData uri="http://schemas.openxmlformats.org/presentationml/2006/ole">
            <mc:AlternateContent xmlns:mc="http://schemas.openxmlformats.org/markup-compatibility/2006">
              <mc:Choice xmlns:v="urn:schemas-microsoft-com:vml" Requires="v">
                <p:oleObj spid="_x0000_s24584" name="图表" r:id="rId1" imgW="5746115" imgH="3070860" progId="MSGraph.Chart.8">
                  <p:embed/>
                </p:oleObj>
              </mc:Choice>
              <mc:Fallback>
                <p:oleObj name="图表" r:id="rId1" imgW="5746115" imgH="3070860" progId="MSGraph.Char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989138"/>
                        <a:ext cx="8172450"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2" name="Text Box 6"/>
          <p:cNvSpPr txBox="1">
            <a:spLocks noChangeArrowheads="1"/>
          </p:cNvSpPr>
          <p:nvPr/>
        </p:nvSpPr>
        <p:spPr bwMode="auto">
          <a:xfrm>
            <a:off x="395288" y="2060575"/>
            <a:ext cx="2995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1"/>
              <a:t>浙江省客运量比例变化图</a:t>
            </a:r>
            <a:endParaRPr lang="zh-CN" altLang="en-US" sz="2000" b="1"/>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3AC231A-5849-4ECD-AB9A-C4530C286AF3}" type="slidenum">
              <a:rPr lang="zh-CN" altLang="en-US" sz="1400" smtClean="0"/>
            </a:fld>
            <a:endParaRPr lang="en-US" altLang="zh-CN" sz="1400" smtClean="0"/>
          </a:p>
        </p:txBody>
      </p:sp>
      <p:sp>
        <p:nvSpPr>
          <p:cNvPr id="25603" name="Rectangle 2"/>
          <p:cNvSpPr>
            <a:spLocks noGrp="1" noRot="1" noChangeArrowheads="1"/>
          </p:cNvSpPr>
          <p:nvPr>
            <p:ph type="title"/>
          </p:nvPr>
        </p:nvSpPr>
        <p:spPr/>
        <p:txBody>
          <a:bodyPr/>
          <a:lstStyle/>
          <a:p>
            <a:pPr eaLnBrk="1" hangingPunct="1"/>
            <a:r>
              <a:rPr lang="zh-CN" altLang="en-US" b="1" smtClean="0">
                <a:solidFill>
                  <a:schemeClr val="tx1"/>
                </a:solidFill>
              </a:rPr>
              <a:t>浙江省货运量比例变化图</a:t>
            </a:r>
            <a:endParaRPr lang="zh-CN" altLang="en-US" b="1" smtClean="0">
              <a:solidFill>
                <a:schemeClr val="tx1"/>
              </a:solidFill>
            </a:endParaRPr>
          </a:p>
        </p:txBody>
      </p:sp>
      <p:sp>
        <p:nvSpPr>
          <p:cNvPr id="25604" name="Rectangle 5"/>
          <p:cNvSpPr>
            <a:spLocks noChangeArrowheads="1"/>
          </p:cNvSpPr>
          <p:nvPr/>
        </p:nvSpPr>
        <p:spPr bwMode="auto">
          <a:xfrm>
            <a:off x="0"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graphicFrame>
        <p:nvGraphicFramePr>
          <p:cNvPr id="25605" name="Object 4"/>
          <p:cNvGraphicFramePr>
            <a:graphicFrameLocks noChangeAspect="1"/>
          </p:cNvGraphicFramePr>
          <p:nvPr/>
        </p:nvGraphicFramePr>
        <p:xfrm>
          <a:off x="0" y="2114550"/>
          <a:ext cx="8459788" cy="4605338"/>
        </p:xfrm>
        <a:graphic>
          <a:graphicData uri="http://schemas.openxmlformats.org/presentationml/2006/ole">
            <mc:AlternateContent xmlns:mc="http://schemas.openxmlformats.org/markup-compatibility/2006">
              <mc:Choice xmlns:v="urn:schemas-microsoft-com:vml" Requires="v">
                <p:oleObj spid="_x0000_s25607" name="图表" r:id="rId1" imgW="5734685" imgH="3126740" progId="MSGraph.Chart.8">
                  <p:embed/>
                </p:oleObj>
              </mc:Choice>
              <mc:Fallback>
                <p:oleObj name="图表" r:id="rId1" imgW="5734685" imgH="3126740" progId="MSGraph.Char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14550"/>
                        <a:ext cx="8459788"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7AA1A68-FEFF-4A37-B4AD-1F24F354B271}" type="slidenum">
              <a:rPr lang="zh-CN" altLang="en-US" sz="1400" smtClean="0"/>
            </a:fld>
            <a:endParaRPr lang="en-US" altLang="zh-CN" sz="1400" smtClean="0"/>
          </a:p>
        </p:txBody>
      </p:sp>
      <p:sp>
        <p:nvSpPr>
          <p:cNvPr id="26627" name="Rectangle 2"/>
          <p:cNvSpPr>
            <a:spLocks noGrp="1" noRot="1" noChangeArrowheads="1"/>
          </p:cNvSpPr>
          <p:nvPr>
            <p:ph type="title"/>
          </p:nvPr>
        </p:nvSpPr>
        <p:spPr/>
        <p:txBody>
          <a:bodyPr/>
          <a:lstStyle/>
          <a:p>
            <a:pPr eaLnBrk="1" hangingPunct="1"/>
            <a:br>
              <a:rPr lang="zh-CN" altLang="en-AU" sz="4000" smtClean="0">
                <a:solidFill>
                  <a:schemeClr val="tx1"/>
                </a:solidFill>
              </a:rPr>
            </a:br>
            <a:r>
              <a:rPr lang="zh-CN" altLang="en-AU" sz="3600" b="1" smtClean="0">
                <a:solidFill>
                  <a:schemeClr val="tx1"/>
                </a:solidFill>
              </a:rPr>
              <a:t>主要地区将来国内生产总值预测结果表</a:t>
            </a:r>
            <a:br>
              <a:rPr lang="zh-CN" altLang="en-AU" sz="3600" smtClean="0">
                <a:solidFill>
                  <a:schemeClr val="tx1"/>
                </a:solidFill>
              </a:rPr>
            </a:br>
            <a:r>
              <a:rPr lang="en-US" altLang="zh-CN" sz="3600" smtClean="0">
                <a:solidFill>
                  <a:schemeClr val="tx1"/>
                </a:solidFill>
              </a:rPr>
              <a:t>95</a:t>
            </a:r>
            <a:r>
              <a:rPr lang="zh-CN" altLang="en-AU" sz="3600" smtClean="0">
                <a:solidFill>
                  <a:schemeClr val="tx1"/>
                </a:solidFill>
              </a:rPr>
              <a:t>价</a:t>
            </a:r>
            <a:r>
              <a:rPr lang="zh-CN" altLang="en-US" sz="3600" smtClean="0">
                <a:solidFill>
                  <a:schemeClr val="tx1"/>
                </a:solidFill>
              </a:rPr>
              <a:t> </a:t>
            </a:r>
            <a:r>
              <a:rPr lang="en-US" altLang="zh-CN" sz="3600" smtClean="0">
                <a:solidFill>
                  <a:schemeClr val="tx1"/>
                </a:solidFill>
              </a:rPr>
              <a:t>.</a:t>
            </a:r>
            <a:r>
              <a:rPr lang="zh-CN" altLang="en-AU" sz="3600" smtClean="0">
                <a:solidFill>
                  <a:schemeClr val="tx1"/>
                </a:solidFill>
              </a:rPr>
              <a:t>单位</a:t>
            </a:r>
            <a:r>
              <a:rPr lang="en-US" altLang="zh-CN" sz="3600" smtClean="0">
                <a:solidFill>
                  <a:schemeClr val="tx1"/>
                </a:solidFill>
              </a:rPr>
              <a:t>:</a:t>
            </a:r>
            <a:r>
              <a:rPr lang="zh-CN" altLang="en-AU" sz="3600" smtClean="0">
                <a:solidFill>
                  <a:schemeClr val="tx1"/>
                </a:solidFill>
              </a:rPr>
              <a:t>亿元</a:t>
            </a:r>
            <a:r>
              <a:rPr lang="zh-CN" altLang="en-US" sz="3600" smtClean="0">
                <a:solidFill>
                  <a:schemeClr val="tx1"/>
                </a:solidFill>
              </a:rPr>
              <a:t> </a:t>
            </a:r>
            <a:br>
              <a:rPr lang="zh-CN" altLang="en-AU" sz="3600" smtClean="0">
                <a:solidFill>
                  <a:schemeClr val="tx1"/>
                </a:solidFill>
              </a:rPr>
            </a:br>
            <a:endParaRPr lang="zh-CN" altLang="en-US" sz="3600" smtClean="0">
              <a:solidFill>
                <a:schemeClr val="tx1"/>
              </a:solidFill>
            </a:endParaRPr>
          </a:p>
        </p:txBody>
      </p:sp>
      <p:sp>
        <p:nvSpPr>
          <p:cNvPr id="26628" name="Rectangle 4"/>
          <p:cNvSpPr>
            <a:spLocks noChangeArrowheads="1"/>
          </p:cNvSpPr>
          <p:nvPr/>
        </p:nvSpPr>
        <p:spPr bwMode="auto">
          <a:xfrm>
            <a:off x="0" y="2014538"/>
            <a:ext cx="4953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indent="2667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AU" sz="1400" b="1">
                <a:latin typeface="Times New Roman" panose="02020603050405020304" pitchFamily="18" charset="0"/>
                <a:ea typeface="黑体" panose="02010609060101010101" pitchFamily="49" charset="-122"/>
                <a:cs typeface="Times New Roman" panose="02020603050405020304" pitchFamily="18" charset="0"/>
              </a:rPr>
              <a:t> </a:t>
            </a:r>
            <a:endParaRPr lang="zh-CN" altLang="en-AU" sz="240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84459" name="Group 459"/>
          <p:cNvGraphicFramePr>
            <a:graphicFrameLocks noGrp="1"/>
          </p:cNvGraphicFramePr>
          <p:nvPr/>
        </p:nvGraphicFramePr>
        <p:xfrm>
          <a:off x="827088" y="2492375"/>
          <a:ext cx="7848600" cy="3741738"/>
        </p:xfrm>
        <a:graphic>
          <a:graphicData uri="http://schemas.openxmlformats.org/drawingml/2006/table">
            <a:tbl>
              <a:tblPr/>
              <a:tblGrid>
                <a:gridCol w="600075"/>
                <a:gridCol w="711200"/>
                <a:gridCol w="571500"/>
                <a:gridCol w="735012"/>
                <a:gridCol w="571500"/>
                <a:gridCol w="736600"/>
                <a:gridCol w="569913"/>
                <a:gridCol w="736600"/>
                <a:gridCol w="593725"/>
                <a:gridCol w="714375"/>
                <a:gridCol w="558800"/>
                <a:gridCol w="749300"/>
              </a:tblGrid>
              <a:tr h="358646">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地区</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2001</a:t>
                      </a:r>
                      <a:endParaRPr kumimoji="0" lang="en-AU"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现状</a:t>
                      </a:r>
                      <a:r>
                        <a:rPr kumimoji="0" lang="zh-CN" altLang="en-US"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endParaRPr kumimoji="0" lang="zh-CN" altLang="en-US"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2005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2010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2015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2020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2025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r>
              <a:tr h="1066759">
                <a:tc vMerge="1">
                  <a:tcPr/>
                </a:tc>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增长率</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国内生产总值</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增长率</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国内生产总值</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增长率</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国内生产总值</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增长率</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国内生产总值</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增长率</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国内生产总值</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57908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嘉兴市</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586.77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10.04</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825.42</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8.13</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1220.10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7.27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1733.30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6.51</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2376.06</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5.83</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3154.46</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57908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杭州市</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1499.65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11.05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2237.60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8.28</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3330.16</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7.33</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4742.70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6.49</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6495.02</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5.75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8590.40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57908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绍兴市</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762.04</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10.03</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1102.30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8.45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1653.95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7.24</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2345.53</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6.20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3168.57</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5.32</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4105.09</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57908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浙江省</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6553.60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9.96</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9447.68</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8.14</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13974.99</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6.96</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19562.95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5.95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26118.32</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5.09</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33479.68</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4" marB="45704"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r>
            </a:tbl>
          </a:graphicData>
        </a:graphic>
      </p:graphicFrame>
      <p:sp>
        <p:nvSpPr>
          <p:cNvPr id="26716" name="Rectangle 456"/>
          <p:cNvSpPr>
            <a:spLocks noChangeArrowheads="1"/>
          </p:cNvSpPr>
          <p:nvPr/>
        </p:nvSpPr>
        <p:spPr bwMode="auto">
          <a:xfrm>
            <a:off x="0" y="51022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0856437-148E-4FDF-A854-C6D0E63F7150}" type="slidenum">
              <a:rPr lang="zh-CN" altLang="en-US" sz="1400" smtClean="0"/>
            </a:fld>
            <a:endParaRPr lang="en-US" altLang="zh-CN" sz="1400" smtClean="0"/>
          </a:p>
        </p:txBody>
      </p:sp>
      <p:sp>
        <p:nvSpPr>
          <p:cNvPr id="27651" name="Rectangle 2"/>
          <p:cNvSpPr>
            <a:spLocks noGrp="1" noRot="1" noChangeArrowheads="1"/>
          </p:cNvSpPr>
          <p:nvPr>
            <p:ph type="title"/>
          </p:nvPr>
        </p:nvSpPr>
        <p:spPr/>
        <p:txBody>
          <a:bodyPr/>
          <a:lstStyle/>
          <a:p>
            <a:pPr eaLnBrk="1" hangingPunct="1"/>
            <a:r>
              <a:rPr lang="zh-CN" altLang="en-US" smtClean="0"/>
              <a:t>交通量预测模型的基本形式</a:t>
            </a:r>
            <a:endParaRPr lang="zh-CN" altLang="en-US" smtClean="0"/>
          </a:p>
        </p:txBody>
      </p:sp>
      <p:sp>
        <p:nvSpPr>
          <p:cNvPr id="27652" name="Rectangle 3"/>
          <p:cNvSpPr>
            <a:spLocks noGrp="1" noRot="1" noChangeArrowheads="1"/>
          </p:cNvSpPr>
          <p:nvPr>
            <p:ph type="body" idx="1"/>
          </p:nvPr>
        </p:nvSpPr>
        <p:spPr/>
        <p:txBody>
          <a:bodyPr/>
          <a:lstStyle/>
          <a:p>
            <a:pPr eaLnBrk="1" hangingPunct="1"/>
            <a:endParaRPr lang="zh-CN" altLang="en-US" sz="2800" smtClean="0"/>
          </a:p>
          <a:p>
            <a:pPr eaLnBrk="1" hangingPunct="1">
              <a:buFont typeface="Wingdings" panose="05000000000000000000" pitchFamily="2" charset="2"/>
              <a:buNone/>
            </a:pPr>
            <a:r>
              <a:rPr lang="en-US" altLang="zh-CN" sz="2800" smtClean="0"/>
              <a:t>Qj=αj+βj×E</a:t>
            </a:r>
            <a:endParaRPr lang="en-US" altLang="zh-CN" sz="2800" smtClean="0"/>
          </a:p>
          <a:p>
            <a:pPr eaLnBrk="1" hangingPunct="1">
              <a:buFont typeface="Wingdings" panose="05000000000000000000" pitchFamily="2" charset="2"/>
              <a:buNone/>
            </a:pPr>
            <a:r>
              <a:rPr lang="zh-CN" altLang="en-US" sz="2800" smtClean="0"/>
              <a:t>式中：</a:t>
            </a:r>
            <a:r>
              <a:rPr lang="en-US" altLang="zh-CN" sz="2800" smtClean="0"/>
              <a:t>Qj——</a:t>
            </a:r>
            <a:r>
              <a:rPr lang="zh-CN" altLang="en-US" sz="2800" smtClean="0"/>
              <a:t>车种</a:t>
            </a:r>
            <a:r>
              <a:rPr lang="en-US" altLang="zh-CN" sz="2800" smtClean="0"/>
              <a:t>j</a:t>
            </a:r>
            <a:r>
              <a:rPr lang="zh-CN" altLang="en-US" sz="2800" smtClean="0"/>
              <a:t>的交通量（</a:t>
            </a:r>
            <a:r>
              <a:rPr lang="en-US" altLang="zh-CN" sz="2800" smtClean="0"/>
              <a:t>Veh/d</a:t>
            </a:r>
            <a:r>
              <a:rPr lang="zh-CN" altLang="en-US" sz="2800" smtClean="0"/>
              <a:t>）</a:t>
            </a:r>
            <a:r>
              <a:rPr lang="en-US" altLang="zh-CN" sz="2800" smtClean="0"/>
              <a:t>;</a:t>
            </a:r>
            <a:endParaRPr lang="en-US" altLang="zh-CN" sz="2800" smtClean="0"/>
          </a:p>
          <a:p>
            <a:pPr eaLnBrk="1" hangingPunct="1">
              <a:buFont typeface="Wingdings" panose="05000000000000000000" pitchFamily="2" charset="2"/>
              <a:buNone/>
            </a:pPr>
            <a:r>
              <a:rPr lang="en-US" altLang="zh-CN" sz="2800" smtClean="0"/>
              <a:t>E——</a:t>
            </a:r>
            <a:r>
              <a:rPr lang="zh-CN" altLang="en-US" sz="2800" smtClean="0"/>
              <a:t>国内生产总值（亿元）；</a:t>
            </a:r>
            <a:endParaRPr lang="zh-CN" altLang="en-US" sz="2800" smtClean="0"/>
          </a:p>
          <a:p>
            <a:pPr eaLnBrk="1" hangingPunct="1">
              <a:buFont typeface="Wingdings" panose="05000000000000000000" pitchFamily="2" charset="2"/>
              <a:buNone/>
            </a:pPr>
            <a:r>
              <a:rPr lang="en-US" altLang="zh-CN" sz="2800" smtClean="0"/>
              <a:t>αj</a:t>
            </a:r>
            <a:r>
              <a:rPr lang="zh-CN" altLang="en-US" sz="2800" smtClean="0"/>
              <a:t>、</a:t>
            </a:r>
            <a:r>
              <a:rPr lang="en-US" altLang="zh-CN" sz="2800" smtClean="0"/>
              <a:t>βj——</a:t>
            </a:r>
            <a:r>
              <a:rPr lang="zh-CN" altLang="en-US" sz="2800" smtClean="0"/>
              <a:t>车种</a:t>
            </a:r>
            <a:r>
              <a:rPr lang="en-US" altLang="zh-CN" sz="2800" smtClean="0"/>
              <a:t>j</a:t>
            </a:r>
            <a:r>
              <a:rPr lang="zh-CN" altLang="en-US" sz="2800" smtClean="0"/>
              <a:t>的回归系数。</a:t>
            </a:r>
            <a:endParaRPr lang="zh-CN" altLang="en-US" sz="2800" smtClean="0"/>
          </a:p>
          <a:p>
            <a:pPr eaLnBrk="1" hangingPunct="1">
              <a:buFont typeface="Wingdings" panose="05000000000000000000" pitchFamily="2" charset="2"/>
              <a:buNone/>
            </a:pPr>
            <a:r>
              <a:rPr lang="zh-CN" altLang="en-US" sz="2800" smtClean="0"/>
              <a:t>模型根据主要相关道路交通量观测站资料和区域内各小区历年国内生产总值统计资料分别建立。</a:t>
            </a:r>
            <a:endParaRPr lang="zh-CN" altLang="en-US" sz="280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C36BF13-7794-4288-ADBB-9ADE32B62840}" type="slidenum">
              <a:rPr lang="zh-CN" altLang="en-US" sz="1400" smtClean="0"/>
            </a:fld>
            <a:endParaRPr lang="en-US" altLang="zh-CN" sz="1400" smtClean="0"/>
          </a:p>
        </p:txBody>
      </p:sp>
      <p:sp>
        <p:nvSpPr>
          <p:cNvPr id="28675" name="Rectangle 2"/>
          <p:cNvSpPr>
            <a:spLocks noGrp="1" noRot="1" noChangeArrowheads="1"/>
          </p:cNvSpPr>
          <p:nvPr>
            <p:ph type="title"/>
          </p:nvPr>
        </p:nvSpPr>
        <p:spPr/>
        <p:txBody>
          <a:bodyPr/>
          <a:lstStyle/>
          <a:p>
            <a:pPr eaLnBrk="1" hangingPunct="1"/>
            <a:r>
              <a:rPr lang="zh-CN" altLang="en-AU" b="1" smtClean="0">
                <a:solidFill>
                  <a:schemeClr val="tx1"/>
                </a:solidFill>
              </a:rPr>
              <a:t>交通量预测结果表</a:t>
            </a:r>
            <a:endParaRPr lang="zh-CN" altLang="en-US" b="1" smtClean="0">
              <a:solidFill>
                <a:schemeClr val="tx1"/>
              </a:solidFill>
            </a:endParaRPr>
          </a:p>
        </p:txBody>
      </p:sp>
      <p:sp>
        <p:nvSpPr>
          <p:cNvPr id="28676" name="Rectangle 4"/>
          <p:cNvSpPr>
            <a:spLocks noChangeArrowheads="1"/>
          </p:cNvSpPr>
          <p:nvPr/>
        </p:nvSpPr>
        <p:spPr bwMode="auto">
          <a:xfrm>
            <a:off x="863600" y="2219325"/>
            <a:ext cx="50482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AU" sz="900"/>
          </a:p>
          <a:p>
            <a:pPr>
              <a:spcBef>
                <a:spcPct val="0"/>
              </a:spcBef>
              <a:buClrTx/>
              <a:buSzTx/>
              <a:buFontTx/>
              <a:buNone/>
            </a:pPr>
            <a:endParaRPr lang="zh-CN" altLang="en-AU" sz="2400">
              <a:latin typeface="Times New Roman" panose="02020603050405020304" pitchFamily="18" charset="0"/>
            </a:endParaRPr>
          </a:p>
        </p:txBody>
      </p:sp>
      <p:graphicFrame>
        <p:nvGraphicFramePr>
          <p:cNvPr id="387278" name="Group 206"/>
          <p:cNvGraphicFramePr>
            <a:graphicFrameLocks noGrp="1"/>
          </p:cNvGraphicFramePr>
          <p:nvPr/>
        </p:nvGraphicFramePr>
        <p:xfrm>
          <a:off x="468313" y="2060575"/>
          <a:ext cx="8353425" cy="2765425"/>
        </p:xfrm>
        <a:graphic>
          <a:graphicData uri="http://schemas.openxmlformats.org/drawingml/2006/table">
            <a:tbl>
              <a:tblPr/>
              <a:tblGrid>
                <a:gridCol w="982662"/>
                <a:gridCol w="1106488"/>
                <a:gridCol w="1208087"/>
                <a:gridCol w="1098550"/>
                <a:gridCol w="1100138"/>
                <a:gridCol w="952500"/>
                <a:gridCol w="952500"/>
                <a:gridCol w="952500"/>
              </a:tblGrid>
              <a:tr h="1058590">
                <a:tc gridSpan="2">
                  <a:txBody>
                    <a:bodyPr/>
                    <a:lstStyle/>
                    <a:p>
                      <a:pPr marL="0" marR="0" lvl="0" indent="133350" algn="l" defTabSz="914400" rtl="0" eaLnBrk="0" fontAlgn="base" latinLnBrk="0" hangingPunct="0">
                        <a:lnSpc>
                          <a:spcPct val="100000"/>
                        </a:lnSpc>
                        <a:spcBef>
                          <a:spcPct val="0"/>
                        </a:spcBef>
                        <a:spcAft>
                          <a:spcPct val="0"/>
                        </a:spcAft>
                        <a:buClrTx/>
                        <a:buSzTx/>
                        <a:buFontTx/>
                        <a:buNone/>
                        <a:tabLst>
                          <a:tab pos="669925" algn="l"/>
                        </a:tabLst>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年份</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tabLst>
                          <a:tab pos="669925" algn="l"/>
                        </a:tabLst>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分类</a:t>
                      </a:r>
                      <a:r>
                        <a:rPr kumimoji="0" lang="zh-CN" altLang="en-US"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2002</a:t>
                      </a:r>
                      <a:endParaRPr kumimoji="0" lang="en-AU"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（现状）</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2005</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2010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2015</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2020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2025</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r>
              <a:tr h="701017">
                <a:tc grid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OD</a:t>
                      </a: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总量（</a:t>
                      </a: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Veh/d</a:t>
                      </a: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250814</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333389</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484805</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683940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942500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1248077</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1005817">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年均增长率（</a:t>
                      </a: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2000</a:t>
                      </a:r>
                      <a:r>
                        <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年为基准年</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9" marB="4570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9.95</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8.59</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8.02</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7.63</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7.23</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9" marB="45709"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F828757-E242-455D-A22F-825F3F174067}" type="slidenum">
              <a:rPr lang="zh-CN" altLang="en-US" sz="1400" smtClean="0"/>
            </a:fld>
            <a:endParaRPr lang="en-US" altLang="zh-CN" sz="1400" smtClean="0"/>
          </a:p>
        </p:txBody>
      </p:sp>
      <p:sp>
        <p:nvSpPr>
          <p:cNvPr id="29699" name="Rectangle 2"/>
          <p:cNvSpPr>
            <a:spLocks noGrp="1" noRot="1" noChangeArrowheads="1"/>
          </p:cNvSpPr>
          <p:nvPr>
            <p:ph type="title"/>
          </p:nvPr>
        </p:nvSpPr>
        <p:spPr/>
        <p:txBody>
          <a:bodyPr/>
          <a:lstStyle/>
          <a:p>
            <a:pPr eaLnBrk="1" hangingPunct="1"/>
            <a:r>
              <a:rPr lang="zh-CN" altLang="en-US" smtClean="0"/>
              <a:t>建设的必要性 </a:t>
            </a:r>
            <a:endParaRPr lang="zh-CN" altLang="en-US" smtClean="0"/>
          </a:p>
        </p:txBody>
      </p:sp>
      <p:sp>
        <p:nvSpPr>
          <p:cNvPr id="29700" name="Rectangle 3"/>
          <p:cNvSpPr>
            <a:spLocks noGrp="1" noRot="1" noChangeArrowheads="1"/>
          </p:cNvSpPr>
          <p:nvPr>
            <p:ph type="body" idx="1"/>
          </p:nvPr>
        </p:nvSpPr>
        <p:spPr>
          <a:xfrm>
            <a:off x="304800" y="1981200"/>
            <a:ext cx="8515350" cy="4400550"/>
          </a:xfrm>
        </p:spPr>
        <p:txBody>
          <a:bodyPr/>
          <a:lstStyle/>
          <a:p>
            <a:pPr eaLnBrk="1" hangingPunct="1">
              <a:lnSpc>
                <a:spcPct val="90000"/>
              </a:lnSpc>
            </a:pPr>
            <a:r>
              <a:rPr lang="zh-CN" altLang="en-US" smtClean="0"/>
              <a:t>加快形成并完善国家干线公路网 </a:t>
            </a:r>
            <a:endParaRPr lang="zh-CN" altLang="en-US" smtClean="0"/>
          </a:p>
          <a:p>
            <a:pPr eaLnBrk="1" hangingPunct="1">
              <a:lnSpc>
                <a:spcPct val="90000"/>
              </a:lnSpc>
            </a:pPr>
            <a:r>
              <a:rPr lang="zh-CN" altLang="en-US" smtClean="0"/>
              <a:t>构成省公路主干线规划的重要组成部分 </a:t>
            </a:r>
            <a:endParaRPr lang="zh-CN" altLang="en-US" smtClean="0"/>
          </a:p>
          <a:p>
            <a:pPr eaLnBrk="1" hangingPunct="1">
              <a:lnSpc>
                <a:spcPct val="90000"/>
              </a:lnSpc>
            </a:pPr>
            <a:r>
              <a:rPr lang="zh-CN" altLang="en-US" smtClean="0"/>
              <a:t>环杭州湾产业带经济进一步发展的需要 </a:t>
            </a:r>
            <a:endParaRPr lang="zh-CN" altLang="en-US" smtClean="0"/>
          </a:p>
          <a:p>
            <a:pPr eaLnBrk="1" hangingPunct="1">
              <a:lnSpc>
                <a:spcPct val="90000"/>
              </a:lnSpc>
            </a:pPr>
            <a:r>
              <a:rPr lang="zh-CN" altLang="en-US" smtClean="0"/>
              <a:t>有利于加快城市化进程，形成区域发展的新格局 </a:t>
            </a:r>
            <a:endParaRPr lang="zh-CN" altLang="en-US" smtClean="0"/>
          </a:p>
          <a:p>
            <a:pPr eaLnBrk="1" hangingPunct="1">
              <a:lnSpc>
                <a:spcPct val="90000"/>
              </a:lnSpc>
            </a:pPr>
            <a:r>
              <a:rPr lang="zh-CN" altLang="en-US" smtClean="0"/>
              <a:t>对江、浙、沪地区旅游业发展具有积极的促进作用</a:t>
            </a:r>
            <a:endParaRPr lang="zh-CN" altLang="en-US" smtClean="0"/>
          </a:p>
          <a:p>
            <a:pPr eaLnBrk="1" hangingPunct="1">
              <a:lnSpc>
                <a:spcPct val="90000"/>
              </a:lnSpc>
            </a:pPr>
            <a:r>
              <a:rPr lang="zh-CN" altLang="en-US" smtClean="0"/>
              <a:t>对加强国防交通建设具有重要的战备意义 </a:t>
            </a:r>
            <a:endParaRPr lang="zh-CN" altLang="en-US" smtClean="0"/>
          </a:p>
          <a:p>
            <a:pPr eaLnBrk="1" hangingPunct="1">
              <a:lnSpc>
                <a:spcPct val="90000"/>
              </a:lnSpc>
            </a:pPr>
            <a:endParaRPr lang="zh-CN" altLang="en-US" smtClean="0"/>
          </a:p>
          <a:p>
            <a:pPr eaLnBrk="1" hangingPunct="1">
              <a:lnSpc>
                <a:spcPct val="90000"/>
              </a:lnSpc>
            </a:pPr>
            <a:endParaRPr lang="zh-CN" altLang="en-US"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1D93884-7F6E-4048-B509-AA739218EB2E}" type="slidenum">
              <a:rPr lang="zh-CN" altLang="en-US" sz="1400" smtClean="0"/>
            </a:fld>
            <a:endParaRPr lang="en-US" altLang="zh-CN" sz="1400" smtClean="0"/>
          </a:p>
        </p:txBody>
      </p:sp>
      <p:sp>
        <p:nvSpPr>
          <p:cNvPr id="30723" name="Rectangle 4"/>
          <p:cNvSpPr>
            <a:spLocks noGrp="1" noRot="1" noChangeArrowheads="1"/>
          </p:cNvSpPr>
          <p:nvPr>
            <p:ph type="title"/>
          </p:nvPr>
        </p:nvSpPr>
        <p:spPr>
          <a:noFill/>
        </p:spPr>
        <p:txBody>
          <a:bodyPr/>
          <a:lstStyle/>
          <a:p>
            <a:pPr eaLnBrk="1" hangingPunct="1"/>
            <a:r>
              <a:rPr lang="zh-CN" altLang="en-US" smtClean="0"/>
              <a:t>可行性研究报告的内容</a:t>
            </a:r>
            <a:endParaRPr lang="zh-CN" altLang="en-US" smtClean="0"/>
          </a:p>
        </p:txBody>
      </p:sp>
      <p:sp>
        <p:nvSpPr>
          <p:cNvPr id="30724" name="Rectangle 5"/>
          <p:cNvSpPr>
            <a:spLocks noGrp="1" noRot="1" noChangeArrowheads="1"/>
          </p:cNvSpPr>
          <p:nvPr>
            <p:ph type="body" idx="1"/>
          </p:nvPr>
        </p:nvSpPr>
        <p:spPr>
          <a:xfrm>
            <a:off x="304800" y="1981200"/>
            <a:ext cx="8540750" cy="4543425"/>
          </a:xfrm>
          <a:noFill/>
        </p:spPr>
        <p:txBody>
          <a:bodyPr/>
          <a:lstStyle/>
          <a:p>
            <a:pPr eaLnBrk="1" hangingPunct="1">
              <a:lnSpc>
                <a:spcPct val="90000"/>
              </a:lnSpc>
            </a:pPr>
            <a:r>
              <a:rPr lang="zh-CN" altLang="en-US" sz="2800" b="1" smtClean="0">
                <a:solidFill>
                  <a:srgbClr val="0070C0"/>
                </a:solidFill>
              </a:rPr>
              <a:t>总论</a:t>
            </a:r>
            <a:endParaRPr lang="zh-CN" altLang="en-US" sz="2800" b="1" smtClean="0">
              <a:solidFill>
                <a:srgbClr val="0070C0"/>
              </a:solidFill>
            </a:endParaRPr>
          </a:p>
          <a:p>
            <a:pPr eaLnBrk="1" hangingPunct="1">
              <a:lnSpc>
                <a:spcPct val="90000"/>
              </a:lnSpc>
            </a:pPr>
            <a:r>
              <a:rPr lang="zh-CN" altLang="en-US" sz="2800" b="1" smtClean="0">
                <a:solidFill>
                  <a:srgbClr val="0070C0"/>
                </a:solidFill>
              </a:rPr>
              <a:t>市场研究</a:t>
            </a:r>
            <a:endParaRPr lang="zh-CN" altLang="en-US" sz="2800" b="1" smtClean="0">
              <a:solidFill>
                <a:srgbClr val="0070C0"/>
              </a:solidFill>
            </a:endParaRPr>
          </a:p>
          <a:p>
            <a:pPr eaLnBrk="1" hangingPunct="1">
              <a:lnSpc>
                <a:spcPct val="90000"/>
              </a:lnSpc>
            </a:pPr>
            <a:r>
              <a:rPr lang="zh-CN" altLang="en-US" sz="2800" b="1" smtClean="0">
                <a:solidFill>
                  <a:srgbClr val="0070C0"/>
                </a:solidFill>
              </a:rPr>
              <a:t>投资条件与项目选址</a:t>
            </a:r>
            <a:endParaRPr lang="zh-CN" altLang="en-US" sz="2800" b="1" smtClean="0">
              <a:solidFill>
                <a:srgbClr val="0070C0"/>
              </a:solidFill>
            </a:endParaRPr>
          </a:p>
          <a:p>
            <a:pPr eaLnBrk="1" hangingPunct="1">
              <a:lnSpc>
                <a:spcPct val="90000"/>
              </a:lnSpc>
            </a:pPr>
            <a:r>
              <a:rPr lang="zh-CN" altLang="en-US" sz="2800" b="1" smtClean="0">
                <a:solidFill>
                  <a:srgbClr val="FF0000"/>
                </a:solidFill>
              </a:rPr>
              <a:t>技术方案</a:t>
            </a:r>
            <a:endParaRPr lang="zh-CN" altLang="en-US" sz="2800" b="1" smtClean="0">
              <a:solidFill>
                <a:srgbClr val="FF0000"/>
              </a:solidFill>
            </a:endParaRPr>
          </a:p>
          <a:p>
            <a:pPr eaLnBrk="1" hangingPunct="1">
              <a:lnSpc>
                <a:spcPct val="90000"/>
              </a:lnSpc>
            </a:pPr>
            <a:r>
              <a:rPr lang="zh-CN" altLang="en-US" sz="2800" b="1" smtClean="0"/>
              <a:t>环境影响</a:t>
            </a:r>
            <a:endParaRPr lang="zh-CN" altLang="en-US" sz="2800" b="1" smtClean="0"/>
          </a:p>
          <a:p>
            <a:pPr eaLnBrk="1" hangingPunct="1">
              <a:lnSpc>
                <a:spcPct val="90000"/>
              </a:lnSpc>
            </a:pPr>
            <a:r>
              <a:rPr lang="zh-CN" altLang="en-US" sz="2800" b="1" smtClean="0"/>
              <a:t>项目组织</a:t>
            </a:r>
            <a:r>
              <a:rPr lang="zh-CN" altLang="en-US" sz="2800" smtClean="0"/>
              <a:t>、</a:t>
            </a:r>
            <a:r>
              <a:rPr lang="zh-CN" altLang="en-US" sz="2800" b="1" smtClean="0"/>
              <a:t>实施与进度安排</a:t>
            </a:r>
            <a:endParaRPr lang="zh-CN" altLang="en-US" sz="2800" b="1" smtClean="0"/>
          </a:p>
          <a:p>
            <a:pPr eaLnBrk="1" hangingPunct="1">
              <a:lnSpc>
                <a:spcPct val="90000"/>
              </a:lnSpc>
            </a:pPr>
            <a:r>
              <a:rPr lang="zh-CN" altLang="en-US" sz="2800" b="1" smtClean="0"/>
              <a:t>财务分析</a:t>
            </a:r>
            <a:endParaRPr lang="zh-CN" altLang="en-US" sz="2800" smtClean="0"/>
          </a:p>
          <a:p>
            <a:pPr eaLnBrk="1" hangingPunct="1">
              <a:lnSpc>
                <a:spcPct val="90000"/>
              </a:lnSpc>
            </a:pPr>
            <a:r>
              <a:rPr lang="zh-CN" altLang="en-US" sz="2800" b="1" smtClean="0"/>
              <a:t>国民经济与社会效益分析</a:t>
            </a:r>
            <a:endParaRPr lang="zh-CN" altLang="en-US" sz="2800" b="1" smtClean="0"/>
          </a:p>
          <a:p>
            <a:pPr eaLnBrk="1" hangingPunct="1">
              <a:lnSpc>
                <a:spcPct val="90000"/>
              </a:lnSpc>
            </a:pPr>
            <a:r>
              <a:rPr lang="zh-CN" altLang="en-US" sz="2800" b="1" smtClean="0"/>
              <a:t>结论与建议</a:t>
            </a:r>
            <a:endParaRPr lang="zh-CN" altLang="en-US" sz="2800" b="1" smtClean="0"/>
          </a:p>
          <a:p>
            <a:pPr eaLnBrk="1" hangingPunct="1">
              <a:lnSpc>
                <a:spcPct val="90000"/>
              </a:lnSpc>
            </a:pPr>
            <a:endParaRPr lang="zh-CN" altLang="en-US" sz="280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1037034-4188-40AA-B995-560FBA53D01A}" type="slidenum">
              <a:rPr lang="zh-CN" altLang="en-US" sz="1400" smtClean="0"/>
            </a:fld>
            <a:endParaRPr lang="en-US" altLang="zh-CN" sz="1400" smtClean="0"/>
          </a:p>
        </p:txBody>
      </p:sp>
      <p:sp>
        <p:nvSpPr>
          <p:cNvPr id="31747" name="Rectangle 4"/>
          <p:cNvSpPr>
            <a:spLocks noGrp="1" noRot="1" noChangeArrowheads="1"/>
          </p:cNvSpPr>
          <p:nvPr>
            <p:ph type="title"/>
          </p:nvPr>
        </p:nvSpPr>
        <p:spPr>
          <a:xfrm>
            <a:off x="323850" y="115888"/>
            <a:ext cx="8540750" cy="1143000"/>
          </a:xfrm>
          <a:noFill/>
        </p:spPr>
        <p:txBody>
          <a:bodyPr/>
          <a:lstStyle/>
          <a:p>
            <a:pPr eaLnBrk="1" hangingPunct="1"/>
            <a:r>
              <a:rPr lang="en-US" altLang="zh-CN" smtClean="0"/>
              <a:t>2.</a:t>
            </a:r>
            <a:r>
              <a:rPr lang="zh-CN" altLang="en-US" smtClean="0"/>
              <a:t>建设规模、标准及初步方案 </a:t>
            </a:r>
            <a:endParaRPr lang="zh-CN" altLang="en-US" smtClean="0"/>
          </a:p>
        </p:txBody>
      </p:sp>
      <p:graphicFrame>
        <p:nvGraphicFramePr>
          <p:cNvPr id="549893" name="Group 5"/>
          <p:cNvGraphicFramePr>
            <a:graphicFrameLocks noGrp="1"/>
          </p:cNvGraphicFramePr>
          <p:nvPr/>
        </p:nvGraphicFramePr>
        <p:xfrm>
          <a:off x="250825" y="2276475"/>
          <a:ext cx="8713788" cy="4213225"/>
        </p:xfrm>
        <a:graphic>
          <a:graphicData uri="http://schemas.openxmlformats.org/drawingml/2006/table">
            <a:tbl>
              <a:tblPr/>
              <a:tblGrid>
                <a:gridCol w="1166813"/>
                <a:gridCol w="1163637"/>
                <a:gridCol w="709613"/>
                <a:gridCol w="708025"/>
                <a:gridCol w="709612"/>
                <a:gridCol w="709613"/>
                <a:gridCol w="709612"/>
                <a:gridCol w="709613"/>
                <a:gridCol w="709612"/>
                <a:gridCol w="708025"/>
                <a:gridCol w="709613"/>
              </a:tblGrid>
              <a:tr h="1310739">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路段</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嘉兴</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a:t>
                      </a: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号</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0" lang="en-AU"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嘉兴</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a:t>
                      </a: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号</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嘉兴</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a:t>
                      </a: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号</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t>
                      </a: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王店</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王店</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0" lang="en-AU"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硖石</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硖石</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0" lang="en-AU"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谈桥</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谈桥</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0" lang="en-AU"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海宁</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枢纽</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海宁</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枢纽</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t>
                      </a: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袁化</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袁化</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0" lang="en-AU"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黄湾</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黄湾</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0" lang="en-AU"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杭州湾</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杭州湾</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0" lang="en-AU"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沥海</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沥海</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t>
                      </a:r>
                      <a:endParaRPr kumimoji="0" lang="en-AU"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沽渚</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r>
              <a:tr h="701093">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AADT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78676</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79807</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79746</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76151</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73000</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77297</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76539</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75104</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70145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64087</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617584">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DDHV</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3917</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3973</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3970</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3791</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3634</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3848</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3811</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3739</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3492</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3191</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1005916">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MSF</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楷体_GB2312"/>
                          <a:cs typeface="Times New Roman" panose="02020603050405020304" pitchFamily="18" charset="0"/>
                        </a:rPr>
                        <a:t>i</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XfwXf</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楷体_GB2312"/>
                          <a:cs typeface="Times New Roman" panose="02020603050405020304" pitchFamily="18" charset="0"/>
                        </a:rPr>
                        <a:t>HV</a:t>
                      </a: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Xfp</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1445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1445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1445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1445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1445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1445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1445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1445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1445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1445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577893">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N</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2.71</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2.75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2.75</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2.62</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2.52</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2.66</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2.64</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2.59</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2.42</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2.21</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r>
            </a:tbl>
          </a:graphicData>
        </a:graphic>
      </p:graphicFrame>
      <p:sp>
        <p:nvSpPr>
          <p:cNvPr id="31822" name="Rectangle 79"/>
          <p:cNvSpPr>
            <a:spLocks noChangeArrowheads="1"/>
          </p:cNvSpPr>
          <p:nvPr/>
        </p:nvSpPr>
        <p:spPr bwMode="auto">
          <a:xfrm>
            <a:off x="395288" y="1700213"/>
            <a:ext cx="3314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ea typeface="黑体" panose="02010609060101010101" pitchFamily="49" charset="-122"/>
                <a:cs typeface="Times New Roman" panose="02020603050405020304" pitchFamily="18" charset="0"/>
              </a:rPr>
              <a:t> </a:t>
            </a:r>
            <a:r>
              <a:rPr lang="zh-CN" altLang="en-AU" sz="2000" b="1">
                <a:latin typeface="Times New Roman" panose="02020603050405020304" pitchFamily="18" charset="0"/>
                <a:ea typeface="黑体" panose="02010609060101010101" pitchFamily="49" charset="-122"/>
                <a:cs typeface="Times New Roman" panose="02020603050405020304" pitchFamily="18" charset="0"/>
              </a:rPr>
              <a:t>各路段通行能力分析结果表</a:t>
            </a:r>
            <a:endParaRPr lang="zh-CN" altLang="en-AU" sz="20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1823" name="Text Box 80"/>
          <p:cNvSpPr txBox="1">
            <a:spLocks noChangeArrowheads="1"/>
          </p:cNvSpPr>
          <p:nvPr/>
        </p:nvSpPr>
        <p:spPr bwMode="auto">
          <a:xfrm>
            <a:off x="458788" y="1196975"/>
            <a:ext cx="386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b="1"/>
              <a:t>初选线路走向及主要控制点</a:t>
            </a:r>
            <a:endParaRPr lang="zh-CN" altLang="en-US" sz="2400" b="1"/>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00AE702-F8F9-4087-8AAA-D5BB0FA92A7C}" type="slidenum">
              <a:rPr lang="zh-CN" altLang="en-US" sz="1400" smtClean="0"/>
            </a:fld>
            <a:endParaRPr lang="en-US" altLang="zh-CN" sz="1400" smtClean="0"/>
          </a:p>
        </p:txBody>
      </p:sp>
      <p:sp>
        <p:nvSpPr>
          <p:cNvPr id="32771" name="Rectangle 4"/>
          <p:cNvSpPr>
            <a:spLocks noGrp="1" noRot="1" noChangeArrowheads="1"/>
          </p:cNvSpPr>
          <p:nvPr>
            <p:ph type="title"/>
          </p:nvPr>
        </p:nvSpPr>
        <p:spPr>
          <a:noFill/>
        </p:spPr>
        <p:txBody>
          <a:bodyPr/>
          <a:lstStyle/>
          <a:p>
            <a:pPr eaLnBrk="1" hangingPunct="1"/>
            <a:r>
              <a:rPr lang="zh-CN" altLang="en-US" smtClean="0"/>
              <a:t>建设规模和技术标准 </a:t>
            </a:r>
            <a:endParaRPr lang="zh-CN" altLang="en-US" smtClean="0"/>
          </a:p>
        </p:txBody>
      </p:sp>
      <p:sp>
        <p:nvSpPr>
          <p:cNvPr id="32772" name="Rectangle 5"/>
          <p:cNvSpPr>
            <a:spLocks noGrp="1" noRot="1" noChangeArrowheads="1"/>
          </p:cNvSpPr>
          <p:nvPr>
            <p:ph type="body" idx="1"/>
          </p:nvPr>
        </p:nvSpPr>
        <p:spPr>
          <a:xfrm>
            <a:off x="304800" y="1981200"/>
            <a:ext cx="8540750" cy="4543425"/>
          </a:xfrm>
          <a:noFill/>
        </p:spPr>
        <p:txBody>
          <a:bodyPr/>
          <a:lstStyle/>
          <a:p>
            <a:pPr eaLnBrk="1" hangingPunct="1"/>
            <a:r>
              <a:rPr lang="zh-CN" altLang="en-US" smtClean="0"/>
              <a:t>按全封闭双向六车道实施，可满足交通流保持稳定运行状态，达到二级服务水平的要求 </a:t>
            </a:r>
            <a:endParaRPr lang="zh-CN" altLang="en-US" smtClean="0"/>
          </a:p>
          <a:p>
            <a:pPr eaLnBrk="1" hangingPunct="1"/>
            <a:r>
              <a:rPr lang="zh-CN" altLang="en-US" smtClean="0"/>
              <a:t>全线计算行车速度采用</a:t>
            </a:r>
            <a:r>
              <a:rPr lang="en-US" altLang="zh-CN" smtClean="0"/>
              <a:t>120km/h</a:t>
            </a:r>
            <a:r>
              <a:rPr lang="zh-CN" altLang="en-US" smtClean="0"/>
              <a:t>（越江隧道计算行车速度</a:t>
            </a:r>
            <a:r>
              <a:rPr lang="en-US" altLang="zh-CN" smtClean="0"/>
              <a:t>100km/h</a:t>
            </a:r>
            <a:r>
              <a:rPr lang="zh-CN" altLang="en-US" smtClean="0"/>
              <a:t>）。</a:t>
            </a:r>
            <a:endParaRPr lang="zh-CN" altLang="en-US" b="1" smtClean="0"/>
          </a:p>
          <a:p>
            <a:pPr eaLnBrk="1" hangingPunct="1"/>
            <a:r>
              <a:rPr lang="zh-CN" altLang="en-US" smtClean="0"/>
              <a:t>全线采用六车道横断面形式。路基标准横断面宽度为</a:t>
            </a:r>
            <a:r>
              <a:rPr lang="en-US" altLang="zh-CN" smtClean="0"/>
              <a:t>35.0</a:t>
            </a:r>
            <a:r>
              <a:rPr lang="zh-CN" altLang="en-US" smtClean="0"/>
              <a:t>米，其各部分组成为：</a:t>
            </a:r>
            <a:r>
              <a:rPr lang="en-US" altLang="zh-CN" smtClean="0"/>
              <a:t>2×0.75</a:t>
            </a:r>
            <a:r>
              <a:rPr lang="zh-CN" altLang="en-US" smtClean="0"/>
              <a:t>米，硬路肩</a:t>
            </a:r>
            <a:r>
              <a:rPr lang="en-US" altLang="zh-CN" smtClean="0"/>
              <a:t>2×3.25</a:t>
            </a:r>
            <a:r>
              <a:rPr lang="zh-CN" altLang="en-US" smtClean="0"/>
              <a:t>米，行车道</a:t>
            </a:r>
            <a:r>
              <a:rPr lang="en-US" altLang="zh-CN" smtClean="0"/>
              <a:t>2×3×3.75</a:t>
            </a:r>
            <a:r>
              <a:rPr lang="zh-CN" altLang="en-US" smtClean="0"/>
              <a:t>米，左侧路缘带</a:t>
            </a:r>
            <a:r>
              <a:rPr lang="en-US" altLang="zh-CN" smtClean="0"/>
              <a:t>2×0.75</a:t>
            </a:r>
            <a:r>
              <a:rPr lang="zh-CN" altLang="en-US" smtClean="0"/>
              <a:t>米，中央分隔带</a:t>
            </a:r>
            <a:r>
              <a:rPr lang="en-US" altLang="zh-CN" smtClean="0"/>
              <a:t>3.0</a:t>
            </a:r>
            <a:r>
              <a:rPr lang="zh-CN" altLang="en-US" smtClean="0"/>
              <a:t>米；桥涵断面宽度与路基同宽 </a:t>
            </a:r>
            <a:endParaRPr lang="zh-CN" altLang="en-US"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80C4BEF-9083-4397-8815-DA2E60A3E784}" type="slidenum">
              <a:rPr lang="zh-CN" altLang="en-US" sz="1400" smtClean="0"/>
            </a:fld>
            <a:endParaRPr lang="en-US" altLang="zh-CN" sz="1400" smtClean="0"/>
          </a:p>
        </p:txBody>
      </p:sp>
      <p:sp>
        <p:nvSpPr>
          <p:cNvPr id="33795" name="Rectangle 4"/>
          <p:cNvSpPr>
            <a:spLocks noGrp="1" noRot="1" noChangeArrowheads="1"/>
          </p:cNvSpPr>
          <p:nvPr>
            <p:ph type="title"/>
          </p:nvPr>
        </p:nvSpPr>
        <p:spPr>
          <a:noFill/>
        </p:spPr>
        <p:txBody>
          <a:bodyPr/>
          <a:lstStyle/>
          <a:p>
            <a:pPr eaLnBrk="1" hangingPunct="1"/>
            <a:r>
              <a:rPr lang="zh-CN" altLang="en-US" smtClean="0"/>
              <a:t>路基标准横断面图 </a:t>
            </a:r>
            <a:endParaRPr lang="zh-CN" altLang="en-US" smtClean="0"/>
          </a:p>
        </p:txBody>
      </p:sp>
      <p:sp>
        <p:nvSpPr>
          <p:cNvPr id="33796" name="Rectangle 5"/>
          <p:cNvSpPr>
            <a:spLocks noChangeArrowheads="1"/>
          </p:cNvSpPr>
          <p:nvPr/>
        </p:nvSpPr>
        <p:spPr bwMode="auto">
          <a:xfrm>
            <a:off x="0" y="2657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pic>
        <p:nvPicPr>
          <p:cNvPr id="33797" name="Object 6"/>
          <p:cNvPicPr>
            <a:picLocks noChangeAspect="1" noChangeArrowheads="1"/>
          </p:cNvPicPr>
          <p:nvPr/>
        </p:nvPicPr>
        <p:blipFill>
          <a:blip r:embed="rId1" cstate="print">
            <a:grayscl/>
            <a:extLst>
              <a:ext uri="{28A0092B-C50C-407E-A947-70E740481C1C}">
                <a14:useLocalDpi xmlns:a14="http://schemas.microsoft.com/office/drawing/2010/main" val="0"/>
              </a:ext>
            </a:extLst>
          </a:blip>
          <a:srcRect l="15646" t="16498" r="17024" b="43236"/>
          <a:stretch>
            <a:fillRect/>
          </a:stretch>
        </p:blipFill>
        <p:spPr bwMode="auto">
          <a:xfrm>
            <a:off x="0" y="2133600"/>
            <a:ext cx="9144000"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Rectangle 7"/>
          <p:cNvSpPr>
            <a:spLocks noChangeArrowheads="1"/>
          </p:cNvSpPr>
          <p:nvPr/>
        </p:nvSpPr>
        <p:spPr bwMode="auto">
          <a:xfrm>
            <a:off x="0" y="4200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D7ECE2F-8B34-4F8E-B7F0-378CEDB67B59}" type="slidenum">
              <a:rPr lang="zh-CN" altLang="en-US" sz="1400" smtClean="0"/>
            </a:fld>
            <a:endParaRPr lang="en-US" altLang="zh-CN" sz="1400" smtClean="0"/>
          </a:p>
        </p:txBody>
      </p:sp>
      <p:sp>
        <p:nvSpPr>
          <p:cNvPr id="34819" name="Rectangle 4"/>
          <p:cNvSpPr>
            <a:spLocks noGrp="1" noRot="1" noChangeArrowheads="1"/>
          </p:cNvSpPr>
          <p:nvPr>
            <p:ph type="title"/>
          </p:nvPr>
        </p:nvSpPr>
        <p:spPr>
          <a:noFill/>
        </p:spPr>
        <p:txBody>
          <a:bodyPr/>
          <a:lstStyle/>
          <a:p>
            <a:pPr eaLnBrk="1" hangingPunct="1"/>
            <a:r>
              <a:rPr lang="zh-CN" altLang="en-US" smtClean="0"/>
              <a:t>建设方案及其主要工程数量 </a:t>
            </a:r>
            <a:endParaRPr lang="zh-CN" altLang="en-US" smtClean="0"/>
          </a:p>
        </p:txBody>
      </p:sp>
      <p:pic>
        <p:nvPicPr>
          <p:cNvPr id="34820" name="Object 5"/>
          <p:cNvPicPr>
            <a:picLocks noChangeAspect="1" noChangeArrowheads="1"/>
          </p:cNvPicPr>
          <p:nvPr/>
        </p:nvPicPr>
        <p:blipFill>
          <a:blip r:embed="rId1">
            <a:extLst>
              <a:ext uri="{28A0092B-C50C-407E-A947-70E740481C1C}">
                <a14:useLocalDpi xmlns:a14="http://schemas.microsoft.com/office/drawing/2010/main" val="0"/>
              </a:ext>
            </a:extLst>
          </a:blip>
          <a:srcRect l="2010" t="-731" r="5580" b="8377"/>
          <a:stretch>
            <a:fillRect/>
          </a:stretch>
        </p:blipFill>
        <p:spPr bwMode="auto">
          <a:xfrm>
            <a:off x="0" y="1981200"/>
            <a:ext cx="91440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E7710EA-00F6-499A-ACEB-2FD7436A19B8}" type="slidenum">
              <a:rPr lang="zh-CN" altLang="en-US" sz="1400" smtClean="0"/>
            </a:fld>
            <a:endParaRPr lang="en-US" altLang="zh-CN" sz="1400" smtClean="0"/>
          </a:p>
        </p:txBody>
      </p:sp>
      <p:sp>
        <p:nvSpPr>
          <p:cNvPr id="35843" name="Rectangle 4"/>
          <p:cNvSpPr>
            <a:spLocks noChangeArrowheads="1"/>
          </p:cNvSpPr>
          <p:nvPr/>
        </p:nvSpPr>
        <p:spPr bwMode="auto">
          <a:xfrm>
            <a:off x="0" y="2381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graphicFrame>
        <p:nvGraphicFramePr>
          <p:cNvPr id="553989" name="Group 5"/>
          <p:cNvGraphicFramePr>
            <a:graphicFrameLocks noGrp="1"/>
          </p:cNvGraphicFramePr>
          <p:nvPr/>
        </p:nvGraphicFramePr>
        <p:xfrm>
          <a:off x="468313" y="260350"/>
          <a:ext cx="8496300" cy="6156325"/>
        </p:xfrm>
        <a:graphic>
          <a:graphicData uri="http://schemas.openxmlformats.org/drawingml/2006/table">
            <a:tbl>
              <a:tblPr/>
              <a:tblGrid>
                <a:gridCol w="422275"/>
                <a:gridCol w="2100262"/>
                <a:gridCol w="669925"/>
                <a:gridCol w="1338263"/>
                <a:gridCol w="1839912"/>
                <a:gridCol w="1338263"/>
                <a:gridCol w="787400"/>
              </a:tblGrid>
              <a:tr h="579087">
                <a:tc gridSpan="7">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AU" sz="3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路线方案工程量及投资情况表</a:t>
                      </a:r>
                      <a:r>
                        <a:rPr kumimoji="0" lang="zh-CN" altLang="en-US" sz="12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05" marB="45705" anchor="b" horzOverflow="overflow">
                    <a:lnL>
                      <a:noFill/>
                    </a:lnL>
                    <a:lnR>
                      <a:noFill/>
                    </a:lnR>
                    <a:lnT>
                      <a:noFill/>
                    </a:lnT>
                    <a:lnB w="25400" cap="flat" cmpd="sng" algn="ctr">
                      <a:solidFill>
                        <a:srgbClr val="000000"/>
                      </a:solidFill>
                      <a:prstDash val="solid"/>
                      <a:round/>
                      <a:headEnd type="none" w="sm" len="sm"/>
                      <a:tailEnd type="triangle" w="sm" len="sm"/>
                    </a:lnB>
                    <a:lnTlToBr>
                      <a:noFill/>
                    </a:lnTlToBr>
                    <a:lnBlToTr>
                      <a:noFill/>
                    </a:lnBlToTr>
                    <a:noFill/>
                  </a:tcPr>
                </a:tc>
                <a:tc hMerge="1">
                  <a:tcPr/>
                </a:tc>
                <a:tc hMerge="1">
                  <a:tcPr/>
                </a:tc>
                <a:tc hMerge="1">
                  <a:tcPr/>
                </a:tc>
                <a:tc hMerge="1">
                  <a:tcPr/>
                </a:tc>
                <a:tc hMerge="1">
                  <a:tcPr/>
                </a:tc>
                <a:tc hMerge="1">
                  <a:tcPr/>
                </a:tc>
              </a:tr>
              <a:tr h="274288">
                <a:tc rowSpan="2">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序号</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rowSpan="2">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工 程 项 目</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rowSpan="2">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单</a:t>
                      </a:r>
                      <a:r>
                        <a:rPr kumimoji="0" lang="zh-CN" altLang="en-US"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位</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gridSpan="3">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工</a:t>
                      </a:r>
                      <a:r>
                        <a:rPr kumimoji="0" lang="zh-CN" altLang="en-US"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程</a:t>
                      </a:r>
                      <a:r>
                        <a:rPr kumimoji="0" lang="zh-CN" altLang="en-US"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数</a:t>
                      </a:r>
                      <a:r>
                        <a:rPr kumimoji="0" lang="zh-CN" altLang="en-US"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量</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hMerge="1">
                  <a:tcPr/>
                </a:tc>
                <a:tc hMerge="1">
                  <a:tcPr/>
                </a:tc>
                <a:tc rowSpan="2">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备注</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vMerge="1">
                  <a:tcPr/>
                </a:tc>
                <a:tc vMerge="1">
                  <a:tcPr/>
                </a:tc>
                <a:tc vMerge="1">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Ⅰ</a:t>
                      </a: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方案</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Ⅱ</a:t>
                      </a: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方案</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Ⅲ</a:t>
                      </a: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方案</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vMerge="1">
                  <a:tcPr/>
                </a:tc>
              </a:tr>
              <a:tr h="640046">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一</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起讫桩号</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K0+000     ~      K44+200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K0+000~ K29+432=K31+312~K44+200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K0+000      ~      K43+970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二</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路线</a:t>
                      </a:r>
                      <a:r>
                        <a:rPr kumimoji="0" lang="en-US" altLang="zh-CN"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    1.</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长度</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km</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44.20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42.32</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43.97</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         </a:t>
                      </a:r>
                      <a:r>
                        <a:rPr kumimoji="0" lang="en-US" altLang="zh-CN"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2.</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差值</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km</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1.88</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0.23</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与</a:t>
                      </a:r>
                      <a:r>
                        <a:rPr kumimoji="0" lang="en-AU" altLang="zh-CN"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Ⅰ</a:t>
                      </a:r>
                      <a:r>
                        <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rPr>
                        <a:t>比</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三</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路基路面</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填方</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km</a:t>
                      </a:r>
                      <a:r>
                        <a:rPr kumimoji="0" lang="en-US" altLang="zh-CN" sz="1200" b="1" i="0"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4691.3</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3310.8</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4909.9</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挖方</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km</a:t>
                      </a:r>
                      <a:r>
                        <a:rPr kumimoji="0" lang="en-US" altLang="zh-CN" sz="1200" b="1" i="0"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367.5</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314.0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496.9</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路面</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km</a:t>
                      </a:r>
                      <a:r>
                        <a:rPr kumimoji="0" lang="en-US" altLang="zh-CN" sz="1200" b="1" i="0"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1272</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1220.3</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1266.3</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软基处理</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km</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34.054</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31.745</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32.115</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四</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桥梁、涵洞</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中桥</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座</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1753.66/29</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1795.94/31</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1882.48/32</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大桥</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座</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1057.12/3</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797.12/3</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751.56/4</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特大桥</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座</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1748.08/2</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1937.12/3</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1748.08/2</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五</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交叉工程</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互通立交</a:t>
                      </a:r>
                      <a:r>
                        <a:rPr kumimoji="0" lang="en-US" altLang="zh-CN"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含枢纽</a:t>
                      </a:r>
                      <a:r>
                        <a:rPr kumimoji="0" lang="en-US" altLang="zh-CN"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处</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六</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投资估算</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2.</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投资总估算</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万元</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362829.9</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361234.3</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354946.7</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274288">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anchor="b"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3.</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估算差值</a:t>
                      </a:r>
                      <a:r>
                        <a:rPr kumimoji="0" lang="en-US" altLang="zh-CN"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与</a:t>
                      </a:r>
                      <a:r>
                        <a:rPr kumimoji="0" lang="en-AU" altLang="zh-CN"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Ⅰ</a:t>
                      </a: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比</a:t>
                      </a:r>
                      <a:r>
                        <a:rPr kumimoji="0" lang="en-US" altLang="zh-CN"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Times New Roman" panose="02020603050405020304" pitchFamily="18" charset="0"/>
                          <a:ea typeface="楷体_GB2312"/>
                          <a:cs typeface="Times New Roman" panose="02020603050405020304" pitchFamily="18" charset="0"/>
                        </a:rPr>
                        <a:t>万元</a:t>
                      </a:r>
                      <a:endParaRPr kumimoji="0" lang="zh-CN" altLang="en-AU" sz="1200" b="1" i="0" u="none" strike="noStrike" cap="none" normalizeH="0" baseline="0" smtClean="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1595.6</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2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12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7883.2</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05" marB="45705" anchor="b"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anchor="b"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3D78689-D2E8-43D1-880B-C76507DAD940}" type="slidenum">
              <a:rPr lang="zh-CN" altLang="en-US" sz="1400" smtClean="0"/>
            </a:fld>
            <a:endParaRPr lang="en-US" altLang="zh-CN" sz="1400" smtClean="0"/>
          </a:p>
        </p:txBody>
      </p:sp>
      <p:sp>
        <p:nvSpPr>
          <p:cNvPr id="36867" name="Rectangle 4"/>
          <p:cNvSpPr>
            <a:spLocks noGrp="1" noRot="1" noChangeArrowheads="1"/>
          </p:cNvSpPr>
          <p:nvPr>
            <p:ph type="title"/>
          </p:nvPr>
        </p:nvSpPr>
        <p:spPr>
          <a:noFill/>
        </p:spPr>
        <p:txBody>
          <a:bodyPr/>
          <a:lstStyle/>
          <a:p>
            <a:pPr eaLnBrk="1" hangingPunct="1"/>
            <a:r>
              <a:rPr lang="zh-CN" altLang="en-US" b="1" smtClean="0"/>
              <a:t>路线方案评价表</a:t>
            </a:r>
            <a:r>
              <a:rPr lang="zh-CN" altLang="en-US" smtClean="0"/>
              <a:t> </a:t>
            </a:r>
            <a:endParaRPr lang="zh-CN" altLang="en-US" smtClean="0"/>
          </a:p>
        </p:txBody>
      </p:sp>
      <p:graphicFrame>
        <p:nvGraphicFramePr>
          <p:cNvPr id="555036" name="Group 28"/>
          <p:cNvGraphicFramePr>
            <a:graphicFrameLocks noGrp="1"/>
          </p:cNvGraphicFramePr>
          <p:nvPr/>
        </p:nvGraphicFramePr>
        <p:xfrm>
          <a:off x="323850" y="1989138"/>
          <a:ext cx="8569325" cy="4495800"/>
        </p:xfrm>
        <a:graphic>
          <a:graphicData uri="http://schemas.openxmlformats.org/drawingml/2006/table">
            <a:tbl>
              <a:tblPr/>
              <a:tblGrid>
                <a:gridCol w="1106488"/>
                <a:gridCol w="6296025"/>
                <a:gridCol w="1166812"/>
              </a:tblGrid>
              <a:tr h="908178">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方 案</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评</a:t>
                      </a:r>
                      <a:r>
                        <a:rPr kumimoji="0"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价</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结 论</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r>
              <a:tr h="10685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Ι</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符合国家和浙江省路网规划，线形较好，对沿线城镇的现状和规划基本无影响，利于规划和发展，起点枢纽容易布设，交通量集散性较好，投资稍高。</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推荐</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1310825">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Ⅱ</a:t>
                      </a:r>
                      <a:endParaRPr kumimoji="0" lang="en-AU"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符合国家和浙江省路网规划，线形较好，投资略低，对沿线城镇的现状和规划影响较大，不利于规划和发展，起点枢纽技术问题较难处理，跨越等级航道较多。</a:t>
                      </a:r>
                      <a:endPar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1208258">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AU"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Ⅲ</a:t>
                      </a:r>
                      <a:endParaRPr kumimoji="0" lang="en-AU"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符合国家和浙江省路网规划，线形较好，投资最少，对沿线城镇的现状和规划影响较大，尤其是硖石镇、袁花镇和尖山围垦区，不利于规划和发展，</a:t>
                      </a:r>
                      <a:r>
                        <a:rPr kumimoji="0"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26" marB="45726"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D360F5B-F420-4343-932C-3BD24F05B7B2}" type="slidenum">
              <a:rPr lang="zh-CN" altLang="en-US" sz="1400" smtClean="0"/>
            </a:fld>
            <a:endParaRPr lang="en-US" altLang="zh-CN" sz="1400" smtClean="0"/>
          </a:p>
        </p:txBody>
      </p:sp>
      <p:sp>
        <p:nvSpPr>
          <p:cNvPr id="37891" name="Rectangle 4"/>
          <p:cNvSpPr>
            <a:spLocks noGrp="1" noRot="1" noChangeArrowheads="1"/>
          </p:cNvSpPr>
          <p:nvPr>
            <p:ph type="title"/>
          </p:nvPr>
        </p:nvSpPr>
        <p:spPr/>
        <p:txBody>
          <a:bodyPr/>
          <a:lstStyle/>
          <a:p>
            <a:pPr eaLnBrk="1" hangingPunct="1"/>
            <a:endParaRPr lang="zh-CN" altLang="en-US" smtClean="0"/>
          </a:p>
        </p:txBody>
      </p:sp>
      <p:sp>
        <p:nvSpPr>
          <p:cNvPr id="37892" name="Rectangle 5"/>
          <p:cNvSpPr>
            <a:spLocks noGrp="1" noRot="1" noChangeArrowheads="1"/>
          </p:cNvSpPr>
          <p:nvPr>
            <p:ph type="body" idx="1"/>
          </p:nvPr>
        </p:nvSpPr>
        <p:spPr>
          <a:noFill/>
        </p:spPr>
        <p:txBody>
          <a:bodyPr/>
          <a:lstStyle/>
          <a:p>
            <a:pPr algn="ctr" eaLnBrk="1" hangingPunct="1">
              <a:buFont typeface="Wingdings" panose="05000000000000000000" pitchFamily="2" charset="2"/>
              <a:buNone/>
            </a:pPr>
            <a:r>
              <a:rPr lang="zh-CN" altLang="en-US" sz="4400" smtClean="0"/>
              <a:t>重点风险</a:t>
            </a:r>
            <a:r>
              <a:rPr lang="en-US" altLang="zh-CN" sz="4400" smtClean="0"/>
              <a:t>?</a:t>
            </a:r>
            <a:endParaRPr lang="en-US" altLang="zh-CN" sz="4400"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B1F4D19-349D-4F29-9B12-C93A663CFAEA}" type="slidenum">
              <a:rPr lang="zh-CN" altLang="en-US" sz="1400" smtClean="0"/>
            </a:fld>
            <a:endParaRPr lang="en-US" altLang="zh-CN" sz="1400" smtClean="0"/>
          </a:p>
        </p:txBody>
      </p:sp>
      <p:sp>
        <p:nvSpPr>
          <p:cNvPr id="38915" name="Rectangle 4"/>
          <p:cNvSpPr>
            <a:spLocks noGrp="1" noRot="1" noChangeArrowheads="1"/>
          </p:cNvSpPr>
          <p:nvPr>
            <p:ph type="title"/>
          </p:nvPr>
        </p:nvSpPr>
        <p:spPr>
          <a:xfrm>
            <a:off x="323850" y="260350"/>
            <a:ext cx="8540750" cy="1143000"/>
          </a:xfrm>
          <a:noFill/>
        </p:spPr>
        <p:txBody>
          <a:bodyPr/>
          <a:lstStyle/>
          <a:p>
            <a:pPr eaLnBrk="1" hangingPunct="1"/>
            <a:r>
              <a:rPr lang="zh-CN" altLang="en-US" smtClean="0"/>
              <a:t>跨江大桥方案 </a:t>
            </a:r>
            <a:endParaRPr lang="zh-CN" altLang="en-US" smtClean="0"/>
          </a:p>
        </p:txBody>
      </p:sp>
      <p:sp>
        <p:nvSpPr>
          <p:cNvPr id="38916" name="Rectangle 5"/>
          <p:cNvSpPr>
            <a:spLocks noGrp="1" noRot="1" noChangeArrowheads="1"/>
          </p:cNvSpPr>
          <p:nvPr>
            <p:ph type="body" idx="1"/>
          </p:nvPr>
        </p:nvSpPr>
        <p:spPr>
          <a:xfrm>
            <a:off x="323850" y="1484313"/>
            <a:ext cx="8540750" cy="4471987"/>
          </a:xfrm>
          <a:noFill/>
        </p:spPr>
        <p:txBody>
          <a:bodyPr/>
          <a:lstStyle/>
          <a:p>
            <a:pPr eaLnBrk="1" hangingPunct="1"/>
            <a:r>
              <a:rPr lang="zh-CN" altLang="en-US" sz="2400" b="1" smtClean="0"/>
              <a:t>相同安全度条件下的经济技术指标对比分析；</a:t>
            </a:r>
            <a:endParaRPr lang="zh-CN" altLang="en-US" sz="2400" b="1" smtClean="0"/>
          </a:p>
          <a:p>
            <a:pPr eaLnBrk="1" hangingPunct="1"/>
            <a:r>
              <a:rPr lang="zh-CN" altLang="en-US" sz="2400" b="1" smtClean="0"/>
              <a:t>施工期间的抗灾能力、航运影响程度对比分析；</a:t>
            </a:r>
            <a:endParaRPr lang="zh-CN" altLang="en-US" sz="2400" b="1" smtClean="0"/>
          </a:p>
          <a:p>
            <a:pPr eaLnBrk="1" hangingPunct="1"/>
            <a:r>
              <a:rPr lang="zh-CN" altLang="en-US" sz="2400" b="1" smtClean="0"/>
              <a:t>施工条件的适应性和施工难易程度比较；</a:t>
            </a:r>
            <a:endParaRPr lang="zh-CN" altLang="en-US" sz="2400" b="1" smtClean="0"/>
          </a:p>
          <a:p>
            <a:pPr eaLnBrk="1" hangingPunct="1"/>
            <a:r>
              <a:rPr lang="zh-CN" altLang="en-US" sz="2400" b="1" smtClean="0"/>
              <a:t>营运期间抗灾、抗船舶撞击能力和海洋环境下结构耐久性比较；</a:t>
            </a:r>
            <a:r>
              <a:rPr lang="en-US" altLang="zh-CN" sz="2400" b="1" smtClean="0"/>
              <a:t>(</a:t>
            </a:r>
            <a:r>
              <a:rPr lang="zh-CN" altLang="en-US" sz="2400" b="1" smtClean="0"/>
              <a:t>九江大桥</a:t>
            </a:r>
            <a:r>
              <a:rPr lang="en-US" altLang="zh-CN" sz="2400" b="1" smtClean="0"/>
              <a:t>)</a:t>
            </a:r>
            <a:endParaRPr lang="en-US" altLang="zh-CN" sz="2400" b="1" smtClean="0"/>
          </a:p>
          <a:p>
            <a:pPr eaLnBrk="1" hangingPunct="1"/>
            <a:r>
              <a:rPr lang="zh-CN" altLang="en-US" sz="2400" b="1" smtClean="0"/>
              <a:t>桥型结构整体的景观效果及与周边环境的和谐程度比较；</a:t>
            </a:r>
            <a:endParaRPr lang="zh-CN" altLang="en-US" sz="2400" b="1" smtClean="0"/>
          </a:p>
          <a:p>
            <a:pPr eaLnBrk="1" hangingPunct="1"/>
            <a:r>
              <a:rPr lang="zh-CN" altLang="en-US" sz="2400" b="1" smtClean="0"/>
              <a:t>桥型方案对河床演变和航道适应性比较；</a:t>
            </a:r>
            <a:endParaRPr lang="zh-CN" altLang="en-US" sz="2400" b="1" smtClean="0"/>
          </a:p>
          <a:p>
            <a:pPr eaLnBrk="1" hangingPunct="1"/>
            <a:r>
              <a:rPr lang="zh-CN" altLang="en-US" sz="2400" b="1" smtClean="0"/>
              <a:t>桥型结构技术成熟度、行车舒适程度以及运营期维修养护难易程度比较；</a:t>
            </a:r>
            <a:endParaRPr lang="zh-CN" altLang="en-US" sz="2400" b="1" smtClean="0"/>
          </a:p>
          <a:p>
            <a:pPr eaLnBrk="1" hangingPunct="1"/>
            <a:r>
              <a:rPr lang="zh-CN" altLang="en-US" sz="2400" b="1" smtClean="0"/>
              <a:t>桥型方案对航空安全影响程度比较；</a:t>
            </a:r>
            <a:endParaRPr lang="zh-CN" altLang="en-US" sz="2400" b="1" smtClean="0"/>
          </a:p>
          <a:p>
            <a:pPr eaLnBrk="1" hangingPunct="1"/>
            <a:r>
              <a:rPr lang="zh-CN" altLang="en-US" sz="2400" b="1" smtClean="0"/>
              <a:t>桥型方案在施工和运营期间对河势和涌潮的影响分析比较 </a:t>
            </a:r>
            <a:endParaRPr lang="zh-CN" altLang="en-US" sz="2400" b="1"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5106156-A576-4EC5-B2A6-14A400DCC41B}" type="slidenum">
              <a:rPr lang="zh-CN" altLang="en-US" sz="1400" smtClean="0"/>
            </a:fld>
            <a:endParaRPr lang="en-US" altLang="zh-CN" sz="1400" smtClean="0"/>
          </a:p>
        </p:txBody>
      </p:sp>
      <p:sp>
        <p:nvSpPr>
          <p:cNvPr id="39939" name="Rectangle 4"/>
          <p:cNvSpPr>
            <a:spLocks noGrp="1" noRot="1" noChangeArrowheads="1"/>
          </p:cNvSpPr>
          <p:nvPr>
            <p:ph type="title"/>
          </p:nvPr>
        </p:nvSpPr>
        <p:spPr>
          <a:noFill/>
        </p:spPr>
        <p:txBody>
          <a:bodyPr/>
          <a:lstStyle/>
          <a:p>
            <a:pPr eaLnBrk="1" hangingPunct="1"/>
            <a:r>
              <a:rPr lang="zh-CN" altLang="en-US" b="1" smtClean="0"/>
              <a:t>钢桁梁桥，主跨</a:t>
            </a:r>
            <a:r>
              <a:rPr lang="en-US" altLang="zh-CN" b="1" smtClean="0"/>
              <a:t>380m</a:t>
            </a:r>
            <a:r>
              <a:rPr lang="zh-CN" altLang="en-US" b="1" smtClean="0"/>
              <a:t>，全长</a:t>
            </a:r>
            <a:r>
              <a:rPr lang="en-US" altLang="zh-CN" b="1" smtClean="0"/>
              <a:t>12320m</a:t>
            </a:r>
            <a:r>
              <a:rPr lang="en-US" altLang="zh-CN" smtClean="0"/>
              <a:t> </a:t>
            </a:r>
            <a:endParaRPr lang="zh-CN" altLang="en-US" smtClean="0"/>
          </a:p>
        </p:txBody>
      </p:sp>
      <p:sp>
        <p:nvSpPr>
          <p:cNvPr id="39940" name="Rectangle 5"/>
          <p:cNvSpPr>
            <a:spLocks noChangeArrowheads="1"/>
          </p:cNvSpPr>
          <p:nvPr/>
        </p:nvSpPr>
        <p:spPr bwMode="auto">
          <a:xfrm>
            <a:off x="0" y="2124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graphicFrame>
        <p:nvGraphicFramePr>
          <p:cNvPr id="39941" name="Object 6"/>
          <p:cNvGraphicFramePr>
            <a:graphicFrameLocks noChangeAspect="1"/>
          </p:cNvGraphicFramePr>
          <p:nvPr/>
        </p:nvGraphicFramePr>
        <p:xfrm>
          <a:off x="0" y="2124075"/>
          <a:ext cx="8604250" cy="3956050"/>
        </p:xfrm>
        <a:graphic>
          <a:graphicData uri="http://schemas.openxmlformats.org/presentationml/2006/ole">
            <mc:AlternateContent xmlns:mc="http://schemas.openxmlformats.org/markup-compatibility/2006">
              <mc:Choice xmlns:v="urn:schemas-microsoft-com:vml" Requires="v">
                <p:oleObj spid="_x0000_s39943" name="" r:id="rId1" imgW="7467600" imgH="4629150" progId="AutoCAD.Drawing.14">
                  <p:embed/>
                </p:oleObj>
              </mc:Choice>
              <mc:Fallback>
                <p:oleObj name="" r:id="rId1" imgW="7467600" imgH="4629150" progId="AutoCAD.Drawing.1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l="418" t="11703" r="-609" b="10939"/>
                      <a:stretch>
                        <a:fillRect/>
                      </a:stretch>
                    </p:blipFill>
                    <p:spPr bwMode="auto">
                      <a:xfrm>
                        <a:off x="0" y="2124075"/>
                        <a:ext cx="8604250" cy="395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4E296BD-C9F6-4A89-BFEB-D0B5A602021A}" type="slidenum">
              <a:rPr lang="zh-CN" altLang="en-US" sz="1400" smtClean="0"/>
            </a:fld>
            <a:endParaRPr lang="en-US" altLang="zh-CN" sz="1400" smtClean="0"/>
          </a:p>
        </p:txBody>
      </p:sp>
      <p:sp>
        <p:nvSpPr>
          <p:cNvPr id="40963" name="Rectangle 4"/>
          <p:cNvSpPr>
            <a:spLocks noGrp="1" noRot="1" noChangeArrowheads="1"/>
          </p:cNvSpPr>
          <p:nvPr>
            <p:ph type="title"/>
          </p:nvPr>
        </p:nvSpPr>
        <p:spPr>
          <a:noFill/>
        </p:spPr>
        <p:txBody>
          <a:bodyPr/>
          <a:lstStyle/>
          <a:p>
            <a:pPr eaLnBrk="1" hangingPunct="1"/>
            <a:r>
              <a:rPr lang="zh-CN" altLang="en-US" smtClean="0"/>
              <a:t>主梁</a:t>
            </a:r>
            <a:endParaRPr lang="zh-CN" altLang="en-US" smtClean="0"/>
          </a:p>
        </p:txBody>
      </p:sp>
      <p:sp>
        <p:nvSpPr>
          <p:cNvPr id="40964" name="Rectangle 5"/>
          <p:cNvSpPr>
            <a:spLocks noChangeArrowheads="1"/>
          </p:cNvSpPr>
          <p:nvPr/>
        </p:nvSpPr>
        <p:spPr bwMode="auto">
          <a:xfrm>
            <a:off x="0" y="1714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graphicFrame>
        <p:nvGraphicFramePr>
          <p:cNvPr id="40965" name="Object 6"/>
          <p:cNvGraphicFramePr>
            <a:graphicFrameLocks noChangeAspect="1"/>
          </p:cNvGraphicFramePr>
          <p:nvPr/>
        </p:nvGraphicFramePr>
        <p:xfrm>
          <a:off x="1187450" y="1900238"/>
          <a:ext cx="6480175" cy="4957762"/>
        </p:xfrm>
        <a:graphic>
          <a:graphicData uri="http://schemas.openxmlformats.org/presentationml/2006/ole">
            <mc:AlternateContent xmlns:mc="http://schemas.openxmlformats.org/markup-compatibility/2006">
              <mc:Choice xmlns:v="urn:schemas-microsoft-com:vml" Requires="v">
                <p:oleObj spid="_x0000_s40967" name="" r:id="rId1" imgW="7467600" imgH="4629150" progId="AutoCAD.Drawing.14">
                  <p:embed/>
                </p:oleObj>
              </mc:Choice>
              <mc:Fallback>
                <p:oleObj name="" r:id="rId1" imgW="7467600" imgH="4629150" progId="AutoCAD.Drawing.1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l="21202" t="407" r="21446" b="-291"/>
                      <a:stretch>
                        <a:fillRect/>
                      </a:stretch>
                    </p:blipFill>
                    <p:spPr bwMode="auto">
                      <a:xfrm>
                        <a:off x="1187450" y="1900238"/>
                        <a:ext cx="6480175" cy="495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1F48FDA-EE6D-4B2B-8D16-9DE6281DE411}" type="slidenum">
              <a:rPr lang="zh-CN" altLang="en-US" sz="1400" smtClean="0"/>
            </a:fld>
            <a:endParaRPr lang="en-US" altLang="zh-CN" sz="1400" smtClean="0"/>
          </a:p>
        </p:txBody>
      </p:sp>
      <p:sp>
        <p:nvSpPr>
          <p:cNvPr id="41987" name="Rectangle 4"/>
          <p:cNvSpPr>
            <a:spLocks noGrp="1" noRot="1" noChangeArrowheads="1"/>
          </p:cNvSpPr>
          <p:nvPr>
            <p:ph type="title"/>
          </p:nvPr>
        </p:nvSpPr>
        <p:spPr>
          <a:noFill/>
        </p:spPr>
        <p:txBody>
          <a:bodyPr/>
          <a:lstStyle/>
          <a:p>
            <a:pPr eaLnBrk="1" hangingPunct="1"/>
            <a:r>
              <a:rPr lang="zh-CN" altLang="en-US" smtClean="0"/>
              <a:t>滩涂桥双层框架布置图 </a:t>
            </a:r>
            <a:endParaRPr lang="zh-CN" altLang="en-US" smtClean="0"/>
          </a:p>
        </p:txBody>
      </p:sp>
      <p:sp>
        <p:nvSpPr>
          <p:cNvPr id="41988" name="Rectangle 5"/>
          <p:cNvSpPr>
            <a:spLocks noChangeArrowheads="1"/>
          </p:cNvSpPr>
          <p:nvPr/>
        </p:nvSpPr>
        <p:spPr bwMode="auto">
          <a:xfrm>
            <a:off x="0" y="1281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graphicFrame>
        <p:nvGraphicFramePr>
          <p:cNvPr id="41989" name="Object 6"/>
          <p:cNvGraphicFramePr>
            <a:graphicFrameLocks noChangeAspect="1"/>
          </p:cNvGraphicFramePr>
          <p:nvPr/>
        </p:nvGraphicFramePr>
        <p:xfrm>
          <a:off x="0" y="1916113"/>
          <a:ext cx="9144000" cy="4911725"/>
        </p:xfrm>
        <a:graphic>
          <a:graphicData uri="http://schemas.openxmlformats.org/presentationml/2006/ole">
            <mc:AlternateContent xmlns:mc="http://schemas.openxmlformats.org/markup-compatibility/2006">
              <mc:Choice xmlns:v="urn:schemas-microsoft-com:vml" Requires="v">
                <p:oleObj spid="_x0000_s41991" name="" r:id="rId1" imgW="7467600" imgH="4629150" progId="AutoCAD.Drawing.14">
                  <p:embed/>
                </p:oleObj>
              </mc:Choice>
              <mc:Fallback>
                <p:oleObj name="" r:id="rId1" imgW="7467600" imgH="4629150" progId="AutoCAD.Drawing.1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l="10260" r="10715"/>
                      <a:stretch>
                        <a:fillRect/>
                      </a:stretch>
                    </p:blipFill>
                    <p:spPr bwMode="auto">
                      <a:xfrm>
                        <a:off x="0" y="1916113"/>
                        <a:ext cx="9144000" cy="49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28D29A8-0648-4E62-B292-92E8AAFB9EF4}" type="slidenum">
              <a:rPr lang="zh-CN" altLang="en-US" sz="1400" smtClean="0"/>
            </a:fld>
            <a:endParaRPr lang="en-US" altLang="zh-CN" sz="1400" smtClean="0"/>
          </a:p>
        </p:txBody>
      </p:sp>
      <p:sp>
        <p:nvSpPr>
          <p:cNvPr id="43011" name="Rectangle 223"/>
          <p:cNvSpPr>
            <a:spLocks noChangeArrowheads="1"/>
          </p:cNvSpPr>
          <p:nvPr/>
        </p:nvSpPr>
        <p:spPr bwMode="auto">
          <a:xfrm>
            <a:off x="468313" y="82550"/>
            <a:ext cx="8135937"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AU" sz="2800" b="1">
                <a:latin typeface="Times New Roman" panose="02020603050405020304" pitchFamily="18" charset="0"/>
                <a:ea typeface="黑体" panose="02010609060101010101" pitchFamily="49" charset="-122"/>
                <a:cs typeface="Times New Roman" panose="02020603050405020304" pitchFamily="18" charset="0"/>
              </a:rPr>
              <a:t>钢桁梁方案、低塔斜拉桥方案综合比较表</a:t>
            </a:r>
            <a:endParaRPr lang="zh-CN" altLang="en-AU" sz="2800">
              <a:ea typeface="黑体" panose="02010609060101010101" pitchFamily="49" charset="-122"/>
              <a:cs typeface="Times New Roman" panose="02020603050405020304" pitchFamily="18" charset="0"/>
            </a:endParaRPr>
          </a:p>
          <a:p>
            <a:pPr>
              <a:spcBef>
                <a:spcPct val="0"/>
              </a:spcBef>
              <a:buClrTx/>
              <a:buSzTx/>
              <a:buFontTx/>
              <a:buNone/>
            </a:pPr>
            <a:endParaRPr lang="zh-CN" altLang="en-AU" sz="240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70812" name="Group 444"/>
          <p:cNvGraphicFramePr>
            <a:graphicFrameLocks noGrp="1"/>
          </p:cNvGraphicFramePr>
          <p:nvPr/>
        </p:nvGraphicFramePr>
        <p:xfrm>
          <a:off x="0" y="620713"/>
          <a:ext cx="9144000" cy="6124576"/>
        </p:xfrm>
        <a:graphic>
          <a:graphicData uri="http://schemas.openxmlformats.org/drawingml/2006/table">
            <a:tbl>
              <a:tblPr/>
              <a:tblGrid>
                <a:gridCol w="552450"/>
                <a:gridCol w="1627188"/>
                <a:gridCol w="3481387"/>
                <a:gridCol w="3482975"/>
              </a:tblGrid>
              <a:tr h="528592">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方案结构形式</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方案</a:t>
                      </a:r>
                      <a:r>
                        <a:rPr kumimoji="0" lang="en-US" altLang="zh-CN"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1 </a:t>
                      </a: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钢桁梁方案</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方案</a:t>
                      </a:r>
                      <a:r>
                        <a:rPr kumimoji="0" lang="en-US" altLang="zh-CN"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2  </a:t>
                      </a: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低塔斜拉桥方案</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5253">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结构配跨（</a:t>
                      </a:r>
                      <a:r>
                        <a:rPr kumimoji="0" lang="en-US" altLang="zh-CN"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m</a:t>
                      </a: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200+380+200</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145+7×258+145</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66794">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44</a:t>
                      </a: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通航情况</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南通航孔设一个通航孔，主跨设</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3000t</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级双向，边跨设</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1000t</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级单向通航孔，北通航孔设两个</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500t</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级单向通航孔</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南通航孔设七个通航孔，主跨</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3000t</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级双向通航</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北通航孔设两个</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500t</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级单向通航孔</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8108">
                <a:tc rowSpan="5">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建安费（万元）</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主桥</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40844/</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长</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780m</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103598/</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长</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2096m</a:t>
                      </a:r>
                      <a:endPar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9695">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30m</a:t>
                      </a: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引桥</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45599</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（总长</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3150m</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US"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endParaRPr kumimoji="0" lang="zh-CN" altLang="en-US"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39051</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（总长</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3150m</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4458">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50m</a:t>
                      </a: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引桥</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70685</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（总长</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3350m</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US"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endParaRPr kumimoji="0" lang="zh-CN" altLang="en-US"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60089</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（总长</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2850m</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8428">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180/150m</a:t>
                      </a: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引桥</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202956</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（总长</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5040m</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125732</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（总长</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4230m</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5253">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合计</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360084</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（全长</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12320m</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328470</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（全长</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12326m</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554473">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桥型比较</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主桥采用钢桁梁系杆拱，上下双层通车，桥墩及基础规模小，方便施工，引桥采用</a:t>
                      </a:r>
                      <a:r>
                        <a:rPr kumimoji="0" lang="en-US" altLang="zh-CN"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180m</a:t>
                      </a: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钢桁梁和预应力混凝土箱梁，由双层通车逐渐过渡到单层通车，减少了水中墩数量。上部构件较轻，便于施工。</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主桥采用低塔斜拉桥，刚构连续组合体系。索塔采用钢管混凝土，墩身采用混凝土薄壁墩身或者钢管混凝土墩身，施工快速方便。引桥采用预应力混凝土箱梁。</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63522">
                <a:tc grid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桥梁整体协调性和美学效果</a:t>
                      </a:r>
                      <a:endParaRPr kumimoji="0" lang="zh-CN" altLang="en-AU" sz="16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整桥比例协调，拱式体系具有古典美学效果</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整桥比例协调，结构挺拔，传力明确，形式美观。具有现代美学效果。</a:t>
                      </a:r>
                      <a:endParaRPr kumimoji="0" lang="zh-CN" altLang="en-AU" sz="16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7" marB="4571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3061" name="Rectangle 441"/>
          <p:cNvSpPr>
            <a:spLocks noChangeArrowheads="1"/>
          </p:cNvSpPr>
          <p:nvPr/>
        </p:nvSpPr>
        <p:spPr bwMode="auto">
          <a:xfrm>
            <a:off x="0" y="587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59AEC56-C0B1-460D-8DA6-645A18BF90B8}" type="slidenum">
              <a:rPr lang="zh-CN" altLang="en-US" sz="1400" smtClean="0"/>
            </a:fld>
            <a:endParaRPr lang="en-US" altLang="zh-CN" sz="1400" smtClean="0"/>
          </a:p>
        </p:txBody>
      </p:sp>
      <p:graphicFrame>
        <p:nvGraphicFramePr>
          <p:cNvPr id="571569" name="Group 177"/>
          <p:cNvGraphicFramePr>
            <a:graphicFrameLocks noGrp="1"/>
          </p:cNvGraphicFramePr>
          <p:nvPr>
            <p:ph/>
          </p:nvPr>
        </p:nvGraphicFramePr>
        <p:xfrm>
          <a:off x="0" y="125413"/>
          <a:ext cx="9144000" cy="6751637"/>
        </p:xfrm>
        <a:graphic>
          <a:graphicData uri="http://schemas.openxmlformats.org/drawingml/2006/table">
            <a:tbl>
              <a:tblPr/>
              <a:tblGrid>
                <a:gridCol w="2179638"/>
                <a:gridCol w="3481387"/>
                <a:gridCol w="3482975"/>
              </a:tblGrid>
              <a:tr h="442779">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方案结构形式</a:t>
                      </a:r>
                      <a:endParaRPr kumimoji="0" lang="zh-CN" altLang="en-AU" sz="1400" b="0"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方案</a:t>
                      </a:r>
                      <a:r>
                        <a:rPr kumimoji="0" lang="en-US" altLang="zh-CN"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1 </a:t>
                      </a: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钢桁梁方案</a:t>
                      </a:r>
                      <a:endParaRPr kumimoji="0" lang="zh-CN" altLang="en-AU" sz="1400" b="0"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方案</a:t>
                      </a:r>
                      <a:r>
                        <a:rPr kumimoji="0" lang="en-US" altLang="zh-CN"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2  </a:t>
                      </a: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低塔斜拉桥方案</a:t>
                      </a:r>
                      <a:endParaRPr kumimoji="0" lang="zh-CN" altLang="en-AU" sz="1400" b="0"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4824">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已建和在建的桥梁实例</a:t>
                      </a:r>
                      <a:endParaRPr kumimoji="0" lang="zh-CN" altLang="en-AU" sz="1400" b="0"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桁架拱桥已建成的有很多，但双层通车首次在公路桥梁上运用</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已建成的有福建漳州战备桥，日本的木曾川桥等</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1650">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技术难度和技术可行性</a:t>
                      </a:r>
                      <a:endParaRPr kumimoji="0" lang="zh-CN" altLang="en-AU" sz="1400" b="0"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技术较成熟，可行性高，适合海上吊装施工。</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技术较成熟，可行性高，适应性好。</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58210">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施工阶段</a:t>
                      </a:r>
                      <a:endParaRPr kumimoji="0" lang="zh-CN" altLang="en-AU" sz="1400" b="0"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施工时抗风安全稳定性能较好。基础施工采用围堰上搭设施工平台，墩采用爬模施工，钢桁梁采用吊装，估计工期</a:t>
                      </a:r>
                      <a:r>
                        <a:rPr kumimoji="0" lang="en-US" altLang="zh-CN"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3.5</a:t>
                      </a: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年</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抗风抗震能力较好，基础施工采用围堰上搭设施工平台，墩、塔采用自模板施工，快速方便。主梁采用悬臂浇注施工，基础施工难度较大，估计工期为</a:t>
                      </a:r>
                      <a:r>
                        <a:rPr kumimoji="0" lang="en-US" altLang="zh-CN"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3.5</a:t>
                      </a: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年</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31491">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运营阶段</a:t>
                      </a:r>
                      <a:endParaRPr kumimoji="0" lang="zh-CN" altLang="en-AU" sz="1400" b="0"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抗风稳定性好，连续体系，行车舒适，养护工作量较大，但会减少混凝土带来其他问题</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抗风稳定性好，连续体系，行车舒适，养护工作量较大。</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8132">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涌潮的影响</a:t>
                      </a:r>
                      <a:endParaRPr kumimoji="0" lang="zh-CN" altLang="en-AU" sz="1400" b="0"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跨径较大，合理减小承台尺寸，对涌潮的影响最小</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承台规模较大，但跨径也大，对涌潮的影响一般</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8132">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船舶撞击的影响</a:t>
                      </a:r>
                      <a:endParaRPr kumimoji="0" lang="zh-CN" altLang="en-AU" sz="1400" b="0"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主墩船舶撞击概率较小，主墩抵抗船撞能力强</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主墩船舶撞击概率较小，主墩抵抗船撞能力强</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8132">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主通航孔对河床演变的适应性</a:t>
                      </a:r>
                      <a:endParaRPr kumimoji="0" lang="zh-CN" altLang="en-AU" sz="1400" b="0"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跨径大，适应性较一般</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多孔通航，适应性好</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79828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rPr>
                        <a:t>综合评述</a:t>
                      </a:r>
                      <a:endParaRPr kumimoji="0" lang="zh-CN" altLang="en-AU" sz="1400" b="0" i="0" u="none" strike="noStrike" cap="none" normalizeH="0" baseline="0" smtClean="0">
                        <a:ln>
                          <a:noFill/>
                        </a:ln>
                        <a:solidFill>
                          <a:srgbClr val="CC0000"/>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钢桁梁方案对河床演变的适应性一般，对涌潮的影响较小，抵抗船舶撞击的能力好，技术可行，构件较轻，便于施工，采用上下双层通车，减小了承台的尺寸，有利于减小对涌潮的影响，降低了下部结构的施工难度。综合考虑设计、施工、通航以及环境等因素，拟将本方案作为推荐方案。</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采用多孔通航，对河床演变的适应性好，混凝土梁造价低，施工和运营时的稳定性好，桥墩、索塔采用钢管混凝土结构，施工快速简便，通航适应性较好，抵抗船舶撞击的能力较好，对涌潮的影响较小。综合考虑设计、施工、通航以及环境等因素，拟将本方案作为比较方案。</a:t>
                      </a:r>
                      <a:endParaRPr kumimoji="0" lang="zh-CN" altLang="en-AU" sz="14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07" marB="45707"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8844D8A-60D2-414B-8476-F50D649E754E}" type="slidenum">
              <a:rPr lang="zh-CN" altLang="en-US" sz="1400" smtClean="0"/>
            </a:fld>
            <a:endParaRPr lang="en-US" altLang="zh-CN" sz="1400" smtClean="0"/>
          </a:p>
        </p:txBody>
      </p:sp>
      <p:sp>
        <p:nvSpPr>
          <p:cNvPr id="45059" name="Rectangle 4"/>
          <p:cNvSpPr>
            <a:spLocks noGrp="1" noRot="1" noChangeArrowheads="1"/>
          </p:cNvSpPr>
          <p:nvPr>
            <p:ph type="title"/>
          </p:nvPr>
        </p:nvSpPr>
        <p:spPr/>
        <p:txBody>
          <a:bodyPr/>
          <a:lstStyle/>
          <a:p>
            <a:pPr eaLnBrk="1" hangingPunct="1"/>
            <a:endParaRPr lang="zh-CN" altLang="en-US" smtClean="0"/>
          </a:p>
        </p:txBody>
      </p:sp>
      <p:sp>
        <p:nvSpPr>
          <p:cNvPr id="45060" name="Rectangle 5"/>
          <p:cNvSpPr>
            <a:spLocks noGrp="1" noRot="1" noChangeArrowheads="1"/>
          </p:cNvSpPr>
          <p:nvPr>
            <p:ph type="body" idx="1"/>
          </p:nvPr>
        </p:nvSpPr>
        <p:spPr>
          <a:noFill/>
        </p:spPr>
        <p:txBody>
          <a:bodyPr/>
          <a:lstStyle/>
          <a:p>
            <a:pPr algn="ctr" eaLnBrk="1" hangingPunct="1">
              <a:buFont typeface="Wingdings" panose="05000000000000000000" pitchFamily="2" charset="2"/>
              <a:buNone/>
            </a:pPr>
            <a:r>
              <a:rPr lang="zh-CN" altLang="en-US" sz="5400" smtClean="0"/>
              <a:t>桥梁有何替代方案</a:t>
            </a:r>
            <a:r>
              <a:rPr lang="en-US" altLang="zh-CN" sz="5400" smtClean="0"/>
              <a:t>?</a:t>
            </a:r>
            <a:endParaRPr lang="en-US" altLang="zh-CN" sz="5400"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D2D7A0A-7E3C-4EDA-8C7F-A22A74D6052D}" type="slidenum">
              <a:rPr lang="zh-CN" altLang="en-US" sz="1400" smtClean="0"/>
            </a:fld>
            <a:endParaRPr lang="en-US" altLang="zh-CN" sz="1400" smtClean="0"/>
          </a:p>
        </p:txBody>
      </p:sp>
      <p:sp>
        <p:nvSpPr>
          <p:cNvPr id="46083" name="Rectangle 4"/>
          <p:cNvSpPr>
            <a:spLocks noGrp="1" noRot="1" noChangeArrowheads="1"/>
          </p:cNvSpPr>
          <p:nvPr>
            <p:ph type="title"/>
          </p:nvPr>
        </p:nvSpPr>
        <p:spPr>
          <a:noFill/>
        </p:spPr>
        <p:txBody>
          <a:bodyPr/>
          <a:lstStyle/>
          <a:p>
            <a:pPr eaLnBrk="1" hangingPunct="1"/>
            <a:r>
              <a:rPr lang="zh-CN" altLang="en-US" smtClean="0"/>
              <a:t>隧道方案工程设计 </a:t>
            </a:r>
            <a:endParaRPr lang="zh-CN" altLang="en-US" smtClean="0"/>
          </a:p>
        </p:txBody>
      </p:sp>
      <p:graphicFrame>
        <p:nvGraphicFramePr>
          <p:cNvPr id="46084" name="Object 5"/>
          <p:cNvGraphicFramePr>
            <a:graphicFrameLocks noChangeAspect="1"/>
          </p:cNvGraphicFramePr>
          <p:nvPr/>
        </p:nvGraphicFramePr>
        <p:xfrm>
          <a:off x="0" y="2276475"/>
          <a:ext cx="4181475" cy="4248150"/>
        </p:xfrm>
        <a:graphic>
          <a:graphicData uri="http://schemas.openxmlformats.org/presentationml/2006/ole">
            <mc:AlternateContent xmlns:mc="http://schemas.openxmlformats.org/markup-compatibility/2006">
              <mc:Choice xmlns:v="urn:schemas-microsoft-com:vml" Requires="v">
                <p:oleObj spid="_x0000_s46088" name="" r:id="rId1" imgW="9429750" imgH="5095875" progId="AutoCAD.Drawing.15">
                  <p:embed/>
                </p:oleObj>
              </mc:Choice>
              <mc:Fallback>
                <p:oleObj name="" r:id="rId1" imgW="9429750" imgH="5095875" progId="AutoCAD.Drawing.15">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l="47711" t="43964" r="42465" b="37488"/>
                      <a:stretch>
                        <a:fillRect/>
                      </a:stretch>
                    </p:blipFill>
                    <p:spPr bwMode="auto">
                      <a:xfrm>
                        <a:off x="0" y="2276475"/>
                        <a:ext cx="418147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6085"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l="64110" t="56380" r="24911" b="23119"/>
          <a:stretch>
            <a:fillRect/>
          </a:stretch>
        </p:blipFill>
        <p:spPr bwMode="auto">
          <a:xfrm>
            <a:off x="4916488" y="2205038"/>
            <a:ext cx="4227512" cy="429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6" name="Rectangle 7"/>
          <p:cNvSpPr>
            <a:spLocks noChangeArrowheads="1"/>
          </p:cNvSpPr>
          <p:nvPr/>
        </p:nvSpPr>
        <p:spPr bwMode="auto">
          <a:xfrm>
            <a:off x="1657350" y="654050"/>
            <a:ext cx="7175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indent="3556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AU" sz="1400">
                <a:latin typeface="Times New Roman" panose="02020603050405020304" pitchFamily="18" charset="0"/>
                <a:ea typeface="楷体_GB2312"/>
                <a:cs typeface="Times New Roman" panose="02020603050405020304" pitchFamily="18" charset="0"/>
              </a:rPr>
              <a:t>：</a:t>
            </a:r>
            <a:endParaRPr lang="zh-CN" altLang="en-AU" sz="900">
              <a:ea typeface="楷体_GB2312"/>
              <a:cs typeface="Times New Roman" panose="02020603050405020304" pitchFamily="18" charset="0"/>
            </a:endParaRPr>
          </a:p>
          <a:p>
            <a:pPr>
              <a:spcBef>
                <a:spcPct val="0"/>
              </a:spcBef>
              <a:buClrTx/>
              <a:buSzTx/>
              <a:buFontTx/>
              <a:buNone/>
            </a:pPr>
            <a:endParaRPr lang="zh-CN" altLang="en-AU" sz="2400">
              <a:latin typeface="Times New Roman" panose="02020603050405020304" pitchFamily="18" charset="0"/>
              <a:ea typeface="楷体_GB231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8A2D009-3632-46B6-80A1-F49576404159}" type="slidenum">
              <a:rPr lang="zh-CN" altLang="en-US" sz="1400" smtClean="0"/>
            </a:fld>
            <a:endParaRPr lang="en-US" altLang="zh-CN" sz="1400" smtClean="0"/>
          </a:p>
        </p:txBody>
      </p:sp>
      <p:sp>
        <p:nvSpPr>
          <p:cNvPr id="47107" name="Rectangle 4"/>
          <p:cNvSpPr>
            <a:spLocks noGrp="1" noRot="1" noChangeArrowheads="1"/>
          </p:cNvSpPr>
          <p:nvPr>
            <p:ph type="title"/>
          </p:nvPr>
        </p:nvSpPr>
        <p:spPr/>
        <p:txBody>
          <a:bodyPr/>
          <a:lstStyle/>
          <a:p>
            <a:pPr eaLnBrk="1" hangingPunct="1"/>
            <a:endParaRPr lang="zh-CN" altLang="en-US" smtClean="0"/>
          </a:p>
        </p:txBody>
      </p:sp>
      <p:pic>
        <p:nvPicPr>
          <p:cNvPr id="47108" name="Picture 5" descr="TB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6013" y="908050"/>
            <a:ext cx="6226175" cy="566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67B7ED4-0C5B-411E-8638-4120FF65A935}" type="slidenum">
              <a:rPr lang="zh-CN" altLang="en-US" sz="1400" smtClean="0"/>
            </a:fld>
            <a:endParaRPr lang="en-US" altLang="zh-CN" sz="1400" smtClean="0"/>
          </a:p>
        </p:txBody>
      </p:sp>
      <p:sp>
        <p:nvSpPr>
          <p:cNvPr id="48131" name="Rectangle 4"/>
          <p:cNvSpPr>
            <a:spLocks noGrp="1" noRot="1" noChangeArrowheads="1"/>
          </p:cNvSpPr>
          <p:nvPr>
            <p:ph type="title"/>
          </p:nvPr>
        </p:nvSpPr>
        <p:spPr/>
        <p:txBody>
          <a:bodyPr/>
          <a:lstStyle/>
          <a:p>
            <a:pPr eaLnBrk="1" hangingPunct="1"/>
            <a:endParaRPr lang="zh-CN" altLang="en-US" smtClean="0"/>
          </a:p>
        </p:txBody>
      </p:sp>
      <p:pic>
        <p:nvPicPr>
          <p:cNvPr id="48132" name="Picture 5" descr="tunnel%20boring%20mach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981075"/>
            <a:ext cx="9144000" cy="497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1FFBC0D-40EC-4D07-873C-255D96679B53}" type="slidenum">
              <a:rPr lang="zh-CN" altLang="en-US" sz="1400" smtClean="0"/>
            </a:fld>
            <a:endParaRPr lang="en-US" altLang="zh-CN" sz="1400" smtClean="0"/>
          </a:p>
        </p:txBody>
      </p:sp>
      <p:sp>
        <p:nvSpPr>
          <p:cNvPr id="49155" name="Rectangle 4"/>
          <p:cNvSpPr>
            <a:spLocks noGrp="1" noRot="1" noChangeArrowheads="1"/>
          </p:cNvSpPr>
          <p:nvPr>
            <p:ph type="title"/>
          </p:nvPr>
        </p:nvSpPr>
        <p:spPr/>
        <p:txBody>
          <a:bodyPr/>
          <a:lstStyle/>
          <a:p>
            <a:pPr eaLnBrk="1" hangingPunct="1"/>
            <a:endParaRPr lang="zh-CN" altLang="en-US" smtClean="0"/>
          </a:p>
        </p:txBody>
      </p:sp>
      <p:pic>
        <p:nvPicPr>
          <p:cNvPr id="49156" name="Picture 5" descr="cat_graphic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492125"/>
            <a:ext cx="813752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28614E5-29AE-465C-BFCE-02213B14420F}" type="slidenum">
              <a:rPr lang="zh-CN" altLang="en-US" sz="1400" smtClean="0"/>
            </a:fld>
            <a:endParaRPr lang="en-US" altLang="zh-CN" sz="1400" smtClean="0"/>
          </a:p>
        </p:txBody>
      </p:sp>
      <p:sp>
        <p:nvSpPr>
          <p:cNvPr id="50179" name="Rectangle 4"/>
          <p:cNvSpPr>
            <a:spLocks noGrp="1" noRot="1" noChangeArrowheads="1"/>
          </p:cNvSpPr>
          <p:nvPr>
            <p:ph type="title"/>
          </p:nvPr>
        </p:nvSpPr>
        <p:spPr/>
        <p:txBody>
          <a:bodyPr/>
          <a:lstStyle/>
          <a:p>
            <a:pPr eaLnBrk="1" hangingPunct="1"/>
            <a:endParaRPr lang="zh-CN" altLang="en-US" smtClean="0"/>
          </a:p>
        </p:txBody>
      </p:sp>
      <p:pic>
        <p:nvPicPr>
          <p:cNvPr id="567301" name="Picture 5" descr="do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692150"/>
            <a:ext cx="7632700" cy="551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7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2E79385-68A1-4DEB-A450-3A9155E61E1C}" type="slidenum">
              <a:rPr lang="zh-CN" altLang="en-US" sz="1400" smtClean="0"/>
            </a:fld>
            <a:endParaRPr lang="en-US" altLang="zh-CN" sz="1400" smtClean="0"/>
          </a:p>
        </p:txBody>
      </p:sp>
      <p:sp>
        <p:nvSpPr>
          <p:cNvPr id="51203" name="Rectangle 4"/>
          <p:cNvSpPr>
            <a:spLocks noChangeArrowheads="1"/>
          </p:cNvSpPr>
          <p:nvPr/>
        </p:nvSpPr>
        <p:spPr bwMode="auto">
          <a:xfrm>
            <a:off x="3302000" y="-39688"/>
            <a:ext cx="2486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AU" sz="1800" b="1">
                <a:latin typeface="Times New Roman" panose="02020603050405020304" pitchFamily="18" charset="0"/>
                <a:ea typeface="黑体" panose="02010609060101010101" pitchFamily="49" charset="-122"/>
                <a:cs typeface="Times New Roman" panose="02020603050405020304" pitchFamily="18" charset="0"/>
              </a:rPr>
              <a:t>桥、隧方案综合比较表</a:t>
            </a:r>
            <a:endParaRPr lang="zh-CN" altLang="en-AU" sz="1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74158" name="Group 718"/>
          <p:cNvGraphicFramePr>
            <a:graphicFrameLocks noGrp="1"/>
          </p:cNvGraphicFramePr>
          <p:nvPr/>
        </p:nvGraphicFramePr>
        <p:xfrm>
          <a:off x="19050" y="476250"/>
          <a:ext cx="9105900" cy="5846765"/>
        </p:xfrm>
        <a:graphic>
          <a:graphicData uri="http://schemas.openxmlformats.org/drawingml/2006/table">
            <a:tbl>
              <a:tblPr/>
              <a:tblGrid>
                <a:gridCol w="839788"/>
                <a:gridCol w="1146175"/>
                <a:gridCol w="1209675"/>
                <a:gridCol w="1468437"/>
                <a:gridCol w="1111250"/>
                <a:gridCol w="1244600"/>
                <a:gridCol w="1377950"/>
                <a:gridCol w="708025"/>
              </a:tblGrid>
              <a:tr h="273034">
                <a:tc rowSpan="2" gridSpan="2">
                  <a:txBody>
                    <a:bodyPr/>
                    <a:lstStyle/>
                    <a:p>
                      <a:pPr marL="0" marR="0" lvl="0" indent="133350" algn="l" defTabSz="914400" rtl="0" eaLnBrk="0" fontAlgn="base" latinLnBrk="0" hangingPunct="0">
                        <a:lnSpc>
                          <a:spcPct val="100000"/>
                        </a:lnSpc>
                        <a:spcBef>
                          <a:spcPct val="0"/>
                        </a:spcBef>
                        <a:spcAft>
                          <a:spcPct val="0"/>
                        </a:spcAft>
                        <a:buClrTx/>
                        <a:buSzTx/>
                        <a:buFontTx/>
                        <a:buNone/>
                      </a:pPr>
                      <a:endParaRPr kumimoji="0" lang="zh-CN" altLang="en-US"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pPr>
                      <a:r>
                        <a:rPr kumimoji="0" lang="zh-CN" altLang="en-US"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过江方案</a:t>
                      </a:r>
                      <a:endParaRPr kumimoji="0" lang="zh-CN" altLang="en-AU" sz="1000" b="1" i="0" u="none" strike="noStrike" cap="none" normalizeH="0" baseline="0" smtClean="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p>
                      <a:pPr marL="0" marR="0" lvl="0" indent="133350" algn="l"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风险类型</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桥梁方案（</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K43</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050</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K52</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900</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隧道方案（</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K43</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050</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K52</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900</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r h="342880">
                <a:tc vMerge="1" gridSpan="2">
                  <a:tcPr/>
                </a:tc>
                <a:tc vMerge="1"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特征</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措施</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评价</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特征</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措施</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评价</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90510">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气象风险</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台风风险</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最大风速</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39.3m/s</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32080" algn="l"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 </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抗风设计</a:t>
                      </a:r>
                      <a:endParaRPr kumimoji="0" lang="zh-CN" altLang="en-AU" sz="1000" b="1" i="0" u="none" strike="noStrike" cap="none" normalizeH="0" baseline="0" smtClean="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p>
                      <a:pPr marL="0" marR="0" lvl="0" indent="132080" algn="l"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 </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台风天气关闭</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影响大</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影响小</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34">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江中雾天风险</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平均雾天</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68</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天</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可能要关闭</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影响小</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影响小</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34">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防撞风险</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对自身的影响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墩多，撞击风险大</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防撞措施</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影响大</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仅江中竖井有影响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防撞措施</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影响小</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34">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对航运的影响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河床演变复杂</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选择合理配跨及桥型</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影响小</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无影响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87355">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火灾风险</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露天，对桥梁及人员无影响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影响较小</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对洞内衬砌及人员安全有影响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防火措施</a:t>
                      </a:r>
                      <a:endParaRPr kumimoji="0" lang="zh-CN" altLang="en-AU" sz="1000" b="1" i="0" u="none" strike="noStrike" cap="none" normalizeH="0" baseline="0" smtClean="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完善消防</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救援</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避难及其附属措施</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对危险品运输进行管理</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影响较大</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82579">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施工期风险</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水上作业</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影响较大</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地下作业</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影响较大</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34">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战争防御能力</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目标明显</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提高桥梁的易维修性</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可以修复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有一定的隐蔽性</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难以修复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7174">
                <a:tc row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对环境的影响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涌潮</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桥墩阻水</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选择合理配跨及桥型</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轻微影响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埋在河床面以下一定的深度</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无影响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4475">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通航</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桥墩</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选择合理配跨及桥型，助航措施</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可满足通航</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埋在河床面以下一定的深度</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无影响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4475">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涉水工程</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桥墩阻水</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选择合理配跨及桥型</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轻微影响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埋在河床面以下一定的深度</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无影响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4475">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7.</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耐久性与维护</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结构暴露在海洋环境中</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进行耐久性设计</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轻微影响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埋在河床面以下一定的深度</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进行耐久性设计</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轻微影响</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36">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总投资（万元）</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501135.3</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716720</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r h="243836">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9..</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后期运营费（万元</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年）</a:t>
                      </a:r>
                      <a:endParaRPr kumimoji="0" lang="zh-CN" altLang="en-AU"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1000</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5000</a:t>
                      </a:r>
                      <a:endParaRPr kumimoji="0" lang="en-US" altLang="zh-CN" sz="1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8" marB="45718"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bl>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F4647E2-F348-4FB4-AB51-895288C736A3}" type="slidenum">
              <a:rPr lang="zh-CN" altLang="en-US" sz="1400" smtClean="0"/>
            </a:fld>
            <a:endParaRPr lang="en-US" altLang="zh-CN" sz="1400" smtClean="0"/>
          </a:p>
        </p:txBody>
      </p:sp>
      <p:sp>
        <p:nvSpPr>
          <p:cNvPr id="52227" name="Rectangle 4"/>
          <p:cNvSpPr>
            <a:spLocks noGrp="1" noRot="1" noChangeArrowheads="1"/>
          </p:cNvSpPr>
          <p:nvPr>
            <p:ph type="title"/>
          </p:nvPr>
        </p:nvSpPr>
        <p:spPr>
          <a:xfrm>
            <a:off x="323850" y="0"/>
            <a:ext cx="8540750" cy="1143000"/>
          </a:xfrm>
          <a:noFill/>
        </p:spPr>
        <p:txBody>
          <a:bodyPr/>
          <a:lstStyle/>
          <a:p>
            <a:pPr eaLnBrk="1" hangingPunct="1"/>
            <a:r>
              <a:rPr lang="zh-CN" altLang="en-US" smtClean="0"/>
              <a:t>桥隧方案比选</a:t>
            </a:r>
            <a:endParaRPr lang="zh-CN" altLang="en-US" smtClean="0"/>
          </a:p>
        </p:txBody>
      </p:sp>
      <p:sp>
        <p:nvSpPr>
          <p:cNvPr id="52228" name="Rectangle 5"/>
          <p:cNvSpPr>
            <a:spLocks noGrp="1" noRot="1" noChangeArrowheads="1"/>
          </p:cNvSpPr>
          <p:nvPr>
            <p:ph type="body" idx="1"/>
          </p:nvPr>
        </p:nvSpPr>
        <p:spPr>
          <a:xfrm>
            <a:off x="323850" y="1196975"/>
            <a:ext cx="8540750" cy="5400675"/>
          </a:xfrm>
          <a:noFill/>
        </p:spPr>
        <p:txBody>
          <a:bodyPr/>
          <a:lstStyle/>
          <a:p>
            <a:pPr eaLnBrk="1" hangingPunct="1"/>
            <a:r>
              <a:rPr lang="zh-CN" altLang="en-US" sz="2400" smtClean="0"/>
              <a:t>过江方案的桥梁与隧道比较，就工程及防灾风险而言，各有利弊，优劣互补。总的来讲，隧道的营运火灾风险高于桥梁；</a:t>
            </a:r>
            <a:endParaRPr lang="zh-CN" altLang="en-US" sz="2400" smtClean="0"/>
          </a:p>
          <a:p>
            <a:pPr eaLnBrk="1" hangingPunct="1"/>
            <a:r>
              <a:rPr lang="zh-CN" altLang="en-US" sz="2400" smtClean="0"/>
              <a:t>大直径盾构隧道的盾构机及成套施工关键技术需从国外引进，国内</a:t>
            </a:r>
            <a:endParaRPr lang="zh-CN" altLang="en-US" sz="2400" smtClean="0"/>
          </a:p>
          <a:p>
            <a:pPr eaLnBrk="1" hangingPunct="1"/>
            <a:r>
              <a:rPr lang="zh-CN" altLang="en-US" sz="2400" smtClean="0"/>
              <a:t>目前尚无成熟经验；</a:t>
            </a:r>
            <a:endParaRPr lang="zh-CN" altLang="en-US" sz="2400" smtClean="0"/>
          </a:p>
          <a:p>
            <a:pPr eaLnBrk="1" hangingPunct="1"/>
            <a:r>
              <a:rPr lang="zh-CN" altLang="en-US" sz="2400" smtClean="0"/>
              <a:t>直径</a:t>
            </a:r>
            <a:r>
              <a:rPr lang="en-US" altLang="zh-CN" sz="2400" smtClean="0"/>
              <a:t>φ16m </a:t>
            </a:r>
            <a:r>
              <a:rPr lang="zh-CN" altLang="en-US" sz="2400" smtClean="0"/>
              <a:t>盾构机亦为世界上最大。按单机越江隧道盾构长度</a:t>
            </a:r>
            <a:r>
              <a:rPr lang="en-US" altLang="zh-CN" sz="2400" smtClean="0"/>
              <a:t>4.5km</a:t>
            </a:r>
            <a:r>
              <a:rPr lang="zh-CN" altLang="en-US" sz="2400" smtClean="0"/>
              <a:t>，其控制技术亦需进一步研究解决；</a:t>
            </a:r>
            <a:endParaRPr lang="zh-CN" altLang="en-US" sz="2400" smtClean="0"/>
          </a:p>
          <a:p>
            <a:pPr eaLnBrk="1" hangingPunct="1"/>
            <a:r>
              <a:rPr lang="zh-CN" altLang="en-US" sz="2400" smtClean="0"/>
              <a:t>江中深水大断面通风竖井（</a:t>
            </a:r>
            <a:r>
              <a:rPr lang="en-US" altLang="zh-CN" sz="2400" smtClean="0"/>
              <a:t>80×40m</a:t>
            </a:r>
            <a:r>
              <a:rPr lang="zh-CN" altLang="en-US" sz="2400" smtClean="0"/>
              <a:t>）及江中围堰（</a:t>
            </a:r>
            <a:r>
              <a:rPr lang="en-US" altLang="zh-CN" sz="2400" smtClean="0"/>
              <a:t>175×84m</a:t>
            </a:r>
            <a:r>
              <a:rPr lang="zh-CN" altLang="en-US" sz="2400" smtClean="0"/>
              <a:t>）的施工技术难度总体而言，大于桥梁深水墩；</a:t>
            </a:r>
            <a:endParaRPr lang="zh-CN" altLang="en-US" sz="2400" smtClean="0"/>
          </a:p>
          <a:p>
            <a:pPr eaLnBrk="1" hangingPunct="1"/>
            <a:r>
              <a:rPr lang="zh-CN" altLang="en-US" sz="2400" smtClean="0"/>
              <a:t>隧道造价及养护运营成本大于桥梁。</a:t>
            </a:r>
            <a:endParaRPr lang="zh-CN" altLang="en-US" sz="2400" smtClean="0"/>
          </a:p>
          <a:p>
            <a:pPr eaLnBrk="1" hangingPunct="1"/>
            <a:r>
              <a:rPr lang="zh-CN" altLang="en-US" sz="2400" smtClean="0"/>
              <a:t>因此，认为嘉兴至绍兴公路在进一步论证过江方案前，经初步分析拟定桥梁方案作为跨越钱塘江的过江方案。</a:t>
            </a:r>
            <a:endParaRPr lang="zh-CN" altLang="en-US" sz="240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4A97A58-A65F-46B5-B48F-8DB859839CBA}" type="slidenum">
              <a:rPr lang="zh-CN" altLang="en-US" sz="1400" smtClean="0"/>
            </a:fld>
            <a:endParaRPr lang="en-US" altLang="zh-CN" sz="1400" smtClean="0"/>
          </a:p>
        </p:txBody>
      </p:sp>
      <p:sp>
        <p:nvSpPr>
          <p:cNvPr id="53251" name="Rectangle 9"/>
          <p:cNvSpPr txBox="1">
            <a:spLocks noRot="1" noChangeArrowheads="1"/>
          </p:cNvSpPr>
          <p:nvPr/>
        </p:nvSpPr>
        <p:spPr bwMode="auto">
          <a:xfrm>
            <a:off x="71438" y="862013"/>
            <a:ext cx="8281987"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ClrTx/>
              <a:buSzTx/>
              <a:buFont typeface="Arial" panose="020B0604020202020204" pitchFamily="34" charset="0"/>
              <a:buChar char="•"/>
            </a:pPr>
            <a:endParaRPr lang="en-US" altLang="zh-CN" sz="2800">
              <a:solidFill>
                <a:srgbClr val="000000"/>
              </a:solidFill>
              <a:latin typeface="华文新魏" panose="02010800040101010101" pitchFamily="2" charset="-122"/>
              <a:ea typeface="华文新魏" panose="02010800040101010101" pitchFamily="2" charset="-122"/>
            </a:endParaRPr>
          </a:p>
        </p:txBody>
      </p:sp>
      <p:sp>
        <p:nvSpPr>
          <p:cNvPr id="4" name="矩形 3"/>
          <p:cNvSpPr>
            <a:spLocks noChangeArrowheads="1"/>
          </p:cNvSpPr>
          <p:nvPr/>
        </p:nvSpPr>
        <p:spPr bwMode="auto">
          <a:xfrm>
            <a:off x="71438" y="2230438"/>
            <a:ext cx="8642350"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5000"/>
              </a:lnSpc>
              <a:spcBef>
                <a:spcPct val="0"/>
              </a:spcBef>
              <a:buClrTx/>
              <a:buSzTx/>
              <a:buFont typeface="Wingdings" panose="05000000000000000000" pitchFamily="2" charset="2"/>
              <a:buChar char="Ø"/>
            </a:pPr>
            <a:r>
              <a:rPr lang="zh-CN" altLang="en-US" sz="2800">
                <a:solidFill>
                  <a:srgbClr val="000000"/>
                </a:solidFill>
                <a:latin typeface="华文新魏" panose="02010800040101010101" pitchFamily="2" charset="-122"/>
                <a:ea typeface="华文新魏" panose="02010800040101010101" pitchFamily="2" charset="-122"/>
              </a:rPr>
              <a:t>据介绍：</a:t>
            </a:r>
            <a:endParaRPr lang="en-US" altLang="zh-CN" sz="2800">
              <a:solidFill>
                <a:srgbClr val="000000"/>
              </a:solidFill>
              <a:latin typeface="华文新魏" panose="02010800040101010101" pitchFamily="2" charset="-122"/>
              <a:ea typeface="华文新魏" panose="02010800040101010101" pitchFamily="2" charset="-122"/>
            </a:endParaRPr>
          </a:p>
          <a:p>
            <a:pPr algn="ctr" eaLnBrk="1" hangingPunct="1">
              <a:lnSpc>
                <a:spcPct val="85000"/>
              </a:lnSpc>
              <a:spcBef>
                <a:spcPct val="0"/>
              </a:spcBef>
              <a:buClrTx/>
              <a:buSzTx/>
              <a:buFont typeface="Arial" panose="020B0604020202020204" pitchFamily="34" charset="0"/>
              <a:buChar char="•"/>
            </a:pPr>
            <a:r>
              <a:rPr lang="zh-CN" altLang="en-US" sz="2600">
                <a:solidFill>
                  <a:srgbClr val="000000"/>
                </a:solidFill>
                <a:latin typeface="华文新魏" panose="02010800040101010101" pitchFamily="2" charset="-122"/>
                <a:ea typeface="华文新魏" panose="02010800040101010101" pitchFamily="2" charset="-122"/>
              </a:rPr>
              <a:t>嘉绍大桥七标中铁大桥局四公司项目部</a:t>
            </a:r>
            <a:r>
              <a:rPr lang="en-US" altLang="zh-CN" sz="2600">
                <a:solidFill>
                  <a:srgbClr val="000000"/>
                </a:solidFill>
                <a:latin typeface="华文新魏" panose="02010800040101010101" pitchFamily="2" charset="-122"/>
                <a:ea typeface="华文新魏" panose="02010800040101010101" pitchFamily="2" charset="-122"/>
              </a:rPr>
              <a:t>B17-B18</a:t>
            </a:r>
            <a:r>
              <a:rPr lang="zh-CN" altLang="en-US" sz="2600">
                <a:solidFill>
                  <a:srgbClr val="000000"/>
                </a:solidFill>
                <a:latin typeface="华文新魏" panose="02010800040101010101" pitchFamily="2" charset="-122"/>
                <a:ea typeface="华文新魏" panose="02010800040101010101" pitchFamily="2" charset="-122"/>
              </a:rPr>
              <a:t>号桥墩左幅架桥机，正在预制箱梁拼装时，架桥机发生断塌。</a:t>
            </a:r>
            <a:endParaRPr lang="zh-CN" altLang="en-US" sz="2600">
              <a:solidFill>
                <a:srgbClr val="000000"/>
              </a:solidFill>
              <a:latin typeface="华文新魏" panose="02010800040101010101" pitchFamily="2" charset="-122"/>
              <a:ea typeface="华文新魏" panose="02010800040101010101" pitchFamily="2" charset="-122"/>
            </a:endParaRPr>
          </a:p>
          <a:p>
            <a:pPr algn="ctr" eaLnBrk="1" hangingPunct="1">
              <a:lnSpc>
                <a:spcPct val="85000"/>
              </a:lnSpc>
              <a:spcBef>
                <a:spcPct val="0"/>
              </a:spcBef>
              <a:buClrTx/>
              <a:buSzTx/>
              <a:buFont typeface="Arial" panose="020B0604020202020204" pitchFamily="34" charset="0"/>
              <a:buChar char="•"/>
            </a:pPr>
            <a:r>
              <a:rPr lang="zh-CN" altLang="en-US" sz="2600">
                <a:solidFill>
                  <a:srgbClr val="000000"/>
                </a:solidFill>
                <a:latin typeface="华文新魏" panose="02010800040101010101" pitchFamily="2" charset="-122"/>
                <a:ea typeface="华文新魏" panose="02010800040101010101" pitchFamily="2" charset="-122"/>
              </a:rPr>
              <a:t>事故原因正在进一步调查。</a:t>
            </a:r>
            <a:endParaRPr lang="zh-CN" altLang="en-US" sz="2600">
              <a:solidFill>
                <a:srgbClr val="000000"/>
              </a:solidFill>
              <a:latin typeface="华文新魏" panose="02010800040101010101" pitchFamily="2" charset="-122"/>
              <a:ea typeface="华文新魏" panose="02010800040101010101" pitchFamily="2" charset="-122"/>
            </a:endParaRPr>
          </a:p>
        </p:txBody>
      </p:sp>
      <p:sp>
        <p:nvSpPr>
          <p:cNvPr id="5" name="矩形 4"/>
          <p:cNvSpPr>
            <a:spLocks noChangeArrowheads="1"/>
          </p:cNvSpPr>
          <p:nvPr/>
        </p:nvSpPr>
        <p:spPr bwMode="auto">
          <a:xfrm>
            <a:off x="71438" y="3743325"/>
            <a:ext cx="8713787"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5000"/>
              </a:lnSpc>
              <a:spcBef>
                <a:spcPct val="0"/>
              </a:spcBef>
              <a:buClrTx/>
              <a:buSzTx/>
              <a:buFont typeface="Wingdings" panose="05000000000000000000" pitchFamily="2" charset="2"/>
              <a:buChar char="Ø"/>
            </a:pPr>
            <a:r>
              <a:rPr lang="zh-CN" altLang="en-US" sz="2800">
                <a:solidFill>
                  <a:srgbClr val="000000"/>
                </a:solidFill>
                <a:latin typeface="华文新魏" panose="02010800040101010101" pitchFamily="2" charset="-122"/>
                <a:ea typeface="华文新魏" panose="02010800040101010101" pitchFamily="2" charset="-122"/>
              </a:rPr>
              <a:t>嘉绍大桥：</a:t>
            </a:r>
            <a:r>
              <a:rPr lang="zh-CN" altLang="en-US" sz="2600">
                <a:solidFill>
                  <a:srgbClr val="000000"/>
                </a:solidFill>
                <a:latin typeface="华文新魏" panose="02010800040101010101" pitchFamily="2" charset="-122"/>
                <a:ea typeface="华文新魏" panose="02010800040101010101" pitchFamily="2" charset="-122"/>
              </a:rPr>
              <a:t>绍兴历史上规模最大的基础设施建设工程。</a:t>
            </a:r>
            <a:endParaRPr lang="en-US" altLang="zh-CN" sz="2600">
              <a:solidFill>
                <a:srgbClr val="000000"/>
              </a:solidFill>
              <a:latin typeface="华文新魏" panose="02010800040101010101" pitchFamily="2" charset="-122"/>
              <a:ea typeface="华文新魏" panose="02010800040101010101" pitchFamily="2" charset="-122"/>
            </a:endParaRPr>
          </a:p>
          <a:p>
            <a:pPr algn="ctr" eaLnBrk="1" hangingPunct="1">
              <a:lnSpc>
                <a:spcPct val="85000"/>
              </a:lnSpc>
              <a:spcBef>
                <a:spcPct val="0"/>
              </a:spcBef>
              <a:buClrTx/>
              <a:buSzTx/>
              <a:buFont typeface="Arial" panose="020B0604020202020204" pitchFamily="34" charset="0"/>
              <a:buChar char="•"/>
            </a:pPr>
            <a:r>
              <a:rPr lang="zh-CN" altLang="en-US" sz="2600">
                <a:solidFill>
                  <a:srgbClr val="000000"/>
                </a:solidFill>
                <a:latin typeface="华文新魏" panose="02010800040101010101" pitchFamily="2" charset="-122"/>
                <a:ea typeface="华文新魏" panose="02010800040101010101" pitchFamily="2" charset="-122"/>
              </a:rPr>
              <a:t>继杭州湾跨海大桥后，又一座跨湾的世界级桥梁。</a:t>
            </a:r>
            <a:endParaRPr lang="en-US" altLang="zh-CN" sz="2600">
              <a:solidFill>
                <a:srgbClr val="000000"/>
              </a:solidFill>
              <a:latin typeface="华文新魏" panose="02010800040101010101" pitchFamily="2" charset="-122"/>
              <a:ea typeface="华文新魏" panose="02010800040101010101" pitchFamily="2" charset="-122"/>
            </a:endParaRPr>
          </a:p>
          <a:p>
            <a:pPr algn="ctr" eaLnBrk="1" hangingPunct="1">
              <a:lnSpc>
                <a:spcPct val="85000"/>
              </a:lnSpc>
              <a:spcBef>
                <a:spcPct val="0"/>
              </a:spcBef>
              <a:buClrTx/>
              <a:buSzTx/>
              <a:buFont typeface="Arial" panose="020B0604020202020204" pitchFamily="34" charset="0"/>
              <a:buChar char="•"/>
            </a:pPr>
            <a:r>
              <a:rPr lang="zh-CN" altLang="en-US" sz="2600">
                <a:solidFill>
                  <a:srgbClr val="000000"/>
                </a:solidFill>
                <a:latin typeface="华文新魏" panose="02010800040101010101" pitchFamily="2" charset="-122"/>
                <a:ea typeface="华文新魏" panose="02010800040101010101" pitchFamily="2" charset="-122"/>
              </a:rPr>
              <a:t>总造价</a:t>
            </a:r>
            <a:r>
              <a:rPr lang="en-US" altLang="zh-CN" sz="2600">
                <a:solidFill>
                  <a:srgbClr val="000000"/>
                </a:solidFill>
                <a:latin typeface="华文新魏" panose="02010800040101010101" pitchFamily="2" charset="-122"/>
                <a:ea typeface="华文新魏" panose="02010800040101010101" pitchFamily="2" charset="-122"/>
              </a:rPr>
              <a:t>139</a:t>
            </a:r>
            <a:r>
              <a:rPr lang="zh-CN" altLang="en-US" sz="2600">
                <a:solidFill>
                  <a:srgbClr val="000000"/>
                </a:solidFill>
                <a:latin typeface="华文新魏" panose="02010800040101010101" pitchFamily="2" charset="-122"/>
                <a:ea typeface="华文新魏" panose="02010800040101010101" pitchFamily="2" charset="-122"/>
              </a:rPr>
              <a:t>亿元，大桥部分</a:t>
            </a:r>
            <a:r>
              <a:rPr lang="en-US" altLang="zh-CN" sz="2600">
                <a:solidFill>
                  <a:srgbClr val="000000"/>
                </a:solidFill>
                <a:latin typeface="华文新魏" panose="02010800040101010101" pitchFamily="2" charset="-122"/>
                <a:ea typeface="华文新魏" panose="02010800040101010101" pitchFamily="2" charset="-122"/>
              </a:rPr>
              <a:t>63.5</a:t>
            </a:r>
            <a:r>
              <a:rPr lang="zh-CN" altLang="en-US" sz="2600">
                <a:solidFill>
                  <a:srgbClr val="000000"/>
                </a:solidFill>
                <a:latin typeface="华文新魏" panose="02010800040101010101" pitchFamily="2" charset="-122"/>
                <a:ea typeface="华文新魏" panose="02010800040101010101" pitchFamily="2" charset="-122"/>
              </a:rPr>
              <a:t>亿。</a:t>
            </a:r>
            <a:endParaRPr lang="en-US" altLang="zh-CN" sz="2600">
              <a:solidFill>
                <a:srgbClr val="000000"/>
              </a:solidFill>
              <a:latin typeface="华文新魏" panose="02010800040101010101" pitchFamily="2" charset="-122"/>
              <a:ea typeface="华文新魏" panose="02010800040101010101" pitchFamily="2" charset="-122"/>
            </a:endParaRPr>
          </a:p>
          <a:p>
            <a:pPr algn="ctr" eaLnBrk="1" hangingPunct="1">
              <a:lnSpc>
                <a:spcPct val="85000"/>
              </a:lnSpc>
              <a:spcBef>
                <a:spcPct val="0"/>
              </a:spcBef>
              <a:buClrTx/>
              <a:buSzTx/>
              <a:buFont typeface="Arial" panose="020B0604020202020204" pitchFamily="34" charset="0"/>
              <a:buChar char="•"/>
            </a:pPr>
            <a:r>
              <a:rPr lang="en-US" altLang="zh-CN" sz="2600">
                <a:solidFill>
                  <a:srgbClr val="000000"/>
                </a:solidFill>
                <a:latin typeface="华文新魏" panose="02010800040101010101" pitchFamily="2" charset="-122"/>
                <a:ea typeface="华文新魏" panose="02010800040101010101" pitchFamily="2" charset="-122"/>
              </a:rPr>
              <a:t>2012</a:t>
            </a:r>
            <a:r>
              <a:rPr lang="zh-CN" altLang="en-US" sz="2600">
                <a:solidFill>
                  <a:srgbClr val="000000"/>
                </a:solidFill>
                <a:latin typeface="华文新魏" panose="02010800040101010101" pitchFamily="2" charset="-122"/>
                <a:ea typeface="华文新魏" panose="02010800040101010101" pitchFamily="2" charset="-122"/>
              </a:rPr>
              <a:t>年通车，绍兴</a:t>
            </a:r>
            <a:r>
              <a:rPr lang="en-US" altLang="zh-CN" sz="2600">
                <a:solidFill>
                  <a:srgbClr val="000000"/>
                </a:solidFill>
                <a:latin typeface="华文新魏" panose="02010800040101010101" pitchFamily="2" charset="-122"/>
                <a:ea typeface="华文新魏" panose="02010800040101010101" pitchFamily="2" charset="-122"/>
              </a:rPr>
              <a:t>-</a:t>
            </a:r>
            <a:r>
              <a:rPr lang="zh-CN" altLang="en-US" sz="2600">
                <a:solidFill>
                  <a:srgbClr val="000000"/>
                </a:solidFill>
                <a:latin typeface="华文新魏" panose="02010800040101010101" pitchFamily="2" charset="-122"/>
                <a:ea typeface="华文新魏" panose="02010800040101010101" pitchFamily="2" charset="-122"/>
              </a:rPr>
              <a:t>上海车程由</a:t>
            </a:r>
            <a:r>
              <a:rPr lang="en-US" altLang="zh-CN" sz="2600">
                <a:solidFill>
                  <a:srgbClr val="000000"/>
                </a:solidFill>
                <a:latin typeface="华文新魏" panose="02010800040101010101" pitchFamily="2" charset="-122"/>
                <a:ea typeface="华文新魏" panose="02010800040101010101" pitchFamily="2" charset="-122"/>
              </a:rPr>
              <a:t>3</a:t>
            </a:r>
            <a:r>
              <a:rPr lang="zh-CN" altLang="en-US" sz="2600">
                <a:solidFill>
                  <a:srgbClr val="000000"/>
                </a:solidFill>
                <a:latin typeface="华文新魏" panose="02010800040101010101" pitchFamily="2" charset="-122"/>
                <a:ea typeface="华文新魏" panose="02010800040101010101" pitchFamily="2" charset="-122"/>
              </a:rPr>
              <a:t>小时至少缩短一半。</a:t>
            </a:r>
            <a:endParaRPr lang="zh-CN" altLang="en-US" sz="2600">
              <a:solidFill>
                <a:srgbClr val="000000"/>
              </a:solidFill>
              <a:latin typeface="华文新魏" panose="02010800040101010101" pitchFamily="2" charset="-122"/>
              <a:ea typeface="华文新魏" panose="02010800040101010101" pitchFamily="2" charset="-122"/>
            </a:endParaRPr>
          </a:p>
        </p:txBody>
      </p:sp>
      <p:sp>
        <p:nvSpPr>
          <p:cNvPr id="53254" name="Rectangle 9"/>
          <p:cNvSpPr>
            <a:spLocks noRot="1" noChangeArrowheads="1"/>
          </p:cNvSpPr>
          <p:nvPr/>
        </p:nvSpPr>
        <p:spPr bwMode="auto">
          <a:xfrm>
            <a:off x="0" y="285750"/>
            <a:ext cx="878522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buClrTx/>
              <a:buSzTx/>
              <a:buFont typeface="Wingdings" panose="05000000000000000000" pitchFamily="2" charset="2"/>
              <a:buChar char="l"/>
            </a:pPr>
            <a:r>
              <a:rPr lang="en-US" altLang="zh-CN" sz="2800">
                <a:solidFill>
                  <a:srgbClr val="800000"/>
                </a:solidFill>
              </a:rPr>
              <a:t>2010</a:t>
            </a:r>
            <a:r>
              <a:rPr lang="zh-CN" altLang="en-US" sz="2800">
                <a:solidFill>
                  <a:srgbClr val="800000"/>
                </a:solidFill>
              </a:rPr>
              <a:t>年</a:t>
            </a:r>
            <a:r>
              <a:rPr lang="en-US" altLang="zh-CN" sz="2800">
                <a:solidFill>
                  <a:srgbClr val="800000"/>
                </a:solidFill>
              </a:rPr>
              <a:t>12</a:t>
            </a:r>
            <a:r>
              <a:rPr lang="zh-CN" altLang="en-US" sz="2800">
                <a:solidFill>
                  <a:srgbClr val="800000"/>
                </a:solidFill>
              </a:rPr>
              <a:t>月</a:t>
            </a:r>
            <a:r>
              <a:rPr lang="en-US" altLang="zh-CN" sz="2800">
                <a:solidFill>
                  <a:srgbClr val="800000"/>
                </a:solidFill>
              </a:rPr>
              <a:t>3</a:t>
            </a:r>
            <a:r>
              <a:rPr lang="zh-CN" altLang="en-US" sz="2800">
                <a:solidFill>
                  <a:srgbClr val="800000"/>
                </a:solidFill>
              </a:rPr>
              <a:t>日浙江在建嘉绍跨江大桥发生断塌事故</a:t>
            </a:r>
            <a:endParaRPr lang="zh-CN" altLang="en-US" sz="2800">
              <a:solidFill>
                <a:srgbClr val="800000"/>
              </a:solidFill>
            </a:endParaRPr>
          </a:p>
        </p:txBody>
      </p:sp>
      <p:sp>
        <p:nvSpPr>
          <p:cNvPr id="7" name="矩形 6"/>
          <p:cNvSpPr>
            <a:spLocks noChangeArrowheads="1"/>
          </p:cNvSpPr>
          <p:nvPr/>
        </p:nvSpPr>
        <p:spPr bwMode="auto">
          <a:xfrm>
            <a:off x="71438" y="790575"/>
            <a:ext cx="8281987"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5000"/>
              </a:lnSpc>
              <a:spcBef>
                <a:spcPct val="0"/>
              </a:spcBef>
              <a:buClrTx/>
              <a:buSzTx/>
              <a:buFont typeface="Wingdings" panose="05000000000000000000" pitchFamily="2" charset="2"/>
              <a:buChar char="Ø"/>
            </a:pPr>
            <a:r>
              <a:rPr lang="zh-CN" altLang="en-US" sz="2800">
                <a:solidFill>
                  <a:srgbClr val="000000"/>
                </a:solidFill>
                <a:latin typeface="华文新魏" panose="02010800040101010101" pitchFamily="2" charset="-122"/>
                <a:ea typeface="华文新魏" panose="02010800040101010101" pitchFamily="2" charset="-122"/>
              </a:rPr>
              <a:t>事故概况：</a:t>
            </a:r>
            <a:endParaRPr lang="en-US" altLang="zh-CN" sz="2800">
              <a:solidFill>
                <a:srgbClr val="000000"/>
              </a:solidFill>
              <a:latin typeface="华文新魏" panose="02010800040101010101" pitchFamily="2" charset="-122"/>
              <a:ea typeface="华文新魏" panose="02010800040101010101" pitchFamily="2" charset="-122"/>
            </a:endParaRPr>
          </a:p>
          <a:p>
            <a:pPr algn="ctr" eaLnBrk="1" hangingPunct="1">
              <a:lnSpc>
                <a:spcPct val="85000"/>
              </a:lnSpc>
              <a:spcBef>
                <a:spcPct val="0"/>
              </a:spcBef>
              <a:buClrTx/>
              <a:buSzTx/>
              <a:buFont typeface="Arial" panose="020B0604020202020204" pitchFamily="34" charset="0"/>
              <a:buChar char="•"/>
            </a:pPr>
            <a:r>
              <a:rPr lang="en-US" altLang="zh-CN" sz="2600">
                <a:solidFill>
                  <a:srgbClr val="000000"/>
                </a:solidFill>
                <a:latin typeface="华文新魏" panose="02010800040101010101" pitchFamily="2" charset="-122"/>
                <a:ea typeface="华文新魏" panose="02010800040101010101" pitchFamily="2" charset="-122"/>
              </a:rPr>
              <a:t>2010</a:t>
            </a:r>
            <a:r>
              <a:rPr lang="zh-CN" altLang="en-US" sz="2600">
                <a:solidFill>
                  <a:srgbClr val="000000"/>
                </a:solidFill>
                <a:latin typeface="华文新魏" panose="02010800040101010101" pitchFamily="2" charset="-122"/>
                <a:ea typeface="华文新魏" panose="02010800040101010101" pitchFamily="2" charset="-122"/>
              </a:rPr>
              <a:t>年</a:t>
            </a:r>
            <a:r>
              <a:rPr lang="en-US" altLang="zh-CN" sz="2600">
                <a:solidFill>
                  <a:srgbClr val="000000"/>
                </a:solidFill>
                <a:latin typeface="华文新魏" panose="02010800040101010101" pitchFamily="2" charset="-122"/>
                <a:ea typeface="华文新魏" panose="02010800040101010101" pitchFamily="2" charset="-122"/>
              </a:rPr>
              <a:t>12</a:t>
            </a:r>
            <a:r>
              <a:rPr lang="zh-CN" altLang="en-US" sz="2600">
                <a:solidFill>
                  <a:srgbClr val="000000"/>
                </a:solidFill>
                <a:latin typeface="华文新魏" panose="02010800040101010101" pitchFamily="2" charset="-122"/>
                <a:ea typeface="华文新魏" panose="02010800040101010101" pitchFamily="2" charset="-122"/>
              </a:rPr>
              <a:t>月</a:t>
            </a:r>
            <a:r>
              <a:rPr lang="en-US" altLang="zh-CN" sz="2600">
                <a:solidFill>
                  <a:srgbClr val="000000"/>
                </a:solidFill>
                <a:latin typeface="华文新魏" panose="02010800040101010101" pitchFamily="2" charset="-122"/>
                <a:ea typeface="华文新魏" panose="02010800040101010101" pitchFamily="2" charset="-122"/>
              </a:rPr>
              <a:t>3</a:t>
            </a:r>
            <a:r>
              <a:rPr lang="zh-CN" altLang="en-US" sz="2600">
                <a:solidFill>
                  <a:srgbClr val="000000"/>
                </a:solidFill>
                <a:latin typeface="华文新魏" panose="02010800040101010101" pitchFamily="2" charset="-122"/>
                <a:ea typeface="华文新魏" panose="02010800040101010101" pitchFamily="2" charset="-122"/>
              </a:rPr>
              <a:t>日凌晨</a:t>
            </a:r>
            <a:r>
              <a:rPr lang="en-US" altLang="zh-CN" sz="2600">
                <a:solidFill>
                  <a:srgbClr val="000000"/>
                </a:solidFill>
                <a:latin typeface="华文新魏" panose="02010800040101010101" pitchFamily="2" charset="-122"/>
                <a:ea typeface="华文新魏" panose="02010800040101010101" pitchFamily="2" charset="-122"/>
              </a:rPr>
              <a:t>3</a:t>
            </a:r>
            <a:r>
              <a:rPr lang="zh-CN" altLang="en-US" sz="2600">
                <a:solidFill>
                  <a:srgbClr val="000000"/>
                </a:solidFill>
                <a:latin typeface="华文新魏" panose="02010800040101010101" pitchFamily="2" charset="-122"/>
                <a:ea typeface="华文新魏" panose="02010800040101010101" pitchFamily="2" charset="-122"/>
              </a:rPr>
              <a:t>点</a:t>
            </a:r>
            <a:r>
              <a:rPr lang="en-US" altLang="zh-CN" sz="2600">
                <a:solidFill>
                  <a:srgbClr val="000000"/>
                </a:solidFill>
                <a:latin typeface="华文新魏" panose="02010800040101010101" pitchFamily="2" charset="-122"/>
                <a:ea typeface="华文新魏" panose="02010800040101010101" pitchFamily="2" charset="-122"/>
              </a:rPr>
              <a:t>30</a:t>
            </a:r>
            <a:r>
              <a:rPr lang="zh-CN" altLang="en-US" sz="2600">
                <a:solidFill>
                  <a:srgbClr val="000000"/>
                </a:solidFill>
                <a:latin typeface="华文新魏" panose="02010800040101010101" pitchFamily="2" charset="-122"/>
                <a:ea typeface="华文新魏" panose="02010800040101010101" pitchFamily="2" charset="-122"/>
              </a:rPr>
              <a:t>分左右，</a:t>
            </a:r>
            <a:endParaRPr lang="en-US" altLang="zh-CN" sz="2600">
              <a:solidFill>
                <a:srgbClr val="000000"/>
              </a:solidFill>
              <a:latin typeface="华文新魏" panose="02010800040101010101" pitchFamily="2" charset="-122"/>
              <a:ea typeface="华文新魏" panose="02010800040101010101" pitchFamily="2" charset="-122"/>
            </a:endParaRPr>
          </a:p>
          <a:p>
            <a:pPr algn="ctr" eaLnBrk="1" hangingPunct="1">
              <a:lnSpc>
                <a:spcPct val="85000"/>
              </a:lnSpc>
              <a:spcBef>
                <a:spcPct val="0"/>
              </a:spcBef>
              <a:buClrTx/>
              <a:buSzTx/>
              <a:buFont typeface="Arial" panose="020B0604020202020204" pitchFamily="34" charset="0"/>
              <a:buChar char="•"/>
            </a:pPr>
            <a:r>
              <a:rPr lang="zh-CN" altLang="en-US" sz="2600">
                <a:solidFill>
                  <a:srgbClr val="000000"/>
                </a:solidFill>
                <a:latin typeface="华文新魏" panose="02010800040101010101" pitchFamily="2" charset="-122"/>
                <a:ea typeface="华文新魏" panose="02010800040101010101" pitchFamily="2" charset="-122"/>
              </a:rPr>
              <a:t>浙江在建嘉绍跨江大桥一架桥机发生断塌事故，</a:t>
            </a:r>
            <a:endParaRPr lang="en-US" altLang="zh-CN" sz="2600">
              <a:solidFill>
                <a:srgbClr val="000000"/>
              </a:solidFill>
              <a:latin typeface="华文新魏" panose="02010800040101010101" pitchFamily="2" charset="-122"/>
              <a:ea typeface="华文新魏" panose="02010800040101010101" pitchFamily="2" charset="-122"/>
            </a:endParaRPr>
          </a:p>
          <a:p>
            <a:pPr algn="ctr" eaLnBrk="1" hangingPunct="1">
              <a:lnSpc>
                <a:spcPct val="85000"/>
              </a:lnSpc>
              <a:spcBef>
                <a:spcPct val="0"/>
              </a:spcBef>
              <a:buClrTx/>
              <a:buSzTx/>
              <a:buFont typeface="Arial" panose="020B0604020202020204" pitchFamily="34" charset="0"/>
              <a:buChar char="•"/>
            </a:pPr>
            <a:r>
              <a:rPr lang="en-US" altLang="zh-CN" sz="2600">
                <a:solidFill>
                  <a:srgbClr val="000000"/>
                </a:solidFill>
                <a:latin typeface="华文新魏" panose="02010800040101010101" pitchFamily="2" charset="-122"/>
                <a:ea typeface="华文新魏" panose="02010800040101010101" pitchFamily="2" charset="-122"/>
              </a:rPr>
              <a:t>1</a:t>
            </a:r>
            <a:r>
              <a:rPr lang="zh-CN" altLang="en-US" sz="2600">
                <a:solidFill>
                  <a:srgbClr val="000000"/>
                </a:solidFill>
                <a:latin typeface="华文新魏" panose="02010800040101010101" pitchFamily="2" charset="-122"/>
                <a:ea typeface="华文新魏" panose="02010800040101010101" pitchFamily="2" charset="-122"/>
              </a:rPr>
              <a:t>人当场死亡，</a:t>
            </a:r>
            <a:r>
              <a:rPr lang="en-US" altLang="zh-CN" sz="2600">
                <a:solidFill>
                  <a:srgbClr val="000000"/>
                </a:solidFill>
                <a:latin typeface="华文新魏" panose="02010800040101010101" pitchFamily="2" charset="-122"/>
                <a:ea typeface="华文新魏" panose="02010800040101010101" pitchFamily="2" charset="-122"/>
              </a:rPr>
              <a:t>1</a:t>
            </a:r>
            <a:r>
              <a:rPr lang="zh-CN" altLang="en-US" sz="2600">
                <a:solidFill>
                  <a:srgbClr val="000000"/>
                </a:solidFill>
                <a:latin typeface="华文新魏" panose="02010800040101010101" pitchFamily="2" charset="-122"/>
                <a:ea typeface="华文新魏" panose="02010800040101010101" pitchFamily="2" charset="-122"/>
              </a:rPr>
              <a:t>人送医院抢救无效死亡，</a:t>
            </a:r>
            <a:r>
              <a:rPr lang="en-US" altLang="zh-CN" sz="2600">
                <a:solidFill>
                  <a:srgbClr val="000000"/>
                </a:solidFill>
                <a:latin typeface="华文新魏" panose="02010800040101010101" pitchFamily="2" charset="-122"/>
                <a:ea typeface="华文新魏" panose="02010800040101010101" pitchFamily="2" charset="-122"/>
              </a:rPr>
              <a:t>9</a:t>
            </a:r>
            <a:r>
              <a:rPr lang="zh-CN" altLang="en-US" sz="2600">
                <a:solidFill>
                  <a:srgbClr val="000000"/>
                </a:solidFill>
                <a:latin typeface="华文新魏" panose="02010800040101010101" pitchFamily="2" charset="-122"/>
                <a:ea typeface="华文新魏" panose="02010800040101010101" pitchFamily="2" charset="-122"/>
              </a:rPr>
              <a:t>人受伤。</a:t>
            </a:r>
            <a:endParaRPr lang="en-US" altLang="zh-CN" sz="2600">
              <a:solidFill>
                <a:srgbClr val="00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
                                        </p:tgtEl>
                                        <p:attrNameLst>
                                          <p:attrName>style.visibility</p:attrName>
                                        </p:attrNameLst>
                                      </p:cBhvr>
                                      <p:to>
                                        <p:strVal val="visible"/>
                                      </p:to>
                                    </p:set>
                                    <p:anim calcmode="discrete" valueType="clr">
                                      <p:cBhvr override="childStyle">
                                        <p:cTn id="7"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
                                        </p:tgtEl>
                                        <p:attrNameLst>
                                          <p:attrName>fillcolor</p:attrName>
                                        </p:attrNameLst>
                                      </p:cBhvr>
                                      <p:tavLst>
                                        <p:tav tm="0">
                                          <p:val>
                                            <p:clrVal>
                                              <a:schemeClr val="accent2"/>
                                            </p:clrVal>
                                          </p:val>
                                        </p:tav>
                                        <p:tav tm="50000">
                                          <p:val>
                                            <p:clrVal>
                                              <a:schemeClr val="hlink"/>
                                            </p:clrVal>
                                          </p:val>
                                        </p:tav>
                                      </p:tavLst>
                                    </p:anim>
                                    <p:set>
                                      <p:cBhvr>
                                        <p:cTn id="9" dur="80"/>
                                        <p:tgtEl>
                                          <p:spTgt spid="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F8E5A90-9776-40EB-842B-986AAA370E5E}" type="slidenum">
              <a:rPr lang="zh-CN" altLang="en-US" sz="1400" smtClean="0"/>
            </a:fld>
            <a:endParaRPr lang="en-US" altLang="zh-CN" sz="1400" smtClean="0"/>
          </a:p>
        </p:txBody>
      </p:sp>
      <p:pic>
        <p:nvPicPr>
          <p:cNvPr id="54275" name="Picture 4" descr="2841_60644_116725[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539750"/>
            <a:ext cx="8686800"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403AAB0-0D21-4660-BDD3-9729B467B8B7}" type="slidenum">
              <a:rPr lang="zh-CN" altLang="en-US" sz="1400" smtClean="0"/>
            </a:fld>
            <a:endParaRPr lang="en-US" altLang="zh-CN" sz="1400" smtClean="0"/>
          </a:p>
        </p:txBody>
      </p:sp>
      <p:pic>
        <p:nvPicPr>
          <p:cNvPr id="55299" name="Picture 4" descr="2841_60646_650357[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539750"/>
            <a:ext cx="8686800"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04C2A69-175D-4393-8E90-7684D169E218}" type="slidenum">
              <a:rPr lang="zh-CN" altLang="en-US" sz="1400" smtClean="0"/>
            </a:fld>
            <a:endParaRPr lang="en-US" altLang="zh-CN" sz="1400" smtClean="0"/>
          </a:p>
        </p:txBody>
      </p:sp>
      <p:pic>
        <p:nvPicPr>
          <p:cNvPr id="56323" name="Picture 4" descr="2841_60647_839728[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2188" y="228600"/>
            <a:ext cx="4618037"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0AB75F8-24D1-4331-945E-FF23F31DFF33}" type="slidenum">
              <a:rPr lang="zh-CN" altLang="en-US" sz="1400" smtClean="0"/>
            </a:fld>
            <a:endParaRPr lang="en-US" altLang="zh-CN" sz="1400" smtClean="0"/>
          </a:p>
        </p:txBody>
      </p:sp>
      <p:pic>
        <p:nvPicPr>
          <p:cNvPr id="57347" name="Picture 4" descr="2841_60651_819858[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539750"/>
            <a:ext cx="8686800"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47A67B2-2C3E-4D14-AAF4-3FF9B1F718B6}" type="slidenum">
              <a:rPr lang="zh-CN" altLang="en-US" sz="1400" smtClean="0"/>
            </a:fld>
            <a:endParaRPr lang="en-US" altLang="zh-CN" sz="1400" smtClean="0"/>
          </a:p>
        </p:txBody>
      </p:sp>
      <p:pic>
        <p:nvPicPr>
          <p:cNvPr id="58371" name="Picture 4" descr="2841_60652_14434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41575" y="228600"/>
            <a:ext cx="426085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66DC58F-1748-47C8-B28E-9B3B2AC35CFE}" type="slidenum">
              <a:rPr lang="zh-CN" altLang="en-US" sz="1400" smtClean="0"/>
            </a:fld>
            <a:endParaRPr lang="en-US" altLang="zh-CN" sz="1400" smtClean="0"/>
          </a:p>
        </p:txBody>
      </p:sp>
      <p:pic>
        <p:nvPicPr>
          <p:cNvPr id="59395" name="Picture 4" descr="2841_60653_17577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800100"/>
            <a:ext cx="86868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B3AF4BD-8B6D-48FD-A34D-404D0CC25C91}" type="slidenum">
              <a:rPr lang="zh-CN" altLang="en-US" sz="1400" smtClean="0"/>
            </a:fld>
            <a:endParaRPr lang="en-US" altLang="zh-CN" sz="1400" smtClean="0"/>
          </a:p>
        </p:txBody>
      </p:sp>
      <p:pic>
        <p:nvPicPr>
          <p:cNvPr id="60419" name="Picture 4" descr="2841_60648_961094[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603250"/>
            <a:ext cx="8686800" cy="565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8BB4AE1-7206-49E1-A962-AF908355BE65}" type="slidenum">
              <a:rPr lang="zh-CN" altLang="en-US" sz="1400" smtClean="0"/>
            </a:fld>
            <a:endParaRPr lang="en-US" altLang="zh-CN" sz="1400" smtClean="0"/>
          </a:p>
        </p:txBody>
      </p:sp>
      <p:sp>
        <p:nvSpPr>
          <p:cNvPr id="7" name="Rectangle 9"/>
          <p:cNvSpPr txBox="1">
            <a:spLocks noRot="1" noChangeArrowheads="1"/>
          </p:cNvSpPr>
          <p:nvPr/>
        </p:nvSpPr>
        <p:spPr bwMode="auto">
          <a:xfrm>
            <a:off x="250825" y="1484313"/>
            <a:ext cx="854075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buClrTx/>
              <a:buSzTx/>
              <a:buFont typeface="Wingdings" panose="05000000000000000000" pitchFamily="2" charset="2"/>
              <a:buChar char="l"/>
            </a:pPr>
            <a:r>
              <a:rPr lang="zh-CN" altLang="en-US" sz="2600" b="1">
                <a:solidFill>
                  <a:srgbClr val="000000"/>
                </a:solidFill>
                <a:ea typeface="楷体_GB2312"/>
                <a:cs typeface="楷体_GB2312"/>
              </a:rPr>
              <a:t>南京高架桥钢箱梁倾覆</a:t>
            </a:r>
            <a:r>
              <a:rPr lang="en-US" altLang="zh-CN" sz="2600" b="1">
                <a:solidFill>
                  <a:srgbClr val="000000"/>
                </a:solidFill>
                <a:ea typeface="楷体_GB2312"/>
                <a:cs typeface="楷体_GB2312"/>
              </a:rPr>
              <a:t>-7</a:t>
            </a:r>
            <a:r>
              <a:rPr lang="zh-CN" altLang="en-US" sz="2600" b="1">
                <a:solidFill>
                  <a:srgbClr val="000000"/>
                </a:solidFill>
                <a:ea typeface="楷体_GB2312"/>
                <a:cs typeface="楷体_GB2312"/>
              </a:rPr>
              <a:t>死</a:t>
            </a:r>
            <a:r>
              <a:rPr lang="en-US" altLang="zh-CN" sz="2600" b="1">
                <a:solidFill>
                  <a:srgbClr val="000000"/>
                </a:solidFill>
                <a:ea typeface="楷体_GB2312"/>
                <a:cs typeface="楷体_GB2312"/>
              </a:rPr>
              <a:t>3</a:t>
            </a:r>
            <a:r>
              <a:rPr lang="zh-CN" altLang="en-US" sz="2600" b="1">
                <a:solidFill>
                  <a:srgbClr val="000000"/>
                </a:solidFill>
                <a:ea typeface="楷体_GB2312"/>
                <a:cs typeface="楷体_GB2312"/>
              </a:rPr>
              <a:t>伤</a:t>
            </a:r>
            <a:endParaRPr lang="zh-CN" altLang="en-US" sz="2600" b="1">
              <a:solidFill>
                <a:srgbClr val="000000"/>
              </a:solidFill>
              <a:ea typeface="楷体_GB2312"/>
              <a:cs typeface="楷体_GB2312"/>
            </a:endParaRPr>
          </a:p>
        </p:txBody>
      </p:sp>
      <p:sp>
        <p:nvSpPr>
          <p:cNvPr id="10" name="矩形 9"/>
          <p:cNvSpPr>
            <a:spLocks noChangeArrowheads="1"/>
          </p:cNvSpPr>
          <p:nvPr/>
        </p:nvSpPr>
        <p:spPr bwMode="auto">
          <a:xfrm>
            <a:off x="323850" y="2205038"/>
            <a:ext cx="741680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73355">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77000"/>
              </a:lnSpc>
              <a:spcBef>
                <a:spcPct val="0"/>
              </a:spcBef>
              <a:buClrTx/>
              <a:buSzTx/>
              <a:buFont typeface="Arial" panose="020B0604020202020204" pitchFamily="34" charset="0"/>
              <a:buChar char="•"/>
            </a:pPr>
            <a:r>
              <a:rPr lang="zh-CN" altLang="en-US" sz="2800">
                <a:solidFill>
                  <a:srgbClr val="000000"/>
                </a:solidFill>
                <a:latin typeface="华文新魏" panose="02010800040101010101" pitchFamily="2" charset="-122"/>
                <a:ea typeface="华文新魏" panose="02010800040101010101" pitchFamily="2" charset="-122"/>
              </a:rPr>
              <a:t>南京雨花台区小行地铁站附近，城市快速内环西线南延工程</a:t>
            </a:r>
            <a:r>
              <a:rPr lang="en-US" altLang="zh-CN" sz="2800">
                <a:solidFill>
                  <a:srgbClr val="000000"/>
                </a:solidFill>
                <a:latin typeface="华文新魏" panose="02010800040101010101" pitchFamily="2" charset="-122"/>
                <a:ea typeface="华文新魏" panose="02010800040101010101" pitchFamily="2" charset="-122"/>
              </a:rPr>
              <a:t>(</a:t>
            </a:r>
            <a:r>
              <a:rPr lang="zh-CN" altLang="en-US" sz="2800">
                <a:solidFill>
                  <a:srgbClr val="000000"/>
                </a:solidFill>
                <a:latin typeface="华文新魏" panose="02010800040101010101" pitchFamily="2" charset="-122"/>
                <a:ea typeface="华文新魏" panose="02010800040101010101" pitchFamily="2" charset="-122"/>
              </a:rPr>
              <a:t>纬八路</a:t>
            </a:r>
            <a:r>
              <a:rPr lang="en-US" altLang="zh-CN" sz="2800">
                <a:solidFill>
                  <a:srgbClr val="000000"/>
                </a:solidFill>
                <a:latin typeface="华文新魏" panose="02010800040101010101" pitchFamily="2" charset="-122"/>
                <a:ea typeface="华文新魏" panose="02010800040101010101" pitchFamily="2" charset="-122"/>
              </a:rPr>
              <a:t>-</a:t>
            </a:r>
            <a:r>
              <a:rPr lang="zh-CN" altLang="en-US" sz="2800">
                <a:solidFill>
                  <a:srgbClr val="000000"/>
                </a:solidFill>
                <a:latin typeface="华文新魏" panose="02010800040101010101" pitchFamily="2" charset="-122"/>
                <a:ea typeface="华文新魏" panose="02010800040101010101" pitchFamily="2" charset="-122"/>
              </a:rPr>
              <a:t>绕城公路</a:t>
            </a:r>
            <a:r>
              <a:rPr lang="en-US" altLang="zh-CN" sz="2800">
                <a:solidFill>
                  <a:srgbClr val="000000"/>
                </a:solidFill>
                <a:latin typeface="华文新魏" panose="02010800040101010101" pitchFamily="2" charset="-122"/>
                <a:ea typeface="华文新魏" panose="02010800040101010101" pitchFamily="2" charset="-122"/>
              </a:rPr>
              <a:t>)</a:t>
            </a:r>
            <a:r>
              <a:rPr lang="zh-CN" altLang="en-US" sz="2800">
                <a:solidFill>
                  <a:srgbClr val="000000"/>
                </a:solidFill>
                <a:latin typeface="华文新魏" panose="02010800040101010101" pitchFamily="2" charset="-122"/>
                <a:ea typeface="华文新魏" panose="02010800040101010101" pitchFamily="2" charset="-122"/>
              </a:rPr>
              <a:t>四标段，在</a:t>
            </a:r>
            <a:r>
              <a:rPr lang="en-US" altLang="zh-CN" sz="2800">
                <a:solidFill>
                  <a:srgbClr val="000000"/>
                </a:solidFill>
                <a:latin typeface="华文新魏" panose="02010800040101010101" pitchFamily="2" charset="-122"/>
                <a:ea typeface="华文新魏" panose="02010800040101010101" pitchFamily="2" charset="-122"/>
              </a:rPr>
              <a:t>B17-B18</a:t>
            </a:r>
            <a:r>
              <a:rPr lang="zh-CN" altLang="en-US" sz="2800">
                <a:solidFill>
                  <a:srgbClr val="000000"/>
                </a:solidFill>
                <a:latin typeface="华文新魏" panose="02010800040101010101" pitchFamily="2" charset="-122"/>
                <a:ea typeface="华文新魏" panose="02010800040101010101" pitchFamily="2" charset="-122"/>
              </a:rPr>
              <a:t>钢箱梁防撞墙施工时，钢箱梁发生侧翻</a:t>
            </a:r>
            <a:r>
              <a:rPr lang="en-US" altLang="zh-CN" sz="2800">
                <a:solidFill>
                  <a:srgbClr val="000000"/>
                </a:solidFill>
                <a:latin typeface="华文新魏" panose="02010800040101010101" pitchFamily="2" charset="-122"/>
                <a:ea typeface="华文新魏" panose="02010800040101010101" pitchFamily="2" charset="-122"/>
              </a:rPr>
              <a:t>——</a:t>
            </a:r>
            <a:endParaRPr lang="zh-CN" altLang="en-US" sz="2800">
              <a:solidFill>
                <a:srgbClr val="000000"/>
              </a:solidFill>
              <a:latin typeface="华文新魏" panose="02010800040101010101" pitchFamily="2" charset="-122"/>
              <a:ea typeface="华文新魏" panose="02010800040101010101" pitchFamily="2" charset="-122"/>
            </a:endParaRPr>
          </a:p>
        </p:txBody>
      </p:sp>
      <p:sp>
        <p:nvSpPr>
          <p:cNvPr id="12" name="矩形 11"/>
          <p:cNvSpPr>
            <a:spLocks noChangeArrowheads="1"/>
          </p:cNvSpPr>
          <p:nvPr/>
        </p:nvSpPr>
        <p:spPr bwMode="auto">
          <a:xfrm>
            <a:off x="395288" y="3789363"/>
            <a:ext cx="7561262" cy="152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73355">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77000"/>
              </a:lnSpc>
              <a:spcBef>
                <a:spcPct val="0"/>
              </a:spcBef>
              <a:buClrTx/>
              <a:buSzTx/>
              <a:buFont typeface="Arial" panose="020B0604020202020204" pitchFamily="34" charset="0"/>
              <a:buChar char="•"/>
            </a:pPr>
            <a:r>
              <a:rPr lang="zh-CN" altLang="en-US" sz="2800">
                <a:solidFill>
                  <a:srgbClr val="000000"/>
                </a:solidFill>
                <a:latin typeface="华文新魏" panose="02010800040101010101" pitchFamily="2" charset="-122"/>
                <a:ea typeface="华文新魏" panose="02010800040101010101" pitchFamily="2" charset="-122"/>
              </a:rPr>
              <a:t>导致中铁二十四局江苏公司七名施工人员坠落死亡。</a:t>
            </a:r>
            <a:endParaRPr lang="en-US" altLang="zh-CN" sz="2800">
              <a:solidFill>
                <a:srgbClr val="000000"/>
              </a:solidFill>
              <a:latin typeface="华文新魏" panose="02010800040101010101" pitchFamily="2" charset="-122"/>
              <a:ea typeface="华文新魏" panose="02010800040101010101" pitchFamily="2" charset="-122"/>
            </a:endParaRPr>
          </a:p>
          <a:p>
            <a:pPr eaLnBrk="1" hangingPunct="1">
              <a:lnSpc>
                <a:spcPct val="77000"/>
              </a:lnSpc>
              <a:spcBef>
                <a:spcPts val="900"/>
              </a:spcBef>
              <a:buClrTx/>
              <a:buSzTx/>
              <a:buFont typeface="Arial" panose="020B0604020202020204" pitchFamily="34" charset="0"/>
              <a:buChar char="•"/>
            </a:pPr>
            <a:r>
              <a:rPr lang="zh-CN" altLang="en-US" sz="2800">
                <a:solidFill>
                  <a:srgbClr val="000000"/>
                </a:solidFill>
                <a:latin typeface="华文新魏" panose="02010800040101010101" pitchFamily="2" charset="-122"/>
                <a:ea typeface="华文新魏" panose="02010800040101010101" pitchFamily="2" charset="-122"/>
              </a:rPr>
              <a:t>事故责任认定：违反施工程序，现场管理缺位。</a:t>
            </a:r>
            <a:endParaRPr lang="zh-CN" altLang="en-US" sz="2800">
              <a:solidFill>
                <a:srgbClr val="000000"/>
              </a:solidFill>
              <a:latin typeface="华文新魏" panose="02010800040101010101" pitchFamily="2" charset="-122"/>
              <a:ea typeface="华文新魏" panose="02010800040101010101" pitchFamily="2" charset="-122"/>
            </a:endParaRPr>
          </a:p>
        </p:txBody>
      </p:sp>
      <p:pic>
        <p:nvPicPr>
          <p:cNvPr id="14" name="图片 13" descr="2010-11-27手机报-新闻早报"/>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43438" y="1341438"/>
            <a:ext cx="4429125"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descr="D:\研究生\工程经济学助教\ppt\南京桥梁垮塌事故.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573463"/>
            <a:ext cx="4645025" cy="309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2">
                                            <p:txEl>
                                              <p:pRg st="0" end="0"/>
                                            </p:txEl>
                                          </p:spTgt>
                                        </p:tgtEl>
                                        <p:attrNameLst>
                                          <p:attrName>style.visibility</p:attrName>
                                        </p:attrNameLst>
                                      </p:cBhvr>
                                      <p:to>
                                        <p:strVal val="visible"/>
                                      </p:to>
                                    </p:set>
                                    <p:animEffect transition="in" filter="wipe(up)">
                                      <p:cBhvr>
                                        <p:cTn id="16" dur="1000"/>
                                        <p:tgtEl>
                                          <p:spTgt spid="12">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strips(downLeft)">
                                      <p:cBhvr>
                                        <p:cTn id="21" dur="10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ox(in)">
                                      <p:cBhvr>
                                        <p:cTn id="26" dur="10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2" grpId="0" build="allAtOnce"/>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E1270C7-4D0F-4025-88A9-C2222D974533}" type="slidenum">
              <a:rPr lang="zh-CN" altLang="en-US" sz="1400" smtClean="0"/>
            </a:fld>
            <a:endParaRPr lang="en-US" altLang="zh-CN" sz="1400" smtClean="0"/>
          </a:p>
        </p:txBody>
      </p:sp>
      <p:sp>
        <p:nvSpPr>
          <p:cNvPr id="7" name="Rectangle 9"/>
          <p:cNvSpPr txBox="1">
            <a:spLocks noRot="1" noChangeArrowheads="1"/>
          </p:cNvSpPr>
          <p:nvPr/>
        </p:nvSpPr>
        <p:spPr bwMode="auto">
          <a:xfrm>
            <a:off x="603250" y="476250"/>
            <a:ext cx="854075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buClrTx/>
              <a:buSzTx/>
              <a:buFont typeface="Wingdings" panose="05000000000000000000" pitchFamily="2" charset="2"/>
              <a:buNone/>
            </a:pPr>
            <a:r>
              <a:rPr lang="en-US" altLang="zh-CN" sz="3600" b="1">
                <a:solidFill>
                  <a:srgbClr val="800000"/>
                </a:solidFill>
                <a:ea typeface="楷体_GB2312"/>
                <a:cs typeface="楷体_GB2312"/>
              </a:rPr>
              <a:t>“</a:t>
            </a:r>
            <a:r>
              <a:rPr lang="zh-CN" altLang="en-US" sz="3600" b="1">
                <a:solidFill>
                  <a:srgbClr val="800000"/>
                </a:solidFill>
                <a:ea typeface="楷体_GB2312"/>
                <a:cs typeface="楷体_GB2312"/>
              </a:rPr>
              <a:t>神州第一梁</a:t>
            </a:r>
            <a:r>
              <a:rPr lang="en-US" altLang="zh-CN" sz="3600" b="1">
                <a:solidFill>
                  <a:srgbClr val="800000"/>
                </a:solidFill>
                <a:ea typeface="楷体_GB2312"/>
                <a:cs typeface="楷体_GB2312"/>
              </a:rPr>
              <a:t>”</a:t>
            </a:r>
            <a:r>
              <a:rPr lang="zh-CN" altLang="en-US" sz="3600" b="1">
                <a:solidFill>
                  <a:srgbClr val="800000"/>
                </a:solidFill>
                <a:ea typeface="楷体_GB2312"/>
                <a:cs typeface="楷体_GB2312"/>
              </a:rPr>
              <a:t>成功吊装</a:t>
            </a:r>
            <a:endParaRPr lang="zh-CN" altLang="en-US" sz="3600" b="1">
              <a:solidFill>
                <a:srgbClr val="800000"/>
              </a:solidFill>
              <a:ea typeface="楷体_GB2312"/>
              <a:cs typeface="楷体_GB2312"/>
            </a:endParaRPr>
          </a:p>
        </p:txBody>
      </p:sp>
      <p:sp>
        <p:nvSpPr>
          <p:cNvPr id="10" name="矩形 9"/>
          <p:cNvSpPr>
            <a:spLocks noChangeArrowheads="1"/>
          </p:cNvSpPr>
          <p:nvPr/>
        </p:nvSpPr>
        <p:spPr bwMode="auto">
          <a:xfrm>
            <a:off x="395288" y="1484313"/>
            <a:ext cx="8424862"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73355">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buClrTx/>
              <a:buSzTx/>
              <a:buFont typeface="Arial" panose="020B0604020202020204" pitchFamily="34" charset="0"/>
              <a:buChar char="•"/>
            </a:pPr>
            <a:r>
              <a:rPr lang="zh-CN" altLang="en-US" sz="2800" i="1">
                <a:solidFill>
                  <a:srgbClr val="000000"/>
                </a:solidFill>
                <a:latin typeface="华文新魏" panose="02010800040101010101" pitchFamily="2" charset="-122"/>
                <a:ea typeface="华文新魏" panose="02010800040101010101" pitchFamily="2" charset="-122"/>
              </a:rPr>
              <a:t>崇启大桥</a:t>
            </a:r>
            <a:r>
              <a:rPr lang="zh-CN" altLang="en-US" sz="2800">
                <a:solidFill>
                  <a:srgbClr val="000000"/>
                </a:solidFill>
                <a:latin typeface="华文新魏" panose="02010800040101010101" pitchFamily="2" charset="-122"/>
                <a:ea typeface="华文新魏" panose="02010800040101010101" pitchFamily="2" charset="-122"/>
              </a:rPr>
              <a:t>首节</a:t>
            </a:r>
            <a:r>
              <a:rPr lang="en-US" altLang="zh-CN" sz="2800">
                <a:solidFill>
                  <a:srgbClr val="000000"/>
                </a:solidFill>
                <a:latin typeface="华文新魏" panose="02010800040101010101" pitchFamily="2" charset="-122"/>
                <a:ea typeface="华文新魏" panose="02010800040101010101" pitchFamily="2" charset="-122"/>
              </a:rPr>
              <a:t>185</a:t>
            </a:r>
            <a:r>
              <a:rPr lang="zh-CN" altLang="en-US" sz="2800">
                <a:solidFill>
                  <a:srgbClr val="000000"/>
                </a:solidFill>
                <a:latin typeface="华文新魏" panose="02010800040101010101" pitchFamily="2" charset="-122"/>
                <a:ea typeface="华文新魏" panose="02010800040101010101" pitchFamily="2" charset="-122"/>
              </a:rPr>
              <a:t>米钢箱梁吊装成功，   创造了国内桥用钢箱梁在单节起吊规模上的新纪录。</a:t>
            </a:r>
            <a:endParaRPr lang="zh-CN" altLang="en-US" sz="2800">
              <a:solidFill>
                <a:srgbClr val="000000"/>
              </a:solidFill>
              <a:latin typeface="华文新魏" panose="02010800040101010101" pitchFamily="2" charset="-122"/>
              <a:ea typeface="华文新魏" panose="02010800040101010101" pitchFamily="2" charset="-122"/>
            </a:endParaRPr>
          </a:p>
        </p:txBody>
      </p:sp>
      <p:sp>
        <p:nvSpPr>
          <p:cNvPr id="12" name="矩形 11"/>
          <p:cNvSpPr>
            <a:spLocks noChangeArrowheads="1"/>
          </p:cNvSpPr>
          <p:nvPr/>
        </p:nvSpPr>
        <p:spPr bwMode="auto">
          <a:xfrm>
            <a:off x="395288" y="2276475"/>
            <a:ext cx="6767512"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73355">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buClrTx/>
              <a:buSzTx/>
              <a:buFont typeface="Arial" panose="020B0604020202020204" pitchFamily="34" charset="0"/>
              <a:buChar char="•"/>
            </a:pPr>
            <a:r>
              <a:rPr lang="zh-CN" altLang="en-US" sz="2800">
                <a:solidFill>
                  <a:srgbClr val="000000"/>
                </a:solidFill>
                <a:latin typeface="华文新魏" panose="02010800040101010101" pitchFamily="2" charset="-122"/>
                <a:ea typeface="华文新魏" panose="02010800040101010101" pitchFamily="2" charset="-122"/>
              </a:rPr>
              <a:t>连接上海崇明岛与江苏启东市。</a:t>
            </a:r>
            <a:endParaRPr lang="en-US" altLang="zh-CN" sz="2800">
              <a:solidFill>
                <a:srgbClr val="000000"/>
              </a:solidFill>
              <a:latin typeface="华文新魏" panose="02010800040101010101" pitchFamily="2" charset="-122"/>
              <a:ea typeface="华文新魏" panose="02010800040101010101" pitchFamily="2" charset="-122"/>
            </a:endParaRPr>
          </a:p>
          <a:p>
            <a:pPr eaLnBrk="1" hangingPunct="1">
              <a:lnSpc>
                <a:spcPct val="80000"/>
              </a:lnSpc>
              <a:buClrTx/>
              <a:buSzTx/>
              <a:buFont typeface="Arial" panose="020B0604020202020204" pitchFamily="34" charset="0"/>
              <a:buChar char="•"/>
            </a:pPr>
            <a:r>
              <a:rPr lang="zh-CN" altLang="en-US" sz="2800">
                <a:solidFill>
                  <a:srgbClr val="000000"/>
                </a:solidFill>
                <a:latin typeface="华文新魏" panose="02010800040101010101" pitchFamily="2" charset="-122"/>
                <a:ea typeface="华文新魏" panose="02010800040101010101" pitchFamily="2" charset="-122"/>
              </a:rPr>
              <a:t>目前国内跨度和联长最长的钢连续梁桥。</a:t>
            </a:r>
            <a:endParaRPr lang="en-US" altLang="zh-CN" sz="2800">
              <a:solidFill>
                <a:srgbClr val="000000"/>
              </a:solidFill>
              <a:latin typeface="华文新魏" panose="02010800040101010101" pitchFamily="2" charset="-122"/>
              <a:ea typeface="华文新魏" panose="02010800040101010101" pitchFamily="2" charset="-122"/>
            </a:endParaRPr>
          </a:p>
        </p:txBody>
      </p:sp>
      <p:pic>
        <p:nvPicPr>
          <p:cNvPr id="2050" name="Picture 2" descr="D:\研究生\工程经济学助教\ppt\神州第一梁崇启大桥.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3529013"/>
            <a:ext cx="6659563" cy="332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1" name="图片 6" descr="http://static11.photo.sina.com.cn/orignal/10462168g95865e3f280a&amp;69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3465513"/>
            <a:ext cx="4067175" cy="339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par>
                                <p:cTn id="15" presetID="22" presetClass="entr" presetSubtype="1"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F4BF833-BB99-411C-86B4-87A31719638A}" type="slidenum">
              <a:rPr lang="zh-CN" altLang="en-US" sz="1400" smtClean="0"/>
            </a:fld>
            <a:endParaRPr lang="en-US" altLang="zh-CN" sz="1400" smtClean="0"/>
          </a:p>
        </p:txBody>
      </p:sp>
      <p:sp>
        <p:nvSpPr>
          <p:cNvPr id="63491" name="Rectangle 2"/>
          <p:cNvSpPr>
            <a:spLocks noGrp="1" noRot="1" noChangeArrowheads="1"/>
          </p:cNvSpPr>
          <p:nvPr>
            <p:ph type="title"/>
          </p:nvPr>
        </p:nvSpPr>
        <p:spPr/>
        <p:txBody>
          <a:bodyPr/>
          <a:lstStyle/>
          <a:p>
            <a:pPr eaLnBrk="1" hangingPunct="1"/>
            <a:endParaRPr lang="zh-CN" altLang="en-US" smtClean="0"/>
          </a:p>
        </p:txBody>
      </p:sp>
      <p:pic>
        <p:nvPicPr>
          <p:cNvPr id="63492" name="Picture 4"/>
          <p:cNvPicPr>
            <a:picLocks noChangeAspect="1" noChangeArrowheads="1"/>
          </p:cNvPicPr>
          <p:nvPr/>
        </p:nvPicPr>
        <p:blipFill>
          <a:blip r:embed="rId1">
            <a:extLst>
              <a:ext uri="{28A0092B-C50C-407E-A947-70E740481C1C}">
                <a14:useLocalDpi xmlns:a14="http://schemas.microsoft.com/office/drawing/2010/main" val="0"/>
              </a:ext>
            </a:extLst>
          </a:blip>
          <a:srcRect l="25209" t="16571" r="21240" b="19365"/>
          <a:stretch>
            <a:fillRect/>
          </a:stretch>
        </p:blipFill>
        <p:spPr bwMode="auto">
          <a:xfrm>
            <a:off x="323850" y="450850"/>
            <a:ext cx="8569325" cy="640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Rectangle 5"/>
          <p:cNvSpPr>
            <a:spLocks noChangeArrowheads="1"/>
          </p:cNvSpPr>
          <p:nvPr/>
        </p:nvSpPr>
        <p:spPr bwMode="auto">
          <a:xfrm>
            <a:off x="179388" y="-100013"/>
            <a:ext cx="5873750" cy="124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a:solidFill>
                  <a:srgbClr val="CC0000"/>
                </a:solidFill>
              </a:rPr>
              <a:t>长沙过江隧道施工路段发生塌陷</a:t>
            </a:r>
            <a:endParaRPr lang="zh-CN" altLang="en-US">
              <a:solidFill>
                <a:srgbClr val="CC0000"/>
              </a:solidFill>
            </a:endParaRPr>
          </a:p>
          <a:p>
            <a:pPr algn="ctr" eaLnBrk="1" hangingPunct="1">
              <a:spcBef>
                <a:spcPct val="0"/>
              </a:spcBef>
              <a:buClrTx/>
              <a:buSzTx/>
              <a:buFontTx/>
              <a:buNone/>
            </a:pPr>
            <a:endParaRPr lang="zh-CN" altLang="en-US" sz="440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490536E-A98F-4B60-AFF0-C08DDFADE325}" type="slidenum">
              <a:rPr lang="zh-CN" altLang="en-US" sz="1400" smtClean="0"/>
            </a:fld>
            <a:endParaRPr lang="en-US" altLang="zh-CN" sz="1400" smtClean="0"/>
          </a:p>
        </p:txBody>
      </p:sp>
      <p:sp>
        <p:nvSpPr>
          <p:cNvPr id="64515" name="Rectangle 8"/>
          <p:cNvSpPr>
            <a:spLocks noRot="1" noChangeArrowheads="1"/>
          </p:cNvSpPr>
          <p:nvPr/>
        </p:nvSpPr>
        <p:spPr bwMode="auto">
          <a:xfrm>
            <a:off x="900113" y="188913"/>
            <a:ext cx="7559675" cy="99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dist" eaLnBrk="1" hangingPunct="1">
              <a:spcBef>
                <a:spcPct val="0"/>
              </a:spcBef>
              <a:buClrTx/>
              <a:buSzTx/>
              <a:buFontTx/>
              <a:buNone/>
            </a:pPr>
            <a:r>
              <a:rPr lang="zh-CN" altLang="en-US" b="1">
                <a:solidFill>
                  <a:srgbClr val="CC0000"/>
                </a:solidFill>
              </a:rPr>
              <a:t>违法修缮酿清华学堂火灾</a:t>
            </a:r>
            <a:endParaRPr lang="en-US" altLang="zh-CN" b="1">
              <a:solidFill>
                <a:srgbClr val="CC0000"/>
              </a:solidFill>
            </a:endParaRPr>
          </a:p>
        </p:txBody>
      </p:sp>
      <p:sp>
        <p:nvSpPr>
          <p:cNvPr id="4" name="Rectangle 9"/>
          <p:cNvSpPr txBox="1">
            <a:spLocks noRot="1" noChangeArrowheads="1"/>
          </p:cNvSpPr>
          <p:nvPr/>
        </p:nvSpPr>
        <p:spPr bwMode="auto">
          <a:xfrm>
            <a:off x="468313" y="1268413"/>
            <a:ext cx="78486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0"/>
              </a:spcBef>
              <a:buClrTx/>
              <a:buSzTx/>
              <a:buFont typeface="Wingdings" panose="05000000000000000000" pitchFamily="2" charset="2"/>
              <a:buChar char="Ø"/>
            </a:pPr>
            <a:r>
              <a:rPr lang="zh-CN" altLang="en-US" sz="2400">
                <a:solidFill>
                  <a:srgbClr val="000000"/>
                </a:solidFill>
                <a:latin typeface="华文新魏" panose="02010800040101010101" pitchFamily="2" charset="-122"/>
                <a:ea typeface="华文新魏" panose="02010800040101010101" pitchFamily="2" charset="-122"/>
              </a:rPr>
              <a:t>北京市文物局首次通报了清华学堂修缮工程中的违法违规行为</a:t>
            </a:r>
            <a:r>
              <a:rPr lang="en-US" altLang="zh-CN" sz="2400">
                <a:solidFill>
                  <a:srgbClr val="000000"/>
                </a:solidFill>
                <a:latin typeface="华文新魏" panose="02010800040101010101" pitchFamily="2" charset="-122"/>
                <a:ea typeface="华文新魏" panose="02010800040101010101" pitchFamily="2" charset="-122"/>
              </a:rPr>
              <a:t>——</a:t>
            </a:r>
            <a:endParaRPr lang="zh-CN" altLang="en-US" sz="2400">
              <a:solidFill>
                <a:srgbClr val="000000"/>
              </a:solidFill>
              <a:latin typeface="华文新魏" panose="02010800040101010101" pitchFamily="2" charset="-122"/>
              <a:ea typeface="华文新魏" panose="02010800040101010101" pitchFamily="2" charset="-122"/>
            </a:endParaRPr>
          </a:p>
        </p:txBody>
      </p:sp>
      <p:sp>
        <p:nvSpPr>
          <p:cNvPr id="8" name="Rectangle 9"/>
          <p:cNvSpPr txBox="1">
            <a:spLocks noRot="1" noChangeArrowheads="1"/>
          </p:cNvSpPr>
          <p:nvPr/>
        </p:nvSpPr>
        <p:spPr bwMode="auto">
          <a:xfrm>
            <a:off x="468313" y="1916113"/>
            <a:ext cx="8820150"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73000"/>
              </a:lnSpc>
              <a:spcBef>
                <a:spcPct val="0"/>
              </a:spcBef>
              <a:buClrTx/>
              <a:buSzTx/>
              <a:buFont typeface="Arial" panose="020B0604020202020204" pitchFamily="34" charset="0"/>
              <a:buChar char="•"/>
            </a:pPr>
            <a:r>
              <a:rPr lang="zh-CN" altLang="en-US" sz="2400">
                <a:solidFill>
                  <a:srgbClr val="000000"/>
                </a:solidFill>
                <a:latin typeface="华文新魏" panose="02010800040101010101" pitchFamily="2" charset="-122"/>
                <a:ea typeface="华文新魏" panose="02010800040101010101" pitchFamily="2" charset="-122"/>
              </a:rPr>
              <a:t>未向文物部门报送维修工程方案即开始施工；</a:t>
            </a:r>
            <a:endParaRPr lang="en-US" altLang="zh-CN" sz="2400">
              <a:solidFill>
                <a:srgbClr val="000000"/>
              </a:solidFill>
              <a:latin typeface="华文新魏" panose="02010800040101010101" pitchFamily="2" charset="-122"/>
              <a:ea typeface="华文新魏" panose="02010800040101010101" pitchFamily="2" charset="-122"/>
            </a:endParaRPr>
          </a:p>
          <a:p>
            <a:pPr eaLnBrk="1" hangingPunct="1">
              <a:lnSpc>
                <a:spcPct val="73000"/>
              </a:lnSpc>
              <a:spcBef>
                <a:spcPct val="0"/>
              </a:spcBef>
              <a:buClrTx/>
              <a:buSzTx/>
              <a:buFont typeface="Arial" panose="020B0604020202020204" pitchFamily="34" charset="0"/>
              <a:buChar char="•"/>
            </a:pPr>
            <a:r>
              <a:rPr lang="zh-CN" altLang="en-US" sz="2400">
                <a:solidFill>
                  <a:srgbClr val="000000"/>
                </a:solidFill>
                <a:latin typeface="华文新魏" panose="02010800040101010101" pitchFamily="2" charset="-122"/>
                <a:ea typeface="华文新魏" panose="02010800040101010101" pitchFamily="2" charset="-122"/>
              </a:rPr>
              <a:t>  施工单位没有文物修缮资质；</a:t>
            </a:r>
            <a:endParaRPr lang="en-US" altLang="zh-CN" sz="2400">
              <a:solidFill>
                <a:srgbClr val="000000"/>
              </a:solidFill>
              <a:latin typeface="华文新魏" panose="02010800040101010101" pitchFamily="2" charset="-122"/>
              <a:ea typeface="华文新魏" panose="02010800040101010101" pitchFamily="2" charset="-122"/>
            </a:endParaRPr>
          </a:p>
          <a:p>
            <a:pPr eaLnBrk="1" hangingPunct="1">
              <a:lnSpc>
                <a:spcPct val="73000"/>
              </a:lnSpc>
              <a:spcBef>
                <a:spcPct val="0"/>
              </a:spcBef>
              <a:buClrTx/>
              <a:buSzTx/>
              <a:buFont typeface="Arial" panose="020B0604020202020204" pitchFamily="34" charset="0"/>
              <a:buChar char="•"/>
            </a:pPr>
            <a:r>
              <a:rPr lang="zh-CN" altLang="en-US" sz="2400">
                <a:solidFill>
                  <a:srgbClr val="000000"/>
                </a:solidFill>
                <a:latin typeface="华文新魏" panose="02010800040101010101" pitchFamily="2" charset="-122"/>
                <a:ea typeface="华文新魏" panose="02010800040101010101" pitchFamily="2" charset="-122"/>
              </a:rPr>
              <a:t>  事故当晚，有施工人员动用明火。</a:t>
            </a:r>
            <a:endParaRPr lang="zh-CN" altLang="en-US" sz="2400">
              <a:solidFill>
                <a:srgbClr val="000000"/>
              </a:solidFill>
              <a:latin typeface="华文新魏" panose="02010800040101010101" pitchFamily="2" charset="-122"/>
              <a:ea typeface="华文新魏" panose="02010800040101010101" pitchFamily="2" charset="-122"/>
            </a:endParaRPr>
          </a:p>
        </p:txBody>
      </p:sp>
      <p:sp>
        <p:nvSpPr>
          <p:cNvPr id="9" name="Rectangle 9"/>
          <p:cNvSpPr txBox="1">
            <a:spLocks noRot="1" noChangeArrowheads="1"/>
          </p:cNvSpPr>
          <p:nvPr/>
        </p:nvSpPr>
        <p:spPr bwMode="auto">
          <a:xfrm>
            <a:off x="468313" y="2852738"/>
            <a:ext cx="882015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0"/>
              </a:spcBef>
              <a:buClrTx/>
              <a:buSzTx/>
              <a:buFont typeface="Wingdings" panose="05000000000000000000" pitchFamily="2" charset="2"/>
              <a:buChar char="Ø"/>
            </a:pPr>
            <a:r>
              <a:rPr lang="zh-CN" altLang="en-US" sz="2400">
                <a:solidFill>
                  <a:srgbClr val="000000"/>
                </a:solidFill>
                <a:latin typeface="华文新魏" panose="02010800040101010101" pitchFamily="2" charset="-122"/>
                <a:ea typeface="华文新魏" panose="02010800040101010101" pitchFamily="2" charset="-122"/>
              </a:rPr>
              <a:t>文物局：十余年来北京文物古迹遭遇的最大一次灾害。</a:t>
            </a:r>
            <a:endParaRPr lang="zh-CN" altLang="en-US" sz="2400">
              <a:solidFill>
                <a:srgbClr val="000000"/>
              </a:solidFill>
              <a:latin typeface="华文新魏" panose="02010800040101010101" pitchFamily="2" charset="-122"/>
              <a:ea typeface="华文新魏" panose="02010800040101010101" pitchFamily="2" charset="-122"/>
            </a:endParaRPr>
          </a:p>
        </p:txBody>
      </p:sp>
      <p:pic>
        <p:nvPicPr>
          <p:cNvPr id="64519" name="Picture 15" descr="百年建筑清华学堂被烧"/>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3284538"/>
            <a:ext cx="4462463"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0" name="Picture 17" descr="百年建筑清华学堂被烧"/>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7900" y="3184525"/>
            <a:ext cx="3462338"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1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a:xfrm>
            <a:off x="6267450" y="5233988"/>
            <a:ext cx="2289175"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75DD6CD-974B-48CC-8CC6-D56E1E3D9F4E}" type="slidenum">
              <a:rPr lang="zh-CN" altLang="en-US" sz="1400" smtClean="0"/>
            </a:fld>
            <a:endParaRPr lang="en-US" altLang="zh-CN" sz="1400" smtClean="0"/>
          </a:p>
        </p:txBody>
      </p:sp>
      <p:sp>
        <p:nvSpPr>
          <p:cNvPr id="7" name="矩形 6"/>
          <p:cNvSpPr/>
          <p:nvPr/>
        </p:nvSpPr>
        <p:spPr>
          <a:xfrm>
            <a:off x="0" y="2786063"/>
            <a:ext cx="4929188" cy="1604962"/>
          </a:xfrm>
          <a:prstGeom prst="rect">
            <a:avLst/>
          </a:prstGeom>
        </p:spPr>
        <p:txBody>
          <a:bodyPr>
            <a:spAutoFit/>
          </a:bodyPr>
          <a:lstStyle/>
          <a:p>
            <a:pPr marL="177800" indent="-177800" algn="ctr" eaLnBrk="1" fontAlgn="auto" hangingPunct="1">
              <a:lnSpc>
                <a:spcPts val="2500"/>
              </a:lnSpc>
              <a:spcBef>
                <a:spcPts val="600"/>
              </a:spcBef>
              <a:spcAft>
                <a:spcPts val="0"/>
              </a:spcAft>
              <a:buFont typeface="Wingdings" panose="05000000000000000000" pitchFamily="2" charset="2"/>
              <a:buChar char="Ø"/>
              <a:defRPr/>
            </a:pPr>
            <a:r>
              <a:rPr lang="zh-CN" altLang="en-US" sz="2600" kern="0" dirty="0">
                <a:solidFill>
                  <a:srgbClr val="000000"/>
                </a:solidFill>
                <a:latin typeface="华文新魏" panose="02010800040101010101" pitchFamily="2" charset="-122"/>
                <a:ea typeface="华文新魏" panose="02010800040101010101" pitchFamily="2" charset="-122"/>
              </a:rPr>
              <a:t>调查过程：</a:t>
            </a:r>
            <a:endParaRPr lang="en-US" altLang="zh-CN" sz="2600" kern="0" dirty="0">
              <a:solidFill>
                <a:srgbClr val="000000"/>
              </a:solidFill>
              <a:latin typeface="华文新魏" panose="02010800040101010101" pitchFamily="2" charset="-122"/>
              <a:ea typeface="华文新魏" panose="02010800040101010101" pitchFamily="2" charset="-122"/>
            </a:endParaRPr>
          </a:p>
          <a:p>
            <a:pPr marL="182880" indent="263525" algn="ctr"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专家组现场实车模拟</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algn="ctr" eaLnBrk="1" fontAlgn="auto" hangingPunct="1">
              <a:lnSpc>
                <a:spcPts val="2500"/>
              </a:lnSpc>
              <a:spcBef>
                <a:spcPts val="600"/>
              </a:spcBef>
              <a:spcAft>
                <a:spcPts val="0"/>
              </a:spcAft>
              <a:buFont typeface="Arial" panose="020B0604020202020204" pitchFamily="34" charset="0"/>
              <a:buChar char="•"/>
              <a:defRPr/>
            </a:pPr>
            <a:r>
              <a:rPr lang="en-US" altLang="zh-CN" sz="2400" kern="0" dirty="0">
                <a:solidFill>
                  <a:srgbClr val="000000"/>
                </a:solidFill>
                <a:latin typeface="华文新魏" panose="02010800040101010101" pitchFamily="2" charset="-122"/>
                <a:ea typeface="华文新魏" panose="02010800040101010101" pitchFamily="2" charset="-122"/>
              </a:rPr>
              <a:t>9</a:t>
            </a:r>
            <a:r>
              <a:rPr lang="zh-CN" altLang="en-US" sz="2400" kern="0" dirty="0">
                <a:solidFill>
                  <a:srgbClr val="000000"/>
                </a:solidFill>
                <a:latin typeface="华文新魏" panose="02010800040101010101" pitchFamily="2" charset="-122"/>
                <a:ea typeface="华文新魏" panose="02010800040101010101" pitchFamily="2" charset="-122"/>
              </a:rPr>
              <a:t>月底递交技术报告</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algn="ctr"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国务院酝酿处理意见</a:t>
            </a:r>
            <a:endParaRPr lang="en-US" altLang="zh-CN" sz="2400" kern="0" dirty="0">
              <a:solidFill>
                <a:srgbClr val="000000"/>
              </a:solidFill>
              <a:latin typeface="华文新魏" panose="02010800040101010101" pitchFamily="2" charset="-122"/>
              <a:ea typeface="华文新魏" panose="02010800040101010101" pitchFamily="2" charset="-122"/>
            </a:endParaRPr>
          </a:p>
        </p:txBody>
      </p:sp>
      <p:sp>
        <p:nvSpPr>
          <p:cNvPr id="8" name="矩形 7"/>
          <p:cNvSpPr/>
          <p:nvPr/>
        </p:nvSpPr>
        <p:spPr>
          <a:xfrm>
            <a:off x="0" y="1214438"/>
            <a:ext cx="4714875" cy="1604962"/>
          </a:xfrm>
          <a:prstGeom prst="rect">
            <a:avLst/>
          </a:prstGeom>
        </p:spPr>
        <p:txBody>
          <a:bodyPr>
            <a:spAutoFit/>
          </a:bodyPr>
          <a:lstStyle/>
          <a:p>
            <a:pPr marL="177800" indent="-177800" algn="ctr" eaLnBrk="1" fontAlgn="auto" hangingPunct="1">
              <a:lnSpc>
                <a:spcPts val="2500"/>
              </a:lnSpc>
              <a:spcBef>
                <a:spcPts val="600"/>
              </a:spcBef>
              <a:spcAft>
                <a:spcPts val="0"/>
              </a:spcAft>
              <a:buFont typeface="Wingdings" panose="05000000000000000000" pitchFamily="2" charset="2"/>
              <a:buChar char="Ø"/>
              <a:defRPr/>
            </a:pPr>
            <a:r>
              <a:rPr lang="zh-CN" altLang="en-US" sz="2600" kern="0" dirty="0">
                <a:solidFill>
                  <a:srgbClr val="000000"/>
                </a:solidFill>
                <a:latin typeface="华文新魏" panose="02010800040101010101" pitchFamily="2" charset="-122"/>
                <a:ea typeface="华文新魏" panose="02010800040101010101" pitchFamily="2" charset="-122"/>
              </a:rPr>
              <a:t>事件回放：</a:t>
            </a:r>
            <a:endParaRPr lang="zh-CN" altLang="en-US" sz="2600" kern="0" dirty="0">
              <a:solidFill>
                <a:srgbClr val="000000"/>
              </a:solidFill>
              <a:latin typeface="华文新魏" panose="02010800040101010101" pitchFamily="2" charset="-122"/>
              <a:ea typeface="华文新魏" panose="02010800040101010101" pitchFamily="2" charset="-122"/>
            </a:endParaRPr>
          </a:p>
          <a:p>
            <a:pPr marL="182880" indent="263525" algn="ctr" eaLnBrk="1" fontAlgn="auto" hangingPunct="1">
              <a:lnSpc>
                <a:spcPts val="2500"/>
              </a:lnSpc>
              <a:spcBef>
                <a:spcPts val="600"/>
              </a:spcBef>
              <a:spcAft>
                <a:spcPts val="0"/>
              </a:spcAft>
              <a:buFont typeface="Arial" panose="020B0604020202020204" pitchFamily="34" charset="0"/>
              <a:buChar char="•"/>
              <a:defRPr/>
            </a:pPr>
            <a:r>
              <a:rPr lang="en-US" altLang="zh-CN" sz="2400" kern="0" dirty="0">
                <a:solidFill>
                  <a:srgbClr val="000000"/>
                </a:solidFill>
                <a:latin typeface="华文新魏" panose="02010800040101010101" pitchFamily="2" charset="-122"/>
                <a:ea typeface="华文新魏" panose="02010800040101010101" pitchFamily="2" charset="-122"/>
              </a:rPr>
              <a:t>7</a:t>
            </a:r>
            <a:r>
              <a:rPr lang="zh-CN" altLang="en-US" sz="2400" kern="0" dirty="0">
                <a:solidFill>
                  <a:srgbClr val="000000"/>
                </a:solidFill>
                <a:latin typeface="华文新魏" panose="02010800040101010101" pitchFamily="2" charset="-122"/>
                <a:ea typeface="华文新魏" panose="02010800040101010101" pitchFamily="2" charset="-122"/>
              </a:rPr>
              <a:t>月</a:t>
            </a:r>
            <a:r>
              <a:rPr lang="en-US" altLang="zh-CN" sz="2400" kern="0" dirty="0">
                <a:solidFill>
                  <a:srgbClr val="000000"/>
                </a:solidFill>
                <a:latin typeface="华文新魏" panose="02010800040101010101" pitchFamily="2" charset="-122"/>
                <a:ea typeface="华文新魏" panose="02010800040101010101" pitchFamily="2" charset="-122"/>
              </a:rPr>
              <a:t>23</a:t>
            </a:r>
            <a:r>
              <a:rPr lang="zh-CN" altLang="en-US" sz="2400" kern="0" dirty="0">
                <a:solidFill>
                  <a:srgbClr val="000000"/>
                </a:solidFill>
                <a:latin typeface="华文新魏" panose="02010800040101010101" pitchFamily="2" charset="-122"/>
                <a:ea typeface="华文新魏" panose="02010800040101010101" pitchFamily="2" charset="-122"/>
              </a:rPr>
              <a:t>日晚</a:t>
            </a:r>
            <a:r>
              <a:rPr lang="en-US" altLang="zh-CN" sz="2400" kern="0" dirty="0">
                <a:solidFill>
                  <a:srgbClr val="000000"/>
                </a:solidFill>
                <a:latin typeface="华文新魏" panose="02010800040101010101" pitchFamily="2" charset="-122"/>
                <a:ea typeface="华文新魏" panose="02010800040101010101" pitchFamily="2" charset="-122"/>
              </a:rPr>
              <a:t>8</a:t>
            </a:r>
            <a:r>
              <a:rPr lang="zh-CN" altLang="en-US" sz="2400" kern="0" dirty="0">
                <a:solidFill>
                  <a:srgbClr val="000000"/>
                </a:solidFill>
                <a:latin typeface="华文新魏" panose="02010800040101010101" pitchFamily="2" charset="-122"/>
                <a:ea typeface="华文新魏" panose="02010800040101010101" pitchFamily="2" charset="-122"/>
              </a:rPr>
              <a:t>点</a:t>
            </a:r>
            <a:r>
              <a:rPr lang="en-US" altLang="zh-CN" sz="2400" kern="0" dirty="0">
                <a:solidFill>
                  <a:srgbClr val="000000"/>
                </a:solidFill>
                <a:latin typeface="华文新魏" panose="02010800040101010101" pitchFamily="2" charset="-122"/>
                <a:ea typeface="华文新魏" panose="02010800040101010101" pitchFamily="2" charset="-122"/>
              </a:rPr>
              <a:t>30</a:t>
            </a:r>
            <a:r>
              <a:rPr lang="zh-CN" altLang="en-US" sz="2400" kern="0" dirty="0">
                <a:solidFill>
                  <a:srgbClr val="000000"/>
                </a:solidFill>
                <a:latin typeface="华文新魏" panose="02010800040101010101" pitchFamily="2" charset="-122"/>
                <a:ea typeface="华文新魏" panose="02010800040101010101" pitchFamily="2" charset="-122"/>
              </a:rPr>
              <a:t>分</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algn="ctr"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甬温线永嘉站至温州南站间</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algn="ctr" eaLnBrk="1" fontAlgn="auto" hangingPunct="1">
              <a:lnSpc>
                <a:spcPts val="2500"/>
              </a:lnSpc>
              <a:spcBef>
                <a:spcPts val="600"/>
              </a:spcBef>
              <a:spcAft>
                <a:spcPts val="0"/>
              </a:spcAft>
              <a:buFont typeface="Arial" panose="020B0604020202020204" pitchFamily="34" charset="0"/>
              <a:buChar char="•"/>
              <a:defRPr/>
            </a:pPr>
            <a:r>
              <a:rPr lang="en-US" altLang="zh-CN" sz="2400" kern="0" dirty="0">
                <a:solidFill>
                  <a:srgbClr val="000000"/>
                </a:solidFill>
                <a:latin typeface="华文新魏" panose="02010800040101010101" pitchFamily="2" charset="-122"/>
                <a:ea typeface="华文新魏" panose="02010800040101010101" pitchFamily="2" charset="-122"/>
              </a:rPr>
              <a:t>D301</a:t>
            </a:r>
            <a:r>
              <a:rPr lang="zh-CN" altLang="en-US" sz="2400" kern="0" dirty="0">
                <a:solidFill>
                  <a:srgbClr val="000000"/>
                </a:solidFill>
                <a:latin typeface="华文新魏" panose="02010800040101010101" pitchFamily="2" charset="-122"/>
                <a:ea typeface="华文新魏" panose="02010800040101010101" pitchFamily="2" charset="-122"/>
              </a:rPr>
              <a:t>与</a:t>
            </a:r>
            <a:r>
              <a:rPr lang="en-US" altLang="zh-CN" sz="2400" kern="0" dirty="0">
                <a:solidFill>
                  <a:srgbClr val="000000"/>
                </a:solidFill>
                <a:latin typeface="华文新魏" panose="02010800040101010101" pitchFamily="2" charset="-122"/>
                <a:ea typeface="华文新魏" panose="02010800040101010101" pitchFamily="2" charset="-122"/>
              </a:rPr>
              <a:t>D3115</a:t>
            </a:r>
            <a:r>
              <a:rPr lang="zh-CN" altLang="en-US" sz="2400" kern="0" dirty="0">
                <a:solidFill>
                  <a:srgbClr val="000000"/>
                </a:solidFill>
                <a:latin typeface="华文新魏" panose="02010800040101010101" pitchFamily="2" charset="-122"/>
                <a:ea typeface="华文新魏" panose="02010800040101010101" pitchFamily="2" charset="-122"/>
              </a:rPr>
              <a:t>发生追尾事故</a:t>
            </a:r>
            <a:endParaRPr lang="en-US" altLang="zh-CN" sz="2400" kern="0" dirty="0">
              <a:solidFill>
                <a:srgbClr val="000000"/>
              </a:solidFill>
              <a:latin typeface="华文新魏" panose="02010800040101010101" pitchFamily="2" charset="-122"/>
              <a:ea typeface="华文新魏" panose="02010800040101010101" pitchFamily="2" charset="-122"/>
            </a:endParaRPr>
          </a:p>
        </p:txBody>
      </p:sp>
      <p:sp>
        <p:nvSpPr>
          <p:cNvPr id="9" name="矩形 8"/>
          <p:cNvSpPr/>
          <p:nvPr/>
        </p:nvSpPr>
        <p:spPr>
          <a:xfrm>
            <a:off x="0" y="4403725"/>
            <a:ext cx="8858250" cy="1208088"/>
          </a:xfrm>
          <a:prstGeom prst="rect">
            <a:avLst/>
          </a:prstGeom>
        </p:spPr>
        <p:txBody>
          <a:bodyPr>
            <a:spAutoFit/>
          </a:bodyPr>
          <a:lstStyle/>
          <a:p>
            <a:pPr marL="177800" indent="-177800" algn="ctr" eaLnBrk="1" fontAlgn="auto" hangingPunct="1">
              <a:lnSpc>
                <a:spcPts val="2500"/>
              </a:lnSpc>
              <a:spcBef>
                <a:spcPts val="600"/>
              </a:spcBef>
              <a:spcAft>
                <a:spcPts val="0"/>
              </a:spcAft>
              <a:buFont typeface="Wingdings" panose="05000000000000000000" pitchFamily="2" charset="2"/>
              <a:buChar char="Ø"/>
              <a:defRPr/>
            </a:pPr>
            <a:r>
              <a:rPr lang="zh-CN" altLang="en-US" sz="2600" kern="0" dirty="0">
                <a:solidFill>
                  <a:srgbClr val="000000"/>
                </a:solidFill>
                <a:latin typeface="华文新魏" panose="02010800040101010101" pitchFamily="2" charset="-122"/>
                <a:ea typeface="华文新魏" panose="02010800040101010101" pitchFamily="2" charset="-122"/>
              </a:rPr>
              <a:t>调查结论：</a:t>
            </a:r>
            <a:endParaRPr lang="en-US" altLang="zh-CN" sz="2600" kern="0" dirty="0">
              <a:solidFill>
                <a:srgbClr val="000000"/>
              </a:solidFill>
              <a:latin typeface="华文新魏" panose="02010800040101010101" pitchFamily="2" charset="-122"/>
              <a:ea typeface="华文新魏" panose="02010800040101010101" pitchFamily="2" charset="-122"/>
            </a:endParaRPr>
          </a:p>
          <a:p>
            <a:pPr marL="182880" indent="263525" algn="ctr"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动车信号技术和设备问题；高密度雷击只是诱因</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algn="ctr"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整个管理体制和观念都有问题</a:t>
            </a:r>
            <a:endParaRPr lang="zh-CN" altLang="en-US" sz="2400" kern="0" dirty="0">
              <a:solidFill>
                <a:srgbClr val="000000"/>
              </a:solidFill>
              <a:latin typeface="华文新魏" panose="02010800040101010101" pitchFamily="2" charset="-122"/>
              <a:ea typeface="华文新魏" panose="02010800040101010101" pitchFamily="2" charset="-122"/>
            </a:endParaRPr>
          </a:p>
        </p:txBody>
      </p:sp>
      <p:pic>
        <p:nvPicPr>
          <p:cNvPr id="10" name="Picture 2" descr="Img32626516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29188" y="1285875"/>
            <a:ext cx="3746500"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FD636E6-B250-4F1D-B2FB-2C8182FA7F7C}" type="slidenum">
              <a:rPr lang="zh-CN" altLang="en-US" sz="1400" smtClean="0"/>
            </a:fld>
            <a:endParaRPr lang="en-US" altLang="zh-CN" sz="1400" smtClean="0"/>
          </a:p>
        </p:txBody>
      </p:sp>
      <p:sp>
        <p:nvSpPr>
          <p:cNvPr id="66563" name="Rectangle 4"/>
          <p:cNvSpPr>
            <a:spLocks noGrp="1" noRot="1" noChangeArrowheads="1"/>
          </p:cNvSpPr>
          <p:nvPr>
            <p:ph type="title"/>
          </p:nvPr>
        </p:nvSpPr>
        <p:spPr>
          <a:xfrm>
            <a:off x="323850" y="0"/>
            <a:ext cx="8540750" cy="1143000"/>
          </a:xfrm>
          <a:noFill/>
        </p:spPr>
        <p:txBody>
          <a:bodyPr/>
          <a:lstStyle/>
          <a:p>
            <a:pPr eaLnBrk="1" hangingPunct="1"/>
            <a:r>
              <a:rPr lang="zh-CN" altLang="en-US" smtClean="0"/>
              <a:t>案例：某电站可行性研究</a:t>
            </a:r>
            <a:endParaRPr lang="zh-CN" altLang="en-US" smtClean="0"/>
          </a:p>
        </p:txBody>
      </p:sp>
      <p:sp>
        <p:nvSpPr>
          <p:cNvPr id="66564" name="Rectangle 5"/>
          <p:cNvSpPr>
            <a:spLocks noGrp="1" noRot="1" noChangeArrowheads="1"/>
          </p:cNvSpPr>
          <p:nvPr>
            <p:ph type="body" idx="1"/>
          </p:nvPr>
        </p:nvSpPr>
        <p:spPr>
          <a:xfrm>
            <a:off x="2627313" y="1052513"/>
            <a:ext cx="8540750" cy="4876800"/>
          </a:xfrm>
          <a:noFill/>
        </p:spPr>
        <p:txBody>
          <a:bodyPr/>
          <a:lstStyle/>
          <a:p>
            <a:pPr eaLnBrk="1" hangingPunct="1"/>
            <a:r>
              <a:rPr lang="en-US" altLang="zh-CN" b="1" smtClean="0"/>
              <a:t>1 </a:t>
            </a:r>
            <a:r>
              <a:rPr lang="zh-CN" altLang="en-US" b="1" smtClean="0"/>
              <a:t>总论</a:t>
            </a:r>
            <a:endParaRPr lang="zh-CN" altLang="en-US" b="1" smtClean="0"/>
          </a:p>
          <a:p>
            <a:pPr eaLnBrk="1" hangingPunct="1"/>
            <a:r>
              <a:rPr lang="en-US" altLang="zh-CN" b="1" smtClean="0"/>
              <a:t>2 </a:t>
            </a:r>
            <a:r>
              <a:rPr lang="zh-CN" altLang="en-US" b="1" smtClean="0"/>
              <a:t>工程规模</a:t>
            </a:r>
            <a:endParaRPr lang="zh-CN" altLang="en-US" b="1" smtClean="0"/>
          </a:p>
          <a:p>
            <a:pPr eaLnBrk="1" hangingPunct="1"/>
            <a:r>
              <a:rPr lang="en-US" altLang="zh-CN" b="1" smtClean="0"/>
              <a:t>3</a:t>
            </a:r>
            <a:r>
              <a:rPr lang="zh-CN" altLang="en-US" b="1" smtClean="0"/>
              <a:t>主要技术方案选择</a:t>
            </a:r>
            <a:endParaRPr lang="zh-CN" altLang="en-US" b="1" smtClean="0"/>
          </a:p>
          <a:p>
            <a:pPr eaLnBrk="1" hangingPunct="1"/>
            <a:r>
              <a:rPr lang="en-US" altLang="zh-CN" b="1" smtClean="0"/>
              <a:t>4 </a:t>
            </a:r>
            <a:r>
              <a:rPr lang="zh-CN" altLang="en-US" b="1" smtClean="0"/>
              <a:t>施工及环境保护</a:t>
            </a:r>
            <a:endParaRPr lang="zh-CN" altLang="en-US" b="1" smtClean="0"/>
          </a:p>
          <a:p>
            <a:pPr eaLnBrk="1" hangingPunct="1"/>
            <a:r>
              <a:rPr lang="en-US" altLang="zh-CN" b="1" smtClean="0"/>
              <a:t>5 </a:t>
            </a:r>
            <a:r>
              <a:rPr lang="zh-CN" altLang="en-US" b="1" smtClean="0"/>
              <a:t>投资估算及资金筹措</a:t>
            </a:r>
            <a:endParaRPr lang="zh-CN" altLang="en-US" b="1" smtClean="0"/>
          </a:p>
          <a:p>
            <a:pPr eaLnBrk="1" hangingPunct="1"/>
            <a:r>
              <a:rPr lang="en-US" altLang="zh-CN" b="1" smtClean="0"/>
              <a:t>6 </a:t>
            </a:r>
            <a:r>
              <a:rPr lang="zh-CN" altLang="en-US" b="1" smtClean="0"/>
              <a:t>技术经济综合评价</a:t>
            </a:r>
            <a:endParaRPr lang="zh-CN" altLang="en-US" b="1" smtClean="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AC6E86C-7BA1-4EF8-A5C4-28B35EA92D16}" type="slidenum">
              <a:rPr lang="zh-CN" altLang="en-US" sz="1400" smtClean="0"/>
            </a:fld>
            <a:endParaRPr lang="en-US" altLang="zh-CN" sz="1400" smtClean="0"/>
          </a:p>
        </p:txBody>
      </p:sp>
      <p:sp>
        <p:nvSpPr>
          <p:cNvPr id="67587" name="Rectangle 2"/>
          <p:cNvSpPr>
            <a:spLocks noGrp="1" noRot="1" noChangeArrowheads="1"/>
          </p:cNvSpPr>
          <p:nvPr>
            <p:ph type="title"/>
          </p:nvPr>
        </p:nvSpPr>
        <p:spPr/>
        <p:txBody>
          <a:bodyPr/>
          <a:lstStyle/>
          <a:p>
            <a:pPr eaLnBrk="1" hangingPunct="1"/>
            <a:r>
              <a:rPr lang="zh-CN" altLang="en-US" smtClean="0"/>
              <a:t>项目建设必要性</a:t>
            </a:r>
            <a:endParaRPr lang="zh-CN" altLang="en-US" smtClean="0"/>
          </a:p>
        </p:txBody>
      </p:sp>
      <p:sp>
        <p:nvSpPr>
          <p:cNvPr id="67588" name="Rectangle 3"/>
          <p:cNvSpPr>
            <a:spLocks noGrp="1" noRot="1" noChangeArrowheads="1"/>
          </p:cNvSpPr>
          <p:nvPr>
            <p:ph type="body" idx="1"/>
          </p:nvPr>
        </p:nvSpPr>
        <p:spPr/>
        <p:txBody>
          <a:bodyPr/>
          <a:lstStyle/>
          <a:p>
            <a:pPr eaLnBrk="1" hangingPunct="1"/>
            <a:r>
              <a:rPr lang="en-US" altLang="zh-CN" smtClean="0"/>
              <a:t>(1) </a:t>
            </a:r>
            <a:r>
              <a:rPr lang="zh-CN" altLang="en-US" smtClean="0"/>
              <a:t>贵州经济发展和“西电东送”的需要</a:t>
            </a:r>
            <a:endParaRPr lang="zh-CN" altLang="en-US" smtClean="0"/>
          </a:p>
          <a:p>
            <a:pPr eaLnBrk="1" hangingPunct="1"/>
            <a:r>
              <a:rPr lang="en-US" altLang="zh-CN" smtClean="0"/>
              <a:t>(2) </a:t>
            </a:r>
            <a:r>
              <a:rPr lang="zh-CN" altLang="en-US" smtClean="0"/>
              <a:t>贵州电力建设的需要</a:t>
            </a:r>
            <a:endParaRPr lang="zh-CN" altLang="en-US" smtClean="0"/>
          </a:p>
          <a:p>
            <a:pPr eaLnBrk="1" hangingPunct="1"/>
            <a:r>
              <a:rPr lang="en-US" altLang="zh-CN" smtClean="0"/>
              <a:t>(3) </a:t>
            </a:r>
            <a:r>
              <a:rPr lang="zh-CN" altLang="en-US" smtClean="0"/>
              <a:t>北盘江梯级滚动开发的需要</a:t>
            </a:r>
            <a:endParaRPr lang="zh-CN" altLang="en-US" smtClean="0"/>
          </a:p>
          <a:p>
            <a:pPr eaLnBrk="1" hangingPunct="1"/>
            <a:r>
              <a:rPr lang="en-US" altLang="zh-CN" smtClean="0"/>
              <a:t>(4) </a:t>
            </a:r>
            <a:r>
              <a:rPr lang="zh-CN" altLang="en-US" smtClean="0"/>
              <a:t>促进北盘江航运的发展</a:t>
            </a:r>
            <a:endParaRPr lang="zh-CN" altLang="en-US" smtClean="0"/>
          </a:p>
          <a:p>
            <a:pPr eaLnBrk="1" hangingPunct="1"/>
            <a:r>
              <a:rPr lang="en-US" altLang="zh-CN" smtClean="0"/>
              <a:t>(5) </a:t>
            </a:r>
            <a:r>
              <a:rPr lang="zh-CN" altLang="en-US" smtClean="0"/>
              <a:t>促进少数民族地区经济的发展</a:t>
            </a:r>
            <a:endParaRPr lang="zh-CN" altLang="en-US" smtClean="0"/>
          </a:p>
          <a:p>
            <a:pPr eaLnBrk="1" hangingPunct="1"/>
            <a:r>
              <a:rPr lang="en-US" altLang="zh-CN" smtClean="0"/>
              <a:t>(6) </a:t>
            </a:r>
            <a:r>
              <a:rPr lang="zh-CN" altLang="en-US" smtClean="0"/>
              <a:t>本电站的建设有益于生态环境保护</a:t>
            </a:r>
            <a:endParaRPr lang="zh-CN" altLang="en-US" smtClean="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7167BFB-FD6F-445B-BABD-5016F322F636}" type="slidenum">
              <a:rPr lang="zh-CN" altLang="en-US" sz="1400" smtClean="0"/>
            </a:fld>
            <a:endParaRPr lang="en-US" altLang="zh-CN" sz="1400" smtClean="0"/>
          </a:p>
        </p:txBody>
      </p:sp>
      <p:sp>
        <p:nvSpPr>
          <p:cNvPr id="68611" name="Rectangle 5"/>
          <p:cNvSpPr>
            <a:spLocks noChangeArrowheads="1"/>
          </p:cNvSpPr>
          <p:nvPr/>
        </p:nvSpPr>
        <p:spPr bwMode="auto">
          <a:xfrm>
            <a:off x="-214313" y="142875"/>
            <a:ext cx="528955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2400">
                <a:solidFill>
                  <a:srgbClr val="CC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AU" sz="2400">
                <a:solidFill>
                  <a:srgbClr val="CC0000"/>
                </a:solidFill>
                <a:latin typeface="Times New Roman" panose="02020603050405020304" pitchFamily="18" charset="0"/>
                <a:ea typeface="黑体" panose="02010609060101010101" pitchFamily="49" charset="-122"/>
                <a:cs typeface="Times New Roman" panose="02020603050405020304" pitchFamily="18" charset="0"/>
              </a:rPr>
              <a:t>贵州统调电网省内负荷预测表</a:t>
            </a:r>
            <a:endParaRPr lang="zh-CN" altLang="en-AU" sz="2400">
              <a:solidFill>
                <a:srgbClr val="CC0000"/>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98415" name="Group 399"/>
          <p:cNvGraphicFramePr>
            <a:graphicFrameLocks noGrp="1"/>
          </p:cNvGraphicFramePr>
          <p:nvPr/>
        </p:nvGraphicFramePr>
        <p:xfrm>
          <a:off x="179388" y="765175"/>
          <a:ext cx="8758237" cy="2468564"/>
        </p:xfrm>
        <a:graphic>
          <a:graphicData uri="http://schemas.openxmlformats.org/drawingml/2006/table">
            <a:tbl>
              <a:tblPr/>
              <a:tblGrid>
                <a:gridCol w="3756025"/>
                <a:gridCol w="1106487"/>
                <a:gridCol w="1296988"/>
                <a:gridCol w="1368425"/>
                <a:gridCol w="1230312"/>
              </a:tblGrid>
              <a:tr h="640024">
                <a:tc>
                  <a:txBody>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年</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份</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2005</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2015</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2020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365708">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最大负荷（</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MW</a:t>
                      </a: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7530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12120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18830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26800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08">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最大负荷增长率（</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9.99</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9.21</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7.31</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5" marB="45695" anchor="b"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08">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需电量（亿</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kW</a:t>
                      </a:r>
                      <a:r>
                        <a:rPr kumimoji="0" lang="en-US" altLang="zh-CN" sz="1800" b="0"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t>
                      </a: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460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735</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1130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1581</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08">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需电量增长率（</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9.83</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8.98</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6.95</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5" marB="45695" anchor="b"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08">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最大负荷利用小时数（</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t>
                      </a: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6109</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6064</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6001</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5899</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95" marB="45695" anchor="b"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8656" name="Rectangle 201"/>
          <p:cNvSpPr>
            <a:spLocks noChangeArrowheads="1"/>
          </p:cNvSpPr>
          <p:nvPr/>
        </p:nvSpPr>
        <p:spPr bwMode="auto">
          <a:xfrm>
            <a:off x="-1588" y="464502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
        <p:nvSpPr>
          <p:cNvPr id="68657" name="Rectangle 202"/>
          <p:cNvSpPr>
            <a:spLocks noChangeArrowheads="1"/>
          </p:cNvSpPr>
          <p:nvPr/>
        </p:nvSpPr>
        <p:spPr bwMode="auto">
          <a:xfrm>
            <a:off x="323850" y="3500438"/>
            <a:ext cx="437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a:solidFill>
                  <a:srgbClr val="CC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AU" sz="2400">
                <a:solidFill>
                  <a:srgbClr val="CC0000"/>
                </a:solidFill>
                <a:latin typeface="Times New Roman" panose="02020603050405020304" pitchFamily="18" charset="0"/>
                <a:ea typeface="黑体" panose="02010609060101010101" pitchFamily="49" charset="-122"/>
                <a:cs typeface="Times New Roman" panose="02020603050405020304" pitchFamily="18" charset="0"/>
              </a:rPr>
              <a:t>贵州统调电网外送负荷预测表</a:t>
            </a:r>
            <a:endParaRPr lang="zh-CN" altLang="en-AU" sz="2400">
              <a:solidFill>
                <a:srgbClr val="CC0000"/>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98413" name="Group 397"/>
          <p:cNvGraphicFramePr>
            <a:graphicFrameLocks noGrp="1"/>
          </p:cNvGraphicFramePr>
          <p:nvPr/>
        </p:nvGraphicFramePr>
        <p:xfrm>
          <a:off x="0" y="4027488"/>
          <a:ext cx="9144000" cy="2835275"/>
        </p:xfrm>
        <a:graphic>
          <a:graphicData uri="http://schemas.openxmlformats.org/drawingml/2006/table">
            <a:tbl>
              <a:tblPr/>
              <a:tblGrid>
                <a:gridCol w="3090863"/>
                <a:gridCol w="2017712"/>
                <a:gridCol w="2017713"/>
                <a:gridCol w="2017712"/>
              </a:tblGrid>
              <a:tr h="640223">
                <a:tc>
                  <a:txBody>
                    <a:bodyPr/>
                    <a:lstStyle/>
                    <a:p>
                      <a:pPr marL="0" marR="0" lvl="0" indent="0" algn="ctr" defTabSz="914400" rtl="0" eaLnBrk="0" fontAlgn="base" latinLnBrk="0" hangingPunct="0">
                        <a:lnSpc>
                          <a:spcPct val="100000"/>
                        </a:lnSpc>
                        <a:spcBef>
                          <a:spcPct val="0"/>
                        </a:spcBef>
                        <a:spcAft>
                          <a:spcPct val="0"/>
                        </a:spcAft>
                        <a:buClrTx/>
                        <a:buSzTx/>
                        <a:buFontTx/>
                        <a:buNone/>
                      </a:pP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年</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份</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2015</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2020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4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最大负荷（</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MW</a:t>
                      </a: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10000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13000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19000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42">
                <a:tc>
                  <a:txBody>
                    <a:bodyPr/>
                    <a:lstStyle/>
                    <a:p>
                      <a:pPr marL="0" marR="0" lvl="0" indent="0" algn="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其中：送广东</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8000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11000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14000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42">
                <a:tc>
                  <a:txBody>
                    <a:bodyPr/>
                    <a:lstStyle/>
                    <a:p>
                      <a:pPr marL="0" marR="0" lvl="0" indent="0" algn="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送广西</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3500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42">
                <a:tc>
                  <a:txBody>
                    <a:bodyPr/>
                    <a:lstStyle/>
                    <a:p>
                      <a:pPr marL="0" marR="0" lvl="0" indent="0" algn="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送重庆</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540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540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540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42">
                <a:tc>
                  <a:txBody>
                    <a:bodyPr/>
                    <a:lstStyle/>
                    <a:p>
                      <a:pPr marL="0" marR="0" lvl="0" indent="0" algn="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送湖南</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42">
                <a:tc>
                  <a:txBody>
                    <a:bodyPr/>
                    <a:lstStyle/>
                    <a:p>
                      <a:pPr marL="0" marR="0" lvl="0" indent="0" algn="r" defTabSz="914400" rtl="0" eaLnBrk="0" fontAlgn="base" latinLnBrk="0" hangingPunct="0">
                        <a:lnSpc>
                          <a:spcPct val="100000"/>
                        </a:lnSpc>
                        <a:spcBef>
                          <a:spcPct val="0"/>
                        </a:spcBef>
                        <a:spcAft>
                          <a:spcPct val="0"/>
                        </a:spcAft>
                        <a:buClrTx/>
                        <a:buSzTx/>
                        <a:buFontTx/>
                        <a:buNone/>
                      </a:pPr>
                      <a:r>
                        <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其它</a:t>
                      </a:r>
                      <a:endParaRPr kumimoji="0" lang="zh-CN" altLang="en-AU"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710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710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710</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0" marB="45730" anchor="b"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8700" name="Rectangle 384"/>
          <p:cNvSpPr>
            <a:spLocks noChangeArrowheads="1"/>
          </p:cNvSpPr>
          <p:nvPr/>
        </p:nvSpPr>
        <p:spPr bwMode="auto">
          <a:xfrm>
            <a:off x="0" y="42799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AC57358-A476-4BF6-A38B-9BDFD40A9598}" type="slidenum">
              <a:rPr lang="zh-CN" altLang="en-US" sz="1400" smtClean="0"/>
            </a:fld>
            <a:endParaRPr lang="en-US" altLang="zh-CN" sz="1400" smtClean="0"/>
          </a:p>
        </p:txBody>
      </p:sp>
      <p:graphicFrame>
        <p:nvGraphicFramePr>
          <p:cNvPr id="599626" name="Group 586"/>
          <p:cNvGraphicFramePr>
            <a:graphicFrameLocks noGrp="1"/>
          </p:cNvGraphicFramePr>
          <p:nvPr>
            <p:ph/>
          </p:nvPr>
        </p:nvGraphicFramePr>
        <p:xfrm>
          <a:off x="0" y="1844675"/>
          <a:ext cx="9144000" cy="4681538"/>
        </p:xfrm>
        <a:graphic>
          <a:graphicData uri="http://schemas.openxmlformats.org/drawingml/2006/table">
            <a:tbl>
              <a:tblPr/>
              <a:tblGrid>
                <a:gridCol w="2895600"/>
                <a:gridCol w="990600"/>
                <a:gridCol w="1295400"/>
                <a:gridCol w="1417638"/>
                <a:gridCol w="1265237"/>
                <a:gridCol w="1279525"/>
              </a:tblGrid>
              <a:tr h="1147763">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与装机有关的投资</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万元</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124434</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(800MW)</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130462</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(840MW)</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136538</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(880MW)</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144454</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(920MW)</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82650">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方案间投资增量</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万元</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6028</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6076</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7916</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82650">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差额投资内部收益率</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9.98</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9.66</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6.08</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85825">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差额投资内部收益率</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10.05</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9.28</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6.57</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82650">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差额投资内部收益率</a:t>
                      </a:r>
                      <a:endParaRPr kumimoji="0" lang="zh-CN" altLang="en-AU"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10.09</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9.04</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6.92</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9679" name="Rectangle 325"/>
          <p:cNvSpPr>
            <a:spLocks noChangeArrowheads="1"/>
          </p:cNvSpPr>
          <p:nvPr/>
        </p:nvSpPr>
        <p:spPr bwMode="auto">
          <a:xfrm>
            <a:off x="-142875" y="1143000"/>
            <a:ext cx="7219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AU" sz="2800">
                <a:solidFill>
                  <a:srgbClr val="CC0000"/>
                </a:solidFill>
              </a:rPr>
              <a:t>装机容量方案有效电量差额投资比较表</a:t>
            </a:r>
            <a:endParaRPr lang="en-AU" altLang="zh-CN" sz="2800">
              <a:solidFill>
                <a:srgbClr val="CC0000"/>
              </a:solidFill>
            </a:endParaRPr>
          </a:p>
        </p:txBody>
      </p:sp>
      <p:sp>
        <p:nvSpPr>
          <p:cNvPr id="69680" name="Rectangle 583"/>
          <p:cNvSpPr>
            <a:spLocks noChangeArrowheads="1"/>
          </p:cNvSpPr>
          <p:nvPr/>
        </p:nvSpPr>
        <p:spPr bwMode="auto">
          <a:xfrm>
            <a:off x="395288" y="465138"/>
            <a:ext cx="7931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3600">
                <a:solidFill>
                  <a:schemeClr val="tx2"/>
                </a:solidFill>
              </a:rPr>
              <a:t>项目规模</a:t>
            </a:r>
            <a:r>
              <a:rPr lang="en-US" altLang="zh-CN" sz="3600">
                <a:solidFill>
                  <a:schemeClr val="tx2"/>
                </a:solidFill>
              </a:rPr>
              <a:t>(</a:t>
            </a:r>
            <a:r>
              <a:rPr lang="zh-CN" altLang="en-US" sz="3600">
                <a:solidFill>
                  <a:schemeClr val="tx2"/>
                </a:solidFill>
              </a:rPr>
              <a:t>主要是确定本电站装机容量</a:t>
            </a:r>
            <a:r>
              <a:rPr lang="en-US" altLang="zh-CN" sz="3600">
                <a:solidFill>
                  <a:schemeClr val="tx2"/>
                </a:solidFill>
              </a:rPr>
              <a:t>)</a:t>
            </a:r>
            <a:r>
              <a:rPr lang="en-AU" altLang="zh-CN" sz="3600">
                <a:solidFill>
                  <a:schemeClr val="tx2"/>
                </a:solidFill>
              </a:rPr>
              <a:t> </a:t>
            </a:r>
            <a:endParaRPr lang="en-AU" altLang="zh-CN" sz="3600">
              <a:solidFill>
                <a:schemeClr val="tx2"/>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E877E66-5258-4B06-8FA0-8247F3AF405F}" type="slidenum">
              <a:rPr lang="zh-CN" altLang="en-US" sz="1400" smtClean="0"/>
            </a:fld>
            <a:endParaRPr lang="en-US" altLang="zh-CN" sz="1400" smtClean="0"/>
          </a:p>
        </p:txBody>
      </p:sp>
      <p:sp>
        <p:nvSpPr>
          <p:cNvPr id="70659" name="Rectangle 2"/>
          <p:cNvSpPr>
            <a:spLocks noGrp="1" noRot="1" noChangeArrowheads="1"/>
          </p:cNvSpPr>
          <p:nvPr>
            <p:ph type="title"/>
          </p:nvPr>
        </p:nvSpPr>
        <p:spPr/>
        <p:txBody>
          <a:bodyPr/>
          <a:lstStyle/>
          <a:p>
            <a:pPr eaLnBrk="1" hangingPunct="1"/>
            <a:r>
              <a:rPr lang="zh-CN" altLang="en-US" smtClean="0"/>
              <a:t>坝址选择 </a:t>
            </a:r>
            <a:endParaRPr lang="zh-CN" altLang="en-US" smtClean="0"/>
          </a:p>
        </p:txBody>
      </p:sp>
      <p:sp>
        <p:nvSpPr>
          <p:cNvPr id="70660" name="Rectangle 3"/>
          <p:cNvSpPr>
            <a:spLocks noGrp="1" noRot="1" noChangeArrowheads="1"/>
          </p:cNvSpPr>
          <p:nvPr>
            <p:ph type="body" idx="1"/>
          </p:nvPr>
        </p:nvSpPr>
        <p:spPr/>
        <p:txBody>
          <a:bodyPr/>
          <a:lstStyle/>
          <a:p>
            <a:pPr eaLnBrk="1" hangingPunct="1">
              <a:lnSpc>
                <a:spcPct val="90000"/>
              </a:lnSpc>
              <a:buFont typeface="Wingdings" panose="05000000000000000000" pitchFamily="2" charset="2"/>
              <a:buNone/>
            </a:pPr>
            <a:r>
              <a:rPr lang="zh-CN" altLang="en-US" sz="2800" smtClean="0"/>
              <a:t>   </a:t>
            </a:r>
            <a:r>
              <a:rPr lang="zh-CN" altLang="en-US" sz="2800" b="1" smtClean="0"/>
              <a:t>通过对上坝址和下坝址综合比较：</a:t>
            </a:r>
            <a:endParaRPr lang="zh-CN" altLang="en-US" sz="2800" b="1" smtClean="0"/>
          </a:p>
          <a:p>
            <a:pPr eaLnBrk="1" hangingPunct="1">
              <a:lnSpc>
                <a:spcPct val="90000"/>
              </a:lnSpc>
            </a:pPr>
            <a:r>
              <a:rPr lang="zh-CN" altLang="en-US" sz="2800" smtClean="0"/>
              <a:t>工程地质条件</a:t>
            </a:r>
            <a:endParaRPr lang="zh-CN" altLang="en-US" sz="2800" smtClean="0"/>
          </a:p>
          <a:p>
            <a:pPr eaLnBrk="1" hangingPunct="1">
              <a:lnSpc>
                <a:spcPct val="90000"/>
              </a:lnSpc>
            </a:pPr>
            <a:r>
              <a:rPr lang="zh-CN" altLang="en-US" sz="2800" smtClean="0"/>
              <a:t>坝基处理</a:t>
            </a:r>
            <a:endParaRPr lang="zh-CN" altLang="en-US" sz="2800" smtClean="0"/>
          </a:p>
          <a:p>
            <a:pPr eaLnBrk="1" hangingPunct="1">
              <a:lnSpc>
                <a:spcPct val="90000"/>
              </a:lnSpc>
            </a:pPr>
            <a:r>
              <a:rPr lang="zh-CN" altLang="en-US" sz="2800" smtClean="0"/>
              <a:t>防渗帷幕</a:t>
            </a:r>
            <a:endParaRPr lang="zh-CN" altLang="en-US" sz="2800" smtClean="0"/>
          </a:p>
          <a:p>
            <a:pPr eaLnBrk="1" hangingPunct="1">
              <a:lnSpc>
                <a:spcPct val="90000"/>
              </a:lnSpc>
            </a:pPr>
            <a:r>
              <a:rPr lang="zh-CN" altLang="en-US" sz="2800" smtClean="0"/>
              <a:t>施工条件</a:t>
            </a:r>
            <a:endParaRPr lang="zh-CN" altLang="en-US" sz="2800" smtClean="0"/>
          </a:p>
          <a:p>
            <a:pPr eaLnBrk="1" hangingPunct="1">
              <a:lnSpc>
                <a:spcPct val="90000"/>
              </a:lnSpc>
            </a:pPr>
            <a:r>
              <a:rPr lang="zh-CN" altLang="en-US" sz="2800" smtClean="0"/>
              <a:t>工程投资。</a:t>
            </a:r>
            <a:endParaRPr lang="zh-CN" altLang="en-US" sz="2800" smtClean="0"/>
          </a:p>
          <a:p>
            <a:pPr eaLnBrk="1" hangingPunct="1">
              <a:lnSpc>
                <a:spcPct val="90000"/>
              </a:lnSpc>
            </a:pPr>
            <a:endParaRPr lang="zh-CN" altLang="en-US" sz="2800" smtClean="0"/>
          </a:p>
          <a:p>
            <a:pPr eaLnBrk="1" hangingPunct="1">
              <a:lnSpc>
                <a:spcPct val="90000"/>
              </a:lnSpc>
              <a:buFont typeface="Wingdings" panose="05000000000000000000" pitchFamily="2" charset="2"/>
              <a:buNone/>
            </a:pPr>
            <a:r>
              <a:rPr lang="zh-CN" altLang="en-US" sz="2800" b="1" smtClean="0"/>
              <a:t>本阶段的选定坝址为下坝址。</a:t>
            </a:r>
            <a:r>
              <a:rPr lang="en-US" altLang="zh-CN" sz="2800" smtClean="0"/>
              <a:t> </a:t>
            </a:r>
            <a:endParaRPr lang="en-US" altLang="zh-CN" sz="2800" smtClean="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876CA5B-3B61-4DF8-B55D-978C0F934420}" type="slidenum">
              <a:rPr lang="zh-CN" altLang="en-US" sz="1400" smtClean="0"/>
            </a:fld>
            <a:endParaRPr lang="en-US" altLang="zh-CN" sz="1400" smtClean="0"/>
          </a:p>
        </p:txBody>
      </p:sp>
      <p:sp>
        <p:nvSpPr>
          <p:cNvPr id="71683" name="Rectangle 2"/>
          <p:cNvSpPr>
            <a:spLocks noGrp="1" noRot="1" noChangeArrowheads="1"/>
          </p:cNvSpPr>
          <p:nvPr>
            <p:ph type="title"/>
          </p:nvPr>
        </p:nvSpPr>
        <p:spPr/>
        <p:txBody>
          <a:bodyPr/>
          <a:lstStyle/>
          <a:p>
            <a:pPr eaLnBrk="1" hangingPunct="1"/>
            <a:r>
              <a:rPr lang="zh-CN" altLang="en-US" smtClean="0"/>
              <a:t>坝型选择 </a:t>
            </a:r>
            <a:endParaRPr lang="zh-CN" altLang="en-US" smtClean="0"/>
          </a:p>
        </p:txBody>
      </p:sp>
      <p:sp>
        <p:nvSpPr>
          <p:cNvPr id="71684" name="Rectangle 3"/>
          <p:cNvSpPr>
            <a:spLocks noGrp="1" noRot="1" noChangeArrowheads="1"/>
          </p:cNvSpPr>
          <p:nvPr>
            <p:ph type="body" idx="1"/>
          </p:nvPr>
        </p:nvSpPr>
        <p:spPr/>
        <p:txBody>
          <a:bodyPr/>
          <a:lstStyle/>
          <a:p>
            <a:pPr eaLnBrk="1" hangingPunct="1"/>
            <a:r>
              <a:rPr lang="zh-CN" altLang="en-US" sz="2800" smtClean="0"/>
              <a:t>碾压混凝土重力坝枢纽由碾压混凝土重力坝、坝身泄洪、坝后式厂房、右岸斜面升船机组成。</a:t>
            </a:r>
            <a:endParaRPr lang="zh-CN" altLang="en-US" sz="2800" smtClean="0"/>
          </a:p>
          <a:p>
            <a:pPr eaLnBrk="1" hangingPunct="1"/>
            <a:r>
              <a:rPr lang="zh-CN" altLang="en-US" sz="2800" smtClean="0"/>
              <a:t>面板堆石坝枢纽由混凝土面板堆石坝、左岸开敞式溢洪道、右岸放空洞、右岸式地面厂房及引水系统、右岸斜面升船机组成。</a:t>
            </a:r>
            <a:endParaRPr lang="zh-CN" altLang="en-US" sz="2800" smtClean="0"/>
          </a:p>
          <a:p>
            <a:pPr eaLnBrk="1" hangingPunct="1"/>
            <a:r>
              <a:rPr lang="zh-CN" altLang="en-US" sz="2800" smtClean="0">
                <a:solidFill>
                  <a:srgbClr val="CC0000"/>
                </a:solidFill>
              </a:rPr>
              <a:t>面板堆石坝枢纽在工程地质条件、施工总工期、工程投资等方面均优于混凝土重力坝坝型，故本阶段选定坝型为钢筋混凝土面板堆石坝。</a:t>
            </a:r>
            <a:r>
              <a:rPr lang="zh-CN" altLang="en-US" sz="2800" smtClean="0"/>
              <a:t> </a:t>
            </a:r>
            <a:endParaRPr lang="zh-CN" altLang="en-US" sz="2800" smtClean="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0165FF1-F40B-402C-AC99-1A31EF61D965}" type="slidenum">
              <a:rPr lang="zh-CN" altLang="en-US" sz="1400" smtClean="0"/>
            </a:fld>
            <a:endParaRPr lang="en-US" altLang="zh-CN" sz="1400" smtClean="0"/>
          </a:p>
        </p:txBody>
      </p:sp>
      <p:sp>
        <p:nvSpPr>
          <p:cNvPr id="72707" name="Rectangle 2"/>
          <p:cNvSpPr>
            <a:spLocks noGrp="1" noRot="1" noChangeArrowheads="1"/>
          </p:cNvSpPr>
          <p:nvPr>
            <p:ph type="title"/>
          </p:nvPr>
        </p:nvSpPr>
        <p:spPr>
          <a:xfrm>
            <a:off x="250825" y="-315913"/>
            <a:ext cx="8540750" cy="1143001"/>
          </a:xfrm>
        </p:spPr>
        <p:txBody>
          <a:bodyPr/>
          <a:lstStyle/>
          <a:p>
            <a:pPr eaLnBrk="1" hangingPunct="1"/>
            <a:r>
              <a:rPr lang="zh-CN" altLang="en-US" sz="3600" smtClean="0"/>
              <a:t>主要建筑物</a:t>
            </a:r>
            <a:r>
              <a:rPr lang="zh-CN" altLang="en-US" smtClean="0"/>
              <a:t> </a:t>
            </a:r>
            <a:endParaRPr lang="zh-CN" altLang="en-US" smtClean="0"/>
          </a:p>
        </p:txBody>
      </p:sp>
      <p:sp>
        <p:nvSpPr>
          <p:cNvPr id="72708" name="Rectangle 3"/>
          <p:cNvSpPr>
            <a:spLocks noGrp="1" noRot="1" noChangeArrowheads="1"/>
          </p:cNvSpPr>
          <p:nvPr>
            <p:ph type="body" idx="1"/>
          </p:nvPr>
        </p:nvSpPr>
        <p:spPr>
          <a:xfrm>
            <a:off x="323850" y="836613"/>
            <a:ext cx="8540750" cy="3886200"/>
          </a:xfrm>
        </p:spPr>
        <p:txBody>
          <a:bodyPr/>
          <a:lstStyle/>
          <a:p>
            <a:pPr eaLnBrk="1" hangingPunct="1">
              <a:lnSpc>
                <a:spcPct val="80000"/>
              </a:lnSpc>
            </a:pPr>
            <a:r>
              <a:rPr lang="zh-CN" altLang="en-US" sz="2400" b="1" smtClean="0">
                <a:solidFill>
                  <a:srgbClr val="CC0000"/>
                </a:solidFill>
              </a:rPr>
              <a:t>挡水建筑物</a:t>
            </a:r>
            <a:r>
              <a:rPr lang="en-US" altLang="zh-CN" sz="2400" b="1" smtClean="0">
                <a:solidFill>
                  <a:srgbClr val="CC0000"/>
                </a:solidFill>
              </a:rPr>
              <a:t>:</a:t>
            </a:r>
            <a:r>
              <a:rPr lang="en-US" altLang="zh-CN" sz="2400" b="1" smtClean="0"/>
              <a:t> </a:t>
            </a:r>
            <a:r>
              <a:rPr lang="zh-CN" altLang="en-US" sz="2400" smtClean="0"/>
              <a:t>面板堆石坝上游坝坡</a:t>
            </a:r>
            <a:r>
              <a:rPr lang="en-US" altLang="zh-CN" sz="2400" smtClean="0"/>
              <a:t>1:1.40</a:t>
            </a:r>
            <a:r>
              <a:rPr lang="zh-CN" altLang="en-US" sz="2400" smtClean="0"/>
              <a:t>，下游坝坡综合坡比</a:t>
            </a:r>
            <a:r>
              <a:rPr lang="en-US" altLang="zh-CN" sz="2400" smtClean="0"/>
              <a:t>1:1.50</a:t>
            </a:r>
            <a:r>
              <a:rPr lang="zh-CN" altLang="en-US" sz="2400" smtClean="0"/>
              <a:t>，坝顶长</a:t>
            </a:r>
            <a:r>
              <a:rPr lang="en-US" altLang="zh-CN" sz="2400" smtClean="0"/>
              <a:t>678.63m</a:t>
            </a:r>
            <a:r>
              <a:rPr lang="zh-CN" altLang="en-US" sz="2400" smtClean="0"/>
              <a:t>，最大坝高</a:t>
            </a:r>
            <a:r>
              <a:rPr lang="en-US" altLang="zh-CN" sz="2400" smtClean="0"/>
              <a:t>150m.</a:t>
            </a:r>
            <a:endParaRPr lang="en-US" altLang="zh-CN" sz="2400" smtClean="0"/>
          </a:p>
          <a:p>
            <a:pPr eaLnBrk="1" hangingPunct="1">
              <a:lnSpc>
                <a:spcPct val="80000"/>
              </a:lnSpc>
            </a:pPr>
            <a:r>
              <a:rPr lang="zh-CN" altLang="en-US" sz="2400" b="1" smtClean="0">
                <a:solidFill>
                  <a:srgbClr val="CC0000"/>
                </a:solidFill>
              </a:rPr>
              <a:t>溢洪道</a:t>
            </a:r>
            <a:r>
              <a:rPr lang="en-US" altLang="zh-CN" sz="2400" b="1" smtClean="0">
                <a:solidFill>
                  <a:srgbClr val="CC0000"/>
                </a:solidFill>
              </a:rPr>
              <a:t>:</a:t>
            </a:r>
            <a:r>
              <a:rPr lang="en-US" altLang="zh-CN" sz="2400" b="1" smtClean="0"/>
              <a:t> </a:t>
            </a:r>
            <a:r>
              <a:rPr lang="zh-CN" altLang="en-US" sz="2400" smtClean="0"/>
              <a:t>紧靠大坝左坝肩布置，分别由引水明渠段、控制段、泄槽段及消能工组成。</a:t>
            </a:r>
            <a:endParaRPr lang="zh-CN" altLang="en-US" sz="2400" smtClean="0"/>
          </a:p>
          <a:p>
            <a:pPr eaLnBrk="1" hangingPunct="1">
              <a:lnSpc>
                <a:spcPct val="80000"/>
              </a:lnSpc>
            </a:pPr>
            <a:r>
              <a:rPr lang="zh-CN" altLang="en-US" sz="2400" b="1" smtClean="0">
                <a:solidFill>
                  <a:srgbClr val="CC0000"/>
                </a:solidFill>
              </a:rPr>
              <a:t>放空洞</a:t>
            </a:r>
            <a:r>
              <a:rPr lang="en-US" altLang="zh-CN" sz="2400" b="1" smtClean="0">
                <a:solidFill>
                  <a:srgbClr val="CC0000"/>
                </a:solidFill>
              </a:rPr>
              <a:t>:</a:t>
            </a:r>
            <a:r>
              <a:rPr lang="zh-CN" altLang="en-US" sz="2400" smtClean="0"/>
              <a:t>为一条多用途隧洞，在水库初蓄期及全部机组检修期向下游放生态流量和通航流量，完建后作水库放空之用，并在必要时向下游放通航流量。放空洞布置于右岸，距右坝肩约</a:t>
            </a:r>
            <a:r>
              <a:rPr lang="en-US" altLang="zh-CN" sz="2400" smtClean="0"/>
              <a:t>115m</a:t>
            </a:r>
            <a:r>
              <a:rPr lang="zh-CN" altLang="en-US" sz="2400" smtClean="0"/>
              <a:t>，由进口段、无压洞身段、明渠段及出口消能工段组成</a:t>
            </a:r>
            <a:r>
              <a:rPr lang="en-US" altLang="zh-CN" sz="2400" smtClean="0"/>
              <a:t>.</a:t>
            </a:r>
            <a:endParaRPr lang="en-US" altLang="zh-CN" sz="2400" smtClean="0"/>
          </a:p>
          <a:p>
            <a:pPr eaLnBrk="1" hangingPunct="1">
              <a:lnSpc>
                <a:spcPct val="80000"/>
              </a:lnSpc>
            </a:pPr>
            <a:r>
              <a:rPr lang="zh-CN" altLang="zh-CN" sz="2400" b="1" smtClean="0">
                <a:solidFill>
                  <a:srgbClr val="CC0000"/>
                </a:solidFill>
              </a:rPr>
              <a:t>右岸引水建筑物</a:t>
            </a:r>
            <a:r>
              <a:rPr lang="zh-CN" altLang="en-US" sz="2400" b="1" smtClean="0">
                <a:solidFill>
                  <a:srgbClr val="CC0000"/>
                </a:solidFill>
              </a:rPr>
              <a:t>:</a:t>
            </a:r>
            <a:r>
              <a:rPr lang="zh-CN" altLang="en-US" sz="2400" smtClean="0"/>
              <a:t>引水系统布置于右岸，引水线路穿越岩层为边阳组上段砂岩夹泥岩。引水系统采用一洞一机单元供水方式，由塔式进水口、引水隧洞、压力钢管段等建筑物组成。</a:t>
            </a:r>
            <a:endParaRPr lang="zh-CN" altLang="en-US" sz="2400" smtClean="0"/>
          </a:p>
          <a:p>
            <a:pPr eaLnBrk="1" hangingPunct="1">
              <a:lnSpc>
                <a:spcPct val="80000"/>
              </a:lnSpc>
            </a:pPr>
            <a:r>
              <a:rPr lang="zh-CN" altLang="zh-CN" sz="2400" b="1" smtClean="0">
                <a:solidFill>
                  <a:srgbClr val="CC0000"/>
                </a:solidFill>
              </a:rPr>
              <a:t>右岸地面厂房</a:t>
            </a:r>
            <a:r>
              <a:rPr lang="zh-CN" altLang="en-US" sz="2400" b="1" smtClean="0">
                <a:solidFill>
                  <a:srgbClr val="CC0000"/>
                </a:solidFill>
              </a:rPr>
              <a:t>:</a:t>
            </a:r>
            <a:r>
              <a:rPr lang="zh-CN" altLang="en-US" sz="2400" smtClean="0"/>
              <a:t> 厂区枢纽主要由主机间、右端安装间（包括主安装间及装卸场）、上游副厂房、上游升压开关站、右端上游中控楼、下游副厂房、下游尾水平台、尾水渠及进厂交通等建筑物组成。 </a:t>
            </a:r>
            <a:endParaRPr lang="zh-CN" altLang="en-US" sz="2400" smtClean="0"/>
          </a:p>
          <a:p>
            <a:pPr eaLnBrk="1" hangingPunct="1">
              <a:lnSpc>
                <a:spcPct val="80000"/>
              </a:lnSpc>
            </a:pPr>
            <a:r>
              <a:rPr lang="zh-CN" altLang="en-US" sz="2400" b="1" smtClean="0">
                <a:solidFill>
                  <a:srgbClr val="CC0000"/>
                </a:solidFill>
              </a:rPr>
              <a:t>防渗帷幕</a:t>
            </a:r>
            <a:r>
              <a:rPr lang="en-US" altLang="zh-CN" sz="2400" b="1" smtClean="0">
                <a:solidFill>
                  <a:srgbClr val="CC0000"/>
                </a:solidFill>
              </a:rPr>
              <a:t>:</a:t>
            </a:r>
            <a:r>
              <a:rPr lang="en-US" altLang="zh-CN" sz="2400" smtClean="0"/>
              <a:t> </a:t>
            </a:r>
            <a:r>
              <a:rPr lang="zh-CN" altLang="en-US" sz="2400" smtClean="0"/>
              <a:t>帷幕线全长</a:t>
            </a:r>
            <a:r>
              <a:rPr lang="en-US" altLang="zh-CN" sz="2400" smtClean="0"/>
              <a:t>1136m</a:t>
            </a:r>
            <a:r>
              <a:rPr lang="zh-CN" altLang="en-US" sz="2400" smtClean="0"/>
              <a:t>，帷幕总孔深为</a:t>
            </a:r>
            <a:r>
              <a:rPr lang="en-US" altLang="zh-CN" sz="2400" smtClean="0"/>
              <a:t>4.11</a:t>
            </a:r>
            <a:r>
              <a:rPr lang="zh-CN" altLang="en-US" sz="2400" smtClean="0"/>
              <a:t>万</a:t>
            </a:r>
            <a:r>
              <a:rPr lang="en-US" altLang="zh-CN" sz="2400" smtClean="0"/>
              <a:t>m</a:t>
            </a:r>
            <a:r>
              <a:rPr lang="zh-CN" altLang="en-US" sz="2400" smtClean="0"/>
              <a:t>，防渗面积</a:t>
            </a:r>
            <a:r>
              <a:rPr lang="en-US" altLang="zh-CN" sz="2400" smtClean="0"/>
              <a:t>7.8</a:t>
            </a:r>
            <a:r>
              <a:rPr lang="zh-CN" altLang="en-US" sz="2400" smtClean="0"/>
              <a:t>万</a:t>
            </a:r>
            <a:r>
              <a:rPr lang="en-US" altLang="zh-CN" sz="2400" smtClean="0"/>
              <a:t>m2</a:t>
            </a:r>
            <a:r>
              <a:rPr lang="zh-CN" altLang="en-US" sz="2400" smtClean="0"/>
              <a:t>。</a:t>
            </a:r>
            <a:endParaRPr lang="en-US" altLang="zh-CN" sz="2400" smtClean="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8B8EA1E-0D05-475A-8C9A-43E4C132274B}" type="slidenum">
              <a:rPr lang="zh-CN" altLang="en-US" sz="1400" smtClean="0"/>
            </a:fld>
            <a:endParaRPr lang="en-US" altLang="zh-CN" sz="1400" smtClean="0"/>
          </a:p>
        </p:txBody>
      </p:sp>
      <p:sp>
        <p:nvSpPr>
          <p:cNvPr id="73731" name="Rectangle 2"/>
          <p:cNvSpPr>
            <a:spLocks noGrp="1" noRot="1" noChangeArrowheads="1"/>
          </p:cNvSpPr>
          <p:nvPr>
            <p:ph type="title"/>
          </p:nvPr>
        </p:nvSpPr>
        <p:spPr>
          <a:xfrm>
            <a:off x="323850" y="0"/>
            <a:ext cx="8540750" cy="1143000"/>
          </a:xfrm>
        </p:spPr>
        <p:txBody>
          <a:bodyPr/>
          <a:lstStyle/>
          <a:p>
            <a:pPr eaLnBrk="1" hangingPunct="1"/>
            <a:r>
              <a:rPr lang="zh-CN" altLang="en-US" smtClean="0"/>
              <a:t>施工组织设计 </a:t>
            </a:r>
            <a:endParaRPr lang="zh-CN" altLang="en-US" smtClean="0"/>
          </a:p>
        </p:txBody>
      </p:sp>
      <p:sp>
        <p:nvSpPr>
          <p:cNvPr id="73732" name="Rectangle 3"/>
          <p:cNvSpPr>
            <a:spLocks noGrp="1" noRot="1" noChangeArrowheads="1"/>
          </p:cNvSpPr>
          <p:nvPr>
            <p:ph type="body" idx="1"/>
          </p:nvPr>
        </p:nvSpPr>
        <p:spPr>
          <a:xfrm>
            <a:off x="250825" y="1125538"/>
            <a:ext cx="8540750" cy="3886200"/>
          </a:xfrm>
        </p:spPr>
        <p:txBody>
          <a:bodyPr/>
          <a:lstStyle/>
          <a:p>
            <a:pPr eaLnBrk="1" hangingPunct="1">
              <a:lnSpc>
                <a:spcPct val="90000"/>
              </a:lnSpc>
            </a:pPr>
            <a:r>
              <a:rPr lang="zh-CN" altLang="en-US" sz="2800" smtClean="0"/>
              <a:t>电站主体工程主要建筑材料来源地：钢材由贵阳采购；木材、水泥和油料由安顺采购；火工产品由工程所在地公安部门组织供货管理。</a:t>
            </a:r>
            <a:endParaRPr lang="zh-CN" altLang="en-US" sz="2800" smtClean="0"/>
          </a:p>
          <a:p>
            <a:pPr eaLnBrk="1" hangingPunct="1">
              <a:lnSpc>
                <a:spcPct val="90000"/>
              </a:lnSpc>
            </a:pPr>
            <a:r>
              <a:rPr lang="zh-CN" altLang="en-US" sz="2800" smtClean="0"/>
              <a:t>本河段无可利用的天然砂石骨料，只能另外寻找料源加工砂石骨料及部分大坝填筑料。</a:t>
            </a:r>
            <a:endParaRPr lang="zh-CN" altLang="en-US" sz="2800" smtClean="0"/>
          </a:p>
          <a:p>
            <a:pPr eaLnBrk="1" hangingPunct="1">
              <a:lnSpc>
                <a:spcPct val="90000"/>
              </a:lnSpc>
            </a:pPr>
            <a:r>
              <a:rPr lang="zh-CN" altLang="en-US" sz="2800" smtClean="0"/>
              <a:t>生活物资可由贞丰、镇宁等地供应，本地劳动力资源丰富。</a:t>
            </a:r>
            <a:endParaRPr lang="zh-CN" altLang="en-US" sz="2800" smtClean="0"/>
          </a:p>
          <a:p>
            <a:pPr eaLnBrk="1" hangingPunct="1">
              <a:lnSpc>
                <a:spcPct val="90000"/>
              </a:lnSpc>
            </a:pPr>
            <a:r>
              <a:rPr lang="zh-CN" altLang="en-US" sz="2800" smtClean="0"/>
              <a:t>工程施工用地包括永久建筑物、场内交通、料场、渣场、办公及生活区、施工企业、仓库等项目用地，共计</a:t>
            </a:r>
            <a:r>
              <a:rPr lang="en-US" altLang="zh-CN" sz="2800" smtClean="0"/>
              <a:t>4875</a:t>
            </a:r>
            <a:r>
              <a:rPr lang="zh-CN" altLang="en-US" sz="2800" smtClean="0"/>
              <a:t>亩（不含库区淹没提前征地）。其中永久用地</a:t>
            </a:r>
            <a:r>
              <a:rPr lang="en-US" altLang="zh-CN" sz="2800" smtClean="0"/>
              <a:t>1890</a:t>
            </a:r>
            <a:r>
              <a:rPr lang="zh-CN" altLang="en-US" sz="2800" smtClean="0"/>
              <a:t>亩，临时用地</a:t>
            </a:r>
            <a:r>
              <a:rPr lang="en-US" altLang="zh-CN" sz="2800" smtClean="0"/>
              <a:t>2985</a:t>
            </a:r>
            <a:r>
              <a:rPr lang="zh-CN" altLang="en-US" sz="2800" smtClean="0"/>
              <a:t>亩。</a:t>
            </a:r>
            <a:endParaRPr lang="zh-CN" altLang="en-US" sz="2800" smtClean="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A039A0A-3D3B-49D8-9D9C-3BC65A3E049A}" type="slidenum">
              <a:rPr lang="zh-CN" altLang="en-US" sz="1400" smtClean="0"/>
            </a:fld>
            <a:endParaRPr lang="en-US" altLang="zh-CN" sz="1400" smtClean="0"/>
          </a:p>
        </p:txBody>
      </p:sp>
      <p:sp>
        <p:nvSpPr>
          <p:cNvPr id="74755" name="Rectangle 2"/>
          <p:cNvSpPr>
            <a:spLocks noGrp="1" noRot="1" noChangeArrowheads="1"/>
          </p:cNvSpPr>
          <p:nvPr>
            <p:ph type="title"/>
          </p:nvPr>
        </p:nvSpPr>
        <p:spPr/>
        <p:txBody>
          <a:bodyPr/>
          <a:lstStyle/>
          <a:p>
            <a:pPr eaLnBrk="1" hangingPunct="1"/>
            <a:r>
              <a:rPr lang="zh-CN" altLang="en-US" smtClean="0"/>
              <a:t>工程建设工期</a:t>
            </a:r>
            <a:r>
              <a:rPr lang="en-US" altLang="zh-CN" smtClean="0"/>
              <a:t>56</a:t>
            </a:r>
            <a:r>
              <a:rPr lang="zh-CN" altLang="en-US" smtClean="0"/>
              <a:t>个月</a:t>
            </a:r>
            <a:endParaRPr lang="zh-CN" altLang="en-US" smtClean="0"/>
          </a:p>
        </p:txBody>
      </p:sp>
      <p:sp>
        <p:nvSpPr>
          <p:cNvPr id="74756" name="Rectangle 3"/>
          <p:cNvSpPr>
            <a:spLocks noGrp="1" noRot="1" noChangeArrowheads="1"/>
          </p:cNvSpPr>
          <p:nvPr>
            <p:ph type="body" idx="1"/>
          </p:nvPr>
        </p:nvSpPr>
        <p:spPr/>
        <p:txBody>
          <a:bodyPr/>
          <a:lstStyle/>
          <a:p>
            <a:pPr eaLnBrk="1" hangingPunct="1"/>
            <a:r>
              <a:rPr lang="zh-CN" altLang="en-US" smtClean="0"/>
              <a:t>工程筹建与施工准备期（</a:t>
            </a:r>
            <a:r>
              <a:rPr lang="en-US" altLang="zh-CN" smtClean="0"/>
              <a:t>22</a:t>
            </a:r>
            <a:r>
              <a:rPr lang="zh-CN" altLang="en-US" smtClean="0"/>
              <a:t>个月）</a:t>
            </a:r>
            <a:endParaRPr lang="zh-CN" altLang="en-US" smtClean="0"/>
          </a:p>
          <a:p>
            <a:pPr eaLnBrk="1" hangingPunct="1"/>
            <a:r>
              <a:rPr lang="zh-CN" altLang="en-US" smtClean="0"/>
              <a:t>主体工程施工期（</a:t>
            </a:r>
            <a:r>
              <a:rPr lang="en-US" altLang="zh-CN" smtClean="0"/>
              <a:t>29</a:t>
            </a:r>
            <a:r>
              <a:rPr lang="zh-CN" altLang="en-US" smtClean="0"/>
              <a:t>个月）</a:t>
            </a:r>
            <a:endParaRPr lang="zh-CN" altLang="en-US" smtClean="0"/>
          </a:p>
          <a:p>
            <a:pPr eaLnBrk="1" hangingPunct="1"/>
            <a:r>
              <a:rPr lang="zh-CN" altLang="en-US" smtClean="0"/>
              <a:t>和工程完建期（</a:t>
            </a:r>
            <a:r>
              <a:rPr lang="en-US" altLang="zh-CN" smtClean="0"/>
              <a:t>5</a:t>
            </a:r>
            <a:r>
              <a:rPr lang="zh-CN" altLang="en-US" smtClean="0"/>
              <a:t>个月）</a:t>
            </a:r>
            <a:endParaRPr lang="zh-CN" altLang="en-US" smtClean="0"/>
          </a:p>
          <a:p>
            <a:pPr eaLnBrk="1" hangingPunct="1"/>
            <a:r>
              <a:rPr lang="zh-CN" altLang="en-US" smtClean="0"/>
              <a:t>关键线路为导流工程、大坝和厂房工程。</a:t>
            </a:r>
            <a:endParaRPr lang="zh-CN" altLang="en-US" smtClean="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0F8E8E6-18F4-42F6-A1FD-DF1B54A80935}" type="slidenum">
              <a:rPr lang="zh-CN" altLang="en-US" sz="1400" smtClean="0"/>
            </a:fld>
            <a:endParaRPr lang="en-US" altLang="zh-CN" sz="1400" smtClean="0"/>
          </a:p>
        </p:txBody>
      </p:sp>
      <p:sp>
        <p:nvSpPr>
          <p:cNvPr id="75779" name="Rectangle 4"/>
          <p:cNvSpPr>
            <a:spLocks noGrp="1" noRot="1" noChangeArrowheads="1"/>
          </p:cNvSpPr>
          <p:nvPr>
            <p:ph type="title"/>
          </p:nvPr>
        </p:nvSpPr>
        <p:spPr>
          <a:noFill/>
        </p:spPr>
        <p:txBody>
          <a:bodyPr/>
          <a:lstStyle/>
          <a:p>
            <a:pPr eaLnBrk="1" hangingPunct="1"/>
            <a:r>
              <a:rPr lang="zh-CN" altLang="en-US" smtClean="0"/>
              <a:t>可行性研究报告的内容</a:t>
            </a:r>
            <a:endParaRPr lang="zh-CN" altLang="en-US" smtClean="0"/>
          </a:p>
        </p:txBody>
      </p:sp>
      <p:sp>
        <p:nvSpPr>
          <p:cNvPr id="75780" name="Rectangle 5"/>
          <p:cNvSpPr>
            <a:spLocks noGrp="1" noRot="1" noChangeArrowheads="1"/>
          </p:cNvSpPr>
          <p:nvPr>
            <p:ph type="body" idx="1"/>
          </p:nvPr>
        </p:nvSpPr>
        <p:spPr>
          <a:noFill/>
        </p:spPr>
        <p:txBody>
          <a:bodyPr/>
          <a:lstStyle/>
          <a:p>
            <a:pPr eaLnBrk="1" hangingPunct="1">
              <a:lnSpc>
                <a:spcPct val="80000"/>
              </a:lnSpc>
            </a:pPr>
            <a:r>
              <a:rPr lang="zh-CN" altLang="en-US" sz="2800" b="1" smtClean="0">
                <a:solidFill>
                  <a:srgbClr val="CC0000"/>
                </a:solidFill>
              </a:rPr>
              <a:t>总论</a:t>
            </a:r>
            <a:endParaRPr lang="zh-CN" altLang="en-US" sz="2800" b="1" smtClean="0">
              <a:solidFill>
                <a:srgbClr val="CC0000"/>
              </a:solidFill>
            </a:endParaRPr>
          </a:p>
          <a:p>
            <a:pPr eaLnBrk="1" hangingPunct="1">
              <a:lnSpc>
                <a:spcPct val="80000"/>
              </a:lnSpc>
            </a:pPr>
            <a:r>
              <a:rPr lang="zh-CN" altLang="en-US" sz="2800" b="1" smtClean="0">
                <a:solidFill>
                  <a:srgbClr val="CC0000"/>
                </a:solidFill>
              </a:rPr>
              <a:t>市场研究</a:t>
            </a:r>
            <a:endParaRPr lang="zh-CN" altLang="en-US" sz="2800" b="1" smtClean="0">
              <a:solidFill>
                <a:srgbClr val="CC0000"/>
              </a:solidFill>
            </a:endParaRPr>
          </a:p>
          <a:p>
            <a:pPr eaLnBrk="1" hangingPunct="1">
              <a:lnSpc>
                <a:spcPct val="80000"/>
              </a:lnSpc>
            </a:pPr>
            <a:r>
              <a:rPr lang="zh-CN" altLang="en-US" sz="2800" b="1" smtClean="0">
                <a:solidFill>
                  <a:srgbClr val="CC0000"/>
                </a:solidFill>
              </a:rPr>
              <a:t>投资条件与项目选址</a:t>
            </a:r>
            <a:endParaRPr lang="zh-CN" altLang="en-US" sz="2800" b="1" smtClean="0">
              <a:solidFill>
                <a:srgbClr val="CC0000"/>
              </a:solidFill>
            </a:endParaRPr>
          </a:p>
          <a:p>
            <a:pPr eaLnBrk="1" hangingPunct="1">
              <a:lnSpc>
                <a:spcPct val="80000"/>
              </a:lnSpc>
            </a:pPr>
            <a:r>
              <a:rPr lang="zh-CN" altLang="en-US" sz="2800" b="1" smtClean="0">
                <a:solidFill>
                  <a:srgbClr val="CC0000"/>
                </a:solidFill>
              </a:rPr>
              <a:t>技术方案</a:t>
            </a:r>
            <a:endParaRPr lang="zh-CN" altLang="en-US" sz="2800" b="1" smtClean="0">
              <a:solidFill>
                <a:srgbClr val="CC0000"/>
              </a:solidFill>
            </a:endParaRPr>
          </a:p>
          <a:p>
            <a:pPr eaLnBrk="1" hangingPunct="1">
              <a:lnSpc>
                <a:spcPct val="80000"/>
              </a:lnSpc>
            </a:pPr>
            <a:r>
              <a:rPr lang="zh-CN" altLang="en-US" sz="2800" b="1" smtClean="0"/>
              <a:t>环境影响</a:t>
            </a:r>
            <a:endParaRPr lang="zh-CN" altLang="en-US" sz="2800" b="1" smtClean="0"/>
          </a:p>
          <a:p>
            <a:pPr eaLnBrk="1" hangingPunct="1">
              <a:lnSpc>
                <a:spcPct val="80000"/>
              </a:lnSpc>
            </a:pPr>
            <a:r>
              <a:rPr lang="zh-CN" altLang="en-US" sz="2800" b="1" smtClean="0"/>
              <a:t>项目组织</a:t>
            </a:r>
            <a:r>
              <a:rPr lang="zh-CN" altLang="en-US" sz="2800" smtClean="0"/>
              <a:t>、</a:t>
            </a:r>
            <a:r>
              <a:rPr lang="zh-CN" altLang="en-US" sz="2800" b="1" smtClean="0"/>
              <a:t>实施与进度安排</a:t>
            </a:r>
            <a:endParaRPr lang="zh-CN" altLang="en-US" sz="2800" b="1" smtClean="0"/>
          </a:p>
          <a:p>
            <a:pPr eaLnBrk="1" hangingPunct="1">
              <a:lnSpc>
                <a:spcPct val="80000"/>
              </a:lnSpc>
            </a:pPr>
            <a:r>
              <a:rPr lang="zh-CN" altLang="en-US" sz="2800" b="1" smtClean="0"/>
              <a:t>财务分析</a:t>
            </a:r>
            <a:endParaRPr lang="zh-CN" altLang="en-US" sz="2800" smtClean="0"/>
          </a:p>
          <a:p>
            <a:pPr eaLnBrk="1" hangingPunct="1">
              <a:lnSpc>
                <a:spcPct val="80000"/>
              </a:lnSpc>
            </a:pPr>
            <a:r>
              <a:rPr lang="zh-CN" altLang="en-US" sz="2800" b="1" smtClean="0"/>
              <a:t>国民经济与社会效益分析</a:t>
            </a:r>
            <a:endParaRPr lang="zh-CN" altLang="en-US" sz="2800" b="1" smtClean="0"/>
          </a:p>
          <a:p>
            <a:pPr eaLnBrk="1" hangingPunct="1">
              <a:lnSpc>
                <a:spcPct val="80000"/>
              </a:lnSpc>
            </a:pPr>
            <a:r>
              <a:rPr lang="zh-CN" altLang="en-US" sz="2800" b="1" smtClean="0"/>
              <a:t>结论与建议</a:t>
            </a:r>
            <a:endParaRPr lang="zh-CN" altLang="en-US" sz="2800" b="1" smtClean="0"/>
          </a:p>
          <a:p>
            <a:pPr eaLnBrk="1" hangingPunct="1">
              <a:lnSpc>
                <a:spcPct val="80000"/>
              </a:lnSpc>
            </a:pPr>
            <a:endParaRPr lang="zh-CN" altLang="en-US" sz="2800" smtClean="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24B3963-F3F7-439E-AB22-CA0BC074537C}" type="slidenum">
              <a:rPr lang="zh-CN" altLang="en-US" sz="1400" smtClean="0"/>
            </a:fld>
            <a:endParaRPr lang="en-US" altLang="zh-CN" sz="1400" smtClean="0"/>
          </a:p>
        </p:txBody>
      </p:sp>
      <p:sp>
        <p:nvSpPr>
          <p:cNvPr id="76803" name="Rectangle 2"/>
          <p:cNvSpPr>
            <a:spLocks noGrp="1" noRot="1" noChangeArrowheads="1"/>
          </p:cNvSpPr>
          <p:nvPr>
            <p:ph type="title"/>
          </p:nvPr>
        </p:nvSpPr>
        <p:spPr/>
        <p:txBody>
          <a:bodyPr/>
          <a:lstStyle/>
          <a:p>
            <a:pPr eaLnBrk="1" hangingPunct="1"/>
            <a:endParaRPr lang="zh-CN" altLang="en-US" smtClean="0"/>
          </a:p>
        </p:txBody>
      </p:sp>
      <p:sp>
        <p:nvSpPr>
          <p:cNvPr id="76804" name="Rectangle 3"/>
          <p:cNvSpPr>
            <a:spLocks noGrp="1" noRot="1" noChangeArrowheads="1"/>
          </p:cNvSpPr>
          <p:nvPr>
            <p:ph type="body" idx="1"/>
          </p:nvPr>
        </p:nvSpPr>
        <p:spPr/>
        <p:txBody>
          <a:bodyPr/>
          <a:lstStyle/>
          <a:p>
            <a:pPr algn="ctr" eaLnBrk="1" hangingPunct="1">
              <a:buFont typeface="Wingdings" panose="05000000000000000000" pitchFamily="2" charset="2"/>
              <a:buNone/>
            </a:pPr>
            <a:r>
              <a:rPr lang="en-US" altLang="zh-CN" sz="6000" b="1" smtClean="0"/>
              <a:t>Question?</a:t>
            </a:r>
            <a:endParaRPr lang="en-US" altLang="zh-CN" sz="6000" b="1" smtClean="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OTI0OWQxZGJjNDE2MzIxNDlmMGQ4ZDUyYzcyZTE1MzkifQ=="/>
  <p:tag name="commondata" val="eyJoZGlkIjoiMDUyNTk2M2IyMzU4MzVkNTcwMTc5ZTNjMDhlZjc2NjkifQ=="/>
</p:tagLst>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AU" sz="4400" b="0" i="0" u="none" strike="noStrike" cap="none" normalizeH="0" baseline="0" smtClean="0">
            <a:ln>
              <a:noFill/>
            </a:ln>
            <a:solidFill>
              <a:srgbClr val="CC0000"/>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AU" sz="4400" b="0" i="0" u="none" strike="noStrike" cap="none" normalizeH="0" baseline="0" smtClean="0">
            <a:ln>
              <a:noFill/>
            </a:ln>
            <a:solidFill>
              <a:srgbClr val="CC0000"/>
            </a:solidFill>
            <a:effectLst/>
            <a:latin typeface="Arial" panose="020B0604020202020204" pitchFamily="34" charset="0"/>
            <a:ea typeface="宋体" panose="02010600030101010101" pitchFamily="2" charset="-122"/>
          </a:defRPr>
        </a:defPPr>
      </a:lstStyle>
    </a:lnDef>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0</TotalTime>
  <Words>9561</Words>
  <Application>WPS 演示</Application>
  <PresentationFormat>全屏显示(4:3)</PresentationFormat>
  <Paragraphs>2049</Paragraphs>
  <Slides>72</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7</vt:i4>
      </vt:variant>
      <vt:variant>
        <vt:lpstr>幻灯片标题</vt:lpstr>
      </vt:variant>
      <vt:variant>
        <vt:i4>72</vt:i4>
      </vt:variant>
    </vt:vector>
  </HeadingPairs>
  <TitlesOfParts>
    <vt:vector size="96" baseType="lpstr">
      <vt:lpstr>Arial</vt:lpstr>
      <vt:lpstr>宋体</vt:lpstr>
      <vt:lpstr>Wingdings</vt:lpstr>
      <vt:lpstr>Times New Roman</vt:lpstr>
      <vt:lpstr>Garamond</vt:lpstr>
      <vt:lpstr>仿宋_GB2312</vt:lpstr>
      <vt:lpstr>仿宋</vt:lpstr>
      <vt:lpstr>楷体_GB2312</vt:lpstr>
      <vt:lpstr>新宋体</vt:lpstr>
      <vt:lpstr>隶书</vt:lpstr>
      <vt:lpstr>黑体</vt:lpstr>
      <vt:lpstr>楷体_GB2312</vt:lpstr>
      <vt:lpstr>微软雅黑</vt:lpstr>
      <vt:lpstr>Arial Unicode MS</vt:lpstr>
      <vt:lpstr>华文新魏</vt:lpstr>
      <vt:lpstr>Arial</vt:lpstr>
      <vt:lpstr>古瓶荷花</vt:lpstr>
      <vt:lpstr>MSGraph.Chart.8</vt:lpstr>
      <vt:lpstr>MSGraph.Chart.8</vt:lpstr>
      <vt:lpstr>MSGraph.Chart.8</vt:lpstr>
      <vt:lpstr>AutoCAD.Drawing.14</vt:lpstr>
      <vt:lpstr>AutoCAD.Drawing.14</vt:lpstr>
      <vt:lpstr>AutoCAD.Drawing.14</vt:lpstr>
      <vt:lpstr>AutoCAD.Drawing.15</vt:lpstr>
      <vt:lpstr>PowerPoint 演示文稿</vt:lpstr>
      <vt:lpstr>项目投资决策和建设过程中的可行性研究</vt:lpstr>
      <vt:lpstr>可行性研究的作用重大</vt:lpstr>
      <vt:lpstr>可行性研究报告的内容</vt:lpstr>
      <vt:lpstr>可行性研究的三条腿</vt:lpstr>
      <vt:lpstr>案例:嘉兴至绍兴公路可行性研究 </vt:lpstr>
      <vt:lpstr>现状评价及发展环境 </vt:lpstr>
      <vt:lpstr>  </vt:lpstr>
      <vt:lpstr>现有公路技术状况 </vt:lpstr>
      <vt:lpstr>对工程的影响因素</vt:lpstr>
      <vt:lpstr>拟建项目与其它交通衔接状况 </vt:lpstr>
      <vt:lpstr>运输发展预测及建设的必要性 </vt:lpstr>
      <vt:lpstr>社会经济发展现状 </vt:lpstr>
      <vt:lpstr>浙江省社会经济发展情况表</vt:lpstr>
      <vt:lpstr>嘉兴市</vt:lpstr>
      <vt:lpstr>海盐县</vt:lpstr>
      <vt:lpstr>海宁市</vt:lpstr>
      <vt:lpstr>绍兴市</vt:lpstr>
      <vt:lpstr>上虞市</vt:lpstr>
      <vt:lpstr>项目影响区社会经济发展规划 </vt:lpstr>
      <vt:lpstr>项目影响区交通运输现状及发展 </vt:lpstr>
      <vt:lpstr>浙江省货运量比例变化图</vt:lpstr>
      <vt:lpstr> 主要地区将来国内生产总值预测结果表 95价 .单位:亿元  </vt:lpstr>
      <vt:lpstr>交通量预测模型的基本形式</vt:lpstr>
      <vt:lpstr>交通量预测结果表</vt:lpstr>
      <vt:lpstr>建设的必要性 </vt:lpstr>
      <vt:lpstr>可行性研究报告的内容</vt:lpstr>
      <vt:lpstr>2.建设规模、标准及初步方案 </vt:lpstr>
      <vt:lpstr>建设规模和技术标准 </vt:lpstr>
      <vt:lpstr>路基标准横断面图 </vt:lpstr>
      <vt:lpstr>建设方案及其主要工程数量 </vt:lpstr>
      <vt:lpstr>PowerPoint 演示文稿</vt:lpstr>
      <vt:lpstr>路线方案评价表 </vt:lpstr>
      <vt:lpstr>PowerPoint 演示文稿</vt:lpstr>
      <vt:lpstr>跨江大桥方案 </vt:lpstr>
      <vt:lpstr>钢桁梁桥，主跨380m，全长12320m </vt:lpstr>
      <vt:lpstr>主梁</vt:lpstr>
      <vt:lpstr>滩涂桥双层框架布置图 </vt:lpstr>
      <vt:lpstr>PowerPoint 演示文稿</vt:lpstr>
      <vt:lpstr>PowerPoint 演示文稿</vt:lpstr>
      <vt:lpstr>PowerPoint 演示文稿</vt:lpstr>
      <vt:lpstr>隧道方案工程设计 </vt:lpstr>
      <vt:lpstr>PowerPoint 演示文稿</vt:lpstr>
      <vt:lpstr>PowerPoint 演示文稿</vt:lpstr>
      <vt:lpstr>PowerPoint 演示文稿</vt:lpstr>
      <vt:lpstr>PowerPoint 演示文稿</vt:lpstr>
      <vt:lpstr>PowerPoint 演示文稿</vt:lpstr>
      <vt:lpstr>桥隧方案比选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案例：某电站可行性研究</vt:lpstr>
      <vt:lpstr>项目建设必要性</vt:lpstr>
      <vt:lpstr>PowerPoint 演示文稿</vt:lpstr>
      <vt:lpstr>PowerPoint 演示文稿</vt:lpstr>
      <vt:lpstr>坝址选择 </vt:lpstr>
      <vt:lpstr>坝型选择 </vt:lpstr>
      <vt:lpstr>主要建筑物 </vt:lpstr>
      <vt:lpstr>施工组织设计 </vt:lpstr>
      <vt:lpstr>工程建设工期56个月</vt:lpstr>
      <vt:lpstr>可行性研究报告的内容</vt:lpstr>
      <vt:lpstr>PowerPoint 演示文稿</vt:lpstr>
    </vt:vector>
  </TitlesOfParts>
  <Company>University of Melbourne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Civil &amp; Environmental Engineering</dc:creator>
  <cp:lastModifiedBy>飞光</cp:lastModifiedBy>
  <cp:revision>209</cp:revision>
  <cp:lastPrinted>2004-07-19T02:09:00Z</cp:lastPrinted>
  <dcterms:created xsi:type="dcterms:W3CDTF">2004-07-19T03:56:00Z</dcterms:created>
  <dcterms:modified xsi:type="dcterms:W3CDTF">2023-11-22T11:31:29Z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00E5DB93947F45F88E0222D4DF8A13E1</vt:lpwstr>
  </property>
  <property fmtid="{D5CDD505-2E9C-101B-9397-08002B2CF9AE}" pid="3" name="KSOProductBuildVer">
    <vt:lpwstr>2052-12.1.0.15712</vt:lpwstr>
  </property>
</Properties>
</file>