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6"/>
  </p:notesMasterIdLst>
  <p:sldIdLst>
    <p:sldId id="256" r:id="rId2"/>
    <p:sldId id="392" r:id="rId3"/>
    <p:sldId id="419" r:id="rId4"/>
    <p:sldId id="257" r:id="rId5"/>
    <p:sldId id="424" r:id="rId6"/>
    <p:sldId id="406" r:id="rId7"/>
    <p:sldId id="405" r:id="rId8"/>
    <p:sldId id="426" r:id="rId9"/>
    <p:sldId id="423" r:id="rId10"/>
    <p:sldId id="420" r:id="rId11"/>
    <p:sldId id="421" r:id="rId12"/>
    <p:sldId id="422" r:id="rId13"/>
    <p:sldId id="388" r:id="rId14"/>
    <p:sldId id="425"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FB7"/>
    <a:srgbClr val="45C1A4"/>
    <a:srgbClr val="4BACC6"/>
    <a:srgbClr val="B9D5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98" autoAdjust="0"/>
    <p:restoredTop sz="77736" autoAdjust="0"/>
  </p:normalViewPr>
  <p:slideViewPr>
    <p:cSldViewPr>
      <p:cViewPr varScale="1">
        <p:scale>
          <a:sx n="90" d="100"/>
          <a:sy n="90" d="100"/>
        </p:scale>
        <p:origin x="1526" y="62"/>
      </p:cViewPr>
      <p:guideLst>
        <p:guide orient="horz" pos="1484"/>
        <p:guide pos="2880"/>
      </p:guideLst>
    </p:cSldViewPr>
  </p:slideViewPr>
  <p:notesTextViewPr>
    <p:cViewPr>
      <p:scale>
        <a:sx n="1" d="1"/>
        <a:sy n="1" d="1"/>
      </p:scale>
      <p:origin x="0" y="0"/>
    </p:cViewPr>
  </p:notesTextViewPr>
  <p:sorterViewPr>
    <p:cViewPr>
      <p:scale>
        <a:sx n="95" d="100"/>
        <a:sy n="95" d="100"/>
      </p:scale>
      <p:origin x="0" y="99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47C87-C5D8-4AF4-AB76-964E69FF3B01}" type="datetimeFigureOut">
              <a:rPr lang="zh-CN" altLang="en-US" smtClean="0"/>
              <a:t>2018/5/8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799FA3-118A-4974-9F90-DC3A50DC61B0}" type="slidenum">
              <a:rPr lang="zh-CN" altLang="en-US" smtClean="0"/>
              <a:t>‹#›</a:t>
            </a:fld>
            <a:endParaRPr lang="zh-CN" altLang="en-US"/>
          </a:p>
        </p:txBody>
      </p:sp>
    </p:spTree>
    <p:extLst>
      <p:ext uri="{BB962C8B-B14F-4D97-AF65-F5344CB8AC3E}">
        <p14:creationId xmlns:p14="http://schemas.microsoft.com/office/powerpoint/2010/main" val="3718842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799FA3-118A-4974-9F90-DC3A50DC61B0}" type="slidenum">
              <a:rPr lang="zh-CN" altLang="en-US" smtClean="0"/>
              <a:t>1</a:t>
            </a:fld>
            <a:endParaRPr lang="zh-CN" altLang="en-US"/>
          </a:p>
        </p:txBody>
      </p:sp>
    </p:spTree>
    <p:extLst>
      <p:ext uri="{BB962C8B-B14F-4D97-AF65-F5344CB8AC3E}">
        <p14:creationId xmlns:p14="http://schemas.microsoft.com/office/powerpoint/2010/main" val="1088830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799FA3-118A-4974-9F90-DC3A50DC61B0}" type="slidenum">
              <a:rPr lang="zh-CN" altLang="en-US" smtClean="0"/>
              <a:t>2</a:t>
            </a:fld>
            <a:endParaRPr lang="zh-CN" altLang="en-US"/>
          </a:p>
        </p:txBody>
      </p:sp>
    </p:spTree>
    <p:extLst>
      <p:ext uri="{BB962C8B-B14F-4D97-AF65-F5344CB8AC3E}">
        <p14:creationId xmlns:p14="http://schemas.microsoft.com/office/powerpoint/2010/main" val="1004090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传统的稳定流和非稳定流公式都都是在各向同性且均质的条件下推导出的</a:t>
            </a:r>
            <a:endParaRPr lang="en-US" altLang="zh-CN" dirty="0" smtClean="0"/>
          </a:p>
          <a:p>
            <a:r>
              <a:rPr lang="zh-CN" altLang="en-US" dirty="0" smtClean="0"/>
              <a:t>但是在现实情况下，我们的自然条件必定是不满足上述假定的</a:t>
            </a:r>
            <a:endParaRPr lang="en-US" altLang="zh-CN" dirty="0" smtClean="0"/>
          </a:p>
          <a:p>
            <a:r>
              <a:rPr lang="zh-CN" altLang="en-US" dirty="0" smtClean="0"/>
              <a:t>为了反映空间变异性</a:t>
            </a:r>
            <a:endParaRPr lang="en-US" altLang="zh-CN" dirty="0" smtClean="0"/>
          </a:p>
          <a:p>
            <a:r>
              <a:rPr lang="zh-CN" altLang="en-US" dirty="0" smtClean="0"/>
              <a:t>我们一般有两种思路：</a:t>
            </a:r>
            <a:endParaRPr lang="en-US" altLang="zh-CN" dirty="0" smtClean="0"/>
          </a:p>
          <a:p>
            <a:r>
              <a:rPr lang="zh-CN" altLang="en-US" dirty="0" smtClean="0"/>
              <a:t>第一，我们可以密集采样，要钱，要时间，要人力，不可行</a:t>
            </a:r>
            <a:endParaRPr lang="en-US" altLang="zh-CN" dirty="0" smtClean="0"/>
          </a:p>
          <a:p>
            <a:r>
              <a:rPr lang="zh-CN" altLang="en-US" dirty="0" smtClean="0"/>
              <a:t>第二，我们可以采用随机变量的观点去研究变异性</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3</a:t>
            </a:fld>
            <a:endParaRPr lang="zh-CN" altLang="en-US"/>
          </a:p>
        </p:txBody>
      </p:sp>
    </p:spTree>
    <p:extLst>
      <p:ext uri="{BB962C8B-B14F-4D97-AF65-F5344CB8AC3E}">
        <p14:creationId xmlns:p14="http://schemas.microsoft.com/office/powerpoint/2010/main" val="921428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相关研究证实如渗透系数等地下水参数在空间上满足如对数正态分布等经典分布形式或</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在空间上满足平稳分布（或进行差分后满足平稳分布），即参数所服从的统计分布，一阶矩（均值）不变，不同位置的变量间的二阶矩（协方差）仅与两个变量间的距离有关</a:t>
            </a:r>
            <a:endParaRPr lang="en-US" altLang="zh-CN" dirty="0" smtClean="0"/>
          </a:p>
          <a:p>
            <a:r>
              <a:rPr lang="zh-CN" altLang="en-US" dirty="0" smtClean="0"/>
              <a:t>因此，我们</a:t>
            </a:r>
            <a:r>
              <a:rPr lang="zh-CN" altLang="en-US" dirty="0" smtClean="0"/>
              <a:t>可以通过分布的一阶矩、二阶矩对分布的空间结构进行</a:t>
            </a:r>
            <a:r>
              <a:rPr lang="zh-CN" altLang="en-US" dirty="0" smtClean="0"/>
              <a:t>描述</a:t>
            </a:r>
            <a:endParaRPr lang="en-US" altLang="zh-CN" dirty="0" smtClean="0"/>
          </a:p>
          <a:p>
            <a:r>
              <a:rPr lang="zh-CN" altLang="en-US" dirty="0" smtClean="0"/>
              <a:t>（注：这里的积分尺度是指：当两个空间随机变量间的距离大于该积分尺度时，两者间的相关关系可忽略不计）</a:t>
            </a:r>
            <a:endParaRPr lang="en-US" altLang="zh-CN" dirty="0" smtClean="0"/>
          </a:p>
          <a:p>
            <a:r>
              <a:rPr lang="zh-CN" altLang="en-US" dirty="0" smtClean="0"/>
              <a:t>于是，通过上述观点，我们将原来对于水文地质参数的估计问题转化到对于统计分布的矩估计上，这大大降低了参数估计的工作量</a:t>
            </a:r>
            <a:endParaRPr lang="en-US" altLang="zh-CN" dirty="0" smtClean="0"/>
          </a:p>
          <a:p>
            <a:r>
              <a:rPr lang="zh-CN" altLang="en-US" dirty="0" smtClean="0"/>
              <a:t>我们采用贝叶斯方法进行上述的矩估计</a:t>
            </a:r>
            <a:endParaRPr lang="en-US" altLang="zh-CN" dirty="0" smtClean="0"/>
          </a:p>
          <a:p>
            <a:r>
              <a:rPr lang="zh-CN" altLang="en-US" dirty="0" smtClean="0"/>
              <a:t>即 我们通过贝叶斯公式，通过似然函数、先验分布可以计算后验分布，也就是能计算在已有观测资料下的参数条件分布，然后对条件分布进行积分可获得边缘分布，而边缘分布较为完整地反映了单个参数的分布信息</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4</a:t>
            </a:fld>
            <a:endParaRPr lang="zh-CN" altLang="en-US"/>
          </a:p>
        </p:txBody>
      </p:sp>
    </p:spTree>
    <p:extLst>
      <p:ext uri="{BB962C8B-B14F-4D97-AF65-F5344CB8AC3E}">
        <p14:creationId xmlns:p14="http://schemas.microsoft.com/office/powerpoint/2010/main" val="963550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我们可以通过分布的一阶矩、二阶矩对分布的空间结构进行描述</a:t>
            </a:r>
            <a:endParaRPr lang="en-US" altLang="zh-CN" dirty="0" smtClean="0"/>
          </a:p>
          <a:p>
            <a:r>
              <a:rPr lang="zh-CN" altLang="en-US" dirty="0" smtClean="0"/>
              <a:t>于是，通过上述观点，我们将原来对于水文地质参数的估计问题转化到对于统计分布的矩估计上，这大大降低了参数估计的工作量</a:t>
            </a:r>
            <a:endParaRPr lang="en-US" altLang="zh-CN" dirty="0" smtClean="0"/>
          </a:p>
          <a:p>
            <a:r>
              <a:rPr lang="zh-CN" altLang="en-US" dirty="0" smtClean="0"/>
              <a:t>我们采用贝叶斯方法进行上述的矩估计</a:t>
            </a:r>
            <a:endParaRPr lang="en-US" altLang="zh-CN" dirty="0" smtClean="0"/>
          </a:p>
          <a:p>
            <a:r>
              <a:rPr lang="zh-CN" altLang="en-US" dirty="0" smtClean="0"/>
              <a:t>即 我们通过贝叶斯公式，通过似然函数、先验分布可以计算后验分布，也就是能计算在已有观测资料下的参数条件分布，然后对条件分布进行积分可获得边缘分布，而边缘分布较为完整地反映了单个参数的分布信息</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5</a:t>
            </a:fld>
            <a:endParaRPr lang="zh-CN" altLang="en-US"/>
          </a:p>
        </p:txBody>
      </p:sp>
    </p:spTree>
    <p:extLst>
      <p:ext uri="{BB962C8B-B14F-4D97-AF65-F5344CB8AC3E}">
        <p14:creationId xmlns:p14="http://schemas.microsoft.com/office/powerpoint/2010/main" val="1890304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对于先验分布，就像每次掷骰子我们总是会先假定正反面概率一样，</a:t>
            </a:r>
            <a:endParaRPr lang="en-US" altLang="zh-CN" dirty="0" smtClean="0"/>
          </a:p>
          <a:p>
            <a:r>
              <a:rPr lang="zh-CN" altLang="en-US" dirty="0" smtClean="0"/>
              <a:t>对于无任何信息的地层，我们可以假定地层的变异性（</a:t>
            </a:r>
            <a:r>
              <a:rPr lang="en-US" altLang="zh-CN" dirty="0" smtClean="0"/>
              <a:t>Variance</a:t>
            </a:r>
            <a:r>
              <a:rPr lang="zh-CN" altLang="en-US" dirty="0" smtClean="0"/>
              <a:t>，方差）和积分尺度（</a:t>
            </a:r>
            <a:r>
              <a:rPr lang="en-US" altLang="zh-CN" dirty="0" smtClean="0"/>
              <a:t>Integral Scale</a:t>
            </a:r>
            <a:r>
              <a:rPr lang="zh-CN" altLang="en-US" dirty="0" smtClean="0"/>
              <a:t>）满足如图的均匀分布</a:t>
            </a:r>
            <a:endParaRPr lang="en-US" altLang="zh-CN" dirty="0" smtClean="0"/>
          </a:p>
          <a:p>
            <a:r>
              <a:rPr lang="zh-CN" altLang="en-US" dirty="0" smtClean="0"/>
              <a:t>当然，如果有相似地质条件的地层资料或历史资料，我们可以通过该资料生成先验分布</a:t>
            </a:r>
            <a:endParaRPr lang="zh-CN" altLang="en-US" dirty="0"/>
          </a:p>
        </p:txBody>
      </p:sp>
      <p:sp>
        <p:nvSpPr>
          <p:cNvPr id="4" name="灯片编号占位符 3"/>
          <p:cNvSpPr>
            <a:spLocks noGrp="1"/>
          </p:cNvSpPr>
          <p:nvPr>
            <p:ph type="sldNum" sz="quarter" idx="10"/>
          </p:nvPr>
        </p:nvSpPr>
        <p:spPr/>
        <p:txBody>
          <a:bodyPr/>
          <a:lstStyle/>
          <a:p>
            <a:fld id="{2A799FA3-118A-4974-9F90-DC3A50DC61B0}" type="slidenum">
              <a:rPr lang="zh-CN" altLang="en-US" smtClean="0"/>
              <a:t>6</a:t>
            </a:fld>
            <a:endParaRPr lang="zh-CN" altLang="en-US"/>
          </a:p>
        </p:txBody>
      </p:sp>
    </p:spTree>
    <p:extLst>
      <p:ext uri="{BB962C8B-B14F-4D97-AF65-F5344CB8AC3E}">
        <p14:creationId xmlns:p14="http://schemas.microsoft.com/office/powerpoint/2010/main" val="1481895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其次，我们处理似然函数</a:t>
            </a:r>
            <a:endParaRPr lang="en-US" altLang="zh-CN" dirty="0" smtClean="0"/>
          </a:p>
          <a:p>
            <a:r>
              <a:rPr lang="zh-CN" altLang="en-US" dirty="0" smtClean="0"/>
              <a:t>似然函数的含义是指在一个特定的参数组合下，出现某一观测的概率</a:t>
            </a:r>
            <a:endParaRPr lang="en-US" altLang="zh-CN" dirty="0" smtClean="0"/>
          </a:p>
          <a:p>
            <a:r>
              <a:rPr lang="zh-CN" altLang="en-US" dirty="0" smtClean="0"/>
              <a:t>因此，我们要做的工作是：通过采样生成给定参数组合下，关于观测的概率分布</a:t>
            </a:r>
            <a:endParaRPr lang="en-US" altLang="zh-CN" dirty="0" smtClean="0"/>
          </a:p>
          <a:p>
            <a:r>
              <a:rPr lang="zh-CN" altLang="en-US" dirty="0" smtClean="0"/>
              <a:t>生成分布，需要足量的数据；生成数据的方式可采取相关地下水模型进行关于抽水试验的模拟，</a:t>
            </a:r>
            <a:endParaRPr lang="en-US" altLang="zh-CN" dirty="0" smtClean="0"/>
          </a:p>
          <a:p>
            <a:r>
              <a:rPr lang="zh-CN" altLang="en-US" dirty="0" smtClean="0"/>
              <a:t>如图就是在给定方差</a:t>
            </a:r>
            <a:r>
              <a:rPr lang="en-US" altLang="zh-CN" dirty="0" smtClean="0"/>
              <a:t>V=1</a:t>
            </a:r>
            <a:r>
              <a:rPr lang="zh-CN" altLang="en-US" dirty="0" smtClean="0"/>
              <a:t>的情况下，进行</a:t>
            </a:r>
            <a:r>
              <a:rPr lang="en-US" altLang="zh-CN" dirty="0" smtClean="0"/>
              <a:t>1000</a:t>
            </a:r>
            <a:r>
              <a:rPr lang="zh-CN" altLang="en-US" dirty="0" smtClean="0"/>
              <a:t>次模拟的结果</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7</a:t>
            </a:fld>
            <a:endParaRPr lang="zh-CN" altLang="en-US"/>
          </a:p>
        </p:txBody>
      </p:sp>
    </p:spTree>
    <p:extLst>
      <p:ext uri="{BB962C8B-B14F-4D97-AF65-F5344CB8AC3E}">
        <p14:creationId xmlns:p14="http://schemas.microsoft.com/office/powerpoint/2010/main" val="1821165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进一步，我们对方差</a:t>
            </a:r>
            <a:r>
              <a:rPr lang="en-US" altLang="zh-CN" dirty="0" smtClean="0"/>
              <a:t>V</a:t>
            </a:r>
            <a:r>
              <a:rPr lang="zh-CN" altLang="en-US" dirty="0" smtClean="0"/>
              <a:t>进行变动，并对模拟结果进行平均，可得到如上图像</a:t>
            </a:r>
            <a:endParaRPr lang="en-US" altLang="zh-CN" dirty="0" smtClean="0"/>
          </a:p>
          <a:p>
            <a:r>
              <a:rPr lang="zh-CN" altLang="en-US" dirty="0" smtClean="0"/>
              <a:t>如果通过上述图像，生成我们最初所说的在给定参数组合下，关于观测的概率分布呢？</a:t>
            </a:r>
            <a:endParaRPr lang="en-US" altLang="zh-CN" dirty="0" smtClean="0"/>
          </a:p>
          <a:p>
            <a:r>
              <a:rPr lang="zh-CN" altLang="en-US" dirty="0" smtClean="0"/>
              <a:t>我们可以像图中这样，画一条竖线，量出该竖线与对应参数组合所对应的观测范围的长度，最后考虑一个加权平均</a:t>
            </a:r>
            <a:endParaRPr lang="en-US" altLang="zh-CN" dirty="0" smtClean="0"/>
          </a:p>
          <a:p>
            <a:r>
              <a:rPr lang="zh-CN" altLang="en-US" dirty="0" smtClean="0"/>
              <a:t>将上述方法遍历所有的参数组合，我们就可以得到：</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8</a:t>
            </a:fld>
            <a:endParaRPr lang="zh-CN" altLang="en-US"/>
          </a:p>
        </p:txBody>
      </p:sp>
    </p:spTree>
    <p:extLst>
      <p:ext uri="{BB962C8B-B14F-4D97-AF65-F5344CB8AC3E}">
        <p14:creationId xmlns:p14="http://schemas.microsoft.com/office/powerpoint/2010/main" val="2559870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如图的概率密度曲线</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9</a:t>
            </a:fld>
            <a:endParaRPr lang="zh-CN" altLang="en-US"/>
          </a:p>
        </p:txBody>
      </p:sp>
    </p:spTree>
    <p:extLst>
      <p:ext uri="{BB962C8B-B14F-4D97-AF65-F5344CB8AC3E}">
        <p14:creationId xmlns:p14="http://schemas.microsoft.com/office/powerpoint/2010/main" val="3250115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最后的后验分布，我们通过贝叶斯公式进行迭代计算（随着模拟数据</a:t>
            </a:r>
            <a:r>
              <a:rPr lang="en-US" altLang="zh-CN" dirty="0" smtClean="0"/>
              <a:t>/</a:t>
            </a:r>
            <a:r>
              <a:rPr lang="zh-CN" altLang="en-US" dirty="0" smtClean="0"/>
              <a:t>观测数据的增长，不断更新我们的先验分布），可以输出如图的二维图像</a:t>
            </a:r>
            <a:endParaRPr lang="en-US" altLang="zh-CN" dirty="0" smtClean="0"/>
          </a:p>
          <a:p>
            <a:r>
              <a:rPr lang="zh-CN" altLang="en-US" dirty="0" smtClean="0"/>
              <a:t>其中，红色区域表示参数组合出现概率最高的范围，我们最终的输出结果可取该范围的参数值</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10</a:t>
            </a:fld>
            <a:endParaRPr lang="zh-CN" altLang="en-US"/>
          </a:p>
        </p:txBody>
      </p:sp>
    </p:spTree>
    <p:extLst>
      <p:ext uri="{BB962C8B-B14F-4D97-AF65-F5344CB8AC3E}">
        <p14:creationId xmlns:p14="http://schemas.microsoft.com/office/powerpoint/2010/main" val="1974571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11</a:t>
            </a:fld>
            <a:endParaRPr lang="zh-CN" altLang="en-US"/>
          </a:p>
        </p:txBody>
      </p:sp>
    </p:spTree>
    <p:extLst>
      <p:ext uri="{BB962C8B-B14F-4D97-AF65-F5344CB8AC3E}">
        <p14:creationId xmlns:p14="http://schemas.microsoft.com/office/powerpoint/2010/main" val="110485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12</a:t>
            </a:fld>
            <a:endParaRPr lang="zh-CN" altLang="en-US"/>
          </a:p>
        </p:txBody>
      </p:sp>
    </p:spTree>
    <p:extLst>
      <p:ext uri="{BB962C8B-B14F-4D97-AF65-F5344CB8AC3E}">
        <p14:creationId xmlns:p14="http://schemas.microsoft.com/office/powerpoint/2010/main" val="1362035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318057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32657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2412683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1225606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内容占位符 5"/>
          <p:cNvSpPr>
            <a:spLocks noGrp="1"/>
          </p:cNvSpPr>
          <p:nvPr>
            <p:ph sz="quarter" idx="4"/>
          </p:nvPr>
        </p:nvSpPr>
        <p:spPr>
          <a:xfrm>
            <a:off x="4629150" y="1878806"/>
            <a:ext cx="3887391" cy="2763441"/>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r>
              <a:rPr lang="en-US" altLang="zh-CN" smtClean="0"/>
              <a:t>1</a:t>
            </a:r>
            <a:endParaRPr lang="zh-CN" altLang="en-US"/>
          </a:p>
        </p:txBody>
      </p:sp>
      <p:sp>
        <p:nvSpPr>
          <p:cNvPr id="9" name="灯片编号占位符 8"/>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2201102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smtClean="0"/>
              <a:t>1</a:t>
            </a:r>
            <a:endParaRPr lang="zh-CN" altLang="en-US"/>
          </a:p>
        </p:txBody>
      </p:sp>
      <p:sp>
        <p:nvSpPr>
          <p:cNvPr id="5" name="灯片编号占位符 4"/>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25309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en-US" altLang="zh-CN" smtClean="0"/>
              <a:t>1</a:t>
            </a:r>
            <a:endParaRPr lang="zh-CN" altLang="en-US"/>
          </a:p>
        </p:txBody>
      </p:sp>
      <p:sp>
        <p:nvSpPr>
          <p:cNvPr id="4" name="灯片编号占位符 3"/>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636547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292803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1210341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657246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660019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526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zh-CN" smtClean="0"/>
              <a:t>1</a:t>
            </a:r>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5CF4CD4-F5A4-4E64-AC35-A97AD4A95E66}" type="slidenum">
              <a:rPr lang="zh-CN" altLang="en-US" smtClean="0"/>
              <a:pPr/>
              <a:t>‹#›</a:t>
            </a:fld>
            <a:r>
              <a:rPr lang="en-US" altLang="zh-CN" dirty="0" smtClean="0"/>
              <a:t>/17</a:t>
            </a:r>
            <a:endParaRPr lang="zh-CN" altLang="en-US" dirty="0"/>
          </a:p>
        </p:txBody>
      </p:sp>
    </p:spTree>
    <p:extLst>
      <p:ext uri="{BB962C8B-B14F-4D97-AF65-F5344CB8AC3E}">
        <p14:creationId xmlns:p14="http://schemas.microsoft.com/office/powerpoint/2010/main" val="28009203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5967" y="2493191"/>
            <a:ext cx="8054641" cy="646331"/>
          </a:xfrm>
          <a:prstGeom prst="rect">
            <a:avLst/>
          </a:prstGeom>
        </p:spPr>
        <p:txBody>
          <a:bodyPr wrap="square">
            <a:spAutoFit/>
          </a:bodyPr>
          <a:lstStyle/>
          <a:p>
            <a:pPr fontAlgn="auto">
              <a:spcBef>
                <a:spcPts val="0"/>
              </a:spcBef>
              <a:spcAft>
                <a:spcPts val="0"/>
              </a:spcAft>
              <a:defRPr/>
            </a:pPr>
            <a:r>
              <a:rPr lang="en-US" altLang="zh-CN" b="1" dirty="0" smtClean="0">
                <a:latin typeface="微软雅黑" panose="020B0503020204020204" pitchFamily="34" charset="-122"/>
                <a:ea typeface="微软雅黑" panose="020B0503020204020204" pitchFamily="34" charset="-122"/>
              </a:rPr>
              <a:t>Estimation</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on</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the</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spatial</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structure</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of</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groundwater</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parameters</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through</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Bayesian</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method</a:t>
            </a:r>
            <a:endParaRPr lang="en-US" dirty="0">
              <a:latin typeface="微软雅黑" panose="020B0503020204020204" pitchFamily="34" charset="-122"/>
              <a:ea typeface="微软雅黑" panose="020B0503020204020204" pitchFamily="34" charset="-122"/>
              <a:cs typeface="Open Sans Light" pitchFamily="34" charset="0"/>
            </a:endParaRPr>
          </a:p>
        </p:txBody>
      </p:sp>
      <p:sp>
        <p:nvSpPr>
          <p:cNvPr id="6" name="Rectangle 5"/>
          <p:cNvSpPr/>
          <p:nvPr/>
        </p:nvSpPr>
        <p:spPr>
          <a:xfrm>
            <a:off x="2699792" y="3579862"/>
            <a:ext cx="4083169" cy="338554"/>
          </a:xfrm>
          <a:prstGeom prst="rect">
            <a:avLst/>
          </a:prstGeom>
        </p:spPr>
        <p:txBody>
          <a:bodyPr wrap="none">
            <a:spAutoFit/>
          </a:bodyPr>
          <a:lstStyle/>
          <a:p>
            <a:pPr fontAlgn="auto">
              <a:spcBef>
                <a:spcPts val="0"/>
              </a:spcBef>
              <a:spcAft>
                <a:spcPts val="0"/>
              </a:spcAft>
              <a:defRPr/>
            </a:pPr>
            <a:r>
              <a:rPr lang="zh-CN" altLang="en-US" sz="1600" dirty="0" smtClean="0">
                <a:latin typeface="楷体" panose="02010609060101010101" pitchFamily="49" charset="-122"/>
                <a:ea typeface="楷体" panose="02010609060101010101" pitchFamily="49" charset="-122"/>
                <a:cs typeface="Open Sans Light" pitchFamily="34" charset="0"/>
              </a:rPr>
              <a:t>小组成员：黄科翰、马泽维、李瑞栋、王昭</a:t>
            </a:r>
            <a:endParaRPr lang="en-US" sz="1600" dirty="0">
              <a:latin typeface="楷体" panose="02010609060101010101" pitchFamily="49" charset="-122"/>
              <a:ea typeface="楷体" panose="02010609060101010101" pitchFamily="49" charset="-122"/>
              <a:cs typeface="Open Sans Light" pitchFamily="34" charset="0"/>
            </a:endParaRPr>
          </a:p>
        </p:txBody>
      </p:sp>
      <p:sp>
        <p:nvSpPr>
          <p:cNvPr id="8" name="Rectangle 4"/>
          <p:cNvSpPr/>
          <p:nvPr/>
        </p:nvSpPr>
        <p:spPr>
          <a:xfrm>
            <a:off x="835968" y="1860054"/>
            <a:ext cx="8054641" cy="584775"/>
          </a:xfrm>
          <a:prstGeom prst="rect">
            <a:avLst/>
          </a:prstGeom>
        </p:spPr>
        <p:txBody>
          <a:bodyPr wrap="none">
            <a:spAutoFit/>
          </a:bodyPr>
          <a:lstStyle/>
          <a:p>
            <a:pPr fontAlgn="auto">
              <a:spcBef>
                <a:spcPts val="0"/>
              </a:spcBef>
              <a:spcAft>
                <a:spcPts val="0"/>
              </a:spcAft>
              <a:defRPr/>
            </a:pPr>
            <a:r>
              <a:rPr lang="zh-CN" altLang="en-US" sz="3200" b="1" dirty="0" smtClean="0">
                <a:latin typeface="微软雅黑" panose="020B0503020204020204" pitchFamily="34" charset="-122"/>
                <a:ea typeface="微软雅黑" panose="020B0503020204020204" pitchFamily="34" charset="-122"/>
              </a:rPr>
              <a:t>基于贝叶斯方法的地下水</a:t>
            </a:r>
            <a:r>
              <a:rPr lang="zh-CN" altLang="en-US" sz="3200" b="1" smtClean="0">
                <a:latin typeface="微软雅黑" panose="020B0503020204020204" pitchFamily="34" charset="-122"/>
                <a:ea typeface="微软雅黑" panose="020B0503020204020204" pitchFamily="34" charset="-122"/>
              </a:rPr>
              <a:t>参数空间结构估计</a:t>
            </a:r>
            <a:endParaRPr lang="en-US" sz="3200" dirty="0">
              <a:latin typeface="微软雅黑" panose="020B0503020204020204" pitchFamily="34" charset="-122"/>
              <a:ea typeface="微软雅黑" panose="020B0503020204020204" pitchFamily="34" charset="-122"/>
              <a:cs typeface="Open Sans Light" pitchFamily="34" charset="0"/>
            </a:endParaRPr>
          </a:p>
        </p:txBody>
      </p:sp>
    </p:spTree>
    <p:extLst>
      <p:ext uri="{BB962C8B-B14F-4D97-AF65-F5344CB8AC3E}">
        <p14:creationId xmlns:p14="http://schemas.microsoft.com/office/powerpoint/2010/main" val="1718991807"/>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2699792" y="627534"/>
            <a:ext cx="4680520" cy="50405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800" b="1" kern="0" dirty="0" smtClean="0">
                <a:latin typeface="Microsoft YaHei UI" panose="020B0503020204020204" pitchFamily="34" charset="-122"/>
                <a:ea typeface="Microsoft YaHei UI" panose="020B0503020204020204" pitchFamily="34" charset="-122"/>
              </a:rPr>
              <a:t>研究背景</a:t>
            </a:r>
            <a:endParaRPr lang="en-US" altLang="zh-CN" sz="1800" b="1"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800" b="1"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9" name="Rectangle 3"/>
          <p:cNvSpPr txBox="1">
            <a:spLocks noChangeArrowheads="1"/>
          </p:cNvSpPr>
          <p:nvPr/>
        </p:nvSpPr>
        <p:spPr>
          <a:xfrm>
            <a:off x="3069069" y="1060322"/>
            <a:ext cx="8424936" cy="91914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均质假定：参数估计回顾</a:t>
            </a:r>
            <a:endParaRPr lang="zh-CN" altLang="en-US" sz="1400" kern="0" dirty="0">
              <a:latin typeface="Microsoft YaHei UI" panose="020B0503020204020204" pitchFamily="34" charset="-122"/>
              <a:ea typeface="Microsoft YaHei UI" panose="020B0503020204020204" pitchFamily="34" charset="-122"/>
            </a:endParaRPr>
          </a:p>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走向分布：贝叶斯方法</a:t>
            </a:r>
            <a:endParaRPr lang="en-US" altLang="zh-CN" sz="14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2" name="Rectangle 3"/>
          <p:cNvSpPr txBox="1">
            <a:spLocks noChangeArrowheads="1"/>
          </p:cNvSpPr>
          <p:nvPr/>
        </p:nvSpPr>
        <p:spPr>
          <a:xfrm>
            <a:off x="2700039" y="1723878"/>
            <a:ext cx="4680520" cy="50405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800" b="1" kern="0" dirty="0" smtClean="0">
                <a:latin typeface="Microsoft YaHei UI" panose="020B0503020204020204" pitchFamily="34" charset="-122"/>
                <a:ea typeface="Microsoft YaHei UI" panose="020B0503020204020204" pitchFamily="34" charset="-122"/>
              </a:rPr>
              <a:t>研究内容</a:t>
            </a:r>
            <a:endParaRPr lang="en-US" altLang="zh-CN" sz="1800" b="1"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800" b="1"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3" name="Rectangle 3"/>
          <p:cNvSpPr txBox="1">
            <a:spLocks noChangeArrowheads="1"/>
          </p:cNvSpPr>
          <p:nvPr/>
        </p:nvSpPr>
        <p:spPr>
          <a:xfrm>
            <a:off x="3069316" y="2156666"/>
            <a:ext cx="8424936" cy="91914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先验分布</a:t>
            </a:r>
          </a:p>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似然函数</a:t>
            </a:r>
            <a:endParaRPr lang="zh-CN" altLang="en-US" sz="1400" kern="0" dirty="0">
              <a:latin typeface="Microsoft YaHei UI" panose="020B0503020204020204" pitchFamily="34" charset="-122"/>
              <a:ea typeface="Microsoft YaHei UI" panose="020B0503020204020204" pitchFamily="34" charset="-122"/>
            </a:endParaRPr>
          </a:p>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后验分布</a:t>
            </a:r>
            <a:endParaRPr lang="en-US" altLang="zh-CN" sz="14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706006" y="3092030"/>
            <a:ext cx="4680520" cy="50405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800" b="1" kern="0" dirty="0" smtClean="0">
                <a:latin typeface="Microsoft YaHei UI" panose="020B0503020204020204" pitchFamily="34" charset="-122"/>
                <a:ea typeface="Microsoft YaHei UI" panose="020B0503020204020204" pitchFamily="34" charset="-122"/>
              </a:rPr>
              <a:t>研究方法及预期成果</a:t>
            </a:r>
            <a:endParaRPr lang="en-US" altLang="zh-CN" sz="1800" b="1"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800" b="1"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5" name="Rectangle 3"/>
          <p:cNvSpPr txBox="1">
            <a:spLocks noChangeArrowheads="1"/>
          </p:cNvSpPr>
          <p:nvPr/>
        </p:nvSpPr>
        <p:spPr>
          <a:xfrm>
            <a:off x="3075283" y="3524818"/>
            <a:ext cx="8424936" cy="91914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技术路线</a:t>
            </a:r>
            <a:endParaRPr lang="zh-CN" altLang="en-US" sz="1400" kern="0" dirty="0">
              <a:latin typeface="Microsoft YaHei UI" panose="020B0503020204020204" pitchFamily="34" charset="-122"/>
              <a:ea typeface="Microsoft YaHei UI" panose="020B0503020204020204" pitchFamily="34" charset="-122"/>
            </a:endParaRPr>
          </a:p>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预期成果</a:t>
            </a:r>
            <a:endParaRPr lang="en-US" altLang="zh-CN"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8593065"/>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研究背景</a:t>
            </a:r>
            <a:endParaRPr lang="zh-CN" altLang="en-US" sz="1600" b="1" dirty="0">
              <a:latin typeface="Microsoft YaHei UI" panose="020B0503020204020204" pitchFamily="34" charset="-122"/>
              <a:ea typeface="Microsoft YaHei UI" panose="020B0503020204020204" pitchFamily="34" charset="-122"/>
            </a:endParaRPr>
          </a:p>
        </p:txBody>
      </p:sp>
      <p:sp>
        <p:nvSpPr>
          <p:cNvPr id="21" name="矩形 20"/>
          <p:cNvSpPr/>
          <p:nvPr/>
        </p:nvSpPr>
        <p:spPr>
          <a:xfrm>
            <a:off x="1539356" y="473690"/>
            <a:ext cx="2339102"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均质假定：参数估计回顾</a:t>
            </a:r>
            <a:endParaRPr lang="zh-CN" altLang="en-US" sz="1200" dirty="0">
              <a:latin typeface="Microsoft YaHei UI" panose="020B0503020204020204" pitchFamily="34" charset="-122"/>
              <a:ea typeface="Microsoft YaHei UI" panose="020B0503020204020204" pitchFamily="34" charset="-122"/>
            </a:endParaRPr>
          </a:p>
        </p:txBody>
      </p:sp>
      <p:sp>
        <p:nvSpPr>
          <p:cNvPr id="22" name="矩形 21"/>
          <p:cNvSpPr/>
          <p:nvPr/>
        </p:nvSpPr>
        <p:spPr>
          <a:xfrm>
            <a:off x="3650412" y="470302"/>
            <a:ext cx="218521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走向分布：贝叶斯方法</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3" name="文本框 2"/>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1</a:t>
            </a:r>
            <a:endParaRPr lang="zh-CN" altLang="en-US" sz="1200" dirty="0">
              <a:latin typeface="Times New Roman" panose="02020603050405020304" pitchFamily="18" charset="0"/>
              <a:cs typeface="Times New Roman" panose="02020603050405020304" pitchFamily="18" charset="0"/>
            </a:endParaRPr>
          </a:p>
        </p:txBody>
      </p:sp>
      <p:sp>
        <p:nvSpPr>
          <p:cNvPr id="11"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均质假定：参数估计回顾</a:t>
            </a:r>
            <a:endParaRPr lang="en-US" altLang="zh-CN" b="1"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2" name="Rectangle 3"/>
          <p:cNvSpPr txBox="1">
            <a:spLocks noChangeArrowheads="1"/>
          </p:cNvSpPr>
          <p:nvPr/>
        </p:nvSpPr>
        <p:spPr>
          <a:xfrm>
            <a:off x="251520" y="1580232"/>
            <a:ext cx="5040560" cy="91951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b="1" kern="0" dirty="0" smtClean="0">
                <a:latin typeface="Microsoft YaHei UI" panose="020B0503020204020204" pitchFamily="34" charset="-122"/>
                <a:ea typeface="Microsoft YaHei UI" panose="020B0503020204020204" pitchFamily="34" charset="-122"/>
              </a:rPr>
              <a:t>稳定流：</a:t>
            </a:r>
            <a:r>
              <a:rPr lang="en-US" altLang="zh-CN" sz="1600" b="1" kern="0" dirty="0" err="1" smtClean="0">
                <a:latin typeface="Microsoft YaHei UI" panose="020B0503020204020204" pitchFamily="34" charset="-122"/>
                <a:ea typeface="Microsoft YaHei UI" panose="020B0503020204020204" pitchFamily="34" charset="-122"/>
              </a:rPr>
              <a:t>Dupuit-Thiem</a:t>
            </a:r>
            <a:r>
              <a:rPr lang="zh-CN" altLang="en-US" sz="1600" b="1" kern="0" dirty="0" smtClean="0">
                <a:latin typeface="Microsoft YaHei UI" panose="020B0503020204020204" pitchFamily="34" charset="-122"/>
                <a:ea typeface="Microsoft YaHei UI" panose="020B0503020204020204" pitchFamily="34" charset="-122"/>
              </a:rPr>
              <a:t>公式</a:t>
            </a: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r>
              <a:rPr lang="en-US" altLang="zh-CN" sz="1800" b="1" kern="0" dirty="0">
                <a:latin typeface="Microsoft YaHei UI" panose="020B0503020204020204" pitchFamily="34" charset="-122"/>
                <a:ea typeface="Microsoft YaHei UI" panose="020B0503020204020204" pitchFamily="34" charset="-122"/>
              </a:rPr>
              <a:t> </a:t>
            </a:r>
            <a:r>
              <a:rPr lang="en-US" altLang="zh-CN" sz="1800" b="1"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r>
              <a:rPr lang="zh-CN" altLang="en-US" sz="1600" b="1" kern="0" dirty="0" smtClean="0">
                <a:latin typeface="Microsoft YaHei UI" panose="020B0503020204020204" pitchFamily="34" charset="-122"/>
                <a:ea typeface="Microsoft YaHei UI" panose="020B0503020204020204" pitchFamily="34" charset="-122"/>
              </a:rPr>
              <a:t>非稳定流：</a:t>
            </a:r>
            <a:r>
              <a:rPr lang="en-US" altLang="zh-CN" sz="1600" b="1" kern="0" dirty="0" err="1" smtClean="0">
                <a:latin typeface="Microsoft YaHei UI" panose="020B0503020204020204" pitchFamily="34" charset="-122"/>
                <a:ea typeface="Microsoft YaHei UI" panose="020B0503020204020204" pitchFamily="34" charset="-122"/>
              </a:rPr>
              <a:t>Theis</a:t>
            </a:r>
            <a:r>
              <a:rPr lang="zh-CN" altLang="en-US" sz="1600" b="1" kern="0" dirty="0" smtClean="0">
                <a:latin typeface="Microsoft YaHei UI" panose="020B0503020204020204" pitchFamily="34" charset="-122"/>
                <a:ea typeface="Microsoft YaHei UI" panose="020B0503020204020204" pitchFamily="34" charset="-122"/>
              </a:rPr>
              <a:t>公式</a:t>
            </a:r>
            <a:r>
              <a:rPr lang="en-US" altLang="zh-CN" sz="1600" b="1" kern="0" dirty="0" smtClean="0">
                <a:latin typeface="Microsoft YaHei UI" panose="020B0503020204020204" pitchFamily="34" charset="-122"/>
                <a:ea typeface="Microsoft YaHei UI" panose="020B0503020204020204" pitchFamily="34" charset="-122"/>
              </a:rPr>
              <a:t>/Jacob</a:t>
            </a:r>
            <a:r>
              <a:rPr lang="zh-CN" altLang="en-US" sz="1600" b="1" kern="0" dirty="0" smtClean="0">
                <a:latin typeface="Microsoft YaHei UI" panose="020B0503020204020204" pitchFamily="34" charset="-122"/>
                <a:ea typeface="Microsoft YaHei UI" panose="020B0503020204020204" pitchFamily="34" charset="-122"/>
              </a:rPr>
              <a:t>公式</a:t>
            </a: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1187624" y="2058963"/>
                <a:ext cx="2132571" cy="8305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=1.366</m:t>
                      </m:r>
                      <m:r>
                        <a:rPr lang="en-US" altLang="zh-CN" b="0" i="1" smtClean="0">
                          <a:latin typeface="Cambria Math" panose="02040503050406030204" pitchFamily="18" charset="0"/>
                        </a:rPr>
                        <m:t>𝐾</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𝑤</m:t>
                              </m:r>
                            </m:sub>
                            <m:sup>
                              <m:r>
                                <a:rPr lang="en-US" altLang="zh-CN" b="0" i="1" smtClean="0">
                                  <a:latin typeface="Cambria Math" panose="02040503050406030204" pitchFamily="18" charset="0"/>
                                </a:rPr>
                                <m:t>2</m:t>
                              </m:r>
                            </m:sup>
                          </m:sSubSup>
                        </m:num>
                        <m:den>
                          <m:r>
                            <m:rPr>
                              <m:sty m:val="p"/>
                            </m:rPr>
                            <a:rPr lang="en-US" altLang="zh-CN" b="0" i="0" smtClean="0">
                              <a:latin typeface="Cambria Math" panose="02040503050406030204" pitchFamily="18" charset="0"/>
                            </a:rPr>
                            <m:t>lg</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0</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𝑤</m:t>
                                  </m:r>
                                </m:sub>
                              </m:sSub>
                            </m:den>
                          </m:f>
                          <m:r>
                            <a:rPr lang="en-US" altLang="zh-CN" b="0" i="1" smtClean="0">
                              <a:latin typeface="Cambria Math" panose="02040503050406030204" pitchFamily="18" charset="0"/>
                            </a:rPr>
                            <m:t>)</m:t>
                          </m:r>
                        </m:den>
                      </m:f>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187624" y="2058963"/>
                <a:ext cx="2132571" cy="83054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1187624" y="3795886"/>
                <a:ext cx="1481816"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𝑄</m:t>
                          </m:r>
                        </m:num>
                        <m:den>
                          <m:r>
                            <a:rPr lang="en-US" altLang="zh-CN" b="0" i="1" smtClean="0">
                              <a:latin typeface="Cambria Math" panose="02040503050406030204" pitchFamily="18" charset="0"/>
                            </a:rPr>
                            <m:t>4</m:t>
                          </m:r>
                          <m:r>
                            <a:rPr lang="zh-CN" altLang="en-US" b="0" i="1" smtClean="0">
                              <a:latin typeface="Cambria Math" panose="02040503050406030204" pitchFamily="18" charset="0"/>
                            </a:rPr>
                            <m:t>𝜋</m:t>
                          </m:r>
                          <m:r>
                            <a:rPr lang="en-US" altLang="zh-CN" b="0" i="1" smtClean="0">
                              <a:latin typeface="Cambria Math" panose="02040503050406030204" pitchFamily="18" charset="0"/>
                            </a:rPr>
                            <m:t>𝑇</m:t>
                          </m:r>
                        </m:den>
                      </m:f>
                      <m:r>
                        <a:rPr lang="en-US" altLang="zh-CN" b="0" i="1" smtClean="0">
                          <a:latin typeface="Cambria Math" panose="02040503050406030204" pitchFamily="18" charset="0"/>
                        </a:rPr>
                        <m:t>𝑊</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187624" y="3795886"/>
                <a:ext cx="1481816" cy="52046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2980457" y="3795885"/>
                <a:ext cx="3145092"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0.183</m:t>
                          </m:r>
                          <m:r>
                            <a:rPr lang="en-US" altLang="zh-CN" b="0" i="1" smtClean="0">
                              <a:latin typeface="Cambria Math" panose="02040503050406030204" pitchFamily="18" charset="0"/>
                            </a:rPr>
                            <m:t>𝑄</m:t>
                          </m:r>
                        </m:num>
                        <m:den>
                          <m:r>
                            <a:rPr lang="en-US" altLang="zh-CN" b="0" i="1" smtClean="0">
                              <a:latin typeface="Cambria Math" panose="02040503050406030204" pitchFamily="18" charset="0"/>
                            </a:rPr>
                            <m:t>𝑇</m:t>
                          </m:r>
                        </m:den>
                      </m:f>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lg</m:t>
                          </m:r>
                        </m:fName>
                        <m:e>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2.25</m:t>
                                  </m:r>
                                </m:num>
                                <m:den>
                                  <m:r>
                                    <a:rPr lang="en-US" altLang="zh-CN" b="0" i="1" smtClean="0">
                                      <a:latin typeface="Cambria Math" panose="02040503050406030204" pitchFamily="18" charset="0"/>
                                    </a:rPr>
                                    <m:t>4</m:t>
                                  </m:r>
                                  <m:r>
                                    <a:rPr lang="en-US" altLang="zh-CN" b="0" i="1" smtClean="0">
                                      <a:latin typeface="Cambria Math" panose="02040503050406030204" pitchFamily="18" charset="0"/>
                                    </a:rPr>
                                    <m:t>𝑢</m:t>
                                  </m:r>
                                </m:den>
                              </m:f>
                            </m:e>
                          </m:d>
                        </m:e>
                      </m:func>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≤0.01</m:t>
                      </m:r>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2980457" y="3795885"/>
                <a:ext cx="3145092" cy="622350"/>
              </a:xfrm>
              <a:prstGeom prst="rect">
                <a:avLst/>
              </a:prstGeom>
              <a:blipFill>
                <a:blip r:embed="rId6"/>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80931" y="888426"/>
            <a:ext cx="3133217" cy="2798904"/>
          </a:xfrm>
          <a:prstGeom prst="rect">
            <a:avLst/>
          </a:prstGeom>
        </p:spPr>
      </p:pic>
    </p:spTree>
    <p:extLst>
      <p:ext uri="{BB962C8B-B14F-4D97-AF65-F5344CB8AC3E}">
        <p14:creationId xmlns:p14="http://schemas.microsoft.com/office/powerpoint/2010/main" val="910183105"/>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研究背景</a:t>
            </a:r>
            <a:endParaRPr lang="zh-CN" altLang="en-US" sz="1600" b="1" dirty="0">
              <a:latin typeface="Microsoft YaHei UI" panose="020B0503020204020204" pitchFamily="34" charset="-122"/>
              <a:ea typeface="Microsoft YaHei UI" panose="020B0503020204020204" pitchFamily="34" charset="-122"/>
            </a:endParaRPr>
          </a:p>
        </p:txBody>
      </p:sp>
      <p:sp>
        <p:nvSpPr>
          <p:cNvPr id="21" name="矩形 20"/>
          <p:cNvSpPr/>
          <p:nvPr/>
        </p:nvSpPr>
        <p:spPr>
          <a:xfrm>
            <a:off x="1539356" y="473690"/>
            <a:ext cx="2339102" cy="276999"/>
          </a:xfrm>
          <a:prstGeom prst="rect">
            <a:avLst/>
          </a:prstGeom>
        </p:spPr>
        <p:txBody>
          <a:bodyPr wrap="none">
            <a:spAutoFit/>
          </a:bodyPr>
          <a:lstStyle/>
          <a:p>
            <a:pPr lvl="1">
              <a:defRPr/>
            </a:pPr>
            <a:r>
              <a:rPr lang="zh-CN" altLang="en-US" sz="1200" dirty="0" smtClean="0">
                <a:solidFill>
                  <a:sysClr val="windowText" lastClr="000000">
                    <a:alpha val="30000"/>
                  </a:sysClr>
                </a:solidFill>
                <a:latin typeface="Microsoft YaHei UI" panose="020B0503020204020204" pitchFamily="34" charset="-122"/>
                <a:ea typeface="Microsoft YaHei UI" panose="020B0503020204020204" pitchFamily="34" charset="-122"/>
              </a:rPr>
              <a:t>均质假定：参数</a:t>
            </a:r>
            <a:r>
              <a:rPr lang="zh-CN" altLang="en-US" sz="1200" dirty="0">
                <a:solidFill>
                  <a:sysClr val="windowText" lastClr="000000">
                    <a:alpha val="30000"/>
                  </a:sysClr>
                </a:solidFill>
                <a:latin typeface="Microsoft YaHei UI" panose="020B0503020204020204" pitchFamily="34" charset="-122"/>
                <a:ea typeface="Microsoft YaHei UI" panose="020B0503020204020204" pitchFamily="34" charset="-122"/>
              </a:rPr>
              <a:t>估计</a:t>
            </a:r>
            <a:r>
              <a:rPr lang="zh-CN" altLang="en-US" sz="1200" dirty="0" smtClean="0">
                <a:solidFill>
                  <a:sysClr val="windowText" lastClr="000000">
                    <a:alpha val="30000"/>
                  </a:sysClr>
                </a:solidFill>
                <a:latin typeface="Microsoft YaHei UI" panose="020B0503020204020204" pitchFamily="34" charset="-122"/>
                <a:ea typeface="Microsoft YaHei UI" panose="020B0503020204020204" pitchFamily="34" charset="-122"/>
              </a:rPr>
              <a:t>回顾</a:t>
            </a:r>
            <a:endParaRPr lang="zh-CN" altLang="en-US" sz="1200" dirty="0">
              <a:solidFill>
                <a:sysClr val="windowText" lastClr="000000">
                  <a:alpha val="30000"/>
                </a:sysClr>
              </a:solidFill>
              <a:latin typeface="Microsoft YaHei UI" panose="020B0503020204020204" pitchFamily="34" charset="-122"/>
              <a:ea typeface="Microsoft YaHei UI" panose="020B0503020204020204" pitchFamily="34" charset="-122"/>
            </a:endParaRPr>
          </a:p>
        </p:txBody>
      </p:sp>
      <p:sp>
        <p:nvSpPr>
          <p:cNvPr id="22" name="矩形 21"/>
          <p:cNvSpPr/>
          <p:nvPr/>
        </p:nvSpPr>
        <p:spPr>
          <a:xfrm>
            <a:off x="3650412" y="470302"/>
            <a:ext cx="2185214" cy="276999"/>
          </a:xfrm>
          <a:prstGeom prst="rect">
            <a:avLst/>
          </a:prstGeom>
        </p:spPr>
        <p:txBody>
          <a:bodyPr wrap="none">
            <a:spAutoFit/>
          </a:bodyPr>
          <a:lstStyle/>
          <a:p>
            <a:pPr lvl="1">
              <a:defRPr/>
            </a:pPr>
            <a:r>
              <a:rPr lang="zh-CN" altLang="en-US" sz="1200" dirty="0" smtClean="0">
                <a:solidFill>
                  <a:sysClr val="windowText" lastClr="000000"/>
                </a:solidFill>
                <a:latin typeface="Microsoft YaHei UI" panose="020B0503020204020204" pitchFamily="34" charset="-122"/>
                <a:ea typeface="Microsoft YaHei UI" panose="020B0503020204020204" pitchFamily="34" charset="-122"/>
              </a:rPr>
              <a:t>走向分布：贝叶斯方法</a:t>
            </a:r>
            <a:endParaRPr lang="en-US" altLang="zh-CN" sz="1200" dirty="0">
              <a:solidFill>
                <a:sysClr val="windowText" lastClr="000000"/>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3" name="文本框 2"/>
          <p:cNvSpPr txBox="1"/>
          <p:nvPr/>
        </p:nvSpPr>
        <p:spPr>
          <a:xfrm>
            <a:off x="8820472" y="4836294"/>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2</a:t>
            </a:r>
            <a:endParaRPr lang="zh-CN" altLang="en-US" sz="1200" dirty="0">
              <a:latin typeface="Times New Roman" panose="02020603050405020304" pitchFamily="18" charset="0"/>
              <a:cs typeface="Times New Roman" panose="02020603050405020304" pitchFamily="18" charset="0"/>
            </a:endParaRPr>
          </a:p>
        </p:txBody>
      </p:sp>
      <p:sp>
        <p:nvSpPr>
          <p:cNvPr id="11"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走向分布</a:t>
            </a:r>
            <a:r>
              <a:rPr lang="zh-CN" altLang="en-US" b="1" kern="0" dirty="0" smtClean="0">
                <a:latin typeface="Microsoft YaHei UI" panose="020B0503020204020204" pitchFamily="34" charset="-122"/>
                <a:ea typeface="Microsoft YaHei UI" panose="020B0503020204020204" pitchFamily="34" charset="-122"/>
              </a:rPr>
              <a:t>：贝叶斯方法</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12" name="Rectangle 3"/>
              <p:cNvSpPr txBox="1">
                <a:spLocks noChangeArrowheads="1"/>
              </p:cNvSpPr>
              <p:nvPr/>
            </p:nvSpPr>
            <p:spPr>
              <a:xfrm>
                <a:off x="251520" y="1580232"/>
                <a:ext cx="5040560" cy="91951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b="1" kern="0" dirty="0" smtClean="0">
                    <a:latin typeface="Microsoft YaHei UI" panose="020B0503020204020204" pitchFamily="34" charset="-122"/>
                    <a:ea typeface="Microsoft YaHei UI" panose="020B0503020204020204" pitchFamily="34" charset="-122"/>
                  </a:rPr>
                  <a:t>空间结构：矩描述</a:t>
                </a:r>
              </a:p>
              <a:p>
                <a:pPr marL="457200" lvl="1" indent="0" eaLnBrk="1" hangingPunct="1">
                  <a:lnSpc>
                    <a:spcPts val="2000"/>
                  </a:lnSpc>
                  <a:buNone/>
                  <a:defRPr/>
                </a:pPr>
                <a:r>
                  <a:rPr lang="zh-CN" altLang="en-US" sz="1600" b="1" kern="0" dirty="0" smtClean="0">
                    <a:latin typeface="Microsoft YaHei UI" panose="020B0503020204020204" pitchFamily="34" charset="-122"/>
                    <a:ea typeface="Microsoft YaHei UI" panose="020B0503020204020204" pitchFamily="34" charset="-122"/>
                  </a:rPr>
                  <a:t>     </a:t>
                </a:r>
                <a:r>
                  <a:rPr lang="zh-CN" altLang="en-US" sz="1600" kern="0" dirty="0" smtClean="0">
                    <a:latin typeface="Microsoft YaHei UI" panose="020B0503020204020204" pitchFamily="34" charset="-122"/>
                    <a:ea typeface="Microsoft YaHei UI" panose="020B0503020204020204" pitchFamily="34" charset="-122"/>
                  </a:rPr>
                  <a:t>均值       </a:t>
                </a:r>
                <a14:m>
                  <m:oMath xmlns:m="http://schemas.openxmlformats.org/officeDocument/2006/math">
                    <m:r>
                      <a:rPr lang="zh-CN" altLang="en-US" sz="1600" b="0" i="0" kern="0" smtClean="0">
                        <a:latin typeface="Cambria Math" charset="0"/>
                        <a:ea typeface="Microsoft YaHei UI" panose="020B0503020204020204" pitchFamily="34" charset="-122"/>
                      </a:rPr>
                      <m:t>   </m:t>
                    </m:r>
                    <m:r>
                      <a:rPr lang="en-US" altLang="zh-CN" sz="1600" b="0" i="1" kern="0" smtClean="0">
                        <a:latin typeface="Cambria Math" charset="0"/>
                        <a:ea typeface="Cambria Math" charset="0"/>
                        <a:cs typeface="Cambria Math" charset="0"/>
                      </a:rPr>
                      <m:t>𝜇</m:t>
                    </m:r>
                    <m:r>
                      <a:rPr lang="en-US" altLang="zh-CN" sz="1600" i="1" kern="0">
                        <a:latin typeface="Cambria Math" panose="02040503050406030204" pitchFamily="18" charset="0"/>
                        <a:ea typeface="Cambria Math" charset="0"/>
                        <a:cs typeface="Cambria Math" charset="0"/>
                      </a:rPr>
                      <m:t>=</m:t>
                    </m:r>
                    <m:r>
                      <a:rPr lang="en-US" altLang="zh-CN" sz="1600" i="1" kern="0">
                        <a:latin typeface="Cambria Math" charset="0"/>
                        <a:ea typeface="Microsoft YaHei UI" panose="020B0503020204020204" pitchFamily="34" charset="-122"/>
                      </a:rPr>
                      <m:t>𝐸</m:t>
                    </m:r>
                    <m:r>
                      <a:rPr lang="en-US" altLang="zh-CN" sz="1600" i="1" kern="0">
                        <a:latin typeface="Cambria Math" charset="0"/>
                        <a:ea typeface="Microsoft YaHei UI" panose="020B0503020204020204" pitchFamily="34" charset="-122"/>
                      </a:rPr>
                      <m:t>[</m:t>
                    </m:r>
                    <m:r>
                      <a:rPr lang="en-US" altLang="zh-CN" sz="1600" i="1" kern="0">
                        <a:latin typeface="Cambria Math" charset="0"/>
                        <a:ea typeface="Microsoft YaHei UI" panose="020B0503020204020204" pitchFamily="34" charset="-122"/>
                      </a:rPr>
                      <m:t>𝑍</m:t>
                    </m:r>
                    <m:r>
                      <a:rPr lang="en-US" altLang="zh-CN" sz="1600" i="1" kern="0">
                        <a:latin typeface="Cambria Math" charset="0"/>
                        <a:ea typeface="Microsoft YaHei UI" panose="020B0503020204020204" pitchFamily="34" charset="-122"/>
                      </a:rPr>
                      <m:t>(</m:t>
                    </m:r>
                    <m:r>
                      <a:rPr lang="en-US" altLang="zh-CN" sz="1600" i="1" kern="0">
                        <a:latin typeface="Cambria Math" charset="0"/>
                        <a:ea typeface="Microsoft YaHei UI" panose="020B0503020204020204" pitchFamily="34" charset="-122"/>
                      </a:rPr>
                      <m:t>𝑠</m:t>
                    </m:r>
                    <m:r>
                      <a:rPr lang="en-US" altLang="zh-CN" sz="1600" i="1" kern="0">
                        <a:latin typeface="Cambria Math" charset="0"/>
                        <a:ea typeface="Microsoft YaHei UI" panose="020B0503020204020204" pitchFamily="34" charset="-122"/>
                      </a:rPr>
                      <m:t>)]</m:t>
                    </m:r>
                  </m:oMath>
                </a14:m>
                <a:endParaRPr lang="zh-CN" altLang="en-US" sz="16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zh-CN" altLang="en-US" sz="1600" kern="0" dirty="0" smtClean="0">
                    <a:latin typeface="Microsoft YaHei UI" panose="020B0503020204020204" pitchFamily="34" charset="-122"/>
                    <a:ea typeface="Microsoft YaHei UI" panose="020B0503020204020204" pitchFamily="34" charset="-122"/>
                  </a:rPr>
                  <a:t>     相关性      </a:t>
                </a:r>
                <a14:m>
                  <m:oMath xmlns:m="http://schemas.openxmlformats.org/officeDocument/2006/math">
                    <m:r>
                      <a:rPr lang="en-US" altLang="zh-CN" sz="1600" b="0" i="1" kern="0" smtClean="0">
                        <a:latin typeface="Cambria Math" charset="0"/>
                        <a:ea typeface="Microsoft YaHei UI" panose="020B0503020204020204" pitchFamily="34" charset="-122"/>
                      </a:rPr>
                      <m:t>𝐶</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panose="02040503050406030204" pitchFamily="18" charset="0"/>
                            <a:ea typeface="Microsoft YaHei UI" panose="020B0503020204020204" pitchFamily="34" charset="-122"/>
                          </a:rPr>
                          <m:t>𝑟</m:t>
                        </m:r>
                      </m:e>
                    </m:d>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𝐶𝑜𝑣</m:t>
                    </m:r>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𝑍</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𝑠</m:t>
                        </m:r>
                      </m:e>
                    </m:d>
                    <m:r>
                      <a:rPr lang="en-US" altLang="zh-CN" sz="1600" b="0" i="1" kern="0" smtClean="0">
                        <a:latin typeface="Cambria Math" charset="0"/>
                        <a:ea typeface="Microsoft YaHei UI" panose="020B0503020204020204" pitchFamily="34" charset="-122"/>
                      </a:rPr>
                      <m:t>,</m:t>
                    </m:r>
                    <m:r>
                      <a:rPr lang="zh-CN" altLang="en-US" sz="1600" b="0" i="1" kern="0" smtClean="0">
                        <a:latin typeface="Cambria Math" charset="0"/>
                        <a:ea typeface="Microsoft YaHei UI" panose="020B0503020204020204" pitchFamily="34" charset="-122"/>
                      </a:rPr>
                      <m:t>  </m:t>
                    </m:r>
                    <m:r>
                      <a:rPr lang="en-US" altLang="zh-CN" sz="1600" b="0" i="1" kern="0" smtClean="0">
                        <a:latin typeface="Cambria Math" charset="0"/>
                        <a:ea typeface="Microsoft YaHei UI" panose="020B0503020204020204" pitchFamily="34" charset="-122"/>
                      </a:rPr>
                      <m:t>𝑍</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𝑠</m:t>
                        </m:r>
                        <m:r>
                          <a:rPr lang="en-US" altLang="zh-CN" sz="1600" b="0" i="1" kern="0" smtClean="0">
                            <a:latin typeface="Cambria Math" charset="0"/>
                            <a:ea typeface="Microsoft YaHei UI" panose="020B0503020204020204" pitchFamily="34" charset="-122"/>
                          </a:rPr>
                          <m:t>+</m:t>
                        </m:r>
                        <m:r>
                          <a:rPr lang="en-US" altLang="zh-CN" sz="1600" b="0" i="1" kern="0" smtClean="0">
                            <a:latin typeface="Cambria Math" panose="02040503050406030204" pitchFamily="18" charset="0"/>
                            <a:ea typeface="Microsoft YaHei UI" panose="020B0503020204020204" pitchFamily="34" charset="-122"/>
                          </a:rPr>
                          <m:t>𝑟</m:t>
                        </m:r>
                      </m:e>
                    </m:d>
                    <m:r>
                      <a:rPr lang="en-US" altLang="zh-CN" sz="1600" b="0" i="1" kern="0" smtClean="0">
                        <a:latin typeface="Cambria Math" charset="0"/>
                        <a:ea typeface="Microsoft YaHei UI" panose="020B0503020204020204" pitchFamily="34" charset="-122"/>
                      </a:rPr>
                      <m:t>]</m:t>
                    </m:r>
                  </m:oMath>
                </a14:m>
                <a:r>
                  <a:rPr lang="zh-CN" altLang="en-US" sz="1600" kern="0" dirty="0" smtClean="0">
                    <a:latin typeface="Microsoft YaHei UI" panose="020B0503020204020204" pitchFamily="34" charset="-122"/>
                    <a:ea typeface="Microsoft YaHei UI" panose="020B0503020204020204" pitchFamily="34" charset="-122"/>
                  </a:rPr>
                  <a:t>  </a:t>
                </a:r>
              </a:p>
              <a:p>
                <a:pPr marL="457200" lvl="1" indent="0" eaLnBrk="1" hangingPunct="1">
                  <a:lnSpc>
                    <a:spcPts val="2000"/>
                  </a:lnSpc>
                  <a:buNone/>
                  <a:defRPr/>
                </a:pPr>
                <a:r>
                  <a:rPr lang="zh-CN" altLang="en-US" sz="1600" kern="0" dirty="0">
                    <a:latin typeface="Microsoft YaHei UI" panose="020B0503020204020204" pitchFamily="34" charset="-122"/>
                    <a:ea typeface="Microsoft YaHei UI" panose="020B0503020204020204" pitchFamily="34" charset="-122"/>
                  </a:rPr>
                  <a:t> </a:t>
                </a:r>
                <a:r>
                  <a:rPr lang="zh-CN" altLang="en-US" sz="1600" kern="0" dirty="0" smtClean="0">
                    <a:latin typeface="Microsoft YaHei UI" panose="020B0503020204020204" pitchFamily="34" charset="-122"/>
                    <a:ea typeface="Microsoft YaHei UI" panose="020B0503020204020204" pitchFamily="34" charset="-122"/>
                  </a:rPr>
                  <a:t>    积分尺度   </a:t>
                </a: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i="1" kern="0" smtClean="0">
                            <a:latin typeface="Cambria Math" charset="0"/>
                            <a:ea typeface="Cambria Math" charset="0"/>
                            <a:cs typeface="Cambria Math" charset="0"/>
                          </a:rPr>
                          <m:t>𝜆</m:t>
                        </m:r>
                      </m:e>
                      <m:sub>
                        <m:r>
                          <a:rPr lang="en-US" altLang="zh-CN" sz="1600" b="0" i="1" kern="0" smtClean="0">
                            <a:latin typeface="Cambria Math" charset="0"/>
                            <a:ea typeface="Microsoft YaHei UI" panose="020B0503020204020204" pitchFamily="34" charset="-122"/>
                          </a:rPr>
                          <m:t>𝑖</m:t>
                        </m:r>
                      </m:sub>
                    </m:sSub>
                    <m:r>
                      <a:rPr lang="en-US" altLang="zh-CN" sz="1600" b="0" i="1" kern="0" smtClean="0">
                        <a:latin typeface="Cambria Math" charset="0"/>
                        <a:ea typeface="Microsoft YaHei UI" panose="020B0503020204020204" pitchFamily="34" charset="-122"/>
                      </a:rPr>
                      <m:t>=</m:t>
                    </m:r>
                    <m:f>
                      <m:fPr>
                        <m:ctrlPr>
                          <a:rPr lang="mr-IN" altLang="zh-CN" sz="1600" b="0" i="1" kern="0" smtClean="0">
                            <a:latin typeface="Cambria Math" panose="02040503050406030204" pitchFamily="18" charset="0"/>
                            <a:ea typeface="Microsoft YaHei UI" panose="020B0503020204020204" pitchFamily="34" charset="-122"/>
                          </a:rPr>
                        </m:ctrlPr>
                      </m:fPr>
                      <m:num>
                        <m:r>
                          <a:rPr lang="en-US" altLang="zh-CN" sz="1600" b="0" i="1" kern="0" smtClean="0">
                            <a:latin typeface="Cambria Math" charset="0"/>
                            <a:ea typeface="Microsoft YaHei UI" panose="020B0503020204020204" pitchFamily="34" charset="-122"/>
                          </a:rPr>
                          <m:t>1</m:t>
                        </m:r>
                      </m:num>
                      <m:den>
                        <m:sSup>
                          <m:sSupPr>
                            <m:ctrlPr>
                              <a:rPr lang="en-US" altLang="zh-CN" sz="1600" b="0" i="1" kern="0" smtClean="0">
                                <a:latin typeface="Cambria Math" panose="02040503050406030204" pitchFamily="18" charset="0"/>
                                <a:ea typeface="Microsoft YaHei UI" panose="020B0503020204020204" pitchFamily="34" charset="-122"/>
                              </a:rPr>
                            </m:ctrlPr>
                          </m:sSupPr>
                          <m:e>
                            <m:r>
                              <a:rPr lang="zh-CN" altLang="en-US" sz="1600" b="0" i="1" kern="0" smtClean="0">
                                <a:latin typeface="Cambria Math" panose="02040503050406030204" pitchFamily="18" charset="0"/>
                                <a:ea typeface="Microsoft YaHei UI" panose="020B0503020204020204" pitchFamily="34" charset="-122"/>
                              </a:rPr>
                              <m:t>𝜎</m:t>
                            </m:r>
                          </m:e>
                          <m:sup>
                            <m:r>
                              <a:rPr lang="en-US" altLang="zh-CN" sz="1600" b="0" i="1" kern="0" smtClean="0">
                                <a:latin typeface="Cambria Math" panose="02040503050406030204" pitchFamily="18" charset="0"/>
                                <a:ea typeface="Microsoft YaHei UI" panose="020B0503020204020204" pitchFamily="34" charset="-122"/>
                              </a:rPr>
                              <m:t>2</m:t>
                            </m:r>
                          </m:sup>
                        </m:sSup>
                      </m:den>
                    </m:f>
                    <m:nary>
                      <m:naryPr>
                        <m:ctrlPr>
                          <a:rPr lang="en-US" altLang="zh-CN" sz="1600" b="0" i="1" kern="0" smtClean="0">
                            <a:latin typeface="Cambria Math" panose="02040503050406030204" pitchFamily="18" charset="0"/>
                            <a:ea typeface="Microsoft YaHei UI" panose="020B0503020204020204" pitchFamily="34" charset="-122"/>
                          </a:rPr>
                        </m:ctrlPr>
                      </m:naryPr>
                      <m:sub>
                        <m:r>
                          <m:rPr>
                            <m:brk m:alnAt="23"/>
                          </m:rPr>
                          <a:rPr lang="en-US" altLang="zh-CN" sz="1600" b="0" i="1" kern="0" smtClean="0">
                            <a:latin typeface="Cambria Math" panose="02040503050406030204" pitchFamily="18" charset="0"/>
                            <a:ea typeface="Microsoft YaHei UI" panose="020B0503020204020204" pitchFamily="34" charset="-122"/>
                          </a:rPr>
                          <m:t>0</m:t>
                        </m:r>
                      </m:sub>
                      <m:sup>
                        <m:r>
                          <a:rPr lang="en-US" altLang="zh-CN" sz="1600" b="0" i="1" kern="0" smtClean="0">
                            <a:latin typeface="Cambria Math" panose="02040503050406030204" pitchFamily="18" charset="0"/>
                            <a:ea typeface="Cambria Math" panose="02040503050406030204" pitchFamily="18" charset="0"/>
                          </a:rPr>
                          <m:t>∞</m:t>
                        </m:r>
                      </m:sup>
                      <m:e>
                        <m:r>
                          <a:rPr lang="en-US" altLang="zh-CN" sz="1600" b="0" i="1" kern="0" smtClean="0">
                            <a:latin typeface="Cambria Math" panose="02040503050406030204" pitchFamily="18" charset="0"/>
                            <a:ea typeface="Microsoft YaHei UI" panose="020B0503020204020204" pitchFamily="34" charset="-122"/>
                          </a:rPr>
                          <m:t>𝐶</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panose="02040503050406030204" pitchFamily="18" charset="0"/>
                                <a:ea typeface="Microsoft YaHei UI" panose="020B0503020204020204" pitchFamily="34" charset="-122"/>
                              </a:rPr>
                              <m:t>𝑟</m:t>
                            </m:r>
                          </m:e>
                        </m:d>
                        <m:r>
                          <a:rPr lang="en-US" altLang="zh-CN" sz="1600" b="0" i="1" kern="0" smtClean="0">
                            <a:latin typeface="Cambria Math" panose="02040503050406030204" pitchFamily="18" charset="0"/>
                            <a:ea typeface="Microsoft YaHei UI" panose="020B0503020204020204" pitchFamily="34" charset="-122"/>
                          </a:rPr>
                          <m:t>𝑑𝑟</m:t>
                        </m:r>
                      </m:e>
                    </m:nary>
                  </m:oMath>
                </a14:m>
                <a:r>
                  <a:rPr lang="zh-CN" altLang="en-US" sz="1600" kern="0" dirty="0" smtClean="0">
                    <a:latin typeface="Microsoft YaHei UI" panose="020B0503020204020204" pitchFamily="34" charset="-122"/>
                    <a:ea typeface="Microsoft YaHei UI" panose="020B0503020204020204" pitchFamily="34" charset="-122"/>
                  </a:rPr>
                  <a:t>    </a:t>
                </a: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r>
                  <a:rPr lang="en-US" altLang="zh-CN" sz="1800" b="1" kern="0" dirty="0">
                    <a:latin typeface="Microsoft YaHei UI" panose="020B0503020204020204" pitchFamily="34" charset="-122"/>
                    <a:ea typeface="Microsoft YaHei UI" panose="020B0503020204020204" pitchFamily="34" charset="-122"/>
                  </a:rPr>
                  <a:t> </a:t>
                </a:r>
                <a:r>
                  <a:rPr lang="en-US" altLang="zh-CN" sz="1800" b="1" kern="0" dirty="0" smtClean="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Choice>
        <mc:Fallback xmlns="">
          <p:sp>
            <p:nvSpPr>
              <p:cNvPr id="12" name="Rectangle 3"/>
              <p:cNvSpPr txBox="1">
                <a:spLocks noRot="1" noChangeAspect="1" noMove="1" noResize="1" noEditPoints="1" noAdjustHandles="1" noChangeArrowheads="1" noChangeShapeType="1" noTextEdit="1"/>
              </p:cNvSpPr>
              <p:nvPr/>
            </p:nvSpPr>
            <p:spPr>
              <a:xfrm>
                <a:off x="251520" y="1580232"/>
                <a:ext cx="5040560" cy="919510"/>
              </a:xfrm>
              <a:prstGeom prst="rect">
                <a:avLst/>
              </a:prstGeom>
              <a:blipFill>
                <a:blip r:embed="rId4"/>
                <a:stretch>
                  <a:fillRect t="-2649" b="-1145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07669820"/>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研究背景</a:t>
            </a:r>
            <a:endParaRPr lang="zh-CN" altLang="en-US" sz="1600" b="1" dirty="0">
              <a:latin typeface="Microsoft YaHei UI" panose="020B0503020204020204" pitchFamily="34" charset="-122"/>
              <a:ea typeface="Microsoft YaHei UI" panose="020B0503020204020204" pitchFamily="34" charset="-122"/>
            </a:endParaRPr>
          </a:p>
        </p:txBody>
      </p:sp>
      <p:sp>
        <p:nvSpPr>
          <p:cNvPr id="21" name="矩形 20"/>
          <p:cNvSpPr/>
          <p:nvPr/>
        </p:nvSpPr>
        <p:spPr>
          <a:xfrm>
            <a:off x="1539356" y="473690"/>
            <a:ext cx="2339102" cy="276999"/>
          </a:xfrm>
          <a:prstGeom prst="rect">
            <a:avLst/>
          </a:prstGeom>
        </p:spPr>
        <p:txBody>
          <a:bodyPr wrap="none">
            <a:spAutoFit/>
          </a:bodyPr>
          <a:lstStyle/>
          <a:p>
            <a:pPr lvl="1">
              <a:defRPr/>
            </a:pPr>
            <a:r>
              <a:rPr lang="zh-CN" altLang="en-US" sz="1200" dirty="0" smtClean="0">
                <a:solidFill>
                  <a:sysClr val="windowText" lastClr="000000">
                    <a:alpha val="30000"/>
                  </a:sysClr>
                </a:solidFill>
                <a:latin typeface="Microsoft YaHei UI" panose="020B0503020204020204" pitchFamily="34" charset="-122"/>
                <a:ea typeface="Microsoft YaHei UI" panose="020B0503020204020204" pitchFamily="34" charset="-122"/>
              </a:rPr>
              <a:t>均质假定：参数</a:t>
            </a:r>
            <a:r>
              <a:rPr lang="zh-CN" altLang="en-US" sz="1200" dirty="0">
                <a:solidFill>
                  <a:sysClr val="windowText" lastClr="000000">
                    <a:alpha val="30000"/>
                  </a:sysClr>
                </a:solidFill>
                <a:latin typeface="Microsoft YaHei UI" panose="020B0503020204020204" pitchFamily="34" charset="-122"/>
                <a:ea typeface="Microsoft YaHei UI" panose="020B0503020204020204" pitchFamily="34" charset="-122"/>
              </a:rPr>
              <a:t>估计</a:t>
            </a:r>
            <a:r>
              <a:rPr lang="zh-CN" altLang="en-US" sz="1200" dirty="0" smtClean="0">
                <a:solidFill>
                  <a:sysClr val="windowText" lastClr="000000">
                    <a:alpha val="30000"/>
                  </a:sysClr>
                </a:solidFill>
                <a:latin typeface="Microsoft YaHei UI" panose="020B0503020204020204" pitchFamily="34" charset="-122"/>
                <a:ea typeface="Microsoft YaHei UI" panose="020B0503020204020204" pitchFamily="34" charset="-122"/>
              </a:rPr>
              <a:t>回顾</a:t>
            </a:r>
            <a:endParaRPr lang="zh-CN" altLang="en-US" sz="1200" dirty="0">
              <a:solidFill>
                <a:sysClr val="windowText" lastClr="000000">
                  <a:alpha val="30000"/>
                </a:sysClr>
              </a:solidFill>
              <a:latin typeface="Microsoft YaHei UI" panose="020B0503020204020204" pitchFamily="34" charset="-122"/>
              <a:ea typeface="Microsoft YaHei UI" panose="020B0503020204020204" pitchFamily="34" charset="-122"/>
            </a:endParaRPr>
          </a:p>
        </p:txBody>
      </p:sp>
      <p:sp>
        <p:nvSpPr>
          <p:cNvPr id="22" name="矩形 21"/>
          <p:cNvSpPr/>
          <p:nvPr/>
        </p:nvSpPr>
        <p:spPr>
          <a:xfrm>
            <a:off x="3650412" y="470302"/>
            <a:ext cx="2185214" cy="276999"/>
          </a:xfrm>
          <a:prstGeom prst="rect">
            <a:avLst/>
          </a:prstGeom>
        </p:spPr>
        <p:txBody>
          <a:bodyPr wrap="none">
            <a:spAutoFit/>
          </a:bodyPr>
          <a:lstStyle/>
          <a:p>
            <a:pPr lvl="1">
              <a:defRPr/>
            </a:pPr>
            <a:r>
              <a:rPr lang="zh-CN" altLang="en-US" sz="1200" dirty="0" smtClean="0">
                <a:solidFill>
                  <a:sysClr val="windowText" lastClr="000000"/>
                </a:solidFill>
                <a:latin typeface="Microsoft YaHei UI" panose="020B0503020204020204" pitchFamily="34" charset="-122"/>
                <a:ea typeface="Microsoft YaHei UI" panose="020B0503020204020204" pitchFamily="34" charset="-122"/>
              </a:rPr>
              <a:t>走向分布：贝叶斯方法</a:t>
            </a:r>
            <a:endParaRPr lang="en-US" altLang="zh-CN" sz="1200" dirty="0">
              <a:solidFill>
                <a:sysClr val="windowText" lastClr="000000"/>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3" name="文本框 2"/>
          <p:cNvSpPr txBox="1"/>
          <p:nvPr/>
        </p:nvSpPr>
        <p:spPr>
          <a:xfrm>
            <a:off x="8820472" y="4836294"/>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3</a:t>
            </a:r>
            <a:endParaRPr lang="zh-CN" altLang="en-US" sz="1200" dirty="0">
              <a:latin typeface="Times New Roman" panose="02020603050405020304" pitchFamily="18" charset="0"/>
              <a:cs typeface="Times New Roman" panose="02020603050405020304" pitchFamily="18" charset="0"/>
            </a:endParaRPr>
          </a:p>
        </p:txBody>
      </p:sp>
      <p:sp>
        <p:nvSpPr>
          <p:cNvPr id="11"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走向分布：贝叶斯方法</a:t>
            </a:r>
            <a:endParaRPr lang="en-US" altLang="zh-CN" b="1"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12" name="Rectangle 3"/>
              <p:cNvSpPr txBox="1">
                <a:spLocks noChangeArrowheads="1"/>
              </p:cNvSpPr>
              <p:nvPr/>
            </p:nvSpPr>
            <p:spPr>
              <a:xfrm>
                <a:off x="251520" y="1580232"/>
                <a:ext cx="5040560" cy="91951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b="1" kern="0" dirty="0" smtClean="0">
                    <a:latin typeface="Microsoft YaHei UI" panose="020B0503020204020204" pitchFamily="34" charset="-122"/>
                    <a:ea typeface="Microsoft YaHei UI" panose="020B0503020204020204" pitchFamily="34" charset="-122"/>
                  </a:rPr>
                  <a:t>空间结构：矩描述</a:t>
                </a:r>
              </a:p>
              <a:p>
                <a:pPr marL="457200" lvl="1" indent="0" eaLnBrk="1" hangingPunct="1">
                  <a:lnSpc>
                    <a:spcPts val="2000"/>
                  </a:lnSpc>
                  <a:buNone/>
                  <a:defRPr/>
                </a:pPr>
                <a:r>
                  <a:rPr lang="zh-CN" altLang="en-US" sz="1600" b="1" kern="0" dirty="0" smtClean="0">
                    <a:latin typeface="Microsoft YaHei UI" panose="020B0503020204020204" pitchFamily="34" charset="-122"/>
                    <a:ea typeface="Microsoft YaHei UI" panose="020B0503020204020204" pitchFamily="34" charset="-122"/>
                  </a:rPr>
                  <a:t>     </a:t>
                </a:r>
                <a:r>
                  <a:rPr lang="zh-CN" altLang="en-US" sz="1600" kern="0" dirty="0" smtClean="0">
                    <a:latin typeface="Microsoft YaHei UI" panose="020B0503020204020204" pitchFamily="34" charset="-122"/>
                    <a:ea typeface="Microsoft YaHei UI" panose="020B0503020204020204" pitchFamily="34" charset="-122"/>
                  </a:rPr>
                  <a:t>均值       </a:t>
                </a:r>
                <a14:m>
                  <m:oMath xmlns:m="http://schemas.openxmlformats.org/officeDocument/2006/math">
                    <m:r>
                      <a:rPr lang="zh-CN" altLang="en-US" sz="1600" b="0" i="0" kern="0" smtClean="0">
                        <a:latin typeface="Cambria Math" charset="0"/>
                        <a:ea typeface="Microsoft YaHei UI" panose="020B0503020204020204" pitchFamily="34" charset="-122"/>
                      </a:rPr>
                      <m:t>   </m:t>
                    </m:r>
                    <m:r>
                      <a:rPr lang="en-US" altLang="zh-CN" sz="1600" b="0" i="1" kern="0" smtClean="0">
                        <a:latin typeface="Cambria Math" charset="0"/>
                        <a:ea typeface="Cambria Math" charset="0"/>
                        <a:cs typeface="Cambria Math" charset="0"/>
                      </a:rPr>
                      <m:t>𝜇</m:t>
                    </m:r>
                    <m:r>
                      <a:rPr lang="en-US" altLang="zh-CN" sz="1600" i="1" kern="0">
                        <a:latin typeface="Cambria Math" panose="02040503050406030204" pitchFamily="18" charset="0"/>
                        <a:ea typeface="Cambria Math" charset="0"/>
                        <a:cs typeface="Cambria Math" charset="0"/>
                      </a:rPr>
                      <m:t>=</m:t>
                    </m:r>
                    <m:r>
                      <a:rPr lang="en-US" altLang="zh-CN" sz="1600" i="1" kern="0">
                        <a:latin typeface="Cambria Math" charset="0"/>
                        <a:ea typeface="Microsoft YaHei UI" panose="020B0503020204020204" pitchFamily="34" charset="-122"/>
                      </a:rPr>
                      <m:t>𝐸</m:t>
                    </m:r>
                    <m:r>
                      <a:rPr lang="en-US" altLang="zh-CN" sz="1600" i="1" kern="0">
                        <a:latin typeface="Cambria Math" charset="0"/>
                        <a:ea typeface="Microsoft YaHei UI" panose="020B0503020204020204" pitchFamily="34" charset="-122"/>
                      </a:rPr>
                      <m:t>[</m:t>
                    </m:r>
                    <m:r>
                      <a:rPr lang="en-US" altLang="zh-CN" sz="1600" i="1" kern="0">
                        <a:latin typeface="Cambria Math" charset="0"/>
                        <a:ea typeface="Microsoft YaHei UI" panose="020B0503020204020204" pitchFamily="34" charset="-122"/>
                      </a:rPr>
                      <m:t>𝑍</m:t>
                    </m:r>
                    <m:r>
                      <a:rPr lang="en-US" altLang="zh-CN" sz="1600" i="1" kern="0">
                        <a:latin typeface="Cambria Math" charset="0"/>
                        <a:ea typeface="Microsoft YaHei UI" panose="020B0503020204020204" pitchFamily="34" charset="-122"/>
                      </a:rPr>
                      <m:t>(</m:t>
                    </m:r>
                    <m:r>
                      <a:rPr lang="en-US" altLang="zh-CN" sz="1600" i="1" kern="0">
                        <a:latin typeface="Cambria Math" charset="0"/>
                        <a:ea typeface="Microsoft YaHei UI" panose="020B0503020204020204" pitchFamily="34" charset="-122"/>
                      </a:rPr>
                      <m:t>𝑠</m:t>
                    </m:r>
                    <m:r>
                      <a:rPr lang="en-US" altLang="zh-CN" sz="1600" i="1" kern="0">
                        <a:latin typeface="Cambria Math" charset="0"/>
                        <a:ea typeface="Microsoft YaHei UI" panose="020B0503020204020204" pitchFamily="34" charset="-122"/>
                      </a:rPr>
                      <m:t>)]</m:t>
                    </m:r>
                  </m:oMath>
                </a14:m>
                <a:endParaRPr lang="zh-CN" altLang="en-US" sz="16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zh-CN" altLang="en-US" sz="1600" kern="0" dirty="0" smtClean="0">
                    <a:latin typeface="Microsoft YaHei UI" panose="020B0503020204020204" pitchFamily="34" charset="-122"/>
                    <a:ea typeface="Microsoft YaHei UI" panose="020B0503020204020204" pitchFamily="34" charset="-122"/>
                  </a:rPr>
                  <a:t>     相关性      </a:t>
                </a:r>
                <a14:m>
                  <m:oMath xmlns:m="http://schemas.openxmlformats.org/officeDocument/2006/math">
                    <m:r>
                      <a:rPr lang="en-US" altLang="zh-CN" sz="1600" b="0" i="1" kern="0" smtClean="0">
                        <a:latin typeface="Cambria Math" charset="0"/>
                        <a:ea typeface="Microsoft YaHei UI" panose="020B0503020204020204" pitchFamily="34" charset="-122"/>
                      </a:rPr>
                      <m:t>𝐶</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panose="02040503050406030204" pitchFamily="18" charset="0"/>
                            <a:ea typeface="Microsoft YaHei UI" panose="020B0503020204020204" pitchFamily="34" charset="-122"/>
                          </a:rPr>
                          <m:t>𝑟</m:t>
                        </m:r>
                      </m:e>
                    </m:d>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𝐶𝑜𝑣</m:t>
                    </m:r>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𝑍</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𝑠</m:t>
                        </m:r>
                      </m:e>
                    </m:d>
                    <m:r>
                      <a:rPr lang="en-US" altLang="zh-CN" sz="1600" b="0" i="1" kern="0" smtClean="0">
                        <a:latin typeface="Cambria Math" charset="0"/>
                        <a:ea typeface="Microsoft YaHei UI" panose="020B0503020204020204" pitchFamily="34" charset="-122"/>
                      </a:rPr>
                      <m:t>,</m:t>
                    </m:r>
                    <m:r>
                      <a:rPr lang="zh-CN" altLang="en-US" sz="1600" b="0" i="1" kern="0" smtClean="0">
                        <a:latin typeface="Cambria Math" charset="0"/>
                        <a:ea typeface="Microsoft YaHei UI" panose="020B0503020204020204" pitchFamily="34" charset="-122"/>
                      </a:rPr>
                      <m:t>  </m:t>
                    </m:r>
                    <m:r>
                      <a:rPr lang="en-US" altLang="zh-CN" sz="1600" b="0" i="1" kern="0" smtClean="0">
                        <a:latin typeface="Cambria Math" charset="0"/>
                        <a:ea typeface="Microsoft YaHei UI" panose="020B0503020204020204" pitchFamily="34" charset="-122"/>
                      </a:rPr>
                      <m:t>𝑍</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𝑠</m:t>
                        </m:r>
                        <m:r>
                          <a:rPr lang="en-US" altLang="zh-CN" sz="1600" b="0" i="1" kern="0" smtClean="0">
                            <a:latin typeface="Cambria Math" charset="0"/>
                            <a:ea typeface="Microsoft YaHei UI" panose="020B0503020204020204" pitchFamily="34" charset="-122"/>
                          </a:rPr>
                          <m:t>+</m:t>
                        </m:r>
                        <m:r>
                          <a:rPr lang="en-US" altLang="zh-CN" sz="1600" b="0" i="1" kern="0" smtClean="0">
                            <a:latin typeface="Cambria Math" panose="02040503050406030204" pitchFamily="18" charset="0"/>
                            <a:ea typeface="Microsoft YaHei UI" panose="020B0503020204020204" pitchFamily="34" charset="-122"/>
                          </a:rPr>
                          <m:t>𝑟</m:t>
                        </m:r>
                      </m:e>
                    </m:d>
                    <m:r>
                      <a:rPr lang="en-US" altLang="zh-CN" sz="1600" b="0" i="1" kern="0" smtClean="0">
                        <a:latin typeface="Cambria Math" charset="0"/>
                        <a:ea typeface="Microsoft YaHei UI" panose="020B0503020204020204" pitchFamily="34" charset="-122"/>
                      </a:rPr>
                      <m:t>]</m:t>
                    </m:r>
                  </m:oMath>
                </a14:m>
                <a:r>
                  <a:rPr lang="zh-CN" altLang="en-US" sz="1600" kern="0" dirty="0" smtClean="0">
                    <a:latin typeface="Microsoft YaHei UI" panose="020B0503020204020204" pitchFamily="34" charset="-122"/>
                    <a:ea typeface="Microsoft YaHei UI" panose="020B0503020204020204" pitchFamily="34" charset="-122"/>
                  </a:rPr>
                  <a:t>  </a:t>
                </a:r>
              </a:p>
              <a:p>
                <a:pPr marL="457200" lvl="1" indent="0" eaLnBrk="1" hangingPunct="1">
                  <a:lnSpc>
                    <a:spcPts val="2000"/>
                  </a:lnSpc>
                  <a:buNone/>
                  <a:defRPr/>
                </a:pPr>
                <a:r>
                  <a:rPr lang="zh-CN" altLang="en-US" sz="1600" kern="0" dirty="0">
                    <a:latin typeface="Microsoft YaHei UI" panose="020B0503020204020204" pitchFamily="34" charset="-122"/>
                    <a:ea typeface="Microsoft YaHei UI" panose="020B0503020204020204" pitchFamily="34" charset="-122"/>
                  </a:rPr>
                  <a:t> </a:t>
                </a:r>
                <a:r>
                  <a:rPr lang="zh-CN" altLang="en-US" sz="1600" kern="0" dirty="0" smtClean="0">
                    <a:latin typeface="Microsoft YaHei UI" panose="020B0503020204020204" pitchFamily="34" charset="-122"/>
                    <a:ea typeface="Microsoft YaHei UI" panose="020B0503020204020204" pitchFamily="34" charset="-122"/>
                  </a:rPr>
                  <a:t>    积分尺度   </a:t>
                </a: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i="1" kern="0" smtClean="0">
                            <a:latin typeface="Cambria Math" charset="0"/>
                            <a:ea typeface="Cambria Math" charset="0"/>
                            <a:cs typeface="Cambria Math" charset="0"/>
                          </a:rPr>
                          <m:t>𝜆</m:t>
                        </m:r>
                      </m:e>
                      <m:sub>
                        <m:r>
                          <a:rPr lang="en-US" altLang="zh-CN" sz="1600" b="0" i="1" kern="0" smtClean="0">
                            <a:latin typeface="Cambria Math" charset="0"/>
                            <a:ea typeface="Microsoft YaHei UI" panose="020B0503020204020204" pitchFamily="34" charset="-122"/>
                          </a:rPr>
                          <m:t>𝑖</m:t>
                        </m:r>
                      </m:sub>
                    </m:sSub>
                    <m:r>
                      <a:rPr lang="en-US" altLang="zh-CN" sz="1600" b="0" i="1" kern="0" smtClean="0">
                        <a:latin typeface="Cambria Math" charset="0"/>
                        <a:ea typeface="Microsoft YaHei UI" panose="020B0503020204020204" pitchFamily="34" charset="-122"/>
                      </a:rPr>
                      <m:t>=</m:t>
                    </m:r>
                    <m:f>
                      <m:fPr>
                        <m:ctrlPr>
                          <a:rPr lang="mr-IN" altLang="zh-CN" sz="1600" b="0" i="1" kern="0" smtClean="0">
                            <a:latin typeface="Cambria Math" panose="02040503050406030204" pitchFamily="18" charset="0"/>
                            <a:ea typeface="Microsoft YaHei UI" panose="020B0503020204020204" pitchFamily="34" charset="-122"/>
                          </a:rPr>
                        </m:ctrlPr>
                      </m:fPr>
                      <m:num>
                        <m:r>
                          <a:rPr lang="en-US" altLang="zh-CN" sz="1600" b="0" i="1" kern="0" smtClean="0">
                            <a:latin typeface="Cambria Math" charset="0"/>
                            <a:ea typeface="Microsoft YaHei UI" panose="020B0503020204020204" pitchFamily="34" charset="-122"/>
                          </a:rPr>
                          <m:t>1</m:t>
                        </m:r>
                      </m:num>
                      <m:den>
                        <m:sSup>
                          <m:sSupPr>
                            <m:ctrlPr>
                              <a:rPr lang="en-US" altLang="zh-CN" sz="1600" b="0" i="1" kern="0" smtClean="0">
                                <a:latin typeface="Cambria Math" panose="02040503050406030204" pitchFamily="18" charset="0"/>
                                <a:ea typeface="Microsoft YaHei UI" panose="020B0503020204020204" pitchFamily="34" charset="-122"/>
                              </a:rPr>
                            </m:ctrlPr>
                          </m:sSupPr>
                          <m:e>
                            <m:r>
                              <a:rPr lang="zh-CN" altLang="en-US" sz="1600" b="0" i="1" kern="0" smtClean="0">
                                <a:latin typeface="Cambria Math" panose="02040503050406030204" pitchFamily="18" charset="0"/>
                                <a:ea typeface="Microsoft YaHei UI" panose="020B0503020204020204" pitchFamily="34" charset="-122"/>
                              </a:rPr>
                              <m:t>𝜎</m:t>
                            </m:r>
                          </m:e>
                          <m:sup>
                            <m:r>
                              <a:rPr lang="en-US" altLang="zh-CN" sz="1600" b="0" i="1" kern="0" smtClean="0">
                                <a:latin typeface="Cambria Math" panose="02040503050406030204" pitchFamily="18" charset="0"/>
                                <a:ea typeface="Microsoft YaHei UI" panose="020B0503020204020204" pitchFamily="34" charset="-122"/>
                              </a:rPr>
                              <m:t>2</m:t>
                            </m:r>
                          </m:sup>
                        </m:sSup>
                      </m:den>
                    </m:f>
                    <m:nary>
                      <m:naryPr>
                        <m:ctrlPr>
                          <a:rPr lang="en-US" altLang="zh-CN" sz="1600" b="0" i="1" kern="0" smtClean="0">
                            <a:latin typeface="Cambria Math" panose="02040503050406030204" pitchFamily="18" charset="0"/>
                            <a:ea typeface="Microsoft YaHei UI" panose="020B0503020204020204" pitchFamily="34" charset="-122"/>
                          </a:rPr>
                        </m:ctrlPr>
                      </m:naryPr>
                      <m:sub>
                        <m:r>
                          <m:rPr>
                            <m:brk m:alnAt="23"/>
                          </m:rPr>
                          <a:rPr lang="en-US" altLang="zh-CN" sz="1600" b="0" i="1" kern="0" smtClean="0">
                            <a:latin typeface="Cambria Math" panose="02040503050406030204" pitchFamily="18" charset="0"/>
                            <a:ea typeface="Microsoft YaHei UI" panose="020B0503020204020204" pitchFamily="34" charset="-122"/>
                          </a:rPr>
                          <m:t>0</m:t>
                        </m:r>
                      </m:sub>
                      <m:sup>
                        <m:r>
                          <a:rPr lang="en-US" altLang="zh-CN" sz="1600" b="0" i="1" kern="0" smtClean="0">
                            <a:latin typeface="Cambria Math" panose="02040503050406030204" pitchFamily="18" charset="0"/>
                            <a:ea typeface="Cambria Math" panose="02040503050406030204" pitchFamily="18" charset="0"/>
                          </a:rPr>
                          <m:t>∞</m:t>
                        </m:r>
                      </m:sup>
                      <m:e>
                        <m:r>
                          <a:rPr lang="en-US" altLang="zh-CN" sz="1600" b="0" i="1" kern="0" smtClean="0">
                            <a:latin typeface="Cambria Math" panose="02040503050406030204" pitchFamily="18" charset="0"/>
                            <a:ea typeface="Microsoft YaHei UI" panose="020B0503020204020204" pitchFamily="34" charset="-122"/>
                          </a:rPr>
                          <m:t>𝐶</m:t>
                        </m:r>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panose="02040503050406030204" pitchFamily="18" charset="0"/>
                                <a:ea typeface="Microsoft YaHei UI" panose="020B0503020204020204" pitchFamily="34" charset="-122"/>
                              </a:rPr>
                              <m:t>𝑟</m:t>
                            </m:r>
                          </m:e>
                        </m:d>
                        <m:r>
                          <a:rPr lang="en-US" altLang="zh-CN" sz="1600" b="0" i="1" kern="0" smtClean="0">
                            <a:latin typeface="Cambria Math" panose="02040503050406030204" pitchFamily="18" charset="0"/>
                            <a:ea typeface="Microsoft YaHei UI" panose="020B0503020204020204" pitchFamily="34" charset="-122"/>
                          </a:rPr>
                          <m:t>𝑑𝑟</m:t>
                        </m:r>
                      </m:e>
                    </m:nary>
                  </m:oMath>
                </a14:m>
                <a:r>
                  <a:rPr lang="zh-CN" altLang="en-US" sz="1600" kern="0" dirty="0" smtClean="0">
                    <a:latin typeface="Microsoft YaHei UI" panose="020B0503020204020204" pitchFamily="34" charset="-122"/>
                    <a:ea typeface="Microsoft YaHei UI" panose="020B0503020204020204" pitchFamily="34" charset="-122"/>
                  </a:rPr>
                  <a:t>    </a:t>
                </a: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r>
                  <a:rPr lang="en-US" altLang="zh-CN" sz="1800" b="1" kern="0" dirty="0">
                    <a:latin typeface="Microsoft YaHei UI" panose="020B0503020204020204" pitchFamily="34" charset="-122"/>
                    <a:ea typeface="Microsoft YaHei UI" panose="020B0503020204020204" pitchFamily="34" charset="-122"/>
                  </a:rPr>
                  <a:t> </a:t>
                </a:r>
                <a:r>
                  <a:rPr lang="en-US" altLang="zh-CN" sz="1800" b="1"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r>
                  <a:rPr lang="zh-CN" altLang="en-US" sz="1600" b="1" kern="0" dirty="0" smtClean="0">
                    <a:latin typeface="Microsoft YaHei UI" panose="020B0503020204020204" pitchFamily="34" charset="-122"/>
                    <a:ea typeface="Microsoft YaHei UI" panose="020B0503020204020204" pitchFamily="34" charset="-122"/>
                  </a:rPr>
                  <a:t>估计方法：贝叶斯公式</a:t>
                </a: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Choice>
        <mc:Fallback xmlns="">
          <p:sp>
            <p:nvSpPr>
              <p:cNvPr id="12" name="Rectangle 3"/>
              <p:cNvSpPr txBox="1">
                <a:spLocks noRot="1" noChangeAspect="1" noMove="1" noResize="1" noEditPoints="1" noAdjustHandles="1" noChangeArrowheads="1" noChangeShapeType="1" noTextEdit="1"/>
              </p:cNvSpPr>
              <p:nvPr/>
            </p:nvSpPr>
            <p:spPr>
              <a:xfrm>
                <a:off x="251520" y="1580232"/>
                <a:ext cx="5040560" cy="919510"/>
              </a:xfrm>
              <a:prstGeom prst="rect">
                <a:avLst/>
              </a:prstGeom>
              <a:blipFill>
                <a:blip r:embed="rId4"/>
                <a:stretch>
                  <a:fillRect t="-2649" b="-1284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1159500" y="3723878"/>
                <a:ext cx="1612300" cy="5127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𝐵</m:t>
                          </m:r>
                        </m:e>
                        <m:e>
                          <m:r>
                            <a:rPr lang="en-US" altLang="zh-CN" sz="1600" b="0" i="1" smtClean="0">
                              <a:latin typeface="Cambria Math" panose="02040503050406030204" pitchFamily="18" charset="0"/>
                            </a:rPr>
                            <m:t>𝐴</m:t>
                          </m:r>
                        </m:e>
                      </m:d>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𝐵</m:t>
                          </m:r>
                          <m:r>
                            <a:rPr lang="en-US" altLang="zh-CN" sz="1600" b="0" i="1" smtClean="0">
                              <a:latin typeface="Cambria Math" panose="02040503050406030204" pitchFamily="18" charset="0"/>
                            </a:rPr>
                            <m:t>)</m:t>
                          </m:r>
                        </m:num>
                        <m:den>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m:t>
                          </m:r>
                        </m:den>
                      </m:f>
                    </m:oMath>
                  </m:oMathPara>
                </a14:m>
                <a:endParaRPr lang="zh-CN" altLang="en-US" sz="16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159500" y="3723878"/>
                <a:ext cx="1612300" cy="5127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4788024" y="3651870"/>
                <a:ext cx="3528392" cy="1059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𝑓</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𝑃</m:t>
                          </m:r>
                        </m:e>
                        <m:e>
                          <m:r>
                            <a:rPr lang="en-US" altLang="zh-CN" sz="1600" b="0" i="1" smtClean="0">
                              <a:latin typeface="Cambria Math" panose="02040503050406030204" pitchFamily="18" charset="0"/>
                            </a:rPr>
                            <m:t>𝑂</m:t>
                          </m:r>
                        </m:e>
                      </m:d>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num>
                        <m:den>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𝑓</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num>
                        <m:den>
                          <m:nary>
                            <m:naryPr>
                              <m:limLoc m:val="undOvr"/>
                              <m:subHide m:val="on"/>
                              <m:supHide m:val="on"/>
                              <m:ctrlPr>
                                <a:rPr lang="en-US" altLang="zh-CN" sz="1600" b="0" i="1" smtClean="0">
                                  <a:latin typeface="Cambria Math" panose="02040503050406030204" pitchFamily="18" charset="0"/>
                                </a:rPr>
                              </m:ctrlPr>
                            </m:naryPr>
                            <m:sub/>
                            <m:sup/>
                            <m:e>
                              <m:r>
                                <a:rPr lang="en-US" altLang="zh-CN" sz="1600" b="0" i="1" smtClean="0">
                                  <a:latin typeface="Cambria Math" panose="02040503050406030204" pitchFamily="18" charset="0"/>
                                </a:rPr>
                                <m:t>𝑓</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𝑑</m:t>
                              </m:r>
                              <m:r>
                                <m:rPr>
                                  <m:sty m:val="p"/>
                                </m:rPr>
                                <a:rPr lang="en-US" altLang="zh-CN" sz="1600" i="1">
                                  <a:latin typeface="Cambria Math" panose="02040503050406030204" pitchFamily="18" charset="0"/>
                                </a:rPr>
                                <m:t>p</m:t>
                              </m:r>
                            </m:e>
                          </m:nary>
                        </m:den>
                      </m:f>
                    </m:oMath>
                  </m:oMathPara>
                </a14:m>
                <a:endParaRPr lang="en-US" altLang="zh-CN" sz="1600" b="0" dirty="0" smtClean="0"/>
              </a:p>
              <a:p>
                <a:r>
                  <a:rPr lang="en-US" altLang="zh-CN" sz="1600" dirty="0" smtClean="0"/>
                  <a:t>				</a:t>
                </a:r>
                <a:endParaRPr lang="zh-CN" altLang="en-US" sz="1600" i="1" dirty="0">
                  <a:latin typeface="Cambria Math" panose="02040503050406030204" pitchFamily="18"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4788024" y="3651870"/>
                <a:ext cx="3528392" cy="105977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4910552" y="4299942"/>
                <a:ext cx="18907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𝑂</m:t>
                      </m:r>
                      <m:r>
                        <a:rPr lang="en-US" altLang="zh-CN" i="1">
                          <a:latin typeface="Cambria Math" panose="02040503050406030204" pitchFamily="18" charset="0"/>
                        </a:rPr>
                        <m:t>=</m:t>
                      </m:r>
                      <m:r>
                        <a:rPr lang="en-US" altLang="zh-CN" b="0" i="1" smtClean="0">
                          <a:latin typeface="Cambria Math" panose="02040503050406030204" pitchFamily="18" charset="0"/>
                        </a:rPr>
                        <m:t>𝑜𝑏𝑠𝑒𝑟𝑣𝑎𝑡𝑖𝑜𝑛𝑠</m:t>
                      </m:r>
                    </m:oMath>
                  </m:oMathPara>
                </a14:m>
                <a:endParaRPr lang="zh-CN" altLang="en-US" i="1" dirty="0"/>
              </a:p>
            </p:txBody>
          </p:sp>
        </mc:Choice>
        <mc:Fallback xmlns="">
          <p:sp>
            <p:nvSpPr>
              <p:cNvPr id="4" name="文本框 3"/>
              <p:cNvSpPr txBox="1">
                <a:spLocks noRot="1" noChangeAspect="1" noMove="1" noResize="1" noEditPoints="1" noAdjustHandles="1" noChangeArrowheads="1" noChangeShapeType="1" noTextEdit="1"/>
              </p:cNvSpPr>
              <p:nvPr/>
            </p:nvSpPr>
            <p:spPr>
              <a:xfrm>
                <a:off x="4910552" y="4299942"/>
                <a:ext cx="1890710" cy="276999"/>
              </a:xfrm>
              <a:prstGeom prst="rect">
                <a:avLst/>
              </a:prstGeom>
              <a:blipFill>
                <a:blip r:embed="rId7"/>
                <a:stretch>
                  <a:fillRect l="-2581" r="-2581"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4910552" y="4576941"/>
                <a:ext cx="17400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r>
                        <a:rPr lang="en-US" altLang="zh-CN" i="1">
                          <a:latin typeface="Cambria Math" panose="02040503050406030204" pitchFamily="18" charset="0"/>
                        </a:rPr>
                        <m:t>=</m:t>
                      </m:r>
                      <m:r>
                        <a:rPr lang="en-US" altLang="zh-CN" b="0" i="1" smtClean="0">
                          <a:latin typeface="Cambria Math" panose="02040503050406030204" pitchFamily="18" charset="0"/>
                        </a:rPr>
                        <m:t>𝑝𝑎𝑟𝑎𝑚𝑒𝑡𝑒𝑟𝑠</m:t>
                      </m:r>
                    </m:oMath>
                  </m:oMathPara>
                </a14:m>
                <a:endParaRPr lang="zh-CN" altLang="en-US" i="1" dirty="0"/>
              </a:p>
            </p:txBody>
          </p:sp>
        </mc:Choice>
        <mc:Fallback xmlns="">
          <p:sp>
            <p:nvSpPr>
              <p:cNvPr id="16" name="文本框 15"/>
              <p:cNvSpPr txBox="1">
                <a:spLocks noRot="1" noChangeAspect="1" noMove="1" noResize="1" noEditPoints="1" noAdjustHandles="1" noChangeArrowheads="1" noChangeShapeType="1" noTextEdit="1"/>
              </p:cNvSpPr>
              <p:nvPr/>
            </p:nvSpPr>
            <p:spPr>
              <a:xfrm>
                <a:off x="4910552" y="4576941"/>
                <a:ext cx="1740028" cy="276999"/>
              </a:xfrm>
              <a:prstGeom prst="rect">
                <a:avLst/>
              </a:prstGeom>
              <a:blipFill>
                <a:blip r:embed="rId8"/>
                <a:stretch>
                  <a:fillRect l="-2807" r="-3509" b="-31111"/>
                </a:stretch>
              </a:blipFill>
            </p:spPr>
            <p:txBody>
              <a:bodyPr/>
              <a:lstStyle/>
              <a:p>
                <a:r>
                  <a:rPr lang="zh-CN" altLang="en-US">
                    <a:noFill/>
                  </a:rPr>
                  <a:t> </a:t>
                </a:r>
              </a:p>
            </p:txBody>
          </p:sp>
        </mc:Fallback>
      </mc:AlternateContent>
      <p:sp>
        <p:nvSpPr>
          <p:cNvPr id="5" name="右箭头 4"/>
          <p:cNvSpPr/>
          <p:nvPr/>
        </p:nvSpPr>
        <p:spPr>
          <a:xfrm>
            <a:off x="2960734" y="3795886"/>
            <a:ext cx="1732593" cy="267841"/>
          </a:xfrm>
          <a:prstGeom prst="rightArrow">
            <a:avLst>
              <a:gd name="adj1" fmla="val 50000"/>
              <a:gd name="adj2" fmla="val 1081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791973" y="3371077"/>
            <a:ext cx="902811" cy="307777"/>
          </a:xfrm>
          <a:prstGeom prst="rect">
            <a:avLst/>
          </a:prstGeom>
          <a:noFill/>
        </p:spPr>
        <p:txBody>
          <a:bodyPr wrap="none" rtlCol="0">
            <a:spAutoFit/>
          </a:bodyPr>
          <a:lstStyle/>
          <a:p>
            <a:r>
              <a:rPr lang="zh-CN" altLang="en-US" sz="1400" b="1" dirty="0" smtClean="0">
                <a:solidFill>
                  <a:srgbClr val="FF0000"/>
                </a:solidFill>
                <a:latin typeface="Microsoft YaHei UI Light" panose="020B0502040204020203" pitchFamily="34" charset="-122"/>
                <a:ea typeface="Microsoft YaHei UI Light" panose="020B0502040204020203" pitchFamily="34" charset="-122"/>
              </a:rPr>
              <a:t>后验分布</a:t>
            </a:r>
            <a:endParaRPr lang="zh-CN" altLang="en-US" sz="1400" b="1" dirty="0">
              <a:solidFill>
                <a:srgbClr val="FF0000"/>
              </a:solidFill>
              <a:latin typeface="Microsoft YaHei UI Light" panose="020B0502040204020203" pitchFamily="34" charset="-122"/>
              <a:ea typeface="Microsoft YaHei UI Light" panose="020B0502040204020203" pitchFamily="34" charset="-122"/>
            </a:endParaRPr>
          </a:p>
        </p:txBody>
      </p:sp>
      <p:sp>
        <p:nvSpPr>
          <p:cNvPr id="23" name="文本框 22"/>
          <p:cNvSpPr txBox="1"/>
          <p:nvPr/>
        </p:nvSpPr>
        <p:spPr>
          <a:xfrm>
            <a:off x="6785762" y="3344093"/>
            <a:ext cx="902811" cy="307777"/>
          </a:xfrm>
          <a:prstGeom prst="rect">
            <a:avLst/>
          </a:prstGeom>
          <a:noFill/>
        </p:spPr>
        <p:txBody>
          <a:bodyPr wrap="none" rtlCol="0">
            <a:spAutoFit/>
          </a:bodyPr>
          <a:lstStyle/>
          <a:p>
            <a:r>
              <a:rPr lang="zh-CN" altLang="en-US" sz="1400" b="1" dirty="0" smtClean="0">
                <a:solidFill>
                  <a:srgbClr val="FF0000"/>
                </a:solidFill>
                <a:latin typeface="Microsoft YaHei UI Light" panose="020B0502040204020203" pitchFamily="34" charset="-122"/>
                <a:ea typeface="Microsoft YaHei UI Light" panose="020B0502040204020203" pitchFamily="34" charset="-122"/>
              </a:rPr>
              <a:t>似然函数</a:t>
            </a:r>
            <a:endParaRPr lang="zh-CN" altLang="en-US" sz="1400" b="1" dirty="0">
              <a:solidFill>
                <a:srgbClr val="FF0000"/>
              </a:solidFill>
              <a:latin typeface="Microsoft YaHei UI Light" panose="020B0502040204020203" pitchFamily="34" charset="-122"/>
              <a:ea typeface="Microsoft YaHei UI Light" panose="020B0502040204020203" pitchFamily="34" charset="-122"/>
            </a:endParaRPr>
          </a:p>
        </p:txBody>
      </p:sp>
      <p:sp>
        <p:nvSpPr>
          <p:cNvPr id="24" name="文本框 23"/>
          <p:cNvSpPr txBox="1"/>
          <p:nvPr/>
        </p:nvSpPr>
        <p:spPr>
          <a:xfrm>
            <a:off x="7959093" y="3622029"/>
            <a:ext cx="902811" cy="307777"/>
          </a:xfrm>
          <a:prstGeom prst="rect">
            <a:avLst/>
          </a:prstGeom>
          <a:noFill/>
        </p:spPr>
        <p:txBody>
          <a:bodyPr wrap="none" rtlCol="0">
            <a:spAutoFit/>
          </a:bodyPr>
          <a:lstStyle/>
          <a:p>
            <a:r>
              <a:rPr lang="zh-CN" altLang="en-US" sz="1400" b="1" dirty="0">
                <a:solidFill>
                  <a:srgbClr val="FF0000"/>
                </a:solidFill>
                <a:latin typeface="Microsoft YaHei UI Light" panose="020B0502040204020203" pitchFamily="34" charset="-122"/>
                <a:ea typeface="Microsoft YaHei UI Light" panose="020B0502040204020203" pitchFamily="34" charset="-122"/>
              </a:rPr>
              <a:t>先验分布</a:t>
            </a:r>
          </a:p>
        </p:txBody>
      </p:sp>
      <p:pic>
        <p:nvPicPr>
          <p:cNvPr id="7" name="图片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81960" y="960434"/>
            <a:ext cx="3340519" cy="2177401"/>
          </a:xfrm>
          <a:prstGeom prst="rect">
            <a:avLst/>
          </a:prstGeom>
        </p:spPr>
      </p:pic>
    </p:spTree>
    <p:extLst>
      <p:ext uri="{BB962C8B-B14F-4D97-AF65-F5344CB8AC3E}">
        <p14:creationId xmlns:p14="http://schemas.microsoft.com/office/powerpoint/2010/main" val="92404207"/>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先验分布：从零起步</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1" name="矩形 20"/>
          <p:cNvSpPr/>
          <p:nvPr/>
        </p:nvSpPr>
        <p:spPr>
          <a:xfrm>
            <a:off x="1539356" y="473690"/>
            <a:ext cx="1261884"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先验分布</a:t>
            </a:r>
            <a:endParaRPr lang="zh-CN" altLang="en-US" sz="1200" dirty="0">
              <a:latin typeface="Microsoft YaHei UI" panose="020B0503020204020204" pitchFamily="34" charset="-122"/>
              <a:ea typeface="Microsoft YaHei UI" panose="020B0503020204020204" pitchFamily="34" charset="-122"/>
            </a:endParaRPr>
          </a:p>
        </p:txBody>
      </p:sp>
      <p:sp>
        <p:nvSpPr>
          <p:cNvPr id="22" name="矩形 21"/>
          <p:cNvSpPr/>
          <p:nvPr/>
        </p:nvSpPr>
        <p:spPr>
          <a:xfrm>
            <a:off x="3650412" y="470302"/>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似然函数</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3" name="文本框 22"/>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4</a:t>
            </a:r>
            <a:endParaRPr lang="zh-CN" altLang="en-US" sz="1200" dirty="0">
              <a:latin typeface="Times New Roman" panose="02020603050405020304" pitchFamily="18" charset="0"/>
              <a:cs typeface="Times New Roman" panose="02020603050405020304" pitchFamily="18" charset="0"/>
            </a:endParaRPr>
          </a:p>
        </p:txBody>
      </p:sp>
      <p:sp>
        <p:nvSpPr>
          <p:cNvPr id="24" name="矩形 23"/>
          <p:cNvSpPr/>
          <p:nvPr/>
        </p:nvSpPr>
        <p:spPr>
          <a:xfrm>
            <a:off x="5669756" y="456683"/>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后验分布</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5" name="矩形 24"/>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研究背景</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6" name="矩形 25"/>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研究内容</a:t>
            </a:r>
            <a:endParaRPr lang="zh-CN" altLang="en-US" sz="1600" b="1" dirty="0">
              <a:latin typeface="Microsoft YaHei UI" panose="020B0503020204020204" pitchFamily="34" charset="-122"/>
              <a:ea typeface="Microsoft YaHei UI" panose="020B0503020204020204" pitchFamily="34" charset="-122"/>
            </a:endParaRPr>
          </a:p>
        </p:txBody>
      </p:sp>
      <p:sp>
        <p:nvSpPr>
          <p:cNvPr id="28" name="矩形 27"/>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1482110"/>
            <a:ext cx="5040560"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均匀分布、相似区域、历史资料</a:t>
            </a:r>
            <a:r>
              <a:rPr lang="en-US" altLang="zh-CN" sz="1600" kern="0" dirty="0" smtClean="0">
                <a:latin typeface="Microsoft YaHei UI" panose="020B0503020204020204" pitchFamily="34" charset="-122"/>
                <a:ea typeface="Microsoft YaHei UI" panose="020B0503020204020204" pitchFamily="34" charset="-122"/>
              </a:rPr>
              <a:t>……</a:t>
            </a:r>
          </a:p>
          <a:p>
            <a:pPr marL="457200" lvl="1" indent="0" eaLnBrk="1" hangingPunct="1">
              <a:lnSpc>
                <a:spcPts val="2000"/>
              </a:lnSpc>
              <a:spcAft>
                <a:spcPts val="1200"/>
              </a:spcAft>
              <a:buNone/>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pic>
        <p:nvPicPr>
          <p:cNvPr id="15" name="图片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6860" y="1368475"/>
            <a:ext cx="4464606" cy="3054731"/>
          </a:xfrm>
          <a:prstGeom prst="rect">
            <a:avLst/>
          </a:prstGeom>
        </p:spPr>
      </p:pic>
    </p:spTree>
    <p:extLst>
      <p:ext uri="{BB962C8B-B14F-4D97-AF65-F5344CB8AC3E}">
        <p14:creationId xmlns:p14="http://schemas.microsoft.com/office/powerpoint/2010/main" val="2560554757"/>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研究背景</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研究内容</a:t>
            </a:r>
            <a:endParaRPr lang="zh-CN" altLang="en-US" sz="1600" b="1"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5</a:t>
            </a:r>
            <a:endParaRPr lang="zh-CN" altLang="en-US" sz="1200" dirty="0">
              <a:latin typeface="Times New Roman" panose="02020603050405020304" pitchFamily="18" charset="0"/>
              <a:cs typeface="Times New Roman" panose="02020603050405020304" pitchFamily="18" charset="0"/>
            </a:endParaRPr>
          </a:p>
        </p:txBody>
      </p:sp>
      <p:sp>
        <p:nvSpPr>
          <p:cNvPr id="23" name="矩形 22"/>
          <p:cNvSpPr/>
          <p:nvPr/>
        </p:nvSpPr>
        <p:spPr>
          <a:xfrm>
            <a:off x="1539356" y="473690"/>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先验分布</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1261884"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似然函数</a:t>
            </a:r>
            <a:endParaRPr lang="en-US" altLang="zh-CN" sz="1200" dirty="0">
              <a:latin typeface="Microsoft YaHei UI" panose="020B0503020204020204" pitchFamily="34" charset="-122"/>
              <a:ea typeface="Microsoft YaHei UI" panose="020B0503020204020204" pitchFamily="34" charset="-122"/>
            </a:endParaRPr>
          </a:p>
        </p:txBody>
      </p:sp>
      <p:sp>
        <p:nvSpPr>
          <p:cNvPr id="28" name="矩形 27"/>
          <p:cNvSpPr/>
          <p:nvPr/>
        </p:nvSpPr>
        <p:spPr>
          <a:xfrm>
            <a:off x="5669756" y="456683"/>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后验分布</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2"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先验分布：从零起步</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2181329"/>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似然函数：采样</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6" name="Rectangle 3"/>
          <p:cNvSpPr txBox="1">
            <a:spLocks noChangeArrowheads="1"/>
          </p:cNvSpPr>
          <p:nvPr/>
        </p:nvSpPr>
        <p:spPr>
          <a:xfrm>
            <a:off x="251520" y="1482110"/>
            <a:ext cx="5040560"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均匀分布、相似区域、历史资料</a:t>
            </a:r>
            <a:r>
              <a:rPr lang="en-US" altLang="zh-CN" sz="1600" kern="0" dirty="0" smtClean="0">
                <a:latin typeface="Microsoft YaHei UI" panose="020B0503020204020204" pitchFamily="34" charset="-122"/>
                <a:ea typeface="Microsoft YaHei UI" panose="020B0503020204020204" pitchFamily="34" charset="-122"/>
              </a:rPr>
              <a:t>……</a:t>
            </a:r>
          </a:p>
          <a:p>
            <a:pPr marL="457200" lvl="1" indent="0" eaLnBrk="1" hangingPunct="1">
              <a:lnSpc>
                <a:spcPts val="2000"/>
              </a:lnSpc>
              <a:spcAft>
                <a:spcPts val="1200"/>
              </a:spcAft>
              <a:buNone/>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mc:Choice xmlns:a14="http://schemas.microsoft.com/office/drawing/2010/main" Requires="a14">
          <p:sp>
            <p:nvSpPr>
              <p:cNvPr id="15" name="Rectangle 3"/>
              <p:cNvSpPr txBox="1">
                <a:spLocks noChangeArrowheads="1"/>
              </p:cNvSpPr>
              <p:nvPr/>
            </p:nvSpPr>
            <p:spPr>
              <a:xfrm>
                <a:off x="251520" y="2689788"/>
                <a:ext cx="5760640" cy="110609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不同参数组合</a:t>
                </a:r>
                <a:r>
                  <a:rPr lang="en-US" altLang="zh-CN" sz="1600" kern="0" dirty="0" smtClean="0">
                    <a:latin typeface="Microsoft YaHei UI" panose="020B0503020204020204" pitchFamily="34" charset="-122"/>
                    <a:ea typeface="Microsoft YaHei UI" panose="020B0503020204020204" pitchFamily="34" charset="-122"/>
                  </a:rPr>
                  <a:t>+</a:t>
                </a:r>
                <a:r>
                  <a:rPr lang="zh-CN" altLang="en-US" sz="1600" kern="0" dirty="0">
                    <a:latin typeface="Microsoft YaHei UI" panose="020B0503020204020204" pitchFamily="34" charset="-122"/>
                    <a:ea typeface="Microsoft YaHei UI" panose="020B0503020204020204" pitchFamily="34" charset="-122"/>
                  </a:rPr>
                  <a:t>抽水</a:t>
                </a:r>
                <a:r>
                  <a:rPr lang="zh-CN" altLang="en-US" sz="1600" kern="0" dirty="0" smtClean="0">
                    <a:latin typeface="Microsoft YaHei UI" panose="020B0503020204020204" pitchFamily="34" charset="-122"/>
                    <a:ea typeface="Microsoft YaHei UI" panose="020B0503020204020204" pitchFamily="34" charset="-122"/>
                  </a:rPr>
                  <a:t>实验</a:t>
                </a:r>
                <a:r>
                  <a:rPr lang="zh-CN" altLang="en-US" sz="1600" kern="0" dirty="0" smtClean="0">
                    <a:latin typeface="Microsoft YaHei UI" panose="020B0503020204020204" pitchFamily="34" charset="-122"/>
                    <a:ea typeface="Microsoft YaHei UI" panose="020B0503020204020204" pitchFamily="34" charset="-122"/>
                  </a:rPr>
                  <a:t>数值模拟</a:t>
                </a:r>
              </a:p>
              <a:p>
                <a:pPr lvl="1" eaLnBrk="1" hangingPunct="1">
                  <a:lnSpc>
                    <a:spcPts val="2000"/>
                  </a:lnSpc>
                  <a:buFont typeface="Wingdings" panose="05000000000000000000" pitchFamily="2" charset="2"/>
                  <a:buChar char="l"/>
                  <a:defRPr/>
                </a:pP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b="0" i="1" kern="0" smtClean="0">
                            <a:latin typeface="Cambria Math" charset="0"/>
                            <a:ea typeface="Microsoft YaHei UI" panose="020B0503020204020204" pitchFamily="34" charset="-122"/>
                          </a:rPr>
                          <m:t>𝑇</m:t>
                        </m:r>
                      </m:e>
                      <m:sub>
                        <m:r>
                          <a:rPr lang="en-US" altLang="zh-CN" sz="1600" b="0" i="1" kern="0" smtClean="0">
                            <a:latin typeface="Cambria Math" charset="0"/>
                            <a:ea typeface="Microsoft YaHei UI" panose="020B0503020204020204" pitchFamily="34" charset="-122"/>
                          </a:rPr>
                          <m:t>𝑔</m:t>
                        </m:r>
                      </m:sub>
                    </m:sSub>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𝑟</m:t>
                        </m:r>
                      </m:e>
                    </m:d>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𝑟</m:t>
                    </m:r>
                    <m:r>
                      <a:rPr lang="zh-CN" altLang="en-US" sz="1600" b="0" i="1" kern="0" smtClean="0">
                        <a:latin typeface="Cambria Math" charset="0"/>
                        <a:ea typeface="Microsoft YaHei UI" panose="020B0503020204020204" pitchFamily="34" charset="-122"/>
                      </a:rPr>
                      <m:t>图像</m:t>
                    </m:r>
                  </m:oMath>
                </a14:m>
                <a:endParaRPr lang="en-US" altLang="zh-CN" sz="1600" b="0" i="1" kern="0" dirty="0" smtClean="0">
                  <a:latin typeface="Cambria Math" charset="0"/>
                  <a:ea typeface="Microsoft YaHei UI" panose="020B0503020204020204" pitchFamily="34" charset="-122"/>
                </a:endParaRPr>
              </a:p>
              <a:p>
                <a:pPr marL="457200" lvl="1" indent="0" eaLnBrk="1" hangingPunct="1">
                  <a:lnSpc>
                    <a:spcPts val="2000"/>
                  </a:lnSpc>
                  <a:buNone/>
                  <a:defRPr/>
                </a:pPr>
                <a:r>
                  <a:rPr lang="zh-CN" altLang="en-US" sz="1600" b="0" kern="0" dirty="0" smtClean="0">
                    <a:ea typeface="Microsoft YaHei UI" panose="020B0503020204020204" pitchFamily="34" charset="-122"/>
                  </a:rPr>
                  <a:t>    </a:t>
                </a:r>
                <a14:m>
                  <m:oMath xmlns:m="http://schemas.openxmlformats.org/officeDocument/2006/math">
                    <m:r>
                      <a:rPr lang="zh-CN" altLang="en-US" sz="1600" b="0" i="1" kern="0" smtClean="0">
                        <a:latin typeface="Cambria Math"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 </a:t>
                </a:r>
                <a:r>
                  <a:rPr lang="zh-CN" altLang="en-US" sz="1600" kern="0" dirty="0" smtClean="0">
                    <a:latin typeface="Microsoft YaHei UI" panose="020B0503020204020204" pitchFamily="34" charset="-122"/>
                    <a:ea typeface="Microsoft YaHei UI" panose="020B0503020204020204" pitchFamily="34" charset="-122"/>
                  </a:rPr>
                  <a:t>不同参数下的</a:t>
                </a: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b="0" i="1" kern="0" smtClean="0">
                            <a:latin typeface="Cambria Math" panose="02040503050406030204" pitchFamily="18" charset="0"/>
                            <a:ea typeface="Microsoft YaHei UI" panose="020B0503020204020204" pitchFamily="34" charset="-122"/>
                          </a:rPr>
                          <m:t>𝑇</m:t>
                        </m:r>
                      </m:e>
                      <m:sub>
                        <m:r>
                          <a:rPr lang="en-US" altLang="zh-CN" sz="1600" b="0" i="1" kern="0" smtClean="0">
                            <a:latin typeface="Cambria Math" panose="02040503050406030204" pitchFamily="18" charset="0"/>
                            <a:ea typeface="Microsoft YaHei UI" panose="020B0503020204020204" pitchFamily="34" charset="-122"/>
                          </a:rPr>
                          <m:t>𝑔</m:t>
                        </m:r>
                      </m:sub>
                    </m:sSub>
                    <m:r>
                      <a:rPr lang="en-US" altLang="zh-CN" sz="1600" b="0" i="1" kern="0" smtClean="0">
                        <a:latin typeface="Cambria Math" panose="02040503050406030204" pitchFamily="18" charset="0"/>
                        <a:ea typeface="Microsoft YaHei UI" panose="020B0503020204020204" pitchFamily="34" charset="-122"/>
                      </a:rPr>
                      <m:t>(</m:t>
                    </m:r>
                    <m:r>
                      <a:rPr lang="en-US" altLang="zh-CN" sz="1600" b="0" i="1" kern="0" smtClean="0">
                        <a:latin typeface="Cambria Math" panose="02040503050406030204" pitchFamily="18" charset="0"/>
                        <a:ea typeface="Microsoft YaHei UI" panose="020B0503020204020204" pitchFamily="34" charset="-122"/>
                      </a:rPr>
                      <m:t>𝑟</m:t>
                    </m:r>
                    <m:r>
                      <a:rPr lang="en-US" altLang="zh-CN" sz="1600" b="0" i="1" kern="0" smtClean="0">
                        <a:latin typeface="Cambria Math" panose="02040503050406030204" pitchFamily="18"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 </a:t>
                </a:r>
              </a:p>
              <a:p>
                <a:pPr marL="457200" lvl="1" indent="0" eaLnBrk="1" hangingPunct="1">
                  <a:lnSpc>
                    <a:spcPts val="2000"/>
                  </a:lnSpc>
                  <a:spcAft>
                    <a:spcPts val="1200"/>
                  </a:spcAft>
                  <a:buNone/>
                  <a:defRPr/>
                </a:pP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Choice>
        <mc:Fallback>
          <p:sp>
            <p:nvSpPr>
              <p:cNvPr id="15" name="Rectangle 3"/>
              <p:cNvSpPr txBox="1">
                <a:spLocks noRot="1" noChangeAspect="1" noMove="1" noResize="1" noEditPoints="1" noAdjustHandles="1" noChangeArrowheads="1" noChangeShapeType="1" noTextEdit="1"/>
              </p:cNvSpPr>
              <p:nvPr/>
            </p:nvSpPr>
            <p:spPr>
              <a:xfrm>
                <a:off x="251520" y="2689788"/>
                <a:ext cx="5760640" cy="1106097"/>
              </a:xfrm>
              <a:prstGeom prst="rect">
                <a:avLst/>
              </a:prstGeom>
              <a:blipFill>
                <a:blip r:embed="rId4"/>
                <a:stretch>
                  <a:fillRect t="-2198"/>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5">
            <a:extLst>
              <a:ext uri="{28A0092B-C50C-407E-A947-70E740481C1C}">
                <a14:useLocalDpi xmlns:a14="http://schemas.microsoft.com/office/drawing/2010/main" val="0"/>
              </a:ext>
            </a:extLst>
          </a:blip>
          <a:srcRect l="3772"/>
          <a:stretch/>
        </p:blipFill>
        <p:spPr>
          <a:xfrm>
            <a:off x="4614053" y="1237433"/>
            <a:ext cx="3747278" cy="3269263"/>
          </a:xfrm>
          <a:prstGeom prst="rect">
            <a:avLst/>
          </a:prstGeom>
        </p:spPr>
      </p:pic>
    </p:spTree>
    <p:extLst>
      <p:ext uri="{BB962C8B-B14F-4D97-AF65-F5344CB8AC3E}">
        <p14:creationId xmlns:p14="http://schemas.microsoft.com/office/powerpoint/2010/main" val="3905876491"/>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研究背景</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研究内容</a:t>
            </a:r>
            <a:endParaRPr lang="zh-CN" altLang="en-US" sz="1600" b="1"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6</a:t>
            </a:r>
            <a:endParaRPr lang="zh-CN" altLang="en-US" sz="1200" dirty="0">
              <a:latin typeface="Times New Roman" panose="02020603050405020304" pitchFamily="18" charset="0"/>
              <a:cs typeface="Times New Roman" panose="02020603050405020304" pitchFamily="18" charset="0"/>
            </a:endParaRPr>
          </a:p>
        </p:txBody>
      </p:sp>
      <p:sp>
        <p:nvSpPr>
          <p:cNvPr id="23" name="矩形 22"/>
          <p:cNvSpPr/>
          <p:nvPr/>
        </p:nvSpPr>
        <p:spPr>
          <a:xfrm>
            <a:off x="1539356" y="473690"/>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先验分布</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1261884"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似然函数</a:t>
            </a:r>
            <a:endParaRPr lang="en-US" altLang="zh-CN" sz="1200" dirty="0">
              <a:latin typeface="Microsoft YaHei UI" panose="020B0503020204020204" pitchFamily="34" charset="-122"/>
              <a:ea typeface="Microsoft YaHei UI" panose="020B0503020204020204" pitchFamily="34" charset="-122"/>
            </a:endParaRPr>
          </a:p>
        </p:txBody>
      </p:sp>
      <p:sp>
        <p:nvSpPr>
          <p:cNvPr id="28" name="矩形 27"/>
          <p:cNvSpPr/>
          <p:nvPr/>
        </p:nvSpPr>
        <p:spPr>
          <a:xfrm>
            <a:off x="5669756" y="456683"/>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后验分布</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2"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先验分布：从零起步</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2181329"/>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似然函数：采样</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6" name="Rectangle 3"/>
          <p:cNvSpPr txBox="1">
            <a:spLocks noChangeArrowheads="1"/>
          </p:cNvSpPr>
          <p:nvPr/>
        </p:nvSpPr>
        <p:spPr>
          <a:xfrm>
            <a:off x="251520" y="1482110"/>
            <a:ext cx="5040560"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均匀分布、相似区域、历史资料</a:t>
            </a:r>
            <a:r>
              <a:rPr lang="en-US" altLang="zh-CN" sz="1600" kern="0" dirty="0" smtClean="0">
                <a:latin typeface="Microsoft YaHei UI" panose="020B0503020204020204" pitchFamily="34" charset="-122"/>
                <a:ea typeface="Microsoft YaHei UI" panose="020B0503020204020204" pitchFamily="34" charset="-122"/>
              </a:rPr>
              <a:t>……</a:t>
            </a:r>
          </a:p>
          <a:p>
            <a:pPr marL="457200" lvl="1" indent="0" eaLnBrk="1" hangingPunct="1">
              <a:lnSpc>
                <a:spcPts val="2000"/>
              </a:lnSpc>
              <a:spcAft>
                <a:spcPts val="1200"/>
              </a:spcAft>
              <a:buNone/>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mc:Choice xmlns:a14="http://schemas.microsoft.com/office/drawing/2010/main" Requires="a14">
          <p:sp>
            <p:nvSpPr>
              <p:cNvPr id="15" name="Rectangle 3"/>
              <p:cNvSpPr txBox="1">
                <a:spLocks noChangeArrowheads="1"/>
              </p:cNvSpPr>
              <p:nvPr/>
            </p:nvSpPr>
            <p:spPr>
              <a:xfrm>
                <a:off x="251520" y="2689788"/>
                <a:ext cx="5760640" cy="110609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不同参数组合</a:t>
                </a:r>
                <a:r>
                  <a:rPr lang="en-US" altLang="zh-CN" sz="1600" kern="0" dirty="0" smtClean="0">
                    <a:latin typeface="Microsoft YaHei UI" panose="020B0503020204020204" pitchFamily="34" charset="-122"/>
                    <a:ea typeface="Microsoft YaHei UI" panose="020B0503020204020204" pitchFamily="34" charset="-122"/>
                  </a:rPr>
                  <a:t>+</a:t>
                </a:r>
                <a:r>
                  <a:rPr lang="zh-CN" altLang="en-US" sz="1600" kern="0" dirty="0">
                    <a:latin typeface="Microsoft YaHei UI" panose="020B0503020204020204" pitchFamily="34" charset="-122"/>
                    <a:ea typeface="Microsoft YaHei UI" panose="020B0503020204020204" pitchFamily="34" charset="-122"/>
                  </a:rPr>
                  <a:t>抽水</a:t>
                </a:r>
                <a:r>
                  <a:rPr lang="zh-CN" altLang="en-US" sz="1600" kern="0" dirty="0" smtClean="0">
                    <a:latin typeface="Microsoft YaHei UI" panose="020B0503020204020204" pitchFamily="34" charset="-122"/>
                    <a:ea typeface="Microsoft YaHei UI" panose="020B0503020204020204" pitchFamily="34" charset="-122"/>
                  </a:rPr>
                  <a:t>实验</a:t>
                </a:r>
                <a:r>
                  <a:rPr lang="zh-CN" altLang="en-US" sz="1600" kern="0" dirty="0" smtClean="0">
                    <a:latin typeface="Microsoft YaHei UI" panose="020B0503020204020204" pitchFamily="34" charset="-122"/>
                    <a:ea typeface="Microsoft YaHei UI" panose="020B0503020204020204" pitchFamily="34" charset="-122"/>
                  </a:rPr>
                  <a:t>数值模拟</a:t>
                </a:r>
              </a:p>
              <a:p>
                <a:pPr lvl="1" eaLnBrk="1" hangingPunct="1">
                  <a:lnSpc>
                    <a:spcPts val="2000"/>
                  </a:lnSpc>
                  <a:buFont typeface="Wingdings" panose="05000000000000000000" pitchFamily="2" charset="2"/>
                  <a:buChar char="l"/>
                  <a:defRPr/>
                </a:pP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b="0" i="1" kern="0" smtClean="0">
                            <a:latin typeface="Cambria Math" charset="0"/>
                            <a:ea typeface="Microsoft YaHei UI" panose="020B0503020204020204" pitchFamily="34" charset="-122"/>
                          </a:rPr>
                          <m:t>𝑇</m:t>
                        </m:r>
                      </m:e>
                      <m:sub>
                        <m:r>
                          <a:rPr lang="en-US" altLang="zh-CN" sz="1600" b="0" i="1" kern="0" smtClean="0">
                            <a:latin typeface="Cambria Math" charset="0"/>
                            <a:ea typeface="Microsoft YaHei UI" panose="020B0503020204020204" pitchFamily="34" charset="-122"/>
                          </a:rPr>
                          <m:t>𝑔</m:t>
                        </m:r>
                      </m:sub>
                    </m:sSub>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𝑟</m:t>
                        </m:r>
                      </m:e>
                    </m:d>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𝑟</m:t>
                    </m:r>
                    <m:r>
                      <a:rPr lang="zh-CN" altLang="en-US" sz="1600" b="0" i="1" kern="0" smtClean="0">
                        <a:latin typeface="Cambria Math" charset="0"/>
                        <a:ea typeface="Microsoft YaHei UI" panose="020B0503020204020204" pitchFamily="34" charset="-122"/>
                      </a:rPr>
                      <m:t>图像</m:t>
                    </m:r>
                  </m:oMath>
                </a14:m>
                <a:endParaRPr lang="en-US" altLang="zh-CN" sz="1600" b="0" i="1" kern="0" dirty="0" smtClean="0">
                  <a:latin typeface="Cambria Math" charset="0"/>
                  <a:ea typeface="Microsoft YaHei UI" panose="020B0503020204020204" pitchFamily="34" charset="-122"/>
                </a:endParaRPr>
              </a:p>
              <a:p>
                <a:pPr marL="457200" lvl="1" indent="0" eaLnBrk="1" hangingPunct="1">
                  <a:lnSpc>
                    <a:spcPts val="2000"/>
                  </a:lnSpc>
                  <a:buNone/>
                  <a:defRPr/>
                </a:pPr>
                <a:r>
                  <a:rPr lang="zh-CN" altLang="en-US" sz="1600" b="0" kern="0" dirty="0" smtClean="0">
                    <a:ea typeface="Microsoft YaHei UI" panose="020B0503020204020204" pitchFamily="34" charset="-122"/>
                  </a:rPr>
                  <a:t>    </a:t>
                </a:r>
                <a14:m>
                  <m:oMath xmlns:m="http://schemas.openxmlformats.org/officeDocument/2006/math">
                    <m:r>
                      <a:rPr lang="zh-CN" altLang="en-US" sz="1600" b="0" i="1" kern="0" smtClean="0">
                        <a:latin typeface="Cambria Math"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 </a:t>
                </a:r>
                <a:r>
                  <a:rPr lang="zh-CN" altLang="en-US" sz="1600" kern="0" dirty="0" smtClean="0">
                    <a:latin typeface="Microsoft YaHei UI" panose="020B0503020204020204" pitchFamily="34" charset="-122"/>
                    <a:ea typeface="Microsoft YaHei UI" panose="020B0503020204020204" pitchFamily="34" charset="-122"/>
                  </a:rPr>
                  <a:t>不同参数下的</a:t>
                </a: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b="0" i="1" kern="0" smtClean="0">
                            <a:latin typeface="Cambria Math" panose="02040503050406030204" pitchFamily="18" charset="0"/>
                            <a:ea typeface="Microsoft YaHei UI" panose="020B0503020204020204" pitchFamily="34" charset="-122"/>
                          </a:rPr>
                          <m:t>𝑇</m:t>
                        </m:r>
                      </m:e>
                      <m:sub>
                        <m:r>
                          <a:rPr lang="en-US" altLang="zh-CN" sz="1600" b="0" i="1" kern="0" smtClean="0">
                            <a:latin typeface="Cambria Math" panose="02040503050406030204" pitchFamily="18" charset="0"/>
                            <a:ea typeface="Microsoft YaHei UI" panose="020B0503020204020204" pitchFamily="34" charset="-122"/>
                          </a:rPr>
                          <m:t>𝑔</m:t>
                        </m:r>
                      </m:sub>
                    </m:sSub>
                    <m:r>
                      <a:rPr lang="en-US" altLang="zh-CN" sz="1600" b="0" i="1" kern="0" smtClean="0">
                        <a:latin typeface="Cambria Math" panose="02040503050406030204" pitchFamily="18" charset="0"/>
                        <a:ea typeface="Microsoft YaHei UI" panose="020B0503020204020204" pitchFamily="34" charset="-122"/>
                      </a:rPr>
                      <m:t>(</m:t>
                    </m:r>
                    <m:r>
                      <a:rPr lang="en-US" altLang="zh-CN" sz="1600" b="0" i="1" kern="0" smtClean="0">
                        <a:latin typeface="Cambria Math" panose="02040503050406030204" pitchFamily="18" charset="0"/>
                        <a:ea typeface="Microsoft YaHei UI" panose="020B0503020204020204" pitchFamily="34" charset="-122"/>
                      </a:rPr>
                      <m:t>𝑟</m:t>
                    </m:r>
                    <m:r>
                      <a:rPr lang="en-US" altLang="zh-CN" sz="1600" b="0" i="1" kern="0" smtClean="0">
                        <a:latin typeface="Cambria Math" panose="02040503050406030204" pitchFamily="18"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 </a:t>
                </a:r>
              </a:p>
              <a:p>
                <a:pPr marL="457200" lvl="1" indent="0" eaLnBrk="1" hangingPunct="1">
                  <a:lnSpc>
                    <a:spcPts val="2000"/>
                  </a:lnSpc>
                  <a:spcAft>
                    <a:spcPts val="1200"/>
                  </a:spcAft>
                  <a:buNone/>
                  <a:defRPr/>
                </a:pP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Choice>
        <mc:Fallback>
          <p:sp>
            <p:nvSpPr>
              <p:cNvPr id="15" name="Rectangle 3"/>
              <p:cNvSpPr txBox="1">
                <a:spLocks noRot="1" noChangeAspect="1" noMove="1" noResize="1" noEditPoints="1" noAdjustHandles="1" noChangeArrowheads="1" noChangeShapeType="1" noTextEdit="1"/>
              </p:cNvSpPr>
              <p:nvPr/>
            </p:nvSpPr>
            <p:spPr>
              <a:xfrm>
                <a:off x="251520" y="2689788"/>
                <a:ext cx="5760640" cy="1106097"/>
              </a:xfrm>
              <a:prstGeom prst="rect">
                <a:avLst/>
              </a:prstGeom>
              <a:blipFill>
                <a:blip r:embed="rId4"/>
                <a:stretch>
                  <a:fillRect t="-2198"/>
                </a:stretch>
              </a:blipFill>
            </p:spPr>
            <p:txBody>
              <a:bodyPr/>
              <a:lstStyle/>
              <a:p>
                <a:r>
                  <a:rPr lang="zh-CN" altLang="en-US">
                    <a:noFill/>
                  </a:rPr>
                  <a:t> </a:t>
                </a:r>
              </a:p>
            </p:txBody>
          </p:sp>
        </mc:Fallback>
      </mc:AlternateContent>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56692" y="1237433"/>
            <a:ext cx="3661999" cy="3269263"/>
          </a:xfrm>
          <a:prstGeom prst="rect">
            <a:avLst/>
          </a:prstGeom>
        </p:spPr>
      </p:pic>
      <p:cxnSp>
        <p:nvCxnSpPr>
          <p:cNvPr id="4" name="直接连接符 3"/>
          <p:cNvCxnSpPr/>
          <p:nvPr/>
        </p:nvCxnSpPr>
        <p:spPr>
          <a:xfrm flipV="1">
            <a:off x="5940152" y="1347614"/>
            <a:ext cx="0" cy="28260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3171916"/>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3">
            <a:extLst>
              <a:ext uri="{28A0092B-C50C-407E-A947-70E740481C1C}">
                <a14:useLocalDpi xmlns:a14="http://schemas.microsoft.com/office/drawing/2010/main" val="0"/>
              </a:ext>
            </a:extLst>
          </a:blip>
          <a:srcRect l="35833" r="31694"/>
          <a:stretch/>
        </p:blipFill>
        <p:spPr>
          <a:xfrm>
            <a:off x="5148066" y="2954124"/>
            <a:ext cx="2603116" cy="2159169"/>
          </a:xfrm>
          <a:prstGeom prst="rect">
            <a:avLst/>
          </a:prstGeom>
        </p:spPr>
      </p:pic>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l="3511" r="64144"/>
          <a:stretch/>
        </p:blipFill>
        <p:spPr>
          <a:xfrm>
            <a:off x="5088395" y="847316"/>
            <a:ext cx="2592880" cy="2159169"/>
          </a:xfrm>
          <a:prstGeom prst="rect">
            <a:avLst/>
          </a:prstGeom>
        </p:spPr>
      </p:pic>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研究背景</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研究内容</a:t>
            </a:r>
            <a:endParaRPr lang="zh-CN" altLang="en-US" sz="1600" b="1"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7</a:t>
            </a:r>
            <a:endParaRPr lang="zh-CN" altLang="en-US" sz="1200" dirty="0">
              <a:latin typeface="Times New Roman" panose="02020603050405020304" pitchFamily="18" charset="0"/>
              <a:cs typeface="Times New Roman" panose="02020603050405020304" pitchFamily="18" charset="0"/>
            </a:endParaRPr>
          </a:p>
        </p:txBody>
      </p:sp>
      <p:sp>
        <p:nvSpPr>
          <p:cNvPr id="23" name="矩形 22"/>
          <p:cNvSpPr/>
          <p:nvPr/>
        </p:nvSpPr>
        <p:spPr>
          <a:xfrm>
            <a:off x="1539356" y="473690"/>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先验分布</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1261884"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似然函数</a:t>
            </a:r>
            <a:endParaRPr lang="en-US" altLang="zh-CN" sz="1200" dirty="0">
              <a:latin typeface="Microsoft YaHei UI" panose="020B0503020204020204" pitchFamily="34" charset="-122"/>
              <a:ea typeface="Microsoft YaHei UI" panose="020B0503020204020204" pitchFamily="34" charset="-122"/>
            </a:endParaRPr>
          </a:p>
        </p:txBody>
      </p:sp>
      <p:sp>
        <p:nvSpPr>
          <p:cNvPr id="28" name="矩形 27"/>
          <p:cNvSpPr/>
          <p:nvPr/>
        </p:nvSpPr>
        <p:spPr>
          <a:xfrm>
            <a:off x="5669756" y="456683"/>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后验分布</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2"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先验分布：从零起步</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2181329"/>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似然函数：采样</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6" name="Rectangle 3"/>
          <p:cNvSpPr txBox="1">
            <a:spLocks noChangeArrowheads="1"/>
          </p:cNvSpPr>
          <p:nvPr/>
        </p:nvSpPr>
        <p:spPr>
          <a:xfrm>
            <a:off x="251520" y="1482110"/>
            <a:ext cx="5040560"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均匀分布、相似区域、历史资料</a:t>
            </a:r>
            <a:r>
              <a:rPr lang="en-US" altLang="zh-CN" sz="1600" kern="0" dirty="0" smtClean="0">
                <a:latin typeface="Microsoft YaHei UI" panose="020B0503020204020204" pitchFamily="34" charset="-122"/>
                <a:ea typeface="Microsoft YaHei UI" panose="020B0503020204020204" pitchFamily="34" charset="-122"/>
              </a:rPr>
              <a:t>……</a:t>
            </a:r>
          </a:p>
          <a:p>
            <a:pPr marL="457200" lvl="1" indent="0" eaLnBrk="1" hangingPunct="1">
              <a:lnSpc>
                <a:spcPts val="2000"/>
              </a:lnSpc>
              <a:spcAft>
                <a:spcPts val="1200"/>
              </a:spcAft>
              <a:buNone/>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mc:Choice xmlns:a14="http://schemas.microsoft.com/office/drawing/2010/main" Requires="a14">
          <p:sp>
            <p:nvSpPr>
              <p:cNvPr id="15" name="Rectangle 3"/>
              <p:cNvSpPr txBox="1">
                <a:spLocks noChangeArrowheads="1"/>
              </p:cNvSpPr>
              <p:nvPr/>
            </p:nvSpPr>
            <p:spPr>
              <a:xfrm>
                <a:off x="251520" y="2689788"/>
                <a:ext cx="5760640" cy="110609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不同参数组合</a:t>
                </a:r>
                <a:r>
                  <a:rPr lang="en-US" altLang="zh-CN" sz="1600" kern="0" dirty="0" smtClean="0">
                    <a:latin typeface="Microsoft YaHei UI" panose="020B0503020204020204" pitchFamily="34" charset="-122"/>
                    <a:ea typeface="Microsoft YaHei UI" panose="020B0503020204020204" pitchFamily="34" charset="-122"/>
                  </a:rPr>
                  <a:t>+</a:t>
                </a:r>
                <a:r>
                  <a:rPr lang="zh-CN" altLang="en-US" sz="1600" kern="0" dirty="0">
                    <a:latin typeface="Microsoft YaHei UI" panose="020B0503020204020204" pitchFamily="34" charset="-122"/>
                    <a:ea typeface="Microsoft YaHei UI" panose="020B0503020204020204" pitchFamily="34" charset="-122"/>
                  </a:rPr>
                  <a:t>抽水</a:t>
                </a:r>
                <a:r>
                  <a:rPr lang="zh-CN" altLang="en-US" sz="1600" kern="0" dirty="0" smtClean="0">
                    <a:latin typeface="Microsoft YaHei UI" panose="020B0503020204020204" pitchFamily="34" charset="-122"/>
                    <a:ea typeface="Microsoft YaHei UI" panose="020B0503020204020204" pitchFamily="34" charset="-122"/>
                  </a:rPr>
                  <a:t>实验</a:t>
                </a:r>
                <a:r>
                  <a:rPr lang="zh-CN" altLang="en-US" sz="1600" kern="0" dirty="0" smtClean="0">
                    <a:latin typeface="Microsoft YaHei UI" panose="020B0503020204020204" pitchFamily="34" charset="-122"/>
                    <a:ea typeface="Microsoft YaHei UI" panose="020B0503020204020204" pitchFamily="34" charset="-122"/>
                  </a:rPr>
                  <a:t>数值模拟</a:t>
                </a:r>
              </a:p>
              <a:p>
                <a:pPr lvl="1" eaLnBrk="1" hangingPunct="1">
                  <a:lnSpc>
                    <a:spcPts val="2000"/>
                  </a:lnSpc>
                  <a:buFont typeface="Wingdings" panose="05000000000000000000" pitchFamily="2" charset="2"/>
                  <a:buChar char="l"/>
                  <a:defRPr/>
                </a:pP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b="0" i="1" kern="0" smtClean="0">
                            <a:latin typeface="Cambria Math" charset="0"/>
                            <a:ea typeface="Microsoft YaHei UI" panose="020B0503020204020204" pitchFamily="34" charset="-122"/>
                          </a:rPr>
                          <m:t>𝑇</m:t>
                        </m:r>
                      </m:e>
                      <m:sub>
                        <m:r>
                          <a:rPr lang="en-US" altLang="zh-CN" sz="1600" b="0" i="1" kern="0" smtClean="0">
                            <a:latin typeface="Cambria Math" charset="0"/>
                            <a:ea typeface="Microsoft YaHei UI" panose="020B0503020204020204" pitchFamily="34" charset="-122"/>
                          </a:rPr>
                          <m:t>𝑔</m:t>
                        </m:r>
                      </m:sub>
                    </m:sSub>
                    <m:d>
                      <m:dPr>
                        <m:ctrlPr>
                          <a:rPr lang="en-US" altLang="zh-CN" sz="1600" b="0" i="1" kern="0" smtClean="0">
                            <a:latin typeface="Cambria Math" panose="02040503050406030204" pitchFamily="18"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𝑟</m:t>
                        </m:r>
                      </m:e>
                    </m:d>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𝑟</m:t>
                    </m:r>
                    <m:r>
                      <a:rPr lang="zh-CN" altLang="en-US" sz="1600" b="0" i="1" kern="0" smtClean="0">
                        <a:latin typeface="Cambria Math" charset="0"/>
                        <a:ea typeface="Microsoft YaHei UI" panose="020B0503020204020204" pitchFamily="34" charset="-122"/>
                      </a:rPr>
                      <m:t>图像</m:t>
                    </m:r>
                  </m:oMath>
                </a14:m>
                <a:endParaRPr lang="en-US" altLang="zh-CN" sz="1600" b="0" i="1" kern="0" dirty="0" smtClean="0">
                  <a:latin typeface="Cambria Math" charset="0"/>
                  <a:ea typeface="Microsoft YaHei UI" panose="020B0503020204020204" pitchFamily="34" charset="-122"/>
                </a:endParaRPr>
              </a:p>
              <a:p>
                <a:pPr marL="457200" lvl="1" indent="0" eaLnBrk="1" hangingPunct="1">
                  <a:lnSpc>
                    <a:spcPts val="2000"/>
                  </a:lnSpc>
                  <a:buNone/>
                  <a:defRPr/>
                </a:pPr>
                <a:r>
                  <a:rPr lang="zh-CN" altLang="en-US" sz="1600" b="0" kern="0" dirty="0" smtClean="0">
                    <a:ea typeface="Microsoft YaHei UI" panose="020B0503020204020204" pitchFamily="34" charset="-122"/>
                  </a:rPr>
                  <a:t>    </a:t>
                </a:r>
                <a14:m>
                  <m:oMath xmlns:m="http://schemas.openxmlformats.org/officeDocument/2006/math">
                    <m:r>
                      <a:rPr lang="zh-CN" altLang="en-US" sz="1600" b="0" i="1" kern="0" smtClean="0">
                        <a:latin typeface="Cambria Math"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 </a:t>
                </a:r>
                <a:r>
                  <a:rPr lang="zh-CN" altLang="en-US" sz="1600" kern="0" dirty="0" smtClean="0">
                    <a:latin typeface="Microsoft YaHei UI" panose="020B0503020204020204" pitchFamily="34" charset="-122"/>
                    <a:ea typeface="Microsoft YaHei UI" panose="020B0503020204020204" pitchFamily="34" charset="-122"/>
                  </a:rPr>
                  <a:t>不同参数下的</a:t>
                </a:r>
                <a14:m>
                  <m:oMath xmlns:m="http://schemas.openxmlformats.org/officeDocument/2006/math">
                    <m:sSub>
                      <m:sSubPr>
                        <m:ctrlPr>
                          <a:rPr lang="en-US" altLang="zh-CN" sz="1600" i="1" kern="0" smtClean="0">
                            <a:latin typeface="Cambria Math" panose="02040503050406030204" pitchFamily="18" charset="0"/>
                            <a:ea typeface="Microsoft YaHei UI" panose="020B0503020204020204" pitchFamily="34" charset="-122"/>
                          </a:rPr>
                        </m:ctrlPr>
                      </m:sSubPr>
                      <m:e>
                        <m:r>
                          <a:rPr lang="en-US" altLang="zh-CN" sz="1600" b="0" i="1" kern="0" smtClean="0">
                            <a:latin typeface="Cambria Math" panose="02040503050406030204" pitchFamily="18" charset="0"/>
                            <a:ea typeface="Microsoft YaHei UI" panose="020B0503020204020204" pitchFamily="34" charset="-122"/>
                          </a:rPr>
                          <m:t>𝑇</m:t>
                        </m:r>
                      </m:e>
                      <m:sub>
                        <m:r>
                          <a:rPr lang="en-US" altLang="zh-CN" sz="1600" b="0" i="1" kern="0" smtClean="0">
                            <a:latin typeface="Cambria Math" panose="02040503050406030204" pitchFamily="18" charset="0"/>
                            <a:ea typeface="Microsoft YaHei UI" panose="020B0503020204020204" pitchFamily="34" charset="-122"/>
                          </a:rPr>
                          <m:t>𝑔</m:t>
                        </m:r>
                      </m:sub>
                    </m:sSub>
                    <m:r>
                      <a:rPr lang="en-US" altLang="zh-CN" sz="1600" b="0" i="1" kern="0" smtClean="0">
                        <a:latin typeface="Cambria Math" panose="02040503050406030204" pitchFamily="18" charset="0"/>
                        <a:ea typeface="Microsoft YaHei UI" panose="020B0503020204020204" pitchFamily="34" charset="-122"/>
                      </a:rPr>
                      <m:t>(</m:t>
                    </m:r>
                    <m:r>
                      <a:rPr lang="en-US" altLang="zh-CN" sz="1600" b="0" i="1" kern="0" smtClean="0">
                        <a:latin typeface="Cambria Math" panose="02040503050406030204" pitchFamily="18" charset="0"/>
                        <a:ea typeface="Microsoft YaHei UI" panose="020B0503020204020204" pitchFamily="34" charset="-122"/>
                      </a:rPr>
                      <m:t>𝑟</m:t>
                    </m:r>
                    <m:r>
                      <a:rPr lang="en-US" altLang="zh-CN" sz="1600" b="0" i="1" kern="0" smtClean="0">
                        <a:latin typeface="Cambria Math" panose="02040503050406030204" pitchFamily="18"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 </a:t>
                </a:r>
              </a:p>
              <a:p>
                <a:pPr marL="457200" lvl="1" indent="0" eaLnBrk="1" hangingPunct="1">
                  <a:lnSpc>
                    <a:spcPts val="2000"/>
                  </a:lnSpc>
                  <a:buNone/>
                  <a:defRPr/>
                </a:pPr>
                <a:r>
                  <a:rPr lang="en-US" altLang="zh-CN" sz="1600" kern="0" dirty="0">
                    <a:latin typeface="Microsoft YaHei UI" panose="020B0503020204020204" pitchFamily="34" charset="-122"/>
                    <a:ea typeface="Microsoft YaHei UI" panose="020B0503020204020204" pitchFamily="34" charset="-122"/>
                  </a:rPr>
                  <a:t> </a:t>
                </a:r>
                <a:r>
                  <a:rPr lang="en-US" altLang="zh-CN" sz="1600" kern="0" dirty="0" smtClean="0">
                    <a:latin typeface="Microsoft YaHei UI" panose="020B0503020204020204" pitchFamily="34" charset="-122"/>
                    <a:ea typeface="Microsoft YaHei UI" panose="020B0503020204020204" pitchFamily="34" charset="-122"/>
                  </a:rPr>
                  <a:t>   </a:t>
                </a:r>
                <a14:m>
                  <m:oMath xmlns:m="http://schemas.openxmlformats.org/officeDocument/2006/math">
                    <m:r>
                      <a:rPr lang="zh-CN" altLang="en-US" sz="1600" i="1" kern="0">
                        <a:latin typeface="Cambria Math"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 </a:t>
                </a:r>
                <a:r>
                  <a:rPr lang="zh-CN" altLang="en-US" sz="1600" kern="0" dirty="0">
                    <a:latin typeface="Microsoft YaHei UI" panose="020B0503020204020204" pitchFamily="34" charset="-122"/>
                    <a:ea typeface="Microsoft YaHei UI" panose="020B0503020204020204" pitchFamily="34" charset="-122"/>
                  </a:rPr>
                  <a:t>计算不同参数</a:t>
                </a:r>
                <a:r>
                  <a:rPr lang="zh-CN" altLang="en-US" sz="1600" kern="0" dirty="0" smtClean="0">
                    <a:latin typeface="Microsoft YaHei UI" panose="020B0503020204020204" pitchFamily="34" charset="-122"/>
                    <a:ea typeface="Microsoft YaHei UI" panose="020B0503020204020204" pitchFamily="34" charset="-122"/>
                  </a:rPr>
                  <a:t>组合下概率</a:t>
                </a:r>
                <a:endParaRPr lang="en-US" altLang="zh-CN" sz="16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Choice>
        <mc:Fallback>
          <p:sp>
            <p:nvSpPr>
              <p:cNvPr id="15" name="Rectangle 3"/>
              <p:cNvSpPr txBox="1">
                <a:spLocks noRot="1" noChangeAspect="1" noMove="1" noResize="1" noEditPoints="1" noAdjustHandles="1" noChangeArrowheads="1" noChangeShapeType="1" noTextEdit="1"/>
              </p:cNvSpPr>
              <p:nvPr/>
            </p:nvSpPr>
            <p:spPr>
              <a:xfrm>
                <a:off x="251520" y="2689788"/>
                <a:ext cx="5760640" cy="1106097"/>
              </a:xfrm>
              <a:prstGeom prst="rect">
                <a:avLst/>
              </a:prstGeom>
              <a:blipFill>
                <a:blip r:embed="rId5"/>
                <a:stretch>
                  <a:fillRect t="-2198" b="-197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7777573"/>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研究背景</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研究内容</a:t>
            </a:r>
            <a:endParaRPr lang="zh-CN" altLang="en-US" sz="1600" b="1"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研究方法及预期成果</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8</a:t>
            </a:r>
            <a:endParaRPr lang="zh-CN" altLang="en-US" sz="1200" dirty="0">
              <a:latin typeface="Times New Roman" panose="02020603050405020304" pitchFamily="18" charset="0"/>
              <a:cs typeface="Times New Roman" panose="02020603050405020304" pitchFamily="18" charset="0"/>
            </a:endParaRPr>
          </a:p>
        </p:txBody>
      </p:sp>
      <p:sp>
        <p:nvSpPr>
          <p:cNvPr id="23" name="矩形 22"/>
          <p:cNvSpPr/>
          <p:nvPr/>
        </p:nvSpPr>
        <p:spPr>
          <a:xfrm>
            <a:off x="1539356" y="473690"/>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先验分布</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似然函数</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8" name="矩形 27"/>
          <p:cNvSpPr/>
          <p:nvPr/>
        </p:nvSpPr>
        <p:spPr>
          <a:xfrm>
            <a:off x="5669756" y="456683"/>
            <a:ext cx="1261884"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后验分布</a:t>
            </a:r>
            <a:endParaRPr lang="en-US" altLang="zh-CN" sz="1200" dirty="0">
              <a:latin typeface="Microsoft YaHei UI" panose="020B0503020204020204" pitchFamily="34" charset="-122"/>
              <a:ea typeface="Microsoft YaHei UI" panose="020B0503020204020204" pitchFamily="34" charset="-122"/>
            </a:endParaRPr>
          </a:p>
        </p:txBody>
      </p:sp>
      <p:sp>
        <p:nvSpPr>
          <p:cNvPr id="12"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先验分布：从零起步</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2181329"/>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似然函数：采样</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5" name="Rectangle 3"/>
          <p:cNvSpPr txBox="1">
            <a:spLocks noChangeArrowheads="1"/>
          </p:cNvSpPr>
          <p:nvPr/>
        </p:nvSpPr>
        <p:spPr>
          <a:xfrm>
            <a:off x="251520" y="3389008"/>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后验分布：结果输出</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6" name="Rectangle 3"/>
          <p:cNvSpPr txBox="1">
            <a:spLocks noChangeArrowheads="1"/>
          </p:cNvSpPr>
          <p:nvPr/>
        </p:nvSpPr>
        <p:spPr>
          <a:xfrm>
            <a:off x="251520" y="1482110"/>
            <a:ext cx="5040560"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均匀分布、相似区域、历史资料</a:t>
            </a:r>
            <a:r>
              <a:rPr lang="en-US" altLang="zh-CN" sz="1600" kern="0" dirty="0" smtClean="0">
                <a:latin typeface="Microsoft YaHei UI" panose="020B0503020204020204" pitchFamily="34" charset="-122"/>
                <a:ea typeface="Microsoft YaHei UI" panose="020B0503020204020204" pitchFamily="34" charset="-122"/>
              </a:rPr>
              <a:t>……</a:t>
            </a:r>
          </a:p>
          <a:p>
            <a:pPr marL="457200" lvl="1" indent="0" eaLnBrk="1" hangingPunct="1">
              <a:lnSpc>
                <a:spcPts val="2000"/>
              </a:lnSpc>
              <a:spcAft>
                <a:spcPts val="1200"/>
              </a:spcAft>
              <a:buNone/>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21" name="Rectangle 3"/>
          <p:cNvSpPr txBox="1">
            <a:spLocks noChangeArrowheads="1"/>
          </p:cNvSpPr>
          <p:nvPr/>
        </p:nvSpPr>
        <p:spPr>
          <a:xfrm>
            <a:off x="251520" y="2689788"/>
            <a:ext cx="5760640" cy="110609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不同参数组合</a:t>
            </a:r>
            <a:r>
              <a:rPr lang="en-US" altLang="zh-CN" sz="1600" kern="0" dirty="0" smtClean="0">
                <a:latin typeface="Microsoft YaHei UI" panose="020B0503020204020204" pitchFamily="34" charset="-122"/>
                <a:ea typeface="Microsoft YaHei UI" panose="020B0503020204020204" pitchFamily="34" charset="-122"/>
              </a:rPr>
              <a:t>+</a:t>
            </a:r>
            <a:r>
              <a:rPr lang="zh-CN" altLang="en-US" sz="1600" kern="0" dirty="0">
                <a:latin typeface="Microsoft YaHei UI" panose="020B0503020204020204" pitchFamily="34" charset="-122"/>
                <a:ea typeface="Microsoft YaHei UI" panose="020B0503020204020204" pitchFamily="34" charset="-122"/>
              </a:rPr>
              <a:t>抽水</a:t>
            </a:r>
            <a:r>
              <a:rPr lang="zh-CN" altLang="en-US" sz="1600" kern="0" dirty="0" smtClean="0">
                <a:latin typeface="Microsoft YaHei UI" panose="020B0503020204020204" pitchFamily="34" charset="-122"/>
                <a:ea typeface="Microsoft YaHei UI" panose="020B0503020204020204" pitchFamily="34" charset="-122"/>
              </a:rPr>
              <a:t>实验</a:t>
            </a:r>
            <a:r>
              <a:rPr lang="zh-CN" altLang="en-US" sz="1600" kern="0" dirty="0" smtClean="0">
                <a:latin typeface="Microsoft YaHei UI" panose="020B0503020204020204" pitchFamily="34" charset="-122"/>
                <a:ea typeface="Microsoft YaHei UI" panose="020B0503020204020204" pitchFamily="34" charset="-122"/>
              </a:rPr>
              <a:t>数值模拟</a:t>
            </a:r>
          </a:p>
          <a:p>
            <a:pPr marL="457200" lvl="1" indent="0" eaLnBrk="1" hangingPunct="1">
              <a:lnSpc>
                <a:spcPts val="2000"/>
              </a:lnSpc>
              <a:spcAft>
                <a:spcPts val="1200"/>
              </a:spcAft>
              <a:buNone/>
              <a:defRPr/>
            </a:pP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22" name="Rectangle 3"/>
          <p:cNvSpPr txBox="1">
            <a:spLocks noChangeArrowheads="1"/>
          </p:cNvSpPr>
          <p:nvPr/>
        </p:nvSpPr>
        <p:spPr>
          <a:xfrm>
            <a:off x="269280" y="3909519"/>
            <a:ext cx="5760640" cy="110609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贝叶斯公式迭代</a:t>
            </a:r>
            <a:endParaRPr lang="en-US" altLang="zh-CN" sz="16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pic>
        <p:nvPicPr>
          <p:cNvPr id="3" name="图片 2"/>
          <p:cNvPicPr>
            <a:picLocks noChangeAspect="1"/>
          </p:cNvPicPr>
          <p:nvPr/>
        </p:nvPicPr>
        <p:blipFill rotWithShape="1">
          <a:blip r:embed="rId4">
            <a:extLst>
              <a:ext uri="{28A0092B-C50C-407E-A947-70E740481C1C}">
                <a14:useLocalDpi xmlns:a14="http://schemas.microsoft.com/office/drawing/2010/main" val="0"/>
              </a:ext>
            </a:extLst>
          </a:blip>
          <a:srcRect l="5669" t="2595" r="3336"/>
          <a:stretch/>
        </p:blipFill>
        <p:spPr>
          <a:xfrm>
            <a:off x="4139952" y="1368475"/>
            <a:ext cx="4638422" cy="3054731"/>
          </a:xfrm>
          <a:prstGeom prst="rect">
            <a:avLst/>
          </a:prstGeom>
        </p:spPr>
      </p:pic>
    </p:spTree>
    <p:extLst>
      <p:ext uri="{BB962C8B-B14F-4D97-AF65-F5344CB8AC3E}">
        <p14:creationId xmlns:p14="http://schemas.microsoft.com/office/powerpoint/2010/main" val="91101240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研究背景</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研究方法及预期成果</a:t>
            </a:r>
            <a:endParaRPr lang="zh-CN" altLang="en-US" sz="1600" b="1" dirty="0">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9</a:t>
            </a:r>
            <a:endParaRPr lang="zh-CN" altLang="en-US" sz="1200" dirty="0">
              <a:latin typeface="Times New Roman" panose="02020603050405020304" pitchFamily="18" charset="0"/>
              <a:cs typeface="Times New Roman" panose="02020603050405020304" pitchFamily="18" charset="0"/>
            </a:endParaRPr>
          </a:p>
        </p:txBody>
      </p:sp>
      <p:sp>
        <p:nvSpPr>
          <p:cNvPr id="23" name="矩形 22"/>
          <p:cNvSpPr/>
          <p:nvPr/>
        </p:nvSpPr>
        <p:spPr>
          <a:xfrm>
            <a:off x="1539356" y="473690"/>
            <a:ext cx="1261884"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技术路线</a:t>
            </a:r>
            <a:endParaRPr lang="zh-CN" altLang="en-US" sz="1200" dirty="0">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预期成果</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67744" y="1012883"/>
            <a:ext cx="4298805" cy="3651870"/>
          </a:xfrm>
          <a:prstGeom prst="rect">
            <a:avLst/>
          </a:prstGeom>
        </p:spPr>
      </p:pic>
    </p:spTree>
    <p:extLst>
      <p:ext uri="{BB962C8B-B14F-4D97-AF65-F5344CB8AC3E}">
        <p14:creationId xmlns:p14="http://schemas.microsoft.com/office/powerpoint/2010/main" val="1853867479"/>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研究背景</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2031325"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研究方法及预期成果</a:t>
            </a:r>
            <a:endParaRPr lang="zh-CN" altLang="en-US" sz="1600" b="1" dirty="0">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338554"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10</a:t>
            </a:r>
            <a:endParaRPr lang="zh-CN" altLang="en-US" sz="1200" dirty="0">
              <a:latin typeface="Times New Roman" panose="02020603050405020304" pitchFamily="18" charset="0"/>
              <a:cs typeface="Times New Roman" panose="02020603050405020304" pitchFamily="18" charset="0"/>
            </a:endParaRPr>
          </a:p>
        </p:txBody>
      </p:sp>
      <p:sp>
        <p:nvSpPr>
          <p:cNvPr id="23" name="矩形 22"/>
          <p:cNvSpPr/>
          <p:nvPr/>
        </p:nvSpPr>
        <p:spPr>
          <a:xfrm>
            <a:off x="1539356" y="473690"/>
            <a:ext cx="1261884"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技术路线</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1261884"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预期成果</a:t>
            </a:r>
            <a:endParaRPr lang="en-US" altLang="zh-CN" sz="1200" dirty="0">
              <a:latin typeface="Microsoft YaHei UI" panose="020B0503020204020204" pitchFamily="34" charset="-122"/>
              <a:ea typeface="Microsoft YaHei UI" panose="020B0503020204020204" pitchFamily="34" charset="-122"/>
            </a:endParaRPr>
          </a:p>
        </p:txBody>
      </p:sp>
      <p:sp>
        <p:nvSpPr>
          <p:cNvPr id="11" name="Rectangle 3"/>
          <p:cNvSpPr txBox="1">
            <a:spLocks noChangeArrowheads="1"/>
          </p:cNvSpPr>
          <p:nvPr/>
        </p:nvSpPr>
        <p:spPr>
          <a:xfrm>
            <a:off x="251520" y="1707654"/>
            <a:ext cx="7056784" cy="1552353"/>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spcAft>
                <a:spcPts val="1200"/>
              </a:spcAft>
              <a:defRPr/>
            </a:pPr>
            <a:r>
              <a:rPr lang="zh-CN" altLang="en-US" sz="1600" b="1" kern="0" dirty="0" smtClean="0">
                <a:latin typeface="Microsoft YaHei UI" panose="020B0503020204020204" pitchFamily="34" charset="-122"/>
                <a:ea typeface="Microsoft YaHei UI" panose="020B0503020204020204" pitchFamily="34" charset="-122"/>
              </a:rPr>
              <a:t>学习利用</a:t>
            </a:r>
            <a:r>
              <a:rPr lang="en-US" altLang="zh-CN" sz="1600" b="1" kern="0" dirty="0" smtClean="0">
                <a:latin typeface="Microsoft YaHei UI" panose="020B0503020204020204" pitchFamily="34" charset="-122"/>
                <a:ea typeface="Microsoft YaHei UI" panose="020B0503020204020204" pitchFamily="34" charset="-122"/>
              </a:rPr>
              <a:t>GMS</a:t>
            </a:r>
            <a:r>
              <a:rPr lang="zh-CN" altLang="en-US" sz="1600" b="1" kern="0" dirty="0" smtClean="0">
                <a:latin typeface="Microsoft YaHei UI" panose="020B0503020204020204" pitchFamily="34" charset="-122"/>
                <a:ea typeface="Microsoft YaHei UI" panose="020B0503020204020204" pitchFamily="34" charset="-122"/>
              </a:rPr>
              <a:t>模型模拟抽水试验</a:t>
            </a:r>
            <a:endParaRPr lang="en-US" altLang="zh-CN" sz="1600" b="1" kern="0" dirty="0" smtClean="0">
              <a:latin typeface="Microsoft YaHei UI" panose="020B0503020204020204" pitchFamily="34" charset="-122"/>
              <a:ea typeface="Microsoft YaHei UI" panose="020B0503020204020204" pitchFamily="34" charset="-122"/>
            </a:endParaRPr>
          </a:p>
          <a:p>
            <a:pPr lvl="1" eaLnBrk="1" hangingPunct="1">
              <a:lnSpc>
                <a:spcPts val="2000"/>
              </a:lnSpc>
              <a:spcAft>
                <a:spcPts val="1200"/>
              </a:spcAft>
              <a:defRPr/>
            </a:pPr>
            <a:r>
              <a:rPr lang="zh-CN" altLang="en-US" sz="1600" b="1" kern="0" dirty="0" smtClean="0">
                <a:latin typeface="Microsoft YaHei UI" panose="020B0503020204020204" pitchFamily="34" charset="-122"/>
                <a:ea typeface="Microsoft YaHei UI" panose="020B0503020204020204" pitchFamily="34" charset="-122"/>
              </a:rPr>
              <a:t>利用</a:t>
            </a:r>
            <a:r>
              <a:rPr lang="en-US" altLang="zh-CN" sz="1600" b="1" kern="0" dirty="0">
                <a:latin typeface="Microsoft YaHei UI" panose="020B0503020204020204" pitchFamily="34" charset="-122"/>
                <a:ea typeface="Microsoft YaHei UI" panose="020B0503020204020204" pitchFamily="34" charset="-122"/>
              </a:rPr>
              <a:t>P</a:t>
            </a:r>
            <a:r>
              <a:rPr lang="en-US" altLang="zh-CN" sz="1600" b="1" kern="0" dirty="0" smtClean="0">
                <a:latin typeface="Microsoft YaHei UI" panose="020B0503020204020204" pitchFamily="34" charset="-122"/>
                <a:ea typeface="Microsoft YaHei UI" panose="020B0503020204020204" pitchFamily="34" charset="-122"/>
              </a:rPr>
              <a:t>ython</a:t>
            </a:r>
            <a:r>
              <a:rPr lang="zh-CN" altLang="en-US" sz="1600" b="1" kern="0" dirty="0" smtClean="0">
                <a:latin typeface="Microsoft YaHei UI" panose="020B0503020204020204" pitchFamily="34" charset="-122"/>
                <a:ea typeface="Microsoft YaHei UI" panose="020B0503020204020204" pitchFamily="34" charset="-122"/>
              </a:rPr>
              <a:t>实现贝叶斯</a:t>
            </a:r>
            <a:r>
              <a:rPr lang="zh-CN" altLang="en-US" sz="1600" b="1" kern="0" dirty="0" smtClean="0">
                <a:latin typeface="Microsoft YaHei UI" panose="020B0503020204020204" pitchFamily="34" charset="-122"/>
                <a:ea typeface="Microsoft YaHei UI" panose="020B0503020204020204" pitchFamily="34" charset="-122"/>
              </a:rPr>
              <a:t>算法的不同人造算例</a:t>
            </a:r>
            <a:endParaRPr lang="en-US" altLang="zh-CN" sz="1600" b="1" kern="0" dirty="0" smtClean="0">
              <a:latin typeface="Microsoft YaHei UI" panose="020B0503020204020204" pitchFamily="34" charset="-122"/>
              <a:ea typeface="Microsoft YaHei UI" panose="020B0503020204020204" pitchFamily="34" charset="-122"/>
            </a:endParaRPr>
          </a:p>
          <a:p>
            <a:pPr lvl="1" eaLnBrk="1" hangingPunct="1">
              <a:lnSpc>
                <a:spcPts val="2000"/>
              </a:lnSpc>
              <a:spcAft>
                <a:spcPts val="1200"/>
              </a:spcAft>
              <a:defRPr/>
            </a:pPr>
            <a:r>
              <a:rPr lang="zh-CN" altLang="en-US" sz="1600" b="1" kern="0" dirty="0" smtClean="0">
                <a:latin typeface="Microsoft YaHei UI" panose="020B0503020204020204" pitchFamily="34" charset="-122"/>
                <a:ea typeface="Microsoft YaHei UI" panose="020B0503020204020204" pitchFamily="34" charset="-122"/>
              </a:rPr>
              <a:t>对贝叶斯算法进行稳健性检测、似然函数采样方法优化</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4848348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7"/>
          <p:cNvSpPr txBox="1">
            <a:spLocks noChangeArrowheads="1"/>
          </p:cNvSpPr>
          <p:nvPr/>
        </p:nvSpPr>
        <p:spPr bwMode="auto">
          <a:xfrm>
            <a:off x="1350137" y="3248367"/>
            <a:ext cx="895744" cy="323165"/>
          </a:xfrm>
          <a:prstGeom prst="rect">
            <a:avLst/>
          </a:prstGeom>
          <a:noFill/>
          <a:ln w="9525">
            <a:noFill/>
            <a:miter lim="800000"/>
            <a:headEnd/>
            <a:tailEnd/>
          </a:ln>
        </p:spPr>
        <p:txBody>
          <a:bodyPr wrap="square" lIns="45720" tIns="22860" rIns="45720" bIns="22860">
            <a:spAutoFit/>
          </a:bodyPr>
          <a:lstStyle/>
          <a:p>
            <a:pPr algn="ctr" defTabSz="1088232"/>
            <a:r>
              <a:rPr lang="en-CA" b="1" spc="-150">
                <a:solidFill>
                  <a:schemeClr val="bg1"/>
                </a:solidFill>
                <a:latin typeface="Open Sans" pitchFamily="34" charset="0"/>
                <a:ea typeface="Open Sans" pitchFamily="34" charset="0"/>
                <a:cs typeface="Open Sans" pitchFamily="34" charset="0"/>
              </a:rPr>
              <a:t>Training</a:t>
            </a:r>
          </a:p>
        </p:txBody>
      </p:sp>
      <p:sp>
        <p:nvSpPr>
          <p:cNvPr id="29" name="矩形 28"/>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13" name="Text Box 10"/>
          <p:cNvSpPr txBox="1">
            <a:spLocks noChangeArrowheads="1"/>
          </p:cNvSpPr>
          <p:nvPr/>
        </p:nvSpPr>
        <p:spPr bwMode="auto">
          <a:xfrm>
            <a:off x="3563888" y="2171267"/>
            <a:ext cx="2538422" cy="877163"/>
          </a:xfrm>
          <a:prstGeom prst="rect">
            <a:avLst/>
          </a:prstGeom>
          <a:noFill/>
          <a:ln w="9525">
            <a:noFill/>
            <a:miter lim="800000"/>
            <a:headEnd/>
            <a:tailEnd/>
          </a:ln>
        </p:spPr>
        <p:txBody>
          <a:bodyPr wrap="square" lIns="45720" tIns="22860" rIns="45720" bIns="22860">
            <a:spAutoFit/>
          </a:bodyPr>
          <a:lstStyle/>
          <a:p>
            <a:pPr defTabSz="1088232"/>
            <a:r>
              <a:rPr lang="en-US" sz="5400" dirty="0">
                <a:solidFill>
                  <a:schemeClr val="bg1"/>
                </a:solidFill>
                <a:latin typeface="Times New Roman" panose="02020603050405020304" pitchFamily="18" charset="0"/>
                <a:ea typeface="Open Sans Light" pitchFamily="34" charset="0"/>
                <a:cs typeface="Times New Roman" panose="02020603050405020304" pitchFamily="18" charset="0"/>
              </a:rPr>
              <a:t>Thanks</a:t>
            </a:r>
            <a:endParaRPr lang="en-US" sz="5400" i="1" dirty="0">
              <a:solidFill>
                <a:schemeClr val="bg1"/>
              </a:solidFill>
              <a:latin typeface="Times New Roman" panose="02020603050405020304" pitchFamily="18" charset="0"/>
              <a:ea typeface="Open Sans Light" pitchFamily="34" charset="0"/>
              <a:cs typeface="Times New Roman" panose="02020603050405020304" pitchFamily="18" charset="0"/>
            </a:endParaRPr>
          </a:p>
        </p:txBody>
      </p:sp>
      <p:sp>
        <p:nvSpPr>
          <p:cNvPr id="9" name="矩形 8"/>
          <p:cNvSpPr/>
          <p:nvPr/>
        </p:nvSpPr>
        <p:spPr>
          <a:xfrm>
            <a:off x="251520" y="710656"/>
            <a:ext cx="1005403" cy="338554"/>
          </a:xfrm>
          <a:prstGeom prst="rect">
            <a:avLst/>
          </a:prstGeom>
        </p:spPr>
        <p:txBody>
          <a:bodyPr wrap="none">
            <a:spAutoFit/>
          </a:bodyPr>
          <a:lstStyle/>
          <a:p>
            <a:pPr fontAlgn="auto">
              <a:spcBef>
                <a:spcPts val="0"/>
              </a:spcBef>
              <a:spcAft>
                <a:spcPts val="0"/>
              </a:spcAft>
              <a:defRPr/>
            </a:pPr>
            <a:r>
              <a:rPr lang="zh-CN" altLang="en-US" sz="1600" b="1" dirty="0" smtClean="0">
                <a:latin typeface="微软雅黑" panose="020B0503020204020204" pitchFamily="34" charset="-122"/>
                <a:ea typeface="微软雅黑" panose="020B0503020204020204" pitchFamily="34" charset="-122"/>
              </a:rPr>
              <a:t>参考文献</a:t>
            </a:r>
            <a:endParaRPr lang="en-US" altLang="zh-CN" sz="1600" b="1" dirty="0" smtClean="0">
              <a:latin typeface="微软雅黑" panose="020B0503020204020204" pitchFamily="34" charset="-122"/>
              <a:ea typeface="微软雅黑" panose="020B0503020204020204" pitchFamily="34" charset="-122"/>
            </a:endParaRPr>
          </a:p>
        </p:txBody>
      </p:sp>
      <p:sp>
        <p:nvSpPr>
          <p:cNvPr id="8" name="Rectangle 3"/>
          <p:cNvSpPr txBox="1">
            <a:spLocks noChangeArrowheads="1"/>
          </p:cNvSpPr>
          <p:nvPr/>
        </p:nvSpPr>
        <p:spPr>
          <a:xfrm>
            <a:off x="0" y="1480476"/>
            <a:ext cx="8640960" cy="317950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[1] Hubbard S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S</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Rubin Y. Hydrogeological parameter estimation using geophysical data: a review of selected techniques[J]. Journal of Contaminant Hydrology, 2000, 45(1–2):3-34. </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[2]Mehmet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Taner</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Demir,Nadim</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K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Copty,Paolo</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Trinchero,Xavier</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Sanchez-Vila. Bayesian Estimation of the Transmissivity Spatial Structure from Pumping Test Data[J]. Advances in Water Resources,2017.</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[3]</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秦甜甜</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丁国辉</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基于抽水试验的水文地质参数计算方法研究</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[J].</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水资源开发与管理</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,2018(01):69-73.</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[4]</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林琳</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史良胜</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宋雪航</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地下水参数反演的确定性集合卡尔曼滤波方法</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[J].</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武汉大学学报</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工学版</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),2016,49(02):161-167+172.</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[5]</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杨金忠</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地下水运动数学模型</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[M]. </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北京</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北京科学出版社</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2009. 208-224</a:t>
            </a:r>
          </a:p>
          <a:p>
            <a:pPr marL="457200" lvl="1" indent="0" eaLnBrk="1" hangingPunct="1">
              <a:lnSpc>
                <a:spcPts val="2000"/>
              </a:lnSpc>
              <a:buFont typeface="Wingdings" panose="05000000000000000000" pitchFamily="2" charset="2"/>
              <a:buNone/>
              <a:defRPr/>
            </a:pPr>
            <a:endParaRPr lang="zh-CN" altLang="en-US" sz="1400" kern="0" dirty="0">
              <a:latin typeface="Arial" panose="020B0604020202020204" pitchFamily="34" charset="0"/>
              <a:ea typeface="Microsoft YaHei UI" panose="020B0503020204020204" pitchFamily="34" charset="-122"/>
              <a:cs typeface="Arial" panose="020B0604020202020204" pitchFamily="34" charset="0"/>
            </a:endParaRPr>
          </a:p>
          <a:p>
            <a:pPr marL="457200" lvl="1" indent="0" eaLnBrk="1" hangingPunct="1">
              <a:lnSpc>
                <a:spcPts val="2000"/>
              </a:lnSpc>
              <a:buNone/>
              <a:defRPr/>
            </a:pPr>
            <a:endParaRPr lang="en-US" altLang="zh-CN" sz="1050" kern="0" dirty="0" smtClean="0">
              <a:latin typeface="Arial" panose="020B0604020202020204" pitchFamily="34" charset="0"/>
              <a:ea typeface="Microsoft YaHei UI" panose="020B0503020204020204" pitchFamily="34" charset="-122"/>
              <a:cs typeface="Arial" panose="020B0604020202020204" pitchFamily="34" charset="0"/>
            </a:endParaRPr>
          </a:p>
          <a:p>
            <a:pPr marL="457200" lvl="1" indent="0" eaLnBrk="1" hangingPunct="1">
              <a:lnSpc>
                <a:spcPts val="2000"/>
              </a:lnSpc>
              <a:buFont typeface="Wingdings" panose="05000000000000000000" pitchFamily="2" charset="2"/>
              <a:buNone/>
              <a:defRPr/>
            </a:pPr>
            <a:endParaRPr lang="en-US" altLang="zh-CN" sz="1800" kern="0" dirty="0" smtClean="0">
              <a:latin typeface="Arial" panose="020B0604020202020204" pitchFamily="34" charset="0"/>
              <a:ea typeface="Microsoft YaHei UI" panose="020B0503020204020204" pitchFamily="34" charset="-122"/>
              <a:cs typeface="Arial" panose="020B0604020202020204" pitchFamily="34" charset="0"/>
            </a:endParaRPr>
          </a:p>
        </p:txBody>
      </p:sp>
    </p:spTree>
    <p:extLst>
      <p:ext uri="{BB962C8B-B14F-4D97-AF65-F5344CB8AC3E}">
        <p14:creationId xmlns:p14="http://schemas.microsoft.com/office/powerpoint/2010/main" val="3435442048"/>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7"/>
          <p:cNvSpPr txBox="1">
            <a:spLocks noChangeArrowheads="1"/>
          </p:cNvSpPr>
          <p:nvPr/>
        </p:nvSpPr>
        <p:spPr bwMode="auto">
          <a:xfrm>
            <a:off x="1350137" y="3248367"/>
            <a:ext cx="895744" cy="323165"/>
          </a:xfrm>
          <a:prstGeom prst="rect">
            <a:avLst/>
          </a:prstGeom>
          <a:noFill/>
          <a:ln w="9525">
            <a:noFill/>
            <a:miter lim="800000"/>
            <a:headEnd/>
            <a:tailEnd/>
          </a:ln>
        </p:spPr>
        <p:txBody>
          <a:bodyPr wrap="square" lIns="45720" tIns="22860" rIns="45720" bIns="22860">
            <a:spAutoFit/>
          </a:bodyPr>
          <a:lstStyle/>
          <a:p>
            <a:pPr algn="ctr" defTabSz="1088232"/>
            <a:r>
              <a:rPr lang="en-CA" b="1" spc="-150">
                <a:solidFill>
                  <a:schemeClr val="bg1"/>
                </a:solidFill>
                <a:latin typeface="Open Sans" pitchFamily="34" charset="0"/>
                <a:ea typeface="Open Sans" pitchFamily="34" charset="0"/>
                <a:cs typeface="Open Sans" pitchFamily="34" charset="0"/>
              </a:rPr>
              <a:t>Training</a:t>
            </a:r>
          </a:p>
        </p:txBody>
      </p:sp>
      <p:sp>
        <p:nvSpPr>
          <p:cNvPr id="29" name="矩形 28"/>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10" name="Oval 1"/>
          <p:cNvSpPr/>
          <p:nvPr/>
        </p:nvSpPr>
        <p:spPr>
          <a:xfrm>
            <a:off x="3238500" y="1276349"/>
            <a:ext cx="2667000" cy="2667000"/>
          </a:xfrm>
          <a:prstGeom prst="ellipse">
            <a:avLst/>
          </a:prstGeom>
          <a:solidFill>
            <a:srgbClr val="45C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0"/>
          <p:cNvSpPr txBox="1">
            <a:spLocks noChangeArrowheads="1"/>
          </p:cNvSpPr>
          <p:nvPr/>
        </p:nvSpPr>
        <p:spPr bwMode="auto">
          <a:xfrm>
            <a:off x="3563888" y="2171267"/>
            <a:ext cx="2538422" cy="877163"/>
          </a:xfrm>
          <a:prstGeom prst="rect">
            <a:avLst/>
          </a:prstGeom>
          <a:noFill/>
          <a:ln w="9525">
            <a:noFill/>
            <a:miter lim="800000"/>
            <a:headEnd/>
            <a:tailEnd/>
          </a:ln>
        </p:spPr>
        <p:txBody>
          <a:bodyPr wrap="square" lIns="45720" tIns="22860" rIns="45720" bIns="22860">
            <a:spAutoFit/>
          </a:bodyPr>
          <a:lstStyle/>
          <a:p>
            <a:pPr defTabSz="1088232"/>
            <a:r>
              <a:rPr lang="en-US" sz="5400" dirty="0">
                <a:solidFill>
                  <a:schemeClr val="bg1"/>
                </a:solidFill>
                <a:latin typeface="Times New Roman" panose="02020603050405020304" pitchFamily="18" charset="0"/>
                <a:ea typeface="Open Sans Light" pitchFamily="34" charset="0"/>
                <a:cs typeface="Times New Roman" panose="02020603050405020304" pitchFamily="18" charset="0"/>
              </a:rPr>
              <a:t>Thanks</a:t>
            </a:r>
            <a:endParaRPr lang="en-US" sz="5400" i="1" dirty="0">
              <a:solidFill>
                <a:schemeClr val="bg1"/>
              </a:solidFill>
              <a:latin typeface="Times New Roman" panose="02020603050405020304" pitchFamily="18" charset="0"/>
              <a:ea typeface="Open Sans Light" pitchFamily="34" charset="0"/>
              <a:cs typeface="Times New Roman" panose="02020603050405020304" pitchFamily="18" charset="0"/>
            </a:endParaRPr>
          </a:p>
        </p:txBody>
      </p:sp>
      <p:sp>
        <p:nvSpPr>
          <p:cNvPr id="9" name="矩形 8"/>
          <p:cNvSpPr/>
          <p:nvPr/>
        </p:nvSpPr>
        <p:spPr>
          <a:xfrm>
            <a:off x="2735600" y="69175"/>
            <a:ext cx="4058740" cy="338554"/>
          </a:xfrm>
          <a:prstGeom prst="rect">
            <a:avLst/>
          </a:prstGeom>
        </p:spPr>
        <p:txBody>
          <a:bodyPr wrap="none">
            <a:spAutoFit/>
          </a:bodyPr>
          <a:lstStyle/>
          <a:p>
            <a:pPr fontAlgn="auto">
              <a:spcBef>
                <a:spcPts val="0"/>
              </a:spcBef>
              <a:spcAft>
                <a:spcPts val="0"/>
              </a:spcAft>
              <a:defRPr/>
            </a:pPr>
            <a:r>
              <a:rPr lang="zh-CN" altLang="en-US" sz="1600" b="1" dirty="0" smtClean="0">
                <a:latin typeface="微软雅黑" panose="020B0503020204020204" pitchFamily="34" charset="-122"/>
                <a:ea typeface="微软雅黑" panose="020B0503020204020204" pitchFamily="34" charset="-122"/>
              </a:rPr>
              <a:t>基于贝叶斯方法的地下水参数空间结构估计</a:t>
            </a:r>
            <a:endParaRPr lang="en-US" altLang="zh-CN" sz="1600" dirty="0">
              <a:latin typeface="微软雅黑" panose="020B0503020204020204" pitchFamily="34" charset="-122"/>
              <a:ea typeface="微软雅黑" panose="020B0503020204020204" pitchFamily="34" charset="-122"/>
              <a:cs typeface="Open Sans Light" pitchFamily="34" charset="0"/>
            </a:endParaRPr>
          </a:p>
        </p:txBody>
      </p:sp>
    </p:spTree>
    <p:extLst>
      <p:ext uri="{BB962C8B-B14F-4D97-AF65-F5344CB8AC3E}">
        <p14:creationId xmlns:p14="http://schemas.microsoft.com/office/powerpoint/2010/main" val="1711869646"/>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8881</TotalTime>
  <Words>1368</Words>
  <Application>Microsoft Office PowerPoint</Application>
  <PresentationFormat>全屏显示(16:9)</PresentationFormat>
  <Paragraphs>293</Paragraphs>
  <Slides>14</Slides>
  <Notes>12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14</vt:i4>
      </vt:variant>
    </vt:vector>
  </HeadingPairs>
  <TitlesOfParts>
    <vt:vector size="30" baseType="lpstr">
      <vt:lpstr>Mangal</vt:lpstr>
      <vt:lpstr>Microsoft YaHei UI</vt:lpstr>
      <vt:lpstr>Microsoft YaHei UI Light</vt:lpstr>
      <vt:lpstr>Open Sans</vt:lpstr>
      <vt:lpstr>Open Sans Light</vt:lpstr>
      <vt:lpstr>等线</vt:lpstr>
      <vt:lpstr>等线 Light</vt:lpstr>
      <vt:lpstr>楷体</vt:lpstr>
      <vt:lpstr>宋体</vt:lpstr>
      <vt:lpstr>微软雅黑</vt:lpstr>
      <vt:lpstr>Arial</vt:lpstr>
      <vt:lpstr>Calibri</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锐旗设计；https://9ppt.taobao.com</dc:title>
  <dc:subject/>
  <dc:creator>锐旗设计;https://9ppt.taobao.com</dc:creator>
  <cp:keywords>锐旗设计；https:/9ppt.taobao.com</cp:keywords>
  <dc:description/>
  <cp:lastModifiedBy>Windows 用户</cp:lastModifiedBy>
  <cp:revision>1112</cp:revision>
  <dcterms:created xsi:type="dcterms:W3CDTF">2014-02-01T22:43:10Z</dcterms:created>
  <dcterms:modified xsi:type="dcterms:W3CDTF">2018-05-08T00:11:50Z</dcterms:modified>
  <cp:category>锐旗设计；https://9ppt.taobao.com</cp:category>
</cp:coreProperties>
</file>