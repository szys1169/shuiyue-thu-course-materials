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733" r:id="rId2"/>
  </p:sldMasterIdLst>
  <p:notesMasterIdLst>
    <p:notesMasterId r:id="rId39"/>
  </p:notesMasterIdLst>
  <p:handoutMasterIdLst>
    <p:handoutMasterId r:id="rId40"/>
  </p:handoutMasterIdLst>
  <p:sldIdLst>
    <p:sldId id="256" r:id="rId3"/>
    <p:sldId id="292" r:id="rId4"/>
    <p:sldId id="344" r:id="rId5"/>
    <p:sldId id="294" r:id="rId6"/>
    <p:sldId id="295" r:id="rId7"/>
    <p:sldId id="362" r:id="rId8"/>
    <p:sldId id="363" r:id="rId9"/>
    <p:sldId id="352" r:id="rId10"/>
    <p:sldId id="351" r:id="rId11"/>
    <p:sldId id="298" r:id="rId12"/>
    <p:sldId id="387" r:id="rId13"/>
    <p:sldId id="358" r:id="rId14"/>
    <p:sldId id="366" r:id="rId15"/>
    <p:sldId id="360" r:id="rId16"/>
    <p:sldId id="359" r:id="rId17"/>
    <p:sldId id="305" r:id="rId18"/>
    <p:sldId id="306" r:id="rId19"/>
    <p:sldId id="361" r:id="rId20"/>
    <p:sldId id="307" r:id="rId21"/>
    <p:sldId id="368" r:id="rId22"/>
    <p:sldId id="369" r:id="rId23"/>
    <p:sldId id="370" r:id="rId24"/>
    <p:sldId id="371" r:id="rId25"/>
    <p:sldId id="372" r:id="rId26"/>
    <p:sldId id="373" r:id="rId27"/>
    <p:sldId id="374" r:id="rId28"/>
    <p:sldId id="375" r:id="rId29"/>
    <p:sldId id="376" r:id="rId30"/>
    <p:sldId id="377" r:id="rId31"/>
    <p:sldId id="378" r:id="rId32"/>
    <p:sldId id="381" r:id="rId33"/>
    <p:sldId id="382" r:id="rId34"/>
    <p:sldId id="383" r:id="rId35"/>
    <p:sldId id="384" r:id="rId36"/>
    <p:sldId id="385" r:id="rId37"/>
    <p:sldId id="386" r:id="rId38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99"/>
    <a:srgbClr val="FF9900"/>
    <a:srgbClr val="00FFCC"/>
    <a:srgbClr val="3399FF"/>
    <a:srgbClr val="FFFFFF"/>
    <a:srgbClr val="FF0000"/>
    <a:srgbClr val="FF0066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2" autoAdjust="0"/>
    <p:restoredTop sz="94625" autoAdjust="0"/>
  </p:normalViewPr>
  <p:slideViewPr>
    <p:cSldViewPr snapToGrid="0">
      <p:cViewPr varScale="1">
        <p:scale>
          <a:sx n="83" d="100"/>
          <a:sy n="83" d="100"/>
        </p:scale>
        <p:origin x="-1435" y="-58"/>
      </p:cViewPr>
      <p:guideLst>
        <p:guide orient="horz" pos="551"/>
        <p:guide orient="horz" pos="2397"/>
        <p:guide orient="horz" pos="1866"/>
        <p:guide orient="horz" pos="2712"/>
        <p:guide pos="213"/>
        <p:guide pos="1817"/>
        <p:guide pos="325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FBE259B1-A3BE-476F-84FF-D24A9D5D43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9153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110CED16-3E57-4AD0-A487-1A5E3D1124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22999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2147483647 w 4128"/>
              <a:gd name="T1" fmla="*/ 2147483647 h 479"/>
              <a:gd name="T2" fmla="*/ 2147483647 w 4128"/>
              <a:gd name="T3" fmla="*/ 2147483647 h 479"/>
              <a:gd name="T4" fmla="*/ 2147483647 w 4128"/>
              <a:gd name="T5" fmla="*/ 2147483647 h 479"/>
              <a:gd name="T6" fmla="*/ 0 w 4128"/>
              <a:gd name="T7" fmla="*/ 2147483647 h 479"/>
              <a:gd name="T8" fmla="*/ 2147483647 w 4128"/>
              <a:gd name="T9" fmla="*/ 2147483647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A47820-454E-4F0C-B021-E957FD16C8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472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671836-4A06-43AE-872E-FF76BBA455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1604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F43FE6-3E10-439D-B676-990E663966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0221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BF4ADD-54C0-4C0B-9F28-9CDB9F60C3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8642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E7C7E9-E04F-42D2-B425-221F48E098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6838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ED486-E966-4CAE-8718-054BC81DCE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0184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6BA75E-1FA5-4680-9BB1-39F63B487F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8431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B53F4C-1FC2-4E9A-AB03-744776A27A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0254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F0A4DA-9F4A-4903-8CE8-F7FAF8F0C4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6095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704A4F-D6A3-4F64-9208-3ED43A0C75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8937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3D69CD-F10A-4391-8875-393D0B0739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7639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302203 w 4128"/>
              <a:gd name="T1" fmla="*/ 202829 h 479"/>
              <a:gd name="T2" fmla="*/ 7653337 w 4128"/>
              <a:gd name="T3" fmla="*/ 202829 h 479"/>
              <a:gd name="T4" fmla="*/ 7653337 w 4128"/>
              <a:gd name="T5" fmla="*/ 435068 h 479"/>
              <a:gd name="T6" fmla="*/ 0 w 4128"/>
              <a:gd name="T7" fmla="*/ 447238 h 479"/>
              <a:gd name="T8" fmla="*/ 302203 w 4128"/>
              <a:gd name="T9" fmla="*/ 202829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C5EF1394-A991-4288-9385-9056125AFA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9604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ABDAA-18D8-408F-994E-78374F4EDE46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079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07ED67-BB47-4137-A38E-D1646A9E6144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553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CBAD60-341D-4C93-BD89-04C59B145747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288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E265F-05A4-4597-8A42-558422607AFE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8361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9D30A4-80D9-4E25-89C6-23745DBAD328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2456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FD0751-AAF2-4A71-88B7-C948E735956B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2136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B49BD-B5CA-48BE-93BF-725E272EAA74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7972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8E9746-ED68-4A6E-967E-AC3F936A1A63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203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D18859-6985-4D68-AA99-AD53BC07CAB6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8016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32E55D-CF1D-4C67-BEFB-92338FF6035D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79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 b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b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b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85AD587-1006-48F9-88F7-B1E7B6C976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kumimoji="1" sz="1400" b="0" i="0" baseline="0">
                <a:solidFill>
                  <a:schemeClr val="bg2"/>
                </a:solidFill>
                <a:latin typeface="+mn-lt"/>
              </a:defRPr>
            </a:lvl1pPr>
          </a:lstStyle>
          <a:p>
            <a:pPr algn="l">
              <a:defRPr/>
            </a:pPr>
            <a:endParaRPr lang="en-US" altLang="zh-CN">
              <a:solidFill>
                <a:srgbClr val="578963"/>
              </a:solidFill>
              <a:sym typeface="Symbol" pitchFamily="18" charset="2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kumimoji="1" sz="1400" b="0" i="0" baseline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>
              <a:solidFill>
                <a:srgbClr val="578963"/>
              </a:solidFill>
              <a:sym typeface="Symbol" pitchFamily="18" charset="2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kumimoji="1" sz="1400" b="0" i="0" baseline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fld id="{DE74C4E5-FBE3-4D13-9978-D46785C648BC}" type="slidenum">
              <a:rPr lang="en-US" altLang="zh-CN">
                <a:solidFill>
                  <a:srgbClr val="578963"/>
                </a:solidFill>
                <a:sym typeface="Symbol" pitchFamily="18" charset="2"/>
              </a:rPr>
              <a:pPr>
                <a:defRPr/>
              </a:pPr>
              <a:t>‹#›</a:t>
            </a:fld>
            <a:endParaRPr lang="en-US" altLang="zh-CN">
              <a:solidFill>
                <a:srgbClr val="578963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14384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9445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5187448A-090E-4C57-A36A-58BB2A00BA51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350"/>
            <a:ext cx="9144000" cy="8747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8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第二讲</a:t>
            </a:r>
            <a:endParaRPr lang="zh-CN" altLang="en-US" sz="4800" dirty="0" smtClean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4788" y="1046163"/>
            <a:ext cx="8805862" cy="1817687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>
                <a:schemeClr val="tx1"/>
              </a:buClr>
              <a:buFontTx/>
              <a:buNone/>
            </a:pPr>
            <a:r>
              <a:rPr lang="zh-CN" altLang="en-US" b="1" dirty="0" smtClean="0">
                <a:ea typeface="黑体" pitchFamily="2" charset="-122"/>
              </a:rPr>
              <a:t>本讲内容</a:t>
            </a:r>
            <a:r>
              <a:rPr lang="en-US" altLang="zh-CN" b="1" dirty="0" smtClean="0">
                <a:ea typeface="黑体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zh-CN" altLang="en-US" sz="2400" b="1" dirty="0" smtClean="0">
                <a:ea typeface="黑体" pitchFamily="2" charset="-122"/>
              </a:rPr>
              <a:t>平面</a:t>
            </a:r>
            <a:r>
              <a:rPr lang="zh-CN" altLang="en-US" sz="2400" b="1" dirty="0" smtClean="0">
                <a:latin typeface="宋体" pitchFamily="2" charset="-122"/>
                <a:ea typeface="黑体" pitchFamily="2" charset="-122"/>
              </a:rPr>
              <a:t>的投影</a:t>
            </a:r>
            <a:endParaRPr lang="zh-CN" altLang="en-US" sz="2400" b="1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几何元素间相对位置关系</a:t>
            </a:r>
            <a:endParaRPr lang="en-US" altLang="zh-CN" sz="2400" b="1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平面上的最大斜度线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endParaRPr lang="zh-CN" altLang="en-US" sz="2400" b="1" dirty="0" smtClean="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77" name="Text Box 4"/>
          <p:cNvSpPr txBox="1">
            <a:spLocks noChangeArrowheads="1"/>
          </p:cNvSpPr>
          <p:nvPr/>
        </p:nvSpPr>
        <p:spPr bwMode="auto">
          <a:xfrm>
            <a:off x="4598988" y="1019175"/>
            <a:ext cx="43592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复习：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P.94 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- 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115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78" name="Text Box 5"/>
          <p:cNvSpPr txBox="1">
            <a:spLocks noChangeArrowheads="1"/>
          </p:cNvSpPr>
          <p:nvPr/>
        </p:nvSpPr>
        <p:spPr bwMode="auto">
          <a:xfrm>
            <a:off x="4662488" y="3163888"/>
            <a:ext cx="4348162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作业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：</a:t>
            </a:r>
            <a:endParaRPr lang="en-US" altLang="zh-CN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ea typeface="黑体" pitchFamily="2" charset="-122"/>
              </a:rPr>
              <a:t> P.7:  </a:t>
            </a:r>
            <a:r>
              <a:rPr lang="en-US" altLang="zh-CN" sz="2400" dirty="0" smtClean="0">
                <a:ea typeface="黑体" pitchFamily="2" charset="-122"/>
              </a:rPr>
              <a:t>4</a:t>
            </a:r>
            <a:r>
              <a:rPr lang="en-US" altLang="zh-CN" sz="2400" dirty="0">
                <a:ea typeface="黑体" pitchFamily="2" charset="-122"/>
              </a:rPr>
              <a:t>, 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ea typeface="黑体" pitchFamily="2" charset="-122"/>
              </a:rPr>
              <a:t> P.8:  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P.9:  2, 3, </a:t>
            </a:r>
            <a:r>
              <a:rPr lang="en-US" altLang="zh-CN" sz="2400" dirty="0" smtClean="0"/>
              <a:t>4</a:t>
            </a: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400" dirty="0">
                <a:ea typeface="黑体" pitchFamily="2" charset="-122"/>
              </a:rPr>
              <a:t> </a:t>
            </a:r>
            <a:r>
              <a:rPr lang="en-US" altLang="zh-CN" sz="2400" dirty="0" smtClean="0">
                <a:ea typeface="黑体" pitchFamily="2" charset="-122"/>
              </a:rPr>
              <a:t>P.10:  3,4</a:t>
            </a:r>
            <a:endParaRPr lang="en-US" altLang="zh-CN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ea typeface="黑体" pitchFamily="2" charset="-122"/>
              </a:rPr>
              <a:t> P.11: </a:t>
            </a:r>
            <a:r>
              <a:rPr lang="en-US" altLang="zh-CN" sz="2400" dirty="0" smtClean="0">
                <a:ea typeface="黑体" pitchFamily="2" charset="-122"/>
              </a:rPr>
              <a:t> 6,7</a:t>
            </a:r>
            <a:endParaRPr lang="en-US" altLang="zh-CN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ea typeface="黑体" pitchFamily="2" charset="-122"/>
              </a:rPr>
              <a:t> </a:t>
            </a:r>
            <a:r>
              <a:rPr lang="en-US" altLang="zh-CN" sz="2400" dirty="0" smtClean="0">
                <a:ea typeface="黑体" pitchFamily="2" charset="-122"/>
              </a:rPr>
              <a:t>P.12:  2,3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* 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存在多解必须标出有几个解。</a:t>
            </a:r>
          </a:p>
        </p:txBody>
      </p:sp>
      <p:sp>
        <p:nvSpPr>
          <p:cNvPr id="3079" name="Text Box 6"/>
          <p:cNvSpPr txBox="1">
            <a:spLocks noChangeArrowheads="1"/>
          </p:cNvSpPr>
          <p:nvPr/>
        </p:nvSpPr>
        <p:spPr bwMode="auto">
          <a:xfrm>
            <a:off x="204788" y="3162300"/>
            <a:ext cx="8805862" cy="1717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20000"/>
              </a:spcAft>
              <a:buClrTx/>
              <a:buFontTx/>
              <a:buNone/>
            </a:pPr>
            <a:r>
              <a:rPr lang="zh-CN" altLang="en-US" dirty="0">
                <a:ea typeface="黑体" pitchFamily="2" charset="-122"/>
              </a:rPr>
              <a:t>下讲内容：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P.115-125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Char char="•"/>
            </a:pPr>
            <a:r>
              <a:rPr lang="zh-CN" altLang="en-US" sz="2400" i="0" baseline="0" dirty="0" smtClean="0">
                <a:latin typeface="黑体" pitchFamily="2" charset="-122"/>
                <a:ea typeface="黑体" pitchFamily="2" charset="-122"/>
              </a:rPr>
              <a:t> 综合问题解题方法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 i="0" baseline="0" dirty="0" smtClean="0">
                <a:latin typeface="黑体" pitchFamily="2" charset="-122"/>
                <a:ea typeface="黑体" pitchFamily="2" charset="-122"/>
              </a:rPr>
              <a:t> 换面</a:t>
            </a:r>
            <a:r>
              <a:rPr lang="zh-CN" altLang="en-US" sz="2400" i="0" baseline="0" dirty="0" smtClean="0">
                <a:latin typeface="黑体" pitchFamily="2" charset="-122"/>
                <a:ea typeface="黑体" pitchFamily="2" charset="-122"/>
              </a:rPr>
              <a:t>法</a:t>
            </a:r>
            <a:endParaRPr lang="en-US" altLang="zh-CN" sz="2400" i="0" baseline="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4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注意：上课时间</a:t>
            </a:r>
            <a:r>
              <a:rPr lang="en-US" altLang="zh-CN" sz="24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10</a:t>
            </a:r>
            <a:r>
              <a:rPr lang="zh-CN" altLang="en-US" sz="24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月</a:t>
            </a:r>
            <a:r>
              <a:rPr lang="en-US" altLang="zh-CN" sz="24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7</a:t>
            </a:r>
            <a:r>
              <a:rPr lang="zh-CN" altLang="en-US" sz="24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日</a:t>
            </a:r>
            <a:endParaRPr lang="zh-CN" altLang="en-US" sz="2400" i="0" baseline="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0E69156C-E03F-4899-90B6-9F5E4F294EEA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338138" y="317500"/>
            <a:ext cx="8805862" cy="557213"/>
          </a:xfrm>
        </p:spPr>
        <p:txBody>
          <a:bodyPr/>
          <a:lstStyle/>
          <a:p>
            <a:pPr eaLnBrk="1" hangingPunct="1"/>
            <a:r>
              <a:rPr lang="en-US" altLang="zh-CN" sz="3200" b="1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§2.3 </a:t>
            </a:r>
            <a:r>
              <a:rPr lang="zh-CN" altLang="en-US" sz="3200" b="1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平面的投影</a:t>
            </a:r>
            <a:endParaRPr lang="zh-CN" altLang="en-US" sz="3200" b="1" dirty="0" smtClean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338138" y="1091964"/>
            <a:ext cx="8805862" cy="104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一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. 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平面的表示方法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0" dirty="0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几何元素表示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148263" y="523875"/>
            <a:ext cx="3302000" cy="2674938"/>
            <a:chOff x="2949" y="1290"/>
            <a:chExt cx="2080" cy="1685"/>
          </a:xfrm>
        </p:grpSpPr>
        <p:sp>
          <p:nvSpPr>
            <p:cNvPr id="20682" name="Rectangle 5"/>
            <p:cNvSpPr>
              <a:spLocks noChangeArrowheads="1"/>
            </p:cNvSpPr>
            <p:nvPr/>
          </p:nvSpPr>
          <p:spPr bwMode="auto">
            <a:xfrm>
              <a:off x="2971" y="1292"/>
              <a:ext cx="2055" cy="1682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 i="1">
                <a:latin typeface="ISOCPEUR" pitchFamily="34" charset="0"/>
              </a:endParaRPr>
            </a:p>
          </p:txBody>
        </p:sp>
        <p:sp>
          <p:nvSpPr>
            <p:cNvPr id="20683" name="Freeform 6"/>
            <p:cNvSpPr>
              <a:spLocks/>
            </p:cNvSpPr>
            <p:nvPr/>
          </p:nvSpPr>
          <p:spPr bwMode="auto">
            <a:xfrm>
              <a:off x="2971" y="1291"/>
              <a:ext cx="2058" cy="1684"/>
            </a:xfrm>
            <a:custGeom>
              <a:avLst/>
              <a:gdLst>
                <a:gd name="T0" fmla="*/ 5791 w 1589"/>
                <a:gd name="T1" fmla="*/ 0 h 1300"/>
                <a:gd name="T2" fmla="*/ 0 w 1589"/>
                <a:gd name="T3" fmla="*/ 0 h 1300"/>
                <a:gd name="T4" fmla="*/ 0 w 1589"/>
                <a:gd name="T5" fmla="*/ 4740 h 1300"/>
                <a:gd name="T6" fmla="*/ 0 60000 65536"/>
                <a:gd name="T7" fmla="*/ 0 60000 65536"/>
                <a:gd name="T8" fmla="*/ 0 60000 65536"/>
                <a:gd name="T9" fmla="*/ 0 w 1589"/>
                <a:gd name="T10" fmla="*/ 0 h 1300"/>
                <a:gd name="T11" fmla="*/ 1589 w 1589"/>
                <a:gd name="T12" fmla="*/ 1300 h 1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9" h="1300">
                  <a:moveTo>
                    <a:pt x="1589" y="0"/>
                  </a:moveTo>
                  <a:lnTo>
                    <a:pt x="0" y="0"/>
                  </a:lnTo>
                  <a:lnTo>
                    <a:pt x="0" y="1300"/>
                  </a:lnTo>
                </a:path>
              </a:pathLst>
            </a:custGeom>
            <a:solidFill>
              <a:srgbClr val="CCCCFF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84" name="Text Box 7"/>
            <p:cNvSpPr txBox="1">
              <a:spLocks noChangeArrowheads="1"/>
            </p:cNvSpPr>
            <p:nvPr/>
          </p:nvSpPr>
          <p:spPr bwMode="auto">
            <a:xfrm>
              <a:off x="2949" y="1291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P 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685" name="Line 8"/>
            <p:cNvSpPr>
              <a:spLocks noChangeShapeType="1"/>
            </p:cNvSpPr>
            <p:nvPr/>
          </p:nvSpPr>
          <p:spPr bwMode="auto">
            <a:xfrm flipH="1">
              <a:off x="2970" y="1540"/>
              <a:ext cx="2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86" name="Text Box 9"/>
            <p:cNvSpPr txBox="1">
              <a:spLocks noChangeArrowheads="1"/>
            </p:cNvSpPr>
            <p:nvPr/>
          </p:nvSpPr>
          <p:spPr bwMode="auto">
            <a:xfrm>
              <a:off x="3445" y="1446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A</a:t>
              </a:r>
            </a:p>
          </p:txBody>
        </p:sp>
        <p:sp>
          <p:nvSpPr>
            <p:cNvPr id="20687" name="Line 10"/>
            <p:cNvSpPr>
              <a:spLocks noChangeShapeType="1"/>
            </p:cNvSpPr>
            <p:nvPr/>
          </p:nvSpPr>
          <p:spPr bwMode="auto">
            <a:xfrm>
              <a:off x="3205" y="1290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88" name="AutoShape 11"/>
            <p:cNvSpPr>
              <a:spLocks noChangeArrowheads="1"/>
            </p:cNvSpPr>
            <p:nvPr/>
          </p:nvSpPr>
          <p:spPr bwMode="auto">
            <a:xfrm>
              <a:off x="3636" y="1674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89" name="AutoShape 12"/>
            <p:cNvSpPr>
              <a:spLocks noChangeArrowheads="1"/>
            </p:cNvSpPr>
            <p:nvPr/>
          </p:nvSpPr>
          <p:spPr bwMode="auto">
            <a:xfrm flipH="1">
              <a:off x="4429" y="1872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90" name="AutoShape 13"/>
            <p:cNvSpPr>
              <a:spLocks noChangeArrowheads="1"/>
            </p:cNvSpPr>
            <p:nvPr/>
          </p:nvSpPr>
          <p:spPr bwMode="auto">
            <a:xfrm>
              <a:off x="3276" y="2586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91" name="Text Box 14"/>
            <p:cNvSpPr txBox="1">
              <a:spLocks noChangeArrowheads="1"/>
            </p:cNvSpPr>
            <p:nvPr/>
          </p:nvSpPr>
          <p:spPr bwMode="auto">
            <a:xfrm>
              <a:off x="3080" y="2361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B</a:t>
              </a:r>
            </a:p>
          </p:txBody>
        </p:sp>
        <p:sp>
          <p:nvSpPr>
            <p:cNvPr id="20692" name="Text Box 15"/>
            <p:cNvSpPr txBox="1">
              <a:spLocks noChangeArrowheads="1"/>
            </p:cNvSpPr>
            <p:nvPr/>
          </p:nvSpPr>
          <p:spPr bwMode="auto">
            <a:xfrm>
              <a:off x="4448" y="1641"/>
              <a:ext cx="2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C</a:t>
              </a:r>
            </a:p>
          </p:txBody>
        </p:sp>
      </p:grpSp>
      <p:sp>
        <p:nvSpPr>
          <p:cNvPr id="58451" name="Text Box 83"/>
          <p:cNvSpPr txBox="1">
            <a:spLocks noChangeArrowheads="1"/>
          </p:cNvSpPr>
          <p:nvPr/>
        </p:nvSpPr>
        <p:spPr bwMode="auto">
          <a:xfrm>
            <a:off x="2054225" y="3711575"/>
            <a:ext cx="2266950" cy="45720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线及线外一点</a:t>
            </a:r>
          </a:p>
        </p:txBody>
      </p:sp>
      <p:sp>
        <p:nvSpPr>
          <p:cNvPr id="58452" name="Text Box 84"/>
          <p:cNvSpPr txBox="1">
            <a:spLocks noChangeArrowheads="1"/>
          </p:cNvSpPr>
          <p:nvPr/>
        </p:nvSpPr>
        <p:spPr bwMode="auto">
          <a:xfrm>
            <a:off x="2055813" y="4246563"/>
            <a:ext cx="2039937" cy="45720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两平行线</a:t>
            </a:r>
          </a:p>
        </p:txBody>
      </p:sp>
      <p:sp>
        <p:nvSpPr>
          <p:cNvPr id="58453" name="Text Box 85"/>
          <p:cNvSpPr txBox="1">
            <a:spLocks noChangeArrowheads="1"/>
          </p:cNvSpPr>
          <p:nvPr/>
        </p:nvSpPr>
        <p:spPr bwMode="auto">
          <a:xfrm>
            <a:off x="2055813" y="4773613"/>
            <a:ext cx="2039937" cy="45720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两相交直线</a:t>
            </a:r>
          </a:p>
        </p:txBody>
      </p:sp>
      <p:sp>
        <p:nvSpPr>
          <p:cNvPr id="58454" name="Text Box 86"/>
          <p:cNvSpPr txBox="1">
            <a:spLocks noChangeArrowheads="1"/>
          </p:cNvSpPr>
          <p:nvPr/>
        </p:nvSpPr>
        <p:spPr bwMode="auto">
          <a:xfrm>
            <a:off x="2055813" y="5291138"/>
            <a:ext cx="2039937" cy="45720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平面图形</a:t>
            </a:r>
          </a:p>
        </p:txBody>
      </p:sp>
      <p:sp>
        <p:nvSpPr>
          <p:cNvPr id="58455" name="Text Box 87"/>
          <p:cNvSpPr txBox="1">
            <a:spLocks noChangeArrowheads="1"/>
          </p:cNvSpPr>
          <p:nvPr/>
        </p:nvSpPr>
        <p:spPr bwMode="auto">
          <a:xfrm>
            <a:off x="2054225" y="3179763"/>
            <a:ext cx="2292350" cy="45720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不共线的三点</a:t>
            </a:r>
          </a:p>
        </p:txBody>
      </p:sp>
      <p:grpSp>
        <p:nvGrpSpPr>
          <p:cNvPr id="3" name="Group 114"/>
          <p:cNvGrpSpPr>
            <a:grpSpLocks/>
          </p:cNvGrpSpPr>
          <p:nvPr/>
        </p:nvGrpSpPr>
        <p:grpSpPr bwMode="auto">
          <a:xfrm>
            <a:off x="5151438" y="3308350"/>
            <a:ext cx="3486150" cy="3111500"/>
            <a:chOff x="3221" y="2048"/>
            <a:chExt cx="2196" cy="1960"/>
          </a:xfrm>
        </p:grpSpPr>
        <p:grpSp>
          <p:nvGrpSpPr>
            <p:cNvPr id="20663" name="Group 115"/>
            <p:cNvGrpSpPr>
              <a:grpSpLocks/>
            </p:cNvGrpSpPr>
            <p:nvPr/>
          </p:nvGrpSpPr>
          <p:grpSpPr bwMode="auto">
            <a:xfrm>
              <a:off x="3221" y="2869"/>
              <a:ext cx="2196" cy="289"/>
              <a:chOff x="3221" y="2791"/>
              <a:chExt cx="2196" cy="289"/>
            </a:xfrm>
          </p:grpSpPr>
          <p:sp>
            <p:nvSpPr>
              <p:cNvPr id="20679" name="Text Box 116"/>
              <p:cNvSpPr txBox="1">
                <a:spLocks noChangeArrowheads="1"/>
              </p:cNvSpPr>
              <p:nvPr/>
            </p:nvSpPr>
            <p:spPr bwMode="auto">
              <a:xfrm>
                <a:off x="3221" y="2792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X</a:t>
                </a:r>
              </a:p>
            </p:txBody>
          </p:sp>
          <p:sp>
            <p:nvSpPr>
              <p:cNvPr id="20680" name="Text Box 117"/>
              <p:cNvSpPr txBox="1">
                <a:spLocks noChangeArrowheads="1"/>
              </p:cNvSpPr>
              <p:nvPr/>
            </p:nvSpPr>
            <p:spPr bwMode="auto">
              <a:xfrm>
                <a:off x="5198" y="2791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O</a:t>
                </a:r>
              </a:p>
            </p:txBody>
          </p:sp>
          <p:sp>
            <p:nvSpPr>
              <p:cNvPr id="20681" name="Line 118"/>
              <p:cNvSpPr>
                <a:spLocks noChangeShapeType="1"/>
              </p:cNvSpPr>
              <p:nvPr/>
            </p:nvSpPr>
            <p:spPr bwMode="auto">
              <a:xfrm>
                <a:off x="3400" y="3052"/>
                <a:ext cx="18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664" name="Text Box 119"/>
            <p:cNvSpPr txBox="1">
              <a:spLocks noChangeArrowheads="1"/>
            </p:cNvSpPr>
            <p:nvPr/>
          </p:nvSpPr>
          <p:spPr bwMode="auto">
            <a:xfrm>
              <a:off x="4120" y="2048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665" name="Text Box 120"/>
            <p:cNvSpPr txBox="1">
              <a:spLocks noChangeArrowheads="1"/>
            </p:cNvSpPr>
            <p:nvPr/>
          </p:nvSpPr>
          <p:spPr bwMode="auto">
            <a:xfrm>
              <a:off x="3422" y="2673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666" name="Text Box 121"/>
            <p:cNvSpPr txBox="1">
              <a:spLocks noChangeArrowheads="1"/>
            </p:cNvSpPr>
            <p:nvPr/>
          </p:nvSpPr>
          <p:spPr bwMode="auto">
            <a:xfrm>
              <a:off x="4559" y="2327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667" name="Line 122"/>
            <p:cNvSpPr>
              <a:spLocks noChangeShapeType="1"/>
            </p:cNvSpPr>
            <p:nvPr/>
          </p:nvSpPr>
          <p:spPr bwMode="auto">
            <a:xfrm>
              <a:off x="3688" y="2885"/>
              <a:ext cx="0" cy="5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68" name="Line 123"/>
            <p:cNvSpPr>
              <a:spLocks noChangeShapeType="1"/>
            </p:cNvSpPr>
            <p:nvPr/>
          </p:nvSpPr>
          <p:spPr bwMode="auto">
            <a:xfrm>
              <a:off x="4373" y="2260"/>
              <a:ext cx="0" cy="1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69" name="Line 124"/>
            <p:cNvSpPr>
              <a:spLocks noChangeShapeType="1"/>
            </p:cNvSpPr>
            <p:nvPr/>
          </p:nvSpPr>
          <p:spPr bwMode="auto">
            <a:xfrm>
              <a:off x="4623" y="2488"/>
              <a:ext cx="0" cy="11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70" name="Text Box 125"/>
            <p:cNvSpPr txBox="1">
              <a:spLocks noChangeArrowheads="1"/>
            </p:cNvSpPr>
            <p:nvPr/>
          </p:nvSpPr>
          <p:spPr bwMode="auto">
            <a:xfrm>
              <a:off x="4206" y="3758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20671" name="Text Box 126"/>
            <p:cNvSpPr txBox="1">
              <a:spLocks noChangeArrowheads="1"/>
            </p:cNvSpPr>
            <p:nvPr/>
          </p:nvSpPr>
          <p:spPr bwMode="auto">
            <a:xfrm>
              <a:off x="3503" y="3293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20672" name="Text Box 127"/>
            <p:cNvSpPr txBox="1">
              <a:spLocks noChangeArrowheads="1"/>
            </p:cNvSpPr>
            <p:nvPr/>
          </p:nvSpPr>
          <p:spPr bwMode="auto">
            <a:xfrm>
              <a:off x="4646" y="3545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20673" name="AutoShape 128"/>
            <p:cNvSpPr>
              <a:spLocks noChangeArrowheads="1"/>
            </p:cNvSpPr>
            <p:nvPr/>
          </p:nvSpPr>
          <p:spPr bwMode="auto">
            <a:xfrm>
              <a:off x="4603" y="2436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74" name="AutoShape 129"/>
            <p:cNvSpPr>
              <a:spLocks noChangeArrowheads="1"/>
            </p:cNvSpPr>
            <p:nvPr/>
          </p:nvSpPr>
          <p:spPr bwMode="auto">
            <a:xfrm>
              <a:off x="4608" y="3677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75" name="AutoShape 130"/>
            <p:cNvSpPr>
              <a:spLocks noChangeArrowheads="1"/>
            </p:cNvSpPr>
            <p:nvPr/>
          </p:nvSpPr>
          <p:spPr bwMode="auto">
            <a:xfrm>
              <a:off x="4347" y="2224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76" name="AutoShape 131"/>
            <p:cNvSpPr>
              <a:spLocks noChangeArrowheads="1"/>
            </p:cNvSpPr>
            <p:nvPr/>
          </p:nvSpPr>
          <p:spPr bwMode="auto">
            <a:xfrm>
              <a:off x="3667" y="2831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77" name="AutoShape 132"/>
            <p:cNvSpPr>
              <a:spLocks noChangeArrowheads="1"/>
            </p:cNvSpPr>
            <p:nvPr/>
          </p:nvSpPr>
          <p:spPr bwMode="auto">
            <a:xfrm>
              <a:off x="4347" y="3804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78" name="AutoShape 133"/>
            <p:cNvSpPr>
              <a:spLocks noChangeArrowheads="1"/>
            </p:cNvSpPr>
            <p:nvPr/>
          </p:nvSpPr>
          <p:spPr bwMode="auto">
            <a:xfrm>
              <a:off x="3664" y="3345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58553" name="Rectangle 185"/>
          <p:cNvSpPr>
            <a:spLocks noChangeArrowheads="1"/>
          </p:cNvSpPr>
          <p:nvPr/>
        </p:nvSpPr>
        <p:spPr bwMode="auto">
          <a:xfrm>
            <a:off x="1906588" y="4187825"/>
            <a:ext cx="2405062" cy="1627188"/>
          </a:xfrm>
          <a:prstGeom prst="rect">
            <a:avLst/>
          </a:prstGeom>
          <a:noFill/>
          <a:ln w="19050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5" name="Group 216"/>
          <p:cNvGrpSpPr>
            <a:grpSpLocks/>
          </p:cNvGrpSpPr>
          <p:nvPr/>
        </p:nvGrpSpPr>
        <p:grpSpPr bwMode="auto">
          <a:xfrm>
            <a:off x="5151438" y="525463"/>
            <a:ext cx="3302000" cy="2674937"/>
            <a:chOff x="3242" y="329"/>
            <a:chExt cx="2080" cy="1685"/>
          </a:xfrm>
        </p:grpSpPr>
        <p:grpSp>
          <p:nvGrpSpPr>
            <p:cNvPr id="20650" name="Group 217"/>
            <p:cNvGrpSpPr>
              <a:grpSpLocks/>
            </p:cNvGrpSpPr>
            <p:nvPr/>
          </p:nvGrpSpPr>
          <p:grpSpPr bwMode="auto">
            <a:xfrm>
              <a:off x="3242" y="329"/>
              <a:ext cx="2080" cy="1685"/>
              <a:chOff x="2949" y="1290"/>
              <a:chExt cx="2080" cy="1685"/>
            </a:xfrm>
          </p:grpSpPr>
          <p:sp>
            <p:nvSpPr>
              <p:cNvPr id="20652" name="Rectangle 218"/>
              <p:cNvSpPr>
                <a:spLocks noChangeArrowheads="1"/>
              </p:cNvSpPr>
              <p:nvPr/>
            </p:nvSpPr>
            <p:spPr bwMode="auto">
              <a:xfrm>
                <a:off x="2971" y="1292"/>
                <a:ext cx="2055" cy="1682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20653" name="Freeform 219"/>
              <p:cNvSpPr>
                <a:spLocks/>
              </p:cNvSpPr>
              <p:nvPr/>
            </p:nvSpPr>
            <p:spPr bwMode="auto">
              <a:xfrm>
                <a:off x="2971" y="1291"/>
                <a:ext cx="2058" cy="1684"/>
              </a:xfrm>
              <a:custGeom>
                <a:avLst/>
                <a:gdLst>
                  <a:gd name="T0" fmla="*/ 5791 w 1589"/>
                  <a:gd name="T1" fmla="*/ 0 h 1300"/>
                  <a:gd name="T2" fmla="*/ 0 w 1589"/>
                  <a:gd name="T3" fmla="*/ 0 h 1300"/>
                  <a:gd name="T4" fmla="*/ 0 w 1589"/>
                  <a:gd name="T5" fmla="*/ 4740 h 1300"/>
                  <a:gd name="T6" fmla="*/ 0 60000 65536"/>
                  <a:gd name="T7" fmla="*/ 0 60000 65536"/>
                  <a:gd name="T8" fmla="*/ 0 60000 65536"/>
                  <a:gd name="T9" fmla="*/ 0 w 1589"/>
                  <a:gd name="T10" fmla="*/ 0 h 1300"/>
                  <a:gd name="T11" fmla="*/ 1589 w 1589"/>
                  <a:gd name="T12" fmla="*/ 1300 h 1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9" h="1300">
                    <a:moveTo>
                      <a:pt x="1589" y="0"/>
                    </a:moveTo>
                    <a:lnTo>
                      <a:pt x="0" y="0"/>
                    </a:lnTo>
                    <a:lnTo>
                      <a:pt x="0" y="1300"/>
                    </a:lnTo>
                  </a:path>
                </a:pathLst>
              </a:custGeom>
              <a:solidFill>
                <a:srgbClr val="CCCCFF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54" name="Text Box 220"/>
              <p:cNvSpPr txBox="1">
                <a:spLocks noChangeArrowheads="1"/>
              </p:cNvSpPr>
              <p:nvPr/>
            </p:nvSpPr>
            <p:spPr bwMode="auto">
              <a:xfrm>
                <a:off x="2949" y="1291"/>
                <a:ext cx="29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P 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20655" name="Line 221"/>
              <p:cNvSpPr>
                <a:spLocks noChangeShapeType="1"/>
              </p:cNvSpPr>
              <p:nvPr/>
            </p:nvSpPr>
            <p:spPr bwMode="auto">
              <a:xfrm flipH="1">
                <a:off x="2970" y="1540"/>
                <a:ext cx="2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656" name="Text Box 222"/>
              <p:cNvSpPr txBox="1">
                <a:spLocks noChangeArrowheads="1"/>
              </p:cNvSpPr>
              <p:nvPr/>
            </p:nvSpPr>
            <p:spPr bwMode="auto">
              <a:xfrm>
                <a:off x="3445" y="1446"/>
                <a:ext cx="231" cy="2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A</a:t>
                </a:r>
              </a:p>
            </p:txBody>
          </p:sp>
          <p:sp>
            <p:nvSpPr>
              <p:cNvPr id="20657" name="Line 223"/>
              <p:cNvSpPr>
                <a:spLocks noChangeShapeType="1"/>
              </p:cNvSpPr>
              <p:nvPr/>
            </p:nvSpPr>
            <p:spPr bwMode="auto">
              <a:xfrm>
                <a:off x="3205" y="1290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658" name="AutoShape 224"/>
              <p:cNvSpPr>
                <a:spLocks noChangeArrowheads="1"/>
              </p:cNvSpPr>
              <p:nvPr/>
            </p:nvSpPr>
            <p:spPr bwMode="auto">
              <a:xfrm>
                <a:off x="3636" y="1674"/>
                <a:ext cx="47" cy="47"/>
              </a:xfrm>
              <a:prstGeom prst="flowChartConnector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659" name="AutoShape 225"/>
              <p:cNvSpPr>
                <a:spLocks noChangeArrowheads="1"/>
              </p:cNvSpPr>
              <p:nvPr/>
            </p:nvSpPr>
            <p:spPr bwMode="auto">
              <a:xfrm flipH="1">
                <a:off x="4429" y="1872"/>
                <a:ext cx="47" cy="47"/>
              </a:xfrm>
              <a:prstGeom prst="flowChartConnector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660" name="AutoShape 226"/>
              <p:cNvSpPr>
                <a:spLocks noChangeArrowheads="1"/>
              </p:cNvSpPr>
              <p:nvPr/>
            </p:nvSpPr>
            <p:spPr bwMode="auto">
              <a:xfrm>
                <a:off x="3276" y="2586"/>
                <a:ext cx="47" cy="47"/>
              </a:xfrm>
              <a:prstGeom prst="flowChartConnector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661" name="Text Box 227"/>
              <p:cNvSpPr txBox="1">
                <a:spLocks noChangeArrowheads="1"/>
              </p:cNvSpPr>
              <p:nvPr/>
            </p:nvSpPr>
            <p:spPr bwMode="auto">
              <a:xfrm>
                <a:off x="3080" y="2361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B</a:t>
                </a:r>
              </a:p>
            </p:txBody>
          </p:sp>
          <p:sp>
            <p:nvSpPr>
              <p:cNvPr id="20662" name="Text Box 228"/>
              <p:cNvSpPr txBox="1">
                <a:spLocks noChangeArrowheads="1"/>
              </p:cNvSpPr>
              <p:nvPr/>
            </p:nvSpPr>
            <p:spPr bwMode="auto">
              <a:xfrm>
                <a:off x="4448" y="1641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C</a:t>
                </a:r>
              </a:p>
            </p:txBody>
          </p:sp>
        </p:grpSp>
        <p:sp>
          <p:nvSpPr>
            <p:cNvPr id="20651" name="Line 229"/>
            <p:cNvSpPr>
              <a:spLocks noChangeShapeType="1"/>
            </p:cNvSpPr>
            <p:nvPr/>
          </p:nvSpPr>
          <p:spPr bwMode="auto">
            <a:xfrm flipH="1">
              <a:off x="3605" y="759"/>
              <a:ext cx="340" cy="8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" name="Group 230"/>
          <p:cNvGrpSpPr>
            <a:grpSpLocks/>
          </p:cNvGrpSpPr>
          <p:nvPr/>
        </p:nvGrpSpPr>
        <p:grpSpPr bwMode="auto">
          <a:xfrm>
            <a:off x="5154613" y="3303588"/>
            <a:ext cx="3486150" cy="3111500"/>
            <a:chOff x="3245" y="2084"/>
            <a:chExt cx="2196" cy="1960"/>
          </a:xfrm>
        </p:grpSpPr>
        <p:sp>
          <p:nvSpPr>
            <p:cNvPr id="20629" name="Line 231"/>
            <p:cNvSpPr>
              <a:spLocks noChangeShapeType="1"/>
            </p:cNvSpPr>
            <p:nvPr/>
          </p:nvSpPr>
          <p:spPr bwMode="auto">
            <a:xfrm flipV="1">
              <a:off x="3716" y="2297"/>
              <a:ext cx="661" cy="5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30" name="Line 232"/>
            <p:cNvSpPr>
              <a:spLocks noChangeShapeType="1"/>
            </p:cNvSpPr>
            <p:nvPr/>
          </p:nvSpPr>
          <p:spPr bwMode="auto">
            <a:xfrm>
              <a:off x="3731" y="3411"/>
              <a:ext cx="653" cy="4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0631" name="Group 233"/>
            <p:cNvGrpSpPr>
              <a:grpSpLocks/>
            </p:cNvGrpSpPr>
            <p:nvPr/>
          </p:nvGrpSpPr>
          <p:grpSpPr bwMode="auto">
            <a:xfrm>
              <a:off x="3245" y="2905"/>
              <a:ext cx="2196" cy="289"/>
              <a:chOff x="3221" y="2791"/>
              <a:chExt cx="2196" cy="289"/>
            </a:xfrm>
          </p:grpSpPr>
          <p:sp>
            <p:nvSpPr>
              <p:cNvPr id="20647" name="Text Box 234"/>
              <p:cNvSpPr txBox="1">
                <a:spLocks noChangeArrowheads="1"/>
              </p:cNvSpPr>
              <p:nvPr/>
            </p:nvSpPr>
            <p:spPr bwMode="auto">
              <a:xfrm>
                <a:off x="3221" y="2792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X</a:t>
                </a:r>
              </a:p>
            </p:txBody>
          </p:sp>
          <p:sp>
            <p:nvSpPr>
              <p:cNvPr id="20648" name="Text Box 235"/>
              <p:cNvSpPr txBox="1">
                <a:spLocks noChangeArrowheads="1"/>
              </p:cNvSpPr>
              <p:nvPr/>
            </p:nvSpPr>
            <p:spPr bwMode="auto">
              <a:xfrm>
                <a:off x="5198" y="2791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O</a:t>
                </a:r>
              </a:p>
            </p:txBody>
          </p:sp>
          <p:sp>
            <p:nvSpPr>
              <p:cNvPr id="20649" name="Line 236"/>
              <p:cNvSpPr>
                <a:spLocks noChangeShapeType="1"/>
              </p:cNvSpPr>
              <p:nvPr/>
            </p:nvSpPr>
            <p:spPr bwMode="auto">
              <a:xfrm>
                <a:off x="3400" y="3052"/>
                <a:ext cx="18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632" name="Text Box 237"/>
            <p:cNvSpPr txBox="1">
              <a:spLocks noChangeArrowheads="1"/>
            </p:cNvSpPr>
            <p:nvPr/>
          </p:nvSpPr>
          <p:spPr bwMode="auto">
            <a:xfrm>
              <a:off x="4144" y="2084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633" name="Text Box 238"/>
            <p:cNvSpPr txBox="1">
              <a:spLocks noChangeArrowheads="1"/>
            </p:cNvSpPr>
            <p:nvPr/>
          </p:nvSpPr>
          <p:spPr bwMode="auto">
            <a:xfrm>
              <a:off x="3446" y="2709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634" name="Text Box 239"/>
            <p:cNvSpPr txBox="1">
              <a:spLocks noChangeArrowheads="1"/>
            </p:cNvSpPr>
            <p:nvPr/>
          </p:nvSpPr>
          <p:spPr bwMode="auto">
            <a:xfrm>
              <a:off x="4583" y="2363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635" name="Line 240"/>
            <p:cNvSpPr>
              <a:spLocks noChangeShapeType="1"/>
            </p:cNvSpPr>
            <p:nvPr/>
          </p:nvSpPr>
          <p:spPr bwMode="auto">
            <a:xfrm>
              <a:off x="3712" y="2921"/>
              <a:ext cx="0" cy="5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36" name="Line 241"/>
            <p:cNvSpPr>
              <a:spLocks noChangeShapeType="1"/>
            </p:cNvSpPr>
            <p:nvPr/>
          </p:nvSpPr>
          <p:spPr bwMode="auto">
            <a:xfrm>
              <a:off x="4397" y="2296"/>
              <a:ext cx="0" cy="1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37" name="Line 242"/>
            <p:cNvSpPr>
              <a:spLocks noChangeShapeType="1"/>
            </p:cNvSpPr>
            <p:nvPr/>
          </p:nvSpPr>
          <p:spPr bwMode="auto">
            <a:xfrm>
              <a:off x="4647" y="2524"/>
              <a:ext cx="0" cy="11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38" name="Text Box 243"/>
            <p:cNvSpPr txBox="1">
              <a:spLocks noChangeArrowheads="1"/>
            </p:cNvSpPr>
            <p:nvPr/>
          </p:nvSpPr>
          <p:spPr bwMode="auto">
            <a:xfrm>
              <a:off x="4230" y="3794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20639" name="Text Box 244"/>
            <p:cNvSpPr txBox="1">
              <a:spLocks noChangeArrowheads="1"/>
            </p:cNvSpPr>
            <p:nvPr/>
          </p:nvSpPr>
          <p:spPr bwMode="auto">
            <a:xfrm>
              <a:off x="3527" y="3329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20640" name="Text Box 245"/>
            <p:cNvSpPr txBox="1">
              <a:spLocks noChangeArrowheads="1"/>
            </p:cNvSpPr>
            <p:nvPr/>
          </p:nvSpPr>
          <p:spPr bwMode="auto">
            <a:xfrm>
              <a:off x="4670" y="3581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20641" name="AutoShape 246"/>
            <p:cNvSpPr>
              <a:spLocks noChangeArrowheads="1"/>
            </p:cNvSpPr>
            <p:nvPr/>
          </p:nvSpPr>
          <p:spPr bwMode="auto">
            <a:xfrm>
              <a:off x="4627" y="2472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42" name="AutoShape 247"/>
            <p:cNvSpPr>
              <a:spLocks noChangeArrowheads="1"/>
            </p:cNvSpPr>
            <p:nvPr/>
          </p:nvSpPr>
          <p:spPr bwMode="auto">
            <a:xfrm>
              <a:off x="4632" y="3713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43" name="AutoShape 248"/>
            <p:cNvSpPr>
              <a:spLocks noChangeArrowheads="1"/>
            </p:cNvSpPr>
            <p:nvPr/>
          </p:nvSpPr>
          <p:spPr bwMode="auto">
            <a:xfrm>
              <a:off x="4371" y="2260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44" name="AutoShape 249"/>
            <p:cNvSpPr>
              <a:spLocks noChangeArrowheads="1"/>
            </p:cNvSpPr>
            <p:nvPr/>
          </p:nvSpPr>
          <p:spPr bwMode="auto">
            <a:xfrm>
              <a:off x="3691" y="2867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45" name="AutoShape 250"/>
            <p:cNvSpPr>
              <a:spLocks noChangeArrowheads="1"/>
            </p:cNvSpPr>
            <p:nvPr/>
          </p:nvSpPr>
          <p:spPr bwMode="auto">
            <a:xfrm>
              <a:off x="4371" y="3840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46" name="AutoShape 251"/>
            <p:cNvSpPr>
              <a:spLocks noChangeArrowheads="1"/>
            </p:cNvSpPr>
            <p:nvPr/>
          </p:nvSpPr>
          <p:spPr bwMode="auto">
            <a:xfrm>
              <a:off x="3688" y="3381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9" name="Group 252"/>
          <p:cNvGrpSpPr>
            <a:grpSpLocks/>
          </p:cNvGrpSpPr>
          <p:nvPr/>
        </p:nvGrpSpPr>
        <p:grpSpPr bwMode="auto">
          <a:xfrm>
            <a:off x="5148263" y="527050"/>
            <a:ext cx="3302000" cy="2674938"/>
            <a:chOff x="3250" y="327"/>
            <a:chExt cx="2080" cy="1685"/>
          </a:xfrm>
        </p:grpSpPr>
        <p:grpSp>
          <p:nvGrpSpPr>
            <p:cNvPr id="20613" name="Group 253"/>
            <p:cNvGrpSpPr>
              <a:grpSpLocks/>
            </p:cNvGrpSpPr>
            <p:nvPr/>
          </p:nvGrpSpPr>
          <p:grpSpPr bwMode="auto">
            <a:xfrm>
              <a:off x="3250" y="327"/>
              <a:ext cx="2080" cy="1685"/>
              <a:chOff x="2949" y="1290"/>
              <a:chExt cx="2080" cy="1685"/>
            </a:xfrm>
          </p:grpSpPr>
          <p:sp>
            <p:nvSpPr>
              <p:cNvPr id="20618" name="Rectangle 254"/>
              <p:cNvSpPr>
                <a:spLocks noChangeArrowheads="1"/>
              </p:cNvSpPr>
              <p:nvPr/>
            </p:nvSpPr>
            <p:spPr bwMode="auto">
              <a:xfrm>
                <a:off x="2971" y="1292"/>
                <a:ext cx="2055" cy="1682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20619" name="Freeform 255"/>
              <p:cNvSpPr>
                <a:spLocks/>
              </p:cNvSpPr>
              <p:nvPr/>
            </p:nvSpPr>
            <p:spPr bwMode="auto">
              <a:xfrm>
                <a:off x="2971" y="1291"/>
                <a:ext cx="2058" cy="1684"/>
              </a:xfrm>
              <a:custGeom>
                <a:avLst/>
                <a:gdLst>
                  <a:gd name="T0" fmla="*/ 5791 w 1589"/>
                  <a:gd name="T1" fmla="*/ 0 h 1300"/>
                  <a:gd name="T2" fmla="*/ 0 w 1589"/>
                  <a:gd name="T3" fmla="*/ 0 h 1300"/>
                  <a:gd name="T4" fmla="*/ 0 w 1589"/>
                  <a:gd name="T5" fmla="*/ 4740 h 1300"/>
                  <a:gd name="T6" fmla="*/ 0 60000 65536"/>
                  <a:gd name="T7" fmla="*/ 0 60000 65536"/>
                  <a:gd name="T8" fmla="*/ 0 60000 65536"/>
                  <a:gd name="T9" fmla="*/ 0 w 1589"/>
                  <a:gd name="T10" fmla="*/ 0 h 1300"/>
                  <a:gd name="T11" fmla="*/ 1589 w 1589"/>
                  <a:gd name="T12" fmla="*/ 1300 h 1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9" h="1300">
                    <a:moveTo>
                      <a:pt x="1589" y="0"/>
                    </a:moveTo>
                    <a:lnTo>
                      <a:pt x="0" y="0"/>
                    </a:lnTo>
                    <a:lnTo>
                      <a:pt x="0" y="1300"/>
                    </a:lnTo>
                  </a:path>
                </a:pathLst>
              </a:custGeom>
              <a:solidFill>
                <a:srgbClr val="CCCCFF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20" name="Text Box 256"/>
              <p:cNvSpPr txBox="1">
                <a:spLocks noChangeArrowheads="1"/>
              </p:cNvSpPr>
              <p:nvPr/>
            </p:nvSpPr>
            <p:spPr bwMode="auto">
              <a:xfrm>
                <a:off x="2949" y="1291"/>
                <a:ext cx="29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P 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20621" name="Line 257"/>
              <p:cNvSpPr>
                <a:spLocks noChangeShapeType="1"/>
              </p:cNvSpPr>
              <p:nvPr/>
            </p:nvSpPr>
            <p:spPr bwMode="auto">
              <a:xfrm flipH="1">
                <a:off x="2970" y="1540"/>
                <a:ext cx="2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622" name="Text Box 258"/>
              <p:cNvSpPr txBox="1">
                <a:spLocks noChangeArrowheads="1"/>
              </p:cNvSpPr>
              <p:nvPr/>
            </p:nvSpPr>
            <p:spPr bwMode="auto">
              <a:xfrm>
                <a:off x="3445" y="1446"/>
                <a:ext cx="231" cy="2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A</a:t>
                </a:r>
              </a:p>
            </p:txBody>
          </p:sp>
          <p:sp>
            <p:nvSpPr>
              <p:cNvPr id="20623" name="Line 259"/>
              <p:cNvSpPr>
                <a:spLocks noChangeShapeType="1"/>
              </p:cNvSpPr>
              <p:nvPr/>
            </p:nvSpPr>
            <p:spPr bwMode="auto">
              <a:xfrm>
                <a:off x="3205" y="1290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624" name="AutoShape 260"/>
              <p:cNvSpPr>
                <a:spLocks noChangeArrowheads="1"/>
              </p:cNvSpPr>
              <p:nvPr/>
            </p:nvSpPr>
            <p:spPr bwMode="auto">
              <a:xfrm>
                <a:off x="3636" y="1674"/>
                <a:ext cx="47" cy="47"/>
              </a:xfrm>
              <a:prstGeom prst="flowChartConnector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625" name="AutoShape 261"/>
              <p:cNvSpPr>
                <a:spLocks noChangeArrowheads="1"/>
              </p:cNvSpPr>
              <p:nvPr/>
            </p:nvSpPr>
            <p:spPr bwMode="auto">
              <a:xfrm flipH="1">
                <a:off x="4429" y="1872"/>
                <a:ext cx="47" cy="47"/>
              </a:xfrm>
              <a:prstGeom prst="flowChartConnector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626" name="AutoShape 262"/>
              <p:cNvSpPr>
                <a:spLocks noChangeArrowheads="1"/>
              </p:cNvSpPr>
              <p:nvPr/>
            </p:nvSpPr>
            <p:spPr bwMode="auto">
              <a:xfrm>
                <a:off x="3276" y="2586"/>
                <a:ext cx="47" cy="47"/>
              </a:xfrm>
              <a:prstGeom prst="flowChartConnector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627" name="Text Box 263"/>
              <p:cNvSpPr txBox="1">
                <a:spLocks noChangeArrowheads="1"/>
              </p:cNvSpPr>
              <p:nvPr/>
            </p:nvSpPr>
            <p:spPr bwMode="auto">
              <a:xfrm>
                <a:off x="3080" y="2361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B</a:t>
                </a:r>
              </a:p>
            </p:txBody>
          </p:sp>
          <p:sp>
            <p:nvSpPr>
              <p:cNvPr id="20628" name="Text Box 264"/>
              <p:cNvSpPr txBox="1">
                <a:spLocks noChangeArrowheads="1"/>
              </p:cNvSpPr>
              <p:nvPr/>
            </p:nvSpPr>
            <p:spPr bwMode="auto">
              <a:xfrm>
                <a:off x="4448" y="1641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C</a:t>
                </a:r>
              </a:p>
            </p:txBody>
          </p:sp>
        </p:grpSp>
        <p:sp>
          <p:nvSpPr>
            <p:cNvPr id="20614" name="Line 265"/>
            <p:cNvSpPr>
              <a:spLocks noChangeShapeType="1"/>
            </p:cNvSpPr>
            <p:nvPr/>
          </p:nvSpPr>
          <p:spPr bwMode="auto">
            <a:xfrm flipH="1">
              <a:off x="3613" y="757"/>
              <a:ext cx="340" cy="8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15" name="Line 266"/>
            <p:cNvSpPr>
              <a:spLocks noChangeShapeType="1"/>
            </p:cNvSpPr>
            <p:nvPr/>
          </p:nvSpPr>
          <p:spPr bwMode="auto">
            <a:xfrm flipH="1">
              <a:off x="4465" y="957"/>
              <a:ext cx="280" cy="716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16" name="AutoShape 267"/>
            <p:cNvSpPr>
              <a:spLocks noChangeArrowheads="1"/>
            </p:cNvSpPr>
            <p:nvPr/>
          </p:nvSpPr>
          <p:spPr bwMode="auto">
            <a:xfrm>
              <a:off x="4437" y="1662"/>
              <a:ext cx="47" cy="47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17" name="Text Box 268"/>
            <p:cNvSpPr txBox="1">
              <a:spLocks noChangeArrowheads="1"/>
            </p:cNvSpPr>
            <p:nvPr/>
          </p:nvSpPr>
          <p:spPr bwMode="auto">
            <a:xfrm>
              <a:off x="4480" y="1565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D</a:t>
              </a:r>
            </a:p>
          </p:txBody>
        </p:sp>
      </p:grpSp>
      <p:grpSp>
        <p:nvGrpSpPr>
          <p:cNvPr id="11" name="Group 269"/>
          <p:cNvGrpSpPr>
            <a:grpSpLocks/>
          </p:cNvGrpSpPr>
          <p:nvPr/>
        </p:nvGrpSpPr>
        <p:grpSpPr bwMode="auto">
          <a:xfrm>
            <a:off x="5164138" y="3302000"/>
            <a:ext cx="3486150" cy="3111500"/>
            <a:chOff x="3253" y="2080"/>
            <a:chExt cx="2196" cy="1960"/>
          </a:xfrm>
        </p:grpSpPr>
        <p:sp>
          <p:nvSpPr>
            <p:cNvPr id="20585" name="Line 270"/>
            <p:cNvSpPr>
              <a:spLocks noChangeShapeType="1"/>
            </p:cNvSpPr>
            <p:nvPr/>
          </p:nvSpPr>
          <p:spPr bwMode="auto">
            <a:xfrm flipH="1">
              <a:off x="4088" y="2504"/>
              <a:ext cx="558" cy="493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6" name="Text Box 271"/>
            <p:cNvSpPr txBox="1">
              <a:spLocks noChangeArrowheads="1"/>
            </p:cNvSpPr>
            <p:nvPr/>
          </p:nvSpPr>
          <p:spPr bwMode="auto">
            <a:xfrm>
              <a:off x="4027" y="2873"/>
              <a:ext cx="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87" name="Line 272"/>
            <p:cNvSpPr>
              <a:spLocks noChangeShapeType="1"/>
            </p:cNvSpPr>
            <p:nvPr/>
          </p:nvSpPr>
          <p:spPr bwMode="auto">
            <a:xfrm>
              <a:off x="4086" y="2998"/>
              <a:ext cx="4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8" name="Line 273"/>
            <p:cNvSpPr>
              <a:spLocks noChangeShapeType="1"/>
            </p:cNvSpPr>
            <p:nvPr/>
          </p:nvSpPr>
          <p:spPr bwMode="auto">
            <a:xfrm>
              <a:off x="4086" y="3329"/>
              <a:ext cx="592" cy="405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9" name="Text Box 274"/>
            <p:cNvSpPr txBox="1">
              <a:spLocks noChangeArrowheads="1"/>
            </p:cNvSpPr>
            <p:nvPr/>
          </p:nvSpPr>
          <p:spPr bwMode="auto">
            <a:xfrm>
              <a:off x="3982" y="3135"/>
              <a:ext cx="37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</a:t>
              </a:r>
            </a:p>
          </p:txBody>
        </p:sp>
        <p:sp>
          <p:nvSpPr>
            <p:cNvPr id="20590" name="Line 275"/>
            <p:cNvSpPr>
              <a:spLocks noChangeShapeType="1"/>
            </p:cNvSpPr>
            <p:nvPr/>
          </p:nvSpPr>
          <p:spPr bwMode="auto">
            <a:xfrm flipV="1">
              <a:off x="3724" y="2293"/>
              <a:ext cx="661" cy="5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91" name="Line 276"/>
            <p:cNvSpPr>
              <a:spLocks noChangeShapeType="1"/>
            </p:cNvSpPr>
            <p:nvPr/>
          </p:nvSpPr>
          <p:spPr bwMode="auto">
            <a:xfrm>
              <a:off x="3739" y="3407"/>
              <a:ext cx="653" cy="4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0592" name="Group 277"/>
            <p:cNvGrpSpPr>
              <a:grpSpLocks/>
            </p:cNvGrpSpPr>
            <p:nvPr/>
          </p:nvGrpSpPr>
          <p:grpSpPr bwMode="auto">
            <a:xfrm>
              <a:off x="3253" y="2901"/>
              <a:ext cx="2196" cy="289"/>
              <a:chOff x="3221" y="2791"/>
              <a:chExt cx="2196" cy="289"/>
            </a:xfrm>
          </p:grpSpPr>
          <p:sp>
            <p:nvSpPr>
              <p:cNvPr id="20610" name="Text Box 278"/>
              <p:cNvSpPr txBox="1">
                <a:spLocks noChangeArrowheads="1"/>
              </p:cNvSpPr>
              <p:nvPr/>
            </p:nvSpPr>
            <p:spPr bwMode="auto">
              <a:xfrm>
                <a:off x="3221" y="2792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X</a:t>
                </a:r>
              </a:p>
            </p:txBody>
          </p:sp>
          <p:sp>
            <p:nvSpPr>
              <p:cNvPr id="20611" name="Text Box 279"/>
              <p:cNvSpPr txBox="1">
                <a:spLocks noChangeArrowheads="1"/>
              </p:cNvSpPr>
              <p:nvPr/>
            </p:nvSpPr>
            <p:spPr bwMode="auto">
              <a:xfrm>
                <a:off x="5198" y="2791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O</a:t>
                </a:r>
              </a:p>
            </p:txBody>
          </p:sp>
          <p:sp>
            <p:nvSpPr>
              <p:cNvPr id="20612" name="Line 280"/>
              <p:cNvSpPr>
                <a:spLocks noChangeShapeType="1"/>
              </p:cNvSpPr>
              <p:nvPr/>
            </p:nvSpPr>
            <p:spPr bwMode="auto">
              <a:xfrm>
                <a:off x="3400" y="3052"/>
                <a:ext cx="18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93" name="Text Box 281"/>
            <p:cNvSpPr txBox="1">
              <a:spLocks noChangeArrowheads="1"/>
            </p:cNvSpPr>
            <p:nvPr/>
          </p:nvSpPr>
          <p:spPr bwMode="auto">
            <a:xfrm>
              <a:off x="4152" y="2080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94" name="Text Box 282"/>
            <p:cNvSpPr txBox="1">
              <a:spLocks noChangeArrowheads="1"/>
            </p:cNvSpPr>
            <p:nvPr/>
          </p:nvSpPr>
          <p:spPr bwMode="auto">
            <a:xfrm>
              <a:off x="3454" y="2705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95" name="Text Box 283"/>
            <p:cNvSpPr txBox="1">
              <a:spLocks noChangeArrowheads="1"/>
            </p:cNvSpPr>
            <p:nvPr/>
          </p:nvSpPr>
          <p:spPr bwMode="auto">
            <a:xfrm>
              <a:off x="4591" y="2359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96" name="Line 284"/>
            <p:cNvSpPr>
              <a:spLocks noChangeShapeType="1"/>
            </p:cNvSpPr>
            <p:nvPr/>
          </p:nvSpPr>
          <p:spPr bwMode="auto">
            <a:xfrm>
              <a:off x="3720" y="2917"/>
              <a:ext cx="0" cy="5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97" name="Line 285"/>
            <p:cNvSpPr>
              <a:spLocks noChangeShapeType="1"/>
            </p:cNvSpPr>
            <p:nvPr/>
          </p:nvSpPr>
          <p:spPr bwMode="auto">
            <a:xfrm>
              <a:off x="4405" y="2292"/>
              <a:ext cx="0" cy="1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98" name="Line 286"/>
            <p:cNvSpPr>
              <a:spLocks noChangeShapeType="1"/>
            </p:cNvSpPr>
            <p:nvPr/>
          </p:nvSpPr>
          <p:spPr bwMode="auto">
            <a:xfrm>
              <a:off x="4655" y="2520"/>
              <a:ext cx="0" cy="11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99" name="Text Box 287"/>
            <p:cNvSpPr txBox="1">
              <a:spLocks noChangeArrowheads="1"/>
            </p:cNvSpPr>
            <p:nvPr/>
          </p:nvSpPr>
          <p:spPr bwMode="auto">
            <a:xfrm>
              <a:off x="4238" y="3790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20600" name="Text Box 288"/>
            <p:cNvSpPr txBox="1">
              <a:spLocks noChangeArrowheads="1"/>
            </p:cNvSpPr>
            <p:nvPr/>
          </p:nvSpPr>
          <p:spPr bwMode="auto">
            <a:xfrm>
              <a:off x="3535" y="332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20601" name="Text Box 289"/>
            <p:cNvSpPr txBox="1">
              <a:spLocks noChangeArrowheads="1"/>
            </p:cNvSpPr>
            <p:nvPr/>
          </p:nvSpPr>
          <p:spPr bwMode="auto">
            <a:xfrm>
              <a:off x="4678" y="3577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20602" name="AutoShape 290"/>
            <p:cNvSpPr>
              <a:spLocks noChangeArrowheads="1"/>
            </p:cNvSpPr>
            <p:nvPr/>
          </p:nvSpPr>
          <p:spPr bwMode="auto">
            <a:xfrm>
              <a:off x="4635" y="2468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03" name="AutoShape 291"/>
            <p:cNvSpPr>
              <a:spLocks noChangeArrowheads="1"/>
            </p:cNvSpPr>
            <p:nvPr/>
          </p:nvSpPr>
          <p:spPr bwMode="auto">
            <a:xfrm>
              <a:off x="4640" y="3709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04" name="AutoShape 292"/>
            <p:cNvSpPr>
              <a:spLocks noChangeArrowheads="1"/>
            </p:cNvSpPr>
            <p:nvPr/>
          </p:nvSpPr>
          <p:spPr bwMode="auto">
            <a:xfrm>
              <a:off x="4379" y="2256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05" name="AutoShape 293"/>
            <p:cNvSpPr>
              <a:spLocks noChangeArrowheads="1"/>
            </p:cNvSpPr>
            <p:nvPr/>
          </p:nvSpPr>
          <p:spPr bwMode="auto">
            <a:xfrm>
              <a:off x="3699" y="2863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06" name="AutoShape 294"/>
            <p:cNvSpPr>
              <a:spLocks noChangeArrowheads="1"/>
            </p:cNvSpPr>
            <p:nvPr/>
          </p:nvSpPr>
          <p:spPr bwMode="auto">
            <a:xfrm>
              <a:off x="4379" y="3836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07" name="AutoShape 295"/>
            <p:cNvSpPr>
              <a:spLocks noChangeArrowheads="1"/>
            </p:cNvSpPr>
            <p:nvPr/>
          </p:nvSpPr>
          <p:spPr bwMode="auto">
            <a:xfrm>
              <a:off x="3696" y="3377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08" name="AutoShape 296"/>
            <p:cNvSpPr>
              <a:spLocks noChangeArrowheads="1"/>
            </p:cNvSpPr>
            <p:nvPr/>
          </p:nvSpPr>
          <p:spPr bwMode="auto">
            <a:xfrm>
              <a:off x="4063" y="2975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09" name="AutoShape 297"/>
            <p:cNvSpPr>
              <a:spLocks noChangeArrowheads="1"/>
            </p:cNvSpPr>
            <p:nvPr/>
          </p:nvSpPr>
          <p:spPr bwMode="auto">
            <a:xfrm>
              <a:off x="4065" y="3307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13" name="Group 298"/>
          <p:cNvGrpSpPr>
            <a:grpSpLocks/>
          </p:cNvGrpSpPr>
          <p:nvPr/>
        </p:nvGrpSpPr>
        <p:grpSpPr bwMode="auto">
          <a:xfrm>
            <a:off x="5153025" y="527050"/>
            <a:ext cx="3302000" cy="2674938"/>
            <a:chOff x="3242" y="330"/>
            <a:chExt cx="2080" cy="1685"/>
          </a:xfrm>
        </p:grpSpPr>
        <p:sp>
          <p:nvSpPr>
            <p:cNvPr id="20570" name="Rectangle 299"/>
            <p:cNvSpPr>
              <a:spLocks noChangeArrowheads="1"/>
            </p:cNvSpPr>
            <p:nvPr/>
          </p:nvSpPr>
          <p:spPr bwMode="auto">
            <a:xfrm>
              <a:off x="3264" y="332"/>
              <a:ext cx="2055" cy="1682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 i="1">
                <a:latin typeface="ISOCPEUR" pitchFamily="34" charset="0"/>
              </a:endParaRPr>
            </a:p>
          </p:txBody>
        </p:sp>
        <p:sp>
          <p:nvSpPr>
            <p:cNvPr id="20571" name="Freeform 300"/>
            <p:cNvSpPr>
              <a:spLocks/>
            </p:cNvSpPr>
            <p:nvPr/>
          </p:nvSpPr>
          <p:spPr bwMode="auto">
            <a:xfrm>
              <a:off x="3264" y="331"/>
              <a:ext cx="2058" cy="1684"/>
            </a:xfrm>
            <a:custGeom>
              <a:avLst/>
              <a:gdLst>
                <a:gd name="T0" fmla="*/ 5791 w 1589"/>
                <a:gd name="T1" fmla="*/ 0 h 1300"/>
                <a:gd name="T2" fmla="*/ 0 w 1589"/>
                <a:gd name="T3" fmla="*/ 0 h 1300"/>
                <a:gd name="T4" fmla="*/ 0 w 1589"/>
                <a:gd name="T5" fmla="*/ 4740 h 1300"/>
                <a:gd name="T6" fmla="*/ 0 60000 65536"/>
                <a:gd name="T7" fmla="*/ 0 60000 65536"/>
                <a:gd name="T8" fmla="*/ 0 60000 65536"/>
                <a:gd name="T9" fmla="*/ 0 w 1589"/>
                <a:gd name="T10" fmla="*/ 0 h 1300"/>
                <a:gd name="T11" fmla="*/ 1589 w 1589"/>
                <a:gd name="T12" fmla="*/ 1300 h 1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9" h="1300">
                  <a:moveTo>
                    <a:pt x="1589" y="0"/>
                  </a:moveTo>
                  <a:lnTo>
                    <a:pt x="0" y="0"/>
                  </a:lnTo>
                  <a:lnTo>
                    <a:pt x="0" y="1300"/>
                  </a:lnTo>
                </a:path>
              </a:pathLst>
            </a:custGeom>
            <a:solidFill>
              <a:srgbClr val="CCCCFF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2" name="Text Box 301"/>
            <p:cNvSpPr txBox="1">
              <a:spLocks noChangeArrowheads="1"/>
            </p:cNvSpPr>
            <p:nvPr/>
          </p:nvSpPr>
          <p:spPr bwMode="auto">
            <a:xfrm>
              <a:off x="3242" y="331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P 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73" name="Line 302"/>
            <p:cNvSpPr>
              <a:spLocks noChangeShapeType="1"/>
            </p:cNvSpPr>
            <p:nvPr/>
          </p:nvSpPr>
          <p:spPr bwMode="auto">
            <a:xfrm flipH="1">
              <a:off x="3263" y="580"/>
              <a:ext cx="2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74" name="Text Box 303"/>
            <p:cNvSpPr txBox="1">
              <a:spLocks noChangeArrowheads="1"/>
            </p:cNvSpPr>
            <p:nvPr/>
          </p:nvSpPr>
          <p:spPr bwMode="auto">
            <a:xfrm>
              <a:off x="3738" y="486"/>
              <a:ext cx="231" cy="2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A</a:t>
              </a:r>
            </a:p>
          </p:txBody>
        </p:sp>
        <p:sp>
          <p:nvSpPr>
            <p:cNvPr id="20575" name="Line 304"/>
            <p:cNvSpPr>
              <a:spLocks noChangeShapeType="1"/>
            </p:cNvSpPr>
            <p:nvPr/>
          </p:nvSpPr>
          <p:spPr bwMode="auto">
            <a:xfrm>
              <a:off x="3498" y="330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76" name="AutoShape 305"/>
            <p:cNvSpPr>
              <a:spLocks noChangeArrowheads="1"/>
            </p:cNvSpPr>
            <p:nvPr/>
          </p:nvSpPr>
          <p:spPr bwMode="auto">
            <a:xfrm>
              <a:off x="3929" y="714"/>
              <a:ext cx="47" cy="47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77" name="AutoShape 306"/>
            <p:cNvSpPr>
              <a:spLocks noChangeArrowheads="1"/>
            </p:cNvSpPr>
            <p:nvPr/>
          </p:nvSpPr>
          <p:spPr bwMode="auto">
            <a:xfrm flipH="1">
              <a:off x="4722" y="912"/>
              <a:ext cx="47" cy="47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78" name="AutoShape 307"/>
            <p:cNvSpPr>
              <a:spLocks noChangeArrowheads="1"/>
            </p:cNvSpPr>
            <p:nvPr/>
          </p:nvSpPr>
          <p:spPr bwMode="auto">
            <a:xfrm>
              <a:off x="3569" y="1626"/>
              <a:ext cx="47" cy="47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79" name="Text Box 308"/>
            <p:cNvSpPr txBox="1">
              <a:spLocks noChangeArrowheads="1"/>
            </p:cNvSpPr>
            <p:nvPr/>
          </p:nvSpPr>
          <p:spPr bwMode="auto">
            <a:xfrm>
              <a:off x="3373" y="1401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B</a:t>
              </a:r>
            </a:p>
          </p:txBody>
        </p:sp>
        <p:sp>
          <p:nvSpPr>
            <p:cNvPr id="20580" name="Text Box 309"/>
            <p:cNvSpPr txBox="1">
              <a:spLocks noChangeArrowheads="1"/>
            </p:cNvSpPr>
            <p:nvPr/>
          </p:nvSpPr>
          <p:spPr bwMode="auto">
            <a:xfrm>
              <a:off x="4741" y="681"/>
              <a:ext cx="2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C</a:t>
              </a:r>
            </a:p>
          </p:txBody>
        </p:sp>
        <p:sp>
          <p:nvSpPr>
            <p:cNvPr id="20581" name="Line 310"/>
            <p:cNvSpPr>
              <a:spLocks noChangeShapeType="1"/>
            </p:cNvSpPr>
            <p:nvPr/>
          </p:nvSpPr>
          <p:spPr bwMode="auto">
            <a:xfrm flipH="1">
              <a:off x="3617" y="948"/>
              <a:ext cx="1116" cy="6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2" name="Line 311"/>
            <p:cNvSpPr>
              <a:spLocks noChangeShapeType="1"/>
            </p:cNvSpPr>
            <p:nvPr/>
          </p:nvSpPr>
          <p:spPr bwMode="auto">
            <a:xfrm>
              <a:off x="3957" y="756"/>
              <a:ext cx="484" cy="910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3" name="Text Box 312"/>
            <p:cNvSpPr txBox="1">
              <a:spLocks noChangeArrowheads="1"/>
            </p:cNvSpPr>
            <p:nvPr/>
          </p:nvSpPr>
          <p:spPr bwMode="auto">
            <a:xfrm>
              <a:off x="4472" y="1568"/>
              <a:ext cx="219" cy="2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D</a:t>
              </a:r>
            </a:p>
          </p:txBody>
        </p:sp>
        <p:sp>
          <p:nvSpPr>
            <p:cNvPr id="20584" name="AutoShape 313"/>
            <p:cNvSpPr>
              <a:spLocks noChangeArrowheads="1"/>
            </p:cNvSpPr>
            <p:nvPr/>
          </p:nvSpPr>
          <p:spPr bwMode="auto">
            <a:xfrm>
              <a:off x="4429" y="1671"/>
              <a:ext cx="47" cy="47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14" name="Group 314"/>
          <p:cNvGrpSpPr>
            <a:grpSpLocks/>
          </p:cNvGrpSpPr>
          <p:nvPr/>
        </p:nvGrpSpPr>
        <p:grpSpPr bwMode="auto">
          <a:xfrm>
            <a:off x="5159375" y="3295650"/>
            <a:ext cx="3486150" cy="3111500"/>
            <a:chOff x="3247" y="2079"/>
            <a:chExt cx="2196" cy="1960"/>
          </a:xfrm>
        </p:grpSpPr>
        <p:sp>
          <p:nvSpPr>
            <p:cNvPr id="20541" name="Line 315"/>
            <p:cNvSpPr>
              <a:spLocks noChangeShapeType="1"/>
            </p:cNvSpPr>
            <p:nvPr/>
          </p:nvSpPr>
          <p:spPr bwMode="auto">
            <a:xfrm flipH="1">
              <a:off x="4088" y="2279"/>
              <a:ext cx="308" cy="717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42" name="Text Box 316"/>
            <p:cNvSpPr txBox="1">
              <a:spLocks noChangeArrowheads="1"/>
            </p:cNvSpPr>
            <p:nvPr/>
          </p:nvSpPr>
          <p:spPr bwMode="auto">
            <a:xfrm>
              <a:off x="3981" y="2912"/>
              <a:ext cx="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43" name="Line 317"/>
            <p:cNvSpPr>
              <a:spLocks noChangeShapeType="1"/>
            </p:cNvSpPr>
            <p:nvPr/>
          </p:nvSpPr>
          <p:spPr bwMode="auto">
            <a:xfrm>
              <a:off x="4080" y="2997"/>
              <a:ext cx="4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44" name="Line 318"/>
            <p:cNvSpPr>
              <a:spLocks noChangeShapeType="1"/>
            </p:cNvSpPr>
            <p:nvPr/>
          </p:nvSpPr>
          <p:spPr bwMode="auto">
            <a:xfrm>
              <a:off x="4080" y="3328"/>
              <a:ext cx="320" cy="537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45" name="Text Box 319"/>
            <p:cNvSpPr txBox="1">
              <a:spLocks noChangeArrowheads="1"/>
            </p:cNvSpPr>
            <p:nvPr/>
          </p:nvSpPr>
          <p:spPr bwMode="auto">
            <a:xfrm>
              <a:off x="3944" y="3110"/>
              <a:ext cx="37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</a:t>
              </a:r>
            </a:p>
          </p:txBody>
        </p:sp>
        <p:sp>
          <p:nvSpPr>
            <p:cNvPr id="20546" name="Line 320"/>
            <p:cNvSpPr>
              <a:spLocks noChangeShapeType="1"/>
            </p:cNvSpPr>
            <p:nvPr/>
          </p:nvSpPr>
          <p:spPr bwMode="auto">
            <a:xfrm flipV="1">
              <a:off x="3718" y="2498"/>
              <a:ext cx="933" cy="3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47" name="Line 321"/>
            <p:cNvSpPr>
              <a:spLocks noChangeShapeType="1"/>
            </p:cNvSpPr>
            <p:nvPr/>
          </p:nvSpPr>
          <p:spPr bwMode="auto">
            <a:xfrm>
              <a:off x="3733" y="3406"/>
              <a:ext cx="933" cy="3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0548" name="Group 322"/>
            <p:cNvGrpSpPr>
              <a:grpSpLocks/>
            </p:cNvGrpSpPr>
            <p:nvPr/>
          </p:nvGrpSpPr>
          <p:grpSpPr bwMode="auto">
            <a:xfrm>
              <a:off x="3247" y="2900"/>
              <a:ext cx="2196" cy="289"/>
              <a:chOff x="3221" y="2791"/>
              <a:chExt cx="2196" cy="289"/>
            </a:xfrm>
          </p:grpSpPr>
          <p:sp>
            <p:nvSpPr>
              <p:cNvPr id="20567" name="Text Box 323"/>
              <p:cNvSpPr txBox="1">
                <a:spLocks noChangeArrowheads="1"/>
              </p:cNvSpPr>
              <p:nvPr/>
            </p:nvSpPr>
            <p:spPr bwMode="auto">
              <a:xfrm>
                <a:off x="3221" y="2792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X</a:t>
                </a:r>
              </a:p>
            </p:txBody>
          </p:sp>
          <p:sp>
            <p:nvSpPr>
              <p:cNvPr id="20568" name="Text Box 324"/>
              <p:cNvSpPr txBox="1">
                <a:spLocks noChangeArrowheads="1"/>
              </p:cNvSpPr>
              <p:nvPr/>
            </p:nvSpPr>
            <p:spPr bwMode="auto">
              <a:xfrm>
                <a:off x="5198" y="2791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O</a:t>
                </a:r>
              </a:p>
            </p:txBody>
          </p:sp>
          <p:sp>
            <p:nvSpPr>
              <p:cNvPr id="20569" name="Line 325"/>
              <p:cNvSpPr>
                <a:spLocks noChangeShapeType="1"/>
              </p:cNvSpPr>
              <p:nvPr/>
            </p:nvSpPr>
            <p:spPr bwMode="auto">
              <a:xfrm>
                <a:off x="3400" y="3052"/>
                <a:ext cx="18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49" name="Text Box 326"/>
            <p:cNvSpPr txBox="1">
              <a:spLocks noChangeArrowheads="1"/>
            </p:cNvSpPr>
            <p:nvPr/>
          </p:nvSpPr>
          <p:spPr bwMode="auto">
            <a:xfrm>
              <a:off x="4146" y="2079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50" name="Text Box 327"/>
            <p:cNvSpPr txBox="1">
              <a:spLocks noChangeArrowheads="1"/>
            </p:cNvSpPr>
            <p:nvPr/>
          </p:nvSpPr>
          <p:spPr bwMode="auto">
            <a:xfrm>
              <a:off x="3448" y="2704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51" name="Text Box 328"/>
            <p:cNvSpPr txBox="1">
              <a:spLocks noChangeArrowheads="1"/>
            </p:cNvSpPr>
            <p:nvPr/>
          </p:nvSpPr>
          <p:spPr bwMode="auto">
            <a:xfrm>
              <a:off x="4585" y="2358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52" name="Line 329"/>
            <p:cNvSpPr>
              <a:spLocks noChangeShapeType="1"/>
            </p:cNvSpPr>
            <p:nvPr/>
          </p:nvSpPr>
          <p:spPr bwMode="auto">
            <a:xfrm>
              <a:off x="3714" y="2916"/>
              <a:ext cx="0" cy="5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53" name="Line 330"/>
            <p:cNvSpPr>
              <a:spLocks noChangeShapeType="1"/>
            </p:cNvSpPr>
            <p:nvPr/>
          </p:nvSpPr>
          <p:spPr bwMode="auto">
            <a:xfrm>
              <a:off x="4399" y="2291"/>
              <a:ext cx="0" cy="1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54" name="Line 331"/>
            <p:cNvSpPr>
              <a:spLocks noChangeShapeType="1"/>
            </p:cNvSpPr>
            <p:nvPr/>
          </p:nvSpPr>
          <p:spPr bwMode="auto">
            <a:xfrm>
              <a:off x="4649" y="2519"/>
              <a:ext cx="0" cy="11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55" name="Text Box 332"/>
            <p:cNvSpPr txBox="1">
              <a:spLocks noChangeArrowheads="1"/>
            </p:cNvSpPr>
            <p:nvPr/>
          </p:nvSpPr>
          <p:spPr bwMode="auto">
            <a:xfrm>
              <a:off x="4232" y="3789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20556" name="Text Box 333"/>
            <p:cNvSpPr txBox="1">
              <a:spLocks noChangeArrowheads="1"/>
            </p:cNvSpPr>
            <p:nvPr/>
          </p:nvSpPr>
          <p:spPr bwMode="auto">
            <a:xfrm>
              <a:off x="3529" y="3324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20557" name="Text Box 334"/>
            <p:cNvSpPr txBox="1">
              <a:spLocks noChangeArrowheads="1"/>
            </p:cNvSpPr>
            <p:nvPr/>
          </p:nvSpPr>
          <p:spPr bwMode="auto">
            <a:xfrm>
              <a:off x="4672" y="3576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20558" name="AutoShape 335"/>
            <p:cNvSpPr>
              <a:spLocks noChangeArrowheads="1"/>
            </p:cNvSpPr>
            <p:nvPr/>
          </p:nvSpPr>
          <p:spPr bwMode="auto">
            <a:xfrm>
              <a:off x="4629" y="2467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59" name="AutoShape 336"/>
            <p:cNvSpPr>
              <a:spLocks noChangeArrowheads="1"/>
            </p:cNvSpPr>
            <p:nvPr/>
          </p:nvSpPr>
          <p:spPr bwMode="auto">
            <a:xfrm>
              <a:off x="4634" y="3708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60" name="AutoShape 337"/>
            <p:cNvSpPr>
              <a:spLocks noChangeArrowheads="1"/>
            </p:cNvSpPr>
            <p:nvPr/>
          </p:nvSpPr>
          <p:spPr bwMode="auto">
            <a:xfrm>
              <a:off x="4373" y="2255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61" name="AutoShape 338"/>
            <p:cNvSpPr>
              <a:spLocks noChangeArrowheads="1"/>
            </p:cNvSpPr>
            <p:nvPr/>
          </p:nvSpPr>
          <p:spPr bwMode="auto">
            <a:xfrm>
              <a:off x="3693" y="2862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62" name="AutoShape 339"/>
            <p:cNvSpPr>
              <a:spLocks noChangeArrowheads="1"/>
            </p:cNvSpPr>
            <p:nvPr/>
          </p:nvSpPr>
          <p:spPr bwMode="auto">
            <a:xfrm>
              <a:off x="4373" y="3835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63" name="AutoShape 340"/>
            <p:cNvSpPr>
              <a:spLocks noChangeArrowheads="1"/>
            </p:cNvSpPr>
            <p:nvPr/>
          </p:nvSpPr>
          <p:spPr bwMode="auto">
            <a:xfrm>
              <a:off x="3690" y="3376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64" name="AutoShape 341"/>
            <p:cNvSpPr>
              <a:spLocks noChangeArrowheads="1"/>
            </p:cNvSpPr>
            <p:nvPr/>
          </p:nvSpPr>
          <p:spPr bwMode="auto">
            <a:xfrm>
              <a:off x="4057" y="2974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65" name="AutoShape 342"/>
            <p:cNvSpPr>
              <a:spLocks noChangeArrowheads="1"/>
            </p:cNvSpPr>
            <p:nvPr/>
          </p:nvSpPr>
          <p:spPr bwMode="auto">
            <a:xfrm>
              <a:off x="4059" y="3306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66" name="Line 343"/>
            <p:cNvSpPr>
              <a:spLocks noChangeShapeType="1"/>
            </p:cNvSpPr>
            <p:nvPr/>
          </p:nvSpPr>
          <p:spPr bwMode="auto">
            <a:xfrm>
              <a:off x="4230" y="2688"/>
              <a:ext cx="0" cy="8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6" name="Group 344"/>
          <p:cNvGrpSpPr>
            <a:grpSpLocks/>
          </p:cNvGrpSpPr>
          <p:nvPr/>
        </p:nvGrpSpPr>
        <p:grpSpPr bwMode="auto">
          <a:xfrm>
            <a:off x="5153025" y="527050"/>
            <a:ext cx="3302000" cy="2674938"/>
            <a:chOff x="3240" y="330"/>
            <a:chExt cx="2080" cy="1685"/>
          </a:xfrm>
        </p:grpSpPr>
        <p:grpSp>
          <p:nvGrpSpPr>
            <p:cNvPr id="20526" name="Group 345"/>
            <p:cNvGrpSpPr>
              <a:grpSpLocks/>
            </p:cNvGrpSpPr>
            <p:nvPr/>
          </p:nvGrpSpPr>
          <p:grpSpPr bwMode="auto">
            <a:xfrm>
              <a:off x="3240" y="330"/>
              <a:ext cx="2080" cy="1685"/>
              <a:chOff x="2949" y="1290"/>
              <a:chExt cx="2080" cy="1685"/>
            </a:xfrm>
          </p:grpSpPr>
          <p:sp>
            <p:nvSpPr>
              <p:cNvPr id="20530" name="Rectangle 346"/>
              <p:cNvSpPr>
                <a:spLocks noChangeArrowheads="1"/>
              </p:cNvSpPr>
              <p:nvPr/>
            </p:nvSpPr>
            <p:spPr bwMode="auto">
              <a:xfrm>
                <a:off x="2971" y="1292"/>
                <a:ext cx="2055" cy="1682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20531" name="Freeform 347"/>
              <p:cNvSpPr>
                <a:spLocks/>
              </p:cNvSpPr>
              <p:nvPr/>
            </p:nvSpPr>
            <p:spPr bwMode="auto">
              <a:xfrm>
                <a:off x="2971" y="1291"/>
                <a:ext cx="2058" cy="1684"/>
              </a:xfrm>
              <a:custGeom>
                <a:avLst/>
                <a:gdLst>
                  <a:gd name="T0" fmla="*/ 5791 w 1589"/>
                  <a:gd name="T1" fmla="*/ 0 h 1300"/>
                  <a:gd name="T2" fmla="*/ 0 w 1589"/>
                  <a:gd name="T3" fmla="*/ 0 h 1300"/>
                  <a:gd name="T4" fmla="*/ 0 w 1589"/>
                  <a:gd name="T5" fmla="*/ 4740 h 1300"/>
                  <a:gd name="T6" fmla="*/ 0 60000 65536"/>
                  <a:gd name="T7" fmla="*/ 0 60000 65536"/>
                  <a:gd name="T8" fmla="*/ 0 60000 65536"/>
                  <a:gd name="T9" fmla="*/ 0 w 1589"/>
                  <a:gd name="T10" fmla="*/ 0 h 1300"/>
                  <a:gd name="T11" fmla="*/ 1589 w 1589"/>
                  <a:gd name="T12" fmla="*/ 1300 h 1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9" h="1300">
                    <a:moveTo>
                      <a:pt x="1589" y="0"/>
                    </a:moveTo>
                    <a:lnTo>
                      <a:pt x="0" y="0"/>
                    </a:lnTo>
                    <a:lnTo>
                      <a:pt x="0" y="1300"/>
                    </a:lnTo>
                  </a:path>
                </a:pathLst>
              </a:custGeom>
              <a:solidFill>
                <a:srgbClr val="CCCCFF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32" name="Text Box 348"/>
              <p:cNvSpPr txBox="1">
                <a:spLocks noChangeArrowheads="1"/>
              </p:cNvSpPr>
              <p:nvPr/>
            </p:nvSpPr>
            <p:spPr bwMode="auto">
              <a:xfrm>
                <a:off x="2949" y="1291"/>
                <a:ext cx="29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P 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20533" name="Line 349"/>
              <p:cNvSpPr>
                <a:spLocks noChangeShapeType="1"/>
              </p:cNvSpPr>
              <p:nvPr/>
            </p:nvSpPr>
            <p:spPr bwMode="auto">
              <a:xfrm flipH="1">
                <a:off x="2970" y="1540"/>
                <a:ext cx="2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34" name="Text Box 350"/>
              <p:cNvSpPr txBox="1">
                <a:spLocks noChangeArrowheads="1"/>
              </p:cNvSpPr>
              <p:nvPr/>
            </p:nvSpPr>
            <p:spPr bwMode="auto">
              <a:xfrm>
                <a:off x="3445" y="1446"/>
                <a:ext cx="231" cy="2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A</a:t>
                </a:r>
              </a:p>
            </p:txBody>
          </p:sp>
          <p:sp>
            <p:nvSpPr>
              <p:cNvPr id="20535" name="Line 351"/>
              <p:cNvSpPr>
                <a:spLocks noChangeShapeType="1"/>
              </p:cNvSpPr>
              <p:nvPr/>
            </p:nvSpPr>
            <p:spPr bwMode="auto">
              <a:xfrm>
                <a:off x="3205" y="1290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36" name="AutoShape 352"/>
              <p:cNvSpPr>
                <a:spLocks noChangeArrowheads="1"/>
              </p:cNvSpPr>
              <p:nvPr/>
            </p:nvSpPr>
            <p:spPr bwMode="auto">
              <a:xfrm>
                <a:off x="3636" y="1674"/>
                <a:ext cx="47" cy="47"/>
              </a:xfrm>
              <a:prstGeom prst="flowChartConnector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537" name="AutoShape 353"/>
              <p:cNvSpPr>
                <a:spLocks noChangeArrowheads="1"/>
              </p:cNvSpPr>
              <p:nvPr/>
            </p:nvSpPr>
            <p:spPr bwMode="auto">
              <a:xfrm flipH="1">
                <a:off x="4429" y="1872"/>
                <a:ext cx="47" cy="47"/>
              </a:xfrm>
              <a:prstGeom prst="flowChartConnector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538" name="AutoShape 354"/>
              <p:cNvSpPr>
                <a:spLocks noChangeArrowheads="1"/>
              </p:cNvSpPr>
              <p:nvPr/>
            </p:nvSpPr>
            <p:spPr bwMode="auto">
              <a:xfrm>
                <a:off x="3276" y="2586"/>
                <a:ext cx="47" cy="47"/>
              </a:xfrm>
              <a:prstGeom prst="flowChartConnector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539" name="Text Box 355"/>
              <p:cNvSpPr txBox="1">
                <a:spLocks noChangeArrowheads="1"/>
              </p:cNvSpPr>
              <p:nvPr/>
            </p:nvSpPr>
            <p:spPr bwMode="auto">
              <a:xfrm>
                <a:off x="3080" y="2361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B</a:t>
                </a:r>
              </a:p>
            </p:txBody>
          </p:sp>
          <p:sp>
            <p:nvSpPr>
              <p:cNvPr id="20540" name="Text Box 356"/>
              <p:cNvSpPr txBox="1">
                <a:spLocks noChangeArrowheads="1"/>
              </p:cNvSpPr>
              <p:nvPr/>
            </p:nvSpPr>
            <p:spPr bwMode="auto">
              <a:xfrm>
                <a:off x="4448" y="1641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C</a:t>
                </a:r>
              </a:p>
            </p:txBody>
          </p:sp>
        </p:grpSp>
        <p:sp>
          <p:nvSpPr>
            <p:cNvPr id="20527" name="Line 357"/>
            <p:cNvSpPr>
              <a:spLocks noChangeShapeType="1"/>
            </p:cNvSpPr>
            <p:nvPr/>
          </p:nvSpPr>
          <p:spPr bwMode="auto">
            <a:xfrm flipH="1">
              <a:off x="3603" y="760"/>
              <a:ext cx="336" cy="8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28" name="Line 358"/>
            <p:cNvSpPr>
              <a:spLocks noChangeShapeType="1"/>
            </p:cNvSpPr>
            <p:nvPr/>
          </p:nvSpPr>
          <p:spPr bwMode="auto">
            <a:xfrm>
              <a:off x="3971" y="748"/>
              <a:ext cx="748" cy="1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29" name="Line 359"/>
            <p:cNvSpPr>
              <a:spLocks noChangeShapeType="1"/>
            </p:cNvSpPr>
            <p:nvPr/>
          </p:nvSpPr>
          <p:spPr bwMode="auto">
            <a:xfrm flipV="1">
              <a:off x="3609" y="952"/>
              <a:ext cx="1116" cy="6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Group 360"/>
          <p:cNvGrpSpPr>
            <a:grpSpLocks/>
          </p:cNvGrpSpPr>
          <p:nvPr/>
        </p:nvGrpSpPr>
        <p:grpSpPr bwMode="auto">
          <a:xfrm>
            <a:off x="5159375" y="3316288"/>
            <a:ext cx="3486150" cy="3111500"/>
            <a:chOff x="3242" y="2081"/>
            <a:chExt cx="2196" cy="1960"/>
          </a:xfrm>
        </p:grpSpPr>
        <p:sp>
          <p:nvSpPr>
            <p:cNvPr id="20501" name="Text Box 361"/>
            <p:cNvSpPr txBox="1">
              <a:spLocks noChangeArrowheads="1"/>
            </p:cNvSpPr>
            <p:nvPr/>
          </p:nvSpPr>
          <p:spPr bwMode="auto">
            <a:xfrm>
              <a:off x="4141" y="2081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02" name="Line 362"/>
            <p:cNvSpPr>
              <a:spLocks noChangeShapeType="1"/>
            </p:cNvSpPr>
            <p:nvPr/>
          </p:nvSpPr>
          <p:spPr bwMode="auto">
            <a:xfrm flipH="1">
              <a:off x="3711" y="2499"/>
              <a:ext cx="936" cy="3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3" name="Line 363"/>
            <p:cNvSpPr>
              <a:spLocks noChangeShapeType="1"/>
            </p:cNvSpPr>
            <p:nvPr/>
          </p:nvSpPr>
          <p:spPr bwMode="auto">
            <a:xfrm>
              <a:off x="3711" y="3399"/>
              <a:ext cx="684" cy="4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4" name="Line 364"/>
            <p:cNvSpPr>
              <a:spLocks noChangeShapeType="1"/>
            </p:cNvSpPr>
            <p:nvPr/>
          </p:nvSpPr>
          <p:spPr bwMode="auto">
            <a:xfrm>
              <a:off x="4391" y="2281"/>
              <a:ext cx="250" cy="2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5" name="Line 365"/>
            <p:cNvSpPr>
              <a:spLocks noChangeShapeType="1"/>
            </p:cNvSpPr>
            <p:nvPr/>
          </p:nvSpPr>
          <p:spPr bwMode="auto">
            <a:xfrm flipH="1">
              <a:off x="4395" y="3744"/>
              <a:ext cx="256" cy="1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6" name="Line 366"/>
            <p:cNvSpPr>
              <a:spLocks noChangeShapeType="1"/>
            </p:cNvSpPr>
            <p:nvPr/>
          </p:nvSpPr>
          <p:spPr bwMode="auto">
            <a:xfrm flipV="1">
              <a:off x="3713" y="2278"/>
              <a:ext cx="675" cy="6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7" name="Line 367"/>
            <p:cNvSpPr>
              <a:spLocks noChangeShapeType="1"/>
            </p:cNvSpPr>
            <p:nvPr/>
          </p:nvSpPr>
          <p:spPr bwMode="auto">
            <a:xfrm>
              <a:off x="3728" y="3408"/>
              <a:ext cx="933" cy="3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0508" name="Group 368"/>
            <p:cNvGrpSpPr>
              <a:grpSpLocks/>
            </p:cNvGrpSpPr>
            <p:nvPr/>
          </p:nvGrpSpPr>
          <p:grpSpPr bwMode="auto">
            <a:xfrm>
              <a:off x="3242" y="2902"/>
              <a:ext cx="2196" cy="289"/>
              <a:chOff x="3221" y="2791"/>
              <a:chExt cx="2196" cy="289"/>
            </a:xfrm>
          </p:grpSpPr>
          <p:sp>
            <p:nvSpPr>
              <p:cNvPr id="20523" name="Text Box 369"/>
              <p:cNvSpPr txBox="1">
                <a:spLocks noChangeArrowheads="1"/>
              </p:cNvSpPr>
              <p:nvPr/>
            </p:nvSpPr>
            <p:spPr bwMode="auto">
              <a:xfrm>
                <a:off x="3221" y="2792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X</a:t>
                </a:r>
              </a:p>
            </p:txBody>
          </p:sp>
          <p:sp>
            <p:nvSpPr>
              <p:cNvPr id="20524" name="Text Box 370"/>
              <p:cNvSpPr txBox="1">
                <a:spLocks noChangeArrowheads="1"/>
              </p:cNvSpPr>
              <p:nvPr/>
            </p:nvSpPr>
            <p:spPr bwMode="auto">
              <a:xfrm>
                <a:off x="5198" y="2791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O</a:t>
                </a:r>
              </a:p>
            </p:txBody>
          </p:sp>
          <p:sp>
            <p:nvSpPr>
              <p:cNvPr id="20525" name="Line 371"/>
              <p:cNvSpPr>
                <a:spLocks noChangeShapeType="1"/>
              </p:cNvSpPr>
              <p:nvPr/>
            </p:nvSpPr>
            <p:spPr bwMode="auto">
              <a:xfrm>
                <a:off x="3400" y="3052"/>
                <a:ext cx="18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09" name="Text Box 372"/>
            <p:cNvSpPr txBox="1">
              <a:spLocks noChangeArrowheads="1"/>
            </p:cNvSpPr>
            <p:nvPr/>
          </p:nvSpPr>
          <p:spPr bwMode="auto">
            <a:xfrm>
              <a:off x="3443" y="2706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10" name="Text Box 373"/>
            <p:cNvSpPr txBox="1">
              <a:spLocks noChangeArrowheads="1"/>
            </p:cNvSpPr>
            <p:nvPr/>
          </p:nvSpPr>
          <p:spPr bwMode="auto">
            <a:xfrm>
              <a:off x="4580" y="2360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11" name="Line 374"/>
            <p:cNvSpPr>
              <a:spLocks noChangeShapeType="1"/>
            </p:cNvSpPr>
            <p:nvPr/>
          </p:nvSpPr>
          <p:spPr bwMode="auto">
            <a:xfrm>
              <a:off x="3709" y="2918"/>
              <a:ext cx="0" cy="5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2" name="Line 375"/>
            <p:cNvSpPr>
              <a:spLocks noChangeShapeType="1"/>
            </p:cNvSpPr>
            <p:nvPr/>
          </p:nvSpPr>
          <p:spPr bwMode="auto">
            <a:xfrm>
              <a:off x="4394" y="2293"/>
              <a:ext cx="0" cy="1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3" name="Line 376"/>
            <p:cNvSpPr>
              <a:spLocks noChangeShapeType="1"/>
            </p:cNvSpPr>
            <p:nvPr/>
          </p:nvSpPr>
          <p:spPr bwMode="auto">
            <a:xfrm>
              <a:off x="4644" y="2521"/>
              <a:ext cx="0" cy="11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4" name="Text Box 377"/>
            <p:cNvSpPr txBox="1">
              <a:spLocks noChangeArrowheads="1"/>
            </p:cNvSpPr>
            <p:nvPr/>
          </p:nvSpPr>
          <p:spPr bwMode="auto">
            <a:xfrm>
              <a:off x="4227" y="3791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20515" name="Text Box 378"/>
            <p:cNvSpPr txBox="1">
              <a:spLocks noChangeArrowheads="1"/>
            </p:cNvSpPr>
            <p:nvPr/>
          </p:nvSpPr>
          <p:spPr bwMode="auto">
            <a:xfrm>
              <a:off x="3524" y="3326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20516" name="Text Box 379"/>
            <p:cNvSpPr txBox="1">
              <a:spLocks noChangeArrowheads="1"/>
            </p:cNvSpPr>
            <p:nvPr/>
          </p:nvSpPr>
          <p:spPr bwMode="auto">
            <a:xfrm>
              <a:off x="4667" y="3578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20517" name="AutoShape 380"/>
            <p:cNvSpPr>
              <a:spLocks noChangeArrowheads="1"/>
            </p:cNvSpPr>
            <p:nvPr/>
          </p:nvSpPr>
          <p:spPr bwMode="auto">
            <a:xfrm>
              <a:off x="4624" y="2469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18" name="AutoShape 381"/>
            <p:cNvSpPr>
              <a:spLocks noChangeArrowheads="1"/>
            </p:cNvSpPr>
            <p:nvPr/>
          </p:nvSpPr>
          <p:spPr bwMode="auto">
            <a:xfrm>
              <a:off x="4629" y="3710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19" name="AutoShape 382"/>
            <p:cNvSpPr>
              <a:spLocks noChangeArrowheads="1"/>
            </p:cNvSpPr>
            <p:nvPr/>
          </p:nvSpPr>
          <p:spPr bwMode="auto">
            <a:xfrm>
              <a:off x="4368" y="2257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20" name="AutoShape 383"/>
            <p:cNvSpPr>
              <a:spLocks noChangeArrowheads="1"/>
            </p:cNvSpPr>
            <p:nvPr/>
          </p:nvSpPr>
          <p:spPr bwMode="auto">
            <a:xfrm>
              <a:off x="3688" y="2864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21" name="AutoShape 384"/>
            <p:cNvSpPr>
              <a:spLocks noChangeArrowheads="1"/>
            </p:cNvSpPr>
            <p:nvPr/>
          </p:nvSpPr>
          <p:spPr bwMode="auto">
            <a:xfrm>
              <a:off x="4368" y="3837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22" name="AutoShape 385"/>
            <p:cNvSpPr>
              <a:spLocks noChangeArrowheads="1"/>
            </p:cNvSpPr>
            <p:nvPr/>
          </p:nvSpPr>
          <p:spPr bwMode="auto">
            <a:xfrm>
              <a:off x="3685" y="3378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0" fill="hold"/>
                                        <p:tgtEl>
                                          <p:spTgt spid="585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0" fill="hold"/>
                                        <p:tgtEl>
                                          <p:spTgt spid="585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autoUpdateAnimBg="0"/>
      <p:bldP spid="58451" grpId="0" animBg="1" autoUpdateAnimBg="0"/>
      <p:bldP spid="58452" grpId="0" animBg="1" autoUpdateAnimBg="0"/>
      <p:bldP spid="58453" grpId="0" animBg="1" autoUpdateAnimBg="0"/>
      <p:bldP spid="58454" grpId="0" animBg="1" autoUpdateAnimBg="0"/>
      <p:bldP spid="58455" grpId="0" animBg="1" autoUpdateAnimBg="0"/>
      <p:bldP spid="5855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654F4DED-7E42-40E8-BD30-D56707D3FBFD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3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95325" y="2403295"/>
            <a:ext cx="4017963" cy="2959100"/>
            <a:chOff x="435" y="2110"/>
            <a:chExt cx="2531" cy="1864"/>
          </a:xfrm>
        </p:grpSpPr>
        <p:sp>
          <p:nvSpPr>
            <p:cNvPr id="21540" name="Text Box 3"/>
            <p:cNvSpPr txBox="1">
              <a:spLocks noChangeArrowheads="1"/>
            </p:cNvSpPr>
            <p:nvPr/>
          </p:nvSpPr>
          <p:spPr bwMode="auto">
            <a:xfrm>
              <a:off x="435" y="2806"/>
              <a:ext cx="2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 </a:t>
              </a:r>
              <a:r>
                <a:rPr lang="en-US" altLang="zh-CN" sz="1800" i="1">
                  <a:latin typeface="ISOCPEUR" pitchFamily="34" charset="0"/>
                </a:rPr>
                <a:t>X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21541" name="Line 4"/>
            <p:cNvSpPr>
              <a:spLocks noChangeShapeType="1"/>
            </p:cNvSpPr>
            <p:nvPr/>
          </p:nvSpPr>
          <p:spPr bwMode="auto">
            <a:xfrm>
              <a:off x="1832" y="2274"/>
              <a:ext cx="0" cy="15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2" name="Text Box 5"/>
            <p:cNvSpPr txBox="1">
              <a:spLocks noChangeArrowheads="1"/>
            </p:cNvSpPr>
            <p:nvPr/>
          </p:nvSpPr>
          <p:spPr bwMode="auto">
            <a:xfrm>
              <a:off x="1676" y="2110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Z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21543" name="Text Box 6"/>
            <p:cNvSpPr txBox="1">
              <a:spLocks noChangeArrowheads="1"/>
            </p:cNvSpPr>
            <p:nvPr/>
          </p:nvSpPr>
          <p:spPr bwMode="auto">
            <a:xfrm>
              <a:off x="1802" y="3743"/>
              <a:ext cx="25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Y</a:t>
              </a:r>
              <a:r>
                <a:rPr lang="en-US" altLang="zh-CN" sz="2000" i="1" baseline="-10000">
                  <a:latin typeface="ISOCPEUR" pitchFamily="34" charset="0"/>
                  <a:ea typeface="仿宋_GB2312" pitchFamily="49" charset="-122"/>
                </a:rPr>
                <a:t>H</a:t>
              </a:r>
            </a:p>
          </p:txBody>
        </p:sp>
        <p:sp>
          <p:nvSpPr>
            <p:cNvPr id="21544" name="Text Box 7"/>
            <p:cNvSpPr txBox="1">
              <a:spLocks noChangeArrowheads="1"/>
            </p:cNvSpPr>
            <p:nvPr/>
          </p:nvSpPr>
          <p:spPr bwMode="auto">
            <a:xfrm>
              <a:off x="2654" y="2842"/>
              <a:ext cx="3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Y</a:t>
              </a:r>
              <a:r>
                <a:rPr lang="en-US" altLang="zh-CN" sz="1800" i="1" baseline="-25000">
                  <a:latin typeface="ISOCPEUR" pitchFamily="34" charset="0"/>
                </a:rPr>
                <a:t>W </a:t>
              </a:r>
              <a:endParaRPr lang="en-US" altLang="zh-CN" sz="2400" i="1" baseline="-25000">
                <a:latin typeface="ISOCPEUR" pitchFamily="34" charset="0"/>
              </a:endParaRPr>
            </a:p>
          </p:txBody>
        </p:sp>
        <p:sp>
          <p:nvSpPr>
            <p:cNvPr id="21545" name="Line 8"/>
            <p:cNvSpPr>
              <a:spLocks noChangeShapeType="1"/>
            </p:cNvSpPr>
            <p:nvPr/>
          </p:nvSpPr>
          <p:spPr bwMode="auto">
            <a:xfrm>
              <a:off x="615" y="3037"/>
              <a:ext cx="2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6" name="Text Box 9"/>
            <p:cNvSpPr txBox="1">
              <a:spLocks noChangeArrowheads="1"/>
            </p:cNvSpPr>
            <p:nvPr/>
          </p:nvSpPr>
          <p:spPr bwMode="auto">
            <a:xfrm>
              <a:off x="1812" y="2845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O</a:t>
              </a:r>
            </a:p>
          </p:txBody>
        </p:sp>
      </p:grpSp>
      <p:sp>
        <p:nvSpPr>
          <p:cNvPr id="141322" name="Line 10"/>
          <p:cNvSpPr>
            <a:spLocks noChangeShapeType="1"/>
          </p:cNvSpPr>
          <p:nvPr/>
        </p:nvSpPr>
        <p:spPr bwMode="auto">
          <a:xfrm flipV="1">
            <a:off x="1409700" y="3043057"/>
            <a:ext cx="1504950" cy="831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1323" name="Text Box 11"/>
          <p:cNvSpPr txBox="1">
            <a:spLocks noChangeArrowheads="1"/>
          </p:cNvSpPr>
          <p:nvPr/>
        </p:nvSpPr>
        <p:spPr bwMode="auto">
          <a:xfrm>
            <a:off x="1701800" y="3182757"/>
            <a:ext cx="5111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P</a:t>
            </a:r>
            <a:r>
              <a:rPr lang="en-US" altLang="zh-CN" sz="1800" i="1" baseline="-8000">
                <a:latin typeface="ISOCPEUR" pitchFamily="34" charset="0"/>
              </a:rPr>
              <a:t>V</a:t>
            </a:r>
            <a:endParaRPr lang="en-US" altLang="zh-CN" sz="2400" i="1">
              <a:latin typeface="ISOCPEUR" pitchFamily="34" charset="0"/>
            </a:endParaRPr>
          </a:p>
        </p:txBody>
      </p:sp>
      <p:sp>
        <p:nvSpPr>
          <p:cNvPr id="141324" name="Line 12"/>
          <p:cNvSpPr>
            <a:spLocks noChangeShapeType="1"/>
          </p:cNvSpPr>
          <p:nvPr/>
        </p:nvSpPr>
        <p:spPr bwMode="auto">
          <a:xfrm>
            <a:off x="1409700" y="3874907"/>
            <a:ext cx="1504950" cy="1120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1325" name="Text Box 13"/>
          <p:cNvSpPr txBox="1">
            <a:spLocks noChangeArrowheads="1"/>
          </p:cNvSpPr>
          <p:nvPr/>
        </p:nvSpPr>
        <p:spPr bwMode="auto">
          <a:xfrm>
            <a:off x="2460625" y="2757307"/>
            <a:ext cx="5191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P</a:t>
            </a:r>
            <a:r>
              <a:rPr lang="en-US" altLang="zh-CN" sz="1800" i="1" baseline="-8000">
                <a:latin typeface="ISOCPEUR" pitchFamily="34" charset="0"/>
              </a:rPr>
              <a:t>Z</a:t>
            </a:r>
            <a:endParaRPr lang="en-US" altLang="zh-CN" sz="2400" i="1">
              <a:latin typeface="ISOCPEUR" pitchFamily="34" charset="0"/>
            </a:endParaRPr>
          </a:p>
        </p:txBody>
      </p:sp>
      <p:sp>
        <p:nvSpPr>
          <p:cNvPr id="141326" name="Text Box 14"/>
          <p:cNvSpPr txBox="1">
            <a:spLocks noChangeArrowheads="1"/>
          </p:cNvSpPr>
          <p:nvPr/>
        </p:nvSpPr>
        <p:spPr bwMode="auto">
          <a:xfrm>
            <a:off x="1068388" y="3522482"/>
            <a:ext cx="612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P</a:t>
            </a:r>
            <a:r>
              <a:rPr lang="en-US" altLang="zh-CN" sz="1800" i="1" baseline="-8000">
                <a:latin typeface="ISOCPEUR" pitchFamily="34" charset="0"/>
              </a:rPr>
              <a:t>X</a:t>
            </a:r>
            <a:endParaRPr lang="en-US" altLang="zh-CN" sz="2400" i="1">
              <a:latin typeface="ISOCPEUR" pitchFamily="34" charset="0"/>
            </a:endParaRPr>
          </a:p>
        </p:txBody>
      </p:sp>
      <p:sp>
        <p:nvSpPr>
          <p:cNvPr id="141327" name="Arc 15"/>
          <p:cNvSpPr>
            <a:spLocks/>
          </p:cNvSpPr>
          <p:nvPr/>
        </p:nvSpPr>
        <p:spPr bwMode="auto">
          <a:xfrm>
            <a:off x="2914650" y="3847920"/>
            <a:ext cx="1060450" cy="1147762"/>
          </a:xfrm>
          <a:custGeom>
            <a:avLst/>
            <a:gdLst>
              <a:gd name="T0" fmla="*/ 2147483647 w 21600"/>
              <a:gd name="T1" fmla="*/ 0 h 23391"/>
              <a:gd name="T2" fmla="*/ 2147483647 w 21600"/>
              <a:gd name="T3" fmla="*/ 2147483647 h 23391"/>
              <a:gd name="T4" fmla="*/ 0 w 21600"/>
              <a:gd name="T5" fmla="*/ 2147483647 h 23391"/>
              <a:gd name="T6" fmla="*/ 0 60000 65536"/>
              <a:gd name="T7" fmla="*/ 0 60000 65536"/>
              <a:gd name="T8" fmla="*/ 0 60000 65536"/>
              <a:gd name="T9" fmla="*/ 0 w 21600"/>
              <a:gd name="T10" fmla="*/ 0 h 23391"/>
              <a:gd name="T11" fmla="*/ 21600 w 21600"/>
              <a:gd name="T12" fmla="*/ 23391 h 233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3391" fill="none" extrusionOk="0">
                <a:moveTo>
                  <a:pt x="21525" y="0"/>
                </a:moveTo>
                <a:cubicBezTo>
                  <a:pt x="21575" y="596"/>
                  <a:pt x="21600" y="1193"/>
                  <a:pt x="21600" y="1792"/>
                </a:cubicBezTo>
                <a:cubicBezTo>
                  <a:pt x="21600" y="13650"/>
                  <a:pt x="12039" y="23291"/>
                  <a:pt x="181" y="23391"/>
                </a:cubicBezTo>
              </a:path>
              <a:path w="21600" h="23391" stroke="0" extrusionOk="0">
                <a:moveTo>
                  <a:pt x="21525" y="0"/>
                </a:moveTo>
                <a:cubicBezTo>
                  <a:pt x="21575" y="596"/>
                  <a:pt x="21600" y="1193"/>
                  <a:pt x="21600" y="1792"/>
                </a:cubicBezTo>
                <a:cubicBezTo>
                  <a:pt x="21600" y="13650"/>
                  <a:pt x="12039" y="23291"/>
                  <a:pt x="181" y="23391"/>
                </a:cubicBezTo>
                <a:lnTo>
                  <a:pt x="0" y="1792"/>
                </a:lnTo>
                <a:lnTo>
                  <a:pt x="21525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1328" name="Line 16"/>
          <p:cNvSpPr>
            <a:spLocks noChangeShapeType="1"/>
          </p:cNvSpPr>
          <p:nvPr/>
        </p:nvSpPr>
        <p:spPr bwMode="auto">
          <a:xfrm>
            <a:off x="2914650" y="3043057"/>
            <a:ext cx="1060450" cy="831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1329" name="Text Box 17"/>
          <p:cNvSpPr txBox="1">
            <a:spLocks noChangeArrowheads="1"/>
          </p:cNvSpPr>
          <p:nvPr/>
        </p:nvSpPr>
        <p:spPr bwMode="auto">
          <a:xfrm>
            <a:off x="1681163" y="4294007"/>
            <a:ext cx="5318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P</a:t>
            </a:r>
            <a:r>
              <a:rPr lang="en-US" altLang="zh-CN" sz="1800" i="1" baseline="-8000">
                <a:latin typeface="ISOCPEUR" pitchFamily="34" charset="0"/>
              </a:rPr>
              <a:t>H</a:t>
            </a:r>
          </a:p>
        </p:txBody>
      </p:sp>
      <p:sp>
        <p:nvSpPr>
          <p:cNvPr id="141330" name="Text Box 18"/>
          <p:cNvSpPr txBox="1">
            <a:spLocks noChangeArrowheads="1"/>
          </p:cNvSpPr>
          <p:nvPr/>
        </p:nvSpPr>
        <p:spPr bwMode="auto">
          <a:xfrm>
            <a:off x="2365375" y="4902020"/>
            <a:ext cx="682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P</a:t>
            </a:r>
            <a:r>
              <a:rPr lang="en-US" altLang="zh-CN" sz="1800" i="1" baseline="-8000">
                <a:latin typeface="ISOCPEUR" pitchFamily="34" charset="0"/>
              </a:rPr>
              <a:t>Y</a:t>
            </a:r>
            <a:r>
              <a:rPr lang="en-US" altLang="zh-CN" sz="2000" i="1" baseline="-16000">
                <a:latin typeface="ISOCPEUR" pitchFamily="34" charset="0"/>
                <a:ea typeface="仿宋_GB2312" pitchFamily="49" charset="-122"/>
              </a:rPr>
              <a:t>H</a:t>
            </a:r>
          </a:p>
        </p:txBody>
      </p:sp>
      <p:sp>
        <p:nvSpPr>
          <p:cNvPr id="141331" name="Text Box 19"/>
          <p:cNvSpPr txBox="1">
            <a:spLocks noChangeArrowheads="1"/>
          </p:cNvSpPr>
          <p:nvPr/>
        </p:nvSpPr>
        <p:spPr bwMode="auto">
          <a:xfrm>
            <a:off x="3843338" y="3539945"/>
            <a:ext cx="542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P</a:t>
            </a:r>
            <a:r>
              <a:rPr lang="en-US" altLang="zh-CN" sz="1800" i="1" baseline="-8000">
                <a:latin typeface="ISOCPEUR" pitchFamily="34" charset="0"/>
              </a:rPr>
              <a:t>YW</a:t>
            </a:r>
            <a:endParaRPr lang="en-US" altLang="zh-CN" sz="2400" i="1">
              <a:latin typeface="ISOCPEUR" pitchFamily="34" charset="0"/>
            </a:endParaRPr>
          </a:p>
        </p:txBody>
      </p:sp>
      <p:sp>
        <p:nvSpPr>
          <p:cNvPr id="141332" name="Text Box 20"/>
          <p:cNvSpPr txBox="1">
            <a:spLocks noChangeArrowheads="1"/>
          </p:cNvSpPr>
          <p:nvPr/>
        </p:nvSpPr>
        <p:spPr bwMode="auto">
          <a:xfrm>
            <a:off x="3211513" y="3114495"/>
            <a:ext cx="679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P</a:t>
            </a:r>
            <a:r>
              <a:rPr lang="en-US" altLang="zh-CN" sz="1800" i="1" baseline="-8000">
                <a:latin typeface="ISOCPEUR" pitchFamily="34" charset="0"/>
              </a:rPr>
              <a:t>W</a:t>
            </a:r>
            <a:endParaRPr lang="en-US" altLang="zh-CN" sz="2400" i="1">
              <a:latin typeface="ISOCPEUR" pitchFamily="34" charset="0"/>
            </a:endParaRPr>
          </a:p>
        </p:txBody>
      </p: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5132388" y="2542995"/>
            <a:ext cx="3573462" cy="3211512"/>
            <a:chOff x="3240" y="707"/>
            <a:chExt cx="2251" cy="2023"/>
          </a:xfrm>
        </p:grpSpPr>
        <p:sp>
          <p:nvSpPr>
            <p:cNvPr id="21530" name="Freeform 24"/>
            <p:cNvSpPr>
              <a:spLocks/>
            </p:cNvSpPr>
            <p:nvPr/>
          </p:nvSpPr>
          <p:spPr bwMode="auto">
            <a:xfrm>
              <a:off x="4736" y="709"/>
              <a:ext cx="749" cy="1959"/>
            </a:xfrm>
            <a:custGeom>
              <a:avLst/>
              <a:gdLst>
                <a:gd name="T0" fmla="*/ 0 w 804"/>
                <a:gd name="T1" fmla="*/ 0 h 2100"/>
                <a:gd name="T2" fmla="*/ 0 w 804"/>
                <a:gd name="T3" fmla="*/ 915 h 2100"/>
                <a:gd name="T4" fmla="*/ 565 w 804"/>
                <a:gd name="T5" fmla="*/ 1483 h 2100"/>
                <a:gd name="T6" fmla="*/ 565 w 804"/>
                <a:gd name="T7" fmla="*/ 573 h 2100"/>
                <a:gd name="T8" fmla="*/ 0 w 804"/>
                <a:gd name="T9" fmla="*/ 0 h 2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4"/>
                <a:gd name="T16" fmla="*/ 0 h 2100"/>
                <a:gd name="T17" fmla="*/ 804 w 804"/>
                <a:gd name="T18" fmla="*/ 2100 h 2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4" h="2100">
                  <a:moveTo>
                    <a:pt x="0" y="0"/>
                  </a:moveTo>
                  <a:lnTo>
                    <a:pt x="0" y="1296"/>
                  </a:lnTo>
                  <a:lnTo>
                    <a:pt x="804" y="2100"/>
                  </a:lnTo>
                  <a:lnTo>
                    <a:pt x="804" y="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1" name="Line 25"/>
            <p:cNvSpPr>
              <a:spLocks noChangeShapeType="1"/>
            </p:cNvSpPr>
            <p:nvPr/>
          </p:nvSpPr>
          <p:spPr bwMode="auto">
            <a:xfrm>
              <a:off x="4736" y="709"/>
              <a:ext cx="755" cy="7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2" name="Line 26"/>
            <p:cNvSpPr>
              <a:spLocks noChangeShapeType="1"/>
            </p:cNvSpPr>
            <p:nvPr/>
          </p:nvSpPr>
          <p:spPr bwMode="auto">
            <a:xfrm>
              <a:off x="5491" y="1464"/>
              <a:ext cx="0" cy="12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3" name="Text Box 27"/>
            <p:cNvSpPr txBox="1">
              <a:spLocks noChangeArrowheads="1"/>
            </p:cNvSpPr>
            <p:nvPr/>
          </p:nvSpPr>
          <p:spPr bwMode="auto">
            <a:xfrm>
              <a:off x="5214" y="1378"/>
              <a:ext cx="2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W</a:t>
              </a:r>
            </a:p>
          </p:txBody>
        </p:sp>
        <p:sp>
          <p:nvSpPr>
            <p:cNvPr id="21534" name="Rectangle 28"/>
            <p:cNvSpPr>
              <a:spLocks noChangeArrowheads="1"/>
            </p:cNvSpPr>
            <p:nvPr/>
          </p:nvSpPr>
          <p:spPr bwMode="auto">
            <a:xfrm>
              <a:off x="3255" y="710"/>
              <a:ext cx="1479" cy="1211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i="1">
                <a:latin typeface="ISOCPEUR" pitchFamily="34" charset="0"/>
              </a:endParaRPr>
            </a:p>
          </p:txBody>
        </p:sp>
        <p:sp>
          <p:nvSpPr>
            <p:cNvPr id="21535" name="Freeform 29"/>
            <p:cNvSpPr>
              <a:spLocks/>
            </p:cNvSpPr>
            <p:nvPr/>
          </p:nvSpPr>
          <p:spPr bwMode="auto">
            <a:xfrm>
              <a:off x="3255" y="709"/>
              <a:ext cx="1481" cy="1213"/>
            </a:xfrm>
            <a:custGeom>
              <a:avLst/>
              <a:gdLst>
                <a:gd name="T0" fmla="*/ 1118 w 1589"/>
                <a:gd name="T1" fmla="*/ 0 h 1300"/>
                <a:gd name="T2" fmla="*/ 0 w 1589"/>
                <a:gd name="T3" fmla="*/ 0 h 1300"/>
                <a:gd name="T4" fmla="*/ 0 w 1589"/>
                <a:gd name="T5" fmla="*/ 919 h 1300"/>
                <a:gd name="T6" fmla="*/ 0 60000 65536"/>
                <a:gd name="T7" fmla="*/ 0 60000 65536"/>
                <a:gd name="T8" fmla="*/ 0 60000 65536"/>
                <a:gd name="T9" fmla="*/ 0 w 1589"/>
                <a:gd name="T10" fmla="*/ 0 h 1300"/>
                <a:gd name="T11" fmla="*/ 1589 w 1589"/>
                <a:gd name="T12" fmla="*/ 1300 h 1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9" h="1300">
                  <a:moveTo>
                    <a:pt x="1589" y="0"/>
                  </a:moveTo>
                  <a:lnTo>
                    <a:pt x="0" y="0"/>
                  </a:lnTo>
                  <a:lnTo>
                    <a:pt x="0" y="1300"/>
                  </a:lnTo>
                </a:path>
              </a:pathLst>
            </a:custGeom>
            <a:solidFill>
              <a:srgbClr val="CCCCFF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6" name="Text Box 30"/>
            <p:cNvSpPr txBox="1">
              <a:spLocks noChangeArrowheads="1"/>
            </p:cNvSpPr>
            <p:nvPr/>
          </p:nvSpPr>
          <p:spPr bwMode="auto">
            <a:xfrm>
              <a:off x="3240" y="707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V </a:t>
              </a:r>
            </a:p>
          </p:txBody>
        </p:sp>
        <p:sp>
          <p:nvSpPr>
            <p:cNvPr id="21537" name="Freeform 31"/>
            <p:cNvSpPr>
              <a:spLocks/>
            </p:cNvSpPr>
            <p:nvPr/>
          </p:nvSpPr>
          <p:spPr bwMode="auto">
            <a:xfrm>
              <a:off x="3251" y="1917"/>
              <a:ext cx="2238" cy="756"/>
            </a:xfrm>
            <a:custGeom>
              <a:avLst/>
              <a:gdLst>
                <a:gd name="T0" fmla="*/ 0 w 2400"/>
                <a:gd name="T1" fmla="*/ 0 h 810"/>
                <a:gd name="T2" fmla="*/ 1122 w 2400"/>
                <a:gd name="T3" fmla="*/ 0 h 810"/>
                <a:gd name="T4" fmla="*/ 1692 w 2400"/>
                <a:gd name="T5" fmla="*/ 574 h 810"/>
                <a:gd name="T6" fmla="*/ 575 w 2400"/>
                <a:gd name="T7" fmla="*/ 574 h 810"/>
                <a:gd name="T8" fmla="*/ 0 w 2400"/>
                <a:gd name="T9" fmla="*/ 0 h 8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0"/>
                <a:gd name="T16" fmla="*/ 0 h 810"/>
                <a:gd name="T17" fmla="*/ 2400 w 2400"/>
                <a:gd name="T18" fmla="*/ 810 h 8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0" h="810">
                  <a:moveTo>
                    <a:pt x="0" y="0"/>
                  </a:moveTo>
                  <a:lnTo>
                    <a:pt x="1590" y="0"/>
                  </a:lnTo>
                  <a:lnTo>
                    <a:pt x="2400" y="810"/>
                  </a:lnTo>
                  <a:lnTo>
                    <a:pt x="816" y="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8" name="Freeform 32"/>
            <p:cNvSpPr>
              <a:spLocks/>
            </p:cNvSpPr>
            <p:nvPr/>
          </p:nvSpPr>
          <p:spPr bwMode="auto">
            <a:xfrm>
              <a:off x="3251" y="1917"/>
              <a:ext cx="2238" cy="756"/>
            </a:xfrm>
            <a:custGeom>
              <a:avLst/>
              <a:gdLst>
                <a:gd name="T0" fmla="*/ 0 w 2400"/>
                <a:gd name="T1" fmla="*/ 0 h 810"/>
                <a:gd name="T2" fmla="*/ 571 w 2400"/>
                <a:gd name="T3" fmla="*/ 574 h 810"/>
                <a:gd name="T4" fmla="*/ 1692 w 2400"/>
                <a:gd name="T5" fmla="*/ 574 h 810"/>
                <a:gd name="T6" fmla="*/ 0 60000 65536"/>
                <a:gd name="T7" fmla="*/ 0 60000 65536"/>
                <a:gd name="T8" fmla="*/ 0 60000 65536"/>
                <a:gd name="T9" fmla="*/ 0 w 2400"/>
                <a:gd name="T10" fmla="*/ 0 h 810"/>
                <a:gd name="T11" fmla="*/ 2400 w 2400"/>
                <a:gd name="T12" fmla="*/ 810 h 8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0" h="810">
                  <a:moveTo>
                    <a:pt x="0" y="0"/>
                  </a:moveTo>
                  <a:lnTo>
                    <a:pt x="810" y="810"/>
                  </a:lnTo>
                  <a:lnTo>
                    <a:pt x="2400" y="810"/>
                  </a:lnTo>
                </a:path>
              </a:pathLst>
            </a:custGeom>
            <a:solidFill>
              <a:srgbClr val="CCCCFF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9" name="Text Box 33"/>
            <p:cNvSpPr txBox="1">
              <a:spLocks noChangeArrowheads="1"/>
            </p:cNvSpPr>
            <p:nvPr/>
          </p:nvSpPr>
          <p:spPr bwMode="auto">
            <a:xfrm>
              <a:off x="3972" y="2442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H</a:t>
              </a:r>
            </a:p>
          </p:txBody>
        </p:sp>
      </p:grpSp>
      <p:sp>
        <p:nvSpPr>
          <p:cNvPr id="141346" name="Freeform 34"/>
          <p:cNvSpPr>
            <a:spLocks/>
          </p:cNvSpPr>
          <p:nvPr/>
        </p:nvSpPr>
        <p:spPr bwMode="auto">
          <a:xfrm>
            <a:off x="5648325" y="3306582"/>
            <a:ext cx="2619375" cy="1914525"/>
          </a:xfrm>
          <a:custGeom>
            <a:avLst/>
            <a:gdLst>
              <a:gd name="T0" fmla="*/ 2147483647 w 1650"/>
              <a:gd name="T1" fmla="*/ 2147483647 h 1206"/>
              <a:gd name="T2" fmla="*/ 2147483647 w 1650"/>
              <a:gd name="T3" fmla="*/ 0 h 1206"/>
              <a:gd name="T4" fmla="*/ 0 w 1650"/>
              <a:gd name="T5" fmla="*/ 2147483647 h 1206"/>
              <a:gd name="T6" fmla="*/ 2147483647 w 1650"/>
              <a:gd name="T7" fmla="*/ 2147483647 h 1206"/>
              <a:gd name="T8" fmla="*/ 0 60000 65536"/>
              <a:gd name="T9" fmla="*/ 0 60000 65536"/>
              <a:gd name="T10" fmla="*/ 0 60000 65536"/>
              <a:gd name="T11" fmla="*/ 0 60000 65536"/>
              <a:gd name="T12" fmla="*/ 0 w 1650"/>
              <a:gd name="T13" fmla="*/ 0 h 1206"/>
              <a:gd name="T14" fmla="*/ 1650 w 1650"/>
              <a:gd name="T15" fmla="*/ 1206 h 120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50" h="1206">
                <a:moveTo>
                  <a:pt x="1650" y="1206"/>
                </a:moveTo>
                <a:lnTo>
                  <a:pt x="1170" y="0"/>
                </a:lnTo>
                <a:lnTo>
                  <a:pt x="0" y="726"/>
                </a:lnTo>
                <a:lnTo>
                  <a:pt x="1650" y="1206"/>
                </a:lnTo>
                <a:close/>
              </a:path>
            </a:pathLst>
          </a:custGeom>
          <a:solidFill>
            <a:srgbClr val="00CC99">
              <a:alpha val="50195"/>
            </a:srgbClr>
          </a:solidFill>
          <a:ln w="28575" cap="flat" cmpd="sng">
            <a:solidFill>
              <a:schemeClr val="tx2"/>
            </a:solidFill>
            <a:prstDash val="solid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1347" name="Text Box 35"/>
          <p:cNvSpPr txBox="1">
            <a:spLocks noChangeArrowheads="1"/>
          </p:cNvSpPr>
          <p:nvPr/>
        </p:nvSpPr>
        <p:spPr bwMode="auto">
          <a:xfrm>
            <a:off x="7018338" y="3897132"/>
            <a:ext cx="347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</a:p>
        </p:txBody>
      </p:sp>
      <p:sp>
        <p:nvSpPr>
          <p:cNvPr id="141348" name="Text Box 36"/>
          <p:cNvSpPr txBox="1">
            <a:spLocks noChangeArrowheads="1"/>
          </p:cNvSpPr>
          <p:nvPr/>
        </p:nvSpPr>
        <p:spPr bwMode="auto">
          <a:xfrm>
            <a:off x="6192838" y="3484382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  <a:r>
              <a:rPr lang="en-US" altLang="zh-CN" sz="2400" i="1" baseline="-10000">
                <a:latin typeface="ISOCPEUR" pitchFamily="34" charset="0"/>
              </a:rPr>
              <a:t>V</a:t>
            </a:r>
            <a:endParaRPr lang="en-US" altLang="zh-CN" i="1" baseline="-10000">
              <a:latin typeface="ISOCPEUR" pitchFamily="34" charset="0"/>
            </a:endParaRPr>
          </a:p>
        </p:txBody>
      </p:sp>
      <p:sp>
        <p:nvSpPr>
          <p:cNvPr id="141349" name="Text Box 37"/>
          <p:cNvSpPr txBox="1">
            <a:spLocks noChangeArrowheads="1"/>
          </p:cNvSpPr>
          <p:nvPr/>
        </p:nvSpPr>
        <p:spPr bwMode="auto">
          <a:xfrm>
            <a:off x="6688138" y="4802007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  <a:r>
              <a:rPr lang="en-US" altLang="zh-CN" sz="2400" i="1" baseline="-10000">
                <a:latin typeface="ISOCPEUR" pitchFamily="34" charset="0"/>
              </a:rPr>
              <a:t>H</a:t>
            </a:r>
            <a:endParaRPr lang="en-US" altLang="zh-CN" i="1" baseline="-10000">
              <a:latin typeface="ISOCPEUR" pitchFamily="34" charset="0"/>
            </a:endParaRPr>
          </a:p>
        </p:txBody>
      </p:sp>
      <p:sp>
        <p:nvSpPr>
          <p:cNvPr id="141350" name="Text Box 38"/>
          <p:cNvSpPr txBox="1">
            <a:spLocks noChangeArrowheads="1"/>
          </p:cNvSpPr>
          <p:nvPr/>
        </p:nvSpPr>
        <p:spPr bwMode="auto">
          <a:xfrm>
            <a:off x="7962900" y="3982857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  <a:r>
              <a:rPr lang="en-US" altLang="zh-CN" sz="2400" i="1" baseline="-10000">
                <a:latin typeface="ISOCPEUR" pitchFamily="34" charset="0"/>
              </a:rPr>
              <a:t>W</a:t>
            </a:r>
            <a:endParaRPr lang="en-US" altLang="zh-CN" i="1" baseline="-10000">
              <a:latin typeface="ISOCPEUR" pitchFamily="34" charset="0"/>
            </a:endParaRPr>
          </a:p>
        </p:txBody>
      </p:sp>
      <p:sp>
        <p:nvSpPr>
          <p:cNvPr id="141351" name="Text Box 39"/>
          <p:cNvSpPr txBox="1">
            <a:spLocks noChangeArrowheads="1"/>
          </p:cNvSpPr>
          <p:nvPr/>
        </p:nvSpPr>
        <p:spPr bwMode="auto">
          <a:xfrm>
            <a:off x="5214938" y="4049532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  <a:r>
              <a:rPr lang="en-US" altLang="zh-CN" sz="2400" i="1" baseline="-10000">
                <a:latin typeface="ISOCPEUR" pitchFamily="34" charset="0"/>
              </a:rPr>
              <a:t>X</a:t>
            </a:r>
            <a:endParaRPr lang="en-US" altLang="zh-CN" sz="2400" i="1">
              <a:latin typeface="ISOCPEUR" pitchFamily="34" charset="0"/>
            </a:endParaRPr>
          </a:p>
        </p:txBody>
      </p:sp>
      <p:sp>
        <p:nvSpPr>
          <p:cNvPr id="141352" name="Text Box 40"/>
          <p:cNvSpPr txBox="1">
            <a:spLocks noChangeArrowheads="1"/>
          </p:cNvSpPr>
          <p:nvPr/>
        </p:nvSpPr>
        <p:spPr bwMode="auto">
          <a:xfrm>
            <a:off x="7996238" y="5125857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  <a:r>
              <a:rPr lang="en-US" altLang="zh-CN" sz="2400" i="1" baseline="-10000">
                <a:latin typeface="ISOCPEUR" pitchFamily="34" charset="0"/>
              </a:rPr>
              <a:t>Y</a:t>
            </a:r>
            <a:endParaRPr lang="en-US" altLang="zh-CN" sz="2400" i="1">
              <a:latin typeface="ISOCPEUR" pitchFamily="34" charset="0"/>
            </a:endParaRPr>
          </a:p>
        </p:txBody>
      </p:sp>
      <p:sp>
        <p:nvSpPr>
          <p:cNvPr id="141353" name="Text Box 41"/>
          <p:cNvSpPr txBox="1">
            <a:spLocks noChangeArrowheads="1"/>
          </p:cNvSpPr>
          <p:nvPr/>
        </p:nvSpPr>
        <p:spPr bwMode="auto">
          <a:xfrm>
            <a:off x="7086600" y="2877957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  <a:r>
              <a:rPr lang="en-US" altLang="zh-CN" sz="2400" i="1" baseline="-10000">
                <a:latin typeface="ISOCPEUR" pitchFamily="34" charset="0"/>
              </a:rPr>
              <a:t>Z</a:t>
            </a:r>
            <a:endParaRPr lang="en-US" altLang="zh-CN" sz="2400" i="1">
              <a:latin typeface="ISOCPEUR" pitchFamily="34" charset="0"/>
            </a:endParaRPr>
          </a:p>
        </p:txBody>
      </p:sp>
      <p:sp>
        <p:nvSpPr>
          <p:cNvPr id="21529" name="Text Box 79"/>
          <p:cNvSpPr txBox="1">
            <a:spLocks noChangeArrowheads="1"/>
          </p:cNvSpPr>
          <p:nvPr/>
        </p:nvSpPr>
        <p:spPr bwMode="auto">
          <a:xfrm>
            <a:off x="338138" y="377902"/>
            <a:ext cx="8805862" cy="1914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迹线表示</a:t>
            </a:r>
            <a:endParaRPr lang="zh-CN" altLang="en-US" sz="10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   迹线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：平面与投影面的交线。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   规定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：平面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P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的正面、水平、侧面迹线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分别用 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400" baseline="-10000" dirty="0">
                <a:latin typeface="黑体" pitchFamily="2" charset="-122"/>
                <a:ea typeface="黑体" pitchFamily="2" charset="-122"/>
              </a:rPr>
              <a:t>V</a:t>
            </a:r>
            <a:r>
              <a:rPr lang="zh-CN" altLang="en-US" sz="2400" baseline="-10000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400" baseline="-10000" dirty="0">
                <a:latin typeface="黑体" pitchFamily="2" charset="-122"/>
                <a:ea typeface="黑体" pitchFamily="2" charset="-122"/>
              </a:rPr>
              <a:t>H</a:t>
            </a:r>
            <a:r>
              <a:rPr lang="zh-CN" altLang="en-US" sz="2400" baseline="-10000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400" baseline="-10000" dirty="0">
                <a:latin typeface="黑体" pitchFamily="2" charset="-122"/>
                <a:ea typeface="黑体" pitchFamily="2" charset="-122"/>
              </a:rPr>
              <a:t>W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表示。</a:t>
            </a:r>
          </a:p>
        </p:txBody>
      </p:sp>
      <p:sp>
        <p:nvSpPr>
          <p:cNvPr id="4" name="矩形 3"/>
          <p:cNvSpPr/>
          <p:nvPr/>
        </p:nvSpPr>
        <p:spPr>
          <a:xfrm>
            <a:off x="874328" y="5941368"/>
            <a:ext cx="42835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任意两条迹线表示一个平面。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6" dur="500"/>
                                        <p:tgtEl>
                                          <p:spTgt spid="141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1" dur="500"/>
                                        <p:tgtEl>
                                          <p:spTgt spid="14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5" dur="500"/>
                                        <p:tgtEl>
                                          <p:spTgt spid="141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9" dur="500"/>
                                        <p:tgtEl>
                                          <p:spTgt spid="14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4" dur="500"/>
                                        <p:tgtEl>
                                          <p:spTgt spid="14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8" dur="500"/>
                                        <p:tgtEl>
                                          <p:spTgt spid="14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2" dur="500"/>
                                        <p:tgtEl>
                                          <p:spTgt spid="14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4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4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4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4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4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4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4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4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4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22" grpId="0" animBg="1"/>
      <p:bldP spid="141323" grpId="0" autoUpdateAnimBg="0"/>
      <p:bldP spid="141324" grpId="0" animBg="1"/>
      <p:bldP spid="141325" grpId="0" autoUpdateAnimBg="0"/>
      <p:bldP spid="141326" grpId="0" autoUpdateAnimBg="0"/>
      <p:bldP spid="141327" grpId="0" animBg="1"/>
      <p:bldP spid="141328" grpId="0" animBg="1"/>
      <p:bldP spid="141329" grpId="0" autoUpdateAnimBg="0"/>
      <p:bldP spid="141330" grpId="0" autoUpdateAnimBg="0"/>
      <p:bldP spid="141331" grpId="0" autoUpdateAnimBg="0"/>
      <p:bldP spid="141332" grpId="0" autoUpdateAnimBg="0"/>
      <p:bldP spid="141346" grpId="0" animBg="1"/>
      <p:bldP spid="141347" grpId="0" build="p" autoUpdateAnimBg="0" advAuto="0"/>
      <p:bldP spid="141348" grpId="0" autoUpdateAnimBg="0"/>
      <p:bldP spid="141349" grpId="0" autoUpdateAnimBg="0"/>
      <p:bldP spid="141350" grpId="0" autoUpdateAnimBg="0"/>
      <p:bldP spid="141351" grpId="0" autoUpdateAnimBg="0"/>
      <p:bldP spid="141352" grpId="0" autoUpdateAnimBg="0"/>
      <p:bldP spid="141353" grpId="0" autoUpdateAnimBg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1F0E2279-D6E8-4E21-9DDB-951E83665480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4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60418" name="Line 2"/>
          <p:cNvSpPr>
            <a:spLocks noChangeShapeType="1"/>
          </p:cNvSpPr>
          <p:nvPr/>
        </p:nvSpPr>
        <p:spPr bwMode="auto">
          <a:xfrm flipV="1">
            <a:off x="5359400" y="3409950"/>
            <a:ext cx="248285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19" name="Line 3"/>
          <p:cNvSpPr>
            <a:spLocks noChangeShapeType="1"/>
          </p:cNvSpPr>
          <p:nvPr/>
        </p:nvSpPr>
        <p:spPr bwMode="auto">
          <a:xfrm flipV="1">
            <a:off x="5356225" y="2565400"/>
            <a:ext cx="2422525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20" name="Line 4"/>
          <p:cNvSpPr>
            <a:spLocks noChangeShapeType="1"/>
          </p:cNvSpPr>
          <p:nvPr/>
        </p:nvSpPr>
        <p:spPr bwMode="auto">
          <a:xfrm>
            <a:off x="5284788" y="3060700"/>
            <a:ext cx="2586037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21" name="Line 5"/>
          <p:cNvSpPr>
            <a:spLocks noChangeShapeType="1"/>
          </p:cNvSpPr>
          <p:nvPr/>
        </p:nvSpPr>
        <p:spPr bwMode="auto">
          <a:xfrm>
            <a:off x="5683250" y="2114550"/>
            <a:ext cx="0" cy="20955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46" name="AutoShape 30"/>
          <p:cNvSpPr>
            <a:spLocks noChangeArrowheads="1"/>
          </p:cNvSpPr>
          <p:nvPr/>
        </p:nvSpPr>
        <p:spPr bwMode="auto">
          <a:xfrm>
            <a:off x="6599238" y="2533650"/>
            <a:ext cx="69850" cy="69850"/>
          </a:xfrm>
          <a:prstGeom prst="flowChartConnector">
            <a:avLst/>
          </a:prstGeom>
          <a:solidFill>
            <a:srgbClr val="0033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60447" name="AutoShape 31"/>
          <p:cNvSpPr>
            <a:spLocks noChangeArrowheads="1"/>
          </p:cNvSpPr>
          <p:nvPr/>
        </p:nvSpPr>
        <p:spPr bwMode="auto">
          <a:xfrm>
            <a:off x="7272338" y="3024188"/>
            <a:ext cx="69850" cy="69850"/>
          </a:xfrm>
          <a:prstGeom prst="flowChartConnector">
            <a:avLst/>
          </a:prstGeom>
          <a:solidFill>
            <a:srgbClr val="0033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60450" name="AutoShape 34"/>
          <p:cNvSpPr>
            <a:spLocks noChangeArrowheads="1"/>
          </p:cNvSpPr>
          <p:nvPr/>
        </p:nvSpPr>
        <p:spPr bwMode="auto">
          <a:xfrm>
            <a:off x="5646738" y="3373438"/>
            <a:ext cx="69850" cy="69850"/>
          </a:xfrm>
          <a:prstGeom prst="flowChartConnector">
            <a:avLst/>
          </a:prstGeom>
          <a:solidFill>
            <a:srgbClr val="0033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2251075" y="1912938"/>
            <a:ext cx="5802313" cy="49450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60423" name="Freeform 7"/>
          <p:cNvSpPr>
            <a:spLocks/>
          </p:cNvSpPr>
          <p:nvPr/>
        </p:nvSpPr>
        <p:spPr bwMode="auto">
          <a:xfrm>
            <a:off x="2654300" y="2571750"/>
            <a:ext cx="2228850" cy="838200"/>
          </a:xfrm>
          <a:custGeom>
            <a:avLst/>
            <a:gdLst>
              <a:gd name="T0" fmla="*/ 2147483647 w 1452"/>
              <a:gd name="T1" fmla="*/ 2147483647 h 840"/>
              <a:gd name="T2" fmla="*/ 0 w 1452"/>
              <a:gd name="T3" fmla="*/ 0 h 840"/>
              <a:gd name="T4" fmla="*/ 2147483647 w 1452"/>
              <a:gd name="T5" fmla="*/ 2147483647 h 840"/>
              <a:gd name="T6" fmla="*/ 2147483647 w 1452"/>
              <a:gd name="T7" fmla="*/ 2147483647 h 840"/>
              <a:gd name="T8" fmla="*/ 0 60000 65536"/>
              <a:gd name="T9" fmla="*/ 0 60000 65536"/>
              <a:gd name="T10" fmla="*/ 0 60000 65536"/>
              <a:gd name="T11" fmla="*/ 0 60000 65536"/>
              <a:gd name="T12" fmla="*/ 0 w 1452"/>
              <a:gd name="T13" fmla="*/ 0 h 840"/>
              <a:gd name="T14" fmla="*/ 1452 w 1452"/>
              <a:gd name="T15" fmla="*/ 840 h 8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52" h="840">
                <a:moveTo>
                  <a:pt x="552" y="840"/>
                </a:moveTo>
                <a:lnTo>
                  <a:pt x="0" y="0"/>
                </a:lnTo>
                <a:lnTo>
                  <a:pt x="1452" y="492"/>
                </a:lnTo>
                <a:lnTo>
                  <a:pt x="552" y="84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24" name="Freeform 8"/>
          <p:cNvSpPr>
            <a:spLocks/>
          </p:cNvSpPr>
          <p:nvPr/>
        </p:nvSpPr>
        <p:spPr bwMode="auto">
          <a:xfrm flipV="1">
            <a:off x="2654300" y="4351338"/>
            <a:ext cx="2228850" cy="1631950"/>
          </a:xfrm>
          <a:custGeom>
            <a:avLst/>
            <a:gdLst>
              <a:gd name="T0" fmla="*/ 0 w 1404"/>
              <a:gd name="T1" fmla="*/ 2147483647 h 1032"/>
              <a:gd name="T2" fmla="*/ 2147483647 w 1404"/>
              <a:gd name="T3" fmla="*/ 2147483647 h 1032"/>
              <a:gd name="T4" fmla="*/ 2147483647 w 1404"/>
              <a:gd name="T5" fmla="*/ 0 h 1032"/>
              <a:gd name="T6" fmla="*/ 0 w 1404"/>
              <a:gd name="T7" fmla="*/ 2147483647 h 1032"/>
              <a:gd name="T8" fmla="*/ 0 60000 65536"/>
              <a:gd name="T9" fmla="*/ 0 60000 65536"/>
              <a:gd name="T10" fmla="*/ 0 60000 65536"/>
              <a:gd name="T11" fmla="*/ 0 60000 65536"/>
              <a:gd name="T12" fmla="*/ 0 w 1404"/>
              <a:gd name="T13" fmla="*/ 0 h 1032"/>
              <a:gd name="T14" fmla="*/ 1404 w 1404"/>
              <a:gd name="T15" fmla="*/ 1032 h 10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04" h="1032">
                <a:moveTo>
                  <a:pt x="0" y="432"/>
                </a:moveTo>
                <a:lnTo>
                  <a:pt x="528" y="1032"/>
                </a:lnTo>
                <a:lnTo>
                  <a:pt x="1404" y="0"/>
                </a:lnTo>
                <a:lnTo>
                  <a:pt x="0" y="432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25" name="Text Box 9"/>
          <p:cNvSpPr txBox="1">
            <a:spLocks noChangeArrowheads="1"/>
          </p:cNvSpPr>
          <p:nvPr/>
        </p:nvSpPr>
        <p:spPr bwMode="auto">
          <a:xfrm>
            <a:off x="2100263" y="2246313"/>
            <a:ext cx="727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a’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60426" name="Text Box 10"/>
          <p:cNvSpPr txBox="1">
            <a:spLocks noChangeArrowheads="1"/>
          </p:cNvSpPr>
          <p:nvPr/>
        </p:nvSpPr>
        <p:spPr bwMode="auto">
          <a:xfrm>
            <a:off x="2306638" y="5195888"/>
            <a:ext cx="520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60427" name="Text Box 11"/>
          <p:cNvSpPr txBox="1">
            <a:spLocks noChangeArrowheads="1"/>
          </p:cNvSpPr>
          <p:nvPr/>
        </p:nvSpPr>
        <p:spPr bwMode="auto">
          <a:xfrm>
            <a:off x="3005138" y="3373438"/>
            <a:ext cx="746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’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60428" name="Text Box 12"/>
          <p:cNvSpPr txBox="1">
            <a:spLocks noChangeArrowheads="1"/>
          </p:cNvSpPr>
          <p:nvPr/>
        </p:nvSpPr>
        <p:spPr bwMode="auto">
          <a:xfrm>
            <a:off x="3105150" y="4064000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60429" name="Text Box 13"/>
          <p:cNvSpPr txBox="1">
            <a:spLocks noChangeArrowheads="1"/>
          </p:cNvSpPr>
          <p:nvPr/>
        </p:nvSpPr>
        <p:spPr bwMode="auto">
          <a:xfrm>
            <a:off x="6324600" y="2187575"/>
            <a:ext cx="844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a”</a:t>
            </a:r>
          </a:p>
        </p:txBody>
      </p:sp>
      <p:sp>
        <p:nvSpPr>
          <p:cNvPr id="60430" name="Text Box 14"/>
          <p:cNvSpPr txBox="1">
            <a:spLocks noChangeArrowheads="1"/>
          </p:cNvSpPr>
          <p:nvPr/>
        </p:nvSpPr>
        <p:spPr bwMode="auto">
          <a:xfrm>
            <a:off x="5129213" y="3395663"/>
            <a:ext cx="587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</a:t>
            </a:r>
          </a:p>
        </p:txBody>
      </p:sp>
      <p:sp>
        <p:nvSpPr>
          <p:cNvPr id="60431" name="Text Box 15"/>
          <p:cNvSpPr txBox="1">
            <a:spLocks noChangeArrowheads="1"/>
          </p:cNvSpPr>
          <p:nvPr/>
        </p:nvSpPr>
        <p:spPr bwMode="auto">
          <a:xfrm>
            <a:off x="7113588" y="2663825"/>
            <a:ext cx="7572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c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</a:t>
            </a:r>
          </a:p>
        </p:txBody>
      </p:sp>
      <p:sp>
        <p:nvSpPr>
          <p:cNvPr id="60432" name="Text Box 16"/>
          <p:cNvSpPr txBox="1">
            <a:spLocks noChangeArrowheads="1"/>
          </p:cNvSpPr>
          <p:nvPr/>
        </p:nvSpPr>
        <p:spPr bwMode="auto">
          <a:xfrm>
            <a:off x="4729163" y="2744788"/>
            <a:ext cx="555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c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60433" name="Text Box 17"/>
          <p:cNvSpPr txBox="1">
            <a:spLocks noChangeArrowheads="1"/>
          </p:cNvSpPr>
          <p:nvPr/>
        </p:nvSpPr>
        <p:spPr bwMode="auto">
          <a:xfrm>
            <a:off x="4672013" y="5856288"/>
            <a:ext cx="555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c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22550" name="Rectangle 18"/>
          <p:cNvSpPr>
            <a:spLocks noChangeArrowheads="1"/>
          </p:cNvSpPr>
          <p:nvPr/>
        </p:nvSpPr>
        <p:spPr bwMode="auto">
          <a:xfrm>
            <a:off x="338138" y="324168"/>
            <a:ext cx="8805862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3.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无轴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投影 （</a:t>
            </a:r>
            <a:r>
              <a:rPr lang="zh-CN" altLang="en-US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自学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）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0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   只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强调形状、大小，不考虑其相对于投影面的位置。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   做图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时，利用几何元素之间的相互位置关系。</a:t>
            </a:r>
          </a:p>
        </p:txBody>
      </p:sp>
      <p:sp>
        <p:nvSpPr>
          <p:cNvPr id="60436" name="Line 20"/>
          <p:cNvSpPr>
            <a:spLocks noChangeShapeType="1"/>
          </p:cNvSpPr>
          <p:nvPr/>
        </p:nvSpPr>
        <p:spPr bwMode="auto">
          <a:xfrm flipH="1">
            <a:off x="2654300" y="4349750"/>
            <a:ext cx="84455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37" name="Line 21"/>
          <p:cNvSpPr>
            <a:spLocks noChangeShapeType="1"/>
          </p:cNvSpPr>
          <p:nvPr/>
        </p:nvSpPr>
        <p:spPr bwMode="auto">
          <a:xfrm>
            <a:off x="3498850" y="4348163"/>
            <a:ext cx="138430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40" name="Line 24"/>
          <p:cNvSpPr>
            <a:spLocks noChangeShapeType="1"/>
          </p:cNvSpPr>
          <p:nvPr/>
        </p:nvSpPr>
        <p:spPr bwMode="auto">
          <a:xfrm>
            <a:off x="5353050" y="2565400"/>
            <a:ext cx="127000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41" name="Line 25"/>
          <p:cNvSpPr>
            <a:spLocks noChangeShapeType="1"/>
          </p:cNvSpPr>
          <p:nvPr/>
        </p:nvSpPr>
        <p:spPr bwMode="auto">
          <a:xfrm>
            <a:off x="5365750" y="3060700"/>
            <a:ext cx="193675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42" name="Line 26"/>
          <p:cNvSpPr>
            <a:spLocks noChangeShapeType="1"/>
          </p:cNvSpPr>
          <p:nvPr/>
        </p:nvSpPr>
        <p:spPr bwMode="auto">
          <a:xfrm>
            <a:off x="5359400" y="3409950"/>
            <a:ext cx="320675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43" name="Line 27"/>
          <p:cNvSpPr>
            <a:spLocks noChangeShapeType="1"/>
          </p:cNvSpPr>
          <p:nvPr/>
        </p:nvSpPr>
        <p:spPr bwMode="auto">
          <a:xfrm>
            <a:off x="2673350" y="2565400"/>
            <a:ext cx="2697163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44" name="Line 28"/>
          <p:cNvSpPr>
            <a:spLocks noChangeShapeType="1"/>
          </p:cNvSpPr>
          <p:nvPr/>
        </p:nvSpPr>
        <p:spPr bwMode="auto">
          <a:xfrm>
            <a:off x="4887913" y="3060700"/>
            <a:ext cx="48260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45" name="Line 29"/>
          <p:cNvSpPr>
            <a:spLocks noChangeShapeType="1"/>
          </p:cNvSpPr>
          <p:nvPr/>
        </p:nvSpPr>
        <p:spPr bwMode="auto">
          <a:xfrm flipV="1">
            <a:off x="3503613" y="3409950"/>
            <a:ext cx="1866900" cy="1588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48" name="Text Box 32"/>
          <p:cNvSpPr txBox="1">
            <a:spLocks noChangeArrowheads="1"/>
          </p:cNvSpPr>
          <p:nvPr/>
        </p:nvSpPr>
        <p:spPr bwMode="auto">
          <a:xfrm>
            <a:off x="6415088" y="3805238"/>
            <a:ext cx="2363787" cy="2073275"/>
          </a:xfrm>
          <a:prstGeom prst="rect">
            <a:avLst/>
          </a:prstGeom>
          <a:solidFill>
            <a:srgbClr val="CCCCFF"/>
          </a:solidFill>
          <a:ln w="9525">
            <a:solidFill>
              <a:srgbClr val="3333CC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注意：</a:t>
            </a:r>
          </a:p>
          <a:p>
            <a:pPr eaLnBrk="1" hangingPunct="1"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几何元素间的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方位关系</a:t>
            </a:r>
          </a:p>
          <a:p>
            <a:pPr eaLnBrk="1" hangingPunct="1"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几何元素间的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度量关系</a:t>
            </a:r>
          </a:p>
        </p:txBody>
      </p:sp>
      <p:sp>
        <p:nvSpPr>
          <p:cNvPr id="60449" name="Line 33"/>
          <p:cNvSpPr>
            <a:spLocks noChangeShapeType="1"/>
          </p:cNvSpPr>
          <p:nvPr/>
        </p:nvSpPr>
        <p:spPr bwMode="auto">
          <a:xfrm rot="5400000">
            <a:off x="6157913" y="2098675"/>
            <a:ext cx="0" cy="9461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52" name="Line 36"/>
          <p:cNvSpPr>
            <a:spLocks noChangeShapeType="1"/>
          </p:cNvSpPr>
          <p:nvPr/>
        </p:nvSpPr>
        <p:spPr bwMode="auto">
          <a:xfrm>
            <a:off x="2654300" y="4349750"/>
            <a:ext cx="0" cy="94615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55" name="Line 39"/>
          <p:cNvSpPr>
            <a:spLocks noChangeShapeType="1"/>
          </p:cNvSpPr>
          <p:nvPr/>
        </p:nvSpPr>
        <p:spPr bwMode="auto">
          <a:xfrm>
            <a:off x="4886325" y="4343400"/>
            <a:ext cx="0" cy="163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60" name="Line 44"/>
          <p:cNvSpPr>
            <a:spLocks noChangeShapeType="1"/>
          </p:cNvSpPr>
          <p:nvPr/>
        </p:nvSpPr>
        <p:spPr bwMode="auto">
          <a:xfrm>
            <a:off x="5683250" y="2571750"/>
            <a:ext cx="0" cy="8382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35" name="Line 19"/>
          <p:cNvSpPr>
            <a:spLocks noChangeShapeType="1"/>
          </p:cNvSpPr>
          <p:nvPr/>
        </p:nvSpPr>
        <p:spPr bwMode="auto">
          <a:xfrm>
            <a:off x="2654300" y="4349750"/>
            <a:ext cx="0" cy="9461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53" name="Line 37"/>
          <p:cNvSpPr>
            <a:spLocks noChangeShapeType="1"/>
          </p:cNvSpPr>
          <p:nvPr/>
        </p:nvSpPr>
        <p:spPr bwMode="auto">
          <a:xfrm>
            <a:off x="2620963" y="4791075"/>
            <a:ext cx="61912" cy="66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38" name="Line 22"/>
          <p:cNvSpPr>
            <a:spLocks noChangeShapeType="1"/>
          </p:cNvSpPr>
          <p:nvPr/>
        </p:nvSpPr>
        <p:spPr bwMode="auto">
          <a:xfrm>
            <a:off x="4883150" y="4344988"/>
            <a:ext cx="0" cy="16319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56" name="Line 40"/>
          <p:cNvSpPr>
            <a:spLocks noChangeShapeType="1"/>
          </p:cNvSpPr>
          <p:nvPr/>
        </p:nvSpPr>
        <p:spPr bwMode="auto">
          <a:xfrm>
            <a:off x="4840288" y="4995863"/>
            <a:ext cx="76200" cy="5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57" name="Line 41"/>
          <p:cNvSpPr>
            <a:spLocks noChangeShapeType="1"/>
          </p:cNvSpPr>
          <p:nvPr/>
        </p:nvSpPr>
        <p:spPr bwMode="auto">
          <a:xfrm>
            <a:off x="4835525" y="5038725"/>
            <a:ext cx="71438" cy="52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39" name="Line 23"/>
          <p:cNvSpPr>
            <a:spLocks noChangeShapeType="1"/>
          </p:cNvSpPr>
          <p:nvPr/>
        </p:nvSpPr>
        <p:spPr bwMode="auto">
          <a:xfrm rot="5400000">
            <a:off x="6500813" y="2244725"/>
            <a:ext cx="0" cy="16319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58" name="Line 42"/>
          <p:cNvSpPr>
            <a:spLocks noChangeShapeType="1"/>
          </p:cNvSpPr>
          <p:nvPr/>
        </p:nvSpPr>
        <p:spPr bwMode="auto">
          <a:xfrm>
            <a:off x="6450013" y="3014663"/>
            <a:ext cx="52387" cy="71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59" name="Line 43"/>
          <p:cNvSpPr>
            <a:spLocks noChangeShapeType="1"/>
          </p:cNvSpPr>
          <p:nvPr/>
        </p:nvSpPr>
        <p:spPr bwMode="auto">
          <a:xfrm>
            <a:off x="6402388" y="3019425"/>
            <a:ext cx="52387" cy="714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572" name="Text Box 45"/>
          <p:cNvSpPr txBox="1">
            <a:spLocks noChangeArrowheads="1"/>
          </p:cNvSpPr>
          <p:nvPr/>
        </p:nvSpPr>
        <p:spPr bwMode="auto">
          <a:xfrm>
            <a:off x="5607050" y="10318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/>
          </a:p>
        </p:txBody>
      </p:sp>
      <p:sp>
        <p:nvSpPr>
          <p:cNvPr id="60462" name="Rectangle 46"/>
          <p:cNvSpPr>
            <a:spLocks noChangeArrowheads="1"/>
          </p:cNvSpPr>
          <p:nvPr/>
        </p:nvSpPr>
        <p:spPr bwMode="auto">
          <a:xfrm>
            <a:off x="307975" y="2289175"/>
            <a:ext cx="2012950" cy="118745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例：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完成△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ABC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的侧面投影。</a:t>
            </a:r>
          </a:p>
        </p:txBody>
      </p:sp>
      <p:sp>
        <p:nvSpPr>
          <p:cNvPr id="60451" name="Freeform 35"/>
          <p:cNvSpPr>
            <a:spLocks/>
          </p:cNvSpPr>
          <p:nvPr/>
        </p:nvSpPr>
        <p:spPr bwMode="auto">
          <a:xfrm>
            <a:off x="5683250" y="2571750"/>
            <a:ext cx="1628775" cy="838200"/>
          </a:xfrm>
          <a:custGeom>
            <a:avLst/>
            <a:gdLst>
              <a:gd name="T0" fmla="*/ 2147483647 w 1026"/>
              <a:gd name="T1" fmla="*/ 2147483647 h 528"/>
              <a:gd name="T2" fmla="*/ 2147483647 w 1026"/>
              <a:gd name="T3" fmla="*/ 0 h 528"/>
              <a:gd name="T4" fmla="*/ 0 w 1026"/>
              <a:gd name="T5" fmla="*/ 2147483647 h 528"/>
              <a:gd name="T6" fmla="*/ 2147483647 w 1026"/>
              <a:gd name="T7" fmla="*/ 2147483647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1026"/>
              <a:gd name="T13" fmla="*/ 0 h 528"/>
              <a:gd name="T14" fmla="*/ 1026 w 1026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26" h="528">
                <a:moveTo>
                  <a:pt x="1026" y="306"/>
                </a:moveTo>
                <a:lnTo>
                  <a:pt x="600" y="0"/>
                </a:lnTo>
                <a:lnTo>
                  <a:pt x="0" y="528"/>
                </a:lnTo>
                <a:lnTo>
                  <a:pt x="1026" y="306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64" name="Line 48"/>
          <p:cNvSpPr>
            <a:spLocks noChangeShapeType="1"/>
          </p:cNvSpPr>
          <p:nvPr/>
        </p:nvSpPr>
        <p:spPr bwMode="auto">
          <a:xfrm>
            <a:off x="6040438" y="2543175"/>
            <a:ext cx="61912" cy="66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" name="右箭头 1">
            <a:hlinkClick r:id="rId2" action="ppaction://hlinksldjump"/>
          </p:cNvPr>
          <p:cNvSpPr/>
          <p:nvPr/>
        </p:nvSpPr>
        <p:spPr bwMode="auto">
          <a:xfrm>
            <a:off x="4566047" y="376326"/>
            <a:ext cx="681831" cy="36812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0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0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604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04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5"/>
                                            </p:cond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604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5"/>
                                            </p:cond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60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60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 animBg="1"/>
      <p:bldP spid="60419" grpId="0" animBg="1"/>
      <p:bldP spid="60420" grpId="0" animBg="1"/>
      <p:bldP spid="60421" grpId="0" animBg="1"/>
      <p:bldP spid="60446" grpId="0" animBg="1" autoUpdateAnimBg="0"/>
      <p:bldP spid="60447" grpId="0" animBg="1" autoUpdateAnimBg="0"/>
      <p:bldP spid="60450" grpId="0" animBg="1" autoUpdateAnimBg="0"/>
      <p:bldP spid="60422" grpId="0" animBg="1"/>
      <p:bldP spid="60423" grpId="0" animBg="1"/>
      <p:bldP spid="60424" grpId="0" animBg="1"/>
      <p:bldP spid="60425" grpId="0" autoUpdateAnimBg="0"/>
      <p:bldP spid="60426" grpId="0" autoUpdateAnimBg="0"/>
      <p:bldP spid="60427" grpId="0" autoUpdateAnimBg="0"/>
      <p:bldP spid="60428" grpId="0" autoUpdateAnimBg="0"/>
      <p:bldP spid="60429" grpId="0" autoUpdateAnimBg="0"/>
      <p:bldP spid="60430" grpId="0" autoUpdateAnimBg="0"/>
      <p:bldP spid="60431" grpId="0" autoUpdateAnimBg="0"/>
      <p:bldP spid="60432" grpId="0" autoUpdateAnimBg="0"/>
      <p:bldP spid="60433" grpId="0" autoUpdateAnimBg="0"/>
      <p:bldP spid="60436" grpId="0" animBg="1"/>
      <p:bldP spid="60437" grpId="0" animBg="1"/>
      <p:bldP spid="60440" grpId="0" animBg="1"/>
      <p:bldP spid="60441" grpId="0" animBg="1"/>
      <p:bldP spid="60442" grpId="0" animBg="1"/>
      <p:bldP spid="60443" grpId="0" animBg="1"/>
      <p:bldP spid="60444" grpId="0" animBg="1"/>
      <p:bldP spid="60445" grpId="0" animBg="1"/>
      <p:bldP spid="60448" grpId="0" animBg="1" autoUpdateAnimBg="0"/>
      <p:bldP spid="60449" grpId="0" animBg="1"/>
      <p:bldP spid="60452" grpId="0" animBg="1"/>
      <p:bldP spid="60455" grpId="0" animBg="1"/>
      <p:bldP spid="60460" grpId="0" animBg="1"/>
      <p:bldP spid="60435" grpId="0" animBg="1"/>
      <p:bldP spid="60453" grpId="0" animBg="1"/>
      <p:bldP spid="60438" grpId="0" animBg="1"/>
      <p:bldP spid="60456" grpId="0" animBg="1"/>
      <p:bldP spid="60457" grpId="0" animBg="1"/>
      <p:bldP spid="60439" grpId="0" animBg="1"/>
      <p:bldP spid="60458" grpId="0" animBg="1"/>
      <p:bldP spid="60459" grpId="0" animBg="1"/>
      <p:bldP spid="60462" grpId="0" animBg="1" autoUpdateAnimBg="0"/>
      <p:bldP spid="60451" grpId="0" animBg="1"/>
      <p:bldP spid="6046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0902F0DC-6912-4E20-9231-1D6F8CD1344B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338138" y="295275"/>
            <a:ext cx="7407275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latin typeface="黑体" pitchFamily="2" charset="-122"/>
                <a:ea typeface="黑体" pitchFamily="2" charset="-122"/>
              </a:rPr>
              <a:t>二</a:t>
            </a:r>
            <a:r>
              <a:rPr lang="en-US" altLang="zh-CN" sz="3600">
                <a:latin typeface="黑体" pitchFamily="2" charset="-122"/>
                <a:ea typeface="黑体" pitchFamily="2" charset="-122"/>
              </a:rPr>
              <a:t>. </a:t>
            </a:r>
            <a:r>
              <a:rPr lang="zh-CN" altLang="en-US" sz="3600">
                <a:latin typeface="黑体" pitchFamily="2" charset="-122"/>
                <a:ea typeface="黑体" pitchFamily="2" charset="-122"/>
              </a:rPr>
              <a:t>平面的投影特性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平面在单一投影面上的投影特性</a:t>
            </a:r>
            <a:endParaRPr lang="zh-CN" altLang="en-US" b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679450" y="1781175"/>
            <a:ext cx="7550150" cy="2911475"/>
            <a:chOff x="442" y="1142"/>
            <a:chExt cx="4756" cy="1834"/>
          </a:xfrm>
        </p:grpSpPr>
        <p:sp>
          <p:nvSpPr>
            <p:cNvPr id="23570" name="AutoShape 26"/>
            <p:cNvSpPr>
              <a:spLocks noChangeArrowheads="1"/>
            </p:cNvSpPr>
            <p:nvPr/>
          </p:nvSpPr>
          <p:spPr bwMode="auto">
            <a:xfrm>
              <a:off x="442" y="2059"/>
              <a:ext cx="4756" cy="880"/>
            </a:xfrm>
            <a:prstGeom prst="parallelogram">
              <a:avLst>
                <a:gd name="adj" fmla="val 123429"/>
              </a:avLst>
            </a:prstGeom>
            <a:solidFill>
              <a:srgbClr val="CCECFF"/>
            </a:solidFill>
            <a:ln w="38100">
              <a:solidFill>
                <a:srgbClr val="0033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3571" name="Line 27"/>
            <p:cNvSpPr>
              <a:spLocks noChangeShapeType="1"/>
            </p:cNvSpPr>
            <p:nvPr/>
          </p:nvSpPr>
          <p:spPr bwMode="auto">
            <a:xfrm>
              <a:off x="4057" y="1171"/>
              <a:ext cx="0" cy="1105"/>
            </a:xfrm>
            <a:prstGeom prst="line">
              <a:avLst/>
            </a:prstGeom>
            <a:noFill/>
            <a:ln w="12700">
              <a:solidFill>
                <a:srgbClr val="66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2" name="Line 28"/>
            <p:cNvSpPr>
              <a:spLocks noChangeShapeType="1"/>
            </p:cNvSpPr>
            <p:nvPr/>
          </p:nvSpPr>
          <p:spPr bwMode="auto">
            <a:xfrm flipV="1">
              <a:off x="2601" y="2553"/>
              <a:ext cx="799" cy="160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3" name="Line 29"/>
            <p:cNvSpPr>
              <a:spLocks noChangeShapeType="1"/>
            </p:cNvSpPr>
            <p:nvPr/>
          </p:nvSpPr>
          <p:spPr bwMode="auto">
            <a:xfrm flipV="1">
              <a:off x="1148" y="1694"/>
              <a:ext cx="0" cy="942"/>
            </a:xfrm>
            <a:prstGeom prst="line">
              <a:avLst/>
            </a:prstGeom>
            <a:noFill/>
            <a:ln w="12700">
              <a:solidFill>
                <a:srgbClr val="66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4" name="Line 30"/>
            <p:cNvSpPr>
              <a:spLocks noChangeShapeType="1"/>
            </p:cNvSpPr>
            <p:nvPr/>
          </p:nvSpPr>
          <p:spPr bwMode="auto">
            <a:xfrm flipV="1">
              <a:off x="2391" y="1475"/>
              <a:ext cx="0" cy="900"/>
            </a:xfrm>
            <a:prstGeom prst="line">
              <a:avLst/>
            </a:prstGeom>
            <a:noFill/>
            <a:ln w="12700">
              <a:solidFill>
                <a:srgbClr val="66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5" name="Line 31"/>
            <p:cNvSpPr>
              <a:spLocks noChangeShapeType="1"/>
            </p:cNvSpPr>
            <p:nvPr/>
          </p:nvSpPr>
          <p:spPr bwMode="auto">
            <a:xfrm flipV="1">
              <a:off x="1685" y="1266"/>
              <a:ext cx="0" cy="890"/>
            </a:xfrm>
            <a:prstGeom prst="line">
              <a:avLst/>
            </a:prstGeom>
            <a:noFill/>
            <a:ln w="12700">
              <a:solidFill>
                <a:srgbClr val="66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6" name="Freeform 32"/>
            <p:cNvSpPr>
              <a:spLocks/>
            </p:cNvSpPr>
            <p:nvPr/>
          </p:nvSpPr>
          <p:spPr bwMode="auto">
            <a:xfrm>
              <a:off x="1127" y="1244"/>
              <a:ext cx="1265" cy="494"/>
            </a:xfrm>
            <a:custGeom>
              <a:avLst/>
              <a:gdLst>
                <a:gd name="T0" fmla="*/ 553 w 1265"/>
                <a:gd name="T1" fmla="*/ 0 h 494"/>
                <a:gd name="T2" fmla="*/ 0 w 1265"/>
                <a:gd name="T3" fmla="*/ 494 h 494"/>
                <a:gd name="T4" fmla="*/ 1265 w 1265"/>
                <a:gd name="T5" fmla="*/ 218 h 494"/>
                <a:gd name="T6" fmla="*/ 553 w 1265"/>
                <a:gd name="T7" fmla="*/ 0 h 4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65"/>
                <a:gd name="T13" fmla="*/ 0 h 494"/>
                <a:gd name="T14" fmla="*/ 1265 w 1265"/>
                <a:gd name="T15" fmla="*/ 494 h 4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65" h="494">
                  <a:moveTo>
                    <a:pt x="553" y="0"/>
                  </a:moveTo>
                  <a:lnTo>
                    <a:pt x="0" y="494"/>
                  </a:lnTo>
                  <a:lnTo>
                    <a:pt x="1265" y="218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99FFCC">
                <a:alpha val="50195"/>
              </a:srgbClr>
            </a:solidFill>
            <a:ln w="28575" cmpd="sng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7" name="Freeform 33"/>
            <p:cNvSpPr>
              <a:spLocks/>
            </p:cNvSpPr>
            <p:nvPr/>
          </p:nvSpPr>
          <p:spPr bwMode="auto">
            <a:xfrm>
              <a:off x="1143" y="2155"/>
              <a:ext cx="1265" cy="494"/>
            </a:xfrm>
            <a:custGeom>
              <a:avLst/>
              <a:gdLst>
                <a:gd name="T0" fmla="*/ 553 w 1265"/>
                <a:gd name="T1" fmla="*/ 0 h 494"/>
                <a:gd name="T2" fmla="*/ 0 w 1265"/>
                <a:gd name="T3" fmla="*/ 494 h 494"/>
                <a:gd name="T4" fmla="*/ 1265 w 1265"/>
                <a:gd name="T5" fmla="*/ 218 h 494"/>
                <a:gd name="T6" fmla="*/ 553 w 1265"/>
                <a:gd name="T7" fmla="*/ 0 h 4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65"/>
                <a:gd name="T13" fmla="*/ 0 h 494"/>
                <a:gd name="T14" fmla="*/ 1265 w 1265"/>
                <a:gd name="T15" fmla="*/ 494 h 4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65" h="494">
                  <a:moveTo>
                    <a:pt x="553" y="0"/>
                  </a:moveTo>
                  <a:lnTo>
                    <a:pt x="0" y="494"/>
                  </a:lnTo>
                  <a:lnTo>
                    <a:pt x="1265" y="218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8100" cmpd="sng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8" name="Line 34"/>
            <p:cNvSpPr>
              <a:spLocks noChangeShapeType="1"/>
            </p:cNvSpPr>
            <p:nvPr/>
          </p:nvSpPr>
          <p:spPr bwMode="auto">
            <a:xfrm>
              <a:off x="2613" y="1986"/>
              <a:ext cx="0" cy="731"/>
            </a:xfrm>
            <a:prstGeom prst="line">
              <a:avLst/>
            </a:prstGeom>
            <a:noFill/>
            <a:ln w="12700">
              <a:solidFill>
                <a:srgbClr val="66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9" name="Line 35"/>
            <p:cNvSpPr>
              <a:spLocks noChangeShapeType="1"/>
            </p:cNvSpPr>
            <p:nvPr/>
          </p:nvSpPr>
          <p:spPr bwMode="auto">
            <a:xfrm>
              <a:off x="2850" y="1143"/>
              <a:ext cx="0" cy="1512"/>
            </a:xfrm>
            <a:prstGeom prst="line">
              <a:avLst/>
            </a:prstGeom>
            <a:noFill/>
            <a:ln w="12700">
              <a:solidFill>
                <a:srgbClr val="66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0" name="Line 36"/>
            <p:cNvSpPr>
              <a:spLocks noChangeShapeType="1"/>
            </p:cNvSpPr>
            <p:nvPr/>
          </p:nvSpPr>
          <p:spPr bwMode="auto">
            <a:xfrm>
              <a:off x="3384" y="1521"/>
              <a:ext cx="0" cy="1061"/>
            </a:xfrm>
            <a:prstGeom prst="line">
              <a:avLst/>
            </a:prstGeom>
            <a:noFill/>
            <a:ln w="12700">
              <a:solidFill>
                <a:srgbClr val="66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1" name="Freeform 37"/>
            <p:cNvSpPr>
              <a:spLocks/>
            </p:cNvSpPr>
            <p:nvPr/>
          </p:nvSpPr>
          <p:spPr bwMode="auto">
            <a:xfrm>
              <a:off x="3665" y="1186"/>
              <a:ext cx="1032" cy="582"/>
            </a:xfrm>
            <a:custGeom>
              <a:avLst/>
              <a:gdLst>
                <a:gd name="T0" fmla="*/ 392 w 1032"/>
                <a:gd name="T1" fmla="*/ 0 h 582"/>
                <a:gd name="T2" fmla="*/ 0 w 1032"/>
                <a:gd name="T3" fmla="*/ 582 h 582"/>
                <a:gd name="T4" fmla="*/ 1032 w 1032"/>
                <a:gd name="T5" fmla="*/ 465 h 582"/>
                <a:gd name="T6" fmla="*/ 392 w 1032"/>
                <a:gd name="T7" fmla="*/ 0 h 5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2"/>
                <a:gd name="T13" fmla="*/ 0 h 582"/>
                <a:gd name="T14" fmla="*/ 1032 w 1032"/>
                <a:gd name="T15" fmla="*/ 582 h 5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2" h="582">
                  <a:moveTo>
                    <a:pt x="392" y="0"/>
                  </a:moveTo>
                  <a:lnTo>
                    <a:pt x="0" y="582"/>
                  </a:lnTo>
                  <a:lnTo>
                    <a:pt x="1032" y="465"/>
                  </a:lnTo>
                  <a:lnTo>
                    <a:pt x="392" y="0"/>
                  </a:lnTo>
                  <a:close/>
                </a:path>
              </a:pathLst>
            </a:custGeom>
            <a:solidFill>
              <a:srgbClr val="99FFCC">
                <a:alpha val="50195"/>
              </a:srgbClr>
            </a:solidFill>
            <a:ln w="28575" cmpd="sng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2" name="Line 38"/>
            <p:cNvSpPr>
              <a:spLocks noChangeShapeType="1"/>
            </p:cNvSpPr>
            <p:nvPr/>
          </p:nvSpPr>
          <p:spPr bwMode="auto">
            <a:xfrm>
              <a:off x="3665" y="1753"/>
              <a:ext cx="0" cy="822"/>
            </a:xfrm>
            <a:prstGeom prst="line">
              <a:avLst/>
            </a:prstGeom>
            <a:noFill/>
            <a:ln w="12700">
              <a:solidFill>
                <a:srgbClr val="66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3" name="Line 39"/>
            <p:cNvSpPr>
              <a:spLocks noChangeShapeType="1"/>
            </p:cNvSpPr>
            <p:nvPr/>
          </p:nvSpPr>
          <p:spPr bwMode="auto">
            <a:xfrm>
              <a:off x="4683" y="1651"/>
              <a:ext cx="0" cy="698"/>
            </a:xfrm>
            <a:prstGeom prst="line">
              <a:avLst/>
            </a:prstGeom>
            <a:noFill/>
            <a:ln w="12700">
              <a:solidFill>
                <a:srgbClr val="66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4" name="Freeform 40"/>
            <p:cNvSpPr>
              <a:spLocks/>
            </p:cNvSpPr>
            <p:nvPr/>
          </p:nvSpPr>
          <p:spPr bwMode="auto">
            <a:xfrm>
              <a:off x="3672" y="2270"/>
              <a:ext cx="1011" cy="306"/>
            </a:xfrm>
            <a:custGeom>
              <a:avLst/>
              <a:gdLst>
                <a:gd name="T0" fmla="*/ 386 w 1011"/>
                <a:gd name="T1" fmla="*/ 0 h 306"/>
                <a:gd name="T2" fmla="*/ 0 w 1011"/>
                <a:gd name="T3" fmla="*/ 306 h 306"/>
                <a:gd name="T4" fmla="*/ 1011 w 1011"/>
                <a:gd name="T5" fmla="*/ 73 h 306"/>
                <a:gd name="T6" fmla="*/ 386 w 1011"/>
                <a:gd name="T7" fmla="*/ 0 h 3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1"/>
                <a:gd name="T13" fmla="*/ 0 h 306"/>
                <a:gd name="T14" fmla="*/ 1011 w 1011"/>
                <a:gd name="T15" fmla="*/ 306 h 3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1" h="306">
                  <a:moveTo>
                    <a:pt x="386" y="0"/>
                  </a:moveTo>
                  <a:lnTo>
                    <a:pt x="0" y="306"/>
                  </a:lnTo>
                  <a:lnTo>
                    <a:pt x="1011" y="73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8100" cmpd="sng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5" name="Text Box 41"/>
            <p:cNvSpPr txBox="1">
              <a:spLocks noChangeArrowheads="1"/>
            </p:cNvSpPr>
            <p:nvPr/>
          </p:nvSpPr>
          <p:spPr bwMode="auto">
            <a:xfrm>
              <a:off x="3927" y="2611"/>
              <a:ext cx="27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333399"/>
                  </a:solidFill>
                </a:rPr>
                <a:t>P</a:t>
              </a:r>
            </a:p>
          </p:txBody>
        </p:sp>
        <p:sp>
          <p:nvSpPr>
            <p:cNvPr id="23586" name="Freeform 42"/>
            <p:cNvSpPr>
              <a:spLocks/>
            </p:cNvSpPr>
            <p:nvPr/>
          </p:nvSpPr>
          <p:spPr bwMode="auto">
            <a:xfrm>
              <a:off x="2604" y="1142"/>
              <a:ext cx="785" cy="858"/>
            </a:xfrm>
            <a:custGeom>
              <a:avLst/>
              <a:gdLst>
                <a:gd name="T0" fmla="*/ 247 w 785"/>
                <a:gd name="T1" fmla="*/ 0 h 858"/>
                <a:gd name="T2" fmla="*/ 0 w 785"/>
                <a:gd name="T3" fmla="*/ 858 h 858"/>
                <a:gd name="T4" fmla="*/ 785 w 785"/>
                <a:gd name="T5" fmla="*/ 393 h 858"/>
                <a:gd name="T6" fmla="*/ 247 w 785"/>
                <a:gd name="T7" fmla="*/ 0 h 8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5"/>
                <a:gd name="T13" fmla="*/ 0 h 858"/>
                <a:gd name="T14" fmla="*/ 785 w 785"/>
                <a:gd name="T15" fmla="*/ 858 h 8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5" h="858">
                  <a:moveTo>
                    <a:pt x="247" y="0"/>
                  </a:moveTo>
                  <a:lnTo>
                    <a:pt x="0" y="858"/>
                  </a:lnTo>
                  <a:lnTo>
                    <a:pt x="785" y="393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99FFCC">
                <a:alpha val="50195"/>
              </a:srgbClr>
            </a:solidFill>
            <a:ln w="28575" cmpd="sng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1483" name="Text Box 43"/>
          <p:cNvSpPr txBox="1">
            <a:spLocks noChangeArrowheads="1"/>
          </p:cNvSpPr>
          <p:nvPr/>
        </p:nvSpPr>
        <p:spPr bwMode="auto">
          <a:xfrm>
            <a:off x="1150938" y="4872038"/>
            <a:ext cx="18510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Symbol" pitchFamily="18" charset="2"/>
              </a:rPr>
              <a:t>平面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Symbol" pitchFamily="18" charset="2"/>
              </a:rPr>
              <a:t>//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P</a:t>
            </a:r>
            <a:endParaRPr lang="en-US" altLang="zh-CN" sz="2800" b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1484" name="Text Box 44"/>
          <p:cNvSpPr txBox="1">
            <a:spLocks noChangeArrowheads="1"/>
          </p:cNvSpPr>
          <p:nvPr/>
        </p:nvSpPr>
        <p:spPr bwMode="auto">
          <a:xfrm>
            <a:off x="3741738" y="4916488"/>
            <a:ext cx="20970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Symbol" pitchFamily="18" charset="2"/>
              </a:rPr>
              <a:t>平面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Symbol" pitchFamily="18" charset="2"/>
              </a:rPr>
              <a:t>P</a:t>
            </a:r>
          </a:p>
        </p:txBody>
      </p:sp>
      <p:sp>
        <p:nvSpPr>
          <p:cNvPr id="61485" name="Rectangle 45"/>
          <p:cNvSpPr>
            <a:spLocks noChangeArrowheads="1"/>
          </p:cNvSpPr>
          <p:nvPr/>
        </p:nvSpPr>
        <p:spPr bwMode="auto">
          <a:xfrm>
            <a:off x="1084263" y="5403850"/>
            <a:ext cx="1612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反映实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黑体" pitchFamily="2" charset="-122"/>
              </a:rPr>
              <a:t>形</a:t>
            </a:r>
          </a:p>
        </p:txBody>
      </p:sp>
      <p:sp>
        <p:nvSpPr>
          <p:cNvPr id="61486" name="Rectangle 46"/>
          <p:cNvSpPr>
            <a:spLocks noChangeArrowheads="1"/>
          </p:cNvSpPr>
          <p:nvPr/>
        </p:nvSpPr>
        <p:spPr bwMode="auto">
          <a:xfrm>
            <a:off x="1212850" y="5857875"/>
            <a:ext cx="19415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实形性</a:t>
            </a:r>
          </a:p>
        </p:txBody>
      </p:sp>
      <p:sp>
        <p:nvSpPr>
          <p:cNvPr id="61487" name="Rectangle 47"/>
          <p:cNvSpPr>
            <a:spLocks noChangeArrowheads="1"/>
          </p:cNvSpPr>
          <p:nvPr/>
        </p:nvSpPr>
        <p:spPr bwMode="auto">
          <a:xfrm>
            <a:off x="3379788" y="5391150"/>
            <a:ext cx="28305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积聚成直线</a:t>
            </a:r>
          </a:p>
        </p:txBody>
      </p:sp>
      <p:sp>
        <p:nvSpPr>
          <p:cNvPr id="61488" name="Rectangle 48"/>
          <p:cNvSpPr>
            <a:spLocks noChangeArrowheads="1"/>
          </p:cNvSpPr>
          <p:nvPr/>
        </p:nvSpPr>
        <p:spPr bwMode="auto">
          <a:xfrm>
            <a:off x="3562350" y="5849938"/>
            <a:ext cx="20526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积聚性</a:t>
            </a:r>
          </a:p>
        </p:txBody>
      </p:sp>
      <p:sp>
        <p:nvSpPr>
          <p:cNvPr id="61489" name="Rectangle 49"/>
          <p:cNvSpPr>
            <a:spLocks noChangeArrowheads="1"/>
          </p:cNvSpPr>
          <p:nvPr/>
        </p:nvSpPr>
        <p:spPr bwMode="auto">
          <a:xfrm>
            <a:off x="6153150" y="5402263"/>
            <a:ext cx="2478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类似图形</a:t>
            </a:r>
          </a:p>
        </p:txBody>
      </p:sp>
      <p:sp>
        <p:nvSpPr>
          <p:cNvPr id="61490" name="Rectangle 50"/>
          <p:cNvSpPr>
            <a:spLocks noChangeArrowheads="1"/>
          </p:cNvSpPr>
          <p:nvPr/>
        </p:nvSpPr>
        <p:spPr bwMode="auto">
          <a:xfrm>
            <a:off x="6089650" y="5848350"/>
            <a:ext cx="24177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类似性</a:t>
            </a:r>
          </a:p>
        </p:txBody>
      </p:sp>
      <p:grpSp>
        <p:nvGrpSpPr>
          <p:cNvPr id="3" name="Group 56"/>
          <p:cNvGrpSpPr>
            <a:grpSpLocks/>
          </p:cNvGrpSpPr>
          <p:nvPr/>
        </p:nvGrpSpPr>
        <p:grpSpPr bwMode="auto">
          <a:xfrm>
            <a:off x="6210300" y="4914900"/>
            <a:ext cx="1468438" cy="519113"/>
            <a:chOff x="3912" y="3096"/>
            <a:chExt cx="925" cy="327"/>
          </a:xfrm>
        </p:grpSpPr>
        <p:sp>
          <p:nvSpPr>
            <p:cNvPr id="61492" name="Rectangle 52"/>
            <p:cNvSpPr>
              <a:spLocks noChangeArrowheads="1"/>
            </p:cNvSpPr>
            <p:nvPr/>
          </p:nvSpPr>
          <p:spPr bwMode="auto">
            <a:xfrm>
              <a:off x="3912" y="3096"/>
              <a:ext cx="92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lang="zh-CN" altLang="en-US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itchFamily="2" charset="-122"/>
                  <a:ea typeface="黑体" pitchFamily="2" charset="-122"/>
                  <a:sym typeface="Symbol" pitchFamily="18" charset="2"/>
                </a:rPr>
                <a:t>平面  </a:t>
              </a: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itchFamily="2" charset="-122"/>
                  <a:ea typeface="黑体" pitchFamily="2" charset="-122"/>
                  <a:sym typeface="Symbol" pitchFamily="18" charset="2"/>
                </a:rPr>
                <a:t>P</a:t>
              </a:r>
            </a:p>
          </p:txBody>
        </p:sp>
        <p:grpSp>
          <p:nvGrpSpPr>
            <p:cNvPr id="23567" name="Group 53"/>
            <p:cNvGrpSpPr>
              <a:grpSpLocks/>
            </p:cNvGrpSpPr>
            <p:nvPr/>
          </p:nvGrpSpPr>
          <p:grpSpPr bwMode="auto">
            <a:xfrm>
              <a:off x="4432" y="3183"/>
              <a:ext cx="210" cy="175"/>
              <a:chOff x="5203" y="233"/>
              <a:chExt cx="216" cy="156"/>
            </a:xfrm>
          </p:grpSpPr>
          <p:sp>
            <p:nvSpPr>
              <p:cNvPr id="23568" name="Line 54"/>
              <p:cNvSpPr>
                <a:spLocks noChangeShapeType="1"/>
              </p:cNvSpPr>
              <p:nvPr/>
            </p:nvSpPr>
            <p:spPr bwMode="auto">
              <a:xfrm flipH="1">
                <a:off x="5265" y="233"/>
                <a:ext cx="131" cy="1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69" name="Line 55"/>
              <p:cNvSpPr>
                <a:spLocks noChangeShapeType="1"/>
              </p:cNvSpPr>
              <p:nvPr/>
            </p:nvSpPr>
            <p:spPr bwMode="auto">
              <a:xfrm>
                <a:off x="5203" y="389"/>
                <a:ext cx="2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1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61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6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"/>
                                        <p:tgtEl>
                                          <p:spTgt spid="61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1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1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75"/>
                                        <p:tgtEl>
                                          <p:spTgt spid="61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1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1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3" grpId="0" build="p" autoUpdateAnimBg="0"/>
      <p:bldP spid="61484" grpId="0" build="p" autoUpdateAnimBg="0"/>
      <p:bldP spid="61485" grpId="0" build="p" autoUpdateAnimBg="0"/>
      <p:bldP spid="61486" grpId="0" autoUpdateAnimBg="0"/>
      <p:bldP spid="61487" grpId="0" build="p" autoUpdateAnimBg="0"/>
      <p:bldP spid="61488" grpId="0" autoUpdateAnimBg="0"/>
      <p:bldP spid="61489" grpId="0" build="p" autoUpdateAnimBg="0"/>
      <p:bldP spid="6149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DF44DFB7-2C82-41AD-BE16-3084844A1A51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6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62818" name="Rectangle 2"/>
          <p:cNvSpPr>
            <a:spLocks noChangeArrowheads="1"/>
          </p:cNvSpPr>
          <p:nvPr/>
        </p:nvSpPr>
        <p:spPr bwMode="auto">
          <a:xfrm>
            <a:off x="488950" y="1490663"/>
            <a:ext cx="8655050" cy="391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投影面平行面</a:t>
            </a:r>
          </a:p>
          <a:p>
            <a:pPr eaLnBrk="1" hangingPunct="1">
              <a:buClrTx/>
              <a:buFontTx/>
              <a:buNone/>
            </a:pPr>
            <a:endParaRPr lang="zh-CN" altLang="en-US" sz="2800">
              <a:latin typeface="黑体" pitchFamily="2" charset="-122"/>
              <a:ea typeface="黑体" pitchFamily="2" charset="-122"/>
            </a:endParaRPr>
          </a:p>
          <a:p>
            <a:pPr eaLnBrk="1" hangingPunct="1"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　  平行于某一个投影面的平面 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投影面平行面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。</a:t>
            </a:r>
          </a:p>
          <a:p>
            <a:pPr eaLnBrk="1" hangingPunct="1">
              <a:buClrTx/>
              <a:buFontTx/>
              <a:buNone/>
            </a:pPr>
            <a:endParaRPr lang="zh-CN" altLang="en-US" sz="2800">
              <a:latin typeface="黑体" pitchFamily="2" charset="-122"/>
              <a:ea typeface="黑体" pitchFamily="2" charset="-122"/>
            </a:endParaRPr>
          </a:p>
          <a:p>
            <a:pPr eaLnBrk="1" hangingPunct="1">
              <a:buClrTx/>
              <a:buFontTx/>
              <a:buNone/>
            </a:pPr>
            <a:endParaRPr lang="zh-CN" altLang="en-US" sz="280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平面平行于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H 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水平面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平面平行于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V 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正平面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80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平面平行于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W 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侧平面</a:t>
            </a:r>
          </a:p>
        </p:txBody>
      </p:sp>
      <p:sp>
        <p:nvSpPr>
          <p:cNvPr id="24580" name="Text Box 3"/>
          <p:cNvSpPr txBox="1">
            <a:spLocks noChangeArrowheads="1"/>
          </p:cNvSpPr>
          <p:nvPr/>
        </p:nvSpPr>
        <p:spPr bwMode="auto">
          <a:xfrm>
            <a:off x="530225" y="419100"/>
            <a:ext cx="67135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2 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平面在三投影面体系中的投影特性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2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2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2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2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162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72494" y="6304845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6B253589-03B6-4325-8263-901CFD502C25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7</a:t>
            </a:fld>
            <a:endParaRPr lang="en-US" altLang="zh-CN" sz="1400" dirty="0" smtClean="0">
              <a:solidFill>
                <a:schemeClr val="bg2"/>
              </a:solidFill>
            </a:endParaRPr>
          </a:p>
        </p:txBody>
      </p:sp>
      <p:sp>
        <p:nvSpPr>
          <p:cNvPr id="163842" name="AutoShape 2" descr="蓝色砂纸"/>
          <p:cNvSpPr>
            <a:spLocks noChangeArrowheads="1"/>
          </p:cNvSpPr>
          <p:nvPr/>
        </p:nvSpPr>
        <p:spPr bwMode="auto">
          <a:xfrm>
            <a:off x="4406900" y="2967034"/>
            <a:ext cx="1287463" cy="739775"/>
          </a:xfrm>
          <a:prstGeom prst="wedgeRoundRectCallout">
            <a:avLst>
              <a:gd name="adj1" fmla="val -121764"/>
              <a:gd name="adj2" fmla="val -65880"/>
              <a:gd name="adj3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ea typeface="隶书" pitchFamily="49" charset="-122"/>
            </a:endParaRPr>
          </a:p>
        </p:txBody>
      </p:sp>
      <p:sp>
        <p:nvSpPr>
          <p:cNvPr id="163843" name="Text Box 3"/>
          <p:cNvSpPr txBox="1">
            <a:spLocks noChangeArrowheads="1"/>
          </p:cNvSpPr>
          <p:nvPr/>
        </p:nvSpPr>
        <p:spPr bwMode="auto">
          <a:xfrm>
            <a:off x="4614863" y="2876546"/>
            <a:ext cx="7064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333399"/>
                </a:solidFill>
                <a:ea typeface="隶书" pitchFamily="49" charset="-122"/>
              </a:rPr>
              <a:t>// </a:t>
            </a:r>
            <a:r>
              <a:rPr lang="en-US" altLang="zh-CN" sz="2800" i="1">
                <a:solidFill>
                  <a:srgbClr val="333399"/>
                </a:solidFill>
                <a:ea typeface="隶书" pitchFamily="49" charset="-122"/>
              </a:rPr>
              <a:t>V</a:t>
            </a:r>
          </a:p>
        </p:txBody>
      </p:sp>
      <p:sp>
        <p:nvSpPr>
          <p:cNvPr id="163844" name="Rectangle 4"/>
          <p:cNvSpPr>
            <a:spLocks noChangeArrowheads="1"/>
          </p:cNvSpPr>
          <p:nvPr/>
        </p:nvSpPr>
        <p:spPr bwMode="auto">
          <a:xfrm>
            <a:off x="4419600" y="3240084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ea typeface="黑体" pitchFamily="2" charset="-122"/>
              </a:rPr>
              <a:t>正平面</a:t>
            </a:r>
          </a:p>
        </p:txBody>
      </p:sp>
      <p:sp>
        <p:nvSpPr>
          <p:cNvPr id="163845" name="AutoShape 5" descr="蓝色砂纸"/>
          <p:cNvSpPr>
            <a:spLocks noChangeArrowheads="1"/>
          </p:cNvSpPr>
          <p:nvPr/>
        </p:nvSpPr>
        <p:spPr bwMode="auto">
          <a:xfrm>
            <a:off x="6716713" y="2984496"/>
            <a:ext cx="1219200" cy="739775"/>
          </a:xfrm>
          <a:prstGeom prst="wedgeRoundRectCallout">
            <a:avLst>
              <a:gd name="adj1" fmla="val 61718"/>
              <a:gd name="adj2" fmla="val -67597"/>
              <a:gd name="adj3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ea typeface="隶书" pitchFamily="49" charset="-122"/>
            </a:endParaRPr>
          </a:p>
        </p:txBody>
      </p:sp>
      <p:sp>
        <p:nvSpPr>
          <p:cNvPr id="163846" name="AutoShape 6" descr="蓝色砂纸"/>
          <p:cNvSpPr>
            <a:spLocks noChangeArrowheads="1"/>
          </p:cNvSpPr>
          <p:nvPr/>
        </p:nvSpPr>
        <p:spPr bwMode="auto">
          <a:xfrm>
            <a:off x="4916489" y="4653661"/>
            <a:ext cx="1290637" cy="774700"/>
          </a:xfrm>
          <a:prstGeom prst="wedgeRoundRectCallout">
            <a:avLst>
              <a:gd name="adj1" fmla="val -104120"/>
              <a:gd name="adj2" fmla="val -75412"/>
              <a:gd name="adj3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ea typeface="隶书" pitchFamily="49" charset="-122"/>
            </a:endParaRPr>
          </a:p>
        </p:txBody>
      </p:sp>
      <p:sp>
        <p:nvSpPr>
          <p:cNvPr id="163847" name="Rectangle 7"/>
          <p:cNvSpPr>
            <a:spLocks noChangeArrowheads="1"/>
          </p:cNvSpPr>
          <p:nvPr/>
        </p:nvSpPr>
        <p:spPr bwMode="auto">
          <a:xfrm>
            <a:off x="6724650" y="3252784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ea typeface="黑体" pitchFamily="2" charset="-122"/>
              </a:rPr>
              <a:t>水平面</a:t>
            </a:r>
          </a:p>
        </p:txBody>
      </p:sp>
      <p:sp>
        <p:nvSpPr>
          <p:cNvPr id="163848" name="Text Box 8"/>
          <p:cNvSpPr txBox="1">
            <a:spLocks noChangeArrowheads="1"/>
          </p:cNvSpPr>
          <p:nvPr/>
        </p:nvSpPr>
        <p:spPr bwMode="auto">
          <a:xfrm>
            <a:off x="6991350" y="2905121"/>
            <a:ext cx="746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333399"/>
                </a:solidFill>
                <a:ea typeface="隶书" pitchFamily="49" charset="-122"/>
              </a:rPr>
              <a:t>// </a:t>
            </a:r>
            <a:r>
              <a:rPr lang="en-US" altLang="zh-CN" sz="2800" i="1">
                <a:solidFill>
                  <a:srgbClr val="333399"/>
                </a:solidFill>
                <a:ea typeface="隶书" pitchFamily="49" charset="-122"/>
              </a:rPr>
              <a:t>H</a:t>
            </a:r>
          </a:p>
        </p:txBody>
      </p:sp>
      <p:sp>
        <p:nvSpPr>
          <p:cNvPr id="163849" name="Text Box 9"/>
          <p:cNvSpPr txBox="1">
            <a:spLocks noChangeArrowheads="1"/>
          </p:cNvSpPr>
          <p:nvPr/>
        </p:nvSpPr>
        <p:spPr bwMode="auto">
          <a:xfrm>
            <a:off x="5187951" y="4590161"/>
            <a:ext cx="785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333399"/>
                </a:solidFill>
                <a:ea typeface="隶书" pitchFamily="49" charset="-122"/>
              </a:rPr>
              <a:t>// </a:t>
            </a:r>
            <a:r>
              <a:rPr lang="en-US" altLang="zh-CN" sz="2800" i="1">
                <a:solidFill>
                  <a:srgbClr val="333399"/>
                </a:solidFill>
                <a:ea typeface="隶书" pitchFamily="49" charset="-122"/>
              </a:rPr>
              <a:t>W</a:t>
            </a:r>
          </a:p>
        </p:txBody>
      </p:sp>
      <p:sp>
        <p:nvSpPr>
          <p:cNvPr id="163850" name="Rectangle 10"/>
          <p:cNvSpPr>
            <a:spLocks noChangeArrowheads="1"/>
          </p:cNvSpPr>
          <p:nvPr/>
        </p:nvSpPr>
        <p:spPr bwMode="auto">
          <a:xfrm>
            <a:off x="4959351" y="4953698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ea typeface="黑体" pitchFamily="2" charset="-122"/>
              </a:rPr>
              <a:t>侧平面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36588" y="3214684"/>
            <a:ext cx="3543300" cy="2557462"/>
            <a:chOff x="414" y="2478"/>
            <a:chExt cx="2232" cy="1611"/>
          </a:xfrm>
        </p:grpSpPr>
        <p:sp>
          <p:nvSpPr>
            <p:cNvPr id="25688" name="Freeform 12"/>
            <p:cNvSpPr>
              <a:spLocks/>
            </p:cNvSpPr>
            <p:nvPr/>
          </p:nvSpPr>
          <p:spPr bwMode="auto">
            <a:xfrm>
              <a:off x="442" y="3618"/>
              <a:ext cx="2181" cy="447"/>
            </a:xfrm>
            <a:custGeom>
              <a:avLst/>
              <a:gdLst>
                <a:gd name="T0" fmla="*/ 180 w 3067"/>
                <a:gd name="T1" fmla="*/ 114 h 629"/>
                <a:gd name="T2" fmla="*/ 558 w 3067"/>
                <a:gd name="T3" fmla="*/ 114 h 629"/>
                <a:gd name="T4" fmla="*/ 360 w 3067"/>
                <a:gd name="T5" fmla="*/ 0 h 629"/>
                <a:gd name="T6" fmla="*/ 0 w 3067"/>
                <a:gd name="T7" fmla="*/ 0 h 629"/>
                <a:gd name="T8" fmla="*/ 180 w 3067"/>
                <a:gd name="T9" fmla="*/ 114 h 6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7"/>
                <a:gd name="T16" fmla="*/ 0 h 629"/>
                <a:gd name="T17" fmla="*/ 3067 w 3067"/>
                <a:gd name="T18" fmla="*/ 629 h 6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7" h="629">
                  <a:moveTo>
                    <a:pt x="989" y="629"/>
                  </a:moveTo>
                  <a:lnTo>
                    <a:pt x="3067" y="629"/>
                  </a:lnTo>
                  <a:lnTo>
                    <a:pt x="1978" y="0"/>
                  </a:lnTo>
                  <a:lnTo>
                    <a:pt x="0" y="0"/>
                  </a:lnTo>
                  <a:lnTo>
                    <a:pt x="989" y="629"/>
                  </a:lnTo>
                  <a:close/>
                </a:path>
              </a:pathLst>
            </a:custGeom>
            <a:solidFill>
              <a:srgbClr val="CCFFFF"/>
            </a:solidFill>
            <a:ln w="28575" cmpd="sng">
              <a:solidFill>
                <a:srgbClr val="CCE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89" name="Rectangle 13"/>
            <p:cNvSpPr>
              <a:spLocks noChangeArrowheads="1"/>
            </p:cNvSpPr>
            <p:nvPr/>
          </p:nvSpPr>
          <p:spPr bwMode="auto">
            <a:xfrm>
              <a:off x="442" y="2516"/>
              <a:ext cx="1375" cy="1091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CCFF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5690" name="Freeform 14"/>
            <p:cNvSpPr>
              <a:spLocks/>
            </p:cNvSpPr>
            <p:nvPr/>
          </p:nvSpPr>
          <p:spPr bwMode="auto">
            <a:xfrm>
              <a:off x="1833" y="2516"/>
              <a:ext cx="790" cy="1547"/>
            </a:xfrm>
            <a:custGeom>
              <a:avLst/>
              <a:gdLst>
                <a:gd name="T0" fmla="*/ 0 w 1111"/>
                <a:gd name="T1" fmla="*/ 0 h 2175"/>
                <a:gd name="T2" fmla="*/ 0 w 1111"/>
                <a:gd name="T3" fmla="*/ 280 h 2175"/>
                <a:gd name="T4" fmla="*/ 202 w 1111"/>
                <a:gd name="T5" fmla="*/ 395 h 2175"/>
                <a:gd name="T6" fmla="*/ 202 w 1111"/>
                <a:gd name="T7" fmla="*/ 107 h 2175"/>
                <a:gd name="T8" fmla="*/ 0 w 1111"/>
                <a:gd name="T9" fmla="*/ 0 h 2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11"/>
                <a:gd name="T16" fmla="*/ 0 h 2175"/>
                <a:gd name="T17" fmla="*/ 1111 w 1111"/>
                <a:gd name="T18" fmla="*/ 2175 h 21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11" h="2175">
                  <a:moveTo>
                    <a:pt x="0" y="0"/>
                  </a:moveTo>
                  <a:lnTo>
                    <a:pt x="0" y="1534"/>
                  </a:lnTo>
                  <a:lnTo>
                    <a:pt x="1111" y="2175"/>
                  </a:lnTo>
                  <a:lnTo>
                    <a:pt x="1111" y="5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  <a:ln w="28575" cmpd="sng">
              <a:solidFill>
                <a:srgbClr val="FFFF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91" name="Line 15"/>
            <p:cNvSpPr>
              <a:spLocks noChangeShapeType="1"/>
            </p:cNvSpPr>
            <p:nvPr/>
          </p:nvSpPr>
          <p:spPr bwMode="auto">
            <a:xfrm>
              <a:off x="427" y="3616"/>
              <a:ext cx="1406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92" name="Line 16"/>
            <p:cNvSpPr>
              <a:spLocks noChangeShapeType="1"/>
            </p:cNvSpPr>
            <p:nvPr/>
          </p:nvSpPr>
          <p:spPr bwMode="auto">
            <a:xfrm>
              <a:off x="1821" y="3611"/>
              <a:ext cx="806" cy="46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93" name="Line 17"/>
            <p:cNvSpPr>
              <a:spLocks noChangeShapeType="1"/>
            </p:cNvSpPr>
            <p:nvPr/>
          </p:nvSpPr>
          <p:spPr bwMode="auto">
            <a:xfrm>
              <a:off x="1180" y="3281"/>
              <a:ext cx="7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94" name="Line 18"/>
            <p:cNvSpPr>
              <a:spLocks noChangeShapeType="1"/>
            </p:cNvSpPr>
            <p:nvPr/>
          </p:nvSpPr>
          <p:spPr bwMode="auto">
            <a:xfrm>
              <a:off x="1612" y="3660"/>
              <a:ext cx="7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95" name="Line 19"/>
            <p:cNvSpPr>
              <a:spLocks noChangeShapeType="1"/>
            </p:cNvSpPr>
            <p:nvPr/>
          </p:nvSpPr>
          <p:spPr bwMode="auto">
            <a:xfrm>
              <a:off x="1823" y="3338"/>
              <a:ext cx="556" cy="3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96" name="Line 20"/>
            <p:cNvSpPr>
              <a:spLocks noChangeShapeType="1"/>
            </p:cNvSpPr>
            <p:nvPr/>
          </p:nvSpPr>
          <p:spPr bwMode="auto">
            <a:xfrm>
              <a:off x="1601" y="3655"/>
              <a:ext cx="0" cy="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97" name="Line 21"/>
            <p:cNvSpPr>
              <a:spLocks noChangeShapeType="1"/>
            </p:cNvSpPr>
            <p:nvPr/>
          </p:nvSpPr>
          <p:spPr bwMode="auto">
            <a:xfrm>
              <a:off x="1596" y="3932"/>
              <a:ext cx="7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98" name="Line 22"/>
            <p:cNvSpPr>
              <a:spLocks noChangeShapeType="1"/>
            </p:cNvSpPr>
            <p:nvPr/>
          </p:nvSpPr>
          <p:spPr bwMode="auto">
            <a:xfrm>
              <a:off x="1957" y="3280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99" name="Line 23"/>
            <p:cNvSpPr>
              <a:spLocks noChangeShapeType="1"/>
            </p:cNvSpPr>
            <p:nvPr/>
          </p:nvSpPr>
          <p:spPr bwMode="auto">
            <a:xfrm>
              <a:off x="1046" y="3616"/>
              <a:ext cx="555" cy="3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0" name="Line 24"/>
            <p:cNvSpPr>
              <a:spLocks noChangeShapeType="1"/>
            </p:cNvSpPr>
            <p:nvPr/>
          </p:nvSpPr>
          <p:spPr bwMode="auto">
            <a:xfrm flipV="1">
              <a:off x="1051" y="2670"/>
              <a:ext cx="0" cy="9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1" name="Line 25"/>
            <p:cNvSpPr>
              <a:spLocks noChangeShapeType="1"/>
            </p:cNvSpPr>
            <p:nvPr/>
          </p:nvSpPr>
          <p:spPr bwMode="auto">
            <a:xfrm>
              <a:off x="1051" y="2670"/>
              <a:ext cx="408" cy="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2" name="Line 26"/>
            <p:cNvSpPr>
              <a:spLocks noChangeShapeType="1"/>
            </p:cNvSpPr>
            <p:nvPr/>
          </p:nvSpPr>
          <p:spPr bwMode="auto">
            <a:xfrm>
              <a:off x="1822" y="2674"/>
              <a:ext cx="402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3" name="Line 27"/>
            <p:cNvSpPr>
              <a:spLocks noChangeShapeType="1"/>
            </p:cNvSpPr>
            <p:nvPr/>
          </p:nvSpPr>
          <p:spPr bwMode="auto">
            <a:xfrm>
              <a:off x="1053" y="3342"/>
              <a:ext cx="548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4" name="Line 28"/>
            <p:cNvSpPr>
              <a:spLocks noChangeShapeType="1"/>
            </p:cNvSpPr>
            <p:nvPr/>
          </p:nvSpPr>
          <p:spPr bwMode="auto">
            <a:xfrm>
              <a:off x="1053" y="2672"/>
              <a:ext cx="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5" name="Line 29"/>
            <p:cNvSpPr>
              <a:spLocks noChangeShapeType="1"/>
            </p:cNvSpPr>
            <p:nvPr/>
          </p:nvSpPr>
          <p:spPr bwMode="auto">
            <a:xfrm>
              <a:off x="1181" y="3692"/>
              <a:ext cx="7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6" name="Line 30"/>
            <p:cNvSpPr>
              <a:spLocks noChangeShapeType="1"/>
            </p:cNvSpPr>
            <p:nvPr/>
          </p:nvSpPr>
          <p:spPr bwMode="auto">
            <a:xfrm>
              <a:off x="1179" y="3692"/>
              <a:ext cx="424" cy="244"/>
            </a:xfrm>
            <a:prstGeom prst="line">
              <a:avLst/>
            </a:prstGeom>
            <a:noFill/>
            <a:ln w="5715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7" name="Line 31"/>
            <p:cNvSpPr>
              <a:spLocks noChangeShapeType="1"/>
            </p:cNvSpPr>
            <p:nvPr/>
          </p:nvSpPr>
          <p:spPr bwMode="auto">
            <a:xfrm>
              <a:off x="1053" y="2668"/>
              <a:ext cx="0" cy="679"/>
            </a:xfrm>
            <a:prstGeom prst="line">
              <a:avLst/>
            </a:prstGeom>
            <a:noFill/>
            <a:ln w="5715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872" name="Text Box 32"/>
            <p:cNvSpPr txBox="1">
              <a:spLocks noChangeArrowheads="1"/>
            </p:cNvSpPr>
            <p:nvPr/>
          </p:nvSpPr>
          <p:spPr bwMode="auto">
            <a:xfrm>
              <a:off x="414" y="2478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V</a:t>
              </a:r>
            </a:p>
          </p:txBody>
        </p:sp>
        <p:sp>
          <p:nvSpPr>
            <p:cNvPr id="163873" name="Text Box 33"/>
            <p:cNvSpPr txBox="1">
              <a:spLocks noChangeArrowheads="1"/>
            </p:cNvSpPr>
            <p:nvPr/>
          </p:nvSpPr>
          <p:spPr bwMode="auto">
            <a:xfrm>
              <a:off x="2359" y="2861"/>
              <a:ext cx="28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W</a:t>
              </a:r>
            </a:p>
          </p:txBody>
        </p:sp>
        <p:sp>
          <p:nvSpPr>
            <p:cNvPr id="163874" name="Text Box 34"/>
            <p:cNvSpPr txBox="1">
              <a:spLocks noChangeArrowheads="1"/>
            </p:cNvSpPr>
            <p:nvPr/>
          </p:nvSpPr>
          <p:spPr bwMode="auto">
            <a:xfrm>
              <a:off x="1047" y="3801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  <p:sp>
          <p:nvSpPr>
            <p:cNvPr id="25711" name="Line 35"/>
            <p:cNvSpPr>
              <a:spLocks noChangeShapeType="1"/>
            </p:cNvSpPr>
            <p:nvPr/>
          </p:nvSpPr>
          <p:spPr bwMode="auto">
            <a:xfrm>
              <a:off x="1056" y="3205"/>
              <a:ext cx="131" cy="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12" name="Freeform 36"/>
            <p:cNvSpPr>
              <a:spLocks/>
            </p:cNvSpPr>
            <p:nvPr/>
          </p:nvSpPr>
          <p:spPr bwMode="auto">
            <a:xfrm>
              <a:off x="1956" y="2900"/>
              <a:ext cx="414" cy="762"/>
            </a:xfrm>
            <a:custGeom>
              <a:avLst/>
              <a:gdLst>
                <a:gd name="T0" fmla="*/ 270 w 414"/>
                <a:gd name="T1" fmla="*/ 0 h 762"/>
                <a:gd name="T2" fmla="*/ 0 w 414"/>
                <a:gd name="T3" fmla="*/ 378 h 762"/>
                <a:gd name="T4" fmla="*/ 414 w 414"/>
                <a:gd name="T5" fmla="*/ 762 h 762"/>
                <a:gd name="T6" fmla="*/ 270 w 414"/>
                <a:gd name="T7" fmla="*/ 0 h 7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4"/>
                <a:gd name="T13" fmla="*/ 0 h 762"/>
                <a:gd name="T14" fmla="*/ 414 w 414"/>
                <a:gd name="T15" fmla="*/ 762 h 7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4" h="762">
                  <a:moveTo>
                    <a:pt x="270" y="0"/>
                  </a:moveTo>
                  <a:lnTo>
                    <a:pt x="0" y="378"/>
                  </a:lnTo>
                  <a:lnTo>
                    <a:pt x="414" y="762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13" name="Line 37"/>
            <p:cNvSpPr>
              <a:spLocks noChangeShapeType="1"/>
            </p:cNvSpPr>
            <p:nvPr/>
          </p:nvSpPr>
          <p:spPr bwMode="auto">
            <a:xfrm>
              <a:off x="1462" y="2904"/>
              <a:ext cx="7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14" name="Line 38"/>
            <p:cNvSpPr>
              <a:spLocks noChangeShapeType="1"/>
            </p:cNvSpPr>
            <p:nvPr/>
          </p:nvSpPr>
          <p:spPr bwMode="auto">
            <a:xfrm flipV="1">
              <a:off x="1820" y="2504"/>
              <a:ext cx="0" cy="1112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15" name="Line 39"/>
            <p:cNvSpPr>
              <a:spLocks noChangeShapeType="1"/>
            </p:cNvSpPr>
            <p:nvPr/>
          </p:nvSpPr>
          <p:spPr bwMode="auto">
            <a:xfrm>
              <a:off x="1048" y="3200"/>
              <a:ext cx="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16" name="Line 40"/>
            <p:cNvSpPr>
              <a:spLocks noChangeShapeType="1"/>
            </p:cNvSpPr>
            <p:nvPr/>
          </p:nvSpPr>
          <p:spPr bwMode="auto">
            <a:xfrm>
              <a:off x="1184" y="3276"/>
              <a:ext cx="0" cy="4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17" name="Line 41"/>
            <p:cNvSpPr>
              <a:spLocks noChangeShapeType="1"/>
            </p:cNvSpPr>
            <p:nvPr/>
          </p:nvSpPr>
          <p:spPr bwMode="auto">
            <a:xfrm>
              <a:off x="1819" y="3198"/>
              <a:ext cx="144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18" name="Line 42"/>
            <p:cNvSpPr>
              <a:spLocks noChangeShapeType="1"/>
            </p:cNvSpPr>
            <p:nvPr/>
          </p:nvSpPr>
          <p:spPr bwMode="auto">
            <a:xfrm>
              <a:off x="1048" y="3340"/>
              <a:ext cx="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19" name="Freeform 43"/>
            <p:cNvSpPr>
              <a:spLocks/>
            </p:cNvSpPr>
            <p:nvPr/>
          </p:nvSpPr>
          <p:spPr bwMode="auto">
            <a:xfrm>
              <a:off x="1188" y="2904"/>
              <a:ext cx="414" cy="762"/>
            </a:xfrm>
            <a:custGeom>
              <a:avLst/>
              <a:gdLst>
                <a:gd name="T0" fmla="*/ 270 w 414"/>
                <a:gd name="T1" fmla="*/ 0 h 762"/>
                <a:gd name="T2" fmla="*/ 0 w 414"/>
                <a:gd name="T3" fmla="*/ 378 h 762"/>
                <a:gd name="T4" fmla="*/ 414 w 414"/>
                <a:gd name="T5" fmla="*/ 762 h 762"/>
                <a:gd name="T6" fmla="*/ 270 w 414"/>
                <a:gd name="T7" fmla="*/ 0 h 7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4"/>
                <a:gd name="T13" fmla="*/ 0 h 762"/>
                <a:gd name="T14" fmla="*/ 414 w 414"/>
                <a:gd name="T15" fmla="*/ 762 h 7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4" h="762">
                  <a:moveTo>
                    <a:pt x="270" y="0"/>
                  </a:moveTo>
                  <a:lnTo>
                    <a:pt x="0" y="378"/>
                  </a:lnTo>
                  <a:lnTo>
                    <a:pt x="414" y="762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8100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20" name="Line 44"/>
            <p:cNvSpPr>
              <a:spLocks noChangeShapeType="1"/>
            </p:cNvSpPr>
            <p:nvPr/>
          </p:nvSpPr>
          <p:spPr bwMode="auto">
            <a:xfrm>
              <a:off x="1452" y="2898"/>
              <a:ext cx="0" cy="9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21" name="Line 45"/>
            <p:cNvSpPr>
              <a:spLocks noChangeShapeType="1"/>
            </p:cNvSpPr>
            <p:nvPr/>
          </p:nvSpPr>
          <p:spPr bwMode="auto">
            <a:xfrm>
              <a:off x="2370" y="3648"/>
              <a:ext cx="0" cy="2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22" name="Line 46"/>
            <p:cNvSpPr>
              <a:spLocks noChangeShapeType="1"/>
            </p:cNvSpPr>
            <p:nvPr/>
          </p:nvSpPr>
          <p:spPr bwMode="auto">
            <a:xfrm>
              <a:off x="1434" y="3846"/>
              <a:ext cx="7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23" name="Line 47"/>
            <p:cNvSpPr>
              <a:spLocks noChangeShapeType="1"/>
            </p:cNvSpPr>
            <p:nvPr/>
          </p:nvSpPr>
          <p:spPr bwMode="auto">
            <a:xfrm>
              <a:off x="2226" y="2904"/>
              <a:ext cx="0" cy="9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243513" y="201609"/>
            <a:ext cx="3595687" cy="2662237"/>
            <a:chOff x="3316" y="580"/>
            <a:chExt cx="2265" cy="1677"/>
          </a:xfrm>
        </p:grpSpPr>
        <p:grpSp>
          <p:nvGrpSpPr>
            <p:cNvPr id="25652" name="Group 49"/>
            <p:cNvGrpSpPr>
              <a:grpSpLocks/>
            </p:cNvGrpSpPr>
            <p:nvPr/>
          </p:nvGrpSpPr>
          <p:grpSpPr bwMode="auto">
            <a:xfrm>
              <a:off x="3320" y="597"/>
              <a:ext cx="2244" cy="1602"/>
              <a:chOff x="384" y="829"/>
              <a:chExt cx="2376" cy="1695"/>
            </a:xfrm>
          </p:grpSpPr>
          <p:grpSp>
            <p:nvGrpSpPr>
              <p:cNvPr id="25681" name="Group 50"/>
              <p:cNvGrpSpPr>
                <a:grpSpLocks/>
              </p:cNvGrpSpPr>
              <p:nvPr/>
            </p:nvGrpSpPr>
            <p:grpSpPr bwMode="auto">
              <a:xfrm>
                <a:off x="400" y="845"/>
                <a:ext cx="2356" cy="1673"/>
                <a:chOff x="1000" y="744"/>
                <a:chExt cx="3067" cy="2178"/>
              </a:xfrm>
            </p:grpSpPr>
            <p:sp>
              <p:nvSpPr>
                <p:cNvPr id="25685" name="Freeform 51"/>
                <p:cNvSpPr>
                  <a:spLocks/>
                </p:cNvSpPr>
                <p:nvPr/>
              </p:nvSpPr>
              <p:spPr bwMode="auto">
                <a:xfrm>
                  <a:off x="1000" y="2293"/>
                  <a:ext cx="3067" cy="629"/>
                </a:xfrm>
                <a:custGeom>
                  <a:avLst/>
                  <a:gdLst>
                    <a:gd name="T0" fmla="*/ 989 w 3067"/>
                    <a:gd name="T1" fmla="*/ 629 h 629"/>
                    <a:gd name="T2" fmla="*/ 3067 w 3067"/>
                    <a:gd name="T3" fmla="*/ 629 h 629"/>
                    <a:gd name="T4" fmla="*/ 1978 w 3067"/>
                    <a:gd name="T5" fmla="*/ 0 h 629"/>
                    <a:gd name="T6" fmla="*/ 0 w 3067"/>
                    <a:gd name="T7" fmla="*/ 0 h 629"/>
                    <a:gd name="T8" fmla="*/ 989 w 3067"/>
                    <a:gd name="T9" fmla="*/ 629 h 6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7"/>
                    <a:gd name="T16" fmla="*/ 0 h 629"/>
                    <a:gd name="T17" fmla="*/ 3067 w 3067"/>
                    <a:gd name="T18" fmla="*/ 629 h 6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7" h="629">
                      <a:moveTo>
                        <a:pt x="989" y="629"/>
                      </a:moveTo>
                      <a:lnTo>
                        <a:pt x="3067" y="629"/>
                      </a:lnTo>
                      <a:lnTo>
                        <a:pt x="1978" y="0"/>
                      </a:lnTo>
                      <a:lnTo>
                        <a:pt x="0" y="0"/>
                      </a:lnTo>
                      <a:lnTo>
                        <a:pt x="989" y="629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28575" cmpd="sng">
                  <a:solidFill>
                    <a:srgbClr val="CCE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86" name="Rectangle 52"/>
                <p:cNvSpPr>
                  <a:spLocks noChangeArrowheads="1"/>
                </p:cNvSpPr>
                <p:nvPr/>
              </p:nvSpPr>
              <p:spPr bwMode="auto">
                <a:xfrm>
                  <a:off x="1000" y="744"/>
                  <a:ext cx="1934" cy="1534"/>
                </a:xfrm>
                <a:prstGeom prst="rect">
                  <a:avLst/>
                </a:prstGeom>
                <a:solidFill>
                  <a:srgbClr val="CCFFCC"/>
                </a:solidFill>
                <a:ln w="38100">
                  <a:solidFill>
                    <a:srgbClr val="CCFF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25687" name="Freeform 53"/>
                <p:cNvSpPr>
                  <a:spLocks/>
                </p:cNvSpPr>
                <p:nvPr/>
              </p:nvSpPr>
              <p:spPr bwMode="auto">
                <a:xfrm>
                  <a:off x="2956" y="744"/>
                  <a:ext cx="1111" cy="2175"/>
                </a:xfrm>
                <a:custGeom>
                  <a:avLst/>
                  <a:gdLst>
                    <a:gd name="T0" fmla="*/ 0 w 1111"/>
                    <a:gd name="T1" fmla="*/ 0 h 2175"/>
                    <a:gd name="T2" fmla="*/ 0 w 1111"/>
                    <a:gd name="T3" fmla="*/ 1534 h 2175"/>
                    <a:gd name="T4" fmla="*/ 1111 w 1111"/>
                    <a:gd name="T5" fmla="*/ 2175 h 2175"/>
                    <a:gd name="T6" fmla="*/ 1111 w 1111"/>
                    <a:gd name="T7" fmla="*/ 589 h 2175"/>
                    <a:gd name="T8" fmla="*/ 0 w 1111"/>
                    <a:gd name="T9" fmla="*/ 0 h 217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11"/>
                    <a:gd name="T16" fmla="*/ 0 h 2175"/>
                    <a:gd name="T17" fmla="*/ 1111 w 1111"/>
                    <a:gd name="T18" fmla="*/ 2175 h 217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11" h="2175">
                      <a:moveTo>
                        <a:pt x="0" y="0"/>
                      </a:moveTo>
                      <a:lnTo>
                        <a:pt x="0" y="1534"/>
                      </a:lnTo>
                      <a:lnTo>
                        <a:pt x="1111" y="2175"/>
                      </a:lnTo>
                      <a:lnTo>
                        <a:pt x="1111" y="58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28575" cmpd="sng">
                  <a:solidFill>
                    <a:srgbClr val="FFFF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682" name="Line 54"/>
              <p:cNvSpPr>
                <a:spLocks noChangeShapeType="1"/>
              </p:cNvSpPr>
              <p:nvPr/>
            </p:nvSpPr>
            <p:spPr bwMode="auto">
              <a:xfrm>
                <a:off x="384" y="2033"/>
                <a:ext cx="1518" cy="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83" name="Line 55"/>
              <p:cNvSpPr>
                <a:spLocks noChangeShapeType="1"/>
              </p:cNvSpPr>
              <p:nvPr/>
            </p:nvSpPr>
            <p:spPr bwMode="auto">
              <a:xfrm>
                <a:off x="1890" y="2027"/>
                <a:ext cx="870" cy="497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84" name="Line 56"/>
              <p:cNvSpPr>
                <a:spLocks noChangeShapeType="1"/>
              </p:cNvSpPr>
              <p:nvPr/>
            </p:nvSpPr>
            <p:spPr bwMode="auto">
              <a:xfrm flipV="1">
                <a:off x="1895" y="829"/>
                <a:ext cx="0" cy="1201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5653" name="Line 57"/>
            <p:cNvSpPr>
              <a:spLocks noChangeShapeType="1"/>
            </p:cNvSpPr>
            <p:nvPr/>
          </p:nvSpPr>
          <p:spPr bwMode="auto">
            <a:xfrm>
              <a:off x="3840" y="1069"/>
              <a:ext cx="0" cy="7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54" name="Line 58"/>
            <p:cNvSpPr>
              <a:spLocks noChangeShapeType="1"/>
            </p:cNvSpPr>
            <p:nvPr/>
          </p:nvSpPr>
          <p:spPr bwMode="auto">
            <a:xfrm flipV="1">
              <a:off x="4157" y="981"/>
              <a:ext cx="0" cy="7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55" name="Line 59"/>
            <p:cNvSpPr>
              <a:spLocks noChangeShapeType="1"/>
            </p:cNvSpPr>
            <p:nvPr/>
          </p:nvSpPr>
          <p:spPr bwMode="auto">
            <a:xfrm flipV="1">
              <a:off x="3740" y="1001"/>
              <a:ext cx="0" cy="7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56" name="Line 60"/>
            <p:cNvSpPr>
              <a:spLocks noChangeShapeType="1"/>
            </p:cNvSpPr>
            <p:nvPr/>
          </p:nvSpPr>
          <p:spPr bwMode="auto">
            <a:xfrm>
              <a:off x="4694" y="2045"/>
              <a:ext cx="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57" name="Line 61"/>
            <p:cNvSpPr>
              <a:spLocks noChangeShapeType="1"/>
            </p:cNvSpPr>
            <p:nvPr/>
          </p:nvSpPr>
          <p:spPr bwMode="auto">
            <a:xfrm flipV="1">
              <a:off x="5293" y="1320"/>
              <a:ext cx="0" cy="7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58" name="Line 62"/>
            <p:cNvSpPr>
              <a:spLocks noChangeShapeType="1"/>
            </p:cNvSpPr>
            <p:nvPr/>
          </p:nvSpPr>
          <p:spPr bwMode="auto">
            <a:xfrm>
              <a:off x="4870" y="1063"/>
              <a:ext cx="436" cy="262"/>
            </a:xfrm>
            <a:prstGeom prst="line">
              <a:avLst/>
            </a:prstGeom>
            <a:noFill/>
            <a:ln w="5715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59" name="Line 63"/>
            <p:cNvSpPr>
              <a:spLocks noChangeShapeType="1"/>
            </p:cNvSpPr>
            <p:nvPr/>
          </p:nvSpPr>
          <p:spPr bwMode="auto">
            <a:xfrm>
              <a:off x="4682" y="1326"/>
              <a:ext cx="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04" name="Text Box 64"/>
            <p:cNvSpPr txBox="1">
              <a:spLocks noChangeArrowheads="1"/>
            </p:cNvSpPr>
            <p:nvPr/>
          </p:nvSpPr>
          <p:spPr bwMode="auto">
            <a:xfrm>
              <a:off x="3316" y="580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V</a:t>
              </a:r>
            </a:p>
          </p:txBody>
        </p:sp>
        <p:sp>
          <p:nvSpPr>
            <p:cNvPr id="163905" name="Text Box 65"/>
            <p:cNvSpPr txBox="1">
              <a:spLocks noChangeArrowheads="1"/>
            </p:cNvSpPr>
            <p:nvPr/>
          </p:nvSpPr>
          <p:spPr bwMode="auto">
            <a:xfrm>
              <a:off x="5294" y="971"/>
              <a:ext cx="28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W</a:t>
              </a:r>
            </a:p>
          </p:txBody>
        </p:sp>
        <p:sp>
          <p:nvSpPr>
            <p:cNvPr id="163906" name="Text Box 66"/>
            <p:cNvSpPr txBox="1">
              <a:spLocks noChangeArrowheads="1"/>
            </p:cNvSpPr>
            <p:nvPr/>
          </p:nvSpPr>
          <p:spPr bwMode="auto">
            <a:xfrm>
              <a:off x="3996" y="1969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  <p:sp>
          <p:nvSpPr>
            <p:cNvPr id="25663" name="Line 67"/>
            <p:cNvSpPr>
              <a:spLocks noChangeShapeType="1"/>
            </p:cNvSpPr>
            <p:nvPr/>
          </p:nvSpPr>
          <p:spPr bwMode="auto">
            <a:xfrm>
              <a:off x="4248" y="992"/>
              <a:ext cx="5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4" name="Line 68"/>
            <p:cNvSpPr>
              <a:spLocks noChangeShapeType="1"/>
            </p:cNvSpPr>
            <p:nvPr/>
          </p:nvSpPr>
          <p:spPr bwMode="auto">
            <a:xfrm flipH="1" flipV="1">
              <a:off x="3724" y="1729"/>
              <a:ext cx="117" cy="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5" name="Line 69"/>
            <p:cNvSpPr>
              <a:spLocks noChangeShapeType="1"/>
            </p:cNvSpPr>
            <p:nvPr/>
          </p:nvSpPr>
          <p:spPr bwMode="auto">
            <a:xfrm flipH="1" flipV="1">
              <a:off x="3730" y="998"/>
              <a:ext cx="117" cy="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6" name="Line 70"/>
            <p:cNvSpPr>
              <a:spLocks noChangeShapeType="1"/>
            </p:cNvSpPr>
            <p:nvPr/>
          </p:nvSpPr>
          <p:spPr bwMode="auto">
            <a:xfrm flipH="1" flipV="1">
              <a:off x="4749" y="988"/>
              <a:ext cx="137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7" name="Line 71"/>
            <p:cNvSpPr>
              <a:spLocks noChangeShapeType="1"/>
            </p:cNvSpPr>
            <p:nvPr/>
          </p:nvSpPr>
          <p:spPr bwMode="auto">
            <a:xfrm>
              <a:off x="3847" y="1067"/>
              <a:ext cx="10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8" name="Line 72"/>
            <p:cNvSpPr>
              <a:spLocks noChangeShapeType="1"/>
            </p:cNvSpPr>
            <p:nvPr/>
          </p:nvSpPr>
          <p:spPr bwMode="auto">
            <a:xfrm>
              <a:off x="3726" y="996"/>
              <a:ext cx="888" cy="0"/>
            </a:xfrm>
            <a:prstGeom prst="line">
              <a:avLst/>
            </a:prstGeom>
            <a:noFill/>
            <a:ln w="5715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9" name="Line 73"/>
            <p:cNvSpPr>
              <a:spLocks noChangeShapeType="1"/>
            </p:cNvSpPr>
            <p:nvPr/>
          </p:nvSpPr>
          <p:spPr bwMode="auto">
            <a:xfrm flipH="1" flipV="1">
              <a:off x="4576" y="980"/>
              <a:ext cx="241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0" name="Line 74"/>
            <p:cNvSpPr>
              <a:spLocks noChangeShapeType="1"/>
            </p:cNvSpPr>
            <p:nvPr/>
          </p:nvSpPr>
          <p:spPr bwMode="auto">
            <a:xfrm>
              <a:off x="4812" y="1116"/>
              <a:ext cx="0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1" name="Freeform 75"/>
            <p:cNvSpPr>
              <a:spLocks/>
            </p:cNvSpPr>
            <p:nvPr/>
          </p:nvSpPr>
          <p:spPr bwMode="auto">
            <a:xfrm>
              <a:off x="3840" y="1794"/>
              <a:ext cx="972" cy="258"/>
            </a:xfrm>
            <a:custGeom>
              <a:avLst/>
              <a:gdLst>
                <a:gd name="T0" fmla="*/ 0 w 972"/>
                <a:gd name="T1" fmla="*/ 0 h 258"/>
                <a:gd name="T2" fmla="*/ 858 w 972"/>
                <a:gd name="T3" fmla="*/ 258 h 258"/>
                <a:gd name="T4" fmla="*/ 972 w 972"/>
                <a:gd name="T5" fmla="*/ 48 h 258"/>
                <a:gd name="T6" fmla="*/ 0 w 972"/>
                <a:gd name="T7" fmla="*/ 0 h 2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72"/>
                <a:gd name="T13" fmla="*/ 0 h 258"/>
                <a:gd name="T14" fmla="*/ 972 w 972"/>
                <a:gd name="T15" fmla="*/ 258 h 2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72" h="258">
                  <a:moveTo>
                    <a:pt x="0" y="0"/>
                  </a:moveTo>
                  <a:lnTo>
                    <a:pt x="858" y="258"/>
                  </a:lnTo>
                  <a:lnTo>
                    <a:pt x="972" y="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2" name="Line 76"/>
            <p:cNvSpPr>
              <a:spLocks noChangeShapeType="1"/>
            </p:cNvSpPr>
            <p:nvPr/>
          </p:nvSpPr>
          <p:spPr bwMode="auto">
            <a:xfrm>
              <a:off x="4686" y="1326"/>
              <a:ext cx="0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3" name="Line 77"/>
            <p:cNvSpPr>
              <a:spLocks noChangeShapeType="1"/>
            </p:cNvSpPr>
            <p:nvPr/>
          </p:nvSpPr>
          <p:spPr bwMode="auto">
            <a:xfrm flipH="1" flipV="1">
              <a:off x="4144" y="1727"/>
              <a:ext cx="542" cy="3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4" name="Freeform 78"/>
            <p:cNvSpPr>
              <a:spLocks/>
            </p:cNvSpPr>
            <p:nvPr/>
          </p:nvSpPr>
          <p:spPr bwMode="auto">
            <a:xfrm>
              <a:off x="3840" y="1074"/>
              <a:ext cx="972" cy="258"/>
            </a:xfrm>
            <a:custGeom>
              <a:avLst/>
              <a:gdLst>
                <a:gd name="T0" fmla="*/ 0 w 972"/>
                <a:gd name="T1" fmla="*/ 0 h 258"/>
                <a:gd name="T2" fmla="*/ 858 w 972"/>
                <a:gd name="T3" fmla="*/ 258 h 258"/>
                <a:gd name="T4" fmla="*/ 972 w 972"/>
                <a:gd name="T5" fmla="*/ 48 h 258"/>
                <a:gd name="T6" fmla="*/ 0 w 972"/>
                <a:gd name="T7" fmla="*/ 0 h 2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72"/>
                <a:gd name="T13" fmla="*/ 0 h 258"/>
                <a:gd name="T14" fmla="*/ 972 w 972"/>
                <a:gd name="T15" fmla="*/ 258 h 2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72" h="258">
                  <a:moveTo>
                    <a:pt x="0" y="0"/>
                  </a:moveTo>
                  <a:lnTo>
                    <a:pt x="858" y="258"/>
                  </a:lnTo>
                  <a:lnTo>
                    <a:pt x="972" y="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8100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5" name="Line 79"/>
            <p:cNvSpPr>
              <a:spLocks noChangeShapeType="1"/>
            </p:cNvSpPr>
            <p:nvPr/>
          </p:nvSpPr>
          <p:spPr bwMode="auto">
            <a:xfrm flipH="1" flipV="1">
              <a:off x="4137" y="991"/>
              <a:ext cx="554" cy="3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6" name="Line 80"/>
            <p:cNvSpPr>
              <a:spLocks noChangeShapeType="1"/>
            </p:cNvSpPr>
            <p:nvPr/>
          </p:nvSpPr>
          <p:spPr bwMode="auto">
            <a:xfrm>
              <a:off x="4812" y="1122"/>
              <a:ext cx="1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7" name="Line 81"/>
            <p:cNvSpPr>
              <a:spLocks noChangeShapeType="1"/>
            </p:cNvSpPr>
            <p:nvPr/>
          </p:nvSpPr>
          <p:spPr bwMode="auto">
            <a:xfrm>
              <a:off x="4818" y="184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8" name="Line 82"/>
            <p:cNvSpPr>
              <a:spLocks noChangeShapeType="1"/>
            </p:cNvSpPr>
            <p:nvPr/>
          </p:nvSpPr>
          <p:spPr bwMode="auto">
            <a:xfrm>
              <a:off x="4956" y="1116"/>
              <a:ext cx="0" cy="7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9" name="Line 83"/>
            <p:cNvSpPr>
              <a:spLocks noChangeShapeType="1"/>
            </p:cNvSpPr>
            <p:nvPr/>
          </p:nvSpPr>
          <p:spPr bwMode="auto">
            <a:xfrm>
              <a:off x="4608" y="984"/>
              <a:ext cx="0" cy="7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80" name="Line 84"/>
            <p:cNvSpPr>
              <a:spLocks noChangeShapeType="1"/>
            </p:cNvSpPr>
            <p:nvPr/>
          </p:nvSpPr>
          <p:spPr bwMode="auto">
            <a:xfrm>
              <a:off x="4614" y="1740"/>
              <a:ext cx="198" cy="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85"/>
          <p:cNvGrpSpPr>
            <a:grpSpLocks/>
          </p:cNvGrpSpPr>
          <p:nvPr/>
        </p:nvGrpSpPr>
        <p:grpSpPr bwMode="auto">
          <a:xfrm>
            <a:off x="601663" y="201609"/>
            <a:ext cx="3590925" cy="2638425"/>
            <a:chOff x="392" y="580"/>
            <a:chExt cx="2262" cy="1662"/>
          </a:xfrm>
        </p:grpSpPr>
        <p:grpSp>
          <p:nvGrpSpPr>
            <p:cNvPr id="25615" name="Group 86"/>
            <p:cNvGrpSpPr>
              <a:grpSpLocks/>
            </p:cNvGrpSpPr>
            <p:nvPr/>
          </p:nvGrpSpPr>
          <p:grpSpPr bwMode="auto">
            <a:xfrm>
              <a:off x="411" y="612"/>
              <a:ext cx="2221" cy="1578"/>
              <a:chOff x="1000" y="744"/>
              <a:chExt cx="3067" cy="2178"/>
            </a:xfrm>
          </p:grpSpPr>
          <p:sp>
            <p:nvSpPr>
              <p:cNvPr id="25649" name="Freeform 87"/>
              <p:cNvSpPr>
                <a:spLocks/>
              </p:cNvSpPr>
              <p:nvPr/>
            </p:nvSpPr>
            <p:spPr bwMode="auto">
              <a:xfrm>
                <a:off x="1000" y="2293"/>
                <a:ext cx="3067" cy="629"/>
              </a:xfrm>
              <a:custGeom>
                <a:avLst/>
                <a:gdLst>
                  <a:gd name="T0" fmla="*/ 989 w 3067"/>
                  <a:gd name="T1" fmla="*/ 629 h 629"/>
                  <a:gd name="T2" fmla="*/ 3067 w 3067"/>
                  <a:gd name="T3" fmla="*/ 629 h 629"/>
                  <a:gd name="T4" fmla="*/ 1978 w 3067"/>
                  <a:gd name="T5" fmla="*/ 0 h 629"/>
                  <a:gd name="T6" fmla="*/ 0 w 3067"/>
                  <a:gd name="T7" fmla="*/ 0 h 629"/>
                  <a:gd name="T8" fmla="*/ 989 w 3067"/>
                  <a:gd name="T9" fmla="*/ 629 h 6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7"/>
                  <a:gd name="T16" fmla="*/ 0 h 629"/>
                  <a:gd name="T17" fmla="*/ 3067 w 3067"/>
                  <a:gd name="T18" fmla="*/ 629 h 6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7" h="629">
                    <a:moveTo>
                      <a:pt x="989" y="629"/>
                    </a:moveTo>
                    <a:lnTo>
                      <a:pt x="3067" y="629"/>
                    </a:lnTo>
                    <a:lnTo>
                      <a:pt x="1978" y="0"/>
                    </a:lnTo>
                    <a:lnTo>
                      <a:pt x="0" y="0"/>
                    </a:lnTo>
                    <a:lnTo>
                      <a:pt x="989" y="629"/>
                    </a:lnTo>
                    <a:close/>
                  </a:path>
                </a:pathLst>
              </a:custGeom>
              <a:solidFill>
                <a:srgbClr val="CCFFFF"/>
              </a:solidFill>
              <a:ln w="28575" cmpd="sng">
                <a:solidFill>
                  <a:srgbClr val="CCE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50" name="Rectangle 88"/>
              <p:cNvSpPr>
                <a:spLocks noChangeArrowheads="1"/>
              </p:cNvSpPr>
              <p:nvPr/>
            </p:nvSpPr>
            <p:spPr bwMode="auto">
              <a:xfrm>
                <a:off x="1000" y="744"/>
                <a:ext cx="1934" cy="1534"/>
              </a:xfrm>
              <a:prstGeom prst="rect">
                <a:avLst/>
              </a:prstGeom>
              <a:solidFill>
                <a:srgbClr val="CCFFCC"/>
              </a:solidFill>
              <a:ln w="38100">
                <a:solidFill>
                  <a:srgbClr val="CCFF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5651" name="Freeform 89"/>
              <p:cNvSpPr>
                <a:spLocks/>
              </p:cNvSpPr>
              <p:nvPr/>
            </p:nvSpPr>
            <p:spPr bwMode="auto">
              <a:xfrm>
                <a:off x="2956" y="744"/>
                <a:ext cx="1111" cy="2175"/>
              </a:xfrm>
              <a:custGeom>
                <a:avLst/>
                <a:gdLst>
                  <a:gd name="T0" fmla="*/ 0 w 1111"/>
                  <a:gd name="T1" fmla="*/ 0 h 2175"/>
                  <a:gd name="T2" fmla="*/ 0 w 1111"/>
                  <a:gd name="T3" fmla="*/ 1534 h 2175"/>
                  <a:gd name="T4" fmla="*/ 1111 w 1111"/>
                  <a:gd name="T5" fmla="*/ 2175 h 2175"/>
                  <a:gd name="T6" fmla="*/ 1111 w 1111"/>
                  <a:gd name="T7" fmla="*/ 589 h 2175"/>
                  <a:gd name="T8" fmla="*/ 0 w 1111"/>
                  <a:gd name="T9" fmla="*/ 0 h 21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11"/>
                  <a:gd name="T16" fmla="*/ 0 h 2175"/>
                  <a:gd name="T17" fmla="*/ 1111 w 1111"/>
                  <a:gd name="T18" fmla="*/ 2175 h 21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11" h="2175">
                    <a:moveTo>
                      <a:pt x="0" y="0"/>
                    </a:moveTo>
                    <a:lnTo>
                      <a:pt x="0" y="1534"/>
                    </a:lnTo>
                    <a:lnTo>
                      <a:pt x="1111" y="2175"/>
                    </a:lnTo>
                    <a:lnTo>
                      <a:pt x="1111" y="5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CC"/>
              </a:solidFill>
              <a:ln w="28575" cmpd="sng">
                <a:solidFill>
                  <a:srgbClr val="FFFF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5616" name="Line 90"/>
            <p:cNvSpPr>
              <a:spLocks noChangeShapeType="1"/>
            </p:cNvSpPr>
            <p:nvPr/>
          </p:nvSpPr>
          <p:spPr bwMode="auto">
            <a:xfrm>
              <a:off x="396" y="1733"/>
              <a:ext cx="1431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7" name="Line 91"/>
            <p:cNvSpPr>
              <a:spLocks noChangeShapeType="1"/>
            </p:cNvSpPr>
            <p:nvPr/>
          </p:nvSpPr>
          <p:spPr bwMode="auto">
            <a:xfrm>
              <a:off x="1816" y="1727"/>
              <a:ext cx="820" cy="469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8" name="Line 92"/>
            <p:cNvSpPr>
              <a:spLocks noChangeShapeType="1"/>
            </p:cNvSpPr>
            <p:nvPr/>
          </p:nvSpPr>
          <p:spPr bwMode="auto">
            <a:xfrm>
              <a:off x="1871" y="1568"/>
              <a:ext cx="0" cy="4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9" name="Line 93"/>
            <p:cNvSpPr>
              <a:spLocks noChangeShapeType="1"/>
            </p:cNvSpPr>
            <p:nvPr/>
          </p:nvSpPr>
          <p:spPr bwMode="auto">
            <a:xfrm>
              <a:off x="1108" y="1655"/>
              <a:ext cx="0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0" name="Line 94"/>
            <p:cNvSpPr>
              <a:spLocks noChangeShapeType="1"/>
            </p:cNvSpPr>
            <p:nvPr/>
          </p:nvSpPr>
          <p:spPr bwMode="auto">
            <a:xfrm flipV="1">
              <a:off x="1102" y="1977"/>
              <a:ext cx="783" cy="0"/>
            </a:xfrm>
            <a:prstGeom prst="line">
              <a:avLst/>
            </a:prstGeom>
            <a:noFill/>
            <a:ln w="5715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1" name="Line 95"/>
            <p:cNvSpPr>
              <a:spLocks noChangeShapeType="1"/>
            </p:cNvSpPr>
            <p:nvPr/>
          </p:nvSpPr>
          <p:spPr bwMode="auto">
            <a:xfrm flipV="1">
              <a:off x="1475" y="1324"/>
              <a:ext cx="0" cy="4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2" name="Line 96"/>
            <p:cNvSpPr>
              <a:spLocks noChangeShapeType="1"/>
            </p:cNvSpPr>
            <p:nvPr/>
          </p:nvSpPr>
          <p:spPr bwMode="auto">
            <a:xfrm flipV="1">
              <a:off x="697" y="1478"/>
              <a:ext cx="0" cy="2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3" name="Line 97"/>
            <p:cNvSpPr>
              <a:spLocks noChangeShapeType="1"/>
            </p:cNvSpPr>
            <p:nvPr/>
          </p:nvSpPr>
          <p:spPr bwMode="auto">
            <a:xfrm>
              <a:off x="1877" y="1970"/>
              <a:ext cx="3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4" name="Line 98"/>
            <p:cNvSpPr>
              <a:spLocks noChangeShapeType="1"/>
            </p:cNvSpPr>
            <p:nvPr/>
          </p:nvSpPr>
          <p:spPr bwMode="auto">
            <a:xfrm flipV="1">
              <a:off x="2232" y="1685"/>
              <a:ext cx="0" cy="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5" name="Line 99"/>
            <p:cNvSpPr>
              <a:spLocks noChangeShapeType="1"/>
            </p:cNvSpPr>
            <p:nvPr/>
          </p:nvSpPr>
          <p:spPr bwMode="auto">
            <a:xfrm flipH="1" flipV="1">
              <a:off x="1459" y="1729"/>
              <a:ext cx="408" cy="2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6" name="Line 100"/>
            <p:cNvSpPr>
              <a:spLocks noChangeShapeType="1"/>
            </p:cNvSpPr>
            <p:nvPr/>
          </p:nvSpPr>
          <p:spPr bwMode="auto">
            <a:xfrm flipH="1" flipV="1">
              <a:off x="1270" y="677"/>
              <a:ext cx="394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41" name="Text Box 101"/>
            <p:cNvSpPr txBox="1">
              <a:spLocks noChangeArrowheads="1"/>
            </p:cNvSpPr>
            <p:nvPr/>
          </p:nvSpPr>
          <p:spPr bwMode="auto">
            <a:xfrm>
              <a:off x="392" y="580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V</a:t>
              </a:r>
            </a:p>
          </p:txBody>
        </p:sp>
        <p:sp>
          <p:nvSpPr>
            <p:cNvPr id="163942" name="Text Box 102"/>
            <p:cNvSpPr txBox="1">
              <a:spLocks noChangeArrowheads="1"/>
            </p:cNvSpPr>
            <p:nvPr/>
          </p:nvSpPr>
          <p:spPr bwMode="auto">
            <a:xfrm>
              <a:off x="2367" y="970"/>
              <a:ext cx="28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W</a:t>
              </a:r>
            </a:p>
          </p:txBody>
        </p:sp>
        <p:sp>
          <p:nvSpPr>
            <p:cNvPr id="25629" name="Line 103"/>
            <p:cNvSpPr>
              <a:spLocks noChangeShapeType="1"/>
            </p:cNvSpPr>
            <p:nvPr/>
          </p:nvSpPr>
          <p:spPr bwMode="auto">
            <a:xfrm>
              <a:off x="1279" y="683"/>
              <a:ext cx="5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0" name="Line 104"/>
            <p:cNvSpPr>
              <a:spLocks noChangeShapeType="1"/>
            </p:cNvSpPr>
            <p:nvPr/>
          </p:nvSpPr>
          <p:spPr bwMode="auto">
            <a:xfrm flipH="1" flipV="1">
              <a:off x="683" y="1471"/>
              <a:ext cx="408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1" name="Line 105"/>
            <p:cNvSpPr>
              <a:spLocks noChangeShapeType="1"/>
            </p:cNvSpPr>
            <p:nvPr/>
          </p:nvSpPr>
          <p:spPr bwMode="auto">
            <a:xfrm flipH="1" flipV="1">
              <a:off x="695" y="1734"/>
              <a:ext cx="408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2" name="Line 106"/>
            <p:cNvSpPr>
              <a:spLocks noChangeShapeType="1"/>
            </p:cNvSpPr>
            <p:nvPr/>
          </p:nvSpPr>
          <p:spPr bwMode="auto">
            <a:xfrm flipH="1" flipV="1">
              <a:off x="1820" y="677"/>
              <a:ext cx="405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3" name="Line 107"/>
            <p:cNvSpPr>
              <a:spLocks noChangeShapeType="1"/>
            </p:cNvSpPr>
            <p:nvPr/>
          </p:nvSpPr>
          <p:spPr bwMode="auto">
            <a:xfrm>
              <a:off x="1674" y="914"/>
              <a:ext cx="5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4" name="Freeform 108"/>
            <p:cNvSpPr>
              <a:spLocks/>
            </p:cNvSpPr>
            <p:nvPr/>
          </p:nvSpPr>
          <p:spPr bwMode="auto">
            <a:xfrm>
              <a:off x="702" y="684"/>
              <a:ext cx="774" cy="792"/>
            </a:xfrm>
            <a:custGeom>
              <a:avLst/>
              <a:gdLst>
                <a:gd name="T0" fmla="*/ 576 w 774"/>
                <a:gd name="T1" fmla="*/ 0 h 792"/>
                <a:gd name="T2" fmla="*/ 774 w 774"/>
                <a:gd name="T3" fmla="*/ 660 h 792"/>
                <a:gd name="T4" fmla="*/ 0 w 774"/>
                <a:gd name="T5" fmla="*/ 792 h 792"/>
                <a:gd name="T6" fmla="*/ 576 w 774"/>
                <a:gd name="T7" fmla="*/ 0 h 7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74"/>
                <a:gd name="T13" fmla="*/ 0 h 792"/>
                <a:gd name="T14" fmla="*/ 774 w 774"/>
                <a:gd name="T15" fmla="*/ 792 h 7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74" h="792">
                  <a:moveTo>
                    <a:pt x="576" y="0"/>
                  </a:moveTo>
                  <a:lnTo>
                    <a:pt x="774" y="660"/>
                  </a:lnTo>
                  <a:lnTo>
                    <a:pt x="0" y="792"/>
                  </a:lnTo>
                  <a:lnTo>
                    <a:pt x="576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5" name="Line 109"/>
            <p:cNvSpPr>
              <a:spLocks noChangeShapeType="1"/>
            </p:cNvSpPr>
            <p:nvPr/>
          </p:nvSpPr>
          <p:spPr bwMode="auto">
            <a:xfrm>
              <a:off x="696" y="1476"/>
              <a:ext cx="11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6" name="Line 110"/>
            <p:cNvSpPr>
              <a:spLocks noChangeShapeType="1"/>
            </p:cNvSpPr>
            <p:nvPr/>
          </p:nvSpPr>
          <p:spPr bwMode="auto">
            <a:xfrm flipH="1" flipV="1">
              <a:off x="1823" y="1476"/>
              <a:ext cx="408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7" name="Line 111"/>
            <p:cNvSpPr>
              <a:spLocks noChangeShapeType="1"/>
            </p:cNvSpPr>
            <p:nvPr/>
          </p:nvSpPr>
          <p:spPr bwMode="auto">
            <a:xfrm flipV="1">
              <a:off x="1818" y="594"/>
              <a:ext cx="0" cy="1134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8" name="Line 112"/>
            <p:cNvSpPr>
              <a:spLocks noChangeShapeType="1"/>
            </p:cNvSpPr>
            <p:nvPr/>
          </p:nvSpPr>
          <p:spPr bwMode="auto">
            <a:xfrm>
              <a:off x="2234" y="911"/>
              <a:ext cx="0" cy="800"/>
            </a:xfrm>
            <a:prstGeom prst="line">
              <a:avLst/>
            </a:prstGeom>
            <a:noFill/>
            <a:ln w="5715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9" name="Line 113"/>
            <p:cNvSpPr>
              <a:spLocks noChangeShapeType="1"/>
            </p:cNvSpPr>
            <p:nvPr/>
          </p:nvSpPr>
          <p:spPr bwMode="auto">
            <a:xfrm>
              <a:off x="1470" y="1344"/>
              <a:ext cx="40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40" name="Line 114"/>
            <p:cNvSpPr>
              <a:spLocks noChangeShapeType="1"/>
            </p:cNvSpPr>
            <p:nvPr/>
          </p:nvSpPr>
          <p:spPr bwMode="auto">
            <a:xfrm>
              <a:off x="1104" y="1704"/>
              <a:ext cx="11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41" name="Line 115"/>
            <p:cNvSpPr>
              <a:spLocks noChangeShapeType="1"/>
            </p:cNvSpPr>
            <p:nvPr/>
          </p:nvSpPr>
          <p:spPr bwMode="auto">
            <a:xfrm>
              <a:off x="1872" y="1578"/>
              <a:ext cx="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42" name="Line 116"/>
            <p:cNvSpPr>
              <a:spLocks noChangeShapeType="1"/>
            </p:cNvSpPr>
            <p:nvPr/>
          </p:nvSpPr>
          <p:spPr bwMode="auto">
            <a:xfrm>
              <a:off x="1272" y="690"/>
              <a:ext cx="0" cy="1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43" name="Line 117"/>
            <p:cNvSpPr>
              <a:spLocks noChangeShapeType="1"/>
            </p:cNvSpPr>
            <p:nvPr/>
          </p:nvSpPr>
          <p:spPr bwMode="auto">
            <a:xfrm>
              <a:off x="1278" y="1734"/>
              <a:ext cx="390" cy="2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44" name="Line 118"/>
            <p:cNvSpPr>
              <a:spLocks noChangeShapeType="1"/>
            </p:cNvSpPr>
            <p:nvPr/>
          </p:nvSpPr>
          <p:spPr bwMode="auto">
            <a:xfrm>
              <a:off x="1668" y="906"/>
              <a:ext cx="0" cy="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59" name="Text Box 119"/>
            <p:cNvSpPr txBox="1">
              <a:spLocks noChangeArrowheads="1"/>
            </p:cNvSpPr>
            <p:nvPr/>
          </p:nvSpPr>
          <p:spPr bwMode="auto">
            <a:xfrm>
              <a:off x="1065" y="1954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  <p:sp>
          <p:nvSpPr>
            <p:cNvPr id="25646" name="Line 120"/>
            <p:cNvSpPr>
              <a:spLocks noChangeShapeType="1"/>
            </p:cNvSpPr>
            <p:nvPr/>
          </p:nvSpPr>
          <p:spPr bwMode="auto">
            <a:xfrm flipH="1" flipV="1">
              <a:off x="1806" y="1338"/>
              <a:ext cx="41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47" name="Line 121"/>
            <p:cNvSpPr>
              <a:spLocks noChangeShapeType="1"/>
            </p:cNvSpPr>
            <p:nvPr/>
          </p:nvSpPr>
          <p:spPr bwMode="auto">
            <a:xfrm>
              <a:off x="1464" y="1344"/>
              <a:ext cx="3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48" name="Freeform 122"/>
            <p:cNvSpPr>
              <a:spLocks/>
            </p:cNvSpPr>
            <p:nvPr/>
          </p:nvSpPr>
          <p:spPr bwMode="auto">
            <a:xfrm>
              <a:off x="1098" y="912"/>
              <a:ext cx="774" cy="792"/>
            </a:xfrm>
            <a:custGeom>
              <a:avLst/>
              <a:gdLst>
                <a:gd name="T0" fmla="*/ 576 w 774"/>
                <a:gd name="T1" fmla="*/ 0 h 792"/>
                <a:gd name="T2" fmla="*/ 774 w 774"/>
                <a:gd name="T3" fmla="*/ 660 h 792"/>
                <a:gd name="T4" fmla="*/ 0 w 774"/>
                <a:gd name="T5" fmla="*/ 792 h 792"/>
                <a:gd name="T6" fmla="*/ 576 w 774"/>
                <a:gd name="T7" fmla="*/ 0 h 7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74"/>
                <a:gd name="T13" fmla="*/ 0 h 792"/>
                <a:gd name="T14" fmla="*/ 774 w 774"/>
                <a:gd name="T15" fmla="*/ 792 h 7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74" h="792">
                  <a:moveTo>
                    <a:pt x="576" y="0"/>
                  </a:moveTo>
                  <a:lnTo>
                    <a:pt x="774" y="660"/>
                  </a:lnTo>
                  <a:lnTo>
                    <a:pt x="0" y="792"/>
                  </a:lnTo>
                  <a:lnTo>
                    <a:pt x="576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8100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4" name="Rectangle 35"/>
          <p:cNvSpPr>
            <a:spLocks noChangeArrowheads="1"/>
          </p:cNvSpPr>
          <p:nvPr/>
        </p:nvSpPr>
        <p:spPr bwMode="auto">
          <a:xfrm>
            <a:off x="757238" y="5760072"/>
            <a:ext cx="806291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投影面平行面的投影特性：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  在所平行的投影面上的投影反映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实形</a:t>
            </a:r>
            <a:r>
              <a:rPr lang="zh-CN" altLang="en-US" sz="2000" dirty="0" smtClean="0">
                <a:latin typeface="黑体" pitchFamily="2" charset="-122"/>
                <a:ea typeface="黑体" pitchFamily="2" charset="-122"/>
              </a:rPr>
              <a:t>；在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其它两个投影面上的投影积聚成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直线</a:t>
            </a:r>
            <a:r>
              <a:rPr lang="zh-CN" altLang="en-US" sz="2000" dirty="0" smtClean="0">
                <a:latin typeface="黑体" pitchFamily="2" charset="-122"/>
                <a:ea typeface="黑体" pitchFamily="2" charset="-122"/>
              </a:rPr>
              <a:t>，并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平行于相应投影轴。</a:t>
            </a:r>
            <a:endParaRPr lang="zh-CN" altLang="en-US" sz="2000" b="0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63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63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75"/>
                                        <p:tgtEl>
                                          <p:spTgt spid="163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"/>
                                        <p:tgtEl>
                                          <p:spTgt spid="1638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"/>
                                        <p:tgtEl>
                                          <p:spTgt spid="163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75"/>
                                        <p:tgtEl>
                                          <p:spTgt spid="163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2" grpId="0" animBg="1" autoUpdateAnimBg="0"/>
      <p:bldP spid="163843" grpId="0" build="p" autoUpdateAnimBg="0"/>
      <p:bldP spid="163844" grpId="0" build="p" autoUpdateAnimBg="0"/>
      <p:bldP spid="163845" grpId="0" animBg="1" autoUpdateAnimBg="0"/>
      <p:bldP spid="163846" grpId="0" animBg="1" autoUpdateAnimBg="0"/>
      <p:bldP spid="163847" grpId="0" build="p" autoUpdateAnimBg="0"/>
      <p:bldP spid="163848" grpId="0" build="p" autoUpdateAnimBg="0"/>
      <p:bldP spid="163849" grpId="0" build="p" autoUpdateAnimBg="0"/>
      <p:bldP spid="163850" grpId="0" build="p" autoUpdateAnimBg="0"/>
      <p:bldP spid="1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FA94D759-D04C-4DB4-8E0C-B3891E40B44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8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52578" name="Rectangle 2"/>
          <p:cNvSpPr>
            <a:spLocks noChangeArrowheads="1"/>
          </p:cNvSpPr>
          <p:nvPr/>
        </p:nvSpPr>
        <p:spPr bwMode="auto">
          <a:xfrm>
            <a:off x="363538" y="1303338"/>
            <a:ext cx="8289925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投影面垂直面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eaLnBrk="1" hangingPunct="1"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　　垂直于某一个投影面、与另两个投影面倾斜的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平面 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投影面垂直面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。</a:t>
            </a:r>
          </a:p>
          <a:p>
            <a:pPr eaLnBrk="1" hangingPunct="1">
              <a:buClrTx/>
              <a:buFontTx/>
              <a:buNone/>
            </a:pPr>
            <a:endParaRPr lang="zh-CN" altLang="en-US" sz="280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平面垂直于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H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铅垂面</a:t>
            </a:r>
            <a:endParaRPr lang="zh-CN" altLang="en-US" sz="2800">
              <a:latin typeface="黑体" pitchFamily="2" charset="-122"/>
              <a:ea typeface="黑体" pitchFamily="2" charset="-122"/>
            </a:endParaRPr>
          </a:p>
          <a:p>
            <a:pPr eaLnBrk="1" hangingPunct="1">
              <a:buClrTx/>
              <a:buFontTx/>
              <a:buChar char="•"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平面垂直于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V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正垂面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平面垂直于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W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侧垂面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8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49916" y="6316134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9F676160-2627-4099-895B-3331132745EF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9</a:t>
            </a:fld>
            <a:endParaRPr lang="en-US" altLang="zh-CN" sz="1400" dirty="0" smtClean="0">
              <a:solidFill>
                <a:schemeClr val="bg2"/>
              </a:solidFill>
            </a:endParaRPr>
          </a:p>
        </p:txBody>
      </p:sp>
      <p:sp>
        <p:nvSpPr>
          <p:cNvPr id="150587" name="AutoShape 59" descr="蓝色砂纸"/>
          <p:cNvSpPr>
            <a:spLocks noChangeArrowheads="1"/>
          </p:cNvSpPr>
          <p:nvPr/>
        </p:nvSpPr>
        <p:spPr bwMode="auto">
          <a:xfrm>
            <a:off x="4211638" y="2754838"/>
            <a:ext cx="1287462" cy="739775"/>
          </a:xfrm>
          <a:prstGeom prst="wedgeRoundRectCallout">
            <a:avLst>
              <a:gd name="adj1" fmla="val -75278"/>
              <a:gd name="adj2" fmla="val -37556"/>
              <a:gd name="adj3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ea typeface="隶书" pitchFamily="49" charset="-122"/>
            </a:endParaRPr>
          </a:p>
        </p:txBody>
      </p:sp>
      <p:sp>
        <p:nvSpPr>
          <p:cNvPr id="150588" name="Text Box 60"/>
          <p:cNvSpPr txBox="1">
            <a:spLocks noChangeArrowheads="1"/>
          </p:cNvSpPr>
          <p:nvPr/>
        </p:nvSpPr>
        <p:spPr bwMode="auto">
          <a:xfrm>
            <a:off x="4419600" y="2658001"/>
            <a:ext cx="7445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333399"/>
                </a:solidFill>
                <a:ea typeface="隶书" pitchFamily="49" charset="-122"/>
                <a:sym typeface="Symbol" pitchFamily="18" charset="2"/>
              </a:rPr>
              <a:t> </a:t>
            </a:r>
            <a:r>
              <a:rPr lang="en-US" altLang="zh-CN" sz="2800" i="1">
                <a:solidFill>
                  <a:srgbClr val="333399"/>
                </a:solidFill>
                <a:ea typeface="隶书" pitchFamily="49" charset="-122"/>
              </a:rPr>
              <a:t>V</a:t>
            </a:r>
          </a:p>
        </p:txBody>
      </p:sp>
      <p:sp>
        <p:nvSpPr>
          <p:cNvPr id="150589" name="Rectangle 61"/>
          <p:cNvSpPr>
            <a:spLocks noChangeArrowheads="1"/>
          </p:cNvSpPr>
          <p:nvPr/>
        </p:nvSpPr>
        <p:spPr bwMode="auto">
          <a:xfrm>
            <a:off x="4224338" y="3027888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ea typeface="黑体" pitchFamily="2" charset="-122"/>
              </a:rPr>
              <a:t>正垂面</a:t>
            </a:r>
          </a:p>
        </p:txBody>
      </p:sp>
      <p:sp>
        <p:nvSpPr>
          <p:cNvPr id="150590" name="AutoShape 62" descr="蓝色砂纸"/>
          <p:cNvSpPr>
            <a:spLocks noChangeArrowheads="1"/>
          </p:cNvSpPr>
          <p:nvPr/>
        </p:nvSpPr>
        <p:spPr bwMode="auto">
          <a:xfrm>
            <a:off x="6715125" y="2954863"/>
            <a:ext cx="1219200" cy="739775"/>
          </a:xfrm>
          <a:prstGeom prst="wedgeRoundRectCallout">
            <a:avLst>
              <a:gd name="adj1" fmla="val 61588"/>
              <a:gd name="adj2" fmla="val -83690"/>
              <a:gd name="adj3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ea typeface="隶书" pitchFamily="49" charset="-122"/>
            </a:endParaRPr>
          </a:p>
        </p:txBody>
      </p:sp>
      <p:sp>
        <p:nvSpPr>
          <p:cNvPr id="150591" name="AutoShape 63" descr="蓝色砂纸"/>
          <p:cNvSpPr>
            <a:spLocks noChangeArrowheads="1"/>
          </p:cNvSpPr>
          <p:nvPr/>
        </p:nvSpPr>
        <p:spPr bwMode="auto">
          <a:xfrm>
            <a:off x="4813300" y="4985276"/>
            <a:ext cx="1289050" cy="774700"/>
          </a:xfrm>
          <a:prstGeom prst="wedgeRoundRectCallout">
            <a:avLst>
              <a:gd name="adj1" fmla="val -104185"/>
              <a:gd name="adj2" fmla="val -90778"/>
              <a:gd name="adj3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ea typeface="隶书" pitchFamily="49" charset="-122"/>
            </a:endParaRPr>
          </a:p>
        </p:txBody>
      </p:sp>
      <p:sp>
        <p:nvSpPr>
          <p:cNvPr id="150592" name="Rectangle 64"/>
          <p:cNvSpPr>
            <a:spLocks noChangeArrowheads="1"/>
          </p:cNvSpPr>
          <p:nvPr/>
        </p:nvSpPr>
        <p:spPr bwMode="auto">
          <a:xfrm>
            <a:off x="6723063" y="3223151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ea typeface="黑体" pitchFamily="2" charset="-122"/>
              </a:rPr>
              <a:t>铅垂面</a:t>
            </a:r>
          </a:p>
        </p:txBody>
      </p:sp>
      <p:sp>
        <p:nvSpPr>
          <p:cNvPr id="150593" name="Text Box 65"/>
          <p:cNvSpPr txBox="1">
            <a:spLocks noChangeArrowheads="1"/>
          </p:cNvSpPr>
          <p:nvPr/>
        </p:nvSpPr>
        <p:spPr bwMode="auto">
          <a:xfrm>
            <a:off x="6989763" y="2869138"/>
            <a:ext cx="784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333399"/>
                </a:solidFill>
                <a:ea typeface="隶书" pitchFamily="49" charset="-122"/>
                <a:sym typeface="Symbol" pitchFamily="18" charset="2"/>
              </a:rPr>
              <a:t> </a:t>
            </a:r>
            <a:r>
              <a:rPr lang="en-US" altLang="zh-CN" sz="2800" i="1">
                <a:solidFill>
                  <a:srgbClr val="333399"/>
                </a:solidFill>
                <a:ea typeface="隶书" pitchFamily="49" charset="-122"/>
              </a:rPr>
              <a:t>H</a:t>
            </a:r>
          </a:p>
        </p:txBody>
      </p:sp>
      <p:sp>
        <p:nvSpPr>
          <p:cNvPr id="150594" name="Text Box 66"/>
          <p:cNvSpPr txBox="1">
            <a:spLocks noChangeArrowheads="1"/>
          </p:cNvSpPr>
          <p:nvPr/>
        </p:nvSpPr>
        <p:spPr bwMode="auto">
          <a:xfrm>
            <a:off x="5084763" y="4915426"/>
            <a:ext cx="823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333399"/>
                </a:solidFill>
                <a:ea typeface="隶书" pitchFamily="49" charset="-122"/>
                <a:sym typeface="Symbol" pitchFamily="18" charset="2"/>
              </a:rPr>
              <a:t> </a:t>
            </a:r>
            <a:r>
              <a:rPr lang="en-US" altLang="zh-CN" sz="2800" i="1">
                <a:solidFill>
                  <a:srgbClr val="333399"/>
                </a:solidFill>
                <a:ea typeface="隶书" pitchFamily="49" charset="-122"/>
              </a:rPr>
              <a:t>W</a:t>
            </a:r>
          </a:p>
        </p:txBody>
      </p:sp>
      <p:sp>
        <p:nvSpPr>
          <p:cNvPr id="150595" name="Rectangle 67"/>
          <p:cNvSpPr>
            <a:spLocks noChangeArrowheads="1"/>
          </p:cNvSpPr>
          <p:nvPr/>
        </p:nvSpPr>
        <p:spPr bwMode="auto">
          <a:xfrm>
            <a:off x="4856163" y="5285313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ea typeface="黑体" pitchFamily="2" charset="-122"/>
              </a:rPr>
              <a:t>侧垂面</a:t>
            </a:r>
          </a:p>
        </p:txBody>
      </p:sp>
      <p:grpSp>
        <p:nvGrpSpPr>
          <p:cNvPr id="2" name="Group 68"/>
          <p:cNvGrpSpPr>
            <a:grpSpLocks/>
          </p:cNvGrpSpPr>
          <p:nvPr/>
        </p:nvGrpSpPr>
        <p:grpSpPr bwMode="auto">
          <a:xfrm>
            <a:off x="600075" y="171976"/>
            <a:ext cx="3590925" cy="2638425"/>
            <a:chOff x="392" y="580"/>
            <a:chExt cx="2262" cy="1662"/>
          </a:xfrm>
        </p:grpSpPr>
        <p:grpSp>
          <p:nvGrpSpPr>
            <p:cNvPr id="29795" name="Group 69"/>
            <p:cNvGrpSpPr>
              <a:grpSpLocks/>
            </p:cNvGrpSpPr>
            <p:nvPr/>
          </p:nvGrpSpPr>
          <p:grpSpPr bwMode="auto">
            <a:xfrm>
              <a:off x="411" y="612"/>
              <a:ext cx="2221" cy="1578"/>
              <a:chOff x="1000" y="744"/>
              <a:chExt cx="3067" cy="2178"/>
            </a:xfrm>
          </p:grpSpPr>
          <p:sp>
            <p:nvSpPr>
              <p:cNvPr id="29833" name="Freeform 70"/>
              <p:cNvSpPr>
                <a:spLocks/>
              </p:cNvSpPr>
              <p:nvPr/>
            </p:nvSpPr>
            <p:spPr bwMode="auto">
              <a:xfrm>
                <a:off x="1000" y="2293"/>
                <a:ext cx="3067" cy="629"/>
              </a:xfrm>
              <a:custGeom>
                <a:avLst/>
                <a:gdLst>
                  <a:gd name="T0" fmla="*/ 989 w 3067"/>
                  <a:gd name="T1" fmla="*/ 629 h 629"/>
                  <a:gd name="T2" fmla="*/ 3067 w 3067"/>
                  <a:gd name="T3" fmla="*/ 629 h 629"/>
                  <a:gd name="T4" fmla="*/ 1978 w 3067"/>
                  <a:gd name="T5" fmla="*/ 0 h 629"/>
                  <a:gd name="T6" fmla="*/ 0 w 3067"/>
                  <a:gd name="T7" fmla="*/ 0 h 629"/>
                  <a:gd name="T8" fmla="*/ 989 w 3067"/>
                  <a:gd name="T9" fmla="*/ 629 h 6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7"/>
                  <a:gd name="T16" fmla="*/ 0 h 629"/>
                  <a:gd name="T17" fmla="*/ 3067 w 3067"/>
                  <a:gd name="T18" fmla="*/ 629 h 6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7" h="629">
                    <a:moveTo>
                      <a:pt x="989" y="629"/>
                    </a:moveTo>
                    <a:lnTo>
                      <a:pt x="3067" y="629"/>
                    </a:lnTo>
                    <a:lnTo>
                      <a:pt x="1978" y="0"/>
                    </a:lnTo>
                    <a:lnTo>
                      <a:pt x="0" y="0"/>
                    </a:lnTo>
                    <a:lnTo>
                      <a:pt x="989" y="629"/>
                    </a:lnTo>
                    <a:close/>
                  </a:path>
                </a:pathLst>
              </a:custGeom>
              <a:solidFill>
                <a:srgbClr val="CCFFFF"/>
              </a:solidFill>
              <a:ln w="28575" cmpd="sng">
                <a:solidFill>
                  <a:srgbClr val="CCE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834" name="Rectangle 71"/>
              <p:cNvSpPr>
                <a:spLocks noChangeArrowheads="1"/>
              </p:cNvSpPr>
              <p:nvPr/>
            </p:nvSpPr>
            <p:spPr bwMode="auto">
              <a:xfrm>
                <a:off x="1000" y="744"/>
                <a:ext cx="1934" cy="1534"/>
              </a:xfrm>
              <a:prstGeom prst="rect">
                <a:avLst/>
              </a:prstGeom>
              <a:solidFill>
                <a:srgbClr val="CCFFCC"/>
              </a:solidFill>
              <a:ln w="38100">
                <a:solidFill>
                  <a:srgbClr val="CCFF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9835" name="Freeform 72"/>
              <p:cNvSpPr>
                <a:spLocks/>
              </p:cNvSpPr>
              <p:nvPr/>
            </p:nvSpPr>
            <p:spPr bwMode="auto">
              <a:xfrm>
                <a:off x="2956" y="744"/>
                <a:ext cx="1111" cy="2175"/>
              </a:xfrm>
              <a:custGeom>
                <a:avLst/>
                <a:gdLst>
                  <a:gd name="T0" fmla="*/ 0 w 1111"/>
                  <a:gd name="T1" fmla="*/ 0 h 2175"/>
                  <a:gd name="T2" fmla="*/ 0 w 1111"/>
                  <a:gd name="T3" fmla="*/ 1534 h 2175"/>
                  <a:gd name="T4" fmla="*/ 1111 w 1111"/>
                  <a:gd name="T5" fmla="*/ 2175 h 2175"/>
                  <a:gd name="T6" fmla="*/ 1111 w 1111"/>
                  <a:gd name="T7" fmla="*/ 589 h 2175"/>
                  <a:gd name="T8" fmla="*/ 0 w 1111"/>
                  <a:gd name="T9" fmla="*/ 0 h 21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11"/>
                  <a:gd name="T16" fmla="*/ 0 h 2175"/>
                  <a:gd name="T17" fmla="*/ 1111 w 1111"/>
                  <a:gd name="T18" fmla="*/ 2175 h 21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11" h="2175">
                    <a:moveTo>
                      <a:pt x="0" y="0"/>
                    </a:moveTo>
                    <a:lnTo>
                      <a:pt x="0" y="1534"/>
                    </a:lnTo>
                    <a:lnTo>
                      <a:pt x="1111" y="2175"/>
                    </a:lnTo>
                    <a:lnTo>
                      <a:pt x="1111" y="5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CC"/>
              </a:solidFill>
              <a:ln w="28575" cmpd="sng">
                <a:solidFill>
                  <a:srgbClr val="FFFF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796" name="Line 73"/>
            <p:cNvSpPr>
              <a:spLocks noChangeShapeType="1"/>
            </p:cNvSpPr>
            <p:nvPr/>
          </p:nvSpPr>
          <p:spPr bwMode="auto">
            <a:xfrm>
              <a:off x="396" y="1733"/>
              <a:ext cx="1431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97" name="Line 74"/>
            <p:cNvSpPr>
              <a:spLocks noChangeShapeType="1"/>
            </p:cNvSpPr>
            <p:nvPr/>
          </p:nvSpPr>
          <p:spPr bwMode="auto">
            <a:xfrm>
              <a:off x="1816" y="1727"/>
              <a:ext cx="820" cy="469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98" name="Line 75"/>
            <p:cNvSpPr>
              <a:spLocks noChangeShapeType="1"/>
            </p:cNvSpPr>
            <p:nvPr/>
          </p:nvSpPr>
          <p:spPr bwMode="auto">
            <a:xfrm>
              <a:off x="1703" y="1382"/>
              <a:ext cx="0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99" name="Line 76"/>
            <p:cNvSpPr>
              <a:spLocks noChangeShapeType="1"/>
            </p:cNvSpPr>
            <p:nvPr/>
          </p:nvSpPr>
          <p:spPr bwMode="auto">
            <a:xfrm>
              <a:off x="982" y="1619"/>
              <a:ext cx="0" cy="2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00" name="Line 77"/>
            <p:cNvSpPr>
              <a:spLocks noChangeShapeType="1"/>
            </p:cNvSpPr>
            <p:nvPr/>
          </p:nvSpPr>
          <p:spPr bwMode="auto">
            <a:xfrm flipV="1">
              <a:off x="1289" y="682"/>
              <a:ext cx="0" cy="10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01" name="Line 78"/>
            <p:cNvSpPr>
              <a:spLocks noChangeShapeType="1"/>
            </p:cNvSpPr>
            <p:nvPr/>
          </p:nvSpPr>
          <p:spPr bwMode="auto">
            <a:xfrm flipV="1">
              <a:off x="697" y="1478"/>
              <a:ext cx="0" cy="2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02" name="Line 79"/>
            <p:cNvSpPr>
              <a:spLocks noChangeShapeType="1"/>
            </p:cNvSpPr>
            <p:nvPr/>
          </p:nvSpPr>
          <p:spPr bwMode="auto">
            <a:xfrm>
              <a:off x="1703" y="2108"/>
              <a:ext cx="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03" name="Line 80"/>
            <p:cNvSpPr>
              <a:spLocks noChangeShapeType="1"/>
            </p:cNvSpPr>
            <p:nvPr/>
          </p:nvSpPr>
          <p:spPr bwMode="auto">
            <a:xfrm flipV="1">
              <a:off x="2118" y="1637"/>
              <a:ext cx="0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04" name="Line 81"/>
            <p:cNvSpPr>
              <a:spLocks noChangeShapeType="1"/>
            </p:cNvSpPr>
            <p:nvPr/>
          </p:nvSpPr>
          <p:spPr bwMode="auto">
            <a:xfrm flipH="1" flipV="1">
              <a:off x="1270" y="677"/>
              <a:ext cx="148" cy="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610" name="Text Box 82"/>
            <p:cNvSpPr txBox="1">
              <a:spLocks noChangeArrowheads="1"/>
            </p:cNvSpPr>
            <p:nvPr/>
          </p:nvSpPr>
          <p:spPr bwMode="auto">
            <a:xfrm>
              <a:off x="392" y="580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V</a:t>
              </a:r>
            </a:p>
          </p:txBody>
        </p:sp>
        <p:sp>
          <p:nvSpPr>
            <p:cNvPr id="150611" name="Text Box 83"/>
            <p:cNvSpPr txBox="1">
              <a:spLocks noChangeArrowheads="1"/>
            </p:cNvSpPr>
            <p:nvPr/>
          </p:nvSpPr>
          <p:spPr bwMode="auto">
            <a:xfrm>
              <a:off x="2367" y="970"/>
              <a:ext cx="28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W</a:t>
              </a:r>
            </a:p>
          </p:txBody>
        </p:sp>
        <p:sp>
          <p:nvSpPr>
            <p:cNvPr id="150612" name="Text Box 84"/>
            <p:cNvSpPr txBox="1">
              <a:spLocks noChangeArrowheads="1"/>
            </p:cNvSpPr>
            <p:nvPr/>
          </p:nvSpPr>
          <p:spPr bwMode="auto">
            <a:xfrm>
              <a:off x="1065" y="1954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  <p:sp>
          <p:nvSpPr>
            <p:cNvPr id="29808" name="Line 85"/>
            <p:cNvSpPr>
              <a:spLocks noChangeShapeType="1"/>
            </p:cNvSpPr>
            <p:nvPr/>
          </p:nvSpPr>
          <p:spPr bwMode="auto">
            <a:xfrm>
              <a:off x="1279" y="683"/>
              <a:ext cx="5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09" name="Line 86"/>
            <p:cNvSpPr>
              <a:spLocks noChangeShapeType="1"/>
            </p:cNvSpPr>
            <p:nvPr/>
          </p:nvSpPr>
          <p:spPr bwMode="auto">
            <a:xfrm flipH="1" flipV="1">
              <a:off x="683" y="1471"/>
              <a:ext cx="308" cy="1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0" name="Line 87"/>
            <p:cNvSpPr>
              <a:spLocks noChangeShapeType="1"/>
            </p:cNvSpPr>
            <p:nvPr/>
          </p:nvSpPr>
          <p:spPr bwMode="auto">
            <a:xfrm flipH="1" flipV="1">
              <a:off x="695" y="1734"/>
              <a:ext cx="288" cy="1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1" name="Line 88"/>
            <p:cNvSpPr>
              <a:spLocks noChangeShapeType="1"/>
            </p:cNvSpPr>
            <p:nvPr/>
          </p:nvSpPr>
          <p:spPr bwMode="auto">
            <a:xfrm flipH="1" flipV="1">
              <a:off x="1820" y="683"/>
              <a:ext cx="148" cy="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2" name="Line 89"/>
            <p:cNvSpPr>
              <a:spLocks noChangeShapeType="1"/>
            </p:cNvSpPr>
            <p:nvPr/>
          </p:nvSpPr>
          <p:spPr bwMode="auto">
            <a:xfrm>
              <a:off x="1416" y="770"/>
              <a:ext cx="5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3" name="Line 90"/>
            <p:cNvSpPr>
              <a:spLocks noChangeShapeType="1"/>
            </p:cNvSpPr>
            <p:nvPr/>
          </p:nvSpPr>
          <p:spPr bwMode="auto">
            <a:xfrm>
              <a:off x="696" y="1476"/>
              <a:ext cx="11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4" name="Line 91"/>
            <p:cNvSpPr>
              <a:spLocks noChangeShapeType="1"/>
            </p:cNvSpPr>
            <p:nvPr/>
          </p:nvSpPr>
          <p:spPr bwMode="auto">
            <a:xfrm flipH="1" flipV="1">
              <a:off x="1817" y="1476"/>
              <a:ext cx="294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5" name="Line 92"/>
            <p:cNvSpPr>
              <a:spLocks noChangeShapeType="1"/>
            </p:cNvSpPr>
            <p:nvPr/>
          </p:nvSpPr>
          <p:spPr bwMode="auto">
            <a:xfrm flipV="1">
              <a:off x="1818" y="594"/>
              <a:ext cx="0" cy="1134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6" name="Line 93"/>
            <p:cNvSpPr>
              <a:spLocks noChangeShapeType="1"/>
            </p:cNvSpPr>
            <p:nvPr/>
          </p:nvSpPr>
          <p:spPr bwMode="auto">
            <a:xfrm flipH="1">
              <a:off x="696" y="690"/>
              <a:ext cx="588" cy="792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7" name="Line 94"/>
            <p:cNvSpPr>
              <a:spLocks noChangeShapeType="1"/>
            </p:cNvSpPr>
            <p:nvPr/>
          </p:nvSpPr>
          <p:spPr bwMode="auto">
            <a:xfrm flipH="1" flipV="1">
              <a:off x="1060" y="990"/>
              <a:ext cx="640" cy="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8" name="Line 95"/>
            <p:cNvSpPr>
              <a:spLocks noChangeShapeType="1"/>
            </p:cNvSpPr>
            <p:nvPr/>
          </p:nvSpPr>
          <p:spPr bwMode="auto">
            <a:xfrm flipV="1">
              <a:off x="1061" y="988"/>
              <a:ext cx="0" cy="7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9" name="Line 96"/>
            <p:cNvSpPr>
              <a:spLocks noChangeShapeType="1"/>
            </p:cNvSpPr>
            <p:nvPr/>
          </p:nvSpPr>
          <p:spPr bwMode="auto">
            <a:xfrm flipH="1" flipV="1">
              <a:off x="1285" y="1735"/>
              <a:ext cx="134" cy="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0" name="Line 97"/>
            <p:cNvSpPr>
              <a:spLocks noChangeShapeType="1"/>
            </p:cNvSpPr>
            <p:nvPr/>
          </p:nvSpPr>
          <p:spPr bwMode="auto">
            <a:xfrm>
              <a:off x="1416" y="768"/>
              <a:ext cx="0" cy="1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1" name="Line 98"/>
            <p:cNvSpPr>
              <a:spLocks noChangeShapeType="1"/>
            </p:cNvSpPr>
            <p:nvPr/>
          </p:nvSpPr>
          <p:spPr bwMode="auto">
            <a:xfrm>
              <a:off x="984" y="1902"/>
              <a:ext cx="11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2" name="Line 99"/>
            <p:cNvSpPr>
              <a:spLocks noChangeShapeType="1"/>
            </p:cNvSpPr>
            <p:nvPr/>
          </p:nvSpPr>
          <p:spPr bwMode="auto">
            <a:xfrm>
              <a:off x="1422" y="1812"/>
              <a:ext cx="5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3" name="Line 100"/>
            <p:cNvSpPr>
              <a:spLocks noChangeShapeType="1"/>
            </p:cNvSpPr>
            <p:nvPr/>
          </p:nvSpPr>
          <p:spPr bwMode="auto">
            <a:xfrm>
              <a:off x="1062" y="990"/>
              <a:ext cx="7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4" name="Line 101"/>
            <p:cNvSpPr>
              <a:spLocks noChangeShapeType="1"/>
            </p:cNvSpPr>
            <p:nvPr/>
          </p:nvSpPr>
          <p:spPr bwMode="auto">
            <a:xfrm flipV="1">
              <a:off x="2472" y="1356"/>
              <a:ext cx="0" cy="7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5" name="Line 102"/>
            <p:cNvSpPr>
              <a:spLocks noChangeShapeType="1"/>
            </p:cNvSpPr>
            <p:nvPr/>
          </p:nvSpPr>
          <p:spPr bwMode="auto">
            <a:xfrm>
              <a:off x="1962" y="762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6" name="Freeform 103"/>
            <p:cNvSpPr>
              <a:spLocks/>
            </p:cNvSpPr>
            <p:nvPr/>
          </p:nvSpPr>
          <p:spPr bwMode="auto">
            <a:xfrm>
              <a:off x="990" y="1812"/>
              <a:ext cx="714" cy="294"/>
            </a:xfrm>
            <a:custGeom>
              <a:avLst/>
              <a:gdLst>
                <a:gd name="T0" fmla="*/ 426 w 714"/>
                <a:gd name="T1" fmla="*/ 0 h 294"/>
                <a:gd name="T2" fmla="*/ 0 w 714"/>
                <a:gd name="T3" fmla="*/ 90 h 294"/>
                <a:gd name="T4" fmla="*/ 714 w 714"/>
                <a:gd name="T5" fmla="*/ 294 h 294"/>
                <a:gd name="T6" fmla="*/ 426 w 714"/>
                <a:gd name="T7" fmla="*/ 0 h 2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4"/>
                <a:gd name="T13" fmla="*/ 0 h 294"/>
                <a:gd name="T14" fmla="*/ 714 w 714"/>
                <a:gd name="T15" fmla="*/ 294 h 2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4" h="294">
                  <a:moveTo>
                    <a:pt x="426" y="0"/>
                  </a:moveTo>
                  <a:lnTo>
                    <a:pt x="0" y="90"/>
                  </a:lnTo>
                  <a:lnTo>
                    <a:pt x="714" y="294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7" name="Freeform 104"/>
            <p:cNvSpPr>
              <a:spLocks/>
            </p:cNvSpPr>
            <p:nvPr/>
          </p:nvSpPr>
          <p:spPr bwMode="auto">
            <a:xfrm>
              <a:off x="1962" y="768"/>
              <a:ext cx="510" cy="882"/>
            </a:xfrm>
            <a:custGeom>
              <a:avLst/>
              <a:gdLst>
                <a:gd name="T0" fmla="*/ 0 w 510"/>
                <a:gd name="T1" fmla="*/ 0 h 882"/>
                <a:gd name="T2" fmla="*/ 510 w 510"/>
                <a:gd name="T3" fmla="*/ 594 h 882"/>
                <a:gd name="T4" fmla="*/ 156 w 510"/>
                <a:gd name="T5" fmla="*/ 882 h 882"/>
                <a:gd name="T6" fmla="*/ 0 w 510"/>
                <a:gd name="T7" fmla="*/ 0 h 8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0"/>
                <a:gd name="T13" fmla="*/ 0 h 882"/>
                <a:gd name="T14" fmla="*/ 510 w 510"/>
                <a:gd name="T15" fmla="*/ 882 h 8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0" h="882">
                  <a:moveTo>
                    <a:pt x="0" y="0"/>
                  </a:moveTo>
                  <a:lnTo>
                    <a:pt x="510" y="594"/>
                  </a:lnTo>
                  <a:lnTo>
                    <a:pt x="156" y="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8" name="Line 105"/>
            <p:cNvSpPr>
              <a:spLocks noChangeShapeType="1"/>
            </p:cNvSpPr>
            <p:nvPr/>
          </p:nvSpPr>
          <p:spPr bwMode="auto">
            <a:xfrm>
              <a:off x="1710" y="137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9" name="Line 106"/>
            <p:cNvSpPr>
              <a:spLocks noChangeShapeType="1"/>
            </p:cNvSpPr>
            <p:nvPr/>
          </p:nvSpPr>
          <p:spPr bwMode="auto">
            <a:xfrm>
              <a:off x="984" y="1650"/>
              <a:ext cx="11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30" name="Line 107"/>
            <p:cNvSpPr>
              <a:spLocks noChangeShapeType="1"/>
            </p:cNvSpPr>
            <p:nvPr/>
          </p:nvSpPr>
          <p:spPr bwMode="auto">
            <a:xfrm flipH="1" flipV="1">
              <a:off x="1057" y="1735"/>
              <a:ext cx="636" cy="3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31" name="Freeform 108"/>
            <p:cNvSpPr>
              <a:spLocks/>
            </p:cNvSpPr>
            <p:nvPr/>
          </p:nvSpPr>
          <p:spPr bwMode="auto">
            <a:xfrm>
              <a:off x="984" y="768"/>
              <a:ext cx="732" cy="882"/>
            </a:xfrm>
            <a:custGeom>
              <a:avLst/>
              <a:gdLst>
                <a:gd name="T0" fmla="*/ 444 w 732"/>
                <a:gd name="T1" fmla="*/ 0 h 882"/>
                <a:gd name="T2" fmla="*/ 732 w 732"/>
                <a:gd name="T3" fmla="*/ 612 h 882"/>
                <a:gd name="T4" fmla="*/ 0 w 732"/>
                <a:gd name="T5" fmla="*/ 882 h 882"/>
                <a:gd name="T6" fmla="*/ 444 w 732"/>
                <a:gd name="T7" fmla="*/ 0 h 8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32"/>
                <a:gd name="T13" fmla="*/ 0 h 882"/>
                <a:gd name="T14" fmla="*/ 732 w 732"/>
                <a:gd name="T15" fmla="*/ 882 h 8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32" h="882">
                  <a:moveTo>
                    <a:pt x="444" y="0"/>
                  </a:moveTo>
                  <a:lnTo>
                    <a:pt x="732" y="612"/>
                  </a:lnTo>
                  <a:lnTo>
                    <a:pt x="0" y="882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8100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32" name="Line 109"/>
            <p:cNvSpPr>
              <a:spLocks noChangeShapeType="1"/>
            </p:cNvSpPr>
            <p:nvPr/>
          </p:nvSpPr>
          <p:spPr bwMode="auto">
            <a:xfrm flipH="1" flipV="1">
              <a:off x="1811" y="984"/>
              <a:ext cx="662" cy="3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10"/>
          <p:cNvGrpSpPr>
            <a:grpSpLocks/>
          </p:cNvGrpSpPr>
          <p:nvPr/>
        </p:nvGrpSpPr>
        <p:grpSpPr bwMode="auto">
          <a:xfrm>
            <a:off x="5241925" y="171976"/>
            <a:ext cx="3595688" cy="2643187"/>
            <a:chOff x="3316" y="580"/>
            <a:chExt cx="2265" cy="1665"/>
          </a:xfrm>
        </p:grpSpPr>
        <p:grpSp>
          <p:nvGrpSpPr>
            <p:cNvPr id="29752" name="Group 111"/>
            <p:cNvGrpSpPr>
              <a:grpSpLocks/>
            </p:cNvGrpSpPr>
            <p:nvPr/>
          </p:nvGrpSpPr>
          <p:grpSpPr bwMode="auto">
            <a:xfrm>
              <a:off x="3320" y="597"/>
              <a:ext cx="2244" cy="1602"/>
              <a:chOff x="384" y="829"/>
              <a:chExt cx="2376" cy="1695"/>
            </a:xfrm>
          </p:grpSpPr>
          <p:grpSp>
            <p:nvGrpSpPr>
              <p:cNvPr id="29788" name="Group 112"/>
              <p:cNvGrpSpPr>
                <a:grpSpLocks/>
              </p:cNvGrpSpPr>
              <p:nvPr/>
            </p:nvGrpSpPr>
            <p:grpSpPr bwMode="auto">
              <a:xfrm>
                <a:off x="400" y="845"/>
                <a:ext cx="2356" cy="1673"/>
                <a:chOff x="1000" y="744"/>
                <a:chExt cx="3067" cy="2178"/>
              </a:xfrm>
            </p:grpSpPr>
            <p:sp>
              <p:nvSpPr>
                <p:cNvPr id="29792" name="Freeform 113"/>
                <p:cNvSpPr>
                  <a:spLocks/>
                </p:cNvSpPr>
                <p:nvPr/>
              </p:nvSpPr>
              <p:spPr bwMode="auto">
                <a:xfrm>
                  <a:off x="1000" y="2293"/>
                  <a:ext cx="3067" cy="629"/>
                </a:xfrm>
                <a:custGeom>
                  <a:avLst/>
                  <a:gdLst>
                    <a:gd name="T0" fmla="*/ 989 w 3067"/>
                    <a:gd name="T1" fmla="*/ 629 h 629"/>
                    <a:gd name="T2" fmla="*/ 3067 w 3067"/>
                    <a:gd name="T3" fmla="*/ 629 h 629"/>
                    <a:gd name="T4" fmla="*/ 1978 w 3067"/>
                    <a:gd name="T5" fmla="*/ 0 h 629"/>
                    <a:gd name="T6" fmla="*/ 0 w 3067"/>
                    <a:gd name="T7" fmla="*/ 0 h 629"/>
                    <a:gd name="T8" fmla="*/ 989 w 3067"/>
                    <a:gd name="T9" fmla="*/ 629 h 6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7"/>
                    <a:gd name="T16" fmla="*/ 0 h 629"/>
                    <a:gd name="T17" fmla="*/ 3067 w 3067"/>
                    <a:gd name="T18" fmla="*/ 629 h 6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7" h="629">
                      <a:moveTo>
                        <a:pt x="989" y="629"/>
                      </a:moveTo>
                      <a:lnTo>
                        <a:pt x="3067" y="629"/>
                      </a:lnTo>
                      <a:lnTo>
                        <a:pt x="1978" y="0"/>
                      </a:lnTo>
                      <a:lnTo>
                        <a:pt x="0" y="0"/>
                      </a:lnTo>
                      <a:lnTo>
                        <a:pt x="989" y="629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28575" cmpd="sng">
                  <a:solidFill>
                    <a:srgbClr val="CCE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93" name="Rectangle 114"/>
                <p:cNvSpPr>
                  <a:spLocks noChangeArrowheads="1"/>
                </p:cNvSpPr>
                <p:nvPr/>
              </p:nvSpPr>
              <p:spPr bwMode="auto">
                <a:xfrm>
                  <a:off x="1000" y="744"/>
                  <a:ext cx="1934" cy="1534"/>
                </a:xfrm>
                <a:prstGeom prst="rect">
                  <a:avLst/>
                </a:prstGeom>
                <a:solidFill>
                  <a:srgbClr val="CCFFCC"/>
                </a:solidFill>
                <a:ln w="38100">
                  <a:solidFill>
                    <a:srgbClr val="CCFF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29794" name="Freeform 115"/>
                <p:cNvSpPr>
                  <a:spLocks/>
                </p:cNvSpPr>
                <p:nvPr/>
              </p:nvSpPr>
              <p:spPr bwMode="auto">
                <a:xfrm>
                  <a:off x="2956" y="744"/>
                  <a:ext cx="1111" cy="2175"/>
                </a:xfrm>
                <a:custGeom>
                  <a:avLst/>
                  <a:gdLst>
                    <a:gd name="T0" fmla="*/ 0 w 1111"/>
                    <a:gd name="T1" fmla="*/ 0 h 2175"/>
                    <a:gd name="T2" fmla="*/ 0 w 1111"/>
                    <a:gd name="T3" fmla="*/ 1534 h 2175"/>
                    <a:gd name="T4" fmla="*/ 1111 w 1111"/>
                    <a:gd name="T5" fmla="*/ 2175 h 2175"/>
                    <a:gd name="T6" fmla="*/ 1111 w 1111"/>
                    <a:gd name="T7" fmla="*/ 589 h 2175"/>
                    <a:gd name="T8" fmla="*/ 0 w 1111"/>
                    <a:gd name="T9" fmla="*/ 0 h 217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11"/>
                    <a:gd name="T16" fmla="*/ 0 h 2175"/>
                    <a:gd name="T17" fmla="*/ 1111 w 1111"/>
                    <a:gd name="T18" fmla="*/ 2175 h 217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11" h="2175">
                      <a:moveTo>
                        <a:pt x="0" y="0"/>
                      </a:moveTo>
                      <a:lnTo>
                        <a:pt x="0" y="1534"/>
                      </a:lnTo>
                      <a:lnTo>
                        <a:pt x="1111" y="2175"/>
                      </a:lnTo>
                      <a:lnTo>
                        <a:pt x="1111" y="58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28575" cmpd="sng">
                  <a:solidFill>
                    <a:srgbClr val="FFFF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9789" name="Line 116"/>
              <p:cNvSpPr>
                <a:spLocks noChangeShapeType="1"/>
              </p:cNvSpPr>
              <p:nvPr/>
            </p:nvSpPr>
            <p:spPr bwMode="auto">
              <a:xfrm>
                <a:off x="384" y="2033"/>
                <a:ext cx="1518" cy="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90" name="Line 117"/>
              <p:cNvSpPr>
                <a:spLocks noChangeShapeType="1"/>
              </p:cNvSpPr>
              <p:nvPr/>
            </p:nvSpPr>
            <p:spPr bwMode="auto">
              <a:xfrm>
                <a:off x="1890" y="2027"/>
                <a:ext cx="870" cy="497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91" name="Line 118"/>
              <p:cNvSpPr>
                <a:spLocks noChangeShapeType="1"/>
              </p:cNvSpPr>
              <p:nvPr/>
            </p:nvSpPr>
            <p:spPr bwMode="auto">
              <a:xfrm flipV="1">
                <a:off x="1895" y="829"/>
                <a:ext cx="0" cy="1201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753" name="Line 119"/>
            <p:cNvSpPr>
              <a:spLocks noChangeShapeType="1"/>
            </p:cNvSpPr>
            <p:nvPr/>
          </p:nvSpPr>
          <p:spPr bwMode="auto">
            <a:xfrm>
              <a:off x="3948" y="1483"/>
              <a:ext cx="0" cy="3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4" name="Line 120"/>
            <p:cNvSpPr>
              <a:spLocks noChangeShapeType="1"/>
            </p:cNvSpPr>
            <p:nvPr/>
          </p:nvSpPr>
          <p:spPr bwMode="auto">
            <a:xfrm flipV="1">
              <a:off x="4319" y="1497"/>
              <a:ext cx="0" cy="2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5" name="Line 121"/>
            <p:cNvSpPr>
              <a:spLocks noChangeShapeType="1"/>
            </p:cNvSpPr>
            <p:nvPr/>
          </p:nvSpPr>
          <p:spPr bwMode="auto">
            <a:xfrm flipV="1">
              <a:off x="3740" y="1349"/>
              <a:ext cx="0" cy="3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6" name="Line 122"/>
            <p:cNvSpPr>
              <a:spLocks noChangeShapeType="1"/>
            </p:cNvSpPr>
            <p:nvPr/>
          </p:nvSpPr>
          <p:spPr bwMode="auto">
            <a:xfrm>
              <a:off x="4862" y="2045"/>
              <a:ext cx="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7" name="Line 123"/>
            <p:cNvSpPr>
              <a:spLocks noChangeShapeType="1"/>
            </p:cNvSpPr>
            <p:nvPr/>
          </p:nvSpPr>
          <p:spPr bwMode="auto">
            <a:xfrm flipV="1">
              <a:off x="5293" y="1836"/>
              <a:ext cx="0" cy="2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8" name="Line 124"/>
            <p:cNvSpPr>
              <a:spLocks noChangeShapeType="1"/>
            </p:cNvSpPr>
            <p:nvPr/>
          </p:nvSpPr>
          <p:spPr bwMode="auto">
            <a:xfrm>
              <a:off x="3974" y="1482"/>
              <a:ext cx="9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653" name="Text Box 125"/>
            <p:cNvSpPr txBox="1">
              <a:spLocks noChangeArrowheads="1"/>
            </p:cNvSpPr>
            <p:nvPr/>
          </p:nvSpPr>
          <p:spPr bwMode="auto">
            <a:xfrm>
              <a:off x="3316" y="580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V</a:t>
              </a:r>
            </a:p>
          </p:txBody>
        </p:sp>
        <p:sp>
          <p:nvSpPr>
            <p:cNvPr id="150654" name="Text Box 126"/>
            <p:cNvSpPr txBox="1">
              <a:spLocks noChangeArrowheads="1"/>
            </p:cNvSpPr>
            <p:nvPr/>
          </p:nvSpPr>
          <p:spPr bwMode="auto">
            <a:xfrm>
              <a:off x="5294" y="971"/>
              <a:ext cx="28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W</a:t>
              </a:r>
            </a:p>
          </p:txBody>
        </p:sp>
        <p:sp>
          <p:nvSpPr>
            <p:cNvPr id="150655" name="Text Box 127"/>
            <p:cNvSpPr txBox="1">
              <a:spLocks noChangeArrowheads="1"/>
            </p:cNvSpPr>
            <p:nvPr/>
          </p:nvSpPr>
          <p:spPr bwMode="auto">
            <a:xfrm>
              <a:off x="3996" y="1957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  <p:sp>
          <p:nvSpPr>
            <p:cNvPr id="29762" name="Line 128"/>
            <p:cNvSpPr>
              <a:spLocks noChangeShapeType="1"/>
            </p:cNvSpPr>
            <p:nvPr/>
          </p:nvSpPr>
          <p:spPr bwMode="auto">
            <a:xfrm>
              <a:off x="4308" y="1520"/>
              <a:ext cx="4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3" name="Line 129"/>
            <p:cNvSpPr>
              <a:spLocks noChangeShapeType="1"/>
            </p:cNvSpPr>
            <p:nvPr/>
          </p:nvSpPr>
          <p:spPr bwMode="auto">
            <a:xfrm flipH="1" flipV="1">
              <a:off x="3724" y="1729"/>
              <a:ext cx="213" cy="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4" name="Line 130"/>
            <p:cNvSpPr>
              <a:spLocks noChangeShapeType="1"/>
            </p:cNvSpPr>
            <p:nvPr/>
          </p:nvSpPr>
          <p:spPr bwMode="auto">
            <a:xfrm flipH="1" flipV="1">
              <a:off x="3724" y="1352"/>
              <a:ext cx="237" cy="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5" name="Line 131"/>
            <p:cNvSpPr>
              <a:spLocks noChangeShapeType="1"/>
            </p:cNvSpPr>
            <p:nvPr/>
          </p:nvSpPr>
          <p:spPr bwMode="auto">
            <a:xfrm flipH="1" flipV="1">
              <a:off x="4743" y="1516"/>
              <a:ext cx="545" cy="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6" name="Line 132"/>
            <p:cNvSpPr>
              <a:spLocks noChangeShapeType="1"/>
            </p:cNvSpPr>
            <p:nvPr/>
          </p:nvSpPr>
          <p:spPr bwMode="auto">
            <a:xfrm>
              <a:off x="3739" y="1355"/>
              <a:ext cx="1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7" name="Line 133"/>
            <p:cNvSpPr>
              <a:spLocks noChangeShapeType="1"/>
            </p:cNvSpPr>
            <p:nvPr/>
          </p:nvSpPr>
          <p:spPr bwMode="auto">
            <a:xfrm flipH="1" flipV="1">
              <a:off x="4738" y="686"/>
              <a:ext cx="408" cy="2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8" name="Line 134"/>
            <p:cNvSpPr>
              <a:spLocks noChangeShapeType="1"/>
            </p:cNvSpPr>
            <p:nvPr/>
          </p:nvSpPr>
          <p:spPr bwMode="auto">
            <a:xfrm>
              <a:off x="4962" y="1470"/>
              <a:ext cx="0" cy="3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9" name="Line 135"/>
            <p:cNvSpPr>
              <a:spLocks noChangeShapeType="1"/>
            </p:cNvSpPr>
            <p:nvPr/>
          </p:nvSpPr>
          <p:spPr bwMode="auto">
            <a:xfrm>
              <a:off x="4854" y="181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0" name="Line 136"/>
            <p:cNvSpPr>
              <a:spLocks noChangeShapeType="1"/>
            </p:cNvSpPr>
            <p:nvPr/>
          </p:nvSpPr>
          <p:spPr bwMode="auto">
            <a:xfrm flipH="1" flipV="1">
              <a:off x="4313" y="1732"/>
              <a:ext cx="523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1" name="Line 137"/>
            <p:cNvSpPr>
              <a:spLocks noChangeShapeType="1"/>
            </p:cNvSpPr>
            <p:nvPr/>
          </p:nvSpPr>
          <p:spPr bwMode="auto">
            <a:xfrm>
              <a:off x="3936" y="1860"/>
              <a:ext cx="924" cy="192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2" name="Line 138"/>
            <p:cNvSpPr>
              <a:spLocks noChangeShapeType="1"/>
            </p:cNvSpPr>
            <p:nvPr/>
          </p:nvSpPr>
          <p:spPr bwMode="auto">
            <a:xfrm>
              <a:off x="4464" y="936"/>
              <a:ext cx="0" cy="1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3" name="Line 139"/>
            <p:cNvSpPr>
              <a:spLocks noChangeShapeType="1"/>
            </p:cNvSpPr>
            <p:nvPr/>
          </p:nvSpPr>
          <p:spPr bwMode="auto">
            <a:xfrm flipH="1" flipV="1">
              <a:off x="4053" y="670"/>
              <a:ext cx="404" cy="2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4" name="Line 140"/>
            <p:cNvSpPr>
              <a:spLocks noChangeShapeType="1"/>
            </p:cNvSpPr>
            <p:nvPr/>
          </p:nvSpPr>
          <p:spPr bwMode="auto">
            <a:xfrm flipH="1" flipV="1">
              <a:off x="4059" y="1734"/>
              <a:ext cx="417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5" name="Line 141"/>
            <p:cNvSpPr>
              <a:spLocks noChangeShapeType="1"/>
            </p:cNvSpPr>
            <p:nvPr/>
          </p:nvSpPr>
          <p:spPr bwMode="auto">
            <a:xfrm flipV="1">
              <a:off x="4056" y="666"/>
              <a:ext cx="0" cy="1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6" name="Line 142"/>
            <p:cNvSpPr>
              <a:spLocks noChangeShapeType="1"/>
            </p:cNvSpPr>
            <p:nvPr/>
          </p:nvSpPr>
          <p:spPr bwMode="auto">
            <a:xfrm>
              <a:off x="3954" y="1860"/>
              <a:ext cx="10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7" name="Line 143"/>
            <p:cNvSpPr>
              <a:spLocks noChangeShapeType="1"/>
            </p:cNvSpPr>
            <p:nvPr/>
          </p:nvSpPr>
          <p:spPr bwMode="auto">
            <a:xfrm>
              <a:off x="4464" y="1968"/>
              <a:ext cx="7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8" name="Line 144"/>
            <p:cNvSpPr>
              <a:spLocks noChangeShapeType="1"/>
            </p:cNvSpPr>
            <p:nvPr/>
          </p:nvSpPr>
          <p:spPr bwMode="auto">
            <a:xfrm flipV="1">
              <a:off x="5154" y="912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9" name="Line 145"/>
            <p:cNvSpPr>
              <a:spLocks noChangeShapeType="1"/>
            </p:cNvSpPr>
            <p:nvPr/>
          </p:nvSpPr>
          <p:spPr bwMode="auto">
            <a:xfrm>
              <a:off x="4056" y="684"/>
              <a:ext cx="6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0" name="Line 146"/>
            <p:cNvSpPr>
              <a:spLocks noChangeShapeType="1"/>
            </p:cNvSpPr>
            <p:nvPr/>
          </p:nvSpPr>
          <p:spPr bwMode="auto">
            <a:xfrm>
              <a:off x="4854" y="1836"/>
              <a:ext cx="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1" name="Line 147"/>
            <p:cNvSpPr>
              <a:spLocks noChangeShapeType="1"/>
            </p:cNvSpPr>
            <p:nvPr/>
          </p:nvSpPr>
          <p:spPr bwMode="auto">
            <a:xfrm>
              <a:off x="4482" y="91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2" name="Line 148"/>
            <p:cNvSpPr>
              <a:spLocks noChangeShapeType="1"/>
            </p:cNvSpPr>
            <p:nvPr/>
          </p:nvSpPr>
          <p:spPr bwMode="auto">
            <a:xfrm flipH="1" flipV="1">
              <a:off x="4738" y="1352"/>
              <a:ext cx="221" cy="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3" name="Freeform 149"/>
            <p:cNvSpPr>
              <a:spLocks/>
            </p:cNvSpPr>
            <p:nvPr/>
          </p:nvSpPr>
          <p:spPr bwMode="auto">
            <a:xfrm>
              <a:off x="3738" y="678"/>
              <a:ext cx="594" cy="846"/>
            </a:xfrm>
            <a:custGeom>
              <a:avLst/>
              <a:gdLst>
                <a:gd name="T0" fmla="*/ 324 w 594"/>
                <a:gd name="T1" fmla="*/ 0 h 846"/>
                <a:gd name="T2" fmla="*/ 0 w 594"/>
                <a:gd name="T3" fmla="*/ 678 h 846"/>
                <a:gd name="T4" fmla="*/ 594 w 594"/>
                <a:gd name="T5" fmla="*/ 846 h 846"/>
                <a:gd name="T6" fmla="*/ 324 w 594"/>
                <a:gd name="T7" fmla="*/ 0 h 8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94"/>
                <a:gd name="T13" fmla="*/ 0 h 846"/>
                <a:gd name="T14" fmla="*/ 594 w 594"/>
                <a:gd name="T15" fmla="*/ 846 h 8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94" h="846">
                  <a:moveTo>
                    <a:pt x="324" y="0"/>
                  </a:moveTo>
                  <a:lnTo>
                    <a:pt x="0" y="678"/>
                  </a:lnTo>
                  <a:lnTo>
                    <a:pt x="594" y="846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4" name="Freeform 150"/>
            <p:cNvSpPr>
              <a:spLocks/>
            </p:cNvSpPr>
            <p:nvPr/>
          </p:nvSpPr>
          <p:spPr bwMode="auto">
            <a:xfrm>
              <a:off x="3942" y="912"/>
              <a:ext cx="918" cy="924"/>
            </a:xfrm>
            <a:custGeom>
              <a:avLst/>
              <a:gdLst>
                <a:gd name="T0" fmla="*/ 0 w 918"/>
                <a:gd name="T1" fmla="*/ 570 h 924"/>
                <a:gd name="T2" fmla="*/ 918 w 918"/>
                <a:gd name="T3" fmla="*/ 924 h 924"/>
                <a:gd name="T4" fmla="*/ 522 w 918"/>
                <a:gd name="T5" fmla="*/ 0 h 924"/>
                <a:gd name="T6" fmla="*/ 0 w 918"/>
                <a:gd name="T7" fmla="*/ 570 h 9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8"/>
                <a:gd name="T13" fmla="*/ 0 h 924"/>
                <a:gd name="T14" fmla="*/ 918 w 918"/>
                <a:gd name="T15" fmla="*/ 924 h 9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8" h="924">
                  <a:moveTo>
                    <a:pt x="0" y="570"/>
                  </a:moveTo>
                  <a:lnTo>
                    <a:pt x="918" y="924"/>
                  </a:lnTo>
                  <a:lnTo>
                    <a:pt x="522" y="0"/>
                  </a:lnTo>
                  <a:lnTo>
                    <a:pt x="0" y="57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8100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5" name="Freeform 151"/>
            <p:cNvSpPr>
              <a:spLocks/>
            </p:cNvSpPr>
            <p:nvPr/>
          </p:nvSpPr>
          <p:spPr bwMode="auto">
            <a:xfrm>
              <a:off x="4962" y="912"/>
              <a:ext cx="336" cy="924"/>
            </a:xfrm>
            <a:custGeom>
              <a:avLst/>
              <a:gdLst>
                <a:gd name="T0" fmla="*/ 186 w 336"/>
                <a:gd name="T1" fmla="*/ 0 h 924"/>
                <a:gd name="T2" fmla="*/ 0 w 336"/>
                <a:gd name="T3" fmla="*/ 570 h 924"/>
                <a:gd name="T4" fmla="*/ 336 w 336"/>
                <a:gd name="T5" fmla="*/ 924 h 924"/>
                <a:gd name="T6" fmla="*/ 186 w 336"/>
                <a:gd name="T7" fmla="*/ 0 h 9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6"/>
                <a:gd name="T13" fmla="*/ 0 h 924"/>
                <a:gd name="T14" fmla="*/ 336 w 336"/>
                <a:gd name="T15" fmla="*/ 924 h 9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6" h="924">
                  <a:moveTo>
                    <a:pt x="186" y="0"/>
                  </a:moveTo>
                  <a:lnTo>
                    <a:pt x="0" y="570"/>
                  </a:lnTo>
                  <a:lnTo>
                    <a:pt x="336" y="924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6" name="Line 152"/>
            <p:cNvSpPr>
              <a:spLocks noChangeShapeType="1"/>
            </p:cNvSpPr>
            <p:nvPr/>
          </p:nvSpPr>
          <p:spPr bwMode="auto">
            <a:xfrm>
              <a:off x="4860" y="1830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7" name="Line 153"/>
            <p:cNvSpPr>
              <a:spLocks noChangeShapeType="1"/>
            </p:cNvSpPr>
            <p:nvPr/>
          </p:nvSpPr>
          <p:spPr bwMode="auto">
            <a:xfrm flipH="1" flipV="1">
              <a:off x="4319" y="1518"/>
              <a:ext cx="541" cy="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154"/>
          <p:cNvGrpSpPr>
            <a:grpSpLocks/>
          </p:cNvGrpSpPr>
          <p:nvPr/>
        </p:nvGrpSpPr>
        <p:grpSpPr bwMode="auto">
          <a:xfrm>
            <a:off x="635000" y="3185051"/>
            <a:ext cx="3543300" cy="2595562"/>
            <a:chOff x="414" y="2478"/>
            <a:chExt cx="2232" cy="1635"/>
          </a:xfrm>
        </p:grpSpPr>
        <p:grpSp>
          <p:nvGrpSpPr>
            <p:cNvPr id="29711" name="Group 155"/>
            <p:cNvGrpSpPr>
              <a:grpSpLocks/>
            </p:cNvGrpSpPr>
            <p:nvPr/>
          </p:nvGrpSpPr>
          <p:grpSpPr bwMode="auto">
            <a:xfrm>
              <a:off x="448" y="2504"/>
              <a:ext cx="2185" cy="1567"/>
              <a:chOff x="448" y="2504"/>
              <a:chExt cx="2185" cy="1567"/>
            </a:xfrm>
          </p:grpSpPr>
          <p:sp>
            <p:nvSpPr>
              <p:cNvPr id="29747" name="Freeform 156"/>
              <p:cNvSpPr>
                <a:spLocks/>
              </p:cNvSpPr>
              <p:nvPr/>
            </p:nvSpPr>
            <p:spPr bwMode="auto">
              <a:xfrm>
                <a:off x="448" y="3618"/>
                <a:ext cx="2181" cy="447"/>
              </a:xfrm>
              <a:custGeom>
                <a:avLst/>
                <a:gdLst>
                  <a:gd name="T0" fmla="*/ 180 w 3067"/>
                  <a:gd name="T1" fmla="*/ 114 h 629"/>
                  <a:gd name="T2" fmla="*/ 558 w 3067"/>
                  <a:gd name="T3" fmla="*/ 114 h 629"/>
                  <a:gd name="T4" fmla="*/ 360 w 3067"/>
                  <a:gd name="T5" fmla="*/ 0 h 629"/>
                  <a:gd name="T6" fmla="*/ 0 w 3067"/>
                  <a:gd name="T7" fmla="*/ 0 h 629"/>
                  <a:gd name="T8" fmla="*/ 180 w 3067"/>
                  <a:gd name="T9" fmla="*/ 114 h 6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7"/>
                  <a:gd name="T16" fmla="*/ 0 h 629"/>
                  <a:gd name="T17" fmla="*/ 3067 w 3067"/>
                  <a:gd name="T18" fmla="*/ 629 h 6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7" h="629">
                    <a:moveTo>
                      <a:pt x="989" y="629"/>
                    </a:moveTo>
                    <a:lnTo>
                      <a:pt x="3067" y="629"/>
                    </a:lnTo>
                    <a:lnTo>
                      <a:pt x="1978" y="0"/>
                    </a:lnTo>
                    <a:lnTo>
                      <a:pt x="0" y="0"/>
                    </a:lnTo>
                    <a:lnTo>
                      <a:pt x="989" y="629"/>
                    </a:lnTo>
                    <a:close/>
                  </a:path>
                </a:pathLst>
              </a:custGeom>
              <a:solidFill>
                <a:srgbClr val="CCFFFF"/>
              </a:solidFill>
              <a:ln w="28575" cmpd="sng">
                <a:solidFill>
                  <a:srgbClr val="CCE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48" name="Rectangle 157"/>
              <p:cNvSpPr>
                <a:spLocks noChangeArrowheads="1"/>
              </p:cNvSpPr>
              <p:nvPr/>
            </p:nvSpPr>
            <p:spPr bwMode="auto">
              <a:xfrm>
                <a:off x="448" y="2516"/>
                <a:ext cx="1375" cy="1091"/>
              </a:xfrm>
              <a:prstGeom prst="rect">
                <a:avLst/>
              </a:prstGeom>
              <a:solidFill>
                <a:srgbClr val="CCFFCC"/>
              </a:solidFill>
              <a:ln w="38100">
                <a:solidFill>
                  <a:srgbClr val="CCFF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9749" name="Freeform 158"/>
              <p:cNvSpPr>
                <a:spLocks/>
              </p:cNvSpPr>
              <p:nvPr/>
            </p:nvSpPr>
            <p:spPr bwMode="auto">
              <a:xfrm>
                <a:off x="1839" y="2516"/>
                <a:ext cx="790" cy="1547"/>
              </a:xfrm>
              <a:custGeom>
                <a:avLst/>
                <a:gdLst>
                  <a:gd name="T0" fmla="*/ 0 w 1111"/>
                  <a:gd name="T1" fmla="*/ 0 h 2175"/>
                  <a:gd name="T2" fmla="*/ 0 w 1111"/>
                  <a:gd name="T3" fmla="*/ 280 h 2175"/>
                  <a:gd name="T4" fmla="*/ 202 w 1111"/>
                  <a:gd name="T5" fmla="*/ 395 h 2175"/>
                  <a:gd name="T6" fmla="*/ 202 w 1111"/>
                  <a:gd name="T7" fmla="*/ 107 h 2175"/>
                  <a:gd name="T8" fmla="*/ 0 w 1111"/>
                  <a:gd name="T9" fmla="*/ 0 h 21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11"/>
                  <a:gd name="T16" fmla="*/ 0 h 2175"/>
                  <a:gd name="T17" fmla="*/ 1111 w 1111"/>
                  <a:gd name="T18" fmla="*/ 2175 h 21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11" h="2175">
                    <a:moveTo>
                      <a:pt x="0" y="0"/>
                    </a:moveTo>
                    <a:lnTo>
                      <a:pt x="0" y="1534"/>
                    </a:lnTo>
                    <a:lnTo>
                      <a:pt x="1111" y="2175"/>
                    </a:lnTo>
                    <a:lnTo>
                      <a:pt x="1111" y="5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CC"/>
              </a:solidFill>
              <a:ln w="28575" cmpd="sng">
                <a:solidFill>
                  <a:srgbClr val="FFFF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50" name="Line 159"/>
              <p:cNvSpPr>
                <a:spLocks noChangeShapeType="1"/>
              </p:cNvSpPr>
              <p:nvPr/>
            </p:nvSpPr>
            <p:spPr bwMode="auto">
              <a:xfrm>
                <a:off x="1827" y="3611"/>
                <a:ext cx="806" cy="46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51" name="Line 160"/>
              <p:cNvSpPr>
                <a:spLocks noChangeShapeType="1"/>
              </p:cNvSpPr>
              <p:nvPr/>
            </p:nvSpPr>
            <p:spPr bwMode="auto">
              <a:xfrm flipV="1">
                <a:off x="1826" y="2504"/>
                <a:ext cx="0" cy="1112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712" name="Line 161"/>
            <p:cNvSpPr>
              <a:spLocks noChangeShapeType="1"/>
            </p:cNvSpPr>
            <p:nvPr/>
          </p:nvSpPr>
          <p:spPr bwMode="auto">
            <a:xfrm>
              <a:off x="427" y="3616"/>
              <a:ext cx="1406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3" name="Line 162"/>
            <p:cNvSpPr>
              <a:spLocks noChangeShapeType="1"/>
            </p:cNvSpPr>
            <p:nvPr/>
          </p:nvSpPr>
          <p:spPr bwMode="auto">
            <a:xfrm>
              <a:off x="610" y="3005"/>
              <a:ext cx="12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4" name="Line 163"/>
            <p:cNvSpPr>
              <a:spLocks noChangeShapeType="1"/>
            </p:cNvSpPr>
            <p:nvPr/>
          </p:nvSpPr>
          <p:spPr bwMode="auto">
            <a:xfrm>
              <a:off x="1612" y="3660"/>
              <a:ext cx="7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5" name="Line 164"/>
            <p:cNvSpPr>
              <a:spLocks noChangeShapeType="1"/>
            </p:cNvSpPr>
            <p:nvPr/>
          </p:nvSpPr>
          <p:spPr bwMode="auto">
            <a:xfrm>
              <a:off x="1817" y="3344"/>
              <a:ext cx="556" cy="3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6" name="Line 165"/>
            <p:cNvSpPr>
              <a:spLocks noChangeShapeType="1"/>
            </p:cNvSpPr>
            <p:nvPr/>
          </p:nvSpPr>
          <p:spPr bwMode="auto">
            <a:xfrm>
              <a:off x="1596" y="3932"/>
              <a:ext cx="7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7" name="Line 166"/>
            <p:cNvSpPr>
              <a:spLocks noChangeShapeType="1"/>
            </p:cNvSpPr>
            <p:nvPr/>
          </p:nvSpPr>
          <p:spPr bwMode="auto">
            <a:xfrm>
              <a:off x="2053" y="2800"/>
              <a:ext cx="0" cy="9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8" name="Line 167"/>
            <p:cNvSpPr>
              <a:spLocks noChangeShapeType="1"/>
            </p:cNvSpPr>
            <p:nvPr/>
          </p:nvSpPr>
          <p:spPr bwMode="auto">
            <a:xfrm flipV="1">
              <a:off x="1051" y="3342"/>
              <a:ext cx="0" cy="2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9" name="Line 168"/>
            <p:cNvSpPr>
              <a:spLocks noChangeShapeType="1"/>
            </p:cNvSpPr>
            <p:nvPr/>
          </p:nvSpPr>
          <p:spPr bwMode="auto">
            <a:xfrm>
              <a:off x="1507" y="2677"/>
              <a:ext cx="240" cy="1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0" name="Line 169"/>
            <p:cNvSpPr>
              <a:spLocks noChangeShapeType="1"/>
            </p:cNvSpPr>
            <p:nvPr/>
          </p:nvSpPr>
          <p:spPr bwMode="auto">
            <a:xfrm>
              <a:off x="1810" y="2674"/>
              <a:ext cx="24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1" name="Line 170"/>
            <p:cNvSpPr>
              <a:spLocks noChangeShapeType="1"/>
            </p:cNvSpPr>
            <p:nvPr/>
          </p:nvSpPr>
          <p:spPr bwMode="auto">
            <a:xfrm>
              <a:off x="600" y="3616"/>
              <a:ext cx="38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2" name="Line 171"/>
            <p:cNvSpPr>
              <a:spLocks noChangeShapeType="1"/>
            </p:cNvSpPr>
            <p:nvPr/>
          </p:nvSpPr>
          <p:spPr bwMode="auto">
            <a:xfrm>
              <a:off x="1503" y="2684"/>
              <a:ext cx="3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3" name="Line 172"/>
            <p:cNvSpPr>
              <a:spLocks noChangeShapeType="1"/>
            </p:cNvSpPr>
            <p:nvPr/>
          </p:nvSpPr>
          <p:spPr bwMode="auto">
            <a:xfrm>
              <a:off x="1733" y="3746"/>
              <a:ext cx="3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701" name="Text Box 173"/>
            <p:cNvSpPr txBox="1">
              <a:spLocks noChangeArrowheads="1"/>
            </p:cNvSpPr>
            <p:nvPr/>
          </p:nvSpPr>
          <p:spPr bwMode="auto">
            <a:xfrm>
              <a:off x="414" y="2478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V</a:t>
              </a:r>
            </a:p>
          </p:txBody>
        </p:sp>
        <p:sp>
          <p:nvSpPr>
            <p:cNvPr id="150702" name="Text Box 174"/>
            <p:cNvSpPr txBox="1">
              <a:spLocks noChangeArrowheads="1"/>
            </p:cNvSpPr>
            <p:nvPr/>
          </p:nvSpPr>
          <p:spPr bwMode="auto">
            <a:xfrm>
              <a:off x="2359" y="2861"/>
              <a:ext cx="28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W</a:t>
              </a:r>
            </a:p>
          </p:txBody>
        </p:sp>
        <p:sp>
          <p:nvSpPr>
            <p:cNvPr id="150703" name="Text Box 175"/>
            <p:cNvSpPr txBox="1">
              <a:spLocks noChangeArrowheads="1"/>
            </p:cNvSpPr>
            <p:nvPr/>
          </p:nvSpPr>
          <p:spPr bwMode="auto">
            <a:xfrm>
              <a:off x="1101" y="3825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  <p:sp>
          <p:nvSpPr>
            <p:cNvPr id="29727" name="Line 176"/>
            <p:cNvSpPr>
              <a:spLocks noChangeShapeType="1"/>
            </p:cNvSpPr>
            <p:nvPr/>
          </p:nvSpPr>
          <p:spPr bwMode="auto">
            <a:xfrm>
              <a:off x="1726" y="2814"/>
              <a:ext cx="3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8" name="Line 177"/>
            <p:cNvSpPr>
              <a:spLocks noChangeShapeType="1"/>
            </p:cNvSpPr>
            <p:nvPr/>
          </p:nvSpPr>
          <p:spPr bwMode="auto">
            <a:xfrm>
              <a:off x="980" y="3210"/>
              <a:ext cx="0" cy="6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9" name="Line 178"/>
            <p:cNvSpPr>
              <a:spLocks noChangeShapeType="1"/>
            </p:cNvSpPr>
            <p:nvPr/>
          </p:nvSpPr>
          <p:spPr bwMode="auto">
            <a:xfrm>
              <a:off x="1823" y="3005"/>
              <a:ext cx="386" cy="2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0" name="Line 179"/>
            <p:cNvSpPr>
              <a:spLocks noChangeShapeType="1"/>
            </p:cNvSpPr>
            <p:nvPr/>
          </p:nvSpPr>
          <p:spPr bwMode="auto">
            <a:xfrm>
              <a:off x="1048" y="3340"/>
              <a:ext cx="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1" name="Line 180"/>
            <p:cNvSpPr>
              <a:spLocks noChangeShapeType="1"/>
            </p:cNvSpPr>
            <p:nvPr/>
          </p:nvSpPr>
          <p:spPr bwMode="auto">
            <a:xfrm>
              <a:off x="2058" y="2814"/>
              <a:ext cx="318" cy="858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2" name="Line 181"/>
            <p:cNvSpPr>
              <a:spLocks noChangeShapeType="1"/>
            </p:cNvSpPr>
            <p:nvPr/>
          </p:nvSpPr>
          <p:spPr bwMode="auto">
            <a:xfrm>
              <a:off x="612" y="3000"/>
              <a:ext cx="0" cy="6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3" name="Line 182"/>
            <p:cNvSpPr>
              <a:spLocks noChangeShapeType="1"/>
            </p:cNvSpPr>
            <p:nvPr/>
          </p:nvSpPr>
          <p:spPr bwMode="auto">
            <a:xfrm>
              <a:off x="1058" y="3346"/>
              <a:ext cx="555" cy="3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4" name="Line 183"/>
            <p:cNvSpPr>
              <a:spLocks noChangeShapeType="1"/>
            </p:cNvSpPr>
            <p:nvPr/>
          </p:nvSpPr>
          <p:spPr bwMode="auto">
            <a:xfrm>
              <a:off x="1740" y="2820"/>
              <a:ext cx="0" cy="9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5" name="Line 184"/>
            <p:cNvSpPr>
              <a:spLocks noChangeShapeType="1"/>
            </p:cNvSpPr>
            <p:nvPr/>
          </p:nvSpPr>
          <p:spPr bwMode="auto">
            <a:xfrm>
              <a:off x="2376" y="3654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6" name="Line 185"/>
            <p:cNvSpPr>
              <a:spLocks noChangeShapeType="1"/>
            </p:cNvSpPr>
            <p:nvPr/>
          </p:nvSpPr>
          <p:spPr bwMode="auto">
            <a:xfrm>
              <a:off x="1518" y="2682"/>
              <a:ext cx="0" cy="9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7" name="Line 186"/>
            <p:cNvSpPr>
              <a:spLocks noChangeShapeType="1"/>
            </p:cNvSpPr>
            <p:nvPr/>
          </p:nvSpPr>
          <p:spPr bwMode="auto">
            <a:xfrm>
              <a:off x="1514" y="3610"/>
              <a:ext cx="231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8" name="Line 187"/>
            <p:cNvSpPr>
              <a:spLocks noChangeShapeType="1"/>
            </p:cNvSpPr>
            <p:nvPr/>
          </p:nvSpPr>
          <p:spPr bwMode="auto">
            <a:xfrm>
              <a:off x="2202" y="3210"/>
              <a:ext cx="0" cy="6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9" name="Freeform 188"/>
            <p:cNvSpPr>
              <a:spLocks/>
            </p:cNvSpPr>
            <p:nvPr/>
          </p:nvSpPr>
          <p:spPr bwMode="auto">
            <a:xfrm>
              <a:off x="618" y="2688"/>
              <a:ext cx="894" cy="642"/>
            </a:xfrm>
            <a:custGeom>
              <a:avLst/>
              <a:gdLst>
                <a:gd name="T0" fmla="*/ 894 w 894"/>
                <a:gd name="T1" fmla="*/ 0 h 642"/>
                <a:gd name="T2" fmla="*/ 0 w 894"/>
                <a:gd name="T3" fmla="*/ 324 h 642"/>
                <a:gd name="T4" fmla="*/ 438 w 894"/>
                <a:gd name="T5" fmla="*/ 642 h 642"/>
                <a:gd name="T6" fmla="*/ 894 w 894"/>
                <a:gd name="T7" fmla="*/ 0 h 6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4"/>
                <a:gd name="T13" fmla="*/ 0 h 642"/>
                <a:gd name="T14" fmla="*/ 894 w 894"/>
                <a:gd name="T15" fmla="*/ 642 h 6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4" h="642">
                  <a:moveTo>
                    <a:pt x="894" y="0"/>
                  </a:moveTo>
                  <a:lnTo>
                    <a:pt x="0" y="324"/>
                  </a:lnTo>
                  <a:lnTo>
                    <a:pt x="438" y="642"/>
                  </a:lnTo>
                  <a:lnTo>
                    <a:pt x="894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0" name="Freeform 189"/>
            <p:cNvSpPr>
              <a:spLocks/>
            </p:cNvSpPr>
            <p:nvPr/>
          </p:nvSpPr>
          <p:spPr bwMode="auto">
            <a:xfrm>
              <a:off x="978" y="3744"/>
              <a:ext cx="762" cy="192"/>
            </a:xfrm>
            <a:custGeom>
              <a:avLst/>
              <a:gdLst>
                <a:gd name="T0" fmla="*/ 762 w 762"/>
                <a:gd name="T1" fmla="*/ 0 h 192"/>
                <a:gd name="T2" fmla="*/ 0 w 762"/>
                <a:gd name="T3" fmla="*/ 84 h 192"/>
                <a:gd name="T4" fmla="*/ 630 w 762"/>
                <a:gd name="T5" fmla="*/ 192 h 192"/>
                <a:gd name="T6" fmla="*/ 762 w 762"/>
                <a:gd name="T7" fmla="*/ 0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2"/>
                <a:gd name="T13" fmla="*/ 0 h 192"/>
                <a:gd name="T14" fmla="*/ 762 w 76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2" h="192">
                  <a:moveTo>
                    <a:pt x="762" y="0"/>
                  </a:moveTo>
                  <a:lnTo>
                    <a:pt x="0" y="84"/>
                  </a:lnTo>
                  <a:lnTo>
                    <a:pt x="630" y="19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1" name="Freeform 190"/>
            <p:cNvSpPr>
              <a:spLocks/>
            </p:cNvSpPr>
            <p:nvPr/>
          </p:nvSpPr>
          <p:spPr bwMode="auto">
            <a:xfrm>
              <a:off x="996" y="2814"/>
              <a:ext cx="744" cy="852"/>
            </a:xfrm>
            <a:custGeom>
              <a:avLst/>
              <a:gdLst>
                <a:gd name="T0" fmla="*/ 744 w 744"/>
                <a:gd name="T1" fmla="*/ 0 h 852"/>
                <a:gd name="T2" fmla="*/ 0 w 744"/>
                <a:gd name="T3" fmla="*/ 402 h 852"/>
                <a:gd name="T4" fmla="*/ 606 w 744"/>
                <a:gd name="T5" fmla="*/ 852 h 852"/>
                <a:gd name="T6" fmla="*/ 744 w 744"/>
                <a:gd name="T7" fmla="*/ 0 h 8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4"/>
                <a:gd name="T13" fmla="*/ 0 h 852"/>
                <a:gd name="T14" fmla="*/ 744 w 744"/>
                <a:gd name="T15" fmla="*/ 852 h 8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4" h="852">
                  <a:moveTo>
                    <a:pt x="744" y="0"/>
                  </a:moveTo>
                  <a:lnTo>
                    <a:pt x="0" y="402"/>
                  </a:lnTo>
                  <a:lnTo>
                    <a:pt x="606" y="852"/>
                  </a:lnTo>
                  <a:lnTo>
                    <a:pt x="744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8100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2" name="Line 191"/>
            <p:cNvSpPr>
              <a:spLocks noChangeShapeType="1"/>
            </p:cNvSpPr>
            <p:nvPr/>
          </p:nvSpPr>
          <p:spPr bwMode="auto">
            <a:xfrm>
              <a:off x="1046" y="3616"/>
              <a:ext cx="555" cy="3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3" name="Line 192"/>
            <p:cNvSpPr>
              <a:spLocks noChangeShapeType="1"/>
            </p:cNvSpPr>
            <p:nvPr/>
          </p:nvSpPr>
          <p:spPr bwMode="auto">
            <a:xfrm flipH="1">
              <a:off x="966" y="3828"/>
              <a:ext cx="12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4" name="Line 193"/>
            <p:cNvSpPr>
              <a:spLocks noChangeShapeType="1"/>
            </p:cNvSpPr>
            <p:nvPr/>
          </p:nvSpPr>
          <p:spPr bwMode="auto">
            <a:xfrm>
              <a:off x="1000" y="3224"/>
              <a:ext cx="12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5" name="Line 194"/>
            <p:cNvSpPr>
              <a:spLocks noChangeShapeType="1"/>
            </p:cNvSpPr>
            <p:nvPr/>
          </p:nvSpPr>
          <p:spPr bwMode="auto">
            <a:xfrm>
              <a:off x="1601" y="3655"/>
              <a:ext cx="0" cy="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6" name="Line 195"/>
            <p:cNvSpPr>
              <a:spLocks noChangeShapeType="1"/>
            </p:cNvSpPr>
            <p:nvPr/>
          </p:nvSpPr>
          <p:spPr bwMode="auto">
            <a:xfrm>
              <a:off x="614" y="3004"/>
              <a:ext cx="375" cy="2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0" name="Rectangle 43"/>
          <p:cNvSpPr>
            <a:spLocks noChangeArrowheads="1"/>
          </p:cNvSpPr>
          <p:nvPr/>
        </p:nvSpPr>
        <p:spPr bwMode="auto">
          <a:xfrm>
            <a:off x="525810" y="5774183"/>
            <a:ext cx="803116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投影面垂直面的投影特性：</a:t>
            </a:r>
            <a:endParaRPr lang="zh-CN" altLang="en-US" sz="2000" b="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 smtClean="0">
                <a:latin typeface="黑体" pitchFamily="2" charset="-122"/>
                <a:ea typeface="黑体" pitchFamily="2" charset="-122"/>
              </a:rPr>
              <a:t>     在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所垂直的投影面上的投影积聚成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直线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，且与轴倾斜；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 smtClean="0">
                <a:latin typeface="黑体" pitchFamily="2" charset="-122"/>
                <a:ea typeface="黑体" pitchFamily="2" charset="-122"/>
              </a:rPr>
              <a:t>     在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其它两个投影面上的投影是实际空间图形的</a:t>
            </a:r>
            <a:r>
              <a:rPr lang="zh-CN" altLang="en-US" sz="20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类似形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000" b="0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0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150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50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0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75"/>
                                        <p:tgtEl>
                                          <p:spTgt spid="150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"/>
                                        <p:tgtEl>
                                          <p:spTgt spid="150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50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"/>
                                        <p:tgtEl>
                                          <p:spTgt spid="150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75"/>
                                        <p:tgtEl>
                                          <p:spTgt spid="15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87" grpId="0" animBg="1" autoUpdateAnimBg="0"/>
      <p:bldP spid="150588" grpId="0" build="p" autoUpdateAnimBg="0"/>
      <p:bldP spid="150589" grpId="0" build="p" autoUpdateAnimBg="0"/>
      <p:bldP spid="150590" grpId="0" animBg="1" autoUpdateAnimBg="0"/>
      <p:bldP spid="150591" grpId="0" animBg="1" autoUpdateAnimBg="0"/>
      <p:bldP spid="150592" grpId="0" build="p" autoUpdateAnimBg="0"/>
      <p:bldP spid="150593" grpId="0" build="p" autoUpdateAnimBg="0"/>
      <p:bldP spid="150594" grpId="0" build="p" autoUpdateAnimBg="0"/>
      <p:bldP spid="150595" grpId="0" build="p" autoUpdateAnimBg="0"/>
      <p:bldP spid="1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9B11F050-3638-4726-9C81-B8D402705A40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10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155575" y="214313"/>
            <a:ext cx="8805863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一般位置平面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 与三个投影面均倾斜的平面 </a:t>
            </a:r>
            <a:r>
              <a:rPr lang="en-US" altLang="zh-CN" sz="2800">
                <a:ea typeface="黑体" pitchFamily="2" charset="-122"/>
              </a:rPr>
              <a:t>——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一般位置平面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。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1876425" y="1568976"/>
            <a:ext cx="4911725" cy="3543300"/>
            <a:chOff x="-1353" y="1233"/>
            <a:chExt cx="3094" cy="2232"/>
          </a:xfrm>
        </p:grpSpPr>
        <p:grpSp>
          <p:nvGrpSpPr>
            <p:cNvPr id="32773" name="Group 50"/>
            <p:cNvGrpSpPr>
              <a:grpSpLocks/>
            </p:cNvGrpSpPr>
            <p:nvPr/>
          </p:nvGrpSpPr>
          <p:grpSpPr bwMode="auto">
            <a:xfrm>
              <a:off x="-1345" y="1255"/>
              <a:ext cx="3067" cy="2178"/>
              <a:chOff x="1000" y="744"/>
              <a:chExt cx="3067" cy="2178"/>
            </a:xfrm>
          </p:grpSpPr>
          <p:sp>
            <p:nvSpPr>
              <p:cNvPr id="32811" name="Freeform 51"/>
              <p:cNvSpPr>
                <a:spLocks/>
              </p:cNvSpPr>
              <p:nvPr/>
            </p:nvSpPr>
            <p:spPr bwMode="auto">
              <a:xfrm>
                <a:off x="1000" y="2293"/>
                <a:ext cx="3067" cy="629"/>
              </a:xfrm>
              <a:custGeom>
                <a:avLst/>
                <a:gdLst>
                  <a:gd name="T0" fmla="*/ 989 w 3067"/>
                  <a:gd name="T1" fmla="*/ 629 h 629"/>
                  <a:gd name="T2" fmla="*/ 3067 w 3067"/>
                  <a:gd name="T3" fmla="*/ 629 h 629"/>
                  <a:gd name="T4" fmla="*/ 1978 w 3067"/>
                  <a:gd name="T5" fmla="*/ 0 h 629"/>
                  <a:gd name="T6" fmla="*/ 0 w 3067"/>
                  <a:gd name="T7" fmla="*/ 0 h 629"/>
                  <a:gd name="T8" fmla="*/ 989 w 3067"/>
                  <a:gd name="T9" fmla="*/ 629 h 6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7"/>
                  <a:gd name="T16" fmla="*/ 0 h 629"/>
                  <a:gd name="T17" fmla="*/ 3067 w 3067"/>
                  <a:gd name="T18" fmla="*/ 629 h 6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7" h="629">
                    <a:moveTo>
                      <a:pt x="989" y="629"/>
                    </a:moveTo>
                    <a:lnTo>
                      <a:pt x="3067" y="629"/>
                    </a:lnTo>
                    <a:lnTo>
                      <a:pt x="1978" y="0"/>
                    </a:lnTo>
                    <a:lnTo>
                      <a:pt x="0" y="0"/>
                    </a:lnTo>
                    <a:lnTo>
                      <a:pt x="989" y="629"/>
                    </a:lnTo>
                    <a:close/>
                  </a:path>
                </a:pathLst>
              </a:custGeom>
              <a:solidFill>
                <a:srgbClr val="CCFFFF"/>
              </a:solidFill>
              <a:ln w="28575" cmpd="sng">
                <a:solidFill>
                  <a:srgbClr val="CCE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12" name="Rectangle 52"/>
              <p:cNvSpPr>
                <a:spLocks noChangeArrowheads="1"/>
              </p:cNvSpPr>
              <p:nvPr/>
            </p:nvSpPr>
            <p:spPr bwMode="auto">
              <a:xfrm>
                <a:off x="1000" y="744"/>
                <a:ext cx="1934" cy="1534"/>
              </a:xfrm>
              <a:prstGeom prst="rect">
                <a:avLst/>
              </a:prstGeom>
              <a:solidFill>
                <a:srgbClr val="CCFFCC"/>
              </a:solidFill>
              <a:ln w="38100">
                <a:solidFill>
                  <a:srgbClr val="CCFF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32813" name="Freeform 53"/>
              <p:cNvSpPr>
                <a:spLocks/>
              </p:cNvSpPr>
              <p:nvPr/>
            </p:nvSpPr>
            <p:spPr bwMode="auto">
              <a:xfrm>
                <a:off x="2956" y="744"/>
                <a:ext cx="1111" cy="2175"/>
              </a:xfrm>
              <a:custGeom>
                <a:avLst/>
                <a:gdLst>
                  <a:gd name="T0" fmla="*/ 0 w 1111"/>
                  <a:gd name="T1" fmla="*/ 0 h 2175"/>
                  <a:gd name="T2" fmla="*/ 0 w 1111"/>
                  <a:gd name="T3" fmla="*/ 1534 h 2175"/>
                  <a:gd name="T4" fmla="*/ 1111 w 1111"/>
                  <a:gd name="T5" fmla="*/ 2175 h 2175"/>
                  <a:gd name="T6" fmla="*/ 1111 w 1111"/>
                  <a:gd name="T7" fmla="*/ 589 h 2175"/>
                  <a:gd name="T8" fmla="*/ 0 w 1111"/>
                  <a:gd name="T9" fmla="*/ 0 h 21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11"/>
                  <a:gd name="T16" fmla="*/ 0 h 2175"/>
                  <a:gd name="T17" fmla="*/ 1111 w 1111"/>
                  <a:gd name="T18" fmla="*/ 2175 h 21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11" h="2175">
                    <a:moveTo>
                      <a:pt x="0" y="0"/>
                    </a:moveTo>
                    <a:lnTo>
                      <a:pt x="0" y="1534"/>
                    </a:lnTo>
                    <a:lnTo>
                      <a:pt x="1111" y="2175"/>
                    </a:lnTo>
                    <a:lnTo>
                      <a:pt x="1111" y="5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CC"/>
              </a:solidFill>
              <a:ln w="28575" cmpd="sng">
                <a:solidFill>
                  <a:srgbClr val="FFFF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2774" name="Line 54"/>
            <p:cNvSpPr>
              <a:spLocks noChangeShapeType="1"/>
            </p:cNvSpPr>
            <p:nvPr/>
          </p:nvSpPr>
          <p:spPr bwMode="auto">
            <a:xfrm>
              <a:off x="222" y="1644"/>
              <a:ext cx="0" cy="1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5" name="Line 55"/>
            <p:cNvSpPr>
              <a:spLocks noChangeShapeType="1"/>
            </p:cNvSpPr>
            <p:nvPr/>
          </p:nvSpPr>
          <p:spPr bwMode="auto">
            <a:xfrm>
              <a:off x="-588" y="2583"/>
              <a:ext cx="0" cy="4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6" name="Line 56"/>
            <p:cNvSpPr>
              <a:spLocks noChangeShapeType="1"/>
            </p:cNvSpPr>
            <p:nvPr/>
          </p:nvSpPr>
          <p:spPr bwMode="auto">
            <a:xfrm flipV="1">
              <a:off x="17" y="1532"/>
              <a:ext cx="0" cy="1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7" name="Line 57"/>
            <p:cNvSpPr>
              <a:spLocks noChangeShapeType="1"/>
            </p:cNvSpPr>
            <p:nvPr/>
          </p:nvSpPr>
          <p:spPr bwMode="auto">
            <a:xfrm flipV="1">
              <a:off x="-982" y="2361"/>
              <a:ext cx="0" cy="4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8" name="Line 58"/>
            <p:cNvSpPr>
              <a:spLocks noChangeShapeType="1"/>
            </p:cNvSpPr>
            <p:nvPr/>
          </p:nvSpPr>
          <p:spPr bwMode="auto">
            <a:xfrm>
              <a:off x="648" y="3091"/>
              <a:ext cx="4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9" name="Line 59"/>
            <p:cNvSpPr>
              <a:spLocks noChangeShapeType="1"/>
            </p:cNvSpPr>
            <p:nvPr/>
          </p:nvSpPr>
          <p:spPr bwMode="auto">
            <a:xfrm flipV="1">
              <a:off x="1103" y="2343"/>
              <a:ext cx="0" cy="7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0" name="Line 60"/>
            <p:cNvSpPr>
              <a:spLocks noChangeShapeType="1"/>
            </p:cNvSpPr>
            <p:nvPr/>
          </p:nvSpPr>
          <p:spPr bwMode="auto">
            <a:xfrm flipH="1" flipV="1">
              <a:off x="594" y="1524"/>
              <a:ext cx="222" cy="1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1" name="Line 61"/>
            <p:cNvSpPr>
              <a:spLocks noChangeShapeType="1"/>
            </p:cNvSpPr>
            <p:nvPr/>
          </p:nvSpPr>
          <p:spPr bwMode="auto">
            <a:xfrm>
              <a:off x="-588" y="2581"/>
              <a:ext cx="1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2" name="Line 62"/>
            <p:cNvSpPr>
              <a:spLocks noChangeShapeType="1"/>
            </p:cNvSpPr>
            <p:nvPr/>
          </p:nvSpPr>
          <p:spPr bwMode="auto">
            <a:xfrm>
              <a:off x="-1349" y="2809"/>
              <a:ext cx="1950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3" name="Line 63"/>
            <p:cNvSpPr>
              <a:spLocks noChangeShapeType="1"/>
            </p:cNvSpPr>
            <p:nvPr/>
          </p:nvSpPr>
          <p:spPr bwMode="auto">
            <a:xfrm>
              <a:off x="607" y="2803"/>
              <a:ext cx="1134" cy="648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76" name="Text Box 64"/>
            <p:cNvSpPr txBox="1">
              <a:spLocks noChangeArrowheads="1"/>
            </p:cNvSpPr>
            <p:nvPr/>
          </p:nvSpPr>
          <p:spPr bwMode="auto">
            <a:xfrm>
              <a:off x="-1353" y="1233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V</a:t>
              </a:r>
            </a:p>
          </p:txBody>
        </p:sp>
        <p:sp>
          <p:nvSpPr>
            <p:cNvPr id="64577" name="Text Box 65"/>
            <p:cNvSpPr txBox="1">
              <a:spLocks noChangeArrowheads="1"/>
            </p:cNvSpPr>
            <p:nvPr/>
          </p:nvSpPr>
          <p:spPr bwMode="auto">
            <a:xfrm>
              <a:off x="1437" y="1785"/>
              <a:ext cx="28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W</a:t>
              </a:r>
            </a:p>
          </p:txBody>
        </p:sp>
        <p:sp>
          <p:nvSpPr>
            <p:cNvPr id="64578" name="Text Box 66"/>
            <p:cNvSpPr txBox="1">
              <a:spLocks noChangeArrowheads="1"/>
            </p:cNvSpPr>
            <p:nvPr/>
          </p:nvSpPr>
          <p:spPr bwMode="auto">
            <a:xfrm>
              <a:off x="-435" y="3177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 smtClean="0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  <p:sp>
          <p:nvSpPr>
            <p:cNvPr id="32787" name="Line 67"/>
            <p:cNvSpPr>
              <a:spLocks noChangeShapeType="1"/>
            </p:cNvSpPr>
            <p:nvPr/>
          </p:nvSpPr>
          <p:spPr bwMode="auto">
            <a:xfrm flipV="1">
              <a:off x="600" y="1233"/>
              <a:ext cx="0" cy="1567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8" name="Line 68"/>
            <p:cNvSpPr>
              <a:spLocks noChangeShapeType="1"/>
            </p:cNvSpPr>
            <p:nvPr/>
          </p:nvSpPr>
          <p:spPr bwMode="auto">
            <a:xfrm>
              <a:off x="648" y="2342"/>
              <a:ext cx="0" cy="7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9" name="Freeform 69"/>
            <p:cNvSpPr>
              <a:spLocks/>
            </p:cNvSpPr>
            <p:nvPr/>
          </p:nvSpPr>
          <p:spPr bwMode="auto">
            <a:xfrm>
              <a:off x="-594" y="2924"/>
              <a:ext cx="1242" cy="162"/>
            </a:xfrm>
            <a:custGeom>
              <a:avLst/>
              <a:gdLst>
                <a:gd name="T0" fmla="*/ 0 w 1242"/>
                <a:gd name="T1" fmla="*/ 114 h 162"/>
                <a:gd name="T2" fmla="*/ 822 w 1242"/>
                <a:gd name="T3" fmla="*/ 0 h 162"/>
                <a:gd name="T4" fmla="*/ 1242 w 1242"/>
                <a:gd name="T5" fmla="*/ 162 h 162"/>
                <a:gd name="T6" fmla="*/ 0 w 1242"/>
                <a:gd name="T7" fmla="*/ 114 h 1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2"/>
                <a:gd name="T13" fmla="*/ 0 h 162"/>
                <a:gd name="T14" fmla="*/ 1242 w 1242"/>
                <a:gd name="T15" fmla="*/ 162 h 1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2" h="162">
                  <a:moveTo>
                    <a:pt x="0" y="114"/>
                  </a:moveTo>
                  <a:lnTo>
                    <a:pt x="822" y="0"/>
                  </a:lnTo>
                  <a:lnTo>
                    <a:pt x="1242" y="16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0" name="Line 70"/>
            <p:cNvSpPr>
              <a:spLocks noChangeShapeType="1"/>
            </p:cNvSpPr>
            <p:nvPr/>
          </p:nvSpPr>
          <p:spPr bwMode="auto">
            <a:xfrm>
              <a:off x="648" y="2348"/>
              <a:ext cx="4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1" name="Line 71"/>
            <p:cNvSpPr>
              <a:spLocks noChangeShapeType="1"/>
            </p:cNvSpPr>
            <p:nvPr/>
          </p:nvSpPr>
          <p:spPr bwMode="auto">
            <a:xfrm>
              <a:off x="222" y="2924"/>
              <a:ext cx="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2" name="Line 72"/>
            <p:cNvSpPr>
              <a:spLocks noChangeShapeType="1"/>
            </p:cNvSpPr>
            <p:nvPr/>
          </p:nvSpPr>
          <p:spPr bwMode="auto">
            <a:xfrm>
              <a:off x="18" y="2810"/>
              <a:ext cx="202" cy="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3" name="Line 73"/>
            <p:cNvSpPr>
              <a:spLocks noChangeShapeType="1"/>
            </p:cNvSpPr>
            <p:nvPr/>
          </p:nvSpPr>
          <p:spPr bwMode="auto">
            <a:xfrm>
              <a:off x="-990" y="2810"/>
              <a:ext cx="408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4" name="Line 74"/>
            <p:cNvSpPr>
              <a:spLocks noChangeShapeType="1"/>
            </p:cNvSpPr>
            <p:nvPr/>
          </p:nvSpPr>
          <p:spPr bwMode="auto">
            <a:xfrm>
              <a:off x="165" y="2809"/>
              <a:ext cx="513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5" name="Line 75"/>
            <p:cNvSpPr>
              <a:spLocks noChangeShapeType="1"/>
            </p:cNvSpPr>
            <p:nvPr/>
          </p:nvSpPr>
          <p:spPr bwMode="auto">
            <a:xfrm flipV="1">
              <a:off x="167" y="2084"/>
              <a:ext cx="0" cy="7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6" name="Line 76"/>
            <p:cNvSpPr>
              <a:spLocks noChangeShapeType="1"/>
            </p:cNvSpPr>
            <p:nvPr/>
          </p:nvSpPr>
          <p:spPr bwMode="auto">
            <a:xfrm>
              <a:off x="-985" y="2354"/>
              <a:ext cx="409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7" name="Line 77"/>
            <p:cNvSpPr>
              <a:spLocks noChangeShapeType="1"/>
            </p:cNvSpPr>
            <p:nvPr/>
          </p:nvSpPr>
          <p:spPr bwMode="auto">
            <a:xfrm>
              <a:off x="182" y="2090"/>
              <a:ext cx="484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8" name="Line 78"/>
            <p:cNvSpPr>
              <a:spLocks noChangeShapeType="1"/>
            </p:cNvSpPr>
            <p:nvPr/>
          </p:nvSpPr>
          <p:spPr bwMode="auto">
            <a:xfrm>
              <a:off x="18" y="1538"/>
              <a:ext cx="202" cy="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9" name="Line 79"/>
            <p:cNvSpPr>
              <a:spLocks noChangeShapeType="1"/>
            </p:cNvSpPr>
            <p:nvPr/>
          </p:nvSpPr>
          <p:spPr bwMode="auto">
            <a:xfrm>
              <a:off x="18" y="1526"/>
              <a:ext cx="5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0" name="Line 80"/>
            <p:cNvSpPr>
              <a:spLocks noChangeShapeType="1"/>
            </p:cNvSpPr>
            <p:nvPr/>
          </p:nvSpPr>
          <p:spPr bwMode="auto">
            <a:xfrm>
              <a:off x="222" y="1652"/>
              <a:ext cx="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1" name="Line 81"/>
            <p:cNvSpPr>
              <a:spLocks noChangeShapeType="1"/>
            </p:cNvSpPr>
            <p:nvPr/>
          </p:nvSpPr>
          <p:spPr bwMode="auto">
            <a:xfrm>
              <a:off x="156" y="2084"/>
              <a:ext cx="4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2" name="Line 82"/>
            <p:cNvSpPr>
              <a:spLocks noChangeShapeType="1"/>
            </p:cNvSpPr>
            <p:nvPr/>
          </p:nvSpPr>
          <p:spPr bwMode="auto">
            <a:xfrm flipV="1">
              <a:off x="816" y="1640"/>
              <a:ext cx="0" cy="12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3" name="Line 83"/>
            <p:cNvSpPr>
              <a:spLocks noChangeShapeType="1"/>
            </p:cNvSpPr>
            <p:nvPr/>
          </p:nvSpPr>
          <p:spPr bwMode="auto">
            <a:xfrm>
              <a:off x="-978" y="2360"/>
              <a:ext cx="15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4" name="Line 84"/>
            <p:cNvSpPr>
              <a:spLocks noChangeShapeType="1"/>
            </p:cNvSpPr>
            <p:nvPr/>
          </p:nvSpPr>
          <p:spPr bwMode="auto">
            <a:xfrm>
              <a:off x="597" y="2357"/>
              <a:ext cx="400" cy="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5" name="Line 85"/>
            <p:cNvSpPr>
              <a:spLocks noChangeShapeType="1"/>
            </p:cNvSpPr>
            <p:nvPr/>
          </p:nvSpPr>
          <p:spPr bwMode="auto">
            <a:xfrm>
              <a:off x="-576" y="3032"/>
              <a:ext cx="1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6" name="Line 86"/>
            <p:cNvSpPr>
              <a:spLocks noChangeShapeType="1"/>
            </p:cNvSpPr>
            <p:nvPr/>
          </p:nvSpPr>
          <p:spPr bwMode="auto">
            <a:xfrm flipV="1">
              <a:off x="996" y="2576"/>
              <a:ext cx="0" cy="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7" name="Freeform 87"/>
            <p:cNvSpPr>
              <a:spLocks/>
            </p:cNvSpPr>
            <p:nvPr/>
          </p:nvSpPr>
          <p:spPr bwMode="auto">
            <a:xfrm>
              <a:off x="816" y="1652"/>
              <a:ext cx="288" cy="930"/>
            </a:xfrm>
            <a:custGeom>
              <a:avLst/>
              <a:gdLst>
                <a:gd name="T0" fmla="*/ 0 w 288"/>
                <a:gd name="T1" fmla="*/ 0 h 930"/>
                <a:gd name="T2" fmla="*/ 288 w 288"/>
                <a:gd name="T3" fmla="*/ 696 h 930"/>
                <a:gd name="T4" fmla="*/ 180 w 288"/>
                <a:gd name="T5" fmla="*/ 930 h 930"/>
                <a:gd name="T6" fmla="*/ 0 w 288"/>
                <a:gd name="T7" fmla="*/ 0 h 9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930"/>
                <a:gd name="T14" fmla="*/ 288 w 288"/>
                <a:gd name="T15" fmla="*/ 930 h 9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930">
                  <a:moveTo>
                    <a:pt x="0" y="0"/>
                  </a:moveTo>
                  <a:lnTo>
                    <a:pt x="288" y="696"/>
                  </a:lnTo>
                  <a:lnTo>
                    <a:pt x="180" y="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8" name="Freeform 88"/>
            <p:cNvSpPr>
              <a:spLocks/>
            </p:cNvSpPr>
            <p:nvPr/>
          </p:nvSpPr>
          <p:spPr bwMode="auto">
            <a:xfrm>
              <a:off x="-978" y="1532"/>
              <a:ext cx="1152" cy="828"/>
            </a:xfrm>
            <a:custGeom>
              <a:avLst/>
              <a:gdLst>
                <a:gd name="T0" fmla="*/ 996 w 1152"/>
                <a:gd name="T1" fmla="*/ 0 h 828"/>
                <a:gd name="T2" fmla="*/ 0 w 1152"/>
                <a:gd name="T3" fmla="*/ 828 h 828"/>
                <a:gd name="T4" fmla="*/ 1152 w 1152"/>
                <a:gd name="T5" fmla="*/ 558 h 828"/>
                <a:gd name="T6" fmla="*/ 996 w 1152"/>
                <a:gd name="T7" fmla="*/ 0 h 8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2"/>
                <a:gd name="T13" fmla="*/ 0 h 828"/>
                <a:gd name="T14" fmla="*/ 1152 w 1152"/>
                <a:gd name="T15" fmla="*/ 828 h 8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2" h="828">
                  <a:moveTo>
                    <a:pt x="996" y="0"/>
                  </a:moveTo>
                  <a:lnTo>
                    <a:pt x="0" y="828"/>
                  </a:lnTo>
                  <a:lnTo>
                    <a:pt x="1152" y="558"/>
                  </a:lnTo>
                  <a:lnTo>
                    <a:pt x="996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9" name="Freeform 89"/>
            <p:cNvSpPr>
              <a:spLocks/>
            </p:cNvSpPr>
            <p:nvPr/>
          </p:nvSpPr>
          <p:spPr bwMode="auto">
            <a:xfrm>
              <a:off x="-582" y="1654"/>
              <a:ext cx="1236" cy="922"/>
            </a:xfrm>
            <a:custGeom>
              <a:avLst/>
              <a:gdLst>
                <a:gd name="T0" fmla="*/ 803 w 1236"/>
                <a:gd name="T1" fmla="*/ 0 h 922"/>
                <a:gd name="T2" fmla="*/ 0 w 1236"/>
                <a:gd name="T3" fmla="*/ 922 h 922"/>
                <a:gd name="T4" fmla="*/ 1236 w 1236"/>
                <a:gd name="T5" fmla="*/ 694 h 922"/>
                <a:gd name="T6" fmla="*/ 803 w 1236"/>
                <a:gd name="T7" fmla="*/ 0 h 9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36"/>
                <a:gd name="T13" fmla="*/ 0 h 922"/>
                <a:gd name="T14" fmla="*/ 1236 w 1236"/>
                <a:gd name="T15" fmla="*/ 922 h 9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36" h="922">
                  <a:moveTo>
                    <a:pt x="803" y="0"/>
                  </a:moveTo>
                  <a:lnTo>
                    <a:pt x="0" y="922"/>
                  </a:lnTo>
                  <a:lnTo>
                    <a:pt x="1236" y="694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8100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0" name="Line 90"/>
            <p:cNvSpPr>
              <a:spLocks noChangeShapeType="1"/>
            </p:cNvSpPr>
            <p:nvPr/>
          </p:nvSpPr>
          <p:spPr bwMode="auto">
            <a:xfrm>
              <a:off x="592" y="2078"/>
              <a:ext cx="512" cy="2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6" name="Text Box 41"/>
          <p:cNvSpPr txBox="1">
            <a:spLocks noChangeArrowheads="1"/>
          </p:cNvSpPr>
          <p:nvPr/>
        </p:nvSpPr>
        <p:spPr bwMode="auto">
          <a:xfrm>
            <a:off x="338138" y="5294489"/>
            <a:ext cx="88058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一般位置面的投影特性：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三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个投影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都是空间图形的</a:t>
            </a:r>
            <a:r>
              <a:rPr lang="zh-CN" altLang="en-US" sz="24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类似形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800" b="0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04387B4D-F267-44B4-A319-95CB4D3CE789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11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34844" name="Text Box 51"/>
          <p:cNvSpPr txBox="1">
            <a:spLocks noChangeArrowheads="1"/>
          </p:cNvSpPr>
          <p:nvPr/>
        </p:nvSpPr>
        <p:spPr bwMode="auto">
          <a:xfrm>
            <a:off x="338139" y="440560"/>
            <a:ext cx="4902904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三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.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平面上的直线和点</a:t>
            </a:r>
          </a:p>
          <a:p>
            <a:pPr eaLnBrk="1" hangingPunct="1"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平面上的直线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定理①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：若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直线通过属于平面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的两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个点，则直线必在面上。</a:t>
            </a:r>
          </a:p>
        </p:txBody>
      </p:sp>
      <p:sp>
        <p:nvSpPr>
          <p:cNvPr id="68661" name="Text Box 53"/>
          <p:cNvSpPr txBox="1">
            <a:spLocks noChangeArrowheads="1"/>
          </p:cNvSpPr>
          <p:nvPr/>
        </p:nvSpPr>
        <p:spPr bwMode="auto">
          <a:xfrm>
            <a:off x="325482" y="2668578"/>
            <a:ext cx="491556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定理②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：若直线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通过属于平面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的一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个点，且平行于属于该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平面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的一条已知直线，则该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直线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必在面上。</a:t>
            </a:r>
          </a:p>
        </p:txBody>
      </p:sp>
      <p:sp>
        <p:nvSpPr>
          <p:cNvPr id="68685" name="Text Box 77"/>
          <p:cNvSpPr txBox="1">
            <a:spLocks noChangeArrowheads="1"/>
          </p:cNvSpPr>
          <p:nvPr/>
        </p:nvSpPr>
        <p:spPr bwMode="auto">
          <a:xfrm>
            <a:off x="247826" y="4167522"/>
            <a:ext cx="5060950" cy="4572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例：试完成平行四边形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ABCD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的投影。</a:t>
            </a:r>
          </a:p>
        </p:txBody>
      </p:sp>
      <p:sp>
        <p:nvSpPr>
          <p:cNvPr id="68694" name="Text Box 86"/>
          <p:cNvSpPr txBox="1">
            <a:spLocks noChangeArrowheads="1"/>
          </p:cNvSpPr>
          <p:nvPr/>
        </p:nvSpPr>
        <p:spPr bwMode="auto">
          <a:xfrm>
            <a:off x="5549900" y="3989902"/>
            <a:ext cx="3594254" cy="83099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 algn="l" eaLnBrk="1" hangingPunct="1">
              <a:buClrTx/>
              <a:buFontTx/>
              <a:buNone/>
              <a:defRPr>
                <a:latin typeface="黑体" pitchFamily="2" charset="-122"/>
                <a:ea typeface="黑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sz="2800"/>
            </a:lvl2pPr>
            <a:lvl3pPr marL="1143000" indent="-228600" algn="l" eaLnBrk="0" hangingPunct="0">
              <a:spcBef>
                <a:spcPct val="20000"/>
              </a:spcBef>
              <a:buChar char="•"/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/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/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9pPr>
          </a:lstStyle>
          <a:p>
            <a:r>
              <a:rPr lang="en-US" altLang="zh-CN" dirty="0"/>
              <a:t>DC ∥ AB</a:t>
            </a:r>
            <a:r>
              <a:rPr lang="zh-CN" altLang="en-US" dirty="0"/>
              <a:t>，且过面上点</a:t>
            </a:r>
            <a:r>
              <a:rPr lang="en-US" altLang="zh-CN" dirty="0"/>
              <a:t>D,</a:t>
            </a:r>
          </a:p>
          <a:p>
            <a:r>
              <a:rPr lang="en-US" altLang="zh-CN" dirty="0">
                <a:sym typeface="Symbol" pitchFamily="18" charset="2"/>
              </a:rPr>
              <a:t></a:t>
            </a:r>
            <a:r>
              <a:rPr lang="en-US" altLang="zh-CN" dirty="0"/>
              <a:t>DC</a:t>
            </a:r>
            <a:r>
              <a:rPr lang="zh-CN" altLang="en-US" dirty="0"/>
              <a:t>在</a:t>
            </a:r>
            <a:r>
              <a:rPr lang="en-US" altLang="zh-CN" dirty="0"/>
              <a:t>AB </a:t>
            </a:r>
            <a:r>
              <a:rPr lang="en-US" altLang="zh-CN" sz="1800" dirty="0"/>
              <a:t>╳</a:t>
            </a:r>
            <a:r>
              <a:rPr lang="en-US" altLang="zh-CN" dirty="0"/>
              <a:t> AD</a:t>
            </a:r>
            <a:r>
              <a:rPr lang="zh-CN" altLang="en-US" dirty="0"/>
              <a:t>平面上</a:t>
            </a:r>
          </a:p>
        </p:txBody>
      </p:sp>
      <p:sp>
        <p:nvSpPr>
          <p:cNvPr id="68695" name="Text Box 87"/>
          <p:cNvSpPr txBox="1">
            <a:spLocks noChangeArrowheads="1"/>
          </p:cNvSpPr>
          <p:nvPr/>
        </p:nvSpPr>
        <p:spPr bwMode="auto">
          <a:xfrm>
            <a:off x="5538257" y="4929260"/>
            <a:ext cx="3605743" cy="83099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在平面上，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在平面上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,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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BC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在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AB </a:t>
            </a:r>
            <a:r>
              <a:rPr lang="en-US" altLang="zh-CN" sz="1800" dirty="0">
                <a:latin typeface="黑体" pitchFamily="2" charset="-122"/>
                <a:ea typeface="黑体" pitchFamily="2" charset="-122"/>
              </a:rPr>
              <a:t>╳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AD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平面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上</a:t>
            </a:r>
          </a:p>
        </p:txBody>
      </p:sp>
      <p:sp>
        <p:nvSpPr>
          <p:cNvPr id="68693" name="Text Box 85"/>
          <p:cNvSpPr txBox="1">
            <a:spLocks noChangeArrowheads="1"/>
          </p:cNvSpPr>
          <p:nvPr/>
        </p:nvSpPr>
        <p:spPr bwMode="auto">
          <a:xfrm>
            <a:off x="5881687" y="5917317"/>
            <a:ext cx="2944813" cy="45720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四边形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ABCD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即为所求</a:t>
            </a:r>
          </a:p>
        </p:txBody>
      </p:sp>
      <p:grpSp>
        <p:nvGrpSpPr>
          <p:cNvPr id="110" name="Group 30"/>
          <p:cNvGrpSpPr>
            <a:grpSpLocks/>
          </p:cNvGrpSpPr>
          <p:nvPr/>
        </p:nvGrpSpPr>
        <p:grpSpPr bwMode="auto">
          <a:xfrm>
            <a:off x="5438775" y="1639888"/>
            <a:ext cx="3486150" cy="458787"/>
            <a:chOff x="3221" y="2791"/>
            <a:chExt cx="2196" cy="289"/>
          </a:xfrm>
        </p:grpSpPr>
        <p:sp>
          <p:nvSpPr>
            <p:cNvPr id="111" name="Text Box 31"/>
            <p:cNvSpPr txBox="1">
              <a:spLocks noChangeArrowheads="1"/>
            </p:cNvSpPr>
            <p:nvPr/>
          </p:nvSpPr>
          <p:spPr bwMode="auto">
            <a:xfrm>
              <a:off x="3221" y="2792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</a:t>
              </a:r>
            </a:p>
          </p:txBody>
        </p:sp>
        <p:sp>
          <p:nvSpPr>
            <p:cNvPr id="112" name="Text Box 32"/>
            <p:cNvSpPr txBox="1">
              <a:spLocks noChangeArrowheads="1"/>
            </p:cNvSpPr>
            <p:nvPr/>
          </p:nvSpPr>
          <p:spPr bwMode="auto">
            <a:xfrm>
              <a:off x="5198" y="2791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</a:t>
              </a:r>
            </a:p>
          </p:txBody>
        </p:sp>
        <p:sp>
          <p:nvSpPr>
            <p:cNvPr id="113" name="Line 33"/>
            <p:cNvSpPr>
              <a:spLocks noChangeShapeType="1"/>
            </p:cNvSpPr>
            <p:nvPr/>
          </p:nvSpPr>
          <p:spPr bwMode="auto">
            <a:xfrm>
              <a:off x="3400" y="3052"/>
              <a:ext cx="1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5" name="Group 63"/>
          <p:cNvGrpSpPr>
            <a:grpSpLocks/>
          </p:cNvGrpSpPr>
          <p:nvPr/>
        </p:nvGrpSpPr>
        <p:grpSpPr bwMode="auto">
          <a:xfrm>
            <a:off x="5673725" y="61913"/>
            <a:ext cx="2012950" cy="3708400"/>
            <a:chOff x="3574" y="39"/>
            <a:chExt cx="1268" cy="2336"/>
          </a:xfrm>
        </p:grpSpPr>
        <p:sp>
          <p:nvSpPr>
            <p:cNvPr id="136" name="Line 64"/>
            <p:cNvSpPr>
              <a:spLocks noChangeShapeType="1"/>
            </p:cNvSpPr>
            <p:nvPr/>
          </p:nvSpPr>
          <p:spPr bwMode="auto">
            <a:xfrm>
              <a:off x="4444" y="1076"/>
              <a:ext cx="0" cy="1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" name="Line 65"/>
            <p:cNvSpPr>
              <a:spLocks noChangeShapeType="1"/>
            </p:cNvSpPr>
            <p:nvPr/>
          </p:nvSpPr>
          <p:spPr bwMode="auto">
            <a:xfrm>
              <a:off x="3820" y="692"/>
              <a:ext cx="0" cy="1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" name="Line 66"/>
            <p:cNvSpPr>
              <a:spLocks noChangeShapeType="1"/>
            </p:cNvSpPr>
            <p:nvPr/>
          </p:nvSpPr>
          <p:spPr bwMode="auto">
            <a:xfrm flipH="1">
              <a:off x="4712" y="230"/>
              <a:ext cx="2" cy="1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" name="Text Box 67"/>
            <p:cNvSpPr txBox="1">
              <a:spLocks noChangeArrowheads="1"/>
            </p:cNvSpPr>
            <p:nvPr/>
          </p:nvSpPr>
          <p:spPr bwMode="auto">
            <a:xfrm>
              <a:off x="3574" y="480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 dirty="0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i="1" dirty="0">
                <a:latin typeface="ISOCPEUR" pitchFamily="34" charset="0"/>
              </a:endParaRPr>
            </a:p>
          </p:txBody>
        </p:sp>
        <p:sp>
          <p:nvSpPr>
            <p:cNvPr id="140" name="Line 68"/>
            <p:cNvSpPr>
              <a:spLocks noChangeShapeType="1"/>
            </p:cNvSpPr>
            <p:nvPr/>
          </p:nvSpPr>
          <p:spPr bwMode="auto">
            <a:xfrm>
              <a:off x="3820" y="692"/>
              <a:ext cx="624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" name="Line 70"/>
            <p:cNvSpPr>
              <a:spLocks noChangeShapeType="1"/>
            </p:cNvSpPr>
            <p:nvPr/>
          </p:nvSpPr>
          <p:spPr bwMode="auto">
            <a:xfrm>
              <a:off x="3820" y="1995"/>
              <a:ext cx="624" cy="1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" name="Line 71"/>
            <p:cNvSpPr>
              <a:spLocks noChangeShapeType="1"/>
            </p:cNvSpPr>
            <p:nvPr/>
          </p:nvSpPr>
          <p:spPr bwMode="auto">
            <a:xfrm flipV="1">
              <a:off x="3820" y="230"/>
              <a:ext cx="894" cy="4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" name="Text Box 72"/>
            <p:cNvSpPr txBox="1">
              <a:spLocks noChangeArrowheads="1"/>
            </p:cNvSpPr>
            <p:nvPr/>
          </p:nvSpPr>
          <p:spPr bwMode="auto">
            <a:xfrm>
              <a:off x="4486" y="39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145" name="Line 73"/>
            <p:cNvSpPr>
              <a:spLocks noChangeShapeType="1"/>
            </p:cNvSpPr>
            <p:nvPr/>
          </p:nvSpPr>
          <p:spPr bwMode="auto">
            <a:xfrm flipV="1">
              <a:off x="3820" y="1415"/>
              <a:ext cx="892" cy="5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" name="Text Box 74"/>
            <p:cNvSpPr txBox="1">
              <a:spLocks noChangeArrowheads="1"/>
            </p:cNvSpPr>
            <p:nvPr/>
          </p:nvSpPr>
          <p:spPr bwMode="auto">
            <a:xfrm>
              <a:off x="3670" y="1908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147" name="Text Box 75"/>
            <p:cNvSpPr txBox="1">
              <a:spLocks noChangeArrowheads="1"/>
            </p:cNvSpPr>
            <p:nvPr/>
          </p:nvSpPr>
          <p:spPr bwMode="auto">
            <a:xfrm>
              <a:off x="4522" y="1242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148" name="Text Box 76"/>
            <p:cNvSpPr txBox="1">
              <a:spLocks noChangeArrowheads="1"/>
            </p:cNvSpPr>
            <p:nvPr/>
          </p:nvSpPr>
          <p:spPr bwMode="auto">
            <a:xfrm>
              <a:off x="4215" y="212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</a:t>
              </a:r>
            </a:p>
          </p:txBody>
        </p:sp>
      </p:grpSp>
      <p:sp>
        <p:nvSpPr>
          <p:cNvPr id="149" name="Line 78"/>
          <p:cNvSpPr>
            <a:spLocks noChangeShapeType="1"/>
          </p:cNvSpPr>
          <p:nvPr/>
        </p:nvSpPr>
        <p:spPr bwMode="auto">
          <a:xfrm flipV="1">
            <a:off x="7054850" y="971550"/>
            <a:ext cx="1416050" cy="7334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0" name="Line 79"/>
          <p:cNvSpPr>
            <a:spLocks noChangeShapeType="1"/>
          </p:cNvSpPr>
          <p:nvPr/>
        </p:nvSpPr>
        <p:spPr bwMode="auto">
          <a:xfrm flipV="1">
            <a:off x="7067550" y="2538413"/>
            <a:ext cx="1416050" cy="9207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1" name="Line 80"/>
          <p:cNvSpPr>
            <a:spLocks noChangeShapeType="1"/>
          </p:cNvSpPr>
          <p:nvPr/>
        </p:nvSpPr>
        <p:spPr bwMode="auto">
          <a:xfrm>
            <a:off x="7480300" y="361950"/>
            <a:ext cx="990600" cy="609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" name="Line 81"/>
          <p:cNvSpPr>
            <a:spLocks noChangeShapeType="1"/>
          </p:cNvSpPr>
          <p:nvPr/>
        </p:nvSpPr>
        <p:spPr bwMode="auto">
          <a:xfrm>
            <a:off x="7486650" y="2246313"/>
            <a:ext cx="990600" cy="2921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" name="Line 82"/>
          <p:cNvSpPr>
            <a:spLocks noChangeShapeType="1"/>
          </p:cNvSpPr>
          <p:nvPr/>
        </p:nvSpPr>
        <p:spPr bwMode="auto">
          <a:xfrm>
            <a:off x="8470900" y="976313"/>
            <a:ext cx="0" cy="155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4" name="Text Box 83"/>
          <p:cNvSpPr txBox="1">
            <a:spLocks noChangeArrowheads="1"/>
          </p:cNvSpPr>
          <p:nvPr/>
        </p:nvSpPr>
        <p:spPr bwMode="auto">
          <a:xfrm>
            <a:off x="8367713" y="685800"/>
            <a:ext cx="582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c'</a:t>
            </a:r>
          </a:p>
        </p:txBody>
      </p:sp>
      <p:sp>
        <p:nvSpPr>
          <p:cNvPr id="155" name="Text Box 84"/>
          <p:cNvSpPr txBox="1">
            <a:spLocks noChangeArrowheads="1"/>
          </p:cNvSpPr>
          <p:nvPr/>
        </p:nvSpPr>
        <p:spPr bwMode="auto">
          <a:xfrm>
            <a:off x="8499475" y="2282825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156" name="Text Box 69"/>
          <p:cNvSpPr txBox="1">
            <a:spLocks noChangeArrowheads="1"/>
          </p:cNvSpPr>
          <p:nvPr/>
        </p:nvSpPr>
        <p:spPr bwMode="auto">
          <a:xfrm>
            <a:off x="6508750" y="1639888"/>
            <a:ext cx="546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 dirty="0">
                <a:latin typeface="ISOCPEUR" pitchFamily="34" charset="0"/>
                <a:ea typeface="仿宋_GB2312" pitchFamily="49" charset="-122"/>
              </a:rPr>
              <a:t>d'</a:t>
            </a:r>
            <a:endParaRPr lang="en-US" altLang="zh-CN" sz="2400" i="1" dirty="0">
              <a:latin typeface="ISOCPEUR" pitchFamily="34" charset="0"/>
            </a:endParaRPr>
          </a:p>
        </p:txBody>
      </p:sp>
      <p:sp>
        <p:nvSpPr>
          <p:cNvPr id="34" name="Text Box 53"/>
          <p:cNvSpPr txBox="1">
            <a:spLocks noChangeArrowheads="1"/>
          </p:cNvSpPr>
          <p:nvPr/>
        </p:nvSpPr>
        <p:spPr bwMode="auto">
          <a:xfrm>
            <a:off x="269036" y="4871513"/>
            <a:ext cx="4915561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分析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：在已知平面上确定两条直线</a:t>
            </a:r>
            <a:endParaRPr lang="en-US" altLang="zh-CN" sz="24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     DC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BC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。</a:t>
            </a:r>
            <a:endParaRPr lang="en-US" altLang="zh-CN" sz="24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方法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：平面上两点。</a:t>
            </a:r>
            <a:endParaRPr lang="en-US" altLang="zh-CN" sz="24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方法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：平面上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点，平行于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直线。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314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8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8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61" grpId="0" autoUpdateAnimBg="0"/>
      <p:bldP spid="68685" grpId="0" animBg="1" autoUpdateAnimBg="0"/>
      <p:bldP spid="68694" grpId="0" animBg="1"/>
      <p:bldP spid="68695" grpId="0" animBg="1"/>
      <p:bldP spid="68693" grpId="0" animBg="1" autoUpdateAnimBg="0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utoUpdateAnimBg="0"/>
      <p:bldP spid="155" grpId="0" autoUpdateAnimBg="0"/>
      <p:bldP spid="156" grpId="0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B3A57A84-AAEC-41B6-A2C7-3AFB63694AE4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12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58722" name="Text Box 2"/>
          <p:cNvSpPr txBox="1">
            <a:spLocks noChangeArrowheads="1"/>
          </p:cNvSpPr>
          <p:nvPr/>
        </p:nvSpPr>
        <p:spPr bwMode="auto">
          <a:xfrm>
            <a:off x="1944688" y="30210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①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095500" y="4216400"/>
            <a:ext cx="3328988" cy="458788"/>
            <a:chOff x="3216" y="2784"/>
            <a:chExt cx="2207" cy="304"/>
          </a:xfrm>
        </p:grpSpPr>
        <p:sp>
          <p:nvSpPr>
            <p:cNvPr id="35927" name="Text Box 4"/>
            <p:cNvSpPr txBox="1">
              <a:spLocks noChangeArrowheads="1"/>
            </p:cNvSpPr>
            <p:nvPr/>
          </p:nvSpPr>
          <p:spPr bwMode="auto">
            <a:xfrm>
              <a:off x="3216" y="2785"/>
              <a:ext cx="243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</a:t>
              </a:r>
            </a:p>
          </p:txBody>
        </p:sp>
        <p:sp>
          <p:nvSpPr>
            <p:cNvPr id="35928" name="Text Box 5"/>
            <p:cNvSpPr txBox="1">
              <a:spLocks noChangeArrowheads="1"/>
            </p:cNvSpPr>
            <p:nvPr/>
          </p:nvSpPr>
          <p:spPr bwMode="auto">
            <a:xfrm>
              <a:off x="5193" y="2784"/>
              <a:ext cx="230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</a:t>
              </a:r>
            </a:p>
          </p:txBody>
        </p:sp>
        <p:sp>
          <p:nvSpPr>
            <p:cNvPr id="35929" name="Line 6"/>
            <p:cNvSpPr>
              <a:spLocks noChangeShapeType="1"/>
            </p:cNvSpPr>
            <p:nvPr/>
          </p:nvSpPr>
          <p:spPr bwMode="auto">
            <a:xfrm>
              <a:off x="3400" y="3052"/>
              <a:ext cx="1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574925" y="2803525"/>
            <a:ext cx="2168525" cy="3349625"/>
            <a:chOff x="830" y="2071"/>
            <a:chExt cx="1366" cy="2110"/>
          </a:xfrm>
        </p:grpSpPr>
        <p:sp>
          <p:nvSpPr>
            <p:cNvPr id="35916" name="Line 8"/>
            <p:cNvSpPr>
              <a:spLocks noChangeShapeType="1"/>
            </p:cNvSpPr>
            <p:nvPr/>
          </p:nvSpPr>
          <p:spPr bwMode="auto">
            <a:xfrm>
              <a:off x="1584" y="2195"/>
              <a:ext cx="0" cy="1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7" name="Line 9"/>
            <p:cNvSpPr>
              <a:spLocks noChangeShapeType="1"/>
            </p:cNvSpPr>
            <p:nvPr/>
          </p:nvSpPr>
          <p:spPr bwMode="auto">
            <a:xfrm>
              <a:off x="1076" y="2646"/>
              <a:ext cx="0" cy="6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8" name="Line 10"/>
            <p:cNvSpPr>
              <a:spLocks noChangeShapeType="1"/>
            </p:cNvSpPr>
            <p:nvPr/>
          </p:nvSpPr>
          <p:spPr bwMode="auto">
            <a:xfrm>
              <a:off x="1926" y="3021"/>
              <a:ext cx="0" cy="4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9" name="Text Box 11"/>
            <p:cNvSpPr txBox="1">
              <a:spLocks noChangeArrowheads="1"/>
            </p:cNvSpPr>
            <p:nvPr/>
          </p:nvSpPr>
          <p:spPr bwMode="auto">
            <a:xfrm>
              <a:off x="830" y="2475"/>
              <a:ext cx="3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35920" name="Text Box 12"/>
            <p:cNvSpPr txBox="1">
              <a:spLocks noChangeArrowheads="1"/>
            </p:cNvSpPr>
            <p:nvPr/>
          </p:nvSpPr>
          <p:spPr bwMode="auto">
            <a:xfrm>
              <a:off x="1870" y="2820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35921" name="Text Box 13"/>
            <p:cNvSpPr txBox="1">
              <a:spLocks noChangeArrowheads="1"/>
            </p:cNvSpPr>
            <p:nvPr/>
          </p:nvSpPr>
          <p:spPr bwMode="auto">
            <a:xfrm>
              <a:off x="1568" y="2071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35922" name="Text Box 14"/>
            <p:cNvSpPr txBox="1">
              <a:spLocks noChangeArrowheads="1"/>
            </p:cNvSpPr>
            <p:nvPr/>
          </p:nvSpPr>
          <p:spPr bwMode="auto">
            <a:xfrm>
              <a:off x="881" y="3159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35923" name="Text Box 15"/>
            <p:cNvSpPr txBox="1">
              <a:spLocks noChangeArrowheads="1"/>
            </p:cNvSpPr>
            <p:nvPr/>
          </p:nvSpPr>
          <p:spPr bwMode="auto">
            <a:xfrm>
              <a:off x="1388" y="3931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35924" name="Text Box 16"/>
            <p:cNvSpPr txBox="1">
              <a:spLocks noChangeArrowheads="1"/>
            </p:cNvSpPr>
            <p:nvPr/>
          </p:nvSpPr>
          <p:spPr bwMode="auto">
            <a:xfrm>
              <a:off x="1919" y="3362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35925" name="Freeform 17"/>
            <p:cNvSpPr>
              <a:spLocks/>
            </p:cNvSpPr>
            <p:nvPr/>
          </p:nvSpPr>
          <p:spPr bwMode="auto">
            <a:xfrm>
              <a:off x="1074" y="2196"/>
              <a:ext cx="852" cy="822"/>
            </a:xfrm>
            <a:custGeom>
              <a:avLst/>
              <a:gdLst>
                <a:gd name="T0" fmla="*/ 0 w 852"/>
                <a:gd name="T1" fmla="*/ 450 h 822"/>
                <a:gd name="T2" fmla="*/ 510 w 852"/>
                <a:gd name="T3" fmla="*/ 0 h 822"/>
                <a:gd name="T4" fmla="*/ 852 w 852"/>
                <a:gd name="T5" fmla="*/ 822 h 822"/>
                <a:gd name="T6" fmla="*/ 0 w 852"/>
                <a:gd name="T7" fmla="*/ 450 h 8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822"/>
                <a:gd name="T14" fmla="*/ 852 w 852"/>
                <a:gd name="T15" fmla="*/ 822 h 8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822">
                  <a:moveTo>
                    <a:pt x="0" y="450"/>
                  </a:moveTo>
                  <a:lnTo>
                    <a:pt x="510" y="0"/>
                  </a:lnTo>
                  <a:lnTo>
                    <a:pt x="852" y="822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26" name="Freeform 18"/>
            <p:cNvSpPr>
              <a:spLocks/>
            </p:cNvSpPr>
            <p:nvPr/>
          </p:nvSpPr>
          <p:spPr bwMode="auto">
            <a:xfrm>
              <a:off x="1074" y="3270"/>
              <a:ext cx="852" cy="750"/>
            </a:xfrm>
            <a:custGeom>
              <a:avLst/>
              <a:gdLst>
                <a:gd name="T0" fmla="*/ 0 w 852"/>
                <a:gd name="T1" fmla="*/ 0 h 750"/>
                <a:gd name="T2" fmla="*/ 852 w 852"/>
                <a:gd name="T3" fmla="*/ 243 h 750"/>
                <a:gd name="T4" fmla="*/ 507 w 852"/>
                <a:gd name="T5" fmla="*/ 750 h 750"/>
                <a:gd name="T6" fmla="*/ 0 w 852"/>
                <a:gd name="T7" fmla="*/ 0 h 7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750"/>
                <a:gd name="T14" fmla="*/ 852 w 852"/>
                <a:gd name="T15" fmla="*/ 750 h 7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750">
                  <a:moveTo>
                    <a:pt x="0" y="0"/>
                  </a:moveTo>
                  <a:lnTo>
                    <a:pt x="852" y="243"/>
                  </a:lnTo>
                  <a:lnTo>
                    <a:pt x="507" y="75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8739" name="Text Box 19"/>
          <p:cNvSpPr txBox="1">
            <a:spLocks noChangeArrowheads="1"/>
          </p:cNvSpPr>
          <p:nvPr/>
        </p:nvSpPr>
        <p:spPr bwMode="auto">
          <a:xfrm>
            <a:off x="3362325" y="4975225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</a:t>
            </a:r>
            <a:endParaRPr lang="en-US" altLang="zh-CN" sz="2400" i="1">
              <a:latin typeface="ISOCPEUR" pitchFamily="34" charset="0"/>
            </a:endParaRPr>
          </a:p>
        </p:txBody>
      </p:sp>
      <p:sp>
        <p:nvSpPr>
          <p:cNvPr id="158740" name="Text Box 20"/>
          <p:cNvSpPr txBox="1">
            <a:spLocks noChangeArrowheads="1"/>
          </p:cNvSpPr>
          <p:nvPr/>
        </p:nvSpPr>
        <p:spPr bwMode="auto">
          <a:xfrm>
            <a:off x="3295650" y="3117850"/>
            <a:ext cx="696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158741" name="Line 21"/>
          <p:cNvSpPr>
            <a:spLocks noChangeShapeType="1"/>
          </p:cNvSpPr>
          <p:nvPr/>
        </p:nvSpPr>
        <p:spPr bwMode="auto">
          <a:xfrm flipV="1">
            <a:off x="2965450" y="3344863"/>
            <a:ext cx="968375" cy="37147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8742" name="Text Box 22"/>
          <p:cNvSpPr txBox="1">
            <a:spLocks noChangeArrowheads="1"/>
          </p:cNvSpPr>
          <p:nvPr/>
        </p:nvSpPr>
        <p:spPr bwMode="auto">
          <a:xfrm>
            <a:off x="3876675" y="3117850"/>
            <a:ext cx="446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1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158743" name="Line 23"/>
          <p:cNvSpPr>
            <a:spLocks noChangeShapeType="1"/>
          </p:cNvSpPr>
          <p:nvPr/>
        </p:nvSpPr>
        <p:spPr bwMode="auto">
          <a:xfrm flipH="1">
            <a:off x="3911600" y="3351213"/>
            <a:ext cx="0" cy="127635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8744" name="Text Box 24"/>
          <p:cNvSpPr txBox="1">
            <a:spLocks noChangeArrowheads="1"/>
          </p:cNvSpPr>
          <p:nvPr/>
        </p:nvSpPr>
        <p:spPr bwMode="auto">
          <a:xfrm>
            <a:off x="3792538" y="5507038"/>
            <a:ext cx="357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1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158745" name="Line 25"/>
          <p:cNvSpPr>
            <a:spLocks noChangeShapeType="1"/>
          </p:cNvSpPr>
          <p:nvPr/>
        </p:nvSpPr>
        <p:spPr bwMode="auto">
          <a:xfrm>
            <a:off x="2981325" y="4713288"/>
            <a:ext cx="939800" cy="9493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8746" name="Line 26"/>
          <p:cNvSpPr>
            <a:spLocks noChangeShapeType="1"/>
          </p:cNvSpPr>
          <p:nvPr/>
        </p:nvSpPr>
        <p:spPr bwMode="auto">
          <a:xfrm>
            <a:off x="3911600" y="4621213"/>
            <a:ext cx="0" cy="10414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8747" name="Line 27"/>
          <p:cNvSpPr>
            <a:spLocks noChangeShapeType="1"/>
          </p:cNvSpPr>
          <p:nvPr/>
        </p:nvSpPr>
        <p:spPr bwMode="auto">
          <a:xfrm>
            <a:off x="3609975" y="3478213"/>
            <a:ext cx="0" cy="114935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8748" name="AutoShape 28"/>
          <p:cNvSpPr>
            <a:spLocks noChangeArrowheads="1"/>
          </p:cNvSpPr>
          <p:nvPr/>
        </p:nvSpPr>
        <p:spPr bwMode="auto">
          <a:xfrm>
            <a:off x="3571875" y="3430588"/>
            <a:ext cx="74613" cy="746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58749" name="Line 29"/>
          <p:cNvSpPr>
            <a:spLocks noChangeShapeType="1"/>
          </p:cNvSpPr>
          <p:nvPr/>
        </p:nvSpPr>
        <p:spPr bwMode="auto">
          <a:xfrm>
            <a:off x="3613150" y="4621213"/>
            <a:ext cx="0" cy="73025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8750" name="AutoShape 30"/>
          <p:cNvSpPr>
            <a:spLocks noChangeArrowheads="1"/>
          </p:cNvSpPr>
          <p:nvPr/>
        </p:nvSpPr>
        <p:spPr bwMode="auto">
          <a:xfrm>
            <a:off x="3575050" y="5319713"/>
            <a:ext cx="74613" cy="746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58751" name="Rectangle 31"/>
          <p:cNvSpPr>
            <a:spLocks noChangeArrowheads="1"/>
          </p:cNvSpPr>
          <p:nvPr/>
        </p:nvSpPr>
        <p:spPr bwMode="auto">
          <a:xfrm>
            <a:off x="1619250" y="2906713"/>
            <a:ext cx="4514850" cy="34686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35859" name="Rectangle 32"/>
          <p:cNvSpPr>
            <a:spLocks noChangeArrowheads="1"/>
          </p:cNvSpPr>
          <p:nvPr/>
        </p:nvSpPr>
        <p:spPr bwMode="auto">
          <a:xfrm>
            <a:off x="392113" y="255588"/>
            <a:ext cx="8574087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平面上的点</a:t>
            </a:r>
            <a:endParaRPr lang="zh-CN" altLang="en-US" sz="12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定理：若点在属于平面的直线上，则点必在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该平面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上。</a:t>
            </a:r>
          </a:p>
        </p:txBody>
      </p:sp>
      <p:sp>
        <p:nvSpPr>
          <p:cNvPr id="158753" name="Text Box 33"/>
          <p:cNvSpPr txBox="1">
            <a:spLocks noChangeArrowheads="1"/>
          </p:cNvSpPr>
          <p:nvPr/>
        </p:nvSpPr>
        <p:spPr bwMode="auto">
          <a:xfrm>
            <a:off x="877888" y="1479550"/>
            <a:ext cx="7615237" cy="118745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例：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①求属于△的点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K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的水平投影；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②求属于△的距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H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面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15</a:t>
            </a:r>
            <a:r>
              <a:rPr lang="en-US" altLang="en-US" sz="240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距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V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面</a:t>
            </a:r>
            <a:r>
              <a:rPr lang="en-US" altLang="en-US" sz="2400">
                <a:latin typeface="黑体" pitchFamily="2" charset="-122"/>
                <a:ea typeface="黑体" pitchFamily="2" charset="-122"/>
              </a:rPr>
              <a:t>10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的点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L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6256338" y="2130425"/>
            <a:ext cx="2041525" cy="476250"/>
            <a:chOff x="3036" y="2484"/>
            <a:chExt cx="1286" cy="300"/>
          </a:xfrm>
        </p:grpSpPr>
        <p:sp>
          <p:nvSpPr>
            <p:cNvPr id="35912" name="Line 35"/>
            <p:cNvSpPr>
              <a:spLocks noChangeShapeType="1"/>
            </p:cNvSpPr>
            <p:nvPr/>
          </p:nvSpPr>
          <p:spPr bwMode="auto">
            <a:xfrm rot="5400000" flipV="1">
              <a:off x="3958" y="2373"/>
              <a:ext cx="0" cy="729"/>
            </a:xfrm>
            <a:prstGeom prst="line">
              <a:avLst/>
            </a:prstGeom>
            <a:noFill/>
            <a:ln w="38100">
              <a:solidFill>
                <a:srgbClr val="3366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3" name="Line 36"/>
            <p:cNvSpPr>
              <a:spLocks noChangeShapeType="1"/>
            </p:cNvSpPr>
            <p:nvPr/>
          </p:nvSpPr>
          <p:spPr bwMode="auto">
            <a:xfrm rot="5400000" flipH="1" flipV="1">
              <a:off x="3270" y="2505"/>
              <a:ext cx="0" cy="46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4" name="Text Box 37"/>
            <p:cNvSpPr txBox="1">
              <a:spLocks noChangeArrowheads="1"/>
            </p:cNvSpPr>
            <p:nvPr/>
          </p:nvSpPr>
          <p:spPr bwMode="auto">
            <a:xfrm>
              <a:off x="3105" y="2484"/>
              <a:ext cx="27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FF3300"/>
                  </a:solidFill>
                  <a:latin typeface="ISOCPEUR" pitchFamily="34" charset="0"/>
                </a:rPr>
                <a:t>10</a:t>
              </a:r>
            </a:p>
          </p:txBody>
        </p:sp>
        <p:sp>
          <p:nvSpPr>
            <p:cNvPr id="35915" name="Text Box 38"/>
            <p:cNvSpPr txBox="1">
              <a:spLocks noChangeArrowheads="1"/>
            </p:cNvSpPr>
            <p:nvPr/>
          </p:nvSpPr>
          <p:spPr bwMode="auto">
            <a:xfrm>
              <a:off x="3789" y="2496"/>
              <a:ext cx="27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3366CC"/>
                  </a:solidFill>
                  <a:latin typeface="ISOCPEUR" pitchFamily="34" charset="0"/>
                </a:rPr>
                <a:t>15</a:t>
              </a:r>
            </a:p>
          </p:txBody>
        </p:sp>
      </p:grp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2095500" y="4216400"/>
            <a:ext cx="3328988" cy="458788"/>
            <a:chOff x="3216" y="2784"/>
            <a:chExt cx="2207" cy="304"/>
          </a:xfrm>
        </p:grpSpPr>
        <p:sp>
          <p:nvSpPr>
            <p:cNvPr id="35909" name="Text Box 40"/>
            <p:cNvSpPr txBox="1">
              <a:spLocks noChangeArrowheads="1"/>
            </p:cNvSpPr>
            <p:nvPr/>
          </p:nvSpPr>
          <p:spPr bwMode="auto">
            <a:xfrm>
              <a:off x="3216" y="2785"/>
              <a:ext cx="243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</a:t>
              </a:r>
            </a:p>
          </p:txBody>
        </p:sp>
        <p:sp>
          <p:nvSpPr>
            <p:cNvPr id="35910" name="Text Box 41"/>
            <p:cNvSpPr txBox="1">
              <a:spLocks noChangeArrowheads="1"/>
            </p:cNvSpPr>
            <p:nvPr/>
          </p:nvSpPr>
          <p:spPr bwMode="auto">
            <a:xfrm>
              <a:off x="5193" y="2784"/>
              <a:ext cx="230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</a:t>
              </a:r>
            </a:p>
          </p:txBody>
        </p:sp>
        <p:sp>
          <p:nvSpPr>
            <p:cNvPr id="35911" name="Line 42"/>
            <p:cNvSpPr>
              <a:spLocks noChangeShapeType="1"/>
            </p:cNvSpPr>
            <p:nvPr/>
          </p:nvSpPr>
          <p:spPr bwMode="auto">
            <a:xfrm>
              <a:off x="3400" y="3052"/>
              <a:ext cx="1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8763" name="Line 43"/>
          <p:cNvSpPr>
            <a:spLocks noChangeShapeType="1"/>
          </p:cNvSpPr>
          <p:nvPr/>
        </p:nvSpPr>
        <p:spPr bwMode="auto">
          <a:xfrm flipV="1">
            <a:off x="4762500" y="3473450"/>
            <a:ext cx="0" cy="1157288"/>
          </a:xfrm>
          <a:prstGeom prst="line">
            <a:avLst/>
          </a:prstGeom>
          <a:noFill/>
          <a:ln w="127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8764" name="Line 44"/>
          <p:cNvSpPr>
            <a:spLocks noChangeShapeType="1"/>
          </p:cNvSpPr>
          <p:nvPr/>
        </p:nvSpPr>
        <p:spPr bwMode="auto">
          <a:xfrm>
            <a:off x="3236913" y="3471863"/>
            <a:ext cx="0" cy="1158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8765" name="Line 45"/>
          <p:cNvSpPr>
            <a:spLocks noChangeShapeType="1"/>
          </p:cNvSpPr>
          <p:nvPr/>
        </p:nvSpPr>
        <p:spPr bwMode="auto">
          <a:xfrm>
            <a:off x="3957638" y="3471863"/>
            <a:ext cx="4762" cy="1187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8766" name="Line 46"/>
          <p:cNvSpPr>
            <a:spLocks noChangeShapeType="1"/>
          </p:cNvSpPr>
          <p:nvPr/>
        </p:nvSpPr>
        <p:spPr bwMode="auto">
          <a:xfrm>
            <a:off x="3243263" y="3471863"/>
            <a:ext cx="1512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8767" name="Line 47"/>
          <p:cNvSpPr>
            <a:spLocks noChangeShapeType="1"/>
          </p:cNvSpPr>
          <p:nvPr/>
        </p:nvSpPr>
        <p:spPr bwMode="auto">
          <a:xfrm>
            <a:off x="3395663" y="5367338"/>
            <a:ext cx="1370012" cy="0"/>
          </a:xfrm>
          <a:prstGeom prst="line">
            <a:avLst/>
          </a:prstGeom>
          <a:noFill/>
          <a:ln w="9525">
            <a:solidFill>
              <a:srgbClr val="33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8768" name="Line 48"/>
          <p:cNvSpPr>
            <a:spLocks noChangeShapeType="1"/>
          </p:cNvSpPr>
          <p:nvPr/>
        </p:nvSpPr>
        <p:spPr bwMode="auto">
          <a:xfrm flipH="1" flipV="1">
            <a:off x="4759325" y="4629150"/>
            <a:ext cx="0" cy="74295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8769" name="Line 49"/>
          <p:cNvSpPr>
            <a:spLocks noChangeShapeType="1"/>
          </p:cNvSpPr>
          <p:nvPr/>
        </p:nvSpPr>
        <p:spPr bwMode="auto">
          <a:xfrm>
            <a:off x="3238500" y="5116513"/>
            <a:ext cx="728663" cy="490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2574925" y="2803525"/>
            <a:ext cx="2168525" cy="3349625"/>
            <a:chOff x="830" y="2071"/>
            <a:chExt cx="1366" cy="2110"/>
          </a:xfrm>
        </p:grpSpPr>
        <p:sp>
          <p:nvSpPr>
            <p:cNvPr id="35898" name="Line 51"/>
            <p:cNvSpPr>
              <a:spLocks noChangeShapeType="1"/>
            </p:cNvSpPr>
            <p:nvPr/>
          </p:nvSpPr>
          <p:spPr bwMode="auto">
            <a:xfrm>
              <a:off x="1584" y="2195"/>
              <a:ext cx="0" cy="1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899" name="Line 52"/>
            <p:cNvSpPr>
              <a:spLocks noChangeShapeType="1"/>
            </p:cNvSpPr>
            <p:nvPr/>
          </p:nvSpPr>
          <p:spPr bwMode="auto">
            <a:xfrm>
              <a:off x="1076" y="2646"/>
              <a:ext cx="0" cy="6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00" name="Line 53"/>
            <p:cNvSpPr>
              <a:spLocks noChangeShapeType="1"/>
            </p:cNvSpPr>
            <p:nvPr/>
          </p:nvSpPr>
          <p:spPr bwMode="auto">
            <a:xfrm>
              <a:off x="1926" y="3021"/>
              <a:ext cx="0" cy="4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01" name="Text Box 54"/>
            <p:cNvSpPr txBox="1">
              <a:spLocks noChangeArrowheads="1"/>
            </p:cNvSpPr>
            <p:nvPr/>
          </p:nvSpPr>
          <p:spPr bwMode="auto">
            <a:xfrm>
              <a:off x="830" y="2475"/>
              <a:ext cx="3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35902" name="Text Box 55"/>
            <p:cNvSpPr txBox="1">
              <a:spLocks noChangeArrowheads="1"/>
            </p:cNvSpPr>
            <p:nvPr/>
          </p:nvSpPr>
          <p:spPr bwMode="auto">
            <a:xfrm>
              <a:off x="1870" y="2820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35903" name="Text Box 56"/>
            <p:cNvSpPr txBox="1">
              <a:spLocks noChangeArrowheads="1"/>
            </p:cNvSpPr>
            <p:nvPr/>
          </p:nvSpPr>
          <p:spPr bwMode="auto">
            <a:xfrm>
              <a:off x="1568" y="2071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35904" name="Text Box 57"/>
            <p:cNvSpPr txBox="1">
              <a:spLocks noChangeArrowheads="1"/>
            </p:cNvSpPr>
            <p:nvPr/>
          </p:nvSpPr>
          <p:spPr bwMode="auto">
            <a:xfrm>
              <a:off x="881" y="3159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35905" name="Text Box 58"/>
            <p:cNvSpPr txBox="1">
              <a:spLocks noChangeArrowheads="1"/>
            </p:cNvSpPr>
            <p:nvPr/>
          </p:nvSpPr>
          <p:spPr bwMode="auto">
            <a:xfrm>
              <a:off x="1388" y="3931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35906" name="Text Box 59"/>
            <p:cNvSpPr txBox="1">
              <a:spLocks noChangeArrowheads="1"/>
            </p:cNvSpPr>
            <p:nvPr/>
          </p:nvSpPr>
          <p:spPr bwMode="auto">
            <a:xfrm>
              <a:off x="1919" y="3362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35907" name="Freeform 60"/>
            <p:cNvSpPr>
              <a:spLocks/>
            </p:cNvSpPr>
            <p:nvPr/>
          </p:nvSpPr>
          <p:spPr bwMode="auto">
            <a:xfrm>
              <a:off x="1074" y="2196"/>
              <a:ext cx="852" cy="822"/>
            </a:xfrm>
            <a:custGeom>
              <a:avLst/>
              <a:gdLst>
                <a:gd name="T0" fmla="*/ 0 w 852"/>
                <a:gd name="T1" fmla="*/ 450 h 822"/>
                <a:gd name="T2" fmla="*/ 510 w 852"/>
                <a:gd name="T3" fmla="*/ 0 h 822"/>
                <a:gd name="T4" fmla="*/ 852 w 852"/>
                <a:gd name="T5" fmla="*/ 822 h 822"/>
                <a:gd name="T6" fmla="*/ 0 w 852"/>
                <a:gd name="T7" fmla="*/ 450 h 8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822"/>
                <a:gd name="T14" fmla="*/ 852 w 852"/>
                <a:gd name="T15" fmla="*/ 822 h 8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822">
                  <a:moveTo>
                    <a:pt x="0" y="450"/>
                  </a:moveTo>
                  <a:lnTo>
                    <a:pt x="510" y="0"/>
                  </a:lnTo>
                  <a:lnTo>
                    <a:pt x="852" y="822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08" name="Freeform 61"/>
            <p:cNvSpPr>
              <a:spLocks/>
            </p:cNvSpPr>
            <p:nvPr/>
          </p:nvSpPr>
          <p:spPr bwMode="auto">
            <a:xfrm>
              <a:off x="1074" y="3270"/>
              <a:ext cx="852" cy="750"/>
            </a:xfrm>
            <a:custGeom>
              <a:avLst/>
              <a:gdLst>
                <a:gd name="T0" fmla="*/ 0 w 852"/>
                <a:gd name="T1" fmla="*/ 0 h 750"/>
                <a:gd name="T2" fmla="*/ 852 w 852"/>
                <a:gd name="T3" fmla="*/ 243 h 750"/>
                <a:gd name="T4" fmla="*/ 507 w 852"/>
                <a:gd name="T5" fmla="*/ 750 h 750"/>
                <a:gd name="T6" fmla="*/ 0 w 852"/>
                <a:gd name="T7" fmla="*/ 0 h 7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750"/>
                <a:gd name="T14" fmla="*/ 852 w 852"/>
                <a:gd name="T15" fmla="*/ 750 h 7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750">
                  <a:moveTo>
                    <a:pt x="0" y="0"/>
                  </a:moveTo>
                  <a:lnTo>
                    <a:pt x="852" y="243"/>
                  </a:lnTo>
                  <a:lnTo>
                    <a:pt x="507" y="75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8782" name="Line 62"/>
          <p:cNvSpPr>
            <a:spLocks noChangeShapeType="1"/>
          </p:cNvSpPr>
          <p:nvPr/>
        </p:nvSpPr>
        <p:spPr bwMode="auto">
          <a:xfrm>
            <a:off x="3608388" y="4595813"/>
            <a:ext cx="0" cy="773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7" name="Group 63"/>
          <p:cNvGrpSpPr>
            <a:grpSpLocks/>
          </p:cNvGrpSpPr>
          <p:nvPr/>
        </p:nvGrpSpPr>
        <p:grpSpPr bwMode="auto">
          <a:xfrm>
            <a:off x="4694238" y="3419475"/>
            <a:ext cx="795337" cy="1311275"/>
            <a:chOff x="4804" y="478"/>
            <a:chExt cx="546" cy="900"/>
          </a:xfrm>
        </p:grpSpPr>
        <p:sp>
          <p:nvSpPr>
            <p:cNvPr id="35894" name="Text Box 64"/>
            <p:cNvSpPr txBox="1">
              <a:spLocks noChangeArrowheads="1"/>
            </p:cNvSpPr>
            <p:nvPr/>
          </p:nvSpPr>
          <p:spPr bwMode="auto">
            <a:xfrm>
              <a:off x="4804" y="478"/>
              <a:ext cx="265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0">
                  <a:latin typeface="ISOCPEUR" pitchFamily="34" charset="0"/>
                  <a:sym typeface="Symbol" pitchFamily="18" charset="2"/>
                </a:rPr>
                <a:t>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35895" name="Text Box 65"/>
            <p:cNvSpPr txBox="1">
              <a:spLocks noChangeArrowheads="1"/>
            </p:cNvSpPr>
            <p:nvPr/>
          </p:nvSpPr>
          <p:spPr bwMode="auto">
            <a:xfrm>
              <a:off x="4804" y="729"/>
              <a:ext cx="265" cy="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0">
                  <a:latin typeface="ISOCPEUR" pitchFamily="34" charset="0"/>
                  <a:sym typeface="Symbol" pitchFamily="18" charset="2"/>
                </a:rPr>
                <a:t></a:t>
              </a:r>
              <a:endParaRPr lang="en-US" altLang="zh-CN" sz="2400" b="0"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35896" name="Text Box 66"/>
            <p:cNvSpPr txBox="1">
              <a:spLocks noChangeArrowheads="1"/>
            </p:cNvSpPr>
            <p:nvPr/>
          </p:nvSpPr>
          <p:spPr bwMode="auto">
            <a:xfrm>
              <a:off x="4804" y="980"/>
              <a:ext cx="265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0">
                  <a:latin typeface="ISOCPEUR" pitchFamily="34" charset="0"/>
                  <a:sym typeface="Symbol" pitchFamily="18" charset="2"/>
                </a:rPr>
                <a:t></a:t>
              </a:r>
            </a:p>
          </p:txBody>
        </p:sp>
        <p:sp>
          <p:nvSpPr>
            <p:cNvPr id="35897" name="Text Box 67"/>
            <p:cNvSpPr txBox="1">
              <a:spLocks noChangeArrowheads="1"/>
            </p:cNvSpPr>
            <p:nvPr/>
          </p:nvSpPr>
          <p:spPr bwMode="auto">
            <a:xfrm>
              <a:off x="4972" y="747"/>
              <a:ext cx="378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15 </a:t>
              </a:r>
            </a:p>
          </p:txBody>
        </p:sp>
      </p:grpSp>
      <p:grpSp>
        <p:nvGrpSpPr>
          <p:cNvPr id="8" name="Group 68"/>
          <p:cNvGrpSpPr>
            <a:grpSpLocks/>
          </p:cNvGrpSpPr>
          <p:nvPr/>
        </p:nvGrpSpPr>
        <p:grpSpPr bwMode="auto">
          <a:xfrm>
            <a:off x="4732338" y="4591050"/>
            <a:ext cx="698500" cy="841375"/>
            <a:chOff x="2285" y="3293"/>
            <a:chExt cx="440" cy="530"/>
          </a:xfrm>
        </p:grpSpPr>
        <p:sp>
          <p:nvSpPr>
            <p:cNvPr id="35890" name="Text Box 69"/>
            <p:cNvSpPr txBox="1">
              <a:spLocks noChangeArrowheads="1"/>
            </p:cNvSpPr>
            <p:nvPr/>
          </p:nvSpPr>
          <p:spPr bwMode="auto">
            <a:xfrm>
              <a:off x="2285" y="3293"/>
              <a:ext cx="19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ISOCPEUR" pitchFamily="34" charset="0"/>
                  <a:sym typeface="Symbol" pitchFamily="18" charset="2"/>
                </a:rPr>
                <a:t></a:t>
              </a:r>
              <a:endParaRPr lang="en-US" altLang="zh-CN" sz="2400">
                <a:latin typeface="ISOCPEUR" pitchFamily="34" charset="0"/>
              </a:endParaRPr>
            </a:p>
          </p:txBody>
        </p:sp>
        <p:sp>
          <p:nvSpPr>
            <p:cNvPr id="35891" name="Text Box 70"/>
            <p:cNvSpPr txBox="1">
              <a:spLocks noChangeArrowheads="1"/>
            </p:cNvSpPr>
            <p:nvPr/>
          </p:nvSpPr>
          <p:spPr bwMode="auto">
            <a:xfrm>
              <a:off x="2285" y="3432"/>
              <a:ext cx="19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ISOCPEUR" pitchFamily="34" charset="0"/>
                  <a:sym typeface="Symbol" pitchFamily="18" charset="2"/>
                </a:rPr>
                <a:t></a:t>
              </a:r>
              <a:endParaRPr lang="en-US" altLang="zh-CN" sz="2400"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35892" name="Text Box 71"/>
            <p:cNvSpPr txBox="1">
              <a:spLocks noChangeArrowheads="1"/>
            </p:cNvSpPr>
            <p:nvPr/>
          </p:nvSpPr>
          <p:spPr bwMode="auto">
            <a:xfrm>
              <a:off x="2285" y="3573"/>
              <a:ext cx="19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ISOCPEUR" pitchFamily="34" charset="0"/>
                  <a:sym typeface="Symbol" pitchFamily="18" charset="2"/>
                </a:rPr>
                <a:t></a:t>
              </a:r>
              <a:endParaRPr lang="en-US" altLang="zh-CN"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35893" name="Text Box 72"/>
            <p:cNvSpPr txBox="1">
              <a:spLocks noChangeArrowheads="1"/>
            </p:cNvSpPr>
            <p:nvPr/>
          </p:nvSpPr>
          <p:spPr bwMode="auto">
            <a:xfrm>
              <a:off x="2378" y="3426"/>
              <a:ext cx="3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10 </a:t>
              </a:r>
            </a:p>
          </p:txBody>
        </p:sp>
      </p:grpSp>
      <p:sp>
        <p:nvSpPr>
          <p:cNvPr id="158793" name="AutoShape 73"/>
          <p:cNvSpPr>
            <a:spLocks noChangeArrowheads="1"/>
          </p:cNvSpPr>
          <p:nvPr/>
        </p:nvSpPr>
        <p:spPr bwMode="auto">
          <a:xfrm>
            <a:off x="3581400" y="5326063"/>
            <a:ext cx="74613" cy="746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58794" name="Text Box 74"/>
          <p:cNvSpPr txBox="1">
            <a:spLocks noChangeArrowheads="1"/>
          </p:cNvSpPr>
          <p:nvPr/>
        </p:nvSpPr>
        <p:spPr bwMode="auto">
          <a:xfrm>
            <a:off x="3300413" y="4975225"/>
            <a:ext cx="409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l</a:t>
            </a:r>
            <a:endParaRPr lang="en-US" altLang="zh-CN" sz="2400" i="1">
              <a:latin typeface="ISOCPEUR" pitchFamily="34" charset="0"/>
            </a:endParaRPr>
          </a:p>
        </p:txBody>
      </p:sp>
      <p:sp>
        <p:nvSpPr>
          <p:cNvPr id="158795" name="Text Box 75"/>
          <p:cNvSpPr txBox="1">
            <a:spLocks noChangeArrowheads="1"/>
          </p:cNvSpPr>
          <p:nvPr/>
        </p:nvSpPr>
        <p:spPr bwMode="auto">
          <a:xfrm>
            <a:off x="3267075" y="3117850"/>
            <a:ext cx="696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l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158796" name="Line 76"/>
          <p:cNvSpPr>
            <a:spLocks noChangeShapeType="1"/>
          </p:cNvSpPr>
          <p:nvPr/>
        </p:nvSpPr>
        <p:spPr bwMode="auto">
          <a:xfrm>
            <a:off x="3962400" y="4640263"/>
            <a:ext cx="0" cy="962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8797" name="Line 77"/>
          <p:cNvSpPr>
            <a:spLocks noChangeShapeType="1"/>
          </p:cNvSpPr>
          <p:nvPr/>
        </p:nvSpPr>
        <p:spPr bwMode="auto">
          <a:xfrm>
            <a:off x="3238500" y="4611688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8798" name="Text Box 78"/>
          <p:cNvSpPr txBox="1">
            <a:spLocks noChangeArrowheads="1"/>
          </p:cNvSpPr>
          <p:nvPr/>
        </p:nvSpPr>
        <p:spPr bwMode="auto">
          <a:xfrm>
            <a:off x="2867025" y="3155950"/>
            <a:ext cx="531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1'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58799" name="Text Box 79"/>
          <p:cNvSpPr txBox="1">
            <a:spLocks noChangeArrowheads="1"/>
          </p:cNvSpPr>
          <p:nvPr/>
        </p:nvSpPr>
        <p:spPr bwMode="auto">
          <a:xfrm>
            <a:off x="3836988" y="3136900"/>
            <a:ext cx="527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2'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58800" name="Text Box 80"/>
          <p:cNvSpPr txBox="1">
            <a:spLocks noChangeArrowheads="1"/>
          </p:cNvSpPr>
          <p:nvPr/>
        </p:nvSpPr>
        <p:spPr bwMode="auto">
          <a:xfrm>
            <a:off x="2722563" y="4994275"/>
            <a:ext cx="496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1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58801" name="Text Box 81"/>
          <p:cNvSpPr txBox="1">
            <a:spLocks noChangeArrowheads="1"/>
          </p:cNvSpPr>
          <p:nvPr/>
        </p:nvSpPr>
        <p:spPr bwMode="auto">
          <a:xfrm>
            <a:off x="3816350" y="5470525"/>
            <a:ext cx="434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2</a:t>
            </a:r>
          </a:p>
        </p:txBody>
      </p:sp>
      <p:sp>
        <p:nvSpPr>
          <p:cNvPr id="158802" name="Text Box 82"/>
          <p:cNvSpPr txBox="1">
            <a:spLocks noChangeArrowheads="1"/>
          </p:cNvSpPr>
          <p:nvPr/>
        </p:nvSpPr>
        <p:spPr bwMode="auto">
          <a:xfrm>
            <a:off x="2997200" y="5270500"/>
            <a:ext cx="454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3</a:t>
            </a:r>
          </a:p>
        </p:txBody>
      </p:sp>
      <p:sp>
        <p:nvSpPr>
          <p:cNvPr id="158803" name="Text Box 83"/>
          <p:cNvSpPr txBox="1">
            <a:spLocks noChangeArrowheads="1"/>
          </p:cNvSpPr>
          <p:nvPr/>
        </p:nvSpPr>
        <p:spPr bwMode="auto">
          <a:xfrm>
            <a:off x="3825875" y="5070475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4</a:t>
            </a:r>
          </a:p>
        </p:txBody>
      </p:sp>
      <p:sp>
        <p:nvSpPr>
          <p:cNvPr id="158804" name="Line 84"/>
          <p:cNvSpPr>
            <a:spLocks noChangeShapeType="1"/>
          </p:cNvSpPr>
          <p:nvPr/>
        </p:nvSpPr>
        <p:spPr bwMode="auto">
          <a:xfrm flipV="1">
            <a:off x="3609975" y="3478213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8805" name="AutoShape 85"/>
          <p:cNvSpPr>
            <a:spLocks noChangeArrowheads="1"/>
          </p:cNvSpPr>
          <p:nvPr/>
        </p:nvSpPr>
        <p:spPr bwMode="auto">
          <a:xfrm>
            <a:off x="3571875" y="3430588"/>
            <a:ext cx="74613" cy="746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58806" name="Text Box 86"/>
          <p:cNvSpPr txBox="1">
            <a:spLocks noChangeArrowheads="1"/>
          </p:cNvSpPr>
          <p:nvPr/>
        </p:nvSpPr>
        <p:spPr bwMode="auto">
          <a:xfrm>
            <a:off x="1944688" y="30210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②</a:t>
            </a:r>
          </a:p>
        </p:txBody>
      </p:sp>
      <p:sp>
        <p:nvSpPr>
          <p:cNvPr id="158840" name="Text Box 120"/>
          <p:cNvSpPr txBox="1">
            <a:spLocks noChangeArrowheads="1"/>
          </p:cNvSpPr>
          <p:nvPr/>
        </p:nvSpPr>
        <p:spPr bwMode="auto">
          <a:xfrm>
            <a:off x="6298788" y="3918893"/>
            <a:ext cx="1529586" cy="46166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 dirty="0">
                <a:ea typeface="黑体" pitchFamily="2" charset="-122"/>
              </a:rPr>
              <a:t>线</a:t>
            </a:r>
            <a:r>
              <a:rPr lang="zh-CN" altLang="en-US" sz="2400" dirty="0" smtClean="0">
                <a:ea typeface="黑体" pitchFamily="2" charset="-122"/>
              </a:rPr>
              <a:t>上定点</a:t>
            </a:r>
            <a:endParaRPr lang="zh-CN" altLang="en-US" sz="2400" dirty="0">
              <a:ea typeface="黑体" pitchFamily="2" charset="-122"/>
            </a:endParaRPr>
          </a:p>
        </p:txBody>
      </p:sp>
      <p:sp>
        <p:nvSpPr>
          <p:cNvPr id="158841" name="Text Box 121"/>
          <p:cNvSpPr txBox="1">
            <a:spLocks noChangeArrowheads="1"/>
          </p:cNvSpPr>
          <p:nvPr/>
        </p:nvSpPr>
        <p:spPr bwMode="auto">
          <a:xfrm>
            <a:off x="6296025" y="3265488"/>
            <a:ext cx="1509713" cy="457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ea typeface="黑体" pitchFamily="2" charset="-122"/>
              </a:rPr>
              <a:t>面上画线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8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8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8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8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8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8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8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58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58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58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58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8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8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58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58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5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58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158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97" dur="500"/>
                                        <p:tgtEl>
                                          <p:spTgt spid="158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58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158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158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158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58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5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158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58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15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15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4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158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158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158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3" dur="500"/>
                                        <p:tgtEl>
                                          <p:spTgt spid="158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7" dur="500"/>
                                        <p:tgtEl>
                                          <p:spTgt spid="158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2" dur="500"/>
                                        <p:tgtEl>
                                          <p:spTgt spid="15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7" dur="500"/>
                                        <p:tgtEl>
                                          <p:spTgt spid="15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158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158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158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4" dur="500"/>
                                        <p:tgtEl>
                                          <p:spTgt spid="15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2" grpId="0" autoUpdateAnimBg="0"/>
      <p:bldP spid="158739" grpId="0" autoUpdateAnimBg="0"/>
      <p:bldP spid="158740" grpId="0" autoUpdateAnimBg="0"/>
      <p:bldP spid="158741" grpId="0" animBg="1"/>
      <p:bldP spid="158742" grpId="0" autoUpdateAnimBg="0"/>
      <p:bldP spid="158743" grpId="0" animBg="1"/>
      <p:bldP spid="158744" grpId="0" autoUpdateAnimBg="0"/>
      <p:bldP spid="158745" grpId="0" animBg="1"/>
      <p:bldP spid="158746" grpId="0" animBg="1"/>
      <p:bldP spid="158747" grpId="0" animBg="1"/>
      <p:bldP spid="158748" grpId="0" animBg="1"/>
      <p:bldP spid="158749" grpId="0" animBg="1"/>
      <p:bldP spid="158750" grpId="0" animBg="1"/>
      <p:bldP spid="158751" grpId="0" animBg="1"/>
      <p:bldP spid="158753" grpId="0" animBg="1" autoUpdateAnimBg="0"/>
      <p:bldP spid="158763" grpId="0" animBg="1"/>
      <p:bldP spid="158764" grpId="0" animBg="1"/>
      <p:bldP spid="158765" grpId="0" animBg="1"/>
      <p:bldP spid="158766" grpId="0" animBg="1"/>
      <p:bldP spid="158767" grpId="0" animBg="1"/>
      <p:bldP spid="158768" grpId="0" animBg="1"/>
      <p:bldP spid="158769" grpId="0" animBg="1"/>
      <p:bldP spid="158782" grpId="0" animBg="1"/>
      <p:bldP spid="158793" grpId="0" animBg="1"/>
      <p:bldP spid="158794" grpId="0" autoUpdateAnimBg="0"/>
      <p:bldP spid="158795" grpId="0" autoUpdateAnimBg="0"/>
      <p:bldP spid="158796" grpId="0" animBg="1"/>
      <p:bldP spid="158797" grpId="0" animBg="1"/>
      <p:bldP spid="158798" grpId="0" autoUpdateAnimBg="0"/>
      <p:bldP spid="158799" grpId="0" autoUpdateAnimBg="0"/>
      <p:bldP spid="158800" grpId="0" autoUpdateAnimBg="0"/>
      <p:bldP spid="158801" grpId="0" autoUpdateAnimBg="0"/>
      <p:bldP spid="158802" grpId="0" autoUpdateAnimBg="0"/>
      <p:bldP spid="158803" grpId="0" autoUpdateAnimBg="0"/>
      <p:bldP spid="158804" grpId="0" animBg="1"/>
      <p:bldP spid="158805" grpId="0" animBg="1"/>
      <p:bldP spid="158806" grpId="0" autoUpdateAnimBg="0"/>
      <p:bldP spid="158840" grpId="0" animBg="1" autoUpdateAnimBg="0"/>
      <p:bldP spid="158841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354C60F5-5277-4F46-9EFE-13B43D04D1C5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13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37891" name="Text Box 2"/>
          <p:cNvSpPr txBox="1">
            <a:spLocks noChangeArrowheads="1"/>
          </p:cNvSpPr>
          <p:nvPr/>
        </p:nvSpPr>
        <p:spPr bwMode="auto">
          <a:xfrm>
            <a:off x="358775" y="261938"/>
            <a:ext cx="67516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第三章 几何元素间的相对位置</a:t>
            </a:r>
          </a:p>
        </p:txBody>
      </p:sp>
      <p:sp>
        <p:nvSpPr>
          <p:cNvPr id="167939" name="Text Box 3"/>
          <p:cNvSpPr txBox="1">
            <a:spLocks noChangeArrowheads="1"/>
          </p:cNvSpPr>
          <p:nvPr/>
        </p:nvSpPr>
        <p:spPr bwMode="auto">
          <a:xfrm>
            <a:off x="276225" y="2143125"/>
            <a:ext cx="8461375" cy="130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36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§3.1 </a:t>
            </a:r>
            <a:r>
              <a:rPr lang="zh-CN" altLang="en-US" sz="36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几何元素间的平行问题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3600" dirty="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3600" dirty="0" smtClean="0">
                <a:latin typeface="黑体" pitchFamily="2" charset="-122"/>
                <a:ea typeface="黑体" pitchFamily="2" charset="-122"/>
              </a:rPr>
              <a:t>一</a:t>
            </a:r>
            <a:r>
              <a:rPr lang="zh-CN" altLang="en-US" sz="3600" dirty="0">
                <a:latin typeface="黑体" pitchFamily="2" charset="-122"/>
                <a:ea typeface="黑体" pitchFamily="2" charset="-122"/>
              </a:rPr>
              <a:t>．直线与平面平行</a:t>
            </a:r>
          </a:p>
        </p:txBody>
      </p:sp>
      <p:sp>
        <p:nvSpPr>
          <p:cNvPr id="167940" name="Text Box 4"/>
          <p:cNvSpPr txBox="1">
            <a:spLocks noChangeArrowheads="1"/>
          </p:cNvSpPr>
          <p:nvPr/>
        </p:nvSpPr>
        <p:spPr bwMode="auto">
          <a:xfrm>
            <a:off x="1001713" y="1300163"/>
            <a:ext cx="7467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相对位置包括平行、相交和垂直。</a:t>
            </a:r>
          </a:p>
        </p:txBody>
      </p:sp>
      <p:sp>
        <p:nvSpPr>
          <p:cNvPr id="167941" name="Text Box 5"/>
          <p:cNvSpPr txBox="1">
            <a:spLocks noChangeArrowheads="1"/>
          </p:cNvSpPr>
          <p:nvPr/>
        </p:nvSpPr>
        <p:spPr bwMode="auto">
          <a:xfrm>
            <a:off x="563563" y="3619325"/>
            <a:ext cx="78517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定理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：若直线平行于平面上的任一直线，则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      该直线与该平面平行。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      反之，若直线平行于平面，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      则在平面内必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可做一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直线与该直线平行。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67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/>
      <p:bldP spid="167940" grpId="0" build="p" autoUpdateAnimBg="0"/>
      <p:bldP spid="1679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2E955A00-AC18-4A91-BFEA-EBE052E6B34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14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60771" name="Line 3"/>
          <p:cNvSpPr>
            <a:spLocks noChangeShapeType="1"/>
          </p:cNvSpPr>
          <p:nvPr/>
        </p:nvSpPr>
        <p:spPr bwMode="auto">
          <a:xfrm>
            <a:off x="3638550" y="2449513"/>
            <a:ext cx="390525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0772" name="Line 4"/>
          <p:cNvSpPr>
            <a:spLocks noChangeShapeType="1"/>
          </p:cNvSpPr>
          <p:nvPr/>
        </p:nvSpPr>
        <p:spPr bwMode="auto">
          <a:xfrm>
            <a:off x="3643313" y="4073525"/>
            <a:ext cx="390525" cy="90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0773" name="Line 5"/>
          <p:cNvSpPr>
            <a:spLocks noChangeShapeType="1"/>
          </p:cNvSpPr>
          <p:nvPr/>
        </p:nvSpPr>
        <p:spPr bwMode="auto">
          <a:xfrm flipH="1">
            <a:off x="1943100" y="2354263"/>
            <a:ext cx="995363" cy="4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0774" name="Line 6"/>
          <p:cNvSpPr>
            <a:spLocks noChangeShapeType="1"/>
          </p:cNvSpPr>
          <p:nvPr/>
        </p:nvSpPr>
        <p:spPr bwMode="auto">
          <a:xfrm>
            <a:off x="3095625" y="3586163"/>
            <a:ext cx="542925" cy="482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0775" name="Line 7"/>
          <p:cNvSpPr>
            <a:spLocks noChangeShapeType="1"/>
          </p:cNvSpPr>
          <p:nvPr/>
        </p:nvSpPr>
        <p:spPr bwMode="auto">
          <a:xfrm>
            <a:off x="3098800" y="2735263"/>
            <a:ext cx="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0776" name="Line 8"/>
          <p:cNvSpPr>
            <a:spLocks noChangeShapeType="1"/>
          </p:cNvSpPr>
          <p:nvPr/>
        </p:nvSpPr>
        <p:spPr bwMode="auto">
          <a:xfrm flipH="1">
            <a:off x="3092450" y="2455863"/>
            <a:ext cx="546100" cy="28575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338138" y="525463"/>
            <a:ext cx="6646862" cy="4572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例：  ①过点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K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作一直线平行于面（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AB </a:t>
            </a:r>
            <a:r>
              <a:rPr lang="en-US" altLang="zh-CN" sz="1800">
                <a:latin typeface="黑体" pitchFamily="2" charset="-122"/>
                <a:ea typeface="黑体" pitchFamily="2" charset="-122"/>
              </a:rPr>
              <a:t>╳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 CD)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160778" name="Line 10"/>
          <p:cNvSpPr>
            <a:spLocks noChangeShapeType="1"/>
          </p:cNvSpPr>
          <p:nvPr/>
        </p:nvSpPr>
        <p:spPr bwMode="auto">
          <a:xfrm>
            <a:off x="3098800" y="3421063"/>
            <a:ext cx="0" cy="160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0779" name="Text Box 11"/>
          <p:cNvSpPr txBox="1">
            <a:spLocks noChangeArrowheads="1"/>
          </p:cNvSpPr>
          <p:nvPr/>
        </p:nvSpPr>
        <p:spPr bwMode="auto">
          <a:xfrm>
            <a:off x="2865438" y="2339975"/>
            <a:ext cx="5413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e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160780" name="Text Box 12"/>
          <p:cNvSpPr txBox="1">
            <a:spLocks noChangeArrowheads="1"/>
          </p:cNvSpPr>
          <p:nvPr/>
        </p:nvSpPr>
        <p:spPr bwMode="auto">
          <a:xfrm>
            <a:off x="2905125" y="3570288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e</a:t>
            </a:r>
            <a:endParaRPr lang="en-US" altLang="zh-CN" sz="2000" b="0">
              <a:latin typeface="ISOCPEUR" pitchFamily="34" charset="0"/>
            </a:endParaRPr>
          </a:p>
        </p:txBody>
      </p:sp>
      <p:sp>
        <p:nvSpPr>
          <p:cNvPr id="160781" name="Text Box 13"/>
          <p:cNvSpPr txBox="1">
            <a:spLocks noChangeArrowheads="1"/>
          </p:cNvSpPr>
          <p:nvPr/>
        </p:nvSpPr>
        <p:spPr bwMode="auto">
          <a:xfrm>
            <a:off x="338138" y="982663"/>
            <a:ext cx="8805862" cy="457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      ②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过点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K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作一水平线平行于面（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AB </a:t>
            </a:r>
            <a:r>
              <a:rPr lang="en-US" altLang="zh-CN" sz="1800">
                <a:latin typeface="黑体" pitchFamily="2" charset="-122"/>
                <a:ea typeface="黑体" pitchFamily="2" charset="-122"/>
              </a:rPr>
              <a:t>╳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 CD)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160782" name="Text Box 14"/>
          <p:cNvSpPr txBox="1">
            <a:spLocks noChangeArrowheads="1"/>
          </p:cNvSpPr>
          <p:nvPr/>
        </p:nvSpPr>
        <p:spPr bwMode="auto">
          <a:xfrm>
            <a:off x="4719638" y="1928813"/>
            <a:ext cx="3449637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①</a:t>
            </a:r>
            <a:r>
              <a:rPr lang="en-US" altLang="zh-CN" sz="2400" b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解题步骤：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作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KE∥AB,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zh-CN" sz="2400">
                <a:latin typeface="黑体" pitchFamily="2" charset="-122"/>
                <a:ea typeface="黑体" pitchFamily="2" charset="-122"/>
              </a:rPr>
              <a:t>即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KE∥(AB </a:t>
            </a:r>
            <a:r>
              <a:rPr lang="en-US" altLang="zh-CN" sz="1800">
                <a:latin typeface="黑体" pitchFamily="2" charset="-122"/>
                <a:ea typeface="黑体" pitchFamily="2" charset="-122"/>
              </a:rPr>
              <a:t>╳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CD)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。</a:t>
            </a:r>
            <a:r>
              <a:rPr lang="zh-CN" altLang="en-US" sz="2400" b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60783" name="Text Box 15"/>
          <p:cNvSpPr txBox="1">
            <a:spLocks noChangeArrowheads="1"/>
          </p:cNvSpPr>
          <p:nvPr/>
        </p:nvSpPr>
        <p:spPr bwMode="auto">
          <a:xfrm>
            <a:off x="1709738" y="2036763"/>
            <a:ext cx="576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1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160784" name="Line 16"/>
          <p:cNvSpPr>
            <a:spLocks noChangeShapeType="1"/>
          </p:cNvSpPr>
          <p:nvPr/>
        </p:nvSpPr>
        <p:spPr bwMode="auto">
          <a:xfrm>
            <a:off x="1952625" y="2378075"/>
            <a:ext cx="0" cy="1047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0785" name="Line 17"/>
          <p:cNvSpPr>
            <a:spLocks noChangeShapeType="1"/>
          </p:cNvSpPr>
          <p:nvPr/>
        </p:nvSpPr>
        <p:spPr bwMode="auto">
          <a:xfrm>
            <a:off x="1952625" y="3411538"/>
            <a:ext cx="0" cy="1185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0786" name="Text Box 18"/>
          <p:cNvSpPr txBox="1">
            <a:spLocks noChangeArrowheads="1"/>
          </p:cNvSpPr>
          <p:nvPr/>
        </p:nvSpPr>
        <p:spPr bwMode="auto">
          <a:xfrm>
            <a:off x="1627188" y="4346575"/>
            <a:ext cx="333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1</a:t>
            </a:r>
            <a:endParaRPr lang="en-US" altLang="zh-CN" sz="2400">
              <a:latin typeface="ISOCPEUR" pitchFamily="34" charset="0"/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1031875" y="1912938"/>
            <a:ext cx="3517900" cy="3071812"/>
            <a:chOff x="650" y="1090"/>
            <a:chExt cx="2216" cy="1935"/>
          </a:xfrm>
        </p:grpSpPr>
        <p:grpSp>
          <p:nvGrpSpPr>
            <p:cNvPr id="38939" name="Group 20"/>
            <p:cNvGrpSpPr>
              <a:grpSpLocks/>
            </p:cNvGrpSpPr>
            <p:nvPr/>
          </p:nvGrpSpPr>
          <p:grpSpPr bwMode="auto">
            <a:xfrm>
              <a:off x="650" y="1780"/>
              <a:ext cx="2216" cy="289"/>
              <a:chOff x="232" y="2563"/>
              <a:chExt cx="1555" cy="289"/>
            </a:xfrm>
          </p:grpSpPr>
          <p:sp>
            <p:nvSpPr>
              <p:cNvPr id="38962" name="Text Box 21"/>
              <p:cNvSpPr txBox="1">
                <a:spLocks noChangeArrowheads="1"/>
              </p:cNvSpPr>
              <p:nvPr/>
            </p:nvSpPr>
            <p:spPr bwMode="auto">
              <a:xfrm>
                <a:off x="232" y="2564"/>
                <a:ext cx="2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X </a:t>
                </a:r>
              </a:p>
            </p:txBody>
          </p:sp>
          <p:sp>
            <p:nvSpPr>
              <p:cNvPr id="38963" name="Text Box 22"/>
              <p:cNvSpPr txBox="1">
                <a:spLocks noChangeArrowheads="1"/>
              </p:cNvSpPr>
              <p:nvPr/>
            </p:nvSpPr>
            <p:spPr bwMode="auto">
              <a:xfrm>
                <a:off x="1579" y="2563"/>
                <a:ext cx="2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O </a:t>
                </a:r>
              </a:p>
            </p:txBody>
          </p:sp>
          <p:sp>
            <p:nvSpPr>
              <p:cNvPr id="38964" name="Line 23"/>
              <p:cNvSpPr>
                <a:spLocks noChangeShapeType="1"/>
              </p:cNvSpPr>
              <p:nvPr/>
            </p:nvSpPr>
            <p:spPr bwMode="auto">
              <a:xfrm>
                <a:off x="400" y="2824"/>
                <a:ext cx="12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8940" name="Text Box 24"/>
            <p:cNvSpPr txBox="1">
              <a:spLocks noChangeArrowheads="1"/>
            </p:cNvSpPr>
            <p:nvPr/>
          </p:nvSpPr>
          <p:spPr bwMode="auto">
            <a:xfrm>
              <a:off x="713" y="1634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38941" name="Text Box 25"/>
            <p:cNvSpPr txBox="1">
              <a:spLocks noChangeArrowheads="1"/>
            </p:cNvSpPr>
            <p:nvPr/>
          </p:nvSpPr>
          <p:spPr bwMode="auto">
            <a:xfrm>
              <a:off x="1630" y="1160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38942" name="Text Box 26"/>
            <p:cNvSpPr txBox="1">
              <a:spLocks noChangeArrowheads="1"/>
            </p:cNvSpPr>
            <p:nvPr/>
          </p:nvSpPr>
          <p:spPr bwMode="auto">
            <a:xfrm>
              <a:off x="821" y="1090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38943" name="Text Box 27"/>
            <p:cNvSpPr txBox="1">
              <a:spLocks noChangeArrowheads="1"/>
            </p:cNvSpPr>
            <p:nvPr/>
          </p:nvSpPr>
          <p:spPr bwMode="auto">
            <a:xfrm>
              <a:off x="1544" y="1494"/>
              <a:ext cx="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38944" name="Line 28"/>
            <p:cNvSpPr>
              <a:spLocks noChangeShapeType="1"/>
            </p:cNvSpPr>
            <p:nvPr/>
          </p:nvSpPr>
          <p:spPr bwMode="auto">
            <a:xfrm>
              <a:off x="969" y="1825"/>
              <a:ext cx="0" cy="3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45" name="Line 29"/>
            <p:cNvSpPr>
              <a:spLocks noChangeShapeType="1"/>
            </p:cNvSpPr>
            <p:nvPr/>
          </p:nvSpPr>
          <p:spPr bwMode="auto">
            <a:xfrm>
              <a:off x="1861" y="1368"/>
              <a:ext cx="0" cy="15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46" name="Line 30"/>
            <p:cNvSpPr>
              <a:spLocks noChangeShapeType="1"/>
            </p:cNvSpPr>
            <p:nvPr/>
          </p:nvSpPr>
          <p:spPr bwMode="auto">
            <a:xfrm>
              <a:off x="1073" y="1233"/>
              <a:ext cx="0" cy="16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47" name="Line 31"/>
            <p:cNvSpPr>
              <a:spLocks noChangeShapeType="1"/>
            </p:cNvSpPr>
            <p:nvPr/>
          </p:nvSpPr>
          <p:spPr bwMode="auto">
            <a:xfrm>
              <a:off x="1697" y="1796"/>
              <a:ext cx="0" cy="5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48" name="Line 32"/>
            <p:cNvSpPr>
              <a:spLocks noChangeShapeType="1"/>
            </p:cNvSpPr>
            <p:nvPr/>
          </p:nvSpPr>
          <p:spPr bwMode="auto">
            <a:xfrm>
              <a:off x="1459" y="1579"/>
              <a:ext cx="0" cy="9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49" name="Line 33"/>
            <p:cNvSpPr>
              <a:spLocks noChangeShapeType="1"/>
            </p:cNvSpPr>
            <p:nvPr/>
          </p:nvSpPr>
          <p:spPr bwMode="auto">
            <a:xfrm>
              <a:off x="969" y="2130"/>
              <a:ext cx="888" cy="789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50" name="Text Box 34"/>
            <p:cNvSpPr txBox="1">
              <a:spLocks noChangeArrowheads="1"/>
            </p:cNvSpPr>
            <p:nvPr/>
          </p:nvSpPr>
          <p:spPr bwMode="auto">
            <a:xfrm>
              <a:off x="2099" y="1212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k</a:t>
              </a: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'</a:t>
              </a:r>
            </a:p>
          </p:txBody>
        </p:sp>
        <p:sp>
          <p:nvSpPr>
            <p:cNvPr id="38951" name="Text Box 35"/>
            <p:cNvSpPr txBox="1">
              <a:spLocks noChangeArrowheads="1"/>
            </p:cNvSpPr>
            <p:nvPr/>
          </p:nvSpPr>
          <p:spPr bwMode="auto">
            <a:xfrm>
              <a:off x="2199" y="2434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k</a:t>
              </a:r>
              <a:endParaRPr lang="en-US" altLang="zh-CN" sz="2000">
                <a:latin typeface="ISOCPEUR" pitchFamily="34" charset="0"/>
              </a:endParaRPr>
            </a:p>
          </p:txBody>
        </p:sp>
        <p:sp>
          <p:nvSpPr>
            <p:cNvPr id="38952" name="Text Box 36"/>
            <p:cNvSpPr txBox="1">
              <a:spLocks noChangeArrowheads="1"/>
            </p:cNvSpPr>
            <p:nvPr/>
          </p:nvSpPr>
          <p:spPr bwMode="auto">
            <a:xfrm>
              <a:off x="807" y="2060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38953" name="Text Box 37"/>
            <p:cNvSpPr txBox="1">
              <a:spLocks noChangeArrowheads="1"/>
            </p:cNvSpPr>
            <p:nvPr/>
          </p:nvSpPr>
          <p:spPr bwMode="auto">
            <a:xfrm>
              <a:off x="1855" y="277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38954" name="Text Box 38"/>
            <p:cNvSpPr txBox="1">
              <a:spLocks noChangeArrowheads="1"/>
            </p:cNvSpPr>
            <p:nvPr/>
          </p:nvSpPr>
          <p:spPr bwMode="auto">
            <a:xfrm>
              <a:off x="880" y="2755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38955" name="Text Box 39"/>
            <p:cNvSpPr txBox="1">
              <a:spLocks noChangeArrowheads="1"/>
            </p:cNvSpPr>
            <p:nvPr/>
          </p:nvSpPr>
          <p:spPr bwMode="auto">
            <a:xfrm>
              <a:off x="1492" y="2285"/>
              <a:ext cx="4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</a:t>
              </a:r>
            </a:p>
          </p:txBody>
        </p:sp>
        <p:sp>
          <p:nvSpPr>
            <p:cNvPr id="38956" name="Line 40"/>
            <p:cNvSpPr>
              <a:spLocks noChangeShapeType="1"/>
            </p:cNvSpPr>
            <p:nvPr/>
          </p:nvSpPr>
          <p:spPr bwMode="auto">
            <a:xfrm>
              <a:off x="2293" y="1435"/>
              <a:ext cx="0" cy="10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57" name="AutoShape 41"/>
            <p:cNvSpPr>
              <a:spLocks noChangeArrowheads="1"/>
            </p:cNvSpPr>
            <p:nvPr/>
          </p:nvSpPr>
          <p:spPr bwMode="auto">
            <a:xfrm>
              <a:off x="2271" y="1407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8958" name="AutoShape 42"/>
            <p:cNvSpPr>
              <a:spLocks noChangeArrowheads="1"/>
            </p:cNvSpPr>
            <p:nvPr/>
          </p:nvSpPr>
          <p:spPr bwMode="auto">
            <a:xfrm>
              <a:off x="2271" y="2427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8959" name="Line 43"/>
            <p:cNvSpPr>
              <a:spLocks noChangeShapeType="1"/>
            </p:cNvSpPr>
            <p:nvPr/>
          </p:nvSpPr>
          <p:spPr bwMode="auto">
            <a:xfrm flipV="1">
              <a:off x="1070" y="2331"/>
              <a:ext cx="630" cy="601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60" name="Line 44"/>
            <p:cNvSpPr>
              <a:spLocks noChangeShapeType="1"/>
            </p:cNvSpPr>
            <p:nvPr/>
          </p:nvSpPr>
          <p:spPr bwMode="auto">
            <a:xfrm flipV="1">
              <a:off x="969" y="1365"/>
              <a:ext cx="894" cy="462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61" name="Line 45"/>
            <p:cNvSpPr>
              <a:spLocks noChangeShapeType="1"/>
            </p:cNvSpPr>
            <p:nvPr/>
          </p:nvSpPr>
          <p:spPr bwMode="auto">
            <a:xfrm>
              <a:off x="1074" y="1239"/>
              <a:ext cx="621" cy="552"/>
            </a:xfrm>
            <a:prstGeom prst="line">
              <a:avLst/>
            </a:prstGeom>
            <a:noFill/>
            <a:ln w="38100">
              <a:solidFill>
                <a:srgbClr val="3366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60814" name="Line 46"/>
          <p:cNvSpPr>
            <a:spLocks noChangeShapeType="1"/>
          </p:cNvSpPr>
          <p:nvPr/>
        </p:nvSpPr>
        <p:spPr bwMode="auto">
          <a:xfrm>
            <a:off x="1957388" y="4597400"/>
            <a:ext cx="995362" cy="233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0815" name="Line 47"/>
          <p:cNvSpPr>
            <a:spLocks noChangeShapeType="1"/>
          </p:cNvSpPr>
          <p:nvPr/>
        </p:nvSpPr>
        <p:spPr bwMode="auto">
          <a:xfrm flipH="1">
            <a:off x="4029075" y="2449513"/>
            <a:ext cx="0" cy="976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0816" name="Line 48"/>
          <p:cNvSpPr>
            <a:spLocks noChangeShapeType="1"/>
          </p:cNvSpPr>
          <p:nvPr/>
        </p:nvSpPr>
        <p:spPr bwMode="auto">
          <a:xfrm>
            <a:off x="4029075" y="3421063"/>
            <a:ext cx="0" cy="733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0817" name="Text Box 49"/>
          <p:cNvSpPr txBox="1">
            <a:spLocks noChangeArrowheads="1"/>
          </p:cNvSpPr>
          <p:nvPr/>
        </p:nvSpPr>
        <p:spPr bwMode="auto">
          <a:xfrm>
            <a:off x="3876675" y="2241550"/>
            <a:ext cx="573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f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160818" name="Text Box 50"/>
          <p:cNvSpPr txBox="1">
            <a:spLocks noChangeArrowheads="1"/>
          </p:cNvSpPr>
          <p:nvPr/>
        </p:nvSpPr>
        <p:spPr bwMode="auto">
          <a:xfrm>
            <a:off x="3911600" y="4108450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f 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160819" name="Text Box 51"/>
          <p:cNvSpPr txBox="1">
            <a:spLocks noChangeArrowheads="1"/>
          </p:cNvSpPr>
          <p:nvPr/>
        </p:nvSpPr>
        <p:spPr bwMode="auto">
          <a:xfrm>
            <a:off x="4732338" y="3316714"/>
            <a:ext cx="39084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②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解题步骤：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 b="0" dirty="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先作面上任一水平线 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B1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60820" name="Text Box 52"/>
          <p:cNvSpPr txBox="1">
            <a:spLocks noChangeArrowheads="1"/>
          </p:cNvSpPr>
          <p:nvPr/>
        </p:nvSpPr>
        <p:spPr bwMode="auto">
          <a:xfrm>
            <a:off x="4735513" y="4248577"/>
            <a:ext cx="460574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400" b="0" dirty="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再作 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KF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∥1B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,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zh-CN" sz="2400" dirty="0">
                <a:latin typeface="黑体" pitchFamily="2" charset="-122"/>
                <a:ea typeface="黑体" pitchFamily="2" charset="-122"/>
              </a:rPr>
              <a:t>则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水平线 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KF ∥(AB </a:t>
            </a:r>
            <a:r>
              <a:rPr lang="en-US" altLang="zh-CN" sz="1800" dirty="0">
                <a:latin typeface="黑体" pitchFamily="2" charset="-122"/>
                <a:ea typeface="黑体" pitchFamily="2" charset="-122"/>
              </a:rPr>
              <a:t>╳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CD)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6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6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6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6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6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6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6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60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60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60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60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60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60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6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60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60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60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6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60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animBg="1"/>
      <p:bldP spid="160772" grpId="0" animBg="1"/>
      <p:bldP spid="160773" grpId="0" animBg="1"/>
      <p:bldP spid="160774" grpId="0" animBg="1"/>
      <p:bldP spid="160775" grpId="0" animBg="1"/>
      <p:bldP spid="160776" grpId="0" animBg="1"/>
      <p:bldP spid="160778" grpId="0" animBg="1"/>
      <p:bldP spid="160779" grpId="0" autoUpdateAnimBg="0"/>
      <p:bldP spid="160780" grpId="0" autoUpdateAnimBg="0"/>
      <p:bldP spid="160781" grpId="0" animBg="1" autoUpdateAnimBg="0"/>
      <p:bldP spid="160782" grpId="0" autoUpdateAnimBg="0"/>
      <p:bldP spid="160783" grpId="0" autoUpdateAnimBg="0"/>
      <p:bldP spid="160784" grpId="0" animBg="1"/>
      <p:bldP spid="160785" grpId="0" animBg="1"/>
      <p:bldP spid="160786" grpId="0" autoUpdateAnimBg="0"/>
      <p:bldP spid="160814" grpId="0" animBg="1"/>
      <p:bldP spid="160815" grpId="0" animBg="1"/>
      <p:bldP spid="160816" grpId="0" animBg="1"/>
      <p:bldP spid="160817" grpId="0" autoUpdateAnimBg="0"/>
      <p:bldP spid="160818" grpId="0" autoUpdateAnimBg="0"/>
      <p:bldP spid="160819" grpId="0" autoUpdateAnimBg="0"/>
      <p:bldP spid="16082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63861D06-DD99-4616-9C7E-96DBC37413D5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15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595844" y="349210"/>
            <a:ext cx="7915981" cy="1471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定理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：若一直线与某一投影面垂直面平行，则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该平面有积聚性的投影与该直线的同名投影平行。</a:t>
            </a:r>
            <a:endParaRPr lang="en-US" altLang="zh-CN" sz="28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buClrTx/>
              <a:buFontTx/>
              <a:buNone/>
            </a:pP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反之亦然。</a:t>
            </a:r>
            <a:endParaRPr lang="zh-CN" altLang="en-US" sz="2800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1665288" y="2671763"/>
            <a:ext cx="5584825" cy="3074987"/>
            <a:chOff x="1049" y="1683"/>
            <a:chExt cx="3518" cy="1937"/>
          </a:xfrm>
        </p:grpSpPr>
        <p:sp>
          <p:nvSpPr>
            <p:cNvPr id="39942" name="Line 7"/>
            <p:cNvSpPr>
              <a:spLocks noChangeShapeType="1"/>
            </p:cNvSpPr>
            <p:nvPr/>
          </p:nvSpPr>
          <p:spPr bwMode="auto">
            <a:xfrm>
              <a:off x="1826" y="2264"/>
              <a:ext cx="671" cy="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3" name="Text Box 11"/>
            <p:cNvSpPr txBox="1">
              <a:spLocks noChangeArrowheads="1"/>
            </p:cNvSpPr>
            <p:nvPr/>
          </p:nvSpPr>
          <p:spPr bwMode="auto">
            <a:xfrm>
              <a:off x="1620" y="201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A </a:t>
              </a:r>
            </a:p>
          </p:txBody>
        </p:sp>
        <p:sp>
          <p:nvSpPr>
            <p:cNvPr id="39944" name="Freeform 12"/>
            <p:cNvSpPr>
              <a:spLocks/>
            </p:cNvSpPr>
            <p:nvPr/>
          </p:nvSpPr>
          <p:spPr bwMode="auto">
            <a:xfrm>
              <a:off x="1049" y="2864"/>
              <a:ext cx="3518" cy="756"/>
            </a:xfrm>
            <a:custGeom>
              <a:avLst/>
              <a:gdLst>
                <a:gd name="T0" fmla="*/ 0 w 2400"/>
                <a:gd name="T1" fmla="*/ 0 h 810"/>
                <a:gd name="T2" fmla="*/ 10762 w 2400"/>
                <a:gd name="T3" fmla="*/ 0 h 810"/>
                <a:gd name="T4" fmla="*/ 16241 w 2400"/>
                <a:gd name="T5" fmla="*/ 574 h 810"/>
                <a:gd name="T6" fmla="*/ 5522 w 2400"/>
                <a:gd name="T7" fmla="*/ 574 h 810"/>
                <a:gd name="T8" fmla="*/ 0 w 2400"/>
                <a:gd name="T9" fmla="*/ 0 h 8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0"/>
                <a:gd name="T16" fmla="*/ 0 h 810"/>
                <a:gd name="T17" fmla="*/ 2400 w 2400"/>
                <a:gd name="T18" fmla="*/ 810 h 8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0" h="810">
                  <a:moveTo>
                    <a:pt x="0" y="0"/>
                  </a:moveTo>
                  <a:lnTo>
                    <a:pt x="1590" y="0"/>
                  </a:lnTo>
                  <a:lnTo>
                    <a:pt x="2400" y="810"/>
                  </a:lnTo>
                  <a:lnTo>
                    <a:pt x="816" y="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5" name="Freeform 13"/>
            <p:cNvSpPr>
              <a:spLocks/>
            </p:cNvSpPr>
            <p:nvPr/>
          </p:nvSpPr>
          <p:spPr bwMode="auto">
            <a:xfrm>
              <a:off x="1049" y="2864"/>
              <a:ext cx="3512" cy="756"/>
            </a:xfrm>
            <a:custGeom>
              <a:avLst/>
              <a:gdLst>
                <a:gd name="T0" fmla="*/ 0 w 2400"/>
                <a:gd name="T1" fmla="*/ 0 h 810"/>
                <a:gd name="T2" fmla="*/ 5432 w 2400"/>
                <a:gd name="T3" fmla="*/ 574 h 810"/>
                <a:gd name="T4" fmla="*/ 16103 w 2400"/>
                <a:gd name="T5" fmla="*/ 574 h 810"/>
                <a:gd name="T6" fmla="*/ 0 60000 65536"/>
                <a:gd name="T7" fmla="*/ 0 60000 65536"/>
                <a:gd name="T8" fmla="*/ 0 60000 65536"/>
                <a:gd name="T9" fmla="*/ 0 w 2400"/>
                <a:gd name="T10" fmla="*/ 0 h 810"/>
                <a:gd name="T11" fmla="*/ 2400 w 2400"/>
                <a:gd name="T12" fmla="*/ 810 h 8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0" h="810">
                  <a:moveTo>
                    <a:pt x="0" y="0"/>
                  </a:moveTo>
                  <a:lnTo>
                    <a:pt x="810" y="810"/>
                  </a:lnTo>
                  <a:lnTo>
                    <a:pt x="2400" y="810"/>
                  </a:lnTo>
                </a:path>
              </a:pathLst>
            </a:custGeom>
            <a:solidFill>
              <a:srgbClr val="CCCCFF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6" name="Text Box 14"/>
            <p:cNvSpPr txBox="1">
              <a:spLocks noChangeArrowheads="1"/>
            </p:cNvSpPr>
            <p:nvPr/>
          </p:nvSpPr>
          <p:spPr bwMode="auto">
            <a:xfrm>
              <a:off x="1627" y="2861"/>
              <a:ext cx="2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a</a:t>
              </a:r>
            </a:p>
          </p:txBody>
        </p:sp>
        <p:sp>
          <p:nvSpPr>
            <p:cNvPr id="39947" name="Freeform 15"/>
            <p:cNvSpPr>
              <a:spLocks/>
            </p:cNvSpPr>
            <p:nvPr/>
          </p:nvSpPr>
          <p:spPr bwMode="auto">
            <a:xfrm>
              <a:off x="2642" y="1683"/>
              <a:ext cx="1396" cy="1687"/>
            </a:xfrm>
            <a:custGeom>
              <a:avLst/>
              <a:gdLst>
                <a:gd name="T0" fmla="*/ 0 w 1396"/>
                <a:gd name="T1" fmla="*/ 1205 h 1687"/>
                <a:gd name="T2" fmla="*/ 1396 w 1396"/>
                <a:gd name="T3" fmla="*/ 1687 h 1687"/>
                <a:gd name="T4" fmla="*/ 1396 w 1396"/>
                <a:gd name="T5" fmla="*/ 477 h 1687"/>
                <a:gd name="T6" fmla="*/ 0 w 1396"/>
                <a:gd name="T7" fmla="*/ 0 h 1687"/>
                <a:gd name="T8" fmla="*/ 0 w 1396"/>
                <a:gd name="T9" fmla="*/ 1205 h 16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96"/>
                <a:gd name="T16" fmla="*/ 0 h 1687"/>
                <a:gd name="T17" fmla="*/ 1396 w 1396"/>
                <a:gd name="T18" fmla="*/ 1687 h 16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96" h="1687">
                  <a:moveTo>
                    <a:pt x="0" y="1205"/>
                  </a:moveTo>
                  <a:lnTo>
                    <a:pt x="1396" y="1687"/>
                  </a:lnTo>
                  <a:lnTo>
                    <a:pt x="1396" y="477"/>
                  </a:lnTo>
                  <a:lnTo>
                    <a:pt x="0" y="0"/>
                  </a:lnTo>
                  <a:lnTo>
                    <a:pt x="0" y="1205"/>
                  </a:lnTo>
                  <a:close/>
                </a:path>
              </a:pathLst>
            </a:custGeom>
            <a:solidFill>
              <a:srgbClr val="00CC99">
                <a:alpha val="50195"/>
              </a:srgbClr>
            </a:solidFill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48" name="Text Box 17"/>
            <p:cNvSpPr txBox="1">
              <a:spLocks noChangeArrowheads="1"/>
            </p:cNvSpPr>
            <p:nvPr/>
          </p:nvSpPr>
          <p:spPr bwMode="auto">
            <a:xfrm>
              <a:off x="3614" y="3221"/>
              <a:ext cx="2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Q</a:t>
              </a:r>
              <a:r>
                <a:rPr lang="en-US" altLang="zh-CN" sz="2400" i="1" baseline="-10000">
                  <a:latin typeface="ISOCPEUR" pitchFamily="34" charset="0"/>
                </a:rPr>
                <a:t>H</a:t>
              </a:r>
            </a:p>
          </p:txBody>
        </p:sp>
        <p:sp>
          <p:nvSpPr>
            <p:cNvPr id="39949" name="Text Box 18"/>
            <p:cNvSpPr txBox="1">
              <a:spLocks noChangeArrowheads="1"/>
            </p:cNvSpPr>
            <p:nvPr/>
          </p:nvSpPr>
          <p:spPr bwMode="auto">
            <a:xfrm>
              <a:off x="2391" y="2067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B</a:t>
              </a:r>
              <a:endParaRPr lang="en-US" altLang="zh-CN" sz="2400" i="1" baseline="-10000">
                <a:latin typeface="ISOCPEUR" pitchFamily="34" charset="0"/>
              </a:endParaRPr>
            </a:p>
          </p:txBody>
        </p:sp>
        <p:sp>
          <p:nvSpPr>
            <p:cNvPr id="39950" name="Text Box 19"/>
            <p:cNvSpPr txBox="1">
              <a:spLocks noChangeArrowheads="1"/>
            </p:cNvSpPr>
            <p:nvPr/>
          </p:nvSpPr>
          <p:spPr bwMode="auto">
            <a:xfrm>
              <a:off x="2844" y="1908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Q</a:t>
              </a:r>
            </a:p>
          </p:txBody>
        </p:sp>
        <p:sp>
          <p:nvSpPr>
            <p:cNvPr id="39951" name="Line 23"/>
            <p:cNvSpPr>
              <a:spLocks noChangeShapeType="1"/>
            </p:cNvSpPr>
            <p:nvPr/>
          </p:nvSpPr>
          <p:spPr bwMode="auto">
            <a:xfrm>
              <a:off x="1822" y="2263"/>
              <a:ext cx="7" cy="6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2" name="Line 24"/>
            <p:cNvSpPr>
              <a:spLocks noChangeShapeType="1"/>
            </p:cNvSpPr>
            <p:nvPr/>
          </p:nvSpPr>
          <p:spPr bwMode="auto">
            <a:xfrm>
              <a:off x="2497" y="2328"/>
              <a:ext cx="0" cy="9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3" name="Line 25"/>
            <p:cNvSpPr>
              <a:spLocks noChangeShapeType="1"/>
            </p:cNvSpPr>
            <p:nvPr/>
          </p:nvSpPr>
          <p:spPr bwMode="auto">
            <a:xfrm>
              <a:off x="1822" y="2973"/>
              <a:ext cx="685" cy="3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4" name="Text Box 27"/>
            <p:cNvSpPr txBox="1">
              <a:spLocks noChangeArrowheads="1"/>
            </p:cNvSpPr>
            <p:nvPr/>
          </p:nvSpPr>
          <p:spPr bwMode="auto">
            <a:xfrm>
              <a:off x="2368" y="3245"/>
              <a:ext cx="2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b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6142DF80-2E2C-4A0E-B2D7-4DB722C2C5EA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16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2955925" y="2257425"/>
            <a:ext cx="485775" cy="1266825"/>
            <a:chOff x="1458" y="1206"/>
            <a:chExt cx="306" cy="798"/>
          </a:xfrm>
        </p:grpSpPr>
        <p:sp>
          <p:nvSpPr>
            <p:cNvPr id="40987" name="Line 53"/>
            <p:cNvSpPr>
              <a:spLocks noChangeShapeType="1"/>
            </p:cNvSpPr>
            <p:nvPr/>
          </p:nvSpPr>
          <p:spPr bwMode="auto">
            <a:xfrm flipV="1">
              <a:off x="1458" y="1377"/>
              <a:ext cx="0" cy="4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8" name="Line 54"/>
            <p:cNvSpPr>
              <a:spLocks noChangeShapeType="1"/>
            </p:cNvSpPr>
            <p:nvPr/>
          </p:nvSpPr>
          <p:spPr bwMode="auto">
            <a:xfrm flipH="1" flipV="1">
              <a:off x="1764" y="1212"/>
              <a:ext cx="0" cy="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9" name="Line 55"/>
            <p:cNvSpPr>
              <a:spLocks noChangeShapeType="1"/>
            </p:cNvSpPr>
            <p:nvPr/>
          </p:nvSpPr>
          <p:spPr bwMode="auto">
            <a:xfrm>
              <a:off x="1458" y="1788"/>
              <a:ext cx="306" cy="2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0" name="Line 56"/>
            <p:cNvSpPr>
              <a:spLocks noChangeShapeType="1"/>
            </p:cNvSpPr>
            <p:nvPr/>
          </p:nvSpPr>
          <p:spPr bwMode="auto">
            <a:xfrm flipV="1">
              <a:off x="1458" y="1206"/>
              <a:ext cx="306" cy="1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57"/>
          <p:cNvGrpSpPr>
            <a:grpSpLocks/>
          </p:cNvGrpSpPr>
          <p:nvPr/>
        </p:nvGrpSpPr>
        <p:grpSpPr bwMode="auto">
          <a:xfrm>
            <a:off x="1619250" y="2114550"/>
            <a:ext cx="452438" cy="1409700"/>
            <a:chOff x="2310" y="1134"/>
            <a:chExt cx="285" cy="888"/>
          </a:xfrm>
        </p:grpSpPr>
        <p:sp>
          <p:nvSpPr>
            <p:cNvPr id="40982" name="Line 58"/>
            <p:cNvSpPr>
              <a:spLocks noChangeShapeType="1"/>
            </p:cNvSpPr>
            <p:nvPr/>
          </p:nvSpPr>
          <p:spPr bwMode="auto">
            <a:xfrm>
              <a:off x="2310" y="1824"/>
              <a:ext cx="285" cy="1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3" name="Line 59"/>
            <p:cNvSpPr>
              <a:spLocks noChangeShapeType="1"/>
            </p:cNvSpPr>
            <p:nvPr/>
          </p:nvSpPr>
          <p:spPr bwMode="auto">
            <a:xfrm flipV="1">
              <a:off x="2310" y="1374"/>
              <a:ext cx="0" cy="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4" name="Line 60"/>
            <p:cNvSpPr>
              <a:spLocks noChangeShapeType="1"/>
            </p:cNvSpPr>
            <p:nvPr/>
          </p:nvSpPr>
          <p:spPr bwMode="auto">
            <a:xfrm flipV="1">
              <a:off x="2454" y="1134"/>
              <a:ext cx="0" cy="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5" name="Line 61"/>
            <p:cNvSpPr>
              <a:spLocks noChangeShapeType="1"/>
            </p:cNvSpPr>
            <p:nvPr/>
          </p:nvSpPr>
          <p:spPr bwMode="auto">
            <a:xfrm flipV="1">
              <a:off x="2592" y="1494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6" name="Freeform 62"/>
            <p:cNvSpPr>
              <a:spLocks/>
            </p:cNvSpPr>
            <p:nvPr/>
          </p:nvSpPr>
          <p:spPr bwMode="auto">
            <a:xfrm>
              <a:off x="2310" y="1134"/>
              <a:ext cx="282" cy="360"/>
            </a:xfrm>
            <a:custGeom>
              <a:avLst/>
              <a:gdLst>
                <a:gd name="T0" fmla="*/ 0 w 282"/>
                <a:gd name="T1" fmla="*/ 246 h 360"/>
                <a:gd name="T2" fmla="*/ 144 w 282"/>
                <a:gd name="T3" fmla="*/ 0 h 360"/>
                <a:gd name="T4" fmla="*/ 282 w 282"/>
                <a:gd name="T5" fmla="*/ 360 h 360"/>
                <a:gd name="T6" fmla="*/ 0 w 282"/>
                <a:gd name="T7" fmla="*/ 246 h 3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2"/>
                <a:gd name="T13" fmla="*/ 0 h 360"/>
                <a:gd name="T14" fmla="*/ 282 w 282"/>
                <a:gd name="T15" fmla="*/ 360 h 3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2" h="360">
                  <a:moveTo>
                    <a:pt x="0" y="246"/>
                  </a:moveTo>
                  <a:lnTo>
                    <a:pt x="144" y="0"/>
                  </a:lnTo>
                  <a:lnTo>
                    <a:pt x="282" y="360"/>
                  </a:lnTo>
                  <a:lnTo>
                    <a:pt x="0" y="246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63"/>
          <p:cNvGrpSpPr>
            <a:grpSpLocks/>
          </p:cNvGrpSpPr>
          <p:nvPr/>
        </p:nvGrpSpPr>
        <p:grpSpPr bwMode="auto">
          <a:xfrm>
            <a:off x="4267200" y="2171700"/>
            <a:ext cx="330200" cy="1320800"/>
            <a:chOff x="2896" y="1180"/>
            <a:chExt cx="208" cy="832"/>
          </a:xfrm>
        </p:grpSpPr>
        <p:sp>
          <p:nvSpPr>
            <p:cNvPr id="40978" name="Line 64"/>
            <p:cNvSpPr>
              <a:spLocks noChangeShapeType="1"/>
            </p:cNvSpPr>
            <p:nvPr/>
          </p:nvSpPr>
          <p:spPr bwMode="auto">
            <a:xfrm flipH="1">
              <a:off x="2896" y="1180"/>
              <a:ext cx="208" cy="3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79" name="Line 65"/>
            <p:cNvSpPr>
              <a:spLocks noChangeShapeType="1"/>
            </p:cNvSpPr>
            <p:nvPr/>
          </p:nvSpPr>
          <p:spPr bwMode="auto">
            <a:xfrm>
              <a:off x="2904" y="1500"/>
              <a:ext cx="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0" name="Line 66"/>
            <p:cNvSpPr>
              <a:spLocks noChangeShapeType="1"/>
            </p:cNvSpPr>
            <p:nvPr/>
          </p:nvSpPr>
          <p:spPr bwMode="auto">
            <a:xfrm>
              <a:off x="2904" y="1860"/>
              <a:ext cx="200" cy="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1" name="Line 67"/>
            <p:cNvSpPr>
              <a:spLocks noChangeShapeType="1"/>
            </p:cNvSpPr>
            <p:nvPr/>
          </p:nvSpPr>
          <p:spPr bwMode="auto">
            <a:xfrm flipV="1">
              <a:off x="3104" y="1180"/>
              <a:ext cx="0" cy="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" name="Group 68"/>
          <p:cNvGrpSpPr>
            <a:grpSpLocks/>
          </p:cNvGrpSpPr>
          <p:nvPr/>
        </p:nvGrpSpPr>
        <p:grpSpPr bwMode="auto">
          <a:xfrm>
            <a:off x="5475288" y="2306638"/>
            <a:ext cx="476250" cy="1238250"/>
            <a:chOff x="5220" y="1308"/>
            <a:chExt cx="300" cy="780"/>
          </a:xfrm>
        </p:grpSpPr>
        <p:sp>
          <p:nvSpPr>
            <p:cNvPr id="40974" name="Line 69"/>
            <p:cNvSpPr>
              <a:spLocks noChangeShapeType="1"/>
            </p:cNvSpPr>
            <p:nvPr/>
          </p:nvSpPr>
          <p:spPr bwMode="auto">
            <a:xfrm>
              <a:off x="5220" y="1872"/>
              <a:ext cx="300" cy="2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75" name="Line 70"/>
            <p:cNvSpPr>
              <a:spLocks noChangeShapeType="1"/>
            </p:cNvSpPr>
            <p:nvPr/>
          </p:nvSpPr>
          <p:spPr bwMode="auto">
            <a:xfrm flipV="1">
              <a:off x="5220" y="1308"/>
              <a:ext cx="0" cy="5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76" name="Line 71"/>
            <p:cNvSpPr>
              <a:spLocks noChangeShapeType="1"/>
            </p:cNvSpPr>
            <p:nvPr/>
          </p:nvSpPr>
          <p:spPr bwMode="auto">
            <a:xfrm flipV="1">
              <a:off x="5520" y="1308"/>
              <a:ext cx="0" cy="7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77" name="Line 72"/>
            <p:cNvSpPr>
              <a:spLocks noChangeShapeType="1"/>
            </p:cNvSpPr>
            <p:nvPr/>
          </p:nvSpPr>
          <p:spPr bwMode="auto">
            <a:xfrm>
              <a:off x="5220" y="1320"/>
              <a:ext cx="3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9945" name="Line 73"/>
          <p:cNvSpPr>
            <a:spLocks noChangeShapeType="1"/>
          </p:cNvSpPr>
          <p:nvPr/>
        </p:nvSpPr>
        <p:spPr bwMode="auto">
          <a:xfrm flipV="1">
            <a:off x="1466850" y="3052763"/>
            <a:ext cx="6383338" cy="7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9946" name="Text Box 74"/>
          <p:cNvSpPr txBox="1">
            <a:spLocks noChangeArrowheads="1"/>
          </p:cNvSpPr>
          <p:nvPr/>
        </p:nvSpPr>
        <p:spPr bwMode="auto">
          <a:xfrm>
            <a:off x="696913" y="692150"/>
            <a:ext cx="6657975" cy="5191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例：判断图中的直线与△平面平行否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?</a:t>
            </a:r>
          </a:p>
        </p:txBody>
      </p:sp>
      <p:sp>
        <p:nvSpPr>
          <p:cNvPr id="79947" name="Text Box 75"/>
          <p:cNvSpPr txBox="1">
            <a:spLocks noChangeArrowheads="1"/>
          </p:cNvSpPr>
          <p:nvPr/>
        </p:nvSpPr>
        <p:spPr bwMode="auto">
          <a:xfrm>
            <a:off x="1635125" y="4116388"/>
            <a:ext cx="6111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ISOCPEUR" pitchFamily="34" charset="0"/>
              </a:rPr>
              <a:t>(a)         (b)        (c)        (d)        (e)</a:t>
            </a:r>
          </a:p>
        </p:txBody>
      </p:sp>
      <p:grpSp>
        <p:nvGrpSpPr>
          <p:cNvPr id="6" name="Group 76"/>
          <p:cNvGrpSpPr>
            <a:grpSpLocks/>
          </p:cNvGrpSpPr>
          <p:nvPr/>
        </p:nvGrpSpPr>
        <p:grpSpPr bwMode="auto">
          <a:xfrm>
            <a:off x="6878638" y="2295525"/>
            <a:ext cx="76200" cy="1190625"/>
            <a:chOff x="5118" y="3048"/>
            <a:chExt cx="48" cy="750"/>
          </a:xfrm>
        </p:grpSpPr>
        <p:sp>
          <p:nvSpPr>
            <p:cNvPr id="40971" name="Line 77"/>
            <p:cNvSpPr>
              <a:spLocks noChangeShapeType="1"/>
            </p:cNvSpPr>
            <p:nvPr/>
          </p:nvSpPr>
          <p:spPr bwMode="auto">
            <a:xfrm>
              <a:off x="5142" y="3048"/>
              <a:ext cx="0" cy="3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72" name="Line 78"/>
            <p:cNvSpPr>
              <a:spLocks noChangeShapeType="1"/>
            </p:cNvSpPr>
            <p:nvPr/>
          </p:nvSpPr>
          <p:spPr bwMode="auto">
            <a:xfrm>
              <a:off x="5142" y="3366"/>
              <a:ext cx="0" cy="4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73" name="AutoShape 79"/>
            <p:cNvSpPr>
              <a:spLocks noChangeArrowheads="1"/>
            </p:cNvSpPr>
            <p:nvPr/>
          </p:nvSpPr>
          <p:spPr bwMode="auto">
            <a:xfrm>
              <a:off x="5118" y="3750"/>
              <a:ext cx="48" cy="48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rgbClr val="FFFFFF"/>
              </a:solidFill>
              <a:round/>
              <a:headEnd/>
              <a:tailEnd type="none" w="sm" len="lg"/>
            </a:ln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45" grpId="0" animBg="1"/>
      <p:bldP spid="79946" grpId="0" animBg="1" autoUpdateAnimBg="0"/>
      <p:bldP spid="7994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40A00D0E-68A6-4224-BA80-8394492EFE2D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17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41987" name="Rectangle 2"/>
          <p:cNvSpPr>
            <a:spLocks noChangeArrowheads="1"/>
          </p:cNvSpPr>
          <p:nvPr/>
        </p:nvSpPr>
        <p:spPr bwMode="auto">
          <a:xfrm>
            <a:off x="236537" y="337836"/>
            <a:ext cx="8805862" cy="219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latin typeface="黑体" pitchFamily="2" charset="-122"/>
                <a:ea typeface="黑体" pitchFamily="2" charset="-122"/>
              </a:rPr>
              <a:t>二．平面与平面平行</a:t>
            </a:r>
          </a:p>
          <a:p>
            <a:pPr eaLnBrk="1" hangingPunct="1">
              <a:buClrTx/>
              <a:buFontTx/>
              <a:buNone/>
            </a:pPr>
            <a:endParaRPr lang="en-US" altLang="zh-CN" sz="28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buClrTx/>
              <a:buFontTx/>
              <a:buNone/>
            </a:pP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定理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：若两个平面上的两条相交直线相互平行，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      则此二平面互相平行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8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0899" name="Line 3"/>
          <p:cNvSpPr>
            <a:spLocks noChangeShapeType="1"/>
          </p:cNvSpPr>
          <p:nvPr/>
        </p:nvSpPr>
        <p:spPr bwMode="auto">
          <a:xfrm flipH="1">
            <a:off x="2009775" y="3629732"/>
            <a:ext cx="995363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0900" name="Text Box 4"/>
          <p:cNvSpPr txBox="1">
            <a:spLocks noChangeArrowheads="1"/>
          </p:cNvSpPr>
          <p:nvPr/>
        </p:nvSpPr>
        <p:spPr bwMode="auto">
          <a:xfrm>
            <a:off x="1776413" y="3312232"/>
            <a:ext cx="576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1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80901" name="Line 5"/>
          <p:cNvSpPr>
            <a:spLocks noChangeShapeType="1"/>
          </p:cNvSpPr>
          <p:nvPr/>
        </p:nvSpPr>
        <p:spPr bwMode="auto">
          <a:xfrm>
            <a:off x="2019300" y="3653545"/>
            <a:ext cx="0" cy="1047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0902" name="Line 6"/>
          <p:cNvSpPr>
            <a:spLocks noChangeShapeType="1"/>
          </p:cNvSpPr>
          <p:nvPr/>
        </p:nvSpPr>
        <p:spPr bwMode="auto">
          <a:xfrm>
            <a:off x="2019300" y="4687007"/>
            <a:ext cx="0" cy="1185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0903" name="Text Box 7"/>
          <p:cNvSpPr txBox="1">
            <a:spLocks noChangeArrowheads="1"/>
          </p:cNvSpPr>
          <p:nvPr/>
        </p:nvSpPr>
        <p:spPr bwMode="auto">
          <a:xfrm>
            <a:off x="1693863" y="5622045"/>
            <a:ext cx="333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1</a:t>
            </a:r>
            <a:endParaRPr lang="en-US" altLang="zh-CN" sz="2000" b="0">
              <a:latin typeface="ISOCPEUR" pitchFamily="34" charset="0"/>
            </a:endParaRPr>
          </a:p>
        </p:txBody>
      </p:sp>
      <p:sp>
        <p:nvSpPr>
          <p:cNvPr id="80904" name="Line 8"/>
          <p:cNvSpPr>
            <a:spLocks noChangeShapeType="1"/>
          </p:cNvSpPr>
          <p:nvPr/>
        </p:nvSpPr>
        <p:spPr bwMode="auto">
          <a:xfrm>
            <a:off x="2024063" y="5872870"/>
            <a:ext cx="995362" cy="233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089025" y="3188407"/>
            <a:ext cx="3525838" cy="3071813"/>
            <a:chOff x="776" y="2086"/>
            <a:chExt cx="2221" cy="1935"/>
          </a:xfrm>
        </p:grpSpPr>
        <p:sp>
          <p:nvSpPr>
            <p:cNvPr id="41998" name="Text Box 10"/>
            <p:cNvSpPr txBox="1">
              <a:spLocks noChangeArrowheads="1"/>
            </p:cNvSpPr>
            <p:nvPr/>
          </p:nvSpPr>
          <p:spPr bwMode="auto">
            <a:xfrm>
              <a:off x="2701" y="2776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41999" name="Line 11"/>
            <p:cNvSpPr>
              <a:spLocks noChangeShapeType="1"/>
            </p:cNvSpPr>
            <p:nvPr/>
          </p:nvSpPr>
          <p:spPr bwMode="auto">
            <a:xfrm>
              <a:off x="2424" y="2424"/>
              <a:ext cx="24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00" name="Line 12"/>
            <p:cNvSpPr>
              <a:spLocks noChangeShapeType="1"/>
            </p:cNvSpPr>
            <p:nvPr/>
          </p:nvSpPr>
          <p:spPr bwMode="auto">
            <a:xfrm>
              <a:off x="2427" y="3447"/>
              <a:ext cx="246" cy="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01" name="Line 13"/>
            <p:cNvSpPr>
              <a:spLocks noChangeShapeType="1"/>
            </p:cNvSpPr>
            <p:nvPr/>
          </p:nvSpPr>
          <p:spPr bwMode="auto">
            <a:xfrm>
              <a:off x="2082" y="3140"/>
              <a:ext cx="342" cy="30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02" name="Line 14"/>
            <p:cNvSpPr>
              <a:spLocks noChangeShapeType="1"/>
            </p:cNvSpPr>
            <p:nvPr/>
          </p:nvSpPr>
          <p:spPr bwMode="auto">
            <a:xfrm>
              <a:off x="2084" y="2604"/>
              <a:ext cx="0" cy="4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03" name="Line 15"/>
            <p:cNvSpPr>
              <a:spLocks noChangeShapeType="1"/>
            </p:cNvSpPr>
            <p:nvPr/>
          </p:nvSpPr>
          <p:spPr bwMode="auto">
            <a:xfrm flipH="1">
              <a:off x="2080" y="2417"/>
              <a:ext cx="344" cy="19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04" name="Line 16"/>
            <p:cNvSpPr>
              <a:spLocks noChangeShapeType="1"/>
            </p:cNvSpPr>
            <p:nvPr/>
          </p:nvSpPr>
          <p:spPr bwMode="auto">
            <a:xfrm>
              <a:off x="2084" y="3036"/>
              <a:ext cx="0" cy="1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05" name="Text Box 17"/>
            <p:cNvSpPr txBox="1">
              <a:spLocks noChangeArrowheads="1"/>
            </p:cNvSpPr>
            <p:nvPr/>
          </p:nvSpPr>
          <p:spPr bwMode="auto">
            <a:xfrm>
              <a:off x="1937" y="2355"/>
              <a:ext cx="34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e</a:t>
              </a: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'</a:t>
              </a:r>
            </a:p>
          </p:txBody>
        </p:sp>
        <p:sp>
          <p:nvSpPr>
            <p:cNvPr id="42006" name="Text Box 18"/>
            <p:cNvSpPr txBox="1">
              <a:spLocks noChangeArrowheads="1"/>
            </p:cNvSpPr>
            <p:nvPr/>
          </p:nvSpPr>
          <p:spPr bwMode="auto">
            <a:xfrm>
              <a:off x="2072" y="296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e</a:t>
              </a:r>
              <a:endParaRPr lang="en-US" altLang="zh-CN" sz="2000" b="0">
                <a:latin typeface="ISOCPEUR" pitchFamily="34" charset="0"/>
              </a:endParaRPr>
            </a:p>
          </p:txBody>
        </p:sp>
        <p:sp>
          <p:nvSpPr>
            <p:cNvPr id="42007" name="Text Box 19"/>
            <p:cNvSpPr txBox="1">
              <a:spLocks noChangeArrowheads="1"/>
            </p:cNvSpPr>
            <p:nvPr/>
          </p:nvSpPr>
          <p:spPr bwMode="auto">
            <a:xfrm>
              <a:off x="776" y="2777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42008" name="Line 20"/>
            <p:cNvSpPr>
              <a:spLocks noChangeShapeType="1"/>
            </p:cNvSpPr>
            <p:nvPr/>
          </p:nvSpPr>
          <p:spPr bwMode="auto">
            <a:xfrm>
              <a:off x="1021" y="3037"/>
              <a:ext cx="17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9" name="Text Box 21"/>
            <p:cNvSpPr txBox="1">
              <a:spLocks noChangeArrowheads="1"/>
            </p:cNvSpPr>
            <p:nvPr/>
          </p:nvSpPr>
          <p:spPr bwMode="auto">
            <a:xfrm>
              <a:off x="845" y="2630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42010" name="Text Box 22"/>
            <p:cNvSpPr txBox="1">
              <a:spLocks noChangeArrowheads="1"/>
            </p:cNvSpPr>
            <p:nvPr/>
          </p:nvSpPr>
          <p:spPr bwMode="auto">
            <a:xfrm>
              <a:off x="1762" y="2156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42011" name="Text Box 23"/>
            <p:cNvSpPr txBox="1">
              <a:spLocks noChangeArrowheads="1"/>
            </p:cNvSpPr>
            <p:nvPr/>
          </p:nvSpPr>
          <p:spPr bwMode="auto">
            <a:xfrm>
              <a:off x="953" y="2086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42012" name="Text Box 24"/>
            <p:cNvSpPr txBox="1">
              <a:spLocks noChangeArrowheads="1"/>
            </p:cNvSpPr>
            <p:nvPr/>
          </p:nvSpPr>
          <p:spPr bwMode="auto">
            <a:xfrm>
              <a:off x="1676" y="2490"/>
              <a:ext cx="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42013" name="Line 25"/>
            <p:cNvSpPr>
              <a:spLocks noChangeShapeType="1"/>
            </p:cNvSpPr>
            <p:nvPr/>
          </p:nvSpPr>
          <p:spPr bwMode="auto">
            <a:xfrm>
              <a:off x="1101" y="2821"/>
              <a:ext cx="0" cy="3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4" name="Line 26"/>
            <p:cNvSpPr>
              <a:spLocks noChangeShapeType="1"/>
            </p:cNvSpPr>
            <p:nvPr/>
          </p:nvSpPr>
          <p:spPr bwMode="auto">
            <a:xfrm>
              <a:off x="1993" y="2364"/>
              <a:ext cx="0" cy="15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5" name="Line 27"/>
            <p:cNvSpPr>
              <a:spLocks noChangeShapeType="1"/>
            </p:cNvSpPr>
            <p:nvPr/>
          </p:nvSpPr>
          <p:spPr bwMode="auto">
            <a:xfrm>
              <a:off x="1205" y="2229"/>
              <a:ext cx="0" cy="16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6" name="Line 28"/>
            <p:cNvSpPr>
              <a:spLocks noChangeShapeType="1"/>
            </p:cNvSpPr>
            <p:nvPr/>
          </p:nvSpPr>
          <p:spPr bwMode="auto">
            <a:xfrm>
              <a:off x="1829" y="2792"/>
              <a:ext cx="0" cy="5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7" name="Line 29"/>
            <p:cNvSpPr>
              <a:spLocks noChangeShapeType="1"/>
            </p:cNvSpPr>
            <p:nvPr/>
          </p:nvSpPr>
          <p:spPr bwMode="auto">
            <a:xfrm>
              <a:off x="1591" y="2575"/>
              <a:ext cx="0" cy="9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8" name="Line 30"/>
            <p:cNvSpPr>
              <a:spLocks noChangeShapeType="1"/>
            </p:cNvSpPr>
            <p:nvPr/>
          </p:nvSpPr>
          <p:spPr bwMode="auto">
            <a:xfrm>
              <a:off x="1101" y="3126"/>
              <a:ext cx="888" cy="789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19" name="Text Box 31"/>
            <p:cNvSpPr txBox="1">
              <a:spLocks noChangeArrowheads="1"/>
            </p:cNvSpPr>
            <p:nvPr/>
          </p:nvSpPr>
          <p:spPr bwMode="auto">
            <a:xfrm>
              <a:off x="2231" y="2208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k</a:t>
              </a: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'</a:t>
              </a:r>
            </a:p>
          </p:txBody>
        </p:sp>
        <p:sp>
          <p:nvSpPr>
            <p:cNvPr id="42020" name="Text Box 32"/>
            <p:cNvSpPr txBox="1">
              <a:spLocks noChangeArrowheads="1"/>
            </p:cNvSpPr>
            <p:nvPr/>
          </p:nvSpPr>
          <p:spPr bwMode="auto">
            <a:xfrm>
              <a:off x="2299" y="3430"/>
              <a:ext cx="2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k </a:t>
              </a:r>
              <a:endParaRPr lang="en-US" altLang="zh-CN" sz="2000">
                <a:latin typeface="ISOCPEUR" pitchFamily="34" charset="0"/>
              </a:endParaRPr>
            </a:p>
          </p:txBody>
        </p:sp>
        <p:sp>
          <p:nvSpPr>
            <p:cNvPr id="42021" name="Text Box 33"/>
            <p:cNvSpPr txBox="1">
              <a:spLocks noChangeArrowheads="1"/>
            </p:cNvSpPr>
            <p:nvPr/>
          </p:nvSpPr>
          <p:spPr bwMode="auto">
            <a:xfrm>
              <a:off x="939" y="3056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42022" name="Text Box 34"/>
            <p:cNvSpPr txBox="1">
              <a:spLocks noChangeArrowheads="1"/>
            </p:cNvSpPr>
            <p:nvPr/>
          </p:nvSpPr>
          <p:spPr bwMode="auto">
            <a:xfrm>
              <a:off x="1955" y="3771"/>
              <a:ext cx="2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 </a:t>
              </a:r>
            </a:p>
          </p:txBody>
        </p:sp>
        <p:sp>
          <p:nvSpPr>
            <p:cNvPr id="42023" name="Text Box 35"/>
            <p:cNvSpPr txBox="1">
              <a:spLocks noChangeArrowheads="1"/>
            </p:cNvSpPr>
            <p:nvPr/>
          </p:nvSpPr>
          <p:spPr bwMode="auto">
            <a:xfrm>
              <a:off x="987" y="3751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42024" name="Text Box 36"/>
            <p:cNvSpPr txBox="1">
              <a:spLocks noChangeArrowheads="1"/>
            </p:cNvSpPr>
            <p:nvPr/>
          </p:nvSpPr>
          <p:spPr bwMode="auto">
            <a:xfrm>
              <a:off x="1624" y="3281"/>
              <a:ext cx="4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   d</a:t>
              </a:r>
            </a:p>
          </p:txBody>
        </p:sp>
        <p:sp>
          <p:nvSpPr>
            <p:cNvPr id="42025" name="Line 37"/>
            <p:cNvSpPr>
              <a:spLocks noChangeShapeType="1"/>
            </p:cNvSpPr>
            <p:nvPr/>
          </p:nvSpPr>
          <p:spPr bwMode="auto">
            <a:xfrm>
              <a:off x="2425" y="2431"/>
              <a:ext cx="0" cy="10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26" name="Line 38"/>
            <p:cNvSpPr>
              <a:spLocks noChangeShapeType="1"/>
            </p:cNvSpPr>
            <p:nvPr/>
          </p:nvSpPr>
          <p:spPr bwMode="auto">
            <a:xfrm flipV="1">
              <a:off x="1202" y="3327"/>
              <a:ext cx="630" cy="601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27" name="Line 39"/>
            <p:cNvSpPr>
              <a:spLocks noChangeShapeType="1"/>
            </p:cNvSpPr>
            <p:nvPr/>
          </p:nvSpPr>
          <p:spPr bwMode="auto">
            <a:xfrm flipV="1">
              <a:off x="1101" y="2361"/>
              <a:ext cx="894" cy="462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28" name="Line 40"/>
            <p:cNvSpPr>
              <a:spLocks noChangeShapeType="1"/>
            </p:cNvSpPr>
            <p:nvPr/>
          </p:nvSpPr>
          <p:spPr bwMode="auto">
            <a:xfrm>
              <a:off x="1206" y="2235"/>
              <a:ext cx="621" cy="552"/>
            </a:xfrm>
            <a:prstGeom prst="line">
              <a:avLst/>
            </a:prstGeom>
            <a:noFill/>
            <a:ln w="38100">
              <a:solidFill>
                <a:srgbClr val="3366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29" name="Line 41"/>
            <p:cNvSpPr>
              <a:spLocks noChangeShapeType="1"/>
            </p:cNvSpPr>
            <p:nvPr/>
          </p:nvSpPr>
          <p:spPr bwMode="auto">
            <a:xfrm flipH="1">
              <a:off x="2670" y="2424"/>
              <a:ext cx="0" cy="6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30" name="Line 42"/>
            <p:cNvSpPr>
              <a:spLocks noChangeShapeType="1"/>
            </p:cNvSpPr>
            <p:nvPr/>
          </p:nvSpPr>
          <p:spPr bwMode="auto">
            <a:xfrm>
              <a:off x="2670" y="3036"/>
              <a:ext cx="0" cy="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31" name="Text Box 43"/>
            <p:cNvSpPr txBox="1">
              <a:spLocks noChangeArrowheads="1"/>
            </p:cNvSpPr>
            <p:nvPr/>
          </p:nvSpPr>
          <p:spPr bwMode="auto">
            <a:xfrm>
              <a:off x="2574" y="2293"/>
              <a:ext cx="36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f</a:t>
              </a: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'</a:t>
              </a:r>
            </a:p>
          </p:txBody>
        </p:sp>
        <p:sp>
          <p:nvSpPr>
            <p:cNvPr id="42032" name="Text Box 44"/>
            <p:cNvSpPr txBox="1">
              <a:spLocks noChangeArrowheads="1"/>
            </p:cNvSpPr>
            <p:nvPr/>
          </p:nvSpPr>
          <p:spPr bwMode="auto">
            <a:xfrm>
              <a:off x="2596" y="3469"/>
              <a:ext cx="2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f </a:t>
              </a:r>
              <a:endParaRPr lang="en-US" altLang="zh-CN" sz="2400" b="0">
                <a:latin typeface="ISOCPEUR" pitchFamily="34" charset="0"/>
              </a:endParaRPr>
            </a:p>
          </p:txBody>
        </p:sp>
      </p:grpSp>
      <p:sp>
        <p:nvSpPr>
          <p:cNvPr id="80941" name="Text Box 45"/>
          <p:cNvSpPr txBox="1">
            <a:spLocks noChangeArrowheads="1"/>
          </p:cNvSpPr>
          <p:nvPr/>
        </p:nvSpPr>
        <p:spPr bwMode="auto">
          <a:xfrm>
            <a:off x="4833938" y="4666370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∵KE∥BA</a:t>
            </a:r>
          </a:p>
        </p:txBody>
      </p:sp>
      <p:sp>
        <p:nvSpPr>
          <p:cNvPr id="80942" name="Text Box 46"/>
          <p:cNvSpPr txBox="1">
            <a:spLocks noChangeArrowheads="1"/>
          </p:cNvSpPr>
          <p:nvPr/>
        </p:nvSpPr>
        <p:spPr bwMode="auto">
          <a:xfrm>
            <a:off x="4835525" y="3278895"/>
            <a:ext cx="3841750" cy="8223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(KE </a:t>
            </a:r>
            <a:r>
              <a:rPr lang="en-US" altLang="zh-CN" sz="1800">
                <a:latin typeface="黑体" pitchFamily="2" charset="-122"/>
                <a:ea typeface="黑体" pitchFamily="2" charset="-122"/>
              </a:rPr>
              <a:t>╳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 KF) ∥(AB </a:t>
            </a:r>
            <a:r>
              <a:rPr lang="en-US" altLang="zh-CN" sz="1800">
                <a:latin typeface="黑体" pitchFamily="2" charset="-122"/>
                <a:ea typeface="黑体" pitchFamily="2" charset="-122"/>
              </a:rPr>
              <a:t>╳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 CD) ?</a:t>
            </a:r>
          </a:p>
        </p:txBody>
      </p:sp>
      <p:sp>
        <p:nvSpPr>
          <p:cNvPr id="80943" name="Text Box 47"/>
          <p:cNvSpPr txBox="1">
            <a:spLocks noChangeArrowheads="1"/>
          </p:cNvSpPr>
          <p:nvPr/>
        </p:nvSpPr>
        <p:spPr bwMode="auto">
          <a:xfrm>
            <a:off x="4829175" y="5127171"/>
            <a:ext cx="391164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 KF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∥1B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∴(KE </a:t>
            </a:r>
            <a:r>
              <a:rPr lang="en-US" altLang="zh-CN" sz="1800" dirty="0">
                <a:latin typeface="黑体" pitchFamily="2" charset="-122"/>
                <a:ea typeface="黑体" pitchFamily="2" charset="-122"/>
              </a:rPr>
              <a:t>╳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KF) ∥(AB </a:t>
            </a:r>
            <a:r>
              <a:rPr lang="en-US" altLang="zh-CN" sz="1800" dirty="0">
                <a:latin typeface="黑体" pitchFamily="2" charset="-122"/>
                <a:ea typeface="黑体" pitchFamily="2" charset="-122"/>
              </a:rPr>
              <a:t>╳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CD)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animBg="1"/>
      <p:bldP spid="80900" grpId="0" autoUpdateAnimBg="0"/>
      <p:bldP spid="80901" grpId="0" animBg="1"/>
      <p:bldP spid="80902" grpId="0" animBg="1"/>
      <p:bldP spid="80903" grpId="0" autoUpdateAnimBg="0"/>
      <p:bldP spid="80904" grpId="0" animBg="1"/>
      <p:bldP spid="80941" grpId="0" autoUpdateAnimBg="0"/>
      <p:bldP spid="80942" grpId="0" animBg="1" autoUpdateAnimBg="0"/>
      <p:bldP spid="80943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B092AF28-8D14-482A-9FD7-EBFEB52120D9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18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43011" name="Rectangle 2"/>
          <p:cNvSpPr>
            <a:spLocks noChangeArrowheads="1"/>
          </p:cNvSpPr>
          <p:nvPr/>
        </p:nvSpPr>
        <p:spPr bwMode="auto">
          <a:xfrm>
            <a:off x="419100" y="750888"/>
            <a:ext cx="82232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定理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：若两个投影面垂直面具有积聚性的投影相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    互平行，则此二平面互相平行。</a:t>
            </a:r>
            <a:endParaRPr lang="zh-CN" altLang="en-US" sz="2800" b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61840" name="Line 48"/>
          <p:cNvSpPr>
            <a:spLocks noChangeShapeType="1"/>
          </p:cNvSpPr>
          <p:nvPr/>
        </p:nvSpPr>
        <p:spPr bwMode="auto">
          <a:xfrm flipV="1">
            <a:off x="3014663" y="3319463"/>
            <a:ext cx="1050925" cy="185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841" name="Text Box 49"/>
          <p:cNvSpPr txBox="1">
            <a:spLocks noChangeArrowheads="1"/>
          </p:cNvSpPr>
          <p:nvPr/>
        </p:nvSpPr>
        <p:spPr bwMode="auto">
          <a:xfrm>
            <a:off x="2789238" y="2570163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 </a:t>
            </a:r>
          </a:p>
        </p:txBody>
      </p:sp>
      <p:sp>
        <p:nvSpPr>
          <p:cNvPr id="161842" name="Freeform 50"/>
          <p:cNvSpPr>
            <a:spLocks/>
          </p:cNvSpPr>
          <p:nvPr/>
        </p:nvSpPr>
        <p:spPr bwMode="auto">
          <a:xfrm>
            <a:off x="1658938" y="3983038"/>
            <a:ext cx="6291262" cy="1182687"/>
          </a:xfrm>
          <a:custGeom>
            <a:avLst/>
            <a:gdLst>
              <a:gd name="T0" fmla="*/ 0 w 2400"/>
              <a:gd name="T1" fmla="*/ 0 h 810"/>
              <a:gd name="T2" fmla="*/ 2147483647 w 2400"/>
              <a:gd name="T3" fmla="*/ 0 h 810"/>
              <a:gd name="T4" fmla="*/ 2147483647 w 2400"/>
              <a:gd name="T5" fmla="*/ 2147483647 h 810"/>
              <a:gd name="T6" fmla="*/ 2147483647 w 2400"/>
              <a:gd name="T7" fmla="*/ 2147483647 h 810"/>
              <a:gd name="T8" fmla="*/ 0 w 2400"/>
              <a:gd name="T9" fmla="*/ 0 h 8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0"/>
              <a:gd name="T16" fmla="*/ 0 h 810"/>
              <a:gd name="T17" fmla="*/ 2400 w 2400"/>
              <a:gd name="T18" fmla="*/ 810 h 8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0" h="810">
                <a:moveTo>
                  <a:pt x="0" y="0"/>
                </a:moveTo>
                <a:lnTo>
                  <a:pt x="1590" y="0"/>
                </a:lnTo>
                <a:lnTo>
                  <a:pt x="2400" y="810"/>
                </a:lnTo>
                <a:lnTo>
                  <a:pt x="816" y="810"/>
                </a:lnTo>
                <a:lnTo>
                  <a:pt x="0" y="0"/>
                </a:lnTo>
                <a:close/>
              </a:path>
            </a:pathLst>
          </a:custGeom>
          <a:solidFill>
            <a:srgbClr val="CCCC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845" name="Freeform 53"/>
          <p:cNvSpPr>
            <a:spLocks/>
          </p:cNvSpPr>
          <p:nvPr/>
        </p:nvSpPr>
        <p:spPr bwMode="auto">
          <a:xfrm>
            <a:off x="4803775" y="2179638"/>
            <a:ext cx="1920875" cy="2678112"/>
          </a:xfrm>
          <a:custGeom>
            <a:avLst/>
            <a:gdLst>
              <a:gd name="T0" fmla="*/ 0 w 1396"/>
              <a:gd name="T1" fmla="*/ 2147483647 h 1687"/>
              <a:gd name="T2" fmla="*/ 2147483647 w 1396"/>
              <a:gd name="T3" fmla="*/ 2147483647 h 1687"/>
              <a:gd name="T4" fmla="*/ 2147483647 w 1396"/>
              <a:gd name="T5" fmla="*/ 2147483647 h 1687"/>
              <a:gd name="T6" fmla="*/ 0 w 1396"/>
              <a:gd name="T7" fmla="*/ 0 h 1687"/>
              <a:gd name="T8" fmla="*/ 0 w 1396"/>
              <a:gd name="T9" fmla="*/ 2147483647 h 16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96"/>
              <a:gd name="T16" fmla="*/ 0 h 1687"/>
              <a:gd name="T17" fmla="*/ 1396 w 1396"/>
              <a:gd name="T18" fmla="*/ 1687 h 168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96" h="1687">
                <a:moveTo>
                  <a:pt x="0" y="1205"/>
                </a:moveTo>
                <a:lnTo>
                  <a:pt x="1396" y="1687"/>
                </a:lnTo>
                <a:lnTo>
                  <a:pt x="1396" y="477"/>
                </a:lnTo>
                <a:lnTo>
                  <a:pt x="0" y="0"/>
                </a:lnTo>
                <a:lnTo>
                  <a:pt x="0" y="1205"/>
                </a:lnTo>
                <a:close/>
              </a:path>
            </a:pathLst>
          </a:custGeom>
          <a:solidFill>
            <a:srgbClr val="00CC99">
              <a:alpha val="50195"/>
            </a:srgbClr>
          </a:solidFill>
          <a:ln w="19050" cap="flat" cmpd="sng">
            <a:solidFill>
              <a:schemeClr val="tx2"/>
            </a:solidFill>
            <a:prstDash val="solid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1846" name="Text Box 54"/>
          <p:cNvSpPr txBox="1">
            <a:spLocks noChangeArrowheads="1"/>
          </p:cNvSpPr>
          <p:nvPr/>
        </p:nvSpPr>
        <p:spPr bwMode="auto">
          <a:xfrm>
            <a:off x="6051550" y="4621213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Q</a:t>
            </a:r>
            <a:r>
              <a:rPr lang="en-US" altLang="zh-CN" sz="2400" i="1" baseline="-10000">
                <a:latin typeface="ISOCPEUR" pitchFamily="34" charset="0"/>
              </a:rPr>
              <a:t>H</a:t>
            </a:r>
          </a:p>
        </p:txBody>
      </p:sp>
      <p:sp>
        <p:nvSpPr>
          <p:cNvPr id="161847" name="Text Box 55"/>
          <p:cNvSpPr txBox="1">
            <a:spLocks noChangeArrowheads="1"/>
          </p:cNvSpPr>
          <p:nvPr/>
        </p:nvSpPr>
        <p:spPr bwMode="auto">
          <a:xfrm>
            <a:off x="3698875" y="4737100"/>
            <a:ext cx="615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  <a:r>
              <a:rPr lang="en-US" altLang="zh-CN" sz="2400" i="1" baseline="-25000">
                <a:latin typeface="ISOCPEUR" pitchFamily="34" charset="0"/>
              </a:rPr>
              <a:t>H</a:t>
            </a:r>
          </a:p>
        </p:txBody>
      </p:sp>
      <p:sp>
        <p:nvSpPr>
          <p:cNvPr id="161848" name="Text Box 56"/>
          <p:cNvSpPr txBox="1">
            <a:spLocks noChangeArrowheads="1"/>
          </p:cNvSpPr>
          <p:nvPr/>
        </p:nvSpPr>
        <p:spPr bwMode="auto">
          <a:xfrm>
            <a:off x="4829175" y="2536825"/>
            <a:ext cx="347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Q</a:t>
            </a:r>
          </a:p>
        </p:txBody>
      </p:sp>
      <p:sp>
        <p:nvSpPr>
          <p:cNvPr id="161849" name="Line 57"/>
          <p:cNvSpPr>
            <a:spLocks noChangeShapeType="1"/>
          </p:cNvSpPr>
          <p:nvPr/>
        </p:nvSpPr>
        <p:spPr bwMode="auto">
          <a:xfrm flipH="1">
            <a:off x="2994025" y="3092450"/>
            <a:ext cx="7938" cy="127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850" name="Line 58"/>
          <p:cNvSpPr>
            <a:spLocks noChangeShapeType="1"/>
          </p:cNvSpPr>
          <p:nvPr/>
        </p:nvSpPr>
        <p:spPr bwMode="auto">
          <a:xfrm>
            <a:off x="4064000" y="3302000"/>
            <a:ext cx="0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851" name="Line 59"/>
          <p:cNvSpPr>
            <a:spLocks noChangeShapeType="1"/>
          </p:cNvSpPr>
          <p:nvPr/>
        </p:nvSpPr>
        <p:spPr bwMode="auto">
          <a:xfrm>
            <a:off x="3011488" y="3117850"/>
            <a:ext cx="1060450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853" name="Freeform 61"/>
          <p:cNvSpPr>
            <a:spLocks/>
          </p:cNvSpPr>
          <p:nvPr/>
        </p:nvSpPr>
        <p:spPr bwMode="auto">
          <a:xfrm>
            <a:off x="2501900" y="2266950"/>
            <a:ext cx="1901825" cy="2678113"/>
          </a:xfrm>
          <a:custGeom>
            <a:avLst/>
            <a:gdLst>
              <a:gd name="T0" fmla="*/ 0 w 1396"/>
              <a:gd name="T1" fmla="*/ 2147483647 h 1687"/>
              <a:gd name="T2" fmla="*/ 2147483647 w 1396"/>
              <a:gd name="T3" fmla="*/ 2147483647 h 1687"/>
              <a:gd name="T4" fmla="*/ 2147483647 w 1396"/>
              <a:gd name="T5" fmla="*/ 2147483647 h 1687"/>
              <a:gd name="T6" fmla="*/ 0 w 1396"/>
              <a:gd name="T7" fmla="*/ 0 h 1687"/>
              <a:gd name="T8" fmla="*/ 0 w 1396"/>
              <a:gd name="T9" fmla="*/ 2147483647 h 16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96"/>
              <a:gd name="T16" fmla="*/ 0 h 1687"/>
              <a:gd name="T17" fmla="*/ 1396 w 1396"/>
              <a:gd name="T18" fmla="*/ 1687 h 168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96" h="1687">
                <a:moveTo>
                  <a:pt x="0" y="1205"/>
                </a:moveTo>
                <a:lnTo>
                  <a:pt x="1396" y="1687"/>
                </a:lnTo>
                <a:lnTo>
                  <a:pt x="1396" y="477"/>
                </a:lnTo>
                <a:lnTo>
                  <a:pt x="0" y="0"/>
                </a:lnTo>
                <a:lnTo>
                  <a:pt x="0" y="1205"/>
                </a:lnTo>
                <a:close/>
              </a:path>
            </a:pathLst>
          </a:custGeom>
          <a:solidFill>
            <a:srgbClr val="0000FF">
              <a:alpha val="50195"/>
            </a:srgbClr>
          </a:solidFill>
          <a:ln w="19050" cap="flat" cmpd="sng">
            <a:solidFill>
              <a:schemeClr val="tx2"/>
            </a:solidFill>
            <a:prstDash val="solid"/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1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1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6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40" grpId="0" animBg="1"/>
      <p:bldP spid="161841" grpId="0"/>
      <p:bldP spid="161842" grpId="0" animBg="1"/>
      <p:bldP spid="161845" grpId="0" animBg="1"/>
      <p:bldP spid="161846" grpId="0"/>
      <p:bldP spid="161847" grpId="0"/>
      <p:bldP spid="161848" grpId="0"/>
      <p:bldP spid="161849" grpId="0" animBg="1"/>
      <p:bldP spid="161850" grpId="0" animBg="1"/>
      <p:bldP spid="161851" grpId="0" animBg="1"/>
      <p:bldP spid="16185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05EA4F4C-9BCD-43B8-AB50-56C0DC64ED72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19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338138" y="628650"/>
            <a:ext cx="5748337" cy="4572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例：判断下列线、面与面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P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平行否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?</a:t>
            </a:r>
          </a:p>
        </p:txBody>
      </p:sp>
      <p:sp>
        <p:nvSpPr>
          <p:cNvPr id="81923" name="Line 3"/>
          <p:cNvSpPr>
            <a:spLocks noChangeShapeType="1"/>
          </p:cNvSpPr>
          <p:nvPr/>
        </p:nvSpPr>
        <p:spPr bwMode="auto">
          <a:xfrm>
            <a:off x="141288" y="2995613"/>
            <a:ext cx="8826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6513" y="2100263"/>
            <a:ext cx="1090612" cy="1452562"/>
            <a:chOff x="435" y="1068"/>
            <a:chExt cx="687" cy="915"/>
          </a:xfrm>
        </p:grpSpPr>
        <p:sp>
          <p:nvSpPr>
            <p:cNvPr id="44089" name="Line 5"/>
            <p:cNvSpPr>
              <a:spLocks noChangeShapeType="1"/>
            </p:cNvSpPr>
            <p:nvPr/>
          </p:nvSpPr>
          <p:spPr bwMode="auto">
            <a:xfrm>
              <a:off x="648" y="1068"/>
              <a:ext cx="0" cy="56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90" name="Line 6"/>
            <p:cNvSpPr>
              <a:spLocks noChangeShapeType="1"/>
            </p:cNvSpPr>
            <p:nvPr/>
          </p:nvSpPr>
          <p:spPr bwMode="auto">
            <a:xfrm>
              <a:off x="648" y="1632"/>
              <a:ext cx="474" cy="3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91" name="Text Box 7"/>
            <p:cNvSpPr txBox="1">
              <a:spLocks noChangeArrowheads="1"/>
            </p:cNvSpPr>
            <p:nvPr/>
          </p:nvSpPr>
          <p:spPr bwMode="auto">
            <a:xfrm>
              <a:off x="435" y="1219"/>
              <a:ext cx="21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>
                  <a:solidFill>
                    <a:srgbClr val="FF0000"/>
                  </a:solidFill>
                  <a:latin typeface="ISOCPEUR" pitchFamily="34" charset="0"/>
                </a:rPr>
                <a:t>P</a:t>
              </a:r>
              <a:r>
                <a:rPr lang="en-US" altLang="zh-CN" sz="1400" i="1" baseline="-8000">
                  <a:solidFill>
                    <a:srgbClr val="FF0000"/>
                  </a:solidFill>
                  <a:latin typeface="ISOCPEUR" pitchFamily="34" charset="0"/>
                </a:rPr>
                <a:t>V</a:t>
              </a:r>
              <a:endParaRPr lang="en-US" altLang="zh-CN" sz="1800" i="1" baseline="-8000">
                <a:solidFill>
                  <a:srgbClr val="FF0000"/>
                </a:solidFill>
                <a:latin typeface="ISOCPEUR" pitchFamily="34" charset="0"/>
              </a:endParaRPr>
            </a:p>
          </p:txBody>
        </p:sp>
        <p:sp>
          <p:nvSpPr>
            <p:cNvPr id="44092" name="Text Box 8"/>
            <p:cNvSpPr txBox="1">
              <a:spLocks noChangeArrowheads="1"/>
            </p:cNvSpPr>
            <p:nvPr/>
          </p:nvSpPr>
          <p:spPr bwMode="auto">
            <a:xfrm>
              <a:off x="652" y="1791"/>
              <a:ext cx="34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>
                  <a:solidFill>
                    <a:srgbClr val="FF0000"/>
                  </a:solidFill>
                  <a:latin typeface="ISOCPEUR" pitchFamily="34" charset="0"/>
                </a:rPr>
                <a:t>P</a:t>
              </a:r>
              <a:r>
                <a:rPr lang="en-US" altLang="zh-CN" sz="1400" i="1" baseline="-8000">
                  <a:solidFill>
                    <a:srgbClr val="FF0000"/>
                  </a:solidFill>
                  <a:latin typeface="ISOCPEUR" pitchFamily="34" charset="0"/>
                </a:rPr>
                <a:t>H</a:t>
              </a:r>
              <a:endParaRPr lang="en-US" altLang="zh-CN" sz="1800" i="1" baseline="-8000">
                <a:latin typeface="ISOCPEUR" pitchFamily="34" charset="0"/>
              </a:endParaRP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2143125" y="2205038"/>
            <a:ext cx="452438" cy="1409700"/>
            <a:chOff x="2310" y="1134"/>
            <a:chExt cx="285" cy="888"/>
          </a:xfrm>
        </p:grpSpPr>
        <p:sp>
          <p:nvSpPr>
            <p:cNvPr id="44084" name="Line 15"/>
            <p:cNvSpPr>
              <a:spLocks noChangeShapeType="1"/>
            </p:cNvSpPr>
            <p:nvPr/>
          </p:nvSpPr>
          <p:spPr bwMode="auto">
            <a:xfrm>
              <a:off x="2310" y="1824"/>
              <a:ext cx="285" cy="1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85" name="Line 16"/>
            <p:cNvSpPr>
              <a:spLocks noChangeShapeType="1"/>
            </p:cNvSpPr>
            <p:nvPr/>
          </p:nvSpPr>
          <p:spPr bwMode="auto">
            <a:xfrm flipV="1">
              <a:off x="2310" y="1374"/>
              <a:ext cx="0" cy="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86" name="Line 17"/>
            <p:cNvSpPr>
              <a:spLocks noChangeShapeType="1"/>
            </p:cNvSpPr>
            <p:nvPr/>
          </p:nvSpPr>
          <p:spPr bwMode="auto">
            <a:xfrm flipV="1">
              <a:off x="2454" y="1134"/>
              <a:ext cx="0" cy="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87" name="Line 18"/>
            <p:cNvSpPr>
              <a:spLocks noChangeShapeType="1"/>
            </p:cNvSpPr>
            <p:nvPr/>
          </p:nvSpPr>
          <p:spPr bwMode="auto">
            <a:xfrm flipV="1">
              <a:off x="2592" y="1494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88" name="Freeform 19"/>
            <p:cNvSpPr>
              <a:spLocks/>
            </p:cNvSpPr>
            <p:nvPr/>
          </p:nvSpPr>
          <p:spPr bwMode="auto">
            <a:xfrm>
              <a:off x="2310" y="1134"/>
              <a:ext cx="282" cy="360"/>
            </a:xfrm>
            <a:custGeom>
              <a:avLst/>
              <a:gdLst>
                <a:gd name="T0" fmla="*/ 0 w 282"/>
                <a:gd name="T1" fmla="*/ 246 h 360"/>
                <a:gd name="T2" fmla="*/ 144 w 282"/>
                <a:gd name="T3" fmla="*/ 0 h 360"/>
                <a:gd name="T4" fmla="*/ 282 w 282"/>
                <a:gd name="T5" fmla="*/ 360 h 360"/>
                <a:gd name="T6" fmla="*/ 0 w 282"/>
                <a:gd name="T7" fmla="*/ 246 h 3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2"/>
                <a:gd name="T13" fmla="*/ 0 h 360"/>
                <a:gd name="T14" fmla="*/ 282 w 282"/>
                <a:gd name="T15" fmla="*/ 360 h 3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2" h="360">
                  <a:moveTo>
                    <a:pt x="0" y="246"/>
                  </a:moveTo>
                  <a:lnTo>
                    <a:pt x="144" y="0"/>
                  </a:lnTo>
                  <a:lnTo>
                    <a:pt x="282" y="360"/>
                  </a:lnTo>
                  <a:lnTo>
                    <a:pt x="0" y="246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4905375" y="2336800"/>
            <a:ext cx="465138" cy="1300163"/>
            <a:chOff x="3182" y="1209"/>
            <a:chExt cx="293" cy="819"/>
          </a:xfrm>
        </p:grpSpPr>
        <p:sp>
          <p:nvSpPr>
            <p:cNvPr id="44078" name="Line 21"/>
            <p:cNvSpPr>
              <a:spLocks noChangeShapeType="1"/>
            </p:cNvSpPr>
            <p:nvPr/>
          </p:nvSpPr>
          <p:spPr bwMode="auto">
            <a:xfrm>
              <a:off x="3182" y="1819"/>
              <a:ext cx="293" cy="2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79" name="Line 22"/>
            <p:cNvSpPr>
              <a:spLocks noChangeShapeType="1"/>
            </p:cNvSpPr>
            <p:nvPr/>
          </p:nvSpPr>
          <p:spPr bwMode="auto">
            <a:xfrm flipV="1">
              <a:off x="3182" y="1212"/>
              <a:ext cx="0" cy="6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80" name="Line 23"/>
            <p:cNvSpPr>
              <a:spLocks noChangeShapeType="1"/>
            </p:cNvSpPr>
            <p:nvPr/>
          </p:nvSpPr>
          <p:spPr bwMode="auto">
            <a:xfrm flipV="1">
              <a:off x="3475" y="1209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81" name="Line 24"/>
            <p:cNvSpPr>
              <a:spLocks noChangeShapeType="1"/>
            </p:cNvSpPr>
            <p:nvPr/>
          </p:nvSpPr>
          <p:spPr bwMode="auto">
            <a:xfrm flipH="1">
              <a:off x="3182" y="1212"/>
              <a:ext cx="293" cy="1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82" name="Line 25"/>
            <p:cNvSpPr>
              <a:spLocks noChangeShapeType="1"/>
            </p:cNvSpPr>
            <p:nvPr/>
          </p:nvSpPr>
          <p:spPr bwMode="auto">
            <a:xfrm>
              <a:off x="3182" y="1212"/>
              <a:ext cx="249" cy="1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83" name="Line 26"/>
            <p:cNvSpPr>
              <a:spLocks noChangeShapeType="1"/>
            </p:cNvSpPr>
            <p:nvPr/>
          </p:nvSpPr>
          <p:spPr bwMode="auto">
            <a:xfrm>
              <a:off x="3431" y="1368"/>
              <a:ext cx="0" cy="6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5837238" y="2366963"/>
            <a:ext cx="471487" cy="1271587"/>
            <a:chOff x="4185" y="1236"/>
            <a:chExt cx="297" cy="801"/>
          </a:xfrm>
        </p:grpSpPr>
        <p:sp>
          <p:nvSpPr>
            <p:cNvPr id="44073" name="Line 28"/>
            <p:cNvSpPr>
              <a:spLocks noChangeShapeType="1"/>
            </p:cNvSpPr>
            <p:nvPr/>
          </p:nvSpPr>
          <p:spPr bwMode="auto">
            <a:xfrm>
              <a:off x="4185" y="1824"/>
              <a:ext cx="294" cy="2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74" name="Line 29"/>
            <p:cNvSpPr>
              <a:spLocks noChangeShapeType="1"/>
            </p:cNvSpPr>
            <p:nvPr/>
          </p:nvSpPr>
          <p:spPr bwMode="auto">
            <a:xfrm flipV="1">
              <a:off x="4185" y="1242"/>
              <a:ext cx="0" cy="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75" name="Line 30"/>
            <p:cNvSpPr>
              <a:spLocks noChangeShapeType="1"/>
            </p:cNvSpPr>
            <p:nvPr/>
          </p:nvSpPr>
          <p:spPr bwMode="auto">
            <a:xfrm flipV="1">
              <a:off x="4482" y="1236"/>
              <a:ext cx="0" cy="7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76" name="Line 31"/>
            <p:cNvSpPr>
              <a:spLocks noChangeShapeType="1"/>
            </p:cNvSpPr>
            <p:nvPr/>
          </p:nvSpPr>
          <p:spPr bwMode="auto">
            <a:xfrm flipH="1">
              <a:off x="4185" y="1389"/>
              <a:ext cx="29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77" name="Line 32"/>
            <p:cNvSpPr>
              <a:spLocks noChangeShapeType="1"/>
            </p:cNvSpPr>
            <p:nvPr/>
          </p:nvSpPr>
          <p:spPr bwMode="auto">
            <a:xfrm>
              <a:off x="4185" y="1236"/>
              <a:ext cx="2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81953" name="Text Box 33"/>
          <p:cNvSpPr txBox="1">
            <a:spLocks noChangeArrowheads="1"/>
          </p:cNvSpPr>
          <p:nvPr/>
        </p:nvSpPr>
        <p:spPr bwMode="auto">
          <a:xfrm>
            <a:off x="196850" y="3763963"/>
            <a:ext cx="8947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黑体" pitchFamily="2" charset="-122"/>
                <a:ea typeface="黑体" pitchFamily="2" charset="-122"/>
              </a:rPr>
              <a:t>(a)     (b)   (c)     (d)    (e)    (f)     (g)       (h)      (i)</a:t>
            </a:r>
            <a:r>
              <a:rPr lang="en-US" altLang="zh-CN" sz="2000" b="0">
                <a:latin typeface="黑体" pitchFamily="2" charset="-122"/>
                <a:ea typeface="黑体" pitchFamily="2" charset="-122"/>
              </a:rPr>
              <a:t>  </a:t>
            </a:r>
          </a:p>
        </p:txBody>
      </p:sp>
      <p:grpSp>
        <p:nvGrpSpPr>
          <p:cNvPr id="6" name="Group 34"/>
          <p:cNvGrpSpPr>
            <a:grpSpLocks/>
          </p:cNvGrpSpPr>
          <p:nvPr/>
        </p:nvGrpSpPr>
        <p:grpSpPr bwMode="auto">
          <a:xfrm>
            <a:off x="2940050" y="2255838"/>
            <a:ext cx="879475" cy="1452562"/>
            <a:chOff x="1852" y="1190"/>
            <a:chExt cx="554" cy="915"/>
          </a:xfrm>
        </p:grpSpPr>
        <p:sp>
          <p:nvSpPr>
            <p:cNvPr id="44069" name="Line 35"/>
            <p:cNvSpPr>
              <a:spLocks noChangeShapeType="1"/>
            </p:cNvSpPr>
            <p:nvPr/>
          </p:nvSpPr>
          <p:spPr bwMode="auto">
            <a:xfrm flipH="1">
              <a:off x="1902" y="1190"/>
              <a:ext cx="300" cy="46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70" name="Line 36"/>
            <p:cNvSpPr>
              <a:spLocks noChangeShapeType="1"/>
            </p:cNvSpPr>
            <p:nvPr/>
          </p:nvSpPr>
          <p:spPr bwMode="auto">
            <a:xfrm>
              <a:off x="1902" y="1664"/>
              <a:ext cx="504" cy="366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71" name="Text Box 37"/>
            <p:cNvSpPr txBox="1">
              <a:spLocks noChangeArrowheads="1"/>
            </p:cNvSpPr>
            <p:nvPr/>
          </p:nvSpPr>
          <p:spPr bwMode="auto">
            <a:xfrm>
              <a:off x="1852" y="1262"/>
              <a:ext cx="21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>
                  <a:solidFill>
                    <a:srgbClr val="008000"/>
                  </a:solidFill>
                  <a:latin typeface="ISOCPEUR" pitchFamily="34" charset="0"/>
                </a:rPr>
                <a:t>Q</a:t>
              </a:r>
              <a:r>
                <a:rPr lang="en-US" altLang="zh-CN" sz="1400" i="1" baseline="-8000">
                  <a:solidFill>
                    <a:srgbClr val="008000"/>
                  </a:solidFill>
                  <a:latin typeface="ISOCPEUR" pitchFamily="34" charset="0"/>
                </a:rPr>
                <a:t>V</a:t>
              </a:r>
              <a:endParaRPr lang="en-US" altLang="zh-CN" sz="1400" b="0" i="1" baseline="-8000">
                <a:solidFill>
                  <a:srgbClr val="66FF33"/>
                </a:solidFill>
                <a:latin typeface="ISOCPEUR" pitchFamily="34" charset="0"/>
              </a:endParaRPr>
            </a:p>
          </p:txBody>
        </p:sp>
        <p:sp>
          <p:nvSpPr>
            <p:cNvPr id="44072" name="Text Box 38"/>
            <p:cNvSpPr txBox="1">
              <a:spLocks noChangeArrowheads="1"/>
            </p:cNvSpPr>
            <p:nvPr/>
          </p:nvSpPr>
          <p:spPr bwMode="auto">
            <a:xfrm>
              <a:off x="1982" y="1913"/>
              <a:ext cx="29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>
                  <a:solidFill>
                    <a:srgbClr val="008000"/>
                  </a:solidFill>
                  <a:latin typeface="ISOCPEUR" pitchFamily="34" charset="0"/>
                </a:rPr>
                <a:t>Q</a:t>
              </a:r>
              <a:r>
                <a:rPr lang="en-US" altLang="zh-CN" sz="1400" i="1" baseline="-8000">
                  <a:solidFill>
                    <a:srgbClr val="008000"/>
                  </a:solidFill>
                  <a:latin typeface="ISOCPEUR" pitchFamily="34" charset="0"/>
                </a:rPr>
                <a:t>H</a:t>
              </a:r>
              <a:endParaRPr lang="en-US" altLang="zh-CN" sz="2400" b="0">
                <a:solidFill>
                  <a:srgbClr val="66FF33"/>
                </a:solidFill>
                <a:latin typeface="ISOCPEUR" pitchFamily="34" charset="0"/>
              </a:endParaRPr>
            </a:p>
          </p:txBody>
        </p:sp>
      </p:grp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6527800" y="2309813"/>
            <a:ext cx="1504950" cy="1262062"/>
            <a:chOff x="4112" y="1224"/>
            <a:chExt cx="948" cy="795"/>
          </a:xfrm>
        </p:grpSpPr>
        <p:sp>
          <p:nvSpPr>
            <p:cNvPr id="44066" name="Line 40"/>
            <p:cNvSpPr>
              <a:spLocks noChangeShapeType="1"/>
            </p:cNvSpPr>
            <p:nvPr/>
          </p:nvSpPr>
          <p:spPr bwMode="auto">
            <a:xfrm flipH="1" flipV="1">
              <a:off x="4112" y="1320"/>
              <a:ext cx="948" cy="69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67" name="Text Box 41"/>
            <p:cNvSpPr txBox="1">
              <a:spLocks noChangeArrowheads="1"/>
            </p:cNvSpPr>
            <p:nvPr/>
          </p:nvSpPr>
          <p:spPr bwMode="auto">
            <a:xfrm>
              <a:off x="4182" y="1224"/>
              <a:ext cx="21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>
                  <a:latin typeface="ISOCPEUR" pitchFamily="34" charset="0"/>
                </a:rPr>
                <a:t>R</a:t>
              </a:r>
              <a:r>
                <a:rPr lang="en-US" altLang="zh-CN" sz="1400" i="1" baseline="-8000">
                  <a:latin typeface="ISOCPEUR" pitchFamily="34" charset="0"/>
                </a:rPr>
                <a:t>V</a:t>
              </a:r>
            </a:p>
          </p:txBody>
        </p:sp>
        <p:sp>
          <p:nvSpPr>
            <p:cNvPr id="44068" name="Text Box 42"/>
            <p:cNvSpPr txBox="1">
              <a:spLocks noChangeArrowheads="1"/>
            </p:cNvSpPr>
            <p:nvPr/>
          </p:nvSpPr>
          <p:spPr bwMode="auto">
            <a:xfrm>
              <a:off x="4642" y="1827"/>
              <a:ext cx="29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>
                  <a:latin typeface="ISOCPEUR" pitchFamily="34" charset="0"/>
                </a:rPr>
                <a:t>R</a:t>
              </a:r>
              <a:r>
                <a:rPr lang="en-US" altLang="zh-CN" sz="1400" i="1" baseline="-8000">
                  <a:latin typeface="ISOCPEUR" pitchFamily="34" charset="0"/>
                </a:rPr>
                <a:t>H</a:t>
              </a:r>
              <a:endParaRPr lang="en-US" altLang="zh-CN" sz="2400" b="0">
                <a:solidFill>
                  <a:srgbClr val="FF33CC"/>
                </a:solidFill>
                <a:latin typeface="ISOCPEUR" pitchFamily="34" charset="0"/>
              </a:endParaRPr>
            </a:p>
          </p:txBody>
        </p:sp>
      </p:grp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4076700" y="2278063"/>
            <a:ext cx="330200" cy="1320800"/>
            <a:chOff x="2896" y="1180"/>
            <a:chExt cx="208" cy="832"/>
          </a:xfrm>
        </p:grpSpPr>
        <p:sp>
          <p:nvSpPr>
            <p:cNvPr id="44062" name="Line 44"/>
            <p:cNvSpPr>
              <a:spLocks noChangeShapeType="1"/>
            </p:cNvSpPr>
            <p:nvPr/>
          </p:nvSpPr>
          <p:spPr bwMode="auto">
            <a:xfrm flipH="1">
              <a:off x="2896" y="1180"/>
              <a:ext cx="208" cy="3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63" name="Line 45"/>
            <p:cNvSpPr>
              <a:spLocks noChangeShapeType="1"/>
            </p:cNvSpPr>
            <p:nvPr/>
          </p:nvSpPr>
          <p:spPr bwMode="auto">
            <a:xfrm>
              <a:off x="2904" y="1500"/>
              <a:ext cx="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64" name="Line 46"/>
            <p:cNvSpPr>
              <a:spLocks noChangeShapeType="1"/>
            </p:cNvSpPr>
            <p:nvPr/>
          </p:nvSpPr>
          <p:spPr bwMode="auto">
            <a:xfrm>
              <a:off x="2904" y="1860"/>
              <a:ext cx="200" cy="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65" name="Line 47"/>
            <p:cNvSpPr>
              <a:spLocks noChangeShapeType="1"/>
            </p:cNvSpPr>
            <p:nvPr/>
          </p:nvSpPr>
          <p:spPr bwMode="auto">
            <a:xfrm flipV="1">
              <a:off x="3104" y="1180"/>
              <a:ext cx="0" cy="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81968" name="Text Box 48"/>
          <p:cNvSpPr txBox="1">
            <a:spLocks noChangeArrowheads="1"/>
          </p:cNvSpPr>
          <p:nvPr/>
        </p:nvSpPr>
        <p:spPr bwMode="auto">
          <a:xfrm>
            <a:off x="871538" y="4370388"/>
            <a:ext cx="8272462" cy="457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P∥(b, c, e, f, g, i)</a:t>
            </a:r>
          </a:p>
        </p:txBody>
      </p:sp>
      <p:grpSp>
        <p:nvGrpSpPr>
          <p:cNvPr id="9" name="Group 49"/>
          <p:cNvGrpSpPr>
            <a:grpSpLocks/>
          </p:cNvGrpSpPr>
          <p:nvPr/>
        </p:nvGrpSpPr>
        <p:grpSpPr bwMode="auto">
          <a:xfrm>
            <a:off x="8277225" y="2386013"/>
            <a:ext cx="476250" cy="1238250"/>
            <a:chOff x="5220" y="1308"/>
            <a:chExt cx="300" cy="780"/>
          </a:xfrm>
        </p:grpSpPr>
        <p:sp>
          <p:nvSpPr>
            <p:cNvPr id="44058" name="Line 50"/>
            <p:cNvSpPr>
              <a:spLocks noChangeShapeType="1"/>
            </p:cNvSpPr>
            <p:nvPr/>
          </p:nvSpPr>
          <p:spPr bwMode="auto">
            <a:xfrm>
              <a:off x="5220" y="1872"/>
              <a:ext cx="300" cy="2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59" name="Line 51"/>
            <p:cNvSpPr>
              <a:spLocks noChangeShapeType="1"/>
            </p:cNvSpPr>
            <p:nvPr/>
          </p:nvSpPr>
          <p:spPr bwMode="auto">
            <a:xfrm flipV="1">
              <a:off x="5220" y="1308"/>
              <a:ext cx="0" cy="5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60" name="Line 52"/>
            <p:cNvSpPr>
              <a:spLocks noChangeShapeType="1"/>
            </p:cNvSpPr>
            <p:nvPr/>
          </p:nvSpPr>
          <p:spPr bwMode="auto">
            <a:xfrm flipV="1">
              <a:off x="5520" y="1308"/>
              <a:ext cx="0" cy="7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61" name="Line 53"/>
            <p:cNvSpPr>
              <a:spLocks noChangeShapeType="1"/>
            </p:cNvSpPr>
            <p:nvPr/>
          </p:nvSpPr>
          <p:spPr bwMode="auto">
            <a:xfrm>
              <a:off x="5220" y="1320"/>
              <a:ext cx="3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81975" name="Text Box 55"/>
          <p:cNvSpPr txBox="1">
            <a:spLocks noChangeArrowheads="1"/>
          </p:cNvSpPr>
          <p:nvPr/>
        </p:nvSpPr>
        <p:spPr bwMode="auto">
          <a:xfrm>
            <a:off x="982663" y="3724275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∥</a:t>
            </a:r>
          </a:p>
        </p:txBody>
      </p:sp>
      <p:sp>
        <p:nvSpPr>
          <p:cNvPr id="81982" name="Text Box 62"/>
          <p:cNvSpPr txBox="1">
            <a:spLocks noChangeArrowheads="1"/>
          </p:cNvSpPr>
          <p:nvPr/>
        </p:nvSpPr>
        <p:spPr bwMode="auto">
          <a:xfrm>
            <a:off x="1789113" y="3724275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∥</a:t>
            </a:r>
          </a:p>
        </p:txBody>
      </p:sp>
      <p:sp>
        <p:nvSpPr>
          <p:cNvPr id="81983" name="Text Box 63"/>
          <p:cNvSpPr txBox="1">
            <a:spLocks noChangeArrowheads="1"/>
          </p:cNvSpPr>
          <p:nvPr/>
        </p:nvSpPr>
        <p:spPr bwMode="auto">
          <a:xfrm>
            <a:off x="3684588" y="3724275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∥</a:t>
            </a:r>
          </a:p>
        </p:txBody>
      </p:sp>
      <p:sp>
        <p:nvSpPr>
          <p:cNvPr id="81984" name="Text Box 64"/>
          <p:cNvSpPr txBox="1">
            <a:spLocks noChangeArrowheads="1"/>
          </p:cNvSpPr>
          <p:nvPr/>
        </p:nvSpPr>
        <p:spPr bwMode="auto">
          <a:xfrm>
            <a:off x="4595813" y="3724275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∥</a:t>
            </a:r>
          </a:p>
        </p:txBody>
      </p:sp>
      <p:sp>
        <p:nvSpPr>
          <p:cNvPr id="81985" name="Text Box 65"/>
          <p:cNvSpPr txBox="1">
            <a:spLocks noChangeArrowheads="1"/>
          </p:cNvSpPr>
          <p:nvPr/>
        </p:nvSpPr>
        <p:spPr bwMode="auto">
          <a:xfrm>
            <a:off x="8013700" y="3724275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∥</a:t>
            </a:r>
          </a:p>
        </p:txBody>
      </p:sp>
      <p:sp>
        <p:nvSpPr>
          <p:cNvPr id="81986" name="Text Box 66"/>
          <p:cNvSpPr txBox="1">
            <a:spLocks noChangeArrowheads="1"/>
          </p:cNvSpPr>
          <p:nvPr/>
        </p:nvSpPr>
        <p:spPr bwMode="auto">
          <a:xfrm>
            <a:off x="5588000" y="3724275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∥</a:t>
            </a:r>
          </a:p>
        </p:txBody>
      </p:sp>
      <p:grpSp>
        <p:nvGrpSpPr>
          <p:cNvPr id="10" name="Group 68"/>
          <p:cNvGrpSpPr>
            <a:grpSpLocks/>
          </p:cNvGrpSpPr>
          <p:nvPr/>
        </p:nvGrpSpPr>
        <p:grpSpPr bwMode="auto">
          <a:xfrm>
            <a:off x="1239838" y="2219325"/>
            <a:ext cx="500062" cy="1366838"/>
            <a:chOff x="781" y="1167"/>
            <a:chExt cx="315" cy="861"/>
          </a:xfrm>
        </p:grpSpPr>
        <p:sp>
          <p:nvSpPr>
            <p:cNvPr id="44054" name="Line 10"/>
            <p:cNvSpPr>
              <a:spLocks noChangeShapeType="1"/>
            </p:cNvSpPr>
            <p:nvPr/>
          </p:nvSpPr>
          <p:spPr bwMode="auto">
            <a:xfrm flipV="1">
              <a:off x="786" y="1167"/>
              <a:ext cx="0" cy="6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55" name="Line 11"/>
            <p:cNvSpPr>
              <a:spLocks noChangeShapeType="1"/>
            </p:cNvSpPr>
            <p:nvPr/>
          </p:nvSpPr>
          <p:spPr bwMode="auto">
            <a:xfrm flipH="1" flipV="1">
              <a:off x="1092" y="1398"/>
              <a:ext cx="0" cy="6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56" name="Line 12"/>
            <p:cNvSpPr>
              <a:spLocks noChangeShapeType="1"/>
            </p:cNvSpPr>
            <p:nvPr/>
          </p:nvSpPr>
          <p:spPr bwMode="auto">
            <a:xfrm>
              <a:off x="786" y="1812"/>
              <a:ext cx="306" cy="2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57" name="Line 67"/>
            <p:cNvSpPr>
              <a:spLocks noChangeShapeType="1"/>
            </p:cNvSpPr>
            <p:nvPr/>
          </p:nvSpPr>
          <p:spPr bwMode="auto">
            <a:xfrm>
              <a:off x="781" y="1168"/>
              <a:ext cx="315" cy="2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animBg="1"/>
      <p:bldP spid="81953" grpId="0" autoUpdateAnimBg="0"/>
      <p:bldP spid="81968" grpId="0" animBg="1" autoUpdateAnimBg="0"/>
      <p:bldP spid="81975" grpId="0"/>
      <p:bldP spid="81982" grpId="0"/>
      <p:bldP spid="81983" grpId="0"/>
      <p:bldP spid="81984" grpId="0"/>
      <p:bldP spid="81985" grpId="0"/>
      <p:bldP spid="8198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D4F4BB-D3DC-497A-A4D6-C2C4ED5D09D1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20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107523" name="Line 3"/>
          <p:cNvSpPr>
            <a:spLocks noChangeShapeType="1"/>
          </p:cNvSpPr>
          <p:nvPr/>
        </p:nvSpPr>
        <p:spPr bwMode="auto">
          <a:xfrm>
            <a:off x="2601913" y="4924425"/>
            <a:ext cx="0" cy="7429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2374900" y="0"/>
            <a:ext cx="31432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112713" y="115888"/>
            <a:ext cx="67262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>
                <a:solidFill>
                  <a:srgbClr val="FF33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§3.2 </a:t>
            </a:r>
            <a:r>
              <a:rPr lang="zh-CN" altLang="en-US" sz="3600">
                <a:solidFill>
                  <a:srgbClr val="FF33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几何元素间的相交问题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046163" y="2840038"/>
            <a:ext cx="3451225" cy="3444875"/>
            <a:chOff x="526" y="1759"/>
            <a:chExt cx="2174" cy="2170"/>
          </a:xfrm>
        </p:grpSpPr>
        <p:sp>
          <p:nvSpPr>
            <p:cNvPr id="4134" name="Line 7"/>
            <p:cNvSpPr>
              <a:spLocks noChangeShapeType="1"/>
            </p:cNvSpPr>
            <p:nvPr/>
          </p:nvSpPr>
          <p:spPr bwMode="auto">
            <a:xfrm>
              <a:off x="1632" y="1883"/>
              <a:ext cx="0" cy="1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4135" name="Line 8"/>
            <p:cNvSpPr>
              <a:spLocks noChangeShapeType="1"/>
            </p:cNvSpPr>
            <p:nvPr/>
          </p:nvSpPr>
          <p:spPr bwMode="auto">
            <a:xfrm>
              <a:off x="1124" y="2334"/>
              <a:ext cx="0" cy="6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4136" name="Line 9"/>
            <p:cNvSpPr>
              <a:spLocks noChangeShapeType="1"/>
            </p:cNvSpPr>
            <p:nvPr/>
          </p:nvSpPr>
          <p:spPr bwMode="auto">
            <a:xfrm>
              <a:off x="1974" y="2709"/>
              <a:ext cx="0" cy="4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4137" name="Text Box 10"/>
            <p:cNvSpPr txBox="1">
              <a:spLocks noChangeArrowheads="1"/>
            </p:cNvSpPr>
            <p:nvPr/>
          </p:nvSpPr>
          <p:spPr bwMode="auto">
            <a:xfrm>
              <a:off x="878" y="2163"/>
              <a:ext cx="3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a'</a:t>
              </a:r>
              <a:endParaRPr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4138" name="Text Box 11"/>
            <p:cNvSpPr txBox="1">
              <a:spLocks noChangeArrowheads="1"/>
            </p:cNvSpPr>
            <p:nvPr/>
          </p:nvSpPr>
          <p:spPr bwMode="auto">
            <a:xfrm>
              <a:off x="1918" y="2508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c'</a:t>
              </a:r>
              <a:endParaRPr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4139" name="Text Box 12"/>
            <p:cNvSpPr txBox="1">
              <a:spLocks noChangeArrowheads="1"/>
            </p:cNvSpPr>
            <p:nvPr/>
          </p:nvSpPr>
          <p:spPr bwMode="auto">
            <a:xfrm>
              <a:off x="1616" y="1759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b'</a:t>
              </a:r>
              <a:endParaRPr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4140" name="Text Box 13"/>
            <p:cNvSpPr txBox="1">
              <a:spLocks noChangeArrowheads="1"/>
            </p:cNvSpPr>
            <p:nvPr/>
          </p:nvSpPr>
          <p:spPr bwMode="auto">
            <a:xfrm>
              <a:off x="929" y="2847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a</a:t>
              </a:r>
            </a:p>
          </p:txBody>
        </p:sp>
        <p:sp>
          <p:nvSpPr>
            <p:cNvPr id="4141" name="Text Box 14"/>
            <p:cNvSpPr txBox="1">
              <a:spLocks noChangeArrowheads="1"/>
            </p:cNvSpPr>
            <p:nvPr/>
          </p:nvSpPr>
          <p:spPr bwMode="auto">
            <a:xfrm>
              <a:off x="1518" y="3679"/>
              <a:ext cx="2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b </a:t>
              </a:r>
            </a:p>
          </p:txBody>
        </p:sp>
        <p:sp>
          <p:nvSpPr>
            <p:cNvPr id="4142" name="Text Box 15"/>
            <p:cNvSpPr txBox="1">
              <a:spLocks noChangeArrowheads="1"/>
            </p:cNvSpPr>
            <p:nvPr/>
          </p:nvSpPr>
          <p:spPr bwMode="auto">
            <a:xfrm>
              <a:off x="1936" y="3050"/>
              <a:ext cx="2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c </a:t>
              </a:r>
            </a:p>
          </p:txBody>
        </p:sp>
        <p:sp>
          <p:nvSpPr>
            <p:cNvPr id="4143" name="Freeform 16"/>
            <p:cNvSpPr>
              <a:spLocks/>
            </p:cNvSpPr>
            <p:nvPr/>
          </p:nvSpPr>
          <p:spPr bwMode="auto">
            <a:xfrm>
              <a:off x="1122" y="1884"/>
              <a:ext cx="852" cy="822"/>
            </a:xfrm>
            <a:custGeom>
              <a:avLst/>
              <a:gdLst>
                <a:gd name="T0" fmla="*/ 0 w 852"/>
                <a:gd name="T1" fmla="*/ 450 h 822"/>
                <a:gd name="T2" fmla="*/ 510 w 852"/>
                <a:gd name="T3" fmla="*/ 0 h 822"/>
                <a:gd name="T4" fmla="*/ 852 w 852"/>
                <a:gd name="T5" fmla="*/ 822 h 822"/>
                <a:gd name="T6" fmla="*/ 0 w 852"/>
                <a:gd name="T7" fmla="*/ 450 h 8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822"/>
                <a:gd name="T14" fmla="*/ 852 w 852"/>
                <a:gd name="T15" fmla="*/ 822 h 8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822">
                  <a:moveTo>
                    <a:pt x="0" y="450"/>
                  </a:moveTo>
                  <a:lnTo>
                    <a:pt x="510" y="0"/>
                  </a:lnTo>
                  <a:lnTo>
                    <a:pt x="852" y="822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4144" name="Freeform 17"/>
            <p:cNvSpPr>
              <a:spLocks/>
            </p:cNvSpPr>
            <p:nvPr/>
          </p:nvSpPr>
          <p:spPr bwMode="auto">
            <a:xfrm>
              <a:off x="1122" y="2958"/>
              <a:ext cx="852" cy="750"/>
            </a:xfrm>
            <a:custGeom>
              <a:avLst/>
              <a:gdLst>
                <a:gd name="T0" fmla="*/ 0 w 852"/>
                <a:gd name="T1" fmla="*/ 0 h 750"/>
                <a:gd name="T2" fmla="*/ 852 w 852"/>
                <a:gd name="T3" fmla="*/ 243 h 750"/>
                <a:gd name="T4" fmla="*/ 507 w 852"/>
                <a:gd name="T5" fmla="*/ 750 h 750"/>
                <a:gd name="T6" fmla="*/ 0 w 852"/>
                <a:gd name="T7" fmla="*/ 0 h 7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750"/>
                <a:gd name="T14" fmla="*/ 852 w 852"/>
                <a:gd name="T15" fmla="*/ 750 h 7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750">
                  <a:moveTo>
                    <a:pt x="0" y="0"/>
                  </a:moveTo>
                  <a:lnTo>
                    <a:pt x="852" y="243"/>
                  </a:lnTo>
                  <a:lnTo>
                    <a:pt x="507" y="75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4145" name="Text Box 18"/>
            <p:cNvSpPr txBox="1">
              <a:spLocks noChangeArrowheads="1"/>
            </p:cNvSpPr>
            <p:nvPr/>
          </p:nvSpPr>
          <p:spPr bwMode="auto">
            <a:xfrm>
              <a:off x="526" y="257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X </a:t>
              </a:r>
            </a:p>
          </p:txBody>
        </p:sp>
        <p:sp>
          <p:nvSpPr>
            <p:cNvPr id="4146" name="Text Box 19"/>
            <p:cNvSpPr txBox="1">
              <a:spLocks noChangeArrowheads="1"/>
            </p:cNvSpPr>
            <p:nvPr/>
          </p:nvSpPr>
          <p:spPr bwMode="auto">
            <a:xfrm>
              <a:off x="2404" y="2577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O </a:t>
              </a:r>
              <a:endParaRPr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4147" name="Line 20"/>
            <p:cNvSpPr>
              <a:spLocks noChangeShapeType="1"/>
            </p:cNvSpPr>
            <p:nvPr/>
          </p:nvSpPr>
          <p:spPr bwMode="auto">
            <a:xfrm>
              <a:off x="739" y="2832"/>
              <a:ext cx="17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</p:grpSp>
      <p:sp>
        <p:nvSpPr>
          <p:cNvPr id="107541" name="Text Box 21"/>
          <p:cNvSpPr txBox="1">
            <a:spLocks noChangeArrowheads="1"/>
          </p:cNvSpPr>
          <p:nvPr/>
        </p:nvSpPr>
        <p:spPr bwMode="auto">
          <a:xfrm>
            <a:off x="4737100" y="3521075"/>
            <a:ext cx="3189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DE⊥V:  </a:t>
            </a:r>
            <a:r>
              <a:rPr lang="en-US" altLang="zh-CN" sz="2400" i="1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d</a:t>
            </a:r>
            <a:r>
              <a:rPr lang="en-US" altLang="zh-CN" sz="1000" i="1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sz="24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  <a:r>
              <a:rPr lang="en-US" altLang="zh-CN" sz="2400" i="1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≡</a:t>
            </a:r>
            <a:r>
              <a:rPr lang="en-US" altLang="zh-CN" sz="2400" i="1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e</a:t>
            </a:r>
            <a:r>
              <a:rPr lang="en-US" altLang="zh-CN" sz="1000" i="1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sz="24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‘ 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≡</a:t>
            </a:r>
            <a:r>
              <a:rPr lang="en-US" altLang="zh-CN" sz="2400" i="1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k</a:t>
            </a:r>
            <a:r>
              <a:rPr lang="en-US" altLang="zh-CN" sz="1000" i="1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sz="24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07542" name="Text Box 22"/>
          <p:cNvSpPr txBox="1">
            <a:spLocks noChangeArrowheads="1"/>
          </p:cNvSpPr>
          <p:nvPr/>
        </p:nvSpPr>
        <p:spPr bwMode="auto">
          <a:xfrm>
            <a:off x="4624388" y="5373688"/>
            <a:ext cx="4089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 typeface="Symbol" pitchFamily="18" charset="2"/>
              <a:buChar char="·"/>
            </a:pP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判断可见性</a:t>
            </a:r>
          </a:p>
          <a:p>
            <a:pPr algn="l" eaLnBrk="1" hangingPunct="1">
              <a:spcBef>
                <a:spcPct val="0"/>
              </a:spcBef>
              <a:buClrTx/>
              <a:buFont typeface="Symbol" pitchFamily="18" charset="2"/>
              <a:buNone/>
            </a:pPr>
            <a:r>
              <a:rPr lang="zh-CN" altLang="en-US" sz="20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   利用重影点 </a:t>
            </a:r>
          </a:p>
        </p:txBody>
      </p:sp>
      <p:sp>
        <p:nvSpPr>
          <p:cNvPr id="107543" name="Line 23"/>
          <p:cNvSpPr>
            <a:spLocks noChangeShapeType="1"/>
          </p:cNvSpPr>
          <p:nvPr/>
        </p:nvSpPr>
        <p:spPr bwMode="auto">
          <a:xfrm flipH="1">
            <a:off x="2601913" y="3587750"/>
            <a:ext cx="3175" cy="1130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7544" name="Text Box 24"/>
          <p:cNvSpPr txBox="1">
            <a:spLocks noChangeArrowheads="1"/>
          </p:cNvSpPr>
          <p:nvPr/>
        </p:nvSpPr>
        <p:spPr bwMode="auto">
          <a:xfrm>
            <a:off x="2179638" y="4497388"/>
            <a:ext cx="454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d </a:t>
            </a:r>
            <a:endParaRPr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7545" name="Text Box 25"/>
          <p:cNvSpPr txBox="1">
            <a:spLocks noChangeArrowheads="1"/>
          </p:cNvSpPr>
          <p:nvPr/>
        </p:nvSpPr>
        <p:spPr bwMode="auto">
          <a:xfrm>
            <a:off x="2249488" y="5843588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e</a:t>
            </a:r>
            <a:endParaRPr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7546" name="Line 26"/>
          <p:cNvSpPr>
            <a:spLocks noChangeShapeType="1"/>
          </p:cNvSpPr>
          <p:nvPr/>
        </p:nvSpPr>
        <p:spPr bwMode="auto">
          <a:xfrm>
            <a:off x="2605088" y="4714875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7547" name="Line 27"/>
          <p:cNvSpPr>
            <a:spLocks noChangeShapeType="1"/>
          </p:cNvSpPr>
          <p:nvPr/>
        </p:nvSpPr>
        <p:spPr bwMode="auto">
          <a:xfrm>
            <a:off x="2605088" y="5654675"/>
            <a:ext cx="0" cy="4810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7548" name="Text Box 28"/>
          <p:cNvSpPr txBox="1">
            <a:spLocks noChangeArrowheads="1"/>
          </p:cNvSpPr>
          <p:nvPr/>
        </p:nvSpPr>
        <p:spPr bwMode="auto">
          <a:xfrm>
            <a:off x="2330450" y="3500438"/>
            <a:ext cx="1431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d’</a:t>
            </a:r>
            <a:r>
              <a:rPr lang="en-US" altLang="zh-CN" sz="1800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≡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e'</a:t>
            </a:r>
          </a:p>
        </p:txBody>
      </p:sp>
      <p:sp>
        <p:nvSpPr>
          <p:cNvPr id="107549" name="Text Box 29"/>
          <p:cNvSpPr txBox="1">
            <a:spLocks noChangeArrowheads="1"/>
          </p:cNvSpPr>
          <p:nvPr/>
        </p:nvSpPr>
        <p:spPr bwMode="auto">
          <a:xfrm>
            <a:off x="2570163" y="5011738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k</a:t>
            </a:r>
            <a:endParaRPr lang="en-US" altLang="zh-CN" sz="2400" i="1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7550" name="Text Box 30"/>
          <p:cNvSpPr txBox="1">
            <a:spLocks noChangeArrowheads="1"/>
          </p:cNvSpPr>
          <p:nvPr/>
        </p:nvSpPr>
        <p:spPr bwMode="auto">
          <a:xfrm>
            <a:off x="2967038" y="3503613"/>
            <a:ext cx="11541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≡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k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07551" name="Text Box 31"/>
          <p:cNvSpPr txBox="1">
            <a:spLocks noChangeArrowheads="1"/>
          </p:cNvSpPr>
          <p:nvPr/>
        </p:nvSpPr>
        <p:spPr bwMode="auto">
          <a:xfrm>
            <a:off x="2817813" y="3217863"/>
            <a:ext cx="531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1'</a:t>
            </a:r>
            <a:endParaRPr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7552" name="Text Box 32"/>
          <p:cNvSpPr txBox="1">
            <a:spLocks noChangeArrowheads="1"/>
          </p:cNvSpPr>
          <p:nvPr/>
        </p:nvSpPr>
        <p:spPr bwMode="auto">
          <a:xfrm>
            <a:off x="2273300" y="2938463"/>
            <a:ext cx="527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2'</a:t>
            </a:r>
            <a:endParaRPr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7553" name="Text Box 33"/>
          <p:cNvSpPr txBox="1">
            <a:spLocks noChangeArrowheads="1"/>
          </p:cNvSpPr>
          <p:nvPr/>
        </p:nvSpPr>
        <p:spPr bwMode="auto">
          <a:xfrm>
            <a:off x="2873375" y="5564188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1</a:t>
            </a:r>
            <a:endParaRPr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7554" name="Text Box 34"/>
          <p:cNvSpPr txBox="1">
            <a:spLocks noChangeArrowheads="1"/>
          </p:cNvSpPr>
          <p:nvPr/>
        </p:nvSpPr>
        <p:spPr bwMode="auto">
          <a:xfrm>
            <a:off x="1836738" y="5583238"/>
            <a:ext cx="841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2  3</a:t>
            </a:r>
          </a:p>
        </p:txBody>
      </p:sp>
      <p:sp>
        <p:nvSpPr>
          <p:cNvPr id="107555" name="Line 35"/>
          <p:cNvSpPr>
            <a:spLocks noChangeShapeType="1"/>
          </p:cNvSpPr>
          <p:nvPr/>
        </p:nvSpPr>
        <p:spPr bwMode="auto">
          <a:xfrm flipV="1">
            <a:off x="2008188" y="3463925"/>
            <a:ext cx="958850" cy="298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7556" name="Line 36"/>
          <p:cNvSpPr>
            <a:spLocks noChangeShapeType="1"/>
          </p:cNvSpPr>
          <p:nvPr/>
        </p:nvSpPr>
        <p:spPr bwMode="auto">
          <a:xfrm>
            <a:off x="2967038" y="3463925"/>
            <a:ext cx="0" cy="111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7557" name="Line 37"/>
          <p:cNvSpPr>
            <a:spLocks noChangeShapeType="1"/>
          </p:cNvSpPr>
          <p:nvPr/>
        </p:nvSpPr>
        <p:spPr bwMode="auto">
          <a:xfrm>
            <a:off x="2967038" y="4568825"/>
            <a:ext cx="0" cy="1130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7558" name="Line 38"/>
          <p:cNvSpPr>
            <a:spLocks noChangeShapeType="1"/>
          </p:cNvSpPr>
          <p:nvPr/>
        </p:nvSpPr>
        <p:spPr bwMode="auto">
          <a:xfrm>
            <a:off x="1997075" y="4737100"/>
            <a:ext cx="969963" cy="944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7559" name="Line 39"/>
          <p:cNvSpPr>
            <a:spLocks noChangeShapeType="1"/>
          </p:cNvSpPr>
          <p:nvPr/>
        </p:nvSpPr>
        <p:spPr bwMode="auto">
          <a:xfrm flipV="1">
            <a:off x="2598738" y="3216275"/>
            <a:ext cx="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7560" name="Text Box 40"/>
          <p:cNvSpPr txBox="1">
            <a:spLocks noChangeArrowheads="1"/>
          </p:cNvSpPr>
          <p:nvPr/>
        </p:nvSpPr>
        <p:spPr bwMode="auto">
          <a:xfrm>
            <a:off x="3582988" y="3509963"/>
            <a:ext cx="755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≡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3'</a:t>
            </a:r>
          </a:p>
        </p:txBody>
      </p:sp>
      <p:sp>
        <p:nvSpPr>
          <p:cNvPr id="107561" name="Text Box 41"/>
          <p:cNvSpPr txBox="1">
            <a:spLocks noChangeArrowheads="1"/>
          </p:cNvSpPr>
          <p:nvPr/>
        </p:nvSpPr>
        <p:spPr bwMode="auto">
          <a:xfrm>
            <a:off x="2038350" y="5570538"/>
            <a:ext cx="625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(  ) </a:t>
            </a:r>
          </a:p>
        </p:txBody>
      </p:sp>
      <p:sp>
        <p:nvSpPr>
          <p:cNvPr id="107562" name="Line 42"/>
          <p:cNvSpPr>
            <a:spLocks noChangeShapeType="1"/>
          </p:cNvSpPr>
          <p:nvPr/>
        </p:nvSpPr>
        <p:spPr bwMode="auto">
          <a:xfrm>
            <a:off x="2608263" y="5299075"/>
            <a:ext cx="0" cy="3302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7563" name="Line 43"/>
          <p:cNvSpPr>
            <a:spLocks noChangeShapeType="1"/>
          </p:cNvSpPr>
          <p:nvPr/>
        </p:nvSpPr>
        <p:spPr bwMode="auto">
          <a:xfrm>
            <a:off x="2605088" y="4930775"/>
            <a:ext cx="0" cy="406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7564" name="AutoShape 44"/>
          <p:cNvSpPr>
            <a:spLocks noChangeArrowheads="1"/>
          </p:cNvSpPr>
          <p:nvPr/>
        </p:nvSpPr>
        <p:spPr bwMode="auto">
          <a:xfrm>
            <a:off x="2570163" y="5294313"/>
            <a:ext cx="74612" cy="746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7565" name="AutoShape 45"/>
          <p:cNvSpPr>
            <a:spLocks noChangeArrowheads="1"/>
          </p:cNvSpPr>
          <p:nvPr/>
        </p:nvSpPr>
        <p:spPr bwMode="auto">
          <a:xfrm>
            <a:off x="2563813" y="3543300"/>
            <a:ext cx="74612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7566" name="Text Box 46"/>
          <p:cNvSpPr txBox="1">
            <a:spLocks noChangeArrowheads="1"/>
          </p:cNvSpPr>
          <p:nvPr/>
        </p:nvSpPr>
        <p:spPr bwMode="auto">
          <a:xfrm>
            <a:off x="4629150" y="4189413"/>
            <a:ext cx="4106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 </a:t>
            </a:r>
            <a:r>
              <a:rPr lang="zh-CN" altLang="zh-CN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面上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定</a:t>
            </a:r>
            <a:r>
              <a:rPr lang="zh-CN" altLang="zh-CN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点</a:t>
            </a:r>
            <a:endParaRPr lang="zh-CN" altLang="en-US" sz="2400">
              <a:solidFill>
                <a:srgbClr val="FF0000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07613" name="Text Box 93"/>
          <p:cNvSpPr txBox="1">
            <a:spLocks noChangeArrowheads="1"/>
          </p:cNvSpPr>
          <p:nvPr/>
        </p:nvSpPr>
        <p:spPr bwMode="auto">
          <a:xfrm>
            <a:off x="6750050" y="201613"/>
            <a:ext cx="2030413" cy="9842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33CC"/>
            </a:solidFill>
            <a:miter lim="800000"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核心问题：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公有点</a:t>
            </a:r>
            <a:endParaRPr lang="zh-CN" altLang="en-US" sz="280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07614" name="Text Box 94"/>
          <p:cNvSpPr txBox="1">
            <a:spLocks noChangeArrowheads="1"/>
          </p:cNvSpPr>
          <p:nvPr/>
        </p:nvSpPr>
        <p:spPr bwMode="auto">
          <a:xfrm>
            <a:off x="222250" y="930275"/>
            <a:ext cx="6394450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一</a:t>
            </a:r>
            <a:r>
              <a:rPr lang="en-US" altLang="zh-CN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. </a:t>
            </a:r>
            <a:r>
              <a:rPr lang="zh-CN" altLang="en-US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一个几何元素垂直于投影面</a:t>
            </a:r>
          </a:p>
          <a:p>
            <a:pPr algn="l" eaLnBrk="1" hangingPunct="1">
              <a:buClrTx/>
              <a:buFontTx/>
              <a:buNone/>
            </a:pPr>
            <a:r>
              <a:rPr lang="en-US" altLang="zh-CN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</a:t>
            </a:r>
            <a:r>
              <a:rPr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．直线与平面相交</a:t>
            </a:r>
          </a:p>
        </p:txBody>
      </p:sp>
      <p:sp>
        <p:nvSpPr>
          <p:cNvPr id="107615" name="Text Box 95"/>
          <p:cNvSpPr txBox="1">
            <a:spLocks noChangeArrowheads="1"/>
          </p:cNvSpPr>
          <p:nvPr/>
        </p:nvSpPr>
        <p:spPr bwMode="auto">
          <a:xfrm>
            <a:off x="469900" y="3105150"/>
            <a:ext cx="936625" cy="4953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33CC"/>
            </a:solidFill>
            <a:miter lim="800000"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例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:</a:t>
            </a:r>
          </a:p>
        </p:txBody>
      </p:sp>
      <p:sp>
        <p:nvSpPr>
          <p:cNvPr id="107619" name="Text Box 99"/>
          <p:cNvSpPr txBox="1">
            <a:spLocks noChangeArrowheads="1"/>
          </p:cNvSpPr>
          <p:nvPr/>
        </p:nvSpPr>
        <p:spPr bwMode="auto">
          <a:xfrm>
            <a:off x="835025" y="2181225"/>
            <a:ext cx="799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穿点：直线与平面的交点。穿点是公有点，也是分界点。</a:t>
            </a:r>
          </a:p>
        </p:txBody>
      </p:sp>
      <p:sp>
        <p:nvSpPr>
          <p:cNvPr id="107620" name="Text Box 100"/>
          <p:cNvSpPr txBox="1">
            <a:spLocks noChangeArrowheads="1"/>
          </p:cNvSpPr>
          <p:nvPr/>
        </p:nvSpPr>
        <p:spPr bwMode="auto">
          <a:xfrm>
            <a:off x="5488034" y="4586358"/>
            <a:ext cx="1435008" cy="70788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000" dirty="0">
                <a:solidFill>
                  <a:srgbClr val="333333"/>
                </a:solidFill>
                <a:ea typeface="黑体" pitchFamily="2" charset="-122"/>
                <a:sym typeface="Symbol" pitchFamily="18" charset="2"/>
              </a:rPr>
              <a:t>  </a:t>
            </a:r>
            <a:r>
              <a:rPr lang="zh-CN" altLang="en-US" sz="2000" dirty="0">
                <a:solidFill>
                  <a:srgbClr val="333333"/>
                </a:solidFill>
                <a:ea typeface="黑体" pitchFamily="2" charset="-122"/>
                <a:sym typeface="Symbol" pitchFamily="18" charset="2"/>
              </a:rPr>
              <a:t>面上画线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000" dirty="0">
                <a:solidFill>
                  <a:srgbClr val="333333"/>
                </a:solidFill>
                <a:ea typeface="黑体" pitchFamily="2" charset="-122"/>
                <a:sym typeface="Symbol" pitchFamily="18" charset="2"/>
              </a:rPr>
              <a:t>  线</a:t>
            </a:r>
            <a:r>
              <a:rPr lang="zh-CN" altLang="en-US" sz="2000" dirty="0" smtClean="0">
                <a:solidFill>
                  <a:srgbClr val="333333"/>
                </a:solidFill>
                <a:ea typeface="黑体" pitchFamily="2" charset="-122"/>
                <a:sym typeface="Symbol" pitchFamily="18" charset="2"/>
              </a:rPr>
              <a:t>上定点</a:t>
            </a:r>
            <a:endParaRPr lang="zh-CN" altLang="en-US" sz="2000" dirty="0">
              <a:solidFill>
                <a:srgbClr val="333333"/>
              </a:solidFill>
              <a:ea typeface="黑体" pitchFamily="2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2061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6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7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7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07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7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7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7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7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07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07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07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7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107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7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7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07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7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07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0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0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07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0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07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07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07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1075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0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10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07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0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107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0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107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animBg="1"/>
      <p:bldP spid="107541" grpId="0"/>
      <p:bldP spid="107543" grpId="0" animBg="1"/>
      <p:bldP spid="107544" grpId="0" autoUpdateAnimBg="0"/>
      <p:bldP spid="107545" grpId="0" autoUpdateAnimBg="0"/>
      <p:bldP spid="107546" grpId="0" animBg="1"/>
      <p:bldP spid="107547" grpId="0" animBg="1"/>
      <p:bldP spid="107548" grpId="0" autoUpdateAnimBg="0"/>
      <p:bldP spid="107549" grpId="0" autoUpdateAnimBg="0"/>
      <p:bldP spid="107550" grpId="0" autoUpdateAnimBg="0"/>
      <p:bldP spid="107551" grpId="0" autoUpdateAnimBg="0"/>
      <p:bldP spid="107552" grpId="0" autoUpdateAnimBg="0"/>
      <p:bldP spid="107553" grpId="0" autoUpdateAnimBg="0"/>
      <p:bldP spid="107554" grpId="0" autoUpdateAnimBg="0"/>
      <p:bldP spid="107555" grpId="0" animBg="1"/>
      <p:bldP spid="107556" grpId="0" animBg="1"/>
      <p:bldP spid="107557" grpId="0" animBg="1"/>
      <p:bldP spid="107558" grpId="0" animBg="1"/>
      <p:bldP spid="107559" grpId="0" animBg="1"/>
      <p:bldP spid="107560" grpId="0" autoUpdateAnimBg="0"/>
      <p:bldP spid="107561" grpId="0" autoUpdateAnimBg="0"/>
      <p:bldP spid="107562" grpId="0" animBg="1"/>
      <p:bldP spid="107563" grpId="0" animBg="1"/>
      <p:bldP spid="107564" grpId="0" animBg="1"/>
      <p:bldP spid="107565" grpId="0" animBg="1"/>
      <p:bldP spid="107566" grpId="0"/>
      <p:bldP spid="107613" grpId="0" animBg="1"/>
      <p:bldP spid="107614" grpId="0" build="p" autoUpdateAnimBg="0"/>
      <p:bldP spid="107615" grpId="0" animBg="1" autoUpdateAnimBg="0"/>
      <p:bldP spid="107619" grpId="0" build="p" autoUpdateAnimBg="0"/>
      <p:bldP spid="107620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726DA7-13F5-4448-A692-9122A80243BC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21</a:t>
            </a:fld>
            <a:endParaRPr lang="en-US" altLang="zh-CN">
              <a:solidFill>
                <a:srgbClr val="578963"/>
              </a:solidFill>
            </a:endParaRP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1673225" y="2762250"/>
            <a:ext cx="3451225" cy="458788"/>
            <a:chOff x="2878" y="2025"/>
            <a:chExt cx="2174" cy="289"/>
          </a:xfrm>
        </p:grpSpPr>
        <p:sp>
          <p:nvSpPr>
            <p:cNvPr id="5169" name="Line 48"/>
            <p:cNvSpPr>
              <a:spLocks noChangeShapeType="1"/>
            </p:cNvSpPr>
            <p:nvPr/>
          </p:nvSpPr>
          <p:spPr bwMode="auto">
            <a:xfrm>
              <a:off x="3115" y="2280"/>
              <a:ext cx="17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70" name="Text Box 49"/>
            <p:cNvSpPr txBox="1">
              <a:spLocks noChangeArrowheads="1"/>
            </p:cNvSpPr>
            <p:nvPr/>
          </p:nvSpPr>
          <p:spPr bwMode="auto">
            <a:xfrm>
              <a:off x="2878" y="2026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X </a:t>
              </a:r>
              <a:endParaRPr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71" name="Text Box 50"/>
            <p:cNvSpPr txBox="1">
              <a:spLocks noChangeArrowheads="1"/>
            </p:cNvSpPr>
            <p:nvPr/>
          </p:nvSpPr>
          <p:spPr bwMode="auto">
            <a:xfrm>
              <a:off x="4756" y="2025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O </a:t>
              </a:r>
            </a:p>
          </p:txBody>
        </p:sp>
      </p:grp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2498725" y="1247775"/>
            <a:ext cx="1643063" cy="3346450"/>
            <a:chOff x="3398" y="1071"/>
            <a:chExt cx="1035" cy="2108"/>
          </a:xfrm>
        </p:grpSpPr>
        <p:sp>
          <p:nvSpPr>
            <p:cNvPr id="5158" name="Line 52"/>
            <p:cNvSpPr>
              <a:spLocks noChangeShapeType="1"/>
            </p:cNvSpPr>
            <p:nvPr/>
          </p:nvSpPr>
          <p:spPr bwMode="auto">
            <a:xfrm>
              <a:off x="3756" y="1446"/>
              <a:ext cx="260" cy="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59" name="Line 53"/>
            <p:cNvSpPr>
              <a:spLocks noChangeShapeType="1"/>
            </p:cNvSpPr>
            <p:nvPr/>
          </p:nvSpPr>
          <p:spPr bwMode="auto">
            <a:xfrm flipH="1">
              <a:off x="3636" y="2598"/>
              <a:ext cx="552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60" name="Line 54"/>
            <p:cNvSpPr>
              <a:spLocks noChangeShapeType="1"/>
            </p:cNvSpPr>
            <p:nvPr/>
          </p:nvSpPr>
          <p:spPr bwMode="auto">
            <a:xfrm>
              <a:off x="3636" y="1266"/>
              <a:ext cx="0" cy="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61" name="Line 55"/>
            <p:cNvSpPr>
              <a:spLocks noChangeShapeType="1"/>
            </p:cNvSpPr>
            <p:nvPr/>
          </p:nvSpPr>
          <p:spPr bwMode="auto">
            <a:xfrm>
              <a:off x="4188" y="2154"/>
              <a:ext cx="0" cy="4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62" name="Line 56"/>
            <p:cNvSpPr>
              <a:spLocks noChangeShapeType="1"/>
            </p:cNvSpPr>
            <p:nvPr/>
          </p:nvSpPr>
          <p:spPr bwMode="auto">
            <a:xfrm>
              <a:off x="3636" y="1246"/>
              <a:ext cx="116" cy="1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63" name="Line 57"/>
            <p:cNvSpPr>
              <a:spLocks noChangeShapeType="1"/>
            </p:cNvSpPr>
            <p:nvPr/>
          </p:nvSpPr>
          <p:spPr bwMode="auto">
            <a:xfrm>
              <a:off x="4016" y="1874"/>
              <a:ext cx="172" cy="2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64" name="Text Box 58"/>
            <p:cNvSpPr txBox="1">
              <a:spLocks noChangeArrowheads="1"/>
            </p:cNvSpPr>
            <p:nvPr/>
          </p:nvSpPr>
          <p:spPr bwMode="auto">
            <a:xfrm>
              <a:off x="3425" y="1071"/>
              <a:ext cx="3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d'</a:t>
              </a:r>
              <a:endParaRPr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65" name="Text Box 59"/>
            <p:cNvSpPr txBox="1">
              <a:spLocks noChangeArrowheads="1"/>
            </p:cNvSpPr>
            <p:nvPr/>
          </p:nvSpPr>
          <p:spPr bwMode="auto">
            <a:xfrm>
              <a:off x="4075" y="2067"/>
              <a:ext cx="3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e'</a:t>
              </a:r>
              <a:endParaRPr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66" name="Text Box 60"/>
            <p:cNvSpPr txBox="1">
              <a:spLocks noChangeArrowheads="1"/>
            </p:cNvSpPr>
            <p:nvPr/>
          </p:nvSpPr>
          <p:spPr bwMode="auto">
            <a:xfrm>
              <a:off x="3398" y="2929"/>
              <a:ext cx="2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d</a:t>
              </a:r>
              <a:endParaRPr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67" name="Text Box 61"/>
            <p:cNvSpPr txBox="1">
              <a:spLocks noChangeArrowheads="1"/>
            </p:cNvSpPr>
            <p:nvPr/>
          </p:nvSpPr>
          <p:spPr bwMode="auto">
            <a:xfrm>
              <a:off x="4140" y="2425"/>
              <a:ext cx="2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e</a:t>
              </a:r>
              <a:endParaRPr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68" name="Line 62"/>
            <p:cNvSpPr>
              <a:spLocks noChangeShapeType="1"/>
            </p:cNvSpPr>
            <p:nvPr/>
          </p:nvSpPr>
          <p:spPr bwMode="auto">
            <a:xfrm>
              <a:off x="3636" y="2802"/>
              <a:ext cx="0" cy="2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</p:grpSp>
      <p:grpSp>
        <p:nvGrpSpPr>
          <p:cNvPr id="4" name="Group 63"/>
          <p:cNvGrpSpPr>
            <a:grpSpLocks/>
          </p:cNvGrpSpPr>
          <p:nvPr/>
        </p:nvGrpSpPr>
        <p:grpSpPr bwMode="auto">
          <a:xfrm>
            <a:off x="2241550" y="1196975"/>
            <a:ext cx="2255838" cy="3348038"/>
            <a:chOff x="3236" y="1039"/>
            <a:chExt cx="1421" cy="2109"/>
          </a:xfrm>
        </p:grpSpPr>
        <p:sp>
          <p:nvSpPr>
            <p:cNvPr id="5146" name="Text Box 64"/>
            <p:cNvSpPr txBox="1">
              <a:spLocks noChangeArrowheads="1"/>
            </p:cNvSpPr>
            <p:nvPr/>
          </p:nvSpPr>
          <p:spPr bwMode="auto">
            <a:xfrm>
              <a:off x="3236" y="2469"/>
              <a:ext cx="3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a</a:t>
              </a:r>
              <a:endParaRPr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47" name="Text Box 65"/>
            <p:cNvSpPr txBox="1">
              <a:spLocks noChangeArrowheads="1"/>
            </p:cNvSpPr>
            <p:nvPr/>
          </p:nvSpPr>
          <p:spPr bwMode="auto">
            <a:xfrm>
              <a:off x="4266" y="2898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c</a:t>
              </a:r>
              <a:endParaRPr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48" name="Text Box 66"/>
            <p:cNvSpPr txBox="1">
              <a:spLocks noChangeArrowheads="1"/>
            </p:cNvSpPr>
            <p:nvPr/>
          </p:nvSpPr>
          <p:spPr bwMode="auto">
            <a:xfrm>
              <a:off x="3960" y="2663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b</a:t>
              </a:r>
              <a:endParaRPr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49" name="Freeform 67"/>
            <p:cNvSpPr>
              <a:spLocks/>
            </p:cNvSpPr>
            <p:nvPr/>
          </p:nvSpPr>
          <p:spPr bwMode="auto">
            <a:xfrm>
              <a:off x="3510" y="1206"/>
              <a:ext cx="852" cy="822"/>
            </a:xfrm>
            <a:custGeom>
              <a:avLst/>
              <a:gdLst>
                <a:gd name="T0" fmla="*/ 0 w 852"/>
                <a:gd name="T1" fmla="*/ 450 h 822"/>
                <a:gd name="T2" fmla="*/ 510 w 852"/>
                <a:gd name="T3" fmla="*/ 0 h 822"/>
                <a:gd name="T4" fmla="*/ 852 w 852"/>
                <a:gd name="T5" fmla="*/ 822 h 822"/>
                <a:gd name="T6" fmla="*/ 0 w 852"/>
                <a:gd name="T7" fmla="*/ 450 h 8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822"/>
                <a:gd name="T14" fmla="*/ 852 w 852"/>
                <a:gd name="T15" fmla="*/ 822 h 8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822">
                  <a:moveTo>
                    <a:pt x="0" y="450"/>
                  </a:moveTo>
                  <a:lnTo>
                    <a:pt x="510" y="0"/>
                  </a:lnTo>
                  <a:lnTo>
                    <a:pt x="852" y="822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50" name="Line 68"/>
            <p:cNvSpPr>
              <a:spLocks noChangeShapeType="1"/>
            </p:cNvSpPr>
            <p:nvPr/>
          </p:nvSpPr>
          <p:spPr bwMode="auto">
            <a:xfrm flipV="1">
              <a:off x="3508" y="1650"/>
              <a:ext cx="0" cy="9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51" name="Line 69"/>
            <p:cNvSpPr>
              <a:spLocks noChangeShapeType="1"/>
            </p:cNvSpPr>
            <p:nvPr/>
          </p:nvSpPr>
          <p:spPr bwMode="auto">
            <a:xfrm flipV="1">
              <a:off x="4016" y="1214"/>
              <a:ext cx="0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52" name="Line 70"/>
            <p:cNvSpPr>
              <a:spLocks noChangeShapeType="1"/>
            </p:cNvSpPr>
            <p:nvPr/>
          </p:nvSpPr>
          <p:spPr bwMode="auto">
            <a:xfrm flipV="1">
              <a:off x="4360" y="2042"/>
              <a:ext cx="0" cy="9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53" name="Line 71"/>
            <p:cNvSpPr>
              <a:spLocks noChangeShapeType="1"/>
            </p:cNvSpPr>
            <p:nvPr/>
          </p:nvSpPr>
          <p:spPr bwMode="auto">
            <a:xfrm>
              <a:off x="3508" y="2606"/>
              <a:ext cx="858" cy="3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54" name="Text Box 72"/>
            <p:cNvSpPr txBox="1">
              <a:spLocks noChangeArrowheads="1"/>
            </p:cNvSpPr>
            <p:nvPr/>
          </p:nvSpPr>
          <p:spPr bwMode="auto">
            <a:xfrm>
              <a:off x="3251" y="1473"/>
              <a:ext cx="3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a'</a:t>
              </a:r>
              <a:endParaRPr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55" name="Text Box 73"/>
            <p:cNvSpPr txBox="1">
              <a:spLocks noChangeArrowheads="1"/>
            </p:cNvSpPr>
            <p:nvPr/>
          </p:nvSpPr>
          <p:spPr bwMode="auto">
            <a:xfrm>
              <a:off x="4075" y="1039"/>
              <a:ext cx="3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b'</a:t>
              </a:r>
              <a:endParaRPr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56" name="Text Box 74"/>
            <p:cNvSpPr txBox="1">
              <a:spLocks noChangeArrowheads="1"/>
            </p:cNvSpPr>
            <p:nvPr/>
          </p:nvSpPr>
          <p:spPr bwMode="auto">
            <a:xfrm>
              <a:off x="4307" y="1829"/>
              <a:ext cx="3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c'</a:t>
              </a:r>
              <a:endParaRPr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5157" name="Line 75"/>
            <p:cNvSpPr>
              <a:spLocks noChangeShapeType="1"/>
            </p:cNvSpPr>
            <p:nvPr/>
          </p:nvSpPr>
          <p:spPr bwMode="auto">
            <a:xfrm flipV="1">
              <a:off x="4016" y="2770"/>
              <a:ext cx="0" cy="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</p:grpSp>
      <p:sp>
        <p:nvSpPr>
          <p:cNvPr id="131148" name="Line 76"/>
          <p:cNvSpPr>
            <a:spLocks noChangeShapeType="1"/>
          </p:cNvSpPr>
          <p:nvPr/>
        </p:nvSpPr>
        <p:spPr bwMode="auto">
          <a:xfrm flipV="1">
            <a:off x="3327400" y="3148013"/>
            <a:ext cx="0" cy="83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1149" name="Text Box 77"/>
          <p:cNvSpPr txBox="1">
            <a:spLocks noChangeArrowheads="1"/>
          </p:cNvSpPr>
          <p:nvPr/>
        </p:nvSpPr>
        <p:spPr bwMode="auto">
          <a:xfrm>
            <a:off x="3133725" y="4000500"/>
            <a:ext cx="404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k </a:t>
            </a:r>
          </a:p>
        </p:txBody>
      </p:sp>
      <p:sp>
        <p:nvSpPr>
          <p:cNvPr id="131150" name="AutoShape 78"/>
          <p:cNvSpPr>
            <a:spLocks noChangeArrowheads="1"/>
          </p:cNvSpPr>
          <p:nvPr/>
        </p:nvSpPr>
        <p:spPr bwMode="auto">
          <a:xfrm>
            <a:off x="3287713" y="3946525"/>
            <a:ext cx="74612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1151" name="Line 79"/>
          <p:cNvSpPr>
            <a:spLocks noChangeShapeType="1"/>
          </p:cNvSpPr>
          <p:nvPr/>
        </p:nvSpPr>
        <p:spPr bwMode="auto">
          <a:xfrm flipV="1">
            <a:off x="3327400" y="2278063"/>
            <a:ext cx="0" cy="895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1152" name="AutoShape 80"/>
          <p:cNvSpPr>
            <a:spLocks noChangeArrowheads="1"/>
          </p:cNvSpPr>
          <p:nvPr/>
        </p:nvSpPr>
        <p:spPr bwMode="auto">
          <a:xfrm>
            <a:off x="3289300" y="2227263"/>
            <a:ext cx="74613" cy="746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1153" name="Text Box 81"/>
          <p:cNvSpPr txBox="1">
            <a:spLocks noChangeArrowheads="1"/>
          </p:cNvSpPr>
          <p:nvPr/>
        </p:nvSpPr>
        <p:spPr bwMode="auto">
          <a:xfrm>
            <a:off x="3217863" y="1933575"/>
            <a:ext cx="574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k'</a:t>
            </a:r>
          </a:p>
        </p:txBody>
      </p:sp>
      <p:sp>
        <p:nvSpPr>
          <p:cNvPr id="131154" name="Text Box 82"/>
          <p:cNvSpPr txBox="1">
            <a:spLocks noChangeArrowheads="1"/>
          </p:cNvSpPr>
          <p:nvPr/>
        </p:nvSpPr>
        <p:spPr bwMode="auto">
          <a:xfrm>
            <a:off x="2105025" y="1641475"/>
            <a:ext cx="1028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1’ 2’</a:t>
            </a:r>
          </a:p>
        </p:txBody>
      </p:sp>
      <p:sp>
        <p:nvSpPr>
          <p:cNvPr id="131155" name="Line 83"/>
          <p:cNvSpPr>
            <a:spLocks noChangeShapeType="1"/>
          </p:cNvSpPr>
          <p:nvPr/>
        </p:nvSpPr>
        <p:spPr bwMode="auto">
          <a:xfrm>
            <a:off x="3059113" y="1831975"/>
            <a:ext cx="0" cy="1358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1156" name="Line 84"/>
          <p:cNvSpPr>
            <a:spLocks noChangeShapeType="1"/>
          </p:cNvSpPr>
          <p:nvPr/>
        </p:nvSpPr>
        <p:spPr bwMode="auto">
          <a:xfrm>
            <a:off x="3060700" y="3167063"/>
            <a:ext cx="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1157" name="Text Box 85"/>
          <p:cNvSpPr txBox="1">
            <a:spLocks noChangeArrowheads="1"/>
          </p:cNvSpPr>
          <p:nvPr/>
        </p:nvSpPr>
        <p:spPr bwMode="auto">
          <a:xfrm>
            <a:off x="2916238" y="3565525"/>
            <a:ext cx="390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1</a:t>
            </a:r>
          </a:p>
        </p:txBody>
      </p:sp>
      <p:sp>
        <p:nvSpPr>
          <p:cNvPr id="131158" name="Line 86"/>
          <p:cNvSpPr>
            <a:spLocks noChangeShapeType="1"/>
          </p:cNvSpPr>
          <p:nvPr/>
        </p:nvSpPr>
        <p:spPr bwMode="auto">
          <a:xfrm>
            <a:off x="3060700" y="3859213"/>
            <a:ext cx="0" cy="33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1159" name="Text Box 87"/>
          <p:cNvSpPr txBox="1">
            <a:spLocks noChangeArrowheads="1"/>
          </p:cNvSpPr>
          <p:nvPr/>
        </p:nvSpPr>
        <p:spPr bwMode="auto">
          <a:xfrm>
            <a:off x="2832100" y="4168775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2</a:t>
            </a:r>
            <a:endParaRPr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1160" name="Text Box 88"/>
          <p:cNvSpPr txBox="1">
            <a:spLocks noChangeArrowheads="1"/>
          </p:cNvSpPr>
          <p:nvPr/>
        </p:nvSpPr>
        <p:spPr bwMode="auto">
          <a:xfrm>
            <a:off x="1982788" y="1604963"/>
            <a:ext cx="96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( )</a:t>
            </a:r>
            <a:endParaRPr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1161" name="Line 89"/>
          <p:cNvSpPr>
            <a:spLocks noChangeShapeType="1"/>
          </p:cNvSpPr>
          <p:nvPr/>
        </p:nvSpPr>
        <p:spPr bwMode="auto">
          <a:xfrm>
            <a:off x="3067050" y="1839913"/>
            <a:ext cx="241300" cy="387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1162" name="Text Box 90"/>
          <p:cNvSpPr txBox="1">
            <a:spLocks noChangeArrowheads="1"/>
          </p:cNvSpPr>
          <p:nvPr/>
        </p:nvSpPr>
        <p:spPr bwMode="auto">
          <a:xfrm>
            <a:off x="5294313" y="1763713"/>
            <a:ext cx="3556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△⊥</a:t>
            </a:r>
            <a:r>
              <a:rPr lang="en-US" altLang="zh-CN" sz="2400" i="1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H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: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水平投影的交点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  即交点</a:t>
            </a:r>
            <a:endParaRPr lang="zh-CN" altLang="en-US" sz="240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31163" name="Text Box 91"/>
          <p:cNvSpPr txBox="1">
            <a:spLocks noChangeArrowheads="1"/>
          </p:cNvSpPr>
          <p:nvPr/>
        </p:nvSpPr>
        <p:spPr bwMode="auto">
          <a:xfrm>
            <a:off x="5424488" y="2936875"/>
            <a:ext cx="3397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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zh-CN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线上找点</a:t>
            </a:r>
            <a:endParaRPr lang="zh-CN" altLang="en-US" sz="240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31164" name="Text Box 92"/>
          <p:cNvSpPr txBox="1">
            <a:spLocks noChangeArrowheads="1"/>
          </p:cNvSpPr>
          <p:nvPr/>
        </p:nvSpPr>
        <p:spPr bwMode="auto">
          <a:xfrm>
            <a:off x="5422900" y="3582988"/>
            <a:ext cx="3398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 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判断可见性</a:t>
            </a:r>
          </a:p>
        </p:txBody>
      </p:sp>
      <p:sp>
        <p:nvSpPr>
          <p:cNvPr id="131168" name="Text Box 96"/>
          <p:cNvSpPr txBox="1">
            <a:spLocks noChangeArrowheads="1"/>
          </p:cNvSpPr>
          <p:nvPr/>
        </p:nvSpPr>
        <p:spPr bwMode="auto">
          <a:xfrm>
            <a:off x="1379538" y="1152525"/>
            <a:ext cx="679450" cy="4953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33CC"/>
            </a:solidFill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例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:</a:t>
            </a:r>
          </a:p>
        </p:txBody>
      </p:sp>
      <p:sp>
        <p:nvSpPr>
          <p:cNvPr id="131169" name="Line 97"/>
          <p:cNvSpPr>
            <a:spLocks noChangeShapeType="1"/>
          </p:cNvSpPr>
          <p:nvPr/>
        </p:nvSpPr>
        <p:spPr bwMode="auto">
          <a:xfrm>
            <a:off x="3343275" y="2303463"/>
            <a:ext cx="117475" cy="18415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1170" name="Line 98"/>
          <p:cNvSpPr>
            <a:spLocks noChangeShapeType="1"/>
          </p:cNvSpPr>
          <p:nvPr/>
        </p:nvSpPr>
        <p:spPr bwMode="auto">
          <a:xfrm>
            <a:off x="3346450" y="2293938"/>
            <a:ext cx="133350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5906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3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3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3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3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3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3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3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3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3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3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3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3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148" grpId="0" animBg="1"/>
      <p:bldP spid="131149" grpId="0" autoUpdateAnimBg="0"/>
      <p:bldP spid="131150" grpId="0" animBg="1"/>
      <p:bldP spid="131151" grpId="0" animBg="1"/>
      <p:bldP spid="131152" grpId="0" animBg="1"/>
      <p:bldP spid="131153" grpId="0" autoUpdateAnimBg="0"/>
      <p:bldP spid="131154" grpId="0" autoUpdateAnimBg="0"/>
      <p:bldP spid="131155" grpId="0" animBg="1"/>
      <p:bldP spid="131156" grpId="0" animBg="1"/>
      <p:bldP spid="131157" grpId="0" autoUpdateAnimBg="0"/>
      <p:bldP spid="131158" grpId="0" animBg="1"/>
      <p:bldP spid="131159" grpId="0" autoUpdateAnimBg="0"/>
      <p:bldP spid="131160" grpId="0" autoUpdateAnimBg="0"/>
      <p:bldP spid="131161" grpId="0" animBg="1"/>
      <p:bldP spid="131162" grpId="0"/>
      <p:bldP spid="131163" grpId="0"/>
      <p:bldP spid="131164" grpId="0"/>
      <p:bldP spid="131168" grpId="0" animBg="1" autoUpdateAnimBg="0"/>
      <p:bldP spid="131169" grpId="0" animBg="1"/>
      <p:bldP spid="13117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92925" y="6389688"/>
            <a:ext cx="1905000" cy="457200"/>
          </a:xfrm>
        </p:spPr>
        <p:txBody>
          <a:bodyPr/>
          <a:lstStyle/>
          <a:p>
            <a:pPr>
              <a:defRPr/>
            </a:pPr>
            <a:fld id="{D0129DCA-B4D7-43AE-AEDE-867AD0F82214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22</a:t>
            </a:fld>
            <a:endParaRPr lang="en-US" altLang="zh-CN" dirty="0">
              <a:solidFill>
                <a:srgbClr val="578963"/>
              </a:solidFill>
            </a:endParaRPr>
          </a:p>
        </p:txBody>
      </p:sp>
      <p:sp>
        <p:nvSpPr>
          <p:cNvPr id="108546" name="Freeform 2"/>
          <p:cNvSpPr>
            <a:spLocks/>
          </p:cNvSpPr>
          <p:nvPr/>
        </p:nvSpPr>
        <p:spPr bwMode="auto">
          <a:xfrm flipH="1">
            <a:off x="1733550" y="3276600"/>
            <a:ext cx="1174750" cy="1155700"/>
          </a:xfrm>
          <a:custGeom>
            <a:avLst/>
            <a:gdLst>
              <a:gd name="T0" fmla="*/ 0 w 780"/>
              <a:gd name="T1" fmla="*/ 493950625 h 832"/>
              <a:gd name="T2" fmla="*/ 1769278926 w 780"/>
              <a:gd name="T3" fmla="*/ 0 h 832"/>
              <a:gd name="T4" fmla="*/ 1769278926 w 780"/>
              <a:gd name="T5" fmla="*/ 1103671275 h 832"/>
              <a:gd name="T6" fmla="*/ 0 w 780"/>
              <a:gd name="T7" fmla="*/ 1605339531 h 832"/>
              <a:gd name="T8" fmla="*/ 0 w 780"/>
              <a:gd name="T9" fmla="*/ 493950625 h 8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80"/>
              <a:gd name="T16" fmla="*/ 0 h 832"/>
              <a:gd name="T17" fmla="*/ 780 w 780"/>
              <a:gd name="T18" fmla="*/ 832 h 8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80" h="832">
                <a:moveTo>
                  <a:pt x="0" y="256"/>
                </a:moveTo>
                <a:lnTo>
                  <a:pt x="780" y="0"/>
                </a:lnTo>
                <a:lnTo>
                  <a:pt x="780" y="572"/>
                </a:lnTo>
                <a:lnTo>
                  <a:pt x="0" y="832"/>
                </a:lnTo>
                <a:lnTo>
                  <a:pt x="0" y="256"/>
                </a:ln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lgDashDotDot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47" name="Freeform 3"/>
          <p:cNvSpPr>
            <a:spLocks/>
          </p:cNvSpPr>
          <p:nvPr/>
        </p:nvSpPr>
        <p:spPr bwMode="auto">
          <a:xfrm>
            <a:off x="1428750" y="3309938"/>
            <a:ext cx="1752600" cy="895350"/>
          </a:xfrm>
          <a:custGeom>
            <a:avLst/>
            <a:gdLst>
              <a:gd name="T0" fmla="*/ 2147483647 w 1104"/>
              <a:gd name="T1" fmla="*/ 1272210381 h 568"/>
              <a:gd name="T2" fmla="*/ 1774190000 w 1104"/>
              <a:gd name="T3" fmla="*/ 0 h 568"/>
              <a:gd name="T4" fmla="*/ 0 w 1104"/>
              <a:gd name="T5" fmla="*/ 1411358490 h 568"/>
              <a:gd name="T6" fmla="*/ 2147483647 w 1104"/>
              <a:gd name="T7" fmla="*/ 1272210381 h 568"/>
              <a:gd name="T8" fmla="*/ 0 60000 65536"/>
              <a:gd name="T9" fmla="*/ 0 60000 65536"/>
              <a:gd name="T10" fmla="*/ 0 60000 65536"/>
              <a:gd name="T11" fmla="*/ 0 60000 65536"/>
              <a:gd name="T12" fmla="*/ 0 w 1104"/>
              <a:gd name="T13" fmla="*/ 0 h 568"/>
              <a:gd name="T14" fmla="*/ 1104 w 1104"/>
              <a:gd name="T15" fmla="*/ 568 h 5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04" h="568">
                <a:moveTo>
                  <a:pt x="1104" y="512"/>
                </a:moveTo>
                <a:lnTo>
                  <a:pt x="704" y="0"/>
                </a:lnTo>
                <a:lnTo>
                  <a:pt x="0" y="568"/>
                </a:lnTo>
                <a:lnTo>
                  <a:pt x="1104" y="512"/>
                </a:ln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lgDashDotDot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48" name="Line 4"/>
          <p:cNvSpPr>
            <a:spLocks noChangeShapeType="1"/>
          </p:cNvSpPr>
          <p:nvPr/>
        </p:nvSpPr>
        <p:spPr bwMode="auto">
          <a:xfrm>
            <a:off x="2270125" y="3143250"/>
            <a:ext cx="0" cy="162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49" name="Rectangle 5"/>
          <p:cNvSpPr>
            <a:spLocks noChangeArrowheads="1"/>
          </p:cNvSpPr>
          <p:nvPr/>
        </p:nvSpPr>
        <p:spPr bwMode="auto">
          <a:xfrm>
            <a:off x="396875" y="0"/>
            <a:ext cx="323056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66750" y="2738438"/>
            <a:ext cx="3409950" cy="458787"/>
            <a:chOff x="420" y="1701"/>
            <a:chExt cx="2148" cy="289"/>
          </a:xfrm>
        </p:grpSpPr>
        <p:sp>
          <p:nvSpPr>
            <p:cNvPr id="6236" name="Text Box 7"/>
            <p:cNvSpPr txBox="1">
              <a:spLocks noChangeArrowheads="1"/>
            </p:cNvSpPr>
            <p:nvPr/>
          </p:nvSpPr>
          <p:spPr bwMode="auto">
            <a:xfrm>
              <a:off x="420" y="170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X </a:t>
              </a:r>
            </a:p>
          </p:txBody>
        </p:sp>
        <p:sp>
          <p:nvSpPr>
            <p:cNvPr id="6237" name="Text Box 8"/>
            <p:cNvSpPr txBox="1">
              <a:spLocks noChangeArrowheads="1"/>
            </p:cNvSpPr>
            <p:nvPr/>
          </p:nvSpPr>
          <p:spPr bwMode="auto">
            <a:xfrm>
              <a:off x="2272" y="1701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O </a:t>
              </a:r>
              <a:endParaRPr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38" name="Line 9"/>
            <p:cNvSpPr>
              <a:spLocks noChangeShapeType="1"/>
            </p:cNvSpPr>
            <p:nvPr/>
          </p:nvSpPr>
          <p:spPr bwMode="auto">
            <a:xfrm>
              <a:off x="595" y="1956"/>
              <a:ext cx="17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</p:grpSp>
      <p:sp>
        <p:nvSpPr>
          <p:cNvPr id="6152" name="Rectangle 10"/>
          <p:cNvSpPr>
            <a:spLocks noChangeArrowheads="1"/>
          </p:cNvSpPr>
          <p:nvPr/>
        </p:nvSpPr>
        <p:spPr bwMode="auto">
          <a:xfrm>
            <a:off x="230188" y="260350"/>
            <a:ext cx="37861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</a:t>
            </a:r>
            <a:r>
              <a:rPr lang="zh-CN" altLang="en-US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．平面与平面相交</a:t>
            </a:r>
          </a:p>
        </p:txBody>
      </p:sp>
      <p:sp>
        <p:nvSpPr>
          <p:cNvPr id="108555" name="Line 11"/>
          <p:cNvSpPr>
            <a:spLocks noChangeShapeType="1"/>
          </p:cNvSpPr>
          <p:nvPr/>
        </p:nvSpPr>
        <p:spPr bwMode="auto">
          <a:xfrm>
            <a:off x="2270125" y="2301875"/>
            <a:ext cx="0" cy="869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56" name="Line 12"/>
          <p:cNvSpPr>
            <a:spLocks noChangeShapeType="1"/>
          </p:cNvSpPr>
          <p:nvPr/>
        </p:nvSpPr>
        <p:spPr bwMode="auto">
          <a:xfrm>
            <a:off x="2270125" y="3143250"/>
            <a:ext cx="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57" name="Freeform 13"/>
          <p:cNvSpPr>
            <a:spLocks/>
          </p:cNvSpPr>
          <p:nvPr/>
        </p:nvSpPr>
        <p:spPr bwMode="auto">
          <a:xfrm>
            <a:off x="2368550" y="3321050"/>
            <a:ext cx="374650" cy="260350"/>
          </a:xfrm>
          <a:custGeom>
            <a:avLst/>
            <a:gdLst>
              <a:gd name="T0" fmla="*/ 0 w 236"/>
              <a:gd name="T1" fmla="*/ 231854375 h 164"/>
              <a:gd name="T2" fmla="*/ 272176875 w 236"/>
              <a:gd name="T3" fmla="*/ 0 h 164"/>
              <a:gd name="T4" fmla="*/ 594756875 w 236"/>
              <a:gd name="T5" fmla="*/ 413305625 h 164"/>
              <a:gd name="T6" fmla="*/ 0 60000 65536"/>
              <a:gd name="T7" fmla="*/ 0 60000 65536"/>
              <a:gd name="T8" fmla="*/ 0 60000 65536"/>
              <a:gd name="T9" fmla="*/ 0 w 236"/>
              <a:gd name="T10" fmla="*/ 0 h 164"/>
              <a:gd name="T11" fmla="*/ 236 w 236"/>
              <a:gd name="T12" fmla="*/ 164 h 1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6" h="164">
                <a:moveTo>
                  <a:pt x="0" y="92"/>
                </a:moveTo>
                <a:lnTo>
                  <a:pt x="108" y="0"/>
                </a:lnTo>
                <a:lnTo>
                  <a:pt x="236" y="164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58" name="Freeform 14"/>
          <p:cNvSpPr>
            <a:spLocks/>
          </p:cNvSpPr>
          <p:nvPr/>
        </p:nvSpPr>
        <p:spPr bwMode="auto">
          <a:xfrm>
            <a:off x="2890838" y="3746500"/>
            <a:ext cx="292100" cy="384175"/>
          </a:xfrm>
          <a:custGeom>
            <a:avLst/>
            <a:gdLst>
              <a:gd name="T0" fmla="*/ 0 w 172"/>
              <a:gd name="T1" fmla="*/ 0 h 224"/>
              <a:gd name="T2" fmla="*/ 496060523 w 172"/>
              <a:gd name="T3" fmla="*/ 647120492 h 224"/>
              <a:gd name="T4" fmla="*/ 0 w 172"/>
              <a:gd name="T5" fmla="*/ 658885851 h 224"/>
              <a:gd name="T6" fmla="*/ 0 60000 65536"/>
              <a:gd name="T7" fmla="*/ 0 60000 65536"/>
              <a:gd name="T8" fmla="*/ 0 60000 65536"/>
              <a:gd name="T9" fmla="*/ 0 w 172"/>
              <a:gd name="T10" fmla="*/ 0 h 224"/>
              <a:gd name="T11" fmla="*/ 172 w 172"/>
              <a:gd name="T12" fmla="*/ 224 h 2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2" h="224">
                <a:moveTo>
                  <a:pt x="0" y="0"/>
                </a:moveTo>
                <a:lnTo>
                  <a:pt x="172" y="220"/>
                </a:lnTo>
                <a:lnTo>
                  <a:pt x="0" y="224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59" name="Line 15"/>
          <p:cNvSpPr>
            <a:spLocks noChangeShapeType="1"/>
          </p:cNvSpPr>
          <p:nvPr/>
        </p:nvSpPr>
        <p:spPr bwMode="auto">
          <a:xfrm flipV="1">
            <a:off x="2286000" y="3454400"/>
            <a:ext cx="95250" cy="889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60" name="Line 16"/>
          <p:cNvSpPr>
            <a:spLocks noChangeShapeType="1"/>
          </p:cNvSpPr>
          <p:nvPr/>
        </p:nvSpPr>
        <p:spPr bwMode="auto">
          <a:xfrm>
            <a:off x="2740025" y="3563938"/>
            <a:ext cx="184150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61" name="Line 17"/>
          <p:cNvSpPr>
            <a:spLocks noChangeShapeType="1"/>
          </p:cNvSpPr>
          <p:nvPr/>
        </p:nvSpPr>
        <p:spPr bwMode="auto">
          <a:xfrm flipH="1">
            <a:off x="2274888" y="4135438"/>
            <a:ext cx="655637" cy="174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62" name="Freeform 18"/>
          <p:cNvSpPr>
            <a:spLocks/>
          </p:cNvSpPr>
          <p:nvPr/>
        </p:nvSpPr>
        <p:spPr bwMode="auto">
          <a:xfrm>
            <a:off x="1733550" y="3968750"/>
            <a:ext cx="381000" cy="215900"/>
          </a:xfrm>
          <a:custGeom>
            <a:avLst/>
            <a:gdLst>
              <a:gd name="T0" fmla="*/ 0 w 240"/>
              <a:gd name="T1" fmla="*/ 0 h 136"/>
              <a:gd name="T2" fmla="*/ 0 w 240"/>
              <a:gd name="T3" fmla="*/ 161290000 h 136"/>
              <a:gd name="T4" fmla="*/ 604837500 w 240"/>
              <a:gd name="T5" fmla="*/ 342741250 h 136"/>
              <a:gd name="T6" fmla="*/ 0 60000 65536"/>
              <a:gd name="T7" fmla="*/ 0 60000 65536"/>
              <a:gd name="T8" fmla="*/ 0 60000 65536"/>
              <a:gd name="T9" fmla="*/ 0 w 240"/>
              <a:gd name="T10" fmla="*/ 0 h 136"/>
              <a:gd name="T11" fmla="*/ 240 w 240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136">
                <a:moveTo>
                  <a:pt x="0" y="0"/>
                </a:moveTo>
                <a:lnTo>
                  <a:pt x="0" y="64"/>
                </a:lnTo>
                <a:lnTo>
                  <a:pt x="240" y="136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63" name="Text Box 19"/>
          <p:cNvSpPr txBox="1">
            <a:spLocks noChangeArrowheads="1"/>
          </p:cNvSpPr>
          <p:nvPr/>
        </p:nvSpPr>
        <p:spPr bwMode="auto">
          <a:xfrm>
            <a:off x="1517650" y="1811338"/>
            <a:ext cx="1614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k'</a:t>
            </a:r>
            <a:r>
              <a:rPr lang="en-US" altLang="zh-CN" sz="1800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≡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l'</a:t>
            </a:r>
          </a:p>
        </p:txBody>
      </p:sp>
      <p:sp>
        <p:nvSpPr>
          <p:cNvPr id="108564" name="Text Box 20"/>
          <p:cNvSpPr txBox="1">
            <a:spLocks noChangeArrowheads="1"/>
          </p:cNvSpPr>
          <p:nvPr/>
        </p:nvSpPr>
        <p:spPr bwMode="auto">
          <a:xfrm>
            <a:off x="2189163" y="3459163"/>
            <a:ext cx="366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k</a:t>
            </a:r>
          </a:p>
        </p:txBody>
      </p:sp>
      <p:sp>
        <p:nvSpPr>
          <p:cNvPr id="108565" name="Text Box 21"/>
          <p:cNvSpPr txBox="1">
            <a:spLocks noChangeArrowheads="1"/>
          </p:cNvSpPr>
          <p:nvPr/>
        </p:nvSpPr>
        <p:spPr bwMode="auto">
          <a:xfrm>
            <a:off x="2224088" y="3840163"/>
            <a:ext cx="2524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l</a:t>
            </a:r>
          </a:p>
        </p:txBody>
      </p:sp>
      <p:sp>
        <p:nvSpPr>
          <p:cNvPr id="108566" name="Line 22"/>
          <p:cNvSpPr>
            <a:spLocks noChangeShapeType="1"/>
          </p:cNvSpPr>
          <p:nvPr/>
        </p:nvSpPr>
        <p:spPr bwMode="auto">
          <a:xfrm>
            <a:off x="2270125" y="3536950"/>
            <a:ext cx="0" cy="63500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67" name="AutoShape 23"/>
          <p:cNvSpPr>
            <a:spLocks noChangeArrowheads="1"/>
          </p:cNvSpPr>
          <p:nvPr/>
        </p:nvSpPr>
        <p:spPr bwMode="auto">
          <a:xfrm>
            <a:off x="2233613" y="3511550"/>
            <a:ext cx="74612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68" name="AutoShape 24"/>
          <p:cNvSpPr>
            <a:spLocks noChangeArrowheads="1"/>
          </p:cNvSpPr>
          <p:nvPr/>
        </p:nvSpPr>
        <p:spPr bwMode="auto">
          <a:xfrm>
            <a:off x="2233613" y="4114800"/>
            <a:ext cx="74612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727200" y="1965325"/>
            <a:ext cx="1185863" cy="1685925"/>
            <a:chOff x="1088" y="1214"/>
            <a:chExt cx="746" cy="1062"/>
          </a:xfrm>
        </p:grpSpPr>
        <p:sp>
          <p:nvSpPr>
            <p:cNvPr id="6233" name="Line 26"/>
            <p:cNvSpPr>
              <a:spLocks noChangeShapeType="1"/>
            </p:cNvSpPr>
            <p:nvPr/>
          </p:nvSpPr>
          <p:spPr bwMode="auto">
            <a:xfrm flipH="1">
              <a:off x="1088" y="1220"/>
              <a:ext cx="740" cy="3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34" name="Line 27"/>
            <p:cNvSpPr>
              <a:spLocks noChangeShapeType="1"/>
            </p:cNvSpPr>
            <p:nvPr/>
          </p:nvSpPr>
          <p:spPr bwMode="auto">
            <a:xfrm>
              <a:off x="1090" y="1594"/>
              <a:ext cx="4" cy="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35" name="Line 28"/>
            <p:cNvSpPr>
              <a:spLocks noChangeShapeType="1"/>
            </p:cNvSpPr>
            <p:nvPr/>
          </p:nvSpPr>
          <p:spPr bwMode="auto">
            <a:xfrm>
              <a:off x="1830" y="1214"/>
              <a:ext cx="4" cy="1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981075" y="1495425"/>
            <a:ext cx="2668588" cy="2933700"/>
            <a:chOff x="618" y="918"/>
            <a:chExt cx="1681" cy="1848"/>
          </a:xfrm>
        </p:grpSpPr>
        <p:sp>
          <p:nvSpPr>
            <p:cNvPr id="6223" name="Line 30"/>
            <p:cNvSpPr>
              <a:spLocks noChangeShapeType="1"/>
            </p:cNvSpPr>
            <p:nvPr/>
          </p:nvSpPr>
          <p:spPr bwMode="auto">
            <a:xfrm>
              <a:off x="900" y="1103"/>
              <a:ext cx="1104" cy="6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24" name="Line 31"/>
            <p:cNvSpPr>
              <a:spLocks noChangeShapeType="1"/>
            </p:cNvSpPr>
            <p:nvPr/>
          </p:nvSpPr>
          <p:spPr bwMode="auto">
            <a:xfrm>
              <a:off x="900" y="1115"/>
              <a:ext cx="0" cy="15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25" name="Line 32"/>
            <p:cNvSpPr>
              <a:spLocks noChangeShapeType="1"/>
            </p:cNvSpPr>
            <p:nvPr/>
          </p:nvSpPr>
          <p:spPr bwMode="auto">
            <a:xfrm>
              <a:off x="2002" y="1753"/>
              <a:ext cx="0" cy="8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26" name="Line 33"/>
            <p:cNvSpPr>
              <a:spLocks noChangeShapeType="1"/>
            </p:cNvSpPr>
            <p:nvPr/>
          </p:nvSpPr>
          <p:spPr bwMode="auto">
            <a:xfrm>
              <a:off x="1598" y="1516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27" name="Text Box 34"/>
            <p:cNvSpPr txBox="1">
              <a:spLocks noChangeArrowheads="1"/>
            </p:cNvSpPr>
            <p:nvPr/>
          </p:nvSpPr>
          <p:spPr bwMode="auto">
            <a:xfrm>
              <a:off x="618" y="918"/>
              <a:ext cx="3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a'</a:t>
              </a:r>
              <a:endParaRPr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28" name="Text Box 35"/>
            <p:cNvSpPr txBox="1">
              <a:spLocks noChangeArrowheads="1"/>
            </p:cNvSpPr>
            <p:nvPr/>
          </p:nvSpPr>
          <p:spPr bwMode="auto">
            <a:xfrm>
              <a:off x="1494" y="1306"/>
              <a:ext cx="3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b'</a:t>
              </a:r>
              <a:endParaRPr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29" name="Text Box 36"/>
            <p:cNvSpPr txBox="1">
              <a:spLocks noChangeArrowheads="1"/>
            </p:cNvSpPr>
            <p:nvPr/>
          </p:nvSpPr>
          <p:spPr bwMode="auto">
            <a:xfrm>
              <a:off x="1938" y="1604"/>
              <a:ext cx="36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c'</a:t>
              </a:r>
              <a:endParaRPr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30" name="Text Box 37"/>
            <p:cNvSpPr txBox="1">
              <a:spLocks noChangeArrowheads="1"/>
            </p:cNvSpPr>
            <p:nvPr/>
          </p:nvSpPr>
          <p:spPr bwMode="auto">
            <a:xfrm>
              <a:off x="691" y="2516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a</a:t>
              </a:r>
              <a:endParaRPr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31" name="Text Box 38"/>
            <p:cNvSpPr txBox="1">
              <a:spLocks noChangeArrowheads="1"/>
            </p:cNvSpPr>
            <p:nvPr/>
          </p:nvSpPr>
          <p:spPr bwMode="auto">
            <a:xfrm>
              <a:off x="1612" y="1938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b</a:t>
              </a:r>
              <a:endParaRPr kumimoji="0"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32" name="Text Box 39"/>
            <p:cNvSpPr txBox="1">
              <a:spLocks noChangeArrowheads="1"/>
            </p:cNvSpPr>
            <p:nvPr/>
          </p:nvSpPr>
          <p:spPr bwMode="auto">
            <a:xfrm>
              <a:off x="1955" y="2498"/>
              <a:ext cx="2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c </a:t>
              </a:r>
              <a:endParaRPr kumimoji="0"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</p:grpSp>
      <p:sp>
        <p:nvSpPr>
          <p:cNvPr id="108584" name="AutoShape 40"/>
          <p:cNvSpPr>
            <a:spLocks noChangeArrowheads="1"/>
          </p:cNvSpPr>
          <p:nvPr/>
        </p:nvSpPr>
        <p:spPr bwMode="auto">
          <a:xfrm>
            <a:off x="2228850" y="2257425"/>
            <a:ext cx="74613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85" name="Freeform 41"/>
          <p:cNvSpPr>
            <a:spLocks/>
          </p:cNvSpPr>
          <p:nvPr/>
        </p:nvSpPr>
        <p:spPr bwMode="auto">
          <a:xfrm>
            <a:off x="1728788" y="3271838"/>
            <a:ext cx="647700" cy="704850"/>
          </a:xfrm>
          <a:custGeom>
            <a:avLst/>
            <a:gdLst>
              <a:gd name="T0" fmla="*/ 0 w 408"/>
              <a:gd name="T1" fmla="*/ 1118949375 h 444"/>
              <a:gd name="T2" fmla="*/ 0 w 408"/>
              <a:gd name="T3" fmla="*/ 0 h 444"/>
              <a:gd name="T4" fmla="*/ 1028223750 w 408"/>
              <a:gd name="T5" fmla="*/ 309980013 h 444"/>
              <a:gd name="T6" fmla="*/ 0 60000 65536"/>
              <a:gd name="T7" fmla="*/ 0 60000 65536"/>
              <a:gd name="T8" fmla="*/ 0 60000 65536"/>
              <a:gd name="T9" fmla="*/ 0 w 408"/>
              <a:gd name="T10" fmla="*/ 0 h 444"/>
              <a:gd name="T11" fmla="*/ 408 w 408"/>
              <a:gd name="T12" fmla="*/ 444 h 4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8" h="444">
                <a:moveTo>
                  <a:pt x="0" y="444"/>
                </a:moveTo>
                <a:lnTo>
                  <a:pt x="0" y="0"/>
                </a:lnTo>
                <a:lnTo>
                  <a:pt x="408" y="123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86" name="Freeform 42"/>
          <p:cNvSpPr>
            <a:spLocks/>
          </p:cNvSpPr>
          <p:nvPr/>
        </p:nvSpPr>
        <p:spPr bwMode="auto">
          <a:xfrm>
            <a:off x="2719388" y="3567113"/>
            <a:ext cx="190500" cy="223837"/>
          </a:xfrm>
          <a:custGeom>
            <a:avLst/>
            <a:gdLst>
              <a:gd name="T0" fmla="*/ 0 w 114"/>
              <a:gd name="T1" fmla="*/ 0 h 129"/>
              <a:gd name="T2" fmla="*/ 318335526 w 114"/>
              <a:gd name="T3" fmla="*/ 99357600 h 129"/>
              <a:gd name="T4" fmla="*/ 318335526 w 114"/>
              <a:gd name="T5" fmla="*/ 388395369 h 129"/>
              <a:gd name="T6" fmla="*/ 0 60000 65536"/>
              <a:gd name="T7" fmla="*/ 0 60000 65536"/>
              <a:gd name="T8" fmla="*/ 0 60000 65536"/>
              <a:gd name="T9" fmla="*/ 0 w 114"/>
              <a:gd name="T10" fmla="*/ 0 h 129"/>
              <a:gd name="T11" fmla="*/ 114 w 114"/>
              <a:gd name="T12" fmla="*/ 129 h 12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4" h="129">
                <a:moveTo>
                  <a:pt x="0" y="0"/>
                </a:moveTo>
                <a:lnTo>
                  <a:pt x="114" y="33"/>
                </a:lnTo>
                <a:lnTo>
                  <a:pt x="114" y="129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87" name="Freeform 43"/>
          <p:cNvSpPr>
            <a:spLocks/>
          </p:cNvSpPr>
          <p:nvPr/>
        </p:nvSpPr>
        <p:spPr bwMode="auto">
          <a:xfrm>
            <a:off x="2082800" y="4133850"/>
            <a:ext cx="823913" cy="280988"/>
          </a:xfrm>
          <a:custGeom>
            <a:avLst/>
            <a:gdLst>
              <a:gd name="T0" fmla="*/ 1307962681 w 519"/>
              <a:gd name="T1" fmla="*/ 0 h 177"/>
              <a:gd name="T2" fmla="*/ 1307962681 w 519"/>
              <a:gd name="T3" fmla="*/ 446069244 h 177"/>
              <a:gd name="T4" fmla="*/ 0 w 519"/>
              <a:gd name="T5" fmla="*/ 52924169 h 177"/>
              <a:gd name="T6" fmla="*/ 0 60000 65536"/>
              <a:gd name="T7" fmla="*/ 0 60000 65536"/>
              <a:gd name="T8" fmla="*/ 0 60000 65536"/>
              <a:gd name="T9" fmla="*/ 0 w 519"/>
              <a:gd name="T10" fmla="*/ 0 h 177"/>
              <a:gd name="T11" fmla="*/ 519 w 519"/>
              <a:gd name="T12" fmla="*/ 177 h 1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19" h="177">
                <a:moveTo>
                  <a:pt x="519" y="0"/>
                </a:moveTo>
                <a:lnTo>
                  <a:pt x="519" y="177"/>
                </a:lnTo>
                <a:lnTo>
                  <a:pt x="0" y="21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88" name="Line 44"/>
          <p:cNvSpPr>
            <a:spLocks noChangeShapeType="1"/>
          </p:cNvSpPr>
          <p:nvPr/>
        </p:nvSpPr>
        <p:spPr bwMode="auto">
          <a:xfrm>
            <a:off x="2362200" y="3457575"/>
            <a:ext cx="381000" cy="114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89" name="Line 45"/>
          <p:cNvSpPr>
            <a:spLocks noChangeShapeType="1"/>
          </p:cNvSpPr>
          <p:nvPr/>
        </p:nvSpPr>
        <p:spPr bwMode="auto">
          <a:xfrm>
            <a:off x="2909888" y="3781425"/>
            <a:ext cx="0" cy="361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90" name="Rectangle 46"/>
          <p:cNvSpPr>
            <a:spLocks noChangeArrowheads="1"/>
          </p:cNvSpPr>
          <p:nvPr/>
        </p:nvSpPr>
        <p:spPr bwMode="auto">
          <a:xfrm>
            <a:off x="6038850" y="1168400"/>
            <a:ext cx="1447800" cy="1803400"/>
          </a:xfrm>
          <a:prstGeom prst="rect">
            <a:avLst/>
          </a:prstGeom>
          <a:noFill/>
          <a:ln w="6350">
            <a:solidFill>
              <a:schemeClr val="tx1"/>
            </a:solidFill>
            <a:prstDash val="lgDashDotDot"/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91" name="Freeform 47"/>
          <p:cNvSpPr>
            <a:spLocks/>
          </p:cNvSpPr>
          <p:nvPr/>
        </p:nvSpPr>
        <p:spPr bwMode="auto">
          <a:xfrm flipH="1">
            <a:off x="5743575" y="1314450"/>
            <a:ext cx="2076450" cy="1209675"/>
          </a:xfrm>
          <a:custGeom>
            <a:avLst/>
            <a:gdLst>
              <a:gd name="T0" fmla="*/ 0 w 852"/>
              <a:gd name="T1" fmla="*/ 974555091 h 822"/>
              <a:gd name="T2" fmla="*/ 2147483647 w 852"/>
              <a:gd name="T3" fmla="*/ 0 h 822"/>
              <a:gd name="T4" fmla="*/ 2147483647 w 852"/>
              <a:gd name="T5" fmla="*/ 1780186868 h 822"/>
              <a:gd name="T6" fmla="*/ 0 w 852"/>
              <a:gd name="T7" fmla="*/ 974555091 h 822"/>
              <a:gd name="T8" fmla="*/ 0 60000 65536"/>
              <a:gd name="T9" fmla="*/ 0 60000 65536"/>
              <a:gd name="T10" fmla="*/ 0 60000 65536"/>
              <a:gd name="T11" fmla="*/ 0 60000 65536"/>
              <a:gd name="T12" fmla="*/ 0 w 852"/>
              <a:gd name="T13" fmla="*/ 0 h 822"/>
              <a:gd name="T14" fmla="*/ 852 w 852"/>
              <a:gd name="T15" fmla="*/ 822 h 8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52" h="822">
                <a:moveTo>
                  <a:pt x="0" y="450"/>
                </a:moveTo>
                <a:lnTo>
                  <a:pt x="510" y="0"/>
                </a:lnTo>
                <a:lnTo>
                  <a:pt x="852" y="822"/>
                </a:lnTo>
                <a:lnTo>
                  <a:pt x="0" y="450"/>
                </a:lnTo>
                <a:close/>
              </a:path>
            </a:pathLst>
          </a:custGeom>
          <a:noFill/>
          <a:ln w="6350" cap="flat" cmpd="sng">
            <a:solidFill>
              <a:schemeClr val="tx1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93" name="Line 49"/>
          <p:cNvSpPr>
            <a:spLocks noChangeShapeType="1"/>
          </p:cNvSpPr>
          <p:nvPr/>
        </p:nvSpPr>
        <p:spPr bwMode="auto">
          <a:xfrm flipH="1" flipV="1">
            <a:off x="6561138" y="2959100"/>
            <a:ext cx="0" cy="946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94" name="Line 50"/>
          <p:cNvSpPr>
            <a:spLocks noChangeShapeType="1"/>
          </p:cNvSpPr>
          <p:nvPr/>
        </p:nvSpPr>
        <p:spPr bwMode="auto">
          <a:xfrm flipV="1">
            <a:off x="7061200" y="2952750"/>
            <a:ext cx="1588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595" name="Line 51"/>
          <p:cNvSpPr>
            <a:spLocks noChangeShapeType="1"/>
          </p:cNvSpPr>
          <p:nvPr/>
        </p:nvSpPr>
        <p:spPr bwMode="auto">
          <a:xfrm flipV="1">
            <a:off x="6553200" y="1568450"/>
            <a:ext cx="501650" cy="736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4818063" y="2566988"/>
            <a:ext cx="3879850" cy="458787"/>
            <a:chOff x="449" y="1701"/>
            <a:chExt cx="2062" cy="289"/>
          </a:xfrm>
        </p:grpSpPr>
        <p:sp>
          <p:nvSpPr>
            <p:cNvPr id="6220" name="Text Box 53"/>
            <p:cNvSpPr txBox="1">
              <a:spLocks noChangeArrowheads="1"/>
            </p:cNvSpPr>
            <p:nvPr/>
          </p:nvSpPr>
          <p:spPr bwMode="auto">
            <a:xfrm>
              <a:off x="449" y="1702"/>
              <a:ext cx="1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X</a:t>
              </a:r>
            </a:p>
          </p:txBody>
        </p:sp>
        <p:sp>
          <p:nvSpPr>
            <p:cNvPr id="6221" name="Text Box 54"/>
            <p:cNvSpPr txBox="1">
              <a:spLocks noChangeArrowheads="1"/>
            </p:cNvSpPr>
            <p:nvPr/>
          </p:nvSpPr>
          <p:spPr bwMode="auto">
            <a:xfrm>
              <a:off x="2327" y="1701"/>
              <a:ext cx="1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O</a:t>
              </a:r>
            </a:p>
          </p:txBody>
        </p:sp>
        <p:sp>
          <p:nvSpPr>
            <p:cNvPr id="6222" name="Line 55"/>
            <p:cNvSpPr>
              <a:spLocks noChangeShapeType="1"/>
            </p:cNvSpPr>
            <p:nvPr/>
          </p:nvSpPr>
          <p:spPr bwMode="auto">
            <a:xfrm>
              <a:off x="595" y="1956"/>
              <a:ext cx="17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</p:grpSp>
      <p:grpSp>
        <p:nvGrpSpPr>
          <p:cNvPr id="6" name="Group 56"/>
          <p:cNvGrpSpPr>
            <a:grpSpLocks/>
          </p:cNvGrpSpPr>
          <p:nvPr/>
        </p:nvGrpSpPr>
        <p:grpSpPr bwMode="auto">
          <a:xfrm>
            <a:off x="6038850" y="2970213"/>
            <a:ext cx="1452563" cy="1830387"/>
            <a:chOff x="1956" y="1895"/>
            <a:chExt cx="915" cy="1153"/>
          </a:xfrm>
        </p:grpSpPr>
        <p:sp>
          <p:nvSpPr>
            <p:cNvPr id="6217" name="Line 57"/>
            <p:cNvSpPr>
              <a:spLocks noChangeShapeType="1"/>
            </p:cNvSpPr>
            <p:nvPr/>
          </p:nvSpPr>
          <p:spPr bwMode="auto">
            <a:xfrm>
              <a:off x="1960" y="2186"/>
              <a:ext cx="911" cy="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18" name="Line 58"/>
            <p:cNvSpPr>
              <a:spLocks noChangeShapeType="1"/>
            </p:cNvSpPr>
            <p:nvPr/>
          </p:nvSpPr>
          <p:spPr bwMode="auto">
            <a:xfrm>
              <a:off x="1956" y="1903"/>
              <a:ext cx="0" cy="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19" name="Line 59"/>
            <p:cNvSpPr>
              <a:spLocks noChangeShapeType="1"/>
            </p:cNvSpPr>
            <p:nvPr/>
          </p:nvSpPr>
          <p:spPr bwMode="auto">
            <a:xfrm>
              <a:off x="2868" y="1895"/>
              <a:ext cx="0" cy="11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</p:grpSp>
      <p:grpSp>
        <p:nvGrpSpPr>
          <p:cNvPr id="7" name="Group 60"/>
          <p:cNvGrpSpPr>
            <a:grpSpLocks/>
          </p:cNvGrpSpPr>
          <p:nvPr/>
        </p:nvGrpSpPr>
        <p:grpSpPr bwMode="auto">
          <a:xfrm>
            <a:off x="5260975" y="1141413"/>
            <a:ext cx="2994025" cy="4048125"/>
            <a:chOff x="3314" y="611"/>
            <a:chExt cx="1886" cy="2550"/>
          </a:xfrm>
        </p:grpSpPr>
        <p:sp>
          <p:nvSpPr>
            <p:cNvPr id="6206" name="Line 61"/>
            <p:cNvSpPr>
              <a:spLocks noChangeShapeType="1"/>
            </p:cNvSpPr>
            <p:nvPr/>
          </p:nvSpPr>
          <p:spPr bwMode="auto">
            <a:xfrm>
              <a:off x="4144" y="723"/>
              <a:ext cx="1" cy="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07" name="Line 62"/>
            <p:cNvSpPr>
              <a:spLocks noChangeShapeType="1"/>
            </p:cNvSpPr>
            <p:nvPr/>
          </p:nvSpPr>
          <p:spPr bwMode="auto">
            <a:xfrm>
              <a:off x="3612" y="1482"/>
              <a:ext cx="0" cy="9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08" name="Text Box 63"/>
            <p:cNvSpPr txBox="1">
              <a:spLocks noChangeArrowheads="1"/>
            </p:cNvSpPr>
            <p:nvPr/>
          </p:nvSpPr>
          <p:spPr bwMode="auto">
            <a:xfrm>
              <a:off x="3314" y="1291"/>
              <a:ext cx="3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a'</a:t>
              </a:r>
              <a:endParaRPr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09" name="Text Box 64"/>
            <p:cNvSpPr txBox="1">
              <a:spLocks noChangeArrowheads="1"/>
            </p:cNvSpPr>
            <p:nvPr/>
          </p:nvSpPr>
          <p:spPr bwMode="auto">
            <a:xfrm>
              <a:off x="4874" y="972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c'</a:t>
              </a:r>
              <a:endParaRPr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10" name="Text Box 65"/>
            <p:cNvSpPr txBox="1">
              <a:spLocks noChangeArrowheads="1"/>
            </p:cNvSpPr>
            <p:nvPr/>
          </p:nvSpPr>
          <p:spPr bwMode="auto">
            <a:xfrm>
              <a:off x="3844" y="611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b'</a:t>
              </a:r>
              <a:endParaRPr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11" name="Text Box 66"/>
            <p:cNvSpPr txBox="1">
              <a:spLocks noChangeArrowheads="1"/>
            </p:cNvSpPr>
            <p:nvPr/>
          </p:nvSpPr>
          <p:spPr bwMode="auto">
            <a:xfrm>
              <a:off x="3421" y="2339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a</a:t>
              </a:r>
            </a:p>
          </p:txBody>
        </p:sp>
        <p:sp>
          <p:nvSpPr>
            <p:cNvPr id="6212" name="Text Box 67"/>
            <p:cNvSpPr txBox="1">
              <a:spLocks noChangeArrowheads="1"/>
            </p:cNvSpPr>
            <p:nvPr/>
          </p:nvSpPr>
          <p:spPr bwMode="auto">
            <a:xfrm>
              <a:off x="4918" y="2038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c</a:t>
              </a:r>
            </a:p>
          </p:txBody>
        </p:sp>
        <p:sp>
          <p:nvSpPr>
            <p:cNvPr id="6213" name="Freeform 68"/>
            <p:cNvSpPr>
              <a:spLocks/>
            </p:cNvSpPr>
            <p:nvPr/>
          </p:nvSpPr>
          <p:spPr bwMode="auto">
            <a:xfrm flipH="1">
              <a:off x="3614" y="2214"/>
              <a:ext cx="1304" cy="738"/>
            </a:xfrm>
            <a:custGeom>
              <a:avLst/>
              <a:gdLst>
                <a:gd name="T0" fmla="*/ 0 w 852"/>
                <a:gd name="T1" fmla="*/ 0 h 750"/>
                <a:gd name="T2" fmla="*/ 1996 w 852"/>
                <a:gd name="T3" fmla="*/ 235 h 750"/>
                <a:gd name="T4" fmla="*/ 1188 w 852"/>
                <a:gd name="T5" fmla="*/ 726 h 750"/>
                <a:gd name="T6" fmla="*/ 0 w 852"/>
                <a:gd name="T7" fmla="*/ 0 h 7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750"/>
                <a:gd name="T14" fmla="*/ 852 w 852"/>
                <a:gd name="T15" fmla="*/ 750 h 7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750">
                  <a:moveTo>
                    <a:pt x="0" y="0"/>
                  </a:moveTo>
                  <a:lnTo>
                    <a:pt x="852" y="243"/>
                  </a:lnTo>
                  <a:lnTo>
                    <a:pt x="507" y="75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14" name="Line 69"/>
            <p:cNvSpPr>
              <a:spLocks noChangeShapeType="1"/>
            </p:cNvSpPr>
            <p:nvPr/>
          </p:nvSpPr>
          <p:spPr bwMode="auto">
            <a:xfrm>
              <a:off x="4924" y="1139"/>
              <a:ext cx="0" cy="10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6215" name="Text Box 70"/>
            <p:cNvSpPr txBox="1">
              <a:spLocks noChangeArrowheads="1"/>
            </p:cNvSpPr>
            <p:nvPr/>
          </p:nvSpPr>
          <p:spPr bwMode="auto">
            <a:xfrm>
              <a:off x="4061" y="2911"/>
              <a:ext cx="2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b </a:t>
              </a:r>
            </a:p>
          </p:txBody>
        </p:sp>
        <p:sp>
          <p:nvSpPr>
            <p:cNvPr id="6216" name="Line 71"/>
            <p:cNvSpPr>
              <a:spLocks noChangeShapeType="1"/>
            </p:cNvSpPr>
            <p:nvPr/>
          </p:nvSpPr>
          <p:spPr bwMode="auto">
            <a:xfrm>
              <a:off x="4144" y="2756"/>
              <a:ext cx="0" cy="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</p:grpSp>
      <p:sp>
        <p:nvSpPr>
          <p:cNvPr id="108616" name="Line 72"/>
          <p:cNvSpPr>
            <a:spLocks noChangeShapeType="1"/>
          </p:cNvSpPr>
          <p:nvPr/>
        </p:nvSpPr>
        <p:spPr bwMode="auto">
          <a:xfrm>
            <a:off x="6530975" y="3900488"/>
            <a:ext cx="508000" cy="4762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617" name="AutoShape 73"/>
          <p:cNvSpPr>
            <a:spLocks noChangeArrowheads="1"/>
          </p:cNvSpPr>
          <p:nvPr/>
        </p:nvSpPr>
        <p:spPr bwMode="auto">
          <a:xfrm>
            <a:off x="6521450" y="3879850"/>
            <a:ext cx="74613" cy="74613"/>
          </a:xfrm>
          <a:prstGeom prst="flowChartConnector">
            <a:avLst/>
          </a:prstGeom>
          <a:solidFill>
            <a:srgbClr val="00FF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618" name="AutoShape 74"/>
          <p:cNvSpPr>
            <a:spLocks noChangeArrowheads="1"/>
          </p:cNvSpPr>
          <p:nvPr/>
        </p:nvSpPr>
        <p:spPr bwMode="auto">
          <a:xfrm>
            <a:off x="7023100" y="4362450"/>
            <a:ext cx="74613" cy="74613"/>
          </a:xfrm>
          <a:prstGeom prst="flowChartConnector">
            <a:avLst/>
          </a:prstGeom>
          <a:solidFill>
            <a:srgbClr val="66FF99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619" name="Line 75"/>
          <p:cNvSpPr>
            <a:spLocks noChangeShapeType="1"/>
          </p:cNvSpPr>
          <p:nvPr/>
        </p:nvSpPr>
        <p:spPr bwMode="auto">
          <a:xfrm flipH="1" flipV="1">
            <a:off x="6561138" y="2309813"/>
            <a:ext cx="3175" cy="661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620" name="Line 76"/>
          <p:cNvSpPr>
            <a:spLocks noChangeShapeType="1"/>
          </p:cNvSpPr>
          <p:nvPr/>
        </p:nvSpPr>
        <p:spPr bwMode="auto">
          <a:xfrm flipV="1">
            <a:off x="7061200" y="1568450"/>
            <a:ext cx="1588" cy="1403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621" name="Freeform 77"/>
          <p:cNvSpPr>
            <a:spLocks/>
          </p:cNvSpPr>
          <p:nvPr/>
        </p:nvSpPr>
        <p:spPr bwMode="auto">
          <a:xfrm>
            <a:off x="5734050" y="1166813"/>
            <a:ext cx="2076450" cy="1800225"/>
          </a:xfrm>
          <a:custGeom>
            <a:avLst/>
            <a:gdLst>
              <a:gd name="T0" fmla="*/ 483870000 w 1308"/>
              <a:gd name="T1" fmla="*/ 2147483647 h 1134"/>
              <a:gd name="T2" fmla="*/ 483870000 w 1308"/>
              <a:gd name="T3" fmla="*/ 2033766888 h 1134"/>
              <a:gd name="T4" fmla="*/ 0 w 1308"/>
              <a:gd name="T5" fmla="*/ 2147483647 h 1134"/>
              <a:gd name="T6" fmla="*/ 483870000 w 1308"/>
              <a:gd name="T7" fmla="*/ 1466730938 h 1134"/>
              <a:gd name="T8" fmla="*/ 483870000 w 1308"/>
              <a:gd name="T9" fmla="*/ 0 h 1134"/>
              <a:gd name="T10" fmla="*/ 2147483647 w 1308"/>
              <a:gd name="T11" fmla="*/ 0 h 1134"/>
              <a:gd name="T12" fmla="*/ 2147483647 w 1308"/>
              <a:gd name="T13" fmla="*/ 997981875 h 1134"/>
              <a:gd name="T14" fmla="*/ 2147483647 w 1308"/>
              <a:gd name="T15" fmla="*/ 1277720013 h 1134"/>
              <a:gd name="T16" fmla="*/ 2147483647 w 1308"/>
              <a:gd name="T17" fmla="*/ 1413808450 h 1134"/>
              <a:gd name="T18" fmla="*/ 2147483647 w 1308"/>
              <a:gd name="T19" fmla="*/ 2147483647 h 1134"/>
              <a:gd name="T20" fmla="*/ 483870000 w 1308"/>
              <a:gd name="T21" fmla="*/ 2147483647 h 11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308"/>
              <a:gd name="T34" fmla="*/ 0 h 1134"/>
              <a:gd name="T35" fmla="*/ 1308 w 1308"/>
              <a:gd name="T36" fmla="*/ 1134 h 11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308" h="1134">
                <a:moveTo>
                  <a:pt x="192" y="1134"/>
                </a:moveTo>
                <a:lnTo>
                  <a:pt x="192" y="807"/>
                </a:lnTo>
                <a:lnTo>
                  <a:pt x="0" y="858"/>
                </a:lnTo>
                <a:lnTo>
                  <a:pt x="192" y="582"/>
                </a:lnTo>
                <a:lnTo>
                  <a:pt x="192" y="0"/>
                </a:lnTo>
                <a:lnTo>
                  <a:pt x="1107" y="0"/>
                </a:lnTo>
                <a:lnTo>
                  <a:pt x="1107" y="396"/>
                </a:lnTo>
                <a:lnTo>
                  <a:pt x="1308" y="507"/>
                </a:lnTo>
                <a:lnTo>
                  <a:pt x="1104" y="561"/>
                </a:lnTo>
                <a:lnTo>
                  <a:pt x="1104" y="1134"/>
                </a:lnTo>
                <a:lnTo>
                  <a:pt x="192" y="1134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622" name="Freeform 78"/>
          <p:cNvSpPr>
            <a:spLocks/>
          </p:cNvSpPr>
          <p:nvPr/>
        </p:nvSpPr>
        <p:spPr bwMode="auto">
          <a:xfrm>
            <a:off x="6038850" y="1309688"/>
            <a:ext cx="1019175" cy="785812"/>
          </a:xfrm>
          <a:custGeom>
            <a:avLst/>
            <a:gdLst>
              <a:gd name="T0" fmla="*/ 0 w 642"/>
              <a:gd name="T1" fmla="*/ 1247475756 h 495"/>
              <a:gd name="T2" fmla="*/ 846772500 w 642"/>
              <a:gd name="T3" fmla="*/ 0 h 495"/>
              <a:gd name="T4" fmla="*/ 1617940313 w 642"/>
              <a:gd name="T5" fmla="*/ 415824723 h 495"/>
              <a:gd name="T6" fmla="*/ 0 60000 65536"/>
              <a:gd name="T7" fmla="*/ 0 60000 65536"/>
              <a:gd name="T8" fmla="*/ 0 60000 65536"/>
              <a:gd name="T9" fmla="*/ 0 w 642"/>
              <a:gd name="T10" fmla="*/ 0 h 495"/>
              <a:gd name="T11" fmla="*/ 642 w 642"/>
              <a:gd name="T12" fmla="*/ 495 h 4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2" h="495">
                <a:moveTo>
                  <a:pt x="0" y="495"/>
                </a:moveTo>
                <a:lnTo>
                  <a:pt x="336" y="0"/>
                </a:lnTo>
                <a:lnTo>
                  <a:pt x="642" y="165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623" name="Line 79"/>
          <p:cNvSpPr>
            <a:spLocks noChangeShapeType="1"/>
          </p:cNvSpPr>
          <p:nvPr/>
        </p:nvSpPr>
        <p:spPr bwMode="auto">
          <a:xfrm>
            <a:off x="7058025" y="1566863"/>
            <a:ext cx="452438" cy="2381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624" name="Line 80"/>
          <p:cNvSpPr>
            <a:spLocks noChangeShapeType="1"/>
          </p:cNvSpPr>
          <p:nvPr/>
        </p:nvSpPr>
        <p:spPr bwMode="auto">
          <a:xfrm flipH="1">
            <a:off x="7491413" y="1785938"/>
            <a:ext cx="1587" cy="285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625" name="Line 81"/>
          <p:cNvSpPr>
            <a:spLocks noChangeShapeType="1"/>
          </p:cNvSpPr>
          <p:nvPr/>
        </p:nvSpPr>
        <p:spPr bwMode="auto">
          <a:xfrm flipH="1">
            <a:off x="6557963" y="2062163"/>
            <a:ext cx="933450" cy="2476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626" name="Line 82"/>
          <p:cNvSpPr>
            <a:spLocks noChangeShapeType="1"/>
          </p:cNvSpPr>
          <p:nvPr/>
        </p:nvSpPr>
        <p:spPr bwMode="auto">
          <a:xfrm flipH="1">
            <a:off x="6015038" y="2305050"/>
            <a:ext cx="542925" cy="1476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627" name="Line 83"/>
          <p:cNvSpPr>
            <a:spLocks noChangeShapeType="1"/>
          </p:cNvSpPr>
          <p:nvPr/>
        </p:nvSpPr>
        <p:spPr bwMode="auto">
          <a:xfrm flipV="1">
            <a:off x="6038850" y="2081213"/>
            <a:ext cx="1588" cy="3667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628" name="AutoShape 84"/>
          <p:cNvSpPr>
            <a:spLocks noChangeArrowheads="1"/>
          </p:cNvSpPr>
          <p:nvPr/>
        </p:nvSpPr>
        <p:spPr bwMode="auto">
          <a:xfrm>
            <a:off x="7023100" y="1530350"/>
            <a:ext cx="74613" cy="74613"/>
          </a:xfrm>
          <a:prstGeom prst="flowChartConnector">
            <a:avLst/>
          </a:prstGeom>
          <a:solidFill>
            <a:srgbClr val="66FF99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629" name="AutoShape 85"/>
          <p:cNvSpPr>
            <a:spLocks noChangeArrowheads="1"/>
          </p:cNvSpPr>
          <p:nvPr/>
        </p:nvSpPr>
        <p:spPr bwMode="auto">
          <a:xfrm>
            <a:off x="6521450" y="2266950"/>
            <a:ext cx="74613" cy="74613"/>
          </a:xfrm>
          <a:prstGeom prst="flowChartConnector">
            <a:avLst/>
          </a:prstGeom>
          <a:solidFill>
            <a:srgbClr val="66FF99"/>
          </a:solidFill>
          <a:ln w="12700" algn="ctr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630" name="Text Box 86"/>
          <p:cNvSpPr txBox="1">
            <a:spLocks noChangeArrowheads="1"/>
          </p:cNvSpPr>
          <p:nvPr/>
        </p:nvSpPr>
        <p:spPr bwMode="auto">
          <a:xfrm>
            <a:off x="338138" y="4359275"/>
            <a:ext cx="1503362" cy="5191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小结：</a:t>
            </a:r>
            <a:endParaRPr lang="zh-CN" altLang="en-US" sz="2400" b="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08631" name="Freeform 87"/>
          <p:cNvSpPr>
            <a:spLocks/>
          </p:cNvSpPr>
          <p:nvPr/>
        </p:nvSpPr>
        <p:spPr bwMode="auto">
          <a:xfrm>
            <a:off x="1425575" y="3975100"/>
            <a:ext cx="685800" cy="246063"/>
          </a:xfrm>
          <a:custGeom>
            <a:avLst/>
            <a:gdLst>
              <a:gd name="T0" fmla="*/ 483870000 w 432"/>
              <a:gd name="T1" fmla="*/ 0 h 150"/>
              <a:gd name="T2" fmla="*/ 0 w 432"/>
              <a:gd name="T3" fmla="*/ 403646666 h 150"/>
              <a:gd name="T4" fmla="*/ 1088707500 w 432"/>
              <a:gd name="T5" fmla="*/ 306771663 h 150"/>
              <a:gd name="T6" fmla="*/ 0 60000 65536"/>
              <a:gd name="T7" fmla="*/ 0 60000 65536"/>
              <a:gd name="T8" fmla="*/ 0 60000 65536"/>
              <a:gd name="T9" fmla="*/ 0 w 432"/>
              <a:gd name="T10" fmla="*/ 0 h 150"/>
              <a:gd name="T11" fmla="*/ 432 w 432"/>
              <a:gd name="T12" fmla="*/ 150 h 1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150">
                <a:moveTo>
                  <a:pt x="192" y="0"/>
                </a:moveTo>
                <a:lnTo>
                  <a:pt x="0" y="150"/>
                </a:lnTo>
                <a:lnTo>
                  <a:pt x="432" y="114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632" name="Line 88"/>
          <p:cNvSpPr>
            <a:spLocks noChangeShapeType="1"/>
          </p:cNvSpPr>
          <p:nvPr/>
        </p:nvSpPr>
        <p:spPr bwMode="auto">
          <a:xfrm flipV="1">
            <a:off x="1727200" y="3568700"/>
            <a:ext cx="514350" cy="409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633" name="Line 89"/>
          <p:cNvSpPr>
            <a:spLocks noChangeShapeType="1"/>
          </p:cNvSpPr>
          <p:nvPr/>
        </p:nvSpPr>
        <p:spPr bwMode="auto">
          <a:xfrm flipV="1">
            <a:off x="2105025" y="4151313"/>
            <a:ext cx="138113" cy="11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08634" name="Text Box 90"/>
          <p:cNvSpPr txBox="1">
            <a:spLocks noChangeArrowheads="1"/>
          </p:cNvSpPr>
          <p:nvPr/>
        </p:nvSpPr>
        <p:spPr bwMode="auto">
          <a:xfrm>
            <a:off x="474663" y="1109663"/>
            <a:ext cx="679450" cy="4953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33CC"/>
            </a:solidFill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例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:</a:t>
            </a:r>
          </a:p>
        </p:txBody>
      </p:sp>
      <p:sp>
        <p:nvSpPr>
          <p:cNvPr id="108635" name="Text Box 91"/>
          <p:cNvSpPr txBox="1">
            <a:spLocks noChangeArrowheads="1"/>
          </p:cNvSpPr>
          <p:nvPr/>
        </p:nvSpPr>
        <p:spPr bwMode="auto">
          <a:xfrm>
            <a:off x="4837113" y="1116013"/>
            <a:ext cx="679450" cy="4953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33CC"/>
            </a:solidFill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例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:</a:t>
            </a:r>
          </a:p>
        </p:txBody>
      </p:sp>
      <p:sp>
        <p:nvSpPr>
          <p:cNvPr id="108636" name="Text Box 92"/>
          <p:cNvSpPr txBox="1">
            <a:spLocks noChangeArrowheads="1"/>
          </p:cNvSpPr>
          <p:nvPr/>
        </p:nvSpPr>
        <p:spPr bwMode="auto">
          <a:xfrm>
            <a:off x="338138" y="4825911"/>
            <a:ext cx="85042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en-US" altLang="zh-CN" sz="24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0" lang="zh-CN" altLang="en-US" sz="24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从有</a:t>
            </a:r>
            <a:r>
              <a:rPr kumimoji="0"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积聚性</a:t>
            </a:r>
            <a:r>
              <a:rPr kumimoji="0" lang="zh-CN" altLang="en-US" sz="24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的投影</a:t>
            </a:r>
            <a:r>
              <a:rPr kumimoji="0" lang="zh-CN" altLang="en-US" sz="2400" dirty="0" smtClean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出发，交线一眼可见！</a:t>
            </a:r>
            <a:endParaRPr kumimoji="0" lang="zh-CN" altLang="en-US" sz="2400" dirty="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zh-CN" altLang="en-US" sz="2400" dirty="0" smtClean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交线是重叠区域最短部分，利用</a:t>
            </a:r>
            <a:r>
              <a:rPr lang="zh-CN" altLang="zh-CN" sz="24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线</a:t>
            </a:r>
            <a:r>
              <a:rPr lang="zh-CN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上找点</a:t>
            </a:r>
            <a:r>
              <a:rPr lang="zh-CN" altLang="zh-CN" sz="24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</a:t>
            </a:r>
            <a:r>
              <a:rPr lang="zh-CN" altLang="zh-CN" sz="2400" dirty="0" smtClean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方法</a:t>
            </a:r>
            <a:r>
              <a:rPr lang="zh-CN" altLang="en-US" sz="2400" dirty="0" smtClean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确定。</a:t>
            </a:r>
            <a:endParaRPr lang="zh-CN" altLang="zh-CN" sz="2400" dirty="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zh-CN" altLang="en-US" sz="2400" dirty="0" smtClean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可根据积聚性的投影进行可见性判断。</a:t>
            </a:r>
            <a:endParaRPr lang="zh-CN" altLang="en-US" sz="2400" b="0" dirty="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08637" name="Text Box 93"/>
          <p:cNvSpPr txBox="1">
            <a:spLocks noChangeArrowheads="1"/>
          </p:cNvSpPr>
          <p:nvPr/>
        </p:nvSpPr>
        <p:spPr bwMode="auto">
          <a:xfrm>
            <a:off x="4270375" y="414338"/>
            <a:ext cx="4578350" cy="457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交线即是公有线，又是分界线。</a:t>
            </a:r>
            <a:endParaRPr lang="zh-CN" altLang="en-US" sz="2400" b="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95" name="矩形 94"/>
          <p:cNvSpPr>
            <a:spLocks noChangeArrowheads="1"/>
          </p:cNvSpPr>
          <p:nvPr/>
        </p:nvSpPr>
        <p:spPr bwMode="auto">
          <a:xfrm>
            <a:off x="373063" y="6111875"/>
            <a:ext cx="87709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在互相重叠的部分，分属不同平面的边界线一定是虚实相间</a:t>
            </a:r>
            <a:r>
              <a:rPr kumimoji="0" lang="en-US" altLang="zh-CN" sz="24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?</a:t>
            </a:r>
            <a:endParaRPr kumimoji="0" lang="zh-CN" altLang="en-US" sz="2400" dirty="0">
              <a:solidFill>
                <a:srgbClr val="FF0000"/>
              </a:solidFill>
              <a:ea typeface="黑体" pitchFamily="2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9614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8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8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0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08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08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08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08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0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08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08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8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0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8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08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08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08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08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08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08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08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108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1" dur="500"/>
                                        <p:tgtEl>
                                          <p:spTgt spid="10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08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108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08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10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10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108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10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10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10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10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10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10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6" dur="500"/>
                                        <p:tgtEl>
                                          <p:spTgt spid="10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500"/>
                                        <p:tgtEl>
                                          <p:spTgt spid="10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10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10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6" dur="500"/>
                                        <p:tgtEl>
                                          <p:spTgt spid="10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1" dur="500"/>
                                        <p:tgtEl>
                                          <p:spTgt spid="10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6" dur="500"/>
                                        <p:tgtEl>
                                          <p:spTgt spid="10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500"/>
                                        <p:tgtEl>
                                          <p:spTgt spid="10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 nodeType="clickPar">
                      <p:stCondLst>
                        <p:cond delay="indefinite"/>
                      </p:stCondLst>
                      <p:childTnLst>
                        <p:par>
                          <p:cTn id="2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500"/>
                                        <p:tgtEl>
                                          <p:spTgt spid="10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 nodeType="clickPar">
                      <p:stCondLst>
                        <p:cond delay="indefinite"/>
                      </p:stCondLst>
                      <p:childTnLst>
                        <p:par>
                          <p:cTn id="2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108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108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108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6" grpId="0" animBg="1"/>
      <p:bldP spid="108547" grpId="0" animBg="1"/>
      <p:bldP spid="108548" grpId="0" animBg="1"/>
      <p:bldP spid="108549" grpId="0" animBg="1"/>
      <p:bldP spid="108555" grpId="0" animBg="1"/>
      <p:bldP spid="108556" grpId="0" animBg="1"/>
      <p:bldP spid="108557" grpId="0" animBg="1"/>
      <p:bldP spid="108558" grpId="0" animBg="1"/>
      <p:bldP spid="108559" grpId="0" animBg="1"/>
      <p:bldP spid="108560" grpId="0" animBg="1"/>
      <p:bldP spid="108561" grpId="0" animBg="1"/>
      <p:bldP spid="108562" grpId="0" animBg="1"/>
      <p:bldP spid="108563" grpId="0" autoUpdateAnimBg="0"/>
      <p:bldP spid="108564" grpId="0" autoUpdateAnimBg="0"/>
      <p:bldP spid="108565" grpId="0" autoUpdateAnimBg="0"/>
      <p:bldP spid="108566" grpId="0" animBg="1"/>
      <p:bldP spid="108567" grpId="0" animBg="1"/>
      <p:bldP spid="108568" grpId="0" animBg="1"/>
      <p:bldP spid="108584" grpId="0" animBg="1"/>
      <p:bldP spid="108585" grpId="0" animBg="1"/>
      <p:bldP spid="108586" grpId="0" animBg="1"/>
      <p:bldP spid="108587" grpId="0" animBg="1"/>
      <p:bldP spid="108588" grpId="0" animBg="1"/>
      <p:bldP spid="108589" grpId="0" animBg="1"/>
      <p:bldP spid="108590" grpId="0" animBg="1"/>
      <p:bldP spid="108591" grpId="0" animBg="1"/>
      <p:bldP spid="108593" grpId="0" animBg="1"/>
      <p:bldP spid="108594" grpId="0" animBg="1"/>
      <p:bldP spid="108595" grpId="0" animBg="1"/>
      <p:bldP spid="108616" grpId="0" animBg="1"/>
      <p:bldP spid="108617" grpId="0" animBg="1"/>
      <p:bldP spid="108618" grpId="0" animBg="1"/>
      <p:bldP spid="108619" grpId="0" animBg="1"/>
      <p:bldP spid="108620" grpId="0" animBg="1"/>
      <p:bldP spid="108621" grpId="0" animBg="1"/>
      <p:bldP spid="108622" grpId="0" animBg="1"/>
      <p:bldP spid="108623" grpId="0" animBg="1"/>
      <p:bldP spid="108624" grpId="0" animBg="1"/>
      <p:bldP spid="108625" grpId="0" animBg="1"/>
      <p:bldP spid="108626" grpId="0" animBg="1"/>
      <p:bldP spid="108627" grpId="0" animBg="1"/>
      <p:bldP spid="108628" grpId="0" animBg="1"/>
      <p:bldP spid="108629" grpId="0" animBg="1"/>
      <p:bldP spid="108630" grpId="0" animBg="1"/>
      <p:bldP spid="108631" grpId="0" animBg="1"/>
      <p:bldP spid="108632" grpId="0" animBg="1"/>
      <p:bldP spid="108633" grpId="0" animBg="1"/>
      <p:bldP spid="108634" grpId="0" animBg="1" autoUpdateAnimBg="0"/>
      <p:bldP spid="108635" grpId="0" animBg="1" autoUpdateAnimBg="0"/>
      <p:bldP spid="108636" grpId="0" build="allAtOnce"/>
      <p:bldP spid="108637" grpId="0" animBg="1"/>
      <p:bldP spid="9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E8236-6BB8-4F91-9E31-0007C7D507CF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23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132098" name="Line 2"/>
          <p:cNvSpPr>
            <a:spLocks noChangeShapeType="1"/>
          </p:cNvSpPr>
          <p:nvPr/>
        </p:nvSpPr>
        <p:spPr bwMode="auto">
          <a:xfrm flipH="1">
            <a:off x="1952625" y="2159000"/>
            <a:ext cx="814388" cy="32226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099" name="Line 3"/>
          <p:cNvSpPr>
            <a:spLocks noChangeShapeType="1"/>
          </p:cNvSpPr>
          <p:nvPr/>
        </p:nvSpPr>
        <p:spPr bwMode="auto">
          <a:xfrm>
            <a:off x="2187575" y="3940175"/>
            <a:ext cx="642938" cy="331788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00" name="Rectangle 4"/>
          <p:cNvSpPr>
            <a:spLocks noChangeArrowheads="1"/>
          </p:cNvSpPr>
          <p:nvPr/>
        </p:nvSpPr>
        <p:spPr bwMode="auto">
          <a:xfrm>
            <a:off x="674688" y="0"/>
            <a:ext cx="37020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01" name="Line 5"/>
          <p:cNvSpPr>
            <a:spLocks noChangeShapeType="1"/>
          </p:cNvSpPr>
          <p:nvPr/>
        </p:nvSpPr>
        <p:spPr bwMode="auto">
          <a:xfrm flipV="1">
            <a:off x="6086475" y="2647950"/>
            <a:ext cx="361950" cy="47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02" name="Freeform 6"/>
          <p:cNvSpPr>
            <a:spLocks/>
          </p:cNvSpPr>
          <p:nvPr/>
        </p:nvSpPr>
        <p:spPr bwMode="auto">
          <a:xfrm>
            <a:off x="6089650" y="2654300"/>
            <a:ext cx="1835150" cy="1136650"/>
          </a:xfrm>
          <a:custGeom>
            <a:avLst/>
            <a:gdLst>
              <a:gd name="T0" fmla="*/ 0 w 1156"/>
              <a:gd name="T1" fmla="*/ 745966250 h 716"/>
              <a:gd name="T2" fmla="*/ 574595625 w 1156"/>
              <a:gd name="T3" fmla="*/ 0 h 716"/>
              <a:gd name="T4" fmla="*/ 2147483647 w 1156"/>
              <a:gd name="T5" fmla="*/ 1048385000 h 716"/>
              <a:gd name="T6" fmla="*/ 1098788125 w 1156"/>
              <a:gd name="T7" fmla="*/ 1804431875 h 716"/>
              <a:gd name="T8" fmla="*/ 0 w 1156"/>
              <a:gd name="T9" fmla="*/ 745966250 h 7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6"/>
              <a:gd name="T16" fmla="*/ 0 h 716"/>
              <a:gd name="T17" fmla="*/ 1156 w 1156"/>
              <a:gd name="T18" fmla="*/ 716 h 7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6" h="716">
                <a:moveTo>
                  <a:pt x="0" y="296"/>
                </a:moveTo>
                <a:lnTo>
                  <a:pt x="228" y="0"/>
                </a:lnTo>
                <a:lnTo>
                  <a:pt x="1156" y="416"/>
                </a:lnTo>
                <a:lnTo>
                  <a:pt x="436" y="716"/>
                </a:lnTo>
                <a:lnTo>
                  <a:pt x="0" y="296"/>
                </a:lnTo>
                <a:close/>
              </a:path>
            </a:pathLst>
          </a:custGeom>
          <a:solidFill>
            <a:srgbClr val="DBBBDB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7176" name="Text Box 7"/>
          <p:cNvSpPr txBox="1">
            <a:spLocks noChangeArrowheads="1"/>
          </p:cNvSpPr>
          <p:nvPr/>
        </p:nvSpPr>
        <p:spPr bwMode="auto">
          <a:xfrm>
            <a:off x="338138" y="292100"/>
            <a:ext cx="8805862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二</a:t>
            </a:r>
            <a:r>
              <a:rPr lang="en-US" altLang="zh-CN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. </a:t>
            </a:r>
            <a:r>
              <a:rPr lang="zh-CN" altLang="en-US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一般情况</a:t>
            </a:r>
          </a:p>
          <a:p>
            <a:pPr algn="l" eaLnBrk="1" hangingPunct="1">
              <a:buClrTx/>
              <a:buFontTx/>
              <a:buNone/>
            </a:pPr>
            <a:r>
              <a:rPr lang="en-US" altLang="zh-CN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</a:t>
            </a:r>
            <a:r>
              <a:rPr lang="zh-CN" altLang="en-US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．直线与平面相交</a:t>
            </a:r>
          </a:p>
        </p:txBody>
      </p:sp>
      <p:sp>
        <p:nvSpPr>
          <p:cNvPr id="132104" name="Line 8"/>
          <p:cNvSpPr>
            <a:spLocks noChangeShapeType="1"/>
          </p:cNvSpPr>
          <p:nvPr/>
        </p:nvSpPr>
        <p:spPr bwMode="auto">
          <a:xfrm>
            <a:off x="6438900" y="2647950"/>
            <a:ext cx="1485900" cy="666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05" name="Line 9"/>
          <p:cNvSpPr>
            <a:spLocks noChangeShapeType="1"/>
          </p:cNvSpPr>
          <p:nvPr/>
        </p:nvSpPr>
        <p:spPr bwMode="auto">
          <a:xfrm flipH="1">
            <a:off x="4991100" y="3314700"/>
            <a:ext cx="2933700" cy="1219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497513" y="2465388"/>
            <a:ext cx="1519237" cy="2547937"/>
            <a:chOff x="3555" y="975"/>
            <a:chExt cx="957" cy="1977"/>
          </a:xfrm>
        </p:grpSpPr>
        <p:sp>
          <p:nvSpPr>
            <p:cNvPr id="7270" name="Freeform 11"/>
            <p:cNvSpPr>
              <a:spLocks/>
            </p:cNvSpPr>
            <p:nvPr/>
          </p:nvSpPr>
          <p:spPr bwMode="auto">
            <a:xfrm>
              <a:off x="3588" y="1032"/>
              <a:ext cx="924" cy="1920"/>
            </a:xfrm>
            <a:custGeom>
              <a:avLst/>
              <a:gdLst>
                <a:gd name="T0" fmla="*/ 0 w 924"/>
                <a:gd name="T1" fmla="*/ 0 h 1920"/>
                <a:gd name="T2" fmla="*/ 924 w 924"/>
                <a:gd name="T3" fmla="*/ 312 h 1920"/>
                <a:gd name="T4" fmla="*/ 924 w 924"/>
                <a:gd name="T5" fmla="*/ 1920 h 1920"/>
                <a:gd name="T6" fmla="*/ 0 w 924"/>
                <a:gd name="T7" fmla="*/ 1608 h 1920"/>
                <a:gd name="T8" fmla="*/ 0 w 924"/>
                <a:gd name="T9" fmla="*/ 0 h 19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24"/>
                <a:gd name="T16" fmla="*/ 0 h 1920"/>
                <a:gd name="T17" fmla="*/ 924 w 924"/>
                <a:gd name="T18" fmla="*/ 1920 h 19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24" h="1920">
                  <a:moveTo>
                    <a:pt x="0" y="0"/>
                  </a:moveTo>
                  <a:lnTo>
                    <a:pt x="924" y="312"/>
                  </a:lnTo>
                  <a:lnTo>
                    <a:pt x="924" y="1920"/>
                  </a:lnTo>
                  <a:lnTo>
                    <a:pt x="0" y="1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FF">
                <a:alpha val="83920"/>
              </a:srgbClr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71" name="Freeform 12"/>
            <p:cNvSpPr>
              <a:spLocks/>
            </p:cNvSpPr>
            <p:nvPr/>
          </p:nvSpPr>
          <p:spPr bwMode="auto">
            <a:xfrm>
              <a:off x="3588" y="1032"/>
              <a:ext cx="924" cy="1920"/>
            </a:xfrm>
            <a:custGeom>
              <a:avLst/>
              <a:gdLst>
                <a:gd name="T0" fmla="*/ 0 w 924"/>
                <a:gd name="T1" fmla="*/ 0 h 1920"/>
                <a:gd name="T2" fmla="*/ 924 w 924"/>
                <a:gd name="T3" fmla="*/ 312 h 1920"/>
                <a:gd name="T4" fmla="*/ 924 w 924"/>
                <a:gd name="T5" fmla="*/ 1920 h 1920"/>
                <a:gd name="T6" fmla="*/ 0 60000 65536"/>
                <a:gd name="T7" fmla="*/ 0 60000 65536"/>
                <a:gd name="T8" fmla="*/ 0 60000 65536"/>
                <a:gd name="T9" fmla="*/ 0 w 924"/>
                <a:gd name="T10" fmla="*/ 0 h 1920"/>
                <a:gd name="T11" fmla="*/ 924 w 924"/>
                <a:gd name="T12" fmla="*/ 1920 h 19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4" h="1920">
                  <a:moveTo>
                    <a:pt x="0" y="0"/>
                  </a:moveTo>
                  <a:lnTo>
                    <a:pt x="924" y="312"/>
                  </a:lnTo>
                  <a:lnTo>
                    <a:pt x="924" y="192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72" name="Text Box 13"/>
            <p:cNvSpPr txBox="1">
              <a:spLocks noChangeArrowheads="1"/>
            </p:cNvSpPr>
            <p:nvPr/>
          </p:nvSpPr>
          <p:spPr bwMode="auto">
            <a:xfrm>
              <a:off x="3555" y="975"/>
              <a:ext cx="219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P</a:t>
              </a:r>
            </a:p>
          </p:txBody>
        </p:sp>
      </p:grpSp>
      <p:sp>
        <p:nvSpPr>
          <p:cNvPr id="132110" name="Line 14"/>
          <p:cNvSpPr>
            <a:spLocks noChangeShapeType="1"/>
          </p:cNvSpPr>
          <p:nvPr/>
        </p:nvSpPr>
        <p:spPr bwMode="auto">
          <a:xfrm flipH="1">
            <a:off x="6448425" y="3006725"/>
            <a:ext cx="246063" cy="469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11" name="Line 15"/>
          <p:cNvSpPr>
            <a:spLocks noChangeShapeType="1"/>
          </p:cNvSpPr>
          <p:nvPr/>
        </p:nvSpPr>
        <p:spPr bwMode="auto">
          <a:xfrm flipH="1">
            <a:off x="5981700" y="3476625"/>
            <a:ext cx="466725" cy="9334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12" name="Freeform 16"/>
          <p:cNvSpPr>
            <a:spLocks/>
          </p:cNvSpPr>
          <p:nvPr/>
        </p:nvSpPr>
        <p:spPr bwMode="auto">
          <a:xfrm>
            <a:off x="5003800" y="3124200"/>
            <a:ext cx="1784350" cy="1397000"/>
          </a:xfrm>
          <a:custGeom>
            <a:avLst/>
            <a:gdLst>
              <a:gd name="T0" fmla="*/ 1733867500 w 1124"/>
              <a:gd name="T1" fmla="*/ 0 h 880"/>
              <a:gd name="T2" fmla="*/ 2147483647 w 1124"/>
              <a:gd name="T3" fmla="*/ 1048385000 h 880"/>
              <a:gd name="T4" fmla="*/ 0 w 1124"/>
              <a:gd name="T5" fmla="*/ 2147483647 h 880"/>
              <a:gd name="T6" fmla="*/ 1733867500 w 1124"/>
              <a:gd name="T7" fmla="*/ 0 h 880"/>
              <a:gd name="T8" fmla="*/ 0 60000 65536"/>
              <a:gd name="T9" fmla="*/ 0 60000 65536"/>
              <a:gd name="T10" fmla="*/ 0 60000 65536"/>
              <a:gd name="T11" fmla="*/ 0 60000 65536"/>
              <a:gd name="T12" fmla="*/ 0 w 1124"/>
              <a:gd name="T13" fmla="*/ 0 h 880"/>
              <a:gd name="T14" fmla="*/ 1124 w 1124"/>
              <a:gd name="T15" fmla="*/ 880 h 8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4" h="880">
                <a:moveTo>
                  <a:pt x="688" y="0"/>
                </a:moveTo>
                <a:lnTo>
                  <a:pt x="1124" y="416"/>
                </a:lnTo>
                <a:lnTo>
                  <a:pt x="0" y="880"/>
                </a:lnTo>
                <a:lnTo>
                  <a:pt x="688" y="0"/>
                </a:lnTo>
                <a:close/>
              </a:path>
            </a:pathLst>
          </a:custGeom>
          <a:solidFill>
            <a:srgbClr val="DBBBDB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13" name="Line 17"/>
          <p:cNvSpPr>
            <a:spLocks noChangeShapeType="1"/>
          </p:cNvSpPr>
          <p:nvPr/>
        </p:nvSpPr>
        <p:spPr bwMode="auto">
          <a:xfrm>
            <a:off x="6076950" y="3124200"/>
            <a:ext cx="709613" cy="6619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14" name="Line 18"/>
          <p:cNvSpPr>
            <a:spLocks noChangeShapeType="1"/>
          </p:cNvSpPr>
          <p:nvPr/>
        </p:nvSpPr>
        <p:spPr bwMode="auto">
          <a:xfrm>
            <a:off x="6086475" y="3133725"/>
            <a:ext cx="695325" cy="657225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15" name="Text Box 19"/>
          <p:cNvSpPr txBox="1">
            <a:spLocks noChangeArrowheads="1"/>
          </p:cNvSpPr>
          <p:nvPr/>
        </p:nvSpPr>
        <p:spPr bwMode="auto">
          <a:xfrm>
            <a:off x="6638925" y="2921000"/>
            <a:ext cx="290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E</a:t>
            </a:r>
            <a:endParaRPr kumimoji="0" lang="en-US" altLang="zh-CN" sz="2400" i="1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16" name="Text Box 20"/>
          <p:cNvSpPr txBox="1">
            <a:spLocks noChangeArrowheads="1"/>
          </p:cNvSpPr>
          <p:nvPr/>
        </p:nvSpPr>
        <p:spPr bwMode="auto">
          <a:xfrm>
            <a:off x="5767388" y="4378325"/>
            <a:ext cx="2905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F</a:t>
            </a:r>
            <a:endParaRPr kumimoji="0" lang="en-US" altLang="zh-CN" sz="2400" i="1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17" name="Text Box 21"/>
          <p:cNvSpPr txBox="1">
            <a:spLocks noChangeArrowheads="1"/>
          </p:cNvSpPr>
          <p:nvPr/>
        </p:nvSpPr>
        <p:spPr bwMode="auto">
          <a:xfrm>
            <a:off x="5711825" y="2921000"/>
            <a:ext cx="322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M</a:t>
            </a:r>
            <a:endParaRPr kumimoji="0" lang="en-US" altLang="zh-CN" sz="2400" i="1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18" name="Text Box 22"/>
          <p:cNvSpPr txBox="1">
            <a:spLocks noChangeArrowheads="1"/>
          </p:cNvSpPr>
          <p:nvPr/>
        </p:nvSpPr>
        <p:spPr bwMode="auto">
          <a:xfrm>
            <a:off x="6607175" y="3797300"/>
            <a:ext cx="306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N</a:t>
            </a:r>
            <a:endParaRPr kumimoji="0" lang="en-US" altLang="zh-CN" sz="2400" i="1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19" name="AutoShape 23"/>
          <p:cNvSpPr>
            <a:spLocks noChangeArrowheads="1"/>
          </p:cNvSpPr>
          <p:nvPr/>
        </p:nvSpPr>
        <p:spPr bwMode="auto">
          <a:xfrm>
            <a:off x="6400800" y="3438525"/>
            <a:ext cx="74613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20" name="Text Box 24"/>
          <p:cNvSpPr txBox="1">
            <a:spLocks noChangeArrowheads="1"/>
          </p:cNvSpPr>
          <p:nvPr/>
        </p:nvSpPr>
        <p:spPr bwMode="auto">
          <a:xfrm>
            <a:off x="6118225" y="3340100"/>
            <a:ext cx="306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K</a:t>
            </a:r>
            <a:endParaRPr kumimoji="0" lang="en-US" altLang="zh-CN" sz="2400" i="1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21" name="Text Box 25"/>
          <p:cNvSpPr txBox="1">
            <a:spLocks noChangeArrowheads="1"/>
          </p:cNvSpPr>
          <p:nvPr/>
        </p:nvSpPr>
        <p:spPr bwMode="auto">
          <a:xfrm>
            <a:off x="4587875" y="4254500"/>
            <a:ext cx="322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A</a:t>
            </a:r>
            <a:endParaRPr kumimoji="0" lang="en-US" altLang="zh-CN" sz="2400" i="1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22" name="Text Box 26"/>
          <p:cNvSpPr txBox="1">
            <a:spLocks noChangeArrowheads="1"/>
          </p:cNvSpPr>
          <p:nvPr/>
        </p:nvSpPr>
        <p:spPr bwMode="auto">
          <a:xfrm>
            <a:off x="6280150" y="2311400"/>
            <a:ext cx="35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B</a:t>
            </a:r>
            <a:endParaRPr kumimoji="0" lang="en-US" altLang="zh-CN" sz="2400" i="1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23" name="Text Box 27"/>
          <p:cNvSpPr txBox="1">
            <a:spLocks noChangeArrowheads="1"/>
          </p:cNvSpPr>
          <p:nvPr/>
        </p:nvSpPr>
        <p:spPr bwMode="auto">
          <a:xfrm>
            <a:off x="7756525" y="3282950"/>
            <a:ext cx="290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C</a:t>
            </a:r>
            <a:endParaRPr kumimoji="0" lang="en-US" altLang="zh-CN" sz="2400" i="1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24" name="Line 28"/>
          <p:cNvSpPr>
            <a:spLocks noChangeShapeType="1"/>
          </p:cNvSpPr>
          <p:nvPr/>
        </p:nvSpPr>
        <p:spPr bwMode="auto">
          <a:xfrm flipV="1">
            <a:off x="4991100" y="3124200"/>
            <a:ext cx="1095375" cy="1400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857250" y="1477963"/>
            <a:ext cx="3433763" cy="3454400"/>
            <a:chOff x="540" y="931"/>
            <a:chExt cx="2163" cy="2176"/>
          </a:xfrm>
        </p:grpSpPr>
        <p:sp>
          <p:nvSpPr>
            <p:cNvPr id="7245" name="Line 30"/>
            <p:cNvSpPr>
              <a:spLocks noChangeShapeType="1"/>
            </p:cNvSpPr>
            <p:nvPr/>
          </p:nvSpPr>
          <p:spPr bwMode="auto">
            <a:xfrm>
              <a:off x="1608" y="1055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46" name="Line 31"/>
            <p:cNvSpPr>
              <a:spLocks noChangeShapeType="1"/>
            </p:cNvSpPr>
            <p:nvPr/>
          </p:nvSpPr>
          <p:spPr bwMode="auto">
            <a:xfrm>
              <a:off x="2208" y="1176"/>
              <a:ext cx="0" cy="17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47" name="Line 32"/>
            <p:cNvSpPr>
              <a:spLocks noChangeShapeType="1"/>
            </p:cNvSpPr>
            <p:nvPr/>
          </p:nvSpPr>
          <p:spPr bwMode="auto">
            <a:xfrm>
              <a:off x="888" y="1704"/>
              <a:ext cx="0" cy="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48" name="Line 33"/>
            <p:cNvSpPr>
              <a:spLocks noChangeShapeType="1"/>
            </p:cNvSpPr>
            <p:nvPr/>
          </p:nvSpPr>
          <p:spPr bwMode="auto">
            <a:xfrm>
              <a:off x="1112" y="1506"/>
              <a:ext cx="0" cy="1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49" name="Line 34"/>
            <p:cNvSpPr>
              <a:spLocks noChangeShapeType="1"/>
            </p:cNvSpPr>
            <p:nvPr/>
          </p:nvSpPr>
          <p:spPr bwMode="auto">
            <a:xfrm>
              <a:off x="1962" y="1881"/>
              <a:ext cx="4" cy="7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50" name="Text Box 35"/>
            <p:cNvSpPr txBox="1">
              <a:spLocks noChangeArrowheads="1"/>
            </p:cNvSpPr>
            <p:nvPr/>
          </p:nvSpPr>
          <p:spPr bwMode="auto">
            <a:xfrm>
              <a:off x="848" y="1335"/>
              <a:ext cx="3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a'</a:t>
              </a:r>
              <a:endParaRPr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51" name="Text Box 36"/>
            <p:cNvSpPr txBox="1">
              <a:spLocks noChangeArrowheads="1"/>
            </p:cNvSpPr>
            <p:nvPr/>
          </p:nvSpPr>
          <p:spPr bwMode="auto">
            <a:xfrm>
              <a:off x="1906" y="1680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c'</a:t>
              </a:r>
              <a:endParaRPr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52" name="Text Box 37"/>
            <p:cNvSpPr txBox="1">
              <a:spLocks noChangeArrowheads="1"/>
            </p:cNvSpPr>
            <p:nvPr/>
          </p:nvSpPr>
          <p:spPr bwMode="auto">
            <a:xfrm>
              <a:off x="1604" y="931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b'</a:t>
              </a:r>
              <a:endParaRPr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53" name="Text Box 38"/>
            <p:cNvSpPr txBox="1">
              <a:spLocks noChangeArrowheads="1"/>
            </p:cNvSpPr>
            <p:nvPr/>
          </p:nvSpPr>
          <p:spPr bwMode="auto">
            <a:xfrm>
              <a:off x="917" y="281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a</a:t>
              </a:r>
            </a:p>
          </p:txBody>
        </p:sp>
        <p:sp>
          <p:nvSpPr>
            <p:cNvPr id="7254" name="Text Box 39"/>
            <p:cNvSpPr txBox="1">
              <a:spLocks noChangeArrowheads="1"/>
            </p:cNvSpPr>
            <p:nvPr/>
          </p:nvSpPr>
          <p:spPr bwMode="auto">
            <a:xfrm>
              <a:off x="1586" y="1939"/>
              <a:ext cx="2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b </a:t>
              </a:r>
            </a:p>
          </p:txBody>
        </p:sp>
        <p:sp>
          <p:nvSpPr>
            <p:cNvPr id="7255" name="Text Box 40"/>
            <p:cNvSpPr txBox="1">
              <a:spLocks noChangeArrowheads="1"/>
            </p:cNvSpPr>
            <p:nvPr/>
          </p:nvSpPr>
          <p:spPr bwMode="auto">
            <a:xfrm>
              <a:off x="1926" y="2496"/>
              <a:ext cx="2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c </a:t>
              </a:r>
            </a:p>
          </p:txBody>
        </p:sp>
        <p:sp>
          <p:nvSpPr>
            <p:cNvPr id="7256" name="Freeform 41"/>
            <p:cNvSpPr>
              <a:spLocks/>
            </p:cNvSpPr>
            <p:nvPr/>
          </p:nvSpPr>
          <p:spPr bwMode="auto">
            <a:xfrm>
              <a:off x="1110" y="1056"/>
              <a:ext cx="852" cy="822"/>
            </a:xfrm>
            <a:custGeom>
              <a:avLst/>
              <a:gdLst>
                <a:gd name="T0" fmla="*/ 0 w 852"/>
                <a:gd name="T1" fmla="*/ 450 h 822"/>
                <a:gd name="T2" fmla="*/ 510 w 852"/>
                <a:gd name="T3" fmla="*/ 0 h 822"/>
                <a:gd name="T4" fmla="*/ 852 w 852"/>
                <a:gd name="T5" fmla="*/ 822 h 822"/>
                <a:gd name="T6" fmla="*/ 0 w 852"/>
                <a:gd name="T7" fmla="*/ 450 h 8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822"/>
                <a:gd name="T14" fmla="*/ 852 w 852"/>
                <a:gd name="T15" fmla="*/ 822 h 8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822">
                  <a:moveTo>
                    <a:pt x="0" y="450"/>
                  </a:moveTo>
                  <a:lnTo>
                    <a:pt x="510" y="0"/>
                  </a:lnTo>
                  <a:lnTo>
                    <a:pt x="852" y="822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57" name="Freeform 42"/>
            <p:cNvSpPr>
              <a:spLocks/>
            </p:cNvSpPr>
            <p:nvPr/>
          </p:nvSpPr>
          <p:spPr bwMode="auto">
            <a:xfrm flipV="1">
              <a:off x="1110" y="2130"/>
              <a:ext cx="852" cy="750"/>
            </a:xfrm>
            <a:custGeom>
              <a:avLst/>
              <a:gdLst>
                <a:gd name="T0" fmla="*/ 0 w 852"/>
                <a:gd name="T1" fmla="*/ 0 h 750"/>
                <a:gd name="T2" fmla="*/ 852 w 852"/>
                <a:gd name="T3" fmla="*/ 243 h 750"/>
                <a:gd name="T4" fmla="*/ 507 w 852"/>
                <a:gd name="T5" fmla="*/ 750 h 750"/>
                <a:gd name="T6" fmla="*/ 0 w 852"/>
                <a:gd name="T7" fmla="*/ 0 h 7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750"/>
                <a:gd name="T14" fmla="*/ 852 w 852"/>
                <a:gd name="T15" fmla="*/ 750 h 7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750">
                  <a:moveTo>
                    <a:pt x="0" y="0"/>
                  </a:moveTo>
                  <a:lnTo>
                    <a:pt x="852" y="243"/>
                  </a:lnTo>
                  <a:lnTo>
                    <a:pt x="507" y="75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58" name="Text Box 43"/>
            <p:cNvSpPr txBox="1">
              <a:spLocks noChangeArrowheads="1"/>
            </p:cNvSpPr>
            <p:nvPr/>
          </p:nvSpPr>
          <p:spPr bwMode="auto">
            <a:xfrm>
              <a:off x="540" y="1750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X </a:t>
              </a:r>
            </a:p>
          </p:txBody>
        </p:sp>
        <p:sp>
          <p:nvSpPr>
            <p:cNvPr id="7259" name="Text Box 44"/>
            <p:cNvSpPr txBox="1">
              <a:spLocks noChangeArrowheads="1"/>
            </p:cNvSpPr>
            <p:nvPr/>
          </p:nvSpPr>
          <p:spPr bwMode="auto">
            <a:xfrm>
              <a:off x="2407" y="1749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O </a:t>
              </a:r>
            </a:p>
          </p:txBody>
        </p:sp>
        <p:sp>
          <p:nvSpPr>
            <p:cNvPr id="7260" name="Line 45"/>
            <p:cNvSpPr>
              <a:spLocks noChangeShapeType="1"/>
            </p:cNvSpPr>
            <p:nvPr/>
          </p:nvSpPr>
          <p:spPr bwMode="auto">
            <a:xfrm>
              <a:off x="727" y="2004"/>
              <a:ext cx="17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61" name="Line 46"/>
            <p:cNvSpPr>
              <a:spLocks noChangeShapeType="1"/>
            </p:cNvSpPr>
            <p:nvPr/>
          </p:nvSpPr>
          <p:spPr bwMode="auto">
            <a:xfrm>
              <a:off x="1612" y="1941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62" name="Text Box 47"/>
            <p:cNvSpPr txBox="1">
              <a:spLocks noChangeArrowheads="1"/>
            </p:cNvSpPr>
            <p:nvPr/>
          </p:nvSpPr>
          <p:spPr bwMode="auto">
            <a:xfrm>
              <a:off x="1909" y="967"/>
              <a:ext cx="4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e'</a:t>
              </a:r>
              <a:endParaRPr lang="en-US" altLang="zh-CN" sz="2400" b="0">
                <a:solidFill>
                  <a:srgbClr val="3333CC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63" name="Text Box 48"/>
            <p:cNvSpPr txBox="1">
              <a:spLocks noChangeArrowheads="1"/>
            </p:cNvSpPr>
            <p:nvPr/>
          </p:nvSpPr>
          <p:spPr bwMode="auto">
            <a:xfrm>
              <a:off x="587" y="1537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f'</a:t>
              </a:r>
              <a:endParaRPr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64" name="Text Box 49"/>
            <p:cNvSpPr txBox="1">
              <a:spLocks noChangeArrowheads="1"/>
            </p:cNvSpPr>
            <p:nvPr/>
          </p:nvSpPr>
          <p:spPr bwMode="auto">
            <a:xfrm>
              <a:off x="622" y="2179"/>
              <a:ext cx="3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f</a:t>
              </a:r>
              <a:endParaRPr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65" name="Text Box 50"/>
            <p:cNvSpPr txBox="1">
              <a:spLocks noChangeArrowheads="1"/>
            </p:cNvSpPr>
            <p:nvPr/>
          </p:nvSpPr>
          <p:spPr bwMode="auto">
            <a:xfrm>
              <a:off x="1984" y="2857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e</a:t>
              </a:r>
              <a:endParaRPr kumimoji="0"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66" name="Line 51"/>
            <p:cNvSpPr>
              <a:spLocks noChangeShapeType="1"/>
            </p:cNvSpPr>
            <p:nvPr/>
          </p:nvSpPr>
          <p:spPr bwMode="auto">
            <a:xfrm flipH="1">
              <a:off x="1744" y="1176"/>
              <a:ext cx="464" cy="1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67" name="Line 52"/>
            <p:cNvSpPr>
              <a:spLocks noChangeShapeType="1"/>
            </p:cNvSpPr>
            <p:nvPr/>
          </p:nvSpPr>
          <p:spPr bwMode="auto">
            <a:xfrm flipV="1">
              <a:off x="888" y="1560"/>
              <a:ext cx="352" cy="1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68" name="Line 53"/>
            <p:cNvSpPr>
              <a:spLocks noChangeShapeType="1"/>
            </p:cNvSpPr>
            <p:nvPr/>
          </p:nvSpPr>
          <p:spPr bwMode="auto">
            <a:xfrm flipH="1" flipV="1">
              <a:off x="1770" y="2686"/>
              <a:ext cx="438" cy="2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69" name="Line 54"/>
            <p:cNvSpPr>
              <a:spLocks noChangeShapeType="1"/>
            </p:cNvSpPr>
            <p:nvPr/>
          </p:nvSpPr>
          <p:spPr bwMode="auto">
            <a:xfrm>
              <a:off x="888" y="2232"/>
              <a:ext cx="481" cy="2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</p:grpSp>
      <p:sp>
        <p:nvSpPr>
          <p:cNvPr id="132151" name="Line 55"/>
          <p:cNvSpPr>
            <a:spLocks noChangeShapeType="1"/>
          </p:cNvSpPr>
          <p:nvPr/>
        </p:nvSpPr>
        <p:spPr bwMode="auto">
          <a:xfrm>
            <a:off x="3502025" y="4622800"/>
            <a:ext cx="803275" cy="3968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52" name="Text Box 56"/>
          <p:cNvSpPr txBox="1">
            <a:spLocks noChangeArrowheads="1"/>
          </p:cNvSpPr>
          <p:nvPr/>
        </p:nvSpPr>
        <p:spPr bwMode="auto">
          <a:xfrm>
            <a:off x="3724275" y="4491038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P</a:t>
            </a:r>
            <a:r>
              <a:rPr lang="en-US" altLang="zh-CN" sz="1800" i="1" baseline="-8000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H</a:t>
            </a:r>
            <a:endParaRPr kumimoji="0"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53" name="Text Box 57"/>
          <p:cNvSpPr txBox="1">
            <a:spLocks noChangeArrowheads="1"/>
          </p:cNvSpPr>
          <p:nvPr/>
        </p:nvSpPr>
        <p:spPr bwMode="auto">
          <a:xfrm>
            <a:off x="1868488" y="3541713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m</a:t>
            </a:r>
            <a:endParaRPr kumimoji="0"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54" name="Text Box 58"/>
          <p:cNvSpPr txBox="1">
            <a:spLocks noChangeArrowheads="1"/>
          </p:cNvSpPr>
          <p:nvPr/>
        </p:nvSpPr>
        <p:spPr bwMode="auto">
          <a:xfrm>
            <a:off x="2570163" y="4249738"/>
            <a:ext cx="412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n</a:t>
            </a:r>
            <a:endParaRPr kumimoji="0"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55" name="Line 59"/>
          <p:cNvSpPr>
            <a:spLocks noChangeShapeType="1"/>
          </p:cNvSpPr>
          <p:nvPr/>
        </p:nvSpPr>
        <p:spPr bwMode="auto">
          <a:xfrm flipV="1">
            <a:off x="2181225" y="3157538"/>
            <a:ext cx="0" cy="78105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56" name="Line 60"/>
          <p:cNvSpPr>
            <a:spLocks noChangeShapeType="1"/>
          </p:cNvSpPr>
          <p:nvPr/>
        </p:nvSpPr>
        <p:spPr bwMode="auto">
          <a:xfrm flipV="1">
            <a:off x="2181225" y="2019300"/>
            <a:ext cx="0" cy="1157288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57" name="Text Box 61"/>
          <p:cNvSpPr txBox="1">
            <a:spLocks noChangeArrowheads="1"/>
          </p:cNvSpPr>
          <p:nvPr/>
        </p:nvSpPr>
        <p:spPr bwMode="auto">
          <a:xfrm>
            <a:off x="1819275" y="1706563"/>
            <a:ext cx="552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m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32158" name="Line 62"/>
          <p:cNvSpPr>
            <a:spLocks noChangeShapeType="1"/>
          </p:cNvSpPr>
          <p:nvPr/>
        </p:nvSpPr>
        <p:spPr bwMode="auto">
          <a:xfrm flipV="1">
            <a:off x="2824163" y="3162300"/>
            <a:ext cx="0" cy="1109663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59" name="Line 63"/>
          <p:cNvSpPr>
            <a:spLocks noChangeShapeType="1"/>
          </p:cNvSpPr>
          <p:nvPr/>
        </p:nvSpPr>
        <p:spPr bwMode="auto">
          <a:xfrm flipV="1">
            <a:off x="2824163" y="2857500"/>
            <a:ext cx="0" cy="328613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60" name="Text Box 64"/>
          <p:cNvSpPr txBox="1">
            <a:spLocks noChangeArrowheads="1"/>
          </p:cNvSpPr>
          <p:nvPr/>
        </p:nvSpPr>
        <p:spPr bwMode="auto">
          <a:xfrm>
            <a:off x="2393950" y="2782888"/>
            <a:ext cx="522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n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32161" name="Line 65"/>
          <p:cNvSpPr>
            <a:spLocks noChangeShapeType="1"/>
          </p:cNvSpPr>
          <p:nvPr/>
        </p:nvSpPr>
        <p:spPr bwMode="auto">
          <a:xfrm>
            <a:off x="2176463" y="2019300"/>
            <a:ext cx="647700" cy="8382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62" name="Text Box 66"/>
          <p:cNvSpPr txBox="1">
            <a:spLocks noChangeArrowheads="1"/>
          </p:cNvSpPr>
          <p:nvPr/>
        </p:nvSpPr>
        <p:spPr bwMode="auto">
          <a:xfrm>
            <a:off x="2165350" y="1892300"/>
            <a:ext cx="550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k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32163" name="Line 67"/>
          <p:cNvSpPr>
            <a:spLocks noChangeShapeType="1"/>
          </p:cNvSpPr>
          <p:nvPr/>
        </p:nvSpPr>
        <p:spPr bwMode="auto">
          <a:xfrm>
            <a:off x="2395538" y="2290763"/>
            <a:ext cx="0" cy="9144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64" name="Line 68"/>
          <p:cNvSpPr>
            <a:spLocks noChangeShapeType="1"/>
          </p:cNvSpPr>
          <p:nvPr/>
        </p:nvSpPr>
        <p:spPr bwMode="auto">
          <a:xfrm>
            <a:off x="2395538" y="3176588"/>
            <a:ext cx="0" cy="866775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65" name="Text Box 69"/>
          <p:cNvSpPr txBox="1">
            <a:spLocks noChangeArrowheads="1"/>
          </p:cNvSpPr>
          <p:nvPr/>
        </p:nvSpPr>
        <p:spPr bwMode="auto">
          <a:xfrm>
            <a:off x="2092325" y="395446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k</a:t>
            </a:r>
            <a:endParaRPr kumimoji="0"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66" name="Text Box 70"/>
          <p:cNvSpPr txBox="1">
            <a:spLocks noChangeArrowheads="1"/>
          </p:cNvSpPr>
          <p:nvPr/>
        </p:nvSpPr>
        <p:spPr bwMode="auto">
          <a:xfrm>
            <a:off x="2562225" y="4525963"/>
            <a:ext cx="590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≡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1</a:t>
            </a:r>
            <a:endParaRPr lang="en-US" altLang="zh-CN" sz="18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67" name="Line 71"/>
          <p:cNvSpPr>
            <a:spLocks noChangeShapeType="1"/>
          </p:cNvSpPr>
          <p:nvPr/>
        </p:nvSpPr>
        <p:spPr bwMode="auto">
          <a:xfrm flipV="1">
            <a:off x="2819400" y="2127250"/>
            <a:ext cx="0" cy="73025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68" name="Text Box 72"/>
          <p:cNvSpPr txBox="1">
            <a:spLocks noChangeArrowheads="1"/>
          </p:cNvSpPr>
          <p:nvPr/>
        </p:nvSpPr>
        <p:spPr bwMode="auto">
          <a:xfrm>
            <a:off x="2609850" y="1773238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1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32169" name="Line 73"/>
          <p:cNvSpPr>
            <a:spLocks noChangeShapeType="1"/>
          </p:cNvSpPr>
          <p:nvPr/>
        </p:nvSpPr>
        <p:spPr bwMode="auto">
          <a:xfrm>
            <a:off x="2393950" y="4051300"/>
            <a:ext cx="438150" cy="222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70" name="Line 74"/>
          <p:cNvSpPr>
            <a:spLocks noChangeShapeType="1"/>
          </p:cNvSpPr>
          <p:nvPr/>
        </p:nvSpPr>
        <p:spPr bwMode="auto">
          <a:xfrm>
            <a:off x="2181225" y="3930650"/>
            <a:ext cx="212725" cy="1206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71" name="AutoShape 75"/>
          <p:cNvSpPr>
            <a:spLocks noChangeArrowheads="1"/>
          </p:cNvSpPr>
          <p:nvPr/>
        </p:nvSpPr>
        <p:spPr bwMode="auto">
          <a:xfrm>
            <a:off x="2357438" y="4010025"/>
            <a:ext cx="74612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72" name="Text Box 76"/>
          <p:cNvSpPr txBox="1">
            <a:spLocks noChangeArrowheads="1"/>
          </p:cNvSpPr>
          <p:nvPr/>
        </p:nvSpPr>
        <p:spPr bwMode="auto">
          <a:xfrm>
            <a:off x="846138" y="1668463"/>
            <a:ext cx="1217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2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‘</a:t>
            </a:r>
            <a:r>
              <a:rPr lang="en-US" altLang="zh-CN" sz="1800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≡</a:t>
            </a:r>
            <a:r>
              <a:rPr lang="en-US" altLang="zh-CN" sz="800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 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3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32173" name="Line 77"/>
          <p:cNvSpPr>
            <a:spLocks noChangeShapeType="1"/>
          </p:cNvSpPr>
          <p:nvPr/>
        </p:nvSpPr>
        <p:spPr bwMode="auto">
          <a:xfrm>
            <a:off x="1962150" y="2470150"/>
            <a:ext cx="0" cy="7239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74" name="Line 78"/>
          <p:cNvSpPr>
            <a:spLocks noChangeShapeType="1"/>
          </p:cNvSpPr>
          <p:nvPr/>
        </p:nvSpPr>
        <p:spPr bwMode="auto">
          <a:xfrm>
            <a:off x="1962150" y="3181350"/>
            <a:ext cx="0" cy="6477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75" name="Text Box 79"/>
          <p:cNvSpPr txBox="1">
            <a:spLocks noChangeArrowheads="1"/>
          </p:cNvSpPr>
          <p:nvPr/>
        </p:nvSpPr>
        <p:spPr bwMode="auto">
          <a:xfrm>
            <a:off x="1652588" y="3751263"/>
            <a:ext cx="358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3</a:t>
            </a:r>
          </a:p>
        </p:txBody>
      </p:sp>
      <p:sp>
        <p:nvSpPr>
          <p:cNvPr id="132176" name="Line 80"/>
          <p:cNvSpPr>
            <a:spLocks noChangeShapeType="1"/>
          </p:cNvSpPr>
          <p:nvPr/>
        </p:nvSpPr>
        <p:spPr bwMode="auto">
          <a:xfrm>
            <a:off x="1962150" y="3822700"/>
            <a:ext cx="0" cy="6985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77" name="Text Box 81"/>
          <p:cNvSpPr txBox="1">
            <a:spLocks noChangeArrowheads="1"/>
          </p:cNvSpPr>
          <p:nvPr/>
        </p:nvSpPr>
        <p:spPr bwMode="auto">
          <a:xfrm>
            <a:off x="1733550" y="4478338"/>
            <a:ext cx="40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2</a:t>
            </a:r>
          </a:p>
        </p:txBody>
      </p:sp>
      <p:sp>
        <p:nvSpPr>
          <p:cNvPr id="132178" name="Text Box 82"/>
          <p:cNvSpPr txBox="1">
            <a:spLocks noChangeArrowheads="1"/>
          </p:cNvSpPr>
          <p:nvPr/>
        </p:nvSpPr>
        <p:spPr bwMode="auto">
          <a:xfrm>
            <a:off x="2551113" y="4287838"/>
            <a:ext cx="422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( )</a:t>
            </a:r>
          </a:p>
        </p:txBody>
      </p:sp>
      <p:sp>
        <p:nvSpPr>
          <p:cNvPr id="132179" name="Text Box 83"/>
          <p:cNvSpPr txBox="1">
            <a:spLocks noChangeArrowheads="1"/>
          </p:cNvSpPr>
          <p:nvPr/>
        </p:nvSpPr>
        <p:spPr bwMode="auto">
          <a:xfrm>
            <a:off x="1428750" y="1662113"/>
            <a:ext cx="523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(  )</a:t>
            </a:r>
          </a:p>
        </p:txBody>
      </p:sp>
      <p:sp>
        <p:nvSpPr>
          <p:cNvPr id="132180" name="Freeform 84"/>
          <p:cNvSpPr>
            <a:spLocks/>
          </p:cNvSpPr>
          <p:nvPr/>
        </p:nvSpPr>
        <p:spPr bwMode="auto">
          <a:xfrm>
            <a:off x="1543050" y="1974850"/>
            <a:ext cx="425450" cy="482600"/>
          </a:xfrm>
          <a:custGeom>
            <a:avLst/>
            <a:gdLst>
              <a:gd name="T0" fmla="*/ 0 w 348"/>
              <a:gd name="T1" fmla="*/ 0 h 272"/>
              <a:gd name="T2" fmla="*/ 430458818 w 348"/>
              <a:gd name="T3" fmla="*/ 377762247 h 272"/>
              <a:gd name="T4" fmla="*/ 520137076 w 348"/>
              <a:gd name="T5" fmla="*/ 856260147 h 272"/>
              <a:gd name="T6" fmla="*/ 0 60000 65536"/>
              <a:gd name="T7" fmla="*/ 0 60000 65536"/>
              <a:gd name="T8" fmla="*/ 0 60000 65536"/>
              <a:gd name="T9" fmla="*/ 0 w 348"/>
              <a:gd name="T10" fmla="*/ 0 h 272"/>
              <a:gd name="T11" fmla="*/ 348 w 348"/>
              <a:gd name="T12" fmla="*/ 272 h 2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8" h="272">
                <a:moveTo>
                  <a:pt x="0" y="0"/>
                </a:moveTo>
                <a:cubicBezTo>
                  <a:pt x="115" y="37"/>
                  <a:pt x="230" y="75"/>
                  <a:pt x="288" y="120"/>
                </a:cubicBezTo>
                <a:cubicBezTo>
                  <a:pt x="346" y="165"/>
                  <a:pt x="347" y="218"/>
                  <a:pt x="348" y="272"/>
                </a:cubicBezTo>
              </a:path>
            </a:pathLst>
          </a:custGeom>
          <a:noFill/>
          <a:ln w="12700" cap="flat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81" name="Line 85"/>
          <p:cNvSpPr>
            <a:spLocks noChangeShapeType="1"/>
          </p:cNvSpPr>
          <p:nvPr/>
        </p:nvSpPr>
        <p:spPr bwMode="auto">
          <a:xfrm flipV="1">
            <a:off x="1968500" y="2301875"/>
            <a:ext cx="412750" cy="1651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82" name="Line 86"/>
          <p:cNvSpPr>
            <a:spLocks noChangeShapeType="1"/>
          </p:cNvSpPr>
          <p:nvPr/>
        </p:nvSpPr>
        <p:spPr bwMode="auto">
          <a:xfrm flipV="1">
            <a:off x="2403475" y="2159000"/>
            <a:ext cx="365125" cy="139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83" name="AutoShape 87"/>
          <p:cNvSpPr>
            <a:spLocks noChangeArrowheads="1"/>
          </p:cNvSpPr>
          <p:nvPr/>
        </p:nvSpPr>
        <p:spPr bwMode="auto">
          <a:xfrm>
            <a:off x="2357438" y="2266950"/>
            <a:ext cx="74612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185" name="Text Box 89"/>
          <p:cNvSpPr txBox="1">
            <a:spLocks noChangeArrowheads="1"/>
          </p:cNvSpPr>
          <p:nvPr/>
        </p:nvSpPr>
        <p:spPr bwMode="auto">
          <a:xfrm>
            <a:off x="188913" y="1536700"/>
            <a:ext cx="679450" cy="4953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33CC"/>
            </a:solidFill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例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:</a:t>
            </a:r>
          </a:p>
        </p:txBody>
      </p:sp>
      <p:sp>
        <p:nvSpPr>
          <p:cNvPr id="132186" name="Text Box 90"/>
          <p:cNvSpPr txBox="1">
            <a:spLocks noChangeArrowheads="1"/>
          </p:cNvSpPr>
          <p:nvPr/>
        </p:nvSpPr>
        <p:spPr bwMode="auto">
          <a:xfrm>
            <a:off x="4024313" y="152400"/>
            <a:ext cx="4776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分析：</a:t>
            </a:r>
            <a:r>
              <a:rPr kumimoji="0" lang="en-US" altLang="zh-CN" sz="2400">
                <a:solidFill>
                  <a:srgbClr val="333333"/>
                </a:solidFill>
                <a:ea typeface="黑体" pitchFamily="2" charset="-122"/>
                <a:sym typeface="Symbol" pitchFamily="18" charset="2"/>
              </a:rPr>
              <a:t>•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交点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K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为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△与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EF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的公有点</a:t>
            </a:r>
          </a:p>
        </p:txBody>
      </p:sp>
      <p:sp>
        <p:nvSpPr>
          <p:cNvPr id="132187" name="Text Box 91"/>
          <p:cNvSpPr txBox="1">
            <a:spLocks noChangeArrowheads="1"/>
          </p:cNvSpPr>
          <p:nvPr/>
        </p:nvSpPr>
        <p:spPr bwMode="auto">
          <a:xfrm>
            <a:off x="4943475" y="495300"/>
            <a:ext cx="3313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333333"/>
                </a:solidFill>
                <a:ea typeface="黑体" pitchFamily="2" charset="-122"/>
                <a:sym typeface="Symbol" pitchFamily="18" charset="2"/>
              </a:rPr>
              <a:t>•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含 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EF</a:t>
            </a:r>
            <a:r>
              <a:rPr kumimoji="0" lang="zh-CN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作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辅助平面</a:t>
            </a:r>
            <a:r>
              <a:rPr kumimoji="0" lang="zh-CN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P</a:t>
            </a:r>
          </a:p>
        </p:txBody>
      </p:sp>
      <p:sp>
        <p:nvSpPr>
          <p:cNvPr id="132188" name="Text Box 92"/>
          <p:cNvSpPr txBox="1">
            <a:spLocks noChangeArrowheads="1"/>
          </p:cNvSpPr>
          <p:nvPr/>
        </p:nvSpPr>
        <p:spPr bwMode="auto">
          <a:xfrm>
            <a:off x="4943475" y="819150"/>
            <a:ext cx="3910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333333"/>
                </a:solidFill>
                <a:ea typeface="黑体" pitchFamily="2" charset="-122"/>
                <a:sym typeface="Symbol" pitchFamily="18" charset="2"/>
              </a:rPr>
              <a:t>•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△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与 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P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相交于直线 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MN</a:t>
            </a:r>
          </a:p>
        </p:txBody>
      </p:sp>
      <p:sp>
        <p:nvSpPr>
          <p:cNvPr id="132189" name="Text Box 93"/>
          <p:cNvSpPr txBox="1">
            <a:spLocks noChangeArrowheads="1"/>
          </p:cNvSpPr>
          <p:nvPr/>
        </p:nvSpPr>
        <p:spPr bwMode="auto">
          <a:xfrm>
            <a:off x="4948238" y="1162050"/>
            <a:ext cx="3924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333333"/>
                </a:solidFill>
                <a:ea typeface="黑体" pitchFamily="2" charset="-122"/>
                <a:sym typeface="Symbol" pitchFamily="18" charset="2"/>
              </a:rPr>
              <a:t>•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MN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与 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EF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共面于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P,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交于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K</a:t>
            </a:r>
          </a:p>
        </p:txBody>
      </p:sp>
      <p:sp>
        <p:nvSpPr>
          <p:cNvPr id="132190" name="Text Box 94"/>
          <p:cNvSpPr txBox="1">
            <a:spLocks noChangeArrowheads="1"/>
          </p:cNvSpPr>
          <p:nvPr/>
        </p:nvSpPr>
        <p:spPr bwMode="auto">
          <a:xfrm>
            <a:off x="4941888" y="1512888"/>
            <a:ext cx="42021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333333"/>
                </a:solidFill>
                <a:ea typeface="黑体" pitchFamily="2" charset="-122"/>
                <a:sym typeface="Symbol" pitchFamily="18" charset="2"/>
              </a:rPr>
              <a:t>•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K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既在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EF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上，又在△上，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交点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K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即为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△与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EF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的交点。</a:t>
            </a:r>
          </a:p>
        </p:txBody>
      </p:sp>
      <p:sp>
        <p:nvSpPr>
          <p:cNvPr id="132191" name="Text Box 95"/>
          <p:cNvSpPr txBox="1">
            <a:spLocks noChangeArrowheads="1"/>
          </p:cNvSpPr>
          <p:nvPr/>
        </p:nvSpPr>
        <p:spPr bwMode="auto">
          <a:xfrm>
            <a:off x="338138" y="4511675"/>
            <a:ext cx="54705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步骤：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① 含已知线 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EF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作辅助面 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P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</a:t>
            </a:r>
            <a:r>
              <a:rPr kumimoji="0" lang="zh-CN" altLang="en-US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⊥</a:t>
            </a:r>
            <a:r>
              <a:rPr kumimoji="0"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H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面）</a:t>
            </a:r>
          </a:p>
        </p:txBody>
      </p:sp>
      <p:sp>
        <p:nvSpPr>
          <p:cNvPr id="132192" name="Text Box 96"/>
          <p:cNvSpPr txBox="1">
            <a:spLocks noChangeArrowheads="1"/>
          </p:cNvSpPr>
          <p:nvPr/>
        </p:nvSpPr>
        <p:spPr bwMode="auto">
          <a:xfrm>
            <a:off x="338138" y="5238750"/>
            <a:ext cx="4459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②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求 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P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与已知面的交线 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MN</a:t>
            </a:r>
          </a:p>
        </p:txBody>
      </p:sp>
      <p:sp>
        <p:nvSpPr>
          <p:cNvPr id="132193" name="Text Box 97"/>
          <p:cNvSpPr txBox="1">
            <a:spLocks noChangeArrowheads="1"/>
          </p:cNvSpPr>
          <p:nvPr/>
        </p:nvSpPr>
        <p:spPr bwMode="auto">
          <a:xfrm>
            <a:off x="338138" y="5588000"/>
            <a:ext cx="4770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③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求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MN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与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EF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的交点 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K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，即所求</a:t>
            </a:r>
          </a:p>
        </p:txBody>
      </p:sp>
      <p:sp>
        <p:nvSpPr>
          <p:cNvPr id="132194" name="Text Box 98"/>
          <p:cNvSpPr txBox="1">
            <a:spLocks noChangeArrowheads="1"/>
          </p:cNvSpPr>
          <p:nvPr/>
        </p:nvSpPr>
        <p:spPr bwMode="auto">
          <a:xfrm>
            <a:off x="338138" y="5926138"/>
            <a:ext cx="5062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④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利用重影点判断可见性</a:t>
            </a:r>
          </a:p>
        </p:txBody>
      </p:sp>
      <p:grpSp>
        <p:nvGrpSpPr>
          <p:cNvPr id="4" name="Group 99"/>
          <p:cNvGrpSpPr>
            <a:grpSpLocks/>
          </p:cNvGrpSpPr>
          <p:nvPr/>
        </p:nvGrpSpPr>
        <p:grpSpPr bwMode="auto">
          <a:xfrm>
            <a:off x="6108700" y="3340100"/>
            <a:ext cx="373063" cy="366713"/>
            <a:chOff x="4651" y="2912"/>
            <a:chExt cx="235" cy="231"/>
          </a:xfrm>
        </p:grpSpPr>
        <p:sp>
          <p:nvSpPr>
            <p:cNvPr id="7243" name="AutoShape 100"/>
            <p:cNvSpPr>
              <a:spLocks noChangeArrowheads="1"/>
            </p:cNvSpPr>
            <p:nvPr/>
          </p:nvSpPr>
          <p:spPr bwMode="auto">
            <a:xfrm>
              <a:off x="4839" y="2974"/>
              <a:ext cx="47" cy="47"/>
            </a:xfrm>
            <a:prstGeom prst="flowChartConnector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7244" name="Text Box 101"/>
            <p:cNvSpPr txBox="1">
              <a:spLocks noChangeArrowheads="1"/>
            </p:cNvSpPr>
            <p:nvPr/>
          </p:nvSpPr>
          <p:spPr bwMode="auto">
            <a:xfrm>
              <a:off x="4651" y="2912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K</a:t>
              </a:r>
              <a:endParaRPr kumimoji="0" lang="en-US" altLang="zh-CN" sz="24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</p:grpSp>
      <p:sp>
        <p:nvSpPr>
          <p:cNvPr id="132199" name="Line 103"/>
          <p:cNvSpPr>
            <a:spLocks noChangeShapeType="1"/>
          </p:cNvSpPr>
          <p:nvPr/>
        </p:nvSpPr>
        <p:spPr bwMode="auto">
          <a:xfrm flipH="1">
            <a:off x="5003800" y="3789363"/>
            <a:ext cx="1771650" cy="7350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200" name="Line 104"/>
          <p:cNvSpPr>
            <a:spLocks noChangeShapeType="1"/>
          </p:cNvSpPr>
          <p:nvPr/>
        </p:nvSpPr>
        <p:spPr bwMode="auto">
          <a:xfrm flipH="1">
            <a:off x="4994275" y="3122613"/>
            <a:ext cx="1082675" cy="1400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2201" name="Text Box 105"/>
          <p:cNvSpPr txBox="1">
            <a:spLocks noChangeArrowheads="1"/>
          </p:cNvSpPr>
          <p:nvPr/>
        </p:nvSpPr>
        <p:spPr bwMode="auto">
          <a:xfrm>
            <a:off x="5889625" y="5556250"/>
            <a:ext cx="2578100" cy="5572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33CC"/>
            </a:solidFill>
            <a:miter lim="800000"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CC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包线作面</a:t>
            </a:r>
          </a:p>
        </p:txBody>
      </p:sp>
    </p:spTree>
    <p:extLst>
      <p:ext uri="{BB962C8B-B14F-4D97-AF65-F5344CB8AC3E}">
        <p14:creationId xmlns:p14="http://schemas.microsoft.com/office/powerpoint/2010/main" val="244796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32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2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2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32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32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32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2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3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2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32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2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2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32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32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132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3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3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13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32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132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132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132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132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32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132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32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132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132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132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132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3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13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13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500"/>
                                        <p:tgtEl>
                                          <p:spTgt spid="13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13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13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13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13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500"/>
                                        <p:tgtEl>
                                          <p:spTgt spid="13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132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13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13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6" dur="500"/>
                                        <p:tgtEl>
                                          <p:spTgt spid="13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0" dur="500"/>
                                        <p:tgtEl>
                                          <p:spTgt spid="13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 nodeType="clickPar">
                      <p:stCondLst>
                        <p:cond delay="indefinite"/>
                      </p:stCondLst>
                      <p:childTnLst>
                        <p:par>
                          <p:cTn id="2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5" dur="500"/>
                                        <p:tgtEl>
                                          <p:spTgt spid="13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9" dur="500"/>
                                        <p:tgtEl>
                                          <p:spTgt spid="132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3" dur="500"/>
                                        <p:tgtEl>
                                          <p:spTgt spid="13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13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1" dur="500"/>
                                        <p:tgtEl>
                                          <p:spTgt spid="132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Par">
                      <p:stCondLst>
                        <p:cond delay="indefinite"/>
                      </p:stCondLst>
                      <p:childTnLst>
                        <p:par>
                          <p:cTn id="2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6" dur="500"/>
                                        <p:tgtEl>
                                          <p:spTgt spid="132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 nodeType="clickPar">
                      <p:stCondLst>
                        <p:cond delay="indefinite"/>
                      </p:stCondLst>
                      <p:childTnLst>
                        <p:par>
                          <p:cTn id="2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1" dur="500"/>
                                        <p:tgtEl>
                                          <p:spTgt spid="13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 nodeType="clickPar">
                      <p:stCondLst>
                        <p:cond delay="indefinite"/>
                      </p:stCondLst>
                      <p:childTnLst>
                        <p:par>
                          <p:cTn id="2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6" dur="500"/>
                                        <p:tgtEl>
                                          <p:spTgt spid="132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 nodeType="clickPar">
                      <p:stCondLst>
                        <p:cond delay="indefinite"/>
                      </p:stCondLst>
                      <p:childTnLst>
                        <p:par>
                          <p:cTn id="2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1" dur="500"/>
                                        <p:tgtEl>
                                          <p:spTgt spid="132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 nodeType="clickPar">
                      <p:stCondLst>
                        <p:cond delay="indefinite"/>
                      </p:stCondLst>
                      <p:childTnLst>
                        <p:par>
                          <p:cTn id="2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1000"/>
                                        <p:tgtEl>
                                          <p:spTgt spid="132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1000" fill="hold"/>
                                        <p:tgtEl>
                                          <p:spTgt spid="132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1000" fill="hold"/>
                                        <p:tgtEl>
                                          <p:spTgt spid="132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8" grpId="0" animBg="1"/>
      <p:bldP spid="132099" grpId="0" animBg="1"/>
      <p:bldP spid="132100" grpId="0" animBg="1"/>
      <p:bldP spid="132101" grpId="0" animBg="1"/>
      <p:bldP spid="132102" grpId="0" animBg="1"/>
      <p:bldP spid="132104" grpId="0" animBg="1"/>
      <p:bldP spid="132105" grpId="0" animBg="1"/>
      <p:bldP spid="132110" grpId="0" animBg="1"/>
      <p:bldP spid="132111" grpId="0" animBg="1"/>
      <p:bldP spid="132112" grpId="0" animBg="1"/>
      <p:bldP spid="132113" grpId="0" animBg="1"/>
      <p:bldP spid="132114" grpId="0" animBg="1"/>
      <p:bldP spid="132115" grpId="0" autoUpdateAnimBg="0"/>
      <p:bldP spid="132116" grpId="0" autoUpdateAnimBg="0"/>
      <p:bldP spid="132117" grpId="0" autoUpdateAnimBg="0"/>
      <p:bldP spid="132118" grpId="0" autoUpdateAnimBg="0"/>
      <p:bldP spid="132119" grpId="0" animBg="1"/>
      <p:bldP spid="132120" grpId="0" autoUpdateAnimBg="0"/>
      <p:bldP spid="132124" grpId="0" animBg="1"/>
      <p:bldP spid="132151" grpId="0" animBg="1"/>
      <p:bldP spid="132152" grpId="0" autoUpdateAnimBg="0"/>
      <p:bldP spid="132153" grpId="0" autoUpdateAnimBg="0"/>
      <p:bldP spid="132154" grpId="0" autoUpdateAnimBg="0"/>
      <p:bldP spid="132155" grpId="0" animBg="1"/>
      <p:bldP spid="132156" grpId="0" animBg="1"/>
      <p:bldP spid="132157" grpId="0" autoUpdateAnimBg="0"/>
      <p:bldP spid="132158" grpId="0" animBg="1"/>
      <p:bldP spid="132159" grpId="0" animBg="1"/>
      <p:bldP spid="132160" grpId="0" autoUpdateAnimBg="0"/>
      <p:bldP spid="132161" grpId="0" animBg="1"/>
      <p:bldP spid="132162" grpId="0" autoUpdateAnimBg="0"/>
      <p:bldP spid="132163" grpId="0" animBg="1"/>
      <p:bldP spid="132164" grpId="0" animBg="1"/>
      <p:bldP spid="132165" grpId="0" autoUpdateAnimBg="0"/>
      <p:bldP spid="132166" grpId="0" autoUpdateAnimBg="0"/>
      <p:bldP spid="132167" grpId="0" animBg="1"/>
      <p:bldP spid="132168" grpId="0" autoUpdateAnimBg="0"/>
      <p:bldP spid="132169" grpId="0" animBg="1"/>
      <p:bldP spid="132170" grpId="0" animBg="1"/>
      <p:bldP spid="132171" grpId="0" animBg="1"/>
      <p:bldP spid="132172" grpId="0" autoUpdateAnimBg="0"/>
      <p:bldP spid="132173" grpId="0" animBg="1"/>
      <p:bldP spid="132174" grpId="0" animBg="1"/>
      <p:bldP spid="132175" grpId="0" autoUpdateAnimBg="0"/>
      <p:bldP spid="132176" grpId="0" animBg="1"/>
      <p:bldP spid="132177" grpId="0" autoUpdateAnimBg="0"/>
      <p:bldP spid="132178" grpId="0" autoUpdateAnimBg="0"/>
      <p:bldP spid="132179" grpId="0" autoUpdateAnimBg="0"/>
      <p:bldP spid="132180" grpId="0" animBg="1"/>
      <p:bldP spid="132181" grpId="0" animBg="1"/>
      <p:bldP spid="132182" grpId="0" animBg="1"/>
      <p:bldP spid="132183" grpId="0" animBg="1"/>
      <p:bldP spid="132185" grpId="0" animBg="1" autoUpdateAnimBg="0"/>
      <p:bldP spid="132186" grpId="0" autoUpdateAnimBg="0"/>
      <p:bldP spid="132187" grpId="0" autoUpdateAnimBg="0"/>
      <p:bldP spid="132188" grpId="0" autoUpdateAnimBg="0"/>
      <p:bldP spid="132189" grpId="0" autoUpdateAnimBg="0"/>
      <p:bldP spid="132190" grpId="0" autoUpdateAnimBg="0"/>
      <p:bldP spid="132191" grpId="0" autoUpdateAnimBg="0"/>
      <p:bldP spid="132192" grpId="0" autoUpdateAnimBg="0"/>
      <p:bldP spid="132193" grpId="0" autoUpdateAnimBg="0"/>
      <p:bldP spid="132194" grpId="0" autoUpdateAnimBg="0"/>
      <p:bldP spid="132199" grpId="0" animBg="1"/>
      <p:bldP spid="132200" grpId="0" animBg="1"/>
      <p:bldP spid="13220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695EF6-ACAB-4D81-9E9F-9CBD1BE652A6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24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133213" name="Freeform 93"/>
          <p:cNvSpPr>
            <a:spLocks/>
          </p:cNvSpPr>
          <p:nvPr/>
        </p:nvSpPr>
        <p:spPr bwMode="auto">
          <a:xfrm>
            <a:off x="3222625" y="3948113"/>
            <a:ext cx="1236663" cy="1433512"/>
          </a:xfrm>
          <a:custGeom>
            <a:avLst/>
            <a:gdLst>
              <a:gd name="T0" fmla="*/ 237645407 w 786"/>
              <a:gd name="T1" fmla="*/ 0 h 882"/>
              <a:gd name="T2" fmla="*/ 0 w 786"/>
              <a:gd name="T3" fmla="*/ 1252114221 h 882"/>
              <a:gd name="T4" fmla="*/ 1945719307 w 786"/>
              <a:gd name="T5" fmla="*/ 2147483647 h 882"/>
              <a:gd name="T6" fmla="*/ 1945719307 w 786"/>
              <a:gd name="T7" fmla="*/ 729079002 h 882"/>
              <a:gd name="T8" fmla="*/ 237645407 w 786"/>
              <a:gd name="T9" fmla="*/ 0 h 8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86"/>
              <a:gd name="T16" fmla="*/ 0 h 882"/>
              <a:gd name="T17" fmla="*/ 786 w 786"/>
              <a:gd name="T18" fmla="*/ 882 h 8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86" h="882">
                <a:moveTo>
                  <a:pt x="96" y="0"/>
                </a:moveTo>
                <a:lnTo>
                  <a:pt x="0" y="474"/>
                </a:lnTo>
                <a:lnTo>
                  <a:pt x="786" y="882"/>
                </a:lnTo>
                <a:lnTo>
                  <a:pt x="786" y="276"/>
                </a:lnTo>
                <a:lnTo>
                  <a:pt x="96" y="0"/>
                </a:lnTo>
                <a:close/>
              </a:path>
            </a:pathLst>
          </a:custGeom>
          <a:solidFill>
            <a:schemeClr val="tx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14" name="Freeform 94"/>
          <p:cNvSpPr>
            <a:spLocks/>
          </p:cNvSpPr>
          <p:nvPr/>
        </p:nvSpPr>
        <p:spPr bwMode="auto">
          <a:xfrm>
            <a:off x="4459288" y="3914775"/>
            <a:ext cx="1590675" cy="1466850"/>
          </a:xfrm>
          <a:custGeom>
            <a:avLst/>
            <a:gdLst>
              <a:gd name="T0" fmla="*/ 0 w 1002"/>
              <a:gd name="T1" fmla="*/ 756046875 h 924"/>
              <a:gd name="T2" fmla="*/ 0 w 1002"/>
              <a:gd name="T3" fmla="*/ 2147483647 h 924"/>
              <a:gd name="T4" fmla="*/ 2147483647 w 1002"/>
              <a:gd name="T5" fmla="*/ 1451610000 h 924"/>
              <a:gd name="T6" fmla="*/ 2147173125 w 1002"/>
              <a:gd name="T7" fmla="*/ 0 h 924"/>
              <a:gd name="T8" fmla="*/ 0 w 1002"/>
              <a:gd name="T9" fmla="*/ 756046875 h 9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2"/>
              <a:gd name="T16" fmla="*/ 0 h 924"/>
              <a:gd name="T17" fmla="*/ 1002 w 1002"/>
              <a:gd name="T18" fmla="*/ 924 h 9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2" h="924">
                <a:moveTo>
                  <a:pt x="0" y="300"/>
                </a:moveTo>
                <a:lnTo>
                  <a:pt x="0" y="924"/>
                </a:lnTo>
                <a:lnTo>
                  <a:pt x="1002" y="576"/>
                </a:lnTo>
                <a:lnTo>
                  <a:pt x="852" y="0"/>
                </a:lnTo>
                <a:lnTo>
                  <a:pt x="0" y="300"/>
                </a:lnTo>
                <a:close/>
              </a:path>
            </a:pathLst>
          </a:custGeom>
          <a:solidFill>
            <a:schemeClr val="tx2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15" name="Freeform 95"/>
          <p:cNvSpPr>
            <a:spLocks/>
          </p:cNvSpPr>
          <p:nvPr/>
        </p:nvSpPr>
        <p:spPr bwMode="auto">
          <a:xfrm>
            <a:off x="2700338" y="3868738"/>
            <a:ext cx="3406775" cy="677862"/>
          </a:xfrm>
          <a:custGeom>
            <a:avLst/>
            <a:gdLst>
              <a:gd name="T0" fmla="*/ 869051849 w 2112"/>
              <a:gd name="T1" fmla="*/ 63180128 h 400"/>
              <a:gd name="T2" fmla="*/ 0 w 2112"/>
              <a:gd name="T3" fmla="*/ 1148742228 h 400"/>
              <a:gd name="T4" fmla="*/ 2147483647 w 2112"/>
              <a:gd name="T5" fmla="*/ 1148742228 h 400"/>
              <a:gd name="T6" fmla="*/ 2147483647 w 2112"/>
              <a:gd name="T7" fmla="*/ 0 h 400"/>
              <a:gd name="T8" fmla="*/ 869051849 w 2112"/>
              <a:gd name="T9" fmla="*/ 63180128 h 4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12"/>
              <a:gd name="T16" fmla="*/ 0 h 400"/>
              <a:gd name="T17" fmla="*/ 2112 w 2112"/>
              <a:gd name="T18" fmla="*/ 400 h 4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12" h="400">
                <a:moveTo>
                  <a:pt x="334" y="22"/>
                </a:moveTo>
                <a:lnTo>
                  <a:pt x="0" y="400"/>
                </a:lnTo>
                <a:lnTo>
                  <a:pt x="1656" y="400"/>
                </a:lnTo>
                <a:lnTo>
                  <a:pt x="2112" y="0"/>
                </a:lnTo>
                <a:lnTo>
                  <a:pt x="334" y="22"/>
                </a:lnTo>
                <a:close/>
              </a:path>
            </a:pathLst>
          </a:custGeom>
          <a:solidFill>
            <a:srgbClr val="FF33CC">
              <a:alpha val="50195"/>
            </a:srgbClr>
          </a:solidFill>
          <a:ln w="19050" cap="flat" cmpd="sng">
            <a:solidFill>
              <a:srgbClr val="FFFFCC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16" name="Freeform 96"/>
          <p:cNvSpPr>
            <a:spLocks/>
          </p:cNvSpPr>
          <p:nvPr/>
        </p:nvSpPr>
        <p:spPr bwMode="auto">
          <a:xfrm>
            <a:off x="3373438" y="3219450"/>
            <a:ext cx="1095375" cy="1190625"/>
          </a:xfrm>
          <a:custGeom>
            <a:avLst/>
            <a:gdLst>
              <a:gd name="T0" fmla="*/ 226814063 w 690"/>
              <a:gd name="T1" fmla="*/ 0 h 750"/>
              <a:gd name="T2" fmla="*/ 0 w 690"/>
              <a:gd name="T3" fmla="*/ 1179433125 h 750"/>
              <a:gd name="T4" fmla="*/ 1738907813 w 690"/>
              <a:gd name="T5" fmla="*/ 1890117188 h 750"/>
              <a:gd name="T6" fmla="*/ 1738907813 w 690"/>
              <a:gd name="T7" fmla="*/ 619958438 h 750"/>
              <a:gd name="T8" fmla="*/ 226814063 w 690"/>
              <a:gd name="T9" fmla="*/ 0 h 7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90"/>
              <a:gd name="T16" fmla="*/ 0 h 750"/>
              <a:gd name="T17" fmla="*/ 690 w 690"/>
              <a:gd name="T18" fmla="*/ 750 h 7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90" h="750">
                <a:moveTo>
                  <a:pt x="90" y="0"/>
                </a:moveTo>
                <a:lnTo>
                  <a:pt x="0" y="468"/>
                </a:lnTo>
                <a:lnTo>
                  <a:pt x="690" y="750"/>
                </a:lnTo>
                <a:lnTo>
                  <a:pt x="690" y="246"/>
                </a:lnTo>
                <a:lnTo>
                  <a:pt x="90" y="0"/>
                </a:lnTo>
                <a:close/>
              </a:path>
            </a:pathLst>
          </a:custGeom>
          <a:solidFill>
            <a:schemeClr val="tx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17" name="Freeform 97"/>
          <p:cNvSpPr>
            <a:spLocks/>
          </p:cNvSpPr>
          <p:nvPr/>
        </p:nvSpPr>
        <p:spPr bwMode="auto">
          <a:xfrm>
            <a:off x="4468813" y="3171825"/>
            <a:ext cx="1343025" cy="1238250"/>
          </a:xfrm>
          <a:custGeom>
            <a:avLst/>
            <a:gdLst>
              <a:gd name="T0" fmla="*/ 0 w 846"/>
              <a:gd name="T1" fmla="*/ 665321250 h 780"/>
              <a:gd name="T2" fmla="*/ 0 w 846"/>
              <a:gd name="T3" fmla="*/ 1965721875 h 780"/>
              <a:gd name="T4" fmla="*/ 2132052188 w 846"/>
              <a:gd name="T5" fmla="*/ 1179433125 h 780"/>
              <a:gd name="T6" fmla="*/ 1874996250 w 846"/>
              <a:gd name="T7" fmla="*/ 0 h 780"/>
              <a:gd name="T8" fmla="*/ 0 w 846"/>
              <a:gd name="T9" fmla="*/ 665321250 h 7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6"/>
              <a:gd name="T16" fmla="*/ 0 h 780"/>
              <a:gd name="T17" fmla="*/ 846 w 846"/>
              <a:gd name="T18" fmla="*/ 780 h 7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6" h="780">
                <a:moveTo>
                  <a:pt x="0" y="264"/>
                </a:moveTo>
                <a:lnTo>
                  <a:pt x="0" y="780"/>
                </a:lnTo>
                <a:lnTo>
                  <a:pt x="846" y="468"/>
                </a:lnTo>
                <a:lnTo>
                  <a:pt x="744" y="0"/>
                </a:lnTo>
                <a:lnTo>
                  <a:pt x="0" y="264"/>
                </a:lnTo>
                <a:close/>
              </a:path>
            </a:pathLst>
          </a:custGeom>
          <a:solidFill>
            <a:schemeClr val="tx2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18" name="Freeform 98"/>
          <p:cNvSpPr>
            <a:spLocks/>
          </p:cNvSpPr>
          <p:nvPr/>
        </p:nvSpPr>
        <p:spPr bwMode="auto">
          <a:xfrm>
            <a:off x="2840038" y="3122613"/>
            <a:ext cx="3460750" cy="635000"/>
          </a:xfrm>
          <a:custGeom>
            <a:avLst/>
            <a:gdLst>
              <a:gd name="T0" fmla="*/ 896807809 w 2112"/>
              <a:gd name="T1" fmla="*/ 55443438 h 400"/>
              <a:gd name="T2" fmla="*/ 0 w 2112"/>
              <a:gd name="T3" fmla="*/ 1008062500 h 400"/>
              <a:gd name="T4" fmla="*/ 2147483647 w 2112"/>
              <a:gd name="T5" fmla="*/ 1008062500 h 400"/>
              <a:gd name="T6" fmla="*/ 2147483647 w 2112"/>
              <a:gd name="T7" fmla="*/ 0 h 400"/>
              <a:gd name="T8" fmla="*/ 896807809 w 2112"/>
              <a:gd name="T9" fmla="*/ 55443438 h 4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12"/>
              <a:gd name="T16" fmla="*/ 0 h 400"/>
              <a:gd name="T17" fmla="*/ 2112 w 2112"/>
              <a:gd name="T18" fmla="*/ 400 h 4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12" h="400">
                <a:moveTo>
                  <a:pt x="334" y="22"/>
                </a:moveTo>
                <a:lnTo>
                  <a:pt x="0" y="400"/>
                </a:lnTo>
                <a:lnTo>
                  <a:pt x="1656" y="400"/>
                </a:lnTo>
                <a:lnTo>
                  <a:pt x="2112" y="0"/>
                </a:lnTo>
                <a:lnTo>
                  <a:pt x="334" y="22"/>
                </a:lnTo>
                <a:close/>
              </a:path>
            </a:pathLst>
          </a:custGeom>
          <a:solidFill>
            <a:schemeClr val="accent1">
              <a:alpha val="50195"/>
            </a:schemeClr>
          </a:solidFill>
          <a:ln w="19050" cap="flat" cmpd="sng">
            <a:solidFill>
              <a:srgbClr val="FFFFCC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19" name="Freeform 99"/>
          <p:cNvSpPr>
            <a:spLocks/>
          </p:cNvSpPr>
          <p:nvPr/>
        </p:nvSpPr>
        <p:spPr bwMode="auto">
          <a:xfrm>
            <a:off x="3516313" y="2447925"/>
            <a:ext cx="942975" cy="1173163"/>
          </a:xfrm>
          <a:custGeom>
            <a:avLst/>
            <a:gdLst>
              <a:gd name="T0" fmla="*/ 1496972813 w 594"/>
              <a:gd name="T1" fmla="*/ 1895745764 h 726"/>
              <a:gd name="T2" fmla="*/ 1496972813 w 594"/>
              <a:gd name="T3" fmla="*/ 485686250 h 726"/>
              <a:gd name="T4" fmla="*/ 257055938 w 594"/>
              <a:gd name="T5" fmla="*/ 0 h 726"/>
              <a:gd name="T6" fmla="*/ 0 w 594"/>
              <a:gd name="T7" fmla="*/ 1253385696 h 726"/>
              <a:gd name="T8" fmla="*/ 1496972813 w 594"/>
              <a:gd name="T9" fmla="*/ 1895745764 h 7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94"/>
              <a:gd name="T16" fmla="*/ 0 h 726"/>
              <a:gd name="T17" fmla="*/ 594 w 594"/>
              <a:gd name="T18" fmla="*/ 726 h 7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94" h="726">
                <a:moveTo>
                  <a:pt x="594" y="726"/>
                </a:moveTo>
                <a:lnTo>
                  <a:pt x="594" y="186"/>
                </a:lnTo>
                <a:lnTo>
                  <a:pt x="102" y="0"/>
                </a:lnTo>
                <a:lnTo>
                  <a:pt x="0" y="480"/>
                </a:lnTo>
                <a:lnTo>
                  <a:pt x="594" y="726"/>
                </a:lnTo>
                <a:close/>
              </a:path>
            </a:pathLst>
          </a:custGeom>
          <a:solidFill>
            <a:schemeClr val="tx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20" name="Freeform 100"/>
          <p:cNvSpPr>
            <a:spLocks/>
          </p:cNvSpPr>
          <p:nvPr/>
        </p:nvSpPr>
        <p:spPr bwMode="auto">
          <a:xfrm>
            <a:off x="4468813" y="2343150"/>
            <a:ext cx="1181100" cy="1268413"/>
          </a:xfrm>
          <a:custGeom>
            <a:avLst/>
            <a:gdLst>
              <a:gd name="T0" fmla="*/ 0 w 744"/>
              <a:gd name="T1" fmla="*/ 630966602 h 792"/>
              <a:gd name="T2" fmla="*/ 0 w 744"/>
              <a:gd name="T3" fmla="*/ 2031403458 h 792"/>
              <a:gd name="T4" fmla="*/ 1874996250 w 744"/>
              <a:gd name="T5" fmla="*/ 1323489671 h 792"/>
              <a:gd name="T6" fmla="*/ 1557456563 w 744"/>
              <a:gd name="T7" fmla="*/ 0 h 792"/>
              <a:gd name="T8" fmla="*/ 0 w 744"/>
              <a:gd name="T9" fmla="*/ 630966602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4"/>
              <a:gd name="T16" fmla="*/ 0 h 792"/>
              <a:gd name="T17" fmla="*/ 744 w 744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4" h="792">
                <a:moveTo>
                  <a:pt x="0" y="246"/>
                </a:moveTo>
                <a:lnTo>
                  <a:pt x="0" y="792"/>
                </a:lnTo>
                <a:lnTo>
                  <a:pt x="744" y="516"/>
                </a:lnTo>
                <a:lnTo>
                  <a:pt x="618" y="0"/>
                </a:lnTo>
                <a:lnTo>
                  <a:pt x="0" y="246"/>
                </a:lnTo>
                <a:close/>
              </a:path>
            </a:pathLst>
          </a:custGeom>
          <a:solidFill>
            <a:schemeClr val="tx2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21" name="Line 101"/>
          <p:cNvSpPr>
            <a:spLocks noChangeShapeType="1"/>
          </p:cNvSpPr>
          <p:nvPr/>
        </p:nvSpPr>
        <p:spPr bwMode="auto">
          <a:xfrm>
            <a:off x="4459288" y="2743200"/>
            <a:ext cx="0" cy="2638425"/>
          </a:xfrm>
          <a:prstGeom prst="line">
            <a:avLst/>
          </a:prstGeom>
          <a:noFill/>
          <a:ln w="38100">
            <a:solidFill>
              <a:srgbClr val="99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22" name="Line 102"/>
          <p:cNvSpPr>
            <a:spLocks noChangeShapeType="1"/>
          </p:cNvSpPr>
          <p:nvPr/>
        </p:nvSpPr>
        <p:spPr bwMode="auto">
          <a:xfrm flipH="1">
            <a:off x="3392488" y="2951163"/>
            <a:ext cx="571500" cy="1685925"/>
          </a:xfrm>
          <a:prstGeom prst="line">
            <a:avLst/>
          </a:prstGeom>
          <a:noFill/>
          <a:ln w="38100">
            <a:solidFill>
              <a:srgbClr val="CCE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23" name="Line 103"/>
          <p:cNvSpPr>
            <a:spLocks noChangeShapeType="1"/>
          </p:cNvSpPr>
          <p:nvPr/>
        </p:nvSpPr>
        <p:spPr bwMode="auto">
          <a:xfrm>
            <a:off x="3962400" y="2971800"/>
            <a:ext cx="200025" cy="2228850"/>
          </a:xfrm>
          <a:prstGeom prst="line">
            <a:avLst/>
          </a:prstGeom>
          <a:noFill/>
          <a:ln w="38100">
            <a:solidFill>
              <a:srgbClr val="CCE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24" name="Line 104"/>
          <p:cNvSpPr>
            <a:spLocks noChangeShapeType="1"/>
          </p:cNvSpPr>
          <p:nvPr/>
        </p:nvSpPr>
        <p:spPr bwMode="auto">
          <a:xfrm>
            <a:off x="4719638" y="3011488"/>
            <a:ext cx="447675" cy="2066925"/>
          </a:xfrm>
          <a:prstGeom prst="line">
            <a:avLst/>
          </a:prstGeom>
          <a:noFill/>
          <a:ln w="38100">
            <a:solidFill>
              <a:srgbClr val="CC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25" name="Line 105"/>
          <p:cNvSpPr>
            <a:spLocks noChangeShapeType="1"/>
          </p:cNvSpPr>
          <p:nvPr/>
        </p:nvSpPr>
        <p:spPr bwMode="auto">
          <a:xfrm>
            <a:off x="5143500" y="2871788"/>
            <a:ext cx="447675" cy="2066925"/>
          </a:xfrm>
          <a:prstGeom prst="line">
            <a:avLst/>
          </a:prstGeom>
          <a:noFill/>
          <a:ln w="38100">
            <a:solidFill>
              <a:srgbClr val="CC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26" name="Line 106"/>
          <p:cNvSpPr>
            <a:spLocks noChangeShapeType="1"/>
          </p:cNvSpPr>
          <p:nvPr/>
        </p:nvSpPr>
        <p:spPr bwMode="auto">
          <a:xfrm>
            <a:off x="3506788" y="3209925"/>
            <a:ext cx="962025" cy="390525"/>
          </a:xfrm>
          <a:prstGeom prst="line">
            <a:avLst/>
          </a:prstGeom>
          <a:noFill/>
          <a:ln w="38100">
            <a:solidFill>
              <a:srgbClr val="FF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27" name="Line 107"/>
          <p:cNvSpPr>
            <a:spLocks noChangeShapeType="1"/>
          </p:cNvSpPr>
          <p:nvPr/>
        </p:nvSpPr>
        <p:spPr bwMode="auto">
          <a:xfrm>
            <a:off x="3373438" y="3962400"/>
            <a:ext cx="1104900" cy="449263"/>
          </a:xfrm>
          <a:prstGeom prst="line">
            <a:avLst/>
          </a:prstGeom>
          <a:noFill/>
          <a:ln w="38100">
            <a:solidFill>
              <a:srgbClr val="FF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28" name="Line 108"/>
          <p:cNvSpPr>
            <a:spLocks noChangeShapeType="1"/>
          </p:cNvSpPr>
          <p:nvPr/>
        </p:nvSpPr>
        <p:spPr bwMode="auto">
          <a:xfrm flipV="1">
            <a:off x="4470400" y="3149600"/>
            <a:ext cx="1200150" cy="438150"/>
          </a:xfrm>
          <a:prstGeom prst="line">
            <a:avLst/>
          </a:prstGeom>
          <a:noFill/>
          <a:ln w="38100">
            <a:solidFill>
              <a:srgbClr val="FF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29" name="Line 109"/>
          <p:cNvSpPr>
            <a:spLocks noChangeShapeType="1"/>
          </p:cNvSpPr>
          <p:nvPr/>
        </p:nvSpPr>
        <p:spPr bwMode="auto">
          <a:xfrm flipV="1">
            <a:off x="4492625" y="3902075"/>
            <a:ext cx="1339850" cy="488950"/>
          </a:xfrm>
          <a:prstGeom prst="line">
            <a:avLst/>
          </a:prstGeom>
          <a:noFill/>
          <a:ln w="38100">
            <a:solidFill>
              <a:srgbClr val="FF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30" name="Oval 110"/>
          <p:cNvSpPr>
            <a:spLocks noChangeArrowheads="1"/>
          </p:cNvSpPr>
          <p:nvPr/>
        </p:nvSpPr>
        <p:spPr bwMode="auto">
          <a:xfrm>
            <a:off x="4392613" y="4314825"/>
            <a:ext cx="142875" cy="142875"/>
          </a:xfrm>
          <a:prstGeom prst="ellipse">
            <a:avLst/>
          </a:prstGeom>
          <a:solidFill>
            <a:srgbClr val="FF33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31" name="Oval 111"/>
          <p:cNvSpPr>
            <a:spLocks noChangeArrowheads="1"/>
          </p:cNvSpPr>
          <p:nvPr/>
        </p:nvSpPr>
        <p:spPr bwMode="auto">
          <a:xfrm>
            <a:off x="4381500" y="3505200"/>
            <a:ext cx="142875" cy="142875"/>
          </a:xfrm>
          <a:prstGeom prst="ellipse">
            <a:avLst/>
          </a:prstGeom>
          <a:solidFill>
            <a:srgbClr val="FF33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32" name="Text Box 112"/>
          <p:cNvSpPr txBox="1">
            <a:spLocks noChangeArrowheads="1"/>
          </p:cNvSpPr>
          <p:nvPr/>
        </p:nvSpPr>
        <p:spPr bwMode="auto">
          <a:xfrm>
            <a:off x="3578225" y="2446338"/>
            <a:ext cx="484188" cy="457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P</a:t>
            </a:r>
            <a:r>
              <a:rPr lang="en-US" altLang="zh-CN" sz="180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1</a:t>
            </a:r>
            <a:endParaRPr lang="en-US" altLang="zh-CN">
              <a:solidFill>
                <a:srgbClr val="333399"/>
              </a:solidFill>
              <a:effectLst>
                <a:outerShdw blurRad="38100" dist="38100" dir="2700000" algn="tl">
                  <a:srgbClr val="C0C0C0"/>
                </a:outerShdw>
              </a:effectLst>
              <a:sym typeface="Symbol" pitchFamily="18" charset="2"/>
            </a:endParaRPr>
          </a:p>
        </p:txBody>
      </p:sp>
      <p:sp>
        <p:nvSpPr>
          <p:cNvPr id="133233" name="Text Box 113"/>
          <p:cNvSpPr txBox="1">
            <a:spLocks noChangeArrowheads="1"/>
          </p:cNvSpPr>
          <p:nvPr/>
        </p:nvSpPr>
        <p:spPr bwMode="auto">
          <a:xfrm>
            <a:off x="5092700" y="2322513"/>
            <a:ext cx="484188" cy="457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P</a:t>
            </a:r>
            <a:r>
              <a:rPr lang="en-US" altLang="zh-CN" sz="180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2</a:t>
            </a:r>
            <a:endParaRPr lang="en-US" altLang="zh-CN">
              <a:solidFill>
                <a:srgbClr val="333399"/>
              </a:solidFill>
              <a:effectLst>
                <a:outerShdw blurRad="38100" dist="38100" dir="2700000" algn="tl">
                  <a:srgbClr val="C0C0C0"/>
                </a:outerShdw>
              </a:effectLst>
              <a:sym typeface="Symbol" pitchFamily="18" charset="2"/>
            </a:endParaRPr>
          </a:p>
        </p:txBody>
      </p:sp>
      <p:sp>
        <p:nvSpPr>
          <p:cNvPr id="133234" name="Text Box 114"/>
          <p:cNvSpPr txBox="1">
            <a:spLocks noChangeArrowheads="1"/>
          </p:cNvSpPr>
          <p:nvPr/>
        </p:nvSpPr>
        <p:spPr bwMode="auto">
          <a:xfrm>
            <a:off x="2986088" y="3346450"/>
            <a:ext cx="404812" cy="457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lvl1pPr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1pPr>
            <a:lvl2pPr marL="742950" indent="-28575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2pPr>
            <a:lvl3pPr marL="11430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3pPr>
            <a:lvl4pPr marL="16002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4pPr>
            <a:lvl5pPr marL="20574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i="0" baseline="0" smtClean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R</a:t>
            </a:r>
          </a:p>
        </p:txBody>
      </p:sp>
      <p:sp>
        <p:nvSpPr>
          <p:cNvPr id="133235" name="Text Box 115"/>
          <p:cNvSpPr txBox="1">
            <a:spLocks noChangeArrowheads="1"/>
          </p:cNvSpPr>
          <p:nvPr/>
        </p:nvSpPr>
        <p:spPr bwMode="auto">
          <a:xfrm>
            <a:off x="2922588" y="4127500"/>
            <a:ext cx="354012" cy="457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lvl1pPr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1pPr>
            <a:lvl2pPr marL="742950" indent="-28575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2pPr>
            <a:lvl3pPr marL="11430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3pPr>
            <a:lvl4pPr marL="16002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4pPr>
            <a:lvl5pPr marL="20574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i="0" baseline="0" smtClean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</a:t>
            </a:r>
          </a:p>
        </p:txBody>
      </p:sp>
      <p:sp>
        <p:nvSpPr>
          <p:cNvPr id="133236" name="Text Box 116"/>
          <p:cNvSpPr txBox="1">
            <a:spLocks noChangeArrowheads="1"/>
          </p:cNvSpPr>
          <p:nvPr/>
        </p:nvSpPr>
        <p:spPr bwMode="auto">
          <a:xfrm>
            <a:off x="4413250" y="3482975"/>
            <a:ext cx="471488" cy="457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lvl1pPr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1pPr>
            <a:lvl2pPr marL="742950" indent="-28575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2pPr>
            <a:lvl3pPr marL="11430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3pPr>
            <a:lvl4pPr marL="16002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4pPr>
            <a:lvl5pPr marL="20574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i="0" baseline="0" smtClean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</a:t>
            </a:r>
          </a:p>
        </p:txBody>
      </p:sp>
      <p:sp>
        <p:nvSpPr>
          <p:cNvPr id="133237" name="Text Box 117"/>
          <p:cNvSpPr txBox="1">
            <a:spLocks noChangeArrowheads="1"/>
          </p:cNvSpPr>
          <p:nvPr/>
        </p:nvSpPr>
        <p:spPr bwMode="auto">
          <a:xfrm>
            <a:off x="4446588" y="4325938"/>
            <a:ext cx="404812" cy="457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lvl1pPr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1pPr>
            <a:lvl2pPr marL="742950" indent="-28575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2pPr>
            <a:lvl3pPr marL="11430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3pPr>
            <a:lvl4pPr marL="16002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4pPr>
            <a:lvl5pPr marL="20574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i="0" baseline="0" smtClean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</a:t>
            </a:r>
          </a:p>
        </p:txBody>
      </p:sp>
      <p:sp>
        <p:nvSpPr>
          <p:cNvPr id="133238" name="Oval 118"/>
          <p:cNvSpPr>
            <a:spLocks noChangeArrowheads="1"/>
          </p:cNvSpPr>
          <p:nvPr/>
        </p:nvSpPr>
        <p:spPr bwMode="auto">
          <a:xfrm>
            <a:off x="3757613" y="3305175"/>
            <a:ext cx="114300" cy="114300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3E4D3E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39" name="Oval 119"/>
          <p:cNvSpPr>
            <a:spLocks noChangeArrowheads="1"/>
          </p:cNvSpPr>
          <p:nvPr/>
        </p:nvSpPr>
        <p:spPr bwMode="auto">
          <a:xfrm>
            <a:off x="4016375" y="4186238"/>
            <a:ext cx="114300" cy="114300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3E4D3E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40" name="Oval 120"/>
          <p:cNvSpPr>
            <a:spLocks noChangeArrowheads="1"/>
          </p:cNvSpPr>
          <p:nvPr/>
        </p:nvSpPr>
        <p:spPr bwMode="auto">
          <a:xfrm>
            <a:off x="4754563" y="3417888"/>
            <a:ext cx="114300" cy="114300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3E4D3E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41" name="Oval 121"/>
          <p:cNvSpPr>
            <a:spLocks noChangeArrowheads="1"/>
          </p:cNvSpPr>
          <p:nvPr/>
        </p:nvSpPr>
        <p:spPr bwMode="auto">
          <a:xfrm>
            <a:off x="5330825" y="4013200"/>
            <a:ext cx="114300" cy="114300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3E4D3E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42" name="Oval 122"/>
          <p:cNvSpPr>
            <a:spLocks noChangeArrowheads="1"/>
          </p:cNvSpPr>
          <p:nvPr/>
        </p:nvSpPr>
        <p:spPr bwMode="auto">
          <a:xfrm>
            <a:off x="3951288" y="3375025"/>
            <a:ext cx="114300" cy="114300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3E4D3E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43" name="Oval 123"/>
          <p:cNvSpPr>
            <a:spLocks noChangeArrowheads="1"/>
          </p:cNvSpPr>
          <p:nvPr/>
        </p:nvSpPr>
        <p:spPr bwMode="auto">
          <a:xfrm>
            <a:off x="3524250" y="3990975"/>
            <a:ext cx="114300" cy="114300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3E4D3E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44" name="Oval 124"/>
          <p:cNvSpPr>
            <a:spLocks noChangeArrowheads="1"/>
          </p:cNvSpPr>
          <p:nvPr/>
        </p:nvSpPr>
        <p:spPr bwMode="auto">
          <a:xfrm>
            <a:off x="4905375" y="4184650"/>
            <a:ext cx="114300" cy="114300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3E4D3E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45" name="Oval 125"/>
          <p:cNvSpPr>
            <a:spLocks noChangeArrowheads="1"/>
          </p:cNvSpPr>
          <p:nvPr/>
        </p:nvSpPr>
        <p:spPr bwMode="auto">
          <a:xfrm>
            <a:off x="5180013" y="3263900"/>
            <a:ext cx="114300" cy="114300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3E4D3E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3246" name="Text Box 126"/>
          <p:cNvSpPr txBox="1">
            <a:spLocks noChangeArrowheads="1"/>
          </p:cNvSpPr>
          <p:nvPr/>
        </p:nvSpPr>
        <p:spPr bwMode="auto">
          <a:xfrm>
            <a:off x="3444875" y="324802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lvl1pPr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1pPr>
            <a:lvl2pPr marL="742950" indent="-28575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2pPr>
            <a:lvl3pPr marL="11430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3pPr>
            <a:lvl4pPr marL="16002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4pPr>
            <a:lvl5pPr marL="20574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9pPr>
          </a:lstStyle>
          <a:p>
            <a:pPr eaLnBrk="1" hangingPunct="1">
              <a:defRPr/>
            </a:pPr>
            <a:r>
              <a:rPr lang="en-US" altLang="zh-CN" sz="2400" i="0" baseline="0" smtClean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</a:p>
        </p:txBody>
      </p:sp>
      <p:sp>
        <p:nvSpPr>
          <p:cNvPr id="133247" name="Text Box 127"/>
          <p:cNvSpPr txBox="1">
            <a:spLocks noChangeArrowheads="1"/>
          </p:cNvSpPr>
          <p:nvPr/>
        </p:nvSpPr>
        <p:spPr bwMode="auto">
          <a:xfrm>
            <a:off x="3948113" y="33782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lvl1pPr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1pPr>
            <a:lvl2pPr marL="742950" indent="-28575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2pPr>
            <a:lvl3pPr marL="11430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3pPr>
            <a:lvl4pPr marL="16002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4pPr>
            <a:lvl5pPr marL="20574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9pPr>
          </a:lstStyle>
          <a:p>
            <a:pPr eaLnBrk="1" hangingPunct="1">
              <a:defRPr/>
            </a:pPr>
            <a:r>
              <a:rPr lang="en-US" altLang="zh-CN" sz="2400" i="0" baseline="0" smtClean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</a:p>
        </p:txBody>
      </p:sp>
      <p:sp>
        <p:nvSpPr>
          <p:cNvPr id="133248" name="Text Box 128"/>
          <p:cNvSpPr txBox="1">
            <a:spLocks noChangeArrowheads="1"/>
          </p:cNvSpPr>
          <p:nvPr/>
        </p:nvSpPr>
        <p:spPr bwMode="auto">
          <a:xfrm>
            <a:off x="5251450" y="319881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lvl1pPr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1pPr>
            <a:lvl2pPr marL="742950" indent="-28575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2pPr>
            <a:lvl3pPr marL="11430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3pPr>
            <a:lvl4pPr marL="16002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4pPr>
            <a:lvl5pPr marL="20574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9pPr>
          </a:lstStyle>
          <a:p>
            <a:pPr eaLnBrk="1" hangingPunct="1">
              <a:defRPr/>
            </a:pPr>
            <a:r>
              <a:rPr lang="en-US" altLang="zh-CN" sz="2400" i="0" baseline="0" smtClean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</a:t>
            </a:r>
          </a:p>
        </p:txBody>
      </p:sp>
      <p:sp>
        <p:nvSpPr>
          <p:cNvPr id="133249" name="Text Box 129"/>
          <p:cNvSpPr txBox="1">
            <a:spLocks noChangeArrowheads="1"/>
          </p:cNvSpPr>
          <p:nvPr/>
        </p:nvSpPr>
        <p:spPr bwMode="auto">
          <a:xfrm>
            <a:off x="4791075" y="335597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lvl1pPr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1pPr>
            <a:lvl2pPr marL="742950" indent="-28575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2pPr>
            <a:lvl3pPr marL="11430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3pPr>
            <a:lvl4pPr marL="16002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4pPr>
            <a:lvl5pPr marL="20574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9pPr>
          </a:lstStyle>
          <a:p>
            <a:pPr eaLnBrk="1" hangingPunct="1">
              <a:defRPr/>
            </a:pPr>
            <a:r>
              <a:rPr lang="en-US" altLang="zh-CN" sz="2400" i="0" baseline="0" smtClean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4</a:t>
            </a:r>
          </a:p>
        </p:txBody>
      </p:sp>
      <p:sp>
        <p:nvSpPr>
          <p:cNvPr id="133250" name="Text Box 130"/>
          <p:cNvSpPr txBox="1">
            <a:spLocks noChangeArrowheads="1"/>
          </p:cNvSpPr>
          <p:nvPr/>
        </p:nvSpPr>
        <p:spPr bwMode="auto">
          <a:xfrm>
            <a:off x="3240088" y="391953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lvl1pPr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1pPr>
            <a:lvl2pPr marL="742950" indent="-28575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2pPr>
            <a:lvl3pPr marL="11430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3pPr>
            <a:lvl4pPr marL="16002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4pPr>
            <a:lvl5pPr marL="20574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9pPr>
          </a:lstStyle>
          <a:p>
            <a:pPr eaLnBrk="1" hangingPunct="1">
              <a:defRPr/>
            </a:pPr>
            <a:r>
              <a:rPr lang="en-US" altLang="zh-CN" sz="2400" i="0" baseline="0" smtClean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5</a:t>
            </a:r>
          </a:p>
        </p:txBody>
      </p:sp>
      <p:sp>
        <p:nvSpPr>
          <p:cNvPr id="133251" name="Text Box 131"/>
          <p:cNvSpPr txBox="1">
            <a:spLocks noChangeArrowheads="1"/>
          </p:cNvSpPr>
          <p:nvPr/>
        </p:nvSpPr>
        <p:spPr bwMode="auto">
          <a:xfrm>
            <a:off x="4030663" y="418465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lvl1pPr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1pPr>
            <a:lvl2pPr marL="742950" indent="-28575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2pPr>
            <a:lvl3pPr marL="11430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3pPr>
            <a:lvl4pPr marL="16002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4pPr>
            <a:lvl5pPr marL="20574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9pPr>
          </a:lstStyle>
          <a:p>
            <a:pPr eaLnBrk="1" hangingPunct="1">
              <a:defRPr/>
            </a:pPr>
            <a:r>
              <a:rPr lang="en-US" altLang="zh-CN" sz="2400" i="0" baseline="0" smtClean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6</a:t>
            </a:r>
          </a:p>
        </p:txBody>
      </p:sp>
      <p:sp>
        <p:nvSpPr>
          <p:cNvPr id="133252" name="Text Box 132"/>
          <p:cNvSpPr txBox="1">
            <a:spLocks noChangeArrowheads="1"/>
          </p:cNvSpPr>
          <p:nvPr/>
        </p:nvSpPr>
        <p:spPr bwMode="auto">
          <a:xfrm>
            <a:off x="5400675" y="392271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lvl1pPr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1pPr>
            <a:lvl2pPr marL="742950" indent="-28575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2pPr>
            <a:lvl3pPr marL="11430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3pPr>
            <a:lvl4pPr marL="16002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4pPr>
            <a:lvl5pPr marL="20574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9pPr>
          </a:lstStyle>
          <a:p>
            <a:pPr eaLnBrk="1" hangingPunct="1">
              <a:defRPr/>
            </a:pPr>
            <a:r>
              <a:rPr lang="en-US" altLang="zh-CN" sz="2400" i="0" baseline="0" smtClean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</a:t>
            </a:r>
          </a:p>
        </p:txBody>
      </p:sp>
      <p:sp>
        <p:nvSpPr>
          <p:cNvPr id="133253" name="Text Box 133"/>
          <p:cNvSpPr txBox="1">
            <a:spLocks noChangeArrowheads="1"/>
          </p:cNvSpPr>
          <p:nvPr/>
        </p:nvSpPr>
        <p:spPr bwMode="auto">
          <a:xfrm>
            <a:off x="4959350" y="407193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lvl1pPr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1pPr>
            <a:lvl2pPr marL="742950" indent="-28575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2pPr>
            <a:lvl3pPr marL="11430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3pPr>
            <a:lvl4pPr marL="16002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4pPr>
            <a:lvl5pPr marL="2057400" indent="-228600" eaLnBrk="0" hangingPunct="0"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 baseline="-10000">
                <a:solidFill>
                  <a:schemeClr val="tx1"/>
                </a:solidFill>
                <a:latin typeface="ISOCPEUR" pitchFamily="34" charset="0"/>
                <a:ea typeface="宋体" pitchFamily="2" charset="-122"/>
                <a:sym typeface="Symbol" pitchFamily="18" charset="2"/>
              </a:defRPr>
            </a:lvl9pPr>
          </a:lstStyle>
          <a:p>
            <a:pPr eaLnBrk="1" hangingPunct="1">
              <a:defRPr/>
            </a:pPr>
            <a:r>
              <a:rPr lang="en-US" altLang="zh-CN" sz="2400" i="0" baseline="0" smtClean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8</a:t>
            </a:r>
          </a:p>
        </p:txBody>
      </p:sp>
      <p:sp>
        <p:nvSpPr>
          <p:cNvPr id="8236" name="Rectangle 134"/>
          <p:cNvSpPr>
            <a:spLocks noChangeArrowheads="1"/>
          </p:cNvSpPr>
          <p:nvPr/>
        </p:nvSpPr>
        <p:spPr bwMode="auto">
          <a:xfrm>
            <a:off x="338138" y="295275"/>
            <a:ext cx="46434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</a:t>
            </a:r>
            <a:r>
              <a:rPr lang="zh-CN" altLang="en-US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．平面与平面相交</a:t>
            </a:r>
          </a:p>
        </p:txBody>
      </p:sp>
      <p:sp>
        <p:nvSpPr>
          <p:cNvPr id="133255" name="Rectangle 135"/>
          <p:cNvSpPr>
            <a:spLocks noChangeArrowheads="1"/>
          </p:cNvSpPr>
          <p:nvPr/>
        </p:nvSpPr>
        <p:spPr bwMode="auto">
          <a:xfrm>
            <a:off x="962025" y="1263650"/>
            <a:ext cx="3762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辅助平面法的基本原理</a:t>
            </a:r>
          </a:p>
        </p:txBody>
      </p:sp>
    </p:spTree>
    <p:extLst>
      <p:ext uri="{BB962C8B-B14F-4D97-AF65-F5344CB8AC3E}">
        <p14:creationId xmlns:p14="http://schemas.microsoft.com/office/powerpoint/2010/main" val="611763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3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3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3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3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33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3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3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3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3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3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33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33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33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33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33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33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33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3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3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5" dur="500"/>
                                        <p:tgtEl>
                                          <p:spTgt spid="13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3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33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33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3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3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3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3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33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13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3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13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3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3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1" dur="500"/>
                                        <p:tgtEl>
                                          <p:spTgt spid="133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5" dur="500"/>
                                        <p:tgtEl>
                                          <p:spTgt spid="133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13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13" grpId="0" animBg="1"/>
      <p:bldP spid="133214" grpId="0" animBg="1"/>
      <p:bldP spid="133215" grpId="0" animBg="1"/>
      <p:bldP spid="133216" grpId="0" animBg="1"/>
      <p:bldP spid="133217" grpId="0" animBg="1"/>
      <p:bldP spid="133218" grpId="0" animBg="1"/>
      <p:bldP spid="133219" grpId="0" animBg="1"/>
      <p:bldP spid="133220" grpId="0" animBg="1"/>
      <p:bldP spid="133221" grpId="0" animBg="1"/>
      <p:bldP spid="133222" grpId="0" animBg="1"/>
      <p:bldP spid="133223" grpId="0" animBg="1"/>
      <p:bldP spid="133224" grpId="0" animBg="1"/>
      <p:bldP spid="133225" grpId="0" animBg="1"/>
      <p:bldP spid="133226" grpId="0" animBg="1"/>
      <p:bldP spid="133227" grpId="0" animBg="1"/>
      <p:bldP spid="133228" grpId="0" animBg="1"/>
      <p:bldP spid="133229" grpId="0" animBg="1"/>
      <p:bldP spid="133230" grpId="0" animBg="1"/>
      <p:bldP spid="133231" grpId="0" animBg="1"/>
      <p:bldP spid="133232" grpId="0"/>
      <p:bldP spid="133233" grpId="0"/>
      <p:bldP spid="133234" grpId="0"/>
      <p:bldP spid="133235" grpId="0"/>
      <p:bldP spid="133236" grpId="0"/>
      <p:bldP spid="133237" grpId="0"/>
      <p:bldP spid="133238" grpId="0" animBg="1"/>
      <p:bldP spid="133239" grpId="0" animBg="1"/>
      <p:bldP spid="133240" grpId="0" animBg="1"/>
      <p:bldP spid="133241" grpId="0" animBg="1"/>
      <p:bldP spid="133242" grpId="0" animBg="1"/>
      <p:bldP spid="133243" grpId="0" animBg="1"/>
      <p:bldP spid="133244" grpId="0" animBg="1"/>
      <p:bldP spid="133245" grpId="0" animBg="1"/>
      <p:bldP spid="133246" grpId="0"/>
      <p:bldP spid="133247" grpId="0"/>
      <p:bldP spid="133248" grpId="0"/>
      <p:bldP spid="133249" grpId="0"/>
      <p:bldP spid="133250" grpId="0"/>
      <p:bldP spid="133251" grpId="0"/>
      <p:bldP spid="133252" grpId="0"/>
      <p:bldP spid="133253" grpId="0"/>
      <p:bldP spid="13325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29B2CF-8C03-4392-805D-3220C25DCE95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25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111618" name="Line 2"/>
          <p:cNvSpPr>
            <a:spLocks noChangeShapeType="1"/>
          </p:cNvSpPr>
          <p:nvPr/>
        </p:nvSpPr>
        <p:spPr bwMode="auto">
          <a:xfrm flipV="1">
            <a:off x="4586288" y="1974850"/>
            <a:ext cx="0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825625" y="2173288"/>
            <a:ext cx="6635750" cy="458787"/>
            <a:chOff x="1161" y="1471"/>
            <a:chExt cx="4180" cy="289"/>
          </a:xfrm>
        </p:grpSpPr>
        <p:sp>
          <p:nvSpPr>
            <p:cNvPr id="9304" name="Text Box 4"/>
            <p:cNvSpPr txBox="1">
              <a:spLocks noChangeArrowheads="1"/>
            </p:cNvSpPr>
            <p:nvPr/>
          </p:nvSpPr>
          <p:spPr bwMode="auto">
            <a:xfrm>
              <a:off x="1161" y="147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X </a:t>
              </a:r>
            </a:p>
          </p:txBody>
        </p:sp>
        <p:sp>
          <p:nvSpPr>
            <p:cNvPr id="9305" name="Text Box 5"/>
            <p:cNvSpPr txBox="1">
              <a:spLocks noChangeArrowheads="1"/>
            </p:cNvSpPr>
            <p:nvPr/>
          </p:nvSpPr>
          <p:spPr bwMode="auto">
            <a:xfrm>
              <a:off x="5045" y="1471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O </a:t>
              </a:r>
            </a:p>
          </p:txBody>
        </p:sp>
        <p:sp>
          <p:nvSpPr>
            <p:cNvPr id="9306" name="Line 6"/>
            <p:cNvSpPr>
              <a:spLocks noChangeShapeType="1"/>
            </p:cNvSpPr>
            <p:nvPr/>
          </p:nvSpPr>
          <p:spPr bwMode="auto">
            <a:xfrm>
              <a:off x="1394" y="1726"/>
              <a:ext cx="370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</p:grpSp>
      <p:sp>
        <p:nvSpPr>
          <p:cNvPr id="111623" name="Text Box 7"/>
          <p:cNvSpPr txBox="1">
            <a:spLocks noChangeArrowheads="1"/>
          </p:cNvSpPr>
          <p:nvPr/>
        </p:nvSpPr>
        <p:spPr bwMode="auto">
          <a:xfrm>
            <a:off x="8118475" y="1485900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P</a:t>
            </a:r>
            <a:r>
              <a:rPr lang="en-US" altLang="zh-CN" sz="1800" i="1" baseline="-8000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V</a:t>
            </a:r>
          </a:p>
        </p:txBody>
      </p:sp>
      <p:sp>
        <p:nvSpPr>
          <p:cNvPr id="111624" name="Text Box 8"/>
          <p:cNvSpPr txBox="1">
            <a:spLocks noChangeArrowheads="1"/>
          </p:cNvSpPr>
          <p:nvPr/>
        </p:nvSpPr>
        <p:spPr bwMode="auto">
          <a:xfrm>
            <a:off x="2778125" y="1344613"/>
            <a:ext cx="441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1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  <a:endParaRPr kumimoji="0"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25" name="Text Box 9"/>
          <p:cNvSpPr txBox="1">
            <a:spLocks noChangeArrowheads="1"/>
          </p:cNvSpPr>
          <p:nvPr/>
        </p:nvSpPr>
        <p:spPr bwMode="auto">
          <a:xfrm>
            <a:off x="3683000" y="1323975"/>
            <a:ext cx="469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2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11626" name="Text Box 10"/>
          <p:cNvSpPr txBox="1">
            <a:spLocks noChangeArrowheads="1"/>
          </p:cNvSpPr>
          <p:nvPr/>
        </p:nvSpPr>
        <p:spPr bwMode="auto">
          <a:xfrm>
            <a:off x="2801938" y="4030663"/>
            <a:ext cx="317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1</a:t>
            </a:r>
            <a:endParaRPr lang="en-US" altLang="zh-CN" sz="2000" i="1">
              <a:solidFill>
                <a:srgbClr val="333333"/>
              </a:solidFill>
              <a:latin typeface="ISOCPEUR" pitchFamily="34" charset="0"/>
              <a:ea typeface="仿宋_GB2312" pitchFamily="49" charset="-122"/>
              <a:sym typeface="Symbol" pitchFamily="18" charset="2"/>
            </a:endParaRPr>
          </a:p>
        </p:txBody>
      </p:sp>
      <p:sp>
        <p:nvSpPr>
          <p:cNvPr id="111627" name="Text Box 11"/>
          <p:cNvSpPr txBox="1">
            <a:spLocks noChangeArrowheads="1"/>
          </p:cNvSpPr>
          <p:nvPr/>
        </p:nvSpPr>
        <p:spPr bwMode="auto">
          <a:xfrm>
            <a:off x="3702050" y="3643313"/>
            <a:ext cx="403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2</a:t>
            </a:r>
            <a:endParaRPr kumimoji="0"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28" name="Text Box 12"/>
          <p:cNvSpPr txBox="1">
            <a:spLocks noChangeArrowheads="1"/>
          </p:cNvSpPr>
          <p:nvPr/>
        </p:nvSpPr>
        <p:spPr bwMode="auto">
          <a:xfrm>
            <a:off x="4692650" y="3157538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k</a:t>
            </a:r>
            <a:endParaRPr kumimoji="0"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29" name="Text Box 13"/>
          <p:cNvSpPr txBox="1">
            <a:spLocks noChangeArrowheads="1"/>
          </p:cNvSpPr>
          <p:nvPr/>
        </p:nvSpPr>
        <p:spPr bwMode="auto">
          <a:xfrm>
            <a:off x="4738688" y="1301750"/>
            <a:ext cx="463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k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11630" name="Text Box 14"/>
          <p:cNvSpPr txBox="1">
            <a:spLocks noChangeArrowheads="1"/>
          </p:cNvSpPr>
          <p:nvPr/>
        </p:nvSpPr>
        <p:spPr bwMode="auto">
          <a:xfrm>
            <a:off x="5664200" y="353536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3</a:t>
            </a:r>
            <a:endParaRPr lang="en-US" altLang="zh-CN" sz="2000" i="1">
              <a:solidFill>
                <a:srgbClr val="333333"/>
              </a:solidFill>
              <a:latin typeface="ISOCPEUR" pitchFamily="34" charset="0"/>
              <a:ea typeface="仿宋_GB2312" pitchFamily="49" charset="-122"/>
              <a:sym typeface="Symbol" pitchFamily="18" charset="2"/>
            </a:endParaRPr>
          </a:p>
        </p:txBody>
      </p:sp>
      <p:sp>
        <p:nvSpPr>
          <p:cNvPr id="111631" name="Text Box 15"/>
          <p:cNvSpPr txBox="1">
            <a:spLocks noChangeArrowheads="1"/>
          </p:cNvSpPr>
          <p:nvPr/>
        </p:nvSpPr>
        <p:spPr bwMode="auto">
          <a:xfrm>
            <a:off x="2513013" y="3662363"/>
            <a:ext cx="319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4</a:t>
            </a:r>
            <a:endParaRPr lang="en-US" altLang="zh-CN" sz="2000" i="1">
              <a:solidFill>
                <a:srgbClr val="333333"/>
              </a:solidFill>
              <a:latin typeface="ISOCPEUR" pitchFamily="34" charset="0"/>
              <a:ea typeface="仿宋_GB2312" pitchFamily="49" charset="-122"/>
              <a:sym typeface="Symbol" pitchFamily="18" charset="2"/>
            </a:endParaRPr>
          </a:p>
        </p:txBody>
      </p:sp>
      <p:sp>
        <p:nvSpPr>
          <p:cNvPr id="111632" name="Text Box 16"/>
          <p:cNvSpPr txBox="1">
            <a:spLocks noChangeArrowheads="1"/>
          </p:cNvSpPr>
          <p:nvPr/>
        </p:nvSpPr>
        <p:spPr bwMode="auto">
          <a:xfrm>
            <a:off x="5627688" y="1316038"/>
            <a:ext cx="476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3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11633" name="Text Box 17"/>
          <p:cNvSpPr txBox="1">
            <a:spLocks noChangeArrowheads="1"/>
          </p:cNvSpPr>
          <p:nvPr/>
        </p:nvSpPr>
        <p:spPr bwMode="auto">
          <a:xfrm>
            <a:off x="2478088" y="1676400"/>
            <a:ext cx="496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4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  <a:endParaRPr lang="en-US" altLang="zh-CN" sz="2000" i="1">
              <a:solidFill>
                <a:srgbClr val="0000CC"/>
              </a:solidFill>
              <a:latin typeface="ISOCPEUR" pitchFamily="34" charset="0"/>
              <a:ea typeface="仿宋_GB2312" pitchFamily="49" charset="-122"/>
              <a:sym typeface="Symbol" pitchFamily="18" charset="2"/>
            </a:endParaRPr>
          </a:p>
        </p:txBody>
      </p:sp>
      <p:sp>
        <p:nvSpPr>
          <p:cNvPr id="111634" name="Text Box 18"/>
          <p:cNvSpPr txBox="1">
            <a:spLocks noChangeArrowheads="1"/>
          </p:cNvSpPr>
          <p:nvPr/>
        </p:nvSpPr>
        <p:spPr bwMode="auto">
          <a:xfrm>
            <a:off x="4167188" y="1943100"/>
            <a:ext cx="390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l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11635" name="Text Box 19"/>
          <p:cNvSpPr txBox="1">
            <a:spLocks noChangeArrowheads="1"/>
          </p:cNvSpPr>
          <p:nvPr/>
        </p:nvSpPr>
        <p:spPr bwMode="auto">
          <a:xfrm>
            <a:off x="4179888" y="2579688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l</a:t>
            </a:r>
            <a:endParaRPr kumimoji="0"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36" name="Text Box 20"/>
          <p:cNvSpPr txBox="1">
            <a:spLocks noChangeArrowheads="1"/>
          </p:cNvSpPr>
          <p:nvPr/>
        </p:nvSpPr>
        <p:spPr bwMode="auto">
          <a:xfrm>
            <a:off x="3346450" y="1700213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5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  <a:endParaRPr kumimoji="0" lang="en-US" altLang="zh-CN" sz="2000" i="1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37" name="Text Box 21"/>
          <p:cNvSpPr txBox="1">
            <a:spLocks noChangeArrowheads="1"/>
          </p:cNvSpPr>
          <p:nvPr/>
        </p:nvSpPr>
        <p:spPr bwMode="auto">
          <a:xfrm>
            <a:off x="6523038" y="3206750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7</a:t>
            </a:r>
          </a:p>
        </p:txBody>
      </p:sp>
      <p:sp>
        <p:nvSpPr>
          <p:cNvPr id="111638" name="Text Box 22"/>
          <p:cNvSpPr txBox="1">
            <a:spLocks noChangeArrowheads="1"/>
          </p:cNvSpPr>
          <p:nvPr/>
        </p:nvSpPr>
        <p:spPr bwMode="auto">
          <a:xfrm>
            <a:off x="5495925" y="1676400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6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11639" name="Text Box 23"/>
          <p:cNvSpPr txBox="1">
            <a:spLocks noChangeArrowheads="1"/>
          </p:cNvSpPr>
          <p:nvPr/>
        </p:nvSpPr>
        <p:spPr bwMode="auto">
          <a:xfrm>
            <a:off x="8007350" y="1812925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Q</a:t>
            </a:r>
            <a:r>
              <a:rPr lang="en-US" altLang="zh-CN" sz="1800" i="1" baseline="-8000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V</a:t>
            </a:r>
          </a:p>
        </p:txBody>
      </p:sp>
      <p:sp>
        <p:nvSpPr>
          <p:cNvPr id="111640" name="Line 24"/>
          <p:cNvSpPr>
            <a:spLocks noChangeShapeType="1"/>
          </p:cNvSpPr>
          <p:nvPr/>
        </p:nvSpPr>
        <p:spPr bwMode="auto">
          <a:xfrm>
            <a:off x="2560638" y="1638300"/>
            <a:ext cx="565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41" name="Line 25"/>
          <p:cNvSpPr>
            <a:spLocks noChangeShapeType="1"/>
          </p:cNvSpPr>
          <p:nvPr/>
        </p:nvSpPr>
        <p:spPr bwMode="auto">
          <a:xfrm>
            <a:off x="2436813" y="1981200"/>
            <a:ext cx="565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42" name="Line 26"/>
          <p:cNvSpPr>
            <a:spLocks noChangeShapeType="1"/>
          </p:cNvSpPr>
          <p:nvPr/>
        </p:nvSpPr>
        <p:spPr bwMode="auto">
          <a:xfrm>
            <a:off x="3160713" y="1638300"/>
            <a:ext cx="0" cy="93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43" name="Line 27"/>
          <p:cNvSpPr>
            <a:spLocks noChangeShapeType="1"/>
          </p:cNvSpPr>
          <p:nvPr/>
        </p:nvSpPr>
        <p:spPr bwMode="auto">
          <a:xfrm>
            <a:off x="3986213" y="1625600"/>
            <a:ext cx="0" cy="952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44" name="Line 28"/>
          <p:cNvSpPr>
            <a:spLocks noChangeShapeType="1"/>
          </p:cNvSpPr>
          <p:nvPr/>
        </p:nvSpPr>
        <p:spPr bwMode="auto">
          <a:xfrm>
            <a:off x="6015038" y="1631950"/>
            <a:ext cx="0" cy="93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45" name="Line 29"/>
          <p:cNvSpPr>
            <a:spLocks noChangeShapeType="1"/>
          </p:cNvSpPr>
          <p:nvPr/>
        </p:nvSpPr>
        <p:spPr bwMode="auto">
          <a:xfrm>
            <a:off x="3160713" y="2578100"/>
            <a:ext cx="0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46" name="Line 30"/>
          <p:cNvSpPr>
            <a:spLocks noChangeShapeType="1"/>
          </p:cNvSpPr>
          <p:nvPr/>
        </p:nvSpPr>
        <p:spPr bwMode="auto">
          <a:xfrm>
            <a:off x="3973513" y="2578100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47" name="Line 31"/>
          <p:cNvSpPr>
            <a:spLocks noChangeShapeType="1"/>
          </p:cNvSpPr>
          <p:nvPr/>
        </p:nvSpPr>
        <p:spPr bwMode="auto">
          <a:xfrm>
            <a:off x="6015038" y="2565400"/>
            <a:ext cx="0" cy="1003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48" name="Line 32"/>
          <p:cNvSpPr>
            <a:spLocks noChangeShapeType="1"/>
          </p:cNvSpPr>
          <p:nvPr/>
        </p:nvSpPr>
        <p:spPr bwMode="auto">
          <a:xfrm flipH="1" flipV="1">
            <a:off x="6002338" y="3565525"/>
            <a:ext cx="1701800" cy="58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49" name="Line 33"/>
          <p:cNvSpPr>
            <a:spLocks noChangeShapeType="1"/>
          </p:cNvSpPr>
          <p:nvPr/>
        </p:nvSpPr>
        <p:spPr bwMode="auto">
          <a:xfrm flipV="1">
            <a:off x="3160713" y="3632200"/>
            <a:ext cx="812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50" name="Line 34"/>
          <p:cNvSpPr>
            <a:spLocks noChangeShapeType="1"/>
          </p:cNvSpPr>
          <p:nvPr/>
        </p:nvSpPr>
        <p:spPr bwMode="auto">
          <a:xfrm flipV="1">
            <a:off x="3998913" y="3152775"/>
            <a:ext cx="827087" cy="466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51" name="Line 35"/>
          <p:cNvSpPr>
            <a:spLocks noChangeShapeType="1"/>
          </p:cNvSpPr>
          <p:nvPr/>
        </p:nvSpPr>
        <p:spPr bwMode="auto">
          <a:xfrm flipH="1" flipV="1">
            <a:off x="4805363" y="3159125"/>
            <a:ext cx="1203325" cy="412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52" name="Line 36"/>
          <p:cNvSpPr>
            <a:spLocks noChangeShapeType="1"/>
          </p:cNvSpPr>
          <p:nvPr/>
        </p:nvSpPr>
        <p:spPr bwMode="auto">
          <a:xfrm>
            <a:off x="6600825" y="1981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53" name="Line 37"/>
          <p:cNvSpPr>
            <a:spLocks noChangeShapeType="1"/>
          </p:cNvSpPr>
          <p:nvPr/>
        </p:nvSpPr>
        <p:spPr bwMode="auto">
          <a:xfrm>
            <a:off x="6600825" y="2543175"/>
            <a:ext cx="0" cy="93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54" name="Line 38"/>
          <p:cNvSpPr>
            <a:spLocks noChangeShapeType="1"/>
          </p:cNvSpPr>
          <p:nvPr/>
        </p:nvSpPr>
        <p:spPr bwMode="auto">
          <a:xfrm>
            <a:off x="2855913" y="1981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55" name="Line 39"/>
          <p:cNvSpPr>
            <a:spLocks noChangeShapeType="1"/>
          </p:cNvSpPr>
          <p:nvPr/>
        </p:nvSpPr>
        <p:spPr bwMode="auto">
          <a:xfrm>
            <a:off x="2855913" y="2590800"/>
            <a:ext cx="0" cy="119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56" name="Line 40"/>
          <p:cNvSpPr>
            <a:spLocks noChangeShapeType="1"/>
          </p:cNvSpPr>
          <p:nvPr/>
        </p:nvSpPr>
        <p:spPr bwMode="auto">
          <a:xfrm flipV="1">
            <a:off x="2881313" y="2794000"/>
            <a:ext cx="1714500" cy="96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57" name="Line 41"/>
          <p:cNvSpPr>
            <a:spLocks noChangeShapeType="1"/>
          </p:cNvSpPr>
          <p:nvPr/>
        </p:nvSpPr>
        <p:spPr bwMode="auto">
          <a:xfrm flipH="1" flipV="1">
            <a:off x="4576763" y="2800350"/>
            <a:ext cx="2009775" cy="688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58" name="Line 42"/>
          <p:cNvSpPr>
            <a:spLocks noChangeShapeType="1"/>
          </p:cNvSpPr>
          <p:nvPr/>
        </p:nvSpPr>
        <p:spPr bwMode="auto">
          <a:xfrm flipV="1">
            <a:off x="4821238" y="2578100"/>
            <a:ext cx="0" cy="590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59" name="Line 43"/>
          <p:cNvSpPr>
            <a:spLocks noChangeShapeType="1"/>
          </p:cNvSpPr>
          <p:nvPr/>
        </p:nvSpPr>
        <p:spPr bwMode="auto">
          <a:xfrm flipV="1">
            <a:off x="4821238" y="1638300"/>
            <a:ext cx="0" cy="93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60" name="Line 44"/>
          <p:cNvSpPr>
            <a:spLocks noChangeShapeType="1"/>
          </p:cNvSpPr>
          <p:nvPr/>
        </p:nvSpPr>
        <p:spPr bwMode="auto">
          <a:xfrm flipV="1">
            <a:off x="4586288" y="254635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61" name="Line 45"/>
          <p:cNvSpPr>
            <a:spLocks noChangeShapeType="1"/>
          </p:cNvSpPr>
          <p:nvPr/>
        </p:nvSpPr>
        <p:spPr bwMode="auto">
          <a:xfrm flipV="1">
            <a:off x="4581525" y="1638300"/>
            <a:ext cx="233363" cy="352425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62" name="AutoShape 46"/>
          <p:cNvSpPr>
            <a:spLocks noChangeArrowheads="1"/>
          </p:cNvSpPr>
          <p:nvPr/>
        </p:nvSpPr>
        <p:spPr bwMode="auto">
          <a:xfrm>
            <a:off x="4545013" y="1955800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63" name="AutoShape 47"/>
          <p:cNvSpPr>
            <a:spLocks noChangeArrowheads="1"/>
          </p:cNvSpPr>
          <p:nvPr/>
        </p:nvSpPr>
        <p:spPr bwMode="auto">
          <a:xfrm>
            <a:off x="4779963" y="1600200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2128838" y="784225"/>
            <a:ext cx="2365375" cy="4084638"/>
            <a:chOff x="1352" y="486"/>
            <a:chExt cx="1490" cy="2573"/>
          </a:xfrm>
        </p:grpSpPr>
        <p:sp>
          <p:nvSpPr>
            <p:cNvPr id="9287" name="Line 49"/>
            <p:cNvSpPr>
              <a:spLocks noChangeShapeType="1"/>
            </p:cNvSpPr>
            <p:nvPr/>
          </p:nvSpPr>
          <p:spPr bwMode="auto">
            <a:xfrm>
              <a:off x="2202" y="1360"/>
              <a:ext cx="0" cy="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9288" name="Line 50"/>
            <p:cNvSpPr>
              <a:spLocks noChangeShapeType="1"/>
            </p:cNvSpPr>
            <p:nvPr/>
          </p:nvSpPr>
          <p:spPr bwMode="auto">
            <a:xfrm>
              <a:off x="1700" y="1344"/>
              <a:ext cx="0" cy="9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9289" name="Line 51"/>
            <p:cNvSpPr>
              <a:spLocks noChangeShapeType="1"/>
            </p:cNvSpPr>
            <p:nvPr/>
          </p:nvSpPr>
          <p:spPr bwMode="auto">
            <a:xfrm>
              <a:off x="2836" y="689"/>
              <a:ext cx="0" cy="1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9290" name="Text Box 52"/>
            <p:cNvSpPr txBox="1">
              <a:spLocks noChangeArrowheads="1"/>
            </p:cNvSpPr>
            <p:nvPr/>
          </p:nvSpPr>
          <p:spPr bwMode="auto">
            <a:xfrm>
              <a:off x="1434" y="2141"/>
              <a:ext cx="2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d</a:t>
              </a:r>
              <a:endParaRPr kumimoji="0"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9291" name="Text Box 53"/>
            <p:cNvSpPr txBox="1">
              <a:spLocks noChangeArrowheads="1"/>
            </p:cNvSpPr>
            <p:nvPr/>
          </p:nvSpPr>
          <p:spPr bwMode="auto">
            <a:xfrm>
              <a:off x="2259" y="2809"/>
              <a:ext cx="3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e</a:t>
              </a:r>
            </a:p>
          </p:txBody>
        </p:sp>
        <p:sp>
          <p:nvSpPr>
            <p:cNvPr id="9292" name="Text Box 54"/>
            <p:cNvSpPr txBox="1">
              <a:spLocks noChangeArrowheads="1"/>
            </p:cNvSpPr>
            <p:nvPr/>
          </p:nvSpPr>
          <p:spPr bwMode="auto">
            <a:xfrm>
              <a:off x="1950" y="1897"/>
              <a:ext cx="2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f</a:t>
              </a:r>
              <a:endParaRPr kumimoji="0"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9293" name="Text Box 55"/>
            <p:cNvSpPr txBox="1">
              <a:spLocks noChangeArrowheads="1"/>
            </p:cNvSpPr>
            <p:nvPr/>
          </p:nvSpPr>
          <p:spPr bwMode="auto">
            <a:xfrm>
              <a:off x="1352" y="1239"/>
              <a:ext cx="4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d</a:t>
              </a: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'</a:t>
              </a:r>
            </a:p>
          </p:txBody>
        </p:sp>
        <p:sp>
          <p:nvSpPr>
            <p:cNvPr id="9294" name="Text Box 56"/>
            <p:cNvSpPr txBox="1">
              <a:spLocks noChangeArrowheads="1"/>
            </p:cNvSpPr>
            <p:nvPr/>
          </p:nvSpPr>
          <p:spPr bwMode="auto">
            <a:xfrm>
              <a:off x="2094" y="486"/>
              <a:ext cx="3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e</a:t>
              </a: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'</a:t>
              </a:r>
            </a:p>
          </p:txBody>
        </p:sp>
        <p:sp>
          <p:nvSpPr>
            <p:cNvPr id="9295" name="Text Box 57"/>
            <p:cNvSpPr txBox="1">
              <a:spLocks noChangeArrowheads="1"/>
            </p:cNvSpPr>
            <p:nvPr/>
          </p:nvSpPr>
          <p:spPr bwMode="auto">
            <a:xfrm>
              <a:off x="1878" y="1251"/>
              <a:ext cx="4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f</a:t>
              </a: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'</a:t>
              </a:r>
            </a:p>
          </p:txBody>
        </p:sp>
        <p:sp>
          <p:nvSpPr>
            <p:cNvPr id="9296" name="Line 58"/>
            <p:cNvSpPr>
              <a:spLocks noChangeShapeType="1"/>
            </p:cNvSpPr>
            <p:nvPr/>
          </p:nvSpPr>
          <p:spPr bwMode="auto">
            <a:xfrm flipV="1">
              <a:off x="1698" y="664"/>
              <a:ext cx="632" cy="68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9297" name="Line 59"/>
            <p:cNvSpPr>
              <a:spLocks noChangeShapeType="1"/>
            </p:cNvSpPr>
            <p:nvPr/>
          </p:nvSpPr>
          <p:spPr bwMode="auto">
            <a:xfrm>
              <a:off x="2330" y="656"/>
              <a:ext cx="0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9298" name="Line 60"/>
            <p:cNvSpPr>
              <a:spLocks noChangeShapeType="1"/>
            </p:cNvSpPr>
            <p:nvPr/>
          </p:nvSpPr>
          <p:spPr bwMode="auto">
            <a:xfrm flipV="1">
              <a:off x="2210" y="672"/>
              <a:ext cx="632" cy="68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9299" name="Line 61"/>
            <p:cNvSpPr>
              <a:spLocks noChangeShapeType="1"/>
            </p:cNvSpPr>
            <p:nvPr/>
          </p:nvSpPr>
          <p:spPr bwMode="auto">
            <a:xfrm>
              <a:off x="1698" y="2240"/>
              <a:ext cx="632" cy="69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9300" name="Line 62"/>
            <p:cNvSpPr>
              <a:spLocks noChangeShapeType="1"/>
            </p:cNvSpPr>
            <p:nvPr/>
          </p:nvSpPr>
          <p:spPr bwMode="auto">
            <a:xfrm>
              <a:off x="2210" y="1944"/>
              <a:ext cx="632" cy="69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9301" name="Text Box 63"/>
            <p:cNvSpPr txBox="1">
              <a:spLocks noChangeArrowheads="1"/>
            </p:cNvSpPr>
            <p:nvPr/>
          </p:nvSpPr>
          <p:spPr bwMode="auto">
            <a:xfrm>
              <a:off x="2543" y="2559"/>
              <a:ext cx="23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g</a:t>
              </a:r>
            </a:p>
          </p:txBody>
        </p:sp>
        <p:sp>
          <p:nvSpPr>
            <p:cNvPr id="9302" name="Text Box 64"/>
            <p:cNvSpPr txBox="1">
              <a:spLocks noChangeArrowheads="1"/>
            </p:cNvSpPr>
            <p:nvPr/>
          </p:nvSpPr>
          <p:spPr bwMode="auto">
            <a:xfrm>
              <a:off x="2560" y="555"/>
              <a:ext cx="2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g</a:t>
              </a: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'</a:t>
              </a:r>
            </a:p>
          </p:txBody>
        </p:sp>
        <p:sp>
          <p:nvSpPr>
            <p:cNvPr id="9303" name="Line 65"/>
            <p:cNvSpPr>
              <a:spLocks noChangeShapeType="1"/>
            </p:cNvSpPr>
            <p:nvPr/>
          </p:nvSpPr>
          <p:spPr bwMode="auto">
            <a:xfrm>
              <a:off x="2330" y="2568"/>
              <a:ext cx="0" cy="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</p:grpSp>
      <p:sp>
        <p:nvSpPr>
          <p:cNvPr id="111682" name="Text Box 66"/>
          <p:cNvSpPr txBox="1">
            <a:spLocks noChangeArrowheads="1"/>
          </p:cNvSpPr>
          <p:nvPr/>
        </p:nvSpPr>
        <p:spPr bwMode="auto">
          <a:xfrm>
            <a:off x="6367463" y="1643063"/>
            <a:ext cx="490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7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11683" name="Line 67"/>
          <p:cNvSpPr>
            <a:spLocks noChangeShapeType="1"/>
          </p:cNvSpPr>
          <p:nvPr/>
        </p:nvSpPr>
        <p:spPr bwMode="auto">
          <a:xfrm>
            <a:off x="4576763" y="2790825"/>
            <a:ext cx="234950" cy="358775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84" name="AutoShape 68"/>
          <p:cNvSpPr>
            <a:spLocks noChangeArrowheads="1"/>
          </p:cNvSpPr>
          <p:nvPr/>
        </p:nvSpPr>
        <p:spPr bwMode="auto">
          <a:xfrm>
            <a:off x="4776788" y="3111500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1685" name="AutoShape 69"/>
          <p:cNvSpPr>
            <a:spLocks noChangeArrowheads="1"/>
          </p:cNvSpPr>
          <p:nvPr/>
        </p:nvSpPr>
        <p:spPr bwMode="auto">
          <a:xfrm>
            <a:off x="4541838" y="2755900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9267" name="Rectangle 70"/>
          <p:cNvSpPr>
            <a:spLocks noChangeArrowheads="1"/>
          </p:cNvSpPr>
          <p:nvPr/>
        </p:nvSpPr>
        <p:spPr bwMode="auto">
          <a:xfrm>
            <a:off x="220663" y="306388"/>
            <a:ext cx="5595937" cy="557212"/>
          </a:xfrm>
          <a:prstGeom prst="rect">
            <a:avLst/>
          </a:prstGeom>
          <a:solidFill>
            <a:srgbClr val="FFFFFF"/>
          </a:solidFill>
          <a:ln w="38100">
            <a:solidFill>
              <a:srgbClr val="FF33CC"/>
            </a:solidFill>
            <a:miter lim="800000"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例：求</a:t>
            </a:r>
            <a:r>
              <a:rPr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△</a:t>
            </a:r>
            <a:r>
              <a:rPr lang="en-US" altLang="zh-CN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ABC</a:t>
            </a:r>
            <a:r>
              <a:rPr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与</a:t>
            </a:r>
            <a:r>
              <a:rPr lang="en-US" altLang="zh-CN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DE∥FG</a:t>
            </a:r>
            <a:r>
              <a:rPr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的交线</a:t>
            </a:r>
            <a:r>
              <a:rPr lang="zh-CN" altLang="en-US" sz="2800" b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。</a:t>
            </a:r>
          </a:p>
        </p:txBody>
      </p:sp>
      <p:grpSp>
        <p:nvGrpSpPr>
          <p:cNvPr id="4" name="Group 71"/>
          <p:cNvGrpSpPr>
            <a:grpSpLocks/>
          </p:cNvGrpSpPr>
          <p:nvPr/>
        </p:nvGrpSpPr>
        <p:grpSpPr bwMode="auto">
          <a:xfrm>
            <a:off x="5122863" y="582613"/>
            <a:ext cx="2962275" cy="4059237"/>
            <a:chOff x="3238" y="359"/>
            <a:chExt cx="1866" cy="2557"/>
          </a:xfrm>
        </p:grpSpPr>
        <p:sp>
          <p:nvSpPr>
            <p:cNvPr id="9275" name="Freeform 72"/>
            <p:cNvSpPr>
              <a:spLocks/>
            </p:cNvSpPr>
            <p:nvPr/>
          </p:nvSpPr>
          <p:spPr bwMode="auto">
            <a:xfrm flipH="1">
              <a:off x="3550" y="548"/>
              <a:ext cx="1326" cy="876"/>
            </a:xfrm>
            <a:custGeom>
              <a:avLst/>
              <a:gdLst>
                <a:gd name="T0" fmla="*/ 0 w 852"/>
                <a:gd name="T1" fmla="*/ 512 h 822"/>
                <a:gd name="T2" fmla="*/ 1236 w 852"/>
                <a:gd name="T3" fmla="*/ 0 h 822"/>
                <a:gd name="T4" fmla="*/ 2064 w 852"/>
                <a:gd name="T5" fmla="*/ 934 h 822"/>
                <a:gd name="T6" fmla="*/ 0 w 852"/>
                <a:gd name="T7" fmla="*/ 512 h 8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822"/>
                <a:gd name="T14" fmla="*/ 852 w 852"/>
                <a:gd name="T15" fmla="*/ 822 h 8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822">
                  <a:moveTo>
                    <a:pt x="0" y="450"/>
                  </a:moveTo>
                  <a:lnTo>
                    <a:pt x="510" y="0"/>
                  </a:lnTo>
                  <a:lnTo>
                    <a:pt x="852" y="822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9276" name="Line 73"/>
            <p:cNvSpPr>
              <a:spLocks noChangeShapeType="1"/>
            </p:cNvSpPr>
            <p:nvPr/>
          </p:nvSpPr>
          <p:spPr bwMode="auto">
            <a:xfrm>
              <a:off x="3542" y="1421"/>
              <a:ext cx="2" cy="4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9277" name="Text Box 74"/>
            <p:cNvSpPr txBox="1">
              <a:spLocks noChangeArrowheads="1"/>
            </p:cNvSpPr>
            <p:nvPr/>
          </p:nvSpPr>
          <p:spPr bwMode="auto">
            <a:xfrm>
              <a:off x="3238" y="1255"/>
              <a:ext cx="3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a'</a:t>
              </a:r>
              <a:endParaRPr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9278" name="Text Box 75"/>
            <p:cNvSpPr txBox="1">
              <a:spLocks noChangeArrowheads="1"/>
            </p:cNvSpPr>
            <p:nvPr/>
          </p:nvSpPr>
          <p:spPr bwMode="auto">
            <a:xfrm>
              <a:off x="4778" y="832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c'</a:t>
              </a:r>
              <a:endParaRPr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9279" name="Text Box 76"/>
            <p:cNvSpPr txBox="1">
              <a:spLocks noChangeArrowheads="1"/>
            </p:cNvSpPr>
            <p:nvPr/>
          </p:nvSpPr>
          <p:spPr bwMode="auto">
            <a:xfrm>
              <a:off x="3892" y="359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b'</a:t>
              </a:r>
              <a:endParaRPr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9280" name="Text Box 77"/>
            <p:cNvSpPr txBox="1">
              <a:spLocks noChangeArrowheads="1"/>
            </p:cNvSpPr>
            <p:nvPr/>
          </p:nvSpPr>
          <p:spPr bwMode="auto">
            <a:xfrm>
              <a:off x="3314" y="1708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a</a:t>
              </a:r>
            </a:p>
          </p:txBody>
        </p:sp>
        <p:sp>
          <p:nvSpPr>
            <p:cNvPr id="9281" name="Text Box 78"/>
            <p:cNvSpPr txBox="1">
              <a:spLocks noChangeArrowheads="1"/>
            </p:cNvSpPr>
            <p:nvPr/>
          </p:nvSpPr>
          <p:spPr bwMode="auto">
            <a:xfrm>
              <a:off x="4852" y="2436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c</a:t>
              </a:r>
            </a:p>
          </p:txBody>
        </p:sp>
        <p:sp>
          <p:nvSpPr>
            <p:cNvPr id="9282" name="Line 79"/>
            <p:cNvSpPr>
              <a:spLocks noChangeShapeType="1"/>
            </p:cNvSpPr>
            <p:nvPr/>
          </p:nvSpPr>
          <p:spPr bwMode="auto">
            <a:xfrm>
              <a:off x="4877" y="1026"/>
              <a:ext cx="0" cy="15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9283" name="Text Box 80"/>
            <p:cNvSpPr txBox="1">
              <a:spLocks noChangeArrowheads="1"/>
            </p:cNvSpPr>
            <p:nvPr/>
          </p:nvSpPr>
          <p:spPr bwMode="auto">
            <a:xfrm>
              <a:off x="3901" y="2666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b</a:t>
              </a:r>
            </a:p>
          </p:txBody>
        </p:sp>
        <p:sp>
          <p:nvSpPr>
            <p:cNvPr id="9284" name="Line 81"/>
            <p:cNvSpPr>
              <a:spLocks noChangeShapeType="1"/>
            </p:cNvSpPr>
            <p:nvPr/>
          </p:nvSpPr>
          <p:spPr bwMode="auto">
            <a:xfrm flipH="1">
              <a:off x="4085" y="556"/>
              <a:ext cx="0" cy="2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9285" name="Freeform 82"/>
            <p:cNvSpPr>
              <a:spLocks/>
            </p:cNvSpPr>
            <p:nvPr/>
          </p:nvSpPr>
          <p:spPr bwMode="auto">
            <a:xfrm>
              <a:off x="3544" y="1822"/>
              <a:ext cx="1336" cy="856"/>
            </a:xfrm>
            <a:custGeom>
              <a:avLst/>
              <a:gdLst>
                <a:gd name="T0" fmla="*/ 1336 w 1336"/>
                <a:gd name="T1" fmla="*/ 784 h 856"/>
                <a:gd name="T2" fmla="*/ 536 w 1336"/>
                <a:gd name="T3" fmla="*/ 856 h 856"/>
                <a:gd name="T4" fmla="*/ 0 w 1336"/>
                <a:gd name="T5" fmla="*/ 0 h 856"/>
                <a:gd name="T6" fmla="*/ 1336 w 1336"/>
                <a:gd name="T7" fmla="*/ 784 h 8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36"/>
                <a:gd name="T13" fmla="*/ 0 h 856"/>
                <a:gd name="T14" fmla="*/ 1336 w 1336"/>
                <a:gd name="T15" fmla="*/ 856 h 8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36" h="856">
                  <a:moveTo>
                    <a:pt x="1336" y="784"/>
                  </a:moveTo>
                  <a:lnTo>
                    <a:pt x="536" y="856"/>
                  </a:lnTo>
                  <a:lnTo>
                    <a:pt x="0" y="0"/>
                  </a:lnTo>
                  <a:lnTo>
                    <a:pt x="1336" y="784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9286" name="Line 83"/>
            <p:cNvSpPr>
              <a:spLocks noChangeShapeType="1"/>
            </p:cNvSpPr>
            <p:nvPr/>
          </p:nvSpPr>
          <p:spPr bwMode="auto">
            <a:xfrm flipH="1">
              <a:off x="4085" y="2410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</p:grpSp>
      <p:sp>
        <p:nvSpPr>
          <p:cNvPr id="9269" name="Text Box 84"/>
          <p:cNvSpPr txBox="1">
            <a:spLocks noChangeArrowheads="1"/>
          </p:cNvSpPr>
          <p:nvPr/>
        </p:nvSpPr>
        <p:spPr bwMode="auto">
          <a:xfrm>
            <a:off x="877888" y="4851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zh-CN" sz="2400" b="0">
              <a:solidFill>
                <a:srgbClr val="333333"/>
              </a:solidFill>
              <a:sym typeface="Symbol" pitchFamily="18" charset="2"/>
            </a:endParaRPr>
          </a:p>
        </p:txBody>
      </p:sp>
      <p:sp>
        <p:nvSpPr>
          <p:cNvPr id="111701" name="Text Box 85"/>
          <p:cNvSpPr txBox="1">
            <a:spLocks noChangeArrowheads="1"/>
          </p:cNvSpPr>
          <p:nvPr/>
        </p:nvSpPr>
        <p:spPr bwMode="auto">
          <a:xfrm>
            <a:off x="334963" y="5057775"/>
            <a:ext cx="42592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Char char="•"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取 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Q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∥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P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，即 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Qv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∥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Pv</a:t>
            </a:r>
            <a:r>
              <a:rPr kumimoji="0" lang="en-US" altLang="zh-CN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endParaRPr kumimoji="0" lang="en-US" altLang="zh-CN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11702" name="Text Box 86"/>
          <p:cNvSpPr txBox="1">
            <a:spLocks noChangeArrowheads="1"/>
          </p:cNvSpPr>
          <p:nvPr/>
        </p:nvSpPr>
        <p:spPr bwMode="auto">
          <a:xfrm>
            <a:off x="349250" y="4738688"/>
            <a:ext cx="5803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取水平面 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P</a:t>
            </a:r>
          </a:p>
        </p:txBody>
      </p:sp>
      <p:sp>
        <p:nvSpPr>
          <p:cNvPr id="111703" name="Text Box 87"/>
          <p:cNvSpPr txBox="1">
            <a:spLocks noChangeArrowheads="1"/>
          </p:cNvSpPr>
          <p:nvPr/>
        </p:nvSpPr>
        <p:spPr bwMode="auto">
          <a:xfrm>
            <a:off x="341313" y="5508625"/>
            <a:ext cx="8802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Char char="•"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则：</a:t>
            </a:r>
            <a:r>
              <a:rPr kumimoji="0" lang="en-US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ⅣⅤ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∥</a:t>
            </a:r>
            <a:r>
              <a:rPr kumimoji="0" lang="en-US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ⅠⅡ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</a:t>
            </a:r>
            <a:r>
              <a:rPr kumimoji="0" lang="en-US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ⅥⅦ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∥</a:t>
            </a:r>
            <a:r>
              <a:rPr kumimoji="0" lang="en-US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Ⅲ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C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，从而简化作图</a:t>
            </a:r>
          </a:p>
        </p:txBody>
      </p:sp>
      <p:sp>
        <p:nvSpPr>
          <p:cNvPr id="111704" name="Text Box 88"/>
          <p:cNvSpPr txBox="1">
            <a:spLocks noChangeArrowheads="1"/>
          </p:cNvSpPr>
          <p:nvPr/>
        </p:nvSpPr>
        <p:spPr bwMode="auto">
          <a:xfrm>
            <a:off x="338138" y="5851525"/>
            <a:ext cx="8805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Char char="•"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KL</a:t>
            </a:r>
            <a:r>
              <a:rPr kumimoji="0" lang="zh-CN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即为所求</a:t>
            </a:r>
            <a:endParaRPr kumimoji="0" lang="zh-CN" altLang="en-US" sz="240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11705" name="Text Box 89"/>
          <p:cNvSpPr txBox="1">
            <a:spLocks noChangeArrowheads="1"/>
          </p:cNvSpPr>
          <p:nvPr/>
        </p:nvSpPr>
        <p:spPr bwMode="auto">
          <a:xfrm>
            <a:off x="146050" y="4092575"/>
            <a:ext cx="2578100" cy="5572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33CC"/>
            </a:solidFill>
            <a:miter lim="800000"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CC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辅助平面法</a:t>
            </a:r>
          </a:p>
        </p:txBody>
      </p:sp>
    </p:spTree>
    <p:extLst>
      <p:ext uri="{BB962C8B-B14F-4D97-AF65-F5344CB8AC3E}">
        <p14:creationId xmlns:p14="http://schemas.microsoft.com/office/powerpoint/2010/main" val="403780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1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1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1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1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1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11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11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11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11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1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11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1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11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11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11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1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11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11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111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11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11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11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111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111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11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11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11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111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8" grpId="0" animBg="1"/>
      <p:bldP spid="111623" grpId="0" autoUpdateAnimBg="0"/>
      <p:bldP spid="111624" grpId="0" autoUpdateAnimBg="0"/>
      <p:bldP spid="111625" grpId="0" autoUpdateAnimBg="0"/>
      <p:bldP spid="111626" grpId="0" autoUpdateAnimBg="0"/>
      <p:bldP spid="111627" grpId="0" autoUpdateAnimBg="0"/>
      <p:bldP spid="111628" grpId="0" autoUpdateAnimBg="0"/>
      <p:bldP spid="111629" grpId="0" autoUpdateAnimBg="0"/>
      <p:bldP spid="111630" grpId="0" autoUpdateAnimBg="0"/>
      <p:bldP spid="111631" grpId="0" autoUpdateAnimBg="0"/>
      <p:bldP spid="111632" grpId="0" autoUpdateAnimBg="0"/>
      <p:bldP spid="111633" grpId="0" autoUpdateAnimBg="0"/>
      <p:bldP spid="111634" grpId="0" autoUpdateAnimBg="0"/>
      <p:bldP spid="111635" grpId="0" autoUpdateAnimBg="0"/>
      <p:bldP spid="111636" grpId="0" autoUpdateAnimBg="0"/>
      <p:bldP spid="111637" grpId="0" autoUpdateAnimBg="0"/>
      <p:bldP spid="111638" grpId="0" autoUpdateAnimBg="0"/>
      <p:bldP spid="111639" grpId="0" autoUpdateAnimBg="0"/>
      <p:bldP spid="111640" grpId="0" animBg="1"/>
      <p:bldP spid="111641" grpId="0" animBg="1"/>
      <p:bldP spid="111642" grpId="0" animBg="1"/>
      <p:bldP spid="111643" grpId="0" animBg="1"/>
      <p:bldP spid="111644" grpId="0" animBg="1"/>
      <p:bldP spid="111645" grpId="0" animBg="1"/>
      <p:bldP spid="111646" grpId="0" animBg="1"/>
      <p:bldP spid="111647" grpId="0" animBg="1"/>
      <p:bldP spid="111648" grpId="0" animBg="1"/>
      <p:bldP spid="111649" grpId="0" animBg="1"/>
      <p:bldP spid="111650" grpId="0" animBg="1"/>
      <p:bldP spid="111651" grpId="0" animBg="1"/>
      <p:bldP spid="111652" grpId="0" animBg="1"/>
      <p:bldP spid="111653" grpId="0" animBg="1"/>
      <p:bldP spid="111654" grpId="0" animBg="1"/>
      <p:bldP spid="111655" grpId="0" animBg="1"/>
      <p:bldP spid="111656" grpId="0" animBg="1"/>
      <p:bldP spid="111657" grpId="0" animBg="1"/>
      <p:bldP spid="111658" grpId="0" animBg="1"/>
      <p:bldP spid="111659" grpId="0" animBg="1"/>
      <p:bldP spid="111660" grpId="0" animBg="1"/>
      <p:bldP spid="111661" grpId="0" animBg="1"/>
      <p:bldP spid="111662" grpId="0" animBg="1"/>
      <p:bldP spid="111663" grpId="0" animBg="1"/>
      <p:bldP spid="111682" grpId="0" autoUpdateAnimBg="0"/>
      <p:bldP spid="111683" grpId="0" animBg="1"/>
      <p:bldP spid="111684" grpId="0" animBg="1"/>
      <p:bldP spid="111685" grpId="0" animBg="1"/>
      <p:bldP spid="111701" grpId="0" build="p" autoUpdateAnimBg="0"/>
      <p:bldP spid="111702" grpId="0" build="p" autoUpdateAnimBg="0"/>
      <p:bldP spid="111703" grpId="0" build="p" autoUpdateAnimBg="0"/>
      <p:bldP spid="111704" grpId="0" build="p" autoUpdateAnimBg="0"/>
      <p:bldP spid="11170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C53147-560B-40FE-9891-1528D32DA307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26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110594" name="Freeform 2"/>
          <p:cNvSpPr>
            <a:spLocks/>
          </p:cNvSpPr>
          <p:nvPr/>
        </p:nvSpPr>
        <p:spPr bwMode="auto">
          <a:xfrm>
            <a:off x="6029325" y="2647950"/>
            <a:ext cx="2095500" cy="1285875"/>
          </a:xfrm>
          <a:custGeom>
            <a:avLst/>
            <a:gdLst>
              <a:gd name="T0" fmla="*/ 0 w 1320"/>
              <a:gd name="T1" fmla="*/ 2041326563 h 810"/>
              <a:gd name="T2" fmla="*/ 1345763438 w 1320"/>
              <a:gd name="T3" fmla="*/ 0 h 810"/>
              <a:gd name="T4" fmla="*/ 2147483647 w 1320"/>
              <a:gd name="T5" fmla="*/ 1088707500 h 810"/>
              <a:gd name="T6" fmla="*/ 0 w 1320"/>
              <a:gd name="T7" fmla="*/ 2041326563 h 810"/>
              <a:gd name="T8" fmla="*/ 0 60000 65536"/>
              <a:gd name="T9" fmla="*/ 0 60000 65536"/>
              <a:gd name="T10" fmla="*/ 0 60000 65536"/>
              <a:gd name="T11" fmla="*/ 0 60000 65536"/>
              <a:gd name="T12" fmla="*/ 0 w 1320"/>
              <a:gd name="T13" fmla="*/ 0 h 810"/>
              <a:gd name="T14" fmla="*/ 1320 w 1320"/>
              <a:gd name="T15" fmla="*/ 810 h 8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20" h="810">
                <a:moveTo>
                  <a:pt x="0" y="810"/>
                </a:moveTo>
                <a:lnTo>
                  <a:pt x="534" y="0"/>
                </a:lnTo>
                <a:lnTo>
                  <a:pt x="1320" y="432"/>
                </a:lnTo>
                <a:lnTo>
                  <a:pt x="0" y="810"/>
                </a:lnTo>
                <a:close/>
              </a:path>
            </a:pathLst>
          </a:custGeom>
          <a:noFill/>
          <a:ln w="31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595" name="Freeform 3"/>
          <p:cNvSpPr>
            <a:spLocks/>
          </p:cNvSpPr>
          <p:nvPr/>
        </p:nvSpPr>
        <p:spPr bwMode="auto">
          <a:xfrm>
            <a:off x="5686425" y="2657475"/>
            <a:ext cx="2114550" cy="1438275"/>
          </a:xfrm>
          <a:custGeom>
            <a:avLst/>
            <a:gdLst>
              <a:gd name="T0" fmla="*/ 0 w 1332"/>
              <a:gd name="T1" fmla="*/ 1239916875 h 906"/>
              <a:gd name="T2" fmla="*/ 2147483647 w 1332"/>
              <a:gd name="T3" fmla="*/ 2147483647 h 906"/>
              <a:gd name="T4" fmla="*/ 1557456563 w 1332"/>
              <a:gd name="T5" fmla="*/ 0 h 906"/>
              <a:gd name="T6" fmla="*/ 0 w 1332"/>
              <a:gd name="T7" fmla="*/ 1239916875 h 906"/>
              <a:gd name="T8" fmla="*/ 0 60000 65536"/>
              <a:gd name="T9" fmla="*/ 0 60000 65536"/>
              <a:gd name="T10" fmla="*/ 0 60000 65536"/>
              <a:gd name="T11" fmla="*/ 0 60000 65536"/>
              <a:gd name="T12" fmla="*/ 0 w 1332"/>
              <a:gd name="T13" fmla="*/ 0 h 906"/>
              <a:gd name="T14" fmla="*/ 1332 w 1332"/>
              <a:gd name="T15" fmla="*/ 906 h 90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32" h="906">
                <a:moveTo>
                  <a:pt x="0" y="492"/>
                </a:moveTo>
                <a:lnTo>
                  <a:pt x="1332" y="906"/>
                </a:lnTo>
                <a:lnTo>
                  <a:pt x="618" y="0"/>
                </a:lnTo>
                <a:lnTo>
                  <a:pt x="0" y="492"/>
                </a:lnTo>
                <a:close/>
              </a:path>
            </a:pathLst>
          </a:custGeom>
          <a:noFill/>
          <a:ln w="31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596" name="Freeform 4"/>
          <p:cNvSpPr>
            <a:spLocks/>
          </p:cNvSpPr>
          <p:nvPr/>
        </p:nvSpPr>
        <p:spPr bwMode="auto">
          <a:xfrm>
            <a:off x="5686425" y="1000125"/>
            <a:ext cx="2114550" cy="1257300"/>
          </a:xfrm>
          <a:custGeom>
            <a:avLst/>
            <a:gdLst>
              <a:gd name="T0" fmla="*/ 0 w 1332"/>
              <a:gd name="T1" fmla="*/ 483870000 h 792"/>
              <a:gd name="T2" fmla="*/ 1557456563 w 1332"/>
              <a:gd name="T3" fmla="*/ 1995963750 h 792"/>
              <a:gd name="T4" fmla="*/ 2147483647 w 1332"/>
              <a:gd name="T5" fmla="*/ 0 h 792"/>
              <a:gd name="T6" fmla="*/ 0 w 1332"/>
              <a:gd name="T7" fmla="*/ 483870000 h 792"/>
              <a:gd name="T8" fmla="*/ 0 60000 65536"/>
              <a:gd name="T9" fmla="*/ 0 60000 65536"/>
              <a:gd name="T10" fmla="*/ 0 60000 65536"/>
              <a:gd name="T11" fmla="*/ 0 60000 65536"/>
              <a:gd name="T12" fmla="*/ 0 w 1332"/>
              <a:gd name="T13" fmla="*/ 0 h 792"/>
              <a:gd name="T14" fmla="*/ 1332 w 1332"/>
              <a:gd name="T15" fmla="*/ 792 h 7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32" h="792">
                <a:moveTo>
                  <a:pt x="0" y="192"/>
                </a:moveTo>
                <a:lnTo>
                  <a:pt x="618" y="792"/>
                </a:lnTo>
                <a:lnTo>
                  <a:pt x="1332" y="0"/>
                </a:lnTo>
                <a:lnTo>
                  <a:pt x="0" y="192"/>
                </a:lnTo>
                <a:close/>
              </a:path>
            </a:pathLst>
          </a:custGeom>
          <a:noFill/>
          <a:ln w="31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597" name="Freeform 5"/>
          <p:cNvSpPr>
            <a:spLocks/>
          </p:cNvSpPr>
          <p:nvPr/>
        </p:nvSpPr>
        <p:spPr bwMode="auto">
          <a:xfrm flipH="1">
            <a:off x="6029325" y="781050"/>
            <a:ext cx="2105025" cy="1390650"/>
          </a:xfrm>
          <a:custGeom>
            <a:avLst/>
            <a:gdLst>
              <a:gd name="T0" fmla="*/ 0 w 852"/>
              <a:gd name="T1" fmla="*/ 1287966908 h 822"/>
              <a:gd name="T2" fmla="*/ 2147483647 w 852"/>
              <a:gd name="T3" fmla="*/ 0 h 822"/>
              <a:gd name="T4" fmla="*/ 2147483647 w 852"/>
              <a:gd name="T5" fmla="*/ 2147483647 h 822"/>
              <a:gd name="T6" fmla="*/ 0 w 852"/>
              <a:gd name="T7" fmla="*/ 1287966908 h 822"/>
              <a:gd name="T8" fmla="*/ 0 60000 65536"/>
              <a:gd name="T9" fmla="*/ 0 60000 65536"/>
              <a:gd name="T10" fmla="*/ 0 60000 65536"/>
              <a:gd name="T11" fmla="*/ 0 60000 65536"/>
              <a:gd name="T12" fmla="*/ 0 w 852"/>
              <a:gd name="T13" fmla="*/ 0 h 822"/>
              <a:gd name="T14" fmla="*/ 852 w 852"/>
              <a:gd name="T15" fmla="*/ 822 h 8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52" h="822">
                <a:moveTo>
                  <a:pt x="0" y="450"/>
                </a:moveTo>
                <a:lnTo>
                  <a:pt x="510" y="0"/>
                </a:lnTo>
                <a:lnTo>
                  <a:pt x="852" y="822"/>
                </a:lnTo>
                <a:lnTo>
                  <a:pt x="0" y="450"/>
                </a:lnTo>
                <a:close/>
              </a:path>
            </a:pathLst>
          </a:custGeom>
          <a:noFill/>
          <a:ln w="317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598" name="Rectangle 6"/>
          <p:cNvSpPr>
            <a:spLocks noChangeArrowheads="1"/>
          </p:cNvSpPr>
          <p:nvPr/>
        </p:nvSpPr>
        <p:spPr bwMode="auto">
          <a:xfrm>
            <a:off x="5988050" y="609600"/>
            <a:ext cx="3155950" cy="4473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>
              <a:solidFill>
                <a:srgbClr val="333333"/>
              </a:solidFill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>
              <a:solidFill>
                <a:srgbClr val="333333"/>
              </a:solidFill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>
              <a:solidFill>
                <a:srgbClr val="333333"/>
              </a:solidFill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>
              <a:solidFill>
                <a:srgbClr val="333333"/>
              </a:solidFill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>
              <a:solidFill>
                <a:srgbClr val="333333"/>
              </a:solidFill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>
              <a:solidFill>
                <a:srgbClr val="333333"/>
              </a:solidFill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>
              <a:solidFill>
                <a:srgbClr val="333333"/>
              </a:solidFill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>
              <a:solidFill>
                <a:srgbClr val="333333"/>
              </a:solidFill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>
              <a:solidFill>
                <a:srgbClr val="333333"/>
              </a:solidFill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>
              <a:solidFill>
                <a:srgbClr val="333333"/>
              </a:solidFill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>
              <a:solidFill>
                <a:srgbClr val="333333"/>
              </a:solidFill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>
              <a:solidFill>
                <a:srgbClr val="333333"/>
              </a:solidFill>
              <a:sym typeface="Symbol" pitchFamily="18" charset="2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114925" y="2071688"/>
            <a:ext cx="3884613" cy="458787"/>
            <a:chOff x="445" y="1701"/>
            <a:chExt cx="2064" cy="289"/>
          </a:xfrm>
        </p:grpSpPr>
        <p:sp>
          <p:nvSpPr>
            <p:cNvPr id="10344" name="Text Box 9"/>
            <p:cNvSpPr txBox="1">
              <a:spLocks noChangeArrowheads="1"/>
            </p:cNvSpPr>
            <p:nvPr/>
          </p:nvSpPr>
          <p:spPr bwMode="auto">
            <a:xfrm>
              <a:off x="445" y="1702"/>
              <a:ext cx="1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X</a:t>
              </a:r>
            </a:p>
          </p:txBody>
        </p:sp>
        <p:sp>
          <p:nvSpPr>
            <p:cNvPr id="10345" name="Text Box 10"/>
            <p:cNvSpPr txBox="1">
              <a:spLocks noChangeArrowheads="1"/>
            </p:cNvSpPr>
            <p:nvPr/>
          </p:nvSpPr>
          <p:spPr bwMode="auto">
            <a:xfrm>
              <a:off x="2324" y="1701"/>
              <a:ext cx="1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O</a:t>
              </a:r>
            </a:p>
          </p:txBody>
        </p:sp>
        <p:sp>
          <p:nvSpPr>
            <p:cNvPr id="10346" name="Line 11"/>
            <p:cNvSpPr>
              <a:spLocks noChangeShapeType="1"/>
            </p:cNvSpPr>
            <p:nvPr/>
          </p:nvSpPr>
          <p:spPr bwMode="auto">
            <a:xfrm>
              <a:off x="595" y="1956"/>
              <a:ext cx="17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</p:grpSp>
      <p:sp>
        <p:nvSpPr>
          <p:cNvPr id="110604" name="Line 12"/>
          <p:cNvSpPr>
            <a:spLocks noChangeShapeType="1"/>
          </p:cNvSpPr>
          <p:nvPr/>
        </p:nvSpPr>
        <p:spPr bwMode="auto">
          <a:xfrm>
            <a:off x="6029325" y="2166938"/>
            <a:ext cx="0" cy="176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05" name="Text Box 13"/>
          <p:cNvSpPr txBox="1">
            <a:spLocks noChangeArrowheads="1"/>
          </p:cNvSpPr>
          <p:nvPr/>
        </p:nvSpPr>
        <p:spPr bwMode="auto">
          <a:xfrm>
            <a:off x="5551488" y="1997075"/>
            <a:ext cx="582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a'</a:t>
            </a:r>
            <a:endParaRPr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06" name="Text Box 14"/>
          <p:cNvSpPr txBox="1">
            <a:spLocks noChangeArrowheads="1"/>
          </p:cNvSpPr>
          <p:nvPr/>
        </p:nvSpPr>
        <p:spPr bwMode="auto">
          <a:xfrm>
            <a:off x="8042275" y="1219200"/>
            <a:ext cx="517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c'</a:t>
            </a:r>
            <a:endParaRPr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07" name="Text Box 15"/>
          <p:cNvSpPr txBox="1">
            <a:spLocks noChangeArrowheads="1"/>
          </p:cNvSpPr>
          <p:nvPr/>
        </p:nvSpPr>
        <p:spPr bwMode="auto">
          <a:xfrm>
            <a:off x="6572250" y="392113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b'</a:t>
            </a:r>
            <a:endParaRPr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08" name="Text Box 16"/>
          <p:cNvSpPr txBox="1">
            <a:spLocks noChangeArrowheads="1"/>
          </p:cNvSpPr>
          <p:nvPr/>
        </p:nvSpPr>
        <p:spPr bwMode="auto">
          <a:xfrm>
            <a:off x="5754688" y="3722688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a</a:t>
            </a:r>
          </a:p>
        </p:txBody>
      </p:sp>
      <p:sp>
        <p:nvSpPr>
          <p:cNvPr id="110609" name="Text Box 17"/>
          <p:cNvSpPr txBox="1">
            <a:spLocks noChangeArrowheads="1"/>
          </p:cNvSpPr>
          <p:nvPr/>
        </p:nvSpPr>
        <p:spPr bwMode="auto">
          <a:xfrm>
            <a:off x="8045450" y="3111500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c</a:t>
            </a:r>
          </a:p>
        </p:txBody>
      </p:sp>
      <p:sp>
        <p:nvSpPr>
          <p:cNvPr id="110610" name="Line 18"/>
          <p:cNvSpPr>
            <a:spLocks noChangeShapeType="1"/>
          </p:cNvSpPr>
          <p:nvPr/>
        </p:nvSpPr>
        <p:spPr bwMode="auto">
          <a:xfrm>
            <a:off x="8135938" y="1546225"/>
            <a:ext cx="0" cy="178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11" name="Text Box 19"/>
          <p:cNvSpPr txBox="1">
            <a:spLocks noChangeArrowheads="1"/>
          </p:cNvSpPr>
          <p:nvPr/>
        </p:nvSpPr>
        <p:spPr bwMode="auto">
          <a:xfrm>
            <a:off x="6827838" y="2373313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b</a:t>
            </a:r>
          </a:p>
        </p:txBody>
      </p:sp>
      <p:sp>
        <p:nvSpPr>
          <p:cNvPr id="110612" name="Line 20"/>
          <p:cNvSpPr>
            <a:spLocks noChangeShapeType="1"/>
          </p:cNvSpPr>
          <p:nvPr/>
        </p:nvSpPr>
        <p:spPr bwMode="auto">
          <a:xfrm>
            <a:off x="6873875" y="2336800"/>
            <a:ext cx="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13" name="Line 21"/>
          <p:cNvSpPr>
            <a:spLocks noChangeShapeType="1"/>
          </p:cNvSpPr>
          <p:nvPr/>
        </p:nvSpPr>
        <p:spPr bwMode="auto">
          <a:xfrm>
            <a:off x="6878638" y="793750"/>
            <a:ext cx="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14" name="Line 22"/>
          <p:cNvSpPr>
            <a:spLocks noChangeShapeType="1"/>
          </p:cNvSpPr>
          <p:nvPr/>
        </p:nvSpPr>
        <p:spPr bwMode="auto">
          <a:xfrm>
            <a:off x="5686425" y="1314450"/>
            <a:ext cx="0" cy="211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15" name="Line 23"/>
          <p:cNvSpPr>
            <a:spLocks noChangeShapeType="1"/>
          </p:cNvSpPr>
          <p:nvPr/>
        </p:nvSpPr>
        <p:spPr bwMode="auto">
          <a:xfrm>
            <a:off x="6667500" y="2247900"/>
            <a:ext cx="0" cy="404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16" name="Line 24"/>
          <p:cNvSpPr>
            <a:spLocks noChangeShapeType="1"/>
          </p:cNvSpPr>
          <p:nvPr/>
        </p:nvSpPr>
        <p:spPr bwMode="auto">
          <a:xfrm>
            <a:off x="7800975" y="1004888"/>
            <a:ext cx="0" cy="3086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17" name="Text Box 25"/>
          <p:cNvSpPr txBox="1">
            <a:spLocks noChangeArrowheads="1"/>
          </p:cNvSpPr>
          <p:nvPr/>
        </p:nvSpPr>
        <p:spPr bwMode="auto">
          <a:xfrm>
            <a:off x="5324475" y="3335338"/>
            <a:ext cx="473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d</a:t>
            </a:r>
            <a:endParaRPr kumimoji="0"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18" name="Text Box 26"/>
          <p:cNvSpPr txBox="1">
            <a:spLocks noChangeArrowheads="1"/>
          </p:cNvSpPr>
          <p:nvPr/>
        </p:nvSpPr>
        <p:spPr bwMode="auto">
          <a:xfrm>
            <a:off x="6272213" y="2389188"/>
            <a:ext cx="48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e</a:t>
            </a:r>
          </a:p>
        </p:txBody>
      </p:sp>
      <p:sp>
        <p:nvSpPr>
          <p:cNvPr id="110619" name="Text Box 27"/>
          <p:cNvSpPr txBox="1">
            <a:spLocks noChangeArrowheads="1"/>
          </p:cNvSpPr>
          <p:nvPr/>
        </p:nvSpPr>
        <p:spPr bwMode="auto">
          <a:xfrm>
            <a:off x="7535863" y="4027488"/>
            <a:ext cx="415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f</a:t>
            </a:r>
            <a:endParaRPr kumimoji="0"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20" name="Text Box 28"/>
          <p:cNvSpPr txBox="1">
            <a:spLocks noChangeArrowheads="1"/>
          </p:cNvSpPr>
          <p:nvPr/>
        </p:nvSpPr>
        <p:spPr bwMode="auto">
          <a:xfrm>
            <a:off x="5140325" y="1039813"/>
            <a:ext cx="673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d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10621" name="Text Box 29"/>
          <p:cNvSpPr txBox="1">
            <a:spLocks noChangeArrowheads="1"/>
          </p:cNvSpPr>
          <p:nvPr/>
        </p:nvSpPr>
        <p:spPr bwMode="auto">
          <a:xfrm>
            <a:off x="6584950" y="2027238"/>
            <a:ext cx="539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e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10622" name="Text Box 30"/>
          <p:cNvSpPr txBox="1">
            <a:spLocks noChangeArrowheads="1"/>
          </p:cNvSpPr>
          <p:nvPr/>
        </p:nvSpPr>
        <p:spPr bwMode="auto">
          <a:xfrm>
            <a:off x="7591425" y="792163"/>
            <a:ext cx="673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f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10623" name="Freeform 31"/>
          <p:cNvSpPr>
            <a:spLocks/>
          </p:cNvSpPr>
          <p:nvPr/>
        </p:nvSpPr>
        <p:spPr bwMode="auto">
          <a:xfrm>
            <a:off x="5686425" y="781050"/>
            <a:ext cx="2443163" cy="1476375"/>
          </a:xfrm>
          <a:custGeom>
            <a:avLst/>
            <a:gdLst>
              <a:gd name="T0" fmla="*/ 0 w 1539"/>
              <a:gd name="T1" fmla="*/ 831651563 h 930"/>
              <a:gd name="T2" fmla="*/ 1512094059 w 1539"/>
              <a:gd name="T3" fmla="*/ 612398763 h 930"/>
              <a:gd name="T4" fmla="*/ 1882557898 w 1539"/>
              <a:gd name="T5" fmla="*/ 0 h 930"/>
              <a:gd name="T6" fmla="*/ 2147483647 w 1539"/>
              <a:gd name="T7" fmla="*/ 453628125 h 930"/>
              <a:gd name="T8" fmla="*/ 2147483647 w 1539"/>
              <a:gd name="T9" fmla="*/ 347781563 h 930"/>
              <a:gd name="T10" fmla="*/ 2147483647 w 1539"/>
              <a:gd name="T11" fmla="*/ 695563125 h 930"/>
              <a:gd name="T12" fmla="*/ 2147483647 w 1539"/>
              <a:gd name="T13" fmla="*/ 1209675000 h 930"/>
              <a:gd name="T14" fmla="*/ 2094251066 w 1539"/>
              <a:gd name="T15" fmla="*/ 1746469075 h 930"/>
              <a:gd name="T16" fmla="*/ 1557456881 w 1539"/>
              <a:gd name="T17" fmla="*/ 2147483647 h 930"/>
              <a:gd name="T18" fmla="*/ 1217236512 w 1539"/>
              <a:gd name="T19" fmla="*/ 2011084688 h 930"/>
              <a:gd name="T20" fmla="*/ 544353861 w 1539"/>
              <a:gd name="T21" fmla="*/ 2147483647 h 930"/>
              <a:gd name="T22" fmla="*/ 861893614 w 1539"/>
              <a:gd name="T23" fmla="*/ 1678424063 h 930"/>
              <a:gd name="T24" fmla="*/ 0 w 1539"/>
              <a:gd name="T25" fmla="*/ 831651563 h 93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539"/>
              <a:gd name="T40" fmla="*/ 0 h 930"/>
              <a:gd name="T41" fmla="*/ 1539 w 1539"/>
              <a:gd name="T42" fmla="*/ 930 h 93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539" h="930">
                <a:moveTo>
                  <a:pt x="0" y="330"/>
                </a:moveTo>
                <a:lnTo>
                  <a:pt x="600" y="243"/>
                </a:lnTo>
                <a:lnTo>
                  <a:pt x="747" y="0"/>
                </a:lnTo>
                <a:lnTo>
                  <a:pt x="1041" y="180"/>
                </a:lnTo>
                <a:lnTo>
                  <a:pt x="1329" y="138"/>
                </a:lnTo>
                <a:lnTo>
                  <a:pt x="1206" y="276"/>
                </a:lnTo>
                <a:lnTo>
                  <a:pt x="1539" y="480"/>
                </a:lnTo>
                <a:lnTo>
                  <a:pt x="831" y="693"/>
                </a:lnTo>
                <a:lnTo>
                  <a:pt x="618" y="930"/>
                </a:lnTo>
                <a:lnTo>
                  <a:pt x="483" y="798"/>
                </a:lnTo>
                <a:lnTo>
                  <a:pt x="216" y="879"/>
                </a:lnTo>
                <a:lnTo>
                  <a:pt x="342" y="666"/>
                </a:lnTo>
                <a:lnTo>
                  <a:pt x="0" y="33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24" name="Freeform 32"/>
          <p:cNvSpPr>
            <a:spLocks/>
          </p:cNvSpPr>
          <p:nvPr/>
        </p:nvSpPr>
        <p:spPr bwMode="auto">
          <a:xfrm>
            <a:off x="5686425" y="2652713"/>
            <a:ext cx="2447925" cy="1438275"/>
          </a:xfrm>
          <a:custGeom>
            <a:avLst/>
            <a:gdLst>
              <a:gd name="T0" fmla="*/ 0 w 1542"/>
              <a:gd name="T1" fmla="*/ 1247478138 h 906"/>
              <a:gd name="T2" fmla="*/ 1557456563 w 1542"/>
              <a:gd name="T3" fmla="*/ 7561263 h 906"/>
              <a:gd name="T4" fmla="*/ 1731348138 w 1542"/>
              <a:gd name="T5" fmla="*/ 226814063 h 906"/>
              <a:gd name="T6" fmla="*/ 1882557513 w 1542"/>
              <a:gd name="T7" fmla="*/ 0 h 906"/>
              <a:gd name="T8" fmla="*/ 2147483647 w 1542"/>
              <a:gd name="T9" fmla="*/ 1081147825 h 906"/>
              <a:gd name="T10" fmla="*/ 2147483647 w 1542"/>
              <a:gd name="T11" fmla="*/ 1428929388 h 906"/>
              <a:gd name="T12" fmla="*/ 2147483647 w 1542"/>
              <a:gd name="T13" fmla="*/ 2147483647 h 906"/>
              <a:gd name="T14" fmla="*/ 1580138763 w 1542"/>
              <a:gd name="T15" fmla="*/ 1738907813 h 906"/>
              <a:gd name="T16" fmla="*/ 544353750 w 1542"/>
              <a:gd name="T17" fmla="*/ 2018645950 h 906"/>
              <a:gd name="T18" fmla="*/ 884575638 w 1542"/>
              <a:gd name="T19" fmla="*/ 1519655013 h 906"/>
              <a:gd name="T20" fmla="*/ 0 w 1542"/>
              <a:gd name="T21" fmla="*/ 1247478138 h 90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542"/>
              <a:gd name="T34" fmla="*/ 0 h 906"/>
              <a:gd name="T35" fmla="*/ 1542 w 1542"/>
              <a:gd name="T36" fmla="*/ 906 h 90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542" h="906">
                <a:moveTo>
                  <a:pt x="0" y="495"/>
                </a:moveTo>
                <a:lnTo>
                  <a:pt x="618" y="3"/>
                </a:lnTo>
                <a:lnTo>
                  <a:pt x="687" y="90"/>
                </a:lnTo>
                <a:lnTo>
                  <a:pt x="747" y="0"/>
                </a:lnTo>
                <a:lnTo>
                  <a:pt x="1542" y="429"/>
                </a:lnTo>
                <a:lnTo>
                  <a:pt x="1062" y="567"/>
                </a:lnTo>
                <a:lnTo>
                  <a:pt x="1332" y="906"/>
                </a:lnTo>
                <a:lnTo>
                  <a:pt x="627" y="690"/>
                </a:lnTo>
                <a:lnTo>
                  <a:pt x="216" y="801"/>
                </a:lnTo>
                <a:lnTo>
                  <a:pt x="351" y="603"/>
                </a:lnTo>
                <a:lnTo>
                  <a:pt x="0" y="495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25" name="Line 33"/>
          <p:cNvSpPr>
            <a:spLocks noChangeShapeType="1"/>
          </p:cNvSpPr>
          <p:nvPr/>
        </p:nvSpPr>
        <p:spPr bwMode="auto">
          <a:xfrm flipV="1">
            <a:off x="6872288" y="428625"/>
            <a:ext cx="219075" cy="347663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26" name="Text Box 34"/>
          <p:cNvSpPr txBox="1">
            <a:spLocks noChangeArrowheads="1"/>
          </p:cNvSpPr>
          <p:nvPr/>
        </p:nvSpPr>
        <p:spPr bwMode="auto">
          <a:xfrm>
            <a:off x="6916738" y="444500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P</a:t>
            </a:r>
            <a:r>
              <a:rPr lang="en-US" altLang="zh-CN" sz="1800" i="1" baseline="-8000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V</a:t>
            </a:r>
          </a:p>
        </p:txBody>
      </p:sp>
      <p:sp>
        <p:nvSpPr>
          <p:cNvPr id="110627" name="Text Box 35"/>
          <p:cNvSpPr txBox="1">
            <a:spLocks noChangeArrowheads="1"/>
          </p:cNvSpPr>
          <p:nvPr/>
        </p:nvSpPr>
        <p:spPr bwMode="auto">
          <a:xfrm>
            <a:off x="5764213" y="1700213"/>
            <a:ext cx="441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1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  <a:endParaRPr kumimoji="0"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28" name="Text Box 36"/>
          <p:cNvSpPr txBox="1">
            <a:spLocks noChangeArrowheads="1"/>
          </p:cNvSpPr>
          <p:nvPr/>
        </p:nvSpPr>
        <p:spPr bwMode="auto">
          <a:xfrm>
            <a:off x="6503988" y="1108075"/>
            <a:ext cx="469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2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10629" name="Line 37"/>
          <p:cNvSpPr>
            <a:spLocks noChangeShapeType="1"/>
          </p:cNvSpPr>
          <p:nvPr/>
        </p:nvSpPr>
        <p:spPr bwMode="auto">
          <a:xfrm>
            <a:off x="6226175" y="1835150"/>
            <a:ext cx="0" cy="6540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30" name="Line 38"/>
          <p:cNvSpPr>
            <a:spLocks noChangeShapeType="1"/>
          </p:cNvSpPr>
          <p:nvPr/>
        </p:nvSpPr>
        <p:spPr bwMode="auto">
          <a:xfrm>
            <a:off x="6229350" y="2476500"/>
            <a:ext cx="0" cy="5270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31" name="Text Box 39"/>
          <p:cNvSpPr txBox="1">
            <a:spLocks noChangeArrowheads="1"/>
          </p:cNvSpPr>
          <p:nvPr/>
        </p:nvSpPr>
        <p:spPr bwMode="auto">
          <a:xfrm>
            <a:off x="5940425" y="2747963"/>
            <a:ext cx="317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1</a:t>
            </a:r>
            <a:endParaRPr lang="en-US" altLang="zh-CN" sz="2000" i="1">
              <a:solidFill>
                <a:srgbClr val="333333"/>
              </a:solidFill>
              <a:latin typeface="ISOCPEUR" pitchFamily="34" charset="0"/>
              <a:ea typeface="仿宋_GB2312" pitchFamily="49" charset="-122"/>
              <a:sym typeface="Symbol" pitchFamily="18" charset="2"/>
            </a:endParaRPr>
          </a:p>
        </p:txBody>
      </p:sp>
      <p:sp>
        <p:nvSpPr>
          <p:cNvPr id="110632" name="Line 40"/>
          <p:cNvSpPr>
            <a:spLocks noChangeShapeType="1"/>
          </p:cNvSpPr>
          <p:nvPr/>
        </p:nvSpPr>
        <p:spPr bwMode="auto">
          <a:xfrm>
            <a:off x="6635750" y="1168400"/>
            <a:ext cx="0" cy="13271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33" name="Line 41"/>
          <p:cNvSpPr>
            <a:spLocks noChangeShapeType="1"/>
          </p:cNvSpPr>
          <p:nvPr/>
        </p:nvSpPr>
        <p:spPr bwMode="auto">
          <a:xfrm>
            <a:off x="6638925" y="2476500"/>
            <a:ext cx="0" cy="12509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34" name="Text Box 42"/>
          <p:cNvSpPr txBox="1">
            <a:spLocks noChangeArrowheads="1"/>
          </p:cNvSpPr>
          <p:nvPr/>
        </p:nvSpPr>
        <p:spPr bwMode="auto">
          <a:xfrm>
            <a:off x="6383338" y="3719513"/>
            <a:ext cx="403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2</a:t>
            </a:r>
            <a:endParaRPr kumimoji="0"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35" name="Line 43"/>
          <p:cNvSpPr>
            <a:spLocks noChangeShapeType="1"/>
          </p:cNvSpPr>
          <p:nvPr/>
        </p:nvSpPr>
        <p:spPr bwMode="auto">
          <a:xfrm>
            <a:off x="6229350" y="3009900"/>
            <a:ext cx="400050" cy="7175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36" name="Text Box 44"/>
          <p:cNvSpPr txBox="1">
            <a:spLocks noChangeArrowheads="1"/>
          </p:cNvSpPr>
          <p:nvPr/>
        </p:nvSpPr>
        <p:spPr bwMode="auto">
          <a:xfrm>
            <a:off x="6097588" y="3144838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k</a:t>
            </a:r>
            <a:endParaRPr kumimoji="0"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37" name="Line 45"/>
          <p:cNvSpPr>
            <a:spLocks noChangeShapeType="1"/>
          </p:cNvSpPr>
          <p:nvPr/>
        </p:nvSpPr>
        <p:spPr bwMode="auto">
          <a:xfrm flipV="1">
            <a:off x="6419850" y="2463800"/>
            <a:ext cx="0" cy="8826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38" name="Line 46"/>
          <p:cNvSpPr>
            <a:spLocks noChangeShapeType="1"/>
          </p:cNvSpPr>
          <p:nvPr/>
        </p:nvSpPr>
        <p:spPr bwMode="auto">
          <a:xfrm flipV="1">
            <a:off x="6419850" y="1530350"/>
            <a:ext cx="0" cy="9525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39" name="Text Box 47"/>
          <p:cNvSpPr txBox="1">
            <a:spLocks noChangeArrowheads="1"/>
          </p:cNvSpPr>
          <p:nvPr/>
        </p:nvSpPr>
        <p:spPr bwMode="auto">
          <a:xfrm>
            <a:off x="6000750" y="1287463"/>
            <a:ext cx="463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k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10640" name="Line 48"/>
          <p:cNvSpPr>
            <a:spLocks noChangeShapeType="1"/>
          </p:cNvSpPr>
          <p:nvPr/>
        </p:nvSpPr>
        <p:spPr bwMode="auto">
          <a:xfrm>
            <a:off x="7797800" y="4089400"/>
            <a:ext cx="406400" cy="5207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41" name="Text Box 49"/>
          <p:cNvSpPr txBox="1">
            <a:spLocks noChangeArrowheads="1"/>
          </p:cNvSpPr>
          <p:nvPr/>
        </p:nvSpPr>
        <p:spPr bwMode="auto">
          <a:xfrm>
            <a:off x="7958138" y="4137025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Q</a:t>
            </a:r>
            <a:r>
              <a:rPr lang="en-US" altLang="zh-CN" sz="1800" i="1" baseline="-8000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H</a:t>
            </a:r>
          </a:p>
        </p:txBody>
      </p:sp>
      <p:sp>
        <p:nvSpPr>
          <p:cNvPr id="110642" name="Text Box 50"/>
          <p:cNvSpPr txBox="1">
            <a:spLocks noChangeArrowheads="1"/>
          </p:cNvSpPr>
          <p:nvPr/>
        </p:nvSpPr>
        <p:spPr bwMode="auto">
          <a:xfrm>
            <a:off x="6557963" y="281781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3</a:t>
            </a:r>
            <a:endParaRPr lang="en-US" altLang="zh-CN" sz="2000" i="1">
              <a:solidFill>
                <a:srgbClr val="333333"/>
              </a:solidFill>
              <a:latin typeface="ISOCPEUR" pitchFamily="34" charset="0"/>
              <a:ea typeface="仿宋_GB2312" pitchFamily="49" charset="-122"/>
              <a:sym typeface="Symbol" pitchFamily="18" charset="2"/>
            </a:endParaRPr>
          </a:p>
        </p:txBody>
      </p:sp>
      <p:sp>
        <p:nvSpPr>
          <p:cNvPr id="110643" name="Text Box 51"/>
          <p:cNvSpPr txBox="1">
            <a:spLocks noChangeArrowheads="1"/>
          </p:cNvSpPr>
          <p:nvPr/>
        </p:nvSpPr>
        <p:spPr bwMode="auto">
          <a:xfrm>
            <a:off x="7124700" y="3484563"/>
            <a:ext cx="319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4</a:t>
            </a:r>
            <a:endParaRPr lang="en-US" altLang="zh-CN" sz="2000" i="1">
              <a:solidFill>
                <a:srgbClr val="333333"/>
              </a:solidFill>
              <a:latin typeface="ISOCPEUR" pitchFamily="34" charset="0"/>
              <a:ea typeface="仿宋_GB2312" pitchFamily="49" charset="-122"/>
              <a:sym typeface="Symbol" pitchFamily="18" charset="2"/>
            </a:endParaRPr>
          </a:p>
        </p:txBody>
      </p:sp>
      <p:sp>
        <p:nvSpPr>
          <p:cNvPr id="110644" name="Line 52"/>
          <p:cNvSpPr>
            <a:spLocks noChangeShapeType="1"/>
          </p:cNvSpPr>
          <p:nvPr/>
        </p:nvSpPr>
        <p:spPr bwMode="auto">
          <a:xfrm flipV="1">
            <a:off x="6775450" y="2470150"/>
            <a:ext cx="0" cy="3302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45" name="Line 53"/>
          <p:cNvSpPr>
            <a:spLocks noChangeShapeType="1"/>
          </p:cNvSpPr>
          <p:nvPr/>
        </p:nvSpPr>
        <p:spPr bwMode="auto">
          <a:xfrm flipV="1">
            <a:off x="6775450" y="946150"/>
            <a:ext cx="0" cy="15367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46" name="Text Box 54"/>
          <p:cNvSpPr txBox="1">
            <a:spLocks noChangeArrowheads="1"/>
          </p:cNvSpPr>
          <p:nvPr/>
        </p:nvSpPr>
        <p:spPr bwMode="auto">
          <a:xfrm>
            <a:off x="6381750" y="731838"/>
            <a:ext cx="476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3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10647" name="Line 55"/>
          <p:cNvSpPr>
            <a:spLocks noChangeShapeType="1"/>
          </p:cNvSpPr>
          <p:nvPr/>
        </p:nvSpPr>
        <p:spPr bwMode="auto">
          <a:xfrm flipV="1">
            <a:off x="7366000" y="2463800"/>
            <a:ext cx="0" cy="108585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48" name="Line 56"/>
          <p:cNvSpPr>
            <a:spLocks noChangeShapeType="1"/>
          </p:cNvSpPr>
          <p:nvPr/>
        </p:nvSpPr>
        <p:spPr bwMode="auto">
          <a:xfrm flipV="1">
            <a:off x="7366000" y="1765300"/>
            <a:ext cx="0" cy="71755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49" name="Text Box 57"/>
          <p:cNvSpPr txBox="1">
            <a:spLocks noChangeArrowheads="1"/>
          </p:cNvSpPr>
          <p:nvPr/>
        </p:nvSpPr>
        <p:spPr bwMode="auto">
          <a:xfrm>
            <a:off x="7254875" y="1712913"/>
            <a:ext cx="496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4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10650" name="Line 58"/>
          <p:cNvSpPr>
            <a:spLocks noChangeShapeType="1"/>
          </p:cNvSpPr>
          <p:nvPr/>
        </p:nvSpPr>
        <p:spPr bwMode="auto">
          <a:xfrm>
            <a:off x="6775450" y="939800"/>
            <a:ext cx="590550" cy="8382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51" name="Text Box 59"/>
          <p:cNvSpPr txBox="1">
            <a:spLocks noChangeArrowheads="1"/>
          </p:cNvSpPr>
          <p:nvPr/>
        </p:nvSpPr>
        <p:spPr bwMode="auto">
          <a:xfrm>
            <a:off x="7053263" y="1243013"/>
            <a:ext cx="390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l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10652" name="Line 60"/>
          <p:cNvSpPr>
            <a:spLocks noChangeShapeType="1"/>
          </p:cNvSpPr>
          <p:nvPr/>
        </p:nvSpPr>
        <p:spPr bwMode="auto">
          <a:xfrm>
            <a:off x="7245350" y="1612900"/>
            <a:ext cx="0" cy="8763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53" name="Line 61"/>
          <p:cNvSpPr>
            <a:spLocks noChangeShapeType="1"/>
          </p:cNvSpPr>
          <p:nvPr/>
        </p:nvSpPr>
        <p:spPr bwMode="auto">
          <a:xfrm>
            <a:off x="7245350" y="2470150"/>
            <a:ext cx="0" cy="9271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54" name="Text Box 62"/>
          <p:cNvSpPr txBox="1">
            <a:spLocks noChangeArrowheads="1"/>
          </p:cNvSpPr>
          <p:nvPr/>
        </p:nvSpPr>
        <p:spPr bwMode="auto">
          <a:xfrm>
            <a:off x="7119938" y="3059113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l</a:t>
            </a:r>
            <a:endParaRPr kumimoji="0"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55" name="Line 63"/>
          <p:cNvSpPr>
            <a:spLocks noChangeShapeType="1"/>
          </p:cNvSpPr>
          <p:nvPr/>
        </p:nvSpPr>
        <p:spPr bwMode="auto">
          <a:xfrm>
            <a:off x="6426200" y="3346450"/>
            <a:ext cx="825500" cy="5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56" name="Line 64"/>
          <p:cNvSpPr>
            <a:spLocks noChangeShapeType="1"/>
          </p:cNvSpPr>
          <p:nvPr/>
        </p:nvSpPr>
        <p:spPr bwMode="auto">
          <a:xfrm>
            <a:off x="6419850" y="1524000"/>
            <a:ext cx="825500" cy="95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57" name="Text Box 65"/>
          <p:cNvSpPr txBox="1">
            <a:spLocks noChangeArrowheads="1"/>
          </p:cNvSpPr>
          <p:nvPr/>
        </p:nvSpPr>
        <p:spPr bwMode="auto">
          <a:xfrm>
            <a:off x="5532438" y="1700213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5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  <a:endParaRPr kumimoji="0" lang="en-US" altLang="zh-CN" sz="2000" i="1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58" name="Line 66"/>
          <p:cNvSpPr>
            <a:spLocks noChangeShapeType="1"/>
          </p:cNvSpPr>
          <p:nvPr/>
        </p:nvSpPr>
        <p:spPr bwMode="auto">
          <a:xfrm>
            <a:off x="6229350" y="3009900"/>
            <a:ext cx="0" cy="628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59" name="Text Box 67"/>
          <p:cNvSpPr txBox="1">
            <a:spLocks noChangeArrowheads="1"/>
          </p:cNvSpPr>
          <p:nvPr/>
        </p:nvSpPr>
        <p:spPr bwMode="auto">
          <a:xfrm>
            <a:off x="5862638" y="3509963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5</a:t>
            </a:r>
          </a:p>
        </p:txBody>
      </p:sp>
      <p:sp>
        <p:nvSpPr>
          <p:cNvPr id="110660" name="Text Box 68"/>
          <p:cNvSpPr txBox="1">
            <a:spLocks noChangeArrowheads="1"/>
          </p:cNvSpPr>
          <p:nvPr/>
        </p:nvSpPr>
        <p:spPr bwMode="auto">
          <a:xfrm>
            <a:off x="5711825" y="1700213"/>
            <a:ext cx="552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(  )</a:t>
            </a:r>
            <a:endParaRPr lang="en-US" altLang="zh-CN" sz="2000" i="1">
              <a:solidFill>
                <a:srgbClr val="333333"/>
              </a:solidFill>
              <a:latin typeface="ISOCPEUR" pitchFamily="34" charset="0"/>
              <a:ea typeface="仿宋_GB2312" pitchFamily="49" charset="-122"/>
              <a:sym typeface="Symbol" pitchFamily="18" charset="2"/>
            </a:endParaRPr>
          </a:p>
        </p:txBody>
      </p:sp>
      <p:sp>
        <p:nvSpPr>
          <p:cNvPr id="110661" name="Line 69"/>
          <p:cNvSpPr>
            <a:spLocks noChangeShapeType="1"/>
          </p:cNvSpPr>
          <p:nvPr/>
        </p:nvSpPr>
        <p:spPr bwMode="auto">
          <a:xfrm>
            <a:off x="6235700" y="1828800"/>
            <a:ext cx="215900" cy="2159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62" name="Line 70"/>
          <p:cNvSpPr>
            <a:spLocks noChangeShapeType="1"/>
          </p:cNvSpPr>
          <p:nvPr/>
        </p:nvSpPr>
        <p:spPr bwMode="auto">
          <a:xfrm flipV="1">
            <a:off x="6451600" y="1879600"/>
            <a:ext cx="552450" cy="165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63" name="Line 71"/>
          <p:cNvSpPr>
            <a:spLocks noChangeShapeType="1"/>
          </p:cNvSpPr>
          <p:nvPr/>
        </p:nvSpPr>
        <p:spPr bwMode="auto">
          <a:xfrm flipV="1">
            <a:off x="7004050" y="1619250"/>
            <a:ext cx="234950" cy="2603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64" name="Line 72"/>
          <p:cNvSpPr>
            <a:spLocks noChangeShapeType="1"/>
          </p:cNvSpPr>
          <p:nvPr/>
        </p:nvSpPr>
        <p:spPr bwMode="auto">
          <a:xfrm flipV="1">
            <a:off x="7251700" y="1219200"/>
            <a:ext cx="349250" cy="387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65" name="Line 73"/>
          <p:cNvSpPr>
            <a:spLocks noChangeShapeType="1"/>
          </p:cNvSpPr>
          <p:nvPr/>
        </p:nvSpPr>
        <p:spPr bwMode="auto">
          <a:xfrm>
            <a:off x="7353300" y="1066800"/>
            <a:ext cx="247650" cy="152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66" name="Line 74"/>
          <p:cNvSpPr>
            <a:spLocks noChangeShapeType="1"/>
          </p:cNvSpPr>
          <p:nvPr/>
        </p:nvSpPr>
        <p:spPr bwMode="auto">
          <a:xfrm flipV="1">
            <a:off x="6635750" y="1066800"/>
            <a:ext cx="711200" cy="10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67" name="Line 75"/>
          <p:cNvSpPr>
            <a:spLocks noChangeShapeType="1"/>
          </p:cNvSpPr>
          <p:nvPr/>
        </p:nvSpPr>
        <p:spPr bwMode="auto">
          <a:xfrm flipH="1">
            <a:off x="6426200" y="1168400"/>
            <a:ext cx="209550" cy="355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68" name="Line 76"/>
          <p:cNvSpPr>
            <a:spLocks noChangeShapeType="1"/>
          </p:cNvSpPr>
          <p:nvPr/>
        </p:nvSpPr>
        <p:spPr bwMode="auto">
          <a:xfrm flipH="1">
            <a:off x="6229350" y="1517650"/>
            <a:ext cx="190500" cy="317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69" name="Text Box 77"/>
          <p:cNvSpPr txBox="1">
            <a:spLocks noChangeArrowheads="1"/>
          </p:cNvSpPr>
          <p:nvPr/>
        </p:nvSpPr>
        <p:spPr bwMode="auto">
          <a:xfrm>
            <a:off x="7404100" y="347186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6</a:t>
            </a:r>
          </a:p>
        </p:txBody>
      </p:sp>
      <p:sp>
        <p:nvSpPr>
          <p:cNvPr id="110670" name="Line 78"/>
          <p:cNvSpPr>
            <a:spLocks noChangeShapeType="1"/>
          </p:cNvSpPr>
          <p:nvPr/>
        </p:nvSpPr>
        <p:spPr bwMode="auto">
          <a:xfrm flipV="1">
            <a:off x="7366000" y="1473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71" name="Text Box 79"/>
          <p:cNvSpPr txBox="1">
            <a:spLocks noChangeArrowheads="1"/>
          </p:cNvSpPr>
          <p:nvPr/>
        </p:nvSpPr>
        <p:spPr bwMode="auto">
          <a:xfrm>
            <a:off x="7329488" y="1281113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6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10672" name="Text Box 80"/>
          <p:cNvSpPr txBox="1">
            <a:spLocks noChangeArrowheads="1"/>
          </p:cNvSpPr>
          <p:nvPr/>
        </p:nvSpPr>
        <p:spPr bwMode="auto">
          <a:xfrm>
            <a:off x="6953250" y="3490913"/>
            <a:ext cx="673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(  )</a:t>
            </a:r>
            <a:endParaRPr lang="en-US" altLang="zh-CN" sz="2000" i="1">
              <a:solidFill>
                <a:srgbClr val="333333"/>
              </a:solidFill>
              <a:latin typeface="ISOCPEUR" pitchFamily="34" charset="0"/>
              <a:ea typeface="仿宋_GB2312" pitchFamily="49" charset="-122"/>
              <a:sym typeface="Symbol" pitchFamily="18" charset="2"/>
            </a:endParaRPr>
          </a:p>
        </p:txBody>
      </p:sp>
      <p:sp>
        <p:nvSpPr>
          <p:cNvPr id="110673" name="Line 81"/>
          <p:cNvSpPr>
            <a:spLocks noChangeShapeType="1"/>
          </p:cNvSpPr>
          <p:nvPr/>
        </p:nvSpPr>
        <p:spPr bwMode="auto">
          <a:xfrm flipH="1" flipV="1">
            <a:off x="7258050" y="3409950"/>
            <a:ext cx="107950" cy="139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74" name="Line 82"/>
          <p:cNvSpPr>
            <a:spLocks noChangeShapeType="1"/>
          </p:cNvSpPr>
          <p:nvPr/>
        </p:nvSpPr>
        <p:spPr bwMode="auto">
          <a:xfrm flipH="1" flipV="1">
            <a:off x="6786563" y="2832100"/>
            <a:ext cx="469900" cy="5969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75" name="Line 83"/>
          <p:cNvSpPr>
            <a:spLocks noChangeShapeType="1"/>
          </p:cNvSpPr>
          <p:nvPr/>
        </p:nvSpPr>
        <p:spPr bwMode="auto">
          <a:xfrm flipH="1">
            <a:off x="6413500" y="2806700"/>
            <a:ext cx="361950" cy="539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76" name="Line 84"/>
          <p:cNvSpPr>
            <a:spLocks noChangeShapeType="1"/>
          </p:cNvSpPr>
          <p:nvPr/>
        </p:nvSpPr>
        <p:spPr bwMode="auto">
          <a:xfrm flipH="1">
            <a:off x="6242050" y="3346450"/>
            <a:ext cx="171450" cy="2667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77" name="Line 85"/>
          <p:cNvSpPr>
            <a:spLocks noChangeShapeType="1"/>
          </p:cNvSpPr>
          <p:nvPr/>
        </p:nvSpPr>
        <p:spPr bwMode="auto">
          <a:xfrm>
            <a:off x="6248400" y="3613150"/>
            <a:ext cx="431800" cy="133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78" name="Line 86"/>
          <p:cNvSpPr>
            <a:spLocks noChangeShapeType="1"/>
          </p:cNvSpPr>
          <p:nvPr/>
        </p:nvSpPr>
        <p:spPr bwMode="auto">
          <a:xfrm flipV="1">
            <a:off x="6686550" y="3549650"/>
            <a:ext cx="679450" cy="1968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79" name="Text Box 87"/>
          <p:cNvSpPr txBox="1">
            <a:spLocks noChangeArrowheads="1"/>
          </p:cNvSpPr>
          <p:nvPr/>
        </p:nvSpPr>
        <p:spPr bwMode="auto">
          <a:xfrm>
            <a:off x="355600" y="485775"/>
            <a:ext cx="4500563" cy="4953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33CC"/>
            </a:solidFill>
            <a:miter lim="800000"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例：求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△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ABC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与△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DEF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的交线。</a:t>
            </a:r>
            <a:endParaRPr lang="zh-CN" altLang="en-US">
              <a:solidFill>
                <a:srgbClr val="FFFF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10680" name="Text Box 88"/>
          <p:cNvSpPr txBox="1">
            <a:spLocks noChangeArrowheads="1"/>
          </p:cNvSpPr>
          <p:nvPr/>
        </p:nvSpPr>
        <p:spPr bwMode="auto">
          <a:xfrm>
            <a:off x="322263" y="1862138"/>
            <a:ext cx="88058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kumimoji="0"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基本方法：线面求交。</a:t>
            </a:r>
            <a:endParaRPr kumimoji="0" lang="zh-CN" altLang="en-US" sz="2800" b="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10681" name="Text Box 89"/>
          <p:cNvSpPr txBox="1">
            <a:spLocks noChangeArrowheads="1"/>
          </p:cNvSpPr>
          <p:nvPr/>
        </p:nvSpPr>
        <p:spPr bwMode="auto">
          <a:xfrm>
            <a:off x="338138" y="2359025"/>
            <a:ext cx="8805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步骤：</a:t>
            </a:r>
            <a:endParaRPr kumimoji="0" lang="zh-CN" altLang="en-US" sz="2400" b="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10682" name="Text Box 90"/>
          <p:cNvSpPr txBox="1">
            <a:spLocks noChangeArrowheads="1"/>
          </p:cNvSpPr>
          <p:nvPr/>
        </p:nvSpPr>
        <p:spPr bwMode="auto">
          <a:xfrm>
            <a:off x="338138" y="2828925"/>
            <a:ext cx="8805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利用辅助面法求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AB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与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△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DEF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的交点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K</a:t>
            </a:r>
            <a:endParaRPr lang="en-US" altLang="zh-CN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10683" name="Line 91"/>
          <p:cNvSpPr>
            <a:spLocks noChangeShapeType="1"/>
          </p:cNvSpPr>
          <p:nvPr/>
        </p:nvSpPr>
        <p:spPr bwMode="auto">
          <a:xfrm>
            <a:off x="6426200" y="3340100"/>
            <a:ext cx="825500" cy="571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84" name="Line 92"/>
          <p:cNvSpPr>
            <a:spLocks noChangeShapeType="1"/>
          </p:cNvSpPr>
          <p:nvPr/>
        </p:nvSpPr>
        <p:spPr bwMode="auto">
          <a:xfrm>
            <a:off x="6419850" y="1530350"/>
            <a:ext cx="831850" cy="88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85" name="Text Box 93"/>
          <p:cNvSpPr txBox="1">
            <a:spLocks noChangeArrowheads="1"/>
          </p:cNvSpPr>
          <p:nvPr/>
        </p:nvSpPr>
        <p:spPr bwMode="auto">
          <a:xfrm>
            <a:off x="338138" y="3165475"/>
            <a:ext cx="8805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利用辅助面法求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EF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与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△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ABC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的交点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L</a:t>
            </a:r>
          </a:p>
        </p:txBody>
      </p:sp>
      <p:sp>
        <p:nvSpPr>
          <p:cNvPr id="110686" name="Text Box 94"/>
          <p:cNvSpPr txBox="1">
            <a:spLocks noChangeArrowheads="1"/>
          </p:cNvSpPr>
          <p:nvPr/>
        </p:nvSpPr>
        <p:spPr bwMode="auto">
          <a:xfrm>
            <a:off x="338138" y="3497263"/>
            <a:ext cx="8805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连接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KL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，即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△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ABC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与△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DEF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的交线</a:t>
            </a:r>
            <a:endParaRPr lang="zh-CN" altLang="en-US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10687" name="Text Box 95"/>
          <p:cNvSpPr txBox="1">
            <a:spLocks noChangeArrowheads="1"/>
          </p:cNvSpPr>
          <p:nvPr/>
        </p:nvSpPr>
        <p:spPr bwMode="auto">
          <a:xfrm>
            <a:off x="338138" y="3887788"/>
            <a:ext cx="8805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利用重影点判断可见性</a:t>
            </a:r>
          </a:p>
        </p:txBody>
      </p:sp>
      <p:sp>
        <p:nvSpPr>
          <p:cNvPr id="110688" name="Text Box 96"/>
          <p:cNvSpPr txBox="1">
            <a:spLocks noChangeArrowheads="1"/>
          </p:cNvSpPr>
          <p:nvPr/>
        </p:nvSpPr>
        <p:spPr bwMode="auto">
          <a:xfrm>
            <a:off x="338138" y="4283075"/>
            <a:ext cx="8805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Char char="•"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完成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△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ABC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与△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DEF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各边的轮廓</a:t>
            </a:r>
          </a:p>
        </p:txBody>
      </p:sp>
      <p:grpSp>
        <p:nvGrpSpPr>
          <p:cNvPr id="3" name="Group 106"/>
          <p:cNvGrpSpPr>
            <a:grpSpLocks/>
          </p:cNvGrpSpPr>
          <p:nvPr/>
        </p:nvGrpSpPr>
        <p:grpSpPr bwMode="auto">
          <a:xfrm>
            <a:off x="355600" y="2417763"/>
            <a:ext cx="5037138" cy="2368550"/>
            <a:chOff x="2430" y="3283"/>
            <a:chExt cx="3092" cy="1492"/>
          </a:xfrm>
        </p:grpSpPr>
        <p:sp>
          <p:nvSpPr>
            <p:cNvPr id="10342" name="Text Box 98"/>
            <p:cNvSpPr txBox="1">
              <a:spLocks noChangeArrowheads="1"/>
            </p:cNvSpPr>
            <p:nvPr/>
          </p:nvSpPr>
          <p:spPr bwMode="auto">
            <a:xfrm>
              <a:off x="2430" y="3283"/>
              <a:ext cx="677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400">
                  <a:solidFill>
                    <a:srgbClr val="333333"/>
                  </a:solidFill>
                  <a:ea typeface="黑体" pitchFamily="2" charset="-122"/>
                  <a:sym typeface="Symbol" pitchFamily="18" charset="2"/>
                </a:rPr>
                <a:t>注意：</a:t>
              </a:r>
              <a:endParaRPr kumimoji="0" lang="zh-CN" altLang="en-US" sz="2400" b="0">
                <a:solidFill>
                  <a:srgbClr val="333333"/>
                </a:solidFill>
                <a:sym typeface="Symbol" pitchFamily="18" charset="2"/>
              </a:endParaRPr>
            </a:p>
          </p:txBody>
        </p:sp>
        <p:sp>
          <p:nvSpPr>
            <p:cNvPr id="10343" name="Text Box 99"/>
            <p:cNvSpPr txBox="1">
              <a:spLocks noChangeArrowheads="1"/>
            </p:cNvSpPr>
            <p:nvPr/>
          </p:nvSpPr>
          <p:spPr bwMode="auto">
            <a:xfrm>
              <a:off x="2430" y="3554"/>
              <a:ext cx="3092" cy="1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dirty="0">
                  <a:solidFill>
                    <a:srgbClr val="333333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① </a:t>
              </a:r>
              <a:r>
                <a:rPr kumimoji="0" lang="zh-CN" altLang="en-US" sz="2400" dirty="0">
                  <a:solidFill>
                    <a:srgbClr val="333333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所</a:t>
              </a:r>
              <a:r>
                <a:rPr kumimoji="0" lang="zh-CN" altLang="en-US" sz="2400" dirty="0" smtClean="0">
                  <a:solidFill>
                    <a:srgbClr val="333333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做辅助</a:t>
              </a:r>
              <a:r>
                <a:rPr kumimoji="0" lang="zh-CN" altLang="en-US" sz="2400" dirty="0">
                  <a:solidFill>
                    <a:srgbClr val="333333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面</a:t>
              </a:r>
              <a:r>
                <a:rPr kumimoji="0" lang="zh-CN" altLang="en-US" sz="2400" dirty="0" smtClean="0">
                  <a:solidFill>
                    <a:srgbClr val="333333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为投影面垂直面</a:t>
              </a:r>
              <a:endParaRPr kumimoji="0" lang="zh-CN" altLang="en-US" sz="24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endParaRPr>
            </a:p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400" dirty="0">
                  <a:solidFill>
                    <a:srgbClr val="333333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② 辅助面所包含的直线是任选的</a:t>
              </a:r>
            </a:p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400" dirty="0">
                  <a:solidFill>
                    <a:srgbClr val="333333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③ 交线在两平面图形的公有区内</a:t>
              </a:r>
            </a:p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400" dirty="0">
                  <a:solidFill>
                    <a:srgbClr val="333333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④ 若所做的辅助面与交线平行，</a:t>
              </a:r>
            </a:p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400" dirty="0">
                  <a:solidFill>
                    <a:srgbClr val="333333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   交点在无穷远处，应重选辅助面</a:t>
              </a:r>
              <a:endParaRPr kumimoji="0" lang="zh-CN" altLang="en-US" sz="2400" b="0" dirty="0">
                <a:solidFill>
                  <a:srgbClr val="333333"/>
                </a:solidFill>
                <a:sym typeface="Symbol" pitchFamily="18" charset="2"/>
              </a:endParaRPr>
            </a:p>
          </p:txBody>
        </p:sp>
      </p:grpSp>
      <p:sp>
        <p:nvSpPr>
          <p:cNvPr id="110692" name="Text Box 100"/>
          <p:cNvSpPr txBox="1">
            <a:spLocks noChangeArrowheads="1"/>
          </p:cNvSpPr>
          <p:nvPr/>
        </p:nvSpPr>
        <p:spPr bwMode="auto">
          <a:xfrm>
            <a:off x="354013" y="4922838"/>
            <a:ext cx="86010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ea typeface="黑体" pitchFamily="2" charset="-122"/>
                <a:sym typeface="Symbol" pitchFamily="18" charset="2"/>
              </a:rPr>
              <a:t>重点：</a:t>
            </a:r>
          </a:p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>
                <a:solidFill>
                  <a:srgbClr val="333333"/>
                </a:solidFill>
                <a:ea typeface="黑体" pitchFamily="2" charset="-122"/>
                <a:sym typeface="Symbol" pitchFamily="18" charset="2"/>
              </a:rPr>
              <a:t> 利用辅助面法求交</a:t>
            </a:r>
          </a:p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>
                <a:solidFill>
                  <a:srgbClr val="333333"/>
                </a:solidFill>
                <a:ea typeface="黑体" pitchFamily="2" charset="-122"/>
                <a:sym typeface="Symbol" pitchFamily="18" charset="2"/>
              </a:rPr>
              <a:t> 利用重影点判断可见性</a:t>
            </a:r>
          </a:p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>
                <a:solidFill>
                  <a:srgbClr val="333333"/>
                </a:solidFill>
                <a:ea typeface="黑体" pitchFamily="2" charset="-122"/>
                <a:sym typeface="Symbol" pitchFamily="18" charset="2"/>
              </a:rPr>
              <a:t> 在互相重叠的部分，分属不同平面的边界线一定是虚实相间。</a:t>
            </a:r>
          </a:p>
        </p:txBody>
      </p:sp>
      <p:sp>
        <p:nvSpPr>
          <p:cNvPr id="110693" name="Line 101"/>
          <p:cNvSpPr>
            <a:spLocks noChangeShapeType="1"/>
          </p:cNvSpPr>
          <p:nvPr/>
        </p:nvSpPr>
        <p:spPr bwMode="auto">
          <a:xfrm flipV="1">
            <a:off x="6775450" y="950913"/>
            <a:ext cx="0" cy="1397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94" name="AutoShape 102"/>
          <p:cNvSpPr>
            <a:spLocks noChangeArrowheads="1"/>
          </p:cNvSpPr>
          <p:nvPr/>
        </p:nvSpPr>
        <p:spPr bwMode="auto">
          <a:xfrm>
            <a:off x="6381750" y="1485900"/>
            <a:ext cx="74613" cy="74613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95" name="AutoShape 103"/>
          <p:cNvSpPr>
            <a:spLocks noChangeArrowheads="1"/>
          </p:cNvSpPr>
          <p:nvPr/>
        </p:nvSpPr>
        <p:spPr bwMode="auto">
          <a:xfrm>
            <a:off x="7207250" y="1574800"/>
            <a:ext cx="74613" cy="74613"/>
          </a:xfrm>
          <a:prstGeom prst="flowChartConnector">
            <a:avLst/>
          </a:prstGeom>
          <a:solidFill>
            <a:srgbClr val="FF3300"/>
          </a:solidFill>
          <a:ln w="9525">
            <a:solidFill>
              <a:srgbClr val="0000CC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96" name="AutoShape 104"/>
          <p:cNvSpPr>
            <a:spLocks noChangeArrowheads="1"/>
          </p:cNvSpPr>
          <p:nvPr/>
        </p:nvSpPr>
        <p:spPr bwMode="auto">
          <a:xfrm>
            <a:off x="6381750" y="3308350"/>
            <a:ext cx="74613" cy="74613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97" name="AutoShape 105"/>
          <p:cNvSpPr>
            <a:spLocks noChangeArrowheads="1"/>
          </p:cNvSpPr>
          <p:nvPr/>
        </p:nvSpPr>
        <p:spPr bwMode="auto">
          <a:xfrm>
            <a:off x="7207250" y="3359150"/>
            <a:ext cx="74613" cy="74613"/>
          </a:xfrm>
          <a:prstGeom prst="flowChartConnector">
            <a:avLst/>
          </a:prstGeom>
          <a:solidFill>
            <a:srgbClr val="FF3300"/>
          </a:solidFill>
          <a:ln w="9525">
            <a:solidFill>
              <a:srgbClr val="0000CC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0699" name="Text Box 107"/>
          <p:cNvSpPr txBox="1">
            <a:spLocks noChangeArrowheads="1"/>
          </p:cNvSpPr>
          <p:nvPr/>
        </p:nvSpPr>
        <p:spPr bwMode="auto">
          <a:xfrm>
            <a:off x="349250" y="1243013"/>
            <a:ext cx="2578100" cy="557212"/>
          </a:xfrm>
          <a:prstGeom prst="rect">
            <a:avLst/>
          </a:prstGeom>
          <a:solidFill>
            <a:srgbClr val="FFFFFF"/>
          </a:solidFill>
          <a:ln w="38100">
            <a:solidFill>
              <a:srgbClr val="FF33CC"/>
            </a:solidFill>
            <a:miter lim="800000"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CC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穿点法</a:t>
            </a:r>
          </a:p>
        </p:txBody>
      </p:sp>
    </p:spTree>
    <p:extLst>
      <p:ext uri="{BB962C8B-B14F-4D97-AF65-F5344CB8AC3E}">
        <p14:creationId xmlns:p14="http://schemas.microsoft.com/office/powerpoint/2010/main" val="124913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0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0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0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1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1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10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1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10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1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110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10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1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1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1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11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10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10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11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10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10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110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110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110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10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110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110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110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110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10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110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110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110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11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1106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7"/>
                                            </p:cond>
                                          </p:stCondLst>
                                        </p:cTn>
                                        <p:tgtEl>
                                          <p:spTgt spid="11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110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11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110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11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11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110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110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110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110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1" dur="500"/>
                                        <p:tgtEl>
                                          <p:spTgt spid="110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5" dur="500"/>
                                        <p:tgtEl>
                                          <p:spTgt spid="11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9" dur="500"/>
                                        <p:tgtEl>
                                          <p:spTgt spid="110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110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 nodeType="clickPar">
                      <p:stCondLst>
                        <p:cond delay="indefinite"/>
                      </p:stCondLst>
                      <p:childTnLst>
                        <p:par>
                          <p:cTn id="2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110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3" dur="500"/>
                                        <p:tgtEl>
                                          <p:spTgt spid="110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 nodeType="clickPar">
                      <p:stCondLst>
                        <p:cond delay="indefinite"/>
                      </p:stCondLst>
                      <p:childTnLst>
                        <p:par>
                          <p:cTn id="2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8" dur="500"/>
                                        <p:tgtEl>
                                          <p:spTgt spid="110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 nodeType="clickPar">
                      <p:stCondLst>
                        <p:cond delay="indefinite"/>
                      </p:stCondLst>
                      <p:childTnLst>
                        <p:par>
                          <p:cTn id="2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3" dur="500"/>
                                        <p:tgtEl>
                                          <p:spTgt spid="110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7" dur="500"/>
                                        <p:tgtEl>
                                          <p:spTgt spid="110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1" dur="500"/>
                                        <p:tgtEl>
                                          <p:spTgt spid="11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 nodeType="clickPar">
                      <p:stCondLst>
                        <p:cond delay="indefinite"/>
                      </p:stCondLst>
                      <p:childTnLst>
                        <p:par>
                          <p:cTn id="2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6" dur="500"/>
                                        <p:tgtEl>
                                          <p:spTgt spid="110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0" dur="500"/>
                                        <p:tgtEl>
                                          <p:spTgt spid="11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 nodeType="clickPar">
                      <p:stCondLst>
                        <p:cond delay="indefinite"/>
                      </p:stCondLst>
                      <p:childTnLst>
                        <p:par>
                          <p:cTn id="2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5" dur="500"/>
                                        <p:tgtEl>
                                          <p:spTgt spid="110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 nodeType="clickPar">
                      <p:stCondLst>
                        <p:cond delay="indefinite"/>
                      </p:stCondLst>
                      <p:childTnLst>
                        <p:par>
                          <p:cTn id="2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0" dur="500"/>
                                        <p:tgtEl>
                                          <p:spTgt spid="11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4" dur="500"/>
                                        <p:tgtEl>
                                          <p:spTgt spid="11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 nodeType="clickPar">
                      <p:stCondLst>
                        <p:cond delay="indefinite"/>
                      </p:stCondLst>
                      <p:childTnLst>
                        <p:par>
                          <p:cTn id="3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9" dur="500"/>
                                        <p:tgtEl>
                                          <p:spTgt spid="11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 nodeType="clickPar">
                      <p:stCondLst>
                        <p:cond delay="indefinite"/>
                      </p:stCondLst>
                      <p:childTnLst>
                        <p:par>
                          <p:cTn id="3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4" dur="500"/>
                                        <p:tgtEl>
                                          <p:spTgt spid="11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 nodeType="clickPar">
                      <p:stCondLst>
                        <p:cond delay="indefinite"/>
                      </p:stCondLst>
                      <p:childTnLst>
                        <p:par>
                          <p:cTn id="3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11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3" dur="500"/>
                                        <p:tgtEl>
                                          <p:spTgt spid="11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7" dur="500"/>
                                        <p:tgtEl>
                                          <p:spTgt spid="11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1" dur="500"/>
                                        <p:tgtEl>
                                          <p:spTgt spid="11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5" dur="500"/>
                                        <p:tgtEl>
                                          <p:spTgt spid="11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9" dur="500"/>
                                        <p:tgtEl>
                                          <p:spTgt spid="110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3" dur="500"/>
                                        <p:tgtEl>
                                          <p:spTgt spid="11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 nodeType="clickPar">
                      <p:stCondLst>
                        <p:cond delay="indefinite"/>
                      </p:stCondLst>
                      <p:childTnLst>
                        <p:par>
                          <p:cTn id="3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8" dur="500"/>
                                        <p:tgtEl>
                                          <p:spTgt spid="11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 nodeType="clickPar">
                      <p:stCondLst>
                        <p:cond delay="indefinite"/>
                      </p:stCondLst>
                      <p:childTnLst>
                        <p:par>
                          <p:cTn id="3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3" dur="500"/>
                                        <p:tgtEl>
                                          <p:spTgt spid="11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7" dur="500"/>
                                        <p:tgtEl>
                                          <p:spTgt spid="11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 nodeType="clickPar">
                      <p:stCondLst>
                        <p:cond delay="indefinite"/>
                      </p:stCondLst>
                      <p:childTnLst>
                        <p:par>
                          <p:cTn id="3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2" dur="500"/>
                                        <p:tgtEl>
                                          <p:spTgt spid="11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 nodeType="clickPar">
                      <p:stCondLst>
                        <p:cond delay="indefinite"/>
                      </p:stCondLst>
                      <p:childTnLst>
                        <p:par>
                          <p:cTn id="3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7" dur="500"/>
                                        <p:tgtEl>
                                          <p:spTgt spid="11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 nodeType="clickPar">
                      <p:stCondLst>
                        <p:cond delay="indefinite"/>
                      </p:stCondLst>
                      <p:childTnLst>
                        <p:par>
                          <p:cTn id="3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2" dur="500"/>
                                        <p:tgtEl>
                                          <p:spTgt spid="110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6" dur="500"/>
                                        <p:tgtEl>
                                          <p:spTgt spid="11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0" dur="500"/>
                                        <p:tgtEl>
                                          <p:spTgt spid="11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4" dur="500"/>
                                        <p:tgtEl>
                                          <p:spTgt spid="11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8" dur="500"/>
                                        <p:tgtEl>
                                          <p:spTgt spid="11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 nodeType="clickPar">
                      <p:stCondLst>
                        <p:cond delay="indefinite"/>
                      </p:stCondLst>
                      <p:childTnLst>
                        <p:par>
                          <p:cTn id="3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3" dur="500"/>
                                        <p:tgtEl>
                                          <p:spTgt spid="110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 nodeType="clickPar">
                      <p:stCondLst>
                        <p:cond delay="indefinite"/>
                      </p:stCondLst>
                      <p:childTnLst>
                        <p:par>
                          <p:cTn id="3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 nodeType="clickPar">
                      <p:stCondLst>
                        <p:cond delay="indefinite"/>
                      </p:stCondLst>
                      <p:childTnLst>
                        <p:par>
                          <p:cTn id="4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500" fill="hold"/>
                                        <p:tgtEl>
                                          <p:spTgt spid="110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500" fill="hold"/>
                                        <p:tgtEl>
                                          <p:spTgt spid="110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4" grpId="0" animBg="1"/>
      <p:bldP spid="110595" grpId="0" animBg="1"/>
      <p:bldP spid="110596" grpId="0" animBg="1"/>
      <p:bldP spid="110597" grpId="0" animBg="1"/>
      <p:bldP spid="110598" grpId="0" animBg="1" autoUpdateAnimBg="0"/>
      <p:bldP spid="110604" grpId="0" animBg="1"/>
      <p:bldP spid="110605" grpId="0" autoUpdateAnimBg="0"/>
      <p:bldP spid="110606" grpId="0" autoUpdateAnimBg="0"/>
      <p:bldP spid="110607" grpId="0" autoUpdateAnimBg="0"/>
      <p:bldP spid="110608" grpId="0" autoUpdateAnimBg="0"/>
      <p:bldP spid="110609" grpId="0" autoUpdateAnimBg="0"/>
      <p:bldP spid="110610" grpId="0" animBg="1"/>
      <p:bldP spid="110611" grpId="0" autoUpdateAnimBg="0"/>
      <p:bldP spid="110612" grpId="0" animBg="1"/>
      <p:bldP spid="110613" grpId="0" animBg="1"/>
      <p:bldP spid="110614" grpId="0" animBg="1"/>
      <p:bldP spid="110615" grpId="0" animBg="1"/>
      <p:bldP spid="110616" grpId="0" animBg="1"/>
      <p:bldP spid="110617" grpId="0" autoUpdateAnimBg="0"/>
      <p:bldP spid="110618" grpId="0" autoUpdateAnimBg="0"/>
      <p:bldP spid="110619" grpId="0" autoUpdateAnimBg="0"/>
      <p:bldP spid="110620" grpId="0" autoUpdateAnimBg="0"/>
      <p:bldP spid="110621" grpId="0" autoUpdateAnimBg="0"/>
      <p:bldP spid="110622" grpId="0" autoUpdateAnimBg="0"/>
      <p:bldP spid="110623" grpId="0" animBg="1"/>
      <p:bldP spid="110624" grpId="0" animBg="1"/>
      <p:bldP spid="110625" grpId="0" animBg="1"/>
      <p:bldP spid="110626" grpId="0" autoUpdateAnimBg="0"/>
      <p:bldP spid="110627" grpId="0" autoUpdateAnimBg="0"/>
      <p:bldP spid="110628" grpId="0" autoUpdateAnimBg="0"/>
      <p:bldP spid="110629" grpId="0" animBg="1"/>
      <p:bldP spid="110630" grpId="0" animBg="1"/>
      <p:bldP spid="110631" grpId="0" autoUpdateAnimBg="0"/>
      <p:bldP spid="110632" grpId="0" animBg="1"/>
      <p:bldP spid="110633" grpId="0" animBg="1"/>
      <p:bldP spid="110634" grpId="0" autoUpdateAnimBg="0"/>
      <p:bldP spid="110635" grpId="0" animBg="1"/>
      <p:bldP spid="110636" grpId="0" autoUpdateAnimBg="0"/>
      <p:bldP spid="110637" grpId="0" animBg="1"/>
      <p:bldP spid="110638" grpId="0" animBg="1"/>
      <p:bldP spid="110639" grpId="0" autoUpdateAnimBg="0"/>
      <p:bldP spid="110640" grpId="0" animBg="1"/>
      <p:bldP spid="110641" grpId="0" autoUpdateAnimBg="0"/>
      <p:bldP spid="110642" grpId="0" autoUpdateAnimBg="0"/>
      <p:bldP spid="110643" grpId="0" autoUpdateAnimBg="0"/>
      <p:bldP spid="110644" grpId="0" animBg="1"/>
      <p:bldP spid="110645" grpId="0" animBg="1"/>
      <p:bldP spid="110646" grpId="0" autoUpdateAnimBg="0"/>
      <p:bldP spid="110647" grpId="0" animBg="1"/>
      <p:bldP spid="110648" grpId="0" animBg="1"/>
      <p:bldP spid="110649" grpId="0" autoUpdateAnimBg="0"/>
      <p:bldP spid="110650" grpId="0" animBg="1"/>
      <p:bldP spid="110651" grpId="0" autoUpdateAnimBg="0"/>
      <p:bldP spid="110652" grpId="0" animBg="1"/>
      <p:bldP spid="110653" grpId="0" animBg="1"/>
      <p:bldP spid="110654" grpId="0" autoUpdateAnimBg="0"/>
      <p:bldP spid="110655" grpId="0" animBg="1"/>
      <p:bldP spid="110656" grpId="0" animBg="1"/>
      <p:bldP spid="110657" grpId="0" autoUpdateAnimBg="0"/>
      <p:bldP spid="110658" grpId="0" animBg="1"/>
      <p:bldP spid="110659" grpId="0" autoUpdateAnimBg="0"/>
      <p:bldP spid="110660" grpId="0" autoUpdateAnimBg="0"/>
      <p:bldP spid="110661" grpId="0" animBg="1"/>
      <p:bldP spid="110662" grpId="0" animBg="1"/>
      <p:bldP spid="110663" grpId="0" animBg="1"/>
      <p:bldP spid="110664" grpId="0" animBg="1"/>
      <p:bldP spid="110665" grpId="0" animBg="1"/>
      <p:bldP spid="110666" grpId="0" animBg="1"/>
      <p:bldP spid="110667" grpId="0" animBg="1"/>
      <p:bldP spid="110668" grpId="0" animBg="1"/>
      <p:bldP spid="110669" grpId="0" autoUpdateAnimBg="0"/>
      <p:bldP spid="110670" grpId="0" animBg="1"/>
      <p:bldP spid="110671" grpId="0" autoUpdateAnimBg="0"/>
      <p:bldP spid="110672" grpId="0" autoUpdateAnimBg="0"/>
      <p:bldP spid="110673" grpId="0" animBg="1"/>
      <p:bldP spid="110674" grpId="0" animBg="1"/>
      <p:bldP spid="110675" grpId="0" animBg="1"/>
      <p:bldP spid="110676" grpId="0" animBg="1"/>
      <p:bldP spid="110677" grpId="0" animBg="1"/>
      <p:bldP spid="110678" grpId="0" animBg="1"/>
      <p:bldP spid="110679" grpId="0" animBg="1" autoUpdateAnimBg="0"/>
      <p:bldP spid="110680" grpId="0" autoUpdateAnimBg="0"/>
      <p:bldP spid="110681" grpId="0" autoUpdateAnimBg="0"/>
      <p:bldP spid="110682" grpId="0" autoUpdateAnimBg="0"/>
      <p:bldP spid="110683" grpId="0" animBg="1"/>
      <p:bldP spid="110684" grpId="0" animBg="1"/>
      <p:bldP spid="110685" grpId="0" autoUpdateAnimBg="0"/>
      <p:bldP spid="110686" grpId="0" autoUpdateAnimBg="0"/>
      <p:bldP spid="110687" grpId="0" autoUpdateAnimBg="0"/>
      <p:bldP spid="110688" grpId="0" autoUpdateAnimBg="0"/>
      <p:bldP spid="110692" grpId="0"/>
      <p:bldP spid="110693" grpId="0" animBg="1"/>
      <p:bldP spid="110694" grpId="0" animBg="1"/>
      <p:bldP spid="110695" grpId="0" animBg="1"/>
      <p:bldP spid="110696" grpId="0" animBg="1"/>
      <p:bldP spid="110697" grpId="0" animBg="1"/>
      <p:bldP spid="11069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1A9394-4877-4214-8929-B07E47A491E1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27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11267" name="Text Box 2"/>
          <p:cNvSpPr txBox="1">
            <a:spLocks noChangeArrowheads="1"/>
          </p:cNvSpPr>
          <p:nvPr/>
        </p:nvSpPr>
        <p:spPr bwMode="auto">
          <a:xfrm>
            <a:off x="153988" y="376238"/>
            <a:ext cx="8805862" cy="314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§3.3 </a:t>
            </a:r>
            <a:r>
              <a:rPr lang="zh-CN" altLang="en-US" sz="360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两直线所成角度的投影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3600">
              <a:solidFill>
                <a:srgbClr val="FF0000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l" eaLnBrk="1" hangingPunct="1">
              <a:buClrTx/>
              <a:buFontTx/>
              <a:buNone/>
            </a:pPr>
            <a:r>
              <a:rPr lang="zh-CN" altLang="en-US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一．任意角的投影</a:t>
            </a:r>
          </a:p>
          <a:p>
            <a:pPr algn="l" eaLnBrk="1" hangingPunct="1">
              <a:buClrTx/>
              <a:buFontTx/>
              <a:buNone/>
            </a:pPr>
            <a:r>
              <a:rPr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一般情况下：角的投影 ≠ 角的实际大小。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角的两边均平行于投影面：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           角的投影 </a:t>
            </a:r>
            <a:r>
              <a:rPr lang="en-US" altLang="zh-CN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= </a:t>
            </a:r>
            <a:r>
              <a:rPr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角的实际大小。</a:t>
            </a:r>
          </a:p>
        </p:txBody>
      </p:sp>
      <p:sp>
        <p:nvSpPr>
          <p:cNvPr id="112643" name="Text Box 3"/>
          <p:cNvSpPr txBox="1">
            <a:spLocks noChangeArrowheads="1"/>
          </p:cNvSpPr>
          <p:nvPr/>
        </p:nvSpPr>
        <p:spPr bwMode="auto">
          <a:xfrm>
            <a:off x="134938" y="3905250"/>
            <a:ext cx="8407400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二．直角的投影</a:t>
            </a:r>
          </a:p>
          <a:p>
            <a:pPr algn="l" eaLnBrk="1" hangingPunct="1">
              <a:buClrTx/>
              <a:buFontTx/>
              <a:buNone/>
            </a:pPr>
            <a:r>
              <a:rPr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空间中直角的投影除具有任意角的投影特性外，</a:t>
            </a:r>
          </a:p>
          <a:p>
            <a:pPr algn="l" eaLnBrk="1" hangingPunct="1">
              <a:buClrTx/>
              <a:buFontTx/>
              <a:buNone/>
            </a:pPr>
            <a:r>
              <a:rPr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还有一些固有特点。</a:t>
            </a:r>
            <a:endParaRPr lang="zh-CN" altLang="en-US" sz="360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83632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B69239-3A32-4959-A322-83BB5CA3FF8A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28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134146" name="Freeform 2"/>
          <p:cNvSpPr>
            <a:spLocks/>
          </p:cNvSpPr>
          <p:nvPr/>
        </p:nvSpPr>
        <p:spPr bwMode="auto">
          <a:xfrm>
            <a:off x="4787900" y="3729038"/>
            <a:ext cx="3619500" cy="933450"/>
          </a:xfrm>
          <a:custGeom>
            <a:avLst/>
            <a:gdLst>
              <a:gd name="T0" fmla="*/ 1732895313 w 2274"/>
              <a:gd name="T1" fmla="*/ 0 h 678"/>
              <a:gd name="T2" fmla="*/ 2147483647 w 2274"/>
              <a:gd name="T3" fmla="*/ 0 h 678"/>
              <a:gd name="T4" fmla="*/ 2147483647 w 2274"/>
              <a:gd name="T5" fmla="*/ 1285145874 h 678"/>
              <a:gd name="T6" fmla="*/ 0 w 2274"/>
              <a:gd name="T7" fmla="*/ 1285145874 h 678"/>
              <a:gd name="T8" fmla="*/ 1732895313 w 2274"/>
              <a:gd name="T9" fmla="*/ 0 h 6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74"/>
              <a:gd name="T16" fmla="*/ 0 h 678"/>
              <a:gd name="T17" fmla="*/ 2274 w 2274"/>
              <a:gd name="T18" fmla="*/ 678 h 6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74" h="678">
                <a:moveTo>
                  <a:pt x="684" y="0"/>
                </a:moveTo>
                <a:lnTo>
                  <a:pt x="2274" y="0"/>
                </a:lnTo>
                <a:lnTo>
                  <a:pt x="1590" y="678"/>
                </a:lnTo>
                <a:lnTo>
                  <a:pt x="0" y="678"/>
                </a:lnTo>
                <a:lnTo>
                  <a:pt x="684" y="0"/>
                </a:lnTo>
                <a:close/>
              </a:path>
            </a:pathLst>
          </a:custGeom>
          <a:solidFill>
            <a:srgbClr val="B3E1B3">
              <a:alpha val="56078"/>
            </a:srgb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4147" name="Freeform 3"/>
          <p:cNvSpPr>
            <a:spLocks/>
          </p:cNvSpPr>
          <p:nvPr/>
        </p:nvSpPr>
        <p:spPr bwMode="auto">
          <a:xfrm>
            <a:off x="5667375" y="2147888"/>
            <a:ext cx="1085850" cy="2514600"/>
          </a:xfrm>
          <a:custGeom>
            <a:avLst/>
            <a:gdLst>
              <a:gd name="T0" fmla="*/ 15120938 w 684"/>
              <a:gd name="T1" fmla="*/ 2147483647 h 1584"/>
              <a:gd name="T2" fmla="*/ 0 w 684"/>
              <a:gd name="T3" fmla="*/ 1451610000 h 1584"/>
              <a:gd name="T4" fmla="*/ 1723786875 w 684"/>
              <a:gd name="T5" fmla="*/ 0 h 1584"/>
              <a:gd name="T6" fmla="*/ 1723786875 w 684"/>
              <a:gd name="T7" fmla="*/ 2147483647 h 1584"/>
              <a:gd name="T8" fmla="*/ 15120938 w 684"/>
              <a:gd name="T9" fmla="*/ 2147483647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84"/>
              <a:gd name="T16" fmla="*/ 0 h 1584"/>
              <a:gd name="T17" fmla="*/ 684 w 684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84" h="1584">
                <a:moveTo>
                  <a:pt x="6" y="1584"/>
                </a:moveTo>
                <a:lnTo>
                  <a:pt x="0" y="576"/>
                </a:lnTo>
                <a:lnTo>
                  <a:pt x="684" y="0"/>
                </a:lnTo>
                <a:lnTo>
                  <a:pt x="684" y="996"/>
                </a:lnTo>
                <a:lnTo>
                  <a:pt x="6" y="1584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 w="31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4148" name="Line 4"/>
          <p:cNvSpPr>
            <a:spLocks noChangeShapeType="1"/>
          </p:cNvSpPr>
          <p:nvPr/>
        </p:nvSpPr>
        <p:spPr bwMode="auto">
          <a:xfrm flipH="1">
            <a:off x="5991225" y="3319463"/>
            <a:ext cx="238125" cy="657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4149" name="Text Box 5"/>
          <p:cNvSpPr txBox="1">
            <a:spLocks noChangeArrowheads="1"/>
          </p:cNvSpPr>
          <p:nvPr/>
        </p:nvSpPr>
        <p:spPr bwMode="auto">
          <a:xfrm>
            <a:off x="7739063" y="3659188"/>
            <a:ext cx="34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H</a:t>
            </a:r>
          </a:p>
        </p:txBody>
      </p:sp>
      <p:sp>
        <p:nvSpPr>
          <p:cNvPr id="134150" name="Text Box 6"/>
          <p:cNvSpPr txBox="1">
            <a:spLocks noChangeArrowheads="1"/>
          </p:cNvSpPr>
          <p:nvPr/>
        </p:nvSpPr>
        <p:spPr bwMode="auto">
          <a:xfrm>
            <a:off x="5646738" y="3783013"/>
            <a:ext cx="36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solidFill>
                  <a:srgbClr val="FF3300"/>
                </a:solidFill>
                <a:latin typeface="ISOCPEUR" pitchFamily="34" charset="0"/>
                <a:sym typeface="Symbol" pitchFamily="18" charset="2"/>
              </a:rPr>
              <a:t>A</a:t>
            </a:r>
            <a:endParaRPr kumimoji="0" lang="en-US" altLang="zh-CN" sz="2400" b="0" i="1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4151" name="Text Box 7"/>
          <p:cNvSpPr txBox="1">
            <a:spLocks noChangeArrowheads="1"/>
          </p:cNvSpPr>
          <p:nvPr/>
        </p:nvSpPr>
        <p:spPr bwMode="auto">
          <a:xfrm>
            <a:off x="7346950" y="2951163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solidFill>
                  <a:srgbClr val="FF3300"/>
                </a:solidFill>
                <a:latin typeface="ISOCPEUR" pitchFamily="34" charset="0"/>
                <a:sym typeface="Symbol" pitchFamily="18" charset="2"/>
              </a:rPr>
              <a:t>C</a:t>
            </a:r>
            <a:endParaRPr kumimoji="0" lang="en-US" altLang="zh-CN" sz="2400" b="0" i="1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4152" name="Text Box 8"/>
          <p:cNvSpPr txBox="1">
            <a:spLocks noChangeArrowheads="1"/>
          </p:cNvSpPr>
          <p:nvPr/>
        </p:nvSpPr>
        <p:spPr bwMode="auto">
          <a:xfrm>
            <a:off x="5854700" y="4230688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a</a:t>
            </a:r>
            <a:endParaRPr kumimoji="0"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4153" name="Text Box 9"/>
          <p:cNvSpPr txBox="1">
            <a:spLocks noChangeArrowheads="1"/>
          </p:cNvSpPr>
          <p:nvPr/>
        </p:nvSpPr>
        <p:spPr bwMode="auto">
          <a:xfrm>
            <a:off x="404813" y="2005013"/>
            <a:ext cx="2878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已知 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AB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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BC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BC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∥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H</a:t>
            </a:r>
          </a:p>
        </p:txBody>
      </p:sp>
      <p:sp>
        <p:nvSpPr>
          <p:cNvPr id="134154" name="Line 10"/>
          <p:cNvSpPr>
            <a:spLocks noChangeShapeType="1"/>
          </p:cNvSpPr>
          <p:nvPr/>
        </p:nvSpPr>
        <p:spPr bwMode="auto">
          <a:xfrm>
            <a:off x="5991225" y="3957638"/>
            <a:ext cx="0" cy="4191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4155" name="Line 11"/>
          <p:cNvSpPr>
            <a:spLocks noChangeShapeType="1"/>
          </p:cNvSpPr>
          <p:nvPr/>
        </p:nvSpPr>
        <p:spPr bwMode="auto">
          <a:xfrm>
            <a:off x="7397750" y="3313113"/>
            <a:ext cx="0" cy="8636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4156" name="Text Box 12"/>
          <p:cNvSpPr txBox="1">
            <a:spLocks noChangeArrowheads="1"/>
          </p:cNvSpPr>
          <p:nvPr/>
        </p:nvSpPr>
        <p:spPr bwMode="auto">
          <a:xfrm>
            <a:off x="7305675" y="3840163"/>
            <a:ext cx="428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c </a:t>
            </a:r>
          </a:p>
        </p:txBody>
      </p:sp>
      <p:sp>
        <p:nvSpPr>
          <p:cNvPr id="134157" name="Line 13"/>
          <p:cNvSpPr>
            <a:spLocks noChangeShapeType="1"/>
          </p:cNvSpPr>
          <p:nvPr/>
        </p:nvSpPr>
        <p:spPr bwMode="auto">
          <a:xfrm flipV="1">
            <a:off x="5988050" y="4183063"/>
            <a:ext cx="241300" cy="203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4158" name="Line 14"/>
          <p:cNvSpPr>
            <a:spLocks noChangeShapeType="1"/>
          </p:cNvSpPr>
          <p:nvPr/>
        </p:nvSpPr>
        <p:spPr bwMode="auto">
          <a:xfrm>
            <a:off x="6229350" y="4183063"/>
            <a:ext cx="117475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4159" name="Text Box 15"/>
          <p:cNvSpPr txBox="1">
            <a:spLocks noChangeArrowheads="1"/>
          </p:cNvSpPr>
          <p:nvPr/>
        </p:nvSpPr>
        <p:spPr bwMode="auto">
          <a:xfrm>
            <a:off x="338138" y="2524125"/>
            <a:ext cx="8805862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∵ 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BC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∥ 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H 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∴ 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BC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 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Bb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BC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 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Q 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(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AB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0" lang="en-US" altLang="zh-CN" sz="1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Monotype Sorts" pitchFamily="2" charset="2"/>
              </a:rPr>
              <a:t>╳ 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Bb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)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en-US" altLang="zh-CN" sz="80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34160" name="Text Box 16"/>
          <p:cNvSpPr txBox="1">
            <a:spLocks noChangeArrowheads="1"/>
          </p:cNvSpPr>
          <p:nvPr/>
        </p:nvSpPr>
        <p:spPr bwMode="auto">
          <a:xfrm>
            <a:off x="6440488" y="2268538"/>
            <a:ext cx="34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Q</a:t>
            </a:r>
          </a:p>
        </p:txBody>
      </p:sp>
      <p:sp>
        <p:nvSpPr>
          <p:cNvPr id="134161" name="Line 17"/>
          <p:cNvSpPr>
            <a:spLocks noChangeShapeType="1"/>
          </p:cNvSpPr>
          <p:nvPr/>
        </p:nvSpPr>
        <p:spPr bwMode="auto">
          <a:xfrm>
            <a:off x="6234113" y="3319463"/>
            <a:ext cx="0" cy="8572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4162" name="Line 18"/>
          <p:cNvSpPr>
            <a:spLocks noChangeShapeType="1"/>
          </p:cNvSpPr>
          <p:nvPr/>
        </p:nvSpPr>
        <p:spPr bwMode="auto">
          <a:xfrm flipV="1">
            <a:off x="6229350" y="3316288"/>
            <a:ext cx="11684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4163" name="Text Box 19"/>
          <p:cNvSpPr txBox="1">
            <a:spLocks noChangeArrowheads="1"/>
          </p:cNvSpPr>
          <p:nvPr/>
        </p:nvSpPr>
        <p:spPr bwMode="auto">
          <a:xfrm>
            <a:off x="177800" y="642938"/>
            <a:ext cx="8805863" cy="946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定理：若直角中有一边为某一投影面的平行线，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 则它在该投影面上的投影仍为直角。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6200775" y="3022600"/>
            <a:ext cx="284163" cy="519113"/>
            <a:chOff x="4576" y="273"/>
            <a:chExt cx="179" cy="327"/>
          </a:xfrm>
        </p:grpSpPr>
        <p:sp>
          <p:nvSpPr>
            <p:cNvPr id="12323" name="Arc 21"/>
            <p:cNvSpPr>
              <a:spLocks/>
            </p:cNvSpPr>
            <p:nvPr/>
          </p:nvSpPr>
          <p:spPr bwMode="auto">
            <a:xfrm>
              <a:off x="4576" y="462"/>
              <a:ext cx="179" cy="108"/>
            </a:xfrm>
            <a:custGeom>
              <a:avLst/>
              <a:gdLst>
                <a:gd name="T0" fmla="*/ 0 w 29686"/>
                <a:gd name="T1" fmla="*/ 0 h 21600"/>
                <a:gd name="T2" fmla="*/ 0 w 29686"/>
                <a:gd name="T3" fmla="*/ 0 h 21600"/>
                <a:gd name="T4" fmla="*/ 0 w 29686"/>
                <a:gd name="T5" fmla="*/ 0 h 21600"/>
                <a:gd name="T6" fmla="*/ 0 60000 65536"/>
                <a:gd name="T7" fmla="*/ 0 60000 65536"/>
                <a:gd name="T8" fmla="*/ 0 60000 65536"/>
                <a:gd name="T9" fmla="*/ 0 w 29686"/>
                <a:gd name="T10" fmla="*/ 0 h 21600"/>
                <a:gd name="T11" fmla="*/ 29686 w 2968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686" h="21600" fill="none" extrusionOk="0">
                  <a:moveTo>
                    <a:pt x="29685" y="1087"/>
                  </a:moveTo>
                  <a:cubicBezTo>
                    <a:pt x="29106" y="12579"/>
                    <a:pt x="19619" y="21599"/>
                    <a:pt x="8113" y="21600"/>
                  </a:cubicBezTo>
                  <a:cubicBezTo>
                    <a:pt x="5332" y="21600"/>
                    <a:pt x="2577" y="21063"/>
                    <a:pt x="0" y="20018"/>
                  </a:cubicBezTo>
                </a:path>
                <a:path w="29686" h="21600" stroke="0" extrusionOk="0">
                  <a:moveTo>
                    <a:pt x="29685" y="1087"/>
                  </a:moveTo>
                  <a:cubicBezTo>
                    <a:pt x="29106" y="12579"/>
                    <a:pt x="19619" y="21599"/>
                    <a:pt x="8113" y="21600"/>
                  </a:cubicBezTo>
                  <a:cubicBezTo>
                    <a:pt x="5332" y="21600"/>
                    <a:pt x="2577" y="21063"/>
                    <a:pt x="0" y="20018"/>
                  </a:cubicBezTo>
                  <a:lnTo>
                    <a:pt x="8113" y="0"/>
                  </a:lnTo>
                  <a:lnTo>
                    <a:pt x="29685" y="108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2324" name="Text Box 22"/>
            <p:cNvSpPr txBox="1">
              <a:spLocks noChangeArrowheads="1"/>
            </p:cNvSpPr>
            <p:nvPr/>
          </p:nvSpPr>
          <p:spPr bwMode="auto">
            <a:xfrm>
              <a:off x="4582" y="273"/>
              <a:ext cx="1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800" b="0">
                  <a:solidFill>
                    <a:srgbClr val="333333"/>
                  </a:solidFill>
                  <a:sym typeface="Symbol" pitchFamily="18" charset="2"/>
                </a:rPr>
                <a:t>.</a:t>
              </a:r>
              <a:endParaRPr kumimoji="0" lang="en-US" altLang="zh-CN" sz="2400" b="0">
                <a:solidFill>
                  <a:srgbClr val="333333"/>
                </a:solidFill>
                <a:sym typeface="Symbol" pitchFamily="18" charset="2"/>
              </a:endParaRPr>
            </a:p>
          </p:txBody>
        </p:sp>
      </p:grp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6689725" y="3276600"/>
            <a:ext cx="273050" cy="519113"/>
            <a:chOff x="4214" y="957"/>
            <a:chExt cx="172" cy="327"/>
          </a:xfrm>
        </p:grpSpPr>
        <p:sp>
          <p:nvSpPr>
            <p:cNvPr id="12321" name="Arc 24"/>
            <p:cNvSpPr>
              <a:spLocks/>
            </p:cNvSpPr>
            <p:nvPr/>
          </p:nvSpPr>
          <p:spPr bwMode="auto">
            <a:xfrm>
              <a:off x="4248" y="1128"/>
              <a:ext cx="128" cy="1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2322" name="Text Box 25"/>
            <p:cNvSpPr txBox="1">
              <a:spLocks noChangeArrowheads="1"/>
            </p:cNvSpPr>
            <p:nvPr/>
          </p:nvSpPr>
          <p:spPr bwMode="auto">
            <a:xfrm>
              <a:off x="4214" y="957"/>
              <a:ext cx="1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800" b="0">
                  <a:solidFill>
                    <a:srgbClr val="333333"/>
                  </a:solidFill>
                  <a:sym typeface="Symbol" pitchFamily="18" charset="2"/>
                </a:rPr>
                <a:t>.</a:t>
              </a:r>
            </a:p>
          </p:txBody>
        </p:sp>
      </p:grp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6096000" y="3929063"/>
            <a:ext cx="334963" cy="457200"/>
            <a:chOff x="3832" y="1360"/>
            <a:chExt cx="211" cy="288"/>
          </a:xfrm>
        </p:grpSpPr>
        <p:sp>
          <p:nvSpPr>
            <p:cNvPr id="12319" name="Arc 27"/>
            <p:cNvSpPr>
              <a:spLocks/>
            </p:cNvSpPr>
            <p:nvPr/>
          </p:nvSpPr>
          <p:spPr bwMode="auto">
            <a:xfrm flipV="1">
              <a:off x="3832" y="1488"/>
              <a:ext cx="211" cy="124"/>
            </a:xfrm>
            <a:custGeom>
              <a:avLst/>
              <a:gdLst>
                <a:gd name="T0" fmla="*/ 0 w 20757"/>
                <a:gd name="T1" fmla="*/ 0 h 21600"/>
                <a:gd name="T2" fmla="*/ 0 w 20757"/>
                <a:gd name="T3" fmla="*/ 0 h 21600"/>
                <a:gd name="T4" fmla="*/ 0 w 20757"/>
                <a:gd name="T5" fmla="*/ 0 h 21600"/>
                <a:gd name="T6" fmla="*/ 0 60000 65536"/>
                <a:gd name="T7" fmla="*/ 0 60000 65536"/>
                <a:gd name="T8" fmla="*/ 0 60000 65536"/>
                <a:gd name="T9" fmla="*/ 0 w 20757"/>
                <a:gd name="T10" fmla="*/ 0 h 21600"/>
                <a:gd name="T11" fmla="*/ 20757 w 2075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757" h="21600" fill="none" extrusionOk="0">
                  <a:moveTo>
                    <a:pt x="-1" y="0"/>
                  </a:moveTo>
                  <a:cubicBezTo>
                    <a:pt x="9628" y="0"/>
                    <a:pt x="18094" y="6372"/>
                    <a:pt x="20757" y="15625"/>
                  </a:cubicBezTo>
                </a:path>
                <a:path w="20757" h="21600" stroke="0" extrusionOk="0">
                  <a:moveTo>
                    <a:pt x="-1" y="0"/>
                  </a:moveTo>
                  <a:cubicBezTo>
                    <a:pt x="9628" y="0"/>
                    <a:pt x="18094" y="6372"/>
                    <a:pt x="20757" y="1562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2320" name="Text Box 28"/>
            <p:cNvSpPr txBox="1">
              <a:spLocks noChangeArrowheads="1"/>
            </p:cNvSpPr>
            <p:nvPr/>
          </p:nvSpPr>
          <p:spPr bwMode="auto">
            <a:xfrm>
              <a:off x="3862" y="1360"/>
              <a:ext cx="1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0">
                  <a:solidFill>
                    <a:srgbClr val="333333"/>
                  </a:solidFill>
                  <a:sym typeface="Symbol" pitchFamily="18" charset="2"/>
                </a:rPr>
                <a:t>.</a:t>
              </a:r>
            </a:p>
          </p:txBody>
        </p:sp>
      </p:grpSp>
      <p:sp>
        <p:nvSpPr>
          <p:cNvPr id="134173" name="Freeform 29"/>
          <p:cNvSpPr>
            <a:spLocks/>
          </p:cNvSpPr>
          <p:nvPr/>
        </p:nvSpPr>
        <p:spPr bwMode="auto">
          <a:xfrm>
            <a:off x="4787900" y="3732213"/>
            <a:ext cx="3619500" cy="927100"/>
          </a:xfrm>
          <a:custGeom>
            <a:avLst/>
            <a:gdLst>
              <a:gd name="T0" fmla="*/ 0 w 2280"/>
              <a:gd name="T1" fmla="*/ 1471771250 h 584"/>
              <a:gd name="T2" fmla="*/ 2147483647 w 2280"/>
              <a:gd name="T3" fmla="*/ 1471771250 h 584"/>
              <a:gd name="T4" fmla="*/ 2147483647 w 2280"/>
              <a:gd name="T5" fmla="*/ 0 h 584"/>
              <a:gd name="T6" fmla="*/ 0 60000 65536"/>
              <a:gd name="T7" fmla="*/ 0 60000 65536"/>
              <a:gd name="T8" fmla="*/ 0 60000 65536"/>
              <a:gd name="T9" fmla="*/ 0 w 2280"/>
              <a:gd name="T10" fmla="*/ 0 h 584"/>
              <a:gd name="T11" fmla="*/ 2280 w 2280"/>
              <a:gd name="T12" fmla="*/ 584 h 5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80" h="584">
                <a:moveTo>
                  <a:pt x="0" y="584"/>
                </a:moveTo>
                <a:lnTo>
                  <a:pt x="1592" y="584"/>
                </a:lnTo>
                <a:lnTo>
                  <a:pt x="2280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4174" name="Freeform 30"/>
          <p:cNvSpPr>
            <a:spLocks/>
          </p:cNvSpPr>
          <p:nvPr/>
        </p:nvSpPr>
        <p:spPr bwMode="auto">
          <a:xfrm>
            <a:off x="5676900" y="2138363"/>
            <a:ext cx="1076325" cy="2514600"/>
          </a:xfrm>
          <a:custGeom>
            <a:avLst/>
            <a:gdLst>
              <a:gd name="T0" fmla="*/ 0 w 678"/>
              <a:gd name="T1" fmla="*/ 2147483647 h 1584"/>
              <a:gd name="T2" fmla="*/ 0 w 678"/>
              <a:gd name="T3" fmla="*/ 1466730938 h 1584"/>
              <a:gd name="T4" fmla="*/ 1708665938 w 678"/>
              <a:gd name="T5" fmla="*/ 0 h 1584"/>
              <a:gd name="T6" fmla="*/ 0 60000 65536"/>
              <a:gd name="T7" fmla="*/ 0 60000 65536"/>
              <a:gd name="T8" fmla="*/ 0 60000 65536"/>
              <a:gd name="T9" fmla="*/ 0 w 678"/>
              <a:gd name="T10" fmla="*/ 0 h 1584"/>
              <a:gd name="T11" fmla="*/ 678 w 678"/>
              <a:gd name="T12" fmla="*/ 1584 h 15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8" h="1584">
                <a:moveTo>
                  <a:pt x="0" y="1584"/>
                </a:moveTo>
                <a:lnTo>
                  <a:pt x="0" y="582"/>
                </a:lnTo>
                <a:lnTo>
                  <a:pt x="678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4205" name="Line 61"/>
          <p:cNvSpPr>
            <a:spLocks noChangeShapeType="1"/>
          </p:cNvSpPr>
          <p:nvPr/>
        </p:nvSpPr>
        <p:spPr bwMode="auto">
          <a:xfrm flipV="1">
            <a:off x="5689600" y="3719513"/>
            <a:ext cx="1060450" cy="9271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4209" name="Text Box 65"/>
          <p:cNvSpPr txBox="1">
            <a:spLocks noChangeArrowheads="1"/>
          </p:cNvSpPr>
          <p:nvPr/>
        </p:nvSpPr>
        <p:spPr bwMode="auto">
          <a:xfrm>
            <a:off x="338138" y="3740150"/>
            <a:ext cx="880586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又  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bc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∥ 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BC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∴  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bc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 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Q 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bc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 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ab</a:t>
            </a:r>
          </a:p>
        </p:txBody>
      </p:sp>
      <p:sp>
        <p:nvSpPr>
          <p:cNvPr id="134224" name="Text Box 80"/>
          <p:cNvSpPr txBox="1">
            <a:spLocks noChangeArrowheads="1"/>
          </p:cNvSpPr>
          <p:nvPr/>
        </p:nvSpPr>
        <p:spPr bwMode="auto">
          <a:xfrm>
            <a:off x="6310313" y="3808413"/>
            <a:ext cx="449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b </a:t>
            </a:r>
          </a:p>
        </p:txBody>
      </p:sp>
      <p:sp>
        <p:nvSpPr>
          <p:cNvPr id="134225" name="Text Box 81"/>
          <p:cNvSpPr txBox="1">
            <a:spLocks noChangeArrowheads="1"/>
          </p:cNvSpPr>
          <p:nvPr/>
        </p:nvSpPr>
        <p:spPr bwMode="auto">
          <a:xfrm>
            <a:off x="6099175" y="2900363"/>
            <a:ext cx="347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i="1">
                <a:solidFill>
                  <a:srgbClr val="FF3300"/>
                </a:solidFill>
                <a:latin typeface="ISOCPEUR" pitchFamily="34" charset="0"/>
                <a:sym typeface="Symbol" pitchFamily="18" charset="2"/>
              </a:rPr>
              <a:t>B</a:t>
            </a:r>
          </a:p>
        </p:txBody>
      </p:sp>
      <p:sp>
        <p:nvSpPr>
          <p:cNvPr id="134228" name="Text Box 84"/>
          <p:cNvSpPr txBox="1">
            <a:spLocks noChangeArrowheads="1"/>
          </p:cNvSpPr>
          <p:nvPr/>
        </p:nvSpPr>
        <p:spPr bwMode="auto">
          <a:xfrm>
            <a:off x="133350" y="5203825"/>
            <a:ext cx="8805863" cy="946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推论</a:t>
            </a:r>
            <a:r>
              <a:rPr kumimoji="0" lang="en-US" altLang="zh-CN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</a:t>
            </a:r>
            <a:r>
              <a:rPr kumimoji="0"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：在某一投影面上，夹角为直角的两条直线，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  如果一条为该投影面平行线，则两直线垂直。</a:t>
            </a:r>
          </a:p>
        </p:txBody>
      </p:sp>
    </p:spTree>
    <p:extLst>
      <p:ext uri="{BB962C8B-B14F-4D97-AF65-F5344CB8AC3E}">
        <p14:creationId xmlns:p14="http://schemas.microsoft.com/office/powerpoint/2010/main" val="423437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4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3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3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34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3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3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3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9" dur="500"/>
                                        <p:tgtEl>
                                          <p:spTgt spid="134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4" dur="500"/>
                                        <p:tgtEl>
                                          <p:spTgt spid="134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9" dur="500"/>
                                        <p:tgtEl>
                                          <p:spTgt spid="134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9" dur="500"/>
                                        <p:tgtEl>
                                          <p:spTgt spid="134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4" dur="500"/>
                                        <p:tgtEl>
                                          <p:spTgt spid="134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9" dur="500"/>
                                        <p:tgtEl>
                                          <p:spTgt spid="134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6" grpId="0" animBg="1"/>
      <p:bldP spid="134147" grpId="0" animBg="1"/>
      <p:bldP spid="134148" grpId="0" animBg="1"/>
      <p:bldP spid="134149" grpId="0" autoUpdateAnimBg="0"/>
      <p:bldP spid="134150" grpId="0" autoUpdateAnimBg="0"/>
      <p:bldP spid="134151" grpId="0" autoUpdateAnimBg="0"/>
      <p:bldP spid="134152" grpId="0" autoUpdateAnimBg="0"/>
      <p:bldP spid="134153" grpId="0"/>
      <p:bldP spid="134154" grpId="0" animBg="1"/>
      <p:bldP spid="134155" grpId="0" animBg="1"/>
      <p:bldP spid="134156" grpId="0" autoUpdateAnimBg="0"/>
      <p:bldP spid="134157" grpId="0" animBg="1"/>
      <p:bldP spid="134158" grpId="0" animBg="1"/>
      <p:bldP spid="134159" grpId="0" build="p" autoUpdateAnimBg="0"/>
      <p:bldP spid="134160" grpId="0" autoUpdateAnimBg="0"/>
      <p:bldP spid="134161" grpId="0" animBg="1"/>
      <p:bldP spid="134162" grpId="0" animBg="1"/>
      <p:bldP spid="134163" grpId="0" animBg="1" autoUpdateAnimBg="0"/>
      <p:bldP spid="134173" grpId="0" animBg="1"/>
      <p:bldP spid="134174" grpId="0" animBg="1"/>
      <p:bldP spid="134205" grpId="0" animBg="1"/>
      <p:bldP spid="134209" grpId="0" build="p" autoUpdateAnimBg="0"/>
      <p:bldP spid="134224" grpId="0" autoUpdateAnimBg="0"/>
      <p:bldP spid="134225" grpId="0" autoUpdateAnimBg="0"/>
      <p:bldP spid="134228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032165-260E-4876-871C-AC99559DB9B0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29</a:t>
            </a:fld>
            <a:endParaRPr lang="en-US" altLang="zh-CN">
              <a:solidFill>
                <a:srgbClr val="578963"/>
              </a:solidFill>
            </a:endParaRP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1123950" y="4278313"/>
            <a:ext cx="2044700" cy="1819275"/>
            <a:chOff x="1326" y="2162"/>
            <a:chExt cx="1288" cy="1146"/>
          </a:xfrm>
        </p:grpSpPr>
        <p:sp>
          <p:nvSpPr>
            <p:cNvPr id="13387" name="Line 32"/>
            <p:cNvSpPr>
              <a:spLocks noChangeShapeType="1"/>
            </p:cNvSpPr>
            <p:nvPr/>
          </p:nvSpPr>
          <p:spPr bwMode="auto">
            <a:xfrm>
              <a:off x="1326" y="2750"/>
              <a:ext cx="1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grpSp>
          <p:nvGrpSpPr>
            <p:cNvPr id="13388" name="Group 33"/>
            <p:cNvGrpSpPr>
              <a:grpSpLocks/>
            </p:cNvGrpSpPr>
            <p:nvPr/>
          </p:nvGrpSpPr>
          <p:grpSpPr bwMode="auto">
            <a:xfrm>
              <a:off x="1654" y="2162"/>
              <a:ext cx="692" cy="1146"/>
              <a:chOff x="1654" y="2162"/>
              <a:chExt cx="692" cy="1146"/>
            </a:xfrm>
          </p:grpSpPr>
          <p:sp>
            <p:nvSpPr>
              <p:cNvPr id="13389" name="Line 34"/>
              <p:cNvSpPr>
                <a:spLocks noChangeShapeType="1"/>
              </p:cNvSpPr>
              <p:nvPr/>
            </p:nvSpPr>
            <p:spPr bwMode="auto">
              <a:xfrm>
                <a:off x="1654" y="2390"/>
                <a:ext cx="474" cy="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3390" name="Line 35"/>
              <p:cNvSpPr>
                <a:spLocks noChangeShapeType="1"/>
              </p:cNvSpPr>
              <p:nvPr/>
            </p:nvSpPr>
            <p:spPr bwMode="auto">
              <a:xfrm>
                <a:off x="1662" y="2390"/>
                <a:ext cx="0" cy="8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3391" name="Line 36"/>
              <p:cNvSpPr>
                <a:spLocks noChangeShapeType="1"/>
              </p:cNvSpPr>
              <p:nvPr/>
            </p:nvSpPr>
            <p:spPr bwMode="auto">
              <a:xfrm flipH="1">
                <a:off x="2124" y="2390"/>
                <a:ext cx="0" cy="5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3392" name="Line 37"/>
              <p:cNvSpPr>
                <a:spLocks noChangeShapeType="1"/>
              </p:cNvSpPr>
              <p:nvPr/>
            </p:nvSpPr>
            <p:spPr bwMode="auto">
              <a:xfrm flipV="1">
                <a:off x="1662" y="2924"/>
                <a:ext cx="468" cy="264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3393" name="Line 38"/>
              <p:cNvSpPr>
                <a:spLocks noChangeShapeType="1"/>
              </p:cNvSpPr>
              <p:nvPr/>
            </p:nvSpPr>
            <p:spPr bwMode="auto">
              <a:xfrm flipV="1">
                <a:off x="2124" y="2162"/>
                <a:ext cx="222" cy="2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3394" name="Line 39"/>
              <p:cNvSpPr>
                <a:spLocks noChangeShapeType="1"/>
              </p:cNvSpPr>
              <p:nvPr/>
            </p:nvSpPr>
            <p:spPr bwMode="auto">
              <a:xfrm>
                <a:off x="2340" y="2174"/>
                <a:ext cx="0" cy="1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3395" name="Line 40"/>
              <p:cNvSpPr>
                <a:spLocks noChangeShapeType="1"/>
              </p:cNvSpPr>
              <p:nvPr/>
            </p:nvSpPr>
            <p:spPr bwMode="auto">
              <a:xfrm>
                <a:off x="2123" y="2924"/>
                <a:ext cx="217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grpSp>
            <p:nvGrpSpPr>
              <p:cNvPr id="13396" name="Group 41"/>
              <p:cNvGrpSpPr>
                <a:grpSpLocks/>
              </p:cNvGrpSpPr>
              <p:nvPr/>
            </p:nvGrpSpPr>
            <p:grpSpPr bwMode="auto">
              <a:xfrm>
                <a:off x="2001" y="2777"/>
                <a:ext cx="203" cy="327"/>
                <a:chOff x="2001" y="2781"/>
                <a:chExt cx="203" cy="327"/>
              </a:xfrm>
            </p:grpSpPr>
            <p:sp>
              <p:nvSpPr>
                <p:cNvPr id="13397" name="Arc 42"/>
                <p:cNvSpPr>
                  <a:spLocks/>
                </p:cNvSpPr>
                <p:nvPr/>
              </p:nvSpPr>
              <p:spPr bwMode="auto">
                <a:xfrm>
                  <a:off x="2001" y="2974"/>
                  <a:ext cx="203" cy="108"/>
                </a:xfrm>
                <a:custGeom>
                  <a:avLst/>
                  <a:gdLst>
                    <a:gd name="T0" fmla="*/ 0 w 35996"/>
                    <a:gd name="T1" fmla="*/ 0 h 21600"/>
                    <a:gd name="T2" fmla="*/ 0 w 35996"/>
                    <a:gd name="T3" fmla="*/ 0 h 21600"/>
                    <a:gd name="T4" fmla="*/ 0 w 3599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5996"/>
                    <a:gd name="T10" fmla="*/ 0 h 21600"/>
                    <a:gd name="T11" fmla="*/ 35996 w 3599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5996" h="21600" fill="none" extrusionOk="0">
                      <a:moveTo>
                        <a:pt x="35996" y="15393"/>
                      </a:moveTo>
                      <a:cubicBezTo>
                        <a:pt x="31955" y="19370"/>
                        <a:pt x="26512" y="21599"/>
                        <a:pt x="20843" y="21600"/>
                      </a:cubicBezTo>
                      <a:cubicBezTo>
                        <a:pt x="11096" y="21600"/>
                        <a:pt x="2558" y="15073"/>
                        <a:pt x="0" y="5668"/>
                      </a:cubicBezTo>
                    </a:path>
                    <a:path w="35996" h="21600" stroke="0" extrusionOk="0">
                      <a:moveTo>
                        <a:pt x="35996" y="15393"/>
                      </a:moveTo>
                      <a:cubicBezTo>
                        <a:pt x="31955" y="19370"/>
                        <a:pt x="26512" y="21599"/>
                        <a:pt x="20843" y="21600"/>
                      </a:cubicBezTo>
                      <a:cubicBezTo>
                        <a:pt x="11096" y="21600"/>
                        <a:pt x="2558" y="15073"/>
                        <a:pt x="0" y="5668"/>
                      </a:cubicBezTo>
                      <a:lnTo>
                        <a:pt x="20843" y="0"/>
                      </a:lnTo>
                      <a:lnTo>
                        <a:pt x="35996" y="15393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algn="l"/>
                  <a:endParaRPr kumimoji="0" lang="zh-CN" altLang="en-US" sz="2000" i="1" baseline="-10000">
                    <a:solidFill>
                      <a:srgbClr val="333333"/>
                    </a:solidFill>
                    <a:latin typeface="ISOCPEUR" pitchFamily="34" charset="0"/>
                    <a:sym typeface="Symbol" pitchFamily="18" charset="2"/>
                  </a:endParaRPr>
                </a:p>
              </p:txBody>
            </p:sp>
            <p:sp>
              <p:nvSpPr>
                <p:cNvPr id="13398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2022" y="2781"/>
                  <a:ext cx="1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 type="none" w="sm" len="lg"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800" b="0">
                      <a:solidFill>
                        <a:srgbClr val="333333"/>
                      </a:solidFill>
                      <a:sym typeface="Symbol" pitchFamily="18" charset="2"/>
                    </a:rPr>
                    <a:t>.</a:t>
                  </a:r>
                </a:p>
              </p:txBody>
            </p:sp>
          </p:grpSp>
        </p:grpSp>
      </p:grp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5686425" y="4137025"/>
            <a:ext cx="2047875" cy="1763713"/>
            <a:chOff x="4200" y="2073"/>
            <a:chExt cx="1290" cy="1111"/>
          </a:xfrm>
        </p:grpSpPr>
        <p:sp>
          <p:nvSpPr>
            <p:cNvPr id="13371" name="Line 45"/>
            <p:cNvSpPr>
              <a:spLocks noChangeShapeType="1"/>
            </p:cNvSpPr>
            <p:nvPr/>
          </p:nvSpPr>
          <p:spPr bwMode="auto">
            <a:xfrm>
              <a:off x="4200" y="2750"/>
              <a:ext cx="1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72" name="Line 46"/>
            <p:cNvSpPr>
              <a:spLocks noChangeShapeType="1"/>
            </p:cNvSpPr>
            <p:nvPr/>
          </p:nvSpPr>
          <p:spPr bwMode="auto">
            <a:xfrm>
              <a:off x="4558" y="2247"/>
              <a:ext cx="488" cy="323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73" name="Line 47"/>
            <p:cNvSpPr>
              <a:spLocks noChangeShapeType="1"/>
            </p:cNvSpPr>
            <p:nvPr/>
          </p:nvSpPr>
          <p:spPr bwMode="auto">
            <a:xfrm flipH="1">
              <a:off x="4679" y="2234"/>
              <a:ext cx="187" cy="3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74" name="Line 48"/>
            <p:cNvSpPr>
              <a:spLocks noChangeShapeType="1"/>
            </p:cNvSpPr>
            <p:nvPr/>
          </p:nvSpPr>
          <p:spPr bwMode="auto">
            <a:xfrm>
              <a:off x="4776" y="2390"/>
              <a:ext cx="0" cy="6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75" name="Line 49"/>
            <p:cNvSpPr>
              <a:spLocks noChangeShapeType="1"/>
            </p:cNvSpPr>
            <p:nvPr/>
          </p:nvSpPr>
          <p:spPr bwMode="auto">
            <a:xfrm>
              <a:off x="4566" y="2252"/>
              <a:ext cx="0" cy="8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76" name="Line 50"/>
            <p:cNvSpPr>
              <a:spLocks noChangeShapeType="1"/>
            </p:cNvSpPr>
            <p:nvPr/>
          </p:nvSpPr>
          <p:spPr bwMode="auto">
            <a:xfrm>
              <a:off x="5040" y="2564"/>
              <a:ext cx="0" cy="3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77" name="Line 51"/>
            <p:cNvSpPr>
              <a:spLocks noChangeShapeType="1"/>
            </p:cNvSpPr>
            <p:nvPr/>
          </p:nvSpPr>
          <p:spPr bwMode="auto">
            <a:xfrm>
              <a:off x="4866" y="2236"/>
              <a:ext cx="0" cy="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78" name="Line 52"/>
            <p:cNvSpPr>
              <a:spLocks noChangeShapeType="1"/>
            </p:cNvSpPr>
            <p:nvPr/>
          </p:nvSpPr>
          <p:spPr bwMode="auto">
            <a:xfrm>
              <a:off x="4686" y="2546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79" name="Line 53"/>
            <p:cNvSpPr>
              <a:spLocks noChangeShapeType="1"/>
            </p:cNvSpPr>
            <p:nvPr/>
          </p:nvSpPr>
          <p:spPr bwMode="auto">
            <a:xfrm flipH="1">
              <a:off x="4563" y="2860"/>
              <a:ext cx="477" cy="275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80" name="Line 54"/>
            <p:cNvSpPr>
              <a:spLocks noChangeShapeType="1"/>
            </p:cNvSpPr>
            <p:nvPr/>
          </p:nvSpPr>
          <p:spPr bwMode="auto">
            <a:xfrm>
              <a:off x="4688" y="2864"/>
              <a:ext cx="180" cy="3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grpSp>
          <p:nvGrpSpPr>
            <p:cNvPr id="13381" name="Group 55"/>
            <p:cNvGrpSpPr>
              <a:grpSpLocks/>
            </p:cNvGrpSpPr>
            <p:nvPr/>
          </p:nvGrpSpPr>
          <p:grpSpPr bwMode="auto">
            <a:xfrm>
              <a:off x="4655" y="2857"/>
              <a:ext cx="191" cy="327"/>
              <a:chOff x="4655" y="2861"/>
              <a:chExt cx="191" cy="327"/>
            </a:xfrm>
          </p:grpSpPr>
          <p:sp>
            <p:nvSpPr>
              <p:cNvPr id="13385" name="Arc 56"/>
              <p:cNvSpPr>
                <a:spLocks/>
              </p:cNvSpPr>
              <p:nvPr/>
            </p:nvSpPr>
            <p:spPr bwMode="auto">
              <a:xfrm>
                <a:off x="4655" y="3045"/>
                <a:ext cx="189" cy="116"/>
              </a:xfrm>
              <a:custGeom>
                <a:avLst/>
                <a:gdLst>
                  <a:gd name="T0" fmla="*/ 0 w 37675"/>
                  <a:gd name="T1" fmla="*/ 0 h 21600"/>
                  <a:gd name="T2" fmla="*/ 0 w 37675"/>
                  <a:gd name="T3" fmla="*/ 0 h 21600"/>
                  <a:gd name="T4" fmla="*/ 0 w 376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7675"/>
                  <a:gd name="T10" fmla="*/ 0 h 21600"/>
                  <a:gd name="T11" fmla="*/ 37675 w 376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675" h="21600" fill="none" extrusionOk="0">
                    <a:moveTo>
                      <a:pt x="37674" y="13098"/>
                    </a:moveTo>
                    <a:cubicBezTo>
                      <a:pt x="33589" y="18456"/>
                      <a:pt x="27237" y="21599"/>
                      <a:pt x="20500" y="21600"/>
                    </a:cubicBezTo>
                    <a:cubicBezTo>
                      <a:pt x="11192" y="21600"/>
                      <a:pt x="2931" y="15637"/>
                      <a:pt x="-1" y="6804"/>
                    </a:cubicBezTo>
                  </a:path>
                  <a:path w="37675" h="21600" stroke="0" extrusionOk="0">
                    <a:moveTo>
                      <a:pt x="37674" y="13098"/>
                    </a:moveTo>
                    <a:cubicBezTo>
                      <a:pt x="33589" y="18456"/>
                      <a:pt x="27237" y="21599"/>
                      <a:pt x="20500" y="21600"/>
                    </a:cubicBezTo>
                    <a:cubicBezTo>
                      <a:pt x="11192" y="21600"/>
                      <a:pt x="2931" y="15637"/>
                      <a:pt x="-1" y="6804"/>
                    </a:cubicBezTo>
                    <a:lnTo>
                      <a:pt x="20500" y="0"/>
                    </a:lnTo>
                    <a:lnTo>
                      <a:pt x="37674" y="13098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3386" name="Text Box 57"/>
              <p:cNvSpPr txBox="1">
                <a:spLocks noChangeArrowheads="1"/>
              </p:cNvSpPr>
              <p:nvPr/>
            </p:nvSpPr>
            <p:spPr bwMode="auto">
              <a:xfrm>
                <a:off x="4674" y="2861"/>
                <a:ext cx="1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800" b="0">
                    <a:solidFill>
                      <a:srgbClr val="333333"/>
                    </a:solidFill>
                    <a:sym typeface="Symbol" pitchFamily="18" charset="2"/>
                  </a:rPr>
                  <a:t>.</a:t>
                </a:r>
              </a:p>
            </p:txBody>
          </p:sp>
        </p:grpSp>
        <p:grpSp>
          <p:nvGrpSpPr>
            <p:cNvPr id="13382" name="Group 58"/>
            <p:cNvGrpSpPr>
              <a:grpSpLocks/>
            </p:cNvGrpSpPr>
            <p:nvPr/>
          </p:nvGrpSpPr>
          <p:grpSpPr bwMode="auto">
            <a:xfrm>
              <a:off x="4655" y="2073"/>
              <a:ext cx="196" cy="327"/>
              <a:chOff x="4655" y="2077"/>
              <a:chExt cx="196" cy="327"/>
            </a:xfrm>
          </p:grpSpPr>
          <p:sp>
            <p:nvSpPr>
              <p:cNvPr id="13383" name="Arc 59"/>
              <p:cNvSpPr>
                <a:spLocks/>
              </p:cNvSpPr>
              <p:nvPr/>
            </p:nvSpPr>
            <p:spPr bwMode="auto">
              <a:xfrm>
                <a:off x="4655" y="2253"/>
                <a:ext cx="196" cy="116"/>
              </a:xfrm>
              <a:custGeom>
                <a:avLst/>
                <a:gdLst>
                  <a:gd name="T0" fmla="*/ 0 w 33062"/>
                  <a:gd name="T1" fmla="*/ 0 h 21600"/>
                  <a:gd name="T2" fmla="*/ 0 w 33062"/>
                  <a:gd name="T3" fmla="*/ 0 h 21600"/>
                  <a:gd name="T4" fmla="*/ 0 w 3306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3062"/>
                  <a:gd name="T10" fmla="*/ 0 h 21600"/>
                  <a:gd name="T11" fmla="*/ 33062 w 3306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062" h="21600" fill="none" extrusionOk="0">
                    <a:moveTo>
                      <a:pt x="0" y="10562"/>
                    </a:moveTo>
                    <a:cubicBezTo>
                      <a:pt x="3893" y="4013"/>
                      <a:pt x="10948" y="-1"/>
                      <a:pt x="18567" y="0"/>
                    </a:cubicBezTo>
                    <a:cubicBezTo>
                      <a:pt x="23924" y="0"/>
                      <a:pt x="29090" y="1990"/>
                      <a:pt x="33062" y="5585"/>
                    </a:cubicBezTo>
                  </a:path>
                  <a:path w="33062" h="21600" stroke="0" extrusionOk="0">
                    <a:moveTo>
                      <a:pt x="0" y="10562"/>
                    </a:moveTo>
                    <a:cubicBezTo>
                      <a:pt x="3893" y="4013"/>
                      <a:pt x="10948" y="-1"/>
                      <a:pt x="18567" y="0"/>
                    </a:cubicBezTo>
                    <a:cubicBezTo>
                      <a:pt x="23924" y="0"/>
                      <a:pt x="29090" y="1990"/>
                      <a:pt x="33062" y="5585"/>
                    </a:cubicBezTo>
                    <a:lnTo>
                      <a:pt x="18567" y="21600"/>
                    </a:lnTo>
                    <a:lnTo>
                      <a:pt x="0" y="10562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3384" name="Text Box 60"/>
              <p:cNvSpPr txBox="1">
                <a:spLocks noChangeArrowheads="1"/>
              </p:cNvSpPr>
              <p:nvPr/>
            </p:nvSpPr>
            <p:spPr bwMode="auto">
              <a:xfrm>
                <a:off x="4674" y="2077"/>
                <a:ext cx="1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800" b="0">
                    <a:solidFill>
                      <a:srgbClr val="333333"/>
                    </a:solidFill>
                    <a:sym typeface="Symbol" pitchFamily="18" charset="2"/>
                  </a:rPr>
                  <a:t>.</a:t>
                </a:r>
              </a:p>
            </p:txBody>
          </p:sp>
        </p:grpSp>
      </p:grpSp>
      <p:sp>
        <p:nvSpPr>
          <p:cNvPr id="113726" name="Text Box 62"/>
          <p:cNvSpPr txBox="1">
            <a:spLocks noChangeArrowheads="1"/>
          </p:cNvSpPr>
          <p:nvPr/>
        </p:nvSpPr>
        <p:spPr bwMode="auto">
          <a:xfrm>
            <a:off x="1914525" y="5964238"/>
            <a:ext cx="663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>
                <a:solidFill>
                  <a:srgbClr val="333333"/>
                </a:solidFill>
                <a:sym typeface="Symbol" pitchFamily="18" charset="2"/>
              </a:rPr>
              <a:t> ()</a:t>
            </a:r>
          </a:p>
        </p:txBody>
      </p:sp>
      <p:sp>
        <p:nvSpPr>
          <p:cNvPr id="113727" name="Text Box 63"/>
          <p:cNvSpPr txBox="1">
            <a:spLocks noChangeArrowheads="1"/>
          </p:cNvSpPr>
          <p:nvPr/>
        </p:nvSpPr>
        <p:spPr bwMode="auto">
          <a:xfrm>
            <a:off x="3975100" y="5986463"/>
            <a:ext cx="663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>
                <a:solidFill>
                  <a:srgbClr val="333333"/>
                </a:solidFill>
                <a:sym typeface="Symbol" pitchFamily="18" charset="2"/>
              </a:rPr>
              <a:t> ()</a:t>
            </a:r>
          </a:p>
        </p:txBody>
      </p:sp>
      <p:sp>
        <p:nvSpPr>
          <p:cNvPr id="113728" name="Text Box 64"/>
          <p:cNvSpPr txBox="1">
            <a:spLocks noChangeArrowheads="1"/>
          </p:cNvSpPr>
          <p:nvPr/>
        </p:nvSpPr>
        <p:spPr bwMode="auto">
          <a:xfrm>
            <a:off x="6324600" y="6002338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>
                <a:solidFill>
                  <a:srgbClr val="333333"/>
                </a:solidFill>
                <a:sym typeface="Monotype Sorts" pitchFamily="2" charset="2"/>
              </a:rPr>
              <a:t>(</a:t>
            </a:r>
            <a:r>
              <a:rPr kumimoji="0" lang="en-US" altLang="zh-CN" sz="1600">
                <a:solidFill>
                  <a:srgbClr val="333333"/>
                </a:solidFill>
                <a:sym typeface="Monotype Sorts" pitchFamily="2" charset="2"/>
              </a:rPr>
              <a:t>╳</a:t>
            </a:r>
            <a:r>
              <a:rPr kumimoji="0" lang="en-US" altLang="zh-CN" sz="2400" b="0">
                <a:solidFill>
                  <a:srgbClr val="333333"/>
                </a:solidFill>
                <a:sym typeface="Monotype Sorts" pitchFamily="2" charset="2"/>
              </a:rPr>
              <a:t>)</a:t>
            </a:r>
          </a:p>
        </p:txBody>
      </p:sp>
      <p:grpSp>
        <p:nvGrpSpPr>
          <p:cNvPr id="8" name="Group 66"/>
          <p:cNvGrpSpPr>
            <a:grpSpLocks/>
          </p:cNvGrpSpPr>
          <p:nvPr/>
        </p:nvGrpSpPr>
        <p:grpSpPr bwMode="auto">
          <a:xfrm>
            <a:off x="3457575" y="4159250"/>
            <a:ext cx="1866900" cy="1981200"/>
            <a:chOff x="2796" y="2087"/>
            <a:chExt cx="1176" cy="1248"/>
          </a:xfrm>
        </p:grpSpPr>
        <p:sp>
          <p:nvSpPr>
            <p:cNvPr id="13358" name="Line 67"/>
            <p:cNvSpPr>
              <a:spLocks noChangeShapeType="1"/>
            </p:cNvSpPr>
            <p:nvPr/>
          </p:nvSpPr>
          <p:spPr bwMode="auto">
            <a:xfrm>
              <a:off x="2796" y="2750"/>
              <a:ext cx="11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grpSp>
          <p:nvGrpSpPr>
            <p:cNvPr id="13359" name="Group 68"/>
            <p:cNvGrpSpPr>
              <a:grpSpLocks/>
            </p:cNvGrpSpPr>
            <p:nvPr/>
          </p:nvGrpSpPr>
          <p:grpSpPr bwMode="auto">
            <a:xfrm>
              <a:off x="2988" y="2087"/>
              <a:ext cx="636" cy="1248"/>
              <a:chOff x="2988" y="2087"/>
              <a:chExt cx="636" cy="1248"/>
            </a:xfrm>
          </p:grpSpPr>
          <p:sp>
            <p:nvSpPr>
              <p:cNvPr id="13360" name="Line 69"/>
              <p:cNvSpPr>
                <a:spLocks noChangeShapeType="1"/>
              </p:cNvSpPr>
              <p:nvPr/>
            </p:nvSpPr>
            <p:spPr bwMode="auto">
              <a:xfrm>
                <a:off x="2988" y="2954"/>
                <a:ext cx="636" cy="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3361" name="Line 70"/>
              <p:cNvSpPr>
                <a:spLocks noChangeShapeType="1"/>
              </p:cNvSpPr>
              <p:nvPr/>
            </p:nvSpPr>
            <p:spPr bwMode="auto">
              <a:xfrm flipV="1">
                <a:off x="2988" y="2102"/>
                <a:ext cx="0" cy="8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3362" name="Line 71"/>
              <p:cNvSpPr>
                <a:spLocks noChangeShapeType="1"/>
              </p:cNvSpPr>
              <p:nvPr/>
            </p:nvSpPr>
            <p:spPr bwMode="auto">
              <a:xfrm flipV="1">
                <a:off x="3618" y="2684"/>
                <a:ext cx="0" cy="2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3363" name="Line 72"/>
              <p:cNvSpPr>
                <a:spLocks noChangeShapeType="1"/>
              </p:cNvSpPr>
              <p:nvPr/>
            </p:nvSpPr>
            <p:spPr bwMode="auto">
              <a:xfrm flipH="1" flipV="1">
                <a:off x="2988" y="2102"/>
                <a:ext cx="626" cy="59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grpSp>
            <p:nvGrpSpPr>
              <p:cNvPr id="13364" name="Group 73"/>
              <p:cNvGrpSpPr>
                <a:grpSpLocks/>
              </p:cNvGrpSpPr>
              <p:nvPr/>
            </p:nvGrpSpPr>
            <p:grpSpPr bwMode="auto">
              <a:xfrm>
                <a:off x="3209" y="2087"/>
                <a:ext cx="209" cy="327"/>
                <a:chOff x="3209" y="2079"/>
                <a:chExt cx="209" cy="327"/>
              </a:xfrm>
            </p:grpSpPr>
            <p:sp>
              <p:nvSpPr>
                <p:cNvPr id="13369" name="Arc 74"/>
                <p:cNvSpPr>
                  <a:spLocks/>
                </p:cNvSpPr>
                <p:nvPr/>
              </p:nvSpPr>
              <p:spPr bwMode="auto">
                <a:xfrm>
                  <a:off x="3209" y="2253"/>
                  <a:ext cx="209" cy="125"/>
                </a:xfrm>
                <a:custGeom>
                  <a:avLst/>
                  <a:gdLst>
                    <a:gd name="T0" fmla="*/ 0 w 33782"/>
                    <a:gd name="T1" fmla="*/ 0 h 21600"/>
                    <a:gd name="T2" fmla="*/ 0 w 33782"/>
                    <a:gd name="T3" fmla="*/ 0 h 21600"/>
                    <a:gd name="T4" fmla="*/ 0 w 3378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3782"/>
                    <a:gd name="T10" fmla="*/ 0 h 21600"/>
                    <a:gd name="T11" fmla="*/ 33782 w 3378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3782" h="21600" fill="none" extrusionOk="0">
                      <a:moveTo>
                        <a:pt x="-1" y="9464"/>
                      </a:moveTo>
                      <a:cubicBezTo>
                        <a:pt x="4020" y="3544"/>
                        <a:pt x="10712" y="-1"/>
                        <a:pt x="17869" y="0"/>
                      </a:cubicBezTo>
                      <a:cubicBezTo>
                        <a:pt x="23918" y="0"/>
                        <a:pt x="29691" y="2537"/>
                        <a:pt x="33782" y="6993"/>
                      </a:cubicBezTo>
                    </a:path>
                    <a:path w="33782" h="21600" stroke="0" extrusionOk="0">
                      <a:moveTo>
                        <a:pt x="-1" y="9464"/>
                      </a:moveTo>
                      <a:cubicBezTo>
                        <a:pt x="4020" y="3544"/>
                        <a:pt x="10712" y="-1"/>
                        <a:pt x="17869" y="0"/>
                      </a:cubicBezTo>
                      <a:cubicBezTo>
                        <a:pt x="23918" y="0"/>
                        <a:pt x="29691" y="2537"/>
                        <a:pt x="33782" y="6993"/>
                      </a:cubicBezTo>
                      <a:lnTo>
                        <a:pt x="17869" y="21600"/>
                      </a:lnTo>
                      <a:lnTo>
                        <a:pt x="-1" y="9464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algn="l"/>
                  <a:endParaRPr kumimoji="0" lang="zh-CN" altLang="en-US" sz="2000" i="1" baseline="-10000">
                    <a:solidFill>
                      <a:srgbClr val="333333"/>
                    </a:solidFill>
                    <a:latin typeface="ISOCPEUR" pitchFamily="34" charset="0"/>
                    <a:sym typeface="Symbol" pitchFamily="18" charset="2"/>
                  </a:endParaRPr>
                </a:p>
              </p:txBody>
            </p:sp>
            <p:sp>
              <p:nvSpPr>
                <p:cNvPr id="13370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3228" y="2079"/>
                  <a:ext cx="1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 type="none" w="sm" len="lg"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800" b="0">
                      <a:solidFill>
                        <a:srgbClr val="333333"/>
                      </a:solidFill>
                      <a:sym typeface="Symbol" pitchFamily="18" charset="2"/>
                    </a:rPr>
                    <a:t>.</a:t>
                  </a:r>
                </a:p>
              </p:txBody>
            </p:sp>
          </p:grpSp>
          <p:sp>
            <p:nvSpPr>
              <p:cNvPr id="13365" name="Line 76"/>
              <p:cNvSpPr>
                <a:spLocks noChangeShapeType="1"/>
              </p:cNvSpPr>
              <p:nvPr/>
            </p:nvSpPr>
            <p:spPr bwMode="auto">
              <a:xfrm flipH="1">
                <a:off x="3312" y="2402"/>
                <a:ext cx="0" cy="5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3366" name="Line 77"/>
              <p:cNvSpPr>
                <a:spLocks noChangeShapeType="1"/>
              </p:cNvSpPr>
              <p:nvPr/>
            </p:nvSpPr>
            <p:spPr bwMode="auto">
              <a:xfrm flipV="1">
                <a:off x="3312" y="2174"/>
                <a:ext cx="222" cy="2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3367" name="Line 78"/>
              <p:cNvSpPr>
                <a:spLocks noChangeShapeType="1"/>
              </p:cNvSpPr>
              <p:nvPr/>
            </p:nvSpPr>
            <p:spPr bwMode="auto">
              <a:xfrm>
                <a:off x="3528" y="2186"/>
                <a:ext cx="0" cy="1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3368" name="Line 79"/>
              <p:cNvSpPr>
                <a:spLocks noChangeShapeType="1"/>
              </p:cNvSpPr>
              <p:nvPr/>
            </p:nvSpPr>
            <p:spPr bwMode="auto">
              <a:xfrm>
                <a:off x="3311" y="2951"/>
                <a:ext cx="217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</p:grpSp>
      </p:grpSp>
      <p:sp>
        <p:nvSpPr>
          <p:cNvPr id="113746" name="Text Box 82"/>
          <p:cNvSpPr txBox="1">
            <a:spLocks noChangeArrowheads="1"/>
          </p:cNvSpPr>
          <p:nvPr/>
        </p:nvSpPr>
        <p:spPr bwMode="auto">
          <a:xfrm>
            <a:off x="188913" y="3392488"/>
            <a:ext cx="4449762" cy="4953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33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例：判断下列直线是否垂直？</a:t>
            </a:r>
          </a:p>
        </p:txBody>
      </p:sp>
      <p:sp>
        <p:nvSpPr>
          <p:cNvPr id="113747" name="Text Box 83"/>
          <p:cNvSpPr txBox="1">
            <a:spLocks noChangeArrowheads="1"/>
          </p:cNvSpPr>
          <p:nvPr/>
        </p:nvSpPr>
        <p:spPr bwMode="auto">
          <a:xfrm>
            <a:off x="176213" y="203200"/>
            <a:ext cx="4675187" cy="12493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推论</a:t>
            </a:r>
            <a:r>
              <a:rPr kumimoji="0" lang="en-US" altLang="zh-CN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</a:t>
            </a:r>
            <a:r>
              <a:rPr kumimoji="0"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：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若一直角的投影为直角，则被投影角至少有一边平行于该投影面。</a:t>
            </a:r>
          </a:p>
        </p:txBody>
      </p:sp>
      <p:grpSp>
        <p:nvGrpSpPr>
          <p:cNvPr id="11" name="Group 113"/>
          <p:cNvGrpSpPr>
            <a:grpSpLocks/>
          </p:cNvGrpSpPr>
          <p:nvPr/>
        </p:nvGrpSpPr>
        <p:grpSpPr bwMode="auto">
          <a:xfrm>
            <a:off x="4778375" y="296863"/>
            <a:ext cx="3619500" cy="2549525"/>
            <a:chOff x="3145" y="100"/>
            <a:chExt cx="2280" cy="1606"/>
          </a:xfrm>
        </p:grpSpPr>
        <p:sp>
          <p:nvSpPr>
            <p:cNvPr id="13329" name="Freeform 84"/>
            <p:cNvSpPr>
              <a:spLocks/>
            </p:cNvSpPr>
            <p:nvPr/>
          </p:nvSpPr>
          <p:spPr bwMode="auto">
            <a:xfrm>
              <a:off x="3145" y="1102"/>
              <a:ext cx="2280" cy="588"/>
            </a:xfrm>
            <a:custGeom>
              <a:avLst/>
              <a:gdLst>
                <a:gd name="T0" fmla="*/ 688 w 2274"/>
                <a:gd name="T1" fmla="*/ 0 h 678"/>
                <a:gd name="T2" fmla="*/ 2286 w 2274"/>
                <a:gd name="T3" fmla="*/ 0 h 678"/>
                <a:gd name="T4" fmla="*/ 1598 w 2274"/>
                <a:gd name="T5" fmla="*/ 510 h 678"/>
                <a:gd name="T6" fmla="*/ 0 w 2274"/>
                <a:gd name="T7" fmla="*/ 510 h 678"/>
                <a:gd name="T8" fmla="*/ 688 w 2274"/>
                <a:gd name="T9" fmla="*/ 0 h 6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4"/>
                <a:gd name="T16" fmla="*/ 0 h 678"/>
                <a:gd name="T17" fmla="*/ 2274 w 2274"/>
                <a:gd name="T18" fmla="*/ 678 h 6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4" h="678">
                  <a:moveTo>
                    <a:pt x="684" y="0"/>
                  </a:moveTo>
                  <a:lnTo>
                    <a:pt x="2274" y="0"/>
                  </a:lnTo>
                  <a:lnTo>
                    <a:pt x="1590" y="678"/>
                  </a:lnTo>
                  <a:lnTo>
                    <a:pt x="0" y="678"/>
                  </a:lnTo>
                  <a:lnTo>
                    <a:pt x="684" y="0"/>
                  </a:lnTo>
                  <a:close/>
                </a:path>
              </a:pathLst>
            </a:custGeom>
            <a:solidFill>
              <a:srgbClr val="B3E1B3">
                <a:alpha val="56078"/>
              </a:srgbClr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30" name="Freeform 85"/>
            <p:cNvSpPr>
              <a:spLocks/>
            </p:cNvSpPr>
            <p:nvPr/>
          </p:nvSpPr>
          <p:spPr bwMode="auto">
            <a:xfrm>
              <a:off x="3699" y="106"/>
              <a:ext cx="684" cy="1584"/>
            </a:xfrm>
            <a:custGeom>
              <a:avLst/>
              <a:gdLst>
                <a:gd name="T0" fmla="*/ 6 w 684"/>
                <a:gd name="T1" fmla="*/ 1584 h 1584"/>
                <a:gd name="T2" fmla="*/ 0 w 684"/>
                <a:gd name="T3" fmla="*/ 576 h 1584"/>
                <a:gd name="T4" fmla="*/ 684 w 684"/>
                <a:gd name="T5" fmla="*/ 0 h 1584"/>
                <a:gd name="T6" fmla="*/ 684 w 684"/>
                <a:gd name="T7" fmla="*/ 996 h 1584"/>
                <a:gd name="T8" fmla="*/ 6 w 684"/>
                <a:gd name="T9" fmla="*/ 1584 h 15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84"/>
                <a:gd name="T16" fmla="*/ 0 h 1584"/>
                <a:gd name="T17" fmla="*/ 684 w 684"/>
                <a:gd name="T18" fmla="*/ 1584 h 15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84" h="1584">
                  <a:moveTo>
                    <a:pt x="6" y="1584"/>
                  </a:moveTo>
                  <a:lnTo>
                    <a:pt x="0" y="576"/>
                  </a:lnTo>
                  <a:lnTo>
                    <a:pt x="684" y="0"/>
                  </a:lnTo>
                  <a:lnTo>
                    <a:pt x="684" y="996"/>
                  </a:lnTo>
                  <a:lnTo>
                    <a:pt x="6" y="1584"/>
                  </a:lnTo>
                  <a:close/>
                </a:path>
              </a:pathLst>
            </a:custGeom>
            <a:solidFill>
              <a:srgbClr val="000000">
                <a:alpha val="30196"/>
              </a:srgbClr>
            </a:solidFill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31" name="Line 86"/>
            <p:cNvSpPr>
              <a:spLocks noChangeShapeType="1"/>
            </p:cNvSpPr>
            <p:nvPr/>
          </p:nvSpPr>
          <p:spPr bwMode="auto">
            <a:xfrm flipH="1">
              <a:off x="3903" y="844"/>
              <a:ext cx="150" cy="4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32" name="Text Box 87"/>
            <p:cNvSpPr txBox="1">
              <a:spLocks noChangeArrowheads="1"/>
            </p:cNvSpPr>
            <p:nvPr/>
          </p:nvSpPr>
          <p:spPr bwMode="auto">
            <a:xfrm>
              <a:off x="5004" y="1058"/>
              <a:ext cx="2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H</a:t>
              </a:r>
            </a:p>
          </p:txBody>
        </p:sp>
        <p:sp>
          <p:nvSpPr>
            <p:cNvPr id="13333" name="Text Box 88"/>
            <p:cNvSpPr txBox="1">
              <a:spLocks noChangeArrowheads="1"/>
            </p:cNvSpPr>
            <p:nvPr/>
          </p:nvSpPr>
          <p:spPr bwMode="auto">
            <a:xfrm>
              <a:off x="3686" y="1136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i="1">
                  <a:solidFill>
                    <a:srgbClr val="FF3300"/>
                  </a:solidFill>
                  <a:latin typeface="ISOCPEUR" pitchFamily="34" charset="0"/>
                  <a:sym typeface="Symbol" pitchFamily="18" charset="2"/>
                </a:rPr>
                <a:t>A</a:t>
              </a:r>
              <a:endParaRPr kumimoji="0" lang="en-US" altLang="zh-CN" sz="2400" b="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34" name="Text Box 89"/>
            <p:cNvSpPr txBox="1">
              <a:spLocks noChangeArrowheads="1"/>
            </p:cNvSpPr>
            <p:nvPr/>
          </p:nvSpPr>
          <p:spPr bwMode="auto">
            <a:xfrm>
              <a:off x="4757" y="612"/>
              <a:ext cx="2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i="1">
                  <a:solidFill>
                    <a:srgbClr val="FF3300"/>
                  </a:solidFill>
                  <a:latin typeface="ISOCPEUR" pitchFamily="34" charset="0"/>
                  <a:sym typeface="Symbol" pitchFamily="18" charset="2"/>
                </a:rPr>
                <a:t>C</a:t>
              </a:r>
              <a:endParaRPr kumimoji="0" lang="en-US" altLang="zh-CN" sz="2400" b="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35" name="Text Box 90"/>
            <p:cNvSpPr txBox="1">
              <a:spLocks noChangeArrowheads="1"/>
            </p:cNvSpPr>
            <p:nvPr/>
          </p:nvSpPr>
          <p:spPr bwMode="auto">
            <a:xfrm>
              <a:off x="3817" y="1418"/>
              <a:ext cx="2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a</a:t>
              </a:r>
              <a:endParaRPr kumimoji="0"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36" name="Line 91"/>
            <p:cNvSpPr>
              <a:spLocks noChangeShapeType="1"/>
            </p:cNvSpPr>
            <p:nvPr/>
          </p:nvSpPr>
          <p:spPr bwMode="auto">
            <a:xfrm>
              <a:off x="3903" y="1246"/>
              <a:ext cx="0" cy="26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37" name="Line 92"/>
            <p:cNvSpPr>
              <a:spLocks noChangeShapeType="1"/>
            </p:cNvSpPr>
            <p:nvPr/>
          </p:nvSpPr>
          <p:spPr bwMode="auto">
            <a:xfrm>
              <a:off x="4789" y="840"/>
              <a:ext cx="0" cy="54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38" name="Text Box 93"/>
            <p:cNvSpPr txBox="1">
              <a:spLocks noChangeArrowheads="1"/>
            </p:cNvSpPr>
            <p:nvPr/>
          </p:nvSpPr>
          <p:spPr bwMode="auto">
            <a:xfrm>
              <a:off x="4731" y="1172"/>
              <a:ext cx="27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c </a:t>
              </a:r>
            </a:p>
          </p:txBody>
        </p:sp>
        <p:sp>
          <p:nvSpPr>
            <p:cNvPr id="13339" name="Line 94"/>
            <p:cNvSpPr>
              <a:spLocks noChangeShapeType="1"/>
            </p:cNvSpPr>
            <p:nvPr/>
          </p:nvSpPr>
          <p:spPr bwMode="auto">
            <a:xfrm flipV="1">
              <a:off x="3901" y="1388"/>
              <a:ext cx="152" cy="1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40" name="Line 95"/>
            <p:cNvSpPr>
              <a:spLocks noChangeShapeType="1"/>
            </p:cNvSpPr>
            <p:nvPr/>
          </p:nvSpPr>
          <p:spPr bwMode="auto">
            <a:xfrm>
              <a:off x="4053" y="1388"/>
              <a:ext cx="740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41" name="Text Box 96"/>
            <p:cNvSpPr txBox="1">
              <a:spLocks noChangeArrowheads="1"/>
            </p:cNvSpPr>
            <p:nvPr/>
          </p:nvSpPr>
          <p:spPr bwMode="auto">
            <a:xfrm>
              <a:off x="4186" y="182"/>
              <a:ext cx="2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Q</a:t>
              </a:r>
            </a:p>
          </p:txBody>
        </p:sp>
        <p:sp>
          <p:nvSpPr>
            <p:cNvPr id="13342" name="Line 97"/>
            <p:cNvSpPr>
              <a:spLocks noChangeShapeType="1"/>
            </p:cNvSpPr>
            <p:nvPr/>
          </p:nvSpPr>
          <p:spPr bwMode="auto">
            <a:xfrm>
              <a:off x="4056" y="844"/>
              <a:ext cx="0" cy="5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43" name="Line 98"/>
            <p:cNvSpPr>
              <a:spLocks noChangeShapeType="1"/>
            </p:cNvSpPr>
            <p:nvPr/>
          </p:nvSpPr>
          <p:spPr bwMode="auto">
            <a:xfrm flipV="1">
              <a:off x="4053" y="842"/>
              <a:ext cx="736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grpSp>
          <p:nvGrpSpPr>
            <p:cNvPr id="13344" name="Group 99"/>
            <p:cNvGrpSpPr>
              <a:grpSpLocks/>
            </p:cNvGrpSpPr>
            <p:nvPr/>
          </p:nvGrpSpPr>
          <p:grpSpPr bwMode="auto">
            <a:xfrm>
              <a:off x="4035" y="657"/>
              <a:ext cx="179" cy="327"/>
              <a:chOff x="4576" y="273"/>
              <a:chExt cx="179" cy="327"/>
            </a:xfrm>
          </p:grpSpPr>
          <p:sp>
            <p:nvSpPr>
              <p:cNvPr id="13356" name="Arc 100"/>
              <p:cNvSpPr>
                <a:spLocks/>
              </p:cNvSpPr>
              <p:nvPr/>
            </p:nvSpPr>
            <p:spPr bwMode="auto">
              <a:xfrm>
                <a:off x="4576" y="462"/>
                <a:ext cx="179" cy="108"/>
              </a:xfrm>
              <a:custGeom>
                <a:avLst/>
                <a:gdLst>
                  <a:gd name="T0" fmla="*/ 0 w 29686"/>
                  <a:gd name="T1" fmla="*/ 0 h 21600"/>
                  <a:gd name="T2" fmla="*/ 0 w 29686"/>
                  <a:gd name="T3" fmla="*/ 0 h 21600"/>
                  <a:gd name="T4" fmla="*/ 0 w 29686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9686"/>
                  <a:gd name="T10" fmla="*/ 0 h 21600"/>
                  <a:gd name="T11" fmla="*/ 29686 w 29686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686" h="21600" fill="none" extrusionOk="0">
                    <a:moveTo>
                      <a:pt x="29685" y="1087"/>
                    </a:moveTo>
                    <a:cubicBezTo>
                      <a:pt x="29106" y="12579"/>
                      <a:pt x="19619" y="21599"/>
                      <a:pt x="8113" y="21600"/>
                    </a:cubicBezTo>
                    <a:cubicBezTo>
                      <a:pt x="5332" y="21600"/>
                      <a:pt x="2577" y="21063"/>
                      <a:pt x="0" y="20018"/>
                    </a:cubicBezTo>
                  </a:path>
                  <a:path w="29686" h="21600" stroke="0" extrusionOk="0">
                    <a:moveTo>
                      <a:pt x="29685" y="1087"/>
                    </a:moveTo>
                    <a:cubicBezTo>
                      <a:pt x="29106" y="12579"/>
                      <a:pt x="19619" y="21599"/>
                      <a:pt x="8113" y="21600"/>
                    </a:cubicBezTo>
                    <a:cubicBezTo>
                      <a:pt x="5332" y="21600"/>
                      <a:pt x="2577" y="21063"/>
                      <a:pt x="0" y="20018"/>
                    </a:cubicBezTo>
                    <a:lnTo>
                      <a:pt x="8113" y="0"/>
                    </a:lnTo>
                    <a:lnTo>
                      <a:pt x="29685" y="1087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3357" name="Text Box 101"/>
              <p:cNvSpPr txBox="1">
                <a:spLocks noChangeArrowheads="1"/>
              </p:cNvSpPr>
              <p:nvPr/>
            </p:nvSpPr>
            <p:spPr bwMode="auto">
              <a:xfrm>
                <a:off x="4582" y="273"/>
                <a:ext cx="1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800" b="0">
                    <a:solidFill>
                      <a:srgbClr val="333333"/>
                    </a:solidFill>
                    <a:sym typeface="Symbol" pitchFamily="18" charset="2"/>
                  </a:rPr>
                  <a:t>.</a:t>
                </a:r>
                <a:endParaRPr kumimoji="0" lang="en-US" altLang="zh-CN" sz="2400" b="0">
                  <a:solidFill>
                    <a:srgbClr val="333333"/>
                  </a:solidFill>
                  <a:sym typeface="Symbol" pitchFamily="18" charset="2"/>
                </a:endParaRPr>
              </a:p>
            </p:txBody>
          </p:sp>
        </p:grpSp>
        <p:grpSp>
          <p:nvGrpSpPr>
            <p:cNvPr id="13345" name="Group 102"/>
            <p:cNvGrpSpPr>
              <a:grpSpLocks/>
            </p:cNvGrpSpPr>
            <p:nvPr/>
          </p:nvGrpSpPr>
          <p:grpSpPr bwMode="auto">
            <a:xfrm>
              <a:off x="4343" y="817"/>
              <a:ext cx="172" cy="327"/>
              <a:chOff x="4214" y="957"/>
              <a:chExt cx="172" cy="327"/>
            </a:xfrm>
          </p:grpSpPr>
          <p:sp>
            <p:nvSpPr>
              <p:cNvPr id="13354" name="Arc 103"/>
              <p:cNvSpPr>
                <a:spLocks/>
              </p:cNvSpPr>
              <p:nvPr/>
            </p:nvSpPr>
            <p:spPr bwMode="auto">
              <a:xfrm>
                <a:off x="4248" y="1128"/>
                <a:ext cx="128" cy="11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3355" name="Text Box 104"/>
              <p:cNvSpPr txBox="1">
                <a:spLocks noChangeArrowheads="1"/>
              </p:cNvSpPr>
              <p:nvPr/>
            </p:nvSpPr>
            <p:spPr bwMode="auto">
              <a:xfrm>
                <a:off x="4214" y="957"/>
                <a:ext cx="1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800" b="0">
                    <a:solidFill>
                      <a:srgbClr val="333333"/>
                    </a:solidFill>
                    <a:sym typeface="Symbol" pitchFamily="18" charset="2"/>
                  </a:rPr>
                  <a:t>.</a:t>
                </a:r>
              </a:p>
            </p:txBody>
          </p:sp>
        </p:grpSp>
        <p:grpSp>
          <p:nvGrpSpPr>
            <p:cNvPr id="13346" name="Group 105"/>
            <p:cNvGrpSpPr>
              <a:grpSpLocks/>
            </p:cNvGrpSpPr>
            <p:nvPr/>
          </p:nvGrpSpPr>
          <p:grpSpPr bwMode="auto">
            <a:xfrm>
              <a:off x="3969" y="1228"/>
              <a:ext cx="211" cy="288"/>
              <a:chOff x="3832" y="1360"/>
              <a:chExt cx="211" cy="288"/>
            </a:xfrm>
          </p:grpSpPr>
          <p:sp>
            <p:nvSpPr>
              <p:cNvPr id="13352" name="Arc 106"/>
              <p:cNvSpPr>
                <a:spLocks/>
              </p:cNvSpPr>
              <p:nvPr/>
            </p:nvSpPr>
            <p:spPr bwMode="auto">
              <a:xfrm flipV="1">
                <a:off x="3832" y="1488"/>
                <a:ext cx="211" cy="124"/>
              </a:xfrm>
              <a:custGeom>
                <a:avLst/>
                <a:gdLst>
                  <a:gd name="T0" fmla="*/ 0 w 20757"/>
                  <a:gd name="T1" fmla="*/ 0 h 21600"/>
                  <a:gd name="T2" fmla="*/ 0 w 20757"/>
                  <a:gd name="T3" fmla="*/ 0 h 21600"/>
                  <a:gd name="T4" fmla="*/ 0 w 2075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0757"/>
                  <a:gd name="T10" fmla="*/ 0 h 21600"/>
                  <a:gd name="T11" fmla="*/ 20757 w 2075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757" h="21600" fill="none" extrusionOk="0">
                    <a:moveTo>
                      <a:pt x="-1" y="0"/>
                    </a:moveTo>
                    <a:cubicBezTo>
                      <a:pt x="9628" y="0"/>
                      <a:pt x="18094" y="6372"/>
                      <a:pt x="20757" y="15625"/>
                    </a:cubicBezTo>
                  </a:path>
                  <a:path w="20757" h="21600" stroke="0" extrusionOk="0">
                    <a:moveTo>
                      <a:pt x="-1" y="0"/>
                    </a:moveTo>
                    <a:cubicBezTo>
                      <a:pt x="9628" y="0"/>
                      <a:pt x="18094" y="6372"/>
                      <a:pt x="20757" y="15625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3353" name="Text Box 107"/>
              <p:cNvSpPr txBox="1">
                <a:spLocks noChangeArrowheads="1"/>
              </p:cNvSpPr>
              <p:nvPr/>
            </p:nvSpPr>
            <p:spPr bwMode="auto">
              <a:xfrm>
                <a:off x="3862" y="1360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400" b="0">
                    <a:solidFill>
                      <a:srgbClr val="333333"/>
                    </a:solidFill>
                    <a:sym typeface="Symbol" pitchFamily="18" charset="2"/>
                  </a:rPr>
                  <a:t>.</a:t>
                </a:r>
              </a:p>
            </p:txBody>
          </p:sp>
        </p:grpSp>
        <p:sp>
          <p:nvSpPr>
            <p:cNvPr id="13347" name="Freeform 108"/>
            <p:cNvSpPr>
              <a:spLocks/>
            </p:cNvSpPr>
            <p:nvPr/>
          </p:nvSpPr>
          <p:spPr bwMode="auto">
            <a:xfrm>
              <a:off x="3145" y="1104"/>
              <a:ext cx="2280" cy="584"/>
            </a:xfrm>
            <a:custGeom>
              <a:avLst/>
              <a:gdLst>
                <a:gd name="T0" fmla="*/ 0 w 2280"/>
                <a:gd name="T1" fmla="*/ 584 h 584"/>
                <a:gd name="T2" fmla="*/ 1592 w 2280"/>
                <a:gd name="T3" fmla="*/ 584 h 584"/>
                <a:gd name="T4" fmla="*/ 2280 w 2280"/>
                <a:gd name="T5" fmla="*/ 0 h 584"/>
                <a:gd name="T6" fmla="*/ 0 60000 65536"/>
                <a:gd name="T7" fmla="*/ 0 60000 65536"/>
                <a:gd name="T8" fmla="*/ 0 60000 65536"/>
                <a:gd name="T9" fmla="*/ 0 w 2280"/>
                <a:gd name="T10" fmla="*/ 0 h 584"/>
                <a:gd name="T11" fmla="*/ 2280 w 2280"/>
                <a:gd name="T12" fmla="*/ 584 h 5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80" h="584">
                  <a:moveTo>
                    <a:pt x="0" y="584"/>
                  </a:moveTo>
                  <a:lnTo>
                    <a:pt x="1592" y="584"/>
                  </a:lnTo>
                  <a:lnTo>
                    <a:pt x="228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48" name="Freeform 109"/>
            <p:cNvSpPr>
              <a:spLocks/>
            </p:cNvSpPr>
            <p:nvPr/>
          </p:nvSpPr>
          <p:spPr bwMode="auto">
            <a:xfrm>
              <a:off x="3705" y="100"/>
              <a:ext cx="678" cy="1584"/>
            </a:xfrm>
            <a:custGeom>
              <a:avLst/>
              <a:gdLst>
                <a:gd name="T0" fmla="*/ 0 w 678"/>
                <a:gd name="T1" fmla="*/ 1584 h 1584"/>
                <a:gd name="T2" fmla="*/ 0 w 678"/>
                <a:gd name="T3" fmla="*/ 582 h 1584"/>
                <a:gd name="T4" fmla="*/ 678 w 678"/>
                <a:gd name="T5" fmla="*/ 0 h 1584"/>
                <a:gd name="T6" fmla="*/ 0 60000 65536"/>
                <a:gd name="T7" fmla="*/ 0 60000 65536"/>
                <a:gd name="T8" fmla="*/ 0 60000 65536"/>
                <a:gd name="T9" fmla="*/ 0 w 678"/>
                <a:gd name="T10" fmla="*/ 0 h 1584"/>
                <a:gd name="T11" fmla="*/ 678 w 678"/>
                <a:gd name="T12" fmla="*/ 1584 h 15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8" h="1584">
                  <a:moveTo>
                    <a:pt x="0" y="1584"/>
                  </a:moveTo>
                  <a:lnTo>
                    <a:pt x="0" y="582"/>
                  </a:lnTo>
                  <a:lnTo>
                    <a:pt x="67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49" name="Line 110"/>
            <p:cNvSpPr>
              <a:spLocks noChangeShapeType="1"/>
            </p:cNvSpPr>
            <p:nvPr/>
          </p:nvSpPr>
          <p:spPr bwMode="auto">
            <a:xfrm flipV="1">
              <a:off x="3713" y="1096"/>
              <a:ext cx="668" cy="58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3350" name="Text Box 111"/>
            <p:cNvSpPr txBox="1">
              <a:spLocks noChangeArrowheads="1"/>
            </p:cNvSpPr>
            <p:nvPr/>
          </p:nvSpPr>
          <p:spPr bwMode="auto">
            <a:xfrm>
              <a:off x="4104" y="1152"/>
              <a:ext cx="2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b </a:t>
              </a:r>
            </a:p>
          </p:txBody>
        </p:sp>
        <p:sp>
          <p:nvSpPr>
            <p:cNvPr id="13351" name="Text Box 112"/>
            <p:cNvSpPr txBox="1">
              <a:spLocks noChangeArrowheads="1"/>
            </p:cNvSpPr>
            <p:nvPr/>
          </p:nvSpPr>
          <p:spPr bwMode="auto">
            <a:xfrm>
              <a:off x="3971" y="580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i="1">
                  <a:solidFill>
                    <a:srgbClr val="FF3300"/>
                  </a:solidFill>
                  <a:latin typeface="ISOCPEUR" pitchFamily="34" charset="0"/>
                  <a:sym typeface="Symbol" pitchFamily="18" charset="2"/>
                </a:rPr>
                <a:t>B</a:t>
              </a:r>
            </a:p>
          </p:txBody>
        </p:sp>
      </p:grpSp>
      <p:sp>
        <p:nvSpPr>
          <p:cNvPr id="113779" name="Rectangle 115"/>
          <p:cNvSpPr>
            <a:spLocks noChangeArrowheads="1"/>
          </p:cNvSpPr>
          <p:nvPr/>
        </p:nvSpPr>
        <p:spPr bwMode="auto">
          <a:xfrm>
            <a:off x="6248400" y="884238"/>
            <a:ext cx="1935163" cy="1430337"/>
          </a:xfrm>
          <a:prstGeom prst="rect">
            <a:avLst/>
          </a:prstGeom>
          <a:solidFill>
            <a:schemeClr val="tx2">
              <a:alpha val="45882"/>
            </a:schemeClr>
          </a:solidFill>
          <a:ln w="9525">
            <a:solidFill>
              <a:schemeClr val="tx1"/>
            </a:solidFill>
            <a:miter lim="800000"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3780" name="Line 116"/>
          <p:cNvSpPr>
            <a:spLocks noChangeShapeType="1"/>
          </p:cNvSpPr>
          <p:nvPr/>
        </p:nvSpPr>
        <p:spPr bwMode="auto">
          <a:xfrm>
            <a:off x="6229350" y="1473200"/>
            <a:ext cx="1160463" cy="741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3781" name="Text Box 117"/>
          <p:cNvSpPr txBox="1">
            <a:spLocks noChangeArrowheads="1"/>
          </p:cNvSpPr>
          <p:nvPr/>
        </p:nvSpPr>
        <p:spPr bwMode="auto">
          <a:xfrm>
            <a:off x="7772400" y="947738"/>
            <a:ext cx="34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P</a:t>
            </a:r>
          </a:p>
        </p:txBody>
      </p:sp>
      <p:sp>
        <p:nvSpPr>
          <p:cNvPr id="113782" name="Text Box 118"/>
          <p:cNvSpPr txBox="1">
            <a:spLocks noChangeArrowheads="1"/>
          </p:cNvSpPr>
          <p:nvPr/>
        </p:nvSpPr>
        <p:spPr bwMode="auto">
          <a:xfrm>
            <a:off x="7327900" y="1785938"/>
            <a:ext cx="398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C‘</a:t>
            </a:r>
          </a:p>
        </p:txBody>
      </p:sp>
      <p:sp>
        <p:nvSpPr>
          <p:cNvPr id="113783" name="Text Box 119"/>
          <p:cNvSpPr txBox="1">
            <a:spLocks noChangeArrowheads="1"/>
          </p:cNvSpPr>
          <p:nvPr/>
        </p:nvSpPr>
        <p:spPr bwMode="auto">
          <a:xfrm>
            <a:off x="169863" y="1557338"/>
            <a:ext cx="4675187" cy="16144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推论</a:t>
            </a:r>
            <a:r>
              <a:rPr kumimoji="0" lang="en-US" altLang="zh-CN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3</a:t>
            </a:r>
            <a:r>
              <a:rPr kumimoji="0"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：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如果投影为直角的两条边均不平行于投影面，则该空间角度必不是直角。</a:t>
            </a:r>
          </a:p>
        </p:txBody>
      </p:sp>
    </p:spTree>
    <p:extLst>
      <p:ext uri="{BB962C8B-B14F-4D97-AF65-F5344CB8AC3E}">
        <p14:creationId xmlns:p14="http://schemas.microsoft.com/office/powerpoint/2010/main" val="61683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3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3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726" grpId="0" autoUpdateAnimBg="0"/>
      <p:bldP spid="113727" grpId="0" autoUpdateAnimBg="0"/>
      <p:bldP spid="113728" grpId="0" autoUpdateAnimBg="0"/>
      <p:bldP spid="113746" grpId="0" animBg="1" autoUpdateAnimBg="0"/>
      <p:bldP spid="113747" grpId="0" animBg="1" autoUpdateAnimBg="0"/>
      <p:bldP spid="113779" grpId="0" animBg="1"/>
      <p:bldP spid="113780" grpId="0" animBg="1"/>
      <p:bldP spid="113781" grpId="0" autoUpdateAnimBg="0"/>
      <p:bldP spid="113782" grpId="0" autoUpdateAnimBg="0"/>
      <p:bldP spid="113783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8F4B4-07E1-4E39-A5FD-AE8FDC7C0353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30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338138" y="398463"/>
            <a:ext cx="5891212" cy="4953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33CC"/>
            </a:solidFill>
            <a:miter lim="800000"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例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: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已知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CD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及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，求做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AB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与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CD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垂直相交。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162050" y="1308100"/>
            <a:ext cx="2552700" cy="3640138"/>
            <a:chOff x="876" y="824"/>
            <a:chExt cx="1608" cy="2293"/>
          </a:xfrm>
        </p:grpSpPr>
        <p:sp>
          <p:nvSpPr>
            <p:cNvPr id="14360" name="Line 4"/>
            <p:cNvSpPr>
              <a:spLocks noChangeShapeType="1"/>
            </p:cNvSpPr>
            <p:nvPr/>
          </p:nvSpPr>
          <p:spPr bwMode="auto">
            <a:xfrm>
              <a:off x="876" y="1944"/>
              <a:ext cx="1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4361" name="Line 5"/>
            <p:cNvSpPr>
              <a:spLocks noChangeShapeType="1"/>
            </p:cNvSpPr>
            <p:nvPr/>
          </p:nvSpPr>
          <p:spPr bwMode="auto">
            <a:xfrm>
              <a:off x="1224" y="972"/>
              <a:ext cx="876" cy="5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4362" name="Line 6"/>
            <p:cNvSpPr>
              <a:spLocks noChangeShapeType="1"/>
            </p:cNvSpPr>
            <p:nvPr/>
          </p:nvSpPr>
          <p:spPr bwMode="auto">
            <a:xfrm>
              <a:off x="1224" y="972"/>
              <a:ext cx="0" cy="19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4363" name="Line 7"/>
            <p:cNvSpPr>
              <a:spLocks noChangeShapeType="1"/>
            </p:cNvSpPr>
            <p:nvPr/>
          </p:nvSpPr>
          <p:spPr bwMode="auto">
            <a:xfrm>
              <a:off x="2100" y="1488"/>
              <a:ext cx="0" cy="1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4364" name="Line 8"/>
            <p:cNvSpPr>
              <a:spLocks noChangeShapeType="1"/>
            </p:cNvSpPr>
            <p:nvPr/>
          </p:nvSpPr>
          <p:spPr bwMode="auto">
            <a:xfrm>
              <a:off x="1224" y="2874"/>
              <a:ext cx="8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4365" name="Text Box 9"/>
            <p:cNvSpPr txBox="1">
              <a:spLocks noChangeArrowheads="1"/>
            </p:cNvSpPr>
            <p:nvPr/>
          </p:nvSpPr>
          <p:spPr bwMode="auto">
            <a:xfrm>
              <a:off x="964" y="824"/>
              <a:ext cx="3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c'</a:t>
              </a:r>
              <a:endParaRPr kumimoji="0"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4366" name="Text Box 10"/>
            <p:cNvSpPr txBox="1">
              <a:spLocks noChangeArrowheads="1"/>
            </p:cNvSpPr>
            <p:nvPr/>
          </p:nvSpPr>
          <p:spPr bwMode="auto">
            <a:xfrm>
              <a:off x="2040" y="1387"/>
              <a:ext cx="3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d'</a:t>
              </a:r>
              <a:endParaRPr kumimoji="0"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4367" name="Text Box 11"/>
            <p:cNvSpPr txBox="1">
              <a:spLocks noChangeArrowheads="1"/>
            </p:cNvSpPr>
            <p:nvPr/>
          </p:nvSpPr>
          <p:spPr bwMode="auto">
            <a:xfrm>
              <a:off x="935" y="2839"/>
              <a:ext cx="2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c </a:t>
              </a:r>
            </a:p>
          </p:txBody>
        </p:sp>
        <p:sp>
          <p:nvSpPr>
            <p:cNvPr id="14368" name="Text Box 12"/>
            <p:cNvSpPr txBox="1">
              <a:spLocks noChangeArrowheads="1"/>
            </p:cNvSpPr>
            <p:nvPr/>
          </p:nvSpPr>
          <p:spPr bwMode="auto">
            <a:xfrm>
              <a:off x="2049" y="2867"/>
              <a:ext cx="27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d </a:t>
              </a:r>
            </a:p>
          </p:txBody>
        </p:sp>
      </p:grpSp>
      <p:sp>
        <p:nvSpPr>
          <p:cNvPr id="114701" name="Line 13"/>
          <p:cNvSpPr>
            <a:spLocks noChangeShapeType="1"/>
          </p:cNvSpPr>
          <p:nvPr/>
        </p:nvSpPr>
        <p:spPr bwMode="auto">
          <a:xfrm flipV="1">
            <a:off x="2047875" y="1911350"/>
            <a:ext cx="293688" cy="48895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4702" name="Line 14"/>
          <p:cNvSpPr>
            <a:spLocks noChangeShapeType="1"/>
          </p:cNvSpPr>
          <p:nvPr/>
        </p:nvSpPr>
        <p:spPr bwMode="auto">
          <a:xfrm>
            <a:off x="2343150" y="1911350"/>
            <a:ext cx="0" cy="119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4703" name="Line 15"/>
          <p:cNvSpPr>
            <a:spLocks noChangeShapeType="1"/>
          </p:cNvSpPr>
          <p:nvPr/>
        </p:nvSpPr>
        <p:spPr bwMode="auto">
          <a:xfrm>
            <a:off x="2343150" y="3086100"/>
            <a:ext cx="0" cy="147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4704" name="Text Box 16"/>
          <p:cNvSpPr txBox="1">
            <a:spLocks noChangeArrowheads="1"/>
          </p:cNvSpPr>
          <p:nvPr/>
        </p:nvSpPr>
        <p:spPr bwMode="auto">
          <a:xfrm>
            <a:off x="2203450" y="1547813"/>
            <a:ext cx="496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b'</a:t>
            </a:r>
            <a:endParaRPr kumimoji="0" lang="en-US" altLang="zh-CN" sz="2400" b="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2125663" y="1612900"/>
            <a:ext cx="242887" cy="457200"/>
            <a:chOff x="1819" y="1016"/>
            <a:chExt cx="153" cy="288"/>
          </a:xfrm>
        </p:grpSpPr>
        <p:sp>
          <p:nvSpPr>
            <p:cNvPr id="14358" name="Arc 18"/>
            <p:cNvSpPr>
              <a:spLocks/>
            </p:cNvSpPr>
            <p:nvPr/>
          </p:nvSpPr>
          <p:spPr bwMode="auto">
            <a:xfrm flipH="1">
              <a:off x="1831" y="1145"/>
              <a:ext cx="107" cy="154"/>
            </a:xfrm>
            <a:custGeom>
              <a:avLst/>
              <a:gdLst>
                <a:gd name="T0" fmla="*/ 0 w 21600"/>
                <a:gd name="T1" fmla="*/ 0 h 34556"/>
                <a:gd name="T2" fmla="*/ 0 w 21600"/>
                <a:gd name="T3" fmla="*/ 0 h 34556"/>
                <a:gd name="T4" fmla="*/ 0 w 21600"/>
                <a:gd name="T5" fmla="*/ 0 h 34556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556"/>
                <a:gd name="T11" fmla="*/ 21600 w 21600"/>
                <a:gd name="T12" fmla="*/ 34556 h 345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556" fill="none" extrusionOk="0">
                  <a:moveTo>
                    <a:pt x="16335" y="0"/>
                  </a:moveTo>
                  <a:cubicBezTo>
                    <a:pt x="19731" y="3925"/>
                    <a:pt x="21600" y="8941"/>
                    <a:pt x="21600" y="14132"/>
                  </a:cubicBezTo>
                  <a:cubicBezTo>
                    <a:pt x="21600" y="23351"/>
                    <a:pt x="15747" y="31555"/>
                    <a:pt x="7029" y="34555"/>
                  </a:cubicBezTo>
                </a:path>
                <a:path w="21600" h="34556" stroke="0" extrusionOk="0">
                  <a:moveTo>
                    <a:pt x="16335" y="0"/>
                  </a:moveTo>
                  <a:cubicBezTo>
                    <a:pt x="19731" y="3925"/>
                    <a:pt x="21600" y="8941"/>
                    <a:pt x="21600" y="14132"/>
                  </a:cubicBezTo>
                  <a:cubicBezTo>
                    <a:pt x="21600" y="23351"/>
                    <a:pt x="15747" y="31555"/>
                    <a:pt x="7029" y="34555"/>
                  </a:cubicBezTo>
                  <a:lnTo>
                    <a:pt x="0" y="14132"/>
                  </a:lnTo>
                  <a:lnTo>
                    <a:pt x="16335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4359" name="Text Box 19"/>
            <p:cNvSpPr txBox="1">
              <a:spLocks noChangeArrowheads="1"/>
            </p:cNvSpPr>
            <p:nvPr/>
          </p:nvSpPr>
          <p:spPr bwMode="auto">
            <a:xfrm>
              <a:off x="1819" y="1016"/>
              <a:ext cx="1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.</a:t>
              </a:r>
            </a:p>
          </p:txBody>
        </p:sp>
      </p:grpSp>
      <p:sp>
        <p:nvSpPr>
          <p:cNvPr id="114708" name="Text Box 20"/>
          <p:cNvSpPr txBox="1">
            <a:spLocks noChangeArrowheads="1"/>
          </p:cNvSpPr>
          <p:nvPr/>
        </p:nvSpPr>
        <p:spPr bwMode="auto">
          <a:xfrm>
            <a:off x="2122488" y="4557713"/>
            <a:ext cx="404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b </a:t>
            </a:r>
          </a:p>
        </p:txBody>
      </p:sp>
      <p:sp>
        <p:nvSpPr>
          <p:cNvPr id="114709" name="Line 21"/>
          <p:cNvSpPr>
            <a:spLocks noChangeShapeType="1"/>
          </p:cNvSpPr>
          <p:nvPr/>
        </p:nvSpPr>
        <p:spPr bwMode="auto">
          <a:xfrm>
            <a:off x="2051050" y="4032250"/>
            <a:ext cx="298450" cy="5334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1612900" y="2109788"/>
            <a:ext cx="630238" cy="2063750"/>
            <a:chOff x="1160" y="1329"/>
            <a:chExt cx="397" cy="1300"/>
          </a:xfrm>
        </p:grpSpPr>
        <p:sp>
          <p:nvSpPr>
            <p:cNvPr id="14353" name="Line 23"/>
            <p:cNvSpPr>
              <a:spLocks noChangeShapeType="1"/>
            </p:cNvSpPr>
            <p:nvPr/>
          </p:nvSpPr>
          <p:spPr bwMode="auto">
            <a:xfrm>
              <a:off x="1434" y="1512"/>
              <a:ext cx="0" cy="10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4354" name="Text Box 24"/>
            <p:cNvSpPr txBox="1">
              <a:spLocks noChangeArrowheads="1"/>
            </p:cNvSpPr>
            <p:nvPr/>
          </p:nvSpPr>
          <p:spPr bwMode="auto">
            <a:xfrm>
              <a:off x="1160" y="1329"/>
              <a:ext cx="3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a'</a:t>
              </a:r>
              <a:endParaRPr kumimoji="0"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4355" name="Text Box 25"/>
            <p:cNvSpPr txBox="1">
              <a:spLocks noChangeArrowheads="1"/>
            </p:cNvSpPr>
            <p:nvPr/>
          </p:nvSpPr>
          <p:spPr bwMode="auto">
            <a:xfrm>
              <a:off x="1229" y="2379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333333"/>
                  </a:solidFill>
                  <a:latin typeface="ISOCPEUR" pitchFamily="34" charset="0"/>
                  <a:ea typeface="仿宋_GB2312" pitchFamily="49" charset="-122"/>
                  <a:sym typeface="Symbol" pitchFamily="18" charset="2"/>
                </a:rPr>
                <a:t>a</a:t>
              </a:r>
              <a:endParaRPr kumimoji="0" lang="en-US" altLang="zh-CN" sz="2400" b="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4356" name="AutoShape 26"/>
            <p:cNvSpPr>
              <a:spLocks noChangeArrowheads="1"/>
            </p:cNvSpPr>
            <p:nvPr/>
          </p:nvSpPr>
          <p:spPr bwMode="auto">
            <a:xfrm>
              <a:off x="1414" y="2511"/>
              <a:ext cx="47" cy="49"/>
            </a:xfrm>
            <a:prstGeom prst="flowChartConnector">
              <a:avLst/>
            </a:prstGeom>
            <a:solidFill>
              <a:srgbClr val="0000CC"/>
            </a:solidFill>
            <a:ln w="95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4357" name="AutoShape 27"/>
            <p:cNvSpPr>
              <a:spLocks noChangeArrowheads="1"/>
            </p:cNvSpPr>
            <p:nvPr/>
          </p:nvSpPr>
          <p:spPr bwMode="auto">
            <a:xfrm>
              <a:off x="1410" y="1488"/>
              <a:ext cx="47" cy="49"/>
            </a:xfrm>
            <a:prstGeom prst="flowChartConnector">
              <a:avLst/>
            </a:prstGeom>
            <a:solidFill>
              <a:srgbClr val="0000CC"/>
            </a:solidFill>
            <a:ln w="95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</p:grpSp>
      <p:sp>
        <p:nvSpPr>
          <p:cNvPr id="114716" name="Text Box 28"/>
          <p:cNvSpPr txBox="1">
            <a:spLocks noChangeArrowheads="1"/>
          </p:cNvSpPr>
          <p:nvPr/>
        </p:nvSpPr>
        <p:spPr bwMode="auto">
          <a:xfrm>
            <a:off x="4219575" y="1292225"/>
            <a:ext cx="49244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分析：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∵ 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CD∥V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，∴ </a:t>
            </a:r>
            <a:r>
              <a:rPr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a’b’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与</a:t>
            </a:r>
            <a:r>
              <a:rPr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c’d’</a:t>
            </a:r>
            <a:r>
              <a:rPr lang="en-US" altLang="zh-CN" sz="2400" i="1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垂直相交。</a:t>
            </a:r>
          </a:p>
        </p:txBody>
      </p:sp>
      <p:sp>
        <p:nvSpPr>
          <p:cNvPr id="114717" name="Text Box 29"/>
          <p:cNvSpPr txBox="1">
            <a:spLocks noChangeArrowheads="1"/>
          </p:cNvSpPr>
          <p:nvPr/>
        </p:nvSpPr>
        <p:spPr bwMode="auto">
          <a:xfrm>
            <a:off x="4213225" y="2693988"/>
            <a:ext cx="49307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解题步骤：</a:t>
            </a:r>
          </a:p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过</a:t>
            </a:r>
            <a:r>
              <a:rPr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a’</a:t>
            </a:r>
            <a:r>
              <a:rPr lang="en-US" altLang="zh-CN" sz="2400" i="1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做</a:t>
            </a:r>
            <a:r>
              <a:rPr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a’b’</a:t>
            </a:r>
            <a:r>
              <a:rPr lang="en-US" altLang="zh-CN" sz="2400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⊥</a:t>
            </a:r>
            <a:r>
              <a:rPr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c’d’</a:t>
            </a:r>
            <a:r>
              <a:rPr lang="zh-CN" altLang="en-US" sz="2400" i="1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交</a:t>
            </a:r>
            <a:r>
              <a:rPr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c’d’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于</a:t>
            </a:r>
            <a:r>
              <a:rPr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b’</a:t>
            </a:r>
          </a:p>
        </p:txBody>
      </p:sp>
      <p:sp>
        <p:nvSpPr>
          <p:cNvPr id="114718" name="Text Box 30"/>
          <p:cNvSpPr txBox="1">
            <a:spLocks noChangeArrowheads="1"/>
          </p:cNvSpPr>
          <p:nvPr/>
        </p:nvSpPr>
        <p:spPr bwMode="auto">
          <a:xfrm>
            <a:off x="4219575" y="3505200"/>
            <a:ext cx="4924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求线 </a:t>
            </a:r>
            <a:r>
              <a:rPr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CD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上点 </a:t>
            </a:r>
            <a:r>
              <a:rPr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B</a:t>
            </a: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的水平投影</a:t>
            </a:r>
            <a:r>
              <a:rPr lang="zh-CN" altLang="en-US" sz="2400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b</a:t>
            </a:r>
          </a:p>
        </p:txBody>
      </p:sp>
      <p:sp>
        <p:nvSpPr>
          <p:cNvPr id="114719" name="Text Box 31"/>
          <p:cNvSpPr txBox="1">
            <a:spLocks noChangeArrowheads="1"/>
          </p:cNvSpPr>
          <p:nvPr/>
        </p:nvSpPr>
        <p:spPr bwMode="auto">
          <a:xfrm>
            <a:off x="4219575" y="3973513"/>
            <a:ext cx="4924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连</a:t>
            </a:r>
            <a:r>
              <a:rPr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ab</a:t>
            </a:r>
            <a:r>
              <a:rPr lang="en-US" altLang="zh-CN" sz="2400" i="1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zh-CN" altLang="en-US" sz="2400" i="1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则 </a:t>
            </a:r>
            <a:r>
              <a:rPr lang="en-US" altLang="zh-CN" sz="2400" i="1">
                <a:solidFill>
                  <a:srgbClr val="333333"/>
                </a:solidFill>
                <a:latin typeface="ISOCPEUR" pitchFamily="34" charset="0"/>
                <a:ea typeface="黑体" pitchFamily="2" charset="-122"/>
                <a:sym typeface="Symbol" pitchFamily="18" charset="2"/>
              </a:rPr>
              <a:t>AB </a:t>
            </a:r>
            <a:r>
              <a:rPr lang="zh-CN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为所求</a:t>
            </a: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8965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4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4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4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1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14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1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4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1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01" grpId="0" animBg="1"/>
      <p:bldP spid="114702" grpId="0" animBg="1"/>
      <p:bldP spid="114703" grpId="0" animBg="1"/>
      <p:bldP spid="114704" grpId="0" autoUpdateAnimBg="0"/>
      <p:bldP spid="114708" grpId="0" autoUpdateAnimBg="0"/>
      <p:bldP spid="114709" grpId="0" animBg="1"/>
      <p:bldP spid="114716" grpId="0" autoUpdateAnimBg="0"/>
      <p:bldP spid="114717" grpId="0" build="p" autoUpdateAnimBg="0"/>
      <p:bldP spid="114718" grpId="0" build="p" autoUpdateAnimBg="0"/>
      <p:bldP spid="114719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6D2481-E69A-4BC5-A123-8DCDD5B36C99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31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37392" y="768242"/>
            <a:ext cx="49974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 </a:t>
            </a:r>
            <a:r>
              <a:rPr lang="zh-CN" altLang="en-US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直线与平面垂直</a:t>
            </a:r>
          </a:p>
        </p:txBody>
      </p:sp>
      <p:sp>
        <p:nvSpPr>
          <p:cNvPr id="117766" name="Text Box 6"/>
          <p:cNvSpPr txBox="1">
            <a:spLocks noChangeArrowheads="1"/>
          </p:cNvSpPr>
          <p:nvPr/>
        </p:nvSpPr>
        <p:spPr bwMode="auto">
          <a:xfrm>
            <a:off x="357364" y="2237241"/>
            <a:ext cx="84550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推论</a:t>
            </a:r>
            <a:r>
              <a:rPr lang="en-US" altLang="zh-CN" sz="24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</a:t>
            </a:r>
            <a:r>
              <a:rPr lang="zh-CN" altLang="en-US" sz="24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：若直线垂直于平面</a:t>
            </a:r>
            <a:r>
              <a:rPr lang="en-US" altLang="zh-CN" sz="24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,</a:t>
            </a:r>
            <a:r>
              <a:rPr lang="zh-CN" altLang="en-US" sz="24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则：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该直线的水平投影与该平面上水平线的水平投影垂直；    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该直线的正面投影与该平面上正平线的正面投影垂直</a:t>
            </a:r>
            <a:r>
              <a:rPr lang="zh-CN" altLang="en-US" sz="2400" dirty="0" smtClean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；</a:t>
            </a:r>
            <a:endParaRPr lang="en-US" altLang="zh-CN" sz="2400" dirty="0" smtClean="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l" eaLnBrk="1" hangingPunct="1"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该直线</a:t>
            </a:r>
            <a:r>
              <a:rPr lang="zh-CN" altLang="en-US" sz="2400" dirty="0" smtClean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的侧面</a:t>
            </a:r>
            <a:r>
              <a:rPr lang="zh-CN" altLang="en-US" sz="24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投影与该平面</a:t>
            </a:r>
            <a:r>
              <a:rPr lang="zh-CN" altLang="en-US" sz="2400" dirty="0" smtClean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上侧平</a:t>
            </a:r>
            <a:r>
              <a:rPr lang="zh-CN" altLang="en-US" sz="24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线</a:t>
            </a:r>
            <a:r>
              <a:rPr lang="zh-CN" altLang="en-US" sz="2400" dirty="0" smtClean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的侧面</a:t>
            </a:r>
            <a:r>
              <a:rPr lang="zh-CN" altLang="en-US" sz="24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投影</a:t>
            </a:r>
            <a:r>
              <a:rPr lang="zh-CN" altLang="en-US" sz="2400" dirty="0" smtClean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垂直。</a:t>
            </a:r>
            <a:endParaRPr lang="zh-CN" altLang="en-US" sz="2400" dirty="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2090738" y="3878263"/>
            <a:ext cx="2044700" cy="1968500"/>
            <a:chOff x="3992" y="2704"/>
            <a:chExt cx="1288" cy="1240"/>
          </a:xfrm>
        </p:grpSpPr>
        <p:grpSp>
          <p:nvGrpSpPr>
            <p:cNvPr id="17431" name="Group 33"/>
            <p:cNvGrpSpPr>
              <a:grpSpLocks/>
            </p:cNvGrpSpPr>
            <p:nvPr/>
          </p:nvGrpSpPr>
          <p:grpSpPr bwMode="auto">
            <a:xfrm>
              <a:off x="4220" y="2798"/>
              <a:ext cx="692" cy="1146"/>
              <a:chOff x="1588" y="3134"/>
              <a:chExt cx="692" cy="1146"/>
            </a:xfrm>
          </p:grpSpPr>
          <p:sp>
            <p:nvSpPr>
              <p:cNvPr id="17440" name="Line 34"/>
              <p:cNvSpPr>
                <a:spLocks noChangeShapeType="1"/>
              </p:cNvSpPr>
              <p:nvPr/>
            </p:nvSpPr>
            <p:spPr bwMode="auto">
              <a:xfrm>
                <a:off x="1588" y="3362"/>
                <a:ext cx="474" cy="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7441" name="Line 35"/>
              <p:cNvSpPr>
                <a:spLocks noChangeShapeType="1"/>
              </p:cNvSpPr>
              <p:nvPr/>
            </p:nvSpPr>
            <p:spPr bwMode="auto">
              <a:xfrm>
                <a:off x="1596" y="3362"/>
                <a:ext cx="0" cy="8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7442" name="Line 36"/>
              <p:cNvSpPr>
                <a:spLocks noChangeShapeType="1"/>
              </p:cNvSpPr>
              <p:nvPr/>
            </p:nvSpPr>
            <p:spPr bwMode="auto">
              <a:xfrm flipH="1">
                <a:off x="2058" y="3362"/>
                <a:ext cx="0" cy="5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7443" name="Line 37"/>
              <p:cNvSpPr>
                <a:spLocks noChangeShapeType="1"/>
              </p:cNvSpPr>
              <p:nvPr/>
            </p:nvSpPr>
            <p:spPr bwMode="auto">
              <a:xfrm flipV="1">
                <a:off x="1596" y="3896"/>
                <a:ext cx="468" cy="264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7444" name="Line 38"/>
              <p:cNvSpPr>
                <a:spLocks noChangeShapeType="1"/>
              </p:cNvSpPr>
              <p:nvPr/>
            </p:nvSpPr>
            <p:spPr bwMode="auto">
              <a:xfrm flipV="1">
                <a:off x="2058" y="3134"/>
                <a:ext cx="222" cy="2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7445" name="Line 39"/>
              <p:cNvSpPr>
                <a:spLocks noChangeShapeType="1"/>
              </p:cNvSpPr>
              <p:nvPr/>
            </p:nvSpPr>
            <p:spPr bwMode="auto">
              <a:xfrm>
                <a:off x="2274" y="3146"/>
                <a:ext cx="0" cy="1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7446" name="Line 40"/>
              <p:cNvSpPr>
                <a:spLocks noChangeShapeType="1"/>
              </p:cNvSpPr>
              <p:nvPr/>
            </p:nvSpPr>
            <p:spPr bwMode="auto">
              <a:xfrm>
                <a:off x="2057" y="3896"/>
                <a:ext cx="217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grpSp>
            <p:nvGrpSpPr>
              <p:cNvPr id="17447" name="Group 41"/>
              <p:cNvGrpSpPr>
                <a:grpSpLocks/>
              </p:cNvGrpSpPr>
              <p:nvPr/>
            </p:nvGrpSpPr>
            <p:grpSpPr bwMode="auto">
              <a:xfrm>
                <a:off x="1935" y="3749"/>
                <a:ext cx="203" cy="327"/>
                <a:chOff x="2001" y="2781"/>
                <a:chExt cx="203" cy="327"/>
              </a:xfrm>
            </p:grpSpPr>
            <p:sp>
              <p:nvSpPr>
                <p:cNvPr id="17448" name="Arc 42"/>
                <p:cNvSpPr>
                  <a:spLocks/>
                </p:cNvSpPr>
                <p:nvPr/>
              </p:nvSpPr>
              <p:spPr bwMode="auto">
                <a:xfrm>
                  <a:off x="2001" y="2974"/>
                  <a:ext cx="203" cy="108"/>
                </a:xfrm>
                <a:custGeom>
                  <a:avLst/>
                  <a:gdLst>
                    <a:gd name="T0" fmla="*/ 0 w 35996"/>
                    <a:gd name="T1" fmla="*/ 0 h 21600"/>
                    <a:gd name="T2" fmla="*/ 0 w 35996"/>
                    <a:gd name="T3" fmla="*/ 0 h 21600"/>
                    <a:gd name="T4" fmla="*/ 0 w 3599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5996"/>
                    <a:gd name="T10" fmla="*/ 0 h 21600"/>
                    <a:gd name="T11" fmla="*/ 35996 w 3599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5996" h="21600" fill="none" extrusionOk="0">
                      <a:moveTo>
                        <a:pt x="35996" y="15393"/>
                      </a:moveTo>
                      <a:cubicBezTo>
                        <a:pt x="31955" y="19370"/>
                        <a:pt x="26512" y="21599"/>
                        <a:pt x="20843" y="21600"/>
                      </a:cubicBezTo>
                      <a:cubicBezTo>
                        <a:pt x="11096" y="21600"/>
                        <a:pt x="2558" y="15073"/>
                        <a:pt x="0" y="5668"/>
                      </a:cubicBezTo>
                    </a:path>
                    <a:path w="35996" h="21600" stroke="0" extrusionOk="0">
                      <a:moveTo>
                        <a:pt x="35996" y="15393"/>
                      </a:moveTo>
                      <a:cubicBezTo>
                        <a:pt x="31955" y="19370"/>
                        <a:pt x="26512" y="21599"/>
                        <a:pt x="20843" y="21600"/>
                      </a:cubicBezTo>
                      <a:cubicBezTo>
                        <a:pt x="11096" y="21600"/>
                        <a:pt x="2558" y="15073"/>
                        <a:pt x="0" y="5668"/>
                      </a:cubicBezTo>
                      <a:lnTo>
                        <a:pt x="20843" y="0"/>
                      </a:lnTo>
                      <a:lnTo>
                        <a:pt x="35996" y="15393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algn="l"/>
                  <a:endParaRPr kumimoji="0" lang="zh-CN" altLang="en-US" sz="2000" i="1" baseline="-10000">
                    <a:solidFill>
                      <a:srgbClr val="333333"/>
                    </a:solidFill>
                    <a:latin typeface="ISOCPEUR" pitchFamily="34" charset="0"/>
                    <a:sym typeface="Symbol" pitchFamily="18" charset="2"/>
                  </a:endParaRPr>
                </a:p>
              </p:txBody>
            </p:sp>
            <p:sp>
              <p:nvSpPr>
                <p:cNvPr id="17449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2022" y="2781"/>
                  <a:ext cx="1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 type="none" w="sm" len="lg"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800" b="0">
                      <a:solidFill>
                        <a:srgbClr val="333333"/>
                      </a:solidFill>
                      <a:sym typeface="Symbol" pitchFamily="18" charset="2"/>
                    </a:rPr>
                    <a:t>.</a:t>
                  </a:r>
                </a:p>
              </p:txBody>
            </p:sp>
          </p:grpSp>
        </p:grpSp>
        <p:sp>
          <p:nvSpPr>
            <p:cNvPr id="17432" name="Line 44"/>
            <p:cNvSpPr>
              <a:spLocks noChangeShapeType="1"/>
            </p:cNvSpPr>
            <p:nvPr/>
          </p:nvSpPr>
          <p:spPr bwMode="auto">
            <a:xfrm>
              <a:off x="3992" y="3448"/>
              <a:ext cx="1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7433" name="Line 45"/>
            <p:cNvSpPr>
              <a:spLocks noChangeShapeType="1"/>
            </p:cNvSpPr>
            <p:nvPr/>
          </p:nvSpPr>
          <p:spPr bwMode="auto">
            <a:xfrm>
              <a:off x="4350" y="3565"/>
              <a:ext cx="636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7434" name="Line 46"/>
            <p:cNvSpPr>
              <a:spLocks noChangeShapeType="1"/>
            </p:cNvSpPr>
            <p:nvPr/>
          </p:nvSpPr>
          <p:spPr bwMode="auto">
            <a:xfrm flipV="1">
              <a:off x="4356" y="2721"/>
              <a:ext cx="0" cy="8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7435" name="Line 47"/>
            <p:cNvSpPr>
              <a:spLocks noChangeShapeType="1"/>
            </p:cNvSpPr>
            <p:nvPr/>
          </p:nvSpPr>
          <p:spPr bwMode="auto">
            <a:xfrm flipV="1">
              <a:off x="4983" y="3307"/>
              <a:ext cx="0" cy="2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7436" name="Line 48"/>
            <p:cNvSpPr>
              <a:spLocks noChangeShapeType="1"/>
            </p:cNvSpPr>
            <p:nvPr/>
          </p:nvSpPr>
          <p:spPr bwMode="auto">
            <a:xfrm flipH="1" flipV="1">
              <a:off x="4359" y="2716"/>
              <a:ext cx="626" cy="59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grpSp>
          <p:nvGrpSpPr>
            <p:cNvPr id="17437" name="Group 49"/>
            <p:cNvGrpSpPr>
              <a:grpSpLocks/>
            </p:cNvGrpSpPr>
            <p:nvPr/>
          </p:nvGrpSpPr>
          <p:grpSpPr bwMode="auto">
            <a:xfrm>
              <a:off x="4577" y="2704"/>
              <a:ext cx="209" cy="327"/>
              <a:chOff x="3209" y="2079"/>
              <a:chExt cx="209" cy="327"/>
            </a:xfrm>
          </p:grpSpPr>
          <p:sp>
            <p:nvSpPr>
              <p:cNvPr id="17438" name="Arc 50"/>
              <p:cNvSpPr>
                <a:spLocks/>
              </p:cNvSpPr>
              <p:nvPr/>
            </p:nvSpPr>
            <p:spPr bwMode="auto">
              <a:xfrm>
                <a:off x="3209" y="2253"/>
                <a:ext cx="209" cy="125"/>
              </a:xfrm>
              <a:custGeom>
                <a:avLst/>
                <a:gdLst>
                  <a:gd name="T0" fmla="*/ 0 w 33782"/>
                  <a:gd name="T1" fmla="*/ 0 h 21600"/>
                  <a:gd name="T2" fmla="*/ 0 w 33782"/>
                  <a:gd name="T3" fmla="*/ 0 h 21600"/>
                  <a:gd name="T4" fmla="*/ 0 w 3378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3782"/>
                  <a:gd name="T10" fmla="*/ 0 h 21600"/>
                  <a:gd name="T11" fmla="*/ 33782 w 3378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782" h="21600" fill="none" extrusionOk="0">
                    <a:moveTo>
                      <a:pt x="-1" y="9464"/>
                    </a:moveTo>
                    <a:cubicBezTo>
                      <a:pt x="4020" y="3544"/>
                      <a:pt x="10712" y="-1"/>
                      <a:pt x="17869" y="0"/>
                    </a:cubicBezTo>
                    <a:cubicBezTo>
                      <a:pt x="23918" y="0"/>
                      <a:pt x="29691" y="2537"/>
                      <a:pt x="33782" y="6993"/>
                    </a:cubicBezTo>
                  </a:path>
                  <a:path w="33782" h="21600" stroke="0" extrusionOk="0">
                    <a:moveTo>
                      <a:pt x="-1" y="9464"/>
                    </a:moveTo>
                    <a:cubicBezTo>
                      <a:pt x="4020" y="3544"/>
                      <a:pt x="10712" y="-1"/>
                      <a:pt x="17869" y="0"/>
                    </a:cubicBezTo>
                    <a:cubicBezTo>
                      <a:pt x="23918" y="0"/>
                      <a:pt x="29691" y="2537"/>
                      <a:pt x="33782" y="6993"/>
                    </a:cubicBezTo>
                    <a:lnTo>
                      <a:pt x="17869" y="21600"/>
                    </a:lnTo>
                    <a:lnTo>
                      <a:pt x="-1" y="946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7439" name="Text Box 51"/>
              <p:cNvSpPr txBox="1">
                <a:spLocks noChangeArrowheads="1"/>
              </p:cNvSpPr>
              <p:nvPr/>
            </p:nvSpPr>
            <p:spPr bwMode="auto">
              <a:xfrm>
                <a:off x="3228" y="2079"/>
                <a:ext cx="1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800" b="0">
                    <a:solidFill>
                      <a:srgbClr val="333333"/>
                    </a:solidFill>
                    <a:sym typeface="Symbol" pitchFamily="18" charset="2"/>
                  </a:rPr>
                  <a:t>.</a:t>
                </a:r>
              </a:p>
            </p:txBody>
          </p:sp>
        </p:grpSp>
      </p:grpSp>
      <p:sp>
        <p:nvSpPr>
          <p:cNvPr id="117812" name="Text Box 52"/>
          <p:cNvSpPr txBox="1">
            <a:spLocks noChangeArrowheads="1"/>
          </p:cNvSpPr>
          <p:nvPr/>
        </p:nvSpPr>
        <p:spPr bwMode="auto">
          <a:xfrm>
            <a:off x="344488" y="1427163"/>
            <a:ext cx="87995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定理：若直线垂直于平面上的两条相交直线，则该直线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 与平面垂直，且垂直于这个平面上的一切直线。</a:t>
            </a:r>
          </a:p>
        </p:txBody>
      </p:sp>
      <p:grpSp>
        <p:nvGrpSpPr>
          <p:cNvPr id="6" name="Group 73"/>
          <p:cNvGrpSpPr>
            <a:grpSpLocks/>
          </p:cNvGrpSpPr>
          <p:nvPr/>
        </p:nvGrpSpPr>
        <p:grpSpPr bwMode="auto">
          <a:xfrm>
            <a:off x="5145088" y="3670300"/>
            <a:ext cx="2044700" cy="2541588"/>
            <a:chOff x="3241" y="2508"/>
            <a:chExt cx="1288" cy="1601"/>
          </a:xfrm>
        </p:grpSpPr>
        <p:sp>
          <p:nvSpPr>
            <p:cNvPr id="17417" name="Line 57"/>
            <p:cNvSpPr>
              <a:spLocks noChangeShapeType="1"/>
            </p:cNvSpPr>
            <p:nvPr/>
          </p:nvSpPr>
          <p:spPr bwMode="auto">
            <a:xfrm>
              <a:off x="3933" y="3158"/>
              <a:ext cx="6" cy="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7418" name="Line 58"/>
            <p:cNvSpPr>
              <a:spLocks noChangeShapeType="1"/>
            </p:cNvSpPr>
            <p:nvPr/>
          </p:nvSpPr>
          <p:spPr bwMode="auto">
            <a:xfrm>
              <a:off x="3328" y="3386"/>
              <a:ext cx="834" cy="54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7419" name="Line 59"/>
            <p:cNvSpPr>
              <a:spLocks noChangeShapeType="1"/>
            </p:cNvSpPr>
            <p:nvPr/>
          </p:nvSpPr>
          <p:spPr bwMode="auto">
            <a:xfrm flipV="1">
              <a:off x="3579" y="3499"/>
              <a:ext cx="364" cy="5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7420" name="Line 60"/>
            <p:cNvSpPr>
              <a:spLocks noChangeShapeType="1"/>
            </p:cNvSpPr>
            <p:nvPr/>
          </p:nvSpPr>
          <p:spPr bwMode="auto">
            <a:xfrm>
              <a:off x="4155" y="2508"/>
              <a:ext cx="0" cy="16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7421" name="Line 61"/>
            <p:cNvSpPr>
              <a:spLocks noChangeShapeType="1"/>
            </p:cNvSpPr>
            <p:nvPr/>
          </p:nvSpPr>
          <p:spPr bwMode="auto">
            <a:xfrm>
              <a:off x="3579" y="2812"/>
              <a:ext cx="36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grpSp>
          <p:nvGrpSpPr>
            <p:cNvPr id="17422" name="Group 62"/>
            <p:cNvGrpSpPr>
              <a:grpSpLocks/>
            </p:cNvGrpSpPr>
            <p:nvPr/>
          </p:nvGrpSpPr>
          <p:grpSpPr bwMode="auto">
            <a:xfrm rot="-1495215">
              <a:off x="3688" y="3571"/>
              <a:ext cx="203" cy="327"/>
              <a:chOff x="2001" y="2781"/>
              <a:chExt cx="203" cy="327"/>
            </a:xfrm>
          </p:grpSpPr>
          <p:sp>
            <p:nvSpPr>
              <p:cNvPr id="17429" name="Arc 63"/>
              <p:cNvSpPr>
                <a:spLocks/>
              </p:cNvSpPr>
              <p:nvPr/>
            </p:nvSpPr>
            <p:spPr bwMode="auto">
              <a:xfrm>
                <a:off x="2001" y="2974"/>
                <a:ext cx="203" cy="108"/>
              </a:xfrm>
              <a:custGeom>
                <a:avLst/>
                <a:gdLst>
                  <a:gd name="T0" fmla="*/ 0 w 35996"/>
                  <a:gd name="T1" fmla="*/ 0 h 21600"/>
                  <a:gd name="T2" fmla="*/ 0 w 35996"/>
                  <a:gd name="T3" fmla="*/ 0 h 21600"/>
                  <a:gd name="T4" fmla="*/ 0 w 35996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5996"/>
                  <a:gd name="T10" fmla="*/ 0 h 21600"/>
                  <a:gd name="T11" fmla="*/ 35996 w 35996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5996" h="21600" fill="none" extrusionOk="0">
                    <a:moveTo>
                      <a:pt x="35996" y="15393"/>
                    </a:moveTo>
                    <a:cubicBezTo>
                      <a:pt x="31955" y="19370"/>
                      <a:pt x="26512" y="21599"/>
                      <a:pt x="20843" y="21600"/>
                    </a:cubicBezTo>
                    <a:cubicBezTo>
                      <a:pt x="11096" y="21600"/>
                      <a:pt x="2558" y="15073"/>
                      <a:pt x="0" y="5668"/>
                    </a:cubicBezTo>
                  </a:path>
                  <a:path w="35996" h="21600" stroke="0" extrusionOk="0">
                    <a:moveTo>
                      <a:pt x="35996" y="15393"/>
                    </a:moveTo>
                    <a:cubicBezTo>
                      <a:pt x="31955" y="19370"/>
                      <a:pt x="26512" y="21599"/>
                      <a:pt x="20843" y="21600"/>
                    </a:cubicBezTo>
                    <a:cubicBezTo>
                      <a:pt x="11096" y="21600"/>
                      <a:pt x="2558" y="15073"/>
                      <a:pt x="0" y="5668"/>
                    </a:cubicBezTo>
                    <a:lnTo>
                      <a:pt x="20843" y="0"/>
                    </a:lnTo>
                    <a:lnTo>
                      <a:pt x="35996" y="15393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7430" name="Text Box 64"/>
              <p:cNvSpPr txBox="1">
                <a:spLocks noChangeArrowheads="1"/>
              </p:cNvSpPr>
              <p:nvPr/>
            </p:nvSpPr>
            <p:spPr bwMode="auto">
              <a:xfrm>
                <a:off x="2022" y="2781"/>
                <a:ext cx="1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800" b="0">
                    <a:solidFill>
                      <a:srgbClr val="333333"/>
                    </a:solidFill>
                    <a:sym typeface="Symbol" pitchFamily="18" charset="2"/>
                  </a:rPr>
                  <a:t>.</a:t>
                </a:r>
              </a:p>
            </p:txBody>
          </p:sp>
        </p:grpSp>
        <p:sp>
          <p:nvSpPr>
            <p:cNvPr id="17423" name="Line 65"/>
            <p:cNvSpPr>
              <a:spLocks noChangeShapeType="1"/>
            </p:cNvSpPr>
            <p:nvPr/>
          </p:nvSpPr>
          <p:spPr bwMode="auto">
            <a:xfrm>
              <a:off x="3241" y="3390"/>
              <a:ext cx="1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7424" name="Line 67"/>
            <p:cNvSpPr>
              <a:spLocks noChangeShapeType="1"/>
            </p:cNvSpPr>
            <p:nvPr/>
          </p:nvSpPr>
          <p:spPr bwMode="auto">
            <a:xfrm flipV="1">
              <a:off x="3578" y="2819"/>
              <a:ext cx="0" cy="1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7425" name="Line 69"/>
            <p:cNvSpPr>
              <a:spLocks noChangeShapeType="1"/>
            </p:cNvSpPr>
            <p:nvPr/>
          </p:nvSpPr>
          <p:spPr bwMode="auto">
            <a:xfrm flipH="1">
              <a:off x="3310" y="2604"/>
              <a:ext cx="836" cy="785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grpSp>
          <p:nvGrpSpPr>
            <p:cNvPr id="17426" name="Group 70"/>
            <p:cNvGrpSpPr>
              <a:grpSpLocks/>
            </p:cNvGrpSpPr>
            <p:nvPr/>
          </p:nvGrpSpPr>
          <p:grpSpPr bwMode="auto">
            <a:xfrm rot="758896">
              <a:off x="3644" y="2654"/>
              <a:ext cx="209" cy="327"/>
              <a:chOff x="3209" y="2079"/>
              <a:chExt cx="209" cy="327"/>
            </a:xfrm>
          </p:grpSpPr>
          <p:sp>
            <p:nvSpPr>
              <p:cNvPr id="17427" name="Arc 71"/>
              <p:cNvSpPr>
                <a:spLocks/>
              </p:cNvSpPr>
              <p:nvPr/>
            </p:nvSpPr>
            <p:spPr bwMode="auto">
              <a:xfrm>
                <a:off x="3209" y="2253"/>
                <a:ext cx="209" cy="125"/>
              </a:xfrm>
              <a:custGeom>
                <a:avLst/>
                <a:gdLst>
                  <a:gd name="T0" fmla="*/ 0 w 33782"/>
                  <a:gd name="T1" fmla="*/ 0 h 21600"/>
                  <a:gd name="T2" fmla="*/ 0 w 33782"/>
                  <a:gd name="T3" fmla="*/ 0 h 21600"/>
                  <a:gd name="T4" fmla="*/ 0 w 3378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3782"/>
                  <a:gd name="T10" fmla="*/ 0 h 21600"/>
                  <a:gd name="T11" fmla="*/ 33782 w 3378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782" h="21600" fill="none" extrusionOk="0">
                    <a:moveTo>
                      <a:pt x="-1" y="9464"/>
                    </a:moveTo>
                    <a:cubicBezTo>
                      <a:pt x="4020" y="3544"/>
                      <a:pt x="10712" y="-1"/>
                      <a:pt x="17869" y="0"/>
                    </a:cubicBezTo>
                    <a:cubicBezTo>
                      <a:pt x="23918" y="0"/>
                      <a:pt x="29691" y="2537"/>
                      <a:pt x="33782" y="6993"/>
                    </a:cubicBezTo>
                  </a:path>
                  <a:path w="33782" h="21600" stroke="0" extrusionOk="0">
                    <a:moveTo>
                      <a:pt x="-1" y="9464"/>
                    </a:moveTo>
                    <a:cubicBezTo>
                      <a:pt x="4020" y="3544"/>
                      <a:pt x="10712" y="-1"/>
                      <a:pt x="17869" y="0"/>
                    </a:cubicBezTo>
                    <a:cubicBezTo>
                      <a:pt x="23918" y="0"/>
                      <a:pt x="29691" y="2537"/>
                      <a:pt x="33782" y="6993"/>
                    </a:cubicBezTo>
                    <a:lnTo>
                      <a:pt x="17869" y="21600"/>
                    </a:lnTo>
                    <a:lnTo>
                      <a:pt x="-1" y="946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17428" name="Text Box 72"/>
              <p:cNvSpPr txBox="1">
                <a:spLocks noChangeArrowheads="1"/>
              </p:cNvSpPr>
              <p:nvPr/>
            </p:nvSpPr>
            <p:spPr bwMode="auto">
              <a:xfrm>
                <a:off x="3228" y="2079"/>
                <a:ext cx="1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800" b="0">
                    <a:solidFill>
                      <a:srgbClr val="333333"/>
                    </a:solidFill>
                    <a:sym typeface="Symbol" pitchFamily="18" charset="2"/>
                  </a:rPr>
                  <a:t>.</a:t>
                </a:r>
              </a:p>
            </p:txBody>
          </p:sp>
        </p:grpSp>
      </p:grpSp>
      <p:sp>
        <p:nvSpPr>
          <p:cNvPr id="117834" name="Text Box 74"/>
          <p:cNvSpPr txBox="1">
            <a:spLocks noChangeArrowheads="1"/>
          </p:cNvSpPr>
          <p:nvPr/>
        </p:nvSpPr>
        <p:spPr bwMode="auto">
          <a:xfrm>
            <a:off x="444500" y="6091238"/>
            <a:ext cx="8504238" cy="457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推论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2: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直线垂直于平面  直线的投影垂直于平面的迹线。</a:t>
            </a:r>
          </a:p>
        </p:txBody>
      </p:sp>
      <p:sp>
        <p:nvSpPr>
          <p:cNvPr id="42" name="Text Box 3"/>
          <p:cNvSpPr txBox="1">
            <a:spLocks noChangeArrowheads="1"/>
          </p:cNvSpPr>
          <p:nvPr/>
        </p:nvSpPr>
        <p:spPr bwMode="auto">
          <a:xfrm>
            <a:off x="50976" y="40274"/>
            <a:ext cx="88058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§3.4 </a:t>
            </a:r>
            <a:r>
              <a:rPr lang="zh-CN" altLang="en-US" sz="36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几何元素间的垂直</a:t>
            </a:r>
            <a:r>
              <a:rPr lang="zh-CN" altLang="en-US" sz="36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问题</a:t>
            </a:r>
            <a:endParaRPr lang="zh-CN" altLang="en-US" sz="3600" dirty="0">
              <a:solidFill>
                <a:srgbClr val="FF0000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1091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7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77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77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77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6" grpId="0" uiExpand="1" build="p" autoUpdateAnimBg="0"/>
      <p:bldP spid="117812" grpId="0"/>
      <p:bldP spid="117834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0DDE6-CEE1-4310-95B4-E041002877BC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32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118786" name="Line 2"/>
          <p:cNvSpPr>
            <a:spLocks noChangeShapeType="1"/>
          </p:cNvSpPr>
          <p:nvPr/>
        </p:nvSpPr>
        <p:spPr bwMode="auto">
          <a:xfrm flipV="1">
            <a:off x="4984750" y="1793875"/>
            <a:ext cx="1008063" cy="1308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787" name="Line 3"/>
          <p:cNvSpPr>
            <a:spLocks noChangeShapeType="1"/>
          </p:cNvSpPr>
          <p:nvPr/>
        </p:nvSpPr>
        <p:spPr bwMode="auto">
          <a:xfrm>
            <a:off x="4984750" y="4124325"/>
            <a:ext cx="1011238" cy="1344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788" name="Rectangle 4"/>
          <p:cNvSpPr>
            <a:spLocks noChangeArrowheads="1"/>
          </p:cNvSpPr>
          <p:nvPr/>
        </p:nvSpPr>
        <p:spPr bwMode="auto">
          <a:xfrm>
            <a:off x="4872038" y="0"/>
            <a:ext cx="5873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789" name="Line 5"/>
          <p:cNvSpPr>
            <a:spLocks noChangeShapeType="1"/>
          </p:cNvSpPr>
          <p:nvPr/>
        </p:nvSpPr>
        <p:spPr bwMode="auto">
          <a:xfrm>
            <a:off x="4556125" y="2336800"/>
            <a:ext cx="0" cy="2806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790" name="Line 6"/>
          <p:cNvSpPr>
            <a:spLocks noChangeShapeType="1"/>
          </p:cNvSpPr>
          <p:nvPr/>
        </p:nvSpPr>
        <p:spPr bwMode="auto">
          <a:xfrm>
            <a:off x="6321425" y="3114675"/>
            <a:ext cx="0" cy="155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791" name="Text Box 7"/>
          <p:cNvSpPr txBox="1">
            <a:spLocks noChangeArrowheads="1"/>
          </p:cNvSpPr>
          <p:nvPr/>
        </p:nvSpPr>
        <p:spPr bwMode="auto">
          <a:xfrm>
            <a:off x="4046538" y="2041525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a'</a:t>
            </a:r>
            <a:endParaRPr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792" name="Text Box 8"/>
          <p:cNvSpPr txBox="1">
            <a:spLocks noChangeArrowheads="1"/>
          </p:cNvSpPr>
          <p:nvPr/>
        </p:nvSpPr>
        <p:spPr bwMode="auto">
          <a:xfrm>
            <a:off x="6205538" y="2757488"/>
            <a:ext cx="676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c'</a:t>
            </a:r>
            <a:endParaRPr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793" name="Text Box 9"/>
          <p:cNvSpPr txBox="1">
            <a:spLocks noChangeArrowheads="1"/>
          </p:cNvSpPr>
          <p:nvPr/>
        </p:nvSpPr>
        <p:spPr bwMode="auto">
          <a:xfrm>
            <a:off x="5578475" y="1203325"/>
            <a:ext cx="701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b'</a:t>
            </a:r>
            <a:endParaRPr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794" name="Text Box 10"/>
          <p:cNvSpPr txBox="1">
            <a:spLocks noChangeArrowheads="1"/>
          </p:cNvSpPr>
          <p:nvPr/>
        </p:nvSpPr>
        <p:spPr bwMode="auto">
          <a:xfrm>
            <a:off x="4237038" y="4994275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a</a:t>
            </a:r>
          </a:p>
        </p:txBody>
      </p:sp>
      <p:sp>
        <p:nvSpPr>
          <p:cNvPr id="118795" name="Text Box 11"/>
          <p:cNvSpPr txBox="1">
            <a:spLocks noChangeArrowheads="1"/>
          </p:cNvSpPr>
          <p:nvPr/>
        </p:nvSpPr>
        <p:spPr bwMode="auto">
          <a:xfrm>
            <a:off x="5586413" y="3332163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b</a:t>
            </a:r>
          </a:p>
        </p:txBody>
      </p:sp>
      <p:sp>
        <p:nvSpPr>
          <p:cNvPr id="118796" name="Text Box 12"/>
          <p:cNvSpPr txBox="1">
            <a:spLocks noChangeArrowheads="1"/>
          </p:cNvSpPr>
          <p:nvPr/>
        </p:nvSpPr>
        <p:spPr bwMode="auto">
          <a:xfrm>
            <a:off x="6288088" y="4579938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c</a:t>
            </a:r>
          </a:p>
        </p:txBody>
      </p:sp>
      <p:sp>
        <p:nvSpPr>
          <p:cNvPr id="118797" name="Freeform 13"/>
          <p:cNvSpPr>
            <a:spLocks/>
          </p:cNvSpPr>
          <p:nvPr/>
        </p:nvSpPr>
        <p:spPr bwMode="auto">
          <a:xfrm>
            <a:off x="4552950" y="1401763"/>
            <a:ext cx="1768475" cy="1706562"/>
          </a:xfrm>
          <a:custGeom>
            <a:avLst/>
            <a:gdLst>
              <a:gd name="T0" fmla="*/ 0 w 852"/>
              <a:gd name="T1" fmla="*/ 1939603214 h 822"/>
              <a:gd name="T2" fmla="*/ 2147483647 w 852"/>
              <a:gd name="T3" fmla="*/ 0 h 822"/>
              <a:gd name="T4" fmla="*/ 2147483647 w 852"/>
              <a:gd name="T5" fmla="*/ 2147483647 h 822"/>
              <a:gd name="T6" fmla="*/ 0 w 852"/>
              <a:gd name="T7" fmla="*/ 1939603214 h 822"/>
              <a:gd name="T8" fmla="*/ 0 60000 65536"/>
              <a:gd name="T9" fmla="*/ 0 60000 65536"/>
              <a:gd name="T10" fmla="*/ 0 60000 65536"/>
              <a:gd name="T11" fmla="*/ 0 60000 65536"/>
              <a:gd name="T12" fmla="*/ 0 w 852"/>
              <a:gd name="T13" fmla="*/ 0 h 822"/>
              <a:gd name="T14" fmla="*/ 852 w 852"/>
              <a:gd name="T15" fmla="*/ 822 h 8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52" h="822">
                <a:moveTo>
                  <a:pt x="0" y="450"/>
                </a:moveTo>
                <a:lnTo>
                  <a:pt x="510" y="0"/>
                </a:lnTo>
                <a:lnTo>
                  <a:pt x="852" y="822"/>
                </a:lnTo>
                <a:lnTo>
                  <a:pt x="0" y="45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798" name="Freeform 14"/>
          <p:cNvSpPr>
            <a:spLocks/>
          </p:cNvSpPr>
          <p:nvPr/>
        </p:nvSpPr>
        <p:spPr bwMode="auto">
          <a:xfrm flipV="1">
            <a:off x="4552950" y="3632200"/>
            <a:ext cx="1768475" cy="1555750"/>
          </a:xfrm>
          <a:custGeom>
            <a:avLst/>
            <a:gdLst>
              <a:gd name="T0" fmla="*/ 0 w 852"/>
              <a:gd name="T1" fmla="*/ 0 h 750"/>
              <a:gd name="T2" fmla="*/ 2147483647 w 852"/>
              <a:gd name="T3" fmla="*/ 1045594683 h 750"/>
              <a:gd name="T4" fmla="*/ 2147483647 w 852"/>
              <a:gd name="T5" fmla="*/ 2147483647 h 750"/>
              <a:gd name="T6" fmla="*/ 0 w 852"/>
              <a:gd name="T7" fmla="*/ 0 h 750"/>
              <a:gd name="T8" fmla="*/ 0 60000 65536"/>
              <a:gd name="T9" fmla="*/ 0 60000 65536"/>
              <a:gd name="T10" fmla="*/ 0 60000 65536"/>
              <a:gd name="T11" fmla="*/ 0 60000 65536"/>
              <a:gd name="T12" fmla="*/ 0 w 852"/>
              <a:gd name="T13" fmla="*/ 0 h 750"/>
              <a:gd name="T14" fmla="*/ 852 w 852"/>
              <a:gd name="T15" fmla="*/ 750 h 7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52" h="750">
                <a:moveTo>
                  <a:pt x="0" y="0"/>
                </a:moveTo>
                <a:lnTo>
                  <a:pt x="852" y="243"/>
                </a:lnTo>
                <a:lnTo>
                  <a:pt x="507" y="750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799" name="Line 15"/>
          <p:cNvSpPr>
            <a:spLocks noChangeShapeType="1"/>
          </p:cNvSpPr>
          <p:nvPr/>
        </p:nvSpPr>
        <p:spPr bwMode="auto">
          <a:xfrm>
            <a:off x="3757613" y="3370263"/>
            <a:ext cx="3671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00" name="Text Box 16"/>
          <p:cNvSpPr txBox="1">
            <a:spLocks noChangeArrowheads="1"/>
          </p:cNvSpPr>
          <p:nvPr/>
        </p:nvSpPr>
        <p:spPr bwMode="auto">
          <a:xfrm>
            <a:off x="4722813" y="2784475"/>
            <a:ext cx="361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k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18801" name="Line 17"/>
          <p:cNvSpPr>
            <a:spLocks noChangeShapeType="1"/>
          </p:cNvSpPr>
          <p:nvPr/>
        </p:nvSpPr>
        <p:spPr bwMode="auto">
          <a:xfrm>
            <a:off x="4984750" y="3101975"/>
            <a:ext cx="0" cy="1009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02" name="Text Box 18"/>
          <p:cNvSpPr txBox="1">
            <a:spLocks noChangeArrowheads="1"/>
          </p:cNvSpPr>
          <p:nvPr/>
        </p:nvSpPr>
        <p:spPr bwMode="auto">
          <a:xfrm>
            <a:off x="4595813" y="3849688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k</a:t>
            </a:r>
            <a:endParaRPr kumimoji="0" lang="en-US" altLang="zh-CN" sz="2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03" name="Line 19"/>
          <p:cNvSpPr>
            <a:spLocks noChangeShapeType="1"/>
          </p:cNvSpPr>
          <p:nvPr/>
        </p:nvSpPr>
        <p:spPr bwMode="auto">
          <a:xfrm>
            <a:off x="5603875" y="1408113"/>
            <a:ext cx="0" cy="223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04" name="Line 20"/>
          <p:cNvSpPr>
            <a:spLocks noChangeShapeType="1"/>
          </p:cNvSpPr>
          <p:nvPr/>
        </p:nvSpPr>
        <p:spPr bwMode="auto">
          <a:xfrm>
            <a:off x="5607050" y="3425825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05" name="Line 21"/>
          <p:cNvSpPr>
            <a:spLocks noChangeShapeType="1"/>
          </p:cNvSpPr>
          <p:nvPr/>
        </p:nvSpPr>
        <p:spPr bwMode="auto">
          <a:xfrm>
            <a:off x="4560888" y="2322513"/>
            <a:ext cx="1444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06" name="Line 22"/>
          <p:cNvSpPr>
            <a:spLocks noChangeShapeType="1"/>
          </p:cNvSpPr>
          <p:nvPr/>
        </p:nvSpPr>
        <p:spPr bwMode="auto">
          <a:xfrm>
            <a:off x="5980113" y="2317750"/>
            <a:ext cx="0" cy="1082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07" name="Line 23"/>
          <p:cNvSpPr>
            <a:spLocks noChangeShapeType="1"/>
          </p:cNvSpPr>
          <p:nvPr/>
        </p:nvSpPr>
        <p:spPr bwMode="auto">
          <a:xfrm>
            <a:off x="5980113" y="3376613"/>
            <a:ext cx="0" cy="822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08" name="Line 24"/>
          <p:cNvSpPr>
            <a:spLocks noChangeShapeType="1"/>
          </p:cNvSpPr>
          <p:nvPr/>
        </p:nvSpPr>
        <p:spPr bwMode="auto">
          <a:xfrm flipV="1">
            <a:off x="4560888" y="4165600"/>
            <a:ext cx="1419225" cy="1022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121275" y="4271963"/>
            <a:ext cx="242888" cy="457200"/>
            <a:chOff x="3226" y="2691"/>
            <a:chExt cx="153" cy="288"/>
          </a:xfrm>
        </p:grpSpPr>
        <p:sp>
          <p:nvSpPr>
            <p:cNvPr id="18518" name="Arc 26"/>
            <p:cNvSpPr>
              <a:spLocks/>
            </p:cNvSpPr>
            <p:nvPr/>
          </p:nvSpPr>
          <p:spPr bwMode="auto">
            <a:xfrm flipH="1">
              <a:off x="3242" y="2821"/>
              <a:ext cx="133" cy="151"/>
            </a:xfrm>
            <a:custGeom>
              <a:avLst/>
              <a:gdLst>
                <a:gd name="T0" fmla="*/ 0 w 21600"/>
                <a:gd name="T1" fmla="*/ 0 h 31704"/>
                <a:gd name="T2" fmla="*/ 0 w 21600"/>
                <a:gd name="T3" fmla="*/ 0 h 31704"/>
                <a:gd name="T4" fmla="*/ 0 w 21600"/>
                <a:gd name="T5" fmla="*/ 0 h 31704"/>
                <a:gd name="T6" fmla="*/ 0 60000 65536"/>
                <a:gd name="T7" fmla="*/ 0 60000 65536"/>
                <a:gd name="T8" fmla="*/ 0 60000 65536"/>
                <a:gd name="T9" fmla="*/ 0 w 21600"/>
                <a:gd name="T10" fmla="*/ 0 h 31704"/>
                <a:gd name="T11" fmla="*/ 21600 w 21600"/>
                <a:gd name="T12" fmla="*/ 31704 h 317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1704" fill="none" extrusionOk="0">
                  <a:moveTo>
                    <a:pt x="12292" y="-1"/>
                  </a:moveTo>
                  <a:cubicBezTo>
                    <a:pt x="18121" y="4034"/>
                    <a:pt x="21600" y="10671"/>
                    <a:pt x="21600" y="17761"/>
                  </a:cubicBezTo>
                  <a:cubicBezTo>
                    <a:pt x="21600" y="22865"/>
                    <a:pt x="19792" y="27805"/>
                    <a:pt x="16497" y="31704"/>
                  </a:cubicBezTo>
                </a:path>
                <a:path w="21600" h="31704" stroke="0" extrusionOk="0">
                  <a:moveTo>
                    <a:pt x="12292" y="-1"/>
                  </a:moveTo>
                  <a:cubicBezTo>
                    <a:pt x="18121" y="4034"/>
                    <a:pt x="21600" y="10671"/>
                    <a:pt x="21600" y="17761"/>
                  </a:cubicBezTo>
                  <a:cubicBezTo>
                    <a:pt x="21600" y="22865"/>
                    <a:pt x="19792" y="27805"/>
                    <a:pt x="16497" y="31704"/>
                  </a:cubicBezTo>
                  <a:lnTo>
                    <a:pt x="0" y="17761"/>
                  </a:lnTo>
                  <a:lnTo>
                    <a:pt x="12292" y="-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8519" name="Text Box 27"/>
            <p:cNvSpPr txBox="1">
              <a:spLocks noChangeArrowheads="1"/>
            </p:cNvSpPr>
            <p:nvPr/>
          </p:nvSpPr>
          <p:spPr bwMode="auto">
            <a:xfrm>
              <a:off x="3226" y="2691"/>
              <a:ext cx="1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.</a:t>
              </a:r>
            </a:p>
          </p:txBody>
        </p:sp>
      </p:grpSp>
      <p:sp>
        <p:nvSpPr>
          <p:cNvPr id="118812" name="Text Box 28"/>
          <p:cNvSpPr txBox="1">
            <a:spLocks noChangeArrowheads="1"/>
          </p:cNvSpPr>
          <p:nvPr/>
        </p:nvSpPr>
        <p:spPr bwMode="auto">
          <a:xfrm>
            <a:off x="5991225" y="5233988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d</a:t>
            </a:r>
            <a:endParaRPr kumimoji="0"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13" name="Line 29"/>
          <p:cNvSpPr>
            <a:spLocks noChangeShapeType="1"/>
          </p:cNvSpPr>
          <p:nvPr/>
        </p:nvSpPr>
        <p:spPr bwMode="auto">
          <a:xfrm flipH="1">
            <a:off x="4897438" y="4672013"/>
            <a:ext cx="1419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14" name="Line 30"/>
          <p:cNvSpPr>
            <a:spLocks noChangeShapeType="1"/>
          </p:cNvSpPr>
          <p:nvPr/>
        </p:nvSpPr>
        <p:spPr bwMode="auto">
          <a:xfrm flipV="1">
            <a:off x="4897438" y="3338513"/>
            <a:ext cx="0" cy="1333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15" name="Line 31"/>
          <p:cNvSpPr>
            <a:spLocks noChangeShapeType="1"/>
          </p:cNvSpPr>
          <p:nvPr/>
        </p:nvSpPr>
        <p:spPr bwMode="auto">
          <a:xfrm flipV="1">
            <a:off x="4897438" y="2030413"/>
            <a:ext cx="0" cy="134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16" name="Line 32"/>
          <p:cNvSpPr>
            <a:spLocks noChangeShapeType="1"/>
          </p:cNvSpPr>
          <p:nvPr/>
        </p:nvSpPr>
        <p:spPr bwMode="auto">
          <a:xfrm>
            <a:off x="4897438" y="2030413"/>
            <a:ext cx="1406525" cy="1071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5253038" y="2159000"/>
            <a:ext cx="242887" cy="457200"/>
            <a:chOff x="3309" y="1360"/>
            <a:chExt cx="153" cy="288"/>
          </a:xfrm>
        </p:grpSpPr>
        <p:sp>
          <p:nvSpPr>
            <p:cNvPr id="18516" name="Arc 34"/>
            <p:cNvSpPr>
              <a:spLocks/>
            </p:cNvSpPr>
            <p:nvPr/>
          </p:nvSpPr>
          <p:spPr bwMode="auto">
            <a:xfrm flipH="1">
              <a:off x="3323" y="1489"/>
              <a:ext cx="127" cy="158"/>
            </a:xfrm>
            <a:custGeom>
              <a:avLst/>
              <a:gdLst>
                <a:gd name="T0" fmla="*/ 0 w 21600"/>
                <a:gd name="T1" fmla="*/ 0 h 30894"/>
                <a:gd name="T2" fmla="*/ 0 w 21600"/>
                <a:gd name="T3" fmla="*/ 0 h 30894"/>
                <a:gd name="T4" fmla="*/ 0 w 21600"/>
                <a:gd name="T5" fmla="*/ 0 h 30894"/>
                <a:gd name="T6" fmla="*/ 0 60000 65536"/>
                <a:gd name="T7" fmla="*/ 0 60000 65536"/>
                <a:gd name="T8" fmla="*/ 0 60000 65536"/>
                <a:gd name="T9" fmla="*/ 0 w 21600"/>
                <a:gd name="T10" fmla="*/ 0 h 30894"/>
                <a:gd name="T11" fmla="*/ 21600 w 21600"/>
                <a:gd name="T12" fmla="*/ 30894 h 308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0894" fill="none" extrusionOk="0">
                  <a:moveTo>
                    <a:pt x="16198" y="-1"/>
                  </a:moveTo>
                  <a:cubicBezTo>
                    <a:pt x="19679" y="3945"/>
                    <a:pt x="21600" y="9026"/>
                    <a:pt x="21600" y="14289"/>
                  </a:cubicBezTo>
                  <a:cubicBezTo>
                    <a:pt x="21600" y="20705"/>
                    <a:pt x="18747" y="26789"/>
                    <a:pt x="13814" y="30893"/>
                  </a:cubicBezTo>
                </a:path>
                <a:path w="21600" h="30894" stroke="0" extrusionOk="0">
                  <a:moveTo>
                    <a:pt x="16198" y="-1"/>
                  </a:moveTo>
                  <a:cubicBezTo>
                    <a:pt x="19679" y="3945"/>
                    <a:pt x="21600" y="9026"/>
                    <a:pt x="21600" y="14289"/>
                  </a:cubicBezTo>
                  <a:cubicBezTo>
                    <a:pt x="21600" y="20705"/>
                    <a:pt x="18747" y="26789"/>
                    <a:pt x="13814" y="30893"/>
                  </a:cubicBezTo>
                  <a:lnTo>
                    <a:pt x="0" y="14289"/>
                  </a:lnTo>
                  <a:lnTo>
                    <a:pt x="16198" y="-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8517" name="Text Box 35"/>
            <p:cNvSpPr txBox="1">
              <a:spLocks noChangeArrowheads="1"/>
            </p:cNvSpPr>
            <p:nvPr/>
          </p:nvSpPr>
          <p:spPr bwMode="auto">
            <a:xfrm>
              <a:off x="3309" y="1360"/>
              <a:ext cx="1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.</a:t>
              </a:r>
            </a:p>
          </p:txBody>
        </p:sp>
      </p:grpSp>
      <p:sp>
        <p:nvSpPr>
          <p:cNvPr id="118820" name="Line 36"/>
          <p:cNvSpPr>
            <a:spLocks noChangeShapeType="1"/>
          </p:cNvSpPr>
          <p:nvPr/>
        </p:nvSpPr>
        <p:spPr bwMode="auto">
          <a:xfrm flipV="1">
            <a:off x="5992813" y="50958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21" name="Line 37"/>
          <p:cNvSpPr>
            <a:spLocks noChangeShapeType="1"/>
          </p:cNvSpPr>
          <p:nvPr/>
        </p:nvSpPr>
        <p:spPr bwMode="auto">
          <a:xfrm>
            <a:off x="5992813" y="17938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22" name="Text Box 38"/>
          <p:cNvSpPr txBox="1">
            <a:spLocks noChangeArrowheads="1"/>
          </p:cNvSpPr>
          <p:nvPr/>
        </p:nvSpPr>
        <p:spPr bwMode="auto">
          <a:xfrm>
            <a:off x="5854700" y="1608138"/>
            <a:ext cx="650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d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18823" name="Line 39"/>
          <p:cNvSpPr>
            <a:spLocks noChangeShapeType="1"/>
          </p:cNvSpPr>
          <p:nvPr/>
        </p:nvSpPr>
        <p:spPr bwMode="auto">
          <a:xfrm flipV="1">
            <a:off x="5992813" y="1109663"/>
            <a:ext cx="536575" cy="684212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24" name="Text Box 40"/>
          <p:cNvSpPr txBox="1">
            <a:spLocks noChangeArrowheads="1"/>
          </p:cNvSpPr>
          <p:nvPr/>
        </p:nvSpPr>
        <p:spPr bwMode="auto">
          <a:xfrm>
            <a:off x="6367463" y="949325"/>
            <a:ext cx="733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FF3300"/>
                </a:solidFill>
                <a:latin typeface="ISOCPEUR" pitchFamily="34" charset="0"/>
                <a:sym typeface="Symbol" pitchFamily="18" charset="2"/>
              </a:rPr>
              <a:t>P</a:t>
            </a:r>
            <a:r>
              <a:rPr lang="en-US" altLang="zh-CN" sz="2000" i="1" baseline="-8000">
                <a:solidFill>
                  <a:srgbClr val="FF3300"/>
                </a:solidFill>
                <a:latin typeface="ISOCPEUR" pitchFamily="34" charset="0"/>
                <a:sym typeface="Symbol" pitchFamily="18" charset="2"/>
              </a:rPr>
              <a:t>V</a:t>
            </a:r>
            <a:endParaRPr kumimoji="0" lang="en-US" altLang="zh-CN" sz="2000" i="1">
              <a:solidFill>
                <a:srgbClr val="FF3300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25" name="Line 41"/>
          <p:cNvSpPr>
            <a:spLocks noChangeShapeType="1"/>
          </p:cNvSpPr>
          <p:nvPr/>
        </p:nvSpPr>
        <p:spPr bwMode="auto">
          <a:xfrm>
            <a:off x="5321300" y="2678113"/>
            <a:ext cx="0" cy="63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26" name="Line 42"/>
          <p:cNvSpPr>
            <a:spLocks noChangeShapeType="1"/>
          </p:cNvSpPr>
          <p:nvPr/>
        </p:nvSpPr>
        <p:spPr bwMode="auto">
          <a:xfrm>
            <a:off x="5321300" y="3140075"/>
            <a:ext cx="0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27" name="Line 43"/>
          <p:cNvSpPr>
            <a:spLocks noChangeShapeType="1"/>
          </p:cNvSpPr>
          <p:nvPr/>
        </p:nvSpPr>
        <p:spPr bwMode="auto">
          <a:xfrm>
            <a:off x="5321300" y="3376613"/>
            <a:ext cx="0" cy="159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28" name="Text Box 44"/>
          <p:cNvSpPr txBox="1">
            <a:spLocks noChangeArrowheads="1"/>
          </p:cNvSpPr>
          <p:nvPr/>
        </p:nvSpPr>
        <p:spPr bwMode="auto">
          <a:xfrm>
            <a:off x="5108575" y="2111375"/>
            <a:ext cx="74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l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  <a:endParaRPr kumimoji="0"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29" name="Line 45"/>
          <p:cNvSpPr>
            <a:spLocks noChangeShapeType="1"/>
          </p:cNvSpPr>
          <p:nvPr/>
        </p:nvSpPr>
        <p:spPr bwMode="auto">
          <a:xfrm>
            <a:off x="5856288" y="1981200"/>
            <a:ext cx="0" cy="1419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30" name="Line 46"/>
          <p:cNvSpPr>
            <a:spLocks noChangeShapeType="1"/>
          </p:cNvSpPr>
          <p:nvPr/>
        </p:nvSpPr>
        <p:spPr bwMode="auto">
          <a:xfrm>
            <a:off x="5856288" y="338931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31" name="Line 47"/>
          <p:cNvSpPr>
            <a:spLocks noChangeShapeType="1"/>
          </p:cNvSpPr>
          <p:nvPr/>
        </p:nvSpPr>
        <p:spPr bwMode="auto">
          <a:xfrm flipH="1">
            <a:off x="5321300" y="3986213"/>
            <a:ext cx="534988" cy="984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32" name="Text Box 48"/>
          <p:cNvSpPr txBox="1">
            <a:spLocks noChangeArrowheads="1"/>
          </p:cNvSpPr>
          <p:nvPr/>
        </p:nvSpPr>
        <p:spPr bwMode="auto">
          <a:xfrm>
            <a:off x="5362575" y="4535488"/>
            <a:ext cx="352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l</a:t>
            </a:r>
            <a:endParaRPr kumimoji="0" lang="en-US" altLang="zh-CN" sz="2400" i="1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33" name="Line 49"/>
          <p:cNvSpPr>
            <a:spLocks noChangeShapeType="1"/>
          </p:cNvSpPr>
          <p:nvPr/>
        </p:nvSpPr>
        <p:spPr bwMode="auto">
          <a:xfrm flipV="1">
            <a:off x="5457825" y="3338513"/>
            <a:ext cx="0" cy="1408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34" name="Line 50"/>
          <p:cNvSpPr>
            <a:spLocks noChangeShapeType="1"/>
          </p:cNvSpPr>
          <p:nvPr/>
        </p:nvSpPr>
        <p:spPr bwMode="auto">
          <a:xfrm flipV="1">
            <a:off x="5457825" y="2492375"/>
            <a:ext cx="0" cy="871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35" name="Line 51"/>
          <p:cNvSpPr>
            <a:spLocks noChangeShapeType="1"/>
          </p:cNvSpPr>
          <p:nvPr/>
        </p:nvSpPr>
        <p:spPr bwMode="auto">
          <a:xfrm flipV="1">
            <a:off x="5133975" y="1793875"/>
            <a:ext cx="0" cy="2528888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36" name="Line 52"/>
          <p:cNvSpPr>
            <a:spLocks noChangeShapeType="1"/>
          </p:cNvSpPr>
          <p:nvPr/>
        </p:nvSpPr>
        <p:spPr bwMode="auto">
          <a:xfrm>
            <a:off x="4981575" y="4102100"/>
            <a:ext cx="142875" cy="1889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37" name="Line 53"/>
          <p:cNvSpPr>
            <a:spLocks noChangeShapeType="1"/>
          </p:cNvSpPr>
          <p:nvPr/>
        </p:nvSpPr>
        <p:spPr bwMode="auto">
          <a:xfrm>
            <a:off x="5133975" y="4310063"/>
            <a:ext cx="317500" cy="4302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38" name="Line 54"/>
          <p:cNvSpPr>
            <a:spLocks noChangeShapeType="1"/>
          </p:cNvSpPr>
          <p:nvPr/>
        </p:nvSpPr>
        <p:spPr bwMode="auto">
          <a:xfrm flipV="1">
            <a:off x="4997450" y="2667000"/>
            <a:ext cx="323850" cy="4349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39" name="Line 55"/>
          <p:cNvSpPr>
            <a:spLocks noChangeShapeType="1"/>
          </p:cNvSpPr>
          <p:nvPr/>
        </p:nvSpPr>
        <p:spPr bwMode="auto">
          <a:xfrm flipV="1">
            <a:off x="5321300" y="2498725"/>
            <a:ext cx="123825" cy="1793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40" name="Line 56"/>
          <p:cNvSpPr>
            <a:spLocks noChangeShapeType="1"/>
          </p:cNvSpPr>
          <p:nvPr/>
        </p:nvSpPr>
        <p:spPr bwMode="auto">
          <a:xfrm>
            <a:off x="7537450" y="2505075"/>
            <a:ext cx="0" cy="593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41" name="Line 57"/>
          <p:cNvSpPr>
            <a:spLocks noChangeShapeType="1"/>
          </p:cNvSpPr>
          <p:nvPr/>
        </p:nvSpPr>
        <p:spPr bwMode="auto">
          <a:xfrm>
            <a:off x="5445125" y="2505075"/>
            <a:ext cx="2079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42" name="Line 58"/>
          <p:cNvSpPr>
            <a:spLocks noChangeShapeType="1"/>
          </p:cNvSpPr>
          <p:nvPr/>
        </p:nvSpPr>
        <p:spPr bwMode="auto">
          <a:xfrm>
            <a:off x="4984750" y="3101975"/>
            <a:ext cx="254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43" name="Line 59"/>
          <p:cNvSpPr>
            <a:spLocks noChangeShapeType="1"/>
          </p:cNvSpPr>
          <p:nvPr/>
        </p:nvSpPr>
        <p:spPr bwMode="auto">
          <a:xfrm>
            <a:off x="4986338" y="4092575"/>
            <a:ext cx="463550" cy="6413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44" name="Line 60"/>
          <p:cNvSpPr>
            <a:spLocks noChangeShapeType="1"/>
          </p:cNvSpPr>
          <p:nvPr/>
        </p:nvSpPr>
        <p:spPr bwMode="auto">
          <a:xfrm>
            <a:off x="6753225" y="3101975"/>
            <a:ext cx="784225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45" name="Line 61"/>
          <p:cNvSpPr>
            <a:spLocks noChangeShapeType="1"/>
          </p:cNvSpPr>
          <p:nvPr/>
        </p:nvSpPr>
        <p:spPr bwMode="auto">
          <a:xfrm flipV="1">
            <a:off x="6753225" y="2505075"/>
            <a:ext cx="784225" cy="5969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46" name="Text Box 62"/>
          <p:cNvSpPr txBox="1">
            <a:spLocks noChangeArrowheads="1"/>
          </p:cNvSpPr>
          <p:nvPr/>
        </p:nvSpPr>
        <p:spPr bwMode="auto">
          <a:xfrm>
            <a:off x="6861175" y="2454275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L</a:t>
            </a:r>
            <a:endParaRPr kumimoji="0" lang="en-US" altLang="zh-CN" sz="2400" i="1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47" name="AutoShape 63"/>
          <p:cNvSpPr>
            <a:spLocks noChangeArrowheads="1"/>
          </p:cNvSpPr>
          <p:nvPr/>
        </p:nvSpPr>
        <p:spPr bwMode="auto">
          <a:xfrm>
            <a:off x="5395913" y="2454275"/>
            <a:ext cx="96837" cy="98425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48" name="AutoShape 64"/>
          <p:cNvSpPr>
            <a:spLocks noChangeArrowheads="1"/>
          </p:cNvSpPr>
          <p:nvPr/>
        </p:nvSpPr>
        <p:spPr bwMode="auto">
          <a:xfrm>
            <a:off x="4933950" y="3059113"/>
            <a:ext cx="98425" cy="96837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49" name="AutoShape 65"/>
          <p:cNvSpPr>
            <a:spLocks noChangeArrowheads="1"/>
          </p:cNvSpPr>
          <p:nvPr/>
        </p:nvSpPr>
        <p:spPr bwMode="auto">
          <a:xfrm>
            <a:off x="4933950" y="4060825"/>
            <a:ext cx="98425" cy="98425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50" name="AutoShape 66"/>
          <p:cNvSpPr>
            <a:spLocks noChangeArrowheads="1"/>
          </p:cNvSpPr>
          <p:nvPr/>
        </p:nvSpPr>
        <p:spPr bwMode="auto">
          <a:xfrm>
            <a:off x="5407025" y="4697413"/>
            <a:ext cx="98425" cy="96837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8496" name="Text Box 67"/>
          <p:cNvSpPr txBox="1">
            <a:spLocks noChangeArrowheads="1"/>
          </p:cNvSpPr>
          <p:nvPr/>
        </p:nvSpPr>
        <p:spPr bwMode="auto">
          <a:xfrm>
            <a:off x="338138" y="398463"/>
            <a:ext cx="5251450" cy="4953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33CC"/>
            </a:solidFill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例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: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已知面及点，求点与面的距离</a:t>
            </a:r>
            <a:r>
              <a:rPr kumimoji="0" lang="en-US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。</a:t>
            </a:r>
          </a:p>
        </p:txBody>
      </p:sp>
      <p:sp>
        <p:nvSpPr>
          <p:cNvPr id="118852" name="Text Box 68"/>
          <p:cNvSpPr txBox="1">
            <a:spLocks noChangeArrowheads="1"/>
          </p:cNvSpPr>
          <p:nvPr/>
        </p:nvSpPr>
        <p:spPr bwMode="auto">
          <a:xfrm>
            <a:off x="393700" y="1103313"/>
            <a:ext cx="8750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做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KD⊥△</a:t>
            </a:r>
            <a:endParaRPr kumimoji="0" lang="en-US" altLang="zh-CN" sz="280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18853" name="Text Box 69"/>
          <p:cNvSpPr txBox="1">
            <a:spLocks noChangeArrowheads="1"/>
          </p:cNvSpPr>
          <p:nvPr/>
        </p:nvSpPr>
        <p:spPr bwMode="auto">
          <a:xfrm>
            <a:off x="377825" y="1608138"/>
            <a:ext cx="8766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求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KD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与</a:t>
            </a:r>
            <a:r>
              <a:rPr kumimoji="0" lang="en-US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△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的交点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L</a:t>
            </a:r>
          </a:p>
        </p:txBody>
      </p:sp>
      <p:sp>
        <p:nvSpPr>
          <p:cNvPr id="118854" name="Text Box 70"/>
          <p:cNvSpPr txBox="1">
            <a:spLocks noChangeArrowheads="1"/>
          </p:cNvSpPr>
          <p:nvPr/>
        </p:nvSpPr>
        <p:spPr bwMode="auto">
          <a:xfrm>
            <a:off x="379413" y="2105025"/>
            <a:ext cx="8764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求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KL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实长</a:t>
            </a:r>
          </a:p>
        </p:txBody>
      </p:sp>
      <p:sp>
        <p:nvSpPr>
          <p:cNvPr id="118855" name="Text Box 71"/>
          <p:cNvSpPr txBox="1">
            <a:spLocks noChangeArrowheads="1"/>
          </p:cNvSpPr>
          <p:nvPr/>
        </p:nvSpPr>
        <p:spPr bwMode="auto">
          <a:xfrm>
            <a:off x="339725" y="2605088"/>
            <a:ext cx="880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判断可见性</a:t>
            </a:r>
          </a:p>
        </p:txBody>
      </p:sp>
      <p:sp>
        <p:nvSpPr>
          <p:cNvPr id="118856" name="Text Box 72"/>
          <p:cNvSpPr txBox="1">
            <a:spLocks noChangeArrowheads="1"/>
          </p:cNvSpPr>
          <p:nvPr/>
        </p:nvSpPr>
        <p:spPr bwMode="auto">
          <a:xfrm>
            <a:off x="7046913" y="3046413"/>
            <a:ext cx="371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kl</a:t>
            </a:r>
            <a:endParaRPr kumimoji="0" lang="en-US" altLang="zh-CN" sz="2400" i="1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57" name="Line 73"/>
          <p:cNvSpPr>
            <a:spLocks noChangeShapeType="1"/>
          </p:cNvSpPr>
          <p:nvPr/>
        </p:nvSpPr>
        <p:spPr bwMode="auto">
          <a:xfrm flipH="1">
            <a:off x="7442200" y="2997200"/>
            <a:ext cx="95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58" name="Line 74"/>
          <p:cNvSpPr>
            <a:spLocks noChangeShapeType="1"/>
          </p:cNvSpPr>
          <p:nvPr/>
        </p:nvSpPr>
        <p:spPr bwMode="auto">
          <a:xfrm>
            <a:off x="7448550" y="2997200"/>
            <a:ext cx="0" cy="10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59" name="Text Box 75"/>
          <p:cNvSpPr txBox="1">
            <a:spLocks noChangeArrowheads="1"/>
          </p:cNvSpPr>
          <p:nvPr/>
        </p:nvSpPr>
        <p:spPr bwMode="auto">
          <a:xfrm>
            <a:off x="7362825" y="2616200"/>
            <a:ext cx="949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△Z</a:t>
            </a:r>
            <a:r>
              <a:rPr kumimoji="0" lang="en-US" altLang="zh-CN" sz="2000" i="1" baseline="-25000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KL</a:t>
            </a:r>
          </a:p>
        </p:txBody>
      </p:sp>
      <p:sp>
        <p:nvSpPr>
          <p:cNvPr id="118860" name="Line 76"/>
          <p:cNvSpPr>
            <a:spLocks noChangeShapeType="1"/>
          </p:cNvSpPr>
          <p:nvPr/>
        </p:nvSpPr>
        <p:spPr bwMode="auto">
          <a:xfrm>
            <a:off x="5324475" y="2667000"/>
            <a:ext cx="0" cy="2314575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61" name="Line 77"/>
          <p:cNvSpPr>
            <a:spLocks noChangeShapeType="1"/>
          </p:cNvSpPr>
          <p:nvPr/>
        </p:nvSpPr>
        <p:spPr bwMode="auto">
          <a:xfrm>
            <a:off x="5605463" y="1609725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62" name="Line 78"/>
          <p:cNvSpPr>
            <a:spLocks noChangeShapeType="1"/>
          </p:cNvSpPr>
          <p:nvPr/>
        </p:nvSpPr>
        <p:spPr bwMode="auto">
          <a:xfrm flipV="1">
            <a:off x="5991225" y="1990725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63" name="Text Box 79"/>
          <p:cNvSpPr txBox="1">
            <a:spLocks noChangeArrowheads="1"/>
          </p:cNvSpPr>
          <p:nvPr/>
        </p:nvSpPr>
        <p:spPr bwMode="auto">
          <a:xfrm>
            <a:off x="5741988" y="2130425"/>
            <a:ext cx="738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1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  <p:sp>
        <p:nvSpPr>
          <p:cNvPr id="118864" name="Text Box 80"/>
          <p:cNvSpPr txBox="1">
            <a:spLocks noChangeArrowheads="1"/>
          </p:cNvSpPr>
          <p:nvPr/>
        </p:nvSpPr>
        <p:spPr bwMode="auto">
          <a:xfrm>
            <a:off x="5818188" y="3924300"/>
            <a:ext cx="449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1</a:t>
            </a:r>
            <a:endParaRPr kumimoji="0"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65" name="Text Box 81"/>
          <p:cNvSpPr txBox="1">
            <a:spLocks noChangeArrowheads="1"/>
          </p:cNvSpPr>
          <p:nvPr/>
        </p:nvSpPr>
        <p:spPr bwMode="auto">
          <a:xfrm>
            <a:off x="4459288" y="4422775"/>
            <a:ext cx="514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2</a:t>
            </a:r>
            <a:endParaRPr kumimoji="0"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66" name="Text Box 82"/>
          <p:cNvSpPr txBox="1">
            <a:spLocks noChangeArrowheads="1"/>
          </p:cNvSpPr>
          <p:nvPr/>
        </p:nvSpPr>
        <p:spPr bwMode="auto">
          <a:xfrm>
            <a:off x="4475163" y="1706563"/>
            <a:ext cx="71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2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  <a:endParaRPr kumimoji="0"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67" name="Text Box 83"/>
          <p:cNvSpPr txBox="1">
            <a:spLocks noChangeArrowheads="1"/>
          </p:cNvSpPr>
          <p:nvPr/>
        </p:nvSpPr>
        <p:spPr bwMode="auto">
          <a:xfrm>
            <a:off x="5011738" y="2741613"/>
            <a:ext cx="63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3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  <a:endParaRPr kumimoji="0"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8868" name="Text Box 84"/>
          <p:cNvSpPr txBox="1">
            <a:spLocks noChangeArrowheads="1"/>
          </p:cNvSpPr>
          <p:nvPr/>
        </p:nvSpPr>
        <p:spPr bwMode="auto">
          <a:xfrm>
            <a:off x="5045075" y="4995863"/>
            <a:ext cx="563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3</a:t>
            </a:r>
          </a:p>
        </p:txBody>
      </p:sp>
      <p:sp>
        <p:nvSpPr>
          <p:cNvPr id="118869" name="Text Box 85"/>
          <p:cNvSpPr txBox="1">
            <a:spLocks noChangeArrowheads="1"/>
          </p:cNvSpPr>
          <p:nvPr/>
        </p:nvSpPr>
        <p:spPr bwMode="auto">
          <a:xfrm>
            <a:off x="5462588" y="3822700"/>
            <a:ext cx="5159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4</a:t>
            </a:r>
          </a:p>
        </p:txBody>
      </p:sp>
      <p:sp>
        <p:nvSpPr>
          <p:cNvPr id="118870" name="Text Box 86"/>
          <p:cNvSpPr txBox="1">
            <a:spLocks noChangeArrowheads="1"/>
          </p:cNvSpPr>
          <p:nvPr/>
        </p:nvSpPr>
        <p:spPr bwMode="auto">
          <a:xfrm>
            <a:off x="5640388" y="1558925"/>
            <a:ext cx="565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4</a:t>
            </a:r>
            <a:r>
              <a:rPr lang="en-US" altLang="zh-CN" sz="2000" i="1">
                <a:solidFill>
                  <a:srgbClr val="333333"/>
                </a:solidFill>
                <a:latin typeface="ISOCPEUR" pitchFamily="34" charset="0"/>
                <a:ea typeface="仿宋_GB2312" pitchFamily="49" charset="-122"/>
                <a:sym typeface="Symbol" pitchFamily="18" charset="2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159236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8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8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88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7"/>
                                            </p:cond>
                                          </p:stCondLst>
                                        </p:cTn>
                                        <p:tgtEl>
                                          <p:spTgt spid="11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8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18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1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1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1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18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18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1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18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18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1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18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1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18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18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18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18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18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118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18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1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118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1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118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1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1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1188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66"/>
                                            </p:cond>
                                          </p:stCondLst>
                                        </p:cTn>
                                        <p:tgtEl>
                                          <p:spTgt spid="11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1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118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1" dur="500"/>
                                        <p:tgtEl>
                                          <p:spTgt spid="11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1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118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118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118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118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500"/>
                                        <p:tgtEl>
                                          <p:spTgt spid="118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118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6" dur="500"/>
                                        <p:tgtEl>
                                          <p:spTgt spid="118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0" dur="500"/>
                                        <p:tgtEl>
                                          <p:spTgt spid="118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118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11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118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500"/>
                                        <p:tgtEl>
                                          <p:spTgt spid="11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118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118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2" dur="500"/>
                                        <p:tgtEl>
                                          <p:spTgt spid="11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6" dur="500"/>
                                        <p:tgtEl>
                                          <p:spTgt spid="118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0" dur="500"/>
                                        <p:tgtEl>
                                          <p:spTgt spid="118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 nodeType="clickPar">
                      <p:stCondLst>
                        <p:cond delay="indefinite"/>
                      </p:stCondLst>
                      <p:childTnLst>
                        <p:par>
                          <p:cTn id="2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5" dur="500"/>
                                        <p:tgtEl>
                                          <p:spTgt spid="11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118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500"/>
                                        <p:tgtEl>
                                          <p:spTgt spid="118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8" dur="500"/>
                                        <p:tgtEl>
                                          <p:spTgt spid="118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2" dur="500"/>
                                        <p:tgtEl>
                                          <p:spTgt spid="11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 nodeType="clickPar">
                      <p:stCondLst>
                        <p:cond delay="indefinite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3" dur="500"/>
                                        <p:tgtEl>
                                          <p:spTgt spid="1188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1"/>
                                            </p:cond>
                                          </p:stCondLst>
                                        </p:cTn>
                                        <p:tgtEl>
                                          <p:spTgt spid="11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 nodeType="clickPar">
                      <p:stCondLst>
                        <p:cond delay="indefinite"/>
                      </p:stCondLst>
                      <p:childTnLst>
                        <p:par>
                          <p:cTn id="2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8" dur="500"/>
                                        <p:tgtEl>
                                          <p:spTgt spid="118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2" dur="500"/>
                                        <p:tgtEl>
                                          <p:spTgt spid="11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 nodeType="clickPar">
                      <p:stCondLst>
                        <p:cond delay="indefinite"/>
                      </p:stCondLst>
                      <p:childTnLst>
                        <p:par>
                          <p:cTn id="3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7" dur="500"/>
                                        <p:tgtEl>
                                          <p:spTgt spid="118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 nodeType="clickPar">
                      <p:stCondLst>
                        <p:cond delay="indefinite"/>
                      </p:stCondLst>
                      <p:childTnLst>
                        <p:par>
                          <p:cTn id="3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2" dur="500"/>
                                        <p:tgtEl>
                                          <p:spTgt spid="118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 nodeType="clickPar">
                      <p:stCondLst>
                        <p:cond delay="indefinite"/>
                      </p:stCondLst>
                      <p:childTnLst>
                        <p:par>
                          <p:cTn id="3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7" dur="500"/>
                                        <p:tgtEl>
                                          <p:spTgt spid="11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 nodeType="clickPar">
                      <p:stCondLst>
                        <p:cond delay="indefinite"/>
                      </p:stCondLst>
                      <p:childTnLst>
                        <p:par>
                          <p:cTn id="3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2" dur="500"/>
                                        <p:tgtEl>
                                          <p:spTgt spid="1188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 nodeType="clickPar">
                      <p:stCondLst>
                        <p:cond delay="indefinite"/>
                      </p:stCondLst>
                      <p:childTnLst>
                        <p:par>
                          <p:cTn id="3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7" dur="500"/>
                                        <p:tgtEl>
                                          <p:spTgt spid="118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1" dur="500"/>
                                        <p:tgtEl>
                                          <p:spTgt spid="118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 nodeType="clickPar">
                      <p:stCondLst>
                        <p:cond delay="indefinite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6" dur="500"/>
                                        <p:tgtEl>
                                          <p:spTgt spid="1188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 nodeType="clickPar">
                      <p:stCondLst>
                        <p:cond delay="indefinite"/>
                      </p:stCondLst>
                      <p:childTnLst>
                        <p:par>
                          <p:cTn id="3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1" dur="500"/>
                                        <p:tgtEl>
                                          <p:spTgt spid="118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5" dur="500"/>
                                        <p:tgtEl>
                                          <p:spTgt spid="118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6" grpId="0" animBg="1"/>
      <p:bldP spid="118787" grpId="0" animBg="1"/>
      <p:bldP spid="118788" grpId="0" animBg="1"/>
      <p:bldP spid="118789" grpId="0" animBg="1"/>
      <p:bldP spid="118790" grpId="0" animBg="1"/>
      <p:bldP spid="118791" grpId="0" autoUpdateAnimBg="0"/>
      <p:bldP spid="118792" grpId="0" autoUpdateAnimBg="0"/>
      <p:bldP spid="118793" grpId="0" autoUpdateAnimBg="0"/>
      <p:bldP spid="118794" grpId="0" autoUpdateAnimBg="0"/>
      <p:bldP spid="118795" grpId="0" autoUpdateAnimBg="0"/>
      <p:bldP spid="118796" grpId="0" autoUpdateAnimBg="0"/>
      <p:bldP spid="118797" grpId="0" animBg="1"/>
      <p:bldP spid="118798" grpId="0" animBg="1"/>
      <p:bldP spid="118799" grpId="0" animBg="1"/>
      <p:bldP spid="118800" grpId="0" autoUpdateAnimBg="0"/>
      <p:bldP spid="118801" grpId="0" animBg="1"/>
      <p:bldP spid="118802" grpId="0" autoUpdateAnimBg="0"/>
      <p:bldP spid="118803" grpId="0" animBg="1"/>
      <p:bldP spid="118804" grpId="0" animBg="1"/>
      <p:bldP spid="118805" grpId="0" animBg="1"/>
      <p:bldP spid="118806" grpId="0" animBg="1"/>
      <p:bldP spid="118807" grpId="0" animBg="1"/>
      <p:bldP spid="118808" grpId="0" animBg="1"/>
      <p:bldP spid="118812" grpId="0" autoUpdateAnimBg="0"/>
      <p:bldP spid="118813" grpId="0" animBg="1"/>
      <p:bldP spid="118814" grpId="0" animBg="1"/>
      <p:bldP spid="118815" grpId="0" animBg="1"/>
      <p:bldP spid="118816" grpId="0" animBg="1"/>
      <p:bldP spid="118820" grpId="0" animBg="1"/>
      <p:bldP spid="118821" grpId="0" animBg="1"/>
      <p:bldP spid="118822" grpId="0" autoUpdateAnimBg="0"/>
      <p:bldP spid="118823" grpId="0" animBg="1"/>
      <p:bldP spid="118824" grpId="0" autoUpdateAnimBg="0"/>
      <p:bldP spid="118825" grpId="0" animBg="1"/>
      <p:bldP spid="118826" grpId="0" animBg="1"/>
      <p:bldP spid="118827" grpId="0" animBg="1"/>
      <p:bldP spid="118828" grpId="0" autoUpdateAnimBg="0"/>
      <p:bldP spid="118829" grpId="0" animBg="1"/>
      <p:bldP spid="118830" grpId="0" animBg="1"/>
      <p:bldP spid="118831" grpId="0" animBg="1"/>
      <p:bldP spid="118832" grpId="0" autoUpdateAnimBg="0"/>
      <p:bldP spid="118833" grpId="0" animBg="1"/>
      <p:bldP spid="118834" grpId="0" animBg="1"/>
      <p:bldP spid="118835" grpId="0" animBg="1"/>
      <p:bldP spid="118836" grpId="0" animBg="1"/>
      <p:bldP spid="118837" grpId="0" animBg="1"/>
      <p:bldP spid="118838" grpId="0" animBg="1"/>
      <p:bldP spid="118839" grpId="0" animBg="1"/>
      <p:bldP spid="118840" grpId="0" animBg="1"/>
      <p:bldP spid="118841" grpId="0" animBg="1"/>
      <p:bldP spid="118842" grpId="0" animBg="1"/>
      <p:bldP spid="118843" grpId="0" animBg="1"/>
      <p:bldP spid="118844" grpId="0" animBg="1"/>
      <p:bldP spid="118845" grpId="0" animBg="1"/>
      <p:bldP spid="118846" grpId="0" autoUpdateAnimBg="0"/>
      <p:bldP spid="118847" grpId="0" animBg="1"/>
      <p:bldP spid="118848" grpId="0" animBg="1"/>
      <p:bldP spid="118849" grpId="0" animBg="1"/>
      <p:bldP spid="118850" grpId="0" animBg="1"/>
      <p:bldP spid="118852" grpId="0" autoUpdateAnimBg="0"/>
      <p:bldP spid="118853" grpId="0" autoUpdateAnimBg="0"/>
      <p:bldP spid="118854" grpId="0" autoUpdateAnimBg="0"/>
      <p:bldP spid="118855" grpId="0" autoUpdateAnimBg="0"/>
      <p:bldP spid="118856" grpId="0" autoUpdateAnimBg="0"/>
      <p:bldP spid="118857" grpId="0" animBg="1"/>
      <p:bldP spid="118858" grpId="0" animBg="1"/>
      <p:bldP spid="118859" grpId="0" autoUpdateAnimBg="0"/>
      <p:bldP spid="118860" grpId="0" animBg="1"/>
      <p:bldP spid="118861" grpId="0" animBg="1"/>
      <p:bldP spid="118862" grpId="0" animBg="1"/>
      <p:bldP spid="118863" grpId="0" autoUpdateAnimBg="0"/>
      <p:bldP spid="118864" grpId="0" autoUpdateAnimBg="0"/>
      <p:bldP spid="118865" grpId="0" autoUpdateAnimBg="0"/>
      <p:bldP spid="118866" grpId="0" autoUpdateAnimBg="0"/>
      <p:bldP spid="118867" grpId="0" autoUpdateAnimBg="0"/>
      <p:bldP spid="118868" grpId="0" autoUpdateAnimBg="0"/>
      <p:bldP spid="118869" grpId="0" autoUpdateAnimBg="0"/>
      <p:bldP spid="118870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9122BD-1792-4FB2-8713-8F7C09EF48AE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33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338138" y="295275"/>
            <a:ext cx="68691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2. </a:t>
            </a:r>
            <a:r>
              <a:rPr lang="zh-CN" altLang="en-US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直线与直线垂直</a:t>
            </a:r>
          </a:p>
        </p:txBody>
      </p:sp>
      <p:sp>
        <p:nvSpPr>
          <p:cNvPr id="119811" name="Rectangle 3"/>
          <p:cNvSpPr>
            <a:spLocks noChangeArrowheads="1"/>
          </p:cNvSpPr>
          <p:nvPr/>
        </p:nvSpPr>
        <p:spPr bwMode="auto">
          <a:xfrm>
            <a:off x="338138" y="1174750"/>
            <a:ext cx="3987800" cy="860425"/>
          </a:xfrm>
          <a:prstGeom prst="rect">
            <a:avLst/>
          </a:prstGeom>
          <a:solidFill>
            <a:srgbClr val="FFFFFF"/>
          </a:solidFill>
          <a:ln w="38100">
            <a:solidFill>
              <a:srgbClr val="FF33CC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例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: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已知直线，过线上点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做直线⊥直线。</a:t>
            </a:r>
          </a:p>
        </p:txBody>
      </p:sp>
      <p:sp>
        <p:nvSpPr>
          <p:cNvPr id="119812" name="Rectangle 4"/>
          <p:cNvSpPr>
            <a:spLocks noChangeArrowheads="1"/>
          </p:cNvSpPr>
          <p:nvPr/>
        </p:nvSpPr>
        <p:spPr bwMode="auto">
          <a:xfrm>
            <a:off x="338138" y="2952750"/>
            <a:ext cx="4227512" cy="860425"/>
          </a:xfrm>
          <a:prstGeom prst="rect">
            <a:avLst/>
          </a:prstGeom>
          <a:solidFill>
            <a:srgbClr val="FFFFFF"/>
          </a:solidFill>
          <a:ln w="38100">
            <a:solidFill>
              <a:srgbClr val="FF33CC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例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: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已知直线，过线外点作直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线与已知直线垂直相交。</a:t>
            </a:r>
          </a:p>
        </p:txBody>
      </p:sp>
      <p:sp>
        <p:nvSpPr>
          <p:cNvPr id="119813" name="Line 5"/>
          <p:cNvSpPr>
            <a:spLocks noChangeShapeType="1"/>
          </p:cNvSpPr>
          <p:nvPr/>
        </p:nvSpPr>
        <p:spPr bwMode="auto">
          <a:xfrm>
            <a:off x="4641850" y="1651000"/>
            <a:ext cx="2044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14" name="Line 6"/>
          <p:cNvSpPr>
            <a:spLocks noChangeShapeType="1"/>
          </p:cNvSpPr>
          <p:nvPr/>
        </p:nvSpPr>
        <p:spPr bwMode="auto">
          <a:xfrm>
            <a:off x="5162550" y="1079500"/>
            <a:ext cx="752475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15" name="Line 7"/>
          <p:cNvSpPr>
            <a:spLocks noChangeShapeType="1"/>
          </p:cNvSpPr>
          <p:nvPr/>
        </p:nvSpPr>
        <p:spPr bwMode="auto">
          <a:xfrm>
            <a:off x="5175250" y="1079500"/>
            <a:ext cx="0" cy="127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16" name="Line 8"/>
          <p:cNvSpPr>
            <a:spLocks noChangeShapeType="1"/>
          </p:cNvSpPr>
          <p:nvPr/>
        </p:nvSpPr>
        <p:spPr bwMode="auto">
          <a:xfrm flipH="1">
            <a:off x="5908675" y="1079500"/>
            <a:ext cx="0" cy="857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17" name="Line 9"/>
          <p:cNvSpPr>
            <a:spLocks noChangeShapeType="1"/>
          </p:cNvSpPr>
          <p:nvPr/>
        </p:nvSpPr>
        <p:spPr bwMode="auto">
          <a:xfrm flipV="1">
            <a:off x="5175250" y="1927225"/>
            <a:ext cx="742950" cy="4191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18" name="Line 10"/>
          <p:cNvSpPr>
            <a:spLocks noChangeShapeType="1"/>
          </p:cNvSpPr>
          <p:nvPr/>
        </p:nvSpPr>
        <p:spPr bwMode="auto">
          <a:xfrm flipV="1">
            <a:off x="5908675" y="717550"/>
            <a:ext cx="352425" cy="361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19" name="Line 11"/>
          <p:cNvSpPr>
            <a:spLocks noChangeShapeType="1"/>
          </p:cNvSpPr>
          <p:nvPr/>
        </p:nvSpPr>
        <p:spPr bwMode="auto">
          <a:xfrm>
            <a:off x="6251575" y="736600"/>
            <a:ext cx="0" cy="180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20" name="Line 12"/>
          <p:cNvSpPr>
            <a:spLocks noChangeShapeType="1"/>
          </p:cNvSpPr>
          <p:nvPr/>
        </p:nvSpPr>
        <p:spPr bwMode="auto">
          <a:xfrm>
            <a:off x="5907088" y="1927225"/>
            <a:ext cx="344487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5713413" y="1693863"/>
            <a:ext cx="322262" cy="519112"/>
            <a:chOff x="2001" y="2781"/>
            <a:chExt cx="203" cy="327"/>
          </a:xfrm>
        </p:grpSpPr>
        <p:sp>
          <p:nvSpPr>
            <p:cNvPr id="19519" name="Arc 14"/>
            <p:cNvSpPr>
              <a:spLocks/>
            </p:cNvSpPr>
            <p:nvPr/>
          </p:nvSpPr>
          <p:spPr bwMode="auto">
            <a:xfrm>
              <a:off x="2001" y="2974"/>
              <a:ext cx="203" cy="108"/>
            </a:xfrm>
            <a:custGeom>
              <a:avLst/>
              <a:gdLst>
                <a:gd name="T0" fmla="*/ 0 w 35996"/>
                <a:gd name="T1" fmla="*/ 0 h 21600"/>
                <a:gd name="T2" fmla="*/ 0 w 35996"/>
                <a:gd name="T3" fmla="*/ 0 h 21600"/>
                <a:gd name="T4" fmla="*/ 0 w 35996"/>
                <a:gd name="T5" fmla="*/ 0 h 21600"/>
                <a:gd name="T6" fmla="*/ 0 60000 65536"/>
                <a:gd name="T7" fmla="*/ 0 60000 65536"/>
                <a:gd name="T8" fmla="*/ 0 60000 65536"/>
                <a:gd name="T9" fmla="*/ 0 w 35996"/>
                <a:gd name="T10" fmla="*/ 0 h 21600"/>
                <a:gd name="T11" fmla="*/ 35996 w 3599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996" h="21600" fill="none" extrusionOk="0">
                  <a:moveTo>
                    <a:pt x="35996" y="15393"/>
                  </a:moveTo>
                  <a:cubicBezTo>
                    <a:pt x="31955" y="19370"/>
                    <a:pt x="26512" y="21599"/>
                    <a:pt x="20843" y="21600"/>
                  </a:cubicBezTo>
                  <a:cubicBezTo>
                    <a:pt x="11096" y="21600"/>
                    <a:pt x="2558" y="15073"/>
                    <a:pt x="0" y="5668"/>
                  </a:cubicBezTo>
                </a:path>
                <a:path w="35996" h="21600" stroke="0" extrusionOk="0">
                  <a:moveTo>
                    <a:pt x="35996" y="15393"/>
                  </a:moveTo>
                  <a:cubicBezTo>
                    <a:pt x="31955" y="19370"/>
                    <a:pt x="26512" y="21599"/>
                    <a:pt x="20843" y="21600"/>
                  </a:cubicBezTo>
                  <a:cubicBezTo>
                    <a:pt x="11096" y="21600"/>
                    <a:pt x="2558" y="15073"/>
                    <a:pt x="0" y="5668"/>
                  </a:cubicBezTo>
                  <a:lnTo>
                    <a:pt x="20843" y="0"/>
                  </a:lnTo>
                  <a:lnTo>
                    <a:pt x="35996" y="153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9520" name="Text Box 15"/>
            <p:cNvSpPr txBox="1">
              <a:spLocks noChangeArrowheads="1"/>
            </p:cNvSpPr>
            <p:nvPr/>
          </p:nvSpPr>
          <p:spPr bwMode="auto">
            <a:xfrm>
              <a:off x="2022" y="2781"/>
              <a:ext cx="1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800" b="0">
                  <a:solidFill>
                    <a:srgbClr val="333333"/>
                  </a:solidFill>
                  <a:sym typeface="Symbol" pitchFamily="18" charset="2"/>
                </a:rPr>
                <a:t>.</a:t>
              </a:r>
            </a:p>
          </p:txBody>
        </p:sp>
      </p:grpSp>
      <p:sp>
        <p:nvSpPr>
          <p:cNvPr id="119824" name="Line 16"/>
          <p:cNvSpPr>
            <a:spLocks noChangeShapeType="1"/>
          </p:cNvSpPr>
          <p:nvPr/>
        </p:nvSpPr>
        <p:spPr bwMode="auto">
          <a:xfrm>
            <a:off x="5394325" y="1936750"/>
            <a:ext cx="523875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25" name="Line 17"/>
          <p:cNvSpPr>
            <a:spLocks noChangeShapeType="1"/>
          </p:cNvSpPr>
          <p:nvPr/>
        </p:nvSpPr>
        <p:spPr bwMode="auto">
          <a:xfrm flipV="1">
            <a:off x="5394325" y="584200"/>
            <a:ext cx="0" cy="136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26" name="Line 18"/>
          <p:cNvSpPr>
            <a:spLocks noChangeShapeType="1"/>
          </p:cNvSpPr>
          <p:nvPr/>
        </p:nvSpPr>
        <p:spPr bwMode="auto">
          <a:xfrm flipH="1" flipV="1">
            <a:off x="5394325" y="584200"/>
            <a:ext cx="517525" cy="487363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5745163" y="560388"/>
            <a:ext cx="331787" cy="519112"/>
            <a:chOff x="3209" y="2079"/>
            <a:chExt cx="209" cy="327"/>
          </a:xfrm>
        </p:grpSpPr>
        <p:sp>
          <p:nvSpPr>
            <p:cNvPr id="19517" name="Arc 20"/>
            <p:cNvSpPr>
              <a:spLocks/>
            </p:cNvSpPr>
            <p:nvPr/>
          </p:nvSpPr>
          <p:spPr bwMode="auto">
            <a:xfrm>
              <a:off x="3209" y="2253"/>
              <a:ext cx="209" cy="125"/>
            </a:xfrm>
            <a:custGeom>
              <a:avLst/>
              <a:gdLst>
                <a:gd name="T0" fmla="*/ 0 w 33782"/>
                <a:gd name="T1" fmla="*/ 0 h 21600"/>
                <a:gd name="T2" fmla="*/ 0 w 33782"/>
                <a:gd name="T3" fmla="*/ 0 h 21600"/>
                <a:gd name="T4" fmla="*/ 0 w 33782"/>
                <a:gd name="T5" fmla="*/ 0 h 21600"/>
                <a:gd name="T6" fmla="*/ 0 60000 65536"/>
                <a:gd name="T7" fmla="*/ 0 60000 65536"/>
                <a:gd name="T8" fmla="*/ 0 60000 65536"/>
                <a:gd name="T9" fmla="*/ 0 w 33782"/>
                <a:gd name="T10" fmla="*/ 0 h 21600"/>
                <a:gd name="T11" fmla="*/ 33782 w 337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782" h="21600" fill="none" extrusionOk="0">
                  <a:moveTo>
                    <a:pt x="-1" y="9464"/>
                  </a:moveTo>
                  <a:cubicBezTo>
                    <a:pt x="4020" y="3544"/>
                    <a:pt x="10712" y="-1"/>
                    <a:pt x="17869" y="0"/>
                  </a:cubicBezTo>
                  <a:cubicBezTo>
                    <a:pt x="23918" y="0"/>
                    <a:pt x="29691" y="2537"/>
                    <a:pt x="33782" y="6993"/>
                  </a:cubicBezTo>
                </a:path>
                <a:path w="33782" h="21600" stroke="0" extrusionOk="0">
                  <a:moveTo>
                    <a:pt x="-1" y="9464"/>
                  </a:moveTo>
                  <a:cubicBezTo>
                    <a:pt x="4020" y="3544"/>
                    <a:pt x="10712" y="-1"/>
                    <a:pt x="17869" y="0"/>
                  </a:cubicBezTo>
                  <a:cubicBezTo>
                    <a:pt x="23918" y="0"/>
                    <a:pt x="29691" y="2537"/>
                    <a:pt x="33782" y="6993"/>
                  </a:cubicBezTo>
                  <a:lnTo>
                    <a:pt x="17869" y="21600"/>
                  </a:lnTo>
                  <a:lnTo>
                    <a:pt x="-1" y="946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19518" name="Text Box 21"/>
            <p:cNvSpPr txBox="1">
              <a:spLocks noChangeArrowheads="1"/>
            </p:cNvSpPr>
            <p:nvPr/>
          </p:nvSpPr>
          <p:spPr bwMode="auto">
            <a:xfrm>
              <a:off x="3228" y="2079"/>
              <a:ext cx="1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800" b="0">
                  <a:solidFill>
                    <a:srgbClr val="333333"/>
                  </a:solidFill>
                  <a:sym typeface="Symbol" pitchFamily="18" charset="2"/>
                </a:rPr>
                <a:t>.</a:t>
              </a:r>
            </a:p>
          </p:txBody>
        </p:sp>
      </p:grpSp>
      <p:sp>
        <p:nvSpPr>
          <p:cNvPr id="119830" name="Line 22"/>
          <p:cNvSpPr>
            <a:spLocks noChangeShapeType="1"/>
          </p:cNvSpPr>
          <p:nvPr/>
        </p:nvSpPr>
        <p:spPr bwMode="auto">
          <a:xfrm>
            <a:off x="4786313" y="4421188"/>
            <a:ext cx="2282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31" name="Line 23"/>
          <p:cNvSpPr>
            <a:spLocks noChangeShapeType="1"/>
          </p:cNvSpPr>
          <p:nvPr/>
        </p:nvSpPr>
        <p:spPr bwMode="auto">
          <a:xfrm flipH="1">
            <a:off x="5751513" y="3849688"/>
            <a:ext cx="0" cy="857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32" name="Line 24"/>
          <p:cNvSpPr>
            <a:spLocks noChangeShapeType="1"/>
          </p:cNvSpPr>
          <p:nvPr/>
        </p:nvSpPr>
        <p:spPr bwMode="auto">
          <a:xfrm flipV="1">
            <a:off x="5751513" y="3430588"/>
            <a:ext cx="419100" cy="419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33" name="Line 25"/>
          <p:cNvSpPr>
            <a:spLocks noChangeShapeType="1"/>
          </p:cNvSpPr>
          <p:nvPr/>
        </p:nvSpPr>
        <p:spPr bwMode="auto">
          <a:xfrm>
            <a:off x="6161088" y="3421063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34" name="Line 26"/>
          <p:cNvSpPr>
            <a:spLocks noChangeShapeType="1"/>
          </p:cNvSpPr>
          <p:nvPr/>
        </p:nvSpPr>
        <p:spPr bwMode="auto">
          <a:xfrm>
            <a:off x="5749925" y="4697413"/>
            <a:ext cx="403225" cy="714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35" name="Line 27"/>
          <p:cNvSpPr>
            <a:spLocks noChangeShapeType="1"/>
          </p:cNvSpPr>
          <p:nvPr/>
        </p:nvSpPr>
        <p:spPr bwMode="auto">
          <a:xfrm>
            <a:off x="5295900" y="3317875"/>
            <a:ext cx="0" cy="2128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36" name="Text Box 28"/>
          <p:cNvSpPr txBox="1">
            <a:spLocks noChangeArrowheads="1"/>
          </p:cNvSpPr>
          <p:nvPr/>
        </p:nvSpPr>
        <p:spPr bwMode="auto">
          <a:xfrm>
            <a:off x="4956175" y="2952750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a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’ </a:t>
            </a:r>
            <a:endParaRPr kumimoji="0"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37" name="Text Box 29"/>
          <p:cNvSpPr txBox="1">
            <a:spLocks noChangeArrowheads="1"/>
          </p:cNvSpPr>
          <p:nvPr/>
        </p:nvSpPr>
        <p:spPr bwMode="auto">
          <a:xfrm>
            <a:off x="4975225" y="5303838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a</a:t>
            </a:r>
            <a:endParaRPr kumimoji="0" lang="en-US" altLang="zh-CN" sz="2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38" name="Line 30"/>
          <p:cNvSpPr>
            <a:spLocks noChangeShapeType="1"/>
          </p:cNvSpPr>
          <p:nvPr/>
        </p:nvSpPr>
        <p:spPr bwMode="auto">
          <a:xfrm>
            <a:off x="528955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39" name="Line 31"/>
          <p:cNvSpPr>
            <a:spLocks noChangeShapeType="1"/>
          </p:cNvSpPr>
          <p:nvPr/>
        </p:nvSpPr>
        <p:spPr bwMode="auto">
          <a:xfrm>
            <a:off x="6589713" y="3276600"/>
            <a:ext cx="0" cy="146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40" name="Line 32"/>
          <p:cNvSpPr>
            <a:spLocks noChangeShapeType="1"/>
          </p:cNvSpPr>
          <p:nvPr/>
        </p:nvSpPr>
        <p:spPr bwMode="auto">
          <a:xfrm flipV="1">
            <a:off x="5299075" y="4746625"/>
            <a:ext cx="1285875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41" name="Line 33"/>
          <p:cNvSpPr>
            <a:spLocks noChangeShapeType="1"/>
          </p:cNvSpPr>
          <p:nvPr/>
        </p:nvSpPr>
        <p:spPr bwMode="auto">
          <a:xfrm>
            <a:off x="5295900" y="5457825"/>
            <a:ext cx="93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42" name="Line 34"/>
          <p:cNvSpPr>
            <a:spLocks noChangeShapeType="1"/>
          </p:cNvSpPr>
          <p:nvPr/>
        </p:nvSpPr>
        <p:spPr bwMode="auto">
          <a:xfrm flipV="1">
            <a:off x="6237288" y="4232275"/>
            <a:ext cx="0" cy="1222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43" name="Line 35"/>
          <p:cNvSpPr>
            <a:spLocks noChangeShapeType="1"/>
          </p:cNvSpPr>
          <p:nvPr/>
        </p:nvSpPr>
        <p:spPr bwMode="auto">
          <a:xfrm>
            <a:off x="5289550" y="3276600"/>
            <a:ext cx="942975" cy="952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44" name="Line 36"/>
          <p:cNvSpPr>
            <a:spLocks noChangeShapeType="1"/>
          </p:cNvSpPr>
          <p:nvPr/>
        </p:nvSpPr>
        <p:spPr bwMode="auto">
          <a:xfrm flipV="1">
            <a:off x="6099175" y="2819400"/>
            <a:ext cx="685800" cy="676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45" name="Text Box 37"/>
          <p:cNvSpPr txBox="1">
            <a:spLocks noChangeArrowheads="1"/>
          </p:cNvSpPr>
          <p:nvPr/>
        </p:nvSpPr>
        <p:spPr bwMode="auto">
          <a:xfrm>
            <a:off x="6656388" y="2727325"/>
            <a:ext cx="563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FF0000"/>
                </a:solidFill>
                <a:latin typeface="ISOCPEUR" pitchFamily="34" charset="0"/>
                <a:sym typeface="Symbol" pitchFamily="18" charset="2"/>
              </a:rPr>
              <a:t>P</a:t>
            </a:r>
            <a:r>
              <a:rPr lang="en-US" altLang="zh-CN" sz="2000" i="1" baseline="-8000">
                <a:solidFill>
                  <a:srgbClr val="FF0000"/>
                </a:solidFill>
                <a:latin typeface="ISOCPEUR" pitchFamily="34" charset="0"/>
                <a:sym typeface="Symbol" pitchFamily="18" charset="2"/>
              </a:rPr>
              <a:t>V</a:t>
            </a:r>
          </a:p>
        </p:txBody>
      </p:sp>
      <p:sp>
        <p:nvSpPr>
          <p:cNvPr id="119846" name="Line 38"/>
          <p:cNvSpPr>
            <a:spLocks noChangeShapeType="1"/>
          </p:cNvSpPr>
          <p:nvPr/>
        </p:nvSpPr>
        <p:spPr bwMode="auto">
          <a:xfrm>
            <a:off x="6318250" y="3273425"/>
            <a:ext cx="0" cy="1162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47" name="Line 39"/>
          <p:cNvSpPr>
            <a:spLocks noChangeShapeType="1"/>
          </p:cNvSpPr>
          <p:nvPr/>
        </p:nvSpPr>
        <p:spPr bwMode="auto">
          <a:xfrm>
            <a:off x="6318250" y="4419600"/>
            <a:ext cx="0" cy="47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48" name="Line 40"/>
          <p:cNvSpPr>
            <a:spLocks noChangeShapeType="1"/>
          </p:cNvSpPr>
          <p:nvPr/>
        </p:nvSpPr>
        <p:spPr bwMode="auto">
          <a:xfrm>
            <a:off x="5813425" y="3790950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49" name="Line 41"/>
          <p:cNvSpPr>
            <a:spLocks noChangeShapeType="1"/>
          </p:cNvSpPr>
          <p:nvPr/>
        </p:nvSpPr>
        <p:spPr bwMode="auto">
          <a:xfrm>
            <a:off x="5813425" y="4419600"/>
            <a:ext cx="0" cy="1038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50" name="Line 42"/>
          <p:cNvSpPr>
            <a:spLocks noChangeShapeType="1"/>
          </p:cNvSpPr>
          <p:nvPr/>
        </p:nvSpPr>
        <p:spPr bwMode="auto">
          <a:xfrm flipV="1">
            <a:off x="5810250" y="4895850"/>
            <a:ext cx="511175" cy="561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51" name="Line 43"/>
          <p:cNvSpPr>
            <a:spLocks noChangeShapeType="1"/>
          </p:cNvSpPr>
          <p:nvPr/>
        </p:nvSpPr>
        <p:spPr bwMode="auto">
          <a:xfrm flipV="1">
            <a:off x="6032500" y="4400550"/>
            <a:ext cx="0" cy="809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52" name="Line 44"/>
          <p:cNvSpPr>
            <a:spLocks noChangeShapeType="1"/>
          </p:cNvSpPr>
          <p:nvPr/>
        </p:nvSpPr>
        <p:spPr bwMode="auto">
          <a:xfrm flipV="1">
            <a:off x="6032500" y="3562350"/>
            <a:ext cx="0" cy="866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53" name="Line 45"/>
          <p:cNvSpPr>
            <a:spLocks noChangeShapeType="1"/>
          </p:cNvSpPr>
          <p:nvPr/>
        </p:nvSpPr>
        <p:spPr bwMode="auto">
          <a:xfrm>
            <a:off x="5289550" y="3276600"/>
            <a:ext cx="752475" cy="2952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54" name="Line 46"/>
          <p:cNvSpPr>
            <a:spLocks noChangeShapeType="1"/>
          </p:cNvSpPr>
          <p:nvPr/>
        </p:nvSpPr>
        <p:spPr bwMode="auto">
          <a:xfrm flipV="1">
            <a:off x="5299075" y="5200650"/>
            <a:ext cx="733425" cy="2571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algn="l"/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55" name="AutoShape 47"/>
          <p:cNvSpPr>
            <a:spLocks noChangeArrowheads="1"/>
          </p:cNvSpPr>
          <p:nvPr/>
        </p:nvSpPr>
        <p:spPr bwMode="auto">
          <a:xfrm>
            <a:off x="5253038" y="3243263"/>
            <a:ext cx="74612" cy="74612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56" name="AutoShape 48"/>
          <p:cNvSpPr>
            <a:spLocks noChangeArrowheads="1"/>
          </p:cNvSpPr>
          <p:nvPr/>
        </p:nvSpPr>
        <p:spPr bwMode="auto">
          <a:xfrm>
            <a:off x="5994400" y="3525838"/>
            <a:ext cx="74613" cy="74612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57" name="AutoShape 49"/>
          <p:cNvSpPr>
            <a:spLocks noChangeArrowheads="1"/>
          </p:cNvSpPr>
          <p:nvPr/>
        </p:nvSpPr>
        <p:spPr bwMode="auto">
          <a:xfrm>
            <a:off x="5259388" y="5424488"/>
            <a:ext cx="74612" cy="74612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58" name="AutoShape 50"/>
          <p:cNvSpPr>
            <a:spLocks noChangeArrowheads="1"/>
          </p:cNvSpPr>
          <p:nvPr/>
        </p:nvSpPr>
        <p:spPr bwMode="auto">
          <a:xfrm>
            <a:off x="5994400" y="5173663"/>
            <a:ext cx="74613" cy="74612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59" name="Text Box 51"/>
          <p:cNvSpPr txBox="1">
            <a:spLocks noChangeArrowheads="1"/>
          </p:cNvSpPr>
          <p:nvPr/>
        </p:nvSpPr>
        <p:spPr bwMode="auto">
          <a:xfrm>
            <a:off x="6015038" y="4983163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b</a:t>
            </a:r>
            <a:endParaRPr kumimoji="0"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60" name="Text Box 52"/>
          <p:cNvSpPr txBox="1">
            <a:spLocks noChangeArrowheads="1"/>
          </p:cNvSpPr>
          <p:nvPr/>
        </p:nvSpPr>
        <p:spPr bwMode="auto">
          <a:xfrm>
            <a:off x="5899150" y="3152775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b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’ </a:t>
            </a:r>
          </a:p>
        </p:txBody>
      </p:sp>
      <p:sp>
        <p:nvSpPr>
          <p:cNvPr id="119861" name="Text Box 53"/>
          <p:cNvSpPr txBox="1">
            <a:spLocks noChangeArrowheads="1"/>
          </p:cNvSpPr>
          <p:nvPr/>
        </p:nvSpPr>
        <p:spPr bwMode="auto">
          <a:xfrm>
            <a:off x="6519863" y="3052763"/>
            <a:ext cx="461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1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’ </a:t>
            </a:r>
          </a:p>
        </p:txBody>
      </p:sp>
      <p:sp>
        <p:nvSpPr>
          <p:cNvPr id="119862" name="Text Box 54"/>
          <p:cNvSpPr txBox="1">
            <a:spLocks noChangeArrowheads="1"/>
          </p:cNvSpPr>
          <p:nvPr/>
        </p:nvSpPr>
        <p:spPr bwMode="auto">
          <a:xfrm>
            <a:off x="6478588" y="4540250"/>
            <a:ext cx="371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1</a:t>
            </a:r>
            <a:endParaRPr kumimoji="0"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63" name="Text Box 55"/>
          <p:cNvSpPr txBox="1">
            <a:spLocks noChangeArrowheads="1"/>
          </p:cNvSpPr>
          <p:nvPr/>
        </p:nvSpPr>
        <p:spPr bwMode="auto">
          <a:xfrm>
            <a:off x="6107113" y="5297488"/>
            <a:ext cx="384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2</a:t>
            </a:r>
          </a:p>
        </p:txBody>
      </p:sp>
      <p:sp>
        <p:nvSpPr>
          <p:cNvPr id="119864" name="Text Box 56"/>
          <p:cNvSpPr txBox="1">
            <a:spLocks noChangeArrowheads="1"/>
          </p:cNvSpPr>
          <p:nvPr/>
        </p:nvSpPr>
        <p:spPr bwMode="auto">
          <a:xfrm>
            <a:off x="6115050" y="3848100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2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’ </a:t>
            </a:r>
          </a:p>
        </p:txBody>
      </p:sp>
      <p:sp>
        <p:nvSpPr>
          <p:cNvPr id="119865" name="Text Box 57"/>
          <p:cNvSpPr txBox="1">
            <a:spLocks noChangeArrowheads="1"/>
          </p:cNvSpPr>
          <p:nvPr/>
        </p:nvSpPr>
        <p:spPr bwMode="auto">
          <a:xfrm>
            <a:off x="6167438" y="2886075"/>
            <a:ext cx="496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3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’ </a:t>
            </a:r>
          </a:p>
        </p:txBody>
      </p:sp>
      <p:sp>
        <p:nvSpPr>
          <p:cNvPr id="119866" name="Text Box 58"/>
          <p:cNvSpPr txBox="1">
            <a:spLocks noChangeArrowheads="1"/>
          </p:cNvSpPr>
          <p:nvPr/>
        </p:nvSpPr>
        <p:spPr bwMode="auto">
          <a:xfrm>
            <a:off x="5507038" y="3524250"/>
            <a:ext cx="512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4</a:t>
            </a:r>
            <a:r>
              <a:rPr kumimoji="0" lang="en-US" altLang="zh-CN" sz="24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’ </a:t>
            </a:r>
          </a:p>
        </p:txBody>
      </p:sp>
      <p:sp>
        <p:nvSpPr>
          <p:cNvPr id="119867" name="Text Box 59"/>
          <p:cNvSpPr txBox="1">
            <a:spLocks noChangeArrowheads="1"/>
          </p:cNvSpPr>
          <p:nvPr/>
        </p:nvSpPr>
        <p:spPr bwMode="auto">
          <a:xfrm>
            <a:off x="6092825" y="4792663"/>
            <a:ext cx="498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3</a:t>
            </a:r>
          </a:p>
        </p:txBody>
      </p:sp>
      <p:sp>
        <p:nvSpPr>
          <p:cNvPr id="119868" name="Text Box 60"/>
          <p:cNvSpPr txBox="1">
            <a:spLocks noChangeArrowheads="1"/>
          </p:cNvSpPr>
          <p:nvPr/>
        </p:nvSpPr>
        <p:spPr bwMode="auto">
          <a:xfrm>
            <a:off x="5605463" y="5430838"/>
            <a:ext cx="319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rPr>
              <a:t>4</a:t>
            </a:r>
            <a:endParaRPr kumimoji="0" lang="en-US" altLang="zh-CN" sz="24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19869" name="Text Box 61"/>
          <p:cNvSpPr txBox="1">
            <a:spLocks noChangeArrowheads="1"/>
          </p:cNvSpPr>
          <p:nvPr/>
        </p:nvSpPr>
        <p:spPr bwMode="auto">
          <a:xfrm>
            <a:off x="254000" y="4170363"/>
            <a:ext cx="8750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过点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作一平面⊥已知直线。</a:t>
            </a:r>
            <a:endParaRPr kumimoji="0" lang="zh-CN" altLang="en-US" sz="280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19870" name="Text Box 62"/>
          <p:cNvSpPr txBox="1">
            <a:spLocks noChangeArrowheads="1"/>
          </p:cNvSpPr>
          <p:nvPr/>
        </p:nvSpPr>
        <p:spPr bwMode="auto">
          <a:xfrm>
            <a:off x="242888" y="4708525"/>
            <a:ext cx="8750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求平面与已知直线的交点。</a:t>
            </a:r>
            <a:endParaRPr kumimoji="0" lang="zh-CN" altLang="en-US" sz="280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19871" name="Text Box 63"/>
          <p:cNvSpPr txBox="1">
            <a:spLocks noChangeArrowheads="1"/>
          </p:cNvSpPr>
          <p:nvPr/>
        </p:nvSpPr>
        <p:spPr bwMode="auto">
          <a:xfrm>
            <a:off x="244475" y="5214938"/>
            <a:ext cx="8750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交点与已知点连线即为所求。</a:t>
            </a:r>
            <a:endParaRPr kumimoji="0" lang="zh-CN" altLang="en-US" sz="280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7213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1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1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19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9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19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19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19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19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19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19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19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19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19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19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19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19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1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1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19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1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119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11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19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19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11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119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119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1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19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11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11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11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119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119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11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11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500"/>
                                        <p:tgtEl>
                                          <p:spTgt spid="11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11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119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119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7" dur="500"/>
                                        <p:tgtEl>
                                          <p:spTgt spid="119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119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119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0" dur="500"/>
                                        <p:tgtEl>
                                          <p:spTgt spid="119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4" dur="500"/>
                                        <p:tgtEl>
                                          <p:spTgt spid="11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9" dur="500"/>
                                        <p:tgtEl>
                                          <p:spTgt spid="119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4" dur="500"/>
                                        <p:tgtEl>
                                          <p:spTgt spid="119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animBg="1" autoUpdateAnimBg="0"/>
      <p:bldP spid="119812" grpId="0" animBg="1" autoUpdateAnimBg="0"/>
      <p:bldP spid="119813" grpId="0" animBg="1"/>
      <p:bldP spid="119814" grpId="0" animBg="1"/>
      <p:bldP spid="119815" grpId="0" animBg="1"/>
      <p:bldP spid="119816" grpId="0" animBg="1"/>
      <p:bldP spid="119817" grpId="0" animBg="1"/>
      <p:bldP spid="119818" grpId="0" animBg="1"/>
      <p:bldP spid="119819" grpId="0" animBg="1"/>
      <p:bldP spid="119820" grpId="0" animBg="1"/>
      <p:bldP spid="119824" grpId="0" animBg="1"/>
      <p:bldP spid="119825" grpId="0" animBg="1"/>
      <p:bldP spid="119826" grpId="0" animBg="1"/>
      <p:bldP spid="119830" grpId="0" animBg="1"/>
      <p:bldP spid="119831" grpId="0" animBg="1"/>
      <p:bldP spid="119832" grpId="0" animBg="1"/>
      <p:bldP spid="119833" grpId="0" animBg="1"/>
      <p:bldP spid="119834" grpId="0" animBg="1"/>
      <p:bldP spid="119835" grpId="0" animBg="1"/>
      <p:bldP spid="119836" grpId="0" autoUpdateAnimBg="0"/>
      <p:bldP spid="119837" grpId="0" autoUpdateAnimBg="0"/>
      <p:bldP spid="119838" grpId="0" animBg="1"/>
      <p:bldP spid="119839" grpId="0" animBg="1"/>
      <p:bldP spid="119840" grpId="0" animBg="1"/>
      <p:bldP spid="119841" grpId="0" animBg="1"/>
      <p:bldP spid="119842" grpId="0" animBg="1"/>
      <p:bldP spid="119843" grpId="0" animBg="1"/>
      <p:bldP spid="119844" grpId="0" animBg="1"/>
      <p:bldP spid="119845" grpId="0" autoUpdateAnimBg="0"/>
      <p:bldP spid="119846" grpId="0" animBg="1"/>
      <p:bldP spid="119847" grpId="0" animBg="1"/>
      <p:bldP spid="119848" grpId="0" animBg="1"/>
      <p:bldP spid="119849" grpId="0" animBg="1"/>
      <p:bldP spid="119850" grpId="0" animBg="1"/>
      <p:bldP spid="119851" grpId="0" animBg="1"/>
      <p:bldP spid="119852" grpId="0" animBg="1"/>
      <p:bldP spid="119853" grpId="0" animBg="1"/>
      <p:bldP spid="119854" grpId="0" animBg="1"/>
      <p:bldP spid="119855" grpId="0" animBg="1"/>
      <p:bldP spid="119856" grpId="0" animBg="1"/>
      <p:bldP spid="119857" grpId="0" animBg="1"/>
      <p:bldP spid="119858" grpId="0" animBg="1"/>
      <p:bldP spid="119859" grpId="0" autoUpdateAnimBg="0"/>
      <p:bldP spid="119860" grpId="0" autoUpdateAnimBg="0"/>
      <p:bldP spid="119861" grpId="0" autoUpdateAnimBg="0"/>
      <p:bldP spid="119862" grpId="0" autoUpdateAnimBg="0"/>
      <p:bldP spid="119863" grpId="0" autoUpdateAnimBg="0"/>
      <p:bldP spid="119864" grpId="0" autoUpdateAnimBg="0"/>
      <p:bldP spid="119865" grpId="0" autoUpdateAnimBg="0"/>
      <p:bldP spid="119866" grpId="0" autoUpdateAnimBg="0"/>
      <p:bldP spid="119867" grpId="0" autoUpdateAnimBg="0"/>
      <p:bldP spid="119868" grpId="0" autoUpdateAnimBg="0"/>
      <p:bldP spid="119869" grpId="0" autoUpdateAnimBg="0"/>
      <p:bldP spid="119870" grpId="0" autoUpdateAnimBg="0"/>
      <p:bldP spid="119871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FF63E4-1846-4DF1-B9A5-9BFA2C379B73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34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338138" y="295275"/>
            <a:ext cx="88058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2.</a:t>
            </a:r>
            <a:r>
              <a:rPr lang="zh-CN" altLang="en-US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平面与平面垂直</a:t>
            </a:r>
          </a:p>
        </p:txBody>
      </p:sp>
      <p:sp>
        <p:nvSpPr>
          <p:cNvPr id="20484" name="Rectangle 17"/>
          <p:cNvSpPr>
            <a:spLocks noChangeArrowheads="1"/>
          </p:cNvSpPr>
          <p:nvPr/>
        </p:nvSpPr>
        <p:spPr bwMode="auto">
          <a:xfrm>
            <a:off x="708025" y="1049338"/>
            <a:ext cx="74945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定理：若一直线垂直于某平面，则包含此直线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 的一切平面均垂直于该平面。</a:t>
            </a:r>
          </a:p>
        </p:txBody>
      </p:sp>
      <p:sp>
        <p:nvSpPr>
          <p:cNvPr id="120850" name="Rectangle 18"/>
          <p:cNvSpPr>
            <a:spLocks noChangeArrowheads="1"/>
          </p:cNvSpPr>
          <p:nvPr/>
        </p:nvSpPr>
        <p:spPr bwMode="auto">
          <a:xfrm>
            <a:off x="609600" y="2179638"/>
            <a:ext cx="7494588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绘制相互垂直平面的两种方法：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使平面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Q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包含垂直于平面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P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的一条直线。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 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使平面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Q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垂直于平面</a:t>
            </a:r>
            <a:r>
              <a:rPr kumimoji="0" lang="en-US" altLang="zh-CN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P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上的一条直线。</a:t>
            </a:r>
          </a:p>
        </p:txBody>
      </p:sp>
      <p:grpSp>
        <p:nvGrpSpPr>
          <p:cNvPr id="2" name="Group 72"/>
          <p:cNvGrpSpPr>
            <a:grpSpLocks/>
          </p:cNvGrpSpPr>
          <p:nvPr/>
        </p:nvGrpSpPr>
        <p:grpSpPr bwMode="auto">
          <a:xfrm>
            <a:off x="4581525" y="3470275"/>
            <a:ext cx="3619500" cy="2549525"/>
            <a:chOff x="2886" y="2186"/>
            <a:chExt cx="2280" cy="1606"/>
          </a:xfrm>
        </p:grpSpPr>
        <p:sp>
          <p:nvSpPr>
            <p:cNvPr id="20505" name="Freeform 51"/>
            <p:cNvSpPr>
              <a:spLocks/>
            </p:cNvSpPr>
            <p:nvPr/>
          </p:nvSpPr>
          <p:spPr bwMode="auto">
            <a:xfrm>
              <a:off x="2886" y="3188"/>
              <a:ext cx="2280" cy="588"/>
            </a:xfrm>
            <a:custGeom>
              <a:avLst/>
              <a:gdLst>
                <a:gd name="T0" fmla="*/ 688 w 2274"/>
                <a:gd name="T1" fmla="*/ 0 h 678"/>
                <a:gd name="T2" fmla="*/ 2286 w 2274"/>
                <a:gd name="T3" fmla="*/ 0 h 678"/>
                <a:gd name="T4" fmla="*/ 1598 w 2274"/>
                <a:gd name="T5" fmla="*/ 510 h 678"/>
                <a:gd name="T6" fmla="*/ 0 w 2274"/>
                <a:gd name="T7" fmla="*/ 510 h 678"/>
                <a:gd name="T8" fmla="*/ 688 w 2274"/>
                <a:gd name="T9" fmla="*/ 0 h 6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4"/>
                <a:gd name="T16" fmla="*/ 0 h 678"/>
                <a:gd name="T17" fmla="*/ 2274 w 2274"/>
                <a:gd name="T18" fmla="*/ 678 h 6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4" h="678">
                  <a:moveTo>
                    <a:pt x="684" y="0"/>
                  </a:moveTo>
                  <a:lnTo>
                    <a:pt x="2274" y="0"/>
                  </a:lnTo>
                  <a:lnTo>
                    <a:pt x="1590" y="678"/>
                  </a:lnTo>
                  <a:lnTo>
                    <a:pt x="0" y="678"/>
                  </a:lnTo>
                  <a:lnTo>
                    <a:pt x="684" y="0"/>
                  </a:lnTo>
                  <a:close/>
                </a:path>
              </a:pathLst>
            </a:custGeom>
            <a:solidFill>
              <a:srgbClr val="B3E1B3">
                <a:alpha val="56078"/>
              </a:srgbClr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0506" name="Freeform 52"/>
            <p:cNvSpPr>
              <a:spLocks/>
            </p:cNvSpPr>
            <p:nvPr/>
          </p:nvSpPr>
          <p:spPr bwMode="auto">
            <a:xfrm>
              <a:off x="3440" y="2192"/>
              <a:ext cx="684" cy="1584"/>
            </a:xfrm>
            <a:custGeom>
              <a:avLst/>
              <a:gdLst>
                <a:gd name="T0" fmla="*/ 6 w 684"/>
                <a:gd name="T1" fmla="*/ 1584 h 1584"/>
                <a:gd name="T2" fmla="*/ 0 w 684"/>
                <a:gd name="T3" fmla="*/ 576 h 1584"/>
                <a:gd name="T4" fmla="*/ 684 w 684"/>
                <a:gd name="T5" fmla="*/ 0 h 1584"/>
                <a:gd name="T6" fmla="*/ 684 w 684"/>
                <a:gd name="T7" fmla="*/ 996 h 1584"/>
                <a:gd name="T8" fmla="*/ 6 w 684"/>
                <a:gd name="T9" fmla="*/ 1584 h 15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84"/>
                <a:gd name="T16" fmla="*/ 0 h 1584"/>
                <a:gd name="T17" fmla="*/ 684 w 684"/>
                <a:gd name="T18" fmla="*/ 1584 h 15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84" h="1584">
                  <a:moveTo>
                    <a:pt x="6" y="1584"/>
                  </a:moveTo>
                  <a:lnTo>
                    <a:pt x="0" y="576"/>
                  </a:lnTo>
                  <a:lnTo>
                    <a:pt x="684" y="0"/>
                  </a:lnTo>
                  <a:lnTo>
                    <a:pt x="684" y="996"/>
                  </a:lnTo>
                  <a:lnTo>
                    <a:pt x="6" y="1584"/>
                  </a:lnTo>
                  <a:close/>
                </a:path>
              </a:pathLst>
            </a:custGeom>
            <a:solidFill>
              <a:srgbClr val="000000">
                <a:alpha val="30196"/>
              </a:srgbClr>
            </a:solidFill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0507" name="Text Box 53"/>
            <p:cNvSpPr txBox="1">
              <a:spLocks noChangeArrowheads="1"/>
            </p:cNvSpPr>
            <p:nvPr/>
          </p:nvSpPr>
          <p:spPr bwMode="auto">
            <a:xfrm>
              <a:off x="4745" y="3144"/>
              <a:ext cx="2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P</a:t>
              </a:r>
            </a:p>
          </p:txBody>
        </p:sp>
        <p:sp>
          <p:nvSpPr>
            <p:cNvPr id="20508" name="Text Box 54"/>
            <p:cNvSpPr txBox="1">
              <a:spLocks noChangeArrowheads="1"/>
            </p:cNvSpPr>
            <p:nvPr/>
          </p:nvSpPr>
          <p:spPr bwMode="auto">
            <a:xfrm>
              <a:off x="3580" y="3234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i="1">
                  <a:solidFill>
                    <a:srgbClr val="FF3300"/>
                  </a:solidFill>
                  <a:latin typeface="ISOCPEUR" pitchFamily="34" charset="0"/>
                  <a:sym typeface="Symbol" pitchFamily="18" charset="2"/>
                </a:rPr>
                <a:t>A</a:t>
              </a:r>
              <a:endParaRPr kumimoji="0" lang="en-US" altLang="zh-CN" sz="2400" b="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0509" name="Text Box 55"/>
            <p:cNvSpPr txBox="1">
              <a:spLocks noChangeArrowheads="1"/>
            </p:cNvSpPr>
            <p:nvPr/>
          </p:nvSpPr>
          <p:spPr bwMode="auto">
            <a:xfrm>
              <a:off x="3558" y="3504"/>
              <a:ext cx="2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a</a:t>
              </a:r>
              <a:endParaRPr kumimoji="0"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0510" name="Line 56"/>
            <p:cNvSpPr>
              <a:spLocks noChangeShapeType="1"/>
            </p:cNvSpPr>
            <p:nvPr/>
          </p:nvSpPr>
          <p:spPr bwMode="auto">
            <a:xfrm flipV="1">
              <a:off x="3794" y="3474"/>
              <a:ext cx="724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0511" name="Text Box 57"/>
            <p:cNvSpPr txBox="1">
              <a:spLocks noChangeArrowheads="1"/>
            </p:cNvSpPr>
            <p:nvPr/>
          </p:nvSpPr>
          <p:spPr bwMode="auto">
            <a:xfrm>
              <a:off x="3927" y="2268"/>
              <a:ext cx="2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Q</a:t>
              </a:r>
            </a:p>
          </p:txBody>
        </p:sp>
        <p:grpSp>
          <p:nvGrpSpPr>
            <p:cNvPr id="20512" name="Group 58"/>
            <p:cNvGrpSpPr>
              <a:grpSpLocks/>
            </p:cNvGrpSpPr>
            <p:nvPr/>
          </p:nvGrpSpPr>
          <p:grpSpPr bwMode="auto">
            <a:xfrm>
              <a:off x="4084" y="2903"/>
              <a:ext cx="172" cy="327"/>
              <a:chOff x="4214" y="957"/>
              <a:chExt cx="172" cy="327"/>
            </a:xfrm>
          </p:grpSpPr>
          <p:sp>
            <p:nvSpPr>
              <p:cNvPr id="20520" name="Arc 59"/>
              <p:cNvSpPr>
                <a:spLocks/>
              </p:cNvSpPr>
              <p:nvPr/>
            </p:nvSpPr>
            <p:spPr bwMode="auto">
              <a:xfrm>
                <a:off x="4248" y="1128"/>
                <a:ext cx="128" cy="11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20521" name="Text Box 60"/>
              <p:cNvSpPr txBox="1">
                <a:spLocks noChangeArrowheads="1"/>
              </p:cNvSpPr>
              <p:nvPr/>
            </p:nvSpPr>
            <p:spPr bwMode="auto">
              <a:xfrm>
                <a:off x="4214" y="957"/>
                <a:ext cx="1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800" b="0">
                    <a:solidFill>
                      <a:srgbClr val="333333"/>
                    </a:solidFill>
                    <a:sym typeface="Symbol" pitchFamily="18" charset="2"/>
                  </a:rPr>
                  <a:t>.</a:t>
                </a:r>
              </a:p>
            </p:txBody>
          </p:sp>
        </p:grpSp>
        <p:sp>
          <p:nvSpPr>
            <p:cNvPr id="20513" name="Freeform 61"/>
            <p:cNvSpPr>
              <a:spLocks/>
            </p:cNvSpPr>
            <p:nvPr/>
          </p:nvSpPr>
          <p:spPr bwMode="auto">
            <a:xfrm>
              <a:off x="2886" y="3190"/>
              <a:ext cx="2280" cy="584"/>
            </a:xfrm>
            <a:custGeom>
              <a:avLst/>
              <a:gdLst>
                <a:gd name="T0" fmla="*/ 0 w 2280"/>
                <a:gd name="T1" fmla="*/ 584 h 584"/>
                <a:gd name="T2" fmla="*/ 1592 w 2280"/>
                <a:gd name="T3" fmla="*/ 584 h 584"/>
                <a:gd name="T4" fmla="*/ 2280 w 2280"/>
                <a:gd name="T5" fmla="*/ 0 h 584"/>
                <a:gd name="T6" fmla="*/ 0 60000 65536"/>
                <a:gd name="T7" fmla="*/ 0 60000 65536"/>
                <a:gd name="T8" fmla="*/ 0 60000 65536"/>
                <a:gd name="T9" fmla="*/ 0 w 2280"/>
                <a:gd name="T10" fmla="*/ 0 h 584"/>
                <a:gd name="T11" fmla="*/ 2280 w 2280"/>
                <a:gd name="T12" fmla="*/ 584 h 5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80" h="584">
                  <a:moveTo>
                    <a:pt x="0" y="584"/>
                  </a:moveTo>
                  <a:lnTo>
                    <a:pt x="1592" y="584"/>
                  </a:lnTo>
                  <a:lnTo>
                    <a:pt x="228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0514" name="Freeform 62"/>
            <p:cNvSpPr>
              <a:spLocks/>
            </p:cNvSpPr>
            <p:nvPr/>
          </p:nvSpPr>
          <p:spPr bwMode="auto">
            <a:xfrm>
              <a:off x="3446" y="2186"/>
              <a:ext cx="678" cy="1584"/>
            </a:xfrm>
            <a:custGeom>
              <a:avLst/>
              <a:gdLst>
                <a:gd name="T0" fmla="*/ 0 w 678"/>
                <a:gd name="T1" fmla="*/ 1584 h 1584"/>
                <a:gd name="T2" fmla="*/ 0 w 678"/>
                <a:gd name="T3" fmla="*/ 582 h 1584"/>
                <a:gd name="T4" fmla="*/ 678 w 678"/>
                <a:gd name="T5" fmla="*/ 0 h 1584"/>
                <a:gd name="T6" fmla="*/ 0 60000 65536"/>
                <a:gd name="T7" fmla="*/ 0 60000 65536"/>
                <a:gd name="T8" fmla="*/ 0 60000 65536"/>
                <a:gd name="T9" fmla="*/ 0 w 678"/>
                <a:gd name="T10" fmla="*/ 0 h 1584"/>
                <a:gd name="T11" fmla="*/ 678 w 678"/>
                <a:gd name="T12" fmla="*/ 1584 h 15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8" h="1584">
                  <a:moveTo>
                    <a:pt x="0" y="1584"/>
                  </a:moveTo>
                  <a:lnTo>
                    <a:pt x="0" y="582"/>
                  </a:lnTo>
                  <a:lnTo>
                    <a:pt x="67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grpSp>
          <p:nvGrpSpPr>
            <p:cNvPr id="20515" name="Group 65"/>
            <p:cNvGrpSpPr>
              <a:grpSpLocks/>
            </p:cNvGrpSpPr>
            <p:nvPr/>
          </p:nvGrpSpPr>
          <p:grpSpPr bwMode="auto">
            <a:xfrm rot="-856352">
              <a:off x="3847" y="3204"/>
              <a:ext cx="172" cy="327"/>
              <a:chOff x="4214" y="957"/>
              <a:chExt cx="172" cy="327"/>
            </a:xfrm>
          </p:grpSpPr>
          <p:sp>
            <p:nvSpPr>
              <p:cNvPr id="20518" name="Arc 66"/>
              <p:cNvSpPr>
                <a:spLocks/>
              </p:cNvSpPr>
              <p:nvPr/>
            </p:nvSpPr>
            <p:spPr bwMode="auto">
              <a:xfrm>
                <a:off x="4248" y="1128"/>
                <a:ext cx="128" cy="11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20519" name="Text Box 67"/>
              <p:cNvSpPr txBox="1">
                <a:spLocks noChangeArrowheads="1"/>
              </p:cNvSpPr>
              <p:nvPr/>
            </p:nvSpPr>
            <p:spPr bwMode="auto">
              <a:xfrm>
                <a:off x="4214" y="957"/>
                <a:ext cx="1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800" b="0">
                    <a:solidFill>
                      <a:srgbClr val="333333"/>
                    </a:solidFill>
                    <a:sym typeface="Symbol" pitchFamily="18" charset="2"/>
                  </a:rPr>
                  <a:t>.</a:t>
                </a:r>
              </a:p>
            </p:txBody>
          </p:sp>
        </p:grpSp>
        <p:sp>
          <p:nvSpPr>
            <p:cNvPr id="20516" name="Line 63"/>
            <p:cNvSpPr>
              <a:spLocks noChangeShapeType="1"/>
            </p:cNvSpPr>
            <p:nvPr/>
          </p:nvSpPr>
          <p:spPr bwMode="auto">
            <a:xfrm flipV="1">
              <a:off x="3470" y="3171"/>
              <a:ext cx="662" cy="56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0517" name="Text Box 64"/>
            <p:cNvSpPr txBox="1">
              <a:spLocks noChangeArrowheads="1"/>
            </p:cNvSpPr>
            <p:nvPr/>
          </p:nvSpPr>
          <p:spPr bwMode="auto">
            <a:xfrm>
              <a:off x="4531" y="3259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i="1">
                  <a:solidFill>
                    <a:srgbClr val="FF3300"/>
                  </a:solidFill>
                  <a:latin typeface="ISOCPEUR" pitchFamily="34" charset="0"/>
                  <a:sym typeface="Symbol" pitchFamily="18" charset="2"/>
                </a:rPr>
                <a:t>B</a:t>
              </a:r>
            </a:p>
          </p:txBody>
        </p:sp>
      </p:grpSp>
      <p:grpSp>
        <p:nvGrpSpPr>
          <p:cNvPr id="5" name="Group 71"/>
          <p:cNvGrpSpPr>
            <a:grpSpLocks/>
          </p:cNvGrpSpPr>
          <p:nvPr/>
        </p:nvGrpSpPr>
        <p:grpSpPr bwMode="auto">
          <a:xfrm>
            <a:off x="457200" y="3497263"/>
            <a:ext cx="3619500" cy="2549525"/>
            <a:chOff x="288" y="2203"/>
            <a:chExt cx="2280" cy="1606"/>
          </a:xfrm>
        </p:grpSpPr>
        <p:sp>
          <p:nvSpPr>
            <p:cNvPr id="20488" name="Freeform 20"/>
            <p:cNvSpPr>
              <a:spLocks/>
            </p:cNvSpPr>
            <p:nvPr/>
          </p:nvSpPr>
          <p:spPr bwMode="auto">
            <a:xfrm>
              <a:off x="288" y="3205"/>
              <a:ext cx="2280" cy="588"/>
            </a:xfrm>
            <a:custGeom>
              <a:avLst/>
              <a:gdLst>
                <a:gd name="T0" fmla="*/ 688 w 2274"/>
                <a:gd name="T1" fmla="*/ 0 h 678"/>
                <a:gd name="T2" fmla="*/ 2286 w 2274"/>
                <a:gd name="T3" fmla="*/ 0 h 678"/>
                <a:gd name="T4" fmla="*/ 1598 w 2274"/>
                <a:gd name="T5" fmla="*/ 510 h 678"/>
                <a:gd name="T6" fmla="*/ 0 w 2274"/>
                <a:gd name="T7" fmla="*/ 510 h 678"/>
                <a:gd name="T8" fmla="*/ 688 w 2274"/>
                <a:gd name="T9" fmla="*/ 0 h 6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4"/>
                <a:gd name="T16" fmla="*/ 0 h 678"/>
                <a:gd name="T17" fmla="*/ 2274 w 2274"/>
                <a:gd name="T18" fmla="*/ 678 h 6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4" h="678">
                  <a:moveTo>
                    <a:pt x="684" y="0"/>
                  </a:moveTo>
                  <a:lnTo>
                    <a:pt x="2274" y="0"/>
                  </a:lnTo>
                  <a:lnTo>
                    <a:pt x="1590" y="678"/>
                  </a:lnTo>
                  <a:lnTo>
                    <a:pt x="0" y="678"/>
                  </a:lnTo>
                  <a:lnTo>
                    <a:pt x="684" y="0"/>
                  </a:lnTo>
                  <a:close/>
                </a:path>
              </a:pathLst>
            </a:custGeom>
            <a:solidFill>
              <a:srgbClr val="B3E1B3">
                <a:alpha val="56078"/>
              </a:srgbClr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0489" name="Freeform 21"/>
            <p:cNvSpPr>
              <a:spLocks/>
            </p:cNvSpPr>
            <p:nvPr/>
          </p:nvSpPr>
          <p:spPr bwMode="auto">
            <a:xfrm>
              <a:off x="842" y="2209"/>
              <a:ext cx="684" cy="1584"/>
            </a:xfrm>
            <a:custGeom>
              <a:avLst/>
              <a:gdLst>
                <a:gd name="T0" fmla="*/ 6 w 684"/>
                <a:gd name="T1" fmla="*/ 1584 h 1584"/>
                <a:gd name="T2" fmla="*/ 0 w 684"/>
                <a:gd name="T3" fmla="*/ 576 h 1584"/>
                <a:gd name="T4" fmla="*/ 684 w 684"/>
                <a:gd name="T5" fmla="*/ 0 h 1584"/>
                <a:gd name="T6" fmla="*/ 684 w 684"/>
                <a:gd name="T7" fmla="*/ 996 h 1584"/>
                <a:gd name="T8" fmla="*/ 6 w 684"/>
                <a:gd name="T9" fmla="*/ 1584 h 15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84"/>
                <a:gd name="T16" fmla="*/ 0 h 1584"/>
                <a:gd name="T17" fmla="*/ 684 w 684"/>
                <a:gd name="T18" fmla="*/ 1584 h 15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84" h="1584">
                  <a:moveTo>
                    <a:pt x="6" y="1584"/>
                  </a:moveTo>
                  <a:lnTo>
                    <a:pt x="0" y="576"/>
                  </a:lnTo>
                  <a:lnTo>
                    <a:pt x="684" y="0"/>
                  </a:lnTo>
                  <a:lnTo>
                    <a:pt x="684" y="996"/>
                  </a:lnTo>
                  <a:lnTo>
                    <a:pt x="6" y="1584"/>
                  </a:lnTo>
                  <a:close/>
                </a:path>
              </a:pathLst>
            </a:custGeom>
            <a:solidFill>
              <a:srgbClr val="000000">
                <a:alpha val="30196"/>
              </a:srgbClr>
            </a:solidFill>
            <a:ln w="31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0490" name="Text Box 23"/>
            <p:cNvSpPr txBox="1">
              <a:spLocks noChangeArrowheads="1"/>
            </p:cNvSpPr>
            <p:nvPr/>
          </p:nvSpPr>
          <p:spPr bwMode="auto">
            <a:xfrm>
              <a:off x="2147" y="3161"/>
              <a:ext cx="2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P</a:t>
              </a:r>
            </a:p>
          </p:txBody>
        </p:sp>
        <p:sp>
          <p:nvSpPr>
            <p:cNvPr id="20491" name="Text Box 24"/>
            <p:cNvSpPr txBox="1">
              <a:spLocks noChangeArrowheads="1"/>
            </p:cNvSpPr>
            <p:nvPr/>
          </p:nvSpPr>
          <p:spPr bwMode="auto">
            <a:xfrm>
              <a:off x="982" y="3251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i="1">
                  <a:solidFill>
                    <a:srgbClr val="FF3300"/>
                  </a:solidFill>
                  <a:latin typeface="ISOCPEUR" pitchFamily="34" charset="0"/>
                  <a:sym typeface="Symbol" pitchFamily="18" charset="2"/>
                </a:rPr>
                <a:t>A</a:t>
              </a:r>
              <a:endParaRPr kumimoji="0" lang="en-US" altLang="zh-CN" sz="2400" b="0" i="1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0492" name="Text Box 26"/>
            <p:cNvSpPr txBox="1">
              <a:spLocks noChangeArrowheads="1"/>
            </p:cNvSpPr>
            <p:nvPr/>
          </p:nvSpPr>
          <p:spPr bwMode="auto">
            <a:xfrm>
              <a:off x="960" y="3521"/>
              <a:ext cx="2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a</a:t>
              </a:r>
              <a:endParaRPr kumimoji="0" lang="en-US" altLang="zh-CN" sz="24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0493" name="Line 31"/>
            <p:cNvSpPr>
              <a:spLocks noChangeShapeType="1"/>
            </p:cNvSpPr>
            <p:nvPr/>
          </p:nvSpPr>
          <p:spPr bwMode="auto">
            <a:xfrm flipH="1" flipV="1">
              <a:off x="1191" y="2734"/>
              <a:ext cx="5" cy="757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0494" name="Text Box 32"/>
            <p:cNvSpPr txBox="1">
              <a:spLocks noChangeArrowheads="1"/>
            </p:cNvSpPr>
            <p:nvPr/>
          </p:nvSpPr>
          <p:spPr bwMode="auto">
            <a:xfrm>
              <a:off x="1329" y="2285"/>
              <a:ext cx="2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0" i="1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rPr>
                <a:t>Q</a:t>
              </a:r>
            </a:p>
          </p:txBody>
        </p:sp>
        <p:grpSp>
          <p:nvGrpSpPr>
            <p:cNvPr id="20495" name="Group 38"/>
            <p:cNvGrpSpPr>
              <a:grpSpLocks/>
            </p:cNvGrpSpPr>
            <p:nvPr/>
          </p:nvGrpSpPr>
          <p:grpSpPr bwMode="auto">
            <a:xfrm>
              <a:off x="1486" y="2920"/>
              <a:ext cx="172" cy="327"/>
              <a:chOff x="4214" y="957"/>
              <a:chExt cx="172" cy="327"/>
            </a:xfrm>
          </p:grpSpPr>
          <p:sp>
            <p:nvSpPr>
              <p:cNvPr id="20503" name="Arc 39"/>
              <p:cNvSpPr>
                <a:spLocks/>
              </p:cNvSpPr>
              <p:nvPr/>
            </p:nvSpPr>
            <p:spPr bwMode="auto">
              <a:xfrm>
                <a:off x="4248" y="1128"/>
                <a:ext cx="128" cy="11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20504" name="Text Box 40"/>
              <p:cNvSpPr txBox="1">
                <a:spLocks noChangeArrowheads="1"/>
              </p:cNvSpPr>
              <p:nvPr/>
            </p:nvSpPr>
            <p:spPr bwMode="auto">
              <a:xfrm>
                <a:off x="4214" y="957"/>
                <a:ext cx="1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800" b="0">
                    <a:solidFill>
                      <a:srgbClr val="333333"/>
                    </a:solidFill>
                    <a:sym typeface="Symbol" pitchFamily="18" charset="2"/>
                  </a:rPr>
                  <a:t>.</a:t>
                </a:r>
              </a:p>
            </p:txBody>
          </p:sp>
        </p:grpSp>
        <p:sp>
          <p:nvSpPr>
            <p:cNvPr id="20496" name="Freeform 44"/>
            <p:cNvSpPr>
              <a:spLocks/>
            </p:cNvSpPr>
            <p:nvPr/>
          </p:nvSpPr>
          <p:spPr bwMode="auto">
            <a:xfrm>
              <a:off x="288" y="3207"/>
              <a:ext cx="2280" cy="584"/>
            </a:xfrm>
            <a:custGeom>
              <a:avLst/>
              <a:gdLst>
                <a:gd name="T0" fmla="*/ 0 w 2280"/>
                <a:gd name="T1" fmla="*/ 584 h 584"/>
                <a:gd name="T2" fmla="*/ 1592 w 2280"/>
                <a:gd name="T3" fmla="*/ 584 h 584"/>
                <a:gd name="T4" fmla="*/ 2280 w 2280"/>
                <a:gd name="T5" fmla="*/ 0 h 584"/>
                <a:gd name="T6" fmla="*/ 0 60000 65536"/>
                <a:gd name="T7" fmla="*/ 0 60000 65536"/>
                <a:gd name="T8" fmla="*/ 0 60000 65536"/>
                <a:gd name="T9" fmla="*/ 0 w 2280"/>
                <a:gd name="T10" fmla="*/ 0 h 584"/>
                <a:gd name="T11" fmla="*/ 2280 w 2280"/>
                <a:gd name="T12" fmla="*/ 584 h 5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80" h="584">
                  <a:moveTo>
                    <a:pt x="0" y="584"/>
                  </a:moveTo>
                  <a:lnTo>
                    <a:pt x="1592" y="584"/>
                  </a:lnTo>
                  <a:lnTo>
                    <a:pt x="228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0497" name="Freeform 45"/>
            <p:cNvSpPr>
              <a:spLocks/>
            </p:cNvSpPr>
            <p:nvPr/>
          </p:nvSpPr>
          <p:spPr bwMode="auto">
            <a:xfrm>
              <a:off x="848" y="2203"/>
              <a:ext cx="678" cy="1584"/>
            </a:xfrm>
            <a:custGeom>
              <a:avLst/>
              <a:gdLst>
                <a:gd name="T0" fmla="*/ 0 w 678"/>
                <a:gd name="T1" fmla="*/ 1584 h 1584"/>
                <a:gd name="T2" fmla="*/ 0 w 678"/>
                <a:gd name="T3" fmla="*/ 582 h 1584"/>
                <a:gd name="T4" fmla="*/ 678 w 678"/>
                <a:gd name="T5" fmla="*/ 0 h 1584"/>
                <a:gd name="T6" fmla="*/ 0 60000 65536"/>
                <a:gd name="T7" fmla="*/ 0 60000 65536"/>
                <a:gd name="T8" fmla="*/ 0 60000 65536"/>
                <a:gd name="T9" fmla="*/ 0 w 678"/>
                <a:gd name="T10" fmla="*/ 0 h 1584"/>
                <a:gd name="T11" fmla="*/ 678 w 678"/>
                <a:gd name="T12" fmla="*/ 1584 h 15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8" h="1584">
                  <a:moveTo>
                    <a:pt x="0" y="1584"/>
                  </a:moveTo>
                  <a:lnTo>
                    <a:pt x="0" y="582"/>
                  </a:lnTo>
                  <a:lnTo>
                    <a:pt x="67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0498" name="Line 46"/>
            <p:cNvSpPr>
              <a:spLocks noChangeShapeType="1"/>
            </p:cNvSpPr>
            <p:nvPr/>
          </p:nvSpPr>
          <p:spPr bwMode="auto">
            <a:xfrm flipV="1">
              <a:off x="872" y="3188"/>
              <a:ext cx="662" cy="56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0499" name="Text Box 48"/>
            <p:cNvSpPr txBox="1">
              <a:spLocks noChangeArrowheads="1"/>
            </p:cNvSpPr>
            <p:nvPr/>
          </p:nvSpPr>
          <p:spPr bwMode="auto">
            <a:xfrm>
              <a:off x="961" y="2632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i="1">
                  <a:solidFill>
                    <a:srgbClr val="FF3300"/>
                  </a:solidFill>
                  <a:latin typeface="ISOCPEUR" pitchFamily="34" charset="0"/>
                  <a:sym typeface="Symbol" pitchFamily="18" charset="2"/>
                </a:rPr>
                <a:t>B</a:t>
              </a:r>
            </a:p>
          </p:txBody>
        </p:sp>
        <p:grpSp>
          <p:nvGrpSpPr>
            <p:cNvPr id="20500" name="Group 68"/>
            <p:cNvGrpSpPr>
              <a:grpSpLocks/>
            </p:cNvGrpSpPr>
            <p:nvPr/>
          </p:nvGrpSpPr>
          <p:grpSpPr bwMode="auto">
            <a:xfrm>
              <a:off x="1176" y="3067"/>
              <a:ext cx="172" cy="327"/>
              <a:chOff x="4214" y="957"/>
              <a:chExt cx="172" cy="327"/>
            </a:xfrm>
          </p:grpSpPr>
          <p:sp>
            <p:nvSpPr>
              <p:cNvPr id="20501" name="Arc 69"/>
              <p:cNvSpPr>
                <a:spLocks/>
              </p:cNvSpPr>
              <p:nvPr/>
            </p:nvSpPr>
            <p:spPr bwMode="auto">
              <a:xfrm>
                <a:off x="4248" y="1128"/>
                <a:ext cx="128" cy="11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l"/>
                <a:endParaRPr kumimoji="0" lang="zh-CN" altLang="en-US" sz="2000" i="1" baseline="-10000">
                  <a:solidFill>
                    <a:srgbClr val="333333"/>
                  </a:solidFill>
                  <a:latin typeface="ISOCPEUR" pitchFamily="34" charset="0"/>
                  <a:sym typeface="Symbol" pitchFamily="18" charset="2"/>
                </a:endParaRPr>
              </a:p>
            </p:txBody>
          </p:sp>
          <p:sp>
            <p:nvSpPr>
              <p:cNvPr id="20502" name="Text Box 70"/>
              <p:cNvSpPr txBox="1">
                <a:spLocks noChangeArrowheads="1"/>
              </p:cNvSpPr>
              <p:nvPr/>
            </p:nvSpPr>
            <p:spPr bwMode="auto">
              <a:xfrm>
                <a:off x="4214" y="957"/>
                <a:ext cx="1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800" b="0">
                    <a:solidFill>
                      <a:srgbClr val="333333"/>
                    </a:solidFill>
                    <a:sym typeface="Symbol" pitchFamily="18" charset="2"/>
                  </a:rPr>
                  <a:t>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0215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0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5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7F0086-6191-40D7-A1FF-C7C2B134F677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35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338138" y="295275"/>
            <a:ext cx="88058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§3.5 </a:t>
            </a:r>
            <a:r>
              <a:rPr lang="zh-CN" altLang="en-US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平面上的最大斜度</a:t>
            </a:r>
            <a:r>
              <a:rPr lang="zh-CN" altLang="en-US" dirty="0" smtClean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线 （</a:t>
            </a:r>
            <a:r>
              <a:rPr lang="zh-CN" altLang="en-US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自学</a:t>
            </a:r>
            <a:r>
              <a:rPr lang="zh-CN" altLang="en-US" dirty="0" smtClean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）</a:t>
            </a:r>
            <a:endParaRPr lang="zh-CN" altLang="en-US" dirty="0">
              <a:solidFill>
                <a:srgbClr val="333333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198438" y="1233488"/>
            <a:ext cx="8796337" cy="149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定义</a:t>
            </a:r>
            <a:r>
              <a:rPr kumimoji="0" lang="zh-CN" altLang="en-US" sz="2800" b="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：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平面上与投影面成最大角度的直线。</a:t>
            </a:r>
          </a:p>
          <a:p>
            <a:pPr algn="l" eaLnBrk="1" hangingPunct="1">
              <a:spcBef>
                <a:spcPct val="25000"/>
              </a:spcBef>
              <a:buClrTx/>
              <a:buFontTx/>
              <a:buNone/>
            </a:pPr>
            <a:r>
              <a:rPr kumimoji="0" lang="zh-CN" altLang="en-US" sz="28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特点：</a:t>
            </a: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最大斜度线与该面上的投影面平行线垂直；</a:t>
            </a:r>
          </a:p>
          <a:p>
            <a:pPr algn="l" eaLnBrk="1" hangingPunct="1"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  最大斜度线与其投影的夹角即该面与该投影面的夹角。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158750" y="2857500"/>
            <a:ext cx="4502150" cy="3189288"/>
            <a:chOff x="228" y="1902"/>
            <a:chExt cx="2836" cy="2009"/>
          </a:xfrm>
        </p:grpSpPr>
        <p:sp>
          <p:nvSpPr>
            <p:cNvPr id="21511" name="Freeform 6"/>
            <p:cNvSpPr>
              <a:spLocks/>
            </p:cNvSpPr>
            <p:nvPr/>
          </p:nvSpPr>
          <p:spPr bwMode="auto">
            <a:xfrm>
              <a:off x="228" y="2747"/>
              <a:ext cx="2836" cy="1164"/>
            </a:xfrm>
            <a:custGeom>
              <a:avLst/>
              <a:gdLst>
                <a:gd name="T0" fmla="*/ 0 w 2836"/>
                <a:gd name="T1" fmla="*/ 684 h 1164"/>
                <a:gd name="T2" fmla="*/ 1796 w 2836"/>
                <a:gd name="T3" fmla="*/ 0 h 1164"/>
                <a:gd name="T4" fmla="*/ 2836 w 2836"/>
                <a:gd name="T5" fmla="*/ 466 h 1164"/>
                <a:gd name="T6" fmla="*/ 1004 w 2836"/>
                <a:gd name="T7" fmla="*/ 1164 h 1164"/>
                <a:gd name="T8" fmla="*/ 0 w 2836"/>
                <a:gd name="T9" fmla="*/ 684 h 11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36" h="1164">
                  <a:moveTo>
                    <a:pt x="0" y="684"/>
                  </a:moveTo>
                  <a:lnTo>
                    <a:pt x="1796" y="0"/>
                  </a:lnTo>
                  <a:lnTo>
                    <a:pt x="2836" y="466"/>
                  </a:lnTo>
                  <a:lnTo>
                    <a:pt x="1004" y="1164"/>
                  </a:lnTo>
                  <a:lnTo>
                    <a:pt x="0" y="684"/>
                  </a:lnTo>
                  <a:close/>
                </a:path>
              </a:pathLst>
            </a:custGeom>
            <a:solidFill>
              <a:srgbClr val="99CCFF"/>
            </a:solidFill>
            <a:ln w="28575" cmpd="sng">
              <a:solidFill>
                <a:srgbClr val="99CCFF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1512" name="Line 7"/>
            <p:cNvSpPr>
              <a:spLocks noChangeShapeType="1"/>
            </p:cNvSpPr>
            <p:nvPr/>
          </p:nvSpPr>
          <p:spPr bwMode="auto">
            <a:xfrm>
              <a:off x="2335" y="2372"/>
              <a:ext cx="0" cy="8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1513" name="Freeform 8"/>
            <p:cNvSpPr>
              <a:spLocks/>
            </p:cNvSpPr>
            <p:nvPr/>
          </p:nvSpPr>
          <p:spPr bwMode="auto">
            <a:xfrm>
              <a:off x="846" y="1918"/>
              <a:ext cx="1592" cy="1642"/>
            </a:xfrm>
            <a:custGeom>
              <a:avLst/>
              <a:gdLst>
                <a:gd name="T0" fmla="*/ 411 w 1592"/>
                <a:gd name="T1" fmla="*/ 0 h 1642"/>
                <a:gd name="T2" fmla="*/ 0 w 1592"/>
                <a:gd name="T3" fmla="*/ 1475 h 1642"/>
                <a:gd name="T4" fmla="*/ 1193 w 1592"/>
                <a:gd name="T5" fmla="*/ 1642 h 1642"/>
                <a:gd name="T6" fmla="*/ 1592 w 1592"/>
                <a:gd name="T7" fmla="*/ 144 h 1642"/>
                <a:gd name="T8" fmla="*/ 411 w 1592"/>
                <a:gd name="T9" fmla="*/ 0 h 16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92"/>
                <a:gd name="T16" fmla="*/ 0 h 1642"/>
                <a:gd name="T17" fmla="*/ 1592 w 1592"/>
                <a:gd name="T18" fmla="*/ 1642 h 16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92" h="1642">
                  <a:moveTo>
                    <a:pt x="411" y="0"/>
                  </a:moveTo>
                  <a:lnTo>
                    <a:pt x="0" y="1475"/>
                  </a:lnTo>
                  <a:lnTo>
                    <a:pt x="1193" y="1642"/>
                  </a:lnTo>
                  <a:lnTo>
                    <a:pt x="1592" y="144"/>
                  </a:lnTo>
                  <a:lnTo>
                    <a:pt x="411" y="0"/>
                  </a:lnTo>
                  <a:close/>
                </a:path>
              </a:pathLst>
            </a:custGeom>
            <a:solidFill>
              <a:schemeClr val="tx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cmpd="sng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1514" name="Line 9"/>
            <p:cNvSpPr>
              <a:spLocks noChangeShapeType="1"/>
            </p:cNvSpPr>
            <p:nvPr/>
          </p:nvSpPr>
          <p:spPr bwMode="auto">
            <a:xfrm>
              <a:off x="1878" y="2312"/>
              <a:ext cx="0" cy="854"/>
            </a:xfrm>
            <a:prstGeom prst="line">
              <a:avLst/>
            </a:prstGeom>
            <a:noFill/>
            <a:ln w="127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1515" name="Line 10"/>
            <p:cNvSpPr>
              <a:spLocks noChangeShapeType="1"/>
            </p:cNvSpPr>
            <p:nvPr/>
          </p:nvSpPr>
          <p:spPr bwMode="auto">
            <a:xfrm flipV="1">
              <a:off x="1540" y="3142"/>
              <a:ext cx="352" cy="336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1516" name="Line 11"/>
            <p:cNvSpPr>
              <a:spLocks noChangeShapeType="1"/>
            </p:cNvSpPr>
            <p:nvPr/>
          </p:nvSpPr>
          <p:spPr bwMode="auto">
            <a:xfrm flipV="1">
              <a:off x="930" y="3156"/>
              <a:ext cx="951" cy="244"/>
            </a:xfrm>
            <a:prstGeom prst="line">
              <a:avLst/>
            </a:prstGeom>
            <a:noFill/>
            <a:ln w="127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1517" name="Text Box 12"/>
            <p:cNvSpPr txBox="1">
              <a:spLocks noChangeArrowheads="1"/>
            </p:cNvSpPr>
            <p:nvPr/>
          </p:nvSpPr>
          <p:spPr bwMode="auto">
            <a:xfrm>
              <a:off x="2668" y="3040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solidFill>
                    <a:srgbClr val="333333"/>
                  </a:solidFill>
                  <a:sym typeface="Symbol" pitchFamily="18" charset="2"/>
                </a:rPr>
                <a:t>H</a:t>
              </a:r>
            </a:p>
          </p:txBody>
        </p:sp>
        <p:sp>
          <p:nvSpPr>
            <p:cNvPr id="121869" name="Text Box 13"/>
            <p:cNvSpPr txBox="1">
              <a:spLocks noChangeArrowheads="1"/>
            </p:cNvSpPr>
            <p:nvPr/>
          </p:nvSpPr>
          <p:spPr bwMode="auto">
            <a:xfrm>
              <a:off x="910" y="1996"/>
              <a:ext cx="26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altLang="zh-CN" sz="2800" i="1">
                  <a:solidFill>
                    <a:srgbClr val="FF99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sym typeface="Symbol" pitchFamily="18" charset="2"/>
                </a:rPr>
                <a:t>A</a:t>
              </a:r>
              <a:endParaRPr lang="en-US" altLang="zh-CN" sz="2800" i="1">
                <a:solidFill>
                  <a:srgbClr val="FF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endParaRPr>
            </a:p>
          </p:txBody>
        </p:sp>
        <p:sp>
          <p:nvSpPr>
            <p:cNvPr id="121870" name="Text Box 14"/>
            <p:cNvSpPr txBox="1">
              <a:spLocks noChangeArrowheads="1"/>
            </p:cNvSpPr>
            <p:nvPr/>
          </p:nvSpPr>
          <p:spPr bwMode="auto">
            <a:xfrm>
              <a:off x="2364" y="2216"/>
              <a:ext cx="26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altLang="zh-CN" sz="2800" i="1">
                  <a:solidFill>
                    <a:srgbClr val="FF99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sym typeface="Symbol" pitchFamily="18" charset="2"/>
                </a:rPr>
                <a:t>B</a:t>
              </a:r>
              <a:endParaRPr lang="en-US" altLang="zh-CN" sz="2800" i="1">
                <a:solidFill>
                  <a:srgbClr val="FFCC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endParaRPr>
            </a:p>
          </p:txBody>
        </p:sp>
        <p:sp>
          <p:nvSpPr>
            <p:cNvPr id="21520" name="Text Box 15"/>
            <p:cNvSpPr txBox="1">
              <a:spLocks noChangeArrowheads="1"/>
            </p:cNvSpPr>
            <p:nvPr/>
          </p:nvSpPr>
          <p:spPr bwMode="auto">
            <a:xfrm>
              <a:off x="1257" y="3432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solidFill>
                    <a:srgbClr val="990033"/>
                  </a:solidFill>
                  <a:sym typeface="Symbol" pitchFamily="18" charset="2"/>
                </a:rPr>
                <a:t>K</a:t>
              </a:r>
            </a:p>
          </p:txBody>
        </p:sp>
        <p:sp>
          <p:nvSpPr>
            <p:cNvPr id="21521" name="Text Box 16"/>
            <p:cNvSpPr txBox="1">
              <a:spLocks noChangeArrowheads="1"/>
            </p:cNvSpPr>
            <p:nvPr/>
          </p:nvSpPr>
          <p:spPr bwMode="auto">
            <a:xfrm>
              <a:off x="1407" y="3429"/>
              <a:ext cx="3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990033"/>
                  </a:solidFill>
                  <a:sym typeface="Symbol" pitchFamily="18" charset="2"/>
                </a:rPr>
                <a:t>(</a:t>
              </a:r>
              <a:r>
                <a:rPr lang="en-US" altLang="zh-CN" sz="2800" i="1">
                  <a:solidFill>
                    <a:srgbClr val="990033"/>
                  </a:solidFill>
                  <a:sym typeface="Symbol" pitchFamily="18" charset="2"/>
                </a:rPr>
                <a:t>k</a:t>
              </a:r>
              <a:r>
                <a:rPr lang="en-US" altLang="zh-CN" sz="2800">
                  <a:solidFill>
                    <a:srgbClr val="990033"/>
                  </a:solidFill>
                  <a:sym typeface="Symbol" pitchFamily="18" charset="2"/>
                </a:rPr>
                <a:t>)</a:t>
              </a:r>
            </a:p>
          </p:txBody>
        </p:sp>
        <p:sp>
          <p:nvSpPr>
            <p:cNvPr id="21522" name="Text Box 17"/>
            <p:cNvSpPr txBox="1">
              <a:spLocks noChangeArrowheads="1"/>
            </p:cNvSpPr>
            <p:nvPr/>
          </p:nvSpPr>
          <p:spPr bwMode="auto">
            <a:xfrm>
              <a:off x="1885" y="2906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solidFill>
                    <a:srgbClr val="990033"/>
                  </a:solidFill>
                  <a:sym typeface="Symbol" pitchFamily="18" charset="2"/>
                </a:rPr>
                <a:t>l</a:t>
              </a:r>
            </a:p>
          </p:txBody>
        </p:sp>
        <p:sp>
          <p:nvSpPr>
            <p:cNvPr id="21523" name="Line 18"/>
            <p:cNvSpPr>
              <a:spLocks noChangeShapeType="1"/>
            </p:cNvSpPr>
            <p:nvPr/>
          </p:nvSpPr>
          <p:spPr bwMode="auto">
            <a:xfrm>
              <a:off x="1273" y="2235"/>
              <a:ext cx="1065" cy="1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1524" name="Line 19"/>
            <p:cNvSpPr>
              <a:spLocks noChangeShapeType="1"/>
            </p:cNvSpPr>
            <p:nvPr/>
          </p:nvSpPr>
          <p:spPr bwMode="auto">
            <a:xfrm flipH="1">
              <a:off x="1539" y="2306"/>
              <a:ext cx="333" cy="1183"/>
            </a:xfrm>
            <a:prstGeom prst="line">
              <a:avLst/>
            </a:prstGeom>
            <a:noFill/>
            <a:ln w="381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1525" name="Line 20"/>
            <p:cNvSpPr>
              <a:spLocks noChangeShapeType="1"/>
            </p:cNvSpPr>
            <p:nvPr/>
          </p:nvSpPr>
          <p:spPr bwMode="auto">
            <a:xfrm flipH="1">
              <a:off x="922" y="2312"/>
              <a:ext cx="940" cy="1091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1526" name="Text Box 21"/>
            <p:cNvSpPr txBox="1">
              <a:spLocks noChangeArrowheads="1"/>
            </p:cNvSpPr>
            <p:nvPr/>
          </p:nvSpPr>
          <p:spPr bwMode="auto">
            <a:xfrm>
              <a:off x="1756" y="2005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solidFill>
                    <a:srgbClr val="990033"/>
                  </a:solidFill>
                  <a:sym typeface="Symbol" pitchFamily="18" charset="2"/>
                </a:rPr>
                <a:t>L</a:t>
              </a:r>
            </a:p>
          </p:txBody>
        </p:sp>
        <p:sp>
          <p:nvSpPr>
            <p:cNvPr id="21527" name="Text Box 22"/>
            <p:cNvSpPr txBox="1">
              <a:spLocks noChangeArrowheads="1"/>
            </p:cNvSpPr>
            <p:nvPr/>
          </p:nvSpPr>
          <p:spPr bwMode="auto">
            <a:xfrm>
              <a:off x="1289" y="1902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solidFill>
                    <a:srgbClr val="333333"/>
                  </a:solidFill>
                  <a:sym typeface="Symbol" pitchFamily="18" charset="2"/>
                </a:rPr>
                <a:t>P</a:t>
              </a:r>
            </a:p>
          </p:txBody>
        </p:sp>
        <p:sp>
          <p:nvSpPr>
            <p:cNvPr id="21528" name="Arc 23"/>
            <p:cNvSpPr>
              <a:spLocks/>
            </p:cNvSpPr>
            <p:nvPr/>
          </p:nvSpPr>
          <p:spPr bwMode="auto">
            <a:xfrm>
              <a:off x="1591" y="3128"/>
              <a:ext cx="131" cy="178"/>
            </a:xfrm>
            <a:custGeom>
              <a:avLst/>
              <a:gdLst>
                <a:gd name="T0" fmla="*/ 0 w 21600"/>
                <a:gd name="T1" fmla="*/ 0 h 24705"/>
                <a:gd name="T2" fmla="*/ 0 w 21600"/>
                <a:gd name="T3" fmla="*/ 0 h 24705"/>
                <a:gd name="T4" fmla="*/ 0 w 21600"/>
                <a:gd name="T5" fmla="*/ 0 h 2470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4705"/>
                <a:gd name="T11" fmla="*/ 21600 w 21600"/>
                <a:gd name="T12" fmla="*/ 24705 h 247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4705" fill="none" extrusionOk="0">
                  <a:moveTo>
                    <a:pt x="6240" y="-1"/>
                  </a:moveTo>
                  <a:cubicBezTo>
                    <a:pt x="15359" y="2751"/>
                    <a:pt x="21600" y="11153"/>
                    <a:pt x="21600" y="20679"/>
                  </a:cubicBezTo>
                  <a:cubicBezTo>
                    <a:pt x="21600" y="22029"/>
                    <a:pt x="21473" y="23377"/>
                    <a:pt x="21221" y="24704"/>
                  </a:cubicBezTo>
                </a:path>
                <a:path w="21600" h="24705" stroke="0" extrusionOk="0">
                  <a:moveTo>
                    <a:pt x="6240" y="-1"/>
                  </a:moveTo>
                  <a:cubicBezTo>
                    <a:pt x="15359" y="2751"/>
                    <a:pt x="21600" y="11153"/>
                    <a:pt x="21600" y="20679"/>
                  </a:cubicBezTo>
                  <a:cubicBezTo>
                    <a:pt x="21600" y="22029"/>
                    <a:pt x="21473" y="23377"/>
                    <a:pt x="21221" y="24704"/>
                  </a:cubicBezTo>
                  <a:lnTo>
                    <a:pt x="0" y="20679"/>
                  </a:lnTo>
                  <a:lnTo>
                    <a:pt x="6240" y="-1"/>
                  </a:lnTo>
                  <a:close/>
                </a:path>
              </a:pathLst>
            </a:custGeom>
            <a:noFill/>
            <a:ln w="127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1529" name="Arc 24"/>
            <p:cNvSpPr>
              <a:spLocks/>
            </p:cNvSpPr>
            <p:nvPr/>
          </p:nvSpPr>
          <p:spPr bwMode="auto">
            <a:xfrm>
              <a:off x="1090" y="3155"/>
              <a:ext cx="142" cy="170"/>
            </a:xfrm>
            <a:custGeom>
              <a:avLst/>
              <a:gdLst>
                <a:gd name="T0" fmla="*/ 0 w 21600"/>
                <a:gd name="T1" fmla="*/ 0 h 25102"/>
                <a:gd name="T2" fmla="*/ 0 w 21600"/>
                <a:gd name="T3" fmla="*/ 0 h 25102"/>
                <a:gd name="T4" fmla="*/ 0 w 21600"/>
                <a:gd name="T5" fmla="*/ 0 h 2510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102"/>
                <a:gd name="T11" fmla="*/ 21600 w 21600"/>
                <a:gd name="T12" fmla="*/ 25102 h 251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102" fill="none" extrusionOk="0">
                  <a:moveTo>
                    <a:pt x="7096" y="-1"/>
                  </a:moveTo>
                  <a:cubicBezTo>
                    <a:pt x="15779" y="3020"/>
                    <a:pt x="21600" y="11206"/>
                    <a:pt x="21600" y="20401"/>
                  </a:cubicBezTo>
                  <a:cubicBezTo>
                    <a:pt x="21600" y="21982"/>
                    <a:pt x="21426" y="23558"/>
                    <a:pt x="21082" y="25102"/>
                  </a:cubicBezTo>
                </a:path>
                <a:path w="21600" h="25102" stroke="0" extrusionOk="0">
                  <a:moveTo>
                    <a:pt x="7096" y="-1"/>
                  </a:moveTo>
                  <a:cubicBezTo>
                    <a:pt x="15779" y="3020"/>
                    <a:pt x="21600" y="11206"/>
                    <a:pt x="21600" y="20401"/>
                  </a:cubicBezTo>
                  <a:cubicBezTo>
                    <a:pt x="21600" y="21982"/>
                    <a:pt x="21426" y="23558"/>
                    <a:pt x="21082" y="25102"/>
                  </a:cubicBezTo>
                  <a:lnTo>
                    <a:pt x="0" y="20401"/>
                  </a:lnTo>
                  <a:lnTo>
                    <a:pt x="7096" y="-1"/>
                  </a:lnTo>
                  <a:close/>
                </a:path>
              </a:pathLst>
            </a:custGeom>
            <a:noFill/>
            <a:ln w="127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1530" name="Text Box 25"/>
            <p:cNvSpPr txBox="1">
              <a:spLocks noChangeArrowheads="1"/>
            </p:cNvSpPr>
            <p:nvPr/>
          </p:nvSpPr>
          <p:spPr bwMode="auto">
            <a:xfrm>
              <a:off x="1537" y="3105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333333"/>
                  </a:solidFill>
                  <a:sym typeface="Symbol" pitchFamily="18" charset="2"/>
                </a:rPr>
                <a:t></a:t>
              </a:r>
            </a:p>
          </p:txBody>
        </p:sp>
        <p:sp>
          <p:nvSpPr>
            <p:cNvPr id="21531" name="Text Box 26"/>
            <p:cNvSpPr txBox="1">
              <a:spLocks noChangeArrowheads="1"/>
            </p:cNvSpPr>
            <p:nvPr/>
          </p:nvSpPr>
          <p:spPr bwMode="auto">
            <a:xfrm>
              <a:off x="987" y="3111"/>
              <a:ext cx="3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333333"/>
                  </a:solidFill>
                  <a:sym typeface="Symbol" pitchFamily="18" charset="2"/>
                </a:rPr>
                <a:t></a:t>
              </a:r>
              <a:r>
                <a:rPr lang="en-US" altLang="zh-CN" sz="1800">
                  <a:solidFill>
                    <a:srgbClr val="333333"/>
                  </a:solidFill>
                  <a:sym typeface="Symbol" pitchFamily="18" charset="2"/>
                </a:rPr>
                <a:t>1</a:t>
              </a:r>
              <a:endParaRPr lang="en-US" altLang="zh-CN" sz="2400">
                <a:solidFill>
                  <a:srgbClr val="333333"/>
                </a:solidFill>
                <a:sym typeface="Symbol" pitchFamily="18" charset="2"/>
              </a:endParaRPr>
            </a:p>
          </p:txBody>
        </p:sp>
        <p:sp>
          <p:nvSpPr>
            <p:cNvPr id="21532" name="Line 27"/>
            <p:cNvSpPr>
              <a:spLocks noChangeShapeType="1"/>
            </p:cNvSpPr>
            <p:nvPr/>
          </p:nvSpPr>
          <p:spPr bwMode="auto">
            <a:xfrm>
              <a:off x="1270" y="2244"/>
              <a:ext cx="0" cy="8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1533" name="Line 28"/>
            <p:cNvSpPr>
              <a:spLocks noChangeShapeType="1"/>
            </p:cNvSpPr>
            <p:nvPr/>
          </p:nvSpPr>
          <p:spPr bwMode="auto">
            <a:xfrm>
              <a:off x="1271" y="3077"/>
              <a:ext cx="1063" cy="143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1534" name="Text Box 29"/>
            <p:cNvSpPr txBox="1">
              <a:spLocks noChangeArrowheads="1"/>
            </p:cNvSpPr>
            <p:nvPr/>
          </p:nvSpPr>
          <p:spPr bwMode="auto">
            <a:xfrm>
              <a:off x="1256" y="2817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solidFill>
                    <a:srgbClr val="000066"/>
                  </a:solidFill>
                  <a:sym typeface="Symbol" pitchFamily="18" charset="2"/>
                </a:rPr>
                <a:t>a</a:t>
              </a:r>
            </a:p>
          </p:txBody>
        </p:sp>
        <p:sp>
          <p:nvSpPr>
            <p:cNvPr id="21535" name="Text Box 30"/>
            <p:cNvSpPr txBox="1">
              <a:spLocks noChangeArrowheads="1"/>
            </p:cNvSpPr>
            <p:nvPr/>
          </p:nvSpPr>
          <p:spPr bwMode="auto">
            <a:xfrm>
              <a:off x="2279" y="3003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solidFill>
                    <a:srgbClr val="000066"/>
                  </a:solidFill>
                  <a:sym typeface="Symbol" pitchFamily="18" charset="2"/>
                </a:rPr>
                <a:t>b</a:t>
              </a:r>
            </a:p>
          </p:txBody>
        </p:sp>
        <p:sp>
          <p:nvSpPr>
            <p:cNvPr id="21536" name="Line 32"/>
            <p:cNvSpPr>
              <a:spLocks noChangeShapeType="1"/>
            </p:cNvSpPr>
            <p:nvPr/>
          </p:nvSpPr>
          <p:spPr bwMode="auto">
            <a:xfrm>
              <a:off x="839" y="3381"/>
              <a:ext cx="1200" cy="1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kumimoji="0" lang="zh-CN" altLang="en-US" sz="2000" i="1" baseline="-10000">
                <a:solidFill>
                  <a:srgbClr val="333333"/>
                </a:solidFill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21537" name="Text Box 33"/>
            <p:cNvSpPr txBox="1">
              <a:spLocks noChangeArrowheads="1"/>
            </p:cNvSpPr>
            <p:nvPr/>
          </p:nvSpPr>
          <p:spPr bwMode="auto">
            <a:xfrm>
              <a:off x="483" y="3183"/>
              <a:ext cx="37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solidFill>
                    <a:srgbClr val="333333"/>
                  </a:solidFill>
                  <a:sym typeface="Symbol" pitchFamily="18" charset="2"/>
                </a:rPr>
                <a:t>P</a:t>
              </a:r>
              <a:r>
                <a:rPr lang="en-US" altLang="zh-CN" sz="2800" i="1" baseline="-25000">
                  <a:solidFill>
                    <a:srgbClr val="333333"/>
                  </a:solidFill>
                  <a:sym typeface="Symbol" pitchFamily="18" charset="2"/>
                </a:rPr>
                <a:t>H</a:t>
              </a:r>
            </a:p>
          </p:txBody>
        </p:sp>
      </p:grpSp>
      <p:sp>
        <p:nvSpPr>
          <p:cNvPr id="121891" name="Text Box 35"/>
          <p:cNvSpPr txBox="1">
            <a:spLocks noChangeArrowheads="1"/>
          </p:cNvSpPr>
          <p:nvPr/>
        </p:nvSpPr>
        <p:spPr bwMode="auto">
          <a:xfrm>
            <a:off x="4264025" y="5289550"/>
            <a:ext cx="44053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333333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推论：平面上垂直于投影面平行线的直线为最大斜度线。</a:t>
            </a:r>
          </a:p>
        </p:txBody>
      </p:sp>
    </p:spTree>
    <p:extLst>
      <p:ext uri="{BB962C8B-B14F-4D97-AF65-F5344CB8AC3E}">
        <p14:creationId xmlns:p14="http://schemas.microsoft.com/office/powerpoint/2010/main" val="1967930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9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70F695-13D4-40AC-93EF-4E3095D179A8}" type="slidenum">
              <a:rPr lang="en-US" altLang="zh-CN">
                <a:solidFill>
                  <a:srgbClr val="578963"/>
                </a:solidFill>
              </a:rPr>
              <a:pPr>
                <a:defRPr/>
              </a:pPr>
              <a:t>36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22531" name="AutoShape 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actionButtonBlank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 i="1" baseline="-10000">
              <a:solidFill>
                <a:srgbClr val="333333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39267" name="Text Box 3"/>
          <p:cNvSpPr txBox="1">
            <a:spLocks noChangeArrowheads="1"/>
          </p:cNvSpPr>
          <p:nvPr/>
        </p:nvSpPr>
        <p:spPr bwMode="auto">
          <a:xfrm>
            <a:off x="827088" y="2197904"/>
            <a:ext cx="7650162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3600" dirty="0">
                <a:solidFill>
                  <a:srgbClr val="333333"/>
                </a:solidFill>
                <a:sym typeface="Symbol" pitchFamily="18" charset="2"/>
              </a:rPr>
              <a:t>I shut my eyes in order to see.  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dirty="0">
                <a:solidFill>
                  <a:srgbClr val="333333"/>
                </a:solidFill>
                <a:sym typeface="Symbol" pitchFamily="18" charset="2"/>
              </a:rPr>
              <a:t>    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dirty="0">
                <a:solidFill>
                  <a:srgbClr val="333333"/>
                </a:solidFill>
                <a:sym typeface="Symbol" pitchFamily="18" charset="2"/>
              </a:rPr>
              <a:t>                                      Paul Gauguin (1848-1903) </a:t>
            </a:r>
          </a:p>
        </p:txBody>
      </p:sp>
    </p:spTree>
    <p:extLst>
      <p:ext uri="{BB962C8B-B14F-4D97-AF65-F5344CB8AC3E}">
        <p14:creationId xmlns:p14="http://schemas.microsoft.com/office/powerpoint/2010/main" val="65517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 autoUpdateAnimBg="0"/>
    </p:bldLst>
  </p:timing>
</p:sld>
</file>

<file path=ppt/theme/theme1.xml><?xml version="1.0" encoding="utf-8"?>
<a:theme xmlns:a="http://schemas.openxmlformats.org/drawingml/2006/main" name="场景型模板">
  <a:themeElements>
    <a:clrScheme name="场景型模板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场景型模板">
  <a:themeElements>
    <a:clrScheme name="场景型模板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sm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1" i="1" u="none" strike="noStrike" cap="none" normalizeH="0" baseline="-10000" smtClean="0">
            <a:ln>
              <a:noFill/>
            </a:ln>
            <a:solidFill>
              <a:schemeClr val="tx1"/>
            </a:solidFill>
            <a:effectLst/>
            <a:latin typeface="ISOCPEUR" pitchFamily="34" charset="0"/>
            <a:ea typeface="宋体" pitchFamily="2" charset="-122"/>
            <a:sym typeface="Symbol" pitchFamily="18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sm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1" i="1" u="none" strike="noStrike" cap="none" normalizeH="0" baseline="-10000" smtClean="0">
            <a:ln>
              <a:noFill/>
            </a:ln>
            <a:solidFill>
              <a:schemeClr val="tx1"/>
            </a:solidFill>
            <a:effectLst/>
            <a:latin typeface="ISOCPEUR" pitchFamily="34" charset="0"/>
            <a:ea typeface="宋体" pitchFamily="2" charset="-122"/>
            <a:sym typeface="Symbol" pitchFamily="18" charset="2"/>
          </a:defRPr>
        </a:defPPr>
      </a:lstStyle>
    </a:lnDef>
    <a:txDef>
      <a:spPr bwMode="auto">
        <a:solidFill>
          <a:srgbClr val="FFFFFF"/>
        </a:solidFill>
        <a:ln w="9525">
          <a:noFill/>
          <a:miter lim="800000"/>
          <a:headEnd/>
          <a:tailEnd type="none" w="sm" len="lg"/>
        </a:ln>
        <a:effectLst/>
      </a:spPr>
      <a:bodyPr anchor="ctr">
        <a:spAutoFit/>
      </a:bodyPr>
      <a:lstStyle>
        <a:defPPr>
          <a:buFontTx/>
          <a:buChar char="•"/>
          <a:defRPr sz="2400" i="0" baseline="0" dirty="0">
            <a:latin typeface="黑体" pitchFamily="2" charset="-122"/>
            <a:ea typeface="黑体" pitchFamily="2" charset="-122"/>
          </a:defRPr>
        </a:defPPr>
      </a:lstStyle>
    </a:tx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Office\Templates\演示文稿设计\场景型模板.pot</Template>
  <TotalTime>7646</TotalTime>
  <Words>2929</Words>
  <Application>Microsoft Office PowerPoint</Application>
  <PresentationFormat>全屏显示(4:3)</PresentationFormat>
  <Paragraphs>845</Paragraphs>
  <Slides>36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38" baseType="lpstr">
      <vt:lpstr>场景型模板</vt:lpstr>
      <vt:lpstr>1_场景型模板</vt:lpstr>
      <vt:lpstr> 第二讲</vt:lpstr>
      <vt:lpstr>§2.3 平面的投影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ENGINEERING GRAPHICS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第一讲            1999.9.29</dc:title>
  <dc:creator>TSINGHUA UNIVERSITY</dc:creator>
  <cp:lastModifiedBy>Li Tiemin</cp:lastModifiedBy>
  <cp:revision>318</cp:revision>
  <dcterms:created xsi:type="dcterms:W3CDTF">1999-09-22T00:31:18Z</dcterms:created>
  <dcterms:modified xsi:type="dcterms:W3CDTF">2023-09-23T08:15:47Z</dcterms:modified>
</cp:coreProperties>
</file>