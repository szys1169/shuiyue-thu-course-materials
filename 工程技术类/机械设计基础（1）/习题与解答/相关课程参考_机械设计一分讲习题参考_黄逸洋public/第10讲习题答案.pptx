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75" r:id="rId3"/>
    <p:sldId id="376" r:id="rId4"/>
    <p:sldId id="377" r:id="rId5"/>
    <p:sldId id="290" r:id="rId6"/>
    <p:sldId id="349" r:id="rId7"/>
    <p:sldId id="291" r:id="rId8"/>
    <p:sldId id="350" r:id="rId9"/>
    <p:sldId id="293" r:id="rId10"/>
    <p:sldId id="351" r:id="rId11"/>
    <p:sldId id="294" r:id="rId12"/>
    <p:sldId id="352" r:id="rId13"/>
    <p:sldId id="295" r:id="rId14"/>
    <p:sldId id="353" r:id="rId15"/>
    <p:sldId id="296" r:id="rId16"/>
    <p:sldId id="354" r:id="rId17"/>
    <p:sldId id="297" r:id="rId18"/>
    <p:sldId id="355" r:id="rId19"/>
    <p:sldId id="298" r:id="rId20"/>
    <p:sldId id="356" r:id="rId21"/>
    <p:sldId id="299" r:id="rId22"/>
    <p:sldId id="357" r:id="rId23"/>
    <p:sldId id="300" r:id="rId24"/>
    <p:sldId id="358" r:id="rId25"/>
    <p:sldId id="301" r:id="rId26"/>
    <p:sldId id="359" r:id="rId27"/>
    <p:sldId id="371" r:id="rId28"/>
    <p:sldId id="372" r:id="rId29"/>
    <p:sldId id="374" r:id="rId30"/>
    <p:sldId id="360" r:id="rId31"/>
    <p:sldId id="303" r:id="rId32"/>
    <p:sldId id="361" r:id="rId33"/>
    <p:sldId id="304" r:id="rId34"/>
    <p:sldId id="362" r:id="rId35"/>
    <p:sldId id="305" r:id="rId36"/>
    <p:sldId id="363" r:id="rId37"/>
    <p:sldId id="306" r:id="rId38"/>
    <p:sldId id="364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66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pos="2880">
          <p15:clr>
            <a:srgbClr val="A4A3A4"/>
          </p15:clr>
        </p15:guide>
        <p15:guide id="7" pos="1383">
          <p15:clr>
            <a:srgbClr val="A4A3A4"/>
          </p15:clr>
        </p15:guide>
        <p15:guide id="8" pos="4377">
          <p15:clr>
            <a:srgbClr val="A4A3A4"/>
          </p15:clr>
        </p15:guide>
        <p15:guide id="9" pos="839">
          <p15:clr>
            <a:srgbClr val="A4A3A4"/>
          </p15:clr>
        </p15:guide>
        <p15:guide id="10" pos="49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4974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4FDB7D2-5820-47A0-B771-CDC27CC36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32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54112-86B4-40E8-B974-616970F093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09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CC27-D5E5-483D-8E52-AB7251242E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525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BBF1F-F337-40DB-9820-45BBCF70AF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586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9C7D7-2328-4406-BBB4-9F69E312B7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36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51855-408E-4909-A72F-9D9D722FA3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82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6E620-8150-46E5-ADB8-FE32FD8D04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54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40D9C-38C0-4E41-96B7-96DAEBAE0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34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32C9C-9C7C-4CA2-B593-668B03082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362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445C0-35D8-4627-9658-8BDC7951B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460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4671-8BB8-4B13-8DAD-7361BBD5B5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4767D70-A863-426F-9EEB-7E89A2EEB7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908050"/>
            <a:ext cx="91440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第 </a:t>
            </a:r>
            <a:r>
              <a:rPr lang="en-US" altLang="zh-CN" sz="6000" b="1" dirty="0" smtClean="0">
                <a:latin typeface="Arial" charset="0"/>
                <a:ea typeface="隶书" pitchFamily="49" charset="-122"/>
              </a:rPr>
              <a:t>10 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 dirty="0">
              <a:latin typeface="Arial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latin typeface="黑体" pitchFamily="2" charset="-122"/>
                <a:ea typeface="黑体" pitchFamily="2" charset="-122"/>
              </a:rPr>
              <a:t>机件的表达方法（</a:t>
            </a:r>
            <a:r>
              <a:rPr lang="en-US" altLang="zh-CN" sz="48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4800" b="1" dirty="0"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48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965200" y="568325"/>
            <a:ext cx="8178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5400" b="1">
                <a:latin typeface="黑体" pitchFamily="2" charset="-122"/>
                <a:ea typeface="黑体" pitchFamily="2" charset="-122"/>
              </a:rPr>
              <a:t>本次作业中的主要问题：</a:t>
            </a:r>
            <a:endParaRPr kumimoji="1" lang="zh-CN" altLang="en-US" sz="5400" b="1"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69987" name="Text Box 3"/>
          <p:cNvSpPr txBox="1">
            <a:spLocks noChangeArrowheads="1"/>
          </p:cNvSpPr>
          <p:nvPr/>
        </p:nvSpPr>
        <p:spPr bwMode="auto">
          <a:xfrm>
            <a:off x="902938" y="1634424"/>
            <a:ext cx="8186737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4400" b="1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  <a:cs typeface="ISOCP" pitchFamily="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sz="44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回转面的轴线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sz="44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线型（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粗实线、虚线、点画线、细实线</a:t>
            </a:r>
            <a:r>
              <a:rPr kumimoji="1" lang="zh-CN" altLang="en-US" sz="4400" b="1" dirty="0" smtClean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）</a:t>
            </a:r>
            <a:endParaRPr kumimoji="1" lang="zh-CN" altLang="en-US" sz="4400" b="1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  <a:cs typeface="ISOCP" pitchFamily="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sz="44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箭头画法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kumimoji="1" lang="zh-CN" altLang="en-US" sz="4400" b="1" dirty="0">
              <a:solidFill>
                <a:srgbClr val="FF0000"/>
              </a:solidFill>
              <a:latin typeface="华文宋体" pitchFamily="2" charset="-122"/>
              <a:ea typeface="华文宋体" pitchFamily="2" charset="-122"/>
              <a:cs typeface="ISOCP" pitchFamily="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sz="4400" b="1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ISOCP" pitchFamily="2" charset="0"/>
              </a:rPr>
              <a:t>视图的规范绘制、标注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34874" y="4078820"/>
            <a:ext cx="1103312" cy="76200"/>
            <a:chOff x="1510" y="3894"/>
            <a:chExt cx="695" cy="48"/>
          </a:xfrm>
        </p:grpSpPr>
        <p:sp>
          <p:nvSpPr>
            <p:cNvPr id="4113" name="Line 5"/>
            <p:cNvSpPr>
              <a:spLocks noChangeShapeType="1"/>
            </p:cNvSpPr>
            <p:nvPr/>
          </p:nvSpPr>
          <p:spPr bwMode="auto">
            <a:xfrm>
              <a:off x="1510" y="3917"/>
              <a:ext cx="6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4" name="Freeform 6"/>
            <p:cNvSpPr>
              <a:spLocks/>
            </p:cNvSpPr>
            <p:nvPr/>
          </p:nvSpPr>
          <p:spPr bwMode="auto">
            <a:xfrm>
              <a:off x="1887" y="3894"/>
              <a:ext cx="318" cy="48"/>
            </a:xfrm>
            <a:custGeom>
              <a:avLst/>
              <a:gdLst>
                <a:gd name="T0" fmla="*/ 318 w 318"/>
                <a:gd name="T1" fmla="*/ 24 h 48"/>
                <a:gd name="T2" fmla="*/ 0 w 318"/>
                <a:gd name="T3" fmla="*/ 0 h 48"/>
                <a:gd name="T4" fmla="*/ 0 w 318"/>
                <a:gd name="T5" fmla="*/ 48 h 48"/>
                <a:gd name="T6" fmla="*/ 318 w 318"/>
                <a:gd name="T7" fmla="*/ 24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8"/>
                <a:gd name="T13" fmla="*/ 0 h 48"/>
                <a:gd name="T14" fmla="*/ 318 w 318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8" h="48">
                  <a:moveTo>
                    <a:pt x="318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318" y="24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818999" y="3826408"/>
            <a:ext cx="604837" cy="627062"/>
            <a:chOff x="1500" y="3735"/>
            <a:chExt cx="381" cy="395"/>
          </a:xfrm>
        </p:grpSpPr>
        <p:sp>
          <p:nvSpPr>
            <p:cNvPr id="4107" name="Line 8"/>
            <p:cNvSpPr>
              <a:spLocks noChangeShapeType="1"/>
            </p:cNvSpPr>
            <p:nvPr/>
          </p:nvSpPr>
          <p:spPr bwMode="auto">
            <a:xfrm flipH="1">
              <a:off x="1734" y="3894"/>
              <a:ext cx="144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9"/>
            <p:cNvSpPr>
              <a:spLocks noChangeShapeType="1"/>
            </p:cNvSpPr>
            <p:nvPr/>
          </p:nvSpPr>
          <p:spPr bwMode="auto">
            <a:xfrm flipH="1">
              <a:off x="1731" y="3942"/>
              <a:ext cx="15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" name="Line 10"/>
            <p:cNvSpPr>
              <a:spLocks noChangeShapeType="1"/>
            </p:cNvSpPr>
            <p:nvPr/>
          </p:nvSpPr>
          <p:spPr bwMode="auto">
            <a:xfrm>
              <a:off x="1764" y="3735"/>
              <a:ext cx="0" cy="16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1764" y="3894"/>
              <a:ext cx="0" cy="5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1" name="Line 12"/>
            <p:cNvSpPr>
              <a:spLocks noChangeShapeType="1"/>
            </p:cNvSpPr>
            <p:nvPr/>
          </p:nvSpPr>
          <p:spPr bwMode="auto">
            <a:xfrm flipV="1">
              <a:off x="1764" y="3942"/>
              <a:ext cx="0" cy="12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 rot="-5400000">
              <a:off x="1532" y="3875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990000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412724" y="3539070"/>
            <a:ext cx="534987" cy="573088"/>
            <a:chOff x="1874" y="3554"/>
            <a:chExt cx="337" cy="361"/>
          </a:xfrm>
        </p:grpSpPr>
        <p:sp>
          <p:nvSpPr>
            <p:cNvPr id="4103" name="Line 15"/>
            <p:cNvSpPr>
              <a:spLocks noChangeShapeType="1"/>
            </p:cNvSpPr>
            <p:nvPr/>
          </p:nvSpPr>
          <p:spPr bwMode="auto">
            <a:xfrm>
              <a:off x="1887" y="3762"/>
              <a:ext cx="0" cy="13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" name="Line 16"/>
            <p:cNvSpPr>
              <a:spLocks noChangeShapeType="1"/>
            </p:cNvSpPr>
            <p:nvPr/>
          </p:nvSpPr>
          <p:spPr bwMode="auto">
            <a:xfrm>
              <a:off x="2208" y="3759"/>
              <a:ext cx="0" cy="15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" name="Line 17"/>
            <p:cNvSpPr>
              <a:spLocks noChangeShapeType="1"/>
            </p:cNvSpPr>
            <p:nvPr/>
          </p:nvSpPr>
          <p:spPr bwMode="auto">
            <a:xfrm>
              <a:off x="1884" y="3798"/>
              <a:ext cx="327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Text Box 18"/>
            <p:cNvSpPr txBox="1">
              <a:spLocks noChangeArrowheads="1"/>
            </p:cNvSpPr>
            <p:nvPr/>
          </p:nvSpPr>
          <p:spPr bwMode="auto">
            <a:xfrm>
              <a:off x="1874" y="3554"/>
              <a:ext cx="3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990000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400" b="1" dirty="0" smtClean="0">
                  <a:solidFill>
                    <a:srgbClr val="990000"/>
                  </a:solidFill>
                  <a:latin typeface="Times New Roman" pitchFamily="18" charset="0"/>
                </a:rPr>
                <a:t>d</a:t>
              </a:r>
              <a:endParaRPr kumimoji="1" lang="en-US" altLang="zh-CN" sz="2400" b="1" dirty="0">
                <a:solidFill>
                  <a:srgbClr val="9900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AutoShape 2"/>
          <p:cNvSpPr>
            <a:spLocks noChangeArrowheads="1"/>
          </p:cNvSpPr>
          <p:nvPr/>
        </p:nvSpPr>
        <p:spPr bwMode="auto">
          <a:xfrm>
            <a:off x="4276725" y="4833938"/>
            <a:ext cx="1401763" cy="609600"/>
          </a:xfrm>
          <a:prstGeom prst="wedgeRectCallout">
            <a:avLst>
              <a:gd name="adj1" fmla="val -9116"/>
              <a:gd name="adj2" fmla="val -13255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剖切位置</a:t>
            </a:r>
          </a:p>
        </p:txBody>
      </p:sp>
      <p:sp>
        <p:nvSpPr>
          <p:cNvPr id="171011" name="AutoShape 3"/>
          <p:cNvSpPr>
            <a:spLocks noChangeArrowheads="1"/>
          </p:cNvSpPr>
          <p:nvPr/>
        </p:nvSpPr>
        <p:spPr bwMode="auto">
          <a:xfrm>
            <a:off x="508000" y="2722563"/>
            <a:ext cx="1401763" cy="609600"/>
          </a:xfrm>
          <a:prstGeom prst="wedgeRectCallout">
            <a:avLst>
              <a:gd name="adj1" fmla="val 33125"/>
              <a:gd name="adj2" fmla="val 15573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投影方向</a:t>
            </a:r>
          </a:p>
        </p:txBody>
      </p:sp>
      <p:sp>
        <p:nvSpPr>
          <p:cNvPr id="171012" name="AutoShape 4"/>
          <p:cNvSpPr>
            <a:spLocks noChangeArrowheads="1"/>
          </p:cNvSpPr>
          <p:nvPr/>
        </p:nvSpPr>
        <p:spPr bwMode="auto">
          <a:xfrm>
            <a:off x="1595438" y="2009775"/>
            <a:ext cx="1401762" cy="609600"/>
          </a:xfrm>
          <a:prstGeom prst="wedgeRectCallout">
            <a:avLst>
              <a:gd name="adj1" fmla="val 47963"/>
              <a:gd name="adj2" fmla="val 1239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剖面符号</a:t>
            </a:r>
          </a:p>
        </p:txBody>
      </p:sp>
      <p:sp>
        <p:nvSpPr>
          <p:cNvPr id="171013" name="AutoShape 5"/>
          <p:cNvSpPr>
            <a:spLocks noChangeArrowheads="1"/>
          </p:cNvSpPr>
          <p:nvPr/>
        </p:nvSpPr>
        <p:spPr bwMode="auto">
          <a:xfrm>
            <a:off x="895350" y="4686300"/>
            <a:ext cx="1401763" cy="609600"/>
          </a:xfrm>
          <a:prstGeom prst="wedgeRectCallout">
            <a:avLst>
              <a:gd name="adj1" fmla="val -9458"/>
              <a:gd name="adj2" fmla="val -10182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剖面名称</a:t>
            </a:r>
          </a:p>
        </p:txBody>
      </p:sp>
      <p:sp>
        <p:nvSpPr>
          <p:cNvPr id="171014" name="AutoShape 6"/>
          <p:cNvSpPr>
            <a:spLocks noChangeArrowheads="1"/>
          </p:cNvSpPr>
          <p:nvPr/>
        </p:nvSpPr>
        <p:spPr bwMode="auto">
          <a:xfrm>
            <a:off x="2166938" y="296863"/>
            <a:ext cx="1479550" cy="609600"/>
          </a:xfrm>
          <a:prstGeom prst="wedgeRectCallout">
            <a:avLst>
              <a:gd name="adj1" fmla="val 44528"/>
              <a:gd name="adj2" fmla="val 18463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剖视图名称</a:t>
            </a:r>
          </a:p>
        </p:txBody>
      </p:sp>
      <p:sp>
        <p:nvSpPr>
          <p:cNvPr id="171015" name="Line 7"/>
          <p:cNvSpPr>
            <a:spLocks noChangeShapeType="1"/>
          </p:cNvSpPr>
          <p:nvPr/>
        </p:nvSpPr>
        <p:spPr bwMode="auto">
          <a:xfrm flipV="1">
            <a:off x="3384550" y="2236788"/>
            <a:ext cx="88900" cy="889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84575" y="2230438"/>
            <a:ext cx="819150" cy="1109662"/>
            <a:chOff x="4330" y="1612"/>
            <a:chExt cx="516" cy="699"/>
          </a:xfrm>
        </p:grpSpPr>
        <p:sp>
          <p:nvSpPr>
            <p:cNvPr id="5272" name="Freeform 9"/>
            <p:cNvSpPr>
              <a:spLocks/>
            </p:cNvSpPr>
            <p:nvPr/>
          </p:nvSpPr>
          <p:spPr bwMode="auto">
            <a:xfrm>
              <a:off x="4330" y="1612"/>
              <a:ext cx="516" cy="171"/>
            </a:xfrm>
            <a:custGeom>
              <a:avLst/>
              <a:gdLst>
                <a:gd name="T0" fmla="*/ 0 w 516"/>
                <a:gd name="T1" fmla="*/ 0 h 171"/>
                <a:gd name="T2" fmla="*/ 0 w 516"/>
                <a:gd name="T3" fmla="*/ 171 h 171"/>
                <a:gd name="T4" fmla="*/ 516 w 516"/>
                <a:gd name="T5" fmla="*/ 171 h 171"/>
                <a:gd name="T6" fmla="*/ 516 w 516"/>
                <a:gd name="T7" fmla="*/ 0 h 1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6"/>
                <a:gd name="T13" fmla="*/ 0 h 171"/>
                <a:gd name="T14" fmla="*/ 516 w 516"/>
                <a:gd name="T15" fmla="*/ 171 h 1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6" h="171">
                  <a:moveTo>
                    <a:pt x="0" y="0"/>
                  </a:moveTo>
                  <a:lnTo>
                    <a:pt x="0" y="171"/>
                  </a:lnTo>
                  <a:lnTo>
                    <a:pt x="516" y="171"/>
                  </a:lnTo>
                  <a:lnTo>
                    <a:pt x="516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73" name="Line 10"/>
            <p:cNvSpPr>
              <a:spLocks noChangeShapeType="1"/>
            </p:cNvSpPr>
            <p:nvPr/>
          </p:nvSpPr>
          <p:spPr bwMode="auto">
            <a:xfrm>
              <a:off x="4423" y="1783"/>
              <a:ext cx="0" cy="5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74" name="Line 11"/>
            <p:cNvSpPr>
              <a:spLocks noChangeShapeType="1"/>
            </p:cNvSpPr>
            <p:nvPr/>
          </p:nvSpPr>
          <p:spPr bwMode="auto">
            <a:xfrm>
              <a:off x="4747" y="1789"/>
              <a:ext cx="0" cy="5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75" name="Line 12"/>
            <p:cNvSpPr>
              <a:spLocks noChangeShapeType="1"/>
            </p:cNvSpPr>
            <p:nvPr/>
          </p:nvSpPr>
          <p:spPr bwMode="auto">
            <a:xfrm>
              <a:off x="4795" y="1783"/>
              <a:ext cx="0" cy="5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21" name="Rectangle 13"/>
          <p:cNvSpPr>
            <a:spLocks noChangeArrowheads="1"/>
          </p:cNvSpPr>
          <p:nvPr/>
        </p:nvSpPr>
        <p:spPr bwMode="auto">
          <a:xfrm>
            <a:off x="3473450" y="2071688"/>
            <a:ext cx="1295400" cy="1352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1022" name="Line 14"/>
          <p:cNvSpPr>
            <a:spLocks noChangeShapeType="1"/>
          </p:cNvSpPr>
          <p:nvPr/>
        </p:nvSpPr>
        <p:spPr bwMode="auto">
          <a:xfrm>
            <a:off x="2146300" y="295116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247900" y="2827338"/>
            <a:ext cx="190500" cy="501650"/>
            <a:chOff x="3478" y="1984"/>
            <a:chExt cx="120" cy="336"/>
          </a:xfrm>
        </p:grpSpPr>
        <p:sp>
          <p:nvSpPr>
            <p:cNvPr id="5270" name="Line 16"/>
            <p:cNvSpPr>
              <a:spLocks noChangeShapeType="1"/>
            </p:cNvSpPr>
            <p:nvPr/>
          </p:nvSpPr>
          <p:spPr bwMode="auto">
            <a:xfrm>
              <a:off x="3478" y="1984"/>
              <a:ext cx="0" cy="3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71" name="Line 17"/>
            <p:cNvSpPr>
              <a:spLocks noChangeShapeType="1"/>
            </p:cNvSpPr>
            <p:nvPr/>
          </p:nvSpPr>
          <p:spPr bwMode="auto">
            <a:xfrm>
              <a:off x="3598" y="1996"/>
              <a:ext cx="0" cy="3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26" name="Rectangle 18"/>
          <p:cNvSpPr>
            <a:spLocks noChangeArrowheads="1"/>
          </p:cNvSpPr>
          <p:nvPr/>
        </p:nvSpPr>
        <p:spPr bwMode="auto">
          <a:xfrm>
            <a:off x="2073275" y="2757488"/>
            <a:ext cx="476250" cy="704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1027" name="Line 19"/>
          <p:cNvSpPr>
            <a:spLocks noChangeShapeType="1"/>
          </p:cNvSpPr>
          <p:nvPr/>
        </p:nvSpPr>
        <p:spPr bwMode="auto">
          <a:xfrm>
            <a:off x="3398838" y="2946400"/>
            <a:ext cx="476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8" name="Rectangle 20"/>
          <p:cNvSpPr>
            <a:spLocks noChangeArrowheads="1"/>
          </p:cNvSpPr>
          <p:nvPr/>
        </p:nvSpPr>
        <p:spPr bwMode="auto">
          <a:xfrm>
            <a:off x="3305175" y="2868613"/>
            <a:ext cx="768350" cy="279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689100" y="4325938"/>
            <a:ext cx="3238500" cy="0"/>
            <a:chOff x="3136" y="2928"/>
            <a:chExt cx="2040" cy="0"/>
          </a:xfrm>
        </p:grpSpPr>
        <p:sp>
          <p:nvSpPr>
            <p:cNvPr id="5268" name="Line 22"/>
            <p:cNvSpPr>
              <a:spLocks noChangeShapeType="1"/>
            </p:cNvSpPr>
            <p:nvPr/>
          </p:nvSpPr>
          <p:spPr bwMode="auto">
            <a:xfrm>
              <a:off x="3136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9" name="Line 23"/>
            <p:cNvSpPr>
              <a:spLocks noChangeShapeType="1"/>
            </p:cNvSpPr>
            <p:nvPr/>
          </p:nvSpPr>
          <p:spPr bwMode="auto">
            <a:xfrm>
              <a:off x="5040" y="2928"/>
              <a:ext cx="1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1343025" y="4038600"/>
            <a:ext cx="3883025" cy="419100"/>
            <a:chOff x="2918" y="2747"/>
            <a:chExt cx="2446" cy="264"/>
          </a:xfrm>
        </p:grpSpPr>
        <p:sp>
          <p:nvSpPr>
            <p:cNvPr id="5266" name="Text Box 25"/>
            <p:cNvSpPr txBox="1">
              <a:spLocks noChangeArrowheads="1"/>
            </p:cNvSpPr>
            <p:nvPr/>
          </p:nvSpPr>
          <p:spPr bwMode="auto">
            <a:xfrm>
              <a:off x="2918" y="2761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A</a:t>
              </a:r>
            </a:p>
          </p:txBody>
        </p:sp>
        <p:sp>
          <p:nvSpPr>
            <p:cNvPr id="5267" name="Text Box 26"/>
            <p:cNvSpPr txBox="1">
              <a:spLocks noChangeArrowheads="1"/>
            </p:cNvSpPr>
            <p:nvPr/>
          </p:nvSpPr>
          <p:spPr bwMode="auto">
            <a:xfrm>
              <a:off x="5152" y="2747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A</a:t>
              </a:r>
            </a:p>
          </p:txBody>
        </p:sp>
      </p:grpSp>
      <p:sp>
        <p:nvSpPr>
          <p:cNvPr id="171035" name="Text Box 27"/>
          <p:cNvSpPr txBox="1">
            <a:spLocks noChangeArrowheads="1"/>
          </p:cNvSpPr>
          <p:nvPr/>
        </p:nvSpPr>
        <p:spPr bwMode="auto">
          <a:xfrm>
            <a:off x="3302000" y="1689100"/>
            <a:ext cx="709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ISOCPEUR" pitchFamily="34" charset="0"/>
                <a:ea typeface="黑体" pitchFamily="2" charset="-122"/>
              </a:rPr>
              <a:t>A-A </a:t>
            </a:r>
          </a:p>
        </p:txBody>
      </p:sp>
      <p:sp>
        <p:nvSpPr>
          <p:cNvPr id="171036" name="Freeform 28"/>
          <p:cNvSpPr>
            <a:spLocks/>
          </p:cNvSpPr>
          <p:nvPr/>
        </p:nvSpPr>
        <p:spPr bwMode="auto">
          <a:xfrm>
            <a:off x="3584575" y="2236788"/>
            <a:ext cx="819150" cy="271462"/>
          </a:xfrm>
          <a:custGeom>
            <a:avLst/>
            <a:gdLst>
              <a:gd name="T0" fmla="*/ 0 w 516"/>
              <a:gd name="T1" fmla="*/ 0 h 171"/>
              <a:gd name="T2" fmla="*/ 0 w 516"/>
              <a:gd name="T3" fmla="*/ 2147483647 h 171"/>
              <a:gd name="T4" fmla="*/ 2147483647 w 516"/>
              <a:gd name="T5" fmla="*/ 2147483647 h 171"/>
              <a:gd name="T6" fmla="*/ 2147483647 w 516"/>
              <a:gd name="T7" fmla="*/ 0 h 171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171"/>
              <a:gd name="T14" fmla="*/ 516 w 516"/>
              <a:gd name="T15" fmla="*/ 171 h 1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171">
                <a:moveTo>
                  <a:pt x="0" y="0"/>
                </a:moveTo>
                <a:lnTo>
                  <a:pt x="0" y="171"/>
                </a:lnTo>
                <a:lnTo>
                  <a:pt x="516" y="171"/>
                </a:lnTo>
                <a:lnTo>
                  <a:pt x="51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3732213" y="2505075"/>
            <a:ext cx="590550" cy="828675"/>
            <a:chOff x="4423" y="1789"/>
            <a:chExt cx="372" cy="522"/>
          </a:xfrm>
        </p:grpSpPr>
        <p:sp>
          <p:nvSpPr>
            <p:cNvPr id="5263" name="Line 30"/>
            <p:cNvSpPr>
              <a:spLocks noChangeShapeType="1"/>
            </p:cNvSpPr>
            <p:nvPr/>
          </p:nvSpPr>
          <p:spPr bwMode="auto">
            <a:xfrm>
              <a:off x="4423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4" name="Line 31"/>
            <p:cNvSpPr>
              <a:spLocks noChangeShapeType="1"/>
            </p:cNvSpPr>
            <p:nvPr/>
          </p:nvSpPr>
          <p:spPr bwMode="auto">
            <a:xfrm>
              <a:off x="4748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" name="Line 32"/>
            <p:cNvSpPr>
              <a:spLocks noChangeShapeType="1"/>
            </p:cNvSpPr>
            <p:nvPr/>
          </p:nvSpPr>
          <p:spPr bwMode="auto">
            <a:xfrm>
              <a:off x="4795" y="1789"/>
              <a:ext cx="0" cy="5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41" name="Line 33"/>
          <p:cNvSpPr>
            <a:spLocks noChangeShapeType="1"/>
          </p:cNvSpPr>
          <p:nvPr/>
        </p:nvSpPr>
        <p:spPr bwMode="auto">
          <a:xfrm flipV="1">
            <a:off x="2030413" y="2873375"/>
            <a:ext cx="195262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2" name="Line 34"/>
          <p:cNvSpPr>
            <a:spLocks noChangeShapeType="1"/>
          </p:cNvSpPr>
          <p:nvPr/>
        </p:nvSpPr>
        <p:spPr bwMode="auto">
          <a:xfrm flipV="1">
            <a:off x="2035175" y="2982913"/>
            <a:ext cx="195263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3" name="Line 35"/>
          <p:cNvSpPr>
            <a:spLocks noChangeShapeType="1"/>
          </p:cNvSpPr>
          <p:nvPr/>
        </p:nvSpPr>
        <p:spPr bwMode="auto">
          <a:xfrm flipV="1">
            <a:off x="2030413" y="3101975"/>
            <a:ext cx="195262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4" name="Line 36"/>
          <p:cNvSpPr>
            <a:spLocks noChangeShapeType="1"/>
          </p:cNvSpPr>
          <p:nvPr/>
        </p:nvSpPr>
        <p:spPr bwMode="auto">
          <a:xfrm flipV="1">
            <a:off x="2116138" y="3201988"/>
            <a:ext cx="123825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5" name="Line 37"/>
          <p:cNvSpPr>
            <a:spLocks noChangeShapeType="1"/>
          </p:cNvSpPr>
          <p:nvPr/>
        </p:nvSpPr>
        <p:spPr bwMode="auto">
          <a:xfrm flipV="1">
            <a:off x="2444750" y="2944813"/>
            <a:ext cx="319088" cy="319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6" name="Line 38"/>
          <p:cNvSpPr>
            <a:spLocks noChangeShapeType="1"/>
          </p:cNvSpPr>
          <p:nvPr/>
        </p:nvSpPr>
        <p:spPr bwMode="auto">
          <a:xfrm flipV="1">
            <a:off x="2439988" y="2954338"/>
            <a:ext cx="200025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7" name="Line 39"/>
          <p:cNvSpPr>
            <a:spLocks noChangeShapeType="1"/>
          </p:cNvSpPr>
          <p:nvPr/>
        </p:nvSpPr>
        <p:spPr bwMode="auto">
          <a:xfrm flipV="1">
            <a:off x="2439988" y="2944813"/>
            <a:ext cx="90487" cy="90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8" name="Line 40"/>
          <p:cNvSpPr>
            <a:spLocks noChangeShapeType="1"/>
          </p:cNvSpPr>
          <p:nvPr/>
        </p:nvSpPr>
        <p:spPr bwMode="auto">
          <a:xfrm flipV="1">
            <a:off x="2430463" y="2844800"/>
            <a:ext cx="80962" cy="80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49" name="Line 41"/>
          <p:cNvSpPr>
            <a:spLocks noChangeShapeType="1"/>
          </p:cNvSpPr>
          <p:nvPr/>
        </p:nvSpPr>
        <p:spPr bwMode="auto">
          <a:xfrm flipV="1">
            <a:off x="2487613" y="2954338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0" name="Line 42"/>
          <p:cNvSpPr>
            <a:spLocks noChangeShapeType="1"/>
          </p:cNvSpPr>
          <p:nvPr/>
        </p:nvSpPr>
        <p:spPr bwMode="auto">
          <a:xfrm flipV="1">
            <a:off x="2611438" y="294481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1" name="Line 43"/>
          <p:cNvSpPr>
            <a:spLocks noChangeShapeType="1"/>
          </p:cNvSpPr>
          <p:nvPr/>
        </p:nvSpPr>
        <p:spPr bwMode="auto">
          <a:xfrm flipV="1">
            <a:off x="2725738" y="2954338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2" name="Line 44"/>
          <p:cNvSpPr>
            <a:spLocks noChangeShapeType="1"/>
          </p:cNvSpPr>
          <p:nvPr/>
        </p:nvSpPr>
        <p:spPr bwMode="auto">
          <a:xfrm flipV="1">
            <a:off x="2843213" y="295592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3" name="Line 45"/>
          <p:cNvSpPr>
            <a:spLocks noChangeShapeType="1"/>
          </p:cNvSpPr>
          <p:nvPr/>
        </p:nvSpPr>
        <p:spPr bwMode="auto">
          <a:xfrm flipV="1">
            <a:off x="2963863" y="294957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4" name="Line 46"/>
          <p:cNvSpPr>
            <a:spLocks noChangeShapeType="1"/>
          </p:cNvSpPr>
          <p:nvPr/>
        </p:nvSpPr>
        <p:spPr bwMode="auto">
          <a:xfrm flipV="1">
            <a:off x="3087688" y="2692400"/>
            <a:ext cx="638175" cy="638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5" name="Line 47"/>
          <p:cNvSpPr>
            <a:spLocks noChangeShapeType="1"/>
          </p:cNvSpPr>
          <p:nvPr/>
        </p:nvSpPr>
        <p:spPr bwMode="auto">
          <a:xfrm flipV="1">
            <a:off x="3389313" y="2571750"/>
            <a:ext cx="338137" cy="338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6" name="Line 48"/>
          <p:cNvSpPr>
            <a:spLocks noChangeShapeType="1"/>
          </p:cNvSpPr>
          <p:nvPr/>
        </p:nvSpPr>
        <p:spPr bwMode="auto">
          <a:xfrm flipV="1">
            <a:off x="3387725" y="2506663"/>
            <a:ext cx="28575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7" name="Line 49"/>
          <p:cNvSpPr>
            <a:spLocks noChangeShapeType="1"/>
          </p:cNvSpPr>
          <p:nvPr/>
        </p:nvSpPr>
        <p:spPr bwMode="auto">
          <a:xfrm flipV="1">
            <a:off x="3397250" y="2347913"/>
            <a:ext cx="180975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8" name="Line 50"/>
          <p:cNvSpPr>
            <a:spLocks noChangeShapeType="1"/>
          </p:cNvSpPr>
          <p:nvPr/>
        </p:nvSpPr>
        <p:spPr bwMode="auto">
          <a:xfrm flipV="1">
            <a:off x="3392488" y="2470150"/>
            <a:ext cx="19050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59" name="Line 51"/>
          <p:cNvSpPr>
            <a:spLocks noChangeShapeType="1"/>
          </p:cNvSpPr>
          <p:nvPr/>
        </p:nvSpPr>
        <p:spPr bwMode="auto">
          <a:xfrm flipV="1">
            <a:off x="3387725" y="2244725"/>
            <a:ext cx="187325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0" name="Line 52"/>
          <p:cNvSpPr>
            <a:spLocks noChangeShapeType="1"/>
          </p:cNvSpPr>
          <p:nvPr/>
        </p:nvSpPr>
        <p:spPr bwMode="auto">
          <a:xfrm flipV="1">
            <a:off x="3211513" y="2811463"/>
            <a:ext cx="509587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1" name="Line 53"/>
          <p:cNvSpPr>
            <a:spLocks noChangeShapeType="1"/>
          </p:cNvSpPr>
          <p:nvPr/>
        </p:nvSpPr>
        <p:spPr bwMode="auto">
          <a:xfrm flipV="1">
            <a:off x="3325813" y="2916238"/>
            <a:ext cx="409575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2" name="Line 54"/>
          <p:cNvSpPr>
            <a:spLocks noChangeShapeType="1"/>
          </p:cNvSpPr>
          <p:nvPr/>
        </p:nvSpPr>
        <p:spPr bwMode="auto">
          <a:xfrm flipV="1">
            <a:off x="3459163" y="3063875"/>
            <a:ext cx="261937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3" name="Line 55"/>
          <p:cNvSpPr>
            <a:spLocks noChangeShapeType="1"/>
          </p:cNvSpPr>
          <p:nvPr/>
        </p:nvSpPr>
        <p:spPr bwMode="auto">
          <a:xfrm flipV="1">
            <a:off x="3587750" y="3187700"/>
            <a:ext cx="138113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4" name="Line 56"/>
          <p:cNvSpPr>
            <a:spLocks noChangeShapeType="1"/>
          </p:cNvSpPr>
          <p:nvPr/>
        </p:nvSpPr>
        <p:spPr bwMode="auto">
          <a:xfrm flipH="1">
            <a:off x="4468813" y="3221038"/>
            <a:ext cx="104775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5" name="Line 57"/>
          <p:cNvSpPr>
            <a:spLocks noChangeShapeType="1"/>
          </p:cNvSpPr>
          <p:nvPr/>
        </p:nvSpPr>
        <p:spPr bwMode="auto">
          <a:xfrm flipH="1">
            <a:off x="4341813" y="3086100"/>
            <a:ext cx="238125" cy="238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6" name="Line 58"/>
          <p:cNvSpPr>
            <a:spLocks noChangeShapeType="1"/>
          </p:cNvSpPr>
          <p:nvPr/>
        </p:nvSpPr>
        <p:spPr bwMode="auto">
          <a:xfrm flipH="1">
            <a:off x="4330700" y="2959100"/>
            <a:ext cx="242888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7" name="Line 59"/>
          <p:cNvSpPr>
            <a:spLocks noChangeShapeType="1"/>
          </p:cNvSpPr>
          <p:nvPr/>
        </p:nvSpPr>
        <p:spPr bwMode="auto">
          <a:xfrm flipH="1">
            <a:off x="4330700" y="2820988"/>
            <a:ext cx="242888" cy="24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8" name="Line 60"/>
          <p:cNvSpPr>
            <a:spLocks noChangeShapeType="1"/>
          </p:cNvSpPr>
          <p:nvPr/>
        </p:nvSpPr>
        <p:spPr bwMode="auto">
          <a:xfrm flipH="1">
            <a:off x="4330700" y="2682875"/>
            <a:ext cx="242888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69" name="Line 61"/>
          <p:cNvSpPr>
            <a:spLocks noChangeShapeType="1"/>
          </p:cNvSpPr>
          <p:nvPr/>
        </p:nvSpPr>
        <p:spPr bwMode="auto">
          <a:xfrm flipH="1">
            <a:off x="4330700" y="2544763"/>
            <a:ext cx="242888" cy="24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70" name="Line 62"/>
          <p:cNvSpPr>
            <a:spLocks noChangeShapeType="1"/>
          </p:cNvSpPr>
          <p:nvPr/>
        </p:nvSpPr>
        <p:spPr bwMode="auto">
          <a:xfrm flipH="1">
            <a:off x="4321175" y="2397125"/>
            <a:ext cx="257175" cy="257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71" name="Line 63"/>
          <p:cNvSpPr>
            <a:spLocks noChangeShapeType="1"/>
          </p:cNvSpPr>
          <p:nvPr/>
        </p:nvSpPr>
        <p:spPr bwMode="auto">
          <a:xfrm flipH="1">
            <a:off x="4402138" y="2259013"/>
            <a:ext cx="180975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72" name="Line 64"/>
          <p:cNvSpPr>
            <a:spLocks noChangeShapeType="1"/>
          </p:cNvSpPr>
          <p:nvPr/>
        </p:nvSpPr>
        <p:spPr bwMode="auto">
          <a:xfrm flipH="1">
            <a:off x="4402138" y="2230438"/>
            <a:ext cx="80962" cy="85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1689100" y="3989388"/>
            <a:ext cx="3232150" cy="349250"/>
            <a:chOff x="3136" y="2716"/>
            <a:chExt cx="2036" cy="220"/>
          </a:xfrm>
        </p:grpSpPr>
        <p:sp>
          <p:nvSpPr>
            <p:cNvPr id="5261" name="Line 66"/>
            <p:cNvSpPr>
              <a:spLocks noChangeShapeType="1"/>
            </p:cNvSpPr>
            <p:nvPr/>
          </p:nvSpPr>
          <p:spPr bwMode="auto">
            <a:xfrm flipV="1">
              <a:off x="5172" y="2716"/>
              <a:ext cx="0" cy="21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2" name="Line 67"/>
            <p:cNvSpPr>
              <a:spLocks noChangeShapeType="1"/>
            </p:cNvSpPr>
            <p:nvPr/>
          </p:nvSpPr>
          <p:spPr bwMode="auto">
            <a:xfrm flipV="1">
              <a:off x="3136" y="2720"/>
              <a:ext cx="0" cy="21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2244725" y="2827338"/>
            <a:ext cx="196850" cy="514350"/>
            <a:chOff x="3477" y="1980"/>
            <a:chExt cx="124" cy="324"/>
          </a:xfrm>
        </p:grpSpPr>
        <p:sp>
          <p:nvSpPr>
            <p:cNvPr id="5259" name="Line 69"/>
            <p:cNvSpPr>
              <a:spLocks noChangeShapeType="1"/>
            </p:cNvSpPr>
            <p:nvPr/>
          </p:nvSpPr>
          <p:spPr bwMode="auto">
            <a:xfrm>
              <a:off x="3477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0" name="Line 70"/>
            <p:cNvSpPr>
              <a:spLocks noChangeShapeType="1"/>
            </p:cNvSpPr>
            <p:nvPr/>
          </p:nvSpPr>
          <p:spPr bwMode="auto">
            <a:xfrm>
              <a:off x="3601" y="1980"/>
              <a:ext cx="0" cy="3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79" name="Text Box 71"/>
          <p:cNvSpPr txBox="1">
            <a:spLocks noChangeArrowheads="1"/>
          </p:cNvSpPr>
          <p:nvPr/>
        </p:nvSpPr>
        <p:spPr bwMode="auto">
          <a:xfrm>
            <a:off x="2366963" y="5453063"/>
            <a:ext cx="348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长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1" lang="en-US" altLang="zh-CN" sz="20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~7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宽</a:t>
            </a:r>
            <a:r>
              <a:rPr kumimoji="1" lang="en-US" altLang="zh-CN" sz="20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1,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距图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1" lang="en-US" altLang="zh-CN" sz="2000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的粗线段</a:t>
            </a:r>
          </a:p>
        </p:txBody>
      </p:sp>
      <p:sp>
        <p:nvSpPr>
          <p:cNvPr id="171080" name="Text Box 72"/>
          <p:cNvSpPr txBox="1">
            <a:spLocks noChangeArrowheads="1"/>
          </p:cNvSpPr>
          <p:nvPr/>
        </p:nvSpPr>
        <p:spPr bwMode="auto">
          <a:xfrm>
            <a:off x="469900" y="5475288"/>
            <a:ext cx="335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从 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开始的大写字符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字高 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  <a:endParaRPr kumimoji="1" lang="en-US" altLang="zh-CN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1081" name="Text Box 73"/>
          <p:cNvSpPr txBox="1">
            <a:spLocks noChangeArrowheads="1"/>
          </p:cNvSpPr>
          <p:nvPr/>
        </p:nvSpPr>
        <p:spPr bwMode="auto">
          <a:xfrm>
            <a:off x="519113" y="1981270"/>
            <a:ext cx="25523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长</a:t>
            </a:r>
            <a:r>
              <a:rPr kumimoji="1" lang="en-US" altLang="zh-CN" sz="2000" b="1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1"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的细线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及长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kumimoji="1"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宽</a:t>
            </a:r>
            <a:r>
              <a:rPr kumimoji="1" lang="en-US" altLang="zh-CN" sz="2000" b="1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~</a:t>
            </a:r>
            <a:r>
              <a:rPr kumimoji="1" lang="en-US" altLang="zh-CN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的箭头</a:t>
            </a:r>
            <a:endParaRPr kumimoji="1" lang="zh-CN" altLang="en-US" b="1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1082" name="Text Box 74"/>
          <p:cNvSpPr txBox="1">
            <a:spLocks noChangeArrowheads="1"/>
          </p:cNvSpPr>
          <p:nvPr/>
        </p:nvSpPr>
        <p:spPr bwMode="auto">
          <a:xfrm>
            <a:off x="3667125" y="219075"/>
            <a:ext cx="170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A-A 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写在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剖视图的上方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字高 </a:t>
            </a: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</a:p>
        </p:txBody>
      </p:sp>
      <p:sp>
        <p:nvSpPr>
          <p:cNvPr id="171083" name="Text Box 75"/>
          <p:cNvSpPr txBox="1">
            <a:spLocks noChangeArrowheads="1"/>
          </p:cNvSpPr>
          <p:nvPr/>
        </p:nvSpPr>
        <p:spPr bwMode="auto">
          <a:xfrm>
            <a:off x="1449388" y="873125"/>
            <a:ext cx="14541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45°</a:t>
            </a: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方向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间隔均匀的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平行细线</a:t>
            </a:r>
          </a:p>
        </p:txBody>
      </p:sp>
      <p:sp>
        <p:nvSpPr>
          <p:cNvPr id="171084" name="Freeform 76"/>
          <p:cNvSpPr>
            <a:spLocks/>
          </p:cNvSpPr>
          <p:nvPr/>
        </p:nvSpPr>
        <p:spPr bwMode="auto">
          <a:xfrm>
            <a:off x="2030413" y="2235200"/>
            <a:ext cx="2552700" cy="1095375"/>
          </a:xfrm>
          <a:custGeom>
            <a:avLst/>
            <a:gdLst>
              <a:gd name="T0" fmla="*/ 0 w 1608"/>
              <a:gd name="T1" fmla="*/ 2147483647 h 690"/>
              <a:gd name="T2" fmla="*/ 0 w 1608"/>
              <a:gd name="T3" fmla="*/ 2147483647 h 690"/>
              <a:gd name="T4" fmla="*/ 2147483647 w 1608"/>
              <a:gd name="T5" fmla="*/ 2147483647 h 690"/>
              <a:gd name="T6" fmla="*/ 2147483647 w 1608"/>
              <a:gd name="T7" fmla="*/ 2147483647 h 690"/>
              <a:gd name="T8" fmla="*/ 2147483647 w 1608"/>
              <a:gd name="T9" fmla="*/ 2147483647 h 690"/>
              <a:gd name="T10" fmla="*/ 2147483647 w 1608"/>
              <a:gd name="T11" fmla="*/ 2147483647 h 690"/>
              <a:gd name="T12" fmla="*/ 2147483647 w 1608"/>
              <a:gd name="T13" fmla="*/ 2147483647 h 690"/>
              <a:gd name="T14" fmla="*/ 2147483647 w 1608"/>
              <a:gd name="T15" fmla="*/ 0 h 690"/>
              <a:gd name="T16" fmla="*/ 2147483647 w 1608"/>
              <a:gd name="T17" fmla="*/ 0 h 690"/>
              <a:gd name="T18" fmla="*/ 2147483647 w 1608"/>
              <a:gd name="T19" fmla="*/ 2147483647 h 690"/>
              <a:gd name="T20" fmla="*/ 0 w 1608"/>
              <a:gd name="T21" fmla="*/ 2147483647 h 69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08"/>
              <a:gd name="T34" fmla="*/ 0 h 690"/>
              <a:gd name="T35" fmla="*/ 1608 w 1608"/>
              <a:gd name="T36" fmla="*/ 690 h 69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08" h="690">
                <a:moveTo>
                  <a:pt x="0" y="690"/>
                </a:moveTo>
                <a:lnTo>
                  <a:pt x="0" y="453"/>
                </a:lnTo>
                <a:lnTo>
                  <a:pt x="81" y="453"/>
                </a:lnTo>
                <a:lnTo>
                  <a:pt x="81" y="372"/>
                </a:lnTo>
                <a:lnTo>
                  <a:pt x="318" y="372"/>
                </a:lnTo>
                <a:lnTo>
                  <a:pt x="318" y="450"/>
                </a:lnTo>
                <a:lnTo>
                  <a:pt x="855" y="450"/>
                </a:lnTo>
                <a:lnTo>
                  <a:pt x="855" y="0"/>
                </a:lnTo>
                <a:lnTo>
                  <a:pt x="1608" y="0"/>
                </a:lnTo>
                <a:lnTo>
                  <a:pt x="1608" y="687"/>
                </a:lnTo>
                <a:lnTo>
                  <a:pt x="0" y="69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2343150" y="2741613"/>
            <a:ext cx="1588" cy="650875"/>
            <a:chOff x="3548" y="1720"/>
            <a:chExt cx="1" cy="410"/>
          </a:xfrm>
        </p:grpSpPr>
        <p:sp>
          <p:nvSpPr>
            <p:cNvPr id="5256" name="Line 78"/>
            <p:cNvSpPr>
              <a:spLocks noChangeShapeType="1"/>
            </p:cNvSpPr>
            <p:nvPr/>
          </p:nvSpPr>
          <p:spPr bwMode="auto">
            <a:xfrm>
              <a:off x="3548" y="1720"/>
              <a:ext cx="0" cy="1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7" name="Line 79"/>
            <p:cNvSpPr>
              <a:spLocks noChangeShapeType="1"/>
            </p:cNvSpPr>
            <p:nvPr/>
          </p:nvSpPr>
          <p:spPr bwMode="auto">
            <a:xfrm>
              <a:off x="3549" y="1917"/>
              <a:ext cx="0" cy="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8" name="Line 80"/>
            <p:cNvSpPr>
              <a:spLocks noChangeShapeType="1"/>
            </p:cNvSpPr>
            <p:nvPr/>
          </p:nvSpPr>
          <p:spPr bwMode="auto">
            <a:xfrm>
              <a:off x="3549" y="1953"/>
              <a:ext cx="0" cy="1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81"/>
          <p:cNvGrpSpPr>
            <a:grpSpLocks/>
          </p:cNvGrpSpPr>
          <p:nvPr/>
        </p:nvGrpSpPr>
        <p:grpSpPr bwMode="auto">
          <a:xfrm>
            <a:off x="1958975" y="3668713"/>
            <a:ext cx="2686050" cy="1298575"/>
            <a:chOff x="3306" y="2304"/>
            <a:chExt cx="1692" cy="818"/>
          </a:xfrm>
        </p:grpSpPr>
        <p:grpSp>
          <p:nvGrpSpPr>
            <p:cNvPr id="5231" name="Group 82"/>
            <p:cNvGrpSpPr>
              <a:grpSpLocks/>
            </p:cNvGrpSpPr>
            <p:nvPr/>
          </p:nvGrpSpPr>
          <p:grpSpPr bwMode="auto">
            <a:xfrm>
              <a:off x="3306" y="2716"/>
              <a:ext cx="1692" cy="5"/>
              <a:chOff x="3306" y="2716"/>
              <a:chExt cx="1692" cy="5"/>
            </a:xfrm>
          </p:grpSpPr>
          <p:sp>
            <p:nvSpPr>
              <p:cNvPr id="5249" name="Line 83"/>
              <p:cNvSpPr>
                <a:spLocks noChangeShapeType="1"/>
              </p:cNvSpPr>
              <p:nvPr/>
            </p:nvSpPr>
            <p:spPr bwMode="auto">
              <a:xfrm flipH="1">
                <a:off x="4710" y="2716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0" name="Line 84"/>
              <p:cNvSpPr>
                <a:spLocks noChangeShapeType="1"/>
              </p:cNvSpPr>
              <p:nvPr/>
            </p:nvSpPr>
            <p:spPr bwMode="auto">
              <a:xfrm flipH="1">
                <a:off x="4299" y="2719"/>
                <a:ext cx="34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1" name="Line 85"/>
              <p:cNvSpPr>
                <a:spLocks noChangeShapeType="1"/>
              </p:cNvSpPr>
              <p:nvPr/>
            </p:nvSpPr>
            <p:spPr bwMode="auto">
              <a:xfrm>
                <a:off x="4254" y="2719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2" name="Line 86"/>
              <p:cNvSpPr>
                <a:spLocks noChangeShapeType="1"/>
              </p:cNvSpPr>
              <p:nvPr/>
            </p:nvSpPr>
            <p:spPr bwMode="auto">
              <a:xfrm flipH="1">
                <a:off x="3852" y="2719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" name="Line 87"/>
              <p:cNvSpPr>
                <a:spLocks noChangeShapeType="1"/>
              </p:cNvSpPr>
              <p:nvPr/>
            </p:nvSpPr>
            <p:spPr bwMode="auto">
              <a:xfrm flipH="1">
                <a:off x="3810" y="2721"/>
                <a:ext cx="2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4" name="Line 88"/>
              <p:cNvSpPr>
                <a:spLocks noChangeShapeType="1"/>
              </p:cNvSpPr>
              <p:nvPr/>
            </p:nvSpPr>
            <p:spPr bwMode="auto">
              <a:xfrm flipH="1">
                <a:off x="3306" y="2721"/>
                <a:ext cx="4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5" name="Line 89"/>
              <p:cNvSpPr>
                <a:spLocks noChangeShapeType="1"/>
              </p:cNvSpPr>
              <p:nvPr/>
            </p:nvSpPr>
            <p:spPr bwMode="auto">
              <a:xfrm>
                <a:off x="4662" y="2717"/>
                <a:ext cx="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232" name="Group 90"/>
            <p:cNvGrpSpPr>
              <a:grpSpLocks/>
            </p:cNvGrpSpPr>
            <p:nvPr/>
          </p:nvGrpSpPr>
          <p:grpSpPr bwMode="auto">
            <a:xfrm>
              <a:off x="3355" y="2304"/>
              <a:ext cx="1599" cy="818"/>
              <a:chOff x="3355" y="2304"/>
              <a:chExt cx="1599" cy="818"/>
            </a:xfrm>
          </p:grpSpPr>
          <p:sp>
            <p:nvSpPr>
              <p:cNvPr id="5233" name="Oval 91"/>
              <p:cNvSpPr>
                <a:spLocks noChangeArrowheads="1"/>
              </p:cNvSpPr>
              <p:nvPr/>
            </p:nvSpPr>
            <p:spPr bwMode="auto">
              <a:xfrm>
                <a:off x="4210" y="2344"/>
                <a:ext cx="744" cy="73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234" name="Arc 92"/>
              <p:cNvSpPr>
                <a:spLocks/>
              </p:cNvSpPr>
              <p:nvPr/>
            </p:nvSpPr>
            <p:spPr bwMode="auto">
              <a:xfrm flipH="1">
                <a:off x="3355" y="2539"/>
                <a:ext cx="177" cy="351"/>
              </a:xfrm>
              <a:custGeom>
                <a:avLst/>
                <a:gdLst>
                  <a:gd name="T0" fmla="*/ 0 w 21600"/>
                  <a:gd name="T1" fmla="*/ 0 h 41453"/>
                  <a:gd name="T2" fmla="*/ 0 w 21600"/>
                  <a:gd name="T3" fmla="*/ 0 h 41453"/>
                  <a:gd name="T4" fmla="*/ 0 w 21600"/>
                  <a:gd name="T5" fmla="*/ 0 h 414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1453"/>
                  <a:gd name="T11" fmla="*/ 21600 w 21600"/>
                  <a:gd name="T12" fmla="*/ 41453 h 41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1453" fill="none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</a:path>
                  <a:path w="21600" h="41453" stroke="0" extrusionOk="0">
                    <a:moveTo>
                      <a:pt x="5698" y="0"/>
                    </a:moveTo>
                    <a:cubicBezTo>
                      <a:pt x="15088" y="2568"/>
                      <a:pt x="21600" y="11100"/>
                      <a:pt x="21600" y="20835"/>
                    </a:cubicBezTo>
                    <a:cubicBezTo>
                      <a:pt x="21600" y="30284"/>
                      <a:pt x="15457" y="38636"/>
                      <a:pt x="6438" y="41453"/>
                    </a:cubicBezTo>
                    <a:lnTo>
                      <a:pt x="0" y="20835"/>
                    </a:lnTo>
                    <a:lnTo>
                      <a:pt x="5698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5" name="Line 93"/>
              <p:cNvSpPr>
                <a:spLocks noChangeShapeType="1"/>
              </p:cNvSpPr>
              <p:nvPr/>
            </p:nvSpPr>
            <p:spPr bwMode="auto">
              <a:xfrm flipH="1">
                <a:off x="3484" y="2350"/>
                <a:ext cx="1038" cy="1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6" name="Line 94"/>
              <p:cNvSpPr>
                <a:spLocks noChangeShapeType="1"/>
              </p:cNvSpPr>
              <p:nvPr/>
            </p:nvSpPr>
            <p:spPr bwMode="auto">
              <a:xfrm>
                <a:off x="3475" y="2890"/>
                <a:ext cx="1053" cy="1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7" name="Oval 95"/>
              <p:cNvSpPr>
                <a:spLocks noChangeArrowheads="1"/>
              </p:cNvSpPr>
              <p:nvPr/>
            </p:nvSpPr>
            <p:spPr bwMode="auto">
              <a:xfrm>
                <a:off x="4327" y="2467"/>
                <a:ext cx="516" cy="51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238" name="Freeform 96"/>
              <p:cNvSpPr>
                <a:spLocks/>
              </p:cNvSpPr>
              <p:nvPr/>
            </p:nvSpPr>
            <p:spPr bwMode="auto">
              <a:xfrm>
                <a:off x="4747" y="2668"/>
                <a:ext cx="54" cy="96"/>
              </a:xfrm>
              <a:custGeom>
                <a:avLst/>
                <a:gdLst>
                  <a:gd name="T0" fmla="*/ 0 w 54"/>
                  <a:gd name="T1" fmla="*/ 0 h 96"/>
                  <a:gd name="T2" fmla="*/ 54 w 54"/>
                  <a:gd name="T3" fmla="*/ 0 h 96"/>
                  <a:gd name="T4" fmla="*/ 54 w 54"/>
                  <a:gd name="T5" fmla="*/ 96 h 96"/>
                  <a:gd name="T6" fmla="*/ 3 w 54"/>
                  <a:gd name="T7" fmla="*/ 96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96"/>
                  <a:gd name="T14" fmla="*/ 54 w 54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96">
                    <a:moveTo>
                      <a:pt x="0" y="0"/>
                    </a:moveTo>
                    <a:lnTo>
                      <a:pt x="54" y="0"/>
                    </a:lnTo>
                    <a:lnTo>
                      <a:pt x="54" y="96"/>
                    </a:lnTo>
                    <a:lnTo>
                      <a:pt x="3" y="9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9" name="Oval 97"/>
              <p:cNvSpPr>
                <a:spLocks noChangeArrowheads="1"/>
              </p:cNvSpPr>
              <p:nvPr/>
            </p:nvSpPr>
            <p:spPr bwMode="auto">
              <a:xfrm>
                <a:off x="3427" y="2602"/>
                <a:ext cx="231" cy="23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240" name="Oval 98"/>
              <p:cNvSpPr>
                <a:spLocks noChangeArrowheads="1"/>
              </p:cNvSpPr>
              <p:nvPr/>
            </p:nvSpPr>
            <p:spPr bwMode="auto">
              <a:xfrm>
                <a:off x="3478" y="2662"/>
                <a:ext cx="120" cy="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241" name="Arc 99"/>
              <p:cNvSpPr>
                <a:spLocks/>
              </p:cNvSpPr>
              <p:nvPr/>
            </p:nvSpPr>
            <p:spPr bwMode="auto">
              <a:xfrm>
                <a:off x="4429" y="2552"/>
                <a:ext cx="322" cy="329"/>
              </a:xfrm>
              <a:custGeom>
                <a:avLst/>
                <a:gdLst>
                  <a:gd name="T0" fmla="*/ 0 w 42389"/>
                  <a:gd name="T1" fmla="*/ 0 h 43200"/>
                  <a:gd name="T2" fmla="*/ 0 w 42389"/>
                  <a:gd name="T3" fmla="*/ 0 h 43200"/>
                  <a:gd name="T4" fmla="*/ 0 w 4238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389"/>
                  <a:gd name="T10" fmla="*/ 0 h 43200"/>
                  <a:gd name="T11" fmla="*/ 42389 w 4238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389" h="43200" fill="none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</a:path>
                  <a:path w="42389" h="43200" stroke="0" extrusionOk="0">
                    <a:moveTo>
                      <a:pt x="42388" y="27463"/>
                    </a:moveTo>
                    <a:cubicBezTo>
                      <a:pt x="39763" y="36771"/>
                      <a:pt x="31270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78" y="-1"/>
                      <a:pt x="39613" y="6308"/>
                      <a:pt x="42319" y="15497"/>
                    </a:cubicBezTo>
                    <a:lnTo>
                      <a:pt x="21600" y="21600"/>
                    </a:lnTo>
                    <a:lnTo>
                      <a:pt x="42388" y="2746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42" name="Line 100"/>
              <p:cNvSpPr>
                <a:spLocks noChangeShapeType="1"/>
              </p:cNvSpPr>
              <p:nvPr/>
            </p:nvSpPr>
            <p:spPr bwMode="auto">
              <a:xfrm>
                <a:off x="3543" y="2484"/>
                <a:ext cx="0" cy="4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243" name="Group 101"/>
              <p:cNvGrpSpPr>
                <a:grpSpLocks/>
              </p:cNvGrpSpPr>
              <p:nvPr/>
            </p:nvGrpSpPr>
            <p:grpSpPr bwMode="auto">
              <a:xfrm>
                <a:off x="4594" y="2304"/>
                <a:ext cx="2" cy="818"/>
                <a:chOff x="4594" y="2304"/>
                <a:chExt cx="2" cy="818"/>
              </a:xfrm>
            </p:grpSpPr>
            <p:sp>
              <p:nvSpPr>
                <p:cNvPr id="5244" name="Line 102"/>
                <p:cNvSpPr>
                  <a:spLocks noChangeShapeType="1"/>
                </p:cNvSpPr>
                <p:nvPr/>
              </p:nvSpPr>
              <p:spPr bwMode="auto">
                <a:xfrm>
                  <a:off x="4596" y="2304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45" name="Line 103"/>
                <p:cNvSpPr>
                  <a:spLocks noChangeShapeType="1"/>
                </p:cNvSpPr>
                <p:nvPr/>
              </p:nvSpPr>
              <p:spPr bwMode="auto">
                <a:xfrm>
                  <a:off x="4594" y="2600"/>
                  <a:ext cx="0" cy="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46" name="Line 104"/>
                <p:cNvSpPr>
                  <a:spLocks noChangeShapeType="1"/>
                </p:cNvSpPr>
                <p:nvPr/>
              </p:nvSpPr>
              <p:spPr bwMode="auto">
                <a:xfrm>
                  <a:off x="4594" y="2640"/>
                  <a:ext cx="0" cy="16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47" name="Line 105"/>
                <p:cNvSpPr>
                  <a:spLocks noChangeShapeType="1"/>
                </p:cNvSpPr>
                <p:nvPr/>
              </p:nvSpPr>
              <p:spPr bwMode="auto">
                <a:xfrm>
                  <a:off x="4594" y="2818"/>
                  <a:ext cx="0" cy="1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48" name="Line 106"/>
                <p:cNvSpPr>
                  <a:spLocks noChangeShapeType="1"/>
                </p:cNvSpPr>
                <p:nvPr/>
              </p:nvSpPr>
              <p:spPr bwMode="auto">
                <a:xfrm>
                  <a:off x="4594" y="2852"/>
                  <a:ext cx="0" cy="27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4" name="Group 107"/>
          <p:cNvGrpSpPr>
            <a:grpSpLocks/>
          </p:cNvGrpSpPr>
          <p:nvPr/>
        </p:nvGrpSpPr>
        <p:grpSpPr bwMode="auto">
          <a:xfrm>
            <a:off x="4016375" y="2163763"/>
            <a:ext cx="1588" cy="1228725"/>
            <a:chOff x="4602" y="1356"/>
            <a:chExt cx="1" cy="774"/>
          </a:xfrm>
        </p:grpSpPr>
        <p:sp>
          <p:nvSpPr>
            <p:cNvPr id="5226" name="Line 108"/>
            <p:cNvSpPr>
              <a:spLocks noChangeShapeType="1"/>
            </p:cNvSpPr>
            <p:nvPr/>
          </p:nvSpPr>
          <p:spPr bwMode="auto">
            <a:xfrm>
              <a:off x="4602" y="1356"/>
              <a:ext cx="0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7" name="Line 109"/>
            <p:cNvSpPr>
              <a:spLocks noChangeShapeType="1"/>
            </p:cNvSpPr>
            <p:nvPr/>
          </p:nvSpPr>
          <p:spPr bwMode="auto">
            <a:xfrm>
              <a:off x="4602" y="1634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8" name="Line 110"/>
            <p:cNvSpPr>
              <a:spLocks noChangeShapeType="1"/>
            </p:cNvSpPr>
            <p:nvPr/>
          </p:nvSpPr>
          <p:spPr bwMode="auto">
            <a:xfrm>
              <a:off x="4602" y="1670"/>
              <a:ext cx="0" cy="2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9" name="Line 111"/>
            <p:cNvSpPr>
              <a:spLocks noChangeShapeType="1"/>
            </p:cNvSpPr>
            <p:nvPr/>
          </p:nvSpPr>
          <p:spPr bwMode="auto">
            <a:xfrm>
              <a:off x="4602" y="1900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0" name="Line 112"/>
            <p:cNvSpPr>
              <a:spLocks noChangeShapeType="1"/>
            </p:cNvSpPr>
            <p:nvPr/>
          </p:nvSpPr>
          <p:spPr bwMode="auto">
            <a:xfrm>
              <a:off x="4603" y="1936"/>
              <a:ext cx="0" cy="1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83" name="Line 113"/>
          <p:cNvSpPr>
            <a:spLocks noChangeShapeType="1"/>
          </p:cNvSpPr>
          <p:nvPr/>
        </p:nvSpPr>
        <p:spPr bwMode="auto">
          <a:xfrm>
            <a:off x="6275388" y="2757488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4" name="Line 114"/>
          <p:cNvSpPr>
            <a:spLocks noChangeShapeType="1"/>
          </p:cNvSpPr>
          <p:nvPr/>
        </p:nvSpPr>
        <p:spPr bwMode="auto">
          <a:xfrm>
            <a:off x="6465888" y="2752725"/>
            <a:ext cx="0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5" name="Line 115"/>
          <p:cNvSpPr>
            <a:spLocks noChangeShapeType="1"/>
          </p:cNvSpPr>
          <p:nvPr/>
        </p:nvSpPr>
        <p:spPr bwMode="auto">
          <a:xfrm>
            <a:off x="7775575" y="2438400"/>
            <a:ext cx="0" cy="82867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6" name="Line 116"/>
          <p:cNvSpPr>
            <a:spLocks noChangeShapeType="1"/>
          </p:cNvSpPr>
          <p:nvPr/>
        </p:nvSpPr>
        <p:spPr bwMode="auto">
          <a:xfrm>
            <a:off x="8289925" y="2447925"/>
            <a:ext cx="0" cy="82867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7" name="Line 117"/>
          <p:cNvSpPr>
            <a:spLocks noChangeShapeType="1"/>
          </p:cNvSpPr>
          <p:nvPr/>
        </p:nvSpPr>
        <p:spPr bwMode="auto">
          <a:xfrm>
            <a:off x="8366125" y="2438400"/>
            <a:ext cx="0" cy="82867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88" name="Oval 118"/>
          <p:cNvSpPr>
            <a:spLocks noChangeArrowheads="1"/>
          </p:cNvSpPr>
          <p:nvPr/>
        </p:nvSpPr>
        <p:spPr bwMode="auto">
          <a:xfrm>
            <a:off x="7437438" y="3662363"/>
            <a:ext cx="1181100" cy="11715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89" name="Arc 119"/>
          <p:cNvSpPr>
            <a:spLocks/>
          </p:cNvSpPr>
          <p:nvPr/>
        </p:nvSpPr>
        <p:spPr bwMode="auto">
          <a:xfrm flipH="1">
            <a:off x="6080125" y="3971925"/>
            <a:ext cx="280988" cy="557213"/>
          </a:xfrm>
          <a:custGeom>
            <a:avLst/>
            <a:gdLst>
              <a:gd name="T0" fmla="*/ 163206312 w 21600"/>
              <a:gd name="T1" fmla="*/ 0 h 41453"/>
              <a:gd name="T2" fmla="*/ 184368585 w 21600"/>
              <a:gd name="T3" fmla="*/ 1353371793 h 41453"/>
              <a:gd name="T4" fmla="*/ 0 w 21600"/>
              <a:gd name="T5" fmla="*/ 680228298 h 41453"/>
              <a:gd name="T6" fmla="*/ 0 60000 65536"/>
              <a:gd name="T7" fmla="*/ 0 60000 65536"/>
              <a:gd name="T8" fmla="*/ 0 60000 65536"/>
              <a:gd name="T9" fmla="*/ 0 w 21600"/>
              <a:gd name="T10" fmla="*/ 0 h 41453"/>
              <a:gd name="T11" fmla="*/ 21600 w 21600"/>
              <a:gd name="T12" fmla="*/ 41453 h 41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1453" fill="none" extrusionOk="0">
                <a:moveTo>
                  <a:pt x="5698" y="0"/>
                </a:moveTo>
                <a:cubicBezTo>
                  <a:pt x="15088" y="2568"/>
                  <a:pt x="21600" y="11100"/>
                  <a:pt x="21600" y="20835"/>
                </a:cubicBezTo>
                <a:cubicBezTo>
                  <a:pt x="21600" y="30284"/>
                  <a:pt x="15457" y="38636"/>
                  <a:pt x="6438" y="41453"/>
                </a:cubicBezTo>
              </a:path>
              <a:path w="21600" h="41453" stroke="0" extrusionOk="0">
                <a:moveTo>
                  <a:pt x="5698" y="0"/>
                </a:moveTo>
                <a:cubicBezTo>
                  <a:pt x="15088" y="2568"/>
                  <a:pt x="21600" y="11100"/>
                  <a:pt x="21600" y="20835"/>
                </a:cubicBezTo>
                <a:cubicBezTo>
                  <a:pt x="21600" y="30284"/>
                  <a:pt x="15457" y="38636"/>
                  <a:pt x="6438" y="41453"/>
                </a:cubicBezTo>
                <a:lnTo>
                  <a:pt x="0" y="20835"/>
                </a:lnTo>
                <a:lnTo>
                  <a:pt x="5698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0" name="Line 120"/>
          <p:cNvSpPr>
            <a:spLocks noChangeShapeType="1"/>
          </p:cNvSpPr>
          <p:nvPr/>
        </p:nvSpPr>
        <p:spPr bwMode="auto">
          <a:xfrm flipH="1">
            <a:off x="6284913" y="3671888"/>
            <a:ext cx="1647825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1" name="Line 121"/>
          <p:cNvSpPr>
            <a:spLocks noChangeShapeType="1"/>
          </p:cNvSpPr>
          <p:nvPr/>
        </p:nvSpPr>
        <p:spPr bwMode="auto">
          <a:xfrm>
            <a:off x="6270625" y="4529138"/>
            <a:ext cx="1671638" cy="300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2" name="Oval 122"/>
          <p:cNvSpPr>
            <a:spLocks noChangeArrowheads="1"/>
          </p:cNvSpPr>
          <p:nvPr/>
        </p:nvSpPr>
        <p:spPr bwMode="auto">
          <a:xfrm>
            <a:off x="7623175" y="3857625"/>
            <a:ext cx="819150" cy="8096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93" name="Freeform 123"/>
          <p:cNvSpPr>
            <a:spLocks/>
          </p:cNvSpPr>
          <p:nvPr/>
        </p:nvSpPr>
        <p:spPr bwMode="auto">
          <a:xfrm>
            <a:off x="8289925" y="4176713"/>
            <a:ext cx="85725" cy="152400"/>
          </a:xfrm>
          <a:custGeom>
            <a:avLst/>
            <a:gdLst>
              <a:gd name="T0" fmla="*/ 0 w 54"/>
              <a:gd name="T1" fmla="*/ 0 h 96"/>
              <a:gd name="T2" fmla="*/ 2147483647 w 54"/>
              <a:gd name="T3" fmla="*/ 0 h 96"/>
              <a:gd name="T4" fmla="*/ 2147483647 w 54"/>
              <a:gd name="T5" fmla="*/ 2147483647 h 96"/>
              <a:gd name="T6" fmla="*/ 2147483647 w 54"/>
              <a:gd name="T7" fmla="*/ 2147483647 h 96"/>
              <a:gd name="T8" fmla="*/ 0 60000 65536"/>
              <a:gd name="T9" fmla="*/ 0 60000 65536"/>
              <a:gd name="T10" fmla="*/ 0 60000 65536"/>
              <a:gd name="T11" fmla="*/ 0 60000 65536"/>
              <a:gd name="T12" fmla="*/ 0 w 54"/>
              <a:gd name="T13" fmla="*/ 0 h 96"/>
              <a:gd name="T14" fmla="*/ 54 w 54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4" h="96">
                <a:moveTo>
                  <a:pt x="0" y="0"/>
                </a:moveTo>
                <a:lnTo>
                  <a:pt x="54" y="0"/>
                </a:lnTo>
                <a:lnTo>
                  <a:pt x="54" y="96"/>
                </a:lnTo>
                <a:lnTo>
                  <a:pt x="3" y="96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4" name="Oval 124"/>
          <p:cNvSpPr>
            <a:spLocks noChangeArrowheads="1"/>
          </p:cNvSpPr>
          <p:nvPr/>
        </p:nvSpPr>
        <p:spPr bwMode="auto">
          <a:xfrm>
            <a:off x="6194425" y="4071938"/>
            <a:ext cx="366713" cy="3714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95" name="Oval 125"/>
          <p:cNvSpPr>
            <a:spLocks noChangeArrowheads="1"/>
          </p:cNvSpPr>
          <p:nvPr/>
        </p:nvSpPr>
        <p:spPr bwMode="auto">
          <a:xfrm>
            <a:off x="6275388" y="4167188"/>
            <a:ext cx="190500" cy="1905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96" name="Arc 126"/>
          <p:cNvSpPr>
            <a:spLocks/>
          </p:cNvSpPr>
          <p:nvPr/>
        </p:nvSpPr>
        <p:spPr bwMode="auto">
          <a:xfrm>
            <a:off x="7785100" y="3992563"/>
            <a:ext cx="511175" cy="522287"/>
          </a:xfrm>
          <a:custGeom>
            <a:avLst/>
            <a:gdLst>
              <a:gd name="T0" fmla="*/ 896435173 w 42389"/>
              <a:gd name="T1" fmla="*/ 586766788 h 43200"/>
              <a:gd name="T2" fmla="*/ 894976005 w 42389"/>
              <a:gd name="T3" fmla="*/ 331091983 h 43200"/>
              <a:gd name="T4" fmla="*/ 456792162 w 42389"/>
              <a:gd name="T5" fmla="*/ 461481912 h 43200"/>
              <a:gd name="T6" fmla="*/ 0 60000 65536"/>
              <a:gd name="T7" fmla="*/ 0 60000 65536"/>
              <a:gd name="T8" fmla="*/ 0 60000 65536"/>
              <a:gd name="T9" fmla="*/ 0 w 42389"/>
              <a:gd name="T10" fmla="*/ 0 h 43200"/>
              <a:gd name="T11" fmla="*/ 42389 w 4238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389" h="43200" fill="none" extrusionOk="0">
                <a:moveTo>
                  <a:pt x="42388" y="27463"/>
                </a:moveTo>
                <a:cubicBezTo>
                  <a:pt x="39763" y="36771"/>
                  <a:pt x="312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78" y="-1"/>
                  <a:pt x="39613" y="6308"/>
                  <a:pt x="42319" y="15497"/>
                </a:cubicBezTo>
              </a:path>
              <a:path w="42389" h="43200" stroke="0" extrusionOk="0">
                <a:moveTo>
                  <a:pt x="42388" y="27463"/>
                </a:moveTo>
                <a:cubicBezTo>
                  <a:pt x="39763" y="36771"/>
                  <a:pt x="312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178" y="-1"/>
                  <a:pt x="39613" y="6308"/>
                  <a:pt x="42319" y="15497"/>
                </a:cubicBezTo>
                <a:lnTo>
                  <a:pt x="21600" y="21600"/>
                </a:lnTo>
                <a:lnTo>
                  <a:pt x="42388" y="27463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97" name="Group 127"/>
          <p:cNvGrpSpPr>
            <a:grpSpLocks/>
          </p:cNvGrpSpPr>
          <p:nvPr/>
        </p:nvGrpSpPr>
        <p:grpSpPr bwMode="auto">
          <a:xfrm>
            <a:off x="6378575" y="2635250"/>
            <a:ext cx="0" cy="728663"/>
            <a:chOff x="900" y="1713"/>
            <a:chExt cx="0" cy="459"/>
          </a:xfrm>
        </p:grpSpPr>
        <p:sp>
          <p:nvSpPr>
            <p:cNvPr id="5223" name="Line 128"/>
            <p:cNvSpPr>
              <a:spLocks noChangeShapeType="1"/>
            </p:cNvSpPr>
            <p:nvPr/>
          </p:nvSpPr>
          <p:spPr bwMode="auto">
            <a:xfrm>
              <a:off x="900" y="1713"/>
              <a:ext cx="0" cy="2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4" name="Line 129"/>
            <p:cNvSpPr>
              <a:spLocks noChangeShapeType="1"/>
            </p:cNvSpPr>
            <p:nvPr/>
          </p:nvSpPr>
          <p:spPr bwMode="auto">
            <a:xfrm>
              <a:off x="900" y="1962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5" name="Line 130"/>
            <p:cNvSpPr>
              <a:spLocks noChangeShapeType="1"/>
            </p:cNvSpPr>
            <p:nvPr/>
          </p:nvSpPr>
          <p:spPr bwMode="auto">
            <a:xfrm>
              <a:off x="900" y="2004"/>
              <a:ext cx="0" cy="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98" name="Freeform 131"/>
          <p:cNvSpPr>
            <a:spLocks/>
          </p:cNvSpPr>
          <p:nvPr/>
        </p:nvSpPr>
        <p:spPr bwMode="auto">
          <a:xfrm>
            <a:off x="6078538" y="2163763"/>
            <a:ext cx="2547937" cy="1095375"/>
          </a:xfrm>
          <a:custGeom>
            <a:avLst/>
            <a:gdLst>
              <a:gd name="T0" fmla="*/ 2147483647 w 1605"/>
              <a:gd name="T1" fmla="*/ 2147483647 h 690"/>
              <a:gd name="T2" fmla="*/ 2147483647 w 1605"/>
              <a:gd name="T3" fmla="*/ 0 h 690"/>
              <a:gd name="T4" fmla="*/ 2147483647 w 1605"/>
              <a:gd name="T5" fmla="*/ 0 h 690"/>
              <a:gd name="T6" fmla="*/ 2147483647 w 1605"/>
              <a:gd name="T7" fmla="*/ 2147483647 h 690"/>
              <a:gd name="T8" fmla="*/ 0 w 1605"/>
              <a:gd name="T9" fmla="*/ 2147483647 h 690"/>
              <a:gd name="T10" fmla="*/ 0 w 1605"/>
              <a:gd name="T11" fmla="*/ 2147483647 h 690"/>
              <a:gd name="T12" fmla="*/ 2147483647 w 1605"/>
              <a:gd name="T13" fmla="*/ 2147483647 h 6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05"/>
              <a:gd name="T22" fmla="*/ 0 h 690"/>
              <a:gd name="T23" fmla="*/ 1605 w 1605"/>
              <a:gd name="T24" fmla="*/ 690 h 6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05" h="690">
                <a:moveTo>
                  <a:pt x="855" y="450"/>
                </a:moveTo>
                <a:lnTo>
                  <a:pt x="855" y="0"/>
                </a:lnTo>
                <a:lnTo>
                  <a:pt x="1605" y="0"/>
                </a:lnTo>
                <a:lnTo>
                  <a:pt x="1605" y="690"/>
                </a:lnTo>
                <a:lnTo>
                  <a:pt x="0" y="690"/>
                </a:lnTo>
                <a:lnTo>
                  <a:pt x="0" y="450"/>
                </a:lnTo>
                <a:lnTo>
                  <a:pt x="1116" y="45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9" name="Freeform 132"/>
          <p:cNvSpPr>
            <a:spLocks/>
          </p:cNvSpPr>
          <p:nvPr/>
        </p:nvSpPr>
        <p:spPr bwMode="auto">
          <a:xfrm>
            <a:off x="6188075" y="2754313"/>
            <a:ext cx="371475" cy="123825"/>
          </a:xfrm>
          <a:custGeom>
            <a:avLst/>
            <a:gdLst>
              <a:gd name="T0" fmla="*/ 0 w 234"/>
              <a:gd name="T1" fmla="*/ 2147483647 h 78"/>
              <a:gd name="T2" fmla="*/ 0 w 234"/>
              <a:gd name="T3" fmla="*/ 0 h 78"/>
              <a:gd name="T4" fmla="*/ 2147483647 w 234"/>
              <a:gd name="T5" fmla="*/ 0 h 78"/>
              <a:gd name="T6" fmla="*/ 2147483647 w 234"/>
              <a:gd name="T7" fmla="*/ 2147483647 h 78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78"/>
              <a:gd name="T14" fmla="*/ 234 w 234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78">
                <a:moveTo>
                  <a:pt x="0" y="78"/>
                </a:moveTo>
                <a:lnTo>
                  <a:pt x="0" y="0"/>
                </a:lnTo>
                <a:lnTo>
                  <a:pt x="234" y="0"/>
                </a:lnTo>
                <a:lnTo>
                  <a:pt x="234" y="7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00" name="Group 133"/>
          <p:cNvGrpSpPr>
            <a:grpSpLocks/>
          </p:cNvGrpSpPr>
          <p:nvPr/>
        </p:nvGrpSpPr>
        <p:grpSpPr bwMode="auto">
          <a:xfrm>
            <a:off x="8050213" y="2073275"/>
            <a:ext cx="0" cy="1243013"/>
            <a:chOff x="1953" y="1359"/>
            <a:chExt cx="0" cy="783"/>
          </a:xfrm>
        </p:grpSpPr>
        <p:sp>
          <p:nvSpPr>
            <p:cNvPr id="5220" name="Line 134"/>
            <p:cNvSpPr>
              <a:spLocks noChangeShapeType="1"/>
            </p:cNvSpPr>
            <p:nvPr/>
          </p:nvSpPr>
          <p:spPr bwMode="auto">
            <a:xfrm>
              <a:off x="1953" y="1359"/>
              <a:ext cx="0" cy="2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1" name="Line 135"/>
            <p:cNvSpPr>
              <a:spLocks noChangeShapeType="1"/>
            </p:cNvSpPr>
            <p:nvPr/>
          </p:nvSpPr>
          <p:spPr bwMode="auto">
            <a:xfrm>
              <a:off x="1953" y="1659"/>
              <a:ext cx="0" cy="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2" name="Line 136"/>
            <p:cNvSpPr>
              <a:spLocks noChangeShapeType="1"/>
            </p:cNvSpPr>
            <p:nvPr/>
          </p:nvSpPr>
          <p:spPr bwMode="auto">
            <a:xfrm>
              <a:off x="1953" y="1707"/>
              <a:ext cx="0" cy="4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01" name="Freeform 137"/>
          <p:cNvSpPr>
            <a:spLocks/>
          </p:cNvSpPr>
          <p:nvPr/>
        </p:nvSpPr>
        <p:spPr bwMode="auto">
          <a:xfrm>
            <a:off x="7626350" y="2159000"/>
            <a:ext cx="823913" cy="276225"/>
          </a:xfrm>
          <a:custGeom>
            <a:avLst/>
            <a:gdLst>
              <a:gd name="T0" fmla="*/ 0 w 519"/>
              <a:gd name="T1" fmla="*/ 0 h 174"/>
              <a:gd name="T2" fmla="*/ 0 w 519"/>
              <a:gd name="T3" fmla="*/ 2147483647 h 174"/>
              <a:gd name="T4" fmla="*/ 2147483647 w 519"/>
              <a:gd name="T5" fmla="*/ 2147483647 h 174"/>
              <a:gd name="T6" fmla="*/ 2147483647 w 519"/>
              <a:gd name="T7" fmla="*/ 2147483647 h 174"/>
              <a:gd name="T8" fmla="*/ 0 60000 65536"/>
              <a:gd name="T9" fmla="*/ 0 60000 65536"/>
              <a:gd name="T10" fmla="*/ 0 60000 65536"/>
              <a:gd name="T11" fmla="*/ 0 60000 65536"/>
              <a:gd name="T12" fmla="*/ 0 w 519"/>
              <a:gd name="T13" fmla="*/ 0 h 174"/>
              <a:gd name="T14" fmla="*/ 519 w 519"/>
              <a:gd name="T15" fmla="*/ 174 h 1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9" h="174">
                <a:moveTo>
                  <a:pt x="0" y="0"/>
                </a:moveTo>
                <a:lnTo>
                  <a:pt x="0" y="174"/>
                </a:lnTo>
                <a:lnTo>
                  <a:pt x="519" y="174"/>
                </a:lnTo>
                <a:lnTo>
                  <a:pt x="519" y="6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lgDash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02" name="Group 138"/>
          <p:cNvGrpSpPr>
            <a:grpSpLocks/>
          </p:cNvGrpSpPr>
          <p:nvPr/>
        </p:nvGrpSpPr>
        <p:grpSpPr bwMode="auto">
          <a:xfrm>
            <a:off x="8045450" y="3573463"/>
            <a:ext cx="4763" cy="1343025"/>
            <a:chOff x="1950" y="2304"/>
            <a:chExt cx="3" cy="846"/>
          </a:xfrm>
        </p:grpSpPr>
        <p:sp>
          <p:nvSpPr>
            <p:cNvPr id="5215" name="Line 139"/>
            <p:cNvSpPr>
              <a:spLocks noChangeShapeType="1"/>
            </p:cNvSpPr>
            <p:nvPr/>
          </p:nvSpPr>
          <p:spPr bwMode="auto">
            <a:xfrm flipV="1">
              <a:off x="1950" y="2865"/>
              <a:ext cx="0" cy="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6" name="Line 140"/>
            <p:cNvSpPr>
              <a:spLocks noChangeShapeType="1"/>
            </p:cNvSpPr>
            <p:nvPr/>
          </p:nvSpPr>
          <p:spPr bwMode="auto">
            <a:xfrm flipV="1">
              <a:off x="1950" y="2823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7" name="Line 141"/>
            <p:cNvSpPr>
              <a:spLocks noChangeShapeType="1"/>
            </p:cNvSpPr>
            <p:nvPr/>
          </p:nvSpPr>
          <p:spPr bwMode="auto">
            <a:xfrm flipV="1">
              <a:off x="1953" y="2544"/>
              <a:ext cx="0" cy="2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8" name="Line 142"/>
            <p:cNvSpPr>
              <a:spLocks noChangeShapeType="1"/>
            </p:cNvSpPr>
            <p:nvPr/>
          </p:nvSpPr>
          <p:spPr bwMode="auto">
            <a:xfrm flipV="1">
              <a:off x="1953" y="2514"/>
              <a:ext cx="0" cy="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9" name="Line 143"/>
            <p:cNvSpPr>
              <a:spLocks noChangeShapeType="1"/>
            </p:cNvSpPr>
            <p:nvPr/>
          </p:nvSpPr>
          <p:spPr bwMode="auto">
            <a:xfrm flipV="1">
              <a:off x="1953" y="2304"/>
              <a:ext cx="0" cy="1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03" name="Line 144"/>
          <p:cNvSpPr>
            <a:spLocks noChangeShapeType="1"/>
          </p:cNvSpPr>
          <p:nvPr/>
        </p:nvSpPr>
        <p:spPr bwMode="auto">
          <a:xfrm>
            <a:off x="6378575" y="3873500"/>
            <a:ext cx="0" cy="7381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04" name="Group 145"/>
          <p:cNvGrpSpPr>
            <a:grpSpLocks/>
          </p:cNvGrpSpPr>
          <p:nvPr/>
        </p:nvGrpSpPr>
        <p:grpSpPr bwMode="auto">
          <a:xfrm>
            <a:off x="5978525" y="4259263"/>
            <a:ext cx="2719388" cy="0"/>
            <a:chOff x="648" y="2736"/>
            <a:chExt cx="1713" cy="0"/>
          </a:xfrm>
        </p:grpSpPr>
        <p:sp>
          <p:nvSpPr>
            <p:cNvPr id="5208" name="Line 146"/>
            <p:cNvSpPr>
              <a:spLocks noChangeShapeType="1"/>
            </p:cNvSpPr>
            <p:nvPr/>
          </p:nvSpPr>
          <p:spPr bwMode="auto">
            <a:xfrm>
              <a:off x="648" y="2736"/>
              <a:ext cx="4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09" name="Line 147"/>
            <p:cNvSpPr>
              <a:spLocks noChangeShapeType="1"/>
            </p:cNvSpPr>
            <p:nvPr/>
          </p:nvSpPr>
          <p:spPr bwMode="auto">
            <a:xfrm>
              <a:off x="1089" y="2736"/>
              <a:ext cx="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0" name="Line 148"/>
            <p:cNvSpPr>
              <a:spLocks noChangeShapeType="1"/>
            </p:cNvSpPr>
            <p:nvPr/>
          </p:nvSpPr>
          <p:spPr bwMode="auto">
            <a:xfrm>
              <a:off x="1146" y="2736"/>
              <a:ext cx="3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1" name="Line 149"/>
            <p:cNvSpPr>
              <a:spLocks noChangeShapeType="1"/>
            </p:cNvSpPr>
            <p:nvPr/>
          </p:nvSpPr>
          <p:spPr bwMode="auto">
            <a:xfrm>
              <a:off x="1473" y="2736"/>
              <a:ext cx="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" name="Line 150"/>
            <p:cNvSpPr>
              <a:spLocks noChangeShapeType="1"/>
            </p:cNvSpPr>
            <p:nvPr/>
          </p:nvSpPr>
          <p:spPr bwMode="auto">
            <a:xfrm>
              <a:off x="1527" y="2736"/>
              <a:ext cx="3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3" name="Line 151"/>
            <p:cNvSpPr>
              <a:spLocks noChangeShapeType="1"/>
            </p:cNvSpPr>
            <p:nvPr/>
          </p:nvSpPr>
          <p:spPr bwMode="auto">
            <a:xfrm>
              <a:off x="1872" y="2736"/>
              <a:ext cx="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4" name="Line 152"/>
            <p:cNvSpPr>
              <a:spLocks noChangeShapeType="1"/>
            </p:cNvSpPr>
            <p:nvPr/>
          </p:nvSpPr>
          <p:spPr bwMode="auto">
            <a:xfrm>
              <a:off x="1917" y="2736"/>
              <a:ext cx="4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05" name="Line 153"/>
          <p:cNvSpPr>
            <a:spLocks noChangeShapeType="1"/>
          </p:cNvSpPr>
          <p:nvPr/>
        </p:nvSpPr>
        <p:spPr bwMode="auto">
          <a:xfrm>
            <a:off x="7848600" y="2873375"/>
            <a:ext cx="825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6" name="Line 154"/>
          <p:cNvSpPr>
            <a:spLocks noChangeShapeType="1"/>
          </p:cNvSpPr>
          <p:nvPr/>
        </p:nvSpPr>
        <p:spPr bwMode="auto">
          <a:xfrm>
            <a:off x="7847013" y="2882900"/>
            <a:ext cx="825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7" name="Text Box 155"/>
          <p:cNvSpPr txBox="1">
            <a:spLocks noChangeArrowheads="1"/>
          </p:cNvSpPr>
          <p:nvPr/>
        </p:nvSpPr>
        <p:spPr bwMode="auto">
          <a:xfrm>
            <a:off x="5516563" y="1957388"/>
            <a:ext cx="1184275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  <p:sp>
        <p:nvSpPr>
          <p:cNvPr id="11" name="椭圆 10"/>
          <p:cNvSpPr/>
          <p:nvPr/>
        </p:nvSpPr>
        <p:spPr>
          <a:xfrm>
            <a:off x="1230491" y="3854715"/>
            <a:ext cx="803452" cy="7072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7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7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7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7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7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7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7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0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500"/>
                            </p:stCondLst>
                            <p:childTnLst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7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500"/>
                            </p:stCondLst>
                            <p:childTnLst>
                              <p:par>
                                <p:cTn id="1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7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7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500"/>
                            </p:stCondLst>
                            <p:childTnLst>
                              <p:par>
                                <p:cTn id="1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7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6000"/>
                            </p:stCondLst>
                            <p:childTnLst>
                              <p:par>
                                <p:cTn id="1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7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500"/>
                            </p:stCondLst>
                            <p:childTnLst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7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7000"/>
                            </p:stCondLst>
                            <p:childTnLst>
                              <p:par>
                                <p:cTn id="1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7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750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7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8000"/>
                            </p:stCondLst>
                            <p:childTnLst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7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7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7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7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7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7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7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7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7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7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7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7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17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7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7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7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7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 animBg="1" autoUpdateAnimBg="0"/>
      <p:bldP spid="171011" grpId="0" animBg="1" autoUpdateAnimBg="0"/>
      <p:bldP spid="171012" grpId="0" animBg="1" autoUpdateAnimBg="0"/>
      <p:bldP spid="171013" grpId="0" animBg="1" autoUpdateAnimBg="0"/>
      <p:bldP spid="171014" grpId="0" animBg="1" autoUpdateAnimBg="0"/>
      <p:bldP spid="171015" grpId="0" animBg="1"/>
      <p:bldP spid="171021" grpId="0" animBg="1"/>
      <p:bldP spid="171022" grpId="0" animBg="1"/>
      <p:bldP spid="171026" grpId="0" animBg="1"/>
      <p:bldP spid="171027" grpId="0" animBg="1"/>
      <p:bldP spid="171028" grpId="0" animBg="1"/>
      <p:bldP spid="171035" grpId="0" autoUpdateAnimBg="0"/>
      <p:bldP spid="171036" grpId="0" animBg="1"/>
      <p:bldP spid="171041" grpId="0" animBg="1"/>
      <p:bldP spid="171042" grpId="0" animBg="1"/>
      <p:bldP spid="171043" grpId="0" animBg="1"/>
      <p:bldP spid="171044" grpId="0" animBg="1"/>
      <p:bldP spid="171045" grpId="0" animBg="1"/>
      <p:bldP spid="171046" grpId="0" animBg="1"/>
      <p:bldP spid="171047" grpId="0" animBg="1"/>
      <p:bldP spid="171048" grpId="0" animBg="1"/>
      <p:bldP spid="171049" grpId="0" animBg="1"/>
      <p:bldP spid="171050" grpId="0" animBg="1"/>
      <p:bldP spid="171051" grpId="0" animBg="1"/>
      <p:bldP spid="171052" grpId="0" animBg="1"/>
      <p:bldP spid="171053" grpId="0" animBg="1"/>
      <p:bldP spid="171054" grpId="0" animBg="1"/>
      <p:bldP spid="171055" grpId="0" animBg="1"/>
      <p:bldP spid="171056" grpId="0" animBg="1"/>
      <p:bldP spid="171057" grpId="0" animBg="1"/>
      <p:bldP spid="171058" grpId="0" animBg="1"/>
      <p:bldP spid="171059" grpId="0" animBg="1"/>
      <p:bldP spid="171060" grpId="0" animBg="1"/>
      <p:bldP spid="171061" grpId="0" animBg="1"/>
      <p:bldP spid="171062" grpId="0" animBg="1"/>
      <p:bldP spid="171063" grpId="0" animBg="1"/>
      <p:bldP spid="171064" grpId="0" animBg="1"/>
      <p:bldP spid="171065" grpId="0" animBg="1"/>
      <p:bldP spid="171066" grpId="0" animBg="1"/>
      <p:bldP spid="171067" grpId="0" animBg="1"/>
      <p:bldP spid="171068" grpId="0" animBg="1"/>
      <p:bldP spid="171069" grpId="0" animBg="1"/>
      <p:bldP spid="171070" grpId="0" animBg="1"/>
      <p:bldP spid="171071" grpId="0" animBg="1"/>
      <p:bldP spid="171072" grpId="0" animBg="1"/>
      <p:bldP spid="171079" grpId="0" autoUpdateAnimBg="0"/>
      <p:bldP spid="171080" grpId="0" autoUpdateAnimBg="0"/>
      <p:bldP spid="171081" grpId="0" autoUpdateAnimBg="0"/>
      <p:bldP spid="171082" grpId="0" autoUpdateAnimBg="0"/>
      <p:bldP spid="171083" grpId="0" autoUpdateAnimBg="0"/>
      <p:bldP spid="171084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95275" y="144463"/>
          <a:ext cx="5619750" cy="564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位图图像" r:id="rId3" imgW="5619048" imgH="5649114" progId="Paint.Picture">
                  <p:embed/>
                </p:oleObj>
              </mc:Choice>
              <mc:Fallback>
                <p:oleObj name="位图图像" r:id="rId3" imgW="5619048" imgH="564911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144463"/>
                        <a:ext cx="5619750" cy="564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0" y="3530600"/>
            <a:ext cx="87344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箭头与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粗线段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垂直</a:t>
            </a:r>
          </a:p>
        </p:txBody>
      </p:sp>
      <p:sp>
        <p:nvSpPr>
          <p:cNvPr id="172036" name="AutoShape 4"/>
          <p:cNvSpPr>
            <a:spLocks noChangeArrowheads="1"/>
          </p:cNvSpPr>
          <p:nvPr/>
        </p:nvSpPr>
        <p:spPr bwMode="auto">
          <a:xfrm rot="1602580">
            <a:off x="1063625" y="4203700"/>
            <a:ext cx="577850" cy="187325"/>
          </a:xfrm>
          <a:prstGeom prst="notchedRightArrow">
            <a:avLst>
              <a:gd name="adj1" fmla="val 50000"/>
              <a:gd name="adj2" fmla="val 77119"/>
            </a:avLst>
          </a:prstGeom>
          <a:solidFill>
            <a:srgbClr val="BBE0E3">
              <a:alpha val="39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2037" name="Text Box 5"/>
          <p:cNvSpPr txBox="1">
            <a:spLocks noChangeArrowheads="1"/>
          </p:cNvSpPr>
          <p:nvPr/>
        </p:nvSpPr>
        <p:spPr bwMode="auto">
          <a:xfrm>
            <a:off x="4927600" y="4629150"/>
            <a:ext cx="380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粗线段</a:t>
            </a:r>
            <a:endParaRPr kumimoji="1" lang="zh-CN" altLang="en-US" sz="2400" b="1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72038" name="Text Box 6"/>
          <p:cNvSpPr txBox="1">
            <a:spLocks noChangeArrowheads="1"/>
          </p:cNvSpPr>
          <p:nvPr/>
        </p:nvSpPr>
        <p:spPr bwMode="auto">
          <a:xfrm>
            <a:off x="174625" y="2395538"/>
            <a:ext cx="855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实心箭头</a:t>
            </a:r>
            <a:endParaRPr kumimoji="1" lang="zh-CN" altLang="en-US" sz="2400" b="1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72039" name="Text Box 7"/>
          <p:cNvSpPr txBox="1">
            <a:spLocks noChangeArrowheads="1"/>
          </p:cNvSpPr>
          <p:nvPr/>
        </p:nvSpPr>
        <p:spPr bwMode="auto">
          <a:xfrm>
            <a:off x="1590675" y="1258888"/>
            <a:ext cx="714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45</a:t>
            </a:r>
            <a:r>
              <a:rPr kumimoji="1" lang="en-US" altLang="zh-CN" sz="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1" lang="en-US" altLang="zh-CN" sz="2400" b="1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̊</a:t>
            </a:r>
            <a:r>
              <a:rPr kumimoji="1" lang="zh-CN" altLang="en-US" sz="2400" b="1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方向，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起？止？</a:t>
            </a:r>
          </a:p>
        </p:txBody>
      </p:sp>
      <p:sp>
        <p:nvSpPr>
          <p:cNvPr id="172040" name="Text Box 8"/>
          <p:cNvSpPr txBox="1">
            <a:spLocks noChangeArrowheads="1"/>
          </p:cNvSpPr>
          <p:nvPr/>
        </p:nvSpPr>
        <p:spPr bwMode="auto">
          <a:xfrm>
            <a:off x="3665538" y="323850"/>
            <a:ext cx="5068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置于剖视图上方</a:t>
            </a:r>
            <a:endParaRPr kumimoji="1" lang="zh-CN" altLang="en-US" sz="2400" b="1" dirty="0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72041" name="Line 9"/>
          <p:cNvSpPr>
            <a:spLocks noChangeShapeType="1"/>
          </p:cNvSpPr>
          <p:nvPr/>
        </p:nvSpPr>
        <p:spPr bwMode="auto">
          <a:xfrm>
            <a:off x="5281613" y="4530725"/>
            <a:ext cx="584200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2" name="Line 10"/>
          <p:cNvSpPr>
            <a:spLocks noChangeShapeType="1"/>
          </p:cNvSpPr>
          <p:nvPr/>
        </p:nvSpPr>
        <p:spPr bwMode="auto">
          <a:xfrm flipV="1">
            <a:off x="5551488" y="4013200"/>
            <a:ext cx="90487" cy="42227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non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3" name="Line 11"/>
          <p:cNvSpPr>
            <a:spLocks noChangeShapeType="1"/>
          </p:cNvSpPr>
          <p:nvPr/>
        </p:nvSpPr>
        <p:spPr bwMode="auto">
          <a:xfrm flipV="1">
            <a:off x="3375025" y="2892425"/>
            <a:ext cx="355600" cy="46355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4" name="Line 12"/>
          <p:cNvSpPr>
            <a:spLocks noChangeShapeType="1"/>
          </p:cNvSpPr>
          <p:nvPr/>
        </p:nvSpPr>
        <p:spPr bwMode="auto">
          <a:xfrm flipV="1">
            <a:off x="3376613" y="2998788"/>
            <a:ext cx="400050" cy="538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5" name="Line 13"/>
          <p:cNvSpPr>
            <a:spLocks noChangeShapeType="1"/>
          </p:cNvSpPr>
          <p:nvPr/>
        </p:nvSpPr>
        <p:spPr bwMode="auto">
          <a:xfrm flipV="1">
            <a:off x="3554413" y="3089275"/>
            <a:ext cx="288925" cy="3175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214813" y="3517900"/>
            <a:ext cx="695325" cy="471488"/>
            <a:chOff x="2913" y="2262"/>
            <a:chExt cx="438" cy="297"/>
          </a:xfrm>
        </p:grpSpPr>
        <p:sp>
          <p:nvSpPr>
            <p:cNvPr id="6165" name="Line 15"/>
            <p:cNvSpPr>
              <a:spLocks noChangeShapeType="1"/>
            </p:cNvSpPr>
            <p:nvPr/>
          </p:nvSpPr>
          <p:spPr bwMode="auto">
            <a:xfrm flipH="1">
              <a:off x="2946" y="2271"/>
              <a:ext cx="39" cy="228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16"/>
            <p:cNvSpPr>
              <a:spLocks noChangeShapeType="1"/>
            </p:cNvSpPr>
            <p:nvPr/>
          </p:nvSpPr>
          <p:spPr bwMode="auto">
            <a:xfrm>
              <a:off x="2991" y="2274"/>
              <a:ext cx="57" cy="24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17"/>
            <p:cNvSpPr>
              <a:spLocks noChangeShapeType="1"/>
            </p:cNvSpPr>
            <p:nvPr/>
          </p:nvSpPr>
          <p:spPr bwMode="auto">
            <a:xfrm>
              <a:off x="2913" y="2367"/>
              <a:ext cx="144" cy="3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8" name="Line 18"/>
            <p:cNvSpPr>
              <a:spLocks noChangeShapeType="1"/>
            </p:cNvSpPr>
            <p:nvPr/>
          </p:nvSpPr>
          <p:spPr bwMode="auto">
            <a:xfrm flipV="1">
              <a:off x="3120" y="2400"/>
              <a:ext cx="60" cy="6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9" name="Line 19"/>
            <p:cNvSpPr>
              <a:spLocks noChangeShapeType="1"/>
            </p:cNvSpPr>
            <p:nvPr/>
          </p:nvSpPr>
          <p:spPr bwMode="auto">
            <a:xfrm flipH="1">
              <a:off x="3228" y="2262"/>
              <a:ext cx="30" cy="297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0" name="Line 20"/>
            <p:cNvSpPr>
              <a:spLocks noChangeShapeType="1"/>
            </p:cNvSpPr>
            <p:nvPr/>
          </p:nvSpPr>
          <p:spPr bwMode="auto">
            <a:xfrm>
              <a:off x="3258" y="2265"/>
              <a:ext cx="69" cy="24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1" name="Line 21"/>
            <p:cNvSpPr>
              <a:spLocks noChangeShapeType="1"/>
            </p:cNvSpPr>
            <p:nvPr/>
          </p:nvSpPr>
          <p:spPr bwMode="auto">
            <a:xfrm>
              <a:off x="3216" y="2403"/>
              <a:ext cx="135" cy="1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054" name="Line 22"/>
          <p:cNvSpPr>
            <a:spLocks noChangeShapeType="1"/>
          </p:cNvSpPr>
          <p:nvPr/>
        </p:nvSpPr>
        <p:spPr bwMode="auto">
          <a:xfrm flipV="1">
            <a:off x="5462588" y="4032250"/>
            <a:ext cx="219075" cy="42863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55" name="Line 23"/>
          <p:cNvSpPr>
            <a:spLocks noChangeShapeType="1"/>
          </p:cNvSpPr>
          <p:nvPr/>
        </p:nvSpPr>
        <p:spPr bwMode="auto">
          <a:xfrm>
            <a:off x="5676900" y="4032250"/>
            <a:ext cx="76200" cy="90488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56" name="Line 24"/>
          <p:cNvSpPr>
            <a:spLocks noChangeShapeType="1"/>
          </p:cNvSpPr>
          <p:nvPr/>
        </p:nvSpPr>
        <p:spPr bwMode="auto">
          <a:xfrm flipV="1">
            <a:off x="3098800" y="2768600"/>
            <a:ext cx="688975" cy="6826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57" name="Line 25"/>
          <p:cNvSpPr>
            <a:spLocks noChangeShapeType="1"/>
          </p:cNvSpPr>
          <p:nvPr/>
        </p:nvSpPr>
        <p:spPr bwMode="auto">
          <a:xfrm flipH="1" flipV="1">
            <a:off x="5810250" y="4343400"/>
            <a:ext cx="53975" cy="3143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58" name="Line 26"/>
          <p:cNvSpPr>
            <a:spLocks noChangeShapeType="1"/>
          </p:cNvSpPr>
          <p:nvPr/>
        </p:nvSpPr>
        <p:spPr bwMode="auto">
          <a:xfrm flipH="1">
            <a:off x="5730875" y="4343400"/>
            <a:ext cx="79375" cy="857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59" name="Line 27"/>
          <p:cNvSpPr>
            <a:spLocks noChangeShapeType="1"/>
          </p:cNvSpPr>
          <p:nvPr/>
        </p:nvSpPr>
        <p:spPr bwMode="auto">
          <a:xfrm>
            <a:off x="5810250" y="4343400"/>
            <a:ext cx="88900" cy="9207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/>
      <p:bldP spid="172036" grpId="0" animBg="1"/>
      <p:bldP spid="172037" grpId="0" build="p"/>
      <p:bldP spid="172038" grpId="0" build="p"/>
      <p:bldP spid="172039" grpId="0"/>
      <p:bldP spid="172040" grpId="0"/>
      <p:bldP spid="172041" grpId="0" animBg="1"/>
      <p:bldP spid="172042" grpId="0" animBg="1"/>
      <p:bldP spid="172043" grpId="0" animBg="1"/>
      <p:bldP spid="172044" grpId="0" animBg="1"/>
      <p:bldP spid="172045" grpId="0" animBg="1"/>
      <p:bldP spid="172054" grpId="0" animBg="1"/>
      <p:bldP spid="172055" grpId="0" animBg="1"/>
      <p:bldP spid="172056" grpId="0" animBg="1"/>
      <p:bldP spid="172057" grpId="0" animBg="1"/>
      <p:bldP spid="172058" grpId="0" animBg="1"/>
      <p:bldP spid="1720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823913"/>
            <a:ext cx="7069138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4-1-1-1  </a:t>
            </a:r>
            <a:r>
              <a:rPr lang="zh-CN" altLang="en-US" sz="1600" b="1">
                <a:latin typeface="宋体" pitchFamily="2" charset="-122"/>
              </a:rPr>
              <a:t>根据图</a:t>
            </a:r>
            <a:r>
              <a:rPr lang="en-US" altLang="zh-CN" sz="1600" b="1">
                <a:latin typeface="宋体" pitchFamily="2" charset="-122"/>
              </a:rPr>
              <a:t>(1)</a:t>
            </a:r>
            <a:r>
              <a:rPr lang="zh-CN" altLang="en-US" sz="1600" b="1">
                <a:latin typeface="宋体" pitchFamily="2" charset="-122"/>
              </a:rPr>
              <a:t>所示机件的形状，请在图</a:t>
            </a:r>
            <a:r>
              <a:rPr lang="en-US" altLang="zh-CN" sz="1600" b="1">
                <a:latin typeface="宋体" pitchFamily="2" charset="-122"/>
              </a:rPr>
              <a:t>(2)</a:t>
            </a:r>
            <a:r>
              <a:rPr lang="zh-CN" altLang="en-US" sz="1600" b="1">
                <a:latin typeface="宋体" pitchFamily="2" charset="-122"/>
              </a:rPr>
              <a:t>中画出反映斜面实形的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向斜视图（局部）。</a:t>
            </a:r>
          </a:p>
        </p:txBody>
      </p:sp>
      <p:sp>
        <p:nvSpPr>
          <p:cNvPr id="44043" name="AutoShape 11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7224537" y="4197703"/>
            <a:ext cx="451908" cy="37429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 flipV="1">
            <a:off x="2077156" y="2460978"/>
            <a:ext cx="1377244" cy="29689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203549" y="5549434"/>
            <a:ext cx="586801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国标规定：</a:t>
            </a:r>
            <a:endParaRPr kumimoji="1" lang="en-US" altLang="zh-CN" sz="2000" b="1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在结构已经表达清楚时，虚线可不画。</a:t>
            </a:r>
            <a:endParaRPr kumimoji="1" lang="zh-CN" altLang="en-US" sz="2000" b="1" dirty="0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631870" y="3537303"/>
            <a:ext cx="451908" cy="37429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985" r="-105159"/>
          <a:stretch>
            <a:fillRect/>
          </a:stretch>
        </p:blipFill>
        <p:spPr bwMode="auto">
          <a:xfrm>
            <a:off x="1476375" y="908050"/>
            <a:ext cx="5543550" cy="2932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4-1-1-1  </a:t>
            </a:r>
            <a:r>
              <a:rPr lang="zh-CN" altLang="en-US" sz="1600" b="1">
                <a:latin typeface="宋体" pitchFamily="2" charset="-122"/>
              </a:rPr>
              <a:t>根据图</a:t>
            </a:r>
            <a:r>
              <a:rPr lang="en-US" altLang="zh-CN" sz="1600" b="1">
                <a:latin typeface="宋体" pitchFamily="2" charset="-122"/>
              </a:rPr>
              <a:t>(1)</a:t>
            </a:r>
            <a:r>
              <a:rPr lang="zh-CN" altLang="en-US" sz="1600" b="1">
                <a:latin typeface="宋体" pitchFamily="2" charset="-122"/>
              </a:rPr>
              <a:t>所示机件的形状，请在图</a:t>
            </a:r>
            <a:r>
              <a:rPr lang="en-US" altLang="zh-CN" sz="1600" b="1">
                <a:latin typeface="宋体" pitchFamily="2" charset="-122"/>
              </a:rPr>
              <a:t>(2)</a:t>
            </a:r>
            <a:r>
              <a:rPr lang="zh-CN" altLang="en-US" sz="1600" b="1">
                <a:latin typeface="宋体" pitchFamily="2" charset="-122"/>
              </a:rPr>
              <a:t>中画出反映斜面实形的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向斜视图（局部）。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6"/>
          <a:stretch>
            <a:fillRect/>
          </a:stretch>
        </p:blipFill>
        <p:spPr bwMode="auto">
          <a:xfrm>
            <a:off x="2195513" y="765175"/>
            <a:ext cx="4773612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0" y="188913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黑体" pitchFamily="2" charset="-122"/>
                <a:ea typeface="黑体" pitchFamily="2" charset="-122"/>
              </a:rPr>
              <a:t>4-1-1-2  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根据图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所示机件的形状，请在图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中画出反映斜面实形的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向斜视图（局部）。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826" r="-57341"/>
          <a:stretch>
            <a:fillRect/>
          </a:stretch>
        </p:blipFill>
        <p:spPr bwMode="auto">
          <a:xfrm>
            <a:off x="1692275" y="1052513"/>
            <a:ext cx="5689600" cy="3771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6"/>
          <p:cNvSpPr txBox="1">
            <a:spLocks noChangeArrowheads="1"/>
          </p:cNvSpPr>
          <p:nvPr/>
        </p:nvSpPr>
        <p:spPr bwMode="auto">
          <a:xfrm>
            <a:off x="0" y="188913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黑体" pitchFamily="2" charset="-122"/>
                <a:ea typeface="黑体" pitchFamily="2" charset="-122"/>
              </a:rPr>
              <a:t>4-1-1-2  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根据图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所示机件的形状，请在图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中画出反映斜面实形的</a:t>
            </a:r>
            <a:r>
              <a:rPr lang="en-US" altLang="zh-CN" sz="160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600">
                <a:latin typeface="黑体" pitchFamily="2" charset="-122"/>
                <a:ea typeface="黑体" pitchFamily="2" charset="-122"/>
              </a:rPr>
              <a:t>向斜视图（局部）。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51387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4-1-2-1  </a:t>
            </a:r>
            <a:r>
              <a:rPr lang="zh-CN" altLang="en-US" sz="1600" b="1">
                <a:latin typeface="宋体" pitchFamily="2" charset="-122"/>
              </a:rPr>
              <a:t>完成主视图（全剖视）和左视图（半剖视）</a:t>
            </a:r>
          </a:p>
        </p:txBody>
      </p:sp>
      <p:sp>
        <p:nvSpPr>
          <p:cNvPr id="47109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3970338" y="2052638"/>
            <a:ext cx="576262" cy="180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6219825" y="2041525"/>
            <a:ext cx="576263" cy="180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2351088" y="2054225"/>
            <a:ext cx="576262" cy="180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136489" y="1921861"/>
            <a:ext cx="450165" cy="435084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nimBg="1"/>
      <p:bldP spid="47111" grpId="0" animBg="1"/>
      <p:bldP spid="47112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81" r="-28696"/>
          <a:stretch>
            <a:fillRect/>
          </a:stretch>
        </p:blipFill>
        <p:spPr bwMode="auto">
          <a:xfrm>
            <a:off x="1403350" y="836613"/>
            <a:ext cx="6048375" cy="4046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4-1-2-1  </a:t>
            </a:r>
            <a:r>
              <a:rPr lang="zh-CN" altLang="en-US" sz="1600" b="1">
                <a:latin typeface="宋体" pitchFamily="2" charset="-122"/>
              </a:rPr>
              <a:t>完成主视图（全剖视）和左视图（半剖视）</a:t>
            </a:r>
          </a:p>
        </p:txBody>
      </p:sp>
      <p:sp>
        <p:nvSpPr>
          <p:cNvPr id="106501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6250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  </a:t>
            </a:r>
            <a:r>
              <a:rPr lang="zh-CN" altLang="en-US" sz="1600" b="1">
                <a:latin typeface="宋体" pitchFamily="2" charset="-122"/>
              </a:rPr>
              <a:t>完成主视图（半剖视）和左视图（半剖视）</a:t>
            </a: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572000" y="3971392"/>
            <a:ext cx="440284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在结构已经表达清楚的情况下，</a:t>
            </a:r>
            <a:endParaRPr kumimoji="1" lang="en-US" altLang="zh-CN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虚线省略不画。</a:t>
            </a: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 flipV="1">
            <a:off x="3199517" y="2178756"/>
            <a:ext cx="2614260" cy="17926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5226755" y="2178756"/>
            <a:ext cx="2607733" cy="17926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219825" y="2092758"/>
            <a:ext cx="576263" cy="180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3906227" y="2041525"/>
            <a:ext cx="576263" cy="180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253" r="-38316"/>
          <a:stretch>
            <a:fillRect/>
          </a:stretch>
        </p:blipFill>
        <p:spPr bwMode="auto">
          <a:xfrm>
            <a:off x="1258888" y="1125538"/>
            <a:ext cx="6192837" cy="3217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  </a:t>
            </a:r>
            <a:r>
              <a:rPr lang="zh-CN" altLang="en-US" sz="1600" b="1">
                <a:latin typeface="宋体" pitchFamily="2" charset="-122"/>
              </a:rPr>
              <a:t>完成主视图（半剖视）和左视图（半剖视）</a:t>
            </a:r>
          </a:p>
        </p:txBody>
      </p:sp>
      <p:sp>
        <p:nvSpPr>
          <p:cNvPr id="107525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 b="21582"/>
          <a:stretch>
            <a:fillRect/>
          </a:stretch>
        </p:blipFill>
        <p:spPr bwMode="auto">
          <a:xfrm>
            <a:off x="2195513" y="476250"/>
            <a:ext cx="4724400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4-1-2-3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9157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5795963" y="1916113"/>
            <a:ext cx="576262" cy="287337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5292725" y="3094038"/>
            <a:ext cx="576263" cy="287337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3989388" y="4156075"/>
            <a:ext cx="481012" cy="234950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 flipV="1">
            <a:off x="4562475" y="3478213"/>
            <a:ext cx="882650" cy="725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0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59" grpId="0" animBg="1"/>
      <p:bldP spid="49160" grpId="0" animBg="1"/>
      <p:bldP spid="491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227" r="-47574"/>
          <a:stretch>
            <a:fillRect/>
          </a:stretch>
        </p:blipFill>
        <p:spPr bwMode="auto">
          <a:xfrm>
            <a:off x="1258888" y="908050"/>
            <a:ext cx="5976937" cy="3833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4-1-2-3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08549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7837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4-1-2-4  作主视图（全剖视）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2959100" y="1938338"/>
            <a:ext cx="576263" cy="28733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6122988" y="1906588"/>
            <a:ext cx="576262" cy="28733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0185" name="Arc 9"/>
          <p:cNvSpPr>
            <a:spLocks/>
          </p:cNvSpPr>
          <p:nvPr/>
        </p:nvSpPr>
        <p:spPr bwMode="auto">
          <a:xfrm rot="8320564">
            <a:off x="3645136" y="1455261"/>
            <a:ext cx="2342788" cy="188433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animBg="1"/>
      <p:bldP spid="50183" grpId="0" animBg="1"/>
      <p:bldP spid="5018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96" r="-8409"/>
          <a:stretch>
            <a:fillRect/>
          </a:stretch>
        </p:blipFill>
        <p:spPr bwMode="auto">
          <a:xfrm>
            <a:off x="1258888" y="1196975"/>
            <a:ext cx="65532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4-1-2-4  作主视图（全剖视）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09573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1619250" y="476250"/>
            <a:ext cx="475297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7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4-1-2-5  </a:t>
            </a:r>
            <a:r>
              <a:rPr lang="zh-CN" altLang="en-US" sz="1600" b="1">
                <a:latin typeface="宋体" pitchFamily="2" charset="-122"/>
              </a:rPr>
              <a:t>完成主视图（半剖视）并作左视图（全剖视）</a:t>
            </a:r>
          </a:p>
        </p:txBody>
      </p:sp>
      <p:sp>
        <p:nvSpPr>
          <p:cNvPr id="51208" name="AutoShape 8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4810125" y="1433513"/>
            <a:ext cx="576263" cy="28733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1210" name="Oval 10"/>
          <p:cNvSpPr>
            <a:spLocks noChangeArrowheads="1"/>
          </p:cNvSpPr>
          <p:nvPr/>
        </p:nvSpPr>
        <p:spPr bwMode="auto">
          <a:xfrm>
            <a:off x="3392488" y="1214438"/>
            <a:ext cx="576262" cy="519112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4521994" y="1733550"/>
            <a:ext cx="576262" cy="519112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5360605" y="1877582"/>
            <a:ext cx="576263" cy="28733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3551508" y="2358424"/>
            <a:ext cx="576263" cy="28733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nimBg="1"/>
      <p:bldP spid="51210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01" r="-6833"/>
          <a:stretch>
            <a:fillRect/>
          </a:stretch>
        </p:blipFill>
        <p:spPr bwMode="auto">
          <a:xfrm>
            <a:off x="1403350" y="981075"/>
            <a:ext cx="6192838" cy="2795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4-1-2-5  </a:t>
            </a:r>
            <a:r>
              <a:rPr lang="zh-CN" altLang="en-US" sz="1600" b="1">
                <a:latin typeface="宋体" pitchFamily="2" charset="-122"/>
              </a:rPr>
              <a:t>完成主视图（半剖视）并作左视图（全剖视）</a:t>
            </a:r>
          </a:p>
        </p:txBody>
      </p:sp>
      <p:sp>
        <p:nvSpPr>
          <p:cNvPr id="110597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79962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4-1-2-6  作主视图（全剖视）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2230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4422775" y="1055688"/>
            <a:ext cx="187325" cy="6953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865563" y="1077913"/>
            <a:ext cx="187325" cy="6953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4095750" y="1893888"/>
            <a:ext cx="271463" cy="3079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animBg="1"/>
      <p:bldP spid="52232" grpId="0" animBg="1"/>
      <p:bldP spid="522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4-1-2-6  作主视图（全剖视）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852" r="-55762"/>
          <a:stretch>
            <a:fillRect/>
          </a:stretch>
        </p:blipFill>
        <p:spPr bwMode="auto">
          <a:xfrm>
            <a:off x="1331913" y="981075"/>
            <a:ext cx="56896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1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7202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4-1-2-7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3254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5937250" y="2211388"/>
            <a:ext cx="450850" cy="4953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5461000" y="1236663"/>
            <a:ext cx="755650" cy="4953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6324072" y="1241776"/>
            <a:ext cx="1047486" cy="279964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4301066" y="4233333"/>
            <a:ext cx="2968978" cy="2483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213513" y="4041422"/>
            <a:ext cx="1230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类似形</a:t>
            </a:r>
            <a:endParaRPr kumimoji="1" lang="zh-CN" altLang="en-US" sz="2400" b="1" dirty="0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 flipV="1">
            <a:off x="4301066" y="1394002"/>
            <a:ext cx="2912447" cy="27490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Arc 9"/>
          <p:cNvSpPr>
            <a:spLocks/>
          </p:cNvSpPr>
          <p:nvPr/>
        </p:nvSpPr>
        <p:spPr bwMode="auto">
          <a:xfrm rot="8320564">
            <a:off x="4249823" y="2070904"/>
            <a:ext cx="1005210" cy="100292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animBg="1"/>
      <p:bldP spid="53256" grpId="0" animBg="1"/>
      <p:bldP spid="7" grpId="0" animBg="1"/>
      <p:bldP spid="8" grpId="0" animBg="1"/>
      <p:bldP spid="9" grpId="0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118" r="-15286"/>
          <a:stretch>
            <a:fillRect/>
          </a:stretch>
        </p:blipFill>
        <p:spPr bwMode="auto">
          <a:xfrm>
            <a:off x="1331913" y="765175"/>
            <a:ext cx="5832475" cy="4306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4-1-2-7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12645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7202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*4-1-2-8  作主视图（半剖视）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33" r="-2917"/>
          <a:stretch>
            <a:fillRect/>
          </a:stretch>
        </p:blipFill>
        <p:spPr bwMode="auto">
          <a:xfrm>
            <a:off x="1331913" y="908050"/>
            <a:ext cx="6408737" cy="4022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*4-1-2-8  作主视图（半剖视）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83137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*4-1-2-9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5301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5303" name="Arc 7"/>
          <p:cNvSpPr>
            <a:spLocks/>
          </p:cNvSpPr>
          <p:nvPr/>
        </p:nvSpPr>
        <p:spPr bwMode="auto">
          <a:xfrm>
            <a:off x="3576638" y="4433888"/>
            <a:ext cx="774700" cy="914400"/>
          </a:xfrm>
          <a:custGeom>
            <a:avLst/>
            <a:gdLst>
              <a:gd name="T0" fmla="*/ 0 w 18304"/>
              <a:gd name="T1" fmla="*/ 3186388 h 21600"/>
              <a:gd name="T2" fmla="*/ 2147483647 w 18304"/>
              <a:gd name="T3" fmla="*/ 2147483647 h 21600"/>
              <a:gd name="T4" fmla="*/ 503798448 w 18304"/>
              <a:gd name="T5" fmla="*/ 2147483647 h 21600"/>
              <a:gd name="T6" fmla="*/ 0 60000 65536"/>
              <a:gd name="T7" fmla="*/ 0 60000 65536"/>
              <a:gd name="T8" fmla="*/ 0 60000 65536"/>
              <a:gd name="T9" fmla="*/ 0 w 18304"/>
              <a:gd name="T10" fmla="*/ 0 h 21600"/>
              <a:gd name="T11" fmla="*/ 18304 w 183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04" h="21600" fill="none" extrusionOk="0">
                <a:moveTo>
                  <a:pt x="-1" y="0"/>
                </a:moveTo>
                <a:cubicBezTo>
                  <a:pt x="52" y="0"/>
                  <a:pt x="104" y="-1"/>
                  <a:pt x="157" y="0"/>
                </a:cubicBezTo>
                <a:cubicBezTo>
                  <a:pt x="7491" y="0"/>
                  <a:pt x="14325" y="3722"/>
                  <a:pt x="18303" y="9884"/>
                </a:cubicBezTo>
              </a:path>
              <a:path w="18304" h="21600" stroke="0" extrusionOk="0">
                <a:moveTo>
                  <a:pt x="-1" y="0"/>
                </a:moveTo>
                <a:cubicBezTo>
                  <a:pt x="52" y="0"/>
                  <a:pt x="104" y="-1"/>
                  <a:pt x="157" y="0"/>
                </a:cubicBezTo>
                <a:cubicBezTo>
                  <a:pt x="7491" y="0"/>
                  <a:pt x="14325" y="3722"/>
                  <a:pt x="18303" y="9884"/>
                </a:cubicBezTo>
                <a:lnTo>
                  <a:pt x="157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5" name="Arc 9"/>
          <p:cNvSpPr>
            <a:spLocks/>
          </p:cNvSpPr>
          <p:nvPr/>
        </p:nvSpPr>
        <p:spPr bwMode="auto">
          <a:xfrm>
            <a:off x="3592513" y="1114425"/>
            <a:ext cx="546100" cy="55403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6" name="Arc 10"/>
          <p:cNvSpPr>
            <a:spLocks/>
          </p:cNvSpPr>
          <p:nvPr/>
        </p:nvSpPr>
        <p:spPr bwMode="auto">
          <a:xfrm>
            <a:off x="3570288" y="1336675"/>
            <a:ext cx="350837" cy="652463"/>
          </a:xfrm>
          <a:custGeom>
            <a:avLst/>
            <a:gdLst>
              <a:gd name="T0" fmla="*/ 37370407 w 22199"/>
              <a:gd name="T1" fmla="*/ 0 h 43200"/>
              <a:gd name="T2" fmla="*/ 0 w 22199"/>
              <a:gd name="T3" fmla="*/ 2147483647 h 43200"/>
              <a:gd name="T4" fmla="*/ 37370407 w 22199"/>
              <a:gd name="T5" fmla="*/ 1123939606 h 43200"/>
              <a:gd name="T6" fmla="*/ 0 60000 65536"/>
              <a:gd name="T7" fmla="*/ 0 60000 65536"/>
              <a:gd name="T8" fmla="*/ 0 60000 65536"/>
              <a:gd name="T9" fmla="*/ 0 w 22199"/>
              <a:gd name="T10" fmla="*/ 0 h 43200"/>
              <a:gd name="T11" fmla="*/ 22199 w 2219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99" h="43200" fill="none" extrusionOk="0">
                <a:moveTo>
                  <a:pt x="598" y="0"/>
                </a:moveTo>
                <a:cubicBezTo>
                  <a:pt x="12528" y="0"/>
                  <a:pt x="22199" y="9670"/>
                  <a:pt x="22199" y="21600"/>
                </a:cubicBezTo>
                <a:cubicBezTo>
                  <a:pt x="22199" y="33529"/>
                  <a:pt x="12528" y="43200"/>
                  <a:pt x="599" y="43200"/>
                </a:cubicBezTo>
                <a:cubicBezTo>
                  <a:pt x="399" y="43200"/>
                  <a:pt x="199" y="43197"/>
                  <a:pt x="0" y="43191"/>
                </a:cubicBezTo>
              </a:path>
              <a:path w="22199" h="43200" stroke="0" extrusionOk="0">
                <a:moveTo>
                  <a:pt x="598" y="0"/>
                </a:moveTo>
                <a:cubicBezTo>
                  <a:pt x="12528" y="0"/>
                  <a:pt x="22199" y="9670"/>
                  <a:pt x="22199" y="21600"/>
                </a:cubicBezTo>
                <a:cubicBezTo>
                  <a:pt x="22199" y="33529"/>
                  <a:pt x="12528" y="43200"/>
                  <a:pt x="599" y="43200"/>
                </a:cubicBezTo>
                <a:cubicBezTo>
                  <a:pt x="399" y="43200"/>
                  <a:pt x="199" y="43197"/>
                  <a:pt x="0" y="43191"/>
                </a:cubicBezTo>
                <a:lnTo>
                  <a:pt x="599" y="21600"/>
                </a:lnTo>
                <a:lnTo>
                  <a:pt x="598" y="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4121150" y="1649413"/>
            <a:ext cx="21113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>
            <a:off x="4341813" y="1639888"/>
            <a:ext cx="0" cy="77946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3954463" y="2397125"/>
            <a:ext cx="379412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2" name="Line 16"/>
          <p:cNvSpPr>
            <a:spLocks noChangeShapeType="1"/>
          </p:cNvSpPr>
          <p:nvPr/>
        </p:nvSpPr>
        <p:spPr bwMode="auto">
          <a:xfrm>
            <a:off x="3976688" y="2239963"/>
            <a:ext cx="9525" cy="16986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3" name="Line 17"/>
          <p:cNvSpPr>
            <a:spLocks noChangeShapeType="1"/>
          </p:cNvSpPr>
          <p:nvPr/>
        </p:nvSpPr>
        <p:spPr bwMode="auto">
          <a:xfrm>
            <a:off x="3608388" y="2262188"/>
            <a:ext cx="379412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4" name="Line 18"/>
          <p:cNvSpPr>
            <a:spLocks noChangeShapeType="1"/>
          </p:cNvSpPr>
          <p:nvPr/>
        </p:nvSpPr>
        <p:spPr bwMode="auto">
          <a:xfrm flipH="1">
            <a:off x="3597275" y="1985963"/>
            <a:ext cx="11113" cy="2857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5" name="Line 19"/>
          <p:cNvSpPr>
            <a:spLocks noChangeShapeType="1"/>
          </p:cNvSpPr>
          <p:nvPr/>
        </p:nvSpPr>
        <p:spPr bwMode="auto">
          <a:xfrm flipH="1">
            <a:off x="3587750" y="1090613"/>
            <a:ext cx="11113" cy="2857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7" name="Arc 21"/>
          <p:cNvSpPr>
            <a:spLocks/>
          </p:cNvSpPr>
          <p:nvPr/>
        </p:nvSpPr>
        <p:spPr bwMode="auto">
          <a:xfrm>
            <a:off x="5160963" y="1111250"/>
            <a:ext cx="914400" cy="549275"/>
          </a:xfrm>
          <a:custGeom>
            <a:avLst/>
            <a:gdLst>
              <a:gd name="T0" fmla="*/ 2147483647 w 21600"/>
              <a:gd name="T1" fmla="*/ 0 h 12990"/>
              <a:gd name="T2" fmla="*/ 2147483647 w 21600"/>
              <a:gd name="T3" fmla="*/ 2147483647 h 12990"/>
              <a:gd name="T4" fmla="*/ 0 w 21600"/>
              <a:gd name="T5" fmla="*/ 2147483647 h 12990"/>
              <a:gd name="T6" fmla="*/ 0 60000 65536"/>
              <a:gd name="T7" fmla="*/ 0 60000 65536"/>
              <a:gd name="T8" fmla="*/ 0 60000 65536"/>
              <a:gd name="T9" fmla="*/ 0 w 21600"/>
              <a:gd name="T10" fmla="*/ 0 h 12990"/>
              <a:gd name="T11" fmla="*/ 21600 w 21600"/>
              <a:gd name="T12" fmla="*/ 12990 h 129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2990" fill="none" extrusionOk="0">
                <a:moveTo>
                  <a:pt x="17257" y="-1"/>
                </a:moveTo>
                <a:cubicBezTo>
                  <a:pt x="20075" y="3744"/>
                  <a:pt x="21600" y="8303"/>
                  <a:pt x="21600" y="12990"/>
                </a:cubicBezTo>
              </a:path>
              <a:path w="21600" h="12990" stroke="0" extrusionOk="0">
                <a:moveTo>
                  <a:pt x="17257" y="-1"/>
                </a:moveTo>
                <a:cubicBezTo>
                  <a:pt x="20075" y="3744"/>
                  <a:pt x="21600" y="8303"/>
                  <a:pt x="21600" y="12990"/>
                </a:cubicBezTo>
                <a:lnTo>
                  <a:pt x="0" y="12990"/>
                </a:lnTo>
                <a:lnTo>
                  <a:pt x="17257" y="-1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8" name="Arc 22"/>
          <p:cNvSpPr>
            <a:spLocks/>
          </p:cNvSpPr>
          <p:nvPr/>
        </p:nvSpPr>
        <p:spPr bwMode="auto">
          <a:xfrm>
            <a:off x="5868988" y="1355725"/>
            <a:ext cx="79375" cy="600075"/>
          </a:xfrm>
          <a:custGeom>
            <a:avLst/>
            <a:gdLst>
              <a:gd name="T0" fmla="*/ 104294 w 22243"/>
              <a:gd name="T1" fmla="*/ 0 h 43200"/>
              <a:gd name="T2" fmla="*/ 0 w 22243"/>
              <a:gd name="T3" fmla="*/ 1607941648 h 43200"/>
              <a:gd name="T4" fmla="*/ 104294 w 22243"/>
              <a:gd name="T5" fmla="*/ 804158563 h 43200"/>
              <a:gd name="T6" fmla="*/ 0 60000 65536"/>
              <a:gd name="T7" fmla="*/ 0 60000 65536"/>
              <a:gd name="T8" fmla="*/ 0 60000 65536"/>
              <a:gd name="T9" fmla="*/ 0 w 22243"/>
              <a:gd name="T10" fmla="*/ 0 h 43200"/>
              <a:gd name="T11" fmla="*/ 22243 w 2224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43" h="43200" fill="none" extrusionOk="0">
                <a:moveTo>
                  <a:pt x="642" y="0"/>
                </a:moveTo>
                <a:cubicBezTo>
                  <a:pt x="12572" y="0"/>
                  <a:pt x="22243" y="9670"/>
                  <a:pt x="22243" y="21600"/>
                </a:cubicBezTo>
                <a:cubicBezTo>
                  <a:pt x="22243" y="33529"/>
                  <a:pt x="12572" y="43200"/>
                  <a:pt x="643" y="43200"/>
                </a:cubicBezTo>
                <a:cubicBezTo>
                  <a:pt x="428" y="43200"/>
                  <a:pt x="214" y="43196"/>
                  <a:pt x="-1" y="43190"/>
                </a:cubicBezTo>
              </a:path>
              <a:path w="22243" h="43200" stroke="0" extrusionOk="0">
                <a:moveTo>
                  <a:pt x="642" y="0"/>
                </a:moveTo>
                <a:cubicBezTo>
                  <a:pt x="12572" y="0"/>
                  <a:pt x="22243" y="9670"/>
                  <a:pt x="22243" y="21600"/>
                </a:cubicBezTo>
                <a:cubicBezTo>
                  <a:pt x="22243" y="33529"/>
                  <a:pt x="12572" y="43200"/>
                  <a:pt x="643" y="43200"/>
                </a:cubicBezTo>
                <a:cubicBezTo>
                  <a:pt x="428" y="43200"/>
                  <a:pt x="214" y="43196"/>
                  <a:pt x="-1" y="43190"/>
                </a:cubicBezTo>
                <a:lnTo>
                  <a:pt x="643" y="21600"/>
                </a:lnTo>
                <a:lnTo>
                  <a:pt x="642" y="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9" name="Line 23"/>
          <p:cNvSpPr>
            <a:spLocks noChangeShapeType="1"/>
          </p:cNvSpPr>
          <p:nvPr/>
        </p:nvSpPr>
        <p:spPr bwMode="auto">
          <a:xfrm>
            <a:off x="6286500" y="1651000"/>
            <a:ext cx="0" cy="77946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0" name="Line 24"/>
          <p:cNvSpPr>
            <a:spLocks noChangeShapeType="1"/>
          </p:cNvSpPr>
          <p:nvPr/>
        </p:nvSpPr>
        <p:spPr bwMode="auto">
          <a:xfrm>
            <a:off x="6078538" y="1649413"/>
            <a:ext cx="211137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1" name="Line 25"/>
          <p:cNvSpPr>
            <a:spLocks noChangeShapeType="1"/>
          </p:cNvSpPr>
          <p:nvPr/>
        </p:nvSpPr>
        <p:spPr bwMode="auto">
          <a:xfrm>
            <a:off x="5975350" y="2408238"/>
            <a:ext cx="3063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2" name="Line 26"/>
          <p:cNvSpPr>
            <a:spLocks noChangeShapeType="1"/>
          </p:cNvSpPr>
          <p:nvPr/>
        </p:nvSpPr>
        <p:spPr bwMode="auto">
          <a:xfrm>
            <a:off x="5975350" y="2241550"/>
            <a:ext cx="9525" cy="16986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3" name="Line 27"/>
          <p:cNvSpPr>
            <a:spLocks noChangeShapeType="1"/>
          </p:cNvSpPr>
          <p:nvPr/>
        </p:nvSpPr>
        <p:spPr bwMode="auto">
          <a:xfrm flipH="1">
            <a:off x="5889625" y="1962150"/>
            <a:ext cx="11113" cy="2857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4" name="Line 28"/>
          <p:cNvSpPr>
            <a:spLocks noChangeShapeType="1"/>
          </p:cNvSpPr>
          <p:nvPr/>
        </p:nvSpPr>
        <p:spPr bwMode="auto">
          <a:xfrm flipH="1">
            <a:off x="5880100" y="1089025"/>
            <a:ext cx="11113" cy="2857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5" name="Line 29"/>
          <p:cNvSpPr>
            <a:spLocks noChangeShapeType="1"/>
          </p:cNvSpPr>
          <p:nvPr/>
        </p:nvSpPr>
        <p:spPr bwMode="auto">
          <a:xfrm>
            <a:off x="5888038" y="2259013"/>
            <a:ext cx="9525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3996090" y="5630863"/>
            <a:ext cx="5068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利用面形法处理复杂回转面问题：算上中心线，也是类似形。</a:t>
            </a:r>
            <a:endParaRPr kumimoji="1" lang="zh-CN" altLang="en-US" sz="2400" b="1" dirty="0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1000"/>
                                        <p:tgtEl>
                                          <p:spTgt spid="5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5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3000"/>
                                        <p:tgtEl>
                                          <p:spTgt spid="5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0"/>
                                        <p:tgtEl>
                                          <p:spTgt spid="5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1000"/>
                                        <p:tgtEl>
                                          <p:spTgt spid="5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animBg="1"/>
      <p:bldP spid="55305" grpId="0" animBg="1"/>
      <p:bldP spid="55306" grpId="0" animBg="1"/>
      <p:bldP spid="55309" grpId="0" animBg="1"/>
      <p:bldP spid="55310" grpId="0" animBg="1"/>
      <p:bldP spid="55311" grpId="0" animBg="1"/>
      <p:bldP spid="55312" grpId="0" animBg="1"/>
      <p:bldP spid="55313" grpId="0" animBg="1"/>
      <p:bldP spid="55314" grpId="0" animBg="1"/>
      <p:bldP spid="55315" grpId="0" animBg="1"/>
      <p:bldP spid="55317" grpId="0" animBg="1"/>
      <p:bldP spid="55318" grpId="0" animBg="1"/>
      <p:bldP spid="55319" grpId="0" animBg="1"/>
      <p:bldP spid="55320" grpId="0" animBg="1"/>
      <p:bldP spid="55321" grpId="0" animBg="1"/>
      <p:bldP spid="55322" grpId="0" animBg="1"/>
      <p:bldP spid="55323" grpId="0" animBg="1"/>
      <p:bldP spid="55324" grpId="0" animBg="1"/>
      <p:bldP spid="55325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44" r="-7687"/>
          <a:stretch>
            <a:fillRect/>
          </a:stretch>
        </p:blipFill>
        <p:spPr bwMode="auto">
          <a:xfrm>
            <a:off x="1476375" y="908050"/>
            <a:ext cx="6337300" cy="433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*4-1-2-9  作左视图（全剖视）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14694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1057275" y="974725"/>
          <a:ext cx="3856038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位图图像" r:id="rId3" imgW="4657143" imgH="5001323" progId="Paint.Picture">
                  <p:embed/>
                </p:oleObj>
              </mc:Choice>
              <mc:Fallback>
                <p:oleObj name="位图图像" r:id="rId3" imgW="4657143" imgH="500132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34" t="15388" r="35648" b="4941"/>
                      <a:stretch>
                        <a:fillRect/>
                      </a:stretch>
                    </p:blipFill>
                    <p:spPr bwMode="auto">
                      <a:xfrm>
                        <a:off x="1057275" y="974725"/>
                        <a:ext cx="3856038" cy="49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1484313" y="3059113"/>
            <a:ext cx="9159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6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？</a:t>
            </a:r>
            <a:endParaRPr kumimoji="1" lang="zh-CN" altLang="en-US" sz="6000" b="1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sp>
        <p:nvSpPr>
          <p:cNvPr id="164868" name="Line 4"/>
          <p:cNvSpPr>
            <a:spLocks noChangeShapeType="1"/>
          </p:cNvSpPr>
          <p:nvPr/>
        </p:nvSpPr>
        <p:spPr bwMode="auto">
          <a:xfrm>
            <a:off x="2162175" y="3657600"/>
            <a:ext cx="671513" cy="962025"/>
          </a:xfrm>
          <a:prstGeom prst="line">
            <a:avLst/>
          </a:prstGeom>
          <a:noFill/>
          <a:ln w="57150">
            <a:solidFill>
              <a:srgbClr val="FF0000">
                <a:alpha val="50195"/>
              </a:srgbClr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2300288" y="3394075"/>
            <a:ext cx="387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上大、下小</a:t>
            </a:r>
            <a:endParaRPr kumimoji="1" lang="zh-CN" altLang="en-US" sz="2400" b="1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  <p:pic>
        <p:nvPicPr>
          <p:cNvPr id="1648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29" t="15208" r="2074" b="44792"/>
          <a:stretch>
            <a:fillRect/>
          </a:stretch>
        </p:blipFill>
        <p:spPr bwMode="auto">
          <a:xfrm>
            <a:off x="6321425" y="941388"/>
            <a:ext cx="1824038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3" t="52844" r="2444" b="5048"/>
          <a:stretch>
            <a:fillRect/>
          </a:stretch>
        </p:blipFill>
        <p:spPr bwMode="auto">
          <a:xfrm>
            <a:off x="6364288" y="3522663"/>
            <a:ext cx="174307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*4-1-2-10  作左视图并在其上取适当的剖视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64873" name="AutoShape 9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10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/>
      <p:bldP spid="164868" grpId="0" animBg="1"/>
      <p:bldP spid="16486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1057275" y="974725"/>
          <a:ext cx="3856038" cy="49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位图图像" r:id="rId3" imgW="4657143" imgH="5001323" progId="Paint.Picture">
                  <p:embed/>
                </p:oleObj>
              </mc:Choice>
              <mc:Fallback>
                <p:oleObj name="位图图像" r:id="rId3" imgW="4657143" imgH="500132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34" t="15388" r="35648" b="4941"/>
                      <a:stretch>
                        <a:fillRect/>
                      </a:stretch>
                    </p:blipFill>
                    <p:spPr bwMode="auto">
                      <a:xfrm>
                        <a:off x="1057275" y="974725"/>
                        <a:ext cx="3856038" cy="49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*4-1-2-10  作左视图并在其上取适当的剖视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65897" name="AutoShape 9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3072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5" y="1254125"/>
            <a:ext cx="1916113" cy="207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902" name="Text Box 14"/>
          <p:cNvSpPr txBox="1">
            <a:spLocks noChangeArrowheads="1"/>
          </p:cNvSpPr>
          <p:nvPr/>
        </p:nvSpPr>
        <p:spPr bwMode="auto">
          <a:xfrm>
            <a:off x="5805488" y="4046538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黑体" pitchFamily="2" charset="-122"/>
                <a:ea typeface="黑体" pitchFamily="2" charset="-122"/>
              </a:rPr>
              <a:t>此方案不好</a:t>
            </a:r>
            <a:endParaRPr kumimoji="1" lang="zh-CN" altLang="en-US" sz="2400" b="1"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0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0" y="752475"/>
          <a:ext cx="9144000" cy="511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Image" r:id="rId3" imgW="14133333" imgH="8901587" progId="Photoshop.Image.6">
                  <p:embed/>
                </p:oleObj>
              </mc:Choice>
              <mc:Fallback>
                <p:oleObj name="Image" r:id="rId3" imgW="14133333" imgH="8901587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1136"/>
                      <a:stretch>
                        <a:fillRect/>
                      </a:stretch>
                    </p:blipFill>
                    <p:spPr bwMode="auto">
                      <a:xfrm>
                        <a:off x="0" y="752475"/>
                        <a:ext cx="9144000" cy="511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65" r="-13565"/>
          <a:stretch>
            <a:fillRect/>
          </a:stretch>
        </p:blipFill>
        <p:spPr bwMode="auto">
          <a:xfrm>
            <a:off x="1476375" y="908050"/>
            <a:ext cx="5400675" cy="355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*4-1-2-10  作左视图并在其上取适当的剖视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15717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/>
          <a:stretch>
            <a:fillRect/>
          </a:stretch>
        </p:blipFill>
        <p:spPr bwMode="auto">
          <a:xfrm>
            <a:off x="2195513" y="549275"/>
            <a:ext cx="4759325" cy="61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4-1-2-11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7351" name="AutoShape 7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7352" name="Oval 8"/>
          <p:cNvSpPr>
            <a:spLocks noChangeArrowheads="1"/>
          </p:cNvSpPr>
          <p:nvPr/>
        </p:nvSpPr>
        <p:spPr bwMode="auto">
          <a:xfrm>
            <a:off x="3233738" y="1243013"/>
            <a:ext cx="576262" cy="3397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V="1">
            <a:off x="1377245" y="1412874"/>
            <a:ext cx="2144624" cy="12738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31006" y="2718329"/>
            <a:ext cx="2534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圆孔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or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ISOCP" pitchFamily="2" charset="0"/>
                <a:ea typeface="黑体" pitchFamily="2" charset="-122"/>
                <a:cs typeface="ISOCP" pitchFamily="2" charset="0"/>
              </a:rPr>
              <a:t>方孔？</a:t>
            </a:r>
            <a:endParaRPr kumimoji="1" lang="zh-CN" altLang="en-US" sz="2400" b="1" dirty="0">
              <a:solidFill>
                <a:srgbClr val="FF0000"/>
              </a:solidFill>
              <a:latin typeface="ISOCP" pitchFamily="2" charset="0"/>
              <a:ea typeface="黑体" pitchFamily="2" charset="-122"/>
              <a:cs typeface="ISOCP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2" grpId="0" animBg="1"/>
      <p:bldP spid="6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179" r="-15036"/>
          <a:stretch>
            <a:fillRect/>
          </a:stretch>
        </p:blipFill>
        <p:spPr bwMode="auto">
          <a:xfrm>
            <a:off x="1331913" y="981075"/>
            <a:ext cx="5832475" cy="2857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4-1-2-11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16741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8155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4-1-2-12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8374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3876675" y="4429125"/>
            <a:ext cx="325438" cy="3492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04" r="-49254"/>
          <a:stretch>
            <a:fillRect/>
          </a:stretch>
        </p:blipFill>
        <p:spPr bwMode="auto">
          <a:xfrm>
            <a:off x="1403350" y="908050"/>
            <a:ext cx="5905500" cy="3078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4-1-2-12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17765" name="AutoShape 5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 b="16855"/>
          <a:stretch>
            <a:fillRect/>
          </a:stretch>
        </p:blipFill>
        <p:spPr bwMode="auto">
          <a:xfrm>
            <a:off x="2195513" y="476250"/>
            <a:ext cx="4768850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4-1-2-13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9398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9388" y="2631626"/>
            <a:ext cx="232674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>
                <a:ea typeface="黑体" pitchFamily="2" charset="-122"/>
              </a:rPr>
              <a:t>半剖视以对称中心线为界，一半</a:t>
            </a:r>
            <a:r>
              <a:rPr lang="zh-CN" altLang="en-US" sz="2000" dirty="0">
                <a:ea typeface="黑体" pitchFamily="2" charset="-122"/>
              </a:rPr>
              <a:t>画视图</a:t>
            </a:r>
            <a:r>
              <a:rPr lang="zh-CN" altLang="en-US" sz="2000" dirty="0" smtClean="0">
                <a:ea typeface="黑体" pitchFamily="2" charset="-122"/>
              </a:rPr>
              <a:t>，一半</a:t>
            </a:r>
            <a:r>
              <a:rPr lang="zh-CN" altLang="en-US" sz="2000" dirty="0">
                <a:ea typeface="黑体" pitchFamily="2" charset="-122"/>
              </a:rPr>
              <a:t>画剖视。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2393244" y="3139457"/>
            <a:ext cx="1174044" cy="50783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2393244" y="2291644"/>
            <a:ext cx="1174044" cy="6739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4-1-2-13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891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47"/>
          <a:stretch>
            <a:fillRect/>
          </a:stretch>
        </p:blipFill>
        <p:spPr bwMode="auto">
          <a:xfrm>
            <a:off x="1258888" y="908050"/>
            <a:ext cx="6553200" cy="3573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90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8790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4-1-2-14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0422" name="AutoShape 6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0423" name="Oval 7"/>
          <p:cNvSpPr>
            <a:spLocks noChangeArrowheads="1"/>
          </p:cNvSpPr>
          <p:nvPr/>
        </p:nvSpPr>
        <p:spPr bwMode="auto">
          <a:xfrm>
            <a:off x="5913438" y="1704975"/>
            <a:ext cx="576262" cy="33972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4-1-2-14  改正剖视图中的错误，少线处补线，多线处在其上打×。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096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052513"/>
            <a:ext cx="59309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5" name="AutoShape 7"/>
          <p:cNvSpPr>
            <a:spLocks noChangeArrowheads="1"/>
          </p:cNvSpPr>
          <p:nvPr/>
        </p:nvSpPr>
        <p:spPr bwMode="auto">
          <a:xfrm>
            <a:off x="179388" y="549275"/>
            <a:ext cx="503237" cy="4318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3352</TotalTime>
  <Words>555</Words>
  <Application>Microsoft Office PowerPoint</Application>
  <PresentationFormat>全屏显示(4:3)</PresentationFormat>
  <Paragraphs>83</Paragraphs>
  <Slides>38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Blends</vt:lpstr>
      <vt:lpstr>位图图像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162</cp:revision>
  <dcterms:created xsi:type="dcterms:W3CDTF">2006-04-04T11:38:05Z</dcterms:created>
  <dcterms:modified xsi:type="dcterms:W3CDTF">2023-12-03T09:34:48Z</dcterms:modified>
</cp:coreProperties>
</file>