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2" d="100"/>
          <a:sy n="62" d="100"/>
        </p:scale>
        <p:origin x="-151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1546654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3531400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1344431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987042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81438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1175806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673303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1913005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417952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4003652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1377281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750C10-217D-4C83-9574-EBF3D8C3F271}" type="datetimeFigureOut">
              <a:rPr lang="zh-CN" altLang="en-US" smtClean="0"/>
              <a:t>2013/4/23 Tuesday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5B89DD-1A3B-4E03-90A2-449E5027D6DE}" type="slidenum">
              <a:rPr lang="zh-CN" altLang="en-US" smtClean="0"/>
              <a:t>‹#›</a:t>
            </a:fld>
            <a:endParaRPr lang="zh-CN" altLang="en-US"/>
          </a:p>
        </p:txBody>
      </p:sp>
    </p:spTree>
    <p:extLst>
      <p:ext uri="{BB962C8B-B14F-4D97-AF65-F5344CB8AC3E}">
        <p14:creationId xmlns:p14="http://schemas.microsoft.com/office/powerpoint/2010/main" val="44405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8.emf"/><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 Id="rId9"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051720" y="2060848"/>
            <a:ext cx="4608512" cy="3139321"/>
          </a:xfrm>
          <a:prstGeom prst="rect">
            <a:avLst/>
          </a:prstGeom>
          <a:noFill/>
        </p:spPr>
        <p:txBody>
          <a:bodyPr wrap="square" rtlCol="0">
            <a:spAutoFit/>
          </a:bodyPr>
          <a:lstStyle/>
          <a:p>
            <a:r>
              <a:rPr lang="zh-CN" altLang="en-US" dirty="0" smtClean="0"/>
              <a:t>当上部荷超过地基土应力</a:t>
            </a:r>
            <a:r>
              <a:rPr lang="en-US" altLang="zh-CN" dirty="0" smtClean="0"/>
              <a:t>-</a:t>
            </a:r>
            <a:r>
              <a:rPr lang="zh-CN" altLang="en-US" dirty="0" smtClean="0"/>
              <a:t>应变曲线上第一拐点（比例极限）时，基础两侧边缘将出现塑性区并不断向深部发展。如假定上部为均布的柔性荷载，两侧埋深上的土重亦按均布荷载考虑，根据弹性理论中的平面问题计算地集中的附加应力，并按库伦破坏条件，验算各点的剪应力。当等于或大于抗剪强度时，则该点位于塑性区内，如此即可求出对应于塑性区开展到基础底面两侧边缘下相当于基础底面宽度四分之一的深度时，相应的临界承载力 。</a:t>
            </a:r>
            <a:endParaRPr lang="zh-CN" altLang="en-US" dirty="0"/>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计算思路</a:t>
            </a:r>
            <a:endParaRPr lang="zh-CN" altLang="en-US" dirty="0"/>
          </a:p>
        </p:txBody>
      </p:sp>
    </p:spTree>
    <p:extLst>
      <p:ext uri="{BB962C8B-B14F-4D97-AF65-F5344CB8AC3E}">
        <p14:creationId xmlns:p14="http://schemas.microsoft.com/office/powerpoint/2010/main" val="9954880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计算过程</a:t>
            </a:r>
            <a:endParaRPr lang="zh-CN" altLang="en-US" dirty="0"/>
          </a:p>
        </p:txBody>
      </p:sp>
      <p:pic>
        <p:nvPicPr>
          <p:cNvPr id="1028" name="Picture 4"/>
          <p:cNvPicPr>
            <a:picLocks noChangeAspect="1" noChangeArrowheads="1"/>
          </p:cNvPicPr>
          <p:nvPr/>
        </p:nvPicPr>
        <p:blipFill rotWithShape="1">
          <a:blip r:embed="rId3">
            <a:lum bright="-60000" contrast="80000"/>
            <a:extLst>
              <a:ext uri="{28A0092B-C50C-407E-A947-70E740481C1C}">
                <a14:useLocalDpi xmlns:a14="http://schemas.microsoft.com/office/drawing/2010/main" val="0"/>
              </a:ext>
            </a:extLst>
          </a:blip>
          <a:srcRect r="7069" b="37094"/>
          <a:stretch/>
        </p:blipFill>
        <p:spPr bwMode="auto">
          <a:xfrm>
            <a:off x="2555776" y="860519"/>
            <a:ext cx="4130774" cy="281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929336321"/>
              </p:ext>
            </p:extLst>
          </p:nvPr>
        </p:nvGraphicFramePr>
        <p:xfrm>
          <a:off x="3621088" y="4437112"/>
          <a:ext cx="1476375" cy="390525"/>
        </p:xfrm>
        <a:graphic>
          <a:graphicData uri="http://schemas.openxmlformats.org/presentationml/2006/ole">
            <mc:AlternateContent xmlns:mc="http://schemas.openxmlformats.org/markup-compatibility/2006">
              <mc:Choice xmlns:v="urn:schemas-microsoft-com:vml" Requires="v">
                <p:oleObj spid="_x0000_s1035" name="Equation" r:id="rId4" imgW="1473200" imgH="393700" progId="Equation.DSMT4">
                  <p:embed/>
                </p:oleObj>
              </mc:Choice>
              <mc:Fallback>
                <p:oleObj name="Equation" r:id="rId4" imgW="1473200" imgH="3937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1088" y="4437112"/>
                        <a:ext cx="147637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460670738"/>
              </p:ext>
            </p:extLst>
          </p:nvPr>
        </p:nvGraphicFramePr>
        <p:xfrm>
          <a:off x="3654996" y="5301208"/>
          <a:ext cx="1447800" cy="390525"/>
        </p:xfrm>
        <a:graphic>
          <a:graphicData uri="http://schemas.openxmlformats.org/presentationml/2006/ole">
            <mc:AlternateContent xmlns:mc="http://schemas.openxmlformats.org/markup-compatibility/2006">
              <mc:Choice xmlns:v="urn:schemas-microsoft-com:vml" Requires="v">
                <p:oleObj spid="_x0000_s1036" name="Equation" r:id="rId6" imgW="1447172" imgH="393529" progId="Equation.DSMT4">
                  <p:embed/>
                </p:oleObj>
              </mc:Choice>
              <mc:Fallback>
                <p:oleObj name="Equation" r:id="rId6" imgW="1447172" imgH="393529"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4996" y="5301208"/>
                        <a:ext cx="14478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971600" y="3861048"/>
            <a:ext cx="1997663" cy="369332"/>
          </a:xfrm>
          <a:prstGeom prst="rect">
            <a:avLst/>
          </a:prstGeom>
        </p:spPr>
        <p:txBody>
          <a:bodyPr wrap="none">
            <a:spAutoFit/>
          </a:bodyPr>
          <a:lstStyle/>
          <a:p>
            <a:r>
              <a:rPr lang="en-US" altLang="zh-CN" dirty="0"/>
              <a:t>M</a:t>
            </a:r>
            <a:r>
              <a:rPr lang="zh-CN" altLang="zh-CN" dirty="0"/>
              <a:t>处的附加应力为</a:t>
            </a:r>
          </a:p>
        </p:txBody>
      </p:sp>
    </p:spTree>
    <p:extLst>
      <p:ext uri="{BB962C8B-B14F-4D97-AF65-F5344CB8AC3E}">
        <p14:creationId xmlns:p14="http://schemas.microsoft.com/office/powerpoint/2010/main" val="22778099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051720" y="2060848"/>
            <a:ext cx="4608512" cy="1477328"/>
          </a:xfrm>
          <a:prstGeom prst="rect">
            <a:avLst/>
          </a:prstGeom>
          <a:noFill/>
        </p:spPr>
        <p:txBody>
          <a:bodyPr wrap="square" rtlCol="0">
            <a:spAutoFit/>
          </a:bodyPr>
          <a:lstStyle/>
          <a:p>
            <a:r>
              <a:rPr lang="en-US" altLang="zh-CN" dirty="0"/>
              <a:t>M</a:t>
            </a:r>
            <a:r>
              <a:rPr lang="zh-CN" altLang="zh-CN" dirty="0"/>
              <a:t>点的总应力即附加应力和自重应力之和</a:t>
            </a:r>
            <a:r>
              <a:rPr lang="en-US" altLang="zh-CN" dirty="0"/>
              <a:t>, </a:t>
            </a:r>
            <a:r>
              <a:rPr lang="zh-CN" altLang="zh-CN" dirty="0"/>
              <a:t>因为两者的作用方向不一致</a:t>
            </a:r>
            <a:r>
              <a:rPr lang="en-US" altLang="zh-CN" dirty="0"/>
              <a:t>, </a:t>
            </a:r>
            <a:r>
              <a:rPr lang="zh-CN" altLang="zh-CN" dirty="0"/>
              <a:t>不能直接相加</a:t>
            </a:r>
            <a:r>
              <a:rPr lang="en-US" altLang="zh-CN" dirty="0"/>
              <a:t>, </a:t>
            </a:r>
            <a:r>
              <a:rPr lang="zh-CN" altLang="zh-CN" dirty="0"/>
              <a:t>所以假定自重应力场如同静水应力</a:t>
            </a:r>
            <a:r>
              <a:rPr lang="en-US" altLang="zh-CN" dirty="0"/>
              <a:t>, </a:t>
            </a:r>
            <a:r>
              <a:rPr lang="zh-CN" altLang="zh-CN" dirty="0"/>
              <a:t>即在同一深度处各个方向上的应力均相同且无剪应力</a:t>
            </a:r>
            <a:r>
              <a:rPr lang="en-US" altLang="zh-CN" dirty="0"/>
              <a:t>. </a:t>
            </a:r>
            <a:r>
              <a:rPr lang="zh-CN" altLang="zh-CN" dirty="0"/>
              <a:t>于是得到</a:t>
            </a:r>
            <a:r>
              <a:rPr lang="en-US" altLang="zh-CN" dirty="0"/>
              <a:t>M</a:t>
            </a:r>
            <a:r>
              <a:rPr lang="zh-CN" altLang="zh-CN" dirty="0"/>
              <a:t>点的总应力为</a:t>
            </a:r>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计算过程</a:t>
            </a:r>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475107449"/>
              </p:ext>
            </p:extLst>
          </p:nvPr>
        </p:nvGraphicFramePr>
        <p:xfrm>
          <a:off x="215516" y="3538176"/>
          <a:ext cx="8712968" cy="832708"/>
        </p:xfrm>
        <a:graphic>
          <a:graphicData uri="http://schemas.openxmlformats.org/presentationml/2006/ole">
            <mc:AlternateContent xmlns:mc="http://schemas.openxmlformats.org/markup-compatibility/2006">
              <mc:Choice xmlns:v="urn:schemas-microsoft-com:vml" Requires="v">
                <p:oleObj spid="_x0000_s4100" name="Equation" r:id="rId3" imgW="4089400" imgH="393700" progId="Equation.DSMT4">
                  <p:embed/>
                </p:oleObj>
              </mc:Choice>
              <mc:Fallback>
                <p:oleObj name="Equation" r:id="rId3" imgW="4089400" imgH="3937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516" y="3538176"/>
                        <a:ext cx="8712968" cy="832708"/>
                      </a:xfrm>
                      <a:prstGeom prst="rect">
                        <a:avLst/>
                      </a:prstGeom>
                      <a:noFill/>
                    </p:spPr>
                  </p:pic>
                </p:oleObj>
              </mc:Fallback>
            </mc:AlternateContent>
          </a:graphicData>
        </a:graphic>
      </p:graphicFrame>
    </p:spTree>
    <p:extLst>
      <p:ext uri="{BB962C8B-B14F-4D97-AF65-F5344CB8AC3E}">
        <p14:creationId xmlns:p14="http://schemas.microsoft.com/office/powerpoint/2010/main" val="995488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计算过程</a:t>
            </a:r>
            <a:endParaRPr lang="zh-CN" altLang="en-US" dirty="0"/>
          </a:p>
        </p:txBody>
      </p:sp>
      <p:pic>
        <p:nvPicPr>
          <p:cNvPr id="3073" name="Picture 1"/>
          <p:cNvPicPr>
            <a:picLocks noChangeAspect="1" noChangeArrowheads="1"/>
          </p:cNvPicPr>
          <p:nvPr/>
        </p:nvPicPr>
        <p:blipFill rotWithShape="1">
          <a:blip r:embed="rId3">
            <a:lum bright="-60000" contrast="80000"/>
            <a:extLst>
              <a:ext uri="{28A0092B-C50C-407E-A947-70E740481C1C}">
                <a14:useLocalDpi xmlns:a14="http://schemas.microsoft.com/office/drawing/2010/main" val="0"/>
              </a:ext>
            </a:extLst>
          </a:blip>
          <a:srcRect r="4222" b="18420"/>
          <a:stretch/>
        </p:blipFill>
        <p:spPr bwMode="auto">
          <a:xfrm>
            <a:off x="2843808" y="188640"/>
            <a:ext cx="462379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4155833530"/>
              </p:ext>
            </p:extLst>
          </p:nvPr>
        </p:nvGraphicFramePr>
        <p:xfrm>
          <a:off x="3047802" y="3212976"/>
          <a:ext cx="2209800" cy="762000"/>
        </p:xfrm>
        <a:graphic>
          <a:graphicData uri="http://schemas.openxmlformats.org/presentationml/2006/ole">
            <mc:AlternateContent xmlns:mc="http://schemas.openxmlformats.org/markup-compatibility/2006">
              <mc:Choice xmlns:v="urn:schemas-microsoft-com:vml" Requires="v">
                <p:oleObj spid="_x0000_s3087" name="Equation" r:id="rId4" imgW="2209800" imgH="762000" progId="Equation.DSMT4">
                  <p:embed/>
                </p:oleObj>
              </mc:Choice>
              <mc:Fallback>
                <p:oleObj name="Equation" r:id="rId4" imgW="2209800" imgH="762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7802" y="3212976"/>
                        <a:ext cx="22098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51863842"/>
              </p:ext>
            </p:extLst>
          </p:nvPr>
        </p:nvGraphicFramePr>
        <p:xfrm>
          <a:off x="2904927" y="4293096"/>
          <a:ext cx="2352675" cy="419100"/>
        </p:xfrm>
        <a:graphic>
          <a:graphicData uri="http://schemas.openxmlformats.org/presentationml/2006/ole">
            <mc:AlternateContent xmlns:mc="http://schemas.openxmlformats.org/markup-compatibility/2006">
              <mc:Choice xmlns:v="urn:schemas-microsoft-com:vml" Requires="v">
                <p:oleObj spid="_x0000_s3088" name="Equation" r:id="rId6" imgW="2349500" imgH="419100" progId="Equation.DSMT4">
                  <p:embed/>
                </p:oleObj>
              </mc:Choice>
              <mc:Fallback>
                <p:oleObj name="Equation" r:id="rId6" imgW="2349500" imgH="4191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927" y="4293096"/>
                        <a:ext cx="235267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2"/>
          <p:cNvSpPr/>
          <p:nvPr/>
        </p:nvSpPr>
        <p:spPr>
          <a:xfrm>
            <a:off x="1475656" y="5013176"/>
            <a:ext cx="1569660" cy="369332"/>
          </a:xfrm>
          <a:prstGeom prst="rect">
            <a:avLst/>
          </a:prstGeom>
        </p:spPr>
        <p:txBody>
          <a:bodyPr wrap="none">
            <a:spAutoFit/>
          </a:bodyPr>
          <a:lstStyle/>
          <a:p>
            <a:r>
              <a:rPr lang="zh-CN" altLang="zh-CN" dirty="0"/>
              <a:t>对上式求极值</a:t>
            </a:r>
            <a:endParaRPr lang="zh-CN" altLang="en-US" dirty="0"/>
          </a:p>
        </p:txBody>
      </p:sp>
      <p:sp>
        <p:nvSpPr>
          <p:cNvPr id="14"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1507543892"/>
              </p:ext>
            </p:extLst>
          </p:nvPr>
        </p:nvGraphicFramePr>
        <p:xfrm>
          <a:off x="2843808" y="5733256"/>
          <a:ext cx="2628900" cy="419100"/>
        </p:xfrm>
        <a:graphic>
          <a:graphicData uri="http://schemas.openxmlformats.org/presentationml/2006/ole">
            <mc:AlternateContent xmlns:mc="http://schemas.openxmlformats.org/markup-compatibility/2006">
              <mc:Choice xmlns:v="urn:schemas-microsoft-com:vml" Requires="v">
                <p:oleObj spid="_x0000_s3089" name="Equation" r:id="rId8" imgW="2628900" imgH="419100" progId="Equation.DSMT4">
                  <p:embed/>
                </p:oleObj>
              </mc:Choice>
              <mc:Fallback>
                <p:oleObj name="Equation" r:id="rId8" imgW="2628900" imgH="4191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3808" y="5733256"/>
                        <a:ext cx="26289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954880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051720" y="2060848"/>
            <a:ext cx="4608512" cy="923330"/>
          </a:xfrm>
          <a:prstGeom prst="rect">
            <a:avLst/>
          </a:prstGeom>
          <a:noFill/>
        </p:spPr>
        <p:txBody>
          <a:bodyPr wrap="square" rtlCol="0">
            <a:spAutoFit/>
          </a:bodyPr>
          <a:lstStyle/>
          <a:p>
            <a:r>
              <a:rPr lang="zh-CN" altLang="zh-CN" dirty="0"/>
              <a:t>根据经验再汇总新垂直荷载作用下，地基中可允许的塑性区深度</a:t>
            </a:r>
            <a:r>
              <a:rPr lang="en-US" altLang="zh-CN" dirty="0"/>
              <a:t> </a:t>
            </a:r>
            <a:r>
              <a:rPr lang="en-US" altLang="zh-CN" dirty="0" smtClean="0"/>
              <a:t>b/4</a:t>
            </a:r>
            <a:r>
              <a:rPr lang="zh-CN" altLang="zh-CN" dirty="0" smtClean="0"/>
              <a:t>（</a:t>
            </a:r>
            <a:r>
              <a:rPr lang="en-US" altLang="zh-CN" dirty="0"/>
              <a:t>b</a:t>
            </a:r>
            <a:r>
              <a:rPr lang="zh-CN" altLang="zh-CN" dirty="0"/>
              <a:t>为基础深度），带入得到有限塑性区荷载</a:t>
            </a:r>
            <a:endParaRPr lang="zh-CN" altLang="en-US" dirty="0"/>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a:t>
            </a:r>
            <a:r>
              <a:rPr lang="zh-CN" altLang="en-US" dirty="0"/>
              <a:t>过程</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397125797"/>
              </p:ext>
            </p:extLst>
          </p:nvPr>
        </p:nvGraphicFramePr>
        <p:xfrm>
          <a:off x="1907704" y="3645024"/>
          <a:ext cx="5600700" cy="762000"/>
        </p:xfrm>
        <a:graphic>
          <a:graphicData uri="http://schemas.openxmlformats.org/presentationml/2006/ole">
            <mc:AlternateContent xmlns:mc="http://schemas.openxmlformats.org/markup-compatibility/2006">
              <mc:Choice xmlns:v="urn:schemas-microsoft-com:vml" Requires="v">
                <p:oleObj spid="_x0000_s2051" name="Equation" r:id="rId3" imgW="5600700" imgH="762000" progId="Equation.DSMT4">
                  <p:embed/>
                </p:oleObj>
              </mc:Choice>
              <mc:Fallback>
                <p:oleObj name="Equation" r:id="rId3" imgW="5600700" imgH="7620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3645024"/>
                        <a:ext cx="56007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954880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99592" y="1268760"/>
            <a:ext cx="4608512" cy="923330"/>
          </a:xfrm>
          <a:prstGeom prst="rect">
            <a:avLst/>
          </a:prstGeom>
          <a:noFill/>
        </p:spPr>
        <p:txBody>
          <a:bodyPr wrap="square" rtlCol="0">
            <a:spAutoFit/>
          </a:bodyPr>
          <a:lstStyle/>
          <a:p>
            <a:r>
              <a:rPr lang="zh-CN" altLang="zh-CN" dirty="0"/>
              <a:t>当偏心距</a:t>
            </a:r>
            <a:r>
              <a:rPr lang="en-US" altLang="zh-CN" dirty="0"/>
              <a:t>e</a:t>
            </a:r>
            <a:r>
              <a:rPr lang="zh-CN" altLang="zh-CN" dirty="0"/>
              <a:t>小于或等于</a:t>
            </a:r>
            <a:r>
              <a:rPr lang="en-US" altLang="zh-CN" dirty="0"/>
              <a:t>0.033</a:t>
            </a:r>
            <a:r>
              <a:rPr lang="zh-CN" altLang="zh-CN" dirty="0"/>
              <a:t>倍基础底面宽度时，根据土的抗剪强度指标确定地基承载力特征值可按下式计算，并应满足变形要求：</a:t>
            </a:r>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规范公式</a:t>
            </a:r>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503121072"/>
              </p:ext>
            </p:extLst>
          </p:nvPr>
        </p:nvGraphicFramePr>
        <p:xfrm>
          <a:off x="1554510" y="2852936"/>
          <a:ext cx="6034980" cy="804664"/>
        </p:xfrm>
        <a:graphic>
          <a:graphicData uri="http://schemas.openxmlformats.org/presentationml/2006/ole">
            <mc:AlternateContent xmlns:mc="http://schemas.openxmlformats.org/markup-compatibility/2006">
              <mc:Choice xmlns:v="urn:schemas-microsoft-com:vml" Requires="v">
                <p:oleObj spid="_x0000_s9219" name="Equation" r:id="rId3" imgW="1714500" imgH="228600" progId="Equation.DSMT4">
                  <p:embed/>
                </p:oleObj>
              </mc:Choice>
              <mc:Fallback>
                <p:oleObj name="Equation" r:id="rId3" imgW="17145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4510" y="2852936"/>
                        <a:ext cx="6034980" cy="804664"/>
                      </a:xfrm>
                      <a:prstGeom prst="rect">
                        <a:avLst/>
                      </a:prstGeom>
                      <a:noFill/>
                    </p:spPr>
                  </p:pic>
                </p:oleObj>
              </mc:Fallback>
            </mc:AlternateContent>
          </a:graphicData>
        </a:graphic>
      </p:graphicFrame>
    </p:spTree>
    <p:extLst>
      <p:ext uri="{BB962C8B-B14F-4D97-AF65-F5344CB8AC3E}">
        <p14:creationId xmlns:p14="http://schemas.microsoft.com/office/powerpoint/2010/main" val="9668832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051720" y="2060848"/>
            <a:ext cx="4608512" cy="2031325"/>
          </a:xfrm>
          <a:prstGeom prst="rect">
            <a:avLst/>
          </a:prstGeom>
          <a:noFill/>
        </p:spPr>
        <p:txBody>
          <a:bodyPr wrap="square" rtlCol="0">
            <a:spAutoFit/>
          </a:bodyPr>
          <a:lstStyle/>
          <a:p>
            <a:r>
              <a:rPr lang="en-US" altLang="zh-CN" dirty="0"/>
              <a:t>1</a:t>
            </a:r>
            <a:r>
              <a:rPr lang="zh-CN" altLang="zh-CN" dirty="0"/>
              <a:t>、假定了土的自重应力在各个方向上相等，实际上是不相等的；</a:t>
            </a:r>
          </a:p>
          <a:p>
            <a:r>
              <a:rPr lang="en-US" altLang="zh-CN" dirty="0"/>
              <a:t>2</a:t>
            </a:r>
            <a:r>
              <a:rPr lang="zh-CN" altLang="zh-CN" dirty="0"/>
              <a:t>、公式是在均布条形荷载情况下推导的，通常对矩形和圆形的基础也采用这个公式计</a:t>
            </a:r>
          </a:p>
          <a:p>
            <a:r>
              <a:rPr lang="zh-CN" altLang="zh-CN" dirty="0"/>
              <a:t>算，结果偏于安全；</a:t>
            </a:r>
          </a:p>
          <a:p>
            <a:r>
              <a:rPr lang="en-US" altLang="zh-CN" dirty="0"/>
              <a:t>3</a:t>
            </a:r>
            <a:r>
              <a:rPr lang="zh-CN" altLang="zh-CN" dirty="0"/>
              <a:t>、在临塑荷载的推导中采用了弹性力学的解答，在塑性变形阶段是严格的；</a:t>
            </a:r>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计算过程不足</a:t>
            </a:r>
            <a:endParaRPr lang="zh-CN" altLang="en-US" dirty="0"/>
          </a:p>
        </p:txBody>
      </p:sp>
    </p:spTree>
    <p:extLst>
      <p:ext uri="{BB962C8B-B14F-4D97-AF65-F5344CB8AC3E}">
        <p14:creationId xmlns:p14="http://schemas.microsoft.com/office/powerpoint/2010/main" val="966883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187624" y="1484784"/>
            <a:ext cx="5904656" cy="3416320"/>
          </a:xfrm>
          <a:prstGeom prst="rect">
            <a:avLst/>
          </a:prstGeom>
          <a:noFill/>
        </p:spPr>
        <p:txBody>
          <a:bodyPr wrap="square" rtlCol="0">
            <a:spAutoFit/>
          </a:bodyPr>
          <a:lstStyle/>
          <a:p>
            <a:r>
              <a:rPr lang="zh-CN" altLang="zh-CN" dirty="0"/>
              <a:t>由于比较是在取宽度</a:t>
            </a:r>
            <a:r>
              <a:rPr lang="en-US" altLang="zh-CN" dirty="0"/>
              <a:t>b=3m</a:t>
            </a:r>
            <a:r>
              <a:rPr lang="zh-CN" altLang="zh-CN" dirty="0"/>
              <a:t>的条件下进行的，故规定对于砂土，小于</a:t>
            </a:r>
            <a:r>
              <a:rPr lang="en-US" altLang="zh-CN" dirty="0"/>
              <a:t>3m</a:t>
            </a:r>
            <a:r>
              <a:rPr lang="zh-CN" altLang="zh-CN" dirty="0"/>
              <a:t>时按</a:t>
            </a:r>
            <a:r>
              <a:rPr lang="en-US" altLang="zh-CN" dirty="0"/>
              <a:t>3m</a:t>
            </a:r>
            <a:r>
              <a:rPr lang="zh-CN" altLang="zh-CN" dirty="0"/>
              <a:t>取值。另一方面，当基础宽度增大时，公示的计算值增大很快，对此宜慎重选用，而基础宽度增大，也必须导致沉降量和差异沉降量增大，对上层结构带来不利的影响，为此，有规定了当基础底面宽度大于</a:t>
            </a:r>
            <a:r>
              <a:rPr lang="en-US" altLang="zh-CN" dirty="0"/>
              <a:t>6m</a:t>
            </a:r>
            <a:r>
              <a:rPr lang="zh-CN" altLang="zh-CN" dirty="0"/>
              <a:t>时，按</a:t>
            </a:r>
            <a:r>
              <a:rPr lang="en-US" altLang="zh-CN" dirty="0"/>
              <a:t>6m</a:t>
            </a:r>
            <a:r>
              <a:rPr lang="zh-CN" altLang="zh-CN" dirty="0"/>
              <a:t>取值。</a:t>
            </a:r>
          </a:p>
          <a:p>
            <a:r>
              <a:rPr lang="zh-CN" altLang="zh-CN" dirty="0"/>
              <a:t>由于该公式是在条形基础、均布荷载、均质土的条件下推导出的，当受到较大的水平荷载而使合理的偏心距过大时，地基反力分布将很不均匀。根据本规范规定，在偏心荷载下允许基础底面边缘的最大应力</a:t>
            </a:r>
            <a:r>
              <a:rPr lang="en-US" altLang="zh-CN" dirty="0"/>
              <a:t> </a:t>
            </a:r>
            <a:r>
              <a:rPr lang="zh-CN" altLang="zh-CN" dirty="0"/>
              <a:t>为平均压力值</a:t>
            </a:r>
            <a:r>
              <a:rPr lang="en-US" altLang="zh-CN" dirty="0"/>
              <a:t> </a:t>
            </a:r>
            <a:r>
              <a:rPr lang="zh-CN" altLang="zh-CN" dirty="0"/>
              <a:t>的</a:t>
            </a:r>
            <a:r>
              <a:rPr lang="en-US" altLang="zh-CN" dirty="0"/>
              <a:t>1.2</a:t>
            </a:r>
            <a:r>
              <a:rPr lang="zh-CN" altLang="zh-CN" dirty="0"/>
              <a:t>倍，对该公示的应用，相应增加了一个限制条件为：荷载合力的偏心距</a:t>
            </a:r>
            <a:r>
              <a:rPr lang="en-US" altLang="zh-CN" dirty="0"/>
              <a:t>e</a:t>
            </a:r>
            <a:r>
              <a:rPr lang="zh-CN" altLang="zh-CN" dirty="0"/>
              <a:t>应小于或等于</a:t>
            </a:r>
            <a:r>
              <a:rPr lang="en-US" altLang="zh-CN" dirty="0"/>
              <a:t>0.033</a:t>
            </a:r>
            <a:r>
              <a:rPr lang="zh-CN" altLang="zh-CN" dirty="0"/>
              <a:t>倍基础底面宽度的要求。</a:t>
            </a:r>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规范公式注意</a:t>
            </a:r>
            <a:endParaRPr lang="zh-CN" altLang="en-US" dirty="0"/>
          </a:p>
        </p:txBody>
      </p:sp>
    </p:spTree>
    <p:extLst>
      <p:ext uri="{BB962C8B-B14F-4D97-AF65-F5344CB8AC3E}">
        <p14:creationId xmlns:p14="http://schemas.microsoft.com/office/powerpoint/2010/main" val="9668832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051720" y="2060848"/>
            <a:ext cx="4608512" cy="3693319"/>
          </a:xfrm>
          <a:prstGeom prst="rect">
            <a:avLst/>
          </a:prstGeom>
          <a:noFill/>
        </p:spPr>
        <p:txBody>
          <a:bodyPr wrap="square" rtlCol="0">
            <a:spAutoFit/>
          </a:bodyPr>
          <a:lstStyle/>
          <a:p>
            <a:r>
              <a:rPr lang="zh-CN" altLang="zh-CN" dirty="0"/>
              <a:t>（</a:t>
            </a:r>
            <a:r>
              <a:rPr lang="en-US" altLang="zh-CN" dirty="0"/>
              <a:t>1</a:t>
            </a:r>
            <a:r>
              <a:rPr lang="zh-CN" altLang="zh-CN" dirty="0"/>
              <a:t>）由于水的浮力作用，将使土的有效重量减小而降低土的承载能力，当土在水下时，应采用浮重度，而一般土的浮重度仅为天然湿重度的</a:t>
            </a:r>
            <a:r>
              <a:rPr lang="en-US" altLang="zh-CN" dirty="0"/>
              <a:t>0.5-0.7</a:t>
            </a:r>
            <a:r>
              <a:rPr lang="zh-CN" altLang="zh-CN" dirty="0"/>
              <a:t>倍，因之，地下水位上升将试图的承载力大为降低，因此，在计算确定承载力时，必须充分估计地下水位变化的可能与趋势。</a:t>
            </a:r>
          </a:p>
          <a:p>
            <a:r>
              <a:rPr lang="zh-CN" altLang="zh-CN" dirty="0"/>
              <a:t>（</a:t>
            </a:r>
            <a:r>
              <a:rPr lang="en-US" altLang="zh-CN" dirty="0"/>
              <a:t>2</a:t>
            </a:r>
            <a:r>
              <a:rPr lang="zh-CN" altLang="zh-CN" dirty="0"/>
              <a:t>）由土重引起的承载力，不仅决定于土的物理力学性质，而且随着基础的增大而增加，但研究指出，在一定</a:t>
            </a:r>
            <a:r>
              <a:rPr lang="en-US" altLang="zh-CN" dirty="0"/>
              <a:t> </a:t>
            </a:r>
            <a:r>
              <a:rPr lang="zh-CN" altLang="zh-CN" dirty="0"/>
              <a:t>值时，承载力系数</a:t>
            </a:r>
            <a:r>
              <a:rPr lang="en-US" altLang="zh-CN" dirty="0"/>
              <a:t> </a:t>
            </a:r>
            <a:r>
              <a:rPr lang="zh-CN" altLang="zh-CN" dirty="0"/>
              <a:t>随基础尺寸的增大而减小，因之，在现有的规范公示中，对于宽度的考虑，往往加以限制，甚至不考虑这一项，或者采用较低的</a:t>
            </a:r>
            <a:r>
              <a:rPr lang="en-US" altLang="zh-CN" dirty="0"/>
              <a:t> </a:t>
            </a:r>
            <a:r>
              <a:rPr lang="zh-CN" altLang="zh-CN" dirty="0"/>
              <a:t>值。</a:t>
            </a:r>
          </a:p>
        </p:txBody>
      </p:sp>
      <p:sp>
        <p:nvSpPr>
          <p:cNvPr id="9" name="TextBox 8"/>
          <p:cNvSpPr txBox="1"/>
          <p:nvPr/>
        </p:nvSpPr>
        <p:spPr>
          <a:xfrm>
            <a:off x="1331640" y="491187"/>
            <a:ext cx="4608512" cy="369332"/>
          </a:xfrm>
          <a:prstGeom prst="rect">
            <a:avLst/>
          </a:prstGeom>
          <a:noFill/>
        </p:spPr>
        <p:txBody>
          <a:bodyPr wrap="square" rtlCol="0">
            <a:spAutoFit/>
          </a:bodyPr>
          <a:lstStyle/>
          <a:p>
            <a:r>
              <a:rPr lang="zh-CN" altLang="en-US" dirty="0" smtClean="0"/>
              <a:t>安全问题</a:t>
            </a:r>
            <a:endParaRPr lang="zh-CN" altLang="en-US" dirty="0"/>
          </a:p>
        </p:txBody>
      </p:sp>
    </p:spTree>
    <p:extLst>
      <p:ext uri="{BB962C8B-B14F-4D97-AF65-F5344CB8AC3E}">
        <p14:creationId xmlns:p14="http://schemas.microsoft.com/office/powerpoint/2010/main" val="9668832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686</Words>
  <Application>Microsoft Office PowerPoint</Application>
  <PresentationFormat>全屏显示(4:3)</PresentationFormat>
  <Paragraphs>23</Paragraphs>
  <Slides>9</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9</vt:i4>
      </vt:variant>
    </vt:vector>
  </HeadingPairs>
  <TitlesOfParts>
    <vt:vector size="11" baseType="lpstr">
      <vt:lpstr>Office 主题​​</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lenovo</cp:lastModifiedBy>
  <cp:revision>2</cp:revision>
  <dcterms:created xsi:type="dcterms:W3CDTF">2013-04-22T16:25:58Z</dcterms:created>
  <dcterms:modified xsi:type="dcterms:W3CDTF">2013-04-22T16:42:49Z</dcterms:modified>
</cp:coreProperties>
</file>