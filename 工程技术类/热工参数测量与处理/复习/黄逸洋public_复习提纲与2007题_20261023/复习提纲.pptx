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1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77FD0-4A2E-46F3-9BE4-F32E89CF02AB}" type="datetimeFigureOut">
              <a:rPr lang="zh-CN" altLang="en-US" smtClean="0"/>
              <a:t>2010/1/22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76BF-6B02-4F0A-A059-71A5060522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77FD0-4A2E-46F3-9BE4-F32E89CF02AB}" type="datetimeFigureOut">
              <a:rPr lang="zh-CN" altLang="en-US" smtClean="0"/>
              <a:t>2010/1/22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76BF-6B02-4F0A-A059-71A5060522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77FD0-4A2E-46F3-9BE4-F32E89CF02AB}" type="datetimeFigureOut">
              <a:rPr lang="zh-CN" altLang="en-US" smtClean="0"/>
              <a:t>2010/1/22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76BF-6B02-4F0A-A059-71A5060522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77FD0-4A2E-46F3-9BE4-F32E89CF02AB}" type="datetimeFigureOut">
              <a:rPr lang="zh-CN" altLang="en-US" smtClean="0"/>
              <a:t>2010/1/22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76BF-6B02-4F0A-A059-71A5060522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77FD0-4A2E-46F3-9BE4-F32E89CF02AB}" type="datetimeFigureOut">
              <a:rPr lang="zh-CN" altLang="en-US" smtClean="0"/>
              <a:t>2010/1/22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76BF-6B02-4F0A-A059-71A5060522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77FD0-4A2E-46F3-9BE4-F32E89CF02AB}" type="datetimeFigureOut">
              <a:rPr lang="zh-CN" altLang="en-US" smtClean="0"/>
              <a:t>2010/1/22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76BF-6B02-4F0A-A059-71A5060522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77FD0-4A2E-46F3-9BE4-F32E89CF02AB}" type="datetimeFigureOut">
              <a:rPr lang="zh-CN" altLang="en-US" smtClean="0"/>
              <a:t>2010/1/22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76BF-6B02-4F0A-A059-71A5060522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77FD0-4A2E-46F3-9BE4-F32E89CF02AB}" type="datetimeFigureOut">
              <a:rPr lang="zh-CN" altLang="en-US" smtClean="0"/>
              <a:t>2010/1/22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76BF-6B02-4F0A-A059-71A5060522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77FD0-4A2E-46F3-9BE4-F32E89CF02AB}" type="datetimeFigureOut">
              <a:rPr lang="zh-CN" altLang="en-US" smtClean="0"/>
              <a:t>2010/1/22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76BF-6B02-4F0A-A059-71A5060522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77FD0-4A2E-46F3-9BE4-F32E89CF02AB}" type="datetimeFigureOut">
              <a:rPr lang="zh-CN" altLang="en-US" smtClean="0"/>
              <a:t>2010/1/22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76BF-6B02-4F0A-A059-71A5060522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77FD0-4A2E-46F3-9BE4-F32E89CF02AB}" type="datetimeFigureOut">
              <a:rPr lang="zh-CN" altLang="en-US" smtClean="0"/>
              <a:t>2010/1/22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76BF-6B02-4F0A-A059-71A5060522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77FD0-4A2E-46F3-9BE4-F32E89CF02AB}" type="datetimeFigureOut">
              <a:rPr lang="zh-CN" altLang="en-US" smtClean="0"/>
              <a:t>2010/1/22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A76BF-6B02-4F0A-A059-71A5060522D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A2CD-581B-4370-982E-A81EFC1C267B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zh-CN" altLang="en-US" sz="4000" b="1"/>
              <a:t>课程大纲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0" y="692150"/>
            <a:ext cx="9144000" cy="5838825"/>
          </a:xfrm>
          <a:ln>
            <a:solidFill>
              <a:schemeClr val="tx1"/>
            </a:solidFill>
          </a:ln>
        </p:spPr>
        <p:txBody>
          <a:bodyPr/>
          <a:lstStyle/>
          <a:p>
            <a:pPr marL="282575" indent="-282575"/>
            <a:r>
              <a:rPr lang="zh-CN" altLang="en-US" sz="3600"/>
              <a:t>第</a:t>
            </a:r>
            <a:r>
              <a:rPr lang="en-US" altLang="zh-CN" sz="3600"/>
              <a:t>1</a:t>
            </a:r>
            <a:r>
              <a:rPr lang="zh-CN" altLang="en-US" sz="3600"/>
              <a:t>章	 测量误差分析与处理（测量基础）    </a:t>
            </a:r>
          </a:p>
          <a:p>
            <a:pPr marL="282575" indent="-282575"/>
            <a:r>
              <a:rPr lang="zh-CN" altLang="en-US" sz="3600"/>
              <a:t>第</a:t>
            </a:r>
            <a:r>
              <a:rPr lang="en-US" altLang="zh-CN" sz="3600"/>
              <a:t>2</a:t>
            </a:r>
            <a:r>
              <a:rPr lang="zh-CN" altLang="en-US" sz="3600"/>
              <a:t>章     测量系统分析（一般问题、共性）</a:t>
            </a:r>
          </a:p>
          <a:p>
            <a:pPr marL="282575" indent="-282575"/>
            <a:r>
              <a:rPr lang="zh-CN" altLang="en-US" sz="3600"/>
              <a:t>第</a:t>
            </a:r>
            <a:r>
              <a:rPr lang="en-US" altLang="zh-CN" sz="3600"/>
              <a:t>3</a:t>
            </a:r>
            <a:r>
              <a:rPr lang="zh-CN" altLang="en-US" sz="3600"/>
              <a:t>章     热工参数测量（具体方法、个性）</a:t>
            </a:r>
          </a:p>
          <a:p>
            <a:pPr marL="282575" indent="-282575">
              <a:buFontTx/>
              <a:buNone/>
            </a:pPr>
            <a:r>
              <a:rPr lang="zh-CN" altLang="en-US" sz="3600" b="1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温度测量 、压力测量、 </a:t>
            </a:r>
          </a:p>
          <a:p>
            <a:pPr marL="282575" indent="-282575">
              <a:buFontTx/>
              <a:buNone/>
            </a:pPr>
            <a:r>
              <a:rPr lang="zh-CN" altLang="en-US" sz="3600" b="1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气流速度测量、流量测量</a:t>
            </a:r>
            <a:r>
              <a:rPr lang="zh-CN" altLang="en-US" sz="3600"/>
              <a:t> </a:t>
            </a:r>
            <a:r>
              <a:rPr lang="zh-CN" altLang="en-US" sz="3600">
                <a:solidFill>
                  <a:schemeClr val="accent2"/>
                </a:solidFill>
              </a:rPr>
              <a:t>、</a:t>
            </a:r>
            <a:r>
              <a:rPr lang="zh-CN" altLang="en-US" sz="3600" b="1">
                <a:solidFill>
                  <a:schemeClr val="accent2"/>
                </a:solidFill>
                <a:ea typeface="黑体" pitchFamily="49" charset="-122"/>
              </a:rPr>
              <a:t>气体成分分析</a:t>
            </a:r>
          </a:p>
          <a:p>
            <a:pPr marL="282575" indent="-282575" algn="ctr">
              <a:buFontTx/>
              <a:buNone/>
            </a:pPr>
            <a:r>
              <a:rPr lang="zh-CN" altLang="en-US" sz="3600" b="1">
                <a:ea typeface="黑体" pitchFamily="49" charset="-122"/>
              </a:rPr>
              <a:t>学习方法</a:t>
            </a:r>
          </a:p>
          <a:p>
            <a:pPr marL="282575" indent="-282575">
              <a:buFontTx/>
              <a:buNone/>
            </a:pPr>
            <a:r>
              <a:rPr lang="en-US" altLang="zh-CN" sz="3600" b="1">
                <a:ea typeface="黑体" pitchFamily="49" charset="-122"/>
              </a:rPr>
              <a:t>1</a:t>
            </a:r>
            <a:r>
              <a:rPr lang="zh-CN" altLang="en-US" sz="3600" b="1">
                <a:ea typeface="黑体" pitchFamily="49" charset="-122"/>
              </a:rPr>
              <a:t>、实践为主，注重平时积累</a:t>
            </a:r>
          </a:p>
          <a:p>
            <a:pPr marL="282575" indent="-282575">
              <a:buFontTx/>
              <a:buNone/>
            </a:pPr>
            <a:r>
              <a:rPr lang="en-US" altLang="zh-CN" sz="3600" b="1">
                <a:ea typeface="黑体" pitchFamily="49" charset="-122"/>
              </a:rPr>
              <a:t>2</a:t>
            </a:r>
            <a:r>
              <a:rPr lang="zh-CN" altLang="en-US" sz="3600" b="1">
                <a:ea typeface="黑体" pitchFamily="49" charset="-122"/>
              </a:rPr>
              <a:t>、上课、作业、实验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15E59-CE3A-4142-9082-462958162FD1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0" y="981075"/>
            <a:ext cx="1763713" cy="3281363"/>
          </a:xfrm>
          <a:prstGeom prst="rect">
            <a:avLst/>
          </a:prstGeom>
          <a:solidFill>
            <a:srgbClr val="FFFF00"/>
          </a:solidFill>
          <a:ln w="254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误差分析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</a:rPr>
              <a:t>随机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</a:rPr>
              <a:t>粗大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</a:rPr>
              <a:t>系统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hlink"/>
                </a:solidFill>
              </a:rPr>
              <a:t>直接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hlink"/>
                </a:solidFill>
              </a:rPr>
              <a:t>间接 误差传布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hlink"/>
                </a:solidFill>
              </a:rPr>
              <a:t>组合 最小二乘</a:t>
            </a:r>
          </a:p>
          <a:p>
            <a:pPr>
              <a:spcBef>
                <a:spcPct val="50000"/>
              </a:spcBef>
            </a:pPr>
            <a:r>
              <a:rPr lang="zh-CN" altLang="en-US" b="1"/>
              <a:t>有效数字</a:t>
            </a: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549275"/>
          </a:xfrm>
        </p:spPr>
        <p:txBody>
          <a:bodyPr>
            <a:normAutofit fontScale="90000"/>
          </a:bodyPr>
          <a:lstStyle/>
          <a:p>
            <a:r>
              <a:rPr lang="zh-CN" altLang="en-US" sz="3200" b="1"/>
              <a:t>测试与检测技术基础－系统复习</a:t>
            </a: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611188" y="620713"/>
            <a:ext cx="1657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基础（共性）</a:t>
            </a:r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4932363" y="620713"/>
            <a:ext cx="21605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具体方法（个性）</a:t>
            </a:r>
          </a:p>
        </p:txBody>
      </p:sp>
      <p:sp>
        <p:nvSpPr>
          <p:cNvPr id="46087" name="Rectangle 7"/>
          <p:cNvSpPr>
            <a:spLocks noChangeArrowheads="1"/>
          </p:cNvSpPr>
          <p:nvPr/>
        </p:nvSpPr>
        <p:spPr bwMode="auto">
          <a:xfrm>
            <a:off x="3635375" y="981075"/>
            <a:ext cx="5508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zh-CN" altLang="en-US" b="1">
                <a:solidFill>
                  <a:schemeClr val="accent2"/>
                </a:solidFill>
              </a:rPr>
              <a:t>温度         压力       气流速度        流量        成分分析</a:t>
            </a:r>
          </a:p>
        </p:txBody>
      </p:sp>
      <p:sp>
        <p:nvSpPr>
          <p:cNvPr id="46108" name="Line 28"/>
          <p:cNvSpPr>
            <a:spLocks noChangeShapeType="1"/>
          </p:cNvSpPr>
          <p:nvPr/>
        </p:nvSpPr>
        <p:spPr bwMode="auto">
          <a:xfrm>
            <a:off x="1403350" y="1557338"/>
            <a:ext cx="0" cy="3960812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1692275" y="981075"/>
            <a:ext cx="1800225" cy="3694113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系统特性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静态 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     </a:t>
            </a:r>
            <a:r>
              <a:rPr lang="en-US" altLang="zh-CN">
                <a:solidFill>
                  <a:srgbClr val="0000FF"/>
                </a:solidFill>
              </a:rPr>
              <a:t>K A R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动态</a:t>
            </a:r>
            <a:r>
              <a:rPr lang="en-US" altLang="zh-CN">
                <a:solidFill>
                  <a:srgbClr val="0000FF"/>
                </a:solidFill>
              </a:rPr>
              <a:t>(</a:t>
            </a:r>
            <a:r>
              <a:rPr lang="zh-CN" altLang="en-US">
                <a:solidFill>
                  <a:srgbClr val="0000FF"/>
                </a:solidFill>
              </a:rPr>
              <a:t>拉氏变换</a:t>
            </a:r>
            <a:r>
              <a:rPr lang="en-US" altLang="zh-CN">
                <a:solidFill>
                  <a:srgbClr val="0000FF"/>
                </a:solidFill>
              </a:rPr>
              <a:t>)</a:t>
            </a:r>
            <a:r>
              <a:rPr lang="en-US" altLang="zh-CN"/>
              <a:t> 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一阶  二阶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   </a:t>
            </a:r>
            <a:r>
              <a:rPr lang="en-US" altLang="zh-CN">
                <a:solidFill>
                  <a:srgbClr val="0000FF"/>
                </a:solidFill>
              </a:rPr>
              <a:t>T     </a:t>
            </a:r>
            <a:r>
              <a:rPr lang="en-US" altLang="zh-CN">
                <a:solidFill>
                  <a:srgbClr val="0000FF"/>
                </a:solidFill>
                <a:latin typeface="Symbol" pitchFamily="18" charset="2"/>
              </a:rPr>
              <a:t>w</a:t>
            </a:r>
            <a:r>
              <a:rPr lang="en-US" altLang="zh-CN" baseline="-25000">
                <a:solidFill>
                  <a:srgbClr val="0000FF"/>
                </a:solidFill>
                <a:latin typeface="Times New Roman" pitchFamily="18" charset="0"/>
              </a:rPr>
              <a:t>n   </a:t>
            </a:r>
            <a:r>
              <a:rPr lang="en-US" altLang="zh-CN">
                <a:solidFill>
                  <a:srgbClr val="0000FF"/>
                </a:solidFill>
                <a:latin typeface="Symbol" pitchFamily="18" charset="2"/>
              </a:rPr>
              <a:t>x</a:t>
            </a:r>
          </a:p>
          <a:p>
            <a:pPr>
              <a:spcBef>
                <a:spcPct val="50000"/>
              </a:spcBef>
            </a:pPr>
            <a:r>
              <a:rPr lang="zh-CN" altLang="en-US"/>
              <a:t>特殊响应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阶跃 （实验）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正弦 幅频 相频</a:t>
            </a:r>
          </a:p>
        </p:txBody>
      </p:sp>
      <p:sp>
        <p:nvSpPr>
          <p:cNvPr id="46090" name="Text Box 10"/>
          <p:cNvSpPr txBox="1">
            <a:spLocks noChangeArrowheads="1"/>
          </p:cNvSpPr>
          <p:nvPr/>
        </p:nvSpPr>
        <p:spPr bwMode="auto">
          <a:xfrm>
            <a:off x="3492500" y="1341438"/>
            <a:ext cx="1223963" cy="4024312"/>
          </a:xfrm>
          <a:prstGeom prst="rect">
            <a:avLst/>
          </a:prstGeom>
          <a:solidFill>
            <a:srgbClr val="FF99CC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/>
              <a:t>热电偶</a:t>
            </a:r>
          </a:p>
          <a:p>
            <a:pPr>
              <a:spcBef>
                <a:spcPct val="20000"/>
              </a:spcBef>
            </a:pPr>
            <a:r>
              <a:rPr lang="en-US" altLang="zh-CN" b="1">
                <a:solidFill>
                  <a:srgbClr val="0000FF"/>
                </a:solidFill>
              </a:rPr>
              <a:t>4</a:t>
            </a:r>
            <a:r>
              <a:rPr lang="zh-CN" altLang="en-US" b="1">
                <a:solidFill>
                  <a:srgbClr val="0000FF"/>
                </a:solidFill>
              </a:rPr>
              <a:t>性质</a:t>
            </a:r>
          </a:p>
          <a:p>
            <a:pPr>
              <a:spcBef>
                <a:spcPct val="20000"/>
              </a:spcBef>
            </a:pPr>
            <a:r>
              <a:rPr lang="zh-CN" altLang="en-US"/>
              <a:t>热电阻</a:t>
            </a:r>
          </a:p>
          <a:p>
            <a:pPr>
              <a:spcBef>
                <a:spcPct val="20000"/>
              </a:spcBef>
            </a:pPr>
            <a:r>
              <a:rPr lang="zh-CN" altLang="en-US" b="1">
                <a:solidFill>
                  <a:srgbClr val="0000FF"/>
                </a:solidFill>
              </a:rPr>
              <a:t>二</a:t>
            </a:r>
            <a:r>
              <a:rPr lang="en-US" altLang="zh-CN" b="1">
                <a:solidFill>
                  <a:srgbClr val="0000FF"/>
                </a:solidFill>
              </a:rPr>
              <a:t>/</a:t>
            </a:r>
            <a:r>
              <a:rPr lang="zh-CN" altLang="en-US" b="1">
                <a:solidFill>
                  <a:srgbClr val="0000FF"/>
                </a:solidFill>
              </a:rPr>
              <a:t>三线制</a:t>
            </a:r>
          </a:p>
          <a:p>
            <a:pPr>
              <a:spcBef>
                <a:spcPct val="20000"/>
              </a:spcBef>
            </a:pPr>
            <a:r>
              <a:rPr lang="zh-CN" altLang="en-US"/>
              <a:t>辐射测温</a:t>
            </a:r>
          </a:p>
          <a:p>
            <a:pPr>
              <a:spcBef>
                <a:spcPct val="20000"/>
              </a:spcBef>
            </a:pPr>
            <a:r>
              <a:rPr lang="zh-CN" altLang="en-US" b="1">
                <a:solidFill>
                  <a:srgbClr val="0000FF"/>
                </a:solidFill>
              </a:rPr>
              <a:t>三种方式</a:t>
            </a:r>
          </a:p>
          <a:p>
            <a:pPr>
              <a:spcBef>
                <a:spcPct val="20000"/>
              </a:spcBef>
            </a:pPr>
            <a:r>
              <a:rPr lang="zh-CN" altLang="en-US" b="1">
                <a:solidFill>
                  <a:srgbClr val="0000FF"/>
                </a:solidFill>
              </a:rPr>
              <a:t>红外成像</a:t>
            </a:r>
          </a:p>
          <a:p>
            <a:pPr>
              <a:spcBef>
                <a:spcPct val="20000"/>
              </a:spcBef>
            </a:pPr>
            <a:r>
              <a:rPr lang="zh-CN" altLang="en-US"/>
              <a:t>接触测温</a:t>
            </a:r>
          </a:p>
          <a:p>
            <a:pPr>
              <a:spcBef>
                <a:spcPct val="20000"/>
              </a:spcBef>
            </a:pPr>
            <a:r>
              <a:rPr lang="zh-CN" altLang="en-US"/>
              <a:t>系统误差</a:t>
            </a:r>
          </a:p>
          <a:p>
            <a:pPr>
              <a:spcBef>
                <a:spcPct val="20000"/>
              </a:spcBef>
            </a:pPr>
            <a:r>
              <a:rPr lang="zh-CN" altLang="en-US" b="1">
                <a:solidFill>
                  <a:srgbClr val="0000FF"/>
                </a:solidFill>
              </a:rPr>
              <a:t>导热</a:t>
            </a:r>
          </a:p>
          <a:p>
            <a:pPr>
              <a:spcBef>
                <a:spcPct val="20000"/>
              </a:spcBef>
            </a:pPr>
            <a:r>
              <a:rPr lang="zh-CN" altLang="en-US" b="1">
                <a:solidFill>
                  <a:srgbClr val="0000FF"/>
                </a:solidFill>
              </a:rPr>
              <a:t>辐射</a:t>
            </a:r>
          </a:p>
          <a:p>
            <a:pPr>
              <a:spcBef>
                <a:spcPct val="20000"/>
              </a:spcBef>
            </a:pPr>
            <a:r>
              <a:rPr lang="zh-CN" altLang="en-US" b="1">
                <a:solidFill>
                  <a:srgbClr val="0000FF"/>
                </a:solidFill>
              </a:rPr>
              <a:t>速度</a:t>
            </a:r>
          </a:p>
        </p:txBody>
      </p:sp>
      <p:sp>
        <p:nvSpPr>
          <p:cNvPr id="46091" name="Text Box 11"/>
          <p:cNvSpPr txBox="1">
            <a:spLocks noChangeArrowheads="1"/>
          </p:cNvSpPr>
          <p:nvPr/>
        </p:nvSpPr>
        <p:spPr bwMode="auto">
          <a:xfrm>
            <a:off x="4716463" y="1341438"/>
            <a:ext cx="792162" cy="3554412"/>
          </a:xfrm>
          <a:prstGeom prst="rect">
            <a:avLst/>
          </a:prstGeom>
          <a:solidFill>
            <a:srgbClr val="FFCC99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U</a:t>
            </a:r>
            <a:r>
              <a:rPr lang="zh-CN" altLang="en-US"/>
              <a:t>管</a:t>
            </a:r>
          </a:p>
          <a:p>
            <a:pPr>
              <a:spcBef>
                <a:spcPct val="50000"/>
              </a:spcBef>
            </a:pPr>
            <a:r>
              <a:rPr lang="zh-CN" altLang="en-US"/>
              <a:t>弹性原件</a:t>
            </a:r>
          </a:p>
          <a:p>
            <a:pPr>
              <a:spcBef>
                <a:spcPct val="50000"/>
              </a:spcBef>
            </a:pPr>
            <a:r>
              <a:rPr lang="zh-CN" altLang="en-US"/>
              <a:t>电学方法</a:t>
            </a:r>
          </a:p>
          <a:p>
            <a:pPr>
              <a:spcBef>
                <a:spcPct val="50000"/>
              </a:spcBef>
            </a:pPr>
            <a:r>
              <a:rPr lang="zh-CN" altLang="en-US"/>
              <a:t>压差测量</a:t>
            </a:r>
          </a:p>
          <a:p>
            <a:pPr>
              <a:spcBef>
                <a:spcPct val="50000"/>
              </a:spcBef>
            </a:pPr>
            <a:r>
              <a:rPr lang="zh-CN" altLang="en-US"/>
              <a:t>气流压力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</a:rPr>
              <a:t>原理</a:t>
            </a:r>
          </a:p>
        </p:txBody>
      </p:sp>
      <p:sp>
        <p:nvSpPr>
          <p:cNvPr id="46092" name="Text Box 12"/>
          <p:cNvSpPr txBox="1">
            <a:spLocks noChangeArrowheads="1"/>
          </p:cNvSpPr>
          <p:nvPr/>
        </p:nvSpPr>
        <p:spPr bwMode="auto">
          <a:xfrm>
            <a:off x="5651500" y="148431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sp>
        <p:nvSpPr>
          <p:cNvPr id="46093" name="Text Box 13"/>
          <p:cNvSpPr txBox="1">
            <a:spLocks noChangeArrowheads="1"/>
          </p:cNvSpPr>
          <p:nvPr/>
        </p:nvSpPr>
        <p:spPr bwMode="auto">
          <a:xfrm>
            <a:off x="5508625" y="1341438"/>
            <a:ext cx="1152525" cy="3281362"/>
          </a:xfrm>
          <a:prstGeom prst="rect">
            <a:avLst/>
          </a:prstGeom>
          <a:solidFill>
            <a:srgbClr val="FFCC00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毕托管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二元管</a:t>
            </a:r>
          </a:p>
          <a:p>
            <a:pPr>
              <a:spcBef>
                <a:spcPct val="50000"/>
              </a:spcBef>
            </a:pPr>
            <a:r>
              <a:rPr lang="zh-CN" altLang="en-US"/>
              <a:t>热线</a:t>
            </a:r>
          </a:p>
          <a:p>
            <a:pPr>
              <a:spcBef>
                <a:spcPct val="50000"/>
              </a:spcBef>
            </a:pPr>
            <a:r>
              <a:rPr lang="en-US" altLang="zh-CN"/>
              <a:t>LDV</a:t>
            </a:r>
          </a:p>
          <a:p>
            <a:pPr>
              <a:spcBef>
                <a:spcPct val="50000"/>
              </a:spcBef>
            </a:pPr>
            <a:r>
              <a:rPr lang="en-US" altLang="zh-CN"/>
              <a:t>PIV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</a:rPr>
              <a:t>动压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</a:rPr>
              <a:t>高速气流</a:t>
            </a:r>
          </a:p>
          <a:p>
            <a:pPr>
              <a:spcBef>
                <a:spcPct val="50000"/>
              </a:spcBef>
            </a:pPr>
            <a:endParaRPr lang="en-US" altLang="zh-CN" b="1">
              <a:solidFill>
                <a:srgbClr val="0000FF"/>
              </a:solidFill>
            </a:endParaRPr>
          </a:p>
        </p:txBody>
      </p:sp>
      <p:sp>
        <p:nvSpPr>
          <p:cNvPr id="46095" name="Text Box 15"/>
          <p:cNvSpPr txBox="1">
            <a:spLocks noChangeArrowheads="1"/>
          </p:cNvSpPr>
          <p:nvPr/>
        </p:nvSpPr>
        <p:spPr bwMode="auto">
          <a:xfrm>
            <a:off x="6659563" y="1341438"/>
            <a:ext cx="1368425" cy="3694112"/>
          </a:xfrm>
          <a:prstGeom prst="rect">
            <a:avLst/>
          </a:prstGeom>
          <a:solidFill>
            <a:srgbClr val="CCFFFF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节流式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孔板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喷嘴</a:t>
            </a:r>
          </a:p>
          <a:p>
            <a:pPr>
              <a:spcBef>
                <a:spcPct val="50000"/>
              </a:spcBef>
            </a:pPr>
            <a:r>
              <a:rPr lang="zh-CN" altLang="en-US"/>
              <a:t>标准化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计算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设计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实验</a:t>
            </a:r>
          </a:p>
          <a:p>
            <a:pPr>
              <a:spcBef>
                <a:spcPct val="50000"/>
              </a:spcBef>
            </a:pPr>
            <a:r>
              <a:rPr lang="zh-CN" altLang="en-US"/>
              <a:t>两相流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参数 实验</a:t>
            </a:r>
          </a:p>
        </p:txBody>
      </p:sp>
      <p:sp>
        <p:nvSpPr>
          <p:cNvPr id="46097" name="Line 17"/>
          <p:cNvSpPr>
            <a:spLocks noChangeShapeType="1"/>
          </p:cNvSpPr>
          <p:nvPr/>
        </p:nvSpPr>
        <p:spPr bwMode="auto">
          <a:xfrm flipV="1">
            <a:off x="3348038" y="4076700"/>
            <a:ext cx="287337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098" name="Line 18"/>
          <p:cNvSpPr>
            <a:spLocks noChangeShapeType="1"/>
          </p:cNvSpPr>
          <p:nvPr/>
        </p:nvSpPr>
        <p:spPr bwMode="auto">
          <a:xfrm flipH="1" flipV="1">
            <a:off x="539750" y="1557338"/>
            <a:ext cx="144463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099" name="Line 19"/>
          <p:cNvSpPr>
            <a:spLocks noChangeShapeType="1"/>
          </p:cNvSpPr>
          <p:nvPr/>
        </p:nvSpPr>
        <p:spPr bwMode="auto">
          <a:xfrm flipV="1">
            <a:off x="684213" y="5013325"/>
            <a:ext cx="2663825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096" name="Text Box 16"/>
          <p:cNvSpPr txBox="1">
            <a:spLocks noChangeArrowheads="1"/>
          </p:cNvSpPr>
          <p:nvPr/>
        </p:nvSpPr>
        <p:spPr bwMode="auto">
          <a:xfrm>
            <a:off x="1116013" y="4797425"/>
            <a:ext cx="1800225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精度 校准曲线</a:t>
            </a:r>
          </a:p>
        </p:txBody>
      </p:sp>
      <p:sp>
        <p:nvSpPr>
          <p:cNvPr id="46100" name="Line 20"/>
          <p:cNvSpPr>
            <a:spLocks noChangeShapeType="1"/>
          </p:cNvSpPr>
          <p:nvPr/>
        </p:nvSpPr>
        <p:spPr bwMode="auto">
          <a:xfrm>
            <a:off x="684213" y="1557338"/>
            <a:ext cx="0" cy="3455987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101" name="Line 21"/>
          <p:cNvSpPr>
            <a:spLocks noChangeShapeType="1"/>
          </p:cNvSpPr>
          <p:nvPr/>
        </p:nvSpPr>
        <p:spPr bwMode="auto">
          <a:xfrm flipH="1" flipV="1">
            <a:off x="539750" y="1989138"/>
            <a:ext cx="144463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102" name="Line 22"/>
          <p:cNvSpPr>
            <a:spLocks noChangeShapeType="1"/>
          </p:cNvSpPr>
          <p:nvPr/>
        </p:nvSpPr>
        <p:spPr bwMode="auto">
          <a:xfrm flipH="1" flipV="1">
            <a:off x="539750" y="2420938"/>
            <a:ext cx="144463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103" name="Line 23"/>
          <p:cNvSpPr>
            <a:spLocks noChangeShapeType="1"/>
          </p:cNvSpPr>
          <p:nvPr/>
        </p:nvSpPr>
        <p:spPr bwMode="auto">
          <a:xfrm flipH="1" flipV="1">
            <a:off x="827088" y="3716338"/>
            <a:ext cx="0" cy="1296987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104" name="Text Box 24"/>
          <p:cNvSpPr txBox="1">
            <a:spLocks noChangeArrowheads="1"/>
          </p:cNvSpPr>
          <p:nvPr/>
        </p:nvSpPr>
        <p:spPr bwMode="auto">
          <a:xfrm>
            <a:off x="8027988" y="1341438"/>
            <a:ext cx="1008062" cy="2043112"/>
          </a:xfrm>
          <a:prstGeom prst="rect">
            <a:avLst/>
          </a:prstGeom>
          <a:solidFill>
            <a:srgbClr val="C0C0C0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在线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氧化锆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红外</a:t>
            </a:r>
          </a:p>
          <a:p>
            <a:pPr>
              <a:spcBef>
                <a:spcPct val="50000"/>
              </a:spcBef>
            </a:pPr>
            <a:r>
              <a:rPr lang="zh-CN" altLang="en-US"/>
              <a:t>离线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色谱</a:t>
            </a:r>
          </a:p>
        </p:txBody>
      </p:sp>
      <p:sp>
        <p:nvSpPr>
          <p:cNvPr id="46105" name="Line 25"/>
          <p:cNvSpPr>
            <a:spLocks noChangeShapeType="1"/>
          </p:cNvSpPr>
          <p:nvPr/>
        </p:nvSpPr>
        <p:spPr bwMode="auto">
          <a:xfrm>
            <a:off x="3348038" y="2133600"/>
            <a:ext cx="0" cy="2879725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106" name="Line 26"/>
          <p:cNvSpPr>
            <a:spLocks noChangeShapeType="1"/>
          </p:cNvSpPr>
          <p:nvPr/>
        </p:nvSpPr>
        <p:spPr bwMode="auto">
          <a:xfrm flipV="1">
            <a:off x="3348038" y="2133600"/>
            <a:ext cx="287337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107" name="Text Box 27"/>
          <p:cNvSpPr txBox="1">
            <a:spLocks noChangeArrowheads="1"/>
          </p:cNvSpPr>
          <p:nvPr/>
        </p:nvSpPr>
        <p:spPr bwMode="auto">
          <a:xfrm>
            <a:off x="1116013" y="5373688"/>
            <a:ext cx="1800225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静态 动态 实验</a:t>
            </a:r>
          </a:p>
        </p:txBody>
      </p:sp>
      <p:sp>
        <p:nvSpPr>
          <p:cNvPr id="46109" name="Line 29"/>
          <p:cNvSpPr>
            <a:spLocks noChangeShapeType="1"/>
          </p:cNvSpPr>
          <p:nvPr/>
        </p:nvSpPr>
        <p:spPr bwMode="auto">
          <a:xfrm>
            <a:off x="3348038" y="5013325"/>
            <a:ext cx="0" cy="576263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110" name="Line 30"/>
          <p:cNvSpPr>
            <a:spLocks noChangeShapeType="1"/>
          </p:cNvSpPr>
          <p:nvPr/>
        </p:nvSpPr>
        <p:spPr bwMode="auto">
          <a:xfrm>
            <a:off x="2916238" y="5589588"/>
            <a:ext cx="4318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111" name="Line 31"/>
          <p:cNvSpPr>
            <a:spLocks noChangeShapeType="1"/>
          </p:cNvSpPr>
          <p:nvPr/>
        </p:nvSpPr>
        <p:spPr bwMode="auto">
          <a:xfrm>
            <a:off x="1403350" y="4149725"/>
            <a:ext cx="288925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112" name="Line 32"/>
          <p:cNvSpPr>
            <a:spLocks noChangeShapeType="1"/>
          </p:cNvSpPr>
          <p:nvPr/>
        </p:nvSpPr>
        <p:spPr bwMode="auto">
          <a:xfrm>
            <a:off x="1403350" y="1557338"/>
            <a:ext cx="288925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114" name="Line 34"/>
          <p:cNvSpPr>
            <a:spLocks noChangeShapeType="1"/>
          </p:cNvSpPr>
          <p:nvPr/>
        </p:nvSpPr>
        <p:spPr bwMode="auto">
          <a:xfrm>
            <a:off x="3851275" y="5589588"/>
            <a:ext cx="3097213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115" name="Line 35"/>
          <p:cNvSpPr>
            <a:spLocks noChangeShapeType="1"/>
          </p:cNvSpPr>
          <p:nvPr/>
        </p:nvSpPr>
        <p:spPr bwMode="auto">
          <a:xfrm>
            <a:off x="3851275" y="5300663"/>
            <a:ext cx="0" cy="288925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116" name="Line 36"/>
          <p:cNvSpPr>
            <a:spLocks noChangeShapeType="1"/>
          </p:cNvSpPr>
          <p:nvPr/>
        </p:nvSpPr>
        <p:spPr bwMode="auto">
          <a:xfrm>
            <a:off x="5219700" y="4868863"/>
            <a:ext cx="0" cy="504825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117" name="Line 37"/>
          <p:cNvSpPr>
            <a:spLocks noChangeShapeType="1"/>
          </p:cNvSpPr>
          <p:nvPr/>
        </p:nvSpPr>
        <p:spPr bwMode="auto">
          <a:xfrm>
            <a:off x="6011863" y="4581525"/>
            <a:ext cx="0" cy="792163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118" name="Line 38"/>
          <p:cNvSpPr>
            <a:spLocks noChangeShapeType="1"/>
          </p:cNvSpPr>
          <p:nvPr/>
        </p:nvSpPr>
        <p:spPr bwMode="auto">
          <a:xfrm>
            <a:off x="6948488" y="5013325"/>
            <a:ext cx="0" cy="576263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6113" name="Text Box 33"/>
          <p:cNvSpPr txBox="1">
            <a:spLocks noChangeArrowheads="1"/>
          </p:cNvSpPr>
          <p:nvPr/>
        </p:nvSpPr>
        <p:spPr bwMode="auto">
          <a:xfrm>
            <a:off x="5148263" y="5373688"/>
            <a:ext cx="1368425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伯努利原理</a:t>
            </a:r>
          </a:p>
        </p:txBody>
      </p:sp>
      <p:sp>
        <p:nvSpPr>
          <p:cNvPr id="46119" name="Text Box 39"/>
          <p:cNvSpPr txBox="1">
            <a:spLocks noChangeArrowheads="1"/>
          </p:cNvSpPr>
          <p:nvPr/>
        </p:nvSpPr>
        <p:spPr bwMode="auto">
          <a:xfrm>
            <a:off x="2700338" y="5949950"/>
            <a:ext cx="879475" cy="376238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概率论</a:t>
            </a:r>
          </a:p>
        </p:txBody>
      </p:sp>
      <p:sp>
        <p:nvSpPr>
          <p:cNvPr id="46120" name="Text Box 40"/>
          <p:cNvSpPr txBox="1">
            <a:spLocks noChangeArrowheads="1"/>
          </p:cNvSpPr>
          <p:nvPr/>
        </p:nvSpPr>
        <p:spPr bwMode="auto">
          <a:xfrm>
            <a:off x="3708400" y="5949950"/>
            <a:ext cx="879475" cy="376238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热力学</a:t>
            </a:r>
          </a:p>
        </p:txBody>
      </p:sp>
      <p:sp>
        <p:nvSpPr>
          <p:cNvPr id="46121" name="Text Box 41"/>
          <p:cNvSpPr txBox="1">
            <a:spLocks noChangeArrowheads="1"/>
          </p:cNvSpPr>
          <p:nvPr/>
        </p:nvSpPr>
        <p:spPr bwMode="auto">
          <a:xfrm>
            <a:off x="4716463" y="5949950"/>
            <a:ext cx="1108075" cy="376238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流体力学</a:t>
            </a:r>
          </a:p>
        </p:txBody>
      </p:sp>
      <p:sp>
        <p:nvSpPr>
          <p:cNvPr id="46122" name="Text Box 42"/>
          <p:cNvSpPr txBox="1">
            <a:spLocks noChangeArrowheads="1"/>
          </p:cNvSpPr>
          <p:nvPr/>
        </p:nvSpPr>
        <p:spPr bwMode="auto">
          <a:xfrm>
            <a:off x="5940425" y="5949950"/>
            <a:ext cx="879475" cy="376238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传热学</a:t>
            </a:r>
          </a:p>
        </p:txBody>
      </p:sp>
      <p:sp>
        <p:nvSpPr>
          <p:cNvPr id="46123" name="Text Box 43"/>
          <p:cNvSpPr txBox="1">
            <a:spLocks noChangeArrowheads="1"/>
          </p:cNvSpPr>
          <p:nvPr/>
        </p:nvSpPr>
        <p:spPr bwMode="auto">
          <a:xfrm>
            <a:off x="6948488" y="5949950"/>
            <a:ext cx="1108075" cy="376238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电子电工</a:t>
            </a:r>
          </a:p>
        </p:txBody>
      </p:sp>
      <p:sp>
        <p:nvSpPr>
          <p:cNvPr id="46124" name="Text Box 44"/>
          <p:cNvSpPr txBox="1">
            <a:spLocks noChangeArrowheads="1"/>
          </p:cNvSpPr>
          <p:nvPr/>
        </p:nvSpPr>
        <p:spPr bwMode="auto">
          <a:xfrm>
            <a:off x="900113" y="6481763"/>
            <a:ext cx="650875" cy="376237"/>
          </a:xfrm>
          <a:prstGeom prst="rect">
            <a:avLst/>
          </a:prstGeom>
          <a:solidFill>
            <a:srgbClr val="FFCC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锅炉</a:t>
            </a:r>
          </a:p>
        </p:txBody>
      </p:sp>
      <p:sp>
        <p:nvSpPr>
          <p:cNvPr id="46126" name="Text Box 46"/>
          <p:cNvSpPr txBox="1">
            <a:spLocks noChangeArrowheads="1"/>
          </p:cNvSpPr>
          <p:nvPr/>
        </p:nvSpPr>
        <p:spPr bwMode="auto">
          <a:xfrm>
            <a:off x="1763713" y="6481763"/>
            <a:ext cx="879475" cy="376237"/>
          </a:xfrm>
          <a:prstGeom prst="rect">
            <a:avLst/>
          </a:prstGeom>
          <a:solidFill>
            <a:srgbClr val="FFCC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汽轮机</a:t>
            </a:r>
          </a:p>
        </p:txBody>
      </p:sp>
      <p:sp>
        <p:nvSpPr>
          <p:cNvPr id="46127" name="Text Box 47"/>
          <p:cNvSpPr txBox="1">
            <a:spLocks noChangeArrowheads="1"/>
          </p:cNvSpPr>
          <p:nvPr/>
        </p:nvSpPr>
        <p:spPr bwMode="auto">
          <a:xfrm>
            <a:off x="2843213" y="6481763"/>
            <a:ext cx="1108075" cy="376237"/>
          </a:xfrm>
          <a:prstGeom prst="rect">
            <a:avLst/>
          </a:prstGeom>
          <a:solidFill>
            <a:srgbClr val="FFCC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燃气轮机</a:t>
            </a:r>
          </a:p>
        </p:txBody>
      </p:sp>
      <p:sp>
        <p:nvSpPr>
          <p:cNvPr id="46128" name="Text Box 48"/>
          <p:cNvSpPr txBox="1">
            <a:spLocks noChangeArrowheads="1"/>
          </p:cNvSpPr>
          <p:nvPr/>
        </p:nvSpPr>
        <p:spPr bwMode="auto">
          <a:xfrm>
            <a:off x="4140200" y="6481763"/>
            <a:ext cx="879475" cy="376237"/>
          </a:xfrm>
          <a:prstGeom prst="rect">
            <a:avLst/>
          </a:prstGeom>
          <a:solidFill>
            <a:srgbClr val="FFCC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水轮机</a:t>
            </a:r>
          </a:p>
        </p:txBody>
      </p:sp>
      <p:sp>
        <p:nvSpPr>
          <p:cNvPr id="46129" name="Text Box 49"/>
          <p:cNvSpPr txBox="1">
            <a:spLocks noChangeArrowheads="1"/>
          </p:cNvSpPr>
          <p:nvPr/>
        </p:nvSpPr>
        <p:spPr bwMode="auto">
          <a:xfrm>
            <a:off x="5148263" y="6481763"/>
            <a:ext cx="879475" cy="376237"/>
          </a:xfrm>
          <a:prstGeom prst="rect">
            <a:avLst/>
          </a:prstGeom>
          <a:solidFill>
            <a:srgbClr val="FFCC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核电站</a:t>
            </a:r>
          </a:p>
        </p:txBody>
      </p:sp>
      <p:sp>
        <p:nvSpPr>
          <p:cNvPr id="46130" name="Text Box 50"/>
          <p:cNvSpPr txBox="1">
            <a:spLocks noChangeArrowheads="1"/>
          </p:cNvSpPr>
          <p:nvPr/>
        </p:nvSpPr>
        <p:spPr bwMode="auto">
          <a:xfrm>
            <a:off x="6084888" y="6481763"/>
            <a:ext cx="719137" cy="376237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三传</a:t>
            </a:r>
          </a:p>
        </p:txBody>
      </p:sp>
      <p:sp>
        <p:nvSpPr>
          <p:cNvPr id="46131" name="Text Box 51"/>
          <p:cNvSpPr txBox="1">
            <a:spLocks noChangeArrowheads="1"/>
          </p:cNvSpPr>
          <p:nvPr/>
        </p:nvSpPr>
        <p:spPr bwMode="auto">
          <a:xfrm>
            <a:off x="6877050" y="6481763"/>
            <a:ext cx="719138" cy="376237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燃烧</a:t>
            </a:r>
          </a:p>
        </p:txBody>
      </p:sp>
      <p:sp>
        <p:nvSpPr>
          <p:cNvPr id="46132" name="Text Box 52"/>
          <p:cNvSpPr txBox="1">
            <a:spLocks noChangeArrowheads="1"/>
          </p:cNvSpPr>
          <p:nvPr/>
        </p:nvSpPr>
        <p:spPr bwMode="auto">
          <a:xfrm>
            <a:off x="7667625" y="6481763"/>
            <a:ext cx="1152525" cy="376237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化学反应</a:t>
            </a:r>
          </a:p>
        </p:txBody>
      </p:sp>
      <p:sp>
        <p:nvSpPr>
          <p:cNvPr id="46133" name="AutoShape 53"/>
          <p:cNvSpPr>
            <a:spLocks noChangeArrowheads="1"/>
          </p:cNvSpPr>
          <p:nvPr/>
        </p:nvSpPr>
        <p:spPr bwMode="auto">
          <a:xfrm>
            <a:off x="8101013" y="5445125"/>
            <a:ext cx="900112" cy="792163"/>
          </a:xfrm>
          <a:custGeom>
            <a:avLst/>
            <a:gdLst>
              <a:gd name="G0" fmla="+- 9257 0 0"/>
              <a:gd name="G1" fmla="+- 18514 0 0"/>
              <a:gd name="G2" fmla="+- 7200 0 0"/>
              <a:gd name="G3" fmla="*/ 9257 1 2"/>
              <a:gd name="G4" fmla="+- G3 10800 0"/>
              <a:gd name="G5" fmla="+- 21600 9257 18514"/>
              <a:gd name="G6" fmla="+- 18514 7200 0"/>
              <a:gd name="G7" fmla="*/ G6 1 2"/>
              <a:gd name="G8" fmla="*/ 1851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514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200 h 21600"/>
              <a:gd name="T4" fmla="*/ 0 w 21600"/>
              <a:gd name="T5" fmla="*/ 18001 h 21600"/>
              <a:gd name="T6" fmla="*/ 9257 w 21600"/>
              <a:gd name="T7" fmla="*/ 21600 h 21600"/>
              <a:gd name="T8" fmla="*/ 18514 w 21600"/>
              <a:gd name="T9" fmla="*/ 15000 h 21600"/>
              <a:gd name="T10" fmla="*/ 21600 w 21600"/>
              <a:gd name="T11" fmla="*/ 72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34" name="AutoShape 54"/>
          <p:cNvSpPr>
            <a:spLocks noChangeArrowheads="1"/>
          </p:cNvSpPr>
          <p:nvPr/>
        </p:nvSpPr>
        <p:spPr bwMode="auto">
          <a:xfrm rot="5400000">
            <a:off x="-256381" y="5917406"/>
            <a:ext cx="1196975" cy="684213"/>
          </a:xfrm>
          <a:custGeom>
            <a:avLst/>
            <a:gdLst>
              <a:gd name="G0" fmla="+- 13165 0 0"/>
              <a:gd name="G1" fmla="+- 18514 0 0"/>
              <a:gd name="G2" fmla="+- 7200 0 0"/>
              <a:gd name="G3" fmla="*/ 13165 1 2"/>
              <a:gd name="G4" fmla="+- G3 10800 0"/>
              <a:gd name="G5" fmla="+- 21600 13165 18514"/>
              <a:gd name="G6" fmla="+- 18514 7200 0"/>
              <a:gd name="G7" fmla="*/ G6 1 2"/>
              <a:gd name="G8" fmla="*/ 1851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514 1 2"/>
              <a:gd name="G15" fmla="+- G5 0 G4"/>
              <a:gd name="G16" fmla="+- G0 0 G4"/>
              <a:gd name="G17" fmla="*/ G2 G15 G16"/>
              <a:gd name="T0" fmla="*/ 17383 w 21600"/>
              <a:gd name="T1" fmla="*/ 0 h 21600"/>
              <a:gd name="T2" fmla="*/ 13165 w 21600"/>
              <a:gd name="T3" fmla="*/ 7200 h 21600"/>
              <a:gd name="T4" fmla="*/ 0 w 21600"/>
              <a:gd name="T5" fmla="*/ 20280 h 21600"/>
              <a:gd name="T6" fmla="*/ 9257 w 21600"/>
              <a:gd name="T7" fmla="*/ 21600 h 21600"/>
              <a:gd name="T8" fmla="*/ 18514 w 21600"/>
              <a:gd name="T9" fmla="*/ 15000 h 21600"/>
              <a:gd name="T10" fmla="*/ 21600 w 21600"/>
              <a:gd name="T11" fmla="*/ 72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383" y="0"/>
                </a:moveTo>
                <a:lnTo>
                  <a:pt x="13165" y="7200"/>
                </a:lnTo>
                <a:lnTo>
                  <a:pt x="16251" y="7200"/>
                </a:lnTo>
                <a:lnTo>
                  <a:pt x="16251" y="18960"/>
                </a:lnTo>
                <a:lnTo>
                  <a:pt x="0" y="1896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35" name="Rectangle 55"/>
          <p:cNvSpPr>
            <a:spLocks noChangeArrowheads="1"/>
          </p:cNvSpPr>
          <p:nvPr/>
        </p:nvSpPr>
        <p:spPr bwMode="auto">
          <a:xfrm>
            <a:off x="0" y="549275"/>
            <a:ext cx="9144000" cy="5256213"/>
          </a:xfrm>
          <a:prstGeom prst="rect">
            <a:avLst/>
          </a:prstGeom>
          <a:noFill/>
          <a:ln w="25400">
            <a:solidFill>
              <a:schemeClr val="folHlink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36" name="Line 56"/>
          <p:cNvSpPr>
            <a:spLocks noChangeShapeType="1"/>
          </p:cNvSpPr>
          <p:nvPr/>
        </p:nvSpPr>
        <p:spPr bwMode="auto">
          <a:xfrm>
            <a:off x="1403350" y="2420938"/>
            <a:ext cx="288925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5A3B-BC15-478B-8256-A2032BDB8B2B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096000"/>
          </a:xfrm>
        </p:spPr>
        <p:txBody>
          <a:bodyPr>
            <a:normAutofit fontScale="92500" lnSpcReduction="10000"/>
          </a:bodyPr>
          <a:lstStyle/>
          <a:p>
            <a:pPr marL="190500" indent="-190500" algn="ctr">
              <a:buFontTx/>
              <a:buNone/>
            </a:pPr>
            <a:r>
              <a:rPr lang="en-US" altLang="zh-CN" sz="2800"/>
              <a:t>《</a:t>
            </a:r>
            <a:r>
              <a:rPr lang="zh-CN" altLang="en-US"/>
              <a:t>测试与检测技术基础</a:t>
            </a:r>
            <a:r>
              <a:rPr lang="en-US" altLang="zh-CN" sz="2800"/>
              <a:t>》</a:t>
            </a:r>
            <a:r>
              <a:rPr lang="zh-CN" altLang="en-US"/>
              <a:t>课程总结</a:t>
            </a:r>
          </a:p>
          <a:p>
            <a:pPr marL="190500" indent="-190500">
              <a:buFontTx/>
              <a:buNone/>
            </a:pPr>
            <a:r>
              <a:rPr lang="en-US" altLang="zh-CN" sz="2800"/>
              <a:t>§1-2 </a:t>
            </a:r>
            <a:r>
              <a:rPr lang="zh-CN" altLang="en-US" sz="2800"/>
              <a:t>误差分析与处理</a:t>
            </a:r>
          </a:p>
          <a:p>
            <a:pPr marL="190500" indent="-190500">
              <a:buFontTx/>
              <a:buNone/>
            </a:pPr>
            <a:r>
              <a:rPr lang="zh-CN" altLang="en-US" sz="2800"/>
              <a:t>一、随机误差</a:t>
            </a:r>
          </a:p>
          <a:p>
            <a:pPr marL="190500" indent="-190500">
              <a:buFontTx/>
              <a:buNone/>
            </a:pPr>
            <a:r>
              <a:rPr lang="en-US" altLang="zh-CN" sz="2800"/>
              <a:t>1</a:t>
            </a:r>
            <a:r>
              <a:rPr lang="zh-CN" altLang="en-US" sz="2800"/>
              <a:t>、</a:t>
            </a:r>
            <a:r>
              <a:rPr lang="zh-CN" altLang="en-US"/>
              <a:t>性质、特点；</a:t>
            </a:r>
            <a:r>
              <a:rPr lang="zh-CN" altLang="en-US" sz="2800"/>
              <a:t>随机真误差</a:t>
            </a:r>
            <a:r>
              <a:rPr lang="en-US" altLang="zh-CN" sz="2800">
                <a:latin typeface="Symbol" pitchFamily="18" charset="2"/>
              </a:rPr>
              <a:t>d</a:t>
            </a:r>
            <a:r>
              <a:rPr lang="zh-CN" altLang="en-US" sz="2800"/>
              <a:t>与标准差</a:t>
            </a:r>
            <a:r>
              <a:rPr lang="en-US" altLang="zh-CN" sz="2800">
                <a:latin typeface="Symbol" pitchFamily="18" charset="2"/>
              </a:rPr>
              <a:t>s</a:t>
            </a:r>
            <a:r>
              <a:rPr lang="zh-CN" altLang="en-US" sz="2800"/>
              <a:t>的关系</a:t>
            </a:r>
          </a:p>
          <a:p>
            <a:pPr marL="190500" indent="-190500">
              <a:buFontTx/>
              <a:buNone/>
            </a:pPr>
            <a:r>
              <a:rPr lang="zh-CN" altLang="en-US" sz="2800"/>
              <a:t>*</a:t>
            </a:r>
            <a:r>
              <a:rPr lang="en-US" altLang="zh-CN" sz="2800"/>
              <a:t>2</a:t>
            </a:r>
            <a:r>
              <a:rPr lang="zh-CN" altLang="en-US" sz="2800"/>
              <a:t>、统计处理；利用有限次测量（子样）估计真值和误差</a:t>
            </a:r>
          </a:p>
          <a:p>
            <a:pPr marL="190500" indent="-190500">
              <a:buFontTx/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直接测量误差分析与处理   </a:t>
            </a:r>
            <a:r>
              <a:rPr lang="zh-CN" altLang="en-US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算术平均值和贝塞尔公式</a:t>
            </a:r>
          </a:p>
          <a:p>
            <a:pPr marL="190500" indent="-190500">
              <a:buFontTx/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间接测量误差分析与处理   </a:t>
            </a:r>
            <a:r>
              <a:rPr lang="zh-CN" altLang="en-US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误差传布原理</a:t>
            </a:r>
          </a:p>
          <a:p>
            <a:pPr marL="190500" indent="-190500">
              <a:buFontTx/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组合测量误差分析与处理   </a:t>
            </a:r>
            <a:r>
              <a:rPr lang="zh-CN" altLang="en-US" sz="2800" b="1">
                <a:solidFill>
                  <a:schemeClr val="accent2"/>
                </a:solidFill>
              </a:rPr>
              <a:t>最小二乘法原理</a:t>
            </a:r>
          </a:p>
          <a:p>
            <a:pPr marL="190500" indent="-190500"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                 </a:t>
            </a:r>
            <a:r>
              <a:rPr lang="zh-CN" altLang="en-US" sz="2800"/>
              <a:t>（正规方程、测量值误差、</a:t>
            </a:r>
            <a:r>
              <a:rPr lang="zh-CN" altLang="en-US" sz="2800">
                <a:latin typeface="宋体" pitchFamily="2" charset="-122"/>
              </a:rPr>
              <a:t>未知参数</a:t>
            </a:r>
            <a:r>
              <a:rPr lang="zh-CN" altLang="en-US" sz="2800"/>
              <a:t>的误差）</a:t>
            </a:r>
          </a:p>
          <a:p>
            <a:pPr marL="190500" indent="-190500">
              <a:buFontTx/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二、粗大误差</a:t>
            </a:r>
            <a:endParaRPr lang="zh-CN" altLang="en-US" sz="2800"/>
          </a:p>
          <a:p>
            <a:pPr marL="190500" indent="-190500">
              <a:buFontTx/>
              <a:buNone/>
            </a:pPr>
            <a:r>
              <a:rPr lang="zh-CN" altLang="en-US"/>
              <a:t>  </a:t>
            </a:r>
            <a:r>
              <a:rPr lang="zh-CN" altLang="en-US" sz="2800"/>
              <a:t>特点、处理方法（剔除含有粗差的坏值）；</a:t>
            </a:r>
          </a:p>
          <a:p>
            <a:pPr marL="190500" indent="-190500">
              <a:buFontTx/>
              <a:buNone/>
            </a:pPr>
            <a:r>
              <a:rPr lang="zh-CN" altLang="en-US" sz="2800"/>
              <a:t>  判定准则：* </a:t>
            </a:r>
            <a:r>
              <a:rPr lang="en-US" altLang="zh-CN" sz="2800">
                <a:solidFill>
                  <a:schemeClr val="accent2"/>
                </a:solidFill>
              </a:rPr>
              <a:t>3 </a:t>
            </a:r>
            <a:r>
              <a:rPr lang="en-US" altLang="zh-CN" sz="2800">
                <a:solidFill>
                  <a:schemeClr val="accent2"/>
                </a:solidFill>
                <a:latin typeface="Symbol" pitchFamily="18" charset="2"/>
              </a:rPr>
              <a:t>s</a:t>
            </a:r>
            <a:r>
              <a:rPr lang="zh-CN" altLang="en-US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准则</a:t>
            </a:r>
            <a:r>
              <a:rPr lang="zh-CN" altLang="en-US" sz="2800">
                <a:solidFill>
                  <a:schemeClr val="accent2"/>
                </a:solidFill>
                <a:latin typeface="Symbol" pitchFamily="18" charset="2"/>
              </a:rPr>
              <a:t>（</a:t>
            </a:r>
            <a:r>
              <a:rPr lang="zh-CN" altLang="en-US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拉伊特准则）</a:t>
            </a:r>
            <a:r>
              <a:rPr lang="zh-CN" altLang="en-US" sz="280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800">
                <a:latin typeface="黑体" pitchFamily="49" charset="-122"/>
                <a:ea typeface="黑体" pitchFamily="49" charset="-122"/>
              </a:rPr>
              <a:t>n</a:t>
            </a:r>
            <a:r>
              <a:rPr lang="en-US" altLang="zh-CN" sz="2800">
                <a:latin typeface="黑体" pitchFamily="49" charset="-122"/>
                <a:ea typeface="Batang" pitchFamily="18" charset="-127"/>
              </a:rPr>
              <a:t>≤10</a:t>
            </a:r>
            <a:r>
              <a:rPr lang="zh-CN" altLang="en-US" sz="2800">
                <a:latin typeface="黑体" pitchFamily="49" charset="-122"/>
                <a:ea typeface="黑体" pitchFamily="49" charset="-122"/>
              </a:rPr>
              <a:t>不适用）</a:t>
            </a:r>
          </a:p>
          <a:p>
            <a:pPr marL="190500" indent="-190500">
              <a:buFontTx/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            格拉布斯准则（小样本适用）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11088-2116-430D-9508-6F2F3A8D8FD5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096000"/>
          </a:xfrm>
        </p:spPr>
        <p:txBody>
          <a:bodyPr>
            <a:normAutofit fontScale="92500" lnSpcReduction="10000"/>
          </a:bodyPr>
          <a:lstStyle/>
          <a:p>
            <a:pPr marL="381000" indent="-381000">
              <a:buFontTx/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三、系统误差</a:t>
            </a:r>
          </a:p>
          <a:p>
            <a:pPr marL="381000" indent="-381000">
              <a:buFontTx/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  性质、特点（有规，恒值与变值影响不同）、处理原则</a:t>
            </a:r>
          </a:p>
          <a:p>
            <a:pPr marL="381000" indent="-381000">
              <a:buFontTx/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 *系统误差存在与否的检验：</a:t>
            </a:r>
            <a:r>
              <a:rPr lang="zh-CN" altLang="en-US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en-US" altLang="zh-CN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(1)</a:t>
            </a:r>
            <a:r>
              <a:rPr lang="zh-CN" altLang="en-US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利用符号变化</a:t>
            </a:r>
          </a:p>
          <a:p>
            <a:pPr marL="381000" indent="-381000">
              <a:buFontTx/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                           </a:t>
            </a:r>
            <a:r>
              <a:rPr lang="en-US" altLang="zh-CN" sz="2800">
                <a:latin typeface="黑体" pitchFamily="49" charset="-122"/>
                <a:ea typeface="黑体" pitchFamily="49" charset="-122"/>
              </a:rPr>
              <a:t>(2)</a:t>
            </a:r>
            <a:r>
              <a:rPr lang="zh-CN" altLang="en-US" sz="2800">
                <a:latin typeface="黑体" pitchFamily="49" charset="-122"/>
                <a:ea typeface="黑体" pitchFamily="49" charset="-122"/>
              </a:rPr>
              <a:t>判据</a:t>
            </a:r>
          </a:p>
          <a:p>
            <a:pPr marL="381000" indent="-381000">
              <a:buFontTx/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四、测量误差处理的一般步骤</a:t>
            </a:r>
          </a:p>
          <a:p>
            <a:pPr marL="381000" indent="-381000">
              <a:buFontTx/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800">
                <a:latin typeface="黑体" pitchFamily="49" charset="-122"/>
                <a:ea typeface="黑体" pitchFamily="49" charset="-122"/>
              </a:rPr>
              <a:t>1)</a:t>
            </a:r>
            <a:r>
              <a:rPr lang="zh-CN" altLang="en-US" sz="2800">
                <a:latin typeface="黑体" pitchFamily="49" charset="-122"/>
                <a:ea typeface="黑体" pitchFamily="49" charset="-122"/>
              </a:rPr>
              <a:t>判粗差（剔除）；</a:t>
            </a:r>
            <a:r>
              <a:rPr lang="en-US" altLang="zh-CN" sz="2800">
                <a:latin typeface="黑体" pitchFamily="49" charset="-122"/>
                <a:ea typeface="黑体" pitchFamily="49" charset="-122"/>
              </a:rPr>
              <a:t>(2)</a:t>
            </a:r>
            <a:r>
              <a:rPr lang="zh-CN" altLang="en-US" sz="2800">
                <a:latin typeface="黑体" pitchFamily="49" charset="-122"/>
                <a:ea typeface="黑体" pitchFamily="49" charset="-122"/>
              </a:rPr>
              <a:t>判系统误差（消除或估计范围）</a:t>
            </a:r>
          </a:p>
          <a:p>
            <a:pPr marL="381000" indent="-381000">
              <a:buFontTx/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80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2800">
                <a:latin typeface="黑体" pitchFamily="49" charset="-122"/>
                <a:ea typeface="黑体" pitchFamily="49" charset="-122"/>
              </a:rPr>
              <a:t>）随机误差处理；（</a:t>
            </a:r>
            <a:r>
              <a:rPr lang="en-US" altLang="zh-CN" sz="2800"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sz="2800">
                <a:latin typeface="黑体" pitchFamily="49" charset="-122"/>
                <a:ea typeface="黑体" pitchFamily="49" charset="-122"/>
              </a:rPr>
              <a:t>）误差综合。</a:t>
            </a:r>
          </a:p>
          <a:p>
            <a:pPr marL="381000" indent="-381000"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习题：－、</a:t>
            </a:r>
            <a:r>
              <a:rPr lang="en-US" altLang="zh-CN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9</a:t>
            </a:r>
            <a:r>
              <a:rPr lang="zh-CN" altLang="en-US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；</a:t>
            </a:r>
            <a:r>
              <a:rPr lang="en-US" altLang="zh-CN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10     </a:t>
            </a:r>
            <a:r>
              <a:rPr lang="zh-CN" altLang="en-US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思考：一、</a:t>
            </a:r>
            <a:r>
              <a:rPr lang="en-US" altLang="zh-CN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；</a:t>
            </a:r>
            <a:r>
              <a:rPr lang="en-US" altLang="zh-CN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4</a:t>
            </a:r>
          </a:p>
          <a:p>
            <a:pPr marL="381000" indent="-381000">
              <a:buFontTx/>
              <a:buNone/>
            </a:pPr>
            <a:r>
              <a:rPr lang="en-US" altLang="zh-CN" sz="2800">
                <a:latin typeface="黑体" pitchFamily="49" charset="-122"/>
                <a:ea typeface="黑体" pitchFamily="49" charset="-122"/>
              </a:rPr>
              <a:t>           §1-3 </a:t>
            </a:r>
            <a:r>
              <a:rPr lang="zh-CN" altLang="en-US" sz="2800">
                <a:latin typeface="黑体" pitchFamily="49" charset="-122"/>
                <a:ea typeface="黑体" pitchFamily="49" charset="-122"/>
              </a:rPr>
              <a:t>测量系统分析</a:t>
            </a:r>
            <a:endParaRPr lang="zh-CN" altLang="en-US" sz="2800">
              <a:solidFill>
                <a:schemeClr val="accent2"/>
              </a:solidFill>
              <a:latin typeface="黑体" pitchFamily="49" charset="-122"/>
              <a:ea typeface="黑体" pitchFamily="49" charset="-122"/>
            </a:endParaRPr>
          </a:p>
          <a:p>
            <a:pPr marL="381000" indent="-381000">
              <a:buFontTx/>
              <a:buAutoNum type="ea1ChsPeriod"/>
            </a:pPr>
            <a:r>
              <a:rPr lang="zh-CN" altLang="en-US" sz="2800"/>
              <a:t>测量系统基本静态特性和指标</a:t>
            </a:r>
            <a:r>
              <a:rPr lang="zh-CN" altLang="en-US"/>
              <a:t>            </a:t>
            </a:r>
          </a:p>
          <a:p>
            <a:pPr marL="381000" indent="-381000"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*灵敏度 量程  基本误差 精确度（精度等级）迟滞误差</a:t>
            </a:r>
          </a:p>
          <a:p>
            <a:pPr marL="381000" indent="-381000">
              <a:buFontTx/>
              <a:buNone/>
            </a:pPr>
            <a:r>
              <a:rPr lang="zh-CN" altLang="en-US" sz="2800"/>
              <a:t>二、测量系统动态特性</a:t>
            </a:r>
          </a:p>
          <a:p>
            <a:pPr marL="381000" indent="-381000"/>
            <a:r>
              <a:rPr lang="zh-CN" altLang="en-US" sz="2800">
                <a:solidFill>
                  <a:schemeClr val="accent2"/>
                </a:solidFill>
                <a:latin typeface="宋体" pitchFamily="2" charset="-122"/>
              </a:rPr>
              <a:t>描述动态特性的基本方法（微分方程和传递函数）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0CC53-DD0D-4299-A056-973B072A7409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096000"/>
          </a:xfrm>
        </p:spPr>
        <p:txBody>
          <a:bodyPr>
            <a:normAutofit fontScale="92500" lnSpcReduction="10000"/>
          </a:bodyPr>
          <a:lstStyle/>
          <a:p>
            <a:pPr marL="381000" indent="-381000">
              <a:buFontTx/>
              <a:buNone/>
            </a:pPr>
            <a:r>
              <a:rPr lang="en-US" altLang="zh-CN" sz="2800">
                <a:solidFill>
                  <a:schemeClr val="accent2"/>
                </a:solidFill>
              </a:rPr>
              <a:t>    </a:t>
            </a:r>
            <a:r>
              <a:rPr lang="zh-CN" altLang="en-US" sz="2800">
                <a:solidFill>
                  <a:schemeClr val="accent2"/>
                </a:solidFill>
              </a:rPr>
              <a:t>基本测量系统（</a:t>
            </a:r>
            <a:r>
              <a:rPr lang="en-US" altLang="zh-CN" sz="2800">
                <a:solidFill>
                  <a:schemeClr val="accent2"/>
                </a:solidFill>
              </a:rPr>
              <a:t>0</a:t>
            </a:r>
            <a:r>
              <a:rPr lang="zh-CN" altLang="en-US" sz="2800">
                <a:solidFill>
                  <a:schemeClr val="accent2"/>
                </a:solidFill>
              </a:rPr>
              <a:t>、</a:t>
            </a:r>
            <a:r>
              <a:rPr lang="en-US" altLang="zh-CN" sz="2800">
                <a:solidFill>
                  <a:schemeClr val="accent2"/>
                </a:solidFill>
              </a:rPr>
              <a:t>1</a:t>
            </a:r>
            <a:r>
              <a:rPr lang="zh-CN" altLang="en-US" sz="2800">
                <a:solidFill>
                  <a:schemeClr val="accent2"/>
                </a:solidFill>
              </a:rPr>
              <a:t>、</a:t>
            </a:r>
            <a:r>
              <a:rPr lang="en-US" altLang="zh-CN" sz="2800">
                <a:solidFill>
                  <a:schemeClr val="accent2"/>
                </a:solidFill>
              </a:rPr>
              <a:t>2</a:t>
            </a:r>
            <a:r>
              <a:rPr lang="zh-CN" altLang="en-US" sz="2800">
                <a:solidFill>
                  <a:schemeClr val="accent2"/>
                </a:solidFill>
              </a:rPr>
              <a:t>阶）特性、一般描述和主要参数（</a:t>
            </a:r>
            <a:r>
              <a:rPr lang="en-US" altLang="zh-CN" sz="2800">
                <a:solidFill>
                  <a:schemeClr val="accent2"/>
                </a:solidFill>
              </a:rPr>
              <a:t>K, T, </a:t>
            </a:r>
            <a:r>
              <a:rPr lang="en-US" altLang="zh-CN" sz="2800">
                <a:solidFill>
                  <a:schemeClr val="accent2"/>
                </a:solidFill>
                <a:latin typeface="Symbol" pitchFamily="18" charset="2"/>
              </a:rPr>
              <a:t>w</a:t>
            </a:r>
            <a:r>
              <a:rPr lang="en-US" altLang="zh-CN" sz="2800" baseline="-25000">
                <a:solidFill>
                  <a:schemeClr val="accent2"/>
                </a:solidFill>
              </a:rPr>
              <a:t>n</a:t>
            </a:r>
            <a:r>
              <a:rPr lang="en-US" altLang="zh-CN" sz="2800">
                <a:solidFill>
                  <a:schemeClr val="accent2"/>
                </a:solidFill>
              </a:rPr>
              <a:t>,</a:t>
            </a:r>
            <a:r>
              <a:rPr lang="en-US" altLang="zh-CN" sz="2800">
                <a:solidFill>
                  <a:schemeClr val="accent2"/>
                </a:solidFill>
                <a:latin typeface="Symbol" pitchFamily="18" charset="2"/>
              </a:rPr>
              <a:t>z</a:t>
            </a:r>
            <a:r>
              <a:rPr lang="zh-CN" altLang="en-US" sz="2800">
                <a:solidFill>
                  <a:schemeClr val="accent2"/>
                </a:solidFill>
                <a:latin typeface="Symbol" pitchFamily="18" charset="2"/>
              </a:rPr>
              <a:t>）</a:t>
            </a:r>
          </a:p>
          <a:p>
            <a:pPr marL="381000" indent="-381000"/>
            <a:r>
              <a:rPr lang="zh-CN" altLang="en-US" sz="2800">
                <a:solidFill>
                  <a:schemeClr val="accent2"/>
                </a:solidFill>
              </a:rPr>
              <a:t>一阶测量系统对阶跃输人的响应特性（动态误差、稳定时间，及影响因素，结合热偶动态特性实验，了解一阶系统动态特性的试验确定方法）</a:t>
            </a:r>
          </a:p>
          <a:p>
            <a:pPr marL="381000" indent="-381000"/>
            <a:r>
              <a:rPr lang="zh-CN" altLang="en-US" sz="2800">
                <a:solidFill>
                  <a:schemeClr val="accent2"/>
                </a:solidFill>
              </a:rPr>
              <a:t>一阶测量系统的频率响应（频率特性含意，时间常数的影响，截止频率）</a:t>
            </a:r>
          </a:p>
          <a:p>
            <a:pPr marL="381000" indent="-381000"/>
            <a:r>
              <a:rPr lang="zh-CN" altLang="en-US" sz="2800">
                <a:solidFill>
                  <a:schemeClr val="accent2"/>
                </a:solidFill>
              </a:rPr>
              <a:t>习题：一、</a:t>
            </a:r>
            <a:r>
              <a:rPr lang="en-US" altLang="zh-CN" sz="2800">
                <a:solidFill>
                  <a:schemeClr val="accent2"/>
                </a:solidFill>
              </a:rPr>
              <a:t>12</a:t>
            </a:r>
            <a:r>
              <a:rPr lang="zh-CN" altLang="en-US" sz="2800">
                <a:solidFill>
                  <a:schemeClr val="accent2"/>
                </a:solidFill>
              </a:rPr>
              <a:t>、</a:t>
            </a:r>
            <a:r>
              <a:rPr lang="en-US" altLang="zh-CN" sz="2800">
                <a:solidFill>
                  <a:schemeClr val="accent2"/>
                </a:solidFill>
              </a:rPr>
              <a:t>13</a:t>
            </a:r>
            <a:r>
              <a:rPr lang="zh-CN" altLang="en-US" sz="2800">
                <a:solidFill>
                  <a:schemeClr val="accent2"/>
                </a:solidFill>
              </a:rPr>
              <a:t>、</a:t>
            </a:r>
            <a:r>
              <a:rPr lang="en-US" altLang="zh-CN" sz="2800">
                <a:solidFill>
                  <a:schemeClr val="accent2"/>
                </a:solidFill>
              </a:rPr>
              <a:t>17</a:t>
            </a:r>
            <a:r>
              <a:rPr lang="zh-CN" altLang="en-US" sz="2800">
                <a:solidFill>
                  <a:schemeClr val="accent2"/>
                </a:solidFill>
              </a:rPr>
              <a:t>，思考：热电偶动态模型</a:t>
            </a:r>
          </a:p>
          <a:p>
            <a:pPr marL="381000" indent="-381000"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                                                            相频特性估计</a:t>
            </a:r>
            <a:r>
              <a:rPr lang="en-US" altLang="zh-CN" sz="2800">
                <a:solidFill>
                  <a:schemeClr val="accent2"/>
                </a:solidFill>
                <a:latin typeface="Symbol" pitchFamily="18" charset="2"/>
              </a:rPr>
              <a:t>w</a:t>
            </a:r>
            <a:r>
              <a:rPr lang="en-US" altLang="zh-CN" sz="2800" baseline="-25000">
                <a:solidFill>
                  <a:schemeClr val="accent2"/>
                </a:solidFill>
              </a:rPr>
              <a:t>n</a:t>
            </a:r>
            <a:r>
              <a:rPr lang="en-US" altLang="zh-CN" sz="2800">
                <a:solidFill>
                  <a:schemeClr val="accent2"/>
                </a:solidFill>
              </a:rPr>
              <a:t>, </a:t>
            </a:r>
            <a:r>
              <a:rPr lang="en-US" altLang="zh-CN" sz="2800">
                <a:solidFill>
                  <a:schemeClr val="accent2"/>
                </a:solidFill>
                <a:latin typeface="Symbol" pitchFamily="18" charset="2"/>
              </a:rPr>
              <a:t>z</a:t>
            </a:r>
          </a:p>
          <a:p>
            <a:pPr marL="381000" indent="-381000">
              <a:buFontTx/>
              <a:buNone/>
            </a:pPr>
            <a:r>
              <a:rPr lang="en-US" altLang="zh-CN" sz="2800" b="1"/>
              <a:t>§2-1  </a:t>
            </a:r>
            <a:r>
              <a:rPr lang="zh-CN" altLang="en-US" sz="2800" b="1"/>
              <a:t>温度测量</a:t>
            </a:r>
          </a:p>
          <a:p>
            <a:pPr marL="381000" indent="-381000">
              <a:buFontTx/>
              <a:buNone/>
            </a:pPr>
            <a:r>
              <a:rPr lang="zh-CN" altLang="en-US" sz="2800"/>
              <a:t>一、接触式测温方法和仪表</a:t>
            </a:r>
          </a:p>
          <a:p>
            <a:pPr marL="381000" indent="-381000">
              <a:buFontTx/>
              <a:buNone/>
            </a:pPr>
            <a:r>
              <a:rPr lang="zh-CN" altLang="en-US" sz="2800"/>
              <a:t>*</a:t>
            </a:r>
            <a:r>
              <a:rPr lang="en-US" altLang="zh-CN" sz="2800"/>
              <a:t>1</a:t>
            </a:r>
            <a:r>
              <a:rPr lang="zh-CN" altLang="en-US" sz="2800"/>
              <a:t>、热电偶测温</a:t>
            </a:r>
          </a:p>
          <a:p>
            <a:pPr marL="381000" indent="-381000"/>
            <a:r>
              <a:rPr lang="zh-CN" altLang="en-US" sz="2800">
                <a:solidFill>
                  <a:schemeClr val="accent2"/>
                </a:solidFill>
              </a:rPr>
              <a:t>测温原理、</a:t>
            </a:r>
            <a:r>
              <a:rPr lang="zh-CN" altLang="en-US" sz="2800">
                <a:solidFill>
                  <a:schemeClr val="accent2"/>
                </a:solidFill>
                <a:latin typeface="宋体" pitchFamily="2" charset="-122"/>
              </a:rPr>
              <a:t>回路性质</a:t>
            </a:r>
            <a:r>
              <a:rPr lang="zh-CN" altLang="en-US" sz="2800">
                <a:solidFill>
                  <a:schemeClr val="accent2"/>
                </a:solidFill>
              </a:rPr>
              <a:t> （</a:t>
            </a:r>
            <a:r>
              <a:rPr lang="en-US" altLang="zh-CN" sz="2800">
                <a:solidFill>
                  <a:schemeClr val="accent2"/>
                </a:solidFill>
              </a:rPr>
              <a:t>4</a:t>
            </a:r>
            <a:r>
              <a:rPr lang="zh-CN" altLang="en-US" sz="2800">
                <a:solidFill>
                  <a:schemeClr val="accent2"/>
                </a:solidFill>
              </a:rPr>
              <a:t>点）、几种热偶（测温范围）</a:t>
            </a:r>
          </a:p>
          <a:p>
            <a:pPr marL="381000" indent="-381000"/>
            <a:r>
              <a:rPr lang="zh-CN" altLang="en-US" sz="2800">
                <a:solidFill>
                  <a:schemeClr val="accent2"/>
                </a:solidFill>
              </a:rPr>
              <a:t>热偶冷端处理方法（几种方法、补偿原理、特点）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33AF1-1419-43CC-A648-B210C65ACCB7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zh-CN" altLang="en-US" sz="2800">
                <a:solidFill>
                  <a:schemeClr val="accent2"/>
                </a:solidFill>
              </a:rPr>
              <a:t>热电势的测量（动圈式温度指示仪、电位差计，比较其测量原理，线路电阻的影响）</a:t>
            </a:r>
          </a:p>
          <a:p>
            <a:pPr>
              <a:buFontTx/>
              <a:buNone/>
            </a:pPr>
            <a:r>
              <a:rPr lang="en-US" altLang="zh-CN" sz="2800"/>
              <a:t>2</a:t>
            </a:r>
            <a:r>
              <a:rPr lang="zh-CN" altLang="en-US" sz="2800"/>
              <a:t>、</a:t>
            </a:r>
            <a:r>
              <a:rPr lang="zh-CN" altLang="en-US" sz="2800">
                <a:solidFill>
                  <a:schemeClr val="accent2"/>
                </a:solidFill>
              </a:rPr>
              <a:t> </a:t>
            </a:r>
            <a:r>
              <a:rPr lang="zh-CN" altLang="en-US" sz="2800">
                <a:ea typeface="黑体" pitchFamily="49" charset="-122"/>
              </a:rPr>
              <a:t>热电阻测温</a:t>
            </a:r>
            <a:r>
              <a:rPr lang="zh-CN" altLang="en-US" sz="2800" b="1" i="1"/>
              <a:t> </a:t>
            </a:r>
          </a:p>
          <a:p>
            <a:r>
              <a:rPr lang="zh-CN" altLang="en-US" sz="2800">
                <a:solidFill>
                  <a:schemeClr val="accent2"/>
                </a:solidFill>
              </a:rPr>
              <a:t>两种常用热电阻（铂、铜）特点，热电阻测量（不平衡或平衡电桥，两种接线方法（二线或三线）</a:t>
            </a:r>
          </a:p>
          <a:p>
            <a:r>
              <a:rPr lang="zh-CN" altLang="en-US" sz="2800">
                <a:solidFill>
                  <a:schemeClr val="accent2"/>
                </a:solidFill>
              </a:rPr>
              <a:t>*热电阻校验（方法、设备、步骤；可与热电偶一并考虑）和误差分析。</a:t>
            </a:r>
          </a:p>
          <a:p>
            <a:pPr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*</a:t>
            </a:r>
            <a:r>
              <a:rPr lang="en-US" altLang="zh-CN" sz="2800">
                <a:solidFill>
                  <a:schemeClr val="accent2"/>
                </a:solidFill>
              </a:rPr>
              <a:t>3</a:t>
            </a:r>
            <a:r>
              <a:rPr lang="zh-CN" altLang="en-US" sz="2800">
                <a:solidFill>
                  <a:schemeClr val="accent2"/>
                </a:solidFill>
              </a:rPr>
              <a:t>、接触测温技术和误差</a:t>
            </a:r>
          </a:p>
          <a:p>
            <a:pPr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导热误差（管道流体温度测量、壁面温度测量 ）</a:t>
            </a:r>
          </a:p>
          <a:p>
            <a:pPr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辐射误差（高温气体温度测量 ）</a:t>
            </a:r>
          </a:p>
          <a:p>
            <a:pPr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速度误差（高速气流温度测量 ）</a:t>
            </a:r>
          </a:p>
          <a:p>
            <a:pPr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二、 </a:t>
            </a:r>
            <a:r>
              <a:rPr lang="zh-CN" altLang="en-US" sz="2800" b="1">
                <a:latin typeface="宋体" pitchFamily="2" charset="-122"/>
              </a:rPr>
              <a:t>非接触式温度测量</a:t>
            </a:r>
            <a:r>
              <a:rPr lang="zh-CN" altLang="en-US" sz="2800"/>
              <a:t> </a:t>
            </a:r>
          </a:p>
          <a:p>
            <a:pPr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ea typeface="黑体" pitchFamily="49" charset="-122"/>
              </a:rPr>
              <a:t>*</a:t>
            </a:r>
            <a:r>
              <a:rPr lang="zh-CN" altLang="en-US" sz="2800">
                <a:solidFill>
                  <a:schemeClr val="accent2"/>
                </a:solidFill>
                <a:ea typeface="黑体" pitchFamily="49" charset="-122"/>
              </a:rPr>
              <a:t>光学高温计：</a:t>
            </a:r>
            <a:r>
              <a:rPr lang="zh-CN" altLang="en-US" sz="2800">
                <a:solidFill>
                  <a:schemeClr val="accent2"/>
                </a:solidFill>
              </a:rPr>
              <a:t>工作原理、亮度温度与实际温度关系、影响测温精度的主要因素。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CD8D-C46F-45B2-92E5-3BEBD16DC47D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190500" indent="-190500" algn="just">
              <a:buFontTx/>
              <a:buNone/>
            </a:pPr>
            <a:r>
              <a:rPr lang="en-US" altLang="zh-CN"/>
              <a:t>  </a:t>
            </a:r>
            <a:r>
              <a:rPr lang="zh-CN" altLang="en-US" sz="2800">
                <a:solidFill>
                  <a:schemeClr val="accent2"/>
                </a:solidFill>
              </a:rPr>
              <a:t>全辐射高温计、比色高温计原理。影响测温因素并与光学高温计比较</a:t>
            </a:r>
            <a:r>
              <a:rPr lang="zh-CN" altLang="en-US"/>
              <a:t> </a:t>
            </a:r>
          </a:p>
          <a:p>
            <a:pPr marL="190500" indent="-190500" algn="just"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习题：二、</a:t>
            </a:r>
            <a:r>
              <a:rPr lang="en-US" altLang="zh-CN" sz="2800">
                <a:solidFill>
                  <a:schemeClr val="accent2"/>
                </a:solidFill>
              </a:rPr>
              <a:t>4</a:t>
            </a:r>
            <a:r>
              <a:rPr lang="zh-CN" altLang="en-US" sz="2800">
                <a:solidFill>
                  <a:schemeClr val="accent2"/>
                </a:solidFill>
              </a:rPr>
              <a:t>、</a:t>
            </a:r>
            <a:r>
              <a:rPr lang="en-US" altLang="zh-CN" sz="2800">
                <a:solidFill>
                  <a:schemeClr val="accent2"/>
                </a:solidFill>
              </a:rPr>
              <a:t>5</a:t>
            </a:r>
            <a:r>
              <a:rPr lang="zh-CN" altLang="en-US" sz="2800">
                <a:solidFill>
                  <a:schemeClr val="accent2"/>
                </a:solidFill>
              </a:rPr>
              <a:t>、</a:t>
            </a:r>
            <a:r>
              <a:rPr lang="en-US" altLang="zh-CN" sz="2800">
                <a:solidFill>
                  <a:schemeClr val="accent2"/>
                </a:solidFill>
              </a:rPr>
              <a:t>7</a:t>
            </a:r>
            <a:r>
              <a:rPr lang="zh-CN" altLang="en-US" sz="2800">
                <a:solidFill>
                  <a:schemeClr val="accent2"/>
                </a:solidFill>
              </a:rPr>
              <a:t>、</a:t>
            </a:r>
            <a:r>
              <a:rPr lang="en-US" altLang="zh-CN" sz="2800">
                <a:solidFill>
                  <a:schemeClr val="accent2"/>
                </a:solidFill>
              </a:rPr>
              <a:t>9</a:t>
            </a:r>
            <a:r>
              <a:rPr lang="zh-CN" altLang="en-US" sz="2800">
                <a:solidFill>
                  <a:schemeClr val="accent2"/>
                </a:solidFill>
              </a:rPr>
              <a:t>、</a:t>
            </a:r>
            <a:r>
              <a:rPr lang="en-US" altLang="zh-CN" sz="2800">
                <a:solidFill>
                  <a:schemeClr val="accent2"/>
                </a:solidFill>
              </a:rPr>
              <a:t>10</a:t>
            </a:r>
            <a:r>
              <a:rPr lang="zh-CN" altLang="en-US" sz="2800">
                <a:solidFill>
                  <a:schemeClr val="accent2"/>
                </a:solidFill>
              </a:rPr>
              <a:t>；思考：二、</a:t>
            </a:r>
            <a:r>
              <a:rPr lang="en-US" altLang="zh-CN" sz="2800">
                <a:solidFill>
                  <a:schemeClr val="accent2"/>
                </a:solidFill>
              </a:rPr>
              <a:t>3</a:t>
            </a:r>
          </a:p>
          <a:p>
            <a:pPr marL="190500" indent="-190500">
              <a:buFontTx/>
              <a:buNone/>
            </a:pPr>
            <a:r>
              <a:rPr lang="en-US" altLang="zh-CN" sz="2800" b="1">
                <a:cs typeface="Times New Roman" pitchFamily="18" charset="0"/>
              </a:rPr>
              <a:t>§ </a:t>
            </a:r>
            <a:r>
              <a:rPr lang="en-US" altLang="zh-CN" sz="2800" b="1"/>
              <a:t>2-2  </a:t>
            </a:r>
            <a:r>
              <a:rPr lang="zh-CN" altLang="en-US" sz="2800" b="1"/>
              <a:t>压力测量</a:t>
            </a:r>
          </a:p>
          <a:p>
            <a:pPr marL="190500" indent="-190500">
              <a:buFontTx/>
              <a:buNone/>
            </a:pPr>
            <a:r>
              <a:rPr lang="zh-CN" altLang="en-US" sz="2800" b="1"/>
              <a:t>一、常规测压方法与压力信号电变送</a:t>
            </a:r>
          </a:p>
          <a:p>
            <a:pPr marL="190500" indent="-190500">
              <a:buFontTx/>
              <a:buNone/>
            </a:pPr>
            <a:r>
              <a:rPr lang="zh-CN" altLang="en-US" sz="2800"/>
              <a:t>几种常规测压方法的基本原理</a:t>
            </a:r>
          </a:p>
          <a:p>
            <a:pPr marL="190500" indent="-190500">
              <a:buFontTx/>
              <a:buNone/>
            </a:pPr>
            <a:r>
              <a:rPr lang="zh-CN" altLang="en-US" sz="2800"/>
              <a:t>压力信号的电变送：电阻、电容、电感，了解原理和特点</a:t>
            </a:r>
          </a:p>
          <a:p>
            <a:pPr marL="190500" indent="-190500">
              <a:buFontTx/>
              <a:buNone/>
            </a:pPr>
            <a:r>
              <a:rPr lang="zh-CN" altLang="en-US" sz="2800" b="1"/>
              <a:t>二、利用测压管测量气流压力和速度</a:t>
            </a:r>
          </a:p>
          <a:p>
            <a:pPr marL="190500" indent="-190500">
              <a:lnSpc>
                <a:spcPct val="125000"/>
              </a:lnSpc>
              <a:spcBef>
                <a:spcPct val="500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*基本原理（伯努利方程、绕流规律、压力系数</a:t>
            </a:r>
            <a:r>
              <a:rPr lang="en-US" altLang="zh-CN" sz="2800">
                <a:solidFill>
                  <a:schemeClr val="accent2"/>
                </a:solidFill>
              </a:rPr>
              <a:t>C</a:t>
            </a:r>
            <a:r>
              <a:rPr lang="en-US" altLang="zh-CN" sz="2800" baseline="-25000">
                <a:solidFill>
                  <a:schemeClr val="accent2"/>
                </a:solidFill>
              </a:rPr>
              <a:t>p</a:t>
            </a:r>
            <a:r>
              <a:rPr lang="zh-CN" altLang="en-US" sz="2800">
                <a:solidFill>
                  <a:schemeClr val="accent2"/>
                </a:solidFill>
              </a:rPr>
              <a:t>＝</a:t>
            </a:r>
            <a:r>
              <a:rPr lang="en-US" altLang="zh-CN" sz="2800">
                <a:solidFill>
                  <a:schemeClr val="accent2"/>
                </a:solidFill>
              </a:rPr>
              <a:t>1</a:t>
            </a:r>
            <a:r>
              <a:rPr lang="zh-CN" altLang="en-US" sz="2800">
                <a:solidFill>
                  <a:schemeClr val="accent2"/>
                </a:solidFill>
              </a:rPr>
              <a:t>和</a:t>
            </a:r>
            <a:r>
              <a:rPr lang="en-US" altLang="zh-CN" sz="2800">
                <a:solidFill>
                  <a:schemeClr val="accent2"/>
                </a:solidFill>
              </a:rPr>
              <a:t>C</a:t>
            </a:r>
            <a:r>
              <a:rPr lang="en-US" altLang="zh-CN" sz="2800" baseline="-25000">
                <a:solidFill>
                  <a:schemeClr val="accent2"/>
                </a:solidFill>
              </a:rPr>
              <a:t>p</a:t>
            </a:r>
            <a:r>
              <a:rPr lang="zh-CN" altLang="en-US" sz="2800">
                <a:solidFill>
                  <a:schemeClr val="accent2"/>
                </a:solidFill>
              </a:rPr>
              <a:t>＝</a:t>
            </a:r>
            <a:r>
              <a:rPr lang="en-US" altLang="zh-CN" sz="2800">
                <a:solidFill>
                  <a:schemeClr val="accent2"/>
                </a:solidFill>
              </a:rPr>
              <a:t>0</a:t>
            </a:r>
            <a:r>
              <a:rPr lang="zh-CN" altLang="en-US" sz="2800">
                <a:solidFill>
                  <a:schemeClr val="accent2"/>
                </a:solidFill>
              </a:rPr>
              <a:t>处取压分别是总压、静压，总、静、动压及方向管气动特性）</a:t>
            </a:r>
          </a:p>
          <a:p>
            <a:pPr marL="190500" indent="-190500"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*二元测压管：原理，校准曲线（实验获取）</a:t>
            </a:r>
          </a:p>
          <a:p>
            <a:pPr marL="190500" indent="-190500">
              <a:buFontTx/>
              <a:buNone/>
            </a:pPr>
            <a:r>
              <a:rPr lang="zh-CN" altLang="en-US" sz="2800" b="1"/>
              <a:t>三、热线风速仪、激光多普勒测速技术和</a:t>
            </a:r>
            <a:r>
              <a:rPr lang="en-US" altLang="zh-CN" sz="2800" b="1"/>
              <a:t>PIV</a:t>
            </a:r>
            <a:r>
              <a:rPr lang="zh-CN" altLang="en-US" sz="2800" b="1"/>
              <a:t>原理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1B1DD-413F-4F56-972E-C3BFF4AA44EA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0960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zh-CN" altLang="en-US" sz="2800"/>
              <a:t>原理、主要特点（与测压管比）</a:t>
            </a:r>
          </a:p>
          <a:p>
            <a:pPr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习题：二、</a:t>
            </a:r>
            <a:r>
              <a:rPr lang="en-US" altLang="zh-CN" sz="2800">
                <a:solidFill>
                  <a:schemeClr val="accent2"/>
                </a:solidFill>
              </a:rPr>
              <a:t>15</a:t>
            </a:r>
            <a:r>
              <a:rPr lang="zh-CN" altLang="en-US" sz="2800">
                <a:solidFill>
                  <a:schemeClr val="accent2"/>
                </a:solidFill>
              </a:rPr>
              <a:t>、</a:t>
            </a:r>
            <a:r>
              <a:rPr lang="en-US" altLang="zh-CN" sz="2800">
                <a:solidFill>
                  <a:schemeClr val="accent2"/>
                </a:solidFill>
              </a:rPr>
              <a:t>16</a:t>
            </a:r>
            <a:r>
              <a:rPr lang="zh-CN" altLang="en-US" sz="2800">
                <a:solidFill>
                  <a:schemeClr val="accent2"/>
                </a:solidFill>
              </a:rPr>
              <a:t>； 思考：</a:t>
            </a:r>
            <a:r>
              <a:rPr lang="en-US" altLang="zh-CN" sz="2800">
                <a:solidFill>
                  <a:schemeClr val="accent2"/>
                </a:solidFill>
              </a:rPr>
              <a:t>14</a:t>
            </a:r>
            <a:r>
              <a:rPr lang="zh-CN" altLang="en-US" sz="2800">
                <a:solidFill>
                  <a:schemeClr val="accent2"/>
                </a:solidFill>
              </a:rPr>
              <a:t>，如何对电阻应变片进行</a:t>
            </a:r>
          </a:p>
          <a:p>
            <a:pPr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                                                        温度补偿</a:t>
            </a:r>
          </a:p>
          <a:p>
            <a:pPr>
              <a:buFontTx/>
              <a:buNone/>
            </a:pPr>
            <a:r>
              <a:rPr lang="en-US" altLang="zh-CN" sz="2800" b="1">
                <a:latin typeface="宋体" pitchFamily="2" charset="-122"/>
              </a:rPr>
              <a:t>§</a:t>
            </a:r>
            <a:r>
              <a:rPr lang="en-US" altLang="zh-CN" sz="2800" b="1"/>
              <a:t>2-4  </a:t>
            </a:r>
            <a:r>
              <a:rPr lang="zh-CN" altLang="en-US" sz="2800" b="1">
                <a:latin typeface="宋体" pitchFamily="2" charset="-122"/>
              </a:rPr>
              <a:t>流量测量</a:t>
            </a:r>
          </a:p>
          <a:p>
            <a:pPr>
              <a:buFontTx/>
              <a:buNone/>
            </a:pPr>
            <a:r>
              <a:rPr lang="zh-CN" altLang="en-US" sz="2800" b="1"/>
              <a:t>一、节流式流量计</a:t>
            </a:r>
          </a:p>
          <a:p>
            <a:pPr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* 测量原理、流量方程、流量系数、膨胀系数、压力损失。</a:t>
            </a:r>
          </a:p>
          <a:p>
            <a:pPr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   </a:t>
            </a:r>
            <a:r>
              <a:rPr lang="zh-CN" altLang="en-US" sz="2800"/>
              <a:t>标准节流装置的设计计算（思路分析，计算）</a:t>
            </a:r>
          </a:p>
          <a:p>
            <a:pPr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* 标准节流装置的应用（适用条件、最小流量限制、密度修正）</a:t>
            </a:r>
          </a:p>
          <a:p>
            <a:pPr>
              <a:buFontTx/>
              <a:buNone/>
            </a:pPr>
            <a:r>
              <a:rPr lang="zh-CN" altLang="en-US" sz="2800"/>
              <a:t>二、其他流量计</a:t>
            </a:r>
          </a:p>
          <a:p>
            <a:pPr>
              <a:buFontTx/>
              <a:buNone/>
            </a:pPr>
            <a:r>
              <a:rPr lang="zh-CN" altLang="en-US" sz="2800"/>
              <a:t>    涡轮、涡街（原理、特点）</a:t>
            </a:r>
          </a:p>
          <a:p>
            <a:pPr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习题：二、</a:t>
            </a:r>
            <a:r>
              <a:rPr lang="en-US" altLang="zh-CN" sz="2800">
                <a:solidFill>
                  <a:schemeClr val="accent2"/>
                </a:solidFill>
              </a:rPr>
              <a:t>18</a:t>
            </a:r>
            <a:r>
              <a:rPr lang="zh-CN" altLang="en-US" sz="2800">
                <a:solidFill>
                  <a:schemeClr val="accent2"/>
                </a:solidFill>
              </a:rPr>
              <a:t>、</a:t>
            </a:r>
            <a:r>
              <a:rPr lang="en-US" altLang="zh-CN" sz="2800">
                <a:solidFill>
                  <a:schemeClr val="accent2"/>
                </a:solidFill>
              </a:rPr>
              <a:t>20                    </a:t>
            </a:r>
            <a:r>
              <a:rPr lang="zh-CN" altLang="en-US" sz="2800">
                <a:solidFill>
                  <a:schemeClr val="accent2"/>
                </a:solidFill>
              </a:rPr>
              <a:t>思考：二、</a:t>
            </a:r>
            <a:r>
              <a:rPr lang="en-US" altLang="zh-CN" sz="2800">
                <a:solidFill>
                  <a:schemeClr val="accent2"/>
                </a:solidFill>
              </a:rPr>
              <a:t>17</a:t>
            </a:r>
            <a:r>
              <a:rPr lang="zh-CN" altLang="en-US" sz="2800">
                <a:solidFill>
                  <a:schemeClr val="accent2"/>
                </a:solidFill>
              </a:rPr>
              <a:t>，</a:t>
            </a:r>
            <a:r>
              <a:rPr lang="en-US" altLang="zh-CN" sz="2800">
                <a:solidFill>
                  <a:schemeClr val="accent2"/>
                </a:solidFill>
              </a:rPr>
              <a:t>21</a:t>
            </a:r>
          </a:p>
          <a:p>
            <a:pPr>
              <a:buFontTx/>
              <a:buNone/>
            </a:pPr>
            <a:r>
              <a:rPr lang="en-US" altLang="zh-CN" sz="2800">
                <a:solidFill>
                  <a:schemeClr val="accent2"/>
                </a:solidFill>
              </a:rPr>
              <a:t>                                                   </a:t>
            </a:r>
            <a:r>
              <a:rPr lang="zh-CN" altLang="en-US" sz="2800">
                <a:solidFill>
                  <a:schemeClr val="accent2"/>
                </a:solidFill>
              </a:rPr>
              <a:t>涡街热丝频率测量的原理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F352A-6404-42EE-B188-7F983125EF4B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0"/>
            <a:ext cx="7772400" cy="549275"/>
          </a:xfrm>
        </p:spPr>
        <p:txBody>
          <a:bodyPr/>
          <a:lstStyle/>
          <a:p>
            <a:r>
              <a:rPr lang="zh-CN" altLang="en-US" sz="2800"/>
              <a:t>几个作业问题（习题）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49275"/>
            <a:ext cx="9144000" cy="6308725"/>
          </a:xfrm>
        </p:spPr>
        <p:txBody>
          <a:bodyPr/>
          <a:lstStyle/>
          <a:p>
            <a:pPr algn="l"/>
            <a:r>
              <a:rPr lang="zh-CN" altLang="en-US" sz="2800"/>
              <a:t>一、</a:t>
            </a:r>
            <a:r>
              <a:rPr lang="en-US" altLang="zh-CN" sz="2800"/>
              <a:t>11. </a:t>
            </a:r>
            <a:r>
              <a:rPr lang="zh-CN" altLang="en-US" sz="2800"/>
              <a:t>钢水出炉温度为</a:t>
            </a:r>
            <a:r>
              <a:rPr lang="en-US" altLang="zh-CN" sz="2800"/>
              <a:t>1600℃</a:t>
            </a:r>
            <a:r>
              <a:rPr lang="zh-CN" altLang="en-US" sz="2800"/>
              <a:t>，其允许误差不超过</a:t>
            </a:r>
            <a:r>
              <a:rPr lang="en-US" altLang="zh-CN" sz="2800"/>
              <a:t>±10℃</a:t>
            </a:r>
            <a:r>
              <a:rPr lang="zh-CN" altLang="en-US" sz="2800"/>
              <a:t>，已知温度测量的标准误差</a:t>
            </a:r>
            <a:r>
              <a:rPr lang="en-US" altLang="zh-CN" sz="2800"/>
              <a:t>σ</a:t>
            </a:r>
            <a:r>
              <a:rPr lang="zh-CN" altLang="en-US" sz="2800"/>
              <a:t>＝ </a:t>
            </a:r>
            <a:r>
              <a:rPr lang="en-US" altLang="zh-CN" sz="2800"/>
              <a:t>8℃</a:t>
            </a:r>
            <a:r>
              <a:rPr lang="zh-CN" altLang="en-US" sz="2800"/>
              <a:t>，若系统误差为</a:t>
            </a:r>
            <a:r>
              <a:rPr lang="en-US" altLang="zh-CN" sz="2800"/>
              <a:t>-6℃</a:t>
            </a:r>
            <a:r>
              <a:rPr lang="zh-CN" altLang="en-US" sz="2800"/>
              <a:t>，试求：当仪表示值为</a:t>
            </a:r>
            <a:r>
              <a:rPr lang="en-US" altLang="zh-CN" sz="2800"/>
              <a:t>1600℃</a:t>
            </a:r>
            <a:r>
              <a:rPr lang="zh-CN" altLang="en-US" sz="2800"/>
              <a:t>时，钢水温度落在允许误差范围内的概率。假设随机误差按正态分布。</a:t>
            </a:r>
            <a:r>
              <a:rPr lang="en-US" altLang="zh-CN" sz="2800"/>
              <a:t>(</a:t>
            </a:r>
            <a:r>
              <a:rPr lang="zh-CN" altLang="en-US" sz="2800">
                <a:solidFill>
                  <a:srgbClr val="0000FF"/>
                </a:solidFill>
              </a:rPr>
              <a:t>未做</a:t>
            </a:r>
            <a:r>
              <a:rPr lang="en-US" altLang="zh-CN" sz="2800"/>
              <a:t>)</a:t>
            </a:r>
          </a:p>
          <a:p>
            <a:pPr algn="l"/>
            <a:r>
              <a:rPr lang="en-US" altLang="zh-CN" sz="2800"/>
              <a:t> </a:t>
            </a:r>
            <a:r>
              <a:rPr lang="zh-CN" altLang="en-US" sz="2800"/>
              <a:t>二、</a:t>
            </a:r>
            <a:r>
              <a:rPr lang="en-US" altLang="zh-CN" sz="2800"/>
              <a:t>4. </a:t>
            </a:r>
            <a:r>
              <a:rPr lang="zh-CN" altLang="en-US" sz="2800"/>
              <a:t>有一测温线路如图</a:t>
            </a:r>
            <a:r>
              <a:rPr lang="en-US" altLang="zh-CN" sz="2800"/>
              <a:t>2_1</a:t>
            </a:r>
            <a:r>
              <a:rPr lang="zh-CN" altLang="en-US" sz="2800"/>
              <a:t>所示，热电偶的分度号为</a:t>
            </a:r>
            <a:r>
              <a:rPr lang="en-US" altLang="zh-CN" sz="2800"/>
              <a:t>K</a:t>
            </a:r>
            <a:r>
              <a:rPr lang="zh-CN" altLang="en-US" sz="2800"/>
              <a:t>，仪表示值为 </a:t>
            </a:r>
            <a:r>
              <a:rPr lang="en-US" altLang="zh-CN" sz="2800"/>
              <a:t>758℃</a:t>
            </a:r>
            <a:r>
              <a:rPr lang="zh-CN" altLang="en-US" sz="2800"/>
              <a:t>，冷端温度为</a:t>
            </a:r>
            <a:r>
              <a:rPr lang="en-US" altLang="zh-CN" sz="2800"/>
              <a:t>30℃</a:t>
            </a:r>
            <a:r>
              <a:rPr lang="zh-CN" altLang="en-US" sz="2800"/>
              <a:t>，后发现用了不同分度号的补偿盒（</a:t>
            </a:r>
            <a:r>
              <a:rPr lang="en-US" altLang="zh-CN" sz="2800"/>
              <a:t>E</a:t>
            </a:r>
            <a:r>
              <a:rPr lang="en-US" altLang="zh-CN" sz="2800" baseline="-25000"/>
              <a:t>E</a:t>
            </a:r>
            <a:r>
              <a:rPr lang="en-US" altLang="zh-CN" sz="2800"/>
              <a:t>(30, 20℃)</a:t>
            </a:r>
            <a:r>
              <a:rPr lang="zh-CN" altLang="en-US" sz="2800"/>
              <a:t>＝</a:t>
            </a:r>
            <a:r>
              <a:rPr lang="en-US" altLang="zh-CN" sz="2800"/>
              <a:t>0.609mV</a:t>
            </a:r>
            <a:r>
              <a:rPr lang="zh-CN" altLang="en-US" sz="2800"/>
              <a:t>），试求被测介质的实际温度。</a:t>
            </a:r>
          </a:p>
          <a:p>
            <a:pPr algn="l"/>
            <a:endParaRPr lang="zh-CN" altLang="en-US" sz="2800"/>
          </a:p>
          <a:p>
            <a:pPr algn="l"/>
            <a:endParaRPr lang="zh-CN" altLang="en-US" sz="2800"/>
          </a:p>
          <a:p>
            <a:pPr algn="l"/>
            <a:endParaRPr lang="zh-CN" altLang="en-US" sz="2800"/>
          </a:p>
          <a:p>
            <a:pPr algn="l"/>
            <a:r>
              <a:rPr lang="zh-CN" altLang="en-US" sz="2800"/>
              <a:t> 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2484438" y="4149725"/>
          <a:ext cx="6659562" cy="2708275"/>
        </p:xfrm>
        <a:graphic>
          <a:graphicData uri="http://schemas.openxmlformats.org/presentationml/2006/ole">
            <p:oleObj spid="_x0000_s1026" name="BMP 图像" r:id="rId3" imgW="2827265" imgH="1059048" progId="Paint.Picture">
              <p:embed/>
            </p:oleObj>
          </a:graphicData>
        </a:graphic>
      </p:graphicFrame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054" name="Object 6"/>
          <p:cNvGraphicFramePr>
            <a:graphicFrameLocks noChangeAspect="1"/>
          </p:cNvGraphicFramePr>
          <p:nvPr/>
        </p:nvGraphicFramePr>
        <p:xfrm>
          <a:off x="0" y="5373688"/>
          <a:ext cx="3419475" cy="1085850"/>
        </p:xfrm>
        <a:graphic>
          <a:graphicData uri="http://schemas.openxmlformats.org/presentationml/2006/ole">
            <p:oleObj spid="_x0000_s1027" name="公式" r:id="rId4" imgW="1460160" imgH="457200" progId="Equation.3">
              <p:embed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7925-D806-44AE-B74D-183730D2AB0B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/>
              <a:t>二、</a:t>
            </a:r>
            <a:r>
              <a:rPr lang="en-US" altLang="zh-CN"/>
              <a:t>16. </a:t>
            </a:r>
            <a:r>
              <a:rPr lang="zh-CN" altLang="en-US"/>
              <a:t>一支三孔复合测压管，其校准曲线如图</a:t>
            </a:r>
            <a:r>
              <a:rPr lang="en-US" altLang="zh-CN"/>
              <a:t>2_6</a:t>
            </a:r>
            <a:r>
              <a:rPr lang="zh-CN" altLang="en-US"/>
              <a:t>所示。若用这支测压管测量管道中气流速度，测得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 =1050mmH</a:t>
            </a:r>
            <a:r>
              <a:rPr lang="en-US" altLang="zh-CN" baseline="-25000"/>
              <a:t>2 </a:t>
            </a:r>
            <a:r>
              <a:rPr lang="en-US" altLang="zh-CN"/>
              <a:t>O</a:t>
            </a:r>
            <a:r>
              <a:rPr lang="zh-CN" altLang="en-US"/>
              <a:t>，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 =1800mmH</a:t>
            </a:r>
            <a:r>
              <a:rPr lang="en-US" altLang="zh-CN" baseline="-25000"/>
              <a:t>2 </a:t>
            </a:r>
            <a:r>
              <a:rPr lang="en-US" altLang="zh-CN"/>
              <a:t>O</a:t>
            </a:r>
            <a:r>
              <a:rPr lang="zh-CN" altLang="en-US"/>
              <a:t>，</a:t>
            </a:r>
            <a:r>
              <a:rPr lang="en-US" altLang="zh-CN"/>
              <a:t>P</a:t>
            </a:r>
            <a:r>
              <a:rPr lang="en-US" altLang="zh-CN" baseline="-25000"/>
              <a:t>3</a:t>
            </a:r>
            <a:r>
              <a:rPr lang="en-US" altLang="zh-CN"/>
              <a:t> =1050mmH</a:t>
            </a:r>
            <a:r>
              <a:rPr lang="en-US" altLang="zh-CN" baseline="-25000"/>
              <a:t>2</a:t>
            </a:r>
            <a:r>
              <a:rPr lang="en-US" altLang="zh-CN"/>
              <a:t> O  (</a:t>
            </a:r>
            <a:r>
              <a:rPr lang="zh-CN" altLang="en-US"/>
              <a:t>表压</a:t>
            </a:r>
            <a:r>
              <a:rPr lang="en-US" altLang="zh-CN"/>
              <a:t>)</a:t>
            </a:r>
            <a:r>
              <a:rPr lang="zh-CN" altLang="en-US"/>
              <a:t>，同时用热电偶温度计测管道中空气温度，温度计读数</a:t>
            </a:r>
            <a:r>
              <a:rPr lang="en-US" altLang="zh-CN"/>
              <a:t>t</a:t>
            </a:r>
            <a:r>
              <a:rPr lang="en-US" altLang="zh-CN" baseline="-25000"/>
              <a:t>g</a:t>
            </a:r>
            <a:r>
              <a:rPr lang="en-US" altLang="zh-CN"/>
              <a:t> = 27℃ </a:t>
            </a:r>
            <a:r>
              <a:rPr lang="zh-CN" altLang="en-US"/>
              <a:t>。 若已知热偶恢复系数</a:t>
            </a:r>
            <a:r>
              <a:rPr lang="en-US" altLang="zh-CN"/>
              <a:t>r=0.9</a:t>
            </a:r>
            <a:r>
              <a:rPr lang="zh-CN" altLang="en-US"/>
              <a:t>，大气压力为</a:t>
            </a:r>
            <a:r>
              <a:rPr lang="en-US" altLang="zh-CN"/>
              <a:t>760mmHg</a:t>
            </a:r>
            <a:r>
              <a:rPr lang="zh-CN" altLang="en-US"/>
              <a:t>，试求∶管道中空气流速</a:t>
            </a:r>
            <a:r>
              <a:rPr lang="en-US" altLang="zh-CN"/>
              <a:t>(</a:t>
            </a:r>
            <a:r>
              <a:rPr lang="zh-CN" altLang="en-US"/>
              <a:t>假定管道中空气流速在测点附近是稳定的</a:t>
            </a:r>
            <a:r>
              <a:rPr lang="en-US" altLang="zh-CN"/>
              <a:t>) </a:t>
            </a:r>
            <a:r>
              <a:rPr lang="zh-CN" altLang="en-US"/>
              <a:t>。</a:t>
            </a:r>
          </a:p>
          <a:p>
            <a:pPr marL="0" indent="0">
              <a:buFontTx/>
              <a:buNone/>
            </a:pPr>
            <a:r>
              <a:rPr lang="zh-CN" altLang="en-US"/>
              <a:t>（</a:t>
            </a:r>
            <a:r>
              <a:rPr lang="en-US" altLang="zh-CN"/>
              <a:t>P*</a:t>
            </a:r>
            <a:r>
              <a:rPr lang="zh-CN" altLang="en-US"/>
              <a:t>－</a:t>
            </a:r>
            <a:r>
              <a:rPr lang="en-US" altLang="zh-CN"/>
              <a:t>P</a:t>
            </a:r>
            <a:r>
              <a:rPr lang="zh-CN" altLang="en-US"/>
              <a:t>）得</a:t>
            </a:r>
            <a:r>
              <a:rPr lang="en-US" altLang="zh-CN"/>
              <a:t>V</a:t>
            </a:r>
            <a:r>
              <a:rPr lang="en-US" altLang="zh-CN" baseline="-25000"/>
              <a:t>(1)</a:t>
            </a:r>
          </a:p>
          <a:p>
            <a:pPr marL="0" indent="0">
              <a:buFontTx/>
              <a:buNone/>
            </a:pPr>
            <a:r>
              <a:rPr lang="en-US" altLang="zh-CN"/>
              <a:t>  T</a:t>
            </a:r>
            <a:r>
              <a:rPr lang="zh-CN" altLang="en-US"/>
              <a:t>、</a:t>
            </a:r>
            <a:r>
              <a:rPr lang="en-US" altLang="zh-CN"/>
              <a:t>P</a:t>
            </a:r>
            <a:r>
              <a:rPr lang="zh-CN" altLang="en-US"/>
              <a:t>得准确</a:t>
            </a:r>
            <a:r>
              <a:rPr lang="en-US" altLang="zh-CN">
                <a:latin typeface="Symbol" pitchFamily="18" charset="2"/>
              </a:rPr>
              <a:t>r</a:t>
            </a:r>
          </a:p>
          <a:p>
            <a:pPr marL="0" indent="0">
              <a:buFontTx/>
              <a:buNone/>
            </a:pPr>
            <a:r>
              <a:rPr lang="en-US" altLang="zh-CN">
                <a:latin typeface="Symbol" pitchFamily="18" charset="2"/>
              </a:rPr>
              <a:t>  </a:t>
            </a:r>
            <a:r>
              <a:rPr lang="zh-CN" altLang="en-US">
                <a:latin typeface="Symbol" pitchFamily="18" charset="2"/>
              </a:rPr>
              <a:t>用</a:t>
            </a:r>
            <a:r>
              <a:rPr lang="en-US" altLang="zh-CN">
                <a:latin typeface="Symbol" pitchFamily="18" charset="2"/>
              </a:rPr>
              <a:t>r </a:t>
            </a:r>
            <a:r>
              <a:rPr lang="zh-CN" altLang="en-US">
                <a:latin typeface="Symbol" pitchFamily="18" charset="2"/>
              </a:rPr>
              <a:t>、</a:t>
            </a:r>
            <a:r>
              <a:rPr lang="en-US" altLang="zh-CN">
                <a:latin typeface="Times New Roman" pitchFamily="18" charset="0"/>
              </a:rPr>
              <a:t>Ma</a:t>
            </a:r>
            <a:r>
              <a:rPr lang="zh-CN" altLang="en-US">
                <a:latin typeface="Times New Roman" pitchFamily="18" charset="0"/>
              </a:rPr>
              <a:t>修正</a:t>
            </a:r>
            <a:r>
              <a:rPr lang="en-US" altLang="zh-CN">
                <a:latin typeface="Times New Roman" pitchFamily="18" charset="0"/>
              </a:rPr>
              <a:t>V</a:t>
            </a: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0" y="27384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3132138" y="3573463"/>
          <a:ext cx="6011862" cy="2630487"/>
        </p:xfrm>
        <a:graphic>
          <a:graphicData uri="http://schemas.openxmlformats.org/presentationml/2006/ole">
            <p:oleObj spid="_x0000_s2050" name="BMP 图像" r:id="rId3" imgW="3648584" imgH="1514686" progId="Paint.Picture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1222</Words>
  <Application>Microsoft Office PowerPoint</Application>
  <PresentationFormat>全屏显示(4:3)</PresentationFormat>
  <Paragraphs>174</Paragraphs>
  <Slides>10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Office 主题</vt:lpstr>
      <vt:lpstr>PBrush</vt:lpstr>
      <vt:lpstr>Microsoft 公式 3.0</vt:lpstr>
      <vt:lpstr>课程大纲</vt:lpstr>
      <vt:lpstr>测试与检测技术基础－系统复习</vt:lpstr>
      <vt:lpstr>幻灯片 3</vt:lpstr>
      <vt:lpstr>幻灯片 4</vt:lpstr>
      <vt:lpstr>幻灯片 5</vt:lpstr>
      <vt:lpstr>幻灯片 6</vt:lpstr>
      <vt:lpstr>幻灯片 7</vt:lpstr>
      <vt:lpstr>幻灯片 8</vt:lpstr>
      <vt:lpstr>几个作业问题（习题）</vt:lpstr>
      <vt:lpstr>幻灯片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课程大纲</dc:title>
  <dc:creator>sun7</dc:creator>
  <cp:lastModifiedBy>sun7</cp:lastModifiedBy>
  <cp:revision>1</cp:revision>
  <dcterms:created xsi:type="dcterms:W3CDTF">2010-01-22T03:27:59Z</dcterms:created>
  <dcterms:modified xsi:type="dcterms:W3CDTF">2010-01-22T03:29:45Z</dcterms:modified>
</cp:coreProperties>
</file>