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48" r:id="rId1"/>
  </p:sldMasterIdLst>
  <p:notesMasterIdLst>
    <p:notesMasterId r:id="rId16"/>
  </p:notesMasterIdLst>
  <p:handoutMasterIdLst>
    <p:handoutMasterId r:id="rId17"/>
  </p:handoutMasterIdLst>
  <p:sldIdLst>
    <p:sldId id="335" r:id="rId2"/>
    <p:sldId id="503" r:id="rId3"/>
    <p:sldId id="491" r:id="rId4"/>
    <p:sldId id="492" r:id="rId5"/>
    <p:sldId id="493" r:id="rId6"/>
    <p:sldId id="494" r:id="rId7"/>
    <p:sldId id="496" r:id="rId8"/>
    <p:sldId id="497" r:id="rId9"/>
    <p:sldId id="505" r:id="rId10"/>
    <p:sldId id="506" r:id="rId11"/>
    <p:sldId id="498" r:id="rId12"/>
    <p:sldId id="499" r:id="rId13"/>
    <p:sldId id="500" r:id="rId14"/>
    <p:sldId id="510" r:id="rId15"/>
  </p:sldIdLst>
  <p:sldSz cx="9144000" cy="6858000" type="screen4x3"/>
  <p:notesSz cx="7099300" cy="10234613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4000" b="1" kern="1200">
        <a:solidFill>
          <a:srgbClr val="0000FF"/>
        </a:solidFill>
        <a:latin typeface="Arial" panose="020B0604020202020204" pitchFamily="34" charset="0"/>
        <a:ea typeface="楷体_GB231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4000" b="1" kern="1200">
        <a:solidFill>
          <a:srgbClr val="0000FF"/>
        </a:solidFill>
        <a:latin typeface="Arial" panose="020B0604020202020204" pitchFamily="34" charset="0"/>
        <a:ea typeface="楷体_GB231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4000" b="1" kern="1200">
        <a:solidFill>
          <a:srgbClr val="0000FF"/>
        </a:solidFill>
        <a:latin typeface="Arial" panose="020B0604020202020204" pitchFamily="34" charset="0"/>
        <a:ea typeface="楷体_GB231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4000" b="1" kern="1200">
        <a:solidFill>
          <a:srgbClr val="0000FF"/>
        </a:solidFill>
        <a:latin typeface="Arial" panose="020B0604020202020204" pitchFamily="34" charset="0"/>
        <a:ea typeface="楷体_GB231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4000" b="1" kern="1200">
        <a:solidFill>
          <a:srgbClr val="0000FF"/>
        </a:solidFill>
        <a:latin typeface="Arial" panose="020B0604020202020204" pitchFamily="34" charset="0"/>
        <a:ea typeface="楷体_GB2312" charset="-122"/>
        <a:cs typeface="+mn-cs"/>
      </a:defRPr>
    </a:lvl5pPr>
    <a:lvl6pPr marL="2286000" algn="l" defTabSz="914400" rtl="0" eaLnBrk="1" latinLnBrk="0" hangingPunct="1">
      <a:defRPr sz="4000" b="1" kern="1200">
        <a:solidFill>
          <a:srgbClr val="0000FF"/>
        </a:solidFill>
        <a:latin typeface="Arial" panose="020B0604020202020204" pitchFamily="34" charset="0"/>
        <a:ea typeface="楷体_GB2312" charset="-122"/>
        <a:cs typeface="+mn-cs"/>
      </a:defRPr>
    </a:lvl6pPr>
    <a:lvl7pPr marL="2743200" algn="l" defTabSz="914400" rtl="0" eaLnBrk="1" latinLnBrk="0" hangingPunct="1">
      <a:defRPr sz="4000" b="1" kern="1200">
        <a:solidFill>
          <a:srgbClr val="0000FF"/>
        </a:solidFill>
        <a:latin typeface="Arial" panose="020B0604020202020204" pitchFamily="34" charset="0"/>
        <a:ea typeface="楷体_GB2312" charset="-122"/>
        <a:cs typeface="+mn-cs"/>
      </a:defRPr>
    </a:lvl7pPr>
    <a:lvl8pPr marL="3200400" algn="l" defTabSz="914400" rtl="0" eaLnBrk="1" latinLnBrk="0" hangingPunct="1">
      <a:defRPr sz="4000" b="1" kern="1200">
        <a:solidFill>
          <a:srgbClr val="0000FF"/>
        </a:solidFill>
        <a:latin typeface="Arial" panose="020B0604020202020204" pitchFamily="34" charset="0"/>
        <a:ea typeface="楷体_GB2312" charset="-122"/>
        <a:cs typeface="+mn-cs"/>
      </a:defRPr>
    </a:lvl8pPr>
    <a:lvl9pPr marL="3657600" algn="l" defTabSz="914400" rtl="0" eaLnBrk="1" latinLnBrk="0" hangingPunct="1">
      <a:defRPr sz="4000" b="1" kern="1200">
        <a:solidFill>
          <a:srgbClr val="0000FF"/>
        </a:solidFill>
        <a:latin typeface="Arial" panose="020B0604020202020204" pitchFamily="34" charset="0"/>
        <a:ea typeface="楷体_GB231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00"/>
    <a:srgbClr val="40BFD9"/>
    <a:srgbClr val="7BC3F7"/>
    <a:srgbClr val="F4BA4A"/>
    <a:srgbClr val="CD5134"/>
    <a:srgbClr val="800000"/>
    <a:srgbClr val="D60093"/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90" autoAdjust="0"/>
    <p:restoredTop sz="98897" autoAdjust="0"/>
  </p:normalViewPr>
  <p:slideViewPr>
    <p:cSldViewPr snapToGrid="0" snapToObjects="1">
      <p:cViewPr varScale="1">
        <p:scale>
          <a:sx n="78" d="100"/>
          <a:sy n="78" d="100"/>
        </p:scale>
        <p:origin x="1170" y="114"/>
      </p:cViewPr>
      <p:guideLst>
        <p:guide orient="horz" pos="2160"/>
        <p:guide pos="2880"/>
      </p:guideLst>
    </p:cSldViewPr>
  </p:slideViewPr>
  <p:outlineViewPr>
    <p:cViewPr>
      <p:scale>
        <a:sx n="35" d="100"/>
        <a:sy n="35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45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37" tIns="49519" rIns="99037" bIns="49519" numCol="1" anchor="t" anchorCtr="0" compatLnSpc="1">
            <a:prstTxWarp prst="textNoShape">
              <a:avLst/>
            </a:prstTxWarp>
          </a:bodyPr>
          <a:lstStyle>
            <a:lvl1pPr defTabSz="990600" eaLnBrk="0" hangingPunct="0">
              <a:lnSpc>
                <a:spcPct val="100000"/>
              </a:lnSpc>
              <a:spcBef>
                <a:spcPct val="0"/>
              </a:spcBef>
              <a:buFontTx/>
              <a:buNone/>
              <a:defRPr sz="1300" b="0">
                <a:solidFill>
                  <a:schemeClr val="tx1"/>
                </a:solidFill>
                <a:latin typeface="Times"/>
                <a:ea typeface="宋体" pitchFamily="2" charset="-122"/>
                <a:cs typeface="楷体_GB231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232451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021138" y="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37" tIns="49519" rIns="99037" bIns="49519" numCol="1" anchor="t" anchorCtr="0" compatLnSpc="1">
            <a:prstTxWarp prst="textNoShape">
              <a:avLst/>
            </a:prstTxWarp>
          </a:bodyPr>
          <a:lstStyle>
            <a:lvl1pPr algn="r" defTabSz="990600" eaLnBrk="0" hangingPunct="0">
              <a:lnSpc>
                <a:spcPct val="100000"/>
              </a:lnSpc>
              <a:spcBef>
                <a:spcPct val="0"/>
              </a:spcBef>
              <a:buFontTx/>
              <a:buNone/>
              <a:defRPr sz="1300" b="0">
                <a:solidFill>
                  <a:schemeClr val="tx1"/>
                </a:solidFill>
                <a:latin typeface="Times"/>
                <a:ea typeface="宋体" pitchFamily="2" charset="-122"/>
                <a:cs typeface="楷体_GB231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32452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72185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37" tIns="49519" rIns="99037" bIns="49519" numCol="1" anchor="b" anchorCtr="0" compatLnSpc="1">
            <a:prstTxWarp prst="textNoShape">
              <a:avLst/>
            </a:prstTxWarp>
          </a:bodyPr>
          <a:lstStyle>
            <a:lvl1pPr defTabSz="990600" eaLnBrk="0" hangingPunct="0">
              <a:lnSpc>
                <a:spcPct val="100000"/>
              </a:lnSpc>
              <a:spcBef>
                <a:spcPct val="0"/>
              </a:spcBef>
              <a:buFontTx/>
              <a:buNone/>
              <a:defRPr sz="1300" b="0">
                <a:solidFill>
                  <a:schemeClr val="tx1"/>
                </a:solidFill>
                <a:latin typeface="Times"/>
                <a:ea typeface="宋体" pitchFamily="2" charset="-122"/>
                <a:cs typeface="楷体_GB231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32453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021138" y="972185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37" tIns="49519" rIns="99037" bIns="49519" numCol="1" anchor="b" anchorCtr="0" compatLnSpc="1">
            <a:prstTxWarp prst="textNoShape">
              <a:avLst/>
            </a:prstTxWarp>
          </a:bodyPr>
          <a:lstStyle>
            <a:lvl1pPr algn="r" defTabSz="990600" eaLnBrk="0" hangingPunct="0">
              <a:lnSpc>
                <a:spcPct val="100000"/>
              </a:lnSpc>
              <a:spcBef>
                <a:spcPct val="0"/>
              </a:spcBef>
              <a:buFontTx/>
              <a:buNone/>
              <a:defRPr sz="1300" b="0">
                <a:solidFill>
                  <a:schemeClr val="tx1"/>
                </a:solidFill>
                <a:latin typeface="Times" panose="02020603050405020304" pitchFamily="18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2FD453D5-D8CA-4DAC-88E5-7CE18AD1B56A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37" tIns="49519" rIns="99037" bIns="49519" numCol="1" anchor="t" anchorCtr="0" compatLnSpc="1">
            <a:prstTxWarp prst="textNoShape">
              <a:avLst/>
            </a:prstTxWarp>
          </a:bodyPr>
          <a:lstStyle>
            <a:lvl1pPr defTabSz="990600" eaLnBrk="0" hangingPunct="0">
              <a:lnSpc>
                <a:spcPct val="100000"/>
              </a:lnSpc>
              <a:spcBef>
                <a:spcPct val="0"/>
              </a:spcBef>
              <a:buFontTx/>
              <a:buNone/>
              <a:defRPr sz="1300" b="0">
                <a:solidFill>
                  <a:schemeClr val="tx1"/>
                </a:solidFill>
                <a:latin typeface="Times"/>
                <a:ea typeface="宋体" pitchFamily="2" charset="-122"/>
                <a:cs typeface="楷体_GB231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680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21138" y="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37" tIns="49519" rIns="99037" bIns="49519" numCol="1" anchor="t" anchorCtr="0" compatLnSpc="1">
            <a:prstTxWarp prst="textNoShape">
              <a:avLst/>
            </a:prstTxWarp>
          </a:bodyPr>
          <a:lstStyle>
            <a:lvl1pPr algn="r" defTabSz="990600" eaLnBrk="0" hangingPunct="0">
              <a:lnSpc>
                <a:spcPct val="100000"/>
              </a:lnSpc>
              <a:spcBef>
                <a:spcPct val="0"/>
              </a:spcBef>
              <a:buFontTx/>
              <a:buNone/>
              <a:defRPr sz="1300" b="0">
                <a:solidFill>
                  <a:schemeClr val="tx1"/>
                </a:solidFill>
                <a:latin typeface="Times"/>
                <a:ea typeface="宋体" pitchFamily="2" charset="-122"/>
                <a:cs typeface="楷体_GB231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076" name="Rectangle 4"/>
          <p:cNvSpPr>
            <a:spLocks noRot="1" noChangeArrowheads="1" noTextEdit="1"/>
          </p:cNvSpPr>
          <p:nvPr>
            <p:ph type="sldImg" idx="2"/>
          </p:nvPr>
        </p:nvSpPr>
        <p:spPr bwMode="auto">
          <a:xfrm>
            <a:off x="990600" y="768350"/>
            <a:ext cx="5118100" cy="3836988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680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9613" y="4860925"/>
            <a:ext cx="5680075" cy="4605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37" tIns="49519" rIns="99037" bIns="49519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noProof="0" smtClean="0"/>
              <a:t>单击此处编辑母版文本样式</a:t>
            </a:r>
          </a:p>
          <a:p>
            <a:pPr lvl="1"/>
            <a:r>
              <a:rPr lang="zh-CN" altLang="en-US" noProof="0" smtClean="0"/>
              <a:t>第二级</a:t>
            </a:r>
          </a:p>
          <a:p>
            <a:pPr lvl="2"/>
            <a:r>
              <a:rPr lang="zh-CN" altLang="en-US" noProof="0" smtClean="0"/>
              <a:t>第三级</a:t>
            </a:r>
          </a:p>
          <a:p>
            <a:pPr lvl="3"/>
            <a:r>
              <a:rPr lang="zh-CN" altLang="en-US" noProof="0" smtClean="0"/>
              <a:t>第四级</a:t>
            </a:r>
          </a:p>
          <a:p>
            <a:pPr lvl="4"/>
            <a:r>
              <a:rPr lang="zh-CN" altLang="en-US" noProof="0" smtClean="0"/>
              <a:t>第五级</a:t>
            </a:r>
          </a:p>
        </p:txBody>
      </p:sp>
      <p:sp>
        <p:nvSpPr>
          <p:cNvPr id="7680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72185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37" tIns="49519" rIns="99037" bIns="49519" numCol="1" anchor="b" anchorCtr="0" compatLnSpc="1">
            <a:prstTxWarp prst="textNoShape">
              <a:avLst/>
            </a:prstTxWarp>
          </a:bodyPr>
          <a:lstStyle>
            <a:lvl1pPr defTabSz="990600" eaLnBrk="0" hangingPunct="0">
              <a:lnSpc>
                <a:spcPct val="100000"/>
              </a:lnSpc>
              <a:spcBef>
                <a:spcPct val="0"/>
              </a:spcBef>
              <a:buFontTx/>
              <a:buNone/>
              <a:defRPr sz="1300" b="0">
                <a:solidFill>
                  <a:schemeClr val="tx1"/>
                </a:solidFill>
                <a:latin typeface="Times"/>
                <a:ea typeface="宋体" pitchFamily="2" charset="-122"/>
                <a:cs typeface="楷体_GB231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680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1138" y="972185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37" tIns="49519" rIns="99037" bIns="49519" numCol="1" anchor="b" anchorCtr="0" compatLnSpc="1">
            <a:prstTxWarp prst="textNoShape">
              <a:avLst/>
            </a:prstTxWarp>
          </a:bodyPr>
          <a:lstStyle>
            <a:lvl1pPr algn="r" defTabSz="990600" eaLnBrk="0" hangingPunct="0">
              <a:lnSpc>
                <a:spcPct val="100000"/>
              </a:lnSpc>
              <a:spcBef>
                <a:spcPct val="0"/>
              </a:spcBef>
              <a:buFontTx/>
              <a:buNone/>
              <a:defRPr sz="1300" b="0">
                <a:solidFill>
                  <a:schemeClr val="tx1"/>
                </a:solidFill>
                <a:latin typeface="Times" panose="02020603050405020304" pitchFamily="18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C82E76E0-A888-40CF-A184-F38F88997935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7329FBAA-91E4-4D1A-BD1E-7B2BE9681FB9}" type="slidenum">
              <a:rPr lang="zh-CN" altLang="en-US" sz="1300" smtClean="0">
                <a:cs typeface="楷体_GB2312" charset="-122"/>
              </a:rPr>
              <a:pPr>
                <a:spcBef>
                  <a:spcPct val="0"/>
                </a:spcBef>
              </a:pPr>
              <a:t>1</a:t>
            </a:fld>
            <a:endParaRPr lang="en-US" altLang="zh-CN" sz="1300" smtClean="0">
              <a:cs typeface="楷体_GB2312" charset="-122"/>
            </a:endParaRPr>
          </a:p>
        </p:txBody>
      </p:sp>
      <p:sp>
        <p:nvSpPr>
          <p:cNvPr id="6147" name="Rectangle 2"/>
          <p:cNvSpPr>
            <a:spLocks noRot="1" noChangeArrowheads="1" noTextEdit="1"/>
          </p:cNvSpPr>
          <p:nvPr>
            <p:ph type="sldImg"/>
          </p:nvPr>
        </p:nvSpPr>
        <p:spPr>
          <a:xfrm>
            <a:off x="992188" y="768350"/>
            <a:ext cx="5114925" cy="3836988"/>
          </a:xfrm>
          <a:ln/>
        </p:spPr>
      </p:sp>
      <p:sp>
        <p:nvSpPr>
          <p:cNvPr id="61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 smtClean="0">
              <a:latin typeface="Times" panose="02020603050405020304" pitchFamily="18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4"/>
          <p:cNvSpPr>
            <a:spLocks noChangeArrowheads="1"/>
          </p:cNvSpPr>
          <p:nvPr userDrawn="1"/>
        </p:nvSpPr>
        <p:spPr bwMode="auto">
          <a:xfrm>
            <a:off x="4371975" y="0"/>
            <a:ext cx="1841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4000" b="1">
                <a:solidFill>
                  <a:srgbClr val="0000FF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eaLnBrk="0" hangingPunct="0">
              <a:defRPr sz="4000" b="1">
                <a:solidFill>
                  <a:srgbClr val="0000FF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eaLnBrk="0" hangingPunct="0">
              <a:defRPr sz="4000" b="1">
                <a:solidFill>
                  <a:srgbClr val="0000FF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eaLnBrk="0" hangingPunct="0">
              <a:defRPr sz="4000" b="1">
                <a:solidFill>
                  <a:srgbClr val="0000FF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eaLnBrk="0" hangingPunct="0">
              <a:defRPr sz="4000" b="1">
                <a:solidFill>
                  <a:srgbClr val="0000FF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Char char="•"/>
              <a:defRPr sz="4000" b="1">
                <a:solidFill>
                  <a:srgbClr val="0000FF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Char char="•"/>
              <a:defRPr sz="4000" b="1">
                <a:solidFill>
                  <a:srgbClr val="0000FF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Char char="•"/>
              <a:defRPr sz="4000" b="1">
                <a:solidFill>
                  <a:srgbClr val="0000FF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Char char="•"/>
              <a:defRPr sz="4000" b="1">
                <a:solidFill>
                  <a:srgbClr val="0000FF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>
              <a:defRPr/>
            </a:pPr>
            <a:endParaRPr lang="zh-CN" altLang="en-US" sz="2400" b="0" smtClean="0">
              <a:solidFill>
                <a:schemeClr val="tx1"/>
              </a:solidFill>
              <a:latin typeface="Times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5" name="Rectangle 5"/>
          <p:cNvSpPr>
            <a:spLocks noChangeArrowheads="1"/>
          </p:cNvSpPr>
          <p:nvPr userDrawn="1"/>
        </p:nvSpPr>
        <p:spPr bwMode="auto">
          <a:xfrm>
            <a:off x="0" y="6400800"/>
            <a:ext cx="9144000" cy="457200"/>
          </a:xfrm>
          <a:prstGeom prst="rect">
            <a:avLst/>
          </a:prstGeom>
          <a:solidFill>
            <a:srgbClr val="FF99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4000" b="1">
                <a:solidFill>
                  <a:srgbClr val="0000FF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eaLnBrk="0" hangingPunct="0">
              <a:defRPr sz="4000" b="1">
                <a:solidFill>
                  <a:srgbClr val="0000FF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eaLnBrk="0" hangingPunct="0">
              <a:defRPr sz="4000" b="1">
                <a:solidFill>
                  <a:srgbClr val="0000FF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eaLnBrk="0" hangingPunct="0">
              <a:defRPr sz="4000" b="1">
                <a:solidFill>
                  <a:srgbClr val="0000FF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eaLnBrk="0" hangingPunct="0">
              <a:defRPr sz="4000" b="1">
                <a:solidFill>
                  <a:srgbClr val="0000FF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Char char="•"/>
              <a:defRPr sz="4000" b="1">
                <a:solidFill>
                  <a:srgbClr val="0000FF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Char char="•"/>
              <a:defRPr sz="4000" b="1">
                <a:solidFill>
                  <a:srgbClr val="0000FF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Char char="•"/>
              <a:defRPr sz="4000" b="1">
                <a:solidFill>
                  <a:srgbClr val="0000FF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Char char="•"/>
              <a:defRPr sz="4000" b="1">
                <a:solidFill>
                  <a:srgbClr val="0000FF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>
              <a:defRPr/>
            </a:pPr>
            <a:endParaRPr lang="zh-CN" altLang="en-US" sz="2400" b="0" smtClean="0">
              <a:solidFill>
                <a:schemeClr val="tx1"/>
              </a:solidFill>
              <a:latin typeface="Times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6" name="Rectangle 10"/>
          <p:cNvSpPr>
            <a:spLocks noChangeArrowheads="1"/>
          </p:cNvSpPr>
          <p:nvPr userDrawn="1"/>
        </p:nvSpPr>
        <p:spPr bwMode="auto">
          <a:xfrm>
            <a:off x="0" y="0"/>
            <a:ext cx="9144000" cy="725488"/>
          </a:xfrm>
          <a:prstGeom prst="rect">
            <a:avLst/>
          </a:prstGeom>
          <a:solidFill>
            <a:srgbClr val="990000"/>
          </a:solidFill>
          <a:ln w="9525">
            <a:solidFill>
              <a:srgbClr val="990000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4000" b="1">
                <a:solidFill>
                  <a:srgbClr val="0000FF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eaLnBrk="0" hangingPunct="0">
              <a:defRPr sz="4000" b="1">
                <a:solidFill>
                  <a:srgbClr val="0000FF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eaLnBrk="0" hangingPunct="0">
              <a:defRPr sz="4000" b="1">
                <a:solidFill>
                  <a:srgbClr val="0000FF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eaLnBrk="0" hangingPunct="0">
              <a:defRPr sz="4000" b="1">
                <a:solidFill>
                  <a:srgbClr val="0000FF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eaLnBrk="0" hangingPunct="0">
              <a:defRPr sz="4000" b="1">
                <a:solidFill>
                  <a:srgbClr val="0000FF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Char char="•"/>
              <a:defRPr sz="4000" b="1">
                <a:solidFill>
                  <a:srgbClr val="0000FF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Char char="•"/>
              <a:defRPr sz="4000" b="1">
                <a:solidFill>
                  <a:srgbClr val="0000FF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Char char="•"/>
              <a:defRPr sz="4000" b="1">
                <a:solidFill>
                  <a:srgbClr val="0000FF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Char char="•"/>
              <a:defRPr sz="4000" b="1">
                <a:solidFill>
                  <a:srgbClr val="0000FF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50000"/>
              </a:spcBef>
              <a:buFontTx/>
              <a:buChar char="•"/>
              <a:defRPr/>
            </a:pPr>
            <a:endParaRPr lang="zh-CN" altLang="en-US" smtClean="0"/>
          </a:p>
        </p:txBody>
      </p:sp>
      <p:sp>
        <p:nvSpPr>
          <p:cNvPr id="7" name="Rectangle 14"/>
          <p:cNvSpPr>
            <a:spLocks noChangeArrowheads="1"/>
          </p:cNvSpPr>
          <p:nvPr userDrawn="1"/>
        </p:nvSpPr>
        <p:spPr bwMode="auto">
          <a:xfrm>
            <a:off x="0" y="6400800"/>
            <a:ext cx="9144000" cy="457200"/>
          </a:xfrm>
          <a:prstGeom prst="rect">
            <a:avLst/>
          </a:prstGeom>
          <a:solidFill>
            <a:srgbClr val="8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4000" b="1">
                <a:solidFill>
                  <a:srgbClr val="0000FF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eaLnBrk="0" hangingPunct="0">
              <a:defRPr sz="4000" b="1">
                <a:solidFill>
                  <a:srgbClr val="0000FF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eaLnBrk="0" hangingPunct="0">
              <a:defRPr sz="4000" b="1">
                <a:solidFill>
                  <a:srgbClr val="0000FF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eaLnBrk="0" hangingPunct="0">
              <a:defRPr sz="4000" b="1">
                <a:solidFill>
                  <a:srgbClr val="0000FF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eaLnBrk="0" hangingPunct="0">
              <a:defRPr sz="4000" b="1">
                <a:solidFill>
                  <a:srgbClr val="0000FF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Char char="•"/>
              <a:defRPr sz="4000" b="1">
                <a:solidFill>
                  <a:srgbClr val="0000FF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Char char="•"/>
              <a:defRPr sz="4000" b="1">
                <a:solidFill>
                  <a:srgbClr val="0000FF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Char char="•"/>
              <a:defRPr sz="4000" b="1">
                <a:solidFill>
                  <a:srgbClr val="0000FF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Char char="•"/>
              <a:defRPr sz="4000" b="1">
                <a:solidFill>
                  <a:srgbClr val="0000FF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>
              <a:defRPr/>
            </a:pPr>
            <a:endParaRPr lang="zh-CN" altLang="en-US" sz="2400" b="0" smtClean="0">
              <a:solidFill>
                <a:schemeClr val="tx1"/>
              </a:solidFill>
              <a:latin typeface="Times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2286000"/>
            <a:ext cx="7772400" cy="1143000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 altLang="zh-CN"/>
              <a:t>Click to edit Master title style</a:t>
            </a: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ln>
            <a:solidFill>
              <a:schemeClr val="bg2"/>
            </a:solidFill>
          </a:ln>
        </p:spPr>
        <p:txBody>
          <a:bodyPr/>
          <a:lstStyle>
            <a:lvl1pPr marL="0" indent="0" algn="ctr">
              <a:buFontTx/>
              <a:buNone/>
              <a:defRPr/>
            </a:lvl1pPr>
          </a:lstStyle>
          <a:p>
            <a:r>
              <a:rPr lang="en-US" altLang="zh-CN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1919657787"/>
      </p:ext>
    </p:extLst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47820828"/>
      </p:ext>
    </p:extLst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215614281"/>
      </p:ext>
    </p:extLst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0" y="977900"/>
            <a:ext cx="4495800" cy="58801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977900"/>
            <a:ext cx="4495800" cy="58801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2639695"/>
      </p:ext>
    </p:extLst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10326065"/>
      </p:ext>
    </p:extLst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82078132"/>
      </p:ext>
    </p:extLst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90042066"/>
      </p:ext>
    </p:extLst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2735898352"/>
      </p:ext>
    </p:extLst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 smtClean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3682606656"/>
      </p:ext>
    </p:extLst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11075240"/>
      </p:ext>
    </p:extLst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858000" y="12700"/>
            <a:ext cx="2286000" cy="6845300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0" y="12700"/>
            <a:ext cx="6705600" cy="6845300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93070577"/>
      </p:ext>
    </p:extLst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0" y="977900"/>
            <a:ext cx="9144000" cy="58801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 smtClean="0"/>
              <a:t>Click to edit Master text styles</a:t>
            </a:r>
          </a:p>
          <a:p>
            <a:pPr lvl="1"/>
            <a:r>
              <a:rPr lang="en-US" altLang="zh-CN" smtClean="0"/>
              <a:t>Second level</a:t>
            </a:r>
          </a:p>
          <a:p>
            <a:pPr lvl="2"/>
            <a:r>
              <a:rPr lang="en-US" altLang="zh-CN" smtClean="0"/>
              <a:t>Third level</a:t>
            </a:r>
          </a:p>
          <a:p>
            <a:pPr lvl="3"/>
            <a:r>
              <a:rPr lang="en-US" altLang="zh-CN" smtClean="0"/>
              <a:t>Fourth level</a:t>
            </a:r>
          </a:p>
          <a:p>
            <a:pPr lvl="4"/>
            <a:r>
              <a:rPr lang="en-US" altLang="zh-CN" smtClean="0"/>
              <a:t>Fifth level</a:t>
            </a:r>
          </a:p>
        </p:txBody>
      </p:sp>
      <p:sp>
        <p:nvSpPr>
          <p:cNvPr id="1027" name="Rectangle 7"/>
          <p:cNvSpPr>
            <a:spLocks noChangeArrowheads="1"/>
          </p:cNvSpPr>
          <p:nvPr userDrawn="1"/>
        </p:nvSpPr>
        <p:spPr bwMode="auto">
          <a:xfrm>
            <a:off x="4371975" y="0"/>
            <a:ext cx="1841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4000" b="1">
                <a:solidFill>
                  <a:srgbClr val="0000FF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eaLnBrk="0" hangingPunct="0">
              <a:defRPr sz="4000" b="1">
                <a:solidFill>
                  <a:srgbClr val="0000FF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eaLnBrk="0" hangingPunct="0">
              <a:defRPr sz="4000" b="1">
                <a:solidFill>
                  <a:srgbClr val="0000FF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eaLnBrk="0" hangingPunct="0">
              <a:defRPr sz="4000" b="1">
                <a:solidFill>
                  <a:srgbClr val="0000FF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eaLnBrk="0" hangingPunct="0">
              <a:defRPr sz="4000" b="1">
                <a:solidFill>
                  <a:srgbClr val="0000FF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Char char="•"/>
              <a:defRPr sz="4000" b="1">
                <a:solidFill>
                  <a:srgbClr val="0000FF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Char char="•"/>
              <a:defRPr sz="4000" b="1">
                <a:solidFill>
                  <a:srgbClr val="0000FF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Char char="•"/>
              <a:defRPr sz="4000" b="1">
                <a:solidFill>
                  <a:srgbClr val="0000FF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Char char="•"/>
              <a:defRPr sz="4000" b="1">
                <a:solidFill>
                  <a:srgbClr val="0000FF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>
              <a:defRPr/>
            </a:pPr>
            <a:endParaRPr lang="zh-CN" altLang="en-US" sz="2400" b="0" smtClean="0">
              <a:solidFill>
                <a:schemeClr val="tx1"/>
              </a:solidFill>
              <a:latin typeface="Times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028" name="Rectangle 14"/>
          <p:cNvSpPr>
            <a:spLocks noChangeArrowheads="1"/>
          </p:cNvSpPr>
          <p:nvPr userDrawn="1"/>
        </p:nvSpPr>
        <p:spPr bwMode="auto">
          <a:xfrm>
            <a:off x="-12700" y="774700"/>
            <a:ext cx="3467100" cy="42863"/>
          </a:xfrm>
          <a:prstGeom prst="rect">
            <a:avLst/>
          </a:prstGeom>
          <a:solidFill>
            <a:srgbClr val="800000"/>
          </a:solidFill>
          <a:ln w="9525">
            <a:solidFill>
              <a:srgbClr val="800000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4000" b="1">
                <a:solidFill>
                  <a:srgbClr val="0000FF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eaLnBrk="0" hangingPunct="0">
              <a:defRPr sz="4000" b="1">
                <a:solidFill>
                  <a:srgbClr val="0000FF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eaLnBrk="0" hangingPunct="0">
              <a:defRPr sz="4000" b="1">
                <a:solidFill>
                  <a:srgbClr val="0000FF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eaLnBrk="0" hangingPunct="0">
              <a:defRPr sz="4000" b="1">
                <a:solidFill>
                  <a:srgbClr val="0000FF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eaLnBrk="0" hangingPunct="0">
              <a:defRPr sz="4000" b="1">
                <a:solidFill>
                  <a:srgbClr val="0000FF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Char char="•"/>
              <a:defRPr sz="4000" b="1">
                <a:solidFill>
                  <a:srgbClr val="0000FF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Char char="•"/>
              <a:defRPr sz="4000" b="1">
                <a:solidFill>
                  <a:srgbClr val="0000FF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Char char="•"/>
              <a:defRPr sz="4000" b="1">
                <a:solidFill>
                  <a:srgbClr val="0000FF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Char char="•"/>
              <a:defRPr sz="4000" b="1">
                <a:solidFill>
                  <a:srgbClr val="0000FF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50000"/>
              </a:spcBef>
              <a:buFontTx/>
              <a:buChar char="•"/>
              <a:defRPr/>
            </a:pPr>
            <a:endParaRPr lang="zh-CN" altLang="en-US" smtClean="0"/>
          </a:p>
        </p:txBody>
      </p:sp>
      <p:sp>
        <p:nvSpPr>
          <p:cNvPr id="1029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0" y="12700"/>
            <a:ext cx="8178800" cy="609600"/>
          </a:xfrm>
          <a:prstGeom prst="rect">
            <a:avLst/>
          </a:prstGeom>
          <a:solidFill>
            <a:schemeClr val="tx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 smtClean="0"/>
              <a:t>Click to edit Master title style</a:t>
            </a:r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755" r:id="rId1"/>
    <p:sldLayoutId id="2147483745" r:id="rId2"/>
    <p:sldLayoutId id="2147483746" r:id="rId3"/>
    <p:sldLayoutId id="2147483747" r:id="rId4"/>
    <p:sldLayoutId id="2147483748" r:id="rId5"/>
    <p:sldLayoutId id="2147483749" r:id="rId6"/>
    <p:sldLayoutId id="2147483750" r:id="rId7"/>
    <p:sldLayoutId id="2147483751" r:id="rId8"/>
    <p:sldLayoutId id="2147483752" r:id="rId9"/>
    <p:sldLayoutId id="2147483753" r:id="rId10"/>
    <p:sldLayoutId id="2147483754" r:id="rId11"/>
  </p:sldLayoutIdLst>
  <p:transition/>
  <p:txStyles>
    <p:titleStyle>
      <a:lvl1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rgbClr val="990000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rgbClr val="990000"/>
          </a:solidFill>
          <a:latin typeface="楷体" pitchFamily="49" charset="-122"/>
          <a:ea typeface="楷体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rgbClr val="990000"/>
          </a:solidFill>
          <a:latin typeface="楷体" pitchFamily="49" charset="-122"/>
          <a:ea typeface="楷体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rgbClr val="990000"/>
          </a:solidFill>
          <a:latin typeface="楷体" pitchFamily="49" charset="-122"/>
          <a:ea typeface="楷体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rgbClr val="990000"/>
          </a:solidFill>
          <a:latin typeface="楷体" pitchFamily="49" charset="-122"/>
          <a:ea typeface="楷体" pitchFamily="49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3600" b="1">
          <a:solidFill>
            <a:srgbClr val="990000"/>
          </a:solidFill>
          <a:latin typeface="楷体" pitchFamily="49" charset="-122"/>
          <a:ea typeface="楷体" pitchFamily="49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3600" b="1">
          <a:solidFill>
            <a:srgbClr val="990000"/>
          </a:solidFill>
          <a:latin typeface="楷体" pitchFamily="49" charset="-122"/>
          <a:ea typeface="楷体" pitchFamily="49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3600" b="1">
          <a:solidFill>
            <a:srgbClr val="990000"/>
          </a:solidFill>
          <a:latin typeface="楷体" pitchFamily="49" charset="-122"/>
          <a:ea typeface="楷体" pitchFamily="49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3600" b="1">
          <a:solidFill>
            <a:srgbClr val="990000"/>
          </a:solidFill>
          <a:latin typeface="楷体" pitchFamily="49" charset="-122"/>
          <a:ea typeface="楷体" pitchFamily="49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 b="1">
          <a:solidFill>
            <a:srgbClr val="000000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 b="1">
          <a:solidFill>
            <a:srgbClr val="000000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 b="1">
          <a:solidFill>
            <a:srgbClr val="000000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 b="1">
          <a:solidFill>
            <a:srgbClr val="000000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 b="1">
          <a:solidFill>
            <a:srgbClr val="000000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 b="1">
          <a:solidFill>
            <a:srgbClr val="000000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 b="1">
          <a:solidFill>
            <a:srgbClr val="000000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 b="1">
          <a:solidFill>
            <a:srgbClr val="000000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 b="1">
          <a:solidFill>
            <a:srgbClr val="000000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6"/>
          <p:cNvSpPr>
            <a:spLocks noGrp="1" noChangeArrowheads="1"/>
          </p:cNvSpPr>
          <p:nvPr>
            <p:ph type="ctrTitle"/>
          </p:nvPr>
        </p:nvSpPr>
        <p:spPr>
          <a:xfrm>
            <a:off x="0" y="798513"/>
            <a:ext cx="9186863" cy="3163887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tx2"/>
                </a:solidFill>
              </a14:hiddenFill>
            </a:ext>
          </a:extLst>
        </p:spPr>
        <p:txBody>
          <a:bodyPr/>
          <a:lstStyle/>
          <a:p>
            <a:pPr eaLnBrk="1" hangingPunct="1"/>
            <a:r>
              <a:rPr lang="zh-CN" altLang="en-US" sz="6600" dirty="0" smtClean="0">
                <a:solidFill>
                  <a:srgbClr val="000000"/>
                </a:solidFill>
              </a:rPr>
              <a:t>工程经济学</a:t>
            </a:r>
            <a:r>
              <a:rPr lang="zh-CN" altLang="en-US" sz="4800" dirty="0" smtClean="0">
                <a:solidFill>
                  <a:srgbClr val="000000"/>
                </a:solidFill>
              </a:rPr>
              <a:t/>
            </a:r>
            <a:br>
              <a:rPr lang="zh-CN" altLang="en-US" sz="4800" dirty="0" smtClean="0">
                <a:solidFill>
                  <a:srgbClr val="000000"/>
                </a:solidFill>
              </a:rPr>
            </a:br>
            <a:r>
              <a:rPr lang="zh-CN" altLang="en-US" sz="4800" dirty="0" smtClean="0">
                <a:solidFill>
                  <a:srgbClr val="000000"/>
                </a:solidFill>
              </a:rPr>
              <a:t/>
            </a:r>
            <a:br>
              <a:rPr lang="zh-CN" altLang="en-US" sz="4800" dirty="0" smtClean="0">
                <a:solidFill>
                  <a:srgbClr val="000000"/>
                </a:solidFill>
              </a:rPr>
            </a:br>
            <a:r>
              <a:rPr kumimoji="1" lang="zh-CN" altLang="en-US" sz="4800" dirty="0" smtClean="0">
                <a:solidFill>
                  <a:srgbClr val="800000"/>
                </a:solidFill>
              </a:rPr>
              <a:t>项目可行性研究</a:t>
            </a:r>
            <a:r>
              <a:rPr kumimoji="1" lang="en-US" altLang="zh-CN" sz="4800" dirty="0" smtClean="0">
                <a:solidFill>
                  <a:srgbClr val="800000"/>
                </a:solidFill>
              </a:rPr>
              <a:t>:</a:t>
            </a:r>
            <a:br>
              <a:rPr kumimoji="1" lang="en-US" altLang="zh-CN" sz="4800" dirty="0" smtClean="0">
                <a:solidFill>
                  <a:srgbClr val="800000"/>
                </a:solidFill>
              </a:rPr>
            </a:br>
            <a:r>
              <a:rPr kumimoji="1" lang="zh-CN" altLang="en-US" sz="4000" dirty="0" smtClean="0">
                <a:solidFill>
                  <a:srgbClr val="800000"/>
                </a:solidFill>
              </a:rPr>
              <a:t>组织</a:t>
            </a:r>
            <a:r>
              <a:rPr lang="zh-CN" altLang="en-US" sz="4000" dirty="0" smtClean="0">
                <a:solidFill>
                  <a:srgbClr val="800000"/>
                </a:solidFill>
              </a:rPr>
              <a:t>、实施与进度</a:t>
            </a:r>
            <a:r>
              <a:rPr kumimoji="1" lang="zh-CN" altLang="en-US" sz="4000" dirty="0" smtClean="0">
                <a:solidFill>
                  <a:srgbClr val="800000"/>
                </a:solidFill>
              </a:rPr>
              <a:t>安排</a:t>
            </a:r>
          </a:p>
        </p:txBody>
      </p:sp>
      <p:sp>
        <p:nvSpPr>
          <p:cNvPr id="5123" name="Rectangle 7"/>
          <p:cNvSpPr>
            <a:spLocks noGrp="1" noChangeArrowheads="1"/>
          </p:cNvSpPr>
          <p:nvPr>
            <p:ph type="subTitle" idx="1"/>
          </p:nvPr>
        </p:nvSpPr>
        <p:spPr>
          <a:xfrm>
            <a:off x="725488" y="4775200"/>
            <a:ext cx="7634287" cy="1538288"/>
          </a:xfrm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zh-CN" dirty="0" smtClean="0"/>
          </a:p>
          <a:p>
            <a:pPr eaLnBrk="1" hangingPunct="1"/>
            <a:r>
              <a:rPr lang="zh-CN" altLang="en-US" dirty="0" smtClean="0"/>
              <a:t>唐</a:t>
            </a:r>
            <a:r>
              <a:rPr lang="zh-CN" altLang="en-US" dirty="0" smtClean="0"/>
              <a:t>文哲 </a:t>
            </a:r>
            <a:r>
              <a:rPr lang="zh-CN" altLang="en-US" dirty="0" smtClean="0"/>
              <a:t>教授</a:t>
            </a:r>
            <a:r>
              <a:rPr lang="en-US" altLang="zh-CN" dirty="0" smtClean="0"/>
              <a:t>/</a:t>
            </a:r>
            <a:r>
              <a:rPr lang="zh-CN" altLang="en-US" dirty="0" smtClean="0"/>
              <a:t>博导</a:t>
            </a:r>
          </a:p>
          <a:p>
            <a:pPr eaLnBrk="1" hangingPunct="1"/>
            <a:r>
              <a:rPr lang="en-US" altLang="zh-CN" dirty="0" smtClean="0"/>
              <a:t>2019</a:t>
            </a:r>
            <a:r>
              <a:rPr lang="zh-CN" altLang="en-US" dirty="0" smtClean="0"/>
              <a:t>年</a:t>
            </a:r>
            <a:r>
              <a:rPr lang="en-US" altLang="zh-CN" dirty="0" smtClean="0"/>
              <a:t>12</a:t>
            </a:r>
            <a:r>
              <a:rPr lang="zh-CN" altLang="en-US" dirty="0" smtClean="0"/>
              <a:t>月</a:t>
            </a:r>
            <a:r>
              <a:rPr lang="en-US" altLang="zh-CN" dirty="0" smtClean="0"/>
              <a:t>2</a:t>
            </a:r>
            <a:r>
              <a:rPr lang="zh-CN" altLang="en-US" dirty="0" smtClean="0"/>
              <a:t>日</a:t>
            </a:r>
            <a:endParaRPr lang="zh-CN" altLang="en-US" dirty="0" smtClean="0"/>
          </a:p>
          <a:p>
            <a:pPr algn="l" eaLnBrk="1" hangingPunct="1"/>
            <a:endParaRPr lang="zh-CN" altLang="en-US" sz="2800" dirty="0" smtClean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mtClean="0"/>
              <a:t>可行性研究        工程经济学</a:t>
            </a:r>
            <a:endParaRPr lang="en-US" altLang="zh-CN" smtClean="0"/>
          </a:p>
        </p:txBody>
      </p:sp>
      <p:sp>
        <p:nvSpPr>
          <p:cNvPr id="7171" name="Text Box 5"/>
          <p:cNvSpPr txBox="1">
            <a:spLocks noChangeArrowheads="1"/>
          </p:cNvSpPr>
          <p:nvPr/>
        </p:nvSpPr>
        <p:spPr bwMode="auto">
          <a:xfrm>
            <a:off x="228600" y="1168400"/>
            <a:ext cx="2847975" cy="4064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50000"/>
              </a:spcBef>
              <a:buFontTx/>
              <a:buNone/>
            </a:pPr>
            <a:r>
              <a:rPr lang="zh-CN" altLang="en-US" sz="2000">
                <a:latin typeface="Times New Roman" panose="02020603050405020304" pitchFamily="18" charset="0"/>
                <a:ea typeface="楷体_GB2312" charset="-122"/>
              </a:rPr>
              <a:t>总论</a:t>
            </a:r>
          </a:p>
        </p:txBody>
      </p:sp>
      <p:sp>
        <p:nvSpPr>
          <p:cNvPr id="7172" name="Text Box 6"/>
          <p:cNvSpPr txBox="1">
            <a:spLocks noChangeArrowheads="1"/>
          </p:cNvSpPr>
          <p:nvPr/>
        </p:nvSpPr>
        <p:spPr bwMode="auto">
          <a:xfrm>
            <a:off x="228600" y="1739900"/>
            <a:ext cx="2847975" cy="4064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50000"/>
              </a:spcBef>
              <a:buFontTx/>
              <a:buNone/>
            </a:pPr>
            <a:r>
              <a:rPr lang="zh-CN" altLang="en-US" sz="2000">
                <a:latin typeface="Times New Roman" panose="02020603050405020304" pitchFamily="18" charset="0"/>
                <a:ea typeface="楷体_GB2312" charset="-122"/>
              </a:rPr>
              <a:t>市场研究</a:t>
            </a:r>
          </a:p>
        </p:txBody>
      </p:sp>
      <p:sp>
        <p:nvSpPr>
          <p:cNvPr id="7173" name="Line 7"/>
          <p:cNvSpPr>
            <a:spLocks noChangeShapeType="1"/>
          </p:cNvSpPr>
          <p:nvPr/>
        </p:nvSpPr>
        <p:spPr bwMode="auto">
          <a:xfrm>
            <a:off x="2633663" y="320675"/>
            <a:ext cx="747712" cy="0"/>
          </a:xfrm>
          <a:prstGeom prst="line">
            <a:avLst/>
          </a:prstGeom>
          <a:noFill/>
          <a:ln w="19050">
            <a:solidFill>
              <a:srgbClr val="800000"/>
            </a:solidFill>
            <a:round/>
            <a:headEnd type="stealth" w="med" len="lg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174" name="Text Box 8"/>
          <p:cNvSpPr txBox="1">
            <a:spLocks noChangeArrowheads="1"/>
          </p:cNvSpPr>
          <p:nvPr/>
        </p:nvSpPr>
        <p:spPr bwMode="auto">
          <a:xfrm>
            <a:off x="228600" y="2311400"/>
            <a:ext cx="2847975" cy="4064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50000"/>
              </a:spcBef>
              <a:buFontTx/>
              <a:buNone/>
            </a:pPr>
            <a:r>
              <a:rPr lang="zh-CN" altLang="en-US" sz="2000">
                <a:ea typeface="楷体_GB2312" charset="-122"/>
              </a:rPr>
              <a:t>投资条件与项目选址</a:t>
            </a:r>
            <a:endParaRPr lang="en-US" altLang="zh-CN" sz="2000">
              <a:ea typeface="楷体_GB2312" charset="-122"/>
            </a:endParaRPr>
          </a:p>
        </p:txBody>
      </p:sp>
      <p:sp>
        <p:nvSpPr>
          <p:cNvPr id="7175" name="Text Box 9"/>
          <p:cNvSpPr txBox="1">
            <a:spLocks noChangeArrowheads="1"/>
          </p:cNvSpPr>
          <p:nvPr/>
        </p:nvSpPr>
        <p:spPr bwMode="auto">
          <a:xfrm>
            <a:off x="228600" y="2921000"/>
            <a:ext cx="2847975" cy="4064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50000"/>
              </a:spcBef>
              <a:buFontTx/>
              <a:buNone/>
            </a:pPr>
            <a:r>
              <a:rPr lang="zh-CN" altLang="en-US" sz="2000">
                <a:latin typeface="Times New Roman" panose="02020603050405020304" pitchFamily="18" charset="0"/>
                <a:ea typeface="楷体_GB2312" charset="-122"/>
              </a:rPr>
              <a:t>技术方案</a:t>
            </a:r>
          </a:p>
        </p:txBody>
      </p:sp>
      <p:sp>
        <p:nvSpPr>
          <p:cNvPr id="7176" name="Text Box 10"/>
          <p:cNvSpPr txBox="1">
            <a:spLocks noChangeArrowheads="1"/>
          </p:cNvSpPr>
          <p:nvPr/>
        </p:nvSpPr>
        <p:spPr bwMode="auto">
          <a:xfrm>
            <a:off x="228600" y="3530600"/>
            <a:ext cx="2847975" cy="4064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50000"/>
              </a:spcBef>
              <a:buFontTx/>
              <a:buNone/>
            </a:pPr>
            <a:r>
              <a:rPr lang="zh-CN" altLang="en-US" sz="2000">
                <a:ea typeface="楷体_GB2312" charset="-122"/>
              </a:rPr>
              <a:t>环境影响</a:t>
            </a:r>
          </a:p>
        </p:txBody>
      </p:sp>
      <p:sp>
        <p:nvSpPr>
          <p:cNvPr id="7177" name="Text Box 11"/>
          <p:cNvSpPr txBox="1">
            <a:spLocks noChangeArrowheads="1"/>
          </p:cNvSpPr>
          <p:nvPr/>
        </p:nvSpPr>
        <p:spPr bwMode="auto">
          <a:xfrm>
            <a:off x="228600" y="4140200"/>
            <a:ext cx="2847975" cy="4064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50000"/>
              </a:spcBef>
              <a:buFontTx/>
              <a:buNone/>
            </a:pPr>
            <a:r>
              <a:rPr lang="zh-CN" altLang="en-US" sz="2000">
                <a:solidFill>
                  <a:srgbClr val="D60093"/>
                </a:solidFill>
                <a:latin typeface="Times New Roman" panose="02020603050405020304" pitchFamily="18" charset="0"/>
                <a:ea typeface="楷体_GB2312" charset="-122"/>
              </a:rPr>
              <a:t>组织</a:t>
            </a:r>
            <a:r>
              <a:rPr lang="en-US" altLang="zh-CN" sz="2000">
                <a:solidFill>
                  <a:srgbClr val="D60093"/>
                </a:solidFill>
                <a:latin typeface="Times New Roman" panose="02020603050405020304" pitchFamily="18" charset="0"/>
                <a:ea typeface="楷体_GB2312" charset="-122"/>
              </a:rPr>
              <a:t>,</a:t>
            </a:r>
            <a:r>
              <a:rPr lang="zh-CN" altLang="en-US" sz="2000">
                <a:solidFill>
                  <a:srgbClr val="D60093"/>
                </a:solidFill>
                <a:latin typeface="Times New Roman" panose="02020603050405020304" pitchFamily="18" charset="0"/>
                <a:ea typeface="楷体_GB2312" charset="-122"/>
              </a:rPr>
              <a:t>实施与进度安排</a:t>
            </a:r>
          </a:p>
        </p:txBody>
      </p:sp>
      <p:sp>
        <p:nvSpPr>
          <p:cNvPr id="7178" name="Text Box 12"/>
          <p:cNvSpPr txBox="1">
            <a:spLocks noChangeArrowheads="1"/>
          </p:cNvSpPr>
          <p:nvPr/>
        </p:nvSpPr>
        <p:spPr bwMode="auto">
          <a:xfrm>
            <a:off x="0" y="5329238"/>
            <a:ext cx="3152775" cy="4064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50000"/>
              </a:spcBef>
              <a:buFontTx/>
              <a:buNone/>
            </a:pPr>
            <a:r>
              <a:rPr lang="zh-CN" altLang="en-US" sz="2000">
                <a:latin typeface="Times New Roman" panose="02020603050405020304" pitchFamily="18" charset="0"/>
                <a:ea typeface="楷体_GB2312" charset="-122"/>
              </a:rPr>
              <a:t>国民经济评价与社会效益</a:t>
            </a:r>
          </a:p>
        </p:txBody>
      </p:sp>
      <p:sp>
        <p:nvSpPr>
          <p:cNvPr id="7179" name="Text Box 13"/>
          <p:cNvSpPr txBox="1">
            <a:spLocks noChangeArrowheads="1"/>
          </p:cNvSpPr>
          <p:nvPr/>
        </p:nvSpPr>
        <p:spPr bwMode="auto">
          <a:xfrm>
            <a:off x="228600" y="4749800"/>
            <a:ext cx="2847975" cy="4064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50000"/>
              </a:spcBef>
              <a:buFontTx/>
              <a:buNone/>
            </a:pPr>
            <a:r>
              <a:rPr lang="zh-CN" altLang="en-US" sz="2000">
                <a:latin typeface="Times New Roman" panose="02020603050405020304" pitchFamily="18" charset="0"/>
                <a:ea typeface="楷体_GB2312" charset="-122"/>
              </a:rPr>
              <a:t>财务评价</a:t>
            </a:r>
          </a:p>
        </p:txBody>
      </p:sp>
      <p:sp>
        <p:nvSpPr>
          <p:cNvPr id="7180" name="Text Box 14"/>
          <p:cNvSpPr txBox="1">
            <a:spLocks noChangeArrowheads="1"/>
          </p:cNvSpPr>
          <p:nvPr/>
        </p:nvSpPr>
        <p:spPr bwMode="auto">
          <a:xfrm>
            <a:off x="228600" y="6035675"/>
            <a:ext cx="2847975" cy="4064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50000"/>
              </a:spcBef>
              <a:buFontTx/>
              <a:buNone/>
            </a:pPr>
            <a:r>
              <a:rPr lang="zh-CN" altLang="en-US" sz="2000">
                <a:latin typeface="Times New Roman" panose="02020603050405020304" pitchFamily="18" charset="0"/>
                <a:ea typeface="楷体_GB2312" charset="-122"/>
              </a:rPr>
              <a:t>结论：是否可行？</a:t>
            </a:r>
          </a:p>
        </p:txBody>
      </p:sp>
      <p:sp>
        <p:nvSpPr>
          <p:cNvPr id="7181" name="Line 15"/>
          <p:cNvSpPr>
            <a:spLocks noChangeShapeType="1"/>
          </p:cNvSpPr>
          <p:nvPr/>
        </p:nvSpPr>
        <p:spPr bwMode="auto">
          <a:xfrm>
            <a:off x="1541463" y="1574800"/>
            <a:ext cx="0" cy="1651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182" name="Line 16"/>
          <p:cNvSpPr>
            <a:spLocks noChangeShapeType="1"/>
          </p:cNvSpPr>
          <p:nvPr/>
        </p:nvSpPr>
        <p:spPr bwMode="auto">
          <a:xfrm>
            <a:off x="1541463" y="2146300"/>
            <a:ext cx="0" cy="1651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183" name="Line 17"/>
          <p:cNvSpPr>
            <a:spLocks noChangeShapeType="1"/>
          </p:cNvSpPr>
          <p:nvPr/>
        </p:nvSpPr>
        <p:spPr bwMode="auto">
          <a:xfrm>
            <a:off x="1528763" y="2717800"/>
            <a:ext cx="0" cy="1651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184" name="Line 18"/>
          <p:cNvSpPr>
            <a:spLocks noChangeShapeType="1"/>
          </p:cNvSpPr>
          <p:nvPr/>
        </p:nvSpPr>
        <p:spPr bwMode="auto">
          <a:xfrm>
            <a:off x="1543050" y="3365500"/>
            <a:ext cx="0" cy="1651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185" name="Line 19"/>
          <p:cNvSpPr>
            <a:spLocks noChangeShapeType="1"/>
          </p:cNvSpPr>
          <p:nvPr/>
        </p:nvSpPr>
        <p:spPr bwMode="auto">
          <a:xfrm>
            <a:off x="1546225" y="3937000"/>
            <a:ext cx="0" cy="1651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186" name="Line 20"/>
          <p:cNvSpPr>
            <a:spLocks noChangeShapeType="1"/>
          </p:cNvSpPr>
          <p:nvPr/>
        </p:nvSpPr>
        <p:spPr bwMode="auto">
          <a:xfrm>
            <a:off x="1528763" y="4546600"/>
            <a:ext cx="0" cy="1651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187" name="Line 21"/>
          <p:cNvSpPr>
            <a:spLocks noChangeShapeType="1"/>
          </p:cNvSpPr>
          <p:nvPr/>
        </p:nvSpPr>
        <p:spPr bwMode="auto">
          <a:xfrm>
            <a:off x="1528763" y="5191125"/>
            <a:ext cx="0" cy="1651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188" name="Line 22"/>
          <p:cNvSpPr>
            <a:spLocks noChangeShapeType="1"/>
          </p:cNvSpPr>
          <p:nvPr/>
        </p:nvSpPr>
        <p:spPr bwMode="auto">
          <a:xfrm>
            <a:off x="1528763" y="5762625"/>
            <a:ext cx="0" cy="27305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49623" name="Line 23"/>
          <p:cNvSpPr>
            <a:spLocks noChangeShapeType="1"/>
          </p:cNvSpPr>
          <p:nvPr/>
        </p:nvSpPr>
        <p:spPr bwMode="auto">
          <a:xfrm>
            <a:off x="3381375" y="1371600"/>
            <a:ext cx="1095375" cy="0"/>
          </a:xfrm>
          <a:prstGeom prst="line">
            <a:avLst/>
          </a:prstGeom>
          <a:noFill/>
          <a:ln w="9525">
            <a:solidFill>
              <a:srgbClr val="0000FF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49624" name="Text Box 24"/>
          <p:cNvSpPr txBox="1">
            <a:spLocks noChangeArrowheads="1"/>
          </p:cNvSpPr>
          <p:nvPr/>
        </p:nvSpPr>
        <p:spPr bwMode="auto">
          <a:xfrm>
            <a:off x="4652963" y="1168400"/>
            <a:ext cx="4271962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zh-CN" altLang="en-US" sz="2000">
                <a:solidFill>
                  <a:srgbClr val="3333CC"/>
                </a:solidFill>
                <a:latin typeface="Times New Roman" panose="02020603050405020304" pitchFamily="18" charset="0"/>
                <a:ea typeface="楷体_GB2312" charset="-122"/>
              </a:rPr>
              <a:t>基本分析工具：收益</a:t>
            </a:r>
            <a:r>
              <a:rPr lang="en-US" altLang="zh-CN" sz="2000">
                <a:solidFill>
                  <a:srgbClr val="3333CC"/>
                </a:solidFill>
                <a:latin typeface="Times New Roman" panose="02020603050405020304" pitchFamily="18" charset="0"/>
                <a:ea typeface="楷体_GB2312" charset="-122"/>
              </a:rPr>
              <a:t>&gt;</a:t>
            </a:r>
            <a:r>
              <a:rPr lang="zh-CN" altLang="en-US" sz="2000">
                <a:solidFill>
                  <a:srgbClr val="3333CC"/>
                </a:solidFill>
                <a:latin typeface="Times New Roman" panose="02020603050405020304" pitchFamily="18" charset="0"/>
                <a:ea typeface="楷体_GB2312" charset="-122"/>
              </a:rPr>
              <a:t>成本？</a:t>
            </a:r>
            <a:r>
              <a:rPr lang="en-US" altLang="zh-CN" sz="2000">
                <a:solidFill>
                  <a:srgbClr val="3333CC"/>
                </a:solidFill>
                <a:latin typeface="Times New Roman" panose="02020603050405020304" pitchFamily="18" charset="0"/>
                <a:ea typeface="楷体_GB2312" charset="-122"/>
              </a:rPr>
              <a:t>(BCA)</a:t>
            </a:r>
          </a:p>
        </p:txBody>
      </p:sp>
      <p:sp>
        <p:nvSpPr>
          <p:cNvPr id="1049625" name="Line 25"/>
          <p:cNvSpPr>
            <a:spLocks noChangeShapeType="1"/>
          </p:cNvSpPr>
          <p:nvPr/>
        </p:nvSpPr>
        <p:spPr bwMode="auto">
          <a:xfrm>
            <a:off x="3381375" y="1933575"/>
            <a:ext cx="1095375" cy="0"/>
          </a:xfrm>
          <a:prstGeom prst="line">
            <a:avLst/>
          </a:prstGeom>
          <a:noFill/>
          <a:ln w="9525">
            <a:solidFill>
              <a:srgbClr val="0000FF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49626" name="Text Box 26"/>
          <p:cNvSpPr txBox="1">
            <a:spLocks noChangeArrowheads="1"/>
          </p:cNvSpPr>
          <p:nvPr/>
        </p:nvSpPr>
        <p:spPr bwMode="auto">
          <a:xfrm>
            <a:off x="4652963" y="1739900"/>
            <a:ext cx="4081462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zh-CN" altLang="en-US" sz="2000">
                <a:solidFill>
                  <a:srgbClr val="3333CC"/>
                </a:solidFill>
                <a:latin typeface="Times New Roman" panose="02020603050405020304" pitchFamily="18" charset="0"/>
                <a:ea typeface="楷体_GB2312" charset="-122"/>
              </a:rPr>
              <a:t>市场有没有需求？收益有多大？</a:t>
            </a:r>
          </a:p>
        </p:txBody>
      </p:sp>
      <p:sp>
        <p:nvSpPr>
          <p:cNvPr id="1049627" name="Line 27"/>
          <p:cNvSpPr>
            <a:spLocks noChangeShapeType="1"/>
          </p:cNvSpPr>
          <p:nvPr/>
        </p:nvSpPr>
        <p:spPr bwMode="auto">
          <a:xfrm>
            <a:off x="3381375" y="2482850"/>
            <a:ext cx="1095375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49628" name="Text Box 28"/>
          <p:cNvSpPr txBox="1">
            <a:spLocks noChangeArrowheads="1"/>
          </p:cNvSpPr>
          <p:nvPr/>
        </p:nvSpPr>
        <p:spPr bwMode="auto">
          <a:xfrm>
            <a:off x="4652963" y="2311400"/>
            <a:ext cx="4081462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zh-CN" altLang="en-US" sz="2000">
                <a:solidFill>
                  <a:srgbClr val="0000FF"/>
                </a:solidFill>
                <a:latin typeface="Times New Roman" panose="02020603050405020304" pitchFamily="18" charset="0"/>
                <a:ea typeface="楷体_GB2312" charset="-122"/>
              </a:rPr>
              <a:t>投资环境分析</a:t>
            </a:r>
          </a:p>
        </p:txBody>
      </p:sp>
      <p:sp>
        <p:nvSpPr>
          <p:cNvPr id="1049629" name="Line 29"/>
          <p:cNvSpPr>
            <a:spLocks noChangeShapeType="1"/>
          </p:cNvSpPr>
          <p:nvPr/>
        </p:nvSpPr>
        <p:spPr bwMode="auto">
          <a:xfrm>
            <a:off x="3381375" y="4321175"/>
            <a:ext cx="1095375" cy="0"/>
          </a:xfrm>
          <a:prstGeom prst="line">
            <a:avLst/>
          </a:prstGeom>
          <a:noFill/>
          <a:ln w="9525">
            <a:solidFill>
              <a:srgbClr val="0000FF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49630" name="Text Box 30"/>
          <p:cNvSpPr txBox="1">
            <a:spLocks noChangeArrowheads="1"/>
          </p:cNvSpPr>
          <p:nvPr/>
        </p:nvSpPr>
        <p:spPr bwMode="auto">
          <a:xfrm>
            <a:off x="4652963" y="3540125"/>
            <a:ext cx="4271962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zh-CN" altLang="en-US" sz="2000">
                <a:solidFill>
                  <a:srgbClr val="3333CC"/>
                </a:solidFill>
                <a:latin typeface="Times New Roman" panose="02020603050405020304" pitchFamily="18" charset="0"/>
                <a:ea typeface="楷体_GB2312" charset="-122"/>
              </a:rPr>
              <a:t>法律法规要求</a:t>
            </a:r>
          </a:p>
        </p:txBody>
      </p:sp>
      <p:sp>
        <p:nvSpPr>
          <p:cNvPr id="1049631" name="Line 31"/>
          <p:cNvSpPr>
            <a:spLocks noChangeShapeType="1"/>
          </p:cNvSpPr>
          <p:nvPr/>
        </p:nvSpPr>
        <p:spPr bwMode="auto">
          <a:xfrm>
            <a:off x="3381375" y="3711575"/>
            <a:ext cx="1095375" cy="0"/>
          </a:xfrm>
          <a:prstGeom prst="line">
            <a:avLst/>
          </a:prstGeom>
          <a:noFill/>
          <a:ln w="9525">
            <a:solidFill>
              <a:srgbClr val="0000FF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49632" name="Line 32"/>
          <p:cNvSpPr>
            <a:spLocks noChangeShapeType="1"/>
          </p:cNvSpPr>
          <p:nvPr/>
        </p:nvSpPr>
        <p:spPr bwMode="auto">
          <a:xfrm>
            <a:off x="3381375" y="3054350"/>
            <a:ext cx="1095375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49633" name="Text Box 33"/>
          <p:cNvSpPr txBox="1">
            <a:spLocks noChangeArrowheads="1"/>
          </p:cNvSpPr>
          <p:nvPr/>
        </p:nvSpPr>
        <p:spPr bwMode="auto">
          <a:xfrm>
            <a:off x="4648200" y="2855913"/>
            <a:ext cx="4081463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zh-CN" altLang="en-US" sz="2000">
                <a:solidFill>
                  <a:srgbClr val="0000FF"/>
                </a:solidFill>
                <a:ea typeface="楷体_GB2312" charset="-122"/>
              </a:rPr>
              <a:t>相关工程学科，同时得到成本数据</a:t>
            </a:r>
          </a:p>
        </p:txBody>
      </p:sp>
      <p:sp>
        <p:nvSpPr>
          <p:cNvPr id="1049634" name="Line 34"/>
          <p:cNvSpPr>
            <a:spLocks noChangeShapeType="1"/>
          </p:cNvSpPr>
          <p:nvPr/>
        </p:nvSpPr>
        <p:spPr bwMode="auto">
          <a:xfrm>
            <a:off x="3381375" y="4965700"/>
            <a:ext cx="1095375" cy="0"/>
          </a:xfrm>
          <a:prstGeom prst="line">
            <a:avLst/>
          </a:prstGeom>
          <a:noFill/>
          <a:ln w="9525">
            <a:solidFill>
              <a:srgbClr val="0000FF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49635" name="Line 35"/>
          <p:cNvSpPr>
            <a:spLocks noChangeShapeType="1"/>
          </p:cNvSpPr>
          <p:nvPr/>
        </p:nvSpPr>
        <p:spPr bwMode="auto">
          <a:xfrm>
            <a:off x="3381375" y="5537200"/>
            <a:ext cx="1095375" cy="0"/>
          </a:xfrm>
          <a:prstGeom prst="line">
            <a:avLst/>
          </a:prstGeom>
          <a:noFill/>
          <a:ln w="9525">
            <a:solidFill>
              <a:srgbClr val="0000FF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49636" name="Line 36"/>
          <p:cNvSpPr>
            <a:spLocks noChangeShapeType="1"/>
          </p:cNvSpPr>
          <p:nvPr/>
        </p:nvSpPr>
        <p:spPr bwMode="auto">
          <a:xfrm>
            <a:off x="3381375" y="6207125"/>
            <a:ext cx="1095375" cy="0"/>
          </a:xfrm>
          <a:prstGeom prst="line">
            <a:avLst/>
          </a:prstGeom>
          <a:noFill/>
          <a:ln w="9525">
            <a:solidFill>
              <a:srgbClr val="0000FF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49637" name="Text Box 37"/>
          <p:cNvSpPr txBox="1">
            <a:spLocks noChangeArrowheads="1"/>
          </p:cNvSpPr>
          <p:nvPr/>
        </p:nvSpPr>
        <p:spPr bwMode="auto">
          <a:xfrm>
            <a:off x="4652963" y="5876925"/>
            <a:ext cx="4081462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zh-CN" altLang="en-US" sz="2000">
                <a:solidFill>
                  <a:srgbClr val="3333CC"/>
                </a:solidFill>
                <a:latin typeface="Times New Roman" panose="02020603050405020304" pitchFamily="18" charset="0"/>
                <a:ea typeface="楷体_GB2312" charset="-122"/>
              </a:rPr>
              <a:t>归纳上述分析，对成本与收益的关系进行总评价</a:t>
            </a:r>
          </a:p>
        </p:txBody>
      </p:sp>
      <p:sp>
        <p:nvSpPr>
          <p:cNvPr id="1049638" name="Text Box 38"/>
          <p:cNvSpPr txBox="1">
            <a:spLocks noChangeArrowheads="1"/>
          </p:cNvSpPr>
          <p:nvPr/>
        </p:nvSpPr>
        <p:spPr bwMode="auto">
          <a:xfrm>
            <a:off x="4652963" y="1168400"/>
            <a:ext cx="4271962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zh-CN" altLang="en-US" sz="2000">
                <a:solidFill>
                  <a:srgbClr val="3333CC"/>
                </a:solidFill>
                <a:latin typeface="Times New Roman" panose="02020603050405020304" pitchFamily="18" charset="0"/>
                <a:ea typeface="楷体_GB2312" charset="-122"/>
              </a:rPr>
              <a:t>基本分析工具：收益</a:t>
            </a:r>
            <a:r>
              <a:rPr lang="en-US" altLang="zh-CN" sz="2000">
                <a:solidFill>
                  <a:srgbClr val="3333CC"/>
                </a:solidFill>
                <a:latin typeface="Times New Roman" panose="02020603050405020304" pitchFamily="18" charset="0"/>
                <a:ea typeface="楷体_GB2312" charset="-122"/>
              </a:rPr>
              <a:t>&gt;</a:t>
            </a:r>
            <a:r>
              <a:rPr lang="zh-CN" altLang="en-US" sz="2000">
                <a:solidFill>
                  <a:srgbClr val="3333CC"/>
                </a:solidFill>
                <a:latin typeface="Times New Roman" panose="02020603050405020304" pitchFamily="18" charset="0"/>
                <a:ea typeface="楷体_GB2312" charset="-122"/>
              </a:rPr>
              <a:t>成本？</a:t>
            </a:r>
            <a:r>
              <a:rPr lang="en-US" altLang="zh-CN" sz="2000">
                <a:solidFill>
                  <a:srgbClr val="3333CC"/>
                </a:solidFill>
                <a:latin typeface="Times New Roman" panose="02020603050405020304" pitchFamily="18" charset="0"/>
                <a:ea typeface="楷体_GB2312" charset="-122"/>
              </a:rPr>
              <a:t>(BCA)</a:t>
            </a:r>
          </a:p>
        </p:txBody>
      </p:sp>
      <p:sp>
        <p:nvSpPr>
          <p:cNvPr id="1049639" name="Text Box 39"/>
          <p:cNvSpPr txBox="1">
            <a:spLocks noChangeArrowheads="1"/>
          </p:cNvSpPr>
          <p:nvPr/>
        </p:nvSpPr>
        <p:spPr bwMode="auto">
          <a:xfrm>
            <a:off x="4652963" y="1739900"/>
            <a:ext cx="4081462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zh-CN" altLang="en-US" sz="2000">
                <a:solidFill>
                  <a:srgbClr val="3333CC"/>
                </a:solidFill>
                <a:latin typeface="Times New Roman" panose="02020603050405020304" pitchFamily="18" charset="0"/>
                <a:ea typeface="楷体_GB2312" charset="-122"/>
              </a:rPr>
              <a:t>市场有没有需求？收益有多大？</a:t>
            </a:r>
          </a:p>
        </p:txBody>
      </p:sp>
      <p:sp>
        <p:nvSpPr>
          <p:cNvPr id="1049640" name="Text Box 40"/>
          <p:cNvSpPr txBox="1">
            <a:spLocks noChangeArrowheads="1"/>
          </p:cNvSpPr>
          <p:nvPr/>
        </p:nvSpPr>
        <p:spPr bwMode="auto">
          <a:xfrm>
            <a:off x="4652963" y="4119563"/>
            <a:ext cx="4081462" cy="854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zh-CN" altLang="en-US" sz="2000">
                <a:solidFill>
                  <a:srgbClr val="D60093"/>
                </a:solidFill>
                <a:ea typeface="楷体_GB2312" charset="-122"/>
              </a:rPr>
              <a:t>项目如何执行</a:t>
            </a:r>
          </a:p>
          <a:p>
            <a:pPr>
              <a:spcBef>
                <a:spcPct val="50000"/>
              </a:spcBef>
              <a:buFontTx/>
              <a:buNone/>
            </a:pPr>
            <a:endParaRPr lang="zh-CN" altLang="en-US" sz="2000">
              <a:solidFill>
                <a:srgbClr val="3333CC"/>
              </a:solidFill>
              <a:latin typeface="Times New Roman" panose="02020603050405020304" pitchFamily="18" charset="0"/>
              <a:ea typeface="楷体_GB2312" charset="-122"/>
            </a:endParaRPr>
          </a:p>
        </p:txBody>
      </p:sp>
      <p:sp>
        <p:nvSpPr>
          <p:cNvPr id="1049641" name="Text Box 41"/>
          <p:cNvSpPr txBox="1">
            <a:spLocks noChangeArrowheads="1"/>
          </p:cNvSpPr>
          <p:nvPr/>
        </p:nvSpPr>
        <p:spPr bwMode="auto">
          <a:xfrm>
            <a:off x="4652963" y="1168400"/>
            <a:ext cx="4271962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zh-CN" altLang="en-US" sz="2000">
                <a:solidFill>
                  <a:srgbClr val="3333CC"/>
                </a:solidFill>
                <a:latin typeface="Times New Roman" panose="02020603050405020304" pitchFamily="18" charset="0"/>
                <a:ea typeface="楷体_GB2312" charset="-122"/>
              </a:rPr>
              <a:t>基本分析工具：收益</a:t>
            </a:r>
            <a:r>
              <a:rPr lang="en-US" altLang="zh-CN" sz="2000">
                <a:solidFill>
                  <a:srgbClr val="3333CC"/>
                </a:solidFill>
                <a:latin typeface="Times New Roman" panose="02020603050405020304" pitchFamily="18" charset="0"/>
                <a:ea typeface="楷体_GB2312" charset="-122"/>
              </a:rPr>
              <a:t>&gt;</a:t>
            </a:r>
            <a:r>
              <a:rPr lang="zh-CN" altLang="en-US" sz="2000">
                <a:solidFill>
                  <a:srgbClr val="3333CC"/>
                </a:solidFill>
                <a:latin typeface="Times New Roman" panose="02020603050405020304" pitchFamily="18" charset="0"/>
                <a:ea typeface="楷体_GB2312" charset="-122"/>
              </a:rPr>
              <a:t>成本？</a:t>
            </a:r>
            <a:r>
              <a:rPr lang="en-US" altLang="zh-CN" sz="2000">
                <a:solidFill>
                  <a:srgbClr val="3333CC"/>
                </a:solidFill>
                <a:latin typeface="Times New Roman" panose="02020603050405020304" pitchFamily="18" charset="0"/>
                <a:ea typeface="楷体_GB2312" charset="-122"/>
              </a:rPr>
              <a:t>(BCA)</a:t>
            </a:r>
          </a:p>
        </p:txBody>
      </p:sp>
      <p:sp>
        <p:nvSpPr>
          <p:cNvPr id="1049642" name="Text Box 42"/>
          <p:cNvSpPr txBox="1">
            <a:spLocks noChangeArrowheads="1"/>
          </p:cNvSpPr>
          <p:nvPr/>
        </p:nvSpPr>
        <p:spPr bwMode="auto">
          <a:xfrm>
            <a:off x="4652963" y="1739900"/>
            <a:ext cx="4081462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zh-CN" altLang="en-US" sz="2000">
                <a:solidFill>
                  <a:srgbClr val="3333CC"/>
                </a:solidFill>
                <a:latin typeface="Times New Roman" panose="02020603050405020304" pitchFamily="18" charset="0"/>
                <a:ea typeface="楷体_GB2312" charset="-122"/>
              </a:rPr>
              <a:t>市场有没有需求？收益有多大？</a:t>
            </a:r>
          </a:p>
        </p:txBody>
      </p:sp>
      <p:sp>
        <p:nvSpPr>
          <p:cNvPr id="1049643" name="Text Box 43"/>
          <p:cNvSpPr txBox="1">
            <a:spLocks noChangeArrowheads="1"/>
          </p:cNvSpPr>
          <p:nvPr/>
        </p:nvSpPr>
        <p:spPr bwMode="auto">
          <a:xfrm>
            <a:off x="4872038" y="4767263"/>
            <a:ext cx="4271962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endParaRPr lang="en-US" altLang="zh-CN" sz="2000">
              <a:solidFill>
                <a:srgbClr val="3333CC"/>
              </a:solidFill>
              <a:latin typeface="Times New Roman" panose="02020603050405020304" pitchFamily="18" charset="0"/>
              <a:ea typeface="楷体_GB2312" charset="-122"/>
            </a:endParaRPr>
          </a:p>
        </p:txBody>
      </p:sp>
      <p:sp>
        <p:nvSpPr>
          <p:cNvPr id="1049644" name="Text Box 44"/>
          <p:cNvSpPr txBox="1">
            <a:spLocks noChangeArrowheads="1"/>
          </p:cNvSpPr>
          <p:nvPr/>
        </p:nvSpPr>
        <p:spPr bwMode="auto">
          <a:xfrm>
            <a:off x="4652963" y="1168400"/>
            <a:ext cx="4271962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zh-CN" altLang="en-US" sz="2000">
                <a:solidFill>
                  <a:srgbClr val="3333CC"/>
                </a:solidFill>
                <a:latin typeface="Times New Roman" panose="02020603050405020304" pitchFamily="18" charset="0"/>
                <a:ea typeface="楷体_GB2312" charset="-122"/>
              </a:rPr>
              <a:t>基本分析工具：收益</a:t>
            </a:r>
            <a:r>
              <a:rPr lang="en-US" altLang="zh-CN" sz="2000">
                <a:solidFill>
                  <a:srgbClr val="3333CC"/>
                </a:solidFill>
                <a:latin typeface="Times New Roman" panose="02020603050405020304" pitchFamily="18" charset="0"/>
                <a:ea typeface="楷体_GB2312" charset="-122"/>
              </a:rPr>
              <a:t>&gt;</a:t>
            </a:r>
            <a:r>
              <a:rPr lang="zh-CN" altLang="en-US" sz="2000">
                <a:solidFill>
                  <a:srgbClr val="3333CC"/>
                </a:solidFill>
                <a:latin typeface="Times New Roman" panose="02020603050405020304" pitchFamily="18" charset="0"/>
                <a:ea typeface="楷体_GB2312" charset="-122"/>
              </a:rPr>
              <a:t>成本？</a:t>
            </a:r>
            <a:r>
              <a:rPr lang="en-US" altLang="zh-CN" sz="2000">
                <a:solidFill>
                  <a:srgbClr val="3333CC"/>
                </a:solidFill>
                <a:latin typeface="Times New Roman" panose="02020603050405020304" pitchFamily="18" charset="0"/>
                <a:ea typeface="楷体_GB2312" charset="-122"/>
              </a:rPr>
              <a:t>(BCA)</a:t>
            </a:r>
          </a:p>
        </p:txBody>
      </p:sp>
      <p:sp>
        <p:nvSpPr>
          <p:cNvPr id="1049645" name="Text Box 45"/>
          <p:cNvSpPr txBox="1">
            <a:spLocks noChangeArrowheads="1"/>
          </p:cNvSpPr>
          <p:nvPr/>
        </p:nvSpPr>
        <p:spPr bwMode="auto">
          <a:xfrm>
            <a:off x="4652963" y="1739900"/>
            <a:ext cx="4081462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zh-CN" altLang="en-US" sz="2000">
                <a:solidFill>
                  <a:srgbClr val="3333CC"/>
                </a:solidFill>
                <a:latin typeface="Times New Roman" panose="02020603050405020304" pitchFamily="18" charset="0"/>
                <a:ea typeface="楷体_GB2312" charset="-122"/>
              </a:rPr>
              <a:t>市场有没有需求？收益有多大？</a:t>
            </a:r>
          </a:p>
        </p:txBody>
      </p:sp>
      <p:sp>
        <p:nvSpPr>
          <p:cNvPr id="1049646" name="Text Box 46"/>
          <p:cNvSpPr txBox="1">
            <a:spLocks noChangeArrowheads="1"/>
          </p:cNvSpPr>
          <p:nvPr/>
        </p:nvSpPr>
        <p:spPr bwMode="auto">
          <a:xfrm>
            <a:off x="4652963" y="1168400"/>
            <a:ext cx="4271962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zh-CN" altLang="en-US" sz="2000">
                <a:solidFill>
                  <a:srgbClr val="3333CC"/>
                </a:solidFill>
                <a:latin typeface="Times New Roman" panose="02020603050405020304" pitchFamily="18" charset="0"/>
                <a:ea typeface="楷体_GB2312" charset="-122"/>
              </a:rPr>
              <a:t>基本分析工具：收益</a:t>
            </a:r>
            <a:r>
              <a:rPr lang="en-US" altLang="zh-CN" sz="2000">
                <a:solidFill>
                  <a:srgbClr val="3333CC"/>
                </a:solidFill>
                <a:latin typeface="Times New Roman" panose="02020603050405020304" pitchFamily="18" charset="0"/>
                <a:ea typeface="楷体_GB2312" charset="-122"/>
              </a:rPr>
              <a:t>&gt;</a:t>
            </a:r>
            <a:r>
              <a:rPr lang="zh-CN" altLang="en-US" sz="2000">
                <a:solidFill>
                  <a:srgbClr val="3333CC"/>
                </a:solidFill>
                <a:latin typeface="Times New Roman" panose="02020603050405020304" pitchFamily="18" charset="0"/>
                <a:ea typeface="楷体_GB2312" charset="-122"/>
              </a:rPr>
              <a:t>成本？</a:t>
            </a:r>
            <a:r>
              <a:rPr lang="en-US" altLang="zh-CN" sz="2000">
                <a:solidFill>
                  <a:srgbClr val="3333CC"/>
                </a:solidFill>
                <a:latin typeface="Times New Roman" panose="02020603050405020304" pitchFamily="18" charset="0"/>
                <a:ea typeface="楷体_GB2312" charset="-122"/>
              </a:rPr>
              <a:t>(BCA)</a:t>
            </a:r>
          </a:p>
        </p:txBody>
      </p:sp>
      <p:sp>
        <p:nvSpPr>
          <p:cNvPr id="1049647" name="Text Box 47"/>
          <p:cNvSpPr txBox="1">
            <a:spLocks noChangeArrowheads="1"/>
          </p:cNvSpPr>
          <p:nvPr/>
        </p:nvSpPr>
        <p:spPr bwMode="auto">
          <a:xfrm>
            <a:off x="4652963" y="1739900"/>
            <a:ext cx="4081462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zh-CN" altLang="en-US" sz="2000">
                <a:solidFill>
                  <a:srgbClr val="3333CC"/>
                </a:solidFill>
                <a:latin typeface="Times New Roman" panose="02020603050405020304" pitchFamily="18" charset="0"/>
                <a:ea typeface="楷体_GB2312" charset="-122"/>
              </a:rPr>
              <a:t>市场有没有需求？收益有多大？</a:t>
            </a:r>
          </a:p>
        </p:txBody>
      </p:sp>
      <p:sp>
        <p:nvSpPr>
          <p:cNvPr id="1049648" name="Text Box 48"/>
          <p:cNvSpPr txBox="1">
            <a:spLocks noChangeArrowheads="1"/>
          </p:cNvSpPr>
          <p:nvPr/>
        </p:nvSpPr>
        <p:spPr bwMode="auto">
          <a:xfrm>
            <a:off x="4652963" y="1168400"/>
            <a:ext cx="4271962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zh-CN" altLang="en-US" sz="2000">
                <a:solidFill>
                  <a:srgbClr val="3333CC"/>
                </a:solidFill>
                <a:latin typeface="Times New Roman" panose="02020603050405020304" pitchFamily="18" charset="0"/>
                <a:ea typeface="楷体_GB2312" charset="-122"/>
              </a:rPr>
              <a:t>基本分析工具：收益</a:t>
            </a:r>
            <a:r>
              <a:rPr lang="en-US" altLang="zh-CN" sz="2000">
                <a:solidFill>
                  <a:srgbClr val="3333CC"/>
                </a:solidFill>
                <a:latin typeface="Times New Roman" panose="02020603050405020304" pitchFamily="18" charset="0"/>
                <a:ea typeface="楷体_GB2312" charset="-122"/>
              </a:rPr>
              <a:t>&gt;</a:t>
            </a:r>
            <a:r>
              <a:rPr lang="zh-CN" altLang="en-US" sz="2000">
                <a:solidFill>
                  <a:srgbClr val="3333CC"/>
                </a:solidFill>
                <a:latin typeface="Times New Roman" panose="02020603050405020304" pitchFamily="18" charset="0"/>
                <a:ea typeface="楷体_GB2312" charset="-122"/>
              </a:rPr>
              <a:t>成本？</a:t>
            </a:r>
            <a:r>
              <a:rPr lang="en-US" altLang="zh-CN" sz="2000">
                <a:solidFill>
                  <a:srgbClr val="3333CC"/>
                </a:solidFill>
                <a:latin typeface="Times New Roman" panose="02020603050405020304" pitchFamily="18" charset="0"/>
                <a:ea typeface="楷体_GB2312" charset="-122"/>
              </a:rPr>
              <a:t>(BCA)</a:t>
            </a:r>
          </a:p>
        </p:txBody>
      </p:sp>
      <p:sp>
        <p:nvSpPr>
          <p:cNvPr id="1049649" name="Text Box 49"/>
          <p:cNvSpPr txBox="1">
            <a:spLocks noChangeArrowheads="1"/>
          </p:cNvSpPr>
          <p:nvPr/>
        </p:nvSpPr>
        <p:spPr bwMode="auto">
          <a:xfrm>
            <a:off x="4652963" y="1739900"/>
            <a:ext cx="4081462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zh-CN" altLang="en-US" sz="2000">
                <a:solidFill>
                  <a:srgbClr val="3333CC"/>
                </a:solidFill>
                <a:latin typeface="Times New Roman" panose="02020603050405020304" pitchFamily="18" charset="0"/>
                <a:ea typeface="楷体_GB2312" charset="-122"/>
              </a:rPr>
              <a:t>市场有没有需求？收益有多大？</a:t>
            </a:r>
          </a:p>
        </p:txBody>
      </p:sp>
      <p:sp>
        <p:nvSpPr>
          <p:cNvPr id="1049650" name="Text Box 50"/>
          <p:cNvSpPr txBox="1">
            <a:spLocks noChangeArrowheads="1"/>
          </p:cNvSpPr>
          <p:nvPr/>
        </p:nvSpPr>
        <p:spPr bwMode="auto">
          <a:xfrm>
            <a:off x="4652963" y="5876925"/>
            <a:ext cx="4081462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zh-CN" altLang="en-US" sz="2000">
                <a:solidFill>
                  <a:srgbClr val="0000FF"/>
                </a:solidFill>
                <a:latin typeface="Times New Roman" panose="02020603050405020304" pitchFamily="18" charset="0"/>
                <a:ea typeface="楷体_GB2312" charset="-122"/>
              </a:rPr>
              <a:t>归纳上述分析，对成本与收益的关系进行总评价</a:t>
            </a:r>
          </a:p>
        </p:txBody>
      </p:sp>
      <p:sp>
        <p:nvSpPr>
          <p:cNvPr id="1049651" name="Text Box 51"/>
          <p:cNvSpPr txBox="1">
            <a:spLocks noChangeArrowheads="1"/>
          </p:cNvSpPr>
          <p:nvPr/>
        </p:nvSpPr>
        <p:spPr bwMode="auto">
          <a:xfrm>
            <a:off x="4648200" y="5338763"/>
            <a:ext cx="4081463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zh-CN" altLang="en-US" sz="2000">
                <a:solidFill>
                  <a:srgbClr val="0000FF"/>
                </a:solidFill>
                <a:ea typeface="楷体_GB2312" charset="-122"/>
              </a:rPr>
              <a:t>考虑社会成本、社会收益的评价</a:t>
            </a:r>
            <a:endParaRPr lang="en-US" altLang="zh-CN" sz="2000">
              <a:solidFill>
                <a:srgbClr val="0000FF"/>
              </a:solidFill>
              <a:ea typeface="楷体_GB2312" charset="-122"/>
            </a:endParaRPr>
          </a:p>
        </p:txBody>
      </p:sp>
      <p:sp>
        <p:nvSpPr>
          <p:cNvPr id="1049652" name="Text Box 52"/>
          <p:cNvSpPr txBox="1">
            <a:spLocks noChangeArrowheads="1"/>
          </p:cNvSpPr>
          <p:nvPr/>
        </p:nvSpPr>
        <p:spPr bwMode="auto">
          <a:xfrm>
            <a:off x="4648200" y="4805363"/>
            <a:ext cx="4081463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en-US" altLang="zh-CN" sz="2000">
                <a:solidFill>
                  <a:srgbClr val="3333CC"/>
                </a:solidFill>
                <a:ea typeface="楷体_GB2312" charset="-122"/>
              </a:rPr>
              <a:t>NPV</a:t>
            </a:r>
            <a:r>
              <a:rPr lang="zh-CN" altLang="en-US" sz="2000">
                <a:solidFill>
                  <a:srgbClr val="3333CC"/>
                </a:solidFill>
                <a:ea typeface="楷体_GB2312" charset="-122"/>
              </a:rPr>
              <a:t>、</a:t>
            </a:r>
            <a:r>
              <a:rPr lang="en-US" altLang="zh-CN" sz="2000">
                <a:solidFill>
                  <a:srgbClr val="3333CC"/>
                </a:solidFill>
                <a:ea typeface="楷体_GB2312" charset="-122"/>
              </a:rPr>
              <a:t>IRR </a:t>
            </a:r>
            <a:r>
              <a:rPr lang="zh-CN" altLang="en-US" sz="2000">
                <a:solidFill>
                  <a:srgbClr val="3333CC"/>
                </a:solidFill>
                <a:ea typeface="楷体_GB2312" charset="-122"/>
              </a:rPr>
              <a:t>、投资回收期</a:t>
            </a:r>
            <a:r>
              <a:rPr lang="en-US" altLang="zh-CN" sz="2000">
                <a:solidFill>
                  <a:srgbClr val="0000FF"/>
                </a:solidFill>
                <a:ea typeface="楷体_GB2312" charset="-122"/>
              </a:rPr>
              <a:t> </a:t>
            </a:r>
            <a:r>
              <a:rPr lang="en-US" altLang="zh-CN" sz="2000">
                <a:solidFill>
                  <a:srgbClr val="3333CC"/>
                </a:solidFill>
                <a:ea typeface="楷体_GB2312" charset="-122"/>
              </a:rPr>
              <a:t>……</a:t>
            </a:r>
            <a:endParaRPr lang="zh-CN" altLang="en-US" sz="2000">
              <a:solidFill>
                <a:srgbClr val="3333CC"/>
              </a:solidFill>
              <a:ea typeface="楷体_GB2312" charset="-122"/>
            </a:endParaRPr>
          </a:p>
        </p:txBody>
      </p:sp>
      <p:sp>
        <p:nvSpPr>
          <p:cNvPr id="1049653" name="Text Box 53"/>
          <p:cNvSpPr txBox="1">
            <a:spLocks noChangeArrowheads="1"/>
          </p:cNvSpPr>
          <p:nvPr/>
        </p:nvSpPr>
        <p:spPr bwMode="auto">
          <a:xfrm>
            <a:off x="4652963" y="1168400"/>
            <a:ext cx="4271962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zh-CN" altLang="en-US" sz="2000">
                <a:solidFill>
                  <a:srgbClr val="0000FF"/>
                </a:solidFill>
                <a:latin typeface="Times New Roman" panose="02020603050405020304" pitchFamily="18" charset="0"/>
                <a:ea typeface="楷体_GB2312" charset="-122"/>
              </a:rPr>
              <a:t>基本分析工具：收益</a:t>
            </a:r>
            <a:r>
              <a:rPr lang="en-US" altLang="zh-CN" sz="2000">
                <a:solidFill>
                  <a:srgbClr val="0000FF"/>
                </a:solidFill>
                <a:latin typeface="Times New Roman" panose="02020603050405020304" pitchFamily="18" charset="0"/>
                <a:ea typeface="楷体_GB2312" charset="-122"/>
              </a:rPr>
              <a:t>&gt;</a:t>
            </a:r>
            <a:r>
              <a:rPr lang="zh-CN" altLang="en-US" sz="2000">
                <a:solidFill>
                  <a:srgbClr val="0000FF"/>
                </a:solidFill>
                <a:latin typeface="Times New Roman" panose="02020603050405020304" pitchFamily="18" charset="0"/>
                <a:ea typeface="楷体_GB2312" charset="-122"/>
              </a:rPr>
              <a:t>成本？</a:t>
            </a:r>
            <a:r>
              <a:rPr lang="en-US" altLang="zh-CN" sz="2000">
                <a:solidFill>
                  <a:srgbClr val="0000FF"/>
                </a:solidFill>
                <a:latin typeface="Times New Roman" panose="02020603050405020304" pitchFamily="18" charset="0"/>
                <a:ea typeface="楷体_GB2312" charset="-122"/>
              </a:rPr>
              <a:t>(BCA)</a:t>
            </a:r>
          </a:p>
        </p:txBody>
      </p:sp>
      <p:sp>
        <p:nvSpPr>
          <p:cNvPr id="1049654" name="Text Box 54"/>
          <p:cNvSpPr txBox="1">
            <a:spLocks noChangeArrowheads="1"/>
          </p:cNvSpPr>
          <p:nvPr/>
        </p:nvSpPr>
        <p:spPr bwMode="auto">
          <a:xfrm>
            <a:off x="4652963" y="1739900"/>
            <a:ext cx="4081462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zh-CN" altLang="en-US" sz="2000">
                <a:solidFill>
                  <a:srgbClr val="0000FF"/>
                </a:solidFill>
                <a:latin typeface="Times New Roman" panose="02020603050405020304" pitchFamily="18" charset="0"/>
                <a:ea typeface="楷体_GB2312" charset="-122"/>
              </a:rPr>
              <a:t>市场有没有需求？收益有多大？</a:t>
            </a:r>
          </a:p>
        </p:txBody>
      </p:sp>
      <p:sp>
        <p:nvSpPr>
          <p:cNvPr id="7221" name="Rectangle 55"/>
          <p:cNvSpPr>
            <a:spLocks noChangeArrowheads="1"/>
          </p:cNvSpPr>
          <p:nvPr/>
        </p:nvSpPr>
        <p:spPr bwMode="auto">
          <a:xfrm>
            <a:off x="-284163" y="3673475"/>
            <a:ext cx="1841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20000"/>
              </a:spcBef>
              <a:buChar char="•"/>
              <a:defRPr sz="32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endParaRPr lang="zh-CN" altLang="en-US" sz="2000">
              <a:solidFill>
                <a:schemeClr val="tx1"/>
              </a:solidFill>
              <a:ea typeface="楷体_GB2312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96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10496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96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0" dur="500"/>
                                        <p:tgtEl>
                                          <p:spTgt spid="10496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96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5" dur="500"/>
                                        <p:tgtEl>
                                          <p:spTgt spid="10496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96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8" dur="500"/>
                                        <p:tgtEl>
                                          <p:spTgt spid="10496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96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3" dur="500"/>
                                        <p:tgtEl>
                                          <p:spTgt spid="10496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96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6" dur="500"/>
                                        <p:tgtEl>
                                          <p:spTgt spid="10496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96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1" dur="500"/>
                                        <p:tgtEl>
                                          <p:spTgt spid="10496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96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4" dur="500"/>
                                        <p:tgtEl>
                                          <p:spTgt spid="10496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96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9" dur="500"/>
                                        <p:tgtEl>
                                          <p:spTgt spid="10496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96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4" dur="500"/>
                                        <p:tgtEl>
                                          <p:spTgt spid="10496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96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7" dur="500"/>
                                        <p:tgtEl>
                                          <p:spTgt spid="10496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96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2" dur="500"/>
                                        <p:tgtEl>
                                          <p:spTgt spid="10496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96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7" dur="500"/>
                                        <p:tgtEl>
                                          <p:spTgt spid="10496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96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62" dur="500"/>
                                        <p:tgtEl>
                                          <p:spTgt spid="10496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96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65" dur="500"/>
                                        <p:tgtEl>
                                          <p:spTgt spid="10496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96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68" dur="500"/>
                                        <p:tgtEl>
                                          <p:spTgt spid="10496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96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1" dur="500"/>
                                        <p:tgtEl>
                                          <p:spTgt spid="10496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96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4" dur="500"/>
                                        <p:tgtEl>
                                          <p:spTgt spid="10496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96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7" dur="500"/>
                                        <p:tgtEl>
                                          <p:spTgt spid="10496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96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80" dur="500"/>
                                        <p:tgtEl>
                                          <p:spTgt spid="10496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5" presetClass="entr" presetSubtype="1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8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96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83" dur="500"/>
                                        <p:tgtEl>
                                          <p:spTgt spid="10496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96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86" dur="500"/>
                                        <p:tgtEl>
                                          <p:spTgt spid="10496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96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89" dur="500"/>
                                        <p:tgtEl>
                                          <p:spTgt spid="10496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96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92" dur="500"/>
                                        <p:tgtEl>
                                          <p:spTgt spid="10496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96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95" dur="500"/>
                                        <p:tgtEl>
                                          <p:spTgt spid="10496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96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98" dur="500"/>
                                        <p:tgtEl>
                                          <p:spTgt spid="10496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96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01" dur="500"/>
                                        <p:tgtEl>
                                          <p:spTgt spid="10496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96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04" dur="500"/>
                                        <p:tgtEl>
                                          <p:spTgt spid="10496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96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07" dur="500"/>
                                        <p:tgtEl>
                                          <p:spTgt spid="10496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96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10" dur="500"/>
                                        <p:tgtEl>
                                          <p:spTgt spid="10496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96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13" dur="500"/>
                                        <p:tgtEl>
                                          <p:spTgt spid="10496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4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96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16" dur="500"/>
                                        <p:tgtEl>
                                          <p:spTgt spid="10496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49624" grpId="0"/>
      <p:bldP spid="1049626" grpId="0"/>
      <p:bldP spid="1049628" grpId="0"/>
      <p:bldP spid="1049630" grpId="0"/>
      <p:bldP spid="1049633" grpId="0"/>
      <p:bldP spid="1049637" grpId="0"/>
      <p:bldP spid="1049638" grpId="0"/>
      <p:bldP spid="1049639" grpId="0"/>
      <p:bldP spid="1049640" grpId="0"/>
      <p:bldP spid="1049641" grpId="0"/>
      <p:bldP spid="1049642" grpId="0"/>
      <p:bldP spid="1049643" grpId="0"/>
      <p:bldP spid="1049644" grpId="0"/>
      <p:bldP spid="1049645" grpId="0"/>
      <p:bldP spid="1049646" grpId="0"/>
      <p:bldP spid="1049647" grpId="0"/>
      <p:bldP spid="1049648" grpId="0"/>
      <p:bldP spid="1049649" grpId="0"/>
      <p:bldP spid="1049650" grpId="0"/>
      <p:bldP spid="1049651" grpId="0"/>
      <p:bldP spid="1049652" grpId="0"/>
      <p:bldP spid="1049653" grpId="0"/>
      <p:bldP spid="104965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z="3200" smtClean="0"/>
              <a:t>Project Phases</a:t>
            </a:r>
            <a:endParaRPr lang="zh-CN" altLang="en-US" sz="3200" smtClean="0"/>
          </a:p>
        </p:txBody>
      </p:sp>
      <p:sp>
        <p:nvSpPr>
          <p:cNvPr id="819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zh-CN" smtClean="0"/>
              <a:t>Feasibility study</a:t>
            </a:r>
          </a:p>
          <a:p>
            <a:pPr eaLnBrk="1" hangingPunct="1"/>
            <a:r>
              <a:rPr lang="en-US" altLang="zh-CN" smtClean="0"/>
              <a:t>Design (process, civil, mech., elect. / instru.)</a:t>
            </a:r>
          </a:p>
          <a:p>
            <a:pPr eaLnBrk="1" hangingPunct="1"/>
            <a:r>
              <a:rPr lang="en-AU" altLang="zh-CN" smtClean="0"/>
              <a:t>Procurement Phase</a:t>
            </a:r>
            <a:endParaRPr lang="en-US" altLang="zh-CN" smtClean="0"/>
          </a:p>
          <a:p>
            <a:pPr eaLnBrk="1" hangingPunct="1"/>
            <a:r>
              <a:rPr lang="en-US" altLang="zh-CN" smtClean="0"/>
              <a:t>Construction </a:t>
            </a:r>
            <a:r>
              <a:rPr lang="en-AU" altLang="zh-CN" smtClean="0"/>
              <a:t>Phase</a:t>
            </a:r>
            <a:endParaRPr lang="en-US" altLang="zh-CN" smtClean="0"/>
          </a:p>
          <a:p>
            <a:pPr eaLnBrk="1" hangingPunct="1"/>
            <a:r>
              <a:rPr lang="en-US" altLang="zh-CN" smtClean="0"/>
              <a:t>Commissioning </a:t>
            </a:r>
            <a:r>
              <a:rPr lang="en-AU" altLang="zh-CN" smtClean="0"/>
              <a:t>Phase</a:t>
            </a:r>
            <a:endParaRPr lang="en-US" altLang="zh-CN" smtClean="0"/>
          </a:p>
          <a:p>
            <a:pPr eaLnBrk="1" hangingPunct="1"/>
            <a:r>
              <a:rPr lang="en-AU" altLang="zh-CN" smtClean="0"/>
              <a:t>Project Completion / </a:t>
            </a:r>
            <a:r>
              <a:rPr lang="en-US" altLang="zh-CN" smtClean="0"/>
              <a:t>Handover </a:t>
            </a:r>
            <a:r>
              <a:rPr lang="en-AU" altLang="zh-CN" smtClean="0"/>
              <a:t>Phase</a:t>
            </a:r>
            <a:endParaRPr lang="en-US" altLang="zh-CN" smtClean="0"/>
          </a:p>
          <a:p>
            <a:pPr eaLnBrk="1" hangingPunct="1"/>
            <a:endParaRPr lang="zh-CN" altLang="en-US" smtClean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z="3200" b="0" smtClean="0">
                <a:solidFill>
                  <a:srgbClr val="000099"/>
                </a:solidFill>
              </a:rPr>
              <a:t>Scheduling Techniques</a:t>
            </a:r>
            <a:endParaRPr lang="zh-CN" altLang="en-US" sz="3200" b="0" smtClean="0">
              <a:solidFill>
                <a:srgbClr val="000099"/>
              </a:solidFill>
            </a:endParaRPr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AU" altLang="zh-CN" smtClean="0"/>
              <a:t>Bar Charts (Gantt Charts)</a:t>
            </a:r>
          </a:p>
          <a:p>
            <a:pPr eaLnBrk="1" hangingPunct="1"/>
            <a:r>
              <a:rPr lang="en-AU" altLang="zh-CN" smtClean="0"/>
              <a:t>Milestone method</a:t>
            </a:r>
          </a:p>
          <a:p>
            <a:pPr eaLnBrk="1" hangingPunct="1"/>
            <a:r>
              <a:rPr lang="en-AU" altLang="zh-CN" smtClean="0"/>
              <a:t>Ch</a:t>
            </a:r>
            <a:r>
              <a:rPr lang="en-US" altLang="zh-CN" smtClean="0"/>
              <a:t>e</a:t>
            </a:r>
            <a:r>
              <a:rPr lang="en-AU" altLang="zh-CN" smtClean="0"/>
              <a:t>ck lists</a:t>
            </a:r>
          </a:p>
          <a:p>
            <a:pPr eaLnBrk="1" hangingPunct="1"/>
            <a:r>
              <a:rPr lang="en-AU" altLang="zh-CN" smtClean="0"/>
              <a:t>Line of balance</a:t>
            </a:r>
          </a:p>
          <a:p>
            <a:pPr eaLnBrk="1" hangingPunct="1"/>
            <a:r>
              <a:rPr lang="en-AU" altLang="zh-CN" smtClean="0"/>
              <a:t>Networks – CPM</a:t>
            </a:r>
            <a:endParaRPr lang="zh-CN" altLang="en-US" smtClean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ext Box 4"/>
          <p:cNvSpPr txBox="1">
            <a:spLocks noChangeArrowheads="1"/>
          </p:cNvSpPr>
          <p:nvPr/>
        </p:nvSpPr>
        <p:spPr bwMode="auto">
          <a:xfrm>
            <a:off x="317500" y="233363"/>
            <a:ext cx="6934200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4000" b="0">
                <a:solidFill>
                  <a:srgbClr val="000099"/>
                </a:solidFill>
                <a:latin typeface="Times New Roman" panose="02020603050405020304" pitchFamily="18" charset="0"/>
                <a:ea typeface="楷体_GB2312" charset="-122"/>
              </a:rPr>
              <a:t>Milestone Method </a:t>
            </a:r>
          </a:p>
        </p:txBody>
      </p:sp>
      <p:pic>
        <p:nvPicPr>
          <p:cNvPr id="10243" name="Picture 5" descr="construction_gantt_full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9250" y="1057275"/>
            <a:ext cx="7350125" cy="5227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D513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>
          <a:solidFill>
            <a:schemeClr val="folHlink"/>
          </a:solidFill>
        </p:spPr>
        <p:txBody>
          <a:bodyPr/>
          <a:lstStyle/>
          <a:p>
            <a:pPr eaLnBrk="1" hangingPunct="1"/>
            <a:r>
              <a:rPr lang="en-US" altLang="zh-CN" sz="3200" smtClean="0">
                <a:solidFill>
                  <a:srgbClr val="000000"/>
                </a:solidFill>
              </a:rPr>
              <a:t>Critical Path Method</a:t>
            </a:r>
          </a:p>
        </p:txBody>
      </p:sp>
      <p:sp>
        <p:nvSpPr>
          <p:cNvPr id="11267" name="Line 5"/>
          <p:cNvSpPr>
            <a:spLocks noChangeShapeType="1"/>
          </p:cNvSpPr>
          <p:nvPr/>
        </p:nvSpPr>
        <p:spPr bwMode="auto">
          <a:xfrm flipV="1">
            <a:off x="677863" y="3079750"/>
            <a:ext cx="935037" cy="1588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268" name="Oval 6"/>
          <p:cNvSpPr>
            <a:spLocks noChangeArrowheads="1"/>
          </p:cNvSpPr>
          <p:nvPr/>
        </p:nvSpPr>
        <p:spPr bwMode="auto">
          <a:xfrm>
            <a:off x="1612900" y="2935288"/>
            <a:ext cx="358775" cy="360362"/>
          </a:xfrm>
          <a:prstGeom prst="ellipse">
            <a:avLst/>
          </a:prstGeom>
          <a:solidFill>
            <a:schemeClr val="folHlink"/>
          </a:solidFill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sz="1800" b="0">
                <a:ea typeface="楷体_GB2312" charset="-122"/>
              </a:rPr>
              <a:t>1</a:t>
            </a:r>
          </a:p>
        </p:txBody>
      </p:sp>
      <p:sp>
        <p:nvSpPr>
          <p:cNvPr id="11269" name="Line 7"/>
          <p:cNvSpPr>
            <a:spLocks noChangeShapeType="1"/>
          </p:cNvSpPr>
          <p:nvPr/>
        </p:nvSpPr>
        <p:spPr bwMode="auto">
          <a:xfrm>
            <a:off x="1901825" y="3295650"/>
            <a:ext cx="1079500" cy="576263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270" name="Line 8"/>
          <p:cNvSpPr>
            <a:spLocks noChangeShapeType="1"/>
          </p:cNvSpPr>
          <p:nvPr/>
        </p:nvSpPr>
        <p:spPr bwMode="auto">
          <a:xfrm flipV="1">
            <a:off x="1828800" y="2214563"/>
            <a:ext cx="1152525" cy="720725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271" name="Oval 9"/>
          <p:cNvSpPr>
            <a:spLocks noChangeArrowheads="1"/>
          </p:cNvSpPr>
          <p:nvPr/>
        </p:nvSpPr>
        <p:spPr bwMode="auto">
          <a:xfrm>
            <a:off x="7158038" y="2935288"/>
            <a:ext cx="358775" cy="360362"/>
          </a:xfrm>
          <a:prstGeom prst="ellipse">
            <a:avLst/>
          </a:prstGeom>
          <a:solidFill>
            <a:schemeClr val="folHlink"/>
          </a:solidFill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sz="1800" b="0">
                <a:ea typeface="楷体_GB2312" charset="-122"/>
              </a:rPr>
              <a:t>8</a:t>
            </a:r>
          </a:p>
        </p:txBody>
      </p:sp>
      <p:sp>
        <p:nvSpPr>
          <p:cNvPr id="11272" name="Oval 10"/>
          <p:cNvSpPr>
            <a:spLocks noChangeArrowheads="1"/>
          </p:cNvSpPr>
          <p:nvPr/>
        </p:nvSpPr>
        <p:spPr bwMode="auto">
          <a:xfrm>
            <a:off x="5789613" y="1927225"/>
            <a:ext cx="358775" cy="360363"/>
          </a:xfrm>
          <a:prstGeom prst="ellipse">
            <a:avLst/>
          </a:prstGeom>
          <a:solidFill>
            <a:schemeClr val="folHlink"/>
          </a:solidFill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sz="1800" b="0">
                <a:ea typeface="楷体_GB2312" charset="-122"/>
              </a:rPr>
              <a:t>6</a:t>
            </a:r>
          </a:p>
        </p:txBody>
      </p:sp>
      <p:sp>
        <p:nvSpPr>
          <p:cNvPr id="11273" name="Line 11"/>
          <p:cNvSpPr>
            <a:spLocks noChangeShapeType="1"/>
          </p:cNvSpPr>
          <p:nvPr/>
        </p:nvSpPr>
        <p:spPr bwMode="auto">
          <a:xfrm>
            <a:off x="7518400" y="3079750"/>
            <a:ext cx="1079500" cy="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274" name="Oval 12"/>
          <p:cNvSpPr>
            <a:spLocks noChangeArrowheads="1"/>
          </p:cNvSpPr>
          <p:nvPr/>
        </p:nvSpPr>
        <p:spPr bwMode="auto">
          <a:xfrm>
            <a:off x="8597900" y="2863850"/>
            <a:ext cx="358775" cy="360363"/>
          </a:xfrm>
          <a:prstGeom prst="ellipse">
            <a:avLst/>
          </a:prstGeom>
          <a:solidFill>
            <a:schemeClr val="folHlink"/>
          </a:solidFill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sz="1800" b="0">
                <a:ea typeface="楷体_GB2312" charset="-122"/>
              </a:rPr>
              <a:t>9</a:t>
            </a:r>
          </a:p>
        </p:txBody>
      </p:sp>
      <p:sp>
        <p:nvSpPr>
          <p:cNvPr id="11275" name="Oval 13"/>
          <p:cNvSpPr>
            <a:spLocks noChangeArrowheads="1"/>
          </p:cNvSpPr>
          <p:nvPr/>
        </p:nvSpPr>
        <p:spPr bwMode="auto">
          <a:xfrm>
            <a:off x="319088" y="2863850"/>
            <a:ext cx="358775" cy="360363"/>
          </a:xfrm>
          <a:prstGeom prst="ellipse">
            <a:avLst/>
          </a:prstGeom>
          <a:solidFill>
            <a:schemeClr val="folHlink"/>
          </a:solidFill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sz="1800" b="0">
                <a:ea typeface="楷体_GB2312" charset="-122"/>
              </a:rPr>
              <a:t>0</a:t>
            </a:r>
          </a:p>
        </p:txBody>
      </p:sp>
      <p:sp>
        <p:nvSpPr>
          <p:cNvPr id="11276" name="Oval 14"/>
          <p:cNvSpPr>
            <a:spLocks noChangeArrowheads="1"/>
          </p:cNvSpPr>
          <p:nvPr/>
        </p:nvSpPr>
        <p:spPr bwMode="auto">
          <a:xfrm>
            <a:off x="4421188" y="1927225"/>
            <a:ext cx="358775" cy="360363"/>
          </a:xfrm>
          <a:prstGeom prst="ellipse">
            <a:avLst/>
          </a:prstGeom>
          <a:solidFill>
            <a:schemeClr val="folHlink"/>
          </a:solidFill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sz="1800" b="0">
                <a:ea typeface="楷体_GB2312" charset="-122"/>
              </a:rPr>
              <a:t>4</a:t>
            </a:r>
          </a:p>
        </p:txBody>
      </p:sp>
      <p:sp>
        <p:nvSpPr>
          <p:cNvPr id="11277" name="Oval 15"/>
          <p:cNvSpPr>
            <a:spLocks noChangeArrowheads="1"/>
          </p:cNvSpPr>
          <p:nvPr/>
        </p:nvSpPr>
        <p:spPr bwMode="auto">
          <a:xfrm>
            <a:off x="2981325" y="3727450"/>
            <a:ext cx="358775" cy="360363"/>
          </a:xfrm>
          <a:prstGeom prst="ellipse">
            <a:avLst/>
          </a:prstGeom>
          <a:solidFill>
            <a:schemeClr val="folHlink"/>
          </a:solidFill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sz="1800" b="0">
                <a:ea typeface="楷体_GB2312" charset="-122"/>
              </a:rPr>
              <a:t>3</a:t>
            </a:r>
          </a:p>
        </p:txBody>
      </p:sp>
      <p:sp>
        <p:nvSpPr>
          <p:cNvPr id="11278" name="Oval 16"/>
          <p:cNvSpPr>
            <a:spLocks noChangeArrowheads="1"/>
          </p:cNvSpPr>
          <p:nvPr/>
        </p:nvSpPr>
        <p:spPr bwMode="auto">
          <a:xfrm>
            <a:off x="2981325" y="1998663"/>
            <a:ext cx="358775" cy="360362"/>
          </a:xfrm>
          <a:prstGeom prst="ellipse">
            <a:avLst/>
          </a:prstGeom>
          <a:solidFill>
            <a:schemeClr val="folHlink"/>
          </a:solidFill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sz="1800" b="0">
                <a:ea typeface="楷体_GB2312" charset="-122"/>
              </a:rPr>
              <a:t>2</a:t>
            </a:r>
          </a:p>
        </p:txBody>
      </p:sp>
      <p:sp>
        <p:nvSpPr>
          <p:cNvPr id="11279" name="Line 17"/>
          <p:cNvSpPr>
            <a:spLocks noChangeShapeType="1"/>
          </p:cNvSpPr>
          <p:nvPr/>
        </p:nvSpPr>
        <p:spPr bwMode="auto">
          <a:xfrm>
            <a:off x="3341688" y="2143125"/>
            <a:ext cx="1079500" cy="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280" name="Oval 18"/>
          <p:cNvSpPr>
            <a:spLocks noChangeArrowheads="1"/>
          </p:cNvSpPr>
          <p:nvPr/>
        </p:nvSpPr>
        <p:spPr bwMode="auto">
          <a:xfrm>
            <a:off x="5934075" y="3727450"/>
            <a:ext cx="358775" cy="360363"/>
          </a:xfrm>
          <a:prstGeom prst="ellipse">
            <a:avLst/>
          </a:prstGeom>
          <a:solidFill>
            <a:schemeClr val="folHlink"/>
          </a:solidFill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sz="1800" b="0">
                <a:ea typeface="楷体_GB2312" charset="-122"/>
              </a:rPr>
              <a:t>7</a:t>
            </a:r>
          </a:p>
        </p:txBody>
      </p:sp>
      <p:sp>
        <p:nvSpPr>
          <p:cNvPr id="11281" name="Oval 19"/>
          <p:cNvSpPr>
            <a:spLocks noChangeArrowheads="1"/>
          </p:cNvSpPr>
          <p:nvPr/>
        </p:nvSpPr>
        <p:spPr bwMode="auto">
          <a:xfrm>
            <a:off x="4494213" y="3654425"/>
            <a:ext cx="358775" cy="360363"/>
          </a:xfrm>
          <a:prstGeom prst="ellipse">
            <a:avLst/>
          </a:prstGeom>
          <a:solidFill>
            <a:schemeClr val="folHlink"/>
          </a:solidFill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sz="1800" b="0">
                <a:ea typeface="楷体_GB2312" charset="-122"/>
              </a:rPr>
              <a:t>5</a:t>
            </a:r>
          </a:p>
        </p:txBody>
      </p:sp>
      <p:sp>
        <p:nvSpPr>
          <p:cNvPr id="11282" name="Line 20"/>
          <p:cNvSpPr>
            <a:spLocks noChangeShapeType="1"/>
          </p:cNvSpPr>
          <p:nvPr/>
        </p:nvSpPr>
        <p:spPr bwMode="auto">
          <a:xfrm>
            <a:off x="3341688" y="3871913"/>
            <a:ext cx="1152525" cy="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283" name="Line 21"/>
          <p:cNvSpPr>
            <a:spLocks noChangeShapeType="1"/>
          </p:cNvSpPr>
          <p:nvPr/>
        </p:nvSpPr>
        <p:spPr bwMode="auto">
          <a:xfrm>
            <a:off x="4852988" y="3871913"/>
            <a:ext cx="1081087" cy="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284" name="Line 22"/>
          <p:cNvSpPr>
            <a:spLocks noChangeShapeType="1"/>
          </p:cNvSpPr>
          <p:nvPr/>
        </p:nvSpPr>
        <p:spPr bwMode="auto">
          <a:xfrm flipH="1" flipV="1">
            <a:off x="4710113" y="2287588"/>
            <a:ext cx="1295400" cy="1439862"/>
          </a:xfrm>
          <a:prstGeom prst="line">
            <a:avLst/>
          </a:prstGeom>
          <a:noFill/>
          <a:ln w="12700">
            <a:solidFill>
              <a:schemeClr val="tx1"/>
            </a:solidFill>
            <a:prstDash val="lgDash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285" name="Line 23"/>
          <p:cNvSpPr>
            <a:spLocks noChangeShapeType="1"/>
          </p:cNvSpPr>
          <p:nvPr/>
        </p:nvSpPr>
        <p:spPr bwMode="auto">
          <a:xfrm>
            <a:off x="4781550" y="2143125"/>
            <a:ext cx="1008063" cy="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286" name="Line 24"/>
          <p:cNvSpPr>
            <a:spLocks noChangeShapeType="1"/>
          </p:cNvSpPr>
          <p:nvPr/>
        </p:nvSpPr>
        <p:spPr bwMode="auto">
          <a:xfrm>
            <a:off x="533400" y="3222625"/>
            <a:ext cx="360363" cy="1512888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287" name="Line 25"/>
          <p:cNvSpPr>
            <a:spLocks noChangeShapeType="1"/>
          </p:cNvSpPr>
          <p:nvPr/>
        </p:nvSpPr>
        <p:spPr bwMode="auto">
          <a:xfrm>
            <a:off x="893763" y="4735513"/>
            <a:ext cx="4679950" cy="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288" name="Line 26"/>
          <p:cNvSpPr>
            <a:spLocks noChangeShapeType="1"/>
          </p:cNvSpPr>
          <p:nvPr/>
        </p:nvSpPr>
        <p:spPr bwMode="auto">
          <a:xfrm flipV="1">
            <a:off x="5573713" y="4087813"/>
            <a:ext cx="431800" cy="64770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289" name="Line 27"/>
          <p:cNvSpPr>
            <a:spLocks noChangeShapeType="1"/>
          </p:cNvSpPr>
          <p:nvPr/>
        </p:nvSpPr>
        <p:spPr bwMode="auto">
          <a:xfrm flipV="1">
            <a:off x="6294438" y="3222625"/>
            <a:ext cx="863600" cy="576263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290" name="Line 28"/>
          <p:cNvSpPr>
            <a:spLocks noChangeShapeType="1"/>
          </p:cNvSpPr>
          <p:nvPr/>
        </p:nvSpPr>
        <p:spPr bwMode="auto">
          <a:xfrm>
            <a:off x="6149975" y="2214563"/>
            <a:ext cx="1008063" cy="792162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291" name="Line 29"/>
          <p:cNvSpPr>
            <a:spLocks noChangeShapeType="1"/>
          </p:cNvSpPr>
          <p:nvPr/>
        </p:nvSpPr>
        <p:spPr bwMode="auto">
          <a:xfrm flipV="1">
            <a:off x="3197225" y="2359025"/>
            <a:ext cx="0" cy="1368425"/>
          </a:xfrm>
          <a:prstGeom prst="line">
            <a:avLst/>
          </a:prstGeom>
          <a:noFill/>
          <a:ln w="12700">
            <a:solidFill>
              <a:schemeClr val="tx1"/>
            </a:solidFill>
            <a:prstDash val="lgDash"/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292" name="Text Box 30"/>
          <p:cNvSpPr txBox="1">
            <a:spLocks noChangeArrowheads="1"/>
          </p:cNvSpPr>
          <p:nvPr/>
        </p:nvSpPr>
        <p:spPr bwMode="auto">
          <a:xfrm>
            <a:off x="3197225" y="3079750"/>
            <a:ext cx="400050" cy="304800"/>
          </a:xfrm>
          <a:prstGeom prst="rect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400" b="0">
                <a:ea typeface="楷体_GB2312" charset="-122"/>
              </a:rPr>
              <a:t>(0)</a:t>
            </a:r>
          </a:p>
        </p:txBody>
      </p:sp>
      <p:sp>
        <p:nvSpPr>
          <p:cNvPr id="11293" name="Text Box 31"/>
          <p:cNvSpPr txBox="1">
            <a:spLocks noChangeArrowheads="1"/>
          </p:cNvSpPr>
          <p:nvPr/>
        </p:nvSpPr>
        <p:spPr bwMode="auto">
          <a:xfrm>
            <a:off x="4852988" y="2863850"/>
            <a:ext cx="360362" cy="304800"/>
          </a:xfrm>
          <a:prstGeom prst="rect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400" b="0">
                <a:ea typeface="楷体_GB2312" charset="-122"/>
              </a:rPr>
              <a:t>(0)</a:t>
            </a:r>
          </a:p>
        </p:txBody>
      </p:sp>
      <p:sp>
        <p:nvSpPr>
          <p:cNvPr id="11294" name="Text Box 32"/>
          <p:cNvSpPr txBox="1">
            <a:spLocks noChangeArrowheads="1"/>
          </p:cNvSpPr>
          <p:nvPr/>
        </p:nvSpPr>
        <p:spPr bwMode="auto">
          <a:xfrm>
            <a:off x="2333625" y="2574925"/>
            <a:ext cx="282575" cy="304800"/>
          </a:xfrm>
          <a:prstGeom prst="rect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400" b="0">
                <a:ea typeface="楷体_GB2312" charset="-122"/>
              </a:rPr>
              <a:t>3</a:t>
            </a:r>
          </a:p>
        </p:txBody>
      </p:sp>
      <p:sp>
        <p:nvSpPr>
          <p:cNvPr id="11295" name="Text Box 33"/>
          <p:cNvSpPr txBox="1">
            <a:spLocks noChangeArrowheads="1"/>
          </p:cNvSpPr>
          <p:nvPr/>
        </p:nvSpPr>
        <p:spPr bwMode="auto">
          <a:xfrm>
            <a:off x="2117725" y="3511550"/>
            <a:ext cx="282575" cy="304800"/>
          </a:xfrm>
          <a:prstGeom prst="rect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400" b="0">
                <a:ea typeface="楷体_GB2312" charset="-122"/>
              </a:rPr>
              <a:t>2</a:t>
            </a:r>
          </a:p>
        </p:txBody>
      </p:sp>
      <p:sp>
        <p:nvSpPr>
          <p:cNvPr id="11296" name="Text Box 34"/>
          <p:cNvSpPr txBox="1">
            <a:spLocks noChangeArrowheads="1"/>
          </p:cNvSpPr>
          <p:nvPr/>
        </p:nvSpPr>
        <p:spPr bwMode="auto">
          <a:xfrm>
            <a:off x="3702050" y="2143125"/>
            <a:ext cx="282575" cy="304800"/>
          </a:xfrm>
          <a:prstGeom prst="rect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400" b="0">
                <a:ea typeface="楷体_GB2312" charset="-122"/>
              </a:rPr>
              <a:t>2</a:t>
            </a:r>
          </a:p>
        </p:txBody>
      </p:sp>
      <p:sp>
        <p:nvSpPr>
          <p:cNvPr id="11297" name="Text Box 35"/>
          <p:cNvSpPr txBox="1">
            <a:spLocks noChangeArrowheads="1"/>
          </p:cNvSpPr>
          <p:nvPr/>
        </p:nvSpPr>
        <p:spPr bwMode="auto">
          <a:xfrm>
            <a:off x="5213350" y="2143125"/>
            <a:ext cx="282575" cy="304800"/>
          </a:xfrm>
          <a:prstGeom prst="rect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400" b="0">
                <a:ea typeface="楷体_GB2312" charset="-122"/>
              </a:rPr>
              <a:t>1</a:t>
            </a:r>
          </a:p>
        </p:txBody>
      </p:sp>
      <p:sp>
        <p:nvSpPr>
          <p:cNvPr id="11298" name="Text Box 36"/>
          <p:cNvSpPr txBox="1">
            <a:spLocks noChangeArrowheads="1"/>
          </p:cNvSpPr>
          <p:nvPr/>
        </p:nvSpPr>
        <p:spPr bwMode="auto">
          <a:xfrm>
            <a:off x="2909888" y="4735513"/>
            <a:ext cx="282575" cy="304800"/>
          </a:xfrm>
          <a:prstGeom prst="rect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400" b="0">
                <a:ea typeface="楷体_GB2312" charset="-122"/>
              </a:rPr>
              <a:t>7</a:t>
            </a:r>
          </a:p>
        </p:txBody>
      </p:sp>
      <p:sp>
        <p:nvSpPr>
          <p:cNvPr id="11299" name="Text Box 37"/>
          <p:cNvSpPr txBox="1">
            <a:spLocks noChangeArrowheads="1"/>
          </p:cNvSpPr>
          <p:nvPr/>
        </p:nvSpPr>
        <p:spPr bwMode="auto">
          <a:xfrm>
            <a:off x="7950200" y="3079750"/>
            <a:ext cx="282575" cy="304800"/>
          </a:xfrm>
          <a:prstGeom prst="rect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400" b="0">
                <a:ea typeface="楷体_GB2312" charset="-122"/>
              </a:rPr>
              <a:t>1</a:t>
            </a:r>
          </a:p>
        </p:txBody>
      </p:sp>
      <p:sp>
        <p:nvSpPr>
          <p:cNvPr id="11300" name="Text Box 38"/>
          <p:cNvSpPr txBox="1">
            <a:spLocks noChangeArrowheads="1"/>
          </p:cNvSpPr>
          <p:nvPr/>
        </p:nvSpPr>
        <p:spPr bwMode="auto">
          <a:xfrm>
            <a:off x="3773488" y="3871913"/>
            <a:ext cx="282575" cy="304800"/>
          </a:xfrm>
          <a:prstGeom prst="rect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400" b="0">
                <a:ea typeface="楷体_GB2312" charset="-122"/>
              </a:rPr>
              <a:t>1</a:t>
            </a:r>
          </a:p>
        </p:txBody>
      </p:sp>
      <p:sp>
        <p:nvSpPr>
          <p:cNvPr id="11301" name="Text Box 39"/>
          <p:cNvSpPr txBox="1">
            <a:spLocks noChangeArrowheads="1"/>
          </p:cNvSpPr>
          <p:nvPr/>
        </p:nvSpPr>
        <p:spPr bwMode="auto">
          <a:xfrm>
            <a:off x="5141913" y="3871913"/>
            <a:ext cx="282575" cy="304800"/>
          </a:xfrm>
          <a:prstGeom prst="rect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400" b="0">
                <a:ea typeface="楷体_GB2312" charset="-122"/>
              </a:rPr>
              <a:t>1</a:t>
            </a:r>
          </a:p>
        </p:txBody>
      </p:sp>
      <p:sp>
        <p:nvSpPr>
          <p:cNvPr id="11302" name="Text Box 40"/>
          <p:cNvSpPr txBox="1">
            <a:spLocks noChangeArrowheads="1"/>
          </p:cNvSpPr>
          <p:nvPr/>
        </p:nvSpPr>
        <p:spPr bwMode="auto">
          <a:xfrm>
            <a:off x="6294438" y="2503488"/>
            <a:ext cx="282575" cy="304800"/>
          </a:xfrm>
          <a:prstGeom prst="rect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400" b="0">
                <a:ea typeface="楷体_GB2312" charset="-122"/>
              </a:rPr>
              <a:t>1</a:t>
            </a:r>
          </a:p>
        </p:txBody>
      </p:sp>
      <p:sp>
        <p:nvSpPr>
          <p:cNvPr id="11303" name="Text Box 41"/>
          <p:cNvSpPr txBox="1">
            <a:spLocks noChangeArrowheads="1"/>
          </p:cNvSpPr>
          <p:nvPr/>
        </p:nvSpPr>
        <p:spPr bwMode="auto">
          <a:xfrm>
            <a:off x="6653213" y="3511550"/>
            <a:ext cx="282575" cy="304800"/>
          </a:xfrm>
          <a:prstGeom prst="rect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400" b="0">
                <a:ea typeface="楷体_GB2312" charset="-122"/>
              </a:rPr>
              <a:t>1</a:t>
            </a:r>
          </a:p>
        </p:txBody>
      </p:sp>
      <p:sp>
        <p:nvSpPr>
          <p:cNvPr id="11304" name="Text Box 42"/>
          <p:cNvSpPr txBox="1">
            <a:spLocks noChangeArrowheads="1"/>
          </p:cNvSpPr>
          <p:nvPr/>
        </p:nvSpPr>
        <p:spPr bwMode="auto">
          <a:xfrm>
            <a:off x="1325563" y="4951413"/>
            <a:ext cx="6750050" cy="366712"/>
          </a:xfrm>
          <a:prstGeom prst="rect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800" b="0">
                <a:ea typeface="楷体_GB2312" charset="-122"/>
              </a:rPr>
              <a:t>A network diagram showing earliest and latest starts and finishes</a:t>
            </a:r>
          </a:p>
        </p:txBody>
      </p:sp>
      <p:sp>
        <p:nvSpPr>
          <p:cNvPr id="11305" name="Line 43"/>
          <p:cNvSpPr>
            <a:spLocks noChangeShapeType="1"/>
          </p:cNvSpPr>
          <p:nvPr/>
        </p:nvSpPr>
        <p:spPr bwMode="auto">
          <a:xfrm flipV="1">
            <a:off x="7950200" y="4591050"/>
            <a:ext cx="647700" cy="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306" name="Line 44"/>
          <p:cNvSpPr>
            <a:spLocks noChangeShapeType="1"/>
          </p:cNvSpPr>
          <p:nvPr/>
        </p:nvSpPr>
        <p:spPr bwMode="auto">
          <a:xfrm>
            <a:off x="8310563" y="4303713"/>
            <a:ext cx="0" cy="503237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307" name="Text Box 45"/>
          <p:cNvSpPr txBox="1">
            <a:spLocks noChangeArrowheads="1"/>
          </p:cNvSpPr>
          <p:nvPr/>
        </p:nvSpPr>
        <p:spPr bwMode="auto">
          <a:xfrm>
            <a:off x="7878763" y="4303713"/>
            <a:ext cx="422275" cy="304800"/>
          </a:xfrm>
          <a:prstGeom prst="rect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400" b="0">
                <a:ea typeface="楷体_GB2312" charset="-122"/>
              </a:rPr>
              <a:t>ES</a:t>
            </a:r>
          </a:p>
        </p:txBody>
      </p:sp>
      <p:sp>
        <p:nvSpPr>
          <p:cNvPr id="11308" name="Text Box 46"/>
          <p:cNvSpPr txBox="1">
            <a:spLocks noChangeArrowheads="1"/>
          </p:cNvSpPr>
          <p:nvPr/>
        </p:nvSpPr>
        <p:spPr bwMode="auto">
          <a:xfrm>
            <a:off x="8310563" y="4303713"/>
            <a:ext cx="411162" cy="304800"/>
          </a:xfrm>
          <a:prstGeom prst="rect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400" b="0">
                <a:ea typeface="楷体_GB2312" charset="-122"/>
              </a:rPr>
              <a:t>EF</a:t>
            </a:r>
          </a:p>
        </p:txBody>
      </p:sp>
      <p:sp>
        <p:nvSpPr>
          <p:cNvPr id="11309" name="Text Box 47"/>
          <p:cNvSpPr txBox="1">
            <a:spLocks noChangeArrowheads="1"/>
          </p:cNvSpPr>
          <p:nvPr/>
        </p:nvSpPr>
        <p:spPr bwMode="auto">
          <a:xfrm>
            <a:off x="7878763" y="4591050"/>
            <a:ext cx="401637" cy="304800"/>
          </a:xfrm>
          <a:prstGeom prst="rect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400" b="0">
                <a:ea typeface="楷体_GB2312" charset="-122"/>
              </a:rPr>
              <a:t>LS</a:t>
            </a:r>
          </a:p>
        </p:txBody>
      </p:sp>
      <p:sp>
        <p:nvSpPr>
          <p:cNvPr id="11310" name="Text Box 48"/>
          <p:cNvSpPr txBox="1">
            <a:spLocks noChangeArrowheads="1"/>
          </p:cNvSpPr>
          <p:nvPr/>
        </p:nvSpPr>
        <p:spPr bwMode="auto">
          <a:xfrm>
            <a:off x="8310563" y="4591050"/>
            <a:ext cx="390525" cy="304800"/>
          </a:xfrm>
          <a:prstGeom prst="rect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400" b="0">
                <a:ea typeface="楷体_GB2312" charset="-122"/>
              </a:rPr>
              <a:t>LF</a:t>
            </a:r>
          </a:p>
        </p:txBody>
      </p:sp>
      <p:sp>
        <p:nvSpPr>
          <p:cNvPr id="11311" name="Line 49"/>
          <p:cNvSpPr>
            <a:spLocks noChangeShapeType="1"/>
          </p:cNvSpPr>
          <p:nvPr/>
        </p:nvSpPr>
        <p:spPr bwMode="auto">
          <a:xfrm flipV="1">
            <a:off x="820738" y="2719388"/>
            <a:ext cx="576262" cy="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312" name="Line 50"/>
          <p:cNvSpPr>
            <a:spLocks noChangeShapeType="1"/>
          </p:cNvSpPr>
          <p:nvPr/>
        </p:nvSpPr>
        <p:spPr bwMode="auto">
          <a:xfrm>
            <a:off x="1109663" y="2432050"/>
            <a:ext cx="0" cy="574675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313" name="Text Box 51"/>
          <p:cNvSpPr txBox="1">
            <a:spLocks noChangeArrowheads="1"/>
          </p:cNvSpPr>
          <p:nvPr/>
        </p:nvSpPr>
        <p:spPr bwMode="auto">
          <a:xfrm>
            <a:off x="820738" y="2432050"/>
            <a:ext cx="282575" cy="304800"/>
          </a:xfrm>
          <a:prstGeom prst="rect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400" b="0">
                <a:ea typeface="楷体_GB2312" charset="-122"/>
              </a:rPr>
              <a:t>0</a:t>
            </a:r>
          </a:p>
        </p:txBody>
      </p:sp>
      <p:sp>
        <p:nvSpPr>
          <p:cNvPr id="11314" name="Text Box 52"/>
          <p:cNvSpPr txBox="1">
            <a:spLocks noChangeArrowheads="1"/>
          </p:cNvSpPr>
          <p:nvPr/>
        </p:nvSpPr>
        <p:spPr bwMode="auto">
          <a:xfrm>
            <a:off x="1109663" y="2432050"/>
            <a:ext cx="282575" cy="304800"/>
          </a:xfrm>
          <a:prstGeom prst="rect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400" b="0">
                <a:ea typeface="楷体_GB2312" charset="-122"/>
              </a:rPr>
              <a:t>0</a:t>
            </a:r>
          </a:p>
        </p:txBody>
      </p:sp>
      <p:sp>
        <p:nvSpPr>
          <p:cNvPr id="11315" name="Text Box 53"/>
          <p:cNvSpPr txBox="1">
            <a:spLocks noChangeArrowheads="1"/>
          </p:cNvSpPr>
          <p:nvPr/>
        </p:nvSpPr>
        <p:spPr bwMode="auto">
          <a:xfrm>
            <a:off x="1109663" y="2719388"/>
            <a:ext cx="282575" cy="304800"/>
          </a:xfrm>
          <a:prstGeom prst="rect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400" b="0">
                <a:ea typeface="楷体_GB2312" charset="-122"/>
              </a:rPr>
              <a:t>2</a:t>
            </a:r>
          </a:p>
        </p:txBody>
      </p:sp>
      <p:sp>
        <p:nvSpPr>
          <p:cNvPr id="11316" name="Text Box 54"/>
          <p:cNvSpPr txBox="1">
            <a:spLocks noChangeArrowheads="1"/>
          </p:cNvSpPr>
          <p:nvPr/>
        </p:nvSpPr>
        <p:spPr bwMode="auto">
          <a:xfrm>
            <a:off x="820738" y="2719388"/>
            <a:ext cx="282575" cy="304800"/>
          </a:xfrm>
          <a:prstGeom prst="rect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400" b="0">
                <a:ea typeface="楷体_GB2312" charset="-122"/>
              </a:rPr>
              <a:t>2</a:t>
            </a:r>
          </a:p>
        </p:txBody>
      </p:sp>
      <p:sp>
        <p:nvSpPr>
          <p:cNvPr id="11317" name="Text Box 55"/>
          <p:cNvSpPr txBox="1">
            <a:spLocks noChangeArrowheads="1"/>
          </p:cNvSpPr>
          <p:nvPr/>
        </p:nvSpPr>
        <p:spPr bwMode="auto">
          <a:xfrm>
            <a:off x="965200" y="3151188"/>
            <a:ext cx="282575" cy="304800"/>
          </a:xfrm>
          <a:prstGeom prst="rect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400" b="0">
                <a:ea typeface="楷体_GB2312" charset="-122"/>
              </a:rPr>
              <a:t>0</a:t>
            </a:r>
          </a:p>
        </p:txBody>
      </p:sp>
      <p:sp>
        <p:nvSpPr>
          <p:cNvPr id="11318" name="Line 56"/>
          <p:cNvSpPr>
            <a:spLocks noChangeShapeType="1"/>
          </p:cNvSpPr>
          <p:nvPr/>
        </p:nvSpPr>
        <p:spPr bwMode="auto">
          <a:xfrm flipV="1">
            <a:off x="1828800" y="2359025"/>
            <a:ext cx="576263" cy="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319" name="Line 57"/>
          <p:cNvSpPr>
            <a:spLocks noChangeShapeType="1"/>
          </p:cNvSpPr>
          <p:nvPr/>
        </p:nvSpPr>
        <p:spPr bwMode="auto">
          <a:xfrm>
            <a:off x="2117725" y="2071688"/>
            <a:ext cx="0" cy="574675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320" name="Text Box 58"/>
          <p:cNvSpPr txBox="1">
            <a:spLocks noChangeArrowheads="1"/>
          </p:cNvSpPr>
          <p:nvPr/>
        </p:nvSpPr>
        <p:spPr bwMode="auto">
          <a:xfrm>
            <a:off x="1828800" y="2071688"/>
            <a:ext cx="282575" cy="304800"/>
          </a:xfrm>
          <a:prstGeom prst="rect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400" b="0">
                <a:ea typeface="楷体_GB2312" charset="-122"/>
              </a:rPr>
              <a:t>0</a:t>
            </a:r>
          </a:p>
        </p:txBody>
      </p:sp>
      <p:sp>
        <p:nvSpPr>
          <p:cNvPr id="11321" name="Text Box 59"/>
          <p:cNvSpPr txBox="1">
            <a:spLocks noChangeArrowheads="1"/>
          </p:cNvSpPr>
          <p:nvPr/>
        </p:nvSpPr>
        <p:spPr bwMode="auto">
          <a:xfrm>
            <a:off x="2117725" y="2071688"/>
            <a:ext cx="282575" cy="304800"/>
          </a:xfrm>
          <a:prstGeom prst="rect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400" b="0">
                <a:ea typeface="楷体_GB2312" charset="-122"/>
              </a:rPr>
              <a:t>3</a:t>
            </a:r>
          </a:p>
        </p:txBody>
      </p:sp>
      <p:sp>
        <p:nvSpPr>
          <p:cNvPr id="11322" name="Text Box 60"/>
          <p:cNvSpPr txBox="1">
            <a:spLocks noChangeArrowheads="1"/>
          </p:cNvSpPr>
          <p:nvPr/>
        </p:nvSpPr>
        <p:spPr bwMode="auto">
          <a:xfrm>
            <a:off x="2117725" y="2359025"/>
            <a:ext cx="282575" cy="304800"/>
          </a:xfrm>
          <a:prstGeom prst="rect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400" b="0">
                <a:ea typeface="楷体_GB2312" charset="-122"/>
              </a:rPr>
              <a:t>5</a:t>
            </a:r>
          </a:p>
        </p:txBody>
      </p:sp>
      <p:sp>
        <p:nvSpPr>
          <p:cNvPr id="11323" name="Text Box 61"/>
          <p:cNvSpPr txBox="1">
            <a:spLocks noChangeArrowheads="1"/>
          </p:cNvSpPr>
          <p:nvPr/>
        </p:nvSpPr>
        <p:spPr bwMode="auto">
          <a:xfrm>
            <a:off x="1828800" y="2359025"/>
            <a:ext cx="282575" cy="304800"/>
          </a:xfrm>
          <a:prstGeom prst="rect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400" b="0">
                <a:ea typeface="楷体_GB2312" charset="-122"/>
              </a:rPr>
              <a:t>2</a:t>
            </a:r>
          </a:p>
        </p:txBody>
      </p:sp>
      <p:sp>
        <p:nvSpPr>
          <p:cNvPr id="11324" name="Line 62"/>
          <p:cNvSpPr>
            <a:spLocks noChangeShapeType="1"/>
          </p:cNvSpPr>
          <p:nvPr/>
        </p:nvSpPr>
        <p:spPr bwMode="auto">
          <a:xfrm flipV="1">
            <a:off x="3556000" y="1854200"/>
            <a:ext cx="576263" cy="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325" name="Line 63"/>
          <p:cNvSpPr>
            <a:spLocks noChangeShapeType="1"/>
          </p:cNvSpPr>
          <p:nvPr/>
        </p:nvSpPr>
        <p:spPr bwMode="auto">
          <a:xfrm>
            <a:off x="3844925" y="1566863"/>
            <a:ext cx="0" cy="574675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326" name="Text Box 64"/>
          <p:cNvSpPr txBox="1">
            <a:spLocks noChangeArrowheads="1"/>
          </p:cNvSpPr>
          <p:nvPr/>
        </p:nvSpPr>
        <p:spPr bwMode="auto">
          <a:xfrm>
            <a:off x="3556000" y="1566863"/>
            <a:ext cx="282575" cy="304800"/>
          </a:xfrm>
          <a:prstGeom prst="rect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400" b="0">
                <a:ea typeface="楷体_GB2312" charset="-122"/>
              </a:rPr>
              <a:t>3</a:t>
            </a:r>
          </a:p>
        </p:txBody>
      </p:sp>
      <p:sp>
        <p:nvSpPr>
          <p:cNvPr id="11327" name="Text Box 65"/>
          <p:cNvSpPr txBox="1">
            <a:spLocks noChangeArrowheads="1"/>
          </p:cNvSpPr>
          <p:nvPr/>
        </p:nvSpPr>
        <p:spPr bwMode="auto">
          <a:xfrm>
            <a:off x="3844925" y="1566863"/>
            <a:ext cx="282575" cy="304800"/>
          </a:xfrm>
          <a:prstGeom prst="rect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400" b="0">
                <a:ea typeface="楷体_GB2312" charset="-122"/>
              </a:rPr>
              <a:t>5</a:t>
            </a:r>
          </a:p>
        </p:txBody>
      </p:sp>
      <p:sp>
        <p:nvSpPr>
          <p:cNvPr id="11328" name="Text Box 66"/>
          <p:cNvSpPr txBox="1">
            <a:spLocks noChangeArrowheads="1"/>
          </p:cNvSpPr>
          <p:nvPr/>
        </p:nvSpPr>
        <p:spPr bwMode="auto">
          <a:xfrm>
            <a:off x="3844925" y="1854200"/>
            <a:ext cx="282575" cy="304800"/>
          </a:xfrm>
          <a:prstGeom prst="rect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400" b="0">
                <a:ea typeface="楷体_GB2312" charset="-122"/>
              </a:rPr>
              <a:t>7</a:t>
            </a:r>
          </a:p>
        </p:txBody>
      </p:sp>
      <p:sp>
        <p:nvSpPr>
          <p:cNvPr id="11329" name="Text Box 67"/>
          <p:cNvSpPr txBox="1">
            <a:spLocks noChangeArrowheads="1"/>
          </p:cNvSpPr>
          <p:nvPr/>
        </p:nvSpPr>
        <p:spPr bwMode="auto">
          <a:xfrm>
            <a:off x="3556000" y="1854200"/>
            <a:ext cx="282575" cy="304800"/>
          </a:xfrm>
          <a:prstGeom prst="rect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400" b="0">
                <a:ea typeface="楷体_GB2312" charset="-122"/>
              </a:rPr>
              <a:t>5</a:t>
            </a:r>
          </a:p>
        </p:txBody>
      </p:sp>
      <p:sp>
        <p:nvSpPr>
          <p:cNvPr id="11330" name="Line 68"/>
          <p:cNvSpPr>
            <a:spLocks noChangeShapeType="1"/>
          </p:cNvSpPr>
          <p:nvPr/>
        </p:nvSpPr>
        <p:spPr bwMode="auto">
          <a:xfrm flipV="1">
            <a:off x="4997450" y="1854200"/>
            <a:ext cx="576263" cy="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331" name="Line 69"/>
          <p:cNvSpPr>
            <a:spLocks noChangeShapeType="1"/>
          </p:cNvSpPr>
          <p:nvPr/>
        </p:nvSpPr>
        <p:spPr bwMode="auto">
          <a:xfrm>
            <a:off x="5286375" y="1566863"/>
            <a:ext cx="0" cy="574675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332" name="Text Box 70"/>
          <p:cNvSpPr txBox="1">
            <a:spLocks noChangeArrowheads="1"/>
          </p:cNvSpPr>
          <p:nvPr/>
        </p:nvSpPr>
        <p:spPr bwMode="auto">
          <a:xfrm>
            <a:off x="4997450" y="1566863"/>
            <a:ext cx="282575" cy="304800"/>
          </a:xfrm>
          <a:prstGeom prst="rect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400" b="0">
                <a:ea typeface="楷体_GB2312" charset="-122"/>
              </a:rPr>
              <a:t>7</a:t>
            </a:r>
          </a:p>
        </p:txBody>
      </p:sp>
      <p:sp>
        <p:nvSpPr>
          <p:cNvPr id="11333" name="Text Box 71"/>
          <p:cNvSpPr txBox="1">
            <a:spLocks noChangeArrowheads="1"/>
          </p:cNvSpPr>
          <p:nvPr/>
        </p:nvSpPr>
        <p:spPr bwMode="auto">
          <a:xfrm>
            <a:off x="5286375" y="1566863"/>
            <a:ext cx="282575" cy="304800"/>
          </a:xfrm>
          <a:prstGeom prst="rect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400" b="0">
                <a:ea typeface="楷体_GB2312" charset="-122"/>
              </a:rPr>
              <a:t>8</a:t>
            </a:r>
          </a:p>
        </p:txBody>
      </p:sp>
      <p:sp>
        <p:nvSpPr>
          <p:cNvPr id="11334" name="Text Box 72"/>
          <p:cNvSpPr txBox="1">
            <a:spLocks noChangeArrowheads="1"/>
          </p:cNvSpPr>
          <p:nvPr/>
        </p:nvSpPr>
        <p:spPr bwMode="auto">
          <a:xfrm>
            <a:off x="5286375" y="1854200"/>
            <a:ext cx="282575" cy="304800"/>
          </a:xfrm>
          <a:prstGeom prst="rect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400" b="0">
                <a:ea typeface="楷体_GB2312" charset="-122"/>
              </a:rPr>
              <a:t>8</a:t>
            </a:r>
          </a:p>
        </p:txBody>
      </p:sp>
      <p:sp>
        <p:nvSpPr>
          <p:cNvPr id="11335" name="Text Box 73"/>
          <p:cNvSpPr txBox="1">
            <a:spLocks noChangeArrowheads="1"/>
          </p:cNvSpPr>
          <p:nvPr/>
        </p:nvSpPr>
        <p:spPr bwMode="auto">
          <a:xfrm>
            <a:off x="4997450" y="1854200"/>
            <a:ext cx="282575" cy="304800"/>
          </a:xfrm>
          <a:prstGeom prst="rect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400" b="0">
                <a:ea typeface="楷体_GB2312" charset="-122"/>
              </a:rPr>
              <a:t>7</a:t>
            </a:r>
          </a:p>
        </p:txBody>
      </p:sp>
      <p:sp>
        <p:nvSpPr>
          <p:cNvPr id="11336" name="Line 74"/>
          <p:cNvSpPr>
            <a:spLocks noChangeShapeType="1"/>
          </p:cNvSpPr>
          <p:nvPr/>
        </p:nvSpPr>
        <p:spPr bwMode="auto">
          <a:xfrm flipV="1">
            <a:off x="6581775" y="2359025"/>
            <a:ext cx="576263" cy="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337" name="Line 75"/>
          <p:cNvSpPr>
            <a:spLocks noChangeShapeType="1"/>
          </p:cNvSpPr>
          <p:nvPr/>
        </p:nvSpPr>
        <p:spPr bwMode="auto">
          <a:xfrm>
            <a:off x="6870700" y="2071688"/>
            <a:ext cx="0" cy="574675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338" name="Text Box 76"/>
          <p:cNvSpPr txBox="1">
            <a:spLocks noChangeArrowheads="1"/>
          </p:cNvSpPr>
          <p:nvPr/>
        </p:nvSpPr>
        <p:spPr bwMode="auto">
          <a:xfrm>
            <a:off x="6581775" y="2071688"/>
            <a:ext cx="282575" cy="304800"/>
          </a:xfrm>
          <a:prstGeom prst="rect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400" b="0">
                <a:ea typeface="楷体_GB2312" charset="-122"/>
              </a:rPr>
              <a:t>8</a:t>
            </a:r>
          </a:p>
        </p:txBody>
      </p:sp>
      <p:sp>
        <p:nvSpPr>
          <p:cNvPr id="11339" name="Text Box 77"/>
          <p:cNvSpPr txBox="1">
            <a:spLocks noChangeArrowheads="1"/>
          </p:cNvSpPr>
          <p:nvPr/>
        </p:nvSpPr>
        <p:spPr bwMode="auto">
          <a:xfrm>
            <a:off x="6870700" y="2071688"/>
            <a:ext cx="282575" cy="304800"/>
          </a:xfrm>
          <a:prstGeom prst="rect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400" b="0">
                <a:ea typeface="楷体_GB2312" charset="-122"/>
              </a:rPr>
              <a:t>9</a:t>
            </a:r>
          </a:p>
        </p:txBody>
      </p:sp>
      <p:sp>
        <p:nvSpPr>
          <p:cNvPr id="11340" name="Text Box 78"/>
          <p:cNvSpPr txBox="1">
            <a:spLocks noChangeArrowheads="1"/>
          </p:cNvSpPr>
          <p:nvPr/>
        </p:nvSpPr>
        <p:spPr bwMode="auto">
          <a:xfrm>
            <a:off x="6870700" y="2359025"/>
            <a:ext cx="282575" cy="304800"/>
          </a:xfrm>
          <a:prstGeom prst="rect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400" b="0">
                <a:ea typeface="楷体_GB2312" charset="-122"/>
              </a:rPr>
              <a:t>9</a:t>
            </a:r>
          </a:p>
        </p:txBody>
      </p:sp>
      <p:sp>
        <p:nvSpPr>
          <p:cNvPr id="11341" name="Text Box 79"/>
          <p:cNvSpPr txBox="1">
            <a:spLocks noChangeArrowheads="1"/>
          </p:cNvSpPr>
          <p:nvPr/>
        </p:nvSpPr>
        <p:spPr bwMode="auto">
          <a:xfrm>
            <a:off x="6581775" y="2359025"/>
            <a:ext cx="282575" cy="304800"/>
          </a:xfrm>
          <a:prstGeom prst="rect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400" b="0">
                <a:ea typeface="楷体_GB2312" charset="-122"/>
              </a:rPr>
              <a:t>8</a:t>
            </a:r>
          </a:p>
        </p:txBody>
      </p:sp>
      <p:sp>
        <p:nvSpPr>
          <p:cNvPr id="11342" name="Line 80"/>
          <p:cNvSpPr>
            <a:spLocks noChangeShapeType="1"/>
          </p:cNvSpPr>
          <p:nvPr/>
        </p:nvSpPr>
        <p:spPr bwMode="auto">
          <a:xfrm flipV="1">
            <a:off x="2332038" y="3294063"/>
            <a:ext cx="576262" cy="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343" name="Line 81"/>
          <p:cNvSpPr>
            <a:spLocks noChangeShapeType="1"/>
          </p:cNvSpPr>
          <p:nvPr/>
        </p:nvSpPr>
        <p:spPr bwMode="auto">
          <a:xfrm>
            <a:off x="2620963" y="3006725"/>
            <a:ext cx="0" cy="574675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344" name="Text Box 82"/>
          <p:cNvSpPr txBox="1">
            <a:spLocks noChangeArrowheads="1"/>
          </p:cNvSpPr>
          <p:nvPr/>
        </p:nvSpPr>
        <p:spPr bwMode="auto">
          <a:xfrm>
            <a:off x="2332038" y="3006725"/>
            <a:ext cx="282575" cy="304800"/>
          </a:xfrm>
          <a:prstGeom prst="rect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400" b="0">
                <a:ea typeface="楷体_GB2312" charset="-122"/>
              </a:rPr>
              <a:t>0</a:t>
            </a:r>
          </a:p>
        </p:txBody>
      </p:sp>
      <p:sp>
        <p:nvSpPr>
          <p:cNvPr id="11345" name="Text Box 83"/>
          <p:cNvSpPr txBox="1">
            <a:spLocks noChangeArrowheads="1"/>
          </p:cNvSpPr>
          <p:nvPr/>
        </p:nvSpPr>
        <p:spPr bwMode="auto">
          <a:xfrm>
            <a:off x="2620963" y="3006725"/>
            <a:ext cx="282575" cy="304800"/>
          </a:xfrm>
          <a:prstGeom prst="rect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400" b="0">
                <a:ea typeface="楷体_GB2312" charset="-122"/>
              </a:rPr>
              <a:t>2</a:t>
            </a:r>
          </a:p>
        </p:txBody>
      </p:sp>
      <p:sp>
        <p:nvSpPr>
          <p:cNvPr id="11346" name="Text Box 84"/>
          <p:cNvSpPr txBox="1">
            <a:spLocks noChangeArrowheads="1"/>
          </p:cNvSpPr>
          <p:nvPr/>
        </p:nvSpPr>
        <p:spPr bwMode="auto">
          <a:xfrm>
            <a:off x="2620963" y="3294063"/>
            <a:ext cx="282575" cy="304800"/>
          </a:xfrm>
          <a:prstGeom prst="rect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400" b="0">
                <a:ea typeface="楷体_GB2312" charset="-122"/>
              </a:rPr>
              <a:t>5</a:t>
            </a:r>
          </a:p>
        </p:txBody>
      </p:sp>
      <p:sp>
        <p:nvSpPr>
          <p:cNvPr id="11347" name="Text Box 85"/>
          <p:cNvSpPr txBox="1">
            <a:spLocks noChangeArrowheads="1"/>
          </p:cNvSpPr>
          <p:nvPr/>
        </p:nvSpPr>
        <p:spPr bwMode="auto">
          <a:xfrm>
            <a:off x="2332038" y="3294063"/>
            <a:ext cx="282575" cy="304800"/>
          </a:xfrm>
          <a:prstGeom prst="rect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400" b="0">
                <a:ea typeface="楷体_GB2312" charset="-122"/>
              </a:rPr>
              <a:t>3</a:t>
            </a:r>
          </a:p>
        </p:txBody>
      </p:sp>
      <p:sp>
        <p:nvSpPr>
          <p:cNvPr id="11348" name="Line 86"/>
          <p:cNvSpPr>
            <a:spLocks noChangeShapeType="1"/>
          </p:cNvSpPr>
          <p:nvPr/>
        </p:nvSpPr>
        <p:spPr bwMode="auto">
          <a:xfrm flipV="1">
            <a:off x="3629025" y="3582988"/>
            <a:ext cx="576263" cy="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349" name="Line 87"/>
          <p:cNvSpPr>
            <a:spLocks noChangeShapeType="1"/>
          </p:cNvSpPr>
          <p:nvPr/>
        </p:nvSpPr>
        <p:spPr bwMode="auto">
          <a:xfrm>
            <a:off x="3917950" y="3295650"/>
            <a:ext cx="0" cy="574675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350" name="Text Box 88"/>
          <p:cNvSpPr txBox="1">
            <a:spLocks noChangeArrowheads="1"/>
          </p:cNvSpPr>
          <p:nvPr/>
        </p:nvSpPr>
        <p:spPr bwMode="auto">
          <a:xfrm>
            <a:off x="3629025" y="3295650"/>
            <a:ext cx="282575" cy="304800"/>
          </a:xfrm>
          <a:prstGeom prst="rect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400" b="0">
                <a:ea typeface="楷体_GB2312" charset="-122"/>
              </a:rPr>
              <a:t>2</a:t>
            </a:r>
          </a:p>
        </p:txBody>
      </p:sp>
      <p:sp>
        <p:nvSpPr>
          <p:cNvPr id="11351" name="Text Box 89"/>
          <p:cNvSpPr txBox="1">
            <a:spLocks noChangeArrowheads="1"/>
          </p:cNvSpPr>
          <p:nvPr/>
        </p:nvSpPr>
        <p:spPr bwMode="auto">
          <a:xfrm>
            <a:off x="3917950" y="3295650"/>
            <a:ext cx="282575" cy="304800"/>
          </a:xfrm>
          <a:prstGeom prst="rect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400" b="0">
                <a:ea typeface="楷体_GB2312" charset="-122"/>
              </a:rPr>
              <a:t>3</a:t>
            </a:r>
          </a:p>
        </p:txBody>
      </p:sp>
      <p:sp>
        <p:nvSpPr>
          <p:cNvPr id="11352" name="Text Box 90"/>
          <p:cNvSpPr txBox="1">
            <a:spLocks noChangeArrowheads="1"/>
          </p:cNvSpPr>
          <p:nvPr/>
        </p:nvSpPr>
        <p:spPr bwMode="auto">
          <a:xfrm>
            <a:off x="3917950" y="3582988"/>
            <a:ext cx="282575" cy="304800"/>
          </a:xfrm>
          <a:prstGeom prst="rect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400" b="0">
                <a:ea typeface="楷体_GB2312" charset="-122"/>
              </a:rPr>
              <a:t>6</a:t>
            </a:r>
          </a:p>
        </p:txBody>
      </p:sp>
      <p:sp>
        <p:nvSpPr>
          <p:cNvPr id="11353" name="Text Box 91"/>
          <p:cNvSpPr txBox="1">
            <a:spLocks noChangeArrowheads="1"/>
          </p:cNvSpPr>
          <p:nvPr/>
        </p:nvSpPr>
        <p:spPr bwMode="auto">
          <a:xfrm>
            <a:off x="3629025" y="3582988"/>
            <a:ext cx="282575" cy="304800"/>
          </a:xfrm>
          <a:prstGeom prst="rect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400" b="0">
                <a:ea typeface="楷体_GB2312" charset="-122"/>
              </a:rPr>
              <a:t>5</a:t>
            </a:r>
          </a:p>
        </p:txBody>
      </p:sp>
      <p:sp>
        <p:nvSpPr>
          <p:cNvPr id="11354" name="Line 92"/>
          <p:cNvSpPr>
            <a:spLocks noChangeShapeType="1"/>
          </p:cNvSpPr>
          <p:nvPr/>
        </p:nvSpPr>
        <p:spPr bwMode="auto">
          <a:xfrm flipV="1">
            <a:off x="4997450" y="3582988"/>
            <a:ext cx="576263" cy="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355" name="Line 93"/>
          <p:cNvSpPr>
            <a:spLocks noChangeShapeType="1"/>
          </p:cNvSpPr>
          <p:nvPr/>
        </p:nvSpPr>
        <p:spPr bwMode="auto">
          <a:xfrm>
            <a:off x="5286375" y="3295650"/>
            <a:ext cx="0" cy="574675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356" name="Text Box 94"/>
          <p:cNvSpPr txBox="1">
            <a:spLocks noChangeArrowheads="1"/>
          </p:cNvSpPr>
          <p:nvPr/>
        </p:nvSpPr>
        <p:spPr bwMode="auto">
          <a:xfrm>
            <a:off x="4997450" y="3295650"/>
            <a:ext cx="282575" cy="304800"/>
          </a:xfrm>
          <a:prstGeom prst="rect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400" b="0">
                <a:ea typeface="楷体_GB2312" charset="-122"/>
              </a:rPr>
              <a:t>3</a:t>
            </a:r>
          </a:p>
        </p:txBody>
      </p:sp>
      <p:sp>
        <p:nvSpPr>
          <p:cNvPr id="11357" name="Text Box 95"/>
          <p:cNvSpPr txBox="1">
            <a:spLocks noChangeArrowheads="1"/>
          </p:cNvSpPr>
          <p:nvPr/>
        </p:nvSpPr>
        <p:spPr bwMode="auto">
          <a:xfrm>
            <a:off x="5286375" y="3295650"/>
            <a:ext cx="282575" cy="304800"/>
          </a:xfrm>
          <a:prstGeom prst="rect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400" b="0">
                <a:ea typeface="楷体_GB2312" charset="-122"/>
              </a:rPr>
              <a:t>4</a:t>
            </a:r>
          </a:p>
        </p:txBody>
      </p:sp>
      <p:sp>
        <p:nvSpPr>
          <p:cNvPr id="11358" name="Text Box 96"/>
          <p:cNvSpPr txBox="1">
            <a:spLocks noChangeArrowheads="1"/>
          </p:cNvSpPr>
          <p:nvPr/>
        </p:nvSpPr>
        <p:spPr bwMode="auto">
          <a:xfrm>
            <a:off x="5286375" y="3582988"/>
            <a:ext cx="282575" cy="304800"/>
          </a:xfrm>
          <a:prstGeom prst="rect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400" b="0">
                <a:ea typeface="楷体_GB2312" charset="-122"/>
              </a:rPr>
              <a:t>7</a:t>
            </a:r>
          </a:p>
        </p:txBody>
      </p:sp>
      <p:sp>
        <p:nvSpPr>
          <p:cNvPr id="11359" name="Text Box 97"/>
          <p:cNvSpPr txBox="1">
            <a:spLocks noChangeArrowheads="1"/>
          </p:cNvSpPr>
          <p:nvPr/>
        </p:nvSpPr>
        <p:spPr bwMode="auto">
          <a:xfrm>
            <a:off x="4997450" y="3582988"/>
            <a:ext cx="282575" cy="304800"/>
          </a:xfrm>
          <a:prstGeom prst="rect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400" b="0">
                <a:ea typeface="楷体_GB2312" charset="-122"/>
              </a:rPr>
              <a:t>6</a:t>
            </a:r>
          </a:p>
        </p:txBody>
      </p:sp>
      <p:sp>
        <p:nvSpPr>
          <p:cNvPr id="11360" name="Line 98"/>
          <p:cNvSpPr>
            <a:spLocks noChangeShapeType="1"/>
          </p:cNvSpPr>
          <p:nvPr/>
        </p:nvSpPr>
        <p:spPr bwMode="auto">
          <a:xfrm flipV="1">
            <a:off x="6221413" y="3294063"/>
            <a:ext cx="576262" cy="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361" name="Line 99"/>
          <p:cNvSpPr>
            <a:spLocks noChangeShapeType="1"/>
          </p:cNvSpPr>
          <p:nvPr/>
        </p:nvSpPr>
        <p:spPr bwMode="auto">
          <a:xfrm>
            <a:off x="6510338" y="3006725"/>
            <a:ext cx="0" cy="574675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362" name="Text Box 100"/>
          <p:cNvSpPr txBox="1">
            <a:spLocks noChangeArrowheads="1"/>
          </p:cNvSpPr>
          <p:nvPr/>
        </p:nvSpPr>
        <p:spPr bwMode="auto">
          <a:xfrm>
            <a:off x="6221413" y="3006725"/>
            <a:ext cx="282575" cy="304800"/>
          </a:xfrm>
          <a:prstGeom prst="rect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400" b="0">
                <a:ea typeface="楷体_GB2312" charset="-122"/>
              </a:rPr>
              <a:t>7</a:t>
            </a:r>
          </a:p>
        </p:txBody>
      </p:sp>
      <p:sp>
        <p:nvSpPr>
          <p:cNvPr id="11363" name="Text Box 101"/>
          <p:cNvSpPr txBox="1">
            <a:spLocks noChangeArrowheads="1"/>
          </p:cNvSpPr>
          <p:nvPr/>
        </p:nvSpPr>
        <p:spPr bwMode="auto">
          <a:xfrm>
            <a:off x="6510338" y="3006725"/>
            <a:ext cx="282575" cy="304800"/>
          </a:xfrm>
          <a:prstGeom prst="rect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400" b="0">
                <a:ea typeface="楷体_GB2312" charset="-122"/>
              </a:rPr>
              <a:t>8</a:t>
            </a:r>
          </a:p>
        </p:txBody>
      </p:sp>
      <p:sp>
        <p:nvSpPr>
          <p:cNvPr id="11364" name="Text Box 102"/>
          <p:cNvSpPr txBox="1">
            <a:spLocks noChangeArrowheads="1"/>
          </p:cNvSpPr>
          <p:nvPr/>
        </p:nvSpPr>
        <p:spPr bwMode="auto">
          <a:xfrm>
            <a:off x="6510338" y="3294063"/>
            <a:ext cx="282575" cy="304800"/>
          </a:xfrm>
          <a:prstGeom prst="rect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400" b="0">
                <a:ea typeface="楷体_GB2312" charset="-122"/>
              </a:rPr>
              <a:t>9</a:t>
            </a:r>
          </a:p>
        </p:txBody>
      </p:sp>
      <p:sp>
        <p:nvSpPr>
          <p:cNvPr id="11365" name="Text Box 103"/>
          <p:cNvSpPr txBox="1">
            <a:spLocks noChangeArrowheads="1"/>
          </p:cNvSpPr>
          <p:nvPr/>
        </p:nvSpPr>
        <p:spPr bwMode="auto">
          <a:xfrm>
            <a:off x="6221413" y="3294063"/>
            <a:ext cx="282575" cy="304800"/>
          </a:xfrm>
          <a:prstGeom prst="rect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400" b="0">
                <a:ea typeface="楷体_GB2312" charset="-122"/>
              </a:rPr>
              <a:t>8</a:t>
            </a:r>
          </a:p>
        </p:txBody>
      </p:sp>
      <p:sp>
        <p:nvSpPr>
          <p:cNvPr id="11366" name="Line 104"/>
          <p:cNvSpPr>
            <a:spLocks noChangeShapeType="1"/>
          </p:cNvSpPr>
          <p:nvPr/>
        </p:nvSpPr>
        <p:spPr bwMode="auto">
          <a:xfrm flipV="1">
            <a:off x="7805738" y="2790825"/>
            <a:ext cx="576262" cy="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367" name="Line 105"/>
          <p:cNvSpPr>
            <a:spLocks noChangeShapeType="1"/>
          </p:cNvSpPr>
          <p:nvPr/>
        </p:nvSpPr>
        <p:spPr bwMode="auto">
          <a:xfrm>
            <a:off x="8094663" y="2503488"/>
            <a:ext cx="0" cy="574675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368" name="Text Box 106"/>
          <p:cNvSpPr txBox="1">
            <a:spLocks noChangeArrowheads="1"/>
          </p:cNvSpPr>
          <p:nvPr/>
        </p:nvSpPr>
        <p:spPr bwMode="auto">
          <a:xfrm>
            <a:off x="7805738" y="2503488"/>
            <a:ext cx="282575" cy="304800"/>
          </a:xfrm>
          <a:prstGeom prst="rect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400" b="0">
                <a:ea typeface="楷体_GB2312" charset="-122"/>
              </a:rPr>
              <a:t>9</a:t>
            </a:r>
          </a:p>
        </p:txBody>
      </p:sp>
      <p:sp>
        <p:nvSpPr>
          <p:cNvPr id="11369" name="Text Box 107"/>
          <p:cNvSpPr txBox="1">
            <a:spLocks noChangeArrowheads="1"/>
          </p:cNvSpPr>
          <p:nvPr/>
        </p:nvSpPr>
        <p:spPr bwMode="auto">
          <a:xfrm>
            <a:off x="8094663" y="2503488"/>
            <a:ext cx="431800" cy="304800"/>
          </a:xfrm>
          <a:prstGeom prst="rect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400" b="0">
                <a:ea typeface="楷体_GB2312" charset="-122"/>
              </a:rPr>
              <a:t>10</a:t>
            </a:r>
          </a:p>
        </p:txBody>
      </p:sp>
      <p:sp>
        <p:nvSpPr>
          <p:cNvPr id="11370" name="Text Box 108"/>
          <p:cNvSpPr txBox="1">
            <a:spLocks noChangeArrowheads="1"/>
          </p:cNvSpPr>
          <p:nvPr/>
        </p:nvSpPr>
        <p:spPr bwMode="auto">
          <a:xfrm>
            <a:off x="8094663" y="2790825"/>
            <a:ext cx="431800" cy="304800"/>
          </a:xfrm>
          <a:prstGeom prst="rect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400" b="0">
                <a:ea typeface="楷体_GB2312" charset="-122"/>
              </a:rPr>
              <a:t>10</a:t>
            </a:r>
          </a:p>
        </p:txBody>
      </p:sp>
      <p:sp>
        <p:nvSpPr>
          <p:cNvPr id="11371" name="Text Box 109"/>
          <p:cNvSpPr txBox="1">
            <a:spLocks noChangeArrowheads="1"/>
          </p:cNvSpPr>
          <p:nvPr/>
        </p:nvSpPr>
        <p:spPr bwMode="auto">
          <a:xfrm>
            <a:off x="7805738" y="2790825"/>
            <a:ext cx="282575" cy="304800"/>
          </a:xfrm>
          <a:prstGeom prst="rect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400" b="0">
                <a:ea typeface="楷体_GB2312" charset="-122"/>
              </a:rPr>
              <a:t>9</a:t>
            </a:r>
          </a:p>
        </p:txBody>
      </p:sp>
      <p:sp>
        <p:nvSpPr>
          <p:cNvPr id="11372" name="Line 110"/>
          <p:cNvSpPr>
            <a:spLocks noChangeShapeType="1"/>
          </p:cNvSpPr>
          <p:nvPr/>
        </p:nvSpPr>
        <p:spPr bwMode="auto">
          <a:xfrm flipV="1">
            <a:off x="2763838" y="4446588"/>
            <a:ext cx="576262" cy="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373" name="Line 111"/>
          <p:cNvSpPr>
            <a:spLocks noChangeShapeType="1"/>
          </p:cNvSpPr>
          <p:nvPr/>
        </p:nvSpPr>
        <p:spPr bwMode="auto">
          <a:xfrm>
            <a:off x="3052763" y="4159250"/>
            <a:ext cx="0" cy="574675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374" name="Text Box 112"/>
          <p:cNvSpPr txBox="1">
            <a:spLocks noChangeArrowheads="1"/>
          </p:cNvSpPr>
          <p:nvPr/>
        </p:nvSpPr>
        <p:spPr bwMode="auto">
          <a:xfrm>
            <a:off x="2763838" y="4159250"/>
            <a:ext cx="282575" cy="304800"/>
          </a:xfrm>
          <a:prstGeom prst="rect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400" b="0">
                <a:ea typeface="楷体_GB2312" charset="-122"/>
              </a:rPr>
              <a:t>0</a:t>
            </a:r>
          </a:p>
        </p:txBody>
      </p:sp>
      <p:sp>
        <p:nvSpPr>
          <p:cNvPr id="11375" name="Text Box 113"/>
          <p:cNvSpPr txBox="1">
            <a:spLocks noChangeArrowheads="1"/>
          </p:cNvSpPr>
          <p:nvPr/>
        </p:nvSpPr>
        <p:spPr bwMode="auto">
          <a:xfrm>
            <a:off x="3052763" y="4159250"/>
            <a:ext cx="282575" cy="304800"/>
          </a:xfrm>
          <a:prstGeom prst="rect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400" b="0">
                <a:ea typeface="楷体_GB2312" charset="-122"/>
              </a:rPr>
              <a:t>7</a:t>
            </a:r>
          </a:p>
        </p:txBody>
      </p:sp>
      <p:sp>
        <p:nvSpPr>
          <p:cNvPr id="11376" name="Text Box 114"/>
          <p:cNvSpPr txBox="1">
            <a:spLocks noChangeArrowheads="1"/>
          </p:cNvSpPr>
          <p:nvPr/>
        </p:nvSpPr>
        <p:spPr bwMode="auto">
          <a:xfrm>
            <a:off x="3052763" y="4446588"/>
            <a:ext cx="282575" cy="304800"/>
          </a:xfrm>
          <a:prstGeom prst="rect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400" b="0">
                <a:ea typeface="楷体_GB2312" charset="-122"/>
              </a:rPr>
              <a:t>7</a:t>
            </a:r>
          </a:p>
        </p:txBody>
      </p:sp>
      <p:sp>
        <p:nvSpPr>
          <p:cNvPr id="11377" name="Text Box 115"/>
          <p:cNvSpPr txBox="1">
            <a:spLocks noChangeArrowheads="1"/>
          </p:cNvSpPr>
          <p:nvPr/>
        </p:nvSpPr>
        <p:spPr bwMode="auto">
          <a:xfrm>
            <a:off x="2763838" y="4446588"/>
            <a:ext cx="282575" cy="304800"/>
          </a:xfrm>
          <a:prstGeom prst="rect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400" b="0">
                <a:ea typeface="楷体_GB2312" charset="-122"/>
              </a:rPr>
              <a:t>0</a:t>
            </a:r>
          </a:p>
        </p:txBody>
      </p:sp>
      <p:sp>
        <p:nvSpPr>
          <p:cNvPr id="11378" name="Line 116"/>
          <p:cNvSpPr>
            <a:spLocks noChangeShapeType="1"/>
          </p:cNvSpPr>
          <p:nvPr/>
        </p:nvSpPr>
        <p:spPr bwMode="auto">
          <a:xfrm flipV="1">
            <a:off x="5356225" y="2862263"/>
            <a:ext cx="576263" cy="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379" name="Line 117"/>
          <p:cNvSpPr>
            <a:spLocks noChangeShapeType="1"/>
          </p:cNvSpPr>
          <p:nvPr/>
        </p:nvSpPr>
        <p:spPr bwMode="auto">
          <a:xfrm>
            <a:off x="5645150" y="2574925"/>
            <a:ext cx="0" cy="574675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380" name="Text Box 118"/>
          <p:cNvSpPr txBox="1">
            <a:spLocks noChangeArrowheads="1"/>
          </p:cNvSpPr>
          <p:nvPr/>
        </p:nvSpPr>
        <p:spPr bwMode="auto">
          <a:xfrm>
            <a:off x="5356225" y="2574925"/>
            <a:ext cx="282575" cy="304800"/>
          </a:xfrm>
          <a:prstGeom prst="rect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400" b="0">
                <a:ea typeface="楷体_GB2312" charset="-122"/>
              </a:rPr>
              <a:t>7</a:t>
            </a:r>
          </a:p>
        </p:txBody>
      </p:sp>
      <p:sp>
        <p:nvSpPr>
          <p:cNvPr id="11381" name="Text Box 119"/>
          <p:cNvSpPr txBox="1">
            <a:spLocks noChangeArrowheads="1"/>
          </p:cNvSpPr>
          <p:nvPr/>
        </p:nvSpPr>
        <p:spPr bwMode="auto">
          <a:xfrm>
            <a:off x="5645150" y="2574925"/>
            <a:ext cx="282575" cy="304800"/>
          </a:xfrm>
          <a:prstGeom prst="rect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400" b="0">
                <a:ea typeface="楷体_GB2312" charset="-122"/>
              </a:rPr>
              <a:t>7</a:t>
            </a:r>
          </a:p>
        </p:txBody>
      </p:sp>
      <p:sp>
        <p:nvSpPr>
          <p:cNvPr id="11382" name="Text Box 120"/>
          <p:cNvSpPr txBox="1">
            <a:spLocks noChangeArrowheads="1"/>
          </p:cNvSpPr>
          <p:nvPr/>
        </p:nvSpPr>
        <p:spPr bwMode="auto">
          <a:xfrm>
            <a:off x="5645150" y="2862263"/>
            <a:ext cx="282575" cy="304800"/>
          </a:xfrm>
          <a:prstGeom prst="rect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400" b="0">
                <a:ea typeface="楷体_GB2312" charset="-122"/>
              </a:rPr>
              <a:t>7</a:t>
            </a:r>
          </a:p>
        </p:txBody>
      </p:sp>
      <p:sp>
        <p:nvSpPr>
          <p:cNvPr id="11383" name="Text Box 121"/>
          <p:cNvSpPr txBox="1">
            <a:spLocks noChangeArrowheads="1"/>
          </p:cNvSpPr>
          <p:nvPr/>
        </p:nvSpPr>
        <p:spPr bwMode="auto">
          <a:xfrm>
            <a:off x="5356225" y="2862263"/>
            <a:ext cx="282575" cy="304800"/>
          </a:xfrm>
          <a:prstGeom prst="rect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400" b="0">
                <a:ea typeface="楷体_GB2312" charset="-122"/>
              </a:rPr>
              <a:t>7</a:t>
            </a:r>
          </a:p>
        </p:txBody>
      </p:sp>
      <p:sp>
        <p:nvSpPr>
          <p:cNvPr id="11384" name="Line 122"/>
          <p:cNvSpPr>
            <a:spLocks noChangeShapeType="1"/>
          </p:cNvSpPr>
          <p:nvPr/>
        </p:nvSpPr>
        <p:spPr bwMode="auto">
          <a:xfrm flipV="1">
            <a:off x="3197225" y="2862263"/>
            <a:ext cx="576263" cy="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385" name="Line 123"/>
          <p:cNvSpPr>
            <a:spLocks noChangeShapeType="1"/>
          </p:cNvSpPr>
          <p:nvPr/>
        </p:nvSpPr>
        <p:spPr bwMode="auto">
          <a:xfrm>
            <a:off x="3486150" y="2574925"/>
            <a:ext cx="0" cy="574675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386" name="Text Box 124"/>
          <p:cNvSpPr txBox="1">
            <a:spLocks noChangeArrowheads="1"/>
          </p:cNvSpPr>
          <p:nvPr/>
        </p:nvSpPr>
        <p:spPr bwMode="auto">
          <a:xfrm>
            <a:off x="3197225" y="2574925"/>
            <a:ext cx="282575" cy="304800"/>
          </a:xfrm>
          <a:prstGeom prst="rect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400" b="0">
                <a:ea typeface="楷体_GB2312" charset="-122"/>
              </a:rPr>
              <a:t>2</a:t>
            </a:r>
          </a:p>
        </p:txBody>
      </p:sp>
      <p:sp>
        <p:nvSpPr>
          <p:cNvPr id="11387" name="Text Box 125"/>
          <p:cNvSpPr txBox="1">
            <a:spLocks noChangeArrowheads="1"/>
          </p:cNvSpPr>
          <p:nvPr/>
        </p:nvSpPr>
        <p:spPr bwMode="auto">
          <a:xfrm>
            <a:off x="3486150" y="2574925"/>
            <a:ext cx="282575" cy="304800"/>
          </a:xfrm>
          <a:prstGeom prst="rect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400" b="0">
                <a:ea typeface="楷体_GB2312" charset="-122"/>
              </a:rPr>
              <a:t>2</a:t>
            </a:r>
          </a:p>
        </p:txBody>
      </p:sp>
      <p:sp>
        <p:nvSpPr>
          <p:cNvPr id="11388" name="Text Box 126"/>
          <p:cNvSpPr txBox="1">
            <a:spLocks noChangeArrowheads="1"/>
          </p:cNvSpPr>
          <p:nvPr/>
        </p:nvSpPr>
        <p:spPr bwMode="auto">
          <a:xfrm>
            <a:off x="3486150" y="2862263"/>
            <a:ext cx="282575" cy="304800"/>
          </a:xfrm>
          <a:prstGeom prst="rect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400" b="0">
                <a:ea typeface="楷体_GB2312" charset="-122"/>
              </a:rPr>
              <a:t>5</a:t>
            </a:r>
          </a:p>
        </p:txBody>
      </p:sp>
      <p:sp>
        <p:nvSpPr>
          <p:cNvPr id="11389" name="Text Box 127"/>
          <p:cNvSpPr txBox="1">
            <a:spLocks noChangeArrowheads="1"/>
          </p:cNvSpPr>
          <p:nvPr/>
        </p:nvSpPr>
        <p:spPr bwMode="auto">
          <a:xfrm>
            <a:off x="3197225" y="2862263"/>
            <a:ext cx="282575" cy="304800"/>
          </a:xfrm>
          <a:prstGeom prst="rect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400" b="0">
                <a:ea typeface="楷体_GB2312" charset="-122"/>
              </a:rPr>
              <a:t>5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z="3200" smtClean="0"/>
              <a:t>Operation strategies</a:t>
            </a:r>
            <a:endParaRPr lang="zh-CN" altLang="en-US" sz="3200" smtClean="0"/>
          </a:p>
        </p:txBody>
      </p:sp>
      <p:sp>
        <p:nvSpPr>
          <p:cNvPr id="122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AU" altLang="zh-CN" smtClean="0"/>
              <a:t>Company owned &amp; operated plant on a greenfield site</a:t>
            </a:r>
          </a:p>
          <a:p>
            <a:pPr eaLnBrk="1" hangingPunct="1"/>
            <a:r>
              <a:rPr lang="en-AU" altLang="zh-CN" smtClean="0"/>
              <a:t>Company owned and operated plant on an existing company / other site</a:t>
            </a:r>
          </a:p>
          <a:p>
            <a:pPr eaLnBrk="1" hangingPunct="1"/>
            <a:r>
              <a:rPr lang="en-AU" altLang="zh-CN" smtClean="0"/>
              <a:t>Company owned plant operated by another manufacturing company</a:t>
            </a:r>
          </a:p>
          <a:p>
            <a:pPr eaLnBrk="1" hangingPunct="1"/>
            <a:r>
              <a:rPr lang="en-AU" altLang="zh-CN" smtClean="0"/>
              <a:t>Toll manufacture by another manufacturing company</a:t>
            </a:r>
          </a:p>
          <a:p>
            <a:pPr eaLnBrk="1" hangingPunct="1"/>
            <a:r>
              <a:rPr lang="en-AU" altLang="zh-CN" smtClean="0"/>
              <a:t>Licensed manufacture by another manufacturing company</a:t>
            </a:r>
            <a:endParaRPr lang="en-US" altLang="zh-CN" smtClean="0"/>
          </a:p>
          <a:p>
            <a:pPr eaLnBrk="1" hangingPunct="1"/>
            <a:endParaRPr lang="zh-CN" altLang="en-US" smtClean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z="3200" smtClean="0">
                <a:latin typeface="宋体" panose="02010600030101010101" pitchFamily="2" charset="-122"/>
              </a:rPr>
              <a:t>企业组织和劳动定员</a:t>
            </a:r>
          </a:p>
        </p:txBody>
      </p:sp>
      <p:sp>
        <p:nvSpPr>
          <p:cNvPr id="133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algn="just" eaLnBrk="1" hangingPunct="1"/>
            <a:r>
              <a:rPr lang="zh-CN" altLang="en-US" smtClean="0">
                <a:latin typeface="宋体" panose="02010600030101010101" pitchFamily="2" charset="-122"/>
              </a:rPr>
              <a:t>企业组织</a:t>
            </a:r>
          </a:p>
          <a:p>
            <a:pPr lvl="1" algn="just" eaLnBrk="1" hangingPunct="1"/>
            <a:r>
              <a:rPr lang="zh-CN" altLang="en-US" b="0" smtClean="0">
                <a:latin typeface="宋体" panose="02010600030101010101" pitchFamily="2" charset="-122"/>
              </a:rPr>
              <a:t>企业组织形式</a:t>
            </a:r>
          </a:p>
          <a:p>
            <a:pPr lvl="1" algn="just" eaLnBrk="1" hangingPunct="1"/>
            <a:r>
              <a:rPr lang="zh-CN" altLang="en-US" b="0" smtClean="0">
                <a:latin typeface="宋体" panose="02010600030101010101" pitchFamily="2" charset="-122"/>
              </a:rPr>
              <a:t>企业工作制度</a:t>
            </a:r>
          </a:p>
          <a:p>
            <a:pPr lvl="1" algn="just" eaLnBrk="1" hangingPunct="1"/>
            <a:r>
              <a:rPr lang="zh-CN" altLang="en-US" b="0" smtClean="0">
                <a:latin typeface="宋体" panose="02010600030101010101" pitchFamily="2" charset="-122"/>
              </a:rPr>
              <a:t>企业薪酬制度</a:t>
            </a:r>
          </a:p>
          <a:p>
            <a:pPr algn="just" eaLnBrk="1" hangingPunct="1"/>
            <a:r>
              <a:rPr lang="zh-CN" altLang="en-US" smtClean="0">
                <a:latin typeface="宋体" panose="02010600030101010101" pitchFamily="2" charset="-122"/>
              </a:rPr>
              <a:t>劳动定员和人员培训</a:t>
            </a:r>
          </a:p>
          <a:p>
            <a:pPr lvl="1" algn="just" eaLnBrk="1" hangingPunct="1"/>
            <a:r>
              <a:rPr lang="zh-CN" altLang="en-US" b="0" smtClean="0">
                <a:latin typeface="宋体" panose="02010600030101010101" pitchFamily="2" charset="-122"/>
              </a:rPr>
              <a:t>劳动定员</a:t>
            </a:r>
          </a:p>
          <a:p>
            <a:pPr lvl="1" algn="just" eaLnBrk="1" hangingPunct="1"/>
            <a:r>
              <a:rPr lang="zh-CN" altLang="en-US" b="0" smtClean="0">
                <a:latin typeface="宋体" panose="02010600030101010101" pitchFamily="2" charset="-122"/>
              </a:rPr>
              <a:t>项目年人工费用估算</a:t>
            </a:r>
          </a:p>
          <a:p>
            <a:pPr lvl="1" algn="just" eaLnBrk="1" hangingPunct="1"/>
            <a:r>
              <a:rPr lang="zh-CN" altLang="en-US" b="0" smtClean="0">
                <a:latin typeface="宋体" panose="02010600030101010101" pitchFamily="2" charset="-122"/>
              </a:rPr>
              <a:t>人员培训计划及费用估算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endParaRPr lang="zh-CN" altLang="en-US" smtClean="0"/>
          </a:p>
        </p:txBody>
      </p:sp>
      <p:sp>
        <p:nvSpPr>
          <p:cNvPr id="1433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endParaRPr lang="zh-CN" altLang="en-US" smtClean="0"/>
          </a:p>
        </p:txBody>
      </p:sp>
      <p:pic>
        <p:nvPicPr>
          <p:cNvPr id="14340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37" t="11937" r="25269" b="5460"/>
          <a:stretch>
            <a:fillRect/>
          </a:stretch>
        </p:blipFill>
        <p:spPr bwMode="auto">
          <a:xfrm>
            <a:off x="0" y="0"/>
            <a:ext cx="8939213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4"/>
          <p:cNvSpPr>
            <a:spLocks noGrp="1" noChangeArrowheads="1"/>
          </p:cNvSpPr>
          <p:nvPr>
            <p:ph type="title"/>
          </p:nvPr>
        </p:nvSpPr>
        <p:spPr>
          <a:xfrm>
            <a:off x="58738" y="0"/>
            <a:ext cx="8823325" cy="8191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tx2"/>
                </a:solidFill>
              </a14:hiddenFill>
            </a:ext>
          </a:extLst>
        </p:spPr>
        <p:txBody>
          <a:bodyPr/>
          <a:lstStyle/>
          <a:p>
            <a:pPr eaLnBrk="1" hangingPunct="1"/>
            <a:r>
              <a:rPr lang="zh-CN" altLang="en-US" b="0" smtClean="0"/>
              <a:t>三峡总公司</a:t>
            </a:r>
          </a:p>
        </p:txBody>
      </p:sp>
      <p:grpSp>
        <p:nvGrpSpPr>
          <p:cNvPr id="15363" name="Group 5"/>
          <p:cNvGrpSpPr>
            <a:grpSpLocks/>
          </p:cNvGrpSpPr>
          <p:nvPr/>
        </p:nvGrpSpPr>
        <p:grpSpPr bwMode="auto">
          <a:xfrm>
            <a:off x="212725" y="1150938"/>
            <a:ext cx="8569325" cy="5454650"/>
            <a:chOff x="1800" y="2215"/>
            <a:chExt cx="8280" cy="7805"/>
          </a:xfrm>
        </p:grpSpPr>
        <p:sp>
          <p:nvSpPr>
            <p:cNvPr id="15364" name="Text Box 6"/>
            <p:cNvSpPr txBox="1">
              <a:spLocks noChangeArrowheads="1"/>
            </p:cNvSpPr>
            <p:nvPr/>
          </p:nvSpPr>
          <p:spPr bwMode="auto">
            <a:xfrm>
              <a:off x="5391" y="2215"/>
              <a:ext cx="997" cy="42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900">
                  <a:solidFill>
                    <a:srgbClr val="0000FF"/>
                  </a:solidFill>
                  <a:latin typeface="Times New Roman" panose="02020603050405020304" pitchFamily="18" charset="0"/>
                  <a:ea typeface="楷体_GB2312" charset="-122"/>
                </a:rPr>
                <a:t>总经理</a:t>
              </a:r>
              <a:endParaRPr lang="zh-CN" altLang="en-US" sz="1800">
                <a:solidFill>
                  <a:srgbClr val="0000FF"/>
                </a:solidFill>
                <a:ea typeface="楷体_GB2312" charset="-122"/>
              </a:endParaRPr>
            </a:p>
          </p:txBody>
        </p:sp>
        <p:sp>
          <p:nvSpPr>
            <p:cNvPr id="15365" name="Text Box 7"/>
            <p:cNvSpPr txBox="1">
              <a:spLocks noChangeArrowheads="1"/>
            </p:cNvSpPr>
            <p:nvPr/>
          </p:nvSpPr>
          <p:spPr bwMode="auto">
            <a:xfrm>
              <a:off x="3695" y="2782"/>
              <a:ext cx="1099" cy="427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900">
                  <a:solidFill>
                    <a:srgbClr val="0000FF"/>
                  </a:solidFill>
                  <a:latin typeface="Times New Roman" panose="02020603050405020304" pitchFamily="18" charset="0"/>
                  <a:ea typeface="楷体_GB2312" charset="-122"/>
                </a:rPr>
                <a:t>副总经理</a:t>
              </a:r>
              <a:endParaRPr lang="zh-CN" altLang="en-US" sz="1800">
                <a:solidFill>
                  <a:srgbClr val="0000FF"/>
                </a:solidFill>
                <a:ea typeface="楷体_GB2312" charset="-122"/>
              </a:endParaRPr>
            </a:p>
          </p:txBody>
        </p:sp>
        <p:sp>
          <p:nvSpPr>
            <p:cNvPr id="15366" name="Text Box 8"/>
            <p:cNvSpPr txBox="1">
              <a:spLocks noChangeArrowheads="1"/>
            </p:cNvSpPr>
            <p:nvPr/>
          </p:nvSpPr>
          <p:spPr bwMode="auto">
            <a:xfrm>
              <a:off x="6289" y="3634"/>
              <a:ext cx="398" cy="1417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eaVert" lIns="36000" rIns="36000"/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900">
                  <a:solidFill>
                    <a:srgbClr val="0000FF"/>
                  </a:solidFill>
                  <a:latin typeface="Times New Roman" panose="02020603050405020304" pitchFamily="18" charset="0"/>
                  <a:ea typeface="楷体_GB2312" charset="-122"/>
                </a:rPr>
                <a:t>科学技术委员会</a:t>
              </a:r>
              <a:endParaRPr lang="zh-CN" altLang="en-US" sz="1800">
                <a:solidFill>
                  <a:srgbClr val="0000FF"/>
                </a:solidFill>
                <a:ea typeface="楷体_GB2312" charset="-122"/>
              </a:endParaRPr>
            </a:p>
          </p:txBody>
        </p:sp>
        <p:sp>
          <p:nvSpPr>
            <p:cNvPr id="15367" name="Text Box 9"/>
            <p:cNvSpPr txBox="1">
              <a:spLocks noChangeArrowheads="1"/>
            </p:cNvSpPr>
            <p:nvPr/>
          </p:nvSpPr>
          <p:spPr bwMode="auto">
            <a:xfrm>
              <a:off x="8685" y="3634"/>
              <a:ext cx="397" cy="1419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eaVert" lIns="36000" rIns="36000"/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900">
                  <a:solidFill>
                    <a:srgbClr val="0000FF"/>
                  </a:solidFill>
                  <a:latin typeface="Times New Roman" panose="02020603050405020304" pitchFamily="18" charset="0"/>
                  <a:ea typeface="楷体_GB2312" charset="-122"/>
                </a:rPr>
                <a:t>经济、法律顾问</a:t>
              </a:r>
              <a:endParaRPr lang="zh-CN" altLang="en-US" sz="1800">
                <a:solidFill>
                  <a:srgbClr val="0000FF"/>
                </a:solidFill>
                <a:ea typeface="楷体_GB2312" charset="-122"/>
              </a:endParaRPr>
            </a:p>
          </p:txBody>
        </p:sp>
        <p:sp>
          <p:nvSpPr>
            <p:cNvPr id="15368" name="Text Box 10"/>
            <p:cNvSpPr txBox="1">
              <a:spLocks noChangeArrowheads="1"/>
            </p:cNvSpPr>
            <p:nvPr/>
          </p:nvSpPr>
          <p:spPr bwMode="auto">
            <a:xfrm>
              <a:off x="7087" y="3634"/>
              <a:ext cx="399" cy="141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eaVert" lIns="36000" rIns="36000"/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900">
                  <a:solidFill>
                    <a:srgbClr val="0000FF"/>
                  </a:solidFill>
                  <a:latin typeface="Times New Roman" panose="02020603050405020304" pitchFamily="18" charset="0"/>
                  <a:ea typeface="楷体_GB2312" charset="-122"/>
                </a:rPr>
                <a:t>投资委员会</a:t>
              </a:r>
              <a:endParaRPr lang="zh-CN" altLang="en-US" sz="1800">
                <a:solidFill>
                  <a:srgbClr val="0000FF"/>
                </a:solidFill>
                <a:ea typeface="楷体_GB2312" charset="-122"/>
              </a:endParaRPr>
            </a:p>
          </p:txBody>
        </p:sp>
        <p:sp>
          <p:nvSpPr>
            <p:cNvPr id="15369" name="Text Box 11"/>
            <p:cNvSpPr txBox="1">
              <a:spLocks noChangeArrowheads="1"/>
            </p:cNvSpPr>
            <p:nvPr/>
          </p:nvSpPr>
          <p:spPr bwMode="auto">
            <a:xfrm>
              <a:off x="7886" y="3634"/>
              <a:ext cx="398" cy="1417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eaVert" lIns="36000" rIns="36000"/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900">
                  <a:solidFill>
                    <a:srgbClr val="0000FF"/>
                  </a:solidFill>
                  <a:latin typeface="Times New Roman" panose="02020603050405020304" pitchFamily="18" charset="0"/>
                  <a:ea typeface="楷体_GB2312" charset="-122"/>
                </a:rPr>
                <a:t>预算委员会</a:t>
              </a:r>
              <a:endParaRPr lang="zh-CN" altLang="en-US" sz="1800">
                <a:solidFill>
                  <a:srgbClr val="0000FF"/>
                </a:solidFill>
                <a:ea typeface="楷体_GB2312" charset="-122"/>
              </a:endParaRPr>
            </a:p>
          </p:txBody>
        </p:sp>
        <p:sp>
          <p:nvSpPr>
            <p:cNvPr id="15370" name="Text Box 12"/>
            <p:cNvSpPr txBox="1">
              <a:spLocks noChangeArrowheads="1"/>
            </p:cNvSpPr>
            <p:nvPr/>
          </p:nvSpPr>
          <p:spPr bwMode="auto">
            <a:xfrm>
              <a:off x="2598" y="7462"/>
              <a:ext cx="392" cy="2556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eaVert" lIns="36000" rIns="36000"/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900">
                  <a:solidFill>
                    <a:srgbClr val="0000FF"/>
                  </a:solidFill>
                  <a:latin typeface="Times New Roman" panose="02020603050405020304" pitchFamily="18" charset="0"/>
                  <a:ea typeface="楷体_GB2312" charset="-122"/>
                </a:rPr>
                <a:t>向家坝工程建设部</a:t>
              </a:r>
              <a:endParaRPr lang="zh-CN" altLang="en-US" sz="1800">
                <a:solidFill>
                  <a:srgbClr val="0000FF"/>
                </a:solidFill>
                <a:ea typeface="楷体_GB2312" charset="-122"/>
              </a:endParaRPr>
            </a:p>
          </p:txBody>
        </p:sp>
        <p:sp>
          <p:nvSpPr>
            <p:cNvPr id="15371" name="Text Box 13"/>
            <p:cNvSpPr txBox="1">
              <a:spLocks noChangeArrowheads="1"/>
            </p:cNvSpPr>
            <p:nvPr/>
          </p:nvSpPr>
          <p:spPr bwMode="auto">
            <a:xfrm>
              <a:off x="2198" y="7462"/>
              <a:ext cx="399" cy="2556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eaVert" lIns="36000" rIns="36000"/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900">
                  <a:solidFill>
                    <a:srgbClr val="0000FF"/>
                  </a:solidFill>
                  <a:latin typeface="Times New Roman" panose="02020603050405020304" pitchFamily="18" charset="0"/>
                  <a:ea typeface="楷体_GB2312" charset="-122"/>
                </a:rPr>
                <a:t>溪洛渡工程建设部</a:t>
              </a:r>
              <a:endParaRPr lang="zh-CN" altLang="en-US" sz="1800">
                <a:solidFill>
                  <a:srgbClr val="0000FF"/>
                </a:solidFill>
                <a:ea typeface="楷体_GB2312" charset="-122"/>
              </a:endParaRPr>
            </a:p>
          </p:txBody>
        </p:sp>
        <p:sp>
          <p:nvSpPr>
            <p:cNvPr id="15372" name="Text Box 14"/>
            <p:cNvSpPr txBox="1">
              <a:spLocks noChangeArrowheads="1"/>
            </p:cNvSpPr>
            <p:nvPr/>
          </p:nvSpPr>
          <p:spPr bwMode="auto">
            <a:xfrm>
              <a:off x="1800" y="7462"/>
              <a:ext cx="395" cy="2556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eaVert" lIns="36000" rIns="36000"/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900">
                  <a:solidFill>
                    <a:srgbClr val="0000FF"/>
                  </a:solidFill>
                  <a:latin typeface="Times New Roman" panose="02020603050405020304" pitchFamily="18" charset="0"/>
                  <a:ea typeface="楷体_GB2312" charset="-122"/>
                </a:rPr>
                <a:t>工程建设部</a:t>
              </a:r>
              <a:endParaRPr lang="zh-CN" altLang="en-US" sz="1800">
                <a:solidFill>
                  <a:srgbClr val="0000FF"/>
                </a:solidFill>
                <a:ea typeface="楷体_GB2312" charset="-122"/>
              </a:endParaRPr>
            </a:p>
          </p:txBody>
        </p:sp>
        <p:sp>
          <p:nvSpPr>
            <p:cNvPr id="15373" name="Text Box 15"/>
            <p:cNvSpPr txBox="1">
              <a:spLocks noChangeArrowheads="1"/>
            </p:cNvSpPr>
            <p:nvPr/>
          </p:nvSpPr>
          <p:spPr bwMode="auto">
            <a:xfrm>
              <a:off x="6090" y="5478"/>
              <a:ext cx="401" cy="1542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eaVert" lIns="36000" rIns="36000"/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900">
                  <a:solidFill>
                    <a:srgbClr val="0000FF"/>
                  </a:solidFill>
                  <a:latin typeface="Times New Roman" panose="02020603050405020304" pitchFamily="18" charset="0"/>
                  <a:ea typeface="楷体_GB2312" charset="-122"/>
                </a:rPr>
                <a:t>机电工程部</a:t>
              </a:r>
              <a:endParaRPr lang="zh-CN" altLang="en-US" sz="1800">
                <a:solidFill>
                  <a:srgbClr val="0000FF"/>
                </a:solidFill>
                <a:ea typeface="楷体_GB2312" charset="-122"/>
              </a:endParaRPr>
            </a:p>
          </p:txBody>
        </p:sp>
        <p:sp>
          <p:nvSpPr>
            <p:cNvPr id="15374" name="Text Box 16"/>
            <p:cNvSpPr txBox="1">
              <a:spLocks noChangeArrowheads="1"/>
            </p:cNvSpPr>
            <p:nvPr/>
          </p:nvSpPr>
          <p:spPr bwMode="auto">
            <a:xfrm>
              <a:off x="3799" y="5478"/>
              <a:ext cx="394" cy="1542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eaVert" lIns="36000" rIns="36000"/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900">
                  <a:solidFill>
                    <a:srgbClr val="0000FF"/>
                  </a:solidFill>
                  <a:latin typeface="Times New Roman" panose="02020603050405020304" pitchFamily="18" charset="0"/>
                  <a:ea typeface="楷体_GB2312" charset="-122"/>
                </a:rPr>
                <a:t>计划发展部</a:t>
              </a:r>
              <a:endParaRPr lang="zh-CN" altLang="en-US" sz="1800">
                <a:solidFill>
                  <a:srgbClr val="0000FF"/>
                </a:solidFill>
                <a:ea typeface="楷体_GB2312" charset="-122"/>
              </a:endParaRPr>
            </a:p>
          </p:txBody>
        </p:sp>
        <p:sp>
          <p:nvSpPr>
            <p:cNvPr id="15375" name="Text Box 17"/>
            <p:cNvSpPr txBox="1">
              <a:spLocks noChangeArrowheads="1"/>
            </p:cNvSpPr>
            <p:nvPr/>
          </p:nvSpPr>
          <p:spPr bwMode="auto">
            <a:xfrm>
              <a:off x="8088" y="5478"/>
              <a:ext cx="397" cy="1544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eaVert" lIns="36000" rIns="36000"/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900">
                  <a:solidFill>
                    <a:srgbClr val="0000FF"/>
                  </a:solidFill>
                  <a:latin typeface="Times New Roman" panose="02020603050405020304" pitchFamily="18" charset="0"/>
                  <a:ea typeface="楷体_GB2312" charset="-122"/>
                </a:rPr>
                <a:t>审计室</a:t>
              </a:r>
              <a:endParaRPr lang="zh-CN" altLang="en-US" sz="1800">
                <a:solidFill>
                  <a:srgbClr val="0000FF"/>
                </a:solidFill>
                <a:ea typeface="楷体_GB2312" charset="-122"/>
              </a:endParaRPr>
            </a:p>
          </p:txBody>
        </p:sp>
        <p:sp>
          <p:nvSpPr>
            <p:cNvPr id="15376" name="Text Box 18"/>
            <p:cNvSpPr txBox="1">
              <a:spLocks noChangeArrowheads="1"/>
            </p:cNvSpPr>
            <p:nvPr/>
          </p:nvSpPr>
          <p:spPr bwMode="auto">
            <a:xfrm>
              <a:off x="4296" y="5478"/>
              <a:ext cx="395" cy="1542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eaVert" lIns="36000" rIns="36000"/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900">
                  <a:solidFill>
                    <a:srgbClr val="0000FF"/>
                  </a:solidFill>
                  <a:latin typeface="Times New Roman" panose="02020603050405020304" pitchFamily="18" charset="0"/>
                  <a:ea typeface="楷体_GB2312" charset="-122"/>
                </a:rPr>
                <a:t>资产财务部</a:t>
              </a:r>
              <a:endParaRPr lang="zh-CN" altLang="en-US" sz="1800">
                <a:solidFill>
                  <a:srgbClr val="0000FF"/>
                </a:solidFill>
                <a:ea typeface="楷体_GB2312" charset="-122"/>
              </a:endParaRPr>
            </a:p>
          </p:txBody>
        </p:sp>
        <p:sp>
          <p:nvSpPr>
            <p:cNvPr id="15377" name="Text Box 19"/>
            <p:cNvSpPr txBox="1">
              <a:spLocks noChangeArrowheads="1"/>
            </p:cNvSpPr>
            <p:nvPr/>
          </p:nvSpPr>
          <p:spPr bwMode="auto">
            <a:xfrm>
              <a:off x="7090" y="5478"/>
              <a:ext cx="395" cy="1544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eaVert" lIns="36000" rIns="36000"/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900">
                  <a:solidFill>
                    <a:srgbClr val="0000FF"/>
                  </a:solidFill>
                  <a:latin typeface="Times New Roman" panose="02020603050405020304" pitchFamily="18" charset="0"/>
                  <a:ea typeface="楷体_GB2312" charset="-122"/>
                </a:rPr>
                <a:t>国际合作部</a:t>
              </a:r>
              <a:endParaRPr lang="zh-CN" altLang="en-US" sz="1800">
                <a:solidFill>
                  <a:srgbClr val="0000FF"/>
                </a:solidFill>
                <a:ea typeface="楷体_GB2312" charset="-122"/>
              </a:endParaRPr>
            </a:p>
          </p:txBody>
        </p:sp>
        <p:sp>
          <p:nvSpPr>
            <p:cNvPr id="15378" name="Text Box 20"/>
            <p:cNvSpPr txBox="1">
              <a:spLocks noChangeArrowheads="1"/>
            </p:cNvSpPr>
            <p:nvPr/>
          </p:nvSpPr>
          <p:spPr bwMode="auto">
            <a:xfrm>
              <a:off x="6591" y="5478"/>
              <a:ext cx="392" cy="1542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eaVert" lIns="36000" rIns="36000"/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900">
                  <a:solidFill>
                    <a:srgbClr val="0000FF"/>
                  </a:solidFill>
                  <a:latin typeface="Times New Roman" panose="02020603050405020304" pitchFamily="18" charset="0"/>
                  <a:ea typeface="楷体_GB2312" charset="-122"/>
                </a:rPr>
                <a:t>科技与环境保护部</a:t>
              </a:r>
              <a:endParaRPr lang="zh-CN" altLang="en-US" sz="1800">
                <a:solidFill>
                  <a:srgbClr val="0000FF"/>
                </a:solidFill>
                <a:ea typeface="楷体_GB2312" charset="-122"/>
              </a:endParaRPr>
            </a:p>
          </p:txBody>
        </p:sp>
        <p:sp>
          <p:nvSpPr>
            <p:cNvPr id="15379" name="Text Box 21"/>
            <p:cNvSpPr txBox="1">
              <a:spLocks noChangeArrowheads="1"/>
            </p:cNvSpPr>
            <p:nvPr/>
          </p:nvSpPr>
          <p:spPr bwMode="auto">
            <a:xfrm>
              <a:off x="2800" y="5478"/>
              <a:ext cx="397" cy="1542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eaVert" lIns="36000" rIns="36000"/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900">
                  <a:solidFill>
                    <a:srgbClr val="0000FF"/>
                  </a:solidFill>
                  <a:latin typeface="Times New Roman" panose="02020603050405020304" pitchFamily="18" charset="0"/>
                  <a:ea typeface="楷体_GB2312" charset="-122"/>
                </a:rPr>
                <a:t>总经理工作部</a:t>
              </a:r>
              <a:endParaRPr lang="zh-CN" altLang="en-US" sz="1800">
                <a:solidFill>
                  <a:srgbClr val="0000FF"/>
                </a:solidFill>
                <a:ea typeface="楷体_GB2312" charset="-122"/>
              </a:endParaRPr>
            </a:p>
          </p:txBody>
        </p:sp>
        <p:sp>
          <p:nvSpPr>
            <p:cNvPr id="15380" name="Text Box 22"/>
            <p:cNvSpPr txBox="1">
              <a:spLocks noChangeArrowheads="1"/>
            </p:cNvSpPr>
            <p:nvPr/>
          </p:nvSpPr>
          <p:spPr bwMode="auto">
            <a:xfrm>
              <a:off x="3299" y="5478"/>
              <a:ext cx="395" cy="1542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eaVert" lIns="36000" rIns="36000"/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900">
                  <a:solidFill>
                    <a:srgbClr val="0000FF"/>
                  </a:solidFill>
                  <a:latin typeface="Times New Roman" panose="02020603050405020304" pitchFamily="18" charset="0"/>
                  <a:ea typeface="楷体_GB2312" charset="-122"/>
                </a:rPr>
                <a:t>信息中心</a:t>
              </a:r>
              <a:endParaRPr lang="zh-CN" altLang="en-US" sz="1800">
                <a:solidFill>
                  <a:srgbClr val="0000FF"/>
                </a:solidFill>
                <a:ea typeface="楷体_GB2312" charset="-122"/>
              </a:endParaRPr>
            </a:p>
          </p:txBody>
        </p:sp>
        <p:sp>
          <p:nvSpPr>
            <p:cNvPr id="15381" name="Text Box 23"/>
            <p:cNvSpPr txBox="1">
              <a:spLocks noChangeArrowheads="1"/>
            </p:cNvSpPr>
            <p:nvPr/>
          </p:nvSpPr>
          <p:spPr bwMode="auto">
            <a:xfrm>
              <a:off x="8585" y="5478"/>
              <a:ext cx="398" cy="1543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eaVert" lIns="36000" rIns="36000"/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900">
                  <a:solidFill>
                    <a:srgbClr val="0000FF"/>
                  </a:solidFill>
                  <a:latin typeface="Times New Roman" panose="02020603050405020304" pitchFamily="18" charset="0"/>
                  <a:ea typeface="楷体_GB2312" charset="-122"/>
                </a:rPr>
                <a:t>党群工作部</a:t>
              </a:r>
              <a:endParaRPr lang="zh-CN" altLang="en-US" sz="1800">
                <a:solidFill>
                  <a:srgbClr val="0000FF"/>
                </a:solidFill>
                <a:ea typeface="楷体_GB2312" charset="-122"/>
              </a:endParaRPr>
            </a:p>
          </p:txBody>
        </p:sp>
        <p:sp>
          <p:nvSpPr>
            <p:cNvPr id="15382" name="Text Box 24"/>
            <p:cNvSpPr txBox="1">
              <a:spLocks noChangeArrowheads="1"/>
            </p:cNvSpPr>
            <p:nvPr/>
          </p:nvSpPr>
          <p:spPr bwMode="auto">
            <a:xfrm>
              <a:off x="4794" y="5478"/>
              <a:ext cx="393" cy="1542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eaVert" lIns="36000" rIns="36000"/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900">
                  <a:solidFill>
                    <a:srgbClr val="0000FF"/>
                  </a:solidFill>
                  <a:latin typeface="Times New Roman" panose="02020603050405020304" pitchFamily="18" charset="0"/>
                  <a:ea typeface="楷体_GB2312" charset="-122"/>
                </a:rPr>
                <a:t>人力资源部</a:t>
              </a:r>
              <a:endParaRPr lang="zh-CN" altLang="en-US" sz="1800">
                <a:solidFill>
                  <a:srgbClr val="0000FF"/>
                </a:solidFill>
                <a:ea typeface="楷体_GB2312" charset="-122"/>
              </a:endParaRPr>
            </a:p>
          </p:txBody>
        </p:sp>
        <p:sp>
          <p:nvSpPr>
            <p:cNvPr id="15383" name="Text Box 25"/>
            <p:cNvSpPr txBox="1">
              <a:spLocks noChangeArrowheads="1"/>
            </p:cNvSpPr>
            <p:nvPr/>
          </p:nvSpPr>
          <p:spPr bwMode="auto">
            <a:xfrm>
              <a:off x="5291" y="5478"/>
              <a:ext cx="406" cy="1542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eaVert" lIns="36000" rIns="36000"/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900">
                  <a:solidFill>
                    <a:srgbClr val="0000FF"/>
                  </a:solidFill>
                  <a:latin typeface="Times New Roman" panose="02020603050405020304" pitchFamily="18" charset="0"/>
                  <a:ea typeface="楷体_GB2312" charset="-122"/>
                </a:rPr>
                <a:t>枢纽管理部</a:t>
              </a:r>
              <a:endParaRPr lang="zh-CN" altLang="en-US" sz="1800">
                <a:solidFill>
                  <a:srgbClr val="0000FF"/>
                </a:solidFill>
                <a:ea typeface="楷体_GB2312" charset="-122"/>
              </a:endParaRPr>
            </a:p>
          </p:txBody>
        </p:sp>
        <p:sp>
          <p:nvSpPr>
            <p:cNvPr id="15384" name="Text Box 26"/>
            <p:cNvSpPr txBox="1">
              <a:spLocks noChangeArrowheads="1"/>
            </p:cNvSpPr>
            <p:nvPr/>
          </p:nvSpPr>
          <p:spPr bwMode="auto">
            <a:xfrm>
              <a:off x="9083" y="5478"/>
              <a:ext cx="400" cy="1542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eaVert" lIns="36000" rIns="36000"/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900">
                  <a:solidFill>
                    <a:srgbClr val="0000FF"/>
                  </a:solidFill>
                  <a:latin typeface="Times New Roman" panose="02020603050405020304" pitchFamily="18" charset="0"/>
                  <a:ea typeface="楷体_GB2312" charset="-122"/>
                </a:rPr>
                <a:t>北京代表处</a:t>
              </a:r>
              <a:endParaRPr lang="zh-CN" altLang="en-US" sz="1800">
                <a:solidFill>
                  <a:srgbClr val="0000FF"/>
                </a:solidFill>
                <a:ea typeface="楷体_GB2312" charset="-122"/>
              </a:endParaRPr>
            </a:p>
          </p:txBody>
        </p:sp>
        <p:sp>
          <p:nvSpPr>
            <p:cNvPr id="15385" name="Text Box 27"/>
            <p:cNvSpPr txBox="1">
              <a:spLocks noChangeArrowheads="1"/>
            </p:cNvSpPr>
            <p:nvPr/>
          </p:nvSpPr>
          <p:spPr bwMode="auto">
            <a:xfrm>
              <a:off x="7588" y="5478"/>
              <a:ext cx="395" cy="154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eaVert" lIns="36000" rIns="36000"/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900">
                  <a:solidFill>
                    <a:srgbClr val="0000FF"/>
                  </a:solidFill>
                  <a:latin typeface="Times New Roman" panose="02020603050405020304" pitchFamily="18" charset="0"/>
                  <a:ea typeface="楷体_GB2312" charset="-122"/>
                </a:rPr>
                <a:t>新闻宣传中心</a:t>
              </a:r>
              <a:endParaRPr lang="zh-CN" altLang="en-US" sz="1800">
                <a:solidFill>
                  <a:srgbClr val="0000FF"/>
                </a:solidFill>
                <a:ea typeface="楷体_GB2312" charset="-122"/>
              </a:endParaRPr>
            </a:p>
          </p:txBody>
        </p:sp>
        <p:sp>
          <p:nvSpPr>
            <p:cNvPr id="15386" name="Text Box 28"/>
            <p:cNvSpPr txBox="1">
              <a:spLocks noChangeArrowheads="1"/>
            </p:cNvSpPr>
            <p:nvPr/>
          </p:nvSpPr>
          <p:spPr bwMode="auto">
            <a:xfrm>
              <a:off x="2301" y="5478"/>
              <a:ext cx="396" cy="1542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eaVert" lIns="36000" rIns="36000"/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900">
                  <a:solidFill>
                    <a:srgbClr val="0000FF"/>
                  </a:solidFill>
                  <a:latin typeface="Times New Roman" panose="02020603050405020304" pitchFamily="18" charset="0"/>
                  <a:ea typeface="楷体_GB2312" charset="-122"/>
                </a:rPr>
                <a:t>监察室</a:t>
              </a:r>
              <a:endParaRPr lang="zh-CN" altLang="en-US" sz="1800">
                <a:solidFill>
                  <a:srgbClr val="0000FF"/>
                </a:solidFill>
                <a:ea typeface="楷体_GB2312" charset="-122"/>
              </a:endParaRPr>
            </a:p>
          </p:txBody>
        </p:sp>
        <p:sp>
          <p:nvSpPr>
            <p:cNvPr id="15387" name="Text Box 29"/>
            <p:cNvSpPr txBox="1">
              <a:spLocks noChangeArrowheads="1"/>
            </p:cNvSpPr>
            <p:nvPr/>
          </p:nvSpPr>
          <p:spPr bwMode="auto">
            <a:xfrm>
              <a:off x="2997" y="7462"/>
              <a:ext cx="396" cy="2556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eaVert" lIns="36000" rIns="36000"/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900">
                  <a:solidFill>
                    <a:srgbClr val="0000FF"/>
                  </a:solidFill>
                  <a:latin typeface="Times New Roman" panose="02020603050405020304" pitchFamily="18" charset="0"/>
                  <a:ea typeface="楷体_GB2312" charset="-122"/>
                </a:rPr>
                <a:t>金沙江开发有限公司筹建处</a:t>
              </a:r>
              <a:endParaRPr lang="zh-CN" altLang="en-US" sz="1800">
                <a:solidFill>
                  <a:srgbClr val="0000FF"/>
                </a:solidFill>
                <a:ea typeface="楷体_GB2312" charset="-122"/>
              </a:endParaRPr>
            </a:p>
          </p:txBody>
        </p:sp>
        <p:sp>
          <p:nvSpPr>
            <p:cNvPr id="15388" name="Text Box 30"/>
            <p:cNvSpPr txBox="1">
              <a:spLocks noChangeArrowheads="1"/>
            </p:cNvSpPr>
            <p:nvPr/>
          </p:nvSpPr>
          <p:spPr bwMode="auto">
            <a:xfrm>
              <a:off x="7685" y="7462"/>
              <a:ext cx="397" cy="2556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eaVert" lIns="36000" rIns="36000"/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900">
                  <a:solidFill>
                    <a:srgbClr val="0000FF"/>
                  </a:solidFill>
                  <a:latin typeface="Times New Roman" panose="02020603050405020304" pitchFamily="18" charset="0"/>
                  <a:ea typeface="楷体_GB2312" charset="-122"/>
                </a:rPr>
                <a:t>长江三峡旅游发展有限公司</a:t>
              </a:r>
              <a:endParaRPr lang="zh-CN" altLang="en-US" sz="1800">
                <a:solidFill>
                  <a:srgbClr val="0000FF"/>
                </a:solidFill>
                <a:ea typeface="楷体_GB2312" charset="-122"/>
              </a:endParaRPr>
            </a:p>
          </p:txBody>
        </p:sp>
        <p:sp>
          <p:nvSpPr>
            <p:cNvPr id="15389" name="Text Box 31"/>
            <p:cNvSpPr txBox="1">
              <a:spLocks noChangeArrowheads="1"/>
            </p:cNvSpPr>
            <p:nvPr/>
          </p:nvSpPr>
          <p:spPr bwMode="auto">
            <a:xfrm>
              <a:off x="7186" y="7462"/>
              <a:ext cx="396" cy="2556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eaVert" lIns="36000" rIns="36000"/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900">
                  <a:solidFill>
                    <a:srgbClr val="0000FF"/>
                  </a:solidFill>
                  <a:latin typeface="Times New Roman" panose="02020603050405020304" pitchFamily="18" charset="0"/>
                  <a:ea typeface="楷体_GB2312" charset="-122"/>
                </a:rPr>
                <a:t>中国长江电力股份有限公司</a:t>
              </a:r>
              <a:endParaRPr lang="zh-CN" altLang="en-US" sz="1800">
                <a:solidFill>
                  <a:srgbClr val="0000FF"/>
                </a:solidFill>
                <a:ea typeface="楷体_GB2312" charset="-122"/>
              </a:endParaRPr>
            </a:p>
          </p:txBody>
        </p:sp>
        <p:sp>
          <p:nvSpPr>
            <p:cNvPr id="15390" name="Text Box 32"/>
            <p:cNvSpPr txBox="1">
              <a:spLocks noChangeArrowheads="1"/>
            </p:cNvSpPr>
            <p:nvPr/>
          </p:nvSpPr>
          <p:spPr bwMode="auto">
            <a:xfrm>
              <a:off x="6688" y="7462"/>
              <a:ext cx="394" cy="2556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eaVert" lIns="36000" rIns="36000"/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900">
                  <a:solidFill>
                    <a:srgbClr val="0000FF"/>
                  </a:solidFill>
                  <a:latin typeface="Times New Roman" panose="02020603050405020304" pitchFamily="18" charset="0"/>
                  <a:ea typeface="楷体_GB2312" charset="-122"/>
                </a:rPr>
                <a:t>长江三峡水电工程公司</a:t>
              </a:r>
              <a:endParaRPr lang="zh-CN" altLang="en-US" sz="1800">
                <a:solidFill>
                  <a:srgbClr val="0000FF"/>
                </a:solidFill>
                <a:ea typeface="楷体_GB2312" charset="-122"/>
              </a:endParaRPr>
            </a:p>
          </p:txBody>
        </p:sp>
        <p:sp>
          <p:nvSpPr>
            <p:cNvPr id="15391" name="Text Box 33"/>
            <p:cNvSpPr txBox="1">
              <a:spLocks noChangeArrowheads="1"/>
            </p:cNvSpPr>
            <p:nvPr/>
          </p:nvSpPr>
          <p:spPr bwMode="auto">
            <a:xfrm>
              <a:off x="6189" y="7462"/>
              <a:ext cx="395" cy="2556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eaVert" lIns="36000" rIns="36000"/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900">
                  <a:solidFill>
                    <a:srgbClr val="0000FF"/>
                  </a:solidFill>
                  <a:latin typeface="Times New Roman" panose="02020603050405020304" pitchFamily="18" charset="0"/>
                  <a:ea typeface="楷体_GB2312" charset="-122"/>
                </a:rPr>
                <a:t>宜昌三峡工程设备有限公司</a:t>
              </a:r>
              <a:endParaRPr lang="zh-CN" altLang="en-US" sz="1800">
                <a:solidFill>
                  <a:srgbClr val="0000FF"/>
                </a:solidFill>
                <a:ea typeface="楷体_GB2312" charset="-122"/>
              </a:endParaRPr>
            </a:p>
          </p:txBody>
        </p:sp>
        <p:sp>
          <p:nvSpPr>
            <p:cNvPr id="15392" name="Text Box 34"/>
            <p:cNvSpPr txBox="1">
              <a:spLocks noChangeArrowheads="1"/>
            </p:cNvSpPr>
            <p:nvPr/>
          </p:nvSpPr>
          <p:spPr bwMode="auto">
            <a:xfrm>
              <a:off x="3694" y="7462"/>
              <a:ext cx="401" cy="2558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eaVert" lIns="36000" rIns="36000"/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900">
                  <a:solidFill>
                    <a:srgbClr val="0000FF"/>
                  </a:solidFill>
                  <a:latin typeface="Times New Roman" panose="02020603050405020304" pitchFamily="18" charset="0"/>
                  <a:ea typeface="楷体_GB2312" charset="-122"/>
                </a:rPr>
                <a:t>宜昌三峡多能公司</a:t>
              </a:r>
              <a:endParaRPr lang="zh-CN" altLang="en-US" sz="1800">
                <a:solidFill>
                  <a:srgbClr val="0000FF"/>
                </a:solidFill>
                <a:ea typeface="楷体_GB2312" charset="-122"/>
              </a:endParaRPr>
            </a:p>
          </p:txBody>
        </p:sp>
        <p:sp>
          <p:nvSpPr>
            <p:cNvPr id="15393" name="Text Box 35"/>
            <p:cNvSpPr txBox="1">
              <a:spLocks noChangeArrowheads="1"/>
            </p:cNvSpPr>
            <p:nvPr/>
          </p:nvSpPr>
          <p:spPr bwMode="auto">
            <a:xfrm>
              <a:off x="5690" y="7462"/>
              <a:ext cx="398" cy="2556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eaVert" lIns="36000" rIns="36000"/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900">
                  <a:solidFill>
                    <a:srgbClr val="0000FF"/>
                  </a:solidFill>
                  <a:latin typeface="Times New Roman" panose="02020603050405020304" pitchFamily="18" charset="0"/>
                  <a:ea typeface="楷体_GB2312" charset="-122"/>
                </a:rPr>
                <a:t>长江三峡实业有限公司</a:t>
              </a:r>
              <a:endParaRPr lang="zh-CN" altLang="en-US" sz="1800">
                <a:solidFill>
                  <a:srgbClr val="0000FF"/>
                </a:solidFill>
                <a:ea typeface="楷体_GB2312" charset="-122"/>
              </a:endParaRPr>
            </a:p>
          </p:txBody>
        </p:sp>
        <p:sp>
          <p:nvSpPr>
            <p:cNvPr id="15394" name="Text Box 36"/>
            <p:cNvSpPr txBox="1">
              <a:spLocks noChangeArrowheads="1"/>
            </p:cNvSpPr>
            <p:nvPr/>
          </p:nvSpPr>
          <p:spPr bwMode="auto">
            <a:xfrm>
              <a:off x="4693" y="7462"/>
              <a:ext cx="398" cy="2557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eaVert" lIns="36000" rIns="36000"/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900">
                  <a:solidFill>
                    <a:srgbClr val="0000FF"/>
                  </a:solidFill>
                  <a:latin typeface="Times New Roman" panose="02020603050405020304" pitchFamily="18" charset="0"/>
                  <a:ea typeface="楷体_GB2312" charset="-122"/>
                </a:rPr>
                <a:t>长江三峡技术经济发展有限公司</a:t>
              </a:r>
              <a:endParaRPr lang="zh-CN" altLang="en-US" sz="1800">
                <a:solidFill>
                  <a:srgbClr val="0000FF"/>
                </a:solidFill>
                <a:ea typeface="楷体_GB2312" charset="-122"/>
              </a:endParaRPr>
            </a:p>
          </p:txBody>
        </p:sp>
        <p:sp>
          <p:nvSpPr>
            <p:cNvPr id="15395" name="Text Box 37"/>
            <p:cNvSpPr txBox="1">
              <a:spLocks noChangeArrowheads="1"/>
            </p:cNvSpPr>
            <p:nvPr/>
          </p:nvSpPr>
          <p:spPr bwMode="auto">
            <a:xfrm>
              <a:off x="4194" y="7462"/>
              <a:ext cx="399" cy="2558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eaVert" lIns="36000" rIns="36000"/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900">
                  <a:solidFill>
                    <a:srgbClr val="0000FF"/>
                  </a:solidFill>
                  <a:latin typeface="Times New Roman" panose="02020603050405020304" pitchFamily="18" charset="0"/>
                  <a:ea typeface="楷体_GB2312" charset="-122"/>
                </a:rPr>
                <a:t>长江三峡投资发展有限责任公司</a:t>
              </a:r>
              <a:endParaRPr lang="zh-CN" altLang="en-US" sz="1800">
                <a:solidFill>
                  <a:srgbClr val="0000FF"/>
                </a:solidFill>
                <a:ea typeface="楷体_GB2312" charset="-122"/>
              </a:endParaRPr>
            </a:p>
          </p:txBody>
        </p:sp>
        <p:sp>
          <p:nvSpPr>
            <p:cNvPr id="15396" name="Text Box 38"/>
            <p:cNvSpPr txBox="1">
              <a:spLocks noChangeArrowheads="1"/>
            </p:cNvSpPr>
            <p:nvPr/>
          </p:nvSpPr>
          <p:spPr bwMode="auto">
            <a:xfrm>
              <a:off x="8184" y="7462"/>
              <a:ext cx="399" cy="2556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eaVert" lIns="36000" rIns="36000"/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900">
                  <a:solidFill>
                    <a:srgbClr val="0000FF"/>
                  </a:solidFill>
                  <a:latin typeface="Times New Roman" panose="02020603050405020304" pitchFamily="18" charset="0"/>
                  <a:ea typeface="楷体_GB2312" charset="-122"/>
                </a:rPr>
                <a:t>三峡财务有限责任公司</a:t>
              </a:r>
              <a:endParaRPr lang="zh-CN" altLang="en-US" sz="1800">
                <a:solidFill>
                  <a:srgbClr val="0000FF"/>
                </a:solidFill>
                <a:ea typeface="楷体_GB2312" charset="-122"/>
              </a:endParaRPr>
            </a:p>
          </p:txBody>
        </p:sp>
        <p:sp>
          <p:nvSpPr>
            <p:cNvPr id="15397" name="Text Box 39"/>
            <p:cNvSpPr txBox="1">
              <a:spLocks noChangeArrowheads="1"/>
            </p:cNvSpPr>
            <p:nvPr/>
          </p:nvSpPr>
          <p:spPr bwMode="auto">
            <a:xfrm>
              <a:off x="8684" y="7462"/>
              <a:ext cx="397" cy="2556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eaVert" lIns="36000" rIns="36000"/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900">
                  <a:solidFill>
                    <a:srgbClr val="0000FF"/>
                  </a:solidFill>
                  <a:latin typeface="Times New Roman" panose="02020603050405020304" pitchFamily="18" charset="0"/>
                  <a:ea typeface="楷体_GB2312" charset="-122"/>
                </a:rPr>
                <a:t>三峡国际招标有限责任公司</a:t>
              </a:r>
              <a:endParaRPr lang="zh-CN" altLang="en-US" sz="1800">
                <a:solidFill>
                  <a:srgbClr val="0000FF"/>
                </a:solidFill>
                <a:ea typeface="楷体_GB2312" charset="-122"/>
              </a:endParaRPr>
            </a:p>
          </p:txBody>
        </p:sp>
        <p:sp>
          <p:nvSpPr>
            <p:cNvPr id="15398" name="Text Box 40"/>
            <p:cNvSpPr txBox="1">
              <a:spLocks noChangeArrowheads="1"/>
            </p:cNvSpPr>
            <p:nvPr/>
          </p:nvSpPr>
          <p:spPr bwMode="auto">
            <a:xfrm>
              <a:off x="9183" y="7462"/>
              <a:ext cx="397" cy="2556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eaVert" lIns="36000" rIns="36000"/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900">
                  <a:solidFill>
                    <a:srgbClr val="0000FF"/>
                  </a:solidFill>
                  <a:latin typeface="Times New Roman" panose="02020603050405020304" pitchFamily="18" charset="0"/>
                  <a:ea typeface="楷体_GB2312" charset="-122"/>
                </a:rPr>
                <a:t>宜昌能达通用电器股份合作公司</a:t>
              </a:r>
              <a:endParaRPr lang="zh-CN" altLang="en-US" sz="1800">
                <a:solidFill>
                  <a:srgbClr val="0000FF"/>
                </a:solidFill>
                <a:ea typeface="楷体_GB2312" charset="-122"/>
              </a:endParaRPr>
            </a:p>
          </p:txBody>
        </p:sp>
        <p:sp>
          <p:nvSpPr>
            <p:cNvPr id="15399" name="Text Box 41"/>
            <p:cNvSpPr txBox="1">
              <a:spLocks noChangeArrowheads="1"/>
            </p:cNvSpPr>
            <p:nvPr/>
          </p:nvSpPr>
          <p:spPr bwMode="auto">
            <a:xfrm>
              <a:off x="9680" y="7462"/>
              <a:ext cx="400" cy="2556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eaVert" lIns="36000" rIns="36000"/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900">
                  <a:solidFill>
                    <a:srgbClr val="0000FF"/>
                  </a:solidFill>
                  <a:latin typeface="Times New Roman" panose="02020603050405020304" pitchFamily="18" charset="0"/>
                  <a:ea typeface="楷体_GB2312" charset="-122"/>
                </a:rPr>
                <a:t>三峡高科信息技术有限公司</a:t>
              </a:r>
              <a:endParaRPr lang="zh-CN" altLang="en-US" sz="1800">
                <a:solidFill>
                  <a:srgbClr val="0000FF"/>
                </a:solidFill>
                <a:ea typeface="楷体_GB2312" charset="-122"/>
              </a:endParaRPr>
            </a:p>
          </p:txBody>
        </p:sp>
        <p:sp>
          <p:nvSpPr>
            <p:cNvPr id="15400" name="Text Box 42"/>
            <p:cNvSpPr txBox="1">
              <a:spLocks noChangeArrowheads="1"/>
            </p:cNvSpPr>
            <p:nvPr/>
          </p:nvSpPr>
          <p:spPr bwMode="auto">
            <a:xfrm>
              <a:off x="3297" y="3634"/>
              <a:ext cx="396" cy="1418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eaVert" lIns="36000" rIns="36000"/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900">
                  <a:solidFill>
                    <a:srgbClr val="0000FF"/>
                  </a:solidFill>
                  <a:latin typeface="Times New Roman" panose="02020603050405020304" pitchFamily="18" charset="0"/>
                  <a:ea typeface="楷体_GB2312" charset="-122"/>
                </a:rPr>
                <a:t>总工程师</a:t>
              </a:r>
              <a:endParaRPr lang="zh-CN" altLang="en-US" sz="1800">
                <a:solidFill>
                  <a:srgbClr val="0000FF"/>
                </a:solidFill>
                <a:ea typeface="楷体_GB2312" charset="-122"/>
              </a:endParaRPr>
            </a:p>
          </p:txBody>
        </p:sp>
        <p:sp>
          <p:nvSpPr>
            <p:cNvPr id="15401" name="Text Box 43"/>
            <p:cNvSpPr txBox="1">
              <a:spLocks noChangeArrowheads="1"/>
            </p:cNvSpPr>
            <p:nvPr/>
          </p:nvSpPr>
          <p:spPr bwMode="auto">
            <a:xfrm>
              <a:off x="4194" y="3634"/>
              <a:ext cx="399" cy="1417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eaVert" lIns="36000" rIns="36000"/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900">
                  <a:solidFill>
                    <a:srgbClr val="0000FF"/>
                  </a:solidFill>
                  <a:latin typeface="Times New Roman" panose="02020603050405020304" pitchFamily="18" charset="0"/>
                  <a:ea typeface="楷体_GB2312" charset="-122"/>
                </a:rPr>
                <a:t>总会计师</a:t>
              </a:r>
              <a:endParaRPr lang="zh-CN" altLang="en-US" sz="1800">
                <a:solidFill>
                  <a:srgbClr val="0000FF"/>
                </a:solidFill>
                <a:ea typeface="楷体_GB2312" charset="-122"/>
              </a:endParaRPr>
            </a:p>
          </p:txBody>
        </p:sp>
        <p:sp>
          <p:nvSpPr>
            <p:cNvPr id="15402" name="Text Box 44"/>
            <p:cNvSpPr txBox="1">
              <a:spLocks noChangeArrowheads="1"/>
            </p:cNvSpPr>
            <p:nvPr/>
          </p:nvSpPr>
          <p:spPr bwMode="auto">
            <a:xfrm>
              <a:off x="5092" y="3634"/>
              <a:ext cx="401" cy="1418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eaVert" lIns="36000" rIns="36000"/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900">
                  <a:solidFill>
                    <a:srgbClr val="0000FF"/>
                  </a:solidFill>
                  <a:latin typeface="Times New Roman" panose="02020603050405020304" pitchFamily="18" charset="0"/>
                  <a:ea typeface="楷体_GB2312" charset="-122"/>
                </a:rPr>
                <a:t>总经济师</a:t>
              </a:r>
              <a:endParaRPr lang="zh-CN" altLang="en-US" sz="1800">
                <a:solidFill>
                  <a:srgbClr val="0000FF"/>
                </a:solidFill>
                <a:ea typeface="楷体_GB2312" charset="-122"/>
              </a:endParaRPr>
            </a:p>
          </p:txBody>
        </p:sp>
        <p:sp>
          <p:nvSpPr>
            <p:cNvPr id="15403" name="Text Box 45"/>
            <p:cNvSpPr txBox="1">
              <a:spLocks noChangeArrowheads="1"/>
            </p:cNvSpPr>
            <p:nvPr/>
          </p:nvSpPr>
          <p:spPr bwMode="auto">
            <a:xfrm>
              <a:off x="7087" y="2782"/>
              <a:ext cx="1373" cy="427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900">
                  <a:solidFill>
                    <a:srgbClr val="0000FF"/>
                  </a:solidFill>
                  <a:latin typeface="Times New Roman" panose="02020603050405020304" pitchFamily="18" charset="0"/>
                  <a:ea typeface="楷体_GB2312" charset="-122"/>
                </a:rPr>
                <a:t>总经理助理</a:t>
              </a:r>
              <a:endParaRPr lang="zh-CN" altLang="en-US" sz="1800">
                <a:solidFill>
                  <a:srgbClr val="0000FF"/>
                </a:solidFill>
                <a:ea typeface="楷体_GB2312" charset="-122"/>
              </a:endParaRPr>
            </a:p>
          </p:txBody>
        </p:sp>
        <p:sp>
          <p:nvSpPr>
            <p:cNvPr id="15404" name="Line 46"/>
            <p:cNvSpPr>
              <a:spLocks noChangeShapeType="1"/>
            </p:cNvSpPr>
            <p:nvPr/>
          </p:nvSpPr>
          <p:spPr bwMode="auto">
            <a:xfrm>
              <a:off x="5890" y="2641"/>
              <a:ext cx="1" cy="4538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05" name="Line 47"/>
            <p:cNvSpPr>
              <a:spLocks noChangeShapeType="1"/>
            </p:cNvSpPr>
            <p:nvPr/>
          </p:nvSpPr>
          <p:spPr bwMode="auto">
            <a:xfrm>
              <a:off x="4793" y="2924"/>
              <a:ext cx="2294" cy="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06" name="Line 48"/>
            <p:cNvSpPr>
              <a:spLocks noChangeShapeType="1"/>
            </p:cNvSpPr>
            <p:nvPr/>
          </p:nvSpPr>
          <p:spPr bwMode="auto">
            <a:xfrm>
              <a:off x="3496" y="3350"/>
              <a:ext cx="5387" cy="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07" name="Line 49"/>
            <p:cNvSpPr>
              <a:spLocks noChangeShapeType="1"/>
            </p:cNvSpPr>
            <p:nvPr/>
          </p:nvSpPr>
          <p:spPr bwMode="auto">
            <a:xfrm>
              <a:off x="3496" y="3350"/>
              <a:ext cx="1" cy="28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08" name="Line 50"/>
            <p:cNvSpPr>
              <a:spLocks noChangeShapeType="1"/>
            </p:cNvSpPr>
            <p:nvPr/>
          </p:nvSpPr>
          <p:spPr bwMode="auto">
            <a:xfrm>
              <a:off x="4394" y="3350"/>
              <a:ext cx="1" cy="28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09" name="Line 51"/>
            <p:cNvSpPr>
              <a:spLocks noChangeShapeType="1"/>
            </p:cNvSpPr>
            <p:nvPr/>
          </p:nvSpPr>
          <p:spPr bwMode="auto">
            <a:xfrm>
              <a:off x="5291" y="3350"/>
              <a:ext cx="2" cy="28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10" name="Line 52"/>
            <p:cNvSpPr>
              <a:spLocks noChangeShapeType="1"/>
            </p:cNvSpPr>
            <p:nvPr/>
          </p:nvSpPr>
          <p:spPr bwMode="auto">
            <a:xfrm>
              <a:off x="6489" y="3350"/>
              <a:ext cx="1" cy="28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11" name="Line 53"/>
            <p:cNvSpPr>
              <a:spLocks noChangeShapeType="1"/>
            </p:cNvSpPr>
            <p:nvPr/>
          </p:nvSpPr>
          <p:spPr bwMode="auto">
            <a:xfrm>
              <a:off x="7287" y="3350"/>
              <a:ext cx="1" cy="28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12" name="Line 54"/>
            <p:cNvSpPr>
              <a:spLocks noChangeShapeType="1"/>
            </p:cNvSpPr>
            <p:nvPr/>
          </p:nvSpPr>
          <p:spPr bwMode="auto">
            <a:xfrm>
              <a:off x="8085" y="3350"/>
              <a:ext cx="1" cy="28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13" name="Line 55"/>
            <p:cNvSpPr>
              <a:spLocks noChangeShapeType="1"/>
            </p:cNvSpPr>
            <p:nvPr/>
          </p:nvSpPr>
          <p:spPr bwMode="auto">
            <a:xfrm>
              <a:off x="8883" y="3350"/>
              <a:ext cx="0" cy="28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14" name="Line 56"/>
            <p:cNvSpPr>
              <a:spLocks noChangeShapeType="1"/>
            </p:cNvSpPr>
            <p:nvPr/>
          </p:nvSpPr>
          <p:spPr bwMode="auto">
            <a:xfrm>
              <a:off x="2499" y="5194"/>
              <a:ext cx="6783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15" name="Line 57"/>
            <p:cNvSpPr>
              <a:spLocks noChangeShapeType="1"/>
            </p:cNvSpPr>
            <p:nvPr/>
          </p:nvSpPr>
          <p:spPr bwMode="auto">
            <a:xfrm>
              <a:off x="2499" y="5194"/>
              <a:ext cx="0" cy="28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16" name="Line 58"/>
            <p:cNvSpPr>
              <a:spLocks noChangeShapeType="1"/>
            </p:cNvSpPr>
            <p:nvPr/>
          </p:nvSpPr>
          <p:spPr bwMode="auto">
            <a:xfrm>
              <a:off x="2997" y="5194"/>
              <a:ext cx="0" cy="28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17" name="Line 59"/>
            <p:cNvSpPr>
              <a:spLocks noChangeShapeType="1"/>
            </p:cNvSpPr>
            <p:nvPr/>
          </p:nvSpPr>
          <p:spPr bwMode="auto">
            <a:xfrm>
              <a:off x="3496" y="5194"/>
              <a:ext cx="0" cy="28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18" name="Line 60"/>
            <p:cNvSpPr>
              <a:spLocks noChangeShapeType="1"/>
            </p:cNvSpPr>
            <p:nvPr/>
          </p:nvSpPr>
          <p:spPr bwMode="auto">
            <a:xfrm>
              <a:off x="3994" y="5194"/>
              <a:ext cx="0" cy="28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19" name="Line 61"/>
            <p:cNvSpPr>
              <a:spLocks noChangeShapeType="1"/>
            </p:cNvSpPr>
            <p:nvPr/>
          </p:nvSpPr>
          <p:spPr bwMode="auto">
            <a:xfrm>
              <a:off x="4493" y="5194"/>
              <a:ext cx="0" cy="28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20" name="Line 62"/>
            <p:cNvSpPr>
              <a:spLocks noChangeShapeType="1"/>
            </p:cNvSpPr>
            <p:nvPr/>
          </p:nvSpPr>
          <p:spPr bwMode="auto">
            <a:xfrm>
              <a:off x="4992" y="5194"/>
              <a:ext cx="0" cy="28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21" name="Line 63"/>
            <p:cNvSpPr>
              <a:spLocks noChangeShapeType="1"/>
            </p:cNvSpPr>
            <p:nvPr/>
          </p:nvSpPr>
          <p:spPr bwMode="auto">
            <a:xfrm>
              <a:off x="5491" y="5194"/>
              <a:ext cx="0" cy="28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22" name="Line 64"/>
            <p:cNvSpPr>
              <a:spLocks noChangeShapeType="1"/>
            </p:cNvSpPr>
            <p:nvPr/>
          </p:nvSpPr>
          <p:spPr bwMode="auto">
            <a:xfrm>
              <a:off x="6289" y="5194"/>
              <a:ext cx="0" cy="28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23" name="Line 65"/>
            <p:cNvSpPr>
              <a:spLocks noChangeShapeType="1"/>
            </p:cNvSpPr>
            <p:nvPr/>
          </p:nvSpPr>
          <p:spPr bwMode="auto">
            <a:xfrm>
              <a:off x="6788" y="5194"/>
              <a:ext cx="0" cy="28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24" name="Line 66"/>
            <p:cNvSpPr>
              <a:spLocks noChangeShapeType="1"/>
            </p:cNvSpPr>
            <p:nvPr/>
          </p:nvSpPr>
          <p:spPr bwMode="auto">
            <a:xfrm>
              <a:off x="7287" y="5194"/>
              <a:ext cx="0" cy="28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25" name="Line 67"/>
            <p:cNvSpPr>
              <a:spLocks noChangeShapeType="1"/>
            </p:cNvSpPr>
            <p:nvPr/>
          </p:nvSpPr>
          <p:spPr bwMode="auto">
            <a:xfrm>
              <a:off x="7785" y="5194"/>
              <a:ext cx="0" cy="28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26" name="Line 68"/>
            <p:cNvSpPr>
              <a:spLocks noChangeShapeType="1"/>
            </p:cNvSpPr>
            <p:nvPr/>
          </p:nvSpPr>
          <p:spPr bwMode="auto">
            <a:xfrm>
              <a:off x="8284" y="5194"/>
              <a:ext cx="0" cy="28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27" name="Line 69"/>
            <p:cNvSpPr>
              <a:spLocks noChangeShapeType="1"/>
            </p:cNvSpPr>
            <p:nvPr/>
          </p:nvSpPr>
          <p:spPr bwMode="auto">
            <a:xfrm>
              <a:off x="8783" y="5194"/>
              <a:ext cx="0" cy="28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28" name="Line 70"/>
            <p:cNvSpPr>
              <a:spLocks noChangeShapeType="1"/>
            </p:cNvSpPr>
            <p:nvPr/>
          </p:nvSpPr>
          <p:spPr bwMode="auto">
            <a:xfrm>
              <a:off x="9282" y="5194"/>
              <a:ext cx="0" cy="28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29" name="Line 71"/>
            <p:cNvSpPr>
              <a:spLocks noChangeShapeType="1"/>
            </p:cNvSpPr>
            <p:nvPr/>
          </p:nvSpPr>
          <p:spPr bwMode="auto">
            <a:xfrm>
              <a:off x="2000" y="7179"/>
              <a:ext cx="7880" cy="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30" name="Line 72"/>
            <p:cNvSpPr>
              <a:spLocks noChangeShapeType="1"/>
            </p:cNvSpPr>
            <p:nvPr/>
          </p:nvSpPr>
          <p:spPr bwMode="auto">
            <a:xfrm>
              <a:off x="1999" y="7181"/>
              <a:ext cx="1" cy="28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31" name="Line 73"/>
            <p:cNvSpPr>
              <a:spLocks noChangeShapeType="1"/>
            </p:cNvSpPr>
            <p:nvPr/>
          </p:nvSpPr>
          <p:spPr bwMode="auto">
            <a:xfrm>
              <a:off x="2397" y="7181"/>
              <a:ext cx="2" cy="28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32" name="Line 74"/>
            <p:cNvSpPr>
              <a:spLocks noChangeShapeType="1"/>
            </p:cNvSpPr>
            <p:nvPr/>
          </p:nvSpPr>
          <p:spPr bwMode="auto">
            <a:xfrm>
              <a:off x="2797" y="7181"/>
              <a:ext cx="1" cy="28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33" name="Line 75"/>
            <p:cNvSpPr>
              <a:spLocks noChangeShapeType="1"/>
            </p:cNvSpPr>
            <p:nvPr/>
          </p:nvSpPr>
          <p:spPr bwMode="auto">
            <a:xfrm>
              <a:off x="3195" y="7181"/>
              <a:ext cx="2" cy="28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34" name="Line 76"/>
            <p:cNvSpPr>
              <a:spLocks noChangeShapeType="1"/>
            </p:cNvSpPr>
            <p:nvPr/>
          </p:nvSpPr>
          <p:spPr bwMode="auto">
            <a:xfrm>
              <a:off x="3895" y="7183"/>
              <a:ext cx="2" cy="27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35" name="Line 77"/>
            <p:cNvSpPr>
              <a:spLocks noChangeShapeType="1"/>
            </p:cNvSpPr>
            <p:nvPr/>
          </p:nvSpPr>
          <p:spPr bwMode="auto">
            <a:xfrm>
              <a:off x="4393" y="7183"/>
              <a:ext cx="2" cy="27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36" name="Line 78"/>
            <p:cNvSpPr>
              <a:spLocks noChangeShapeType="1"/>
            </p:cNvSpPr>
            <p:nvPr/>
          </p:nvSpPr>
          <p:spPr bwMode="auto">
            <a:xfrm>
              <a:off x="4893" y="7183"/>
              <a:ext cx="1" cy="27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37" name="Line 79"/>
            <p:cNvSpPr>
              <a:spLocks noChangeShapeType="1"/>
            </p:cNvSpPr>
            <p:nvPr/>
          </p:nvSpPr>
          <p:spPr bwMode="auto">
            <a:xfrm>
              <a:off x="5889" y="7181"/>
              <a:ext cx="1" cy="28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38" name="Line 80"/>
            <p:cNvSpPr>
              <a:spLocks noChangeShapeType="1"/>
            </p:cNvSpPr>
            <p:nvPr/>
          </p:nvSpPr>
          <p:spPr bwMode="auto">
            <a:xfrm>
              <a:off x="6387" y="7181"/>
              <a:ext cx="1" cy="28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39" name="Line 81"/>
            <p:cNvSpPr>
              <a:spLocks noChangeShapeType="1"/>
            </p:cNvSpPr>
            <p:nvPr/>
          </p:nvSpPr>
          <p:spPr bwMode="auto">
            <a:xfrm>
              <a:off x="6885" y="7181"/>
              <a:ext cx="2" cy="28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40" name="Line 82"/>
            <p:cNvSpPr>
              <a:spLocks noChangeShapeType="1"/>
            </p:cNvSpPr>
            <p:nvPr/>
          </p:nvSpPr>
          <p:spPr bwMode="auto">
            <a:xfrm>
              <a:off x="7384" y="7181"/>
              <a:ext cx="1" cy="28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41" name="Line 83"/>
            <p:cNvSpPr>
              <a:spLocks noChangeShapeType="1"/>
            </p:cNvSpPr>
            <p:nvPr/>
          </p:nvSpPr>
          <p:spPr bwMode="auto">
            <a:xfrm>
              <a:off x="7883" y="7181"/>
              <a:ext cx="3" cy="28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42" name="Line 84"/>
            <p:cNvSpPr>
              <a:spLocks noChangeShapeType="1"/>
            </p:cNvSpPr>
            <p:nvPr/>
          </p:nvSpPr>
          <p:spPr bwMode="auto">
            <a:xfrm>
              <a:off x="8383" y="7181"/>
              <a:ext cx="1" cy="28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43" name="Line 85"/>
            <p:cNvSpPr>
              <a:spLocks noChangeShapeType="1"/>
            </p:cNvSpPr>
            <p:nvPr/>
          </p:nvSpPr>
          <p:spPr bwMode="auto">
            <a:xfrm>
              <a:off x="8881" y="7181"/>
              <a:ext cx="1" cy="28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44" name="Line 86"/>
            <p:cNvSpPr>
              <a:spLocks noChangeShapeType="1"/>
            </p:cNvSpPr>
            <p:nvPr/>
          </p:nvSpPr>
          <p:spPr bwMode="auto">
            <a:xfrm>
              <a:off x="9380" y="7181"/>
              <a:ext cx="1" cy="28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45" name="Line 87"/>
            <p:cNvSpPr>
              <a:spLocks noChangeShapeType="1"/>
            </p:cNvSpPr>
            <p:nvPr/>
          </p:nvSpPr>
          <p:spPr bwMode="auto">
            <a:xfrm>
              <a:off x="9879" y="7181"/>
              <a:ext cx="1" cy="28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46" name="Text Box 88"/>
            <p:cNvSpPr txBox="1">
              <a:spLocks noChangeArrowheads="1"/>
            </p:cNvSpPr>
            <p:nvPr/>
          </p:nvSpPr>
          <p:spPr bwMode="auto">
            <a:xfrm>
              <a:off x="5192" y="7462"/>
              <a:ext cx="398" cy="2557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eaVert" lIns="36000" rIns="36000"/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900">
                  <a:solidFill>
                    <a:srgbClr val="0000FF"/>
                  </a:solidFill>
                  <a:latin typeface="Times New Roman" panose="02020603050405020304" pitchFamily="18" charset="0"/>
                  <a:ea typeface="楷体_GB2312" charset="-122"/>
                </a:rPr>
                <a:t>长江新能源开发有限公司</a:t>
              </a:r>
              <a:endParaRPr lang="zh-CN" altLang="en-US" sz="1800">
                <a:solidFill>
                  <a:srgbClr val="0000FF"/>
                </a:solidFill>
                <a:ea typeface="楷体_GB2312" charset="-122"/>
              </a:endParaRPr>
            </a:p>
          </p:txBody>
        </p:sp>
        <p:sp>
          <p:nvSpPr>
            <p:cNvPr id="15447" name="Line 89"/>
            <p:cNvSpPr>
              <a:spLocks noChangeShapeType="1"/>
            </p:cNvSpPr>
            <p:nvPr/>
          </p:nvSpPr>
          <p:spPr bwMode="auto">
            <a:xfrm>
              <a:off x="5392" y="7183"/>
              <a:ext cx="1" cy="27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86" name="Picture 4" descr="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387" name="Line 5"/>
          <p:cNvSpPr>
            <a:spLocks noChangeShapeType="1"/>
          </p:cNvSpPr>
          <p:nvPr/>
        </p:nvSpPr>
        <p:spPr bwMode="auto">
          <a:xfrm>
            <a:off x="6534150" y="2700338"/>
            <a:ext cx="192088" cy="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6388" name="Rectangle 6"/>
          <p:cNvSpPr>
            <a:spLocks noChangeArrowheads="1"/>
          </p:cNvSpPr>
          <p:nvPr/>
        </p:nvSpPr>
        <p:spPr bwMode="auto">
          <a:xfrm>
            <a:off x="723900" y="3332163"/>
            <a:ext cx="1346200" cy="228600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2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1" lang="zh-CN" altLang="en-US" sz="1400">
                <a:solidFill>
                  <a:srgbClr val="000066"/>
                </a:solidFill>
                <a:latin typeface="Times New Roman" panose="02020603050405020304" pitchFamily="18" charset="0"/>
                <a:ea typeface="楷体_GB2312" charset="-122"/>
              </a:rPr>
              <a:t>总经理工作部</a:t>
            </a:r>
          </a:p>
        </p:txBody>
      </p:sp>
      <p:sp>
        <p:nvSpPr>
          <p:cNvPr id="16389" name="Rectangle 7"/>
          <p:cNvSpPr>
            <a:spLocks noChangeArrowheads="1"/>
          </p:cNvSpPr>
          <p:nvPr/>
        </p:nvSpPr>
        <p:spPr bwMode="auto">
          <a:xfrm>
            <a:off x="723900" y="3624263"/>
            <a:ext cx="1346200" cy="228600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2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1" lang="zh-CN" altLang="en-US" sz="1400">
                <a:solidFill>
                  <a:srgbClr val="000066"/>
                </a:solidFill>
                <a:latin typeface="Times New Roman" panose="02020603050405020304" pitchFamily="18" charset="0"/>
                <a:ea typeface="楷体_GB2312" charset="-122"/>
              </a:rPr>
              <a:t>人力资源部</a:t>
            </a:r>
          </a:p>
        </p:txBody>
      </p:sp>
      <p:sp>
        <p:nvSpPr>
          <p:cNvPr id="16390" name="Rectangle 8"/>
          <p:cNvSpPr>
            <a:spLocks noChangeArrowheads="1"/>
          </p:cNvSpPr>
          <p:nvPr/>
        </p:nvSpPr>
        <p:spPr bwMode="auto">
          <a:xfrm>
            <a:off x="723900" y="3914775"/>
            <a:ext cx="1346200" cy="230188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2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1" lang="zh-CN" altLang="en-US" sz="1400">
                <a:solidFill>
                  <a:srgbClr val="000066"/>
                </a:solidFill>
                <a:latin typeface="Times New Roman" panose="02020603050405020304" pitchFamily="18" charset="0"/>
                <a:ea typeface="楷体_GB2312" charset="-122"/>
              </a:rPr>
              <a:t>综合计划部</a:t>
            </a:r>
          </a:p>
        </p:txBody>
      </p:sp>
      <p:sp>
        <p:nvSpPr>
          <p:cNvPr id="16391" name="Rectangle 9"/>
          <p:cNvSpPr>
            <a:spLocks noChangeArrowheads="1"/>
          </p:cNvSpPr>
          <p:nvPr/>
        </p:nvSpPr>
        <p:spPr bwMode="auto">
          <a:xfrm>
            <a:off x="723900" y="4206875"/>
            <a:ext cx="1346200" cy="230188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2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1" lang="zh-CN" altLang="en-US" sz="1400">
                <a:solidFill>
                  <a:srgbClr val="000066"/>
                </a:solidFill>
                <a:latin typeface="Times New Roman" panose="02020603050405020304" pitchFamily="18" charset="0"/>
                <a:ea typeface="楷体_GB2312" charset="-122"/>
              </a:rPr>
              <a:t>电力营销部</a:t>
            </a:r>
          </a:p>
        </p:txBody>
      </p:sp>
      <p:sp>
        <p:nvSpPr>
          <p:cNvPr id="16392" name="Rectangle 10"/>
          <p:cNvSpPr>
            <a:spLocks noChangeArrowheads="1"/>
          </p:cNvSpPr>
          <p:nvPr/>
        </p:nvSpPr>
        <p:spPr bwMode="auto">
          <a:xfrm>
            <a:off x="723900" y="4498975"/>
            <a:ext cx="1346200" cy="230188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2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1" lang="zh-CN" altLang="en-US" sz="1400">
                <a:solidFill>
                  <a:srgbClr val="000066"/>
                </a:solidFill>
                <a:latin typeface="Times New Roman" panose="02020603050405020304" pitchFamily="18" charset="0"/>
                <a:ea typeface="楷体_GB2312" charset="-122"/>
              </a:rPr>
              <a:t>规划发展部</a:t>
            </a:r>
          </a:p>
        </p:txBody>
      </p:sp>
      <p:sp>
        <p:nvSpPr>
          <p:cNvPr id="16393" name="Rectangle 11"/>
          <p:cNvSpPr>
            <a:spLocks noChangeArrowheads="1"/>
          </p:cNvSpPr>
          <p:nvPr/>
        </p:nvSpPr>
        <p:spPr bwMode="auto">
          <a:xfrm>
            <a:off x="723900" y="4791075"/>
            <a:ext cx="1346200" cy="228600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2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1" lang="zh-CN" altLang="en-US" sz="1400">
                <a:solidFill>
                  <a:srgbClr val="000066"/>
                </a:solidFill>
                <a:latin typeface="Times New Roman" panose="02020603050405020304" pitchFamily="18" charset="0"/>
                <a:ea typeface="楷体_GB2312" charset="-122"/>
              </a:rPr>
              <a:t>财务管理部</a:t>
            </a:r>
          </a:p>
        </p:txBody>
      </p:sp>
      <p:sp>
        <p:nvSpPr>
          <p:cNvPr id="16394" name="Rectangle 12"/>
          <p:cNvSpPr>
            <a:spLocks noChangeArrowheads="1"/>
          </p:cNvSpPr>
          <p:nvPr/>
        </p:nvSpPr>
        <p:spPr bwMode="auto">
          <a:xfrm>
            <a:off x="723900" y="5100638"/>
            <a:ext cx="1346200" cy="228600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2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1" lang="zh-CN" altLang="en-US" sz="1400">
                <a:solidFill>
                  <a:srgbClr val="000066"/>
                </a:solidFill>
                <a:latin typeface="Times New Roman" panose="02020603050405020304" pitchFamily="18" charset="0"/>
                <a:ea typeface="楷体_GB2312" charset="-122"/>
              </a:rPr>
              <a:t>生产管理部</a:t>
            </a:r>
          </a:p>
        </p:txBody>
      </p:sp>
      <p:sp>
        <p:nvSpPr>
          <p:cNvPr id="16395" name="Rectangle 13"/>
          <p:cNvSpPr>
            <a:spLocks noChangeArrowheads="1"/>
          </p:cNvSpPr>
          <p:nvPr/>
        </p:nvSpPr>
        <p:spPr bwMode="auto">
          <a:xfrm>
            <a:off x="723900" y="5788025"/>
            <a:ext cx="1346200" cy="230188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2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1" lang="zh-CN" altLang="en-US" sz="1400">
                <a:solidFill>
                  <a:srgbClr val="000066"/>
                </a:solidFill>
                <a:latin typeface="Times New Roman" panose="02020603050405020304" pitchFamily="18" charset="0"/>
                <a:ea typeface="楷体_GB2312" charset="-122"/>
              </a:rPr>
              <a:t>机电物资部</a:t>
            </a:r>
          </a:p>
        </p:txBody>
      </p:sp>
      <p:sp>
        <p:nvSpPr>
          <p:cNvPr id="16396" name="Rectangle 14"/>
          <p:cNvSpPr>
            <a:spLocks noChangeArrowheads="1"/>
          </p:cNvSpPr>
          <p:nvPr/>
        </p:nvSpPr>
        <p:spPr bwMode="auto">
          <a:xfrm>
            <a:off x="723900" y="5445125"/>
            <a:ext cx="1346200" cy="228600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2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1" lang="zh-CN" altLang="en-US" sz="1400">
                <a:solidFill>
                  <a:srgbClr val="000066"/>
                </a:solidFill>
                <a:latin typeface="Times New Roman" panose="02020603050405020304" pitchFamily="18" charset="0"/>
                <a:ea typeface="楷体_GB2312" charset="-122"/>
              </a:rPr>
              <a:t>信息管理部</a:t>
            </a:r>
          </a:p>
        </p:txBody>
      </p:sp>
      <p:sp>
        <p:nvSpPr>
          <p:cNvPr id="16397" name="Line 15"/>
          <p:cNvSpPr>
            <a:spLocks noChangeShapeType="1"/>
          </p:cNvSpPr>
          <p:nvPr/>
        </p:nvSpPr>
        <p:spPr bwMode="auto">
          <a:xfrm>
            <a:off x="539750" y="3044825"/>
            <a:ext cx="0" cy="327660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6398" name="Line 16"/>
          <p:cNvSpPr>
            <a:spLocks noChangeShapeType="1"/>
          </p:cNvSpPr>
          <p:nvPr/>
        </p:nvSpPr>
        <p:spPr bwMode="auto">
          <a:xfrm>
            <a:off x="539750" y="5942013"/>
            <a:ext cx="184150" cy="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6399" name="Line 17"/>
          <p:cNvSpPr>
            <a:spLocks noChangeShapeType="1"/>
          </p:cNvSpPr>
          <p:nvPr/>
        </p:nvSpPr>
        <p:spPr bwMode="auto">
          <a:xfrm>
            <a:off x="539750" y="5559425"/>
            <a:ext cx="184150" cy="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6400" name="Line 18"/>
          <p:cNvSpPr>
            <a:spLocks noChangeShapeType="1"/>
          </p:cNvSpPr>
          <p:nvPr/>
        </p:nvSpPr>
        <p:spPr bwMode="auto">
          <a:xfrm>
            <a:off x="539750" y="5214938"/>
            <a:ext cx="184150" cy="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6401" name="Line 19"/>
          <p:cNvSpPr>
            <a:spLocks noChangeShapeType="1"/>
          </p:cNvSpPr>
          <p:nvPr/>
        </p:nvSpPr>
        <p:spPr bwMode="auto">
          <a:xfrm>
            <a:off x="539750" y="4905375"/>
            <a:ext cx="184150" cy="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6402" name="Line 20"/>
          <p:cNvSpPr>
            <a:spLocks noChangeShapeType="1"/>
          </p:cNvSpPr>
          <p:nvPr/>
        </p:nvSpPr>
        <p:spPr bwMode="auto">
          <a:xfrm>
            <a:off x="539750" y="4613275"/>
            <a:ext cx="184150" cy="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6403" name="Line 21"/>
          <p:cNvSpPr>
            <a:spLocks noChangeShapeType="1"/>
          </p:cNvSpPr>
          <p:nvPr/>
        </p:nvSpPr>
        <p:spPr bwMode="auto">
          <a:xfrm>
            <a:off x="539750" y="4322763"/>
            <a:ext cx="184150" cy="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6404" name="Line 22"/>
          <p:cNvSpPr>
            <a:spLocks noChangeShapeType="1"/>
          </p:cNvSpPr>
          <p:nvPr/>
        </p:nvSpPr>
        <p:spPr bwMode="auto">
          <a:xfrm>
            <a:off x="539750" y="4030663"/>
            <a:ext cx="184150" cy="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6405" name="Line 23"/>
          <p:cNvSpPr>
            <a:spLocks noChangeShapeType="1"/>
          </p:cNvSpPr>
          <p:nvPr/>
        </p:nvSpPr>
        <p:spPr bwMode="auto">
          <a:xfrm>
            <a:off x="539750" y="3738563"/>
            <a:ext cx="184150" cy="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6406" name="Line 24"/>
          <p:cNvSpPr>
            <a:spLocks noChangeShapeType="1"/>
          </p:cNvSpPr>
          <p:nvPr/>
        </p:nvSpPr>
        <p:spPr bwMode="auto">
          <a:xfrm>
            <a:off x="539750" y="3446463"/>
            <a:ext cx="184150" cy="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6407" name="Line 25"/>
          <p:cNvSpPr>
            <a:spLocks noChangeShapeType="1"/>
          </p:cNvSpPr>
          <p:nvPr/>
        </p:nvSpPr>
        <p:spPr bwMode="auto">
          <a:xfrm flipH="1">
            <a:off x="2195513" y="3044825"/>
            <a:ext cx="20637" cy="1979613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6408" name="Rectangle 26"/>
          <p:cNvSpPr>
            <a:spLocks noChangeArrowheads="1"/>
          </p:cNvSpPr>
          <p:nvPr/>
        </p:nvSpPr>
        <p:spPr bwMode="auto">
          <a:xfrm>
            <a:off x="2414588" y="3332163"/>
            <a:ext cx="1684337" cy="344487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2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1" lang="zh-CN" altLang="en-US" sz="1400">
                <a:solidFill>
                  <a:srgbClr val="000066"/>
                </a:solidFill>
                <a:latin typeface="Times New Roman" panose="02020603050405020304" pitchFamily="18" charset="0"/>
                <a:ea typeface="楷体_GB2312" charset="-122"/>
              </a:rPr>
              <a:t>锦屏建设管理局</a:t>
            </a:r>
          </a:p>
        </p:txBody>
      </p:sp>
      <p:sp>
        <p:nvSpPr>
          <p:cNvPr id="16409" name="Rectangle 27"/>
          <p:cNvSpPr>
            <a:spLocks noChangeArrowheads="1"/>
          </p:cNvSpPr>
          <p:nvPr/>
        </p:nvSpPr>
        <p:spPr bwMode="auto">
          <a:xfrm>
            <a:off x="2414588" y="3790950"/>
            <a:ext cx="1684337" cy="344488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2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1" lang="zh-CN" altLang="en-US" sz="1400">
                <a:solidFill>
                  <a:srgbClr val="000066"/>
                </a:solidFill>
                <a:latin typeface="Times New Roman" panose="02020603050405020304" pitchFamily="18" charset="0"/>
                <a:ea typeface="楷体_GB2312" charset="-122"/>
              </a:rPr>
              <a:t>官地建设管理局</a:t>
            </a:r>
            <a:r>
              <a:rPr kumimoji="1" lang="zh-CN" altLang="en-US" sz="800">
                <a:solidFill>
                  <a:srgbClr val="000066"/>
                </a:solidFill>
                <a:latin typeface="Times New Roman" panose="02020603050405020304" pitchFamily="18" charset="0"/>
                <a:ea typeface="楷体_GB2312" charset="-122"/>
              </a:rPr>
              <a:t>（筹）</a:t>
            </a:r>
            <a:endParaRPr kumimoji="1" lang="zh-CN" altLang="en-US" sz="1400">
              <a:solidFill>
                <a:srgbClr val="000066"/>
              </a:solidFill>
              <a:latin typeface="Times New Roman" panose="02020603050405020304" pitchFamily="18" charset="0"/>
              <a:ea typeface="楷体_GB2312" charset="-122"/>
            </a:endParaRPr>
          </a:p>
        </p:txBody>
      </p:sp>
      <p:sp>
        <p:nvSpPr>
          <p:cNvPr id="16410" name="Rectangle 28"/>
          <p:cNvSpPr>
            <a:spLocks noChangeArrowheads="1"/>
          </p:cNvSpPr>
          <p:nvPr/>
        </p:nvSpPr>
        <p:spPr bwMode="auto">
          <a:xfrm>
            <a:off x="2425700" y="4306888"/>
            <a:ext cx="1684338" cy="344487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2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1" lang="zh-CN" altLang="en-US" sz="1400">
                <a:solidFill>
                  <a:srgbClr val="000066"/>
                </a:solidFill>
                <a:latin typeface="Times New Roman" panose="02020603050405020304" pitchFamily="18" charset="0"/>
                <a:ea typeface="楷体_GB2312" charset="-122"/>
              </a:rPr>
              <a:t>桐子林建设管理局</a:t>
            </a:r>
            <a:r>
              <a:rPr kumimoji="1" lang="zh-CN" altLang="en-US" sz="800">
                <a:solidFill>
                  <a:srgbClr val="000066"/>
                </a:solidFill>
                <a:latin typeface="Times New Roman" panose="02020603050405020304" pitchFamily="18" charset="0"/>
                <a:ea typeface="楷体_GB2312" charset="-122"/>
              </a:rPr>
              <a:t>（筹）</a:t>
            </a:r>
            <a:endParaRPr kumimoji="1" lang="zh-CN" altLang="en-US" sz="1400">
              <a:solidFill>
                <a:srgbClr val="000066"/>
              </a:solidFill>
              <a:latin typeface="Times New Roman" panose="02020603050405020304" pitchFamily="18" charset="0"/>
              <a:ea typeface="楷体_GB2312" charset="-122"/>
            </a:endParaRPr>
          </a:p>
        </p:txBody>
      </p:sp>
      <p:sp>
        <p:nvSpPr>
          <p:cNvPr id="16411" name="Line 29"/>
          <p:cNvSpPr>
            <a:spLocks noChangeShapeType="1"/>
          </p:cNvSpPr>
          <p:nvPr/>
        </p:nvSpPr>
        <p:spPr bwMode="auto">
          <a:xfrm>
            <a:off x="2216150" y="3503613"/>
            <a:ext cx="192088" cy="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6412" name="Line 30"/>
          <p:cNvSpPr>
            <a:spLocks noChangeShapeType="1"/>
          </p:cNvSpPr>
          <p:nvPr/>
        </p:nvSpPr>
        <p:spPr bwMode="auto">
          <a:xfrm>
            <a:off x="2216150" y="3962400"/>
            <a:ext cx="192088" cy="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6413" name="Line 31"/>
          <p:cNvSpPr>
            <a:spLocks noChangeShapeType="1"/>
          </p:cNvSpPr>
          <p:nvPr/>
        </p:nvSpPr>
        <p:spPr bwMode="auto">
          <a:xfrm>
            <a:off x="2216150" y="4479925"/>
            <a:ext cx="192088" cy="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6414" name="Line 32"/>
          <p:cNvSpPr>
            <a:spLocks noChangeShapeType="1"/>
          </p:cNvSpPr>
          <p:nvPr/>
        </p:nvSpPr>
        <p:spPr bwMode="auto">
          <a:xfrm flipV="1">
            <a:off x="539750" y="3044825"/>
            <a:ext cx="5537200" cy="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6415" name="Rectangle 33"/>
          <p:cNvSpPr>
            <a:spLocks noChangeArrowheads="1"/>
          </p:cNvSpPr>
          <p:nvPr/>
        </p:nvSpPr>
        <p:spPr bwMode="auto">
          <a:xfrm>
            <a:off x="4491038" y="3330575"/>
            <a:ext cx="1311275" cy="346075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2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1" lang="zh-CN" altLang="en-US" sz="1400">
                <a:solidFill>
                  <a:srgbClr val="000066"/>
                </a:solidFill>
                <a:latin typeface="Times New Roman" panose="02020603050405020304" pitchFamily="18" charset="0"/>
                <a:ea typeface="楷体_GB2312" charset="-122"/>
              </a:rPr>
              <a:t>二滩水力发电厂</a:t>
            </a:r>
          </a:p>
        </p:txBody>
      </p:sp>
      <p:sp>
        <p:nvSpPr>
          <p:cNvPr id="16416" name="Line 34"/>
          <p:cNvSpPr>
            <a:spLocks noChangeShapeType="1"/>
          </p:cNvSpPr>
          <p:nvPr/>
        </p:nvSpPr>
        <p:spPr bwMode="auto">
          <a:xfrm>
            <a:off x="4273550" y="3503613"/>
            <a:ext cx="192088" cy="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6417" name="Line 35"/>
          <p:cNvSpPr>
            <a:spLocks noChangeShapeType="1"/>
          </p:cNvSpPr>
          <p:nvPr/>
        </p:nvSpPr>
        <p:spPr bwMode="auto">
          <a:xfrm>
            <a:off x="4273550" y="3044825"/>
            <a:ext cx="0" cy="458788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16418" name="Group 36"/>
          <p:cNvGrpSpPr>
            <a:grpSpLocks/>
          </p:cNvGrpSpPr>
          <p:nvPr/>
        </p:nvGrpSpPr>
        <p:grpSpPr bwMode="auto">
          <a:xfrm>
            <a:off x="6296025" y="3330575"/>
            <a:ext cx="1092200" cy="688975"/>
            <a:chOff x="4080" y="1680"/>
            <a:chExt cx="864" cy="672"/>
          </a:xfrm>
        </p:grpSpPr>
        <p:sp>
          <p:nvSpPr>
            <p:cNvPr id="16452" name="Rectangle 37"/>
            <p:cNvSpPr>
              <a:spLocks noChangeArrowheads="1"/>
            </p:cNvSpPr>
            <p:nvPr/>
          </p:nvSpPr>
          <p:spPr bwMode="auto">
            <a:xfrm>
              <a:off x="4080" y="1680"/>
              <a:ext cx="864" cy="28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2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kumimoji="1" lang="zh-CN" altLang="en-US" sz="1400">
                  <a:solidFill>
                    <a:srgbClr val="000066"/>
                  </a:solidFill>
                  <a:latin typeface="Times New Roman" panose="02020603050405020304" pitchFamily="18" charset="0"/>
                  <a:ea typeface="楷体_GB2312" charset="-122"/>
                </a:rPr>
                <a:t>政治工作部</a:t>
              </a:r>
            </a:p>
          </p:txBody>
        </p:sp>
        <p:sp>
          <p:nvSpPr>
            <p:cNvPr id="16453" name="Rectangle 38"/>
            <p:cNvSpPr>
              <a:spLocks noChangeArrowheads="1"/>
            </p:cNvSpPr>
            <p:nvPr/>
          </p:nvSpPr>
          <p:spPr bwMode="auto">
            <a:xfrm>
              <a:off x="4080" y="2064"/>
              <a:ext cx="864" cy="28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2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kumimoji="1" lang="zh-CN" altLang="en-US" sz="1400">
                  <a:solidFill>
                    <a:srgbClr val="000066"/>
                  </a:solidFill>
                  <a:latin typeface="Times New Roman" panose="02020603050405020304" pitchFamily="18" charset="0"/>
                  <a:ea typeface="楷体_GB2312" charset="-122"/>
                </a:rPr>
                <a:t>工         会</a:t>
              </a:r>
            </a:p>
          </p:txBody>
        </p:sp>
      </p:grpSp>
      <p:sp>
        <p:nvSpPr>
          <p:cNvPr id="16419" name="Line 39"/>
          <p:cNvSpPr>
            <a:spLocks noChangeShapeType="1"/>
          </p:cNvSpPr>
          <p:nvPr/>
        </p:nvSpPr>
        <p:spPr bwMode="auto">
          <a:xfrm>
            <a:off x="7413625" y="3873500"/>
            <a:ext cx="193675" cy="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16420" name="Group 40"/>
          <p:cNvGrpSpPr>
            <a:grpSpLocks/>
          </p:cNvGrpSpPr>
          <p:nvPr/>
        </p:nvGrpSpPr>
        <p:grpSpPr bwMode="auto">
          <a:xfrm>
            <a:off x="7824788" y="3330575"/>
            <a:ext cx="1020762" cy="976313"/>
            <a:chOff x="4752" y="1680"/>
            <a:chExt cx="672" cy="816"/>
          </a:xfrm>
        </p:grpSpPr>
        <p:sp>
          <p:nvSpPr>
            <p:cNvPr id="16450" name="Rectangle 41"/>
            <p:cNvSpPr>
              <a:spLocks noChangeArrowheads="1"/>
            </p:cNvSpPr>
            <p:nvPr/>
          </p:nvSpPr>
          <p:spPr bwMode="auto">
            <a:xfrm>
              <a:off x="4752" y="1680"/>
              <a:ext cx="288" cy="816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2"/>
              </a:solidFill>
              <a:prstDash val="sysDot"/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kumimoji="1" lang="zh-CN" altLang="en-US" sz="1200">
                  <a:solidFill>
                    <a:srgbClr val="000066"/>
                  </a:solidFill>
                  <a:latin typeface="Times New Roman" panose="02020603050405020304" pitchFamily="18" charset="0"/>
                  <a:ea typeface="楷体_GB2312" charset="-122"/>
                </a:rPr>
                <a:t>党</a:t>
              </a:r>
            </a:p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kumimoji="1" lang="zh-CN" altLang="en-US" sz="1200">
                  <a:solidFill>
                    <a:srgbClr val="000066"/>
                  </a:solidFill>
                  <a:latin typeface="Times New Roman" panose="02020603050405020304" pitchFamily="18" charset="0"/>
                  <a:ea typeface="楷体_GB2312" charset="-122"/>
                </a:rPr>
                <a:t>委</a:t>
              </a:r>
            </a:p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kumimoji="1" lang="zh-CN" altLang="en-US" sz="1200">
                  <a:solidFill>
                    <a:srgbClr val="000066"/>
                  </a:solidFill>
                  <a:latin typeface="Times New Roman" panose="02020603050405020304" pitchFamily="18" charset="0"/>
                  <a:ea typeface="楷体_GB2312" charset="-122"/>
                </a:rPr>
                <a:t>办</a:t>
              </a:r>
            </a:p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kumimoji="1" lang="zh-CN" altLang="en-US" sz="1200">
                  <a:solidFill>
                    <a:srgbClr val="000066"/>
                  </a:solidFill>
                  <a:latin typeface="Times New Roman" panose="02020603050405020304" pitchFamily="18" charset="0"/>
                  <a:ea typeface="楷体_GB2312" charset="-122"/>
                </a:rPr>
                <a:t>公</a:t>
              </a:r>
            </a:p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kumimoji="1" lang="zh-CN" altLang="en-US" sz="1200">
                  <a:solidFill>
                    <a:srgbClr val="000066"/>
                  </a:solidFill>
                  <a:latin typeface="Times New Roman" panose="02020603050405020304" pitchFamily="18" charset="0"/>
                  <a:ea typeface="楷体_GB2312" charset="-122"/>
                </a:rPr>
                <a:t>室</a:t>
              </a:r>
            </a:p>
          </p:txBody>
        </p:sp>
        <p:sp>
          <p:nvSpPr>
            <p:cNvPr id="16451" name="Rectangle 42"/>
            <p:cNvSpPr>
              <a:spLocks noChangeArrowheads="1"/>
            </p:cNvSpPr>
            <p:nvPr/>
          </p:nvSpPr>
          <p:spPr bwMode="auto">
            <a:xfrm>
              <a:off x="5136" y="1680"/>
              <a:ext cx="288" cy="816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2"/>
              </a:solidFill>
              <a:prstDash val="sysDot"/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kumimoji="1" lang="zh-CN" altLang="en-US" sz="1200">
                  <a:solidFill>
                    <a:srgbClr val="000066"/>
                  </a:solidFill>
                  <a:latin typeface="Times New Roman" panose="02020603050405020304" pitchFamily="18" charset="0"/>
                  <a:ea typeface="楷体_GB2312" charset="-122"/>
                </a:rPr>
                <a:t>党</a:t>
              </a:r>
            </a:p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kumimoji="1" lang="zh-CN" altLang="en-US" sz="1200">
                  <a:solidFill>
                    <a:srgbClr val="000066"/>
                  </a:solidFill>
                  <a:latin typeface="Times New Roman" panose="02020603050405020304" pitchFamily="18" charset="0"/>
                  <a:ea typeface="楷体_GB2312" charset="-122"/>
                </a:rPr>
                <a:t>委</a:t>
              </a:r>
            </a:p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kumimoji="1" lang="zh-CN" altLang="en-US" sz="1200">
                  <a:solidFill>
                    <a:srgbClr val="000066"/>
                  </a:solidFill>
                  <a:latin typeface="Times New Roman" panose="02020603050405020304" pitchFamily="18" charset="0"/>
                  <a:ea typeface="楷体_GB2312" charset="-122"/>
                </a:rPr>
                <a:t>组</a:t>
              </a:r>
            </a:p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kumimoji="1" lang="zh-CN" altLang="en-US" sz="1200">
                  <a:solidFill>
                    <a:srgbClr val="000066"/>
                  </a:solidFill>
                  <a:latin typeface="Times New Roman" panose="02020603050405020304" pitchFamily="18" charset="0"/>
                  <a:ea typeface="楷体_GB2312" charset="-122"/>
                </a:rPr>
                <a:t>织</a:t>
              </a:r>
            </a:p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kumimoji="1" lang="zh-CN" altLang="en-US" sz="1200">
                  <a:solidFill>
                    <a:srgbClr val="000066"/>
                  </a:solidFill>
                  <a:latin typeface="Times New Roman" panose="02020603050405020304" pitchFamily="18" charset="0"/>
                  <a:ea typeface="楷体_GB2312" charset="-122"/>
                </a:rPr>
                <a:t>部</a:t>
              </a:r>
            </a:p>
          </p:txBody>
        </p:sp>
      </p:grpSp>
      <p:grpSp>
        <p:nvGrpSpPr>
          <p:cNvPr id="16421" name="Group 43"/>
          <p:cNvGrpSpPr>
            <a:grpSpLocks/>
          </p:cNvGrpSpPr>
          <p:nvPr/>
        </p:nvGrpSpPr>
        <p:grpSpPr bwMode="auto">
          <a:xfrm>
            <a:off x="6083300" y="4708525"/>
            <a:ext cx="2762250" cy="860425"/>
            <a:chOff x="3652" y="2832"/>
            <a:chExt cx="1820" cy="720"/>
          </a:xfrm>
        </p:grpSpPr>
        <p:sp>
          <p:nvSpPr>
            <p:cNvPr id="16446" name="Line 44"/>
            <p:cNvSpPr>
              <a:spLocks noChangeShapeType="1"/>
            </p:cNvSpPr>
            <p:nvPr/>
          </p:nvSpPr>
          <p:spPr bwMode="auto">
            <a:xfrm>
              <a:off x="3665" y="3408"/>
              <a:ext cx="127" cy="0"/>
            </a:xfrm>
            <a:prstGeom prst="line">
              <a:avLst/>
            </a:prstGeom>
            <a:noFill/>
            <a:ln w="9525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447" name="Rectangle 45"/>
            <p:cNvSpPr>
              <a:spLocks noChangeArrowheads="1"/>
            </p:cNvSpPr>
            <p:nvPr/>
          </p:nvSpPr>
          <p:spPr bwMode="auto">
            <a:xfrm>
              <a:off x="3792" y="2832"/>
              <a:ext cx="1680" cy="28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2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kumimoji="1" lang="zh-CN" altLang="en-US" sz="1400">
                  <a:solidFill>
                    <a:srgbClr val="000066"/>
                  </a:solidFill>
                  <a:latin typeface="Times New Roman" panose="02020603050405020304" pitchFamily="18" charset="0"/>
                  <a:ea typeface="楷体_GB2312" charset="-122"/>
                </a:rPr>
                <a:t>四川二滩建设咨询有限公司</a:t>
              </a:r>
            </a:p>
          </p:txBody>
        </p:sp>
        <p:sp>
          <p:nvSpPr>
            <p:cNvPr id="16448" name="Rectangle 46"/>
            <p:cNvSpPr>
              <a:spLocks noChangeArrowheads="1"/>
            </p:cNvSpPr>
            <p:nvPr/>
          </p:nvSpPr>
          <p:spPr bwMode="auto">
            <a:xfrm>
              <a:off x="3792" y="3264"/>
              <a:ext cx="1680" cy="28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2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kumimoji="1" lang="zh-CN" altLang="en-US" sz="1400">
                  <a:solidFill>
                    <a:srgbClr val="000066"/>
                  </a:solidFill>
                  <a:latin typeface="Times New Roman" panose="02020603050405020304" pitchFamily="18" charset="0"/>
                  <a:ea typeface="楷体_GB2312" charset="-122"/>
                </a:rPr>
                <a:t>二滩实业发展有限责任公司</a:t>
              </a:r>
            </a:p>
          </p:txBody>
        </p:sp>
        <p:sp>
          <p:nvSpPr>
            <p:cNvPr id="16449" name="Line 47"/>
            <p:cNvSpPr>
              <a:spLocks noChangeShapeType="1"/>
            </p:cNvSpPr>
            <p:nvPr/>
          </p:nvSpPr>
          <p:spPr bwMode="auto">
            <a:xfrm>
              <a:off x="3652" y="2976"/>
              <a:ext cx="127" cy="0"/>
            </a:xfrm>
            <a:prstGeom prst="line">
              <a:avLst/>
            </a:prstGeom>
            <a:noFill/>
            <a:ln w="9525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6422" name="Line 48"/>
          <p:cNvSpPr>
            <a:spLocks noChangeShapeType="1"/>
          </p:cNvSpPr>
          <p:nvPr/>
        </p:nvSpPr>
        <p:spPr bwMode="auto">
          <a:xfrm flipV="1">
            <a:off x="6070600" y="3044825"/>
            <a:ext cx="0" cy="2351088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6423" name="Rectangle 49"/>
          <p:cNvSpPr>
            <a:spLocks noChangeArrowheads="1"/>
          </p:cNvSpPr>
          <p:nvPr/>
        </p:nvSpPr>
        <p:spPr bwMode="auto">
          <a:xfrm>
            <a:off x="1268413" y="1438275"/>
            <a:ext cx="1603375" cy="344488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2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1" lang="zh-CN" altLang="en-US" sz="1800">
                <a:solidFill>
                  <a:srgbClr val="000066"/>
                </a:solidFill>
                <a:latin typeface="Times New Roman" panose="02020603050405020304" pitchFamily="18" charset="0"/>
                <a:ea typeface="楷体_GB2312" charset="-122"/>
              </a:rPr>
              <a:t>监    事   会</a:t>
            </a:r>
          </a:p>
        </p:txBody>
      </p:sp>
      <p:sp>
        <p:nvSpPr>
          <p:cNvPr id="16424" name="Rectangle 50"/>
          <p:cNvSpPr>
            <a:spLocks noChangeArrowheads="1"/>
          </p:cNvSpPr>
          <p:nvPr/>
        </p:nvSpPr>
        <p:spPr bwMode="auto">
          <a:xfrm>
            <a:off x="6149975" y="1897063"/>
            <a:ext cx="1165225" cy="401637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2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1" lang="zh-CN" altLang="en-US" sz="1200">
                <a:solidFill>
                  <a:srgbClr val="000066"/>
                </a:solidFill>
                <a:latin typeface="Times New Roman" panose="02020603050405020304" pitchFamily="18" charset="0"/>
                <a:ea typeface="楷体_GB2312" charset="-122"/>
              </a:rPr>
              <a:t>党委书记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1" lang="zh-CN" altLang="en-US" sz="1200">
                <a:solidFill>
                  <a:srgbClr val="000066"/>
                </a:solidFill>
                <a:latin typeface="Times New Roman" panose="02020603050405020304" pitchFamily="18" charset="0"/>
                <a:ea typeface="楷体_GB2312" charset="-122"/>
              </a:rPr>
              <a:t>（总经理兼）</a:t>
            </a:r>
          </a:p>
        </p:txBody>
      </p:sp>
      <p:sp>
        <p:nvSpPr>
          <p:cNvPr id="16425" name="Rectangle 51"/>
          <p:cNvSpPr>
            <a:spLocks noChangeArrowheads="1"/>
          </p:cNvSpPr>
          <p:nvPr/>
        </p:nvSpPr>
        <p:spPr bwMode="auto">
          <a:xfrm>
            <a:off x="6732588" y="2527300"/>
            <a:ext cx="1165225" cy="403225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2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1" lang="zh-CN" altLang="en-US" sz="1200">
                <a:solidFill>
                  <a:srgbClr val="000066"/>
                </a:solidFill>
                <a:latin typeface="Times New Roman" panose="02020603050405020304" pitchFamily="18" charset="0"/>
                <a:ea typeface="楷体_GB2312" charset="-122"/>
              </a:rPr>
              <a:t>党委副书记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1" lang="zh-CN" altLang="en-US" sz="1200">
                <a:solidFill>
                  <a:srgbClr val="000066"/>
                </a:solidFill>
                <a:latin typeface="Times New Roman" panose="02020603050405020304" pitchFamily="18" charset="0"/>
                <a:ea typeface="楷体_GB2312" charset="-122"/>
              </a:rPr>
              <a:t>（兼工会主席）</a:t>
            </a:r>
          </a:p>
        </p:txBody>
      </p:sp>
      <p:sp>
        <p:nvSpPr>
          <p:cNvPr id="16426" name="Rectangle 52"/>
          <p:cNvSpPr>
            <a:spLocks noChangeArrowheads="1"/>
          </p:cNvSpPr>
          <p:nvPr/>
        </p:nvSpPr>
        <p:spPr bwMode="auto">
          <a:xfrm>
            <a:off x="3454400" y="1954213"/>
            <a:ext cx="1601788" cy="344487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2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1" lang="zh-CN" altLang="en-US" sz="1800">
                <a:solidFill>
                  <a:srgbClr val="000066"/>
                </a:solidFill>
                <a:latin typeface="Times New Roman" panose="02020603050405020304" pitchFamily="18" charset="0"/>
                <a:ea typeface="楷体_GB2312" charset="-122"/>
              </a:rPr>
              <a:t>总    经   理</a:t>
            </a:r>
          </a:p>
        </p:txBody>
      </p:sp>
      <p:sp>
        <p:nvSpPr>
          <p:cNvPr id="16427" name="Rectangle 53"/>
          <p:cNvSpPr>
            <a:spLocks noChangeArrowheads="1"/>
          </p:cNvSpPr>
          <p:nvPr/>
        </p:nvSpPr>
        <p:spPr bwMode="auto">
          <a:xfrm>
            <a:off x="3454400" y="1438275"/>
            <a:ext cx="1601788" cy="344488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2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1" lang="zh-CN" altLang="en-US" sz="1800">
                <a:solidFill>
                  <a:srgbClr val="000066"/>
                </a:solidFill>
                <a:latin typeface="Times New Roman" panose="02020603050405020304" pitchFamily="18" charset="0"/>
                <a:ea typeface="楷体_GB2312" charset="-122"/>
              </a:rPr>
              <a:t>董   事   会</a:t>
            </a:r>
          </a:p>
        </p:txBody>
      </p:sp>
      <p:sp>
        <p:nvSpPr>
          <p:cNvPr id="16428" name="Line 54"/>
          <p:cNvSpPr>
            <a:spLocks noChangeShapeType="1"/>
          </p:cNvSpPr>
          <p:nvPr/>
        </p:nvSpPr>
        <p:spPr bwMode="auto">
          <a:xfrm>
            <a:off x="2871788" y="1611313"/>
            <a:ext cx="582612" cy="0"/>
          </a:xfrm>
          <a:prstGeom prst="line">
            <a:avLst/>
          </a:prstGeom>
          <a:noFill/>
          <a:ln w="9525">
            <a:solidFill>
              <a:schemeClr val="accent2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6429" name="Line 55"/>
          <p:cNvSpPr>
            <a:spLocks noChangeShapeType="1"/>
          </p:cNvSpPr>
          <p:nvPr/>
        </p:nvSpPr>
        <p:spPr bwMode="auto">
          <a:xfrm>
            <a:off x="4256088" y="1782763"/>
            <a:ext cx="0" cy="17145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6430" name="Rectangle 56"/>
          <p:cNvSpPr>
            <a:spLocks noChangeArrowheads="1"/>
          </p:cNvSpPr>
          <p:nvPr/>
        </p:nvSpPr>
        <p:spPr bwMode="auto">
          <a:xfrm>
            <a:off x="2139950" y="2584450"/>
            <a:ext cx="1374775" cy="346075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2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1" lang="zh-CN" altLang="en-US" sz="1800">
                <a:solidFill>
                  <a:srgbClr val="000066"/>
                </a:solidFill>
                <a:latin typeface="Times New Roman" panose="02020603050405020304" pitchFamily="18" charset="0"/>
                <a:ea typeface="楷体_GB2312" charset="-122"/>
              </a:rPr>
              <a:t>总经理助理</a:t>
            </a:r>
          </a:p>
        </p:txBody>
      </p:sp>
      <p:sp>
        <p:nvSpPr>
          <p:cNvPr id="16431" name="Rectangle 57"/>
          <p:cNvSpPr>
            <a:spLocks noChangeArrowheads="1"/>
          </p:cNvSpPr>
          <p:nvPr/>
        </p:nvSpPr>
        <p:spPr bwMode="auto">
          <a:xfrm>
            <a:off x="4838700" y="2414588"/>
            <a:ext cx="1165225" cy="342900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2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1" lang="zh-CN" altLang="en-US" sz="1800">
                <a:solidFill>
                  <a:srgbClr val="000066"/>
                </a:solidFill>
                <a:latin typeface="Times New Roman" panose="02020603050405020304" pitchFamily="18" charset="0"/>
                <a:ea typeface="楷体_GB2312" charset="-122"/>
              </a:rPr>
              <a:t>副总经理</a:t>
            </a:r>
          </a:p>
        </p:txBody>
      </p:sp>
      <p:sp>
        <p:nvSpPr>
          <p:cNvPr id="16432" name="Line 58"/>
          <p:cNvSpPr>
            <a:spLocks noChangeShapeType="1"/>
          </p:cNvSpPr>
          <p:nvPr/>
        </p:nvSpPr>
        <p:spPr bwMode="auto">
          <a:xfrm>
            <a:off x="4256088" y="2298700"/>
            <a:ext cx="0" cy="746125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6433" name="Line 59"/>
          <p:cNvSpPr>
            <a:spLocks noChangeShapeType="1"/>
          </p:cNvSpPr>
          <p:nvPr/>
        </p:nvSpPr>
        <p:spPr bwMode="auto">
          <a:xfrm>
            <a:off x="3552825" y="2743200"/>
            <a:ext cx="685800" cy="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6434" name="Line 60"/>
          <p:cNvSpPr>
            <a:spLocks noChangeShapeType="1"/>
          </p:cNvSpPr>
          <p:nvPr/>
        </p:nvSpPr>
        <p:spPr bwMode="auto">
          <a:xfrm>
            <a:off x="4256088" y="2584450"/>
            <a:ext cx="582612" cy="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6435" name="Line 61"/>
          <p:cNvSpPr>
            <a:spLocks noChangeShapeType="1"/>
          </p:cNvSpPr>
          <p:nvPr/>
        </p:nvSpPr>
        <p:spPr bwMode="auto">
          <a:xfrm>
            <a:off x="5056188" y="2127250"/>
            <a:ext cx="1093787" cy="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6436" name="Line 62"/>
          <p:cNvSpPr>
            <a:spLocks noChangeShapeType="1"/>
          </p:cNvSpPr>
          <p:nvPr/>
        </p:nvSpPr>
        <p:spPr bwMode="auto">
          <a:xfrm>
            <a:off x="6513513" y="2298700"/>
            <a:ext cx="0" cy="1031875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6437" name="Line 63"/>
          <p:cNvSpPr>
            <a:spLocks noChangeShapeType="1"/>
          </p:cNvSpPr>
          <p:nvPr/>
        </p:nvSpPr>
        <p:spPr bwMode="auto">
          <a:xfrm>
            <a:off x="7315200" y="2127250"/>
            <a:ext cx="1311275" cy="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6438" name="Line 64"/>
          <p:cNvSpPr>
            <a:spLocks noChangeShapeType="1"/>
          </p:cNvSpPr>
          <p:nvPr/>
        </p:nvSpPr>
        <p:spPr bwMode="auto">
          <a:xfrm flipV="1">
            <a:off x="8043863" y="2127250"/>
            <a:ext cx="0" cy="1203325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6439" name="Line 65"/>
          <p:cNvSpPr>
            <a:spLocks noChangeShapeType="1"/>
          </p:cNvSpPr>
          <p:nvPr/>
        </p:nvSpPr>
        <p:spPr bwMode="auto">
          <a:xfrm flipV="1">
            <a:off x="8626475" y="2127250"/>
            <a:ext cx="0" cy="1203325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6440" name="Line 66"/>
          <p:cNvSpPr>
            <a:spLocks noChangeShapeType="1"/>
          </p:cNvSpPr>
          <p:nvPr/>
        </p:nvSpPr>
        <p:spPr bwMode="auto">
          <a:xfrm flipV="1">
            <a:off x="7607300" y="2944813"/>
            <a:ext cx="0" cy="919162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6441" name="Rectangle 67"/>
          <p:cNvSpPr>
            <a:spLocks noChangeArrowheads="1"/>
          </p:cNvSpPr>
          <p:nvPr/>
        </p:nvSpPr>
        <p:spPr bwMode="auto">
          <a:xfrm>
            <a:off x="731838" y="6151563"/>
            <a:ext cx="1346200" cy="230187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2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1" lang="zh-CN" altLang="en-US" sz="1400">
                <a:solidFill>
                  <a:srgbClr val="000066"/>
                </a:solidFill>
                <a:latin typeface="Times New Roman" panose="02020603050405020304" pitchFamily="18" charset="0"/>
                <a:ea typeface="楷体_GB2312" charset="-122"/>
              </a:rPr>
              <a:t>北京办事处</a:t>
            </a:r>
          </a:p>
        </p:txBody>
      </p:sp>
      <p:sp>
        <p:nvSpPr>
          <p:cNvPr id="16442" name="Line 68"/>
          <p:cNvSpPr>
            <a:spLocks noChangeShapeType="1"/>
          </p:cNvSpPr>
          <p:nvPr/>
        </p:nvSpPr>
        <p:spPr bwMode="auto">
          <a:xfrm>
            <a:off x="547688" y="6324600"/>
            <a:ext cx="184150" cy="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6443" name="Rectangle 69"/>
          <p:cNvSpPr>
            <a:spLocks noChangeArrowheads="1"/>
          </p:cNvSpPr>
          <p:nvPr/>
        </p:nvSpPr>
        <p:spPr bwMode="auto">
          <a:xfrm>
            <a:off x="2405063" y="4851400"/>
            <a:ext cx="1684337" cy="344488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2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1" lang="zh-CN" altLang="en-US" sz="1400">
                <a:solidFill>
                  <a:srgbClr val="000066"/>
                </a:solidFill>
                <a:latin typeface="Times New Roman" panose="02020603050405020304" pitchFamily="18" charset="0"/>
                <a:ea typeface="楷体_GB2312" charset="-122"/>
              </a:rPr>
              <a:t>两河口建设管理局</a:t>
            </a:r>
            <a:r>
              <a:rPr kumimoji="1" lang="zh-CN" altLang="en-US" sz="800">
                <a:solidFill>
                  <a:srgbClr val="000066"/>
                </a:solidFill>
                <a:latin typeface="Times New Roman" panose="02020603050405020304" pitchFamily="18" charset="0"/>
                <a:ea typeface="楷体_GB2312" charset="-122"/>
              </a:rPr>
              <a:t>（筹）</a:t>
            </a:r>
            <a:endParaRPr kumimoji="1" lang="zh-CN" altLang="en-US" sz="1400">
              <a:solidFill>
                <a:srgbClr val="000066"/>
              </a:solidFill>
              <a:latin typeface="Times New Roman" panose="02020603050405020304" pitchFamily="18" charset="0"/>
              <a:ea typeface="楷体_GB2312" charset="-122"/>
            </a:endParaRPr>
          </a:p>
        </p:txBody>
      </p:sp>
      <p:sp>
        <p:nvSpPr>
          <p:cNvPr id="16444" name="Line 70"/>
          <p:cNvSpPr>
            <a:spLocks noChangeShapeType="1"/>
          </p:cNvSpPr>
          <p:nvPr/>
        </p:nvSpPr>
        <p:spPr bwMode="auto">
          <a:xfrm>
            <a:off x="2195513" y="5024438"/>
            <a:ext cx="192087" cy="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6445" name="Text Box 71"/>
          <p:cNvSpPr txBox="1">
            <a:spLocks noChangeArrowheads="1"/>
          </p:cNvSpPr>
          <p:nvPr/>
        </p:nvSpPr>
        <p:spPr bwMode="auto">
          <a:xfrm>
            <a:off x="395288" y="333375"/>
            <a:ext cx="3398837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>
                <a:solidFill>
                  <a:srgbClr val="FF9900"/>
                </a:solidFill>
                <a:ea typeface="楷体_GB2312" charset="-122"/>
              </a:rPr>
              <a:t>二滩公司组织结构图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endParaRPr lang="zh-CN" altLang="en-US" smtClean="0"/>
          </a:p>
        </p:txBody>
      </p:sp>
      <p:sp>
        <p:nvSpPr>
          <p:cNvPr id="1741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endParaRPr lang="zh-CN" altLang="en-US" smtClean="0"/>
          </a:p>
        </p:txBody>
      </p:sp>
      <p:pic>
        <p:nvPicPr>
          <p:cNvPr id="17412" name="Picture 4" descr="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7413" name="Text Box 5"/>
          <p:cNvSpPr txBox="1">
            <a:spLocks noChangeArrowheads="1"/>
          </p:cNvSpPr>
          <p:nvPr/>
        </p:nvSpPr>
        <p:spPr bwMode="auto">
          <a:xfrm>
            <a:off x="152400" y="304800"/>
            <a:ext cx="6145213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en-US" altLang="zh-CN" sz="3600">
                <a:solidFill>
                  <a:srgbClr val="FF99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楷体_GB2312" charset="-122"/>
              </a:rPr>
              <a:t>——</a:t>
            </a:r>
            <a:r>
              <a:rPr kumimoji="1" lang="zh-CN" altLang="en-US" sz="3600">
                <a:solidFill>
                  <a:srgbClr val="FF99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楷体_GB2312" charset="-122"/>
              </a:rPr>
              <a:t>锦屏建设管理局组织结构</a:t>
            </a:r>
          </a:p>
        </p:txBody>
      </p:sp>
      <p:grpSp>
        <p:nvGrpSpPr>
          <p:cNvPr id="17414" name="Group 6"/>
          <p:cNvGrpSpPr>
            <a:grpSpLocks/>
          </p:cNvGrpSpPr>
          <p:nvPr/>
        </p:nvGrpSpPr>
        <p:grpSpPr bwMode="auto">
          <a:xfrm>
            <a:off x="722313" y="2060575"/>
            <a:ext cx="7594600" cy="3409950"/>
            <a:chOff x="455" y="1644"/>
            <a:chExt cx="4784" cy="2148"/>
          </a:xfrm>
        </p:grpSpPr>
        <p:sp>
          <p:nvSpPr>
            <p:cNvPr id="17415" name="Line 7"/>
            <p:cNvSpPr>
              <a:spLocks noChangeShapeType="1"/>
            </p:cNvSpPr>
            <p:nvPr/>
          </p:nvSpPr>
          <p:spPr bwMode="auto">
            <a:xfrm>
              <a:off x="2904" y="1910"/>
              <a:ext cx="6" cy="1022"/>
            </a:xfrm>
            <a:prstGeom prst="line">
              <a:avLst/>
            </a:prstGeom>
            <a:noFill/>
            <a:ln w="9525">
              <a:solidFill>
                <a:srgbClr val="0000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416" name="Rectangle 8"/>
            <p:cNvSpPr>
              <a:spLocks noChangeArrowheads="1"/>
            </p:cNvSpPr>
            <p:nvPr/>
          </p:nvSpPr>
          <p:spPr bwMode="auto">
            <a:xfrm>
              <a:off x="1220" y="2069"/>
              <a:ext cx="916" cy="266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000066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kumimoji="1" lang="zh-CN" altLang="en-US" sz="1600">
                  <a:solidFill>
                    <a:srgbClr val="000066"/>
                  </a:solidFill>
                  <a:latin typeface="Times New Roman" panose="02020603050405020304" pitchFamily="18" charset="0"/>
                  <a:ea typeface="楷体_GB2312" charset="-122"/>
                </a:rPr>
                <a:t>总工程师</a:t>
              </a:r>
            </a:p>
          </p:txBody>
        </p:sp>
        <p:sp>
          <p:nvSpPr>
            <p:cNvPr id="17417" name="Line 9"/>
            <p:cNvSpPr>
              <a:spLocks noChangeShapeType="1"/>
            </p:cNvSpPr>
            <p:nvPr/>
          </p:nvSpPr>
          <p:spPr bwMode="auto">
            <a:xfrm flipV="1">
              <a:off x="630" y="2898"/>
              <a:ext cx="4443" cy="0"/>
            </a:xfrm>
            <a:prstGeom prst="line">
              <a:avLst/>
            </a:prstGeom>
            <a:noFill/>
            <a:ln w="9525">
              <a:solidFill>
                <a:srgbClr val="0000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418" name="Line 10"/>
            <p:cNvSpPr>
              <a:spLocks noChangeShapeType="1"/>
            </p:cNvSpPr>
            <p:nvPr/>
          </p:nvSpPr>
          <p:spPr bwMode="auto">
            <a:xfrm>
              <a:off x="626" y="2904"/>
              <a:ext cx="0" cy="202"/>
            </a:xfrm>
            <a:prstGeom prst="line">
              <a:avLst/>
            </a:prstGeom>
            <a:noFill/>
            <a:ln w="9525">
              <a:solidFill>
                <a:srgbClr val="0000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419" name="Rectangle 11"/>
            <p:cNvSpPr>
              <a:spLocks noChangeArrowheads="1"/>
            </p:cNvSpPr>
            <p:nvPr/>
          </p:nvSpPr>
          <p:spPr bwMode="auto">
            <a:xfrm>
              <a:off x="3657" y="1933"/>
              <a:ext cx="915" cy="264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000066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kumimoji="1" lang="zh-CN" altLang="en-US" sz="1600">
                  <a:solidFill>
                    <a:srgbClr val="000066"/>
                  </a:solidFill>
                  <a:latin typeface="Times New Roman" panose="02020603050405020304" pitchFamily="18" charset="0"/>
                  <a:ea typeface="楷体_GB2312" charset="-122"/>
                </a:rPr>
                <a:t>副局长</a:t>
              </a:r>
            </a:p>
          </p:txBody>
        </p:sp>
        <p:sp>
          <p:nvSpPr>
            <p:cNvPr id="17420" name="Rectangle 12"/>
            <p:cNvSpPr>
              <a:spLocks noChangeArrowheads="1"/>
            </p:cNvSpPr>
            <p:nvPr/>
          </p:nvSpPr>
          <p:spPr bwMode="auto">
            <a:xfrm>
              <a:off x="3665" y="2341"/>
              <a:ext cx="915" cy="263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000066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kumimoji="1" lang="zh-CN" altLang="en-US" sz="1600">
                  <a:solidFill>
                    <a:srgbClr val="000066"/>
                  </a:solidFill>
                  <a:latin typeface="Times New Roman" panose="02020603050405020304" pitchFamily="18" charset="0"/>
                  <a:ea typeface="楷体_GB2312" charset="-122"/>
                </a:rPr>
                <a:t>总会计师</a:t>
              </a:r>
            </a:p>
          </p:txBody>
        </p:sp>
        <p:sp>
          <p:nvSpPr>
            <p:cNvPr id="17421" name="Line 13"/>
            <p:cNvSpPr>
              <a:spLocks noChangeShapeType="1"/>
            </p:cNvSpPr>
            <p:nvPr/>
          </p:nvSpPr>
          <p:spPr bwMode="auto">
            <a:xfrm>
              <a:off x="1144" y="2904"/>
              <a:ext cx="0" cy="199"/>
            </a:xfrm>
            <a:prstGeom prst="line">
              <a:avLst/>
            </a:prstGeom>
            <a:noFill/>
            <a:ln w="9525">
              <a:solidFill>
                <a:srgbClr val="0000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422" name="Line 14"/>
            <p:cNvSpPr>
              <a:spLocks noChangeShapeType="1"/>
            </p:cNvSpPr>
            <p:nvPr/>
          </p:nvSpPr>
          <p:spPr bwMode="auto">
            <a:xfrm>
              <a:off x="2409" y="2904"/>
              <a:ext cx="0" cy="202"/>
            </a:xfrm>
            <a:prstGeom prst="line">
              <a:avLst/>
            </a:prstGeom>
            <a:noFill/>
            <a:ln w="9525">
              <a:solidFill>
                <a:srgbClr val="0000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423" name="Line 15"/>
            <p:cNvSpPr>
              <a:spLocks noChangeShapeType="1"/>
            </p:cNvSpPr>
            <p:nvPr/>
          </p:nvSpPr>
          <p:spPr bwMode="auto">
            <a:xfrm>
              <a:off x="2912" y="2904"/>
              <a:ext cx="0" cy="199"/>
            </a:xfrm>
            <a:prstGeom prst="line">
              <a:avLst/>
            </a:prstGeom>
            <a:noFill/>
            <a:ln w="9525">
              <a:solidFill>
                <a:srgbClr val="0000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424" name="Line 16"/>
            <p:cNvSpPr>
              <a:spLocks noChangeShapeType="1"/>
            </p:cNvSpPr>
            <p:nvPr/>
          </p:nvSpPr>
          <p:spPr bwMode="auto">
            <a:xfrm>
              <a:off x="3426" y="2904"/>
              <a:ext cx="0" cy="202"/>
            </a:xfrm>
            <a:prstGeom prst="line">
              <a:avLst/>
            </a:prstGeom>
            <a:noFill/>
            <a:ln w="9525">
              <a:solidFill>
                <a:srgbClr val="0000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425" name="Line 17"/>
            <p:cNvSpPr>
              <a:spLocks noChangeShapeType="1"/>
            </p:cNvSpPr>
            <p:nvPr/>
          </p:nvSpPr>
          <p:spPr bwMode="auto">
            <a:xfrm>
              <a:off x="5077" y="2904"/>
              <a:ext cx="0" cy="199"/>
            </a:xfrm>
            <a:prstGeom prst="line">
              <a:avLst/>
            </a:prstGeom>
            <a:noFill/>
            <a:ln w="9525">
              <a:solidFill>
                <a:srgbClr val="0000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426" name="Line 18"/>
            <p:cNvSpPr>
              <a:spLocks noChangeShapeType="1"/>
            </p:cNvSpPr>
            <p:nvPr/>
          </p:nvSpPr>
          <p:spPr bwMode="auto">
            <a:xfrm>
              <a:off x="4516" y="2904"/>
              <a:ext cx="0" cy="202"/>
            </a:xfrm>
            <a:prstGeom prst="line">
              <a:avLst/>
            </a:prstGeom>
            <a:noFill/>
            <a:ln w="9525">
              <a:solidFill>
                <a:srgbClr val="0000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427" name="Rectangle 19"/>
            <p:cNvSpPr>
              <a:spLocks noChangeArrowheads="1"/>
            </p:cNvSpPr>
            <p:nvPr/>
          </p:nvSpPr>
          <p:spPr bwMode="auto">
            <a:xfrm>
              <a:off x="455" y="3109"/>
              <a:ext cx="396" cy="683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000066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kumimoji="1" lang="zh-CN" altLang="en-US" sz="1600">
                  <a:solidFill>
                    <a:srgbClr val="000066"/>
                  </a:solidFill>
                  <a:latin typeface="Times New Roman" panose="02020603050405020304" pitchFamily="18" charset="0"/>
                  <a:ea typeface="楷体_GB2312" charset="-122"/>
                </a:rPr>
                <a:t>办公</a:t>
              </a:r>
            </a:p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kumimoji="1" lang="zh-CN" altLang="en-US" sz="1600">
                  <a:solidFill>
                    <a:srgbClr val="000066"/>
                  </a:solidFill>
                  <a:latin typeface="Times New Roman" panose="02020603050405020304" pitchFamily="18" charset="0"/>
                  <a:ea typeface="楷体_GB2312" charset="-122"/>
                </a:rPr>
                <a:t>室</a:t>
              </a:r>
            </a:p>
          </p:txBody>
        </p:sp>
        <p:sp>
          <p:nvSpPr>
            <p:cNvPr id="17428" name="Rectangle 20"/>
            <p:cNvSpPr>
              <a:spLocks noChangeArrowheads="1"/>
            </p:cNvSpPr>
            <p:nvPr/>
          </p:nvSpPr>
          <p:spPr bwMode="auto">
            <a:xfrm>
              <a:off x="975" y="3108"/>
              <a:ext cx="475" cy="684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000066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kumimoji="1" lang="zh-CN" altLang="en-US" sz="1600">
                  <a:solidFill>
                    <a:srgbClr val="000066"/>
                  </a:solidFill>
                  <a:latin typeface="Times New Roman" panose="02020603050405020304" pitchFamily="18" charset="0"/>
                  <a:ea typeface="楷体_GB2312" charset="-122"/>
                </a:rPr>
                <a:t>计划</a:t>
              </a:r>
            </a:p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kumimoji="1" lang="zh-CN" altLang="en-US" sz="1600">
                  <a:solidFill>
                    <a:srgbClr val="000066"/>
                  </a:solidFill>
                  <a:latin typeface="Times New Roman" panose="02020603050405020304" pitchFamily="18" charset="0"/>
                  <a:ea typeface="楷体_GB2312" charset="-122"/>
                </a:rPr>
                <a:t>合同部</a:t>
              </a:r>
            </a:p>
          </p:txBody>
        </p:sp>
        <p:sp>
          <p:nvSpPr>
            <p:cNvPr id="17429" name="Rectangle 21"/>
            <p:cNvSpPr>
              <a:spLocks noChangeArrowheads="1"/>
            </p:cNvSpPr>
            <p:nvPr/>
          </p:nvSpPr>
          <p:spPr bwMode="auto">
            <a:xfrm>
              <a:off x="2215" y="3109"/>
              <a:ext cx="393" cy="683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000066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kumimoji="1" lang="zh-CN" altLang="en-US" sz="1600">
                  <a:solidFill>
                    <a:srgbClr val="000066"/>
                  </a:solidFill>
                  <a:latin typeface="Times New Roman" panose="02020603050405020304" pitchFamily="18" charset="0"/>
                  <a:ea typeface="楷体_GB2312" charset="-122"/>
                </a:rPr>
                <a:t>技术</a:t>
              </a:r>
            </a:p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kumimoji="1" lang="zh-CN" altLang="en-US" sz="1600">
                  <a:solidFill>
                    <a:srgbClr val="000066"/>
                  </a:solidFill>
                  <a:latin typeface="Times New Roman" panose="02020603050405020304" pitchFamily="18" charset="0"/>
                  <a:ea typeface="楷体_GB2312" charset="-122"/>
                </a:rPr>
                <a:t>二部</a:t>
              </a:r>
            </a:p>
          </p:txBody>
        </p:sp>
        <p:sp>
          <p:nvSpPr>
            <p:cNvPr id="17430" name="Rectangle 22"/>
            <p:cNvSpPr>
              <a:spLocks noChangeArrowheads="1"/>
            </p:cNvSpPr>
            <p:nvPr/>
          </p:nvSpPr>
          <p:spPr bwMode="auto">
            <a:xfrm>
              <a:off x="2735" y="3108"/>
              <a:ext cx="394" cy="684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000066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kumimoji="1" lang="zh-CN" altLang="en-US" sz="1600">
                  <a:solidFill>
                    <a:srgbClr val="000066"/>
                  </a:solidFill>
                  <a:latin typeface="Times New Roman" panose="02020603050405020304" pitchFamily="18" charset="0"/>
                  <a:ea typeface="楷体_GB2312" charset="-122"/>
                </a:rPr>
                <a:t>工程</a:t>
              </a:r>
            </a:p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kumimoji="1" lang="zh-CN" altLang="en-US" sz="1600">
                  <a:solidFill>
                    <a:srgbClr val="000066"/>
                  </a:solidFill>
                  <a:latin typeface="Times New Roman" panose="02020603050405020304" pitchFamily="18" charset="0"/>
                  <a:ea typeface="楷体_GB2312" charset="-122"/>
                </a:rPr>
                <a:t>一部</a:t>
              </a:r>
            </a:p>
          </p:txBody>
        </p:sp>
        <p:sp>
          <p:nvSpPr>
            <p:cNvPr id="17431" name="Rectangle 23"/>
            <p:cNvSpPr>
              <a:spLocks noChangeArrowheads="1"/>
            </p:cNvSpPr>
            <p:nvPr/>
          </p:nvSpPr>
          <p:spPr bwMode="auto">
            <a:xfrm>
              <a:off x="3258" y="3109"/>
              <a:ext cx="393" cy="683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000066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kumimoji="1" lang="zh-CN" altLang="en-US" sz="1600">
                  <a:solidFill>
                    <a:srgbClr val="000066"/>
                  </a:solidFill>
                  <a:latin typeface="Times New Roman" panose="02020603050405020304" pitchFamily="18" charset="0"/>
                  <a:ea typeface="楷体_GB2312" charset="-122"/>
                </a:rPr>
                <a:t>工程</a:t>
              </a:r>
            </a:p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kumimoji="1" lang="zh-CN" altLang="en-US" sz="1600">
                  <a:solidFill>
                    <a:srgbClr val="000066"/>
                  </a:solidFill>
                  <a:latin typeface="Times New Roman" panose="02020603050405020304" pitchFamily="18" charset="0"/>
                  <a:ea typeface="楷体_GB2312" charset="-122"/>
                </a:rPr>
                <a:t>二部</a:t>
              </a:r>
            </a:p>
          </p:txBody>
        </p:sp>
        <p:sp>
          <p:nvSpPr>
            <p:cNvPr id="17432" name="Rectangle 24"/>
            <p:cNvSpPr>
              <a:spLocks noChangeArrowheads="1"/>
            </p:cNvSpPr>
            <p:nvPr/>
          </p:nvSpPr>
          <p:spPr bwMode="auto">
            <a:xfrm>
              <a:off x="4903" y="3108"/>
              <a:ext cx="336" cy="684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000066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kumimoji="1" lang="zh-CN" altLang="en-US" sz="1600">
                  <a:solidFill>
                    <a:srgbClr val="000066"/>
                  </a:solidFill>
                  <a:latin typeface="Times New Roman" panose="02020603050405020304" pitchFamily="18" charset="0"/>
                  <a:ea typeface="楷体_GB2312" charset="-122"/>
                </a:rPr>
                <a:t>综合</a:t>
              </a:r>
            </a:p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kumimoji="1" lang="zh-CN" altLang="en-US" sz="1600">
                  <a:solidFill>
                    <a:srgbClr val="000066"/>
                  </a:solidFill>
                  <a:latin typeface="Times New Roman" panose="02020603050405020304" pitchFamily="18" charset="0"/>
                  <a:ea typeface="楷体_GB2312" charset="-122"/>
                </a:rPr>
                <a:t>管理</a:t>
              </a:r>
            </a:p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kumimoji="1" lang="zh-CN" altLang="en-US" sz="1600">
                  <a:solidFill>
                    <a:srgbClr val="000066"/>
                  </a:solidFill>
                  <a:latin typeface="Times New Roman" panose="02020603050405020304" pitchFamily="18" charset="0"/>
                  <a:ea typeface="楷体_GB2312" charset="-122"/>
                </a:rPr>
                <a:t>部</a:t>
              </a:r>
            </a:p>
          </p:txBody>
        </p:sp>
        <p:sp>
          <p:nvSpPr>
            <p:cNvPr id="17433" name="Rectangle 25"/>
            <p:cNvSpPr>
              <a:spLocks noChangeArrowheads="1"/>
            </p:cNvSpPr>
            <p:nvPr/>
          </p:nvSpPr>
          <p:spPr bwMode="auto">
            <a:xfrm>
              <a:off x="4346" y="3109"/>
              <a:ext cx="394" cy="683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000066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kumimoji="1" lang="zh-CN" altLang="en-US" sz="1600">
                  <a:solidFill>
                    <a:srgbClr val="000066"/>
                  </a:solidFill>
                  <a:latin typeface="Times New Roman" panose="02020603050405020304" pitchFamily="18" charset="0"/>
                  <a:ea typeface="楷体_GB2312" charset="-122"/>
                </a:rPr>
                <a:t>机电</a:t>
              </a:r>
            </a:p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kumimoji="1" lang="zh-CN" altLang="en-US" sz="1600">
                  <a:solidFill>
                    <a:srgbClr val="000066"/>
                  </a:solidFill>
                  <a:latin typeface="Times New Roman" panose="02020603050405020304" pitchFamily="18" charset="0"/>
                  <a:ea typeface="楷体_GB2312" charset="-122"/>
                </a:rPr>
                <a:t>物资</a:t>
              </a:r>
            </a:p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kumimoji="1" lang="zh-CN" altLang="en-US" sz="1600">
                  <a:solidFill>
                    <a:srgbClr val="000066"/>
                  </a:solidFill>
                  <a:latin typeface="Times New Roman" panose="02020603050405020304" pitchFamily="18" charset="0"/>
                  <a:ea typeface="楷体_GB2312" charset="-122"/>
                </a:rPr>
                <a:t>部</a:t>
              </a:r>
            </a:p>
          </p:txBody>
        </p:sp>
        <p:sp>
          <p:nvSpPr>
            <p:cNvPr id="17434" name="Line 26"/>
            <p:cNvSpPr>
              <a:spLocks noChangeShapeType="1"/>
            </p:cNvSpPr>
            <p:nvPr/>
          </p:nvSpPr>
          <p:spPr bwMode="auto">
            <a:xfrm>
              <a:off x="2918" y="2085"/>
              <a:ext cx="739" cy="0"/>
            </a:xfrm>
            <a:prstGeom prst="line">
              <a:avLst/>
            </a:prstGeom>
            <a:noFill/>
            <a:ln w="9525">
              <a:solidFill>
                <a:srgbClr val="0000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435" name="Line 27"/>
            <p:cNvSpPr>
              <a:spLocks noChangeShapeType="1"/>
            </p:cNvSpPr>
            <p:nvPr/>
          </p:nvSpPr>
          <p:spPr bwMode="auto">
            <a:xfrm>
              <a:off x="2918" y="2455"/>
              <a:ext cx="739" cy="0"/>
            </a:xfrm>
            <a:prstGeom prst="line">
              <a:avLst/>
            </a:prstGeom>
            <a:noFill/>
            <a:ln w="9525">
              <a:solidFill>
                <a:srgbClr val="0000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436" name="Line 28"/>
            <p:cNvSpPr>
              <a:spLocks noChangeShapeType="1"/>
            </p:cNvSpPr>
            <p:nvPr/>
          </p:nvSpPr>
          <p:spPr bwMode="auto">
            <a:xfrm>
              <a:off x="2161" y="2223"/>
              <a:ext cx="739" cy="0"/>
            </a:xfrm>
            <a:prstGeom prst="line">
              <a:avLst/>
            </a:prstGeom>
            <a:noFill/>
            <a:ln w="9525">
              <a:solidFill>
                <a:srgbClr val="0000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437" name="Rectangle 29"/>
            <p:cNvSpPr>
              <a:spLocks noChangeArrowheads="1"/>
            </p:cNvSpPr>
            <p:nvPr/>
          </p:nvSpPr>
          <p:spPr bwMode="auto">
            <a:xfrm>
              <a:off x="2213" y="1644"/>
              <a:ext cx="1371" cy="266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000066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kumimoji="1" lang="zh-CN" altLang="en-US" sz="1600">
                  <a:solidFill>
                    <a:srgbClr val="000066"/>
                  </a:solidFill>
                  <a:latin typeface="Times New Roman" panose="02020603050405020304" pitchFamily="18" charset="0"/>
                  <a:ea typeface="楷体_GB2312" charset="-122"/>
                </a:rPr>
                <a:t>局长</a:t>
              </a:r>
            </a:p>
          </p:txBody>
        </p:sp>
        <p:sp>
          <p:nvSpPr>
            <p:cNvPr id="17438" name="Line 30"/>
            <p:cNvSpPr>
              <a:spLocks noChangeShapeType="1"/>
            </p:cNvSpPr>
            <p:nvPr/>
          </p:nvSpPr>
          <p:spPr bwMode="auto">
            <a:xfrm>
              <a:off x="1819" y="2902"/>
              <a:ext cx="0" cy="202"/>
            </a:xfrm>
            <a:prstGeom prst="line">
              <a:avLst/>
            </a:prstGeom>
            <a:noFill/>
            <a:ln w="9525">
              <a:solidFill>
                <a:srgbClr val="0000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439" name="Rectangle 31"/>
            <p:cNvSpPr>
              <a:spLocks noChangeArrowheads="1"/>
            </p:cNvSpPr>
            <p:nvPr/>
          </p:nvSpPr>
          <p:spPr bwMode="auto">
            <a:xfrm>
              <a:off x="1625" y="3107"/>
              <a:ext cx="393" cy="683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000066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kumimoji="1" lang="zh-CN" altLang="en-US" sz="1600">
                  <a:solidFill>
                    <a:srgbClr val="000066"/>
                  </a:solidFill>
                  <a:latin typeface="Times New Roman" panose="02020603050405020304" pitchFamily="18" charset="0"/>
                  <a:ea typeface="楷体_GB2312" charset="-122"/>
                </a:rPr>
                <a:t>技术</a:t>
              </a:r>
            </a:p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kumimoji="1" lang="zh-CN" altLang="en-US" sz="1600">
                  <a:solidFill>
                    <a:srgbClr val="000066"/>
                  </a:solidFill>
                  <a:latin typeface="Times New Roman" panose="02020603050405020304" pitchFamily="18" charset="0"/>
                  <a:ea typeface="楷体_GB2312" charset="-122"/>
                </a:rPr>
                <a:t>一部</a:t>
              </a:r>
            </a:p>
          </p:txBody>
        </p:sp>
        <p:sp>
          <p:nvSpPr>
            <p:cNvPr id="17440" name="Line 32"/>
            <p:cNvSpPr>
              <a:spLocks noChangeShapeType="1"/>
            </p:cNvSpPr>
            <p:nvPr/>
          </p:nvSpPr>
          <p:spPr bwMode="auto">
            <a:xfrm>
              <a:off x="3971" y="2899"/>
              <a:ext cx="0" cy="202"/>
            </a:xfrm>
            <a:prstGeom prst="line">
              <a:avLst/>
            </a:prstGeom>
            <a:noFill/>
            <a:ln w="9525">
              <a:solidFill>
                <a:srgbClr val="0000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441" name="Rectangle 33"/>
            <p:cNvSpPr>
              <a:spLocks noChangeArrowheads="1"/>
            </p:cNvSpPr>
            <p:nvPr/>
          </p:nvSpPr>
          <p:spPr bwMode="auto">
            <a:xfrm>
              <a:off x="3801" y="3104"/>
              <a:ext cx="394" cy="683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000066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kumimoji="1" lang="zh-CN" altLang="en-US" sz="1600">
                  <a:solidFill>
                    <a:srgbClr val="000066"/>
                  </a:solidFill>
                  <a:latin typeface="Times New Roman" panose="02020603050405020304" pitchFamily="18" charset="0"/>
                  <a:ea typeface="楷体_GB2312" charset="-122"/>
                </a:rPr>
                <a:t>财务</a:t>
              </a:r>
            </a:p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kumimoji="1" lang="zh-CN" altLang="en-US" sz="1600">
                  <a:solidFill>
                    <a:srgbClr val="000066"/>
                  </a:solidFill>
                  <a:latin typeface="Times New Roman" panose="02020603050405020304" pitchFamily="18" charset="0"/>
                  <a:ea typeface="楷体_GB2312" charset="-122"/>
                </a:rPr>
                <a:t>部</a:t>
              </a:r>
            </a:p>
          </p:txBody>
        </p:sp>
        <p:sp>
          <p:nvSpPr>
            <p:cNvPr id="17442" name="Rectangle 34"/>
            <p:cNvSpPr>
              <a:spLocks noChangeArrowheads="1"/>
            </p:cNvSpPr>
            <p:nvPr/>
          </p:nvSpPr>
          <p:spPr bwMode="auto">
            <a:xfrm>
              <a:off x="1229" y="2529"/>
              <a:ext cx="916" cy="266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000066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kumimoji="1" lang="zh-CN" altLang="en-US" sz="1600">
                  <a:solidFill>
                    <a:srgbClr val="000066"/>
                  </a:solidFill>
                  <a:latin typeface="Times New Roman" panose="02020603050405020304" pitchFamily="18" charset="0"/>
                  <a:ea typeface="楷体_GB2312" charset="-122"/>
                </a:rPr>
                <a:t>局长助理</a:t>
              </a:r>
            </a:p>
          </p:txBody>
        </p:sp>
        <p:sp>
          <p:nvSpPr>
            <p:cNvPr id="17443" name="Line 35"/>
            <p:cNvSpPr>
              <a:spLocks noChangeShapeType="1"/>
            </p:cNvSpPr>
            <p:nvPr/>
          </p:nvSpPr>
          <p:spPr bwMode="auto">
            <a:xfrm>
              <a:off x="2170" y="2683"/>
              <a:ext cx="739" cy="0"/>
            </a:xfrm>
            <a:prstGeom prst="line">
              <a:avLst/>
            </a:prstGeom>
            <a:noFill/>
            <a:ln w="9525">
              <a:solidFill>
                <a:srgbClr val="0000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</p:spTree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endParaRPr lang="zh-CN" altLang="en-US" smtClean="0"/>
          </a:p>
        </p:txBody>
      </p:sp>
      <p:sp>
        <p:nvSpPr>
          <p:cNvPr id="1843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endParaRPr lang="zh-CN" altLang="en-US" smtClean="0"/>
          </a:p>
        </p:txBody>
      </p:sp>
      <p:pic>
        <p:nvPicPr>
          <p:cNvPr id="18436" name="Picture 4" descr="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8437" name="Text Box 5"/>
          <p:cNvSpPr txBox="1">
            <a:spLocks noChangeArrowheads="1"/>
          </p:cNvSpPr>
          <p:nvPr/>
        </p:nvSpPr>
        <p:spPr bwMode="auto">
          <a:xfrm>
            <a:off x="304800" y="381000"/>
            <a:ext cx="4824413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en-US" altLang="zh-CN" sz="2800">
                <a:solidFill>
                  <a:srgbClr val="FF99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楷体_GB2312" charset="-122"/>
              </a:rPr>
              <a:t>——</a:t>
            </a:r>
            <a:r>
              <a:rPr kumimoji="1" lang="zh-CN" altLang="en-US" sz="2800">
                <a:solidFill>
                  <a:srgbClr val="FF99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楷体_GB2312" charset="-122"/>
              </a:rPr>
              <a:t>二滩水力发电厂组织结构</a:t>
            </a:r>
          </a:p>
        </p:txBody>
      </p:sp>
      <p:grpSp>
        <p:nvGrpSpPr>
          <p:cNvPr id="18438" name="Group 6"/>
          <p:cNvGrpSpPr>
            <a:grpSpLocks/>
          </p:cNvGrpSpPr>
          <p:nvPr/>
        </p:nvGrpSpPr>
        <p:grpSpPr bwMode="auto">
          <a:xfrm>
            <a:off x="838200" y="1752600"/>
            <a:ext cx="7426325" cy="4437063"/>
            <a:chOff x="698" y="1104"/>
            <a:chExt cx="4678" cy="2795"/>
          </a:xfrm>
        </p:grpSpPr>
        <p:sp>
          <p:nvSpPr>
            <p:cNvPr id="18439" name="Line 7"/>
            <p:cNvSpPr>
              <a:spLocks noChangeShapeType="1"/>
            </p:cNvSpPr>
            <p:nvPr/>
          </p:nvSpPr>
          <p:spPr bwMode="auto">
            <a:xfrm>
              <a:off x="3024" y="1296"/>
              <a:ext cx="0" cy="1008"/>
            </a:xfrm>
            <a:prstGeom prst="line">
              <a:avLst/>
            </a:prstGeom>
            <a:noFill/>
            <a:ln w="9525">
              <a:solidFill>
                <a:srgbClr val="0000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40" name="Rectangle 8"/>
            <p:cNvSpPr>
              <a:spLocks noChangeArrowheads="1"/>
            </p:cNvSpPr>
            <p:nvPr/>
          </p:nvSpPr>
          <p:spPr bwMode="auto">
            <a:xfrm>
              <a:off x="2390" y="1104"/>
              <a:ext cx="1245" cy="26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000066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zh-CN" altLang="en-US" sz="18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rPr>
                <a:t>厂长</a:t>
              </a:r>
            </a:p>
          </p:txBody>
        </p:sp>
        <p:sp>
          <p:nvSpPr>
            <p:cNvPr id="18441" name="Line 9"/>
            <p:cNvSpPr>
              <a:spLocks noChangeShapeType="1"/>
            </p:cNvSpPr>
            <p:nvPr/>
          </p:nvSpPr>
          <p:spPr bwMode="auto">
            <a:xfrm>
              <a:off x="5235" y="3149"/>
              <a:ext cx="0" cy="198"/>
            </a:xfrm>
            <a:prstGeom prst="line">
              <a:avLst/>
            </a:prstGeom>
            <a:noFill/>
            <a:ln w="9525">
              <a:solidFill>
                <a:srgbClr val="0000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42" name="Rectangle 10"/>
            <p:cNvSpPr>
              <a:spLocks noChangeArrowheads="1"/>
            </p:cNvSpPr>
            <p:nvPr/>
          </p:nvSpPr>
          <p:spPr bwMode="auto">
            <a:xfrm>
              <a:off x="5096" y="3288"/>
              <a:ext cx="280" cy="60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000066"/>
              </a:solidFill>
              <a:miter lim="800000"/>
              <a:headEnd/>
              <a:tailEnd/>
            </a:ln>
          </p:spPr>
          <p:txBody>
            <a:bodyPr vert="eaVert"/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zh-CN" altLang="en-US" sz="18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rPr>
                <a:t>机械班</a:t>
              </a:r>
            </a:p>
          </p:txBody>
        </p:sp>
        <p:sp>
          <p:nvSpPr>
            <p:cNvPr id="18443" name="Line 11"/>
            <p:cNvSpPr>
              <a:spLocks noChangeShapeType="1"/>
            </p:cNvSpPr>
            <p:nvPr/>
          </p:nvSpPr>
          <p:spPr bwMode="auto">
            <a:xfrm>
              <a:off x="1171" y="3157"/>
              <a:ext cx="0" cy="198"/>
            </a:xfrm>
            <a:prstGeom prst="line">
              <a:avLst/>
            </a:prstGeom>
            <a:noFill/>
            <a:ln w="9525">
              <a:solidFill>
                <a:srgbClr val="0000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44" name="Line 12"/>
            <p:cNvSpPr>
              <a:spLocks noChangeShapeType="1"/>
            </p:cNvSpPr>
            <p:nvPr/>
          </p:nvSpPr>
          <p:spPr bwMode="auto">
            <a:xfrm>
              <a:off x="4554" y="2898"/>
              <a:ext cx="0" cy="720"/>
            </a:xfrm>
            <a:prstGeom prst="line">
              <a:avLst/>
            </a:prstGeom>
            <a:noFill/>
            <a:ln w="9525">
              <a:solidFill>
                <a:srgbClr val="0000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45" name="Line 13"/>
            <p:cNvSpPr>
              <a:spLocks noChangeShapeType="1"/>
            </p:cNvSpPr>
            <p:nvPr/>
          </p:nvSpPr>
          <p:spPr bwMode="auto">
            <a:xfrm>
              <a:off x="1021" y="2308"/>
              <a:ext cx="0" cy="240"/>
            </a:xfrm>
            <a:prstGeom prst="line">
              <a:avLst/>
            </a:prstGeom>
            <a:noFill/>
            <a:ln w="9525">
              <a:solidFill>
                <a:srgbClr val="0000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46" name="Line 14"/>
            <p:cNvSpPr>
              <a:spLocks noChangeShapeType="1"/>
            </p:cNvSpPr>
            <p:nvPr/>
          </p:nvSpPr>
          <p:spPr bwMode="auto">
            <a:xfrm>
              <a:off x="2166" y="2898"/>
              <a:ext cx="0" cy="593"/>
            </a:xfrm>
            <a:prstGeom prst="line">
              <a:avLst/>
            </a:prstGeom>
            <a:noFill/>
            <a:ln w="9525">
              <a:solidFill>
                <a:srgbClr val="0000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47" name="Line 15"/>
            <p:cNvSpPr>
              <a:spLocks noChangeShapeType="1"/>
            </p:cNvSpPr>
            <p:nvPr/>
          </p:nvSpPr>
          <p:spPr bwMode="auto">
            <a:xfrm>
              <a:off x="3190" y="3155"/>
              <a:ext cx="0" cy="198"/>
            </a:xfrm>
            <a:prstGeom prst="line">
              <a:avLst/>
            </a:prstGeom>
            <a:noFill/>
            <a:ln w="9525">
              <a:solidFill>
                <a:srgbClr val="0000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48" name="Line 16"/>
            <p:cNvSpPr>
              <a:spLocks noChangeShapeType="1"/>
            </p:cNvSpPr>
            <p:nvPr/>
          </p:nvSpPr>
          <p:spPr bwMode="auto">
            <a:xfrm>
              <a:off x="3532" y="3152"/>
              <a:ext cx="0" cy="198"/>
            </a:xfrm>
            <a:prstGeom prst="line">
              <a:avLst/>
            </a:prstGeom>
            <a:noFill/>
            <a:ln w="9525">
              <a:solidFill>
                <a:srgbClr val="0000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49" name="Line 17"/>
            <p:cNvSpPr>
              <a:spLocks noChangeShapeType="1"/>
            </p:cNvSpPr>
            <p:nvPr/>
          </p:nvSpPr>
          <p:spPr bwMode="auto">
            <a:xfrm>
              <a:off x="3197" y="3152"/>
              <a:ext cx="336" cy="0"/>
            </a:xfrm>
            <a:prstGeom prst="line">
              <a:avLst/>
            </a:prstGeom>
            <a:noFill/>
            <a:ln w="9525">
              <a:solidFill>
                <a:srgbClr val="0000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50" name="Line 18"/>
            <p:cNvSpPr>
              <a:spLocks noChangeShapeType="1"/>
            </p:cNvSpPr>
            <p:nvPr/>
          </p:nvSpPr>
          <p:spPr bwMode="auto">
            <a:xfrm>
              <a:off x="3375" y="2712"/>
              <a:ext cx="0" cy="439"/>
            </a:xfrm>
            <a:prstGeom prst="line">
              <a:avLst/>
            </a:prstGeom>
            <a:noFill/>
            <a:ln w="9525">
              <a:solidFill>
                <a:srgbClr val="0000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51" name="Line 19"/>
            <p:cNvSpPr>
              <a:spLocks noChangeShapeType="1"/>
            </p:cNvSpPr>
            <p:nvPr/>
          </p:nvSpPr>
          <p:spPr bwMode="auto">
            <a:xfrm>
              <a:off x="2512" y="3147"/>
              <a:ext cx="0" cy="198"/>
            </a:xfrm>
            <a:prstGeom prst="line">
              <a:avLst/>
            </a:prstGeom>
            <a:noFill/>
            <a:ln w="9525">
              <a:solidFill>
                <a:srgbClr val="0000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52" name="Line 20"/>
            <p:cNvSpPr>
              <a:spLocks noChangeShapeType="1"/>
            </p:cNvSpPr>
            <p:nvPr/>
          </p:nvSpPr>
          <p:spPr bwMode="auto">
            <a:xfrm>
              <a:off x="2846" y="3155"/>
              <a:ext cx="0" cy="197"/>
            </a:xfrm>
            <a:prstGeom prst="line">
              <a:avLst/>
            </a:prstGeom>
            <a:noFill/>
            <a:ln w="9525">
              <a:solidFill>
                <a:srgbClr val="0000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53" name="Line 21"/>
            <p:cNvSpPr>
              <a:spLocks noChangeShapeType="1"/>
            </p:cNvSpPr>
            <p:nvPr/>
          </p:nvSpPr>
          <p:spPr bwMode="auto">
            <a:xfrm>
              <a:off x="2509" y="3147"/>
              <a:ext cx="335" cy="0"/>
            </a:xfrm>
            <a:prstGeom prst="line">
              <a:avLst/>
            </a:prstGeom>
            <a:noFill/>
            <a:ln w="9525">
              <a:solidFill>
                <a:srgbClr val="0000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54" name="Line 22"/>
            <p:cNvSpPr>
              <a:spLocks noChangeShapeType="1"/>
            </p:cNvSpPr>
            <p:nvPr/>
          </p:nvSpPr>
          <p:spPr bwMode="auto">
            <a:xfrm>
              <a:off x="2691" y="2709"/>
              <a:ext cx="0" cy="439"/>
            </a:xfrm>
            <a:prstGeom prst="line">
              <a:avLst/>
            </a:prstGeom>
            <a:noFill/>
            <a:ln w="9525">
              <a:solidFill>
                <a:srgbClr val="0000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55" name="Line 23"/>
            <p:cNvSpPr>
              <a:spLocks noChangeShapeType="1"/>
            </p:cNvSpPr>
            <p:nvPr/>
          </p:nvSpPr>
          <p:spPr bwMode="auto">
            <a:xfrm>
              <a:off x="821" y="3152"/>
              <a:ext cx="0" cy="198"/>
            </a:xfrm>
            <a:prstGeom prst="line">
              <a:avLst/>
            </a:prstGeom>
            <a:noFill/>
            <a:ln w="9525">
              <a:solidFill>
                <a:srgbClr val="0000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56" name="Line 24"/>
            <p:cNvSpPr>
              <a:spLocks noChangeShapeType="1"/>
            </p:cNvSpPr>
            <p:nvPr/>
          </p:nvSpPr>
          <p:spPr bwMode="auto">
            <a:xfrm>
              <a:off x="828" y="3152"/>
              <a:ext cx="335" cy="0"/>
            </a:xfrm>
            <a:prstGeom prst="line">
              <a:avLst/>
            </a:prstGeom>
            <a:noFill/>
            <a:ln w="9525">
              <a:solidFill>
                <a:srgbClr val="0000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57" name="Line 25"/>
            <p:cNvSpPr>
              <a:spLocks noChangeShapeType="1"/>
            </p:cNvSpPr>
            <p:nvPr/>
          </p:nvSpPr>
          <p:spPr bwMode="auto">
            <a:xfrm>
              <a:off x="1005" y="2712"/>
              <a:ext cx="0" cy="439"/>
            </a:xfrm>
            <a:prstGeom prst="line">
              <a:avLst/>
            </a:prstGeom>
            <a:noFill/>
            <a:ln w="9525">
              <a:solidFill>
                <a:srgbClr val="0000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58" name="Line 26"/>
            <p:cNvSpPr>
              <a:spLocks noChangeShapeType="1"/>
            </p:cNvSpPr>
            <p:nvPr/>
          </p:nvSpPr>
          <p:spPr bwMode="auto">
            <a:xfrm>
              <a:off x="3376" y="2308"/>
              <a:ext cx="0" cy="240"/>
            </a:xfrm>
            <a:prstGeom prst="line">
              <a:avLst/>
            </a:prstGeom>
            <a:noFill/>
            <a:ln w="9525">
              <a:solidFill>
                <a:srgbClr val="0000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59" name="Rectangle 27"/>
            <p:cNvSpPr>
              <a:spLocks noChangeArrowheads="1"/>
            </p:cNvSpPr>
            <p:nvPr/>
          </p:nvSpPr>
          <p:spPr bwMode="auto">
            <a:xfrm>
              <a:off x="698" y="3288"/>
              <a:ext cx="280" cy="60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000066"/>
              </a:solidFill>
              <a:miter lim="800000"/>
              <a:headEnd/>
              <a:tailEnd/>
            </a:ln>
          </p:spPr>
          <p:txBody>
            <a:bodyPr vert="eaVert"/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zh-CN" altLang="en-US" sz="18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rPr>
                <a:t>总务组</a:t>
              </a:r>
            </a:p>
          </p:txBody>
        </p:sp>
        <p:sp>
          <p:nvSpPr>
            <p:cNvPr id="18460" name="Rectangle 28"/>
            <p:cNvSpPr>
              <a:spLocks noChangeArrowheads="1"/>
            </p:cNvSpPr>
            <p:nvPr/>
          </p:nvSpPr>
          <p:spPr bwMode="auto">
            <a:xfrm>
              <a:off x="1035" y="3299"/>
              <a:ext cx="281" cy="60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000066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zh-CN" altLang="en-US" sz="18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rPr>
                <a:t>信息</a:t>
              </a:r>
            </a:p>
            <a:p>
              <a:pPr algn="ctr">
                <a:spcBef>
                  <a:spcPct val="0"/>
                </a:spcBef>
                <a:buFontTx/>
                <a:buNone/>
              </a:pPr>
              <a:r>
                <a:rPr lang="zh-CN" altLang="en-US" sz="18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rPr>
                <a:t>组</a:t>
              </a:r>
            </a:p>
          </p:txBody>
        </p:sp>
        <p:sp>
          <p:nvSpPr>
            <p:cNvPr id="18461" name="Rectangle 29"/>
            <p:cNvSpPr>
              <a:spLocks noChangeArrowheads="1"/>
            </p:cNvSpPr>
            <p:nvPr/>
          </p:nvSpPr>
          <p:spPr bwMode="auto">
            <a:xfrm>
              <a:off x="2040" y="3288"/>
              <a:ext cx="280" cy="60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000066"/>
              </a:solidFill>
              <a:miter lim="800000"/>
              <a:headEnd/>
              <a:tailEnd/>
            </a:ln>
          </p:spPr>
          <p:txBody>
            <a:bodyPr vert="eaVert"/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zh-CN" altLang="en-US" sz="18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rPr>
                <a:t>物资组</a:t>
              </a:r>
            </a:p>
          </p:txBody>
        </p:sp>
        <p:sp>
          <p:nvSpPr>
            <p:cNvPr id="18462" name="Rectangle 30"/>
            <p:cNvSpPr>
              <a:spLocks noChangeArrowheads="1"/>
            </p:cNvSpPr>
            <p:nvPr/>
          </p:nvSpPr>
          <p:spPr bwMode="auto">
            <a:xfrm>
              <a:off x="2381" y="3288"/>
              <a:ext cx="280" cy="60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000066"/>
              </a:solidFill>
              <a:miter lim="800000"/>
              <a:headEnd/>
              <a:tailEnd/>
            </a:ln>
          </p:spPr>
          <p:txBody>
            <a:bodyPr vert="eaVert"/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zh-CN" altLang="en-US" sz="18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rPr>
                <a:t>运行值</a:t>
              </a:r>
            </a:p>
          </p:txBody>
        </p:sp>
        <p:sp>
          <p:nvSpPr>
            <p:cNvPr id="18463" name="Rectangle 31"/>
            <p:cNvSpPr>
              <a:spLocks noChangeArrowheads="1"/>
            </p:cNvSpPr>
            <p:nvPr/>
          </p:nvSpPr>
          <p:spPr bwMode="auto">
            <a:xfrm>
              <a:off x="2722" y="3299"/>
              <a:ext cx="280" cy="60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000066"/>
              </a:solidFill>
              <a:miter lim="800000"/>
              <a:headEnd/>
              <a:tailEnd/>
            </a:ln>
          </p:spPr>
          <p:txBody>
            <a:bodyPr vert="eaVert"/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zh-CN" altLang="en-US" sz="18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rPr>
                <a:t>设备组</a:t>
              </a:r>
            </a:p>
          </p:txBody>
        </p:sp>
        <p:sp>
          <p:nvSpPr>
            <p:cNvPr id="18464" name="Rectangle 32"/>
            <p:cNvSpPr>
              <a:spLocks noChangeArrowheads="1"/>
            </p:cNvSpPr>
            <p:nvPr/>
          </p:nvSpPr>
          <p:spPr bwMode="auto">
            <a:xfrm>
              <a:off x="3052" y="3288"/>
              <a:ext cx="281" cy="60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000066"/>
              </a:solidFill>
              <a:miter lim="800000"/>
              <a:headEnd/>
              <a:tailEnd/>
            </a:ln>
          </p:spPr>
          <p:txBody>
            <a:bodyPr vert="eaVert"/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zh-CN" altLang="en-US" sz="18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rPr>
                <a:t>水工班</a:t>
              </a:r>
            </a:p>
          </p:txBody>
        </p:sp>
        <p:sp>
          <p:nvSpPr>
            <p:cNvPr id="18465" name="Rectangle 33"/>
            <p:cNvSpPr>
              <a:spLocks noChangeArrowheads="1"/>
            </p:cNvSpPr>
            <p:nvPr/>
          </p:nvSpPr>
          <p:spPr bwMode="auto">
            <a:xfrm>
              <a:off x="3404" y="3288"/>
              <a:ext cx="282" cy="60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000066"/>
              </a:solidFill>
              <a:miter lim="800000"/>
              <a:headEnd/>
              <a:tailEnd/>
            </a:ln>
          </p:spPr>
          <p:txBody>
            <a:bodyPr vert="eaVert"/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zh-CN" altLang="en-US" sz="18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rPr>
                <a:t>水调班</a:t>
              </a:r>
            </a:p>
          </p:txBody>
        </p:sp>
        <p:sp>
          <p:nvSpPr>
            <p:cNvPr id="18466" name="Line 34"/>
            <p:cNvSpPr>
              <a:spLocks noChangeShapeType="1"/>
            </p:cNvSpPr>
            <p:nvPr/>
          </p:nvSpPr>
          <p:spPr bwMode="auto">
            <a:xfrm>
              <a:off x="1025" y="2306"/>
              <a:ext cx="3527" cy="0"/>
            </a:xfrm>
            <a:prstGeom prst="line">
              <a:avLst/>
            </a:prstGeom>
            <a:noFill/>
            <a:ln w="9525">
              <a:solidFill>
                <a:srgbClr val="0000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67" name="Line 35"/>
            <p:cNvSpPr>
              <a:spLocks noChangeShapeType="1"/>
            </p:cNvSpPr>
            <p:nvPr/>
          </p:nvSpPr>
          <p:spPr bwMode="auto">
            <a:xfrm>
              <a:off x="4554" y="2305"/>
              <a:ext cx="0" cy="198"/>
            </a:xfrm>
            <a:prstGeom prst="line">
              <a:avLst/>
            </a:prstGeom>
            <a:noFill/>
            <a:ln w="9525">
              <a:solidFill>
                <a:srgbClr val="0000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68" name="Line 36"/>
            <p:cNvSpPr>
              <a:spLocks noChangeShapeType="1"/>
            </p:cNvSpPr>
            <p:nvPr/>
          </p:nvSpPr>
          <p:spPr bwMode="auto">
            <a:xfrm>
              <a:off x="2706" y="2308"/>
              <a:ext cx="0" cy="198"/>
            </a:xfrm>
            <a:prstGeom prst="line">
              <a:avLst/>
            </a:prstGeom>
            <a:noFill/>
            <a:ln w="9525">
              <a:solidFill>
                <a:srgbClr val="0000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69" name="Line 37"/>
            <p:cNvSpPr>
              <a:spLocks noChangeShapeType="1"/>
            </p:cNvSpPr>
            <p:nvPr/>
          </p:nvSpPr>
          <p:spPr bwMode="auto">
            <a:xfrm>
              <a:off x="1840" y="2305"/>
              <a:ext cx="0" cy="198"/>
            </a:xfrm>
            <a:prstGeom prst="line">
              <a:avLst/>
            </a:prstGeom>
            <a:noFill/>
            <a:ln w="9525">
              <a:solidFill>
                <a:srgbClr val="0000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70" name="Line 38"/>
            <p:cNvSpPr>
              <a:spLocks noChangeShapeType="1"/>
            </p:cNvSpPr>
            <p:nvPr/>
          </p:nvSpPr>
          <p:spPr bwMode="auto">
            <a:xfrm>
              <a:off x="2174" y="2305"/>
              <a:ext cx="0" cy="198"/>
            </a:xfrm>
            <a:prstGeom prst="line">
              <a:avLst/>
            </a:prstGeom>
            <a:noFill/>
            <a:ln w="9525">
              <a:solidFill>
                <a:srgbClr val="0000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71" name="Rectangle 39"/>
            <p:cNvSpPr>
              <a:spLocks noChangeArrowheads="1"/>
            </p:cNvSpPr>
            <p:nvPr/>
          </p:nvSpPr>
          <p:spPr bwMode="auto">
            <a:xfrm>
              <a:off x="872" y="2436"/>
              <a:ext cx="281" cy="60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000066"/>
              </a:solidFill>
              <a:miter lim="800000"/>
              <a:headEnd/>
              <a:tailEnd/>
            </a:ln>
          </p:spPr>
          <p:txBody>
            <a:bodyPr vert="eaVert"/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zh-CN" altLang="en-US" sz="18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rPr>
                <a:t>办公室</a:t>
              </a:r>
            </a:p>
          </p:txBody>
        </p:sp>
        <p:sp>
          <p:nvSpPr>
            <p:cNvPr id="18472" name="Rectangle 40"/>
            <p:cNvSpPr>
              <a:spLocks noChangeArrowheads="1"/>
            </p:cNvSpPr>
            <p:nvPr/>
          </p:nvSpPr>
          <p:spPr bwMode="auto">
            <a:xfrm>
              <a:off x="1706" y="2441"/>
              <a:ext cx="280" cy="601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000066"/>
              </a:solidFill>
              <a:miter lim="800000"/>
              <a:headEnd/>
              <a:tailEnd/>
            </a:ln>
          </p:spPr>
          <p:txBody>
            <a:bodyPr vert="eaVert"/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zh-CN" altLang="en-US" sz="18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rPr>
                <a:t>财务部</a:t>
              </a:r>
            </a:p>
          </p:txBody>
        </p:sp>
        <p:sp>
          <p:nvSpPr>
            <p:cNvPr id="18473" name="Rectangle 41"/>
            <p:cNvSpPr>
              <a:spLocks noChangeArrowheads="1"/>
            </p:cNvSpPr>
            <p:nvPr/>
          </p:nvSpPr>
          <p:spPr bwMode="auto">
            <a:xfrm>
              <a:off x="2040" y="2438"/>
              <a:ext cx="280" cy="599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000066"/>
              </a:solidFill>
              <a:miter lim="800000"/>
              <a:headEnd/>
              <a:tailEnd/>
            </a:ln>
          </p:spPr>
          <p:txBody>
            <a:bodyPr vert="eaVert"/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zh-CN" altLang="en-US" sz="18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rPr>
                <a:t>经管部</a:t>
              </a:r>
            </a:p>
          </p:txBody>
        </p:sp>
        <p:sp>
          <p:nvSpPr>
            <p:cNvPr id="18474" name="Rectangle 42"/>
            <p:cNvSpPr>
              <a:spLocks noChangeArrowheads="1"/>
            </p:cNvSpPr>
            <p:nvPr/>
          </p:nvSpPr>
          <p:spPr bwMode="auto">
            <a:xfrm>
              <a:off x="2560" y="2441"/>
              <a:ext cx="280" cy="601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000066"/>
              </a:solidFill>
              <a:miter lim="800000"/>
              <a:headEnd/>
              <a:tailEnd/>
            </a:ln>
          </p:spPr>
          <p:txBody>
            <a:bodyPr vert="eaVert"/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zh-CN" altLang="en-US" sz="18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rPr>
                <a:t>运行部</a:t>
              </a:r>
            </a:p>
          </p:txBody>
        </p:sp>
        <p:sp>
          <p:nvSpPr>
            <p:cNvPr id="18475" name="Rectangle 43"/>
            <p:cNvSpPr>
              <a:spLocks noChangeArrowheads="1"/>
            </p:cNvSpPr>
            <p:nvPr/>
          </p:nvSpPr>
          <p:spPr bwMode="auto">
            <a:xfrm>
              <a:off x="3234" y="2441"/>
              <a:ext cx="280" cy="601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000066"/>
              </a:solidFill>
              <a:miter lim="800000"/>
              <a:headEnd/>
              <a:tailEnd/>
            </a:ln>
          </p:spPr>
          <p:txBody>
            <a:bodyPr vert="eaVert"/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zh-CN" altLang="en-US" sz="18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rPr>
                <a:t>水工部</a:t>
              </a:r>
            </a:p>
          </p:txBody>
        </p:sp>
        <p:sp>
          <p:nvSpPr>
            <p:cNvPr id="18476" name="Rectangle 44"/>
            <p:cNvSpPr>
              <a:spLocks noChangeArrowheads="1"/>
            </p:cNvSpPr>
            <p:nvPr/>
          </p:nvSpPr>
          <p:spPr bwMode="auto">
            <a:xfrm>
              <a:off x="4428" y="2441"/>
              <a:ext cx="281" cy="601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000066"/>
              </a:solidFill>
              <a:miter lim="800000"/>
              <a:headEnd/>
              <a:tailEnd/>
            </a:ln>
          </p:spPr>
          <p:txBody>
            <a:bodyPr vert="eaVert"/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zh-CN" altLang="en-US" sz="18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rPr>
                <a:t>检修部</a:t>
              </a:r>
            </a:p>
          </p:txBody>
        </p:sp>
        <p:sp>
          <p:nvSpPr>
            <p:cNvPr id="18477" name="Line 45"/>
            <p:cNvSpPr>
              <a:spLocks noChangeShapeType="1"/>
            </p:cNvSpPr>
            <p:nvPr/>
          </p:nvSpPr>
          <p:spPr bwMode="auto">
            <a:xfrm>
              <a:off x="3876" y="3149"/>
              <a:ext cx="1360" cy="0"/>
            </a:xfrm>
            <a:prstGeom prst="line">
              <a:avLst/>
            </a:prstGeom>
            <a:noFill/>
            <a:ln w="9525">
              <a:solidFill>
                <a:srgbClr val="0000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78" name="Line 46"/>
            <p:cNvSpPr>
              <a:spLocks noChangeShapeType="1"/>
            </p:cNvSpPr>
            <p:nvPr/>
          </p:nvSpPr>
          <p:spPr bwMode="auto">
            <a:xfrm>
              <a:off x="3883" y="3149"/>
              <a:ext cx="0" cy="198"/>
            </a:xfrm>
            <a:prstGeom prst="line">
              <a:avLst/>
            </a:prstGeom>
            <a:noFill/>
            <a:ln w="9525">
              <a:solidFill>
                <a:srgbClr val="0000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79" name="Line 47"/>
            <p:cNvSpPr>
              <a:spLocks noChangeShapeType="1"/>
            </p:cNvSpPr>
            <p:nvPr/>
          </p:nvSpPr>
          <p:spPr bwMode="auto">
            <a:xfrm>
              <a:off x="4228" y="3149"/>
              <a:ext cx="0" cy="198"/>
            </a:xfrm>
            <a:prstGeom prst="line">
              <a:avLst/>
            </a:prstGeom>
            <a:noFill/>
            <a:ln w="9525">
              <a:solidFill>
                <a:srgbClr val="0000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80" name="Line 48"/>
            <p:cNvSpPr>
              <a:spLocks noChangeShapeType="1"/>
            </p:cNvSpPr>
            <p:nvPr/>
          </p:nvSpPr>
          <p:spPr bwMode="auto">
            <a:xfrm>
              <a:off x="4888" y="3152"/>
              <a:ext cx="0" cy="199"/>
            </a:xfrm>
            <a:prstGeom prst="line">
              <a:avLst/>
            </a:prstGeom>
            <a:noFill/>
            <a:ln w="9525">
              <a:solidFill>
                <a:srgbClr val="0000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81" name="Line 49"/>
            <p:cNvSpPr>
              <a:spLocks noChangeShapeType="1"/>
            </p:cNvSpPr>
            <p:nvPr/>
          </p:nvSpPr>
          <p:spPr bwMode="auto">
            <a:xfrm>
              <a:off x="1521" y="2304"/>
              <a:ext cx="0" cy="1201"/>
            </a:xfrm>
            <a:prstGeom prst="line">
              <a:avLst/>
            </a:prstGeom>
            <a:noFill/>
            <a:ln w="9525">
              <a:solidFill>
                <a:srgbClr val="0000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82" name="Rectangle 50"/>
            <p:cNvSpPr>
              <a:spLocks noChangeArrowheads="1"/>
            </p:cNvSpPr>
            <p:nvPr/>
          </p:nvSpPr>
          <p:spPr bwMode="auto">
            <a:xfrm>
              <a:off x="3746" y="3288"/>
              <a:ext cx="281" cy="60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000066"/>
              </a:solidFill>
              <a:miter lim="800000"/>
              <a:headEnd/>
              <a:tailEnd/>
            </a:ln>
          </p:spPr>
          <p:txBody>
            <a:bodyPr vert="eaVert"/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zh-CN" altLang="en-US" sz="18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rPr>
                <a:t>自动班</a:t>
              </a:r>
            </a:p>
          </p:txBody>
        </p:sp>
        <p:sp>
          <p:nvSpPr>
            <p:cNvPr id="18483" name="Rectangle 51"/>
            <p:cNvSpPr>
              <a:spLocks noChangeArrowheads="1"/>
            </p:cNvSpPr>
            <p:nvPr/>
          </p:nvSpPr>
          <p:spPr bwMode="auto">
            <a:xfrm>
              <a:off x="4087" y="3288"/>
              <a:ext cx="281" cy="60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000066"/>
              </a:solidFill>
              <a:miter lim="800000"/>
              <a:headEnd/>
              <a:tailEnd/>
            </a:ln>
          </p:spPr>
          <p:txBody>
            <a:bodyPr vert="eaVert"/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zh-CN" altLang="en-US" sz="18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rPr>
                <a:t>通信班</a:t>
              </a:r>
            </a:p>
          </p:txBody>
        </p:sp>
        <p:sp>
          <p:nvSpPr>
            <p:cNvPr id="18484" name="Rectangle 52"/>
            <p:cNvSpPr>
              <a:spLocks noChangeArrowheads="1"/>
            </p:cNvSpPr>
            <p:nvPr/>
          </p:nvSpPr>
          <p:spPr bwMode="auto">
            <a:xfrm>
              <a:off x="4428" y="3288"/>
              <a:ext cx="281" cy="60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000066"/>
              </a:solidFill>
              <a:miter lim="800000"/>
              <a:headEnd/>
              <a:tailEnd/>
            </a:ln>
          </p:spPr>
          <p:txBody>
            <a:bodyPr vert="eaVert"/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zh-CN" altLang="en-US" sz="18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rPr>
                <a:t>电气班</a:t>
              </a:r>
            </a:p>
          </p:txBody>
        </p:sp>
        <p:sp>
          <p:nvSpPr>
            <p:cNvPr id="18485" name="Rectangle 53"/>
            <p:cNvSpPr>
              <a:spLocks noChangeArrowheads="1"/>
            </p:cNvSpPr>
            <p:nvPr/>
          </p:nvSpPr>
          <p:spPr bwMode="auto">
            <a:xfrm>
              <a:off x="4762" y="3288"/>
              <a:ext cx="280" cy="60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000066"/>
              </a:solidFill>
              <a:miter lim="800000"/>
              <a:headEnd/>
              <a:tailEnd/>
            </a:ln>
          </p:spPr>
          <p:txBody>
            <a:bodyPr vert="eaVert"/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zh-CN" altLang="en-US" sz="18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rPr>
                <a:t>试验班</a:t>
              </a:r>
            </a:p>
          </p:txBody>
        </p:sp>
        <p:sp>
          <p:nvSpPr>
            <p:cNvPr id="18486" name="Rectangle 54"/>
            <p:cNvSpPr>
              <a:spLocks noChangeArrowheads="1"/>
            </p:cNvSpPr>
            <p:nvPr/>
          </p:nvSpPr>
          <p:spPr bwMode="auto">
            <a:xfrm>
              <a:off x="1373" y="3288"/>
              <a:ext cx="280" cy="60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000066"/>
              </a:solidFill>
              <a:miter lim="800000"/>
              <a:headEnd/>
              <a:tailEnd/>
            </a:ln>
          </p:spPr>
          <p:txBody>
            <a:bodyPr vert="eaVert"/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zh-CN" altLang="en-US" sz="1800">
                  <a:solidFill>
                    <a:schemeClr val="tx1"/>
                  </a:solidFill>
                  <a:latin typeface="Times New Roman" panose="02020603050405020304" pitchFamily="18" charset="0"/>
                  <a:ea typeface="楷体_GB2312" charset="-122"/>
                </a:rPr>
                <a:t>人事组</a:t>
              </a:r>
            </a:p>
          </p:txBody>
        </p:sp>
        <p:sp>
          <p:nvSpPr>
            <p:cNvPr id="18487" name="Line 55"/>
            <p:cNvSpPr>
              <a:spLocks noChangeShapeType="1"/>
            </p:cNvSpPr>
            <p:nvPr/>
          </p:nvSpPr>
          <p:spPr bwMode="auto">
            <a:xfrm>
              <a:off x="2256" y="1680"/>
              <a:ext cx="1488" cy="0"/>
            </a:xfrm>
            <a:prstGeom prst="line">
              <a:avLst/>
            </a:prstGeom>
            <a:noFill/>
            <a:ln w="9525">
              <a:solidFill>
                <a:srgbClr val="0000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88" name="Rectangle 56"/>
            <p:cNvSpPr>
              <a:spLocks noChangeArrowheads="1"/>
            </p:cNvSpPr>
            <p:nvPr/>
          </p:nvSpPr>
          <p:spPr bwMode="auto">
            <a:xfrm>
              <a:off x="1488" y="1536"/>
              <a:ext cx="768" cy="28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000066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kumimoji="1" lang="zh-CN" altLang="en-US" sz="1800">
                  <a:solidFill>
                    <a:schemeClr val="tx1"/>
                  </a:solidFill>
                  <a:latin typeface="仿宋_GB2312" pitchFamily="49" charset="-122"/>
                  <a:ea typeface="仿宋_GB2312" pitchFamily="49" charset="-122"/>
                  <a:cs typeface="楷体_GB2312" charset="-122"/>
                </a:rPr>
                <a:t>总工</a:t>
              </a:r>
            </a:p>
          </p:txBody>
        </p:sp>
        <p:sp>
          <p:nvSpPr>
            <p:cNvPr id="18489" name="Rectangle 57"/>
            <p:cNvSpPr>
              <a:spLocks noChangeArrowheads="1"/>
            </p:cNvSpPr>
            <p:nvPr/>
          </p:nvSpPr>
          <p:spPr bwMode="auto">
            <a:xfrm>
              <a:off x="3744" y="1536"/>
              <a:ext cx="768" cy="28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000066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kumimoji="1" lang="zh-CN" altLang="en-US" sz="1800">
                  <a:solidFill>
                    <a:schemeClr val="tx1"/>
                  </a:solidFill>
                  <a:latin typeface="仿宋_GB2312" pitchFamily="49" charset="-122"/>
                  <a:ea typeface="仿宋_GB2312" pitchFamily="49" charset="-122"/>
                  <a:cs typeface="楷体_GB2312" charset="-122"/>
                </a:rPr>
                <a:t>副厂长</a:t>
              </a:r>
            </a:p>
          </p:txBody>
        </p:sp>
        <p:sp>
          <p:nvSpPr>
            <p:cNvPr id="18490" name="Rectangle 58"/>
            <p:cNvSpPr>
              <a:spLocks noChangeArrowheads="1"/>
            </p:cNvSpPr>
            <p:nvPr/>
          </p:nvSpPr>
          <p:spPr bwMode="auto">
            <a:xfrm>
              <a:off x="3744" y="1920"/>
              <a:ext cx="768" cy="28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000066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kumimoji="1" lang="zh-CN" altLang="en-US" sz="1800">
                  <a:solidFill>
                    <a:schemeClr val="tx1"/>
                  </a:solidFill>
                  <a:latin typeface="仿宋_GB2312" pitchFamily="49" charset="-122"/>
                  <a:ea typeface="仿宋_GB2312" pitchFamily="49" charset="-122"/>
                  <a:cs typeface="楷体_GB2312" charset="-122"/>
                </a:rPr>
                <a:t>厂长助理</a:t>
              </a:r>
            </a:p>
          </p:txBody>
        </p:sp>
        <p:sp>
          <p:nvSpPr>
            <p:cNvPr id="18491" name="Line 59"/>
            <p:cNvSpPr>
              <a:spLocks noChangeShapeType="1"/>
            </p:cNvSpPr>
            <p:nvPr/>
          </p:nvSpPr>
          <p:spPr bwMode="auto">
            <a:xfrm>
              <a:off x="3024" y="2064"/>
              <a:ext cx="720" cy="0"/>
            </a:xfrm>
            <a:prstGeom prst="line">
              <a:avLst/>
            </a:prstGeom>
            <a:noFill/>
            <a:ln w="9525">
              <a:solidFill>
                <a:srgbClr val="0000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</p:spTree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endParaRPr lang="zh-CN" altLang="en-US" smtClean="0"/>
          </a:p>
        </p:txBody>
      </p:sp>
      <p:sp>
        <p:nvSpPr>
          <p:cNvPr id="1945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algn="ctr" eaLnBrk="1" hangingPunct="1">
              <a:buFontTx/>
              <a:buNone/>
            </a:pPr>
            <a:r>
              <a:rPr lang="en-US" altLang="zh-CN" sz="6000" i="1" smtClean="0">
                <a:solidFill>
                  <a:srgbClr val="800000"/>
                </a:solidFill>
              </a:rPr>
              <a:t>QUESTION?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Blank Presentation">
  <a:themeElements>
    <a:clrScheme name="Blank Presentation 11">
      <a:dk1>
        <a:srgbClr val="3E3E5C"/>
      </a:dk1>
      <a:lt1>
        <a:srgbClr val="FFFFFF"/>
      </a:lt1>
      <a:dk2>
        <a:srgbClr val="666699"/>
      </a:dk2>
      <a:lt2>
        <a:srgbClr val="FFFFFF"/>
      </a:lt2>
      <a:accent1>
        <a:srgbClr val="60597B"/>
      </a:accent1>
      <a:accent2>
        <a:srgbClr val="6666FF"/>
      </a:accent2>
      <a:accent3>
        <a:srgbClr val="B8B8CA"/>
      </a:accent3>
      <a:accent4>
        <a:srgbClr val="DADADA"/>
      </a:accent4>
      <a:accent5>
        <a:srgbClr val="B6B5BF"/>
      </a:accent5>
      <a:accent6>
        <a:srgbClr val="5C5CE7"/>
      </a:accent6>
      <a:hlink>
        <a:srgbClr val="99CCFF"/>
      </a:hlink>
      <a:folHlink>
        <a:srgbClr val="FFFF99"/>
      </a:folHlink>
    </a:clrScheme>
    <a:fontScheme name="Blank Presentation">
      <a:majorFont>
        <a:latin typeface="楷体"/>
        <a:ea typeface="楷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342900" marR="0" indent="-342900" algn="l" defTabSz="914400" rtl="0" eaLnBrk="1" fontAlgn="base" latinLnBrk="0" hangingPunct="1">
          <a:lnSpc>
            <a:spcPct val="90000"/>
          </a:lnSpc>
          <a:spcBef>
            <a:spcPct val="50000"/>
          </a:spcBef>
          <a:spcAft>
            <a:spcPct val="0"/>
          </a:spcAft>
          <a:buClrTx/>
          <a:buSzTx/>
          <a:buFontTx/>
          <a:buChar char="•"/>
          <a:tabLst/>
          <a:defRPr kumimoji="0" lang="en-US" sz="4000" b="1" i="0" u="none" strike="noStrike" cap="none" normalizeH="0" baseline="0" smtClean="0">
            <a:ln>
              <a:noFill/>
            </a:ln>
            <a:solidFill>
              <a:srgbClr val="0000FF"/>
            </a:solidFill>
            <a:effectLst/>
            <a:latin typeface="Arial" pitchFamily="34" charset="0"/>
            <a:ea typeface="楷体_GB2312"/>
            <a:cs typeface="楷体_GB231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342900" marR="0" indent="-342900" algn="l" defTabSz="914400" rtl="0" eaLnBrk="1" fontAlgn="base" latinLnBrk="0" hangingPunct="1">
          <a:lnSpc>
            <a:spcPct val="90000"/>
          </a:lnSpc>
          <a:spcBef>
            <a:spcPct val="50000"/>
          </a:spcBef>
          <a:spcAft>
            <a:spcPct val="0"/>
          </a:spcAft>
          <a:buClrTx/>
          <a:buSzTx/>
          <a:buFontTx/>
          <a:buChar char="•"/>
          <a:tabLst/>
          <a:defRPr kumimoji="0" lang="en-US" sz="4000" b="1" i="0" u="none" strike="noStrike" cap="none" normalizeH="0" baseline="0" smtClean="0">
            <a:ln>
              <a:noFill/>
            </a:ln>
            <a:solidFill>
              <a:srgbClr val="0000FF"/>
            </a:solidFill>
            <a:effectLst/>
            <a:latin typeface="Arial" pitchFamily="34" charset="0"/>
            <a:ea typeface="楷体_GB2312"/>
            <a:cs typeface="楷体_GB2312"/>
          </a:defRPr>
        </a:defPPr>
      </a:lstStyle>
    </a:lnDef>
  </a:objectDefaults>
  <a:extraClrSchemeLst>
    <a:extraClrScheme>
      <a:clrScheme name="Blank Presentatio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713E39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BBAFAE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12804</TotalTime>
  <Words>743</Words>
  <Application>Microsoft Office PowerPoint</Application>
  <PresentationFormat>全屏显示(4:3)</PresentationFormat>
  <Paragraphs>280</Paragraphs>
  <Slides>14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23" baseType="lpstr">
      <vt:lpstr>Arial</vt:lpstr>
      <vt:lpstr>楷体_GB2312</vt:lpstr>
      <vt:lpstr>楷体</vt:lpstr>
      <vt:lpstr>宋体</vt:lpstr>
      <vt:lpstr>Times</vt:lpstr>
      <vt:lpstr>Times New Roman</vt:lpstr>
      <vt:lpstr>黑体</vt:lpstr>
      <vt:lpstr>仿宋_GB2312</vt:lpstr>
      <vt:lpstr>Blank Presentation</vt:lpstr>
      <vt:lpstr>工程经济学  项目可行性研究: 组织、实施与进度安排</vt:lpstr>
      <vt:lpstr>可行性研究        工程经济学</vt:lpstr>
      <vt:lpstr>Project Phases</vt:lpstr>
      <vt:lpstr>Scheduling Techniques</vt:lpstr>
      <vt:lpstr>PowerPoint 演示文稿</vt:lpstr>
      <vt:lpstr>Critical Path Method</vt:lpstr>
      <vt:lpstr>Operation strategies</vt:lpstr>
      <vt:lpstr>企业组织和劳动定员</vt:lpstr>
      <vt:lpstr>PowerPoint 演示文稿</vt:lpstr>
      <vt:lpstr>三峡总公司</vt:lpstr>
      <vt:lpstr>PowerPoint 演示文稿</vt:lpstr>
      <vt:lpstr>PowerPoint 演示文稿</vt:lpstr>
      <vt:lpstr>PowerPoint 演示文稿</vt:lpstr>
      <vt:lpstr>PowerPoint 演示文稿</vt:lpstr>
    </vt:vector>
  </TitlesOfParts>
  <Company>KAGAN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LESLIE KAGAN</dc:creator>
  <cp:lastModifiedBy>张亚坤</cp:lastModifiedBy>
  <cp:revision>2376</cp:revision>
  <dcterms:created xsi:type="dcterms:W3CDTF">2006-03-30T18:33:07Z</dcterms:created>
  <dcterms:modified xsi:type="dcterms:W3CDTF">2019-12-01T14:10:54Z</dcterms:modified>
</cp:coreProperties>
</file>