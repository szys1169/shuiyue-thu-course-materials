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256" r:id="rId2"/>
    <p:sldId id="368" r:id="rId3"/>
    <p:sldId id="369" r:id="rId4"/>
    <p:sldId id="257" r:id="rId5"/>
    <p:sldId id="332" r:id="rId6"/>
    <p:sldId id="334" r:id="rId7"/>
    <p:sldId id="365" r:id="rId8"/>
    <p:sldId id="366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45" r:id="rId20"/>
    <p:sldId id="346" r:id="rId21"/>
    <p:sldId id="347" r:id="rId22"/>
    <p:sldId id="324" r:id="rId23"/>
    <p:sldId id="349" r:id="rId24"/>
    <p:sldId id="350" r:id="rId25"/>
    <p:sldId id="331" r:id="rId26"/>
    <p:sldId id="317" r:id="rId27"/>
    <p:sldId id="367" r:id="rId28"/>
    <p:sldId id="351" r:id="rId29"/>
    <p:sldId id="326" r:id="rId30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1pPr>
    <a:lvl2pPr marL="457200" algn="ctr" rtl="0" fontAlgn="base">
      <a:spcBef>
        <a:spcPct val="0"/>
      </a:spcBef>
      <a:spcAft>
        <a:spcPct val="0"/>
      </a:spcAft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2pPr>
    <a:lvl3pPr marL="914400" algn="ctr" rtl="0" fontAlgn="base">
      <a:spcBef>
        <a:spcPct val="0"/>
      </a:spcBef>
      <a:spcAft>
        <a:spcPct val="0"/>
      </a:spcAft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3pPr>
    <a:lvl4pPr marL="1371600" algn="ctr" rtl="0" fontAlgn="base">
      <a:spcBef>
        <a:spcPct val="0"/>
      </a:spcBef>
      <a:spcAft>
        <a:spcPct val="0"/>
      </a:spcAft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4pPr>
    <a:lvl5pPr marL="1828800" algn="ctr" rtl="0" fontAlgn="base">
      <a:spcBef>
        <a:spcPct val="0"/>
      </a:spcBef>
      <a:spcAft>
        <a:spcPct val="0"/>
      </a:spcAft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5pPr>
    <a:lvl6pPr marL="2286000" algn="l" defTabSz="914400" rtl="0" eaLnBrk="1" latinLnBrk="0" hangingPunct="1"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6pPr>
    <a:lvl7pPr marL="2743200" algn="l" defTabSz="914400" rtl="0" eaLnBrk="1" latinLnBrk="0" hangingPunct="1"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7pPr>
    <a:lvl8pPr marL="3200400" algn="l" defTabSz="914400" rtl="0" eaLnBrk="1" latinLnBrk="0" hangingPunct="1"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8pPr>
    <a:lvl9pPr marL="3657600" algn="l" defTabSz="914400" rtl="0" eaLnBrk="1" latinLnBrk="0" hangingPunct="1">
      <a:defRPr sz="2000" b="1" i="1" kern="1200" baseline="-10000">
        <a:solidFill>
          <a:schemeClr val="tx1"/>
        </a:solidFill>
        <a:latin typeface="ISOCPEUR" pitchFamily="34" charset="0"/>
        <a:ea typeface="宋体" pitchFamily="2" charset="-122"/>
        <a:cs typeface="+mn-cs"/>
        <a:sym typeface="Symbol" pitchFamily="18" charset="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CC00"/>
    <a:srgbClr val="00FFCC"/>
    <a:srgbClr val="FFCCFF"/>
    <a:srgbClr val="CCFF99"/>
    <a:srgbClr val="66FFFF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6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397" y="-58"/>
      </p:cViewPr>
      <p:guideLst>
        <p:guide orient="horz" pos="2160"/>
        <p:guide orient="horz" pos="546"/>
        <p:guide pos="2904"/>
        <p:guide pos="216"/>
        <p:guide pos="2430"/>
        <p:guide pos="1057"/>
        <p:guide pos="47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fld id="{30818AD5-2101-45B2-873C-92FE3BDF9E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6273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 b="0" i="0" baseline="0">
                <a:latin typeface="Times New Roman" pitchFamily="18" charset="0"/>
              </a:defRPr>
            </a:lvl1pPr>
          </a:lstStyle>
          <a:p>
            <a:pPr>
              <a:defRPr/>
            </a:pPr>
            <a:fld id="{B91D6731-DBAA-4A68-9E98-9E148A9BA4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860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CA22738-EA2F-433D-BC70-9AD35CC63F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51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3865F-E701-4AA8-97F5-B2ACA6FFD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56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A10C3-DA3B-4190-82F2-2B9D1727F0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74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27C7F-8CEA-4E5C-9E26-D4DD06238C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4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F2A22-E4E5-415B-A81E-1D26049E5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52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1519-1BC7-4918-880D-10453B777B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8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49966-DC77-4DE4-A962-5D3BE7AA43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39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879D7-AE5B-4852-A96A-BEA701F929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9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63DE6-3FDB-4216-A361-F0DB3CAC92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177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E1581-0EE1-49EA-9E71-827B43D8D7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40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B4D6F-AC0C-44BD-8720-A6EE903D8D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69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2D800AC0-EEBA-4471-99E7-0C33CEFD32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47560" y="6367272"/>
            <a:ext cx="1905000" cy="457200"/>
          </a:xfrm>
        </p:spPr>
        <p:txBody>
          <a:bodyPr/>
          <a:lstStyle/>
          <a:p>
            <a:pPr>
              <a:defRPr/>
            </a:pPr>
            <a:fld id="{A7C0816F-9A28-4768-9EAE-129CC4A83065}" type="slidenum">
              <a:rPr lang="en-US" altLang="zh-CN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66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54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第三讲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184275"/>
            <a:ext cx="8801100" cy="13493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综合问题解题方法</a:t>
            </a: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换面法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4610100" y="1187450"/>
            <a:ext cx="453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latin typeface="黑体" pitchFamily="2" charset="-122"/>
                <a:ea typeface="黑体" pitchFamily="2" charset="-122"/>
              </a:rPr>
              <a:t>复习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i="0" baseline="0">
                <a:latin typeface="黑体" pitchFamily="2" charset="-122"/>
                <a:ea typeface="黑体" pitchFamily="2" charset="-122"/>
              </a:rPr>
              <a:t>(P.115-125)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4610100" y="2862580"/>
            <a:ext cx="4533900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 dirty="0">
                <a:latin typeface="黑体" pitchFamily="2" charset="-122"/>
                <a:ea typeface="黑体" pitchFamily="2" charset="-122"/>
              </a:rPr>
              <a:t>作业</a:t>
            </a: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P.13: 1,3,5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 P.14: 7,8,12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 P.16: 1,2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 P.17: 5</a:t>
            </a:r>
          </a:p>
        </p:txBody>
      </p: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342900" y="2867343"/>
            <a:ext cx="408305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 dirty="0">
                <a:latin typeface="黑体" pitchFamily="2" charset="-122"/>
                <a:ea typeface="黑体" pitchFamily="2" charset="-122"/>
              </a:rPr>
              <a:t>下讲内容</a:t>
            </a: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(P.135-149)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平面立体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 曲面立体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 倾斜曲面立体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9550" y="5197984"/>
            <a:ext cx="8801100" cy="1175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sz="2000" i="0" kern="0" baseline="0" dirty="0" smtClean="0">
                <a:latin typeface="黑体" pitchFamily="2" charset="-122"/>
                <a:ea typeface="黑体" pitchFamily="2" charset="-122"/>
              </a:rPr>
              <a:t>提示</a:t>
            </a:r>
            <a:r>
              <a:rPr lang="zh-CN" altLang="en-US" sz="2000" b="1" i="0" kern="0" baseline="0" dirty="0" smtClean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2000" b="1" i="0" kern="0" baseline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本次作业下</a:t>
            </a:r>
            <a:r>
              <a:rPr lang="zh-CN" altLang="en-US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周四（</a:t>
            </a:r>
            <a:r>
              <a:rPr lang="en-US" altLang="zh-CN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10.12</a:t>
            </a:r>
            <a:r>
              <a:rPr lang="zh-CN" altLang="en-US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）中午</a:t>
            </a:r>
            <a:r>
              <a:rPr lang="en-US" altLang="zh-CN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13:00</a:t>
            </a:r>
            <a:r>
              <a:rPr lang="zh-CN" altLang="en-US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之前提交。</a:t>
            </a:r>
            <a:endParaRPr lang="en-US" altLang="zh-CN" sz="2000" i="0" kern="0" baseline="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sz="2000" b="1" i="0" kern="0" baseline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下</a:t>
            </a:r>
            <a:r>
              <a:rPr lang="zh-CN" altLang="en-US" sz="2000" i="0" kern="0" baseline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周一上课地点：李兆基科技大楼</a:t>
            </a:r>
            <a:r>
              <a:rPr lang="en-US" altLang="zh-CN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A302-2</a:t>
            </a:r>
            <a:r>
              <a:rPr lang="zh-CN" altLang="en-US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，内容：计算机辅助绘图 </a:t>
            </a:r>
            <a:r>
              <a:rPr lang="en-US" altLang="zh-CN" sz="2000" i="0" kern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AutoCAD</a:t>
            </a:r>
            <a:endParaRPr lang="zh-CN" altLang="en-US" sz="2000" b="1" i="0" kern="0" baseline="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C5F03D-DE39-48EE-A6FE-9C410EC0192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938213" y="2984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i="0" baseline="0"/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212725" y="1093788"/>
            <a:ext cx="8931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i="0" baseline="0"/>
              <a:t>1  </a:t>
            </a:r>
            <a:r>
              <a:rPr lang="zh-CN" altLang="en-US" i="0" baseline="0"/>
              <a:t>点线面的投影特性</a:t>
            </a: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228600" y="180975"/>
            <a:ext cx="2936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 baseline="0">
                <a:solidFill>
                  <a:srgbClr val="FF0000"/>
                </a:solidFill>
                <a:ea typeface="黑体" pitchFamily="2" charset="-122"/>
              </a:rPr>
              <a:t>以往知识小结</a:t>
            </a:r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212725" y="1751013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1.1   </a:t>
            </a:r>
            <a:r>
              <a:rPr lang="zh-CN" altLang="en-US" sz="2800" i="0" baseline="0"/>
              <a:t>点的投影特性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979488" y="2268538"/>
            <a:ext cx="79740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内容：方位关系，注意</a:t>
            </a:r>
            <a:r>
              <a:rPr lang="en-US" altLang="zh-CN" sz="2400" i="0" baseline="0" dirty="0" smtClean="0"/>
              <a:t>W</a:t>
            </a:r>
            <a:r>
              <a:rPr lang="zh-CN" altLang="en-US" sz="2400" i="0" baseline="0" dirty="0" smtClean="0"/>
              <a:t>和</a:t>
            </a:r>
            <a:r>
              <a:rPr lang="en-US" altLang="zh-CN" sz="2400" i="0" baseline="0" dirty="0"/>
              <a:t>H</a:t>
            </a:r>
            <a:r>
              <a:rPr lang="zh-CN" altLang="en-US" sz="2400" i="0" baseline="0" dirty="0"/>
              <a:t>面投影之间</a:t>
            </a:r>
            <a:r>
              <a:rPr lang="zh-CN" altLang="en-US" sz="2400" i="0" baseline="0" dirty="0" smtClean="0"/>
              <a:t>的对应关系</a:t>
            </a:r>
            <a:endParaRPr lang="zh-CN" altLang="en-US" sz="2400" i="0" baseline="0" dirty="0"/>
          </a:p>
        </p:txBody>
      </p:sp>
      <p:sp>
        <p:nvSpPr>
          <p:cNvPr id="198663" name="Text Box 7"/>
          <p:cNvSpPr txBox="1">
            <a:spLocks noChangeArrowheads="1"/>
          </p:cNvSpPr>
          <p:nvPr/>
        </p:nvSpPr>
        <p:spPr bwMode="auto">
          <a:xfrm>
            <a:off x="212725" y="2779713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1.2   </a:t>
            </a:r>
            <a:r>
              <a:rPr lang="zh-CN" altLang="en-US" sz="2800" i="0" baseline="0"/>
              <a:t>直线的投影特性</a:t>
            </a:r>
          </a:p>
        </p:txBody>
      </p:sp>
      <p:sp>
        <p:nvSpPr>
          <p:cNvPr id="198664" name="Text Box 8"/>
          <p:cNvSpPr txBox="1">
            <a:spLocks noChangeArrowheads="1"/>
          </p:cNvSpPr>
          <p:nvPr/>
        </p:nvSpPr>
        <p:spPr bwMode="auto">
          <a:xfrm>
            <a:off x="963613" y="3297238"/>
            <a:ext cx="79740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/>
              <a:t>内容：积聚、实形和类似，对特殊位置直线要敏感。</a:t>
            </a:r>
          </a:p>
        </p:txBody>
      </p:sp>
      <p:sp>
        <p:nvSpPr>
          <p:cNvPr id="198665" name="Text Box 9"/>
          <p:cNvSpPr txBox="1">
            <a:spLocks noChangeArrowheads="1"/>
          </p:cNvSpPr>
          <p:nvPr/>
        </p:nvSpPr>
        <p:spPr bwMode="auto">
          <a:xfrm>
            <a:off x="947738" y="3770313"/>
            <a:ext cx="8196262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问题：实长和夹角，点与直线位置关系</a:t>
            </a:r>
            <a:r>
              <a:rPr lang="zh-CN" altLang="en-US" sz="2400" i="0" baseline="0" dirty="0" smtClean="0"/>
              <a:t>，</a:t>
            </a:r>
            <a:endParaRPr lang="en-US" altLang="zh-CN" sz="2400" i="0" baseline="0" dirty="0" smtClean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 dirty="0"/>
              <a:t> </a:t>
            </a:r>
            <a:r>
              <a:rPr lang="en-US" altLang="zh-CN" sz="2400" i="0" baseline="0" dirty="0" smtClean="0"/>
              <a:t>           </a:t>
            </a:r>
            <a:r>
              <a:rPr lang="zh-CN" altLang="en-US" sz="2400" i="0" baseline="0" dirty="0" smtClean="0"/>
              <a:t>两</a:t>
            </a:r>
            <a:r>
              <a:rPr lang="zh-CN" altLang="en-US" sz="2400" i="0" baseline="0" dirty="0"/>
              <a:t>直线位置</a:t>
            </a:r>
            <a:r>
              <a:rPr lang="zh-CN" altLang="en-US" sz="2400" i="0" baseline="0" dirty="0" smtClean="0"/>
              <a:t>关系（平行、相交、交叉）。</a:t>
            </a:r>
            <a:endParaRPr lang="zh-CN" altLang="en-US" sz="2400" i="0" baseline="0" dirty="0"/>
          </a:p>
        </p:txBody>
      </p:sp>
      <p:sp>
        <p:nvSpPr>
          <p:cNvPr id="198666" name="Text Box 10"/>
          <p:cNvSpPr txBox="1">
            <a:spLocks noChangeArrowheads="1"/>
          </p:cNvSpPr>
          <p:nvPr/>
        </p:nvSpPr>
        <p:spPr bwMode="auto">
          <a:xfrm>
            <a:off x="212725" y="4612396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/>
              <a:t>1.3   </a:t>
            </a:r>
            <a:r>
              <a:rPr lang="zh-CN" altLang="en-US" sz="2800" i="0" baseline="0" dirty="0"/>
              <a:t>平面的投影特性</a:t>
            </a:r>
          </a:p>
        </p:txBody>
      </p:sp>
      <p:sp>
        <p:nvSpPr>
          <p:cNvPr id="198667" name="Text Box 11"/>
          <p:cNvSpPr txBox="1">
            <a:spLocks noChangeArrowheads="1"/>
          </p:cNvSpPr>
          <p:nvPr/>
        </p:nvSpPr>
        <p:spPr bwMode="auto">
          <a:xfrm>
            <a:off x="963613" y="5129921"/>
            <a:ext cx="79740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内容：积聚、实形和类似，对特殊位置平面要敏感。</a:t>
            </a:r>
          </a:p>
        </p:txBody>
      </p:sp>
      <p:sp>
        <p:nvSpPr>
          <p:cNvPr id="198668" name="Text Box 12"/>
          <p:cNvSpPr txBox="1">
            <a:spLocks noChangeArrowheads="1"/>
          </p:cNvSpPr>
          <p:nvPr/>
        </p:nvSpPr>
        <p:spPr bwMode="auto">
          <a:xfrm>
            <a:off x="947738" y="5602996"/>
            <a:ext cx="819626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问题：在平面</a:t>
            </a:r>
            <a:r>
              <a:rPr lang="zh-CN" altLang="en-US" sz="2400" i="0" baseline="0" dirty="0" smtClean="0"/>
              <a:t>上做直线</a:t>
            </a:r>
            <a:r>
              <a:rPr lang="zh-CN" altLang="en-US" sz="2400" i="0" baseline="0" dirty="0"/>
              <a:t>，在平面</a:t>
            </a:r>
            <a:r>
              <a:rPr lang="zh-CN" altLang="en-US" sz="2400" i="0" baseline="0" dirty="0" smtClean="0"/>
              <a:t>上做点</a:t>
            </a:r>
            <a:r>
              <a:rPr lang="zh-CN" altLang="en-US" sz="2400" i="0" baseline="0" dirty="0"/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/>
      <p:bldP spid="198660" grpId="0" autoUpdateAnimBg="0"/>
      <p:bldP spid="198661" grpId="0" autoUpdateAnimBg="0"/>
      <p:bldP spid="198662" grpId="0" autoUpdateAnimBg="0"/>
      <p:bldP spid="198663" grpId="0" autoUpdateAnimBg="0"/>
      <p:bldP spid="198664" grpId="0" autoUpdateAnimBg="0"/>
      <p:bldP spid="198665" grpId="0" autoUpdateAnimBg="0"/>
      <p:bldP spid="198666" grpId="0" autoUpdateAnimBg="0"/>
      <p:bldP spid="198667" grpId="0" autoUpdateAnimBg="0"/>
      <p:bldP spid="19866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631B-7A31-436E-85B3-E8DF0045E2A2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99682" name="Text Box 2"/>
          <p:cNvSpPr txBox="1">
            <a:spLocks noChangeArrowheads="1"/>
          </p:cNvSpPr>
          <p:nvPr/>
        </p:nvSpPr>
        <p:spPr bwMode="auto">
          <a:xfrm>
            <a:off x="212725" y="441325"/>
            <a:ext cx="8931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i="0" baseline="0" dirty="0"/>
              <a:t>2  </a:t>
            </a:r>
            <a:r>
              <a:rPr lang="zh-CN" altLang="en-US" i="0" baseline="0" dirty="0"/>
              <a:t>几何元素的相对位置关系</a:t>
            </a:r>
          </a:p>
        </p:txBody>
      </p:sp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212725" y="1098550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2.1   </a:t>
            </a:r>
            <a:r>
              <a:rPr lang="zh-CN" altLang="en-US" sz="2800" i="0" baseline="0"/>
              <a:t>平行</a:t>
            </a:r>
          </a:p>
        </p:txBody>
      </p:sp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979488" y="1616075"/>
            <a:ext cx="797401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内容：线面平行，面面平行。</a:t>
            </a:r>
          </a:p>
        </p:txBody>
      </p:sp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212725" y="2714625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2.2   </a:t>
            </a:r>
            <a:r>
              <a:rPr lang="zh-CN" altLang="en-US" sz="2800" i="0" baseline="0"/>
              <a:t>相交</a:t>
            </a:r>
          </a:p>
        </p:txBody>
      </p:sp>
      <p:sp>
        <p:nvSpPr>
          <p:cNvPr id="199686" name="Text Box 6"/>
          <p:cNvSpPr txBox="1">
            <a:spLocks noChangeArrowheads="1"/>
          </p:cNvSpPr>
          <p:nvPr/>
        </p:nvSpPr>
        <p:spPr bwMode="auto">
          <a:xfrm>
            <a:off x="963613" y="3232150"/>
            <a:ext cx="797401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内容：直线和平面相交，平面和平面</a:t>
            </a:r>
            <a:r>
              <a:rPr lang="zh-CN" altLang="en-US" sz="2400" i="0" baseline="0" dirty="0" smtClean="0"/>
              <a:t>相交，特殊位置讨论。</a:t>
            </a:r>
            <a:endParaRPr lang="zh-CN" altLang="en-US" sz="2400" i="0" baseline="0" dirty="0"/>
          </a:p>
        </p:txBody>
      </p:sp>
      <p:sp>
        <p:nvSpPr>
          <p:cNvPr id="199687" name="Text Box 7"/>
          <p:cNvSpPr txBox="1">
            <a:spLocks noChangeArrowheads="1"/>
          </p:cNvSpPr>
          <p:nvPr/>
        </p:nvSpPr>
        <p:spPr bwMode="auto">
          <a:xfrm>
            <a:off x="947738" y="3705225"/>
            <a:ext cx="819626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问题：交点和可见性，交线和</a:t>
            </a:r>
            <a:r>
              <a:rPr lang="zh-CN" altLang="en-US" sz="2400" i="0" baseline="0" dirty="0" smtClean="0"/>
              <a:t>可见性，注意重叠部分。</a:t>
            </a:r>
            <a:endParaRPr lang="zh-CN" altLang="en-US" sz="2400" i="0" baseline="0" dirty="0"/>
          </a:p>
        </p:txBody>
      </p:sp>
      <p:sp>
        <p:nvSpPr>
          <p:cNvPr id="199688" name="Text Box 8"/>
          <p:cNvSpPr txBox="1">
            <a:spLocks noChangeArrowheads="1"/>
          </p:cNvSpPr>
          <p:nvPr/>
        </p:nvSpPr>
        <p:spPr bwMode="auto">
          <a:xfrm>
            <a:off x="212725" y="4538663"/>
            <a:ext cx="8931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/>
              <a:t>2.3   </a:t>
            </a:r>
            <a:r>
              <a:rPr lang="zh-CN" altLang="en-US" sz="2800" i="0" baseline="0" dirty="0"/>
              <a:t>垂直</a:t>
            </a:r>
          </a:p>
        </p:txBody>
      </p:sp>
      <p:sp>
        <p:nvSpPr>
          <p:cNvPr id="199689" name="Text Box 9"/>
          <p:cNvSpPr txBox="1">
            <a:spLocks noChangeArrowheads="1"/>
          </p:cNvSpPr>
          <p:nvPr/>
        </p:nvSpPr>
        <p:spPr bwMode="auto">
          <a:xfrm>
            <a:off x="963613" y="5056188"/>
            <a:ext cx="79740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内容：直角定理及推论，直线和平面，平面与平面。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947738" y="5529263"/>
            <a:ext cx="8196262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问题：过</a:t>
            </a:r>
            <a:r>
              <a:rPr lang="zh-CN" altLang="en-US" sz="2400" i="0" baseline="0" dirty="0" smtClean="0"/>
              <a:t>点做直线</a:t>
            </a:r>
            <a:r>
              <a:rPr lang="zh-CN" altLang="en-US" sz="2400" i="0" baseline="0" dirty="0"/>
              <a:t>垂直于已知平面，点到面的距离，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            过</a:t>
            </a:r>
            <a:r>
              <a:rPr lang="zh-CN" altLang="en-US" sz="2400" i="0" baseline="0" dirty="0" smtClean="0"/>
              <a:t>点做直线</a:t>
            </a:r>
            <a:r>
              <a:rPr lang="zh-CN" altLang="en-US" sz="2400" i="0" baseline="0" dirty="0"/>
              <a:t>与已知直线垂直相交。            </a:t>
            </a:r>
          </a:p>
        </p:txBody>
      </p:sp>
      <p:sp>
        <p:nvSpPr>
          <p:cNvPr id="199691" name="Text Box 11"/>
          <p:cNvSpPr txBox="1">
            <a:spLocks noChangeArrowheads="1"/>
          </p:cNvSpPr>
          <p:nvPr/>
        </p:nvSpPr>
        <p:spPr bwMode="auto">
          <a:xfrm>
            <a:off x="984250" y="2033588"/>
            <a:ext cx="79740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/>
              <a:t>问题</a:t>
            </a:r>
            <a:r>
              <a:rPr lang="zh-CN" altLang="en-US" sz="2400" i="0" baseline="0" dirty="0" smtClean="0"/>
              <a:t>：做平行</a:t>
            </a:r>
            <a:r>
              <a:rPr lang="zh-CN" altLang="en-US" sz="2400" i="0" baseline="0" dirty="0"/>
              <a:t>于平面的直线</a:t>
            </a:r>
            <a:r>
              <a:rPr lang="zh-CN" altLang="en-US" sz="2400" i="0" baseline="0" dirty="0" smtClean="0"/>
              <a:t>，做平行</a:t>
            </a:r>
            <a:r>
              <a:rPr lang="zh-CN" altLang="en-US" sz="2400" i="0" baseline="0" dirty="0"/>
              <a:t>于平面的平面。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utoUpdateAnimBg="0"/>
      <p:bldP spid="199683" grpId="0" autoUpdateAnimBg="0"/>
      <p:bldP spid="199684" grpId="0" autoUpdateAnimBg="0"/>
      <p:bldP spid="199685" grpId="0" autoUpdateAnimBg="0"/>
      <p:bldP spid="199686" grpId="0" autoUpdateAnimBg="0"/>
      <p:bldP spid="199687" grpId="0" autoUpdateAnimBg="0"/>
      <p:bldP spid="199688" grpId="0" autoUpdateAnimBg="0"/>
      <p:bldP spid="199689" grpId="0" autoUpdateAnimBg="0"/>
      <p:bldP spid="199690" grpId="0" autoUpdateAnimBg="0"/>
      <p:bldP spid="19969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E4832E-2193-4846-BBE1-4E8F1422B323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212725" y="212725"/>
            <a:ext cx="880110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第三章 几何元素间的相对位置</a:t>
            </a:r>
          </a:p>
          <a:p>
            <a:pPr eaLnBrk="1" hangingPunct="1">
              <a:buClrTx/>
              <a:buFontTx/>
              <a:buNone/>
            </a:pPr>
            <a:r>
              <a:rPr lang="en-US" altLang="zh-CN" i="0" baseline="0">
                <a:latin typeface="黑体" pitchFamily="2" charset="-122"/>
                <a:ea typeface="黑体" pitchFamily="2" charset="-122"/>
              </a:rPr>
              <a:t>§3.6 </a:t>
            </a:r>
            <a:r>
              <a:rPr lang="zh-CN" altLang="en-US" i="0" baseline="0">
                <a:latin typeface="黑体" pitchFamily="2" charset="-122"/>
                <a:ea typeface="黑体" pitchFamily="2" charset="-122"/>
              </a:rPr>
              <a:t>相对位置综合问题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    </a:t>
            </a:r>
            <a:endParaRPr lang="zh-CN" altLang="en-US" sz="2800" b="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229" name="Text Box 109"/>
          <p:cNvSpPr txBox="1">
            <a:spLocks noChangeArrowheads="1"/>
          </p:cNvSpPr>
          <p:nvPr/>
        </p:nvSpPr>
        <p:spPr bwMode="auto">
          <a:xfrm>
            <a:off x="474663" y="2803525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>
                <a:latin typeface="黑体" pitchFamily="2" charset="-122"/>
                <a:ea typeface="黑体" pitchFamily="2" charset="-122"/>
              </a:rPr>
              <a:t>要求：点、线、面的基本知识及相互关系应熟练掌握。</a:t>
            </a:r>
          </a:p>
        </p:txBody>
      </p:sp>
      <p:sp>
        <p:nvSpPr>
          <p:cNvPr id="5230" name="Text Box 110"/>
          <p:cNvSpPr txBox="1">
            <a:spLocks noChangeArrowheads="1"/>
          </p:cNvSpPr>
          <p:nvPr/>
        </p:nvSpPr>
        <p:spPr bwMode="auto">
          <a:xfrm>
            <a:off x="342900" y="1797050"/>
            <a:ext cx="8801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定位问题：确定点线面的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从属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平行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相交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垂直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等关系。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度量问题：求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距离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角度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、线段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实长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及平面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实形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轨迹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等。</a:t>
            </a:r>
          </a:p>
        </p:txBody>
      </p:sp>
      <p:sp>
        <p:nvSpPr>
          <p:cNvPr id="5231" name="Text Box 111"/>
          <p:cNvSpPr txBox="1">
            <a:spLocks noChangeArrowheads="1"/>
          </p:cNvSpPr>
          <p:nvPr/>
        </p:nvSpPr>
        <p:spPr bwMode="auto">
          <a:xfrm>
            <a:off x="342900" y="3495675"/>
            <a:ext cx="880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解决综合问题的一般过程：</a:t>
            </a:r>
          </a:p>
        </p:txBody>
      </p:sp>
      <p:sp>
        <p:nvSpPr>
          <p:cNvPr id="5232" name="Text Box 112"/>
          <p:cNvSpPr txBox="1">
            <a:spLocks noChangeArrowheads="1"/>
          </p:cNvSpPr>
          <p:nvPr/>
        </p:nvSpPr>
        <p:spPr bwMode="auto">
          <a:xfrm>
            <a:off x="320675" y="4164013"/>
            <a:ext cx="2214563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投影分析</a:t>
            </a:r>
          </a:p>
          <a:p>
            <a:pPr eaLnBrk="1" hangingPunct="1">
              <a:buClrTx/>
              <a:buFontTx/>
              <a:buAutoNum type="arabicPeriod"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空间分析</a:t>
            </a:r>
          </a:p>
          <a:p>
            <a:pPr eaLnBrk="1" hangingPunct="1">
              <a:buClrTx/>
              <a:buFontTx/>
              <a:buAutoNum type="arabicPeriod"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确定方法</a:t>
            </a:r>
          </a:p>
          <a:p>
            <a:pPr eaLnBrk="1" hangingPunct="1">
              <a:buClrTx/>
              <a:buFontTx/>
              <a:buAutoNum type="arabicPeriod"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投影作图</a:t>
            </a:r>
          </a:p>
        </p:txBody>
      </p:sp>
      <p:sp>
        <p:nvSpPr>
          <p:cNvPr id="5233" name="Text Box 113"/>
          <p:cNvSpPr txBox="1">
            <a:spLocks noChangeArrowheads="1"/>
          </p:cNvSpPr>
          <p:nvPr/>
        </p:nvSpPr>
        <p:spPr bwMode="auto">
          <a:xfrm>
            <a:off x="2601913" y="4187825"/>
            <a:ext cx="554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baseline="0">
                <a:latin typeface="黑体" pitchFamily="2" charset="-122"/>
                <a:ea typeface="黑体" pitchFamily="2" charset="-122"/>
              </a:rPr>
              <a:t>根据已知条件，明确空间关系。</a:t>
            </a:r>
          </a:p>
        </p:txBody>
      </p:sp>
      <p:sp>
        <p:nvSpPr>
          <p:cNvPr id="5234" name="Text Box 114"/>
          <p:cNvSpPr txBox="1">
            <a:spLocks noChangeArrowheads="1"/>
          </p:cNvSpPr>
          <p:nvPr/>
        </p:nvSpPr>
        <p:spPr bwMode="auto">
          <a:xfrm>
            <a:off x="2584450" y="4618038"/>
            <a:ext cx="554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baseline="0">
                <a:latin typeface="黑体" pitchFamily="2" charset="-122"/>
                <a:ea typeface="黑体" pitchFamily="2" charset="-122"/>
              </a:rPr>
              <a:t>运用形象思维，建立空间模型。</a:t>
            </a:r>
          </a:p>
        </p:txBody>
      </p:sp>
      <p:sp>
        <p:nvSpPr>
          <p:cNvPr id="5235" name="Text Box 115"/>
          <p:cNvSpPr txBox="1">
            <a:spLocks noChangeArrowheads="1"/>
          </p:cNvSpPr>
          <p:nvPr/>
        </p:nvSpPr>
        <p:spPr bwMode="auto">
          <a:xfrm>
            <a:off x="2600325" y="5080000"/>
            <a:ext cx="554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baseline="0">
                <a:latin typeface="黑体" pitchFamily="2" charset="-122"/>
                <a:ea typeface="黑体" pitchFamily="2" charset="-122"/>
              </a:rPr>
              <a:t>应用迁移思维，确定具体步骤。</a:t>
            </a:r>
          </a:p>
        </p:txBody>
      </p:sp>
      <p:sp>
        <p:nvSpPr>
          <p:cNvPr id="5236" name="Text Box 116"/>
          <p:cNvSpPr txBox="1">
            <a:spLocks noChangeArrowheads="1"/>
          </p:cNvSpPr>
          <p:nvPr/>
        </p:nvSpPr>
        <p:spPr bwMode="auto">
          <a:xfrm>
            <a:off x="2573338" y="5541963"/>
            <a:ext cx="554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baseline="0">
                <a:latin typeface="黑体" pitchFamily="2" charset="-122"/>
                <a:ea typeface="黑体" pitchFamily="2" charset="-122"/>
              </a:rPr>
              <a:t>利用图形语言，表达思维结果。</a:t>
            </a:r>
          </a:p>
        </p:txBody>
      </p:sp>
      <p:sp>
        <p:nvSpPr>
          <p:cNvPr id="12" name="Text Box 109"/>
          <p:cNvSpPr txBox="1">
            <a:spLocks noChangeArrowheads="1"/>
          </p:cNvSpPr>
          <p:nvPr/>
        </p:nvSpPr>
        <p:spPr bwMode="auto">
          <a:xfrm>
            <a:off x="6508134" y="4631498"/>
            <a:ext cx="26185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描述问题在平面</a:t>
            </a:r>
            <a:endParaRPr lang="en-US" altLang="zh-CN" sz="2400" i="0" baseline="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解决问题在空间</a:t>
            </a:r>
            <a:endParaRPr lang="zh-CN" altLang="en-US" sz="2400" i="0" baseline="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9" grpId="0" autoUpdateAnimBg="0"/>
      <p:bldP spid="5230" grpId="0" build="p"/>
      <p:bldP spid="5231" grpId="0" build="p"/>
      <p:bldP spid="5232" grpId="0" build="p"/>
      <p:bldP spid="5233" grpId="0" autoUpdateAnimBg="0"/>
      <p:bldP spid="5234" grpId="0" autoUpdateAnimBg="0"/>
      <p:bldP spid="5235" grpId="0" autoUpdateAnimBg="0"/>
      <p:bldP spid="5236" grpId="0" autoUpdateAnimBg="0"/>
      <p:bldP spid="1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79FD93-E67D-44A7-BA73-343FA4E0023E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524500" y="2565400"/>
            <a:ext cx="774700" cy="3378200"/>
            <a:chOff x="3480" y="1616"/>
            <a:chExt cx="488" cy="2128"/>
          </a:xfrm>
        </p:grpSpPr>
        <p:sp>
          <p:nvSpPr>
            <p:cNvPr id="7263" name="Line 3"/>
            <p:cNvSpPr>
              <a:spLocks noChangeShapeType="1"/>
            </p:cNvSpPr>
            <p:nvPr/>
          </p:nvSpPr>
          <p:spPr bwMode="auto">
            <a:xfrm>
              <a:off x="3968" y="2192"/>
              <a:ext cx="0" cy="15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64" name="Line 4"/>
            <p:cNvSpPr>
              <a:spLocks noChangeShapeType="1"/>
            </p:cNvSpPr>
            <p:nvPr/>
          </p:nvSpPr>
          <p:spPr bwMode="auto">
            <a:xfrm>
              <a:off x="3760" y="1928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65" name="Line 5"/>
            <p:cNvSpPr>
              <a:spLocks noChangeShapeType="1"/>
            </p:cNvSpPr>
            <p:nvPr/>
          </p:nvSpPr>
          <p:spPr bwMode="auto">
            <a:xfrm flipH="1" flipV="1">
              <a:off x="3480" y="1616"/>
              <a:ext cx="488" cy="5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2342" name="Line 6"/>
          <p:cNvSpPr>
            <a:spLocks noChangeShapeType="1"/>
          </p:cNvSpPr>
          <p:nvPr/>
        </p:nvSpPr>
        <p:spPr bwMode="auto">
          <a:xfrm>
            <a:off x="5267325" y="2495550"/>
            <a:ext cx="0" cy="310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3" name="Text Box 7"/>
          <p:cNvSpPr txBox="1">
            <a:spLocks noChangeArrowheads="1"/>
          </p:cNvSpPr>
          <p:nvPr/>
        </p:nvSpPr>
        <p:spPr bwMode="auto">
          <a:xfrm>
            <a:off x="114300" y="447675"/>
            <a:ext cx="6516688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例：求已知直线与平面的夹角的实际大小。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4756150" y="2566988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6426200" y="183038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'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6324600" y="5956300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4803775" y="5151438"/>
            <a:ext cx="388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182563" y="3771900"/>
            <a:ext cx="4127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步骤：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MN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与△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ABC</a:t>
            </a:r>
            <a:r>
              <a:rPr kumimoji="0" lang="zh-CN" altLang="zh-CN" sz="2400" i="0" baseline="0">
                <a:latin typeface="黑体" pitchFamily="2" charset="-122"/>
                <a:ea typeface="黑体" pitchFamily="2" charset="-122"/>
              </a:rPr>
              <a:t>的交点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K (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求交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5772150" y="3244850"/>
            <a:ext cx="0" cy="285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>
            <a:off x="7537450" y="4022725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51" name="Text Box 15"/>
          <p:cNvSpPr txBox="1">
            <a:spLocks noChangeArrowheads="1"/>
          </p:cNvSpPr>
          <p:nvPr/>
        </p:nvSpPr>
        <p:spPr bwMode="auto">
          <a:xfrm>
            <a:off x="5453063" y="294957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7510463" y="3754438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6710363" y="1968500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5653088" y="59753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6802438" y="42402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7504113" y="5335588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2357" name="Freeform 21"/>
          <p:cNvSpPr>
            <a:spLocks/>
          </p:cNvSpPr>
          <p:nvPr/>
        </p:nvSpPr>
        <p:spPr bwMode="auto">
          <a:xfrm>
            <a:off x="5768975" y="2309813"/>
            <a:ext cx="1768475" cy="1706562"/>
          </a:xfrm>
          <a:custGeom>
            <a:avLst/>
            <a:gdLst>
              <a:gd name="T0" fmla="*/ 0 w 852"/>
              <a:gd name="T1" fmla="*/ 1939603214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1939603214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58" name="Freeform 22"/>
          <p:cNvSpPr>
            <a:spLocks/>
          </p:cNvSpPr>
          <p:nvPr/>
        </p:nvSpPr>
        <p:spPr bwMode="auto">
          <a:xfrm flipV="1">
            <a:off x="5768975" y="4540250"/>
            <a:ext cx="1768475" cy="1555750"/>
          </a:xfrm>
          <a:custGeom>
            <a:avLst/>
            <a:gdLst>
              <a:gd name="T0" fmla="*/ 0 w 852"/>
              <a:gd name="T1" fmla="*/ 0 h 750"/>
              <a:gd name="T2" fmla="*/ 2147483647 w 852"/>
              <a:gd name="T3" fmla="*/ 1045594683 h 750"/>
              <a:gd name="T4" fmla="*/ 2147483647 w 852"/>
              <a:gd name="T5" fmla="*/ 2147483647 h 750"/>
              <a:gd name="T6" fmla="*/ 0 w 852"/>
              <a:gd name="T7" fmla="*/ 0 h 750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750"/>
              <a:gd name="T14" fmla="*/ 852 w 852"/>
              <a:gd name="T15" fmla="*/ 750 h 7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750">
                <a:moveTo>
                  <a:pt x="0" y="0"/>
                </a:moveTo>
                <a:lnTo>
                  <a:pt x="852" y="243"/>
                </a:lnTo>
                <a:lnTo>
                  <a:pt x="507" y="75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59" name="Line 23"/>
          <p:cNvSpPr>
            <a:spLocks noChangeShapeType="1"/>
          </p:cNvSpPr>
          <p:nvPr/>
        </p:nvSpPr>
        <p:spPr bwMode="auto">
          <a:xfrm>
            <a:off x="6819900" y="2316163"/>
            <a:ext cx="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60" name="Line 24"/>
          <p:cNvSpPr>
            <a:spLocks noChangeShapeType="1"/>
          </p:cNvSpPr>
          <p:nvPr/>
        </p:nvSpPr>
        <p:spPr bwMode="auto">
          <a:xfrm>
            <a:off x="6819900" y="43576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6819900" y="252888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62" name="Line 26"/>
          <p:cNvSpPr>
            <a:spLocks noChangeShapeType="1"/>
          </p:cNvSpPr>
          <p:nvPr/>
        </p:nvSpPr>
        <p:spPr bwMode="auto">
          <a:xfrm>
            <a:off x="4702175" y="4229100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3" name="Line 27"/>
          <p:cNvSpPr>
            <a:spLocks noChangeShapeType="1"/>
          </p:cNvSpPr>
          <p:nvPr/>
        </p:nvSpPr>
        <p:spPr bwMode="auto">
          <a:xfrm flipV="1">
            <a:off x="5105400" y="2155825"/>
            <a:ext cx="1371600" cy="587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4" name="Line 28"/>
          <p:cNvSpPr>
            <a:spLocks noChangeShapeType="1"/>
          </p:cNvSpPr>
          <p:nvPr/>
        </p:nvSpPr>
        <p:spPr bwMode="auto">
          <a:xfrm flipH="1">
            <a:off x="5116513" y="2743200"/>
            <a:ext cx="1587" cy="263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5" name="Line 29"/>
          <p:cNvSpPr>
            <a:spLocks noChangeShapeType="1"/>
          </p:cNvSpPr>
          <p:nvPr/>
        </p:nvSpPr>
        <p:spPr bwMode="auto">
          <a:xfrm>
            <a:off x="6477000" y="2146300"/>
            <a:ext cx="0" cy="387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6" name="Line 30"/>
          <p:cNvSpPr>
            <a:spLocks noChangeShapeType="1"/>
          </p:cNvSpPr>
          <p:nvPr/>
        </p:nvSpPr>
        <p:spPr bwMode="auto">
          <a:xfrm>
            <a:off x="5116513" y="5375275"/>
            <a:ext cx="1360487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7" name="Line 31"/>
          <p:cNvSpPr>
            <a:spLocks noChangeShapeType="1"/>
          </p:cNvSpPr>
          <p:nvPr/>
        </p:nvSpPr>
        <p:spPr bwMode="auto">
          <a:xfrm>
            <a:off x="5772150" y="3244850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8" name="Line 32"/>
          <p:cNvSpPr>
            <a:spLocks noChangeShapeType="1"/>
          </p:cNvSpPr>
          <p:nvPr/>
        </p:nvSpPr>
        <p:spPr bwMode="auto">
          <a:xfrm>
            <a:off x="7223125" y="3244850"/>
            <a:ext cx="0" cy="100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69" name="Line 33"/>
          <p:cNvSpPr>
            <a:spLocks noChangeShapeType="1"/>
          </p:cNvSpPr>
          <p:nvPr/>
        </p:nvSpPr>
        <p:spPr bwMode="auto">
          <a:xfrm flipV="1">
            <a:off x="5124450" y="5132388"/>
            <a:ext cx="2106613" cy="138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0" name="Text Box 34"/>
          <p:cNvSpPr txBox="1">
            <a:spLocks noChangeArrowheads="1"/>
          </p:cNvSpPr>
          <p:nvPr/>
        </p:nvSpPr>
        <p:spPr bwMode="auto">
          <a:xfrm>
            <a:off x="7200900" y="2967038"/>
            <a:ext cx="420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2371" name="Text Box 35"/>
          <p:cNvSpPr txBox="1">
            <a:spLocks noChangeArrowheads="1"/>
          </p:cNvSpPr>
          <p:nvPr/>
        </p:nvSpPr>
        <p:spPr bwMode="auto">
          <a:xfrm>
            <a:off x="7119938" y="4930775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142372" name="Line 36"/>
          <p:cNvSpPr>
            <a:spLocks noChangeShapeType="1"/>
          </p:cNvSpPr>
          <p:nvPr/>
        </p:nvSpPr>
        <p:spPr bwMode="auto">
          <a:xfrm>
            <a:off x="5114925" y="5372100"/>
            <a:ext cx="539750" cy="804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3" name="Line 37"/>
          <p:cNvSpPr>
            <a:spLocks noChangeShapeType="1"/>
          </p:cNvSpPr>
          <p:nvPr/>
        </p:nvSpPr>
        <p:spPr bwMode="auto">
          <a:xfrm flipH="1">
            <a:off x="6113463" y="5583238"/>
            <a:ext cx="1416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4" name="Line 38"/>
          <p:cNvSpPr>
            <a:spLocks noChangeShapeType="1"/>
          </p:cNvSpPr>
          <p:nvPr/>
        </p:nvSpPr>
        <p:spPr bwMode="auto">
          <a:xfrm flipV="1">
            <a:off x="6115050" y="4203700"/>
            <a:ext cx="0" cy="138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5" name="Line 39"/>
          <p:cNvSpPr>
            <a:spLocks noChangeShapeType="1"/>
          </p:cNvSpPr>
          <p:nvPr/>
        </p:nvSpPr>
        <p:spPr bwMode="auto">
          <a:xfrm flipH="1" flipV="1">
            <a:off x="6115050" y="2933700"/>
            <a:ext cx="1422400" cy="1082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6" name="Line 40"/>
          <p:cNvSpPr>
            <a:spLocks noChangeShapeType="1"/>
          </p:cNvSpPr>
          <p:nvPr/>
        </p:nvSpPr>
        <p:spPr bwMode="auto">
          <a:xfrm flipH="1" flipV="1">
            <a:off x="5367338" y="2351088"/>
            <a:ext cx="757237" cy="588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77" name="Line 41"/>
          <p:cNvSpPr>
            <a:spLocks noChangeShapeType="1"/>
          </p:cNvSpPr>
          <p:nvPr/>
        </p:nvSpPr>
        <p:spPr bwMode="auto">
          <a:xfrm flipV="1">
            <a:off x="5113338" y="1911350"/>
            <a:ext cx="534987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78" name="Text Box 42"/>
          <p:cNvSpPr txBox="1">
            <a:spLocks noChangeArrowheads="1"/>
          </p:cNvSpPr>
          <p:nvPr/>
        </p:nvSpPr>
        <p:spPr bwMode="auto">
          <a:xfrm>
            <a:off x="5711825" y="5435600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2</a:t>
            </a:r>
          </a:p>
        </p:txBody>
      </p:sp>
      <p:sp>
        <p:nvSpPr>
          <p:cNvPr id="142379" name="Text Box 43"/>
          <p:cNvSpPr txBox="1">
            <a:spLocks noChangeArrowheads="1"/>
          </p:cNvSpPr>
          <p:nvPr/>
        </p:nvSpPr>
        <p:spPr bwMode="auto">
          <a:xfrm>
            <a:off x="5972175" y="2570163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2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2380" name="Line 44"/>
          <p:cNvSpPr>
            <a:spLocks noChangeShapeType="1"/>
          </p:cNvSpPr>
          <p:nvPr/>
        </p:nvSpPr>
        <p:spPr bwMode="auto">
          <a:xfrm flipH="1" flipV="1">
            <a:off x="5651500" y="1911350"/>
            <a:ext cx="0" cy="425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381" name="Text Box 45"/>
          <p:cNvSpPr txBox="1">
            <a:spLocks noChangeArrowheads="1"/>
          </p:cNvSpPr>
          <p:nvPr/>
        </p:nvSpPr>
        <p:spPr bwMode="auto">
          <a:xfrm>
            <a:off x="5599113" y="1700213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d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'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42382" name="Text Box 46"/>
          <p:cNvSpPr txBox="1">
            <a:spLocks noChangeArrowheads="1"/>
          </p:cNvSpPr>
          <p:nvPr/>
        </p:nvSpPr>
        <p:spPr bwMode="auto">
          <a:xfrm>
            <a:off x="5440363" y="6108700"/>
            <a:ext cx="4270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d</a:t>
            </a:r>
          </a:p>
        </p:txBody>
      </p:sp>
      <p:sp>
        <p:nvSpPr>
          <p:cNvPr id="142383" name="Line 47"/>
          <p:cNvSpPr>
            <a:spLocks noChangeShapeType="1"/>
          </p:cNvSpPr>
          <p:nvPr/>
        </p:nvSpPr>
        <p:spPr bwMode="auto">
          <a:xfrm flipV="1">
            <a:off x="6115050" y="29337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84" name="Line 48"/>
          <p:cNvSpPr>
            <a:spLocks noChangeShapeType="1"/>
          </p:cNvSpPr>
          <p:nvPr/>
        </p:nvSpPr>
        <p:spPr bwMode="auto">
          <a:xfrm>
            <a:off x="7219950" y="4229100"/>
            <a:ext cx="0" cy="901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6462716" y="5870582"/>
            <a:ext cx="903288" cy="461963"/>
            <a:chOff x="4071" y="3698"/>
            <a:chExt cx="569" cy="291"/>
          </a:xfrm>
        </p:grpSpPr>
        <p:sp>
          <p:nvSpPr>
            <p:cNvPr id="7261" name="Line 56"/>
            <p:cNvSpPr>
              <a:spLocks noChangeShapeType="1"/>
            </p:cNvSpPr>
            <p:nvPr/>
          </p:nvSpPr>
          <p:spPr bwMode="auto">
            <a:xfrm>
              <a:off x="4071" y="3792"/>
              <a:ext cx="414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62" name="Text Box 57"/>
            <p:cNvSpPr txBox="1">
              <a:spLocks noChangeArrowheads="1"/>
            </p:cNvSpPr>
            <p:nvPr/>
          </p:nvSpPr>
          <p:spPr bwMode="auto">
            <a:xfrm>
              <a:off x="4362" y="3698"/>
              <a:ext cx="2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aseline="0" dirty="0" smtClean="0">
                  <a:latin typeface="ISOCPEUR" pitchFamily="34" charset="0"/>
                </a:rPr>
                <a:t>P</a:t>
              </a:r>
              <a:r>
                <a:rPr kumimoji="0" lang="en-US" altLang="zh-CN" sz="2000" baseline="-25000" dirty="0" smtClean="0">
                  <a:latin typeface="ISOCPEUR" pitchFamily="34" charset="0"/>
                </a:rPr>
                <a:t>H</a:t>
              </a:r>
              <a:endParaRPr kumimoji="0" lang="en-US" altLang="zh-CN" sz="2400" i="0" baseline="-25000" dirty="0">
                <a:latin typeface="ISOCPEUR" pitchFamily="34" charset="0"/>
              </a:endParaRPr>
            </a:p>
          </p:txBody>
        </p:sp>
      </p:grpSp>
      <p:sp>
        <p:nvSpPr>
          <p:cNvPr id="142394" name="Text Box 58"/>
          <p:cNvSpPr txBox="1">
            <a:spLocks noChangeArrowheads="1"/>
          </p:cNvSpPr>
          <p:nvPr/>
        </p:nvSpPr>
        <p:spPr bwMode="auto">
          <a:xfrm>
            <a:off x="5451475" y="2205038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k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2395" name="Line 59"/>
          <p:cNvSpPr>
            <a:spLocks noChangeShapeType="1"/>
          </p:cNvSpPr>
          <p:nvPr/>
        </p:nvSpPr>
        <p:spPr bwMode="auto">
          <a:xfrm>
            <a:off x="5511800" y="2552700"/>
            <a:ext cx="0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96" name="AutoShape 60"/>
          <p:cNvSpPr>
            <a:spLocks noChangeArrowheads="1"/>
          </p:cNvSpPr>
          <p:nvPr/>
        </p:nvSpPr>
        <p:spPr bwMode="auto">
          <a:xfrm>
            <a:off x="5468938" y="5529263"/>
            <a:ext cx="93662" cy="93662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42397" name="AutoShape 61"/>
          <p:cNvSpPr>
            <a:spLocks noChangeArrowheads="1"/>
          </p:cNvSpPr>
          <p:nvPr/>
        </p:nvSpPr>
        <p:spPr bwMode="auto">
          <a:xfrm>
            <a:off x="5467350" y="2514600"/>
            <a:ext cx="93663" cy="93663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42398" name="Text Box 62"/>
          <p:cNvSpPr txBox="1">
            <a:spLocks noChangeArrowheads="1"/>
          </p:cNvSpPr>
          <p:nvPr/>
        </p:nvSpPr>
        <p:spPr bwMode="auto">
          <a:xfrm>
            <a:off x="5456238" y="5264150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k</a:t>
            </a:r>
          </a:p>
        </p:txBody>
      </p: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5465763" y="6037263"/>
            <a:ext cx="206375" cy="222250"/>
            <a:chOff x="3443" y="3803"/>
            <a:chExt cx="130" cy="140"/>
          </a:xfrm>
        </p:grpSpPr>
        <p:sp>
          <p:nvSpPr>
            <p:cNvPr id="7259" name="Arc 64"/>
            <p:cNvSpPr>
              <a:spLocks/>
            </p:cNvSpPr>
            <p:nvPr/>
          </p:nvSpPr>
          <p:spPr bwMode="auto">
            <a:xfrm>
              <a:off x="3459" y="3803"/>
              <a:ext cx="96" cy="132"/>
            </a:xfrm>
            <a:custGeom>
              <a:avLst/>
              <a:gdLst>
                <a:gd name="T0" fmla="*/ 0 w 21600"/>
                <a:gd name="T1" fmla="*/ 0 h 29672"/>
                <a:gd name="T2" fmla="*/ 0 w 21600"/>
                <a:gd name="T3" fmla="*/ 0 h 29672"/>
                <a:gd name="T4" fmla="*/ 0 w 21600"/>
                <a:gd name="T5" fmla="*/ 0 h 2967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672"/>
                <a:gd name="T11" fmla="*/ 21600 w 21600"/>
                <a:gd name="T12" fmla="*/ 29672 h 29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672" fill="none" extrusionOk="0">
                  <a:moveTo>
                    <a:pt x="3489" y="29672"/>
                  </a:moveTo>
                  <a:cubicBezTo>
                    <a:pt x="1212" y="26168"/>
                    <a:pt x="0" y="22079"/>
                    <a:pt x="0" y="17900"/>
                  </a:cubicBezTo>
                  <a:cubicBezTo>
                    <a:pt x="-1" y="10723"/>
                    <a:pt x="3563" y="4016"/>
                    <a:pt x="9510" y="-1"/>
                  </a:cubicBezTo>
                </a:path>
                <a:path w="21600" h="29672" stroke="0" extrusionOk="0">
                  <a:moveTo>
                    <a:pt x="3489" y="29672"/>
                  </a:moveTo>
                  <a:cubicBezTo>
                    <a:pt x="1212" y="26168"/>
                    <a:pt x="0" y="22079"/>
                    <a:pt x="0" y="17900"/>
                  </a:cubicBezTo>
                  <a:cubicBezTo>
                    <a:pt x="-1" y="10723"/>
                    <a:pt x="3563" y="4016"/>
                    <a:pt x="9510" y="-1"/>
                  </a:cubicBezTo>
                  <a:lnTo>
                    <a:pt x="21600" y="17900"/>
                  </a:lnTo>
                  <a:lnTo>
                    <a:pt x="3489" y="2967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60" name="Text Box 65"/>
            <p:cNvSpPr txBox="1">
              <a:spLocks noChangeArrowheads="1"/>
            </p:cNvSpPr>
            <p:nvPr/>
          </p:nvSpPr>
          <p:spPr bwMode="auto">
            <a:xfrm>
              <a:off x="3443" y="3808"/>
              <a:ext cx="13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800" i="0" baseline="0">
                  <a:latin typeface="ISOCPEUR" pitchFamily="34" charset="0"/>
                </a:rPr>
                <a:t>•</a:t>
              </a:r>
            </a:p>
          </p:txBody>
        </p:sp>
      </p:grp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5275263" y="2330450"/>
            <a:ext cx="222250" cy="214313"/>
            <a:chOff x="3323" y="1468"/>
            <a:chExt cx="140" cy="135"/>
          </a:xfrm>
        </p:grpSpPr>
        <p:sp>
          <p:nvSpPr>
            <p:cNvPr id="7257" name="Arc 67"/>
            <p:cNvSpPr>
              <a:spLocks/>
            </p:cNvSpPr>
            <p:nvPr/>
          </p:nvSpPr>
          <p:spPr bwMode="auto">
            <a:xfrm>
              <a:off x="3323" y="1489"/>
              <a:ext cx="140" cy="96"/>
            </a:xfrm>
            <a:custGeom>
              <a:avLst/>
              <a:gdLst>
                <a:gd name="T0" fmla="*/ 0 w 31463"/>
                <a:gd name="T1" fmla="*/ 0 h 21600"/>
                <a:gd name="T2" fmla="*/ 0 w 31463"/>
                <a:gd name="T3" fmla="*/ 0 h 21600"/>
                <a:gd name="T4" fmla="*/ 0 w 31463"/>
                <a:gd name="T5" fmla="*/ 0 h 21600"/>
                <a:gd name="T6" fmla="*/ 0 60000 65536"/>
                <a:gd name="T7" fmla="*/ 0 60000 65536"/>
                <a:gd name="T8" fmla="*/ 0 60000 65536"/>
                <a:gd name="T9" fmla="*/ 0 w 31463"/>
                <a:gd name="T10" fmla="*/ 0 h 21600"/>
                <a:gd name="T11" fmla="*/ 31463 w 3146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63" h="21600" fill="none" extrusionOk="0">
                  <a:moveTo>
                    <a:pt x="31462" y="12646"/>
                  </a:moveTo>
                  <a:cubicBezTo>
                    <a:pt x="27401" y="18269"/>
                    <a:pt x="20887" y="21599"/>
                    <a:pt x="13952" y="21600"/>
                  </a:cubicBezTo>
                  <a:cubicBezTo>
                    <a:pt x="8843" y="21600"/>
                    <a:pt x="3899" y="19789"/>
                    <a:pt x="-1" y="16489"/>
                  </a:cubicBezTo>
                </a:path>
                <a:path w="31463" h="21600" stroke="0" extrusionOk="0">
                  <a:moveTo>
                    <a:pt x="31462" y="12646"/>
                  </a:moveTo>
                  <a:cubicBezTo>
                    <a:pt x="27401" y="18269"/>
                    <a:pt x="20887" y="21599"/>
                    <a:pt x="13952" y="21600"/>
                  </a:cubicBezTo>
                  <a:cubicBezTo>
                    <a:pt x="8843" y="21600"/>
                    <a:pt x="3899" y="19789"/>
                    <a:pt x="-1" y="16489"/>
                  </a:cubicBezTo>
                  <a:lnTo>
                    <a:pt x="13952" y="0"/>
                  </a:lnTo>
                  <a:lnTo>
                    <a:pt x="31462" y="126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58" name="Text Box 68"/>
            <p:cNvSpPr txBox="1">
              <a:spLocks noChangeArrowheads="1"/>
            </p:cNvSpPr>
            <p:nvPr/>
          </p:nvSpPr>
          <p:spPr bwMode="auto">
            <a:xfrm>
              <a:off x="3327" y="1468"/>
              <a:ext cx="13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800" i="0" baseline="0">
                  <a:latin typeface="ISOCPEUR" pitchFamily="34" charset="0"/>
                </a:rPr>
                <a:t>•</a:t>
              </a:r>
            </a:p>
          </p:txBody>
        </p:sp>
      </p:grpSp>
      <p:sp>
        <p:nvSpPr>
          <p:cNvPr id="142405" name="Text Box 69"/>
          <p:cNvSpPr txBox="1">
            <a:spLocks noChangeArrowheads="1"/>
          </p:cNvSpPr>
          <p:nvPr/>
        </p:nvSpPr>
        <p:spPr bwMode="auto">
          <a:xfrm>
            <a:off x="209550" y="4589463"/>
            <a:ext cx="326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过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作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MD  △ABC</a:t>
            </a:r>
          </a:p>
        </p:txBody>
      </p:sp>
      <p:sp>
        <p:nvSpPr>
          <p:cNvPr id="142406" name="Text Box 70"/>
          <p:cNvSpPr txBox="1">
            <a:spLocks noChangeArrowheads="1"/>
          </p:cNvSpPr>
          <p:nvPr/>
        </p:nvSpPr>
        <p:spPr bwMode="auto">
          <a:xfrm>
            <a:off x="182563" y="5032375"/>
            <a:ext cx="443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 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MD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与 △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ABC</a:t>
            </a:r>
            <a:r>
              <a:rPr kumimoji="0" lang="zh-CN" altLang="zh-CN" sz="2400" i="0" baseline="0">
                <a:latin typeface="黑体" pitchFamily="2" charset="-122"/>
                <a:ea typeface="黑体" pitchFamily="2" charset="-122"/>
              </a:rPr>
              <a:t>的交点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L (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求交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)</a:t>
            </a:r>
            <a:endParaRPr kumimoji="0" lang="zh-CN" altLang="zh-CN" sz="240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2407" name="Text Box 71"/>
          <p:cNvSpPr txBox="1">
            <a:spLocks noChangeArrowheads="1"/>
          </p:cNvSpPr>
          <p:nvPr/>
        </p:nvSpPr>
        <p:spPr bwMode="auto">
          <a:xfrm>
            <a:off x="182563" y="5441950"/>
            <a:ext cx="42846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求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MKL(△MKL)</a:t>
            </a:r>
            <a:r>
              <a:rPr kumimoji="0" lang="zh-CN" altLang="zh-CN" sz="2400" i="0" baseline="0">
                <a:latin typeface="黑体" pitchFamily="2" charset="-122"/>
                <a:ea typeface="黑体" pitchFamily="2" charset="-122"/>
              </a:rPr>
              <a:t>的实形即 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i="0" baseline="0">
                <a:latin typeface="黑体" pitchFamily="2" charset="-122"/>
                <a:ea typeface="黑体" pitchFamily="2" charset="-122"/>
              </a:rPr>
              <a:t>      </a:t>
            </a:r>
            <a:r>
              <a:rPr kumimoji="0" lang="en-US" altLang="zh-CN" sz="2000" i="0" baseline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zh-CN" altLang="en-US" sz="2000" i="0" baseline="0">
                <a:latin typeface="黑体" pitchFamily="2" charset="-122"/>
                <a:ea typeface="黑体" pitchFamily="2" charset="-122"/>
              </a:rPr>
              <a:t>分别求出</a:t>
            </a:r>
            <a:r>
              <a:rPr kumimoji="0" lang="en-US" altLang="zh-CN" sz="2000" i="0" baseline="0">
                <a:latin typeface="黑体" pitchFamily="2" charset="-122"/>
                <a:ea typeface="黑体" pitchFamily="2" charset="-122"/>
              </a:rPr>
              <a:t>MK</a:t>
            </a:r>
            <a:r>
              <a:rPr kumimoji="0" lang="zh-CN" altLang="en-US" sz="20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000" i="0" baseline="0">
                <a:latin typeface="黑体" pitchFamily="2" charset="-122"/>
                <a:ea typeface="黑体" pitchFamily="2" charset="-122"/>
              </a:rPr>
              <a:t>ML</a:t>
            </a:r>
            <a:r>
              <a:rPr kumimoji="0" lang="zh-CN" altLang="en-US" sz="2000" i="0" baseline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000" i="0" baseline="0">
                <a:latin typeface="黑体" pitchFamily="2" charset="-122"/>
                <a:ea typeface="黑体" pitchFamily="2" charset="-122"/>
              </a:rPr>
              <a:t>KL</a:t>
            </a:r>
            <a:r>
              <a:rPr kumimoji="0" lang="zh-CN" altLang="en-US" sz="2000" i="0" baseline="0">
                <a:latin typeface="黑体" pitchFamily="2" charset="-122"/>
                <a:ea typeface="黑体" pitchFamily="2" charset="-122"/>
              </a:rPr>
              <a:t>的实长</a:t>
            </a:r>
            <a:r>
              <a:rPr kumimoji="0" lang="en-US" altLang="zh-CN" sz="2000" i="0" baseline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142415" name="Line 79"/>
          <p:cNvSpPr>
            <a:spLocks noChangeShapeType="1"/>
          </p:cNvSpPr>
          <p:nvPr/>
        </p:nvSpPr>
        <p:spPr bwMode="auto">
          <a:xfrm>
            <a:off x="7126288" y="1604963"/>
            <a:ext cx="561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416" name="Line 80"/>
          <p:cNvSpPr>
            <a:spLocks noChangeShapeType="1"/>
          </p:cNvSpPr>
          <p:nvPr/>
        </p:nvSpPr>
        <p:spPr bwMode="auto">
          <a:xfrm flipV="1">
            <a:off x="7123113" y="1403350"/>
            <a:ext cx="1206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417" name="Line 81"/>
          <p:cNvSpPr>
            <a:spLocks noChangeShapeType="1"/>
          </p:cNvSpPr>
          <p:nvPr/>
        </p:nvSpPr>
        <p:spPr bwMode="auto">
          <a:xfrm>
            <a:off x="7243763" y="1395413"/>
            <a:ext cx="44450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2418" name="Text Box 82"/>
          <p:cNvSpPr txBox="1">
            <a:spLocks noChangeArrowheads="1"/>
          </p:cNvSpPr>
          <p:nvPr/>
        </p:nvSpPr>
        <p:spPr bwMode="auto">
          <a:xfrm>
            <a:off x="6807200" y="14224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142419" name="Text Box 83"/>
          <p:cNvSpPr txBox="1">
            <a:spLocks noChangeArrowheads="1"/>
          </p:cNvSpPr>
          <p:nvPr/>
        </p:nvSpPr>
        <p:spPr bwMode="auto">
          <a:xfrm>
            <a:off x="7658100" y="140335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K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142420" name="Text Box 84"/>
          <p:cNvSpPr txBox="1">
            <a:spLocks noChangeArrowheads="1"/>
          </p:cNvSpPr>
          <p:nvPr/>
        </p:nvSpPr>
        <p:spPr bwMode="auto">
          <a:xfrm>
            <a:off x="6989763" y="1057275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L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142421" name="Text Box 85"/>
          <p:cNvSpPr txBox="1">
            <a:spLocks noChangeArrowheads="1"/>
          </p:cNvSpPr>
          <p:nvPr/>
        </p:nvSpPr>
        <p:spPr bwMode="auto">
          <a:xfrm>
            <a:off x="7278688" y="1173163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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142444" name="AutoShape 108"/>
          <p:cNvSpPr>
            <a:spLocks noChangeArrowheads="1"/>
          </p:cNvSpPr>
          <p:nvPr/>
        </p:nvSpPr>
        <p:spPr bwMode="auto">
          <a:xfrm>
            <a:off x="5232400" y="2455863"/>
            <a:ext cx="74613" cy="74612"/>
          </a:xfrm>
          <a:prstGeom prst="flowChartConnector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42445" name="AutoShape 109"/>
          <p:cNvSpPr>
            <a:spLocks noChangeArrowheads="1"/>
          </p:cNvSpPr>
          <p:nvPr/>
        </p:nvSpPr>
        <p:spPr bwMode="auto">
          <a:xfrm>
            <a:off x="5232400" y="5570538"/>
            <a:ext cx="74613" cy="74612"/>
          </a:xfrm>
          <a:prstGeom prst="flowChartConnector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42446" name="Text Box 110"/>
          <p:cNvSpPr txBox="1">
            <a:spLocks noChangeArrowheads="1"/>
          </p:cNvSpPr>
          <p:nvPr/>
        </p:nvSpPr>
        <p:spPr bwMode="auto">
          <a:xfrm>
            <a:off x="5029200" y="2208213"/>
            <a:ext cx="40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l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2447" name="Text Box 111"/>
          <p:cNvSpPr txBox="1">
            <a:spLocks noChangeArrowheads="1"/>
          </p:cNvSpPr>
          <p:nvPr/>
        </p:nvSpPr>
        <p:spPr bwMode="auto">
          <a:xfrm>
            <a:off x="5000625" y="5502275"/>
            <a:ext cx="246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l</a:t>
            </a:r>
          </a:p>
        </p:txBody>
      </p:sp>
      <p:grpSp>
        <p:nvGrpSpPr>
          <p:cNvPr id="6" name="Group 112"/>
          <p:cNvGrpSpPr>
            <a:grpSpLocks/>
          </p:cNvGrpSpPr>
          <p:nvPr/>
        </p:nvGrpSpPr>
        <p:grpSpPr bwMode="auto">
          <a:xfrm>
            <a:off x="7464425" y="1341438"/>
            <a:ext cx="436563" cy="481012"/>
            <a:chOff x="4702" y="845"/>
            <a:chExt cx="275" cy="303"/>
          </a:xfrm>
        </p:grpSpPr>
        <p:sp>
          <p:nvSpPr>
            <p:cNvPr id="7254" name="Arc 113"/>
            <p:cNvSpPr>
              <a:spLocks/>
            </p:cNvSpPr>
            <p:nvPr/>
          </p:nvSpPr>
          <p:spPr bwMode="auto">
            <a:xfrm flipH="1">
              <a:off x="4715" y="845"/>
              <a:ext cx="248" cy="220"/>
            </a:xfrm>
            <a:custGeom>
              <a:avLst/>
              <a:gdLst>
                <a:gd name="T0" fmla="*/ 0 w 19738"/>
                <a:gd name="T1" fmla="*/ 0 h 17538"/>
                <a:gd name="T2" fmla="*/ 0 w 19738"/>
                <a:gd name="T3" fmla="*/ 0 h 17538"/>
                <a:gd name="T4" fmla="*/ 0 w 19738"/>
                <a:gd name="T5" fmla="*/ 0 h 17538"/>
                <a:gd name="T6" fmla="*/ 0 60000 65536"/>
                <a:gd name="T7" fmla="*/ 0 60000 65536"/>
                <a:gd name="T8" fmla="*/ 0 60000 65536"/>
                <a:gd name="T9" fmla="*/ 0 w 19738"/>
                <a:gd name="T10" fmla="*/ 0 h 17538"/>
                <a:gd name="T11" fmla="*/ 19738 w 19738"/>
                <a:gd name="T12" fmla="*/ 17538 h 175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38" h="17538" fill="none" extrusionOk="0">
                  <a:moveTo>
                    <a:pt x="12608" y="-1"/>
                  </a:moveTo>
                  <a:cubicBezTo>
                    <a:pt x="15720" y="2237"/>
                    <a:pt x="18181" y="5262"/>
                    <a:pt x="19738" y="8764"/>
                  </a:cubicBezTo>
                </a:path>
                <a:path w="19738" h="17538" stroke="0" extrusionOk="0">
                  <a:moveTo>
                    <a:pt x="12608" y="-1"/>
                  </a:moveTo>
                  <a:cubicBezTo>
                    <a:pt x="15720" y="2237"/>
                    <a:pt x="18181" y="5262"/>
                    <a:pt x="19738" y="8764"/>
                  </a:cubicBezTo>
                  <a:lnTo>
                    <a:pt x="0" y="17538"/>
                  </a:lnTo>
                  <a:lnTo>
                    <a:pt x="12608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55" name="Arc 114"/>
            <p:cNvSpPr>
              <a:spLocks/>
            </p:cNvSpPr>
            <p:nvPr/>
          </p:nvSpPr>
          <p:spPr bwMode="auto">
            <a:xfrm flipH="1">
              <a:off x="4707" y="951"/>
              <a:ext cx="270" cy="89"/>
            </a:xfrm>
            <a:custGeom>
              <a:avLst/>
              <a:gdLst>
                <a:gd name="T0" fmla="*/ 0 w 21474"/>
                <a:gd name="T1" fmla="*/ 0 h 7172"/>
                <a:gd name="T2" fmla="*/ 0 w 21474"/>
                <a:gd name="T3" fmla="*/ 0 h 7172"/>
                <a:gd name="T4" fmla="*/ 0 w 21474"/>
                <a:gd name="T5" fmla="*/ 0 h 7172"/>
                <a:gd name="T6" fmla="*/ 0 60000 65536"/>
                <a:gd name="T7" fmla="*/ 0 60000 65536"/>
                <a:gd name="T8" fmla="*/ 0 60000 65536"/>
                <a:gd name="T9" fmla="*/ 0 w 21474"/>
                <a:gd name="T10" fmla="*/ 0 h 7172"/>
                <a:gd name="T11" fmla="*/ 21474 w 21474"/>
                <a:gd name="T12" fmla="*/ 7172 h 7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74" h="7172" fill="none" extrusionOk="0">
                  <a:moveTo>
                    <a:pt x="20374" y="0"/>
                  </a:moveTo>
                  <a:cubicBezTo>
                    <a:pt x="20925" y="1565"/>
                    <a:pt x="21294" y="3189"/>
                    <a:pt x="21473" y="4839"/>
                  </a:cubicBezTo>
                </a:path>
                <a:path w="21474" h="7172" stroke="0" extrusionOk="0">
                  <a:moveTo>
                    <a:pt x="20374" y="0"/>
                  </a:moveTo>
                  <a:cubicBezTo>
                    <a:pt x="20925" y="1565"/>
                    <a:pt x="21294" y="3189"/>
                    <a:pt x="21473" y="4839"/>
                  </a:cubicBezTo>
                  <a:lnTo>
                    <a:pt x="0" y="7172"/>
                  </a:lnTo>
                  <a:lnTo>
                    <a:pt x="203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56" name="Arc 115"/>
            <p:cNvSpPr>
              <a:spLocks/>
            </p:cNvSpPr>
            <p:nvPr/>
          </p:nvSpPr>
          <p:spPr bwMode="auto">
            <a:xfrm flipH="1">
              <a:off x="4702" y="1007"/>
              <a:ext cx="271" cy="141"/>
            </a:xfrm>
            <a:custGeom>
              <a:avLst/>
              <a:gdLst>
                <a:gd name="T0" fmla="*/ 0 w 21600"/>
                <a:gd name="T1" fmla="*/ 0 h 11223"/>
                <a:gd name="T2" fmla="*/ 0 w 21600"/>
                <a:gd name="T3" fmla="*/ 0 h 11223"/>
                <a:gd name="T4" fmla="*/ 0 w 21600"/>
                <a:gd name="T5" fmla="*/ 0 h 112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1223"/>
                <a:gd name="T11" fmla="*/ 21600 w 21600"/>
                <a:gd name="T12" fmla="*/ 11223 h 11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1223" fill="none" extrusionOk="0">
                  <a:moveTo>
                    <a:pt x="21329" y="0"/>
                  </a:moveTo>
                  <a:cubicBezTo>
                    <a:pt x="21509" y="1126"/>
                    <a:pt x="21600" y="2265"/>
                    <a:pt x="21600" y="3406"/>
                  </a:cubicBezTo>
                  <a:cubicBezTo>
                    <a:pt x="21600" y="6079"/>
                    <a:pt x="21103" y="8730"/>
                    <a:pt x="20135" y="11222"/>
                  </a:cubicBezTo>
                </a:path>
                <a:path w="21600" h="11223" stroke="0" extrusionOk="0">
                  <a:moveTo>
                    <a:pt x="21329" y="0"/>
                  </a:moveTo>
                  <a:cubicBezTo>
                    <a:pt x="21509" y="1126"/>
                    <a:pt x="21600" y="2265"/>
                    <a:pt x="21600" y="3406"/>
                  </a:cubicBezTo>
                  <a:cubicBezTo>
                    <a:pt x="21600" y="6079"/>
                    <a:pt x="21103" y="8730"/>
                    <a:pt x="20135" y="11222"/>
                  </a:cubicBezTo>
                  <a:lnTo>
                    <a:pt x="0" y="3406"/>
                  </a:lnTo>
                  <a:lnTo>
                    <a:pt x="213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2452" name="Text Box 116"/>
          <p:cNvSpPr txBox="1">
            <a:spLocks noChangeArrowheads="1"/>
          </p:cNvSpPr>
          <p:nvPr/>
        </p:nvSpPr>
        <p:spPr bwMode="auto">
          <a:xfrm>
            <a:off x="6702425" y="533400"/>
            <a:ext cx="1641475" cy="60007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先求得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MK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KL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ML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的实长</a:t>
            </a:r>
          </a:p>
        </p:txBody>
      </p:sp>
      <p:grpSp>
        <p:nvGrpSpPr>
          <p:cNvPr id="7" name="Group 119"/>
          <p:cNvGrpSpPr>
            <a:grpSpLocks/>
          </p:cNvGrpSpPr>
          <p:nvPr/>
        </p:nvGrpSpPr>
        <p:grpSpPr bwMode="auto">
          <a:xfrm>
            <a:off x="238125" y="1044575"/>
            <a:ext cx="3989388" cy="3025775"/>
            <a:chOff x="551" y="2005"/>
            <a:chExt cx="2513" cy="1906"/>
          </a:xfrm>
        </p:grpSpPr>
        <p:sp>
          <p:nvSpPr>
            <p:cNvPr id="7249" name="Freeform 120"/>
            <p:cNvSpPr>
              <a:spLocks/>
            </p:cNvSpPr>
            <p:nvPr/>
          </p:nvSpPr>
          <p:spPr bwMode="auto">
            <a:xfrm>
              <a:off x="551" y="2747"/>
              <a:ext cx="2513" cy="1164"/>
            </a:xfrm>
            <a:custGeom>
              <a:avLst/>
              <a:gdLst>
                <a:gd name="T0" fmla="*/ 0 w 2836"/>
                <a:gd name="T1" fmla="*/ 684 h 1164"/>
                <a:gd name="T2" fmla="*/ 1591 w 2836"/>
                <a:gd name="T3" fmla="*/ 0 h 1164"/>
                <a:gd name="T4" fmla="*/ 2513 w 2836"/>
                <a:gd name="T5" fmla="*/ 466 h 1164"/>
                <a:gd name="T6" fmla="*/ 890 w 2836"/>
                <a:gd name="T7" fmla="*/ 1164 h 1164"/>
                <a:gd name="T8" fmla="*/ 0 w 2836"/>
                <a:gd name="T9" fmla="*/ 684 h 1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36" h="1164">
                  <a:moveTo>
                    <a:pt x="0" y="684"/>
                  </a:moveTo>
                  <a:lnTo>
                    <a:pt x="1796" y="0"/>
                  </a:lnTo>
                  <a:lnTo>
                    <a:pt x="2836" y="466"/>
                  </a:lnTo>
                  <a:lnTo>
                    <a:pt x="1004" y="1164"/>
                  </a:lnTo>
                  <a:lnTo>
                    <a:pt x="0" y="684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0" name="Line 121"/>
            <p:cNvSpPr>
              <a:spLocks noChangeShapeType="1"/>
            </p:cNvSpPr>
            <p:nvPr/>
          </p:nvSpPr>
          <p:spPr bwMode="auto">
            <a:xfrm flipH="1">
              <a:off x="1711" y="2306"/>
              <a:ext cx="161" cy="573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51" name="Text Box 122"/>
            <p:cNvSpPr txBox="1">
              <a:spLocks noChangeArrowheads="1"/>
            </p:cNvSpPr>
            <p:nvPr/>
          </p:nvSpPr>
          <p:spPr bwMode="auto">
            <a:xfrm>
              <a:off x="1756" y="2005"/>
              <a:ext cx="3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aseline="0">
                  <a:solidFill>
                    <a:srgbClr val="990033"/>
                  </a:solidFill>
                </a:rPr>
                <a:t>M</a:t>
              </a:r>
            </a:p>
          </p:txBody>
        </p:sp>
        <p:sp>
          <p:nvSpPr>
            <p:cNvPr id="7252" name="Text Box 123"/>
            <p:cNvSpPr txBox="1">
              <a:spLocks noChangeArrowheads="1"/>
            </p:cNvSpPr>
            <p:nvPr/>
          </p:nvSpPr>
          <p:spPr bwMode="auto">
            <a:xfrm>
              <a:off x="2564" y="3061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aseline="0"/>
                <a:t>P</a:t>
              </a:r>
            </a:p>
          </p:txBody>
        </p:sp>
        <p:sp>
          <p:nvSpPr>
            <p:cNvPr id="7253" name="Text Box 124"/>
            <p:cNvSpPr txBox="1">
              <a:spLocks noChangeArrowheads="1"/>
            </p:cNvSpPr>
            <p:nvPr/>
          </p:nvSpPr>
          <p:spPr bwMode="auto">
            <a:xfrm>
              <a:off x="1459" y="262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aseline="0">
                  <a:solidFill>
                    <a:srgbClr val="990033"/>
                  </a:solidFill>
                </a:rPr>
                <a:t>N</a:t>
              </a:r>
            </a:p>
          </p:txBody>
        </p:sp>
      </p:grpSp>
      <p:sp>
        <p:nvSpPr>
          <p:cNvPr id="142461" name="Line 125"/>
          <p:cNvSpPr>
            <a:spLocks noChangeShapeType="1"/>
          </p:cNvSpPr>
          <p:nvPr/>
        </p:nvSpPr>
        <p:spPr bwMode="auto">
          <a:xfrm>
            <a:off x="2344738" y="1520825"/>
            <a:ext cx="9525" cy="135572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462" name="Line 126"/>
          <p:cNvSpPr>
            <a:spLocks noChangeShapeType="1"/>
          </p:cNvSpPr>
          <p:nvPr/>
        </p:nvSpPr>
        <p:spPr bwMode="auto">
          <a:xfrm flipV="1">
            <a:off x="1874838" y="2851150"/>
            <a:ext cx="493712" cy="32702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463" name="Text Box 127"/>
          <p:cNvSpPr txBox="1">
            <a:spLocks noChangeArrowheads="1"/>
          </p:cNvSpPr>
          <p:nvPr/>
        </p:nvSpPr>
        <p:spPr bwMode="auto">
          <a:xfrm>
            <a:off x="2416175" y="235426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aseline="0">
                <a:solidFill>
                  <a:srgbClr val="990033"/>
                </a:solidFill>
              </a:rPr>
              <a:t>L</a:t>
            </a:r>
            <a:endParaRPr lang="en-US" altLang="zh-CN" sz="2800" i="0" baseline="-25000">
              <a:solidFill>
                <a:srgbClr val="990033"/>
              </a:solidFill>
            </a:endParaRPr>
          </a:p>
        </p:txBody>
      </p:sp>
      <p:sp>
        <p:nvSpPr>
          <p:cNvPr id="142464" name="Text Box 128"/>
          <p:cNvSpPr txBox="1">
            <a:spLocks noChangeArrowheads="1"/>
          </p:cNvSpPr>
          <p:nvPr/>
        </p:nvSpPr>
        <p:spPr bwMode="auto">
          <a:xfrm>
            <a:off x="1268413" y="2922588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aseline="0">
                <a:solidFill>
                  <a:srgbClr val="990033"/>
                </a:solidFill>
              </a:rPr>
              <a:t>K</a:t>
            </a:r>
            <a:endParaRPr lang="en-US" altLang="zh-CN" sz="2800" i="0" baseline="-25000">
              <a:solidFill>
                <a:srgbClr val="990033"/>
              </a:solidFill>
            </a:endParaRPr>
          </a:p>
        </p:txBody>
      </p:sp>
      <p:sp>
        <p:nvSpPr>
          <p:cNvPr id="142465" name="Arc 129"/>
          <p:cNvSpPr>
            <a:spLocks/>
          </p:cNvSpPr>
          <p:nvPr/>
        </p:nvSpPr>
        <p:spPr bwMode="auto">
          <a:xfrm>
            <a:off x="1955800" y="2709863"/>
            <a:ext cx="207963" cy="282575"/>
          </a:xfrm>
          <a:custGeom>
            <a:avLst/>
            <a:gdLst>
              <a:gd name="T0" fmla="*/ 5569037 w 21600"/>
              <a:gd name="T1" fmla="*/ 0 h 24705"/>
              <a:gd name="T2" fmla="*/ 18940172 w 21600"/>
              <a:gd name="T3" fmla="*/ 36968473 h 24705"/>
              <a:gd name="T4" fmla="*/ 0 w 21600"/>
              <a:gd name="T5" fmla="*/ 30944016 h 24705"/>
              <a:gd name="T6" fmla="*/ 0 60000 65536"/>
              <a:gd name="T7" fmla="*/ 0 60000 65536"/>
              <a:gd name="T8" fmla="*/ 0 60000 65536"/>
              <a:gd name="T9" fmla="*/ 0 w 21600"/>
              <a:gd name="T10" fmla="*/ 0 h 24705"/>
              <a:gd name="T11" fmla="*/ 21600 w 21600"/>
              <a:gd name="T12" fmla="*/ 24705 h 247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705" fill="none" extrusionOk="0">
                <a:moveTo>
                  <a:pt x="6240" y="-1"/>
                </a:moveTo>
                <a:cubicBezTo>
                  <a:pt x="15359" y="2751"/>
                  <a:pt x="21600" y="11153"/>
                  <a:pt x="21600" y="20679"/>
                </a:cubicBezTo>
                <a:cubicBezTo>
                  <a:pt x="21600" y="22029"/>
                  <a:pt x="21473" y="23377"/>
                  <a:pt x="21221" y="24704"/>
                </a:cubicBezTo>
              </a:path>
              <a:path w="21600" h="24705" stroke="0" extrusionOk="0">
                <a:moveTo>
                  <a:pt x="6240" y="-1"/>
                </a:moveTo>
                <a:cubicBezTo>
                  <a:pt x="15359" y="2751"/>
                  <a:pt x="21600" y="11153"/>
                  <a:pt x="21600" y="20679"/>
                </a:cubicBezTo>
                <a:cubicBezTo>
                  <a:pt x="21600" y="22029"/>
                  <a:pt x="21473" y="23377"/>
                  <a:pt x="21221" y="24704"/>
                </a:cubicBezTo>
                <a:lnTo>
                  <a:pt x="0" y="20679"/>
                </a:lnTo>
                <a:lnTo>
                  <a:pt x="6240" y="-1"/>
                </a:lnTo>
                <a:close/>
              </a:path>
            </a:pathLst>
          </a:cu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466" name="Text Box 130"/>
          <p:cNvSpPr txBox="1">
            <a:spLocks noChangeArrowheads="1"/>
          </p:cNvSpPr>
          <p:nvPr/>
        </p:nvSpPr>
        <p:spPr bwMode="auto">
          <a:xfrm>
            <a:off x="1889125" y="293370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zh-CN" sz="2400" baseline="0">
                <a:latin typeface="宋体" pitchFamily="2" charset="-122"/>
              </a:rPr>
              <a:t>θ</a:t>
            </a:r>
          </a:p>
        </p:txBody>
      </p:sp>
      <p:sp>
        <p:nvSpPr>
          <p:cNvPr id="142467" name="Line 131"/>
          <p:cNvSpPr>
            <a:spLocks noChangeShapeType="1"/>
          </p:cNvSpPr>
          <p:nvPr/>
        </p:nvSpPr>
        <p:spPr bwMode="auto">
          <a:xfrm flipH="1">
            <a:off x="1868488" y="2411413"/>
            <a:ext cx="217487" cy="78263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468" name="AutoShape 132"/>
          <p:cNvSpPr>
            <a:spLocks noChangeArrowheads="1"/>
          </p:cNvSpPr>
          <p:nvPr/>
        </p:nvSpPr>
        <p:spPr bwMode="auto">
          <a:xfrm>
            <a:off x="1820863" y="3135313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42469" name="AutoShape 133"/>
          <p:cNvSpPr>
            <a:spLocks noChangeArrowheads="1"/>
          </p:cNvSpPr>
          <p:nvPr/>
        </p:nvSpPr>
        <p:spPr bwMode="auto">
          <a:xfrm>
            <a:off x="2316163" y="2801938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4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4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4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2" grpId="0" animBg="1"/>
      <p:bldP spid="142344" grpId="0" autoUpdateAnimBg="0"/>
      <p:bldP spid="142345" grpId="0" autoUpdateAnimBg="0"/>
      <p:bldP spid="142346" grpId="0" autoUpdateAnimBg="0"/>
      <p:bldP spid="142347" grpId="0" autoUpdateAnimBg="0"/>
      <p:bldP spid="142348" grpId="0" build="p" autoUpdateAnimBg="0"/>
      <p:bldP spid="142349" grpId="0" animBg="1"/>
      <p:bldP spid="142350" grpId="0" animBg="1"/>
      <p:bldP spid="142351" grpId="0" autoUpdateAnimBg="0"/>
      <p:bldP spid="142352" grpId="0" autoUpdateAnimBg="0"/>
      <p:bldP spid="142353" grpId="0" autoUpdateAnimBg="0"/>
      <p:bldP spid="142354" grpId="0" autoUpdateAnimBg="0"/>
      <p:bldP spid="142355" grpId="0" autoUpdateAnimBg="0"/>
      <p:bldP spid="142356" grpId="0" autoUpdateAnimBg="0"/>
      <p:bldP spid="142357" grpId="0" animBg="1"/>
      <p:bldP spid="142358" grpId="0" animBg="1"/>
      <p:bldP spid="142359" grpId="0" animBg="1"/>
      <p:bldP spid="142360" grpId="0" animBg="1"/>
      <p:bldP spid="142361" grpId="0" animBg="1"/>
      <p:bldP spid="142362" grpId="0" animBg="1"/>
      <p:bldP spid="142363" grpId="0" animBg="1"/>
      <p:bldP spid="142364" grpId="0" animBg="1"/>
      <p:bldP spid="142365" grpId="0" animBg="1"/>
      <p:bldP spid="142366" grpId="0" animBg="1"/>
      <p:bldP spid="142367" grpId="0" animBg="1"/>
      <p:bldP spid="142368" grpId="0" animBg="1"/>
      <p:bldP spid="142369" grpId="0" animBg="1"/>
      <p:bldP spid="142370" grpId="0" autoUpdateAnimBg="0"/>
      <p:bldP spid="142371" grpId="0" autoUpdateAnimBg="0"/>
      <p:bldP spid="142372" grpId="0" animBg="1"/>
      <p:bldP spid="142373" grpId="0" animBg="1"/>
      <p:bldP spid="142374" grpId="0" animBg="1"/>
      <p:bldP spid="142375" grpId="0" animBg="1"/>
      <p:bldP spid="142376" grpId="0" animBg="1"/>
      <p:bldP spid="142377" grpId="0" animBg="1"/>
      <p:bldP spid="142378" grpId="0" autoUpdateAnimBg="0"/>
      <p:bldP spid="142379" grpId="0" autoUpdateAnimBg="0"/>
      <p:bldP spid="142380" grpId="0" animBg="1"/>
      <p:bldP spid="142381" grpId="0" autoUpdateAnimBg="0"/>
      <p:bldP spid="142382" grpId="0" autoUpdateAnimBg="0"/>
      <p:bldP spid="142383" grpId="0" animBg="1"/>
      <p:bldP spid="142384" grpId="0" animBg="1"/>
      <p:bldP spid="142394" grpId="0" autoUpdateAnimBg="0"/>
      <p:bldP spid="142395" grpId="0" animBg="1"/>
      <p:bldP spid="142396" grpId="0" animBg="1"/>
      <p:bldP spid="142397" grpId="0" animBg="1"/>
      <p:bldP spid="142398" grpId="0" autoUpdateAnimBg="0"/>
      <p:bldP spid="142405" grpId="0" build="p" autoUpdateAnimBg="0"/>
      <p:bldP spid="142406" grpId="0" build="p" autoUpdateAnimBg="0"/>
      <p:bldP spid="142407" grpId="0" build="p" autoUpdateAnimBg="0"/>
      <p:bldP spid="142415" grpId="0" animBg="1"/>
      <p:bldP spid="142416" grpId="0" animBg="1"/>
      <p:bldP spid="142417" grpId="0" animBg="1"/>
      <p:bldP spid="142418" grpId="0" autoUpdateAnimBg="0"/>
      <p:bldP spid="142419" grpId="0" autoUpdateAnimBg="0"/>
      <p:bldP spid="142420" grpId="0" autoUpdateAnimBg="0"/>
      <p:bldP spid="142421" grpId="0" autoUpdateAnimBg="0"/>
      <p:bldP spid="142444" grpId="0" animBg="1"/>
      <p:bldP spid="142445" grpId="0" animBg="1"/>
      <p:bldP spid="142446" grpId="0" autoUpdateAnimBg="0"/>
      <p:bldP spid="142447" grpId="0" autoUpdateAnimBg="0"/>
      <p:bldP spid="142452" grpId="0" animBg="1"/>
      <p:bldP spid="142461" grpId="0" animBg="1"/>
      <p:bldP spid="142462" grpId="0" animBg="1"/>
      <p:bldP spid="142463" grpId="0"/>
      <p:bldP spid="142464" grpId="0"/>
      <p:bldP spid="142465" grpId="0" animBg="1"/>
      <p:bldP spid="142466" grpId="0"/>
      <p:bldP spid="142467" grpId="0" animBg="1"/>
      <p:bldP spid="142468" grpId="0" animBg="1"/>
      <p:bldP spid="1424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CCD8C-4702-42BC-9FD6-957007FCB30D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8195" name="Text Box 7"/>
          <p:cNvSpPr txBox="1">
            <a:spLocks noChangeArrowheads="1"/>
          </p:cNvSpPr>
          <p:nvPr/>
        </p:nvSpPr>
        <p:spPr bwMode="auto">
          <a:xfrm>
            <a:off x="114300" y="447675"/>
            <a:ext cx="6516688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例：求已知直线与平面的夹角的实际大小。</a:t>
            </a:r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4756150" y="2566988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6426200" y="183038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'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44394" name="Text Box 10"/>
          <p:cNvSpPr txBox="1">
            <a:spLocks noChangeArrowheads="1"/>
          </p:cNvSpPr>
          <p:nvPr/>
        </p:nvSpPr>
        <p:spPr bwMode="auto">
          <a:xfrm>
            <a:off x="6324600" y="5956300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4803775" y="5151438"/>
            <a:ext cx="388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sp>
        <p:nvSpPr>
          <p:cNvPr id="144396" name="Text Box 12"/>
          <p:cNvSpPr txBox="1">
            <a:spLocks noChangeArrowheads="1"/>
          </p:cNvSpPr>
          <p:nvPr/>
        </p:nvSpPr>
        <p:spPr bwMode="auto">
          <a:xfrm>
            <a:off x="269875" y="1112838"/>
            <a:ext cx="168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步骤：</a:t>
            </a:r>
          </a:p>
        </p:txBody>
      </p:sp>
      <p:sp>
        <p:nvSpPr>
          <p:cNvPr id="144397" name="Line 13"/>
          <p:cNvSpPr>
            <a:spLocks noChangeShapeType="1"/>
          </p:cNvSpPr>
          <p:nvPr/>
        </p:nvSpPr>
        <p:spPr bwMode="auto">
          <a:xfrm>
            <a:off x="5772150" y="3244850"/>
            <a:ext cx="0" cy="285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398" name="Line 14"/>
          <p:cNvSpPr>
            <a:spLocks noChangeShapeType="1"/>
          </p:cNvSpPr>
          <p:nvPr/>
        </p:nvSpPr>
        <p:spPr bwMode="auto">
          <a:xfrm>
            <a:off x="7537450" y="4022725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5453063" y="294957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4400" name="Text Box 16"/>
          <p:cNvSpPr txBox="1">
            <a:spLocks noChangeArrowheads="1"/>
          </p:cNvSpPr>
          <p:nvPr/>
        </p:nvSpPr>
        <p:spPr bwMode="auto">
          <a:xfrm>
            <a:off x="7510463" y="3754438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4401" name="Text Box 17"/>
          <p:cNvSpPr txBox="1">
            <a:spLocks noChangeArrowheads="1"/>
          </p:cNvSpPr>
          <p:nvPr/>
        </p:nvSpPr>
        <p:spPr bwMode="auto">
          <a:xfrm>
            <a:off x="6710363" y="1968500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144402" name="Text Box 18"/>
          <p:cNvSpPr txBox="1">
            <a:spLocks noChangeArrowheads="1"/>
          </p:cNvSpPr>
          <p:nvPr/>
        </p:nvSpPr>
        <p:spPr bwMode="auto">
          <a:xfrm>
            <a:off x="5653088" y="59753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4403" name="Text Box 19"/>
          <p:cNvSpPr txBox="1">
            <a:spLocks noChangeArrowheads="1"/>
          </p:cNvSpPr>
          <p:nvPr/>
        </p:nvSpPr>
        <p:spPr bwMode="auto">
          <a:xfrm>
            <a:off x="6802438" y="42402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7504113" y="5335588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4405" name="Freeform 21"/>
          <p:cNvSpPr>
            <a:spLocks/>
          </p:cNvSpPr>
          <p:nvPr/>
        </p:nvSpPr>
        <p:spPr bwMode="auto">
          <a:xfrm>
            <a:off x="5768975" y="2309813"/>
            <a:ext cx="1768475" cy="1706562"/>
          </a:xfrm>
          <a:custGeom>
            <a:avLst/>
            <a:gdLst>
              <a:gd name="T0" fmla="*/ 0 w 852"/>
              <a:gd name="T1" fmla="*/ 1939603214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1939603214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06" name="Freeform 22"/>
          <p:cNvSpPr>
            <a:spLocks/>
          </p:cNvSpPr>
          <p:nvPr/>
        </p:nvSpPr>
        <p:spPr bwMode="auto">
          <a:xfrm flipV="1">
            <a:off x="5768975" y="4540250"/>
            <a:ext cx="1768475" cy="1555750"/>
          </a:xfrm>
          <a:custGeom>
            <a:avLst/>
            <a:gdLst>
              <a:gd name="T0" fmla="*/ 0 w 852"/>
              <a:gd name="T1" fmla="*/ 0 h 750"/>
              <a:gd name="T2" fmla="*/ 2147483647 w 852"/>
              <a:gd name="T3" fmla="*/ 1045594683 h 750"/>
              <a:gd name="T4" fmla="*/ 2147483647 w 852"/>
              <a:gd name="T5" fmla="*/ 2147483647 h 750"/>
              <a:gd name="T6" fmla="*/ 0 w 852"/>
              <a:gd name="T7" fmla="*/ 0 h 750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750"/>
              <a:gd name="T14" fmla="*/ 852 w 852"/>
              <a:gd name="T15" fmla="*/ 750 h 7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750">
                <a:moveTo>
                  <a:pt x="0" y="0"/>
                </a:moveTo>
                <a:lnTo>
                  <a:pt x="852" y="243"/>
                </a:lnTo>
                <a:lnTo>
                  <a:pt x="507" y="75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07" name="Line 23"/>
          <p:cNvSpPr>
            <a:spLocks noChangeShapeType="1"/>
          </p:cNvSpPr>
          <p:nvPr/>
        </p:nvSpPr>
        <p:spPr bwMode="auto">
          <a:xfrm>
            <a:off x="6819900" y="2316163"/>
            <a:ext cx="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08" name="Line 24"/>
          <p:cNvSpPr>
            <a:spLocks noChangeShapeType="1"/>
          </p:cNvSpPr>
          <p:nvPr/>
        </p:nvSpPr>
        <p:spPr bwMode="auto">
          <a:xfrm>
            <a:off x="6819900" y="43576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09" name="Line 25"/>
          <p:cNvSpPr>
            <a:spLocks noChangeShapeType="1"/>
          </p:cNvSpPr>
          <p:nvPr/>
        </p:nvSpPr>
        <p:spPr bwMode="auto">
          <a:xfrm>
            <a:off x="6819900" y="252888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10" name="Line 26"/>
          <p:cNvSpPr>
            <a:spLocks noChangeShapeType="1"/>
          </p:cNvSpPr>
          <p:nvPr/>
        </p:nvSpPr>
        <p:spPr bwMode="auto">
          <a:xfrm>
            <a:off x="4702175" y="4229100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11" name="Line 27"/>
          <p:cNvSpPr>
            <a:spLocks noChangeShapeType="1"/>
          </p:cNvSpPr>
          <p:nvPr/>
        </p:nvSpPr>
        <p:spPr bwMode="auto">
          <a:xfrm flipV="1">
            <a:off x="5105400" y="2155825"/>
            <a:ext cx="1371600" cy="587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2" name="Line 28"/>
          <p:cNvSpPr>
            <a:spLocks noChangeShapeType="1"/>
          </p:cNvSpPr>
          <p:nvPr/>
        </p:nvSpPr>
        <p:spPr bwMode="auto">
          <a:xfrm flipH="1">
            <a:off x="5116513" y="2743200"/>
            <a:ext cx="1587" cy="263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3" name="Line 29"/>
          <p:cNvSpPr>
            <a:spLocks noChangeShapeType="1"/>
          </p:cNvSpPr>
          <p:nvPr/>
        </p:nvSpPr>
        <p:spPr bwMode="auto">
          <a:xfrm>
            <a:off x="6477000" y="2146300"/>
            <a:ext cx="0" cy="387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4" name="Line 30"/>
          <p:cNvSpPr>
            <a:spLocks noChangeShapeType="1"/>
          </p:cNvSpPr>
          <p:nvPr/>
        </p:nvSpPr>
        <p:spPr bwMode="auto">
          <a:xfrm>
            <a:off x="5116513" y="5375275"/>
            <a:ext cx="1360487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5" name="Line 31"/>
          <p:cNvSpPr>
            <a:spLocks noChangeShapeType="1"/>
          </p:cNvSpPr>
          <p:nvPr/>
        </p:nvSpPr>
        <p:spPr bwMode="auto">
          <a:xfrm>
            <a:off x="5772150" y="3244850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6" name="Line 32"/>
          <p:cNvSpPr>
            <a:spLocks noChangeShapeType="1"/>
          </p:cNvSpPr>
          <p:nvPr/>
        </p:nvSpPr>
        <p:spPr bwMode="auto">
          <a:xfrm>
            <a:off x="7223125" y="3244850"/>
            <a:ext cx="0" cy="100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7" name="Line 33"/>
          <p:cNvSpPr>
            <a:spLocks noChangeShapeType="1"/>
          </p:cNvSpPr>
          <p:nvPr/>
        </p:nvSpPr>
        <p:spPr bwMode="auto">
          <a:xfrm flipV="1">
            <a:off x="5124450" y="5132388"/>
            <a:ext cx="2106613" cy="138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18" name="Text Box 34"/>
          <p:cNvSpPr txBox="1">
            <a:spLocks noChangeArrowheads="1"/>
          </p:cNvSpPr>
          <p:nvPr/>
        </p:nvSpPr>
        <p:spPr bwMode="auto">
          <a:xfrm>
            <a:off x="7200900" y="2967038"/>
            <a:ext cx="420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4419" name="Text Box 35"/>
          <p:cNvSpPr txBox="1">
            <a:spLocks noChangeArrowheads="1"/>
          </p:cNvSpPr>
          <p:nvPr/>
        </p:nvSpPr>
        <p:spPr bwMode="auto">
          <a:xfrm>
            <a:off x="7119938" y="4930775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144420" name="Line 36"/>
          <p:cNvSpPr>
            <a:spLocks noChangeShapeType="1"/>
          </p:cNvSpPr>
          <p:nvPr/>
        </p:nvSpPr>
        <p:spPr bwMode="auto">
          <a:xfrm>
            <a:off x="5114925" y="5372100"/>
            <a:ext cx="539750" cy="804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1" name="Line 37"/>
          <p:cNvSpPr>
            <a:spLocks noChangeShapeType="1"/>
          </p:cNvSpPr>
          <p:nvPr/>
        </p:nvSpPr>
        <p:spPr bwMode="auto">
          <a:xfrm flipH="1">
            <a:off x="6113463" y="5583238"/>
            <a:ext cx="1416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2" name="Line 38"/>
          <p:cNvSpPr>
            <a:spLocks noChangeShapeType="1"/>
          </p:cNvSpPr>
          <p:nvPr/>
        </p:nvSpPr>
        <p:spPr bwMode="auto">
          <a:xfrm flipV="1">
            <a:off x="6115050" y="4203700"/>
            <a:ext cx="0" cy="138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3" name="Line 39"/>
          <p:cNvSpPr>
            <a:spLocks noChangeShapeType="1"/>
          </p:cNvSpPr>
          <p:nvPr/>
        </p:nvSpPr>
        <p:spPr bwMode="auto">
          <a:xfrm flipH="1" flipV="1">
            <a:off x="6115050" y="2933700"/>
            <a:ext cx="1422400" cy="1082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4" name="Line 40"/>
          <p:cNvSpPr>
            <a:spLocks noChangeShapeType="1"/>
          </p:cNvSpPr>
          <p:nvPr/>
        </p:nvSpPr>
        <p:spPr bwMode="auto">
          <a:xfrm flipH="1" flipV="1">
            <a:off x="5367338" y="2351088"/>
            <a:ext cx="757237" cy="588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25" name="Line 41"/>
          <p:cNvSpPr>
            <a:spLocks noChangeShapeType="1"/>
          </p:cNvSpPr>
          <p:nvPr/>
        </p:nvSpPr>
        <p:spPr bwMode="auto">
          <a:xfrm flipV="1">
            <a:off x="5113338" y="1911350"/>
            <a:ext cx="534987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6" name="Text Box 42"/>
          <p:cNvSpPr txBox="1">
            <a:spLocks noChangeArrowheads="1"/>
          </p:cNvSpPr>
          <p:nvPr/>
        </p:nvSpPr>
        <p:spPr bwMode="auto">
          <a:xfrm>
            <a:off x="5711825" y="5435600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2</a:t>
            </a:r>
          </a:p>
        </p:txBody>
      </p:sp>
      <p:sp>
        <p:nvSpPr>
          <p:cNvPr id="144427" name="Text Box 43"/>
          <p:cNvSpPr txBox="1">
            <a:spLocks noChangeArrowheads="1"/>
          </p:cNvSpPr>
          <p:nvPr/>
        </p:nvSpPr>
        <p:spPr bwMode="auto">
          <a:xfrm>
            <a:off x="5972175" y="2570163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2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4428" name="Line 44"/>
          <p:cNvSpPr>
            <a:spLocks noChangeShapeType="1"/>
          </p:cNvSpPr>
          <p:nvPr/>
        </p:nvSpPr>
        <p:spPr bwMode="auto">
          <a:xfrm flipH="1" flipV="1">
            <a:off x="5651500" y="1911350"/>
            <a:ext cx="0" cy="425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29" name="Text Box 45"/>
          <p:cNvSpPr txBox="1">
            <a:spLocks noChangeArrowheads="1"/>
          </p:cNvSpPr>
          <p:nvPr/>
        </p:nvSpPr>
        <p:spPr bwMode="auto">
          <a:xfrm>
            <a:off x="5599113" y="1700213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d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'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44430" name="Text Box 46"/>
          <p:cNvSpPr txBox="1">
            <a:spLocks noChangeArrowheads="1"/>
          </p:cNvSpPr>
          <p:nvPr/>
        </p:nvSpPr>
        <p:spPr bwMode="auto">
          <a:xfrm>
            <a:off x="5440363" y="6108700"/>
            <a:ext cx="4270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d</a:t>
            </a:r>
          </a:p>
        </p:txBody>
      </p:sp>
      <p:sp>
        <p:nvSpPr>
          <p:cNvPr id="144431" name="Line 47"/>
          <p:cNvSpPr>
            <a:spLocks noChangeShapeType="1"/>
          </p:cNvSpPr>
          <p:nvPr/>
        </p:nvSpPr>
        <p:spPr bwMode="auto">
          <a:xfrm flipV="1">
            <a:off x="6115050" y="29337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32" name="Line 48"/>
          <p:cNvSpPr>
            <a:spLocks noChangeShapeType="1"/>
          </p:cNvSpPr>
          <p:nvPr/>
        </p:nvSpPr>
        <p:spPr bwMode="auto">
          <a:xfrm>
            <a:off x="7219950" y="4229100"/>
            <a:ext cx="0" cy="901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33" name="Line 49"/>
          <p:cNvSpPr>
            <a:spLocks noChangeShapeType="1"/>
          </p:cNvSpPr>
          <p:nvPr/>
        </p:nvSpPr>
        <p:spPr bwMode="auto">
          <a:xfrm>
            <a:off x="5486400" y="2155825"/>
            <a:ext cx="0" cy="2111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434" name="Line 50"/>
          <p:cNvSpPr>
            <a:spLocks noChangeShapeType="1"/>
          </p:cNvSpPr>
          <p:nvPr/>
        </p:nvSpPr>
        <p:spPr bwMode="auto">
          <a:xfrm>
            <a:off x="5486400" y="4191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435" name="Text Box 51"/>
          <p:cNvSpPr txBox="1">
            <a:spLocks noChangeArrowheads="1"/>
          </p:cNvSpPr>
          <p:nvPr/>
        </p:nvSpPr>
        <p:spPr bwMode="auto">
          <a:xfrm>
            <a:off x="5221288" y="1897063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e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‘ </a:t>
            </a:r>
          </a:p>
        </p:txBody>
      </p:sp>
      <p:sp>
        <p:nvSpPr>
          <p:cNvPr id="144436" name="Text Box 52"/>
          <p:cNvSpPr txBox="1">
            <a:spLocks noChangeArrowheads="1"/>
          </p:cNvSpPr>
          <p:nvPr/>
        </p:nvSpPr>
        <p:spPr bwMode="auto">
          <a:xfrm>
            <a:off x="5199063" y="5788025"/>
            <a:ext cx="538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e</a:t>
            </a:r>
          </a:p>
        </p:txBody>
      </p:sp>
      <p:sp>
        <p:nvSpPr>
          <p:cNvPr id="144438" name="Line 54"/>
          <p:cNvSpPr>
            <a:spLocks noChangeShapeType="1"/>
          </p:cNvSpPr>
          <p:nvPr/>
        </p:nvSpPr>
        <p:spPr bwMode="auto">
          <a:xfrm flipH="1">
            <a:off x="5486400" y="215265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5465763" y="6037263"/>
            <a:ext cx="206375" cy="222250"/>
            <a:chOff x="3443" y="3803"/>
            <a:chExt cx="130" cy="140"/>
          </a:xfrm>
        </p:grpSpPr>
        <p:sp>
          <p:nvSpPr>
            <p:cNvPr id="8274" name="Arc 64"/>
            <p:cNvSpPr>
              <a:spLocks/>
            </p:cNvSpPr>
            <p:nvPr/>
          </p:nvSpPr>
          <p:spPr bwMode="auto">
            <a:xfrm>
              <a:off x="3459" y="3803"/>
              <a:ext cx="96" cy="132"/>
            </a:xfrm>
            <a:custGeom>
              <a:avLst/>
              <a:gdLst>
                <a:gd name="T0" fmla="*/ 0 w 21600"/>
                <a:gd name="T1" fmla="*/ 0 h 29672"/>
                <a:gd name="T2" fmla="*/ 0 w 21600"/>
                <a:gd name="T3" fmla="*/ 0 h 29672"/>
                <a:gd name="T4" fmla="*/ 0 w 21600"/>
                <a:gd name="T5" fmla="*/ 0 h 2967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672"/>
                <a:gd name="T11" fmla="*/ 21600 w 21600"/>
                <a:gd name="T12" fmla="*/ 29672 h 29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672" fill="none" extrusionOk="0">
                  <a:moveTo>
                    <a:pt x="3489" y="29672"/>
                  </a:moveTo>
                  <a:cubicBezTo>
                    <a:pt x="1212" y="26168"/>
                    <a:pt x="0" y="22079"/>
                    <a:pt x="0" y="17900"/>
                  </a:cubicBezTo>
                  <a:cubicBezTo>
                    <a:pt x="-1" y="10723"/>
                    <a:pt x="3563" y="4016"/>
                    <a:pt x="9510" y="-1"/>
                  </a:cubicBezTo>
                </a:path>
                <a:path w="21600" h="29672" stroke="0" extrusionOk="0">
                  <a:moveTo>
                    <a:pt x="3489" y="29672"/>
                  </a:moveTo>
                  <a:cubicBezTo>
                    <a:pt x="1212" y="26168"/>
                    <a:pt x="0" y="22079"/>
                    <a:pt x="0" y="17900"/>
                  </a:cubicBezTo>
                  <a:cubicBezTo>
                    <a:pt x="-1" y="10723"/>
                    <a:pt x="3563" y="4016"/>
                    <a:pt x="9510" y="-1"/>
                  </a:cubicBezTo>
                  <a:lnTo>
                    <a:pt x="21600" y="17900"/>
                  </a:lnTo>
                  <a:lnTo>
                    <a:pt x="3489" y="2967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75" name="Text Box 65"/>
            <p:cNvSpPr txBox="1">
              <a:spLocks noChangeArrowheads="1"/>
            </p:cNvSpPr>
            <p:nvPr/>
          </p:nvSpPr>
          <p:spPr bwMode="auto">
            <a:xfrm>
              <a:off x="3443" y="3808"/>
              <a:ext cx="13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800" i="0" baseline="0">
                  <a:latin typeface="ISOCPEUR" pitchFamily="34" charset="0"/>
                </a:rPr>
                <a:t>•</a:t>
              </a:r>
            </a:p>
          </p:txBody>
        </p:sp>
      </p:grp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5275263" y="2330450"/>
            <a:ext cx="222250" cy="214313"/>
            <a:chOff x="3323" y="1468"/>
            <a:chExt cx="140" cy="135"/>
          </a:xfrm>
        </p:grpSpPr>
        <p:sp>
          <p:nvSpPr>
            <p:cNvPr id="8272" name="Arc 67"/>
            <p:cNvSpPr>
              <a:spLocks/>
            </p:cNvSpPr>
            <p:nvPr/>
          </p:nvSpPr>
          <p:spPr bwMode="auto">
            <a:xfrm>
              <a:off x="3323" y="1489"/>
              <a:ext cx="140" cy="96"/>
            </a:xfrm>
            <a:custGeom>
              <a:avLst/>
              <a:gdLst>
                <a:gd name="T0" fmla="*/ 0 w 31463"/>
                <a:gd name="T1" fmla="*/ 0 h 21600"/>
                <a:gd name="T2" fmla="*/ 0 w 31463"/>
                <a:gd name="T3" fmla="*/ 0 h 21600"/>
                <a:gd name="T4" fmla="*/ 0 w 31463"/>
                <a:gd name="T5" fmla="*/ 0 h 21600"/>
                <a:gd name="T6" fmla="*/ 0 60000 65536"/>
                <a:gd name="T7" fmla="*/ 0 60000 65536"/>
                <a:gd name="T8" fmla="*/ 0 60000 65536"/>
                <a:gd name="T9" fmla="*/ 0 w 31463"/>
                <a:gd name="T10" fmla="*/ 0 h 21600"/>
                <a:gd name="T11" fmla="*/ 31463 w 3146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63" h="21600" fill="none" extrusionOk="0">
                  <a:moveTo>
                    <a:pt x="31462" y="12646"/>
                  </a:moveTo>
                  <a:cubicBezTo>
                    <a:pt x="27401" y="18269"/>
                    <a:pt x="20887" y="21599"/>
                    <a:pt x="13952" y="21600"/>
                  </a:cubicBezTo>
                  <a:cubicBezTo>
                    <a:pt x="8843" y="21600"/>
                    <a:pt x="3899" y="19789"/>
                    <a:pt x="-1" y="16489"/>
                  </a:cubicBezTo>
                </a:path>
                <a:path w="31463" h="21600" stroke="0" extrusionOk="0">
                  <a:moveTo>
                    <a:pt x="31462" y="12646"/>
                  </a:moveTo>
                  <a:cubicBezTo>
                    <a:pt x="27401" y="18269"/>
                    <a:pt x="20887" y="21599"/>
                    <a:pt x="13952" y="21600"/>
                  </a:cubicBezTo>
                  <a:cubicBezTo>
                    <a:pt x="8843" y="21600"/>
                    <a:pt x="3899" y="19789"/>
                    <a:pt x="-1" y="16489"/>
                  </a:cubicBezTo>
                  <a:lnTo>
                    <a:pt x="13952" y="0"/>
                  </a:lnTo>
                  <a:lnTo>
                    <a:pt x="31462" y="126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73" name="Text Box 68"/>
            <p:cNvSpPr txBox="1">
              <a:spLocks noChangeArrowheads="1"/>
            </p:cNvSpPr>
            <p:nvPr/>
          </p:nvSpPr>
          <p:spPr bwMode="auto">
            <a:xfrm>
              <a:off x="3327" y="1468"/>
              <a:ext cx="130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800" i="0" baseline="0">
                  <a:latin typeface="ISOCPEUR" pitchFamily="34" charset="0"/>
                </a:rPr>
                <a:t>•</a:t>
              </a:r>
            </a:p>
          </p:txBody>
        </p:sp>
      </p:grpSp>
      <p:sp>
        <p:nvSpPr>
          <p:cNvPr id="144453" name="Text Box 69"/>
          <p:cNvSpPr txBox="1">
            <a:spLocks noChangeArrowheads="1"/>
          </p:cNvSpPr>
          <p:nvPr/>
        </p:nvSpPr>
        <p:spPr bwMode="auto">
          <a:xfrm>
            <a:off x="285750" y="1595438"/>
            <a:ext cx="326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过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作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MD  △ABC</a:t>
            </a:r>
          </a:p>
        </p:txBody>
      </p:sp>
      <p:sp>
        <p:nvSpPr>
          <p:cNvPr id="144456" name="Line 72"/>
          <p:cNvSpPr>
            <a:spLocks noChangeShapeType="1"/>
          </p:cNvSpPr>
          <p:nvPr/>
        </p:nvSpPr>
        <p:spPr bwMode="auto">
          <a:xfrm flipV="1">
            <a:off x="792163" y="46101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73"/>
          <p:cNvGrpSpPr>
            <a:grpSpLocks/>
          </p:cNvGrpSpPr>
          <p:nvPr/>
        </p:nvGrpSpPr>
        <p:grpSpPr bwMode="auto">
          <a:xfrm>
            <a:off x="757238" y="4784725"/>
            <a:ext cx="303212" cy="504825"/>
            <a:chOff x="626" y="3559"/>
            <a:chExt cx="191" cy="318"/>
          </a:xfrm>
        </p:grpSpPr>
        <p:sp>
          <p:nvSpPr>
            <p:cNvPr id="8270" name="Arc 74"/>
            <p:cNvSpPr>
              <a:spLocks/>
            </p:cNvSpPr>
            <p:nvPr/>
          </p:nvSpPr>
          <p:spPr bwMode="auto">
            <a:xfrm>
              <a:off x="658" y="3787"/>
              <a:ext cx="75" cy="90"/>
            </a:xfrm>
            <a:custGeom>
              <a:avLst/>
              <a:gdLst>
                <a:gd name="T0" fmla="*/ 0 w 18038"/>
                <a:gd name="T1" fmla="*/ 0 h 21600"/>
                <a:gd name="T2" fmla="*/ 0 w 18038"/>
                <a:gd name="T3" fmla="*/ 0 h 21600"/>
                <a:gd name="T4" fmla="*/ 0 w 18038"/>
                <a:gd name="T5" fmla="*/ 0 h 21600"/>
                <a:gd name="T6" fmla="*/ 0 60000 65536"/>
                <a:gd name="T7" fmla="*/ 0 60000 65536"/>
                <a:gd name="T8" fmla="*/ 0 60000 65536"/>
                <a:gd name="T9" fmla="*/ 0 w 18038"/>
                <a:gd name="T10" fmla="*/ 0 h 21600"/>
                <a:gd name="T11" fmla="*/ 18038 w 1803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038" h="21600" fill="none" extrusionOk="0">
                  <a:moveTo>
                    <a:pt x="0" y="30"/>
                  </a:moveTo>
                  <a:cubicBezTo>
                    <a:pt x="381" y="10"/>
                    <a:pt x="762" y="-1"/>
                    <a:pt x="1144" y="0"/>
                  </a:cubicBezTo>
                  <a:cubicBezTo>
                    <a:pt x="7720" y="0"/>
                    <a:pt x="13939" y="2996"/>
                    <a:pt x="18037" y="8140"/>
                  </a:cubicBezTo>
                </a:path>
                <a:path w="18038" h="21600" stroke="0" extrusionOk="0">
                  <a:moveTo>
                    <a:pt x="0" y="30"/>
                  </a:moveTo>
                  <a:cubicBezTo>
                    <a:pt x="381" y="10"/>
                    <a:pt x="762" y="-1"/>
                    <a:pt x="1144" y="0"/>
                  </a:cubicBezTo>
                  <a:cubicBezTo>
                    <a:pt x="7720" y="0"/>
                    <a:pt x="13939" y="2996"/>
                    <a:pt x="18037" y="8140"/>
                  </a:cubicBezTo>
                  <a:lnTo>
                    <a:pt x="1144" y="21600"/>
                  </a:lnTo>
                  <a:lnTo>
                    <a:pt x="0" y="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71" name="Text Box 75"/>
            <p:cNvSpPr txBox="1">
              <a:spLocks noChangeArrowheads="1"/>
            </p:cNvSpPr>
            <p:nvPr/>
          </p:nvSpPr>
          <p:spPr bwMode="auto">
            <a:xfrm>
              <a:off x="626" y="3559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ISOCPEUR" pitchFamily="34" charset="0"/>
                </a:rPr>
                <a:t></a:t>
              </a:r>
            </a:p>
          </p:txBody>
        </p:sp>
      </p:grpSp>
      <p:sp>
        <p:nvSpPr>
          <p:cNvPr id="144460" name="Text Box 76"/>
          <p:cNvSpPr txBox="1">
            <a:spLocks noChangeArrowheads="1"/>
          </p:cNvSpPr>
          <p:nvPr/>
        </p:nvSpPr>
        <p:spPr bwMode="auto">
          <a:xfrm>
            <a:off x="2311400" y="5216525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sp>
        <p:nvSpPr>
          <p:cNvPr id="144461" name="Text Box 77"/>
          <p:cNvSpPr txBox="1">
            <a:spLocks noChangeArrowheads="1"/>
          </p:cNvSpPr>
          <p:nvPr/>
        </p:nvSpPr>
        <p:spPr bwMode="auto">
          <a:xfrm>
            <a:off x="1096963" y="42672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D</a:t>
            </a:r>
          </a:p>
        </p:txBody>
      </p:sp>
      <p:sp>
        <p:nvSpPr>
          <p:cNvPr id="144462" name="Text Box 78"/>
          <p:cNvSpPr txBox="1">
            <a:spLocks noChangeArrowheads="1"/>
          </p:cNvSpPr>
          <p:nvPr/>
        </p:nvSpPr>
        <p:spPr bwMode="auto">
          <a:xfrm>
            <a:off x="481013" y="5184775"/>
            <a:ext cx="322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793750" y="4430713"/>
            <a:ext cx="1539875" cy="971550"/>
            <a:chOff x="649" y="3344"/>
            <a:chExt cx="970" cy="612"/>
          </a:xfrm>
        </p:grpSpPr>
        <p:sp>
          <p:nvSpPr>
            <p:cNvPr id="8267" name="Line 87"/>
            <p:cNvSpPr>
              <a:spLocks noChangeShapeType="1"/>
            </p:cNvSpPr>
            <p:nvPr/>
          </p:nvSpPr>
          <p:spPr bwMode="auto">
            <a:xfrm>
              <a:off x="649" y="3956"/>
              <a:ext cx="9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68" name="Line 88"/>
            <p:cNvSpPr>
              <a:spLocks noChangeShapeType="1"/>
            </p:cNvSpPr>
            <p:nvPr/>
          </p:nvSpPr>
          <p:spPr bwMode="auto">
            <a:xfrm flipV="1">
              <a:off x="652" y="3348"/>
              <a:ext cx="398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69" name="Line 89"/>
            <p:cNvSpPr>
              <a:spLocks noChangeShapeType="1"/>
            </p:cNvSpPr>
            <p:nvPr/>
          </p:nvSpPr>
          <p:spPr bwMode="auto">
            <a:xfrm>
              <a:off x="1050" y="3344"/>
              <a:ext cx="569" cy="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474" name="Line 90"/>
          <p:cNvSpPr>
            <a:spLocks noChangeShapeType="1"/>
          </p:cNvSpPr>
          <p:nvPr/>
        </p:nvSpPr>
        <p:spPr bwMode="auto">
          <a:xfrm flipV="1">
            <a:off x="2976563" y="45799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91"/>
          <p:cNvGrpSpPr>
            <a:grpSpLocks/>
          </p:cNvGrpSpPr>
          <p:nvPr/>
        </p:nvGrpSpPr>
        <p:grpSpPr bwMode="auto">
          <a:xfrm>
            <a:off x="2928938" y="4754563"/>
            <a:ext cx="303212" cy="504825"/>
            <a:chOff x="1922" y="3548"/>
            <a:chExt cx="191" cy="318"/>
          </a:xfrm>
        </p:grpSpPr>
        <p:sp>
          <p:nvSpPr>
            <p:cNvPr id="8265" name="Arc 92"/>
            <p:cNvSpPr>
              <a:spLocks/>
            </p:cNvSpPr>
            <p:nvPr/>
          </p:nvSpPr>
          <p:spPr bwMode="auto">
            <a:xfrm>
              <a:off x="1954" y="3776"/>
              <a:ext cx="75" cy="90"/>
            </a:xfrm>
            <a:custGeom>
              <a:avLst/>
              <a:gdLst>
                <a:gd name="T0" fmla="*/ 0 w 18038"/>
                <a:gd name="T1" fmla="*/ 0 h 21600"/>
                <a:gd name="T2" fmla="*/ 0 w 18038"/>
                <a:gd name="T3" fmla="*/ 0 h 21600"/>
                <a:gd name="T4" fmla="*/ 0 w 18038"/>
                <a:gd name="T5" fmla="*/ 0 h 21600"/>
                <a:gd name="T6" fmla="*/ 0 60000 65536"/>
                <a:gd name="T7" fmla="*/ 0 60000 65536"/>
                <a:gd name="T8" fmla="*/ 0 60000 65536"/>
                <a:gd name="T9" fmla="*/ 0 w 18038"/>
                <a:gd name="T10" fmla="*/ 0 h 21600"/>
                <a:gd name="T11" fmla="*/ 18038 w 1803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038" h="21600" fill="none" extrusionOk="0">
                  <a:moveTo>
                    <a:pt x="0" y="30"/>
                  </a:moveTo>
                  <a:cubicBezTo>
                    <a:pt x="381" y="10"/>
                    <a:pt x="762" y="-1"/>
                    <a:pt x="1144" y="0"/>
                  </a:cubicBezTo>
                  <a:cubicBezTo>
                    <a:pt x="7720" y="0"/>
                    <a:pt x="13939" y="2996"/>
                    <a:pt x="18037" y="8140"/>
                  </a:cubicBezTo>
                </a:path>
                <a:path w="18038" h="21600" stroke="0" extrusionOk="0">
                  <a:moveTo>
                    <a:pt x="0" y="30"/>
                  </a:moveTo>
                  <a:cubicBezTo>
                    <a:pt x="381" y="10"/>
                    <a:pt x="762" y="-1"/>
                    <a:pt x="1144" y="0"/>
                  </a:cubicBezTo>
                  <a:cubicBezTo>
                    <a:pt x="7720" y="0"/>
                    <a:pt x="13939" y="2996"/>
                    <a:pt x="18037" y="8140"/>
                  </a:cubicBezTo>
                  <a:lnTo>
                    <a:pt x="1144" y="21600"/>
                  </a:lnTo>
                  <a:lnTo>
                    <a:pt x="0" y="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66" name="Text Box 93"/>
            <p:cNvSpPr txBox="1">
              <a:spLocks noChangeArrowheads="1"/>
            </p:cNvSpPr>
            <p:nvPr/>
          </p:nvSpPr>
          <p:spPr bwMode="auto">
            <a:xfrm>
              <a:off x="1922" y="3548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ISOCPEUR" pitchFamily="34" charset="0"/>
                </a:rPr>
                <a:t></a:t>
              </a:r>
            </a:p>
          </p:txBody>
        </p:sp>
      </p:grpSp>
      <p:sp>
        <p:nvSpPr>
          <p:cNvPr id="144478" name="Text Box 94"/>
          <p:cNvSpPr txBox="1">
            <a:spLocks noChangeArrowheads="1"/>
          </p:cNvSpPr>
          <p:nvPr/>
        </p:nvSpPr>
        <p:spPr bwMode="auto">
          <a:xfrm>
            <a:off x="3368675" y="42862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E</a:t>
            </a:r>
          </a:p>
        </p:txBody>
      </p:sp>
      <p:sp>
        <p:nvSpPr>
          <p:cNvPr id="144479" name="Text Box 95"/>
          <p:cNvSpPr txBox="1">
            <a:spLocks noChangeArrowheads="1"/>
          </p:cNvSpPr>
          <p:nvPr/>
        </p:nvSpPr>
        <p:spPr bwMode="auto">
          <a:xfrm>
            <a:off x="2619375" y="521335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sp>
        <p:nvSpPr>
          <p:cNvPr id="144480" name="Text Box 96"/>
          <p:cNvSpPr txBox="1">
            <a:spLocks noChangeArrowheads="1"/>
          </p:cNvSpPr>
          <p:nvPr/>
        </p:nvSpPr>
        <p:spPr bwMode="auto">
          <a:xfrm>
            <a:off x="4449763" y="5195888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grpSp>
        <p:nvGrpSpPr>
          <p:cNvPr id="7" name="Group 97"/>
          <p:cNvGrpSpPr>
            <a:grpSpLocks/>
          </p:cNvGrpSpPr>
          <p:nvPr/>
        </p:nvGrpSpPr>
        <p:grpSpPr bwMode="auto">
          <a:xfrm>
            <a:off x="2978150" y="4597400"/>
            <a:ext cx="1539875" cy="774700"/>
            <a:chOff x="1945" y="3457"/>
            <a:chExt cx="970" cy="488"/>
          </a:xfrm>
        </p:grpSpPr>
        <p:sp>
          <p:nvSpPr>
            <p:cNvPr id="8262" name="Line 98"/>
            <p:cNvSpPr>
              <a:spLocks noChangeShapeType="1"/>
            </p:cNvSpPr>
            <p:nvPr/>
          </p:nvSpPr>
          <p:spPr bwMode="auto">
            <a:xfrm>
              <a:off x="1945" y="3945"/>
              <a:ext cx="9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63" name="Line 99"/>
            <p:cNvSpPr>
              <a:spLocks noChangeShapeType="1"/>
            </p:cNvSpPr>
            <p:nvPr/>
          </p:nvSpPr>
          <p:spPr bwMode="auto">
            <a:xfrm flipV="1">
              <a:off x="1948" y="3457"/>
              <a:ext cx="312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64" name="Line 100"/>
            <p:cNvSpPr>
              <a:spLocks noChangeShapeType="1"/>
            </p:cNvSpPr>
            <p:nvPr/>
          </p:nvSpPr>
          <p:spPr bwMode="auto">
            <a:xfrm flipH="1" flipV="1">
              <a:off x="2260" y="3457"/>
              <a:ext cx="655" cy="4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489" name="Text Box 105"/>
          <p:cNvSpPr txBox="1">
            <a:spLocks noChangeArrowheads="1"/>
          </p:cNvSpPr>
          <p:nvPr/>
        </p:nvSpPr>
        <p:spPr bwMode="auto">
          <a:xfrm>
            <a:off x="277813" y="2222500"/>
            <a:ext cx="3421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求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NMD(△MND)</a:t>
            </a:r>
            <a:r>
              <a:rPr kumimoji="0" lang="zh-CN" altLang="zh-CN" sz="2400" i="0" baseline="0">
                <a:latin typeface="黑体" pitchFamily="2" charset="-122"/>
                <a:ea typeface="黑体" pitchFamily="2" charset="-122"/>
              </a:rPr>
              <a:t>的实形</a:t>
            </a:r>
            <a:endParaRPr kumimoji="0" lang="zh-CN" altLang="en-US" sz="240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490" name="Text Box 106"/>
          <p:cNvSpPr txBox="1">
            <a:spLocks noChangeArrowheads="1"/>
          </p:cNvSpPr>
          <p:nvPr/>
        </p:nvSpPr>
        <p:spPr bwMode="auto">
          <a:xfrm>
            <a:off x="285750" y="2765425"/>
            <a:ext cx="294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NMD</a:t>
            </a: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的余角即为 </a:t>
            </a:r>
          </a:p>
        </p:txBody>
      </p:sp>
      <p:sp>
        <p:nvSpPr>
          <p:cNvPr id="144501" name="Text Box 117"/>
          <p:cNvSpPr txBox="1">
            <a:spLocks noChangeArrowheads="1"/>
          </p:cNvSpPr>
          <p:nvPr/>
        </p:nvSpPr>
        <p:spPr bwMode="auto">
          <a:xfrm>
            <a:off x="627063" y="5507038"/>
            <a:ext cx="1641475" cy="60007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需求得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MN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ND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MD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的实长</a:t>
            </a:r>
          </a:p>
        </p:txBody>
      </p:sp>
      <p:sp>
        <p:nvSpPr>
          <p:cNvPr id="144502" name="Text Box 118"/>
          <p:cNvSpPr txBox="1">
            <a:spLocks noChangeArrowheads="1"/>
          </p:cNvSpPr>
          <p:nvPr/>
        </p:nvSpPr>
        <p:spPr bwMode="auto">
          <a:xfrm>
            <a:off x="2765425" y="5505450"/>
            <a:ext cx="2051050" cy="60007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求画水平线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NE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再求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MN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i="0">
                <a:latin typeface="黑体" pitchFamily="2" charset="-122"/>
                <a:ea typeface="黑体" pitchFamily="2" charset="-122"/>
              </a:rPr>
              <a:t>ME</a:t>
            </a:r>
            <a:r>
              <a:rPr kumimoji="0" lang="zh-CN" altLang="en-US" sz="2400" i="0">
                <a:latin typeface="黑体" pitchFamily="2" charset="-122"/>
                <a:ea typeface="黑体" pitchFamily="2" charset="-122"/>
              </a:rPr>
              <a:t>的实长</a:t>
            </a:r>
          </a:p>
        </p:txBody>
      </p:sp>
      <p:sp>
        <p:nvSpPr>
          <p:cNvPr id="144503" name="Line 119"/>
          <p:cNvSpPr>
            <a:spLocks noChangeShapeType="1"/>
          </p:cNvSpPr>
          <p:nvPr/>
        </p:nvSpPr>
        <p:spPr bwMode="auto">
          <a:xfrm>
            <a:off x="5486400" y="59436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4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14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4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4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4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4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4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4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1" dur="500"/>
                                        <p:tgtEl>
                                          <p:spTgt spid="14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4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4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4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4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2" grpId="0" autoUpdateAnimBg="0"/>
      <p:bldP spid="144393" grpId="0" autoUpdateAnimBg="0"/>
      <p:bldP spid="144394" grpId="0" autoUpdateAnimBg="0"/>
      <p:bldP spid="144395" grpId="0" autoUpdateAnimBg="0"/>
      <p:bldP spid="144396" grpId="0" build="p" autoUpdateAnimBg="0"/>
      <p:bldP spid="144397" grpId="0" animBg="1"/>
      <p:bldP spid="144398" grpId="0" animBg="1"/>
      <p:bldP spid="144399" grpId="0" autoUpdateAnimBg="0"/>
      <p:bldP spid="144400" grpId="0" autoUpdateAnimBg="0"/>
      <p:bldP spid="144401" grpId="0" autoUpdateAnimBg="0"/>
      <p:bldP spid="144402" grpId="0" autoUpdateAnimBg="0"/>
      <p:bldP spid="144403" grpId="0" autoUpdateAnimBg="0"/>
      <p:bldP spid="144404" grpId="0" autoUpdateAnimBg="0"/>
      <p:bldP spid="144405" grpId="0" animBg="1"/>
      <p:bldP spid="144406" grpId="0" animBg="1"/>
      <p:bldP spid="144407" grpId="0" animBg="1"/>
      <p:bldP spid="144408" grpId="0" animBg="1"/>
      <p:bldP spid="144409" grpId="0" animBg="1"/>
      <p:bldP spid="144410" grpId="0" animBg="1"/>
      <p:bldP spid="144411" grpId="0" animBg="1"/>
      <p:bldP spid="144412" grpId="0" animBg="1"/>
      <p:bldP spid="144413" grpId="0" animBg="1"/>
      <p:bldP spid="144414" grpId="0" animBg="1"/>
      <p:bldP spid="144415" grpId="0" animBg="1"/>
      <p:bldP spid="144416" grpId="0" animBg="1"/>
      <p:bldP spid="144417" grpId="0" animBg="1"/>
      <p:bldP spid="144418" grpId="0" autoUpdateAnimBg="0"/>
      <p:bldP spid="144419" grpId="0" autoUpdateAnimBg="0"/>
      <p:bldP spid="144420" grpId="0" animBg="1"/>
      <p:bldP spid="144421" grpId="0" animBg="1"/>
      <p:bldP spid="144422" grpId="0" animBg="1"/>
      <p:bldP spid="144423" grpId="0" animBg="1"/>
      <p:bldP spid="144424" grpId="0" animBg="1"/>
      <p:bldP spid="144425" grpId="0" animBg="1"/>
      <p:bldP spid="144426" grpId="0" autoUpdateAnimBg="0"/>
      <p:bldP spid="144427" grpId="0" autoUpdateAnimBg="0"/>
      <p:bldP spid="144428" grpId="0" animBg="1"/>
      <p:bldP spid="144429" grpId="0" autoUpdateAnimBg="0"/>
      <p:bldP spid="144430" grpId="0" autoUpdateAnimBg="0"/>
      <p:bldP spid="144431" grpId="0" animBg="1"/>
      <p:bldP spid="144432" grpId="0" animBg="1"/>
      <p:bldP spid="144433" grpId="0" animBg="1"/>
      <p:bldP spid="144434" grpId="0" animBg="1"/>
      <p:bldP spid="144435" grpId="0" autoUpdateAnimBg="0"/>
      <p:bldP spid="144436" grpId="0" autoUpdateAnimBg="0"/>
      <p:bldP spid="144438" grpId="0" animBg="1"/>
      <p:bldP spid="144453" grpId="0" build="p" autoUpdateAnimBg="0"/>
      <p:bldP spid="144456" grpId="0" animBg="1"/>
      <p:bldP spid="144460" grpId="0" autoUpdateAnimBg="0"/>
      <p:bldP spid="144461" grpId="0" autoUpdateAnimBg="0"/>
      <p:bldP spid="144462" grpId="0" autoUpdateAnimBg="0"/>
      <p:bldP spid="144474" grpId="0" animBg="1"/>
      <p:bldP spid="144478" grpId="0" autoUpdateAnimBg="0"/>
      <p:bldP spid="144479" grpId="0" autoUpdateAnimBg="0"/>
      <p:bldP spid="144480" grpId="0" autoUpdateAnimBg="0"/>
      <p:bldP spid="144489" grpId="0"/>
      <p:bldP spid="144490" grpId="0"/>
      <p:bldP spid="144501" grpId="0" animBg="1"/>
      <p:bldP spid="144502" grpId="0" animBg="1"/>
      <p:bldP spid="14450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AFDB8-04BA-4D82-9C46-A58F868D9F9E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219" name="Line 2"/>
          <p:cNvSpPr>
            <a:spLocks noChangeShapeType="1"/>
          </p:cNvSpPr>
          <p:nvPr/>
        </p:nvSpPr>
        <p:spPr bwMode="auto">
          <a:xfrm>
            <a:off x="3111500" y="4684713"/>
            <a:ext cx="3400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AutoShape 3"/>
          <p:cNvSpPr>
            <a:spLocks noChangeArrowheads="1"/>
          </p:cNvSpPr>
          <p:nvPr/>
        </p:nvSpPr>
        <p:spPr bwMode="auto">
          <a:xfrm>
            <a:off x="3552825" y="4876800"/>
            <a:ext cx="2686050" cy="1514475"/>
          </a:xfrm>
          <a:prstGeom prst="parallelogram">
            <a:avLst>
              <a:gd name="adj" fmla="val 5191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9221" name="AutoShape 4"/>
          <p:cNvSpPr>
            <a:spLocks noChangeArrowheads="1"/>
          </p:cNvSpPr>
          <p:nvPr/>
        </p:nvSpPr>
        <p:spPr bwMode="auto">
          <a:xfrm rot="20377737" flipH="1">
            <a:off x="3697288" y="3070225"/>
            <a:ext cx="2395537" cy="1263650"/>
          </a:xfrm>
          <a:prstGeom prst="parallelogram">
            <a:avLst>
              <a:gd name="adj" fmla="val 2912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4429125" y="3086100"/>
            <a:ext cx="836613" cy="836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Line 6"/>
          <p:cNvSpPr>
            <a:spLocks noChangeShapeType="1"/>
          </p:cNvSpPr>
          <p:nvPr/>
        </p:nvSpPr>
        <p:spPr bwMode="auto">
          <a:xfrm>
            <a:off x="4429125" y="3086100"/>
            <a:ext cx="0" cy="258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Line 7"/>
          <p:cNvSpPr>
            <a:spLocks noChangeShapeType="1"/>
          </p:cNvSpPr>
          <p:nvPr/>
        </p:nvSpPr>
        <p:spPr bwMode="auto">
          <a:xfrm>
            <a:off x="5262563" y="3924300"/>
            <a:ext cx="0" cy="1743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>
            <a:off x="3543300" y="3529013"/>
            <a:ext cx="0" cy="2860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>
            <a:off x="6242050" y="3878263"/>
            <a:ext cx="0" cy="1004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4341813" y="4586288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Line 11"/>
          <p:cNvSpPr>
            <a:spLocks noChangeShapeType="1"/>
          </p:cNvSpPr>
          <p:nvPr/>
        </p:nvSpPr>
        <p:spPr bwMode="auto">
          <a:xfrm>
            <a:off x="5453063" y="2819400"/>
            <a:ext cx="0" cy="3576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9" name="Line 12"/>
          <p:cNvSpPr>
            <a:spLocks noChangeShapeType="1"/>
          </p:cNvSpPr>
          <p:nvPr/>
        </p:nvSpPr>
        <p:spPr bwMode="auto">
          <a:xfrm>
            <a:off x="5038725" y="3367088"/>
            <a:ext cx="0" cy="1833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Oval 13"/>
          <p:cNvSpPr>
            <a:spLocks noChangeArrowheads="1"/>
          </p:cNvSpPr>
          <p:nvPr/>
        </p:nvSpPr>
        <p:spPr bwMode="auto">
          <a:xfrm>
            <a:off x="5014913" y="5176838"/>
            <a:ext cx="42862" cy="428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9231" name="Oval 14"/>
          <p:cNvSpPr>
            <a:spLocks noChangeArrowheads="1"/>
          </p:cNvSpPr>
          <p:nvPr/>
        </p:nvSpPr>
        <p:spPr bwMode="auto">
          <a:xfrm>
            <a:off x="5018088" y="3346450"/>
            <a:ext cx="42862" cy="428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9232" name="Line 15"/>
          <p:cNvSpPr>
            <a:spLocks noChangeShapeType="1"/>
          </p:cNvSpPr>
          <p:nvPr/>
        </p:nvSpPr>
        <p:spPr bwMode="auto">
          <a:xfrm>
            <a:off x="4425950" y="5664200"/>
            <a:ext cx="8397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Text Box 16"/>
          <p:cNvSpPr txBox="1">
            <a:spLocks noChangeArrowheads="1"/>
          </p:cNvSpPr>
          <p:nvPr/>
        </p:nvSpPr>
        <p:spPr bwMode="auto">
          <a:xfrm>
            <a:off x="3276600" y="323056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b’</a:t>
            </a:r>
          </a:p>
        </p:txBody>
      </p:sp>
      <p:sp>
        <p:nvSpPr>
          <p:cNvPr id="9234" name="Text Box 17"/>
          <p:cNvSpPr txBox="1">
            <a:spLocks noChangeArrowheads="1"/>
          </p:cNvSpPr>
          <p:nvPr/>
        </p:nvSpPr>
        <p:spPr bwMode="auto">
          <a:xfrm>
            <a:off x="5319713" y="2465388"/>
            <a:ext cx="344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c’</a:t>
            </a:r>
          </a:p>
        </p:txBody>
      </p:sp>
      <p:sp>
        <p:nvSpPr>
          <p:cNvPr id="9235" name="Text Box 18"/>
          <p:cNvSpPr txBox="1">
            <a:spLocks noChangeArrowheads="1"/>
          </p:cNvSpPr>
          <p:nvPr/>
        </p:nvSpPr>
        <p:spPr bwMode="auto">
          <a:xfrm>
            <a:off x="6208713" y="3627438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d’</a:t>
            </a:r>
          </a:p>
        </p:txBody>
      </p:sp>
      <p:sp>
        <p:nvSpPr>
          <p:cNvPr id="9236" name="Text Box 19"/>
          <p:cNvSpPr txBox="1">
            <a:spLocks noChangeArrowheads="1"/>
          </p:cNvSpPr>
          <p:nvPr/>
        </p:nvSpPr>
        <p:spPr bwMode="auto">
          <a:xfrm>
            <a:off x="4200525" y="415766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e’</a:t>
            </a:r>
          </a:p>
        </p:txBody>
      </p:sp>
      <p:sp>
        <p:nvSpPr>
          <p:cNvPr id="9237" name="Text Box 20"/>
          <p:cNvSpPr txBox="1">
            <a:spLocks noChangeArrowheads="1"/>
          </p:cNvSpPr>
          <p:nvPr/>
        </p:nvSpPr>
        <p:spPr bwMode="auto">
          <a:xfrm>
            <a:off x="4979988" y="321151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a’</a:t>
            </a:r>
          </a:p>
        </p:txBody>
      </p:sp>
      <p:sp>
        <p:nvSpPr>
          <p:cNvPr id="9238" name="Text Box 21"/>
          <p:cNvSpPr txBox="1">
            <a:spLocks noChangeArrowheads="1"/>
          </p:cNvSpPr>
          <p:nvPr/>
        </p:nvSpPr>
        <p:spPr bwMode="auto">
          <a:xfrm>
            <a:off x="4354513" y="2771775"/>
            <a:ext cx="39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m’</a:t>
            </a:r>
          </a:p>
        </p:txBody>
      </p:sp>
      <p:sp>
        <p:nvSpPr>
          <p:cNvPr id="9239" name="Text Box 22"/>
          <p:cNvSpPr txBox="1">
            <a:spLocks noChangeArrowheads="1"/>
          </p:cNvSpPr>
          <p:nvPr/>
        </p:nvSpPr>
        <p:spPr bwMode="auto">
          <a:xfrm>
            <a:off x="5183188" y="3608388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n’</a:t>
            </a:r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3238500" y="61960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b</a:t>
            </a:r>
          </a:p>
        </p:txBody>
      </p:sp>
      <p:sp>
        <p:nvSpPr>
          <p:cNvPr id="9241" name="Text Box 24"/>
          <p:cNvSpPr txBox="1">
            <a:spLocks noChangeArrowheads="1"/>
          </p:cNvSpPr>
          <p:nvPr/>
        </p:nvSpPr>
        <p:spPr bwMode="auto">
          <a:xfrm>
            <a:off x="6216650" y="46339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d</a:t>
            </a:r>
          </a:p>
        </p:txBody>
      </p:sp>
      <p:sp>
        <p:nvSpPr>
          <p:cNvPr id="9242" name="Text Box 25"/>
          <p:cNvSpPr txBox="1">
            <a:spLocks noChangeArrowheads="1"/>
          </p:cNvSpPr>
          <p:nvPr/>
        </p:nvSpPr>
        <p:spPr bwMode="auto">
          <a:xfrm>
            <a:off x="4064000" y="45926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e</a:t>
            </a:r>
          </a:p>
        </p:txBody>
      </p:sp>
      <p:sp>
        <p:nvSpPr>
          <p:cNvPr id="9243" name="Text Box 26"/>
          <p:cNvSpPr txBox="1">
            <a:spLocks noChangeArrowheads="1"/>
          </p:cNvSpPr>
          <p:nvPr/>
        </p:nvSpPr>
        <p:spPr bwMode="auto">
          <a:xfrm>
            <a:off x="5006975" y="49387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9244" name="Text Box 27"/>
          <p:cNvSpPr txBox="1">
            <a:spLocks noChangeArrowheads="1"/>
          </p:cNvSpPr>
          <p:nvPr/>
        </p:nvSpPr>
        <p:spPr bwMode="auto">
          <a:xfrm>
            <a:off x="4124325" y="54467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m</a:t>
            </a:r>
          </a:p>
        </p:txBody>
      </p:sp>
      <p:sp>
        <p:nvSpPr>
          <p:cNvPr id="9245" name="Text Box 28"/>
          <p:cNvSpPr txBox="1">
            <a:spLocks noChangeArrowheads="1"/>
          </p:cNvSpPr>
          <p:nvPr/>
        </p:nvSpPr>
        <p:spPr bwMode="auto">
          <a:xfrm>
            <a:off x="5195888" y="54181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n</a:t>
            </a:r>
          </a:p>
        </p:txBody>
      </p:sp>
      <p:sp>
        <p:nvSpPr>
          <p:cNvPr id="9246" name="Text Box 29"/>
          <p:cNvSpPr txBox="1">
            <a:spLocks noChangeArrowheads="1"/>
          </p:cNvSpPr>
          <p:nvPr/>
        </p:nvSpPr>
        <p:spPr bwMode="auto">
          <a:xfrm>
            <a:off x="5302250" y="62722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0" baseline="0">
                <a:solidFill>
                  <a:srgbClr val="080808"/>
                </a:solidFill>
                <a:latin typeface="ISOCPEUR" pitchFamily="34" charset="0"/>
              </a:rPr>
              <a:t>c</a:t>
            </a:r>
          </a:p>
        </p:txBody>
      </p:sp>
      <p:sp>
        <p:nvSpPr>
          <p:cNvPr id="9247" name="Text Box 30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i="0" baseline="0">
                <a:latin typeface="宋体" pitchFamily="2" charset="-122"/>
              </a:rPr>
              <a:t>2-4-5  </a:t>
            </a:r>
            <a:r>
              <a:rPr kumimoji="0" lang="zh-CN" altLang="en-US" sz="1600" i="0" baseline="0">
                <a:latin typeface="宋体" pitchFamily="2" charset="-122"/>
              </a:rPr>
              <a:t>试检查空间点Ａ绕 </a:t>
            </a:r>
            <a:r>
              <a:rPr kumimoji="0" lang="en-US" altLang="zh-CN" sz="1600" i="0" baseline="0">
                <a:latin typeface="宋体" pitchFamily="2" charset="-122"/>
              </a:rPr>
              <a:t>M-N </a:t>
            </a:r>
            <a:r>
              <a:rPr kumimoji="0" lang="zh-CN" altLang="en-US" sz="1600" i="0" baseline="0">
                <a:latin typeface="宋体" pitchFamily="2" charset="-122"/>
              </a:rPr>
              <a:t>轴（正平线）旋转时会不会与平面 </a:t>
            </a:r>
            <a:r>
              <a:rPr kumimoji="0" lang="en-US" altLang="zh-CN" sz="1600" i="0" baseline="0">
                <a:latin typeface="宋体" pitchFamily="2" charset="-122"/>
              </a:rPr>
              <a:t>BCDE </a:t>
            </a:r>
            <a:r>
              <a:rPr kumimoji="0" lang="zh-CN" altLang="en-US" sz="1600" i="0" baseline="0">
                <a:latin typeface="宋体" pitchFamily="2" charset="-122"/>
              </a:rPr>
              <a:t>相碰撞（作图说明）。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0127C0-EDD5-4D53-9361-9D60413975DD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85346" name="Oval 2"/>
          <p:cNvSpPr>
            <a:spLocks noChangeArrowheads="1"/>
          </p:cNvSpPr>
          <p:nvPr/>
        </p:nvSpPr>
        <p:spPr bwMode="auto">
          <a:xfrm>
            <a:off x="1208088" y="2990850"/>
            <a:ext cx="2644775" cy="1220788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0244" name="Line 3"/>
          <p:cNvSpPr>
            <a:spLocks noChangeShapeType="1"/>
          </p:cNvSpPr>
          <p:nvPr/>
        </p:nvSpPr>
        <p:spPr bwMode="auto">
          <a:xfrm flipV="1">
            <a:off x="2462213" y="2251075"/>
            <a:ext cx="17462" cy="28368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45" name="Group 4"/>
          <p:cNvGrpSpPr>
            <a:grpSpLocks/>
          </p:cNvGrpSpPr>
          <p:nvPr/>
        </p:nvGrpSpPr>
        <p:grpSpPr bwMode="auto">
          <a:xfrm>
            <a:off x="2689225" y="1293813"/>
            <a:ext cx="2482850" cy="4787900"/>
            <a:chOff x="1436" y="1067"/>
            <a:chExt cx="1290" cy="2522"/>
          </a:xfrm>
        </p:grpSpPr>
        <p:sp>
          <p:nvSpPr>
            <p:cNvPr id="10275" name="Freeform 5"/>
            <p:cNvSpPr>
              <a:spLocks/>
            </p:cNvSpPr>
            <p:nvPr/>
          </p:nvSpPr>
          <p:spPr bwMode="auto">
            <a:xfrm>
              <a:off x="1436" y="1068"/>
              <a:ext cx="1290" cy="2521"/>
            </a:xfrm>
            <a:custGeom>
              <a:avLst/>
              <a:gdLst>
                <a:gd name="T0" fmla="*/ 854 w 1290"/>
                <a:gd name="T1" fmla="*/ 2521 h 2521"/>
                <a:gd name="T2" fmla="*/ 0 w 1290"/>
                <a:gd name="T3" fmla="*/ 1667 h 2521"/>
                <a:gd name="T4" fmla="*/ 447 w 1290"/>
                <a:gd name="T5" fmla="*/ 0 h 2521"/>
                <a:gd name="T6" fmla="*/ 1290 w 1290"/>
                <a:gd name="T7" fmla="*/ 843 h 2521"/>
                <a:gd name="T8" fmla="*/ 854 w 1290"/>
                <a:gd name="T9" fmla="*/ 2521 h 2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0"/>
                <a:gd name="T16" fmla="*/ 0 h 2521"/>
                <a:gd name="T17" fmla="*/ 1290 w 1290"/>
                <a:gd name="T18" fmla="*/ 2521 h 25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0" h="2521">
                  <a:moveTo>
                    <a:pt x="854" y="2521"/>
                  </a:moveTo>
                  <a:lnTo>
                    <a:pt x="0" y="1667"/>
                  </a:lnTo>
                  <a:lnTo>
                    <a:pt x="447" y="0"/>
                  </a:lnTo>
                  <a:lnTo>
                    <a:pt x="1290" y="843"/>
                  </a:lnTo>
                  <a:lnTo>
                    <a:pt x="854" y="2521"/>
                  </a:lnTo>
                  <a:close/>
                </a:path>
              </a:pathLst>
            </a:custGeom>
            <a:solidFill>
              <a:srgbClr val="80808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6" name="Freeform 6"/>
            <p:cNvSpPr>
              <a:spLocks/>
            </p:cNvSpPr>
            <p:nvPr/>
          </p:nvSpPr>
          <p:spPr bwMode="auto">
            <a:xfrm>
              <a:off x="1879" y="1067"/>
              <a:ext cx="840" cy="2514"/>
            </a:xfrm>
            <a:custGeom>
              <a:avLst/>
              <a:gdLst>
                <a:gd name="T0" fmla="*/ 408 w 840"/>
                <a:gd name="T1" fmla="*/ 2514 h 2514"/>
                <a:gd name="T2" fmla="*/ 840 w 840"/>
                <a:gd name="T3" fmla="*/ 840 h 2514"/>
                <a:gd name="T4" fmla="*/ 0 w 840"/>
                <a:gd name="T5" fmla="*/ 0 h 2514"/>
                <a:gd name="T6" fmla="*/ 0 60000 65536"/>
                <a:gd name="T7" fmla="*/ 0 60000 65536"/>
                <a:gd name="T8" fmla="*/ 0 60000 65536"/>
                <a:gd name="T9" fmla="*/ 0 w 840"/>
                <a:gd name="T10" fmla="*/ 0 h 2514"/>
                <a:gd name="T11" fmla="*/ 840 w 840"/>
                <a:gd name="T12" fmla="*/ 2514 h 2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2514">
                  <a:moveTo>
                    <a:pt x="408" y="2514"/>
                  </a:moveTo>
                  <a:lnTo>
                    <a:pt x="840" y="84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4641850" y="27686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P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0" y="2673350"/>
            <a:ext cx="4978400" cy="2279650"/>
            <a:chOff x="2763" y="2003"/>
            <a:chExt cx="1977" cy="853"/>
          </a:xfrm>
        </p:grpSpPr>
        <p:sp>
          <p:nvSpPr>
            <p:cNvPr id="10273" name="Freeform 9"/>
            <p:cNvSpPr>
              <a:spLocks/>
            </p:cNvSpPr>
            <p:nvPr/>
          </p:nvSpPr>
          <p:spPr bwMode="auto">
            <a:xfrm>
              <a:off x="2763" y="2003"/>
              <a:ext cx="1977" cy="846"/>
            </a:xfrm>
            <a:custGeom>
              <a:avLst/>
              <a:gdLst>
                <a:gd name="T0" fmla="*/ 0 w 1977"/>
                <a:gd name="T1" fmla="*/ 0 h 846"/>
                <a:gd name="T2" fmla="*/ 1131 w 1977"/>
                <a:gd name="T3" fmla="*/ 0 h 846"/>
                <a:gd name="T4" fmla="*/ 1977 w 1977"/>
                <a:gd name="T5" fmla="*/ 846 h 846"/>
                <a:gd name="T6" fmla="*/ 837 w 1977"/>
                <a:gd name="T7" fmla="*/ 846 h 846"/>
                <a:gd name="T8" fmla="*/ 0 w 1977"/>
                <a:gd name="T9" fmla="*/ 0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7"/>
                <a:gd name="T16" fmla="*/ 0 h 846"/>
                <a:gd name="T17" fmla="*/ 1977 w 1977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7" h="846">
                  <a:moveTo>
                    <a:pt x="0" y="0"/>
                  </a:moveTo>
                  <a:lnTo>
                    <a:pt x="1131" y="0"/>
                  </a:lnTo>
                  <a:lnTo>
                    <a:pt x="1977" y="846"/>
                  </a:lnTo>
                  <a:lnTo>
                    <a:pt x="837" y="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FF">
                <a:alpha val="25098"/>
              </a:srgbClr>
            </a:solidFill>
            <a:ln w="952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4" name="Line 10"/>
            <p:cNvSpPr>
              <a:spLocks noChangeShapeType="1"/>
            </p:cNvSpPr>
            <p:nvPr/>
          </p:nvSpPr>
          <p:spPr bwMode="auto">
            <a:xfrm>
              <a:off x="3608" y="2856"/>
              <a:ext cx="113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355" name="Line 11"/>
          <p:cNvSpPr>
            <a:spLocks noChangeShapeType="1"/>
          </p:cNvSpPr>
          <p:nvPr/>
        </p:nvSpPr>
        <p:spPr bwMode="auto">
          <a:xfrm>
            <a:off x="1401763" y="3317875"/>
            <a:ext cx="1079500" cy="4048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49" name="Oval 12"/>
          <p:cNvSpPr>
            <a:spLocks noChangeArrowheads="1"/>
          </p:cNvSpPr>
          <p:nvPr/>
        </p:nvSpPr>
        <p:spPr bwMode="auto">
          <a:xfrm>
            <a:off x="1327150" y="3252788"/>
            <a:ext cx="88900" cy="88900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85357" name="Line 13"/>
          <p:cNvSpPr>
            <a:spLocks noChangeShapeType="1"/>
          </p:cNvSpPr>
          <p:nvPr/>
        </p:nvSpPr>
        <p:spPr bwMode="auto">
          <a:xfrm>
            <a:off x="3076575" y="2916238"/>
            <a:ext cx="1624013" cy="16748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5358" name="Line 14"/>
          <p:cNvSpPr>
            <a:spLocks noChangeShapeType="1"/>
          </p:cNvSpPr>
          <p:nvPr/>
        </p:nvSpPr>
        <p:spPr bwMode="auto">
          <a:xfrm flipV="1">
            <a:off x="2459038" y="3440113"/>
            <a:ext cx="1144587" cy="282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52" name="Text Box 15"/>
          <p:cNvSpPr txBox="1">
            <a:spLocks noChangeArrowheads="1"/>
          </p:cNvSpPr>
          <p:nvPr/>
        </p:nvSpPr>
        <p:spPr bwMode="auto">
          <a:xfrm>
            <a:off x="2447925" y="1957388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sp>
        <p:nvSpPr>
          <p:cNvPr id="10253" name="Text Box 16"/>
          <p:cNvSpPr txBox="1">
            <a:spLocks noChangeArrowheads="1"/>
          </p:cNvSpPr>
          <p:nvPr/>
        </p:nvSpPr>
        <p:spPr bwMode="auto">
          <a:xfrm>
            <a:off x="2551113" y="5065713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sp>
        <p:nvSpPr>
          <p:cNvPr id="10254" name="Text Box 17"/>
          <p:cNvSpPr txBox="1">
            <a:spLocks noChangeArrowheads="1"/>
          </p:cNvSpPr>
          <p:nvPr/>
        </p:nvSpPr>
        <p:spPr bwMode="auto">
          <a:xfrm>
            <a:off x="1201738" y="2867025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A</a:t>
            </a:r>
          </a:p>
        </p:txBody>
      </p:sp>
      <p:sp>
        <p:nvSpPr>
          <p:cNvPr id="185362" name="Text Box 18"/>
          <p:cNvSpPr txBox="1">
            <a:spLocks noChangeArrowheads="1"/>
          </p:cNvSpPr>
          <p:nvPr/>
        </p:nvSpPr>
        <p:spPr bwMode="auto">
          <a:xfrm>
            <a:off x="2465388" y="3671888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B</a:t>
            </a:r>
          </a:p>
        </p:txBody>
      </p:sp>
      <p:sp>
        <p:nvSpPr>
          <p:cNvPr id="185363" name="Text Box 19"/>
          <p:cNvSpPr txBox="1">
            <a:spLocks noChangeArrowheads="1"/>
          </p:cNvSpPr>
          <p:nvPr/>
        </p:nvSpPr>
        <p:spPr bwMode="auto">
          <a:xfrm>
            <a:off x="2846388" y="2441575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E</a:t>
            </a:r>
          </a:p>
        </p:txBody>
      </p:sp>
      <p:sp>
        <p:nvSpPr>
          <p:cNvPr id="185364" name="Text Box 20"/>
          <p:cNvSpPr txBox="1">
            <a:spLocks noChangeArrowheads="1"/>
          </p:cNvSpPr>
          <p:nvPr/>
        </p:nvSpPr>
        <p:spPr bwMode="auto">
          <a:xfrm>
            <a:off x="4762500" y="4302125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F</a:t>
            </a:r>
          </a:p>
        </p:txBody>
      </p:sp>
      <p:sp>
        <p:nvSpPr>
          <p:cNvPr id="185365" name="Text Box 21"/>
          <p:cNvSpPr txBox="1">
            <a:spLocks noChangeArrowheads="1"/>
          </p:cNvSpPr>
          <p:nvPr/>
        </p:nvSpPr>
        <p:spPr bwMode="auto">
          <a:xfrm>
            <a:off x="3346450" y="3452813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C</a:t>
            </a:r>
          </a:p>
        </p:txBody>
      </p:sp>
      <p:sp>
        <p:nvSpPr>
          <p:cNvPr id="185366" name="Rectangle 22"/>
          <p:cNvSpPr>
            <a:spLocks noChangeArrowheads="1"/>
          </p:cNvSpPr>
          <p:nvPr/>
        </p:nvSpPr>
        <p:spPr bwMode="auto">
          <a:xfrm>
            <a:off x="5456238" y="577850"/>
            <a:ext cx="14097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1" lang="zh-CN" altLang="en-US" sz="24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空间分析</a:t>
            </a:r>
          </a:p>
        </p:txBody>
      </p:sp>
      <p:sp>
        <p:nvSpPr>
          <p:cNvPr id="185368" name="Rectangle 24"/>
          <p:cNvSpPr>
            <a:spLocks noChangeArrowheads="1"/>
          </p:cNvSpPr>
          <p:nvPr/>
        </p:nvSpPr>
        <p:spPr bwMode="auto">
          <a:xfrm>
            <a:off x="5670550" y="1191681"/>
            <a:ext cx="3255963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平面内圆弧是否与直线相交？</a:t>
            </a:r>
          </a:p>
        </p:txBody>
      </p:sp>
      <p:sp>
        <p:nvSpPr>
          <p:cNvPr id="185369" name="Rectangle 25"/>
          <p:cNvSpPr>
            <a:spLocks noChangeArrowheads="1"/>
          </p:cNvSpPr>
          <p:nvPr/>
        </p:nvSpPr>
        <p:spPr bwMode="auto">
          <a:xfrm>
            <a:off x="5567363" y="2836863"/>
            <a:ext cx="33274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1.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过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A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点作垂直于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MN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的平面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Q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5370" name="Rectangle 26"/>
          <p:cNvSpPr>
            <a:spLocks noChangeArrowheads="1"/>
          </p:cNvSpPr>
          <p:nvPr/>
        </p:nvSpPr>
        <p:spPr bwMode="auto">
          <a:xfrm>
            <a:off x="5483225" y="2324100"/>
            <a:ext cx="2400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zh-CN" altLang="en-US" sz="24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方法和步骤</a:t>
            </a:r>
          </a:p>
        </p:txBody>
      </p:sp>
      <p:sp>
        <p:nvSpPr>
          <p:cNvPr id="185371" name="Rectangle 27"/>
          <p:cNvSpPr>
            <a:spLocks noChangeArrowheads="1"/>
          </p:cNvSpPr>
          <p:nvPr/>
        </p:nvSpPr>
        <p:spPr bwMode="auto">
          <a:xfrm>
            <a:off x="5581650" y="3235325"/>
            <a:ext cx="3125788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作平面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Q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与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的交线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EF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5372" name="Rectangle 28"/>
          <p:cNvSpPr>
            <a:spLocks noChangeArrowheads="1"/>
          </p:cNvSpPr>
          <p:nvPr/>
        </p:nvSpPr>
        <p:spPr bwMode="auto">
          <a:xfrm>
            <a:off x="5605463" y="3697288"/>
            <a:ext cx="3125787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作平面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Q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与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MN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的交点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B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5373" name="Rectangle 29"/>
          <p:cNvSpPr>
            <a:spLocks noChangeArrowheads="1"/>
          </p:cNvSpPr>
          <p:nvPr/>
        </p:nvSpPr>
        <p:spPr bwMode="auto">
          <a:xfrm>
            <a:off x="5610225" y="4094163"/>
            <a:ext cx="3125788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4.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求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AB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的实长。</a:t>
            </a:r>
          </a:p>
        </p:txBody>
      </p:sp>
      <p:sp>
        <p:nvSpPr>
          <p:cNvPr id="185374" name="Rectangle 30"/>
          <p:cNvSpPr>
            <a:spLocks noChangeArrowheads="1"/>
          </p:cNvSpPr>
          <p:nvPr/>
        </p:nvSpPr>
        <p:spPr bwMode="auto">
          <a:xfrm>
            <a:off x="5627688" y="4556125"/>
            <a:ext cx="3125787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5.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过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B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点作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EF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的垂直面。</a:t>
            </a:r>
          </a:p>
        </p:txBody>
      </p:sp>
      <p:sp>
        <p:nvSpPr>
          <p:cNvPr id="185375" name="Rectangle 31"/>
          <p:cNvSpPr>
            <a:spLocks noChangeArrowheads="1"/>
          </p:cNvSpPr>
          <p:nvPr/>
        </p:nvSpPr>
        <p:spPr bwMode="auto">
          <a:xfrm>
            <a:off x="5632450" y="4941888"/>
            <a:ext cx="3125788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6.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求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EF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与垂直面的交点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C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5376" name="Rectangle 32"/>
          <p:cNvSpPr>
            <a:spLocks noChangeArrowheads="1"/>
          </p:cNvSpPr>
          <p:nvPr/>
        </p:nvSpPr>
        <p:spPr bwMode="auto">
          <a:xfrm>
            <a:off x="5638800" y="5362575"/>
            <a:ext cx="3125788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7.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求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BC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的实长。</a:t>
            </a:r>
          </a:p>
        </p:txBody>
      </p:sp>
      <p:sp>
        <p:nvSpPr>
          <p:cNvPr id="185377" name="Rectangle 33"/>
          <p:cNvSpPr>
            <a:spLocks noChangeArrowheads="1"/>
          </p:cNvSpPr>
          <p:nvPr/>
        </p:nvSpPr>
        <p:spPr bwMode="auto">
          <a:xfrm>
            <a:off x="5672138" y="5803900"/>
            <a:ext cx="27114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8. 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比较判断。</a:t>
            </a:r>
          </a:p>
        </p:txBody>
      </p:sp>
      <p:sp>
        <p:nvSpPr>
          <p:cNvPr id="185378" name="Rectangle 34"/>
          <p:cNvSpPr>
            <a:spLocks noChangeArrowheads="1"/>
          </p:cNvSpPr>
          <p:nvPr/>
        </p:nvSpPr>
        <p:spPr bwMode="auto">
          <a:xfrm>
            <a:off x="5675313" y="1534581"/>
            <a:ext cx="3255962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比较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AB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和</a:t>
            </a:r>
            <a:r>
              <a:rPr kumimoji="1" lang="en-US" altLang="zh-CN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BC</a:t>
            </a:r>
            <a:r>
              <a:rPr kumimoji="1" lang="zh-CN" altLang="en-US" sz="1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的长度。</a:t>
            </a:r>
          </a:p>
        </p:txBody>
      </p:sp>
      <p:sp>
        <p:nvSpPr>
          <p:cNvPr id="185379" name="Text Box 35"/>
          <p:cNvSpPr txBox="1">
            <a:spLocks noChangeArrowheads="1"/>
          </p:cNvSpPr>
          <p:nvPr/>
        </p:nvSpPr>
        <p:spPr bwMode="auto">
          <a:xfrm>
            <a:off x="412750" y="2709863"/>
            <a:ext cx="30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8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8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8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nimBg="1"/>
      <p:bldP spid="185355" grpId="0" animBg="1"/>
      <p:bldP spid="185357" grpId="0" animBg="1"/>
      <p:bldP spid="185358" grpId="0" animBg="1"/>
      <p:bldP spid="185362" grpId="0"/>
      <p:bldP spid="185363" grpId="0"/>
      <p:bldP spid="185364" grpId="0"/>
      <p:bldP spid="185365" grpId="0"/>
      <p:bldP spid="185366" grpId="0" autoUpdateAnimBg="0"/>
      <p:bldP spid="185368" grpId="0" autoUpdateAnimBg="0"/>
      <p:bldP spid="185369" grpId="0" autoUpdateAnimBg="0"/>
      <p:bldP spid="185370" grpId="0" autoUpdateAnimBg="0"/>
      <p:bldP spid="185371" grpId="0" autoUpdateAnimBg="0"/>
      <p:bldP spid="185372" grpId="0" autoUpdateAnimBg="0"/>
      <p:bldP spid="185373" grpId="0" autoUpdateAnimBg="0"/>
      <p:bldP spid="185374" grpId="0" autoUpdateAnimBg="0"/>
      <p:bldP spid="185375" grpId="0" autoUpdateAnimBg="0"/>
      <p:bldP spid="185376" grpId="0" autoUpdateAnimBg="0"/>
      <p:bldP spid="185377" grpId="0" autoUpdateAnimBg="0"/>
      <p:bldP spid="185378" grpId="0" autoUpdateAnimBg="0"/>
      <p:bldP spid="1853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512225-BFB2-4CE7-8785-5E9049819D4A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711200" y="271463"/>
            <a:ext cx="46640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400" i="0" baseline="0">
                <a:latin typeface="黑体" pitchFamily="2" charset="-122"/>
                <a:ea typeface="黑体" pitchFamily="2" charset="-122"/>
              </a:rPr>
              <a:t>第四章 </a:t>
            </a:r>
            <a:r>
              <a:rPr lang="zh-CN" altLang="en-US" sz="4400" i="0" baseline="0">
                <a:ea typeface="黑体" pitchFamily="2" charset="-122"/>
              </a:rPr>
              <a:t>投影变换</a:t>
            </a: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1692275" y="2603500"/>
            <a:ext cx="6518275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l">
              <a:lnSpc>
                <a:spcPct val="120000"/>
              </a:lnSpc>
              <a:buFontTx/>
              <a:buAutoNum type="arabicDbPlain"/>
              <a:defRPr/>
            </a:pPr>
            <a:r>
              <a:rPr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问题的提出</a:t>
            </a:r>
          </a:p>
          <a:p>
            <a:pPr marL="609600" indent="-609600" algn="l">
              <a:lnSpc>
                <a:spcPct val="120000"/>
              </a:lnSpc>
              <a:buFontTx/>
              <a:buAutoNum type="arabicDbPlain"/>
              <a:defRPr/>
            </a:pPr>
            <a:r>
              <a:rPr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投影变换的原则</a:t>
            </a:r>
          </a:p>
          <a:p>
            <a:pPr marL="609600" indent="-609600" algn="l">
              <a:lnSpc>
                <a:spcPct val="120000"/>
              </a:lnSpc>
              <a:buFontTx/>
              <a:buAutoNum type="arabicDbPlain"/>
              <a:defRPr/>
            </a:pPr>
            <a:r>
              <a:rPr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点的投影变换规律</a:t>
            </a:r>
          </a:p>
          <a:p>
            <a:pPr marL="609600" indent="-609600" algn="l">
              <a:lnSpc>
                <a:spcPct val="120000"/>
              </a:lnSpc>
              <a:buFontTx/>
              <a:buAutoNum type="arabicDbPlain"/>
              <a:defRPr/>
            </a:pPr>
            <a:r>
              <a:rPr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四个基本作图问题</a:t>
            </a:r>
          </a:p>
          <a:p>
            <a:pPr marL="609600" indent="-609600" algn="l">
              <a:lnSpc>
                <a:spcPct val="120000"/>
              </a:lnSpc>
              <a:buFontTx/>
              <a:buAutoNum type="arabicDbPlain"/>
              <a:defRPr/>
            </a:pPr>
            <a:r>
              <a:rPr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华文仿宋" pitchFamily="2" charset="-122"/>
                <a:ea typeface="华文仿宋" pitchFamily="2" charset="-122"/>
              </a:rPr>
              <a:t>综合应用实例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584200" y="2146300"/>
            <a:ext cx="7391400" cy="76200"/>
          </a:xfrm>
          <a:prstGeom prst="rect">
            <a:avLst/>
          </a:prstGeom>
          <a:gradFill rotWithShape="0">
            <a:gsLst>
              <a:gs pos="0">
                <a:srgbClr val="475E76"/>
              </a:gs>
              <a:gs pos="100000">
                <a:srgbClr val="99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2433638" y="1400175"/>
            <a:ext cx="3973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主  要  内  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AA111C-1504-49E9-8548-A2EEE4D7A5BD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71010" name="Text Box 2" descr="紫色网格"/>
          <p:cNvSpPr txBox="1">
            <a:spLocks noChangeArrowheads="1"/>
          </p:cNvSpPr>
          <p:nvPr/>
        </p:nvSpPr>
        <p:spPr bwMode="auto">
          <a:xfrm>
            <a:off x="484188" y="255588"/>
            <a:ext cx="8258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baseline="0">
                <a:latin typeface="黑体" pitchFamily="2" charset="-122"/>
                <a:ea typeface="黑体" pitchFamily="2" charset="-122"/>
              </a:rPr>
              <a:t>4.1 </a:t>
            </a: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问题的提出</a:t>
            </a:r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2155825" y="431323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ea typeface="黑体" pitchFamily="2" charset="-122"/>
              </a:rPr>
              <a:t>定位问题</a:t>
            </a:r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6132513" y="430530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ea typeface="黑体" pitchFamily="2" charset="-122"/>
              </a:rPr>
              <a:t>度量问题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96888" y="1211263"/>
            <a:ext cx="8220075" cy="2884487"/>
            <a:chOff x="291" y="1093"/>
            <a:chExt cx="5178" cy="1817"/>
          </a:xfrm>
        </p:grpSpPr>
        <p:sp>
          <p:nvSpPr>
            <p:cNvPr id="12304" name="Line 6"/>
            <p:cNvSpPr>
              <a:spLocks noChangeShapeType="1"/>
            </p:cNvSpPr>
            <p:nvPr/>
          </p:nvSpPr>
          <p:spPr bwMode="auto">
            <a:xfrm>
              <a:off x="291" y="2015"/>
              <a:ext cx="51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05" name="Group 7"/>
            <p:cNvGrpSpPr>
              <a:grpSpLocks/>
            </p:cNvGrpSpPr>
            <p:nvPr/>
          </p:nvGrpSpPr>
          <p:grpSpPr bwMode="auto">
            <a:xfrm>
              <a:off x="388" y="1093"/>
              <a:ext cx="4972" cy="1817"/>
              <a:chOff x="388" y="1093"/>
              <a:chExt cx="4972" cy="1817"/>
            </a:xfrm>
          </p:grpSpPr>
          <p:sp>
            <p:nvSpPr>
              <p:cNvPr id="12306" name="Line 8"/>
              <p:cNvSpPr>
                <a:spLocks noChangeShapeType="1"/>
              </p:cNvSpPr>
              <p:nvPr/>
            </p:nvSpPr>
            <p:spPr bwMode="auto">
              <a:xfrm flipV="1">
                <a:off x="388" y="1283"/>
                <a:ext cx="1107" cy="45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7" name="Line 9"/>
              <p:cNvSpPr>
                <a:spLocks noChangeShapeType="1"/>
              </p:cNvSpPr>
              <p:nvPr/>
            </p:nvSpPr>
            <p:spPr bwMode="auto">
              <a:xfrm>
                <a:off x="1495" y="1283"/>
                <a:ext cx="0" cy="16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8" name="Line 10"/>
              <p:cNvSpPr>
                <a:spLocks noChangeShapeType="1"/>
              </p:cNvSpPr>
              <p:nvPr/>
            </p:nvSpPr>
            <p:spPr bwMode="auto">
              <a:xfrm flipV="1">
                <a:off x="388" y="2129"/>
                <a:ext cx="521" cy="32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9" name="Line 11"/>
              <p:cNvSpPr>
                <a:spLocks noChangeShapeType="1"/>
              </p:cNvSpPr>
              <p:nvPr/>
            </p:nvSpPr>
            <p:spPr bwMode="auto">
              <a:xfrm>
                <a:off x="388" y="2454"/>
                <a:ext cx="1107" cy="456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0" name="Line 12"/>
              <p:cNvSpPr>
                <a:spLocks noChangeShapeType="1"/>
              </p:cNvSpPr>
              <p:nvPr/>
            </p:nvSpPr>
            <p:spPr bwMode="auto">
              <a:xfrm>
                <a:off x="583" y="1283"/>
                <a:ext cx="847" cy="455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1" name="Line 13"/>
              <p:cNvSpPr>
                <a:spLocks noChangeShapeType="1"/>
              </p:cNvSpPr>
              <p:nvPr/>
            </p:nvSpPr>
            <p:spPr bwMode="auto">
              <a:xfrm>
                <a:off x="1430" y="1738"/>
                <a:ext cx="0" cy="6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2" name="Line 14"/>
              <p:cNvSpPr>
                <a:spLocks noChangeShapeType="1"/>
              </p:cNvSpPr>
              <p:nvPr/>
            </p:nvSpPr>
            <p:spPr bwMode="auto">
              <a:xfrm>
                <a:off x="909" y="2129"/>
                <a:ext cx="586" cy="781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3" name="Line 15"/>
              <p:cNvSpPr>
                <a:spLocks noChangeShapeType="1"/>
              </p:cNvSpPr>
              <p:nvPr/>
            </p:nvSpPr>
            <p:spPr bwMode="auto">
              <a:xfrm>
                <a:off x="388" y="1738"/>
                <a:ext cx="0" cy="7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4" name="Line 16"/>
              <p:cNvSpPr>
                <a:spLocks noChangeShapeType="1"/>
              </p:cNvSpPr>
              <p:nvPr/>
            </p:nvSpPr>
            <p:spPr bwMode="auto">
              <a:xfrm>
                <a:off x="583" y="1283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5" name="Line 17"/>
              <p:cNvSpPr>
                <a:spLocks noChangeShapeType="1"/>
              </p:cNvSpPr>
              <p:nvPr/>
            </p:nvSpPr>
            <p:spPr bwMode="auto">
              <a:xfrm flipH="1" flipV="1">
                <a:off x="4058" y="1226"/>
                <a:ext cx="300" cy="64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6" name="Line 18"/>
              <p:cNvSpPr>
                <a:spLocks noChangeShapeType="1"/>
              </p:cNvSpPr>
              <p:nvPr/>
            </p:nvSpPr>
            <p:spPr bwMode="auto">
              <a:xfrm flipH="1">
                <a:off x="4951" y="2267"/>
                <a:ext cx="409" cy="615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7" name="Line 19"/>
              <p:cNvSpPr>
                <a:spLocks noChangeShapeType="1"/>
              </p:cNvSpPr>
              <p:nvPr/>
            </p:nvSpPr>
            <p:spPr bwMode="auto">
              <a:xfrm>
                <a:off x="4962" y="1362"/>
                <a:ext cx="398" cy="385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8" name="Line 20"/>
              <p:cNvSpPr>
                <a:spLocks noChangeShapeType="1"/>
              </p:cNvSpPr>
              <p:nvPr/>
            </p:nvSpPr>
            <p:spPr bwMode="auto">
              <a:xfrm>
                <a:off x="4644" y="2332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9" name="Line 21"/>
              <p:cNvSpPr>
                <a:spLocks noChangeShapeType="1"/>
              </p:cNvSpPr>
              <p:nvPr/>
            </p:nvSpPr>
            <p:spPr bwMode="auto">
              <a:xfrm>
                <a:off x="4709" y="2332"/>
                <a:ext cx="456" cy="261"/>
              </a:xfrm>
              <a:prstGeom prst="line">
                <a:avLst/>
              </a:prstGeom>
              <a:noFill/>
              <a:ln w="381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0" name="Line 22"/>
              <p:cNvSpPr>
                <a:spLocks noChangeShapeType="1"/>
              </p:cNvSpPr>
              <p:nvPr/>
            </p:nvSpPr>
            <p:spPr bwMode="auto">
              <a:xfrm flipV="1">
                <a:off x="5141" y="1535"/>
                <a:ext cx="0" cy="10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1" name="Line 23"/>
              <p:cNvSpPr>
                <a:spLocks noChangeShapeType="1"/>
              </p:cNvSpPr>
              <p:nvPr/>
            </p:nvSpPr>
            <p:spPr bwMode="auto">
              <a:xfrm>
                <a:off x="974" y="1500"/>
                <a:ext cx="0" cy="1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2" name="Line 24"/>
              <p:cNvSpPr>
                <a:spLocks noChangeShapeType="1"/>
              </p:cNvSpPr>
              <p:nvPr/>
            </p:nvSpPr>
            <p:spPr bwMode="auto">
              <a:xfrm flipH="1">
                <a:off x="2158" y="1097"/>
                <a:ext cx="357" cy="39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3" name="Line 25"/>
              <p:cNvSpPr>
                <a:spLocks noChangeShapeType="1"/>
              </p:cNvSpPr>
              <p:nvPr/>
            </p:nvSpPr>
            <p:spPr bwMode="auto">
              <a:xfrm>
                <a:off x="2158" y="1488"/>
                <a:ext cx="826" cy="45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4" name="Line 26"/>
              <p:cNvSpPr>
                <a:spLocks noChangeShapeType="1"/>
              </p:cNvSpPr>
              <p:nvPr/>
            </p:nvSpPr>
            <p:spPr bwMode="auto">
              <a:xfrm flipH="1" flipV="1">
                <a:off x="2515" y="1093"/>
                <a:ext cx="469" cy="85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5" name="Line 27"/>
              <p:cNvSpPr>
                <a:spLocks noChangeShapeType="1"/>
              </p:cNvSpPr>
              <p:nvPr/>
            </p:nvSpPr>
            <p:spPr bwMode="auto">
              <a:xfrm>
                <a:off x="2515" y="1093"/>
                <a:ext cx="0" cy="12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6" name="Line 28"/>
              <p:cNvSpPr>
                <a:spLocks noChangeShapeType="1"/>
              </p:cNvSpPr>
              <p:nvPr/>
            </p:nvSpPr>
            <p:spPr bwMode="auto">
              <a:xfrm>
                <a:off x="2971" y="1931"/>
                <a:ext cx="0" cy="8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7" name="Line 29"/>
              <p:cNvSpPr>
                <a:spLocks noChangeShapeType="1"/>
              </p:cNvSpPr>
              <p:nvPr/>
            </p:nvSpPr>
            <p:spPr bwMode="auto">
              <a:xfrm flipV="1">
                <a:off x="2280" y="1326"/>
                <a:ext cx="617" cy="370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8" name="Line 30"/>
              <p:cNvSpPr>
                <a:spLocks noChangeShapeType="1"/>
              </p:cNvSpPr>
              <p:nvPr/>
            </p:nvSpPr>
            <p:spPr bwMode="auto">
              <a:xfrm>
                <a:off x="2897" y="1326"/>
                <a:ext cx="0" cy="1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9" name="Line 31"/>
              <p:cNvSpPr>
                <a:spLocks noChangeShapeType="1"/>
              </p:cNvSpPr>
              <p:nvPr/>
            </p:nvSpPr>
            <p:spPr bwMode="auto">
              <a:xfrm flipH="1" flipV="1">
                <a:off x="2280" y="2178"/>
                <a:ext cx="617" cy="160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0" name="Line 32"/>
              <p:cNvSpPr>
                <a:spLocks noChangeShapeType="1"/>
              </p:cNvSpPr>
              <p:nvPr/>
            </p:nvSpPr>
            <p:spPr bwMode="auto">
              <a:xfrm flipV="1">
                <a:off x="2280" y="1692"/>
                <a:ext cx="0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1" name="Line 33"/>
              <p:cNvSpPr>
                <a:spLocks noChangeShapeType="1"/>
              </p:cNvSpPr>
              <p:nvPr/>
            </p:nvSpPr>
            <p:spPr bwMode="auto">
              <a:xfrm>
                <a:off x="2404" y="1623"/>
                <a:ext cx="0" cy="9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2" name="Line 34"/>
              <p:cNvSpPr>
                <a:spLocks noChangeShapeType="1"/>
              </p:cNvSpPr>
              <p:nvPr/>
            </p:nvSpPr>
            <p:spPr bwMode="auto">
              <a:xfrm>
                <a:off x="2699" y="1450"/>
                <a:ext cx="0" cy="10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3" name="Line 35"/>
              <p:cNvSpPr>
                <a:spLocks noChangeShapeType="1"/>
              </p:cNvSpPr>
              <p:nvPr/>
            </p:nvSpPr>
            <p:spPr bwMode="auto">
              <a:xfrm flipH="1">
                <a:off x="2392" y="2482"/>
                <a:ext cx="315" cy="107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4" name="Line 36"/>
              <p:cNvSpPr>
                <a:spLocks noChangeShapeType="1"/>
              </p:cNvSpPr>
              <p:nvPr/>
            </p:nvSpPr>
            <p:spPr bwMode="auto">
              <a:xfrm flipV="1">
                <a:off x="579" y="2597"/>
                <a:ext cx="399" cy="184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5" name="Line 37"/>
              <p:cNvSpPr>
                <a:spLocks noChangeShapeType="1"/>
              </p:cNvSpPr>
              <p:nvPr/>
            </p:nvSpPr>
            <p:spPr bwMode="auto">
              <a:xfrm flipV="1">
                <a:off x="1195" y="2383"/>
                <a:ext cx="239" cy="115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6" name="Line 38"/>
              <p:cNvSpPr>
                <a:spLocks noChangeShapeType="1"/>
              </p:cNvSpPr>
              <p:nvPr/>
            </p:nvSpPr>
            <p:spPr bwMode="auto">
              <a:xfrm>
                <a:off x="2280" y="2166"/>
                <a:ext cx="50" cy="259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7" name="Line 39"/>
              <p:cNvSpPr>
                <a:spLocks noChangeShapeType="1"/>
              </p:cNvSpPr>
              <p:nvPr/>
            </p:nvSpPr>
            <p:spPr bwMode="auto">
              <a:xfrm>
                <a:off x="2352" y="2574"/>
                <a:ext cx="76" cy="331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8" name="Line 40"/>
              <p:cNvSpPr>
                <a:spLocks noChangeShapeType="1"/>
              </p:cNvSpPr>
              <p:nvPr/>
            </p:nvSpPr>
            <p:spPr bwMode="auto">
              <a:xfrm>
                <a:off x="2170" y="2522"/>
                <a:ext cx="228" cy="67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9" name="Line 41"/>
              <p:cNvSpPr>
                <a:spLocks noChangeShapeType="1"/>
              </p:cNvSpPr>
              <p:nvPr/>
            </p:nvSpPr>
            <p:spPr bwMode="auto">
              <a:xfrm>
                <a:off x="2515" y="2301"/>
                <a:ext cx="184" cy="18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0" name="Line 42"/>
              <p:cNvSpPr>
                <a:spLocks noChangeShapeType="1"/>
              </p:cNvSpPr>
              <p:nvPr/>
            </p:nvSpPr>
            <p:spPr bwMode="auto">
              <a:xfrm>
                <a:off x="2736" y="2526"/>
                <a:ext cx="234" cy="236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1" name="Line 43"/>
              <p:cNvSpPr>
                <a:spLocks noChangeShapeType="1"/>
              </p:cNvSpPr>
              <p:nvPr/>
            </p:nvSpPr>
            <p:spPr bwMode="auto">
              <a:xfrm>
                <a:off x="2613" y="2654"/>
                <a:ext cx="364" cy="11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2" name="Line 44"/>
              <p:cNvSpPr>
                <a:spLocks noChangeShapeType="1"/>
              </p:cNvSpPr>
              <p:nvPr/>
            </p:nvSpPr>
            <p:spPr bwMode="auto">
              <a:xfrm flipH="1">
                <a:off x="3546" y="1234"/>
                <a:ext cx="504" cy="32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3" name="Line 45"/>
              <p:cNvSpPr>
                <a:spLocks noChangeShapeType="1"/>
              </p:cNvSpPr>
              <p:nvPr/>
            </p:nvSpPr>
            <p:spPr bwMode="auto">
              <a:xfrm>
                <a:off x="3546" y="1559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4" name="Line 46"/>
              <p:cNvSpPr>
                <a:spLocks noChangeShapeType="1"/>
              </p:cNvSpPr>
              <p:nvPr/>
            </p:nvSpPr>
            <p:spPr bwMode="auto">
              <a:xfrm>
                <a:off x="3546" y="2519"/>
                <a:ext cx="813" cy="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5" name="Line 47"/>
              <p:cNvSpPr>
                <a:spLocks noChangeShapeType="1"/>
              </p:cNvSpPr>
              <p:nvPr/>
            </p:nvSpPr>
            <p:spPr bwMode="auto">
              <a:xfrm flipV="1">
                <a:off x="4359" y="1869"/>
                <a:ext cx="0" cy="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6" name="Line 48"/>
              <p:cNvSpPr>
                <a:spLocks noChangeShapeType="1"/>
              </p:cNvSpPr>
              <p:nvPr/>
            </p:nvSpPr>
            <p:spPr bwMode="auto">
              <a:xfrm flipH="1" flipV="1">
                <a:off x="3546" y="1563"/>
                <a:ext cx="813" cy="306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7" name="Line 49"/>
              <p:cNvSpPr>
                <a:spLocks noChangeShapeType="1"/>
              </p:cNvSpPr>
              <p:nvPr/>
            </p:nvSpPr>
            <p:spPr bwMode="auto">
              <a:xfrm flipV="1">
                <a:off x="4701" y="1169"/>
                <a:ext cx="0" cy="1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8" name="Line 50"/>
              <p:cNvSpPr>
                <a:spLocks noChangeShapeType="1"/>
              </p:cNvSpPr>
              <p:nvPr/>
            </p:nvSpPr>
            <p:spPr bwMode="auto">
              <a:xfrm>
                <a:off x="4701" y="1169"/>
                <a:ext cx="0" cy="63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49" name="Line 51"/>
              <p:cNvSpPr>
                <a:spLocks noChangeShapeType="1"/>
              </p:cNvSpPr>
              <p:nvPr/>
            </p:nvSpPr>
            <p:spPr bwMode="auto">
              <a:xfrm flipH="1">
                <a:off x="4701" y="1543"/>
                <a:ext cx="440" cy="0"/>
              </a:xfrm>
              <a:prstGeom prst="line">
                <a:avLst/>
              </a:prstGeom>
              <a:noFill/>
              <a:ln w="381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0" name="Line 52"/>
              <p:cNvSpPr>
                <a:spLocks noChangeShapeType="1"/>
              </p:cNvSpPr>
              <p:nvPr/>
            </p:nvSpPr>
            <p:spPr bwMode="auto">
              <a:xfrm>
                <a:off x="4962" y="1364"/>
                <a:ext cx="0" cy="15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1" name="Line 53"/>
              <p:cNvSpPr>
                <a:spLocks noChangeShapeType="1"/>
              </p:cNvSpPr>
              <p:nvPr/>
            </p:nvSpPr>
            <p:spPr bwMode="auto">
              <a:xfrm>
                <a:off x="5352" y="1741"/>
                <a:ext cx="0" cy="5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2" name="Oval 54"/>
              <p:cNvSpPr>
                <a:spLocks noChangeArrowheads="1"/>
              </p:cNvSpPr>
              <p:nvPr/>
            </p:nvSpPr>
            <p:spPr bwMode="auto">
              <a:xfrm>
                <a:off x="4652" y="2292"/>
                <a:ext cx="82" cy="81"/>
              </a:xfrm>
              <a:prstGeom prst="ellipse">
                <a:avLst/>
              </a:prstGeom>
              <a:solidFill>
                <a:srgbClr val="0000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>
                  <a:latin typeface="ISOCPEUR" pitchFamily="34" charset="0"/>
                </a:endParaRPr>
              </a:p>
            </p:txBody>
          </p:sp>
          <p:sp>
            <p:nvSpPr>
              <p:cNvPr id="12353" name="Line 55"/>
              <p:cNvSpPr>
                <a:spLocks noChangeShapeType="1"/>
              </p:cNvSpPr>
              <p:nvPr/>
            </p:nvSpPr>
            <p:spPr bwMode="auto">
              <a:xfrm>
                <a:off x="2162" y="1494"/>
                <a:ext cx="0" cy="10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4" name="Line 56"/>
              <p:cNvSpPr>
                <a:spLocks noChangeShapeType="1"/>
              </p:cNvSpPr>
              <p:nvPr/>
            </p:nvSpPr>
            <p:spPr bwMode="auto">
              <a:xfrm flipV="1">
                <a:off x="902" y="1520"/>
                <a:ext cx="0" cy="6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5" name="Line 57"/>
              <p:cNvSpPr>
                <a:spLocks noChangeShapeType="1"/>
              </p:cNvSpPr>
              <p:nvPr/>
            </p:nvSpPr>
            <p:spPr bwMode="auto">
              <a:xfrm flipH="1">
                <a:off x="2424" y="2334"/>
                <a:ext cx="469" cy="567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6" name="Line 58"/>
              <p:cNvSpPr>
                <a:spLocks noChangeShapeType="1"/>
              </p:cNvSpPr>
              <p:nvPr/>
            </p:nvSpPr>
            <p:spPr bwMode="auto">
              <a:xfrm flipH="1">
                <a:off x="2160" y="2301"/>
                <a:ext cx="355" cy="225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1067" name="AutoShape 59" descr="紫色网格"/>
          <p:cNvSpPr>
            <a:spLocks noChangeArrowheads="1"/>
          </p:cNvSpPr>
          <p:nvPr/>
        </p:nvSpPr>
        <p:spPr bwMode="auto">
          <a:xfrm>
            <a:off x="914400" y="5124450"/>
            <a:ext cx="6948488" cy="1466850"/>
          </a:xfrm>
          <a:prstGeom prst="plaque">
            <a:avLst>
              <a:gd name="adj" fmla="val 1419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8575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CCECFF"/>
                </a:solidFill>
                <a:latin typeface="Times New Roman" pitchFamily="18" charset="0"/>
                <a:ea typeface="隶书" pitchFamily="49" charset="-122"/>
              </a:rPr>
              <a:t>  </a:t>
            </a:r>
            <a:r>
              <a:rPr kumimoji="1" lang="zh-CN" altLang="en-US" sz="2800" i="0" baseline="0">
                <a:solidFill>
                  <a:srgbClr val="CCECFF"/>
                </a:solidFill>
                <a:latin typeface="Times New Roman" pitchFamily="18" charset="0"/>
                <a:ea typeface="隶书" pitchFamily="49" charset="-122"/>
              </a:rPr>
              <a:t>当几何元素相对于投影面处于</a:t>
            </a:r>
            <a:r>
              <a:rPr kumimoji="1" lang="zh-CN" altLang="en-US" sz="2800" i="0" baseline="0">
                <a:solidFill>
                  <a:srgbClr val="CCE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特殊位置</a:t>
            </a:r>
            <a:endParaRPr kumimoji="1" lang="zh-CN" altLang="en-US" sz="2800" baseline="0">
              <a:solidFill>
                <a:srgbClr val="CCE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隶书" pitchFamily="49" charset="-122"/>
            </a:endParaRPr>
          </a:p>
          <a:p>
            <a:pPr algn="l">
              <a:defRPr/>
            </a:pPr>
            <a:r>
              <a:rPr kumimoji="1" lang="zh-CN" altLang="en-US" sz="2800" i="0" baseline="0">
                <a:solidFill>
                  <a:srgbClr val="CCECFF"/>
                </a:solidFill>
                <a:latin typeface="Times New Roman" pitchFamily="18" charset="0"/>
                <a:ea typeface="隶书" pitchFamily="49" charset="-122"/>
              </a:rPr>
              <a:t>  时，其投影往往能</a:t>
            </a:r>
            <a:r>
              <a:rPr kumimoji="1" lang="zh-CN" altLang="en-US" sz="28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直接反映</a:t>
            </a:r>
            <a:r>
              <a:rPr kumimoji="1" lang="zh-CN" altLang="en-US" sz="2800" i="0" baseline="0">
                <a:solidFill>
                  <a:srgbClr val="CCECFF"/>
                </a:solidFill>
                <a:latin typeface="Times New Roman" pitchFamily="18" charset="0"/>
                <a:ea typeface="隶书" pitchFamily="49" charset="-122"/>
              </a:rPr>
              <a:t>交点、交线</a:t>
            </a:r>
          </a:p>
          <a:p>
            <a:pPr algn="l">
              <a:defRPr/>
            </a:pPr>
            <a:r>
              <a:rPr kumimoji="1" lang="zh-CN" altLang="en-US" sz="2800" i="0" baseline="0">
                <a:solidFill>
                  <a:srgbClr val="CCECFF"/>
                </a:solidFill>
                <a:latin typeface="Times New Roman" pitchFamily="18" charset="0"/>
                <a:ea typeface="隶书" pitchFamily="49" charset="-122"/>
              </a:rPr>
              <a:t>  的位置或图形实形、线段实长。</a:t>
            </a:r>
            <a:endParaRPr kumimoji="1" lang="zh-CN" altLang="en-US" sz="2800" b="0" i="0" baseline="0">
              <a:solidFill>
                <a:srgbClr val="CCECFF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171068" name="Oval 60"/>
          <p:cNvSpPr>
            <a:spLocks noChangeArrowheads="1"/>
          </p:cNvSpPr>
          <p:nvPr/>
        </p:nvSpPr>
        <p:spPr bwMode="auto">
          <a:xfrm>
            <a:off x="1517650" y="1800225"/>
            <a:ext cx="106363" cy="1063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1069" name="Oval 61"/>
          <p:cNvSpPr>
            <a:spLocks noChangeArrowheads="1"/>
          </p:cNvSpPr>
          <p:nvPr/>
        </p:nvSpPr>
        <p:spPr bwMode="auto">
          <a:xfrm>
            <a:off x="1517650" y="1800225"/>
            <a:ext cx="106363" cy="1063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1070" name="Line 62"/>
          <p:cNvSpPr>
            <a:spLocks noChangeShapeType="1"/>
          </p:cNvSpPr>
          <p:nvPr/>
        </p:nvSpPr>
        <p:spPr bwMode="auto">
          <a:xfrm flipV="1">
            <a:off x="3851275" y="1754188"/>
            <a:ext cx="509588" cy="3079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1071" name="Line 63"/>
          <p:cNvSpPr>
            <a:spLocks noChangeShapeType="1"/>
          </p:cNvSpPr>
          <p:nvPr/>
        </p:nvSpPr>
        <p:spPr bwMode="auto">
          <a:xfrm flipV="1">
            <a:off x="3840163" y="3413125"/>
            <a:ext cx="477837" cy="1793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1072" name="Line 64"/>
          <p:cNvSpPr>
            <a:spLocks noChangeShapeType="1"/>
          </p:cNvSpPr>
          <p:nvPr/>
        </p:nvSpPr>
        <p:spPr bwMode="auto">
          <a:xfrm flipV="1">
            <a:off x="5657850" y="1414463"/>
            <a:ext cx="841375" cy="5397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1073" name="Line 65"/>
          <p:cNvSpPr>
            <a:spLocks noChangeShapeType="1"/>
          </p:cNvSpPr>
          <p:nvPr/>
        </p:nvSpPr>
        <p:spPr bwMode="auto">
          <a:xfrm flipH="1" flipV="1">
            <a:off x="6477000" y="1422400"/>
            <a:ext cx="466725" cy="9890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1074" name="Line 66"/>
          <p:cNvSpPr>
            <a:spLocks noChangeShapeType="1"/>
          </p:cNvSpPr>
          <p:nvPr/>
        </p:nvSpPr>
        <p:spPr bwMode="auto">
          <a:xfrm flipH="1" flipV="1">
            <a:off x="5635625" y="1951038"/>
            <a:ext cx="1338263" cy="4889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1075" name="Line 67"/>
          <p:cNvSpPr>
            <a:spLocks noChangeShapeType="1"/>
          </p:cNvSpPr>
          <p:nvPr/>
        </p:nvSpPr>
        <p:spPr bwMode="auto">
          <a:xfrm flipH="1" flipV="1">
            <a:off x="7516813" y="3194050"/>
            <a:ext cx="711200" cy="3937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11111E-6 L 0.00104 0.2541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11" grpId="0" autoUpdateAnimBg="0"/>
      <p:bldP spid="171012" grpId="0" autoUpdateAnimBg="0"/>
      <p:bldP spid="171067" grpId="0" animBg="1" autoUpdateAnimBg="0"/>
      <p:bldP spid="171068" grpId="0" animBg="1"/>
      <p:bldP spid="171069" grpId="0" animBg="1"/>
      <p:bldP spid="171069" grpId="1" animBg="1"/>
      <p:bldP spid="171070" grpId="0" animBg="1"/>
      <p:bldP spid="171071" grpId="0" animBg="1"/>
      <p:bldP spid="171072" grpId="0" animBg="1"/>
      <p:bldP spid="171073" grpId="0" animBg="1"/>
      <p:bldP spid="171074" grpId="0" animBg="1"/>
      <p:bldP spid="17107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49040-07F8-4656-A037-83BD3AEDFB0C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5811838" y="1792288"/>
            <a:ext cx="1851025" cy="511175"/>
          </a:xfrm>
          <a:prstGeom prst="rect">
            <a:avLst/>
          </a:prstGeom>
          <a:solidFill>
            <a:schemeClr val="bg2">
              <a:alpha val="50195"/>
            </a:schemeClr>
          </a:solidFill>
          <a:ln w="12700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2035" name="AutoShape 3" descr="蓝色砂纸"/>
          <p:cNvSpPr>
            <a:spLocks noChangeArrowheads="1"/>
          </p:cNvSpPr>
          <p:nvPr/>
        </p:nvSpPr>
        <p:spPr bwMode="auto">
          <a:xfrm>
            <a:off x="336550" y="576263"/>
            <a:ext cx="4318000" cy="1389062"/>
          </a:xfrm>
          <a:prstGeom prst="cloudCallout">
            <a:avLst>
              <a:gd name="adj1" fmla="val 42500"/>
              <a:gd name="adj2" fmla="val 13068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666699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b="0" i="0" baseline="0"/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1228725" y="815975"/>
            <a:ext cx="31892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4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几何元素处于一般</a:t>
            </a:r>
          </a:p>
          <a:p>
            <a:pPr algn="l">
              <a:defRPr/>
            </a:pPr>
            <a:r>
              <a:rPr kumimoji="1" lang="zh-CN" altLang="en-US" sz="24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位置时怎么办？</a:t>
            </a:r>
          </a:p>
        </p:txBody>
      </p:sp>
      <p:sp>
        <p:nvSpPr>
          <p:cNvPr id="172037" name="AutoShape 5"/>
          <p:cNvSpPr>
            <a:spLocks noChangeArrowheads="1"/>
          </p:cNvSpPr>
          <p:nvPr/>
        </p:nvSpPr>
        <p:spPr bwMode="auto">
          <a:xfrm>
            <a:off x="4660900" y="2147888"/>
            <a:ext cx="547688" cy="692150"/>
          </a:xfrm>
          <a:custGeom>
            <a:avLst/>
            <a:gdLst>
              <a:gd name="T0" fmla="*/ 10415352 w 21600"/>
              <a:gd name="T1" fmla="*/ 0 h 21600"/>
              <a:gd name="T2" fmla="*/ 0 w 21600"/>
              <a:gd name="T3" fmla="*/ 11089621 h 21600"/>
              <a:gd name="T4" fmla="*/ 10415352 w 21600"/>
              <a:gd name="T5" fmla="*/ 22179242 h 21600"/>
              <a:gd name="T6" fmla="*/ 13887136 w 21600"/>
              <a:gd name="T7" fmla="*/ 1108962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0">
            <a:gsLst>
              <a:gs pos="0">
                <a:srgbClr val="FF7C80"/>
              </a:gs>
              <a:gs pos="100000">
                <a:srgbClr val="612F31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8" name="Text Box 6"/>
          <p:cNvSpPr txBox="1">
            <a:spLocks noChangeArrowheads="1"/>
          </p:cNvSpPr>
          <p:nvPr/>
        </p:nvSpPr>
        <p:spPr bwMode="auto">
          <a:xfrm>
            <a:off x="5632450" y="755650"/>
            <a:ext cx="31226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333399"/>
                </a:solidFill>
                <a:ea typeface="黑体" pitchFamily="2" charset="-122"/>
              </a:rPr>
              <a:t>几何元素不动，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333399"/>
                </a:solidFill>
                <a:ea typeface="黑体" pitchFamily="2" charset="-122"/>
              </a:rPr>
              <a:t>变换投影面位置</a:t>
            </a:r>
          </a:p>
        </p:txBody>
      </p:sp>
      <p:sp>
        <p:nvSpPr>
          <p:cNvPr id="172039" name="AutoShape 7" descr="紫色网格"/>
          <p:cNvSpPr>
            <a:spLocks noChangeArrowheads="1"/>
          </p:cNvSpPr>
          <p:nvPr/>
        </p:nvSpPr>
        <p:spPr bwMode="auto">
          <a:xfrm>
            <a:off x="371475" y="4175125"/>
            <a:ext cx="3497263" cy="719138"/>
          </a:xfrm>
          <a:prstGeom prst="roundRect">
            <a:avLst>
              <a:gd name="adj" fmla="val 16667"/>
            </a:avLst>
          </a:prstGeom>
          <a:noFill/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kumimoji="1" lang="zh-CN" altLang="en-US" sz="36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投影变换目的</a:t>
            </a:r>
            <a:endParaRPr kumimoji="1" lang="zh-CN" altLang="en-US" sz="3600" b="0" i="0" baseline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1216025" y="4927600"/>
            <a:ext cx="71183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改变几何元素与投影面之间的相对位置，使之平行或垂直于投影面。借助于改变后所得到的辅助投影，简化空间问题的求解。</a:t>
            </a:r>
          </a:p>
        </p:txBody>
      </p:sp>
      <p:sp>
        <p:nvSpPr>
          <p:cNvPr id="172041" name="Text Box 9"/>
          <p:cNvSpPr txBox="1">
            <a:spLocks noChangeArrowheads="1"/>
          </p:cNvSpPr>
          <p:nvPr/>
        </p:nvSpPr>
        <p:spPr bwMode="auto">
          <a:xfrm>
            <a:off x="5691188" y="2670175"/>
            <a:ext cx="33067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333399"/>
                </a:solidFill>
                <a:ea typeface="黑体" pitchFamily="2" charset="-122"/>
              </a:rPr>
              <a:t>投影面不动，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333399"/>
                </a:solidFill>
                <a:ea typeface="黑体" pitchFamily="2" charset="-122"/>
              </a:rPr>
              <a:t>几何元素绕某轴旋转</a:t>
            </a:r>
          </a:p>
        </p:txBody>
      </p:sp>
      <p:sp>
        <p:nvSpPr>
          <p:cNvPr id="172042" name="Text Box 10"/>
          <p:cNvSpPr txBox="1">
            <a:spLocks noChangeArrowheads="1"/>
          </p:cNvSpPr>
          <p:nvPr/>
        </p:nvSpPr>
        <p:spPr bwMode="auto">
          <a:xfrm>
            <a:off x="5891213" y="1755775"/>
            <a:ext cx="1828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换面法</a:t>
            </a:r>
          </a:p>
        </p:txBody>
      </p:sp>
      <p:sp>
        <p:nvSpPr>
          <p:cNvPr id="172043" name="Text Box 11"/>
          <p:cNvSpPr txBox="1">
            <a:spLocks noChangeArrowheads="1"/>
          </p:cNvSpPr>
          <p:nvPr/>
        </p:nvSpPr>
        <p:spPr bwMode="auto">
          <a:xfrm>
            <a:off x="5868988" y="3489325"/>
            <a:ext cx="18653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旋转法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75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75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75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75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172035" grpId="0" animBg="1" autoUpdateAnimBg="0"/>
      <p:bldP spid="172036" grpId="0"/>
      <p:bldP spid="172037" grpId="0" animBg="1"/>
      <p:bldP spid="172038" grpId="0" autoUpdateAnimBg="0"/>
      <p:bldP spid="172039" grpId="0"/>
      <p:bldP spid="172040" grpId="0"/>
      <p:bldP spid="172041" grpId="0" autoUpdateAnimBg="0"/>
      <p:bldP spid="172042" grpId="0" autoUpdateAnimBg="0"/>
      <p:bldP spid="1720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89655-B85E-43A4-9973-FD427B4B5808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73058" name="Text Box 2" descr="紫色网格"/>
          <p:cNvSpPr txBox="1">
            <a:spLocks noChangeArrowheads="1"/>
          </p:cNvSpPr>
          <p:nvPr/>
        </p:nvSpPr>
        <p:spPr bwMode="auto">
          <a:xfrm>
            <a:off x="295275" y="238125"/>
            <a:ext cx="49006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baseline="0">
                <a:latin typeface="黑体" pitchFamily="2" charset="-122"/>
                <a:ea typeface="黑体" pitchFamily="2" charset="-122"/>
              </a:rPr>
              <a:t>4.2  </a:t>
            </a: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投影变换的原则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1204913" y="5829300"/>
            <a:ext cx="414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如何求线段</a:t>
            </a:r>
            <a:r>
              <a:rPr lang="en-US" altLang="zh-CN" sz="2800" baseline="0">
                <a:solidFill>
                  <a:srgbClr val="000066"/>
                </a:solidFill>
                <a:ea typeface="黑体" pitchFamily="2" charset="-122"/>
              </a:rPr>
              <a:t>AB</a:t>
            </a: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的实长？</a:t>
            </a:r>
            <a:endParaRPr lang="zh-CN" altLang="en-US" sz="280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6586538" y="2022475"/>
            <a:ext cx="218598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800" i="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当</a:t>
            </a:r>
            <a:r>
              <a:rPr kumimoji="1" lang="en-US" altLang="zh-CN" sz="280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P</a:t>
            </a:r>
            <a:r>
              <a:rPr kumimoji="1" lang="en-US" altLang="zh-CN" sz="2800" i="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 </a:t>
            </a:r>
            <a:r>
              <a:rPr kumimoji="1" lang="en-US" altLang="zh-CN" sz="28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// </a:t>
            </a:r>
            <a:r>
              <a:rPr kumimoji="1" lang="en-US" altLang="zh-CN" sz="280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AB</a:t>
            </a:r>
            <a:r>
              <a:rPr kumimoji="1" lang="zh-CN" altLang="en-US" sz="2800" i="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，</a:t>
            </a:r>
          </a:p>
          <a:p>
            <a:pPr algn="l">
              <a:defRPr/>
            </a:pPr>
            <a:r>
              <a:rPr kumimoji="1" lang="zh-CN" altLang="en-US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　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a</a:t>
            </a:r>
            <a:r>
              <a:rPr kumimoji="1" lang="en-US" altLang="zh-CN" sz="2800" i="0" baseline="-250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b</a:t>
            </a:r>
            <a:r>
              <a:rPr kumimoji="1" lang="en-US" altLang="zh-CN" sz="2800" i="0" baseline="-250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</a:t>
            </a:r>
            <a:r>
              <a:rPr kumimoji="1" lang="en-US" altLang="zh-CN" sz="2800" i="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= </a:t>
            </a:r>
            <a:r>
              <a:rPr kumimoji="1" lang="en-US" altLang="zh-CN" sz="280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AB</a:t>
            </a:r>
          </a:p>
        </p:txBody>
      </p:sp>
      <p:grpSp>
        <p:nvGrpSpPr>
          <p:cNvPr id="14342" name="Group 5"/>
          <p:cNvGrpSpPr>
            <a:grpSpLocks/>
          </p:cNvGrpSpPr>
          <p:nvPr/>
        </p:nvGrpSpPr>
        <p:grpSpPr bwMode="auto">
          <a:xfrm>
            <a:off x="1135063" y="1333500"/>
            <a:ext cx="5353050" cy="4057650"/>
            <a:chOff x="818" y="744"/>
            <a:chExt cx="3372" cy="2556"/>
          </a:xfrm>
        </p:grpSpPr>
        <p:sp>
          <p:nvSpPr>
            <p:cNvPr id="14382" name="Freeform 6"/>
            <p:cNvSpPr>
              <a:spLocks/>
            </p:cNvSpPr>
            <p:nvPr/>
          </p:nvSpPr>
          <p:spPr bwMode="auto">
            <a:xfrm>
              <a:off x="818" y="744"/>
              <a:ext cx="902" cy="2554"/>
            </a:xfrm>
            <a:custGeom>
              <a:avLst/>
              <a:gdLst>
                <a:gd name="T0" fmla="*/ 0 w 902"/>
                <a:gd name="T1" fmla="*/ 908 h 2554"/>
                <a:gd name="T2" fmla="*/ 0 w 902"/>
                <a:gd name="T3" fmla="*/ 2554 h 2554"/>
                <a:gd name="T4" fmla="*/ 902 w 902"/>
                <a:gd name="T5" fmla="*/ 1640 h 2554"/>
                <a:gd name="T6" fmla="*/ 902 w 902"/>
                <a:gd name="T7" fmla="*/ 0 h 2554"/>
                <a:gd name="T8" fmla="*/ 0 w 902"/>
                <a:gd name="T9" fmla="*/ 908 h 25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2"/>
                <a:gd name="T16" fmla="*/ 0 h 2554"/>
                <a:gd name="T17" fmla="*/ 902 w 902"/>
                <a:gd name="T18" fmla="*/ 2554 h 25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2" h="2554">
                  <a:moveTo>
                    <a:pt x="0" y="908"/>
                  </a:moveTo>
                  <a:lnTo>
                    <a:pt x="0" y="2554"/>
                  </a:lnTo>
                  <a:lnTo>
                    <a:pt x="902" y="1640"/>
                  </a:lnTo>
                  <a:lnTo>
                    <a:pt x="902" y="0"/>
                  </a:lnTo>
                  <a:lnTo>
                    <a:pt x="0" y="908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38100" cmpd="sng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Freeform 7"/>
            <p:cNvSpPr>
              <a:spLocks/>
            </p:cNvSpPr>
            <p:nvPr/>
          </p:nvSpPr>
          <p:spPr bwMode="auto">
            <a:xfrm>
              <a:off x="846" y="2382"/>
              <a:ext cx="3344" cy="918"/>
            </a:xfrm>
            <a:custGeom>
              <a:avLst/>
              <a:gdLst>
                <a:gd name="T0" fmla="*/ 0 w 3344"/>
                <a:gd name="T1" fmla="*/ 918 h 918"/>
                <a:gd name="T2" fmla="*/ 2445 w 3344"/>
                <a:gd name="T3" fmla="*/ 906 h 918"/>
                <a:gd name="T4" fmla="*/ 3344 w 3344"/>
                <a:gd name="T5" fmla="*/ 9 h 918"/>
                <a:gd name="T6" fmla="*/ 880 w 3344"/>
                <a:gd name="T7" fmla="*/ 0 h 918"/>
                <a:gd name="T8" fmla="*/ 0 w 3344"/>
                <a:gd name="T9" fmla="*/ 918 h 9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44"/>
                <a:gd name="T16" fmla="*/ 0 h 918"/>
                <a:gd name="T17" fmla="*/ 3344 w 3344"/>
                <a:gd name="T18" fmla="*/ 918 h 9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44" h="918">
                  <a:moveTo>
                    <a:pt x="0" y="918"/>
                  </a:moveTo>
                  <a:lnTo>
                    <a:pt x="2445" y="906"/>
                  </a:lnTo>
                  <a:lnTo>
                    <a:pt x="3344" y="9"/>
                  </a:lnTo>
                  <a:lnTo>
                    <a:pt x="880" y="0"/>
                  </a:lnTo>
                  <a:lnTo>
                    <a:pt x="0" y="918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38100" cmpd="sng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1117600" y="263683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V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4749800" y="490696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333399"/>
                </a:solidFill>
              </a:rPr>
              <a:t>H</a:t>
            </a:r>
          </a:p>
        </p:txBody>
      </p:sp>
      <p:sp>
        <p:nvSpPr>
          <p:cNvPr id="14345" name="Text Box 10"/>
          <p:cNvSpPr txBox="1">
            <a:spLocks noChangeArrowheads="1"/>
          </p:cNvSpPr>
          <p:nvPr/>
        </p:nvSpPr>
        <p:spPr bwMode="auto">
          <a:xfrm>
            <a:off x="731838" y="522763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X</a:t>
            </a:r>
          </a:p>
        </p:txBody>
      </p:sp>
      <p:sp>
        <p:nvSpPr>
          <p:cNvPr id="173067" name="Freeform 11"/>
          <p:cNvSpPr>
            <a:spLocks/>
          </p:cNvSpPr>
          <p:nvPr/>
        </p:nvSpPr>
        <p:spPr bwMode="auto">
          <a:xfrm>
            <a:off x="3625850" y="1533525"/>
            <a:ext cx="1752600" cy="3465513"/>
          </a:xfrm>
          <a:custGeom>
            <a:avLst/>
            <a:gdLst>
              <a:gd name="T0" fmla="*/ 0 w 1104"/>
              <a:gd name="T1" fmla="*/ 0 h 2183"/>
              <a:gd name="T2" fmla="*/ 0 w 1104"/>
              <a:gd name="T3" fmla="*/ 2147483647 h 2183"/>
              <a:gd name="T4" fmla="*/ 2147483647 w 1104"/>
              <a:gd name="T5" fmla="*/ 2147483647 h 2183"/>
              <a:gd name="T6" fmla="*/ 2147483647 w 1104"/>
              <a:gd name="T7" fmla="*/ 1572577727 h 2183"/>
              <a:gd name="T8" fmla="*/ 0 w 1104"/>
              <a:gd name="T9" fmla="*/ 0 h 2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2183"/>
              <a:gd name="T17" fmla="*/ 1104 w 1104"/>
              <a:gd name="T18" fmla="*/ 2183 h 2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2183">
                <a:moveTo>
                  <a:pt x="0" y="0"/>
                </a:moveTo>
                <a:lnTo>
                  <a:pt x="0" y="1546"/>
                </a:lnTo>
                <a:lnTo>
                  <a:pt x="1104" y="2183"/>
                </a:lnTo>
                <a:lnTo>
                  <a:pt x="1104" y="624"/>
                </a:lnTo>
                <a:lnTo>
                  <a:pt x="0" y="0"/>
                </a:lnTo>
                <a:close/>
              </a:path>
            </a:pathLst>
          </a:custGeom>
          <a:solidFill>
            <a:srgbClr val="FFFF66">
              <a:alpha val="50195"/>
            </a:srgbClr>
          </a:solidFill>
          <a:ln w="28575" cmpd="sng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4870450" y="2343150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73069" name="Line 13"/>
          <p:cNvSpPr>
            <a:spLocks noChangeShapeType="1"/>
          </p:cNvSpPr>
          <p:nvPr/>
        </p:nvSpPr>
        <p:spPr bwMode="auto">
          <a:xfrm flipV="1">
            <a:off x="4546600" y="3570288"/>
            <a:ext cx="427038" cy="2301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0" name="Line 14"/>
          <p:cNvSpPr>
            <a:spLocks noChangeShapeType="1"/>
          </p:cNvSpPr>
          <p:nvPr/>
        </p:nvSpPr>
        <p:spPr bwMode="auto">
          <a:xfrm flipV="1">
            <a:off x="4951413" y="3570288"/>
            <a:ext cx="6350" cy="1176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1" name="Line 15"/>
          <p:cNvSpPr>
            <a:spLocks noChangeShapeType="1"/>
          </p:cNvSpPr>
          <p:nvPr/>
        </p:nvSpPr>
        <p:spPr bwMode="auto">
          <a:xfrm flipH="1" flipV="1">
            <a:off x="3662363" y="2092325"/>
            <a:ext cx="1301750" cy="1446213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2" name="Line 16"/>
          <p:cNvSpPr>
            <a:spLocks noChangeShapeType="1"/>
          </p:cNvSpPr>
          <p:nvPr/>
        </p:nvSpPr>
        <p:spPr bwMode="auto">
          <a:xfrm flipV="1">
            <a:off x="3257550" y="2159000"/>
            <a:ext cx="417513" cy="22383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3" name="Line 17"/>
          <p:cNvSpPr>
            <a:spLocks noChangeShapeType="1"/>
          </p:cNvSpPr>
          <p:nvPr/>
        </p:nvSpPr>
        <p:spPr bwMode="auto">
          <a:xfrm flipV="1">
            <a:off x="4506913" y="4733925"/>
            <a:ext cx="442912" cy="2381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4" name="Line 18"/>
          <p:cNvSpPr>
            <a:spLocks noChangeShapeType="1"/>
          </p:cNvSpPr>
          <p:nvPr/>
        </p:nvSpPr>
        <p:spPr bwMode="auto">
          <a:xfrm flipV="1">
            <a:off x="3260725" y="4008438"/>
            <a:ext cx="430213" cy="2301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5" name="Line 19"/>
          <p:cNvSpPr>
            <a:spLocks noChangeShapeType="1"/>
          </p:cNvSpPr>
          <p:nvPr/>
        </p:nvSpPr>
        <p:spPr bwMode="auto">
          <a:xfrm flipV="1">
            <a:off x="3675063" y="2157413"/>
            <a:ext cx="6350" cy="1855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6" name="Text Box 20"/>
          <p:cNvSpPr txBox="1">
            <a:spLocks noChangeArrowheads="1"/>
          </p:cNvSpPr>
          <p:nvPr/>
        </p:nvSpPr>
        <p:spPr bwMode="auto">
          <a:xfrm>
            <a:off x="5321300" y="4919663"/>
            <a:ext cx="568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3077" name="Text Box 21"/>
          <p:cNvSpPr txBox="1">
            <a:spLocks noChangeArrowheads="1"/>
          </p:cNvSpPr>
          <p:nvPr/>
        </p:nvSpPr>
        <p:spPr bwMode="auto">
          <a:xfrm>
            <a:off x="3721100" y="1814513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3078" name="Text Box 22"/>
          <p:cNvSpPr txBox="1">
            <a:spLocks noChangeArrowheads="1"/>
          </p:cNvSpPr>
          <p:nvPr/>
        </p:nvSpPr>
        <p:spPr bwMode="auto">
          <a:xfrm>
            <a:off x="4854575" y="3048000"/>
            <a:ext cx="509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3079" name="Oval 23"/>
          <p:cNvSpPr>
            <a:spLocks noChangeArrowheads="1"/>
          </p:cNvSpPr>
          <p:nvPr/>
        </p:nvSpPr>
        <p:spPr bwMode="auto">
          <a:xfrm>
            <a:off x="3579813" y="2055813"/>
            <a:ext cx="192087" cy="1920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3080" name="Oval 24"/>
          <p:cNvSpPr>
            <a:spLocks noChangeArrowheads="1"/>
          </p:cNvSpPr>
          <p:nvPr/>
        </p:nvSpPr>
        <p:spPr bwMode="auto">
          <a:xfrm>
            <a:off x="4865688" y="3494088"/>
            <a:ext cx="192087" cy="1920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grpSp>
        <p:nvGrpSpPr>
          <p:cNvPr id="14360" name="Group 25"/>
          <p:cNvGrpSpPr>
            <a:grpSpLocks/>
          </p:cNvGrpSpPr>
          <p:nvPr/>
        </p:nvGrpSpPr>
        <p:grpSpPr bwMode="auto">
          <a:xfrm>
            <a:off x="1139825" y="1925638"/>
            <a:ext cx="3662363" cy="3465512"/>
            <a:chOff x="821" y="1117"/>
            <a:chExt cx="2307" cy="2183"/>
          </a:xfrm>
        </p:grpSpPr>
        <p:sp>
          <p:nvSpPr>
            <p:cNvPr id="14362" name="Line 26"/>
            <p:cNvSpPr>
              <a:spLocks noChangeShapeType="1"/>
            </p:cNvSpPr>
            <p:nvPr/>
          </p:nvSpPr>
          <p:spPr bwMode="auto">
            <a:xfrm flipH="1">
              <a:off x="1062" y="2309"/>
              <a:ext cx="1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63" name="Group 27"/>
            <p:cNvGrpSpPr>
              <a:grpSpLocks/>
            </p:cNvGrpSpPr>
            <p:nvPr/>
          </p:nvGrpSpPr>
          <p:grpSpPr bwMode="auto">
            <a:xfrm>
              <a:off x="821" y="1117"/>
              <a:ext cx="2307" cy="2183"/>
              <a:chOff x="821" y="1117"/>
              <a:chExt cx="2307" cy="2183"/>
            </a:xfrm>
          </p:grpSpPr>
          <p:sp>
            <p:nvSpPr>
              <p:cNvPr id="14364" name="Text Box 28"/>
              <p:cNvSpPr txBox="1">
                <a:spLocks noChangeArrowheads="1"/>
              </p:cNvSpPr>
              <p:nvPr/>
            </p:nvSpPr>
            <p:spPr bwMode="auto">
              <a:xfrm>
                <a:off x="1971" y="1117"/>
                <a:ext cx="27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</a:t>
                </a:r>
              </a:p>
            </p:txBody>
          </p:sp>
          <p:sp>
            <p:nvSpPr>
              <p:cNvPr id="14365" name="Text Box 29"/>
              <p:cNvSpPr txBox="1">
                <a:spLocks noChangeArrowheads="1"/>
              </p:cNvSpPr>
              <p:nvPr/>
            </p:nvSpPr>
            <p:spPr bwMode="auto">
              <a:xfrm>
                <a:off x="1973" y="246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</a:t>
                </a:r>
              </a:p>
            </p:txBody>
          </p:sp>
          <p:sp>
            <p:nvSpPr>
              <p:cNvPr id="14366" name="Text Box 30"/>
              <p:cNvSpPr txBox="1">
                <a:spLocks noChangeArrowheads="1"/>
              </p:cNvSpPr>
              <p:nvPr/>
            </p:nvSpPr>
            <p:spPr bwMode="auto">
              <a:xfrm>
                <a:off x="2807" y="2973"/>
                <a:ext cx="25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</a:t>
                </a:r>
              </a:p>
            </p:txBody>
          </p:sp>
          <p:sp>
            <p:nvSpPr>
              <p:cNvPr id="14367" name="Text Box 31"/>
              <p:cNvSpPr txBox="1">
                <a:spLocks noChangeArrowheads="1"/>
              </p:cNvSpPr>
              <p:nvPr/>
            </p:nvSpPr>
            <p:spPr bwMode="auto">
              <a:xfrm>
                <a:off x="1344" y="1150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a'</a:t>
                </a:r>
              </a:p>
            </p:txBody>
          </p:sp>
          <p:sp>
            <p:nvSpPr>
              <p:cNvPr id="14368" name="Text Box 32"/>
              <p:cNvSpPr txBox="1">
                <a:spLocks noChangeArrowheads="1"/>
              </p:cNvSpPr>
              <p:nvPr/>
            </p:nvSpPr>
            <p:spPr bwMode="auto">
              <a:xfrm>
                <a:off x="821" y="2118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b'</a:t>
                </a:r>
              </a:p>
            </p:txBody>
          </p:sp>
          <p:sp>
            <p:nvSpPr>
              <p:cNvPr id="14369" name="Text Box 33"/>
              <p:cNvSpPr txBox="1">
                <a:spLocks noChangeArrowheads="1"/>
              </p:cNvSpPr>
              <p:nvPr/>
            </p:nvSpPr>
            <p:spPr bwMode="auto">
              <a:xfrm>
                <a:off x="2863" y="1988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</a:t>
                </a:r>
              </a:p>
            </p:txBody>
          </p:sp>
          <p:grpSp>
            <p:nvGrpSpPr>
              <p:cNvPr id="14370" name="Group 34"/>
              <p:cNvGrpSpPr>
                <a:grpSpLocks/>
              </p:cNvGrpSpPr>
              <p:nvPr/>
            </p:nvGrpSpPr>
            <p:grpSpPr bwMode="auto">
              <a:xfrm>
                <a:off x="1052" y="1391"/>
                <a:ext cx="1912" cy="1644"/>
                <a:chOff x="1052" y="1391"/>
                <a:chExt cx="1912" cy="1644"/>
              </a:xfrm>
            </p:grpSpPr>
            <p:grpSp>
              <p:nvGrpSpPr>
                <p:cNvPr id="14371" name="Group 35"/>
                <p:cNvGrpSpPr>
                  <a:grpSpLocks/>
                </p:cNvGrpSpPr>
                <p:nvPr/>
              </p:nvGrpSpPr>
              <p:grpSpPr bwMode="auto">
                <a:xfrm>
                  <a:off x="1052" y="1391"/>
                  <a:ext cx="1912" cy="1644"/>
                  <a:chOff x="1052" y="1391"/>
                  <a:chExt cx="1912" cy="1644"/>
                </a:xfrm>
              </p:grpSpPr>
              <p:sp>
                <p:nvSpPr>
                  <p:cNvPr id="14373" name="Line 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2" y="1401"/>
                    <a:ext cx="469" cy="916"/>
                  </a:xfrm>
                  <a:prstGeom prst="line">
                    <a:avLst/>
                  </a:prstGeom>
                  <a:noFill/>
                  <a:ln w="5715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4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51" y="1396"/>
                    <a:ext cx="0" cy="1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5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61" y="3035"/>
                    <a:ext cx="189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6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5" y="1391"/>
                    <a:ext cx="0" cy="117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7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160" y="2556"/>
                    <a:ext cx="784" cy="467"/>
                  </a:xfrm>
                  <a:prstGeom prst="line">
                    <a:avLst/>
                  </a:prstGeom>
                  <a:noFill/>
                  <a:ln w="5715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8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17" y="2571"/>
                    <a:ext cx="6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9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07" y="1399"/>
                    <a:ext cx="6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0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158" y="1401"/>
                    <a:ext cx="806" cy="907"/>
                  </a:xfrm>
                  <a:prstGeom prst="line">
                    <a:avLst/>
                  </a:prstGeom>
                  <a:noFill/>
                  <a:ln w="5715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1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64" y="2312"/>
                    <a:ext cx="0" cy="7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372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944" y="2296"/>
                  <a:ext cx="0" cy="7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73102" name="Text Box 46"/>
          <p:cNvSpPr txBox="1">
            <a:spLocks noChangeArrowheads="1"/>
          </p:cNvSpPr>
          <p:nvPr/>
        </p:nvSpPr>
        <p:spPr bwMode="auto">
          <a:xfrm>
            <a:off x="6926263" y="3603625"/>
            <a:ext cx="1889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280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P</a:t>
            </a:r>
            <a:r>
              <a:rPr kumimoji="1" lang="en-US" altLang="zh-CN" sz="2800" i="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 </a:t>
            </a:r>
            <a:r>
              <a:rPr kumimoji="1" lang="en-US" altLang="zh-CN" sz="28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 </a:t>
            </a:r>
            <a:r>
              <a:rPr kumimoji="1" lang="en-US" altLang="zh-CN" sz="280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7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"/>
                                        <p:tgtEl>
                                          <p:spTgt spid="1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/>
      <p:bldP spid="173059" grpId="0" autoUpdateAnimBg="0"/>
      <p:bldP spid="173060" grpId="0" autoUpdateAnimBg="0"/>
      <p:bldP spid="173067" grpId="0" animBg="1"/>
      <p:bldP spid="173068" grpId="0" autoUpdateAnimBg="0"/>
      <p:bldP spid="173069" grpId="0" animBg="1"/>
      <p:bldP spid="173070" grpId="0" animBg="1"/>
      <p:bldP spid="173071" grpId="0" animBg="1"/>
      <p:bldP spid="173072" grpId="0" animBg="1"/>
      <p:bldP spid="173073" grpId="0" animBg="1"/>
      <p:bldP spid="173074" grpId="0" animBg="1"/>
      <p:bldP spid="173075" grpId="0" animBg="1"/>
      <p:bldP spid="173076" grpId="0" autoUpdateAnimBg="0"/>
      <p:bldP spid="173077" grpId="0" build="p" autoUpdateAnimBg="0" advAuto="0"/>
      <p:bldP spid="173078" grpId="0" build="p" autoUpdateAnimBg="0" advAuto="0"/>
      <p:bldP spid="173079" grpId="0" animBg="1"/>
      <p:bldP spid="173080" grpId="0" animBg="1"/>
      <p:bldP spid="17310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B04768-83AB-4416-B2CD-6008B6D2D80F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74082" name="Text Box 2" descr="紫色网格"/>
          <p:cNvSpPr txBox="1">
            <a:spLocks noChangeArrowheads="1"/>
          </p:cNvSpPr>
          <p:nvPr/>
        </p:nvSpPr>
        <p:spPr bwMode="auto">
          <a:xfrm>
            <a:off x="4084638" y="908050"/>
            <a:ext cx="4913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选择新投影面的原则：</a:t>
            </a: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4738688" y="2005013"/>
            <a:ext cx="384651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１　新投影面相对空间几何元素处于</a:t>
            </a:r>
            <a:r>
              <a:rPr lang="zh-CN" altLang="en-US" sz="2800" i="0" baseline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有利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于解题的位置。</a:t>
            </a:r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4768850" y="3662363"/>
            <a:ext cx="3835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ea typeface="黑体" pitchFamily="2" charset="-122"/>
              </a:rPr>
              <a:t>２　新投影面必须</a:t>
            </a:r>
            <a:r>
              <a:rPr lang="zh-CN" altLang="en-US" sz="2800" i="0" baseline="0">
                <a:solidFill>
                  <a:srgbClr val="FF0000"/>
                </a:solidFill>
                <a:ea typeface="黑体" pitchFamily="2" charset="-122"/>
              </a:rPr>
              <a:t>垂直</a:t>
            </a:r>
            <a:r>
              <a:rPr lang="zh-CN" altLang="en-US" sz="2800" i="0" baseline="0">
                <a:ea typeface="黑体" pitchFamily="2" charset="-122"/>
              </a:rPr>
              <a:t>原投影面体系中的某一投影面，以构成新的相互垂直的投影面体系。</a:t>
            </a:r>
          </a:p>
        </p:txBody>
      </p:sp>
      <p:grpSp>
        <p:nvGrpSpPr>
          <p:cNvPr id="15366" name="Group 5"/>
          <p:cNvGrpSpPr>
            <a:grpSpLocks/>
          </p:cNvGrpSpPr>
          <p:nvPr/>
        </p:nvGrpSpPr>
        <p:grpSpPr bwMode="auto">
          <a:xfrm>
            <a:off x="144463" y="1573213"/>
            <a:ext cx="4330700" cy="3656012"/>
            <a:chOff x="220" y="943"/>
            <a:chExt cx="2653" cy="2160"/>
          </a:xfrm>
        </p:grpSpPr>
        <p:grpSp>
          <p:nvGrpSpPr>
            <p:cNvPr id="15367" name="Group 6"/>
            <p:cNvGrpSpPr>
              <a:grpSpLocks/>
            </p:cNvGrpSpPr>
            <p:nvPr/>
          </p:nvGrpSpPr>
          <p:grpSpPr bwMode="auto">
            <a:xfrm>
              <a:off x="367" y="943"/>
              <a:ext cx="2506" cy="1904"/>
              <a:chOff x="367" y="943"/>
              <a:chExt cx="2506" cy="1904"/>
            </a:xfrm>
          </p:grpSpPr>
          <p:sp>
            <p:nvSpPr>
              <p:cNvPr id="15403" name="Freeform 7"/>
              <p:cNvSpPr>
                <a:spLocks/>
              </p:cNvSpPr>
              <p:nvPr/>
            </p:nvSpPr>
            <p:spPr bwMode="auto">
              <a:xfrm>
                <a:off x="367" y="2183"/>
                <a:ext cx="2506" cy="664"/>
              </a:xfrm>
              <a:custGeom>
                <a:avLst/>
                <a:gdLst>
                  <a:gd name="T0" fmla="*/ 0 w 3369"/>
                  <a:gd name="T1" fmla="*/ 494 h 893"/>
                  <a:gd name="T2" fmla="*/ 1370 w 3369"/>
                  <a:gd name="T3" fmla="*/ 494 h 893"/>
                  <a:gd name="T4" fmla="*/ 1864 w 3369"/>
                  <a:gd name="T5" fmla="*/ 0 h 893"/>
                  <a:gd name="T6" fmla="*/ 494 w 3369"/>
                  <a:gd name="T7" fmla="*/ 0 h 893"/>
                  <a:gd name="T8" fmla="*/ 0 w 3369"/>
                  <a:gd name="T9" fmla="*/ 494 h 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9"/>
                  <a:gd name="T16" fmla="*/ 0 h 893"/>
                  <a:gd name="T17" fmla="*/ 3369 w 3369"/>
                  <a:gd name="T18" fmla="*/ 893 h 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9" h="893">
                    <a:moveTo>
                      <a:pt x="0" y="893"/>
                    </a:moveTo>
                    <a:lnTo>
                      <a:pt x="2476" y="893"/>
                    </a:lnTo>
                    <a:lnTo>
                      <a:pt x="3369" y="0"/>
                    </a:lnTo>
                    <a:lnTo>
                      <a:pt x="892" y="0"/>
                    </a:lnTo>
                    <a:lnTo>
                      <a:pt x="0" y="893"/>
                    </a:lnTo>
                    <a:close/>
                  </a:path>
                </a:pathLst>
              </a:custGeom>
              <a:solidFill>
                <a:srgbClr val="3399FF">
                  <a:alpha val="50195"/>
                </a:srgbClr>
              </a:solidFill>
              <a:ln w="28575" cmpd="sng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4" name="Freeform 8"/>
              <p:cNvSpPr>
                <a:spLocks/>
              </p:cNvSpPr>
              <p:nvPr/>
            </p:nvSpPr>
            <p:spPr bwMode="auto">
              <a:xfrm>
                <a:off x="372" y="943"/>
                <a:ext cx="667" cy="1895"/>
              </a:xfrm>
              <a:custGeom>
                <a:avLst/>
                <a:gdLst>
                  <a:gd name="T0" fmla="*/ 2 w 667"/>
                  <a:gd name="T1" fmla="*/ 664 h 1895"/>
                  <a:gd name="T2" fmla="*/ 0 w 667"/>
                  <a:gd name="T3" fmla="*/ 1895 h 1895"/>
                  <a:gd name="T4" fmla="*/ 667 w 667"/>
                  <a:gd name="T5" fmla="*/ 1221 h 1895"/>
                  <a:gd name="T6" fmla="*/ 667 w 667"/>
                  <a:gd name="T7" fmla="*/ 0 h 1895"/>
                  <a:gd name="T8" fmla="*/ 2 w 667"/>
                  <a:gd name="T9" fmla="*/ 664 h 18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7"/>
                  <a:gd name="T16" fmla="*/ 0 h 1895"/>
                  <a:gd name="T17" fmla="*/ 667 w 667"/>
                  <a:gd name="T18" fmla="*/ 1895 h 18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7" h="1895">
                    <a:moveTo>
                      <a:pt x="2" y="664"/>
                    </a:moveTo>
                    <a:lnTo>
                      <a:pt x="0" y="1895"/>
                    </a:lnTo>
                    <a:lnTo>
                      <a:pt x="667" y="1221"/>
                    </a:lnTo>
                    <a:lnTo>
                      <a:pt x="667" y="0"/>
                    </a:lnTo>
                    <a:lnTo>
                      <a:pt x="2" y="664"/>
                    </a:lnTo>
                    <a:close/>
                  </a:path>
                </a:pathLst>
              </a:custGeom>
              <a:solidFill>
                <a:srgbClr val="00CC99">
                  <a:alpha val="50195"/>
                </a:srgbClr>
              </a:solidFill>
              <a:ln w="28575" cmpd="sng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68" name="Text Box 9"/>
            <p:cNvSpPr txBox="1">
              <a:spLocks noChangeArrowheads="1"/>
            </p:cNvSpPr>
            <p:nvPr/>
          </p:nvSpPr>
          <p:spPr bwMode="auto">
            <a:xfrm>
              <a:off x="320" y="1538"/>
              <a:ext cx="27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6666"/>
                  </a:solidFill>
                </a:rPr>
                <a:t>V</a:t>
              </a:r>
            </a:p>
          </p:txBody>
        </p:sp>
        <p:sp>
          <p:nvSpPr>
            <p:cNvPr id="15369" name="Text Box 10"/>
            <p:cNvSpPr txBox="1">
              <a:spLocks noChangeArrowheads="1"/>
            </p:cNvSpPr>
            <p:nvPr/>
          </p:nvSpPr>
          <p:spPr bwMode="auto">
            <a:xfrm>
              <a:off x="2025" y="2564"/>
              <a:ext cx="28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333399"/>
                  </a:solidFill>
                </a:rPr>
                <a:t>H</a:t>
              </a:r>
            </a:p>
          </p:txBody>
        </p:sp>
        <p:sp>
          <p:nvSpPr>
            <p:cNvPr id="15370" name="Text Box 11"/>
            <p:cNvSpPr txBox="1">
              <a:spLocks noChangeArrowheads="1"/>
            </p:cNvSpPr>
            <p:nvPr/>
          </p:nvSpPr>
          <p:spPr bwMode="auto">
            <a:xfrm>
              <a:off x="220" y="2797"/>
              <a:ext cx="27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grpSp>
          <p:nvGrpSpPr>
            <p:cNvPr id="15371" name="Group 12"/>
            <p:cNvGrpSpPr>
              <a:grpSpLocks/>
            </p:cNvGrpSpPr>
            <p:nvPr/>
          </p:nvGrpSpPr>
          <p:grpSpPr bwMode="auto">
            <a:xfrm>
              <a:off x="1520" y="1046"/>
              <a:ext cx="876" cy="1624"/>
              <a:chOff x="1520" y="1046"/>
              <a:chExt cx="876" cy="1624"/>
            </a:xfrm>
          </p:grpSpPr>
          <p:sp>
            <p:nvSpPr>
              <p:cNvPr id="15401" name="Freeform 13"/>
              <p:cNvSpPr>
                <a:spLocks/>
              </p:cNvSpPr>
              <p:nvPr/>
            </p:nvSpPr>
            <p:spPr bwMode="auto">
              <a:xfrm>
                <a:off x="1520" y="1046"/>
                <a:ext cx="821" cy="1624"/>
              </a:xfrm>
              <a:custGeom>
                <a:avLst/>
                <a:gdLst>
                  <a:gd name="T0" fmla="*/ 0 w 1104"/>
                  <a:gd name="T1" fmla="*/ 0 h 2183"/>
                  <a:gd name="T2" fmla="*/ 0 w 1104"/>
                  <a:gd name="T3" fmla="*/ 856 h 2183"/>
                  <a:gd name="T4" fmla="*/ 611 w 1104"/>
                  <a:gd name="T5" fmla="*/ 1208 h 2183"/>
                  <a:gd name="T6" fmla="*/ 611 w 1104"/>
                  <a:gd name="T7" fmla="*/ 345 h 2183"/>
                  <a:gd name="T8" fmla="*/ 0 w 1104"/>
                  <a:gd name="T9" fmla="*/ 0 h 21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4"/>
                  <a:gd name="T16" fmla="*/ 0 h 2183"/>
                  <a:gd name="T17" fmla="*/ 1104 w 1104"/>
                  <a:gd name="T18" fmla="*/ 2183 h 21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4" h="2183">
                    <a:moveTo>
                      <a:pt x="0" y="0"/>
                    </a:moveTo>
                    <a:lnTo>
                      <a:pt x="0" y="1546"/>
                    </a:lnTo>
                    <a:lnTo>
                      <a:pt x="1104" y="2183"/>
                    </a:lnTo>
                    <a:lnTo>
                      <a:pt x="1104" y="6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66">
                  <a:alpha val="50195"/>
                </a:srgbClr>
              </a:solidFill>
              <a:ln w="28575" cmpd="sng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2" name="Rectangle 14"/>
              <p:cNvSpPr>
                <a:spLocks noChangeArrowheads="1"/>
              </p:cNvSpPr>
              <p:nvPr/>
            </p:nvSpPr>
            <p:spPr bwMode="auto">
              <a:xfrm>
                <a:off x="2072" y="1403"/>
                <a:ext cx="324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>
                    <a:solidFill>
                      <a:srgbClr val="A50021"/>
                    </a:solidFill>
                  </a:rPr>
                  <a:t>P</a:t>
                </a:r>
                <a:r>
                  <a:rPr lang="en-US" altLang="zh-CN" sz="2000" i="0" baseline="0">
                    <a:solidFill>
                      <a:srgbClr val="A50021"/>
                    </a:solidFill>
                  </a:rPr>
                  <a:t>1</a:t>
                </a:r>
              </a:p>
            </p:txBody>
          </p:sp>
        </p:grpSp>
        <p:sp>
          <p:nvSpPr>
            <p:cNvPr id="15372" name="Line 15"/>
            <p:cNvSpPr>
              <a:spLocks noChangeShapeType="1"/>
            </p:cNvSpPr>
            <p:nvPr/>
          </p:nvSpPr>
          <p:spPr bwMode="auto">
            <a:xfrm flipH="1">
              <a:off x="544" y="1450"/>
              <a:ext cx="340" cy="67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Line 16"/>
            <p:cNvSpPr>
              <a:spLocks noChangeShapeType="1"/>
            </p:cNvSpPr>
            <p:nvPr/>
          </p:nvSpPr>
          <p:spPr bwMode="auto">
            <a:xfrm flipV="1">
              <a:off x="1353" y="1446"/>
              <a:ext cx="0" cy="8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Line 17"/>
            <p:cNvSpPr>
              <a:spLocks noChangeShapeType="1"/>
            </p:cNvSpPr>
            <p:nvPr/>
          </p:nvSpPr>
          <p:spPr bwMode="auto">
            <a:xfrm flipH="1">
              <a:off x="531" y="2125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Line 18"/>
            <p:cNvSpPr>
              <a:spLocks noChangeShapeType="1"/>
            </p:cNvSpPr>
            <p:nvPr/>
          </p:nvSpPr>
          <p:spPr bwMode="auto">
            <a:xfrm flipH="1">
              <a:off x="542" y="2665"/>
              <a:ext cx="1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6" name="Line 19"/>
            <p:cNvSpPr>
              <a:spLocks noChangeShapeType="1"/>
            </p:cNvSpPr>
            <p:nvPr/>
          </p:nvSpPr>
          <p:spPr bwMode="auto">
            <a:xfrm flipV="1">
              <a:off x="887" y="1442"/>
              <a:ext cx="0" cy="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20"/>
            <p:cNvSpPr>
              <a:spLocks noChangeShapeType="1"/>
            </p:cNvSpPr>
            <p:nvPr/>
          </p:nvSpPr>
          <p:spPr bwMode="auto">
            <a:xfrm flipV="1">
              <a:off x="541" y="2125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21"/>
            <p:cNvSpPr>
              <a:spLocks noChangeShapeType="1"/>
            </p:cNvSpPr>
            <p:nvPr/>
          </p:nvSpPr>
          <p:spPr bwMode="auto">
            <a:xfrm>
              <a:off x="1345" y="2309"/>
              <a:ext cx="616" cy="35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Line 22"/>
            <p:cNvSpPr>
              <a:spLocks noChangeShapeType="1"/>
            </p:cNvSpPr>
            <p:nvPr/>
          </p:nvSpPr>
          <p:spPr bwMode="auto">
            <a:xfrm flipH="1">
              <a:off x="881" y="2320"/>
              <a:ext cx="4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Line 23"/>
            <p:cNvSpPr>
              <a:spLocks noChangeShapeType="1"/>
            </p:cNvSpPr>
            <p:nvPr/>
          </p:nvSpPr>
          <p:spPr bwMode="auto">
            <a:xfrm flipH="1">
              <a:off x="874" y="1448"/>
              <a:ext cx="4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Text Box 24"/>
            <p:cNvSpPr txBox="1">
              <a:spLocks noChangeArrowheads="1"/>
            </p:cNvSpPr>
            <p:nvPr/>
          </p:nvSpPr>
          <p:spPr bwMode="auto">
            <a:xfrm>
              <a:off x="1190" y="1160"/>
              <a:ext cx="27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5382" name="Text Box 25"/>
            <p:cNvSpPr txBox="1">
              <a:spLocks noChangeArrowheads="1"/>
            </p:cNvSpPr>
            <p:nvPr/>
          </p:nvSpPr>
          <p:spPr bwMode="auto">
            <a:xfrm>
              <a:off x="1198" y="2226"/>
              <a:ext cx="22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5383" name="Text Box 26"/>
            <p:cNvSpPr txBox="1">
              <a:spLocks noChangeArrowheads="1"/>
            </p:cNvSpPr>
            <p:nvPr/>
          </p:nvSpPr>
          <p:spPr bwMode="auto">
            <a:xfrm>
              <a:off x="1811" y="2600"/>
              <a:ext cx="19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15384" name="Text Box 27"/>
            <p:cNvSpPr txBox="1">
              <a:spLocks noChangeArrowheads="1"/>
            </p:cNvSpPr>
            <p:nvPr/>
          </p:nvSpPr>
          <p:spPr bwMode="auto">
            <a:xfrm>
              <a:off x="698" y="1197"/>
              <a:ext cx="28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15385" name="Text Box 28"/>
            <p:cNvSpPr txBox="1">
              <a:spLocks noChangeArrowheads="1"/>
            </p:cNvSpPr>
            <p:nvPr/>
          </p:nvSpPr>
          <p:spPr bwMode="auto">
            <a:xfrm>
              <a:off x="316" y="1904"/>
              <a:ext cx="295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15386" name="Line 29"/>
            <p:cNvSpPr>
              <a:spLocks noChangeShapeType="1"/>
            </p:cNvSpPr>
            <p:nvPr/>
          </p:nvSpPr>
          <p:spPr bwMode="auto">
            <a:xfrm flipV="1">
              <a:off x="1955" y="2118"/>
              <a:ext cx="0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Text Box 30"/>
            <p:cNvSpPr txBox="1">
              <a:spLocks noChangeArrowheads="1"/>
            </p:cNvSpPr>
            <p:nvPr/>
          </p:nvSpPr>
          <p:spPr bwMode="auto">
            <a:xfrm>
              <a:off x="1900" y="2054"/>
              <a:ext cx="25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15388" name="Line 31"/>
            <p:cNvSpPr>
              <a:spLocks noChangeShapeType="1"/>
            </p:cNvSpPr>
            <p:nvPr/>
          </p:nvSpPr>
          <p:spPr bwMode="auto">
            <a:xfrm flipH="1" flipV="1">
              <a:off x="1358" y="1449"/>
              <a:ext cx="600" cy="675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Line 32"/>
            <p:cNvSpPr>
              <a:spLocks noChangeShapeType="1"/>
            </p:cNvSpPr>
            <p:nvPr/>
          </p:nvSpPr>
          <p:spPr bwMode="auto">
            <a:xfrm flipV="1">
              <a:off x="1960" y="2016"/>
              <a:ext cx="187" cy="101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0" name="Line 33"/>
            <p:cNvSpPr>
              <a:spLocks noChangeShapeType="1"/>
            </p:cNvSpPr>
            <p:nvPr/>
          </p:nvSpPr>
          <p:spPr bwMode="auto">
            <a:xfrm flipV="1">
              <a:off x="2150" y="2009"/>
              <a:ext cx="0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Line 34"/>
            <p:cNvSpPr>
              <a:spLocks noChangeShapeType="1"/>
            </p:cNvSpPr>
            <p:nvPr/>
          </p:nvSpPr>
          <p:spPr bwMode="auto">
            <a:xfrm flipH="1" flipV="1">
              <a:off x="1539" y="1354"/>
              <a:ext cx="617" cy="671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2" name="Line 35"/>
            <p:cNvSpPr>
              <a:spLocks noChangeShapeType="1"/>
            </p:cNvSpPr>
            <p:nvPr/>
          </p:nvSpPr>
          <p:spPr bwMode="auto">
            <a:xfrm flipV="1">
              <a:off x="1356" y="1352"/>
              <a:ext cx="187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3" name="Line 36"/>
            <p:cNvSpPr>
              <a:spLocks noChangeShapeType="1"/>
            </p:cNvSpPr>
            <p:nvPr/>
          </p:nvSpPr>
          <p:spPr bwMode="auto">
            <a:xfrm flipV="1">
              <a:off x="1962" y="2554"/>
              <a:ext cx="187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4" name="Line 37"/>
            <p:cNvSpPr>
              <a:spLocks noChangeShapeType="1"/>
            </p:cNvSpPr>
            <p:nvPr/>
          </p:nvSpPr>
          <p:spPr bwMode="auto">
            <a:xfrm flipV="1">
              <a:off x="1358" y="2204"/>
              <a:ext cx="186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5" name="Line 38"/>
            <p:cNvSpPr>
              <a:spLocks noChangeShapeType="1"/>
            </p:cNvSpPr>
            <p:nvPr/>
          </p:nvSpPr>
          <p:spPr bwMode="auto">
            <a:xfrm flipV="1">
              <a:off x="1540" y="1361"/>
              <a:ext cx="0" cy="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19" name="Text Box 39"/>
            <p:cNvSpPr txBox="1">
              <a:spLocks noChangeArrowheads="1"/>
            </p:cNvSpPr>
            <p:nvPr/>
          </p:nvSpPr>
          <p:spPr bwMode="auto">
            <a:xfrm>
              <a:off x="2293" y="2652"/>
              <a:ext cx="346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kumimoji="1" lang="en-US" altLang="zh-CN" sz="28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5397" name="Text Box 40"/>
            <p:cNvSpPr txBox="1">
              <a:spLocks noChangeArrowheads="1"/>
            </p:cNvSpPr>
            <p:nvPr/>
          </p:nvSpPr>
          <p:spPr bwMode="auto">
            <a:xfrm>
              <a:off x="1574" y="1154"/>
              <a:ext cx="29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15398" name="Text Box 41"/>
            <p:cNvSpPr txBox="1">
              <a:spLocks noChangeArrowheads="1"/>
            </p:cNvSpPr>
            <p:nvPr/>
          </p:nvSpPr>
          <p:spPr bwMode="auto">
            <a:xfrm>
              <a:off x="2068" y="1732"/>
              <a:ext cx="31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b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15399" name="Oval 42"/>
            <p:cNvSpPr>
              <a:spLocks noChangeArrowheads="1"/>
            </p:cNvSpPr>
            <p:nvPr/>
          </p:nvSpPr>
          <p:spPr bwMode="auto">
            <a:xfrm>
              <a:off x="1507" y="1303"/>
              <a:ext cx="90" cy="90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5400" name="Oval 43"/>
            <p:cNvSpPr>
              <a:spLocks noChangeArrowheads="1"/>
            </p:cNvSpPr>
            <p:nvPr/>
          </p:nvSpPr>
          <p:spPr bwMode="auto">
            <a:xfrm>
              <a:off x="2101" y="1968"/>
              <a:ext cx="90" cy="90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/>
      <p:bldP spid="174083" grpId="0" autoUpdateAnimBg="0"/>
      <p:bldP spid="17408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F03A10-7740-4C35-8237-AA83883B33B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grpSp>
        <p:nvGrpSpPr>
          <p:cNvPr id="16387" name="Group 2"/>
          <p:cNvGrpSpPr>
            <a:grpSpLocks/>
          </p:cNvGrpSpPr>
          <p:nvPr/>
        </p:nvGrpSpPr>
        <p:grpSpPr bwMode="auto">
          <a:xfrm>
            <a:off x="368300" y="1347788"/>
            <a:ext cx="5638800" cy="4460875"/>
            <a:chOff x="153" y="843"/>
            <a:chExt cx="3552" cy="2810"/>
          </a:xfrm>
        </p:grpSpPr>
        <p:grpSp>
          <p:nvGrpSpPr>
            <p:cNvPr id="16437" name="Group 3"/>
            <p:cNvGrpSpPr>
              <a:grpSpLocks/>
            </p:cNvGrpSpPr>
            <p:nvPr/>
          </p:nvGrpSpPr>
          <p:grpSpPr bwMode="auto">
            <a:xfrm>
              <a:off x="336" y="843"/>
              <a:ext cx="3369" cy="2543"/>
              <a:chOff x="336" y="843"/>
              <a:chExt cx="3369" cy="2543"/>
            </a:xfrm>
          </p:grpSpPr>
          <p:sp>
            <p:nvSpPr>
              <p:cNvPr id="16451" name="Freeform 4"/>
              <p:cNvSpPr>
                <a:spLocks/>
              </p:cNvSpPr>
              <p:nvPr/>
            </p:nvSpPr>
            <p:spPr bwMode="auto">
              <a:xfrm>
                <a:off x="336" y="2493"/>
                <a:ext cx="3369" cy="893"/>
              </a:xfrm>
              <a:custGeom>
                <a:avLst/>
                <a:gdLst>
                  <a:gd name="T0" fmla="*/ 0 w 3369"/>
                  <a:gd name="T1" fmla="*/ 893 h 893"/>
                  <a:gd name="T2" fmla="*/ 2476 w 3369"/>
                  <a:gd name="T3" fmla="*/ 893 h 893"/>
                  <a:gd name="T4" fmla="*/ 3369 w 3369"/>
                  <a:gd name="T5" fmla="*/ 0 h 893"/>
                  <a:gd name="T6" fmla="*/ 892 w 3369"/>
                  <a:gd name="T7" fmla="*/ 0 h 893"/>
                  <a:gd name="T8" fmla="*/ 0 w 3369"/>
                  <a:gd name="T9" fmla="*/ 893 h 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9"/>
                  <a:gd name="T16" fmla="*/ 0 h 893"/>
                  <a:gd name="T17" fmla="*/ 3369 w 3369"/>
                  <a:gd name="T18" fmla="*/ 893 h 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9" h="893">
                    <a:moveTo>
                      <a:pt x="0" y="893"/>
                    </a:moveTo>
                    <a:lnTo>
                      <a:pt x="2476" y="893"/>
                    </a:lnTo>
                    <a:lnTo>
                      <a:pt x="3369" y="0"/>
                    </a:lnTo>
                    <a:lnTo>
                      <a:pt x="892" y="0"/>
                    </a:lnTo>
                    <a:lnTo>
                      <a:pt x="0" y="893"/>
                    </a:lnTo>
                    <a:close/>
                  </a:path>
                </a:pathLst>
              </a:custGeom>
              <a:solidFill>
                <a:srgbClr val="3399FF">
                  <a:alpha val="50195"/>
                </a:srgbClr>
              </a:solidFill>
              <a:ln w="38100" cmpd="sng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2" name="Freeform 5"/>
              <p:cNvSpPr>
                <a:spLocks/>
              </p:cNvSpPr>
              <p:nvPr/>
            </p:nvSpPr>
            <p:spPr bwMode="auto">
              <a:xfrm>
                <a:off x="338" y="843"/>
                <a:ext cx="893" cy="2534"/>
              </a:xfrm>
              <a:custGeom>
                <a:avLst/>
                <a:gdLst>
                  <a:gd name="T0" fmla="*/ 0 w 893"/>
                  <a:gd name="T1" fmla="*/ 892 h 2534"/>
                  <a:gd name="T2" fmla="*/ 0 w 893"/>
                  <a:gd name="T3" fmla="*/ 2534 h 2534"/>
                  <a:gd name="T4" fmla="*/ 893 w 893"/>
                  <a:gd name="T5" fmla="*/ 1641 h 2534"/>
                  <a:gd name="T6" fmla="*/ 893 w 893"/>
                  <a:gd name="T7" fmla="*/ 0 h 2534"/>
                  <a:gd name="T8" fmla="*/ 0 w 893"/>
                  <a:gd name="T9" fmla="*/ 892 h 25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3"/>
                  <a:gd name="T16" fmla="*/ 0 h 2534"/>
                  <a:gd name="T17" fmla="*/ 893 w 893"/>
                  <a:gd name="T18" fmla="*/ 2534 h 25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3" h="2534">
                    <a:moveTo>
                      <a:pt x="0" y="892"/>
                    </a:moveTo>
                    <a:lnTo>
                      <a:pt x="0" y="2534"/>
                    </a:lnTo>
                    <a:lnTo>
                      <a:pt x="893" y="1641"/>
                    </a:lnTo>
                    <a:lnTo>
                      <a:pt x="893" y="0"/>
                    </a:lnTo>
                    <a:lnTo>
                      <a:pt x="0" y="892"/>
                    </a:lnTo>
                    <a:close/>
                  </a:path>
                </a:pathLst>
              </a:custGeom>
              <a:solidFill>
                <a:srgbClr val="00CC99">
                  <a:alpha val="50195"/>
                </a:srgbClr>
              </a:solidFill>
              <a:ln w="38100" cmpd="sng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38" name="Line 6"/>
            <p:cNvSpPr>
              <a:spLocks noChangeShapeType="1"/>
            </p:cNvSpPr>
            <p:nvPr/>
          </p:nvSpPr>
          <p:spPr bwMode="auto">
            <a:xfrm flipH="1">
              <a:off x="665" y="3045"/>
              <a:ext cx="12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9" name="Line 7"/>
            <p:cNvSpPr>
              <a:spLocks noChangeShapeType="1"/>
            </p:cNvSpPr>
            <p:nvPr/>
          </p:nvSpPr>
          <p:spPr bwMode="auto">
            <a:xfrm flipH="1">
              <a:off x="670" y="1823"/>
              <a:ext cx="12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0" name="Text Box 8"/>
            <p:cNvSpPr txBox="1">
              <a:spLocks noChangeArrowheads="1"/>
            </p:cNvSpPr>
            <p:nvPr/>
          </p:nvSpPr>
          <p:spPr bwMode="auto">
            <a:xfrm>
              <a:off x="1777" y="294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6441" name="Text Box 9"/>
            <p:cNvSpPr txBox="1">
              <a:spLocks noChangeArrowheads="1"/>
            </p:cNvSpPr>
            <p:nvPr/>
          </p:nvSpPr>
          <p:spPr bwMode="auto">
            <a:xfrm>
              <a:off x="539" y="1494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16442" name="Line 10"/>
            <p:cNvSpPr>
              <a:spLocks noChangeShapeType="1"/>
            </p:cNvSpPr>
            <p:nvPr/>
          </p:nvSpPr>
          <p:spPr bwMode="auto">
            <a:xfrm flipV="1">
              <a:off x="1877" y="1820"/>
              <a:ext cx="0" cy="1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3" name="Text Box 11"/>
            <p:cNvSpPr txBox="1">
              <a:spLocks noChangeArrowheads="1"/>
            </p:cNvSpPr>
            <p:nvPr/>
          </p:nvSpPr>
          <p:spPr bwMode="auto">
            <a:xfrm>
              <a:off x="383" y="2796"/>
              <a:ext cx="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  <a:r>
                <a:rPr lang="en-US" altLang="zh-CN" sz="2000" i="0" baseline="0"/>
                <a:t>x</a:t>
              </a:r>
              <a:endParaRPr lang="en-US" altLang="zh-CN" sz="2400" b="0" i="0" baseline="0"/>
            </a:p>
          </p:txBody>
        </p:sp>
        <p:sp>
          <p:nvSpPr>
            <p:cNvPr id="16444" name="Oval 12"/>
            <p:cNvSpPr>
              <a:spLocks noChangeArrowheads="1"/>
            </p:cNvSpPr>
            <p:nvPr/>
          </p:nvSpPr>
          <p:spPr bwMode="auto">
            <a:xfrm>
              <a:off x="1833" y="1782"/>
              <a:ext cx="83" cy="83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6445" name="Text Box 13"/>
            <p:cNvSpPr txBox="1">
              <a:spLocks noChangeArrowheads="1"/>
            </p:cNvSpPr>
            <p:nvPr/>
          </p:nvSpPr>
          <p:spPr bwMode="auto">
            <a:xfrm>
              <a:off x="1708" y="148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6446" name="Line 14"/>
            <p:cNvSpPr>
              <a:spLocks noChangeShapeType="1"/>
            </p:cNvSpPr>
            <p:nvPr/>
          </p:nvSpPr>
          <p:spPr bwMode="auto">
            <a:xfrm flipV="1">
              <a:off x="673" y="1814"/>
              <a:ext cx="0" cy="1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7" name="Text Box 15"/>
            <p:cNvSpPr txBox="1">
              <a:spLocks noChangeArrowheads="1"/>
            </p:cNvSpPr>
            <p:nvPr/>
          </p:nvSpPr>
          <p:spPr bwMode="auto">
            <a:xfrm>
              <a:off x="318" y="1664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6666"/>
                  </a:solidFill>
                </a:rPr>
                <a:t>V</a:t>
              </a:r>
            </a:p>
          </p:txBody>
        </p:sp>
        <p:sp>
          <p:nvSpPr>
            <p:cNvPr id="16448" name="Text Box 16"/>
            <p:cNvSpPr txBox="1">
              <a:spLocks noChangeArrowheads="1"/>
            </p:cNvSpPr>
            <p:nvPr/>
          </p:nvSpPr>
          <p:spPr bwMode="auto">
            <a:xfrm>
              <a:off x="2606" y="3094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333399"/>
                  </a:solidFill>
                </a:rPr>
                <a:t>H</a:t>
              </a:r>
            </a:p>
          </p:txBody>
        </p:sp>
        <p:sp>
          <p:nvSpPr>
            <p:cNvPr id="16449" name="Text Box 17"/>
            <p:cNvSpPr txBox="1">
              <a:spLocks noChangeArrowheads="1"/>
            </p:cNvSpPr>
            <p:nvPr/>
          </p:nvSpPr>
          <p:spPr bwMode="auto">
            <a:xfrm>
              <a:off x="153" y="332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16450" name="Oval 18"/>
            <p:cNvSpPr>
              <a:spLocks noChangeArrowheads="1"/>
            </p:cNvSpPr>
            <p:nvPr/>
          </p:nvSpPr>
          <p:spPr bwMode="auto">
            <a:xfrm>
              <a:off x="638" y="1780"/>
              <a:ext cx="80" cy="80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8192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</p:grpSp>
      <p:sp>
        <p:nvSpPr>
          <p:cNvPr id="175123" name="Text Box 19" descr="紫色网格"/>
          <p:cNvSpPr txBox="1">
            <a:spLocks noChangeArrowheads="1"/>
          </p:cNvSpPr>
          <p:nvPr/>
        </p:nvSpPr>
        <p:spPr bwMode="auto">
          <a:xfrm>
            <a:off x="333375" y="198438"/>
            <a:ext cx="566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baseline="0">
                <a:latin typeface="黑体" pitchFamily="2" charset="-122"/>
                <a:ea typeface="黑体" pitchFamily="2" charset="-122"/>
              </a:rPr>
              <a:t>4.3  </a:t>
            </a: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点的投影变换规律</a:t>
            </a:r>
          </a:p>
        </p:txBody>
      </p:sp>
      <p:sp>
        <p:nvSpPr>
          <p:cNvPr id="175124" name="Text Box 20"/>
          <p:cNvSpPr txBox="1">
            <a:spLocks noChangeArrowheads="1"/>
          </p:cNvSpPr>
          <p:nvPr/>
        </p:nvSpPr>
        <p:spPr bwMode="auto">
          <a:xfrm>
            <a:off x="4949825" y="48688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3252788" y="1485900"/>
            <a:ext cx="1790700" cy="3465513"/>
            <a:chOff x="1970" y="930"/>
            <a:chExt cx="1128" cy="2183"/>
          </a:xfrm>
        </p:grpSpPr>
        <p:sp>
          <p:nvSpPr>
            <p:cNvPr id="16435" name="Freeform 22"/>
            <p:cNvSpPr>
              <a:spLocks/>
            </p:cNvSpPr>
            <p:nvPr/>
          </p:nvSpPr>
          <p:spPr bwMode="auto">
            <a:xfrm>
              <a:off x="1970" y="930"/>
              <a:ext cx="1104" cy="2183"/>
            </a:xfrm>
            <a:custGeom>
              <a:avLst/>
              <a:gdLst>
                <a:gd name="T0" fmla="*/ 0 w 1104"/>
                <a:gd name="T1" fmla="*/ 0 h 2183"/>
                <a:gd name="T2" fmla="*/ 0 w 1104"/>
                <a:gd name="T3" fmla="*/ 1546 h 2183"/>
                <a:gd name="T4" fmla="*/ 1104 w 1104"/>
                <a:gd name="T5" fmla="*/ 2183 h 2183"/>
                <a:gd name="T6" fmla="*/ 1104 w 1104"/>
                <a:gd name="T7" fmla="*/ 624 h 2183"/>
                <a:gd name="T8" fmla="*/ 0 w 1104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2183"/>
                <a:gd name="T17" fmla="*/ 1104 w 1104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2183">
                  <a:moveTo>
                    <a:pt x="0" y="0"/>
                  </a:moveTo>
                  <a:lnTo>
                    <a:pt x="0" y="1546"/>
                  </a:lnTo>
                  <a:lnTo>
                    <a:pt x="1104" y="2183"/>
                  </a:lnTo>
                  <a:lnTo>
                    <a:pt x="1104" y="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28575" cmpd="sng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6" name="Rectangle 23"/>
            <p:cNvSpPr>
              <a:spLocks noChangeArrowheads="1"/>
            </p:cNvSpPr>
            <p:nvPr/>
          </p:nvSpPr>
          <p:spPr bwMode="auto">
            <a:xfrm>
              <a:off x="2765" y="1451"/>
              <a:ext cx="3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P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</a:p>
          </p:txBody>
        </p:sp>
      </p:grpSp>
      <p:sp>
        <p:nvSpPr>
          <p:cNvPr id="175128" name="Line 24"/>
          <p:cNvSpPr>
            <a:spLocks noChangeShapeType="1"/>
          </p:cNvSpPr>
          <p:nvPr/>
        </p:nvSpPr>
        <p:spPr bwMode="auto">
          <a:xfrm flipV="1">
            <a:off x="3113088" y="4330700"/>
            <a:ext cx="820737" cy="50006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29" name="Line 25"/>
          <p:cNvSpPr>
            <a:spLocks noChangeShapeType="1"/>
          </p:cNvSpPr>
          <p:nvPr/>
        </p:nvSpPr>
        <p:spPr bwMode="auto">
          <a:xfrm flipV="1">
            <a:off x="3933825" y="2376488"/>
            <a:ext cx="0" cy="196373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30" name="Line 26"/>
          <p:cNvSpPr>
            <a:spLocks noChangeShapeType="1"/>
          </p:cNvSpPr>
          <p:nvPr/>
        </p:nvSpPr>
        <p:spPr bwMode="auto">
          <a:xfrm flipV="1">
            <a:off x="3125788" y="2370138"/>
            <a:ext cx="820737" cy="5302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31" name="Oval 27"/>
          <p:cNvSpPr>
            <a:spLocks noChangeArrowheads="1"/>
          </p:cNvSpPr>
          <p:nvPr/>
        </p:nvSpPr>
        <p:spPr bwMode="auto">
          <a:xfrm>
            <a:off x="3833813" y="2305050"/>
            <a:ext cx="171450" cy="17145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5132" name="Text Box 28"/>
          <p:cNvSpPr txBox="1">
            <a:spLocks noChangeArrowheads="1"/>
          </p:cNvSpPr>
          <p:nvPr/>
        </p:nvSpPr>
        <p:spPr bwMode="auto">
          <a:xfrm>
            <a:off x="3897313" y="3927475"/>
            <a:ext cx="615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x1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5133" name="Text Box 29"/>
          <p:cNvSpPr txBox="1">
            <a:spLocks noChangeArrowheads="1"/>
          </p:cNvSpPr>
          <p:nvPr/>
        </p:nvSpPr>
        <p:spPr bwMode="auto">
          <a:xfrm>
            <a:off x="3484563" y="1862138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5076825" y="2487613"/>
            <a:ext cx="606425" cy="606425"/>
            <a:chOff x="3431" y="1270"/>
            <a:chExt cx="382" cy="382"/>
          </a:xfrm>
        </p:grpSpPr>
        <p:sp>
          <p:nvSpPr>
            <p:cNvPr id="16433" name="Arc 31"/>
            <p:cNvSpPr>
              <a:spLocks/>
            </p:cNvSpPr>
            <p:nvPr/>
          </p:nvSpPr>
          <p:spPr bwMode="auto">
            <a:xfrm>
              <a:off x="3431" y="1270"/>
              <a:ext cx="382" cy="3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4" name="AutoShape 32"/>
            <p:cNvSpPr>
              <a:spLocks noChangeArrowheads="1"/>
            </p:cNvSpPr>
            <p:nvPr/>
          </p:nvSpPr>
          <p:spPr bwMode="auto">
            <a:xfrm rot="9566082">
              <a:off x="3758" y="1433"/>
              <a:ext cx="47" cy="218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6092825" y="625475"/>
            <a:ext cx="2786063" cy="3171825"/>
            <a:chOff x="3654" y="388"/>
            <a:chExt cx="1755" cy="1998"/>
          </a:xfrm>
        </p:grpSpPr>
        <p:sp>
          <p:nvSpPr>
            <p:cNvPr id="16423" name="Line 34"/>
            <p:cNvSpPr>
              <a:spLocks noChangeShapeType="1"/>
            </p:cNvSpPr>
            <p:nvPr/>
          </p:nvSpPr>
          <p:spPr bwMode="auto">
            <a:xfrm>
              <a:off x="3879" y="1527"/>
              <a:ext cx="15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4" name="Line 35"/>
            <p:cNvSpPr>
              <a:spLocks noChangeShapeType="1"/>
            </p:cNvSpPr>
            <p:nvPr/>
          </p:nvSpPr>
          <p:spPr bwMode="auto">
            <a:xfrm>
              <a:off x="4538" y="698"/>
              <a:ext cx="0" cy="1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5" name="Oval 36"/>
            <p:cNvSpPr>
              <a:spLocks noChangeArrowheads="1"/>
            </p:cNvSpPr>
            <p:nvPr/>
          </p:nvSpPr>
          <p:spPr bwMode="auto">
            <a:xfrm>
              <a:off x="4493" y="665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6426" name="Oval 37"/>
            <p:cNvSpPr>
              <a:spLocks noChangeArrowheads="1"/>
            </p:cNvSpPr>
            <p:nvPr/>
          </p:nvSpPr>
          <p:spPr bwMode="auto">
            <a:xfrm>
              <a:off x="4493" y="2207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6427" name="Text Box 38"/>
            <p:cNvSpPr txBox="1">
              <a:spLocks noChangeArrowheads="1"/>
            </p:cNvSpPr>
            <p:nvPr/>
          </p:nvSpPr>
          <p:spPr bwMode="auto">
            <a:xfrm>
              <a:off x="3654" y="1360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16428" name="Text Box 39"/>
            <p:cNvSpPr txBox="1">
              <a:spLocks noChangeArrowheads="1"/>
            </p:cNvSpPr>
            <p:nvPr/>
          </p:nvSpPr>
          <p:spPr bwMode="auto">
            <a:xfrm>
              <a:off x="3812" y="126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16429" name="Text Box 40"/>
            <p:cNvSpPr txBox="1">
              <a:spLocks noChangeArrowheads="1"/>
            </p:cNvSpPr>
            <p:nvPr/>
          </p:nvSpPr>
          <p:spPr bwMode="auto">
            <a:xfrm>
              <a:off x="3818" y="1494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  <p:sp>
          <p:nvSpPr>
            <p:cNvPr id="16430" name="Text Box 41"/>
            <p:cNvSpPr txBox="1">
              <a:spLocks noChangeArrowheads="1"/>
            </p:cNvSpPr>
            <p:nvPr/>
          </p:nvSpPr>
          <p:spPr bwMode="auto">
            <a:xfrm>
              <a:off x="4342" y="388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16431" name="Text Box 42"/>
            <p:cNvSpPr txBox="1">
              <a:spLocks noChangeArrowheads="1"/>
            </p:cNvSpPr>
            <p:nvPr/>
          </p:nvSpPr>
          <p:spPr bwMode="auto">
            <a:xfrm>
              <a:off x="4281" y="20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6432" name="Text Box 43"/>
            <p:cNvSpPr txBox="1">
              <a:spLocks noChangeArrowheads="1"/>
            </p:cNvSpPr>
            <p:nvPr/>
          </p:nvSpPr>
          <p:spPr bwMode="auto">
            <a:xfrm>
              <a:off x="4253" y="1250"/>
              <a:ext cx="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  <a:r>
                <a:rPr lang="en-US" altLang="zh-CN" sz="2000" i="0" baseline="0"/>
                <a:t>x</a:t>
              </a:r>
              <a:endParaRPr lang="en-US" altLang="zh-CN" sz="2800" i="0" baseline="0"/>
            </a:p>
          </p:txBody>
        </p:sp>
      </p:grpSp>
      <p:sp>
        <p:nvSpPr>
          <p:cNvPr id="175148" name="Line 44"/>
          <p:cNvSpPr>
            <a:spLocks noChangeShapeType="1"/>
          </p:cNvSpPr>
          <p:nvPr/>
        </p:nvSpPr>
        <p:spPr bwMode="auto">
          <a:xfrm flipV="1">
            <a:off x="6883400" y="3640138"/>
            <a:ext cx="2003425" cy="120173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49" name="Text Box 45"/>
          <p:cNvSpPr txBox="1">
            <a:spLocks noChangeArrowheads="1"/>
          </p:cNvSpPr>
          <p:nvPr/>
        </p:nvSpPr>
        <p:spPr bwMode="auto">
          <a:xfrm>
            <a:off x="6388100" y="4687888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5150" name="Line 46"/>
          <p:cNvSpPr>
            <a:spLocks noChangeShapeType="1"/>
          </p:cNvSpPr>
          <p:nvPr/>
        </p:nvSpPr>
        <p:spPr bwMode="auto">
          <a:xfrm>
            <a:off x="7512050" y="3629025"/>
            <a:ext cx="1004888" cy="18161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51" name="Text Box 47"/>
          <p:cNvSpPr txBox="1">
            <a:spLocks noChangeArrowheads="1"/>
          </p:cNvSpPr>
          <p:nvPr/>
        </p:nvSpPr>
        <p:spPr bwMode="auto">
          <a:xfrm>
            <a:off x="6589713" y="43545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75152" name="Text Box 48"/>
          <p:cNvSpPr txBox="1">
            <a:spLocks noChangeArrowheads="1"/>
          </p:cNvSpPr>
          <p:nvPr/>
        </p:nvSpPr>
        <p:spPr bwMode="auto">
          <a:xfrm>
            <a:off x="6818313" y="4729163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 rot="-733910">
            <a:off x="2997200" y="3597275"/>
            <a:ext cx="200025" cy="282575"/>
            <a:chOff x="3954" y="2451"/>
            <a:chExt cx="126" cy="178"/>
          </a:xfrm>
        </p:grpSpPr>
        <p:sp>
          <p:nvSpPr>
            <p:cNvPr id="16421" name="Line 50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2" name="Line 51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 rot="-1032151">
            <a:off x="1069975" y="3646488"/>
            <a:ext cx="200025" cy="282575"/>
            <a:chOff x="3954" y="2451"/>
            <a:chExt cx="126" cy="178"/>
          </a:xfrm>
        </p:grpSpPr>
        <p:sp>
          <p:nvSpPr>
            <p:cNvPr id="16419" name="Line 53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0" name="Line 54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55"/>
          <p:cNvGrpSpPr>
            <a:grpSpLocks/>
          </p:cNvGrpSpPr>
          <p:nvPr/>
        </p:nvGrpSpPr>
        <p:grpSpPr bwMode="auto">
          <a:xfrm rot="-694704">
            <a:off x="3833813" y="3232150"/>
            <a:ext cx="200025" cy="282575"/>
            <a:chOff x="3954" y="2451"/>
            <a:chExt cx="126" cy="178"/>
          </a:xfrm>
        </p:grpSpPr>
        <p:sp>
          <p:nvSpPr>
            <p:cNvPr id="16417" name="Line 56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Line 57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58"/>
          <p:cNvGrpSpPr>
            <a:grpSpLocks/>
          </p:cNvGrpSpPr>
          <p:nvPr/>
        </p:nvGrpSpPr>
        <p:grpSpPr bwMode="auto">
          <a:xfrm rot="-1120757">
            <a:off x="7373938" y="1639888"/>
            <a:ext cx="200025" cy="282575"/>
            <a:chOff x="3954" y="2451"/>
            <a:chExt cx="126" cy="178"/>
          </a:xfrm>
        </p:grpSpPr>
        <p:sp>
          <p:nvSpPr>
            <p:cNvPr id="16415" name="Line 59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60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61"/>
          <p:cNvGrpSpPr>
            <a:grpSpLocks/>
          </p:cNvGrpSpPr>
          <p:nvPr/>
        </p:nvGrpSpPr>
        <p:grpSpPr bwMode="auto">
          <a:xfrm rot="-2709026">
            <a:off x="8088313" y="4664075"/>
            <a:ext cx="200025" cy="282575"/>
            <a:chOff x="3954" y="2451"/>
            <a:chExt cx="126" cy="178"/>
          </a:xfrm>
        </p:grpSpPr>
        <p:sp>
          <p:nvSpPr>
            <p:cNvPr id="16413" name="Line 62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4" name="Line 63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5168" name="Oval 64"/>
          <p:cNvSpPr>
            <a:spLocks noChangeArrowheads="1"/>
          </p:cNvSpPr>
          <p:nvPr/>
        </p:nvSpPr>
        <p:spPr bwMode="auto">
          <a:xfrm>
            <a:off x="8413750" y="5345113"/>
            <a:ext cx="157163" cy="1571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5169" name="Text Box 65"/>
          <p:cNvSpPr txBox="1">
            <a:spLocks noChangeArrowheads="1"/>
          </p:cNvSpPr>
          <p:nvPr/>
        </p:nvSpPr>
        <p:spPr bwMode="auto">
          <a:xfrm>
            <a:off x="8216900" y="5351463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5170" name="Text Box 66"/>
          <p:cNvSpPr txBox="1">
            <a:spLocks noChangeArrowheads="1"/>
          </p:cNvSpPr>
          <p:nvPr/>
        </p:nvSpPr>
        <p:spPr bwMode="auto">
          <a:xfrm>
            <a:off x="7885113" y="3989388"/>
            <a:ext cx="61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x1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5171" name="Text Box 67" descr="紫色网格"/>
          <p:cNvSpPr txBox="1">
            <a:spLocks noChangeArrowheads="1"/>
          </p:cNvSpPr>
          <p:nvPr/>
        </p:nvSpPr>
        <p:spPr bwMode="auto">
          <a:xfrm>
            <a:off x="1781175" y="5803900"/>
            <a:ext cx="3227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点到</a:t>
            </a:r>
            <a:r>
              <a:rPr lang="en-US" altLang="zh-CN" sz="2800" i="0" baseline="0" dirty="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800" i="0" baseline="0" dirty="0">
                <a:latin typeface="黑体" pitchFamily="2" charset="-122"/>
                <a:ea typeface="黑体" pitchFamily="2" charset="-122"/>
              </a:rPr>
              <a:t>面之距？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5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5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5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75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75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5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5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75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3" grpId="0"/>
      <p:bldP spid="175124" grpId="0" build="p" autoUpdateAnimBg="0"/>
      <p:bldP spid="175128" grpId="0" animBg="1"/>
      <p:bldP spid="175129" grpId="0" animBg="1"/>
      <p:bldP spid="175130" grpId="0" animBg="1"/>
      <p:bldP spid="175131" grpId="0" animBg="1"/>
      <p:bldP spid="175132" grpId="0" build="p" autoUpdateAnimBg="0"/>
      <p:bldP spid="175133" grpId="0" build="p" autoUpdateAnimBg="0"/>
      <p:bldP spid="175148" grpId="0" animBg="1"/>
      <p:bldP spid="175149" grpId="0" autoUpdateAnimBg="0"/>
      <p:bldP spid="175150" grpId="0" animBg="1"/>
      <p:bldP spid="175151" grpId="0" build="p" autoUpdateAnimBg="0"/>
      <p:bldP spid="175152" grpId="0" build="p" autoUpdateAnimBg="0"/>
      <p:bldP spid="175168" grpId="0" animBg="1"/>
      <p:bldP spid="175169" grpId="0" build="p" autoUpdateAnimBg="0"/>
      <p:bldP spid="175170" grpId="0" build="p" autoUpdateAnimBg="0"/>
      <p:bldP spid="17517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705A99-D340-4613-A8C5-B1E559E94C0E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grpSp>
        <p:nvGrpSpPr>
          <p:cNvPr id="17411" name="Group 2"/>
          <p:cNvGrpSpPr>
            <a:grpSpLocks/>
          </p:cNvGrpSpPr>
          <p:nvPr/>
        </p:nvGrpSpPr>
        <p:grpSpPr bwMode="auto">
          <a:xfrm>
            <a:off x="6092825" y="625475"/>
            <a:ext cx="2786063" cy="3171825"/>
            <a:chOff x="3654" y="388"/>
            <a:chExt cx="1755" cy="1998"/>
          </a:xfrm>
        </p:grpSpPr>
        <p:sp>
          <p:nvSpPr>
            <p:cNvPr id="17429" name="Line 3"/>
            <p:cNvSpPr>
              <a:spLocks noChangeShapeType="1"/>
            </p:cNvSpPr>
            <p:nvPr/>
          </p:nvSpPr>
          <p:spPr bwMode="auto">
            <a:xfrm>
              <a:off x="3879" y="1527"/>
              <a:ext cx="15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4"/>
            <p:cNvSpPr>
              <a:spLocks noChangeShapeType="1"/>
            </p:cNvSpPr>
            <p:nvPr/>
          </p:nvSpPr>
          <p:spPr bwMode="auto">
            <a:xfrm>
              <a:off x="4538" y="698"/>
              <a:ext cx="0" cy="1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Oval 5"/>
            <p:cNvSpPr>
              <a:spLocks noChangeArrowheads="1"/>
            </p:cNvSpPr>
            <p:nvPr/>
          </p:nvSpPr>
          <p:spPr bwMode="auto">
            <a:xfrm>
              <a:off x="4493" y="665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7432" name="Oval 6"/>
            <p:cNvSpPr>
              <a:spLocks noChangeArrowheads="1"/>
            </p:cNvSpPr>
            <p:nvPr/>
          </p:nvSpPr>
          <p:spPr bwMode="auto">
            <a:xfrm>
              <a:off x="4493" y="2207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7433" name="Text Box 7"/>
            <p:cNvSpPr txBox="1">
              <a:spLocks noChangeArrowheads="1"/>
            </p:cNvSpPr>
            <p:nvPr/>
          </p:nvSpPr>
          <p:spPr bwMode="auto">
            <a:xfrm>
              <a:off x="3654" y="1360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17434" name="Text Box 8"/>
            <p:cNvSpPr txBox="1">
              <a:spLocks noChangeArrowheads="1"/>
            </p:cNvSpPr>
            <p:nvPr/>
          </p:nvSpPr>
          <p:spPr bwMode="auto">
            <a:xfrm>
              <a:off x="3812" y="126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17435" name="Text Box 9"/>
            <p:cNvSpPr txBox="1">
              <a:spLocks noChangeArrowheads="1"/>
            </p:cNvSpPr>
            <p:nvPr/>
          </p:nvSpPr>
          <p:spPr bwMode="auto">
            <a:xfrm>
              <a:off x="3818" y="1494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  <p:sp>
          <p:nvSpPr>
            <p:cNvPr id="17436" name="Text Box 10"/>
            <p:cNvSpPr txBox="1">
              <a:spLocks noChangeArrowheads="1"/>
            </p:cNvSpPr>
            <p:nvPr/>
          </p:nvSpPr>
          <p:spPr bwMode="auto">
            <a:xfrm>
              <a:off x="4342" y="388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17437" name="Text Box 11"/>
            <p:cNvSpPr txBox="1">
              <a:spLocks noChangeArrowheads="1"/>
            </p:cNvSpPr>
            <p:nvPr/>
          </p:nvSpPr>
          <p:spPr bwMode="auto">
            <a:xfrm>
              <a:off x="4281" y="20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7438" name="Text Box 12"/>
            <p:cNvSpPr txBox="1">
              <a:spLocks noChangeArrowheads="1"/>
            </p:cNvSpPr>
            <p:nvPr/>
          </p:nvSpPr>
          <p:spPr bwMode="auto">
            <a:xfrm>
              <a:off x="4253" y="1250"/>
              <a:ext cx="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  <a:r>
                <a:rPr lang="en-US" altLang="zh-CN" sz="2000" i="0" baseline="0"/>
                <a:t>x</a:t>
              </a:r>
              <a:endParaRPr lang="en-US" altLang="zh-CN" sz="2800" i="0" baseline="0"/>
            </a:p>
          </p:txBody>
        </p:sp>
      </p:grpSp>
      <p:sp>
        <p:nvSpPr>
          <p:cNvPr id="17412" name="Line 13"/>
          <p:cNvSpPr>
            <a:spLocks noChangeShapeType="1"/>
          </p:cNvSpPr>
          <p:nvPr/>
        </p:nvSpPr>
        <p:spPr bwMode="auto">
          <a:xfrm flipV="1">
            <a:off x="6883400" y="3640138"/>
            <a:ext cx="2003425" cy="120173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3" name="Text Box 14"/>
          <p:cNvSpPr txBox="1">
            <a:spLocks noChangeArrowheads="1"/>
          </p:cNvSpPr>
          <p:nvPr/>
        </p:nvSpPr>
        <p:spPr bwMode="auto">
          <a:xfrm>
            <a:off x="6388100" y="4687888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414" name="Line 15"/>
          <p:cNvSpPr>
            <a:spLocks noChangeShapeType="1"/>
          </p:cNvSpPr>
          <p:nvPr/>
        </p:nvSpPr>
        <p:spPr bwMode="auto">
          <a:xfrm>
            <a:off x="7512050" y="3629025"/>
            <a:ext cx="1004888" cy="18161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5" name="Text Box 16"/>
          <p:cNvSpPr txBox="1">
            <a:spLocks noChangeArrowheads="1"/>
          </p:cNvSpPr>
          <p:nvPr/>
        </p:nvSpPr>
        <p:spPr bwMode="auto">
          <a:xfrm>
            <a:off x="6589713" y="43545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7416" name="Text Box 17"/>
          <p:cNvSpPr txBox="1">
            <a:spLocks noChangeArrowheads="1"/>
          </p:cNvSpPr>
          <p:nvPr/>
        </p:nvSpPr>
        <p:spPr bwMode="auto">
          <a:xfrm>
            <a:off x="6818313" y="4729163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17417" name="Group 18"/>
          <p:cNvGrpSpPr>
            <a:grpSpLocks/>
          </p:cNvGrpSpPr>
          <p:nvPr/>
        </p:nvGrpSpPr>
        <p:grpSpPr bwMode="auto">
          <a:xfrm rot="-1120757">
            <a:off x="7373938" y="1639888"/>
            <a:ext cx="200025" cy="282575"/>
            <a:chOff x="3954" y="2451"/>
            <a:chExt cx="126" cy="178"/>
          </a:xfrm>
        </p:grpSpPr>
        <p:sp>
          <p:nvSpPr>
            <p:cNvPr id="17427" name="Line 19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20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418" name="Group 21"/>
          <p:cNvGrpSpPr>
            <a:grpSpLocks/>
          </p:cNvGrpSpPr>
          <p:nvPr/>
        </p:nvGrpSpPr>
        <p:grpSpPr bwMode="auto">
          <a:xfrm rot="-2709026">
            <a:off x="8088313" y="4664075"/>
            <a:ext cx="200025" cy="282575"/>
            <a:chOff x="3954" y="2451"/>
            <a:chExt cx="126" cy="178"/>
          </a:xfrm>
        </p:grpSpPr>
        <p:sp>
          <p:nvSpPr>
            <p:cNvPr id="17425" name="Line 22"/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Line 23"/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19" name="Oval 24"/>
          <p:cNvSpPr>
            <a:spLocks noChangeArrowheads="1"/>
          </p:cNvSpPr>
          <p:nvPr/>
        </p:nvSpPr>
        <p:spPr bwMode="auto">
          <a:xfrm>
            <a:off x="8413750" y="5345113"/>
            <a:ext cx="157163" cy="1571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420" name="Text Box 25"/>
          <p:cNvSpPr txBox="1">
            <a:spLocks noChangeArrowheads="1"/>
          </p:cNvSpPr>
          <p:nvPr/>
        </p:nvSpPr>
        <p:spPr bwMode="auto">
          <a:xfrm>
            <a:off x="8216900" y="5351463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421" name="Text Box 26"/>
          <p:cNvSpPr txBox="1">
            <a:spLocks noChangeArrowheads="1"/>
          </p:cNvSpPr>
          <p:nvPr/>
        </p:nvSpPr>
        <p:spPr bwMode="auto">
          <a:xfrm>
            <a:off x="7885113" y="3989388"/>
            <a:ext cx="61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x1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6155" name="Text Box 27" descr="紫色网格"/>
          <p:cNvSpPr txBox="1">
            <a:spLocks noChangeArrowheads="1"/>
          </p:cNvSpPr>
          <p:nvPr/>
        </p:nvSpPr>
        <p:spPr bwMode="auto">
          <a:xfrm>
            <a:off x="450850" y="549275"/>
            <a:ext cx="462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i="0" baseline="0">
                <a:latin typeface="黑体" pitchFamily="2" charset="-122"/>
                <a:ea typeface="黑体" pitchFamily="2" charset="-122"/>
              </a:rPr>
              <a:t>点的投影变换规律</a:t>
            </a:r>
          </a:p>
        </p:txBody>
      </p:sp>
      <p:sp>
        <p:nvSpPr>
          <p:cNvPr id="176156" name="Text Box 28"/>
          <p:cNvSpPr txBox="1">
            <a:spLocks noChangeArrowheads="1"/>
          </p:cNvSpPr>
          <p:nvPr/>
        </p:nvSpPr>
        <p:spPr bwMode="auto">
          <a:xfrm>
            <a:off x="361950" y="2019300"/>
            <a:ext cx="52657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ea typeface="黑体" pitchFamily="2" charset="-122"/>
                <a:sym typeface="Marlett" pitchFamily="2" charset="2"/>
              </a:rPr>
              <a:t>１　在新投影面体系中，点的一对投影连线</a:t>
            </a:r>
            <a:r>
              <a:rPr lang="zh-CN" altLang="en-US" sz="2800" i="0" baseline="0">
                <a:solidFill>
                  <a:srgbClr val="FF0000"/>
                </a:solidFill>
                <a:ea typeface="黑体" pitchFamily="2" charset="-122"/>
                <a:sym typeface="Marlett" pitchFamily="2" charset="2"/>
              </a:rPr>
              <a:t>垂直</a:t>
            </a:r>
            <a:r>
              <a:rPr lang="zh-CN" altLang="en-US" sz="2800" i="0" baseline="0">
                <a:ea typeface="黑体" pitchFamily="2" charset="-122"/>
                <a:sym typeface="Marlett" pitchFamily="2" charset="2"/>
              </a:rPr>
              <a:t>于新投影轴。</a:t>
            </a:r>
            <a:endParaRPr lang="zh-CN" altLang="en-US" sz="2800" i="0" baseline="0">
              <a:ea typeface="黑体" pitchFamily="2" charset="-122"/>
            </a:endParaRPr>
          </a:p>
        </p:txBody>
      </p:sp>
      <p:sp>
        <p:nvSpPr>
          <p:cNvPr id="176157" name="Rectangle 29"/>
          <p:cNvSpPr>
            <a:spLocks noChangeArrowheads="1"/>
          </p:cNvSpPr>
          <p:nvPr/>
        </p:nvSpPr>
        <p:spPr bwMode="auto">
          <a:xfrm>
            <a:off x="381000" y="4249738"/>
            <a:ext cx="5715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ea typeface="黑体" pitchFamily="2" charset="-122"/>
                <a:sym typeface="Marlett" pitchFamily="2" charset="2"/>
              </a:rPr>
              <a:t>２　新投影到新投影轴之距与被代替的投影到原投影轴之距</a:t>
            </a:r>
            <a:r>
              <a:rPr lang="zh-CN" altLang="en-US" sz="2800" i="0" baseline="0">
                <a:solidFill>
                  <a:srgbClr val="FF0000"/>
                </a:solidFill>
                <a:ea typeface="黑体" pitchFamily="2" charset="-122"/>
                <a:sym typeface="Marlett" pitchFamily="2" charset="2"/>
              </a:rPr>
              <a:t>相等</a:t>
            </a:r>
            <a:r>
              <a:rPr lang="zh-CN" altLang="en-US" sz="2800" i="0" baseline="0">
                <a:ea typeface="黑体" pitchFamily="2" charset="-122"/>
                <a:sym typeface="Marlett" pitchFamily="2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55" grpId="0"/>
      <p:bldP spid="176156" grpId="0"/>
      <p:bldP spid="17615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5D0CD2-0F21-46E6-BBF5-F13E056D2F96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8435" name="Freeform 2"/>
          <p:cNvSpPr>
            <a:spLocks/>
          </p:cNvSpPr>
          <p:nvPr/>
        </p:nvSpPr>
        <p:spPr bwMode="auto">
          <a:xfrm>
            <a:off x="2286000" y="3551238"/>
            <a:ext cx="4040188" cy="1755775"/>
          </a:xfrm>
          <a:custGeom>
            <a:avLst/>
            <a:gdLst>
              <a:gd name="T0" fmla="*/ 0 w 2545"/>
              <a:gd name="T1" fmla="*/ 1832154388 h 1106"/>
              <a:gd name="T2" fmla="*/ 2147483647 w 2545"/>
              <a:gd name="T3" fmla="*/ 0 h 1106"/>
              <a:gd name="T4" fmla="*/ 2147483647 w 2545"/>
              <a:gd name="T5" fmla="*/ 972780313 h 1106"/>
              <a:gd name="T6" fmla="*/ 2147483647 w 2545"/>
              <a:gd name="T7" fmla="*/ 2147483647 h 1106"/>
              <a:gd name="T8" fmla="*/ 0 w 2545"/>
              <a:gd name="T9" fmla="*/ 1832154388 h 1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45"/>
              <a:gd name="T16" fmla="*/ 0 h 1106"/>
              <a:gd name="T17" fmla="*/ 2545 w 2545"/>
              <a:gd name="T18" fmla="*/ 1106 h 1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45" h="1106">
                <a:moveTo>
                  <a:pt x="0" y="727"/>
                </a:moveTo>
                <a:lnTo>
                  <a:pt x="945" y="0"/>
                </a:lnTo>
                <a:lnTo>
                  <a:pt x="2545" y="386"/>
                </a:lnTo>
                <a:lnTo>
                  <a:pt x="1600" y="1106"/>
                </a:lnTo>
                <a:lnTo>
                  <a:pt x="0" y="727"/>
                </a:lnTo>
                <a:close/>
              </a:path>
            </a:pathLst>
          </a:custGeom>
          <a:solidFill>
            <a:srgbClr val="3399FF">
              <a:alpha val="50195"/>
            </a:srgbClr>
          </a:solidFill>
          <a:ln w="19050" cap="flat" cmpd="sng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Freeform 3"/>
          <p:cNvSpPr>
            <a:spLocks/>
          </p:cNvSpPr>
          <p:nvPr/>
        </p:nvSpPr>
        <p:spPr bwMode="auto">
          <a:xfrm>
            <a:off x="2286000" y="1531938"/>
            <a:ext cx="1489075" cy="3151187"/>
          </a:xfrm>
          <a:custGeom>
            <a:avLst/>
            <a:gdLst>
              <a:gd name="T0" fmla="*/ 0 w 938"/>
              <a:gd name="T1" fmla="*/ 2147483647 h 1985"/>
              <a:gd name="T2" fmla="*/ 0 w 938"/>
              <a:gd name="T3" fmla="*/ 1796870327 h 1985"/>
              <a:gd name="T4" fmla="*/ 2147483647 w 938"/>
              <a:gd name="T5" fmla="*/ 0 h 1985"/>
              <a:gd name="T6" fmla="*/ 2147483647 w 938"/>
              <a:gd name="T7" fmla="*/ 2147483647 h 1985"/>
              <a:gd name="T8" fmla="*/ 0 w 938"/>
              <a:gd name="T9" fmla="*/ 2147483647 h 19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8"/>
              <a:gd name="T16" fmla="*/ 0 h 1985"/>
              <a:gd name="T17" fmla="*/ 938 w 938"/>
              <a:gd name="T18" fmla="*/ 1985 h 19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8" h="1985">
                <a:moveTo>
                  <a:pt x="0" y="1985"/>
                </a:moveTo>
                <a:lnTo>
                  <a:pt x="0" y="713"/>
                </a:lnTo>
                <a:lnTo>
                  <a:pt x="938" y="0"/>
                </a:lnTo>
                <a:lnTo>
                  <a:pt x="938" y="1265"/>
                </a:lnTo>
                <a:lnTo>
                  <a:pt x="0" y="1985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19050" cap="flat" cmpd="sng">
            <a:solidFill>
              <a:srgbClr val="00CC9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Line 4"/>
          <p:cNvSpPr>
            <a:spLocks noChangeShapeType="1"/>
          </p:cNvSpPr>
          <p:nvPr/>
        </p:nvSpPr>
        <p:spPr bwMode="auto">
          <a:xfrm flipV="1">
            <a:off x="4257675" y="3370263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Line 5"/>
          <p:cNvSpPr>
            <a:spLocks noChangeShapeType="1"/>
          </p:cNvSpPr>
          <p:nvPr/>
        </p:nvSpPr>
        <p:spPr bwMode="auto">
          <a:xfrm flipV="1">
            <a:off x="2919413" y="3028950"/>
            <a:ext cx="0" cy="1158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auto">
          <a:xfrm flipH="1" flipV="1">
            <a:off x="2930525" y="3040063"/>
            <a:ext cx="1339850" cy="334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Line 7"/>
          <p:cNvSpPr>
            <a:spLocks noChangeShapeType="1"/>
          </p:cNvSpPr>
          <p:nvPr/>
        </p:nvSpPr>
        <p:spPr bwMode="auto">
          <a:xfrm flipH="1" flipV="1">
            <a:off x="2906713" y="4198938"/>
            <a:ext cx="1350962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Text Box 8"/>
          <p:cNvSpPr txBox="1">
            <a:spLocks noChangeArrowheads="1"/>
          </p:cNvSpPr>
          <p:nvPr/>
        </p:nvSpPr>
        <p:spPr bwMode="auto">
          <a:xfrm>
            <a:off x="2268538" y="2551113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V</a:t>
            </a:r>
          </a:p>
        </p:txBody>
      </p:sp>
      <p:sp>
        <p:nvSpPr>
          <p:cNvPr id="18442" name="Text Box 9"/>
          <p:cNvSpPr txBox="1">
            <a:spLocks noChangeArrowheads="1"/>
          </p:cNvSpPr>
          <p:nvPr/>
        </p:nvSpPr>
        <p:spPr bwMode="auto">
          <a:xfrm>
            <a:off x="4465638" y="4860925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8443" name="Text Box 10"/>
          <p:cNvSpPr txBox="1">
            <a:spLocks noChangeArrowheads="1"/>
          </p:cNvSpPr>
          <p:nvPr/>
        </p:nvSpPr>
        <p:spPr bwMode="auto">
          <a:xfrm>
            <a:off x="1911350" y="4456113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X</a:t>
            </a:r>
          </a:p>
        </p:txBody>
      </p:sp>
      <p:sp>
        <p:nvSpPr>
          <p:cNvPr id="177163" name="Text Box 11"/>
          <p:cNvSpPr txBox="1">
            <a:spLocks noChangeArrowheads="1"/>
          </p:cNvSpPr>
          <p:nvPr/>
        </p:nvSpPr>
        <p:spPr bwMode="auto">
          <a:xfrm>
            <a:off x="5575300" y="4600575"/>
            <a:ext cx="568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4660900" y="1876425"/>
            <a:ext cx="568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3929063" y="43608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2466975" y="28209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a'</a:t>
            </a:r>
          </a:p>
        </p:txBody>
      </p:sp>
      <p:sp>
        <p:nvSpPr>
          <p:cNvPr id="18448" name="Text Box 15"/>
          <p:cNvSpPr txBox="1">
            <a:spLocks noChangeArrowheads="1"/>
          </p:cNvSpPr>
          <p:nvPr/>
        </p:nvSpPr>
        <p:spPr bwMode="auto">
          <a:xfrm>
            <a:off x="4733925" y="2557463"/>
            <a:ext cx="625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367213" y="2051050"/>
            <a:ext cx="1346200" cy="2620963"/>
            <a:chOff x="1762" y="1455"/>
            <a:chExt cx="848" cy="1651"/>
          </a:xfrm>
        </p:grpSpPr>
        <p:sp>
          <p:nvSpPr>
            <p:cNvPr id="18467" name="Freeform 17"/>
            <p:cNvSpPr>
              <a:spLocks/>
            </p:cNvSpPr>
            <p:nvPr/>
          </p:nvSpPr>
          <p:spPr bwMode="auto">
            <a:xfrm>
              <a:off x="1762" y="1455"/>
              <a:ext cx="814" cy="1651"/>
            </a:xfrm>
            <a:custGeom>
              <a:avLst/>
              <a:gdLst>
                <a:gd name="T0" fmla="*/ 0 w 814"/>
                <a:gd name="T1" fmla="*/ 0 h 1651"/>
                <a:gd name="T2" fmla="*/ 0 w 814"/>
                <a:gd name="T3" fmla="*/ 1047 h 1651"/>
                <a:gd name="T4" fmla="*/ 814 w 814"/>
                <a:gd name="T5" fmla="*/ 1651 h 1651"/>
                <a:gd name="T6" fmla="*/ 814 w 814"/>
                <a:gd name="T7" fmla="*/ 603 h 1651"/>
                <a:gd name="T8" fmla="*/ 0 w 814"/>
                <a:gd name="T9" fmla="*/ 0 h 16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4"/>
                <a:gd name="T16" fmla="*/ 0 h 1651"/>
                <a:gd name="T17" fmla="*/ 814 w 814"/>
                <a:gd name="T18" fmla="*/ 1651 h 16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4" h="1651">
                  <a:moveTo>
                    <a:pt x="0" y="0"/>
                  </a:moveTo>
                  <a:lnTo>
                    <a:pt x="0" y="1047"/>
                  </a:lnTo>
                  <a:lnTo>
                    <a:pt x="814" y="1651"/>
                  </a:lnTo>
                  <a:lnTo>
                    <a:pt x="814" y="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99">
                <a:alpha val="50195"/>
              </a:srgbClr>
            </a:solidFill>
            <a:ln w="19050" cap="flat" cmpd="sng">
              <a:solidFill>
                <a:srgbClr val="FF9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Text Box 18"/>
            <p:cNvSpPr txBox="1">
              <a:spLocks noChangeArrowheads="1"/>
            </p:cNvSpPr>
            <p:nvPr/>
          </p:nvSpPr>
          <p:spPr bwMode="auto">
            <a:xfrm>
              <a:off x="2277" y="1954"/>
              <a:ext cx="3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P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chemeClr val="tx2"/>
                </a:solidFill>
              </a:endParaRPr>
            </a:p>
          </p:txBody>
        </p:sp>
      </p:grpSp>
      <p:sp>
        <p:nvSpPr>
          <p:cNvPr id="177171" name="Line 19"/>
          <p:cNvSpPr>
            <a:spLocks noChangeShapeType="1"/>
          </p:cNvSpPr>
          <p:nvPr/>
        </p:nvSpPr>
        <p:spPr bwMode="auto">
          <a:xfrm flipV="1">
            <a:off x="4256088" y="4059238"/>
            <a:ext cx="579437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2" name="Line 20"/>
          <p:cNvSpPr>
            <a:spLocks noChangeShapeType="1"/>
          </p:cNvSpPr>
          <p:nvPr/>
        </p:nvSpPr>
        <p:spPr bwMode="auto">
          <a:xfrm flipV="1">
            <a:off x="4284663" y="2962275"/>
            <a:ext cx="560387" cy="407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3" name="Rectangle 21"/>
          <p:cNvSpPr>
            <a:spLocks noChangeArrowheads="1"/>
          </p:cNvSpPr>
          <p:nvPr/>
        </p:nvSpPr>
        <p:spPr bwMode="auto">
          <a:xfrm>
            <a:off x="4794250" y="2520950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77174" name="Line 22"/>
          <p:cNvSpPr>
            <a:spLocks noChangeShapeType="1"/>
          </p:cNvSpPr>
          <p:nvPr/>
        </p:nvSpPr>
        <p:spPr bwMode="auto">
          <a:xfrm flipV="1">
            <a:off x="4830763" y="2944813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5" name="Freeform 23"/>
          <p:cNvSpPr>
            <a:spLocks/>
          </p:cNvSpPr>
          <p:nvPr/>
        </p:nvSpPr>
        <p:spPr bwMode="auto">
          <a:xfrm>
            <a:off x="3208338" y="1989138"/>
            <a:ext cx="1511300" cy="1731962"/>
          </a:xfrm>
          <a:custGeom>
            <a:avLst/>
            <a:gdLst>
              <a:gd name="T0" fmla="*/ 577116575 w 952"/>
              <a:gd name="T1" fmla="*/ 1325601805 h 1091"/>
              <a:gd name="T2" fmla="*/ 0 w 952"/>
              <a:gd name="T3" fmla="*/ 2147483647 h 1091"/>
              <a:gd name="T4" fmla="*/ 1849794688 w 952"/>
              <a:gd name="T5" fmla="*/ 1416327404 h 1091"/>
              <a:gd name="T6" fmla="*/ 2147483647 w 952"/>
              <a:gd name="T7" fmla="*/ 0 h 1091"/>
              <a:gd name="T8" fmla="*/ 577116575 w 952"/>
              <a:gd name="T9" fmla="*/ 1325601805 h 10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52"/>
              <a:gd name="T16" fmla="*/ 0 h 1091"/>
              <a:gd name="T17" fmla="*/ 952 w 952"/>
              <a:gd name="T18" fmla="*/ 1091 h 10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52" h="1091">
                <a:moveTo>
                  <a:pt x="229" y="526"/>
                </a:moveTo>
                <a:lnTo>
                  <a:pt x="0" y="1091"/>
                </a:lnTo>
                <a:lnTo>
                  <a:pt x="734" y="562"/>
                </a:lnTo>
                <a:lnTo>
                  <a:pt x="952" y="0"/>
                </a:lnTo>
                <a:lnTo>
                  <a:pt x="229" y="526"/>
                </a:lnTo>
                <a:close/>
              </a:path>
            </a:pathLst>
          </a:custGeom>
          <a:solidFill>
            <a:srgbClr val="FFCC00">
              <a:alpha val="92155"/>
            </a:srgbClr>
          </a:solidFill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6" name="Text Box 24"/>
          <p:cNvSpPr txBox="1">
            <a:spLocks noChangeArrowheads="1"/>
          </p:cNvSpPr>
          <p:nvPr/>
        </p:nvSpPr>
        <p:spPr bwMode="auto">
          <a:xfrm>
            <a:off x="3460750" y="2733675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7177" name="Line 25"/>
          <p:cNvSpPr>
            <a:spLocks noChangeShapeType="1"/>
          </p:cNvSpPr>
          <p:nvPr/>
        </p:nvSpPr>
        <p:spPr bwMode="auto">
          <a:xfrm>
            <a:off x="4527550" y="2449513"/>
            <a:ext cx="314325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8" name="Line 26"/>
          <p:cNvSpPr>
            <a:spLocks noChangeShapeType="1"/>
          </p:cNvSpPr>
          <p:nvPr/>
        </p:nvSpPr>
        <p:spPr bwMode="auto">
          <a:xfrm flipV="1">
            <a:off x="3940175" y="2443163"/>
            <a:ext cx="59690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9" name="Line 27"/>
          <p:cNvSpPr>
            <a:spLocks noChangeShapeType="1"/>
          </p:cNvSpPr>
          <p:nvPr/>
        </p:nvSpPr>
        <p:spPr bwMode="auto">
          <a:xfrm>
            <a:off x="3944938" y="2835275"/>
            <a:ext cx="32385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80" name="Oval 28"/>
          <p:cNvSpPr>
            <a:spLocks noChangeArrowheads="1"/>
          </p:cNvSpPr>
          <p:nvPr/>
        </p:nvSpPr>
        <p:spPr bwMode="auto">
          <a:xfrm>
            <a:off x="3894138" y="2781300"/>
            <a:ext cx="139700" cy="1365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7181" name="Text Box 29"/>
          <p:cNvSpPr txBox="1">
            <a:spLocks noChangeArrowheads="1"/>
          </p:cNvSpPr>
          <p:nvPr/>
        </p:nvSpPr>
        <p:spPr bwMode="auto">
          <a:xfrm>
            <a:off x="3703638" y="2305050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8461" name="Text Box 30"/>
          <p:cNvSpPr txBox="1">
            <a:spLocks noChangeArrowheads="1"/>
          </p:cNvSpPr>
          <p:nvPr/>
        </p:nvSpPr>
        <p:spPr bwMode="auto">
          <a:xfrm>
            <a:off x="4135438" y="28829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</a:p>
        </p:txBody>
      </p:sp>
      <p:sp>
        <p:nvSpPr>
          <p:cNvPr id="177183" name="Text Box 31" descr="紫色网格"/>
          <p:cNvSpPr txBox="1">
            <a:spLocks noChangeArrowheads="1"/>
          </p:cNvSpPr>
          <p:nvPr/>
        </p:nvSpPr>
        <p:spPr bwMode="auto">
          <a:xfrm>
            <a:off x="1050925" y="320675"/>
            <a:ext cx="55165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3600" i="0" baseline="0">
                <a:ea typeface="黑体" pitchFamily="2" charset="-122"/>
              </a:rPr>
              <a:t>点的二次换面</a:t>
            </a:r>
            <a:r>
              <a:rPr lang="zh-CN" altLang="en-US" sz="3600" i="0" baseline="0">
                <a:ea typeface="黑体" pitchFamily="2" charset="-122"/>
              </a:rPr>
              <a:t>的空间分析</a:t>
            </a:r>
          </a:p>
        </p:txBody>
      </p:sp>
      <p:sp>
        <p:nvSpPr>
          <p:cNvPr id="18463" name="Oval 32"/>
          <p:cNvSpPr>
            <a:spLocks noChangeArrowheads="1"/>
          </p:cNvSpPr>
          <p:nvPr/>
        </p:nvSpPr>
        <p:spPr bwMode="auto">
          <a:xfrm>
            <a:off x="4159250" y="3284538"/>
            <a:ext cx="157163" cy="166687"/>
          </a:xfrm>
          <a:prstGeom prst="ellipse">
            <a:avLst/>
          </a:prstGeom>
          <a:gradFill rotWithShape="0">
            <a:gsLst>
              <a:gs pos="0">
                <a:srgbClr val="3399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8464" name="Oval 33"/>
          <p:cNvSpPr>
            <a:spLocks noChangeArrowheads="1"/>
          </p:cNvSpPr>
          <p:nvPr/>
        </p:nvSpPr>
        <p:spPr bwMode="auto">
          <a:xfrm>
            <a:off x="2836863" y="2971800"/>
            <a:ext cx="157162" cy="15716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7186" name="Oval 34"/>
          <p:cNvSpPr>
            <a:spLocks noChangeArrowheads="1"/>
          </p:cNvSpPr>
          <p:nvPr/>
        </p:nvSpPr>
        <p:spPr bwMode="auto">
          <a:xfrm>
            <a:off x="4764088" y="2898775"/>
            <a:ext cx="146050" cy="1349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8466" name="Oval 35"/>
          <p:cNvSpPr>
            <a:spLocks noChangeArrowheads="1"/>
          </p:cNvSpPr>
          <p:nvPr/>
        </p:nvSpPr>
        <p:spPr bwMode="auto">
          <a:xfrm>
            <a:off x="4183063" y="4392613"/>
            <a:ext cx="157162" cy="15716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7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7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17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63" grpId="0" build="p" autoUpdateAnimBg="0"/>
      <p:bldP spid="177164" grpId="0" build="p" autoUpdateAnimBg="0"/>
      <p:bldP spid="177171" grpId="0" animBg="1"/>
      <p:bldP spid="177172" grpId="0" animBg="1"/>
      <p:bldP spid="177173" grpId="0" build="p" autoUpdateAnimBg="0" advAuto="0"/>
      <p:bldP spid="177174" grpId="0" animBg="1"/>
      <p:bldP spid="177175" grpId="0" animBg="1"/>
      <p:bldP spid="177176" grpId="0" autoUpdateAnimBg="0"/>
      <p:bldP spid="177177" grpId="0" animBg="1"/>
      <p:bldP spid="177178" grpId="0" animBg="1"/>
      <p:bldP spid="177179" grpId="0" animBg="1"/>
      <p:bldP spid="177180" grpId="0" animBg="1"/>
      <p:bldP spid="177181" grpId="0" autoUpdateAnimBg="0"/>
      <p:bldP spid="177183" grpId="0"/>
      <p:bldP spid="17718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383D9C-4615-408E-B213-5E3CB9AEB980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9538" y="787400"/>
            <a:ext cx="3025775" cy="3041650"/>
            <a:chOff x="751" y="562"/>
            <a:chExt cx="1906" cy="1916"/>
          </a:xfrm>
        </p:grpSpPr>
        <p:sp>
          <p:nvSpPr>
            <p:cNvPr id="19481" name="Line 3"/>
            <p:cNvSpPr>
              <a:spLocks noChangeShapeType="1"/>
            </p:cNvSpPr>
            <p:nvPr/>
          </p:nvSpPr>
          <p:spPr bwMode="auto">
            <a:xfrm>
              <a:off x="963" y="1694"/>
              <a:ext cx="1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Line 4"/>
            <p:cNvSpPr>
              <a:spLocks noChangeShapeType="1"/>
            </p:cNvSpPr>
            <p:nvPr/>
          </p:nvSpPr>
          <p:spPr bwMode="auto">
            <a:xfrm>
              <a:off x="1748" y="821"/>
              <a:ext cx="0" cy="14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Oval 5"/>
            <p:cNvSpPr>
              <a:spLocks noChangeArrowheads="1"/>
            </p:cNvSpPr>
            <p:nvPr/>
          </p:nvSpPr>
          <p:spPr bwMode="auto">
            <a:xfrm>
              <a:off x="1683" y="777"/>
              <a:ext cx="120" cy="120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19484" name="Text Box 6"/>
            <p:cNvSpPr txBox="1">
              <a:spLocks noChangeArrowheads="1"/>
            </p:cNvSpPr>
            <p:nvPr/>
          </p:nvSpPr>
          <p:spPr bwMode="auto">
            <a:xfrm>
              <a:off x="751" y="1538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19485" name="Text Box 7"/>
            <p:cNvSpPr txBox="1">
              <a:spLocks noChangeArrowheads="1"/>
            </p:cNvSpPr>
            <p:nvPr/>
          </p:nvSpPr>
          <p:spPr bwMode="auto">
            <a:xfrm>
              <a:off x="931" y="1405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19486" name="Text Box 8"/>
            <p:cNvSpPr txBox="1">
              <a:spLocks noChangeArrowheads="1"/>
            </p:cNvSpPr>
            <p:nvPr/>
          </p:nvSpPr>
          <p:spPr bwMode="auto">
            <a:xfrm>
              <a:off x="923" y="168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  <p:sp>
          <p:nvSpPr>
            <p:cNvPr id="19487" name="Text Box 9"/>
            <p:cNvSpPr txBox="1">
              <a:spLocks noChangeArrowheads="1"/>
            </p:cNvSpPr>
            <p:nvPr/>
          </p:nvSpPr>
          <p:spPr bwMode="auto">
            <a:xfrm>
              <a:off x="1465" y="56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19488" name="Text Box 10"/>
            <p:cNvSpPr txBox="1">
              <a:spLocks noChangeArrowheads="1"/>
            </p:cNvSpPr>
            <p:nvPr/>
          </p:nvSpPr>
          <p:spPr bwMode="auto">
            <a:xfrm>
              <a:off x="1468" y="215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19489" name="Oval 11"/>
            <p:cNvSpPr>
              <a:spLocks noChangeArrowheads="1"/>
            </p:cNvSpPr>
            <p:nvPr/>
          </p:nvSpPr>
          <p:spPr bwMode="auto">
            <a:xfrm>
              <a:off x="1688" y="2217"/>
              <a:ext cx="120" cy="120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</p:grpSp>
      <p:sp>
        <p:nvSpPr>
          <p:cNvPr id="178188" name="Text Box 12" descr="紫色网格"/>
          <p:cNvSpPr txBox="1">
            <a:spLocks noChangeArrowheads="1"/>
          </p:cNvSpPr>
          <p:nvPr/>
        </p:nvSpPr>
        <p:spPr bwMode="auto">
          <a:xfrm>
            <a:off x="469900" y="365125"/>
            <a:ext cx="3143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 baseline="0">
                <a:ea typeface="黑体" pitchFamily="2" charset="-122"/>
              </a:rPr>
              <a:t>投影分析</a:t>
            </a:r>
          </a:p>
        </p:txBody>
      </p:sp>
      <p:sp>
        <p:nvSpPr>
          <p:cNvPr id="178189" name="Line 13"/>
          <p:cNvSpPr>
            <a:spLocks noChangeShapeType="1"/>
          </p:cNvSpPr>
          <p:nvPr/>
        </p:nvSpPr>
        <p:spPr bwMode="auto">
          <a:xfrm>
            <a:off x="3043238" y="3565525"/>
            <a:ext cx="1955800" cy="95091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0" name="Line 14"/>
          <p:cNvSpPr>
            <a:spLocks noChangeShapeType="1"/>
          </p:cNvSpPr>
          <p:nvPr/>
        </p:nvSpPr>
        <p:spPr bwMode="auto">
          <a:xfrm flipH="1">
            <a:off x="3259138" y="3109913"/>
            <a:ext cx="965200" cy="18732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1" name="Line 15"/>
          <p:cNvSpPr>
            <a:spLocks noChangeShapeType="1"/>
          </p:cNvSpPr>
          <p:nvPr/>
        </p:nvSpPr>
        <p:spPr bwMode="auto">
          <a:xfrm>
            <a:off x="5397500" y="2971800"/>
            <a:ext cx="1457325" cy="175895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2" name="Line 16"/>
          <p:cNvSpPr>
            <a:spLocks noChangeShapeType="1"/>
          </p:cNvSpPr>
          <p:nvPr/>
        </p:nvSpPr>
        <p:spPr bwMode="auto">
          <a:xfrm flipV="1">
            <a:off x="5041900" y="3101975"/>
            <a:ext cx="1701800" cy="140335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3" name="Oval 17"/>
          <p:cNvSpPr>
            <a:spLocks noChangeArrowheads="1"/>
          </p:cNvSpPr>
          <p:nvPr/>
        </p:nvSpPr>
        <p:spPr bwMode="auto">
          <a:xfrm>
            <a:off x="6640513" y="2995613"/>
            <a:ext cx="211137" cy="211137"/>
          </a:xfrm>
          <a:prstGeom prst="ellipse">
            <a:avLst/>
          </a:prstGeom>
          <a:gradFill rotWithShape="0">
            <a:gsLst>
              <a:gs pos="0">
                <a:srgbClr val="3399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8194" name="Oval 18"/>
          <p:cNvSpPr>
            <a:spLocks noChangeArrowheads="1"/>
          </p:cNvSpPr>
          <p:nvPr/>
        </p:nvSpPr>
        <p:spPr bwMode="auto">
          <a:xfrm>
            <a:off x="4918075" y="4398963"/>
            <a:ext cx="201613" cy="201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8195" name="Text Box 19"/>
          <p:cNvSpPr txBox="1">
            <a:spLocks noChangeArrowheads="1"/>
          </p:cNvSpPr>
          <p:nvPr/>
        </p:nvSpPr>
        <p:spPr bwMode="auto">
          <a:xfrm>
            <a:off x="2878138" y="48942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8196" name="Text Box 20"/>
          <p:cNvSpPr txBox="1">
            <a:spLocks noChangeArrowheads="1"/>
          </p:cNvSpPr>
          <p:nvPr/>
        </p:nvSpPr>
        <p:spPr bwMode="auto">
          <a:xfrm>
            <a:off x="6778625" y="46529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00"/>
                </a:solidFill>
              </a:rPr>
              <a:t>X</a:t>
            </a:r>
            <a:r>
              <a:rPr lang="en-US" altLang="zh-CN" sz="2000" i="0" baseline="0">
                <a:solidFill>
                  <a:srgbClr val="003300"/>
                </a:solidFill>
              </a:rPr>
              <a:t>2</a:t>
            </a:r>
            <a:endParaRPr lang="en-US" altLang="zh-CN" sz="2800" i="0" baseline="0">
              <a:solidFill>
                <a:srgbClr val="003300"/>
              </a:solidFill>
            </a:endParaRPr>
          </a:p>
        </p:txBody>
      </p:sp>
      <p:sp>
        <p:nvSpPr>
          <p:cNvPr id="178197" name="Text Box 21"/>
          <p:cNvSpPr txBox="1">
            <a:spLocks noChangeArrowheads="1"/>
          </p:cNvSpPr>
          <p:nvPr/>
        </p:nvSpPr>
        <p:spPr bwMode="auto">
          <a:xfrm>
            <a:off x="2878138" y="452596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78198" name="Text Box 22"/>
          <p:cNvSpPr txBox="1">
            <a:spLocks noChangeArrowheads="1"/>
          </p:cNvSpPr>
          <p:nvPr/>
        </p:nvSpPr>
        <p:spPr bwMode="auto">
          <a:xfrm>
            <a:off x="3325813" y="4695825"/>
            <a:ext cx="528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8199" name="Text Box 23"/>
          <p:cNvSpPr txBox="1">
            <a:spLocks noChangeArrowheads="1"/>
          </p:cNvSpPr>
          <p:nvPr/>
        </p:nvSpPr>
        <p:spPr bwMode="auto">
          <a:xfrm>
            <a:off x="6356350" y="4557713"/>
            <a:ext cx="528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8200" name="Text Box 24"/>
          <p:cNvSpPr txBox="1">
            <a:spLocks noChangeArrowheads="1"/>
          </p:cNvSpPr>
          <p:nvPr/>
        </p:nvSpPr>
        <p:spPr bwMode="auto">
          <a:xfrm>
            <a:off x="6816725" y="4302125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00"/>
                </a:solidFill>
              </a:rPr>
              <a:t>P</a:t>
            </a:r>
            <a:r>
              <a:rPr lang="en-US" altLang="zh-CN" sz="2000" i="0" baseline="0">
                <a:solidFill>
                  <a:srgbClr val="003300"/>
                </a:solidFill>
              </a:rPr>
              <a:t>2</a:t>
            </a:r>
            <a:endParaRPr lang="en-US" altLang="zh-CN" sz="2800" i="0" baseline="0">
              <a:solidFill>
                <a:srgbClr val="003300"/>
              </a:solidFill>
            </a:endParaRPr>
          </a:p>
        </p:txBody>
      </p:sp>
      <p:sp>
        <p:nvSpPr>
          <p:cNvPr id="178201" name="Text Box 25"/>
          <p:cNvSpPr txBox="1">
            <a:spLocks noChangeArrowheads="1"/>
          </p:cNvSpPr>
          <p:nvPr/>
        </p:nvSpPr>
        <p:spPr bwMode="auto">
          <a:xfrm>
            <a:off x="4805363" y="4433888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8202" name="Text Box 26"/>
          <p:cNvSpPr txBox="1">
            <a:spLocks noChangeArrowheads="1"/>
          </p:cNvSpPr>
          <p:nvPr/>
        </p:nvSpPr>
        <p:spPr bwMode="auto">
          <a:xfrm>
            <a:off x="6856413" y="2736850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00"/>
                </a:solidFill>
              </a:rPr>
              <a:t>a</a:t>
            </a:r>
            <a:r>
              <a:rPr lang="en-US" altLang="zh-CN" sz="2000" i="0" baseline="0">
                <a:solidFill>
                  <a:srgbClr val="003300"/>
                </a:solidFill>
              </a:rPr>
              <a:t>2</a:t>
            </a:r>
            <a:endParaRPr lang="en-US" altLang="zh-CN" sz="2800" i="0" baseline="0">
              <a:solidFill>
                <a:srgbClr val="003300"/>
              </a:solidFill>
            </a:endParaRPr>
          </a:p>
        </p:txBody>
      </p:sp>
      <p:sp>
        <p:nvSpPr>
          <p:cNvPr id="178203" name="AutoShape 27"/>
          <p:cNvSpPr>
            <a:spLocks noChangeArrowheads="1"/>
          </p:cNvSpPr>
          <p:nvPr/>
        </p:nvSpPr>
        <p:spPr bwMode="auto">
          <a:xfrm rot="1460322">
            <a:off x="4287838" y="4011613"/>
            <a:ext cx="74612" cy="346075"/>
          </a:xfrm>
          <a:prstGeom prst="triangle">
            <a:avLst>
              <a:gd name="adj" fmla="val 50000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8204" name="AutoShape 28"/>
          <p:cNvSpPr>
            <a:spLocks noChangeArrowheads="1"/>
          </p:cNvSpPr>
          <p:nvPr/>
        </p:nvSpPr>
        <p:spPr bwMode="auto">
          <a:xfrm rot="5089494">
            <a:off x="2971801" y="1989137"/>
            <a:ext cx="74612" cy="354013"/>
          </a:xfrm>
          <a:prstGeom prst="triangle">
            <a:avLst>
              <a:gd name="adj" fmla="val 50000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8205" name="Line 29"/>
          <p:cNvSpPr>
            <a:spLocks noChangeShapeType="1"/>
          </p:cNvSpPr>
          <p:nvPr/>
        </p:nvSpPr>
        <p:spPr bwMode="auto">
          <a:xfrm>
            <a:off x="6346825" y="3262313"/>
            <a:ext cx="100013" cy="2413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6" name="Line 30"/>
          <p:cNvSpPr>
            <a:spLocks noChangeShapeType="1"/>
          </p:cNvSpPr>
          <p:nvPr/>
        </p:nvSpPr>
        <p:spPr bwMode="auto">
          <a:xfrm rot="2717797">
            <a:off x="3439319" y="3674269"/>
            <a:ext cx="100012" cy="2413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7" name="Text Box 31"/>
          <p:cNvSpPr txBox="1">
            <a:spLocks noChangeArrowheads="1"/>
          </p:cNvSpPr>
          <p:nvPr/>
        </p:nvSpPr>
        <p:spPr bwMode="auto">
          <a:xfrm>
            <a:off x="1927225" y="5808663"/>
            <a:ext cx="12001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注意</a:t>
            </a:r>
            <a:r>
              <a:rPr kumimoji="1" lang="en-US" altLang="zh-CN" sz="32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178208" name="Text Box 32"/>
          <p:cNvSpPr txBox="1">
            <a:spLocks noChangeArrowheads="1"/>
          </p:cNvSpPr>
          <p:nvPr/>
        </p:nvSpPr>
        <p:spPr bwMode="auto">
          <a:xfrm>
            <a:off x="3279775" y="5803900"/>
            <a:ext cx="4330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必须依次更换投影面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7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0"/>
                                        <p:tgtEl>
                                          <p:spTgt spid="17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7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75"/>
                                        <p:tgtEl>
                                          <p:spTgt spid="178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8" grpId="0"/>
      <p:bldP spid="178189" grpId="0" animBg="1"/>
      <p:bldP spid="178190" grpId="0" animBg="1"/>
      <p:bldP spid="178191" grpId="0" animBg="1"/>
      <p:bldP spid="178192" grpId="0" animBg="1"/>
      <p:bldP spid="178193" grpId="0" animBg="1"/>
      <p:bldP spid="178194" grpId="0" animBg="1"/>
      <p:bldP spid="178195" grpId="0" autoUpdateAnimBg="0"/>
      <p:bldP spid="178196" grpId="0" autoUpdateAnimBg="0"/>
      <p:bldP spid="178197" grpId="0" build="p" autoUpdateAnimBg="0"/>
      <p:bldP spid="178198" grpId="0" build="p" autoUpdateAnimBg="0"/>
      <p:bldP spid="178199" grpId="0" build="p" autoUpdateAnimBg="0"/>
      <p:bldP spid="178200" grpId="0" build="p" autoUpdateAnimBg="0"/>
      <p:bldP spid="178201" grpId="0" build="p" autoUpdateAnimBg="0" advAuto="0"/>
      <p:bldP spid="178202" grpId="0" build="p" autoUpdateAnimBg="0" advAuto="0"/>
      <p:bldP spid="178203" grpId="0" animBg="1"/>
      <p:bldP spid="178204" grpId="0" animBg="1"/>
      <p:bldP spid="178205" grpId="0" animBg="1"/>
      <p:bldP spid="178206" grpId="0" animBg="1"/>
      <p:bldP spid="178207" grpId="0" autoUpdateAnimBg="0"/>
      <p:bldP spid="17820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4BD30-D4CA-4818-AD09-0ACD0186055C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79202" name="Text Box 2" descr="紫色网格"/>
          <p:cNvSpPr txBox="1">
            <a:spLocks noChangeArrowheads="1"/>
          </p:cNvSpPr>
          <p:nvPr/>
        </p:nvSpPr>
        <p:spPr bwMode="auto">
          <a:xfrm>
            <a:off x="211138" y="174625"/>
            <a:ext cx="498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0" baseline="0">
                <a:latin typeface="黑体" pitchFamily="2" charset="-122"/>
                <a:ea typeface="黑体" pitchFamily="2" charset="-122"/>
              </a:rPr>
              <a:t>4.4  </a:t>
            </a: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四个基本作图问题</a:t>
            </a: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1062038" y="1065213"/>
            <a:ext cx="7273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将一般位置直线变换成投影面平行线</a:t>
            </a:r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300038" y="1196975"/>
            <a:ext cx="457200" cy="304800"/>
          </a:xfrm>
          <a:prstGeom prst="rect">
            <a:avLst/>
          </a:prstGeom>
          <a:gradFill rotWithShape="0">
            <a:gsLst>
              <a:gs pos="0">
                <a:srgbClr val="76765E"/>
              </a:gs>
              <a:gs pos="5000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33575" y="1782763"/>
            <a:ext cx="5353050" cy="4057650"/>
            <a:chOff x="818" y="744"/>
            <a:chExt cx="3372" cy="2556"/>
          </a:xfrm>
        </p:grpSpPr>
        <p:sp>
          <p:nvSpPr>
            <p:cNvPr id="20526" name="Freeform 6"/>
            <p:cNvSpPr>
              <a:spLocks/>
            </p:cNvSpPr>
            <p:nvPr/>
          </p:nvSpPr>
          <p:spPr bwMode="auto">
            <a:xfrm>
              <a:off x="818" y="744"/>
              <a:ext cx="902" cy="2554"/>
            </a:xfrm>
            <a:custGeom>
              <a:avLst/>
              <a:gdLst>
                <a:gd name="T0" fmla="*/ 0 w 902"/>
                <a:gd name="T1" fmla="*/ 908 h 2554"/>
                <a:gd name="T2" fmla="*/ 0 w 902"/>
                <a:gd name="T3" fmla="*/ 2554 h 2554"/>
                <a:gd name="T4" fmla="*/ 902 w 902"/>
                <a:gd name="T5" fmla="*/ 1640 h 2554"/>
                <a:gd name="T6" fmla="*/ 902 w 902"/>
                <a:gd name="T7" fmla="*/ 0 h 2554"/>
                <a:gd name="T8" fmla="*/ 0 w 902"/>
                <a:gd name="T9" fmla="*/ 908 h 25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2"/>
                <a:gd name="T16" fmla="*/ 0 h 2554"/>
                <a:gd name="T17" fmla="*/ 902 w 902"/>
                <a:gd name="T18" fmla="*/ 2554 h 25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2" h="2554">
                  <a:moveTo>
                    <a:pt x="0" y="908"/>
                  </a:moveTo>
                  <a:lnTo>
                    <a:pt x="0" y="2554"/>
                  </a:lnTo>
                  <a:lnTo>
                    <a:pt x="902" y="1640"/>
                  </a:lnTo>
                  <a:lnTo>
                    <a:pt x="902" y="0"/>
                  </a:lnTo>
                  <a:lnTo>
                    <a:pt x="0" y="908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38100" cmpd="sng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Freeform 7"/>
            <p:cNvSpPr>
              <a:spLocks/>
            </p:cNvSpPr>
            <p:nvPr/>
          </p:nvSpPr>
          <p:spPr bwMode="auto">
            <a:xfrm>
              <a:off x="846" y="2382"/>
              <a:ext cx="3344" cy="918"/>
            </a:xfrm>
            <a:custGeom>
              <a:avLst/>
              <a:gdLst>
                <a:gd name="T0" fmla="*/ 0 w 3344"/>
                <a:gd name="T1" fmla="*/ 918 h 918"/>
                <a:gd name="T2" fmla="*/ 2445 w 3344"/>
                <a:gd name="T3" fmla="*/ 906 h 918"/>
                <a:gd name="T4" fmla="*/ 3344 w 3344"/>
                <a:gd name="T5" fmla="*/ 9 h 918"/>
                <a:gd name="T6" fmla="*/ 880 w 3344"/>
                <a:gd name="T7" fmla="*/ 0 h 918"/>
                <a:gd name="T8" fmla="*/ 0 w 3344"/>
                <a:gd name="T9" fmla="*/ 918 h 9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44"/>
                <a:gd name="T16" fmla="*/ 0 h 918"/>
                <a:gd name="T17" fmla="*/ 3344 w 3344"/>
                <a:gd name="T18" fmla="*/ 918 h 9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44" h="918">
                  <a:moveTo>
                    <a:pt x="0" y="918"/>
                  </a:moveTo>
                  <a:lnTo>
                    <a:pt x="2445" y="906"/>
                  </a:lnTo>
                  <a:lnTo>
                    <a:pt x="3344" y="9"/>
                  </a:lnTo>
                  <a:lnTo>
                    <a:pt x="880" y="0"/>
                  </a:lnTo>
                  <a:lnTo>
                    <a:pt x="0" y="918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38100" cmpd="sng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1916113" y="30861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V</a:t>
            </a:r>
          </a:p>
        </p:txBody>
      </p:sp>
      <p:sp>
        <p:nvSpPr>
          <p:cNvPr id="179209" name="Text Box 9"/>
          <p:cNvSpPr txBox="1">
            <a:spLocks noChangeArrowheads="1"/>
          </p:cNvSpPr>
          <p:nvPr/>
        </p:nvSpPr>
        <p:spPr bwMode="auto">
          <a:xfrm>
            <a:off x="5548313" y="5356225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333399"/>
                </a:solidFill>
              </a:rPr>
              <a:t>H</a:t>
            </a:r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1530350" y="56769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X</a:t>
            </a:r>
          </a:p>
        </p:txBody>
      </p:sp>
      <p:sp>
        <p:nvSpPr>
          <p:cNvPr id="179211" name="Freeform 11"/>
          <p:cNvSpPr>
            <a:spLocks/>
          </p:cNvSpPr>
          <p:nvPr/>
        </p:nvSpPr>
        <p:spPr bwMode="auto">
          <a:xfrm>
            <a:off x="4424363" y="1982788"/>
            <a:ext cx="1752600" cy="3465512"/>
          </a:xfrm>
          <a:custGeom>
            <a:avLst/>
            <a:gdLst>
              <a:gd name="T0" fmla="*/ 0 w 1104"/>
              <a:gd name="T1" fmla="*/ 0 h 2183"/>
              <a:gd name="T2" fmla="*/ 0 w 1104"/>
              <a:gd name="T3" fmla="*/ 2147483647 h 2183"/>
              <a:gd name="T4" fmla="*/ 2147483647 w 1104"/>
              <a:gd name="T5" fmla="*/ 2147483647 h 2183"/>
              <a:gd name="T6" fmla="*/ 2147483647 w 1104"/>
              <a:gd name="T7" fmla="*/ 1572577273 h 2183"/>
              <a:gd name="T8" fmla="*/ 0 w 1104"/>
              <a:gd name="T9" fmla="*/ 0 h 2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2183"/>
              <a:gd name="T17" fmla="*/ 1104 w 1104"/>
              <a:gd name="T18" fmla="*/ 2183 h 2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2183">
                <a:moveTo>
                  <a:pt x="0" y="0"/>
                </a:moveTo>
                <a:lnTo>
                  <a:pt x="0" y="1546"/>
                </a:lnTo>
                <a:lnTo>
                  <a:pt x="1104" y="2183"/>
                </a:lnTo>
                <a:lnTo>
                  <a:pt x="1104" y="624"/>
                </a:lnTo>
                <a:lnTo>
                  <a:pt x="0" y="0"/>
                </a:lnTo>
                <a:close/>
              </a:path>
            </a:pathLst>
          </a:custGeom>
          <a:solidFill>
            <a:srgbClr val="FFFF66">
              <a:alpha val="50195"/>
            </a:srgbClr>
          </a:solidFill>
          <a:ln w="28575" cmpd="sng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2" name="Rectangle 12"/>
          <p:cNvSpPr>
            <a:spLocks noChangeArrowheads="1"/>
          </p:cNvSpPr>
          <p:nvPr/>
        </p:nvSpPr>
        <p:spPr bwMode="auto">
          <a:xfrm>
            <a:off x="5668963" y="2792413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79213" name="Line 13"/>
          <p:cNvSpPr>
            <a:spLocks noChangeShapeType="1"/>
          </p:cNvSpPr>
          <p:nvPr/>
        </p:nvSpPr>
        <p:spPr bwMode="auto">
          <a:xfrm flipV="1">
            <a:off x="5345113" y="4019550"/>
            <a:ext cx="427037" cy="23018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4" name="Line 14"/>
          <p:cNvSpPr>
            <a:spLocks noChangeShapeType="1"/>
          </p:cNvSpPr>
          <p:nvPr/>
        </p:nvSpPr>
        <p:spPr bwMode="auto">
          <a:xfrm flipV="1">
            <a:off x="5749925" y="4019550"/>
            <a:ext cx="6350" cy="1176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5" name="Line 15"/>
          <p:cNvSpPr>
            <a:spLocks noChangeShapeType="1"/>
          </p:cNvSpPr>
          <p:nvPr/>
        </p:nvSpPr>
        <p:spPr bwMode="auto">
          <a:xfrm flipH="1" flipV="1">
            <a:off x="4460875" y="2541588"/>
            <a:ext cx="1301750" cy="1446212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6" name="Line 16"/>
          <p:cNvSpPr>
            <a:spLocks noChangeShapeType="1"/>
          </p:cNvSpPr>
          <p:nvPr/>
        </p:nvSpPr>
        <p:spPr bwMode="auto">
          <a:xfrm flipV="1">
            <a:off x="4056063" y="2608263"/>
            <a:ext cx="417512" cy="22383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7" name="Line 17"/>
          <p:cNvSpPr>
            <a:spLocks noChangeShapeType="1"/>
          </p:cNvSpPr>
          <p:nvPr/>
        </p:nvSpPr>
        <p:spPr bwMode="auto">
          <a:xfrm flipV="1">
            <a:off x="5305425" y="5183188"/>
            <a:ext cx="442913" cy="2381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8" name="Line 18"/>
          <p:cNvSpPr>
            <a:spLocks noChangeShapeType="1"/>
          </p:cNvSpPr>
          <p:nvPr/>
        </p:nvSpPr>
        <p:spPr bwMode="auto">
          <a:xfrm flipV="1">
            <a:off x="4059238" y="4457700"/>
            <a:ext cx="430212" cy="23018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9" name="Line 19"/>
          <p:cNvSpPr>
            <a:spLocks noChangeShapeType="1"/>
          </p:cNvSpPr>
          <p:nvPr/>
        </p:nvSpPr>
        <p:spPr bwMode="auto">
          <a:xfrm flipV="1">
            <a:off x="4473575" y="2606675"/>
            <a:ext cx="6350" cy="1855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20" name="Text Box 20"/>
          <p:cNvSpPr txBox="1">
            <a:spLocks noChangeArrowheads="1"/>
          </p:cNvSpPr>
          <p:nvPr/>
        </p:nvSpPr>
        <p:spPr bwMode="auto">
          <a:xfrm>
            <a:off x="6119813" y="5368925"/>
            <a:ext cx="568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9221" name="Text Box 21"/>
          <p:cNvSpPr txBox="1">
            <a:spLocks noChangeArrowheads="1"/>
          </p:cNvSpPr>
          <p:nvPr/>
        </p:nvSpPr>
        <p:spPr bwMode="auto">
          <a:xfrm>
            <a:off x="4519613" y="2263775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9222" name="Text Box 22"/>
          <p:cNvSpPr txBox="1">
            <a:spLocks noChangeArrowheads="1"/>
          </p:cNvSpPr>
          <p:nvPr/>
        </p:nvSpPr>
        <p:spPr bwMode="auto">
          <a:xfrm>
            <a:off x="5653088" y="3497263"/>
            <a:ext cx="509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79223" name="Oval 23"/>
          <p:cNvSpPr>
            <a:spLocks noChangeArrowheads="1"/>
          </p:cNvSpPr>
          <p:nvPr/>
        </p:nvSpPr>
        <p:spPr bwMode="auto">
          <a:xfrm>
            <a:off x="4378325" y="2505075"/>
            <a:ext cx="192088" cy="1920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79224" name="Oval 24"/>
          <p:cNvSpPr>
            <a:spLocks noChangeArrowheads="1"/>
          </p:cNvSpPr>
          <p:nvPr/>
        </p:nvSpPr>
        <p:spPr bwMode="auto">
          <a:xfrm>
            <a:off x="5664200" y="3943350"/>
            <a:ext cx="192088" cy="1920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938338" y="2374900"/>
            <a:ext cx="3662362" cy="3465513"/>
            <a:chOff x="821" y="1117"/>
            <a:chExt cx="2307" cy="2183"/>
          </a:xfrm>
        </p:grpSpPr>
        <p:sp>
          <p:nvSpPr>
            <p:cNvPr id="20506" name="Line 26"/>
            <p:cNvSpPr>
              <a:spLocks noChangeShapeType="1"/>
            </p:cNvSpPr>
            <p:nvPr/>
          </p:nvSpPr>
          <p:spPr bwMode="auto">
            <a:xfrm flipH="1">
              <a:off x="1062" y="2309"/>
              <a:ext cx="1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507" name="Group 27"/>
            <p:cNvGrpSpPr>
              <a:grpSpLocks/>
            </p:cNvGrpSpPr>
            <p:nvPr/>
          </p:nvGrpSpPr>
          <p:grpSpPr bwMode="auto">
            <a:xfrm>
              <a:off x="821" y="1117"/>
              <a:ext cx="2307" cy="2183"/>
              <a:chOff x="821" y="1117"/>
              <a:chExt cx="2307" cy="2183"/>
            </a:xfrm>
          </p:grpSpPr>
          <p:sp>
            <p:nvSpPr>
              <p:cNvPr id="20508" name="Text Box 28"/>
              <p:cNvSpPr txBox="1">
                <a:spLocks noChangeArrowheads="1"/>
              </p:cNvSpPr>
              <p:nvPr/>
            </p:nvSpPr>
            <p:spPr bwMode="auto">
              <a:xfrm>
                <a:off x="1971" y="1117"/>
                <a:ext cx="27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</a:t>
                </a:r>
              </a:p>
            </p:txBody>
          </p:sp>
          <p:sp>
            <p:nvSpPr>
              <p:cNvPr id="20509" name="Text Box 29"/>
              <p:cNvSpPr txBox="1">
                <a:spLocks noChangeArrowheads="1"/>
              </p:cNvSpPr>
              <p:nvPr/>
            </p:nvSpPr>
            <p:spPr bwMode="auto">
              <a:xfrm>
                <a:off x="1973" y="246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</a:t>
                </a:r>
              </a:p>
            </p:txBody>
          </p:sp>
          <p:sp>
            <p:nvSpPr>
              <p:cNvPr id="20510" name="Text Box 30"/>
              <p:cNvSpPr txBox="1">
                <a:spLocks noChangeArrowheads="1"/>
              </p:cNvSpPr>
              <p:nvPr/>
            </p:nvSpPr>
            <p:spPr bwMode="auto">
              <a:xfrm>
                <a:off x="2807" y="2973"/>
                <a:ext cx="25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</a:t>
                </a:r>
              </a:p>
            </p:txBody>
          </p:sp>
          <p:sp>
            <p:nvSpPr>
              <p:cNvPr id="20511" name="Text Box 31"/>
              <p:cNvSpPr txBox="1">
                <a:spLocks noChangeArrowheads="1"/>
              </p:cNvSpPr>
              <p:nvPr/>
            </p:nvSpPr>
            <p:spPr bwMode="auto">
              <a:xfrm>
                <a:off x="1344" y="1150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a'</a:t>
                </a:r>
              </a:p>
            </p:txBody>
          </p:sp>
          <p:sp>
            <p:nvSpPr>
              <p:cNvPr id="20512" name="Text Box 32"/>
              <p:cNvSpPr txBox="1">
                <a:spLocks noChangeArrowheads="1"/>
              </p:cNvSpPr>
              <p:nvPr/>
            </p:nvSpPr>
            <p:spPr bwMode="auto">
              <a:xfrm>
                <a:off x="821" y="2118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b'</a:t>
                </a:r>
              </a:p>
            </p:txBody>
          </p:sp>
          <p:sp>
            <p:nvSpPr>
              <p:cNvPr id="20513" name="Text Box 33"/>
              <p:cNvSpPr txBox="1">
                <a:spLocks noChangeArrowheads="1"/>
              </p:cNvSpPr>
              <p:nvPr/>
            </p:nvSpPr>
            <p:spPr bwMode="auto">
              <a:xfrm>
                <a:off x="2863" y="1988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B</a:t>
                </a:r>
              </a:p>
            </p:txBody>
          </p:sp>
          <p:grpSp>
            <p:nvGrpSpPr>
              <p:cNvPr id="20514" name="Group 34"/>
              <p:cNvGrpSpPr>
                <a:grpSpLocks/>
              </p:cNvGrpSpPr>
              <p:nvPr/>
            </p:nvGrpSpPr>
            <p:grpSpPr bwMode="auto">
              <a:xfrm>
                <a:off x="1052" y="1391"/>
                <a:ext cx="1912" cy="1644"/>
                <a:chOff x="1052" y="1391"/>
                <a:chExt cx="1912" cy="1644"/>
              </a:xfrm>
            </p:grpSpPr>
            <p:grpSp>
              <p:nvGrpSpPr>
                <p:cNvPr id="20515" name="Group 35"/>
                <p:cNvGrpSpPr>
                  <a:grpSpLocks/>
                </p:cNvGrpSpPr>
                <p:nvPr/>
              </p:nvGrpSpPr>
              <p:grpSpPr bwMode="auto">
                <a:xfrm>
                  <a:off x="1052" y="1391"/>
                  <a:ext cx="1912" cy="1644"/>
                  <a:chOff x="1052" y="1391"/>
                  <a:chExt cx="1912" cy="1644"/>
                </a:xfrm>
              </p:grpSpPr>
              <p:sp>
                <p:nvSpPr>
                  <p:cNvPr id="20517" name="Line 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2" y="1401"/>
                    <a:ext cx="469" cy="916"/>
                  </a:xfrm>
                  <a:prstGeom prst="lin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18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51" y="1396"/>
                    <a:ext cx="0" cy="1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19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61" y="3035"/>
                    <a:ext cx="189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0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5" y="1391"/>
                    <a:ext cx="0" cy="117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160" y="2556"/>
                    <a:ext cx="784" cy="467"/>
                  </a:xfrm>
                  <a:prstGeom prst="lin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2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17" y="2571"/>
                    <a:ext cx="6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3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07" y="1399"/>
                    <a:ext cx="6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4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158" y="1401"/>
                    <a:ext cx="806" cy="907"/>
                  </a:xfrm>
                  <a:prstGeom prst="line">
                    <a:avLst/>
                  </a:prstGeom>
                  <a:noFill/>
                  <a:ln w="5715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25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64" y="2312"/>
                    <a:ext cx="0" cy="72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516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944" y="2296"/>
                  <a:ext cx="0" cy="7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79246" name="Text Box 46"/>
          <p:cNvSpPr txBox="1">
            <a:spLocks noChangeArrowheads="1"/>
          </p:cNvSpPr>
          <p:nvPr/>
        </p:nvSpPr>
        <p:spPr bwMode="auto">
          <a:xfrm>
            <a:off x="7086600" y="2409825"/>
            <a:ext cx="1816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一次换面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17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7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10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79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9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 autoUpdateAnimBg="0"/>
      <p:bldP spid="179204" grpId="0" animBg="1"/>
      <p:bldP spid="179208" grpId="0"/>
      <p:bldP spid="179209" grpId="0"/>
      <p:bldP spid="179210" grpId="0"/>
      <p:bldP spid="179211" grpId="0" animBg="1"/>
      <p:bldP spid="179212" grpId="0" autoUpdateAnimBg="0"/>
      <p:bldP spid="179213" grpId="0" animBg="1"/>
      <p:bldP spid="179214" grpId="0" animBg="1"/>
      <p:bldP spid="179215" grpId="0" animBg="1"/>
      <p:bldP spid="179216" grpId="0" animBg="1"/>
      <p:bldP spid="179217" grpId="0" animBg="1"/>
      <p:bldP spid="179218" grpId="0" animBg="1"/>
      <p:bldP spid="179219" grpId="0" animBg="1"/>
      <p:bldP spid="179220" grpId="0" autoUpdateAnimBg="0"/>
      <p:bldP spid="179221" grpId="0" build="p" autoUpdateAnimBg="0" advAuto="0"/>
      <p:bldP spid="179222" grpId="0" build="p" autoUpdateAnimBg="0" advAuto="0"/>
      <p:bldP spid="179223" grpId="0" animBg="1"/>
      <p:bldP spid="179224" grpId="0" animBg="1"/>
      <p:bldP spid="17924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2B270E-9085-498A-A725-CB3467C65DD8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57698" name="Text Box 2"/>
          <p:cNvSpPr txBox="1">
            <a:spLocks noChangeArrowheads="1"/>
          </p:cNvSpPr>
          <p:nvPr/>
        </p:nvSpPr>
        <p:spPr bwMode="auto">
          <a:xfrm>
            <a:off x="4097338" y="708025"/>
            <a:ext cx="49323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例 求</a:t>
            </a:r>
            <a:r>
              <a:rPr lang="en-US" altLang="zh-CN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实长及对</a:t>
            </a:r>
            <a:r>
              <a:rPr lang="en-US" altLang="zh-CN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面倾角</a:t>
            </a:r>
          </a:p>
        </p:txBody>
      </p:sp>
      <p:sp>
        <p:nvSpPr>
          <p:cNvPr id="157699" name="Line 3"/>
          <p:cNvSpPr>
            <a:spLocks noChangeShapeType="1"/>
          </p:cNvSpPr>
          <p:nvPr/>
        </p:nvSpPr>
        <p:spPr bwMode="auto">
          <a:xfrm flipH="1">
            <a:off x="5529263" y="3656013"/>
            <a:ext cx="2128837" cy="2192337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0" name="Line 4"/>
          <p:cNvSpPr>
            <a:spLocks noChangeShapeType="1"/>
          </p:cNvSpPr>
          <p:nvPr/>
        </p:nvSpPr>
        <p:spPr bwMode="auto">
          <a:xfrm>
            <a:off x="7004050" y="3733800"/>
            <a:ext cx="1231900" cy="1154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1" name="Line 5"/>
          <p:cNvSpPr>
            <a:spLocks noChangeShapeType="1"/>
          </p:cNvSpPr>
          <p:nvPr/>
        </p:nvSpPr>
        <p:spPr bwMode="auto">
          <a:xfrm>
            <a:off x="5764213" y="4975225"/>
            <a:ext cx="588962" cy="550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2" name="Line 6"/>
          <p:cNvSpPr>
            <a:spLocks noChangeShapeType="1"/>
          </p:cNvSpPr>
          <p:nvPr/>
        </p:nvSpPr>
        <p:spPr bwMode="auto">
          <a:xfrm flipV="1">
            <a:off x="6340475" y="4886325"/>
            <a:ext cx="1901825" cy="64452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3" name="Line 7"/>
          <p:cNvSpPr>
            <a:spLocks noChangeShapeType="1"/>
          </p:cNvSpPr>
          <p:nvPr/>
        </p:nvSpPr>
        <p:spPr bwMode="auto">
          <a:xfrm flipV="1">
            <a:off x="6346825" y="4684713"/>
            <a:ext cx="808038" cy="836612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5114925" y="57324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990033"/>
                </a:solidFill>
              </a:rPr>
              <a:t>X</a:t>
            </a:r>
            <a:r>
              <a:rPr lang="en-US" altLang="zh-CN" sz="2000" i="0" baseline="0">
                <a:solidFill>
                  <a:srgbClr val="990033"/>
                </a:solidFill>
              </a:rPr>
              <a:t>1</a:t>
            </a:r>
            <a:endParaRPr lang="en-US" altLang="zh-CN" sz="2800" i="0" baseline="0">
              <a:solidFill>
                <a:srgbClr val="990033"/>
              </a:solidFill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6119813" y="5380038"/>
            <a:ext cx="509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990033"/>
                </a:solidFill>
              </a:rPr>
              <a:t>b</a:t>
            </a:r>
            <a:r>
              <a:rPr lang="en-US" altLang="zh-CN" sz="2000" i="0" baseline="0">
                <a:solidFill>
                  <a:srgbClr val="990033"/>
                </a:solidFill>
              </a:rPr>
              <a:t>1</a:t>
            </a:r>
            <a:endParaRPr lang="en-US" altLang="zh-CN" sz="2800" i="0" baseline="0">
              <a:solidFill>
                <a:srgbClr val="990033"/>
              </a:solidFill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8199438" y="4702175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990033"/>
                </a:solidFill>
              </a:rPr>
              <a:t>a</a:t>
            </a:r>
            <a:r>
              <a:rPr lang="en-US" altLang="zh-CN" sz="2000" i="0" baseline="0">
                <a:solidFill>
                  <a:srgbClr val="990033"/>
                </a:solidFill>
              </a:rPr>
              <a:t>1</a:t>
            </a:r>
            <a:endParaRPr lang="en-US" altLang="zh-CN" sz="2800" i="0" baseline="0">
              <a:solidFill>
                <a:srgbClr val="990033"/>
              </a:solidFill>
            </a:endParaRPr>
          </a:p>
        </p:txBody>
      </p:sp>
      <p:sp>
        <p:nvSpPr>
          <p:cNvPr id="157707" name="Arc 11"/>
          <p:cNvSpPr>
            <a:spLocks/>
          </p:cNvSpPr>
          <p:nvPr/>
        </p:nvSpPr>
        <p:spPr bwMode="auto">
          <a:xfrm>
            <a:off x="7007225" y="4841875"/>
            <a:ext cx="288925" cy="346075"/>
          </a:xfrm>
          <a:custGeom>
            <a:avLst/>
            <a:gdLst>
              <a:gd name="T0" fmla="*/ 0 w 21600"/>
              <a:gd name="T1" fmla="*/ 0 h 21600"/>
              <a:gd name="T2" fmla="*/ 51694916 w 21600"/>
              <a:gd name="T3" fmla="*/ 88838894 h 21600"/>
              <a:gd name="T4" fmla="*/ 0 w 21600"/>
              <a:gd name="T5" fmla="*/ 88838894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6742113" y="4826000"/>
            <a:ext cx="40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</a:t>
            </a:r>
          </a:p>
        </p:txBody>
      </p:sp>
      <p:sp>
        <p:nvSpPr>
          <p:cNvPr id="157709" name="Line 13"/>
          <p:cNvSpPr>
            <a:spLocks noChangeShapeType="1"/>
          </p:cNvSpPr>
          <p:nvPr/>
        </p:nvSpPr>
        <p:spPr bwMode="auto">
          <a:xfrm>
            <a:off x="7500938" y="5162550"/>
            <a:ext cx="87312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7267575" y="53848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ea typeface="黑体" pitchFamily="2" charset="-122"/>
              </a:rPr>
              <a:t>实长</a:t>
            </a:r>
          </a:p>
        </p:txBody>
      </p:sp>
      <p:sp>
        <p:nvSpPr>
          <p:cNvPr id="157711" name="Line 15"/>
          <p:cNvSpPr>
            <a:spLocks noChangeShapeType="1"/>
          </p:cNvSpPr>
          <p:nvPr/>
        </p:nvSpPr>
        <p:spPr bwMode="auto">
          <a:xfrm flipV="1">
            <a:off x="6146800" y="5359400"/>
            <a:ext cx="114300" cy="1031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2" name="Line 16"/>
          <p:cNvSpPr>
            <a:spLocks noChangeShapeType="1"/>
          </p:cNvSpPr>
          <p:nvPr/>
        </p:nvSpPr>
        <p:spPr bwMode="auto">
          <a:xfrm rot="1555387" flipV="1">
            <a:off x="5715000" y="3038475"/>
            <a:ext cx="114300" cy="1031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5170488" y="537210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5530850" y="5692775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990033"/>
                </a:solidFill>
              </a:rPr>
              <a:t>P</a:t>
            </a:r>
            <a:r>
              <a:rPr lang="en-US" altLang="zh-CN" sz="2000" i="0" baseline="0">
                <a:solidFill>
                  <a:srgbClr val="990033"/>
                </a:solidFill>
              </a:rPr>
              <a:t>1</a:t>
            </a:r>
            <a:endParaRPr lang="en-US" altLang="zh-CN" sz="2800" i="0" baseline="0">
              <a:solidFill>
                <a:srgbClr val="990033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4708525" y="1720850"/>
            <a:ext cx="3406775" cy="3497263"/>
            <a:chOff x="117" y="1295"/>
            <a:chExt cx="2146" cy="2203"/>
          </a:xfrm>
        </p:grpSpPr>
        <p:sp>
          <p:nvSpPr>
            <p:cNvPr id="21570" name="Line 20"/>
            <p:cNvSpPr>
              <a:spLocks noChangeShapeType="1"/>
            </p:cNvSpPr>
            <p:nvPr/>
          </p:nvSpPr>
          <p:spPr bwMode="auto">
            <a:xfrm flipV="1">
              <a:off x="791" y="1509"/>
              <a:ext cx="772" cy="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1" name="Line 21"/>
            <p:cNvSpPr>
              <a:spLocks noChangeShapeType="1"/>
            </p:cNvSpPr>
            <p:nvPr/>
          </p:nvSpPr>
          <p:spPr bwMode="auto">
            <a:xfrm>
              <a:off x="1563" y="1509"/>
              <a:ext cx="0" cy="10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2" name="Line 22"/>
            <p:cNvSpPr>
              <a:spLocks noChangeShapeType="1"/>
            </p:cNvSpPr>
            <p:nvPr/>
          </p:nvSpPr>
          <p:spPr bwMode="auto">
            <a:xfrm>
              <a:off x="782" y="2072"/>
              <a:ext cx="0" cy="1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3" name="Text Box 23"/>
            <p:cNvSpPr txBox="1">
              <a:spLocks noChangeArrowheads="1"/>
            </p:cNvSpPr>
            <p:nvPr/>
          </p:nvSpPr>
          <p:spPr bwMode="auto">
            <a:xfrm>
              <a:off x="561" y="1862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1574" name="Text Box 24"/>
            <p:cNvSpPr txBox="1">
              <a:spLocks noChangeArrowheads="1"/>
            </p:cNvSpPr>
            <p:nvPr/>
          </p:nvSpPr>
          <p:spPr bwMode="auto">
            <a:xfrm>
              <a:off x="1536" y="1295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1575" name="Text Box 25"/>
            <p:cNvSpPr txBox="1">
              <a:spLocks noChangeArrowheads="1"/>
            </p:cNvSpPr>
            <p:nvPr/>
          </p:nvSpPr>
          <p:spPr bwMode="auto">
            <a:xfrm>
              <a:off x="560" y="317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1576" name="Text Box 26"/>
            <p:cNvSpPr txBox="1">
              <a:spLocks noChangeArrowheads="1"/>
            </p:cNvSpPr>
            <p:nvPr/>
          </p:nvSpPr>
          <p:spPr bwMode="auto">
            <a:xfrm>
              <a:off x="1578" y="229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1577" name="Text Box 27"/>
            <p:cNvSpPr txBox="1">
              <a:spLocks noChangeArrowheads="1"/>
            </p:cNvSpPr>
            <p:nvPr/>
          </p:nvSpPr>
          <p:spPr bwMode="auto">
            <a:xfrm>
              <a:off x="1973" y="2161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O</a:t>
              </a:r>
            </a:p>
          </p:txBody>
        </p:sp>
        <p:sp>
          <p:nvSpPr>
            <p:cNvPr id="21578" name="Line 28"/>
            <p:cNvSpPr>
              <a:spLocks noChangeShapeType="1"/>
            </p:cNvSpPr>
            <p:nvPr/>
          </p:nvSpPr>
          <p:spPr bwMode="auto">
            <a:xfrm>
              <a:off x="367" y="2311"/>
              <a:ext cx="16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9" name="Text Box 29"/>
            <p:cNvSpPr txBox="1">
              <a:spLocks noChangeArrowheads="1"/>
            </p:cNvSpPr>
            <p:nvPr/>
          </p:nvSpPr>
          <p:spPr bwMode="auto">
            <a:xfrm>
              <a:off x="294" y="2020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21580" name="Text Box 30"/>
            <p:cNvSpPr txBox="1">
              <a:spLocks noChangeArrowheads="1"/>
            </p:cNvSpPr>
            <p:nvPr/>
          </p:nvSpPr>
          <p:spPr bwMode="auto">
            <a:xfrm>
              <a:off x="290" y="2283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  <p:sp>
          <p:nvSpPr>
            <p:cNvPr id="21581" name="Text Box 31"/>
            <p:cNvSpPr txBox="1">
              <a:spLocks noChangeArrowheads="1"/>
            </p:cNvSpPr>
            <p:nvPr/>
          </p:nvSpPr>
          <p:spPr bwMode="auto">
            <a:xfrm>
              <a:off x="117" y="2154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21582" name="Line 32"/>
            <p:cNvSpPr>
              <a:spLocks noChangeShapeType="1"/>
            </p:cNvSpPr>
            <p:nvPr/>
          </p:nvSpPr>
          <p:spPr bwMode="auto">
            <a:xfrm flipV="1">
              <a:off x="785" y="2546"/>
              <a:ext cx="778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7580313" y="4338638"/>
            <a:ext cx="274637" cy="141287"/>
            <a:chOff x="1926" y="2944"/>
            <a:chExt cx="173" cy="89"/>
          </a:xfrm>
        </p:grpSpPr>
        <p:sp>
          <p:nvSpPr>
            <p:cNvPr id="21568" name="Line 34"/>
            <p:cNvSpPr>
              <a:spLocks noChangeShapeType="1"/>
            </p:cNvSpPr>
            <p:nvPr/>
          </p:nvSpPr>
          <p:spPr bwMode="auto">
            <a:xfrm flipV="1">
              <a:off x="1926" y="2944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9" name="Line 35"/>
            <p:cNvSpPr>
              <a:spLocks noChangeShapeType="1"/>
            </p:cNvSpPr>
            <p:nvPr/>
          </p:nvSpPr>
          <p:spPr bwMode="auto">
            <a:xfrm flipV="1">
              <a:off x="1951" y="2963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6869113" y="2620963"/>
            <a:ext cx="274637" cy="141287"/>
            <a:chOff x="1926" y="2944"/>
            <a:chExt cx="173" cy="89"/>
          </a:xfrm>
        </p:grpSpPr>
        <p:sp>
          <p:nvSpPr>
            <p:cNvPr id="21566" name="Line 37"/>
            <p:cNvSpPr>
              <a:spLocks noChangeShapeType="1"/>
            </p:cNvSpPr>
            <p:nvPr/>
          </p:nvSpPr>
          <p:spPr bwMode="auto">
            <a:xfrm flipV="1">
              <a:off x="1926" y="2944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7" name="Line 38"/>
            <p:cNvSpPr>
              <a:spLocks noChangeShapeType="1"/>
            </p:cNvSpPr>
            <p:nvPr/>
          </p:nvSpPr>
          <p:spPr bwMode="auto">
            <a:xfrm flipV="1">
              <a:off x="1951" y="2963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527" name="Group 39"/>
          <p:cNvGrpSpPr>
            <a:grpSpLocks/>
          </p:cNvGrpSpPr>
          <p:nvPr/>
        </p:nvGrpSpPr>
        <p:grpSpPr bwMode="auto">
          <a:xfrm>
            <a:off x="0" y="141288"/>
            <a:ext cx="3981450" cy="3270250"/>
            <a:chOff x="220" y="943"/>
            <a:chExt cx="2653" cy="2204"/>
          </a:xfrm>
        </p:grpSpPr>
        <p:grpSp>
          <p:nvGrpSpPr>
            <p:cNvPr id="21528" name="Group 40"/>
            <p:cNvGrpSpPr>
              <a:grpSpLocks/>
            </p:cNvGrpSpPr>
            <p:nvPr/>
          </p:nvGrpSpPr>
          <p:grpSpPr bwMode="auto">
            <a:xfrm>
              <a:off x="367" y="943"/>
              <a:ext cx="2506" cy="1904"/>
              <a:chOff x="367" y="943"/>
              <a:chExt cx="2506" cy="1904"/>
            </a:xfrm>
          </p:grpSpPr>
          <p:sp>
            <p:nvSpPr>
              <p:cNvPr id="21564" name="Freeform 41"/>
              <p:cNvSpPr>
                <a:spLocks/>
              </p:cNvSpPr>
              <p:nvPr/>
            </p:nvSpPr>
            <p:spPr bwMode="auto">
              <a:xfrm>
                <a:off x="367" y="2183"/>
                <a:ext cx="2506" cy="664"/>
              </a:xfrm>
              <a:custGeom>
                <a:avLst/>
                <a:gdLst>
                  <a:gd name="T0" fmla="*/ 0 w 3369"/>
                  <a:gd name="T1" fmla="*/ 494 h 893"/>
                  <a:gd name="T2" fmla="*/ 1370 w 3369"/>
                  <a:gd name="T3" fmla="*/ 494 h 893"/>
                  <a:gd name="T4" fmla="*/ 1864 w 3369"/>
                  <a:gd name="T5" fmla="*/ 0 h 893"/>
                  <a:gd name="T6" fmla="*/ 494 w 3369"/>
                  <a:gd name="T7" fmla="*/ 0 h 893"/>
                  <a:gd name="T8" fmla="*/ 0 w 3369"/>
                  <a:gd name="T9" fmla="*/ 494 h 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9"/>
                  <a:gd name="T16" fmla="*/ 0 h 893"/>
                  <a:gd name="T17" fmla="*/ 3369 w 3369"/>
                  <a:gd name="T18" fmla="*/ 893 h 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9" h="893">
                    <a:moveTo>
                      <a:pt x="0" y="893"/>
                    </a:moveTo>
                    <a:lnTo>
                      <a:pt x="2476" y="893"/>
                    </a:lnTo>
                    <a:lnTo>
                      <a:pt x="3369" y="0"/>
                    </a:lnTo>
                    <a:lnTo>
                      <a:pt x="892" y="0"/>
                    </a:lnTo>
                    <a:lnTo>
                      <a:pt x="0" y="893"/>
                    </a:lnTo>
                    <a:close/>
                  </a:path>
                </a:pathLst>
              </a:custGeom>
              <a:solidFill>
                <a:srgbClr val="3399FF">
                  <a:alpha val="50195"/>
                </a:srgbClr>
              </a:solidFill>
              <a:ln w="28575" cmpd="sng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5" name="Freeform 42"/>
              <p:cNvSpPr>
                <a:spLocks/>
              </p:cNvSpPr>
              <p:nvPr/>
            </p:nvSpPr>
            <p:spPr bwMode="auto">
              <a:xfrm>
                <a:off x="372" y="943"/>
                <a:ext cx="667" cy="1895"/>
              </a:xfrm>
              <a:custGeom>
                <a:avLst/>
                <a:gdLst>
                  <a:gd name="T0" fmla="*/ 2 w 667"/>
                  <a:gd name="T1" fmla="*/ 664 h 1895"/>
                  <a:gd name="T2" fmla="*/ 0 w 667"/>
                  <a:gd name="T3" fmla="*/ 1895 h 1895"/>
                  <a:gd name="T4" fmla="*/ 667 w 667"/>
                  <a:gd name="T5" fmla="*/ 1221 h 1895"/>
                  <a:gd name="T6" fmla="*/ 667 w 667"/>
                  <a:gd name="T7" fmla="*/ 0 h 1895"/>
                  <a:gd name="T8" fmla="*/ 2 w 667"/>
                  <a:gd name="T9" fmla="*/ 664 h 18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7"/>
                  <a:gd name="T16" fmla="*/ 0 h 1895"/>
                  <a:gd name="T17" fmla="*/ 667 w 667"/>
                  <a:gd name="T18" fmla="*/ 1895 h 18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7" h="1895">
                    <a:moveTo>
                      <a:pt x="2" y="664"/>
                    </a:moveTo>
                    <a:lnTo>
                      <a:pt x="0" y="1895"/>
                    </a:lnTo>
                    <a:lnTo>
                      <a:pt x="667" y="1221"/>
                    </a:lnTo>
                    <a:lnTo>
                      <a:pt x="667" y="0"/>
                    </a:lnTo>
                    <a:lnTo>
                      <a:pt x="2" y="664"/>
                    </a:lnTo>
                    <a:close/>
                  </a:path>
                </a:pathLst>
              </a:custGeom>
              <a:solidFill>
                <a:srgbClr val="00CC99">
                  <a:alpha val="50195"/>
                </a:srgbClr>
              </a:solidFill>
              <a:ln w="28575" cmpd="sng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29" name="Text Box 43"/>
            <p:cNvSpPr txBox="1">
              <a:spLocks noChangeArrowheads="1"/>
            </p:cNvSpPr>
            <p:nvPr/>
          </p:nvSpPr>
          <p:spPr bwMode="auto">
            <a:xfrm>
              <a:off x="320" y="1538"/>
              <a:ext cx="295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6666"/>
                  </a:solidFill>
                </a:rPr>
                <a:t>V</a:t>
              </a:r>
            </a:p>
          </p:txBody>
        </p:sp>
        <p:sp>
          <p:nvSpPr>
            <p:cNvPr id="21530" name="Text Box 44"/>
            <p:cNvSpPr txBox="1">
              <a:spLocks noChangeArrowheads="1"/>
            </p:cNvSpPr>
            <p:nvPr/>
          </p:nvSpPr>
          <p:spPr bwMode="auto">
            <a:xfrm>
              <a:off x="2025" y="2564"/>
              <a:ext cx="30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333399"/>
                  </a:solidFill>
                </a:rPr>
                <a:t>H</a:t>
              </a:r>
            </a:p>
          </p:txBody>
        </p:sp>
        <p:sp>
          <p:nvSpPr>
            <p:cNvPr id="21531" name="Text Box 45"/>
            <p:cNvSpPr txBox="1">
              <a:spLocks noChangeArrowheads="1"/>
            </p:cNvSpPr>
            <p:nvPr/>
          </p:nvSpPr>
          <p:spPr bwMode="auto">
            <a:xfrm>
              <a:off x="220" y="2797"/>
              <a:ext cx="29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grpSp>
          <p:nvGrpSpPr>
            <p:cNvPr id="21532" name="Group 46"/>
            <p:cNvGrpSpPr>
              <a:grpSpLocks/>
            </p:cNvGrpSpPr>
            <p:nvPr/>
          </p:nvGrpSpPr>
          <p:grpSpPr bwMode="auto">
            <a:xfrm>
              <a:off x="1520" y="1046"/>
              <a:ext cx="892" cy="1624"/>
              <a:chOff x="1520" y="1046"/>
              <a:chExt cx="892" cy="1624"/>
            </a:xfrm>
          </p:grpSpPr>
          <p:sp>
            <p:nvSpPr>
              <p:cNvPr id="21562" name="Freeform 47"/>
              <p:cNvSpPr>
                <a:spLocks/>
              </p:cNvSpPr>
              <p:nvPr/>
            </p:nvSpPr>
            <p:spPr bwMode="auto">
              <a:xfrm>
                <a:off x="1520" y="1046"/>
                <a:ext cx="821" cy="1624"/>
              </a:xfrm>
              <a:custGeom>
                <a:avLst/>
                <a:gdLst>
                  <a:gd name="T0" fmla="*/ 0 w 1104"/>
                  <a:gd name="T1" fmla="*/ 0 h 2183"/>
                  <a:gd name="T2" fmla="*/ 0 w 1104"/>
                  <a:gd name="T3" fmla="*/ 856 h 2183"/>
                  <a:gd name="T4" fmla="*/ 611 w 1104"/>
                  <a:gd name="T5" fmla="*/ 1208 h 2183"/>
                  <a:gd name="T6" fmla="*/ 611 w 1104"/>
                  <a:gd name="T7" fmla="*/ 345 h 2183"/>
                  <a:gd name="T8" fmla="*/ 0 w 1104"/>
                  <a:gd name="T9" fmla="*/ 0 h 21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4"/>
                  <a:gd name="T16" fmla="*/ 0 h 2183"/>
                  <a:gd name="T17" fmla="*/ 1104 w 1104"/>
                  <a:gd name="T18" fmla="*/ 2183 h 21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4" h="2183">
                    <a:moveTo>
                      <a:pt x="0" y="0"/>
                    </a:moveTo>
                    <a:lnTo>
                      <a:pt x="0" y="1546"/>
                    </a:lnTo>
                    <a:lnTo>
                      <a:pt x="1104" y="2183"/>
                    </a:lnTo>
                    <a:lnTo>
                      <a:pt x="1104" y="6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66">
                  <a:alpha val="50195"/>
                </a:srgbClr>
              </a:solidFill>
              <a:ln w="28575" cmpd="sng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3" name="Rectangle 48"/>
              <p:cNvSpPr>
                <a:spLocks noChangeArrowheads="1"/>
              </p:cNvSpPr>
              <p:nvPr/>
            </p:nvSpPr>
            <p:spPr bwMode="auto">
              <a:xfrm>
                <a:off x="2059" y="1382"/>
                <a:ext cx="353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>
                    <a:solidFill>
                      <a:srgbClr val="A50021"/>
                    </a:solidFill>
                  </a:rPr>
                  <a:t>P</a:t>
                </a:r>
                <a:r>
                  <a:rPr lang="en-US" altLang="zh-CN" sz="2000" i="0" baseline="0">
                    <a:solidFill>
                      <a:srgbClr val="A50021"/>
                    </a:solidFill>
                  </a:rPr>
                  <a:t>1</a:t>
                </a:r>
              </a:p>
            </p:txBody>
          </p:sp>
        </p:grpSp>
        <p:sp>
          <p:nvSpPr>
            <p:cNvPr id="21533" name="Line 49"/>
            <p:cNvSpPr>
              <a:spLocks noChangeShapeType="1"/>
            </p:cNvSpPr>
            <p:nvPr/>
          </p:nvSpPr>
          <p:spPr bwMode="auto">
            <a:xfrm flipH="1">
              <a:off x="544" y="1450"/>
              <a:ext cx="340" cy="67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Line 50"/>
            <p:cNvSpPr>
              <a:spLocks noChangeShapeType="1"/>
            </p:cNvSpPr>
            <p:nvPr/>
          </p:nvSpPr>
          <p:spPr bwMode="auto">
            <a:xfrm flipV="1">
              <a:off x="1353" y="1446"/>
              <a:ext cx="0" cy="8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51"/>
            <p:cNvSpPr>
              <a:spLocks noChangeShapeType="1"/>
            </p:cNvSpPr>
            <p:nvPr/>
          </p:nvSpPr>
          <p:spPr bwMode="auto">
            <a:xfrm flipH="1">
              <a:off x="531" y="2125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Line 52"/>
            <p:cNvSpPr>
              <a:spLocks noChangeShapeType="1"/>
            </p:cNvSpPr>
            <p:nvPr/>
          </p:nvSpPr>
          <p:spPr bwMode="auto">
            <a:xfrm flipH="1">
              <a:off x="542" y="2665"/>
              <a:ext cx="1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Line 53"/>
            <p:cNvSpPr>
              <a:spLocks noChangeShapeType="1"/>
            </p:cNvSpPr>
            <p:nvPr/>
          </p:nvSpPr>
          <p:spPr bwMode="auto">
            <a:xfrm flipV="1">
              <a:off x="887" y="1442"/>
              <a:ext cx="0" cy="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54"/>
            <p:cNvSpPr>
              <a:spLocks noChangeShapeType="1"/>
            </p:cNvSpPr>
            <p:nvPr/>
          </p:nvSpPr>
          <p:spPr bwMode="auto">
            <a:xfrm flipV="1">
              <a:off x="541" y="2125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55"/>
            <p:cNvSpPr>
              <a:spLocks noChangeShapeType="1"/>
            </p:cNvSpPr>
            <p:nvPr/>
          </p:nvSpPr>
          <p:spPr bwMode="auto">
            <a:xfrm>
              <a:off x="1345" y="2309"/>
              <a:ext cx="616" cy="35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0" name="Line 56"/>
            <p:cNvSpPr>
              <a:spLocks noChangeShapeType="1"/>
            </p:cNvSpPr>
            <p:nvPr/>
          </p:nvSpPr>
          <p:spPr bwMode="auto">
            <a:xfrm flipH="1">
              <a:off x="881" y="2320"/>
              <a:ext cx="4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Line 57"/>
            <p:cNvSpPr>
              <a:spLocks noChangeShapeType="1"/>
            </p:cNvSpPr>
            <p:nvPr/>
          </p:nvSpPr>
          <p:spPr bwMode="auto">
            <a:xfrm flipH="1">
              <a:off x="874" y="1448"/>
              <a:ext cx="4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Text Box 58"/>
            <p:cNvSpPr txBox="1">
              <a:spLocks noChangeArrowheads="1"/>
            </p:cNvSpPr>
            <p:nvPr/>
          </p:nvSpPr>
          <p:spPr bwMode="auto">
            <a:xfrm>
              <a:off x="1190" y="1160"/>
              <a:ext cx="29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1543" name="Text Box 59"/>
            <p:cNvSpPr txBox="1">
              <a:spLocks noChangeArrowheads="1"/>
            </p:cNvSpPr>
            <p:nvPr/>
          </p:nvSpPr>
          <p:spPr bwMode="auto">
            <a:xfrm>
              <a:off x="1198" y="2226"/>
              <a:ext cx="24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1544" name="Text Box 60"/>
            <p:cNvSpPr txBox="1">
              <a:spLocks noChangeArrowheads="1"/>
            </p:cNvSpPr>
            <p:nvPr/>
          </p:nvSpPr>
          <p:spPr bwMode="auto">
            <a:xfrm>
              <a:off x="1811" y="2600"/>
              <a:ext cx="192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1545" name="Text Box 61"/>
            <p:cNvSpPr txBox="1">
              <a:spLocks noChangeArrowheads="1"/>
            </p:cNvSpPr>
            <p:nvPr/>
          </p:nvSpPr>
          <p:spPr bwMode="auto">
            <a:xfrm>
              <a:off x="698" y="1197"/>
              <a:ext cx="307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1546" name="Text Box 62"/>
            <p:cNvSpPr txBox="1">
              <a:spLocks noChangeArrowheads="1"/>
            </p:cNvSpPr>
            <p:nvPr/>
          </p:nvSpPr>
          <p:spPr bwMode="auto">
            <a:xfrm>
              <a:off x="316" y="1904"/>
              <a:ext cx="3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1547" name="Line 63"/>
            <p:cNvSpPr>
              <a:spLocks noChangeShapeType="1"/>
            </p:cNvSpPr>
            <p:nvPr/>
          </p:nvSpPr>
          <p:spPr bwMode="auto">
            <a:xfrm flipV="1">
              <a:off x="1955" y="2118"/>
              <a:ext cx="0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Text Box 64"/>
            <p:cNvSpPr txBox="1">
              <a:spLocks noChangeArrowheads="1"/>
            </p:cNvSpPr>
            <p:nvPr/>
          </p:nvSpPr>
          <p:spPr bwMode="auto">
            <a:xfrm>
              <a:off x="1899" y="2054"/>
              <a:ext cx="280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1549" name="Line 65"/>
            <p:cNvSpPr>
              <a:spLocks noChangeShapeType="1"/>
            </p:cNvSpPr>
            <p:nvPr/>
          </p:nvSpPr>
          <p:spPr bwMode="auto">
            <a:xfrm flipH="1" flipV="1">
              <a:off x="1358" y="1449"/>
              <a:ext cx="600" cy="675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0" name="Line 66"/>
            <p:cNvSpPr>
              <a:spLocks noChangeShapeType="1"/>
            </p:cNvSpPr>
            <p:nvPr/>
          </p:nvSpPr>
          <p:spPr bwMode="auto">
            <a:xfrm flipV="1">
              <a:off x="1960" y="2016"/>
              <a:ext cx="187" cy="101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1" name="Line 67"/>
            <p:cNvSpPr>
              <a:spLocks noChangeShapeType="1"/>
            </p:cNvSpPr>
            <p:nvPr/>
          </p:nvSpPr>
          <p:spPr bwMode="auto">
            <a:xfrm flipV="1">
              <a:off x="2150" y="2009"/>
              <a:ext cx="0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2" name="Line 68"/>
            <p:cNvSpPr>
              <a:spLocks noChangeShapeType="1"/>
            </p:cNvSpPr>
            <p:nvPr/>
          </p:nvSpPr>
          <p:spPr bwMode="auto">
            <a:xfrm flipH="1" flipV="1">
              <a:off x="1539" y="1354"/>
              <a:ext cx="617" cy="671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3" name="Line 69"/>
            <p:cNvSpPr>
              <a:spLocks noChangeShapeType="1"/>
            </p:cNvSpPr>
            <p:nvPr/>
          </p:nvSpPr>
          <p:spPr bwMode="auto">
            <a:xfrm flipV="1">
              <a:off x="1356" y="1352"/>
              <a:ext cx="187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4" name="Line 70"/>
            <p:cNvSpPr>
              <a:spLocks noChangeShapeType="1"/>
            </p:cNvSpPr>
            <p:nvPr/>
          </p:nvSpPr>
          <p:spPr bwMode="auto">
            <a:xfrm flipV="1">
              <a:off x="1962" y="2554"/>
              <a:ext cx="187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5" name="Line 71"/>
            <p:cNvSpPr>
              <a:spLocks noChangeShapeType="1"/>
            </p:cNvSpPr>
            <p:nvPr/>
          </p:nvSpPr>
          <p:spPr bwMode="auto">
            <a:xfrm flipV="1">
              <a:off x="1358" y="2204"/>
              <a:ext cx="186" cy="1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6" name="Line 72"/>
            <p:cNvSpPr>
              <a:spLocks noChangeShapeType="1"/>
            </p:cNvSpPr>
            <p:nvPr/>
          </p:nvSpPr>
          <p:spPr bwMode="auto">
            <a:xfrm flipV="1">
              <a:off x="1540" y="1361"/>
              <a:ext cx="0" cy="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69" name="Text Box 73"/>
            <p:cNvSpPr txBox="1">
              <a:spLocks noChangeArrowheads="1"/>
            </p:cNvSpPr>
            <p:nvPr/>
          </p:nvSpPr>
          <p:spPr bwMode="auto">
            <a:xfrm>
              <a:off x="2280" y="2630"/>
              <a:ext cx="381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kumimoji="1" lang="en-US" altLang="zh-CN" sz="28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21558" name="Text Box 74"/>
            <p:cNvSpPr txBox="1">
              <a:spLocks noChangeArrowheads="1"/>
            </p:cNvSpPr>
            <p:nvPr/>
          </p:nvSpPr>
          <p:spPr bwMode="auto">
            <a:xfrm>
              <a:off x="1561" y="1133"/>
              <a:ext cx="32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21559" name="Text Box 75"/>
            <p:cNvSpPr txBox="1">
              <a:spLocks noChangeArrowheads="1"/>
            </p:cNvSpPr>
            <p:nvPr/>
          </p:nvSpPr>
          <p:spPr bwMode="auto">
            <a:xfrm>
              <a:off x="2055" y="1710"/>
              <a:ext cx="340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b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21560" name="Oval 76"/>
            <p:cNvSpPr>
              <a:spLocks noChangeArrowheads="1"/>
            </p:cNvSpPr>
            <p:nvPr/>
          </p:nvSpPr>
          <p:spPr bwMode="auto">
            <a:xfrm>
              <a:off x="1507" y="1303"/>
              <a:ext cx="90" cy="90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21561" name="Oval 77"/>
            <p:cNvSpPr>
              <a:spLocks noChangeArrowheads="1"/>
            </p:cNvSpPr>
            <p:nvPr/>
          </p:nvSpPr>
          <p:spPr bwMode="auto">
            <a:xfrm>
              <a:off x="2101" y="1968"/>
              <a:ext cx="90" cy="90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7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57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7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57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57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autoUpdateAnimBg="0"/>
      <p:bldP spid="157699" grpId="0" animBg="1"/>
      <p:bldP spid="157700" grpId="0" animBg="1"/>
      <p:bldP spid="157701" grpId="0" animBg="1"/>
      <p:bldP spid="157702" grpId="0" animBg="1"/>
      <p:bldP spid="157703" grpId="0" animBg="1"/>
      <p:bldP spid="157704" grpId="0" autoUpdateAnimBg="0"/>
      <p:bldP spid="157705" grpId="0" build="p" autoUpdateAnimBg="0" advAuto="0"/>
      <p:bldP spid="157706" grpId="0" build="p" autoUpdateAnimBg="0" advAuto="0"/>
      <p:bldP spid="157707" grpId="0" animBg="1"/>
      <p:bldP spid="157708" grpId="0" build="p" autoUpdateAnimBg="0"/>
      <p:bldP spid="157709" grpId="0" animBg="1"/>
      <p:bldP spid="157710" grpId="0" build="p" autoUpdateAnimBg="0" advAuto="0"/>
      <p:bldP spid="157711" grpId="0" animBg="1"/>
      <p:bldP spid="157712" grpId="0" animBg="1"/>
      <p:bldP spid="157713" grpId="0" build="p" autoUpdateAnimBg="0"/>
      <p:bldP spid="15771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84CAD-FA77-48A3-BA29-1A26B4FCA411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22531" name="Freeform 2"/>
          <p:cNvSpPr>
            <a:spLocks/>
          </p:cNvSpPr>
          <p:nvPr/>
        </p:nvSpPr>
        <p:spPr bwMode="auto">
          <a:xfrm>
            <a:off x="715963" y="3810000"/>
            <a:ext cx="4040187" cy="1755775"/>
          </a:xfrm>
          <a:custGeom>
            <a:avLst/>
            <a:gdLst>
              <a:gd name="T0" fmla="*/ 0 w 2545"/>
              <a:gd name="T1" fmla="*/ 1832154388 h 1106"/>
              <a:gd name="T2" fmla="*/ 2147483647 w 2545"/>
              <a:gd name="T3" fmla="*/ 0 h 1106"/>
              <a:gd name="T4" fmla="*/ 2147483647 w 2545"/>
              <a:gd name="T5" fmla="*/ 972780313 h 1106"/>
              <a:gd name="T6" fmla="*/ 2147483647 w 2545"/>
              <a:gd name="T7" fmla="*/ 2147483647 h 1106"/>
              <a:gd name="T8" fmla="*/ 0 w 2545"/>
              <a:gd name="T9" fmla="*/ 1832154388 h 1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45"/>
              <a:gd name="T16" fmla="*/ 0 h 1106"/>
              <a:gd name="T17" fmla="*/ 2545 w 2545"/>
              <a:gd name="T18" fmla="*/ 1106 h 1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45" h="1106">
                <a:moveTo>
                  <a:pt x="0" y="727"/>
                </a:moveTo>
                <a:lnTo>
                  <a:pt x="945" y="0"/>
                </a:lnTo>
                <a:lnTo>
                  <a:pt x="2545" y="386"/>
                </a:lnTo>
                <a:lnTo>
                  <a:pt x="1600" y="1106"/>
                </a:lnTo>
                <a:lnTo>
                  <a:pt x="0" y="727"/>
                </a:lnTo>
                <a:close/>
              </a:path>
            </a:pathLst>
          </a:custGeom>
          <a:solidFill>
            <a:srgbClr val="3399FF">
              <a:alpha val="50195"/>
            </a:srgbClr>
          </a:solidFill>
          <a:ln w="19050" cap="flat" cmpd="sng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" name="Freeform 3"/>
          <p:cNvSpPr>
            <a:spLocks/>
          </p:cNvSpPr>
          <p:nvPr/>
        </p:nvSpPr>
        <p:spPr bwMode="auto">
          <a:xfrm>
            <a:off x="715963" y="1790700"/>
            <a:ext cx="1489075" cy="3151188"/>
          </a:xfrm>
          <a:custGeom>
            <a:avLst/>
            <a:gdLst>
              <a:gd name="T0" fmla="*/ 0 w 938"/>
              <a:gd name="T1" fmla="*/ 2147483647 h 1985"/>
              <a:gd name="T2" fmla="*/ 0 w 938"/>
              <a:gd name="T3" fmla="*/ 1796872485 h 1985"/>
              <a:gd name="T4" fmla="*/ 2147483647 w 938"/>
              <a:gd name="T5" fmla="*/ 0 h 1985"/>
              <a:gd name="T6" fmla="*/ 2147483647 w 938"/>
              <a:gd name="T7" fmla="*/ 2147483647 h 1985"/>
              <a:gd name="T8" fmla="*/ 0 w 938"/>
              <a:gd name="T9" fmla="*/ 2147483647 h 19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8"/>
              <a:gd name="T16" fmla="*/ 0 h 1985"/>
              <a:gd name="T17" fmla="*/ 938 w 938"/>
              <a:gd name="T18" fmla="*/ 1985 h 19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8" h="1985">
                <a:moveTo>
                  <a:pt x="0" y="1985"/>
                </a:moveTo>
                <a:lnTo>
                  <a:pt x="0" y="713"/>
                </a:lnTo>
                <a:lnTo>
                  <a:pt x="938" y="0"/>
                </a:lnTo>
                <a:lnTo>
                  <a:pt x="938" y="1265"/>
                </a:lnTo>
                <a:lnTo>
                  <a:pt x="0" y="1985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19050" cap="flat" cmpd="sng">
            <a:solidFill>
              <a:srgbClr val="00CC9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914400" y="244475"/>
            <a:ext cx="752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i="0" baseline="0">
                <a:latin typeface="黑体" pitchFamily="2" charset="-122"/>
                <a:ea typeface="黑体" pitchFamily="2" charset="-122"/>
              </a:rPr>
              <a:t>将一般位置直线变换成投影面垂直线</a:t>
            </a: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2687638" y="3629025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3335338" y="4694238"/>
            <a:ext cx="0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1046163" y="4133850"/>
            <a:ext cx="0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H="1" flipV="1">
            <a:off x="1041400" y="4694238"/>
            <a:ext cx="2293938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1349375" y="3287713"/>
            <a:ext cx="0" cy="1158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 flipH="1" flipV="1">
            <a:off x="1360488" y="3298825"/>
            <a:ext cx="1339850" cy="334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" name="Line 11"/>
          <p:cNvSpPr>
            <a:spLocks noChangeShapeType="1"/>
          </p:cNvSpPr>
          <p:nvPr/>
        </p:nvSpPr>
        <p:spPr bwMode="auto">
          <a:xfrm flipH="1" flipV="1">
            <a:off x="2668588" y="4732338"/>
            <a:ext cx="666750" cy="4953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 flipH="1" flipV="1">
            <a:off x="1336675" y="4457700"/>
            <a:ext cx="1350963" cy="312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" name="Line 13"/>
          <p:cNvSpPr>
            <a:spLocks noChangeShapeType="1"/>
          </p:cNvSpPr>
          <p:nvPr/>
        </p:nvSpPr>
        <p:spPr bwMode="auto">
          <a:xfrm flipH="1">
            <a:off x="1046163" y="3297238"/>
            <a:ext cx="301625" cy="89693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Text Box 14"/>
          <p:cNvSpPr txBox="1">
            <a:spLocks noChangeArrowheads="1"/>
          </p:cNvSpPr>
          <p:nvPr/>
        </p:nvSpPr>
        <p:spPr bwMode="auto">
          <a:xfrm>
            <a:off x="698500" y="2809875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V</a:t>
            </a:r>
          </a:p>
        </p:txBody>
      </p:sp>
      <p:sp>
        <p:nvSpPr>
          <p:cNvPr id="22544" name="Text Box 15"/>
          <p:cNvSpPr txBox="1">
            <a:spLocks noChangeArrowheads="1"/>
          </p:cNvSpPr>
          <p:nvPr/>
        </p:nvSpPr>
        <p:spPr bwMode="auto">
          <a:xfrm>
            <a:off x="2895600" y="51196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22545" name="Text Box 16"/>
          <p:cNvSpPr txBox="1">
            <a:spLocks noChangeArrowheads="1"/>
          </p:cNvSpPr>
          <p:nvPr/>
        </p:nvSpPr>
        <p:spPr bwMode="auto">
          <a:xfrm>
            <a:off x="341313" y="4714875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X</a:t>
            </a:r>
          </a:p>
        </p:txBody>
      </p:sp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4005263" y="4859338"/>
            <a:ext cx="568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56690" name="Text Box 18"/>
          <p:cNvSpPr txBox="1">
            <a:spLocks noChangeArrowheads="1"/>
          </p:cNvSpPr>
          <p:nvPr/>
        </p:nvSpPr>
        <p:spPr bwMode="auto">
          <a:xfrm>
            <a:off x="3090863" y="2135188"/>
            <a:ext cx="568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endParaRPr kumimoji="1" lang="en-US" altLang="zh-CN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548" name="Text Box 19"/>
          <p:cNvSpPr txBox="1">
            <a:spLocks noChangeArrowheads="1"/>
          </p:cNvSpPr>
          <p:nvPr/>
        </p:nvSpPr>
        <p:spPr bwMode="auto">
          <a:xfrm>
            <a:off x="3324225" y="4568825"/>
            <a:ext cx="42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B</a:t>
            </a:r>
          </a:p>
        </p:txBody>
      </p:sp>
      <p:sp>
        <p:nvSpPr>
          <p:cNvPr id="22549" name="Text Box 20"/>
          <p:cNvSpPr txBox="1">
            <a:spLocks noChangeArrowheads="1"/>
          </p:cNvSpPr>
          <p:nvPr/>
        </p:nvSpPr>
        <p:spPr bwMode="auto">
          <a:xfrm>
            <a:off x="2390775" y="45751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</a:p>
        </p:txBody>
      </p:sp>
      <p:sp>
        <p:nvSpPr>
          <p:cNvPr id="22550" name="Text Box 21"/>
          <p:cNvSpPr txBox="1">
            <a:spLocks noChangeArrowheads="1"/>
          </p:cNvSpPr>
          <p:nvPr/>
        </p:nvSpPr>
        <p:spPr bwMode="auto">
          <a:xfrm>
            <a:off x="3265488" y="51038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b</a:t>
            </a:r>
          </a:p>
        </p:txBody>
      </p:sp>
      <p:sp>
        <p:nvSpPr>
          <p:cNvPr id="22551" name="Text Box 22"/>
          <p:cNvSpPr txBox="1">
            <a:spLocks noChangeArrowheads="1"/>
          </p:cNvSpPr>
          <p:nvPr/>
        </p:nvSpPr>
        <p:spPr bwMode="auto">
          <a:xfrm>
            <a:off x="1123950" y="28559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a'</a:t>
            </a:r>
          </a:p>
        </p:txBody>
      </p:sp>
      <p:sp>
        <p:nvSpPr>
          <p:cNvPr id="22552" name="Text Box 23"/>
          <p:cNvSpPr txBox="1">
            <a:spLocks noChangeArrowheads="1"/>
          </p:cNvSpPr>
          <p:nvPr/>
        </p:nvSpPr>
        <p:spPr bwMode="auto">
          <a:xfrm>
            <a:off x="673100" y="3773488"/>
            <a:ext cx="481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b'</a:t>
            </a:r>
          </a:p>
        </p:txBody>
      </p:sp>
      <p:sp>
        <p:nvSpPr>
          <p:cNvPr id="22553" name="Text Box 24"/>
          <p:cNvSpPr txBox="1">
            <a:spLocks noChangeArrowheads="1"/>
          </p:cNvSpPr>
          <p:nvPr/>
        </p:nvSpPr>
        <p:spPr bwMode="auto">
          <a:xfrm>
            <a:off x="3163888" y="2816225"/>
            <a:ext cx="62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>
              <a:solidFill>
                <a:srgbClr val="A50021"/>
              </a:solidFill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797175" y="2309813"/>
            <a:ext cx="1346200" cy="2620962"/>
            <a:chOff x="1762" y="1455"/>
            <a:chExt cx="848" cy="1651"/>
          </a:xfrm>
        </p:grpSpPr>
        <p:sp>
          <p:nvSpPr>
            <p:cNvPr id="22616" name="Freeform 26"/>
            <p:cNvSpPr>
              <a:spLocks/>
            </p:cNvSpPr>
            <p:nvPr/>
          </p:nvSpPr>
          <p:spPr bwMode="auto">
            <a:xfrm>
              <a:off x="1762" y="1455"/>
              <a:ext cx="814" cy="1651"/>
            </a:xfrm>
            <a:custGeom>
              <a:avLst/>
              <a:gdLst>
                <a:gd name="T0" fmla="*/ 0 w 814"/>
                <a:gd name="T1" fmla="*/ 0 h 1651"/>
                <a:gd name="T2" fmla="*/ 0 w 814"/>
                <a:gd name="T3" fmla="*/ 1047 h 1651"/>
                <a:gd name="T4" fmla="*/ 814 w 814"/>
                <a:gd name="T5" fmla="*/ 1651 h 1651"/>
                <a:gd name="T6" fmla="*/ 814 w 814"/>
                <a:gd name="T7" fmla="*/ 603 h 1651"/>
                <a:gd name="T8" fmla="*/ 0 w 814"/>
                <a:gd name="T9" fmla="*/ 0 h 16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4"/>
                <a:gd name="T16" fmla="*/ 0 h 1651"/>
                <a:gd name="T17" fmla="*/ 814 w 814"/>
                <a:gd name="T18" fmla="*/ 1651 h 16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4" h="1651">
                  <a:moveTo>
                    <a:pt x="0" y="0"/>
                  </a:moveTo>
                  <a:lnTo>
                    <a:pt x="0" y="1047"/>
                  </a:lnTo>
                  <a:lnTo>
                    <a:pt x="814" y="1651"/>
                  </a:lnTo>
                  <a:lnTo>
                    <a:pt x="814" y="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99">
                <a:alpha val="50195"/>
              </a:srgbClr>
            </a:solidFill>
            <a:ln w="19050" cap="flat" cmpd="sng">
              <a:solidFill>
                <a:srgbClr val="FF9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7" name="Text Box 27"/>
            <p:cNvSpPr txBox="1">
              <a:spLocks noChangeArrowheads="1"/>
            </p:cNvSpPr>
            <p:nvPr/>
          </p:nvSpPr>
          <p:spPr bwMode="auto">
            <a:xfrm>
              <a:off x="2277" y="1954"/>
              <a:ext cx="3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P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chemeClr val="tx2"/>
                </a:solidFill>
              </a:endParaRPr>
            </a:p>
          </p:txBody>
        </p:sp>
      </p:grpSp>
      <p:sp>
        <p:nvSpPr>
          <p:cNvPr id="156700" name="Text Box 28"/>
          <p:cNvSpPr txBox="1">
            <a:spLocks noChangeArrowheads="1"/>
          </p:cNvSpPr>
          <p:nvPr/>
        </p:nvSpPr>
        <p:spPr bwMode="auto">
          <a:xfrm>
            <a:off x="3830638" y="3897313"/>
            <a:ext cx="509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6701" name="Line 29"/>
          <p:cNvSpPr>
            <a:spLocks noChangeShapeType="1"/>
          </p:cNvSpPr>
          <p:nvPr/>
        </p:nvSpPr>
        <p:spPr bwMode="auto">
          <a:xfrm flipV="1">
            <a:off x="3335338" y="4791075"/>
            <a:ext cx="584200" cy="425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2" name="Line 30"/>
          <p:cNvSpPr>
            <a:spLocks noChangeShapeType="1"/>
          </p:cNvSpPr>
          <p:nvPr/>
        </p:nvSpPr>
        <p:spPr bwMode="auto">
          <a:xfrm flipV="1">
            <a:off x="3354388" y="4298950"/>
            <a:ext cx="569912" cy="414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3" name="Line 31"/>
          <p:cNvSpPr>
            <a:spLocks noChangeShapeType="1"/>
          </p:cNvSpPr>
          <p:nvPr/>
        </p:nvSpPr>
        <p:spPr bwMode="auto">
          <a:xfrm flipV="1">
            <a:off x="2686050" y="4318000"/>
            <a:ext cx="579438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4" name="Line 32"/>
          <p:cNvSpPr>
            <a:spLocks noChangeShapeType="1"/>
          </p:cNvSpPr>
          <p:nvPr/>
        </p:nvSpPr>
        <p:spPr bwMode="auto">
          <a:xfrm flipV="1">
            <a:off x="2714625" y="3221038"/>
            <a:ext cx="560388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5" name="Line 33"/>
          <p:cNvSpPr>
            <a:spLocks noChangeShapeType="1"/>
          </p:cNvSpPr>
          <p:nvPr/>
        </p:nvSpPr>
        <p:spPr bwMode="auto">
          <a:xfrm>
            <a:off x="3265488" y="3205163"/>
            <a:ext cx="644525" cy="11112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6" name="Rectangle 34"/>
          <p:cNvSpPr>
            <a:spLocks noChangeArrowheads="1"/>
          </p:cNvSpPr>
          <p:nvPr/>
        </p:nvSpPr>
        <p:spPr bwMode="auto">
          <a:xfrm>
            <a:off x="3224213" y="2779713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56707" name="Line 35"/>
          <p:cNvSpPr>
            <a:spLocks noChangeShapeType="1"/>
          </p:cNvSpPr>
          <p:nvPr/>
        </p:nvSpPr>
        <p:spPr bwMode="auto">
          <a:xfrm flipV="1">
            <a:off x="3908425" y="4289425"/>
            <a:ext cx="0" cy="519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8" name="Line 36"/>
          <p:cNvSpPr>
            <a:spLocks noChangeShapeType="1"/>
          </p:cNvSpPr>
          <p:nvPr/>
        </p:nvSpPr>
        <p:spPr bwMode="auto">
          <a:xfrm flipV="1">
            <a:off x="3260725" y="3203575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9" name="Freeform 37"/>
          <p:cNvSpPr>
            <a:spLocks/>
          </p:cNvSpPr>
          <p:nvPr/>
        </p:nvSpPr>
        <p:spPr bwMode="auto">
          <a:xfrm>
            <a:off x="1638300" y="2247900"/>
            <a:ext cx="1511300" cy="1731963"/>
          </a:xfrm>
          <a:custGeom>
            <a:avLst/>
            <a:gdLst>
              <a:gd name="T0" fmla="*/ 577116575 w 952"/>
              <a:gd name="T1" fmla="*/ 1325602570 h 1091"/>
              <a:gd name="T2" fmla="*/ 0 w 952"/>
              <a:gd name="T3" fmla="*/ 2147483647 h 1091"/>
              <a:gd name="T4" fmla="*/ 1849794688 w 952"/>
              <a:gd name="T5" fmla="*/ 1416328221 h 1091"/>
              <a:gd name="T6" fmla="*/ 2147483647 w 952"/>
              <a:gd name="T7" fmla="*/ 0 h 1091"/>
              <a:gd name="T8" fmla="*/ 577116575 w 952"/>
              <a:gd name="T9" fmla="*/ 1325602570 h 10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52"/>
              <a:gd name="T16" fmla="*/ 0 h 1091"/>
              <a:gd name="T17" fmla="*/ 952 w 952"/>
              <a:gd name="T18" fmla="*/ 1091 h 10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52" h="1091">
                <a:moveTo>
                  <a:pt x="229" y="526"/>
                </a:moveTo>
                <a:lnTo>
                  <a:pt x="0" y="1091"/>
                </a:lnTo>
                <a:lnTo>
                  <a:pt x="734" y="562"/>
                </a:lnTo>
                <a:lnTo>
                  <a:pt x="952" y="0"/>
                </a:lnTo>
                <a:lnTo>
                  <a:pt x="229" y="526"/>
                </a:lnTo>
                <a:close/>
              </a:path>
            </a:pathLst>
          </a:custGeom>
          <a:solidFill>
            <a:srgbClr val="FFFF66">
              <a:alpha val="50195"/>
            </a:srgbClr>
          </a:solidFill>
          <a:ln w="19050" cap="flat" cmpd="sng">
            <a:solidFill>
              <a:srgbClr val="FFFF66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0" name="Text Box 38"/>
          <p:cNvSpPr txBox="1">
            <a:spLocks noChangeArrowheads="1"/>
          </p:cNvSpPr>
          <p:nvPr/>
        </p:nvSpPr>
        <p:spPr bwMode="auto">
          <a:xfrm>
            <a:off x="1890713" y="2992438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6711" name="Line 39"/>
          <p:cNvSpPr>
            <a:spLocks noChangeShapeType="1"/>
          </p:cNvSpPr>
          <p:nvPr/>
        </p:nvSpPr>
        <p:spPr bwMode="auto">
          <a:xfrm>
            <a:off x="2957513" y="2708275"/>
            <a:ext cx="314325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2" name="Line 40"/>
          <p:cNvSpPr>
            <a:spLocks noChangeShapeType="1"/>
          </p:cNvSpPr>
          <p:nvPr/>
        </p:nvSpPr>
        <p:spPr bwMode="auto">
          <a:xfrm flipV="1">
            <a:off x="2370138" y="2701925"/>
            <a:ext cx="59690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3" name="Line 41"/>
          <p:cNvSpPr>
            <a:spLocks noChangeShapeType="1"/>
          </p:cNvSpPr>
          <p:nvPr/>
        </p:nvSpPr>
        <p:spPr bwMode="auto">
          <a:xfrm>
            <a:off x="2374900" y="3094038"/>
            <a:ext cx="32385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4" name="Oval 42"/>
          <p:cNvSpPr>
            <a:spLocks noChangeArrowheads="1"/>
          </p:cNvSpPr>
          <p:nvPr/>
        </p:nvSpPr>
        <p:spPr bwMode="auto">
          <a:xfrm>
            <a:off x="2324100" y="3040063"/>
            <a:ext cx="139700" cy="1365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56715" name="Text Box 43"/>
          <p:cNvSpPr txBox="1">
            <a:spLocks noChangeArrowheads="1"/>
          </p:cNvSpPr>
          <p:nvPr/>
        </p:nvSpPr>
        <p:spPr bwMode="auto">
          <a:xfrm>
            <a:off x="1617663" y="2598738"/>
            <a:ext cx="100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r>
              <a:rPr lang="en-US" altLang="zh-CN" sz="2800" i="0" baseline="0">
                <a:solidFill>
                  <a:srgbClr val="A50021"/>
                </a:solidFill>
              </a:rPr>
              <a:t>b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22571" name="Line 44"/>
          <p:cNvSpPr>
            <a:spLocks noChangeShapeType="1"/>
          </p:cNvSpPr>
          <p:nvPr/>
        </p:nvSpPr>
        <p:spPr bwMode="auto">
          <a:xfrm flipH="1" flipV="1">
            <a:off x="1047750" y="4194175"/>
            <a:ext cx="2293938" cy="530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72" name="Text Box 45"/>
          <p:cNvSpPr txBox="1">
            <a:spLocks noChangeArrowheads="1"/>
          </p:cNvSpPr>
          <p:nvPr/>
        </p:nvSpPr>
        <p:spPr bwMode="auto">
          <a:xfrm>
            <a:off x="2708275" y="337185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</a:p>
        </p:txBody>
      </p:sp>
      <p:sp>
        <p:nvSpPr>
          <p:cNvPr id="22573" name="Line 46"/>
          <p:cNvSpPr>
            <a:spLocks noChangeShapeType="1"/>
          </p:cNvSpPr>
          <p:nvPr/>
        </p:nvSpPr>
        <p:spPr bwMode="auto">
          <a:xfrm>
            <a:off x="2689225" y="3627438"/>
            <a:ext cx="655638" cy="1093787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9" name="Rectangle 47"/>
          <p:cNvSpPr>
            <a:spLocks noChangeArrowheads="1"/>
          </p:cNvSpPr>
          <p:nvPr/>
        </p:nvSpPr>
        <p:spPr bwMode="auto">
          <a:xfrm>
            <a:off x="354013" y="450850"/>
            <a:ext cx="457200" cy="304800"/>
          </a:xfrm>
          <a:prstGeom prst="rect">
            <a:avLst/>
          </a:prstGeom>
          <a:gradFill rotWithShape="0">
            <a:gsLst>
              <a:gs pos="0">
                <a:srgbClr val="76765E"/>
              </a:gs>
              <a:gs pos="5000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56720" name="Text Box 48"/>
          <p:cNvSpPr txBox="1">
            <a:spLocks noChangeArrowheads="1"/>
          </p:cNvSpPr>
          <p:nvPr/>
        </p:nvSpPr>
        <p:spPr bwMode="auto">
          <a:xfrm>
            <a:off x="6143625" y="890588"/>
            <a:ext cx="1816100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空间分析</a:t>
            </a:r>
          </a:p>
        </p:txBody>
      </p:sp>
      <p:sp>
        <p:nvSpPr>
          <p:cNvPr id="156721" name="Text Box 49"/>
          <p:cNvSpPr txBox="1">
            <a:spLocks noChangeArrowheads="1"/>
          </p:cNvSpPr>
          <p:nvPr/>
        </p:nvSpPr>
        <p:spPr bwMode="auto">
          <a:xfrm>
            <a:off x="5940425" y="1592263"/>
            <a:ext cx="27590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将一般位置直线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投影面垂直线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更换一次投影面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不能实现</a:t>
            </a:r>
          </a:p>
        </p:txBody>
      </p:sp>
      <p:sp>
        <p:nvSpPr>
          <p:cNvPr id="156722" name="Text Box 50"/>
          <p:cNvSpPr txBox="1">
            <a:spLocks noChangeArrowheads="1"/>
          </p:cNvSpPr>
          <p:nvPr/>
        </p:nvSpPr>
        <p:spPr bwMode="auto">
          <a:xfrm>
            <a:off x="5999163" y="5024438"/>
            <a:ext cx="2684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将投影面平行线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更换一次投影面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投影面垂直线</a:t>
            </a:r>
          </a:p>
        </p:txBody>
      </p:sp>
      <p:sp>
        <p:nvSpPr>
          <p:cNvPr id="156723" name="Rectangle 51"/>
          <p:cNvSpPr>
            <a:spLocks noChangeArrowheads="1"/>
          </p:cNvSpPr>
          <p:nvPr/>
        </p:nvSpPr>
        <p:spPr bwMode="auto">
          <a:xfrm>
            <a:off x="5756275" y="1600200"/>
            <a:ext cx="2786063" cy="18335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565775" y="1541463"/>
            <a:ext cx="3300413" cy="3479800"/>
            <a:chOff x="930" y="661"/>
            <a:chExt cx="2079" cy="2192"/>
          </a:xfrm>
        </p:grpSpPr>
        <p:sp>
          <p:nvSpPr>
            <p:cNvPr id="22584" name="Freeform 53"/>
            <p:cNvSpPr>
              <a:spLocks/>
            </p:cNvSpPr>
            <p:nvPr/>
          </p:nvSpPr>
          <p:spPr bwMode="auto">
            <a:xfrm>
              <a:off x="930" y="1711"/>
              <a:ext cx="2079" cy="1106"/>
            </a:xfrm>
            <a:custGeom>
              <a:avLst/>
              <a:gdLst>
                <a:gd name="T0" fmla="*/ 0 w 2545"/>
                <a:gd name="T1" fmla="*/ 727 h 1106"/>
                <a:gd name="T2" fmla="*/ 631 w 2545"/>
                <a:gd name="T3" fmla="*/ 0 h 1106"/>
                <a:gd name="T4" fmla="*/ 1698 w 2545"/>
                <a:gd name="T5" fmla="*/ 386 h 1106"/>
                <a:gd name="T6" fmla="*/ 1068 w 2545"/>
                <a:gd name="T7" fmla="*/ 1106 h 1106"/>
                <a:gd name="T8" fmla="*/ 0 w 2545"/>
                <a:gd name="T9" fmla="*/ 727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5"/>
                <a:gd name="T16" fmla="*/ 0 h 1106"/>
                <a:gd name="T17" fmla="*/ 2545 w 2545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5" h="1106">
                  <a:moveTo>
                    <a:pt x="0" y="727"/>
                  </a:moveTo>
                  <a:lnTo>
                    <a:pt x="945" y="0"/>
                  </a:lnTo>
                  <a:lnTo>
                    <a:pt x="2545" y="386"/>
                  </a:lnTo>
                  <a:lnTo>
                    <a:pt x="1600" y="1106"/>
                  </a:lnTo>
                  <a:lnTo>
                    <a:pt x="0" y="727"/>
                  </a:lnTo>
                  <a:close/>
                </a:path>
              </a:pathLst>
            </a:custGeom>
            <a:solidFill>
              <a:srgbClr val="CCFFCC">
                <a:alpha val="50195"/>
              </a:srgbClr>
            </a:solidFill>
            <a:ln w="19050" cap="flat" cmpd="sng">
              <a:solidFill>
                <a:srgbClr val="CCFF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5" name="Line 54"/>
            <p:cNvSpPr>
              <a:spLocks noChangeShapeType="1"/>
            </p:cNvSpPr>
            <p:nvPr/>
          </p:nvSpPr>
          <p:spPr bwMode="auto">
            <a:xfrm flipV="1">
              <a:off x="1706" y="1597"/>
              <a:ext cx="0" cy="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6" name="Line 55"/>
            <p:cNvSpPr>
              <a:spLocks noChangeShapeType="1"/>
            </p:cNvSpPr>
            <p:nvPr/>
          </p:nvSpPr>
          <p:spPr bwMode="auto">
            <a:xfrm flipV="1">
              <a:off x="2114" y="2268"/>
              <a:ext cx="0" cy="3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7" name="Line 56"/>
            <p:cNvSpPr>
              <a:spLocks noChangeShapeType="1"/>
            </p:cNvSpPr>
            <p:nvPr/>
          </p:nvSpPr>
          <p:spPr bwMode="auto">
            <a:xfrm flipH="1" flipV="1">
              <a:off x="1694" y="2292"/>
              <a:ext cx="420" cy="312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8" name="Text Box 57"/>
            <p:cNvSpPr txBox="1">
              <a:spLocks noChangeArrowheads="1"/>
            </p:cNvSpPr>
            <p:nvPr/>
          </p:nvSpPr>
          <p:spPr bwMode="auto">
            <a:xfrm>
              <a:off x="1059" y="222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P</a:t>
              </a:r>
            </a:p>
          </p:txBody>
        </p:sp>
        <p:sp>
          <p:nvSpPr>
            <p:cNvPr id="22589" name="Text Box 58"/>
            <p:cNvSpPr txBox="1">
              <a:spLocks noChangeArrowheads="1"/>
            </p:cNvSpPr>
            <p:nvPr/>
          </p:nvSpPr>
          <p:spPr bwMode="auto">
            <a:xfrm>
              <a:off x="2562" y="2359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156731" name="Text Box 59"/>
            <p:cNvSpPr txBox="1">
              <a:spLocks noChangeArrowheads="1"/>
            </p:cNvSpPr>
            <p:nvPr/>
          </p:nvSpPr>
          <p:spPr bwMode="auto">
            <a:xfrm>
              <a:off x="1969" y="661"/>
              <a:ext cx="35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28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22591" name="Text Box 60"/>
            <p:cNvSpPr txBox="1">
              <a:spLocks noChangeArrowheads="1"/>
            </p:cNvSpPr>
            <p:nvPr/>
          </p:nvSpPr>
          <p:spPr bwMode="auto">
            <a:xfrm>
              <a:off x="2107" y="218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0066"/>
                  </a:solidFill>
                </a:rPr>
                <a:t>B</a:t>
              </a:r>
            </a:p>
          </p:txBody>
        </p:sp>
        <p:sp>
          <p:nvSpPr>
            <p:cNvPr id="22592" name="Text Box 61"/>
            <p:cNvSpPr txBox="1">
              <a:spLocks noChangeArrowheads="1"/>
            </p:cNvSpPr>
            <p:nvPr/>
          </p:nvSpPr>
          <p:spPr bwMode="auto">
            <a:xfrm>
              <a:off x="1519" y="219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0066"/>
                  </a:solidFill>
                </a:rPr>
                <a:t>a</a:t>
              </a:r>
            </a:p>
          </p:txBody>
        </p:sp>
        <p:sp>
          <p:nvSpPr>
            <p:cNvPr id="22593" name="Text Box 62"/>
            <p:cNvSpPr txBox="1">
              <a:spLocks noChangeArrowheads="1"/>
            </p:cNvSpPr>
            <p:nvPr/>
          </p:nvSpPr>
          <p:spPr bwMode="auto">
            <a:xfrm>
              <a:off x="2070" y="2526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0066"/>
                  </a:solidFill>
                </a:rPr>
                <a:t>b</a:t>
              </a:r>
            </a:p>
          </p:txBody>
        </p:sp>
        <p:sp>
          <p:nvSpPr>
            <p:cNvPr id="22594" name="Text Box 63"/>
            <p:cNvSpPr txBox="1">
              <a:spLocks noChangeArrowheads="1"/>
            </p:cNvSpPr>
            <p:nvPr/>
          </p:nvSpPr>
          <p:spPr bwMode="auto">
            <a:xfrm>
              <a:off x="2006" y="1085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800" i="0" baseline="0">
                <a:solidFill>
                  <a:srgbClr val="A50021"/>
                </a:solidFill>
              </a:endParaRPr>
            </a:p>
          </p:txBody>
        </p:sp>
        <p:grpSp>
          <p:nvGrpSpPr>
            <p:cNvPr id="22595" name="Group 64"/>
            <p:cNvGrpSpPr>
              <a:grpSpLocks/>
            </p:cNvGrpSpPr>
            <p:nvPr/>
          </p:nvGrpSpPr>
          <p:grpSpPr bwMode="auto">
            <a:xfrm>
              <a:off x="1775" y="766"/>
              <a:ext cx="848" cy="1651"/>
              <a:chOff x="1775" y="766"/>
              <a:chExt cx="848" cy="1651"/>
            </a:xfrm>
          </p:grpSpPr>
          <p:sp>
            <p:nvSpPr>
              <p:cNvPr id="22614" name="Freeform 65"/>
              <p:cNvSpPr>
                <a:spLocks/>
              </p:cNvSpPr>
              <p:nvPr/>
            </p:nvSpPr>
            <p:spPr bwMode="auto">
              <a:xfrm>
                <a:off x="1775" y="766"/>
                <a:ext cx="814" cy="1651"/>
              </a:xfrm>
              <a:custGeom>
                <a:avLst/>
                <a:gdLst>
                  <a:gd name="T0" fmla="*/ 0 w 814"/>
                  <a:gd name="T1" fmla="*/ 0 h 1651"/>
                  <a:gd name="T2" fmla="*/ 0 w 814"/>
                  <a:gd name="T3" fmla="*/ 1047 h 1651"/>
                  <a:gd name="T4" fmla="*/ 814 w 814"/>
                  <a:gd name="T5" fmla="*/ 1651 h 1651"/>
                  <a:gd name="T6" fmla="*/ 814 w 814"/>
                  <a:gd name="T7" fmla="*/ 603 h 1651"/>
                  <a:gd name="T8" fmla="*/ 0 w 814"/>
                  <a:gd name="T9" fmla="*/ 0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4"/>
                  <a:gd name="T16" fmla="*/ 0 h 1651"/>
                  <a:gd name="T17" fmla="*/ 814 w 814"/>
                  <a:gd name="T18" fmla="*/ 1651 h 16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4" h="1651">
                    <a:moveTo>
                      <a:pt x="0" y="0"/>
                    </a:moveTo>
                    <a:lnTo>
                      <a:pt x="0" y="1047"/>
                    </a:lnTo>
                    <a:lnTo>
                      <a:pt x="814" y="1651"/>
                    </a:lnTo>
                    <a:lnTo>
                      <a:pt x="814" y="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50195"/>
                </a:srgbClr>
              </a:solidFill>
              <a:ln w="19050" cap="flat" cmpd="sng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15" name="Text Box 66"/>
              <p:cNvSpPr txBox="1">
                <a:spLocks noChangeArrowheads="1"/>
              </p:cNvSpPr>
              <p:nvPr/>
            </p:nvSpPr>
            <p:spPr bwMode="auto">
              <a:xfrm>
                <a:off x="2290" y="1265"/>
                <a:ext cx="33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>
                    <a:solidFill>
                      <a:srgbClr val="A50021"/>
                    </a:solidFill>
                  </a:rPr>
                  <a:t>P</a:t>
                </a:r>
                <a:r>
                  <a:rPr lang="en-US" altLang="zh-CN" sz="2000" i="0" baseline="0">
                    <a:solidFill>
                      <a:srgbClr val="A50021"/>
                    </a:solidFill>
                  </a:rPr>
                  <a:t>1</a:t>
                </a:r>
                <a:endParaRPr lang="en-US" altLang="zh-CN" sz="2800" i="0" baseline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596" name="Text Box 67"/>
            <p:cNvSpPr txBox="1">
              <a:spLocks noChangeArrowheads="1"/>
            </p:cNvSpPr>
            <p:nvPr/>
          </p:nvSpPr>
          <p:spPr bwMode="auto">
            <a:xfrm>
              <a:off x="2426" y="1766"/>
              <a:ext cx="3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b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22597" name="Line 68"/>
            <p:cNvSpPr>
              <a:spLocks noChangeShapeType="1"/>
            </p:cNvSpPr>
            <p:nvPr/>
          </p:nvSpPr>
          <p:spPr bwMode="auto">
            <a:xfrm flipV="1">
              <a:off x="2114" y="2329"/>
              <a:ext cx="368" cy="2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Line 69"/>
            <p:cNvSpPr>
              <a:spLocks noChangeShapeType="1"/>
            </p:cNvSpPr>
            <p:nvPr/>
          </p:nvSpPr>
          <p:spPr bwMode="auto">
            <a:xfrm flipV="1">
              <a:off x="2126" y="2019"/>
              <a:ext cx="359" cy="2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Line 70"/>
            <p:cNvSpPr>
              <a:spLocks noChangeShapeType="1"/>
            </p:cNvSpPr>
            <p:nvPr/>
          </p:nvSpPr>
          <p:spPr bwMode="auto">
            <a:xfrm flipV="1">
              <a:off x="1705" y="2031"/>
              <a:ext cx="365" cy="2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0" name="Line 71"/>
            <p:cNvSpPr>
              <a:spLocks noChangeShapeType="1"/>
            </p:cNvSpPr>
            <p:nvPr/>
          </p:nvSpPr>
          <p:spPr bwMode="auto">
            <a:xfrm flipV="1">
              <a:off x="1723" y="1340"/>
              <a:ext cx="353" cy="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1" name="Line 72"/>
            <p:cNvSpPr>
              <a:spLocks noChangeShapeType="1"/>
            </p:cNvSpPr>
            <p:nvPr/>
          </p:nvSpPr>
          <p:spPr bwMode="auto">
            <a:xfrm>
              <a:off x="2070" y="1330"/>
              <a:ext cx="406" cy="7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2" name="Rectangle 73"/>
            <p:cNvSpPr>
              <a:spLocks noChangeArrowheads="1"/>
            </p:cNvSpPr>
            <p:nvPr/>
          </p:nvSpPr>
          <p:spPr bwMode="auto">
            <a:xfrm>
              <a:off x="2044" y="1062"/>
              <a:ext cx="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1</a:t>
              </a:r>
            </a:p>
          </p:txBody>
        </p:sp>
        <p:sp>
          <p:nvSpPr>
            <p:cNvPr id="22603" name="Line 74"/>
            <p:cNvSpPr>
              <a:spLocks noChangeShapeType="1"/>
            </p:cNvSpPr>
            <p:nvPr/>
          </p:nvSpPr>
          <p:spPr bwMode="auto">
            <a:xfrm flipV="1">
              <a:off x="2475" y="2013"/>
              <a:ext cx="0" cy="3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4" name="Line 75"/>
            <p:cNvSpPr>
              <a:spLocks noChangeShapeType="1"/>
            </p:cNvSpPr>
            <p:nvPr/>
          </p:nvSpPr>
          <p:spPr bwMode="auto">
            <a:xfrm flipV="1">
              <a:off x="2067" y="1329"/>
              <a:ext cx="0" cy="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5" name="Freeform 76"/>
            <p:cNvSpPr>
              <a:spLocks/>
            </p:cNvSpPr>
            <p:nvPr/>
          </p:nvSpPr>
          <p:spPr bwMode="auto">
            <a:xfrm>
              <a:off x="1045" y="727"/>
              <a:ext cx="952" cy="1091"/>
            </a:xfrm>
            <a:custGeom>
              <a:avLst/>
              <a:gdLst>
                <a:gd name="T0" fmla="*/ 229 w 952"/>
                <a:gd name="T1" fmla="*/ 526 h 1091"/>
                <a:gd name="T2" fmla="*/ 0 w 952"/>
                <a:gd name="T3" fmla="*/ 1091 h 1091"/>
                <a:gd name="T4" fmla="*/ 734 w 952"/>
                <a:gd name="T5" fmla="*/ 562 h 1091"/>
                <a:gd name="T6" fmla="*/ 952 w 952"/>
                <a:gd name="T7" fmla="*/ 0 h 1091"/>
                <a:gd name="T8" fmla="*/ 229 w 952"/>
                <a:gd name="T9" fmla="*/ 526 h 10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2"/>
                <a:gd name="T16" fmla="*/ 0 h 1091"/>
                <a:gd name="T17" fmla="*/ 952 w 952"/>
                <a:gd name="T18" fmla="*/ 1091 h 10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2" h="1091">
                  <a:moveTo>
                    <a:pt x="229" y="526"/>
                  </a:moveTo>
                  <a:lnTo>
                    <a:pt x="0" y="1091"/>
                  </a:lnTo>
                  <a:lnTo>
                    <a:pt x="734" y="562"/>
                  </a:lnTo>
                  <a:lnTo>
                    <a:pt x="952" y="0"/>
                  </a:lnTo>
                  <a:lnTo>
                    <a:pt x="229" y="526"/>
                  </a:lnTo>
                  <a:close/>
                </a:path>
              </a:pathLst>
            </a:custGeom>
            <a:solidFill>
              <a:srgbClr val="FFFFCC"/>
            </a:solidFill>
            <a:ln w="19050" cap="flat" cmpd="sng">
              <a:solidFill>
                <a:srgbClr val="FFFF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6" name="Text Box 77"/>
            <p:cNvSpPr txBox="1">
              <a:spLocks noChangeArrowheads="1"/>
            </p:cNvSpPr>
            <p:nvPr/>
          </p:nvSpPr>
          <p:spPr bwMode="auto">
            <a:xfrm>
              <a:off x="1204" y="1196"/>
              <a:ext cx="3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P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2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22607" name="Line 78"/>
            <p:cNvSpPr>
              <a:spLocks noChangeShapeType="1"/>
            </p:cNvSpPr>
            <p:nvPr/>
          </p:nvSpPr>
          <p:spPr bwMode="auto">
            <a:xfrm>
              <a:off x="1876" y="1017"/>
              <a:ext cx="198" cy="3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8" name="Line 79"/>
            <p:cNvSpPr>
              <a:spLocks noChangeShapeType="1"/>
            </p:cNvSpPr>
            <p:nvPr/>
          </p:nvSpPr>
          <p:spPr bwMode="auto">
            <a:xfrm flipV="1">
              <a:off x="1506" y="1013"/>
              <a:ext cx="376" cy="2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9" name="Line 80"/>
            <p:cNvSpPr>
              <a:spLocks noChangeShapeType="1"/>
            </p:cNvSpPr>
            <p:nvPr/>
          </p:nvSpPr>
          <p:spPr bwMode="auto">
            <a:xfrm>
              <a:off x="1509" y="1260"/>
              <a:ext cx="20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0" name="Oval 81"/>
            <p:cNvSpPr>
              <a:spLocks noChangeArrowheads="1"/>
            </p:cNvSpPr>
            <p:nvPr/>
          </p:nvSpPr>
          <p:spPr bwMode="auto">
            <a:xfrm>
              <a:off x="1477" y="1226"/>
              <a:ext cx="88" cy="86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22611" name="Text Box 82"/>
            <p:cNvSpPr txBox="1">
              <a:spLocks noChangeArrowheads="1"/>
            </p:cNvSpPr>
            <p:nvPr/>
          </p:nvSpPr>
          <p:spPr bwMode="auto">
            <a:xfrm>
              <a:off x="1032" y="948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2</a:t>
              </a:r>
              <a:r>
                <a:rPr lang="en-US" altLang="zh-CN" sz="2800" i="0" baseline="0">
                  <a:solidFill>
                    <a:srgbClr val="A50021"/>
                  </a:solidFill>
                </a:rPr>
                <a:t>b</a:t>
              </a:r>
              <a:r>
                <a:rPr lang="en-US" altLang="zh-CN" sz="2000" i="0" baseline="0">
                  <a:solidFill>
                    <a:srgbClr val="A50021"/>
                  </a:solidFill>
                </a:rPr>
                <a:t>2</a:t>
              </a:r>
              <a:endParaRPr lang="en-US" altLang="zh-CN" sz="2800" i="0" baseline="0">
                <a:solidFill>
                  <a:srgbClr val="A50021"/>
                </a:solidFill>
              </a:endParaRPr>
            </a:p>
          </p:txBody>
        </p:sp>
        <p:sp>
          <p:nvSpPr>
            <p:cNvPr id="22612" name="Text Box 83"/>
            <p:cNvSpPr txBox="1">
              <a:spLocks noChangeArrowheads="1"/>
            </p:cNvSpPr>
            <p:nvPr/>
          </p:nvSpPr>
          <p:spPr bwMode="auto">
            <a:xfrm>
              <a:off x="1441" y="144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>
                  <a:solidFill>
                    <a:srgbClr val="000066"/>
                  </a:solidFill>
                </a:rPr>
                <a:t>A</a:t>
              </a:r>
            </a:p>
          </p:txBody>
        </p:sp>
        <p:sp>
          <p:nvSpPr>
            <p:cNvPr id="22613" name="Line 84"/>
            <p:cNvSpPr>
              <a:spLocks noChangeShapeType="1"/>
            </p:cNvSpPr>
            <p:nvPr/>
          </p:nvSpPr>
          <p:spPr bwMode="auto">
            <a:xfrm>
              <a:off x="1707" y="1596"/>
              <a:ext cx="413" cy="689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757" name="Rectangle 85"/>
          <p:cNvSpPr>
            <a:spLocks noChangeArrowheads="1"/>
          </p:cNvSpPr>
          <p:nvPr/>
        </p:nvSpPr>
        <p:spPr bwMode="auto">
          <a:xfrm>
            <a:off x="5353050" y="911225"/>
            <a:ext cx="3422650" cy="57324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56759" name="Text Box 87"/>
          <p:cNvSpPr txBox="1">
            <a:spLocks noChangeArrowheads="1"/>
          </p:cNvSpPr>
          <p:nvPr/>
        </p:nvSpPr>
        <p:spPr bwMode="auto">
          <a:xfrm>
            <a:off x="6176963" y="1566863"/>
            <a:ext cx="1816100" cy="5794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两次换面</a:t>
            </a:r>
          </a:p>
        </p:txBody>
      </p:sp>
      <p:sp>
        <p:nvSpPr>
          <p:cNvPr id="156760" name="Text Box 88"/>
          <p:cNvSpPr txBox="1">
            <a:spLocks noChangeArrowheads="1"/>
          </p:cNvSpPr>
          <p:nvPr/>
        </p:nvSpPr>
        <p:spPr bwMode="auto">
          <a:xfrm>
            <a:off x="5292725" y="2798763"/>
            <a:ext cx="3717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US" altLang="zh-CN" sz="2800" i="0" baseline="0">
                <a:latin typeface="黑体" pitchFamily="2" charset="-122"/>
                <a:ea typeface="黑体" pitchFamily="2" charset="-122"/>
              </a:rPr>
              <a:t>1.   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将一般位置直线 </a:t>
            </a:r>
          </a:p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   投影面平行线</a:t>
            </a:r>
          </a:p>
        </p:txBody>
      </p:sp>
      <p:sp>
        <p:nvSpPr>
          <p:cNvPr id="156761" name="Text Box 89"/>
          <p:cNvSpPr txBox="1">
            <a:spLocks noChangeArrowheads="1"/>
          </p:cNvSpPr>
          <p:nvPr/>
        </p:nvSpPr>
        <p:spPr bwMode="auto">
          <a:xfrm>
            <a:off x="5307013" y="3990975"/>
            <a:ext cx="3702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US" altLang="zh-CN" sz="2800" i="0" baseline="0">
                <a:latin typeface="黑体" pitchFamily="2" charset="-122"/>
                <a:ea typeface="黑体" pitchFamily="2" charset="-122"/>
              </a:rPr>
              <a:t>2.   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将投影面平行线 </a:t>
            </a:r>
          </a:p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   投影面垂直线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6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56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5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5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56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5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5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5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56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5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6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56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15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6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6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156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156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75" fill="hold"/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/>
      <p:bldP spid="156689" grpId="0" build="p" autoUpdateAnimBg="0"/>
      <p:bldP spid="156690" grpId="0" build="p" autoUpdateAnimBg="0"/>
      <p:bldP spid="156700" grpId="0" build="p" autoUpdateAnimBg="0" advAuto="0"/>
      <p:bldP spid="156701" grpId="0" animBg="1"/>
      <p:bldP spid="156702" grpId="0" animBg="1"/>
      <p:bldP spid="156703" grpId="0" animBg="1"/>
      <p:bldP spid="156704" grpId="0" animBg="1"/>
      <p:bldP spid="156705" grpId="0" animBg="1"/>
      <p:bldP spid="156706" grpId="0" build="p" autoUpdateAnimBg="0" advAuto="0"/>
      <p:bldP spid="156707" grpId="0" animBg="1"/>
      <p:bldP spid="156708" grpId="0" animBg="1"/>
      <p:bldP spid="156709" grpId="0" animBg="1"/>
      <p:bldP spid="156710" grpId="0" autoUpdateAnimBg="0"/>
      <p:bldP spid="156711" grpId="0" animBg="1"/>
      <p:bldP spid="156712" grpId="0" animBg="1"/>
      <p:bldP spid="156713" grpId="0" animBg="1"/>
      <p:bldP spid="156714" grpId="0" animBg="1"/>
      <p:bldP spid="156715" grpId="0" autoUpdateAnimBg="0"/>
      <p:bldP spid="156719" grpId="0" animBg="1"/>
      <p:bldP spid="156720" grpId="0" build="p" autoUpdateAnimBg="0"/>
      <p:bldP spid="156721" grpId="0" autoUpdateAnimBg="0"/>
      <p:bldP spid="156722" grpId="0" autoUpdateAnimBg="0"/>
      <p:bldP spid="156723" grpId="0" animBg="1"/>
      <p:bldP spid="156757" grpId="0" animBg="1"/>
      <p:bldP spid="156759" grpId="0" animBg="1" autoUpdateAnimBg="0"/>
      <p:bldP spid="156760" grpId="0" autoUpdateAnimBg="0"/>
      <p:bldP spid="15676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0660B0-8264-4931-86F0-14E7E143A285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55650" name="Line 2"/>
          <p:cNvSpPr>
            <a:spLocks noChangeShapeType="1"/>
          </p:cNvSpPr>
          <p:nvPr/>
        </p:nvSpPr>
        <p:spPr bwMode="auto">
          <a:xfrm flipV="1">
            <a:off x="1309688" y="3016250"/>
            <a:ext cx="2936875" cy="1100138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1" name="Line 3"/>
          <p:cNvSpPr>
            <a:spLocks noChangeShapeType="1"/>
          </p:cNvSpPr>
          <p:nvPr/>
        </p:nvSpPr>
        <p:spPr bwMode="auto">
          <a:xfrm>
            <a:off x="3413125" y="2874963"/>
            <a:ext cx="587375" cy="157162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2" name="Line 4"/>
          <p:cNvSpPr>
            <a:spLocks noChangeShapeType="1"/>
          </p:cNvSpPr>
          <p:nvPr/>
        </p:nvSpPr>
        <p:spPr bwMode="auto">
          <a:xfrm>
            <a:off x="1979613" y="3432175"/>
            <a:ext cx="217487" cy="585788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3" name="Line 5"/>
          <p:cNvSpPr>
            <a:spLocks noChangeShapeType="1"/>
          </p:cNvSpPr>
          <p:nvPr/>
        </p:nvSpPr>
        <p:spPr bwMode="auto">
          <a:xfrm rot="-81210">
            <a:off x="4008438" y="4441825"/>
            <a:ext cx="749300" cy="192088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4" name="Line 6"/>
          <p:cNvSpPr>
            <a:spLocks noChangeShapeType="1"/>
          </p:cNvSpPr>
          <p:nvPr/>
        </p:nvSpPr>
        <p:spPr bwMode="auto">
          <a:xfrm flipH="1">
            <a:off x="4119563" y="3795713"/>
            <a:ext cx="425450" cy="1704975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763588" y="38782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5656" name="Text Box 8"/>
          <p:cNvSpPr txBox="1">
            <a:spLocks noChangeArrowheads="1"/>
          </p:cNvSpPr>
          <p:nvPr/>
        </p:nvSpPr>
        <p:spPr bwMode="auto">
          <a:xfrm>
            <a:off x="3816350" y="5426075"/>
            <a:ext cx="56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X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55657" name="Oval 9"/>
          <p:cNvSpPr>
            <a:spLocks noChangeArrowheads="1"/>
          </p:cNvSpPr>
          <p:nvPr/>
        </p:nvSpPr>
        <p:spPr bwMode="auto">
          <a:xfrm>
            <a:off x="4695825" y="4508500"/>
            <a:ext cx="225425" cy="2254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4541838" y="4030663"/>
            <a:ext cx="1073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  <a:r>
              <a:rPr lang="en-US" altLang="zh-CN" sz="2000" i="0" baseline="0">
                <a:solidFill>
                  <a:srgbClr val="000066"/>
                </a:solidFill>
              </a:rPr>
              <a:t>2 </a:t>
            </a:r>
            <a:r>
              <a:rPr lang="en-US" altLang="zh-CN" sz="2800" i="0" baseline="0">
                <a:solidFill>
                  <a:srgbClr val="000066"/>
                </a:solidFill>
              </a:rPr>
              <a:t>b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1897063" y="3887788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5660" name="Text Box 12"/>
          <p:cNvSpPr txBox="1">
            <a:spLocks noChangeArrowheads="1"/>
          </p:cNvSpPr>
          <p:nvPr/>
        </p:nvSpPr>
        <p:spPr bwMode="auto">
          <a:xfrm>
            <a:off x="3727450" y="4324350"/>
            <a:ext cx="509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5661" name="Line 13"/>
          <p:cNvSpPr>
            <a:spLocks noChangeShapeType="1"/>
          </p:cNvSpPr>
          <p:nvPr/>
        </p:nvSpPr>
        <p:spPr bwMode="auto">
          <a:xfrm>
            <a:off x="2178050" y="4017963"/>
            <a:ext cx="1817688" cy="4191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62" name="AutoShape 14" descr="紫色网格"/>
          <p:cNvSpPr>
            <a:spLocks noChangeArrowheads="1"/>
          </p:cNvSpPr>
          <p:nvPr/>
        </p:nvSpPr>
        <p:spPr bwMode="auto">
          <a:xfrm>
            <a:off x="725488" y="4781550"/>
            <a:ext cx="1463675" cy="493713"/>
          </a:xfrm>
          <a:prstGeom prst="wedgeRoundRectCallout">
            <a:avLst>
              <a:gd name="adj1" fmla="val -29394"/>
              <a:gd name="adj2" fmla="val -143569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>
              <a:solidFill>
                <a:srgbClr val="FFFFCC"/>
              </a:solidFill>
            </a:endParaRP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806450" y="4745038"/>
            <a:ext cx="1552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1  </a:t>
            </a:r>
            <a:r>
              <a:rPr lang="en-US" altLang="zh-CN" sz="2800" i="0" baseline="0">
                <a:solidFill>
                  <a:schemeClr val="bg1"/>
                </a:solidFill>
              </a:rPr>
              <a:t>// ab</a:t>
            </a:r>
          </a:p>
        </p:txBody>
      </p:sp>
      <p:sp>
        <p:nvSpPr>
          <p:cNvPr id="155664" name="AutoShape 16" descr="紫色网格"/>
          <p:cNvSpPr>
            <a:spLocks noChangeArrowheads="1"/>
          </p:cNvSpPr>
          <p:nvPr/>
        </p:nvSpPr>
        <p:spPr bwMode="auto">
          <a:xfrm>
            <a:off x="1146175" y="5799138"/>
            <a:ext cx="2000250" cy="477837"/>
          </a:xfrm>
          <a:prstGeom prst="wedgeRoundRectCallout">
            <a:avLst>
              <a:gd name="adj1" fmla="val 83255"/>
              <a:gd name="adj2" fmla="val -70597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/>
          </a:p>
        </p:txBody>
      </p:sp>
      <p:sp>
        <p:nvSpPr>
          <p:cNvPr id="155665" name="Text Box 17"/>
          <p:cNvSpPr txBox="1">
            <a:spLocks noChangeArrowheads="1"/>
          </p:cNvSpPr>
          <p:nvPr/>
        </p:nvSpPr>
        <p:spPr bwMode="auto">
          <a:xfrm>
            <a:off x="1309688" y="5753100"/>
            <a:ext cx="1738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2  </a:t>
            </a:r>
            <a:r>
              <a:rPr lang="en-US" altLang="zh-CN" sz="2800" i="0" baseline="0">
                <a:solidFill>
                  <a:schemeClr val="bg1"/>
                </a:solidFill>
              </a:rPr>
              <a:t>  a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b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endParaRPr lang="en-US" altLang="zh-CN" sz="2800" i="0" baseline="0">
              <a:solidFill>
                <a:schemeClr val="bg1"/>
              </a:solidFill>
            </a:endParaRPr>
          </a:p>
        </p:txBody>
      </p:sp>
      <p:sp>
        <p:nvSpPr>
          <p:cNvPr id="155666" name="Line 18"/>
          <p:cNvSpPr>
            <a:spLocks noChangeShapeType="1"/>
          </p:cNvSpPr>
          <p:nvPr/>
        </p:nvSpPr>
        <p:spPr bwMode="auto">
          <a:xfrm flipV="1">
            <a:off x="3673475" y="3679825"/>
            <a:ext cx="131763" cy="809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67" name="Line 19"/>
          <p:cNvSpPr>
            <a:spLocks noChangeShapeType="1"/>
          </p:cNvSpPr>
          <p:nvPr/>
        </p:nvSpPr>
        <p:spPr bwMode="auto">
          <a:xfrm flipV="1">
            <a:off x="3370263" y="1965325"/>
            <a:ext cx="131762" cy="809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68" name="Line 20"/>
          <p:cNvSpPr>
            <a:spLocks noChangeShapeType="1"/>
          </p:cNvSpPr>
          <p:nvPr/>
        </p:nvSpPr>
        <p:spPr bwMode="auto">
          <a:xfrm flipV="1">
            <a:off x="2093913" y="3887788"/>
            <a:ext cx="130175" cy="508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69" name="Line 21"/>
          <p:cNvSpPr>
            <a:spLocks noChangeShapeType="1"/>
          </p:cNvSpPr>
          <p:nvPr/>
        </p:nvSpPr>
        <p:spPr bwMode="auto">
          <a:xfrm flipV="1">
            <a:off x="1885950" y="2530475"/>
            <a:ext cx="130175" cy="508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70" name="Line 22"/>
          <p:cNvSpPr>
            <a:spLocks noChangeShapeType="1"/>
          </p:cNvSpPr>
          <p:nvPr/>
        </p:nvSpPr>
        <p:spPr bwMode="auto">
          <a:xfrm flipH="1">
            <a:off x="4535488" y="4492625"/>
            <a:ext cx="30162" cy="142875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71" name="Line 23"/>
          <p:cNvSpPr>
            <a:spLocks noChangeShapeType="1"/>
          </p:cNvSpPr>
          <p:nvPr/>
        </p:nvSpPr>
        <p:spPr bwMode="auto">
          <a:xfrm rot="3681466" flipH="1">
            <a:off x="3456782" y="2967831"/>
            <a:ext cx="30162" cy="142875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72" name="Text Box 24"/>
          <p:cNvSpPr txBox="1">
            <a:spLocks noChangeArrowheads="1"/>
          </p:cNvSpPr>
          <p:nvPr/>
        </p:nvSpPr>
        <p:spPr bwMode="auto">
          <a:xfrm>
            <a:off x="434975" y="823913"/>
            <a:ext cx="1000125" cy="579437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1"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作图</a:t>
            </a:r>
          </a:p>
        </p:txBody>
      </p:sp>
      <p:sp>
        <p:nvSpPr>
          <p:cNvPr id="155673" name="Text Box 25"/>
          <p:cNvSpPr txBox="1">
            <a:spLocks noChangeArrowheads="1"/>
          </p:cNvSpPr>
          <p:nvPr/>
        </p:nvSpPr>
        <p:spPr bwMode="auto">
          <a:xfrm>
            <a:off x="1085850" y="359886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55674" name="Text Box 26"/>
          <p:cNvSpPr txBox="1">
            <a:spLocks noChangeArrowheads="1"/>
          </p:cNvSpPr>
          <p:nvPr/>
        </p:nvSpPr>
        <p:spPr bwMode="auto">
          <a:xfrm>
            <a:off x="1249363" y="4017963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5675" name="Text Box 27"/>
          <p:cNvSpPr txBox="1">
            <a:spLocks noChangeArrowheads="1"/>
          </p:cNvSpPr>
          <p:nvPr/>
        </p:nvSpPr>
        <p:spPr bwMode="auto">
          <a:xfrm>
            <a:off x="3646488" y="5072063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55676" name="Text Box 28"/>
          <p:cNvSpPr txBox="1">
            <a:spLocks noChangeArrowheads="1"/>
          </p:cNvSpPr>
          <p:nvPr/>
        </p:nvSpPr>
        <p:spPr bwMode="auto">
          <a:xfrm>
            <a:off x="4130675" y="5200650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P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55677" name="Text Box 29"/>
          <p:cNvSpPr txBox="1">
            <a:spLocks noChangeArrowheads="1"/>
          </p:cNvSpPr>
          <p:nvPr/>
        </p:nvSpPr>
        <p:spPr bwMode="auto">
          <a:xfrm>
            <a:off x="5659438" y="4746625"/>
            <a:ext cx="32543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US" altLang="zh-CN" sz="2400" i="0" baseline="0">
                <a:latin typeface="黑体" pitchFamily="2" charset="-122"/>
                <a:ea typeface="黑体" pitchFamily="2" charset="-122"/>
              </a:rPr>
              <a:t>1.   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将一般位置直线 </a:t>
            </a:r>
          </a:p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   投影面平行线</a:t>
            </a:r>
          </a:p>
        </p:txBody>
      </p:sp>
      <p:sp>
        <p:nvSpPr>
          <p:cNvPr id="155678" name="Text Box 30"/>
          <p:cNvSpPr txBox="1">
            <a:spLocks noChangeArrowheads="1"/>
          </p:cNvSpPr>
          <p:nvPr/>
        </p:nvSpPr>
        <p:spPr bwMode="auto">
          <a:xfrm>
            <a:off x="5668963" y="5613400"/>
            <a:ext cx="3302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US" altLang="zh-CN" sz="2400" i="0" baseline="0">
                <a:latin typeface="黑体" pitchFamily="2" charset="-122"/>
                <a:ea typeface="黑体" pitchFamily="2" charset="-122"/>
              </a:rPr>
              <a:t>2.   </a:t>
            </a: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将投影面平行线</a:t>
            </a:r>
          </a:p>
          <a:p>
            <a:pPr eaLnBrk="1" hangingPunct="1"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zh-CN" altLang="en-US" sz="2400" i="0" baseline="0">
                <a:latin typeface="黑体" pitchFamily="2" charset="-122"/>
                <a:ea typeface="黑体" pitchFamily="2" charset="-122"/>
              </a:rPr>
              <a:t>   投影面垂直线</a:t>
            </a:r>
          </a:p>
        </p:txBody>
      </p:sp>
      <p:sp>
        <p:nvSpPr>
          <p:cNvPr id="155679" name="Text Box 31"/>
          <p:cNvSpPr txBox="1">
            <a:spLocks noChangeArrowheads="1"/>
          </p:cNvSpPr>
          <p:nvPr/>
        </p:nvSpPr>
        <p:spPr bwMode="auto">
          <a:xfrm>
            <a:off x="703263" y="138113"/>
            <a:ext cx="6776214" cy="584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将一般</a:t>
            </a:r>
            <a:r>
              <a:rPr kumimoji="1" lang="zh-CN" altLang="en-US" sz="3200" i="0" baseline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位置直线变换</a:t>
            </a:r>
            <a:r>
              <a:rPr kumimoji="1" lang="zh-CN" altLang="en-US" sz="32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成投影面垂直线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03250" y="1003300"/>
            <a:ext cx="3403600" cy="2695575"/>
            <a:chOff x="644" y="566"/>
            <a:chExt cx="2144" cy="1698"/>
          </a:xfrm>
        </p:grpSpPr>
        <p:sp>
          <p:nvSpPr>
            <p:cNvPr id="23632" name="Line 33"/>
            <p:cNvSpPr>
              <a:spLocks noChangeShapeType="1"/>
            </p:cNvSpPr>
            <p:nvPr/>
          </p:nvSpPr>
          <p:spPr bwMode="auto">
            <a:xfrm>
              <a:off x="898" y="1608"/>
              <a:ext cx="18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34"/>
            <p:cNvSpPr>
              <a:spLocks noChangeShapeType="1"/>
            </p:cNvSpPr>
            <p:nvPr/>
          </p:nvSpPr>
          <p:spPr bwMode="auto">
            <a:xfrm>
              <a:off x="2416" y="805"/>
              <a:ext cx="0" cy="9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4" name="Line 35"/>
            <p:cNvSpPr>
              <a:spLocks noChangeShapeType="1"/>
            </p:cNvSpPr>
            <p:nvPr/>
          </p:nvSpPr>
          <p:spPr bwMode="auto">
            <a:xfrm flipV="1">
              <a:off x="1498" y="1746"/>
              <a:ext cx="923" cy="3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5" name="Line 36"/>
            <p:cNvSpPr>
              <a:spLocks noChangeShapeType="1"/>
            </p:cNvSpPr>
            <p:nvPr/>
          </p:nvSpPr>
          <p:spPr bwMode="auto">
            <a:xfrm>
              <a:off x="1498" y="1473"/>
              <a:ext cx="0" cy="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6" name="Line 37"/>
            <p:cNvSpPr>
              <a:spLocks noChangeShapeType="1"/>
            </p:cNvSpPr>
            <p:nvPr/>
          </p:nvSpPr>
          <p:spPr bwMode="auto">
            <a:xfrm flipV="1">
              <a:off x="1489" y="790"/>
              <a:ext cx="933" cy="6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7" name="Text Box 38"/>
            <p:cNvSpPr txBox="1">
              <a:spLocks noChangeArrowheads="1"/>
            </p:cNvSpPr>
            <p:nvPr/>
          </p:nvSpPr>
          <p:spPr bwMode="auto">
            <a:xfrm>
              <a:off x="644" y="144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23638" name="Text Box 39"/>
            <p:cNvSpPr txBox="1">
              <a:spLocks noChangeArrowheads="1"/>
            </p:cNvSpPr>
            <p:nvPr/>
          </p:nvSpPr>
          <p:spPr bwMode="auto">
            <a:xfrm>
              <a:off x="1252" y="193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3639" name="Text Box 40"/>
            <p:cNvSpPr txBox="1">
              <a:spLocks noChangeArrowheads="1"/>
            </p:cNvSpPr>
            <p:nvPr/>
          </p:nvSpPr>
          <p:spPr bwMode="auto">
            <a:xfrm>
              <a:off x="2460" y="1637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3640" name="Text Box 41"/>
            <p:cNvSpPr txBox="1">
              <a:spLocks noChangeArrowheads="1"/>
            </p:cNvSpPr>
            <p:nvPr/>
          </p:nvSpPr>
          <p:spPr bwMode="auto">
            <a:xfrm>
              <a:off x="1242" y="127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3641" name="Text Box 42"/>
            <p:cNvSpPr txBox="1">
              <a:spLocks noChangeArrowheads="1"/>
            </p:cNvSpPr>
            <p:nvPr/>
          </p:nvSpPr>
          <p:spPr bwMode="auto">
            <a:xfrm>
              <a:off x="2453" y="566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3642" name="Text Box 43"/>
            <p:cNvSpPr txBox="1">
              <a:spLocks noChangeArrowheads="1"/>
            </p:cNvSpPr>
            <p:nvPr/>
          </p:nvSpPr>
          <p:spPr bwMode="auto">
            <a:xfrm>
              <a:off x="838" y="1568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  <p:sp>
          <p:nvSpPr>
            <p:cNvPr id="23643" name="Text Box 44"/>
            <p:cNvSpPr txBox="1">
              <a:spLocks noChangeArrowheads="1"/>
            </p:cNvSpPr>
            <p:nvPr/>
          </p:nvSpPr>
          <p:spPr bwMode="auto">
            <a:xfrm>
              <a:off x="838" y="1319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</p:grpSp>
      <p:grpSp>
        <p:nvGrpSpPr>
          <p:cNvPr id="23586" name="Group 45"/>
          <p:cNvGrpSpPr>
            <a:grpSpLocks/>
          </p:cNvGrpSpPr>
          <p:nvPr/>
        </p:nvGrpSpPr>
        <p:grpSpPr bwMode="auto">
          <a:xfrm>
            <a:off x="5672138" y="1704975"/>
            <a:ext cx="3097212" cy="2768600"/>
            <a:chOff x="3573" y="1074"/>
            <a:chExt cx="1951" cy="1744"/>
          </a:xfrm>
        </p:grpSpPr>
        <p:sp>
          <p:nvSpPr>
            <p:cNvPr id="23588" name="Freeform 46"/>
            <p:cNvSpPr>
              <a:spLocks/>
            </p:cNvSpPr>
            <p:nvPr/>
          </p:nvSpPr>
          <p:spPr bwMode="auto">
            <a:xfrm>
              <a:off x="3684" y="1993"/>
              <a:ext cx="1840" cy="800"/>
            </a:xfrm>
            <a:custGeom>
              <a:avLst/>
              <a:gdLst>
                <a:gd name="T0" fmla="*/ 0 w 2545"/>
                <a:gd name="T1" fmla="*/ 380 h 1106"/>
                <a:gd name="T2" fmla="*/ 494 w 2545"/>
                <a:gd name="T3" fmla="*/ 0 h 1106"/>
                <a:gd name="T4" fmla="*/ 1330 w 2545"/>
                <a:gd name="T5" fmla="*/ 202 h 1106"/>
                <a:gd name="T6" fmla="*/ 836 w 2545"/>
                <a:gd name="T7" fmla="*/ 579 h 1106"/>
                <a:gd name="T8" fmla="*/ 0 w 2545"/>
                <a:gd name="T9" fmla="*/ 38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5"/>
                <a:gd name="T16" fmla="*/ 0 h 1106"/>
                <a:gd name="T17" fmla="*/ 2545 w 2545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5" h="1106">
                  <a:moveTo>
                    <a:pt x="0" y="727"/>
                  </a:moveTo>
                  <a:lnTo>
                    <a:pt x="945" y="0"/>
                  </a:lnTo>
                  <a:lnTo>
                    <a:pt x="2545" y="386"/>
                  </a:lnTo>
                  <a:lnTo>
                    <a:pt x="1600" y="1106"/>
                  </a:lnTo>
                  <a:lnTo>
                    <a:pt x="0" y="727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19050" cap="flat" cmpd="sng">
              <a:solidFill>
                <a:srgbClr val="3399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9" name="Freeform 47"/>
            <p:cNvSpPr>
              <a:spLocks/>
            </p:cNvSpPr>
            <p:nvPr/>
          </p:nvSpPr>
          <p:spPr bwMode="auto">
            <a:xfrm>
              <a:off x="3684" y="1074"/>
              <a:ext cx="678" cy="1435"/>
            </a:xfrm>
            <a:custGeom>
              <a:avLst/>
              <a:gdLst>
                <a:gd name="T0" fmla="*/ 0 w 938"/>
                <a:gd name="T1" fmla="*/ 1037 h 1985"/>
                <a:gd name="T2" fmla="*/ 0 w 938"/>
                <a:gd name="T3" fmla="*/ 372 h 1985"/>
                <a:gd name="T4" fmla="*/ 490 w 938"/>
                <a:gd name="T5" fmla="*/ 0 h 1985"/>
                <a:gd name="T6" fmla="*/ 490 w 938"/>
                <a:gd name="T7" fmla="*/ 661 h 1985"/>
                <a:gd name="T8" fmla="*/ 0 w 938"/>
                <a:gd name="T9" fmla="*/ 1037 h 19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8"/>
                <a:gd name="T16" fmla="*/ 0 h 1985"/>
                <a:gd name="T17" fmla="*/ 938 w 938"/>
                <a:gd name="T18" fmla="*/ 1985 h 19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8" h="1985">
                  <a:moveTo>
                    <a:pt x="0" y="1985"/>
                  </a:moveTo>
                  <a:lnTo>
                    <a:pt x="0" y="713"/>
                  </a:lnTo>
                  <a:lnTo>
                    <a:pt x="938" y="0"/>
                  </a:lnTo>
                  <a:lnTo>
                    <a:pt x="938" y="1265"/>
                  </a:lnTo>
                  <a:lnTo>
                    <a:pt x="0" y="1985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19050" cap="flat" cmpd="sng">
              <a:solidFill>
                <a:srgbClr val="00CC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Line 48"/>
            <p:cNvSpPr>
              <a:spLocks noChangeShapeType="1"/>
            </p:cNvSpPr>
            <p:nvPr/>
          </p:nvSpPr>
          <p:spPr bwMode="auto">
            <a:xfrm flipV="1">
              <a:off x="4582" y="1911"/>
              <a:ext cx="0" cy="5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1" name="Line 49"/>
            <p:cNvSpPr>
              <a:spLocks noChangeShapeType="1"/>
            </p:cNvSpPr>
            <p:nvPr/>
          </p:nvSpPr>
          <p:spPr bwMode="auto">
            <a:xfrm flipV="1">
              <a:off x="4877" y="23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Line 50"/>
            <p:cNvSpPr>
              <a:spLocks noChangeShapeType="1"/>
            </p:cNvSpPr>
            <p:nvPr/>
          </p:nvSpPr>
          <p:spPr bwMode="auto">
            <a:xfrm flipV="1">
              <a:off x="3834" y="2141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Line 51"/>
            <p:cNvSpPr>
              <a:spLocks noChangeShapeType="1"/>
            </p:cNvSpPr>
            <p:nvPr/>
          </p:nvSpPr>
          <p:spPr bwMode="auto">
            <a:xfrm flipH="1" flipV="1">
              <a:off x="3832" y="2396"/>
              <a:ext cx="1045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Line 52"/>
            <p:cNvSpPr>
              <a:spLocks noChangeShapeType="1"/>
            </p:cNvSpPr>
            <p:nvPr/>
          </p:nvSpPr>
          <p:spPr bwMode="auto">
            <a:xfrm flipV="1">
              <a:off x="3972" y="1756"/>
              <a:ext cx="0" cy="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5" name="Line 53"/>
            <p:cNvSpPr>
              <a:spLocks noChangeShapeType="1"/>
            </p:cNvSpPr>
            <p:nvPr/>
          </p:nvSpPr>
          <p:spPr bwMode="auto">
            <a:xfrm flipH="1" flipV="1">
              <a:off x="3977" y="1761"/>
              <a:ext cx="611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6" name="Line 54"/>
            <p:cNvSpPr>
              <a:spLocks noChangeShapeType="1"/>
            </p:cNvSpPr>
            <p:nvPr/>
          </p:nvSpPr>
          <p:spPr bwMode="auto">
            <a:xfrm flipH="1" flipV="1">
              <a:off x="4573" y="2413"/>
              <a:ext cx="304" cy="226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7" name="Line 55"/>
            <p:cNvSpPr>
              <a:spLocks noChangeShapeType="1"/>
            </p:cNvSpPr>
            <p:nvPr/>
          </p:nvSpPr>
          <p:spPr bwMode="auto">
            <a:xfrm flipH="1" flipV="1">
              <a:off x="3966" y="2288"/>
              <a:ext cx="616" cy="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8" name="Line 56"/>
            <p:cNvSpPr>
              <a:spLocks noChangeShapeType="1"/>
            </p:cNvSpPr>
            <p:nvPr/>
          </p:nvSpPr>
          <p:spPr bwMode="auto">
            <a:xfrm flipH="1">
              <a:off x="3834" y="1760"/>
              <a:ext cx="137" cy="408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9" name="Text Box 57"/>
            <p:cNvSpPr txBox="1">
              <a:spLocks noChangeArrowheads="1"/>
            </p:cNvSpPr>
            <p:nvPr/>
          </p:nvSpPr>
          <p:spPr bwMode="auto">
            <a:xfrm>
              <a:off x="3646" y="1545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/>
                <a:t>V</a:t>
              </a:r>
            </a:p>
          </p:txBody>
        </p:sp>
        <p:sp>
          <p:nvSpPr>
            <p:cNvPr id="23600" name="Text Box 58"/>
            <p:cNvSpPr txBox="1">
              <a:spLocks noChangeArrowheads="1"/>
            </p:cNvSpPr>
            <p:nvPr/>
          </p:nvSpPr>
          <p:spPr bwMode="auto">
            <a:xfrm>
              <a:off x="4719" y="2626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/>
                <a:t>H</a:t>
              </a:r>
              <a:endParaRPr lang="en-US" altLang="zh-CN" sz="2000" i="0" baseline="0"/>
            </a:p>
          </p:txBody>
        </p:sp>
        <p:sp>
          <p:nvSpPr>
            <p:cNvPr id="23601" name="Text Box 59"/>
            <p:cNvSpPr txBox="1">
              <a:spLocks noChangeArrowheads="1"/>
            </p:cNvSpPr>
            <p:nvPr/>
          </p:nvSpPr>
          <p:spPr bwMode="auto">
            <a:xfrm>
              <a:off x="3573" y="2478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/>
                <a:t>X</a:t>
              </a:r>
            </a:p>
          </p:txBody>
        </p:sp>
        <p:sp>
          <p:nvSpPr>
            <p:cNvPr id="155708" name="Text Box 60"/>
            <p:cNvSpPr txBox="1">
              <a:spLocks noChangeArrowheads="1"/>
            </p:cNvSpPr>
            <p:nvPr/>
          </p:nvSpPr>
          <p:spPr bwMode="auto">
            <a:xfrm>
              <a:off x="5176" y="2449"/>
              <a:ext cx="23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14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sz="10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14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55709" name="Text Box 61"/>
            <p:cNvSpPr txBox="1">
              <a:spLocks noChangeArrowheads="1"/>
            </p:cNvSpPr>
            <p:nvPr/>
          </p:nvSpPr>
          <p:spPr bwMode="auto">
            <a:xfrm>
              <a:off x="4729" y="1274"/>
              <a:ext cx="23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14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sz="1000" i="0" baseline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2</a:t>
              </a:r>
              <a:endParaRPr kumimoji="1" lang="en-US" altLang="zh-CN" sz="14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23604" name="Text Box 62"/>
            <p:cNvSpPr txBox="1">
              <a:spLocks noChangeArrowheads="1"/>
            </p:cNvSpPr>
            <p:nvPr/>
          </p:nvSpPr>
          <p:spPr bwMode="auto">
            <a:xfrm>
              <a:off x="4848" y="2333"/>
              <a:ext cx="1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B</a:t>
              </a:r>
            </a:p>
          </p:txBody>
        </p:sp>
        <p:sp>
          <p:nvSpPr>
            <p:cNvPr id="23605" name="Text Box 63"/>
            <p:cNvSpPr txBox="1">
              <a:spLocks noChangeArrowheads="1"/>
            </p:cNvSpPr>
            <p:nvPr/>
          </p:nvSpPr>
          <p:spPr bwMode="auto">
            <a:xfrm>
              <a:off x="4459" y="236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a</a:t>
              </a:r>
            </a:p>
          </p:txBody>
        </p:sp>
        <p:sp>
          <p:nvSpPr>
            <p:cNvPr id="23606" name="Text Box 64"/>
            <p:cNvSpPr txBox="1">
              <a:spLocks noChangeArrowheads="1"/>
            </p:cNvSpPr>
            <p:nvPr/>
          </p:nvSpPr>
          <p:spPr bwMode="auto">
            <a:xfrm>
              <a:off x="4845" y="2577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b</a:t>
              </a:r>
            </a:p>
          </p:txBody>
        </p:sp>
        <p:sp>
          <p:nvSpPr>
            <p:cNvPr id="23607" name="Text Box 65"/>
            <p:cNvSpPr txBox="1">
              <a:spLocks noChangeArrowheads="1"/>
            </p:cNvSpPr>
            <p:nvPr/>
          </p:nvSpPr>
          <p:spPr bwMode="auto">
            <a:xfrm>
              <a:off x="3869" y="1602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a'</a:t>
              </a:r>
            </a:p>
          </p:txBody>
        </p:sp>
        <p:sp>
          <p:nvSpPr>
            <p:cNvPr id="23608" name="Text Box 66"/>
            <p:cNvSpPr txBox="1">
              <a:spLocks noChangeArrowheads="1"/>
            </p:cNvSpPr>
            <p:nvPr/>
          </p:nvSpPr>
          <p:spPr bwMode="auto">
            <a:xfrm>
              <a:off x="3669" y="2056"/>
              <a:ext cx="2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b'</a:t>
              </a:r>
            </a:p>
          </p:txBody>
        </p:sp>
        <p:sp>
          <p:nvSpPr>
            <p:cNvPr id="23609" name="Text Box 67"/>
            <p:cNvSpPr txBox="1">
              <a:spLocks noChangeArrowheads="1"/>
            </p:cNvSpPr>
            <p:nvPr/>
          </p:nvSpPr>
          <p:spPr bwMode="auto">
            <a:xfrm>
              <a:off x="4799" y="1541"/>
              <a:ext cx="2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800" i="0" baseline="0">
                <a:solidFill>
                  <a:srgbClr val="A50021"/>
                </a:solidFill>
              </a:endParaRPr>
            </a:p>
          </p:txBody>
        </p:sp>
        <p:grpSp>
          <p:nvGrpSpPr>
            <p:cNvPr id="23610" name="Group 68"/>
            <p:cNvGrpSpPr>
              <a:grpSpLocks/>
            </p:cNvGrpSpPr>
            <p:nvPr/>
          </p:nvGrpSpPr>
          <p:grpSpPr bwMode="auto">
            <a:xfrm>
              <a:off x="4632" y="1310"/>
              <a:ext cx="629" cy="1194"/>
              <a:chOff x="4632" y="1310"/>
              <a:chExt cx="629" cy="1194"/>
            </a:xfrm>
          </p:grpSpPr>
          <p:sp>
            <p:nvSpPr>
              <p:cNvPr id="23630" name="Freeform 69"/>
              <p:cNvSpPr>
                <a:spLocks/>
              </p:cNvSpPr>
              <p:nvPr/>
            </p:nvSpPr>
            <p:spPr bwMode="auto">
              <a:xfrm>
                <a:off x="4632" y="1310"/>
                <a:ext cx="589" cy="1194"/>
              </a:xfrm>
              <a:custGeom>
                <a:avLst/>
                <a:gdLst>
                  <a:gd name="T0" fmla="*/ 0 w 814"/>
                  <a:gd name="T1" fmla="*/ 0 h 1651"/>
                  <a:gd name="T2" fmla="*/ 0 w 814"/>
                  <a:gd name="T3" fmla="*/ 547 h 1651"/>
                  <a:gd name="T4" fmla="*/ 426 w 814"/>
                  <a:gd name="T5" fmla="*/ 863 h 1651"/>
                  <a:gd name="T6" fmla="*/ 426 w 814"/>
                  <a:gd name="T7" fmla="*/ 315 h 1651"/>
                  <a:gd name="T8" fmla="*/ 0 w 814"/>
                  <a:gd name="T9" fmla="*/ 0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4"/>
                  <a:gd name="T16" fmla="*/ 0 h 1651"/>
                  <a:gd name="T17" fmla="*/ 814 w 814"/>
                  <a:gd name="T18" fmla="*/ 1651 h 16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4" h="1651">
                    <a:moveTo>
                      <a:pt x="0" y="0"/>
                    </a:moveTo>
                    <a:lnTo>
                      <a:pt x="0" y="1047"/>
                    </a:lnTo>
                    <a:lnTo>
                      <a:pt x="814" y="1651"/>
                    </a:lnTo>
                    <a:lnTo>
                      <a:pt x="814" y="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99">
                  <a:alpha val="50195"/>
                </a:srgbClr>
              </a:solidFill>
              <a:ln w="19050" cap="flat" cmpd="sng">
                <a:solidFill>
                  <a:srgbClr val="FF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1" name="Text Box 70"/>
              <p:cNvSpPr txBox="1">
                <a:spLocks noChangeArrowheads="1"/>
              </p:cNvSpPr>
              <p:nvPr/>
            </p:nvSpPr>
            <p:spPr bwMode="auto">
              <a:xfrm>
                <a:off x="5037" y="1703"/>
                <a:ext cx="2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i="0" baseline="0">
                    <a:solidFill>
                      <a:srgbClr val="A50021"/>
                    </a:solidFill>
                  </a:rPr>
                  <a:t>P</a:t>
                </a:r>
                <a:r>
                  <a:rPr lang="en-US" altLang="zh-CN" sz="1000" i="0" baseline="0">
                    <a:solidFill>
                      <a:srgbClr val="A50021"/>
                    </a:solidFill>
                  </a:rPr>
                  <a:t>1</a:t>
                </a:r>
                <a:endParaRPr lang="en-US" altLang="zh-CN" sz="2800" i="0" baseline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3611" name="Text Box 71"/>
            <p:cNvSpPr txBox="1">
              <a:spLocks noChangeArrowheads="1"/>
            </p:cNvSpPr>
            <p:nvPr/>
          </p:nvSpPr>
          <p:spPr bwMode="auto">
            <a:xfrm>
              <a:off x="5090" y="2053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0" baseline="0">
                  <a:solidFill>
                    <a:srgbClr val="A50021"/>
                  </a:solidFill>
                </a:rPr>
                <a:t>b</a:t>
              </a:r>
              <a:r>
                <a:rPr lang="en-US" altLang="zh-CN" sz="1200" i="0" baseline="0">
                  <a:solidFill>
                    <a:srgbClr val="A50021"/>
                  </a:solidFill>
                </a:rPr>
                <a:t>1</a:t>
              </a:r>
              <a:endParaRPr lang="en-US" altLang="zh-CN" sz="1600" i="0" baseline="0">
                <a:solidFill>
                  <a:srgbClr val="A50021"/>
                </a:solidFill>
              </a:endParaRPr>
            </a:p>
          </p:txBody>
        </p:sp>
        <p:sp>
          <p:nvSpPr>
            <p:cNvPr id="23612" name="Line 72"/>
            <p:cNvSpPr>
              <a:spLocks noChangeShapeType="1"/>
            </p:cNvSpPr>
            <p:nvPr/>
          </p:nvSpPr>
          <p:spPr bwMode="auto">
            <a:xfrm flipV="1">
              <a:off x="4877" y="2440"/>
              <a:ext cx="266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73"/>
            <p:cNvSpPr>
              <a:spLocks noChangeShapeType="1"/>
            </p:cNvSpPr>
            <p:nvPr/>
          </p:nvSpPr>
          <p:spPr bwMode="auto">
            <a:xfrm flipV="1">
              <a:off x="4886" y="2216"/>
              <a:ext cx="259" cy="1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4" name="Line 74"/>
            <p:cNvSpPr>
              <a:spLocks noChangeShapeType="1"/>
            </p:cNvSpPr>
            <p:nvPr/>
          </p:nvSpPr>
          <p:spPr bwMode="auto">
            <a:xfrm flipV="1">
              <a:off x="4581" y="2225"/>
              <a:ext cx="26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5" name="Line 75"/>
            <p:cNvSpPr>
              <a:spLocks noChangeShapeType="1"/>
            </p:cNvSpPr>
            <p:nvPr/>
          </p:nvSpPr>
          <p:spPr bwMode="auto">
            <a:xfrm flipV="1">
              <a:off x="4594" y="1725"/>
              <a:ext cx="255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6" name="Line 76"/>
            <p:cNvSpPr>
              <a:spLocks noChangeShapeType="1"/>
            </p:cNvSpPr>
            <p:nvPr/>
          </p:nvSpPr>
          <p:spPr bwMode="auto">
            <a:xfrm>
              <a:off x="4845" y="1718"/>
              <a:ext cx="294" cy="506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Rectangle 77"/>
            <p:cNvSpPr>
              <a:spLocks noChangeArrowheads="1"/>
            </p:cNvSpPr>
            <p:nvPr/>
          </p:nvSpPr>
          <p:spPr bwMode="auto">
            <a:xfrm>
              <a:off x="4804" y="1553"/>
              <a:ext cx="2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1000" i="0" baseline="0">
                  <a:solidFill>
                    <a:srgbClr val="A50021"/>
                  </a:solidFill>
                </a:rPr>
                <a:t>1</a:t>
              </a:r>
              <a:endParaRPr lang="en-US" altLang="zh-CN" sz="1200" i="0" baseline="0">
                <a:solidFill>
                  <a:srgbClr val="A50021"/>
                </a:solidFill>
              </a:endParaRPr>
            </a:p>
          </p:txBody>
        </p:sp>
        <p:sp>
          <p:nvSpPr>
            <p:cNvPr id="23618" name="Line 78"/>
            <p:cNvSpPr>
              <a:spLocks noChangeShapeType="1"/>
            </p:cNvSpPr>
            <p:nvPr/>
          </p:nvSpPr>
          <p:spPr bwMode="auto">
            <a:xfrm flipV="1">
              <a:off x="5138" y="2212"/>
              <a:ext cx="0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Line 79"/>
            <p:cNvSpPr>
              <a:spLocks noChangeShapeType="1"/>
            </p:cNvSpPr>
            <p:nvPr/>
          </p:nvSpPr>
          <p:spPr bwMode="auto">
            <a:xfrm flipV="1">
              <a:off x="4843" y="1717"/>
              <a:ext cx="0" cy="5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0" name="Freeform 80"/>
            <p:cNvSpPr>
              <a:spLocks/>
            </p:cNvSpPr>
            <p:nvPr/>
          </p:nvSpPr>
          <p:spPr bwMode="auto">
            <a:xfrm>
              <a:off x="4104" y="1282"/>
              <a:ext cx="688" cy="789"/>
            </a:xfrm>
            <a:custGeom>
              <a:avLst/>
              <a:gdLst>
                <a:gd name="T0" fmla="*/ 119 w 952"/>
                <a:gd name="T1" fmla="*/ 275 h 1091"/>
                <a:gd name="T2" fmla="*/ 0 w 952"/>
                <a:gd name="T3" fmla="*/ 571 h 1091"/>
                <a:gd name="T4" fmla="*/ 383 w 952"/>
                <a:gd name="T5" fmla="*/ 294 h 1091"/>
                <a:gd name="T6" fmla="*/ 497 w 952"/>
                <a:gd name="T7" fmla="*/ 0 h 1091"/>
                <a:gd name="T8" fmla="*/ 119 w 952"/>
                <a:gd name="T9" fmla="*/ 275 h 10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2"/>
                <a:gd name="T16" fmla="*/ 0 h 1091"/>
                <a:gd name="T17" fmla="*/ 952 w 952"/>
                <a:gd name="T18" fmla="*/ 1091 h 10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2" h="1091">
                  <a:moveTo>
                    <a:pt x="229" y="526"/>
                  </a:moveTo>
                  <a:lnTo>
                    <a:pt x="0" y="1091"/>
                  </a:lnTo>
                  <a:lnTo>
                    <a:pt x="734" y="562"/>
                  </a:lnTo>
                  <a:lnTo>
                    <a:pt x="952" y="0"/>
                  </a:lnTo>
                  <a:lnTo>
                    <a:pt x="229" y="526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19050" cap="flat" cmpd="sng">
              <a:solidFill>
                <a:srgbClr val="FFFF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1" name="Text Box 81"/>
            <p:cNvSpPr txBox="1">
              <a:spLocks noChangeArrowheads="1"/>
            </p:cNvSpPr>
            <p:nvPr/>
          </p:nvSpPr>
          <p:spPr bwMode="auto">
            <a:xfrm>
              <a:off x="4129" y="1797"/>
              <a:ext cx="2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A50021"/>
                  </a:solidFill>
                </a:rPr>
                <a:t>P</a:t>
              </a:r>
              <a:r>
                <a:rPr lang="en-US" altLang="zh-CN" sz="1000" i="0" baseline="0">
                  <a:solidFill>
                    <a:srgbClr val="A50021"/>
                  </a:solidFill>
                </a:rPr>
                <a:t>2</a:t>
              </a:r>
              <a:endParaRPr lang="en-US" altLang="zh-CN" sz="1400" i="0" baseline="0">
                <a:solidFill>
                  <a:srgbClr val="A50021"/>
                </a:solidFill>
              </a:endParaRPr>
            </a:p>
          </p:txBody>
        </p:sp>
        <p:sp>
          <p:nvSpPr>
            <p:cNvPr id="23622" name="Line 82"/>
            <p:cNvSpPr>
              <a:spLocks noChangeShapeType="1"/>
            </p:cNvSpPr>
            <p:nvPr/>
          </p:nvSpPr>
          <p:spPr bwMode="auto">
            <a:xfrm>
              <a:off x="4705" y="1492"/>
              <a:ext cx="143" cy="2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83"/>
            <p:cNvSpPr>
              <a:spLocks noChangeShapeType="1"/>
            </p:cNvSpPr>
            <p:nvPr/>
          </p:nvSpPr>
          <p:spPr bwMode="auto">
            <a:xfrm flipV="1">
              <a:off x="4437" y="1489"/>
              <a:ext cx="2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4" name="Line 84"/>
            <p:cNvSpPr>
              <a:spLocks noChangeShapeType="1"/>
            </p:cNvSpPr>
            <p:nvPr/>
          </p:nvSpPr>
          <p:spPr bwMode="auto">
            <a:xfrm>
              <a:off x="4439" y="1667"/>
              <a:ext cx="148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Oval 85"/>
            <p:cNvSpPr>
              <a:spLocks noChangeArrowheads="1"/>
            </p:cNvSpPr>
            <p:nvPr/>
          </p:nvSpPr>
          <p:spPr bwMode="auto">
            <a:xfrm>
              <a:off x="4416" y="1643"/>
              <a:ext cx="64" cy="6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>
                <a:latin typeface="ISOCPEUR" pitchFamily="34" charset="0"/>
              </a:endParaRPr>
            </a:p>
          </p:txBody>
        </p:sp>
        <p:sp>
          <p:nvSpPr>
            <p:cNvPr id="23626" name="Text Box 86"/>
            <p:cNvSpPr txBox="1">
              <a:spLocks noChangeArrowheads="1"/>
            </p:cNvSpPr>
            <p:nvPr/>
          </p:nvSpPr>
          <p:spPr bwMode="auto">
            <a:xfrm>
              <a:off x="4095" y="1469"/>
              <a:ext cx="41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0" baseline="0">
                  <a:solidFill>
                    <a:srgbClr val="A50021"/>
                  </a:solidFill>
                </a:rPr>
                <a:t>a</a:t>
              </a:r>
              <a:r>
                <a:rPr lang="en-US" altLang="zh-CN" sz="1200" i="0" baseline="0">
                  <a:solidFill>
                    <a:srgbClr val="A50021"/>
                  </a:solidFill>
                </a:rPr>
                <a:t>2</a:t>
              </a:r>
              <a:r>
                <a:rPr lang="en-US" altLang="zh-CN" sz="1600" i="0" baseline="0">
                  <a:solidFill>
                    <a:srgbClr val="A50021"/>
                  </a:solidFill>
                </a:rPr>
                <a:t>b</a:t>
              </a:r>
              <a:r>
                <a:rPr lang="en-US" altLang="zh-CN" sz="1200" i="0" baseline="0">
                  <a:solidFill>
                    <a:srgbClr val="A50021"/>
                  </a:solidFill>
                </a:rPr>
                <a:t>2</a:t>
              </a:r>
              <a:endParaRPr lang="en-US" altLang="zh-CN" sz="1600" i="0" baseline="0">
                <a:solidFill>
                  <a:srgbClr val="A50021"/>
                </a:solidFill>
              </a:endParaRPr>
            </a:p>
          </p:txBody>
        </p:sp>
        <p:sp>
          <p:nvSpPr>
            <p:cNvPr id="23627" name="Line 87"/>
            <p:cNvSpPr>
              <a:spLocks noChangeShapeType="1"/>
            </p:cNvSpPr>
            <p:nvPr/>
          </p:nvSpPr>
          <p:spPr bwMode="auto">
            <a:xfrm flipH="1" flipV="1">
              <a:off x="3835" y="2168"/>
              <a:ext cx="1045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8" name="Text Box 88"/>
            <p:cNvSpPr txBox="1">
              <a:spLocks noChangeArrowheads="1"/>
            </p:cNvSpPr>
            <p:nvPr/>
          </p:nvSpPr>
          <p:spPr bwMode="auto">
            <a:xfrm>
              <a:off x="4591" y="1820"/>
              <a:ext cx="1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0" baseline="0">
                  <a:solidFill>
                    <a:srgbClr val="000066"/>
                  </a:solidFill>
                </a:rPr>
                <a:t>A</a:t>
              </a:r>
            </a:p>
          </p:txBody>
        </p:sp>
        <p:sp>
          <p:nvSpPr>
            <p:cNvPr id="23629" name="Line 89"/>
            <p:cNvSpPr>
              <a:spLocks noChangeShapeType="1"/>
            </p:cNvSpPr>
            <p:nvPr/>
          </p:nvSpPr>
          <p:spPr bwMode="auto">
            <a:xfrm>
              <a:off x="4583" y="1910"/>
              <a:ext cx="298" cy="498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5738" name="Text Box 90"/>
          <p:cNvSpPr txBox="1">
            <a:spLocks noChangeArrowheads="1"/>
          </p:cNvSpPr>
          <p:nvPr/>
        </p:nvSpPr>
        <p:spPr bwMode="auto">
          <a:xfrm>
            <a:off x="4602163" y="922338"/>
            <a:ext cx="4095750" cy="5191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FF0000"/>
                </a:solidFill>
                <a:ea typeface="黑体" pitchFamily="2" charset="-122"/>
              </a:rPr>
              <a:t>注意新投影轴方向的确定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5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55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5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5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5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5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5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75"/>
                                        <p:tgtEl>
                                          <p:spTgt spid="155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55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55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5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5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7" dur="500"/>
                                        <p:tgtEl>
                                          <p:spTgt spid="15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nimBg="1"/>
      <p:bldP spid="155651" grpId="0" animBg="1"/>
      <p:bldP spid="155652" grpId="0" animBg="1"/>
      <p:bldP spid="155653" grpId="0" animBg="1"/>
      <p:bldP spid="155654" grpId="0" animBg="1"/>
      <p:bldP spid="155655" grpId="0" autoUpdateAnimBg="0"/>
      <p:bldP spid="155656" grpId="0" autoUpdateAnimBg="0"/>
      <p:bldP spid="155657" grpId="0" animBg="1"/>
      <p:bldP spid="155658" grpId="0" autoUpdateAnimBg="0"/>
      <p:bldP spid="155659" grpId="0" autoUpdateAnimBg="0"/>
      <p:bldP spid="155660" grpId="0" autoUpdateAnimBg="0"/>
      <p:bldP spid="155661" grpId="0" animBg="1"/>
      <p:bldP spid="155662" grpId="0" animBg="1" autoUpdateAnimBg="0"/>
      <p:bldP spid="155663" grpId="0" build="p" autoUpdateAnimBg="0"/>
      <p:bldP spid="155664" grpId="0" animBg="1" autoUpdateAnimBg="0"/>
      <p:bldP spid="155665" grpId="0" build="p" autoUpdateAnimBg="0"/>
      <p:bldP spid="155666" grpId="0" animBg="1"/>
      <p:bldP spid="155667" grpId="0" animBg="1"/>
      <p:bldP spid="155668" grpId="0" animBg="1"/>
      <p:bldP spid="155669" grpId="0" animBg="1"/>
      <p:bldP spid="155670" grpId="0" animBg="1"/>
      <p:bldP spid="155671" grpId="0" animBg="1"/>
      <p:bldP spid="155672" grpId="0" build="p" autoUpdateAnimBg="0"/>
      <p:bldP spid="155673" grpId="0" build="p" autoUpdateAnimBg="0"/>
      <p:bldP spid="155674" grpId="0" build="p" autoUpdateAnimBg="0" advAuto="0"/>
      <p:bldP spid="155675" grpId="0" build="p" autoUpdateAnimBg="0"/>
      <p:bldP spid="155676" grpId="0" build="p" autoUpdateAnimBg="0" advAuto="0"/>
      <p:bldP spid="155677" grpId="0" autoUpdateAnimBg="0"/>
      <p:bldP spid="155678" grpId="0" autoUpdateAnimBg="0"/>
      <p:bldP spid="15573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144080-430B-4C11-AE0E-F73B44410A3B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pSp>
        <p:nvGrpSpPr>
          <p:cNvPr id="24579" name="Group 54"/>
          <p:cNvGrpSpPr>
            <a:grpSpLocks/>
          </p:cNvGrpSpPr>
          <p:nvPr/>
        </p:nvGrpSpPr>
        <p:grpSpPr bwMode="auto">
          <a:xfrm>
            <a:off x="392113" y="914400"/>
            <a:ext cx="3279775" cy="2884488"/>
            <a:chOff x="83" y="699"/>
            <a:chExt cx="2066" cy="1817"/>
          </a:xfrm>
        </p:grpSpPr>
        <p:sp>
          <p:nvSpPr>
            <p:cNvPr id="24667" name="Line 55"/>
            <p:cNvSpPr>
              <a:spLocks noChangeShapeType="1"/>
            </p:cNvSpPr>
            <p:nvPr/>
          </p:nvSpPr>
          <p:spPr bwMode="auto">
            <a:xfrm>
              <a:off x="300" y="1817"/>
              <a:ext cx="18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68" name="Line 56"/>
            <p:cNvSpPr>
              <a:spLocks noChangeShapeType="1"/>
            </p:cNvSpPr>
            <p:nvPr/>
          </p:nvSpPr>
          <p:spPr bwMode="auto">
            <a:xfrm>
              <a:off x="1827" y="1076"/>
              <a:ext cx="0" cy="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69" name="Line 57"/>
            <p:cNvSpPr>
              <a:spLocks noChangeShapeType="1"/>
            </p:cNvSpPr>
            <p:nvPr/>
          </p:nvSpPr>
          <p:spPr bwMode="auto">
            <a:xfrm>
              <a:off x="1076" y="927"/>
              <a:ext cx="0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70" name="Line 58"/>
            <p:cNvSpPr>
              <a:spLocks noChangeShapeType="1"/>
            </p:cNvSpPr>
            <p:nvPr/>
          </p:nvSpPr>
          <p:spPr bwMode="auto">
            <a:xfrm flipV="1">
              <a:off x="895" y="1074"/>
              <a:ext cx="934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83" name="Oval 59"/>
            <p:cNvSpPr>
              <a:spLocks noChangeArrowheads="1"/>
            </p:cNvSpPr>
            <p:nvPr/>
          </p:nvSpPr>
          <p:spPr bwMode="auto">
            <a:xfrm>
              <a:off x="1033" y="1981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7884" name="Oval 60"/>
            <p:cNvSpPr>
              <a:spLocks noChangeArrowheads="1"/>
            </p:cNvSpPr>
            <p:nvPr/>
          </p:nvSpPr>
          <p:spPr bwMode="auto">
            <a:xfrm>
              <a:off x="1026" y="895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673" name="Text Box 61"/>
            <p:cNvSpPr txBox="1">
              <a:spLocks noChangeArrowheads="1"/>
            </p:cNvSpPr>
            <p:nvPr/>
          </p:nvSpPr>
          <p:spPr bwMode="auto">
            <a:xfrm>
              <a:off x="637" y="1390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4674" name="Text Box 62"/>
            <p:cNvSpPr txBox="1">
              <a:spLocks noChangeArrowheads="1"/>
            </p:cNvSpPr>
            <p:nvPr/>
          </p:nvSpPr>
          <p:spPr bwMode="auto">
            <a:xfrm>
              <a:off x="1789" y="770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4675" name="Text Box 63"/>
            <p:cNvSpPr txBox="1">
              <a:spLocks noChangeArrowheads="1"/>
            </p:cNvSpPr>
            <p:nvPr/>
          </p:nvSpPr>
          <p:spPr bwMode="auto">
            <a:xfrm>
              <a:off x="782" y="699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k'</a:t>
              </a:r>
            </a:p>
          </p:txBody>
        </p:sp>
        <p:sp>
          <p:nvSpPr>
            <p:cNvPr id="24676" name="Text Box 64"/>
            <p:cNvSpPr txBox="1">
              <a:spLocks noChangeArrowheads="1"/>
            </p:cNvSpPr>
            <p:nvPr/>
          </p:nvSpPr>
          <p:spPr bwMode="auto">
            <a:xfrm>
              <a:off x="1098" y="1774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k</a:t>
              </a:r>
            </a:p>
          </p:txBody>
        </p:sp>
        <p:sp>
          <p:nvSpPr>
            <p:cNvPr id="24677" name="Text Box 65"/>
            <p:cNvSpPr txBox="1">
              <a:spLocks noChangeArrowheads="1"/>
            </p:cNvSpPr>
            <p:nvPr/>
          </p:nvSpPr>
          <p:spPr bwMode="auto">
            <a:xfrm>
              <a:off x="674" y="21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4678" name="Text Box 66"/>
            <p:cNvSpPr txBox="1">
              <a:spLocks noChangeArrowheads="1"/>
            </p:cNvSpPr>
            <p:nvPr/>
          </p:nvSpPr>
          <p:spPr bwMode="auto">
            <a:xfrm>
              <a:off x="1800" y="177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4679" name="Text Box 67"/>
            <p:cNvSpPr txBox="1">
              <a:spLocks noChangeArrowheads="1"/>
            </p:cNvSpPr>
            <p:nvPr/>
          </p:nvSpPr>
          <p:spPr bwMode="auto">
            <a:xfrm>
              <a:off x="83" y="1644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24680" name="Line 68"/>
            <p:cNvSpPr>
              <a:spLocks noChangeShapeType="1"/>
            </p:cNvSpPr>
            <p:nvPr/>
          </p:nvSpPr>
          <p:spPr bwMode="auto">
            <a:xfrm flipH="1">
              <a:off x="890" y="2016"/>
              <a:ext cx="937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81" name="Line 69"/>
            <p:cNvSpPr>
              <a:spLocks noChangeShapeType="1"/>
            </p:cNvSpPr>
            <p:nvPr/>
          </p:nvSpPr>
          <p:spPr bwMode="auto">
            <a:xfrm>
              <a:off x="890" y="1572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82" name="Text Box 70"/>
            <p:cNvSpPr txBox="1">
              <a:spLocks noChangeArrowheads="1"/>
            </p:cNvSpPr>
            <p:nvPr/>
          </p:nvSpPr>
          <p:spPr bwMode="auto">
            <a:xfrm>
              <a:off x="246" y="154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24683" name="Text Box 71"/>
            <p:cNvSpPr txBox="1">
              <a:spLocks noChangeArrowheads="1"/>
            </p:cNvSpPr>
            <p:nvPr/>
          </p:nvSpPr>
          <p:spPr bwMode="auto">
            <a:xfrm>
              <a:off x="256" y="1779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</p:grpSp>
      <p:sp>
        <p:nvSpPr>
          <p:cNvPr id="77896" name="AutoShape 72" descr="蓝色砂纸"/>
          <p:cNvSpPr>
            <a:spLocks noChangeArrowheads="1"/>
          </p:cNvSpPr>
          <p:nvPr/>
        </p:nvSpPr>
        <p:spPr bwMode="auto">
          <a:xfrm>
            <a:off x="6154738" y="300038"/>
            <a:ext cx="2470150" cy="1425575"/>
          </a:xfrm>
          <a:prstGeom prst="wedgeRoundRectCallout">
            <a:avLst>
              <a:gd name="adj1" fmla="val -73972"/>
              <a:gd name="adj2" fmla="val -22718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/>
          </a:p>
        </p:txBody>
      </p:sp>
      <p:sp>
        <p:nvSpPr>
          <p:cNvPr id="77897" name="Text Box 73"/>
          <p:cNvSpPr txBox="1">
            <a:spLocks noChangeArrowheads="1"/>
          </p:cNvSpPr>
          <p:nvPr/>
        </p:nvSpPr>
        <p:spPr bwMode="auto">
          <a:xfrm>
            <a:off x="6199188" y="287338"/>
            <a:ext cx="260191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过点</a:t>
            </a:r>
            <a:r>
              <a:rPr lang="en-US" altLang="zh-CN" sz="2800" i="0" baseline="0"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作直线与</a:t>
            </a:r>
            <a:r>
              <a:rPr lang="en-US" altLang="zh-CN" sz="2800" i="0" baseline="0"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</a:rPr>
              <a:t>垂直相交并求其实长</a:t>
            </a:r>
          </a:p>
        </p:txBody>
      </p:sp>
      <p:sp>
        <p:nvSpPr>
          <p:cNvPr id="77898" name="Line 74"/>
          <p:cNvSpPr>
            <a:spLocks noChangeShapeType="1"/>
          </p:cNvSpPr>
          <p:nvPr/>
        </p:nvSpPr>
        <p:spPr bwMode="auto">
          <a:xfrm flipV="1">
            <a:off x="1033463" y="3103563"/>
            <a:ext cx="2727325" cy="1085850"/>
          </a:xfrm>
          <a:prstGeom prst="line">
            <a:avLst/>
          </a:prstGeom>
          <a:noFill/>
          <a:ln w="12700">
            <a:solidFill>
              <a:srgbClr val="00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99" name="Line 75"/>
          <p:cNvSpPr>
            <a:spLocks noChangeShapeType="1"/>
          </p:cNvSpPr>
          <p:nvPr/>
        </p:nvSpPr>
        <p:spPr bwMode="auto">
          <a:xfrm>
            <a:off x="1673225" y="3575050"/>
            <a:ext cx="257175" cy="64135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0" name="Line 76"/>
          <p:cNvSpPr>
            <a:spLocks noChangeShapeType="1"/>
          </p:cNvSpPr>
          <p:nvPr/>
        </p:nvSpPr>
        <p:spPr bwMode="auto">
          <a:xfrm>
            <a:off x="3157538" y="2994025"/>
            <a:ext cx="571500" cy="141287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1" name="Line 77"/>
          <p:cNvSpPr>
            <a:spLocks noChangeShapeType="1"/>
          </p:cNvSpPr>
          <p:nvPr/>
        </p:nvSpPr>
        <p:spPr bwMode="auto">
          <a:xfrm>
            <a:off x="1928813" y="4205288"/>
            <a:ext cx="1841500" cy="21748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2" name="Line 78"/>
          <p:cNvSpPr>
            <a:spLocks noChangeShapeType="1"/>
          </p:cNvSpPr>
          <p:nvPr/>
        </p:nvSpPr>
        <p:spPr bwMode="auto">
          <a:xfrm>
            <a:off x="3748088" y="4418013"/>
            <a:ext cx="700087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3" name="Line 79"/>
          <p:cNvSpPr>
            <a:spLocks noChangeShapeType="1"/>
          </p:cNvSpPr>
          <p:nvPr/>
        </p:nvSpPr>
        <p:spPr bwMode="auto">
          <a:xfrm>
            <a:off x="1989138" y="3063875"/>
            <a:ext cx="838200" cy="1987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4" name="Line 80"/>
          <p:cNvSpPr>
            <a:spLocks noChangeShapeType="1"/>
          </p:cNvSpPr>
          <p:nvPr/>
        </p:nvSpPr>
        <p:spPr bwMode="auto">
          <a:xfrm flipH="1">
            <a:off x="3916363" y="3559175"/>
            <a:ext cx="339725" cy="259238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5" name="Text Box 81"/>
          <p:cNvSpPr txBox="1">
            <a:spLocks noChangeArrowheads="1"/>
          </p:cNvSpPr>
          <p:nvPr/>
        </p:nvSpPr>
        <p:spPr bwMode="auto">
          <a:xfrm>
            <a:off x="522288" y="404971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66"/>
                </a:solidFill>
              </a:rPr>
              <a:t>X</a:t>
            </a:r>
            <a:r>
              <a:rPr lang="en-US" altLang="zh-CN" sz="2000" i="0" baseline="0">
                <a:solidFill>
                  <a:srgbClr val="003366"/>
                </a:solidFill>
              </a:rPr>
              <a:t>1</a:t>
            </a:r>
            <a:endParaRPr lang="en-US" altLang="zh-CN" sz="2800" i="0" baseline="0">
              <a:solidFill>
                <a:srgbClr val="003366"/>
              </a:solidFill>
            </a:endParaRPr>
          </a:p>
        </p:txBody>
      </p:sp>
      <p:sp>
        <p:nvSpPr>
          <p:cNvPr id="77906" name="Text Box 82"/>
          <p:cNvSpPr txBox="1">
            <a:spLocks noChangeArrowheads="1"/>
          </p:cNvSpPr>
          <p:nvPr/>
        </p:nvSpPr>
        <p:spPr bwMode="auto">
          <a:xfrm>
            <a:off x="3665538" y="3900488"/>
            <a:ext cx="509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b</a:t>
            </a:r>
            <a:r>
              <a:rPr lang="en-US" altLang="zh-CN" sz="2000" i="0" baseline="0">
                <a:solidFill>
                  <a:srgbClr val="000066"/>
                </a:solidFill>
              </a:rPr>
              <a:t>1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77907" name="Text Box 83"/>
          <p:cNvSpPr txBox="1">
            <a:spLocks noChangeArrowheads="1"/>
          </p:cNvSpPr>
          <p:nvPr/>
        </p:nvSpPr>
        <p:spPr bwMode="auto">
          <a:xfrm>
            <a:off x="2565400" y="5046663"/>
            <a:ext cx="50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333399"/>
                </a:solidFill>
              </a:rPr>
              <a:t>k</a:t>
            </a:r>
            <a:r>
              <a:rPr lang="en-US" altLang="zh-CN" sz="2000" i="0" baseline="0">
                <a:solidFill>
                  <a:srgbClr val="333399"/>
                </a:solidFill>
              </a:rPr>
              <a:t>1</a:t>
            </a:r>
            <a:endParaRPr lang="en-US" altLang="zh-CN" sz="2800" i="0" baseline="0">
              <a:solidFill>
                <a:srgbClr val="333399"/>
              </a:solidFill>
            </a:endParaRPr>
          </a:p>
        </p:txBody>
      </p:sp>
      <p:sp>
        <p:nvSpPr>
          <p:cNvPr id="77908" name="Line 84"/>
          <p:cNvSpPr>
            <a:spLocks noChangeShapeType="1"/>
          </p:cNvSpPr>
          <p:nvPr/>
        </p:nvSpPr>
        <p:spPr bwMode="auto">
          <a:xfrm>
            <a:off x="2841625" y="5072063"/>
            <a:ext cx="200660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09" name="Text Box 85"/>
          <p:cNvSpPr txBox="1">
            <a:spLocks noChangeArrowheads="1"/>
          </p:cNvSpPr>
          <p:nvPr/>
        </p:nvSpPr>
        <p:spPr bwMode="auto">
          <a:xfrm>
            <a:off x="3684588" y="6042025"/>
            <a:ext cx="56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77910" name="Line 86"/>
          <p:cNvSpPr>
            <a:spLocks noChangeShapeType="1"/>
          </p:cNvSpPr>
          <p:nvPr/>
        </p:nvSpPr>
        <p:spPr bwMode="auto">
          <a:xfrm>
            <a:off x="4481513" y="4494213"/>
            <a:ext cx="368300" cy="8048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1" name="Line 87"/>
          <p:cNvSpPr>
            <a:spLocks noChangeShapeType="1"/>
          </p:cNvSpPr>
          <p:nvPr/>
        </p:nvSpPr>
        <p:spPr bwMode="auto">
          <a:xfrm flipV="1">
            <a:off x="2832100" y="4324350"/>
            <a:ext cx="93663" cy="681038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2" name="Text Box 88"/>
          <p:cNvSpPr txBox="1">
            <a:spLocks noChangeArrowheads="1"/>
          </p:cNvSpPr>
          <p:nvPr/>
        </p:nvSpPr>
        <p:spPr bwMode="auto">
          <a:xfrm>
            <a:off x="2863850" y="4275138"/>
            <a:ext cx="40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l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77913" name="Line 89"/>
          <p:cNvSpPr>
            <a:spLocks noChangeShapeType="1"/>
          </p:cNvSpPr>
          <p:nvPr/>
        </p:nvSpPr>
        <p:spPr bwMode="auto">
          <a:xfrm flipH="1" flipV="1">
            <a:off x="2463800" y="3248025"/>
            <a:ext cx="449263" cy="1057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4" name="Text Box 90"/>
          <p:cNvSpPr txBox="1">
            <a:spLocks noChangeArrowheads="1"/>
          </p:cNvSpPr>
          <p:nvPr/>
        </p:nvSpPr>
        <p:spPr bwMode="auto">
          <a:xfrm>
            <a:off x="2416175" y="2767013"/>
            <a:ext cx="282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l</a:t>
            </a:r>
          </a:p>
        </p:txBody>
      </p:sp>
      <p:sp>
        <p:nvSpPr>
          <p:cNvPr id="77915" name="Line 91"/>
          <p:cNvSpPr>
            <a:spLocks noChangeShapeType="1"/>
          </p:cNvSpPr>
          <p:nvPr/>
        </p:nvSpPr>
        <p:spPr bwMode="auto">
          <a:xfrm>
            <a:off x="2009775" y="3059113"/>
            <a:ext cx="438150" cy="20161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6" name="Line 92"/>
          <p:cNvSpPr>
            <a:spLocks noChangeShapeType="1"/>
          </p:cNvSpPr>
          <p:nvPr/>
        </p:nvSpPr>
        <p:spPr bwMode="auto">
          <a:xfrm flipH="1" flipV="1">
            <a:off x="2454275" y="1898650"/>
            <a:ext cx="1588" cy="1379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7" name="Line 93"/>
          <p:cNvSpPr>
            <a:spLocks noChangeShapeType="1"/>
          </p:cNvSpPr>
          <p:nvPr/>
        </p:nvSpPr>
        <p:spPr bwMode="auto">
          <a:xfrm flipH="1" flipV="1">
            <a:off x="1995488" y="1343025"/>
            <a:ext cx="461962" cy="554038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918" name="Text Box 94"/>
          <p:cNvSpPr txBox="1">
            <a:spLocks noChangeArrowheads="1"/>
          </p:cNvSpPr>
          <p:nvPr/>
        </p:nvSpPr>
        <p:spPr bwMode="auto">
          <a:xfrm>
            <a:off x="2312988" y="1379538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l'</a:t>
            </a:r>
          </a:p>
        </p:txBody>
      </p:sp>
      <p:sp>
        <p:nvSpPr>
          <p:cNvPr id="77919" name="Text Box 95" descr="紫色网格"/>
          <p:cNvSpPr txBox="1">
            <a:spLocks noChangeArrowheads="1"/>
          </p:cNvSpPr>
          <p:nvPr/>
        </p:nvSpPr>
        <p:spPr bwMode="auto">
          <a:xfrm>
            <a:off x="407988" y="4641850"/>
            <a:ext cx="1141412" cy="519113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//ab</a:t>
            </a:r>
          </a:p>
        </p:txBody>
      </p:sp>
      <p:sp>
        <p:nvSpPr>
          <p:cNvPr id="77920" name="AutoShape 96" descr="紫色网格"/>
          <p:cNvSpPr>
            <a:spLocks noChangeArrowheads="1"/>
          </p:cNvSpPr>
          <p:nvPr/>
        </p:nvSpPr>
        <p:spPr bwMode="auto">
          <a:xfrm>
            <a:off x="606425" y="5872163"/>
            <a:ext cx="2076450" cy="615950"/>
          </a:xfrm>
          <a:prstGeom prst="wedgeEllipseCallout">
            <a:avLst>
              <a:gd name="adj1" fmla="val 48472"/>
              <a:gd name="adj2" fmla="val -98968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/>
          </a:p>
        </p:txBody>
      </p:sp>
      <p:sp>
        <p:nvSpPr>
          <p:cNvPr id="77921" name="Text Box 97"/>
          <p:cNvSpPr txBox="1">
            <a:spLocks noChangeArrowheads="1"/>
          </p:cNvSpPr>
          <p:nvPr/>
        </p:nvSpPr>
        <p:spPr bwMode="auto">
          <a:xfrm>
            <a:off x="1054100" y="5903913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k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l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//X</a:t>
            </a:r>
            <a:r>
              <a:rPr lang="en-US" altLang="zh-CN" sz="2000" i="0" baseline="0">
                <a:solidFill>
                  <a:schemeClr val="bg1"/>
                </a:solidFill>
              </a:rPr>
              <a:t>2</a:t>
            </a:r>
            <a:endParaRPr lang="en-US" altLang="zh-CN" sz="2800" i="0" baseline="0">
              <a:solidFill>
                <a:schemeClr val="bg1"/>
              </a:solidFill>
            </a:endParaRPr>
          </a:p>
        </p:txBody>
      </p:sp>
      <p:sp>
        <p:nvSpPr>
          <p:cNvPr id="77922" name="Oval 98"/>
          <p:cNvSpPr>
            <a:spLocks noChangeArrowheads="1"/>
          </p:cNvSpPr>
          <p:nvPr/>
        </p:nvSpPr>
        <p:spPr bwMode="auto">
          <a:xfrm>
            <a:off x="2852738" y="4248150"/>
            <a:ext cx="155575" cy="1555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23" name="Text Box 99"/>
          <p:cNvSpPr txBox="1">
            <a:spLocks noChangeArrowheads="1"/>
          </p:cNvSpPr>
          <p:nvPr/>
        </p:nvSpPr>
        <p:spPr bwMode="auto">
          <a:xfrm>
            <a:off x="725488" y="37226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77924" name="Text Box 100"/>
          <p:cNvSpPr txBox="1">
            <a:spLocks noChangeArrowheads="1"/>
          </p:cNvSpPr>
          <p:nvPr/>
        </p:nvSpPr>
        <p:spPr bwMode="auto">
          <a:xfrm>
            <a:off x="955675" y="4125913"/>
            <a:ext cx="528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66"/>
                </a:solidFill>
              </a:rPr>
              <a:t>P</a:t>
            </a:r>
            <a:r>
              <a:rPr lang="en-US" altLang="zh-CN" sz="2000" i="0" baseline="0">
                <a:solidFill>
                  <a:srgbClr val="003366"/>
                </a:solidFill>
              </a:rPr>
              <a:t>1</a:t>
            </a:r>
            <a:endParaRPr lang="en-US" altLang="zh-CN" sz="2800" i="0" baseline="0">
              <a:solidFill>
                <a:srgbClr val="003366"/>
              </a:solidFill>
            </a:endParaRPr>
          </a:p>
        </p:txBody>
      </p:sp>
      <p:sp>
        <p:nvSpPr>
          <p:cNvPr id="77925" name="Text Box 101"/>
          <p:cNvSpPr txBox="1">
            <a:spLocks noChangeArrowheads="1"/>
          </p:cNvSpPr>
          <p:nvPr/>
        </p:nvSpPr>
        <p:spPr bwMode="auto">
          <a:xfrm>
            <a:off x="3444875" y="5727700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3366"/>
                </a:solidFill>
              </a:rPr>
              <a:t>P</a:t>
            </a:r>
            <a:r>
              <a:rPr lang="en-US" altLang="zh-CN" sz="2000" i="0" baseline="0">
                <a:solidFill>
                  <a:srgbClr val="003366"/>
                </a:solidFill>
              </a:rPr>
              <a:t>1</a:t>
            </a:r>
            <a:endParaRPr lang="en-US" altLang="zh-CN" sz="2800" i="0" baseline="0">
              <a:solidFill>
                <a:srgbClr val="003366"/>
              </a:solidFill>
            </a:endParaRPr>
          </a:p>
        </p:txBody>
      </p:sp>
      <p:sp>
        <p:nvSpPr>
          <p:cNvPr id="77926" name="Text Box 102"/>
          <p:cNvSpPr txBox="1">
            <a:spLocks noChangeArrowheads="1"/>
          </p:cNvSpPr>
          <p:nvPr/>
        </p:nvSpPr>
        <p:spPr bwMode="auto">
          <a:xfrm>
            <a:off x="3906838" y="5772150"/>
            <a:ext cx="528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77927" name="Rectangle 103"/>
          <p:cNvSpPr>
            <a:spLocks noChangeArrowheads="1"/>
          </p:cNvSpPr>
          <p:nvPr/>
        </p:nvSpPr>
        <p:spPr bwMode="auto">
          <a:xfrm>
            <a:off x="5129213" y="169863"/>
            <a:ext cx="3856037" cy="17541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28" name="Text Box 104"/>
          <p:cNvSpPr txBox="1">
            <a:spLocks noChangeArrowheads="1"/>
          </p:cNvSpPr>
          <p:nvPr/>
        </p:nvSpPr>
        <p:spPr bwMode="auto">
          <a:xfrm>
            <a:off x="5870575" y="300038"/>
            <a:ext cx="2019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6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空间分析</a:t>
            </a:r>
          </a:p>
        </p:txBody>
      </p:sp>
      <p:sp>
        <p:nvSpPr>
          <p:cNvPr id="77929" name="Text Box 105"/>
          <p:cNvSpPr txBox="1">
            <a:spLocks noChangeArrowheads="1"/>
          </p:cNvSpPr>
          <p:nvPr/>
        </p:nvSpPr>
        <p:spPr bwMode="auto">
          <a:xfrm>
            <a:off x="5591175" y="847725"/>
            <a:ext cx="334168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在什么情况下所求线段的投影直接反映其实长</a:t>
            </a:r>
            <a:r>
              <a:rPr lang="en-US" altLang="zh-CN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grpSp>
        <p:nvGrpSpPr>
          <p:cNvPr id="3" name="Group 106"/>
          <p:cNvGrpSpPr>
            <a:grpSpLocks/>
          </p:cNvGrpSpPr>
          <p:nvPr/>
        </p:nvGrpSpPr>
        <p:grpSpPr bwMode="auto">
          <a:xfrm>
            <a:off x="5472113" y="2425700"/>
            <a:ext cx="2338387" cy="2289175"/>
            <a:chOff x="2966" y="1501"/>
            <a:chExt cx="1473" cy="1442"/>
          </a:xfrm>
        </p:grpSpPr>
        <p:sp>
          <p:nvSpPr>
            <p:cNvPr id="24652" name="Text Box 107"/>
            <p:cNvSpPr txBox="1">
              <a:spLocks noChangeArrowheads="1"/>
            </p:cNvSpPr>
            <p:nvPr/>
          </p:nvSpPr>
          <p:spPr bwMode="auto">
            <a:xfrm>
              <a:off x="3235" y="150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0" baseline="0"/>
                <a:t>A</a:t>
              </a:r>
              <a:endParaRPr lang="en-US" altLang="zh-CN" sz="2800" i="0" baseline="0"/>
            </a:p>
          </p:txBody>
        </p:sp>
        <p:grpSp>
          <p:nvGrpSpPr>
            <p:cNvPr id="24653" name="Group 108"/>
            <p:cNvGrpSpPr>
              <a:grpSpLocks/>
            </p:cNvGrpSpPr>
            <p:nvPr/>
          </p:nvGrpSpPr>
          <p:grpSpPr bwMode="auto">
            <a:xfrm>
              <a:off x="2966" y="1678"/>
              <a:ext cx="1473" cy="1265"/>
              <a:chOff x="2966" y="1678"/>
              <a:chExt cx="1473" cy="1265"/>
            </a:xfrm>
          </p:grpSpPr>
          <p:sp>
            <p:nvSpPr>
              <p:cNvPr id="24654" name="Line 109"/>
              <p:cNvSpPr>
                <a:spLocks noChangeShapeType="1"/>
              </p:cNvSpPr>
              <p:nvPr/>
            </p:nvSpPr>
            <p:spPr bwMode="auto">
              <a:xfrm flipV="1">
                <a:off x="3469" y="1930"/>
                <a:ext cx="558" cy="73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5" name="Line 110"/>
              <p:cNvSpPr>
                <a:spLocks noChangeShapeType="1"/>
              </p:cNvSpPr>
              <p:nvPr/>
            </p:nvSpPr>
            <p:spPr bwMode="auto">
              <a:xfrm>
                <a:off x="3465" y="1678"/>
                <a:ext cx="0" cy="600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6" name="Text Box 111"/>
              <p:cNvSpPr txBox="1">
                <a:spLocks noChangeArrowheads="1"/>
              </p:cNvSpPr>
              <p:nvPr/>
            </p:nvSpPr>
            <p:spPr bwMode="auto">
              <a:xfrm>
                <a:off x="3227" y="213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/>
                  <a:t>B</a:t>
                </a:r>
                <a:endParaRPr lang="en-US" altLang="zh-CN" sz="2800" i="0" baseline="0"/>
              </a:p>
            </p:txBody>
          </p:sp>
          <p:sp>
            <p:nvSpPr>
              <p:cNvPr id="24657" name="Text Box 112"/>
              <p:cNvSpPr txBox="1">
                <a:spLocks noChangeArrowheads="1"/>
              </p:cNvSpPr>
              <p:nvPr/>
            </p:nvSpPr>
            <p:spPr bwMode="auto">
              <a:xfrm>
                <a:off x="4002" y="1724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>
                    <a:solidFill>
                      <a:srgbClr val="A50021"/>
                    </a:solidFill>
                  </a:rPr>
                  <a:t>K</a:t>
                </a:r>
              </a:p>
            </p:txBody>
          </p:sp>
          <p:sp>
            <p:nvSpPr>
              <p:cNvPr id="24658" name="Text Box 113"/>
              <p:cNvSpPr txBox="1">
                <a:spLocks noChangeArrowheads="1"/>
              </p:cNvSpPr>
              <p:nvPr/>
            </p:nvSpPr>
            <p:spPr bwMode="auto">
              <a:xfrm>
                <a:off x="3235" y="187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>
                    <a:solidFill>
                      <a:srgbClr val="A50021"/>
                    </a:solidFill>
                  </a:rPr>
                  <a:t>L</a:t>
                </a:r>
                <a:endParaRPr lang="en-US" altLang="zh-CN" sz="2800" i="0" baseline="0">
                  <a:solidFill>
                    <a:srgbClr val="A50021"/>
                  </a:solidFill>
                </a:endParaRPr>
              </a:p>
            </p:txBody>
          </p:sp>
          <p:sp>
            <p:nvSpPr>
              <p:cNvPr id="24659" name="Freeform 114"/>
              <p:cNvSpPr>
                <a:spLocks/>
              </p:cNvSpPr>
              <p:nvPr/>
            </p:nvSpPr>
            <p:spPr bwMode="auto">
              <a:xfrm>
                <a:off x="2966" y="2433"/>
                <a:ext cx="1473" cy="460"/>
              </a:xfrm>
              <a:custGeom>
                <a:avLst/>
                <a:gdLst>
                  <a:gd name="T0" fmla="*/ 405 w 1473"/>
                  <a:gd name="T1" fmla="*/ 1 h 460"/>
                  <a:gd name="T2" fmla="*/ 0 w 1473"/>
                  <a:gd name="T3" fmla="*/ 460 h 460"/>
                  <a:gd name="T4" fmla="*/ 1139 w 1473"/>
                  <a:gd name="T5" fmla="*/ 460 h 460"/>
                  <a:gd name="T6" fmla="*/ 1473 w 1473"/>
                  <a:gd name="T7" fmla="*/ 0 h 460"/>
                  <a:gd name="T8" fmla="*/ 405 w 1473"/>
                  <a:gd name="T9" fmla="*/ 1 h 4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73"/>
                  <a:gd name="T16" fmla="*/ 0 h 460"/>
                  <a:gd name="T17" fmla="*/ 1473 w 1473"/>
                  <a:gd name="T18" fmla="*/ 460 h 4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73" h="460">
                    <a:moveTo>
                      <a:pt x="405" y="1"/>
                    </a:moveTo>
                    <a:lnTo>
                      <a:pt x="0" y="460"/>
                    </a:lnTo>
                    <a:lnTo>
                      <a:pt x="1139" y="460"/>
                    </a:lnTo>
                    <a:lnTo>
                      <a:pt x="1473" y="0"/>
                    </a:lnTo>
                    <a:lnTo>
                      <a:pt x="405" y="1"/>
                    </a:lnTo>
                    <a:close/>
                  </a:path>
                </a:pathLst>
              </a:custGeom>
              <a:solidFill>
                <a:srgbClr val="FFFF66">
                  <a:alpha val="50195"/>
                </a:srgbClr>
              </a:solidFill>
              <a:ln w="2857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0" name="Text Box 115"/>
              <p:cNvSpPr txBox="1">
                <a:spLocks noChangeArrowheads="1"/>
              </p:cNvSpPr>
              <p:nvPr/>
            </p:nvSpPr>
            <p:spPr bwMode="auto">
              <a:xfrm>
                <a:off x="3966" y="2655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/>
                  <a:t>P</a:t>
                </a:r>
                <a:endParaRPr lang="en-US" altLang="zh-CN" sz="2800" i="0" baseline="0"/>
              </a:p>
            </p:txBody>
          </p:sp>
          <p:sp>
            <p:nvSpPr>
              <p:cNvPr id="24661" name="Text Box 116"/>
              <p:cNvSpPr txBox="1">
                <a:spLocks noChangeArrowheads="1"/>
              </p:cNvSpPr>
              <p:nvPr/>
            </p:nvSpPr>
            <p:spPr bwMode="auto">
              <a:xfrm>
                <a:off x="3136" y="2586"/>
                <a:ext cx="66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ab</a:t>
                </a:r>
                <a:r>
                  <a:rPr lang="en-US" altLang="zh-CN" sz="2800" i="0" baseline="0">
                    <a:solidFill>
                      <a:srgbClr val="800000"/>
                    </a:solidFill>
                  </a:rPr>
                  <a:t>l</a:t>
                </a:r>
                <a:endParaRPr lang="en-US" altLang="zh-CN" sz="2800" i="0" baseline="0"/>
              </a:p>
            </p:txBody>
          </p:sp>
          <p:sp>
            <p:nvSpPr>
              <p:cNvPr id="24662" name="Line 117"/>
              <p:cNvSpPr>
                <a:spLocks noChangeShapeType="1"/>
              </p:cNvSpPr>
              <p:nvPr/>
            </p:nvSpPr>
            <p:spPr bwMode="auto">
              <a:xfrm>
                <a:off x="3465" y="2279"/>
                <a:ext cx="0" cy="3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3" name="Line 118"/>
              <p:cNvSpPr>
                <a:spLocks noChangeShapeType="1"/>
              </p:cNvSpPr>
              <p:nvPr/>
            </p:nvSpPr>
            <p:spPr bwMode="auto">
              <a:xfrm flipV="1">
                <a:off x="3464" y="2546"/>
                <a:ext cx="563" cy="73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4" name="Text Box 119"/>
              <p:cNvSpPr txBox="1">
                <a:spLocks noChangeArrowheads="1"/>
              </p:cNvSpPr>
              <p:nvPr/>
            </p:nvSpPr>
            <p:spPr bwMode="auto">
              <a:xfrm>
                <a:off x="4006" y="2358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>
                    <a:solidFill>
                      <a:srgbClr val="A50021"/>
                    </a:solidFill>
                  </a:rPr>
                  <a:t>k</a:t>
                </a:r>
              </a:p>
            </p:txBody>
          </p:sp>
          <p:sp>
            <p:nvSpPr>
              <p:cNvPr id="24665" name="Line 120"/>
              <p:cNvSpPr>
                <a:spLocks noChangeShapeType="1"/>
              </p:cNvSpPr>
              <p:nvPr/>
            </p:nvSpPr>
            <p:spPr bwMode="auto">
              <a:xfrm>
                <a:off x="4022" y="1921"/>
                <a:ext cx="0" cy="64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6" name="Oval 121"/>
              <p:cNvSpPr>
                <a:spLocks noChangeArrowheads="1"/>
              </p:cNvSpPr>
              <p:nvPr/>
            </p:nvSpPr>
            <p:spPr bwMode="auto">
              <a:xfrm>
                <a:off x="3420" y="2567"/>
                <a:ext cx="97" cy="97"/>
              </a:xfrm>
              <a:prstGeom prst="ellipse">
                <a:avLst/>
              </a:prstGeom>
              <a:gradFill rotWithShape="0">
                <a:gsLst>
                  <a:gs pos="0">
                    <a:srgbClr val="3399FF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>
                  <a:latin typeface="ISOCPEUR" pitchFamily="34" charset="0"/>
                </a:endParaRPr>
              </a:p>
            </p:txBody>
          </p:sp>
        </p:grpSp>
      </p:grpSp>
      <p:sp>
        <p:nvSpPr>
          <p:cNvPr id="77946" name="Text Box 122"/>
          <p:cNvSpPr txBox="1">
            <a:spLocks noChangeArrowheads="1"/>
          </p:cNvSpPr>
          <p:nvPr/>
        </p:nvSpPr>
        <p:spPr bwMode="auto">
          <a:xfrm>
            <a:off x="7767638" y="2849563"/>
            <a:ext cx="1376362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AB P</a:t>
            </a:r>
          </a:p>
          <a:p>
            <a:pPr algn="l">
              <a:defRPr/>
            </a:pPr>
            <a:r>
              <a:rPr kumimoji="1" lang="en-US" altLang="zh-CN" sz="28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KL// P</a:t>
            </a:r>
          </a:p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kl=KL</a:t>
            </a:r>
            <a:endParaRPr kumimoji="1" lang="en-US" altLang="zh-CN" sz="2800" i="0" baseline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947" name="Text Box 123"/>
          <p:cNvSpPr txBox="1">
            <a:spLocks noChangeArrowheads="1"/>
          </p:cNvSpPr>
          <p:nvPr/>
        </p:nvSpPr>
        <p:spPr bwMode="auto">
          <a:xfrm>
            <a:off x="5597525" y="4727575"/>
            <a:ext cx="31956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如何将</a:t>
            </a:r>
            <a:r>
              <a:rPr lang="en-US" altLang="zh-CN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 sz="28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变换成投影面垂直线？</a:t>
            </a:r>
          </a:p>
        </p:txBody>
      </p:sp>
      <p:sp>
        <p:nvSpPr>
          <p:cNvPr id="77948" name="Rectangle 124"/>
          <p:cNvSpPr>
            <a:spLocks noChangeArrowheads="1"/>
          </p:cNvSpPr>
          <p:nvPr/>
        </p:nvSpPr>
        <p:spPr bwMode="auto">
          <a:xfrm>
            <a:off x="5864225" y="5776913"/>
            <a:ext cx="25987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en-US" altLang="zh-CN" sz="32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Monotype Sorts" pitchFamily="2" charset="2"/>
              </a:rPr>
              <a:t>1. </a:t>
            </a:r>
            <a:r>
              <a:rPr kumimoji="1" lang="en-US" altLang="zh-CN" sz="32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//   2. </a:t>
            </a:r>
          </a:p>
        </p:txBody>
      </p:sp>
      <p:sp>
        <p:nvSpPr>
          <p:cNvPr id="77949" name="Text Box 125"/>
          <p:cNvSpPr txBox="1">
            <a:spLocks noChangeArrowheads="1"/>
          </p:cNvSpPr>
          <p:nvPr/>
        </p:nvSpPr>
        <p:spPr bwMode="auto">
          <a:xfrm>
            <a:off x="1620838" y="4073525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  <a:r>
              <a:rPr lang="en-US" altLang="zh-CN" sz="2000" i="0" baseline="0">
                <a:solidFill>
                  <a:srgbClr val="000066"/>
                </a:solidFill>
              </a:rPr>
              <a:t>1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77950" name="Oval 126"/>
          <p:cNvSpPr>
            <a:spLocks noChangeArrowheads="1"/>
          </p:cNvSpPr>
          <p:nvPr/>
        </p:nvSpPr>
        <p:spPr bwMode="auto">
          <a:xfrm>
            <a:off x="2744788" y="4987925"/>
            <a:ext cx="168275" cy="168275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7951" name="Oval 127"/>
          <p:cNvSpPr>
            <a:spLocks noChangeArrowheads="1"/>
          </p:cNvSpPr>
          <p:nvPr/>
        </p:nvSpPr>
        <p:spPr bwMode="auto">
          <a:xfrm>
            <a:off x="4772025" y="5226050"/>
            <a:ext cx="169863" cy="157163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7952" name="Oval 128"/>
          <p:cNvSpPr>
            <a:spLocks noChangeArrowheads="1"/>
          </p:cNvSpPr>
          <p:nvPr/>
        </p:nvSpPr>
        <p:spPr bwMode="auto">
          <a:xfrm>
            <a:off x="2393950" y="3187700"/>
            <a:ext cx="150813" cy="1571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53" name="Oval 129"/>
          <p:cNvSpPr>
            <a:spLocks noChangeArrowheads="1"/>
          </p:cNvSpPr>
          <p:nvPr/>
        </p:nvSpPr>
        <p:spPr bwMode="auto">
          <a:xfrm>
            <a:off x="2376488" y="1820863"/>
            <a:ext cx="146050" cy="1444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1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54" name="Text Box 130"/>
          <p:cNvSpPr txBox="1">
            <a:spLocks noChangeArrowheads="1"/>
          </p:cNvSpPr>
          <p:nvPr/>
        </p:nvSpPr>
        <p:spPr bwMode="auto">
          <a:xfrm>
            <a:off x="246063" y="277813"/>
            <a:ext cx="4267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 </a:t>
            </a:r>
            <a:r>
              <a:rPr kumimoji="1" lang="zh-CN" altLang="en-US" sz="32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求点</a:t>
            </a:r>
            <a:r>
              <a:rPr kumimoji="1" lang="en-US" altLang="zh-CN" sz="32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kumimoji="1" lang="zh-CN" altLang="en-US" sz="32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到直线</a:t>
            </a:r>
            <a:r>
              <a:rPr kumimoji="1" lang="en-US" altLang="zh-CN" sz="32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AB</a:t>
            </a:r>
            <a:r>
              <a:rPr kumimoji="1" lang="zh-CN" altLang="en-US" sz="3200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之距</a:t>
            </a:r>
          </a:p>
        </p:txBody>
      </p:sp>
      <p:sp>
        <p:nvSpPr>
          <p:cNvPr id="77955" name="Oval 131"/>
          <p:cNvSpPr>
            <a:spLocks noChangeArrowheads="1"/>
          </p:cNvSpPr>
          <p:nvPr/>
        </p:nvSpPr>
        <p:spPr bwMode="auto">
          <a:xfrm>
            <a:off x="4400550" y="4419600"/>
            <a:ext cx="155575" cy="144463"/>
          </a:xfrm>
          <a:prstGeom prst="ellipse">
            <a:avLst/>
          </a:prstGeom>
          <a:gradFill rotWithShape="0">
            <a:gsLst>
              <a:gs pos="0">
                <a:srgbClr val="99CC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56" name="Rectangle 132"/>
          <p:cNvSpPr>
            <a:spLocks noChangeArrowheads="1"/>
          </p:cNvSpPr>
          <p:nvPr/>
        </p:nvSpPr>
        <p:spPr bwMode="auto">
          <a:xfrm>
            <a:off x="5148263" y="334963"/>
            <a:ext cx="3995737" cy="6286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57" name="Text Box 133"/>
          <p:cNvSpPr txBox="1">
            <a:spLocks noChangeArrowheads="1"/>
          </p:cNvSpPr>
          <p:nvPr/>
        </p:nvSpPr>
        <p:spPr bwMode="auto">
          <a:xfrm>
            <a:off x="6415088" y="488950"/>
            <a:ext cx="2019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6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sym typeface="Marlett" pitchFamily="2" charset="2"/>
              </a:rPr>
              <a:t>投影分析</a:t>
            </a:r>
            <a:endParaRPr kumimoji="1" lang="zh-CN" altLang="en-US" sz="36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77958" name="AutoShape 134" descr="紫色网格"/>
          <p:cNvSpPr>
            <a:spLocks noChangeArrowheads="1"/>
          </p:cNvSpPr>
          <p:nvPr/>
        </p:nvSpPr>
        <p:spPr bwMode="auto">
          <a:xfrm>
            <a:off x="5861050" y="1185863"/>
            <a:ext cx="3117850" cy="1249362"/>
          </a:xfrm>
          <a:prstGeom prst="roundRect">
            <a:avLst>
              <a:gd name="adj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7959" name="Rectangle 135"/>
          <p:cNvSpPr>
            <a:spLocks noChangeArrowheads="1"/>
          </p:cNvSpPr>
          <p:nvPr/>
        </p:nvSpPr>
        <p:spPr bwMode="auto">
          <a:xfrm>
            <a:off x="5826125" y="1244600"/>
            <a:ext cx="3119438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kumimoji="1" lang="zh-CN" altLang="en-US" sz="3200" i="0" baseline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如何确定</a:t>
            </a:r>
          </a:p>
          <a:p>
            <a:pPr>
              <a:defRPr/>
            </a:pPr>
            <a:r>
              <a:rPr kumimoji="1" lang="zh-CN" altLang="en-US" sz="3200" i="0" baseline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新投影轴的方向</a:t>
            </a:r>
          </a:p>
        </p:txBody>
      </p:sp>
      <p:sp>
        <p:nvSpPr>
          <p:cNvPr id="77960" name="Text Box 136"/>
          <p:cNvSpPr txBox="1">
            <a:spLocks noChangeArrowheads="1"/>
          </p:cNvSpPr>
          <p:nvPr/>
        </p:nvSpPr>
        <p:spPr bwMode="auto">
          <a:xfrm>
            <a:off x="6194425" y="2565400"/>
            <a:ext cx="2636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baseline="0">
                <a:latin typeface="隶书" pitchFamily="49" charset="-122"/>
                <a:ea typeface="隶书" pitchFamily="49" charset="-122"/>
                <a:sym typeface="Monotype Sorts" pitchFamily="2" charset="2"/>
              </a:rPr>
              <a:t>1.</a:t>
            </a:r>
            <a:r>
              <a:rPr lang="zh-CN" altLang="en-US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将</a:t>
            </a:r>
            <a:r>
              <a:rPr lang="en-US" altLang="zh-CN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AB→//</a:t>
            </a:r>
            <a:r>
              <a:rPr lang="zh-CN" altLang="zh-CN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线</a:t>
            </a:r>
            <a:endParaRPr lang="zh-CN" altLang="en-US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7961" name="Text Box 137"/>
          <p:cNvSpPr txBox="1">
            <a:spLocks noChangeArrowheads="1"/>
          </p:cNvSpPr>
          <p:nvPr/>
        </p:nvSpPr>
        <p:spPr bwMode="auto">
          <a:xfrm>
            <a:off x="6219825" y="3059113"/>
            <a:ext cx="2495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baseline="0">
                <a:latin typeface="隶书" pitchFamily="49" charset="-122"/>
                <a:ea typeface="隶书" pitchFamily="49" charset="-122"/>
                <a:sym typeface="Monotype Sorts" pitchFamily="2" charset="2"/>
              </a:rPr>
              <a:t>2.</a:t>
            </a:r>
            <a:r>
              <a:rPr lang="zh-CN" altLang="en-US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将</a:t>
            </a:r>
            <a:r>
              <a:rPr lang="en-US" altLang="zh-CN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AB→</a:t>
            </a:r>
            <a:r>
              <a:rPr lang="en-US" altLang="zh-CN" i="0" baseline="0">
                <a:latin typeface="黑体" pitchFamily="2" charset="-122"/>
                <a:ea typeface="黑体" pitchFamily="2" charset="-122"/>
              </a:rPr>
              <a:t></a:t>
            </a:r>
            <a:r>
              <a:rPr lang="zh-CN" altLang="zh-CN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线</a:t>
            </a:r>
            <a:endParaRPr lang="zh-CN" altLang="en-US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7962" name="Text Box 138"/>
          <p:cNvSpPr txBox="1">
            <a:spLocks noChangeArrowheads="1"/>
          </p:cNvSpPr>
          <p:nvPr/>
        </p:nvSpPr>
        <p:spPr bwMode="auto">
          <a:xfrm>
            <a:off x="6313488" y="3570288"/>
            <a:ext cx="24320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8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sym typeface="Marlett" pitchFamily="2" charset="2"/>
              </a:rPr>
              <a:t>如何返回原投影面体系？</a:t>
            </a:r>
            <a:endParaRPr kumimoji="1" lang="zh-CN" altLang="en-US" sz="2800" i="0" baseline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grpSp>
        <p:nvGrpSpPr>
          <p:cNvPr id="5" name="Group 139"/>
          <p:cNvGrpSpPr>
            <a:grpSpLocks/>
          </p:cNvGrpSpPr>
          <p:nvPr/>
        </p:nvGrpSpPr>
        <p:grpSpPr bwMode="auto">
          <a:xfrm>
            <a:off x="6503988" y="4670425"/>
            <a:ext cx="2108200" cy="1930400"/>
            <a:chOff x="4023" y="2915"/>
            <a:chExt cx="1328" cy="1216"/>
          </a:xfrm>
        </p:grpSpPr>
        <p:sp>
          <p:nvSpPr>
            <p:cNvPr id="24637" name="Text Box 140"/>
            <p:cNvSpPr txBox="1">
              <a:spLocks noChangeArrowheads="1"/>
            </p:cNvSpPr>
            <p:nvPr/>
          </p:nvSpPr>
          <p:spPr bwMode="auto">
            <a:xfrm>
              <a:off x="4242" y="291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0" baseline="0"/>
                <a:t>A</a:t>
              </a:r>
              <a:endParaRPr lang="en-US" altLang="zh-CN" sz="2800" i="0" baseline="0"/>
            </a:p>
          </p:txBody>
        </p:sp>
        <p:grpSp>
          <p:nvGrpSpPr>
            <p:cNvPr id="24638" name="Group 141"/>
            <p:cNvGrpSpPr>
              <a:grpSpLocks/>
            </p:cNvGrpSpPr>
            <p:nvPr/>
          </p:nvGrpSpPr>
          <p:grpSpPr bwMode="auto">
            <a:xfrm>
              <a:off x="4023" y="3016"/>
              <a:ext cx="1328" cy="1115"/>
              <a:chOff x="4023" y="3016"/>
              <a:chExt cx="1328" cy="1115"/>
            </a:xfrm>
          </p:grpSpPr>
          <p:sp>
            <p:nvSpPr>
              <p:cNvPr id="24639" name="Line 142"/>
              <p:cNvSpPr>
                <a:spLocks noChangeShapeType="1"/>
              </p:cNvSpPr>
              <p:nvPr/>
            </p:nvSpPr>
            <p:spPr bwMode="auto">
              <a:xfrm flipV="1">
                <a:off x="4476" y="3230"/>
                <a:ext cx="504" cy="61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0" name="Line 143"/>
              <p:cNvSpPr>
                <a:spLocks noChangeShapeType="1"/>
              </p:cNvSpPr>
              <p:nvPr/>
            </p:nvSpPr>
            <p:spPr bwMode="auto">
              <a:xfrm>
                <a:off x="4473" y="3016"/>
                <a:ext cx="0" cy="508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1" name="Text Box 144"/>
              <p:cNvSpPr txBox="1">
                <a:spLocks noChangeArrowheads="1"/>
              </p:cNvSpPr>
              <p:nvPr/>
            </p:nvSpPr>
            <p:spPr bwMode="auto">
              <a:xfrm>
                <a:off x="4259" y="340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/>
                  <a:t>B</a:t>
                </a:r>
                <a:endParaRPr lang="en-US" altLang="zh-CN" sz="2800" i="0" baseline="0"/>
              </a:p>
            </p:txBody>
          </p:sp>
          <p:sp>
            <p:nvSpPr>
              <p:cNvPr id="24642" name="Text Box 145"/>
              <p:cNvSpPr txBox="1">
                <a:spLocks noChangeArrowheads="1"/>
              </p:cNvSpPr>
              <p:nvPr/>
            </p:nvSpPr>
            <p:spPr bwMode="auto">
              <a:xfrm>
                <a:off x="4956" y="3056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>
                    <a:solidFill>
                      <a:srgbClr val="A50021"/>
                    </a:solidFill>
                  </a:rPr>
                  <a:t>K</a:t>
                </a:r>
              </a:p>
            </p:txBody>
          </p:sp>
          <p:sp>
            <p:nvSpPr>
              <p:cNvPr id="24643" name="Text Box 146"/>
              <p:cNvSpPr txBox="1">
                <a:spLocks noChangeArrowheads="1"/>
              </p:cNvSpPr>
              <p:nvPr/>
            </p:nvSpPr>
            <p:spPr bwMode="auto">
              <a:xfrm>
                <a:off x="4266" y="318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>
                    <a:solidFill>
                      <a:srgbClr val="A50021"/>
                    </a:solidFill>
                  </a:rPr>
                  <a:t>L</a:t>
                </a:r>
                <a:endParaRPr lang="en-US" altLang="zh-CN" sz="2800" i="0" baseline="0">
                  <a:solidFill>
                    <a:srgbClr val="A50021"/>
                  </a:solidFill>
                </a:endParaRPr>
              </a:p>
            </p:txBody>
          </p:sp>
          <p:sp>
            <p:nvSpPr>
              <p:cNvPr id="24644" name="Freeform 147"/>
              <p:cNvSpPr>
                <a:spLocks/>
              </p:cNvSpPr>
              <p:nvPr/>
            </p:nvSpPr>
            <p:spPr bwMode="auto">
              <a:xfrm>
                <a:off x="4023" y="3656"/>
                <a:ext cx="1328" cy="389"/>
              </a:xfrm>
              <a:custGeom>
                <a:avLst/>
                <a:gdLst>
                  <a:gd name="T0" fmla="*/ 329 w 1473"/>
                  <a:gd name="T1" fmla="*/ 1 h 460"/>
                  <a:gd name="T2" fmla="*/ 0 w 1473"/>
                  <a:gd name="T3" fmla="*/ 329 h 460"/>
                  <a:gd name="T4" fmla="*/ 926 w 1473"/>
                  <a:gd name="T5" fmla="*/ 329 h 460"/>
                  <a:gd name="T6" fmla="*/ 1197 w 1473"/>
                  <a:gd name="T7" fmla="*/ 0 h 460"/>
                  <a:gd name="T8" fmla="*/ 329 w 1473"/>
                  <a:gd name="T9" fmla="*/ 1 h 4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73"/>
                  <a:gd name="T16" fmla="*/ 0 h 460"/>
                  <a:gd name="T17" fmla="*/ 1473 w 1473"/>
                  <a:gd name="T18" fmla="*/ 460 h 4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73" h="460">
                    <a:moveTo>
                      <a:pt x="405" y="1"/>
                    </a:moveTo>
                    <a:lnTo>
                      <a:pt x="0" y="460"/>
                    </a:lnTo>
                    <a:lnTo>
                      <a:pt x="1139" y="460"/>
                    </a:lnTo>
                    <a:lnTo>
                      <a:pt x="1473" y="0"/>
                    </a:lnTo>
                    <a:lnTo>
                      <a:pt x="405" y="1"/>
                    </a:lnTo>
                    <a:close/>
                  </a:path>
                </a:pathLst>
              </a:custGeom>
              <a:solidFill>
                <a:srgbClr val="FFFF66">
                  <a:alpha val="50195"/>
                </a:srgbClr>
              </a:solidFill>
              <a:ln w="2857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5" name="Text Box 148"/>
              <p:cNvSpPr txBox="1">
                <a:spLocks noChangeArrowheads="1"/>
              </p:cNvSpPr>
              <p:nvPr/>
            </p:nvSpPr>
            <p:spPr bwMode="auto">
              <a:xfrm>
                <a:off x="4925" y="3843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0" baseline="0"/>
                  <a:t>P</a:t>
                </a:r>
                <a:endParaRPr lang="en-US" altLang="zh-CN" sz="2800" i="0" baseline="0"/>
              </a:p>
            </p:txBody>
          </p:sp>
          <p:sp>
            <p:nvSpPr>
              <p:cNvPr id="24646" name="Text Box 149"/>
              <p:cNvSpPr txBox="1">
                <a:spLocks noChangeArrowheads="1"/>
              </p:cNvSpPr>
              <p:nvPr/>
            </p:nvSpPr>
            <p:spPr bwMode="auto">
              <a:xfrm>
                <a:off x="4177" y="3786"/>
                <a:ext cx="66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/>
                  <a:t>ab</a:t>
                </a:r>
                <a:r>
                  <a:rPr lang="en-US" altLang="zh-CN" sz="2800" i="0" baseline="0">
                    <a:solidFill>
                      <a:srgbClr val="800000"/>
                    </a:solidFill>
                  </a:rPr>
                  <a:t>l</a:t>
                </a:r>
                <a:endParaRPr lang="en-US" altLang="zh-CN" sz="2800" i="0" baseline="0"/>
              </a:p>
            </p:txBody>
          </p:sp>
          <p:sp>
            <p:nvSpPr>
              <p:cNvPr id="24647" name="Line 150"/>
              <p:cNvSpPr>
                <a:spLocks noChangeShapeType="1"/>
              </p:cNvSpPr>
              <p:nvPr/>
            </p:nvSpPr>
            <p:spPr bwMode="auto">
              <a:xfrm>
                <a:off x="4473" y="3525"/>
                <a:ext cx="0" cy="2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8" name="Line 151"/>
              <p:cNvSpPr>
                <a:spLocks noChangeShapeType="1"/>
              </p:cNvSpPr>
              <p:nvPr/>
            </p:nvSpPr>
            <p:spPr bwMode="auto">
              <a:xfrm flipV="1">
                <a:off x="4472" y="3751"/>
                <a:ext cx="508" cy="62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9" name="Text Box 152"/>
              <p:cNvSpPr txBox="1">
                <a:spLocks noChangeArrowheads="1"/>
              </p:cNvSpPr>
              <p:nvPr/>
            </p:nvSpPr>
            <p:spPr bwMode="auto">
              <a:xfrm>
                <a:off x="4962" y="3593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i="0" baseline="0">
                    <a:solidFill>
                      <a:srgbClr val="A50021"/>
                    </a:solidFill>
                  </a:rPr>
                  <a:t>k</a:t>
                </a:r>
              </a:p>
            </p:txBody>
          </p:sp>
          <p:sp>
            <p:nvSpPr>
              <p:cNvPr id="24650" name="Line 153"/>
              <p:cNvSpPr>
                <a:spLocks noChangeShapeType="1"/>
              </p:cNvSpPr>
              <p:nvPr/>
            </p:nvSpPr>
            <p:spPr bwMode="auto">
              <a:xfrm>
                <a:off x="4975" y="3222"/>
                <a:ext cx="0" cy="5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1" name="Oval 154"/>
              <p:cNvSpPr>
                <a:spLocks noChangeArrowheads="1"/>
              </p:cNvSpPr>
              <p:nvPr/>
            </p:nvSpPr>
            <p:spPr bwMode="auto">
              <a:xfrm>
                <a:off x="4432" y="3769"/>
                <a:ext cx="88" cy="82"/>
              </a:xfrm>
              <a:prstGeom prst="ellipse">
                <a:avLst/>
              </a:prstGeom>
              <a:gradFill rotWithShape="0">
                <a:gsLst>
                  <a:gs pos="0">
                    <a:srgbClr val="3399FF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>
                  <a:latin typeface="ISOCPEUR" pitchFamily="34" charset="0"/>
                </a:endParaRPr>
              </a:p>
            </p:txBody>
          </p:sp>
        </p:grpSp>
      </p:grpSp>
      <p:sp>
        <p:nvSpPr>
          <p:cNvPr id="77979" name="Text Box 155" descr="紫色网格"/>
          <p:cNvSpPr txBox="1">
            <a:spLocks noChangeArrowheads="1"/>
          </p:cNvSpPr>
          <p:nvPr/>
        </p:nvSpPr>
        <p:spPr bwMode="auto">
          <a:xfrm>
            <a:off x="4421188" y="6215063"/>
            <a:ext cx="1433512" cy="519112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2</a:t>
            </a:r>
            <a:r>
              <a:rPr lang="en-US" altLang="zh-CN" sz="2800" i="0" baseline="0">
                <a:solidFill>
                  <a:schemeClr val="bg1"/>
                </a:solidFill>
              </a:rPr>
              <a:t>a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b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endParaRPr lang="en-US" altLang="zh-CN" sz="2800" i="0" baseline="0">
              <a:solidFill>
                <a:schemeClr val="bg1"/>
              </a:solidFill>
            </a:endParaRPr>
          </a:p>
        </p:txBody>
      </p:sp>
      <p:sp>
        <p:nvSpPr>
          <p:cNvPr id="77980" name="Text Box 156"/>
          <p:cNvSpPr txBox="1">
            <a:spLocks noChangeArrowheads="1"/>
          </p:cNvSpPr>
          <p:nvPr/>
        </p:nvSpPr>
        <p:spPr bwMode="auto">
          <a:xfrm>
            <a:off x="4325938" y="3948113"/>
            <a:ext cx="100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r>
              <a:rPr lang="en-US" altLang="zh-CN" sz="2800" i="0" baseline="0">
                <a:solidFill>
                  <a:srgbClr val="A50021"/>
                </a:solidFill>
              </a:rPr>
              <a:t>b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77981" name="Text Box 157"/>
          <p:cNvSpPr txBox="1">
            <a:spLocks noChangeArrowheads="1"/>
          </p:cNvSpPr>
          <p:nvPr/>
        </p:nvSpPr>
        <p:spPr bwMode="auto">
          <a:xfrm>
            <a:off x="5187950" y="3956050"/>
            <a:ext cx="604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l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</a:p>
        </p:txBody>
      </p:sp>
      <p:sp>
        <p:nvSpPr>
          <p:cNvPr id="77982" name="Text Box 158"/>
          <p:cNvSpPr txBox="1">
            <a:spLocks noChangeArrowheads="1"/>
          </p:cNvSpPr>
          <p:nvPr/>
        </p:nvSpPr>
        <p:spPr bwMode="auto">
          <a:xfrm>
            <a:off x="4737100" y="5299075"/>
            <a:ext cx="509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k</a:t>
            </a:r>
            <a:r>
              <a:rPr lang="en-US" altLang="zh-CN" sz="2000" i="0" baseline="0">
                <a:solidFill>
                  <a:srgbClr val="A50021"/>
                </a:solidFill>
              </a:rPr>
              <a:t>2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7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7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77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7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7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7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7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7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7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7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7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77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77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77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7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7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7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7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7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7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7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7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7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7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7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77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75"/>
                                        <p:tgtEl>
                                          <p:spTgt spid="7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7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77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77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77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0" dur="500"/>
                                        <p:tgtEl>
                                          <p:spTgt spid="77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7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77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7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7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7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7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77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7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96" grpId="0" animBg="1" autoUpdateAnimBg="0"/>
      <p:bldP spid="77897" grpId="0" autoUpdateAnimBg="0"/>
      <p:bldP spid="77898" grpId="0" animBg="1"/>
      <p:bldP spid="77899" grpId="0" animBg="1"/>
      <p:bldP spid="77900" grpId="0" animBg="1"/>
      <p:bldP spid="77901" grpId="0" animBg="1"/>
      <p:bldP spid="77902" grpId="0" animBg="1"/>
      <p:bldP spid="77903" grpId="0" animBg="1"/>
      <p:bldP spid="77904" grpId="0" animBg="1"/>
      <p:bldP spid="77905" grpId="0" autoUpdateAnimBg="0"/>
      <p:bldP spid="77906" grpId="0" build="p" autoUpdateAnimBg="0"/>
      <p:bldP spid="77907" grpId="0" build="p" autoUpdateAnimBg="0"/>
      <p:bldP spid="77908" grpId="0" animBg="1"/>
      <p:bldP spid="77909" grpId="0" autoUpdateAnimBg="0"/>
      <p:bldP spid="77910" grpId="0" animBg="1"/>
      <p:bldP spid="77911" grpId="0" animBg="1"/>
      <p:bldP spid="77912" grpId="0" build="p" autoUpdateAnimBg="0"/>
      <p:bldP spid="77913" grpId="0" animBg="1"/>
      <p:bldP spid="77914" grpId="0" build="p" autoUpdateAnimBg="0"/>
      <p:bldP spid="77915" grpId="0" animBg="1"/>
      <p:bldP spid="77916" grpId="0" animBg="1"/>
      <p:bldP spid="77917" grpId="0" animBg="1"/>
      <p:bldP spid="77918" grpId="0" build="p" autoUpdateAnimBg="0"/>
      <p:bldP spid="77919" grpId="0" animBg="1" autoUpdateAnimBg="0"/>
      <p:bldP spid="77920" grpId="0" animBg="1" autoUpdateAnimBg="0"/>
      <p:bldP spid="77921" grpId="0" build="p" autoUpdateAnimBg="0" advAuto="0"/>
      <p:bldP spid="77922" grpId="0" animBg="1"/>
      <p:bldP spid="77923" grpId="0" build="p" autoUpdateAnimBg="0"/>
      <p:bldP spid="77924" grpId="0" build="p" autoUpdateAnimBg="0"/>
      <p:bldP spid="77925" grpId="0" build="p" autoUpdateAnimBg="0"/>
      <p:bldP spid="77926" grpId="0" build="p" autoUpdateAnimBg="0"/>
      <p:bldP spid="77927" grpId="0" animBg="1"/>
      <p:bldP spid="77928" grpId="0" autoUpdateAnimBg="0"/>
      <p:bldP spid="77929" grpId="0" autoUpdateAnimBg="0"/>
      <p:bldP spid="77946" grpId="0" autoUpdateAnimBg="0"/>
      <p:bldP spid="77947" grpId="0" build="p" autoUpdateAnimBg="0"/>
      <p:bldP spid="77948" grpId="0" autoUpdateAnimBg="0"/>
      <p:bldP spid="77949" grpId="0" build="p" autoUpdateAnimBg="0"/>
      <p:bldP spid="77950" grpId="0" animBg="1"/>
      <p:bldP spid="77951" grpId="0" animBg="1"/>
      <p:bldP spid="77952" grpId="0" animBg="1"/>
      <p:bldP spid="77953" grpId="0" animBg="1"/>
      <p:bldP spid="77954" grpId="0" build="p" autoUpdateAnimBg="0"/>
      <p:bldP spid="77955" grpId="0" animBg="1"/>
      <p:bldP spid="77956" grpId="0" animBg="1"/>
      <p:bldP spid="77957" grpId="0" autoUpdateAnimBg="0"/>
      <p:bldP spid="77958" grpId="0" animBg="1"/>
      <p:bldP spid="77959" grpId="0" autoUpdateAnimBg="0"/>
      <p:bldP spid="77960" grpId="0" build="p" autoUpdateAnimBg="0"/>
      <p:bldP spid="77961" grpId="0" build="p" autoUpdateAnimBg="0"/>
      <p:bldP spid="77962" grpId="0" autoUpdateAnimBg="0"/>
      <p:bldP spid="77979" grpId="0" animBg="1" autoUpdateAnimBg="0"/>
      <p:bldP spid="77980" grpId="0" autoUpdateAnimBg="0"/>
      <p:bldP spid="77981" grpId="0" build="p" autoUpdateAnimBg="0"/>
      <p:bldP spid="7798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C67AB0-469E-4755-BA86-EDC33AD24056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798513" y="268288"/>
            <a:ext cx="7854950" cy="5794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将一般位置平面变换成投影面垂直面</a:t>
            </a:r>
          </a:p>
        </p:txBody>
      </p:sp>
      <p:sp>
        <p:nvSpPr>
          <p:cNvPr id="165891" name="Line 3"/>
          <p:cNvSpPr>
            <a:spLocks noChangeShapeType="1"/>
          </p:cNvSpPr>
          <p:nvPr/>
        </p:nvSpPr>
        <p:spPr bwMode="auto">
          <a:xfrm>
            <a:off x="1385888" y="2809875"/>
            <a:ext cx="1790700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2" name="Line 4"/>
          <p:cNvSpPr>
            <a:spLocks noChangeShapeType="1"/>
          </p:cNvSpPr>
          <p:nvPr/>
        </p:nvSpPr>
        <p:spPr bwMode="auto">
          <a:xfrm>
            <a:off x="1387475" y="3976688"/>
            <a:ext cx="3135313" cy="103028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3" name="Line 5"/>
          <p:cNvSpPr>
            <a:spLocks noChangeShapeType="1"/>
          </p:cNvSpPr>
          <p:nvPr/>
        </p:nvSpPr>
        <p:spPr bwMode="auto">
          <a:xfrm flipH="1">
            <a:off x="3349625" y="3313113"/>
            <a:ext cx="966788" cy="290671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4" name="Line 6"/>
          <p:cNvSpPr>
            <a:spLocks noChangeShapeType="1"/>
          </p:cNvSpPr>
          <p:nvPr/>
        </p:nvSpPr>
        <p:spPr bwMode="auto">
          <a:xfrm>
            <a:off x="3497263" y="4116388"/>
            <a:ext cx="503237" cy="16668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5" name="Line 7"/>
          <p:cNvSpPr>
            <a:spLocks noChangeShapeType="1"/>
          </p:cNvSpPr>
          <p:nvPr/>
        </p:nvSpPr>
        <p:spPr bwMode="auto">
          <a:xfrm>
            <a:off x="2598738" y="5337175"/>
            <a:ext cx="2803525" cy="90646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6" name="AutoShape 8" descr="绿色大理石"/>
          <p:cNvSpPr>
            <a:spLocks noChangeArrowheads="1"/>
          </p:cNvSpPr>
          <p:nvPr/>
        </p:nvSpPr>
        <p:spPr bwMode="auto">
          <a:xfrm>
            <a:off x="5072063" y="1509713"/>
            <a:ext cx="3590925" cy="1830387"/>
          </a:xfrm>
          <a:prstGeom prst="wedgeRoundRectCallout">
            <a:avLst>
              <a:gd name="adj1" fmla="val 13750"/>
              <a:gd name="adj2" fmla="val -79921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 i="0" baseline="0"/>
          </a:p>
        </p:txBody>
      </p:sp>
      <p:sp>
        <p:nvSpPr>
          <p:cNvPr id="165897" name="Text Box 9"/>
          <p:cNvSpPr txBox="1">
            <a:spLocks noChangeArrowheads="1"/>
          </p:cNvSpPr>
          <p:nvPr/>
        </p:nvSpPr>
        <p:spPr bwMode="auto">
          <a:xfrm>
            <a:off x="5353050" y="1630363"/>
            <a:ext cx="3368675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chemeClr val="bg1"/>
                </a:solidFill>
                <a:ea typeface="黑体" pitchFamily="2" charset="-122"/>
              </a:rPr>
              <a:t>必须使平面内某一直线成为该投影面的垂直线</a:t>
            </a:r>
          </a:p>
        </p:txBody>
      </p:sp>
      <p:sp>
        <p:nvSpPr>
          <p:cNvPr id="165898" name="Line 10"/>
          <p:cNvSpPr>
            <a:spLocks noChangeShapeType="1"/>
          </p:cNvSpPr>
          <p:nvPr/>
        </p:nvSpPr>
        <p:spPr bwMode="auto">
          <a:xfrm flipH="1">
            <a:off x="3162300" y="2801938"/>
            <a:ext cx="0" cy="178276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899" name="Text Box 11"/>
          <p:cNvSpPr txBox="1">
            <a:spLocks noChangeArrowheads="1"/>
          </p:cNvSpPr>
          <p:nvPr/>
        </p:nvSpPr>
        <p:spPr bwMode="auto">
          <a:xfrm>
            <a:off x="5815013" y="3575050"/>
            <a:ext cx="279241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取平面内的</a:t>
            </a:r>
          </a:p>
          <a:p>
            <a:pPr algn="l">
              <a:defRPr/>
            </a:pPr>
            <a:r>
              <a:rPr kumimoji="1" lang="zh-CN" altLang="en-US" sz="3200" i="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投影面平行线</a:t>
            </a:r>
            <a:endParaRPr kumimoji="1" lang="zh-CN" altLang="en-US" sz="3200" i="0" baseline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5900" name="Text Box 12"/>
          <p:cNvSpPr txBox="1">
            <a:spLocks noChangeArrowheads="1"/>
          </p:cNvSpPr>
          <p:nvPr/>
        </p:nvSpPr>
        <p:spPr bwMode="auto">
          <a:xfrm>
            <a:off x="3041650" y="6126163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5901" name="Text Box 13"/>
          <p:cNvSpPr txBox="1">
            <a:spLocks noChangeArrowheads="1"/>
          </p:cNvSpPr>
          <p:nvPr/>
        </p:nvSpPr>
        <p:spPr bwMode="auto">
          <a:xfrm>
            <a:off x="5664200" y="4624388"/>
            <a:ext cx="29654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方向如何确定</a:t>
            </a:r>
            <a:endParaRPr kumimoji="1" lang="zh-CN" altLang="en-US" sz="28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5902" name="Text Box 14"/>
          <p:cNvSpPr txBox="1">
            <a:spLocks noChangeArrowheads="1"/>
          </p:cNvSpPr>
          <p:nvPr/>
        </p:nvSpPr>
        <p:spPr bwMode="auto">
          <a:xfrm>
            <a:off x="6413500" y="5210175"/>
            <a:ext cx="1476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 bm</a:t>
            </a:r>
          </a:p>
        </p:txBody>
      </p:sp>
      <p:sp>
        <p:nvSpPr>
          <p:cNvPr id="165903" name="Text Box 15"/>
          <p:cNvSpPr txBox="1">
            <a:spLocks noChangeArrowheads="1"/>
          </p:cNvSpPr>
          <p:nvPr/>
        </p:nvSpPr>
        <p:spPr bwMode="auto">
          <a:xfrm>
            <a:off x="3152775" y="2438400"/>
            <a:ext cx="579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m'</a:t>
            </a:r>
          </a:p>
        </p:txBody>
      </p:sp>
      <p:sp>
        <p:nvSpPr>
          <p:cNvPr id="165904" name="Text Box 16"/>
          <p:cNvSpPr txBox="1">
            <a:spLocks noChangeArrowheads="1"/>
          </p:cNvSpPr>
          <p:nvPr/>
        </p:nvSpPr>
        <p:spPr bwMode="auto">
          <a:xfrm>
            <a:off x="2986088" y="4508500"/>
            <a:ext cx="481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m</a:t>
            </a:r>
          </a:p>
        </p:txBody>
      </p:sp>
      <p:sp>
        <p:nvSpPr>
          <p:cNvPr id="165905" name="Text Box 17"/>
          <p:cNvSpPr txBox="1">
            <a:spLocks noChangeArrowheads="1"/>
          </p:cNvSpPr>
          <p:nvPr/>
        </p:nvSpPr>
        <p:spPr bwMode="auto">
          <a:xfrm>
            <a:off x="5400675" y="6016625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5906" name="Text Box 18"/>
          <p:cNvSpPr txBox="1">
            <a:spLocks noChangeArrowheads="1"/>
          </p:cNvSpPr>
          <p:nvPr/>
        </p:nvSpPr>
        <p:spPr bwMode="auto">
          <a:xfrm>
            <a:off x="4038600" y="3983038"/>
            <a:ext cx="46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c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5907" name="Text Box 19"/>
          <p:cNvSpPr txBox="1">
            <a:spLocks noChangeArrowheads="1"/>
          </p:cNvSpPr>
          <p:nvPr/>
        </p:nvSpPr>
        <p:spPr bwMode="auto">
          <a:xfrm>
            <a:off x="4527550" y="4719638"/>
            <a:ext cx="50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5908" name="Line 20"/>
          <p:cNvSpPr>
            <a:spLocks noChangeShapeType="1"/>
          </p:cNvSpPr>
          <p:nvPr/>
        </p:nvSpPr>
        <p:spPr bwMode="auto">
          <a:xfrm rot="384692" flipH="1">
            <a:off x="4306888" y="5803900"/>
            <a:ext cx="80962" cy="16351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09" name="Text Box 21"/>
          <p:cNvSpPr txBox="1">
            <a:spLocks noChangeArrowheads="1"/>
          </p:cNvSpPr>
          <p:nvPr/>
        </p:nvSpPr>
        <p:spPr bwMode="auto">
          <a:xfrm>
            <a:off x="2940050" y="582453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65910" name="Text Box 22"/>
          <p:cNvSpPr txBox="1">
            <a:spLocks noChangeArrowheads="1"/>
          </p:cNvSpPr>
          <p:nvPr/>
        </p:nvSpPr>
        <p:spPr bwMode="auto">
          <a:xfrm>
            <a:off x="3354388" y="5837238"/>
            <a:ext cx="528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5911" name="Line 23"/>
          <p:cNvSpPr>
            <a:spLocks noChangeShapeType="1"/>
          </p:cNvSpPr>
          <p:nvPr/>
        </p:nvSpPr>
        <p:spPr bwMode="auto">
          <a:xfrm rot="3123872" flipH="1">
            <a:off x="2555875" y="2349500"/>
            <a:ext cx="80963" cy="16351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625" name="Group 24"/>
          <p:cNvGrpSpPr>
            <a:grpSpLocks/>
          </p:cNvGrpSpPr>
          <p:nvPr/>
        </p:nvGrpSpPr>
        <p:grpSpPr bwMode="auto">
          <a:xfrm>
            <a:off x="246063" y="1162050"/>
            <a:ext cx="3965575" cy="4522788"/>
            <a:chOff x="155" y="892"/>
            <a:chExt cx="2498" cy="2849"/>
          </a:xfrm>
        </p:grpSpPr>
        <p:sp>
          <p:nvSpPr>
            <p:cNvPr id="25633" name="Line 25"/>
            <p:cNvSpPr>
              <a:spLocks noChangeShapeType="1"/>
            </p:cNvSpPr>
            <p:nvPr/>
          </p:nvSpPr>
          <p:spPr bwMode="auto">
            <a:xfrm>
              <a:off x="395" y="2407"/>
              <a:ext cx="2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4" name="Line 26"/>
            <p:cNvSpPr>
              <a:spLocks noChangeShapeType="1"/>
            </p:cNvSpPr>
            <p:nvPr/>
          </p:nvSpPr>
          <p:spPr bwMode="auto">
            <a:xfrm>
              <a:off x="2203" y="2417"/>
              <a:ext cx="0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5" name="Line 27"/>
            <p:cNvSpPr>
              <a:spLocks noChangeShapeType="1"/>
            </p:cNvSpPr>
            <p:nvPr/>
          </p:nvSpPr>
          <p:spPr bwMode="auto">
            <a:xfrm flipH="1">
              <a:off x="872" y="1153"/>
              <a:ext cx="762" cy="7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6" name="Line 28"/>
            <p:cNvSpPr>
              <a:spLocks noChangeShapeType="1"/>
            </p:cNvSpPr>
            <p:nvPr/>
          </p:nvSpPr>
          <p:spPr bwMode="auto">
            <a:xfrm>
              <a:off x="872" y="1935"/>
              <a:ext cx="1345" cy="4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7" name="Line 29"/>
            <p:cNvSpPr>
              <a:spLocks noChangeShapeType="1"/>
            </p:cNvSpPr>
            <p:nvPr/>
          </p:nvSpPr>
          <p:spPr bwMode="auto">
            <a:xfrm flipH="1" flipV="1">
              <a:off x="1631" y="1140"/>
              <a:ext cx="577" cy="1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Line 30"/>
            <p:cNvSpPr>
              <a:spLocks noChangeShapeType="1"/>
            </p:cNvSpPr>
            <p:nvPr/>
          </p:nvSpPr>
          <p:spPr bwMode="auto">
            <a:xfrm>
              <a:off x="872" y="1935"/>
              <a:ext cx="0" cy="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Line 31"/>
            <p:cNvSpPr>
              <a:spLocks noChangeShapeType="1"/>
            </p:cNvSpPr>
            <p:nvPr/>
          </p:nvSpPr>
          <p:spPr bwMode="auto">
            <a:xfrm flipH="1">
              <a:off x="1634" y="2753"/>
              <a:ext cx="573" cy="7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0" name="Line 32"/>
            <p:cNvSpPr>
              <a:spLocks noChangeShapeType="1"/>
            </p:cNvSpPr>
            <p:nvPr/>
          </p:nvSpPr>
          <p:spPr bwMode="auto">
            <a:xfrm>
              <a:off x="872" y="2662"/>
              <a:ext cx="1345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1" name="Line 33"/>
            <p:cNvSpPr>
              <a:spLocks noChangeShapeType="1"/>
            </p:cNvSpPr>
            <p:nvPr/>
          </p:nvSpPr>
          <p:spPr bwMode="auto">
            <a:xfrm>
              <a:off x="1635" y="1163"/>
              <a:ext cx="0" cy="2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2" name="Line 34"/>
            <p:cNvSpPr>
              <a:spLocks noChangeShapeType="1"/>
            </p:cNvSpPr>
            <p:nvPr/>
          </p:nvSpPr>
          <p:spPr bwMode="auto">
            <a:xfrm>
              <a:off x="872" y="2663"/>
              <a:ext cx="77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3" name="Text Box 35"/>
            <p:cNvSpPr txBox="1">
              <a:spLocks noChangeArrowheads="1"/>
            </p:cNvSpPr>
            <p:nvPr/>
          </p:nvSpPr>
          <p:spPr bwMode="auto">
            <a:xfrm>
              <a:off x="1413" y="89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5644" name="Text Box 36"/>
            <p:cNvSpPr txBox="1">
              <a:spLocks noChangeArrowheads="1"/>
            </p:cNvSpPr>
            <p:nvPr/>
          </p:nvSpPr>
          <p:spPr bwMode="auto">
            <a:xfrm>
              <a:off x="608" y="1770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5645" name="Text Box 37"/>
            <p:cNvSpPr txBox="1">
              <a:spLocks noChangeArrowheads="1"/>
            </p:cNvSpPr>
            <p:nvPr/>
          </p:nvSpPr>
          <p:spPr bwMode="auto">
            <a:xfrm>
              <a:off x="2194" y="2130"/>
              <a:ext cx="2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c'</a:t>
              </a:r>
            </a:p>
          </p:txBody>
        </p:sp>
        <p:sp>
          <p:nvSpPr>
            <p:cNvPr id="25646" name="Text Box 38"/>
            <p:cNvSpPr txBox="1">
              <a:spLocks noChangeArrowheads="1"/>
            </p:cNvSpPr>
            <p:nvPr/>
          </p:nvSpPr>
          <p:spPr bwMode="auto">
            <a:xfrm>
              <a:off x="655" y="2503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5647" name="Text Box 39"/>
            <p:cNvSpPr txBox="1">
              <a:spLocks noChangeArrowheads="1"/>
            </p:cNvSpPr>
            <p:nvPr/>
          </p:nvSpPr>
          <p:spPr bwMode="auto">
            <a:xfrm>
              <a:off x="1435" y="341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5648" name="Text Box 40"/>
            <p:cNvSpPr txBox="1">
              <a:spLocks noChangeArrowheads="1"/>
            </p:cNvSpPr>
            <p:nvPr/>
          </p:nvSpPr>
          <p:spPr bwMode="auto">
            <a:xfrm>
              <a:off x="2197" y="2508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c</a:t>
              </a:r>
            </a:p>
          </p:txBody>
        </p:sp>
        <p:sp>
          <p:nvSpPr>
            <p:cNvPr id="25649" name="Text Box 41"/>
            <p:cNvSpPr txBox="1">
              <a:spLocks noChangeArrowheads="1"/>
            </p:cNvSpPr>
            <p:nvPr/>
          </p:nvSpPr>
          <p:spPr bwMode="auto">
            <a:xfrm>
              <a:off x="155" y="224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25650" name="Text Box 42"/>
            <p:cNvSpPr txBox="1">
              <a:spLocks noChangeArrowheads="1"/>
            </p:cNvSpPr>
            <p:nvPr/>
          </p:nvSpPr>
          <p:spPr bwMode="auto">
            <a:xfrm>
              <a:off x="355" y="2099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25651" name="Text Box 43"/>
            <p:cNvSpPr txBox="1">
              <a:spLocks noChangeArrowheads="1"/>
            </p:cNvSpPr>
            <p:nvPr/>
          </p:nvSpPr>
          <p:spPr bwMode="auto">
            <a:xfrm>
              <a:off x="347" y="2379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</p:grpSp>
      <p:sp>
        <p:nvSpPr>
          <p:cNvPr id="165932" name="Rectangle 44"/>
          <p:cNvSpPr>
            <a:spLocks noChangeArrowheads="1"/>
          </p:cNvSpPr>
          <p:nvPr/>
        </p:nvSpPr>
        <p:spPr bwMode="auto">
          <a:xfrm>
            <a:off x="4903788" y="868363"/>
            <a:ext cx="3998912" cy="5172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5933" name="AutoShape 45" descr="紫色网格"/>
          <p:cNvSpPr>
            <a:spLocks noChangeArrowheads="1"/>
          </p:cNvSpPr>
          <p:nvPr/>
        </p:nvSpPr>
        <p:spPr bwMode="auto">
          <a:xfrm>
            <a:off x="5978525" y="2466975"/>
            <a:ext cx="2284413" cy="852488"/>
          </a:xfrm>
          <a:prstGeom prst="plus">
            <a:avLst>
              <a:gd name="adj" fmla="val 1434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 i="0" baseline="0">
              <a:solidFill>
                <a:schemeClr val="bg1"/>
              </a:solidFill>
            </a:endParaRPr>
          </a:p>
        </p:txBody>
      </p:sp>
      <p:sp>
        <p:nvSpPr>
          <p:cNvPr id="165934" name="Text Box 46"/>
          <p:cNvSpPr txBox="1">
            <a:spLocks noChangeArrowheads="1"/>
          </p:cNvSpPr>
          <p:nvPr/>
        </p:nvSpPr>
        <p:spPr bwMode="auto">
          <a:xfrm>
            <a:off x="6097588" y="2525713"/>
            <a:ext cx="2051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i="0" baseline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一次换面</a:t>
            </a:r>
          </a:p>
        </p:txBody>
      </p:sp>
      <p:sp>
        <p:nvSpPr>
          <p:cNvPr id="165935" name="Rectangle 47"/>
          <p:cNvSpPr>
            <a:spLocks noChangeArrowheads="1"/>
          </p:cNvSpPr>
          <p:nvPr/>
        </p:nvSpPr>
        <p:spPr bwMode="auto">
          <a:xfrm>
            <a:off x="306388" y="460375"/>
            <a:ext cx="457200" cy="304800"/>
          </a:xfrm>
          <a:prstGeom prst="rect">
            <a:avLst/>
          </a:prstGeom>
          <a:gradFill rotWithShape="0">
            <a:gsLst>
              <a:gs pos="0">
                <a:srgbClr val="76765E"/>
              </a:gs>
              <a:gs pos="5000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5936" name="Arc 48"/>
          <p:cNvSpPr>
            <a:spLocks/>
          </p:cNvSpPr>
          <p:nvPr/>
        </p:nvSpPr>
        <p:spPr bwMode="auto">
          <a:xfrm rot="586577" flipV="1">
            <a:off x="3856038" y="4562475"/>
            <a:ext cx="393700" cy="206375"/>
          </a:xfrm>
          <a:custGeom>
            <a:avLst/>
            <a:gdLst>
              <a:gd name="T0" fmla="*/ 0 w 20609"/>
              <a:gd name="T1" fmla="*/ 0 h 21600"/>
              <a:gd name="T2" fmla="*/ 143675398 w 20609"/>
              <a:gd name="T3" fmla="*/ 13198847 h 21600"/>
              <a:gd name="T4" fmla="*/ 0 w 20609"/>
              <a:gd name="T5" fmla="*/ 18839257 h 21600"/>
              <a:gd name="T6" fmla="*/ 0 60000 65536"/>
              <a:gd name="T7" fmla="*/ 0 60000 65536"/>
              <a:gd name="T8" fmla="*/ 0 60000 65536"/>
              <a:gd name="T9" fmla="*/ 0 w 20609"/>
              <a:gd name="T10" fmla="*/ 0 h 21600"/>
              <a:gd name="T11" fmla="*/ 20609 w 2060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09" h="21600" fill="none" extrusionOk="0">
                <a:moveTo>
                  <a:pt x="-1" y="0"/>
                </a:moveTo>
                <a:cubicBezTo>
                  <a:pt x="9438" y="0"/>
                  <a:pt x="17783" y="6127"/>
                  <a:pt x="20609" y="15132"/>
                </a:cubicBezTo>
              </a:path>
              <a:path w="20609" h="21600" stroke="0" extrusionOk="0">
                <a:moveTo>
                  <a:pt x="-1" y="0"/>
                </a:moveTo>
                <a:cubicBezTo>
                  <a:pt x="9438" y="0"/>
                  <a:pt x="17783" y="6127"/>
                  <a:pt x="20609" y="1513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37" name="Text Box 49"/>
          <p:cNvSpPr txBox="1">
            <a:spLocks noChangeArrowheads="1"/>
          </p:cNvSpPr>
          <p:nvPr/>
        </p:nvSpPr>
        <p:spPr bwMode="auto">
          <a:xfrm>
            <a:off x="3829050" y="4294188"/>
            <a:ext cx="40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</a:t>
            </a:r>
          </a:p>
        </p:txBody>
      </p:sp>
      <p:sp>
        <p:nvSpPr>
          <p:cNvPr id="165938" name="Line 50"/>
          <p:cNvSpPr>
            <a:spLocks noChangeShapeType="1"/>
          </p:cNvSpPr>
          <p:nvPr/>
        </p:nvSpPr>
        <p:spPr bwMode="auto">
          <a:xfrm>
            <a:off x="3997325" y="4271963"/>
            <a:ext cx="1401763" cy="1978025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6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65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165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5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65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16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65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5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65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65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6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nimBg="1" autoUpdateAnimBg="0"/>
      <p:bldP spid="165891" grpId="0" animBg="1"/>
      <p:bldP spid="165892" grpId="0" animBg="1"/>
      <p:bldP spid="165893" grpId="0" animBg="1"/>
      <p:bldP spid="165894" grpId="0" animBg="1"/>
      <p:bldP spid="165895" grpId="0" animBg="1"/>
      <p:bldP spid="165896" grpId="0" animBg="1" autoUpdateAnimBg="0"/>
      <p:bldP spid="165897" grpId="0" autoUpdateAnimBg="0"/>
      <p:bldP spid="165898" grpId="0" animBg="1"/>
      <p:bldP spid="165899" grpId="0" build="p" autoUpdateAnimBg="0"/>
      <p:bldP spid="165900" grpId="0" autoUpdateAnimBg="0"/>
      <p:bldP spid="165901" grpId="0" autoUpdateAnimBg="0"/>
      <p:bldP spid="165902" grpId="0" build="p" autoUpdateAnimBg="0"/>
      <p:bldP spid="165903" grpId="0" autoUpdateAnimBg="0"/>
      <p:bldP spid="165904" grpId="0" autoUpdateAnimBg="0"/>
      <p:bldP spid="165905" grpId="0" autoUpdateAnimBg="0"/>
      <p:bldP spid="165906" grpId="0" autoUpdateAnimBg="0"/>
      <p:bldP spid="165907" grpId="0" autoUpdateAnimBg="0"/>
      <p:bldP spid="165908" grpId="0" animBg="1"/>
      <p:bldP spid="165909" grpId="0" build="p" autoUpdateAnimBg="0"/>
      <p:bldP spid="165910" grpId="0" build="p" autoUpdateAnimBg="0"/>
      <p:bldP spid="165911" grpId="0" animBg="1"/>
      <p:bldP spid="165932" grpId="0" animBg="1"/>
      <p:bldP spid="165933" grpId="0" animBg="1" autoUpdateAnimBg="0"/>
      <p:bldP spid="165934" grpId="0" autoUpdateAnimBg="0"/>
      <p:bldP spid="165935" grpId="0" animBg="1"/>
      <p:bldP spid="165936" grpId="0" animBg="1"/>
      <p:bldP spid="165937" grpId="0" autoUpdateAnimBg="0"/>
      <p:bldP spid="1659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1C9A5E-D4EB-49FE-BCF7-6AEAA7DC5D65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grpSp>
        <p:nvGrpSpPr>
          <p:cNvPr id="26627" name="Group 2"/>
          <p:cNvGrpSpPr>
            <a:grpSpLocks/>
          </p:cNvGrpSpPr>
          <p:nvPr/>
        </p:nvGrpSpPr>
        <p:grpSpPr bwMode="auto">
          <a:xfrm>
            <a:off x="296863" y="1190625"/>
            <a:ext cx="3965575" cy="4522788"/>
            <a:chOff x="155" y="892"/>
            <a:chExt cx="2498" cy="2849"/>
          </a:xfrm>
        </p:grpSpPr>
        <p:sp>
          <p:nvSpPr>
            <p:cNvPr id="26671" name="Line 3"/>
            <p:cNvSpPr>
              <a:spLocks noChangeShapeType="1"/>
            </p:cNvSpPr>
            <p:nvPr/>
          </p:nvSpPr>
          <p:spPr bwMode="auto">
            <a:xfrm>
              <a:off x="395" y="2407"/>
              <a:ext cx="2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2" name="Line 4"/>
            <p:cNvSpPr>
              <a:spLocks noChangeShapeType="1"/>
            </p:cNvSpPr>
            <p:nvPr/>
          </p:nvSpPr>
          <p:spPr bwMode="auto">
            <a:xfrm>
              <a:off x="2203" y="2417"/>
              <a:ext cx="0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3" name="Line 5"/>
            <p:cNvSpPr>
              <a:spLocks noChangeShapeType="1"/>
            </p:cNvSpPr>
            <p:nvPr/>
          </p:nvSpPr>
          <p:spPr bwMode="auto">
            <a:xfrm flipH="1">
              <a:off x="872" y="1153"/>
              <a:ext cx="762" cy="7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4" name="Line 6"/>
            <p:cNvSpPr>
              <a:spLocks noChangeShapeType="1"/>
            </p:cNvSpPr>
            <p:nvPr/>
          </p:nvSpPr>
          <p:spPr bwMode="auto">
            <a:xfrm>
              <a:off x="872" y="1935"/>
              <a:ext cx="1345" cy="4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5" name="Line 7"/>
            <p:cNvSpPr>
              <a:spLocks noChangeShapeType="1"/>
            </p:cNvSpPr>
            <p:nvPr/>
          </p:nvSpPr>
          <p:spPr bwMode="auto">
            <a:xfrm flipH="1" flipV="1">
              <a:off x="1631" y="1140"/>
              <a:ext cx="577" cy="1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6" name="Line 8"/>
            <p:cNvSpPr>
              <a:spLocks noChangeShapeType="1"/>
            </p:cNvSpPr>
            <p:nvPr/>
          </p:nvSpPr>
          <p:spPr bwMode="auto">
            <a:xfrm>
              <a:off x="872" y="1935"/>
              <a:ext cx="0" cy="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7" name="Line 9"/>
            <p:cNvSpPr>
              <a:spLocks noChangeShapeType="1"/>
            </p:cNvSpPr>
            <p:nvPr/>
          </p:nvSpPr>
          <p:spPr bwMode="auto">
            <a:xfrm flipH="1">
              <a:off x="1634" y="2753"/>
              <a:ext cx="573" cy="7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8" name="Line 10"/>
            <p:cNvSpPr>
              <a:spLocks noChangeShapeType="1"/>
            </p:cNvSpPr>
            <p:nvPr/>
          </p:nvSpPr>
          <p:spPr bwMode="auto">
            <a:xfrm>
              <a:off x="872" y="2662"/>
              <a:ext cx="1345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9" name="Line 11"/>
            <p:cNvSpPr>
              <a:spLocks noChangeShapeType="1"/>
            </p:cNvSpPr>
            <p:nvPr/>
          </p:nvSpPr>
          <p:spPr bwMode="auto">
            <a:xfrm>
              <a:off x="1635" y="1163"/>
              <a:ext cx="0" cy="2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0" name="Line 12"/>
            <p:cNvSpPr>
              <a:spLocks noChangeShapeType="1"/>
            </p:cNvSpPr>
            <p:nvPr/>
          </p:nvSpPr>
          <p:spPr bwMode="auto">
            <a:xfrm>
              <a:off x="872" y="2663"/>
              <a:ext cx="77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1" name="Text Box 13"/>
            <p:cNvSpPr txBox="1">
              <a:spLocks noChangeArrowheads="1"/>
            </p:cNvSpPr>
            <p:nvPr/>
          </p:nvSpPr>
          <p:spPr bwMode="auto">
            <a:xfrm>
              <a:off x="1413" y="89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a'</a:t>
              </a:r>
            </a:p>
          </p:txBody>
        </p:sp>
        <p:sp>
          <p:nvSpPr>
            <p:cNvPr id="26682" name="Text Box 14"/>
            <p:cNvSpPr txBox="1">
              <a:spLocks noChangeArrowheads="1"/>
            </p:cNvSpPr>
            <p:nvPr/>
          </p:nvSpPr>
          <p:spPr bwMode="auto">
            <a:xfrm>
              <a:off x="608" y="1770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b'</a:t>
              </a:r>
            </a:p>
          </p:txBody>
        </p:sp>
        <p:sp>
          <p:nvSpPr>
            <p:cNvPr id="26683" name="Text Box 15"/>
            <p:cNvSpPr txBox="1">
              <a:spLocks noChangeArrowheads="1"/>
            </p:cNvSpPr>
            <p:nvPr/>
          </p:nvSpPr>
          <p:spPr bwMode="auto">
            <a:xfrm>
              <a:off x="2194" y="2130"/>
              <a:ext cx="2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c'</a:t>
              </a:r>
            </a:p>
          </p:txBody>
        </p:sp>
        <p:sp>
          <p:nvSpPr>
            <p:cNvPr id="26684" name="Text Box 16"/>
            <p:cNvSpPr txBox="1">
              <a:spLocks noChangeArrowheads="1"/>
            </p:cNvSpPr>
            <p:nvPr/>
          </p:nvSpPr>
          <p:spPr bwMode="auto">
            <a:xfrm>
              <a:off x="655" y="2503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b</a:t>
              </a:r>
            </a:p>
          </p:txBody>
        </p:sp>
        <p:sp>
          <p:nvSpPr>
            <p:cNvPr id="26685" name="Text Box 17"/>
            <p:cNvSpPr txBox="1">
              <a:spLocks noChangeArrowheads="1"/>
            </p:cNvSpPr>
            <p:nvPr/>
          </p:nvSpPr>
          <p:spPr bwMode="auto">
            <a:xfrm>
              <a:off x="1435" y="341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a</a:t>
              </a:r>
            </a:p>
          </p:txBody>
        </p:sp>
        <p:sp>
          <p:nvSpPr>
            <p:cNvPr id="26686" name="Text Box 18"/>
            <p:cNvSpPr txBox="1">
              <a:spLocks noChangeArrowheads="1"/>
            </p:cNvSpPr>
            <p:nvPr/>
          </p:nvSpPr>
          <p:spPr bwMode="auto">
            <a:xfrm>
              <a:off x="2197" y="2508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c</a:t>
              </a:r>
            </a:p>
          </p:txBody>
        </p:sp>
        <p:sp>
          <p:nvSpPr>
            <p:cNvPr id="26687" name="Text Box 19"/>
            <p:cNvSpPr txBox="1">
              <a:spLocks noChangeArrowheads="1"/>
            </p:cNvSpPr>
            <p:nvPr/>
          </p:nvSpPr>
          <p:spPr bwMode="auto">
            <a:xfrm>
              <a:off x="155" y="224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X</a:t>
              </a:r>
            </a:p>
          </p:txBody>
        </p:sp>
        <p:sp>
          <p:nvSpPr>
            <p:cNvPr id="26688" name="Text Box 20"/>
            <p:cNvSpPr txBox="1">
              <a:spLocks noChangeArrowheads="1"/>
            </p:cNvSpPr>
            <p:nvPr/>
          </p:nvSpPr>
          <p:spPr bwMode="auto">
            <a:xfrm>
              <a:off x="355" y="2099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V</a:t>
              </a:r>
            </a:p>
          </p:txBody>
        </p:sp>
        <p:sp>
          <p:nvSpPr>
            <p:cNvPr id="26689" name="Text Box 21"/>
            <p:cNvSpPr txBox="1">
              <a:spLocks noChangeArrowheads="1"/>
            </p:cNvSpPr>
            <p:nvPr/>
          </p:nvSpPr>
          <p:spPr bwMode="auto">
            <a:xfrm>
              <a:off x="347" y="2379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0" baseline="0"/>
                <a:t>H</a:t>
              </a:r>
            </a:p>
          </p:txBody>
        </p:sp>
      </p:grpSp>
      <p:sp>
        <p:nvSpPr>
          <p:cNvPr id="164886" name="Text Box 22"/>
          <p:cNvSpPr txBox="1">
            <a:spLocks noChangeArrowheads="1"/>
          </p:cNvSpPr>
          <p:nvPr/>
        </p:nvSpPr>
        <p:spPr bwMode="auto">
          <a:xfrm>
            <a:off x="820738" y="196850"/>
            <a:ext cx="7605712" cy="5794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将一般位置平面变换成投影面平行面</a:t>
            </a:r>
          </a:p>
        </p:txBody>
      </p:sp>
      <p:sp>
        <p:nvSpPr>
          <p:cNvPr id="164887" name="Text Box 23"/>
          <p:cNvSpPr txBox="1">
            <a:spLocks noChangeArrowheads="1"/>
          </p:cNvSpPr>
          <p:nvPr/>
        </p:nvSpPr>
        <p:spPr bwMode="auto">
          <a:xfrm>
            <a:off x="360363" y="833438"/>
            <a:ext cx="29448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8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  </a:t>
            </a:r>
            <a:r>
              <a:rPr kumimoji="1" lang="zh-CN" altLang="en-US" sz="2800" i="0" baseline="0">
                <a:latin typeface="黑体" pitchFamily="2" charset="-122"/>
                <a:ea typeface="黑体" pitchFamily="2" charset="-122"/>
              </a:rPr>
              <a:t>求</a:t>
            </a:r>
            <a:r>
              <a:rPr kumimoji="1" lang="en-US" altLang="zh-CN" sz="2800" i="0" baseline="0">
                <a:latin typeface="黑体" pitchFamily="2" charset="-122"/>
                <a:ea typeface="黑体" pitchFamily="2" charset="-122"/>
              </a:rPr>
              <a:t>ABC</a:t>
            </a:r>
            <a:r>
              <a:rPr kumimoji="1" lang="zh-CN" altLang="en-US" sz="2800" i="0" baseline="0">
                <a:latin typeface="黑体" pitchFamily="2" charset="-122"/>
                <a:ea typeface="黑体" pitchFamily="2" charset="-122"/>
              </a:rPr>
              <a:t>实形</a:t>
            </a:r>
          </a:p>
        </p:txBody>
      </p:sp>
      <p:sp>
        <p:nvSpPr>
          <p:cNvPr id="164888" name="Text Box 24"/>
          <p:cNvSpPr txBox="1">
            <a:spLocks noChangeArrowheads="1"/>
          </p:cNvSpPr>
          <p:nvPr/>
        </p:nvSpPr>
        <p:spPr bwMode="auto">
          <a:xfrm>
            <a:off x="5886450" y="1831975"/>
            <a:ext cx="1816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200" i="0" baseline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sym typeface="Marlett" pitchFamily="2" charset="2"/>
              </a:rPr>
              <a:t>空间分析</a:t>
            </a:r>
            <a:endParaRPr kumimoji="1" lang="zh-CN" altLang="en-US" sz="3200" i="0" baseline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64889" name="Text Box 25"/>
          <p:cNvSpPr txBox="1">
            <a:spLocks noChangeArrowheads="1"/>
          </p:cNvSpPr>
          <p:nvPr/>
        </p:nvSpPr>
        <p:spPr bwMode="auto">
          <a:xfrm>
            <a:off x="5183188" y="2676525"/>
            <a:ext cx="37576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i="0" baseline="0">
                <a:ea typeface="黑体" pitchFamily="2" charset="-122"/>
              </a:rPr>
              <a:t>平面相对于投影面处于何种位置时其投影直接反映实形</a:t>
            </a:r>
          </a:p>
        </p:txBody>
      </p:sp>
      <p:sp>
        <p:nvSpPr>
          <p:cNvPr id="164890" name="Text Box 26"/>
          <p:cNvSpPr txBox="1">
            <a:spLocks noChangeArrowheads="1"/>
          </p:cNvSpPr>
          <p:nvPr/>
        </p:nvSpPr>
        <p:spPr bwMode="auto">
          <a:xfrm>
            <a:off x="5532438" y="4373563"/>
            <a:ext cx="2936875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1" lang="zh-CN" altLang="en-US" sz="3600" i="0" baseline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投影面平行面</a:t>
            </a:r>
          </a:p>
        </p:txBody>
      </p:sp>
      <p:sp>
        <p:nvSpPr>
          <p:cNvPr id="164891" name="Rectangle 27"/>
          <p:cNvSpPr>
            <a:spLocks noChangeArrowheads="1"/>
          </p:cNvSpPr>
          <p:nvPr/>
        </p:nvSpPr>
        <p:spPr bwMode="auto">
          <a:xfrm>
            <a:off x="5092700" y="1898650"/>
            <a:ext cx="3763963" cy="3717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4892" name="Text Box 28"/>
          <p:cNvSpPr txBox="1">
            <a:spLocks noChangeArrowheads="1"/>
          </p:cNvSpPr>
          <p:nvPr/>
        </p:nvSpPr>
        <p:spPr bwMode="auto">
          <a:xfrm>
            <a:off x="5299075" y="873125"/>
            <a:ext cx="3290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1. 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  <a:sym typeface="Marlett" pitchFamily="2" charset="2"/>
              </a:rPr>
              <a:t>先将平面变换成投影面垂直面</a:t>
            </a:r>
            <a:endParaRPr lang="zh-CN" altLang="en-US" sz="280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4893" name="Line 29"/>
          <p:cNvSpPr>
            <a:spLocks noChangeShapeType="1"/>
          </p:cNvSpPr>
          <p:nvPr/>
        </p:nvSpPr>
        <p:spPr bwMode="auto">
          <a:xfrm>
            <a:off x="1435100" y="2832100"/>
            <a:ext cx="1766888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4" name="Line 30"/>
          <p:cNvSpPr>
            <a:spLocks noChangeShapeType="1"/>
          </p:cNvSpPr>
          <p:nvPr/>
        </p:nvSpPr>
        <p:spPr bwMode="auto">
          <a:xfrm>
            <a:off x="3200400" y="2832100"/>
            <a:ext cx="0" cy="177800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5" name="Line 31"/>
          <p:cNvSpPr>
            <a:spLocks noChangeShapeType="1"/>
          </p:cNvSpPr>
          <p:nvPr/>
        </p:nvSpPr>
        <p:spPr bwMode="auto">
          <a:xfrm>
            <a:off x="1444625" y="4022725"/>
            <a:ext cx="2946400" cy="9937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6" name="Line 32"/>
          <p:cNvSpPr>
            <a:spLocks noChangeShapeType="1"/>
          </p:cNvSpPr>
          <p:nvPr/>
        </p:nvSpPr>
        <p:spPr bwMode="auto">
          <a:xfrm flipH="1">
            <a:off x="3086100" y="4044950"/>
            <a:ext cx="795338" cy="2160588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7" name="Text Box 33"/>
          <p:cNvSpPr txBox="1">
            <a:spLocks noChangeArrowheads="1"/>
          </p:cNvSpPr>
          <p:nvPr/>
        </p:nvSpPr>
        <p:spPr bwMode="auto">
          <a:xfrm>
            <a:off x="2792413" y="6122988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X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4898" name="Text Box 34"/>
          <p:cNvSpPr txBox="1">
            <a:spLocks noChangeArrowheads="1"/>
          </p:cNvSpPr>
          <p:nvPr/>
        </p:nvSpPr>
        <p:spPr bwMode="auto">
          <a:xfrm>
            <a:off x="2690813" y="579913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/>
              <a:t>H</a:t>
            </a:r>
          </a:p>
        </p:txBody>
      </p:sp>
      <p:sp>
        <p:nvSpPr>
          <p:cNvPr id="164899" name="Text Box 35"/>
          <p:cNvSpPr txBox="1">
            <a:spLocks noChangeArrowheads="1"/>
          </p:cNvSpPr>
          <p:nvPr/>
        </p:nvSpPr>
        <p:spPr bwMode="auto">
          <a:xfrm>
            <a:off x="3124200" y="5851525"/>
            <a:ext cx="52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4900" name="Line 36"/>
          <p:cNvSpPr>
            <a:spLocks noChangeShapeType="1"/>
          </p:cNvSpPr>
          <p:nvPr/>
        </p:nvSpPr>
        <p:spPr bwMode="auto">
          <a:xfrm>
            <a:off x="2635250" y="5360988"/>
            <a:ext cx="2573338" cy="8667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1" name="Line 37"/>
          <p:cNvSpPr>
            <a:spLocks noChangeShapeType="1"/>
          </p:cNvSpPr>
          <p:nvPr/>
        </p:nvSpPr>
        <p:spPr bwMode="auto">
          <a:xfrm>
            <a:off x="3546475" y="4149725"/>
            <a:ext cx="277813" cy="9366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2" name="Line 38"/>
          <p:cNvSpPr>
            <a:spLocks noChangeShapeType="1"/>
          </p:cNvSpPr>
          <p:nvPr/>
        </p:nvSpPr>
        <p:spPr bwMode="auto">
          <a:xfrm>
            <a:off x="3811588" y="4217988"/>
            <a:ext cx="1397000" cy="2020887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3" name="Line 39"/>
          <p:cNvSpPr>
            <a:spLocks noChangeShapeType="1"/>
          </p:cNvSpPr>
          <p:nvPr/>
        </p:nvSpPr>
        <p:spPr bwMode="auto">
          <a:xfrm>
            <a:off x="4240213" y="3768725"/>
            <a:ext cx="1741487" cy="249555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4" name="Line 40"/>
          <p:cNvSpPr>
            <a:spLocks noChangeShapeType="1"/>
          </p:cNvSpPr>
          <p:nvPr/>
        </p:nvSpPr>
        <p:spPr bwMode="auto">
          <a:xfrm flipV="1">
            <a:off x="5208588" y="5419725"/>
            <a:ext cx="1062037" cy="79692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5" name="Line 41"/>
          <p:cNvSpPr>
            <a:spLocks noChangeShapeType="1"/>
          </p:cNvSpPr>
          <p:nvPr/>
        </p:nvSpPr>
        <p:spPr bwMode="auto">
          <a:xfrm flipV="1">
            <a:off x="3811588" y="3733800"/>
            <a:ext cx="727075" cy="496888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6" name="Line 42"/>
          <p:cNvSpPr>
            <a:spLocks noChangeShapeType="1"/>
          </p:cNvSpPr>
          <p:nvPr/>
        </p:nvSpPr>
        <p:spPr bwMode="auto">
          <a:xfrm flipV="1">
            <a:off x="4343400" y="3354388"/>
            <a:ext cx="2447925" cy="1649412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7" name="Line 43"/>
          <p:cNvSpPr>
            <a:spLocks noChangeShapeType="1"/>
          </p:cNvSpPr>
          <p:nvPr/>
        </p:nvSpPr>
        <p:spPr bwMode="auto">
          <a:xfrm flipV="1">
            <a:off x="4527550" y="3340100"/>
            <a:ext cx="2262188" cy="404813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8" name="Line 44"/>
          <p:cNvSpPr>
            <a:spLocks noChangeShapeType="1"/>
          </p:cNvSpPr>
          <p:nvPr/>
        </p:nvSpPr>
        <p:spPr bwMode="auto">
          <a:xfrm flipH="1">
            <a:off x="6257925" y="3328988"/>
            <a:ext cx="520700" cy="20796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9" name="Line 45"/>
          <p:cNvSpPr>
            <a:spLocks noChangeShapeType="1"/>
          </p:cNvSpPr>
          <p:nvPr/>
        </p:nvSpPr>
        <p:spPr bwMode="auto">
          <a:xfrm flipH="1" flipV="1">
            <a:off x="4538663" y="3744913"/>
            <a:ext cx="1743075" cy="16859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10" name="Text Box 46"/>
          <p:cNvSpPr txBox="1">
            <a:spLocks noChangeArrowheads="1"/>
          </p:cNvSpPr>
          <p:nvPr/>
        </p:nvSpPr>
        <p:spPr bwMode="auto">
          <a:xfrm>
            <a:off x="4803775" y="6065838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a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4911" name="Text Box 47"/>
          <p:cNvSpPr txBox="1">
            <a:spLocks noChangeArrowheads="1"/>
          </p:cNvSpPr>
          <p:nvPr/>
        </p:nvSpPr>
        <p:spPr bwMode="auto">
          <a:xfrm>
            <a:off x="6216650" y="5219700"/>
            <a:ext cx="48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a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64912" name="Text Box 48"/>
          <p:cNvSpPr txBox="1">
            <a:spLocks noChangeArrowheads="1"/>
          </p:cNvSpPr>
          <p:nvPr/>
        </p:nvSpPr>
        <p:spPr bwMode="auto">
          <a:xfrm>
            <a:off x="3989388" y="4878388"/>
            <a:ext cx="481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solidFill>
                  <a:srgbClr val="A50021"/>
                </a:solidFill>
              </a:rPr>
              <a:t>b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400" i="0" baseline="0">
              <a:solidFill>
                <a:srgbClr val="A50021"/>
              </a:solidFill>
            </a:endParaRPr>
          </a:p>
        </p:txBody>
      </p:sp>
      <p:sp>
        <p:nvSpPr>
          <p:cNvPr id="164913" name="Text Box 49"/>
          <p:cNvSpPr txBox="1">
            <a:spLocks noChangeArrowheads="1"/>
          </p:cNvSpPr>
          <p:nvPr/>
        </p:nvSpPr>
        <p:spPr bwMode="auto">
          <a:xfrm>
            <a:off x="6737350" y="3068638"/>
            <a:ext cx="481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solidFill>
                  <a:srgbClr val="000066"/>
                </a:solidFill>
              </a:rPr>
              <a:t>b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</a:p>
        </p:txBody>
      </p:sp>
      <p:sp>
        <p:nvSpPr>
          <p:cNvPr id="164914" name="Rectangle 50"/>
          <p:cNvSpPr>
            <a:spLocks noChangeArrowheads="1"/>
          </p:cNvSpPr>
          <p:nvPr/>
        </p:nvSpPr>
        <p:spPr bwMode="auto">
          <a:xfrm>
            <a:off x="3868738" y="4011613"/>
            <a:ext cx="44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solidFill>
                  <a:srgbClr val="A50021"/>
                </a:solidFill>
              </a:rPr>
              <a:t>c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64915" name="Rectangle 51"/>
          <p:cNvSpPr>
            <a:spLocks noChangeArrowheads="1"/>
          </p:cNvSpPr>
          <p:nvPr/>
        </p:nvSpPr>
        <p:spPr bwMode="auto">
          <a:xfrm>
            <a:off x="4367213" y="3322638"/>
            <a:ext cx="44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0" baseline="0">
                <a:solidFill>
                  <a:srgbClr val="000066"/>
                </a:solidFill>
              </a:rPr>
              <a:t>c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</a:p>
        </p:txBody>
      </p:sp>
      <p:sp>
        <p:nvSpPr>
          <p:cNvPr id="164916" name="Text Box 52"/>
          <p:cNvSpPr txBox="1">
            <a:spLocks noChangeArrowheads="1"/>
          </p:cNvSpPr>
          <p:nvPr/>
        </p:nvSpPr>
        <p:spPr bwMode="auto">
          <a:xfrm>
            <a:off x="5835650" y="6199188"/>
            <a:ext cx="568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X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64917" name="Text Box 53"/>
          <p:cNvSpPr txBox="1">
            <a:spLocks noChangeArrowheads="1"/>
          </p:cNvSpPr>
          <p:nvPr/>
        </p:nvSpPr>
        <p:spPr bwMode="auto">
          <a:xfrm>
            <a:off x="5467350" y="5995988"/>
            <a:ext cx="528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P</a:t>
            </a:r>
            <a:r>
              <a:rPr lang="en-US" altLang="zh-CN" sz="2000" i="0" baseline="0">
                <a:solidFill>
                  <a:srgbClr val="A50021"/>
                </a:solidFill>
              </a:rPr>
              <a:t>1</a:t>
            </a:r>
            <a:endParaRPr lang="en-US" altLang="zh-CN" sz="2800" i="0" baseline="0">
              <a:solidFill>
                <a:srgbClr val="A50021"/>
              </a:solidFill>
            </a:endParaRPr>
          </a:p>
        </p:txBody>
      </p:sp>
      <p:sp>
        <p:nvSpPr>
          <p:cNvPr id="164918" name="Text Box 54"/>
          <p:cNvSpPr txBox="1">
            <a:spLocks noChangeArrowheads="1"/>
          </p:cNvSpPr>
          <p:nvPr/>
        </p:nvSpPr>
        <p:spPr bwMode="auto">
          <a:xfrm>
            <a:off x="5940425" y="5881688"/>
            <a:ext cx="528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000066"/>
                </a:solidFill>
              </a:rPr>
              <a:t>P</a:t>
            </a:r>
            <a:r>
              <a:rPr lang="en-US" altLang="zh-CN" sz="2000" i="0" baseline="0">
                <a:solidFill>
                  <a:srgbClr val="000066"/>
                </a:solidFill>
              </a:rPr>
              <a:t>2</a:t>
            </a:r>
            <a:endParaRPr lang="en-US" altLang="zh-CN" sz="2800" i="0" baseline="0">
              <a:solidFill>
                <a:srgbClr val="000066"/>
              </a:solidFill>
            </a:endParaRPr>
          </a:p>
        </p:txBody>
      </p:sp>
      <p:sp>
        <p:nvSpPr>
          <p:cNvPr id="164919" name="Text Box 55"/>
          <p:cNvSpPr txBox="1">
            <a:spLocks noChangeArrowheads="1"/>
          </p:cNvSpPr>
          <p:nvPr/>
        </p:nvSpPr>
        <p:spPr bwMode="auto">
          <a:xfrm>
            <a:off x="3195638" y="24018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1'</a:t>
            </a:r>
          </a:p>
        </p:txBody>
      </p:sp>
      <p:sp>
        <p:nvSpPr>
          <p:cNvPr id="164920" name="Text Box 56"/>
          <p:cNvSpPr txBox="1">
            <a:spLocks noChangeArrowheads="1"/>
          </p:cNvSpPr>
          <p:nvPr/>
        </p:nvSpPr>
        <p:spPr bwMode="auto">
          <a:xfrm>
            <a:off x="3106738" y="457041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rgbClr val="A50021"/>
                </a:solidFill>
              </a:rPr>
              <a:t>1</a:t>
            </a:r>
          </a:p>
        </p:txBody>
      </p:sp>
      <p:sp>
        <p:nvSpPr>
          <p:cNvPr id="164921" name="Text Box 57" descr="紫色网格"/>
          <p:cNvSpPr txBox="1">
            <a:spLocks noChangeArrowheads="1"/>
          </p:cNvSpPr>
          <p:nvPr/>
        </p:nvSpPr>
        <p:spPr bwMode="auto">
          <a:xfrm>
            <a:off x="1141413" y="5949950"/>
            <a:ext cx="1322387" cy="528638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1 </a:t>
            </a:r>
            <a:r>
              <a:rPr lang="en-US" altLang="zh-CN" sz="2800" i="0" baseline="0">
                <a:solidFill>
                  <a:schemeClr val="bg1"/>
                </a:solidFill>
              </a:rPr>
              <a:t> b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endParaRPr lang="en-US" altLang="zh-CN" sz="2800" i="0" baseline="0">
              <a:solidFill>
                <a:schemeClr val="bg1"/>
              </a:solidFill>
            </a:endParaRPr>
          </a:p>
        </p:txBody>
      </p:sp>
      <p:sp>
        <p:nvSpPr>
          <p:cNvPr id="164922" name="Text Box 58"/>
          <p:cNvSpPr txBox="1">
            <a:spLocks noChangeArrowheads="1"/>
          </p:cNvSpPr>
          <p:nvPr/>
        </p:nvSpPr>
        <p:spPr bwMode="auto">
          <a:xfrm>
            <a:off x="5340350" y="1804988"/>
            <a:ext cx="3241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latin typeface="黑体" pitchFamily="2" charset="-122"/>
                <a:ea typeface="黑体" pitchFamily="2" charset="-122"/>
                <a:sym typeface="Monotype Sorts" pitchFamily="2" charset="2"/>
              </a:rPr>
              <a:t>2. </a:t>
            </a:r>
            <a:r>
              <a:rPr lang="zh-CN" altLang="en-US" sz="2800" i="0" baseline="0">
                <a:latin typeface="黑体" pitchFamily="2" charset="-122"/>
                <a:ea typeface="黑体" pitchFamily="2" charset="-122"/>
                <a:sym typeface="Marlett" pitchFamily="2" charset="2"/>
              </a:rPr>
              <a:t>再将平面变换成投影面平行面</a:t>
            </a:r>
          </a:p>
        </p:txBody>
      </p:sp>
      <p:sp>
        <p:nvSpPr>
          <p:cNvPr id="164923" name="Text Box 59" descr="紫色网格"/>
          <p:cNvSpPr txBox="1">
            <a:spLocks noChangeArrowheads="1"/>
          </p:cNvSpPr>
          <p:nvPr/>
        </p:nvSpPr>
        <p:spPr bwMode="auto">
          <a:xfrm>
            <a:off x="6540500" y="6032500"/>
            <a:ext cx="1866900" cy="528638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>
                <a:solidFill>
                  <a:schemeClr val="bg1"/>
                </a:solidFill>
              </a:rPr>
              <a:t>X</a:t>
            </a:r>
            <a:r>
              <a:rPr lang="en-US" altLang="zh-CN" sz="2000" i="0" baseline="0">
                <a:solidFill>
                  <a:schemeClr val="bg1"/>
                </a:solidFill>
              </a:rPr>
              <a:t>2</a:t>
            </a:r>
            <a:r>
              <a:rPr lang="en-US" altLang="zh-CN" sz="2800" i="0" baseline="0">
                <a:solidFill>
                  <a:schemeClr val="bg1"/>
                </a:solidFill>
              </a:rPr>
              <a:t> // c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b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r>
              <a:rPr lang="en-US" altLang="zh-CN" sz="2800" i="0" baseline="0">
                <a:solidFill>
                  <a:schemeClr val="bg1"/>
                </a:solidFill>
              </a:rPr>
              <a:t>a</a:t>
            </a:r>
            <a:r>
              <a:rPr lang="en-US" altLang="zh-CN" sz="2000" i="0" baseline="0">
                <a:solidFill>
                  <a:schemeClr val="bg1"/>
                </a:solidFill>
              </a:rPr>
              <a:t>1</a:t>
            </a:r>
            <a:endParaRPr lang="en-US" altLang="zh-CN" sz="2800" i="0" baseline="0">
              <a:solidFill>
                <a:schemeClr val="bg1"/>
              </a:solidFill>
            </a:endParaRPr>
          </a:p>
        </p:txBody>
      </p:sp>
      <p:sp>
        <p:nvSpPr>
          <p:cNvPr id="164924" name="Text Box 60"/>
          <p:cNvSpPr txBox="1">
            <a:spLocks noChangeArrowheads="1"/>
          </p:cNvSpPr>
          <p:nvPr/>
        </p:nvSpPr>
        <p:spPr bwMode="auto">
          <a:xfrm>
            <a:off x="5353050" y="3779838"/>
            <a:ext cx="1120775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kumimoji="1" lang="zh-CN" altLang="en-US" sz="32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实形</a:t>
            </a:r>
          </a:p>
        </p:txBody>
      </p:sp>
      <p:sp>
        <p:nvSpPr>
          <p:cNvPr id="164925" name="Rectangle 61"/>
          <p:cNvSpPr>
            <a:spLocks noChangeArrowheads="1"/>
          </p:cNvSpPr>
          <p:nvPr/>
        </p:nvSpPr>
        <p:spPr bwMode="auto">
          <a:xfrm>
            <a:off x="5251450" y="777875"/>
            <a:ext cx="3394075" cy="22621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4926" name="AutoShape 62" descr="紫色网格"/>
          <p:cNvSpPr>
            <a:spLocks noChangeArrowheads="1"/>
          </p:cNvSpPr>
          <p:nvPr/>
        </p:nvSpPr>
        <p:spPr bwMode="auto">
          <a:xfrm>
            <a:off x="5865813" y="1544638"/>
            <a:ext cx="2284412" cy="852487"/>
          </a:xfrm>
          <a:prstGeom prst="plus">
            <a:avLst>
              <a:gd name="adj" fmla="val 14347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 i="0" baseline="0">
              <a:solidFill>
                <a:schemeClr val="bg1"/>
              </a:solidFill>
            </a:endParaRPr>
          </a:p>
        </p:txBody>
      </p:sp>
      <p:sp>
        <p:nvSpPr>
          <p:cNvPr id="164927" name="Text Box 63"/>
          <p:cNvSpPr txBox="1">
            <a:spLocks noChangeArrowheads="1"/>
          </p:cNvSpPr>
          <p:nvPr/>
        </p:nvSpPr>
        <p:spPr bwMode="auto">
          <a:xfrm>
            <a:off x="5997575" y="1649413"/>
            <a:ext cx="20843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i="0" baseline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两次换面</a:t>
            </a:r>
          </a:p>
        </p:txBody>
      </p:sp>
      <p:sp>
        <p:nvSpPr>
          <p:cNvPr id="164928" name="Rectangle 64"/>
          <p:cNvSpPr>
            <a:spLocks noChangeArrowheads="1"/>
          </p:cNvSpPr>
          <p:nvPr/>
        </p:nvSpPr>
        <p:spPr bwMode="auto">
          <a:xfrm>
            <a:off x="333375" y="360363"/>
            <a:ext cx="457200" cy="304800"/>
          </a:xfrm>
          <a:prstGeom prst="rect">
            <a:avLst/>
          </a:prstGeom>
          <a:gradFill rotWithShape="0">
            <a:gsLst>
              <a:gs pos="0">
                <a:srgbClr val="76765E"/>
              </a:gs>
              <a:gs pos="5000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6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6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164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164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164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64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6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300"/>
                                        <p:tgtEl>
                                          <p:spTgt spid="16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75" fill="hold"/>
                                        <p:tgtEl>
                                          <p:spTgt spid="164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" fill="hold"/>
                                        <p:tgtEl>
                                          <p:spTgt spid="164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64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6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6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6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6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5" dur="500"/>
                                        <p:tgtEl>
                                          <p:spTgt spid="16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16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64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64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64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64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6" grpId="0" animBg="1" autoUpdateAnimBg="0"/>
      <p:bldP spid="164887" grpId="0" build="p" autoUpdateAnimBg="0"/>
      <p:bldP spid="164888" grpId="0" autoUpdateAnimBg="0"/>
      <p:bldP spid="164889" grpId="0" autoUpdateAnimBg="0"/>
      <p:bldP spid="164890" grpId="0" autoUpdateAnimBg="0"/>
      <p:bldP spid="164891" grpId="0" animBg="1"/>
      <p:bldP spid="164892" grpId="0" build="p" autoUpdateAnimBg="0"/>
      <p:bldP spid="164893" grpId="0" animBg="1"/>
      <p:bldP spid="164894" grpId="0" animBg="1"/>
      <p:bldP spid="164895" grpId="0" animBg="1"/>
      <p:bldP spid="164896" grpId="0" animBg="1"/>
      <p:bldP spid="164897" grpId="0" autoUpdateAnimBg="0"/>
      <p:bldP spid="164898" grpId="0" build="p" autoUpdateAnimBg="0"/>
      <p:bldP spid="164899" grpId="0" build="p" autoUpdateAnimBg="0" advAuto="0"/>
      <p:bldP spid="164900" grpId="0" animBg="1"/>
      <p:bldP spid="164901" grpId="0" animBg="1"/>
      <p:bldP spid="164902" grpId="0" animBg="1"/>
      <p:bldP spid="164903" grpId="0" animBg="1"/>
      <p:bldP spid="164904" grpId="0" animBg="1"/>
      <p:bldP spid="164905" grpId="0" animBg="1"/>
      <p:bldP spid="164906" grpId="0" animBg="1"/>
      <p:bldP spid="164907" grpId="0" animBg="1"/>
      <p:bldP spid="164908" grpId="0" animBg="1"/>
      <p:bldP spid="164909" grpId="0" animBg="1"/>
      <p:bldP spid="164910" grpId="0" autoUpdateAnimBg="0"/>
      <p:bldP spid="164911" grpId="0" autoUpdateAnimBg="0"/>
      <p:bldP spid="164912" grpId="0" autoUpdateAnimBg="0"/>
      <p:bldP spid="164913" grpId="0" autoUpdateAnimBg="0"/>
      <p:bldP spid="164914" grpId="0" autoUpdateAnimBg="0"/>
      <p:bldP spid="164915" grpId="0" autoUpdateAnimBg="0"/>
      <p:bldP spid="164916" grpId="0" autoUpdateAnimBg="0"/>
      <p:bldP spid="164917" grpId="0" build="p" autoUpdateAnimBg="0"/>
      <p:bldP spid="164918" grpId="0" build="p" autoUpdateAnimBg="0" advAuto="0"/>
      <p:bldP spid="164919" grpId="0" autoUpdateAnimBg="0"/>
      <p:bldP spid="164920" grpId="0" autoUpdateAnimBg="0"/>
      <p:bldP spid="164921" grpId="0" animBg="1" autoUpdateAnimBg="0"/>
      <p:bldP spid="164922" grpId="0" autoUpdateAnimBg="0"/>
      <p:bldP spid="164923" grpId="0" animBg="1" autoUpdateAnimBg="0"/>
      <p:bldP spid="164924" grpId="0" autoUpdateAnimBg="0"/>
      <p:bldP spid="164925" grpId="0" animBg="1"/>
      <p:bldP spid="164926" grpId="0" animBg="1" autoUpdateAnimBg="0"/>
      <p:bldP spid="164927" grpId="0" autoUpdateAnimBg="0"/>
      <p:bldP spid="1649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1DF566-4096-48C0-8717-11A2B7D6B274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342900" y="184150"/>
            <a:ext cx="3536950" cy="82232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例：求已知直线与平面的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    夹角的实际大小。</a:t>
            </a:r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4764088" y="995363"/>
            <a:ext cx="468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  <a:r>
              <a:rPr kumimoji="0" lang="en-US" altLang="en-US" sz="1800" baseline="0">
                <a:latin typeface="ISOCPEUR" pitchFamily="34" charset="0"/>
              </a:rPr>
              <a:t>’ 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6351588" y="271463"/>
            <a:ext cx="757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  <a:r>
              <a:rPr kumimoji="0" lang="en-US" altLang="en-US" sz="1800" baseline="0">
                <a:latin typeface="ISOCPEUR" pitchFamily="34" charset="0"/>
              </a:rPr>
              <a:t>’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6324600" y="43703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4765675" y="3590925"/>
            <a:ext cx="388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5772150" y="1658938"/>
            <a:ext cx="0" cy="285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7537450" y="2436813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5491163" y="1325563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7477125" y="2143125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6775450" y="469900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  <a:r>
              <a:rPr kumimoji="0" lang="en-US" altLang="en-US" sz="1800" baseline="0">
                <a:latin typeface="ISOCPEUR" pitchFamily="34" charset="0"/>
              </a:rPr>
              <a:t>’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5678488" y="4402138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6802438" y="265430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7504113" y="390207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27664" name="Freeform 16"/>
          <p:cNvSpPr>
            <a:spLocks/>
          </p:cNvSpPr>
          <p:nvPr/>
        </p:nvSpPr>
        <p:spPr bwMode="auto">
          <a:xfrm>
            <a:off x="5768975" y="723900"/>
            <a:ext cx="1768475" cy="1706563"/>
          </a:xfrm>
          <a:custGeom>
            <a:avLst/>
            <a:gdLst>
              <a:gd name="T0" fmla="*/ 0 w 852"/>
              <a:gd name="T1" fmla="*/ 1939606427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1939606427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5" name="Freeform 17"/>
          <p:cNvSpPr>
            <a:spLocks/>
          </p:cNvSpPr>
          <p:nvPr/>
        </p:nvSpPr>
        <p:spPr bwMode="auto">
          <a:xfrm flipV="1">
            <a:off x="5768975" y="2954338"/>
            <a:ext cx="1768475" cy="1555750"/>
          </a:xfrm>
          <a:custGeom>
            <a:avLst/>
            <a:gdLst>
              <a:gd name="T0" fmla="*/ 0 w 852"/>
              <a:gd name="T1" fmla="*/ 0 h 750"/>
              <a:gd name="T2" fmla="*/ 2147483647 w 852"/>
              <a:gd name="T3" fmla="*/ 1045594683 h 750"/>
              <a:gd name="T4" fmla="*/ 2147483647 w 852"/>
              <a:gd name="T5" fmla="*/ 2147483647 h 750"/>
              <a:gd name="T6" fmla="*/ 0 w 852"/>
              <a:gd name="T7" fmla="*/ 0 h 750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750"/>
              <a:gd name="T14" fmla="*/ 852 w 852"/>
              <a:gd name="T15" fmla="*/ 750 h 7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750">
                <a:moveTo>
                  <a:pt x="0" y="0"/>
                </a:moveTo>
                <a:lnTo>
                  <a:pt x="852" y="243"/>
                </a:lnTo>
                <a:lnTo>
                  <a:pt x="507" y="75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6819900" y="730250"/>
            <a:ext cx="0" cy="22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6819900" y="277177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6819900" y="942975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4702175" y="2643188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V="1">
            <a:off x="5105400" y="569913"/>
            <a:ext cx="1371600" cy="587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 flipH="1">
            <a:off x="5116513" y="1157288"/>
            <a:ext cx="1587" cy="263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>
            <a:off x="6477000" y="560388"/>
            <a:ext cx="0" cy="387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>
            <a:off x="5116513" y="3789363"/>
            <a:ext cx="1360487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290" name="Line 26"/>
          <p:cNvSpPr>
            <a:spLocks noChangeShapeType="1"/>
          </p:cNvSpPr>
          <p:nvPr/>
        </p:nvSpPr>
        <p:spPr bwMode="auto">
          <a:xfrm>
            <a:off x="5772150" y="1652588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291" name="Line 27"/>
          <p:cNvSpPr>
            <a:spLocks noChangeShapeType="1"/>
          </p:cNvSpPr>
          <p:nvPr/>
        </p:nvSpPr>
        <p:spPr bwMode="auto">
          <a:xfrm>
            <a:off x="7223125" y="1658938"/>
            <a:ext cx="0" cy="100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292" name="Line 28"/>
          <p:cNvSpPr>
            <a:spLocks noChangeShapeType="1"/>
          </p:cNvSpPr>
          <p:nvPr/>
        </p:nvSpPr>
        <p:spPr bwMode="auto">
          <a:xfrm flipV="1">
            <a:off x="5776913" y="3546475"/>
            <a:ext cx="145415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293" name="Text Box 29"/>
          <p:cNvSpPr txBox="1">
            <a:spLocks noChangeArrowheads="1"/>
          </p:cNvSpPr>
          <p:nvPr/>
        </p:nvSpPr>
        <p:spPr bwMode="auto">
          <a:xfrm>
            <a:off x="7131050" y="1395413"/>
            <a:ext cx="40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1’ 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139294" name="Text Box 30"/>
          <p:cNvSpPr txBox="1">
            <a:spLocks noChangeArrowheads="1"/>
          </p:cNvSpPr>
          <p:nvPr/>
        </p:nvSpPr>
        <p:spPr bwMode="auto">
          <a:xfrm>
            <a:off x="7170738" y="3344863"/>
            <a:ext cx="352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en-US" sz="1800" baseline="0">
                <a:latin typeface="ISOCPEUR" pitchFamily="34" charset="0"/>
              </a:rPr>
              <a:t>1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139295" name="Line 31"/>
          <p:cNvSpPr>
            <a:spLocks noChangeShapeType="1"/>
          </p:cNvSpPr>
          <p:nvPr/>
        </p:nvSpPr>
        <p:spPr bwMode="auto">
          <a:xfrm>
            <a:off x="4573588" y="3633788"/>
            <a:ext cx="1284287" cy="1912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01" name="Text Box 37"/>
          <p:cNvSpPr txBox="1">
            <a:spLocks noChangeArrowheads="1"/>
          </p:cNvSpPr>
          <p:nvPr/>
        </p:nvSpPr>
        <p:spPr bwMode="auto">
          <a:xfrm>
            <a:off x="3000375" y="4975225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b</a:t>
            </a:r>
            <a:r>
              <a:rPr kumimoji="0" lang="en-US" altLang="zh-CN" sz="1400" baseline="0">
                <a:latin typeface="ISOCPEUR" pitchFamily="34" charset="0"/>
              </a:rPr>
              <a:t>1 </a:t>
            </a:r>
          </a:p>
        </p:txBody>
      </p: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5783263" y="5473700"/>
            <a:ext cx="6207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O</a:t>
            </a:r>
            <a:r>
              <a:rPr kumimoji="0" lang="en-US" altLang="zh-CN" sz="1400" baseline="0">
                <a:latin typeface="ISOCPEUR" pitchFamily="34" charset="0"/>
              </a:rPr>
              <a:t>1 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  <a:r>
              <a:rPr kumimoji="0" lang="en-US" altLang="en-US" sz="1800" baseline="0">
                <a:latin typeface="ISOCPEUR" pitchFamily="34" charset="0"/>
              </a:rPr>
              <a:t> </a:t>
            </a:r>
            <a:endParaRPr kumimoji="0" lang="en-US" altLang="zh-CN" sz="1800" baseline="0">
              <a:latin typeface="ISOCPEUR" pitchFamily="34" charset="0"/>
            </a:endParaRPr>
          </a:p>
        </p:txBody>
      </p:sp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8386763" y="2455863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O </a:t>
            </a:r>
          </a:p>
        </p:txBody>
      </p:sp>
      <p:sp>
        <p:nvSpPr>
          <p:cNvPr id="139307" name="Line 43"/>
          <p:cNvSpPr>
            <a:spLocks noChangeShapeType="1"/>
          </p:cNvSpPr>
          <p:nvPr/>
        </p:nvSpPr>
        <p:spPr bwMode="auto">
          <a:xfrm>
            <a:off x="7219950" y="2643188"/>
            <a:ext cx="0" cy="901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311" name="Text Box 47"/>
          <p:cNvSpPr txBox="1">
            <a:spLocks noChangeArrowheads="1"/>
          </p:cNvSpPr>
          <p:nvPr/>
        </p:nvSpPr>
        <p:spPr bwMode="auto">
          <a:xfrm>
            <a:off x="4224338" y="3335338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X</a:t>
            </a:r>
            <a:r>
              <a:rPr kumimoji="0" lang="en-US" altLang="zh-CN" sz="1400" baseline="0">
                <a:latin typeface="ISOCPEUR" pitchFamily="34" charset="0"/>
              </a:rPr>
              <a:t>1  </a:t>
            </a:r>
            <a:r>
              <a:rPr kumimoji="0" lang="en-US" altLang="zh-CN" sz="1800" baseline="0">
                <a:latin typeface="ISOCPEUR" pitchFamily="34" charset="0"/>
              </a:rPr>
              <a:t>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P1</a:t>
            </a:r>
            <a:r>
              <a:rPr kumimoji="0" lang="en-US" altLang="zh-CN" sz="1400" baseline="0">
                <a:latin typeface="ISOCPEUR" pitchFamily="34" charset="0"/>
              </a:rPr>
              <a:t> </a:t>
            </a:r>
          </a:p>
        </p:txBody>
      </p:sp>
      <p:sp>
        <p:nvSpPr>
          <p:cNvPr id="139316" name="Line 52"/>
          <p:cNvSpPr>
            <a:spLocks noChangeShapeType="1"/>
          </p:cNvSpPr>
          <p:nvPr/>
        </p:nvSpPr>
        <p:spPr bwMode="auto">
          <a:xfrm flipV="1">
            <a:off x="4816475" y="3789363"/>
            <a:ext cx="3095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17" name="Line 53"/>
          <p:cNvSpPr>
            <a:spLocks noChangeShapeType="1"/>
          </p:cNvSpPr>
          <p:nvPr/>
        </p:nvSpPr>
        <p:spPr bwMode="auto">
          <a:xfrm flipV="1">
            <a:off x="4938713" y="2959100"/>
            <a:ext cx="1868487" cy="1227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23" name="Line 59"/>
          <p:cNvSpPr>
            <a:spLocks noChangeShapeType="1"/>
          </p:cNvSpPr>
          <p:nvPr/>
        </p:nvSpPr>
        <p:spPr bwMode="auto">
          <a:xfrm>
            <a:off x="3357563" y="5230813"/>
            <a:ext cx="2109787" cy="131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27" name="Line 63"/>
          <p:cNvSpPr>
            <a:spLocks noChangeShapeType="1"/>
          </p:cNvSpPr>
          <p:nvPr/>
        </p:nvSpPr>
        <p:spPr bwMode="auto">
          <a:xfrm flipH="1" flipV="1">
            <a:off x="3571875" y="4794250"/>
            <a:ext cx="209550" cy="1397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328" name="Text Box 64"/>
          <p:cNvSpPr txBox="1">
            <a:spLocks noChangeArrowheads="1"/>
          </p:cNvSpPr>
          <p:nvPr/>
        </p:nvSpPr>
        <p:spPr bwMode="auto">
          <a:xfrm>
            <a:off x="4064000" y="4956175"/>
            <a:ext cx="687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a</a:t>
            </a:r>
            <a:r>
              <a:rPr kumimoji="0" lang="en-US" altLang="zh-CN" sz="1400" baseline="0">
                <a:latin typeface="ISOCPEUR" pitchFamily="34" charset="0"/>
              </a:rPr>
              <a:t>1 </a:t>
            </a:r>
            <a:r>
              <a:rPr kumimoji="0" lang="en-US" altLang="zh-CN" sz="1800" baseline="0">
                <a:latin typeface="ISOCPEUR" pitchFamily="34" charset="0"/>
              </a:rPr>
              <a:t>,1</a:t>
            </a:r>
            <a:r>
              <a:rPr kumimoji="0" lang="en-US" altLang="zh-CN" sz="1400" baseline="0">
                <a:latin typeface="ISOCPEUR" pitchFamily="34" charset="0"/>
              </a:rPr>
              <a:t>1  </a:t>
            </a:r>
          </a:p>
        </p:txBody>
      </p:sp>
      <p:sp>
        <p:nvSpPr>
          <p:cNvPr id="139329" name="Text Box 65"/>
          <p:cNvSpPr txBox="1">
            <a:spLocks noChangeArrowheads="1"/>
          </p:cNvSpPr>
          <p:nvPr/>
        </p:nvSpPr>
        <p:spPr bwMode="auto">
          <a:xfrm>
            <a:off x="5422900" y="5248275"/>
            <a:ext cx="938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c</a:t>
            </a:r>
            <a:r>
              <a:rPr kumimoji="0" lang="en-US" altLang="zh-CN" sz="1400" baseline="0">
                <a:latin typeface="ISOCPEUR" pitchFamily="34" charset="0"/>
              </a:rPr>
              <a:t>1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39330" name="Text Box 66"/>
          <p:cNvSpPr txBox="1">
            <a:spLocks noChangeArrowheads="1"/>
          </p:cNvSpPr>
          <p:nvPr/>
        </p:nvSpPr>
        <p:spPr bwMode="auto">
          <a:xfrm>
            <a:off x="3341688" y="4413250"/>
            <a:ext cx="741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m</a:t>
            </a:r>
            <a:r>
              <a:rPr kumimoji="0" lang="en-US" altLang="zh-CN" sz="1400" baseline="0">
                <a:latin typeface="ISOCPEUR" pitchFamily="34" charset="0"/>
              </a:rPr>
              <a:t>1</a:t>
            </a:r>
            <a:r>
              <a:rPr kumimoji="0" lang="en-US" altLang="zh-CN" sz="1800" baseline="0">
                <a:latin typeface="ISOCPEUR" pitchFamily="34" charset="0"/>
              </a:rPr>
              <a:t> </a:t>
            </a:r>
          </a:p>
        </p:txBody>
      </p:sp>
      <p:sp>
        <p:nvSpPr>
          <p:cNvPr id="139331" name="Text Box 67"/>
          <p:cNvSpPr txBox="1">
            <a:spLocks noChangeArrowheads="1"/>
          </p:cNvSpPr>
          <p:nvPr/>
        </p:nvSpPr>
        <p:spPr bwMode="auto">
          <a:xfrm>
            <a:off x="3692525" y="6100763"/>
            <a:ext cx="1247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aseline="0">
                <a:latin typeface="ISOCPEUR" pitchFamily="34" charset="0"/>
              </a:rPr>
              <a:t>n</a:t>
            </a:r>
            <a:r>
              <a:rPr kumimoji="0" lang="en-US" altLang="zh-CN" sz="1400" baseline="0">
                <a:latin typeface="ISOCPEUR" pitchFamily="34" charset="0"/>
              </a:rPr>
              <a:t>1 </a:t>
            </a:r>
          </a:p>
        </p:txBody>
      </p:sp>
      <p:sp>
        <p:nvSpPr>
          <p:cNvPr id="139334" name="Line 70"/>
          <p:cNvSpPr>
            <a:spLocks noChangeShapeType="1"/>
          </p:cNvSpPr>
          <p:nvPr/>
        </p:nvSpPr>
        <p:spPr bwMode="auto">
          <a:xfrm flipV="1">
            <a:off x="3571875" y="3989388"/>
            <a:ext cx="1249363" cy="81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35" name="Line 71"/>
          <p:cNvSpPr>
            <a:spLocks noChangeShapeType="1"/>
          </p:cNvSpPr>
          <p:nvPr/>
        </p:nvSpPr>
        <p:spPr bwMode="auto">
          <a:xfrm flipV="1">
            <a:off x="3346450" y="4183063"/>
            <a:ext cx="1595438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36" name="Line 72"/>
          <p:cNvSpPr>
            <a:spLocks noChangeShapeType="1"/>
          </p:cNvSpPr>
          <p:nvPr/>
        </p:nvSpPr>
        <p:spPr bwMode="auto">
          <a:xfrm flipV="1">
            <a:off x="5324475" y="4498975"/>
            <a:ext cx="452438" cy="29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37" name="Line 73"/>
          <p:cNvSpPr>
            <a:spLocks noChangeShapeType="1"/>
          </p:cNvSpPr>
          <p:nvPr/>
        </p:nvSpPr>
        <p:spPr bwMode="auto">
          <a:xfrm flipV="1">
            <a:off x="4554538" y="4787900"/>
            <a:ext cx="782637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38" name="Line 74"/>
          <p:cNvSpPr>
            <a:spLocks noChangeShapeType="1"/>
          </p:cNvSpPr>
          <p:nvPr/>
        </p:nvSpPr>
        <p:spPr bwMode="auto">
          <a:xfrm flipV="1">
            <a:off x="5519738" y="4435475"/>
            <a:ext cx="933450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39" name="Line 75"/>
          <p:cNvSpPr>
            <a:spLocks noChangeShapeType="1"/>
          </p:cNvSpPr>
          <p:nvPr/>
        </p:nvSpPr>
        <p:spPr bwMode="auto">
          <a:xfrm flipV="1">
            <a:off x="3775075" y="5035550"/>
            <a:ext cx="1766888" cy="1160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40" name="Line 76"/>
          <p:cNvSpPr>
            <a:spLocks noChangeShapeType="1"/>
          </p:cNvSpPr>
          <p:nvPr/>
        </p:nvSpPr>
        <p:spPr bwMode="auto">
          <a:xfrm flipV="1">
            <a:off x="5645150" y="4021138"/>
            <a:ext cx="1868488" cy="1227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341" name="Line 77"/>
          <p:cNvSpPr>
            <a:spLocks noChangeShapeType="1"/>
          </p:cNvSpPr>
          <p:nvPr/>
        </p:nvSpPr>
        <p:spPr bwMode="auto">
          <a:xfrm flipV="1">
            <a:off x="5475288" y="5245100"/>
            <a:ext cx="177800" cy="11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79"/>
          <p:cNvGrpSpPr>
            <a:grpSpLocks/>
          </p:cNvGrpSpPr>
          <p:nvPr/>
        </p:nvGrpSpPr>
        <p:grpSpPr bwMode="auto">
          <a:xfrm>
            <a:off x="4287838" y="2324100"/>
            <a:ext cx="995362" cy="641350"/>
            <a:chOff x="2701" y="1464"/>
            <a:chExt cx="627" cy="404"/>
          </a:xfrm>
        </p:grpSpPr>
        <p:sp>
          <p:nvSpPr>
            <p:cNvPr id="27711" name="Text Box 46"/>
            <p:cNvSpPr txBox="1">
              <a:spLocks noChangeArrowheads="1"/>
            </p:cNvSpPr>
            <p:nvPr/>
          </p:nvSpPr>
          <p:spPr bwMode="auto">
            <a:xfrm>
              <a:off x="2701" y="1573"/>
              <a:ext cx="4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ISOCPEUR" pitchFamily="34" charset="0"/>
                </a:rPr>
                <a:t>X  </a:t>
              </a:r>
            </a:p>
          </p:txBody>
        </p:sp>
        <p:sp>
          <p:nvSpPr>
            <p:cNvPr id="27712" name="Text Box 78"/>
            <p:cNvSpPr txBox="1">
              <a:spLocks noChangeArrowheads="1"/>
            </p:cNvSpPr>
            <p:nvPr/>
          </p:nvSpPr>
          <p:spPr bwMode="auto">
            <a:xfrm>
              <a:off x="2882" y="1464"/>
              <a:ext cx="44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ISOCPEUR" pitchFamily="34" charset="0"/>
                </a:rPr>
                <a:t>V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ISOCPEUR" pitchFamily="34" charset="0"/>
                </a:rPr>
                <a:t>H </a:t>
              </a:r>
            </a:p>
          </p:txBody>
        </p:sp>
      </p:grpSp>
      <p:sp>
        <p:nvSpPr>
          <p:cNvPr id="139346" name="Rectangle 82"/>
          <p:cNvSpPr>
            <a:spLocks noChangeArrowheads="1"/>
          </p:cNvSpPr>
          <p:nvPr/>
        </p:nvSpPr>
        <p:spPr bwMode="auto">
          <a:xfrm>
            <a:off x="223838" y="1201827"/>
            <a:ext cx="872172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i="0" baseline="0" dirty="0">
                <a:latin typeface="黑体" pitchFamily="2" charset="-122"/>
                <a:ea typeface="黑体" pitchFamily="2" charset="-122"/>
              </a:rPr>
              <a:t>方法</a:t>
            </a:r>
            <a:r>
              <a:rPr kumimoji="0" lang="en-US" altLang="zh-CN" sz="2800" i="0" baseline="0" dirty="0" smtClean="0"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sz="2800" i="0" baseline="0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换面法</a:t>
            </a:r>
            <a:r>
              <a:rPr kumimoji="0" lang="en-US" altLang="zh-CN" sz="2400" i="0" baseline="0" dirty="0">
                <a:latin typeface="黑体" pitchFamily="2" charset="-122"/>
                <a:ea typeface="黑体" pitchFamily="2" charset="-122"/>
              </a:rPr>
              <a:t>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换几次</a:t>
            </a:r>
            <a:r>
              <a:rPr kumimoji="0" lang="en-US" altLang="zh-CN" sz="2400" i="0" baseline="0" dirty="0"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grpSp>
        <p:nvGrpSpPr>
          <p:cNvPr id="3" name="Group 85"/>
          <p:cNvGrpSpPr>
            <a:grpSpLocks/>
          </p:cNvGrpSpPr>
          <p:nvPr/>
        </p:nvGrpSpPr>
        <p:grpSpPr bwMode="auto">
          <a:xfrm>
            <a:off x="3632200" y="5241925"/>
            <a:ext cx="679450" cy="596900"/>
            <a:chOff x="2288" y="3302"/>
            <a:chExt cx="428" cy="376"/>
          </a:xfrm>
        </p:grpSpPr>
        <p:sp>
          <p:nvSpPr>
            <p:cNvPr id="27709" name="Text Box 83"/>
            <p:cNvSpPr txBox="1">
              <a:spLocks noChangeArrowheads="1"/>
            </p:cNvSpPr>
            <p:nvPr/>
          </p:nvSpPr>
          <p:spPr bwMode="auto">
            <a:xfrm>
              <a:off x="2428" y="339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aseline="0">
                  <a:latin typeface="黑体" pitchFamily="2" charset="-122"/>
                  <a:ea typeface="黑体" pitchFamily="2" charset="-122"/>
                </a:rPr>
                <a:t></a:t>
              </a:r>
              <a:r>
                <a:rPr kumimoji="0" lang="en-US" altLang="zh-CN" sz="2400" baseline="0"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sp>
          <p:nvSpPr>
            <p:cNvPr id="27710" name="Arc 84"/>
            <p:cNvSpPr>
              <a:spLocks/>
            </p:cNvSpPr>
            <p:nvPr/>
          </p:nvSpPr>
          <p:spPr bwMode="auto">
            <a:xfrm flipV="1">
              <a:off x="2288" y="3302"/>
              <a:ext cx="271" cy="268"/>
            </a:xfrm>
            <a:custGeom>
              <a:avLst/>
              <a:gdLst>
                <a:gd name="T0" fmla="*/ 0 w 21515"/>
                <a:gd name="T1" fmla="*/ 0 h 21310"/>
                <a:gd name="T2" fmla="*/ 0 w 21515"/>
                <a:gd name="T3" fmla="*/ 0 h 21310"/>
                <a:gd name="T4" fmla="*/ 0 w 21515"/>
                <a:gd name="T5" fmla="*/ 0 h 21310"/>
                <a:gd name="T6" fmla="*/ 0 60000 65536"/>
                <a:gd name="T7" fmla="*/ 0 60000 65536"/>
                <a:gd name="T8" fmla="*/ 0 60000 65536"/>
                <a:gd name="T9" fmla="*/ 0 w 21515"/>
                <a:gd name="T10" fmla="*/ 0 h 21310"/>
                <a:gd name="T11" fmla="*/ 21515 w 21515"/>
                <a:gd name="T12" fmla="*/ 21310 h 213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15" h="21310" fill="none" extrusionOk="0">
                  <a:moveTo>
                    <a:pt x="3525" y="-1"/>
                  </a:moveTo>
                  <a:cubicBezTo>
                    <a:pt x="13242" y="1606"/>
                    <a:pt x="20641" y="9583"/>
                    <a:pt x="21514" y="19394"/>
                  </a:cubicBezTo>
                </a:path>
                <a:path w="21515" h="21310" stroke="0" extrusionOk="0">
                  <a:moveTo>
                    <a:pt x="3525" y="-1"/>
                  </a:moveTo>
                  <a:cubicBezTo>
                    <a:pt x="13242" y="1606"/>
                    <a:pt x="20641" y="9583"/>
                    <a:pt x="21514" y="19394"/>
                  </a:cubicBezTo>
                  <a:lnTo>
                    <a:pt x="0" y="21310"/>
                  </a:lnTo>
                  <a:lnTo>
                    <a:pt x="3525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9351" name="Line 87"/>
          <p:cNvSpPr>
            <a:spLocks noChangeShapeType="1"/>
          </p:cNvSpPr>
          <p:nvPr/>
        </p:nvSpPr>
        <p:spPr bwMode="auto">
          <a:xfrm flipH="1">
            <a:off x="3898900" y="5467350"/>
            <a:ext cx="263525" cy="263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353" name="Line 89"/>
          <p:cNvSpPr>
            <a:spLocks noChangeShapeType="1"/>
          </p:cNvSpPr>
          <p:nvPr/>
        </p:nvSpPr>
        <p:spPr bwMode="auto">
          <a:xfrm>
            <a:off x="3900488" y="5468938"/>
            <a:ext cx="263525" cy="263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354" name="Rectangle 90"/>
          <p:cNvSpPr>
            <a:spLocks noChangeArrowheads="1"/>
          </p:cNvSpPr>
          <p:nvPr/>
        </p:nvSpPr>
        <p:spPr bwMode="auto">
          <a:xfrm>
            <a:off x="223838" y="2443163"/>
            <a:ext cx="8721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如何换</a:t>
            </a:r>
            <a:r>
              <a:rPr kumimoji="0" lang="en-US" altLang="zh-CN" sz="2400" i="0" baseline="0"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139355" name="Rectangle 91"/>
          <p:cNvSpPr>
            <a:spLocks noChangeArrowheads="1"/>
          </p:cNvSpPr>
          <p:nvPr/>
        </p:nvSpPr>
        <p:spPr bwMode="auto">
          <a:xfrm>
            <a:off x="6650038" y="4279900"/>
            <a:ext cx="249396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0" baseline="0" dirty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新投影面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应垂直于平面、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且平行于直线！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此时线面夹角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>
                <a:latin typeface="黑体" pitchFamily="2" charset="-122"/>
                <a:ea typeface="黑体" pitchFamily="2" charset="-122"/>
              </a:rPr>
              <a:t>反映实际大小。</a:t>
            </a:r>
          </a:p>
        </p:txBody>
      </p:sp>
      <p:sp>
        <p:nvSpPr>
          <p:cNvPr id="65" name="Rectangle 91"/>
          <p:cNvSpPr>
            <a:spLocks noChangeArrowheads="1"/>
          </p:cNvSpPr>
          <p:nvPr/>
        </p:nvSpPr>
        <p:spPr bwMode="auto">
          <a:xfrm>
            <a:off x="223838" y="5238105"/>
            <a:ext cx="2271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课后思考题</a:t>
            </a:r>
            <a:endParaRPr kumimoji="0" lang="zh-CN" altLang="en-US" sz="2400" i="0" baseline="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3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3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3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3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3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3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3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0" grpId="0" animBg="1"/>
      <p:bldP spid="139291" grpId="0" animBg="1"/>
      <p:bldP spid="139292" grpId="0" animBg="1"/>
      <p:bldP spid="139293" grpId="0" autoUpdateAnimBg="0"/>
      <p:bldP spid="139294" grpId="0" autoUpdateAnimBg="0"/>
      <p:bldP spid="139295" grpId="0" animBg="1"/>
      <p:bldP spid="139301" grpId="0"/>
      <p:bldP spid="139302" grpId="0"/>
      <p:bldP spid="139304" grpId="0"/>
      <p:bldP spid="139307" grpId="0" animBg="1"/>
      <p:bldP spid="139311" grpId="0"/>
      <p:bldP spid="139316" grpId="0" animBg="1"/>
      <p:bldP spid="139317" grpId="0" animBg="1"/>
      <p:bldP spid="139323" grpId="0" animBg="1"/>
      <p:bldP spid="139327" grpId="0" animBg="1"/>
      <p:bldP spid="139328" grpId="0"/>
      <p:bldP spid="139329" grpId="0"/>
      <p:bldP spid="139330" grpId="0"/>
      <p:bldP spid="139331" grpId="0"/>
      <p:bldP spid="139334" grpId="0" animBg="1"/>
      <p:bldP spid="139335" grpId="0" animBg="1"/>
      <p:bldP spid="139336" grpId="0" animBg="1"/>
      <p:bldP spid="139337" grpId="0" animBg="1"/>
      <p:bldP spid="139338" grpId="0" animBg="1"/>
      <p:bldP spid="139339" grpId="0" animBg="1"/>
      <p:bldP spid="139340" grpId="0" animBg="1"/>
      <p:bldP spid="139341" grpId="0" animBg="1"/>
      <p:bldP spid="139351" grpId="0" animBg="1"/>
      <p:bldP spid="139353" grpId="0" animBg="1"/>
      <p:bldP spid="139354" grpId="0"/>
      <p:bldP spid="139355" grpId="0" build="p"/>
      <p:bldP spid="6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FF1C7-B8A2-4BDA-B9D4-D338BA17AF84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70861" name="Line 205"/>
          <p:cNvSpPr>
            <a:spLocks noChangeShapeType="1"/>
          </p:cNvSpPr>
          <p:nvPr/>
        </p:nvSpPr>
        <p:spPr bwMode="auto">
          <a:xfrm>
            <a:off x="4525963" y="3654425"/>
            <a:ext cx="436562" cy="696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62" name="Line 206"/>
          <p:cNvSpPr>
            <a:spLocks noChangeShapeType="1"/>
          </p:cNvSpPr>
          <p:nvPr/>
        </p:nvSpPr>
        <p:spPr bwMode="auto">
          <a:xfrm>
            <a:off x="4443413" y="3706813"/>
            <a:ext cx="512762" cy="81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91"/>
          <p:cNvGrpSpPr>
            <a:grpSpLocks/>
          </p:cNvGrpSpPr>
          <p:nvPr/>
        </p:nvGrpSpPr>
        <p:grpSpPr bwMode="auto">
          <a:xfrm>
            <a:off x="6829425" y="4341813"/>
            <a:ext cx="260350" cy="457200"/>
            <a:chOff x="4862" y="2864"/>
            <a:chExt cx="164" cy="288"/>
          </a:xfrm>
        </p:grpSpPr>
        <p:sp>
          <p:nvSpPr>
            <p:cNvPr id="28755" name="Arc 189"/>
            <p:cNvSpPr>
              <a:spLocks/>
            </p:cNvSpPr>
            <p:nvPr/>
          </p:nvSpPr>
          <p:spPr bwMode="auto">
            <a:xfrm>
              <a:off x="4883" y="3050"/>
              <a:ext cx="92" cy="64"/>
            </a:xfrm>
            <a:custGeom>
              <a:avLst/>
              <a:gdLst>
                <a:gd name="T0" fmla="*/ 0 w 29181"/>
                <a:gd name="T1" fmla="*/ 0 h 21600"/>
                <a:gd name="T2" fmla="*/ 0 w 29181"/>
                <a:gd name="T3" fmla="*/ 0 h 21600"/>
                <a:gd name="T4" fmla="*/ 0 w 291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9181"/>
                <a:gd name="T10" fmla="*/ 0 h 21600"/>
                <a:gd name="T11" fmla="*/ 29181 w 291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181" h="21600" fill="none" extrusionOk="0">
                  <a:moveTo>
                    <a:pt x="29181" y="20210"/>
                  </a:moveTo>
                  <a:cubicBezTo>
                    <a:pt x="26744" y="21129"/>
                    <a:pt x="24162" y="21599"/>
                    <a:pt x="21559" y="21600"/>
                  </a:cubicBezTo>
                  <a:cubicBezTo>
                    <a:pt x="10145" y="21600"/>
                    <a:pt x="701" y="12720"/>
                    <a:pt x="-1" y="1328"/>
                  </a:cubicBezTo>
                </a:path>
                <a:path w="29181" h="21600" stroke="0" extrusionOk="0">
                  <a:moveTo>
                    <a:pt x="29181" y="20210"/>
                  </a:moveTo>
                  <a:cubicBezTo>
                    <a:pt x="26744" y="21129"/>
                    <a:pt x="24162" y="21599"/>
                    <a:pt x="21559" y="21600"/>
                  </a:cubicBezTo>
                  <a:cubicBezTo>
                    <a:pt x="10145" y="21600"/>
                    <a:pt x="701" y="12720"/>
                    <a:pt x="-1" y="1328"/>
                  </a:cubicBezTo>
                  <a:lnTo>
                    <a:pt x="21559" y="0"/>
                  </a:lnTo>
                  <a:lnTo>
                    <a:pt x="29181" y="20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56" name="Text Box 190"/>
            <p:cNvSpPr txBox="1">
              <a:spLocks noChangeArrowheads="1"/>
            </p:cNvSpPr>
            <p:nvPr/>
          </p:nvSpPr>
          <p:spPr bwMode="auto">
            <a:xfrm>
              <a:off x="4862" y="2864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0" baseline="0"/>
                <a:t>.</a:t>
              </a:r>
            </a:p>
          </p:txBody>
        </p:sp>
      </p:grpSp>
      <p:sp>
        <p:nvSpPr>
          <p:cNvPr id="70827" name="Line 171"/>
          <p:cNvSpPr>
            <a:spLocks noChangeShapeType="1"/>
          </p:cNvSpPr>
          <p:nvPr/>
        </p:nvSpPr>
        <p:spPr bwMode="auto">
          <a:xfrm flipH="1" flipV="1">
            <a:off x="6242050" y="4498975"/>
            <a:ext cx="742950" cy="85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9" name="Text Box 56"/>
          <p:cNvSpPr txBox="1">
            <a:spLocks noChangeArrowheads="1"/>
          </p:cNvSpPr>
          <p:nvPr/>
        </p:nvSpPr>
        <p:spPr bwMode="auto">
          <a:xfrm>
            <a:off x="41275" y="125413"/>
            <a:ext cx="41846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例：求两异面直线的距离。</a:t>
            </a:r>
          </a:p>
        </p:txBody>
      </p:sp>
      <p:sp>
        <p:nvSpPr>
          <p:cNvPr id="28680" name="Text Box 61"/>
          <p:cNvSpPr txBox="1">
            <a:spLocks noChangeArrowheads="1"/>
          </p:cNvSpPr>
          <p:nvPr/>
        </p:nvSpPr>
        <p:spPr bwMode="auto">
          <a:xfrm>
            <a:off x="2986088" y="7239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28681" name="Text Box 62"/>
          <p:cNvSpPr txBox="1">
            <a:spLocks noChangeArrowheads="1"/>
          </p:cNvSpPr>
          <p:nvPr/>
        </p:nvSpPr>
        <p:spPr bwMode="auto">
          <a:xfrm>
            <a:off x="3286125" y="1517650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28682" name="Text Box 63"/>
          <p:cNvSpPr txBox="1">
            <a:spLocks noChangeArrowheads="1"/>
          </p:cNvSpPr>
          <p:nvPr/>
        </p:nvSpPr>
        <p:spPr bwMode="auto">
          <a:xfrm>
            <a:off x="4170363" y="1450975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b'</a:t>
            </a:r>
            <a:endParaRPr lang="en-US" altLang="zh-CN" sz="2400" i="0" baseline="0">
              <a:latin typeface="ISOCPEUR" pitchFamily="34" charset="0"/>
            </a:endParaRPr>
          </a:p>
        </p:txBody>
      </p:sp>
      <p:sp>
        <p:nvSpPr>
          <p:cNvPr id="28683" name="Text Box 64"/>
          <p:cNvSpPr txBox="1">
            <a:spLocks noChangeArrowheads="1"/>
          </p:cNvSpPr>
          <p:nvPr/>
        </p:nvSpPr>
        <p:spPr bwMode="auto">
          <a:xfrm>
            <a:off x="2917825" y="30305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28684" name="Text Box 65"/>
          <p:cNvSpPr txBox="1">
            <a:spLocks noChangeArrowheads="1"/>
          </p:cNvSpPr>
          <p:nvPr/>
        </p:nvSpPr>
        <p:spPr bwMode="auto">
          <a:xfrm>
            <a:off x="4319588" y="26908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28685" name="Text Box 66"/>
          <p:cNvSpPr txBox="1">
            <a:spLocks noChangeArrowheads="1"/>
          </p:cNvSpPr>
          <p:nvPr/>
        </p:nvSpPr>
        <p:spPr bwMode="auto">
          <a:xfrm>
            <a:off x="3448050" y="340836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28686" name="Text Box 83"/>
          <p:cNvSpPr txBox="1">
            <a:spLocks noChangeArrowheads="1"/>
          </p:cNvSpPr>
          <p:nvPr/>
        </p:nvSpPr>
        <p:spPr bwMode="auto">
          <a:xfrm>
            <a:off x="4916488" y="27892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d</a:t>
            </a:r>
            <a:endParaRPr kumimoji="0" lang="en-US" altLang="zh-CN" sz="2400" i="0" baseline="0">
              <a:latin typeface="ISOCPEUR" pitchFamily="34" charset="0"/>
            </a:endParaRPr>
          </a:p>
        </p:txBody>
      </p:sp>
      <p:sp>
        <p:nvSpPr>
          <p:cNvPr id="28687" name="Text Box 95"/>
          <p:cNvSpPr txBox="1">
            <a:spLocks noChangeArrowheads="1"/>
          </p:cNvSpPr>
          <p:nvPr/>
        </p:nvSpPr>
        <p:spPr bwMode="auto">
          <a:xfrm>
            <a:off x="4778375" y="539750"/>
            <a:ext cx="650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d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28688" name="Line 124"/>
          <p:cNvSpPr>
            <a:spLocks noChangeShapeType="1"/>
          </p:cNvSpPr>
          <p:nvPr/>
        </p:nvSpPr>
        <p:spPr bwMode="auto">
          <a:xfrm>
            <a:off x="2374900" y="2274888"/>
            <a:ext cx="3236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89" name="Line 125"/>
          <p:cNvSpPr>
            <a:spLocks noChangeShapeType="1"/>
          </p:cNvSpPr>
          <p:nvPr/>
        </p:nvSpPr>
        <p:spPr bwMode="auto">
          <a:xfrm>
            <a:off x="3286125" y="1041400"/>
            <a:ext cx="1058863" cy="476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0" name="Line 126"/>
          <p:cNvSpPr>
            <a:spLocks noChangeShapeType="1"/>
          </p:cNvSpPr>
          <p:nvPr/>
        </p:nvSpPr>
        <p:spPr bwMode="auto">
          <a:xfrm>
            <a:off x="3286125" y="1041400"/>
            <a:ext cx="0" cy="2249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1" name="Line 127"/>
          <p:cNvSpPr>
            <a:spLocks noChangeShapeType="1"/>
          </p:cNvSpPr>
          <p:nvPr/>
        </p:nvSpPr>
        <p:spPr bwMode="auto">
          <a:xfrm>
            <a:off x="4344988" y="1517650"/>
            <a:ext cx="0" cy="144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2" name="Line 128"/>
          <p:cNvSpPr>
            <a:spLocks noChangeShapeType="1"/>
          </p:cNvSpPr>
          <p:nvPr/>
        </p:nvSpPr>
        <p:spPr bwMode="auto">
          <a:xfrm flipV="1">
            <a:off x="3286125" y="2963863"/>
            <a:ext cx="1058863" cy="327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3" name="Line 129"/>
          <p:cNvSpPr>
            <a:spLocks noChangeShapeType="1"/>
          </p:cNvSpPr>
          <p:nvPr/>
        </p:nvSpPr>
        <p:spPr bwMode="auto">
          <a:xfrm flipV="1">
            <a:off x="3748088" y="723900"/>
            <a:ext cx="1154112" cy="1039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94" name="Line 130"/>
          <p:cNvSpPr>
            <a:spLocks noChangeShapeType="1"/>
          </p:cNvSpPr>
          <p:nvPr/>
        </p:nvSpPr>
        <p:spPr bwMode="auto">
          <a:xfrm>
            <a:off x="3748088" y="1763713"/>
            <a:ext cx="0" cy="192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95" name="Line 131"/>
          <p:cNvSpPr>
            <a:spLocks noChangeShapeType="1"/>
          </p:cNvSpPr>
          <p:nvPr/>
        </p:nvSpPr>
        <p:spPr bwMode="auto">
          <a:xfrm>
            <a:off x="4902200" y="723900"/>
            <a:ext cx="0" cy="2239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6" name="Line 132"/>
          <p:cNvSpPr>
            <a:spLocks noChangeShapeType="1"/>
          </p:cNvSpPr>
          <p:nvPr/>
        </p:nvSpPr>
        <p:spPr bwMode="auto">
          <a:xfrm flipV="1">
            <a:off x="3748088" y="2963863"/>
            <a:ext cx="1154112" cy="723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97" name="Text Box 133"/>
          <p:cNvSpPr txBox="1">
            <a:spLocks noChangeArrowheads="1"/>
          </p:cNvSpPr>
          <p:nvPr/>
        </p:nvSpPr>
        <p:spPr bwMode="auto">
          <a:xfrm>
            <a:off x="5516563" y="2076450"/>
            <a:ext cx="420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O 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70790" name="Text Box 134"/>
          <p:cNvSpPr txBox="1">
            <a:spLocks noChangeArrowheads="1"/>
          </p:cNvSpPr>
          <p:nvPr/>
        </p:nvSpPr>
        <p:spPr bwMode="auto">
          <a:xfrm>
            <a:off x="2390775" y="1914525"/>
            <a:ext cx="336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V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H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70791" name="Line 135"/>
          <p:cNvSpPr>
            <a:spLocks noChangeShapeType="1"/>
          </p:cNvSpPr>
          <p:nvPr/>
        </p:nvSpPr>
        <p:spPr bwMode="auto">
          <a:xfrm flipH="1">
            <a:off x="3100388" y="2919413"/>
            <a:ext cx="2625725" cy="163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792" name="Text Box 136"/>
          <p:cNvSpPr txBox="1">
            <a:spLocks noChangeArrowheads="1"/>
          </p:cNvSpPr>
          <p:nvPr/>
        </p:nvSpPr>
        <p:spPr bwMode="auto">
          <a:xfrm>
            <a:off x="2705100" y="4119563"/>
            <a:ext cx="8112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X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  <a:r>
              <a:rPr kumimoji="0" lang="en-US" altLang="zh-CN" sz="2000" baseline="0">
                <a:latin typeface="ISOCPEUR" pitchFamily="34" charset="0"/>
              </a:rPr>
              <a:t>  P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</a:p>
        </p:txBody>
      </p:sp>
      <p:sp>
        <p:nvSpPr>
          <p:cNvPr id="70793" name="Line 137"/>
          <p:cNvSpPr>
            <a:spLocks noChangeShapeType="1"/>
          </p:cNvSpPr>
          <p:nvPr/>
        </p:nvSpPr>
        <p:spPr bwMode="auto">
          <a:xfrm>
            <a:off x="3286125" y="3289300"/>
            <a:ext cx="1160463" cy="185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795" name="Line 139"/>
          <p:cNvSpPr>
            <a:spLocks noChangeShapeType="1"/>
          </p:cNvSpPr>
          <p:nvPr/>
        </p:nvSpPr>
        <p:spPr bwMode="auto">
          <a:xfrm>
            <a:off x="3665538" y="1995488"/>
            <a:ext cx="141287" cy="87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796" name="Line 140"/>
          <p:cNvSpPr>
            <a:spLocks noChangeShapeType="1"/>
          </p:cNvSpPr>
          <p:nvPr/>
        </p:nvSpPr>
        <p:spPr bwMode="auto">
          <a:xfrm flipV="1">
            <a:off x="3997325" y="4186238"/>
            <a:ext cx="141288" cy="17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797" name="Line 141"/>
          <p:cNvSpPr>
            <a:spLocks noChangeShapeType="1"/>
          </p:cNvSpPr>
          <p:nvPr/>
        </p:nvSpPr>
        <p:spPr bwMode="auto">
          <a:xfrm>
            <a:off x="4338638" y="2965450"/>
            <a:ext cx="763587" cy="1214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798" name="Line 142"/>
          <p:cNvSpPr>
            <a:spLocks noChangeShapeType="1"/>
          </p:cNvSpPr>
          <p:nvPr/>
        </p:nvSpPr>
        <p:spPr bwMode="auto">
          <a:xfrm>
            <a:off x="4841875" y="1533525"/>
            <a:ext cx="123825" cy="53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799" name="Line 143"/>
          <p:cNvSpPr>
            <a:spLocks noChangeShapeType="1"/>
          </p:cNvSpPr>
          <p:nvPr/>
        </p:nvSpPr>
        <p:spPr bwMode="auto">
          <a:xfrm>
            <a:off x="4772025" y="1581150"/>
            <a:ext cx="246063" cy="123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02" name="Line 146"/>
          <p:cNvSpPr>
            <a:spLocks noChangeShapeType="1"/>
          </p:cNvSpPr>
          <p:nvPr/>
        </p:nvSpPr>
        <p:spPr bwMode="auto">
          <a:xfrm rot="-2314237">
            <a:off x="5349875" y="3729038"/>
            <a:ext cx="123825" cy="53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03" name="Line 147"/>
          <p:cNvSpPr>
            <a:spLocks noChangeShapeType="1"/>
          </p:cNvSpPr>
          <p:nvPr/>
        </p:nvSpPr>
        <p:spPr bwMode="auto">
          <a:xfrm rot="-2298178">
            <a:off x="5314950" y="3765550"/>
            <a:ext cx="246063" cy="123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05" name="Line 149"/>
          <p:cNvSpPr>
            <a:spLocks noChangeShapeType="1"/>
          </p:cNvSpPr>
          <p:nvPr/>
        </p:nvSpPr>
        <p:spPr bwMode="auto">
          <a:xfrm flipV="1">
            <a:off x="4446588" y="4167188"/>
            <a:ext cx="644525" cy="974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06" name="Line 150"/>
          <p:cNvSpPr>
            <a:spLocks noChangeShapeType="1"/>
          </p:cNvSpPr>
          <p:nvPr/>
        </p:nvSpPr>
        <p:spPr bwMode="auto">
          <a:xfrm>
            <a:off x="3744913" y="3678238"/>
            <a:ext cx="476250" cy="757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07" name="Line 151"/>
          <p:cNvSpPr>
            <a:spLocks noChangeShapeType="1"/>
          </p:cNvSpPr>
          <p:nvPr/>
        </p:nvSpPr>
        <p:spPr bwMode="auto">
          <a:xfrm>
            <a:off x="4908550" y="2971800"/>
            <a:ext cx="1023938" cy="163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08" name="Line 152"/>
          <p:cNvSpPr>
            <a:spLocks noChangeShapeType="1"/>
          </p:cNvSpPr>
          <p:nvPr/>
        </p:nvSpPr>
        <p:spPr bwMode="auto">
          <a:xfrm>
            <a:off x="4221163" y="4425950"/>
            <a:ext cx="1704975" cy="185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09" name="Text Box 153"/>
          <p:cNvSpPr txBox="1">
            <a:spLocks noChangeArrowheads="1"/>
          </p:cNvSpPr>
          <p:nvPr/>
        </p:nvSpPr>
        <p:spPr bwMode="auto">
          <a:xfrm>
            <a:off x="4033838" y="5032375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1600" baseline="0"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70810" name="Text Box 154"/>
          <p:cNvSpPr txBox="1">
            <a:spLocks noChangeArrowheads="1"/>
          </p:cNvSpPr>
          <p:nvPr/>
        </p:nvSpPr>
        <p:spPr bwMode="auto">
          <a:xfrm>
            <a:off x="5029200" y="3830638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1600" baseline="0"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70811" name="Text Box 155"/>
          <p:cNvSpPr txBox="1">
            <a:spLocks noChangeArrowheads="1"/>
          </p:cNvSpPr>
          <p:nvPr/>
        </p:nvSpPr>
        <p:spPr bwMode="auto">
          <a:xfrm>
            <a:off x="4049713" y="437515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  <a:r>
              <a:rPr lang="en-US" altLang="zh-CN" sz="1600" baseline="0"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70812" name="Text Box 156"/>
          <p:cNvSpPr txBox="1">
            <a:spLocks noChangeArrowheads="1"/>
          </p:cNvSpPr>
          <p:nvPr/>
        </p:nvSpPr>
        <p:spPr bwMode="auto">
          <a:xfrm>
            <a:off x="5678488" y="4578350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d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</a:p>
        </p:txBody>
      </p:sp>
      <p:sp>
        <p:nvSpPr>
          <p:cNvPr id="70813" name="Line 157"/>
          <p:cNvSpPr>
            <a:spLocks noChangeShapeType="1"/>
          </p:cNvSpPr>
          <p:nvPr/>
        </p:nvSpPr>
        <p:spPr bwMode="auto">
          <a:xfrm>
            <a:off x="5943600" y="4608513"/>
            <a:ext cx="663575" cy="7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14" name="Line 158"/>
          <p:cNvSpPr>
            <a:spLocks noChangeShapeType="1"/>
          </p:cNvSpPr>
          <p:nvPr/>
        </p:nvSpPr>
        <p:spPr bwMode="auto">
          <a:xfrm flipH="1">
            <a:off x="6069013" y="3457575"/>
            <a:ext cx="282575" cy="2538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15" name="Text Box 159"/>
          <p:cNvSpPr txBox="1">
            <a:spLocks noChangeArrowheads="1"/>
          </p:cNvSpPr>
          <p:nvPr/>
        </p:nvSpPr>
        <p:spPr bwMode="auto">
          <a:xfrm>
            <a:off x="5656263" y="5645150"/>
            <a:ext cx="9223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P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  <a:r>
              <a:rPr kumimoji="0" lang="en-US" altLang="zh-CN" sz="2000" baseline="0">
                <a:latin typeface="ISOCPEUR" pitchFamily="34" charset="0"/>
              </a:rPr>
              <a:t>  P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r>
              <a:rPr kumimoji="0" lang="en-US" altLang="zh-CN" sz="2000" baseline="0">
                <a:latin typeface="ISOCPEUR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X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</a:p>
        </p:txBody>
      </p:sp>
      <p:sp>
        <p:nvSpPr>
          <p:cNvPr id="70816" name="Line 160"/>
          <p:cNvSpPr>
            <a:spLocks noChangeShapeType="1"/>
          </p:cNvSpPr>
          <p:nvPr/>
        </p:nvSpPr>
        <p:spPr bwMode="auto">
          <a:xfrm>
            <a:off x="4451350" y="5137150"/>
            <a:ext cx="2716213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17" name="Line 161"/>
          <p:cNvSpPr>
            <a:spLocks noChangeShapeType="1"/>
          </p:cNvSpPr>
          <p:nvPr/>
        </p:nvSpPr>
        <p:spPr bwMode="auto">
          <a:xfrm>
            <a:off x="5086350" y="4165600"/>
            <a:ext cx="185420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18" name="Text Box 162"/>
          <p:cNvSpPr txBox="1">
            <a:spLocks noChangeArrowheads="1"/>
          </p:cNvSpPr>
          <p:nvPr/>
        </p:nvSpPr>
        <p:spPr bwMode="auto">
          <a:xfrm>
            <a:off x="6197600" y="4621213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c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,</a:t>
            </a:r>
            <a:r>
              <a:rPr kumimoji="0" lang="en-US" altLang="zh-CN" sz="2000" baseline="0">
                <a:latin typeface="ISOCPEUR" pitchFamily="34" charset="0"/>
              </a:rPr>
              <a:t>d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endParaRPr kumimoji="0" lang="en-US" altLang="zh-CN" sz="2000" baseline="0">
              <a:latin typeface="ISOCPEUR" pitchFamily="34" charset="0"/>
            </a:endParaRPr>
          </a:p>
        </p:txBody>
      </p:sp>
      <p:sp>
        <p:nvSpPr>
          <p:cNvPr id="70820" name="Line 164"/>
          <p:cNvSpPr>
            <a:spLocks noChangeShapeType="1"/>
          </p:cNvSpPr>
          <p:nvPr/>
        </p:nvSpPr>
        <p:spPr bwMode="auto">
          <a:xfrm>
            <a:off x="6945313" y="4360863"/>
            <a:ext cx="230187" cy="1071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21" name="Text Box 165"/>
          <p:cNvSpPr txBox="1">
            <a:spLocks noChangeArrowheads="1"/>
          </p:cNvSpPr>
          <p:nvPr/>
        </p:nvSpPr>
        <p:spPr bwMode="auto">
          <a:xfrm>
            <a:off x="7045325" y="5233988"/>
            <a:ext cx="571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1600" baseline="0">
                <a:latin typeface="ISOCPEUR" pitchFamily="34" charset="0"/>
                <a:ea typeface="仿宋_GB2312" pitchFamily="49" charset="-122"/>
              </a:rPr>
              <a:t>2</a:t>
            </a:r>
            <a:endParaRPr lang="en-US" altLang="zh-CN" sz="2000" baseline="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70822" name="Text Box 166"/>
          <p:cNvSpPr txBox="1">
            <a:spLocks noChangeArrowheads="1"/>
          </p:cNvSpPr>
          <p:nvPr/>
        </p:nvSpPr>
        <p:spPr bwMode="auto">
          <a:xfrm>
            <a:off x="6877050" y="4068763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0"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1600" baseline="0">
                <a:latin typeface="ISOCPEUR" pitchFamily="34" charset="0"/>
                <a:ea typeface="仿宋_GB2312" pitchFamily="49" charset="-122"/>
              </a:rPr>
              <a:t>2</a:t>
            </a:r>
            <a:endParaRPr lang="en-US" altLang="zh-CN" sz="2000" baseline="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70823" name="Line 167"/>
          <p:cNvSpPr>
            <a:spLocks noChangeShapeType="1"/>
          </p:cNvSpPr>
          <p:nvPr/>
        </p:nvSpPr>
        <p:spPr bwMode="auto">
          <a:xfrm flipV="1">
            <a:off x="6607175" y="4600575"/>
            <a:ext cx="387350" cy="88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24" name="Text Box 168"/>
          <p:cNvSpPr txBox="1">
            <a:spLocks noChangeArrowheads="1"/>
          </p:cNvSpPr>
          <p:nvPr/>
        </p:nvSpPr>
        <p:spPr bwMode="auto">
          <a:xfrm>
            <a:off x="6303963" y="4849813"/>
            <a:ext cx="347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l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endParaRPr kumimoji="0" lang="en-US" altLang="zh-CN" sz="2400" i="0" baseline="0">
              <a:latin typeface="ISOCPEUR" pitchFamily="34" charset="0"/>
            </a:endParaRPr>
          </a:p>
        </p:txBody>
      </p:sp>
      <p:sp>
        <p:nvSpPr>
          <p:cNvPr id="70819" name="AutoShape 163"/>
          <p:cNvSpPr>
            <a:spLocks noChangeArrowheads="1"/>
          </p:cNvSpPr>
          <p:nvPr/>
        </p:nvSpPr>
        <p:spPr bwMode="auto">
          <a:xfrm>
            <a:off x="6570663" y="4646613"/>
            <a:ext cx="74612" cy="74612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26" name="Text Box 170"/>
          <p:cNvSpPr txBox="1">
            <a:spLocks noChangeArrowheads="1"/>
          </p:cNvSpPr>
          <p:nvPr/>
        </p:nvSpPr>
        <p:spPr bwMode="auto">
          <a:xfrm>
            <a:off x="6904038" y="4459288"/>
            <a:ext cx="49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k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endParaRPr kumimoji="0" lang="en-US" altLang="zh-CN" sz="2400" i="0" baseline="0">
              <a:latin typeface="ISOCPEUR" pitchFamily="34" charset="0"/>
            </a:endParaRPr>
          </a:p>
        </p:txBody>
      </p:sp>
      <p:sp>
        <p:nvSpPr>
          <p:cNvPr id="70828" name="Line 172"/>
          <p:cNvSpPr>
            <a:spLocks noChangeShapeType="1"/>
          </p:cNvSpPr>
          <p:nvPr/>
        </p:nvSpPr>
        <p:spPr bwMode="auto">
          <a:xfrm flipH="1" flipV="1">
            <a:off x="4949825" y="4356100"/>
            <a:ext cx="13144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29" name="Text Box 173"/>
          <p:cNvSpPr txBox="1">
            <a:spLocks noChangeArrowheads="1"/>
          </p:cNvSpPr>
          <p:nvPr/>
        </p:nvSpPr>
        <p:spPr bwMode="auto">
          <a:xfrm>
            <a:off x="4657725" y="4059238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k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</a:p>
        </p:txBody>
      </p:sp>
      <p:sp>
        <p:nvSpPr>
          <p:cNvPr id="70830" name="Text Box 174"/>
          <p:cNvSpPr txBox="1">
            <a:spLocks noChangeArrowheads="1"/>
          </p:cNvSpPr>
          <p:nvPr/>
        </p:nvSpPr>
        <p:spPr bwMode="auto">
          <a:xfrm>
            <a:off x="4783138" y="4497388"/>
            <a:ext cx="32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l</a:t>
            </a:r>
            <a:r>
              <a:rPr kumimoji="0" lang="en-US" altLang="zh-CN" sz="1600" baseline="0">
                <a:latin typeface="ISOCPEUR" pitchFamily="34" charset="0"/>
              </a:rPr>
              <a:t>1</a:t>
            </a:r>
          </a:p>
        </p:txBody>
      </p:sp>
      <p:sp>
        <p:nvSpPr>
          <p:cNvPr id="70832" name="Line 176"/>
          <p:cNvSpPr>
            <a:spLocks noChangeShapeType="1"/>
          </p:cNvSpPr>
          <p:nvPr/>
        </p:nvSpPr>
        <p:spPr bwMode="auto">
          <a:xfrm flipV="1">
            <a:off x="4946650" y="4362450"/>
            <a:ext cx="23813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25" name="AutoShape 169"/>
          <p:cNvSpPr>
            <a:spLocks noChangeArrowheads="1"/>
          </p:cNvSpPr>
          <p:nvPr/>
        </p:nvSpPr>
        <p:spPr bwMode="auto">
          <a:xfrm>
            <a:off x="6959600" y="4562475"/>
            <a:ext cx="74613" cy="74613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36" name="AutoShape 180"/>
          <p:cNvSpPr>
            <a:spLocks noChangeArrowheads="1"/>
          </p:cNvSpPr>
          <p:nvPr/>
        </p:nvSpPr>
        <p:spPr bwMode="auto">
          <a:xfrm>
            <a:off x="3829050" y="3810000"/>
            <a:ext cx="104775" cy="142875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33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37" name="AutoShape 181"/>
          <p:cNvSpPr>
            <a:spLocks noChangeArrowheads="1"/>
          </p:cNvSpPr>
          <p:nvPr/>
        </p:nvSpPr>
        <p:spPr bwMode="auto">
          <a:xfrm>
            <a:off x="4972050" y="3076575"/>
            <a:ext cx="104775" cy="142875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33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38" name="AutoShape 182"/>
          <p:cNvSpPr>
            <a:spLocks noChangeArrowheads="1"/>
          </p:cNvSpPr>
          <p:nvPr/>
        </p:nvSpPr>
        <p:spPr bwMode="auto">
          <a:xfrm>
            <a:off x="6362700" y="4600575"/>
            <a:ext cx="104775" cy="142875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FF33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39" name="Freeform 183"/>
          <p:cNvSpPr>
            <a:spLocks/>
          </p:cNvSpPr>
          <p:nvPr/>
        </p:nvSpPr>
        <p:spPr bwMode="auto">
          <a:xfrm>
            <a:off x="3392488" y="3457575"/>
            <a:ext cx="111125" cy="190500"/>
          </a:xfrm>
          <a:custGeom>
            <a:avLst/>
            <a:gdLst>
              <a:gd name="T0" fmla="*/ 88206263 w 70"/>
              <a:gd name="T1" fmla="*/ 0 h 120"/>
              <a:gd name="T2" fmla="*/ 12601575 w 70"/>
              <a:gd name="T3" fmla="*/ 181451250 h 120"/>
              <a:gd name="T4" fmla="*/ 163810950 w 70"/>
              <a:gd name="T5" fmla="*/ 136088438 h 120"/>
              <a:gd name="T6" fmla="*/ 88206263 w 70"/>
              <a:gd name="T7" fmla="*/ 302418750 h 120"/>
              <a:gd name="T8" fmla="*/ 0 60000 65536"/>
              <a:gd name="T9" fmla="*/ 0 60000 65536"/>
              <a:gd name="T10" fmla="*/ 0 60000 65536"/>
              <a:gd name="T11" fmla="*/ 0 60000 65536"/>
              <a:gd name="T12" fmla="*/ 0 w 70"/>
              <a:gd name="T13" fmla="*/ 0 h 120"/>
              <a:gd name="T14" fmla="*/ 70 w 70"/>
              <a:gd name="T15" fmla="*/ 120 h 1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" h="120">
                <a:moveTo>
                  <a:pt x="35" y="0"/>
                </a:moveTo>
                <a:cubicBezTo>
                  <a:pt x="17" y="31"/>
                  <a:pt x="0" y="63"/>
                  <a:pt x="5" y="72"/>
                </a:cubicBezTo>
                <a:cubicBezTo>
                  <a:pt x="10" y="81"/>
                  <a:pt x="60" y="46"/>
                  <a:pt x="65" y="54"/>
                </a:cubicBezTo>
                <a:cubicBezTo>
                  <a:pt x="70" y="62"/>
                  <a:pt x="40" y="110"/>
                  <a:pt x="35" y="120"/>
                </a:cubicBezTo>
              </a:path>
            </a:pathLst>
          </a:custGeom>
          <a:noFill/>
          <a:ln w="19050" cap="flat" cmpd="sng">
            <a:solidFill>
              <a:srgbClr val="FF33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40" name="Freeform 184"/>
          <p:cNvSpPr>
            <a:spLocks/>
          </p:cNvSpPr>
          <p:nvPr/>
        </p:nvSpPr>
        <p:spPr bwMode="auto">
          <a:xfrm>
            <a:off x="6564313" y="5267325"/>
            <a:ext cx="111125" cy="190500"/>
          </a:xfrm>
          <a:custGeom>
            <a:avLst/>
            <a:gdLst>
              <a:gd name="T0" fmla="*/ 88206263 w 70"/>
              <a:gd name="T1" fmla="*/ 0 h 120"/>
              <a:gd name="T2" fmla="*/ 12601575 w 70"/>
              <a:gd name="T3" fmla="*/ 181451250 h 120"/>
              <a:gd name="T4" fmla="*/ 163810950 w 70"/>
              <a:gd name="T5" fmla="*/ 136088438 h 120"/>
              <a:gd name="T6" fmla="*/ 88206263 w 70"/>
              <a:gd name="T7" fmla="*/ 302418750 h 120"/>
              <a:gd name="T8" fmla="*/ 0 60000 65536"/>
              <a:gd name="T9" fmla="*/ 0 60000 65536"/>
              <a:gd name="T10" fmla="*/ 0 60000 65536"/>
              <a:gd name="T11" fmla="*/ 0 60000 65536"/>
              <a:gd name="T12" fmla="*/ 0 w 70"/>
              <a:gd name="T13" fmla="*/ 0 h 120"/>
              <a:gd name="T14" fmla="*/ 70 w 70"/>
              <a:gd name="T15" fmla="*/ 120 h 1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" h="120">
                <a:moveTo>
                  <a:pt x="35" y="0"/>
                </a:moveTo>
                <a:cubicBezTo>
                  <a:pt x="17" y="31"/>
                  <a:pt x="0" y="63"/>
                  <a:pt x="5" y="72"/>
                </a:cubicBezTo>
                <a:cubicBezTo>
                  <a:pt x="10" y="81"/>
                  <a:pt x="60" y="46"/>
                  <a:pt x="65" y="54"/>
                </a:cubicBezTo>
                <a:cubicBezTo>
                  <a:pt x="70" y="62"/>
                  <a:pt x="40" y="110"/>
                  <a:pt x="35" y="120"/>
                </a:cubicBezTo>
              </a:path>
            </a:pathLst>
          </a:custGeom>
          <a:noFill/>
          <a:ln w="19050" cap="flat" cmpd="sng">
            <a:solidFill>
              <a:srgbClr val="FF33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841" name="AutoShape 185"/>
          <p:cNvSpPr>
            <a:spLocks noChangeArrowheads="1"/>
          </p:cNvSpPr>
          <p:nvPr/>
        </p:nvSpPr>
        <p:spPr bwMode="auto">
          <a:xfrm>
            <a:off x="4352925" y="3028950"/>
            <a:ext cx="144463" cy="152400"/>
          </a:xfrm>
          <a:prstGeom prst="flowChartConnector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42" name="AutoShape 186"/>
          <p:cNvSpPr>
            <a:spLocks noChangeArrowheads="1"/>
          </p:cNvSpPr>
          <p:nvPr/>
        </p:nvSpPr>
        <p:spPr bwMode="auto">
          <a:xfrm>
            <a:off x="6629400" y="4267200"/>
            <a:ext cx="144463" cy="152400"/>
          </a:xfrm>
          <a:prstGeom prst="flowChartConnector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43" name="Text Box 187"/>
          <p:cNvSpPr txBox="1">
            <a:spLocks noChangeArrowheads="1"/>
          </p:cNvSpPr>
          <p:nvPr/>
        </p:nvSpPr>
        <p:spPr bwMode="auto">
          <a:xfrm>
            <a:off x="6472238" y="3500438"/>
            <a:ext cx="2671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aseline="0">
                <a:latin typeface="ISOCPEUR" pitchFamily="34" charset="0"/>
              </a:rPr>
              <a:t>l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r>
              <a:rPr kumimoji="0" lang="en-US" altLang="zh-CN" sz="2400" baseline="0">
                <a:latin typeface="ISOCPEUR" pitchFamily="34" charset="0"/>
              </a:rPr>
              <a:t>k</a:t>
            </a:r>
            <a:r>
              <a:rPr kumimoji="0" lang="en-US" altLang="zh-CN" sz="1600" baseline="0">
                <a:latin typeface="ISOCPEUR" pitchFamily="34" charset="0"/>
              </a:rPr>
              <a:t>2</a:t>
            </a:r>
            <a:r>
              <a:rPr kumimoji="0" lang="en-US" altLang="zh-CN" sz="2400" baseline="0">
                <a:latin typeface="ISOCPEUR" pitchFamily="34" charset="0"/>
              </a:rPr>
              <a:t> </a:t>
            </a:r>
            <a:r>
              <a:rPr kumimoji="0" lang="zh-CN" altLang="en-US" sz="2400" i="0" baseline="0">
                <a:ea typeface="黑体" pitchFamily="2" charset="-122"/>
              </a:rPr>
              <a:t>为距离实长。</a:t>
            </a:r>
          </a:p>
        </p:txBody>
      </p:sp>
      <p:sp>
        <p:nvSpPr>
          <p:cNvPr id="70844" name="Text Box 188"/>
          <p:cNvSpPr txBox="1">
            <a:spLocks noChangeArrowheads="1"/>
          </p:cNvSpPr>
          <p:nvPr/>
        </p:nvSpPr>
        <p:spPr bwMode="auto">
          <a:xfrm>
            <a:off x="1677988" y="4783138"/>
            <a:ext cx="2379662" cy="7016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 baseline="0">
                <a:latin typeface="ISOCPEUR" pitchFamily="34" charset="0"/>
              </a:rPr>
              <a:t>l</a:t>
            </a:r>
            <a:r>
              <a:rPr kumimoji="0" lang="en-US" altLang="zh-CN" sz="1600" i="0" baseline="0">
                <a:latin typeface="ISOCPEUR" pitchFamily="34" charset="0"/>
              </a:rPr>
              <a:t>1 </a:t>
            </a:r>
            <a:r>
              <a:rPr kumimoji="0" lang="zh-CN" altLang="en-US" sz="2000" i="0" baseline="0">
                <a:latin typeface="ISOCP" pitchFamily="2" charset="0"/>
                <a:ea typeface="黑体" pitchFamily="2" charset="-122"/>
              </a:rPr>
              <a:t>的位置？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 baseline="0">
                <a:latin typeface="ISOCPEUR" pitchFamily="34" charset="0"/>
                <a:ea typeface="黑体" pitchFamily="2" charset="-122"/>
              </a:rPr>
              <a:t>KL</a:t>
            </a:r>
            <a:r>
              <a:rPr kumimoji="0" lang="zh-CN" altLang="en-US" sz="2000" i="0" baseline="0">
                <a:latin typeface="ISOCP" pitchFamily="2" charset="0"/>
                <a:ea typeface="黑体" pitchFamily="2" charset="-122"/>
              </a:rPr>
              <a:t>为何种位置线？</a:t>
            </a:r>
          </a:p>
        </p:txBody>
      </p:sp>
      <p:sp>
        <p:nvSpPr>
          <p:cNvPr id="70848" name="Text Box 192"/>
          <p:cNvSpPr txBox="1">
            <a:spLocks noChangeArrowheads="1"/>
          </p:cNvSpPr>
          <p:nvPr/>
        </p:nvSpPr>
        <p:spPr bwMode="auto">
          <a:xfrm>
            <a:off x="342900" y="547688"/>
            <a:ext cx="88011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只需将其中的一条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直线变换为投影面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垂直线即可。</a:t>
            </a:r>
          </a:p>
        </p:txBody>
      </p:sp>
      <p:sp>
        <p:nvSpPr>
          <p:cNvPr id="70853" name="AutoShape 197"/>
          <p:cNvSpPr>
            <a:spLocks noChangeArrowheads="1"/>
          </p:cNvSpPr>
          <p:nvPr/>
        </p:nvSpPr>
        <p:spPr bwMode="auto">
          <a:xfrm>
            <a:off x="4930775" y="4319588"/>
            <a:ext cx="74613" cy="74612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54" name="AutoShape 198"/>
          <p:cNvSpPr>
            <a:spLocks noChangeArrowheads="1"/>
          </p:cNvSpPr>
          <p:nvPr/>
        </p:nvSpPr>
        <p:spPr bwMode="auto">
          <a:xfrm>
            <a:off x="4914900" y="4471988"/>
            <a:ext cx="74613" cy="74612"/>
          </a:xfrm>
          <a:prstGeom prst="flowChartConnector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70856" name="Text Box 200"/>
          <p:cNvSpPr txBox="1">
            <a:spLocks noChangeArrowheads="1"/>
          </p:cNvSpPr>
          <p:nvPr/>
        </p:nvSpPr>
        <p:spPr bwMode="auto">
          <a:xfrm>
            <a:off x="1625600" y="5854700"/>
            <a:ext cx="3419475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i="0" baseline="0">
                <a:latin typeface="黑体" pitchFamily="2" charset="-122"/>
                <a:ea typeface="黑体" pitchFamily="2" charset="-122"/>
              </a:rPr>
              <a:t>继续，返回到原投影！</a:t>
            </a:r>
          </a:p>
        </p:txBody>
      </p:sp>
      <p:sp>
        <p:nvSpPr>
          <p:cNvPr id="28748" name="Text Box 202"/>
          <p:cNvSpPr txBox="1">
            <a:spLocks noChangeArrowheads="1"/>
          </p:cNvSpPr>
          <p:nvPr/>
        </p:nvSpPr>
        <p:spPr bwMode="auto">
          <a:xfrm>
            <a:off x="2032000" y="20764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X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70868" name="Line 212"/>
          <p:cNvSpPr>
            <a:spLocks noChangeShapeType="1"/>
          </p:cNvSpPr>
          <p:nvPr/>
        </p:nvSpPr>
        <p:spPr bwMode="auto">
          <a:xfrm flipH="1" flipV="1">
            <a:off x="4438650" y="3513138"/>
            <a:ext cx="95250" cy="150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69" name="Line 213"/>
          <p:cNvSpPr>
            <a:spLocks noChangeShapeType="1"/>
          </p:cNvSpPr>
          <p:nvPr/>
        </p:nvSpPr>
        <p:spPr bwMode="auto">
          <a:xfrm flipH="1" flipV="1">
            <a:off x="4340225" y="3546475"/>
            <a:ext cx="106363" cy="16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0870" name="Text Box 214"/>
          <p:cNvSpPr txBox="1">
            <a:spLocks noChangeArrowheads="1"/>
          </p:cNvSpPr>
          <p:nvPr/>
        </p:nvSpPr>
        <p:spPr bwMode="auto">
          <a:xfrm>
            <a:off x="1677988" y="5089525"/>
            <a:ext cx="2379662" cy="3968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 baseline="0">
                <a:latin typeface="ISOCPEUR" pitchFamily="34" charset="0"/>
                <a:ea typeface="黑体" pitchFamily="2" charset="-122"/>
              </a:rPr>
              <a:t>KL</a:t>
            </a:r>
            <a:r>
              <a:rPr kumimoji="0" lang="zh-CN" altLang="en-US" sz="2000" i="0" baseline="0">
                <a:latin typeface="ISOCPEUR" pitchFamily="34" charset="0"/>
                <a:ea typeface="黑体" pitchFamily="2" charset="-122"/>
              </a:rPr>
              <a:t>为</a:t>
            </a:r>
            <a:r>
              <a:rPr kumimoji="0" lang="en-US" altLang="zh-CN" sz="2000" i="0" baseline="0">
                <a:latin typeface="ISOCPEUR" pitchFamily="34" charset="0"/>
                <a:ea typeface="黑体" pitchFamily="2" charset="-122"/>
              </a:rPr>
              <a:t>P</a:t>
            </a:r>
            <a:r>
              <a:rPr kumimoji="0" lang="en-US" altLang="zh-CN" sz="1600" i="0" baseline="0">
                <a:latin typeface="ISOCPEUR" pitchFamily="34" charset="0"/>
                <a:ea typeface="黑体" pitchFamily="2" charset="-122"/>
              </a:rPr>
              <a:t>2</a:t>
            </a:r>
            <a:r>
              <a:rPr kumimoji="0" lang="zh-CN" altLang="en-US" sz="2000" i="0" baseline="0">
                <a:latin typeface="ISOCP" pitchFamily="2" charset="0"/>
                <a:ea typeface="黑体" pitchFamily="2" charset="-122"/>
              </a:rPr>
              <a:t>的平行线！</a:t>
            </a:r>
          </a:p>
        </p:txBody>
      </p:sp>
      <p:sp>
        <p:nvSpPr>
          <p:cNvPr id="70871" name="Text Box 215"/>
          <p:cNvSpPr txBox="1">
            <a:spLocks noChangeArrowheads="1"/>
          </p:cNvSpPr>
          <p:nvPr/>
        </p:nvSpPr>
        <p:spPr bwMode="auto">
          <a:xfrm>
            <a:off x="1677988" y="5424488"/>
            <a:ext cx="2368550" cy="3968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0" baseline="0">
                <a:latin typeface="ISOCPEUR" pitchFamily="34" charset="0"/>
              </a:rPr>
              <a:t>k</a:t>
            </a:r>
            <a:r>
              <a:rPr kumimoji="0" lang="en-US" altLang="zh-CN" sz="1600" i="0" baseline="0">
                <a:latin typeface="ISOCPEUR" pitchFamily="34" charset="0"/>
              </a:rPr>
              <a:t>1 </a:t>
            </a:r>
            <a:r>
              <a:rPr kumimoji="0" lang="en-US" altLang="zh-CN" sz="2000" i="0" baseline="0">
                <a:latin typeface="ISOCPEUR" pitchFamily="34" charset="0"/>
              </a:rPr>
              <a:t>l</a:t>
            </a:r>
            <a:r>
              <a:rPr kumimoji="0" lang="en-US" altLang="zh-CN" sz="1600" i="0" baseline="0">
                <a:latin typeface="ISOCPEUR" pitchFamily="34" charset="0"/>
              </a:rPr>
              <a:t>1 </a:t>
            </a:r>
            <a:r>
              <a:rPr kumimoji="0" lang="en-US" altLang="zh-CN" sz="2000" i="0" baseline="0">
                <a:latin typeface="ISOCPEUR" pitchFamily="34" charset="0"/>
              </a:rPr>
              <a:t>// O</a:t>
            </a:r>
            <a:r>
              <a:rPr kumimoji="0" lang="en-US" altLang="zh-CN" sz="1600" i="0" baseline="0">
                <a:latin typeface="ISOCPEUR" pitchFamily="34" charset="0"/>
              </a:rPr>
              <a:t>2</a:t>
            </a:r>
            <a:r>
              <a:rPr kumimoji="0" lang="en-US" altLang="zh-CN" sz="2000" i="0" baseline="0">
                <a:latin typeface="ISOCPEUR" pitchFamily="34" charset="0"/>
              </a:rPr>
              <a:t>X</a:t>
            </a:r>
            <a:r>
              <a:rPr kumimoji="0" lang="en-US" altLang="zh-CN" sz="1600" i="0" baseline="0">
                <a:latin typeface="ISOCPEUR" pitchFamily="34" charset="0"/>
              </a:rPr>
              <a:t>2</a:t>
            </a:r>
            <a:r>
              <a:rPr kumimoji="0" lang="zh-CN" altLang="en-US" sz="2000" i="0" baseline="0">
                <a:latin typeface="ISOCP" pitchFamily="2" charset="0"/>
                <a:ea typeface="黑体" pitchFamily="2" charset="-122"/>
              </a:rPr>
              <a:t>轴。</a:t>
            </a:r>
            <a:endParaRPr kumimoji="0" lang="zh-CN" altLang="en-US" sz="2800" i="0" baseline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0872" name="Text Box 216"/>
          <p:cNvSpPr txBox="1">
            <a:spLocks noChangeArrowheads="1"/>
          </p:cNvSpPr>
          <p:nvPr/>
        </p:nvSpPr>
        <p:spPr bwMode="auto">
          <a:xfrm>
            <a:off x="5662613" y="2649538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O</a:t>
            </a:r>
            <a:r>
              <a:rPr kumimoji="0" lang="en-US" altLang="zh-CN" sz="2000">
                <a:latin typeface="ISOCPEUR" pitchFamily="34" charset="0"/>
              </a:rPr>
              <a:t>1</a:t>
            </a:r>
            <a:r>
              <a:rPr kumimoji="0" lang="en-US" altLang="zh-CN" sz="2000" baseline="0">
                <a:latin typeface="ISOCPEUR" pitchFamily="34" charset="0"/>
              </a:rPr>
              <a:t> </a:t>
            </a:r>
            <a:endParaRPr kumimoji="0" lang="en-US" altLang="zh-CN" sz="2400" baseline="0">
              <a:latin typeface="ISOCPEUR" pitchFamily="34" charset="0"/>
            </a:endParaRPr>
          </a:p>
        </p:txBody>
      </p:sp>
      <p:sp>
        <p:nvSpPr>
          <p:cNvPr id="70873" name="Text Box 217"/>
          <p:cNvSpPr txBox="1">
            <a:spLocks noChangeArrowheads="1"/>
          </p:cNvSpPr>
          <p:nvPr/>
        </p:nvSpPr>
        <p:spPr bwMode="auto">
          <a:xfrm>
            <a:off x="6196013" y="3101975"/>
            <a:ext cx="49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aseline="0">
                <a:latin typeface="ISOCPEUR" pitchFamily="34" charset="0"/>
              </a:rPr>
              <a:t>O</a:t>
            </a:r>
            <a:r>
              <a:rPr kumimoji="0" lang="en-US" altLang="zh-CN" sz="2000">
                <a:latin typeface="ISOCPEUR" pitchFamily="34" charset="0"/>
              </a:rPr>
              <a:t>2</a:t>
            </a:r>
            <a:r>
              <a:rPr kumimoji="0" lang="en-US" altLang="zh-CN" sz="2000" baseline="0">
                <a:latin typeface="ISOCPEUR" pitchFamily="34" charset="0"/>
              </a:rPr>
              <a:t> </a:t>
            </a:r>
            <a:endParaRPr kumimoji="0" lang="en-US" altLang="zh-CN" sz="2400" baseline="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7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7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7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7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7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7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7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7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500"/>
                                        <p:tgtEl>
                                          <p:spTgt spid="7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500"/>
                                        <p:tgtEl>
                                          <p:spTgt spid="7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7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708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70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70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7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7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7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7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7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7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7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" grpId="0" animBg="1"/>
      <p:bldP spid="70862" grpId="0" animBg="1"/>
      <p:bldP spid="70827" grpId="0" animBg="1"/>
      <p:bldP spid="70790" grpId="0" autoUpdateAnimBg="0"/>
      <p:bldP spid="70791" grpId="0" animBg="1"/>
      <p:bldP spid="70792" grpId="0" autoUpdateAnimBg="0"/>
      <p:bldP spid="70793" grpId="0" animBg="1"/>
      <p:bldP spid="70795" grpId="0" animBg="1"/>
      <p:bldP spid="70796" grpId="0" animBg="1"/>
      <p:bldP spid="70797" grpId="0" animBg="1"/>
      <p:bldP spid="70798" grpId="0" animBg="1"/>
      <p:bldP spid="70799" grpId="0" animBg="1"/>
      <p:bldP spid="70802" grpId="0" animBg="1"/>
      <p:bldP spid="70803" grpId="0" animBg="1"/>
      <p:bldP spid="70805" grpId="0" animBg="1"/>
      <p:bldP spid="70806" grpId="0" animBg="1"/>
      <p:bldP spid="70807" grpId="0" animBg="1"/>
      <p:bldP spid="70808" grpId="0" animBg="1"/>
      <p:bldP spid="70809" grpId="0" autoUpdateAnimBg="0"/>
      <p:bldP spid="70810" grpId="0" autoUpdateAnimBg="0"/>
      <p:bldP spid="70811" grpId="0" autoUpdateAnimBg="0"/>
      <p:bldP spid="70812" grpId="0" autoUpdateAnimBg="0"/>
      <p:bldP spid="70813" grpId="0" animBg="1"/>
      <p:bldP spid="70814" grpId="0" animBg="1"/>
      <p:bldP spid="70815" grpId="0" autoUpdateAnimBg="0"/>
      <p:bldP spid="70816" grpId="0" animBg="1"/>
      <p:bldP spid="70817" grpId="0" animBg="1"/>
      <p:bldP spid="70818" grpId="0" autoUpdateAnimBg="0"/>
      <p:bldP spid="70820" grpId="0" animBg="1"/>
      <p:bldP spid="70821" grpId="0" autoUpdateAnimBg="0"/>
      <p:bldP spid="70822" grpId="0" autoUpdateAnimBg="0"/>
      <p:bldP spid="70823" grpId="0" animBg="1"/>
      <p:bldP spid="70824" grpId="0" autoUpdateAnimBg="0"/>
      <p:bldP spid="70819" grpId="0" animBg="1"/>
      <p:bldP spid="70826" grpId="0" autoUpdateAnimBg="0"/>
      <p:bldP spid="70828" grpId="0" animBg="1"/>
      <p:bldP spid="70829" grpId="0" autoUpdateAnimBg="0"/>
      <p:bldP spid="70830" grpId="0" autoUpdateAnimBg="0"/>
      <p:bldP spid="70832" grpId="0" animBg="1"/>
      <p:bldP spid="70825" grpId="0" animBg="1"/>
      <p:bldP spid="70836" grpId="0" animBg="1"/>
      <p:bldP spid="70837" grpId="0" animBg="1"/>
      <p:bldP spid="70838" grpId="0" animBg="1"/>
      <p:bldP spid="70839" grpId="0" animBg="1"/>
      <p:bldP spid="70840" grpId="0" animBg="1"/>
      <p:bldP spid="70841" grpId="0" animBg="1"/>
      <p:bldP spid="70842" grpId="0" animBg="1"/>
      <p:bldP spid="70843" grpId="0" autoUpdateAnimBg="0"/>
      <p:bldP spid="70844" grpId="0" build="p" animBg="1" autoUpdateAnimBg="0"/>
      <p:bldP spid="70848" grpId="0" autoUpdateAnimBg="0"/>
      <p:bldP spid="70853" grpId="0" animBg="1"/>
      <p:bldP spid="70854" grpId="0" animBg="1"/>
      <p:bldP spid="70856" grpId="0" animBg="1"/>
      <p:bldP spid="70868" grpId="0" animBg="1"/>
      <p:bldP spid="70869" grpId="0" animBg="1"/>
      <p:bldP spid="70870" grpId="0" animBg="1" autoUpdateAnimBg="0"/>
      <p:bldP spid="70871" grpId="0" animBg="1" autoUpdateAnimBg="0"/>
      <p:bldP spid="70872" grpId="0"/>
      <p:bldP spid="7087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DDDA6E-522E-457F-AA10-CF1CF1B81676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29699" name="Text Box 8"/>
          <p:cNvSpPr txBox="1">
            <a:spLocks noChangeArrowheads="1"/>
          </p:cNvSpPr>
          <p:nvPr/>
        </p:nvSpPr>
        <p:spPr bwMode="auto">
          <a:xfrm>
            <a:off x="258763" y="198438"/>
            <a:ext cx="6142037" cy="5794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i="0" baseline="0">
                <a:latin typeface="黑体" pitchFamily="2" charset="-122"/>
                <a:ea typeface="黑体" pitchFamily="2" charset="-122"/>
              </a:rPr>
              <a:t>对空间想像力的挑战性题目！</a:t>
            </a:r>
          </a:p>
        </p:txBody>
      </p:sp>
      <p:graphicFrame>
        <p:nvGraphicFramePr>
          <p:cNvPr id="187476" name="Object 84"/>
          <p:cNvGraphicFramePr>
            <a:graphicFrameLocks noChangeAspect="1"/>
          </p:cNvGraphicFramePr>
          <p:nvPr/>
        </p:nvGraphicFramePr>
        <p:xfrm>
          <a:off x="592138" y="849313"/>
          <a:ext cx="8158162" cy="571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Image" r:id="rId3" imgW="12152381" imgH="8520635" progId="Photoshop.Image.6">
                  <p:embed/>
                </p:oleObj>
              </mc:Choice>
              <mc:Fallback>
                <p:oleObj name="Image" r:id="rId3" imgW="12152381" imgH="8520635" progId="Photoshop.Image.6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849313"/>
                        <a:ext cx="8158162" cy="571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8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2A95AB-FBD3-4A80-ACAE-D644AE106DB3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166914" name="Text Box 2" descr="紫色网格"/>
          <p:cNvSpPr txBox="1">
            <a:spLocks noChangeArrowheads="1"/>
          </p:cNvSpPr>
          <p:nvPr/>
        </p:nvSpPr>
        <p:spPr bwMode="auto">
          <a:xfrm>
            <a:off x="2000250" y="138817"/>
            <a:ext cx="3257550" cy="823912"/>
          </a:xfrm>
          <a:prstGeom prst="rect">
            <a:avLst/>
          </a:prstGeom>
          <a:blipFill dpi="0" rotWithShape="0">
            <a:blip r:embed="rId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4800" i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 </a:t>
            </a:r>
            <a:r>
              <a:rPr kumimoji="1" lang="zh-CN" altLang="en-US" sz="4800" i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小  结  </a:t>
            </a:r>
          </a:p>
        </p:txBody>
      </p:sp>
      <p:graphicFrame>
        <p:nvGraphicFramePr>
          <p:cNvPr id="307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778110"/>
              </p:ext>
            </p:extLst>
          </p:nvPr>
        </p:nvGraphicFramePr>
        <p:xfrm>
          <a:off x="6462717" y="233889"/>
          <a:ext cx="2303462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剪辑" r:id="rId4" imgW="5715000" imgH="3192463" progId="MS_ClipArt_Gallery.2">
                  <p:embed/>
                </p:oleObj>
              </mc:Choice>
              <mc:Fallback>
                <p:oleObj name="剪辑" r:id="rId4" imgW="5715000" imgH="3192463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717" y="233889"/>
                        <a:ext cx="2303462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1092200" y="1260474"/>
            <a:ext cx="4816475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3600" i="0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kumimoji="1" lang="zh-CN" altLang="en-US" sz="3600" i="0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选择新投影面的原则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100138" y="1868487"/>
            <a:ext cx="33083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36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kumimoji="1" lang="zh-CN" altLang="en-US" sz="3600" i="0" baseline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点的换面作图</a:t>
            </a:r>
          </a:p>
        </p:txBody>
      </p:sp>
      <p:sp>
        <p:nvSpPr>
          <p:cNvPr id="166918" name="Rectangle 6"/>
          <p:cNvSpPr>
            <a:spLocks noChangeArrowheads="1"/>
          </p:cNvSpPr>
          <p:nvPr/>
        </p:nvSpPr>
        <p:spPr bwMode="auto">
          <a:xfrm>
            <a:off x="1111250" y="2501899"/>
            <a:ext cx="4805363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3600" i="0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kumimoji="1" lang="zh-CN" altLang="en-US" sz="3600" i="0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四个基本作图问题：</a:t>
            </a:r>
          </a:p>
        </p:txBody>
      </p:sp>
      <p:sp>
        <p:nvSpPr>
          <p:cNvPr id="166919" name="Text Box 7"/>
          <p:cNvSpPr txBox="1">
            <a:spLocks noChangeArrowheads="1"/>
          </p:cNvSpPr>
          <p:nvPr/>
        </p:nvSpPr>
        <p:spPr bwMode="auto">
          <a:xfrm>
            <a:off x="906463" y="4906962"/>
            <a:ext cx="6797675" cy="588962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将一般位置平面变换成投影面平行面</a:t>
            </a:r>
          </a:p>
        </p:txBody>
      </p:sp>
      <p:sp>
        <p:nvSpPr>
          <p:cNvPr id="166920" name="Text Box 8"/>
          <p:cNvSpPr txBox="1">
            <a:spLocks noChangeArrowheads="1"/>
          </p:cNvSpPr>
          <p:nvPr/>
        </p:nvSpPr>
        <p:spPr bwMode="auto">
          <a:xfrm>
            <a:off x="906463" y="4324349"/>
            <a:ext cx="6799262" cy="588963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将一般位置平面变换成投影面垂直面</a:t>
            </a:r>
          </a:p>
        </p:txBody>
      </p:sp>
      <p:sp>
        <p:nvSpPr>
          <p:cNvPr id="166921" name="Text Box 9"/>
          <p:cNvSpPr txBox="1">
            <a:spLocks noChangeArrowheads="1"/>
          </p:cNvSpPr>
          <p:nvPr/>
        </p:nvSpPr>
        <p:spPr bwMode="auto">
          <a:xfrm>
            <a:off x="901700" y="3763962"/>
            <a:ext cx="6797675" cy="588962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将一般位置直线变换成投影面垂直线</a:t>
            </a:r>
          </a:p>
        </p:txBody>
      </p:sp>
      <p:sp>
        <p:nvSpPr>
          <p:cNvPr id="166922" name="Text Box 10"/>
          <p:cNvSpPr txBox="1">
            <a:spLocks noChangeArrowheads="1"/>
          </p:cNvSpPr>
          <p:nvPr/>
        </p:nvSpPr>
        <p:spPr bwMode="auto">
          <a:xfrm>
            <a:off x="900113" y="3173412"/>
            <a:ext cx="6799262" cy="588962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0" baseline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将一般位置直线变换成投影面平行线</a:t>
            </a:r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577850" y="1446212"/>
            <a:ext cx="457200" cy="304800"/>
          </a:xfrm>
          <a:prstGeom prst="rect">
            <a:avLst/>
          </a:prstGeom>
          <a:gradFill rotWithShape="0">
            <a:gsLst>
              <a:gs pos="0">
                <a:srgbClr val="545443"/>
              </a:gs>
              <a:gs pos="50000">
                <a:srgbClr val="FFFFCC"/>
              </a:gs>
              <a:gs pos="100000">
                <a:srgbClr val="54544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6924" name="Rectangle 12"/>
          <p:cNvSpPr>
            <a:spLocks noChangeArrowheads="1"/>
          </p:cNvSpPr>
          <p:nvPr/>
        </p:nvSpPr>
        <p:spPr bwMode="auto">
          <a:xfrm>
            <a:off x="584200" y="2082799"/>
            <a:ext cx="457200" cy="304800"/>
          </a:xfrm>
          <a:prstGeom prst="rect">
            <a:avLst/>
          </a:prstGeom>
          <a:gradFill rotWithShape="0">
            <a:gsLst>
              <a:gs pos="0">
                <a:srgbClr val="3A3A2E"/>
              </a:gs>
              <a:gs pos="50000">
                <a:srgbClr val="FFFFCC"/>
              </a:gs>
              <a:gs pos="100000">
                <a:srgbClr val="3A3A2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579438" y="2686049"/>
            <a:ext cx="457200" cy="304800"/>
          </a:xfrm>
          <a:prstGeom prst="rect">
            <a:avLst/>
          </a:prstGeom>
          <a:gradFill rotWithShape="0">
            <a:gsLst>
              <a:gs pos="0">
                <a:srgbClr val="3A3A2E"/>
              </a:gs>
              <a:gs pos="50000">
                <a:srgbClr val="FFFFCC"/>
              </a:gs>
              <a:gs pos="100000">
                <a:srgbClr val="3A3A2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65577" y="5542158"/>
            <a:ext cx="481647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>
              <a:defRPr/>
            </a:pPr>
            <a:r>
              <a:rPr kumimoji="1" lang="en-US" altLang="zh-CN" sz="3600" i="0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kumimoji="1" lang="zh-CN" altLang="en-US" sz="3600" i="0" baseline="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解题思路：逆推法</a:t>
            </a:r>
            <a:endParaRPr kumimoji="1" lang="zh-CN" altLang="en-US" sz="3600" i="0" baseline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51227" y="5730386"/>
            <a:ext cx="457200" cy="304800"/>
          </a:xfrm>
          <a:prstGeom prst="rect">
            <a:avLst/>
          </a:prstGeom>
          <a:gradFill rotWithShape="0">
            <a:gsLst>
              <a:gs pos="0">
                <a:srgbClr val="545443"/>
              </a:gs>
              <a:gs pos="50000">
                <a:srgbClr val="FFFFCC"/>
              </a:gs>
              <a:gs pos="100000">
                <a:srgbClr val="54544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6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6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nimBg="1" autoUpdateAnimBg="0"/>
      <p:bldP spid="166916" grpId="0" build="p" autoUpdateAnimBg="0"/>
      <p:bldP spid="166917" grpId="0" autoUpdateAnimBg="0"/>
      <p:bldP spid="166918" grpId="0" build="p" autoUpdateAnimBg="0"/>
      <p:bldP spid="166919" grpId="0" animBg="1" autoUpdateAnimBg="0"/>
      <p:bldP spid="166920" grpId="0" animBg="1" autoUpdateAnimBg="0"/>
      <p:bldP spid="166921" grpId="0" animBg="1" autoUpdateAnimBg="0"/>
      <p:bldP spid="166922" grpId="0" animBg="1" autoUpdateAnimBg="0"/>
      <p:bldP spid="166923" grpId="0" animBg="1"/>
      <p:bldP spid="166924" grpId="0" animBg="1"/>
      <p:bldP spid="166925" grpId="0" animBg="1"/>
      <p:bldP spid="15" grpId="0" build="p" autoUpdateAnimBg="0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82E02-8471-42BA-AA36-E4AEE046F25E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2771" name="AutoShape 8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>
              <a:latin typeface="ISOCPEUR" pitchFamily="34" charset="0"/>
            </a:endParaRPr>
          </a:p>
        </p:txBody>
      </p:sp>
      <p:sp>
        <p:nvSpPr>
          <p:cNvPr id="83028" name="Rectangle 84"/>
          <p:cNvSpPr>
            <a:spLocks noChangeArrowheads="1"/>
          </p:cNvSpPr>
          <p:nvPr/>
        </p:nvSpPr>
        <p:spPr bwMode="auto">
          <a:xfrm>
            <a:off x="485423" y="2087573"/>
            <a:ext cx="8139288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baseline="0" dirty="0"/>
              <a:t>  The faster I go,  the </a:t>
            </a:r>
            <a:r>
              <a:rPr lang="en-US" altLang="zh-CN" i="0" baseline="0" dirty="0" err="1"/>
              <a:t>behinder</a:t>
            </a:r>
            <a:r>
              <a:rPr lang="en-US" altLang="zh-CN" i="0" baseline="0" dirty="0"/>
              <a:t> I get.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0" baseline="0" dirty="0"/>
              <a:t>                                                      </a:t>
            </a:r>
            <a:endParaRPr lang="en-US" altLang="zh-CN" sz="2800" i="0" baseline="0" dirty="0" smtClean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0" baseline="0" dirty="0"/>
              <a:t> </a:t>
            </a:r>
            <a:r>
              <a:rPr lang="en-US" altLang="zh-CN" i="0" baseline="0" dirty="0" smtClean="0"/>
              <a:t>                                           Anon </a:t>
            </a:r>
            <a:r>
              <a:rPr lang="en-US" altLang="zh-CN" i="0" baseline="0" dirty="0"/>
              <a:t>Penn Dutch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28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ISOCPEUR" pitchFamily="34" charset="0"/>
            <a:ea typeface="宋体" pitchFamily="2" charset="-122"/>
            <a:sym typeface="Symbol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ISOCPEUR" pitchFamily="34" charset="0"/>
            <a:ea typeface="宋体" pitchFamily="2" charset="-122"/>
            <a:sym typeface="Symbol" pitchFamily="18" charset="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10701</TotalTime>
  <Words>1941</Words>
  <Application>Microsoft Office PowerPoint</Application>
  <PresentationFormat>全屏显示(4:3)</PresentationFormat>
  <Paragraphs>658</Paragraphs>
  <Slides>29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2" baseType="lpstr">
      <vt:lpstr>场景型模板</vt:lpstr>
      <vt:lpstr>Image</vt:lpstr>
      <vt:lpstr>剪辑</vt:lpstr>
      <vt:lpstr> 第三讲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TSINGHUA UNIVERSITY</dc:creator>
  <cp:lastModifiedBy>Li Tiemin</cp:lastModifiedBy>
  <cp:revision>337</cp:revision>
  <dcterms:created xsi:type="dcterms:W3CDTF">1999-09-22T00:31:18Z</dcterms:created>
  <dcterms:modified xsi:type="dcterms:W3CDTF">2023-10-05T23:50:04Z</dcterms:modified>
</cp:coreProperties>
</file>