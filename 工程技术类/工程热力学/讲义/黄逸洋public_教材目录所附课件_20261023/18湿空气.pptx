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1"/>
  </p:notesMasterIdLst>
  <p:handoutMasterIdLst>
    <p:handoutMasterId r:id="rId82"/>
  </p:handoutMasterIdLst>
  <p:sldIdLst>
    <p:sldId id="257" r:id="rId3"/>
    <p:sldId id="258" r:id="rId4"/>
    <p:sldId id="259" r:id="rId5"/>
    <p:sldId id="260" r:id="rId6"/>
    <p:sldId id="261" r:id="rId7"/>
    <p:sldId id="264" r:id="rId8"/>
    <p:sldId id="265" r:id="rId9"/>
    <p:sldId id="266" r:id="rId10"/>
    <p:sldId id="267" r:id="rId11"/>
    <p:sldId id="268" r:id="rId12"/>
    <p:sldId id="269" r:id="rId13"/>
    <p:sldId id="270" r:id="rId14"/>
    <p:sldId id="271" r:id="rId15"/>
    <p:sldId id="272" r:id="rId16"/>
    <p:sldId id="273" r:id="rId17"/>
    <p:sldId id="275" r:id="rId18"/>
    <p:sldId id="276" r:id="rId19"/>
    <p:sldId id="277" r:id="rId20"/>
    <p:sldId id="278" r:id="rId21"/>
    <p:sldId id="289" r:id="rId22"/>
    <p:sldId id="279" r:id="rId23"/>
    <p:sldId id="280" r:id="rId24"/>
    <p:sldId id="281" r:id="rId25"/>
    <p:sldId id="282" r:id="rId26"/>
    <p:sldId id="283" r:id="rId27"/>
    <p:sldId id="284" r:id="rId28"/>
    <p:sldId id="285" r:id="rId29"/>
    <p:sldId id="286" r:id="rId30"/>
    <p:sldId id="287" r:id="rId31"/>
    <p:sldId id="288"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notesMaster" Target="notesMasters/notesMaster1.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12.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5.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2.wmf"/><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0" Type="http://schemas.openxmlformats.org/officeDocument/2006/relationships/image" Target="../media/image24.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7" Type="http://schemas.openxmlformats.org/officeDocument/2006/relationships/image" Target="../media/image32.wmf"/><Relationship Id="rId6" Type="http://schemas.openxmlformats.org/officeDocument/2006/relationships/image" Target="../media/image31.wmf"/><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45.wmf"/><Relationship Id="rId7" Type="http://schemas.openxmlformats.org/officeDocument/2006/relationships/image" Target="../media/image30.wmf"/><Relationship Id="rId6" Type="http://schemas.openxmlformats.org/officeDocument/2006/relationships/image" Target="../media/image29.wmf"/><Relationship Id="rId5" Type="http://schemas.openxmlformats.org/officeDocument/2006/relationships/image" Target="../media/image44.wmf"/><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50.wmf"/><Relationship Id="rId1" Type="http://schemas.openxmlformats.org/officeDocument/2006/relationships/image" Target="../media/image4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2.wmf"/><Relationship Id="rId1" Type="http://schemas.openxmlformats.org/officeDocument/2006/relationships/image" Target="../media/image6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wmf"/><Relationship Id="rId1" Type="http://schemas.openxmlformats.org/officeDocument/2006/relationships/image" Target="../media/image22.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78.wmf"/><Relationship Id="rId5" Type="http://schemas.openxmlformats.org/officeDocument/2006/relationships/image" Target="../media/image77.wmf"/><Relationship Id="rId4" Type="http://schemas.openxmlformats.org/officeDocument/2006/relationships/image" Target="../media/image76.wmf"/><Relationship Id="rId3" Type="http://schemas.openxmlformats.org/officeDocument/2006/relationships/image" Target="../media/image75.emf"/><Relationship Id="rId2" Type="http://schemas.openxmlformats.org/officeDocument/2006/relationships/image" Target="../media/image74.wmf"/><Relationship Id="rId1" Type="http://schemas.openxmlformats.org/officeDocument/2006/relationships/image" Target="../media/image73.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84.wmf"/><Relationship Id="rId4" Type="http://schemas.openxmlformats.org/officeDocument/2006/relationships/image" Target="../media/image83.wmf"/><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9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3" name="日期占位符 174083"/>
          <p:cNvSpPr>
            <a:spLocks noGrp="1"/>
          </p:cNvSpPr>
          <p:nvPr>
            <p:ph type="dt" sz="half" idx="10"/>
          </p:nvPr>
        </p:nvSpPr>
        <p:spPr/>
        <p:txBody>
          <a:bodyPr/>
          <a:lstStyle>
            <a:lvl1pPr>
              <a:defRPr/>
            </a:lvl1pPr>
          </a:lstStyle>
          <a:p>
            <a:fld id="{BB962C8B-B14F-4D97-AF65-F5344CB8AC3E}" type="datetime1">
              <a:rPr lang="zh-CN" altLang="en-US"/>
            </a:fld>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286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29150" y="1825625"/>
            <a:ext cx="3886200" cy="4351338"/>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日期占位符 174083"/>
          <p:cNvSpPr>
            <a:spLocks noGrp="1"/>
          </p:cNvSpPr>
          <p:nvPr>
            <p:ph type="dt" sz="half" idx="10"/>
          </p:nvPr>
        </p:nvSpPr>
        <p:spPr/>
        <p:txBody>
          <a:bodyPr/>
          <a:lstStyle>
            <a:lvl1pPr>
              <a:defRPr/>
            </a:lvl1pPr>
          </a:lstStyle>
          <a:p>
            <a:fld id="{BB962C8B-B14F-4D97-AF65-F5344CB8AC3E}" type="datetime1">
              <a:rPr lang="zh-CN" altLang="en-US"/>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oleObject" Target="../embeddings/oleObject5.bin"/><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6.wmf"/><Relationship Id="rId1"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5.wmf"/><Relationship Id="rId7" Type="http://schemas.openxmlformats.org/officeDocument/2006/relationships/oleObject" Target="../embeddings/oleObject9.bin"/><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 Id="rId3" Type="http://schemas.openxmlformats.org/officeDocument/2006/relationships/oleObject" Target="../embeddings/oleObject7.bin"/><Relationship Id="rId2" Type="http://schemas.openxmlformats.org/officeDocument/2006/relationships/image" Target="../media/image7.wmf"/><Relationship Id="rId17" Type="http://schemas.openxmlformats.org/officeDocument/2006/relationships/vmlDrawing" Target="../drawings/vmlDrawing3.vml"/><Relationship Id="rId16" Type="http://schemas.openxmlformats.org/officeDocument/2006/relationships/slideLayout" Target="../slideLayouts/slideLayout7.xml"/><Relationship Id="rId15" Type="http://schemas.openxmlformats.org/officeDocument/2006/relationships/tags" Target="../tags/tag3.xml"/><Relationship Id="rId14" Type="http://schemas.openxmlformats.org/officeDocument/2006/relationships/image" Target="../media/image12.wmf"/><Relationship Id="rId13" Type="http://schemas.openxmlformats.org/officeDocument/2006/relationships/oleObject" Target="../embeddings/oleObject12.bin"/><Relationship Id="rId12" Type="http://schemas.openxmlformats.org/officeDocument/2006/relationships/image" Target="../media/image11.wmf"/><Relationship Id="rId11" Type="http://schemas.openxmlformats.org/officeDocument/2006/relationships/oleObject" Target="../embeddings/oleObject11.bin"/><Relationship Id="rId10" Type="http://schemas.openxmlformats.org/officeDocument/2006/relationships/image" Target="../media/image10.wmf"/><Relationship Id="rId1"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3.wmf"/><Relationship Id="rId1"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4.bin"/></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18.wmf"/><Relationship Id="rId7" Type="http://schemas.openxmlformats.org/officeDocument/2006/relationships/oleObject" Target="../embeddings/oleObject18.bin"/><Relationship Id="rId6" Type="http://schemas.openxmlformats.org/officeDocument/2006/relationships/image" Target="../media/image17.wmf"/><Relationship Id="rId5" Type="http://schemas.openxmlformats.org/officeDocument/2006/relationships/oleObject" Target="../embeddings/oleObject17.bin"/><Relationship Id="rId4" Type="http://schemas.openxmlformats.org/officeDocument/2006/relationships/image" Target="../media/image16.wmf"/><Relationship Id="rId3" Type="http://schemas.openxmlformats.org/officeDocument/2006/relationships/oleObject" Target="../embeddings/oleObject16.bin"/><Relationship Id="rId23" Type="http://schemas.openxmlformats.org/officeDocument/2006/relationships/vmlDrawing" Target="../drawings/vmlDrawing6.vml"/><Relationship Id="rId22" Type="http://schemas.openxmlformats.org/officeDocument/2006/relationships/slideLayout" Target="../slideLayouts/slideLayout7.xml"/><Relationship Id="rId21" Type="http://schemas.openxmlformats.org/officeDocument/2006/relationships/tags" Target="../tags/tag5.xml"/><Relationship Id="rId20" Type="http://schemas.openxmlformats.org/officeDocument/2006/relationships/image" Target="../media/image24.wmf"/><Relationship Id="rId2" Type="http://schemas.openxmlformats.org/officeDocument/2006/relationships/image" Target="../media/image15.wmf"/><Relationship Id="rId19" Type="http://schemas.openxmlformats.org/officeDocument/2006/relationships/oleObject" Target="../embeddings/oleObject24.bin"/><Relationship Id="rId18" Type="http://schemas.openxmlformats.org/officeDocument/2006/relationships/image" Target="../media/image23.wmf"/><Relationship Id="rId17" Type="http://schemas.openxmlformats.org/officeDocument/2006/relationships/oleObject" Target="../embeddings/oleObject23.bin"/><Relationship Id="rId16" Type="http://schemas.openxmlformats.org/officeDocument/2006/relationships/image" Target="../media/image22.wmf"/><Relationship Id="rId15" Type="http://schemas.openxmlformats.org/officeDocument/2006/relationships/oleObject" Target="../embeddings/oleObject22.bin"/><Relationship Id="rId14" Type="http://schemas.openxmlformats.org/officeDocument/2006/relationships/image" Target="../media/image21.wmf"/><Relationship Id="rId13" Type="http://schemas.openxmlformats.org/officeDocument/2006/relationships/oleObject" Target="../embeddings/oleObject21.bin"/><Relationship Id="rId12" Type="http://schemas.openxmlformats.org/officeDocument/2006/relationships/image" Target="../media/image20.wmf"/><Relationship Id="rId11" Type="http://schemas.openxmlformats.org/officeDocument/2006/relationships/oleObject" Target="../embeddings/oleObject20.bin"/><Relationship Id="rId10" Type="http://schemas.openxmlformats.org/officeDocument/2006/relationships/image" Target="../media/image19.wmf"/><Relationship Id="rId1" Type="http://schemas.openxmlformats.org/officeDocument/2006/relationships/oleObject" Target="../embeddings/oleObject15.bin"/></Relationships>
</file>

<file path=ppt/slides/_rels/slide24.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tags" Target="../tags/tag6.xml"/><Relationship Id="rId4" Type="http://schemas.openxmlformats.org/officeDocument/2006/relationships/image" Target="../media/image26.wmf"/><Relationship Id="rId3" Type="http://schemas.openxmlformats.org/officeDocument/2006/relationships/oleObject" Target="../embeddings/oleObject26.bin"/><Relationship Id="rId2" Type="http://schemas.openxmlformats.org/officeDocument/2006/relationships/image" Target="../media/image25.wmf"/><Relationship Id="rId1" Type="http://schemas.openxmlformats.org/officeDocument/2006/relationships/oleObject" Target="../embeddings/oleObject25.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29.wmf"/><Relationship Id="rId7" Type="http://schemas.openxmlformats.org/officeDocument/2006/relationships/oleObject" Target="../embeddings/oleObject30.bin"/><Relationship Id="rId6" Type="http://schemas.openxmlformats.org/officeDocument/2006/relationships/image" Target="../media/image28.wmf"/><Relationship Id="rId5" Type="http://schemas.openxmlformats.org/officeDocument/2006/relationships/oleObject" Target="../embeddings/oleObject29.bin"/><Relationship Id="rId4" Type="http://schemas.openxmlformats.org/officeDocument/2006/relationships/image" Target="../media/image27.wmf"/><Relationship Id="rId3" Type="http://schemas.openxmlformats.org/officeDocument/2006/relationships/oleObject" Target="../embeddings/oleObject28.bin"/><Relationship Id="rId2" Type="http://schemas.openxmlformats.org/officeDocument/2006/relationships/image" Target="../media/image26.wmf"/><Relationship Id="rId17" Type="http://schemas.openxmlformats.org/officeDocument/2006/relationships/vmlDrawing" Target="../drawings/vmlDrawing8.vml"/><Relationship Id="rId16" Type="http://schemas.openxmlformats.org/officeDocument/2006/relationships/slideLayout" Target="../slideLayouts/slideLayout7.xml"/><Relationship Id="rId15" Type="http://schemas.openxmlformats.org/officeDocument/2006/relationships/tags" Target="../tags/tag7.xml"/><Relationship Id="rId14" Type="http://schemas.openxmlformats.org/officeDocument/2006/relationships/image" Target="../media/image32.wmf"/><Relationship Id="rId13" Type="http://schemas.openxmlformats.org/officeDocument/2006/relationships/oleObject" Target="../embeddings/oleObject33.bin"/><Relationship Id="rId12" Type="http://schemas.openxmlformats.org/officeDocument/2006/relationships/image" Target="../media/image31.wmf"/><Relationship Id="rId11" Type="http://schemas.openxmlformats.org/officeDocument/2006/relationships/oleObject" Target="../embeddings/oleObject32.bin"/><Relationship Id="rId10" Type="http://schemas.openxmlformats.org/officeDocument/2006/relationships/image" Target="../media/image30.wmf"/><Relationship Id="rId1" Type="http://schemas.openxmlformats.org/officeDocument/2006/relationships/oleObject" Target="../embeddings/oleObject27.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38.bin"/><Relationship Id="rId8" Type="http://schemas.openxmlformats.org/officeDocument/2006/relationships/image" Target="../media/image37.wmf"/><Relationship Id="rId7" Type="http://schemas.openxmlformats.org/officeDocument/2006/relationships/oleObject" Target="../embeddings/oleObject37.bin"/><Relationship Id="rId6" Type="http://schemas.openxmlformats.org/officeDocument/2006/relationships/image" Target="../media/image36.wmf"/><Relationship Id="rId5" Type="http://schemas.openxmlformats.org/officeDocument/2006/relationships/oleObject" Target="../embeddings/oleObject36.bin"/><Relationship Id="rId4" Type="http://schemas.openxmlformats.org/officeDocument/2006/relationships/image" Target="../media/image35.wmf"/><Relationship Id="rId3" Type="http://schemas.openxmlformats.org/officeDocument/2006/relationships/oleObject" Target="../embeddings/oleObject35.bin"/><Relationship Id="rId2" Type="http://schemas.openxmlformats.org/officeDocument/2006/relationships/image" Target="../media/image34.wmf"/><Relationship Id="rId15" Type="http://schemas.openxmlformats.org/officeDocument/2006/relationships/vmlDrawing" Target="../drawings/vmlDrawing9.vml"/><Relationship Id="rId14" Type="http://schemas.openxmlformats.org/officeDocument/2006/relationships/slideLayout" Target="../slideLayouts/slideLayout7.xml"/><Relationship Id="rId13" Type="http://schemas.openxmlformats.org/officeDocument/2006/relationships/tags" Target="../tags/tag8.xml"/><Relationship Id="rId12" Type="http://schemas.openxmlformats.org/officeDocument/2006/relationships/image" Target="../media/image39.wmf"/><Relationship Id="rId11" Type="http://schemas.openxmlformats.org/officeDocument/2006/relationships/oleObject" Target="../embeddings/oleObject39.bin"/><Relationship Id="rId10" Type="http://schemas.openxmlformats.org/officeDocument/2006/relationships/image" Target="../media/image38.wmf"/><Relationship Id="rId1" Type="http://schemas.openxmlformats.org/officeDocument/2006/relationships/oleObject" Target="../embeddings/oleObject34.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44.bin"/><Relationship Id="rId8" Type="http://schemas.openxmlformats.org/officeDocument/2006/relationships/image" Target="../media/image43.wmf"/><Relationship Id="rId7" Type="http://schemas.openxmlformats.org/officeDocument/2006/relationships/oleObject" Target="../embeddings/oleObject43.bin"/><Relationship Id="rId6" Type="http://schemas.openxmlformats.org/officeDocument/2006/relationships/image" Target="../media/image42.wmf"/><Relationship Id="rId5" Type="http://schemas.openxmlformats.org/officeDocument/2006/relationships/oleObject" Target="../embeddings/oleObject42.bin"/><Relationship Id="rId4" Type="http://schemas.openxmlformats.org/officeDocument/2006/relationships/image" Target="../media/image41.wmf"/><Relationship Id="rId3" Type="http://schemas.openxmlformats.org/officeDocument/2006/relationships/oleObject" Target="../embeddings/oleObject41.bin"/><Relationship Id="rId2" Type="http://schemas.openxmlformats.org/officeDocument/2006/relationships/image" Target="../media/image40.wmf"/><Relationship Id="rId19" Type="http://schemas.openxmlformats.org/officeDocument/2006/relationships/vmlDrawing" Target="../drawings/vmlDrawing10.vml"/><Relationship Id="rId18" Type="http://schemas.openxmlformats.org/officeDocument/2006/relationships/slideLayout" Target="../slideLayouts/slideLayout7.xml"/><Relationship Id="rId17" Type="http://schemas.openxmlformats.org/officeDocument/2006/relationships/tags" Target="../tags/tag9.xml"/><Relationship Id="rId16" Type="http://schemas.openxmlformats.org/officeDocument/2006/relationships/image" Target="../media/image45.wmf"/><Relationship Id="rId15" Type="http://schemas.openxmlformats.org/officeDocument/2006/relationships/oleObject" Target="../embeddings/oleObject47.bin"/><Relationship Id="rId14" Type="http://schemas.openxmlformats.org/officeDocument/2006/relationships/image" Target="../media/image30.wmf"/><Relationship Id="rId13" Type="http://schemas.openxmlformats.org/officeDocument/2006/relationships/oleObject" Target="../embeddings/oleObject46.bin"/><Relationship Id="rId12" Type="http://schemas.openxmlformats.org/officeDocument/2006/relationships/image" Target="../media/image29.wmf"/><Relationship Id="rId11" Type="http://schemas.openxmlformats.org/officeDocument/2006/relationships/oleObject" Target="../embeddings/oleObject45.bin"/><Relationship Id="rId10" Type="http://schemas.openxmlformats.org/officeDocument/2006/relationships/image" Target="../media/image44.wmf"/><Relationship Id="rId1" Type="http://schemas.openxmlformats.org/officeDocument/2006/relationships/oleObject" Target="../embeddings/oleObject40.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image" Target="../media/image47.wmf"/><Relationship Id="rId7" Type="http://schemas.openxmlformats.org/officeDocument/2006/relationships/oleObject" Target="../embeddings/oleObject51.bin"/><Relationship Id="rId6" Type="http://schemas.openxmlformats.org/officeDocument/2006/relationships/image" Target="../media/image46.wmf"/><Relationship Id="rId5" Type="http://schemas.openxmlformats.org/officeDocument/2006/relationships/oleObject" Target="../embeddings/oleObject50.bin"/><Relationship Id="rId4" Type="http://schemas.openxmlformats.org/officeDocument/2006/relationships/image" Target="../media/image45.wmf"/><Relationship Id="rId3" Type="http://schemas.openxmlformats.org/officeDocument/2006/relationships/oleObject" Target="../embeddings/oleObject49.bin"/><Relationship Id="rId2" Type="http://schemas.openxmlformats.org/officeDocument/2006/relationships/image" Target="../media/image40.wmf"/><Relationship Id="rId12" Type="http://schemas.openxmlformats.org/officeDocument/2006/relationships/vmlDrawing" Target="../drawings/vmlDrawing11.vml"/><Relationship Id="rId11" Type="http://schemas.openxmlformats.org/officeDocument/2006/relationships/slideLayout" Target="../slideLayouts/slideLayout7.xml"/><Relationship Id="rId10" Type="http://schemas.openxmlformats.org/officeDocument/2006/relationships/image" Target="../media/image48.wmf"/><Relationship Id="rId1" Type="http://schemas.openxmlformats.org/officeDocument/2006/relationships/oleObject" Target="../embeddings/oleObject48.bin"/></Relationships>
</file>

<file path=ppt/slides/_rels/slide30.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7.xml"/><Relationship Id="rId6" Type="http://schemas.openxmlformats.org/officeDocument/2006/relationships/image" Target="../media/image15.wmf"/><Relationship Id="rId5" Type="http://schemas.openxmlformats.org/officeDocument/2006/relationships/oleObject" Target="../embeddings/oleObject55.bin"/><Relationship Id="rId4" Type="http://schemas.openxmlformats.org/officeDocument/2006/relationships/image" Target="../media/image50.wmf"/><Relationship Id="rId3" Type="http://schemas.openxmlformats.org/officeDocument/2006/relationships/oleObject" Target="../embeddings/oleObject54.bin"/><Relationship Id="rId2" Type="http://schemas.openxmlformats.org/officeDocument/2006/relationships/image" Target="../media/image49.wmf"/><Relationship Id="rId1" Type="http://schemas.openxmlformats.org/officeDocument/2006/relationships/oleObject" Target="../embeddings/oleObject53.bin"/></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image" Target="../media/image51.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4.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image" Target="../media/image55.emf"/></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6.png"/><Relationship Id="rId1" Type="http://schemas.openxmlformats.org/officeDocument/2006/relationships/image" Target="../media/image57.emf"/></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5.emf"/></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5.emf"/><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slides/_rels/slide47.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7.xml"/><Relationship Id="rId3" Type="http://schemas.openxmlformats.org/officeDocument/2006/relationships/image" Target="../media/image55.emf"/><Relationship Id="rId2" Type="http://schemas.openxmlformats.org/officeDocument/2006/relationships/image" Target="../media/image61.wmf"/><Relationship Id="rId1" Type="http://schemas.openxmlformats.org/officeDocument/2006/relationships/oleObject" Target="../embeddings/oleObject56.bin"/></Relationships>
</file>

<file path=ppt/slides/_rels/slide48.xml.rels><?xml version="1.0" encoding="UTF-8" standalone="yes"?>
<Relationships xmlns="http://schemas.openxmlformats.org/package/2006/relationships"><Relationship Id="rId9" Type="http://schemas.openxmlformats.org/officeDocument/2006/relationships/image" Target="../media/image66.wmf"/><Relationship Id="rId8" Type="http://schemas.openxmlformats.org/officeDocument/2006/relationships/oleObject" Target="../embeddings/oleObject59.bin"/><Relationship Id="rId7" Type="http://schemas.openxmlformats.org/officeDocument/2006/relationships/image" Target="../media/image65.emf"/><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wmf"/><Relationship Id="rId3" Type="http://schemas.openxmlformats.org/officeDocument/2006/relationships/oleObject" Target="../embeddings/oleObject58.bin"/><Relationship Id="rId2" Type="http://schemas.openxmlformats.org/officeDocument/2006/relationships/image" Target="../media/image61.wmf"/><Relationship Id="rId11" Type="http://schemas.openxmlformats.org/officeDocument/2006/relationships/vmlDrawing" Target="../drawings/vmlDrawing14.vml"/><Relationship Id="rId10" Type="http://schemas.openxmlformats.org/officeDocument/2006/relationships/slideLayout" Target="../slideLayouts/slideLayout7.xml"/><Relationship Id="rId1" Type="http://schemas.openxmlformats.org/officeDocument/2006/relationships/oleObject" Target="../embeddings/oleObject57.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7.xml"/><Relationship Id="rId2" Type="http://schemas.openxmlformats.org/officeDocument/2006/relationships/image" Target="../media/image62.wmf"/><Relationship Id="rId1" Type="http://schemas.openxmlformats.org/officeDocument/2006/relationships/oleObject" Target="../embeddings/oleObject60.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7.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8.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62.xml.rels><?xml version="1.0" encoding="UTF-8" standalone="yes"?>
<Relationships xmlns="http://schemas.openxmlformats.org/package/2006/relationships"><Relationship Id="rId9" Type="http://schemas.openxmlformats.org/officeDocument/2006/relationships/vmlDrawing" Target="../drawings/vmlDrawing16.vml"/><Relationship Id="rId8" Type="http://schemas.openxmlformats.org/officeDocument/2006/relationships/slideLayout" Target="../slideLayouts/slideLayout7.xml"/><Relationship Id="rId7" Type="http://schemas.openxmlformats.org/officeDocument/2006/relationships/image" Target="../media/image70.png"/><Relationship Id="rId6" Type="http://schemas.openxmlformats.org/officeDocument/2006/relationships/image" Target="../media/image72.emf"/><Relationship Id="rId5" Type="http://schemas.openxmlformats.org/officeDocument/2006/relationships/oleObject" Target="../embeddings/oleObject63.bin"/><Relationship Id="rId4" Type="http://schemas.openxmlformats.org/officeDocument/2006/relationships/image" Target="../media/image71.wmf"/><Relationship Id="rId3" Type="http://schemas.openxmlformats.org/officeDocument/2006/relationships/oleObject" Target="../embeddings/oleObject62.bin"/><Relationship Id="rId2" Type="http://schemas.openxmlformats.org/officeDocument/2006/relationships/image" Target="../media/image22.wmf"/><Relationship Id="rId1" Type="http://schemas.openxmlformats.org/officeDocument/2006/relationships/oleObject" Target="../embeddings/oleObject61.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68.bin"/><Relationship Id="rId8" Type="http://schemas.openxmlformats.org/officeDocument/2006/relationships/image" Target="../media/image76.wmf"/><Relationship Id="rId7" Type="http://schemas.openxmlformats.org/officeDocument/2006/relationships/oleObject" Target="../embeddings/oleObject67.bin"/><Relationship Id="rId6" Type="http://schemas.openxmlformats.org/officeDocument/2006/relationships/image" Target="../media/image75.emf"/><Relationship Id="rId5" Type="http://schemas.openxmlformats.org/officeDocument/2006/relationships/oleObject" Target="../embeddings/oleObject66.bin"/><Relationship Id="rId4" Type="http://schemas.openxmlformats.org/officeDocument/2006/relationships/image" Target="../media/image74.wmf"/><Relationship Id="rId3" Type="http://schemas.openxmlformats.org/officeDocument/2006/relationships/oleObject" Target="../embeddings/oleObject65.bin"/><Relationship Id="rId2" Type="http://schemas.openxmlformats.org/officeDocument/2006/relationships/image" Target="../media/image73.wmf"/><Relationship Id="rId15" Type="http://schemas.openxmlformats.org/officeDocument/2006/relationships/vmlDrawing" Target="../drawings/vmlDrawing17.vml"/><Relationship Id="rId14" Type="http://schemas.openxmlformats.org/officeDocument/2006/relationships/slideLayout" Target="../slideLayouts/slideLayout7.xml"/><Relationship Id="rId13" Type="http://schemas.openxmlformats.org/officeDocument/2006/relationships/image" Target="../media/image70.png"/><Relationship Id="rId12" Type="http://schemas.openxmlformats.org/officeDocument/2006/relationships/image" Target="../media/image78.wmf"/><Relationship Id="rId11" Type="http://schemas.openxmlformats.org/officeDocument/2006/relationships/oleObject" Target="../embeddings/oleObject69.bin"/><Relationship Id="rId10" Type="http://schemas.openxmlformats.org/officeDocument/2006/relationships/image" Target="../media/image77.wmf"/><Relationship Id="rId1" Type="http://schemas.openxmlformats.org/officeDocument/2006/relationships/oleObject" Target="../embeddings/oleObject64.bin"/></Relationships>
</file>

<file path=ppt/slides/_rels/slide65.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7.xml"/><Relationship Id="rId3" Type="http://schemas.openxmlformats.org/officeDocument/2006/relationships/image" Target="../media/image70.png"/><Relationship Id="rId2" Type="http://schemas.openxmlformats.org/officeDocument/2006/relationships/image" Target="../media/image79.wmf"/><Relationship Id="rId1" Type="http://schemas.openxmlformats.org/officeDocument/2006/relationships/oleObject" Target="../embeddings/oleObject70.bin"/></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75.bin"/><Relationship Id="rId8" Type="http://schemas.openxmlformats.org/officeDocument/2006/relationships/image" Target="../media/image83.wmf"/><Relationship Id="rId7" Type="http://schemas.openxmlformats.org/officeDocument/2006/relationships/oleObject" Target="../embeddings/oleObject74.bin"/><Relationship Id="rId6" Type="http://schemas.openxmlformats.org/officeDocument/2006/relationships/image" Target="../media/image82.wmf"/><Relationship Id="rId5" Type="http://schemas.openxmlformats.org/officeDocument/2006/relationships/oleObject" Target="../embeddings/oleObject73.bin"/><Relationship Id="rId4" Type="http://schemas.openxmlformats.org/officeDocument/2006/relationships/image" Target="../media/image81.wmf"/><Relationship Id="rId3" Type="http://schemas.openxmlformats.org/officeDocument/2006/relationships/oleObject" Target="../embeddings/oleObject72.bin"/><Relationship Id="rId2" Type="http://schemas.openxmlformats.org/officeDocument/2006/relationships/image" Target="../media/image80.wmf"/><Relationship Id="rId13" Type="http://schemas.openxmlformats.org/officeDocument/2006/relationships/vmlDrawing" Target="../drawings/vmlDrawing19.vml"/><Relationship Id="rId12" Type="http://schemas.openxmlformats.org/officeDocument/2006/relationships/slideLayout" Target="../slideLayouts/slideLayout7.xml"/><Relationship Id="rId11" Type="http://schemas.openxmlformats.org/officeDocument/2006/relationships/image" Target="../media/image85.png"/><Relationship Id="rId10" Type="http://schemas.openxmlformats.org/officeDocument/2006/relationships/image" Target="../media/image84.wmf"/><Relationship Id="rId1" Type="http://schemas.openxmlformats.org/officeDocument/2006/relationships/oleObject" Target="../embeddings/oleObject71.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7.png"/><Relationship Id="rId1" Type="http://schemas.openxmlformats.org/officeDocument/2006/relationships/image" Target="../media/image86.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png"/></Relationships>
</file>

<file path=ppt/slides/_rels/slide73.xml.rels><?xml version="1.0" encoding="UTF-8" standalone="yes"?>
<Relationships xmlns="http://schemas.openxmlformats.org/package/2006/relationships"><Relationship Id="rId5" Type="http://schemas.openxmlformats.org/officeDocument/2006/relationships/vmlDrawing" Target="../drawings/vmlDrawing20.vml"/><Relationship Id="rId4" Type="http://schemas.openxmlformats.org/officeDocument/2006/relationships/slideLayout" Target="../slideLayouts/slideLayout7.xml"/><Relationship Id="rId3" Type="http://schemas.openxmlformats.org/officeDocument/2006/relationships/image" Target="../media/image89.emf"/><Relationship Id="rId2" Type="http://schemas.openxmlformats.org/officeDocument/2006/relationships/image" Target="../media/image88.wmf"/><Relationship Id="rId1" Type="http://schemas.openxmlformats.org/officeDocument/2006/relationships/oleObject" Target="../embeddings/oleObject76.bin"/></Relationships>
</file>

<file path=ppt/slides/_rels/slide74.xml.rels><?xml version="1.0" encoding="UTF-8" standalone="yes"?>
<Relationships xmlns="http://schemas.openxmlformats.org/package/2006/relationships"><Relationship Id="rId7" Type="http://schemas.openxmlformats.org/officeDocument/2006/relationships/vmlDrawing" Target="../drawings/vmlDrawing21.vml"/><Relationship Id="rId6" Type="http://schemas.openxmlformats.org/officeDocument/2006/relationships/slideLayout" Target="../slideLayouts/slideLayout7.xml"/><Relationship Id="rId5" Type="http://schemas.openxmlformats.org/officeDocument/2006/relationships/image" Target="../media/image91.png"/><Relationship Id="rId4" Type="http://schemas.openxmlformats.org/officeDocument/2006/relationships/image" Target="../media/image90.wmf"/><Relationship Id="rId3" Type="http://schemas.openxmlformats.org/officeDocument/2006/relationships/oleObject" Target="../embeddings/oleObject78.bin"/><Relationship Id="rId2" Type="http://schemas.openxmlformats.org/officeDocument/2006/relationships/image" Target="../media/image88.wmf"/><Relationship Id="rId1" Type="http://schemas.openxmlformats.org/officeDocument/2006/relationships/oleObject" Target="../embeddings/oleObject77.bin"/></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3.png"/><Relationship Id="rId1" Type="http://schemas.openxmlformats.org/officeDocument/2006/relationships/image" Target="../media/image92.emf"/></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3.png"/></Relationships>
</file>

<file path=ppt/slides/_rels/slide77.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7.xml"/><Relationship Id="rId4" Type="http://schemas.openxmlformats.org/officeDocument/2006/relationships/image" Target="../media/image96.png"/><Relationship Id="rId3" Type="http://schemas.openxmlformats.org/officeDocument/2006/relationships/image" Target="../media/image95.wmf"/><Relationship Id="rId2" Type="http://schemas.openxmlformats.org/officeDocument/2006/relationships/oleObject" Target="../embeddings/oleObject79.bin"/><Relationship Id="rId1" Type="http://schemas.openxmlformats.org/officeDocument/2006/relationships/image" Target="../media/image94.emf"/></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01.emf"/><Relationship Id="rId4" Type="http://schemas.openxmlformats.org/officeDocument/2006/relationships/image" Target="../media/image100.emf"/><Relationship Id="rId3" Type="http://schemas.openxmlformats.org/officeDocument/2006/relationships/image" Target="../media/image99.emf"/><Relationship Id="rId2" Type="http://schemas.openxmlformats.org/officeDocument/2006/relationships/image" Target="../media/image98.emf"/><Relationship Id="rId1" Type="http://schemas.openxmlformats.org/officeDocument/2006/relationships/image" Target="../media/image9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25494" y="2314694"/>
            <a:ext cx="3281668" cy="830997"/>
          </a:xfrm>
          <a:prstGeom prst="rect">
            <a:avLst/>
          </a:prstGeom>
        </p:spPr>
        <p:txBody>
          <a:bodyPr wrap="none">
            <a:spAutoFit/>
          </a:bodyPr>
          <a:lstStyle/>
          <a:p>
            <a:r>
              <a:rPr lang="zh-CN" altLang="en-US" sz="4800" b="1" dirty="0" smtClean="0"/>
              <a:t>1</a:t>
            </a:r>
            <a:r>
              <a:rPr lang="en-US" altLang="zh-CN" sz="4800" b="1" dirty="0" smtClean="0"/>
              <a:t>8</a:t>
            </a:r>
            <a:r>
              <a:rPr lang="zh-CN" altLang="en-US" sz="4800" b="1" dirty="0"/>
              <a:t>　湿空气</a:t>
            </a:r>
            <a:endParaRPr lang="zh-CN" altLang="en-US" sz="4800" b="1"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36259" y="2343186"/>
            <a:ext cx="3017173" cy="769441"/>
          </a:xfrm>
          <a:prstGeom prst="rect">
            <a:avLst/>
          </a:prstGeom>
        </p:spPr>
        <p:txBody>
          <a:bodyPr wrap="none">
            <a:spAutoFit/>
          </a:bodyPr>
          <a:lstStyle/>
          <a:p>
            <a:r>
              <a:rPr lang="en-US" altLang="zh-CN" sz="4400" b="1" dirty="0" smtClean="0"/>
              <a:t>18-1</a:t>
            </a:r>
            <a:r>
              <a:rPr lang="zh-CN" altLang="en-US" sz="4400" b="1" dirty="0" smtClean="0"/>
              <a:t>　概述</a:t>
            </a:r>
            <a:endParaRPr lang="zh-CN" altLang="en-US" sz="4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82022" y="328801"/>
            <a:ext cx="4693914" cy="523220"/>
          </a:xfrm>
          <a:prstGeom prst="rect">
            <a:avLst/>
          </a:prstGeom>
        </p:spPr>
        <p:txBody>
          <a:bodyPr wrap="none">
            <a:spAutoFit/>
          </a:bodyPr>
          <a:lstStyle/>
          <a:p>
            <a:r>
              <a:rPr lang="zh-CN" altLang="en-US" sz="2800" b="1" dirty="0" smtClean="0"/>
              <a:t>本章讨论</a:t>
            </a:r>
            <a:r>
              <a:rPr lang="zh-CN" altLang="en-US" sz="2800" b="1" dirty="0"/>
              <a:t>气体-蒸气混合物。</a:t>
            </a:r>
            <a:endParaRPr lang="zh-CN" altLang="en-US" sz="2800" b="1" dirty="0"/>
          </a:p>
        </p:txBody>
      </p:sp>
      <p:sp>
        <p:nvSpPr>
          <p:cNvPr id="3" name="矩形 2"/>
          <p:cNvSpPr/>
          <p:nvPr/>
        </p:nvSpPr>
        <p:spPr>
          <a:xfrm>
            <a:off x="435638" y="1020733"/>
            <a:ext cx="8396935" cy="954107"/>
          </a:xfrm>
          <a:prstGeom prst="rect">
            <a:avLst/>
          </a:prstGeom>
        </p:spPr>
        <p:txBody>
          <a:bodyPr wrap="square">
            <a:spAutoFit/>
          </a:bodyPr>
          <a:lstStyle/>
          <a:p>
            <a:r>
              <a:rPr lang="zh-CN" altLang="en-US" sz="2800" b="1" dirty="0">
                <a:latin typeface="Times New Roman" panose="02020603050405020304" pitchFamily="18" charset="0"/>
                <a:cs typeface="Times New Roman" panose="02020603050405020304" pitchFamily="18" charset="0"/>
              </a:rPr>
              <a:t>实际上，“气体”和“蒸气”均属于气相物质，但为什么还要特别区分气体（gas）和蒸气（vapor）呢？ </a:t>
            </a:r>
            <a:endParaRPr lang="zh-CN" altLang="en-US" sz="2800" b="1" dirty="0">
              <a:latin typeface="Times New Roman" panose="02020603050405020304" pitchFamily="18" charset="0"/>
              <a:cs typeface="Times New Roman" panose="02020603050405020304" pitchFamily="18" charset="0"/>
            </a:endParaRPr>
          </a:p>
        </p:txBody>
      </p:sp>
      <p:sp>
        <p:nvSpPr>
          <p:cNvPr id="4" name="矩形 3"/>
          <p:cNvSpPr/>
          <p:nvPr/>
        </p:nvSpPr>
        <p:spPr>
          <a:xfrm>
            <a:off x="4151285" y="2840630"/>
            <a:ext cx="4572000" cy="2308324"/>
          </a:xfrm>
          <a:prstGeom prst="rect">
            <a:avLst/>
          </a:prstGeom>
        </p:spPr>
        <p:txBody>
          <a:bodyPr>
            <a:spAutoFit/>
          </a:bodyPr>
          <a:lstStyle/>
          <a:p>
            <a:pPr marL="342900" indent="-342900">
              <a:buFont typeface="Arial" panose="020B0604020202020204" pitchFamily="34" charset="0"/>
              <a:buChar char="•"/>
            </a:pPr>
            <a:r>
              <a:rPr lang="zh-CN" altLang="en-US" sz="2400" b="1" dirty="0"/>
              <a:t>人们习惯将温度高于物质临界温度的气相物质称为</a:t>
            </a:r>
            <a:r>
              <a:rPr lang="zh-CN" altLang="en-US" sz="2400" b="1" dirty="0" smtClean="0"/>
              <a:t>气体，</a:t>
            </a:r>
            <a:r>
              <a:rPr lang="zh-CN" altLang="en-US" sz="2400" b="1" dirty="0"/>
              <a:t>将温度低于物质临界温度的气相物质称为</a:t>
            </a:r>
            <a:r>
              <a:rPr lang="zh-CN" altLang="en-US" sz="2400" b="1" dirty="0" smtClean="0"/>
              <a:t>蒸气 </a:t>
            </a:r>
            <a:endParaRPr lang="en-US" altLang="zh-CN" sz="2400" b="1" dirty="0" smtClean="0"/>
          </a:p>
          <a:p>
            <a:pPr marL="342900" indent="-342900">
              <a:buFont typeface="Arial" panose="020B0604020202020204" pitchFamily="34" charset="0"/>
              <a:buChar char="•"/>
            </a:pPr>
            <a:r>
              <a:rPr lang="zh-CN" altLang="en-US" sz="2400" b="1" dirty="0" smtClean="0"/>
              <a:t>蒸气离饱和区很近，容易发生冷凝相变</a:t>
            </a:r>
            <a:endParaRPr lang="zh-CN" altLang="en-US" sz="2400" b="1"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8002" y="2143552"/>
            <a:ext cx="3962743" cy="3712786"/>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9113" y="573880"/>
            <a:ext cx="7752522" cy="4524315"/>
          </a:xfrm>
          <a:prstGeom prst="rect">
            <a:avLst/>
          </a:prstGeom>
        </p:spPr>
        <p:txBody>
          <a:bodyPr wrap="square">
            <a:spAutoFit/>
          </a:bodyPr>
          <a:lstStyle/>
          <a:p>
            <a:pPr marL="342900" indent="-342900">
              <a:buFont typeface="Arial" panose="020B0604020202020204" pitchFamily="34" charset="0"/>
              <a:buChar char="•"/>
            </a:pPr>
            <a:r>
              <a:rPr lang="zh-CN" altLang="en-US" sz="2400" b="1" dirty="0"/>
              <a:t>在</a:t>
            </a:r>
            <a:r>
              <a:rPr lang="zh-CN" altLang="en-US" sz="2400" b="1" dirty="0" smtClean="0"/>
              <a:t>1</a:t>
            </a:r>
            <a:r>
              <a:rPr lang="en-US" altLang="zh-CN" sz="2400" b="1" dirty="0" smtClean="0"/>
              <a:t>7</a:t>
            </a:r>
            <a:r>
              <a:rPr lang="zh-CN" altLang="en-US" sz="2400" b="1" dirty="0" smtClean="0"/>
              <a:t>章所讨论</a:t>
            </a:r>
            <a:r>
              <a:rPr lang="zh-CN" altLang="en-US" sz="2400" b="1" dirty="0"/>
              <a:t>的理想气体混合物中，假设任一组元均没有发生相变过程（认为各组元气体的温度均远高于各自的临界温度）。我们只需要分析单相气态，从而使问题大大</a:t>
            </a:r>
            <a:r>
              <a:rPr lang="zh-CN" altLang="en-US" sz="2400" b="1" dirty="0" smtClean="0"/>
              <a:t>简化</a:t>
            </a:r>
            <a:endParaRPr lang="en-US" altLang="zh-CN" sz="2400" b="1" dirty="0" smtClean="0"/>
          </a:p>
          <a:p>
            <a:pPr marL="342900" indent="-342900">
              <a:buFont typeface="Arial" panose="020B0604020202020204" pitchFamily="34" charset="0"/>
              <a:buChar char="•"/>
            </a:pPr>
            <a:r>
              <a:rPr lang="zh-CN" altLang="en-US" sz="2400" b="1" dirty="0"/>
              <a:t>但对于气体-蒸气混合物来说，热力过程中可能会发生蒸气的相变而出现两相共存的状态，比之前仅考虑单相气态要复杂得多</a:t>
            </a:r>
            <a:endParaRPr lang="zh-CN" altLang="en-US" sz="2400" b="1" dirty="0"/>
          </a:p>
          <a:p>
            <a:pPr marL="342900" indent="-342900">
              <a:buFont typeface="Arial" panose="020B0604020202020204" pitchFamily="34" charset="0"/>
              <a:buChar char="•"/>
            </a:pPr>
            <a:r>
              <a:rPr lang="zh-CN" altLang="en-US" sz="2400" b="1" dirty="0"/>
              <a:t>因此，有必要对气体-蒸气混合物的热力性质、参数的确定以及工程应用计算等进行专门的研究</a:t>
            </a:r>
            <a:r>
              <a:rPr lang="zh-CN" altLang="en-US" sz="2400" b="1" dirty="0" smtClean="0"/>
              <a:t>（</a:t>
            </a:r>
            <a:r>
              <a:rPr lang="zh-CN" altLang="en-US" sz="2400" b="1" dirty="0" smtClean="0"/>
              <a:t>本章），</a:t>
            </a:r>
            <a:r>
              <a:rPr lang="zh-CN" altLang="en-US" sz="2400" b="1" dirty="0"/>
              <a:t>以区别于不涉及相变的气体混合物的研究（</a:t>
            </a:r>
            <a:r>
              <a:rPr lang="zh-CN" altLang="en-US" sz="2400" b="1" dirty="0" smtClean="0"/>
              <a:t>1</a:t>
            </a:r>
            <a:r>
              <a:rPr lang="en-US" altLang="zh-CN" sz="2400" b="1" dirty="0" smtClean="0"/>
              <a:t>7</a:t>
            </a:r>
            <a:r>
              <a:rPr lang="zh-CN" altLang="en-US" sz="2400" b="1" dirty="0" smtClean="0"/>
              <a:t>章） </a:t>
            </a:r>
            <a:endParaRPr lang="zh-CN" altLang="en-US" sz="2400" b="1" dirty="0"/>
          </a:p>
          <a:p>
            <a:pPr marL="342900" indent="-342900">
              <a:buFont typeface="Arial" panose="020B0604020202020204" pitchFamily="34" charset="0"/>
              <a:buChar char="•"/>
            </a:pPr>
            <a:endParaRPr lang="en-US" altLang="zh-CN" sz="2400" b="1" dirty="0" smtClean="0"/>
          </a:p>
          <a:p>
            <a:pPr marL="342900" indent="-342900">
              <a:buFont typeface="Arial" panose="020B0604020202020204" pitchFamily="34" charset="0"/>
              <a:buChar char="•"/>
            </a:pP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43339" y="495805"/>
            <a:ext cx="7752522" cy="1383665"/>
          </a:xfrm>
          <a:prstGeom prst="rect">
            <a:avLst/>
          </a:prstGeom>
        </p:spPr>
        <p:txBody>
          <a:bodyPr wrap="square">
            <a:spAutoFit/>
          </a:bodyPr>
          <a:lstStyle/>
          <a:p>
            <a:r>
              <a:rPr lang="zh-CN" altLang="en-US" sz="2800" b="1" dirty="0"/>
              <a:t>本章</a:t>
            </a:r>
            <a:r>
              <a:rPr lang="zh-CN" altLang="en-US" sz="2800" b="1" dirty="0" smtClean="0"/>
              <a:t>讨论的是干</a:t>
            </a:r>
            <a:r>
              <a:rPr lang="zh-CN" altLang="en-US" sz="2800" b="1" dirty="0"/>
              <a:t>空气-</a:t>
            </a:r>
            <a:r>
              <a:rPr lang="zh-CN" altLang="en-US" sz="2800" b="1" dirty="0" smtClean="0"/>
              <a:t>水蒸气的混合物</a:t>
            </a:r>
            <a:r>
              <a:rPr lang="zh-CN" altLang="en-US" sz="2800" b="1" dirty="0"/>
              <a:t>，这里的干空气是指完全不含水蒸气的空气。人们通常将这种混合物称为湿空气，即</a:t>
            </a:r>
            <a:endParaRPr lang="zh-CN" altLang="en-US" sz="2800" b="1" dirty="0"/>
          </a:p>
        </p:txBody>
      </p:sp>
      <p:sp>
        <p:nvSpPr>
          <p:cNvPr id="4" name="矩形 3"/>
          <p:cNvSpPr/>
          <p:nvPr/>
        </p:nvSpPr>
        <p:spPr>
          <a:xfrm>
            <a:off x="2160808" y="2392138"/>
            <a:ext cx="4517583" cy="523220"/>
          </a:xfrm>
          <a:prstGeom prst="rect">
            <a:avLst/>
          </a:prstGeom>
        </p:spPr>
        <p:txBody>
          <a:bodyPr wrap="none">
            <a:spAutoFit/>
          </a:bodyPr>
          <a:lstStyle/>
          <a:p>
            <a:r>
              <a:rPr lang="zh-CN" altLang="en-US" sz="2800" b="1" dirty="0" smtClean="0">
                <a:solidFill>
                  <a:prstClr val="black"/>
                </a:solidFill>
              </a:rPr>
              <a:t>湿空气 </a:t>
            </a:r>
            <a:r>
              <a:rPr lang="en-US" altLang="zh-CN" sz="2800" b="1" dirty="0" smtClean="0">
                <a:solidFill>
                  <a:prstClr val="black"/>
                </a:solidFill>
              </a:rPr>
              <a:t>= </a:t>
            </a:r>
            <a:r>
              <a:rPr lang="zh-CN" altLang="en-US" sz="2800" b="1" dirty="0" smtClean="0">
                <a:solidFill>
                  <a:srgbClr val="FF0000"/>
                </a:solidFill>
              </a:rPr>
              <a:t>干空气 </a:t>
            </a:r>
            <a:r>
              <a:rPr lang="en-US" altLang="zh-CN" sz="2800" b="1" dirty="0" smtClean="0">
                <a:solidFill>
                  <a:prstClr val="black"/>
                </a:solidFill>
              </a:rPr>
              <a:t>+ </a:t>
            </a:r>
            <a:r>
              <a:rPr lang="zh-CN" altLang="en-US" sz="2800" b="1" dirty="0" smtClean="0">
                <a:solidFill>
                  <a:srgbClr val="FF0000"/>
                </a:solidFill>
              </a:rPr>
              <a:t>水蒸气</a:t>
            </a:r>
            <a:endParaRPr lang="zh-CN" altLang="en-US"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83095" y="495156"/>
            <a:ext cx="8163340" cy="1031051"/>
          </a:xfrm>
          <a:prstGeom prst="rect">
            <a:avLst/>
          </a:prstGeom>
        </p:spPr>
        <p:txBody>
          <a:bodyPr wrap="square">
            <a:spAutoFit/>
          </a:bodyPr>
          <a:lstStyle/>
          <a:p>
            <a:pPr marL="285750" indent="-285750">
              <a:spcBef>
                <a:spcPts val="600"/>
              </a:spcBef>
              <a:buFont typeface="Arial" panose="020B0604020202020204" pitchFamily="34" charset="0"/>
              <a:buChar char="•"/>
            </a:pPr>
            <a:r>
              <a:rPr lang="zh-CN" altLang="en-US" sz="2800" b="1" dirty="0"/>
              <a:t>未饱和湿空气——干空气和</a:t>
            </a:r>
            <a:r>
              <a:rPr lang="zh-CN" altLang="en-US" sz="2800" b="1" dirty="0">
                <a:solidFill>
                  <a:srgbClr val="FF0000"/>
                </a:solidFill>
              </a:rPr>
              <a:t>过热水蒸气</a:t>
            </a:r>
            <a:r>
              <a:rPr lang="zh-CN" altLang="en-US" sz="2800" b="1" dirty="0"/>
              <a:t>的</a:t>
            </a:r>
            <a:r>
              <a:rPr lang="zh-CN" altLang="en-US" sz="2800" b="1" dirty="0" smtClean="0"/>
              <a:t>混合物</a:t>
            </a:r>
            <a:endParaRPr lang="en-US" altLang="zh-CN" sz="2800" b="1" dirty="0" smtClean="0"/>
          </a:p>
          <a:p>
            <a:pPr marL="285750" indent="-285750">
              <a:spcBef>
                <a:spcPts val="600"/>
              </a:spcBef>
              <a:buFont typeface="Arial" panose="020B0604020202020204" pitchFamily="34" charset="0"/>
              <a:buChar char="•"/>
            </a:pPr>
            <a:r>
              <a:rPr lang="zh-CN" altLang="en-US" sz="2800" b="1" dirty="0" smtClean="0"/>
              <a:t>饱和湿空气</a:t>
            </a:r>
            <a:r>
              <a:rPr lang="en-US" altLang="zh-CN" sz="2800" b="1" dirty="0" smtClean="0"/>
              <a:t>——</a:t>
            </a:r>
            <a:r>
              <a:rPr lang="zh-CN" altLang="en-US" sz="2800" b="1" dirty="0" smtClean="0"/>
              <a:t>干空气和</a:t>
            </a:r>
            <a:r>
              <a:rPr lang="zh-CN" altLang="en-US" sz="2800" b="1" dirty="0" smtClean="0">
                <a:solidFill>
                  <a:srgbClr val="FF0000"/>
                </a:solidFill>
              </a:rPr>
              <a:t>饱和水蒸气</a:t>
            </a:r>
            <a:r>
              <a:rPr lang="zh-CN" altLang="en-US" sz="2800" b="1" dirty="0" smtClean="0"/>
              <a:t>的混合物</a:t>
            </a:r>
            <a:endParaRPr lang="en-US" altLang="zh-CN" sz="2800" b="1" dirty="0"/>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84610" y="2211761"/>
            <a:ext cx="3962743" cy="370668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56591" y="515682"/>
            <a:ext cx="7626626" cy="4832092"/>
          </a:xfrm>
          <a:prstGeom prst="rect">
            <a:avLst/>
          </a:prstGeom>
        </p:spPr>
        <p:txBody>
          <a:bodyPr wrap="square">
            <a:spAutoFit/>
          </a:bodyPr>
          <a:lstStyle/>
          <a:p>
            <a:pPr marL="342900" indent="-342900">
              <a:buFont typeface="Arial" panose="020B0604020202020204" pitchFamily="34" charset="0"/>
              <a:buChar char="•"/>
            </a:pPr>
            <a:r>
              <a:rPr lang="zh-CN" altLang="en-US" sz="2800" b="1" dirty="0"/>
              <a:t>涉及湿空气的常见工业过程有：空气温度与湿度调节过程、物体的干燥过程、冷却水塔中的水冷却过程</a:t>
            </a:r>
            <a:r>
              <a:rPr lang="zh-CN" altLang="en-US" sz="2800" b="1" dirty="0" smtClean="0"/>
              <a:t>等</a:t>
            </a:r>
            <a:endParaRPr lang="en-US" altLang="zh-CN" sz="2800" b="1" dirty="0" smtClean="0"/>
          </a:p>
          <a:p>
            <a:pPr marL="342900" indent="-342900">
              <a:buFont typeface="Arial" panose="020B0604020202020204" pitchFamily="34" charset="0"/>
              <a:buChar char="•"/>
            </a:pPr>
            <a:r>
              <a:rPr lang="zh-CN" altLang="en-US" sz="2800" b="1" dirty="0"/>
              <a:t>在这些过程中，湿空气作为工质，其水蒸气含量的多少具有重要的作用，此时就不能将湿空气作为单相气体混合物处理，而要讨论相变</a:t>
            </a:r>
            <a:r>
              <a:rPr lang="zh-CN" altLang="en-US" sz="2800" b="1" dirty="0" smtClean="0"/>
              <a:t>过程</a:t>
            </a:r>
            <a:endParaRPr lang="en-US" altLang="zh-CN" sz="2800" b="1" dirty="0" smtClean="0"/>
          </a:p>
          <a:p>
            <a:pPr marL="342900" indent="-342900">
              <a:buFont typeface="Arial" panose="020B0604020202020204" pitchFamily="34" charset="0"/>
              <a:buChar char="•"/>
            </a:pPr>
            <a:r>
              <a:rPr lang="zh-CN" altLang="en-US" sz="2800" b="1" dirty="0"/>
              <a:t>日常生活中的很多自然现象（如雨、雪、霜、雹、雾等）也都是由于湿空气中水蒸气的相变所致</a:t>
            </a:r>
            <a:endParaRPr lang="zh-CN" altLang="en-US" sz="2800" b="1" dirty="0"/>
          </a:p>
          <a:p>
            <a:pPr marL="342900" indent="-342900">
              <a:buFont typeface="Arial" panose="020B0604020202020204" pitchFamily="34" charset="0"/>
              <a:buChar char="•"/>
            </a:pP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63218" y="1349439"/>
            <a:ext cx="7639878" cy="4401205"/>
          </a:xfrm>
          <a:prstGeom prst="rect">
            <a:avLst/>
          </a:prstGeom>
        </p:spPr>
        <p:txBody>
          <a:bodyPr wrap="square">
            <a:spAutoFit/>
          </a:bodyPr>
          <a:lstStyle/>
          <a:p>
            <a:pPr marL="342900" indent="-342900">
              <a:buFont typeface="Arial" panose="020B0604020202020204" pitchFamily="34" charset="0"/>
              <a:buChar char="•"/>
            </a:pPr>
            <a:r>
              <a:rPr lang="zh-CN" altLang="en-US" sz="2800" b="1" dirty="0" smtClean="0"/>
              <a:t>把</a:t>
            </a:r>
            <a:r>
              <a:rPr lang="zh-CN" altLang="en-US" sz="2800" b="1" dirty="0"/>
              <a:t>干空气和水蒸气的气相混合物看作是理想气体混合物（</a:t>
            </a:r>
            <a:r>
              <a:rPr lang="zh-CN" altLang="en-US" sz="2800" b="1" dirty="0" smtClean="0"/>
              <a:t>1</a:t>
            </a:r>
            <a:r>
              <a:rPr lang="en-US" altLang="zh-CN" sz="2800" b="1" dirty="0" smtClean="0"/>
              <a:t>7</a:t>
            </a:r>
            <a:r>
              <a:rPr lang="zh-CN" altLang="en-US" sz="2800" b="1" dirty="0" smtClean="0"/>
              <a:t>章的</a:t>
            </a:r>
            <a:r>
              <a:rPr lang="zh-CN" altLang="en-US" sz="2800" b="1" dirty="0"/>
              <a:t>定律和计算式可用）；</a:t>
            </a:r>
            <a:endParaRPr lang="zh-CN" altLang="en-US" sz="2800" b="1" dirty="0"/>
          </a:p>
          <a:p>
            <a:pPr marL="342900" indent="-342900">
              <a:buFont typeface="Arial" panose="020B0604020202020204" pitchFamily="34" charset="0"/>
              <a:buChar char="•"/>
            </a:pPr>
            <a:r>
              <a:rPr lang="zh-CN" altLang="en-US" sz="2800" b="1" dirty="0"/>
              <a:t>当水蒸气凝结成液相或固相时，液相或固相中不包含溶解的空气；</a:t>
            </a:r>
            <a:endParaRPr lang="zh-CN" altLang="en-US" sz="2800" b="1" dirty="0"/>
          </a:p>
          <a:p>
            <a:pPr marL="342900" indent="-342900">
              <a:buFont typeface="Arial" panose="020B0604020202020204" pitchFamily="34" charset="0"/>
              <a:buChar char="•"/>
            </a:pPr>
            <a:r>
              <a:rPr lang="zh-CN" altLang="en-US" sz="2800" b="1" dirty="0"/>
              <a:t>空气的存在不影响水蒸气与其凝聚相之间的</a:t>
            </a:r>
            <a:r>
              <a:rPr lang="zh-CN" altLang="en-US" sz="2800" b="1" dirty="0" smtClean="0"/>
              <a:t>相平衡，</a:t>
            </a:r>
            <a:r>
              <a:rPr lang="zh-CN" altLang="en-US" sz="2800" b="1" dirty="0"/>
              <a:t>也就是说，虽然湿空气中水蒸气的压力（等于它在混合物中的分压力）与凝聚相的压力（为混合物的总压力）不相同，但相平衡温度仍按照水蒸气的分压力所对应的饱和温度计算</a:t>
            </a:r>
            <a:endParaRPr lang="zh-CN" altLang="en-US" sz="2800" b="1" dirty="0"/>
          </a:p>
        </p:txBody>
      </p:sp>
      <p:sp>
        <p:nvSpPr>
          <p:cNvPr id="5" name="矩形 4"/>
          <p:cNvSpPr/>
          <p:nvPr/>
        </p:nvSpPr>
        <p:spPr>
          <a:xfrm>
            <a:off x="406407" y="331424"/>
            <a:ext cx="3275256" cy="553998"/>
          </a:xfrm>
          <a:prstGeom prst="rect">
            <a:avLst/>
          </a:prstGeom>
        </p:spPr>
        <p:txBody>
          <a:bodyPr wrap="none">
            <a:spAutoFit/>
          </a:bodyPr>
          <a:lstStyle/>
          <a:p>
            <a:r>
              <a:rPr lang="zh-CN" altLang="en-US" sz="3000" b="1" dirty="0">
                <a:solidFill>
                  <a:srgbClr val="FF0000"/>
                </a:solidFill>
              </a:rPr>
              <a:t>分析湿空气时假定</a:t>
            </a:r>
            <a:endParaRPr lang="zh-CN" altLang="en-US" sz="30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3"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440332" y="2627658"/>
            <a:ext cx="3573463" cy="409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11188" y="236090"/>
            <a:ext cx="6316153" cy="523220"/>
          </a:xfrm>
          <a:prstGeom prst="rect">
            <a:avLst/>
          </a:prstGeom>
        </p:spPr>
        <p:txBody>
          <a:bodyPr wrap="none">
            <a:spAutoFit/>
          </a:bodyPr>
          <a:lstStyle/>
          <a:p>
            <a:r>
              <a:rPr lang="zh-CN" altLang="en-US" sz="2800" b="1" dirty="0"/>
              <a:t>以上假定在高压下可能导致较大的误差</a:t>
            </a:r>
            <a:endParaRPr lang="zh-CN" altLang="en-US" sz="2800" b="1" dirty="0"/>
          </a:p>
        </p:txBody>
      </p:sp>
      <p:sp>
        <p:nvSpPr>
          <p:cNvPr id="3" name="矩形 2"/>
          <p:cNvSpPr/>
          <p:nvPr/>
        </p:nvSpPr>
        <p:spPr>
          <a:xfrm>
            <a:off x="669235" y="961662"/>
            <a:ext cx="8017566" cy="1569660"/>
          </a:xfrm>
          <a:prstGeom prst="rect">
            <a:avLst/>
          </a:prstGeom>
        </p:spPr>
        <p:txBody>
          <a:bodyPr wrap="square">
            <a:spAutoFit/>
          </a:bodyPr>
          <a:lstStyle/>
          <a:p>
            <a:pPr marL="342900" indent="-342900">
              <a:buFont typeface="Arial" panose="020B0604020202020204" pitchFamily="34" charset="0"/>
              <a:buChar char="•"/>
            </a:pPr>
            <a:r>
              <a:rPr lang="zh-CN" altLang="en-US" sz="2400" b="1" dirty="0"/>
              <a:t>但在工程中遇到的湿空气多处于大气压力或更低压力，而湿空气中水蒸气的分压力会更</a:t>
            </a:r>
            <a:r>
              <a:rPr lang="zh-CN" altLang="en-US" sz="2400" b="1" dirty="0" smtClean="0"/>
              <a:t>低</a:t>
            </a:r>
            <a:endParaRPr lang="zh-CN" altLang="en-US" sz="2400" b="1" dirty="0"/>
          </a:p>
          <a:p>
            <a:pPr marL="342900" indent="-342900">
              <a:buFont typeface="Arial" panose="020B0604020202020204" pitchFamily="34" charset="0"/>
              <a:buChar char="•"/>
            </a:pPr>
            <a:r>
              <a:rPr lang="zh-CN" altLang="en-US" sz="2400" b="1" dirty="0"/>
              <a:t>在这种压力范围内，处于过热状态的水蒸气通常可视为理想气体，此种处理引起的误差通常很小</a:t>
            </a:r>
            <a:endParaRPr lang="zh-CN" altLang="en-US" sz="2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文本占位符 202753"/>
          <p:cNvSpPr>
            <a:spLocks noGrp="1"/>
          </p:cNvSpPr>
          <p:nvPr>
            <p:ph idx="1"/>
          </p:nvPr>
        </p:nvSpPr>
        <p:spPr>
          <a:xfrm>
            <a:off x="900113" y="1692827"/>
            <a:ext cx="7085012" cy="3527425"/>
          </a:xfrm>
        </p:spPr>
        <p:txBody>
          <a:bodyPr/>
          <a:lstStyle/>
          <a:p>
            <a:pPr>
              <a:buFont typeface="Wingdings" panose="05000000000000000000" pitchFamily="2" charset="2"/>
              <a:buNone/>
            </a:pPr>
            <a:r>
              <a:rPr lang="zh-CN" altLang="en-US" noProof="1">
                <a:ea typeface="宋体" panose="02010600030101010101" pitchFamily="2" charset="-122"/>
              </a:rPr>
              <a:t>　</a:t>
            </a:r>
            <a:r>
              <a:rPr lang="en-US" altLang="zh-CN" b="1" noProof="1" smtClean="0">
                <a:latin typeface="Times New Roman" panose="02020603050405020304" pitchFamily="18" charset="0"/>
                <a:ea typeface="宋体" panose="02010600030101010101" pitchFamily="2" charset="-122"/>
                <a:cs typeface="Times New Roman" panose="02020603050405020304" pitchFamily="18" charset="0"/>
              </a:rPr>
              <a:t>a——</a:t>
            </a:r>
            <a:r>
              <a:rPr lang="zh-CN" altLang="en-US" b="1" noProof="1" smtClean="0">
                <a:latin typeface="Times New Roman" panose="02020603050405020304" pitchFamily="18" charset="0"/>
                <a:ea typeface="宋体" panose="02010600030101010101" pitchFamily="2" charset="-122"/>
                <a:cs typeface="Times New Roman" panose="02020603050405020304" pitchFamily="18" charset="0"/>
              </a:rPr>
              <a:t>干</a:t>
            </a:r>
            <a:r>
              <a:rPr lang="zh-CN" altLang="en-US" b="1" noProof="1">
                <a:latin typeface="Times New Roman" panose="02020603050405020304" pitchFamily="18" charset="0"/>
                <a:ea typeface="宋体" panose="02010600030101010101" pitchFamily="2" charset="-122"/>
                <a:cs typeface="Times New Roman" panose="02020603050405020304" pitchFamily="18" charset="0"/>
              </a:rPr>
              <a:t>空气（</a:t>
            </a:r>
            <a:r>
              <a:rPr lang="en-US" altLang="zh-CN" b="1" noProof="1">
                <a:latin typeface="Times New Roman" panose="02020603050405020304" pitchFamily="18" charset="0"/>
                <a:ea typeface="宋体" panose="02010600030101010101" pitchFamily="2" charset="-122"/>
                <a:cs typeface="Times New Roman" panose="02020603050405020304" pitchFamily="18" charset="0"/>
              </a:rPr>
              <a:t>air</a:t>
            </a:r>
            <a:r>
              <a:rPr lang="zh-CN" altLang="en-US" b="1" noProof="1">
                <a:latin typeface="Times New Roman" panose="02020603050405020304" pitchFamily="18" charset="0"/>
                <a:ea typeface="宋体" panose="02010600030101010101" pitchFamily="2" charset="-122"/>
                <a:cs typeface="Times New Roman" panose="02020603050405020304" pitchFamily="18" charset="0"/>
              </a:rPr>
              <a:t>）</a:t>
            </a:r>
            <a:endParaRPr lang="zh-CN" altLang="en-US" b="1" noProof="1">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None/>
            </a:pPr>
            <a:r>
              <a:rPr lang="zh-CN" altLang="en-US" b="1" noProof="1">
                <a:latin typeface="Times New Roman" panose="02020603050405020304" pitchFamily="18" charset="0"/>
                <a:ea typeface="宋体" panose="02010600030101010101" pitchFamily="2" charset="-122"/>
                <a:cs typeface="Times New Roman" panose="02020603050405020304" pitchFamily="18" charset="0"/>
              </a:rPr>
              <a:t>　</a:t>
            </a:r>
            <a:r>
              <a:rPr lang="en-US" altLang="zh-CN" b="1" noProof="1" smtClean="0">
                <a:latin typeface="Times New Roman" panose="02020603050405020304" pitchFamily="18" charset="0"/>
                <a:ea typeface="宋体" panose="02010600030101010101" pitchFamily="2" charset="-122"/>
                <a:cs typeface="Times New Roman" panose="02020603050405020304" pitchFamily="18" charset="0"/>
              </a:rPr>
              <a:t>v——</a:t>
            </a:r>
            <a:r>
              <a:rPr lang="zh-CN" altLang="en-US" b="1" noProof="1" smtClean="0">
                <a:latin typeface="Times New Roman" panose="02020603050405020304" pitchFamily="18" charset="0"/>
                <a:ea typeface="宋体" panose="02010600030101010101" pitchFamily="2" charset="-122"/>
                <a:cs typeface="Times New Roman" panose="02020603050405020304" pitchFamily="18" charset="0"/>
              </a:rPr>
              <a:t>水蒸气</a:t>
            </a:r>
            <a:r>
              <a:rPr lang="zh-CN" altLang="en-US" b="1" noProof="1">
                <a:latin typeface="Times New Roman" panose="02020603050405020304" pitchFamily="18" charset="0"/>
                <a:ea typeface="宋体" panose="02010600030101010101" pitchFamily="2" charset="-122"/>
                <a:cs typeface="Times New Roman" panose="02020603050405020304" pitchFamily="18" charset="0"/>
              </a:rPr>
              <a:t>（</a:t>
            </a:r>
            <a:r>
              <a:rPr lang="en-US" altLang="zh-CN" b="1" noProof="1">
                <a:latin typeface="Times New Roman" panose="02020603050405020304" pitchFamily="18" charset="0"/>
                <a:ea typeface="宋体" panose="02010600030101010101" pitchFamily="2" charset="-122"/>
                <a:cs typeface="Times New Roman" panose="02020603050405020304" pitchFamily="18" charset="0"/>
              </a:rPr>
              <a:t>vapor</a:t>
            </a:r>
            <a:r>
              <a:rPr lang="zh-CN" altLang="en-US" b="1" noProof="1">
                <a:latin typeface="Times New Roman" panose="02020603050405020304" pitchFamily="18" charset="0"/>
                <a:ea typeface="宋体" panose="02010600030101010101" pitchFamily="2" charset="-122"/>
                <a:cs typeface="Times New Roman" panose="02020603050405020304" pitchFamily="18" charset="0"/>
              </a:rPr>
              <a:t>）</a:t>
            </a:r>
            <a:endParaRPr lang="zh-CN" altLang="en-US" b="1" noProof="1">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None/>
            </a:pPr>
            <a:r>
              <a:rPr lang="zh-CN" altLang="en-US" b="1" noProof="1">
                <a:latin typeface="Times New Roman" panose="02020603050405020304" pitchFamily="18" charset="0"/>
                <a:ea typeface="宋体" panose="02010600030101010101" pitchFamily="2" charset="-122"/>
                <a:cs typeface="Times New Roman" panose="02020603050405020304" pitchFamily="18" charset="0"/>
              </a:rPr>
              <a:t>　</a:t>
            </a:r>
            <a:r>
              <a:rPr lang="en-US" altLang="zh-CN" b="1" noProof="1" smtClean="0">
                <a:latin typeface="Times New Roman" panose="02020603050405020304" pitchFamily="18" charset="0"/>
                <a:ea typeface="宋体" panose="02010600030101010101" pitchFamily="2" charset="-122"/>
                <a:cs typeface="Times New Roman" panose="02020603050405020304" pitchFamily="18" charset="0"/>
              </a:rPr>
              <a:t>sat——</a:t>
            </a:r>
            <a:r>
              <a:rPr lang="zh-CN" altLang="en-US" b="1" noProof="1" smtClean="0">
                <a:latin typeface="Times New Roman" panose="02020603050405020304" pitchFamily="18" charset="0"/>
                <a:ea typeface="宋体" panose="02010600030101010101" pitchFamily="2" charset="-122"/>
                <a:cs typeface="Times New Roman" panose="02020603050405020304" pitchFamily="18" charset="0"/>
              </a:rPr>
              <a:t>饱和</a:t>
            </a:r>
            <a:r>
              <a:rPr lang="zh-CN" altLang="en-US" b="1" noProof="1">
                <a:latin typeface="Times New Roman" panose="02020603050405020304" pitchFamily="18" charset="0"/>
                <a:ea typeface="宋体" panose="02010600030101010101" pitchFamily="2" charset="-122"/>
                <a:cs typeface="Times New Roman" panose="02020603050405020304" pitchFamily="18" charset="0"/>
              </a:rPr>
              <a:t>水蒸气（</a:t>
            </a:r>
            <a:r>
              <a:rPr lang="en-US" altLang="zh-CN" b="1" noProof="1">
                <a:latin typeface="Times New Roman" panose="02020603050405020304" pitchFamily="18" charset="0"/>
                <a:ea typeface="宋体" panose="02010600030101010101" pitchFamily="2" charset="-122"/>
                <a:cs typeface="Times New Roman" panose="02020603050405020304" pitchFamily="18" charset="0"/>
              </a:rPr>
              <a:t>saturated vapor</a:t>
            </a:r>
            <a:r>
              <a:rPr lang="zh-CN" altLang="en-US" b="1" noProof="1">
                <a:latin typeface="Times New Roman" panose="02020603050405020304" pitchFamily="18" charset="0"/>
                <a:ea typeface="宋体" panose="02010600030101010101" pitchFamily="2" charset="-122"/>
                <a:cs typeface="Times New Roman" panose="02020603050405020304" pitchFamily="18" charset="0"/>
              </a:rPr>
              <a:t>）</a:t>
            </a:r>
            <a:endParaRPr lang="zh-CN" altLang="en-US" b="1" noProof="1">
              <a:latin typeface="Times New Roman" panose="02020603050405020304" pitchFamily="18" charset="0"/>
              <a:ea typeface="宋体" panose="02010600030101010101" pitchFamily="2" charset="-122"/>
              <a:cs typeface="Times New Roman" panose="02020603050405020304" pitchFamily="18" charset="0"/>
            </a:endParaRPr>
          </a:p>
          <a:p>
            <a:pPr>
              <a:buFont typeface="Wingdings" panose="05000000000000000000" pitchFamily="2" charset="2"/>
              <a:buNone/>
            </a:pPr>
            <a:r>
              <a:rPr lang="zh-CN" altLang="en-US" b="1" noProof="1">
                <a:latin typeface="Times New Roman" panose="02020603050405020304" pitchFamily="18" charset="0"/>
                <a:ea typeface="宋体" panose="02010600030101010101" pitchFamily="2" charset="-122"/>
                <a:cs typeface="Times New Roman" panose="02020603050405020304" pitchFamily="18" charset="0"/>
              </a:rPr>
              <a:t>　 </a:t>
            </a:r>
            <a:r>
              <a:rPr lang="en-US" altLang="zh-CN" b="1" noProof="1"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noProof="1" smtClean="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无</a:t>
            </a:r>
            <a:r>
              <a:rPr lang="zh-CN" altLang="en-US" b="1" noProof="1">
                <a:solidFill>
                  <a:srgbClr val="0070C0"/>
                </a:solidFill>
                <a:latin typeface="Times New Roman" panose="02020603050405020304" pitchFamily="18" charset="0"/>
                <a:ea typeface="宋体" panose="02010600030101010101" pitchFamily="2" charset="-122"/>
                <a:cs typeface="Times New Roman" panose="02020603050405020304" pitchFamily="18" charset="0"/>
              </a:rPr>
              <a:t>下标为湿空气参数</a:t>
            </a:r>
            <a:endParaRPr lang="zh-CN" altLang="en-US" b="1" noProof="1">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697327" y="759551"/>
            <a:ext cx="1988045" cy="523220"/>
          </a:xfrm>
          <a:prstGeom prst="rect">
            <a:avLst/>
          </a:prstGeom>
        </p:spPr>
        <p:txBody>
          <a:bodyPr wrap="none">
            <a:spAutoFit/>
          </a:bodyPr>
          <a:lstStyle/>
          <a:p>
            <a:r>
              <a:rPr lang="zh-CN" altLang="en-US" sz="2800" b="1" dirty="0" smtClean="0">
                <a:solidFill>
                  <a:srgbClr val="FF0000"/>
                </a:solidFill>
              </a:rPr>
              <a:t>下标约定：</a:t>
            </a:r>
            <a:endParaRPr lang="zh-CN" altLang="en-US" sz="2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36123" y="1475169"/>
            <a:ext cx="6391493" cy="769441"/>
          </a:xfrm>
          <a:prstGeom prst="rect">
            <a:avLst/>
          </a:prstGeom>
        </p:spPr>
        <p:txBody>
          <a:bodyPr wrap="none">
            <a:spAutoFit/>
          </a:bodyPr>
          <a:lstStyle/>
          <a:p>
            <a:r>
              <a:rPr lang="zh-CN" altLang="en-US" sz="4400" b="1" dirty="0" smtClean="0"/>
              <a:t>1</a:t>
            </a:r>
            <a:r>
              <a:rPr lang="en-US" altLang="zh-CN" sz="4400" b="1" dirty="0" smtClean="0"/>
              <a:t>8</a:t>
            </a:r>
            <a:r>
              <a:rPr lang="zh-CN" altLang="en-US" sz="4400" b="1" dirty="0" smtClean="0"/>
              <a:t>-</a:t>
            </a:r>
            <a:r>
              <a:rPr lang="zh-CN" altLang="en-US" sz="4400" b="1" dirty="0"/>
              <a:t>2  湿空气的状态参数</a:t>
            </a:r>
            <a:endParaRPr lang="zh-CN" altLang="en-US" sz="4400" b="1" dirty="0"/>
          </a:p>
        </p:txBody>
      </p:sp>
      <p:sp>
        <p:nvSpPr>
          <p:cNvPr id="3" name="矩形 2"/>
          <p:cNvSpPr/>
          <p:nvPr/>
        </p:nvSpPr>
        <p:spPr>
          <a:xfrm>
            <a:off x="1013792" y="3590836"/>
            <a:ext cx="7030278" cy="1569660"/>
          </a:xfrm>
          <a:prstGeom prst="rect">
            <a:avLst/>
          </a:prstGeom>
        </p:spPr>
        <p:txBody>
          <a:bodyPr wrap="square">
            <a:spAutoFit/>
          </a:bodyPr>
          <a:lstStyle/>
          <a:p>
            <a:pPr marL="342900" indent="-342900">
              <a:buFont typeface="Arial" panose="020B0604020202020204" pitchFamily="34" charset="0"/>
              <a:buChar char="•"/>
            </a:pPr>
            <a:r>
              <a:rPr lang="zh-CN" altLang="en-US" sz="2400" dirty="0">
                <a:solidFill>
                  <a:srgbClr val="0070C0"/>
                </a:solidFill>
              </a:rPr>
              <a:t>一些状态参数（如分压力和焓）在描述混合物时就已经讨论过</a:t>
            </a:r>
            <a:endParaRPr lang="zh-CN" altLang="en-US" sz="2400" dirty="0">
              <a:solidFill>
                <a:srgbClr val="0070C0"/>
              </a:solidFill>
            </a:endParaRPr>
          </a:p>
          <a:p>
            <a:pPr marL="342900" indent="-342900">
              <a:buFont typeface="Arial" panose="020B0604020202020204" pitchFamily="34" charset="0"/>
              <a:buChar char="•"/>
            </a:pPr>
            <a:r>
              <a:rPr lang="zh-CN" altLang="en-US" sz="2400" dirty="0">
                <a:solidFill>
                  <a:srgbClr val="0070C0"/>
                </a:solidFill>
              </a:rPr>
              <a:t>还有一些状态参数（如湿度和含湿量）是为了描述湿空气而新引入的 </a:t>
            </a:r>
            <a:endParaRPr lang="zh-CN" altLang="en-US" sz="2400" dirty="0">
              <a:solidFill>
                <a:srgbClr val="0070C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12"/>
          <p:cNvSpPr txBox="1">
            <a:spLocks noChangeArrowheads="1"/>
          </p:cNvSpPr>
          <p:nvPr/>
        </p:nvSpPr>
        <p:spPr bwMode="auto">
          <a:xfrm>
            <a:off x="1979613" y="1268413"/>
            <a:ext cx="51831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i="1" dirty="0">
                <a:latin typeface="Times New Roman" panose="02020603050405020304" pitchFamily="18" charset="0"/>
                <a:ea typeface="宋体" panose="02010600030101010101" pitchFamily="2" charset="-122"/>
              </a:rPr>
              <a:t>                </a:t>
            </a:r>
            <a:r>
              <a:rPr lang="en-US" altLang="zh-CN" sz="3200" b="1" i="1" dirty="0">
                <a:latin typeface="Times New Roman" panose="02020603050405020304" pitchFamily="18" charset="0"/>
                <a:ea typeface="宋体" panose="02010600030101010101" pitchFamily="2" charset="-122"/>
              </a:rPr>
              <a:t>p</a:t>
            </a:r>
            <a:r>
              <a:rPr lang="en-US" altLang="zh-CN" sz="3200" b="1" dirty="0">
                <a:latin typeface="Times New Roman" panose="02020603050405020304" pitchFamily="18" charset="0"/>
                <a:ea typeface="宋体" panose="02010600030101010101" pitchFamily="2" charset="-122"/>
              </a:rPr>
              <a:t> = </a:t>
            </a:r>
            <a:r>
              <a:rPr lang="en-US" altLang="zh-CN" sz="3200" b="1" i="1" dirty="0" err="1">
                <a:latin typeface="Times New Roman" panose="02020603050405020304" pitchFamily="18" charset="0"/>
                <a:ea typeface="宋体" panose="02010600030101010101" pitchFamily="2" charset="-122"/>
              </a:rPr>
              <a:t>p</a:t>
            </a:r>
            <a:r>
              <a:rPr lang="en-US" altLang="zh-CN" sz="3200" b="1" baseline="-25000" dirty="0" err="1">
                <a:latin typeface="Times New Roman" panose="02020603050405020304" pitchFamily="18" charset="0"/>
                <a:ea typeface="宋体" panose="02010600030101010101" pitchFamily="2" charset="-122"/>
              </a:rPr>
              <a:t>a</a:t>
            </a:r>
            <a:r>
              <a:rPr lang="en-US" altLang="zh-CN" sz="3200" b="1" dirty="0" err="1">
                <a:latin typeface="Times New Roman" panose="02020603050405020304" pitchFamily="18" charset="0"/>
                <a:ea typeface="宋体" panose="02010600030101010101" pitchFamily="2" charset="-122"/>
              </a:rPr>
              <a:t>+</a:t>
            </a:r>
            <a:r>
              <a:rPr lang="en-US" altLang="zh-CN" sz="3200" b="1" i="1" dirty="0" err="1">
                <a:latin typeface="Times New Roman" panose="02020603050405020304" pitchFamily="18" charset="0"/>
                <a:ea typeface="宋体" panose="02010600030101010101" pitchFamily="2" charset="-122"/>
              </a:rPr>
              <a:t>p</a:t>
            </a:r>
            <a:r>
              <a:rPr lang="en-US" altLang="zh-CN" sz="3200" b="1" baseline="-25000" dirty="0" err="1">
                <a:latin typeface="Times New Roman" panose="02020603050405020304" pitchFamily="18" charset="0"/>
                <a:ea typeface="宋体" panose="02010600030101010101" pitchFamily="2" charset="-122"/>
              </a:rPr>
              <a:t>v</a:t>
            </a:r>
            <a:r>
              <a:rPr lang="en-US" altLang="zh-CN" sz="3200" b="1" dirty="0">
                <a:latin typeface="Times New Roman" panose="02020603050405020304" pitchFamily="18" charset="0"/>
                <a:ea typeface="宋体" panose="02010600030101010101" pitchFamily="2" charset="-122"/>
              </a:rPr>
              <a:t> </a:t>
            </a:r>
            <a:endParaRPr lang="zh-CN" altLang="en-US" sz="3200" b="1" dirty="0">
              <a:latin typeface="Times New Roman" panose="02020603050405020304" pitchFamily="18" charset="0"/>
              <a:ea typeface="宋体" panose="02010600030101010101" pitchFamily="2" charset="-122"/>
            </a:endParaRPr>
          </a:p>
        </p:txBody>
      </p:sp>
      <p:sp>
        <p:nvSpPr>
          <p:cNvPr id="38918" name="Text Box 12"/>
          <p:cNvSpPr txBox="1">
            <a:spLocks noChangeArrowheads="1"/>
          </p:cNvSpPr>
          <p:nvPr/>
        </p:nvSpPr>
        <p:spPr bwMode="auto">
          <a:xfrm>
            <a:off x="1979613" y="5624019"/>
            <a:ext cx="518318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400" b="1" i="1" dirty="0">
                <a:latin typeface="Times New Roman" panose="02020603050405020304" pitchFamily="18" charset="0"/>
                <a:ea typeface="宋体" panose="02010600030101010101" pitchFamily="2" charset="-122"/>
              </a:rPr>
              <a:t>                </a:t>
            </a:r>
            <a:r>
              <a:rPr lang="en-US" altLang="zh-CN" sz="3200" b="1" i="1" dirty="0" err="1">
                <a:latin typeface="Times New Roman" panose="02020603050405020304" pitchFamily="18" charset="0"/>
                <a:ea typeface="宋体" panose="02010600030101010101" pitchFamily="2" charset="-122"/>
              </a:rPr>
              <a:t>p</a:t>
            </a:r>
            <a:r>
              <a:rPr lang="en-US" altLang="zh-CN" sz="3200" b="1" baseline="-25000" dirty="0" err="1">
                <a:latin typeface="Times New Roman" panose="02020603050405020304" pitchFamily="18" charset="0"/>
                <a:ea typeface="宋体" panose="02010600030101010101" pitchFamily="2" charset="-122"/>
              </a:rPr>
              <a:t>b</a:t>
            </a:r>
            <a:r>
              <a:rPr lang="en-US" altLang="zh-CN" sz="3200" b="1" dirty="0">
                <a:latin typeface="Times New Roman" panose="02020603050405020304" pitchFamily="18" charset="0"/>
                <a:ea typeface="宋体" panose="02010600030101010101" pitchFamily="2" charset="-122"/>
              </a:rPr>
              <a:t> = </a:t>
            </a:r>
            <a:r>
              <a:rPr lang="en-US" altLang="zh-CN" sz="3200" b="1" i="1" dirty="0" err="1">
                <a:latin typeface="Times New Roman" panose="02020603050405020304" pitchFamily="18" charset="0"/>
                <a:ea typeface="宋体" panose="02010600030101010101" pitchFamily="2" charset="-122"/>
              </a:rPr>
              <a:t>p</a:t>
            </a:r>
            <a:r>
              <a:rPr lang="en-US" altLang="zh-CN" sz="3200" b="1" baseline="-25000" dirty="0" err="1">
                <a:latin typeface="Times New Roman" panose="02020603050405020304" pitchFamily="18" charset="0"/>
                <a:ea typeface="宋体" panose="02010600030101010101" pitchFamily="2" charset="-122"/>
              </a:rPr>
              <a:t>a</a:t>
            </a:r>
            <a:r>
              <a:rPr lang="en-US" altLang="zh-CN" sz="3200" b="1" dirty="0" err="1">
                <a:latin typeface="Times New Roman" panose="02020603050405020304" pitchFamily="18" charset="0"/>
                <a:ea typeface="宋体" panose="02010600030101010101" pitchFamily="2" charset="-122"/>
              </a:rPr>
              <a:t>+</a:t>
            </a:r>
            <a:r>
              <a:rPr lang="en-US" altLang="zh-CN" sz="3200" b="1" i="1" dirty="0" err="1">
                <a:latin typeface="Times New Roman" panose="02020603050405020304" pitchFamily="18" charset="0"/>
                <a:ea typeface="宋体" panose="02010600030101010101" pitchFamily="2" charset="-122"/>
              </a:rPr>
              <a:t>p</a:t>
            </a:r>
            <a:r>
              <a:rPr lang="en-US" altLang="zh-CN" sz="3200" b="1" baseline="-25000" dirty="0" err="1">
                <a:latin typeface="Times New Roman" panose="02020603050405020304" pitchFamily="18" charset="0"/>
                <a:ea typeface="宋体" panose="02010600030101010101" pitchFamily="2" charset="-122"/>
              </a:rPr>
              <a:t>v</a:t>
            </a:r>
            <a:r>
              <a:rPr lang="en-US" altLang="zh-CN" sz="3200" b="1" dirty="0">
                <a:latin typeface="Times New Roman" panose="02020603050405020304" pitchFamily="18" charset="0"/>
                <a:ea typeface="宋体" panose="02010600030101010101" pitchFamily="2" charset="-122"/>
              </a:rPr>
              <a:t> </a:t>
            </a:r>
            <a:endParaRPr lang="zh-CN" altLang="en-US" sz="3200" b="1" dirty="0">
              <a:latin typeface="Times New Roman" panose="02020603050405020304" pitchFamily="18" charset="0"/>
              <a:ea typeface="宋体" panose="02010600030101010101" pitchFamily="2" charset="-122"/>
            </a:endParaRPr>
          </a:p>
        </p:txBody>
      </p:sp>
      <p:sp>
        <p:nvSpPr>
          <p:cNvPr id="2" name="矩形 1"/>
          <p:cNvSpPr/>
          <p:nvPr/>
        </p:nvSpPr>
        <p:spPr>
          <a:xfrm>
            <a:off x="611188" y="485487"/>
            <a:ext cx="4083169" cy="584775"/>
          </a:xfrm>
          <a:prstGeom prst="rect">
            <a:avLst/>
          </a:prstGeom>
        </p:spPr>
        <p:txBody>
          <a:bodyPr wrap="none">
            <a:spAutoFit/>
          </a:bodyPr>
          <a:lstStyle/>
          <a:p>
            <a:r>
              <a:rPr lang="zh-CN" altLang="en-US" sz="3200" b="1" dirty="0"/>
              <a:t>一、总压力与分压力 </a:t>
            </a:r>
            <a:endParaRPr lang="zh-CN" altLang="en-US" sz="3200" b="1" dirty="0"/>
          </a:p>
        </p:txBody>
      </p:sp>
      <p:sp>
        <p:nvSpPr>
          <p:cNvPr id="3" name="矩形 2"/>
          <p:cNvSpPr/>
          <p:nvPr/>
        </p:nvSpPr>
        <p:spPr>
          <a:xfrm>
            <a:off x="964128" y="2885764"/>
            <a:ext cx="3845925" cy="523220"/>
          </a:xfrm>
          <a:prstGeom prst="rect">
            <a:avLst/>
          </a:prstGeom>
        </p:spPr>
        <p:txBody>
          <a:bodyPr wrap="none">
            <a:spAutoFit/>
          </a:bodyPr>
          <a:lstStyle/>
          <a:p>
            <a:r>
              <a:rPr lang="en-US" altLang="zh-CN" sz="2800" b="1" i="1" dirty="0">
                <a:latin typeface="Times New Roman" panose="02020603050405020304" pitchFamily="18" charset="0"/>
                <a:ea typeface="宋体" panose="02010600030101010101" pitchFamily="2" charset="-122"/>
              </a:rPr>
              <a:t>p</a:t>
            </a:r>
            <a:r>
              <a:rPr lang="en-US" altLang="zh-CN" sz="2800" b="1" baseline="-25000" dirty="0">
                <a:latin typeface="Times New Roman" panose="02020603050405020304" pitchFamily="18" charset="0"/>
                <a:ea typeface="宋体" panose="02010600030101010101" pitchFamily="2" charset="-122"/>
              </a:rPr>
              <a:t>a</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干空气的分压力</a:t>
            </a:r>
            <a:endParaRPr lang="zh-CN" altLang="en-US" sz="2800" b="1" dirty="0">
              <a:latin typeface="Times New Roman" panose="02020603050405020304" pitchFamily="18" charset="0"/>
              <a:cs typeface="Times New Roman" panose="02020603050405020304" pitchFamily="18" charset="0"/>
            </a:endParaRPr>
          </a:p>
        </p:txBody>
      </p:sp>
      <p:sp>
        <p:nvSpPr>
          <p:cNvPr id="11" name="矩形 10"/>
          <p:cNvSpPr/>
          <p:nvPr/>
        </p:nvSpPr>
        <p:spPr>
          <a:xfrm>
            <a:off x="964128" y="2201241"/>
            <a:ext cx="3607078" cy="523220"/>
          </a:xfrm>
          <a:prstGeom prst="rect">
            <a:avLst/>
          </a:prstGeom>
        </p:spPr>
        <p:txBody>
          <a:bodyPr wrap="none">
            <a:spAutoFit/>
          </a:bodyPr>
          <a:lstStyle/>
          <a:p>
            <a:r>
              <a:rPr lang="en-US" altLang="zh-CN" sz="2800" b="1" i="1" dirty="0" smtClean="0">
                <a:latin typeface="Times New Roman" panose="02020603050405020304" pitchFamily="18" charset="0"/>
                <a:cs typeface="Times New Roman" panose="02020603050405020304" pitchFamily="18" charset="0"/>
              </a:rPr>
              <a:t>p</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湿空气的总压力</a:t>
            </a:r>
            <a:endParaRPr lang="zh-CN" altLang="en-US" sz="2800" b="1" dirty="0">
              <a:latin typeface="Times New Roman" panose="02020603050405020304" pitchFamily="18" charset="0"/>
              <a:cs typeface="Times New Roman" panose="02020603050405020304" pitchFamily="18" charset="0"/>
            </a:endParaRPr>
          </a:p>
        </p:txBody>
      </p:sp>
      <p:sp>
        <p:nvSpPr>
          <p:cNvPr id="12" name="矩形 11"/>
          <p:cNvSpPr/>
          <p:nvPr/>
        </p:nvSpPr>
        <p:spPr>
          <a:xfrm>
            <a:off x="964128" y="3593830"/>
            <a:ext cx="3727302" cy="523220"/>
          </a:xfrm>
          <a:prstGeom prst="rect">
            <a:avLst/>
          </a:prstGeom>
        </p:spPr>
        <p:txBody>
          <a:bodyPr wrap="none">
            <a:spAutoFit/>
          </a:bodyPr>
          <a:lstStyle/>
          <a:p>
            <a:r>
              <a:rPr lang="en-US" altLang="zh-CN" sz="2800" b="1" i="1" dirty="0" err="1" smtClean="0">
                <a:latin typeface="Times New Roman" panose="02020603050405020304" pitchFamily="18" charset="0"/>
                <a:ea typeface="宋体" panose="02010600030101010101" pitchFamily="2" charset="-122"/>
              </a:rPr>
              <a:t>p</a:t>
            </a:r>
            <a:r>
              <a:rPr lang="en-US" altLang="zh-CN" sz="2800" b="1" baseline="-25000" dirty="0" err="1" smtClean="0">
                <a:latin typeface="Times New Roman" panose="02020603050405020304" pitchFamily="18" charset="0"/>
                <a:ea typeface="宋体" panose="02010600030101010101" pitchFamily="2" charset="-122"/>
              </a:rPr>
              <a:t>v</a:t>
            </a:r>
            <a:r>
              <a:rPr lang="en-US" altLang="zh-CN" sz="2800" b="1" dirty="0" smtClean="0">
                <a:latin typeface="Times New Roman" panose="02020603050405020304" pitchFamily="18" charset="0"/>
                <a:cs typeface="Times New Roman" panose="02020603050405020304" pitchFamily="18" charset="0"/>
              </a:rPr>
              <a:t>——</a:t>
            </a:r>
            <a:r>
              <a:rPr lang="zh-CN" altLang="en-US" sz="2800" b="1" dirty="0" smtClean="0">
                <a:latin typeface="Times New Roman" panose="02020603050405020304" pitchFamily="18" charset="0"/>
                <a:cs typeface="Times New Roman" panose="02020603050405020304" pitchFamily="18" charset="0"/>
              </a:rPr>
              <a:t>水蒸气的分压力</a:t>
            </a:r>
            <a:endParaRPr lang="zh-CN" altLang="en-US" sz="2800" b="1" dirty="0">
              <a:latin typeface="Times New Roman" panose="02020603050405020304" pitchFamily="18" charset="0"/>
              <a:cs typeface="Times New Roman" panose="02020603050405020304" pitchFamily="18" charset="0"/>
            </a:endParaRPr>
          </a:p>
        </p:txBody>
      </p:sp>
      <p:sp>
        <p:nvSpPr>
          <p:cNvPr id="4" name="矩形 3"/>
          <p:cNvSpPr/>
          <p:nvPr/>
        </p:nvSpPr>
        <p:spPr>
          <a:xfrm>
            <a:off x="788504" y="4549258"/>
            <a:ext cx="7686261" cy="954107"/>
          </a:xfrm>
          <a:prstGeom prst="rect">
            <a:avLst/>
          </a:prstGeom>
        </p:spPr>
        <p:txBody>
          <a:bodyPr wrap="square">
            <a:spAutoFit/>
          </a:bodyPr>
          <a:lstStyle/>
          <a:p>
            <a:r>
              <a:rPr lang="zh-CN" altLang="en-US" sz="2800" b="1" dirty="0"/>
              <a:t>工程上用作工质的湿空气通常就是大气，这时，它的总压力就等于</a:t>
            </a:r>
            <a:r>
              <a:rPr lang="zh-CN" altLang="en-US" sz="2800" b="1" dirty="0" smtClean="0"/>
              <a:t>大气压力</a:t>
            </a:r>
            <a:r>
              <a:rPr lang="en-US" altLang="zh-CN" sz="2800" b="1" i="1" dirty="0" err="1" smtClean="0">
                <a:latin typeface="Times New Roman" panose="02020603050405020304" pitchFamily="18" charset="0"/>
                <a:ea typeface="宋体" panose="02010600030101010101" pitchFamily="2" charset="-122"/>
              </a:rPr>
              <a:t>p</a:t>
            </a:r>
            <a:r>
              <a:rPr lang="en-US" altLang="zh-CN" sz="2800" b="1" baseline="-25000" dirty="0" err="1" smtClean="0">
                <a:latin typeface="Times New Roman" panose="02020603050405020304" pitchFamily="18" charset="0"/>
                <a:ea typeface="宋体" panose="02010600030101010101" pitchFamily="2" charset="-122"/>
              </a:rPr>
              <a:t>b</a:t>
            </a:r>
            <a:r>
              <a:rPr lang="zh-CN" altLang="en-US" sz="2800" b="1" dirty="0" smtClean="0"/>
              <a:t> </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矩形 190472"/>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5" name="矩形 4"/>
          <p:cNvSpPr/>
          <p:nvPr/>
        </p:nvSpPr>
        <p:spPr>
          <a:xfrm>
            <a:off x="756962" y="458983"/>
            <a:ext cx="4716356" cy="584775"/>
          </a:xfrm>
          <a:prstGeom prst="rect">
            <a:avLst/>
          </a:prstGeom>
        </p:spPr>
        <p:txBody>
          <a:bodyPr wrap="none">
            <a:spAutoFit/>
          </a:bodyPr>
          <a:lstStyle/>
          <a:p>
            <a:r>
              <a:rPr lang="zh-CN" altLang="en-US" sz="3200" b="1" dirty="0" smtClean="0"/>
              <a:t>二、绝对湿度和相对湿度</a:t>
            </a:r>
            <a:endParaRPr lang="zh-CN" altLang="en-US" sz="3200" b="1" dirty="0"/>
          </a:p>
        </p:txBody>
      </p:sp>
      <p:sp>
        <p:nvSpPr>
          <p:cNvPr id="2" name="矩形 1"/>
          <p:cNvSpPr/>
          <p:nvPr/>
        </p:nvSpPr>
        <p:spPr>
          <a:xfrm>
            <a:off x="756961" y="1762036"/>
            <a:ext cx="7532273" cy="2677656"/>
          </a:xfrm>
          <a:prstGeom prst="rect">
            <a:avLst/>
          </a:prstGeom>
        </p:spPr>
        <p:txBody>
          <a:bodyPr wrap="square">
            <a:spAutoFit/>
          </a:bodyPr>
          <a:lstStyle/>
          <a:p>
            <a:pPr marL="457200" indent="-457200">
              <a:buFont typeface="Arial" panose="020B0604020202020204" pitchFamily="34" charset="0"/>
              <a:buChar char="•"/>
            </a:pPr>
            <a:r>
              <a:rPr lang="zh-CN" altLang="en-US" sz="2800" b="1" dirty="0" smtClean="0"/>
              <a:t>湿空气中包含的水蒸气量是许多工业过程中人们关心的问题</a:t>
            </a:r>
            <a:endParaRPr lang="en-US" altLang="zh-CN" sz="2800" b="1" dirty="0" smtClean="0"/>
          </a:p>
          <a:p>
            <a:pPr marL="457200" indent="-457200">
              <a:buFont typeface="Arial" panose="020B0604020202020204" pitchFamily="34" charset="0"/>
              <a:buChar char="•"/>
            </a:pPr>
            <a:r>
              <a:rPr lang="zh-CN" altLang="en-US" sz="2800" b="1" dirty="0" smtClean="0"/>
              <a:t>在</a:t>
            </a:r>
            <a:r>
              <a:rPr lang="zh-CN" altLang="en-US" sz="2800" b="1" dirty="0"/>
              <a:t>某一温度下湿空气中水蒸气分压力的大小虽然能反映出水蒸气含量的多少，但为了方便热力计算，人们引入了两个反映湿空气成分的参数：</a:t>
            </a:r>
            <a:r>
              <a:rPr lang="zh-CN" altLang="en-US" sz="2800" b="1" dirty="0">
                <a:solidFill>
                  <a:srgbClr val="FF0000"/>
                </a:solidFill>
              </a:rPr>
              <a:t>绝对湿度和</a:t>
            </a:r>
            <a:r>
              <a:rPr lang="zh-CN" altLang="en-US" sz="2800" b="1" dirty="0" smtClean="0">
                <a:solidFill>
                  <a:srgbClr val="FF0000"/>
                </a:solidFill>
              </a:rPr>
              <a:t>相对湿度</a:t>
            </a:r>
            <a:r>
              <a:rPr lang="zh-CN" altLang="en-US" sz="2800" b="1" dirty="0" smtClean="0"/>
              <a:t> </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矩形 192515"/>
          <p:cNvSpPr>
            <a:spLocks noChangeArrowheads="1"/>
          </p:cNvSpPr>
          <p:nvPr/>
        </p:nvSpPr>
        <p:spPr bwMode="auto">
          <a:xfrm>
            <a:off x="827088" y="600423"/>
            <a:ext cx="748982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3200" b="1" dirty="0">
                <a:solidFill>
                  <a:srgbClr val="FF0000"/>
                </a:solidFill>
                <a:latin typeface="黑体" panose="02010609060101010101" charset="-122"/>
                <a:ea typeface="黑体" panose="02010609060101010101" charset="-122"/>
              </a:rPr>
              <a:t>1</a:t>
            </a:r>
            <a:r>
              <a:rPr lang="zh-CN" altLang="en-US" sz="3200" b="1" dirty="0">
                <a:solidFill>
                  <a:srgbClr val="FF0000"/>
                </a:solidFill>
                <a:latin typeface="黑体" panose="02010609060101010101" charset="-122"/>
                <a:ea typeface="黑体" panose="02010609060101010101" charset="-122"/>
              </a:rPr>
              <a:t>、绝对湿度</a:t>
            </a:r>
            <a:endParaRPr lang="zh-CN" altLang="en-US" sz="3200" b="1" dirty="0">
              <a:solidFill>
                <a:srgbClr val="FF0000"/>
              </a:solidFill>
              <a:latin typeface="黑体" panose="02010609060101010101" charset="-122"/>
              <a:ea typeface="黑体" panose="02010609060101010101" charset="-122"/>
            </a:endParaRPr>
          </a:p>
          <a:p>
            <a:pPr eaLnBrk="0" hangingPunct="0"/>
            <a:endParaRPr lang="zh-CN" altLang="en-US" sz="3200" b="1" dirty="0">
              <a:solidFill>
                <a:srgbClr val="FF0000"/>
              </a:solidFill>
              <a:latin typeface="黑体" panose="02010609060101010101" charset="-122"/>
              <a:ea typeface="黑体" panose="02010609060101010101" charset="-122"/>
            </a:endParaRPr>
          </a:p>
          <a:p>
            <a:pPr marL="457200" indent="-457200" eaLnBrk="0" hangingPunct="0">
              <a:buFont typeface="Arial" panose="020B0604020202020204" pitchFamily="34" charset="0"/>
              <a:buChar char="•"/>
            </a:pPr>
            <a:r>
              <a:rPr lang="zh-CN" altLang="en-US" sz="3200" b="1" dirty="0" smtClean="0">
                <a:latin typeface="黑体" panose="02010609060101010101" charset="-122"/>
                <a:ea typeface="黑体" panose="02010609060101010101" charset="-122"/>
              </a:rPr>
              <a:t>指</a:t>
            </a:r>
            <a:r>
              <a:rPr lang="zh-CN" altLang="en-US" sz="3200" b="1" dirty="0">
                <a:latin typeface="黑体" panose="02010609060101010101" charset="-122"/>
                <a:ea typeface="黑体" panose="02010609060101010101" charset="-122"/>
              </a:rPr>
              <a:t>单位体积的湿空气中包含的水蒸气的</a:t>
            </a:r>
            <a:r>
              <a:rPr lang="zh-CN" altLang="en-US" sz="3200" b="1" dirty="0" smtClean="0">
                <a:latin typeface="黑体" panose="02010609060101010101" charset="-122"/>
                <a:ea typeface="黑体" panose="02010609060101010101" charset="-122"/>
              </a:rPr>
              <a:t>质量</a:t>
            </a:r>
            <a:endParaRPr lang="en-US" altLang="zh-CN" sz="3200" b="1" dirty="0" smtClean="0">
              <a:latin typeface="黑体" panose="02010609060101010101" charset="-122"/>
              <a:ea typeface="黑体" panose="02010609060101010101" charset="-122"/>
            </a:endParaRPr>
          </a:p>
          <a:p>
            <a:pPr marL="457200" indent="-457200" eaLnBrk="0" hangingPunct="0">
              <a:buFont typeface="Arial" panose="020B0604020202020204" pitchFamily="34" charset="0"/>
              <a:buChar char="•"/>
            </a:pPr>
            <a:r>
              <a:rPr lang="zh-CN" altLang="en-US" sz="3200" b="1" dirty="0">
                <a:latin typeface="黑体" panose="02010609060101010101" charset="-122"/>
                <a:ea typeface="黑体" panose="02010609060101010101" charset="-122"/>
              </a:rPr>
              <a:t>因为湿空气中水蒸气具有与湿空气相同的体积，所以绝对湿度就是湿空气中水蒸气的</a:t>
            </a:r>
            <a:r>
              <a:rPr lang="zh-CN" altLang="en-US" sz="3200" b="1" dirty="0" smtClean="0">
                <a:latin typeface="黑体" panose="02010609060101010101" charset="-122"/>
                <a:ea typeface="黑体" panose="02010609060101010101" charset="-122"/>
              </a:rPr>
              <a:t>密度</a:t>
            </a:r>
            <a:endParaRPr lang="en-US" altLang="zh-CN" sz="3200" b="1" dirty="0" smtClean="0">
              <a:latin typeface="黑体" panose="02010609060101010101" charset="-122"/>
              <a:ea typeface="黑体" panose="02010609060101010101" charset="-122"/>
            </a:endParaRPr>
          </a:p>
        </p:txBody>
      </p:sp>
      <p:sp>
        <p:nvSpPr>
          <p:cNvPr id="40963" name="矩形 192523"/>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0964" name="对象 192525"/>
          <p:cNvGraphicFramePr>
            <a:graphicFrameLocks noChangeAspect="1"/>
          </p:cNvGraphicFramePr>
          <p:nvPr/>
        </p:nvGraphicFramePr>
        <p:xfrm>
          <a:off x="1178063" y="4512581"/>
          <a:ext cx="2406876" cy="1096805"/>
        </p:xfrm>
        <a:graphic>
          <a:graphicData uri="http://schemas.openxmlformats.org/presentationml/2006/ole">
            <mc:AlternateContent xmlns:mc="http://schemas.openxmlformats.org/markup-compatibility/2006">
              <mc:Choice xmlns:v="urn:schemas-microsoft-com:vml" Requires="v">
                <p:oleObj spid="_x0000_s3170" name="" r:id="rId1" imgW="1002665" imgH="457200" progId="Equation.DSMT4">
                  <p:embed/>
                </p:oleObj>
              </mc:Choice>
              <mc:Fallback>
                <p:oleObj name="" r:id="rId1" imgW="1002665" imgH="457200" progId="Equation.DSMT4">
                  <p:embed/>
                  <p:pic>
                    <p:nvPicPr>
                      <p:cNvPr id="0" name="对象 192525"/>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8063" y="4512581"/>
                        <a:ext cx="2406876" cy="109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0965" name="矩形 192527"/>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0966" name="对象 192526"/>
          <p:cNvGraphicFramePr/>
          <p:nvPr/>
        </p:nvGraphicFramePr>
        <p:xfrm>
          <a:off x="4752147" y="4578383"/>
          <a:ext cx="2592388" cy="482600"/>
        </p:xfrm>
        <a:graphic>
          <a:graphicData uri="http://schemas.openxmlformats.org/presentationml/2006/ole">
            <mc:AlternateContent xmlns:mc="http://schemas.openxmlformats.org/markup-compatibility/2006">
              <mc:Choice xmlns:v="urn:schemas-microsoft-com:vml" Requires="v">
                <p:oleObj spid="_x0000_s3171" name="" r:id="rId3" imgW="1384300" imgH="254000" progId="Equation.DSMT4">
                  <p:embed/>
                </p:oleObj>
              </mc:Choice>
              <mc:Fallback>
                <p:oleObj name="" r:id="rId3" imgW="1384300" imgH="254000" progId="Equation.DSMT4">
                  <p:embed/>
                  <p:pic>
                    <p:nvPicPr>
                      <p:cNvPr id="0" name="对象 19252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2147" y="4578383"/>
                        <a:ext cx="259238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4" name="直接箭头连接符 3"/>
          <p:cNvCxnSpPr/>
          <p:nvPr/>
        </p:nvCxnSpPr>
        <p:spPr>
          <a:xfrm flipV="1">
            <a:off x="5035826" y="5060984"/>
            <a:ext cx="6627" cy="4385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684833" y="5499513"/>
            <a:ext cx="2659702" cy="461665"/>
          </a:xfrm>
          <a:prstGeom prst="rect">
            <a:avLst/>
          </a:prstGeom>
        </p:spPr>
        <p:txBody>
          <a:bodyPr wrap="none">
            <a:spAutoFit/>
          </a:bodyPr>
          <a:lstStyle/>
          <a:p>
            <a:r>
              <a:rPr lang="zh-CN" altLang="en-US" sz="2400" b="1" dirty="0" smtClean="0">
                <a:latin typeface="黑体" panose="02010609060101010101" charset="-122"/>
                <a:ea typeface="黑体" panose="02010609060101010101" charset="-122"/>
              </a:rPr>
              <a:t>水蒸气的气体常数</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矩形 193540"/>
          <p:cNvSpPr>
            <a:spLocks noChangeArrowheads="1"/>
          </p:cNvSpPr>
          <p:nvPr/>
        </p:nvSpPr>
        <p:spPr bwMode="auto">
          <a:xfrm>
            <a:off x="468313" y="1433548"/>
            <a:ext cx="820896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342900" indent="-342900" eaLnBrk="0" hangingPunct="0">
              <a:buFont typeface="Arial" panose="020B0604020202020204" pitchFamily="34" charset="0"/>
              <a:buChar char="•"/>
            </a:pPr>
            <a:r>
              <a:rPr lang="zh-CN" altLang="en-US" sz="2400" b="1" dirty="0">
                <a:latin typeface="Times New Roman" panose="02020603050405020304" pitchFamily="18" charset="0"/>
                <a:ea typeface="黑体" panose="02010609060101010101" charset="-122"/>
              </a:rPr>
              <a:t>在一定温度下，湿空气中水蒸气的分压力</a:t>
            </a:r>
            <a:r>
              <a:rPr lang="en-US" altLang="zh-CN" sz="2400" b="1" i="1" dirty="0" err="1">
                <a:latin typeface="Times New Roman" panose="02020603050405020304" pitchFamily="18" charset="0"/>
                <a:ea typeface="黑体" panose="02010609060101010101" charset="-122"/>
              </a:rPr>
              <a:t>p</a:t>
            </a:r>
            <a:r>
              <a:rPr lang="en-US" altLang="zh-CN" sz="2400" b="1" baseline="-25000" dirty="0" err="1">
                <a:latin typeface="Times New Roman" panose="02020603050405020304" pitchFamily="18" charset="0"/>
                <a:ea typeface="黑体" panose="02010609060101010101" charset="-122"/>
              </a:rPr>
              <a:t>v</a:t>
            </a:r>
            <a:r>
              <a:rPr lang="zh-CN" altLang="en-US" sz="2400" b="1" dirty="0">
                <a:latin typeface="Times New Roman" panose="02020603050405020304" pitchFamily="18" charset="0"/>
                <a:ea typeface="黑体" panose="02010609060101010101" charset="-122"/>
              </a:rPr>
              <a:t>越高，其绝对湿度越大 </a:t>
            </a:r>
            <a:endParaRPr lang="en-US" altLang="zh-CN" sz="2400" b="1" dirty="0" smtClean="0">
              <a:latin typeface="Times New Roman" panose="02020603050405020304" pitchFamily="18" charset="0"/>
              <a:ea typeface="黑体" panose="02010609060101010101" charset="-122"/>
            </a:endParaRPr>
          </a:p>
          <a:p>
            <a:pPr marL="342900" indent="-342900" eaLnBrk="0" hangingPunct="0">
              <a:buFont typeface="Arial" panose="020B0604020202020204" pitchFamily="34" charset="0"/>
              <a:buChar char="•"/>
            </a:pPr>
            <a:r>
              <a:rPr lang="zh-CN" altLang="en-US" sz="2400" b="1" dirty="0">
                <a:latin typeface="黑体" panose="02010609060101010101" charset="-122"/>
                <a:ea typeface="黑体" panose="02010609060101010101" charset="-122"/>
              </a:rPr>
              <a:t>但是，在一定温度下，水蒸气的分压力不可能超过其相应的饱和压力（因为达到饱和压力时，水蒸气开始</a:t>
            </a:r>
            <a:r>
              <a:rPr lang="zh-CN" altLang="en-US" sz="2400" b="1" dirty="0" smtClean="0">
                <a:latin typeface="黑体" panose="02010609060101010101" charset="-122"/>
                <a:ea typeface="黑体" panose="02010609060101010101" charset="-122"/>
              </a:rPr>
              <a:t>凝结）</a:t>
            </a:r>
            <a:endParaRPr lang="en-US" altLang="zh-CN" sz="2400" b="1" dirty="0" smtClean="0">
              <a:latin typeface="黑体" panose="02010609060101010101" charset="-122"/>
              <a:ea typeface="黑体" panose="02010609060101010101" charset="-122"/>
            </a:endParaRPr>
          </a:p>
          <a:p>
            <a:pPr marL="342900" indent="-342900" eaLnBrk="0" hangingPunct="0">
              <a:buFont typeface="Arial" panose="020B0604020202020204" pitchFamily="34" charset="0"/>
              <a:buChar char="•"/>
            </a:pPr>
            <a:r>
              <a:rPr lang="zh-CN" altLang="en-US" sz="2400" b="1" dirty="0">
                <a:latin typeface="黑体" panose="02010609060101010101" charset="-122"/>
                <a:ea typeface="黑体" panose="02010609060101010101" charset="-122"/>
              </a:rPr>
              <a:t>水蒸气达到饱和状态时，湿空气具有该温度下</a:t>
            </a:r>
            <a:r>
              <a:rPr lang="zh-CN" altLang="en-US" sz="2400" b="1" dirty="0">
                <a:solidFill>
                  <a:srgbClr val="FF0000"/>
                </a:solidFill>
                <a:latin typeface="黑体" panose="02010609060101010101" charset="-122"/>
                <a:ea typeface="黑体" panose="02010609060101010101" charset="-122"/>
              </a:rPr>
              <a:t>最大的绝对湿度</a:t>
            </a:r>
            <a:r>
              <a:rPr lang="zh-CN" altLang="en-US" sz="2400" b="1" dirty="0">
                <a:latin typeface="楷体_GB2312" pitchFamily="49" charset="-122"/>
                <a:ea typeface="楷体_GB2312" pitchFamily="49" charset="-122"/>
              </a:rPr>
              <a:t> </a:t>
            </a:r>
            <a:endParaRPr lang="zh-CN" altLang="en-US" sz="2400" b="1" dirty="0">
              <a:latin typeface="楷体_GB2312" pitchFamily="49" charset="-122"/>
              <a:ea typeface="楷体_GB2312" pitchFamily="49" charset="-122"/>
            </a:endParaRPr>
          </a:p>
          <a:p>
            <a:pPr marL="342900" indent="-342900" eaLnBrk="0" hangingPunct="0">
              <a:buFont typeface="Arial" panose="020B0604020202020204" pitchFamily="34" charset="0"/>
              <a:buChar char="•"/>
            </a:pPr>
            <a:endParaRPr lang="zh-CN" altLang="en-US" sz="2400" dirty="0">
              <a:latin typeface="黑体" panose="02010609060101010101" charset="-122"/>
              <a:ea typeface="黑体" panose="02010609060101010101" charset="-122"/>
            </a:endParaRPr>
          </a:p>
          <a:p>
            <a:pPr marL="342900" indent="-342900" eaLnBrk="0" hangingPunct="0">
              <a:buFont typeface="Arial" panose="020B0604020202020204" pitchFamily="34" charset="0"/>
              <a:buChar char="•"/>
            </a:pPr>
            <a:endParaRPr lang="zh-CN" altLang="en-US" sz="2400" b="1" dirty="0">
              <a:latin typeface="Times New Roman" panose="02020603050405020304" pitchFamily="18" charset="0"/>
              <a:ea typeface="黑体" panose="02010609060101010101" charset="-122"/>
            </a:endParaRPr>
          </a:p>
        </p:txBody>
      </p:sp>
      <p:graphicFrame>
        <p:nvGraphicFramePr>
          <p:cNvPr id="41988" name="对象 193543"/>
          <p:cNvGraphicFramePr/>
          <p:nvPr/>
        </p:nvGraphicFramePr>
        <p:xfrm>
          <a:off x="1011238" y="3976688"/>
          <a:ext cx="1651000" cy="1008062"/>
        </p:xfrm>
        <a:graphic>
          <a:graphicData uri="http://schemas.openxmlformats.org/presentationml/2006/ole">
            <mc:AlternateContent xmlns:mc="http://schemas.openxmlformats.org/markup-compatibility/2006">
              <mc:Choice xmlns:v="urn:schemas-microsoft-com:vml" Requires="v">
                <p:oleObj spid="_x0000_s4245" name="Equation" r:id="rId1" imgW="17983200" imgH="10972800" progId="Equation.DSMT4">
                  <p:embed/>
                </p:oleObj>
              </mc:Choice>
              <mc:Fallback>
                <p:oleObj name="Equation" r:id="rId1" imgW="17983200" imgH="10972800" progId="Equation.DSMT4">
                  <p:embed/>
                  <p:pic>
                    <p:nvPicPr>
                      <p:cNvPr id="0" name="对象 193543"/>
                      <p:cNvPicPr>
                        <a:picLocks noChangeArrowheads="1"/>
                      </p:cNvPicPr>
                      <p:nvPr/>
                    </p:nvPicPr>
                    <p:blipFill>
                      <a:blip r:embed="rId2"/>
                      <a:srcRect/>
                      <a:stretch>
                        <a:fillRect/>
                      </a:stretch>
                    </p:blipFill>
                    <p:spPr bwMode="auto">
                      <a:xfrm>
                        <a:off x="1011238" y="3976688"/>
                        <a:ext cx="16510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89" name="矩形 193544"/>
          <p:cNvSpPr>
            <a:spLocks noChangeArrowheads="1"/>
          </p:cNvSpPr>
          <p:nvPr/>
        </p:nvSpPr>
        <p:spPr bwMode="auto">
          <a:xfrm>
            <a:off x="3205163" y="4066832"/>
            <a:ext cx="467995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dirty="0">
                <a:latin typeface="黑体" panose="02010609060101010101" charset="-122"/>
                <a:ea typeface="黑体" panose="02010609060101010101" charset="-122"/>
              </a:rPr>
              <a:t>这时的湿空气为</a:t>
            </a:r>
            <a:r>
              <a:rPr lang="zh-CN" altLang="en-US" sz="2400" b="1" dirty="0">
                <a:solidFill>
                  <a:srgbClr val="FF0000"/>
                </a:solidFill>
                <a:latin typeface="黑体" panose="02010609060101010101" charset="-122"/>
                <a:ea typeface="黑体" panose="02010609060101010101" charset="-122"/>
              </a:rPr>
              <a:t>饱和湿空气</a:t>
            </a:r>
            <a:r>
              <a:rPr lang="zh-CN" altLang="en-US" sz="2400" b="1" dirty="0">
                <a:latin typeface="黑体" panose="02010609060101010101" charset="-122"/>
                <a:ea typeface="黑体" panose="02010609060101010101" charset="-122"/>
              </a:rPr>
              <a:t>，水蒸气的分压力称为饱和蒸汽压</a:t>
            </a:r>
            <a:r>
              <a:rPr lang="en-US" altLang="zh-CN" sz="2400" b="1" i="1" dirty="0" err="1" smtClean="0">
                <a:latin typeface="Times New Roman" panose="02020603050405020304" pitchFamily="18" charset="0"/>
                <a:ea typeface="黑体" panose="02010609060101010101" charset="-122"/>
              </a:rPr>
              <a:t>p</a:t>
            </a:r>
            <a:r>
              <a:rPr lang="en-US" altLang="zh-CN" sz="2400" b="1" baseline="-25000" dirty="0" err="1" smtClean="0">
                <a:latin typeface="Times New Roman" panose="02020603050405020304" pitchFamily="18" charset="0"/>
                <a:ea typeface="黑体" panose="02010609060101010101" charset="-122"/>
              </a:rPr>
              <a:t>sat</a:t>
            </a:r>
            <a:r>
              <a:rPr lang="zh-CN" altLang="en-US" sz="2400" b="1" dirty="0" smtClean="0">
                <a:latin typeface="黑体" panose="02010609060101010101" charset="-122"/>
                <a:ea typeface="黑体" panose="02010609060101010101" charset="-122"/>
              </a:rPr>
              <a:t> </a:t>
            </a:r>
            <a:endParaRPr lang="zh-CN" altLang="en-US" sz="2400" b="1" dirty="0">
              <a:latin typeface="黑体" panose="02010609060101010101" charset="-122"/>
              <a:ea typeface="黑体" panose="02010609060101010101" charset="-122"/>
            </a:endParaRPr>
          </a:p>
        </p:txBody>
      </p:sp>
      <p:graphicFrame>
        <p:nvGraphicFramePr>
          <p:cNvPr id="41991" name="对象 193539"/>
          <p:cNvGraphicFramePr/>
          <p:nvPr/>
        </p:nvGraphicFramePr>
        <p:xfrm>
          <a:off x="2987675" y="260350"/>
          <a:ext cx="2089150" cy="955675"/>
        </p:xfrm>
        <a:graphic>
          <a:graphicData uri="http://schemas.openxmlformats.org/presentationml/2006/ole">
            <mc:AlternateContent xmlns:mc="http://schemas.openxmlformats.org/markup-compatibility/2006">
              <mc:Choice xmlns:v="urn:schemas-microsoft-com:vml" Requires="v">
                <p:oleObj spid="_x0000_s4246" name="" r:id="rId3" imgW="1002665" imgH="457200" progId="Equation.DSMT4">
                  <p:embed/>
                </p:oleObj>
              </mc:Choice>
              <mc:Fallback>
                <p:oleObj name="" r:id="rId3" imgW="1002665" imgH="457200" progId="Equation.DSMT4">
                  <p:embed/>
                  <p:pic>
                    <p:nvPicPr>
                      <p:cNvPr id="0" name="对象 19353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260350"/>
                        <a:ext cx="20891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94" name="矩形 193547"/>
          <p:cNvSpPr>
            <a:spLocks noChangeArrowheads="1"/>
          </p:cNvSpPr>
          <p:nvPr/>
        </p:nvSpPr>
        <p:spPr bwMode="auto">
          <a:xfrm>
            <a:off x="468313" y="5399721"/>
            <a:ext cx="8280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342900" indent="-342900" eaLnBrk="0" hangingPunct="0">
              <a:buFont typeface="Arial" panose="020B0604020202020204" pitchFamily="34" charset="0"/>
              <a:buChar char="•"/>
            </a:pPr>
            <a:r>
              <a:rPr lang="zh-CN" altLang="en-US" sz="2400" b="1" dirty="0">
                <a:latin typeface="黑体" panose="02010609060101010101" charset="-122"/>
                <a:ea typeface="黑体" panose="02010609060101010101" charset="-122"/>
              </a:rPr>
              <a:t>在湿空气未达到饱和时，其中水蒸气的分压力</a:t>
            </a:r>
            <a:r>
              <a:rPr lang="en-US" altLang="zh-CN" sz="2400" b="1" i="1" dirty="0" err="1">
                <a:latin typeface="Times New Roman" panose="02020603050405020304" pitchFamily="18" charset="0"/>
                <a:ea typeface="黑体" panose="02010609060101010101" charset="-122"/>
              </a:rPr>
              <a:t>p</a:t>
            </a:r>
            <a:r>
              <a:rPr lang="en-US" altLang="zh-CN" sz="2400" b="1" baseline="-25000" dirty="0" err="1">
                <a:latin typeface="Times New Roman" panose="02020603050405020304" pitchFamily="18" charset="0"/>
                <a:ea typeface="黑体" panose="02010609060101010101" charset="-122"/>
              </a:rPr>
              <a:t>v</a:t>
            </a:r>
            <a:r>
              <a:rPr lang="zh-CN" altLang="en-US" sz="2400" b="1" dirty="0">
                <a:latin typeface="黑体" panose="02010609060101010101" charset="-122"/>
                <a:ea typeface="黑体" panose="02010609060101010101" charset="-122"/>
              </a:rPr>
              <a:t>总是小于饱和蒸汽压</a:t>
            </a:r>
            <a:r>
              <a:rPr lang="en-US" altLang="zh-CN" sz="2400" b="1" i="1" dirty="0" err="1" smtClean="0">
                <a:latin typeface="Times New Roman" panose="02020603050405020304" pitchFamily="18" charset="0"/>
                <a:ea typeface="黑体" panose="02010609060101010101" charset="-122"/>
              </a:rPr>
              <a:t>p</a:t>
            </a:r>
            <a:r>
              <a:rPr lang="en-US" altLang="zh-CN" sz="2400" b="1" baseline="-25000" dirty="0" err="1" smtClean="0">
                <a:latin typeface="Times New Roman" panose="02020603050405020304" pitchFamily="18" charset="0"/>
                <a:ea typeface="黑体" panose="02010609060101010101" charset="-122"/>
              </a:rPr>
              <a:t>sat</a:t>
            </a:r>
            <a:r>
              <a:rPr lang="zh-CN" altLang="en-US" sz="2400" b="1" dirty="0" smtClean="0">
                <a:latin typeface="黑体" panose="02010609060101010101" charset="-122"/>
                <a:ea typeface="黑体" panose="02010609060101010101" charset="-122"/>
              </a:rPr>
              <a:t>，</a:t>
            </a:r>
            <a:r>
              <a:rPr lang="zh-CN" altLang="en-US" sz="2400" b="1" dirty="0">
                <a:latin typeface="黑体" panose="02010609060101010101" charset="-122"/>
                <a:ea typeface="黑体" panose="02010609060101010101" charset="-122"/>
              </a:rPr>
              <a:t>水蒸气处于过热</a:t>
            </a:r>
            <a:r>
              <a:rPr lang="zh-CN" altLang="en-US" sz="2400" b="1" dirty="0" smtClean="0">
                <a:latin typeface="黑体" panose="02010609060101010101" charset="-122"/>
                <a:ea typeface="黑体" panose="02010609060101010101" charset="-122"/>
              </a:rPr>
              <a:t>状态 </a:t>
            </a:r>
            <a:endParaRPr lang="zh-CN" altLang="en-US" sz="2400" b="1" dirty="0">
              <a:latin typeface="黑体" panose="02010609060101010101" charset="-122"/>
              <a:ea typeface="黑体" panose="02010609060101010101" charset="-122"/>
            </a:endParaRPr>
          </a:p>
        </p:txBody>
      </p:sp>
      <p:graphicFrame>
        <p:nvGraphicFramePr>
          <p:cNvPr id="41995" name="对象 193548"/>
          <p:cNvGraphicFramePr/>
          <p:nvPr/>
        </p:nvGraphicFramePr>
        <p:xfrm>
          <a:off x="5543550" y="496887"/>
          <a:ext cx="2592388" cy="482600"/>
        </p:xfrm>
        <a:graphic>
          <a:graphicData uri="http://schemas.openxmlformats.org/presentationml/2006/ole">
            <mc:AlternateContent xmlns:mc="http://schemas.openxmlformats.org/markup-compatibility/2006">
              <mc:Choice xmlns:v="urn:schemas-microsoft-com:vml" Requires="v">
                <p:oleObj spid="_x0000_s4247" name="" r:id="rId5" imgW="1384300" imgH="254000" progId="Equation.DSMT4">
                  <p:embed/>
                </p:oleObj>
              </mc:Choice>
              <mc:Fallback>
                <p:oleObj name="" r:id="rId5" imgW="1384300" imgH="254000" progId="Equation.DSMT4">
                  <p:embed/>
                  <p:pic>
                    <p:nvPicPr>
                      <p:cNvPr id="0" name="对象 19354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3550" y="496887"/>
                        <a:ext cx="2592388"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2"/>
          <p:cNvSpPr/>
          <p:nvPr/>
        </p:nvSpPr>
        <p:spPr>
          <a:xfrm>
            <a:off x="1571903" y="398760"/>
            <a:ext cx="1415772" cy="461665"/>
          </a:xfrm>
          <a:prstGeom prst="rect">
            <a:avLst/>
          </a:prstGeom>
        </p:spPr>
        <p:txBody>
          <a:bodyPr wrap="none">
            <a:spAutoFit/>
          </a:bodyPr>
          <a:lstStyle/>
          <a:p>
            <a:r>
              <a:rPr lang="zh-CN" altLang="en-US" sz="2400" b="1" dirty="0" smtClean="0">
                <a:solidFill>
                  <a:srgbClr val="0070C0"/>
                </a:solidFill>
                <a:latin typeface="Times New Roman" panose="02020603050405020304" pitchFamily="18" charset="0"/>
                <a:ea typeface="黑体" panose="02010609060101010101" charset="-122"/>
              </a:rPr>
              <a:t>绝对湿度</a:t>
            </a:r>
            <a:endParaRPr lang="zh-CN" altLang="en-US" b="1" dirty="0">
              <a:solidFill>
                <a:srgbClr val="0070C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矩形 194563"/>
          <p:cNvSpPr>
            <a:spLocks noChangeArrowheads="1"/>
          </p:cNvSpPr>
          <p:nvPr/>
        </p:nvSpPr>
        <p:spPr bwMode="auto">
          <a:xfrm>
            <a:off x="827088" y="1600072"/>
            <a:ext cx="748982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3200" b="1" dirty="0">
                <a:solidFill>
                  <a:srgbClr val="FF0000"/>
                </a:solidFill>
                <a:latin typeface="黑体" panose="02010609060101010101" charset="-122"/>
                <a:ea typeface="黑体" panose="02010609060101010101" charset="-122"/>
              </a:rPr>
              <a:t>2</a:t>
            </a:r>
            <a:r>
              <a:rPr lang="zh-CN" altLang="en-US" sz="3200" b="1" dirty="0">
                <a:solidFill>
                  <a:srgbClr val="FF0000"/>
                </a:solidFill>
                <a:latin typeface="黑体" panose="02010609060101010101" charset="-122"/>
                <a:ea typeface="黑体" panose="02010609060101010101" charset="-122"/>
              </a:rPr>
              <a:t>、相对湿度</a:t>
            </a:r>
            <a:endParaRPr lang="zh-CN" altLang="en-US" sz="3200" b="1" dirty="0">
              <a:solidFill>
                <a:srgbClr val="FF0000"/>
              </a:solidFill>
              <a:latin typeface="黑体" panose="02010609060101010101" charset="-122"/>
              <a:ea typeface="黑体" panose="02010609060101010101" charset="-122"/>
            </a:endParaRPr>
          </a:p>
          <a:p>
            <a:pPr eaLnBrk="0" hangingPunct="0"/>
            <a:endParaRPr lang="zh-CN" altLang="en-US" sz="3200" dirty="0">
              <a:solidFill>
                <a:srgbClr val="FF0000"/>
              </a:solidFill>
              <a:latin typeface="黑体" panose="02010609060101010101" charset="-122"/>
              <a:ea typeface="黑体" panose="02010609060101010101" charset="-122"/>
            </a:endParaRPr>
          </a:p>
          <a:p>
            <a:pPr eaLnBrk="0" hangingPunct="0"/>
            <a:r>
              <a:rPr lang="zh-CN" altLang="en-US" sz="3200" dirty="0">
                <a:latin typeface="黑体" panose="02010609060101010101" charset="-122"/>
                <a:ea typeface="黑体" panose="02010609060101010101" charset="-122"/>
              </a:rPr>
              <a:t>    </a:t>
            </a:r>
            <a:r>
              <a:rPr lang="zh-CN" altLang="en-US" sz="3200" b="1" dirty="0" smtClean="0">
                <a:latin typeface="黑体" panose="02010609060101010101" charset="-122"/>
                <a:ea typeface="黑体" panose="02010609060101010101" charset="-122"/>
              </a:rPr>
              <a:t>同样的绝对湿度，若湿空气的温度不同，人体感觉的潮湿程度和湿空气的吸湿能力也不同。    </a:t>
            </a:r>
            <a:endParaRPr lang="zh-CN" altLang="en-US" sz="3200" b="1" dirty="0">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矩形 195587"/>
          <p:cNvSpPr>
            <a:spLocks noChangeArrowheads="1"/>
          </p:cNvSpPr>
          <p:nvPr/>
        </p:nvSpPr>
        <p:spPr bwMode="auto">
          <a:xfrm>
            <a:off x="468313" y="260350"/>
            <a:ext cx="340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latin typeface="黑体" panose="02010609060101010101" charset="-122"/>
                <a:ea typeface="黑体" panose="02010609060101010101" charset="-122"/>
              </a:rPr>
              <a:t>假设湿空气的绝对湿度 </a:t>
            </a:r>
            <a:endParaRPr lang="zh-CN" altLang="en-US" sz="2400" b="1">
              <a:latin typeface="黑体" panose="02010609060101010101" charset="-122"/>
              <a:ea typeface="黑体" panose="02010609060101010101" charset="-122"/>
            </a:endParaRPr>
          </a:p>
        </p:txBody>
      </p:sp>
      <p:sp>
        <p:nvSpPr>
          <p:cNvPr id="45058" name="矩形 195589"/>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5059" name="对象 195588"/>
          <p:cNvGraphicFramePr>
            <a:graphicFrameLocks noChangeAspect="1"/>
          </p:cNvGraphicFramePr>
          <p:nvPr/>
        </p:nvGraphicFramePr>
        <p:xfrm>
          <a:off x="3851275" y="260350"/>
          <a:ext cx="2485582" cy="530629"/>
        </p:xfrm>
        <a:graphic>
          <a:graphicData uri="http://schemas.openxmlformats.org/presentationml/2006/ole">
            <mc:AlternateContent xmlns:mc="http://schemas.openxmlformats.org/markup-compatibility/2006">
              <mc:Choice xmlns:v="urn:schemas-microsoft-com:vml" Requires="v">
                <p:oleObj spid="_x0000_s5472" name="" r:id="rId1" imgW="1129665" imgH="241300" progId="Equation.DSMT4">
                  <p:embed/>
                </p:oleObj>
              </mc:Choice>
              <mc:Fallback>
                <p:oleObj name="" r:id="rId1" imgW="1129665" imgH="241300" progId="Equation.DSMT4">
                  <p:embed/>
                  <p:pic>
                    <p:nvPicPr>
                      <p:cNvPr id="0" name="对象 19558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275" y="260350"/>
                        <a:ext cx="2485582" cy="530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0" name="矩形 195590"/>
          <p:cNvSpPr>
            <a:spLocks noChangeArrowheads="1"/>
          </p:cNvSpPr>
          <p:nvPr/>
        </p:nvSpPr>
        <p:spPr bwMode="auto">
          <a:xfrm>
            <a:off x="468313" y="979488"/>
            <a:ext cx="35718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dirty="0">
                <a:latin typeface="Times New Roman" panose="02020603050405020304" pitchFamily="18" charset="0"/>
                <a:ea typeface="黑体" panose="02010609060101010101" charset="-122"/>
              </a:rPr>
              <a:t>当湿空气温度为</a:t>
            </a:r>
            <a:r>
              <a:rPr lang="en-US" altLang="zh-CN" sz="2400" b="1" dirty="0">
                <a:latin typeface="Times New Roman" panose="02020603050405020304" pitchFamily="18" charset="0"/>
                <a:ea typeface="黑体" panose="02010609060101010101" charset="-122"/>
              </a:rPr>
              <a:t>25℃</a:t>
            </a:r>
            <a:r>
              <a:rPr lang="zh-CN" altLang="en-US" sz="2400" b="1" dirty="0">
                <a:latin typeface="Times New Roman" panose="02020603050405020304" pitchFamily="18" charset="0"/>
                <a:ea typeface="黑体" panose="02010609060101010101" charset="-122"/>
              </a:rPr>
              <a:t>时，</a:t>
            </a:r>
            <a:endParaRPr lang="zh-CN" altLang="en-US" sz="2400" b="1" dirty="0">
              <a:latin typeface="Times New Roman" panose="02020603050405020304" pitchFamily="18" charset="0"/>
              <a:ea typeface="黑体" panose="02010609060101010101" charset="-122"/>
            </a:endParaRPr>
          </a:p>
        </p:txBody>
      </p:sp>
      <p:sp>
        <p:nvSpPr>
          <p:cNvPr id="45061" name="矩形 195591"/>
          <p:cNvSpPr>
            <a:spLocks noChangeArrowheads="1"/>
          </p:cNvSpPr>
          <p:nvPr/>
        </p:nvSpPr>
        <p:spPr bwMode="auto">
          <a:xfrm>
            <a:off x="2555875" y="3573463"/>
            <a:ext cx="370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charset="-122"/>
                <a:ea typeface="黑体" panose="02010609060101010101" charset="-122"/>
              </a:rPr>
              <a:t>求得其饱和时绝对湿度为 </a:t>
            </a:r>
            <a:endParaRPr lang="zh-CN" altLang="en-US" sz="2400" b="1">
              <a:latin typeface="黑体" panose="02010609060101010101" charset="-122"/>
              <a:ea typeface="黑体" panose="02010609060101010101" charset="-122"/>
            </a:endParaRPr>
          </a:p>
        </p:txBody>
      </p:sp>
      <p:graphicFrame>
        <p:nvGraphicFramePr>
          <p:cNvPr id="45062" name="对象 195592"/>
          <p:cNvGraphicFramePr/>
          <p:nvPr/>
        </p:nvGraphicFramePr>
        <p:xfrm>
          <a:off x="2628900" y="2349500"/>
          <a:ext cx="1652588" cy="1008063"/>
        </p:xfrm>
        <a:graphic>
          <a:graphicData uri="http://schemas.openxmlformats.org/presentationml/2006/ole">
            <mc:AlternateContent xmlns:mc="http://schemas.openxmlformats.org/markup-compatibility/2006">
              <mc:Choice xmlns:v="urn:schemas-microsoft-com:vml" Requires="v">
                <p:oleObj spid="_x0000_s5473" name="Equation" r:id="rId3" imgW="17983200" imgH="10972800" progId="Equation.DSMT4">
                  <p:embed/>
                </p:oleObj>
              </mc:Choice>
              <mc:Fallback>
                <p:oleObj name="Equation" r:id="rId3" imgW="17983200" imgH="10972800" progId="Equation.DSMT4">
                  <p:embed/>
                  <p:pic>
                    <p:nvPicPr>
                      <p:cNvPr id="0" name="对象 195592"/>
                      <p:cNvPicPr>
                        <a:picLocks noChangeArrowheads="1"/>
                      </p:cNvPicPr>
                      <p:nvPr/>
                    </p:nvPicPr>
                    <p:blipFill>
                      <a:blip r:embed="rId4"/>
                      <a:srcRect/>
                      <a:stretch>
                        <a:fillRect/>
                      </a:stretch>
                    </p:blipFill>
                    <p:spPr bwMode="auto">
                      <a:xfrm>
                        <a:off x="2628900" y="2349500"/>
                        <a:ext cx="1652588"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3" name="矩形 19559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5064" name="对象 195593"/>
          <p:cNvGraphicFramePr>
            <a:graphicFrameLocks noChangeAspect="1"/>
          </p:cNvGraphicFramePr>
          <p:nvPr/>
        </p:nvGraphicFramePr>
        <p:xfrm>
          <a:off x="541338" y="1700213"/>
          <a:ext cx="2371725" cy="500062"/>
        </p:xfrm>
        <a:graphic>
          <a:graphicData uri="http://schemas.openxmlformats.org/presentationml/2006/ole">
            <mc:AlternateContent xmlns:mc="http://schemas.openxmlformats.org/markup-compatibility/2006">
              <mc:Choice xmlns:v="urn:schemas-microsoft-com:vml" Requires="v">
                <p:oleObj spid="_x0000_s5474" name="Equation" r:id="rId5" imgW="25908000" imgH="5486400" progId="Equation.DSMT4">
                  <p:embed/>
                </p:oleObj>
              </mc:Choice>
              <mc:Fallback>
                <p:oleObj name="Equation" r:id="rId5" imgW="25908000" imgH="5486400" progId="Equation.DSMT4">
                  <p:embed/>
                  <p:pic>
                    <p:nvPicPr>
                      <p:cNvPr id="0" name="对象 195593"/>
                      <p:cNvPicPr>
                        <a:picLocks noChangeArrowheads="1"/>
                      </p:cNvPicPr>
                      <p:nvPr/>
                    </p:nvPicPr>
                    <p:blipFill>
                      <a:blip r:embed="rId6"/>
                      <a:srcRect/>
                      <a:stretch>
                        <a:fillRect/>
                      </a:stretch>
                    </p:blipFill>
                    <p:spPr bwMode="auto">
                      <a:xfrm>
                        <a:off x="541338" y="1700213"/>
                        <a:ext cx="2371725"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5" name="矩形 195595"/>
          <p:cNvSpPr>
            <a:spLocks noChangeArrowheads="1"/>
          </p:cNvSpPr>
          <p:nvPr/>
        </p:nvSpPr>
        <p:spPr bwMode="auto">
          <a:xfrm>
            <a:off x="1763713" y="2565400"/>
            <a:ext cx="79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latin typeface="黑体" panose="02010609060101010101" charset="-122"/>
                <a:ea typeface="黑体" panose="02010609060101010101" charset="-122"/>
              </a:rPr>
              <a:t>根据</a:t>
            </a:r>
            <a:endParaRPr lang="zh-CN" altLang="en-US" sz="2400" b="1">
              <a:latin typeface="黑体" panose="02010609060101010101" charset="-122"/>
              <a:ea typeface="黑体" panose="02010609060101010101" charset="-122"/>
            </a:endParaRPr>
          </a:p>
        </p:txBody>
      </p:sp>
      <p:graphicFrame>
        <p:nvGraphicFramePr>
          <p:cNvPr id="45066" name="对象 195596"/>
          <p:cNvGraphicFramePr>
            <a:graphicFrameLocks noChangeAspect="1"/>
          </p:cNvGraphicFramePr>
          <p:nvPr/>
        </p:nvGraphicFramePr>
        <p:xfrm>
          <a:off x="4989444" y="2573338"/>
          <a:ext cx="3045460" cy="558800"/>
        </p:xfrm>
        <a:graphic>
          <a:graphicData uri="http://schemas.openxmlformats.org/presentationml/2006/ole">
            <mc:AlternateContent xmlns:mc="http://schemas.openxmlformats.org/markup-compatibility/2006">
              <mc:Choice xmlns:v="urn:schemas-microsoft-com:vml" Requires="v">
                <p:oleObj spid="_x0000_s5475" name="" r:id="rId7" imgW="1384300" imgH="254000" progId="Equation.DSMT4">
                  <p:embed/>
                </p:oleObj>
              </mc:Choice>
              <mc:Fallback>
                <p:oleObj name="" r:id="rId7" imgW="1384300" imgH="254000" progId="Equation.DSMT4">
                  <p:embed/>
                  <p:pic>
                    <p:nvPicPr>
                      <p:cNvPr id="0" name="对象 19559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9444" y="2573338"/>
                        <a:ext cx="304546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7" name="矩形 19559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5068" name="对象 195597"/>
          <p:cNvGraphicFramePr>
            <a:graphicFrameLocks noChangeAspect="1"/>
          </p:cNvGraphicFramePr>
          <p:nvPr/>
        </p:nvGraphicFramePr>
        <p:xfrm>
          <a:off x="541338" y="4365625"/>
          <a:ext cx="3462337" cy="530225"/>
        </p:xfrm>
        <a:graphic>
          <a:graphicData uri="http://schemas.openxmlformats.org/presentationml/2006/ole">
            <mc:AlternateContent xmlns:mc="http://schemas.openxmlformats.org/markup-compatibility/2006">
              <mc:Choice xmlns:v="urn:schemas-microsoft-com:vml" Requires="v">
                <p:oleObj spid="_x0000_s5476" name="Equation" r:id="rId9" imgW="37795200" imgH="5791200" progId="Equation.DSMT4">
                  <p:embed/>
                </p:oleObj>
              </mc:Choice>
              <mc:Fallback>
                <p:oleObj name="Equation" r:id="rId9" imgW="37795200" imgH="5791200" progId="Equation.DSMT4">
                  <p:embed/>
                  <p:pic>
                    <p:nvPicPr>
                      <p:cNvPr id="0" name="对象 195597"/>
                      <p:cNvPicPr>
                        <a:picLocks noChangeArrowheads="1"/>
                      </p:cNvPicPr>
                      <p:nvPr/>
                    </p:nvPicPr>
                    <p:blipFill>
                      <a:blip r:embed="rId10"/>
                      <a:srcRect/>
                      <a:stretch>
                        <a:fillRect/>
                      </a:stretch>
                    </p:blipFill>
                    <p:spPr bwMode="auto">
                      <a:xfrm>
                        <a:off x="541338" y="4365625"/>
                        <a:ext cx="34623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69" name="矩形 195601"/>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45070" name="矩形 195602"/>
          <p:cNvSpPr>
            <a:spLocks noChangeArrowheads="1"/>
          </p:cNvSpPr>
          <p:nvPr/>
        </p:nvSpPr>
        <p:spPr bwMode="auto">
          <a:xfrm>
            <a:off x="395288" y="5084763"/>
            <a:ext cx="38163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a:latin typeface="黑体" panose="02010609060101010101" charset="-122"/>
                <a:ea typeface="黑体" panose="02010609060101010101" charset="-122"/>
              </a:rPr>
              <a:t>湿空气中水蒸气远未达到饱和，空气具有较强的吸湿能力，人体感觉较干燥</a:t>
            </a:r>
            <a:endParaRPr lang="zh-CN" altLang="en-US" sz="2400" b="1">
              <a:latin typeface="黑体" panose="02010609060101010101" charset="-122"/>
              <a:ea typeface="黑体" panose="02010609060101010101" charset="-122"/>
            </a:endParaRPr>
          </a:p>
        </p:txBody>
      </p:sp>
      <p:graphicFrame>
        <p:nvGraphicFramePr>
          <p:cNvPr id="195604" name="对象 195603"/>
          <p:cNvGraphicFramePr>
            <a:graphicFrameLocks noChangeAspect="1"/>
          </p:cNvGraphicFramePr>
          <p:nvPr/>
        </p:nvGraphicFramePr>
        <p:xfrm>
          <a:off x="5010150" y="4389438"/>
          <a:ext cx="3463925" cy="530225"/>
        </p:xfrm>
        <a:graphic>
          <a:graphicData uri="http://schemas.openxmlformats.org/presentationml/2006/ole">
            <mc:AlternateContent xmlns:mc="http://schemas.openxmlformats.org/markup-compatibility/2006">
              <mc:Choice xmlns:v="urn:schemas-microsoft-com:vml" Requires="v">
                <p:oleObj spid="_x0000_s5477" name="Equation" r:id="rId11" imgW="37795200" imgH="5791200" progId="Equation.DSMT4">
                  <p:embed/>
                </p:oleObj>
              </mc:Choice>
              <mc:Fallback>
                <p:oleObj name="Equation" r:id="rId11" imgW="37795200" imgH="5791200" progId="Equation.DSMT4">
                  <p:embed/>
                  <p:pic>
                    <p:nvPicPr>
                      <p:cNvPr id="0" name="对象 195603"/>
                      <p:cNvPicPr>
                        <a:picLocks noChangeArrowheads="1"/>
                      </p:cNvPicPr>
                      <p:nvPr/>
                    </p:nvPicPr>
                    <p:blipFill>
                      <a:blip r:embed="rId12"/>
                      <a:srcRect/>
                      <a:stretch>
                        <a:fillRect/>
                      </a:stretch>
                    </p:blipFill>
                    <p:spPr bwMode="auto">
                      <a:xfrm>
                        <a:off x="5010150" y="4389438"/>
                        <a:ext cx="346392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5606" name="矩形 195605"/>
          <p:cNvSpPr>
            <a:spLocks noChangeArrowheads="1"/>
          </p:cNvSpPr>
          <p:nvPr/>
        </p:nvSpPr>
        <p:spPr bwMode="auto">
          <a:xfrm>
            <a:off x="4572000" y="978843"/>
            <a:ext cx="36102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dirty="0">
                <a:solidFill>
                  <a:srgbClr val="FF0000"/>
                </a:solidFill>
                <a:latin typeface="黑体" panose="02010609060101010101" charset="-122"/>
                <a:ea typeface="黑体" panose="02010609060101010101" charset="-122"/>
              </a:rPr>
              <a:t>当湿空气温度为</a:t>
            </a:r>
            <a:r>
              <a:rPr lang="en-US" altLang="zh-CN" sz="2400" b="1" dirty="0">
                <a:solidFill>
                  <a:srgbClr val="FF0000"/>
                </a:solidFill>
                <a:latin typeface="Times New Roman" panose="02020603050405020304" pitchFamily="18" charset="0"/>
                <a:ea typeface="黑体" panose="02010609060101010101" charset="-122"/>
              </a:rPr>
              <a:t>10℃</a:t>
            </a:r>
            <a:r>
              <a:rPr lang="zh-CN" altLang="en-US" sz="2400" b="1" dirty="0">
                <a:solidFill>
                  <a:srgbClr val="FF0000"/>
                </a:solidFill>
                <a:latin typeface="黑体" panose="02010609060101010101" charset="-122"/>
                <a:ea typeface="黑体" panose="02010609060101010101" charset="-122"/>
              </a:rPr>
              <a:t>时，</a:t>
            </a:r>
            <a:endParaRPr lang="zh-CN" altLang="en-US" sz="2400" b="1" dirty="0">
              <a:solidFill>
                <a:srgbClr val="FF0000"/>
              </a:solidFill>
              <a:latin typeface="黑体" panose="02010609060101010101" charset="-122"/>
              <a:ea typeface="黑体" panose="02010609060101010101" charset="-122"/>
            </a:endParaRPr>
          </a:p>
        </p:txBody>
      </p:sp>
      <p:graphicFrame>
        <p:nvGraphicFramePr>
          <p:cNvPr id="195607" name="对象 195606"/>
          <p:cNvGraphicFramePr>
            <a:graphicFrameLocks noChangeAspect="1"/>
          </p:cNvGraphicFramePr>
          <p:nvPr/>
        </p:nvGraphicFramePr>
        <p:xfrm>
          <a:off x="5122863" y="1668463"/>
          <a:ext cx="2346325" cy="501650"/>
        </p:xfrm>
        <a:graphic>
          <a:graphicData uri="http://schemas.openxmlformats.org/presentationml/2006/ole">
            <mc:AlternateContent xmlns:mc="http://schemas.openxmlformats.org/markup-compatibility/2006">
              <mc:Choice xmlns:v="urn:schemas-microsoft-com:vml" Requires="v">
                <p:oleObj spid="_x0000_s5478" name="Equation" r:id="rId13" imgW="25603200" imgH="5486400" progId="Equation.DSMT4">
                  <p:embed/>
                </p:oleObj>
              </mc:Choice>
              <mc:Fallback>
                <p:oleObj name="Equation" r:id="rId13" imgW="25603200" imgH="5486400" progId="Equation.DSMT4">
                  <p:embed/>
                  <p:pic>
                    <p:nvPicPr>
                      <p:cNvPr id="0" name="对象 195606"/>
                      <p:cNvPicPr>
                        <a:picLocks noChangeArrowheads="1"/>
                      </p:cNvPicPr>
                      <p:nvPr/>
                    </p:nvPicPr>
                    <p:blipFill>
                      <a:blip r:embed="rId14"/>
                      <a:srcRect/>
                      <a:stretch>
                        <a:fillRect/>
                      </a:stretch>
                    </p:blipFill>
                    <p:spPr bwMode="auto">
                      <a:xfrm>
                        <a:off x="5122863" y="1668463"/>
                        <a:ext cx="23463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5076" name="直接连接符 195609"/>
          <p:cNvSpPr>
            <a:spLocks noChangeShapeType="1"/>
          </p:cNvSpPr>
          <p:nvPr/>
        </p:nvSpPr>
        <p:spPr bwMode="auto">
          <a:xfrm>
            <a:off x="1979613" y="2133600"/>
            <a:ext cx="1512887" cy="50323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11" name="直接连接符 195610"/>
          <p:cNvSpPr>
            <a:spLocks noChangeShapeType="1"/>
          </p:cNvSpPr>
          <p:nvPr/>
        </p:nvSpPr>
        <p:spPr bwMode="auto">
          <a:xfrm flipH="1">
            <a:off x="4149273" y="2133600"/>
            <a:ext cx="1803401" cy="54230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5613" name="矩形 195612"/>
          <p:cNvSpPr>
            <a:spLocks noChangeArrowheads="1"/>
          </p:cNvSpPr>
          <p:nvPr/>
        </p:nvSpPr>
        <p:spPr bwMode="auto">
          <a:xfrm>
            <a:off x="4859338" y="5102136"/>
            <a:ext cx="396081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dirty="0">
                <a:solidFill>
                  <a:srgbClr val="FF0000"/>
                </a:solidFill>
                <a:latin typeface="黑体" panose="02010609060101010101" charset="-122"/>
                <a:ea typeface="黑体" panose="02010609060101010101" charset="-122"/>
              </a:rPr>
              <a:t>湿空气中水蒸气接近饱和，其吸湿能力较小，人体会感觉阴冷潮湿 </a:t>
            </a:r>
            <a:endParaRPr lang="zh-CN" altLang="en-US" sz="2400" b="1" dirty="0">
              <a:solidFill>
                <a:srgbClr val="FF0000"/>
              </a:solidFill>
              <a:latin typeface="黑体" panose="02010609060101010101" charset="-122"/>
              <a:ea typeface="黑体" panose="02010609060101010101" charset="-122"/>
            </a:endParaRPr>
          </a:p>
        </p:txBody>
      </p:sp>
      <p:sp>
        <p:nvSpPr>
          <p:cNvPr id="4" name="矩形 3"/>
          <p:cNvSpPr/>
          <p:nvPr/>
        </p:nvSpPr>
        <p:spPr>
          <a:xfrm>
            <a:off x="3179112" y="1722928"/>
            <a:ext cx="1579278" cy="369332"/>
          </a:xfrm>
          <a:prstGeom prst="rect">
            <a:avLst/>
          </a:prstGeom>
        </p:spPr>
        <p:txBody>
          <a:bodyPr wrap="none">
            <a:spAutoFit/>
          </a:bodyPr>
          <a:lstStyle/>
          <a:p>
            <a:r>
              <a:rPr lang="zh-CN" altLang="en-US" b="1" dirty="0" smtClean="0">
                <a:solidFill>
                  <a:srgbClr val="0070C0"/>
                </a:solidFill>
                <a:latin typeface="黑体" panose="02010609060101010101" charset="-122"/>
                <a:ea typeface="黑体" panose="02010609060101010101" charset="-122"/>
              </a:rPr>
              <a:t>查饱和蒸气表</a:t>
            </a:r>
            <a:endParaRPr lang="zh-CN" altLang="en-US" dirty="0">
              <a:solidFill>
                <a:srgbClr val="0070C0"/>
              </a:solidFill>
            </a:endParaRPr>
          </a:p>
        </p:txBody>
      </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5606"/>
                                        </p:tgtEl>
                                        <p:attrNameLst>
                                          <p:attrName>style.visibility</p:attrName>
                                        </p:attrNameLst>
                                      </p:cBhvr>
                                      <p:to>
                                        <p:strVal val="visible"/>
                                      </p:to>
                                    </p:set>
                                    <p:animEffect transition="in" filter="blinds(horizontal)">
                                      <p:cBhvr>
                                        <p:cTn id="7" dur="500"/>
                                        <p:tgtEl>
                                          <p:spTgt spid="195606"/>
                                        </p:tgtEl>
                                      </p:cBhvr>
                                    </p:animEffect>
                                  </p:childTnLst>
                                </p:cTn>
                              </p:par>
                              <p:par>
                                <p:cTn id="8" presetID="3" presetClass="entr" presetSubtype="10" fill="hold" nodeType="withEffect">
                                  <p:stCondLst>
                                    <p:cond delay="0"/>
                                  </p:stCondLst>
                                  <p:childTnLst>
                                    <p:set>
                                      <p:cBhvr>
                                        <p:cTn id="9" dur="1" fill="hold">
                                          <p:stCondLst>
                                            <p:cond delay="0"/>
                                          </p:stCondLst>
                                        </p:cTn>
                                        <p:tgtEl>
                                          <p:spTgt spid="195607"/>
                                        </p:tgtEl>
                                        <p:attrNameLst>
                                          <p:attrName>style.visibility</p:attrName>
                                        </p:attrNameLst>
                                      </p:cBhvr>
                                      <p:to>
                                        <p:strVal val="visible"/>
                                      </p:to>
                                    </p:set>
                                    <p:animEffect transition="in" filter="blinds(horizontal)">
                                      <p:cBhvr>
                                        <p:cTn id="10" dur="500"/>
                                        <p:tgtEl>
                                          <p:spTgt spid="19560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195611"/>
                                        </p:tgtEl>
                                        <p:attrNameLst>
                                          <p:attrName>style.visibility</p:attrName>
                                        </p:attrNameLst>
                                      </p:cBhvr>
                                      <p:to>
                                        <p:strVal val="visible"/>
                                      </p:to>
                                    </p:set>
                                    <p:animEffect transition="in" filter="wipe(up)">
                                      <p:cBhvr>
                                        <p:cTn id="15" dur="500"/>
                                        <p:tgtEl>
                                          <p:spTgt spid="19561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95604"/>
                                        </p:tgtEl>
                                        <p:attrNameLst>
                                          <p:attrName>style.visibility</p:attrName>
                                        </p:attrNameLst>
                                      </p:cBhvr>
                                      <p:to>
                                        <p:strVal val="visible"/>
                                      </p:to>
                                    </p:set>
                                    <p:animEffect transition="in" filter="blinds(horizontal)">
                                      <p:cBhvr>
                                        <p:cTn id="20" dur="500"/>
                                        <p:tgtEl>
                                          <p:spTgt spid="195604"/>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95613"/>
                                        </p:tgtEl>
                                        <p:attrNameLst>
                                          <p:attrName>style.visibility</p:attrName>
                                        </p:attrNameLst>
                                      </p:cBhvr>
                                      <p:to>
                                        <p:strVal val="visible"/>
                                      </p:to>
                                    </p:set>
                                    <p:animEffect transition="in" filter="blinds(horizontal)">
                                      <p:cBhvr>
                                        <p:cTn id="25" dur="500"/>
                                        <p:tgtEl>
                                          <p:spTgt spid="195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06" grpId="0"/>
      <p:bldP spid="1956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矩形 196612"/>
          <p:cNvSpPr>
            <a:spLocks noChangeArrowheads="1"/>
          </p:cNvSpPr>
          <p:nvPr/>
        </p:nvSpPr>
        <p:spPr bwMode="auto">
          <a:xfrm>
            <a:off x="382037" y="407264"/>
            <a:ext cx="84963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eaLnBrk="0" hangingPunct="0">
              <a:buFont typeface="Arial" panose="020B0604020202020204" pitchFamily="34" charset="0"/>
              <a:buChar char="•"/>
            </a:pPr>
            <a:r>
              <a:rPr lang="zh-CN" altLang="en-US" sz="2800" b="1" dirty="0" smtClean="0">
                <a:latin typeface="黑体" panose="02010609060101010101" charset="-122"/>
                <a:ea typeface="黑体" panose="02010609060101010101" charset="-122"/>
              </a:rPr>
              <a:t>以上</a:t>
            </a:r>
            <a:r>
              <a:rPr lang="zh-CN" altLang="en-US" sz="2800" b="1" dirty="0">
                <a:latin typeface="黑体" panose="02010609060101010101" charset="-122"/>
                <a:ea typeface="黑体" panose="02010609060101010101" charset="-122"/>
              </a:rPr>
              <a:t>例子说明，同样的绝对湿度，若空气温度不同，人体感觉的潮湿程度和湿空气的吸湿能力也</a:t>
            </a:r>
            <a:r>
              <a:rPr lang="zh-CN" altLang="en-US" sz="2800" b="1" dirty="0" smtClean="0">
                <a:latin typeface="黑体" panose="02010609060101010101" charset="-122"/>
                <a:ea typeface="黑体" panose="02010609060101010101" charset="-122"/>
              </a:rPr>
              <a:t>不同</a:t>
            </a:r>
            <a:endParaRPr lang="en-US" altLang="zh-CN" sz="2800" b="1" dirty="0" smtClean="0">
              <a:latin typeface="黑体" panose="02010609060101010101" charset="-122"/>
              <a:ea typeface="黑体" panose="02010609060101010101" charset="-122"/>
            </a:endParaRPr>
          </a:p>
          <a:p>
            <a:pPr marL="457200" indent="-457200" eaLnBrk="0" hangingPunct="0">
              <a:buFont typeface="Arial" panose="020B0604020202020204" pitchFamily="34" charset="0"/>
              <a:buChar char="•"/>
            </a:pPr>
            <a:r>
              <a:rPr lang="zh-CN" altLang="en-US" sz="2800" b="1" dirty="0">
                <a:latin typeface="黑体" panose="02010609060101010101" charset="-122"/>
                <a:ea typeface="黑体" panose="02010609060101010101" charset="-122"/>
              </a:rPr>
              <a:t>为此，人们引入了</a:t>
            </a:r>
            <a:r>
              <a:rPr lang="zh-CN" altLang="en-US" sz="2800" b="1" dirty="0">
                <a:solidFill>
                  <a:srgbClr val="FF0000"/>
                </a:solidFill>
                <a:latin typeface="黑体" panose="02010609060101010101" charset="-122"/>
                <a:ea typeface="黑体" panose="02010609060101010101" charset="-122"/>
              </a:rPr>
              <a:t>相对湿度</a:t>
            </a:r>
            <a:r>
              <a:rPr lang="zh-CN" altLang="en-US" sz="2800" b="1" dirty="0">
                <a:latin typeface="黑体" panose="02010609060101010101" charset="-122"/>
                <a:ea typeface="黑体" panose="02010609060101010101" charset="-122"/>
              </a:rPr>
              <a:t>的</a:t>
            </a:r>
            <a:r>
              <a:rPr lang="zh-CN" altLang="en-US" sz="2800" b="1" dirty="0" smtClean="0">
                <a:latin typeface="黑体" panose="02010609060101010101" charset="-122"/>
                <a:ea typeface="黑体" panose="02010609060101010101" charset="-122"/>
              </a:rPr>
              <a:t>概念</a:t>
            </a:r>
            <a:r>
              <a:rPr lang="zh-CN" altLang="en-US" sz="3200" dirty="0" smtClean="0">
                <a:latin typeface="黑体" panose="02010609060101010101" charset="-122"/>
                <a:ea typeface="黑体" panose="02010609060101010101" charset="-122"/>
              </a:rPr>
              <a:t>   </a:t>
            </a:r>
            <a:endParaRPr lang="zh-CN" altLang="en-US" sz="3200" dirty="0">
              <a:latin typeface="黑体" panose="02010609060101010101" charset="-122"/>
              <a:ea typeface="黑体" panose="02010609060101010101" charset="-122"/>
            </a:endParaRPr>
          </a:p>
        </p:txBody>
      </p:sp>
      <p:graphicFrame>
        <p:nvGraphicFramePr>
          <p:cNvPr id="196616" name="对象 196615"/>
          <p:cNvGraphicFramePr/>
          <p:nvPr/>
        </p:nvGraphicFramePr>
        <p:xfrm>
          <a:off x="850900" y="2894013"/>
          <a:ext cx="2185988" cy="1028700"/>
        </p:xfrm>
        <a:graphic>
          <a:graphicData uri="http://schemas.openxmlformats.org/presentationml/2006/ole">
            <mc:AlternateContent xmlns:mc="http://schemas.openxmlformats.org/markup-compatibility/2006">
              <mc:Choice xmlns:v="urn:schemas-microsoft-com:vml" Requires="v">
                <p:oleObj spid="_x0000_s6217" name="Equation" r:id="rId1" imgW="21945600" imgH="10363200" progId="Equation.DSMT4">
                  <p:embed/>
                </p:oleObj>
              </mc:Choice>
              <mc:Fallback>
                <p:oleObj name="Equation" r:id="rId1" imgW="21945600" imgH="10363200" progId="Equation.DSMT4">
                  <p:embed/>
                  <p:pic>
                    <p:nvPicPr>
                      <p:cNvPr id="0" name="对象 196615"/>
                      <p:cNvPicPr>
                        <a:picLocks noChangeArrowheads="1"/>
                      </p:cNvPicPr>
                      <p:nvPr/>
                    </p:nvPicPr>
                    <p:blipFill>
                      <a:blip r:embed="rId2"/>
                      <a:srcRect/>
                      <a:stretch>
                        <a:fillRect/>
                      </a:stretch>
                    </p:blipFill>
                    <p:spPr bwMode="auto">
                      <a:xfrm>
                        <a:off x="850900" y="2894013"/>
                        <a:ext cx="2185988"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6618" name="矩形 196617"/>
          <p:cNvSpPr>
            <a:spLocks noChangeArrowheads="1"/>
          </p:cNvSpPr>
          <p:nvPr/>
        </p:nvSpPr>
        <p:spPr bwMode="auto">
          <a:xfrm>
            <a:off x="382037" y="4929487"/>
            <a:ext cx="64187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457200" indent="-457200" eaLnBrk="0" hangingPunct="0">
              <a:buFont typeface="Arial" panose="020B0604020202020204" pitchFamily="34" charset="0"/>
              <a:buChar char="•"/>
            </a:pPr>
            <a:r>
              <a:rPr lang="zh-CN" altLang="en-US" sz="2800" b="1" dirty="0">
                <a:latin typeface="黑体" panose="02010609060101010101" charset="-122"/>
                <a:ea typeface="黑体" panose="02010609060101010101" charset="-122"/>
              </a:rPr>
              <a:t>相对湿度的数值在</a:t>
            </a:r>
            <a:r>
              <a:rPr lang="en-US" altLang="zh-CN" sz="2800" b="1" dirty="0">
                <a:latin typeface="Times New Roman" panose="02020603050405020304" pitchFamily="18" charset="0"/>
                <a:ea typeface="黑体" panose="02010609060101010101" charset="-122"/>
                <a:cs typeface="Times New Roman" panose="02020603050405020304" pitchFamily="18" charset="0"/>
              </a:rPr>
              <a:t>0~100%</a:t>
            </a:r>
            <a:r>
              <a:rPr lang="zh-CN" altLang="en-US" sz="2800" b="1" dirty="0">
                <a:latin typeface="黑体" panose="02010609060101010101" charset="-122"/>
                <a:ea typeface="黑体" panose="02010609060101010101" charset="-122"/>
              </a:rPr>
              <a:t>的范围内 </a:t>
            </a:r>
            <a:endParaRPr lang="zh-CN" altLang="en-US" sz="2800" b="1" dirty="0">
              <a:latin typeface="黑体" panose="02010609060101010101" charset="-122"/>
              <a:ea typeface="黑体" panose="02010609060101010101" charset="-122"/>
            </a:endParaRPr>
          </a:p>
        </p:txBody>
      </p:sp>
      <p:sp>
        <p:nvSpPr>
          <p:cNvPr id="196619" name="矩形 196618"/>
          <p:cNvSpPr>
            <a:spLocks noChangeArrowheads="1"/>
          </p:cNvSpPr>
          <p:nvPr/>
        </p:nvSpPr>
        <p:spPr bwMode="auto">
          <a:xfrm>
            <a:off x="3635375" y="2893363"/>
            <a:ext cx="2719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solidFill>
                  <a:srgbClr val="FF0000"/>
                </a:solidFill>
                <a:ea typeface="宋体" panose="02010600030101010101" pitchFamily="2" charset="-122"/>
              </a:rPr>
              <a:t>湿空气的绝对湿度 </a:t>
            </a:r>
            <a:endParaRPr lang="zh-CN" altLang="en-US" sz="2400" b="1">
              <a:solidFill>
                <a:srgbClr val="FF0000"/>
              </a:solidFill>
              <a:ea typeface="宋体" panose="02010600030101010101" pitchFamily="2" charset="-122"/>
            </a:endParaRPr>
          </a:p>
        </p:txBody>
      </p:sp>
      <p:sp>
        <p:nvSpPr>
          <p:cNvPr id="196620" name="矩形 196619"/>
          <p:cNvSpPr>
            <a:spLocks noChangeArrowheads="1"/>
          </p:cNvSpPr>
          <p:nvPr/>
        </p:nvSpPr>
        <p:spPr bwMode="auto">
          <a:xfrm>
            <a:off x="3563937" y="3469625"/>
            <a:ext cx="4557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solidFill>
                  <a:srgbClr val="FF0000"/>
                </a:solidFill>
                <a:ea typeface="宋体" panose="02010600030101010101" pitchFamily="2" charset="-122"/>
              </a:rPr>
              <a:t>同温度下饱和湿空气的绝对湿度 </a:t>
            </a:r>
            <a:endParaRPr lang="zh-CN" altLang="en-US" sz="2400" b="1">
              <a:solidFill>
                <a:srgbClr val="FF0000"/>
              </a:solidFill>
              <a:ea typeface="宋体" panose="02010600030101010101" pitchFamily="2" charset="-122"/>
            </a:endParaRPr>
          </a:p>
        </p:txBody>
      </p:sp>
      <p:sp>
        <p:nvSpPr>
          <p:cNvPr id="196623" name="直接连接符 196622"/>
          <p:cNvSpPr>
            <a:spLocks noChangeShapeType="1"/>
          </p:cNvSpPr>
          <p:nvPr/>
        </p:nvSpPr>
        <p:spPr bwMode="auto">
          <a:xfrm>
            <a:off x="3635375" y="3396600"/>
            <a:ext cx="4537075"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6624" name="矩形 196623"/>
          <p:cNvSpPr>
            <a:spLocks noChangeArrowheads="1"/>
          </p:cNvSpPr>
          <p:nvPr/>
        </p:nvSpPr>
        <p:spPr bwMode="auto">
          <a:xfrm>
            <a:off x="3059112" y="3180700"/>
            <a:ext cx="361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400" b="1">
                <a:solidFill>
                  <a:srgbClr val="FF0000"/>
                </a:solidFill>
                <a:ea typeface="宋体" panose="02010600030101010101" pitchFamily="2" charset="-122"/>
              </a:rPr>
              <a:t>=</a:t>
            </a:r>
            <a:endParaRPr lang="en-US" altLang="zh-CN" sz="2400" b="1">
              <a:solidFill>
                <a:srgbClr val="FF000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7" name="内容占位符 197636"/>
          <p:cNvSpPr>
            <a:spLocks noGrp="1" noChangeArrowheads="1"/>
          </p:cNvSpPr>
          <p:nvPr>
            <p:ph idx="1"/>
          </p:nvPr>
        </p:nvSpPr>
        <p:spPr>
          <a:xfrm>
            <a:off x="684213" y="549275"/>
            <a:ext cx="7772400" cy="4895850"/>
          </a:xfrm>
        </p:spPr>
        <p:txBody>
          <a:bodyPr/>
          <a:lstStyle/>
          <a:p>
            <a:r>
              <a:rPr lang="zh-CN" altLang="en-US" b="1" dirty="0" smtClean="0">
                <a:latin typeface="Times New Roman" panose="02020603050405020304" pitchFamily="18" charset="0"/>
                <a:ea typeface="黑体" panose="02010609060101010101" charset="-122"/>
              </a:rPr>
              <a:t>相对湿度越小，湿空气中的水蒸气距离饱和状态越远，湿空气吸收水分的能力越大，即越干燥；相对湿度越大，湿空气中的水蒸气距离饱和状态越近，湿空气吸收水分的能力越小，即越潮湿</a:t>
            </a:r>
            <a:endParaRPr lang="zh-CN" altLang="en-US" b="1" dirty="0" smtClean="0">
              <a:latin typeface="Times New Roman" panose="02020603050405020304" pitchFamily="18" charset="0"/>
              <a:ea typeface="黑体" panose="02010609060101010101" charset="-122"/>
            </a:endParaRPr>
          </a:p>
          <a:p>
            <a:r>
              <a:rPr lang="zh-CN" altLang="en-US" b="1" dirty="0" smtClean="0">
                <a:latin typeface="Times New Roman" panose="02020603050405020304" pitchFamily="18" charset="0"/>
                <a:ea typeface="黑体" panose="02010609060101010101" charset="-122"/>
              </a:rPr>
              <a:t>饱和</a:t>
            </a:r>
            <a:r>
              <a:rPr lang="zh-CN" altLang="en-US" b="1" dirty="0">
                <a:latin typeface="Times New Roman" panose="02020603050405020304" pitchFamily="18" charset="0"/>
                <a:ea typeface="黑体" panose="02010609060101010101" charset="-122"/>
              </a:rPr>
              <a:t>湿</a:t>
            </a:r>
            <a:r>
              <a:rPr lang="zh-CN" altLang="en-US" b="1" dirty="0" smtClean="0">
                <a:latin typeface="Times New Roman" panose="02020603050405020304" pitchFamily="18" charset="0"/>
                <a:ea typeface="黑体" panose="02010609060101010101" charset="-122"/>
              </a:rPr>
              <a:t>空气的相对湿度为</a:t>
            </a:r>
            <a:r>
              <a:rPr lang="en-US" altLang="zh-CN" b="1" dirty="0" smtClean="0">
                <a:latin typeface="Times New Roman" panose="02020603050405020304" pitchFamily="18" charset="0"/>
                <a:ea typeface="黑体" panose="02010609060101010101" charset="-122"/>
              </a:rPr>
              <a:t>100%</a:t>
            </a:r>
            <a:r>
              <a:rPr lang="zh-CN" altLang="en-US" b="1" dirty="0" smtClean="0">
                <a:latin typeface="Times New Roman" panose="02020603050405020304" pitchFamily="18" charset="0"/>
                <a:ea typeface="黑体" panose="02010609060101010101" charset="-122"/>
              </a:rPr>
              <a:t>，除非提高空气的温度，否则它不能再吸收水分；而干空气（</a:t>
            </a:r>
            <a:r>
              <a:rPr lang="en-US" altLang="zh-CN" b="1" dirty="0" smtClean="0">
                <a:latin typeface="Times New Roman" panose="02020603050405020304" pitchFamily="18" charset="0"/>
                <a:ea typeface="黑体" panose="02010609060101010101" charset="-122"/>
              </a:rPr>
              <a:t>dry air</a:t>
            </a:r>
            <a:r>
              <a:rPr lang="zh-CN" altLang="en-US" b="1" dirty="0" smtClean="0">
                <a:latin typeface="Times New Roman" panose="02020603050405020304" pitchFamily="18" charset="0"/>
                <a:ea typeface="黑体" panose="02010609060101010101" charset="-122"/>
              </a:rPr>
              <a:t>，不含水蒸气的空气）的相对湿度等于</a:t>
            </a:r>
            <a:r>
              <a:rPr lang="en-US" altLang="zh-CN" b="1" dirty="0" smtClean="0">
                <a:latin typeface="Times New Roman" panose="02020603050405020304" pitchFamily="18" charset="0"/>
                <a:ea typeface="黑体" panose="02010609060101010101" charset="-122"/>
              </a:rPr>
              <a:t>0</a:t>
            </a:r>
            <a:endParaRPr lang="zh-CN" altLang="en-US" b="1" dirty="0" smtClean="0">
              <a:latin typeface="Times New Roman" panose="02020603050405020304" pitchFamily="18" charset="0"/>
              <a:ea typeface="黑体" panose="020106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7637">
                                            <p:txEl>
                                              <p:pRg st="1" end="1"/>
                                            </p:txEl>
                                          </p:spTgt>
                                        </p:tgtEl>
                                        <p:attrNameLst>
                                          <p:attrName>style.visibility</p:attrName>
                                        </p:attrNameLst>
                                      </p:cBhvr>
                                      <p:to>
                                        <p:strVal val="visible"/>
                                      </p:to>
                                    </p:set>
                                    <p:animEffect transition="in" filter="blinds(horizontal)">
                                      <p:cBhvr>
                                        <p:cTn id="7" dur="500"/>
                                        <p:tgtEl>
                                          <p:spTgt spid="19763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矩形 217092" descr="alt"/>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panose="02010600030101010101" pitchFamily="2" charset="-122"/>
            </a:endParaRPr>
          </a:p>
        </p:txBody>
      </p:sp>
      <p:pic>
        <p:nvPicPr>
          <p:cNvPr id="43010" name="图片 2170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650" y="692150"/>
            <a:ext cx="7523163"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497232" y="343923"/>
            <a:ext cx="2244525" cy="584775"/>
          </a:xfrm>
          <a:prstGeom prst="rect">
            <a:avLst/>
          </a:prstGeom>
        </p:spPr>
        <p:txBody>
          <a:bodyPr wrap="none">
            <a:spAutoFit/>
          </a:bodyPr>
          <a:lstStyle/>
          <a:p>
            <a:r>
              <a:rPr lang="zh-CN" altLang="en-US" sz="3200" b="1" dirty="0" smtClean="0"/>
              <a:t>三、含湿量</a:t>
            </a:r>
            <a:endParaRPr lang="zh-CN" altLang="en-US" sz="3200" b="1" dirty="0"/>
          </a:p>
        </p:txBody>
      </p:sp>
      <p:sp>
        <p:nvSpPr>
          <p:cNvPr id="4" name="矩形 3"/>
          <p:cNvSpPr/>
          <p:nvPr/>
        </p:nvSpPr>
        <p:spPr>
          <a:xfrm>
            <a:off x="497232" y="1711236"/>
            <a:ext cx="8321648" cy="3108543"/>
          </a:xfrm>
          <a:prstGeom prst="rect">
            <a:avLst/>
          </a:prstGeom>
        </p:spPr>
        <p:txBody>
          <a:bodyPr wrap="square">
            <a:spAutoFit/>
          </a:bodyPr>
          <a:lstStyle/>
          <a:p>
            <a:pPr marL="457200" indent="-457200">
              <a:buFont typeface="Arial" panose="020B0604020202020204" pitchFamily="34" charset="0"/>
              <a:buChar char="•"/>
            </a:pPr>
            <a:r>
              <a:rPr lang="zh-CN" altLang="en-US" sz="2800" b="1" dirty="0"/>
              <a:t>以湿空气为工质的某些过程，例如干燥、吸湿等过程中，干空气作为载热体或载湿体，它的质量或质量流量是恒定的，发生变化的只是湿空气中水蒸气的</a:t>
            </a:r>
            <a:r>
              <a:rPr lang="zh-CN" altLang="en-US" sz="2800" b="1" dirty="0" smtClean="0"/>
              <a:t>质量</a:t>
            </a:r>
            <a:endParaRPr lang="en-US" altLang="zh-CN" sz="2800" b="1" dirty="0" smtClean="0"/>
          </a:p>
          <a:p>
            <a:pPr marL="457200" indent="-457200">
              <a:buFont typeface="Arial" panose="020B0604020202020204" pitchFamily="34" charset="0"/>
              <a:buChar char="•"/>
            </a:pPr>
            <a:r>
              <a:rPr lang="zh-CN" altLang="en-US" sz="2800" b="1" dirty="0"/>
              <a:t>因此，湿空气的一些状态参数，如湿空气的含湿量、比焓等，都是以单位质量干空气为基准，以方便计算</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20480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49155" name="对象 204803"/>
          <p:cNvGraphicFramePr/>
          <p:nvPr/>
        </p:nvGraphicFramePr>
        <p:xfrm>
          <a:off x="3533223" y="1917424"/>
          <a:ext cx="1368425" cy="1206500"/>
        </p:xfrm>
        <a:graphic>
          <a:graphicData uri="http://schemas.openxmlformats.org/presentationml/2006/ole">
            <mc:AlternateContent xmlns:mc="http://schemas.openxmlformats.org/markup-compatibility/2006">
              <mc:Choice xmlns:v="urn:schemas-microsoft-com:vml" Requires="v">
                <p:oleObj spid="_x0000_s7220" name="" r:id="rId1" imgW="482600" imgH="431800" progId="Equation.DSMT4">
                  <p:embed/>
                </p:oleObj>
              </mc:Choice>
              <mc:Fallback>
                <p:oleObj name="" r:id="rId1" imgW="482600" imgH="431800" progId="Equation.DSMT4">
                  <p:embed/>
                  <p:pic>
                    <p:nvPicPr>
                      <p:cNvPr id="0" name="对象 20480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3223" y="1917424"/>
                        <a:ext cx="1368425"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331304" y="450821"/>
            <a:ext cx="8222974" cy="954107"/>
          </a:xfrm>
          <a:prstGeom prst="rect">
            <a:avLst/>
          </a:prstGeom>
        </p:spPr>
        <p:txBody>
          <a:bodyPr wrap="square">
            <a:spAutoFit/>
          </a:bodyPr>
          <a:lstStyle/>
          <a:p>
            <a:pPr marL="457200" indent="-457200">
              <a:buFont typeface="Arial" panose="020B0604020202020204" pitchFamily="34" charset="0"/>
              <a:buChar char="•"/>
            </a:pPr>
            <a:r>
              <a:rPr lang="zh-CN" altLang="en-US" sz="2800" b="1" dirty="0">
                <a:solidFill>
                  <a:srgbClr val="FF0000"/>
                </a:solidFill>
              </a:rPr>
              <a:t>含湿量</a:t>
            </a:r>
            <a:r>
              <a:rPr lang="zh-CN" altLang="en-US" sz="2800" b="1" dirty="0"/>
              <a:t>是指湿空气中包含的水蒸气质量</a:t>
            </a:r>
            <a:r>
              <a:rPr lang="zh-CN" altLang="en-US" sz="2800" b="1" i="1" dirty="0">
                <a:latin typeface="Times New Roman" panose="02020603050405020304" pitchFamily="18" charset="0"/>
                <a:cs typeface="Times New Roman" panose="02020603050405020304" pitchFamily="18" charset="0"/>
              </a:rPr>
              <a:t>m</a:t>
            </a:r>
            <a:r>
              <a:rPr lang="zh-CN" altLang="en-US" sz="2800" b="1" baseline="-25000" dirty="0">
                <a:latin typeface="Times New Roman" panose="02020603050405020304" pitchFamily="18" charset="0"/>
                <a:cs typeface="Times New Roman" panose="02020603050405020304" pitchFamily="18" charset="0"/>
              </a:rPr>
              <a:t>v</a:t>
            </a:r>
            <a:r>
              <a:rPr lang="zh-CN" altLang="en-US" sz="2800" b="1" dirty="0">
                <a:latin typeface="Times New Roman" panose="02020603050405020304" pitchFamily="18" charset="0"/>
                <a:cs typeface="Times New Roman" panose="02020603050405020304" pitchFamily="18" charset="0"/>
              </a:rPr>
              <a:t>与干空气</a:t>
            </a:r>
            <a:r>
              <a:rPr lang="zh-CN" altLang="en-US" sz="2800" b="1" dirty="0" smtClean="0">
                <a:latin typeface="Times New Roman" panose="02020603050405020304" pitchFamily="18" charset="0"/>
                <a:cs typeface="Times New Roman" panose="02020603050405020304" pitchFamily="18" charset="0"/>
              </a:rPr>
              <a:t>质量</a:t>
            </a:r>
            <a:r>
              <a:rPr lang="zh-CN" altLang="en-US" sz="2800" b="1" i="1" dirty="0" smtClean="0">
                <a:latin typeface="Times New Roman" panose="02020603050405020304" pitchFamily="18" charset="0"/>
                <a:cs typeface="Times New Roman" panose="02020603050405020304" pitchFamily="18" charset="0"/>
              </a:rPr>
              <a:t>m</a:t>
            </a:r>
            <a:r>
              <a:rPr lang="en-US" altLang="zh-CN" sz="2800" b="1" baseline="-25000" dirty="0" smtClean="0">
                <a:latin typeface="Times New Roman" panose="02020603050405020304" pitchFamily="18" charset="0"/>
                <a:cs typeface="Times New Roman" panose="02020603050405020304" pitchFamily="18" charset="0"/>
              </a:rPr>
              <a:t>a</a:t>
            </a:r>
            <a:r>
              <a:rPr lang="zh-CN" altLang="en-US" sz="2800" b="1" dirty="0" smtClean="0">
                <a:latin typeface="Times New Roman" panose="02020603050405020304" pitchFamily="18" charset="0"/>
                <a:cs typeface="Times New Roman" panose="02020603050405020304" pitchFamily="18" charset="0"/>
              </a:rPr>
              <a:t>的</a:t>
            </a:r>
            <a:r>
              <a:rPr lang="zh-CN" altLang="en-US" sz="2800" b="1" dirty="0">
                <a:latin typeface="Times New Roman" panose="02020603050405020304" pitchFamily="18" charset="0"/>
                <a:cs typeface="Times New Roman" panose="02020603050405020304" pitchFamily="18" charset="0"/>
              </a:rPr>
              <a:t>比值，用符号</a:t>
            </a:r>
            <a:r>
              <a:rPr lang="zh-CN" altLang="en-US" sz="2800" b="1" i="1" dirty="0">
                <a:latin typeface="Times New Roman" panose="02020603050405020304" pitchFamily="18" charset="0"/>
                <a:cs typeface="Times New Roman" panose="02020603050405020304" pitchFamily="18" charset="0"/>
              </a:rPr>
              <a:t>d</a:t>
            </a:r>
            <a:r>
              <a:rPr lang="zh-CN" altLang="en-US" sz="2800" b="1" dirty="0">
                <a:latin typeface="Times New Roman" panose="02020603050405020304" pitchFamily="18" charset="0"/>
                <a:cs typeface="Times New Roman" panose="02020603050405020304" pitchFamily="18" charset="0"/>
              </a:rPr>
              <a:t>表示 </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331304" y="4085377"/>
            <a:ext cx="8222974" cy="954107"/>
          </a:xfrm>
          <a:prstGeom prst="rect">
            <a:avLst/>
          </a:prstGeom>
        </p:spPr>
        <p:txBody>
          <a:bodyPr wrap="square">
            <a:spAutoFit/>
          </a:bodyPr>
          <a:lstStyle/>
          <a:p>
            <a:pPr marL="457200" indent="-457200">
              <a:buFont typeface="Arial" panose="020B0604020202020204" pitchFamily="34" charset="0"/>
              <a:buChar char="•"/>
            </a:pPr>
            <a:r>
              <a:rPr lang="zh-CN" altLang="en-US" sz="2800" b="1" dirty="0"/>
              <a:t>含湿量代表了单位质量的干空气所携带的水蒸气质量，其单位为：</a:t>
            </a:r>
            <a:r>
              <a:rPr lang="zh-CN" altLang="en-US" sz="2800" b="1" dirty="0">
                <a:latin typeface="Times New Roman" panose="02020603050405020304" pitchFamily="18" charset="0"/>
                <a:cs typeface="Times New Roman" panose="02020603050405020304" pitchFamily="18" charset="0"/>
              </a:rPr>
              <a:t>kg（水蒸气）/kg（干空气） </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矩形 205828"/>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50178" name="矩形 205830"/>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0179" name="对象 205831"/>
          <p:cNvGraphicFramePr>
            <a:graphicFrameLocks noChangeAspect="1"/>
          </p:cNvGraphicFramePr>
          <p:nvPr/>
        </p:nvGraphicFramePr>
        <p:xfrm>
          <a:off x="2700338" y="188914"/>
          <a:ext cx="1302456" cy="1165355"/>
        </p:xfrm>
        <a:graphic>
          <a:graphicData uri="http://schemas.openxmlformats.org/presentationml/2006/ole">
            <mc:AlternateContent xmlns:mc="http://schemas.openxmlformats.org/markup-compatibility/2006">
              <mc:Choice xmlns:v="urn:schemas-microsoft-com:vml" Requires="v">
                <p:oleObj spid="_x0000_s8684" name="" r:id="rId1" imgW="482600" imgH="431800" progId="Equation.DSMT4">
                  <p:embed/>
                </p:oleObj>
              </mc:Choice>
              <mc:Fallback>
                <p:oleObj name="" r:id="rId1" imgW="482600" imgH="431800" progId="Equation.DSMT4">
                  <p:embed/>
                  <p:pic>
                    <p:nvPicPr>
                      <p:cNvPr id="0" name="对象 20583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188914"/>
                        <a:ext cx="1302456" cy="1165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0180" name="组合 205851"/>
          <p:cNvGrpSpPr/>
          <p:nvPr/>
        </p:nvGrpSpPr>
        <p:grpSpPr bwMode="auto">
          <a:xfrm>
            <a:off x="395288" y="1484313"/>
            <a:ext cx="3240087" cy="2017712"/>
            <a:chOff x="477" y="1207"/>
            <a:chExt cx="2041" cy="1271"/>
          </a:xfrm>
        </p:grpSpPr>
        <p:graphicFrame>
          <p:nvGraphicFramePr>
            <p:cNvPr id="50181" name="对象 205827"/>
            <p:cNvGraphicFramePr/>
            <p:nvPr/>
          </p:nvGraphicFramePr>
          <p:xfrm>
            <a:off x="567" y="1253"/>
            <a:ext cx="1814" cy="622"/>
          </p:xfrm>
          <a:graphic>
            <a:graphicData uri="http://schemas.openxmlformats.org/presentationml/2006/ole">
              <mc:AlternateContent xmlns:mc="http://schemas.openxmlformats.org/markup-compatibility/2006">
                <mc:Choice xmlns:v="urn:schemas-microsoft-com:vml" Requires="v">
                  <p:oleObj spid="_x0000_s8685" name="" r:id="rId3" imgW="1333500" imgH="457200" progId="Equation.DSMT4">
                    <p:embed/>
                  </p:oleObj>
                </mc:Choice>
                <mc:Fallback>
                  <p:oleObj name="" r:id="rId3" imgW="1333500" imgH="457200" progId="Equation.DSMT4">
                    <p:embed/>
                    <p:pic>
                      <p:nvPicPr>
                        <p:cNvPr id="0" name="对象 2058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 y="1253"/>
                          <a:ext cx="1814" cy="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0182" name="对象 205829"/>
            <p:cNvGraphicFramePr/>
            <p:nvPr/>
          </p:nvGraphicFramePr>
          <p:xfrm>
            <a:off x="545" y="1842"/>
            <a:ext cx="1837" cy="634"/>
          </p:xfrm>
          <a:graphic>
            <a:graphicData uri="http://schemas.openxmlformats.org/presentationml/2006/ole">
              <mc:AlternateContent xmlns:mc="http://schemas.openxmlformats.org/markup-compatibility/2006">
                <mc:Choice xmlns:v="urn:schemas-microsoft-com:vml" Requires="v">
                  <p:oleObj spid="_x0000_s8686" name="" r:id="rId5" imgW="1320800" imgH="457200" progId="Equation.DSMT4">
                    <p:embed/>
                  </p:oleObj>
                </mc:Choice>
                <mc:Fallback>
                  <p:oleObj name="" r:id="rId5" imgW="1320800" imgH="457200" progId="Equation.DSMT4">
                    <p:embed/>
                    <p:pic>
                      <p:nvPicPr>
                        <p:cNvPr id="0" name="对象 2058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5" y="1842"/>
                          <a:ext cx="1837"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3" name="矩形 205832"/>
            <p:cNvSpPr>
              <a:spLocks noChangeArrowheads="1"/>
            </p:cNvSpPr>
            <p:nvPr/>
          </p:nvSpPr>
          <p:spPr bwMode="auto">
            <a:xfrm>
              <a:off x="477" y="1207"/>
              <a:ext cx="2041" cy="1271"/>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grpSp>
      <p:sp>
        <p:nvSpPr>
          <p:cNvPr id="50184" name="矩形 205834"/>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0185" name="对象 205833"/>
          <p:cNvGraphicFramePr/>
          <p:nvPr/>
        </p:nvGraphicFramePr>
        <p:xfrm>
          <a:off x="4140200" y="1628775"/>
          <a:ext cx="3168650" cy="463550"/>
        </p:xfrm>
        <a:graphic>
          <a:graphicData uri="http://schemas.openxmlformats.org/presentationml/2006/ole">
            <mc:AlternateContent xmlns:mc="http://schemas.openxmlformats.org/markup-compatibility/2006">
              <mc:Choice xmlns:v="urn:schemas-microsoft-com:vml" Requires="v">
                <p:oleObj spid="_x0000_s8687" name="" r:id="rId7" imgW="1625600" imgH="241300" progId="Equation.DSMT4">
                  <p:embed/>
                </p:oleObj>
              </mc:Choice>
              <mc:Fallback>
                <p:oleObj name="" r:id="rId7" imgW="1625600" imgH="241300" progId="Equation.DSMT4">
                  <p:embed/>
                  <p:pic>
                    <p:nvPicPr>
                      <p:cNvPr id="0" name="对象 20583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40200" y="1628775"/>
                        <a:ext cx="31686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0186" name="对象 205835"/>
          <p:cNvGraphicFramePr>
            <a:graphicFrameLocks noChangeAspect="1"/>
          </p:cNvGraphicFramePr>
          <p:nvPr/>
        </p:nvGraphicFramePr>
        <p:xfrm>
          <a:off x="4140200" y="2268538"/>
          <a:ext cx="3046095" cy="470535"/>
        </p:xfrm>
        <a:graphic>
          <a:graphicData uri="http://schemas.openxmlformats.org/presentationml/2006/ole">
            <mc:AlternateContent xmlns:mc="http://schemas.openxmlformats.org/markup-compatibility/2006">
              <mc:Choice xmlns:v="urn:schemas-microsoft-com:vml" Requires="v">
                <p:oleObj spid="_x0000_s8688" name="" r:id="rId9" imgW="1562100" imgH="241300" progId="Equation.DSMT4">
                  <p:embed/>
                </p:oleObj>
              </mc:Choice>
              <mc:Fallback>
                <p:oleObj name="" r:id="rId9" imgW="1562100" imgH="241300" progId="Equation.DSMT4">
                  <p:embed/>
                  <p:pic>
                    <p:nvPicPr>
                      <p:cNvPr id="0" name="对象 20583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0200" y="2268538"/>
                        <a:ext cx="3046095" cy="470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0187" name="矩形 20583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5838" name="对象 205837"/>
          <p:cNvGraphicFramePr/>
          <p:nvPr/>
        </p:nvGraphicFramePr>
        <p:xfrm>
          <a:off x="468313" y="4581525"/>
          <a:ext cx="3240087" cy="977900"/>
        </p:xfrm>
        <a:graphic>
          <a:graphicData uri="http://schemas.openxmlformats.org/presentationml/2006/ole">
            <mc:AlternateContent xmlns:mc="http://schemas.openxmlformats.org/markup-compatibility/2006">
              <mc:Choice xmlns:v="urn:schemas-microsoft-com:vml" Requires="v">
                <p:oleObj spid="_x0000_s8689" name="" r:id="rId11" imgW="1422400" imgH="431800" progId="Equation.DSMT4">
                  <p:embed/>
                </p:oleObj>
              </mc:Choice>
              <mc:Fallback>
                <p:oleObj name="" r:id="rId11" imgW="1422400" imgH="431800" progId="Equation.DSMT4">
                  <p:embed/>
                  <p:pic>
                    <p:nvPicPr>
                      <p:cNvPr id="0" name="对象 20583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8313" y="4581525"/>
                        <a:ext cx="3240087"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840" name="对象 205839"/>
          <p:cNvGraphicFramePr/>
          <p:nvPr/>
        </p:nvGraphicFramePr>
        <p:xfrm>
          <a:off x="3995738" y="4262438"/>
          <a:ext cx="1584325" cy="493712"/>
        </p:xfrm>
        <a:graphic>
          <a:graphicData uri="http://schemas.openxmlformats.org/presentationml/2006/ole">
            <mc:AlternateContent xmlns:mc="http://schemas.openxmlformats.org/markup-compatibility/2006">
              <mc:Choice xmlns:v="urn:schemas-microsoft-com:vml" Requires="v">
                <p:oleObj spid="_x0000_s8690" name="" r:id="rId13" imgW="736600" imgH="228600" progId="Equation.DSMT4">
                  <p:embed/>
                </p:oleObj>
              </mc:Choice>
              <mc:Fallback>
                <p:oleObj name="" r:id="rId13" imgW="736600" imgH="228600" progId="Equation.DSMT4">
                  <p:embed/>
                  <p:pic>
                    <p:nvPicPr>
                      <p:cNvPr id="0" name="对象 20583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95738" y="4262438"/>
                        <a:ext cx="1584325" cy="493712"/>
                      </a:xfrm>
                      <a:prstGeom prst="rect">
                        <a:avLst/>
                      </a:prstGeom>
                      <a:noFill/>
                      <a:ln w="1270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90" name="矩形 205844"/>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pSp>
        <p:nvGrpSpPr>
          <p:cNvPr id="205854" name="组合 205853"/>
          <p:cNvGrpSpPr>
            <a:grpSpLocks noChangeAspect="1"/>
          </p:cNvGrpSpPr>
          <p:nvPr/>
        </p:nvGrpSpPr>
        <p:grpSpPr bwMode="auto">
          <a:xfrm>
            <a:off x="3995738" y="4437063"/>
            <a:ext cx="4572000" cy="976312"/>
            <a:chOff x="2517" y="2795"/>
            <a:chExt cx="2880" cy="615"/>
          </a:xfrm>
        </p:grpSpPr>
        <p:sp>
          <p:nvSpPr>
            <p:cNvPr id="50192" name="右箭头 205842"/>
            <p:cNvSpPr>
              <a:spLocks noChangeArrowheads="1"/>
            </p:cNvSpPr>
            <p:nvPr/>
          </p:nvSpPr>
          <p:spPr bwMode="auto">
            <a:xfrm>
              <a:off x="2517" y="3067"/>
              <a:ext cx="1179" cy="136"/>
            </a:xfrm>
            <a:prstGeom prst="rightArrow">
              <a:avLst>
                <a:gd name="adj1" fmla="val 50000"/>
                <a:gd name="adj2" fmla="val 216567"/>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graphicFrame>
          <p:nvGraphicFramePr>
            <p:cNvPr id="50193" name="对象 205843"/>
            <p:cNvGraphicFramePr>
              <a:graphicFrameLocks noChangeAspect="1"/>
            </p:cNvGraphicFramePr>
            <p:nvPr/>
          </p:nvGraphicFramePr>
          <p:xfrm>
            <a:off x="3878" y="2795"/>
            <a:ext cx="1519" cy="615"/>
          </p:xfrm>
          <a:graphic>
            <a:graphicData uri="http://schemas.openxmlformats.org/presentationml/2006/ole">
              <mc:AlternateContent xmlns:mc="http://schemas.openxmlformats.org/markup-compatibility/2006">
                <mc:Choice xmlns:v="urn:schemas-microsoft-com:vml" Requires="v">
                  <p:oleObj spid="_x0000_s8691" name="Equation" r:id="rId15" imgW="1066800" imgH="431800" progId="Equation.DSMT4">
                    <p:embed/>
                  </p:oleObj>
                </mc:Choice>
                <mc:Fallback>
                  <p:oleObj name="Equation" r:id="rId15" imgW="1066800" imgH="431800" progId="Equation.DSMT4">
                    <p:embed/>
                    <p:pic>
                      <p:nvPicPr>
                        <p:cNvPr id="0" name="对象 205843"/>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878" y="2795"/>
                          <a:ext cx="1519" cy="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50194" name="矩形 205846"/>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5846" name="对象 205845"/>
          <p:cNvGraphicFramePr/>
          <p:nvPr/>
        </p:nvGraphicFramePr>
        <p:xfrm>
          <a:off x="5580063" y="5610225"/>
          <a:ext cx="2952750" cy="965200"/>
        </p:xfrm>
        <a:graphic>
          <a:graphicData uri="http://schemas.openxmlformats.org/presentationml/2006/ole">
            <mc:AlternateContent xmlns:mc="http://schemas.openxmlformats.org/markup-compatibility/2006">
              <mc:Choice xmlns:v="urn:schemas-microsoft-com:vml" Requires="v">
                <p:oleObj spid="_x0000_s8692" name="Equation" r:id="rId17" imgW="31394400" imgH="10363200" progId="Equation.DSMT4">
                  <p:embed/>
                </p:oleObj>
              </mc:Choice>
              <mc:Fallback>
                <p:oleObj name="Equation" r:id="rId17" imgW="31394400" imgH="10363200" progId="Equation.DSMT4">
                  <p:embed/>
                  <p:pic>
                    <p:nvPicPr>
                      <p:cNvPr id="0" name="对象 205845"/>
                      <p:cNvPicPr>
                        <a:picLocks noChangeArrowheads="1"/>
                      </p:cNvPicPr>
                      <p:nvPr/>
                    </p:nvPicPr>
                    <p:blipFill>
                      <a:blip r:embed="rId18"/>
                      <a:srcRect/>
                      <a:stretch>
                        <a:fillRect/>
                      </a:stretch>
                    </p:blipFill>
                    <p:spPr bwMode="auto">
                      <a:xfrm>
                        <a:off x="5580063" y="5610225"/>
                        <a:ext cx="295275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5848" name="右箭头 205847"/>
          <p:cNvSpPr>
            <a:spLocks noChangeArrowheads="1"/>
          </p:cNvSpPr>
          <p:nvPr/>
        </p:nvSpPr>
        <p:spPr bwMode="auto">
          <a:xfrm rot="994288">
            <a:off x="3563938" y="5805488"/>
            <a:ext cx="1944687" cy="215900"/>
          </a:xfrm>
          <a:prstGeom prst="rightArrow">
            <a:avLst>
              <a:gd name="adj1" fmla="val 50000"/>
              <a:gd name="adj2" fmla="val 225017"/>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50197" name="矩形 205849"/>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5849" name="对象 205848"/>
          <p:cNvGraphicFramePr/>
          <p:nvPr/>
        </p:nvGraphicFramePr>
        <p:xfrm>
          <a:off x="4098925" y="5204035"/>
          <a:ext cx="1377950" cy="647700"/>
        </p:xfrm>
        <a:graphic>
          <a:graphicData uri="http://schemas.openxmlformats.org/presentationml/2006/ole">
            <mc:AlternateContent xmlns:mc="http://schemas.openxmlformats.org/markup-compatibility/2006">
              <mc:Choice xmlns:v="urn:schemas-microsoft-com:vml" Requires="v">
                <p:oleObj spid="_x0000_s8693" name="Equation" r:id="rId19" imgW="21945600" imgH="10363200" progId="Equation.DSMT4">
                  <p:embed/>
                </p:oleObj>
              </mc:Choice>
              <mc:Fallback>
                <p:oleObj name="Equation" r:id="rId19" imgW="21945600" imgH="10363200" progId="Equation.DSMT4">
                  <p:embed/>
                  <p:pic>
                    <p:nvPicPr>
                      <p:cNvPr id="0" name="对象 205848"/>
                      <p:cNvPicPr>
                        <a:picLocks noChangeArrowheads="1"/>
                      </p:cNvPicPr>
                      <p:nvPr/>
                    </p:nvPicPr>
                    <p:blipFill>
                      <a:blip r:embed="rId20"/>
                      <a:srcRect/>
                      <a:stretch>
                        <a:fillRect/>
                      </a:stretch>
                    </p:blipFill>
                    <p:spPr bwMode="auto">
                      <a:xfrm>
                        <a:off x="4098925" y="5204035"/>
                        <a:ext cx="1377950" cy="647700"/>
                      </a:xfrm>
                      <a:prstGeom prst="rect">
                        <a:avLst/>
                      </a:prstGeom>
                      <a:noFill/>
                      <a:ln w="12700">
                        <a:solidFill>
                          <a:srgbClr val="D6D6D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00" name="矩形 205852"/>
          <p:cNvSpPr>
            <a:spLocks noChangeArrowheads="1"/>
          </p:cNvSpPr>
          <p:nvPr/>
        </p:nvSpPr>
        <p:spPr bwMode="auto">
          <a:xfrm>
            <a:off x="4298950" y="531813"/>
            <a:ext cx="46085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latin typeface="Times New Roman" panose="02020603050405020304" pitchFamily="18" charset="0"/>
                <a:ea typeface="宋体" panose="02010600030101010101" pitchFamily="2" charset="-122"/>
              </a:rPr>
              <a:t>kg</a:t>
            </a:r>
            <a:r>
              <a:rPr lang="zh-CN" altLang="en-US" sz="2800" b="1">
                <a:latin typeface="Times New Roman" panose="02020603050405020304" pitchFamily="18" charset="0"/>
                <a:ea typeface="宋体" panose="02010600030101010101" pitchFamily="2" charset="-122"/>
              </a:rPr>
              <a:t>（水蒸气）</a:t>
            </a:r>
            <a:r>
              <a:rPr lang="en-US" altLang="zh-CN" sz="2800" b="1">
                <a:latin typeface="Times New Roman" panose="02020603050405020304" pitchFamily="18" charset="0"/>
                <a:ea typeface="宋体" panose="02010600030101010101" pitchFamily="2" charset="-122"/>
              </a:rPr>
              <a:t>/kg</a:t>
            </a:r>
            <a:r>
              <a:rPr lang="zh-CN" altLang="en-US" sz="2800" b="1">
                <a:latin typeface="Times New Roman" panose="02020603050405020304" pitchFamily="18" charset="0"/>
                <a:ea typeface="宋体" panose="02010600030101010101" pitchFamily="2" charset="-122"/>
              </a:rPr>
              <a:t>（干空气）</a:t>
            </a:r>
            <a:endParaRPr lang="zh-CN" altLang="en-US" sz="2800" b="1">
              <a:latin typeface="Times New Roman" panose="02020603050405020304" pitchFamily="18" charset="0"/>
              <a:ea typeface="宋体" panose="02010600030101010101" pitchFamily="2" charset="-122"/>
            </a:endParaRPr>
          </a:p>
        </p:txBody>
      </p:sp>
      <p:grpSp>
        <p:nvGrpSpPr>
          <p:cNvPr id="7" name="组合 6"/>
          <p:cNvGrpSpPr/>
          <p:nvPr/>
        </p:nvGrpSpPr>
        <p:grpSpPr>
          <a:xfrm>
            <a:off x="5724525" y="2979421"/>
            <a:ext cx="3168650" cy="1687829"/>
            <a:chOff x="5724525" y="2979421"/>
            <a:chExt cx="3168650" cy="1687829"/>
          </a:xfrm>
        </p:grpSpPr>
        <p:grpSp>
          <p:nvGrpSpPr>
            <p:cNvPr id="205857" name="组合 205856"/>
            <p:cNvGrpSpPr/>
            <p:nvPr/>
          </p:nvGrpSpPr>
          <p:grpSpPr bwMode="auto">
            <a:xfrm>
              <a:off x="5724525" y="2997200"/>
              <a:ext cx="3168650" cy="1670050"/>
              <a:chOff x="3606" y="1888"/>
              <a:chExt cx="1996" cy="1052"/>
            </a:xfrm>
          </p:grpSpPr>
          <p:sp>
            <p:nvSpPr>
              <p:cNvPr id="50202" name="矩形 205854"/>
              <p:cNvSpPr>
                <a:spLocks noChangeArrowheads="1"/>
              </p:cNvSpPr>
              <p:nvPr/>
            </p:nvSpPr>
            <p:spPr bwMode="auto">
              <a:xfrm>
                <a:off x="3606" y="1888"/>
                <a:ext cx="1996" cy="726"/>
              </a:xfrm>
              <a:prstGeom prst="rect">
                <a:avLst/>
              </a:prstGeom>
              <a:noFill/>
              <a:ln w="1905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50203" name="直接连接符 205855"/>
              <p:cNvSpPr>
                <a:spLocks noChangeShapeType="1"/>
              </p:cNvSpPr>
              <p:nvPr/>
            </p:nvSpPr>
            <p:spPr bwMode="auto">
              <a:xfrm flipH="1">
                <a:off x="4512" y="2659"/>
                <a:ext cx="1" cy="281"/>
              </a:xfrm>
              <a:prstGeom prst="line">
                <a:avLst/>
              </a:prstGeom>
              <a:noFill/>
              <a:ln w="635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 name="矩形 1"/>
            <p:cNvSpPr/>
            <p:nvPr/>
          </p:nvSpPr>
          <p:spPr>
            <a:xfrm>
              <a:off x="5724525" y="2979421"/>
              <a:ext cx="3121301" cy="1200329"/>
            </a:xfrm>
            <a:prstGeom prst="rect">
              <a:avLst/>
            </a:prstGeom>
          </p:spPr>
          <p:txBody>
            <a:bodyPr wrap="square">
              <a:spAutoFit/>
            </a:bodyPr>
            <a:lstStyle/>
            <a:p>
              <a:r>
                <a:rPr lang="zh-CN" altLang="en-US" sz="2400" b="1" dirty="0"/>
                <a:t>湿空气总压力</a:t>
              </a:r>
              <a:r>
                <a:rPr lang="zh-CN" altLang="en-US" sz="2400" b="1" i="1" dirty="0">
                  <a:latin typeface="Times New Roman" panose="02020603050405020304" pitchFamily="18" charset="0"/>
                  <a:cs typeface="Times New Roman" panose="02020603050405020304" pitchFamily="18" charset="0"/>
                </a:rPr>
                <a:t>p</a:t>
              </a:r>
              <a:r>
                <a:rPr lang="zh-CN" altLang="en-US" sz="2400" b="1" dirty="0"/>
                <a:t>不变时，一定的水蒸气分压力对应着一定的含湿量 </a:t>
              </a:r>
              <a:endParaRPr lang="zh-CN" altLang="en-US" sz="2400" b="1" dirty="0"/>
            </a:p>
          </p:txBody>
        </p:sp>
      </p:grpSp>
    </p:spTree>
    <p:custDataLst>
      <p:tags r:id="rId2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838"/>
                                        </p:tgtEl>
                                        <p:attrNameLst>
                                          <p:attrName>style.visibility</p:attrName>
                                        </p:attrNameLst>
                                      </p:cBhvr>
                                      <p:to>
                                        <p:strVal val="visible"/>
                                      </p:to>
                                    </p:set>
                                    <p:animEffect transition="in" filter="blinds(horizontal)">
                                      <p:cBhvr>
                                        <p:cTn id="7" dur="500"/>
                                        <p:tgtEl>
                                          <p:spTgt spid="2058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5840"/>
                                        </p:tgtEl>
                                        <p:attrNameLst>
                                          <p:attrName>style.visibility</p:attrName>
                                        </p:attrNameLst>
                                      </p:cBhvr>
                                      <p:to>
                                        <p:strVal val="visible"/>
                                      </p:to>
                                    </p:set>
                                    <p:animEffect transition="in" filter="blinds(horizontal)">
                                      <p:cBhvr>
                                        <p:cTn id="12" dur="500"/>
                                        <p:tgtEl>
                                          <p:spTgt spid="2058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5854"/>
                                        </p:tgtEl>
                                        <p:attrNameLst>
                                          <p:attrName>style.visibility</p:attrName>
                                        </p:attrNameLst>
                                      </p:cBhvr>
                                      <p:to>
                                        <p:strVal val="visible"/>
                                      </p:to>
                                    </p:set>
                                    <p:animEffect transition="in" filter="wipe(left)">
                                      <p:cBhvr>
                                        <p:cTn id="17" dur="500"/>
                                        <p:tgtEl>
                                          <p:spTgt spid="20585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5849"/>
                                        </p:tgtEl>
                                        <p:attrNameLst>
                                          <p:attrName>style.visibility</p:attrName>
                                        </p:attrNameLst>
                                      </p:cBhvr>
                                      <p:to>
                                        <p:strVal val="visible"/>
                                      </p:to>
                                    </p:set>
                                    <p:animEffect transition="in" filter="blinds(horizontal)">
                                      <p:cBhvr>
                                        <p:cTn id="27" dur="500"/>
                                        <p:tgtEl>
                                          <p:spTgt spid="2058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05848"/>
                                        </p:tgtEl>
                                        <p:attrNameLst>
                                          <p:attrName>style.visibility</p:attrName>
                                        </p:attrNameLst>
                                      </p:cBhvr>
                                      <p:to>
                                        <p:strVal val="visible"/>
                                      </p:to>
                                    </p:set>
                                    <p:animEffect transition="in" filter="wipe(up)">
                                      <p:cBhvr>
                                        <p:cTn id="32" dur="500"/>
                                        <p:tgtEl>
                                          <p:spTgt spid="205848"/>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05846"/>
                                        </p:tgtEl>
                                        <p:attrNameLst>
                                          <p:attrName>style.visibility</p:attrName>
                                        </p:attrNameLst>
                                      </p:cBhvr>
                                      <p:to>
                                        <p:strVal val="visible"/>
                                      </p:to>
                                    </p:set>
                                    <p:animEffect transition="in" filter="blinds(horizontal)">
                                      <p:cBhvr>
                                        <p:cTn id="37" dur="500"/>
                                        <p:tgtEl>
                                          <p:spTgt spid="205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4" name="对象 207876"/>
          <p:cNvGraphicFramePr>
            <a:graphicFrameLocks noChangeAspect="1"/>
          </p:cNvGraphicFramePr>
          <p:nvPr/>
        </p:nvGraphicFramePr>
        <p:xfrm>
          <a:off x="3100319" y="2247590"/>
          <a:ext cx="2498275" cy="548402"/>
        </p:xfrm>
        <a:graphic>
          <a:graphicData uri="http://schemas.openxmlformats.org/presentationml/2006/ole">
            <mc:AlternateContent xmlns:mc="http://schemas.openxmlformats.org/markup-compatibility/2006">
              <mc:Choice xmlns:v="urn:schemas-microsoft-com:vml" Requires="v">
                <p:oleObj spid="_x0000_s9316" name="" r:id="rId1" imgW="1040765" imgH="228600" progId="Equation.DSMT4">
                  <p:embed/>
                </p:oleObj>
              </mc:Choice>
              <mc:Fallback>
                <p:oleObj name="" r:id="rId1" imgW="1040765" imgH="228600" progId="Equation.DSMT4">
                  <p:embed/>
                  <p:pic>
                    <p:nvPicPr>
                      <p:cNvPr id="0" name="对象 207876"/>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319" y="2247590"/>
                        <a:ext cx="2498275" cy="5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205" name="矩形 207879"/>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7879" name="对象 207878"/>
          <p:cNvGraphicFramePr>
            <a:graphicFrameLocks noChangeAspect="1"/>
          </p:cNvGraphicFramePr>
          <p:nvPr/>
        </p:nvGraphicFramePr>
        <p:xfrm>
          <a:off x="2373105" y="4332641"/>
          <a:ext cx="4724400" cy="1036320"/>
        </p:xfrm>
        <a:graphic>
          <a:graphicData uri="http://schemas.openxmlformats.org/presentationml/2006/ole">
            <mc:AlternateContent xmlns:mc="http://schemas.openxmlformats.org/markup-compatibility/2006">
              <mc:Choice xmlns:v="urn:schemas-microsoft-com:vml" Requires="v">
                <p:oleObj spid="_x0000_s9317" name="" r:id="rId3" imgW="1968500" imgH="431800" progId="Equation.DSMT4">
                  <p:embed/>
                </p:oleObj>
              </mc:Choice>
              <mc:Fallback>
                <p:oleObj name="" r:id="rId3" imgW="1968500" imgH="431800" progId="Equation.DSMT4">
                  <p:embed/>
                  <p:pic>
                    <p:nvPicPr>
                      <p:cNvPr id="0" name="对象 2078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3105" y="4332641"/>
                        <a:ext cx="4724400" cy="103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矩形 10"/>
          <p:cNvSpPr/>
          <p:nvPr/>
        </p:nvSpPr>
        <p:spPr>
          <a:xfrm>
            <a:off x="528318" y="268288"/>
            <a:ext cx="3480440" cy="584775"/>
          </a:xfrm>
          <a:prstGeom prst="rect">
            <a:avLst/>
          </a:prstGeom>
        </p:spPr>
        <p:txBody>
          <a:bodyPr wrap="none">
            <a:spAutoFit/>
          </a:bodyPr>
          <a:lstStyle/>
          <a:p>
            <a:r>
              <a:rPr lang="zh-CN" altLang="en-US" sz="3200" b="1" dirty="0"/>
              <a:t>四</a:t>
            </a:r>
            <a:r>
              <a:rPr lang="zh-CN" altLang="en-US" sz="3200" b="1" dirty="0" smtClean="0"/>
              <a:t>、湿空气的比焓</a:t>
            </a:r>
            <a:endParaRPr lang="zh-CN" altLang="en-US" sz="3200" b="1" dirty="0"/>
          </a:p>
        </p:txBody>
      </p:sp>
      <p:sp>
        <p:nvSpPr>
          <p:cNvPr id="3" name="矩形 2"/>
          <p:cNvSpPr/>
          <p:nvPr/>
        </p:nvSpPr>
        <p:spPr>
          <a:xfrm>
            <a:off x="458787" y="1106467"/>
            <a:ext cx="8115370" cy="830997"/>
          </a:xfrm>
          <a:prstGeom prst="rect">
            <a:avLst/>
          </a:prstGeom>
        </p:spPr>
        <p:txBody>
          <a:bodyPr wrap="square">
            <a:spAutoFit/>
          </a:bodyPr>
          <a:lstStyle/>
          <a:p>
            <a:pPr marL="457200" indent="-457200">
              <a:buFont typeface="Arial" panose="020B0604020202020204" pitchFamily="34" charset="0"/>
              <a:buChar char="•"/>
            </a:pPr>
            <a:r>
              <a:rPr lang="zh-CN" altLang="en-US" sz="2400" b="1" dirty="0"/>
              <a:t>按照理想气体混合物的性质，湿空气的焓等于其中干空气的焓与水蒸气的焓之和 </a:t>
            </a:r>
            <a:endParaRPr lang="zh-CN" altLang="en-US" sz="2400" b="1" dirty="0"/>
          </a:p>
        </p:txBody>
      </p:sp>
      <p:sp>
        <p:nvSpPr>
          <p:cNvPr id="4" name="矩形 3"/>
          <p:cNvSpPr/>
          <p:nvPr/>
        </p:nvSpPr>
        <p:spPr>
          <a:xfrm>
            <a:off x="458787" y="3118358"/>
            <a:ext cx="7993382" cy="830997"/>
          </a:xfrm>
          <a:prstGeom prst="rect">
            <a:avLst/>
          </a:prstGeom>
        </p:spPr>
        <p:txBody>
          <a:bodyPr wrap="square">
            <a:spAutoFit/>
          </a:bodyPr>
          <a:lstStyle/>
          <a:p>
            <a:pPr marL="457200" indent="-457200">
              <a:buFont typeface="Arial" panose="020B0604020202020204" pitchFamily="34" charset="0"/>
              <a:buChar char="•"/>
            </a:pPr>
            <a:r>
              <a:rPr lang="zh-CN" altLang="en-US" sz="2400" b="1" dirty="0"/>
              <a:t>如前所述，为方便计算，湿空气的一些状态参数，如湿空气的含湿量、比焓等，都是以单位质量干空气为</a:t>
            </a:r>
            <a:r>
              <a:rPr lang="zh-CN" altLang="en-US" sz="2400" b="1" dirty="0" smtClean="0"/>
              <a:t>基准</a:t>
            </a:r>
            <a:endParaRPr lang="zh-CN" altLang="en-US" sz="2400" b="1" dirty="0"/>
          </a:p>
        </p:txBody>
      </p:sp>
      <p:sp>
        <p:nvSpPr>
          <p:cNvPr id="6" name="矩形 5"/>
          <p:cNvSpPr/>
          <p:nvPr/>
        </p:nvSpPr>
        <p:spPr>
          <a:xfrm>
            <a:off x="528318" y="5752248"/>
            <a:ext cx="3934090" cy="461665"/>
          </a:xfrm>
          <a:prstGeom prst="rect">
            <a:avLst/>
          </a:prstGeom>
        </p:spPr>
        <p:txBody>
          <a:bodyPr wrap="none">
            <a:spAutoFit/>
          </a:bodyPr>
          <a:lstStyle/>
          <a:p>
            <a:pPr marL="457200" indent="-45720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单位：kJ/kg（干空气） </a:t>
            </a:r>
            <a:endParaRPr lang="zh-CN" altLang="en-US" sz="2400" b="1" dirty="0">
              <a:latin typeface="Times New Roman" panose="02020603050405020304" pitchFamily="18" charset="0"/>
              <a:cs typeface="Times New Roman" panose="02020603050405020304" pitchFamily="18"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07879"/>
                                        </p:tgtEl>
                                        <p:attrNameLst>
                                          <p:attrName>style.visibility</p:attrName>
                                        </p:attrNameLst>
                                      </p:cBhvr>
                                      <p:to>
                                        <p:strVal val="visible"/>
                                      </p:to>
                                    </p:set>
                                    <p:animEffect transition="in" filter="blinds(horizontal)">
                                      <p:cBhvr>
                                        <p:cTn id="11" dur="500"/>
                                        <p:tgtEl>
                                          <p:spTgt spid="20787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6" name="对象 206852"/>
          <p:cNvGraphicFramePr>
            <a:graphicFrameLocks noChangeAspect="1"/>
          </p:cNvGraphicFramePr>
          <p:nvPr/>
        </p:nvGraphicFramePr>
        <p:xfrm>
          <a:off x="2603500" y="267755"/>
          <a:ext cx="3937000" cy="863600"/>
        </p:xfrm>
        <a:graphic>
          <a:graphicData uri="http://schemas.openxmlformats.org/presentationml/2006/ole">
            <mc:AlternateContent xmlns:mc="http://schemas.openxmlformats.org/markup-compatibility/2006">
              <mc:Choice xmlns:v="urn:schemas-microsoft-com:vml" Requires="v">
                <p:oleObj spid="_x0000_s10585" name="" r:id="rId1" imgW="1968500" imgH="431800" progId="Equation.DSMT4">
                  <p:embed/>
                </p:oleObj>
              </mc:Choice>
              <mc:Fallback>
                <p:oleObj name="" r:id="rId1" imgW="1968500" imgH="431800" progId="Equation.DSMT4">
                  <p:embed/>
                  <p:pic>
                    <p:nvPicPr>
                      <p:cNvPr id="0" name="对象 20685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3500" y="267755"/>
                        <a:ext cx="39370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27" name="矩形 206854"/>
          <p:cNvSpPr>
            <a:spLocks noChangeArrowheads="1"/>
          </p:cNvSpPr>
          <p:nvPr/>
        </p:nvSpPr>
        <p:spPr bwMode="auto">
          <a:xfrm>
            <a:off x="0" y="4021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6854" name="对象 206853"/>
          <p:cNvGraphicFramePr>
            <a:graphicFrameLocks noChangeAspect="1"/>
          </p:cNvGraphicFramePr>
          <p:nvPr/>
        </p:nvGraphicFramePr>
        <p:xfrm>
          <a:off x="2759362" y="2928710"/>
          <a:ext cx="1320226" cy="482390"/>
        </p:xfrm>
        <a:graphic>
          <a:graphicData uri="http://schemas.openxmlformats.org/presentationml/2006/ole">
            <mc:AlternateContent xmlns:mc="http://schemas.openxmlformats.org/markup-compatibility/2006">
              <mc:Choice xmlns:v="urn:schemas-microsoft-com:vml" Requires="v">
                <p:oleObj spid="_x0000_s10586" name="" r:id="rId3" imgW="660400" imgH="241300" progId="Equation.DSMT4">
                  <p:embed/>
                </p:oleObj>
              </mc:Choice>
              <mc:Fallback>
                <p:oleObj name="" r:id="rId3" imgW="660400" imgH="241300" progId="Equation.DSMT4">
                  <p:embed/>
                  <p:pic>
                    <p:nvPicPr>
                      <p:cNvPr id="0" name="对象 20685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9362" y="2928710"/>
                        <a:ext cx="1320226" cy="482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6856" name="对象 206855"/>
          <p:cNvGraphicFramePr>
            <a:graphicFrameLocks noChangeAspect="1"/>
          </p:cNvGraphicFramePr>
          <p:nvPr/>
        </p:nvGraphicFramePr>
        <p:xfrm>
          <a:off x="4785337" y="2928949"/>
          <a:ext cx="2818176" cy="482390"/>
        </p:xfrm>
        <a:graphic>
          <a:graphicData uri="http://schemas.openxmlformats.org/presentationml/2006/ole">
            <mc:AlternateContent xmlns:mc="http://schemas.openxmlformats.org/markup-compatibility/2006">
              <mc:Choice xmlns:v="urn:schemas-microsoft-com:vml" Requires="v">
                <p:oleObj spid="_x0000_s10587" name="" r:id="rId5" imgW="1409065" imgH="241300" progId="Equation.DSMT4">
                  <p:embed/>
                </p:oleObj>
              </mc:Choice>
              <mc:Fallback>
                <p:oleObj name="" r:id="rId5" imgW="1409065" imgH="241300" progId="Equation.DSMT4">
                  <p:embed/>
                  <p:pic>
                    <p:nvPicPr>
                      <p:cNvPr id="0" name="对象 20685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5337" y="2928949"/>
                        <a:ext cx="2818176" cy="482390"/>
                      </a:xfrm>
                      <a:prstGeom prst="rect">
                        <a:avLst/>
                      </a:prstGeom>
                      <a:noFill/>
                      <a:ln w="12700">
                        <a:solidFill>
                          <a:srgbClr val="D6D6D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1" name="矩形 206859"/>
          <p:cNvSpPr>
            <a:spLocks noChangeArrowheads="1"/>
          </p:cNvSpPr>
          <p:nvPr/>
        </p:nvSpPr>
        <p:spPr bwMode="auto">
          <a:xfrm>
            <a:off x="0" y="40211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6859" name="对象 206858"/>
          <p:cNvGraphicFramePr>
            <a:graphicFrameLocks noChangeAspect="1"/>
          </p:cNvGraphicFramePr>
          <p:nvPr/>
        </p:nvGraphicFramePr>
        <p:xfrm>
          <a:off x="813207" y="4567635"/>
          <a:ext cx="1878784" cy="482390"/>
        </p:xfrm>
        <a:graphic>
          <a:graphicData uri="http://schemas.openxmlformats.org/presentationml/2006/ole">
            <mc:AlternateContent xmlns:mc="http://schemas.openxmlformats.org/markup-compatibility/2006">
              <mc:Choice xmlns:v="urn:schemas-microsoft-com:vml" Requires="v">
                <p:oleObj spid="_x0000_s10588" name="" r:id="rId7" imgW="939165" imgH="241300" progId="Equation.DSMT4">
                  <p:embed/>
                </p:oleObj>
              </mc:Choice>
              <mc:Fallback>
                <p:oleObj name="" r:id="rId7" imgW="939165" imgH="241300" progId="Equation.DSMT4">
                  <p:embed/>
                  <p:pic>
                    <p:nvPicPr>
                      <p:cNvPr id="0" name="对象 20685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3207" y="4567635"/>
                        <a:ext cx="1878784" cy="482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2233" name="矩形 206861"/>
          <p:cNvSpPr>
            <a:spLocks noChangeArrowheads="1"/>
          </p:cNvSpPr>
          <p:nvPr/>
        </p:nvSpPr>
        <p:spPr bwMode="auto">
          <a:xfrm>
            <a:off x="0" y="4025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6861" name="对象 206860"/>
          <p:cNvGraphicFramePr>
            <a:graphicFrameLocks noChangeAspect="1"/>
          </p:cNvGraphicFramePr>
          <p:nvPr/>
        </p:nvGraphicFramePr>
        <p:xfrm>
          <a:off x="3419475" y="4478813"/>
          <a:ext cx="2691232" cy="964782"/>
        </p:xfrm>
        <a:graphic>
          <a:graphicData uri="http://schemas.openxmlformats.org/presentationml/2006/ole">
            <mc:AlternateContent xmlns:mc="http://schemas.openxmlformats.org/markup-compatibility/2006">
              <mc:Choice xmlns:v="urn:schemas-microsoft-com:vml" Requires="v">
                <p:oleObj spid="_x0000_s10589" name="" r:id="rId9" imgW="1345565" imgH="482600" progId="Equation.DSMT4">
                  <p:embed/>
                </p:oleObj>
              </mc:Choice>
              <mc:Fallback>
                <p:oleObj name="" r:id="rId9" imgW="1345565" imgH="482600" progId="Equation.DSMT4">
                  <p:embed/>
                  <p:pic>
                    <p:nvPicPr>
                      <p:cNvPr id="0" name="对象 20686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19475" y="4478813"/>
                        <a:ext cx="2691232" cy="964782"/>
                      </a:xfrm>
                      <a:prstGeom prst="rect">
                        <a:avLst/>
                      </a:prstGeom>
                      <a:noFill/>
                      <a:ln w="12700">
                        <a:solidFill>
                          <a:srgbClr val="D6D6D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6" name="矩形 206865"/>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6865" name="对象 206864"/>
          <p:cNvGraphicFramePr>
            <a:graphicFrameLocks noChangeAspect="1"/>
          </p:cNvGraphicFramePr>
          <p:nvPr/>
        </p:nvGraphicFramePr>
        <p:xfrm>
          <a:off x="1752599" y="5574594"/>
          <a:ext cx="5638800" cy="1016000"/>
        </p:xfrm>
        <a:graphic>
          <a:graphicData uri="http://schemas.openxmlformats.org/presentationml/2006/ole">
            <mc:AlternateContent xmlns:mc="http://schemas.openxmlformats.org/markup-compatibility/2006">
              <mc:Choice xmlns:v="urn:schemas-microsoft-com:vml" Requires="v">
                <p:oleObj spid="_x0000_s10590" name="" r:id="rId11" imgW="2819400" imgH="508000" progId="Equation.DSMT4">
                  <p:embed/>
                </p:oleObj>
              </mc:Choice>
              <mc:Fallback>
                <p:oleObj name="" r:id="rId11" imgW="2819400" imgH="508000" progId="Equation.DSMT4">
                  <p:embed/>
                  <p:pic>
                    <p:nvPicPr>
                      <p:cNvPr id="0" name="对象 206864"/>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2599" y="5574594"/>
                        <a:ext cx="5638800" cy="10160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38" name="矩形 20686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06868" name="对象 206867"/>
          <p:cNvGraphicFramePr/>
          <p:nvPr/>
        </p:nvGraphicFramePr>
        <p:xfrm>
          <a:off x="6657836" y="4857992"/>
          <a:ext cx="1295400" cy="514350"/>
        </p:xfrm>
        <a:graphic>
          <a:graphicData uri="http://schemas.openxmlformats.org/presentationml/2006/ole">
            <mc:AlternateContent xmlns:mc="http://schemas.openxmlformats.org/markup-compatibility/2006">
              <mc:Choice xmlns:v="urn:schemas-microsoft-com:vml" Requires="v">
                <p:oleObj spid="_x0000_s10591" name="Equation" r:id="rId13" imgW="15544800" imgH="6096000" progId="Equation.DSMT4">
                  <p:embed/>
                </p:oleObj>
              </mc:Choice>
              <mc:Fallback>
                <p:oleObj name="Equation" r:id="rId13" imgW="15544800" imgH="6096000" progId="Equation.DSMT4">
                  <p:embed/>
                  <p:pic>
                    <p:nvPicPr>
                      <p:cNvPr id="0" name="对象 206867"/>
                      <p:cNvPicPr>
                        <a:picLocks noChangeArrowheads="1"/>
                      </p:cNvPicPr>
                      <p:nvPr/>
                    </p:nvPicPr>
                    <p:blipFill>
                      <a:blip r:embed="rId14"/>
                      <a:srcRect/>
                      <a:stretch>
                        <a:fillRect/>
                      </a:stretch>
                    </p:blipFill>
                    <p:spPr bwMode="auto">
                      <a:xfrm>
                        <a:off x="6657836" y="4857992"/>
                        <a:ext cx="12954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588251" y="1103841"/>
            <a:ext cx="2831224" cy="461665"/>
          </a:xfrm>
          <a:prstGeom prst="rect">
            <a:avLst/>
          </a:prstGeom>
        </p:spPr>
        <p:txBody>
          <a:bodyPr wrap="none">
            <a:spAutoFit/>
          </a:bodyPr>
          <a:lstStyle/>
          <a:p>
            <a:r>
              <a:rPr lang="zh-CN" altLang="en-US" sz="2400" b="1" i="1" dirty="0" smtClean="0">
                <a:latin typeface="Times New Roman" panose="02020603050405020304" pitchFamily="18" charset="0"/>
                <a:cs typeface="Times New Roman" panose="02020603050405020304" pitchFamily="18" charset="0"/>
              </a:rPr>
              <a:t>h</a:t>
            </a:r>
            <a:r>
              <a:rPr lang="zh-CN" altLang="en-US" sz="2400" b="1" dirty="0" smtClean="0"/>
              <a:t>的</a:t>
            </a:r>
            <a:r>
              <a:rPr lang="zh-CN" altLang="en-US" sz="2400" b="1" dirty="0"/>
              <a:t>近似计算方法：</a:t>
            </a:r>
            <a:endParaRPr lang="zh-CN" altLang="en-US" sz="2400" b="1" dirty="0"/>
          </a:p>
        </p:txBody>
      </p:sp>
      <p:sp>
        <p:nvSpPr>
          <p:cNvPr id="3" name="矩形 2"/>
          <p:cNvSpPr/>
          <p:nvPr/>
        </p:nvSpPr>
        <p:spPr>
          <a:xfrm>
            <a:off x="619676" y="1671063"/>
            <a:ext cx="7904647" cy="1200329"/>
          </a:xfrm>
          <a:prstGeom prst="rect">
            <a:avLst/>
          </a:prstGeom>
        </p:spPr>
        <p:txBody>
          <a:bodyPr wrap="square">
            <a:spAutoFit/>
          </a:bodyPr>
          <a:lstStyle/>
          <a:p>
            <a:pPr marL="285750" indent="-28575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取0℃时干空气的焓值为零，若温度变化范围不大（不超过100℃），干空气的比定压热容可以近似为常数，则干空气的比焓为：</a:t>
            </a:r>
            <a:endParaRPr lang="zh-CN" altLang="en-US" sz="2400" b="1" dirty="0">
              <a:latin typeface="Times New Roman" panose="02020603050405020304" pitchFamily="18" charset="0"/>
              <a:cs typeface="Times New Roman" panose="02020603050405020304" pitchFamily="18" charset="0"/>
            </a:endParaRPr>
          </a:p>
        </p:txBody>
      </p:sp>
      <p:sp>
        <p:nvSpPr>
          <p:cNvPr id="4" name="矩形 3"/>
          <p:cNvSpPr/>
          <p:nvPr/>
        </p:nvSpPr>
        <p:spPr>
          <a:xfrm>
            <a:off x="619676" y="3605639"/>
            <a:ext cx="7563954" cy="830997"/>
          </a:xfrm>
          <a:prstGeom prst="rect">
            <a:avLst/>
          </a:prstGeom>
        </p:spPr>
        <p:txBody>
          <a:bodyPr wrap="square">
            <a:spAutoFit/>
          </a:bodyPr>
          <a:lstStyle/>
          <a:p>
            <a:pPr marL="342900" indent="-34290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在低压下，水蒸气的比焓</a:t>
            </a:r>
            <a:r>
              <a:rPr lang="zh-CN" altLang="en-US" sz="2400" b="1" i="1" dirty="0">
                <a:latin typeface="Times New Roman" panose="02020603050405020304" pitchFamily="18" charset="0"/>
                <a:cs typeface="Times New Roman" panose="02020603050405020304" pitchFamily="18" charset="0"/>
              </a:rPr>
              <a:t>h</a:t>
            </a:r>
            <a:r>
              <a:rPr lang="zh-CN" altLang="en-US" sz="2400" b="1" baseline="-25000" dirty="0">
                <a:latin typeface="Times New Roman" panose="02020603050405020304" pitchFamily="18" charset="0"/>
                <a:cs typeface="Times New Roman" panose="02020603050405020304" pitchFamily="18" charset="0"/>
              </a:rPr>
              <a:t>v</a:t>
            </a:r>
            <a:r>
              <a:rPr lang="zh-CN" altLang="en-US" sz="2400" b="1" dirty="0">
                <a:latin typeface="Times New Roman" panose="02020603050405020304" pitchFamily="18" charset="0"/>
                <a:cs typeface="Times New Roman" panose="02020603050405020304" pitchFamily="18" charset="0"/>
              </a:rPr>
              <a:t>接近于温度的单值函数，并可以近似地表示为 </a:t>
            </a:r>
            <a:endParaRPr lang="zh-CN" altLang="en-US" sz="2400" b="1" dirty="0">
              <a:latin typeface="Times New Roman" panose="02020603050405020304" pitchFamily="18" charset="0"/>
              <a:cs typeface="Times New Roman" panose="02020603050405020304" pitchFamily="18" charset="0"/>
            </a:endParaRPr>
          </a:p>
        </p:txBody>
      </p:sp>
      <p:sp>
        <p:nvSpPr>
          <p:cNvPr id="6" name="矩形 5"/>
          <p:cNvSpPr/>
          <p:nvPr/>
        </p:nvSpPr>
        <p:spPr>
          <a:xfrm>
            <a:off x="6657836" y="4411171"/>
            <a:ext cx="1146468" cy="461665"/>
          </a:xfrm>
          <a:prstGeom prst="rect">
            <a:avLst/>
          </a:prstGeom>
        </p:spPr>
        <p:txBody>
          <a:bodyPr wrap="none">
            <a:spAutoFit/>
          </a:bodyPr>
          <a:lstStyle/>
          <a:p>
            <a:r>
              <a:rPr lang="zh-CN" altLang="en-US" sz="2400" b="1" dirty="0" smtClean="0">
                <a:solidFill>
                  <a:prstClr val="black"/>
                </a:solidFill>
                <a:latin typeface="Times New Roman" panose="02020603050405020304" pitchFamily="18" charset="0"/>
                <a:cs typeface="Times New Roman" panose="02020603050405020304" pitchFamily="18" charset="0"/>
              </a:rPr>
              <a:t>或者取</a:t>
            </a:r>
            <a:endParaRPr lang="zh-CN" altLang="en-US" dirty="0"/>
          </a:p>
        </p:txBody>
      </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685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68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68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68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686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68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矩形 208900"/>
          <p:cNvSpPr>
            <a:spLocks noChangeArrowheads="1"/>
          </p:cNvSpPr>
          <p:nvPr/>
        </p:nvSpPr>
        <p:spPr bwMode="auto">
          <a:xfrm>
            <a:off x="0" y="26765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53251" name="矩形 208901"/>
          <p:cNvSpPr>
            <a:spLocks noChangeArrowheads="1"/>
          </p:cNvSpPr>
          <p:nvPr/>
        </p:nvSpPr>
        <p:spPr bwMode="auto">
          <a:xfrm>
            <a:off x="611188" y="2988658"/>
            <a:ext cx="79930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dirty="0">
                <a:ea typeface="宋体" panose="02010600030101010101" pitchFamily="2" charset="-122"/>
              </a:rPr>
              <a:t>例题：</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一房间的容积为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50m</a:t>
            </a:r>
            <a:r>
              <a:rPr lang="en-US" altLang="zh-CN" sz="2400" b="1" baseline="30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，室内空气温度为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30℃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，相对湿度为</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60%</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，大气压力</a:t>
            </a:r>
            <a:r>
              <a:rPr lang="en-US" altLang="zh-CN" sz="2400" b="1" i="1"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sz="2400" b="1" baseline="-25000"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=0.1013MPa</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，求：（</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）干空气的分压力；（</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）含湿量；（</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）湿空气的比焓；（</a:t>
            </a: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）房间内干空气和水蒸气的质量。 </a:t>
            </a:r>
            <a:endParaRPr lang="zh-CN" altLang="en-US" sz="2400" b="1"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86935" y="511827"/>
            <a:ext cx="6407451" cy="240203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矩形 209923"/>
          <p:cNvSpPr>
            <a:spLocks noChangeArrowheads="1"/>
          </p:cNvSpPr>
          <p:nvPr/>
        </p:nvSpPr>
        <p:spPr bwMode="auto">
          <a:xfrm>
            <a:off x="755650" y="360363"/>
            <a:ext cx="3025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由饱和水蒸气表查得 </a:t>
            </a:r>
            <a:endParaRPr lang="zh-CN" altLang="en-US" sz="2400" b="1">
              <a:ea typeface="宋体" panose="02010600030101010101" pitchFamily="2" charset="-122"/>
            </a:endParaRPr>
          </a:p>
        </p:txBody>
      </p:sp>
      <p:sp>
        <p:nvSpPr>
          <p:cNvPr id="54274" name="矩形 20992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4275" name="对象 209924"/>
          <p:cNvGraphicFramePr>
            <a:graphicFrameLocks noChangeAspect="1"/>
          </p:cNvGraphicFramePr>
          <p:nvPr/>
        </p:nvGraphicFramePr>
        <p:xfrm>
          <a:off x="2051050" y="981075"/>
          <a:ext cx="1142504" cy="457002"/>
        </p:xfrm>
        <a:graphic>
          <a:graphicData uri="http://schemas.openxmlformats.org/presentationml/2006/ole">
            <mc:AlternateContent xmlns:mc="http://schemas.openxmlformats.org/markup-compatibility/2006">
              <mc:Choice xmlns:v="urn:schemas-microsoft-com:vml" Requires="v">
                <p:oleObj spid="_x0000_s12578" name="" r:id="rId1" imgW="571500" imgH="228600" progId="Equation.DSMT4">
                  <p:embed/>
                </p:oleObj>
              </mc:Choice>
              <mc:Fallback>
                <p:oleObj name="" r:id="rId1" imgW="571500" imgH="228600" progId="Equation.DSMT4">
                  <p:embed/>
                  <p:pic>
                    <p:nvPicPr>
                      <p:cNvPr id="0" name="对象 20992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981075"/>
                        <a:ext cx="1142504" cy="457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76" name="矩形 20992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4277" name="对象 209926"/>
          <p:cNvGraphicFramePr>
            <a:graphicFrameLocks noChangeAspect="1"/>
          </p:cNvGraphicFramePr>
          <p:nvPr/>
        </p:nvGraphicFramePr>
        <p:xfrm>
          <a:off x="4399722" y="980877"/>
          <a:ext cx="2590560" cy="457200"/>
        </p:xfrm>
        <a:graphic>
          <a:graphicData uri="http://schemas.openxmlformats.org/presentationml/2006/ole">
            <mc:AlternateContent xmlns:mc="http://schemas.openxmlformats.org/markup-compatibility/2006">
              <mc:Choice xmlns:v="urn:schemas-microsoft-com:vml" Requires="v">
                <p:oleObj spid="_x0000_s12579" name="Equation" r:id="rId3" imgW="31089600" imgH="5486400" progId="Equation.DSMT4">
                  <p:embed/>
                </p:oleObj>
              </mc:Choice>
              <mc:Fallback>
                <p:oleObj name="Equation" r:id="rId3" imgW="31089600" imgH="5486400" progId="Equation.DSMT4">
                  <p:embed/>
                  <p:pic>
                    <p:nvPicPr>
                      <p:cNvPr id="0" name="对象 209926"/>
                      <p:cNvPicPr>
                        <a:picLocks noChangeArrowheads="1"/>
                      </p:cNvPicPr>
                      <p:nvPr/>
                    </p:nvPicPr>
                    <p:blipFill>
                      <a:blip r:embed="rId4"/>
                      <a:srcRect/>
                      <a:stretch>
                        <a:fillRect/>
                      </a:stretch>
                    </p:blipFill>
                    <p:spPr bwMode="auto">
                      <a:xfrm>
                        <a:off x="4399722" y="980877"/>
                        <a:ext cx="259056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78" name="矩形 20992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4279" name="对象 209928"/>
          <p:cNvGraphicFramePr/>
          <p:nvPr/>
        </p:nvGraphicFramePr>
        <p:xfrm>
          <a:off x="3787775" y="2492375"/>
          <a:ext cx="4014788" cy="915988"/>
        </p:xfrm>
        <a:graphic>
          <a:graphicData uri="http://schemas.openxmlformats.org/presentationml/2006/ole">
            <mc:AlternateContent xmlns:mc="http://schemas.openxmlformats.org/markup-compatibility/2006">
              <mc:Choice xmlns:v="urn:schemas-microsoft-com:vml" Requires="v">
                <p:oleObj spid="_x0000_s12580" name="Equation" r:id="rId5" imgW="48158400" imgH="10972800" progId="Equation.DSMT4">
                  <p:embed/>
                </p:oleObj>
              </mc:Choice>
              <mc:Fallback>
                <p:oleObj name="Equation" r:id="rId5" imgW="48158400" imgH="10972800" progId="Equation.DSMT4">
                  <p:embed/>
                  <p:pic>
                    <p:nvPicPr>
                      <p:cNvPr id="0" name="对象 209928"/>
                      <p:cNvPicPr>
                        <a:picLocks noChangeArrowheads="1"/>
                      </p:cNvPicPr>
                      <p:nvPr/>
                    </p:nvPicPr>
                    <p:blipFill>
                      <a:blip r:embed="rId6"/>
                      <a:srcRect/>
                      <a:stretch>
                        <a:fillRect/>
                      </a:stretch>
                    </p:blipFill>
                    <p:spPr bwMode="auto">
                      <a:xfrm>
                        <a:off x="3787775" y="2492375"/>
                        <a:ext cx="40147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280" name="对象 209930"/>
          <p:cNvGraphicFramePr>
            <a:graphicFrameLocks noChangeAspect="1"/>
          </p:cNvGraphicFramePr>
          <p:nvPr/>
        </p:nvGraphicFramePr>
        <p:xfrm>
          <a:off x="1007234" y="4059238"/>
          <a:ext cx="7308850" cy="455613"/>
        </p:xfrm>
        <a:graphic>
          <a:graphicData uri="http://schemas.openxmlformats.org/presentationml/2006/ole">
            <mc:AlternateContent xmlns:mc="http://schemas.openxmlformats.org/markup-compatibility/2006">
              <mc:Choice xmlns:v="urn:schemas-microsoft-com:vml" Requires="v">
                <p:oleObj spid="_x0000_s12581" name="" r:id="rId7" imgW="3670300" imgH="228600" progId="Equation.DSMT4">
                  <p:embed/>
                </p:oleObj>
              </mc:Choice>
              <mc:Fallback>
                <p:oleObj name="" r:id="rId7" imgW="3670300" imgH="228600" progId="Equation.DSMT4">
                  <p:embed/>
                  <p:pic>
                    <p:nvPicPr>
                      <p:cNvPr id="0" name="对象 20993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7234" y="4059238"/>
                        <a:ext cx="730885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81" name="矩形 209932"/>
          <p:cNvSpPr>
            <a:spLocks noChangeArrowheads="1"/>
          </p:cNvSpPr>
          <p:nvPr/>
        </p:nvSpPr>
        <p:spPr bwMode="auto">
          <a:xfrm>
            <a:off x="827088" y="1655763"/>
            <a:ext cx="2719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水蒸气的分压力： </a:t>
            </a:r>
            <a:endParaRPr lang="zh-CN" altLang="en-US" sz="2400" b="1">
              <a:ea typeface="宋体" panose="02010600030101010101" pitchFamily="2" charset="-122"/>
            </a:endParaRPr>
          </a:p>
        </p:txBody>
      </p:sp>
      <p:graphicFrame>
        <p:nvGraphicFramePr>
          <p:cNvPr id="54282" name="对象 209933"/>
          <p:cNvGraphicFramePr>
            <a:graphicFrameLocks noChangeAspect="1"/>
          </p:cNvGraphicFramePr>
          <p:nvPr/>
        </p:nvGraphicFramePr>
        <p:xfrm>
          <a:off x="1136650" y="2312988"/>
          <a:ext cx="1828800" cy="863600"/>
        </p:xfrm>
        <a:graphic>
          <a:graphicData uri="http://schemas.openxmlformats.org/presentationml/2006/ole">
            <mc:AlternateContent xmlns:mc="http://schemas.openxmlformats.org/markup-compatibility/2006">
              <mc:Choice xmlns:v="urn:schemas-microsoft-com:vml" Requires="v">
                <p:oleObj spid="_x0000_s12582" name="Equation" r:id="rId9" imgW="21945600" imgH="10363200" progId="Equation.DSMT4">
                  <p:embed/>
                </p:oleObj>
              </mc:Choice>
              <mc:Fallback>
                <p:oleObj name="Equation" r:id="rId9" imgW="21945600" imgH="10363200" progId="Equation.DSMT4">
                  <p:embed/>
                  <p:pic>
                    <p:nvPicPr>
                      <p:cNvPr id="0" name="对象 209933"/>
                      <p:cNvPicPr>
                        <a:picLocks noChangeArrowheads="1"/>
                      </p:cNvPicPr>
                      <p:nvPr/>
                    </p:nvPicPr>
                    <p:blipFill>
                      <a:blip r:embed="rId10"/>
                      <a:srcRect/>
                      <a:stretch>
                        <a:fillRect/>
                      </a:stretch>
                    </p:blipFill>
                    <p:spPr bwMode="auto">
                      <a:xfrm>
                        <a:off x="1136650" y="2312988"/>
                        <a:ext cx="18288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4283" name="矩形 209934"/>
          <p:cNvSpPr>
            <a:spLocks noChangeArrowheads="1"/>
          </p:cNvSpPr>
          <p:nvPr/>
        </p:nvSpPr>
        <p:spPr bwMode="auto">
          <a:xfrm>
            <a:off x="827088" y="3500438"/>
            <a:ext cx="350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a:t>
            </a:r>
            <a:r>
              <a:rPr lang="en-US" altLang="zh-CN" sz="2400" b="1">
                <a:ea typeface="宋体" panose="02010600030101010101" pitchFamily="2" charset="-122"/>
              </a:rPr>
              <a:t>1</a:t>
            </a:r>
            <a:r>
              <a:rPr lang="zh-CN" altLang="en-US" sz="2400" b="1">
                <a:ea typeface="宋体" panose="02010600030101010101" pitchFamily="2" charset="-122"/>
              </a:rPr>
              <a:t>）干空气的分压力： </a:t>
            </a:r>
            <a:endParaRPr lang="zh-CN" altLang="en-US" sz="2400" b="1">
              <a:ea typeface="宋体" panose="02010600030101010101" pitchFamily="2" charset="-122"/>
            </a:endParaRPr>
          </a:p>
        </p:txBody>
      </p:sp>
      <p:graphicFrame>
        <p:nvGraphicFramePr>
          <p:cNvPr id="209936" name="对象 209935"/>
          <p:cNvGraphicFramePr>
            <a:graphicFrameLocks noChangeAspect="1"/>
          </p:cNvGraphicFramePr>
          <p:nvPr/>
        </p:nvGraphicFramePr>
        <p:xfrm>
          <a:off x="1476099" y="5186362"/>
          <a:ext cx="6553200" cy="1371600"/>
        </p:xfrm>
        <a:graphic>
          <a:graphicData uri="http://schemas.openxmlformats.org/presentationml/2006/ole">
            <mc:AlternateContent xmlns:mc="http://schemas.openxmlformats.org/markup-compatibility/2006">
              <mc:Choice xmlns:v="urn:schemas-microsoft-com:vml" Requires="v">
                <p:oleObj spid="_x0000_s12583" name="" r:id="rId11" imgW="3276600" imgH="685800" progId="Equation.DSMT4">
                  <p:embed/>
                </p:oleObj>
              </mc:Choice>
              <mc:Fallback>
                <p:oleObj name="" r:id="rId11" imgW="3276600" imgH="685800" progId="Equation.DSMT4">
                  <p:embed/>
                  <p:pic>
                    <p:nvPicPr>
                      <p:cNvPr id="0" name="对象 209935"/>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6099" y="5186362"/>
                        <a:ext cx="65532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9938" name="矩形 209937"/>
          <p:cNvSpPr>
            <a:spLocks noChangeArrowheads="1"/>
          </p:cNvSpPr>
          <p:nvPr/>
        </p:nvSpPr>
        <p:spPr bwMode="auto">
          <a:xfrm>
            <a:off x="827088" y="4724400"/>
            <a:ext cx="2276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a:t>
            </a:r>
            <a:r>
              <a:rPr lang="en-US" altLang="zh-CN" sz="2400" b="1">
                <a:ea typeface="宋体" panose="02010600030101010101" pitchFamily="2" charset="-122"/>
              </a:rPr>
              <a:t>2</a:t>
            </a:r>
            <a:r>
              <a:rPr lang="zh-CN" altLang="en-US" sz="2400" b="1">
                <a:ea typeface="宋体" panose="02010600030101010101" pitchFamily="2" charset="-122"/>
              </a:rPr>
              <a:t>）含湿量为 </a:t>
            </a:r>
            <a:endParaRPr lang="zh-CN" altLang="en-US" sz="2400" b="1">
              <a:ea typeface="宋体" panose="02010600030101010101" pitchFamily="2" charset="-122"/>
            </a:endParaRPr>
          </a:p>
        </p:txBody>
      </p:sp>
      <p:sp>
        <p:nvSpPr>
          <p:cNvPr id="54286" name="矩形 209939"/>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54287" name="左右箭头 209940"/>
          <p:cNvSpPr>
            <a:spLocks noChangeArrowheads="1"/>
          </p:cNvSpPr>
          <p:nvPr/>
        </p:nvSpPr>
        <p:spPr bwMode="auto">
          <a:xfrm>
            <a:off x="3513551" y="1137344"/>
            <a:ext cx="720725" cy="144463"/>
          </a:xfrm>
          <a:prstGeom prst="leftRightArrow">
            <a:avLst>
              <a:gd name="adj1" fmla="val 50000"/>
              <a:gd name="adj2" fmla="val 99687"/>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54288" name="右箭头 209941"/>
          <p:cNvSpPr>
            <a:spLocks noChangeArrowheads="1"/>
          </p:cNvSpPr>
          <p:nvPr/>
        </p:nvSpPr>
        <p:spPr bwMode="auto">
          <a:xfrm>
            <a:off x="3132138" y="2636838"/>
            <a:ext cx="576262" cy="215900"/>
          </a:xfrm>
          <a:prstGeom prst="rightArrow">
            <a:avLst>
              <a:gd name="adj1" fmla="val 50000"/>
              <a:gd name="adj2" fmla="val 66678"/>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9936"/>
                                        </p:tgtEl>
                                        <p:attrNameLst>
                                          <p:attrName>style.visibility</p:attrName>
                                        </p:attrNameLst>
                                      </p:cBhvr>
                                      <p:to>
                                        <p:strVal val="visible"/>
                                      </p:to>
                                    </p:set>
                                    <p:animEffect transition="in" filter="blinds(horizontal)">
                                      <p:cBhvr>
                                        <p:cTn id="7" dur="500"/>
                                        <p:tgtEl>
                                          <p:spTgt spid="20993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09938"/>
                                        </p:tgtEl>
                                        <p:attrNameLst>
                                          <p:attrName>style.visibility</p:attrName>
                                        </p:attrNameLst>
                                      </p:cBhvr>
                                      <p:to>
                                        <p:strVal val="visible"/>
                                      </p:to>
                                    </p:set>
                                    <p:animEffect transition="in" filter="blinds(horizontal)">
                                      <p:cBhvr>
                                        <p:cTn id="10" dur="500"/>
                                        <p:tgtEl>
                                          <p:spTgt spid="2099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矩形 210947"/>
          <p:cNvSpPr>
            <a:spLocks noChangeArrowheads="1"/>
          </p:cNvSpPr>
          <p:nvPr/>
        </p:nvSpPr>
        <p:spPr bwMode="auto">
          <a:xfrm>
            <a:off x="468313" y="260350"/>
            <a:ext cx="319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a:t>
            </a:r>
            <a:r>
              <a:rPr lang="en-US" altLang="zh-CN" sz="2400" b="1">
                <a:ea typeface="宋体" panose="02010600030101010101" pitchFamily="2" charset="-122"/>
              </a:rPr>
              <a:t>3</a:t>
            </a:r>
            <a:r>
              <a:rPr lang="zh-CN" altLang="en-US" sz="2400" b="1">
                <a:ea typeface="宋体" panose="02010600030101010101" pitchFamily="2" charset="-122"/>
              </a:rPr>
              <a:t>）湿空气的比焓： </a:t>
            </a:r>
            <a:endParaRPr lang="zh-CN" altLang="en-US" sz="2400" b="1">
              <a:ea typeface="宋体" panose="02010600030101010101" pitchFamily="2" charset="-122"/>
            </a:endParaRPr>
          </a:p>
        </p:txBody>
      </p:sp>
      <p:sp>
        <p:nvSpPr>
          <p:cNvPr id="55298" name="矩形 210949"/>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5299" name="对象 210948"/>
          <p:cNvGraphicFramePr>
            <a:graphicFrameLocks noChangeAspect="1"/>
          </p:cNvGraphicFramePr>
          <p:nvPr/>
        </p:nvGraphicFramePr>
        <p:xfrm>
          <a:off x="3530600" y="291962"/>
          <a:ext cx="1473200" cy="457200"/>
        </p:xfrm>
        <a:graphic>
          <a:graphicData uri="http://schemas.openxmlformats.org/presentationml/2006/ole">
            <mc:AlternateContent xmlns:mc="http://schemas.openxmlformats.org/markup-compatibility/2006">
              <mc:Choice xmlns:v="urn:schemas-microsoft-com:vml" Requires="v">
                <p:oleObj spid="_x0000_s13706" name="" r:id="rId1" imgW="736600" imgH="228600" progId="Equation.DSMT4">
                  <p:embed/>
                </p:oleObj>
              </mc:Choice>
              <mc:Fallback>
                <p:oleObj name="" r:id="rId1" imgW="736600" imgH="228600" progId="Equation.DSMT4">
                  <p:embed/>
                  <p:pic>
                    <p:nvPicPr>
                      <p:cNvPr id="0" name="对象 210948"/>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0600" y="291962"/>
                        <a:ext cx="147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0952" name="矩形 210951"/>
          <p:cNvSpPr>
            <a:spLocks noChangeArrowheads="1"/>
          </p:cNvSpPr>
          <p:nvPr/>
        </p:nvSpPr>
        <p:spPr bwMode="auto">
          <a:xfrm>
            <a:off x="374650" y="938213"/>
            <a:ext cx="4737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dirty="0">
                <a:ea typeface="宋体" panose="02010600030101010101" pitchFamily="2" charset="-122"/>
              </a:rPr>
              <a:t>水蒸气比焓</a:t>
            </a:r>
            <a:r>
              <a:rPr lang="en-US" altLang="zh-CN" sz="2400" b="1" i="1" dirty="0" err="1">
                <a:latin typeface="Times New Roman" panose="02020603050405020304" pitchFamily="18" charset="0"/>
                <a:ea typeface="宋体" panose="02010600030101010101" pitchFamily="2" charset="-122"/>
              </a:rPr>
              <a:t>h</a:t>
            </a:r>
            <a:r>
              <a:rPr lang="en-US" altLang="zh-CN" sz="2400" b="1" baseline="-25000" dirty="0" err="1">
                <a:latin typeface="Times New Roman" panose="02020603050405020304" pitchFamily="18" charset="0"/>
                <a:ea typeface="宋体" panose="02010600030101010101" pitchFamily="2" charset="-122"/>
              </a:rPr>
              <a:t>v</a:t>
            </a:r>
            <a:r>
              <a:rPr lang="zh-CN" altLang="en-US" sz="2400" b="1" dirty="0">
                <a:ea typeface="宋体" panose="02010600030101010101" pitchFamily="2" charset="-122"/>
              </a:rPr>
              <a:t>的确定有三种方法： </a:t>
            </a:r>
            <a:endParaRPr lang="en-US" altLang="zh-CN" sz="2400" b="1" dirty="0">
              <a:ea typeface="宋体" panose="02010600030101010101" pitchFamily="2" charset="-122"/>
            </a:endParaRPr>
          </a:p>
        </p:txBody>
      </p:sp>
      <p:sp>
        <p:nvSpPr>
          <p:cNvPr id="210954" name="矩形 210953"/>
          <p:cNvSpPr>
            <a:spLocks noChangeArrowheads="1"/>
          </p:cNvSpPr>
          <p:nvPr/>
        </p:nvSpPr>
        <p:spPr bwMode="auto">
          <a:xfrm>
            <a:off x="488950" y="1665288"/>
            <a:ext cx="1254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dirty="0">
                <a:ea typeface="宋体" panose="02010600030101010101" pitchFamily="2" charset="-122"/>
              </a:rPr>
              <a:t>方法</a:t>
            </a:r>
            <a:r>
              <a:rPr lang="en-US" altLang="zh-CN" sz="2400" b="1" dirty="0">
                <a:latin typeface="Times New Roman" panose="02020603050405020304" pitchFamily="18" charset="0"/>
                <a:ea typeface="宋体" panose="02010600030101010101" pitchFamily="2" charset="-122"/>
              </a:rPr>
              <a:t>1</a:t>
            </a:r>
            <a:r>
              <a:rPr lang="zh-CN" altLang="en-US" sz="2400" b="1" dirty="0">
                <a:ea typeface="宋体" panose="02010600030101010101" pitchFamily="2" charset="-122"/>
              </a:rPr>
              <a:t>： </a:t>
            </a:r>
            <a:endParaRPr lang="en-US" altLang="zh-CN" sz="2400" b="1" dirty="0">
              <a:ea typeface="宋体" panose="02010600030101010101" pitchFamily="2" charset="-122"/>
            </a:endParaRPr>
          </a:p>
        </p:txBody>
      </p:sp>
      <p:sp>
        <p:nvSpPr>
          <p:cNvPr id="55302" name="矩形 21095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10955" name="对象 210954"/>
          <p:cNvGraphicFramePr>
            <a:graphicFrameLocks noChangeAspect="1"/>
          </p:cNvGraphicFramePr>
          <p:nvPr/>
        </p:nvGraphicFramePr>
        <p:xfrm>
          <a:off x="1793875" y="1658938"/>
          <a:ext cx="2489200" cy="914400"/>
        </p:xfrm>
        <a:graphic>
          <a:graphicData uri="http://schemas.openxmlformats.org/presentationml/2006/ole">
            <mc:AlternateContent xmlns:mc="http://schemas.openxmlformats.org/markup-compatibility/2006">
              <mc:Choice xmlns:v="urn:schemas-microsoft-com:vml" Requires="v">
                <p:oleObj spid="_x0000_s13707" name="" r:id="rId3" imgW="1244600" imgH="457200" progId="Equation.DSMT4">
                  <p:embed/>
                </p:oleObj>
              </mc:Choice>
              <mc:Fallback>
                <p:oleObj name="" r:id="rId3" imgW="1244600" imgH="457200" progId="Equation.DSMT4">
                  <p:embed/>
                  <p:pic>
                    <p:nvPicPr>
                      <p:cNvPr id="0" name="对象 21095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75" y="1658938"/>
                        <a:ext cx="2489200" cy="914400"/>
                      </a:xfrm>
                      <a:prstGeom prst="rect">
                        <a:avLst/>
                      </a:prstGeom>
                      <a:noFill/>
                      <a:ln w="12700">
                        <a:solidFill>
                          <a:srgbClr val="D6D6D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04" name="矩形 210957"/>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pSp>
        <p:nvGrpSpPr>
          <p:cNvPr id="210984" name="组合 210983"/>
          <p:cNvGrpSpPr/>
          <p:nvPr/>
        </p:nvGrpSpPr>
        <p:grpSpPr bwMode="auto">
          <a:xfrm>
            <a:off x="4716463" y="1628775"/>
            <a:ext cx="1439862" cy="936625"/>
            <a:chOff x="2971" y="1026"/>
            <a:chExt cx="907" cy="590"/>
          </a:xfrm>
        </p:grpSpPr>
        <p:sp>
          <p:nvSpPr>
            <p:cNvPr id="55306" name="右箭头 210958"/>
            <p:cNvSpPr>
              <a:spLocks noChangeArrowheads="1"/>
            </p:cNvSpPr>
            <p:nvPr/>
          </p:nvSpPr>
          <p:spPr bwMode="auto">
            <a:xfrm>
              <a:off x="2971" y="1507"/>
              <a:ext cx="907" cy="109"/>
            </a:xfrm>
            <a:prstGeom prst="rightArrow">
              <a:avLst>
                <a:gd name="adj1" fmla="val 50000"/>
                <a:gd name="adj2" fmla="val 207873"/>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55307" name="矩形 210959"/>
            <p:cNvSpPr>
              <a:spLocks noChangeArrowheads="1"/>
            </p:cNvSpPr>
            <p:nvPr/>
          </p:nvSpPr>
          <p:spPr bwMode="auto">
            <a:xfrm>
              <a:off x="2971" y="1026"/>
              <a:ext cx="86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a:ea typeface="宋体" panose="02010600030101010101" pitchFamily="2" charset="-122"/>
                </a:rPr>
                <a:t>过热水蒸气表 </a:t>
              </a:r>
              <a:endParaRPr lang="zh-CN" altLang="en-US" sz="2400" b="1">
                <a:ea typeface="宋体" panose="02010600030101010101" pitchFamily="2" charset="-122"/>
              </a:endParaRPr>
            </a:p>
          </p:txBody>
        </p:sp>
      </p:grpSp>
      <p:graphicFrame>
        <p:nvGraphicFramePr>
          <p:cNvPr id="210961" name="对象 210960"/>
          <p:cNvGraphicFramePr>
            <a:graphicFrameLocks noChangeAspect="1"/>
          </p:cNvGraphicFramePr>
          <p:nvPr/>
        </p:nvGraphicFramePr>
        <p:xfrm>
          <a:off x="6326187" y="1695451"/>
          <a:ext cx="2489200" cy="914400"/>
        </p:xfrm>
        <a:graphic>
          <a:graphicData uri="http://schemas.openxmlformats.org/presentationml/2006/ole">
            <mc:AlternateContent xmlns:mc="http://schemas.openxmlformats.org/markup-compatibility/2006">
              <mc:Choice xmlns:v="urn:schemas-microsoft-com:vml" Requires="v">
                <p:oleObj spid="_x0000_s13708" name="" r:id="rId5" imgW="1244600" imgH="457200" progId="Equation.DSMT4">
                  <p:embed/>
                </p:oleObj>
              </mc:Choice>
              <mc:Fallback>
                <p:oleObj name="" r:id="rId5" imgW="1244600" imgH="457200" progId="Equation.DSMT4">
                  <p:embed/>
                  <p:pic>
                    <p:nvPicPr>
                      <p:cNvPr id="0" name="对象 21096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6187" y="1695451"/>
                        <a:ext cx="24892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0963" name="矩形 210962"/>
          <p:cNvSpPr>
            <a:spLocks noChangeArrowheads="1"/>
          </p:cNvSpPr>
          <p:nvPr/>
        </p:nvSpPr>
        <p:spPr bwMode="auto">
          <a:xfrm>
            <a:off x="488950" y="3104150"/>
            <a:ext cx="1254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dirty="0">
                <a:ea typeface="宋体" panose="02010600030101010101" pitchFamily="2" charset="-122"/>
              </a:rPr>
              <a:t>方法</a:t>
            </a:r>
            <a:r>
              <a:rPr lang="en-US" altLang="zh-CN" sz="2400" b="1" dirty="0">
                <a:latin typeface="Times New Roman" panose="02020603050405020304" pitchFamily="18" charset="0"/>
                <a:ea typeface="宋体" panose="02010600030101010101" pitchFamily="2" charset="-122"/>
              </a:rPr>
              <a:t>2</a:t>
            </a:r>
            <a:r>
              <a:rPr lang="zh-CN" altLang="en-US" sz="2400" b="1" dirty="0">
                <a:ea typeface="宋体" panose="02010600030101010101" pitchFamily="2" charset="-122"/>
              </a:rPr>
              <a:t>： </a:t>
            </a:r>
            <a:endParaRPr lang="en-US" altLang="zh-CN" sz="2400" b="1" dirty="0">
              <a:ea typeface="宋体" panose="02010600030101010101" pitchFamily="2" charset="-122"/>
            </a:endParaRPr>
          </a:p>
        </p:txBody>
      </p:sp>
      <p:graphicFrame>
        <p:nvGraphicFramePr>
          <p:cNvPr id="210964" name="对象 210963"/>
          <p:cNvGraphicFramePr/>
          <p:nvPr/>
        </p:nvGraphicFramePr>
        <p:xfrm>
          <a:off x="1979613" y="3141663"/>
          <a:ext cx="2235200" cy="565150"/>
        </p:xfrm>
        <a:graphic>
          <a:graphicData uri="http://schemas.openxmlformats.org/presentationml/2006/ole">
            <mc:AlternateContent xmlns:mc="http://schemas.openxmlformats.org/markup-compatibility/2006">
              <mc:Choice xmlns:v="urn:schemas-microsoft-com:vml" Requires="v">
                <p:oleObj spid="_x0000_s13709" name="" r:id="rId7" imgW="1117600" imgH="279400" progId="Equation.DSMT4">
                  <p:embed/>
                </p:oleObj>
              </mc:Choice>
              <mc:Fallback>
                <p:oleObj name="" r:id="rId7" imgW="1117600" imgH="279400" progId="Equation.DSMT4">
                  <p:embed/>
                  <p:pic>
                    <p:nvPicPr>
                      <p:cNvPr id="0" name="对象 210963"/>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3141663"/>
                        <a:ext cx="22352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0965" name="对象 210964"/>
          <p:cNvGraphicFramePr/>
          <p:nvPr/>
        </p:nvGraphicFramePr>
        <p:xfrm>
          <a:off x="6011863" y="3141663"/>
          <a:ext cx="2376487" cy="919162"/>
        </p:xfrm>
        <a:graphic>
          <a:graphicData uri="http://schemas.openxmlformats.org/presentationml/2006/ole">
            <mc:AlternateContent xmlns:mc="http://schemas.openxmlformats.org/markup-compatibility/2006">
              <mc:Choice xmlns:v="urn:schemas-microsoft-com:vml" Requires="v">
                <p:oleObj spid="_x0000_s13710" name="" r:id="rId9" imgW="1180465" imgH="457200" progId="Equation.DSMT4">
                  <p:embed/>
                </p:oleObj>
              </mc:Choice>
              <mc:Fallback>
                <p:oleObj name="" r:id="rId9" imgW="1180465" imgH="457200" progId="Equation.DSMT4">
                  <p:embed/>
                  <p:pic>
                    <p:nvPicPr>
                      <p:cNvPr id="0" name="对象 21096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11863" y="3141663"/>
                        <a:ext cx="2376487"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0968" name="矩形 210967"/>
          <p:cNvSpPr>
            <a:spLocks noChangeArrowheads="1"/>
          </p:cNvSpPr>
          <p:nvPr/>
        </p:nvSpPr>
        <p:spPr bwMode="auto">
          <a:xfrm>
            <a:off x="4211638" y="2997200"/>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饱和蒸气表 </a:t>
            </a:r>
            <a:endParaRPr lang="zh-CN" altLang="en-US" sz="2400" b="1">
              <a:ea typeface="宋体" panose="02010600030101010101" pitchFamily="2" charset="-122"/>
            </a:endParaRPr>
          </a:p>
        </p:txBody>
      </p:sp>
      <p:sp>
        <p:nvSpPr>
          <p:cNvPr id="210969" name="矩形 210968"/>
          <p:cNvSpPr>
            <a:spLocks noChangeArrowheads="1"/>
          </p:cNvSpPr>
          <p:nvPr/>
        </p:nvSpPr>
        <p:spPr bwMode="auto">
          <a:xfrm>
            <a:off x="539750" y="4231379"/>
            <a:ext cx="1254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方法</a:t>
            </a:r>
            <a:r>
              <a:rPr lang="en-US" altLang="zh-CN" sz="2400" b="1">
                <a:latin typeface="Times New Roman" panose="02020603050405020304" pitchFamily="18" charset="0"/>
                <a:ea typeface="宋体" panose="02010600030101010101" pitchFamily="2" charset="-122"/>
              </a:rPr>
              <a:t>3</a:t>
            </a:r>
            <a:r>
              <a:rPr lang="zh-CN" altLang="en-US" sz="2400" b="1">
                <a:ea typeface="宋体" panose="02010600030101010101" pitchFamily="2" charset="-122"/>
              </a:rPr>
              <a:t>： </a:t>
            </a:r>
            <a:endParaRPr lang="en-US" altLang="zh-CN" sz="2400" b="1">
              <a:ea typeface="宋体" panose="02010600030101010101" pitchFamily="2" charset="-122"/>
            </a:endParaRPr>
          </a:p>
        </p:txBody>
      </p:sp>
      <p:graphicFrame>
        <p:nvGraphicFramePr>
          <p:cNvPr id="210970" name="对象 210969"/>
          <p:cNvGraphicFramePr>
            <a:graphicFrameLocks noChangeAspect="1"/>
          </p:cNvGraphicFramePr>
          <p:nvPr/>
        </p:nvGraphicFramePr>
        <p:xfrm>
          <a:off x="1871299" y="4236697"/>
          <a:ext cx="1878784" cy="482390"/>
        </p:xfrm>
        <a:graphic>
          <a:graphicData uri="http://schemas.openxmlformats.org/presentationml/2006/ole">
            <mc:AlternateContent xmlns:mc="http://schemas.openxmlformats.org/markup-compatibility/2006">
              <mc:Choice xmlns:v="urn:schemas-microsoft-com:vml" Requires="v">
                <p:oleObj spid="_x0000_s13711" name="" r:id="rId11" imgW="939165" imgH="241300" progId="Equation.DSMT4">
                  <p:embed/>
                </p:oleObj>
              </mc:Choice>
              <mc:Fallback>
                <p:oleObj name="" r:id="rId11" imgW="939165" imgH="241300" progId="Equation.DSMT4">
                  <p:embed/>
                  <p:pic>
                    <p:nvPicPr>
                      <p:cNvPr id="0" name="对象 210969"/>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1299" y="4236697"/>
                        <a:ext cx="1878784" cy="482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0971" name="对象 210970"/>
          <p:cNvGraphicFramePr>
            <a:graphicFrameLocks noChangeAspect="1"/>
          </p:cNvGraphicFramePr>
          <p:nvPr/>
        </p:nvGraphicFramePr>
        <p:xfrm>
          <a:off x="1835150" y="4882254"/>
          <a:ext cx="2691232" cy="964782"/>
        </p:xfrm>
        <a:graphic>
          <a:graphicData uri="http://schemas.openxmlformats.org/presentationml/2006/ole">
            <mc:AlternateContent xmlns:mc="http://schemas.openxmlformats.org/markup-compatibility/2006">
              <mc:Choice xmlns:v="urn:schemas-microsoft-com:vml" Requires="v">
                <p:oleObj spid="_x0000_s13712" name="" r:id="rId13" imgW="1345565" imgH="482600" progId="Equation.DSMT4">
                  <p:embed/>
                </p:oleObj>
              </mc:Choice>
              <mc:Fallback>
                <p:oleObj name="" r:id="rId13" imgW="1345565" imgH="482600" progId="Equation.DSMT4">
                  <p:embed/>
                  <p:pic>
                    <p:nvPicPr>
                      <p:cNvPr id="0" name="对象 210970"/>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35150" y="4882254"/>
                        <a:ext cx="2691232" cy="964782"/>
                      </a:xfrm>
                      <a:prstGeom prst="rect">
                        <a:avLst/>
                      </a:prstGeom>
                      <a:noFill/>
                      <a:ln w="12700">
                        <a:solidFill>
                          <a:srgbClr val="D6D6D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5316" name="直接连接符 210971"/>
          <p:cNvSpPr>
            <a:spLocks noChangeShapeType="1"/>
          </p:cNvSpPr>
          <p:nvPr/>
        </p:nvSpPr>
        <p:spPr bwMode="auto">
          <a:xfrm>
            <a:off x="4627562" y="717550"/>
            <a:ext cx="320675" cy="0"/>
          </a:xfrm>
          <a:prstGeom prst="line">
            <a:avLst/>
          </a:prstGeom>
          <a:noFill/>
          <a:ln w="254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0973" name="直接连接符 210972"/>
          <p:cNvSpPr>
            <a:spLocks noChangeShapeType="1"/>
          </p:cNvSpPr>
          <p:nvPr/>
        </p:nvSpPr>
        <p:spPr bwMode="auto">
          <a:xfrm>
            <a:off x="323850" y="2924175"/>
            <a:ext cx="8569325" cy="0"/>
          </a:xfrm>
          <a:prstGeom prst="line">
            <a:avLst/>
          </a:prstGeom>
          <a:noFill/>
          <a:ln w="127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10974" name="右箭头 210973"/>
          <p:cNvSpPr>
            <a:spLocks noChangeArrowheads="1"/>
          </p:cNvSpPr>
          <p:nvPr/>
        </p:nvSpPr>
        <p:spPr bwMode="auto">
          <a:xfrm>
            <a:off x="4284663" y="3500438"/>
            <a:ext cx="1439862" cy="173037"/>
          </a:xfrm>
          <a:prstGeom prst="rightArrow">
            <a:avLst>
              <a:gd name="adj1" fmla="val 50000"/>
              <a:gd name="adj2" fmla="val 207874"/>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210975" name="直接连接符 210974"/>
          <p:cNvSpPr>
            <a:spLocks noChangeShapeType="1"/>
          </p:cNvSpPr>
          <p:nvPr/>
        </p:nvSpPr>
        <p:spPr bwMode="auto">
          <a:xfrm>
            <a:off x="323850" y="4135024"/>
            <a:ext cx="8569325" cy="0"/>
          </a:xfrm>
          <a:prstGeom prst="line">
            <a:avLst/>
          </a:prstGeom>
          <a:noFill/>
          <a:ln w="127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10976" name="右箭头 210975"/>
          <p:cNvSpPr>
            <a:spLocks noChangeArrowheads="1"/>
          </p:cNvSpPr>
          <p:nvPr/>
        </p:nvSpPr>
        <p:spPr bwMode="auto">
          <a:xfrm>
            <a:off x="5148263" y="4953691"/>
            <a:ext cx="1439862" cy="173038"/>
          </a:xfrm>
          <a:prstGeom prst="rightArrow">
            <a:avLst>
              <a:gd name="adj1" fmla="val 50000"/>
              <a:gd name="adj2" fmla="val 207873"/>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210977" name="右大括号 210976"/>
          <p:cNvSpPr/>
          <p:nvPr/>
        </p:nvSpPr>
        <p:spPr bwMode="auto">
          <a:xfrm>
            <a:off x="4787900" y="4377429"/>
            <a:ext cx="215900" cy="1296987"/>
          </a:xfrm>
          <a:prstGeom prst="rightBrace">
            <a:avLst>
              <a:gd name="adj1" fmla="val 4995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210979" name="矩形 210978"/>
          <p:cNvSpPr>
            <a:spLocks noChangeArrowheads="1"/>
          </p:cNvSpPr>
          <p:nvPr/>
        </p:nvSpPr>
        <p:spPr bwMode="auto">
          <a:xfrm>
            <a:off x="5186362" y="4498391"/>
            <a:ext cx="107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i="1" dirty="0">
                <a:latin typeface="Times New Roman" panose="02020603050405020304" pitchFamily="18" charset="0"/>
                <a:ea typeface="宋体" panose="02010600030101010101" pitchFamily="2" charset="-122"/>
              </a:rPr>
              <a:t>t</a:t>
            </a:r>
            <a:r>
              <a:rPr lang="en-US" altLang="zh-CN" sz="2400" b="1" dirty="0">
                <a:latin typeface="Times New Roman" panose="02020603050405020304" pitchFamily="18" charset="0"/>
                <a:ea typeface="宋体" panose="02010600030101010101" pitchFamily="2" charset="-122"/>
              </a:rPr>
              <a:t>=30℃</a:t>
            </a:r>
            <a:endParaRPr lang="zh-CN" altLang="en-US" sz="2400" b="1" dirty="0">
              <a:latin typeface="Times New Roman" panose="02020603050405020304" pitchFamily="18" charset="0"/>
              <a:ea typeface="宋体" panose="02010600030101010101" pitchFamily="2" charset="-122"/>
            </a:endParaRPr>
          </a:p>
        </p:txBody>
      </p:sp>
      <p:sp>
        <p:nvSpPr>
          <p:cNvPr id="55323" name="矩形 21098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210980" name="对象 210979"/>
          <p:cNvGraphicFramePr/>
          <p:nvPr/>
        </p:nvGraphicFramePr>
        <p:xfrm>
          <a:off x="6659563" y="4666354"/>
          <a:ext cx="2195512" cy="908050"/>
        </p:xfrm>
        <a:graphic>
          <a:graphicData uri="http://schemas.openxmlformats.org/presentationml/2006/ole">
            <mc:AlternateContent xmlns:mc="http://schemas.openxmlformats.org/markup-compatibility/2006">
              <mc:Choice xmlns:v="urn:schemas-microsoft-com:vml" Requires="v">
                <p:oleObj spid="_x0000_s13713" name="" r:id="rId15" imgW="1104900" imgH="457200" progId="Equation.DSMT4">
                  <p:embed/>
                </p:oleObj>
              </mc:Choice>
              <mc:Fallback>
                <p:oleObj name="" r:id="rId15" imgW="1104900" imgH="457200" progId="Equation.DSMT4">
                  <p:embed/>
                  <p:pic>
                    <p:nvPicPr>
                      <p:cNvPr id="0" name="对象 210979"/>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59563" y="4666354"/>
                        <a:ext cx="2195512"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0982" name="直接连接符 210981"/>
          <p:cNvSpPr>
            <a:spLocks noChangeShapeType="1"/>
          </p:cNvSpPr>
          <p:nvPr/>
        </p:nvSpPr>
        <p:spPr bwMode="auto">
          <a:xfrm>
            <a:off x="382036" y="6019939"/>
            <a:ext cx="8569325" cy="0"/>
          </a:xfrm>
          <a:prstGeom prst="line">
            <a:avLst/>
          </a:prstGeom>
          <a:noFill/>
          <a:ln w="12700">
            <a:solidFill>
              <a:schemeClr val="tx1"/>
            </a:solidFill>
            <a:prstDash val="sysDot"/>
            <a:round/>
          </a:ln>
          <a:extLst>
            <a:ext uri="{909E8E84-426E-40DD-AFC4-6F175D3DCCD1}">
              <a14:hiddenFill xmlns:a14="http://schemas.microsoft.com/office/drawing/2010/main">
                <a:noFill/>
              </a14:hiddenFill>
            </a:ext>
          </a:extLst>
        </p:spPr>
        <p:txBody>
          <a:bodyPr/>
          <a:lstStyle/>
          <a:p>
            <a:endParaRPr lang="zh-CN" altLang="en-US"/>
          </a:p>
        </p:txBody>
      </p:sp>
      <p:sp>
        <p:nvSpPr>
          <p:cNvPr id="210983" name="矩形 210982"/>
          <p:cNvSpPr>
            <a:spLocks noChangeArrowheads="1"/>
          </p:cNvSpPr>
          <p:nvPr/>
        </p:nvSpPr>
        <p:spPr bwMode="auto">
          <a:xfrm>
            <a:off x="1125381" y="6072599"/>
            <a:ext cx="671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800" b="1" dirty="0">
                <a:solidFill>
                  <a:srgbClr val="FF0000"/>
                </a:solidFill>
                <a:ea typeface="宋体" panose="02010600030101010101" pitchFamily="2" charset="-122"/>
              </a:rPr>
              <a:t>当温度较低时，三种方法的结果基本一致 </a:t>
            </a:r>
            <a:endParaRPr lang="zh-CN" altLang="en-US" sz="2800" b="1" dirty="0">
              <a:solidFill>
                <a:srgbClr val="FF0000"/>
              </a:solidFill>
              <a:ea typeface="宋体" panose="02010600030101010101" pitchFamily="2" charset="-122"/>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0952"/>
                                        </p:tgtEl>
                                        <p:attrNameLst>
                                          <p:attrName>style.visibility</p:attrName>
                                        </p:attrNameLst>
                                      </p:cBhvr>
                                      <p:to>
                                        <p:strVal val="visible"/>
                                      </p:to>
                                    </p:set>
                                    <p:animEffect transition="in" filter="blinds(horizontal)">
                                      <p:cBhvr>
                                        <p:cTn id="7" dur="500"/>
                                        <p:tgtEl>
                                          <p:spTgt spid="2109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10954"/>
                                        </p:tgtEl>
                                        <p:attrNameLst>
                                          <p:attrName>style.visibility</p:attrName>
                                        </p:attrNameLst>
                                      </p:cBhvr>
                                      <p:to>
                                        <p:strVal val="visible"/>
                                      </p:to>
                                    </p:set>
                                    <p:animEffect transition="in" filter="blinds(horizontal)">
                                      <p:cBhvr>
                                        <p:cTn id="12" dur="500"/>
                                        <p:tgtEl>
                                          <p:spTgt spid="210954"/>
                                        </p:tgtEl>
                                      </p:cBhvr>
                                    </p:animEffect>
                                  </p:childTnLst>
                                </p:cTn>
                              </p:par>
                              <p:par>
                                <p:cTn id="13" presetID="3" presetClass="entr" presetSubtype="10" fill="hold" nodeType="withEffect">
                                  <p:stCondLst>
                                    <p:cond delay="0"/>
                                  </p:stCondLst>
                                  <p:childTnLst>
                                    <p:set>
                                      <p:cBhvr>
                                        <p:cTn id="14" dur="1" fill="hold">
                                          <p:stCondLst>
                                            <p:cond delay="0"/>
                                          </p:stCondLst>
                                        </p:cTn>
                                        <p:tgtEl>
                                          <p:spTgt spid="210955"/>
                                        </p:tgtEl>
                                        <p:attrNameLst>
                                          <p:attrName>style.visibility</p:attrName>
                                        </p:attrNameLst>
                                      </p:cBhvr>
                                      <p:to>
                                        <p:strVal val="visible"/>
                                      </p:to>
                                    </p:set>
                                    <p:animEffect transition="in" filter="blinds(horizontal)">
                                      <p:cBhvr>
                                        <p:cTn id="15" dur="500"/>
                                        <p:tgtEl>
                                          <p:spTgt spid="210955"/>
                                        </p:tgtEl>
                                      </p:cBhvr>
                                    </p:animEffect>
                                  </p:childTnLst>
                                </p:cTn>
                              </p:par>
                              <p:par>
                                <p:cTn id="16" presetID="3" presetClass="entr" presetSubtype="10" fill="hold" nodeType="withEffect">
                                  <p:stCondLst>
                                    <p:cond delay="0"/>
                                  </p:stCondLst>
                                  <p:childTnLst>
                                    <p:set>
                                      <p:cBhvr>
                                        <p:cTn id="17" dur="1" fill="hold">
                                          <p:stCondLst>
                                            <p:cond delay="0"/>
                                          </p:stCondLst>
                                        </p:cTn>
                                        <p:tgtEl>
                                          <p:spTgt spid="210984"/>
                                        </p:tgtEl>
                                        <p:attrNameLst>
                                          <p:attrName>style.visibility</p:attrName>
                                        </p:attrNameLst>
                                      </p:cBhvr>
                                      <p:to>
                                        <p:strVal val="visible"/>
                                      </p:to>
                                    </p:set>
                                    <p:animEffect transition="in" filter="blinds(horizontal)">
                                      <p:cBhvr>
                                        <p:cTn id="18" dur="500"/>
                                        <p:tgtEl>
                                          <p:spTgt spid="210984"/>
                                        </p:tgtEl>
                                      </p:cBhvr>
                                    </p:animEffect>
                                  </p:childTnLst>
                                </p:cTn>
                              </p:par>
                              <p:par>
                                <p:cTn id="19" presetID="3" presetClass="entr" presetSubtype="10" fill="hold" nodeType="withEffect">
                                  <p:stCondLst>
                                    <p:cond delay="0"/>
                                  </p:stCondLst>
                                  <p:childTnLst>
                                    <p:set>
                                      <p:cBhvr>
                                        <p:cTn id="20" dur="1" fill="hold">
                                          <p:stCondLst>
                                            <p:cond delay="0"/>
                                          </p:stCondLst>
                                        </p:cTn>
                                        <p:tgtEl>
                                          <p:spTgt spid="210961"/>
                                        </p:tgtEl>
                                        <p:attrNameLst>
                                          <p:attrName>style.visibility</p:attrName>
                                        </p:attrNameLst>
                                      </p:cBhvr>
                                      <p:to>
                                        <p:strVal val="visible"/>
                                      </p:to>
                                    </p:set>
                                    <p:animEffect transition="in" filter="blinds(horizontal)">
                                      <p:cBhvr>
                                        <p:cTn id="21" dur="500"/>
                                        <p:tgtEl>
                                          <p:spTgt spid="210961"/>
                                        </p:tgtEl>
                                      </p:cBhvr>
                                    </p:animEffect>
                                  </p:childTnLst>
                                </p:cTn>
                              </p:par>
                              <p:par>
                                <p:cTn id="22" presetID="3" presetClass="entr" presetSubtype="10" fill="hold" nodeType="withEffect">
                                  <p:stCondLst>
                                    <p:cond delay="0"/>
                                  </p:stCondLst>
                                  <p:childTnLst>
                                    <p:set>
                                      <p:cBhvr>
                                        <p:cTn id="23" dur="1" fill="hold">
                                          <p:stCondLst>
                                            <p:cond delay="0"/>
                                          </p:stCondLst>
                                        </p:cTn>
                                        <p:tgtEl>
                                          <p:spTgt spid="210973"/>
                                        </p:tgtEl>
                                        <p:attrNameLst>
                                          <p:attrName>style.visibility</p:attrName>
                                        </p:attrNameLst>
                                      </p:cBhvr>
                                      <p:to>
                                        <p:strVal val="visible"/>
                                      </p:to>
                                    </p:set>
                                    <p:animEffect transition="in" filter="blinds(horizontal)">
                                      <p:cBhvr>
                                        <p:cTn id="24" dur="500"/>
                                        <p:tgtEl>
                                          <p:spTgt spid="210973"/>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10963"/>
                                        </p:tgtEl>
                                        <p:attrNameLst>
                                          <p:attrName>style.visibility</p:attrName>
                                        </p:attrNameLst>
                                      </p:cBhvr>
                                      <p:to>
                                        <p:strVal val="visible"/>
                                      </p:to>
                                    </p:set>
                                    <p:animEffect transition="in" filter="blinds(horizontal)">
                                      <p:cBhvr>
                                        <p:cTn id="29" dur="500"/>
                                        <p:tgtEl>
                                          <p:spTgt spid="210963"/>
                                        </p:tgtEl>
                                      </p:cBhvr>
                                    </p:animEffect>
                                  </p:childTnLst>
                                </p:cTn>
                              </p:par>
                              <p:par>
                                <p:cTn id="30" presetID="3" presetClass="entr" presetSubtype="10" fill="hold" nodeType="withEffect">
                                  <p:stCondLst>
                                    <p:cond delay="0"/>
                                  </p:stCondLst>
                                  <p:childTnLst>
                                    <p:set>
                                      <p:cBhvr>
                                        <p:cTn id="31" dur="1" fill="hold">
                                          <p:stCondLst>
                                            <p:cond delay="0"/>
                                          </p:stCondLst>
                                        </p:cTn>
                                        <p:tgtEl>
                                          <p:spTgt spid="210964"/>
                                        </p:tgtEl>
                                        <p:attrNameLst>
                                          <p:attrName>style.visibility</p:attrName>
                                        </p:attrNameLst>
                                      </p:cBhvr>
                                      <p:to>
                                        <p:strVal val="visible"/>
                                      </p:to>
                                    </p:set>
                                    <p:animEffect transition="in" filter="blinds(horizontal)">
                                      <p:cBhvr>
                                        <p:cTn id="32" dur="500"/>
                                        <p:tgtEl>
                                          <p:spTgt spid="210964"/>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10968"/>
                                        </p:tgtEl>
                                        <p:attrNameLst>
                                          <p:attrName>style.visibility</p:attrName>
                                        </p:attrNameLst>
                                      </p:cBhvr>
                                      <p:to>
                                        <p:strVal val="visible"/>
                                      </p:to>
                                    </p:set>
                                    <p:animEffect transition="in" filter="blinds(horizontal)">
                                      <p:cBhvr>
                                        <p:cTn id="35" dur="500"/>
                                        <p:tgtEl>
                                          <p:spTgt spid="210968"/>
                                        </p:tgtEl>
                                      </p:cBhvr>
                                    </p:animEffect>
                                  </p:childTnLst>
                                </p:cTn>
                              </p:par>
                              <p:par>
                                <p:cTn id="36" presetID="3" presetClass="entr" presetSubtype="10" fill="hold" nodeType="withEffect">
                                  <p:stCondLst>
                                    <p:cond delay="0"/>
                                  </p:stCondLst>
                                  <p:childTnLst>
                                    <p:set>
                                      <p:cBhvr>
                                        <p:cTn id="37" dur="1" fill="hold">
                                          <p:stCondLst>
                                            <p:cond delay="0"/>
                                          </p:stCondLst>
                                        </p:cTn>
                                        <p:tgtEl>
                                          <p:spTgt spid="210974"/>
                                        </p:tgtEl>
                                        <p:attrNameLst>
                                          <p:attrName>style.visibility</p:attrName>
                                        </p:attrNameLst>
                                      </p:cBhvr>
                                      <p:to>
                                        <p:strVal val="visible"/>
                                      </p:to>
                                    </p:set>
                                    <p:animEffect transition="in" filter="blinds(horizontal)">
                                      <p:cBhvr>
                                        <p:cTn id="38" dur="500"/>
                                        <p:tgtEl>
                                          <p:spTgt spid="210974"/>
                                        </p:tgtEl>
                                      </p:cBhvr>
                                    </p:animEffect>
                                  </p:childTnLst>
                                </p:cTn>
                              </p:par>
                              <p:par>
                                <p:cTn id="39" presetID="3" presetClass="entr" presetSubtype="10" fill="hold" nodeType="withEffect">
                                  <p:stCondLst>
                                    <p:cond delay="0"/>
                                  </p:stCondLst>
                                  <p:childTnLst>
                                    <p:set>
                                      <p:cBhvr>
                                        <p:cTn id="40" dur="1" fill="hold">
                                          <p:stCondLst>
                                            <p:cond delay="0"/>
                                          </p:stCondLst>
                                        </p:cTn>
                                        <p:tgtEl>
                                          <p:spTgt spid="210965"/>
                                        </p:tgtEl>
                                        <p:attrNameLst>
                                          <p:attrName>style.visibility</p:attrName>
                                        </p:attrNameLst>
                                      </p:cBhvr>
                                      <p:to>
                                        <p:strVal val="visible"/>
                                      </p:to>
                                    </p:set>
                                    <p:animEffect transition="in" filter="blinds(horizontal)">
                                      <p:cBhvr>
                                        <p:cTn id="41" dur="500"/>
                                        <p:tgtEl>
                                          <p:spTgt spid="210965"/>
                                        </p:tgtEl>
                                      </p:cBhvr>
                                    </p:animEffect>
                                  </p:childTnLst>
                                </p:cTn>
                              </p:par>
                              <p:par>
                                <p:cTn id="42" presetID="3" presetClass="entr" presetSubtype="10" fill="hold" nodeType="withEffect">
                                  <p:stCondLst>
                                    <p:cond delay="0"/>
                                  </p:stCondLst>
                                  <p:childTnLst>
                                    <p:set>
                                      <p:cBhvr>
                                        <p:cTn id="43" dur="1" fill="hold">
                                          <p:stCondLst>
                                            <p:cond delay="0"/>
                                          </p:stCondLst>
                                        </p:cTn>
                                        <p:tgtEl>
                                          <p:spTgt spid="210975"/>
                                        </p:tgtEl>
                                        <p:attrNameLst>
                                          <p:attrName>style.visibility</p:attrName>
                                        </p:attrNameLst>
                                      </p:cBhvr>
                                      <p:to>
                                        <p:strVal val="visible"/>
                                      </p:to>
                                    </p:set>
                                    <p:animEffect transition="in" filter="blinds(horizontal)">
                                      <p:cBhvr>
                                        <p:cTn id="44" dur="500"/>
                                        <p:tgtEl>
                                          <p:spTgt spid="210975"/>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10969"/>
                                        </p:tgtEl>
                                        <p:attrNameLst>
                                          <p:attrName>style.visibility</p:attrName>
                                        </p:attrNameLst>
                                      </p:cBhvr>
                                      <p:to>
                                        <p:strVal val="visible"/>
                                      </p:to>
                                    </p:set>
                                    <p:animEffect transition="in" filter="blinds(horizontal)">
                                      <p:cBhvr>
                                        <p:cTn id="49" dur="500"/>
                                        <p:tgtEl>
                                          <p:spTgt spid="210969"/>
                                        </p:tgtEl>
                                      </p:cBhvr>
                                    </p:animEffect>
                                  </p:childTnLst>
                                </p:cTn>
                              </p:par>
                              <p:par>
                                <p:cTn id="50" presetID="3" presetClass="entr" presetSubtype="10" fill="hold" nodeType="withEffect">
                                  <p:stCondLst>
                                    <p:cond delay="0"/>
                                  </p:stCondLst>
                                  <p:childTnLst>
                                    <p:set>
                                      <p:cBhvr>
                                        <p:cTn id="51" dur="1" fill="hold">
                                          <p:stCondLst>
                                            <p:cond delay="0"/>
                                          </p:stCondLst>
                                        </p:cTn>
                                        <p:tgtEl>
                                          <p:spTgt spid="210970"/>
                                        </p:tgtEl>
                                        <p:attrNameLst>
                                          <p:attrName>style.visibility</p:attrName>
                                        </p:attrNameLst>
                                      </p:cBhvr>
                                      <p:to>
                                        <p:strVal val="visible"/>
                                      </p:to>
                                    </p:set>
                                    <p:animEffect transition="in" filter="blinds(horizontal)">
                                      <p:cBhvr>
                                        <p:cTn id="52" dur="500"/>
                                        <p:tgtEl>
                                          <p:spTgt spid="210970"/>
                                        </p:tgtEl>
                                      </p:cBhvr>
                                    </p:animEffect>
                                  </p:childTnLst>
                                </p:cTn>
                              </p:par>
                              <p:par>
                                <p:cTn id="53" presetID="3" presetClass="entr" presetSubtype="10" fill="hold" nodeType="withEffect">
                                  <p:stCondLst>
                                    <p:cond delay="0"/>
                                  </p:stCondLst>
                                  <p:childTnLst>
                                    <p:set>
                                      <p:cBhvr>
                                        <p:cTn id="54" dur="1" fill="hold">
                                          <p:stCondLst>
                                            <p:cond delay="0"/>
                                          </p:stCondLst>
                                        </p:cTn>
                                        <p:tgtEl>
                                          <p:spTgt spid="210971"/>
                                        </p:tgtEl>
                                        <p:attrNameLst>
                                          <p:attrName>style.visibility</p:attrName>
                                        </p:attrNameLst>
                                      </p:cBhvr>
                                      <p:to>
                                        <p:strVal val="visible"/>
                                      </p:to>
                                    </p:set>
                                    <p:animEffect transition="in" filter="blinds(horizontal)">
                                      <p:cBhvr>
                                        <p:cTn id="55" dur="500"/>
                                        <p:tgtEl>
                                          <p:spTgt spid="210971"/>
                                        </p:tgtEl>
                                      </p:cBhvr>
                                    </p:animEffect>
                                  </p:childTnLst>
                                </p:cTn>
                              </p:par>
                              <p:par>
                                <p:cTn id="56" presetID="3" presetClass="entr" presetSubtype="10" fill="hold" nodeType="withEffect">
                                  <p:stCondLst>
                                    <p:cond delay="0"/>
                                  </p:stCondLst>
                                  <p:childTnLst>
                                    <p:set>
                                      <p:cBhvr>
                                        <p:cTn id="57" dur="1" fill="hold">
                                          <p:stCondLst>
                                            <p:cond delay="0"/>
                                          </p:stCondLst>
                                        </p:cTn>
                                        <p:tgtEl>
                                          <p:spTgt spid="210977"/>
                                        </p:tgtEl>
                                        <p:attrNameLst>
                                          <p:attrName>style.visibility</p:attrName>
                                        </p:attrNameLst>
                                      </p:cBhvr>
                                      <p:to>
                                        <p:strVal val="visible"/>
                                      </p:to>
                                    </p:set>
                                    <p:animEffect transition="in" filter="blinds(horizontal)">
                                      <p:cBhvr>
                                        <p:cTn id="58" dur="500"/>
                                        <p:tgtEl>
                                          <p:spTgt spid="210977"/>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10979"/>
                                        </p:tgtEl>
                                        <p:attrNameLst>
                                          <p:attrName>style.visibility</p:attrName>
                                        </p:attrNameLst>
                                      </p:cBhvr>
                                      <p:to>
                                        <p:strVal val="visible"/>
                                      </p:to>
                                    </p:set>
                                    <p:animEffect transition="in" filter="blinds(horizontal)">
                                      <p:cBhvr>
                                        <p:cTn id="61" dur="500"/>
                                        <p:tgtEl>
                                          <p:spTgt spid="210979"/>
                                        </p:tgtEl>
                                      </p:cBhvr>
                                    </p:animEffect>
                                  </p:childTnLst>
                                </p:cTn>
                              </p:par>
                              <p:par>
                                <p:cTn id="62" presetID="3" presetClass="entr" presetSubtype="10" fill="hold" nodeType="withEffect">
                                  <p:stCondLst>
                                    <p:cond delay="0"/>
                                  </p:stCondLst>
                                  <p:childTnLst>
                                    <p:set>
                                      <p:cBhvr>
                                        <p:cTn id="63" dur="1" fill="hold">
                                          <p:stCondLst>
                                            <p:cond delay="0"/>
                                          </p:stCondLst>
                                        </p:cTn>
                                        <p:tgtEl>
                                          <p:spTgt spid="210976"/>
                                        </p:tgtEl>
                                        <p:attrNameLst>
                                          <p:attrName>style.visibility</p:attrName>
                                        </p:attrNameLst>
                                      </p:cBhvr>
                                      <p:to>
                                        <p:strVal val="visible"/>
                                      </p:to>
                                    </p:set>
                                    <p:animEffect transition="in" filter="blinds(horizontal)">
                                      <p:cBhvr>
                                        <p:cTn id="64" dur="500"/>
                                        <p:tgtEl>
                                          <p:spTgt spid="210976"/>
                                        </p:tgtEl>
                                      </p:cBhvr>
                                    </p:animEffect>
                                  </p:childTnLst>
                                </p:cTn>
                              </p:par>
                              <p:par>
                                <p:cTn id="65" presetID="3" presetClass="entr" presetSubtype="10" fill="hold" nodeType="withEffect">
                                  <p:stCondLst>
                                    <p:cond delay="0"/>
                                  </p:stCondLst>
                                  <p:childTnLst>
                                    <p:set>
                                      <p:cBhvr>
                                        <p:cTn id="66" dur="1" fill="hold">
                                          <p:stCondLst>
                                            <p:cond delay="0"/>
                                          </p:stCondLst>
                                        </p:cTn>
                                        <p:tgtEl>
                                          <p:spTgt spid="210980"/>
                                        </p:tgtEl>
                                        <p:attrNameLst>
                                          <p:attrName>style.visibility</p:attrName>
                                        </p:attrNameLst>
                                      </p:cBhvr>
                                      <p:to>
                                        <p:strVal val="visible"/>
                                      </p:to>
                                    </p:set>
                                    <p:animEffect transition="in" filter="blinds(horizontal)">
                                      <p:cBhvr>
                                        <p:cTn id="67" dur="500"/>
                                        <p:tgtEl>
                                          <p:spTgt spid="210980"/>
                                        </p:tgtEl>
                                      </p:cBhvr>
                                    </p:animEffect>
                                  </p:childTnLst>
                                </p:cTn>
                              </p:par>
                              <p:par>
                                <p:cTn id="68" presetID="3" presetClass="entr" presetSubtype="10" fill="hold" nodeType="withEffect">
                                  <p:stCondLst>
                                    <p:cond delay="0"/>
                                  </p:stCondLst>
                                  <p:childTnLst>
                                    <p:set>
                                      <p:cBhvr>
                                        <p:cTn id="69" dur="1" fill="hold">
                                          <p:stCondLst>
                                            <p:cond delay="0"/>
                                          </p:stCondLst>
                                        </p:cTn>
                                        <p:tgtEl>
                                          <p:spTgt spid="210982"/>
                                        </p:tgtEl>
                                        <p:attrNameLst>
                                          <p:attrName>style.visibility</p:attrName>
                                        </p:attrNameLst>
                                      </p:cBhvr>
                                      <p:to>
                                        <p:strVal val="visible"/>
                                      </p:to>
                                    </p:set>
                                    <p:animEffect transition="in" filter="blinds(horizontal)">
                                      <p:cBhvr>
                                        <p:cTn id="70" dur="500"/>
                                        <p:tgtEl>
                                          <p:spTgt spid="210982"/>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10983"/>
                                        </p:tgtEl>
                                        <p:attrNameLst>
                                          <p:attrName>style.visibility</p:attrName>
                                        </p:attrNameLst>
                                      </p:cBhvr>
                                      <p:to>
                                        <p:strVal val="visible"/>
                                      </p:to>
                                    </p:set>
                                    <p:animEffect transition="in" filter="blinds(horizontal)">
                                      <p:cBhvr>
                                        <p:cTn id="75" dur="500"/>
                                        <p:tgtEl>
                                          <p:spTgt spid="210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52" grpId="0"/>
      <p:bldP spid="210954" grpId="0"/>
      <p:bldP spid="210963" grpId="0"/>
      <p:bldP spid="210968" grpId="0"/>
      <p:bldP spid="210969" grpId="0"/>
      <p:bldP spid="210979" grpId="0"/>
      <p:bldP spid="21098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1" name="对象 211971"/>
          <p:cNvGraphicFramePr>
            <a:graphicFrameLocks noChangeAspect="1"/>
          </p:cNvGraphicFramePr>
          <p:nvPr/>
        </p:nvGraphicFramePr>
        <p:xfrm>
          <a:off x="3495675" y="300831"/>
          <a:ext cx="1473200" cy="457200"/>
        </p:xfrm>
        <a:graphic>
          <a:graphicData uri="http://schemas.openxmlformats.org/presentationml/2006/ole">
            <mc:AlternateContent xmlns:mc="http://schemas.openxmlformats.org/markup-compatibility/2006">
              <mc:Choice xmlns:v="urn:schemas-microsoft-com:vml" Requires="v">
                <p:oleObj spid="_x0000_s14578" name="" r:id="rId1" imgW="736600" imgH="228600" progId="Equation.DSMT4">
                  <p:embed/>
                </p:oleObj>
              </mc:Choice>
              <mc:Fallback>
                <p:oleObj name="" r:id="rId1" imgW="736600" imgH="228600" progId="Equation.DSMT4">
                  <p:embed/>
                  <p:pic>
                    <p:nvPicPr>
                      <p:cNvPr id="0" name="对象 21197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5675" y="300831"/>
                        <a:ext cx="147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6322" name="对象 211972"/>
          <p:cNvGraphicFramePr/>
          <p:nvPr/>
        </p:nvGraphicFramePr>
        <p:xfrm>
          <a:off x="6556375" y="1863725"/>
          <a:ext cx="2195513" cy="908050"/>
        </p:xfrm>
        <a:graphic>
          <a:graphicData uri="http://schemas.openxmlformats.org/presentationml/2006/ole">
            <mc:AlternateContent xmlns:mc="http://schemas.openxmlformats.org/markup-compatibility/2006">
              <mc:Choice xmlns:v="urn:schemas-microsoft-com:vml" Requires="v">
                <p:oleObj spid="_x0000_s14579" name="" r:id="rId3" imgW="1104900" imgH="457200" progId="Equation.DSMT4">
                  <p:embed/>
                </p:oleObj>
              </mc:Choice>
              <mc:Fallback>
                <p:oleObj name="" r:id="rId3" imgW="1104900" imgH="457200" progId="Equation.DSMT4">
                  <p:embed/>
                  <p:pic>
                    <p:nvPicPr>
                      <p:cNvPr id="0" name="对象 21197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6375" y="1863725"/>
                        <a:ext cx="2195513"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3" name="矩形 211973"/>
          <p:cNvSpPr>
            <a:spLocks noChangeArrowheads="1"/>
          </p:cNvSpPr>
          <p:nvPr/>
        </p:nvSpPr>
        <p:spPr bwMode="auto">
          <a:xfrm>
            <a:off x="6484938" y="1214438"/>
            <a:ext cx="18653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方法</a:t>
            </a:r>
            <a:r>
              <a:rPr lang="en-US" altLang="zh-CN" sz="2400" b="1">
                <a:latin typeface="Times New Roman" panose="02020603050405020304" pitchFamily="18" charset="0"/>
                <a:ea typeface="宋体" panose="02010600030101010101" pitchFamily="2" charset="-122"/>
              </a:rPr>
              <a:t>3</a:t>
            </a:r>
            <a:r>
              <a:rPr lang="zh-CN" altLang="en-US" sz="2400" b="1">
                <a:ea typeface="宋体" panose="02010600030101010101" pitchFamily="2" charset="-122"/>
              </a:rPr>
              <a:t>的结果 </a:t>
            </a:r>
            <a:endParaRPr lang="en-US" altLang="zh-CN" sz="2400" b="1">
              <a:ea typeface="宋体" panose="02010600030101010101" pitchFamily="2" charset="-122"/>
            </a:endParaRPr>
          </a:p>
        </p:txBody>
      </p:sp>
      <p:sp>
        <p:nvSpPr>
          <p:cNvPr id="56324" name="矩形 211975"/>
          <p:cNvSpPr>
            <a:spLocks noChangeArrowheads="1"/>
          </p:cNvSpPr>
          <p:nvPr/>
        </p:nvSpPr>
        <p:spPr bwMode="auto">
          <a:xfrm>
            <a:off x="468313" y="260350"/>
            <a:ext cx="3195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a:t>
            </a:r>
            <a:r>
              <a:rPr lang="en-US" altLang="zh-CN" sz="2400" b="1">
                <a:ea typeface="宋体" panose="02010600030101010101" pitchFamily="2" charset="-122"/>
              </a:rPr>
              <a:t>3</a:t>
            </a:r>
            <a:r>
              <a:rPr lang="zh-CN" altLang="en-US" sz="2400" b="1">
                <a:ea typeface="宋体" panose="02010600030101010101" pitchFamily="2" charset="-122"/>
              </a:rPr>
              <a:t>）湿空气的比焓： </a:t>
            </a:r>
            <a:endParaRPr lang="zh-CN" altLang="en-US" sz="2400" b="1">
              <a:ea typeface="宋体" panose="02010600030101010101" pitchFamily="2" charset="-122"/>
            </a:endParaRPr>
          </a:p>
        </p:txBody>
      </p:sp>
      <p:graphicFrame>
        <p:nvGraphicFramePr>
          <p:cNvPr id="56325" name="对象 211976"/>
          <p:cNvGraphicFramePr>
            <a:graphicFrameLocks noChangeAspect="1"/>
          </p:cNvGraphicFramePr>
          <p:nvPr/>
        </p:nvGraphicFramePr>
        <p:xfrm>
          <a:off x="590550" y="1250950"/>
          <a:ext cx="2819400" cy="1498600"/>
        </p:xfrm>
        <a:graphic>
          <a:graphicData uri="http://schemas.openxmlformats.org/presentationml/2006/ole">
            <mc:AlternateContent xmlns:mc="http://schemas.openxmlformats.org/markup-compatibility/2006">
              <mc:Choice xmlns:v="urn:schemas-microsoft-com:vml" Requires="v">
                <p:oleObj spid="_x0000_s14580" name="" r:id="rId5" imgW="1409700" imgH="749300" progId="Equation.DSMT4">
                  <p:embed/>
                </p:oleObj>
              </mc:Choice>
              <mc:Fallback>
                <p:oleObj name="" r:id="rId5" imgW="1409700" imgH="749300" progId="Equation.DSMT4">
                  <p:embed/>
                  <p:pic>
                    <p:nvPicPr>
                      <p:cNvPr id="0" name="对象 21197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550" y="1250950"/>
                        <a:ext cx="2819400" cy="1498600"/>
                      </a:xfrm>
                      <a:prstGeom prst="rect">
                        <a:avLst/>
                      </a:prstGeom>
                      <a:noFill/>
                      <a:ln w="12700">
                        <a:solidFill>
                          <a:srgbClr val="D6D6D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326" name="矩形 211980"/>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6327" name="对象 211981"/>
          <p:cNvGraphicFramePr>
            <a:graphicFrameLocks noChangeAspect="1"/>
          </p:cNvGraphicFramePr>
          <p:nvPr/>
        </p:nvGraphicFramePr>
        <p:xfrm>
          <a:off x="2479675" y="3830638"/>
          <a:ext cx="4622800" cy="431800"/>
        </p:xfrm>
        <a:graphic>
          <a:graphicData uri="http://schemas.openxmlformats.org/presentationml/2006/ole">
            <mc:AlternateContent xmlns:mc="http://schemas.openxmlformats.org/markup-compatibility/2006">
              <mc:Choice xmlns:v="urn:schemas-microsoft-com:vml" Requires="v">
                <p:oleObj spid="_x0000_s14581" name="" r:id="rId7" imgW="2311400" imgH="215900" progId="Equation.DSMT4">
                  <p:embed/>
                </p:oleObj>
              </mc:Choice>
              <mc:Fallback>
                <p:oleObj name="" r:id="rId7" imgW="2311400" imgH="215900" progId="Equation.DSMT4">
                  <p:embed/>
                  <p:pic>
                    <p:nvPicPr>
                      <p:cNvPr id="0" name="对象 21198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79675" y="3830638"/>
                        <a:ext cx="4622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8" name="矩形 211983"/>
          <p:cNvSpPr>
            <a:spLocks noChangeArrowheads="1"/>
          </p:cNvSpPr>
          <p:nvPr/>
        </p:nvSpPr>
        <p:spPr bwMode="auto">
          <a:xfrm>
            <a:off x="6340475" y="1143000"/>
            <a:ext cx="2592388" cy="1728788"/>
          </a:xfrm>
          <a:prstGeom prst="rect">
            <a:avLst/>
          </a:prstGeom>
          <a:noFill/>
          <a:ln w="12700">
            <a:solidFill>
              <a:srgbClr val="D6D6D6"/>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56329" name="矩形 211984"/>
          <p:cNvSpPr>
            <a:spLocks noChangeArrowheads="1"/>
          </p:cNvSpPr>
          <p:nvPr/>
        </p:nvSpPr>
        <p:spPr bwMode="auto">
          <a:xfrm>
            <a:off x="2552700" y="3359150"/>
            <a:ext cx="2276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dirty="0">
                <a:ea typeface="宋体" panose="02010600030101010101" pitchFamily="2" charset="-122"/>
              </a:rPr>
              <a:t>第（</a:t>
            </a:r>
            <a:r>
              <a:rPr lang="en-US" altLang="zh-CN" sz="2400" b="1" dirty="0">
                <a:ea typeface="宋体" panose="02010600030101010101" pitchFamily="2" charset="-122"/>
              </a:rPr>
              <a:t>2</a:t>
            </a:r>
            <a:r>
              <a:rPr lang="zh-CN" altLang="en-US" sz="2400" b="1" dirty="0">
                <a:ea typeface="宋体" panose="02010600030101010101" pitchFamily="2" charset="-122"/>
              </a:rPr>
              <a:t>）问结果 </a:t>
            </a:r>
            <a:endParaRPr lang="en-US" altLang="zh-CN" sz="2400" b="1" dirty="0">
              <a:ea typeface="宋体" panose="02010600030101010101" pitchFamily="2" charset="-122"/>
            </a:endParaRPr>
          </a:p>
        </p:txBody>
      </p:sp>
      <p:sp>
        <p:nvSpPr>
          <p:cNvPr id="56330" name="矩形 211985"/>
          <p:cNvSpPr>
            <a:spLocks noChangeArrowheads="1"/>
          </p:cNvSpPr>
          <p:nvPr/>
        </p:nvSpPr>
        <p:spPr bwMode="auto">
          <a:xfrm>
            <a:off x="2436295" y="3276600"/>
            <a:ext cx="4845775" cy="1079500"/>
          </a:xfrm>
          <a:prstGeom prst="rect">
            <a:avLst/>
          </a:prstGeom>
          <a:noFill/>
          <a:ln w="12700">
            <a:solidFill>
              <a:srgbClr val="D6D6D6"/>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graphicFrame>
        <p:nvGraphicFramePr>
          <p:cNvPr id="56331" name="对象 211986"/>
          <p:cNvGraphicFramePr>
            <a:graphicFrameLocks noChangeAspect="1"/>
          </p:cNvGraphicFramePr>
          <p:nvPr/>
        </p:nvGraphicFramePr>
        <p:xfrm>
          <a:off x="2852530" y="5014119"/>
          <a:ext cx="3124200" cy="508000"/>
        </p:xfrm>
        <a:graphic>
          <a:graphicData uri="http://schemas.openxmlformats.org/presentationml/2006/ole">
            <mc:AlternateContent xmlns:mc="http://schemas.openxmlformats.org/markup-compatibility/2006">
              <mc:Choice xmlns:v="urn:schemas-microsoft-com:vml" Requires="v">
                <p:oleObj spid="_x0000_s14582" name="" r:id="rId9" imgW="1562100" imgH="254000" progId="Equation.DSMT4">
                  <p:embed/>
                </p:oleObj>
              </mc:Choice>
              <mc:Fallback>
                <p:oleObj name="" r:id="rId9" imgW="1562100" imgH="254000" progId="Equation.DSMT4">
                  <p:embed/>
                  <p:pic>
                    <p:nvPicPr>
                      <p:cNvPr id="0" name="对象 21198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52530" y="5014119"/>
                        <a:ext cx="31242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cxnSp>
        <p:nvCxnSpPr>
          <p:cNvPr id="3" name="直接箭头连接符 2"/>
          <p:cNvCxnSpPr/>
          <p:nvPr/>
        </p:nvCxnSpPr>
        <p:spPr>
          <a:xfrm flipV="1">
            <a:off x="2995613" y="836613"/>
            <a:ext cx="1144587" cy="4159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 name="直接箭头连接符 3"/>
          <p:cNvCxnSpPr/>
          <p:nvPr/>
        </p:nvCxnSpPr>
        <p:spPr>
          <a:xfrm flipH="1" flipV="1">
            <a:off x="5148263" y="836613"/>
            <a:ext cx="1223962" cy="50323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H="1" flipV="1">
            <a:off x="4860925" y="765175"/>
            <a:ext cx="4763" cy="25273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矩形 212995"/>
          <p:cNvSpPr>
            <a:spLocks noChangeArrowheads="1"/>
          </p:cNvSpPr>
          <p:nvPr/>
        </p:nvSpPr>
        <p:spPr bwMode="auto">
          <a:xfrm>
            <a:off x="468313" y="260350"/>
            <a:ext cx="5256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a:t>
            </a:r>
            <a:r>
              <a:rPr lang="en-US" altLang="zh-CN" sz="2400" b="1">
                <a:ea typeface="宋体" panose="02010600030101010101" pitchFamily="2" charset="-122"/>
              </a:rPr>
              <a:t>4</a:t>
            </a:r>
            <a:r>
              <a:rPr lang="zh-CN" altLang="en-US" sz="2400" b="1">
                <a:ea typeface="宋体" panose="02010600030101010101" pitchFamily="2" charset="-122"/>
              </a:rPr>
              <a:t>）房间内干空气和水蒸气的质量：</a:t>
            </a:r>
            <a:endParaRPr lang="zh-CN" altLang="en-US" sz="2400" b="1">
              <a:ea typeface="宋体" panose="02010600030101010101" pitchFamily="2" charset="-122"/>
            </a:endParaRPr>
          </a:p>
        </p:txBody>
      </p:sp>
      <p:sp>
        <p:nvSpPr>
          <p:cNvPr id="57346" name="矩形 212996"/>
          <p:cNvSpPr>
            <a:spLocks noChangeArrowheads="1"/>
          </p:cNvSpPr>
          <p:nvPr/>
        </p:nvSpPr>
        <p:spPr bwMode="auto">
          <a:xfrm>
            <a:off x="1042988" y="1052513"/>
            <a:ext cx="7008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根据理想气体状态方程，房间内干空气的质量为： </a:t>
            </a:r>
            <a:endParaRPr lang="zh-CN" altLang="en-US" sz="2400" b="1">
              <a:ea typeface="宋体" panose="02010600030101010101" pitchFamily="2" charset="-122"/>
            </a:endParaRPr>
          </a:p>
        </p:txBody>
      </p:sp>
      <p:sp>
        <p:nvSpPr>
          <p:cNvPr id="57347" name="矩形 212998"/>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57348" name="对象 212997"/>
          <p:cNvGraphicFramePr>
            <a:graphicFrameLocks noChangeAspect="1"/>
          </p:cNvGraphicFramePr>
          <p:nvPr/>
        </p:nvGraphicFramePr>
        <p:xfrm>
          <a:off x="1116013" y="1844675"/>
          <a:ext cx="6375400" cy="939800"/>
        </p:xfrm>
        <a:graphic>
          <a:graphicData uri="http://schemas.openxmlformats.org/presentationml/2006/ole">
            <mc:AlternateContent xmlns:mc="http://schemas.openxmlformats.org/markup-compatibility/2006">
              <mc:Choice xmlns:v="urn:schemas-microsoft-com:vml" Requires="v">
                <p:oleObj spid="_x0000_s15506" name="" r:id="rId1" imgW="3187700" imgH="469900" progId="Equation.DSMT4">
                  <p:embed/>
                </p:oleObj>
              </mc:Choice>
              <mc:Fallback>
                <p:oleObj name="" r:id="rId1" imgW="3187700" imgH="469900" progId="Equation.DSMT4">
                  <p:embed/>
                  <p:pic>
                    <p:nvPicPr>
                      <p:cNvPr id="0" name="对象 21299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844675"/>
                        <a:ext cx="63754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49" name="矩形 212999"/>
          <p:cNvSpPr>
            <a:spLocks noChangeArrowheads="1"/>
          </p:cNvSpPr>
          <p:nvPr/>
        </p:nvSpPr>
        <p:spPr bwMode="auto">
          <a:xfrm>
            <a:off x="971550" y="3068638"/>
            <a:ext cx="2719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水蒸气的质量为： </a:t>
            </a:r>
            <a:endParaRPr lang="zh-CN" altLang="en-US" sz="2400" b="1">
              <a:ea typeface="宋体" panose="02010600030101010101" pitchFamily="2" charset="-122"/>
            </a:endParaRPr>
          </a:p>
        </p:txBody>
      </p:sp>
      <p:graphicFrame>
        <p:nvGraphicFramePr>
          <p:cNvPr id="57350" name="对象 213000"/>
          <p:cNvGraphicFramePr>
            <a:graphicFrameLocks noChangeAspect="1"/>
          </p:cNvGraphicFramePr>
          <p:nvPr/>
        </p:nvGraphicFramePr>
        <p:xfrm>
          <a:off x="2484438" y="3893764"/>
          <a:ext cx="5994400" cy="1371600"/>
        </p:xfrm>
        <a:graphic>
          <a:graphicData uri="http://schemas.openxmlformats.org/presentationml/2006/ole">
            <mc:AlternateContent xmlns:mc="http://schemas.openxmlformats.org/markup-compatibility/2006">
              <mc:Choice xmlns:v="urn:schemas-microsoft-com:vml" Requires="v">
                <p:oleObj spid="_x0000_s15507" name="" r:id="rId3" imgW="2997200" imgH="685800" progId="Equation.DSMT4">
                  <p:embed/>
                </p:oleObj>
              </mc:Choice>
              <mc:Fallback>
                <p:oleObj name="" r:id="rId3" imgW="2997200" imgH="685800" progId="Equation.DSMT4">
                  <p:embed/>
                  <p:pic>
                    <p:nvPicPr>
                      <p:cNvPr id="0" name="对象 21300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893764"/>
                        <a:ext cx="5994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7351" name="对象 213002"/>
          <p:cNvGraphicFramePr>
            <a:graphicFrameLocks noChangeAspect="1"/>
          </p:cNvGraphicFramePr>
          <p:nvPr/>
        </p:nvGraphicFramePr>
        <p:xfrm>
          <a:off x="707132" y="3753037"/>
          <a:ext cx="964782" cy="863226"/>
        </p:xfrm>
        <a:graphic>
          <a:graphicData uri="http://schemas.openxmlformats.org/presentationml/2006/ole">
            <mc:AlternateContent xmlns:mc="http://schemas.openxmlformats.org/markup-compatibility/2006">
              <mc:Choice xmlns:v="urn:schemas-microsoft-com:vml" Requires="v">
                <p:oleObj spid="_x0000_s15508" name="" r:id="rId5" imgW="482600" imgH="431800" progId="Equation.DSMT4">
                  <p:embed/>
                </p:oleObj>
              </mc:Choice>
              <mc:Fallback>
                <p:oleObj name="" r:id="rId5" imgW="482600" imgH="431800" progId="Equation.DSMT4">
                  <p:embed/>
                  <p:pic>
                    <p:nvPicPr>
                      <p:cNvPr id="0" name="对象 21300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132" y="3753037"/>
                        <a:ext cx="964782" cy="863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2" name="右箭头 213003"/>
          <p:cNvSpPr>
            <a:spLocks noChangeArrowheads="1"/>
          </p:cNvSpPr>
          <p:nvPr/>
        </p:nvSpPr>
        <p:spPr bwMode="auto">
          <a:xfrm>
            <a:off x="1835150" y="4076700"/>
            <a:ext cx="503238" cy="215900"/>
          </a:xfrm>
          <a:prstGeom prst="rightArrow">
            <a:avLst>
              <a:gd name="adj1" fmla="val 50000"/>
              <a:gd name="adj2" fmla="val 58229"/>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图片 216065" descr="20090120105031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850" y="-3175"/>
            <a:ext cx="10009188" cy="750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2795343" y="1378280"/>
            <a:ext cx="3017173" cy="769441"/>
          </a:xfrm>
          <a:prstGeom prst="rect">
            <a:avLst/>
          </a:prstGeom>
          <a:solidFill>
            <a:schemeClr val="bg1"/>
          </a:solidFill>
        </p:spPr>
        <p:txBody>
          <a:bodyPr wrap="none">
            <a:spAutoFit/>
          </a:bodyPr>
          <a:lstStyle/>
          <a:p>
            <a:r>
              <a:rPr lang="en-US" altLang="zh-CN" sz="4400" b="1" dirty="0" smtClean="0"/>
              <a:t>18-3</a:t>
            </a:r>
            <a:r>
              <a:rPr lang="zh-CN" altLang="en-US" sz="4400" b="1" dirty="0"/>
              <a:t>　</a:t>
            </a:r>
            <a:r>
              <a:rPr lang="zh-CN" altLang="en-US" sz="4400" b="1" dirty="0" smtClean="0"/>
              <a:t>露点</a:t>
            </a:r>
            <a:endParaRPr lang="zh-CN" altLang="en-US" sz="4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89721" y="760201"/>
            <a:ext cx="7938053" cy="2246769"/>
          </a:xfrm>
          <a:prstGeom prst="rect">
            <a:avLst/>
          </a:prstGeom>
        </p:spPr>
        <p:txBody>
          <a:bodyPr wrap="square">
            <a:spAutoFit/>
          </a:bodyPr>
          <a:lstStyle/>
          <a:p>
            <a:pPr marL="457200" indent="-457200">
              <a:buFont typeface="Arial" panose="020B0604020202020204" pitchFamily="34" charset="0"/>
              <a:buChar char="•"/>
            </a:pPr>
            <a:r>
              <a:rPr lang="zh-CN" altLang="en-US" sz="2800" b="1" dirty="0">
                <a:latin typeface="Times New Roman" panose="02020603050405020304" pitchFamily="18" charset="0"/>
                <a:cs typeface="Times New Roman" panose="02020603050405020304" pitchFamily="18" charset="0"/>
              </a:rPr>
              <a:t>生活在湿润地区的人们，在温暖季节的清晨，即使没有下雨也会发现草地很</a:t>
            </a:r>
            <a:r>
              <a:rPr lang="zh-CN" altLang="en-US" sz="2800" b="1" dirty="0" smtClean="0">
                <a:latin typeface="Times New Roman" panose="02020603050405020304" pitchFamily="18" charset="0"/>
                <a:cs typeface="Times New Roman" panose="02020603050405020304" pitchFamily="18" charset="0"/>
              </a:rPr>
              <a:t>湿</a:t>
            </a:r>
            <a:endParaRPr lang="en-US" altLang="zh-CN" sz="2800" b="1"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zh-CN" altLang="en-US" sz="2800" b="1" dirty="0">
                <a:latin typeface="Times New Roman" panose="02020603050405020304" pitchFamily="18" charset="0"/>
                <a:cs typeface="Times New Roman" panose="02020603050405020304" pitchFamily="18" charset="0"/>
              </a:rPr>
              <a:t>这是空气中的水蒸气在冷表面凝结成水滴造成的，这些水滴我们称之为露（dew</a:t>
            </a:r>
            <a:r>
              <a:rPr lang="zh-CN" altLang="en-US" sz="2800" b="1" dirty="0" smtClean="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zh-CN" altLang="en-US" sz="2800" b="1" dirty="0">
                <a:latin typeface="Times New Roman" panose="02020603050405020304" pitchFamily="18" charset="0"/>
                <a:cs typeface="Times New Roman" panose="02020603050405020304" pitchFamily="18" charset="0"/>
              </a:rPr>
              <a:t>下面结合水蒸气的状态变化图分析结露过程</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矩形 219140"/>
          <p:cNvSpPr>
            <a:spLocks noChangeArrowheads="1"/>
          </p:cNvSpPr>
          <p:nvPr/>
        </p:nvSpPr>
        <p:spPr bwMode="auto">
          <a:xfrm>
            <a:off x="0" y="2352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60422" name="矩形 219145"/>
          <p:cNvSpPr>
            <a:spLocks noChangeArrowheads="1"/>
          </p:cNvSpPr>
          <p:nvPr/>
        </p:nvSpPr>
        <p:spPr bwMode="auto">
          <a:xfrm>
            <a:off x="4835525" y="5911820"/>
            <a:ext cx="4187365" cy="400110"/>
          </a:xfrm>
          <a:prstGeom prst="rect">
            <a:avLst/>
          </a:prstGeom>
          <a:noFill/>
          <a:ln w="12700">
            <a:solidFill>
              <a:srgbClr val="A2A2A2"/>
            </a:solidFill>
            <a:miter lim="800000"/>
          </a:ln>
          <a:extLst>
            <a:ext uri="{909E8E84-426E-40DD-AFC4-6F175D3DCCD1}">
              <a14:hiddenFill xmlns:a14="http://schemas.microsoft.com/office/drawing/2010/main">
                <a:solidFill>
                  <a:srgbClr val="FFFFFF"/>
                </a:solidFill>
              </a14:hiddenFill>
            </a:ext>
          </a:extLst>
        </p:spPr>
        <p:txBody>
          <a:bodyPr wrap="none" anchor="ctr">
            <a:spAutoFit/>
          </a:bodyPr>
          <a:lstStyle/>
          <a:p>
            <a:pPr eaLnBrk="0" hangingPunct="0"/>
            <a:r>
              <a:rPr lang="zh-CN" altLang="en-US" sz="2000" b="1" dirty="0">
                <a:ea typeface="宋体" panose="02010600030101010101" pitchFamily="2" charset="-122"/>
              </a:rPr>
              <a:t>分压力</a:t>
            </a:r>
            <a:r>
              <a:rPr lang="en-US" altLang="zh-CN" sz="2000" b="1" dirty="0">
                <a:ea typeface="宋体" panose="02010600030101010101" pitchFamily="2" charset="-122"/>
              </a:rPr>
              <a:t>=</a:t>
            </a:r>
            <a:r>
              <a:rPr lang="zh-CN" altLang="en-US" sz="2000" b="1" dirty="0" smtClean="0">
                <a:ea typeface="宋体" panose="02010600030101010101" pitchFamily="2" charset="-122"/>
              </a:rPr>
              <a:t>总压力</a:t>
            </a:r>
            <a:r>
              <a:rPr lang="en-US" altLang="zh-CN" sz="2000" b="1" dirty="0" smtClean="0">
                <a:ea typeface="宋体" panose="02010600030101010101" pitchFamily="2" charset="-122"/>
              </a:rPr>
              <a:t>*</a:t>
            </a:r>
            <a:r>
              <a:rPr lang="zh-CN" altLang="en-US" sz="2000" b="1" dirty="0" smtClean="0">
                <a:ea typeface="宋体" panose="02010600030101010101" pitchFamily="2" charset="-122"/>
              </a:rPr>
              <a:t>水蒸气</a:t>
            </a:r>
            <a:r>
              <a:rPr lang="zh-CN" altLang="en-US" sz="2000" b="1" dirty="0">
                <a:ea typeface="宋体" panose="02010600030101010101" pitchFamily="2" charset="-122"/>
              </a:rPr>
              <a:t>的摩尔分数 </a:t>
            </a:r>
            <a:endParaRPr lang="zh-CN" altLang="en-US" sz="2000" b="1" dirty="0">
              <a:ea typeface="宋体" panose="02010600030101010101" pitchFamily="2" charset="-122"/>
            </a:endParaRPr>
          </a:p>
        </p:txBody>
      </p:sp>
      <p:sp>
        <p:nvSpPr>
          <p:cNvPr id="2" name="矩形 1"/>
          <p:cNvSpPr/>
          <p:nvPr/>
        </p:nvSpPr>
        <p:spPr>
          <a:xfrm>
            <a:off x="504031" y="276496"/>
            <a:ext cx="8028781" cy="954107"/>
          </a:xfrm>
          <a:prstGeom prst="rect">
            <a:avLst/>
          </a:prstGeom>
        </p:spPr>
        <p:txBody>
          <a:bodyPr wrap="square">
            <a:spAutoFit/>
          </a:bodyPr>
          <a:lstStyle/>
          <a:p>
            <a:r>
              <a:rPr lang="zh-CN" altLang="en-US" sz="2800" b="1" dirty="0"/>
              <a:t>假设湿空气经历一个定压(</a:t>
            </a:r>
            <a:r>
              <a:rPr lang="zh-CN" altLang="en-US" sz="2800" b="1" i="1" dirty="0">
                <a:latin typeface="Times New Roman" panose="02020603050405020304" pitchFamily="18" charset="0"/>
                <a:cs typeface="Times New Roman" panose="02020603050405020304" pitchFamily="18" charset="0"/>
              </a:rPr>
              <a:t>p</a:t>
            </a:r>
            <a:r>
              <a:rPr lang="zh-CN" altLang="en-US" sz="2800" b="1" baseline="-25000" dirty="0">
                <a:latin typeface="Times New Roman" panose="02020603050405020304" pitchFamily="18" charset="0"/>
                <a:cs typeface="Times New Roman" panose="02020603050405020304" pitchFamily="18" charset="0"/>
              </a:rPr>
              <a:t>b</a:t>
            </a:r>
            <a:r>
              <a:rPr lang="zh-CN" altLang="en-US" sz="2800" b="1" dirty="0"/>
              <a:t>)降温过程，其中的水蒸气状态如何变化呢？</a:t>
            </a:r>
            <a:endParaRPr lang="zh-CN" altLang="en-US" sz="2800" b="1" dirty="0"/>
          </a:p>
        </p:txBody>
      </p:sp>
      <p:sp>
        <p:nvSpPr>
          <p:cNvPr id="3" name="矩形 2"/>
          <p:cNvSpPr/>
          <p:nvPr/>
        </p:nvSpPr>
        <p:spPr>
          <a:xfrm>
            <a:off x="4932363" y="3359764"/>
            <a:ext cx="3356872" cy="2308324"/>
          </a:xfrm>
          <a:prstGeom prst="rect">
            <a:avLst/>
          </a:prstGeom>
        </p:spPr>
        <p:txBody>
          <a:bodyPr wrap="square">
            <a:spAutoFit/>
          </a:bodyPr>
          <a:lstStyle/>
          <a:p>
            <a:r>
              <a:rPr lang="zh-CN" altLang="en-US" sz="2400" b="1" dirty="0">
                <a:solidFill>
                  <a:srgbClr val="0070C0"/>
                </a:solidFill>
              </a:rPr>
              <a:t>原因：没有结露之前，水蒸气一直是过热状态，没有水滴析出，这使得湿空气中水蒸气的含量保持一定，其分压力也相应地保持一定 </a:t>
            </a:r>
            <a:endParaRPr lang="zh-CN" altLang="en-US" sz="2400" b="1" dirty="0">
              <a:solidFill>
                <a:srgbClr val="0070C0"/>
              </a:solidFill>
            </a:endParaRPr>
          </a:p>
        </p:txBody>
      </p:sp>
      <p:sp>
        <p:nvSpPr>
          <p:cNvPr id="4" name="下箭头 3"/>
          <p:cNvSpPr/>
          <p:nvPr/>
        </p:nvSpPr>
        <p:spPr>
          <a:xfrm>
            <a:off x="6305999" y="2513074"/>
            <a:ext cx="304800" cy="8683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835525" y="1524415"/>
            <a:ext cx="3967748" cy="954107"/>
          </a:xfrm>
          <a:prstGeom prst="rect">
            <a:avLst/>
          </a:prstGeom>
        </p:spPr>
        <p:txBody>
          <a:bodyPr wrap="square">
            <a:spAutoFit/>
          </a:bodyPr>
          <a:lstStyle/>
          <a:p>
            <a:r>
              <a:rPr lang="zh-CN" altLang="en-US" sz="2800" b="1" dirty="0">
                <a:solidFill>
                  <a:srgbClr val="FF0000"/>
                </a:solidFill>
              </a:rPr>
              <a:t>1-2：湿空气中的水蒸气亦经历</a:t>
            </a:r>
            <a:r>
              <a:rPr lang="zh-CN" altLang="en-US" sz="2800" b="1" u="sng" dirty="0">
                <a:solidFill>
                  <a:srgbClr val="FF0000"/>
                </a:solidFill>
              </a:rPr>
              <a:t>定压</a:t>
            </a:r>
            <a:r>
              <a:rPr lang="zh-CN" altLang="en-US" sz="2800" b="1" dirty="0">
                <a:solidFill>
                  <a:srgbClr val="FF0000"/>
                </a:solidFill>
              </a:rPr>
              <a:t>降温过程</a:t>
            </a:r>
            <a:endParaRPr lang="zh-CN" altLang="en-US" sz="2800" b="1" dirty="0">
              <a:solidFill>
                <a:srgbClr val="FF0000"/>
              </a:solidFill>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6550" y="1578161"/>
            <a:ext cx="4608975" cy="39932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矩形 220161"/>
          <p:cNvSpPr>
            <a:spLocks noChangeArrowheads="1"/>
          </p:cNvSpPr>
          <p:nvPr/>
        </p:nvSpPr>
        <p:spPr bwMode="auto">
          <a:xfrm>
            <a:off x="0" y="2352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7" name="矩形 6"/>
          <p:cNvSpPr/>
          <p:nvPr/>
        </p:nvSpPr>
        <p:spPr>
          <a:xfrm>
            <a:off x="504031" y="276496"/>
            <a:ext cx="8028781" cy="954107"/>
          </a:xfrm>
          <a:prstGeom prst="rect">
            <a:avLst/>
          </a:prstGeom>
        </p:spPr>
        <p:txBody>
          <a:bodyPr wrap="square">
            <a:spAutoFit/>
          </a:bodyPr>
          <a:lstStyle/>
          <a:p>
            <a:r>
              <a:rPr lang="zh-CN" altLang="en-US" sz="2800" b="1" dirty="0"/>
              <a:t>假设湿空气经历一个定压(</a:t>
            </a:r>
            <a:r>
              <a:rPr lang="zh-CN" altLang="en-US" sz="2800" b="1" i="1" dirty="0">
                <a:latin typeface="Times New Roman" panose="02020603050405020304" pitchFamily="18" charset="0"/>
                <a:cs typeface="Times New Roman" panose="02020603050405020304" pitchFamily="18" charset="0"/>
              </a:rPr>
              <a:t>p</a:t>
            </a:r>
            <a:r>
              <a:rPr lang="zh-CN" altLang="en-US" sz="2800" b="1" baseline="-25000" dirty="0">
                <a:latin typeface="Times New Roman" panose="02020603050405020304" pitchFamily="18" charset="0"/>
                <a:cs typeface="Times New Roman" panose="02020603050405020304" pitchFamily="18" charset="0"/>
              </a:rPr>
              <a:t>b</a:t>
            </a:r>
            <a:r>
              <a:rPr lang="zh-CN" altLang="en-US" sz="2800" b="1" dirty="0"/>
              <a:t>)降温过程，其中的水蒸气状态如何变化呢？</a:t>
            </a:r>
            <a:endParaRPr lang="zh-CN" altLang="en-US" sz="2800" b="1" dirty="0"/>
          </a:p>
        </p:txBody>
      </p:sp>
      <p:sp>
        <p:nvSpPr>
          <p:cNvPr id="8" name="矩形 7"/>
          <p:cNvSpPr/>
          <p:nvPr/>
        </p:nvSpPr>
        <p:spPr>
          <a:xfrm>
            <a:off x="4835525" y="1524415"/>
            <a:ext cx="3967748" cy="1384995"/>
          </a:xfrm>
          <a:prstGeom prst="rect">
            <a:avLst/>
          </a:prstGeom>
        </p:spPr>
        <p:txBody>
          <a:bodyPr wrap="square">
            <a:spAutoFit/>
          </a:bodyPr>
          <a:lstStyle/>
          <a:p>
            <a:r>
              <a:rPr lang="zh-CN" altLang="en-US" sz="2800" b="1" dirty="0" smtClean="0">
                <a:solidFill>
                  <a:srgbClr val="FF0000"/>
                </a:solidFill>
              </a:rPr>
              <a:t>状态</a:t>
            </a:r>
            <a:r>
              <a:rPr lang="zh-CN" altLang="en-US" sz="2800" b="1" dirty="0">
                <a:solidFill>
                  <a:srgbClr val="FF0000"/>
                </a:solidFill>
              </a:rPr>
              <a:t>点</a:t>
            </a:r>
            <a:r>
              <a:rPr lang="en-US" altLang="zh-CN" sz="2800" b="1" dirty="0">
                <a:solidFill>
                  <a:srgbClr val="FF0000"/>
                </a:solidFill>
              </a:rPr>
              <a:t>2</a:t>
            </a:r>
            <a:r>
              <a:rPr lang="zh-CN" altLang="en-US" sz="2800" b="1" dirty="0">
                <a:solidFill>
                  <a:srgbClr val="FF0000"/>
                </a:solidFill>
              </a:rPr>
              <a:t>：水蒸气达到饱和状态，其温度为露点温度</a:t>
            </a:r>
            <a:r>
              <a:rPr lang="en-US" altLang="zh-CN" sz="2800" b="1" i="1" dirty="0">
                <a:solidFill>
                  <a:srgbClr val="FF0000"/>
                </a:solidFill>
                <a:latin typeface="Times New Roman" panose="02020603050405020304" pitchFamily="18" charset="0"/>
                <a:cs typeface="Times New Roman" panose="02020603050405020304" pitchFamily="18" charset="0"/>
              </a:rPr>
              <a:t>t</a:t>
            </a:r>
            <a:r>
              <a:rPr lang="en-US" altLang="zh-CN" sz="2800" b="1" baseline="-25000" dirty="0">
                <a:solidFill>
                  <a:srgbClr val="FF0000"/>
                </a:solidFill>
                <a:latin typeface="Times New Roman" panose="02020603050405020304" pitchFamily="18" charset="0"/>
                <a:cs typeface="Times New Roman" panose="02020603050405020304" pitchFamily="18" charset="0"/>
              </a:rPr>
              <a:t>d</a:t>
            </a:r>
            <a:r>
              <a:rPr lang="zh-CN" altLang="en-US" sz="2800" b="1" dirty="0">
                <a:solidFill>
                  <a:srgbClr val="FF0000"/>
                </a:solidFill>
              </a:rPr>
              <a:t>，即将开始结露</a:t>
            </a:r>
            <a:endParaRPr lang="zh-CN" altLang="en-US" sz="2800" b="1" dirty="0">
              <a:solidFill>
                <a:srgbClr val="FF0000"/>
              </a:solidFill>
            </a:endParaRPr>
          </a:p>
        </p:txBody>
      </p:sp>
      <p:sp>
        <p:nvSpPr>
          <p:cNvPr id="3" name="矩形 2"/>
          <p:cNvSpPr/>
          <p:nvPr/>
        </p:nvSpPr>
        <p:spPr>
          <a:xfrm>
            <a:off x="4518421" y="3944666"/>
            <a:ext cx="4423006" cy="461665"/>
          </a:xfrm>
          <a:prstGeom prst="rect">
            <a:avLst/>
          </a:prstGeom>
        </p:spPr>
        <p:txBody>
          <a:bodyPr wrap="none">
            <a:spAutoFit/>
          </a:bodyPr>
          <a:lstStyle/>
          <a:p>
            <a:r>
              <a:rPr lang="zh-CN" altLang="en-US" sz="2400" b="1" dirty="0"/>
              <a:t>注：此时湿空气整体温度也</a:t>
            </a:r>
            <a:r>
              <a:rPr lang="zh-CN" altLang="en-US" sz="2400" b="1" dirty="0" smtClean="0"/>
              <a:t>是</a:t>
            </a:r>
            <a:r>
              <a:rPr lang="en-US" altLang="zh-CN" sz="2400" b="1" i="1" dirty="0">
                <a:latin typeface="Times New Roman" panose="02020603050405020304" pitchFamily="18" charset="0"/>
                <a:cs typeface="Times New Roman" panose="02020603050405020304" pitchFamily="18" charset="0"/>
              </a:rPr>
              <a:t>t</a:t>
            </a:r>
            <a:r>
              <a:rPr lang="en-US" altLang="zh-CN" sz="2400" b="1" baseline="-25000" dirty="0">
                <a:latin typeface="Times New Roman" panose="02020603050405020304" pitchFamily="18" charset="0"/>
                <a:cs typeface="Times New Roman" panose="02020603050405020304" pitchFamily="18" charset="0"/>
              </a:rPr>
              <a:t>d</a:t>
            </a:r>
            <a:endParaRPr lang="zh-CN" altLang="en-US" sz="2400" b="1" dirty="0"/>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6550" y="1578161"/>
            <a:ext cx="4608975" cy="39932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矩形 221185"/>
          <p:cNvSpPr>
            <a:spLocks noChangeArrowheads="1"/>
          </p:cNvSpPr>
          <p:nvPr/>
        </p:nvSpPr>
        <p:spPr bwMode="auto">
          <a:xfrm>
            <a:off x="0" y="2352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7" name="矩形 6"/>
          <p:cNvSpPr/>
          <p:nvPr/>
        </p:nvSpPr>
        <p:spPr>
          <a:xfrm>
            <a:off x="4808401" y="1472069"/>
            <a:ext cx="3967748" cy="2677656"/>
          </a:xfrm>
          <a:prstGeom prst="rect">
            <a:avLst/>
          </a:prstGeom>
        </p:spPr>
        <p:txBody>
          <a:bodyPr wrap="square">
            <a:spAutoFit/>
          </a:bodyPr>
          <a:lstStyle/>
          <a:p>
            <a:r>
              <a:rPr lang="en-US" altLang="zh-CN" sz="2800" b="1" dirty="0" smtClean="0">
                <a:solidFill>
                  <a:srgbClr val="FF0000"/>
                </a:solidFill>
              </a:rPr>
              <a:t>2-3</a:t>
            </a:r>
            <a:r>
              <a:rPr lang="zh-CN" altLang="en-US" sz="2800" b="1" dirty="0">
                <a:solidFill>
                  <a:srgbClr val="FF0000"/>
                </a:solidFill>
              </a:rPr>
              <a:t>：若继续降温，就会有水蒸气凝结成水滴析出，湿空气中水蒸气的状态将沿着饱和蒸汽线变化</a:t>
            </a:r>
            <a:endParaRPr lang="zh-CN" altLang="en-US" sz="2800" b="1" dirty="0">
              <a:solidFill>
                <a:srgbClr val="FF0000"/>
              </a:solidFill>
            </a:endParaRPr>
          </a:p>
          <a:p>
            <a:endParaRPr lang="zh-CN" altLang="en-US" sz="2800" b="1" dirty="0">
              <a:solidFill>
                <a:srgbClr val="FF0000"/>
              </a:solidFill>
            </a:endParaRPr>
          </a:p>
        </p:txBody>
      </p:sp>
      <p:sp>
        <p:nvSpPr>
          <p:cNvPr id="8" name="矩形 7"/>
          <p:cNvSpPr/>
          <p:nvPr/>
        </p:nvSpPr>
        <p:spPr>
          <a:xfrm>
            <a:off x="504031" y="276496"/>
            <a:ext cx="8028781" cy="954107"/>
          </a:xfrm>
          <a:prstGeom prst="rect">
            <a:avLst/>
          </a:prstGeom>
        </p:spPr>
        <p:txBody>
          <a:bodyPr wrap="square">
            <a:spAutoFit/>
          </a:bodyPr>
          <a:lstStyle/>
          <a:p>
            <a:r>
              <a:rPr lang="zh-CN" altLang="en-US" sz="2800" b="1" dirty="0"/>
              <a:t>假设湿空气经历一个定压(</a:t>
            </a:r>
            <a:r>
              <a:rPr lang="zh-CN" altLang="en-US" sz="2800" b="1" i="1" dirty="0">
                <a:latin typeface="Times New Roman" panose="02020603050405020304" pitchFamily="18" charset="0"/>
                <a:cs typeface="Times New Roman" panose="02020603050405020304" pitchFamily="18" charset="0"/>
              </a:rPr>
              <a:t>p</a:t>
            </a:r>
            <a:r>
              <a:rPr lang="zh-CN" altLang="en-US" sz="2800" b="1" baseline="-25000" dirty="0">
                <a:latin typeface="Times New Roman" panose="02020603050405020304" pitchFamily="18" charset="0"/>
                <a:cs typeface="Times New Roman" panose="02020603050405020304" pitchFamily="18" charset="0"/>
              </a:rPr>
              <a:t>b</a:t>
            </a:r>
            <a:r>
              <a:rPr lang="zh-CN" altLang="en-US" sz="2800" b="1" dirty="0"/>
              <a:t>)降温过程，其中的水蒸气状态如何变化呢？</a:t>
            </a:r>
            <a:endParaRPr lang="zh-CN" altLang="en-US" sz="2800" b="1" dirty="0"/>
          </a:p>
        </p:txBody>
      </p:sp>
      <p:sp>
        <p:nvSpPr>
          <p:cNvPr id="2" name="矩形 1"/>
          <p:cNvSpPr/>
          <p:nvPr/>
        </p:nvSpPr>
        <p:spPr>
          <a:xfrm>
            <a:off x="5284201" y="4058911"/>
            <a:ext cx="3491948" cy="1938992"/>
          </a:xfrm>
          <a:prstGeom prst="rect">
            <a:avLst/>
          </a:prstGeom>
        </p:spPr>
        <p:txBody>
          <a:bodyPr wrap="square">
            <a:spAutoFit/>
          </a:bodyPr>
          <a:lstStyle/>
          <a:p>
            <a:r>
              <a:rPr lang="zh-CN" altLang="en-US" sz="2400" b="1" dirty="0"/>
              <a:t>随着水滴不断析出，水蒸气在湿空气中的含量逐渐降低，其分压力也随之降低。以上过程称为</a:t>
            </a:r>
            <a:r>
              <a:rPr lang="zh-CN" altLang="en-US" sz="2400" b="1" dirty="0">
                <a:solidFill>
                  <a:srgbClr val="0070C0"/>
                </a:solidFill>
              </a:rPr>
              <a:t>析湿</a:t>
            </a:r>
            <a:r>
              <a:rPr lang="zh-CN" altLang="en-US" sz="2400" b="1" dirty="0" smtClean="0">
                <a:solidFill>
                  <a:srgbClr val="0070C0"/>
                </a:solidFill>
              </a:rPr>
              <a:t>过程</a:t>
            </a:r>
            <a:r>
              <a:rPr lang="zh-CN" altLang="en-US" sz="2400" b="1" dirty="0"/>
              <a:t>。</a:t>
            </a:r>
            <a:r>
              <a:rPr lang="zh-CN" altLang="en-US" sz="2400" b="1" dirty="0" smtClean="0">
                <a:solidFill>
                  <a:srgbClr val="0070C0"/>
                </a:solidFill>
              </a:rPr>
              <a:t> </a:t>
            </a:r>
            <a:endParaRPr lang="zh-CN" altLang="en-US" sz="2400" b="1" dirty="0">
              <a:solidFill>
                <a:srgbClr val="0070C0"/>
              </a:solidFill>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6550" y="1578161"/>
            <a:ext cx="4608975" cy="39932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图片 216065" descr="2009012010503102"/>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b="11027"/>
          <a:stretch>
            <a:fillRect/>
          </a:stretch>
        </p:blipFill>
        <p:spPr bwMode="auto">
          <a:xfrm>
            <a:off x="583647" y="496955"/>
            <a:ext cx="4230091" cy="282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583647" y="3929296"/>
            <a:ext cx="7938053" cy="2246769"/>
          </a:xfrm>
          <a:prstGeom prst="rect">
            <a:avLst/>
          </a:prstGeom>
        </p:spPr>
        <p:txBody>
          <a:bodyPr wrap="square">
            <a:spAutoFit/>
          </a:bodyPr>
          <a:lstStyle/>
          <a:p>
            <a:r>
              <a:rPr lang="zh-CN" altLang="en-US" sz="2800" b="1" dirty="0" smtClean="0">
                <a:solidFill>
                  <a:srgbClr val="FF0000"/>
                </a:solidFill>
                <a:latin typeface="Times New Roman" panose="02020603050405020304" pitchFamily="18" charset="0"/>
                <a:cs typeface="Times New Roman" panose="02020603050405020304" pitchFamily="18" charset="0"/>
              </a:rPr>
              <a:t>结</a:t>
            </a:r>
            <a:r>
              <a:rPr lang="zh-CN" altLang="en-US" sz="2800" b="1" dirty="0">
                <a:solidFill>
                  <a:srgbClr val="FF0000"/>
                </a:solidFill>
                <a:latin typeface="Times New Roman" panose="02020603050405020304" pitchFamily="18" charset="0"/>
                <a:cs typeface="Times New Roman" panose="02020603050405020304" pitchFamily="18" charset="0"/>
              </a:rPr>
              <a:t>露</a:t>
            </a:r>
            <a:r>
              <a:rPr lang="zh-CN" altLang="en-US" sz="2800" b="1" dirty="0" smtClean="0">
                <a:solidFill>
                  <a:srgbClr val="FF0000"/>
                </a:solidFill>
                <a:latin typeface="Times New Roman" panose="02020603050405020304" pitchFamily="18" charset="0"/>
                <a:cs typeface="Times New Roman" panose="02020603050405020304" pitchFamily="18" charset="0"/>
              </a:rPr>
              <a:t>现象</a:t>
            </a:r>
            <a:r>
              <a:rPr lang="zh-CN" altLang="en-US" sz="2800" b="1" dirty="0" smtClean="0">
                <a:latin typeface="Times New Roman" panose="02020603050405020304" pitchFamily="18" charset="0"/>
                <a:cs typeface="Times New Roman" panose="02020603050405020304" pitchFamily="18" charset="0"/>
              </a:rPr>
              <a:t>是</a:t>
            </a:r>
            <a:r>
              <a:rPr lang="zh-CN" altLang="en-US" sz="2800" b="1" dirty="0">
                <a:latin typeface="Times New Roman" panose="02020603050405020304" pitchFamily="18" charset="0"/>
                <a:cs typeface="Times New Roman" panose="02020603050405020304" pitchFamily="18" charset="0"/>
              </a:rPr>
              <a:t>因为白天的地面很热，水的蒸发使得近地面的空气中水蒸气含量比较大，而到了夜间温度下降，湿空气中所含的水蒸气达到饱和（状态点</a:t>
            </a:r>
            <a:r>
              <a:rPr lang="en-US" altLang="zh-CN" sz="2800" b="1" dirty="0">
                <a:latin typeface="Times New Roman" panose="02020603050405020304" pitchFamily="18" charset="0"/>
                <a:cs typeface="Times New Roman" panose="02020603050405020304" pitchFamily="18" charset="0"/>
              </a:rPr>
              <a:t>2</a:t>
            </a:r>
            <a:r>
              <a:rPr lang="zh-CN" altLang="en-US" sz="2800" b="1" dirty="0">
                <a:latin typeface="Times New Roman" panose="02020603050405020304" pitchFamily="18" charset="0"/>
                <a:cs typeface="Times New Roman" panose="02020603050405020304" pitchFamily="18" charset="0"/>
              </a:rPr>
              <a:t>），此时若继续降温就会使水蒸气凝结成液态水而开始结露。</a:t>
            </a:r>
            <a:endParaRPr lang="zh-CN" altLang="en-US" sz="2800" b="1"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1258" y="593044"/>
            <a:ext cx="3468925" cy="282269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矩形 222218"/>
          <p:cNvSpPr>
            <a:spLocks noChangeArrowheads="1"/>
          </p:cNvSpPr>
          <p:nvPr/>
        </p:nvSpPr>
        <p:spPr bwMode="auto">
          <a:xfrm>
            <a:off x="211138" y="5421313"/>
            <a:ext cx="34829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3600" b="1" dirty="0">
                <a:solidFill>
                  <a:srgbClr val="FF0000"/>
                </a:solidFill>
                <a:ea typeface="宋体" panose="02010600030101010101" pitchFamily="2" charset="-122"/>
              </a:rPr>
              <a:t>饮料“出汗”了！</a:t>
            </a:r>
            <a:r>
              <a:rPr lang="zh-CN" altLang="en-US" sz="2800" b="1" dirty="0">
                <a:solidFill>
                  <a:srgbClr val="FF0000"/>
                </a:solidFill>
                <a:ea typeface="宋体" panose="02010600030101010101" pitchFamily="2" charset="-122"/>
              </a:rPr>
              <a:t> </a:t>
            </a:r>
            <a:endParaRPr lang="zh-CN" altLang="en-US" sz="2800" b="1" dirty="0">
              <a:solidFill>
                <a:srgbClr val="FF0000"/>
              </a:solidFill>
              <a:ea typeface="宋体" panose="02010600030101010101" pitchFamily="2" charset="-122"/>
            </a:endParaRPr>
          </a:p>
        </p:txBody>
      </p:sp>
      <p:pic>
        <p:nvPicPr>
          <p:cNvPr id="63492" name="图片 222212" descr="2531170_165456378726_2"/>
          <p:cNvPicPr>
            <a:picLocks noChangeAspect="1" noChangeArrowheads="1"/>
          </p:cNvPicPr>
          <p:nvPr/>
        </p:nvPicPr>
        <p:blipFill>
          <a:blip r:embed="rId1">
            <a:extLst>
              <a:ext uri="{28A0092B-C50C-407E-A947-70E740481C1C}">
                <a14:useLocalDpi xmlns:a14="http://schemas.microsoft.com/office/drawing/2010/main" val="0"/>
              </a:ext>
            </a:extLst>
          </a:blip>
          <a:srcRect b="3687"/>
          <a:stretch>
            <a:fillRect/>
          </a:stretch>
        </p:blipFill>
        <p:spPr bwMode="auto">
          <a:xfrm>
            <a:off x="0" y="333375"/>
            <a:ext cx="3205480" cy="4628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018791" y="967554"/>
            <a:ext cx="4572000" cy="2677656"/>
          </a:xfrm>
          <a:prstGeom prst="rect">
            <a:avLst/>
          </a:prstGeom>
        </p:spPr>
        <p:txBody>
          <a:bodyPr>
            <a:spAutoFit/>
          </a:bodyPr>
          <a:lstStyle/>
          <a:p>
            <a:r>
              <a:rPr lang="zh-CN" altLang="en-US" sz="2400" b="1" dirty="0"/>
              <a:t>在炎热潮湿的夏季，从冰箱拿出一罐饮料，有结露现象：饮料温度很低，使得靠近饮料罐的空气温度也相应降低，当这部分空气温度降低到露点温度时，水蒸气开始凝结为水，附着在饮料罐外壁面</a:t>
            </a:r>
            <a:r>
              <a:rPr lang="zh-CN" altLang="en-US" sz="2400" b="1" dirty="0" smtClean="0"/>
              <a:t>上。 </a:t>
            </a:r>
            <a:endParaRPr lang="zh-CN" altLang="en-US" sz="2400" b="1"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3095" y="402391"/>
            <a:ext cx="7673009" cy="1077218"/>
          </a:xfrm>
          <a:prstGeom prst="rect">
            <a:avLst/>
          </a:prstGeom>
        </p:spPr>
        <p:txBody>
          <a:bodyPr wrap="square">
            <a:spAutoFit/>
          </a:bodyPr>
          <a:lstStyle/>
          <a:p>
            <a:r>
              <a:rPr lang="zh-CN" altLang="en-US" sz="3200" b="1" dirty="0"/>
              <a:t>如何设计一个实验粗略测定周围空气的</a:t>
            </a:r>
            <a:r>
              <a:rPr lang="zh-CN" altLang="en-US" sz="3200" b="1" dirty="0" smtClean="0"/>
              <a:t>露点温度</a:t>
            </a:r>
            <a:r>
              <a:rPr lang="en-US" altLang="zh-CN" sz="3200" b="1" i="1" dirty="0">
                <a:solidFill>
                  <a:srgbClr val="FF0000"/>
                </a:solidFill>
                <a:latin typeface="Times New Roman" panose="02020603050405020304" pitchFamily="18" charset="0"/>
                <a:cs typeface="Times New Roman" panose="02020603050405020304" pitchFamily="18" charset="0"/>
              </a:rPr>
              <a:t>t</a:t>
            </a:r>
            <a:r>
              <a:rPr lang="en-US" altLang="zh-CN" sz="3200" b="1" baseline="-25000" dirty="0">
                <a:solidFill>
                  <a:srgbClr val="FF0000"/>
                </a:solidFill>
                <a:latin typeface="Times New Roman" panose="02020603050405020304" pitchFamily="18" charset="0"/>
                <a:cs typeface="Times New Roman" panose="02020603050405020304" pitchFamily="18" charset="0"/>
              </a:rPr>
              <a:t>d </a:t>
            </a:r>
            <a:r>
              <a:rPr lang="zh-CN" altLang="en-US" sz="3200" b="1" dirty="0" smtClean="0"/>
              <a:t>？</a:t>
            </a:r>
            <a:endParaRPr lang="zh-CN" altLang="en-US" sz="3200" b="1" dirty="0"/>
          </a:p>
        </p:txBody>
      </p:sp>
      <p:sp>
        <p:nvSpPr>
          <p:cNvPr id="3" name="矩形 2"/>
          <p:cNvSpPr/>
          <p:nvPr/>
        </p:nvSpPr>
        <p:spPr>
          <a:xfrm>
            <a:off x="225287" y="2313297"/>
            <a:ext cx="4805484" cy="2308324"/>
          </a:xfrm>
          <a:prstGeom prst="rect">
            <a:avLst/>
          </a:prstGeom>
        </p:spPr>
        <p:txBody>
          <a:bodyPr wrap="square">
            <a:spAutoFit/>
          </a:bodyPr>
          <a:lstStyle/>
          <a:p>
            <a:pPr marL="285750" indent="-285750">
              <a:buFont typeface="Arial" panose="020B0604020202020204" pitchFamily="34" charset="0"/>
              <a:buChar char="•"/>
            </a:pPr>
            <a:r>
              <a:rPr lang="zh-CN" altLang="en-US" sz="2400" b="1" dirty="0"/>
              <a:t>在一个金属杯内倒入一定量的水，然后逐渐降低水温（例如，向杯内加入少量冰块并搅拌均匀</a:t>
            </a:r>
            <a:r>
              <a:rPr lang="zh-CN" altLang="en-US" sz="2400" b="1" dirty="0" smtClean="0"/>
              <a:t>）</a:t>
            </a:r>
            <a:endParaRPr lang="zh-CN" altLang="en-US" sz="2400" b="1" dirty="0"/>
          </a:p>
          <a:p>
            <a:pPr marL="285750" indent="-285750">
              <a:buFont typeface="Arial" panose="020B0604020202020204" pitchFamily="34" charset="0"/>
              <a:buChar char="•"/>
            </a:pPr>
            <a:r>
              <a:rPr lang="zh-CN" altLang="en-US" sz="2400" b="1" dirty="0"/>
              <a:t>当金属杯的外表面开始结露时，测量此时金属杯内水的温度，该温度就是周围空气的</a:t>
            </a:r>
            <a:r>
              <a:rPr lang="zh-CN" altLang="en-US" sz="2400" b="1" dirty="0" smtClean="0"/>
              <a:t>露点温度</a:t>
            </a:r>
            <a:endParaRPr lang="zh-CN" altLang="en-US" sz="2400" b="1" dirty="0"/>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69918" y="2056112"/>
            <a:ext cx="3468925" cy="2822693"/>
          </a:xfrm>
          <a:prstGeom prst="rect">
            <a:avLst/>
          </a:prstGeom>
        </p:spPr>
      </p:pic>
      <p:sp>
        <p:nvSpPr>
          <p:cNvPr id="8" name="椭圆 7"/>
          <p:cNvSpPr/>
          <p:nvPr/>
        </p:nvSpPr>
        <p:spPr>
          <a:xfrm>
            <a:off x="5314122" y="3571461"/>
            <a:ext cx="271669" cy="3180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43505" y="2210665"/>
            <a:ext cx="5280613" cy="769441"/>
          </a:xfrm>
          <a:prstGeom prst="rect">
            <a:avLst/>
          </a:prstGeom>
        </p:spPr>
        <p:txBody>
          <a:bodyPr wrap="none">
            <a:spAutoFit/>
          </a:bodyPr>
          <a:lstStyle/>
          <a:p>
            <a:r>
              <a:rPr lang="zh-CN" altLang="en-US" sz="4400" b="1" dirty="0" smtClean="0"/>
              <a:t>1</a:t>
            </a:r>
            <a:r>
              <a:rPr lang="en-US" altLang="zh-CN" sz="4400" b="1" dirty="0" smtClean="0"/>
              <a:t>8-4</a:t>
            </a:r>
            <a:r>
              <a:rPr lang="zh-CN" altLang="en-US" sz="4400" b="1" dirty="0"/>
              <a:t>　</a:t>
            </a:r>
            <a:r>
              <a:rPr lang="zh-CN" altLang="en-US" sz="4400" b="1" dirty="0" smtClean="0"/>
              <a:t>绝热饱和温度</a:t>
            </a:r>
            <a:endParaRPr lang="zh-CN" altLang="en-US" sz="4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4" name="Text Box 8"/>
          <p:cNvSpPr txBox="1">
            <a:spLocks noChangeArrowheads="1"/>
          </p:cNvSpPr>
          <p:nvPr/>
        </p:nvSpPr>
        <p:spPr bwMode="auto">
          <a:xfrm>
            <a:off x="395288" y="981075"/>
            <a:ext cx="8208962" cy="396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sz="3600" b="1">
                <a:latin typeface="Times New Roman" panose="02020603050405020304" pitchFamily="18" charset="0"/>
                <a:ea typeface="宋体" panose="02010600030101010101" pitchFamily="2" charset="-122"/>
              </a:rPr>
              <a:t>问题：</a:t>
            </a:r>
            <a:endParaRPr lang="zh-CN" altLang="en-US" sz="3600" b="1">
              <a:latin typeface="Times New Roman" panose="02020603050405020304" pitchFamily="18" charset="0"/>
              <a:ea typeface="宋体" panose="02010600030101010101" pitchFamily="2" charset="-122"/>
            </a:endParaRPr>
          </a:p>
          <a:p>
            <a:pPr algn="just">
              <a:spcBef>
                <a:spcPct val="50000"/>
              </a:spcBef>
            </a:pPr>
            <a:r>
              <a:rPr lang="en-US" altLang="zh-CN" sz="3600" b="1">
                <a:latin typeface="Times New Roman" panose="02020603050405020304" pitchFamily="18" charset="0"/>
                <a:ea typeface="宋体" panose="02010600030101010101" pitchFamily="2" charset="-122"/>
              </a:rPr>
              <a:t>What</a:t>
            </a:r>
            <a:r>
              <a:rPr lang="zh-CN" altLang="en-US" sz="3600" b="1">
                <a:latin typeface="Times New Roman" panose="02020603050405020304" pitchFamily="18" charset="0"/>
                <a:ea typeface="宋体" panose="02010600030101010101" pitchFamily="2" charset="-122"/>
              </a:rPr>
              <a:t>：什么是绝热饱和温度？</a:t>
            </a:r>
            <a:endParaRPr lang="zh-CN" altLang="en-US" sz="3600" b="1">
              <a:latin typeface="Times New Roman" panose="02020603050405020304" pitchFamily="18" charset="0"/>
              <a:ea typeface="宋体" panose="02010600030101010101" pitchFamily="2" charset="-122"/>
            </a:endParaRPr>
          </a:p>
          <a:p>
            <a:pPr algn="just">
              <a:spcBef>
                <a:spcPct val="50000"/>
              </a:spcBef>
            </a:pPr>
            <a:r>
              <a:rPr lang="en-US" altLang="zh-CN" sz="3600" b="1">
                <a:latin typeface="Times New Roman" panose="02020603050405020304" pitchFamily="18" charset="0"/>
                <a:ea typeface="宋体" panose="02010600030101010101" pitchFamily="2" charset="-122"/>
              </a:rPr>
              <a:t>How</a:t>
            </a:r>
            <a:r>
              <a:rPr lang="zh-CN" altLang="en-US" sz="3600" b="1">
                <a:latin typeface="Times New Roman" panose="02020603050405020304" pitchFamily="18" charset="0"/>
                <a:ea typeface="宋体" panose="02010600030101010101" pitchFamily="2" charset="-122"/>
              </a:rPr>
              <a:t>：如何得到绝热饱和温度？</a:t>
            </a:r>
            <a:endParaRPr lang="zh-CN" altLang="en-US" sz="3600" b="1">
              <a:latin typeface="Times New Roman" panose="02020603050405020304" pitchFamily="18" charset="0"/>
              <a:ea typeface="宋体" panose="02010600030101010101" pitchFamily="2" charset="-122"/>
            </a:endParaRPr>
          </a:p>
          <a:p>
            <a:pPr algn="just">
              <a:spcBef>
                <a:spcPct val="50000"/>
              </a:spcBef>
            </a:pPr>
            <a:r>
              <a:rPr lang="en-US" altLang="zh-CN" sz="3600" b="1">
                <a:latin typeface="Times New Roman" panose="02020603050405020304" pitchFamily="18" charset="0"/>
                <a:ea typeface="宋体" panose="02010600030101010101" pitchFamily="2" charset="-122"/>
              </a:rPr>
              <a:t>Why</a:t>
            </a:r>
            <a:r>
              <a:rPr lang="zh-CN" altLang="en-US" sz="3600" b="1">
                <a:latin typeface="Times New Roman" panose="02020603050405020304" pitchFamily="18" charset="0"/>
                <a:ea typeface="宋体" panose="02010600030101010101" pitchFamily="2" charset="-122"/>
              </a:rPr>
              <a:t>：为什么讨论此物理量，</a:t>
            </a:r>
            <a:endParaRPr lang="zh-CN" altLang="en-US" sz="3600" b="1">
              <a:latin typeface="Times New Roman" panose="02020603050405020304" pitchFamily="18" charset="0"/>
              <a:ea typeface="宋体" panose="02010600030101010101" pitchFamily="2" charset="-122"/>
            </a:endParaRPr>
          </a:p>
          <a:p>
            <a:pPr algn="just">
              <a:spcBef>
                <a:spcPct val="50000"/>
              </a:spcBef>
            </a:pPr>
            <a:r>
              <a:rPr lang="zh-CN" altLang="en-US" sz="3600" b="1">
                <a:latin typeface="Times New Roman" panose="02020603050405020304" pitchFamily="18" charset="0"/>
                <a:ea typeface="宋体" panose="02010600030101010101" pitchFamily="2" charset="-122"/>
              </a:rPr>
              <a:t>            即绝热饱和温度的作用？</a:t>
            </a:r>
            <a:endParaRPr lang="zh-CN" altLang="en-US" sz="3600" b="1">
              <a:latin typeface="Times New Roman" panose="02020603050405020304" pitchFamily="18" charset="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904">
                                            <p:txEl>
                                              <p:pRg st="1" end="1"/>
                                            </p:txEl>
                                          </p:spTgt>
                                        </p:tgtEl>
                                        <p:attrNameLst>
                                          <p:attrName>style.visibility</p:attrName>
                                        </p:attrNameLst>
                                      </p:cBhvr>
                                      <p:to>
                                        <p:strVal val="visible"/>
                                      </p:to>
                                    </p:set>
                                    <p:animEffect transition="in" filter="blinds(horizontal)">
                                      <p:cBhvr>
                                        <p:cTn id="7" dur="500"/>
                                        <p:tgtEl>
                                          <p:spTgt spid="8090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0904">
                                            <p:txEl>
                                              <p:pRg st="2" end="2"/>
                                            </p:txEl>
                                          </p:spTgt>
                                        </p:tgtEl>
                                        <p:attrNameLst>
                                          <p:attrName>style.visibility</p:attrName>
                                        </p:attrNameLst>
                                      </p:cBhvr>
                                      <p:to>
                                        <p:strVal val="visible"/>
                                      </p:to>
                                    </p:set>
                                    <p:animEffect transition="in" filter="blinds(horizontal)">
                                      <p:cBhvr>
                                        <p:cTn id="12" dur="500"/>
                                        <p:tgtEl>
                                          <p:spTgt spid="8090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0904">
                                            <p:txEl>
                                              <p:pRg st="3" end="3"/>
                                            </p:txEl>
                                          </p:spTgt>
                                        </p:tgtEl>
                                        <p:attrNameLst>
                                          <p:attrName>style.visibility</p:attrName>
                                        </p:attrNameLst>
                                      </p:cBhvr>
                                      <p:to>
                                        <p:strVal val="visible"/>
                                      </p:to>
                                    </p:set>
                                    <p:animEffect transition="in" filter="blinds(horizontal)">
                                      <p:cBhvr>
                                        <p:cTn id="17" dur="500"/>
                                        <p:tgtEl>
                                          <p:spTgt spid="8090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0904">
                                            <p:txEl>
                                              <p:pRg st="4" end="4"/>
                                            </p:txEl>
                                          </p:spTgt>
                                        </p:tgtEl>
                                        <p:attrNameLst>
                                          <p:attrName>style.visibility</p:attrName>
                                        </p:attrNameLst>
                                      </p:cBhvr>
                                      <p:to>
                                        <p:strVal val="visible"/>
                                      </p:to>
                                    </p:set>
                                    <p:animEffect transition="in" filter="blinds(horizontal)">
                                      <p:cBhvr>
                                        <p:cTn id="22" dur="500"/>
                                        <p:tgtEl>
                                          <p:spTgt spid="8090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矩形 229386"/>
          <p:cNvSpPr>
            <a:spLocks noChangeArrowheads="1"/>
          </p:cNvSpPr>
          <p:nvPr/>
        </p:nvSpPr>
        <p:spPr bwMode="auto">
          <a:xfrm>
            <a:off x="5500688" y="1404938"/>
            <a:ext cx="36290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400" b="1" dirty="0">
                <a:solidFill>
                  <a:srgbClr val="0070C0"/>
                </a:solidFill>
                <a:ea typeface="黑体" panose="02010609060101010101" charset="-122"/>
              </a:rPr>
              <a:t>绝热饱和过程装置示意图</a:t>
            </a:r>
            <a:endParaRPr lang="zh-CN" altLang="en-US" sz="2400" b="1" dirty="0">
              <a:solidFill>
                <a:srgbClr val="0070C0"/>
              </a:solidFill>
              <a:ea typeface="黑体" panose="02010609060101010101" charset="-122"/>
            </a:endParaRPr>
          </a:p>
        </p:txBody>
      </p:sp>
      <p:pic>
        <p:nvPicPr>
          <p:cNvPr id="67586"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238625" y="1987550"/>
            <a:ext cx="4498975"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组合 8"/>
          <p:cNvGrpSpPr/>
          <p:nvPr/>
        </p:nvGrpSpPr>
        <p:grpSpPr>
          <a:xfrm>
            <a:off x="412750" y="4459288"/>
            <a:ext cx="5794375" cy="1700212"/>
            <a:chOff x="412750" y="4459288"/>
            <a:chExt cx="5794375" cy="1700212"/>
          </a:xfrm>
        </p:grpSpPr>
        <p:sp>
          <p:nvSpPr>
            <p:cNvPr id="3" name="矩形 2"/>
            <p:cNvSpPr>
              <a:spLocks noChangeArrowheads="1"/>
            </p:cNvSpPr>
            <p:nvPr/>
          </p:nvSpPr>
          <p:spPr bwMode="auto">
            <a:xfrm>
              <a:off x="412750" y="5083175"/>
              <a:ext cx="5794375" cy="1076325"/>
            </a:xfrm>
            <a:prstGeom prst="rect">
              <a:avLst/>
            </a:prstGeom>
            <a:noFill/>
            <a:ln w="28575">
              <a:solidFill>
                <a:srgbClr val="D6D6D6"/>
              </a:solidFill>
              <a:round/>
            </a:ln>
            <a:extLst>
              <a:ext uri="{909E8E84-426E-40DD-AFC4-6F175D3DCCD1}">
                <a14:hiddenFill xmlns:a14="http://schemas.microsoft.com/office/drawing/2010/main">
                  <a:solidFill>
                    <a:srgbClr val="FFFFFF"/>
                  </a:solidFill>
                </a14:hiddenFill>
              </a:ext>
            </a:extLst>
          </p:spPr>
          <p:txBody>
            <a:bodyPr/>
            <a:lstStyle/>
            <a:p>
              <a:pPr eaLnBrk="0" hangingPunct="0">
                <a:lnSpc>
                  <a:spcPct val="90000"/>
                </a:lnSpc>
                <a:spcBef>
                  <a:spcPct val="20000"/>
                </a:spcBef>
              </a:pPr>
              <a:r>
                <a:rPr lang="zh-CN" altLang="en-US" sz="2400" b="1" dirty="0">
                  <a:latin typeface="黑体" panose="02010609060101010101" charset="-122"/>
                  <a:ea typeface="黑体" panose="02010609060101010101" charset="-122"/>
                </a:rPr>
                <a:t>未饱和湿空气从入口</a:t>
              </a:r>
              <a:r>
                <a:rPr lang="en-US" altLang="zh-CN" sz="2400" b="1" dirty="0">
                  <a:latin typeface="Times New Roman" panose="02020603050405020304" pitchFamily="18" charset="0"/>
                  <a:ea typeface="黑体" panose="02010609060101010101" charset="-122"/>
                </a:rPr>
                <a:t>1</a:t>
              </a:r>
              <a:r>
                <a:rPr lang="zh-CN" altLang="en-US" sz="2400" b="1" dirty="0">
                  <a:latin typeface="黑体" panose="02010609060101010101" charset="-122"/>
                  <a:ea typeface="黑体" panose="02010609060101010101" charset="-122"/>
                </a:rPr>
                <a:t>进入装置通道，入口处湿空气含湿量为</a:t>
              </a:r>
              <a:r>
                <a:rPr lang="en-US" altLang="zh-CN" sz="2400" b="1" i="1" dirty="0">
                  <a:latin typeface="Times New Roman" panose="02020603050405020304" pitchFamily="18" charset="0"/>
                  <a:ea typeface="黑体" panose="02010609060101010101" charset="-122"/>
                </a:rPr>
                <a:t>d</a:t>
              </a:r>
              <a:r>
                <a:rPr lang="en-US" altLang="zh-CN" sz="2400" b="1" baseline="-25000" dirty="0">
                  <a:latin typeface="Times New Roman" panose="02020603050405020304" pitchFamily="18" charset="0"/>
                  <a:ea typeface="黑体" panose="02010609060101010101" charset="-122"/>
                </a:rPr>
                <a:t>1</a:t>
              </a:r>
              <a:r>
                <a:rPr lang="zh-CN" altLang="en-US" sz="2400" b="1" dirty="0">
                  <a:latin typeface="黑体" panose="02010609060101010101" charset="-122"/>
                  <a:ea typeface="黑体" panose="02010609060101010101" charset="-122"/>
                </a:rPr>
                <a:t>（未知），温度为</a:t>
              </a:r>
              <a:r>
                <a:rPr lang="en-US" altLang="zh-CN" sz="2400" b="1" i="1" dirty="0">
                  <a:latin typeface="Times New Roman" panose="02020603050405020304" pitchFamily="18" charset="0"/>
                  <a:ea typeface="黑体" panose="02010609060101010101" charset="-122"/>
                </a:rPr>
                <a:t>t</a:t>
              </a:r>
              <a:r>
                <a:rPr lang="en-US" altLang="zh-CN" sz="2400" b="1" baseline="-25000" dirty="0">
                  <a:latin typeface="Times New Roman" panose="02020603050405020304" pitchFamily="18" charset="0"/>
                  <a:ea typeface="黑体" panose="02010609060101010101" charset="-122"/>
                </a:rPr>
                <a:t>1</a:t>
              </a:r>
              <a:r>
                <a:rPr lang="zh-CN" altLang="en-US" sz="2400" b="1" dirty="0">
                  <a:latin typeface="黑体" panose="02010609060101010101" charset="-122"/>
                  <a:ea typeface="黑体" panose="02010609060101010101" charset="-122"/>
                </a:rPr>
                <a:t>（可直接测量）</a:t>
              </a:r>
              <a:endParaRPr lang="en-US" altLang="zh-CN" sz="2400" dirty="0">
                <a:ea typeface="宋体" panose="02010600030101010101" pitchFamily="2" charset="-122"/>
              </a:endParaRPr>
            </a:p>
          </p:txBody>
        </p:sp>
        <p:sp>
          <p:nvSpPr>
            <p:cNvPr id="4" name="右箭头 3"/>
            <p:cNvSpPr/>
            <p:nvPr/>
          </p:nvSpPr>
          <p:spPr>
            <a:xfrm rot="18300000">
              <a:off x="4622800" y="4567238"/>
              <a:ext cx="604837" cy="3889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grpSp>
      <p:grpSp>
        <p:nvGrpSpPr>
          <p:cNvPr id="10" name="组合 9"/>
          <p:cNvGrpSpPr/>
          <p:nvPr/>
        </p:nvGrpSpPr>
        <p:grpSpPr>
          <a:xfrm>
            <a:off x="279400" y="2330450"/>
            <a:ext cx="5314950" cy="2286000"/>
            <a:chOff x="279400" y="2330450"/>
            <a:chExt cx="5314950" cy="2286000"/>
          </a:xfrm>
        </p:grpSpPr>
        <p:sp>
          <p:nvSpPr>
            <p:cNvPr id="5" name="矩形 4"/>
            <p:cNvSpPr>
              <a:spLocks noChangeArrowheads="1"/>
            </p:cNvSpPr>
            <p:nvPr/>
          </p:nvSpPr>
          <p:spPr bwMode="auto">
            <a:xfrm>
              <a:off x="279400" y="2330450"/>
              <a:ext cx="3959225" cy="2286000"/>
            </a:xfrm>
            <a:prstGeom prst="rect">
              <a:avLst/>
            </a:prstGeom>
            <a:noFill/>
            <a:ln w="28575">
              <a:solidFill>
                <a:srgbClr val="D6D6D6"/>
              </a:solidFill>
              <a:round/>
            </a:ln>
            <a:extLst>
              <a:ext uri="{909E8E84-426E-40DD-AFC4-6F175D3DCCD1}">
                <a14:hiddenFill xmlns:a14="http://schemas.microsoft.com/office/drawing/2010/main">
                  <a:solidFill>
                    <a:srgbClr val="FFFFFF"/>
                  </a:solidFill>
                </a14:hiddenFill>
              </a:ext>
            </a:extLst>
          </p:spPr>
          <p:txBody>
            <a:bodyPr/>
            <a:lstStyle/>
            <a:p>
              <a:pPr eaLnBrk="0" hangingPunct="0">
                <a:lnSpc>
                  <a:spcPct val="90000"/>
                </a:lnSpc>
                <a:spcBef>
                  <a:spcPct val="20000"/>
                </a:spcBef>
              </a:pPr>
              <a:r>
                <a:rPr lang="zh-CN" altLang="zh-CN" sz="2000" b="1" dirty="0">
                  <a:latin typeface="黑体" panose="02010609060101010101" charset="-122"/>
                  <a:ea typeface="黑体" panose="02010609060101010101" charset="-122"/>
                </a:rPr>
                <a:t>大量的水由入口3喷淋而下，与湿空气逆向而行在填料层中接触，因为湿空气尚未饱和，所以水不断汽化而进入湿空气，使湿空气的相对湿度逐渐增加。又因装置绝热，水分汽化所需的潜热只能来自于湿空气的显热，致使过程中湿空气温度逐渐下降。</a:t>
              </a:r>
              <a:endParaRPr lang="zh-CN" altLang="zh-CN" sz="2000" b="1" dirty="0">
                <a:latin typeface="黑体" panose="02010609060101010101" charset="-122"/>
                <a:ea typeface="黑体" panose="02010609060101010101" charset="-122"/>
              </a:endParaRPr>
            </a:p>
          </p:txBody>
        </p:sp>
        <p:sp>
          <p:nvSpPr>
            <p:cNvPr id="6" name="右箭头 5"/>
            <p:cNvSpPr/>
            <p:nvPr/>
          </p:nvSpPr>
          <p:spPr>
            <a:xfrm>
              <a:off x="4238625" y="2947988"/>
              <a:ext cx="1355725" cy="4000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grpSp>
      <p:grpSp>
        <p:nvGrpSpPr>
          <p:cNvPr id="11" name="组合 10"/>
          <p:cNvGrpSpPr/>
          <p:nvPr/>
        </p:nvGrpSpPr>
        <p:grpSpPr>
          <a:xfrm>
            <a:off x="1527175" y="279400"/>
            <a:ext cx="3862388" cy="1617663"/>
            <a:chOff x="1527175" y="279400"/>
            <a:chExt cx="3862388" cy="1617663"/>
          </a:xfrm>
        </p:grpSpPr>
        <p:sp>
          <p:nvSpPr>
            <p:cNvPr id="67591" name="文本框 6"/>
            <p:cNvSpPr txBox="1">
              <a:spLocks noChangeArrowheads="1"/>
            </p:cNvSpPr>
            <p:nvPr/>
          </p:nvSpPr>
          <p:spPr bwMode="auto">
            <a:xfrm>
              <a:off x="1527175" y="279400"/>
              <a:ext cx="3862388" cy="1320800"/>
            </a:xfrm>
            <a:prstGeom prst="rect">
              <a:avLst/>
            </a:prstGeom>
            <a:noFill/>
            <a:ln w="12700">
              <a:solidFill>
                <a:srgbClr val="D6D6D6"/>
              </a:solidFill>
              <a:round/>
            </a:ln>
            <a:extLst>
              <a:ext uri="{909E8E84-426E-40DD-AFC4-6F175D3DCCD1}">
                <a14:hiddenFill xmlns:a14="http://schemas.microsoft.com/office/drawing/2010/main">
                  <a:solidFill>
                    <a:srgbClr val="FFFFFF"/>
                  </a:solidFill>
                </a14:hiddenFill>
              </a:ext>
            </a:extLst>
          </p:spPr>
          <p:txBody>
            <a:bodyPr>
              <a:spAutoFit/>
            </a:bodyPr>
            <a:lstStyle/>
            <a:p>
              <a:pPr eaLnBrk="0" hangingPunct="0"/>
              <a:r>
                <a:rPr lang="zh-CN" altLang="en-US" sz="2000" b="1">
                  <a:latin typeface="黑体" panose="02010609060101010101" charset="-122"/>
                  <a:ea typeface="黑体" panose="02010609060101010101" charset="-122"/>
                </a:rPr>
                <a:t>若湿空气与水分有足够的接触时间，最终湿空气达到饱和，温度达到</a:t>
              </a:r>
              <a:r>
                <a:rPr lang="zh-CN" altLang="en-US" sz="2000" b="1" i="1">
                  <a:latin typeface="Times New Roman" panose="02020603050405020304" pitchFamily="18" charset="0"/>
                  <a:ea typeface="黑体" panose="02010609060101010101" charset="-122"/>
                </a:rPr>
                <a:t>t</a:t>
              </a:r>
              <a:r>
                <a:rPr lang="zh-CN" altLang="en-US" sz="2000" b="1" baseline="-25000">
                  <a:latin typeface="Times New Roman" panose="02020603050405020304" pitchFamily="18" charset="0"/>
                  <a:ea typeface="黑体" panose="02010609060101010101" charset="-122"/>
                </a:rPr>
                <a:t>2</a:t>
              </a:r>
              <a:r>
                <a:rPr lang="zh-CN" altLang="en-US" sz="2000" b="1">
                  <a:latin typeface="黑体" panose="02010609060101010101" charset="-122"/>
                  <a:ea typeface="黑体" panose="02010609060101010101" charset="-122"/>
                </a:rPr>
                <a:t>而不再下降，并始终保持饱和状态和温度</a:t>
              </a:r>
              <a:r>
                <a:rPr lang="zh-CN" altLang="en-US" sz="2000" b="1" i="1">
                  <a:latin typeface="Times New Roman" panose="02020603050405020304" pitchFamily="18" charset="0"/>
                  <a:ea typeface="黑体" panose="02010609060101010101" charset="-122"/>
                </a:rPr>
                <a:t>t</a:t>
              </a:r>
              <a:r>
                <a:rPr lang="zh-CN" altLang="en-US" sz="2000" b="1" baseline="-25000">
                  <a:latin typeface="Times New Roman" panose="02020603050405020304" pitchFamily="18" charset="0"/>
                  <a:ea typeface="黑体" panose="02010609060101010101" charset="-122"/>
                </a:rPr>
                <a:t>2</a:t>
              </a:r>
              <a:r>
                <a:rPr lang="zh-CN" altLang="en-US" sz="2000" b="1">
                  <a:latin typeface="黑体" panose="02010609060101010101" charset="-122"/>
                  <a:ea typeface="黑体" panose="02010609060101010101" charset="-122"/>
                </a:rPr>
                <a:t>直到出口2</a:t>
              </a:r>
              <a:endParaRPr lang="zh-CN" altLang="en-US" sz="2000" b="1">
                <a:latin typeface="黑体" panose="02010609060101010101" charset="-122"/>
                <a:ea typeface="黑体" panose="02010609060101010101" charset="-122"/>
              </a:endParaRPr>
            </a:p>
          </p:txBody>
        </p:sp>
        <p:sp>
          <p:nvSpPr>
            <p:cNvPr id="8" name="右箭头 7"/>
            <p:cNvSpPr/>
            <p:nvPr/>
          </p:nvSpPr>
          <p:spPr>
            <a:xfrm rot="2340000">
              <a:off x="4329113" y="1651000"/>
              <a:ext cx="646112" cy="2460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grpSp>
      <p:sp>
        <p:nvSpPr>
          <p:cNvPr id="67593" name="文本框 8"/>
          <p:cNvSpPr txBox="1">
            <a:spLocks noChangeArrowheads="1"/>
          </p:cNvSpPr>
          <p:nvPr/>
        </p:nvSpPr>
        <p:spPr bwMode="auto">
          <a:xfrm>
            <a:off x="5719763" y="585788"/>
            <a:ext cx="292735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2000" b="1">
                <a:latin typeface="黑体" panose="02010609060101010101" charset="-122"/>
                <a:ea typeface="黑体" panose="02010609060101010101" charset="-122"/>
              </a:rPr>
              <a:t>假设湿空气的总压力在整个过程中保持不变</a:t>
            </a:r>
            <a:endParaRPr lang="zh-CN" altLang="en-US" sz="2000" b="1">
              <a:latin typeface="黑体" panose="02010609060101010101" charset="-122"/>
              <a:ea typeface="黑体" panose="0201060906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矩形 230404"/>
          <p:cNvSpPr>
            <a:spLocks noChangeArrowheads="1"/>
          </p:cNvSpPr>
          <p:nvPr/>
        </p:nvSpPr>
        <p:spPr bwMode="auto">
          <a:xfrm>
            <a:off x="245441" y="3873966"/>
            <a:ext cx="863351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eaLnBrk="0" hangingPunct="0">
              <a:buFont typeface="Arial" panose="020B0604020202020204" pitchFamily="34" charset="0"/>
              <a:buChar char="•"/>
            </a:pPr>
            <a:r>
              <a:rPr lang="zh-CN" altLang="zh-CN" sz="2400" b="1" dirty="0">
                <a:latin typeface="黑体" panose="02010609060101010101" charset="-122"/>
                <a:ea typeface="黑体" panose="02010609060101010101" charset="-122"/>
              </a:rPr>
              <a:t>这种在绝热条件下向湿空气中加入水分，且满足绝热饱和器的循环水温和补充水温也都保持</a:t>
            </a:r>
            <a:r>
              <a:rPr lang="en-US" altLang="zh-CN" sz="2400" b="1" i="1" dirty="0">
                <a:latin typeface="Times New Roman" panose="02020603050405020304" pitchFamily="18" charset="0"/>
                <a:ea typeface="黑体" panose="02010609060101010101" charset="-122"/>
              </a:rPr>
              <a:t>t</a:t>
            </a:r>
            <a:r>
              <a:rPr lang="en-US" altLang="zh-CN" sz="2400" b="1" baseline="-25000" dirty="0">
                <a:latin typeface="Times New Roman" panose="02020603050405020304" pitchFamily="18" charset="0"/>
                <a:ea typeface="黑体" panose="02010609060101010101" charset="-122"/>
              </a:rPr>
              <a:t>2</a:t>
            </a:r>
            <a:r>
              <a:rPr lang="zh-CN" altLang="zh-CN" sz="2400" b="1" dirty="0">
                <a:latin typeface="黑体" panose="02010609060101010101" charset="-122"/>
                <a:ea typeface="黑体" panose="02010609060101010101" charset="-122"/>
              </a:rPr>
              <a:t>而使得湿空气达到饱和的过程就称为</a:t>
            </a:r>
            <a:r>
              <a:rPr lang="zh-CN" altLang="zh-CN" sz="2400" b="1" dirty="0">
                <a:solidFill>
                  <a:srgbClr val="FF0000"/>
                </a:solidFill>
                <a:latin typeface="黑体" panose="02010609060101010101" charset="-122"/>
                <a:ea typeface="黑体" panose="02010609060101010101" charset="-122"/>
              </a:rPr>
              <a:t>绝热饱和</a:t>
            </a:r>
            <a:r>
              <a:rPr lang="zh-CN" altLang="zh-CN" sz="2400" b="1" dirty="0" smtClean="0">
                <a:solidFill>
                  <a:srgbClr val="FF0000"/>
                </a:solidFill>
                <a:latin typeface="黑体" panose="02010609060101010101" charset="-122"/>
                <a:ea typeface="黑体" panose="02010609060101010101" charset="-122"/>
              </a:rPr>
              <a:t>过程</a:t>
            </a:r>
            <a:endParaRPr lang="en-US" altLang="zh-CN" sz="2400" b="1" dirty="0" smtClean="0">
              <a:latin typeface="黑体" panose="02010609060101010101" charset="-122"/>
              <a:ea typeface="黑体" panose="02010609060101010101" charset="-122"/>
            </a:endParaRPr>
          </a:p>
          <a:p>
            <a:pPr marL="457200" indent="-457200" eaLnBrk="0" hangingPunct="0">
              <a:buFont typeface="Arial" panose="020B0604020202020204" pitchFamily="34" charset="0"/>
              <a:buChar char="•"/>
            </a:pPr>
            <a:r>
              <a:rPr lang="zh-CN" altLang="zh-CN" sz="2400" b="1" dirty="0" smtClean="0">
                <a:latin typeface="黑体" panose="02010609060101010101" charset="-122"/>
                <a:ea typeface="黑体" panose="02010609060101010101" charset="-122"/>
              </a:rPr>
              <a:t>这样</a:t>
            </a:r>
            <a:r>
              <a:rPr lang="zh-CN" altLang="zh-CN" sz="2400" b="1" dirty="0">
                <a:latin typeface="黑体" panose="02010609060101010101" charset="-122"/>
                <a:ea typeface="黑体" panose="02010609060101010101" charset="-122"/>
              </a:rPr>
              <a:t>达到的饱和状态2称为绝热饱和状态，相应的温度</a:t>
            </a:r>
            <a:r>
              <a:rPr lang="en-US" altLang="zh-CN" sz="2400" b="1" i="1" dirty="0">
                <a:latin typeface="Times New Roman" panose="02020603050405020304" pitchFamily="18" charset="0"/>
                <a:ea typeface="黑体" panose="02010609060101010101" charset="-122"/>
              </a:rPr>
              <a:t>t</a:t>
            </a:r>
            <a:r>
              <a:rPr lang="en-US" altLang="zh-CN" sz="2400" b="1" baseline="-25000" dirty="0">
                <a:latin typeface="Times New Roman" panose="02020603050405020304" pitchFamily="18" charset="0"/>
                <a:ea typeface="黑体" panose="02010609060101010101" charset="-122"/>
              </a:rPr>
              <a:t>2</a:t>
            </a:r>
            <a:r>
              <a:rPr lang="zh-CN" altLang="zh-CN" sz="2400" b="1" dirty="0">
                <a:latin typeface="黑体" panose="02010609060101010101" charset="-122"/>
                <a:ea typeface="黑体" panose="02010609060101010101" charset="-122"/>
              </a:rPr>
              <a:t>称为初始状态湿空气的</a:t>
            </a:r>
            <a:r>
              <a:rPr lang="zh-CN" altLang="zh-CN" sz="2400" b="1" dirty="0">
                <a:solidFill>
                  <a:srgbClr val="FF0000"/>
                </a:solidFill>
                <a:latin typeface="黑体" panose="02010609060101010101" charset="-122"/>
                <a:ea typeface="黑体" panose="02010609060101010101" charset="-122"/>
              </a:rPr>
              <a:t>绝热饱和温度</a:t>
            </a:r>
            <a:r>
              <a:rPr lang="en-US" altLang="zh-CN" sz="2400" b="1" i="1" dirty="0" smtClean="0">
                <a:solidFill>
                  <a:srgbClr val="FF0000"/>
                </a:solidFill>
                <a:latin typeface="Times New Roman" panose="02020603050405020304" pitchFamily="18" charset="0"/>
                <a:ea typeface="黑体" panose="02010609060101010101" charset="-122"/>
              </a:rPr>
              <a:t>t</a:t>
            </a:r>
            <a:r>
              <a:rPr lang="en-US" altLang="zh-CN" sz="2400" b="1" baseline="-25000" dirty="0" smtClean="0">
                <a:solidFill>
                  <a:srgbClr val="FF0000"/>
                </a:solidFill>
                <a:latin typeface="Times New Roman" panose="02020603050405020304" pitchFamily="18" charset="0"/>
                <a:ea typeface="黑体" panose="02010609060101010101" charset="-122"/>
              </a:rPr>
              <a:t>ad,1</a:t>
            </a:r>
            <a:endParaRPr lang="zh-CN" altLang="en-US" sz="2400" b="1" dirty="0">
              <a:ea typeface="宋体" panose="02010600030101010101" pitchFamily="2" charset="-122"/>
            </a:endParaRPr>
          </a:p>
        </p:txBody>
      </p:sp>
      <p:sp>
        <p:nvSpPr>
          <p:cNvPr id="68610" name="矩形 230406"/>
          <p:cNvSpPr>
            <a:spLocks noChangeArrowheads="1"/>
          </p:cNvSpPr>
          <p:nvPr/>
        </p:nvSpPr>
        <p:spPr bwMode="auto">
          <a:xfrm>
            <a:off x="0" y="2228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2" name="矩形 1"/>
          <p:cNvSpPr/>
          <p:nvPr/>
        </p:nvSpPr>
        <p:spPr>
          <a:xfrm>
            <a:off x="2869095" y="6148593"/>
            <a:ext cx="4572000" cy="461665"/>
          </a:xfrm>
          <a:prstGeom prst="rect">
            <a:avLst/>
          </a:prstGeom>
        </p:spPr>
        <p:txBody>
          <a:bodyPr>
            <a:spAutoFit/>
          </a:bodyPr>
          <a:lstStyle/>
          <a:p>
            <a:pPr eaLnBrk="0" hangingPunct="0"/>
            <a:r>
              <a:rPr lang="zh-CN" altLang="en-US" sz="2400" b="1" dirty="0">
                <a:solidFill>
                  <a:srgbClr val="0070C0"/>
                </a:solidFill>
                <a:latin typeface="黑体" panose="02010609060101010101" charset="-122"/>
                <a:ea typeface="黑体" panose="02010609060101010101" charset="-122"/>
              </a:rPr>
              <a:t>以上</a:t>
            </a:r>
            <a:r>
              <a:rPr lang="zh-CN" altLang="en-US" sz="2400" b="1" dirty="0" smtClean="0">
                <a:solidFill>
                  <a:srgbClr val="0070C0"/>
                </a:solidFill>
                <a:latin typeface="黑体" panose="02010609060101010101" charset="-122"/>
                <a:ea typeface="黑体" panose="02010609060101010101" charset="-122"/>
              </a:rPr>
              <a:t>回答</a:t>
            </a:r>
            <a:r>
              <a:rPr lang="zh-CN" altLang="en-US" sz="2400" b="1" dirty="0">
                <a:solidFill>
                  <a:srgbClr val="0070C0"/>
                </a:solidFill>
                <a:latin typeface="黑体" panose="02010609060101010101" charset="-122"/>
                <a:ea typeface="黑体" panose="02010609060101010101" charset="-122"/>
              </a:rPr>
              <a:t>了</a:t>
            </a:r>
            <a:r>
              <a:rPr lang="en-US" altLang="zh-CN" sz="2400" b="1" dirty="0">
                <a:solidFill>
                  <a:srgbClr val="0070C0"/>
                </a:solidFill>
                <a:latin typeface="黑体" panose="02010609060101010101" charset="-122"/>
                <a:ea typeface="黑体" panose="02010609060101010101" charset="-122"/>
              </a:rPr>
              <a:t>what &amp; </a:t>
            </a:r>
            <a:r>
              <a:rPr lang="en-US" altLang="zh-CN" sz="2400" b="1" dirty="0" smtClean="0">
                <a:solidFill>
                  <a:srgbClr val="0070C0"/>
                </a:solidFill>
                <a:latin typeface="黑体" panose="02010609060101010101" charset="-122"/>
                <a:ea typeface="黑体" panose="02010609060101010101" charset="-122"/>
              </a:rPr>
              <a:t>how</a:t>
            </a:r>
            <a:r>
              <a:rPr lang="zh-CN" altLang="en-US" sz="2400" b="1" dirty="0" smtClean="0">
                <a:solidFill>
                  <a:srgbClr val="0070C0"/>
                </a:solidFill>
                <a:ea typeface="宋体" panose="02010600030101010101" pitchFamily="2" charset="-122"/>
              </a:rPr>
              <a:t> </a:t>
            </a:r>
            <a:endParaRPr lang="zh-CN" altLang="en-US" sz="2400" b="1" dirty="0">
              <a:solidFill>
                <a:srgbClr val="0070C0"/>
              </a:solidFill>
              <a:ea typeface="宋体" panose="02010600030101010101" pitchFamily="2"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27497" y="463664"/>
            <a:ext cx="4450466" cy="317629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矩形 230404"/>
          <p:cNvSpPr>
            <a:spLocks noChangeArrowheads="1"/>
          </p:cNvSpPr>
          <p:nvPr/>
        </p:nvSpPr>
        <p:spPr bwMode="auto">
          <a:xfrm>
            <a:off x="278572" y="4267042"/>
            <a:ext cx="871302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eaLnBrk="0" hangingPunct="0">
              <a:buFont typeface="Arial" panose="020B0604020202020204" pitchFamily="34" charset="0"/>
              <a:buChar char="•"/>
            </a:pPr>
            <a:r>
              <a:rPr lang="zh-CN" altLang="zh-CN" sz="2400" b="1" dirty="0">
                <a:ea typeface="黑体" panose="02010609060101010101" charset="-122"/>
              </a:rPr>
              <a:t>湿空气的每一个状态都对应着一个绝热饱和温度，因此</a:t>
            </a:r>
            <a:r>
              <a:rPr lang="en-US" altLang="zh-CN" sz="2400" b="1" i="1" dirty="0">
                <a:solidFill>
                  <a:srgbClr val="FF0000"/>
                </a:solidFill>
                <a:latin typeface="Times New Roman" panose="02020603050405020304" pitchFamily="18" charset="0"/>
                <a:ea typeface="黑体" panose="02010609060101010101" charset="-122"/>
              </a:rPr>
              <a:t>t</a:t>
            </a:r>
            <a:r>
              <a:rPr lang="en-US" altLang="zh-CN" sz="2400" b="1" baseline="-25000" dirty="0">
                <a:solidFill>
                  <a:srgbClr val="FF0000"/>
                </a:solidFill>
                <a:latin typeface="Times New Roman" panose="02020603050405020304" pitchFamily="18" charset="0"/>
                <a:ea typeface="黑体" panose="02010609060101010101" charset="-122"/>
              </a:rPr>
              <a:t>ad,1</a:t>
            </a:r>
            <a:r>
              <a:rPr lang="zh-CN" altLang="zh-CN" sz="2400" b="1" dirty="0">
                <a:ea typeface="黑体" panose="02010609060101010101" charset="-122"/>
              </a:rPr>
              <a:t>也是湿空气的</a:t>
            </a:r>
            <a:r>
              <a:rPr lang="zh-CN" altLang="zh-CN" sz="2400" b="1" dirty="0">
                <a:solidFill>
                  <a:srgbClr val="FF0000"/>
                </a:solidFill>
                <a:ea typeface="黑体" panose="02010609060101010101" charset="-122"/>
              </a:rPr>
              <a:t>状态参数</a:t>
            </a:r>
            <a:r>
              <a:rPr lang="zh-CN" altLang="zh-CN" sz="2400" b="1" dirty="0" smtClean="0">
                <a:ea typeface="黑体" panose="02010609060101010101" charset="-122"/>
              </a:rPr>
              <a:t>之一</a:t>
            </a:r>
            <a:endParaRPr lang="en-US" altLang="zh-CN" sz="2400" b="1" dirty="0" smtClean="0">
              <a:ea typeface="黑体" panose="02010609060101010101" charset="-122"/>
            </a:endParaRPr>
          </a:p>
          <a:p>
            <a:pPr marL="457200" indent="-457200" eaLnBrk="0" hangingPunct="0">
              <a:buFont typeface="Arial" panose="020B0604020202020204" pitchFamily="34" charset="0"/>
              <a:buChar char="•"/>
            </a:pPr>
            <a:r>
              <a:rPr lang="zh-CN" altLang="zh-CN" sz="2400" b="1" dirty="0" smtClean="0">
                <a:ea typeface="黑体" panose="02010609060101010101" charset="-122"/>
              </a:rPr>
              <a:t>绝热饱和温度</a:t>
            </a:r>
            <a:r>
              <a:rPr lang="zh-CN" altLang="zh-CN" sz="2400" b="1" dirty="0">
                <a:ea typeface="黑体" panose="02010609060101010101" charset="-122"/>
              </a:rPr>
              <a:t>是湿空气绝热增湿过程中空气降温的极限</a:t>
            </a:r>
            <a:r>
              <a:rPr lang="zh-CN" altLang="en-US" sz="2400" b="1" dirty="0">
                <a:ea typeface="宋体" panose="02010600030101010101" pitchFamily="2" charset="-122"/>
              </a:rPr>
              <a:t> </a:t>
            </a:r>
            <a:endParaRPr lang="zh-CN" altLang="en-US" sz="2400" b="1" dirty="0">
              <a:ea typeface="宋体" panose="02010600030101010101" pitchFamily="2" charset="-122"/>
            </a:endParaRPr>
          </a:p>
        </p:txBody>
      </p:sp>
      <p:sp>
        <p:nvSpPr>
          <p:cNvPr id="69634" name="矩形 230406"/>
          <p:cNvSpPr>
            <a:spLocks noChangeArrowheads="1"/>
          </p:cNvSpPr>
          <p:nvPr/>
        </p:nvSpPr>
        <p:spPr bwMode="auto">
          <a:xfrm>
            <a:off x="0" y="2228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69635" name="矩形 230408"/>
          <p:cNvSpPr>
            <a:spLocks noChangeArrowheads="1"/>
          </p:cNvSpPr>
          <p:nvPr/>
        </p:nvSpPr>
        <p:spPr bwMode="auto">
          <a:xfrm>
            <a:off x="0" y="2224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27497" y="463664"/>
            <a:ext cx="4450466" cy="317629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矩形 230404"/>
          <p:cNvSpPr>
            <a:spLocks noChangeArrowheads="1"/>
          </p:cNvSpPr>
          <p:nvPr/>
        </p:nvSpPr>
        <p:spPr bwMode="auto">
          <a:xfrm>
            <a:off x="428901" y="3858141"/>
            <a:ext cx="828461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457200" indent="-457200" eaLnBrk="0" hangingPunct="0">
              <a:buFont typeface="Arial" panose="020B0604020202020204" pitchFamily="34" charset="0"/>
              <a:buChar char="•"/>
            </a:pPr>
            <a:r>
              <a:rPr lang="zh-CN" altLang="zh-CN" sz="2400" b="1" dirty="0">
                <a:latin typeface="黑体" panose="02010609060101010101" charset="-122"/>
                <a:ea typeface="黑体" panose="02010609060101010101" charset="-122"/>
              </a:rPr>
              <a:t>在绝热饱和过程中，水分汽化时会从湿空气中吸热而使湿空气的温度降低，所以绝热饱和温度</a:t>
            </a:r>
            <a:r>
              <a:rPr lang="en-US" altLang="zh-CN" sz="2400" b="1" i="1" dirty="0">
                <a:solidFill>
                  <a:srgbClr val="FF0000"/>
                </a:solidFill>
                <a:latin typeface="Times New Roman" panose="02020603050405020304" pitchFamily="18" charset="0"/>
                <a:ea typeface="黑体" panose="02010609060101010101" charset="-122"/>
              </a:rPr>
              <a:t>t</a:t>
            </a:r>
            <a:r>
              <a:rPr lang="en-US" altLang="zh-CN" sz="2400" b="1" baseline="-25000" dirty="0">
                <a:solidFill>
                  <a:srgbClr val="FF0000"/>
                </a:solidFill>
                <a:latin typeface="Times New Roman" panose="02020603050405020304" pitchFamily="18" charset="0"/>
                <a:ea typeface="黑体" panose="02010609060101010101" charset="-122"/>
              </a:rPr>
              <a:t>ad,1</a:t>
            </a:r>
            <a:r>
              <a:rPr lang="zh-CN" altLang="zh-CN" sz="2400" b="1" dirty="0">
                <a:latin typeface="黑体" panose="02010609060101010101" charset="-122"/>
                <a:ea typeface="黑体" panose="02010609060101010101" charset="-122"/>
              </a:rPr>
              <a:t>总是小于湿空气的入口温度</a:t>
            </a:r>
            <a:r>
              <a:rPr lang="en-US" altLang="zh-CN" sz="2400" b="1" i="1" dirty="0" smtClean="0">
                <a:solidFill>
                  <a:srgbClr val="FF0000"/>
                </a:solidFill>
                <a:latin typeface="Times New Roman" panose="02020603050405020304" pitchFamily="18" charset="0"/>
                <a:ea typeface="黑体" panose="02010609060101010101" charset="-122"/>
              </a:rPr>
              <a:t>t</a:t>
            </a:r>
            <a:r>
              <a:rPr lang="en-US" altLang="zh-CN" sz="2400" b="1" baseline="-25000" dirty="0" smtClean="0">
                <a:solidFill>
                  <a:srgbClr val="FF0000"/>
                </a:solidFill>
                <a:latin typeface="Times New Roman" panose="02020603050405020304" pitchFamily="18" charset="0"/>
                <a:ea typeface="黑体" panose="02010609060101010101" charset="-122"/>
              </a:rPr>
              <a:t>1</a:t>
            </a:r>
            <a:endParaRPr lang="en-US" altLang="zh-CN" sz="2400" b="1" dirty="0" smtClean="0">
              <a:latin typeface="黑体" panose="02010609060101010101" charset="-122"/>
              <a:ea typeface="黑体" panose="02010609060101010101" charset="-122"/>
            </a:endParaRPr>
          </a:p>
          <a:p>
            <a:pPr marL="457200" indent="-457200" eaLnBrk="0" hangingPunct="0">
              <a:buFont typeface="Arial" panose="020B0604020202020204" pitchFamily="34" charset="0"/>
              <a:buChar char="•"/>
            </a:pPr>
            <a:r>
              <a:rPr lang="zh-CN" altLang="zh-CN" sz="2400" b="1" dirty="0" smtClean="0">
                <a:latin typeface="黑体" panose="02010609060101010101" charset="-122"/>
                <a:ea typeface="黑体" panose="02010609060101010101" charset="-122"/>
              </a:rPr>
              <a:t>另一方面</a:t>
            </a:r>
            <a:r>
              <a:rPr lang="zh-CN" altLang="zh-CN" sz="2400" b="1" dirty="0">
                <a:latin typeface="黑体" panose="02010609060101010101" charset="-122"/>
                <a:ea typeface="黑体" panose="02010609060101010101" charset="-122"/>
              </a:rPr>
              <a:t>，随着水分的汽化，湿空气中水蒸气的分压力不断升高，这使得</a:t>
            </a:r>
            <a:r>
              <a:rPr lang="en-US" altLang="zh-CN" sz="2400" b="1" i="1" dirty="0">
                <a:solidFill>
                  <a:srgbClr val="FF0000"/>
                </a:solidFill>
                <a:latin typeface="Times New Roman" panose="02020603050405020304" pitchFamily="18" charset="0"/>
                <a:ea typeface="黑体" panose="02010609060101010101" charset="-122"/>
              </a:rPr>
              <a:t>t</a:t>
            </a:r>
            <a:r>
              <a:rPr lang="en-US" altLang="zh-CN" sz="2400" b="1" baseline="-25000" dirty="0">
                <a:solidFill>
                  <a:srgbClr val="FF0000"/>
                </a:solidFill>
                <a:latin typeface="Times New Roman" panose="02020603050405020304" pitchFamily="18" charset="0"/>
                <a:ea typeface="黑体" panose="02010609060101010101" charset="-122"/>
              </a:rPr>
              <a:t>ad,1</a:t>
            </a:r>
            <a:r>
              <a:rPr lang="zh-CN" altLang="zh-CN" sz="2400" b="1" dirty="0">
                <a:latin typeface="黑体" panose="02010609060101010101" charset="-122"/>
                <a:ea typeface="黑体" panose="02010609060101010101" charset="-122"/>
              </a:rPr>
              <a:t>大于湿空气状态1所对应的露点温度</a:t>
            </a:r>
            <a:r>
              <a:rPr lang="en-US" altLang="zh-CN" sz="2400" b="1" i="1" dirty="0">
                <a:solidFill>
                  <a:srgbClr val="FF0000"/>
                </a:solidFill>
                <a:latin typeface="Times New Roman" panose="02020603050405020304" pitchFamily="18" charset="0"/>
                <a:ea typeface="黑体" panose="02010609060101010101" charset="-122"/>
              </a:rPr>
              <a:t>t</a:t>
            </a:r>
            <a:r>
              <a:rPr lang="en-US" altLang="zh-CN" sz="2400" b="1" baseline="-25000" dirty="0">
                <a:solidFill>
                  <a:srgbClr val="FF0000"/>
                </a:solidFill>
                <a:latin typeface="Times New Roman" panose="02020603050405020304" pitchFamily="18" charset="0"/>
                <a:ea typeface="黑体" panose="02010609060101010101" charset="-122"/>
              </a:rPr>
              <a:t>d1</a:t>
            </a:r>
            <a:endParaRPr lang="zh-CN" altLang="zh-CN" sz="2400" b="1" dirty="0">
              <a:latin typeface="黑体" panose="02010609060101010101" charset="-122"/>
              <a:ea typeface="黑体" panose="02010609060101010101" charset="-122"/>
            </a:endParaRPr>
          </a:p>
        </p:txBody>
      </p:sp>
      <p:sp>
        <p:nvSpPr>
          <p:cNvPr id="70658" name="矩形 230406"/>
          <p:cNvSpPr>
            <a:spLocks noChangeArrowheads="1"/>
          </p:cNvSpPr>
          <p:nvPr/>
        </p:nvSpPr>
        <p:spPr bwMode="auto">
          <a:xfrm>
            <a:off x="0" y="22288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70659" name="矩形 230408"/>
          <p:cNvSpPr>
            <a:spLocks noChangeArrowheads="1"/>
          </p:cNvSpPr>
          <p:nvPr/>
        </p:nvSpPr>
        <p:spPr bwMode="auto">
          <a:xfrm>
            <a:off x="0" y="22240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pic>
        <p:nvPicPr>
          <p:cNvPr id="70661"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04813" y="1512888"/>
            <a:ext cx="19367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7497" y="463664"/>
            <a:ext cx="4450466" cy="317629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文本框 1"/>
          <p:cNvSpPr txBox="1">
            <a:spLocks noChangeArrowheads="1"/>
          </p:cNvSpPr>
          <p:nvPr/>
        </p:nvSpPr>
        <p:spPr bwMode="auto">
          <a:xfrm>
            <a:off x="5026025" y="1804988"/>
            <a:ext cx="362743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smtClean="0">
                <a:ea typeface="宋体" panose="02010600030101010101" pitchFamily="2" charset="-122"/>
              </a:rPr>
              <a:t>假设单位</a:t>
            </a:r>
            <a:r>
              <a:rPr lang="zh-CN" altLang="en-US" sz="2400" b="1" dirty="0">
                <a:ea typeface="宋体" panose="02010600030101010101" pitchFamily="2" charset="-122"/>
              </a:rPr>
              <a:t>时间内向装置通道的补充水量等于单位时间内水分的</a:t>
            </a:r>
            <a:r>
              <a:rPr lang="zh-CN" altLang="en-US" sz="2400" b="1" dirty="0" smtClean="0">
                <a:ea typeface="宋体" panose="02010600030101010101" pitchFamily="2" charset="-122"/>
              </a:rPr>
              <a:t>蒸发量，则绝热</a:t>
            </a:r>
            <a:r>
              <a:rPr lang="zh-CN" altLang="en-US" sz="2400" b="1" dirty="0">
                <a:ea typeface="宋体" panose="02010600030101010101" pitchFamily="2" charset="-122"/>
              </a:rPr>
              <a:t>饱和过程可视为稳定流动过程（两个入口、一个出口），其中动能及势能变化可以忽略，湿空气与外界无热量和功量的交换。</a:t>
            </a:r>
            <a:endParaRPr lang="zh-CN" altLang="en-US" sz="2400" b="1" dirty="0">
              <a:ea typeface="宋体" panose="02010600030101010101" pitchFamily="2" charset="-122"/>
            </a:endParaRPr>
          </a:p>
        </p:txBody>
      </p:sp>
      <p:sp>
        <p:nvSpPr>
          <p:cNvPr id="71682" name="矩形 232451"/>
          <p:cNvSpPr>
            <a:spLocks noChangeArrowheads="1"/>
          </p:cNvSpPr>
          <p:nvPr/>
        </p:nvSpPr>
        <p:spPr bwMode="auto">
          <a:xfrm>
            <a:off x="260350" y="177800"/>
            <a:ext cx="86233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3200" b="1" dirty="0">
                <a:latin typeface="黑体" panose="02010609060101010101" charset="-122"/>
                <a:ea typeface="黑体" panose="02010609060101010101" charset="-122"/>
              </a:rPr>
              <a:t>利用</a:t>
            </a:r>
            <a:r>
              <a:rPr lang="zh-CN" altLang="en-US" sz="3200" b="1" dirty="0">
                <a:solidFill>
                  <a:srgbClr val="FF0000"/>
                </a:solidFill>
                <a:latin typeface="黑体" panose="02010609060101010101" charset="-122"/>
                <a:ea typeface="黑体" panose="02010609060101010101" charset="-122"/>
              </a:rPr>
              <a:t>绝热饱和温度</a:t>
            </a:r>
            <a:r>
              <a:rPr lang="zh-CN" altLang="en-US" sz="3200" b="1" dirty="0">
                <a:latin typeface="黑体" panose="02010609060101010101" charset="-122"/>
                <a:ea typeface="黑体" panose="02010609060101010101" charset="-122"/>
              </a:rPr>
              <a:t>可以计算湿空气的含湿量和相对湿度</a:t>
            </a:r>
            <a:r>
              <a:rPr lang="en-US" altLang="zh-CN" sz="2800" b="1" dirty="0">
                <a:solidFill>
                  <a:srgbClr val="0070C0"/>
                </a:solidFill>
                <a:latin typeface="黑体" panose="02010609060101010101" charset="-122"/>
                <a:ea typeface="黑体" panose="02010609060101010101" charset="-122"/>
              </a:rPr>
              <a:t>(</a:t>
            </a:r>
            <a:r>
              <a:rPr lang="zh-CN" altLang="en-US" sz="2800" b="1" dirty="0">
                <a:solidFill>
                  <a:srgbClr val="0070C0"/>
                </a:solidFill>
                <a:latin typeface="黑体" panose="02010609060101010101" charset="-122"/>
                <a:ea typeface="黑体" panose="02010609060101010101" charset="-122"/>
              </a:rPr>
              <a:t>回答</a:t>
            </a:r>
            <a:r>
              <a:rPr lang="en-US" altLang="zh-CN" sz="2800" b="1" dirty="0">
                <a:solidFill>
                  <a:srgbClr val="0070C0"/>
                </a:solidFill>
                <a:latin typeface="Times New Roman" panose="02020603050405020304" pitchFamily="18" charset="0"/>
                <a:ea typeface="黑体" panose="02010609060101010101" charset="-122"/>
                <a:cs typeface="Times New Roman" panose="02020603050405020304" pitchFamily="18" charset="0"/>
              </a:rPr>
              <a:t>why</a:t>
            </a:r>
            <a:r>
              <a:rPr lang="en-US" altLang="zh-CN" sz="2800" b="1" dirty="0">
                <a:solidFill>
                  <a:srgbClr val="0070C0"/>
                </a:solidFill>
                <a:latin typeface="黑体" panose="02010609060101010101" charset="-122"/>
                <a:ea typeface="黑体" panose="02010609060101010101" charset="-122"/>
              </a:rPr>
              <a:t>)</a:t>
            </a:r>
            <a:endParaRPr lang="en-US" altLang="zh-CN" sz="2800" b="1" dirty="0">
              <a:solidFill>
                <a:srgbClr val="0070C0"/>
              </a:solidFill>
              <a:latin typeface="黑体" panose="02010609060101010101" charset="-122"/>
              <a:ea typeface="黑体" panose="02010609060101010101" charset="-122"/>
            </a:endParaRPr>
          </a:p>
        </p:txBody>
      </p:sp>
      <p:pic>
        <p:nvPicPr>
          <p:cNvPr id="71683"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60350" y="1804988"/>
            <a:ext cx="4498975"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矩形 232453"/>
          <p:cNvSpPr>
            <a:spLocks noChangeArrowheads="1"/>
          </p:cNvSpPr>
          <p:nvPr/>
        </p:nvSpPr>
        <p:spPr bwMode="auto">
          <a:xfrm>
            <a:off x="460375" y="411163"/>
            <a:ext cx="31670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800" b="1">
                <a:ea typeface="宋体" panose="02010600030101010101" pitchFamily="2" charset="-122"/>
              </a:rPr>
              <a:t>1. </a:t>
            </a:r>
            <a:r>
              <a:rPr lang="zh-CN" altLang="en-US" sz="2800" b="1">
                <a:ea typeface="宋体" panose="02010600030101010101" pitchFamily="2" charset="-122"/>
              </a:rPr>
              <a:t>质量守恒</a:t>
            </a:r>
            <a:r>
              <a:rPr lang="zh-CN" altLang="en-US" sz="2800">
                <a:ea typeface="宋体" panose="02010600030101010101" pitchFamily="2" charset="-122"/>
              </a:rPr>
              <a:t> </a:t>
            </a:r>
            <a:endParaRPr lang="zh-CN" altLang="en-US" sz="2800">
              <a:ea typeface="宋体" panose="02010600030101010101" pitchFamily="2" charset="-122"/>
            </a:endParaRPr>
          </a:p>
        </p:txBody>
      </p:sp>
      <p:sp>
        <p:nvSpPr>
          <p:cNvPr id="72706" name="矩形 23245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72707" name="矩形 232456"/>
          <p:cNvSpPr>
            <a:spLocks noChangeArrowheads="1"/>
          </p:cNvSpPr>
          <p:nvPr/>
        </p:nvSpPr>
        <p:spPr bwMode="auto">
          <a:xfrm>
            <a:off x="525463" y="1212850"/>
            <a:ext cx="363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干空气质量流量保持不变</a:t>
            </a:r>
            <a:r>
              <a:rPr lang="zh-CN" altLang="en-US" sz="2400">
                <a:ea typeface="宋体" panose="02010600030101010101" pitchFamily="2" charset="-122"/>
              </a:rPr>
              <a:t> </a:t>
            </a:r>
            <a:endParaRPr lang="zh-CN" altLang="en-US" sz="2400">
              <a:ea typeface="宋体" panose="02010600030101010101" pitchFamily="2" charset="-122"/>
            </a:endParaRPr>
          </a:p>
        </p:txBody>
      </p:sp>
      <p:sp>
        <p:nvSpPr>
          <p:cNvPr id="72708" name="矩形 232457"/>
          <p:cNvSpPr>
            <a:spLocks noChangeArrowheads="1"/>
          </p:cNvSpPr>
          <p:nvPr/>
        </p:nvSpPr>
        <p:spPr bwMode="auto">
          <a:xfrm>
            <a:off x="611188" y="2638425"/>
            <a:ext cx="1187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水蒸气 </a:t>
            </a:r>
            <a:endParaRPr lang="zh-CN" altLang="en-US" sz="2400" b="1">
              <a:ea typeface="宋体" panose="02010600030101010101" pitchFamily="2" charset="-122"/>
            </a:endParaRPr>
          </a:p>
        </p:txBody>
      </p:sp>
      <p:sp>
        <p:nvSpPr>
          <p:cNvPr id="72709" name="矩形 23245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72710" name="矩形 232460"/>
          <p:cNvSpPr>
            <a:spLocks noChangeArrowheads="1"/>
          </p:cNvSpPr>
          <p:nvPr/>
        </p:nvSpPr>
        <p:spPr bwMode="auto">
          <a:xfrm>
            <a:off x="2233613" y="3683000"/>
            <a:ext cx="20193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单位时间内</a:t>
            </a:r>
            <a:endParaRPr lang="zh-CN" altLang="en-US" sz="2400" b="1">
              <a:ea typeface="宋体" panose="02010600030101010101" pitchFamily="2" charset="-122"/>
            </a:endParaRPr>
          </a:p>
          <a:p>
            <a:pPr eaLnBrk="0" hangingPunct="0"/>
            <a:r>
              <a:rPr lang="zh-CN" altLang="en-US" sz="2400" b="1">
                <a:ea typeface="宋体" panose="02010600030101010101" pitchFamily="2" charset="-122"/>
              </a:rPr>
              <a:t>水分的蒸发量 </a:t>
            </a:r>
            <a:endParaRPr lang="zh-CN" altLang="en-US" sz="2400" b="1">
              <a:ea typeface="宋体" panose="02010600030101010101" pitchFamily="2" charset="-122"/>
            </a:endParaRPr>
          </a:p>
        </p:txBody>
      </p:sp>
      <p:sp>
        <p:nvSpPr>
          <p:cNvPr id="72711" name="直接连接符 232462"/>
          <p:cNvSpPr>
            <a:spLocks noChangeShapeType="1"/>
          </p:cNvSpPr>
          <p:nvPr/>
        </p:nvSpPr>
        <p:spPr bwMode="auto">
          <a:xfrm flipV="1">
            <a:off x="3165475" y="3186113"/>
            <a:ext cx="0" cy="3603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72712"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219200" y="1744663"/>
            <a:ext cx="24796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3"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39925" y="2598738"/>
            <a:ext cx="260508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4" name="图片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52575" y="5529263"/>
            <a:ext cx="488632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5" name="图片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19625" y="217488"/>
            <a:ext cx="4498975"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6" name="矩形 232457"/>
          <p:cNvSpPr>
            <a:spLocks noChangeArrowheads="1"/>
          </p:cNvSpPr>
          <p:nvPr/>
        </p:nvSpPr>
        <p:spPr bwMode="auto">
          <a:xfrm>
            <a:off x="611188" y="4892675"/>
            <a:ext cx="59975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b="1">
                <a:ea typeface="宋体" panose="02010600030101010101" pitchFamily="2" charset="-122"/>
              </a:rPr>
              <a:t>联立以上两式，并根据含湿量的定义，可得</a:t>
            </a:r>
            <a:endParaRPr lang="zh-CN" altLang="en-US" sz="2400" b="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矩形 233476"/>
          <p:cNvSpPr>
            <a:spLocks noChangeArrowheads="1"/>
          </p:cNvSpPr>
          <p:nvPr/>
        </p:nvSpPr>
        <p:spPr bwMode="auto">
          <a:xfrm>
            <a:off x="512763" y="415925"/>
            <a:ext cx="20081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en-US" altLang="zh-CN" sz="2800" b="1">
                <a:ea typeface="宋体" panose="02010600030101010101" pitchFamily="2" charset="-122"/>
              </a:rPr>
              <a:t>2. </a:t>
            </a:r>
            <a:r>
              <a:rPr lang="zh-CN" altLang="en-US" sz="2800" b="1">
                <a:ea typeface="宋体" panose="02010600030101010101" pitchFamily="2" charset="-122"/>
              </a:rPr>
              <a:t>能量守恒</a:t>
            </a:r>
            <a:r>
              <a:rPr lang="zh-CN" altLang="en-US" sz="2800">
                <a:ea typeface="宋体" panose="02010600030101010101" pitchFamily="2" charset="-122"/>
              </a:rPr>
              <a:t> </a:t>
            </a:r>
            <a:endParaRPr lang="zh-CN" altLang="en-US" sz="2800">
              <a:ea typeface="宋体" panose="02010600030101010101" pitchFamily="2" charset="-122"/>
            </a:endParaRPr>
          </a:p>
        </p:txBody>
      </p:sp>
      <p:sp>
        <p:nvSpPr>
          <p:cNvPr id="73730" name="矩形 233478"/>
          <p:cNvSpPr>
            <a:spLocks noChangeArrowheads="1"/>
          </p:cNvSpPr>
          <p:nvPr/>
        </p:nvSpPr>
        <p:spPr bwMode="auto">
          <a:xfrm>
            <a:off x="0" y="3309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73731" name="矩形 233479"/>
          <p:cNvSpPr>
            <a:spLocks noChangeArrowheads="1"/>
          </p:cNvSpPr>
          <p:nvPr/>
        </p:nvSpPr>
        <p:spPr bwMode="auto">
          <a:xfrm>
            <a:off x="703711" y="1365776"/>
            <a:ext cx="355192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0" hangingPunct="0"/>
            <a:r>
              <a:rPr lang="zh-CN" altLang="en-US" sz="2400" b="1" dirty="0">
                <a:ea typeface="宋体" panose="02010600030101010101" pitchFamily="2" charset="-122"/>
              </a:rPr>
              <a:t>稳定流动，绝热，无功量交换，不计动能和重力势能变化，则</a:t>
            </a:r>
            <a:r>
              <a:rPr lang="zh-CN" altLang="en-US" sz="2400" dirty="0">
                <a:ea typeface="宋体" panose="02010600030101010101" pitchFamily="2" charset="-122"/>
              </a:rPr>
              <a:t> </a:t>
            </a:r>
            <a:endParaRPr lang="zh-CN" altLang="en-US" sz="2400" dirty="0">
              <a:ea typeface="宋体" panose="02010600030101010101" pitchFamily="2" charset="-122"/>
            </a:endParaRPr>
          </a:p>
        </p:txBody>
      </p:sp>
      <p:sp>
        <p:nvSpPr>
          <p:cNvPr id="73732" name="矩形 233481"/>
          <p:cNvSpPr>
            <a:spLocks noChangeArrowheads="1"/>
          </p:cNvSpPr>
          <p:nvPr/>
        </p:nvSpPr>
        <p:spPr bwMode="auto">
          <a:xfrm>
            <a:off x="0" y="3178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73733" name="对象 233485"/>
          <p:cNvGraphicFramePr>
            <a:graphicFrameLocks noChangeAspect="1"/>
          </p:cNvGraphicFramePr>
          <p:nvPr/>
        </p:nvGraphicFramePr>
        <p:xfrm>
          <a:off x="1516063" y="3060700"/>
          <a:ext cx="1927225" cy="496888"/>
        </p:xfrm>
        <a:graphic>
          <a:graphicData uri="http://schemas.openxmlformats.org/presentationml/2006/ole">
            <mc:AlternateContent xmlns:mc="http://schemas.openxmlformats.org/markup-compatibility/2006">
              <mc:Choice xmlns:v="urn:schemas-microsoft-com:vml" Requires="v">
                <p:oleObj spid="_x0000_s24584" name="" r:id="rId1" imgW="927100" imgH="241300" progId="Equation.DSMT4">
                  <p:embed/>
                </p:oleObj>
              </mc:Choice>
              <mc:Fallback>
                <p:oleObj name="" r:id="rId1" imgW="927100" imgH="241300" progId="Equation.DSMT4">
                  <p:embed/>
                  <p:pic>
                    <p:nvPicPr>
                      <p:cNvPr id="0" name="对象 23348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6063" y="3060700"/>
                        <a:ext cx="192722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34" name="矩形 233487"/>
          <p:cNvSpPr>
            <a:spLocks noChangeArrowheads="1"/>
          </p:cNvSpPr>
          <p:nvPr/>
        </p:nvSpPr>
        <p:spPr bwMode="auto">
          <a:xfrm>
            <a:off x="1389063" y="4067175"/>
            <a:ext cx="32305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r>
              <a:rPr lang="zh-CN" altLang="en-US" sz="2400">
                <a:ea typeface="宋体" panose="02010600030101010101" pitchFamily="2" charset="-122"/>
              </a:rPr>
              <a:t>加入的水分所携带的焓 </a:t>
            </a:r>
            <a:endParaRPr lang="zh-CN" altLang="en-US" sz="2400">
              <a:ea typeface="宋体" panose="02010600030101010101" pitchFamily="2" charset="-122"/>
            </a:endParaRPr>
          </a:p>
        </p:txBody>
      </p:sp>
      <p:sp>
        <p:nvSpPr>
          <p:cNvPr id="73735" name="直接连接符 233491"/>
          <p:cNvSpPr>
            <a:spLocks noChangeShapeType="1"/>
          </p:cNvSpPr>
          <p:nvPr/>
        </p:nvSpPr>
        <p:spPr bwMode="auto">
          <a:xfrm flipV="1">
            <a:off x="2397125" y="3683000"/>
            <a:ext cx="0" cy="36036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pic>
        <p:nvPicPr>
          <p:cNvPr id="73736" name="图片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9625" y="217488"/>
            <a:ext cx="4498975"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4753" name="对象 234500"/>
          <p:cNvGraphicFramePr/>
          <p:nvPr/>
        </p:nvGraphicFramePr>
        <p:xfrm>
          <a:off x="1081530" y="1847437"/>
          <a:ext cx="1800225" cy="463550"/>
        </p:xfrm>
        <a:graphic>
          <a:graphicData uri="http://schemas.openxmlformats.org/presentationml/2006/ole">
            <mc:AlternateContent xmlns:mc="http://schemas.openxmlformats.org/markup-compatibility/2006">
              <mc:Choice xmlns:v="urn:schemas-microsoft-com:vml" Requires="v">
                <p:oleObj spid="_x0000_s25620" name="" r:id="rId1" imgW="927100" imgH="241300" progId="Equation.DSMT4">
                  <p:embed/>
                </p:oleObj>
              </mc:Choice>
              <mc:Fallback>
                <p:oleObj name="" r:id="rId1" imgW="927100" imgH="241300" progId="Equation.DSMT4">
                  <p:embed/>
                  <p:pic>
                    <p:nvPicPr>
                      <p:cNvPr id="0" name="对象 234500"/>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530" y="1847437"/>
                        <a:ext cx="18002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4754" name="矩形 234508"/>
          <p:cNvSpPr>
            <a:spLocks noChangeArrowheads="1"/>
          </p:cNvSpPr>
          <p:nvPr/>
        </p:nvSpPr>
        <p:spPr bwMode="auto">
          <a:xfrm>
            <a:off x="628650" y="1191505"/>
            <a:ext cx="2879725" cy="1152525"/>
          </a:xfrm>
          <a:prstGeom prst="rect">
            <a:avLst/>
          </a:prstGeom>
          <a:noFill/>
          <a:ln w="25400">
            <a:solidFill>
              <a:srgbClr val="FF00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74755" name="矩形 234510"/>
          <p:cNvSpPr>
            <a:spLocks noChangeArrowheads="1"/>
          </p:cNvSpPr>
          <p:nvPr/>
        </p:nvSpPr>
        <p:spPr bwMode="auto">
          <a:xfrm>
            <a:off x="0" y="3200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74756" name="对象 234509"/>
          <p:cNvGraphicFramePr>
            <a:graphicFrameLocks noChangeAspect="1"/>
          </p:cNvGraphicFramePr>
          <p:nvPr/>
        </p:nvGraphicFramePr>
        <p:xfrm>
          <a:off x="4864100" y="1356610"/>
          <a:ext cx="3454400" cy="914400"/>
        </p:xfrm>
        <a:graphic>
          <a:graphicData uri="http://schemas.openxmlformats.org/presentationml/2006/ole">
            <mc:AlternateContent xmlns:mc="http://schemas.openxmlformats.org/markup-compatibility/2006">
              <mc:Choice xmlns:v="urn:schemas-microsoft-com:vml" Requires="v">
                <p:oleObj spid="_x0000_s25621" name="" r:id="rId3" imgW="1727200" imgH="457200" progId="Equation.DSMT4">
                  <p:embed/>
                </p:oleObj>
              </mc:Choice>
              <mc:Fallback>
                <p:oleObj name="" r:id="rId3" imgW="1727200" imgH="457200" progId="Equation.DSMT4">
                  <p:embed/>
                  <p:pic>
                    <p:nvPicPr>
                      <p:cNvPr id="0" name="对象 23450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4100" y="1356610"/>
                        <a:ext cx="3454400" cy="9144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57" name="右箭头 234511"/>
          <p:cNvSpPr>
            <a:spLocks noChangeArrowheads="1"/>
          </p:cNvSpPr>
          <p:nvPr/>
        </p:nvSpPr>
        <p:spPr bwMode="auto">
          <a:xfrm>
            <a:off x="3652838" y="1703664"/>
            <a:ext cx="863600" cy="287337"/>
          </a:xfrm>
          <a:prstGeom prst="rightArrow">
            <a:avLst>
              <a:gd name="adj1" fmla="val 50000"/>
              <a:gd name="adj2" fmla="val 75083"/>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74758" name="右箭头 234513"/>
          <p:cNvSpPr>
            <a:spLocks noChangeArrowheads="1"/>
          </p:cNvSpPr>
          <p:nvPr/>
        </p:nvSpPr>
        <p:spPr bwMode="auto">
          <a:xfrm rot="18862225">
            <a:off x="839788" y="2529164"/>
            <a:ext cx="1222375" cy="288925"/>
          </a:xfrm>
          <a:prstGeom prst="rightArrow">
            <a:avLst>
              <a:gd name="adj1" fmla="val 50000"/>
              <a:gd name="adj2" fmla="val 105691"/>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
        <p:nvSpPr>
          <p:cNvPr id="74759" name="矩形 234514"/>
          <p:cNvSpPr>
            <a:spLocks noChangeArrowheads="1"/>
          </p:cNvSpPr>
          <p:nvPr/>
        </p:nvSpPr>
        <p:spPr bwMode="auto">
          <a:xfrm>
            <a:off x="628650" y="3216551"/>
            <a:ext cx="7704138" cy="1727200"/>
          </a:xfrm>
          <a:prstGeom prst="rect">
            <a:avLst/>
          </a:prstGeom>
          <a:noFill/>
          <a:ln w="25400">
            <a:solidFill>
              <a:srgbClr val="99CC0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pic>
        <p:nvPicPr>
          <p:cNvPr id="74760" name="图片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5906" y="1319132"/>
            <a:ext cx="2541842" cy="512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1" name="图片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6125" y="3299101"/>
            <a:ext cx="69056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62" name="图片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4850" y="3816626"/>
            <a:ext cx="76136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对象 4"/>
          <p:cNvGraphicFramePr>
            <a:graphicFrameLocks noChangeAspect="1"/>
          </p:cNvGraphicFramePr>
          <p:nvPr/>
        </p:nvGraphicFramePr>
        <p:xfrm>
          <a:off x="746125" y="4367488"/>
          <a:ext cx="1828800" cy="508000"/>
        </p:xfrm>
        <a:graphic>
          <a:graphicData uri="http://schemas.openxmlformats.org/presentationml/2006/ole">
            <mc:AlternateContent xmlns:mc="http://schemas.openxmlformats.org/markup-compatibility/2006">
              <mc:Choice xmlns:v="urn:schemas-microsoft-com:vml" Requires="v">
                <p:oleObj spid="_x0000_s25622" name="Equation" r:id="rId8" imgW="21945600" imgH="6096000" progId="Equation.DSMT4">
                  <p:embed/>
                </p:oleObj>
              </mc:Choice>
              <mc:Fallback>
                <p:oleObj name="Equation" r:id="rId8" imgW="21945600" imgH="6096000" progId="Equation.DSMT4">
                  <p:embed/>
                  <p:pic>
                    <p:nvPicPr>
                      <p:cNvPr id="0" name="对象 4"/>
                      <p:cNvPicPr>
                        <a:picLocks noChangeAspect="1" noChangeArrowheads="1"/>
                      </p:cNvPicPr>
                      <p:nvPr/>
                    </p:nvPicPr>
                    <p:blipFill>
                      <a:blip r:embed="rId9"/>
                      <a:srcRect/>
                      <a:stretch>
                        <a:fillRect/>
                      </a:stretch>
                    </p:blipFill>
                    <p:spPr bwMode="auto">
                      <a:xfrm>
                        <a:off x="746125" y="4367488"/>
                        <a:ext cx="18288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777" name="对象 235523"/>
          <p:cNvGraphicFramePr/>
          <p:nvPr/>
        </p:nvGraphicFramePr>
        <p:xfrm>
          <a:off x="2576513" y="654050"/>
          <a:ext cx="4176712" cy="1106488"/>
        </p:xfrm>
        <a:graphic>
          <a:graphicData uri="http://schemas.openxmlformats.org/presentationml/2006/ole">
            <mc:AlternateContent xmlns:mc="http://schemas.openxmlformats.org/markup-compatibility/2006">
              <mc:Choice xmlns:v="urn:schemas-microsoft-com:vml" Requires="v">
                <p:oleObj spid="_x0000_s26632" name="" r:id="rId1" imgW="1727200" imgH="457200" progId="Equation.DSMT4">
                  <p:embed/>
                </p:oleObj>
              </mc:Choice>
              <mc:Fallback>
                <p:oleObj name="" r:id="rId1" imgW="1727200" imgH="457200" progId="Equation.DSMT4">
                  <p:embed/>
                  <p:pic>
                    <p:nvPicPr>
                      <p:cNvPr id="0" name="对象 23552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513" y="654050"/>
                        <a:ext cx="4176712" cy="110648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778" name="Rectangle 16"/>
          <p:cNvSpPr>
            <a:spLocks noChangeArrowheads="1"/>
          </p:cNvSpPr>
          <p:nvPr/>
        </p:nvSpPr>
        <p:spPr bwMode="auto">
          <a:xfrm>
            <a:off x="557213" y="2212975"/>
            <a:ext cx="80295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a:latin typeface="Times New Roman" panose="02020603050405020304" pitchFamily="18" charset="0"/>
                <a:ea typeface="宋体" panose="02010600030101010101" pitchFamily="2" charset="-122"/>
              </a:rPr>
              <a:t>等式右边参数值可通过已知参数确定或近似得到</a:t>
            </a:r>
            <a:r>
              <a:rPr lang="zh-CN" altLang="en-US" sz="2800" b="1">
                <a:latin typeface="Times New Roman" panose="02020603050405020304" pitchFamily="18" charset="0"/>
                <a:ea typeface="宋体" panose="02010600030101010101" pitchFamily="2" charset="-122"/>
                <a:sym typeface="Symbol" panose="05050102010706020507" pitchFamily="18" charset="2"/>
              </a:rPr>
              <a:t> </a:t>
            </a:r>
            <a:endParaRPr lang="zh-CN" altLang="en-US" sz="2800" b="1">
              <a:latin typeface="Times New Roman" panose="02020603050405020304" pitchFamily="18" charset="0"/>
              <a:ea typeface="宋体" panose="02010600030101010101" pitchFamily="2" charset="-122"/>
              <a:sym typeface="Symbol" panose="05050102010706020507" pitchFamily="18" charset="2"/>
            </a:endParaRPr>
          </a:p>
        </p:txBody>
      </p:sp>
      <p:sp>
        <p:nvSpPr>
          <p:cNvPr id="75779" name="Text Box 18"/>
          <p:cNvSpPr txBox="1">
            <a:spLocks noChangeArrowheads="1"/>
          </p:cNvSpPr>
          <p:nvPr/>
        </p:nvSpPr>
        <p:spPr bwMode="auto">
          <a:xfrm>
            <a:off x="1292225" y="2909888"/>
            <a:ext cx="72644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Times New Roman" panose="02020603050405020304" pitchFamily="18" charset="0"/>
                <a:ea typeface="宋体" panose="02010600030101010101" pitchFamily="2" charset="-122"/>
              </a:rPr>
              <a:t>可确定进入绝热饱和器时的湿空气含湿量</a:t>
            </a:r>
            <a:r>
              <a:rPr lang="en-US" altLang="zh-CN" sz="2800" b="1" i="1" dirty="0">
                <a:solidFill>
                  <a:srgbClr val="FF0000"/>
                </a:solidFill>
                <a:latin typeface="Times New Roman" panose="02020603050405020304" pitchFamily="18" charset="0"/>
                <a:ea typeface="宋体" panose="02010600030101010101" pitchFamily="2" charset="-122"/>
              </a:rPr>
              <a:t>d</a:t>
            </a:r>
            <a:r>
              <a:rPr lang="en-US" altLang="zh-CN" sz="2800" b="1" baseline="-25000" dirty="0">
                <a:solidFill>
                  <a:srgbClr val="FF0000"/>
                </a:solidFill>
                <a:latin typeface="Times New Roman" panose="02020603050405020304" pitchFamily="18" charset="0"/>
                <a:ea typeface="宋体" panose="02010600030101010101" pitchFamily="2" charset="-122"/>
              </a:rPr>
              <a:t>1</a:t>
            </a:r>
            <a:r>
              <a:rPr lang="zh-CN" altLang="en-US" sz="2800" b="1" dirty="0">
                <a:latin typeface="Times New Roman" panose="02020603050405020304" pitchFamily="18" charset="0"/>
                <a:ea typeface="宋体" panose="02010600030101010101" pitchFamily="2" charset="-122"/>
              </a:rPr>
              <a:t>和相对湿度</a:t>
            </a:r>
            <a:r>
              <a:rPr lang="en-US" altLang="zh-CN" sz="2800" b="1" i="1" dirty="0">
                <a:solidFill>
                  <a:srgbClr val="FF0000"/>
                </a:solidFill>
                <a:latin typeface="Times New Roman" panose="02020603050405020304" pitchFamily="18" charset="0"/>
                <a:ea typeface="宋体" panose="02010600030101010101" pitchFamily="2" charset="-122"/>
              </a:rPr>
              <a:t>φ</a:t>
            </a:r>
            <a:r>
              <a:rPr lang="en-US" altLang="zh-CN" sz="2800" b="1" baseline="-25000" dirty="0">
                <a:solidFill>
                  <a:srgbClr val="FF0000"/>
                </a:solidFill>
                <a:latin typeface="Times New Roman" panose="02020603050405020304" pitchFamily="18" charset="0"/>
                <a:ea typeface="宋体" panose="02010600030101010101" pitchFamily="2" charset="-122"/>
              </a:rPr>
              <a:t>1</a:t>
            </a:r>
            <a:r>
              <a:rPr lang="en-US" altLang="zh-CN" sz="2800" b="1" i="1" dirty="0">
                <a:solidFill>
                  <a:srgbClr val="FF0000"/>
                </a:solidFill>
                <a:latin typeface="Times New Roman" panose="02020603050405020304" pitchFamily="18" charset="0"/>
                <a:ea typeface="宋体" panose="02010600030101010101" pitchFamily="2" charset="-122"/>
              </a:rPr>
              <a:t> </a:t>
            </a:r>
            <a:endParaRPr lang="en-US" altLang="zh-CN" sz="2800" b="1" i="1" dirty="0">
              <a:solidFill>
                <a:srgbClr val="FF0000"/>
              </a:solidFill>
              <a:latin typeface="Times New Roman" panose="02020603050405020304" pitchFamily="18" charset="0"/>
              <a:ea typeface="宋体" panose="02010600030101010101" pitchFamily="2" charset="-122"/>
            </a:endParaRPr>
          </a:p>
        </p:txBody>
      </p:sp>
      <p:sp>
        <p:nvSpPr>
          <p:cNvPr id="75780" name="右箭头 234513"/>
          <p:cNvSpPr>
            <a:spLocks noChangeArrowheads="1"/>
          </p:cNvSpPr>
          <p:nvPr/>
        </p:nvSpPr>
        <p:spPr bwMode="auto">
          <a:xfrm>
            <a:off x="457200" y="2971800"/>
            <a:ext cx="835025" cy="287338"/>
          </a:xfrm>
          <a:prstGeom prst="rightArrow">
            <a:avLst>
              <a:gd name="adj1" fmla="val 50000"/>
              <a:gd name="adj2" fmla="val 106502"/>
            </a:avLst>
          </a:prstGeom>
          <a:solidFill>
            <a:schemeClr val="accent1"/>
          </a:solidFill>
          <a:ln w="9525">
            <a:solidFill>
              <a:schemeClr val="tx1"/>
            </a:solidFill>
            <a:miter lim="800000"/>
          </a:ln>
        </p:spPr>
        <p:txBody>
          <a:bodyPr/>
          <a:lstStyle/>
          <a:p>
            <a:pPr eaLnBrk="0" hangingPunct="0"/>
            <a:endParaRPr lang="zh-CN" altLang="en-US">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文本占位符 236546"/>
          <p:cNvSpPr>
            <a:spLocks noGrp="1" noChangeArrowheads="1"/>
          </p:cNvSpPr>
          <p:nvPr>
            <p:ph idx="1"/>
          </p:nvPr>
        </p:nvSpPr>
        <p:spPr>
          <a:xfrm>
            <a:off x="492125" y="1060450"/>
            <a:ext cx="8064500" cy="4333185"/>
          </a:xfrm>
        </p:spPr>
        <p:txBody>
          <a:bodyPr>
            <a:noAutofit/>
          </a:bodyPr>
          <a:lstStyle/>
          <a:p>
            <a:pPr>
              <a:lnSpc>
                <a:spcPct val="100000"/>
              </a:lnSpc>
              <a:spcBef>
                <a:spcPts val="0"/>
              </a:spcBef>
            </a:pPr>
            <a:r>
              <a:rPr lang="zh-CN" altLang="en-US" sz="2800" b="1" dirty="0" smtClean="0">
                <a:latin typeface="黑体" panose="02010609060101010101" charset="-122"/>
                <a:ea typeface="黑体" panose="02010609060101010101" charset="-122"/>
              </a:rPr>
              <a:t>绝热饱和温度为测量湿空气的含湿量和相对湿度提供了一种方法</a:t>
            </a:r>
            <a:endParaRPr lang="zh-CN" altLang="en-US" sz="2800" b="1" dirty="0" smtClean="0">
              <a:latin typeface="黑体" panose="02010609060101010101" charset="-122"/>
              <a:ea typeface="黑体" panose="02010609060101010101" charset="-122"/>
            </a:endParaRPr>
          </a:p>
          <a:p>
            <a:pPr>
              <a:lnSpc>
                <a:spcPct val="100000"/>
              </a:lnSpc>
              <a:spcBef>
                <a:spcPts val="0"/>
              </a:spcBef>
            </a:pPr>
            <a:r>
              <a:rPr lang="zh-CN" altLang="en-US" sz="2800" b="1" dirty="0" smtClean="0">
                <a:latin typeface="黑体" panose="02010609060101010101" charset="-122"/>
                <a:ea typeface="黑体" panose="02010609060101010101" charset="-122"/>
              </a:rPr>
              <a:t>但实施起来较为困难，原因：需要较长的通道或喷淋装置以保证出口处的湿空气位于饱和状态</a:t>
            </a:r>
            <a:endParaRPr lang="zh-CN" altLang="en-US" sz="2800" b="1" dirty="0" smtClean="0">
              <a:latin typeface="黑体" panose="02010609060101010101" charset="-122"/>
              <a:ea typeface="黑体" panose="02010609060101010101" charset="-122"/>
            </a:endParaRPr>
          </a:p>
          <a:p>
            <a:pPr>
              <a:lnSpc>
                <a:spcPct val="100000"/>
              </a:lnSpc>
              <a:spcBef>
                <a:spcPts val="0"/>
              </a:spcBef>
            </a:pPr>
            <a:r>
              <a:rPr lang="zh-CN" altLang="en-US" sz="2800" b="1" dirty="0" smtClean="0">
                <a:latin typeface="黑体" panose="02010609060101010101" charset="-122"/>
                <a:ea typeface="黑体" panose="02010609060101010101" charset="-122"/>
              </a:rPr>
              <a:t>实验表明：湿空气的湿球温度与绝热饱和温度的数值接近，因此在实际应用中，通常用</a:t>
            </a:r>
            <a:r>
              <a:rPr lang="zh-CN" altLang="en-US" sz="2800" b="1" dirty="0" smtClean="0">
                <a:solidFill>
                  <a:srgbClr val="FF0000"/>
                </a:solidFill>
                <a:latin typeface="黑体" panose="02010609060101010101" charset="-122"/>
                <a:ea typeface="黑体" panose="02010609060101010101" charset="-122"/>
              </a:rPr>
              <a:t>湿球温度</a:t>
            </a:r>
            <a:r>
              <a:rPr lang="zh-CN" altLang="en-US" sz="2800" b="1" dirty="0" smtClean="0">
                <a:solidFill>
                  <a:srgbClr val="0000FF"/>
                </a:solidFill>
                <a:latin typeface="黑体" panose="02010609060101010101" charset="-122"/>
                <a:ea typeface="黑体" panose="02010609060101010101" charset="-122"/>
              </a:rPr>
              <a:t>代替</a:t>
            </a:r>
            <a:r>
              <a:rPr lang="zh-CN" altLang="en-US" sz="2800" b="1" dirty="0" smtClean="0">
                <a:solidFill>
                  <a:srgbClr val="FF0000"/>
                </a:solidFill>
                <a:latin typeface="黑体" panose="02010609060101010101" charset="-122"/>
                <a:ea typeface="黑体" panose="02010609060101010101" charset="-122"/>
              </a:rPr>
              <a:t>绝热饱和温度</a:t>
            </a:r>
            <a:r>
              <a:rPr lang="zh-CN" altLang="en-US" sz="2800" b="1" dirty="0" smtClean="0">
                <a:latin typeface="黑体" panose="02010609060101010101" charset="-122"/>
                <a:ea typeface="黑体" panose="02010609060101010101" charset="-122"/>
              </a:rPr>
              <a:t>，利用干</a:t>
            </a:r>
            <a:r>
              <a:rPr lang="en-US" altLang="zh-CN" sz="2800" b="1" dirty="0" smtClean="0">
                <a:latin typeface="黑体" panose="02010609060101010101" charset="-122"/>
                <a:ea typeface="黑体" panose="02010609060101010101" charset="-122"/>
              </a:rPr>
              <a:t>-</a:t>
            </a:r>
            <a:r>
              <a:rPr lang="zh-CN" altLang="en-US" sz="2800" b="1" dirty="0" smtClean="0">
                <a:latin typeface="黑体" panose="02010609060101010101" charset="-122"/>
                <a:ea typeface="黑体" panose="02010609060101010101" charset="-122"/>
              </a:rPr>
              <a:t>湿球温度计测定湿空气的含湿量和相对湿度</a:t>
            </a:r>
            <a:endParaRPr lang="zh-CN" altLang="en-US" sz="2800" b="1" dirty="0" smtClean="0">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矩形 243715"/>
          <p:cNvSpPr>
            <a:spLocks noChangeArrowheads="1"/>
          </p:cNvSpPr>
          <p:nvPr/>
        </p:nvSpPr>
        <p:spPr bwMode="auto">
          <a:xfrm>
            <a:off x="468313" y="2133600"/>
            <a:ext cx="8061325" cy="1143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0" hangingPunct="0"/>
            <a:r>
              <a:rPr lang="en-US" altLang="zh-CN" sz="4400" b="1" dirty="0" smtClean="0">
                <a:latin typeface="黑体" panose="02010609060101010101" charset="-122"/>
                <a:ea typeface="黑体" panose="02010609060101010101" charset="-122"/>
              </a:rPr>
              <a:t>18-5 </a:t>
            </a:r>
            <a:r>
              <a:rPr lang="zh-CN" altLang="en-US" sz="4400" b="1" dirty="0">
                <a:latin typeface="黑体" panose="02010609060101010101" charset="-122"/>
                <a:ea typeface="黑体" panose="02010609060101010101" charset="-122"/>
              </a:rPr>
              <a:t>湿球温度和干</a:t>
            </a:r>
            <a:r>
              <a:rPr lang="en-US" altLang="zh-CN" sz="4400" b="1" dirty="0">
                <a:latin typeface="黑体" panose="02010609060101010101" charset="-122"/>
                <a:ea typeface="黑体" panose="02010609060101010101" charset="-122"/>
              </a:rPr>
              <a:t>-</a:t>
            </a:r>
            <a:r>
              <a:rPr lang="zh-CN" altLang="en-US" sz="4400" b="1" dirty="0">
                <a:latin typeface="黑体" panose="02010609060101010101" charset="-122"/>
                <a:ea typeface="黑体" panose="02010609060101010101" charset="-122"/>
              </a:rPr>
              <a:t>湿球温度计</a:t>
            </a:r>
            <a:r>
              <a:rPr lang="zh-CN" altLang="en-US" sz="4400" dirty="0">
                <a:ea typeface="宋体" panose="02010600030101010101" pitchFamily="2" charset="-122"/>
              </a:rPr>
              <a:t> </a:t>
            </a:r>
            <a:endParaRPr lang="zh-CN" altLang="en-US" sz="44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8731" y="152116"/>
            <a:ext cx="7486537" cy="655376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3" name="图片 271364" descr="TB2QPz9cVXXXXarXXXXXXXXXXXX-229791227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47813" y="966788"/>
            <a:ext cx="5867400"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4" name="Text Box 4"/>
          <p:cNvSpPr txBox="1">
            <a:spLocks noChangeArrowheads="1"/>
          </p:cNvSpPr>
          <p:nvPr/>
        </p:nvSpPr>
        <p:spPr bwMode="auto">
          <a:xfrm>
            <a:off x="539750" y="260350"/>
            <a:ext cx="79200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sz="2800" b="1">
                <a:latin typeface="Times New Roman" panose="02020603050405020304" pitchFamily="18" charset="0"/>
                <a:ea typeface="宋体" panose="02010600030101010101" pitchFamily="2" charset="-122"/>
              </a:rPr>
              <a:t>    </a:t>
            </a:r>
            <a:r>
              <a:rPr lang="zh-CN" altLang="en-US" sz="2800" b="1">
                <a:latin typeface="黑体" panose="02010609060101010101" charset="-122"/>
                <a:ea typeface="黑体" panose="02010609060101010101" charset="-122"/>
              </a:rPr>
              <a:t>干</a:t>
            </a:r>
            <a:r>
              <a:rPr lang="en-US" altLang="zh-CN" sz="2800" b="1">
                <a:latin typeface="黑体" panose="02010609060101010101" charset="-122"/>
                <a:ea typeface="黑体" panose="02010609060101010101" charset="-122"/>
              </a:rPr>
              <a:t>-</a:t>
            </a:r>
            <a:r>
              <a:rPr lang="zh-CN" altLang="en-US" sz="2800" b="1">
                <a:latin typeface="黑体" panose="02010609060101010101" charset="-122"/>
                <a:ea typeface="黑体" panose="02010609060101010101" charset="-122"/>
              </a:rPr>
              <a:t>湿球温度计由两支完全相同而又相互独立的普通温度计组成</a:t>
            </a:r>
            <a:endParaRPr lang="zh-CN" altLang="en-US" sz="2800" b="1">
              <a:latin typeface="黑体" panose="02010609060101010101" charset="-122"/>
              <a:ea typeface="黑体" panose="02010609060101010101" charset="-122"/>
            </a:endParaRPr>
          </a:p>
        </p:txBody>
      </p:sp>
      <p:sp>
        <p:nvSpPr>
          <p:cNvPr id="79875" name="矩形 271366"/>
          <p:cNvSpPr>
            <a:spLocks noChangeArrowheads="1"/>
          </p:cNvSpPr>
          <p:nvPr/>
        </p:nvSpPr>
        <p:spPr bwMode="auto">
          <a:xfrm>
            <a:off x="5724525" y="4941888"/>
            <a:ext cx="1871663"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400" b="1">
                <a:solidFill>
                  <a:srgbClr val="FF0000"/>
                </a:solidFill>
                <a:ea typeface="宋体" panose="02010600030101010101" pitchFamily="2" charset="-122"/>
              </a:rPr>
              <a:t>普通温度计</a:t>
            </a:r>
            <a:endParaRPr lang="zh-CN" altLang="en-US" sz="2400" b="1">
              <a:solidFill>
                <a:srgbClr val="FF0000"/>
              </a:solidFill>
              <a:ea typeface="宋体" panose="02010600030101010101" pitchFamily="2" charset="-122"/>
            </a:endParaRPr>
          </a:p>
          <a:p>
            <a:pPr>
              <a:spcBef>
                <a:spcPct val="50000"/>
              </a:spcBef>
            </a:pPr>
            <a:r>
              <a:rPr lang="zh-CN" altLang="en-US" sz="2400" b="1">
                <a:ea typeface="宋体" panose="02010600030101010101" pitchFamily="2" charset="-122"/>
              </a:rPr>
              <a:t>干球温度计</a:t>
            </a:r>
            <a:endParaRPr lang="zh-CN" altLang="en-US" sz="2400">
              <a:ea typeface="宋体" panose="02010600030101010101" pitchFamily="2" charset="-122"/>
            </a:endParaRPr>
          </a:p>
        </p:txBody>
      </p:sp>
      <p:sp>
        <p:nvSpPr>
          <p:cNvPr id="79876" name="直接连接符 271368"/>
          <p:cNvSpPr>
            <a:spLocks noChangeShapeType="1"/>
          </p:cNvSpPr>
          <p:nvPr/>
        </p:nvSpPr>
        <p:spPr bwMode="auto">
          <a:xfrm flipH="1">
            <a:off x="4932363" y="5157788"/>
            <a:ext cx="792162" cy="287337"/>
          </a:xfrm>
          <a:prstGeom prst="line">
            <a:avLst/>
          </a:prstGeom>
          <a:noFill/>
          <a:ln w="635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77" name="直接连接符 271369"/>
          <p:cNvSpPr>
            <a:spLocks noChangeShapeType="1"/>
          </p:cNvSpPr>
          <p:nvPr/>
        </p:nvSpPr>
        <p:spPr bwMode="auto">
          <a:xfrm>
            <a:off x="3132138" y="5013325"/>
            <a:ext cx="792162" cy="501650"/>
          </a:xfrm>
          <a:prstGeom prst="line">
            <a:avLst/>
          </a:prstGeom>
          <a:noFill/>
          <a:ln w="635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878" name="矩形 271370"/>
          <p:cNvSpPr>
            <a:spLocks noChangeArrowheads="1"/>
          </p:cNvSpPr>
          <p:nvPr/>
        </p:nvSpPr>
        <p:spPr bwMode="auto">
          <a:xfrm>
            <a:off x="611188" y="4508500"/>
            <a:ext cx="2813050" cy="164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zh-CN" altLang="en-US" sz="2400" b="1">
                <a:solidFill>
                  <a:srgbClr val="FF0000"/>
                </a:solidFill>
                <a:ea typeface="宋体" panose="02010600030101010101" pitchFamily="2" charset="-122"/>
              </a:rPr>
              <a:t>头部被尾端浸入水中的吸液芯包裹</a:t>
            </a:r>
            <a:endParaRPr lang="zh-CN" altLang="en-US" sz="2400" b="1">
              <a:solidFill>
                <a:srgbClr val="FF0000"/>
              </a:solidFill>
              <a:ea typeface="宋体" panose="02010600030101010101" pitchFamily="2" charset="-122"/>
            </a:endParaRPr>
          </a:p>
          <a:p>
            <a:pPr>
              <a:spcBef>
                <a:spcPct val="50000"/>
              </a:spcBef>
            </a:pPr>
            <a:r>
              <a:rPr lang="zh-CN" altLang="en-US" sz="2400" b="1">
                <a:ea typeface="宋体" panose="02010600030101010101" pitchFamily="2" charset="-122"/>
              </a:rPr>
              <a:t>湿球温度计</a:t>
            </a:r>
            <a:endParaRPr lang="zh-CN" altLang="en-US" sz="2400">
              <a:ea typeface="宋体" panose="02010600030101010101" pitchFamily="2" charset="-122"/>
            </a:endParaRPr>
          </a:p>
          <a:p>
            <a:pPr eaLnBrk="0" hangingPunct="0"/>
            <a:r>
              <a:rPr lang="zh-CN" altLang="en-US">
                <a:ea typeface="宋体" panose="02010600030101010101" pitchFamily="2" charset="-122"/>
              </a:rPr>
              <a:t> </a:t>
            </a:r>
            <a:endParaRPr lang="zh-CN" altLang="en-US">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矩形 240643"/>
          <p:cNvSpPr>
            <a:spLocks noChangeArrowheads="1"/>
          </p:cNvSpPr>
          <p:nvPr/>
        </p:nvSpPr>
        <p:spPr bwMode="auto">
          <a:xfrm>
            <a:off x="684213" y="3789363"/>
            <a:ext cx="7777162"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lnSpc>
                <a:spcPct val="120000"/>
              </a:lnSpc>
            </a:pPr>
            <a:r>
              <a:rPr lang="zh-CN" altLang="en-US" sz="3600" b="1">
                <a:latin typeface="黑体" panose="02010609060101010101" charset="-122"/>
                <a:ea typeface="黑体" panose="02010609060101010101" charset="-122"/>
              </a:rPr>
              <a:t>当湿空气流过时，</a:t>
            </a:r>
            <a:endParaRPr lang="zh-CN" altLang="en-US" sz="3600" b="1">
              <a:latin typeface="黑体" panose="02010609060101010101" charset="-122"/>
              <a:ea typeface="黑体" panose="02010609060101010101" charset="-122"/>
            </a:endParaRPr>
          </a:p>
          <a:p>
            <a:pPr eaLnBrk="0" hangingPunct="0">
              <a:lnSpc>
                <a:spcPct val="120000"/>
              </a:lnSpc>
            </a:pPr>
            <a:r>
              <a:rPr lang="zh-CN" altLang="en-US" sz="2800" b="1">
                <a:latin typeface="Times New Roman" panose="02020603050405020304" pitchFamily="18" charset="0"/>
                <a:ea typeface="黑体" panose="02010609060101010101" charset="-122"/>
              </a:rPr>
              <a:t>干球温度计指示的是湿空气的真实温度</a:t>
            </a:r>
            <a:r>
              <a:rPr lang="en-US" altLang="zh-CN" sz="2800" b="1" i="1">
                <a:latin typeface="Times New Roman" panose="02020603050405020304" pitchFamily="18" charset="0"/>
                <a:ea typeface="黑体" panose="02010609060101010101" charset="-122"/>
              </a:rPr>
              <a:t>t</a:t>
            </a:r>
            <a:r>
              <a:rPr lang="zh-CN" altLang="en-US" sz="2800" b="1">
                <a:latin typeface="Times New Roman" panose="02020603050405020304" pitchFamily="18" charset="0"/>
                <a:ea typeface="黑体" panose="02010609060101010101" charset="-122"/>
              </a:rPr>
              <a:t>，或称</a:t>
            </a:r>
            <a:r>
              <a:rPr lang="zh-CN" altLang="en-US" sz="2800" b="1">
                <a:solidFill>
                  <a:srgbClr val="FF0000"/>
                </a:solidFill>
                <a:latin typeface="Times New Roman" panose="02020603050405020304" pitchFamily="18" charset="0"/>
                <a:ea typeface="黑体" panose="02010609060101010101" charset="-122"/>
              </a:rPr>
              <a:t>干球温度</a:t>
            </a:r>
            <a:r>
              <a:rPr lang="zh-CN" altLang="en-US" sz="2800" b="1">
                <a:latin typeface="Times New Roman" panose="02020603050405020304" pitchFamily="18" charset="0"/>
                <a:ea typeface="黑体" panose="02010609060101010101" charset="-122"/>
              </a:rPr>
              <a:t>（</a:t>
            </a:r>
            <a:r>
              <a:rPr lang="en-US" altLang="zh-CN" sz="2800" b="1">
                <a:latin typeface="Times New Roman" panose="02020603050405020304" pitchFamily="18" charset="0"/>
                <a:ea typeface="黑体" panose="02010609060101010101" charset="-122"/>
              </a:rPr>
              <a:t>dry-bulb temperature</a:t>
            </a:r>
            <a:r>
              <a:rPr lang="zh-CN" altLang="en-US" sz="2800" b="1">
                <a:latin typeface="Times New Roman" panose="02020603050405020304" pitchFamily="18" charset="0"/>
                <a:ea typeface="黑体" panose="02010609060101010101" charset="-122"/>
              </a:rPr>
              <a:t>）；</a:t>
            </a:r>
            <a:endParaRPr lang="zh-CN" altLang="en-US" sz="2800" b="1">
              <a:latin typeface="Times New Roman" panose="02020603050405020304" pitchFamily="18" charset="0"/>
              <a:ea typeface="黑体" panose="02010609060101010101" charset="-122"/>
            </a:endParaRPr>
          </a:p>
          <a:p>
            <a:pPr eaLnBrk="0" hangingPunct="0">
              <a:lnSpc>
                <a:spcPct val="120000"/>
              </a:lnSpc>
            </a:pPr>
            <a:r>
              <a:rPr lang="zh-CN" altLang="en-US" sz="2800" b="1">
                <a:latin typeface="Times New Roman" panose="02020603050405020304" pitchFamily="18" charset="0"/>
                <a:ea typeface="黑体" panose="02010609060101010101" charset="-122"/>
              </a:rPr>
              <a:t>湿球温度计反映的是吸液芯中水的温度</a:t>
            </a:r>
            <a:r>
              <a:rPr lang="en-US" altLang="zh-CN" sz="2800" b="1" i="1">
                <a:latin typeface="Times New Roman" panose="02020603050405020304" pitchFamily="18" charset="0"/>
                <a:ea typeface="黑体" panose="02010609060101010101" charset="-122"/>
              </a:rPr>
              <a:t>t</a:t>
            </a:r>
            <a:r>
              <a:rPr lang="en-US" altLang="zh-CN" sz="2800" b="1" baseline="-25000">
                <a:latin typeface="Times New Roman" panose="02020603050405020304" pitchFamily="18" charset="0"/>
                <a:ea typeface="黑体" panose="02010609060101010101" charset="-122"/>
              </a:rPr>
              <a:t>w</a:t>
            </a:r>
            <a:r>
              <a:rPr lang="zh-CN" altLang="en-US" sz="2800" b="1">
                <a:latin typeface="Times New Roman" panose="02020603050405020304" pitchFamily="18" charset="0"/>
                <a:ea typeface="黑体" panose="02010609060101010101" charset="-122"/>
              </a:rPr>
              <a:t>，称为</a:t>
            </a:r>
            <a:r>
              <a:rPr lang="zh-CN" altLang="en-US" sz="2800" b="1">
                <a:solidFill>
                  <a:srgbClr val="FF0000"/>
                </a:solidFill>
                <a:latin typeface="Times New Roman" panose="02020603050405020304" pitchFamily="18" charset="0"/>
                <a:ea typeface="黑体" panose="02010609060101010101" charset="-122"/>
              </a:rPr>
              <a:t>湿球温度</a:t>
            </a:r>
            <a:r>
              <a:rPr lang="zh-CN" altLang="en-US" sz="2800" b="1">
                <a:latin typeface="Times New Roman" panose="02020603050405020304" pitchFamily="18" charset="0"/>
                <a:ea typeface="黑体" panose="02010609060101010101" charset="-122"/>
              </a:rPr>
              <a:t>（</a:t>
            </a:r>
            <a:r>
              <a:rPr lang="en-US" altLang="zh-CN" sz="2800" b="1">
                <a:latin typeface="Times New Roman" panose="02020603050405020304" pitchFamily="18" charset="0"/>
                <a:ea typeface="黑体" panose="02010609060101010101" charset="-122"/>
              </a:rPr>
              <a:t>wet-bulb temperature</a:t>
            </a:r>
            <a:r>
              <a:rPr lang="zh-CN" altLang="en-US" sz="2800" b="1">
                <a:latin typeface="Times New Roman" panose="02020603050405020304" pitchFamily="18" charset="0"/>
                <a:ea typeface="黑体" panose="02010609060101010101" charset="-122"/>
              </a:rPr>
              <a:t>）</a:t>
            </a:r>
            <a:endParaRPr lang="en-US" altLang="zh-CN" sz="2800" b="1">
              <a:latin typeface="Times New Roman" panose="02020603050405020304" pitchFamily="18" charset="0"/>
              <a:ea typeface="黑体" panose="02010609060101010101"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521312" y="311966"/>
            <a:ext cx="4102964" cy="33713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244740"/>
          <p:cNvSpPr>
            <a:spLocks noChangeArrowheads="1"/>
          </p:cNvSpPr>
          <p:nvPr/>
        </p:nvSpPr>
        <p:spPr bwMode="auto">
          <a:xfrm>
            <a:off x="395288" y="549275"/>
            <a:ext cx="43418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400" b="1" dirty="0">
                <a:latin typeface="黑体" panose="02010609060101010101" charset="-122"/>
                <a:ea typeface="黑体" panose="02010609060101010101" charset="-122"/>
              </a:rPr>
              <a:t>1</a:t>
            </a:r>
            <a:r>
              <a:rPr lang="zh-CN" altLang="en-US" sz="2400" b="1" dirty="0" smtClean="0">
                <a:latin typeface="黑体" panose="02010609060101010101" charset="-122"/>
                <a:ea typeface="黑体" panose="02010609060101010101" charset="-122"/>
              </a:rPr>
              <a:t>、如果湿空气是未饱和的，当它吹过</a:t>
            </a:r>
            <a:r>
              <a:rPr lang="zh-CN" altLang="en-US" sz="2400" b="1" dirty="0">
                <a:latin typeface="黑体" panose="02010609060101010101" charset="-122"/>
                <a:ea typeface="黑体" panose="02010609060101010101" charset="-122"/>
              </a:rPr>
              <a:t>湿球温度计时</a:t>
            </a:r>
            <a:r>
              <a:rPr lang="zh-CN" altLang="en-US" sz="2400" b="1" dirty="0" smtClean="0">
                <a:latin typeface="黑体" panose="02010609060101010101" charset="-122"/>
                <a:ea typeface="黑体" panose="02010609060101010101" charset="-122"/>
              </a:rPr>
              <a:t>，吸</a:t>
            </a:r>
            <a:r>
              <a:rPr lang="zh-CN" altLang="en-US" sz="2400" b="1" dirty="0">
                <a:latin typeface="黑体" panose="02010609060101010101" charset="-122"/>
                <a:ea typeface="黑体" panose="02010609060101010101" charset="-122"/>
              </a:rPr>
              <a:t>液芯中的</a:t>
            </a:r>
            <a:r>
              <a:rPr lang="zh-CN" altLang="en-US" sz="2400" b="1" dirty="0" smtClean="0">
                <a:latin typeface="黑体" panose="02010609060101010101" charset="-122"/>
                <a:ea typeface="黑体" panose="02010609060101010101" charset="-122"/>
              </a:rPr>
              <a:t>水分将</a:t>
            </a:r>
            <a:r>
              <a:rPr lang="zh-CN" altLang="en-US" sz="2400" b="1" dirty="0">
                <a:latin typeface="黑体" panose="02010609060101010101" charset="-122"/>
                <a:ea typeface="黑体" panose="02010609060101010101" charset="-122"/>
              </a:rPr>
              <a:t>向湿空气</a:t>
            </a:r>
            <a:r>
              <a:rPr lang="zh-CN" altLang="en-US" sz="2400" b="1" dirty="0" smtClean="0">
                <a:latin typeface="黑体" panose="02010609060101010101" charset="-122"/>
                <a:ea typeface="黑体" panose="02010609060101010101" charset="-122"/>
              </a:rPr>
              <a:t>蒸发。水蒸发时需要吸热，从而使水温</a:t>
            </a:r>
            <a:r>
              <a:rPr lang="zh-CN" altLang="en-US" sz="2400" b="1" dirty="0">
                <a:latin typeface="黑体" panose="02010609060101010101" charset="-122"/>
                <a:ea typeface="黑体" panose="02010609060101010101" charset="-122"/>
              </a:rPr>
              <a:t>降低</a:t>
            </a:r>
            <a:r>
              <a:rPr lang="zh-CN" altLang="en-US" b="1" dirty="0">
                <a:latin typeface="黑体" panose="02010609060101010101" charset="-122"/>
                <a:ea typeface="黑体" panose="02010609060101010101" charset="-122"/>
              </a:rPr>
              <a:t>。</a:t>
            </a:r>
            <a:endParaRPr lang="zh-CN" altLang="en-US" b="1" dirty="0">
              <a:latin typeface="黑体" panose="02010609060101010101" charset="-122"/>
              <a:ea typeface="黑体" panose="02010609060101010101" charset="-122"/>
            </a:endParaRPr>
          </a:p>
        </p:txBody>
      </p:sp>
      <p:sp>
        <p:nvSpPr>
          <p:cNvPr id="81923" name="矩形 244741"/>
          <p:cNvSpPr>
            <a:spLocks noChangeArrowheads="1"/>
          </p:cNvSpPr>
          <p:nvPr/>
        </p:nvSpPr>
        <p:spPr bwMode="auto">
          <a:xfrm>
            <a:off x="395288" y="2414499"/>
            <a:ext cx="491648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400" b="1" dirty="0">
                <a:latin typeface="黑体" panose="02010609060101010101" charset="-122"/>
                <a:ea typeface="黑体" panose="02010609060101010101" charset="-122"/>
              </a:rPr>
              <a:t>2</a:t>
            </a:r>
            <a:r>
              <a:rPr lang="zh-CN" altLang="en-US" sz="2400" b="1" dirty="0" smtClean="0">
                <a:latin typeface="黑体" panose="02010609060101010101" charset="-122"/>
                <a:ea typeface="黑体" panose="02010609060101010101" charset="-122"/>
              </a:rPr>
              <a:t>、如此一来，湿空气</a:t>
            </a:r>
            <a:r>
              <a:rPr lang="zh-CN" altLang="en-US" sz="2400" b="1" dirty="0">
                <a:latin typeface="黑体" panose="02010609060101010101" charset="-122"/>
                <a:ea typeface="黑体" panose="02010609060101010101" charset="-122"/>
              </a:rPr>
              <a:t>与吸液芯中水分之间会形成</a:t>
            </a:r>
            <a:r>
              <a:rPr lang="zh-CN" altLang="en-US" sz="2400" b="1" dirty="0" smtClean="0">
                <a:latin typeface="黑体" panose="02010609060101010101" charset="-122"/>
                <a:ea typeface="黑体" panose="02010609060101010101" charset="-122"/>
              </a:rPr>
              <a:t>温差而导致湿空气</a:t>
            </a:r>
            <a:r>
              <a:rPr lang="zh-CN" altLang="en-US" sz="2400" b="1" dirty="0">
                <a:latin typeface="黑体" panose="02010609060101010101" charset="-122"/>
                <a:ea typeface="黑体" panose="02010609060101010101" charset="-122"/>
              </a:rPr>
              <a:t>向吸液芯中的</a:t>
            </a:r>
            <a:r>
              <a:rPr lang="zh-CN" altLang="en-US" sz="2400" b="1" dirty="0" smtClean="0">
                <a:latin typeface="黑体" panose="02010609060101010101" charset="-122"/>
                <a:ea typeface="黑体" panose="02010609060101010101" charset="-122"/>
              </a:rPr>
              <a:t>水传热</a:t>
            </a:r>
            <a:r>
              <a:rPr lang="zh-CN" altLang="en-US" sz="2400" b="1" dirty="0" smtClean="0">
                <a:ea typeface="宋体" panose="02010600030101010101" pitchFamily="2" charset="-122"/>
              </a:rPr>
              <a:t> </a:t>
            </a:r>
            <a:endParaRPr lang="zh-CN" altLang="en-US" sz="2400" b="1" dirty="0">
              <a:ea typeface="宋体" panose="02010600030101010101" pitchFamily="2" charset="-122"/>
            </a:endParaRPr>
          </a:p>
        </p:txBody>
      </p:sp>
      <p:sp>
        <p:nvSpPr>
          <p:cNvPr id="81924" name="矩形 244742"/>
          <p:cNvSpPr>
            <a:spLocks noChangeArrowheads="1"/>
          </p:cNvSpPr>
          <p:nvPr/>
        </p:nvSpPr>
        <p:spPr bwMode="auto">
          <a:xfrm>
            <a:off x="468313" y="3996720"/>
            <a:ext cx="81359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400" b="1" dirty="0">
                <a:latin typeface="黑体" panose="02010609060101010101" charset="-122"/>
                <a:ea typeface="黑体" panose="02010609060101010101" charset="-122"/>
              </a:rPr>
              <a:t>3</a:t>
            </a:r>
            <a:r>
              <a:rPr lang="zh-CN" altLang="en-US" sz="2400" b="1" dirty="0">
                <a:latin typeface="黑体" panose="02010609060101010101" charset="-122"/>
                <a:ea typeface="黑体" panose="02010609060101010101" charset="-122"/>
              </a:rPr>
              <a:t>、一段时间后，</a:t>
            </a:r>
            <a:r>
              <a:rPr lang="zh-CN" altLang="en-US" sz="2400" b="1" dirty="0" smtClean="0">
                <a:latin typeface="黑体" panose="02010609060101010101" charset="-122"/>
                <a:ea typeface="黑体" panose="02010609060101010101" charset="-122"/>
              </a:rPr>
              <a:t>当单位时间内湿空气</a:t>
            </a:r>
            <a:r>
              <a:rPr lang="zh-CN" altLang="en-US" sz="2400" b="1" dirty="0">
                <a:latin typeface="黑体" panose="02010609060101010101" charset="-122"/>
                <a:ea typeface="黑体" panose="02010609060101010101" charset="-122"/>
              </a:rPr>
              <a:t>向吸</a:t>
            </a:r>
            <a:r>
              <a:rPr lang="zh-CN" altLang="en-US" sz="2400" b="1" dirty="0" smtClean="0">
                <a:latin typeface="黑体" panose="02010609060101010101" charset="-122"/>
                <a:ea typeface="黑体" panose="02010609060101010101" charset="-122"/>
              </a:rPr>
              <a:t>液芯传递</a:t>
            </a:r>
            <a:r>
              <a:rPr lang="zh-CN" altLang="en-US" sz="2400" b="1" dirty="0">
                <a:latin typeface="黑体" panose="02010609060101010101" charset="-122"/>
                <a:ea typeface="黑体" panose="02010609060101010101" charset="-122"/>
              </a:rPr>
              <a:t>的</a:t>
            </a:r>
            <a:r>
              <a:rPr lang="zh-CN" altLang="en-US" sz="2400" b="1" dirty="0" smtClean="0">
                <a:latin typeface="黑体" panose="02010609060101010101" charset="-122"/>
                <a:ea typeface="黑体" panose="02010609060101010101" charset="-122"/>
              </a:rPr>
              <a:t>热量恰巧满足单位</a:t>
            </a:r>
            <a:r>
              <a:rPr lang="zh-CN" altLang="en-US" sz="2400" b="1" dirty="0">
                <a:latin typeface="黑体" panose="02010609060101010101" charset="-122"/>
                <a:ea typeface="黑体" panose="02010609060101010101" charset="-122"/>
              </a:rPr>
              <a:t>时间</a:t>
            </a:r>
            <a:r>
              <a:rPr lang="zh-CN" altLang="en-US" sz="2400" b="1" dirty="0" smtClean="0">
                <a:latin typeface="黑体" panose="02010609060101010101" charset="-122"/>
                <a:ea typeface="黑体" panose="02010609060101010101" charset="-122"/>
              </a:rPr>
              <a:t>内水分蒸发</a:t>
            </a:r>
            <a:r>
              <a:rPr lang="zh-CN" altLang="en-US" sz="2400" b="1" dirty="0">
                <a:latin typeface="黑体" panose="02010609060101010101" charset="-122"/>
                <a:ea typeface="黑体" panose="02010609060101010101" charset="-122"/>
              </a:rPr>
              <a:t>所需要的热量时，吸液芯中的水温</a:t>
            </a:r>
            <a:r>
              <a:rPr lang="zh-CN" altLang="en-US" sz="2400" b="1" dirty="0" smtClean="0">
                <a:latin typeface="黑体" panose="02010609060101010101" charset="-122"/>
                <a:ea typeface="黑体" panose="02010609060101010101" charset="-122"/>
              </a:rPr>
              <a:t>保持不变</a:t>
            </a:r>
            <a:r>
              <a:rPr lang="zh-CN" altLang="en-US" sz="2400" b="1" dirty="0">
                <a:latin typeface="黑体" panose="02010609060101010101" charset="-122"/>
                <a:ea typeface="黑体" panose="02010609060101010101" charset="-122"/>
              </a:rPr>
              <a:t>而达到稳定状态，此时湿球温度计指示的温度是吸液芯中水的温度，即</a:t>
            </a:r>
            <a:r>
              <a:rPr lang="zh-CN" altLang="en-US" sz="2400" b="1" dirty="0">
                <a:solidFill>
                  <a:srgbClr val="FF0000"/>
                </a:solidFill>
                <a:latin typeface="黑体" panose="02010609060101010101" charset="-122"/>
                <a:ea typeface="黑体" panose="02010609060101010101" charset="-122"/>
              </a:rPr>
              <a:t>湿球温度</a:t>
            </a:r>
            <a:r>
              <a:rPr lang="zh-CN" altLang="en-US" dirty="0">
                <a:solidFill>
                  <a:srgbClr val="FF0000"/>
                </a:solidFill>
                <a:ea typeface="宋体" panose="02010600030101010101" pitchFamily="2" charset="-122"/>
              </a:rPr>
              <a:t> </a:t>
            </a:r>
            <a:endParaRPr lang="zh-CN" altLang="en-US" dirty="0">
              <a:solidFill>
                <a:srgbClr val="FF0000"/>
              </a:solidFill>
              <a:ea typeface="宋体" panose="02010600030101010101" pitchFamily="2" charset="-122"/>
            </a:endParaRPr>
          </a:p>
        </p:txBody>
      </p:sp>
      <p:sp>
        <p:nvSpPr>
          <p:cNvPr id="3" name="矩形 2"/>
          <p:cNvSpPr/>
          <p:nvPr/>
        </p:nvSpPr>
        <p:spPr>
          <a:xfrm>
            <a:off x="662608" y="5790466"/>
            <a:ext cx="7997687" cy="461665"/>
          </a:xfrm>
          <a:prstGeom prst="rect">
            <a:avLst/>
          </a:prstGeom>
        </p:spPr>
        <p:txBody>
          <a:bodyPr wrap="square">
            <a:spAutoFit/>
          </a:bodyPr>
          <a:lstStyle/>
          <a:p>
            <a:r>
              <a:rPr lang="zh-CN" altLang="en-US" sz="2400" b="1" dirty="0">
                <a:solidFill>
                  <a:srgbClr val="0070C0"/>
                </a:solidFill>
              </a:rPr>
              <a:t>若来流湿空气已经达到饱和状态，则湿球温度=干球温度</a:t>
            </a:r>
            <a:endParaRPr lang="zh-CN" altLang="en-US" sz="2400" b="1" dirty="0">
              <a:solidFill>
                <a:srgbClr val="0070C0"/>
              </a:solidFill>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37100" y="434394"/>
            <a:ext cx="4102964" cy="33713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44742"/>
          <p:cNvSpPr>
            <a:spLocks noChangeArrowheads="1"/>
          </p:cNvSpPr>
          <p:nvPr/>
        </p:nvSpPr>
        <p:spPr bwMode="auto">
          <a:xfrm>
            <a:off x="633965" y="945360"/>
            <a:ext cx="8135937"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285750" indent="-285750" eaLnBrk="0" hangingPunct="0">
              <a:buFont typeface="Arial" panose="020B0604020202020204" pitchFamily="34" charset="0"/>
              <a:buChar char="•"/>
            </a:pPr>
            <a:r>
              <a:rPr lang="zh-CN" altLang="zh-CN" sz="2800" b="1" dirty="0" smtClean="0">
                <a:solidFill>
                  <a:srgbClr val="0070C0"/>
                </a:solidFill>
              </a:rPr>
              <a:t>湿空气</a:t>
            </a:r>
            <a:r>
              <a:rPr lang="zh-CN" altLang="zh-CN" sz="2800" b="1" dirty="0">
                <a:solidFill>
                  <a:srgbClr val="0070C0"/>
                </a:solidFill>
              </a:rPr>
              <a:t>的相对湿度越小</a:t>
            </a:r>
            <a:r>
              <a:rPr lang="zh-CN" altLang="zh-CN" sz="2800" b="1" dirty="0"/>
              <a:t>，吸液芯中水分蒸发得越快，单位时间内蒸发所需要的热量越多，湿空气与吸热芯中水分之间的温差越</a:t>
            </a:r>
            <a:r>
              <a:rPr lang="zh-CN" altLang="zh-CN" sz="2800" b="1" dirty="0" smtClean="0"/>
              <a:t>大</a:t>
            </a:r>
            <a:r>
              <a:rPr lang="zh-CN" altLang="en-US" sz="2800" b="1" dirty="0" smtClean="0"/>
              <a:t>，</a:t>
            </a:r>
            <a:r>
              <a:rPr lang="zh-CN" altLang="zh-CN" sz="2800" b="1" dirty="0" smtClean="0">
                <a:solidFill>
                  <a:srgbClr val="0070C0"/>
                </a:solidFill>
              </a:rPr>
              <a:t>湿球温度</a:t>
            </a:r>
            <a:r>
              <a:rPr lang="zh-CN" altLang="zh-CN" sz="2800" b="1" dirty="0">
                <a:solidFill>
                  <a:srgbClr val="0070C0"/>
                </a:solidFill>
              </a:rPr>
              <a:t>越</a:t>
            </a:r>
            <a:r>
              <a:rPr lang="zh-CN" altLang="zh-CN" sz="2800" b="1" dirty="0" smtClean="0">
                <a:solidFill>
                  <a:srgbClr val="0070C0"/>
                </a:solidFill>
              </a:rPr>
              <a:t>低</a:t>
            </a:r>
            <a:endParaRPr lang="en-US" altLang="zh-CN" sz="2800" b="1" dirty="0" smtClean="0">
              <a:solidFill>
                <a:srgbClr val="0070C0"/>
              </a:solidFill>
            </a:endParaRPr>
          </a:p>
          <a:p>
            <a:pPr marL="285750" indent="-285750" eaLnBrk="0" hangingPunct="0">
              <a:buFont typeface="Arial" panose="020B0604020202020204" pitchFamily="34" charset="0"/>
              <a:buChar char="•"/>
            </a:pPr>
            <a:r>
              <a:rPr lang="zh-CN" altLang="en-US" sz="2800" b="1" dirty="0"/>
              <a:t>严格来说，湿球温度不是湿空气的状态参数，因为湿空气流速对上述蒸发和传热过程也会有所影响，</a:t>
            </a:r>
            <a:r>
              <a:rPr lang="zh-CN" altLang="en-US" sz="2800" b="1" dirty="0" smtClean="0"/>
              <a:t>从而对</a:t>
            </a:r>
            <a:r>
              <a:rPr lang="zh-CN" altLang="en-US" sz="2800" b="1" dirty="0"/>
              <a:t>湿球温度值产生影响。但实验表明，</a:t>
            </a:r>
            <a:r>
              <a:rPr lang="zh-CN" altLang="en-US" sz="2800" b="1" dirty="0">
                <a:solidFill>
                  <a:srgbClr val="0070C0"/>
                </a:solidFill>
              </a:rPr>
              <a:t>当气流速度在</a:t>
            </a:r>
            <a:r>
              <a:rPr lang="en-US" altLang="zh-CN" sz="2800" b="1" dirty="0">
                <a:solidFill>
                  <a:srgbClr val="0070C0"/>
                </a:solidFill>
                <a:latin typeface="Times New Roman" panose="02020603050405020304" pitchFamily="18" charset="0"/>
                <a:cs typeface="Times New Roman" panose="02020603050405020304" pitchFamily="18" charset="0"/>
              </a:rPr>
              <a:t>2</a:t>
            </a:r>
            <a:r>
              <a:rPr lang="zh-CN" altLang="en-US" sz="2800" b="1" dirty="0">
                <a:solidFill>
                  <a:srgbClr val="0070C0"/>
                </a:solidFill>
                <a:latin typeface="Times New Roman" panose="02020603050405020304" pitchFamily="18" charset="0"/>
                <a:cs typeface="Times New Roman" panose="02020603050405020304" pitchFamily="18" charset="0"/>
              </a:rPr>
              <a:t>～</a:t>
            </a:r>
            <a:r>
              <a:rPr lang="en-US" altLang="zh-CN" sz="2800" b="1" dirty="0">
                <a:solidFill>
                  <a:srgbClr val="0070C0"/>
                </a:solidFill>
                <a:latin typeface="Times New Roman" panose="02020603050405020304" pitchFamily="18" charset="0"/>
                <a:cs typeface="Times New Roman" panose="02020603050405020304" pitchFamily="18" charset="0"/>
              </a:rPr>
              <a:t>40 m/s</a:t>
            </a:r>
            <a:r>
              <a:rPr lang="zh-CN" altLang="en-US" sz="2800" b="1" dirty="0">
                <a:solidFill>
                  <a:srgbClr val="0070C0"/>
                </a:solidFill>
              </a:rPr>
              <a:t>范围内时，流速对湿球温度值的影响很小</a:t>
            </a:r>
            <a:endParaRPr lang="en-US" altLang="zh-CN" sz="2800" b="1" dirty="0" smtClean="0">
              <a:solidFill>
                <a:srgbClr val="0070C0"/>
              </a:solidFill>
            </a:endParaRPr>
          </a:p>
          <a:p>
            <a:pPr marL="285750" indent="-285750" eaLnBrk="0" hangingPunct="0">
              <a:buFont typeface="Arial" panose="020B0604020202020204" pitchFamily="34" charset="0"/>
              <a:buChar char="•"/>
            </a:pPr>
            <a:endParaRPr lang="en-US" altLang="zh-CN" sz="2400" b="1"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14824" y="719795"/>
            <a:ext cx="3427541" cy="646331"/>
          </a:xfrm>
          <a:prstGeom prst="rect">
            <a:avLst/>
          </a:prstGeom>
        </p:spPr>
        <p:txBody>
          <a:bodyPr wrap="none">
            <a:spAutoFit/>
          </a:bodyPr>
          <a:lstStyle/>
          <a:p>
            <a:r>
              <a:rPr lang="zh-CN" altLang="en-US" sz="3600" b="1" dirty="0"/>
              <a:t>湿球温度的</a:t>
            </a:r>
            <a:r>
              <a:rPr lang="zh-CN" altLang="en-US" sz="3600" b="1" dirty="0" smtClean="0"/>
              <a:t>用处</a:t>
            </a:r>
            <a:endParaRPr lang="zh-CN" altLang="en-US" sz="3600" b="1" dirty="0"/>
          </a:p>
        </p:txBody>
      </p:sp>
      <p:sp>
        <p:nvSpPr>
          <p:cNvPr id="3" name="矩形 2"/>
          <p:cNvSpPr/>
          <p:nvPr/>
        </p:nvSpPr>
        <p:spPr>
          <a:xfrm>
            <a:off x="761999" y="1875327"/>
            <a:ext cx="7832036" cy="2246769"/>
          </a:xfrm>
          <a:prstGeom prst="rect">
            <a:avLst/>
          </a:prstGeom>
        </p:spPr>
        <p:txBody>
          <a:bodyPr wrap="square">
            <a:spAutoFit/>
          </a:bodyPr>
          <a:lstStyle/>
          <a:p>
            <a:pPr marL="342900" indent="-342900">
              <a:buFont typeface="Arial" panose="020B0604020202020204" pitchFamily="34" charset="0"/>
              <a:buChar char="•"/>
            </a:pPr>
            <a:r>
              <a:rPr lang="zh-CN" altLang="en-US" sz="2800" b="1" dirty="0"/>
              <a:t>虽然</a:t>
            </a:r>
            <a:r>
              <a:rPr lang="zh-CN" altLang="en-US" sz="2800" b="1" dirty="0" smtClean="0"/>
              <a:t>湿球温度</a:t>
            </a:r>
            <a:r>
              <a:rPr lang="zh-CN" altLang="en-US" sz="2800" b="1" dirty="0"/>
              <a:t>和绝热饱和温度通常</a:t>
            </a:r>
            <a:r>
              <a:rPr lang="zh-CN" altLang="en-US" sz="2800" b="1" dirty="0" smtClean="0"/>
              <a:t>并不严格相等，但</a:t>
            </a:r>
            <a:r>
              <a:rPr lang="zh-CN" altLang="en-US" sz="2800" b="1" dirty="0"/>
              <a:t>对于常压条件下的干空气-水蒸气混合物，其湿球温度与绝热饱和温度的数值很</a:t>
            </a:r>
            <a:r>
              <a:rPr lang="zh-CN" altLang="en-US" sz="2800" b="1" dirty="0" smtClean="0"/>
              <a:t>接近</a:t>
            </a:r>
            <a:endParaRPr lang="en-US" altLang="zh-CN" sz="2800" b="1" dirty="0" smtClean="0"/>
          </a:p>
          <a:p>
            <a:pPr marL="342900" indent="-342900">
              <a:buFont typeface="Arial" panose="020B0604020202020204" pitchFamily="34" charset="0"/>
              <a:buChar char="•"/>
            </a:pPr>
            <a:r>
              <a:rPr lang="zh-CN" altLang="en-US" sz="2800" b="1" dirty="0" smtClean="0"/>
              <a:t>因此可用</a:t>
            </a:r>
            <a:r>
              <a:rPr lang="zh-CN" altLang="en-US" sz="2800" b="1" dirty="0"/>
              <a:t>湿球温度代替绝热饱和温度进行含湿量和相对湿度的计算 </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07459" y="2218875"/>
            <a:ext cx="6130204" cy="769441"/>
          </a:xfrm>
          <a:prstGeom prst="rect">
            <a:avLst/>
          </a:prstGeom>
        </p:spPr>
        <p:txBody>
          <a:bodyPr wrap="none">
            <a:spAutoFit/>
          </a:bodyPr>
          <a:lstStyle/>
          <a:p>
            <a:r>
              <a:rPr lang="zh-CN" altLang="en-US" sz="4400" b="1" dirty="0" smtClean="0"/>
              <a:t>1</a:t>
            </a:r>
            <a:r>
              <a:rPr lang="en-US" altLang="zh-CN" sz="4400" b="1" dirty="0" smtClean="0"/>
              <a:t>8-6</a:t>
            </a:r>
            <a:r>
              <a:rPr lang="zh-CN" altLang="en-US" sz="4400" b="1" dirty="0"/>
              <a:t>　</a:t>
            </a:r>
            <a:r>
              <a:rPr lang="zh-CN" altLang="en-US" sz="4400" b="1" dirty="0" smtClean="0"/>
              <a:t>湿空气的焓</a:t>
            </a:r>
            <a:r>
              <a:rPr lang="en-US" altLang="zh-CN" sz="4400" b="1" dirty="0" smtClean="0"/>
              <a:t>-</a:t>
            </a:r>
            <a:r>
              <a:rPr lang="zh-CN" altLang="en-US" sz="4400" b="1" dirty="0" smtClean="0"/>
              <a:t>湿图</a:t>
            </a:r>
            <a:endParaRPr lang="zh-CN" altLang="en-US" sz="4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2974" y="966906"/>
            <a:ext cx="7779026" cy="1815882"/>
          </a:xfrm>
          <a:prstGeom prst="rect">
            <a:avLst/>
          </a:prstGeom>
        </p:spPr>
        <p:txBody>
          <a:bodyPr wrap="square">
            <a:spAutoFit/>
          </a:bodyPr>
          <a:lstStyle/>
          <a:p>
            <a:pPr marL="457200" indent="-457200">
              <a:buFont typeface="Arial" panose="020B0604020202020204" pitchFamily="34" charset="0"/>
              <a:buChar char="•"/>
            </a:pPr>
            <a:r>
              <a:rPr lang="zh-CN" altLang="en-US" sz="2800" b="1" dirty="0"/>
              <a:t>湿空气的计算涉及的公式较为繁琐，并且在解决实际问题时需要大量这样的计算</a:t>
            </a:r>
            <a:endParaRPr lang="zh-CN" altLang="en-US" sz="2800" b="1" dirty="0"/>
          </a:p>
          <a:p>
            <a:pPr marL="457200" indent="-457200">
              <a:buFont typeface="Arial" panose="020B0604020202020204" pitchFamily="34" charset="0"/>
              <a:buChar char="•"/>
            </a:pPr>
            <a:r>
              <a:rPr lang="zh-CN" altLang="en-US" sz="2800" b="1" dirty="0" smtClean="0"/>
              <a:t>为方便起见，</a:t>
            </a:r>
            <a:r>
              <a:rPr lang="zh-CN" altLang="en-US" sz="2800" b="1" dirty="0"/>
              <a:t>人们将湿空气各种参数之间的关系</a:t>
            </a:r>
            <a:r>
              <a:rPr lang="zh-CN" altLang="en-US" sz="2800" b="1" dirty="0" smtClean="0"/>
              <a:t>制成图表，</a:t>
            </a:r>
            <a:r>
              <a:rPr lang="zh-CN" altLang="en-US" sz="2800" b="1" dirty="0"/>
              <a:t>供工程计算查取 </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89721" y="957544"/>
            <a:ext cx="7765774" cy="4401205"/>
          </a:xfrm>
          <a:prstGeom prst="rect">
            <a:avLst/>
          </a:prstGeom>
        </p:spPr>
        <p:txBody>
          <a:bodyPr wrap="square">
            <a:spAutoFit/>
          </a:bodyPr>
          <a:lstStyle/>
          <a:p>
            <a:pPr marL="342900" indent="-342900">
              <a:buFont typeface="Arial" panose="020B0604020202020204" pitchFamily="34" charset="0"/>
              <a:buChar char="•"/>
            </a:pPr>
            <a:r>
              <a:rPr lang="zh-CN" altLang="en-US" sz="2800" b="1" dirty="0"/>
              <a:t>包含一定质量水蒸气的湿空气系统，在热力过程中可能</a:t>
            </a:r>
            <a:r>
              <a:rPr lang="zh-CN" altLang="en-US" sz="2800" b="1" dirty="0" smtClean="0"/>
              <a:t>涉及水蒸气含量</a:t>
            </a:r>
            <a:r>
              <a:rPr lang="zh-CN" altLang="en-US" sz="2800" b="1" dirty="0"/>
              <a:t>的变化，因此多一个状态变化的自由度，即三个独立的状态参数才能确定湿空气的状态</a:t>
            </a:r>
            <a:endParaRPr lang="zh-CN" altLang="en-US" sz="2800" b="1" dirty="0"/>
          </a:p>
          <a:p>
            <a:pPr marL="342900" indent="-342900">
              <a:buFont typeface="Arial" panose="020B0604020202020204" pitchFamily="34" charset="0"/>
              <a:buChar char="•"/>
            </a:pPr>
            <a:r>
              <a:rPr lang="zh-CN" altLang="en-US" sz="2800" b="1" dirty="0"/>
              <a:t>平面图上的状态点只有两个独立参数，所以湿空气的线图</a:t>
            </a:r>
            <a:r>
              <a:rPr lang="zh-CN" altLang="en-US" sz="2800" b="1" dirty="0">
                <a:solidFill>
                  <a:srgbClr val="0070C0"/>
                </a:solidFill>
              </a:rPr>
              <a:t>通常在一定的</a:t>
            </a:r>
            <a:r>
              <a:rPr lang="zh-CN" altLang="en-US" sz="2800" b="1" dirty="0" smtClean="0">
                <a:solidFill>
                  <a:srgbClr val="0070C0"/>
                </a:solidFill>
              </a:rPr>
              <a:t>总压力</a:t>
            </a:r>
            <a:r>
              <a:rPr lang="en-US" altLang="zh-CN" sz="2800" b="1" i="1" dirty="0" smtClean="0">
                <a:solidFill>
                  <a:srgbClr val="0070C0"/>
                </a:solidFill>
                <a:latin typeface="Times New Roman" panose="02020603050405020304" pitchFamily="18" charset="0"/>
                <a:cs typeface="Times New Roman" panose="02020603050405020304" pitchFamily="18" charset="0"/>
              </a:rPr>
              <a:t>p</a:t>
            </a:r>
            <a:r>
              <a:rPr lang="zh-CN" altLang="en-US" sz="2800" b="1" dirty="0" smtClean="0">
                <a:solidFill>
                  <a:srgbClr val="0070C0"/>
                </a:solidFill>
              </a:rPr>
              <a:t>下</a:t>
            </a:r>
            <a:r>
              <a:rPr lang="zh-CN" altLang="en-US" sz="2800" b="1" dirty="0">
                <a:solidFill>
                  <a:srgbClr val="0070C0"/>
                </a:solidFill>
              </a:rPr>
              <a:t>，再选定两个独立参数作为坐标来制作</a:t>
            </a:r>
            <a:endParaRPr lang="zh-CN" altLang="en-US" sz="2800" b="1" dirty="0">
              <a:solidFill>
                <a:srgbClr val="0070C0"/>
              </a:solidFill>
            </a:endParaRPr>
          </a:p>
          <a:p>
            <a:pPr marL="342900" indent="-342900">
              <a:buFont typeface="Arial" panose="020B0604020202020204" pitchFamily="34" charset="0"/>
              <a:buChar char="•"/>
            </a:pPr>
            <a:r>
              <a:rPr lang="zh-CN" altLang="en-US" sz="2800" b="1" dirty="0"/>
              <a:t>采用的坐标可以有各种选择，常见的有以含湿量和干球温度为坐标的</a:t>
            </a:r>
            <a:r>
              <a:rPr lang="zh-CN" altLang="en-US" sz="2800" b="1" i="1" dirty="0">
                <a:latin typeface="Times New Roman" panose="02020603050405020304" pitchFamily="18" charset="0"/>
                <a:cs typeface="Times New Roman" panose="02020603050405020304" pitchFamily="18" charset="0"/>
              </a:rPr>
              <a:t>d-t</a:t>
            </a:r>
            <a:r>
              <a:rPr lang="zh-CN" altLang="en-US" sz="2800" b="1" dirty="0">
                <a:latin typeface="Times New Roman" panose="02020603050405020304" pitchFamily="18" charset="0"/>
                <a:cs typeface="Times New Roman" panose="02020603050405020304" pitchFamily="18" charset="0"/>
              </a:rPr>
              <a:t>图和以焓和含湿量为坐标的</a:t>
            </a:r>
            <a:r>
              <a:rPr lang="zh-CN" altLang="en-US" sz="2800" b="1" i="1" dirty="0">
                <a:solidFill>
                  <a:srgbClr val="FF0000"/>
                </a:solidFill>
                <a:latin typeface="Times New Roman" panose="02020603050405020304" pitchFamily="18" charset="0"/>
                <a:cs typeface="Times New Roman" panose="02020603050405020304" pitchFamily="18" charset="0"/>
              </a:rPr>
              <a:t>h-d</a:t>
            </a:r>
            <a:r>
              <a:rPr lang="zh-CN" altLang="en-US" sz="2800" b="1" dirty="0">
                <a:solidFill>
                  <a:srgbClr val="FF0000"/>
                </a:solidFill>
                <a:latin typeface="Times New Roman" panose="02020603050405020304" pitchFamily="18" charset="0"/>
                <a:cs typeface="Times New Roman" panose="02020603050405020304" pitchFamily="18" charset="0"/>
              </a:rPr>
              <a:t>图</a:t>
            </a:r>
            <a:r>
              <a:rPr lang="zh-CN" altLang="en-US" sz="2800" b="1" dirty="0">
                <a:latin typeface="Times New Roman" panose="02020603050405020304" pitchFamily="18" charset="0"/>
                <a:cs typeface="Times New Roman" panose="02020603050405020304" pitchFamily="18" charset="0"/>
              </a:rPr>
              <a:t>（称为焓-湿图）</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矩形 248836"/>
          <p:cNvSpPr>
            <a:spLocks noChangeArrowheads="1"/>
          </p:cNvSpPr>
          <p:nvPr/>
        </p:nvSpPr>
        <p:spPr bwMode="auto">
          <a:xfrm>
            <a:off x="0" y="1881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79705" y="728238"/>
            <a:ext cx="4584589" cy="54015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51" name="矩形 249869"/>
          <p:cNvSpPr>
            <a:spLocks noChangeArrowheads="1"/>
          </p:cNvSpPr>
          <p:nvPr/>
        </p:nvSpPr>
        <p:spPr bwMode="auto">
          <a:xfrm>
            <a:off x="5435600" y="3068638"/>
            <a:ext cx="3024188" cy="3384550"/>
          </a:xfrm>
          <a:prstGeom prst="rect">
            <a:avLst/>
          </a:prstGeom>
          <a:noFill/>
          <a:ln w="25400">
            <a:solidFill>
              <a:srgbClr val="0070C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87048" name="矩形 249866"/>
          <p:cNvSpPr>
            <a:spLocks noChangeArrowheads="1"/>
          </p:cNvSpPr>
          <p:nvPr/>
        </p:nvSpPr>
        <p:spPr bwMode="auto">
          <a:xfrm>
            <a:off x="5651500" y="1196975"/>
            <a:ext cx="2592388" cy="1511300"/>
          </a:xfrm>
          <a:prstGeom prst="rect">
            <a:avLst/>
          </a:prstGeom>
          <a:noFill/>
          <a:ln w="25400">
            <a:solidFill>
              <a:srgbClr val="0070C0"/>
            </a:solidFill>
            <a:miter lim="800000"/>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87043" name="矩形 24986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87044" name="对象 249861"/>
          <p:cNvGraphicFramePr/>
          <p:nvPr/>
        </p:nvGraphicFramePr>
        <p:xfrm>
          <a:off x="5795963" y="1123950"/>
          <a:ext cx="2305050" cy="925513"/>
        </p:xfrm>
        <a:graphic>
          <a:graphicData uri="http://schemas.openxmlformats.org/presentationml/2006/ole">
            <mc:AlternateContent xmlns:mc="http://schemas.openxmlformats.org/markup-compatibility/2006">
              <mc:Choice xmlns:v="urn:schemas-microsoft-com:vml" Requires="v">
                <p:oleObj spid="_x0000_s30745" name="" r:id="rId1" imgW="1066800" imgH="431800" progId="Equation.DSMT4">
                  <p:embed/>
                </p:oleObj>
              </mc:Choice>
              <mc:Fallback>
                <p:oleObj name="" r:id="rId1" imgW="1066800" imgH="431800" progId="Equation.DSMT4">
                  <p:embed/>
                  <p:pic>
                    <p:nvPicPr>
                      <p:cNvPr id="0" name="对象 24986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963" y="1123950"/>
                        <a:ext cx="2305050"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7045" name="矩形 24986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87046" name="对象 249863"/>
          <p:cNvGraphicFramePr/>
          <p:nvPr/>
        </p:nvGraphicFramePr>
        <p:xfrm>
          <a:off x="6156325" y="3213100"/>
          <a:ext cx="1368425" cy="504825"/>
        </p:xfrm>
        <a:graphic>
          <a:graphicData uri="http://schemas.openxmlformats.org/presentationml/2006/ole">
            <mc:AlternateContent xmlns:mc="http://schemas.openxmlformats.org/markup-compatibility/2006">
              <mc:Choice xmlns:v="urn:schemas-microsoft-com:vml" Requires="v">
                <p:oleObj spid="_x0000_s30746" name="" r:id="rId3" imgW="698500" imgH="254000" progId="Equation.DSMT4">
                  <p:embed/>
                </p:oleObj>
              </mc:Choice>
              <mc:Fallback>
                <p:oleObj name="" r:id="rId3" imgW="698500" imgH="254000" progId="Equation.DSMT4">
                  <p:embed/>
                  <p:pic>
                    <p:nvPicPr>
                      <p:cNvPr id="0" name="对象 24986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325" y="3213100"/>
                        <a:ext cx="13684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7049" name="对象 249867"/>
          <p:cNvGraphicFramePr/>
          <p:nvPr/>
        </p:nvGraphicFramePr>
        <p:xfrm>
          <a:off x="5435600" y="3213100"/>
          <a:ext cx="2879725" cy="2501900"/>
        </p:xfrm>
        <a:graphic>
          <a:graphicData uri="http://schemas.openxmlformats.org/presentationml/2006/ole">
            <mc:AlternateContent xmlns:mc="http://schemas.openxmlformats.org/markup-compatibility/2006">
              <mc:Choice xmlns:v="urn:schemas-microsoft-com:vml" Requires="v">
                <p:oleObj spid="_x0000_s30747" name="" r:id="rId5" imgW="2096135" imgH="1819910" progId="Visio.Drawing.11">
                  <p:embed/>
                </p:oleObj>
              </mc:Choice>
              <mc:Fallback>
                <p:oleObj name="" r:id="rId5" imgW="2096135" imgH="1819910" progId="Visio.Drawing.11">
                  <p:embed/>
                  <p:pic>
                    <p:nvPicPr>
                      <p:cNvPr id="0" name="对象 24986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5600" y="3213100"/>
                        <a:ext cx="2879725"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2"/>
          <p:cNvSpPr/>
          <p:nvPr/>
        </p:nvSpPr>
        <p:spPr>
          <a:xfrm>
            <a:off x="5651500" y="185796"/>
            <a:ext cx="2845076" cy="892552"/>
          </a:xfrm>
          <a:prstGeom prst="rect">
            <a:avLst/>
          </a:prstGeom>
        </p:spPr>
        <p:txBody>
          <a:bodyPr wrap="square">
            <a:spAutoFit/>
          </a:bodyPr>
          <a:lstStyle/>
          <a:p>
            <a:r>
              <a:rPr lang="zh-CN" altLang="en-US" sz="2800" b="1" dirty="0"/>
              <a:t>一、</a:t>
            </a:r>
            <a:r>
              <a:rPr lang="zh-CN" altLang="en-US" sz="2800" b="1" dirty="0" smtClean="0"/>
              <a:t>定</a:t>
            </a:r>
            <a:r>
              <a:rPr lang="zh-CN" altLang="en-US" sz="2800" b="1" i="1" dirty="0" smtClean="0">
                <a:latin typeface="Times New Roman" panose="02020603050405020304" pitchFamily="18" charset="0"/>
                <a:cs typeface="Times New Roman" panose="02020603050405020304" pitchFamily="18" charset="0"/>
              </a:rPr>
              <a:t>d</a:t>
            </a:r>
            <a:r>
              <a:rPr lang="zh-CN" altLang="en-US" sz="2800" b="1" dirty="0" smtClean="0"/>
              <a:t>线</a:t>
            </a:r>
            <a:r>
              <a:rPr lang="zh-CN" altLang="en-US" sz="2800" b="1" dirty="0"/>
              <a:t>簇</a:t>
            </a:r>
            <a:endParaRPr lang="zh-CN" altLang="en-US" sz="2800" b="1" dirty="0"/>
          </a:p>
          <a:p>
            <a:r>
              <a:rPr lang="zh-CN" altLang="en-US" sz="2400" b="1" dirty="0">
                <a:solidFill>
                  <a:srgbClr val="FF0000"/>
                </a:solidFill>
              </a:rPr>
              <a:t>是一组垂直线 </a:t>
            </a:r>
            <a:endParaRPr lang="zh-CN" altLang="en-US" sz="2400" b="1" dirty="0">
              <a:solidFill>
                <a:srgbClr val="FF0000"/>
              </a:solidFill>
            </a:endParaRPr>
          </a:p>
        </p:txBody>
      </p:sp>
      <p:sp>
        <p:nvSpPr>
          <p:cNvPr id="5" name="矩形 4"/>
          <p:cNvSpPr/>
          <p:nvPr/>
        </p:nvSpPr>
        <p:spPr>
          <a:xfrm>
            <a:off x="5705206" y="2116363"/>
            <a:ext cx="2484976" cy="461665"/>
          </a:xfrm>
          <a:prstGeom prst="rect">
            <a:avLst/>
          </a:prstGeom>
        </p:spPr>
        <p:txBody>
          <a:bodyPr wrap="none">
            <a:spAutoFit/>
          </a:bodyPr>
          <a:lstStyle/>
          <a:p>
            <a:r>
              <a:rPr lang="zh-CN" altLang="en-US" sz="2400" b="1" dirty="0">
                <a:solidFill>
                  <a:srgbClr val="FF0000"/>
                </a:solidFill>
              </a:rPr>
              <a:t>定</a:t>
            </a:r>
            <a:r>
              <a:rPr lang="zh-CN" altLang="en-US" sz="2400" b="1" i="1" dirty="0">
                <a:solidFill>
                  <a:srgbClr val="FF0000"/>
                </a:solidFill>
                <a:latin typeface="Times New Roman" panose="02020603050405020304" pitchFamily="18" charset="0"/>
                <a:cs typeface="Times New Roman" panose="02020603050405020304" pitchFamily="18" charset="0"/>
              </a:rPr>
              <a:t>d</a:t>
            </a:r>
            <a:r>
              <a:rPr lang="zh-CN" altLang="en-US" sz="2400" b="1" dirty="0" smtClean="0">
                <a:solidFill>
                  <a:srgbClr val="FF0000"/>
                </a:solidFill>
              </a:rPr>
              <a:t>线</a:t>
            </a:r>
            <a:r>
              <a:rPr lang="zh-CN" altLang="en-US" sz="2400" b="1" dirty="0">
                <a:solidFill>
                  <a:srgbClr val="FF0000"/>
                </a:solidFill>
              </a:rPr>
              <a:t>也</a:t>
            </a:r>
            <a:r>
              <a:rPr lang="zh-CN" altLang="en-US" sz="2400" b="1" dirty="0" smtClean="0">
                <a:solidFill>
                  <a:srgbClr val="FF0000"/>
                </a:solidFill>
              </a:rPr>
              <a:t>是定</a:t>
            </a:r>
            <a:r>
              <a:rPr lang="en-US" altLang="zh-CN" sz="2400" b="1" i="1" dirty="0" err="1" smtClean="0">
                <a:solidFill>
                  <a:srgbClr val="FF0000"/>
                </a:solidFill>
                <a:latin typeface="Times New Roman" panose="02020603050405020304" pitchFamily="18" charset="0"/>
                <a:cs typeface="Times New Roman" panose="02020603050405020304" pitchFamily="18" charset="0"/>
              </a:rPr>
              <a:t>p</a:t>
            </a:r>
            <a:r>
              <a:rPr lang="en-US" altLang="zh-CN" sz="2400" b="1" baseline="-25000" dirty="0" err="1" smtClean="0">
                <a:solidFill>
                  <a:srgbClr val="FF0000"/>
                </a:solidFill>
                <a:latin typeface="Times New Roman" panose="02020603050405020304" pitchFamily="18" charset="0"/>
                <a:cs typeface="Times New Roman" panose="02020603050405020304" pitchFamily="18" charset="0"/>
              </a:rPr>
              <a:t>v</a:t>
            </a:r>
            <a:r>
              <a:rPr lang="zh-CN" altLang="en-US" sz="2400" b="1" dirty="0" smtClean="0">
                <a:solidFill>
                  <a:srgbClr val="FF0000"/>
                </a:solidFill>
              </a:rPr>
              <a:t>线</a:t>
            </a:r>
            <a:endParaRPr lang="zh-CN" altLang="en-US" sz="2400" dirty="0">
              <a:solidFill>
                <a:srgbClr val="FF0000"/>
              </a:solidFill>
            </a:endParaRPr>
          </a:p>
        </p:txBody>
      </p:sp>
      <p:sp>
        <p:nvSpPr>
          <p:cNvPr id="17" name="矩形 16"/>
          <p:cNvSpPr/>
          <p:nvPr/>
        </p:nvSpPr>
        <p:spPr>
          <a:xfrm>
            <a:off x="5627861" y="5844530"/>
            <a:ext cx="2393604" cy="461665"/>
          </a:xfrm>
          <a:prstGeom prst="rect">
            <a:avLst/>
          </a:prstGeom>
        </p:spPr>
        <p:txBody>
          <a:bodyPr wrap="none">
            <a:spAutoFit/>
          </a:bodyPr>
          <a:lstStyle/>
          <a:p>
            <a:r>
              <a:rPr lang="zh-CN" altLang="en-US" sz="2400" b="1" dirty="0">
                <a:solidFill>
                  <a:srgbClr val="FF0000"/>
                </a:solidFill>
              </a:rPr>
              <a:t>定</a:t>
            </a:r>
            <a:r>
              <a:rPr lang="zh-CN" altLang="en-US" sz="2400" b="1" i="1" dirty="0">
                <a:solidFill>
                  <a:srgbClr val="FF0000"/>
                </a:solidFill>
                <a:latin typeface="Times New Roman" panose="02020603050405020304" pitchFamily="18" charset="0"/>
                <a:cs typeface="Times New Roman" panose="02020603050405020304" pitchFamily="18" charset="0"/>
              </a:rPr>
              <a:t>d</a:t>
            </a:r>
            <a:r>
              <a:rPr lang="zh-CN" altLang="en-US" sz="2400" b="1" dirty="0" smtClean="0">
                <a:solidFill>
                  <a:srgbClr val="FF0000"/>
                </a:solidFill>
              </a:rPr>
              <a:t>线</a:t>
            </a:r>
            <a:r>
              <a:rPr lang="zh-CN" altLang="en-US" sz="2400" b="1" dirty="0">
                <a:solidFill>
                  <a:srgbClr val="FF0000"/>
                </a:solidFill>
              </a:rPr>
              <a:t>也</a:t>
            </a:r>
            <a:r>
              <a:rPr lang="zh-CN" altLang="en-US" sz="2400" b="1" dirty="0" smtClean="0">
                <a:solidFill>
                  <a:srgbClr val="FF0000"/>
                </a:solidFill>
              </a:rPr>
              <a:t>是定</a:t>
            </a:r>
            <a:r>
              <a:rPr lang="en-US" altLang="zh-CN" sz="2400" b="1" i="1" dirty="0" smtClean="0">
                <a:solidFill>
                  <a:srgbClr val="FF0000"/>
                </a:solidFill>
                <a:latin typeface="Times New Roman" panose="02020603050405020304" pitchFamily="18" charset="0"/>
                <a:cs typeface="Times New Roman" panose="02020603050405020304" pitchFamily="18" charset="0"/>
              </a:rPr>
              <a:t>t</a:t>
            </a:r>
            <a:r>
              <a:rPr lang="en-US" altLang="zh-CN" sz="2400" b="1" baseline="-25000" dirty="0" smtClean="0">
                <a:solidFill>
                  <a:srgbClr val="FF0000"/>
                </a:solidFill>
                <a:latin typeface="Times New Roman" panose="02020603050405020304" pitchFamily="18" charset="0"/>
                <a:cs typeface="Times New Roman" panose="02020603050405020304" pitchFamily="18" charset="0"/>
              </a:rPr>
              <a:t>d</a:t>
            </a:r>
            <a:r>
              <a:rPr lang="zh-CN" altLang="en-US" sz="2400" b="1" dirty="0" smtClean="0">
                <a:solidFill>
                  <a:srgbClr val="FF0000"/>
                </a:solidFill>
              </a:rPr>
              <a:t>线</a:t>
            </a:r>
            <a:endParaRPr lang="zh-CN" altLang="en-US" sz="2400" dirty="0">
              <a:solidFill>
                <a:srgbClr val="FF0000"/>
              </a:solidFill>
            </a:endParaRPr>
          </a:p>
        </p:txBody>
      </p:sp>
      <p:pic>
        <p:nvPicPr>
          <p:cNvPr id="14" name="图片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5506" y="632072"/>
            <a:ext cx="4584589" cy="54015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076825" y="1895979"/>
            <a:ext cx="3625988" cy="1938992"/>
          </a:xfrm>
          <a:prstGeom prst="rect">
            <a:avLst/>
          </a:prstGeom>
        </p:spPr>
        <p:txBody>
          <a:bodyPr wrap="square">
            <a:spAutoFit/>
          </a:bodyPr>
          <a:lstStyle/>
          <a:p>
            <a:r>
              <a:rPr lang="zh-CN" altLang="en-US" sz="2400" b="1" dirty="0" smtClean="0">
                <a:solidFill>
                  <a:prstClr val="black"/>
                </a:solidFill>
                <a:latin typeface="Times New Roman" panose="02020603050405020304" pitchFamily="18" charset="0"/>
                <a:cs typeface="Times New Roman" panose="02020603050405020304" pitchFamily="18" charset="0"/>
              </a:rPr>
              <a:t>为</a:t>
            </a:r>
            <a:r>
              <a:rPr lang="zh-CN" altLang="en-US" sz="2400" b="1" dirty="0">
                <a:solidFill>
                  <a:prstClr val="black"/>
                </a:solidFill>
                <a:latin typeface="Times New Roman" panose="02020603050405020304" pitchFamily="18" charset="0"/>
                <a:cs typeface="Times New Roman" panose="02020603050405020304" pitchFamily="18" charset="0"/>
              </a:rPr>
              <a:t>使各曲线簇不致过于密集，提高读数准确度，</a:t>
            </a:r>
            <a:r>
              <a:rPr lang="zh-CN" altLang="en-US" sz="2400" b="1" dirty="0">
                <a:solidFill>
                  <a:srgbClr val="FF0000"/>
                </a:solidFill>
                <a:latin typeface="Times New Roman" panose="02020603050405020304" pitchFamily="18" charset="0"/>
                <a:cs typeface="Times New Roman" panose="02020603050405020304" pitchFamily="18" charset="0"/>
              </a:rPr>
              <a:t>定</a:t>
            </a:r>
            <a:r>
              <a:rPr lang="en-US" altLang="zh-CN" sz="2400" b="1" i="1" dirty="0">
                <a:solidFill>
                  <a:srgbClr val="FF0000"/>
                </a:solidFill>
                <a:latin typeface="Times New Roman" panose="02020603050405020304" pitchFamily="18" charset="0"/>
                <a:cs typeface="Times New Roman" panose="02020603050405020304" pitchFamily="18" charset="0"/>
              </a:rPr>
              <a:t>h</a:t>
            </a:r>
            <a:r>
              <a:rPr lang="zh-CN" altLang="en-US" sz="2400" b="1" dirty="0">
                <a:solidFill>
                  <a:srgbClr val="FF0000"/>
                </a:solidFill>
                <a:latin typeface="Times New Roman" panose="02020603050405020304" pitchFamily="18" charset="0"/>
                <a:cs typeface="Times New Roman" panose="02020603050405020304" pitchFamily="18" charset="0"/>
              </a:rPr>
              <a:t>线做成一组与水平线夹角为</a:t>
            </a:r>
            <a:r>
              <a:rPr lang="en-US" altLang="zh-CN" sz="2400" b="1" dirty="0">
                <a:solidFill>
                  <a:srgbClr val="FF0000"/>
                </a:solidFill>
                <a:latin typeface="Times New Roman" panose="02020603050405020304" pitchFamily="18" charset="0"/>
                <a:cs typeface="Times New Roman" panose="02020603050405020304" pitchFamily="18" charset="0"/>
              </a:rPr>
              <a:t>135°</a:t>
            </a:r>
            <a:r>
              <a:rPr lang="zh-CN" altLang="en-US" sz="2400" b="1" dirty="0">
                <a:solidFill>
                  <a:srgbClr val="FF0000"/>
                </a:solidFill>
                <a:latin typeface="Times New Roman" panose="02020603050405020304" pitchFamily="18" charset="0"/>
                <a:cs typeface="Times New Roman" panose="02020603050405020304" pitchFamily="18" charset="0"/>
              </a:rPr>
              <a:t>的平行直线 </a:t>
            </a:r>
            <a:endParaRPr lang="zh-CN" altLang="en-US" sz="2400" b="1" dirty="0">
              <a:solidFill>
                <a:srgbClr val="FF0000"/>
              </a:solidFill>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cs typeface="Times New Roman" panose="02020603050405020304" pitchFamily="18" charset="0"/>
            </a:endParaRPr>
          </a:p>
        </p:txBody>
      </p:sp>
      <p:sp>
        <p:nvSpPr>
          <p:cNvPr id="10" name="矩形 9"/>
          <p:cNvSpPr/>
          <p:nvPr/>
        </p:nvSpPr>
        <p:spPr>
          <a:xfrm>
            <a:off x="5174422" y="742387"/>
            <a:ext cx="2845076" cy="523220"/>
          </a:xfrm>
          <a:prstGeom prst="rect">
            <a:avLst/>
          </a:prstGeom>
        </p:spPr>
        <p:txBody>
          <a:bodyPr wrap="square">
            <a:spAutoFit/>
          </a:bodyPr>
          <a:lstStyle/>
          <a:p>
            <a:r>
              <a:rPr lang="zh-CN" altLang="en-US" sz="2800" b="1" dirty="0" smtClean="0"/>
              <a:t>二、定</a:t>
            </a:r>
            <a:r>
              <a:rPr lang="en-US" altLang="zh-CN" sz="2800" b="1" i="1" dirty="0" smtClean="0">
                <a:latin typeface="Times New Roman" panose="02020603050405020304" pitchFamily="18" charset="0"/>
                <a:cs typeface="Times New Roman" panose="02020603050405020304" pitchFamily="18" charset="0"/>
              </a:rPr>
              <a:t>h</a:t>
            </a:r>
            <a:r>
              <a:rPr lang="zh-CN" altLang="en-US" sz="2800" b="1" dirty="0" smtClean="0"/>
              <a:t>线簇</a:t>
            </a:r>
            <a:endParaRPr lang="zh-CN" altLang="en-US" sz="2800" b="1" dirty="0"/>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1757" y="642099"/>
            <a:ext cx="4584589" cy="54015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矩形 25190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89092" name="对象 251907"/>
          <p:cNvGraphicFramePr/>
          <p:nvPr/>
        </p:nvGraphicFramePr>
        <p:xfrm>
          <a:off x="5571987" y="246322"/>
          <a:ext cx="2592388" cy="514350"/>
        </p:xfrm>
        <a:graphic>
          <a:graphicData uri="http://schemas.openxmlformats.org/presentationml/2006/ole">
            <mc:AlternateContent xmlns:mc="http://schemas.openxmlformats.org/markup-compatibility/2006">
              <mc:Choice xmlns:v="urn:schemas-microsoft-com:vml" Requires="v">
                <p:oleObj spid="_x0000_s32814" name="" r:id="rId1" imgW="1295400" imgH="254000" progId="Equation.DSMT4">
                  <p:embed/>
                </p:oleObj>
              </mc:Choice>
              <mc:Fallback>
                <p:oleObj name="" r:id="rId1" imgW="1295400" imgH="254000" progId="Equation.DSMT4">
                  <p:embed/>
                  <p:pic>
                    <p:nvPicPr>
                      <p:cNvPr id="0" name="对象 25190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1987" y="246322"/>
                        <a:ext cx="2592388"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4" name="对象 251910"/>
          <p:cNvGraphicFramePr/>
          <p:nvPr/>
        </p:nvGraphicFramePr>
        <p:xfrm>
          <a:off x="6621497" y="777409"/>
          <a:ext cx="1008062" cy="538163"/>
        </p:xfrm>
        <a:graphic>
          <a:graphicData uri="http://schemas.openxmlformats.org/presentationml/2006/ole">
            <mc:AlternateContent xmlns:mc="http://schemas.openxmlformats.org/markup-compatibility/2006">
              <mc:Choice xmlns:v="urn:schemas-microsoft-com:vml" Requires="v">
                <p:oleObj spid="_x0000_s32815" name="" r:id="rId3" imgW="431800" imgH="228600" progId="Equation.DSMT4">
                  <p:embed/>
                </p:oleObj>
              </mc:Choice>
              <mc:Fallback>
                <p:oleObj name="" r:id="rId3" imgW="431800" imgH="228600" progId="Equation.DSMT4">
                  <p:embed/>
                  <p:pic>
                    <p:nvPicPr>
                      <p:cNvPr id="0" name="对象 2519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1497" y="777409"/>
                        <a:ext cx="1008062"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6" name="对象 251912"/>
          <p:cNvGraphicFramePr/>
          <p:nvPr/>
        </p:nvGraphicFramePr>
        <p:xfrm>
          <a:off x="4765675" y="2062231"/>
          <a:ext cx="3167063" cy="2744788"/>
        </p:xfrm>
        <a:graphic>
          <a:graphicData uri="http://schemas.openxmlformats.org/presentationml/2006/ole">
            <mc:AlternateContent xmlns:mc="http://schemas.openxmlformats.org/markup-compatibility/2006">
              <mc:Choice xmlns:v="urn:schemas-microsoft-com:vml" Requires="v">
                <p:oleObj spid="_x0000_s32816" name="Visio" r:id="rId5" imgW="1544955" imgH="1341755" progId="Visio.Drawing.11">
                  <p:embed/>
                </p:oleObj>
              </mc:Choice>
              <mc:Fallback>
                <p:oleObj name="Visio" r:id="rId5" imgW="1544955" imgH="1341755" progId="Visio.Drawing.11">
                  <p:embed/>
                  <p:pic>
                    <p:nvPicPr>
                      <p:cNvPr id="0" name="对象 251912"/>
                      <p:cNvPicPr>
                        <a:picLocks noChangeArrowheads="1"/>
                      </p:cNvPicPr>
                      <p:nvPr/>
                    </p:nvPicPr>
                    <p:blipFill>
                      <a:blip r:embed="rId6"/>
                      <a:srcRect/>
                      <a:stretch>
                        <a:fillRect/>
                      </a:stretch>
                    </p:blipFill>
                    <p:spPr bwMode="auto">
                      <a:xfrm>
                        <a:off x="4765675" y="2062231"/>
                        <a:ext cx="3167063" cy="274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7" name="对象 251914"/>
          <p:cNvGraphicFramePr/>
          <p:nvPr/>
        </p:nvGraphicFramePr>
        <p:xfrm>
          <a:off x="5901566" y="1714008"/>
          <a:ext cx="1223962" cy="465138"/>
        </p:xfrm>
        <a:graphic>
          <a:graphicData uri="http://schemas.openxmlformats.org/presentationml/2006/ole">
            <mc:AlternateContent xmlns:mc="http://schemas.openxmlformats.org/markup-compatibility/2006">
              <mc:Choice xmlns:v="urn:schemas-microsoft-com:vml" Requires="v">
                <p:oleObj spid="_x0000_s32817" name="" r:id="rId7" imgW="672465" imgH="254000" progId="Equation.DSMT4">
                  <p:embed/>
                </p:oleObj>
              </mc:Choice>
              <mc:Fallback>
                <p:oleObj name="" r:id="rId7" imgW="672465" imgH="254000" progId="Equation.DSMT4">
                  <p:embed/>
                  <p:pic>
                    <p:nvPicPr>
                      <p:cNvPr id="0" name="对象 25191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01566" y="1714008"/>
                        <a:ext cx="122396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9099" name="对象 251916"/>
          <p:cNvGraphicFramePr>
            <a:graphicFrameLocks noChangeAspect="1"/>
          </p:cNvGraphicFramePr>
          <p:nvPr/>
        </p:nvGraphicFramePr>
        <p:xfrm>
          <a:off x="5571986" y="5281405"/>
          <a:ext cx="2316480" cy="609600"/>
        </p:xfrm>
        <a:graphic>
          <a:graphicData uri="http://schemas.openxmlformats.org/presentationml/2006/ole">
            <mc:AlternateContent xmlns:mc="http://schemas.openxmlformats.org/markup-compatibility/2006">
              <mc:Choice xmlns:v="urn:schemas-microsoft-com:vml" Requires="v">
                <p:oleObj spid="_x0000_s32818" name="" r:id="rId9" imgW="965200" imgH="254000" progId="Equation.DSMT4">
                  <p:embed/>
                </p:oleObj>
              </mc:Choice>
              <mc:Fallback>
                <p:oleObj name="" r:id="rId9" imgW="965200" imgH="254000" progId="Equation.DSMT4">
                  <p:embed/>
                  <p:pic>
                    <p:nvPicPr>
                      <p:cNvPr id="0" name="对象 25191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71986" y="5281405"/>
                        <a:ext cx="231648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9" name="对象 251916"/>
          <p:cNvGraphicFramePr>
            <a:graphicFrameLocks noChangeAspect="1"/>
          </p:cNvGraphicFramePr>
          <p:nvPr/>
        </p:nvGraphicFramePr>
        <p:xfrm>
          <a:off x="5649555" y="4738557"/>
          <a:ext cx="1005696" cy="548640"/>
        </p:xfrm>
        <a:graphic>
          <a:graphicData uri="http://schemas.openxmlformats.org/presentationml/2006/ole">
            <mc:AlternateContent xmlns:mc="http://schemas.openxmlformats.org/markup-compatibility/2006">
              <mc:Choice xmlns:v="urn:schemas-microsoft-com:vml" Requires="v">
                <p:oleObj spid="_x0000_s32819" name="Equation" r:id="rId11" imgW="10058400" imgH="5486400" progId="Equation.DSMT4">
                  <p:embed/>
                </p:oleObj>
              </mc:Choice>
              <mc:Fallback>
                <p:oleObj name="Equation" r:id="rId11" imgW="10058400" imgH="5486400" progId="Equation.DSMT4">
                  <p:embed/>
                  <p:pic>
                    <p:nvPicPr>
                      <p:cNvPr id="0" name="对象 251916"/>
                      <p:cNvPicPr>
                        <a:picLocks noChangeArrowheads="1"/>
                      </p:cNvPicPr>
                      <p:nvPr/>
                    </p:nvPicPr>
                    <p:blipFill>
                      <a:blip r:embed="rId12"/>
                      <a:srcRect/>
                      <a:stretch>
                        <a:fillRect/>
                      </a:stretch>
                    </p:blipFill>
                    <p:spPr bwMode="auto">
                      <a:xfrm>
                        <a:off x="5649555" y="4738557"/>
                        <a:ext cx="1005696"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3" name="矩形 22"/>
          <p:cNvSpPr/>
          <p:nvPr/>
        </p:nvSpPr>
        <p:spPr>
          <a:xfrm>
            <a:off x="4682376" y="4738557"/>
            <a:ext cx="1112805" cy="461665"/>
          </a:xfrm>
          <a:prstGeom prst="rect">
            <a:avLst/>
          </a:prstGeom>
        </p:spPr>
        <p:txBody>
          <a:bodyPr wrap="none">
            <a:spAutoFit/>
          </a:bodyPr>
          <a:lstStyle/>
          <a:p>
            <a:r>
              <a:rPr lang="zh-CN" altLang="en-US" sz="2400" b="1" dirty="0" smtClean="0"/>
              <a:t>又因为</a:t>
            </a:r>
            <a:endParaRPr lang="zh-CN" altLang="en-US" sz="2400" dirty="0"/>
          </a:p>
        </p:txBody>
      </p:sp>
      <p:pic>
        <p:nvPicPr>
          <p:cNvPr id="13" name="图片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81086" y="170670"/>
            <a:ext cx="4584589" cy="5401524"/>
          </a:xfrm>
          <a:prstGeom prst="rect">
            <a:avLst/>
          </a:prstGeom>
        </p:spPr>
      </p:pic>
      <p:sp>
        <p:nvSpPr>
          <p:cNvPr id="2" name="上箭头 1"/>
          <p:cNvSpPr/>
          <p:nvPr/>
        </p:nvSpPr>
        <p:spPr>
          <a:xfrm>
            <a:off x="6349206" y="2140303"/>
            <a:ext cx="178904" cy="3055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右箭头 2"/>
          <p:cNvSpPr/>
          <p:nvPr/>
        </p:nvSpPr>
        <p:spPr>
          <a:xfrm>
            <a:off x="5845175" y="922529"/>
            <a:ext cx="578920" cy="2198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146321" y="6010413"/>
            <a:ext cx="4610558" cy="461665"/>
          </a:xfrm>
          <a:prstGeom prst="rect">
            <a:avLst/>
          </a:prstGeom>
        </p:spPr>
        <p:txBody>
          <a:bodyPr wrap="none">
            <a:spAutoFit/>
          </a:bodyPr>
          <a:lstStyle/>
          <a:p>
            <a:r>
              <a:rPr lang="zh-CN" altLang="en-US" sz="2400" b="1" dirty="0" smtClean="0">
                <a:solidFill>
                  <a:srgbClr val="FF0000"/>
                </a:solidFill>
              </a:rPr>
              <a:t>定</a:t>
            </a:r>
            <a:r>
              <a:rPr lang="en-US" altLang="zh-CN" sz="2400" b="1" i="1" dirty="0" smtClean="0">
                <a:solidFill>
                  <a:srgbClr val="FF0000"/>
                </a:solidFill>
                <a:latin typeface="Times New Roman" panose="02020603050405020304" pitchFamily="18" charset="0"/>
                <a:cs typeface="Times New Roman" panose="02020603050405020304" pitchFamily="18" charset="0"/>
              </a:rPr>
              <a:t>h</a:t>
            </a:r>
            <a:r>
              <a:rPr lang="zh-CN" altLang="en-US" sz="2400" b="1" dirty="0" smtClean="0">
                <a:solidFill>
                  <a:srgbClr val="FF0000"/>
                </a:solidFill>
              </a:rPr>
              <a:t>线近似为定</a:t>
            </a:r>
            <a:r>
              <a:rPr lang="en-US" altLang="zh-CN" sz="2400" b="1" i="1" dirty="0" err="1" smtClean="0">
                <a:solidFill>
                  <a:srgbClr val="FF0000"/>
                </a:solidFill>
                <a:latin typeface="Times New Roman" panose="02020603050405020304" pitchFamily="18" charset="0"/>
                <a:cs typeface="Times New Roman" panose="02020603050405020304" pitchFamily="18" charset="0"/>
              </a:rPr>
              <a:t>t</a:t>
            </a:r>
            <a:r>
              <a:rPr lang="en-US" altLang="zh-CN" sz="2400" b="1" baseline="-25000" dirty="0" err="1" smtClean="0">
                <a:solidFill>
                  <a:srgbClr val="FF0000"/>
                </a:solidFill>
                <a:latin typeface="Times New Roman" panose="02020603050405020304" pitchFamily="18" charset="0"/>
                <a:cs typeface="Times New Roman" panose="02020603050405020304" pitchFamily="18" charset="0"/>
              </a:rPr>
              <a:t>w</a:t>
            </a:r>
            <a:r>
              <a:rPr lang="zh-CN" altLang="en-US" sz="2400" b="1" dirty="0" smtClean="0">
                <a:solidFill>
                  <a:srgbClr val="FF0000"/>
                </a:solidFill>
              </a:rPr>
              <a:t>（湿球温度）线</a:t>
            </a:r>
            <a:endParaRPr lang="zh-CN" altLang="en-US" sz="2400" dirty="0">
              <a:solidFill>
                <a:srgbClr val="FF0000"/>
              </a:solidFill>
            </a:endParaRPr>
          </a:p>
        </p:txBody>
      </p:sp>
      <p:sp>
        <p:nvSpPr>
          <p:cNvPr id="4" name="矩形 3"/>
          <p:cNvSpPr/>
          <p:nvPr/>
        </p:nvSpPr>
        <p:spPr>
          <a:xfrm>
            <a:off x="5090974" y="5332110"/>
            <a:ext cx="494046" cy="461665"/>
          </a:xfrm>
          <a:prstGeom prst="rect">
            <a:avLst/>
          </a:prstGeom>
        </p:spPr>
        <p:txBody>
          <a:bodyPr wrap="none">
            <a:spAutoFit/>
          </a:bodyPr>
          <a:lstStyle/>
          <a:p>
            <a:r>
              <a:rPr lang="zh-CN" altLang="en-US" sz="2400" b="1" dirty="0" smtClean="0"/>
              <a:t>得</a:t>
            </a:r>
            <a:endParaRPr lang="zh-CN" altLang="en-US" sz="2400" dirty="0"/>
          </a:p>
        </p:txBody>
      </p:sp>
      <p:sp>
        <p:nvSpPr>
          <p:cNvPr id="5" name="矩形 4"/>
          <p:cNvSpPr/>
          <p:nvPr/>
        </p:nvSpPr>
        <p:spPr>
          <a:xfrm>
            <a:off x="7724989" y="829559"/>
            <a:ext cx="415498" cy="369332"/>
          </a:xfrm>
          <a:prstGeom prst="rect">
            <a:avLst/>
          </a:prstGeom>
        </p:spPr>
        <p:txBody>
          <a:bodyPr wrap="none">
            <a:spAutoFit/>
          </a:bodyPr>
          <a:lstStyle/>
          <a:p>
            <a:r>
              <a:rPr lang="zh-CN" altLang="en-US" b="1" dirty="0" smtClean="0">
                <a:latin typeface="微软雅黑" panose="020B0503020204020204" charset="-122"/>
                <a:ea typeface="微软雅黑" panose="020B0503020204020204" charset="-122"/>
              </a:rPr>
              <a:t>①</a:t>
            </a:r>
            <a:endParaRPr lang="zh-CN" altLang="en-US" dirty="0"/>
          </a:p>
        </p:txBody>
      </p:sp>
      <p:sp>
        <p:nvSpPr>
          <p:cNvPr id="20" name="矩形 19"/>
          <p:cNvSpPr/>
          <p:nvPr/>
        </p:nvSpPr>
        <p:spPr>
          <a:xfrm>
            <a:off x="7181966" y="1762637"/>
            <a:ext cx="415498" cy="369332"/>
          </a:xfrm>
          <a:prstGeom prst="rect">
            <a:avLst/>
          </a:prstGeom>
        </p:spPr>
        <p:txBody>
          <a:bodyPr wrap="none">
            <a:spAutoFit/>
          </a:bodyPr>
          <a:lstStyle/>
          <a:p>
            <a:r>
              <a:rPr lang="zh-CN" altLang="en-US" b="1" dirty="0" smtClean="0">
                <a:latin typeface="微软雅黑" panose="020B0503020204020204" charset="-122"/>
                <a:ea typeface="微软雅黑" panose="020B0503020204020204" charset="-122"/>
              </a:rPr>
              <a:t>②</a:t>
            </a:r>
            <a:endParaRPr lang="zh-CN" altLang="en-US" dirty="0"/>
          </a:p>
        </p:txBody>
      </p:sp>
      <p:sp>
        <p:nvSpPr>
          <p:cNvPr id="21" name="矩形 20"/>
          <p:cNvSpPr/>
          <p:nvPr/>
        </p:nvSpPr>
        <p:spPr>
          <a:xfrm>
            <a:off x="6572101" y="4763211"/>
            <a:ext cx="2037737" cy="461665"/>
          </a:xfrm>
          <a:prstGeom prst="rect">
            <a:avLst/>
          </a:prstGeom>
        </p:spPr>
        <p:txBody>
          <a:bodyPr wrap="none">
            <a:spAutoFit/>
          </a:bodyPr>
          <a:lstStyle/>
          <a:p>
            <a:r>
              <a:rPr lang="zh-CN" altLang="en-US" sz="2400" b="1" dirty="0" smtClean="0"/>
              <a:t>，并综合</a:t>
            </a:r>
            <a:r>
              <a:rPr lang="zh-CN" altLang="en-US" sz="2400" b="1" dirty="0" smtClean="0">
                <a:latin typeface="微软雅黑" panose="020B0503020204020204" charset="-122"/>
                <a:ea typeface="微软雅黑" panose="020B0503020204020204" charset="-122"/>
              </a:rPr>
              <a:t>①②</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矩形 25293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90115" name="对象 252932"/>
          <p:cNvGraphicFramePr/>
          <p:nvPr/>
        </p:nvGraphicFramePr>
        <p:xfrm>
          <a:off x="4932363" y="1484313"/>
          <a:ext cx="3810000" cy="1022350"/>
        </p:xfrm>
        <a:graphic>
          <a:graphicData uri="http://schemas.openxmlformats.org/presentationml/2006/ole">
            <mc:AlternateContent xmlns:mc="http://schemas.openxmlformats.org/markup-compatibility/2006">
              <mc:Choice xmlns:v="urn:schemas-microsoft-com:vml" Requires="v">
                <p:oleObj spid="_x0000_s33804" name="" r:id="rId1" imgW="1917700" imgH="508000" progId="Equation.DSMT4">
                  <p:embed/>
                </p:oleObj>
              </mc:Choice>
              <mc:Fallback>
                <p:oleObj name="" r:id="rId1" imgW="1917700" imgH="508000" progId="Equation.DSMT4">
                  <p:embed/>
                  <p:pic>
                    <p:nvPicPr>
                      <p:cNvPr id="0" name="对象 25293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1484313"/>
                        <a:ext cx="38100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 name="矩形 9"/>
          <p:cNvSpPr/>
          <p:nvPr/>
        </p:nvSpPr>
        <p:spPr>
          <a:xfrm>
            <a:off x="3292613" y="296864"/>
            <a:ext cx="4850848" cy="523220"/>
          </a:xfrm>
          <a:prstGeom prst="rect">
            <a:avLst/>
          </a:prstGeom>
        </p:spPr>
        <p:txBody>
          <a:bodyPr wrap="square">
            <a:spAutoFit/>
          </a:bodyPr>
          <a:lstStyle/>
          <a:p>
            <a:r>
              <a:rPr lang="zh-CN" altLang="en-US" sz="2800" b="1" dirty="0" smtClean="0"/>
              <a:t>三、定</a:t>
            </a:r>
            <a:r>
              <a:rPr lang="zh-CN" altLang="en-US" sz="2800" b="1" dirty="0" smtClean="0">
                <a:latin typeface="Times New Roman" panose="02020603050405020304" pitchFamily="18" charset="0"/>
                <a:cs typeface="Times New Roman" panose="02020603050405020304" pitchFamily="18" charset="0"/>
              </a:rPr>
              <a:t>温（干球温度）</a:t>
            </a:r>
            <a:r>
              <a:rPr lang="zh-CN" altLang="en-US" sz="2800" b="1" dirty="0" smtClean="0"/>
              <a:t>线簇</a:t>
            </a:r>
            <a:endParaRPr lang="zh-CN" altLang="en-US" sz="2800" b="1" dirty="0"/>
          </a:p>
        </p:txBody>
      </p:sp>
      <p:sp>
        <p:nvSpPr>
          <p:cNvPr id="11" name="矩形 10"/>
          <p:cNvSpPr/>
          <p:nvPr/>
        </p:nvSpPr>
        <p:spPr>
          <a:xfrm>
            <a:off x="4864999" y="2838748"/>
            <a:ext cx="3278462" cy="461665"/>
          </a:xfrm>
          <a:prstGeom prst="rect">
            <a:avLst/>
          </a:prstGeom>
        </p:spPr>
        <p:txBody>
          <a:bodyPr wrap="none">
            <a:spAutoFit/>
          </a:bodyPr>
          <a:lstStyle/>
          <a:p>
            <a:r>
              <a:rPr lang="zh-CN" altLang="en-US" sz="2400" b="1" dirty="0" smtClean="0">
                <a:solidFill>
                  <a:srgbClr val="FF0000"/>
                </a:solidFill>
              </a:rPr>
              <a:t>是一组互不平行的直线</a:t>
            </a:r>
            <a:endParaRPr lang="zh-CN" altLang="en-US" sz="2400" dirty="0">
              <a:solidFill>
                <a:srgbClr val="FF0000"/>
              </a:solidFill>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410" y="820084"/>
            <a:ext cx="4584589" cy="54015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矩形 253958"/>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8" name="矩形 7"/>
          <p:cNvSpPr/>
          <p:nvPr/>
        </p:nvSpPr>
        <p:spPr>
          <a:xfrm>
            <a:off x="787951" y="270583"/>
            <a:ext cx="4850848" cy="523220"/>
          </a:xfrm>
          <a:prstGeom prst="rect">
            <a:avLst/>
          </a:prstGeom>
        </p:spPr>
        <p:txBody>
          <a:bodyPr wrap="square">
            <a:spAutoFit/>
          </a:bodyPr>
          <a:lstStyle/>
          <a:p>
            <a:r>
              <a:rPr lang="zh-CN" altLang="en-US" sz="2800" b="1" dirty="0" smtClean="0"/>
              <a:t>四、定相对湿度线簇</a:t>
            </a:r>
            <a:endParaRPr lang="zh-CN" altLang="en-US" sz="2800" b="1" dirty="0"/>
          </a:p>
        </p:txBody>
      </p:sp>
      <p:sp>
        <p:nvSpPr>
          <p:cNvPr id="9" name="矩形 8"/>
          <p:cNvSpPr/>
          <p:nvPr/>
        </p:nvSpPr>
        <p:spPr>
          <a:xfrm>
            <a:off x="4845121" y="332138"/>
            <a:ext cx="2969083" cy="461665"/>
          </a:xfrm>
          <a:prstGeom prst="rect">
            <a:avLst/>
          </a:prstGeom>
        </p:spPr>
        <p:txBody>
          <a:bodyPr wrap="none">
            <a:spAutoFit/>
          </a:bodyPr>
          <a:lstStyle/>
          <a:p>
            <a:r>
              <a:rPr lang="zh-CN" altLang="en-US" sz="2400" b="1" dirty="0" smtClean="0">
                <a:solidFill>
                  <a:srgbClr val="FF0000"/>
                </a:solidFill>
              </a:rPr>
              <a:t>是一组向上凸的曲线</a:t>
            </a:r>
            <a:endParaRPr lang="zh-CN" altLang="en-US" sz="2400" dirty="0">
              <a:solidFill>
                <a:srgbClr val="FF0000"/>
              </a:solidFill>
            </a:endParaRPr>
          </a:p>
        </p:txBody>
      </p:sp>
      <p:sp>
        <p:nvSpPr>
          <p:cNvPr id="3" name="矩形 2"/>
          <p:cNvSpPr/>
          <p:nvPr/>
        </p:nvSpPr>
        <p:spPr>
          <a:xfrm>
            <a:off x="4800600" y="1229491"/>
            <a:ext cx="4065104" cy="5262979"/>
          </a:xfrm>
          <a:prstGeom prst="rect">
            <a:avLst/>
          </a:prstGeom>
        </p:spPr>
        <p:txBody>
          <a:bodyPr wrap="square">
            <a:spAutoFit/>
          </a:bodyPr>
          <a:lstStyle/>
          <a:p>
            <a:pPr marL="342900" indent="-342900">
              <a:buFont typeface="Arial" panose="020B0604020202020204" pitchFamily="34" charset="0"/>
              <a:buChar char="•"/>
            </a:pPr>
            <a:r>
              <a:rPr lang="zh-CN" altLang="en-US" sz="2400" b="1" i="1" dirty="0" smtClean="0">
                <a:latin typeface="Times New Roman" panose="02020603050405020304" pitchFamily="18" charset="0"/>
                <a:ea typeface="微软雅黑" panose="020B0503020204020204" charset="-122"/>
                <a:cs typeface="Times New Roman" panose="02020603050405020304" pitchFamily="18" charset="0"/>
              </a:rPr>
              <a:t>φ</a:t>
            </a:r>
            <a:r>
              <a:rPr lang="zh-CN" altLang="en-US" sz="2400" b="1" dirty="0" smtClean="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100%的线处于最下位置，称为饱和湿空气曲线</a:t>
            </a:r>
            <a:endParaRPr lang="zh-CN"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饱和湿空气的干球温度、湿球温度和露点温度是同一个数值，所以在饱和湿空气曲线上标出的干球温度值既是露点温度，也是</a:t>
            </a:r>
            <a:r>
              <a:rPr lang="zh-CN" altLang="en-US" sz="2400" b="1" dirty="0" smtClean="0">
                <a:latin typeface="Times New Roman" panose="02020603050405020304" pitchFamily="18" charset="0"/>
                <a:cs typeface="Times New Roman" panose="02020603050405020304" pitchFamily="18" charset="0"/>
              </a:rPr>
              <a:t>湿球温度</a:t>
            </a:r>
            <a:endParaRPr lang="zh-CN"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由于不</a:t>
            </a:r>
            <a:r>
              <a:rPr lang="zh-CN" altLang="en-US" sz="2400" b="1" dirty="0" smtClean="0">
                <a:latin typeface="Times New Roman" panose="02020603050405020304" pitchFamily="18" charset="0"/>
                <a:cs typeface="Times New Roman" panose="02020603050405020304" pitchFamily="18" charset="0"/>
              </a:rPr>
              <a:t>存在</a:t>
            </a:r>
            <a:r>
              <a:rPr lang="zh-CN" altLang="en-US" sz="2400" b="1" i="1" dirty="0">
                <a:latin typeface="Times New Roman" panose="02020603050405020304" pitchFamily="18" charset="0"/>
                <a:ea typeface="微软雅黑" panose="020B0503020204020204" charset="-122"/>
                <a:cs typeface="Times New Roman" panose="02020603050405020304" pitchFamily="18" charset="0"/>
              </a:rPr>
              <a:t>φ </a:t>
            </a:r>
            <a:r>
              <a:rPr lang="zh-CN" altLang="en-US" sz="2400" b="1" dirty="0" smtClean="0">
                <a:latin typeface="Times New Roman" panose="02020603050405020304" pitchFamily="18" charset="0"/>
                <a:cs typeface="Times New Roman" panose="02020603050405020304" pitchFamily="18" charset="0"/>
              </a:rPr>
              <a:t>&gt;</a:t>
            </a:r>
            <a:r>
              <a:rPr lang="zh-CN" altLang="en-US" sz="2400" b="1" dirty="0">
                <a:latin typeface="Times New Roman" panose="02020603050405020304" pitchFamily="18" charset="0"/>
                <a:cs typeface="Times New Roman" panose="02020603050405020304" pitchFamily="18" charset="0"/>
              </a:rPr>
              <a:t>100%的湿空气状态，因此湿空气状态点都在饱和空气曲线的</a:t>
            </a:r>
            <a:r>
              <a:rPr lang="zh-CN" altLang="en-US" sz="2400" b="1" dirty="0" smtClean="0">
                <a:latin typeface="Times New Roman" panose="02020603050405020304" pitchFamily="18" charset="0"/>
                <a:cs typeface="Times New Roman" panose="02020603050405020304" pitchFamily="18" charset="0"/>
              </a:rPr>
              <a:t>上方</a:t>
            </a:r>
            <a:endParaRPr lang="zh-CN"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zh-CN" altLang="en-US" sz="2400" b="1" i="1" dirty="0">
                <a:latin typeface="Times New Roman" panose="02020603050405020304" pitchFamily="18" charset="0"/>
                <a:ea typeface="微软雅黑" panose="020B0503020204020204" charset="-122"/>
                <a:cs typeface="Times New Roman" panose="02020603050405020304" pitchFamily="18" charset="0"/>
              </a:rPr>
              <a:t>φ </a:t>
            </a:r>
            <a:r>
              <a:rPr lang="zh-CN" altLang="en-US" sz="2400" b="1" dirty="0" smtClean="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0对应着干空气状态，此时</a:t>
            </a:r>
            <a:r>
              <a:rPr lang="zh-CN" altLang="en-US" sz="2400" b="1" i="1" dirty="0">
                <a:latin typeface="Times New Roman" panose="02020603050405020304" pitchFamily="18" charset="0"/>
                <a:cs typeface="Times New Roman" panose="02020603050405020304" pitchFamily="18" charset="0"/>
              </a:rPr>
              <a:t>d</a:t>
            </a:r>
            <a:r>
              <a:rPr lang="zh-CN" altLang="en-US" sz="2400" b="1" dirty="0">
                <a:latin typeface="Times New Roman" panose="02020603050405020304" pitchFamily="18" charset="0"/>
                <a:cs typeface="Times New Roman" panose="02020603050405020304" pitchFamily="18" charset="0"/>
              </a:rPr>
              <a:t>=0</a:t>
            </a:r>
            <a:endParaRPr lang="zh-CN" altLang="en-US" sz="2400" b="1"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6011" y="868610"/>
            <a:ext cx="4584589" cy="54015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5800" y="539041"/>
            <a:ext cx="4850848" cy="584775"/>
          </a:xfrm>
          <a:prstGeom prst="rect">
            <a:avLst/>
          </a:prstGeom>
        </p:spPr>
        <p:txBody>
          <a:bodyPr wrap="square">
            <a:spAutoFit/>
          </a:bodyPr>
          <a:lstStyle/>
          <a:p>
            <a:r>
              <a:rPr lang="en-US" altLang="zh-CN" sz="3200" b="1" i="1" dirty="0" smtClean="0">
                <a:latin typeface="Times New Roman" panose="02020603050405020304" pitchFamily="18" charset="0"/>
                <a:cs typeface="Times New Roman" panose="02020603050405020304" pitchFamily="18" charset="0"/>
              </a:rPr>
              <a:t>h-d</a:t>
            </a:r>
            <a:r>
              <a:rPr lang="zh-CN" altLang="en-US" sz="3200" b="1" dirty="0" smtClean="0"/>
              <a:t>图的使用例题</a:t>
            </a:r>
            <a:endParaRPr lang="zh-CN" altLang="en-US" sz="3200" b="1" dirty="0"/>
          </a:p>
        </p:txBody>
      </p:sp>
      <p:sp>
        <p:nvSpPr>
          <p:cNvPr id="3" name="矩形 2"/>
          <p:cNvSpPr/>
          <p:nvPr/>
        </p:nvSpPr>
        <p:spPr>
          <a:xfrm>
            <a:off x="685800" y="1557923"/>
            <a:ext cx="8077201" cy="2677656"/>
          </a:xfrm>
          <a:prstGeom prst="rect">
            <a:avLst/>
          </a:prstGeom>
        </p:spPr>
        <p:txBody>
          <a:bodyPr wrap="square">
            <a:spAutoFit/>
          </a:bodyPr>
          <a:lstStyle/>
          <a:p>
            <a:r>
              <a:rPr lang="zh-CN" altLang="en-US" sz="2800" b="1" dirty="0">
                <a:latin typeface="Times New Roman" panose="02020603050405020304" pitchFamily="18" charset="0"/>
                <a:cs typeface="Times New Roman" panose="02020603050405020304" pitchFamily="18" charset="0"/>
              </a:rPr>
              <a:t>由干-湿球温度计测得空气干球温度为15℃，湿球温度为12℃，已知空气总压力为1atm，利用焓-湿图确定湿空气的：</a:t>
            </a:r>
            <a:endParaRPr lang="zh-CN" altLang="en-US" sz="2800" b="1" dirty="0">
              <a:latin typeface="Times New Roman" panose="02020603050405020304" pitchFamily="18" charset="0"/>
              <a:cs typeface="Times New Roman" panose="02020603050405020304" pitchFamily="18" charset="0"/>
            </a:endParaRPr>
          </a:p>
          <a:p>
            <a:r>
              <a:rPr lang="zh-CN" altLang="en-US" sz="2800" b="1" dirty="0">
                <a:latin typeface="Times New Roman" panose="02020603050405020304" pitchFamily="18" charset="0"/>
                <a:cs typeface="Times New Roman" panose="02020603050405020304" pitchFamily="18" charset="0"/>
              </a:rPr>
              <a:t>（1）含湿量；</a:t>
            </a:r>
            <a:endParaRPr lang="zh-CN" altLang="en-US" sz="2800" b="1" dirty="0">
              <a:latin typeface="Times New Roman" panose="02020603050405020304" pitchFamily="18" charset="0"/>
              <a:cs typeface="Times New Roman" panose="02020603050405020304" pitchFamily="18" charset="0"/>
            </a:endParaRPr>
          </a:p>
          <a:p>
            <a:r>
              <a:rPr lang="zh-CN" altLang="en-US" sz="2800" b="1" dirty="0">
                <a:latin typeface="Times New Roman" panose="02020603050405020304" pitchFamily="18" charset="0"/>
                <a:cs typeface="Times New Roman" panose="02020603050405020304" pitchFamily="18" charset="0"/>
              </a:rPr>
              <a:t>（2）相对湿度；</a:t>
            </a:r>
            <a:endParaRPr lang="zh-CN" altLang="en-US" sz="2800" b="1" dirty="0">
              <a:latin typeface="Times New Roman" panose="02020603050405020304" pitchFamily="18" charset="0"/>
              <a:cs typeface="Times New Roman" panose="02020603050405020304" pitchFamily="18" charset="0"/>
            </a:endParaRPr>
          </a:p>
          <a:p>
            <a:r>
              <a:rPr lang="zh-CN" altLang="en-US" sz="2800" b="1" dirty="0">
                <a:latin typeface="Times New Roman" panose="02020603050405020304" pitchFamily="18" charset="0"/>
                <a:cs typeface="Times New Roman" panose="02020603050405020304" pitchFamily="18" charset="0"/>
              </a:rPr>
              <a:t>（3）比焓。  </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矩形 258052"/>
          <p:cNvSpPr>
            <a:spLocks noChangeArrowheads="1"/>
          </p:cNvSpPr>
          <p:nvPr/>
        </p:nvSpPr>
        <p:spPr bwMode="auto">
          <a:xfrm>
            <a:off x="0" y="2324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93187" name="矩形 25805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93188" name="对象 258053"/>
          <p:cNvGraphicFramePr>
            <a:graphicFrameLocks noChangeAspect="1"/>
          </p:cNvGraphicFramePr>
          <p:nvPr/>
        </p:nvGraphicFramePr>
        <p:xfrm>
          <a:off x="4621677" y="417038"/>
          <a:ext cx="1117600" cy="457200"/>
        </p:xfrm>
        <a:graphic>
          <a:graphicData uri="http://schemas.openxmlformats.org/presentationml/2006/ole">
            <mc:AlternateContent xmlns:mc="http://schemas.openxmlformats.org/markup-compatibility/2006">
              <mc:Choice xmlns:v="urn:schemas-microsoft-com:vml" Requires="v">
                <p:oleObj spid="_x0000_s35875" name="" r:id="rId1" imgW="558800" imgH="228600" progId="Equation.DSMT4">
                  <p:embed/>
                </p:oleObj>
              </mc:Choice>
              <mc:Fallback>
                <p:oleObj name="" r:id="rId1" imgW="558800" imgH="228600" progId="Equation.DSMT4">
                  <p:embed/>
                  <p:pic>
                    <p:nvPicPr>
                      <p:cNvPr id="0" name="对象 25805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1677" y="417038"/>
                        <a:ext cx="111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189" name="矩形 258056"/>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93190" name="对象 258055"/>
          <p:cNvGraphicFramePr>
            <a:graphicFrameLocks noChangeAspect="1"/>
          </p:cNvGraphicFramePr>
          <p:nvPr/>
        </p:nvGraphicFramePr>
        <p:xfrm>
          <a:off x="4585164" y="998462"/>
          <a:ext cx="1294838" cy="406224"/>
        </p:xfrm>
        <a:graphic>
          <a:graphicData uri="http://schemas.openxmlformats.org/presentationml/2006/ole">
            <mc:AlternateContent xmlns:mc="http://schemas.openxmlformats.org/markup-compatibility/2006">
              <mc:Choice xmlns:v="urn:schemas-microsoft-com:vml" Requires="v">
                <p:oleObj spid="_x0000_s35876" name="" r:id="rId3" imgW="647700" imgH="203200" progId="Equation.DSMT4">
                  <p:embed/>
                </p:oleObj>
              </mc:Choice>
              <mc:Fallback>
                <p:oleObj name="" r:id="rId3" imgW="647700" imgH="203200" progId="Equation.DSMT4">
                  <p:embed/>
                  <p:pic>
                    <p:nvPicPr>
                      <p:cNvPr id="0" name="对象 25805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5164" y="998462"/>
                        <a:ext cx="1294838" cy="40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3192" name="右大括号 258058"/>
          <p:cNvSpPr/>
          <p:nvPr/>
        </p:nvSpPr>
        <p:spPr bwMode="auto">
          <a:xfrm>
            <a:off x="5926154" y="538482"/>
            <a:ext cx="144462" cy="792162"/>
          </a:xfrm>
          <a:prstGeom prst="rightBrace">
            <a:avLst>
              <a:gd name="adj1" fmla="val 45595"/>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sp>
        <p:nvSpPr>
          <p:cNvPr id="93193" name="矩形 25806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93194" name="对象 258059"/>
          <p:cNvGraphicFramePr>
            <a:graphicFrameLocks noChangeAspect="1"/>
          </p:cNvGraphicFramePr>
          <p:nvPr/>
        </p:nvGraphicFramePr>
        <p:xfrm>
          <a:off x="5926154" y="1583925"/>
          <a:ext cx="2970510" cy="507780"/>
        </p:xfrm>
        <a:graphic>
          <a:graphicData uri="http://schemas.openxmlformats.org/presentationml/2006/ole">
            <mc:AlternateContent xmlns:mc="http://schemas.openxmlformats.org/markup-compatibility/2006">
              <mc:Choice xmlns:v="urn:schemas-microsoft-com:vml" Requires="v">
                <p:oleObj spid="_x0000_s35877" name="" r:id="rId5" imgW="1485265" imgH="254000" progId="Equation.DSMT4">
                  <p:embed/>
                </p:oleObj>
              </mc:Choice>
              <mc:Fallback>
                <p:oleObj name="" r:id="rId5" imgW="1485265" imgH="254000" progId="Equation.DSMT4">
                  <p:embed/>
                  <p:pic>
                    <p:nvPicPr>
                      <p:cNvPr id="0" name="对象 2580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6154" y="1583925"/>
                        <a:ext cx="2970510" cy="507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200" name="对象 258066"/>
          <p:cNvGraphicFramePr>
            <a:graphicFrameLocks noChangeAspect="1"/>
          </p:cNvGraphicFramePr>
          <p:nvPr/>
        </p:nvGraphicFramePr>
        <p:xfrm>
          <a:off x="3118697" y="5635336"/>
          <a:ext cx="1396394" cy="406224"/>
        </p:xfrm>
        <a:graphic>
          <a:graphicData uri="http://schemas.openxmlformats.org/presentationml/2006/ole">
            <mc:AlternateContent xmlns:mc="http://schemas.openxmlformats.org/markup-compatibility/2006">
              <mc:Choice xmlns:v="urn:schemas-microsoft-com:vml" Requires="v">
                <p:oleObj spid="_x0000_s35878" name="" r:id="rId7" imgW="698500" imgH="203200" progId="Equation.DSMT4">
                  <p:embed/>
                </p:oleObj>
              </mc:Choice>
              <mc:Fallback>
                <p:oleObj name="" r:id="rId7" imgW="698500" imgH="203200" progId="Equation.DSMT4">
                  <p:embed/>
                  <p:pic>
                    <p:nvPicPr>
                      <p:cNvPr id="0" name="对象 258066"/>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18697" y="5635336"/>
                        <a:ext cx="1396394" cy="40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3203" name="对象 258069"/>
          <p:cNvGraphicFramePr>
            <a:graphicFrameLocks noChangeAspect="1"/>
          </p:cNvGraphicFramePr>
          <p:nvPr/>
        </p:nvGraphicFramePr>
        <p:xfrm>
          <a:off x="3087037" y="6174476"/>
          <a:ext cx="4468460" cy="431612"/>
        </p:xfrm>
        <a:graphic>
          <a:graphicData uri="http://schemas.openxmlformats.org/presentationml/2006/ole">
            <mc:AlternateContent xmlns:mc="http://schemas.openxmlformats.org/markup-compatibility/2006">
              <mc:Choice xmlns:v="urn:schemas-microsoft-com:vml" Requires="v">
                <p:oleObj spid="_x0000_s35879" name="" r:id="rId9" imgW="2233930" imgH="215900" progId="Equation.DSMT4">
                  <p:embed/>
                </p:oleObj>
              </mc:Choice>
              <mc:Fallback>
                <p:oleObj name="" r:id="rId9" imgW="2233930" imgH="215900" progId="Equation.DSMT4">
                  <p:embed/>
                  <p:pic>
                    <p:nvPicPr>
                      <p:cNvPr id="0" name="对象 258069"/>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87037" y="6174476"/>
                        <a:ext cx="4468460" cy="43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2"/>
          <p:cNvSpPr/>
          <p:nvPr/>
        </p:nvSpPr>
        <p:spPr>
          <a:xfrm>
            <a:off x="6170975" y="681186"/>
            <a:ext cx="1335622" cy="461665"/>
          </a:xfrm>
          <a:prstGeom prst="rect">
            <a:avLst/>
          </a:prstGeom>
        </p:spPr>
        <p:txBody>
          <a:bodyPr wrap="none">
            <a:spAutoFit/>
          </a:bodyPr>
          <a:lstStyle/>
          <a:p>
            <a:r>
              <a:rPr lang="zh-CN" altLang="en-US" sz="2400" b="1" dirty="0" smtClean="0">
                <a:solidFill>
                  <a:srgbClr val="0070C0"/>
                </a:solidFill>
                <a:latin typeface="Times New Roman" panose="02020603050405020304" pitchFamily="18" charset="0"/>
                <a:cs typeface="Times New Roman" panose="02020603050405020304" pitchFamily="18" charset="0"/>
              </a:rPr>
              <a:t>确定点</a:t>
            </a:r>
            <a:r>
              <a:rPr lang="en-US" altLang="zh-CN" sz="2400" b="1" dirty="0" smtClean="0">
                <a:solidFill>
                  <a:srgbClr val="0070C0"/>
                </a:solidFill>
                <a:latin typeface="Times New Roman" panose="02020603050405020304" pitchFamily="18" charset="0"/>
                <a:cs typeface="Times New Roman" panose="02020603050405020304" pitchFamily="18" charset="0"/>
              </a:rPr>
              <a:t>A</a:t>
            </a:r>
            <a:endParaRPr lang="zh-CN" altLang="en-US" sz="2400" dirty="0">
              <a:solidFill>
                <a:srgbClr val="0070C0"/>
              </a:solidFill>
            </a:endParaRPr>
          </a:p>
        </p:txBody>
      </p:sp>
      <p:sp>
        <p:nvSpPr>
          <p:cNvPr id="23" name="矩形 22"/>
          <p:cNvSpPr/>
          <p:nvPr/>
        </p:nvSpPr>
        <p:spPr>
          <a:xfrm>
            <a:off x="4525920" y="2150561"/>
            <a:ext cx="2904962" cy="830997"/>
          </a:xfrm>
          <a:prstGeom prst="rect">
            <a:avLst/>
          </a:prstGeom>
        </p:spPr>
        <p:txBody>
          <a:bodyPr wrap="none">
            <a:spAutoFit/>
          </a:bodyPr>
          <a:lstStyle/>
          <a:p>
            <a:r>
              <a:rPr lang="zh-CN" altLang="en-US" sz="2400" b="1" dirty="0" smtClean="0">
                <a:solidFill>
                  <a:srgbClr val="0070C0"/>
                </a:solidFill>
                <a:latin typeface="Times New Roman" panose="02020603050405020304" pitchFamily="18" charset="0"/>
                <a:cs typeface="Times New Roman" panose="02020603050405020304" pitchFamily="18" charset="0"/>
              </a:rPr>
              <a:t>点</a:t>
            </a:r>
            <a:r>
              <a:rPr lang="en-US" altLang="zh-CN" sz="2400" b="1" dirty="0" smtClean="0">
                <a:solidFill>
                  <a:srgbClr val="0070C0"/>
                </a:solidFill>
                <a:latin typeface="Times New Roman" panose="02020603050405020304" pitchFamily="18" charset="0"/>
                <a:cs typeface="Times New Roman" panose="02020603050405020304" pitchFamily="18" charset="0"/>
              </a:rPr>
              <a:t>A</a:t>
            </a:r>
            <a:r>
              <a:rPr lang="zh-CN" altLang="en-US" sz="2400" b="1" dirty="0" smtClean="0">
                <a:solidFill>
                  <a:srgbClr val="0070C0"/>
                </a:solidFill>
                <a:latin typeface="Times New Roman" panose="02020603050405020304" pitchFamily="18" charset="0"/>
                <a:cs typeface="Times New Roman" panose="02020603050405020304" pitchFamily="18" charset="0"/>
              </a:rPr>
              <a:t>的干球温度</a:t>
            </a:r>
            <a:r>
              <a:rPr lang="en-US" altLang="zh-CN" sz="2400" b="1" dirty="0" smtClean="0">
                <a:solidFill>
                  <a:srgbClr val="0070C0"/>
                </a:solidFill>
                <a:latin typeface="Times New Roman" panose="02020603050405020304" pitchFamily="18" charset="0"/>
                <a:cs typeface="Times New Roman" panose="02020603050405020304" pitchFamily="18" charset="0"/>
              </a:rPr>
              <a:t>12</a:t>
            </a:r>
            <a:r>
              <a:rPr lang="zh-CN" altLang="en-US" sz="2400" b="1" dirty="0" smtClean="0">
                <a:solidFill>
                  <a:srgbClr val="0070C0"/>
                </a:solidFill>
                <a:latin typeface="Times New Roman" panose="02020603050405020304" pitchFamily="18" charset="0"/>
                <a:cs typeface="Times New Roman" panose="02020603050405020304" pitchFamily="18" charset="0"/>
              </a:rPr>
              <a:t>℃</a:t>
            </a:r>
            <a:endParaRPr lang="en-US" altLang="zh-CN" sz="2400" b="1" dirty="0" smtClean="0">
              <a:solidFill>
                <a:srgbClr val="0070C0"/>
              </a:solidFill>
              <a:latin typeface="Times New Roman" panose="02020603050405020304" pitchFamily="18" charset="0"/>
              <a:cs typeface="Times New Roman" panose="02020603050405020304" pitchFamily="18" charset="0"/>
            </a:endParaRPr>
          </a:p>
          <a:p>
            <a:r>
              <a:rPr lang="zh-CN" altLang="en-US" sz="2400" b="1" dirty="0" smtClean="0">
                <a:solidFill>
                  <a:srgbClr val="0070C0"/>
                </a:solidFill>
                <a:latin typeface="Times New Roman" panose="02020603050405020304" pitchFamily="18" charset="0"/>
                <a:cs typeface="Times New Roman" panose="02020603050405020304" pitchFamily="18" charset="0"/>
              </a:rPr>
              <a:t>湿球温度</a:t>
            </a:r>
            <a:r>
              <a:rPr lang="en-US" altLang="zh-CN" sz="2400" b="1" dirty="0" smtClean="0">
                <a:solidFill>
                  <a:srgbClr val="0070C0"/>
                </a:solidFill>
                <a:latin typeface="Times New Roman" panose="02020603050405020304" pitchFamily="18" charset="0"/>
                <a:cs typeface="Times New Roman" panose="02020603050405020304" pitchFamily="18" charset="0"/>
              </a:rPr>
              <a:t>12</a:t>
            </a:r>
            <a:r>
              <a:rPr lang="zh-CN" altLang="en-US" sz="2400" b="1" dirty="0" smtClean="0">
                <a:solidFill>
                  <a:srgbClr val="0070C0"/>
                </a:solidFill>
                <a:latin typeface="Times New Roman" panose="02020603050405020304" pitchFamily="18" charset="0"/>
                <a:cs typeface="Times New Roman" panose="02020603050405020304" pitchFamily="18" charset="0"/>
              </a:rPr>
              <a:t>℃</a:t>
            </a:r>
            <a:endParaRPr lang="zh-CN" altLang="en-US" sz="2400" dirty="0">
              <a:solidFill>
                <a:srgbClr val="0070C0"/>
              </a:solidFill>
            </a:endParaRPr>
          </a:p>
        </p:txBody>
      </p:sp>
      <p:sp>
        <p:nvSpPr>
          <p:cNvPr id="4" name="矩形 3"/>
          <p:cNvSpPr/>
          <p:nvPr/>
        </p:nvSpPr>
        <p:spPr>
          <a:xfrm>
            <a:off x="978760" y="3830870"/>
            <a:ext cx="7405555" cy="830997"/>
          </a:xfrm>
          <a:prstGeom prst="rect">
            <a:avLst/>
          </a:prstGeom>
        </p:spPr>
        <p:txBody>
          <a:bodyPr wrap="square">
            <a:spAutoFit/>
          </a:bodyPr>
          <a:lstStyle/>
          <a:p>
            <a:r>
              <a:rPr lang="zh-CN" altLang="en-US" sz="2400" b="1" dirty="0">
                <a:latin typeface="Times New Roman" panose="02020603050405020304" pitchFamily="18" charset="0"/>
                <a:cs typeface="Times New Roman" panose="02020603050405020304" pitchFamily="18" charset="0"/>
              </a:rPr>
              <a:t>定焓线可近似作为定湿球温度线，因此将定焓线</a:t>
            </a:r>
            <a:r>
              <a:rPr lang="zh-CN" altLang="en-US" sz="2400" b="1" i="1" dirty="0">
                <a:latin typeface="Times New Roman" panose="02020603050405020304" pitchFamily="18" charset="0"/>
                <a:cs typeface="Times New Roman" panose="02020603050405020304" pitchFamily="18" charset="0"/>
              </a:rPr>
              <a:t>h</a:t>
            </a:r>
            <a:r>
              <a:rPr lang="zh-CN" altLang="en-US" sz="2400" b="1" dirty="0">
                <a:latin typeface="Times New Roman" panose="02020603050405020304" pitchFamily="18" charset="0"/>
                <a:cs typeface="Times New Roman" panose="02020603050405020304" pitchFamily="18" charset="0"/>
              </a:rPr>
              <a:t>=34.0kJ/kg(干空气)与</a:t>
            </a:r>
            <a:r>
              <a:rPr lang="zh-CN" altLang="en-US" sz="2400" b="1" i="1" dirty="0">
                <a:latin typeface="Times New Roman" panose="02020603050405020304" pitchFamily="18" charset="0"/>
                <a:cs typeface="Times New Roman" panose="02020603050405020304" pitchFamily="18" charset="0"/>
              </a:rPr>
              <a:t>t</a:t>
            </a:r>
            <a:r>
              <a:rPr lang="zh-CN" altLang="en-US" sz="2400" b="1" dirty="0">
                <a:latin typeface="Times New Roman" panose="02020603050405020304" pitchFamily="18" charset="0"/>
                <a:cs typeface="Times New Roman" panose="02020603050405020304" pitchFamily="18" charset="0"/>
              </a:rPr>
              <a:t>=15℃的定温线相交于</a:t>
            </a:r>
            <a:r>
              <a:rPr lang="zh-CN" altLang="en-US" sz="2400" b="1" dirty="0">
                <a:solidFill>
                  <a:srgbClr val="FF0000"/>
                </a:solidFill>
                <a:latin typeface="Times New Roman" panose="02020603050405020304" pitchFamily="18" charset="0"/>
                <a:cs typeface="Times New Roman" panose="02020603050405020304" pitchFamily="18" charset="0"/>
              </a:rPr>
              <a:t>点B</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sp>
        <p:nvSpPr>
          <p:cNvPr id="25" name="矩形 24"/>
          <p:cNvSpPr/>
          <p:nvPr/>
        </p:nvSpPr>
        <p:spPr>
          <a:xfrm>
            <a:off x="4901320" y="4785636"/>
            <a:ext cx="2539310" cy="830997"/>
          </a:xfrm>
          <a:prstGeom prst="rect">
            <a:avLst/>
          </a:prstGeom>
        </p:spPr>
        <p:txBody>
          <a:bodyPr wrap="square">
            <a:spAutoFit/>
          </a:bodyPr>
          <a:lstStyle/>
          <a:p>
            <a:r>
              <a:rPr lang="zh-CN" altLang="en-US" sz="2400" b="1" dirty="0" smtClean="0">
                <a:solidFill>
                  <a:srgbClr val="FF0000"/>
                </a:solidFill>
                <a:latin typeface="Times New Roman" panose="02020603050405020304" pitchFamily="18" charset="0"/>
                <a:cs typeface="Times New Roman" panose="02020603050405020304" pitchFamily="18" charset="0"/>
              </a:rPr>
              <a:t>点</a:t>
            </a:r>
            <a:r>
              <a:rPr lang="en-US" altLang="zh-CN" sz="2400" b="1" dirty="0" smtClean="0">
                <a:solidFill>
                  <a:srgbClr val="FF0000"/>
                </a:solidFill>
                <a:latin typeface="Times New Roman" panose="02020603050405020304" pitchFamily="18" charset="0"/>
                <a:cs typeface="Times New Roman" panose="02020603050405020304" pitchFamily="18" charset="0"/>
              </a:rPr>
              <a:t>B</a:t>
            </a:r>
            <a:r>
              <a:rPr lang="zh-CN" altLang="en-US" sz="2400" b="1" dirty="0" smtClean="0">
                <a:solidFill>
                  <a:srgbClr val="FF0000"/>
                </a:solidFill>
                <a:latin typeface="Times New Roman" panose="02020603050405020304" pitchFamily="18" charset="0"/>
                <a:cs typeface="Times New Roman" panose="02020603050405020304" pitchFamily="18" charset="0"/>
              </a:rPr>
              <a:t>即为要确定的湿空气状态点</a:t>
            </a:r>
            <a:endParaRPr lang="zh-CN" altLang="en-US" sz="2400" dirty="0">
              <a:solidFill>
                <a:srgbClr val="FF0000"/>
              </a:solidFill>
            </a:endParaRPr>
          </a:p>
        </p:txBody>
      </p:sp>
      <p:sp>
        <p:nvSpPr>
          <p:cNvPr id="26" name="矩形 25"/>
          <p:cNvSpPr/>
          <p:nvPr/>
        </p:nvSpPr>
        <p:spPr>
          <a:xfrm>
            <a:off x="1068469" y="4785636"/>
            <a:ext cx="2904962" cy="830997"/>
          </a:xfrm>
          <a:prstGeom prst="rect">
            <a:avLst/>
          </a:prstGeom>
        </p:spPr>
        <p:txBody>
          <a:bodyPr wrap="none">
            <a:spAutoFit/>
          </a:bodyPr>
          <a:lstStyle/>
          <a:p>
            <a:r>
              <a:rPr lang="zh-CN" altLang="en-US" sz="2400" b="1" dirty="0" smtClean="0">
                <a:solidFill>
                  <a:srgbClr val="FF0000"/>
                </a:solidFill>
                <a:latin typeface="Times New Roman" panose="02020603050405020304" pitchFamily="18" charset="0"/>
                <a:cs typeface="Times New Roman" panose="02020603050405020304" pitchFamily="18" charset="0"/>
              </a:rPr>
              <a:t>点</a:t>
            </a:r>
            <a:r>
              <a:rPr lang="en-US" altLang="zh-CN" sz="2400" b="1" dirty="0" smtClean="0">
                <a:solidFill>
                  <a:srgbClr val="FF0000"/>
                </a:solidFill>
                <a:latin typeface="Times New Roman" panose="02020603050405020304" pitchFamily="18" charset="0"/>
                <a:cs typeface="Times New Roman" panose="02020603050405020304" pitchFamily="18" charset="0"/>
              </a:rPr>
              <a:t>B</a:t>
            </a:r>
            <a:r>
              <a:rPr lang="zh-CN" altLang="en-US" sz="2400" b="1" dirty="0" smtClean="0">
                <a:solidFill>
                  <a:srgbClr val="FF0000"/>
                </a:solidFill>
                <a:latin typeface="Times New Roman" panose="02020603050405020304" pitchFamily="18" charset="0"/>
                <a:cs typeface="Times New Roman" panose="02020603050405020304" pitchFamily="18" charset="0"/>
              </a:rPr>
              <a:t>的干球温度</a:t>
            </a:r>
            <a:r>
              <a:rPr lang="en-US" altLang="zh-CN" sz="2400" b="1" dirty="0" smtClean="0">
                <a:solidFill>
                  <a:srgbClr val="FF0000"/>
                </a:solidFill>
                <a:latin typeface="Times New Roman" panose="02020603050405020304" pitchFamily="18" charset="0"/>
                <a:cs typeface="Times New Roman" panose="02020603050405020304" pitchFamily="18" charset="0"/>
              </a:rPr>
              <a:t>15</a:t>
            </a:r>
            <a:r>
              <a:rPr lang="zh-CN" altLang="en-US" sz="2400" b="1" dirty="0" smtClean="0">
                <a:solidFill>
                  <a:srgbClr val="FF0000"/>
                </a:solidFill>
                <a:latin typeface="Times New Roman" panose="02020603050405020304" pitchFamily="18" charset="0"/>
                <a:cs typeface="Times New Roman" panose="02020603050405020304" pitchFamily="18" charset="0"/>
              </a:rPr>
              <a:t>℃</a:t>
            </a:r>
            <a:endParaRPr lang="en-US" altLang="zh-CN" sz="2400" b="1" dirty="0" smtClean="0">
              <a:solidFill>
                <a:srgbClr val="FF0000"/>
              </a:solidFill>
              <a:latin typeface="Times New Roman" panose="02020603050405020304" pitchFamily="18" charset="0"/>
              <a:cs typeface="Times New Roman" panose="02020603050405020304" pitchFamily="18" charset="0"/>
            </a:endParaRPr>
          </a:p>
          <a:p>
            <a:r>
              <a:rPr lang="zh-CN" altLang="en-US" sz="2400" b="1" dirty="0" smtClean="0">
                <a:solidFill>
                  <a:srgbClr val="FF0000"/>
                </a:solidFill>
                <a:latin typeface="Times New Roman" panose="02020603050405020304" pitchFamily="18" charset="0"/>
                <a:cs typeface="Times New Roman" panose="02020603050405020304" pitchFamily="18" charset="0"/>
              </a:rPr>
              <a:t>湿球温度</a:t>
            </a:r>
            <a:r>
              <a:rPr lang="en-US" altLang="zh-CN" sz="2400" b="1" dirty="0" smtClean="0">
                <a:solidFill>
                  <a:srgbClr val="FF0000"/>
                </a:solidFill>
                <a:latin typeface="Times New Roman" panose="02020603050405020304" pitchFamily="18" charset="0"/>
                <a:cs typeface="Times New Roman" panose="02020603050405020304" pitchFamily="18" charset="0"/>
              </a:rPr>
              <a:t>12</a:t>
            </a:r>
            <a:r>
              <a:rPr lang="zh-CN" altLang="en-US" sz="2400" b="1" dirty="0" smtClean="0">
                <a:solidFill>
                  <a:srgbClr val="FF0000"/>
                </a:solidFill>
                <a:latin typeface="Times New Roman" panose="02020603050405020304" pitchFamily="18" charset="0"/>
                <a:cs typeface="Times New Roman" panose="02020603050405020304" pitchFamily="18" charset="0"/>
              </a:rPr>
              <a:t>℃</a:t>
            </a:r>
            <a:endParaRPr lang="zh-CN" altLang="en-US" sz="2400" dirty="0">
              <a:solidFill>
                <a:srgbClr val="FF0000"/>
              </a:solidFill>
            </a:endParaRPr>
          </a:p>
        </p:txBody>
      </p:sp>
      <p:sp>
        <p:nvSpPr>
          <p:cNvPr id="5" name="右箭头 4"/>
          <p:cNvSpPr/>
          <p:nvPr/>
        </p:nvSpPr>
        <p:spPr>
          <a:xfrm>
            <a:off x="4008210" y="5066600"/>
            <a:ext cx="673327" cy="240333"/>
          </a:xfrm>
          <a:prstGeom prst="rightArrow">
            <a:avLst/>
          </a:prstGeom>
          <a:solidFill>
            <a:schemeClr val="bg2"/>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4469584" y="1550107"/>
            <a:ext cx="1731564" cy="461665"/>
          </a:xfrm>
          <a:prstGeom prst="rect">
            <a:avLst/>
          </a:prstGeom>
        </p:spPr>
        <p:txBody>
          <a:bodyPr wrap="none">
            <a:spAutoFit/>
          </a:bodyPr>
          <a:lstStyle/>
          <a:p>
            <a:r>
              <a:rPr lang="zh-CN" altLang="en-US" sz="2400" b="1" dirty="0" smtClean="0">
                <a:solidFill>
                  <a:srgbClr val="0070C0"/>
                </a:solidFill>
                <a:latin typeface="Times New Roman" panose="02020603050405020304" pitchFamily="18" charset="0"/>
                <a:cs typeface="Times New Roman" panose="02020603050405020304" pitchFamily="18" charset="0"/>
              </a:rPr>
              <a:t>图上读出：</a:t>
            </a:r>
            <a:endParaRPr lang="zh-CN" altLang="en-US" sz="2400" dirty="0">
              <a:solidFill>
                <a:srgbClr val="0070C0"/>
              </a:solidFill>
            </a:endParaRPr>
          </a:p>
        </p:txBody>
      </p:sp>
      <p:sp>
        <p:nvSpPr>
          <p:cNvPr id="29" name="矩形 28"/>
          <p:cNvSpPr/>
          <p:nvPr/>
        </p:nvSpPr>
        <p:spPr>
          <a:xfrm>
            <a:off x="1398707" y="5871495"/>
            <a:ext cx="1422184" cy="461665"/>
          </a:xfrm>
          <a:prstGeom prst="rect">
            <a:avLst/>
          </a:prstGeom>
        </p:spPr>
        <p:txBody>
          <a:bodyPr wrap="none">
            <a:spAutoFit/>
          </a:bodyPr>
          <a:lstStyle/>
          <a:p>
            <a:r>
              <a:rPr lang="zh-CN" altLang="en-US" sz="2400" b="1" dirty="0" smtClean="0">
                <a:solidFill>
                  <a:srgbClr val="0070C0"/>
                </a:solidFill>
                <a:latin typeface="Times New Roman" panose="02020603050405020304" pitchFamily="18" charset="0"/>
                <a:cs typeface="Times New Roman" panose="02020603050405020304" pitchFamily="18" charset="0"/>
              </a:rPr>
              <a:t>图上读出</a:t>
            </a:r>
            <a:endParaRPr lang="zh-CN" altLang="en-US" sz="2400" dirty="0">
              <a:solidFill>
                <a:srgbClr val="0070C0"/>
              </a:solidFill>
            </a:endParaRPr>
          </a:p>
        </p:txBody>
      </p:sp>
      <p:sp>
        <p:nvSpPr>
          <p:cNvPr id="31" name="右大括号 258058"/>
          <p:cNvSpPr/>
          <p:nvPr/>
        </p:nvSpPr>
        <p:spPr bwMode="auto">
          <a:xfrm rot="10800000">
            <a:off x="2803534" y="5761357"/>
            <a:ext cx="166260" cy="739463"/>
          </a:xfrm>
          <a:prstGeom prst="rightBrace">
            <a:avLst>
              <a:gd name="adj1" fmla="val 45595"/>
              <a:gd name="adj2" fmla="val 50000"/>
            </a:avLst>
          </a:prstGeom>
          <a:noFill/>
          <a:ln w="9525">
            <a:solidFill>
              <a:schemeClr val="tx1"/>
            </a:solidFill>
            <a:round/>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a:ea typeface="宋体" panose="02010600030101010101" pitchFamily="2" charset="-122"/>
            </a:endParaRPr>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9238" y="267747"/>
            <a:ext cx="4322439" cy="34689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4"/>
          <p:cNvSpPr txBox="1">
            <a:spLocks noChangeArrowheads="1"/>
          </p:cNvSpPr>
          <p:nvPr/>
        </p:nvSpPr>
        <p:spPr bwMode="auto">
          <a:xfrm>
            <a:off x="253895" y="3415771"/>
            <a:ext cx="8785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
        <p:nvSpPr>
          <p:cNvPr id="5" name="矩形 4"/>
          <p:cNvSpPr/>
          <p:nvPr/>
        </p:nvSpPr>
        <p:spPr>
          <a:xfrm>
            <a:off x="1042201" y="2150553"/>
            <a:ext cx="6978192" cy="769441"/>
          </a:xfrm>
          <a:prstGeom prst="rect">
            <a:avLst/>
          </a:prstGeom>
        </p:spPr>
        <p:txBody>
          <a:bodyPr wrap="none">
            <a:spAutoFit/>
          </a:bodyPr>
          <a:lstStyle/>
          <a:p>
            <a:r>
              <a:rPr lang="zh-CN" altLang="en-US" sz="4400" b="1" dirty="0" smtClean="0"/>
              <a:t>1</a:t>
            </a:r>
            <a:r>
              <a:rPr lang="en-US" altLang="zh-CN" sz="4400" b="1" dirty="0" smtClean="0"/>
              <a:t>8-7</a:t>
            </a:r>
            <a:r>
              <a:rPr lang="zh-CN" altLang="en-US" sz="4400" b="1" dirty="0"/>
              <a:t>　</a:t>
            </a:r>
            <a:r>
              <a:rPr lang="zh-CN" altLang="en-US" sz="4400" b="1" dirty="0" smtClean="0"/>
              <a:t>湿空气过程及其应用</a:t>
            </a:r>
            <a:endParaRPr lang="zh-CN" altLang="en-US" sz="4400" b="1"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57641" y="742650"/>
            <a:ext cx="7962054" cy="2677656"/>
          </a:xfrm>
          <a:prstGeom prst="rect">
            <a:avLst/>
          </a:prstGeom>
        </p:spPr>
        <p:txBody>
          <a:bodyPr wrap="square">
            <a:spAutoFit/>
          </a:bodyPr>
          <a:lstStyle/>
          <a:p>
            <a:pPr marL="457200" indent="-457200">
              <a:buFont typeface="Arial" panose="020B0604020202020204" pitchFamily="34" charset="0"/>
              <a:buChar char="•"/>
            </a:pPr>
            <a:r>
              <a:rPr lang="zh-CN" altLang="zh-CN" sz="2800" b="1" dirty="0"/>
              <a:t>在湿空气过程的计算中，通常关心的是焓与含湿量的变化。一般方法是利用稳定流动能量方程（通常忽略不计宏观动能和重力势能的变化）及质量守恒方程，并借助湿空气的线</a:t>
            </a:r>
            <a:r>
              <a:rPr lang="zh-CN" altLang="zh-CN" sz="2800" b="1" dirty="0" smtClean="0"/>
              <a:t>图</a:t>
            </a:r>
            <a:endParaRPr lang="en-US" altLang="zh-CN" sz="2800" b="1" dirty="0" smtClean="0"/>
          </a:p>
          <a:p>
            <a:pPr marL="457200" indent="-457200">
              <a:buFont typeface="Arial" panose="020B0604020202020204" pitchFamily="34" charset="0"/>
              <a:buChar char="•"/>
            </a:pPr>
            <a:r>
              <a:rPr lang="zh-CN" altLang="zh-CN" sz="2800" b="1" dirty="0"/>
              <a:t>本节介绍几种典型的湿空气过程。工程上遇到的较复杂的湿空气过程大多是它们的某种组合</a:t>
            </a:r>
            <a:endParaRPr lang="zh-CN" altLang="en-US" sz="28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45"/>
          <p:cNvSpPr txBox="1">
            <a:spLocks noChangeArrowheads="1"/>
          </p:cNvSpPr>
          <p:nvPr/>
        </p:nvSpPr>
        <p:spPr bwMode="auto">
          <a:xfrm>
            <a:off x="179388" y="4221163"/>
            <a:ext cx="59769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
        <p:nvSpPr>
          <p:cNvPr id="95236" name="Text Box 46"/>
          <p:cNvSpPr txBox="1">
            <a:spLocks noChangeArrowheads="1"/>
          </p:cNvSpPr>
          <p:nvPr/>
        </p:nvSpPr>
        <p:spPr bwMode="auto">
          <a:xfrm>
            <a:off x="1532386" y="4861487"/>
            <a:ext cx="24771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b="1" i="1" dirty="0">
                <a:solidFill>
                  <a:srgbClr val="FF0000"/>
                </a:solidFill>
                <a:latin typeface="Times New Roman" panose="02020603050405020304" pitchFamily="18" charset="0"/>
                <a:ea typeface="宋体" panose="02010600030101010101" pitchFamily="2" charset="-122"/>
              </a:rPr>
              <a:t>t</a:t>
            </a:r>
            <a:r>
              <a:rPr lang="zh-CN" altLang="en-US" sz="2800" b="1" dirty="0">
                <a:solidFill>
                  <a:srgbClr val="FF0000"/>
                </a:solidFill>
                <a:latin typeface="Times New Roman" panose="02020603050405020304" pitchFamily="18" charset="0"/>
                <a:ea typeface="宋体" panose="02010600030101010101" pitchFamily="2" charset="-122"/>
              </a:rPr>
              <a:t>、</a:t>
            </a:r>
            <a:r>
              <a:rPr lang="en-US" altLang="zh-CN" sz="2800" b="1" i="1" dirty="0" smtClean="0">
                <a:solidFill>
                  <a:srgbClr val="FF0000"/>
                </a:solidFill>
                <a:latin typeface="Times New Roman" panose="02020603050405020304" pitchFamily="18" charset="0"/>
                <a:ea typeface="宋体" panose="02010600030101010101" pitchFamily="2" charset="-122"/>
              </a:rPr>
              <a:t>h </a:t>
            </a:r>
            <a:r>
              <a:rPr lang="en-US" altLang="zh-CN" sz="2800" b="1" dirty="0" smtClean="0">
                <a:solidFill>
                  <a:srgbClr val="FF0000"/>
                </a:solidFill>
                <a:latin typeface="Times New Roman" panose="02020603050405020304" pitchFamily="18" charset="0"/>
                <a:ea typeface="宋体" panose="02010600030101010101" pitchFamily="2" charset="-122"/>
              </a:rPr>
              <a:t>↑</a:t>
            </a:r>
            <a:r>
              <a:rPr lang="zh-CN" altLang="en-US" sz="2800" b="1" dirty="0" smtClean="0">
                <a:solidFill>
                  <a:srgbClr val="FF0000"/>
                </a:solidFill>
                <a:latin typeface="Times New Roman" panose="02020603050405020304" pitchFamily="18" charset="0"/>
                <a:ea typeface="宋体" panose="02010600030101010101" pitchFamily="2" charset="-122"/>
              </a:rPr>
              <a:t>；</a:t>
            </a:r>
            <a:r>
              <a:rPr lang="zh-CN" altLang="en-US" sz="28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a:solidFill>
                  <a:srgbClr val="FF0000"/>
                </a:solidFill>
                <a:latin typeface="宋体" panose="02010600030101010101" pitchFamily="2" charset="-122"/>
                <a:ea typeface="宋体" panose="02010600030101010101" pitchFamily="2" charset="-122"/>
              </a:rPr>
              <a:t>↓</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95237" name="右箭头 234513"/>
          <p:cNvSpPr>
            <a:spLocks noChangeArrowheads="1"/>
          </p:cNvSpPr>
          <p:nvPr/>
        </p:nvSpPr>
        <p:spPr bwMode="auto">
          <a:xfrm>
            <a:off x="504548" y="5009591"/>
            <a:ext cx="835025" cy="227012"/>
          </a:xfrm>
          <a:prstGeom prst="rightArrow">
            <a:avLst>
              <a:gd name="adj1" fmla="val 50000"/>
              <a:gd name="adj2" fmla="val 106229"/>
            </a:avLst>
          </a:prstGeom>
          <a:solidFill>
            <a:srgbClr val="ADAD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8" name="矩形 7"/>
          <p:cNvSpPr/>
          <p:nvPr/>
        </p:nvSpPr>
        <p:spPr>
          <a:xfrm>
            <a:off x="358775" y="300544"/>
            <a:ext cx="7528063" cy="584775"/>
          </a:xfrm>
          <a:prstGeom prst="rect">
            <a:avLst/>
          </a:prstGeom>
        </p:spPr>
        <p:txBody>
          <a:bodyPr wrap="square">
            <a:spAutoFit/>
          </a:bodyPr>
          <a:lstStyle/>
          <a:p>
            <a:r>
              <a:rPr lang="zh-CN" altLang="en-US" sz="3200" b="1" dirty="0" smtClean="0"/>
              <a:t>一、单纯加热或冷却过程</a:t>
            </a:r>
            <a:endParaRPr lang="zh-CN" altLang="en-US" sz="3200" b="1" dirty="0"/>
          </a:p>
        </p:txBody>
      </p:sp>
      <p:sp>
        <p:nvSpPr>
          <p:cNvPr id="9" name="矩形 8"/>
          <p:cNvSpPr/>
          <p:nvPr/>
        </p:nvSpPr>
        <p:spPr>
          <a:xfrm>
            <a:off x="809350" y="4251514"/>
            <a:ext cx="7528063" cy="523220"/>
          </a:xfrm>
          <a:prstGeom prst="rect">
            <a:avLst/>
          </a:prstGeom>
        </p:spPr>
        <p:txBody>
          <a:bodyPr wrap="square">
            <a:spAutoFit/>
          </a:bodyPr>
          <a:lstStyle/>
          <a:p>
            <a:r>
              <a:rPr lang="zh-CN" altLang="en-US" sz="2800" b="1" dirty="0">
                <a:latin typeface="Times New Roman" panose="02020603050405020304" pitchFamily="18" charset="0"/>
                <a:cs typeface="Times New Roman" panose="02020603050405020304" pitchFamily="18" charset="0"/>
              </a:rPr>
              <a:t>过程</a:t>
            </a:r>
            <a:r>
              <a:rPr lang="en-US" altLang="zh-CN" sz="2800" b="1" dirty="0" smtClean="0">
                <a:latin typeface="Times New Roman" panose="02020603050405020304" pitchFamily="18" charset="0"/>
                <a:cs typeface="Times New Roman" panose="02020603050405020304" pitchFamily="18" charset="0"/>
              </a:rPr>
              <a:t>1-2</a:t>
            </a:r>
            <a:r>
              <a:rPr lang="zh-CN" altLang="en-US" sz="2800" b="1" dirty="0">
                <a:latin typeface="Times New Roman" panose="02020603050405020304" pitchFamily="18" charset="0"/>
                <a:cs typeface="Times New Roman" panose="02020603050405020304" pitchFamily="18" charset="0"/>
              </a:rPr>
              <a:t>为定</a:t>
            </a:r>
            <a:r>
              <a:rPr lang="en-US" altLang="zh-CN" sz="2800" b="1" i="1" dirty="0">
                <a:latin typeface="Times New Roman" panose="02020603050405020304" pitchFamily="18" charset="0"/>
                <a:cs typeface="Times New Roman" panose="02020603050405020304" pitchFamily="18" charset="0"/>
              </a:rPr>
              <a:t>d</a:t>
            </a:r>
            <a:r>
              <a:rPr lang="zh-CN" altLang="en-US" sz="2800" b="1" dirty="0">
                <a:latin typeface="Times New Roman" panose="02020603050405020304" pitchFamily="18" charset="0"/>
                <a:cs typeface="Times New Roman" panose="02020603050405020304" pitchFamily="18" charset="0"/>
              </a:rPr>
              <a:t>下的单纯加热</a:t>
            </a:r>
            <a:endParaRPr lang="zh-CN" altLang="en-US" sz="2800" b="1" dirty="0">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8775" y="1120176"/>
            <a:ext cx="5041829" cy="2914141"/>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8354" y="1111802"/>
            <a:ext cx="3182388" cy="3139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40"/>
          <p:cNvSpPr txBox="1">
            <a:spLocks noChangeArrowheads="1"/>
          </p:cNvSpPr>
          <p:nvPr/>
        </p:nvSpPr>
        <p:spPr bwMode="auto">
          <a:xfrm>
            <a:off x="1619492" y="1992537"/>
            <a:ext cx="280890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b="1" i="1" dirty="0">
                <a:solidFill>
                  <a:srgbClr val="FF0000"/>
                </a:solidFill>
                <a:latin typeface="Times New Roman" panose="02020603050405020304" pitchFamily="18" charset="0"/>
                <a:ea typeface="宋体" panose="02010600030101010101" pitchFamily="2" charset="-122"/>
              </a:rPr>
              <a:t>t</a:t>
            </a:r>
            <a:r>
              <a:rPr lang="zh-CN" altLang="en-US" sz="2800" b="1" dirty="0">
                <a:solidFill>
                  <a:srgbClr val="FF0000"/>
                </a:solidFill>
                <a:latin typeface="Times New Roman" panose="02020603050405020304" pitchFamily="18" charset="0"/>
                <a:ea typeface="宋体" panose="02010600030101010101" pitchFamily="2" charset="-122"/>
              </a:rPr>
              <a:t>、</a:t>
            </a:r>
            <a:r>
              <a:rPr lang="en-US" altLang="zh-CN" sz="2800" b="1" i="1" dirty="0" smtClean="0">
                <a:solidFill>
                  <a:srgbClr val="FF0000"/>
                </a:solidFill>
                <a:latin typeface="Times New Roman" panose="02020603050405020304" pitchFamily="18" charset="0"/>
                <a:ea typeface="宋体" panose="02010600030101010101" pitchFamily="2" charset="-122"/>
              </a:rPr>
              <a:t>h</a:t>
            </a:r>
            <a:r>
              <a:rPr lang="en-US" altLang="zh-CN" sz="2800" b="1" dirty="0" smtClean="0">
                <a:solidFill>
                  <a:srgbClr val="FF0000"/>
                </a:solidFill>
                <a:latin typeface="宋体" panose="02010600030101010101" pitchFamily="2" charset="-122"/>
                <a:ea typeface="宋体" panose="02010600030101010101" pitchFamily="2" charset="-122"/>
              </a:rPr>
              <a:t>↓</a:t>
            </a:r>
            <a:r>
              <a:rPr lang="zh-CN" altLang="en-US" sz="2800" b="1" dirty="0" smtClean="0">
                <a:solidFill>
                  <a:srgbClr val="FF0000"/>
                </a:solidFill>
                <a:latin typeface="Times New Roman" panose="02020603050405020304" pitchFamily="18" charset="0"/>
                <a:ea typeface="宋体" panose="02010600030101010101" pitchFamily="2" charset="-122"/>
              </a:rPr>
              <a:t>；</a:t>
            </a:r>
            <a:r>
              <a:rPr lang="zh-CN" altLang="en-US" sz="2800" b="1" i="1" dirty="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a:solidFill>
                  <a:srgbClr val="FF0000"/>
                </a:solidFill>
                <a:latin typeface="Times New Roman" panose="02020603050405020304" pitchFamily="18" charset="0"/>
                <a:ea typeface="宋体" panose="02010600030101010101" pitchFamily="2" charset="-122"/>
              </a:rPr>
              <a:t>↑</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96263" name="Text Box 48"/>
          <p:cNvSpPr txBox="1">
            <a:spLocks noChangeArrowheads="1"/>
          </p:cNvSpPr>
          <p:nvPr/>
        </p:nvSpPr>
        <p:spPr bwMode="auto">
          <a:xfrm>
            <a:off x="2303634" y="5271572"/>
            <a:ext cx="50403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i="1" dirty="0">
                <a:latin typeface="Times New Roman" panose="02020603050405020304" pitchFamily="18" charset="0"/>
                <a:ea typeface="宋体" panose="02010600030101010101" pitchFamily="2" charset="-122"/>
              </a:rPr>
              <a:t>q = h</a:t>
            </a:r>
            <a:r>
              <a:rPr lang="en-US" altLang="zh-CN" sz="2800" b="1" baseline="-25000" dirty="0">
                <a:latin typeface="Times New Roman" panose="02020603050405020304" pitchFamily="18" charset="0"/>
                <a:ea typeface="宋体" panose="02010600030101010101" pitchFamily="2" charset="-122"/>
              </a:rPr>
              <a:t>2</a:t>
            </a:r>
            <a:r>
              <a:rPr lang="en-US" altLang="zh-CN" sz="2800" b="1" dirty="0">
                <a:latin typeface="Times New Roman" panose="02020603050405020304" pitchFamily="18" charset="0"/>
                <a:ea typeface="宋体" panose="02010600030101010101" pitchFamily="2" charset="-122"/>
              </a:rPr>
              <a:t> </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a:t>
            </a:r>
            <a:r>
              <a:rPr lang="en-US" altLang="zh-CN" sz="2800" b="1" dirty="0">
                <a:latin typeface="Times New Roman" panose="02020603050405020304" pitchFamily="18" charset="0"/>
                <a:ea typeface="宋体" panose="02010600030101010101" pitchFamily="2" charset="-122"/>
              </a:rPr>
              <a:t> </a:t>
            </a:r>
            <a:r>
              <a:rPr lang="en-US" altLang="zh-CN" sz="2800" b="1" i="1" dirty="0">
                <a:latin typeface="Times New Roman" panose="02020603050405020304" pitchFamily="18" charset="0"/>
                <a:ea typeface="宋体" panose="02010600030101010101" pitchFamily="2" charset="-122"/>
              </a:rPr>
              <a:t>h</a:t>
            </a:r>
            <a:r>
              <a:rPr lang="en-US" altLang="zh-CN" sz="2800" b="1" baseline="-25000" dirty="0">
                <a:latin typeface="Times New Roman" panose="02020603050405020304" pitchFamily="18" charset="0"/>
                <a:ea typeface="宋体" panose="02010600030101010101" pitchFamily="2" charset="-122"/>
              </a:rPr>
              <a:t>1</a:t>
            </a:r>
            <a:r>
              <a:rPr lang="en-US" altLang="zh-CN" sz="2800" b="1" dirty="0">
                <a:latin typeface="Times New Roman" panose="02020603050405020304" pitchFamily="18" charset="0"/>
                <a:ea typeface="宋体" panose="02010600030101010101" pitchFamily="2" charset="-122"/>
              </a:rPr>
              <a:t>   kJ/kg(</a:t>
            </a:r>
            <a:r>
              <a:rPr lang="zh-CN" altLang="en-US" sz="2800" b="1" dirty="0">
                <a:latin typeface="Times New Roman" panose="02020603050405020304" pitchFamily="18" charset="0"/>
                <a:ea typeface="宋体" panose="02010600030101010101" pitchFamily="2" charset="-122"/>
              </a:rPr>
              <a:t>干空气</a:t>
            </a:r>
            <a:r>
              <a:rPr lang="en-US" altLang="zh-CN"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sp>
        <p:nvSpPr>
          <p:cNvPr id="96264" name="右箭头 234513"/>
          <p:cNvSpPr>
            <a:spLocks noChangeArrowheads="1"/>
          </p:cNvSpPr>
          <p:nvPr/>
        </p:nvSpPr>
        <p:spPr bwMode="auto">
          <a:xfrm>
            <a:off x="590274" y="2159751"/>
            <a:ext cx="835025" cy="227012"/>
          </a:xfrm>
          <a:prstGeom prst="rightArrow">
            <a:avLst>
              <a:gd name="adj1" fmla="val 50000"/>
              <a:gd name="adj2" fmla="val 106229"/>
            </a:avLst>
          </a:prstGeom>
          <a:solidFill>
            <a:srgbClr val="ADAD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11" name="矩形 10"/>
          <p:cNvSpPr/>
          <p:nvPr/>
        </p:nvSpPr>
        <p:spPr>
          <a:xfrm>
            <a:off x="636726" y="659003"/>
            <a:ext cx="7528063" cy="523220"/>
          </a:xfrm>
          <a:prstGeom prst="rect">
            <a:avLst/>
          </a:prstGeom>
        </p:spPr>
        <p:txBody>
          <a:bodyPr wrap="square">
            <a:spAutoFit/>
          </a:bodyPr>
          <a:lstStyle/>
          <a:p>
            <a:r>
              <a:rPr lang="zh-CN" altLang="en-US" sz="2800" b="1" dirty="0" smtClean="0">
                <a:latin typeface="Times New Roman" panose="02020603050405020304" pitchFamily="18" charset="0"/>
                <a:cs typeface="Times New Roman" panose="02020603050405020304" pitchFamily="18" charset="0"/>
              </a:rPr>
              <a:t>定</a:t>
            </a:r>
            <a:r>
              <a:rPr lang="en-US" altLang="zh-CN" sz="2800" b="1" i="1" dirty="0">
                <a:latin typeface="Times New Roman" panose="02020603050405020304" pitchFamily="18" charset="0"/>
                <a:cs typeface="Times New Roman" panose="02020603050405020304" pitchFamily="18" charset="0"/>
              </a:rPr>
              <a:t>d</a:t>
            </a:r>
            <a:r>
              <a:rPr lang="zh-CN" altLang="en-US" sz="2800" b="1" dirty="0">
                <a:latin typeface="Times New Roman" panose="02020603050405020304" pitchFamily="18" charset="0"/>
                <a:cs typeface="Times New Roman" panose="02020603050405020304" pitchFamily="18" charset="0"/>
              </a:rPr>
              <a:t>下</a:t>
            </a:r>
            <a:r>
              <a:rPr lang="zh-CN" altLang="en-US" sz="2800" b="1" dirty="0" smtClean="0">
                <a:latin typeface="Times New Roman" panose="02020603050405020304" pitchFamily="18" charset="0"/>
                <a:cs typeface="Times New Roman" panose="02020603050405020304" pitchFamily="18" charset="0"/>
              </a:rPr>
              <a:t>的冷却过程则相反</a:t>
            </a:r>
            <a:endParaRPr lang="zh-CN" altLang="en-US" sz="2800" b="1" dirty="0">
              <a:latin typeface="Times New Roman" panose="02020603050405020304" pitchFamily="18" charset="0"/>
              <a:cs typeface="Times New Roman" panose="02020603050405020304" pitchFamily="18" charset="0"/>
            </a:endParaRPr>
          </a:p>
        </p:txBody>
      </p:sp>
      <p:sp>
        <p:nvSpPr>
          <p:cNvPr id="12" name="矩形 11"/>
          <p:cNvSpPr/>
          <p:nvPr/>
        </p:nvSpPr>
        <p:spPr>
          <a:xfrm>
            <a:off x="636726" y="1361799"/>
            <a:ext cx="4551501" cy="523220"/>
          </a:xfrm>
          <a:prstGeom prst="rect">
            <a:avLst/>
          </a:prstGeom>
        </p:spPr>
        <p:txBody>
          <a:bodyPr wrap="square">
            <a:spAutoFit/>
          </a:bodyPr>
          <a:lstStyle/>
          <a:p>
            <a:r>
              <a:rPr lang="zh-CN" altLang="en-US" sz="2800" b="1" dirty="0" smtClean="0">
                <a:latin typeface="Times New Roman" panose="02020603050405020304" pitchFamily="18" charset="0"/>
                <a:cs typeface="Times New Roman" panose="02020603050405020304" pitchFamily="18" charset="0"/>
              </a:rPr>
              <a:t>过程</a:t>
            </a:r>
            <a:r>
              <a:rPr lang="en-US" altLang="zh-CN" sz="2800" b="1" dirty="0" smtClean="0">
                <a:latin typeface="Times New Roman" panose="02020603050405020304" pitchFamily="18" charset="0"/>
                <a:ea typeface="宋体" panose="02010600030101010101" pitchFamily="2" charset="-122"/>
              </a:rPr>
              <a:t>1-2</a:t>
            </a:r>
            <a:r>
              <a:rPr lang="en-US" altLang="zh-CN" sz="2800" b="1" dirty="0" smtClean="0">
                <a:latin typeface="Times New Roman" panose="02020603050405020304" pitchFamily="18" charset="0"/>
                <a:ea typeface="宋体" panose="02010600030101010101" pitchFamily="2" charset="-122"/>
                <a:sym typeface="Symbol" panose="05050102010706020507" pitchFamily="18" charset="2"/>
              </a:rPr>
              <a:t></a:t>
            </a:r>
            <a:r>
              <a:rPr lang="zh-CN" altLang="en-US" sz="2800" b="1" dirty="0" smtClean="0">
                <a:latin typeface="Times New Roman" panose="02020603050405020304" pitchFamily="18" charset="0"/>
                <a:cs typeface="Times New Roman" panose="02020603050405020304" pitchFamily="18" charset="0"/>
              </a:rPr>
              <a:t>为单纯冷却</a:t>
            </a:r>
            <a:endParaRPr lang="zh-CN" altLang="en-US" sz="2800" b="1" dirty="0">
              <a:latin typeface="Times New Roman" panose="02020603050405020304" pitchFamily="18" charset="0"/>
              <a:cs typeface="Times New Roman" panose="02020603050405020304" pitchFamily="18" charset="0"/>
            </a:endParaRPr>
          </a:p>
        </p:txBody>
      </p:sp>
      <p:sp>
        <p:nvSpPr>
          <p:cNvPr id="16" name="矩形 15"/>
          <p:cNvSpPr/>
          <p:nvPr/>
        </p:nvSpPr>
        <p:spPr>
          <a:xfrm>
            <a:off x="716170" y="3707001"/>
            <a:ext cx="7751969" cy="1384995"/>
          </a:xfrm>
          <a:prstGeom prst="rect">
            <a:avLst/>
          </a:prstGeom>
        </p:spPr>
        <p:txBody>
          <a:bodyPr wrap="square">
            <a:spAutoFit/>
          </a:bodyPr>
          <a:lstStyle/>
          <a:p>
            <a:r>
              <a:rPr lang="zh-CN" altLang="en-US" sz="2800" b="1" dirty="0" smtClean="0">
                <a:latin typeface="Times New Roman" panose="02020603050405020304" pitchFamily="18" charset="0"/>
                <a:cs typeface="Times New Roman" panose="02020603050405020304" pitchFamily="18" charset="0"/>
              </a:rPr>
              <a:t>忽略</a:t>
            </a:r>
            <a:r>
              <a:rPr lang="zh-CN" altLang="en-US" sz="2800" b="1" dirty="0">
                <a:latin typeface="Times New Roman" panose="02020603050405020304" pitchFamily="18" charset="0"/>
                <a:cs typeface="Times New Roman" panose="02020603050405020304" pitchFamily="18" charset="0"/>
              </a:rPr>
              <a:t>气流的宏观动能和</a:t>
            </a:r>
            <a:r>
              <a:rPr lang="zh-CN" altLang="en-US" sz="2800" b="1" dirty="0" smtClean="0">
                <a:latin typeface="Times New Roman" panose="02020603050405020304" pitchFamily="18" charset="0"/>
                <a:cs typeface="Times New Roman" panose="02020603050405020304" pitchFamily="18" charset="0"/>
              </a:rPr>
              <a:t>重力势能的变化，对</a:t>
            </a:r>
            <a:r>
              <a:rPr lang="en-US" altLang="zh-CN" sz="2800" b="1" dirty="0" smtClean="0">
                <a:latin typeface="Times New Roman" panose="02020603050405020304" pitchFamily="18" charset="0"/>
                <a:cs typeface="Times New Roman" panose="02020603050405020304" pitchFamily="18" charset="0"/>
              </a:rPr>
              <a:t>1kg</a:t>
            </a:r>
            <a:r>
              <a:rPr lang="zh-CN" altLang="en-US" sz="2800" b="1" dirty="0" smtClean="0">
                <a:latin typeface="Times New Roman" panose="02020603050405020304" pitchFamily="18" charset="0"/>
                <a:cs typeface="Times New Roman" panose="02020603050405020304" pitchFamily="18" charset="0"/>
              </a:rPr>
              <a:t>干空气而言，</a:t>
            </a:r>
            <a:r>
              <a:rPr lang="zh-CN" altLang="en-US" sz="2800" b="1" dirty="0">
                <a:latin typeface="Times New Roman" panose="02020603050405020304" pitchFamily="18" charset="0"/>
                <a:cs typeface="Times New Roman" panose="02020603050405020304" pitchFamily="18" charset="0"/>
              </a:rPr>
              <a:t>得到单纯解热或冷却过程中吸收和放出的热量</a:t>
            </a:r>
            <a:r>
              <a:rPr lang="zh-CN" altLang="en-US" sz="2800" b="1" dirty="0" smtClean="0">
                <a:latin typeface="Times New Roman" panose="02020603050405020304" pitchFamily="18" charset="0"/>
                <a:cs typeface="Times New Roman" panose="02020603050405020304" pitchFamily="18" charset="0"/>
              </a:rPr>
              <a:t>为：</a:t>
            </a:r>
            <a:endParaRPr lang="zh-CN" altLang="en-US" sz="2800" b="1" dirty="0">
              <a:latin typeface="Times New Roman" panose="02020603050405020304" pitchFamily="18" charset="0"/>
              <a:cs typeface="Times New Roman" panose="02020603050405020304" pitchFamily="18" charset="0"/>
            </a:endParaRPr>
          </a:p>
        </p:txBody>
      </p:sp>
      <p:pic>
        <p:nvPicPr>
          <p:cNvPr id="10" name="图片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85751" y="422681"/>
            <a:ext cx="3182388" cy="31397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6" name="矩形 26216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97287" name="对象 262162"/>
          <p:cNvGraphicFramePr>
            <a:graphicFrameLocks noChangeAspect="1"/>
          </p:cNvGraphicFramePr>
          <p:nvPr/>
        </p:nvGraphicFramePr>
        <p:xfrm>
          <a:off x="3042134" y="5692580"/>
          <a:ext cx="2663825" cy="546100"/>
        </p:xfrm>
        <a:graphic>
          <a:graphicData uri="http://schemas.openxmlformats.org/presentationml/2006/ole">
            <mc:AlternateContent xmlns:mc="http://schemas.openxmlformats.org/markup-compatibility/2006">
              <mc:Choice xmlns:v="urn:schemas-microsoft-com:vml" Requires="v">
                <p:oleObj spid="_x0000_s38920" name="" r:id="rId1" imgW="1256665" imgH="254000" progId="Equation.DSMT4">
                  <p:embed/>
                </p:oleObj>
              </mc:Choice>
              <mc:Fallback>
                <p:oleObj name="" r:id="rId1" imgW="1256665" imgH="254000" progId="Equation.DSMT4">
                  <p:embed/>
                  <p:pic>
                    <p:nvPicPr>
                      <p:cNvPr id="0" name="对象 26216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2134" y="5692580"/>
                        <a:ext cx="26638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97289" name="图片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82503" y="160917"/>
            <a:ext cx="3646488" cy="230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395288" y="219581"/>
            <a:ext cx="4683884" cy="584775"/>
          </a:xfrm>
          <a:prstGeom prst="rect">
            <a:avLst/>
          </a:prstGeom>
        </p:spPr>
        <p:txBody>
          <a:bodyPr wrap="square">
            <a:spAutoFit/>
          </a:bodyPr>
          <a:lstStyle/>
          <a:p>
            <a:r>
              <a:rPr lang="zh-CN" altLang="en-US" sz="3200" b="1" dirty="0" smtClean="0"/>
              <a:t>二、绝热加湿过程</a:t>
            </a:r>
            <a:endParaRPr lang="zh-CN" altLang="en-US" sz="3200" b="1" dirty="0"/>
          </a:p>
        </p:txBody>
      </p:sp>
      <p:sp>
        <p:nvSpPr>
          <p:cNvPr id="12" name="矩形 11"/>
          <p:cNvSpPr/>
          <p:nvPr/>
        </p:nvSpPr>
        <p:spPr>
          <a:xfrm>
            <a:off x="684213" y="1311061"/>
            <a:ext cx="2732985" cy="523220"/>
          </a:xfrm>
          <a:prstGeom prst="rect">
            <a:avLst/>
          </a:prstGeom>
        </p:spPr>
        <p:txBody>
          <a:bodyPr wrap="square">
            <a:spAutoFit/>
          </a:bodyPr>
          <a:lstStyle/>
          <a:p>
            <a:r>
              <a:rPr lang="en-US" altLang="zh-CN" sz="2800" b="1" dirty="0" smtClean="0">
                <a:latin typeface="Times New Roman" panose="02020603050405020304" pitchFamily="18" charset="0"/>
                <a:cs typeface="Times New Roman" panose="02020603050405020304" pitchFamily="18" charset="0"/>
              </a:rPr>
              <a:t>1</a:t>
            </a:r>
            <a:r>
              <a:rPr lang="zh-CN" altLang="en-US" sz="2800" b="1" dirty="0" smtClean="0">
                <a:latin typeface="Times New Roman" panose="02020603050405020304" pitchFamily="18" charset="0"/>
                <a:cs typeface="Times New Roman" panose="02020603050405020304" pitchFamily="18" charset="0"/>
              </a:rPr>
              <a:t>、喷水加湿</a:t>
            </a:r>
            <a:endParaRPr lang="zh-CN" altLang="en-US" sz="2800" b="1" dirty="0">
              <a:latin typeface="Times New Roman" panose="02020603050405020304" pitchFamily="18" charset="0"/>
              <a:cs typeface="Times New Roman" panose="02020603050405020304" pitchFamily="18" charset="0"/>
            </a:endParaRPr>
          </a:p>
        </p:txBody>
      </p:sp>
      <p:sp>
        <p:nvSpPr>
          <p:cNvPr id="2" name="矩形 1"/>
          <p:cNvSpPr/>
          <p:nvPr/>
        </p:nvSpPr>
        <p:spPr>
          <a:xfrm>
            <a:off x="526550" y="2613577"/>
            <a:ext cx="8090900" cy="1815882"/>
          </a:xfrm>
          <a:prstGeom prst="rect">
            <a:avLst/>
          </a:prstGeom>
        </p:spPr>
        <p:txBody>
          <a:bodyPr wrap="square">
            <a:spAutoFit/>
          </a:bodyPr>
          <a:lstStyle/>
          <a:p>
            <a:r>
              <a:rPr lang="zh-CN" altLang="en-US" sz="2800" b="1" dirty="0"/>
              <a:t>在绝热的条件下向湿空气喷水以增加其</a:t>
            </a:r>
            <a:r>
              <a:rPr lang="zh-CN" altLang="en-US" sz="2800" b="1" dirty="0" smtClean="0"/>
              <a:t>含湿量。</a:t>
            </a:r>
            <a:r>
              <a:rPr lang="zh-CN" altLang="en-US" sz="2800" b="1" dirty="0"/>
              <a:t>因为是绝热的，故水分蒸发所吸收的潜热全部来自于空气自身，这使得加湿后空气的温度降低，所以这种过程又称为蒸发冷却过程</a:t>
            </a:r>
            <a:endParaRPr lang="zh-CN" altLang="en-US" sz="2800" b="1" dirty="0"/>
          </a:p>
        </p:txBody>
      </p:sp>
      <p:sp>
        <p:nvSpPr>
          <p:cNvPr id="14" name="矩形 13"/>
          <p:cNvSpPr/>
          <p:nvPr/>
        </p:nvSpPr>
        <p:spPr>
          <a:xfrm>
            <a:off x="577022" y="4548007"/>
            <a:ext cx="7751969" cy="954107"/>
          </a:xfrm>
          <a:prstGeom prst="rect">
            <a:avLst/>
          </a:prstGeom>
        </p:spPr>
        <p:txBody>
          <a:bodyPr wrap="square">
            <a:spAutoFit/>
          </a:bodyPr>
          <a:lstStyle/>
          <a:p>
            <a:r>
              <a:rPr lang="zh-CN" altLang="en-US" sz="2800" b="1" dirty="0" smtClean="0">
                <a:latin typeface="Times New Roman" panose="02020603050405020304" pitchFamily="18" charset="0"/>
                <a:cs typeface="Times New Roman" panose="02020603050405020304" pitchFamily="18" charset="0"/>
              </a:rPr>
              <a:t>忽略</a:t>
            </a:r>
            <a:r>
              <a:rPr lang="zh-CN" altLang="en-US" sz="2800" b="1" dirty="0">
                <a:latin typeface="Times New Roman" panose="02020603050405020304" pitchFamily="18" charset="0"/>
                <a:cs typeface="Times New Roman" panose="02020603050405020304" pitchFamily="18" charset="0"/>
              </a:rPr>
              <a:t>气流的宏观动能和</a:t>
            </a:r>
            <a:r>
              <a:rPr lang="zh-CN" altLang="en-US" sz="2800" b="1" dirty="0" smtClean="0">
                <a:latin typeface="Times New Roman" panose="02020603050405020304" pitchFamily="18" charset="0"/>
                <a:cs typeface="Times New Roman" panose="02020603050405020304" pitchFamily="18" charset="0"/>
              </a:rPr>
              <a:t>重力势能的变化，对</a:t>
            </a:r>
            <a:r>
              <a:rPr lang="en-US" altLang="zh-CN" sz="2800" b="1" dirty="0" smtClean="0">
                <a:latin typeface="Times New Roman" panose="02020603050405020304" pitchFamily="18" charset="0"/>
                <a:cs typeface="Times New Roman" panose="02020603050405020304" pitchFamily="18" charset="0"/>
              </a:rPr>
              <a:t>1kg</a:t>
            </a:r>
            <a:r>
              <a:rPr lang="zh-CN" altLang="en-US" sz="2800" b="1" dirty="0" smtClean="0">
                <a:latin typeface="Times New Roman" panose="02020603050405020304" pitchFamily="18" charset="0"/>
                <a:cs typeface="Times New Roman" panose="02020603050405020304" pitchFamily="18" charset="0"/>
              </a:rPr>
              <a:t>干空气而言，能量守恒方程为</a:t>
            </a:r>
            <a:endParaRPr lang="zh-CN" altLang="en-US" sz="2800" b="1"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ext Box 12"/>
          <p:cNvSpPr txBox="1">
            <a:spLocks noChangeArrowheads="1"/>
          </p:cNvSpPr>
          <p:nvPr/>
        </p:nvSpPr>
        <p:spPr bwMode="auto">
          <a:xfrm>
            <a:off x="2026892" y="5580403"/>
            <a:ext cx="330584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2800" b="1" i="1" dirty="0">
                <a:solidFill>
                  <a:srgbClr val="FF0000"/>
                </a:solidFill>
                <a:latin typeface="Times New Roman" panose="02020603050405020304" pitchFamily="18" charset="0"/>
                <a:ea typeface="宋体" panose="02010600030101010101" pitchFamily="2" charset="-122"/>
              </a:rPr>
              <a:t>t</a:t>
            </a:r>
            <a:r>
              <a:rPr lang="en-US" altLang="zh-CN" sz="2800" b="1" dirty="0" smtClean="0">
                <a:solidFill>
                  <a:srgbClr val="FF0000"/>
                </a:solidFill>
                <a:latin typeface="宋体" panose="02010600030101010101" pitchFamily="2" charset="-122"/>
                <a:ea typeface="宋体" panose="02010600030101010101" pitchFamily="2" charset="-122"/>
              </a:rPr>
              <a:t>↓</a:t>
            </a:r>
            <a:r>
              <a:rPr lang="zh-CN" altLang="en-US" sz="2800" b="1" dirty="0" smtClean="0">
                <a:solidFill>
                  <a:srgbClr val="FF0000"/>
                </a:solidFill>
                <a:latin typeface="Times New Roman" panose="02020603050405020304" pitchFamily="18" charset="0"/>
                <a:ea typeface="宋体" panose="02010600030101010101" pitchFamily="2" charset="-122"/>
              </a:rPr>
              <a:t>；</a:t>
            </a:r>
            <a:r>
              <a:rPr lang="en-US" altLang="zh-CN" sz="2800" b="1" i="1" dirty="0" smtClean="0">
                <a:solidFill>
                  <a:srgbClr val="FF0000"/>
                </a:solidFill>
                <a:latin typeface="Times New Roman" panose="02020603050405020304" pitchFamily="18" charset="0"/>
                <a:ea typeface="宋体" panose="02010600030101010101" pitchFamily="2" charset="-122"/>
              </a:rPr>
              <a:t>d</a:t>
            </a:r>
            <a:r>
              <a:rPr lang="zh-CN" altLang="en-US" sz="2800" b="1" dirty="0" smtClean="0">
                <a:solidFill>
                  <a:srgbClr val="FF0000"/>
                </a:solidFill>
                <a:latin typeface="Times New Roman" panose="02020603050405020304" pitchFamily="18" charset="0"/>
                <a:ea typeface="宋体" panose="02010600030101010101" pitchFamily="2" charset="-122"/>
              </a:rPr>
              <a:t>、</a:t>
            </a:r>
            <a:r>
              <a:rPr lang="en-US" altLang="zh-CN" sz="2800" b="1" i="1" dirty="0" smtClean="0">
                <a:solidFill>
                  <a:srgbClr val="FF0000"/>
                </a:solidFill>
                <a:latin typeface="Times New Roman" panose="02020603050405020304" pitchFamily="18" charset="0"/>
                <a:ea typeface="宋体" panose="02010600030101010101" pitchFamily="2" charset="-122"/>
              </a:rPr>
              <a:t>h</a:t>
            </a:r>
            <a:r>
              <a:rPr lang="zh-CN" altLang="en-US" sz="2800" b="1" dirty="0" smtClean="0">
                <a:solidFill>
                  <a:srgbClr val="FF0000"/>
                </a:solidFill>
                <a:latin typeface="Times New Roman" panose="02020603050405020304" pitchFamily="18" charset="0"/>
                <a:ea typeface="宋体" panose="02010600030101010101" pitchFamily="2" charset="-122"/>
              </a:rPr>
              <a:t>、</a:t>
            </a:r>
            <a:r>
              <a:rPr lang="zh-CN" altLang="en-US" sz="2800" b="1" i="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smtClean="0">
                <a:solidFill>
                  <a:srgbClr val="FF0000"/>
                </a:solidFill>
                <a:latin typeface="Times New Roman" panose="02020603050405020304" pitchFamily="18" charset="0"/>
                <a:ea typeface="宋体" panose="02010600030101010101" pitchFamily="2" charset="-122"/>
              </a:rPr>
              <a:t>↑</a:t>
            </a:r>
            <a:endParaRPr lang="zh-CN" altLang="en-US" sz="2800" b="1" dirty="0">
              <a:solidFill>
                <a:srgbClr val="FF0000"/>
              </a:solidFill>
              <a:latin typeface="宋体" panose="02010600030101010101" pitchFamily="2" charset="-122"/>
              <a:ea typeface="宋体" panose="02010600030101010101" pitchFamily="2" charset="-122"/>
            </a:endParaRPr>
          </a:p>
        </p:txBody>
      </p:sp>
      <p:sp>
        <p:nvSpPr>
          <p:cNvPr id="98308" name="Text Box 56"/>
          <p:cNvSpPr txBox="1">
            <a:spLocks noChangeArrowheads="1"/>
          </p:cNvSpPr>
          <p:nvPr/>
        </p:nvSpPr>
        <p:spPr bwMode="auto">
          <a:xfrm>
            <a:off x="1910007" y="2114411"/>
            <a:ext cx="26066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i="1" dirty="0" smtClean="0">
                <a:solidFill>
                  <a:srgbClr val="FF0000"/>
                </a:solidFill>
                <a:latin typeface="Times New Roman" panose="02020603050405020304" pitchFamily="18" charset="0"/>
                <a:ea typeface="宋体" panose="02010600030101010101" pitchFamily="2" charset="-122"/>
              </a:rPr>
              <a:t>t</a:t>
            </a:r>
            <a:r>
              <a:rPr lang="en-US" altLang="zh-CN" sz="2800" b="1" dirty="0" smtClean="0">
                <a:solidFill>
                  <a:srgbClr val="FF0000"/>
                </a:solidFill>
                <a:latin typeface="宋体" panose="02010600030101010101" pitchFamily="2" charset="-122"/>
                <a:ea typeface="宋体" panose="02010600030101010101" pitchFamily="2" charset="-122"/>
              </a:rPr>
              <a:t>↓</a:t>
            </a:r>
            <a:r>
              <a:rPr lang="zh-CN" altLang="en-US" sz="2800" b="1" dirty="0" smtClean="0">
                <a:solidFill>
                  <a:srgbClr val="FF0000"/>
                </a:solidFill>
                <a:latin typeface="宋体" panose="02010600030101010101" pitchFamily="2" charset="-122"/>
                <a:ea typeface="宋体" panose="02010600030101010101" pitchFamily="2" charset="-122"/>
              </a:rPr>
              <a:t>；</a:t>
            </a:r>
            <a:r>
              <a:rPr lang="en-US" altLang="zh-CN" sz="2800" b="1" i="1" dirty="0">
                <a:solidFill>
                  <a:srgbClr val="FF0000"/>
                </a:solidFill>
                <a:latin typeface="Times New Roman" panose="02020603050405020304" pitchFamily="18" charset="0"/>
                <a:ea typeface="宋体" panose="02010600030101010101" pitchFamily="2" charset="-122"/>
              </a:rPr>
              <a:t>d</a:t>
            </a:r>
            <a:r>
              <a:rPr lang="zh-CN" altLang="en-US" sz="2800" b="1" dirty="0">
                <a:solidFill>
                  <a:srgbClr val="FF0000"/>
                </a:solidFill>
                <a:latin typeface="Times New Roman" panose="02020603050405020304" pitchFamily="18" charset="0"/>
                <a:ea typeface="宋体" panose="02010600030101010101" pitchFamily="2" charset="-122"/>
              </a:rPr>
              <a:t>、</a:t>
            </a:r>
            <a:r>
              <a:rPr lang="zh-CN" altLang="en-US" sz="2800" b="1" i="1" dirty="0" smtClean="0">
                <a:solidFill>
                  <a:srgbClr val="FF0000"/>
                </a:solidFill>
                <a:latin typeface="Times New Roman" panose="02020603050405020304" pitchFamily="18" charset="0"/>
                <a:ea typeface="宋体" panose="02010600030101010101" pitchFamily="2" charset="-122"/>
                <a:sym typeface="Symbol" panose="05050102010706020507" pitchFamily="18" charset="2"/>
              </a:rPr>
              <a:t> </a:t>
            </a:r>
            <a:r>
              <a:rPr lang="en-US" altLang="zh-CN" sz="2800" b="1" dirty="0" smtClean="0">
                <a:solidFill>
                  <a:srgbClr val="FF0000"/>
                </a:solidFill>
                <a:latin typeface="Times New Roman" panose="02020603050405020304" pitchFamily="18" charset="0"/>
                <a:ea typeface="宋体" panose="02010600030101010101" pitchFamily="2" charset="-122"/>
              </a:rPr>
              <a:t>↑</a:t>
            </a:r>
            <a:endParaRPr lang="zh-CN" altLang="en-US" sz="2800" b="1" dirty="0">
              <a:solidFill>
                <a:srgbClr val="FF0000"/>
              </a:solidFill>
              <a:latin typeface="Times New Roman" panose="02020603050405020304" pitchFamily="18" charset="0"/>
              <a:ea typeface="宋体" panose="02010600030101010101" pitchFamily="2" charset="-122"/>
            </a:endParaRPr>
          </a:p>
        </p:txBody>
      </p:sp>
      <p:graphicFrame>
        <p:nvGraphicFramePr>
          <p:cNvPr id="98310" name="对象 264247"/>
          <p:cNvGraphicFramePr/>
          <p:nvPr/>
        </p:nvGraphicFramePr>
        <p:xfrm>
          <a:off x="2916238" y="333375"/>
          <a:ext cx="2663825" cy="546100"/>
        </p:xfrm>
        <a:graphic>
          <a:graphicData uri="http://schemas.openxmlformats.org/presentationml/2006/ole">
            <mc:AlternateContent xmlns:mc="http://schemas.openxmlformats.org/markup-compatibility/2006">
              <mc:Choice xmlns:v="urn:schemas-microsoft-com:vml" Requires="v">
                <p:oleObj spid="_x0000_s39953" name="" r:id="rId1" imgW="1256665" imgH="254000" progId="Equation.DSMT4">
                  <p:embed/>
                </p:oleObj>
              </mc:Choice>
              <mc:Fallback>
                <p:oleObj name="" r:id="rId1" imgW="1256665" imgH="254000" progId="Equation.DSMT4">
                  <p:embed/>
                  <p:pic>
                    <p:nvPicPr>
                      <p:cNvPr id="0" name="对象 264247"/>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238" y="333375"/>
                        <a:ext cx="266382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8312" name="矩形 26425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graphicFrame>
        <p:nvGraphicFramePr>
          <p:cNvPr id="98313" name="对象 264249"/>
          <p:cNvGraphicFramePr>
            <a:graphicFrameLocks noChangeAspect="1"/>
          </p:cNvGraphicFramePr>
          <p:nvPr/>
        </p:nvGraphicFramePr>
        <p:xfrm>
          <a:off x="1208779" y="3871808"/>
          <a:ext cx="2757805" cy="546100"/>
        </p:xfrm>
        <a:graphic>
          <a:graphicData uri="http://schemas.openxmlformats.org/presentationml/2006/ole">
            <mc:AlternateContent xmlns:mc="http://schemas.openxmlformats.org/markup-compatibility/2006">
              <mc:Choice xmlns:v="urn:schemas-microsoft-com:vml" Requires="v">
                <p:oleObj spid="_x0000_s39954" name="" r:id="rId3" imgW="1282700" imgH="254000" progId="Equation.DSMT4">
                  <p:embed/>
                </p:oleObj>
              </mc:Choice>
              <mc:Fallback>
                <p:oleObj name="" r:id="rId3" imgW="1282700" imgH="254000" progId="Equation.DSMT4">
                  <p:embed/>
                  <p:pic>
                    <p:nvPicPr>
                      <p:cNvPr id="0" name="对象 26424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779" y="3871808"/>
                        <a:ext cx="2757805"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8315" name="右箭头 234513"/>
          <p:cNvSpPr>
            <a:spLocks noChangeArrowheads="1"/>
          </p:cNvSpPr>
          <p:nvPr/>
        </p:nvSpPr>
        <p:spPr bwMode="auto">
          <a:xfrm>
            <a:off x="1073150" y="1631950"/>
            <a:ext cx="833438" cy="227013"/>
          </a:xfrm>
          <a:prstGeom prst="rightArrow">
            <a:avLst>
              <a:gd name="adj1" fmla="val 50000"/>
              <a:gd name="adj2" fmla="val 106026"/>
            </a:avLst>
          </a:prstGeom>
          <a:solidFill>
            <a:srgbClr val="ADAD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98316" name="右箭头 3"/>
          <p:cNvSpPr>
            <a:spLocks noChangeArrowheads="1"/>
          </p:cNvSpPr>
          <p:nvPr/>
        </p:nvSpPr>
        <p:spPr bwMode="auto">
          <a:xfrm>
            <a:off x="1022350" y="2249488"/>
            <a:ext cx="833438" cy="227012"/>
          </a:xfrm>
          <a:prstGeom prst="rightArrow">
            <a:avLst>
              <a:gd name="adj1" fmla="val 50000"/>
              <a:gd name="adj2" fmla="val 106027"/>
            </a:avLst>
          </a:prstGeom>
          <a:solidFill>
            <a:srgbClr val="ADAD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98317" name="右箭头 4"/>
          <p:cNvSpPr>
            <a:spLocks noChangeArrowheads="1"/>
          </p:cNvSpPr>
          <p:nvPr/>
        </p:nvSpPr>
        <p:spPr bwMode="auto">
          <a:xfrm>
            <a:off x="1045645" y="5761205"/>
            <a:ext cx="833438" cy="227012"/>
          </a:xfrm>
          <a:prstGeom prst="rightArrow">
            <a:avLst>
              <a:gd name="adj1" fmla="val 50000"/>
              <a:gd name="adj2" fmla="val 106027"/>
            </a:avLst>
          </a:prstGeom>
          <a:solidFill>
            <a:srgbClr val="ADAD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3" name="矩形 2"/>
          <p:cNvSpPr/>
          <p:nvPr/>
        </p:nvSpPr>
        <p:spPr>
          <a:xfrm>
            <a:off x="1116013" y="862340"/>
            <a:ext cx="5633273" cy="523220"/>
          </a:xfrm>
          <a:prstGeom prst="rect">
            <a:avLst/>
          </a:prstGeom>
        </p:spPr>
        <p:txBody>
          <a:bodyPr wrap="none">
            <a:spAutoFit/>
          </a:bodyPr>
          <a:lstStyle/>
          <a:p>
            <a:r>
              <a:rPr lang="zh-CN" altLang="en-US" sz="2800" b="1" dirty="0" smtClean="0">
                <a:solidFill>
                  <a:prstClr val="black"/>
                </a:solidFill>
                <a:latin typeface="Times New Roman" panose="02020603050405020304" pitchFamily="18" charset="0"/>
                <a:cs typeface="Times New Roman" panose="02020603050405020304" pitchFamily="18" charset="0"/>
              </a:rPr>
              <a:t>喷入水的焓值较小，</a:t>
            </a:r>
            <a:r>
              <a:rPr lang="en-US" altLang="zh-CN" sz="2800" b="1" dirty="0" smtClean="0">
                <a:solidFill>
                  <a:prstClr val="black"/>
                </a:solidFill>
                <a:latin typeface="Times New Roman" panose="02020603050405020304" pitchFamily="18" charset="0"/>
                <a:cs typeface="Times New Roman" panose="02020603050405020304" pitchFamily="18" charset="0"/>
              </a:rPr>
              <a:t>(</a:t>
            </a:r>
            <a:r>
              <a:rPr lang="en-US" altLang="zh-CN" sz="2800" b="1" i="1" dirty="0" smtClean="0">
                <a:solidFill>
                  <a:prstClr val="black"/>
                </a:solidFill>
                <a:latin typeface="Times New Roman" panose="02020603050405020304" pitchFamily="18" charset="0"/>
                <a:cs typeface="Times New Roman" panose="02020603050405020304" pitchFamily="18" charset="0"/>
              </a:rPr>
              <a:t>d</a:t>
            </a:r>
            <a:r>
              <a:rPr lang="en-US" altLang="zh-CN" sz="2800" b="1" baseline="-25000" dirty="0" smtClean="0">
                <a:solidFill>
                  <a:prstClr val="black"/>
                </a:solidFill>
                <a:latin typeface="Times New Roman" panose="02020603050405020304" pitchFamily="18" charset="0"/>
                <a:cs typeface="Times New Roman" panose="02020603050405020304" pitchFamily="18" charset="0"/>
              </a:rPr>
              <a:t>2</a:t>
            </a:r>
            <a:r>
              <a:rPr lang="en-US" altLang="zh-CN" sz="2800" b="1" dirty="0" smtClean="0">
                <a:solidFill>
                  <a:prstClr val="black"/>
                </a:solidFill>
                <a:latin typeface="Times New Roman" panose="02020603050405020304" pitchFamily="18" charset="0"/>
                <a:cs typeface="Times New Roman" panose="02020603050405020304" pitchFamily="18" charset="0"/>
              </a:rPr>
              <a:t>-</a:t>
            </a:r>
            <a:r>
              <a:rPr lang="en-US" altLang="zh-CN" sz="2800" b="1" i="1" dirty="0" smtClean="0">
                <a:solidFill>
                  <a:prstClr val="black"/>
                </a:solidFill>
                <a:latin typeface="Times New Roman" panose="02020603050405020304" pitchFamily="18" charset="0"/>
                <a:cs typeface="Times New Roman" panose="02020603050405020304" pitchFamily="18" charset="0"/>
              </a:rPr>
              <a:t>d</a:t>
            </a:r>
            <a:r>
              <a:rPr lang="en-US" altLang="zh-CN" sz="2800" b="1" baseline="-25000" dirty="0" smtClean="0">
                <a:solidFill>
                  <a:prstClr val="black"/>
                </a:solidFill>
                <a:latin typeface="Times New Roman" panose="02020603050405020304" pitchFamily="18" charset="0"/>
                <a:cs typeface="Times New Roman" panose="02020603050405020304" pitchFamily="18" charset="0"/>
              </a:rPr>
              <a:t>1</a:t>
            </a:r>
            <a:r>
              <a:rPr lang="en-US" altLang="zh-CN" sz="2800" b="1" dirty="0" smtClean="0">
                <a:solidFill>
                  <a:prstClr val="black"/>
                </a:solidFill>
                <a:latin typeface="Times New Roman" panose="02020603050405020304" pitchFamily="18" charset="0"/>
                <a:cs typeface="Times New Roman" panose="02020603050405020304" pitchFamily="18" charset="0"/>
              </a:rPr>
              <a:t>)</a:t>
            </a:r>
            <a:r>
              <a:rPr lang="zh-CN" altLang="en-US" sz="2800" b="1" dirty="0" smtClean="0">
                <a:solidFill>
                  <a:prstClr val="black"/>
                </a:solidFill>
                <a:latin typeface="Times New Roman" panose="02020603050405020304" pitchFamily="18" charset="0"/>
                <a:cs typeface="Times New Roman" panose="02020603050405020304" pitchFamily="18" charset="0"/>
              </a:rPr>
              <a:t>也较小</a:t>
            </a:r>
            <a:endParaRPr lang="zh-CN" altLang="en-US" dirty="0"/>
          </a:p>
        </p:txBody>
      </p:sp>
      <p:sp>
        <p:nvSpPr>
          <p:cNvPr id="18" name="矩形 17"/>
          <p:cNvSpPr/>
          <p:nvPr/>
        </p:nvSpPr>
        <p:spPr>
          <a:xfrm>
            <a:off x="2026892" y="1451630"/>
            <a:ext cx="5929658" cy="523220"/>
          </a:xfrm>
          <a:prstGeom prst="rect">
            <a:avLst/>
          </a:prstGeom>
        </p:spPr>
        <p:txBody>
          <a:bodyPr wrap="square">
            <a:spAutoFit/>
          </a:bodyPr>
          <a:lstStyle/>
          <a:p>
            <a:r>
              <a:rPr lang="zh-CN" altLang="en-US" sz="2800" b="1" dirty="0">
                <a:latin typeface="Times New Roman" panose="02020603050405020304" pitchFamily="18" charset="0"/>
                <a:cs typeface="Times New Roman" panose="02020603050405020304" pitchFamily="18" charset="0"/>
              </a:rPr>
              <a:t>绝热</a:t>
            </a:r>
            <a:r>
              <a:rPr lang="zh-CN" altLang="en-US" sz="2800" b="1" dirty="0" smtClean="0">
                <a:latin typeface="Times New Roman" panose="02020603050405020304" pitchFamily="18" charset="0"/>
                <a:cs typeface="Times New Roman" panose="02020603050405020304" pitchFamily="18" charset="0"/>
              </a:rPr>
              <a:t>喷水加湿近似为定焓过程</a:t>
            </a:r>
            <a:r>
              <a:rPr lang="en-US" altLang="zh-CN" sz="2800" b="1" dirty="0" smtClean="0">
                <a:latin typeface="Times New Roman" panose="02020603050405020304" pitchFamily="18" charset="0"/>
                <a:cs typeface="Times New Roman" panose="02020603050405020304" pitchFamily="18" charset="0"/>
              </a:rPr>
              <a:t>1-2</a:t>
            </a:r>
            <a:endParaRPr lang="zh-CN" altLang="en-US" sz="2800" b="1" dirty="0">
              <a:latin typeface="Times New Roman" panose="02020603050405020304" pitchFamily="18" charset="0"/>
              <a:cs typeface="Times New Roman" panose="02020603050405020304" pitchFamily="18" charset="0"/>
            </a:endParaRPr>
          </a:p>
        </p:txBody>
      </p:sp>
      <p:sp>
        <p:nvSpPr>
          <p:cNvPr id="19" name="矩形 18"/>
          <p:cNvSpPr/>
          <p:nvPr/>
        </p:nvSpPr>
        <p:spPr>
          <a:xfrm>
            <a:off x="612475" y="3024188"/>
            <a:ext cx="4348463" cy="523220"/>
          </a:xfrm>
          <a:prstGeom prst="rect">
            <a:avLst/>
          </a:prstGeom>
        </p:spPr>
        <p:txBody>
          <a:bodyPr wrap="square">
            <a:spAutoFit/>
          </a:bodyPr>
          <a:lstStyle/>
          <a:p>
            <a:r>
              <a:rPr lang="en-US" altLang="zh-CN"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、喷水蒸气加湿</a:t>
            </a:r>
            <a:r>
              <a:rPr lang="en-US" altLang="zh-CN" sz="2800" b="1" dirty="0">
                <a:latin typeface="Times New Roman" panose="02020603050405020304" pitchFamily="18" charset="0"/>
                <a:ea typeface="宋体" panose="02010600030101010101" pitchFamily="2" charset="-122"/>
              </a:rPr>
              <a:t>1-2</a:t>
            </a:r>
            <a:r>
              <a:rPr lang="en-US" altLang="zh-CN" sz="2800" b="1" dirty="0">
                <a:latin typeface="Times New Roman" panose="02020603050405020304" pitchFamily="18" charset="0"/>
                <a:ea typeface="宋体" panose="02010600030101010101" pitchFamily="2" charset="-122"/>
                <a:sym typeface="Symbol" panose="05050102010706020507" pitchFamily="18" charset="2"/>
              </a:rPr>
              <a:t></a:t>
            </a:r>
            <a:endParaRPr lang="zh-CN" altLang="en-US" sz="2800" b="1" dirty="0">
              <a:latin typeface="Times New Roman" panose="02020603050405020304" pitchFamily="18" charset="0"/>
              <a:cs typeface="Times New Roman" panose="02020603050405020304" pitchFamily="18" charset="0"/>
            </a:endParaRPr>
          </a:p>
        </p:txBody>
      </p:sp>
      <p:sp>
        <p:nvSpPr>
          <p:cNvPr id="20" name="矩形 19"/>
          <p:cNvSpPr/>
          <p:nvPr/>
        </p:nvSpPr>
        <p:spPr>
          <a:xfrm>
            <a:off x="1092381" y="4742308"/>
            <a:ext cx="3791423" cy="523220"/>
          </a:xfrm>
          <a:prstGeom prst="rect">
            <a:avLst/>
          </a:prstGeom>
        </p:spPr>
        <p:txBody>
          <a:bodyPr wrap="none">
            <a:spAutoFit/>
          </a:bodyPr>
          <a:lstStyle/>
          <a:p>
            <a:r>
              <a:rPr lang="zh-CN" altLang="en-US" sz="2800" b="1" dirty="0" smtClean="0">
                <a:solidFill>
                  <a:prstClr val="black"/>
                </a:solidFill>
                <a:latin typeface="Times New Roman" panose="02020603050405020304" pitchFamily="18" charset="0"/>
                <a:cs typeface="Times New Roman" panose="02020603050405020304" pitchFamily="18" charset="0"/>
              </a:rPr>
              <a:t>水</a:t>
            </a:r>
            <a:r>
              <a:rPr lang="zh-CN" altLang="en-US" sz="2800" b="1" dirty="0">
                <a:solidFill>
                  <a:prstClr val="black"/>
                </a:solidFill>
                <a:latin typeface="Times New Roman" panose="02020603050405020304" pitchFamily="18" charset="0"/>
                <a:cs typeface="Times New Roman" panose="02020603050405020304" pitchFamily="18" charset="0"/>
              </a:rPr>
              <a:t>蒸气</a:t>
            </a:r>
            <a:r>
              <a:rPr lang="zh-CN" altLang="en-US" sz="2800" b="1" dirty="0" smtClean="0">
                <a:solidFill>
                  <a:prstClr val="black"/>
                </a:solidFill>
                <a:latin typeface="Times New Roman" panose="02020603050405020304" pitchFamily="18" charset="0"/>
                <a:cs typeface="Times New Roman" panose="02020603050405020304" pitchFamily="18" charset="0"/>
              </a:rPr>
              <a:t>的焓值不能忽略</a:t>
            </a:r>
            <a:endParaRPr lang="zh-CN" altLang="en-US" dirty="0"/>
          </a:p>
        </p:txBody>
      </p:sp>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78278" y="2249488"/>
            <a:ext cx="3279932" cy="362133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矩形 26216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pic>
        <p:nvPicPr>
          <p:cNvPr id="99333" name="图片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236898" y="1006475"/>
            <a:ext cx="3235325"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395288" y="219581"/>
            <a:ext cx="7366952" cy="584775"/>
          </a:xfrm>
          <a:prstGeom prst="rect">
            <a:avLst/>
          </a:prstGeom>
        </p:spPr>
        <p:txBody>
          <a:bodyPr wrap="square">
            <a:spAutoFit/>
          </a:bodyPr>
          <a:lstStyle/>
          <a:p>
            <a:r>
              <a:rPr lang="zh-CN" altLang="en-US" sz="3200" b="1" dirty="0" smtClean="0"/>
              <a:t>三、加热加湿过程和放热加湿过程</a:t>
            </a:r>
            <a:endParaRPr lang="zh-CN" altLang="en-US" sz="3200" b="1" dirty="0"/>
          </a:p>
        </p:txBody>
      </p:sp>
      <p:sp>
        <p:nvSpPr>
          <p:cNvPr id="12" name="矩形 11"/>
          <p:cNvSpPr/>
          <p:nvPr/>
        </p:nvSpPr>
        <p:spPr>
          <a:xfrm>
            <a:off x="664898" y="1712032"/>
            <a:ext cx="4334827" cy="523220"/>
          </a:xfrm>
          <a:prstGeom prst="rect">
            <a:avLst/>
          </a:prstGeom>
        </p:spPr>
        <p:txBody>
          <a:bodyPr wrap="square">
            <a:spAutoFit/>
          </a:bodyPr>
          <a:lstStyle/>
          <a:p>
            <a:r>
              <a:rPr lang="en-US" altLang="zh-CN" sz="2800" b="1" dirty="0" smtClean="0">
                <a:latin typeface="Times New Roman" panose="02020603050405020304" pitchFamily="18" charset="0"/>
                <a:cs typeface="Times New Roman" panose="02020603050405020304" pitchFamily="18" charset="0"/>
              </a:rPr>
              <a:t>1</a:t>
            </a:r>
            <a:r>
              <a:rPr lang="zh-CN" altLang="en-US" sz="2800" b="1" dirty="0" smtClean="0">
                <a:latin typeface="Times New Roman" panose="02020603050405020304" pitchFamily="18" charset="0"/>
                <a:cs typeface="Times New Roman" panose="02020603050405020304" pitchFamily="18" charset="0"/>
              </a:rPr>
              <a:t>、加热加湿（过程</a:t>
            </a:r>
            <a:r>
              <a:rPr lang="en-US" altLang="zh-CN" sz="2800" b="1" dirty="0" smtClean="0">
                <a:latin typeface="Times New Roman" panose="02020603050405020304" pitchFamily="18" charset="0"/>
                <a:cs typeface="Times New Roman" panose="02020603050405020304" pitchFamily="18" charset="0"/>
              </a:rPr>
              <a:t>1-2</a:t>
            </a:r>
            <a:r>
              <a:rPr lang="zh-CN" altLang="en-US" sz="2800" b="1" dirty="0" smtClean="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664898" y="3057525"/>
            <a:ext cx="4572000" cy="1569660"/>
          </a:xfrm>
          <a:prstGeom prst="rect">
            <a:avLst/>
          </a:prstGeom>
        </p:spPr>
        <p:txBody>
          <a:bodyPr>
            <a:spAutoFit/>
          </a:bodyPr>
          <a:lstStyle/>
          <a:p>
            <a:r>
              <a:rPr lang="zh-CN" altLang="en-US" sz="2400" b="1" dirty="0"/>
              <a:t>对湿空气同时加入水分和热量，湿空气的焓和含湿量都将增加</a:t>
            </a:r>
            <a:r>
              <a:rPr lang="zh-CN" altLang="en-US" sz="2400" b="1" dirty="0" smtClean="0"/>
              <a:t>，该过程线</a:t>
            </a:r>
            <a:r>
              <a:rPr lang="zh-CN" altLang="en-US" sz="2400" b="1" dirty="0"/>
              <a:t>介于单纯加热过程和绝热加湿过程线</a:t>
            </a:r>
            <a:r>
              <a:rPr lang="zh-CN" altLang="en-US" sz="2400" b="1" dirty="0" smtClean="0"/>
              <a:t>之间</a:t>
            </a:r>
            <a:endParaRPr lang="zh-CN" altLang="en-US" sz="2400" b="1"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1963" y="3398929"/>
            <a:ext cx="2865368" cy="28165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矩形 26216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11" name="矩形 10"/>
          <p:cNvSpPr/>
          <p:nvPr/>
        </p:nvSpPr>
        <p:spPr>
          <a:xfrm>
            <a:off x="395288" y="219581"/>
            <a:ext cx="7366952" cy="584775"/>
          </a:xfrm>
          <a:prstGeom prst="rect">
            <a:avLst/>
          </a:prstGeom>
        </p:spPr>
        <p:txBody>
          <a:bodyPr wrap="square">
            <a:spAutoFit/>
          </a:bodyPr>
          <a:lstStyle/>
          <a:p>
            <a:r>
              <a:rPr lang="zh-CN" altLang="en-US" sz="3200" b="1" dirty="0" smtClean="0"/>
              <a:t>三、加热加湿过程和放热加湿过程</a:t>
            </a:r>
            <a:endParaRPr lang="zh-CN" altLang="en-US" sz="3200" b="1" dirty="0"/>
          </a:p>
        </p:txBody>
      </p:sp>
      <p:sp>
        <p:nvSpPr>
          <p:cNvPr id="12" name="矩形 11"/>
          <p:cNvSpPr/>
          <p:nvPr/>
        </p:nvSpPr>
        <p:spPr>
          <a:xfrm>
            <a:off x="664898" y="1712032"/>
            <a:ext cx="4334827" cy="523220"/>
          </a:xfrm>
          <a:prstGeom prst="rect">
            <a:avLst/>
          </a:prstGeom>
        </p:spPr>
        <p:txBody>
          <a:bodyPr wrap="square">
            <a:spAutoFit/>
          </a:bodyPr>
          <a:lstStyle/>
          <a:p>
            <a:r>
              <a:rPr lang="en-US" altLang="zh-CN" sz="2800" b="1" dirty="0" smtClean="0">
                <a:latin typeface="Times New Roman" panose="02020603050405020304" pitchFamily="18" charset="0"/>
                <a:cs typeface="Times New Roman" panose="02020603050405020304" pitchFamily="18" charset="0"/>
              </a:rPr>
              <a:t>2</a:t>
            </a:r>
            <a:r>
              <a:rPr lang="zh-CN" altLang="en-US" sz="2800" b="1" dirty="0" smtClean="0">
                <a:latin typeface="Times New Roman" panose="02020603050405020304" pitchFamily="18" charset="0"/>
                <a:cs typeface="Times New Roman" panose="02020603050405020304" pitchFamily="18" charset="0"/>
              </a:rPr>
              <a:t>、放热加湿（过程</a:t>
            </a:r>
            <a:r>
              <a:rPr lang="en-US" altLang="zh-CN" sz="2800" b="1" dirty="0">
                <a:latin typeface="Times New Roman" panose="02020603050405020304" pitchFamily="18" charset="0"/>
                <a:ea typeface="宋体" panose="02010600030101010101" pitchFamily="2" charset="-122"/>
              </a:rPr>
              <a:t>1-2ʹ </a:t>
            </a:r>
            <a:r>
              <a:rPr lang="zh-CN" altLang="en-US" sz="2800" b="1" dirty="0" smtClean="0">
                <a:latin typeface="Times New Roman" panose="02020603050405020304" pitchFamily="18" charset="0"/>
                <a:cs typeface="Times New Roman" panose="02020603050405020304" pitchFamily="18" charset="0"/>
              </a:rPr>
              <a:t>）</a:t>
            </a:r>
            <a:endParaRPr lang="zh-CN" altLang="en-US" sz="2800" b="1" dirty="0">
              <a:latin typeface="Times New Roman" panose="02020603050405020304" pitchFamily="18" charset="0"/>
              <a:cs typeface="Times New Roman" panose="02020603050405020304" pitchFamily="18" charset="0"/>
            </a:endParaRPr>
          </a:p>
        </p:txBody>
      </p:sp>
      <p:sp>
        <p:nvSpPr>
          <p:cNvPr id="3" name="矩形 2"/>
          <p:cNvSpPr/>
          <p:nvPr/>
        </p:nvSpPr>
        <p:spPr>
          <a:xfrm>
            <a:off x="664898" y="2949151"/>
            <a:ext cx="4572000" cy="1569660"/>
          </a:xfrm>
          <a:prstGeom prst="rect">
            <a:avLst/>
          </a:prstGeom>
        </p:spPr>
        <p:txBody>
          <a:bodyPr>
            <a:spAutoFit/>
          </a:bodyPr>
          <a:lstStyle/>
          <a:p>
            <a:r>
              <a:rPr lang="zh-CN" altLang="en-US" sz="2400" b="1" dirty="0" smtClean="0"/>
              <a:t>如果</a:t>
            </a:r>
            <a:r>
              <a:rPr lang="zh-CN" altLang="en-US" sz="2400" b="1" dirty="0"/>
              <a:t>在对湿空气加入水分的同时，空气受冷放热，这种加湿而放热的过程线介于单纯冷却和绝热加湿过程线之间</a:t>
            </a:r>
            <a:endParaRPr lang="zh-CN" altLang="en-US" sz="2400" b="1" dirty="0"/>
          </a:p>
        </p:txBody>
      </p:sp>
      <p:sp>
        <p:nvSpPr>
          <p:cNvPr id="2" name="矩形 1"/>
          <p:cNvSpPr/>
          <p:nvPr/>
        </p:nvSpPr>
        <p:spPr>
          <a:xfrm>
            <a:off x="1007165" y="5171703"/>
            <a:ext cx="7129669" cy="830997"/>
          </a:xfrm>
          <a:prstGeom prst="rect">
            <a:avLst/>
          </a:prstGeom>
        </p:spPr>
        <p:txBody>
          <a:bodyPr wrap="square">
            <a:spAutoFit/>
          </a:bodyPr>
          <a:lstStyle/>
          <a:p>
            <a:r>
              <a:rPr lang="zh-CN" altLang="en-US" sz="2400" b="1" dirty="0" smtClean="0">
                <a:solidFill>
                  <a:srgbClr val="0070C0"/>
                </a:solidFill>
              </a:rPr>
              <a:t>加热或放热加</a:t>
            </a:r>
            <a:r>
              <a:rPr lang="zh-CN" altLang="en-US" sz="2400" b="1" dirty="0">
                <a:solidFill>
                  <a:srgbClr val="0070C0"/>
                </a:solidFill>
              </a:rPr>
              <a:t>湿过程中加入或放出的热量等于湿空气的焓变化量，加入的水分等于其含湿量的增量</a:t>
            </a:r>
            <a:endParaRPr lang="zh-CN" altLang="en-US" sz="2400" b="1" dirty="0">
              <a:solidFill>
                <a:srgbClr val="0070C0"/>
              </a:solidFill>
            </a:endParaRP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20592" y="1540853"/>
            <a:ext cx="2865368" cy="281659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Text Box 24"/>
          <p:cNvSpPr txBox="1">
            <a:spLocks noChangeArrowheads="1"/>
          </p:cNvSpPr>
          <p:nvPr/>
        </p:nvSpPr>
        <p:spPr bwMode="auto">
          <a:xfrm>
            <a:off x="179388" y="2492375"/>
            <a:ext cx="52562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lang="zh-CN" altLang="en-US" sz="2800" b="1" dirty="0">
                <a:latin typeface="Times New Roman" panose="02020603050405020304" pitchFamily="18" charset="0"/>
                <a:ea typeface="宋体" panose="02010600030101010101" pitchFamily="2" charset="-122"/>
              </a:rPr>
              <a:t>    </a:t>
            </a:r>
            <a:endParaRPr lang="zh-CN" altLang="en-US" sz="2800" b="1" dirty="0">
              <a:latin typeface="Times New Roman" panose="02020603050405020304" pitchFamily="18" charset="0"/>
              <a:ea typeface="宋体" panose="02010600030101010101" pitchFamily="2" charset="-122"/>
            </a:endParaRPr>
          </a:p>
        </p:txBody>
      </p:sp>
      <p:pic>
        <p:nvPicPr>
          <p:cNvPr id="100361" name="图片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545999" y="367385"/>
            <a:ext cx="2961979" cy="241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p:nvPr/>
        </p:nvSpPr>
        <p:spPr>
          <a:xfrm>
            <a:off x="444784" y="234375"/>
            <a:ext cx="4226401" cy="584775"/>
          </a:xfrm>
          <a:prstGeom prst="rect">
            <a:avLst/>
          </a:prstGeom>
        </p:spPr>
        <p:txBody>
          <a:bodyPr wrap="square">
            <a:spAutoFit/>
          </a:bodyPr>
          <a:lstStyle/>
          <a:p>
            <a:r>
              <a:rPr lang="zh-CN" altLang="en-US" sz="3200" b="1" dirty="0" smtClean="0"/>
              <a:t>四、冷却去湿过程</a:t>
            </a:r>
            <a:endParaRPr lang="zh-CN" altLang="en-US" sz="3200" b="1" dirty="0"/>
          </a:p>
        </p:txBody>
      </p:sp>
      <p:sp>
        <p:nvSpPr>
          <p:cNvPr id="2" name="矩形 1"/>
          <p:cNvSpPr/>
          <p:nvPr/>
        </p:nvSpPr>
        <p:spPr>
          <a:xfrm>
            <a:off x="454508" y="1465640"/>
            <a:ext cx="5064436" cy="1569660"/>
          </a:xfrm>
          <a:prstGeom prst="rect">
            <a:avLst/>
          </a:prstGeom>
        </p:spPr>
        <p:txBody>
          <a:bodyPr wrap="square">
            <a:spAutoFit/>
          </a:bodyPr>
          <a:lstStyle/>
          <a:p>
            <a:r>
              <a:rPr lang="zh-CN" altLang="en-US" sz="2400" b="1" dirty="0">
                <a:latin typeface="Times New Roman" panose="02020603050405020304" pitchFamily="18" charset="0"/>
                <a:cs typeface="Times New Roman" panose="02020603050405020304" pitchFamily="18" charset="0"/>
              </a:rPr>
              <a:t>为了降低湿空气的含湿量，可以将湿空气冷却到露点A</a:t>
            </a:r>
            <a:r>
              <a:rPr lang="zh-CN" altLang="en-US" sz="2400" b="1" dirty="0" smtClean="0">
                <a:latin typeface="Times New Roman" panose="02020603050405020304" pitchFamily="18" charset="0"/>
                <a:cs typeface="Times New Roman" panose="02020603050405020304" pitchFamily="18" charset="0"/>
              </a:rPr>
              <a:t>，使其</a:t>
            </a:r>
            <a:r>
              <a:rPr lang="zh-CN" altLang="en-US" sz="2400" b="1" dirty="0">
                <a:latin typeface="Times New Roman" panose="02020603050405020304" pitchFamily="18" charset="0"/>
                <a:cs typeface="Times New Roman" panose="02020603050405020304" pitchFamily="18" charset="0"/>
              </a:rPr>
              <a:t>析出水分。析出水分时过程</a:t>
            </a:r>
            <a:r>
              <a:rPr lang="zh-CN" altLang="en-US" sz="2400" b="1" dirty="0" smtClean="0">
                <a:latin typeface="Times New Roman" panose="02020603050405020304" pitchFamily="18" charset="0"/>
                <a:cs typeface="Times New Roman" panose="02020603050405020304" pitchFamily="18" charset="0"/>
              </a:rPr>
              <a:t>沿</a:t>
            </a:r>
            <a:r>
              <a:rPr lang="el-GR" altLang="zh-CN" sz="2400" b="1" i="1" dirty="0" smtClean="0">
                <a:latin typeface="Times New Roman" panose="02020603050405020304" pitchFamily="18" charset="0"/>
                <a:ea typeface="微软雅黑" panose="020B0503020204020204" charset="-122"/>
                <a:cs typeface="Times New Roman" panose="02020603050405020304" pitchFamily="18" charset="0"/>
              </a:rPr>
              <a:t>φ</a:t>
            </a:r>
            <a:r>
              <a:rPr lang="en-US" altLang="zh-CN" sz="2400" b="1" dirty="0" smtClean="0">
                <a:latin typeface="Times New Roman" panose="02020603050405020304" pitchFamily="18" charset="0"/>
                <a:cs typeface="Times New Roman" panose="02020603050405020304" pitchFamily="18" charset="0"/>
              </a:rPr>
              <a:t>=100</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进行（过程</a:t>
            </a:r>
            <a:r>
              <a:rPr lang="en-US" altLang="zh-CN" sz="2400" b="1" dirty="0">
                <a:latin typeface="Times New Roman" panose="02020603050405020304" pitchFamily="18" charset="0"/>
                <a:cs typeface="Times New Roman" panose="02020603050405020304" pitchFamily="18" charset="0"/>
              </a:rPr>
              <a:t>A-2</a:t>
            </a:r>
            <a:r>
              <a:rPr lang="zh-CN" altLang="en-US" sz="2400" b="1" dirty="0">
                <a:latin typeface="Times New Roman" panose="02020603050405020304" pitchFamily="18" charset="0"/>
                <a:cs typeface="Times New Roman" panose="02020603050405020304" pitchFamily="18" charset="0"/>
              </a:rPr>
              <a:t>），湿空气始终处于</a:t>
            </a:r>
            <a:r>
              <a:rPr lang="zh-CN" altLang="en-US" sz="2400" b="1" dirty="0" smtClean="0">
                <a:latin typeface="Times New Roman" panose="02020603050405020304" pitchFamily="18" charset="0"/>
                <a:cs typeface="Times New Roman" panose="02020603050405020304" pitchFamily="18" charset="0"/>
              </a:rPr>
              <a:t>饱和状态</a:t>
            </a:r>
            <a:endParaRPr lang="zh-CN" altLang="en-US" sz="2400" b="1" dirty="0">
              <a:latin typeface="Times New Roman" panose="02020603050405020304" pitchFamily="18" charset="0"/>
              <a:cs typeface="Times New Roman" panose="02020603050405020304" pitchFamily="18" charset="0"/>
            </a:endParaRPr>
          </a:p>
        </p:txBody>
      </p:sp>
      <p:sp>
        <p:nvSpPr>
          <p:cNvPr id="14" name="Text Box 56"/>
          <p:cNvSpPr txBox="1">
            <a:spLocks noChangeArrowheads="1"/>
          </p:cNvSpPr>
          <p:nvPr/>
        </p:nvSpPr>
        <p:spPr bwMode="auto">
          <a:xfrm>
            <a:off x="1843746" y="3236773"/>
            <a:ext cx="26066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i="1" dirty="0">
                <a:solidFill>
                  <a:srgbClr val="FF0000"/>
                </a:solidFill>
                <a:latin typeface="Times New Roman" panose="02020603050405020304" pitchFamily="18" charset="0"/>
                <a:ea typeface="宋体" panose="02010600030101010101" pitchFamily="2" charset="-122"/>
              </a:rPr>
              <a:t>d</a:t>
            </a:r>
            <a:r>
              <a:rPr lang="zh-CN" altLang="en-US" sz="2800" b="1" dirty="0">
                <a:solidFill>
                  <a:srgbClr val="FF0000"/>
                </a:solidFill>
                <a:latin typeface="Times New Roman" panose="02020603050405020304" pitchFamily="18" charset="0"/>
                <a:ea typeface="宋体" panose="02010600030101010101" pitchFamily="2" charset="-122"/>
              </a:rPr>
              <a:t>、 </a:t>
            </a:r>
            <a:r>
              <a:rPr lang="en-US" altLang="zh-CN" sz="2800" b="1" i="1" dirty="0" smtClean="0">
                <a:solidFill>
                  <a:srgbClr val="FF0000"/>
                </a:solidFill>
                <a:latin typeface="Times New Roman" panose="02020603050405020304" pitchFamily="18" charset="0"/>
                <a:ea typeface="宋体" panose="02010600030101010101" pitchFamily="2" charset="-122"/>
              </a:rPr>
              <a:t>t</a:t>
            </a:r>
            <a:r>
              <a:rPr lang="zh-CN" altLang="en-US" sz="2800" b="1" dirty="0" smtClean="0">
                <a:solidFill>
                  <a:srgbClr val="FF0000"/>
                </a:solidFill>
                <a:latin typeface="Times New Roman" panose="02020603050405020304" pitchFamily="18" charset="0"/>
                <a:ea typeface="宋体" panose="02010600030101010101" pitchFamily="2" charset="-122"/>
              </a:rPr>
              <a:t>、</a:t>
            </a:r>
            <a:r>
              <a:rPr lang="en-US" altLang="zh-CN" sz="2800" b="1" i="1" dirty="0" smtClean="0">
                <a:solidFill>
                  <a:srgbClr val="FF0000"/>
                </a:solidFill>
                <a:latin typeface="Times New Roman" panose="02020603050405020304" pitchFamily="18" charset="0"/>
                <a:ea typeface="宋体" panose="02010600030101010101" pitchFamily="2" charset="-122"/>
              </a:rPr>
              <a:t>h</a:t>
            </a:r>
            <a:r>
              <a:rPr lang="en-US" altLang="zh-CN" sz="2800" b="1" dirty="0" smtClean="0">
                <a:solidFill>
                  <a:srgbClr val="FF0000"/>
                </a:solidFill>
                <a:latin typeface="宋体" panose="02010600030101010101" pitchFamily="2" charset="-122"/>
                <a:ea typeface="宋体" panose="02010600030101010101" pitchFamily="2" charset="-122"/>
              </a:rPr>
              <a:t>↓</a:t>
            </a:r>
            <a:endParaRPr lang="zh-CN" altLang="en-US" sz="2800" b="1" dirty="0">
              <a:solidFill>
                <a:srgbClr val="FF0000"/>
              </a:solidFill>
              <a:latin typeface="Times New Roman" panose="02020603050405020304" pitchFamily="18" charset="0"/>
              <a:ea typeface="宋体" panose="02010600030101010101" pitchFamily="2" charset="-122"/>
            </a:endParaRPr>
          </a:p>
        </p:txBody>
      </p:sp>
      <p:sp>
        <p:nvSpPr>
          <p:cNvPr id="15" name="右箭头 3"/>
          <p:cNvSpPr>
            <a:spLocks noChangeArrowheads="1"/>
          </p:cNvSpPr>
          <p:nvPr/>
        </p:nvSpPr>
        <p:spPr bwMode="auto">
          <a:xfrm>
            <a:off x="956089" y="3371850"/>
            <a:ext cx="833438" cy="227012"/>
          </a:xfrm>
          <a:prstGeom prst="rightArrow">
            <a:avLst>
              <a:gd name="adj1" fmla="val 50000"/>
              <a:gd name="adj2" fmla="val 106027"/>
            </a:avLst>
          </a:prstGeom>
          <a:solidFill>
            <a:srgbClr val="ADADA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
        <p:nvSpPr>
          <p:cNvPr id="16" name="矩形 15"/>
          <p:cNvSpPr/>
          <p:nvPr/>
        </p:nvSpPr>
        <p:spPr>
          <a:xfrm>
            <a:off x="572329" y="3950632"/>
            <a:ext cx="4717221" cy="523220"/>
          </a:xfrm>
          <a:prstGeom prst="rect">
            <a:avLst/>
          </a:prstGeom>
        </p:spPr>
        <p:txBody>
          <a:bodyPr wrap="square">
            <a:spAutoFit/>
          </a:bodyPr>
          <a:lstStyle/>
          <a:p>
            <a:r>
              <a:rPr lang="zh-CN" altLang="en-US" sz="2800" b="1" dirty="0" smtClean="0">
                <a:latin typeface="Times New Roman" panose="02020603050405020304" pitchFamily="18" charset="0"/>
                <a:cs typeface="Times New Roman" panose="02020603050405020304" pitchFamily="18" charset="0"/>
              </a:rPr>
              <a:t>冷却介质带走的热量为</a:t>
            </a:r>
            <a:endParaRPr lang="zh-CN" altLang="en-US" sz="2800" b="1" dirty="0">
              <a:latin typeface="Times New Roman" panose="02020603050405020304" pitchFamily="18" charset="0"/>
              <a:cs typeface="Times New Roman" panose="02020603050405020304" pitchFamily="18" charset="0"/>
            </a:endParaRPr>
          </a:p>
        </p:txBody>
      </p:sp>
      <p:graphicFrame>
        <p:nvGraphicFramePr>
          <p:cNvPr id="6" name="对象 5"/>
          <p:cNvGraphicFramePr>
            <a:graphicFrameLocks noChangeAspect="1"/>
          </p:cNvGraphicFramePr>
          <p:nvPr/>
        </p:nvGraphicFramePr>
        <p:xfrm>
          <a:off x="1088917" y="4825622"/>
          <a:ext cx="3167380" cy="546100"/>
        </p:xfrm>
        <a:graphic>
          <a:graphicData uri="http://schemas.openxmlformats.org/presentationml/2006/ole">
            <mc:AlternateContent xmlns:mc="http://schemas.openxmlformats.org/markup-compatibility/2006">
              <mc:Choice xmlns:v="urn:schemas-microsoft-com:vml" Requires="v">
                <p:oleObj spid="_x0000_s43019" name="Equation" r:id="rId2" imgW="1473200" imgH="254000" progId="Equation.DSMT4">
                  <p:embed/>
                </p:oleObj>
              </mc:Choice>
              <mc:Fallback>
                <p:oleObj name="Equation" r:id="rId2" imgW="1473200" imgH="254000" progId="Equation.DSMT4">
                  <p:embed/>
                  <p:pic>
                    <p:nvPicPr>
                      <p:cNvPr id="0"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8917" y="4825622"/>
                        <a:ext cx="3167380" cy="546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1738" y="3035300"/>
            <a:ext cx="2810500" cy="31580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1"/>
          <p:cNvSpPr txBox="1">
            <a:spLocks noChangeArrowheads="1"/>
          </p:cNvSpPr>
          <p:nvPr/>
        </p:nvSpPr>
        <p:spPr bwMode="auto">
          <a:xfrm>
            <a:off x="179388" y="908050"/>
            <a:ext cx="612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endParaRPr lang="zh-CN" altLang="en-US" sz="2400">
              <a:latin typeface="Times New Roman" panose="02020603050405020304" pitchFamily="18" charset="0"/>
              <a:ea typeface="宋体" panose="02010600030101010101" pitchFamily="2" charset="-122"/>
            </a:endParaRPr>
          </a:p>
        </p:txBody>
      </p:sp>
      <p:pic>
        <p:nvPicPr>
          <p:cNvPr id="101381" name="图片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6776" y="2031362"/>
            <a:ext cx="2434333" cy="51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图片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6775" y="2790187"/>
            <a:ext cx="3250144" cy="51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3" name="图片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5384" y="4575901"/>
            <a:ext cx="3138748" cy="517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4" name="图片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87925" y="438150"/>
            <a:ext cx="35845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5" name="图片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70475" y="2692400"/>
            <a:ext cx="3213100"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44784" y="234375"/>
            <a:ext cx="4226401" cy="584775"/>
          </a:xfrm>
          <a:prstGeom prst="rect">
            <a:avLst/>
          </a:prstGeom>
        </p:spPr>
        <p:txBody>
          <a:bodyPr wrap="square">
            <a:spAutoFit/>
          </a:bodyPr>
          <a:lstStyle/>
          <a:p>
            <a:r>
              <a:rPr lang="zh-CN" altLang="en-US" sz="3200" b="1" dirty="0"/>
              <a:t>五</a:t>
            </a:r>
            <a:r>
              <a:rPr lang="zh-CN" altLang="en-US" sz="3200" b="1" dirty="0" smtClean="0"/>
              <a:t>、绝热混合过程</a:t>
            </a:r>
            <a:endParaRPr lang="zh-CN" altLang="en-US" sz="3200" b="1" dirty="0"/>
          </a:p>
        </p:txBody>
      </p:sp>
      <p:sp>
        <p:nvSpPr>
          <p:cNvPr id="12" name="矩形 11"/>
          <p:cNvSpPr/>
          <p:nvPr/>
        </p:nvSpPr>
        <p:spPr>
          <a:xfrm>
            <a:off x="603012" y="1262406"/>
            <a:ext cx="4226401" cy="523220"/>
          </a:xfrm>
          <a:prstGeom prst="rect">
            <a:avLst/>
          </a:prstGeom>
        </p:spPr>
        <p:txBody>
          <a:bodyPr wrap="square">
            <a:spAutoFit/>
          </a:bodyPr>
          <a:lstStyle/>
          <a:p>
            <a:r>
              <a:rPr lang="zh-CN" altLang="en-US" sz="2800" b="1" dirty="0" smtClean="0"/>
              <a:t>质量守恒</a:t>
            </a:r>
            <a:endParaRPr lang="zh-CN" altLang="en-US" sz="2800" b="1" dirty="0"/>
          </a:p>
        </p:txBody>
      </p:sp>
      <p:sp>
        <p:nvSpPr>
          <p:cNvPr id="3" name="矩形 2"/>
          <p:cNvSpPr/>
          <p:nvPr/>
        </p:nvSpPr>
        <p:spPr>
          <a:xfrm>
            <a:off x="623888" y="3772538"/>
            <a:ext cx="1627369" cy="523220"/>
          </a:xfrm>
          <a:prstGeom prst="rect">
            <a:avLst/>
          </a:prstGeom>
        </p:spPr>
        <p:txBody>
          <a:bodyPr wrap="none">
            <a:spAutoFit/>
          </a:bodyPr>
          <a:lstStyle/>
          <a:p>
            <a:pPr lvl="0"/>
            <a:r>
              <a:rPr lang="zh-CN" altLang="en-US" sz="2800" b="1" dirty="0" smtClean="0">
                <a:solidFill>
                  <a:prstClr val="black"/>
                </a:solidFill>
              </a:rPr>
              <a:t>能量守恒</a:t>
            </a:r>
            <a:endParaRPr lang="zh-CN" altLang="en-US" sz="2800" b="1" dirty="0">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TIMING" val="|15.6"/>
</p:tagLst>
</file>

<file path=ppt/tags/tag3.xml><?xml version="1.0" encoding="utf-8"?>
<p:tagLst xmlns:p="http://schemas.openxmlformats.org/presentationml/2006/main">
  <p:tag name="TIMING" val="|45.3|17.8|6.7|16.8"/>
</p:tagLst>
</file>

<file path=ppt/tags/tag4.xml><?xml version="1.0" encoding="utf-8"?>
<p:tagLst xmlns:p="http://schemas.openxmlformats.org/presentationml/2006/main">
  <p:tag name="TIMING" val="|20.8"/>
</p:tagLst>
</file>

<file path=ppt/tags/tag5.xml><?xml version="1.0" encoding="utf-8"?>
<p:tagLst xmlns:p="http://schemas.openxmlformats.org/presentationml/2006/main">
  <p:tag name="TIMING" val="|18.8|10.7|8|8.4|20.5|5.7|0.9"/>
</p:tagLst>
</file>

<file path=ppt/tags/tag6.xml><?xml version="1.0" encoding="utf-8"?>
<p:tagLst xmlns:p="http://schemas.openxmlformats.org/presentationml/2006/main">
  <p:tag name="TIMING" val="|14.2|8.4|10.9"/>
</p:tagLst>
</file>

<file path=ppt/tags/tag7.xml><?xml version="1.0" encoding="utf-8"?>
<p:tagLst xmlns:p="http://schemas.openxmlformats.org/presentationml/2006/main">
  <p:tag name="TIMING" val="|0.1|14.7|18.4|11.3|10|16.1|16.6"/>
</p:tagLst>
</file>

<file path=ppt/tags/tag8.xml><?xml version="1.0" encoding="utf-8"?>
<p:tagLst xmlns:p="http://schemas.openxmlformats.org/presentationml/2006/main">
  <p:tag name="TIMING" val="|8.2"/>
</p:tagLst>
</file>

<file path=ppt/tags/tag9.xml><?xml version="1.0" encoding="utf-8"?>
<p:tagLst xmlns:p="http://schemas.openxmlformats.org/presentationml/2006/main">
  <p:tag name="TIMING" val="|0.5|0.6|1.1|0.7|7.3"/>
</p:tagLst>
</file>

<file path=ppt/tags/tag10.xml><?xml version="1.0" encoding="utf-8"?>
<p:tagLst xmlns:p="http://schemas.openxmlformats.org/presentationml/2006/main">
  <p:tag name="TIMING" val="|7.8|3.6|3.5|4.1"/>
</p:tagLst>
</file>

<file path=ppt/tags/tag11.xml><?xml version="1.0" encoding="utf-8"?>
<p:tagLst xmlns:p="http://schemas.openxmlformats.org/presentationml/2006/main">
  <p:tag name="TIMING" val="|10|18.8|50.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6683</Words>
  <Application>WPS 演示</Application>
  <PresentationFormat>全屏显示(4:3)</PresentationFormat>
  <Paragraphs>465</Paragraphs>
  <Slides>78</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79</vt:i4>
      </vt:variant>
      <vt:variant>
        <vt:lpstr>幻灯片标题</vt:lpstr>
      </vt:variant>
      <vt:variant>
        <vt:i4>78</vt:i4>
      </vt:variant>
    </vt:vector>
  </HeadingPairs>
  <TitlesOfParts>
    <vt:vector size="169" baseType="lpstr">
      <vt:lpstr>Arial</vt:lpstr>
      <vt:lpstr>宋体</vt:lpstr>
      <vt:lpstr>Wingdings</vt:lpstr>
      <vt:lpstr>Times New Roman</vt:lpstr>
      <vt:lpstr>黑体</vt:lpstr>
      <vt:lpstr>微软雅黑</vt:lpstr>
      <vt:lpstr>Arial Unicode MS</vt:lpstr>
      <vt:lpstr>Calibri</vt:lpstr>
      <vt:lpstr>楷体_GB2312</vt:lpstr>
      <vt:lpstr>新宋体</vt:lpstr>
      <vt:lpstr>Symbol</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第18章　湿空气</dc:title>
  <dc:creator>jing wu</dc:creator>
  <cp:lastModifiedBy>神力猹</cp:lastModifiedBy>
  <cp:revision>52</cp:revision>
  <dcterms:created xsi:type="dcterms:W3CDTF">2020-05-30T13:59:00Z</dcterms:created>
  <dcterms:modified xsi:type="dcterms:W3CDTF">2021-03-10T06:29:55Z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