
<file path=[Content_Types].xml><?xml version="1.0" encoding="utf-8"?>
<Types xmlns="http://schemas.openxmlformats.org/package/2006/content-types">
  <Default Extension="png" ContentType="image/png"/>
  <Default Extension="tmp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39"/>
  </p:notesMasterIdLst>
  <p:sldIdLst>
    <p:sldId id="359" r:id="rId2"/>
    <p:sldId id="11942" r:id="rId3"/>
    <p:sldId id="11986" r:id="rId4"/>
    <p:sldId id="11950" r:id="rId5"/>
    <p:sldId id="11952" r:id="rId6"/>
    <p:sldId id="11953" r:id="rId7"/>
    <p:sldId id="11954" r:id="rId8"/>
    <p:sldId id="11955" r:id="rId9"/>
    <p:sldId id="11956" r:id="rId10"/>
    <p:sldId id="11958" r:id="rId11"/>
    <p:sldId id="11959" r:id="rId12"/>
    <p:sldId id="11960" r:id="rId13"/>
    <p:sldId id="11961" r:id="rId14"/>
    <p:sldId id="11962" r:id="rId15"/>
    <p:sldId id="11963" r:id="rId16"/>
    <p:sldId id="11957" r:id="rId17"/>
    <p:sldId id="11964" r:id="rId18"/>
    <p:sldId id="11966" r:id="rId19"/>
    <p:sldId id="11984" r:id="rId20"/>
    <p:sldId id="11985" r:id="rId21"/>
    <p:sldId id="11967" r:id="rId22"/>
    <p:sldId id="11968" r:id="rId23"/>
    <p:sldId id="11969" r:id="rId24"/>
    <p:sldId id="11970" r:id="rId25"/>
    <p:sldId id="11971" r:id="rId26"/>
    <p:sldId id="11972" r:id="rId27"/>
    <p:sldId id="11973" r:id="rId28"/>
    <p:sldId id="11974" r:id="rId29"/>
    <p:sldId id="11975" r:id="rId30"/>
    <p:sldId id="11976" r:id="rId31"/>
    <p:sldId id="11977" r:id="rId32"/>
    <p:sldId id="11979" r:id="rId33"/>
    <p:sldId id="11978" r:id="rId34"/>
    <p:sldId id="11980" r:id="rId35"/>
    <p:sldId id="11981" r:id="rId36"/>
    <p:sldId id="11982" r:id="rId37"/>
    <p:sldId id="1186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伦玮" initials="张" lastIdx="9" clrIdx="0">
    <p:extLst>
      <p:ext uri="{19B8F6BF-5375-455C-9EA6-DF929625EA0E}">
        <p15:presenceInfo xmlns:p15="http://schemas.microsoft.com/office/powerpoint/2012/main" userId="f072cfc1ecbf3bb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874"/>
    <a:srgbClr val="8D3980"/>
    <a:srgbClr val="C8C8FF"/>
    <a:srgbClr val="7F7F7F"/>
    <a:srgbClr val="703881"/>
    <a:srgbClr val="88FF88"/>
    <a:srgbClr val="9DC3E6"/>
    <a:srgbClr val="C864FF"/>
    <a:srgbClr val="EFF0F1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68" autoAdjust="0"/>
    <p:restoredTop sz="86859" autoAdjust="0"/>
  </p:normalViewPr>
  <p:slideViewPr>
    <p:cSldViewPr snapToGrid="0">
      <p:cViewPr varScale="1">
        <p:scale>
          <a:sx n="99" d="100"/>
          <a:sy n="99" d="100"/>
        </p:scale>
        <p:origin x="1536" y="7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625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Source Han Serif SC" panose="02020400000000000000" pitchFamily="18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323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Source Han Serif SC" panose="02020400000000000000" pitchFamily="18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831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Source Han Serif SC" panose="02020400000000000000" pitchFamily="18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770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Source Han Serif SC" panose="02020400000000000000" pitchFamily="18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552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Source Han Serif SC" panose="02020400000000000000" pitchFamily="18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850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Source Han Serif SC" panose="02020400000000000000" pitchFamily="18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6804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Source Han Serif SC" panose="02020400000000000000" pitchFamily="18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242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Source Han Serif SC" panose="02020400000000000000" pitchFamily="18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2880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Source Han Serif SC" panose="02020400000000000000" pitchFamily="18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0303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Source Han Serif SC" panose="02020400000000000000" pitchFamily="18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5386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Source Han Serif SC" panose="02020400000000000000" pitchFamily="18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385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Source Han Serif SC" panose="02020400000000000000" pitchFamily="18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152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Source Han Serif SC" panose="02020400000000000000" pitchFamily="18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5293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Source Han Serif SC" panose="02020400000000000000" pitchFamily="18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9853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Source Han Serif SC" panose="02020400000000000000" pitchFamily="18" charset="-122"/>
              </a:rPr>
              <a:t>演示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9741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Source Han Serif SC" panose="02020400000000000000" pitchFamily="18" charset="-122"/>
              </a:rPr>
              <a:t>演示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8535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Source Han Serif SC" panose="02020400000000000000" pitchFamily="18" charset="-122"/>
              </a:rPr>
              <a:t>演示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8089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Source Han Serif SC" panose="02020400000000000000" pitchFamily="18" charset="-122"/>
              </a:rPr>
              <a:t>演示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1352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Source Han Serif SC" panose="02020400000000000000" pitchFamily="18" charset="-122"/>
              </a:rPr>
              <a:t>演示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3758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Source Han Serif SC" panose="02020400000000000000" pitchFamily="18" charset="-122"/>
              </a:rPr>
              <a:t>演示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7087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Source Han Serif SC" panose="02020400000000000000" pitchFamily="18" charset="-122"/>
              </a:rPr>
              <a:t>演示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7491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Source Han Serif SC" panose="02020400000000000000" pitchFamily="18" charset="-122"/>
              </a:rPr>
              <a:t>演示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1461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Source Han Serif SC" panose="02020400000000000000" pitchFamily="18" charset="-122"/>
              </a:rPr>
              <a:t>演示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5058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Source Han Serif SC" panose="02020400000000000000" pitchFamily="18" charset="-122"/>
              </a:rPr>
              <a:t>演示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0229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Source Han Serif SC" panose="02020400000000000000" pitchFamily="18" charset="-122"/>
              </a:rPr>
              <a:t>演示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9678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Source Han Serif SC" panose="02020400000000000000" pitchFamily="18" charset="-122"/>
              </a:rPr>
              <a:t>演示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6073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Source Han Serif SC" panose="02020400000000000000" pitchFamily="18" charset="-122"/>
              </a:rPr>
              <a:t>演示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4067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Source Han Serif SC" panose="02020400000000000000" pitchFamily="18" charset="-122"/>
              </a:rPr>
              <a:t>演示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389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Source Han Serif SC" panose="02020400000000000000" pitchFamily="18" charset="-122"/>
              </a:rPr>
              <a:t>演示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9603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Source Han Serif SC" panose="02020400000000000000" pitchFamily="18" charset="-122"/>
              </a:rPr>
              <a:t>演示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9203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Source Han Serif SC" panose="02020400000000000000" pitchFamily="18" charset="-122"/>
              </a:rPr>
              <a:t>演示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0047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Source Han Serif SC" panose="02020400000000000000" pitchFamily="18" charset="-122"/>
              </a:rPr>
              <a:t>演示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318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Source Han Serif SC" panose="02020400000000000000" pitchFamily="18" charset="-122"/>
              </a:rPr>
              <a:t>演示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3845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Source Han Serif SC" panose="02020400000000000000" pitchFamily="18" charset="-122"/>
              </a:rPr>
              <a:t>演示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6469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Source Han Serif SC" panose="02020400000000000000" pitchFamily="18" charset="-122"/>
              </a:rPr>
              <a:t>演示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3263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231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515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315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858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105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08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809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179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954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133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782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5DBEE-1797-4954-806D-9065D78AE601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325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5DBEE-1797-4954-806D-9065D78AE601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E035A-96BB-4859-927D-2CA3BEB2B9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045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mailto:zlw21@mails.Tsinghua.edu.c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tmp"/><Relationship Id="rId3" Type="http://schemas.openxmlformats.org/officeDocument/2006/relationships/image" Target="../media/image3.png"/><Relationship Id="rId7" Type="http://schemas.openxmlformats.org/officeDocument/2006/relationships/image" Target="../media/image8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tmp"/><Relationship Id="rId5" Type="http://schemas.openxmlformats.org/officeDocument/2006/relationships/image" Target="../media/image6.tmp"/><Relationship Id="rId10" Type="http://schemas.openxmlformats.org/officeDocument/2006/relationships/image" Target="../media/image11.tmp"/><Relationship Id="rId4" Type="http://schemas.microsoft.com/office/2007/relationships/hdphoto" Target="../media/hdphoto1.wdp"/><Relationship Id="rId9" Type="http://schemas.openxmlformats.org/officeDocument/2006/relationships/image" Target="../media/image10.tm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.gif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tmp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tmp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tmp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tmp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tmp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tmp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tmp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tmp"/><Relationship Id="rId3" Type="http://schemas.openxmlformats.org/officeDocument/2006/relationships/image" Target="../media/image3.png"/><Relationship Id="rId7" Type="http://schemas.openxmlformats.org/officeDocument/2006/relationships/image" Target="../media/image25.tm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tmp"/><Relationship Id="rId5" Type="http://schemas.openxmlformats.org/officeDocument/2006/relationships/image" Target="../media/image23.tmp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12" Type="http://schemas.openxmlformats.org/officeDocument/2006/relationships/image" Target="../media/image34.tmp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tmp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microsoft.com/office/2007/relationships/hdphoto" Target="../media/hdphoto1.wdp"/><Relationship Id="rId9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tmp"/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mp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tmp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5.tmp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tmp"/><Relationship Id="rId5" Type="http://schemas.openxmlformats.org/officeDocument/2006/relationships/image" Target="../media/image43.tmp"/><Relationship Id="rId4" Type="http://schemas.microsoft.com/office/2007/relationships/hdphoto" Target="../media/hdphoto1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microsoft.com/office/2007/relationships/hdphoto" Target="../media/hdphoto1.wd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microsoft.com/office/2007/relationships/hdphoto" Target="../media/hdphoto1.wd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microsoft.com/office/2007/relationships/hdphoto" Target="../media/hdphoto1.wdp"/><Relationship Id="rId9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建筑的设计&#10;&#10;描述已自动生成"/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186" y="3076575"/>
            <a:ext cx="5635327" cy="378142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037063" y="4325637"/>
            <a:ext cx="6130653" cy="9690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pc="300" dirty="0">
                <a:solidFill>
                  <a:srgbClr val="7038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助教：张伦玮</a:t>
            </a:r>
            <a:endParaRPr lang="en-US" altLang="zh-CN" spc="300" dirty="0">
              <a:solidFill>
                <a:srgbClr val="70388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pc="300" dirty="0">
                <a:solidFill>
                  <a:srgbClr val="7038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邮箱：</a:t>
            </a:r>
            <a:r>
              <a:rPr lang="en-US" altLang="zh-CN" spc="300" dirty="0">
                <a:solidFill>
                  <a:srgbClr val="703881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zlw21@mails.Tsinghua.edu.cn</a:t>
            </a:r>
            <a:endParaRPr lang="en-US" altLang="zh-CN" spc="300" dirty="0">
              <a:solidFill>
                <a:srgbClr val="70388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pc="300" dirty="0">
                <a:solidFill>
                  <a:srgbClr val="7038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电话：</a:t>
            </a:r>
            <a:r>
              <a:rPr lang="en-US" altLang="zh-CN" spc="300" dirty="0">
                <a:solidFill>
                  <a:srgbClr val="7038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13319161289</a:t>
            </a:r>
          </a:p>
        </p:txBody>
      </p:sp>
      <p:cxnSp>
        <p:nvCxnSpPr>
          <p:cNvPr id="13" name="直接连接符 12"/>
          <p:cNvCxnSpPr>
            <a:cxnSpLocks/>
          </p:cNvCxnSpPr>
          <p:nvPr/>
        </p:nvCxnSpPr>
        <p:spPr>
          <a:xfrm>
            <a:off x="920126" y="3429000"/>
            <a:ext cx="7466284" cy="0"/>
          </a:xfrm>
          <a:prstGeom prst="line">
            <a:avLst/>
          </a:prstGeom>
          <a:ln w="28575">
            <a:solidFill>
              <a:srgbClr val="660874">
                <a:alpha val="5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DFC8F6A-55A8-597C-F2C9-3DB012F8B541}"/>
              </a:ext>
            </a:extLst>
          </p:cNvPr>
          <p:cNvSpPr txBox="1"/>
          <p:nvPr/>
        </p:nvSpPr>
        <p:spPr>
          <a:xfrm>
            <a:off x="81268" y="2740333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7038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SolidWorks 2022</a:t>
            </a:r>
            <a:r>
              <a:rPr lang="zh-CN" altLang="en-US" sz="3200" dirty="0">
                <a:solidFill>
                  <a:srgbClr val="7038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软件介绍和操作讲解</a:t>
            </a:r>
            <a:endParaRPr lang="zh-CN" altLang="en-US" sz="2400" dirty="0">
              <a:solidFill>
                <a:srgbClr val="70388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C61D32B-8018-772A-C9F5-456432DE3C97}"/>
              </a:ext>
            </a:extLst>
          </p:cNvPr>
          <p:cNvSpPr txBox="1"/>
          <p:nvPr/>
        </p:nvSpPr>
        <p:spPr>
          <a:xfrm>
            <a:off x="3468951" y="6374862"/>
            <a:ext cx="2368634" cy="304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pc="300" dirty="0">
                <a:solidFill>
                  <a:srgbClr val="7038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r>
              <a:rPr lang="zh-CN" altLang="en-US" spc="300" dirty="0">
                <a:solidFill>
                  <a:srgbClr val="7038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pc="300" dirty="0">
                <a:solidFill>
                  <a:srgbClr val="7038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pc="300" dirty="0">
                <a:solidFill>
                  <a:srgbClr val="7038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pc="300" dirty="0">
                <a:solidFill>
                  <a:srgbClr val="7038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pc="300" dirty="0">
                <a:solidFill>
                  <a:srgbClr val="70388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D23D90-B99C-BC2D-60F9-C517AE5D46C8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EB07D61-1D13-D283-95ED-E0F895446D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24" t="22337" r="25399" b="20868"/>
          <a:stretch/>
        </p:blipFill>
        <p:spPr>
          <a:xfrm rot="1581327">
            <a:off x="1415914" y="1374818"/>
            <a:ext cx="5505130" cy="4316180"/>
          </a:xfrm>
          <a:prstGeom prst="rect">
            <a:avLst/>
          </a:prstGeom>
        </p:spPr>
      </p:pic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三维建模</a:t>
            </a:r>
          </a:p>
        </p:txBody>
      </p:sp>
    </p:spTree>
    <p:extLst>
      <p:ext uri="{BB962C8B-B14F-4D97-AF65-F5344CB8AC3E}">
        <p14:creationId xmlns:p14="http://schemas.microsoft.com/office/powerpoint/2010/main" val="4172582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EC74600-7EE3-D2A4-BA9E-E20F6E68E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654" y="4022576"/>
            <a:ext cx="4010243" cy="2477665"/>
          </a:xfrm>
          <a:prstGeom prst="rect">
            <a:avLst/>
          </a:prstGeom>
        </p:spPr>
      </p:pic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三维建模软件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0E1DD02-8FD1-86D0-854A-29417C2D2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765" y="1204957"/>
            <a:ext cx="3512916" cy="2081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9E5EA61-2198-15FD-4F0C-033732AB352D}"/>
              </a:ext>
            </a:extLst>
          </p:cNvPr>
          <p:cNvSpPr/>
          <p:nvPr/>
        </p:nvSpPr>
        <p:spPr>
          <a:xfrm>
            <a:off x="5000262" y="3330867"/>
            <a:ext cx="4295103" cy="393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借助三维设计软件  高效设计三维结构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4C48958-5F6C-6592-F0AD-17118087D6F6}"/>
              </a:ext>
            </a:extLst>
          </p:cNvPr>
          <p:cNvSpPr txBox="1"/>
          <p:nvPr/>
        </p:nvSpPr>
        <p:spPr>
          <a:xfrm>
            <a:off x="170445" y="760461"/>
            <a:ext cx="6217044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342900" lvl="0" indent="-342900" algn="l"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代表性的三维软件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7C4726F5-AC39-F6EB-216F-DD23C5F45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79" y="1229488"/>
            <a:ext cx="6248400" cy="2346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defTabSz="91440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UG</a:t>
            </a: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（汽车、模具行业，</a:t>
            </a: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CAM</a:t>
            </a: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功能强大）</a:t>
            </a:r>
          </a:p>
          <a:p>
            <a:pPr marL="0" defTabSz="91440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Catia</a:t>
            </a: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（汽车、航空）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  <a:p>
            <a:pPr marL="0" defTabSz="91440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kumimoji="1" lang="en-US" altLang="zh-CN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ProE</a:t>
            </a: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（模具行业）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  <a:p>
            <a:pPr marL="0" defTabSz="91440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kumimoji="1" lang="en-US" altLang="zh-CN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Solidworks</a:t>
            </a:r>
            <a:r>
              <a:rPr kumimoji="1"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 </a:t>
            </a:r>
          </a:p>
          <a:p>
            <a:pPr marL="0" defTabSz="91440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</a:rPr>
              <a:t>Inventor</a:t>
            </a:r>
            <a:endParaRPr kumimoji="1"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8DBD2AEB-8983-1594-633B-DF67109AA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445" y="4022576"/>
            <a:ext cx="5021209" cy="2237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34950" indent="-234950" eaLnBrk="0" hangingPunct="0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35000" indent="-285750" eaLnBrk="0" hangingPunct="0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defTabSz="91440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p"/>
              <a:defRPr/>
            </a:pPr>
            <a:r>
              <a:rPr lang="en-US" altLang="zh-CN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SolidWorks</a:t>
            </a:r>
            <a:r>
              <a:rPr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的三个主要的设计概念</a:t>
            </a:r>
          </a:p>
          <a:p>
            <a:pPr marL="0" lvl="1" indent="-342900" algn="just" defTabSz="91440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基于特征的建模</a:t>
            </a:r>
          </a:p>
          <a:p>
            <a:pPr marL="0" lvl="1" indent="-342900" algn="just" defTabSz="91440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参数关系</a:t>
            </a:r>
          </a:p>
          <a:p>
            <a:pPr marL="0" lvl="1" indent="-342900" algn="just" defTabSz="91440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相关性</a:t>
            </a:r>
          </a:p>
        </p:txBody>
      </p:sp>
    </p:spTree>
    <p:extLst>
      <p:ext uri="{BB962C8B-B14F-4D97-AF65-F5344CB8AC3E}">
        <p14:creationId xmlns:p14="http://schemas.microsoft.com/office/powerpoint/2010/main" val="272415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软件介绍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3E3CA1-BC37-53E4-5C8E-0A50F9779E79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基于特征的建模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044BED-4DDF-341E-7B6B-99B46046636B}"/>
              </a:ext>
            </a:extLst>
          </p:cNvPr>
          <p:cNvSpPr/>
          <p:nvPr/>
        </p:nvSpPr>
        <p:spPr>
          <a:xfrm>
            <a:off x="710895" y="1345074"/>
            <a:ext cx="2817350" cy="393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什么是特征？</a:t>
            </a:r>
            <a:endParaRPr kumimoji="1"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88C13A8-32B5-6DEB-EA80-E02DECF5A1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18" y="2349759"/>
            <a:ext cx="2377323" cy="14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29CD835-6391-3099-0E26-C23CE342D7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240" y="2349759"/>
            <a:ext cx="1765715" cy="14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EED19D6-2F41-A07C-3811-F1EAC8409A65}"/>
              </a:ext>
            </a:extLst>
          </p:cNvPr>
          <p:cNvSpPr/>
          <p:nvPr/>
        </p:nvSpPr>
        <p:spPr>
          <a:xfrm>
            <a:off x="1341246" y="1953615"/>
            <a:ext cx="1586255" cy="393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二维草图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EEEAFAB-D8AC-A144-DD63-60D2984CD7F2}"/>
              </a:ext>
            </a:extLst>
          </p:cNvPr>
          <p:cNvSpPr/>
          <p:nvPr/>
        </p:nvSpPr>
        <p:spPr>
          <a:xfrm>
            <a:off x="6109240" y="1953615"/>
            <a:ext cx="1586255" cy="393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三维实体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E942947-FD35-4DCD-8D91-090DED47AB70}"/>
              </a:ext>
            </a:extLst>
          </p:cNvPr>
          <p:cNvCxnSpPr>
            <a:cxnSpLocks/>
          </p:cNvCxnSpPr>
          <p:nvPr/>
        </p:nvCxnSpPr>
        <p:spPr>
          <a:xfrm>
            <a:off x="3323422" y="2097719"/>
            <a:ext cx="2785818" cy="0"/>
          </a:xfrm>
          <a:prstGeom prst="straightConnector1">
            <a:avLst/>
          </a:prstGeom>
          <a:ln w="57150">
            <a:solidFill>
              <a:srgbClr val="6608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F6FA24A7-E884-9054-92E4-AAF128140A10}"/>
              </a:ext>
            </a:extLst>
          </p:cNvPr>
          <p:cNvSpPr/>
          <p:nvPr/>
        </p:nvSpPr>
        <p:spPr>
          <a:xfrm>
            <a:off x="3528246" y="1669312"/>
            <a:ext cx="2136574" cy="393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拉伸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特征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A43ED021-A020-558C-918B-DA41ECA5635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935" y="4847709"/>
            <a:ext cx="1970649" cy="16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AA31789F-6FEA-3E03-BBBF-66C6891EC14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870" y="2349759"/>
            <a:ext cx="1942642" cy="14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4" name="矩形 43">
            <a:extLst>
              <a:ext uri="{FF2B5EF4-FFF2-40B4-BE49-F238E27FC236}">
                <a16:creationId xmlns:a16="http://schemas.microsoft.com/office/drawing/2014/main" id="{37988640-7CA9-7B33-177A-D5B11CED5A72}"/>
              </a:ext>
            </a:extLst>
          </p:cNvPr>
          <p:cNvSpPr/>
          <p:nvPr/>
        </p:nvSpPr>
        <p:spPr>
          <a:xfrm>
            <a:off x="1341246" y="4342259"/>
            <a:ext cx="1586255" cy="393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二维草图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7342406-52C9-40CD-FA32-B915AA94A2B0}"/>
              </a:ext>
            </a:extLst>
          </p:cNvPr>
          <p:cNvSpPr/>
          <p:nvPr/>
        </p:nvSpPr>
        <p:spPr>
          <a:xfrm>
            <a:off x="6109240" y="4342259"/>
            <a:ext cx="1586255" cy="393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三维实体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48ECD4D7-5BDC-FE59-D00B-2BAF1B9C27A7}"/>
              </a:ext>
            </a:extLst>
          </p:cNvPr>
          <p:cNvCxnSpPr>
            <a:cxnSpLocks/>
          </p:cNvCxnSpPr>
          <p:nvPr/>
        </p:nvCxnSpPr>
        <p:spPr>
          <a:xfrm>
            <a:off x="3323422" y="4486363"/>
            <a:ext cx="2785818" cy="0"/>
          </a:xfrm>
          <a:prstGeom prst="straightConnector1">
            <a:avLst/>
          </a:prstGeom>
          <a:ln w="57150">
            <a:solidFill>
              <a:srgbClr val="6608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9D0E8EEF-8628-A597-3436-10B5722C133E}"/>
              </a:ext>
            </a:extLst>
          </p:cNvPr>
          <p:cNvSpPr/>
          <p:nvPr/>
        </p:nvSpPr>
        <p:spPr>
          <a:xfrm>
            <a:off x="3528246" y="4057956"/>
            <a:ext cx="2136574" cy="393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拉伸切除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特征</a:t>
            </a: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42752964-3EE0-BD76-0751-EE6BD235C00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6476" y="4847709"/>
            <a:ext cx="2005082" cy="16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B86B521A-4574-E5FC-F8D4-0F612990F24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449" y="4847709"/>
            <a:ext cx="1939295" cy="16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02D90DF-CACB-B8A2-41EE-C36B0B57F43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633" y="2130387"/>
            <a:ext cx="4572756" cy="38198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630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2" grpId="0"/>
      <p:bldP spid="44" grpId="0"/>
      <p:bldP spid="45" grpId="0"/>
      <p:bldP spid="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软件介绍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3E3CA1-BC37-53E4-5C8E-0A50F9779E79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基于特征的建模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72ADD55-2696-E903-6326-D9CFAE88992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90"/>
          <a:stretch/>
        </p:blipFill>
        <p:spPr>
          <a:xfrm>
            <a:off x="4629565" y="3452038"/>
            <a:ext cx="4101839" cy="2733424"/>
          </a:xfrm>
          <a:prstGeom prst="rect">
            <a:avLst/>
          </a:prstGeom>
        </p:spPr>
      </p:pic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F0F8E4A8-5CFA-C969-E1A4-FC903F9471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482465"/>
              </p:ext>
            </p:extLst>
          </p:nvPr>
        </p:nvGraphicFramePr>
        <p:xfrm>
          <a:off x="429390" y="3267157"/>
          <a:ext cx="3781425" cy="308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位图图像" r:id="rId7" imgW="3780952" imgH="3086531" progId="Paint.Picture">
                  <p:embed/>
                </p:oleObj>
              </mc:Choice>
              <mc:Fallback>
                <p:oleObj name="位图图像" r:id="rId7" imgW="3780952" imgH="3086531" progId="Paint.Picture">
                  <p:embed/>
                  <p:pic>
                    <p:nvPicPr>
                      <p:cNvPr id="13317" name="Object 6">
                        <a:extLst>
                          <a:ext uri="{FF2B5EF4-FFF2-40B4-BE49-F238E27FC236}">
                            <a16:creationId xmlns:a16="http://schemas.microsoft.com/office/drawing/2014/main" id="{94C48558-A3F8-999E-0C80-FE450087E8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42000" contrast="6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390" y="3267157"/>
                        <a:ext cx="3781425" cy="308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B81C09A-16B0-78C4-3155-99FF3183AEAF}"/>
              </a:ext>
            </a:extLst>
          </p:cNvPr>
          <p:cNvSpPr/>
          <p:nvPr/>
        </p:nvSpPr>
        <p:spPr>
          <a:xfrm>
            <a:off x="613458" y="1296869"/>
            <a:ext cx="8530541" cy="1422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每次增加一个单独的特征来逐步建立模型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特征的创建有先后顺序和严格的前后依赖关系（如先有圆柱再有通孔）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尽量使用简单的特征</a:t>
            </a:r>
          </a:p>
        </p:txBody>
      </p:sp>
    </p:spTree>
    <p:extLst>
      <p:ext uri="{BB962C8B-B14F-4D97-AF65-F5344CB8AC3E}">
        <p14:creationId xmlns:p14="http://schemas.microsoft.com/office/powerpoint/2010/main" val="2061077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软件介绍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3E3CA1-BC37-53E4-5C8E-0A50F9779E79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使用参数的特征设计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81C09A-16B0-78C4-3155-99FF3183AEAF}"/>
              </a:ext>
            </a:extLst>
          </p:cNvPr>
          <p:cNvSpPr/>
          <p:nvPr/>
        </p:nvSpPr>
        <p:spPr>
          <a:xfrm>
            <a:off x="613458" y="1296869"/>
            <a:ext cx="8530541" cy="1884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采用尺寸驱动</a:t>
            </a: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——</a:t>
            </a: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修改尺寸可改变模型几何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指定的特征可彼此关联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对某些特征的修改会引起其他特征的改变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可在特征间建立父子关系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graphicFrame>
        <p:nvGraphicFramePr>
          <p:cNvPr id="3" name="Object 7">
            <a:extLst>
              <a:ext uri="{FF2B5EF4-FFF2-40B4-BE49-F238E27FC236}">
                <a16:creationId xmlns:a16="http://schemas.microsoft.com/office/drawing/2014/main" id="{F39C3FA2-6674-9A3E-9437-0F3C4F1FFE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492534"/>
              </p:ext>
            </p:extLst>
          </p:nvPr>
        </p:nvGraphicFramePr>
        <p:xfrm>
          <a:off x="1159727" y="3573070"/>
          <a:ext cx="7146852" cy="271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位图图像" r:id="rId6" imgW="5800000" imgH="2200582" progId="Paint.Picture">
                  <p:embed/>
                </p:oleObj>
              </mc:Choice>
              <mc:Fallback>
                <p:oleObj name="位图图像" r:id="rId6" imgW="5800000" imgH="2200582" progId="Paint.Picture">
                  <p:embed/>
                  <p:pic>
                    <p:nvPicPr>
                      <p:cNvPr id="14341" name="Object 7">
                        <a:extLst>
                          <a:ext uri="{FF2B5EF4-FFF2-40B4-BE49-F238E27FC236}">
                            <a16:creationId xmlns:a16="http://schemas.microsoft.com/office/drawing/2014/main" id="{BF658E69-E9D5-668F-2FA8-DCD94DA399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-54000" contrast="7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9727" y="3573070"/>
                        <a:ext cx="7146852" cy="271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CAA7739-57C1-FCA9-F4FC-38447241C1B6}"/>
              </a:ext>
            </a:extLst>
          </p:cNvPr>
          <p:cNvCxnSpPr>
            <a:cxnSpLocks/>
          </p:cNvCxnSpPr>
          <p:nvPr/>
        </p:nvCxnSpPr>
        <p:spPr>
          <a:xfrm>
            <a:off x="1262380" y="3352800"/>
            <a:ext cx="0" cy="146913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ACEAD01-6874-80C5-CA23-8A8493A34152}"/>
              </a:ext>
            </a:extLst>
          </p:cNvPr>
          <p:cNvCxnSpPr>
            <a:cxnSpLocks/>
          </p:cNvCxnSpPr>
          <p:nvPr/>
        </p:nvCxnSpPr>
        <p:spPr>
          <a:xfrm>
            <a:off x="2595880" y="3352800"/>
            <a:ext cx="0" cy="146913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917EE97-D23C-E138-41AE-2C4FFE9B3560}"/>
              </a:ext>
            </a:extLst>
          </p:cNvPr>
          <p:cNvCxnSpPr>
            <a:cxnSpLocks/>
          </p:cNvCxnSpPr>
          <p:nvPr/>
        </p:nvCxnSpPr>
        <p:spPr>
          <a:xfrm>
            <a:off x="1262380" y="3483864"/>
            <a:ext cx="1333500" cy="0"/>
          </a:xfrm>
          <a:prstGeom prst="line">
            <a:avLst/>
          </a:prstGeom>
          <a:ln w="127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54B9FAC1-EA88-9B52-8CCC-FA23D6BDD8E6}"/>
              </a:ext>
            </a:extLst>
          </p:cNvPr>
          <p:cNvSpPr/>
          <p:nvPr/>
        </p:nvSpPr>
        <p:spPr>
          <a:xfrm>
            <a:off x="1136002" y="3162012"/>
            <a:ext cx="1586255" cy="38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10</a:t>
            </a:r>
            <a:endParaRPr kumimoji="1"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E032525-87BC-EF4E-D1FE-BB666197CA9E}"/>
              </a:ext>
            </a:extLst>
          </p:cNvPr>
          <p:cNvCxnSpPr>
            <a:cxnSpLocks/>
          </p:cNvCxnSpPr>
          <p:nvPr/>
        </p:nvCxnSpPr>
        <p:spPr>
          <a:xfrm>
            <a:off x="4692282" y="3349413"/>
            <a:ext cx="0" cy="146913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3800607-FFF1-19CA-77A9-1325802EF149}"/>
              </a:ext>
            </a:extLst>
          </p:cNvPr>
          <p:cNvCxnSpPr>
            <a:cxnSpLocks/>
          </p:cNvCxnSpPr>
          <p:nvPr/>
        </p:nvCxnSpPr>
        <p:spPr>
          <a:xfrm>
            <a:off x="6883286" y="3349413"/>
            <a:ext cx="0" cy="146913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B12D574A-B19A-5ABA-26B1-4F946B348000}"/>
              </a:ext>
            </a:extLst>
          </p:cNvPr>
          <p:cNvCxnSpPr>
            <a:cxnSpLocks/>
          </p:cNvCxnSpPr>
          <p:nvPr/>
        </p:nvCxnSpPr>
        <p:spPr>
          <a:xfrm>
            <a:off x="4692282" y="3480477"/>
            <a:ext cx="2191004" cy="0"/>
          </a:xfrm>
          <a:prstGeom prst="line">
            <a:avLst/>
          </a:prstGeom>
          <a:ln w="127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9C971ACE-716F-CF78-CF02-42C04F203234}"/>
              </a:ext>
            </a:extLst>
          </p:cNvPr>
          <p:cNvSpPr/>
          <p:nvPr/>
        </p:nvSpPr>
        <p:spPr>
          <a:xfrm>
            <a:off x="5047488" y="3158625"/>
            <a:ext cx="1586255" cy="38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20</a:t>
            </a:r>
            <a:endParaRPr kumimoji="1"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526737CC-7B14-FFF5-7A90-CEFAC1142C01}"/>
              </a:ext>
            </a:extLst>
          </p:cNvPr>
          <p:cNvCxnSpPr>
            <a:cxnSpLocks/>
          </p:cNvCxnSpPr>
          <p:nvPr/>
        </p:nvCxnSpPr>
        <p:spPr>
          <a:xfrm>
            <a:off x="3048960" y="3350608"/>
            <a:ext cx="0" cy="146913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5C949D4-0ECF-D84D-3DD7-204B6D203A4F}"/>
              </a:ext>
            </a:extLst>
          </p:cNvPr>
          <p:cNvCxnSpPr>
            <a:cxnSpLocks/>
          </p:cNvCxnSpPr>
          <p:nvPr/>
        </p:nvCxnSpPr>
        <p:spPr>
          <a:xfrm>
            <a:off x="3849060" y="3350608"/>
            <a:ext cx="0" cy="146913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EAD8498-29CA-BCB0-51C1-9ABD76E9158E}"/>
              </a:ext>
            </a:extLst>
          </p:cNvPr>
          <p:cNvCxnSpPr>
            <a:cxnSpLocks/>
          </p:cNvCxnSpPr>
          <p:nvPr/>
        </p:nvCxnSpPr>
        <p:spPr>
          <a:xfrm>
            <a:off x="3048960" y="3481672"/>
            <a:ext cx="800100" cy="0"/>
          </a:xfrm>
          <a:prstGeom prst="line">
            <a:avLst/>
          </a:prstGeom>
          <a:ln w="1270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C9BFE214-1BDA-9A5A-7D1D-9FD31860A335}"/>
              </a:ext>
            </a:extLst>
          </p:cNvPr>
          <p:cNvSpPr/>
          <p:nvPr/>
        </p:nvSpPr>
        <p:spPr>
          <a:xfrm>
            <a:off x="2805235" y="3159820"/>
            <a:ext cx="1298898" cy="393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6</a:t>
            </a:r>
            <a:endParaRPr kumimoji="1" lang="zh-CN" altLang="en-US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A59F6821-CCBC-49EF-3472-124D1EC6D4D5}"/>
              </a:ext>
            </a:extLst>
          </p:cNvPr>
          <p:cNvCxnSpPr>
            <a:cxnSpLocks/>
          </p:cNvCxnSpPr>
          <p:nvPr/>
        </p:nvCxnSpPr>
        <p:spPr>
          <a:xfrm>
            <a:off x="2217931" y="4373169"/>
            <a:ext cx="0" cy="146913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0DFB1AD8-57F0-0343-837A-87F3A2C98AAE}"/>
              </a:ext>
            </a:extLst>
          </p:cNvPr>
          <p:cNvCxnSpPr>
            <a:cxnSpLocks/>
          </p:cNvCxnSpPr>
          <p:nvPr/>
        </p:nvCxnSpPr>
        <p:spPr>
          <a:xfrm>
            <a:off x="2761999" y="4373169"/>
            <a:ext cx="0" cy="146913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5C8DC7E2-D441-A44A-4B3E-AAF0B22C7C4E}"/>
              </a:ext>
            </a:extLst>
          </p:cNvPr>
          <p:cNvCxnSpPr>
            <a:cxnSpLocks/>
          </p:cNvCxnSpPr>
          <p:nvPr/>
        </p:nvCxnSpPr>
        <p:spPr>
          <a:xfrm>
            <a:off x="2217931" y="5802681"/>
            <a:ext cx="544068" cy="0"/>
          </a:xfrm>
          <a:prstGeom prst="line">
            <a:avLst/>
          </a:prstGeom>
          <a:ln w="1270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4F2A99D3-2D87-5DAD-4349-C8D5A52D0B70}"/>
              </a:ext>
            </a:extLst>
          </p:cNvPr>
          <p:cNvSpPr/>
          <p:nvPr/>
        </p:nvSpPr>
        <p:spPr>
          <a:xfrm>
            <a:off x="1852286" y="5480829"/>
            <a:ext cx="1298898" cy="393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4</a:t>
            </a:r>
            <a:endParaRPr kumimoji="1" lang="zh-CN" altLang="en-US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8D2D1931-C715-05C3-D961-1C863E971812}"/>
              </a:ext>
            </a:extLst>
          </p:cNvPr>
          <p:cNvCxnSpPr>
            <a:cxnSpLocks/>
          </p:cNvCxnSpPr>
          <p:nvPr/>
        </p:nvCxnSpPr>
        <p:spPr>
          <a:xfrm>
            <a:off x="7345639" y="3328031"/>
            <a:ext cx="0" cy="146913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038ED057-0DB5-DD6E-27F4-DFB72950F93F}"/>
              </a:ext>
            </a:extLst>
          </p:cNvPr>
          <p:cNvCxnSpPr>
            <a:cxnSpLocks/>
          </p:cNvCxnSpPr>
          <p:nvPr/>
        </p:nvCxnSpPr>
        <p:spPr>
          <a:xfrm>
            <a:off x="8145739" y="3328031"/>
            <a:ext cx="0" cy="146913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BD5B4C2C-9DCA-C4BF-A6CA-22FF985B2771}"/>
              </a:ext>
            </a:extLst>
          </p:cNvPr>
          <p:cNvCxnSpPr>
            <a:cxnSpLocks/>
          </p:cNvCxnSpPr>
          <p:nvPr/>
        </p:nvCxnSpPr>
        <p:spPr>
          <a:xfrm>
            <a:off x="7345639" y="3459095"/>
            <a:ext cx="800100" cy="0"/>
          </a:xfrm>
          <a:prstGeom prst="line">
            <a:avLst/>
          </a:prstGeom>
          <a:ln w="1270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6A04EA51-1429-EF79-9C1C-3D9A53FFA852}"/>
              </a:ext>
            </a:extLst>
          </p:cNvPr>
          <p:cNvSpPr/>
          <p:nvPr/>
        </p:nvSpPr>
        <p:spPr>
          <a:xfrm>
            <a:off x="7101914" y="3137243"/>
            <a:ext cx="1298898" cy="393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6</a:t>
            </a:r>
            <a:endParaRPr kumimoji="1" lang="zh-CN" altLang="en-US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FAC08571-5477-6D8C-3391-8EC499A2C018}"/>
              </a:ext>
            </a:extLst>
          </p:cNvPr>
          <p:cNvCxnSpPr>
            <a:cxnSpLocks/>
          </p:cNvCxnSpPr>
          <p:nvPr/>
        </p:nvCxnSpPr>
        <p:spPr>
          <a:xfrm>
            <a:off x="6481157" y="4350592"/>
            <a:ext cx="0" cy="146913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6BA442EA-ED27-B16B-151E-AA26AF55B7E9}"/>
              </a:ext>
            </a:extLst>
          </p:cNvPr>
          <p:cNvCxnSpPr>
            <a:cxnSpLocks/>
          </p:cNvCxnSpPr>
          <p:nvPr/>
        </p:nvCxnSpPr>
        <p:spPr>
          <a:xfrm>
            <a:off x="7025225" y="4350592"/>
            <a:ext cx="0" cy="146913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9351923-009B-324E-11D0-408DA1A267BB}"/>
              </a:ext>
            </a:extLst>
          </p:cNvPr>
          <p:cNvCxnSpPr>
            <a:cxnSpLocks/>
          </p:cNvCxnSpPr>
          <p:nvPr/>
        </p:nvCxnSpPr>
        <p:spPr>
          <a:xfrm>
            <a:off x="6481157" y="5780104"/>
            <a:ext cx="544068" cy="0"/>
          </a:xfrm>
          <a:prstGeom prst="line">
            <a:avLst/>
          </a:prstGeom>
          <a:ln w="1270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FCDE9B3C-BBB7-4B06-D243-57B82D6D75A8}"/>
              </a:ext>
            </a:extLst>
          </p:cNvPr>
          <p:cNvSpPr/>
          <p:nvPr/>
        </p:nvSpPr>
        <p:spPr>
          <a:xfrm>
            <a:off x="6093210" y="5458252"/>
            <a:ext cx="1298898" cy="393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4</a:t>
            </a:r>
            <a:endParaRPr kumimoji="1" lang="zh-CN" altLang="en-US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58CCC528-7383-B1C4-234A-74E8AFDB39E4}"/>
              </a:ext>
            </a:extLst>
          </p:cNvPr>
          <p:cNvCxnSpPr>
            <a:cxnSpLocks/>
          </p:cNvCxnSpPr>
          <p:nvPr/>
        </p:nvCxnSpPr>
        <p:spPr>
          <a:xfrm>
            <a:off x="3688835" y="5451178"/>
            <a:ext cx="1103051" cy="0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73C8C6B1-8962-B099-20B0-B29B670BCF4D}"/>
              </a:ext>
            </a:extLst>
          </p:cNvPr>
          <p:cNvSpPr/>
          <p:nvPr/>
        </p:nvSpPr>
        <p:spPr>
          <a:xfrm>
            <a:off x="3769112" y="5022771"/>
            <a:ext cx="845981" cy="393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修改</a:t>
            </a:r>
            <a:endParaRPr kumimoji="1"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59857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软件介绍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3E3CA1-BC37-53E4-5C8E-0A50F9779E79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81C09A-16B0-78C4-3155-99FF3183AEAF}"/>
              </a:ext>
            </a:extLst>
          </p:cNvPr>
          <p:cNvSpPr/>
          <p:nvPr/>
        </p:nvSpPr>
        <p:spPr>
          <a:xfrm>
            <a:off x="613458" y="1296869"/>
            <a:ext cx="8530541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允许在设计周期中任何处改变模型</a:t>
            </a: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所有相关文档同步更新</a:t>
            </a:r>
          </a:p>
        </p:txBody>
      </p:sp>
      <p:graphicFrame>
        <p:nvGraphicFramePr>
          <p:cNvPr id="2" name="Object 7">
            <a:extLst>
              <a:ext uri="{FF2B5EF4-FFF2-40B4-BE49-F238E27FC236}">
                <a16:creationId xmlns:a16="http://schemas.microsoft.com/office/drawing/2014/main" id="{53C2CDBE-F1A4-D42A-BCAB-D4C58DF023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25585"/>
              </p:ext>
            </p:extLst>
          </p:nvPr>
        </p:nvGraphicFramePr>
        <p:xfrm>
          <a:off x="429390" y="2513575"/>
          <a:ext cx="8382000" cy="377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位图图像" r:id="rId6" imgW="8476190" imgH="3820058" progId="Paint.Picture">
                  <p:embed/>
                </p:oleObj>
              </mc:Choice>
              <mc:Fallback>
                <p:oleObj name="位图图像" r:id="rId6" imgW="8476190" imgH="3820058" progId="Paint.Picture">
                  <p:embed/>
                  <p:pic>
                    <p:nvPicPr>
                      <p:cNvPr id="15362" name="Object 7">
                        <a:extLst>
                          <a:ext uri="{FF2B5EF4-FFF2-40B4-BE49-F238E27FC236}">
                            <a16:creationId xmlns:a16="http://schemas.microsoft.com/office/drawing/2014/main" id="{DBFE1CCA-8717-4182-3258-628B664021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-18000" contrast="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390" y="2513575"/>
                        <a:ext cx="8382000" cy="377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3063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——SolidWorks 2022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操作界面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270BD0-A309-C3F0-D8AD-A02CDF801B4F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kumimoji="1" lang="en-US" altLang="zh-CN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SolidWorks</a:t>
            </a: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843F897-C3F5-0A2C-85F9-43898A881BE7}"/>
              </a:ext>
            </a:extLst>
          </p:cNvPr>
          <p:cNvSpPr/>
          <p:nvPr/>
        </p:nvSpPr>
        <p:spPr>
          <a:xfrm>
            <a:off x="613458" y="1296869"/>
            <a:ext cx="7805713" cy="2346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启动</a:t>
            </a:r>
            <a:r>
              <a:rPr kumimoji="1" lang="en-US" altLang="zh-CN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Solidworks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新建文件类型：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     ——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零件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     ——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装配体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     ——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工程图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08234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——SolidWorks 2022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操作界面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270BD0-A309-C3F0-D8AD-A02CDF801B4F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34290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新建零件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385D92-41ED-FF8B-8A34-8AEE76D615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011" y="1680737"/>
            <a:ext cx="5745978" cy="414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03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——SolidWorks 2022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操作界面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270BD0-A309-C3F0-D8AD-A02CDF801B4F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34290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DD8829-8CFB-A9E6-95F6-C9FA5C78C3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00" y="1251202"/>
            <a:ext cx="7772400" cy="527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063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——SolidWorks 2022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操作界面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270BD0-A309-C3F0-D8AD-A02CDF801B4F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34290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新建装配体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60234CA-0EBB-8A0B-EA3C-EFD103EDC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011" y="1680737"/>
            <a:ext cx="5745978" cy="414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167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——SolidWorks 2022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操作界面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270BD0-A309-C3F0-D8AD-A02CDF801B4F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34290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装配体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D9E791F-9528-8E54-6F65-D4502568A1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58" y="1217747"/>
            <a:ext cx="7808283" cy="530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541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——SolidWorks 2022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操作界面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270BD0-A309-C3F0-D8AD-A02CDF801B4F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34290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新建工程图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0C743D9-5D75-EE0E-06F4-2BDCA005DB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011" y="1788996"/>
            <a:ext cx="5745978" cy="414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589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——SolidWorks 2022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操作界面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270BD0-A309-C3F0-D8AD-A02CDF801B4F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34290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4F5F65F-AE9D-86C2-7EA3-43413CA08B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89" y="1217749"/>
            <a:ext cx="7812911" cy="530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914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5EA1CB5D-15F9-9667-0644-6819D3A96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11" y="1217749"/>
            <a:ext cx="8093893" cy="5278011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3D0D89D0-A444-2906-FBC8-35E74621D4A2}"/>
              </a:ext>
            </a:extLst>
          </p:cNvPr>
          <p:cNvSpPr/>
          <p:nvPr/>
        </p:nvSpPr>
        <p:spPr>
          <a:xfrm>
            <a:off x="1564435" y="1284335"/>
            <a:ext cx="3556738" cy="250837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D47B564-83F4-D770-C238-D484012CCE35}"/>
              </a:ext>
            </a:extLst>
          </p:cNvPr>
          <p:cNvSpPr/>
          <p:nvPr/>
        </p:nvSpPr>
        <p:spPr>
          <a:xfrm>
            <a:off x="5227139" y="1284335"/>
            <a:ext cx="1946360" cy="250837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B9EBA5A-7BAB-B964-A7E0-875A6A85C556}"/>
              </a:ext>
            </a:extLst>
          </p:cNvPr>
          <p:cNvSpPr/>
          <p:nvPr/>
        </p:nvSpPr>
        <p:spPr>
          <a:xfrm>
            <a:off x="637511" y="1601757"/>
            <a:ext cx="6747626" cy="743810"/>
          </a:xfrm>
          <a:prstGeom prst="roundRect">
            <a:avLst>
              <a:gd name="adj" fmla="val 14073"/>
            </a:avLst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4329CD7-6488-EBFC-7EEC-D0649BFBABC1}"/>
              </a:ext>
            </a:extLst>
          </p:cNvPr>
          <p:cNvSpPr/>
          <p:nvPr/>
        </p:nvSpPr>
        <p:spPr>
          <a:xfrm>
            <a:off x="4117069" y="2363228"/>
            <a:ext cx="2927188" cy="214977"/>
          </a:xfrm>
          <a:prstGeom prst="roundRect">
            <a:avLst>
              <a:gd name="adj" fmla="val 14073"/>
            </a:avLst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B3CDF52-FC06-D0ED-E55E-3422CCC370B6}"/>
              </a:ext>
            </a:extLst>
          </p:cNvPr>
          <p:cNvSpPr/>
          <p:nvPr/>
        </p:nvSpPr>
        <p:spPr>
          <a:xfrm>
            <a:off x="870661" y="2743200"/>
            <a:ext cx="1616507" cy="3396674"/>
          </a:xfrm>
          <a:prstGeom prst="roundRect">
            <a:avLst>
              <a:gd name="adj" fmla="val 5620"/>
            </a:avLst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——SolidWorks 2022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操作界面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270BD0-A309-C3F0-D8AD-A02CDF801B4F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操作界面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3A3DA90-DE1F-0E6F-CF27-DC731332C978}"/>
              </a:ext>
            </a:extLst>
          </p:cNvPr>
          <p:cNvSpPr/>
          <p:nvPr/>
        </p:nvSpPr>
        <p:spPr>
          <a:xfrm>
            <a:off x="8455152" y="2529840"/>
            <a:ext cx="304800" cy="1341120"/>
          </a:xfrm>
          <a:prstGeom prst="roundRect">
            <a:avLst>
              <a:gd name="adj" fmla="val 5620"/>
            </a:avLst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13C19C96-DB03-B7D3-4ABC-751835B0C7BF}"/>
              </a:ext>
            </a:extLst>
          </p:cNvPr>
          <p:cNvSpPr/>
          <p:nvPr/>
        </p:nvSpPr>
        <p:spPr>
          <a:xfrm>
            <a:off x="6746702" y="1876359"/>
            <a:ext cx="1407703" cy="389513"/>
          </a:xfrm>
          <a:prstGeom prst="ellipse">
            <a:avLst/>
          </a:prstGeom>
          <a:solidFill>
            <a:srgbClr val="C8C8F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命令管理器</a:t>
            </a:r>
            <a:endParaRPr kumimoji="1"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48D8A5B6-8A38-C5D1-A219-C6DF77ABB875}"/>
              </a:ext>
            </a:extLst>
          </p:cNvPr>
          <p:cNvSpPr/>
          <p:nvPr/>
        </p:nvSpPr>
        <p:spPr>
          <a:xfrm>
            <a:off x="6746702" y="2421429"/>
            <a:ext cx="1407703" cy="389513"/>
          </a:xfrm>
          <a:prstGeom prst="ellipse">
            <a:avLst/>
          </a:prstGeom>
          <a:solidFill>
            <a:srgbClr val="C8C8F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视图工具栏</a:t>
            </a:r>
            <a:endParaRPr kumimoji="1"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3818EA89-8E2A-EC34-0D9D-F7534FB838A8}"/>
              </a:ext>
            </a:extLst>
          </p:cNvPr>
          <p:cNvSpPr/>
          <p:nvPr/>
        </p:nvSpPr>
        <p:spPr>
          <a:xfrm>
            <a:off x="3868148" y="951797"/>
            <a:ext cx="1407703" cy="389513"/>
          </a:xfrm>
          <a:prstGeom prst="ellipse">
            <a:avLst/>
          </a:prstGeom>
          <a:solidFill>
            <a:srgbClr val="C8C8F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主菜单</a:t>
            </a:r>
            <a:endParaRPr kumimoji="1"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DF688C6E-F772-3232-C46F-3CC3CD4AAC25}"/>
              </a:ext>
            </a:extLst>
          </p:cNvPr>
          <p:cNvSpPr/>
          <p:nvPr/>
        </p:nvSpPr>
        <p:spPr>
          <a:xfrm>
            <a:off x="6227500" y="983507"/>
            <a:ext cx="1407703" cy="389513"/>
          </a:xfrm>
          <a:prstGeom prst="ellipse">
            <a:avLst/>
          </a:prstGeom>
          <a:solidFill>
            <a:srgbClr val="C8C8F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工具栏</a:t>
            </a:r>
            <a:endParaRPr kumimoji="1"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EE17F37E-9D23-8BC7-6E64-6590B42FA686}"/>
              </a:ext>
            </a:extLst>
          </p:cNvPr>
          <p:cNvSpPr/>
          <p:nvPr/>
        </p:nvSpPr>
        <p:spPr>
          <a:xfrm>
            <a:off x="1564435" y="4052024"/>
            <a:ext cx="1407703" cy="389513"/>
          </a:xfrm>
          <a:prstGeom prst="ellipse">
            <a:avLst/>
          </a:prstGeom>
          <a:solidFill>
            <a:srgbClr val="C8C8F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特征树</a:t>
            </a:r>
            <a:endParaRPr kumimoji="1"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D21F8CF9-D735-B309-B9E6-E33C50CAEDEA}"/>
              </a:ext>
            </a:extLst>
          </p:cNvPr>
          <p:cNvSpPr/>
          <p:nvPr/>
        </p:nvSpPr>
        <p:spPr>
          <a:xfrm>
            <a:off x="7884400" y="3825824"/>
            <a:ext cx="1230612" cy="389513"/>
          </a:xfrm>
          <a:prstGeom prst="ellipse">
            <a:avLst/>
          </a:prstGeom>
          <a:solidFill>
            <a:srgbClr val="C8C8F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任务窗口</a:t>
            </a:r>
            <a:endParaRPr kumimoji="1"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C3C0B4E6-1C45-9D01-67BC-8CCD2AFDBFA0}"/>
              </a:ext>
            </a:extLst>
          </p:cNvPr>
          <p:cNvSpPr/>
          <p:nvPr/>
        </p:nvSpPr>
        <p:spPr>
          <a:xfrm>
            <a:off x="6253350" y="5184152"/>
            <a:ext cx="1407703" cy="389513"/>
          </a:xfrm>
          <a:prstGeom prst="ellipse">
            <a:avLst/>
          </a:prstGeom>
          <a:solidFill>
            <a:srgbClr val="C8C8F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图形区</a:t>
            </a:r>
            <a:endParaRPr kumimoji="1"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E6FD4B13-0F91-3EEB-69D3-DF2539CA5F2F}"/>
              </a:ext>
            </a:extLst>
          </p:cNvPr>
          <p:cNvSpPr/>
          <p:nvPr/>
        </p:nvSpPr>
        <p:spPr>
          <a:xfrm>
            <a:off x="2369885" y="4839170"/>
            <a:ext cx="1041531" cy="649188"/>
          </a:xfrm>
          <a:prstGeom prst="ellipse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回退控制棒</a:t>
            </a:r>
            <a:endParaRPr kumimoji="1"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40DCE5F-76F4-A61C-4D65-F48A5D6EEFE6}"/>
              </a:ext>
            </a:extLst>
          </p:cNvPr>
          <p:cNvCxnSpPr>
            <a:cxnSpLocks/>
          </p:cNvCxnSpPr>
          <p:nvPr/>
        </p:nvCxnSpPr>
        <p:spPr>
          <a:xfrm flipH="1">
            <a:off x="2145792" y="5237814"/>
            <a:ext cx="537950" cy="602154"/>
          </a:xfrm>
          <a:prstGeom prst="straightConnector1">
            <a:avLst/>
          </a:prstGeom>
          <a:ln w="28575">
            <a:solidFill>
              <a:srgbClr val="6608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8B01CA0-8AE6-2E95-FA29-E285A1A0975F}"/>
              </a:ext>
            </a:extLst>
          </p:cNvPr>
          <p:cNvSpPr/>
          <p:nvPr/>
        </p:nvSpPr>
        <p:spPr>
          <a:xfrm>
            <a:off x="636803" y="6284635"/>
            <a:ext cx="8123149" cy="252872"/>
          </a:xfrm>
          <a:prstGeom prst="roundRect">
            <a:avLst>
              <a:gd name="adj" fmla="val 5620"/>
            </a:avLst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CE7FA909-7542-2DBE-8057-84C2F016961D}"/>
              </a:ext>
            </a:extLst>
          </p:cNvPr>
          <p:cNvSpPr/>
          <p:nvPr/>
        </p:nvSpPr>
        <p:spPr>
          <a:xfrm>
            <a:off x="4792616" y="6050393"/>
            <a:ext cx="1407703" cy="389513"/>
          </a:xfrm>
          <a:prstGeom prst="ellipse">
            <a:avLst/>
          </a:prstGeom>
          <a:solidFill>
            <a:srgbClr val="C8C8F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状态栏</a:t>
            </a:r>
            <a:endParaRPr kumimoji="1"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632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16" grpId="0" animBg="1"/>
      <p:bldP spid="17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/>
      <p:bldP spid="35" grpId="0" animBg="1"/>
      <p:bldP spid="3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843F897-C3F5-0A2C-85F9-43898A881BE7}"/>
              </a:ext>
            </a:extLst>
          </p:cNvPr>
          <p:cNvSpPr/>
          <p:nvPr/>
        </p:nvSpPr>
        <p:spPr>
          <a:xfrm>
            <a:off x="604467" y="1530549"/>
            <a:ext cx="5218382" cy="3731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特征树中的项目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特征的名称</a:t>
            </a: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——</a:t>
            </a: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默认名称、修改名称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特征的生成顺序</a:t>
            </a: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特征的父子关系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特征的压缩和解除压缩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实体与特征的关系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实体的显示和隐藏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选中和查看实体</a:t>
            </a: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/</a:t>
            </a: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特征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——SolidWorks 2022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操作界面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270BD0-A309-C3F0-D8AD-A02CDF801B4F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特征管理器与特征树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ADD40EB-DDA5-20C6-B746-F02F15077B9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7" t="23512" r="75747" b="10209"/>
          <a:stretch/>
        </p:blipFill>
        <p:spPr>
          <a:xfrm>
            <a:off x="6091649" y="830557"/>
            <a:ext cx="2716685" cy="545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351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843F897-C3F5-0A2C-85F9-43898A881BE7}"/>
              </a:ext>
            </a:extLst>
          </p:cNvPr>
          <p:cNvSpPr/>
          <p:nvPr/>
        </p:nvSpPr>
        <p:spPr>
          <a:xfrm>
            <a:off x="604466" y="1530549"/>
            <a:ext cx="7736893" cy="1422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重建模型图标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草图状态提示：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完全定义</a:t>
            </a: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、</a:t>
            </a:r>
            <a:r>
              <a:rPr kumimoji="1" lang="zh-CN" altLang="en-US" sz="20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欠定义</a:t>
            </a: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、</a:t>
            </a:r>
            <a:r>
              <a:rPr kumimoji="1" lang="zh-CN" altLang="en-US" sz="20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过定义</a:t>
            </a:r>
            <a:r>
              <a:rPr kumimoji="1"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（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过定义</a:t>
            </a:r>
            <a:r>
              <a:rPr kumimoji="1"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）</a:t>
            </a:r>
            <a:endParaRPr kumimoji="1"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显示选中对象的几何参数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——SolidWorks 2022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操作界面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270BD0-A309-C3F0-D8AD-A02CDF801B4F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F6F75F-261F-745B-6098-D25E914B7FB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38" r="12997" b="1072"/>
          <a:stretch/>
        </p:blipFill>
        <p:spPr>
          <a:xfrm>
            <a:off x="3027680" y="1530549"/>
            <a:ext cx="467360" cy="53009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FF8AFF3-B3C0-5815-2C2B-DBCC084BDB0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14" b="-1"/>
          <a:stretch/>
        </p:blipFill>
        <p:spPr>
          <a:xfrm>
            <a:off x="2314623" y="3261690"/>
            <a:ext cx="4514754" cy="288000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03206F3-B701-07B1-F477-12F5A2DB7B8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39" t="11908"/>
          <a:stretch/>
        </p:blipFill>
        <p:spPr>
          <a:xfrm>
            <a:off x="2314623" y="3848178"/>
            <a:ext cx="4514754" cy="288000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77EAE59-8E7A-520C-FEF7-C249A9F8DD7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9" t="-1" b="11908"/>
          <a:stretch/>
        </p:blipFill>
        <p:spPr>
          <a:xfrm>
            <a:off x="2314623" y="4421284"/>
            <a:ext cx="4514754" cy="288000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995507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843F897-C3F5-0A2C-85F9-43898A881BE7}"/>
              </a:ext>
            </a:extLst>
          </p:cNvPr>
          <p:cNvSpPr/>
          <p:nvPr/>
        </p:nvSpPr>
        <p:spPr>
          <a:xfrm>
            <a:off x="220363" y="1386289"/>
            <a:ext cx="7736893" cy="4923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标准工具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命令选栏项卡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特征工具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草图工具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视图工具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装配体工具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工程图工具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测量工具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——SolidWorks 2022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操作界面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270BD0-A309-C3F0-D8AD-A02CDF801B4F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常用工具命令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8AEB93-8C71-9C0A-6714-1D5676461D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5688" y="1622009"/>
            <a:ext cx="4581525" cy="33337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6DE20F3-26DE-EBCB-F2B8-687250D487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5688" y="2718642"/>
            <a:ext cx="6480003" cy="5400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9208663-8690-13F3-6811-4473819B00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5688" y="4014248"/>
            <a:ext cx="4235251" cy="35116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A66CF0B-7B1B-A384-458C-29AEBDA7CC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35688" y="3366445"/>
            <a:ext cx="6896958" cy="5400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D48D6E8-85BE-A622-C438-FC66627CF3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5688" y="5121018"/>
            <a:ext cx="6032371" cy="5400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382FD91-6CC7-B99C-B088-602DAC94C34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5688" y="4473215"/>
            <a:ext cx="5820784" cy="5400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AC1BA2D5-B10A-8B6E-E8AE-DF08AC69CD7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98" b="10070"/>
          <a:stretch/>
        </p:blipFill>
        <p:spPr>
          <a:xfrm>
            <a:off x="2360808" y="2275223"/>
            <a:ext cx="5677392" cy="23023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957A4942-A42D-DFFC-5182-4D51B9C100C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688" y="5768822"/>
            <a:ext cx="3353336" cy="5400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04618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843F897-C3F5-0A2C-85F9-43898A881BE7}"/>
              </a:ext>
            </a:extLst>
          </p:cNvPr>
          <p:cNvSpPr/>
          <p:nvPr/>
        </p:nvSpPr>
        <p:spPr>
          <a:xfrm>
            <a:off x="1371188" y="1057684"/>
            <a:ext cx="316291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【</a:t>
            </a:r>
            <a:r>
              <a:rPr kumimoji="1"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文件</a:t>
            </a:r>
            <a:r>
              <a:rPr kumimoji="1"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】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↓</a:t>
            </a:r>
            <a:endParaRPr kumimoji="1"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【</a:t>
            </a:r>
            <a:r>
              <a:rPr kumimoji="1"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保存</a:t>
            </a:r>
            <a:r>
              <a:rPr kumimoji="1"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】</a:t>
            </a:r>
            <a:r>
              <a:rPr kumimoji="1"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或</a:t>
            </a:r>
            <a:r>
              <a:rPr kumimoji="1"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【</a:t>
            </a:r>
            <a:r>
              <a:rPr kumimoji="1"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另存为</a:t>
            </a:r>
            <a:r>
              <a:rPr kumimoji="1"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】</a:t>
            </a:r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——SolidWorks 2022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操作界面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270BD0-A309-C3F0-D8AD-A02CDF801B4F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保存文件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A6FF904-2095-445A-2523-36D98A8A8B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204" y="707417"/>
            <a:ext cx="2743200" cy="571139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B8CA53C7-874B-0925-4208-22C4AB03F19A}"/>
              </a:ext>
            </a:extLst>
          </p:cNvPr>
          <p:cNvSpPr/>
          <p:nvPr/>
        </p:nvSpPr>
        <p:spPr>
          <a:xfrm>
            <a:off x="5896209" y="704801"/>
            <a:ext cx="2954389" cy="180000"/>
          </a:xfrm>
          <a:prstGeom prst="roundRect">
            <a:avLst>
              <a:gd name="adj" fmla="val 14073"/>
            </a:avLst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FDE3591-1F8A-1C4D-8A98-EC941236DFD8}"/>
              </a:ext>
            </a:extLst>
          </p:cNvPr>
          <p:cNvSpPr/>
          <p:nvPr/>
        </p:nvSpPr>
        <p:spPr>
          <a:xfrm>
            <a:off x="5896209" y="5403800"/>
            <a:ext cx="2954389" cy="499159"/>
          </a:xfrm>
          <a:prstGeom prst="roundRect">
            <a:avLst>
              <a:gd name="adj" fmla="val 14073"/>
            </a:avLst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0CFBB7-19CE-B58C-130C-B8486F7097A4}"/>
              </a:ext>
            </a:extLst>
          </p:cNvPr>
          <p:cNvSpPr/>
          <p:nvPr/>
        </p:nvSpPr>
        <p:spPr>
          <a:xfrm>
            <a:off x="5896209" y="3658287"/>
            <a:ext cx="2954389" cy="180000"/>
          </a:xfrm>
          <a:prstGeom prst="roundRect">
            <a:avLst>
              <a:gd name="adj" fmla="val 14073"/>
            </a:avLst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8BD845E-B397-C13D-AFBD-A1A65AD3F586}"/>
              </a:ext>
            </a:extLst>
          </p:cNvPr>
          <p:cNvSpPr/>
          <p:nvPr/>
        </p:nvSpPr>
        <p:spPr>
          <a:xfrm>
            <a:off x="429390" y="2608339"/>
            <a:ext cx="555283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.</a:t>
            </a:r>
            <a:r>
              <a:rPr kumimoji="1" lang="en-US" altLang="zh-CN" sz="2000" b="1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sldprt</a:t>
            </a:r>
            <a:endParaRPr kumimoji="1"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     </a:t>
            </a: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只能保存与软件版本对应的文件版本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     </a:t>
            </a:r>
            <a:r>
              <a:rPr kumimoji="1"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高版本软件兼容低版本文件</a:t>
            </a:r>
            <a:endParaRPr kumimoji="1"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395A4DF-3198-E307-44FD-B533D9865650}"/>
              </a:ext>
            </a:extLst>
          </p:cNvPr>
          <p:cNvSpPr/>
          <p:nvPr/>
        </p:nvSpPr>
        <p:spPr>
          <a:xfrm>
            <a:off x="341646" y="2215630"/>
            <a:ext cx="52339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SolidWorks</a:t>
            </a: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专用文件类型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B9849CE-8FF8-22E4-B464-7CFCDFAE6CC1}"/>
              </a:ext>
            </a:extLst>
          </p:cNvPr>
          <p:cNvSpPr/>
          <p:nvPr/>
        </p:nvSpPr>
        <p:spPr>
          <a:xfrm>
            <a:off x="335666" y="3746890"/>
            <a:ext cx="52339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其他常用文件类型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30272CE-B519-F691-4127-D10B150B4E15}"/>
              </a:ext>
            </a:extLst>
          </p:cNvPr>
          <p:cNvSpPr/>
          <p:nvPr/>
        </p:nvSpPr>
        <p:spPr>
          <a:xfrm>
            <a:off x="429391" y="4080361"/>
            <a:ext cx="5552833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.</a:t>
            </a:r>
            <a:r>
              <a:rPr kumimoji="1" lang="en-US" altLang="zh-CN" sz="2000" b="1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igs</a:t>
            </a:r>
            <a:endParaRPr kumimoji="1"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.step</a:t>
            </a: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.</a:t>
            </a:r>
            <a:r>
              <a:rPr kumimoji="1" lang="en-US" altLang="zh-CN" sz="2000" b="1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stl</a:t>
            </a:r>
            <a:endParaRPr kumimoji="1"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     </a:t>
            </a:r>
            <a:r>
              <a:rPr kumimoji="1"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较通用的可与其他软件交换模型的文件类型</a:t>
            </a:r>
            <a:endParaRPr kumimoji="1" lang="en-US" altLang="zh-CN" sz="20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82994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843F897-C3F5-0A2C-85F9-43898A881BE7}"/>
              </a:ext>
            </a:extLst>
          </p:cNvPr>
          <p:cNvSpPr/>
          <p:nvPr/>
        </p:nvSpPr>
        <p:spPr>
          <a:xfrm>
            <a:off x="220363" y="1386289"/>
            <a:ext cx="8511041" cy="3077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旋转视角：</a:t>
            </a:r>
            <a:r>
              <a:rPr kumimoji="1"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按下滚轮键拖拽鼠标</a:t>
            </a:r>
            <a:endParaRPr kumimoji="1"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平移视角：</a:t>
            </a:r>
            <a:r>
              <a:rPr kumimoji="1"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同时按下</a:t>
            </a:r>
            <a:r>
              <a:rPr kumimoji="1"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CTRL</a:t>
            </a:r>
            <a:r>
              <a:rPr kumimoji="1"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和滚轮键拖拽鼠标</a:t>
            </a:r>
            <a:endParaRPr kumimoji="1"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缩放视角：</a:t>
            </a:r>
            <a:r>
              <a:rPr kumimoji="1"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推动滚轮</a:t>
            </a:r>
            <a:endParaRPr kumimoji="1"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调整视角正视于选中平面：</a:t>
            </a: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 </a:t>
            </a:r>
            <a:r>
              <a:rPr kumimoji="1"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CTRL+</a:t>
            </a:r>
            <a:r>
              <a:rPr kumimoji="1"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数字</a:t>
            </a:r>
            <a:r>
              <a:rPr kumimoji="1"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8</a:t>
            </a:r>
          </a:p>
          <a:p>
            <a:pPr marL="342900" indent="-3429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调整视角到某个标准视角：</a:t>
            </a: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 </a:t>
            </a:r>
            <a:r>
              <a:rPr kumimoji="1"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按空格键后选择视角</a:t>
            </a:r>
            <a:endParaRPr kumimoji="1"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——SolidWorks 2022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操作界面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270BD0-A309-C3F0-D8AD-A02CDF801B4F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调整图形视角</a:t>
            </a:r>
          </a:p>
        </p:txBody>
      </p:sp>
    </p:spTree>
    <p:extLst>
      <p:ext uri="{BB962C8B-B14F-4D97-AF65-F5344CB8AC3E}">
        <p14:creationId xmlns:p14="http://schemas.microsoft.com/office/powerpoint/2010/main" val="4129408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843F897-C3F5-0A2C-85F9-43898A881BE7}"/>
              </a:ext>
            </a:extLst>
          </p:cNvPr>
          <p:cNvSpPr/>
          <p:nvPr/>
        </p:nvSpPr>
        <p:spPr>
          <a:xfrm>
            <a:off x="859818" y="1366325"/>
            <a:ext cx="7736893" cy="2807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草图简介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基本图形绘制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草图实体的操作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尺寸标注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添加几何关系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检查草图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草图绘制和编辑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270BD0-A309-C3F0-D8AD-A02CDF801B4F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草图绘制</a:t>
            </a:r>
          </a:p>
        </p:txBody>
      </p:sp>
    </p:spTree>
    <p:extLst>
      <p:ext uri="{BB962C8B-B14F-4D97-AF65-F5344CB8AC3E}">
        <p14:creationId xmlns:p14="http://schemas.microsoft.com/office/powerpoint/2010/main" val="2886139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843F897-C3F5-0A2C-85F9-43898A881BE7}"/>
              </a:ext>
            </a:extLst>
          </p:cNvPr>
          <p:cNvSpPr/>
          <p:nvPr/>
        </p:nvSpPr>
        <p:spPr>
          <a:xfrm>
            <a:off x="703553" y="1217749"/>
            <a:ext cx="7736893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草图（</a:t>
            </a: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Sketch</a:t>
            </a: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）定义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草图绘制和编辑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270BD0-A309-C3F0-D8AD-A02CDF801B4F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草图简介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D8DE16-0081-A7D1-4844-79151130EA53}"/>
              </a:ext>
            </a:extLst>
          </p:cNvPr>
          <p:cNvSpPr/>
          <p:nvPr/>
        </p:nvSpPr>
        <p:spPr>
          <a:xfrm>
            <a:off x="1159727" y="1717373"/>
            <a:ext cx="773689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草图一般是由点、线、圆弧、圆和抛物线等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基本图形构成</a:t>
            </a:r>
            <a:r>
              <a:rPr kumimoji="1"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的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封闭和不封闭</a:t>
            </a:r>
            <a:r>
              <a:rPr kumimoji="1"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的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几何图形</a:t>
            </a:r>
            <a:r>
              <a:rPr kumimoji="1"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，是三维实体建模的基础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4D4E8D-A1D0-BF57-15E9-22423862EB24}"/>
              </a:ext>
            </a:extLst>
          </p:cNvPr>
          <p:cNvSpPr/>
          <p:nvPr/>
        </p:nvSpPr>
        <p:spPr>
          <a:xfrm>
            <a:off x="703553" y="2591780"/>
            <a:ext cx="7736893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完整草图的三要素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096E50-37B7-29C5-ED91-08833CAC494F}"/>
              </a:ext>
            </a:extLst>
          </p:cNvPr>
          <p:cNvSpPr/>
          <p:nvPr/>
        </p:nvSpPr>
        <p:spPr>
          <a:xfrm>
            <a:off x="1159727" y="3091404"/>
            <a:ext cx="7736893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几何形状</a:t>
            </a:r>
            <a:endParaRPr kumimoji="1"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几何关系</a:t>
            </a:r>
            <a:endParaRPr kumimoji="1"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尺寸标注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89E30A-AD06-23AB-6B0D-58A7B72F71FC}"/>
              </a:ext>
            </a:extLst>
          </p:cNvPr>
          <p:cNvSpPr/>
          <p:nvPr/>
        </p:nvSpPr>
        <p:spPr>
          <a:xfrm>
            <a:off x="703553" y="4395321"/>
            <a:ext cx="7736893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重要性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277002C-532C-017E-79CA-D3074A1F968D}"/>
              </a:ext>
            </a:extLst>
          </p:cNvPr>
          <p:cNvSpPr/>
          <p:nvPr/>
        </p:nvSpPr>
        <p:spPr>
          <a:xfrm>
            <a:off x="1159727" y="4894945"/>
            <a:ext cx="7736893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SolidWorks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模型一般创建顺序：草图→基本特征→其他特征</a:t>
            </a:r>
            <a:endParaRPr kumimoji="1"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能否熟练掌握草图的绘制和编辑方法，直接影响了能否快速实现三维建模、提高工程设计的效率，进而影响能否灵活运用软件实现不同的应用目的。</a:t>
            </a:r>
          </a:p>
        </p:txBody>
      </p:sp>
    </p:spTree>
    <p:extLst>
      <p:ext uri="{BB962C8B-B14F-4D97-AF65-F5344CB8AC3E}">
        <p14:creationId xmlns:p14="http://schemas.microsoft.com/office/powerpoint/2010/main" val="4171198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843F897-C3F5-0A2C-85F9-43898A881BE7}"/>
              </a:ext>
            </a:extLst>
          </p:cNvPr>
          <p:cNvSpPr/>
          <p:nvPr/>
        </p:nvSpPr>
        <p:spPr>
          <a:xfrm>
            <a:off x="693393" y="1461589"/>
            <a:ext cx="7736893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草图工具栏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草图绘制和编辑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4D4E8D-A1D0-BF57-15E9-22423862EB24}"/>
              </a:ext>
            </a:extLst>
          </p:cNvPr>
          <p:cNvSpPr/>
          <p:nvPr/>
        </p:nvSpPr>
        <p:spPr>
          <a:xfrm>
            <a:off x="703553" y="4999700"/>
            <a:ext cx="7736893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基本草图绘制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096E50-37B7-29C5-ED91-08833CAC494F}"/>
              </a:ext>
            </a:extLst>
          </p:cNvPr>
          <p:cNvSpPr/>
          <p:nvPr/>
        </p:nvSpPr>
        <p:spPr>
          <a:xfrm>
            <a:off x="1159727" y="5499324"/>
            <a:ext cx="7736893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直线、圆、圆弧、矩形、平行四边形、多边形、椭圆和椭圆弧、样条曲线等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DF9D5A5-845F-147F-A560-13C08FDFC6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416" y="2035483"/>
            <a:ext cx="8249988" cy="64593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F117B53-3B3C-C01B-D356-D4F18649643C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基本图形绘制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4824BA-42DE-B40B-32F6-FA754D8D97F1}"/>
              </a:ext>
            </a:extLst>
          </p:cNvPr>
          <p:cNvSpPr/>
          <p:nvPr/>
        </p:nvSpPr>
        <p:spPr>
          <a:xfrm>
            <a:off x="475729" y="1979352"/>
            <a:ext cx="611391" cy="756881"/>
          </a:xfrm>
          <a:prstGeom prst="roundRect">
            <a:avLst>
              <a:gd name="adj" fmla="val 14073"/>
            </a:avLst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71A8F1A-DC1A-E316-C707-B43E3AC78169}"/>
              </a:ext>
            </a:extLst>
          </p:cNvPr>
          <p:cNvSpPr/>
          <p:nvPr/>
        </p:nvSpPr>
        <p:spPr>
          <a:xfrm>
            <a:off x="906910" y="3033725"/>
            <a:ext cx="22020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绘制新草图</a:t>
            </a:r>
            <a:endParaRPr kumimoji="1" lang="en-US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或编辑选中已有草图</a:t>
            </a:r>
            <a:endParaRPr kumimoji="1" lang="en-US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FE77F0F-ACAB-4E74-12EC-C2DC4EB113B6}"/>
              </a:ext>
            </a:extLst>
          </p:cNvPr>
          <p:cNvCxnSpPr>
            <a:cxnSpLocks/>
          </p:cNvCxnSpPr>
          <p:nvPr/>
        </p:nvCxnSpPr>
        <p:spPr>
          <a:xfrm flipH="1" flipV="1">
            <a:off x="1087120" y="2736233"/>
            <a:ext cx="233680" cy="464167"/>
          </a:xfrm>
          <a:prstGeom prst="straightConnector1">
            <a:avLst/>
          </a:prstGeom>
          <a:ln w="28575">
            <a:solidFill>
              <a:srgbClr val="6608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355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843F897-C3F5-0A2C-85F9-43898A881BE7}"/>
              </a:ext>
            </a:extLst>
          </p:cNvPr>
          <p:cNvSpPr/>
          <p:nvPr/>
        </p:nvSpPr>
        <p:spPr>
          <a:xfrm>
            <a:off x="701052" y="1320417"/>
            <a:ext cx="7736893" cy="5116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延伸实体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剪裁实体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转换实体引用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等距实体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镜像实体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线性草图阵列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圆周草图阵列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构造几何线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草图绘制和编辑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117B53-3B3C-C01B-D356-D4F18649643C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草图实体的操作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45CDA98-F184-CEF1-2797-6AF565890D6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1" r="-40120"/>
          <a:stretch/>
        </p:blipFill>
        <p:spPr>
          <a:xfrm>
            <a:off x="3221712" y="1268806"/>
            <a:ext cx="2451495" cy="119482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2826F4F-6730-903B-2E5A-34CF4126FDF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859"/>
          <a:stretch/>
        </p:blipFill>
        <p:spPr>
          <a:xfrm>
            <a:off x="3221712" y="5673763"/>
            <a:ext cx="2451495" cy="95591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EBB5E92-A267-E854-165A-171553CC8251}"/>
              </a:ext>
            </a:extLst>
          </p:cNvPr>
          <p:cNvSpPr/>
          <p:nvPr/>
        </p:nvSpPr>
        <p:spPr>
          <a:xfrm>
            <a:off x="6342092" y="1657122"/>
            <a:ext cx="1512353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位于命令栏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D6383A5-7FB6-13AF-53B6-CC875DA35116}"/>
              </a:ext>
            </a:extLst>
          </p:cNvPr>
          <p:cNvSpPr/>
          <p:nvPr/>
        </p:nvSpPr>
        <p:spPr>
          <a:xfrm>
            <a:off x="6348460" y="5826215"/>
            <a:ext cx="14996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选中草图中实体时右键菜单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75618A-52C8-A9D9-2DB5-0851CDF39F53}"/>
              </a:ext>
            </a:extLst>
          </p:cNvPr>
          <p:cNvSpPr/>
          <p:nvPr/>
        </p:nvSpPr>
        <p:spPr>
          <a:xfrm>
            <a:off x="6342092" y="3014876"/>
            <a:ext cx="1512353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位于命令栏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85880307-0F1C-200C-FF02-980093D186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1712" y="4160541"/>
            <a:ext cx="2304414" cy="120853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61132500-7CA1-34EB-64E9-5FDA43E8B874}"/>
              </a:ext>
            </a:extLst>
          </p:cNvPr>
          <p:cNvSpPr/>
          <p:nvPr/>
        </p:nvSpPr>
        <p:spPr>
          <a:xfrm>
            <a:off x="6342092" y="4505069"/>
            <a:ext cx="1512353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位于命令栏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D9417EFD-EBD0-5F88-9245-68EA0C84573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2" b="1"/>
          <a:stretch/>
        </p:blipFill>
        <p:spPr>
          <a:xfrm>
            <a:off x="3236074" y="2790850"/>
            <a:ext cx="1657517" cy="85467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B82DA08-42A8-44B6-4F4F-5E65B7FF8292}"/>
              </a:ext>
            </a:extLst>
          </p:cNvPr>
          <p:cNvSpPr/>
          <p:nvPr/>
        </p:nvSpPr>
        <p:spPr>
          <a:xfrm>
            <a:off x="3548380" y="5981700"/>
            <a:ext cx="279856" cy="279405"/>
          </a:xfrm>
          <a:prstGeom prst="roundRect">
            <a:avLst>
              <a:gd name="adj" fmla="val 5620"/>
            </a:avLst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46298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843F897-C3F5-0A2C-85F9-43898A881BE7}"/>
              </a:ext>
            </a:extLst>
          </p:cNvPr>
          <p:cNvSpPr/>
          <p:nvPr/>
        </p:nvSpPr>
        <p:spPr>
          <a:xfrm>
            <a:off x="703553" y="817807"/>
            <a:ext cx="7736893" cy="1884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移动实体</a:t>
            </a: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复制实体</a:t>
            </a: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旋转实体</a:t>
            </a: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缩放实体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草图绘制和编辑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EBB5E92-A267-E854-165A-171553CC8251}"/>
              </a:ext>
            </a:extLst>
          </p:cNvPr>
          <p:cNvSpPr/>
          <p:nvPr/>
        </p:nvSpPr>
        <p:spPr>
          <a:xfrm>
            <a:off x="6138367" y="1551020"/>
            <a:ext cx="1512353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位于命令栏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5E279F7-BA9B-4D95-8434-44EE66312F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3284" y="999049"/>
            <a:ext cx="2319935" cy="170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096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>
            <a:extLst>
              <a:ext uri="{FF2B5EF4-FFF2-40B4-BE49-F238E27FC236}">
                <a16:creationId xmlns:a16="http://schemas.microsoft.com/office/drawing/2014/main" id="{83794B8B-B0CC-18ED-0294-2F9A46812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038" y="2206494"/>
            <a:ext cx="3483124" cy="369469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草图绘制和编辑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117B53-3B3C-C01B-D356-D4F18649643C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尺寸标注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B9BAA37-8408-7B3A-A97E-856459E986A8}"/>
              </a:ext>
            </a:extLst>
          </p:cNvPr>
          <p:cNvSpPr/>
          <p:nvPr/>
        </p:nvSpPr>
        <p:spPr>
          <a:xfrm>
            <a:off x="701052" y="1320417"/>
            <a:ext cx="7736893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使用智能尺寸在草图中标注几何尺寸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8E258FB-E0BE-6A2B-A781-462613FA34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927" y="2037021"/>
            <a:ext cx="1066899" cy="127011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64F8AC86-C58D-83AC-3D48-6A9A3AC19804}"/>
              </a:ext>
            </a:extLst>
          </p:cNvPr>
          <p:cNvSpPr/>
          <p:nvPr/>
        </p:nvSpPr>
        <p:spPr>
          <a:xfrm>
            <a:off x="1532201" y="3266262"/>
            <a:ext cx="1512353" cy="418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位于命令栏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E2CC6BA-9AA9-6638-3C12-5F228F2704A6}"/>
              </a:ext>
            </a:extLst>
          </p:cNvPr>
          <p:cNvSpPr/>
          <p:nvPr/>
        </p:nvSpPr>
        <p:spPr>
          <a:xfrm>
            <a:off x="1036331" y="3817736"/>
            <a:ext cx="3158887" cy="1884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线性尺寸的标注</a:t>
            </a: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直径尺寸的标注</a:t>
            </a: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半径尺寸的标注</a:t>
            </a: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角度尺寸的标注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66A77F9-3F45-1B87-B153-073A1A3E33AD}"/>
              </a:ext>
            </a:extLst>
          </p:cNvPr>
          <p:cNvSpPr/>
          <p:nvPr/>
        </p:nvSpPr>
        <p:spPr>
          <a:xfrm>
            <a:off x="7220233" y="3156986"/>
            <a:ext cx="1988361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欠定义（蓝）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完全定义（黑）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过定义</a:t>
            </a:r>
            <a:r>
              <a:rPr kumimoji="1" lang="en-US" altLang="zh-CN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(</a:t>
            </a:r>
            <a:r>
              <a:rPr kumimoji="1" lang="zh-CN" altLang="en-US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黄或</a:t>
            </a:r>
            <a:r>
              <a:rPr kumimoji="1"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红</a:t>
            </a:r>
            <a:r>
              <a:rPr kumimoji="1" lang="en-US" altLang="zh-CN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)</a:t>
            </a:r>
            <a:endParaRPr kumimoji="1"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02F24311-BE74-94AA-149C-EBE3EDB81AD6}"/>
              </a:ext>
            </a:extLst>
          </p:cNvPr>
          <p:cNvCxnSpPr>
            <a:cxnSpLocks/>
          </p:cNvCxnSpPr>
          <p:nvPr/>
        </p:nvCxnSpPr>
        <p:spPr>
          <a:xfrm flipH="1" flipV="1">
            <a:off x="6723888" y="3092411"/>
            <a:ext cx="496345" cy="347518"/>
          </a:xfrm>
          <a:prstGeom prst="straightConnector1">
            <a:avLst/>
          </a:prstGeom>
          <a:ln w="28575">
            <a:solidFill>
              <a:srgbClr val="6608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4B67328-06F9-FA9E-E1F8-C243CB8AB2AE}"/>
              </a:ext>
            </a:extLst>
          </p:cNvPr>
          <p:cNvCxnSpPr>
            <a:cxnSpLocks/>
          </p:cNvCxnSpPr>
          <p:nvPr/>
        </p:nvCxnSpPr>
        <p:spPr>
          <a:xfrm flipH="1" flipV="1">
            <a:off x="6735993" y="3736848"/>
            <a:ext cx="554649" cy="111047"/>
          </a:xfrm>
          <a:prstGeom prst="straightConnector1">
            <a:avLst/>
          </a:prstGeom>
          <a:ln w="28575">
            <a:solidFill>
              <a:srgbClr val="6608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017D6AE1-D080-E500-C0B1-E7F7BE34FA20}"/>
              </a:ext>
            </a:extLst>
          </p:cNvPr>
          <p:cNvCxnSpPr>
            <a:cxnSpLocks/>
          </p:cNvCxnSpPr>
          <p:nvPr/>
        </p:nvCxnSpPr>
        <p:spPr>
          <a:xfrm flipH="1" flipV="1">
            <a:off x="6181344" y="4053840"/>
            <a:ext cx="1109298" cy="232967"/>
          </a:xfrm>
          <a:prstGeom prst="straightConnector1">
            <a:avLst/>
          </a:prstGeom>
          <a:ln w="28575">
            <a:solidFill>
              <a:srgbClr val="6608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090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草图绘制和编辑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117B53-3B3C-C01B-D356-D4F18649643C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添加几何关系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B9BAA37-8408-7B3A-A97E-856459E986A8}"/>
              </a:ext>
            </a:extLst>
          </p:cNvPr>
          <p:cNvSpPr/>
          <p:nvPr/>
        </p:nvSpPr>
        <p:spPr>
          <a:xfrm>
            <a:off x="703553" y="1217749"/>
            <a:ext cx="7736893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几何关系说明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graphicFrame>
        <p:nvGraphicFramePr>
          <p:cNvPr id="3" name="Group 945">
            <a:extLst>
              <a:ext uri="{FF2B5EF4-FFF2-40B4-BE49-F238E27FC236}">
                <a16:creationId xmlns:a16="http://schemas.microsoft.com/office/drawing/2014/main" id="{0582138C-0467-AA4A-CD62-D8B13E44A9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5736115"/>
              </p:ext>
            </p:extLst>
          </p:nvPr>
        </p:nvGraphicFramePr>
        <p:xfrm>
          <a:off x="548639" y="1773025"/>
          <a:ext cx="8182765" cy="4516437"/>
        </p:xfrm>
        <a:graphic>
          <a:graphicData uri="http://schemas.openxmlformats.org/drawingml/2006/table">
            <a:tbl>
              <a:tblPr/>
              <a:tblGrid>
                <a:gridCol w="1412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3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7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几何关系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要选择的实体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所产生的几何关系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水平或竖直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一条或多条直线，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或两个或多个点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直线会变成水平或竖直，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而点会水平或竖直对齐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53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共线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两条或多条直线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项目位于同一条无限长的直线上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全等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两个或多个圆弧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项目会共用相同的圆心和半径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垂直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两条直线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两条直线相互垂直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相切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一圆弧、椭圆、或样条曲线，以及一直线或圆弧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两个项目保持相切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10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同心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两个或多个圆弧，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或一个点和一个圆弧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圆弧共用同一圆心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96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中点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两条直线或一个点和一直线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点保持位于线段的中点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交叉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两条直线和一个点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点保持于直线的交叉点处</a:t>
                      </a:r>
                    </a:p>
                  </a:txBody>
                  <a:tcPr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62346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草图绘制和编辑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B9BAA37-8408-7B3A-A97E-856459E986A8}"/>
              </a:ext>
            </a:extLst>
          </p:cNvPr>
          <p:cNvSpPr/>
          <p:nvPr/>
        </p:nvSpPr>
        <p:spPr>
          <a:xfrm>
            <a:off x="703553" y="587829"/>
            <a:ext cx="7736893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几何关系说明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graphicFrame>
        <p:nvGraphicFramePr>
          <p:cNvPr id="4" name="Group 186">
            <a:extLst>
              <a:ext uri="{FF2B5EF4-FFF2-40B4-BE49-F238E27FC236}">
                <a16:creationId xmlns:a16="http://schemas.microsoft.com/office/drawing/2014/main" id="{0561F98E-C1E3-B135-64D6-B3B2B0C318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3295807"/>
              </p:ext>
            </p:extLst>
          </p:nvPr>
        </p:nvGraphicFramePr>
        <p:xfrm>
          <a:off x="548638" y="1197293"/>
          <a:ext cx="8182767" cy="5309799"/>
        </p:xfrm>
        <a:graphic>
          <a:graphicData uri="http://schemas.openxmlformats.org/drawingml/2006/table">
            <a:tbl>
              <a:tblPr/>
              <a:tblGrid>
                <a:gridCol w="1412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0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几何关系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3" marB="457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要选择的实体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3" marB="457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所产生的几何关系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3" marB="457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0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重合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3" marB="457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一个点和一直线、圆弧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或椭圆</a:t>
                      </a:r>
                    </a:p>
                  </a:txBody>
                  <a:tcPr marT="45703" marB="457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点位于直线、圆弧或椭圆上</a:t>
                      </a:r>
                    </a:p>
                  </a:txBody>
                  <a:tcPr marT="45703" marB="457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0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相等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3" marB="457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两条或多条直线，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或两个或多个圆弧</a:t>
                      </a:r>
                    </a:p>
                  </a:txBody>
                  <a:tcPr marT="45703" marB="457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直线长度或圆弧半径保持相等</a:t>
                      </a:r>
                    </a:p>
                  </a:txBody>
                  <a:tcPr marT="45703" marB="457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58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对称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3" marB="457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一条中心线和两个点、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直线、圆弧或椭圆</a:t>
                      </a:r>
                    </a:p>
                  </a:txBody>
                  <a:tcPr marT="45703" marB="457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项目保持与中心线相等距离，并位于一条与中心线垂直的直线上</a:t>
                      </a:r>
                    </a:p>
                  </a:txBody>
                  <a:tcPr marT="45703" marB="457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539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固定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3" marB="457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任何实体</a:t>
                      </a:r>
                    </a:p>
                  </a:txBody>
                  <a:tcPr marT="45703" marB="457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实体的大小和位置被固定。然而，固定直线的端点可以自由地沿其下无限长的直线移动。并且，圆弧或椭圆段的端点可以随意沿着下面的全圆或椭圆移动</a:t>
                      </a:r>
                    </a:p>
                  </a:txBody>
                  <a:tcPr marT="45703" marB="457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56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合并点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3" marB="457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两个草图点或端点</a:t>
                      </a:r>
                    </a:p>
                  </a:txBody>
                  <a:tcPr marT="45703" marB="457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两个点合并成一个点</a:t>
                      </a:r>
                    </a:p>
                  </a:txBody>
                  <a:tcPr marT="45703" marB="457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3882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29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草图绘制和编辑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117B53-3B3C-C01B-D356-D4F18649643C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检查草图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3628DC-0409-797B-E63D-1189C7AB14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714" y="933587"/>
            <a:ext cx="3777799" cy="390409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1426149-C668-60D3-4FDE-C17291BF6153}"/>
              </a:ext>
            </a:extLst>
          </p:cNvPr>
          <p:cNvSpPr/>
          <p:nvPr/>
        </p:nvSpPr>
        <p:spPr>
          <a:xfrm>
            <a:off x="650930" y="1523282"/>
            <a:ext cx="276085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【</a:t>
            </a: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工具</a:t>
            </a: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】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↓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【</a:t>
            </a: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草图工具</a:t>
            </a: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】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↓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【</a:t>
            </a: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检查草图合法性</a:t>
            </a: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】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↓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【</a:t>
            </a: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特征用法</a:t>
            </a: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】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↓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【</a:t>
            </a: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检查</a:t>
            </a: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】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4DC3EC5-AD60-26AC-4BDE-F12E8C7FD067}"/>
              </a:ext>
            </a:extLst>
          </p:cNvPr>
          <p:cNvSpPr/>
          <p:nvPr/>
        </p:nvSpPr>
        <p:spPr>
          <a:xfrm>
            <a:off x="7737223" y="1576101"/>
            <a:ext cx="1988361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开环轮廓</a:t>
            </a:r>
            <a:endParaRPr kumimoji="1" lang="en-US" altLang="zh-CN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闭环轮廓</a:t>
            </a:r>
            <a:endParaRPr kumimoji="1"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BAA0360-1564-96FD-4541-A7E08290810C}"/>
              </a:ext>
            </a:extLst>
          </p:cNvPr>
          <p:cNvCxnSpPr>
            <a:cxnSpLocks/>
          </p:cNvCxnSpPr>
          <p:nvPr/>
        </p:nvCxnSpPr>
        <p:spPr>
          <a:xfrm flipH="1">
            <a:off x="6736080" y="1827480"/>
            <a:ext cx="1022233" cy="41273"/>
          </a:xfrm>
          <a:prstGeom prst="straightConnector1">
            <a:avLst/>
          </a:prstGeom>
          <a:ln w="28575">
            <a:solidFill>
              <a:srgbClr val="6608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959EE09-B8DB-F75A-5214-AF7A29543F0C}"/>
              </a:ext>
            </a:extLst>
          </p:cNvPr>
          <p:cNvCxnSpPr>
            <a:cxnSpLocks/>
          </p:cNvCxnSpPr>
          <p:nvPr/>
        </p:nvCxnSpPr>
        <p:spPr>
          <a:xfrm flipH="1">
            <a:off x="7040880" y="2277033"/>
            <a:ext cx="717433" cy="485613"/>
          </a:xfrm>
          <a:prstGeom prst="straightConnector1">
            <a:avLst/>
          </a:prstGeom>
          <a:ln w="28575">
            <a:solidFill>
              <a:srgbClr val="6608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FDDF3234-7522-EEB4-42F0-49093362CD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3665" y="4989247"/>
            <a:ext cx="3409713" cy="12960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4EE701E-4F0E-C922-8BF1-77BE433E89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068" y="4989247"/>
            <a:ext cx="2964599" cy="1296000"/>
          </a:xfrm>
          <a:prstGeom prst="rect">
            <a:avLst/>
          </a:prstGeom>
        </p:spPr>
      </p:pic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C894CF7-0E22-61C6-BD7B-148EC3965975}"/>
              </a:ext>
            </a:extLst>
          </p:cNvPr>
          <p:cNvCxnSpPr>
            <a:cxnSpLocks/>
          </p:cNvCxnSpPr>
          <p:nvPr/>
        </p:nvCxnSpPr>
        <p:spPr>
          <a:xfrm>
            <a:off x="4089425" y="5637247"/>
            <a:ext cx="482575" cy="0"/>
          </a:xfrm>
          <a:prstGeom prst="straightConnector1">
            <a:avLst/>
          </a:prstGeom>
          <a:ln w="28575">
            <a:solidFill>
              <a:srgbClr val="6608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9166EBA-0EB3-CCD0-74B8-7D28A844451A}"/>
              </a:ext>
            </a:extLst>
          </p:cNvPr>
          <p:cNvCxnSpPr>
            <a:cxnSpLocks/>
          </p:cNvCxnSpPr>
          <p:nvPr/>
        </p:nvCxnSpPr>
        <p:spPr>
          <a:xfrm flipH="1">
            <a:off x="6421120" y="2256545"/>
            <a:ext cx="1316103" cy="345009"/>
          </a:xfrm>
          <a:prstGeom prst="straightConnector1">
            <a:avLst/>
          </a:prstGeom>
          <a:ln w="28575">
            <a:solidFill>
              <a:srgbClr val="6608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D9993080-10FD-0347-47A9-7CDF26E31DD3}"/>
              </a:ext>
            </a:extLst>
          </p:cNvPr>
          <p:cNvCxnSpPr>
            <a:cxnSpLocks/>
          </p:cNvCxnSpPr>
          <p:nvPr/>
        </p:nvCxnSpPr>
        <p:spPr>
          <a:xfrm flipH="1">
            <a:off x="7193280" y="2429433"/>
            <a:ext cx="717433" cy="485613"/>
          </a:xfrm>
          <a:prstGeom prst="straightConnector1">
            <a:avLst/>
          </a:prstGeom>
          <a:ln w="28575">
            <a:solidFill>
              <a:srgbClr val="66087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2375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草图示例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A1FCBFE-5E18-A542-1322-795010939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727" y="1053788"/>
            <a:ext cx="6553200" cy="530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79749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特征建模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43DB160-B8DF-84A7-9167-AD775009E7E8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特征建模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202FEB-C7BF-58A2-781B-E2839C93535D}"/>
              </a:ext>
            </a:extLst>
          </p:cNvPr>
          <p:cNvSpPr/>
          <p:nvPr/>
        </p:nvSpPr>
        <p:spPr>
          <a:xfrm>
            <a:off x="613458" y="1296869"/>
            <a:ext cx="7805713" cy="2346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零件建模的基本概念</a:t>
            </a: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零件特征分析</a:t>
            </a: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零件三维实体建模的基本过程</a:t>
            </a: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基础特征建模</a:t>
            </a: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附加特征建模</a:t>
            </a:r>
          </a:p>
        </p:txBody>
      </p:sp>
    </p:spTree>
    <p:extLst>
      <p:ext uri="{BB962C8B-B14F-4D97-AF65-F5344CB8AC3E}">
        <p14:creationId xmlns:p14="http://schemas.microsoft.com/office/powerpoint/2010/main" val="4581923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特征建模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43DB160-B8DF-84A7-9167-AD775009E7E8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零件建模的基本概念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202FEB-C7BF-58A2-781B-E2839C93535D}"/>
              </a:ext>
            </a:extLst>
          </p:cNvPr>
          <p:cNvSpPr/>
          <p:nvPr/>
        </p:nvSpPr>
        <p:spPr>
          <a:xfrm>
            <a:off x="613458" y="1296869"/>
            <a:ext cx="8117946" cy="1884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SolidWorks</a:t>
            </a: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是基于特征的实体造型软件</a:t>
            </a: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“基于特征”这个术语的意思是零件模型的构造是由各种特征来生成的，</a:t>
            </a:r>
            <a:r>
              <a:rPr kumimoji="1" lang="zh-CN" altLang="en-US" sz="2000" b="1" i="1" u="sng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零件的设计过程就是特征的累积过程</a:t>
            </a: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所谓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特征</a:t>
            </a: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是指可以用参数驱动的实体模型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F285324-12E0-9E18-B19F-76A16CBCFB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490" y="4239938"/>
            <a:ext cx="8729020" cy="72741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971244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33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特征建模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43DB160-B8DF-84A7-9167-AD775009E7E8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零件特征分析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202FEB-C7BF-58A2-781B-E2839C93535D}"/>
              </a:ext>
            </a:extLst>
          </p:cNvPr>
          <p:cNvSpPr/>
          <p:nvPr/>
        </p:nvSpPr>
        <p:spPr>
          <a:xfrm>
            <a:off x="613458" y="1296869"/>
            <a:ext cx="8117946" cy="5116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任何复杂的机械零件，从特征的角度看，都可以看成是由一些简单的特征所组成，所以可以把它们叫做组合体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1"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组合体按其组成方式可以分为</a:t>
            </a:r>
          </a:p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     </a:t>
            </a:r>
            <a:r>
              <a:rPr kumimoji="1"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- </a:t>
            </a:r>
            <a:r>
              <a:rPr kumimoji="1" lang="zh-CN" altLang="en-US" sz="2000" b="1" u="sng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特征叠加</a:t>
            </a:r>
          </a:p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     </a:t>
            </a:r>
            <a:r>
              <a:rPr kumimoji="1"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- </a:t>
            </a:r>
            <a:r>
              <a:rPr kumimoji="1" lang="zh-CN" altLang="en-US" sz="2000" b="1" u="sng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特征切割</a:t>
            </a:r>
          </a:p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     </a:t>
            </a:r>
            <a:r>
              <a:rPr kumimoji="1"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- </a:t>
            </a:r>
            <a:r>
              <a:rPr kumimoji="1" lang="zh-CN" altLang="en-US" sz="2000" b="1" u="sng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特征相交</a:t>
            </a:r>
            <a:endParaRPr kumimoji="1" lang="en-US" altLang="zh-CN" sz="2000" b="1" u="sng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在零件建模前，一般应进行深入的特征分析，搞清零件是由哪几个特征组成，明确各个特征的形状，它们之间的相对位置和表面连接关系；然后按照特征的主次关系，按一定的顺序进行建模</a:t>
            </a:r>
          </a:p>
        </p:txBody>
      </p:sp>
    </p:spTree>
    <p:extLst>
      <p:ext uri="{BB962C8B-B14F-4D97-AF65-F5344CB8AC3E}">
        <p14:creationId xmlns:p14="http://schemas.microsoft.com/office/powerpoint/2010/main" val="5138913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34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特征建模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43DB160-B8DF-84A7-9167-AD775009E7E8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基础特征建模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202FEB-C7BF-58A2-781B-E2839C93535D}"/>
              </a:ext>
            </a:extLst>
          </p:cNvPr>
          <p:cNvSpPr/>
          <p:nvPr/>
        </p:nvSpPr>
        <p:spPr>
          <a:xfrm>
            <a:off x="613458" y="1296869"/>
            <a:ext cx="8117946" cy="1884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基础特征建模是三维实体最基本的绘制方式，可以构成三维实体的基本造型</a:t>
            </a: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基础特征建模相当于二维草图中的基本图元</a:t>
            </a: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基础特征建模主要包括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E1D9BD3-060C-5401-0BBE-9FECF84A70D0}"/>
              </a:ext>
            </a:extLst>
          </p:cNvPr>
          <p:cNvSpPr txBox="1"/>
          <p:nvPr/>
        </p:nvSpPr>
        <p:spPr>
          <a:xfrm>
            <a:off x="1861950" y="3644475"/>
            <a:ext cx="860930" cy="2224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拉伸</a:t>
            </a:r>
          </a:p>
          <a:p>
            <a:pPr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旋转</a:t>
            </a:r>
            <a:endParaRPr kumimoji="1" lang="en-US" altLang="zh-CN" sz="1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扫描</a:t>
            </a:r>
            <a:endParaRPr kumimoji="1" lang="en-US" altLang="zh-CN" sz="1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  <a:sym typeface="+mn-ea"/>
            </a:endParaRPr>
          </a:p>
          <a:p>
            <a:pPr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放样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555FAB-B86F-2198-3794-BE5359B76DE5}"/>
              </a:ext>
            </a:extLst>
          </p:cNvPr>
          <p:cNvSpPr txBox="1"/>
          <p:nvPr/>
        </p:nvSpPr>
        <p:spPr>
          <a:xfrm>
            <a:off x="4572000" y="3644475"/>
            <a:ext cx="1345960" cy="2224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拉伸切除</a:t>
            </a:r>
          </a:p>
          <a:p>
            <a:pPr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旋转切除</a:t>
            </a:r>
          </a:p>
          <a:p>
            <a:pPr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扫描切除</a:t>
            </a:r>
          </a:p>
          <a:p>
            <a:pPr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放样切除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4A301AC-0B17-6C29-A80A-0EA96D07C5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9843" y="3643667"/>
            <a:ext cx="631198" cy="56106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BF41C97-6F69-6B11-79BA-5BC374B1E2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5450" y="4213982"/>
            <a:ext cx="724709" cy="56106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8F9469A-4893-F05D-E554-0D7291964D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9843" y="4784296"/>
            <a:ext cx="631198" cy="56106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3097A70-709E-87F8-92A6-AD14E96248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9843" y="5354611"/>
            <a:ext cx="631198" cy="60782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7F44B7A-16B2-EA78-5654-E8EC1129B3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6755" y="3668371"/>
            <a:ext cx="607820" cy="58444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70F1D2C9-20FD-02A1-1660-11BF72046A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24934" y="4218762"/>
            <a:ext cx="771463" cy="60781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D1CBF068-7B00-73E9-943D-C470C4194D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8444" y="4792530"/>
            <a:ext cx="584442" cy="58444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CC0235D9-A716-95ED-112E-36214CF864B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8444" y="5342922"/>
            <a:ext cx="584442" cy="63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8341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35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特征建模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43DB160-B8DF-84A7-9167-AD775009E7E8}"/>
              </a:ext>
            </a:extLst>
          </p:cNvPr>
          <p:cNvSpPr txBox="1"/>
          <p:nvPr/>
        </p:nvSpPr>
        <p:spPr>
          <a:xfrm>
            <a:off x="335666" y="718125"/>
            <a:ext cx="6217044" cy="4996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marL="0" lvl="1" indent="-342900"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kumimoji="1" lang="zh-CN" altLang="en-US" sz="2000" b="1" dirty="0">
                <a:solidFill>
                  <a:srgbClr val="66087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附加特征建模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202FEB-C7BF-58A2-781B-E2839C93535D}"/>
              </a:ext>
            </a:extLst>
          </p:cNvPr>
          <p:cNvSpPr/>
          <p:nvPr/>
        </p:nvSpPr>
        <p:spPr>
          <a:xfrm>
            <a:off x="613458" y="1296869"/>
            <a:ext cx="8117946" cy="1422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附加特征建模是指对已经构建好的模型实体，对其进行局部修饰，以增加美观并避免重复性的工作</a:t>
            </a:r>
          </a:p>
          <a:p>
            <a:pPr marL="342900" indent="-3429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在</a:t>
            </a: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SolidWorks</a:t>
            </a:r>
            <a:r>
              <a:rPr kumimoji="1"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中附加特征建模主要包括：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E1D9BD3-060C-5401-0BBE-9FECF84A70D0}"/>
              </a:ext>
            </a:extLst>
          </p:cNvPr>
          <p:cNvSpPr txBox="1"/>
          <p:nvPr/>
        </p:nvSpPr>
        <p:spPr>
          <a:xfrm>
            <a:off x="1861949" y="2912955"/>
            <a:ext cx="1795651" cy="3332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圆角特征</a:t>
            </a:r>
          </a:p>
          <a:p>
            <a:pPr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线性阵列特征</a:t>
            </a:r>
          </a:p>
          <a:p>
            <a:pPr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镜像特征</a:t>
            </a:r>
          </a:p>
          <a:p>
            <a:pPr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特型特征</a:t>
            </a:r>
          </a:p>
          <a:p>
            <a:pPr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圆顶特征</a:t>
            </a:r>
          </a:p>
          <a:p>
            <a:pPr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拔模特征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555FAB-B86F-2198-3794-BE5359B76DE5}"/>
              </a:ext>
            </a:extLst>
          </p:cNvPr>
          <p:cNvSpPr txBox="1"/>
          <p:nvPr/>
        </p:nvSpPr>
        <p:spPr>
          <a:xfrm>
            <a:off x="4572000" y="2912955"/>
            <a:ext cx="2103120" cy="3332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倒角特征</a:t>
            </a:r>
          </a:p>
          <a:p>
            <a:pPr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圆周阵列特征</a:t>
            </a:r>
          </a:p>
          <a:p>
            <a:pPr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孔特征</a:t>
            </a:r>
          </a:p>
          <a:p>
            <a:pPr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筋特征</a:t>
            </a:r>
          </a:p>
          <a:p>
            <a:pPr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抽壳特征</a:t>
            </a:r>
          </a:p>
          <a:p>
            <a:pPr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异型孔特征</a:t>
            </a:r>
          </a:p>
        </p:txBody>
      </p:sp>
    </p:spTree>
    <p:extLst>
      <p:ext uri="{BB962C8B-B14F-4D97-AF65-F5344CB8AC3E}">
        <p14:creationId xmlns:p14="http://schemas.microsoft.com/office/powerpoint/2010/main" val="21849754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A766FE0-9883-14E3-7A3B-B561BE27AD8E}"/>
              </a:ext>
            </a:extLst>
          </p:cNvPr>
          <p:cNvSpPr/>
          <p:nvPr/>
        </p:nvSpPr>
        <p:spPr>
          <a:xfrm flipH="1">
            <a:off x="7884400" y="6290237"/>
            <a:ext cx="1259600" cy="462988"/>
          </a:xfrm>
          <a:prstGeom prst="rtTriangle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41645A4-92E6-4ADC-ACC2-A8E6C1DB0AE3}" type="slidenum"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440855B-D5B5-69D4-83F8-6914A414CC9A}"/>
              </a:ext>
            </a:extLst>
          </p:cNvPr>
          <p:cNvCxnSpPr>
            <a:cxnSpLocks/>
          </p:cNvCxnSpPr>
          <p:nvPr/>
        </p:nvCxnSpPr>
        <p:spPr>
          <a:xfrm>
            <a:off x="0" y="590799"/>
            <a:ext cx="9144000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66E6FB98-7BBB-DD5A-F46A-4D676F7988C9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图片包含 游戏机, 建筑, 标志, 围栏&#10;&#10;描述已自动生成">
            <a:extLst>
              <a:ext uri="{FF2B5EF4-FFF2-40B4-BE49-F238E27FC236}">
                <a16:creationId xmlns:a16="http://schemas.microsoft.com/office/drawing/2014/main" id="{0059E5E4-3A8A-D1EE-BC07-FB098B13B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7" y="-29037"/>
            <a:ext cx="860855" cy="60858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D354ECE-456C-DFAF-936A-589D653E8261}"/>
              </a:ext>
            </a:extLst>
          </p:cNvPr>
          <p:cNvSpPr txBox="1"/>
          <p:nvPr/>
        </p:nvSpPr>
        <p:spPr>
          <a:xfrm>
            <a:off x="1159727" y="64560"/>
            <a:ext cx="7571677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algn="l"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软件实操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——</a:t>
            </a: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建模演示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202FEB-C7BF-58A2-781B-E2839C93535D}"/>
              </a:ext>
            </a:extLst>
          </p:cNvPr>
          <p:cNvSpPr/>
          <p:nvPr/>
        </p:nvSpPr>
        <p:spPr>
          <a:xfrm>
            <a:off x="429390" y="2944883"/>
            <a:ext cx="8117946" cy="662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SolidWorks 2022 </a:t>
            </a:r>
            <a:r>
              <a:rPr kumimoji="1"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ea"/>
              </a:rPr>
              <a:t>建模演示</a:t>
            </a:r>
          </a:p>
        </p:txBody>
      </p:sp>
    </p:spTree>
    <p:extLst>
      <p:ext uri="{BB962C8B-B14F-4D97-AF65-F5344CB8AC3E}">
        <p14:creationId xmlns:p14="http://schemas.microsoft.com/office/powerpoint/2010/main" val="9002480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直接连接符 24"/>
          <p:cNvCxnSpPr/>
          <p:nvPr/>
        </p:nvCxnSpPr>
        <p:spPr>
          <a:xfrm>
            <a:off x="1681656" y="3684215"/>
            <a:ext cx="6022427" cy="0"/>
          </a:xfrm>
          <a:prstGeom prst="line">
            <a:avLst/>
          </a:prstGeom>
          <a:ln w="28575">
            <a:solidFill>
              <a:srgbClr val="660874">
                <a:alpha val="5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建筑的设计&#10;&#10;描述已自动生成">
            <a:extLst>
              <a:ext uri="{FF2B5EF4-FFF2-40B4-BE49-F238E27FC236}">
                <a16:creationId xmlns:a16="http://schemas.microsoft.com/office/drawing/2014/main" id="{89B0B1F4-F195-9AE4-E5A0-CE9FE2BA902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430" y="3076575"/>
            <a:ext cx="5635327" cy="378142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6969B14-F669-EE07-0F3C-011D8083E763}"/>
              </a:ext>
            </a:extLst>
          </p:cNvPr>
          <p:cNvSpPr/>
          <p:nvPr/>
        </p:nvSpPr>
        <p:spPr>
          <a:xfrm>
            <a:off x="0" y="6753225"/>
            <a:ext cx="9144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" name="TextBox 6"/>
          <p:cNvSpPr>
            <a:spLocks noChangeArrowheads="1"/>
          </p:cNvSpPr>
          <p:nvPr/>
        </p:nvSpPr>
        <p:spPr bwMode="auto">
          <a:xfrm>
            <a:off x="525306" y="2910053"/>
            <a:ext cx="8488204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spc="1900" dirty="0">
                <a:solidFill>
                  <a:srgbClr val="660874"/>
                </a:solidFill>
                <a:latin typeface="黑体" panose="02010609060101010101" charset="-122"/>
                <a:ea typeface="黑体" panose="02010609060101010101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16572</TotalTime>
  <Words>1668</Words>
  <Application>Microsoft Office PowerPoint</Application>
  <PresentationFormat>全屏显示(4:3)</PresentationFormat>
  <Paragraphs>402</Paragraphs>
  <Slides>37</Slides>
  <Notes>37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0" baseType="lpstr">
      <vt:lpstr>Source Han Serif SC</vt:lpstr>
      <vt:lpstr>等线</vt:lpstr>
      <vt:lpstr>等线 Light</vt:lpstr>
      <vt:lpstr>黑体</vt:lpstr>
      <vt:lpstr>华文中宋</vt:lpstr>
      <vt:lpstr>宋体</vt:lpstr>
      <vt:lpstr>微软雅黑</vt:lpstr>
      <vt:lpstr>Arial</vt:lpstr>
      <vt:lpstr>Calibri</vt:lpstr>
      <vt:lpstr>Calibri Light</vt:lpstr>
      <vt:lpstr>Wingdings</vt:lpstr>
      <vt:lpstr>Office 主题​​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李铁民</cp:lastModifiedBy>
  <cp:revision>624</cp:revision>
  <dcterms:created xsi:type="dcterms:W3CDTF">2021-09-17T07:37:00Z</dcterms:created>
  <dcterms:modified xsi:type="dcterms:W3CDTF">2023-12-11T03:14:02Z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79DDE46D25E041C2AA71725671170014</vt:lpwstr>
  </property>
  <property fmtid="{D5CDD505-2E9C-101B-9397-08002B2CF9AE}" pid="3" name="KSOProductBuildVer">
    <vt:lpwstr>2052-11.1.0.10700</vt:lpwstr>
  </property>
</Properties>
</file>