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8" r:id="rId2"/>
    <p:sldId id="260" r:id="rId3"/>
    <p:sldId id="259" r:id="rId4"/>
    <p:sldId id="264" r:id="rId5"/>
    <p:sldId id="261" r:id="rId6"/>
    <p:sldId id="274" r:id="rId7"/>
    <p:sldId id="262" r:id="rId8"/>
    <p:sldId id="275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微软雅黑"/>
        <a:ea typeface="微软雅黑"/>
        <a:cs typeface="微软雅黑"/>
        <a:sym typeface="微软雅黑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微软雅黑"/>
        <a:ea typeface="微软雅黑"/>
        <a:cs typeface="微软雅黑"/>
        <a:sym typeface="微软雅黑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微软雅黑"/>
        <a:ea typeface="微软雅黑"/>
        <a:cs typeface="微软雅黑"/>
        <a:sym typeface="微软雅黑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微软雅黑"/>
        <a:ea typeface="微软雅黑"/>
        <a:cs typeface="微软雅黑"/>
        <a:sym typeface="微软雅黑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微软雅黑"/>
        <a:ea typeface="微软雅黑"/>
        <a:cs typeface="微软雅黑"/>
        <a:sym typeface="微软雅黑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微软雅黑"/>
        <a:ea typeface="微软雅黑"/>
        <a:cs typeface="微软雅黑"/>
        <a:sym typeface="微软雅黑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微软雅黑"/>
        <a:ea typeface="微软雅黑"/>
        <a:cs typeface="微软雅黑"/>
        <a:sym typeface="微软雅黑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微软雅黑"/>
        <a:ea typeface="微软雅黑"/>
        <a:cs typeface="微软雅黑"/>
        <a:sym typeface="微软雅黑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微软雅黑"/>
        <a:ea typeface="微软雅黑"/>
        <a:cs typeface="微软雅黑"/>
        <a:sym typeface="微软雅黑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ACDCE"/>
          </a:solidFill>
        </a:fill>
      </a:tcStyle>
    </a:wholeTbl>
    <a:band2H>
      <a:tcTxStyle/>
      <a:tcStyle>
        <a:tcBdr/>
        <a:fill>
          <a:solidFill>
            <a:srgbClr val="FCE7E8"/>
          </a:solidFill>
        </a:fill>
      </a:tcStyle>
    </a:band2H>
    <a:firstCol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微软雅黑"/>
          <a:ea typeface="微软雅黑"/>
          <a:cs typeface="微软雅黑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微软雅黑"/>
          <a:ea typeface="微软雅黑"/>
          <a:cs typeface="微软雅黑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4" autoAdjust="0"/>
    <p:restoredTop sz="94660"/>
  </p:normalViewPr>
  <p:slideViewPr>
    <p:cSldViewPr>
      <p:cViewPr varScale="1">
        <p:scale>
          <a:sx n="67" d="100"/>
          <a:sy n="67" d="100"/>
        </p:scale>
        <p:origin x="-414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1" name="Shape 15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文本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9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</a:lvl1pPr>
            <a:lvl2pPr marL="0" indent="457200" algn="ctr">
              <a:buSzTx/>
              <a:buFontTx/>
              <a:buNone/>
            </a:lvl2pPr>
            <a:lvl3pPr marL="0" indent="914400" algn="ctr">
              <a:buSzTx/>
              <a:buFontTx/>
              <a:buNone/>
            </a:lvl3pPr>
            <a:lvl4pPr marL="0" indent="1371600" algn="ctr">
              <a:buSzTx/>
              <a:buFontTx/>
              <a:buNone/>
            </a:lvl4pPr>
            <a:lvl5pPr marL="0" indent="1828800" algn="ctr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610600" y="6356350"/>
            <a:ext cx="358413" cy="370840"/>
          </a:xfrm>
          <a:prstGeom prst="rect">
            <a:avLst/>
          </a:prstGeom>
        </p:spPr>
        <p:txBody>
          <a:bodyPr anchor="t"/>
          <a:lstStyle>
            <a:lvl1pPr algn="l">
              <a:defRPr sz="1800"/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Title Slide">
    <p:bg>
      <p:bgPr>
        <a:blipFill rotWithShape="1">
          <a:blip r:embed="rId2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12"/>
          <p:cNvSpPr/>
          <p:nvPr/>
        </p:nvSpPr>
        <p:spPr>
          <a:xfrm>
            <a:off x="0" y="463100"/>
            <a:ext cx="142875" cy="41682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252192" y="463100"/>
            <a:ext cx="3817475" cy="41682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buSzTx/>
              <a:buFontTx/>
              <a:buNone/>
              <a:defRPr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  <a:lvl2pPr marL="685800" indent="-228600">
              <a:buFontTx/>
              <a:defRPr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2pPr>
            <a:lvl3pPr marL="1168400" indent="-254000">
              <a:buFontTx/>
              <a:defRPr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3pPr>
            <a:lvl4pPr marL="1657350" indent="-285750">
              <a:buFontTx/>
              <a:defRPr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4pPr>
            <a:lvl5pPr marL="2114550" indent="-285750">
              <a:buFontTx/>
              <a:defRPr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9" name="Rounded Rectangle 9"/>
          <p:cNvSpPr/>
          <p:nvPr/>
        </p:nvSpPr>
        <p:spPr>
          <a:xfrm>
            <a:off x="11471564" y="372774"/>
            <a:ext cx="431079" cy="29874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610121" y="445801"/>
            <a:ext cx="153964" cy="152401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Title Slide">
    <p:bg>
      <p:bgPr>
        <a:blipFill rotWithShape="1">
          <a:blip r:embed="rId2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9"/>
          <p:cNvSpPr/>
          <p:nvPr/>
        </p:nvSpPr>
        <p:spPr>
          <a:xfrm>
            <a:off x="11471564" y="372774"/>
            <a:ext cx="431079" cy="29874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610121" y="445801"/>
            <a:ext cx="153964" cy="152401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000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bg>
      <p:bgPr>
        <a:blipFill rotWithShape="1">
          <a:blip r:embed="rId2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文本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5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>
                <a:latin typeface="+mj-lt"/>
                <a:ea typeface="+mj-ea"/>
                <a:cs typeface="+mj-cs"/>
                <a:sym typeface="Calibri"/>
              </a:defRPr>
            </a:lvl1pPr>
            <a:lvl2pPr marL="0" indent="457200" algn="ctr">
              <a:buSzTx/>
              <a:buFontTx/>
              <a:buNone/>
              <a:defRPr>
                <a:latin typeface="+mj-lt"/>
                <a:ea typeface="+mj-ea"/>
                <a:cs typeface="+mj-cs"/>
                <a:sym typeface="Calibri"/>
              </a:defRPr>
            </a:lvl2pPr>
            <a:lvl3pPr marL="0" indent="914400" algn="ctr">
              <a:buSzTx/>
              <a:buFontTx/>
              <a:buNone/>
              <a:defRPr>
                <a:latin typeface="+mj-lt"/>
                <a:ea typeface="+mj-ea"/>
                <a:cs typeface="+mj-cs"/>
                <a:sym typeface="Calibri"/>
              </a:defRPr>
            </a:lvl3pPr>
            <a:lvl4pPr marL="0" indent="1371600" algn="ctr">
              <a:buSzTx/>
              <a:buFontTx/>
              <a:buNone/>
              <a:defRPr>
                <a:latin typeface="+mj-lt"/>
                <a:ea typeface="+mj-ea"/>
                <a:cs typeface="+mj-cs"/>
                <a:sym typeface="Calibri"/>
              </a:defRPr>
            </a:lvl4pPr>
            <a:lvl5pPr marL="0" indent="1828800" algn="ctr">
              <a:buSzTx/>
              <a:buFontTx/>
              <a:buNone/>
              <a:defRPr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62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  <a:lvl2pPr marL="723900" indent="-266700">
              <a:defRPr sz="2800">
                <a:latin typeface="+mj-lt"/>
                <a:ea typeface="+mj-ea"/>
                <a:cs typeface="+mj-cs"/>
                <a:sym typeface="Calibri"/>
              </a:defRPr>
            </a:lvl2pPr>
            <a:lvl3pPr marL="1234439" indent="-320039">
              <a:defRPr sz="2800">
                <a:latin typeface="+mj-lt"/>
                <a:ea typeface="+mj-ea"/>
                <a:cs typeface="+mj-cs"/>
                <a:sym typeface="Calibri"/>
              </a:defRPr>
            </a:lvl3pPr>
            <a:lvl4pPr marL="1727200" indent="-355600">
              <a:defRPr sz="2800">
                <a:latin typeface="+mj-lt"/>
                <a:ea typeface="+mj-ea"/>
                <a:cs typeface="+mj-cs"/>
                <a:sym typeface="Calibri"/>
              </a:defRPr>
            </a:lvl4pPr>
            <a:lvl5pPr marL="2184400" indent="-355600">
              <a:defRPr sz="2800"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文本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71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FontTx/>
              <a:buNone/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0" indent="457200">
              <a:buSzTx/>
              <a:buFontTx/>
              <a:buNone/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0" indent="914400">
              <a:buSzTx/>
              <a:buFontTx/>
              <a:buNone/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0" indent="1371600">
              <a:buSzTx/>
              <a:buFontTx/>
              <a:buNone/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0" indent="1828800">
              <a:buSzTx/>
              <a:buFontTx/>
              <a:buNone/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80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  <a:lvl2pPr marL="723900" indent="-266700">
              <a:defRPr sz="2800">
                <a:latin typeface="+mj-lt"/>
                <a:ea typeface="+mj-ea"/>
                <a:cs typeface="+mj-cs"/>
                <a:sym typeface="Calibri"/>
              </a:defRPr>
            </a:lvl2pPr>
            <a:lvl3pPr marL="1234439" indent="-320039">
              <a:defRPr sz="2800">
                <a:latin typeface="+mj-lt"/>
                <a:ea typeface="+mj-ea"/>
                <a:cs typeface="+mj-cs"/>
                <a:sym typeface="Calibri"/>
              </a:defRPr>
            </a:lvl3pPr>
            <a:lvl4pPr marL="1727200" indent="-355600">
              <a:defRPr sz="2800">
                <a:latin typeface="+mj-lt"/>
                <a:ea typeface="+mj-ea"/>
                <a:cs typeface="+mj-cs"/>
                <a:sym typeface="Calibri"/>
              </a:defRPr>
            </a:lvl4pPr>
            <a:lvl5pPr marL="2184400" indent="-355600">
              <a:defRPr sz="2800"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文本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89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SzTx/>
              <a:buFontTx/>
              <a:buNone/>
              <a:defRPr b="1">
                <a:latin typeface="+mj-lt"/>
                <a:ea typeface="+mj-ea"/>
                <a:cs typeface="+mj-cs"/>
                <a:sym typeface="Calibri"/>
              </a:defRPr>
            </a:lvl1pPr>
            <a:lvl2pPr marL="0" indent="457200">
              <a:buSzTx/>
              <a:buFontTx/>
              <a:buNone/>
              <a:defRPr b="1">
                <a:latin typeface="+mj-lt"/>
                <a:ea typeface="+mj-ea"/>
                <a:cs typeface="+mj-cs"/>
                <a:sym typeface="Calibri"/>
              </a:defRPr>
            </a:lvl2pPr>
            <a:lvl3pPr marL="0" indent="914400">
              <a:buSzTx/>
              <a:buFontTx/>
              <a:buNone/>
              <a:defRPr b="1">
                <a:latin typeface="+mj-lt"/>
                <a:ea typeface="+mj-ea"/>
                <a:cs typeface="+mj-cs"/>
                <a:sym typeface="Calibri"/>
              </a:defRPr>
            </a:lvl3pPr>
            <a:lvl4pPr marL="0" indent="1371600">
              <a:buSzTx/>
              <a:buFontTx/>
              <a:buNone/>
              <a:defRPr b="1">
                <a:latin typeface="+mj-lt"/>
                <a:ea typeface="+mj-ea"/>
                <a:cs typeface="+mj-cs"/>
                <a:sym typeface="Calibri"/>
              </a:defRPr>
            </a:lvl4pPr>
            <a:lvl5pPr marL="0" indent="1828800">
              <a:buSzTx/>
              <a:buFontTx/>
              <a:buNone/>
              <a:defRPr b="1"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0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buSzTx/>
              <a:buFontTx/>
              <a:buNone/>
              <a:defRPr b="1"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9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9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114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+mj-lt"/>
                <a:ea typeface="+mj-ea"/>
                <a:cs typeface="+mj-cs"/>
                <a:sym typeface="Calibri"/>
              </a:defRPr>
            </a:lvl1pPr>
            <a:lvl2pPr marL="718457" indent="-261257">
              <a:defRPr sz="3200">
                <a:latin typeface="+mj-lt"/>
                <a:ea typeface="+mj-ea"/>
                <a:cs typeface="+mj-cs"/>
                <a:sym typeface="Calibri"/>
              </a:defRPr>
            </a:lvl2pPr>
            <a:lvl3pPr>
              <a:defRPr sz="3200">
                <a:latin typeface="+mj-lt"/>
                <a:ea typeface="+mj-ea"/>
                <a:cs typeface="+mj-cs"/>
                <a:sym typeface="Calibri"/>
              </a:defRPr>
            </a:lvl3pPr>
            <a:lvl4pPr marL="1737360" indent="-365760">
              <a:defRPr sz="3200">
                <a:latin typeface="+mj-lt"/>
                <a:ea typeface="+mj-ea"/>
                <a:cs typeface="+mj-cs"/>
                <a:sym typeface="Calibri"/>
              </a:defRPr>
            </a:lvl4pPr>
            <a:lvl5pPr marL="2194560" indent="-365760">
              <a:defRPr sz="3200"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5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SzTx/>
              <a:buFontTx/>
              <a:buNone/>
              <a:defRPr sz="1600"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1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124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25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FontTx/>
              <a:buNone/>
              <a:defRPr sz="1600">
                <a:latin typeface="+mj-lt"/>
                <a:ea typeface="+mj-ea"/>
                <a:cs typeface="+mj-cs"/>
                <a:sym typeface="Calibri"/>
              </a:defRPr>
            </a:lvl1pPr>
            <a:lvl2pPr marL="0" indent="457200">
              <a:buSzTx/>
              <a:buFontTx/>
              <a:buNone/>
              <a:defRPr sz="1600">
                <a:latin typeface="+mj-lt"/>
                <a:ea typeface="+mj-ea"/>
                <a:cs typeface="+mj-cs"/>
                <a:sym typeface="Calibri"/>
              </a:defRPr>
            </a:lvl2pPr>
            <a:lvl3pPr marL="0" indent="914400">
              <a:buSzTx/>
              <a:buFontTx/>
              <a:buNone/>
              <a:defRPr sz="1600">
                <a:latin typeface="+mj-lt"/>
                <a:ea typeface="+mj-ea"/>
                <a:cs typeface="+mj-cs"/>
                <a:sym typeface="Calibri"/>
              </a:defRPr>
            </a:lvl3pPr>
            <a:lvl4pPr marL="0" indent="1371600">
              <a:buSzTx/>
              <a:buFontTx/>
              <a:buNone/>
              <a:defRPr sz="1600">
                <a:latin typeface="+mj-lt"/>
                <a:ea typeface="+mj-ea"/>
                <a:cs typeface="+mj-cs"/>
                <a:sym typeface="Calibri"/>
              </a:defRPr>
            </a:lvl4pPr>
            <a:lvl5pPr marL="0" indent="1828800">
              <a:buSzTx/>
              <a:buFontTx/>
              <a:buNone/>
              <a:defRPr sz="1600"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134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  <a:lvl2pPr marL="723900" indent="-266700">
              <a:defRPr sz="2800">
                <a:latin typeface="+mj-lt"/>
                <a:ea typeface="+mj-ea"/>
                <a:cs typeface="+mj-cs"/>
                <a:sym typeface="Calibri"/>
              </a:defRPr>
            </a:lvl2pPr>
            <a:lvl3pPr marL="1234439" indent="-320039">
              <a:defRPr sz="2800">
                <a:latin typeface="+mj-lt"/>
                <a:ea typeface="+mj-ea"/>
                <a:cs typeface="+mj-cs"/>
                <a:sym typeface="Calibri"/>
              </a:defRPr>
            </a:lvl3pPr>
            <a:lvl4pPr marL="1727200" indent="-355600">
              <a:defRPr sz="2800">
                <a:latin typeface="+mj-lt"/>
                <a:ea typeface="+mj-ea"/>
                <a:cs typeface="+mj-cs"/>
                <a:sym typeface="Calibri"/>
              </a:defRPr>
            </a:lvl4pPr>
            <a:lvl5pPr marL="2184400" indent="-355600">
              <a:defRPr sz="2800"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垂直排列标题与&#10;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标题文本"/>
          <p:cNvSpPr txBox="1"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14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+mj-lt"/>
                <a:ea typeface="+mj-ea"/>
                <a:cs typeface="+mj-cs"/>
                <a:sym typeface="Calibri"/>
              </a:defRPr>
            </a:lvl1pPr>
            <a:lvl2pPr marL="723900" indent="-266700">
              <a:defRPr sz="2800">
                <a:latin typeface="+mj-lt"/>
                <a:ea typeface="+mj-ea"/>
                <a:cs typeface="+mj-cs"/>
                <a:sym typeface="Calibri"/>
              </a:defRPr>
            </a:lvl2pPr>
            <a:lvl3pPr marL="1234439" indent="-320039">
              <a:defRPr sz="2800">
                <a:latin typeface="+mj-lt"/>
                <a:ea typeface="+mj-ea"/>
                <a:cs typeface="+mj-cs"/>
                <a:sym typeface="Calibri"/>
              </a:defRPr>
            </a:lvl3pPr>
            <a:lvl4pPr marL="1727200" indent="-355600">
              <a:defRPr sz="2800">
                <a:latin typeface="+mj-lt"/>
                <a:ea typeface="+mj-ea"/>
                <a:cs typeface="+mj-cs"/>
                <a:sym typeface="Calibri"/>
              </a:defRPr>
            </a:lvl4pPr>
            <a:lvl5pPr marL="2184400" indent="-355600">
              <a:defRPr sz="2800"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1pPr>
      <a:lvl2pPr marL="731519" marR="0" indent="-27431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2pPr>
      <a:lvl3pPr marL="12192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3pPr>
      <a:lvl4pPr marL="17145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4pPr>
      <a:lvl5pPr marL="21717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5pPr>
      <a:lvl6pPr marL="25908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6pPr>
      <a:lvl7pPr marL="30480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7pPr>
      <a:lvl8pPr marL="35052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8pPr>
      <a:lvl9pPr marL="3962400" marR="0" indent="-304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文本框 8"/>
          <p:cNvSpPr txBox="1"/>
          <p:nvPr/>
        </p:nvSpPr>
        <p:spPr>
          <a:xfrm>
            <a:off x="4511824" y="2564904"/>
            <a:ext cx="4102956" cy="1446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sz="4400" b="1">
                <a:solidFill>
                  <a:srgbClr val="404040"/>
                </a:solidFill>
              </a:defRPr>
            </a:lvl1pPr>
          </a:lstStyle>
          <a:p>
            <a:r>
              <a:rPr lang="zh-CN" altLang="en-US" dirty="0" smtClean="0"/>
              <a:t>环氧沥青相容性研究进展</a:t>
            </a:r>
            <a:endParaRPr dirty="0"/>
          </a:p>
        </p:txBody>
      </p:sp>
      <p:sp>
        <p:nvSpPr>
          <p:cNvPr id="212" name="直接连接符 3"/>
          <p:cNvSpPr/>
          <p:nvPr/>
        </p:nvSpPr>
        <p:spPr>
          <a:xfrm>
            <a:off x="4416440" y="2757714"/>
            <a:ext cx="1" cy="1128586"/>
          </a:xfrm>
          <a:prstGeom prst="line">
            <a:avLst/>
          </a:prstGeom>
          <a:ln w="38100">
            <a:solidFill>
              <a:srgbClr val="BFBFB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219" name="组合 4"/>
          <p:cNvGrpSpPr/>
          <p:nvPr/>
        </p:nvGrpSpPr>
        <p:grpSpPr>
          <a:xfrm>
            <a:off x="2699658" y="2485638"/>
            <a:ext cx="1547893" cy="1573584"/>
            <a:chOff x="0" y="0"/>
            <a:chExt cx="1547892" cy="1573583"/>
          </a:xfrm>
        </p:grpSpPr>
        <p:grpSp>
          <p:nvGrpSpPr>
            <p:cNvPr id="215" name="椭圆 5"/>
            <p:cNvGrpSpPr/>
            <p:nvPr/>
          </p:nvGrpSpPr>
          <p:grpSpPr>
            <a:xfrm>
              <a:off x="129296" y="118625"/>
              <a:ext cx="1289299" cy="1310641"/>
              <a:chOff x="0" y="0"/>
              <a:chExt cx="1289298" cy="1310639"/>
            </a:xfrm>
          </p:grpSpPr>
          <p:sp>
            <p:nvSpPr>
              <p:cNvPr id="213" name="圆形"/>
              <p:cNvSpPr/>
              <p:nvPr/>
            </p:nvSpPr>
            <p:spPr>
              <a:xfrm>
                <a:off x="0" y="10671"/>
                <a:ext cx="1289299" cy="1289298"/>
              </a:xfrm>
              <a:prstGeom prst="ellipse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8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14" name="1"/>
              <p:cNvSpPr txBox="1"/>
              <p:nvPr/>
            </p:nvSpPr>
            <p:spPr>
              <a:xfrm>
                <a:off x="188813" y="0"/>
                <a:ext cx="911673" cy="13106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8000">
                    <a:solidFill>
                      <a:srgbClr val="FFFFFF"/>
                    </a:solidFill>
                  </a:defRPr>
                </a:lvl1pPr>
              </a:lstStyle>
              <a:p>
                <a:r>
                  <a:rPr lang="en-US" dirty="0" smtClean="0"/>
                  <a:t>2</a:t>
                </a:r>
                <a:endParaRPr dirty="0"/>
              </a:p>
            </p:txBody>
          </p:sp>
        </p:grpSp>
        <p:sp>
          <p:nvSpPr>
            <p:cNvPr id="216" name="椭圆 6"/>
            <p:cNvSpPr/>
            <p:nvPr/>
          </p:nvSpPr>
          <p:spPr>
            <a:xfrm>
              <a:off x="-1" y="0"/>
              <a:ext cx="1547894" cy="1547893"/>
            </a:xfrm>
            <a:prstGeom prst="ellipse">
              <a:avLst/>
            </a:prstGeom>
            <a:noFill/>
            <a:ln w="12700" cap="flat">
              <a:solidFill>
                <a:srgbClr val="D9D9D9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7" name="椭圆 7"/>
            <p:cNvSpPr/>
            <p:nvPr/>
          </p:nvSpPr>
          <p:spPr>
            <a:xfrm>
              <a:off x="1115473" y="1214173"/>
              <a:ext cx="359411" cy="359411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8" name="椭圆 8"/>
            <p:cNvSpPr/>
            <p:nvPr/>
          </p:nvSpPr>
          <p:spPr>
            <a:xfrm>
              <a:off x="129295" y="34341"/>
              <a:ext cx="226115" cy="226115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Placeholder 32"/>
          <p:cNvSpPr txBox="1"/>
          <p:nvPr/>
        </p:nvSpPr>
        <p:spPr>
          <a:xfrm>
            <a:off x="2495600" y="1772816"/>
            <a:ext cx="5544616" cy="72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defTabSz="685800">
              <a:lnSpc>
                <a:spcPct val="130000"/>
              </a:lnSpc>
              <a:defRPr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zh-CN" altLang="zh-CN" sz="36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顺酐化改性沥青改善相容性</a:t>
            </a:r>
            <a:endParaRPr sz="36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54" name="Oval 53"/>
          <p:cNvSpPr/>
          <p:nvPr/>
        </p:nvSpPr>
        <p:spPr>
          <a:xfrm>
            <a:off x="1271464" y="1700808"/>
            <a:ext cx="864096" cy="864096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3" name="Text Placeholder 32"/>
          <p:cNvSpPr txBox="1"/>
          <p:nvPr/>
        </p:nvSpPr>
        <p:spPr>
          <a:xfrm>
            <a:off x="2495600" y="3356992"/>
            <a:ext cx="5544616" cy="618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defTabSz="685800">
              <a:lnSpc>
                <a:spcPct val="130000"/>
              </a:lnSpc>
              <a:defRPr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zh-CN" altLang="zh-CN" sz="3600" b="1" dirty="0" smtClean="0">
                <a:solidFill>
                  <a:schemeClr val="tx1"/>
                </a:solidFill>
              </a:rPr>
              <a:t>加入增容剂改善相容性</a:t>
            </a:r>
            <a:endParaRPr sz="36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4" name="Oval 53"/>
          <p:cNvSpPr/>
          <p:nvPr/>
        </p:nvSpPr>
        <p:spPr>
          <a:xfrm>
            <a:off x="1271464" y="3284984"/>
            <a:ext cx="864096" cy="864096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5" name="Text Placeholder 32"/>
          <p:cNvSpPr txBox="1"/>
          <p:nvPr/>
        </p:nvSpPr>
        <p:spPr>
          <a:xfrm>
            <a:off x="2495600" y="4869160"/>
            <a:ext cx="6120680" cy="720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defTabSz="685800">
              <a:lnSpc>
                <a:spcPct val="130000"/>
              </a:lnSpc>
              <a:defRPr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zh-CN" altLang="zh-CN" sz="3600" b="1" dirty="0" smtClean="0">
                <a:solidFill>
                  <a:schemeClr val="tx1"/>
                </a:solidFill>
              </a:rPr>
              <a:t>选择合</a:t>
            </a:r>
            <a:r>
              <a:rPr lang="zh-CN" altLang="zh-CN" sz="3600" b="1" dirty="0" smtClean="0">
                <a:solidFill>
                  <a:schemeClr val="tx1"/>
                </a:solidFill>
              </a:rPr>
              <a:t>适</a:t>
            </a:r>
            <a:r>
              <a:rPr lang="zh-CN" altLang="en-US" sz="3600" b="1" dirty="0" smtClean="0">
                <a:solidFill>
                  <a:schemeClr val="tx1"/>
                </a:solidFill>
              </a:rPr>
              <a:t>的</a:t>
            </a:r>
            <a:r>
              <a:rPr lang="zh-CN" altLang="zh-CN" sz="3600" b="1" dirty="0" smtClean="0">
                <a:solidFill>
                  <a:schemeClr val="tx1"/>
                </a:solidFill>
              </a:rPr>
              <a:t>固</a:t>
            </a:r>
            <a:r>
              <a:rPr lang="zh-CN" altLang="zh-CN" sz="3600" b="1" dirty="0" smtClean="0">
                <a:solidFill>
                  <a:schemeClr val="tx1"/>
                </a:solidFill>
              </a:rPr>
              <a:t>化剂改善相容性</a:t>
            </a:r>
            <a:endParaRPr sz="36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6" name="Oval 53"/>
          <p:cNvSpPr/>
          <p:nvPr/>
        </p:nvSpPr>
        <p:spPr>
          <a:xfrm>
            <a:off x="1271464" y="4797152"/>
            <a:ext cx="864096" cy="864096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7" name="文本占位符 17"/>
          <p:cNvSpPr txBox="1"/>
          <p:nvPr/>
        </p:nvSpPr>
        <p:spPr>
          <a:xfrm>
            <a:off x="252192" y="505632"/>
            <a:ext cx="381747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000"/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dirty="0" smtClean="0">
                <a:latin typeface="宋体" pitchFamily="2" charset="-122"/>
                <a:ea typeface="宋体" pitchFamily="2" charset="-122"/>
                <a:sym typeface="微软雅黑"/>
              </a:rPr>
              <a:t>环氧沥青相容性研究进展</a:t>
            </a:r>
            <a:endParaRPr dirty="0">
              <a:latin typeface="宋体" pitchFamily="2" charset="-122"/>
              <a:ea typeface="宋体" pitchFamily="2" charset="-122"/>
              <a:sym typeface="微软雅黑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文本占位符 17"/>
          <p:cNvSpPr txBox="1"/>
          <p:nvPr/>
        </p:nvSpPr>
        <p:spPr>
          <a:xfrm>
            <a:off x="252192" y="505632"/>
            <a:ext cx="381747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000"/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dirty="0" smtClean="0">
                <a:latin typeface="宋体" pitchFamily="2" charset="-122"/>
                <a:ea typeface="宋体" pitchFamily="2" charset="-122"/>
                <a:sym typeface="微软雅黑"/>
              </a:rPr>
              <a:t>顺酐化改性沥青改善相容性</a:t>
            </a:r>
            <a:endParaRPr dirty="0"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pic>
        <p:nvPicPr>
          <p:cNvPr id="23" name="图片 22" descr="微信图片_2018121120573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9416" y="1484784"/>
            <a:ext cx="6748887" cy="19442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75520" y="3861048"/>
            <a:ext cx="6247862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通过改变沥青极性，进而改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善沥青和环氧树脂的相溶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性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6" name="Oval 80"/>
          <p:cNvSpPr/>
          <p:nvPr/>
        </p:nvSpPr>
        <p:spPr>
          <a:xfrm>
            <a:off x="1055440" y="3789040"/>
            <a:ext cx="504057" cy="504056"/>
          </a:xfrm>
          <a:prstGeom prst="ellipse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75520" y="5949280"/>
            <a:ext cx="4965460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大大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提高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最终产物的抗拉强度和断裂延伸率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9" name="Oval 80"/>
          <p:cNvSpPr/>
          <p:nvPr/>
        </p:nvSpPr>
        <p:spPr>
          <a:xfrm>
            <a:off x="1055440" y="4869160"/>
            <a:ext cx="504057" cy="504056"/>
          </a:xfrm>
          <a:prstGeom prst="ellipse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75520" y="4901100"/>
            <a:ext cx="5478421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提高环氧沥青的粘度，缩短环氧沥青的固化时间</a:t>
            </a:r>
            <a:endParaRPr lang="en-US" altLang="zh-CN" sz="2000" dirty="0" smtClean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1" name="Oval 80"/>
          <p:cNvSpPr/>
          <p:nvPr/>
        </p:nvSpPr>
        <p:spPr>
          <a:xfrm>
            <a:off x="1055440" y="5877272"/>
            <a:ext cx="504057" cy="504056"/>
          </a:xfrm>
          <a:prstGeom prst="ellipse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32" name="图片 31" descr="微信图片_20181211212006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59896" y="1529515"/>
            <a:ext cx="6548190" cy="451428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Freeform 129"/>
          <p:cNvSpPr/>
          <p:nvPr/>
        </p:nvSpPr>
        <p:spPr>
          <a:xfrm>
            <a:off x="1209725" y="1999140"/>
            <a:ext cx="361689" cy="1852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00" y="9421"/>
                </a:moveTo>
                <a:cubicBezTo>
                  <a:pt x="18400" y="9421"/>
                  <a:pt x="18100" y="9651"/>
                  <a:pt x="17800" y="9881"/>
                </a:cubicBezTo>
                <a:cubicBezTo>
                  <a:pt x="17500" y="4366"/>
                  <a:pt x="15400" y="0"/>
                  <a:pt x="12900" y="0"/>
                </a:cubicBezTo>
                <a:cubicBezTo>
                  <a:pt x="12200" y="0"/>
                  <a:pt x="11600" y="230"/>
                  <a:pt x="11100" y="689"/>
                </a:cubicBezTo>
                <a:cubicBezTo>
                  <a:pt x="10900" y="919"/>
                  <a:pt x="10800" y="1149"/>
                  <a:pt x="10800" y="1379"/>
                </a:cubicBezTo>
                <a:cubicBezTo>
                  <a:pt x="10800" y="20911"/>
                  <a:pt x="10800" y="20911"/>
                  <a:pt x="10800" y="20911"/>
                </a:cubicBezTo>
                <a:cubicBezTo>
                  <a:pt x="10800" y="21370"/>
                  <a:pt x="11000" y="21600"/>
                  <a:pt x="11100" y="21600"/>
                </a:cubicBezTo>
                <a:cubicBezTo>
                  <a:pt x="11100" y="21600"/>
                  <a:pt x="18800" y="21600"/>
                  <a:pt x="18800" y="21600"/>
                </a:cubicBezTo>
                <a:cubicBezTo>
                  <a:pt x="20400" y="21600"/>
                  <a:pt x="21600" y="18843"/>
                  <a:pt x="21600" y="15626"/>
                </a:cubicBezTo>
                <a:cubicBezTo>
                  <a:pt x="21600" y="12179"/>
                  <a:pt x="20400" y="9421"/>
                  <a:pt x="18800" y="9421"/>
                </a:cubicBezTo>
                <a:close/>
                <a:moveTo>
                  <a:pt x="8500" y="21600"/>
                </a:moveTo>
                <a:cubicBezTo>
                  <a:pt x="9100" y="21600"/>
                  <a:pt x="9100" y="21600"/>
                  <a:pt x="9100" y="21600"/>
                </a:cubicBezTo>
                <a:cubicBezTo>
                  <a:pt x="9500" y="10800"/>
                  <a:pt x="9500" y="10800"/>
                  <a:pt x="9500" y="10800"/>
                </a:cubicBezTo>
                <a:cubicBezTo>
                  <a:pt x="9100" y="0"/>
                  <a:pt x="9100" y="0"/>
                  <a:pt x="9100" y="0"/>
                </a:cubicBezTo>
                <a:cubicBezTo>
                  <a:pt x="8500" y="0"/>
                  <a:pt x="8500" y="0"/>
                  <a:pt x="8500" y="0"/>
                </a:cubicBezTo>
                <a:cubicBezTo>
                  <a:pt x="8100" y="10800"/>
                  <a:pt x="8100" y="10800"/>
                  <a:pt x="8100" y="10800"/>
                </a:cubicBezTo>
                <a:lnTo>
                  <a:pt x="8500" y="21600"/>
                </a:lnTo>
                <a:close/>
                <a:moveTo>
                  <a:pt x="6400" y="21600"/>
                </a:moveTo>
                <a:cubicBezTo>
                  <a:pt x="5800" y="21600"/>
                  <a:pt x="5800" y="21600"/>
                  <a:pt x="5800" y="21600"/>
                </a:cubicBezTo>
                <a:cubicBezTo>
                  <a:pt x="5400" y="13787"/>
                  <a:pt x="5400" y="13787"/>
                  <a:pt x="5400" y="13787"/>
                </a:cubicBezTo>
                <a:cubicBezTo>
                  <a:pt x="5800" y="6204"/>
                  <a:pt x="5800" y="6204"/>
                  <a:pt x="5800" y="6204"/>
                </a:cubicBezTo>
                <a:cubicBezTo>
                  <a:pt x="6400" y="6204"/>
                  <a:pt x="6400" y="6204"/>
                  <a:pt x="6400" y="6204"/>
                </a:cubicBezTo>
                <a:cubicBezTo>
                  <a:pt x="6800" y="14017"/>
                  <a:pt x="6800" y="14017"/>
                  <a:pt x="6800" y="14017"/>
                </a:cubicBezTo>
                <a:lnTo>
                  <a:pt x="6400" y="21600"/>
                </a:lnTo>
                <a:close/>
                <a:moveTo>
                  <a:pt x="3100" y="21600"/>
                </a:moveTo>
                <a:cubicBezTo>
                  <a:pt x="3700" y="21600"/>
                  <a:pt x="3700" y="21600"/>
                  <a:pt x="3700" y="21600"/>
                </a:cubicBezTo>
                <a:cubicBezTo>
                  <a:pt x="4100" y="15396"/>
                  <a:pt x="4100" y="15396"/>
                  <a:pt x="4100" y="15396"/>
                </a:cubicBezTo>
                <a:cubicBezTo>
                  <a:pt x="3700" y="9191"/>
                  <a:pt x="3700" y="9191"/>
                  <a:pt x="3700" y="9191"/>
                </a:cubicBezTo>
                <a:cubicBezTo>
                  <a:pt x="3100" y="9191"/>
                  <a:pt x="3100" y="9191"/>
                  <a:pt x="3100" y="9191"/>
                </a:cubicBezTo>
                <a:cubicBezTo>
                  <a:pt x="2700" y="15396"/>
                  <a:pt x="2700" y="15396"/>
                  <a:pt x="2700" y="15396"/>
                </a:cubicBezTo>
                <a:lnTo>
                  <a:pt x="3100" y="21600"/>
                </a:lnTo>
                <a:close/>
                <a:moveTo>
                  <a:pt x="400" y="18613"/>
                </a:moveTo>
                <a:cubicBezTo>
                  <a:pt x="1000" y="18613"/>
                  <a:pt x="1000" y="18613"/>
                  <a:pt x="1000" y="18613"/>
                </a:cubicBezTo>
                <a:cubicBezTo>
                  <a:pt x="1400" y="15396"/>
                  <a:pt x="1400" y="15396"/>
                  <a:pt x="1400" y="15396"/>
                </a:cubicBezTo>
                <a:cubicBezTo>
                  <a:pt x="1000" y="12409"/>
                  <a:pt x="1000" y="12409"/>
                  <a:pt x="1000" y="12409"/>
                </a:cubicBezTo>
                <a:cubicBezTo>
                  <a:pt x="400" y="12409"/>
                  <a:pt x="400" y="12409"/>
                  <a:pt x="400" y="12409"/>
                </a:cubicBezTo>
                <a:cubicBezTo>
                  <a:pt x="0" y="15396"/>
                  <a:pt x="0" y="15396"/>
                  <a:pt x="0" y="15396"/>
                </a:cubicBezTo>
                <a:lnTo>
                  <a:pt x="400" y="18613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60" name="Freeform 129"/>
          <p:cNvSpPr/>
          <p:nvPr/>
        </p:nvSpPr>
        <p:spPr>
          <a:xfrm>
            <a:off x="4736958" y="1999140"/>
            <a:ext cx="361689" cy="1852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00" y="9421"/>
                </a:moveTo>
                <a:cubicBezTo>
                  <a:pt x="18400" y="9421"/>
                  <a:pt x="18100" y="9651"/>
                  <a:pt x="17800" y="9881"/>
                </a:cubicBezTo>
                <a:cubicBezTo>
                  <a:pt x="17500" y="4366"/>
                  <a:pt x="15400" y="0"/>
                  <a:pt x="12900" y="0"/>
                </a:cubicBezTo>
                <a:cubicBezTo>
                  <a:pt x="12200" y="0"/>
                  <a:pt x="11600" y="230"/>
                  <a:pt x="11100" y="689"/>
                </a:cubicBezTo>
                <a:cubicBezTo>
                  <a:pt x="10900" y="919"/>
                  <a:pt x="10800" y="1149"/>
                  <a:pt x="10800" y="1379"/>
                </a:cubicBezTo>
                <a:cubicBezTo>
                  <a:pt x="10800" y="20911"/>
                  <a:pt x="10800" y="20911"/>
                  <a:pt x="10800" y="20911"/>
                </a:cubicBezTo>
                <a:cubicBezTo>
                  <a:pt x="10800" y="21370"/>
                  <a:pt x="11000" y="21600"/>
                  <a:pt x="11100" y="21600"/>
                </a:cubicBezTo>
                <a:cubicBezTo>
                  <a:pt x="11100" y="21600"/>
                  <a:pt x="18800" y="21600"/>
                  <a:pt x="18800" y="21600"/>
                </a:cubicBezTo>
                <a:cubicBezTo>
                  <a:pt x="20400" y="21600"/>
                  <a:pt x="21600" y="18843"/>
                  <a:pt x="21600" y="15626"/>
                </a:cubicBezTo>
                <a:cubicBezTo>
                  <a:pt x="21600" y="12179"/>
                  <a:pt x="20400" y="9421"/>
                  <a:pt x="18800" y="9421"/>
                </a:cubicBezTo>
                <a:close/>
                <a:moveTo>
                  <a:pt x="8500" y="21600"/>
                </a:moveTo>
                <a:cubicBezTo>
                  <a:pt x="9100" y="21600"/>
                  <a:pt x="9100" y="21600"/>
                  <a:pt x="9100" y="21600"/>
                </a:cubicBezTo>
                <a:cubicBezTo>
                  <a:pt x="9500" y="10800"/>
                  <a:pt x="9500" y="10800"/>
                  <a:pt x="9500" y="10800"/>
                </a:cubicBezTo>
                <a:cubicBezTo>
                  <a:pt x="9100" y="0"/>
                  <a:pt x="9100" y="0"/>
                  <a:pt x="9100" y="0"/>
                </a:cubicBezTo>
                <a:cubicBezTo>
                  <a:pt x="8500" y="0"/>
                  <a:pt x="8500" y="0"/>
                  <a:pt x="8500" y="0"/>
                </a:cubicBezTo>
                <a:cubicBezTo>
                  <a:pt x="8100" y="10800"/>
                  <a:pt x="8100" y="10800"/>
                  <a:pt x="8100" y="10800"/>
                </a:cubicBezTo>
                <a:lnTo>
                  <a:pt x="8500" y="21600"/>
                </a:lnTo>
                <a:close/>
                <a:moveTo>
                  <a:pt x="6400" y="21600"/>
                </a:moveTo>
                <a:cubicBezTo>
                  <a:pt x="5800" y="21600"/>
                  <a:pt x="5800" y="21600"/>
                  <a:pt x="5800" y="21600"/>
                </a:cubicBezTo>
                <a:cubicBezTo>
                  <a:pt x="5400" y="13787"/>
                  <a:pt x="5400" y="13787"/>
                  <a:pt x="5400" y="13787"/>
                </a:cubicBezTo>
                <a:cubicBezTo>
                  <a:pt x="5800" y="6204"/>
                  <a:pt x="5800" y="6204"/>
                  <a:pt x="5800" y="6204"/>
                </a:cubicBezTo>
                <a:cubicBezTo>
                  <a:pt x="6400" y="6204"/>
                  <a:pt x="6400" y="6204"/>
                  <a:pt x="6400" y="6204"/>
                </a:cubicBezTo>
                <a:cubicBezTo>
                  <a:pt x="6800" y="14017"/>
                  <a:pt x="6800" y="14017"/>
                  <a:pt x="6800" y="14017"/>
                </a:cubicBezTo>
                <a:lnTo>
                  <a:pt x="6400" y="21600"/>
                </a:lnTo>
                <a:close/>
                <a:moveTo>
                  <a:pt x="3100" y="21600"/>
                </a:moveTo>
                <a:cubicBezTo>
                  <a:pt x="3700" y="21600"/>
                  <a:pt x="3700" y="21600"/>
                  <a:pt x="3700" y="21600"/>
                </a:cubicBezTo>
                <a:cubicBezTo>
                  <a:pt x="4100" y="15396"/>
                  <a:pt x="4100" y="15396"/>
                  <a:pt x="4100" y="15396"/>
                </a:cubicBezTo>
                <a:cubicBezTo>
                  <a:pt x="3700" y="9191"/>
                  <a:pt x="3700" y="9191"/>
                  <a:pt x="3700" y="9191"/>
                </a:cubicBezTo>
                <a:cubicBezTo>
                  <a:pt x="3100" y="9191"/>
                  <a:pt x="3100" y="9191"/>
                  <a:pt x="3100" y="9191"/>
                </a:cubicBezTo>
                <a:cubicBezTo>
                  <a:pt x="2700" y="15396"/>
                  <a:pt x="2700" y="15396"/>
                  <a:pt x="2700" y="15396"/>
                </a:cubicBezTo>
                <a:lnTo>
                  <a:pt x="3100" y="21600"/>
                </a:lnTo>
                <a:close/>
                <a:moveTo>
                  <a:pt x="400" y="18613"/>
                </a:moveTo>
                <a:cubicBezTo>
                  <a:pt x="1000" y="18613"/>
                  <a:pt x="1000" y="18613"/>
                  <a:pt x="1000" y="18613"/>
                </a:cubicBezTo>
                <a:cubicBezTo>
                  <a:pt x="1400" y="15396"/>
                  <a:pt x="1400" y="15396"/>
                  <a:pt x="1400" y="15396"/>
                </a:cubicBezTo>
                <a:cubicBezTo>
                  <a:pt x="1000" y="12409"/>
                  <a:pt x="1000" y="12409"/>
                  <a:pt x="1000" y="12409"/>
                </a:cubicBezTo>
                <a:cubicBezTo>
                  <a:pt x="400" y="12409"/>
                  <a:pt x="400" y="12409"/>
                  <a:pt x="400" y="12409"/>
                </a:cubicBezTo>
                <a:cubicBezTo>
                  <a:pt x="0" y="15396"/>
                  <a:pt x="0" y="15396"/>
                  <a:pt x="0" y="15396"/>
                </a:cubicBezTo>
                <a:lnTo>
                  <a:pt x="400" y="18613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361" name="Freeform 129"/>
          <p:cNvSpPr/>
          <p:nvPr/>
        </p:nvSpPr>
        <p:spPr>
          <a:xfrm>
            <a:off x="8267455" y="1999140"/>
            <a:ext cx="361689" cy="1852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00" y="9421"/>
                </a:moveTo>
                <a:cubicBezTo>
                  <a:pt x="18400" y="9421"/>
                  <a:pt x="18100" y="9651"/>
                  <a:pt x="17800" y="9881"/>
                </a:cubicBezTo>
                <a:cubicBezTo>
                  <a:pt x="17500" y="4366"/>
                  <a:pt x="15400" y="0"/>
                  <a:pt x="12900" y="0"/>
                </a:cubicBezTo>
                <a:cubicBezTo>
                  <a:pt x="12200" y="0"/>
                  <a:pt x="11600" y="230"/>
                  <a:pt x="11100" y="689"/>
                </a:cubicBezTo>
                <a:cubicBezTo>
                  <a:pt x="10900" y="919"/>
                  <a:pt x="10800" y="1149"/>
                  <a:pt x="10800" y="1379"/>
                </a:cubicBezTo>
                <a:cubicBezTo>
                  <a:pt x="10800" y="20911"/>
                  <a:pt x="10800" y="20911"/>
                  <a:pt x="10800" y="20911"/>
                </a:cubicBezTo>
                <a:cubicBezTo>
                  <a:pt x="10800" y="21370"/>
                  <a:pt x="11000" y="21600"/>
                  <a:pt x="11100" y="21600"/>
                </a:cubicBezTo>
                <a:cubicBezTo>
                  <a:pt x="11100" y="21600"/>
                  <a:pt x="18800" y="21600"/>
                  <a:pt x="18800" y="21600"/>
                </a:cubicBezTo>
                <a:cubicBezTo>
                  <a:pt x="20400" y="21600"/>
                  <a:pt x="21600" y="18843"/>
                  <a:pt x="21600" y="15626"/>
                </a:cubicBezTo>
                <a:cubicBezTo>
                  <a:pt x="21600" y="12179"/>
                  <a:pt x="20400" y="9421"/>
                  <a:pt x="18800" y="9421"/>
                </a:cubicBezTo>
                <a:close/>
                <a:moveTo>
                  <a:pt x="8500" y="21600"/>
                </a:moveTo>
                <a:cubicBezTo>
                  <a:pt x="9100" y="21600"/>
                  <a:pt x="9100" y="21600"/>
                  <a:pt x="9100" y="21600"/>
                </a:cubicBezTo>
                <a:cubicBezTo>
                  <a:pt x="9500" y="10800"/>
                  <a:pt x="9500" y="10800"/>
                  <a:pt x="9500" y="10800"/>
                </a:cubicBezTo>
                <a:cubicBezTo>
                  <a:pt x="9100" y="0"/>
                  <a:pt x="9100" y="0"/>
                  <a:pt x="9100" y="0"/>
                </a:cubicBezTo>
                <a:cubicBezTo>
                  <a:pt x="8500" y="0"/>
                  <a:pt x="8500" y="0"/>
                  <a:pt x="8500" y="0"/>
                </a:cubicBezTo>
                <a:cubicBezTo>
                  <a:pt x="8100" y="10800"/>
                  <a:pt x="8100" y="10800"/>
                  <a:pt x="8100" y="10800"/>
                </a:cubicBezTo>
                <a:lnTo>
                  <a:pt x="8500" y="21600"/>
                </a:lnTo>
                <a:close/>
                <a:moveTo>
                  <a:pt x="6400" y="21600"/>
                </a:moveTo>
                <a:cubicBezTo>
                  <a:pt x="5800" y="21600"/>
                  <a:pt x="5800" y="21600"/>
                  <a:pt x="5800" y="21600"/>
                </a:cubicBezTo>
                <a:cubicBezTo>
                  <a:pt x="5400" y="13787"/>
                  <a:pt x="5400" y="13787"/>
                  <a:pt x="5400" y="13787"/>
                </a:cubicBezTo>
                <a:cubicBezTo>
                  <a:pt x="5800" y="6204"/>
                  <a:pt x="5800" y="6204"/>
                  <a:pt x="5800" y="6204"/>
                </a:cubicBezTo>
                <a:cubicBezTo>
                  <a:pt x="6400" y="6204"/>
                  <a:pt x="6400" y="6204"/>
                  <a:pt x="6400" y="6204"/>
                </a:cubicBezTo>
                <a:cubicBezTo>
                  <a:pt x="6800" y="14017"/>
                  <a:pt x="6800" y="14017"/>
                  <a:pt x="6800" y="14017"/>
                </a:cubicBezTo>
                <a:lnTo>
                  <a:pt x="6400" y="21600"/>
                </a:lnTo>
                <a:close/>
                <a:moveTo>
                  <a:pt x="3100" y="21600"/>
                </a:moveTo>
                <a:cubicBezTo>
                  <a:pt x="3700" y="21600"/>
                  <a:pt x="3700" y="21600"/>
                  <a:pt x="3700" y="21600"/>
                </a:cubicBezTo>
                <a:cubicBezTo>
                  <a:pt x="4100" y="15396"/>
                  <a:pt x="4100" y="15396"/>
                  <a:pt x="4100" y="15396"/>
                </a:cubicBezTo>
                <a:cubicBezTo>
                  <a:pt x="3700" y="9191"/>
                  <a:pt x="3700" y="9191"/>
                  <a:pt x="3700" y="9191"/>
                </a:cubicBezTo>
                <a:cubicBezTo>
                  <a:pt x="3100" y="9191"/>
                  <a:pt x="3100" y="9191"/>
                  <a:pt x="3100" y="9191"/>
                </a:cubicBezTo>
                <a:cubicBezTo>
                  <a:pt x="2700" y="15396"/>
                  <a:pt x="2700" y="15396"/>
                  <a:pt x="2700" y="15396"/>
                </a:cubicBezTo>
                <a:lnTo>
                  <a:pt x="3100" y="21600"/>
                </a:lnTo>
                <a:close/>
                <a:moveTo>
                  <a:pt x="400" y="18613"/>
                </a:moveTo>
                <a:cubicBezTo>
                  <a:pt x="1000" y="18613"/>
                  <a:pt x="1000" y="18613"/>
                  <a:pt x="1000" y="18613"/>
                </a:cubicBezTo>
                <a:cubicBezTo>
                  <a:pt x="1400" y="15396"/>
                  <a:pt x="1400" y="15396"/>
                  <a:pt x="1400" y="15396"/>
                </a:cubicBezTo>
                <a:cubicBezTo>
                  <a:pt x="1000" y="12409"/>
                  <a:pt x="1000" y="12409"/>
                  <a:pt x="1000" y="12409"/>
                </a:cubicBezTo>
                <a:cubicBezTo>
                  <a:pt x="400" y="12409"/>
                  <a:pt x="400" y="12409"/>
                  <a:pt x="400" y="12409"/>
                </a:cubicBezTo>
                <a:cubicBezTo>
                  <a:pt x="0" y="15396"/>
                  <a:pt x="0" y="15396"/>
                  <a:pt x="0" y="15396"/>
                </a:cubicBezTo>
                <a:lnTo>
                  <a:pt x="400" y="18613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9" name="文本占位符 17"/>
          <p:cNvSpPr txBox="1"/>
          <p:nvPr/>
        </p:nvSpPr>
        <p:spPr>
          <a:xfrm>
            <a:off x="252192" y="505632"/>
            <a:ext cx="381747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000"/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dirty="0" smtClean="0">
                <a:latin typeface="宋体" pitchFamily="2" charset="-122"/>
                <a:ea typeface="宋体" pitchFamily="2" charset="-122"/>
                <a:sym typeface="微软雅黑"/>
              </a:rPr>
              <a:t>顺酐化改性沥青改善相容性</a:t>
            </a:r>
            <a:endParaRPr dirty="0"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pic>
        <p:nvPicPr>
          <p:cNvPr id="21" name="图片 20" descr="微信图片_201812112120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9376" y="1340768"/>
            <a:ext cx="5433030" cy="3528668"/>
          </a:xfrm>
          <a:prstGeom prst="rect">
            <a:avLst/>
          </a:prstGeom>
        </p:spPr>
      </p:pic>
      <p:pic>
        <p:nvPicPr>
          <p:cNvPr id="22" name="图片 21" descr="微信图片_2018121121201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12024" y="1340768"/>
            <a:ext cx="5305399" cy="35816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43472" y="5157192"/>
            <a:ext cx="3816424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不同剂量催化剂下未顺酐化环氧沥青固化的粘度时间曲线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76120" y="5157192"/>
            <a:ext cx="367240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不同剂量催化剂下顺酐化环氧沥青固化的粘度时间曲线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宋体" pitchFamily="2" charset="-122"/>
              <a:ea typeface="宋体" pitchFamily="2" charset="-122"/>
              <a:sym typeface="微软雅黑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占位符 17"/>
          <p:cNvSpPr txBox="1"/>
          <p:nvPr/>
        </p:nvSpPr>
        <p:spPr>
          <a:xfrm>
            <a:off x="252192" y="505632"/>
            <a:ext cx="469168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000"/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dirty="0" smtClean="0">
                <a:latin typeface="宋体" pitchFamily="2" charset="-122"/>
                <a:ea typeface="宋体" pitchFamily="2" charset="-122"/>
                <a:sym typeface="微软雅黑"/>
              </a:rPr>
              <a:t>* 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  <a:sym typeface="微软雅黑"/>
              </a:rPr>
              <a:t>Diels-Alder  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sym typeface="微软雅黑"/>
              </a:rPr>
              <a:t>狄尔斯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  <a:sym typeface="Arial"/>
              </a:rPr>
              <a:t>—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sym typeface="Arial"/>
              </a:rPr>
              <a:t>阿尔德反应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  <a:sym typeface="微软雅黑"/>
              </a:rPr>
              <a:t>     </a:t>
            </a:r>
            <a:endParaRPr dirty="0"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pic>
        <p:nvPicPr>
          <p:cNvPr id="42" name="图片 41" descr="微信图片_2018121121365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7408" y="1268760"/>
            <a:ext cx="3672408" cy="23128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3392" y="3789040"/>
            <a:ext cx="3939538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例</a:t>
            </a:r>
            <a:r>
              <a:rPr kumimoji="0" lang="en-US" altLang="zh-CN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1</a:t>
            </a: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：</a:t>
            </a:r>
            <a:r>
              <a:rPr kumimoji="0" lang="en-US" altLang="zh-CN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1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,4——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丁二烯与乙烯的反应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919536" y="4437112"/>
            <a:ext cx="7992888" cy="16312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狄尔斯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-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阿尔德反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应（</a:t>
            </a:r>
            <a:r>
              <a:rPr lang="en-US" altLang="zh-CN" sz="2000" dirty="0" smtClean="0">
                <a:latin typeface="宋体" pitchFamily="2" charset="-122"/>
                <a:ea typeface="宋体" pitchFamily="2" charset="-122"/>
              </a:rPr>
              <a:t>Diels-Alder reaction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），又名双烯加成，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由共轭双烯与烯烃或炔烃反应生成六元环的反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应。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在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这类反应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中，与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共轭双烯作用的烯烃和炔烃称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为亲双烯体，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亲双烯体上的亲电取代基（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如羰基、氰基、硝基、羧基等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）和共轭双烯上的给电子取代基都有使反应加速的作用。</a:t>
            </a:r>
            <a:endParaRPr kumimoji="0" lang="zh-CN" altLang="en-US" sz="2000" i="0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pic>
        <p:nvPicPr>
          <p:cNvPr id="45" name="图片 44" descr="微信图片_20181211215429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47928" y="1484784"/>
            <a:ext cx="5725324" cy="173379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312024" y="3748972"/>
            <a:ext cx="4067778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例</a:t>
            </a:r>
            <a:r>
              <a:rPr kumimoji="0" lang="en-US" altLang="zh-CN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2</a:t>
            </a: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：稠环芳烃和顺丁烯酸酐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的反应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宋体" pitchFamily="2" charset="-122"/>
              <a:ea typeface="宋体" pitchFamily="2" charset="-122"/>
              <a:sym typeface="微软雅黑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Text Placeholder 32"/>
          <p:cNvSpPr txBox="1"/>
          <p:nvPr/>
        </p:nvSpPr>
        <p:spPr>
          <a:xfrm>
            <a:off x="6384032" y="1052736"/>
            <a:ext cx="5040560" cy="5168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685800">
              <a:lnSpc>
                <a:spcPct val="150000"/>
              </a:lnSpc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国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外学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者曾将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含有 </a:t>
            </a:r>
            <a:r>
              <a:rPr lang="en-US" altLang="zh-CN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4 ——</a:t>
            </a:r>
            <a:r>
              <a:rPr lang="en-US" altLang="zh-CN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8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个碳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原子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的烷基取代苯酚的酚醛树脂作为增容剂加入到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环氧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树脂和沥青中 ；将高级脂肪胺和高级脂肪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链取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代的苯酚添加入环氧树脂和沥青的混合物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中。</a:t>
            </a:r>
            <a:endParaRPr lang="en-US" altLang="zh-CN" sz="2000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defTabSz="685800">
              <a:lnSpc>
                <a:spcPct val="150000"/>
              </a:lnSpc>
              <a:defRPr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图示的两种增溶剂中，一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种是含有弱极性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的高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级脂肪碳链基团和强极性的曼尼期碱基团的化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合物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；另一种是含有弱极性的高级脂肪碳链基团和由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环氧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树脂与多元醇连接的强极性基团</a:t>
            </a:r>
            <a:r>
              <a:rPr lang="en-US" altLang="zh-CN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, 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高级脂肪碳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链基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团与多元醇基团分别与环氧树脂的两个活性基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团相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连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接。</a:t>
            </a:r>
            <a:endParaRPr sz="20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6" name="文本占位符 17"/>
          <p:cNvSpPr txBox="1"/>
          <p:nvPr/>
        </p:nvSpPr>
        <p:spPr>
          <a:xfrm>
            <a:off x="252192" y="505632"/>
            <a:ext cx="381747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000"/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dirty="0" smtClean="0">
                <a:latin typeface="宋体" pitchFamily="2" charset="-122"/>
                <a:ea typeface="宋体" pitchFamily="2" charset="-122"/>
                <a:sym typeface="微软雅黑"/>
              </a:rPr>
              <a:t>加入增容剂改善相容性</a:t>
            </a:r>
            <a:endParaRPr dirty="0"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pic>
        <p:nvPicPr>
          <p:cNvPr id="27" name="图片 26" descr="微信图片_201812112149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3392" y="1286363"/>
            <a:ext cx="5184576" cy="2980110"/>
          </a:xfrm>
          <a:prstGeom prst="rect">
            <a:avLst/>
          </a:prstGeom>
        </p:spPr>
      </p:pic>
      <p:pic>
        <p:nvPicPr>
          <p:cNvPr id="29" name="图片 28" descr="微信图片_20181211214956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1384" y="4581128"/>
            <a:ext cx="5180196" cy="1512168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灯片编号占位符 1"/>
          <p:cNvSpPr txBox="1">
            <a:spLocks noGrp="1"/>
          </p:cNvSpPr>
          <p:nvPr>
            <p:ph type="sldNum" sz="quarter" idx="2"/>
          </p:nvPr>
        </p:nvSpPr>
        <p:spPr>
          <a:xfrm>
            <a:off x="11623603" y="445801"/>
            <a:ext cx="127001" cy="152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pPr/>
              <a:t>7</a:t>
            </a:fld>
            <a:endParaRPr/>
          </a:p>
        </p:txBody>
      </p:sp>
      <p:pic>
        <p:nvPicPr>
          <p:cNvPr id="33" name="图片 32" descr="微信图片_2018121122054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7408" y="1988840"/>
            <a:ext cx="3246735" cy="2234767"/>
          </a:xfrm>
          <a:prstGeom prst="rect">
            <a:avLst/>
          </a:prstGeom>
        </p:spPr>
      </p:pic>
      <p:pic>
        <p:nvPicPr>
          <p:cNvPr id="34" name="图片 33" descr="微信图片_20181211220546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83831" y="1988840"/>
            <a:ext cx="3355573" cy="2304256"/>
          </a:xfrm>
          <a:prstGeom prst="rect">
            <a:avLst/>
          </a:prstGeom>
        </p:spPr>
      </p:pic>
      <p:pic>
        <p:nvPicPr>
          <p:cNvPr id="35" name="图片 34" descr="微信图片_2018121122054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28248" y="1988840"/>
            <a:ext cx="3282278" cy="2244293"/>
          </a:xfrm>
          <a:prstGeom prst="rect">
            <a:avLst/>
          </a:prstGeom>
        </p:spPr>
      </p:pic>
      <p:sp>
        <p:nvSpPr>
          <p:cNvPr id="36" name="文本占位符 17"/>
          <p:cNvSpPr txBox="1"/>
          <p:nvPr/>
        </p:nvSpPr>
        <p:spPr>
          <a:xfrm>
            <a:off x="252192" y="505632"/>
            <a:ext cx="381747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000"/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dirty="0" smtClean="0">
                <a:latin typeface="宋体" pitchFamily="2" charset="-122"/>
                <a:ea typeface="宋体" pitchFamily="2" charset="-122"/>
                <a:sym typeface="微软雅黑"/>
              </a:rPr>
              <a:t>选择合适的固化剂改善相容性</a:t>
            </a:r>
            <a:endParaRPr dirty="0"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55978" y="4653136"/>
            <a:ext cx="1887694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单独使用葵二酸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31904" y="4653136"/>
            <a:ext cx="2272415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复配</a:t>
            </a:r>
            <a:r>
              <a:rPr kumimoji="0" lang="en-US" altLang="zh-CN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8</a:t>
            </a:r>
            <a:r>
              <a:rPr lang="zh-CN" altLang="en-US" sz="2000" dirty="0" smtClean="0">
                <a:latin typeface="宋体" pitchFamily="2" charset="-122"/>
                <a:ea typeface="宋体" pitchFamily="2" charset="-122"/>
              </a:rPr>
              <a:t>份甲基四氢苯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48618" y="4653136"/>
            <a:ext cx="2015934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复配</a:t>
            </a:r>
            <a:r>
              <a:rPr kumimoji="0" lang="en-US" altLang="zh-CN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8</a:t>
            </a:r>
            <a:r>
              <a:rPr kumimoji="0" lang="zh-CN" altLang="en-US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itchFamily="2" charset="-122"/>
                <a:ea typeface="宋体" pitchFamily="2" charset="-122"/>
                <a:sym typeface="微软雅黑"/>
              </a:rPr>
              <a:t>份桐油酸酐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87688" y="5373216"/>
            <a:ext cx="662473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不同固化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剂固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化的环氧沥青材料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的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SME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显微照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片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宋体" pitchFamily="2" charset="-122"/>
              <a:ea typeface="宋体" pitchFamily="2" charset="-122"/>
              <a:sym typeface="微软雅黑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组合 3"/>
          <p:cNvGrpSpPr/>
          <p:nvPr/>
        </p:nvGrpSpPr>
        <p:grpSpPr>
          <a:xfrm>
            <a:off x="4367808" y="1556792"/>
            <a:ext cx="3273429" cy="3271841"/>
            <a:chOff x="-1" y="-1"/>
            <a:chExt cx="3273427" cy="3271839"/>
          </a:xfrm>
        </p:grpSpPr>
        <p:sp>
          <p:nvSpPr>
            <p:cNvPr id="706" name="任意多边形 19"/>
            <p:cNvSpPr/>
            <p:nvPr/>
          </p:nvSpPr>
          <p:spPr>
            <a:xfrm rot="10800000">
              <a:off x="-1" y="-1"/>
              <a:ext cx="1636714" cy="16367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0800" y="21600"/>
                  </a:lnTo>
                  <a:cubicBezTo>
                    <a:pt x="4835" y="21600"/>
                    <a:pt x="0" y="16765"/>
                    <a:pt x="0" y="10800"/>
                  </a:cubicBezTo>
                  <a:lnTo>
                    <a:pt x="0" y="10800"/>
                  </a:lnTo>
                  <a:lnTo>
                    <a:pt x="0" y="10800"/>
                  </a:lnTo>
                  <a:lnTo>
                    <a:pt x="56" y="9696"/>
                  </a:lnTo>
                  <a:cubicBezTo>
                    <a:pt x="93" y="9333"/>
                    <a:pt x="147" y="8975"/>
                    <a:pt x="219" y="8623"/>
                  </a:cubicBezTo>
                  <a:lnTo>
                    <a:pt x="250" y="8505"/>
                  </a:lnTo>
                  <a:lnTo>
                    <a:pt x="533" y="9417"/>
                  </a:lnTo>
                  <a:cubicBezTo>
                    <a:pt x="1562" y="11850"/>
                    <a:pt x="3971" y="13557"/>
                    <a:pt x="6778" y="13557"/>
                  </a:cubicBezTo>
                  <a:lnTo>
                    <a:pt x="13557" y="13557"/>
                  </a:lnTo>
                  <a:lnTo>
                    <a:pt x="13557" y="6778"/>
                  </a:lnTo>
                  <a:cubicBezTo>
                    <a:pt x="13557" y="3971"/>
                    <a:pt x="11850" y="1562"/>
                    <a:pt x="9417" y="533"/>
                  </a:cubicBezTo>
                  <a:lnTo>
                    <a:pt x="8505" y="250"/>
                  </a:lnTo>
                  <a:lnTo>
                    <a:pt x="8623" y="219"/>
                  </a:lnTo>
                  <a:cubicBezTo>
                    <a:pt x="8975" y="147"/>
                    <a:pt x="9333" y="93"/>
                    <a:pt x="9696" y="56"/>
                  </a:cubicBezTo>
                  <a:lnTo>
                    <a:pt x="10800" y="0"/>
                  </a:lnTo>
                  <a:lnTo>
                    <a:pt x="10800" y="0"/>
                  </a:lnTo>
                  <a:lnTo>
                    <a:pt x="10800" y="0"/>
                  </a:lnTo>
                  <a:lnTo>
                    <a:pt x="11904" y="56"/>
                  </a:lnTo>
                  <a:cubicBezTo>
                    <a:pt x="17350" y="609"/>
                    <a:pt x="21600" y="5208"/>
                    <a:pt x="21600" y="1080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07" name="任意多边形 18"/>
            <p:cNvSpPr/>
            <p:nvPr/>
          </p:nvSpPr>
          <p:spPr>
            <a:xfrm rot="10800000">
              <a:off x="1636712" y="-1"/>
              <a:ext cx="1636714" cy="16367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0" y="21600"/>
                  </a:lnTo>
                  <a:lnTo>
                    <a:pt x="0" y="10800"/>
                  </a:lnTo>
                  <a:cubicBezTo>
                    <a:pt x="0" y="5208"/>
                    <a:pt x="4250" y="609"/>
                    <a:pt x="9696" y="56"/>
                  </a:cubicBezTo>
                  <a:lnTo>
                    <a:pt x="10800" y="0"/>
                  </a:lnTo>
                  <a:lnTo>
                    <a:pt x="10800" y="0"/>
                  </a:lnTo>
                  <a:lnTo>
                    <a:pt x="10800" y="0"/>
                  </a:lnTo>
                  <a:lnTo>
                    <a:pt x="11904" y="56"/>
                  </a:lnTo>
                  <a:cubicBezTo>
                    <a:pt x="12267" y="93"/>
                    <a:pt x="12625" y="147"/>
                    <a:pt x="12977" y="219"/>
                  </a:cubicBezTo>
                  <a:lnTo>
                    <a:pt x="13095" y="250"/>
                  </a:lnTo>
                  <a:lnTo>
                    <a:pt x="12183" y="533"/>
                  </a:lnTo>
                  <a:cubicBezTo>
                    <a:pt x="9750" y="1562"/>
                    <a:pt x="8043" y="3971"/>
                    <a:pt x="8043" y="6778"/>
                  </a:cubicBezTo>
                  <a:lnTo>
                    <a:pt x="8043" y="13557"/>
                  </a:lnTo>
                  <a:lnTo>
                    <a:pt x="14822" y="13557"/>
                  </a:lnTo>
                  <a:cubicBezTo>
                    <a:pt x="17629" y="13557"/>
                    <a:pt x="20038" y="11850"/>
                    <a:pt x="21067" y="9417"/>
                  </a:cubicBezTo>
                  <a:lnTo>
                    <a:pt x="21350" y="8505"/>
                  </a:lnTo>
                  <a:lnTo>
                    <a:pt x="21381" y="8623"/>
                  </a:lnTo>
                  <a:cubicBezTo>
                    <a:pt x="21453" y="8975"/>
                    <a:pt x="21507" y="9333"/>
                    <a:pt x="21544" y="9696"/>
                  </a:cubicBezTo>
                  <a:lnTo>
                    <a:pt x="21600" y="10800"/>
                  </a:lnTo>
                  <a:lnTo>
                    <a:pt x="21600" y="10800"/>
                  </a:lnTo>
                  <a:lnTo>
                    <a:pt x="21600" y="10800"/>
                  </a:lnTo>
                  <a:cubicBezTo>
                    <a:pt x="21600" y="16765"/>
                    <a:pt x="16765" y="21600"/>
                    <a:pt x="10800" y="2160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08" name="任意多边形 15"/>
            <p:cNvSpPr/>
            <p:nvPr/>
          </p:nvSpPr>
          <p:spPr>
            <a:xfrm rot="10800000">
              <a:off x="-1" y="1636712"/>
              <a:ext cx="1636714" cy="16351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10800" y="21600"/>
                  </a:lnTo>
                  <a:lnTo>
                    <a:pt x="10800" y="21600"/>
                  </a:lnTo>
                  <a:lnTo>
                    <a:pt x="9696" y="21544"/>
                  </a:lnTo>
                  <a:cubicBezTo>
                    <a:pt x="9333" y="21507"/>
                    <a:pt x="8975" y="21453"/>
                    <a:pt x="8623" y="21381"/>
                  </a:cubicBezTo>
                  <a:lnTo>
                    <a:pt x="8505" y="21350"/>
                  </a:lnTo>
                  <a:lnTo>
                    <a:pt x="9417" y="21067"/>
                  </a:lnTo>
                  <a:cubicBezTo>
                    <a:pt x="11850" y="20038"/>
                    <a:pt x="13557" y="17629"/>
                    <a:pt x="13557" y="14822"/>
                  </a:cubicBezTo>
                  <a:lnTo>
                    <a:pt x="13557" y="8043"/>
                  </a:lnTo>
                  <a:lnTo>
                    <a:pt x="6778" y="8043"/>
                  </a:lnTo>
                  <a:cubicBezTo>
                    <a:pt x="3971" y="8043"/>
                    <a:pt x="1562" y="9750"/>
                    <a:pt x="533" y="12183"/>
                  </a:cubicBezTo>
                  <a:lnTo>
                    <a:pt x="250" y="13095"/>
                  </a:lnTo>
                  <a:lnTo>
                    <a:pt x="219" y="12977"/>
                  </a:lnTo>
                  <a:cubicBezTo>
                    <a:pt x="147" y="12625"/>
                    <a:pt x="93" y="12267"/>
                    <a:pt x="56" y="11904"/>
                  </a:cubicBezTo>
                  <a:lnTo>
                    <a:pt x="0" y="10800"/>
                  </a:lnTo>
                  <a:lnTo>
                    <a:pt x="0" y="10800"/>
                  </a:ln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lnTo>
                    <a:pt x="21600" y="0"/>
                  </a:lnTo>
                  <a:lnTo>
                    <a:pt x="21600" y="10800"/>
                  </a:lnTo>
                  <a:cubicBezTo>
                    <a:pt x="21600" y="16392"/>
                    <a:pt x="17350" y="20991"/>
                    <a:pt x="11904" y="21544"/>
                  </a:cubicBezTo>
                  <a:lnTo>
                    <a:pt x="10800" y="216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09" name="任意多边形 12"/>
            <p:cNvSpPr/>
            <p:nvPr/>
          </p:nvSpPr>
          <p:spPr>
            <a:xfrm rot="10800000">
              <a:off x="1636712" y="1636712"/>
              <a:ext cx="1636714" cy="16351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10800" y="21600"/>
                  </a:lnTo>
                  <a:lnTo>
                    <a:pt x="10800" y="21600"/>
                  </a:lnTo>
                  <a:lnTo>
                    <a:pt x="9696" y="21544"/>
                  </a:lnTo>
                  <a:cubicBezTo>
                    <a:pt x="4250" y="20991"/>
                    <a:pt x="0" y="16392"/>
                    <a:pt x="0" y="10800"/>
                  </a:cubicBezTo>
                  <a:lnTo>
                    <a:pt x="0" y="0"/>
                  </a:ln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lnTo>
                    <a:pt x="21600" y="10800"/>
                  </a:lnTo>
                  <a:lnTo>
                    <a:pt x="21600" y="10800"/>
                  </a:lnTo>
                  <a:lnTo>
                    <a:pt x="21544" y="11904"/>
                  </a:lnTo>
                  <a:cubicBezTo>
                    <a:pt x="21507" y="12267"/>
                    <a:pt x="21453" y="12625"/>
                    <a:pt x="21381" y="12977"/>
                  </a:cubicBezTo>
                  <a:lnTo>
                    <a:pt x="21350" y="13095"/>
                  </a:lnTo>
                  <a:lnTo>
                    <a:pt x="21067" y="12183"/>
                  </a:lnTo>
                  <a:cubicBezTo>
                    <a:pt x="20038" y="9750"/>
                    <a:pt x="17629" y="8043"/>
                    <a:pt x="14822" y="8043"/>
                  </a:cubicBezTo>
                  <a:lnTo>
                    <a:pt x="8043" y="8043"/>
                  </a:lnTo>
                  <a:lnTo>
                    <a:pt x="8043" y="14822"/>
                  </a:lnTo>
                  <a:cubicBezTo>
                    <a:pt x="8043" y="17629"/>
                    <a:pt x="9750" y="20038"/>
                    <a:pt x="12183" y="21067"/>
                  </a:cubicBezTo>
                  <a:lnTo>
                    <a:pt x="13095" y="21350"/>
                  </a:lnTo>
                  <a:lnTo>
                    <a:pt x="12977" y="21381"/>
                  </a:lnTo>
                  <a:cubicBezTo>
                    <a:pt x="12625" y="21453"/>
                    <a:pt x="12267" y="21507"/>
                    <a:pt x="11904" y="21544"/>
                  </a:cubicBezTo>
                  <a:lnTo>
                    <a:pt x="1080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713" name="矩形 10"/>
          <p:cNvSpPr txBox="1"/>
          <p:nvPr/>
        </p:nvSpPr>
        <p:spPr>
          <a:xfrm>
            <a:off x="8112224" y="1916832"/>
            <a:ext cx="3589833" cy="2246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以基制沥青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、固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化剂 </a:t>
            </a:r>
            <a:r>
              <a:rPr lang="en-US" altLang="zh-CN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( 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包括改性桐油酸和改性蓖麻油酸</a:t>
            </a:r>
            <a:r>
              <a:rPr lang="en-US" altLang="zh-CN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) 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、促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进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剂</a:t>
            </a:r>
            <a:r>
              <a:rPr lang="en-US" altLang="zh-CN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( 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包括苄胺等</a:t>
            </a:r>
            <a:r>
              <a:rPr lang="en-US" altLang="zh-CN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) 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和消泡剂 </a:t>
            </a:r>
            <a:r>
              <a:rPr lang="en-US" altLang="zh-CN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( 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包括环氧乙烷和环氧丙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烷共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聚物</a:t>
            </a:r>
            <a:r>
              <a:rPr lang="en-US" altLang="zh-CN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) 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合为 </a:t>
            </a:r>
            <a:r>
              <a:rPr 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A 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组分，以环氧树脂为 </a:t>
            </a:r>
            <a:r>
              <a:rPr 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B 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组分制备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而成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的环氧沥青组成物</a:t>
            </a:r>
            <a:endParaRPr sz="20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17" name="矩形 14"/>
          <p:cNvSpPr txBox="1"/>
          <p:nvPr/>
        </p:nvSpPr>
        <p:spPr>
          <a:xfrm>
            <a:off x="839416" y="2204864"/>
            <a:ext cx="3165475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2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以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基质沥青、固化剂、环氧树脂和固化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促进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剂为 </a:t>
            </a:r>
            <a:r>
              <a:rPr 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A 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组分，环氧树脂为 </a:t>
            </a:r>
            <a:r>
              <a:rPr 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B 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组分的环氧沥青组</a:t>
            </a:r>
            <a:r>
              <a:rPr lang="zh-CN" altLang="en-US" sz="2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成物。</a:t>
            </a:r>
            <a:endParaRPr sz="20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9" name="文本占位符 17"/>
          <p:cNvSpPr txBox="1"/>
          <p:nvPr/>
        </p:nvSpPr>
        <p:spPr>
          <a:xfrm>
            <a:off x="252192" y="505632"/>
            <a:ext cx="381747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000"/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dirty="0" smtClean="0">
                <a:latin typeface="宋体" pitchFamily="2" charset="-122"/>
                <a:ea typeface="宋体" pitchFamily="2" charset="-122"/>
                <a:sym typeface="微软雅黑"/>
              </a:rPr>
              <a:t>选择合适的固化剂改善相容性</a:t>
            </a:r>
            <a:endParaRPr dirty="0">
              <a:latin typeface="宋体" pitchFamily="2" charset="-122"/>
              <a:ea typeface="宋体" pitchFamily="2" charset="-122"/>
              <a:sym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43672" y="5157192"/>
            <a:ext cx="6093974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要素：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、考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虑固化剂的增容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作用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      2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、兼顾该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固化剂的固化反应速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度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dirty="0" smtClean="0">
                <a:latin typeface="宋体" pitchFamily="2" charset="-122"/>
                <a:ea typeface="宋体" pitchFamily="2" charset="-122"/>
              </a:rPr>
              <a:t>      3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、保证反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应后的固化产物的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力学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性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能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宋体" pitchFamily="2" charset="-122"/>
              <a:ea typeface="宋体" pitchFamily="2" charset="-122"/>
              <a:sym typeface="微软雅黑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2F2F2"/>
      </a:lt1>
      <a:dk2>
        <a:srgbClr val="A7A7A7"/>
      </a:dk2>
      <a:lt2>
        <a:srgbClr val="535353"/>
      </a:lt2>
      <a:accent1>
        <a:srgbClr val="F23B48"/>
      </a:accent1>
      <a:accent2>
        <a:srgbClr val="3F3F3F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微软雅黑"/>
            <a:ea typeface="微软雅黑"/>
            <a:cs typeface="微软雅黑"/>
            <a:sym typeface="微软雅黑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微软雅黑"/>
            <a:ea typeface="微软雅黑"/>
            <a:cs typeface="微软雅黑"/>
            <a:sym typeface="微软雅黑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23B48"/>
      </a:accent1>
      <a:accent2>
        <a:srgbClr val="3F3F3F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微软雅黑"/>
            <a:ea typeface="微软雅黑"/>
            <a:cs typeface="微软雅黑"/>
            <a:sym typeface="微软雅黑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微软雅黑"/>
            <a:ea typeface="微软雅黑"/>
            <a:cs typeface="微软雅黑"/>
            <a:sym typeface="微软雅黑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801</Words>
  <Application>Microsoft Office PowerPoint</Application>
  <PresentationFormat>自定义</PresentationFormat>
  <Paragraphs>32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Office Theme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cp:lastModifiedBy>Administrator</cp:lastModifiedBy>
  <cp:revision>13</cp:revision>
  <dcterms:modified xsi:type="dcterms:W3CDTF">2018-12-11T14:19:07Z</dcterms:modified>
</cp:coreProperties>
</file>